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6963ff4cc2741ea" /><Relationship Type="http://schemas.openxmlformats.org/officeDocument/2006/relationships/extended-properties" Target="/docProps/app.xml" Id="Ref0c23b365b94825" /><Relationship Type="http://schemas.openxmlformats.org/officeDocument/2006/relationships/officeDocument" Target="/ppt/presentation.xml" Id="Ra4adaf37afa84f69" /></Relationships>
</file>

<file path=ppt/presentation.xml><?xml version="1.0" encoding="utf-8"?>
<p:presentation xmlns:p="http://schemas.openxmlformats.org/presentationml/2006/main">
  <p:sldMasterIdLst>
    <p:sldMasterId xmlns:r="http://schemas.openxmlformats.org/officeDocument/2006/relationships" id="2147483648" r:id="Rff4cb7ea06e84edc"/>
  </p:sldMasterIdLst>
  <p:notesMasterIdLst>
    <p:notesMasterId xmlns:r="http://schemas.openxmlformats.org/officeDocument/2006/relationships" r:id="R22bfab7370474867"/>
  </p:notesMasterIdLst>
  <p:sldIdLst>
    <p:sldId xmlns:r="http://schemas.openxmlformats.org/officeDocument/2006/relationships" id="256" r:id="Rc7c9075a0c4a4757"/>
    <p:sldId xmlns:r="http://schemas.openxmlformats.org/officeDocument/2006/relationships" id="257" r:id="R2abe0d235ae04255"/>
    <p:sldId xmlns:r="http://schemas.openxmlformats.org/officeDocument/2006/relationships" id="258" r:id="R2b5a64098b7b489a"/>
    <p:sldId xmlns:r="http://schemas.openxmlformats.org/officeDocument/2006/relationships" id="259" r:id="Rdf0069baad484ca5"/>
    <p:sldId xmlns:r="http://schemas.openxmlformats.org/officeDocument/2006/relationships" id="260" r:id="Re73c68952299416e"/>
    <p:sldId xmlns:r="http://schemas.openxmlformats.org/officeDocument/2006/relationships" id="261" r:id="R7db78f8339ad4342"/>
    <p:sldId xmlns:r="http://schemas.openxmlformats.org/officeDocument/2006/relationships" id="262" r:id="R18d453eb1ce14a9a"/>
    <p:sldId xmlns:r="http://schemas.openxmlformats.org/officeDocument/2006/relationships" id="263" r:id="R230999e3a9414f70"/>
    <p:sldId xmlns:r="http://schemas.openxmlformats.org/officeDocument/2006/relationships" id="264" r:id="R61ca1eaf35b44dfd"/>
    <p:sldId xmlns:r="http://schemas.openxmlformats.org/officeDocument/2006/relationships" id="265" r:id="R9610dc5742f54bd2"/>
    <p:sldId xmlns:r="http://schemas.openxmlformats.org/officeDocument/2006/relationships" id="266" r:id="Rc9330e6777594e3c"/>
    <p:sldId xmlns:r="http://schemas.openxmlformats.org/officeDocument/2006/relationships" id="267" r:id="R91a190b09e2b4ffd"/>
    <p:sldId xmlns:r="http://schemas.openxmlformats.org/officeDocument/2006/relationships" id="268" r:id="R49baa91098c24295"/>
    <p:sldId xmlns:r="http://schemas.openxmlformats.org/officeDocument/2006/relationships" id="269" r:id="Rba33a1a3d9084311"/>
    <p:sldId xmlns:r="http://schemas.openxmlformats.org/officeDocument/2006/relationships" id="270" r:id="R9615d2c9e7ed4db7"/>
    <p:sldId xmlns:r="http://schemas.openxmlformats.org/officeDocument/2006/relationships" id="271" r:id="Rd43bbfbc445c4e79"/>
    <p:sldId xmlns:r="http://schemas.openxmlformats.org/officeDocument/2006/relationships" id="272" r:id="R6493322f61a84183"/>
    <p:sldId xmlns:r="http://schemas.openxmlformats.org/officeDocument/2006/relationships" id="273" r:id="R4bf29d887db94da1"/>
    <p:sldId xmlns:r="http://schemas.openxmlformats.org/officeDocument/2006/relationships" id="274" r:id="Rdd6f23cb60b0489f"/>
    <p:sldId xmlns:r="http://schemas.openxmlformats.org/officeDocument/2006/relationships" id="275" r:id="R996b5d6901904ae2"/>
    <p:sldId xmlns:r="http://schemas.openxmlformats.org/officeDocument/2006/relationships" id="276" r:id="Rfc0fb91a9eca4924"/>
    <p:sldId xmlns:r="http://schemas.openxmlformats.org/officeDocument/2006/relationships" id="277" r:id="R111a184dd5f8438a"/>
    <p:sldId xmlns:r="http://schemas.openxmlformats.org/officeDocument/2006/relationships" id="278" r:id="R5d24748113a44629"/>
    <p:sldId xmlns:r="http://schemas.openxmlformats.org/officeDocument/2006/relationships" id="279" r:id="Ra119855c95304dcd"/>
    <p:sldId xmlns:r="http://schemas.openxmlformats.org/officeDocument/2006/relationships" id="280" r:id="Rfb4391ac9fd042a7"/>
    <p:sldId xmlns:r="http://schemas.openxmlformats.org/officeDocument/2006/relationships" id="281" r:id="Re274fa3ec13e461c"/>
    <p:sldId xmlns:r="http://schemas.openxmlformats.org/officeDocument/2006/relationships" id="282" r:id="R78a57af25f3b47e2"/>
    <p:sldId xmlns:r="http://schemas.openxmlformats.org/officeDocument/2006/relationships" id="283" r:id="R6fc69e2b61c442d6"/>
    <p:sldId xmlns:r="http://schemas.openxmlformats.org/officeDocument/2006/relationships" id="284" r:id="Rdb5e14eaaa724833"/>
    <p:sldId xmlns:r="http://schemas.openxmlformats.org/officeDocument/2006/relationships" id="285" r:id="R1cff6cf0d85e45ae"/>
    <p:sldId xmlns:r="http://schemas.openxmlformats.org/officeDocument/2006/relationships" id="286" r:id="R5b2494df17824421"/>
    <p:sldId xmlns:r="http://schemas.openxmlformats.org/officeDocument/2006/relationships" id="287" r:id="R9c0cb420e0d142b6"/>
    <p:sldId xmlns:r="http://schemas.openxmlformats.org/officeDocument/2006/relationships" id="288" r:id="Ra1a487386f23400b"/>
    <p:sldId xmlns:r="http://schemas.openxmlformats.org/officeDocument/2006/relationships" id="289" r:id="Rc462fbdb4ad747df"/>
    <p:sldId xmlns:r="http://schemas.openxmlformats.org/officeDocument/2006/relationships" id="290" r:id="R0259840ff7c3490d"/>
    <p:sldId xmlns:r="http://schemas.openxmlformats.org/officeDocument/2006/relationships" id="291" r:id="Rf2308c6180a8488c"/>
    <p:sldId xmlns:r="http://schemas.openxmlformats.org/officeDocument/2006/relationships" id="292" r:id="R56258d7c5e8b43b5"/>
    <p:sldId xmlns:r="http://schemas.openxmlformats.org/officeDocument/2006/relationships" id="293" r:id="R168b3b0b65fb4c25"/>
    <p:sldId xmlns:r="http://schemas.openxmlformats.org/officeDocument/2006/relationships" id="294" r:id="Ref53403ad13d4dd2"/>
    <p:sldId xmlns:r="http://schemas.openxmlformats.org/officeDocument/2006/relationships" id="295" r:id="Ra2b04ac57d0643f1"/>
    <p:sldId xmlns:r="http://schemas.openxmlformats.org/officeDocument/2006/relationships" id="296" r:id="R72e6dff6dad240bd"/>
    <p:sldId xmlns:r="http://schemas.openxmlformats.org/officeDocument/2006/relationships" id="297" r:id="R33837059f0814e14"/>
    <p:sldId xmlns:r="http://schemas.openxmlformats.org/officeDocument/2006/relationships" id="298" r:id="R0a5496cda5424d12"/>
    <p:sldId xmlns:r="http://schemas.openxmlformats.org/officeDocument/2006/relationships" id="299" r:id="Rd374e802dcce45f5"/>
    <p:sldId xmlns:r="http://schemas.openxmlformats.org/officeDocument/2006/relationships" id="300" r:id="Rd8ed369125cc46b3"/>
    <p:sldId xmlns:r="http://schemas.openxmlformats.org/officeDocument/2006/relationships" id="301" r:id="R95c30cbfc5794182"/>
    <p:sldId xmlns:r="http://schemas.openxmlformats.org/officeDocument/2006/relationships" id="302" r:id="R49ba670dd3874534"/>
    <p:sldId xmlns:r="http://schemas.openxmlformats.org/officeDocument/2006/relationships" id="303" r:id="R780ed3ac76434c63"/>
    <p:sldId xmlns:r="http://schemas.openxmlformats.org/officeDocument/2006/relationships" id="304" r:id="Rf23e3fe87f2d4504"/>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da975930f264d87" /><Relationship Type="http://schemas.openxmlformats.org/officeDocument/2006/relationships/slideMaster" Target="/ppt/slideMasters/slideMaster1.xml" Id="Rff4cb7ea06e84edc" /><Relationship Type="http://schemas.openxmlformats.org/officeDocument/2006/relationships/notesMaster" Target="/ppt/notesMasters/notesMaster1.xml" Id="R22bfab7370474867" /><Relationship Type="http://schemas.openxmlformats.org/officeDocument/2006/relationships/presProps" Target="/ppt/presProps.xml" Id="R91a837b90f944fcf" /><Relationship Type="http://schemas.openxmlformats.org/officeDocument/2006/relationships/tableStyles" Target="/ppt/tableStyles.xml" Id="R0e6e9f116ea741cf" /><Relationship Type="http://schemas.openxmlformats.org/officeDocument/2006/relationships/slide" Target="/ppt/slides/slide1.xml" Id="Rc7c9075a0c4a4757" /><Relationship Type="http://schemas.openxmlformats.org/officeDocument/2006/relationships/slide" Target="/ppt/slides/slide2.xml" Id="R2abe0d235ae04255" /><Relationship Type="http://schemas.openxmlformats.org/officeDocument/2006/relationships/slide" Target="/ppt/slides/slide3.xml" Id="R2b5a64098b7b489a" /><Relationship Type="http://schemas.openxmlformats.org/officeDocument/2006/relationships/slide" Target="/ppt/slides/slide4.xml" Id="Rdf0069baad484ca5" /><Relationship Type="http://schemas.openxmlformats.org/officeDocument/2006/relationships/slide" Target="/ppt/slides/slide5.xml" Id="Re73c68952299416e" /><Relationship Type="http://schemas.openxmlformats.org/officeDocument/2006/relationships/slide" Target="/ppt/slides/slide6.xml" Id="R7db78f8339ad4342" /><Relationship Type="http://schemas.openxmlformats.org/officeDocument/2006/relationships/slide" Target="/ppt/slides/slide7.xml" Id="R18d453eb1ce14a9a" /><Relationship Type="http://schemas.openxmlformats.org/officeDocument/2006/relationships/slide" Target="/ppt/slides/slide8.xml" Id="R230999e3a9414f70" /><Relationship Type="http://schemas.openxmlformats.org/officeDocument/2006/relationships/slide" Target="/ppt/slides/slide9.xml" Id="R61ca1eaf35b44dfd" /><Relationship Type="http://schemas.openxmlformats.org/officeDocument/2006/relationships/slide" Target="/ppt/slides/slide10.xml" Id="R9610dc5742f54bd2" /><Relationship Type="http://schemas.openxmlformats.org/officeDocument/2006/relationships/slide" Target="/ppt/slides/slide11.xml" Id="Rc9330e6777594e3c" /><Relationship Type="http://schemas.openxmlformats.org/officeDocument/2006/relationships/slide" Target="/ppt/slides/slide12.xml" Id="R91a190b09e2b4ffd" /><Relationship Type="http://schemas.openxmlformats.org/officeDocument/2006/relationships/slide" Target="/ppt/slides/slide13.xml" Id="R49baa91098c24295" /><Relationship Type="http://schemas.openxmlformats.org/officeDocument/2006/relationships/slide" Target="/ppt/slides/slide14.xml" Id="Rba33a1a3d9084311" /><Relationship Type="http://schemas.openxmlformats.org/officeDocument/2006/relationships/slide" Target="/ppt/slides/slide15.xml" Id="R9615d2c9e7ed4db7" /><Relationship Type="http://schemas.openxmlformats.org/officeDocument/2006/relationships/slide" Target="/ppt/slides/slide16.xml" Id="Rd43bbfbc445c4e79" /><Relationship Type="http://schemas.openxmlformats.org/officeDocument/2006/relationships/slide" Target="/ppt/slides/slide17.xml" Id="R6493322f61a84183" /><Relationship Type="http://schemas.openxmlformats.org/officeDocument/2006/relationships/slide" Target="/ppt/slides/slide18.xml" Id="R4bf29d887db94da1" /><Relationship Type="http://schemas.openxmlformats.org/officeDocument/2006/relationships/slide" Target="/ppt/slides/slide19.xml" Id="Rdd6f23cb60b0489f" /><Relationship Type="http://schemas.openxmlformats.org/officeDocument/2006/relationships/slide" Target="/ppt/slides/slide20.xml" Id="R996b5d6901904ae2" /><Relationship Type="http://schemas.openxmlformats.org/officeDocument/2006/relationships/slide" Target="/ppt/slides/slide21.xml" Id="Rfc0fb91a9eca4924" /><Relationship Type="http://schemas.openxmlformats.org/officeDocument/2006/relationships/slide" Target="/ppt/slides/slide22.xml" Id="R111a184dd5f8438a" /><Relationship Type="http://schemas.openxmlformats.org/officeDocument/2006/relationships/slide" Target="/ppt/slides/slide23.xml" Id="R5d24748113a44629" /><Relationship Type="http://schemas.openxmlformats.org/officeDocument/2006/relationships/slide" Target="/ppt/slides/slide24.xml" Id="Ra119855c95304dcd" /><Relationship Type="http://schemas.openxmlformats.org/officeDocument/2006/relationships/slide" Target="/ppt/slides/slide25.xml" Id="Rfb4391ac9fd042a7" /><Relationship Type="http://schemas.openxmlformats.org/officeDocument/2006/relationships/slide" Target="/ppt/slides/slide26.xml" Id="Re274fa3ec13e461c" /><Relationship Type="http://schemas.openxmlformats.org/officeDocument/2006/relationships/slide" Target="/ppt/slides/slide27.xml" Id="R78a57af25f3b47e2" /><Relationship Type="http://schemas.openxmlformats.org/officeDocument/2006/relationships/slide" Target="/ppt/slides/slide28.xml" Id="R6fc69e2b61c442d6" /><Relationship Type="http://schemas.openxmlformats.org/officeDocument/2006/relationships/slide" Target="/ppt/slides/slide29.xml" Id="Rdb5e14eaaa724833" /><Relationship Type="http://schemas.openxmlformats.org/officeDocument/2006/relationships/slide" Target="/ppt/slides/slide30.xml" Id="R1cff6cf0d85e45ae" /><Relationship Type="http://schemas.openxmlformats.org/officeDocument/2006/relationships/slide" Target="/ppt/slides/slide31.xml" Id="R5b2494df17824421" /><Relationship Type="http://schemas.openxmlformats.org/officeDocument/2006/relationships/slide" Target="/ppt/slides/slide32.xml" Id="R9c0cb420e0d142b6" /><Relationship Type="http://schemas.openxmlformats.org/officeDocument/2006/relationships/slide" Target="/ppt/slides/slide33.xml" Id="Ra1a487386f23400b" /><Relationship Type="http://schemas.openxmlformats.org/officeDocument/2006/relationships/slide" Target="/ppt/slides/slide34.xml" Id="Rc462fbdb4ad747df" /><Relationship Type="http://schemas.openxmlformats.org/officeDocument/2006/relationships/slide" Target="/ppt/slides/slide35.xml" Id="R0259840ff7c3490d" /><Relationship Type="http://schemas.openxmlformats.org/officeDocument/2006/relationships/slide" Target="/ppt/slides/slide36.xml" Id="Rf2308c6180a8488c" /><Relationship Type="http://schemas.openxmlformats.org/officeDocument/2006/relationships/slide" Target="/ppt/slides/slide37.xml" Id="R56258d7c5e8b43b5" /><Relationship Type="http://schemas.openxmlformats.org/officeDocument/2006/relationships/slide" Target="/ppt/slides/slide38.xml" Id="R168b3b0b65fb4c25" /><Relationship Type="http://schemas.openxmlformats.org/officeDocument/2006/relationships/slide" Target="/ppt/slides/slide39.xml" Id="Ref53403ad13d4dd2" /><Relationship Type="http://schemas.openxmlformats.org/officeDocument/2006/relationships/slide" Target="/ppt/slides/slide40.xml" Id="Ra2b04ac57d0643f1" /><Relationship Type="http://schemas.openxmlformats.org/officeDocument/2006/relationships/slide" Target="/ppt/slides/slide41.xml" Id="R72e6dff6dad240bd" /><Relationship Type="http://schemas.openxmlformats.org/officeDocument/2006/relationships/slide" Target="/ppt/slides/slide42.xml" Id="R33837059f0814e14" /><Relationship Type="http://schemas.openxmlformats.org/officeDocument/2006/relationships/slide" Target="/ppt/slides/slide43.xml" Id="R0a5496cda5424d12" /><Relationship Type="http://schemas.openxmlformats.org/officeDocument/2006/relationships/slide" Target="/ppt/slides/slide44.xml" Id="Rd374e802dcce45f5" /><Relationship Type="http://schemas.openxmlformats.org/officeDocument/2006/relationships/slide" Target="/ppt/slides/slide45.xml" Id="Rd8ed369125cc46b3" /><Relationship Type="http://schemas.openxmlformats.org/officeDocument/2006/relationships/slide" Target="/ppt/slides/slide46.xml" Id="R95c30cbfc5794182" /><Relationship Type="http://schemas.openxmlformats.org/officeDocument/2006/relationships/slide" Target="/ppt/slides/slide47.xml" Id="R49ba670dd3874534" /><Relationship Type="http://schemas.openxmlformats.org/officeDocument/2006/relationships/slide" Target="/ppt/slides/slide48.xml" Id="R780ed3ac76434c63" /><Relationship Type="http://schemas.openxmlformats.org/officeDocument/2006/relationships/slide" Target="/ppt/slides/slide49.xml" Id="Rf23e3fe87f2d450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af689f0dcd9449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ac3207985e340cf" /><Relationship Type="http://schemas.openxmlformats.org/officeDocument/2006/relationships/notesMaster" Target="/ppt/notesMasters/notesMaster1.xml" Id="R00f4367a7f82406a" /></Relationships>
</file>

<file path=ppt/notesSlides/_rels/notesSlide2.xml.rels>&#65279;<?xml version="1.0" encoding="utf-8"?><Relationships xmlns="http://schemas.openxmlformats.org/package/2006/relationships"><Relationship Type="http://schemas.openxmlformats.org/officeDocument/2006/relationships/slide" Target="/ppt/slides/slide2.xml" Id="Ra26e82e97c444736" /><Relationship Type="http://schemas.openxmlformats.org/officeDocument/2006/relationships/notesMaster" Target="/ppt/notesMasters/notesMaster1.xml" Id="R227f989fd9bb44e0"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959313db5345ed" /><Relationship Type="http://schemas.openxmlformats.org/officeDocument/2006/relationships/notesMaster" Target="/ppt/notesMasters/notesMaster1.xml" Id="R0ff0cf8f0534410a" /></Relationships>
</file>

<file path=ppt/notesSlides/_rels/notesSlide4.xml.rels>&#65279;<?xml version="1.0" encoding="utf-8"?><Relationships xmlns="http://schemas.openxmlformats.org/package/2006/relationships"><Relationship Type="http://schemas.openxmlformats.org/officeDocument/2006/relationships/slide" Target="/ppt/slides/slide4.xml" Id="R46bfa4f3d7ae4476" /><Relationship Type="http://schemas.openxmlformats.org/officeDocument/2006/relationships/notesMaster" Target="/ppt/notesMasters/notesMaster1.xml" Id="Rbb26fbbb4cf7487f" /></Relationships>
</file>

<file path=ppt/notesSlides/_rels/notesSlide5.xml.rels>&#65279;<?xml version="1.0" encoding="utf-8"?><Relationships xmlns="http://schemas.openxmlformats.org/package/2006/relationships"><Relationship Type="http://schemas.openxmlformats.org/officeDocument/2006/relationships/slide" Target="/ppt/slides/slide5.xml" Id="R9cce09efd80044b0" /><Relationship Type="http://schemas.openxmlformats.org/officeDocument/2006/relationships/notesMaster" Target="/ppt/notesMasters/notesMaster1.xml" Id="R89c0a3dd982d41c5" /></Relationships>
</file>

<file path=ppt/notesSlides/_rels/notesSlide6.xml.rels>&#65279;<?xml version="1.0" encoding="utf-8"?><Relationships xmlns="http://schemas.openxmlformats.org/package/2006/relationships"><Relationship Type="http://schemas.openxmlformats.org/officeDocument/2006/relationships/slide" Target="/ppt/slides/slide6.xml" Id="R2a5ae1becc8c4f35" /><Relationship Type="http://schemas.openxmlformats.org/officeDocument/2006/relationships/notesMaster" Target="/ppt/notesMasters/notesMaster1.xml" Id="R38bc3ef4c2984abf" /></Relationships>
</file>

<file path=ppt/notesSlides/_rels/notesSlide7.xml.rels>&#65279;<?xml version="1.0" encoding="utf-8"?><Relationships xmlns="http://schemas.openxmlformats.org/package/2006/relationships"><Relationship Type="http://schemas.openxmlformats.org/officeDocument/2006/relationships/slide" Target="/ppt/slides/slide7.xml" Id="Rf9841073a08f4d5b" /><Relationship Type="http://schemas.openxmlformats.org/officeDocument/2006/relationships/notesMaster" Target="/ppt/notesMasters/notesMaster1.xml" Id="R1c312de403f24554" /></Relationships>
</file>

<file path=ppt/notesSlides/_rels/notesSlide8.xml.rels>&#65279;<?xml version="1.0" encoding="utf-8"?><Relationships xmlns="http://schemas.openxmlformats.org/package/2006/relationships"><Relationship Type="http://schemas.openxmlformats.org/officeDocument/2006/relationships/slide" Target="/ppt/slides/slide8.xml" Id="Raf41cbc8594249da" /><Relationship Type="http://schemas.openxmlformats.org/officeDocument/2006/relationships/notesMaster" Target="/ppt/notesMasters/notesMaster1.xml" Id="R446478425f5b4f78" /></Relationships>
</file>

<file path=ppt/notesSlides/_rels/notesSlide9.xml.rels>&#65279;<?xml version="1.0" encoding="utf-8"?><Relationships xmlns="http://schemas.openxmlformats.org/package/2006/relationships"><Relationship Type="http://schemas.openxmlformats.org/officeDocument/2006/relationships/slide" Target="/ppt/slides/slide9.xml" Id="R45c40d9313dd497f" /><Relationship Type="http://schemas.openxmlformats.org/officeDocument/2006/relationships/notesMaster" Target="/ppt/notesMasters/notesMaster1.xml" Id="Rcbfb9ee90ba344b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0d8920ed8d546a1" /><Relationship Type="http://schemas.openxmlformats.org/officeDocument/2006/relationships/notesMaster" Target="/ppt/notesMasters/notesMaster1.xml" Id="R856322d5bf93415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98bc158fdd94bf6" /><Relationship Type="http://schemas.openxmlformats.org/officeDocument/2006/relationships/notesMaster" Target="/ppt/notesMasters/notesMaster1.xml" Id="Ra128d5e81e73463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b9ab8cc6eb54c72" /><Relationship Type="http://schemas.openxmlformats.org/officeDocument/2006/relationships/notesMaster" Target="/ppt/notesMasters/notesMaster1.xml" Id="R0601b3ebcbc94dd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6222e77f336451b" /><Relationship Type="http://schemas.openxmlformats.org/officeDocument/2006/relationships/notesMaster" Target="/ppt/notesMasters/notesMaster1.xml" Id="Rfd3e9621a4b74a3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78f5b3806c94079" /><Relationship Type="http://schemas.openxmlformats.org/officeDocument/2006/relationships/notesMaster" Target="/ppt/notesMasters/notesMaster1.xml" Id="R56a5bde454aa46a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195fab936c6478d" /><Relationship Type="http://schemas.openxmlformats.org/officeDocument/2006/relationships/notesMaster" Target="/ppt/notesMasters/notesMaster1.xml" Id="R6566c18f373944f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2109c5c488a44c8" /><Relationship Type="http://schemas.openxmlformats.org/officeDocument/2006/relationships/notesMaster" Target="/ppt/notesMasters/notesMaster1.xml" Id="R6debf070c36841d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0ccf4411c394ff9" /><Relationship Type="http://schemas.openxmlformats.org/officeDocument/2006/relationships/notesMaster" Target="/ppt/notesMasters/notesMaster1.xml" Id="R8307a89d1b954ea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9b53b315ccc4cee" /><Relationship Type="http://schemas.openxmlformats.org/officeDocument/2006/relationships/notesMaster" Target="/ppt/notesMasters/notesMaster1.xml" Id="R2bde4471178d4ee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3afe1e02e524674" /><Relationship Type="http://schemas.openxmlformats.org/officeDocument/2006/relationships/notesMaster" Target="/ppt/notesMasters/notesMaster1.xml" Id="R0c7108b15845450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55c487103bd4d41" /><Relationship Type="http://schemas.openxmlformats.org/officeDocument/2006/relationships/notesMaster" Target="/ppt/notesMasters/notesMaster1.xml" Id="R37527a46406b492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edf5dcf1bdc4f6b" /><Relationship Type="http://schemas.openxmlformats.org/officeDocument/2006/relationships/notesMaster" Target="/ppt/notesMasters/notesMaster1.xml" Id="R66727f7aca4c409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867bbfd64c74094" /><Relationship Type="http://schemas.openxmlformats.org/officeDocument/2006/relationships/notesMaster" Target="/ppt/notesMasters/notesMaster1.xml" Id="R109878e7c55c475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99e281b23f54642" /><Relationship Type="http://schemas.openxmlformats.org/officeDocument/2006/relationships/notesMaster" Target="/ppt/notesMasters/notesMaster1.xml" Id="Rbdf5fc561f8b445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fa035323eda4898" /><Relationship Type="http://schemas.openxmlformats.org/officeDocument/2006/relationships/notesMaster" Target="/ppt/notesMasters/notesMaster1.xml" Id="Rb38d7e7551f34af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5077186f83943c0" /><Relationship Type="http://schemas.openxmlformats.org/officeDocument/2006/relationships/notesMaster" Target="/ppt/notesMasters/notesMaster1.xml" Id="R1c81c1781bbc4a8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fb81603e1234854" /><Relationship Type="http://schemas.openxmlformats.org/officeDocument/2006/relationships/notesMaster" Target="/ppt/notesMasters/notesMaster1.xml" Id="R932342add746421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050a6f8f598486f" /><Relationship Type="http://schemas.openxmlformats.org/officeDocument/2006/relationships/notesMaster" Target="/ppt/notesMasters/notesMaster1.xml" Id="R1ba2758d0879413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f7797fb71674feb" /><Relationship Type="http://schemas.openxmlformats.org/officeDocument/2006/relationships/notesMaster" Target="/ppt/notesMasters/notesMaster1.xml" Id="R81af6b44afc344f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0036b093c49455a" /><Relationship Type="http://schemas.openxmlformats.org/officeDocument/2006/relationships/notesMaster" Target="/ppt/notesMasters/notesMaster1.xml" Id="Receb85525dd34e6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a8c1ddf6b5248be" /><Relationship Type="http://schemas.openxmlformats.org/officeDocument/2006/relationships/notesMaster" Target="/ppt/notesMasters/notesMaster1.xml" Id="Rbbd15a364edd4da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522559c7fe046b9" /><Relationship Type="http://schemas.openxmlformats.org/officeDocument/2006/relationships/notesMaster" Target="/ppt/notesMasters/notesMaster1.xml" Id="Ra242f4a1ec38440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5b327ec8eb9473e" /><Relationship Type="http://schemas.openxmlformats.org/officeDocument/2006/relationships/notesMaster" Target="/ppt/notesMasters/notesMaster1.xml" Id="R231e159195154bb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c63d93dffa14e6f" /><Relationship Type="http://schemas.openxmlformats.org/officeDocument/2006/relationships/notesMaster" Target="/ppt/notesMasters/notesMaster1.xml" Id="R6b42557724444eb4"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60a24599b004924" /><Relationship Type="http://schemas.openxmlformats.org/officeDocument/2006/relationships/notesMaster" Target="/ppt/notesMasters/notesMaster1.xml" Id="R522d42c3fc54447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a5c731851224711" /><Relationship Type="http://schemas.openxmlformats.org/officeDocument/2006/relationships/notesMaster" Target="/ppt/notesMasters/notesMaster1.xml" Id="R8e2d4fa1f2724dd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1b4778e1a7a400c" /><Relationship Type="http://schemas.openxmlformats.org/officeDocument/2006/relationships/notesMaster" Target="/ppt/notesMasters/notesMaster1.xml" Id="R04ba60b9cc54475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7524991995934dac" /><Relationship Type="http://schemas.openxmlformats.org/officeDocument/2006/relationships/notesMaster" Target="/ppt/notesMasters/notesMaster1.xml" Id="R85007ba046824d68"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61819bba68fe4a90" /><Relationship Type="http://schemas.openxmlformats.org/officeDocument/2006/relationships/notesMaster" Target="/ppt/notesMasters/notesMaster1.xml" Id="R354eb750ad274fd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3e727d985b24c34" /><Relationship Type="http://schemas.openxmlformats.org/officeDocument/2006/relationships/notesMaster" Target="/ppt/notesMasters/notesMaster1.xml" Id="R159934f5493d4b7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f6cc8bd8645b4e10" /><Relationship Type="http://schemas.openxmlformats.org/officeDocument/2006/relationships/notesMaster" Target="/ppt/notesMasters/notesMaster1.xml" Id="R02cce19b9a454188"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1deb0d7cc89435d" /><Relationship Type="http://schemas.openxmlformats.org/officeDocument/2006/relationships/notesMaster" Target="/ppt/notesMasters/notesMaster1.xml" Id="Rd5addd0ceb79485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61745164f7454342" /><Relationship Type="http://schemas.openxmlformats.org/officeDocument/2006/relationships/notesMaster" Target="/ppt/notesMasters/notesMaster1.xml" Id="R50c11cac39f94831"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3fe1669d5d284d4a" /><Relationship Type="http://schemas.openxmlformats.org/officeDocument/2006/relationships/notesMaster" Target="/ppt/notesMasters/notesMaster1.xml" Id="Rd81cd406548a4042"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a524f8d09b1421c" /><Relationship Type="http://schemas.openxmlformats.org/officeDocument/2006/relationships/notesMaster" Target="/ppt/notesMasters/notesMaster1.xml" Id="R2871569ca4544ae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ca42c7779c7c4f16" /><Relationship Type="http://schemas.openxmlformats.org/officeDocument/2006/relationships/notesMaster" Target="/ppt/notesMasters/notesMaster1.xml" Id="R20f018af353747fd"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28c454c1ecac43e5" /><Relationship Type="http://schemas.openxmlformats.org/officeDocument/2006/relationships/notesMaster" Target="/ppt/notesMasters/notesMaster1.xml" Id="R770a492270ca449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c46fe120f780474a" /><Relationship Type="http://schemas.openxmlformats.org/officeDocument/2006/relationships/notesMaster" Target="/ppt/notesMasters/notesMaster1.xml" Id="R8219650331354321"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068dce6a0bae4c49" /><Relationship Type="http://schemas.openxmlformats.org/officeDocument/2006/relationships/notesMaster" Target="/ppt/notesMasters/notesMaster1.xml" Id="R8ca62b1b227a42b1"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fd4c1884c08e4b5e" /><Relationship Type="http://schemas.openxmlformats.org/officeDocument/2006/relationships/notesMaster" Target="/ppt/notesMasters/notesMaster1.xml" Id="Rb4b36f5bca664d3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data and explaining changes</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Civil Engineering and Architecture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Cleaning data and explaining changes</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Cleaning data and explaining changes. Explain why this example is needed before running it.</a:t>
            </a:r>
          </a:p>
          <a:p xmlns:a="http://schemas.openxmlformats.org/drawingml/2006/main">
            <a:r>
              <a:t/>
            </a:r>
          </a:p>
          <a:p xmlns:a="http://schemas.openxmlformats.org/drawingml/2006/main">
            <a:r>
              <a:t>EXPLAIN</a:t>
            </a:r>
          </a:p>
          <a:p xmlns:a="http://schemas.openxmlformats.org/drawingml/2006/main">
            <a:r>
              <a:t>Recognise missing values and repeated records.</a:t>
            </a:r>
          </a:p>
          <a:p xmlns:a="http://schemas.openxmlformats.org/drawingml/2006/main">
            <a:r>
              <a:t/>
            </a:r>
          </a:p>
          <a:p xmlns:a="http://schemas.openxmlformats.org/drawingml/2006/main">
            <a:r>
              <a:t>Make a working copy and record each cleaning action.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Cleaning data and explaining changes.</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MCAR/MAR/MNAR names, five chart families and six unaided defect hunts are reference. Teach missingness causes in everyday language first.</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Week 5 selected and summarised columns. Before trusting those summaries, inspect missing values, repeated observations and measurement units.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A repeated record or a missing measurement can change a summary. We keep the original records, apply the stated cleaning rules and explain each change before plotting.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building team records indoor temperature to investigate comfort. Civil students can discuss construction and inspection; architecture students can discuss shading and ventilation. Explain the quantities before using them.</a:t>
            </a:r>
          </a:p>
          <a:p xmlns:a="http://schemas.openxmlformats.org/drawingml/2006/main">
            <a:r>
              <a:t/>
            </a:r>
          </a:p>
          <a:p xmlns:a="http://schemas.openxmlformats.org/drawingml/2006/main">
            <a:r>
              <a:t>EXPLAIN IN ORDINARY WORDS</a:t>
            </a:r>
          </a:p>
          <a:p xmlns:a="http://schemas.openxmlformats.org/drawingml/2006/main">
            <a:r>
              <a:t>A calculated column stores a result for each row at refresh. A measure is evaluated under the filters of the current visual. SUMX evaluates an expression for each row before adding it.</a:t>
            </a:r>
          </a:p>
          <a:p xmlns:a="http://schemas.openxmlformats.org/drawingml/2006/main">
            <a:r>
              <a:t/>
            </a:r>
          </a:p>
          <a:p xmlns:a="http://schemas.openxmlformats.org/drawingml/2006/main">
            <a:r>
              <a:t>CHECK AND EXPECTED ANSWER</a:t>
            </a:r>
          </a:p>
          <a:p xmlns:a="http://schemas.openxmlformats.org/drawingml/2006/main">
            <a:r>
              <a:t>Should revenue respond to a selected region? Yes; test the measure with that filter and reconcile it to known data.</a:t>
            </a:r>
          </a:p>
          <a:p xmlns:a="http://schemas.openxmlformats.org/drawingml/2006/main">
            <a:r>
              <a:t/>
            </a:r>
          </a:p>
          <a:p xmlns:a="http://schemas.openxmlformats.org/drawingml/2006/main">
            <a:r>
              <a:t>IF LEARNERS ARE STUCK</a:t>
            </a:r>
          </a:p>
          <a:p xmlns:a="http://schemas.openxmlformats.org/drawingml/2006/main">
            <a:r>
              <a:t>Work one order line by hand, then two lines. Name the numerator and denominator populations before an average-order-value measure.</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Raw data and Missing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Raw data and Missing value</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Raw data: The original supplied records. Keep these unchanged so another person can check your decisions.</a:t>
            </a:r>
          </a:p>
          <a:p xmlns:a="http://schemas.openxmlformats.org/drawingml/2006/main">
            <a:r>
              <a:t>Missing value: A value that was not recorded, represented here by None in Python records. Missing does not automatically mean zero.</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POINT TO THE DEFINITION</a:t>
            </a:r>
          </a:p>
          <a:p xmlns:a="http://schemas.openxmlformats.org/drawingml/2006/main">
            <a:r>
              <a:t>Raw data: The original supplied records. Keep these unchanged so another person can check your decisions.</a:t>
            </a:r>
          </a:p>
          <a:p xmlns:a="http://schemas.openxmlformats.org/drawingml/2006/main">
            <a:r>
              <a:t>Missing value: A value that was not recorded, represented here by None in Python records. Missing does not automatically mean zero.</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Record and equipment ID and Median and imputation.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Record and equipment ID and Median and imputation</a:t>
            </a:r>
          </a:p>
          <a:p xmlns:a="http://schemas.openxmlformats.org/drawingml/2006/main">
            <a:r>
              <a:t/>
            </a:r>
          </a:p>
          <a:p xmlns:a="http://schemas.openxmlformats.org/drawingml/2006/main">
            <a:r>
              <a:t>CONNECT</a:t>
            </a:r>
          </a:p>
          <a:p xmlns:a="http://schemas.openxmlformats.org/drawingml/2006/main">
            <a:r>
              <a:t>Build on Raw data and Missing value. Explain why this example is needed before running it.</a:t>
            </a:r>
          </a:p>
          <a:p xmlns:a="http://schemas.openxmlformats.org/drawingml/2006/main">
            <a:r>
              <a:t/>
            </a:r>
          </a:p>
          <a:p xmlns:a="http://schemas.openxmlformats.org/drawingml/2006/main">
            <a:r>
              <a:t>EXPLAIN</a:t>
            </a:r>
          </a:p>
          <a:p xmlns:a="http://schemas.openxmlformats.org/drawingml/2006/main">
            <a:r>
              <a:t>Record and equipment ID: A record ID identifies an observation. An equipment ID identifies the source and may repeat legitimately. Remove repeated observations only under the stated rule.</a:t>
            </a:r>
          </a:p>
          <a:p xmlns:a="http://schemas.openxmlformats.org/drawingml/2006/main">
            <a:r>
              <a:t>Median and imputation: The median is the middle sorted value, or the mean of the two middle values. Imputation fills a missing value using an explicit rule and introduces uncertainty.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POINT TO THE DEFINITION</a:t>
            </a:r>
          </a:p>
          <a:p xmlns:a="http://schemas.openxmlformats.org/drawingml/2006/main">
            <a:r>
              <a:t>Record and equipment ID: A record ID identifies an observation. An equipment ID identifies the source and may repeat legitimately. Remove repeated observations only under the stated rule.</a:t>
            </a:r>
          </a:p>
          <a:p xmlns:a="http://schemas.openxmlformats.org/drawingml/2006/main">
            <a:r>
              <a:t>Median and imputation: The median is the middle sorted value, or the mean of the two middle values. Imputation fills a missing value using an explicit rule and introduces uncertainty.</a:t>
            </a:r>
          </a:p>
          <a:p xmlns:a="http://schemas.openxmlformats.org/drawingml/2006/main">
            <a:r>
              <a:t/>
            </a:r>
          </a:p>
          <a:p xmlns:a="http://schemas.openxmlformats.org/drawingml/2006/main">
            <a:r>
              <a:t>NEXT</a:t>
            </a:r>
          </a:p>
          <a:p xmlns:a="http://schemas.openxmlformats.org/drawingml/2006/main">
            <a:r>
              <a:t>An unusual value needs a reason.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An unusual value needs a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unusual value needs a reason</a:t>
            </a:r>
          </a:p>
          <a:p xmlns:a="http://schemas.openxmlformats.org/drawingml/2006/main">
            <a:r>
              <a:t/>
            </a:r>
          </a:p>
          <a:p xmlns:a="http://schemas.openxmlformats.org/drawingml/2006/main">
            <a:r>
              <a:t>CONNECT</a:t>
            </a:r>
          </a:p>
          <a:p xmlns:a="http://schemas.openxmlformats.org/drawingml/2006/main">
            <a:r>
              <a:t>Build on Record and equipment ID and Median and imputation. Explain why this example is needed before running it.</a:t>
            </a:r>
          </a:p>
          <a:p xmlns:a="http://schemas.openxmlformats.org/drawingml/2006/main">
            <a:r>
              <a:t/>
            </a:r>
          </a:p>
          <a:p xmlns:a="http://schemas.openxmlformats.org/drawingml/2006/main">
            <a:r>
              <a:t>EXPLAIN</a:t>
            </a:r>
          </a:p>
          <a:p xmlns:a="http://schemas.openxmlformats.org/drawingml/2006/main">
            <a:r>
              <a:t>A missing reading has no recorded value.</a:t>
            </a:r>
          </a:p>
          <a:p xmlns:a="http://schemas.openxmlformats.org/drawingml/2006/main">
            <a:r>
              <a:t/>
            </a:r>
          </a:p>
          <a:p xmlns:a="http://schemas.openxmlformats.org/drawingml/2006/main">
            <a:r>
              <a:t>Zero is a recorded value and may be physically meaningful.</a:t>
            </a:r>
          </a:p>
          <a:p xmlns:a="http://schemas.openxmlformats.org/drawingml/2006/main">
            <a:r>
              <a:t/>
            </a:r>
          </a:p>
          <a:p xmlns:a="http://schemas.openxmlformats.org/drawingml/2006/main">
            <a:r>
              <a:t>A large or negative value needs instrument and unit context.</a:t>
            </a:r>
          </a:p>
          <a:p xmlns:a="http://schemas.openxmlformats.org/drawingml/2006/main">
            <a:r>
              <a:t/>
            </a:r>
          </a:p>
          <a:p xmlns:a="http://schemas.openxmlformats.org/drawingml/2006/main">
            <a:r>
              <a:t>Preserve the raw data and record every cleaning decision.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An unusual value needs a reason</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Mean, median and unusual readings.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Mean, median and unusual readings.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Mean, median and unusual readings</a:t>
            </a:r>
          </a:p>
          <a:p xmlns:a="http://schemas.openxmlformats.org/drawingml/2006/main">
            <a:r>
              <a:t/>
            </a:r>
          </a:p>
          <a:p xmlns:a="http://schemas.openxmlformats.org/drawingml/2006/main">
            <a:r>
              <a:t>CONNECT</a:t>
            </a:r>
          </a:p>
          <a:p xmlns:a="http://schemas.openxmlformats.org/drawingml/2006/main">
            <a:r>
              <a:t>Build on An unusual value needs a reason. Explain why this example is needed before running it.</a:t>
            </a:r>
          </a:p>
          <a:p xmlns:a="http://schemas.openxmlformats.org/drawingml/2006/main">
            <a:r>
              <a:t/>
            </a:r>
          </a:p>
          <a:p xmlns:a="http://schemas.openxmlformats.org/drawingml/2006/main">
            <a:r>
              <a:t>EXPLAIN</a:t>
            </a:r>
          </a:p>
          <a:p xmlns:a="http://schemas.openxmlformats.org/drawingml/2006/main">
            <a:r>
              <a:t>The mean uses every value. The median is the middle sorted value. A large value needs context.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Mean, median and unusual readings</a:t>
            </a:r>
          </a:p>
          <a:p xmlns:a="http://schemas.openxmlformats.org/drawingml/2006/main">
            <a:r>
              <a:t/>
            </a:r>
          </a:p>
          <a:p xmlns:a="http://schemas.openxmlformats.org/drawingml/2006/main">
            <a:r>
              <a:t>CONNECT</a:t>
            </a:r>
          </a:p>
          <a:p xmlns:a="http://schemas.openxmlformats.org/drawingml/2006/main">
            <a:r>
              <a:t>Build on the preceding slide: An unusual value needs a reason.</a:t>
            </a:r>
          </a:p>
          <a:p xmlns:a="http://schemas.openxmlformats.org/drawingml/2006/main">
            <a:r>
              <a:t/>
            </a:r>
          </a:p>
          <a:p xmlns:a="http://schemas.openxmlformats.org/drawingml/2006/main">
            <a:r>
              <a:t>LECTURER CUE</a:t>
            </a:r>
          </a:p>
          <a:p xmlns:a="http://schemas.openxmlformats.org/drawingml/2006/main">
            <a:r>
              <a:t>The mean uses every value. The median is the middle sorted value. A large value needs context.</a:t>
            </a:r>
          </a:p>
          <a:p xmlns:a="http://schemas.openxmlformats.org/drawingml/2006/main">
            <a:r>
              <a:t/>
            </a:r>
          </a:p>
          <a:p xmlns:a="http://schemas.openxmlformats.org/drawingml/2006/main">
            <a:r>
              <a:t>EXPLAIN IN ORDINARY WORDS</a:t>
            </a:r>
          </a:p>
          <a:p xmlns:a="http://schemas.openxmlformats.org/drawingml/2006/main">
            <a:r>
              <a:t>Mean is total divided by count. Median is the middle of sorted values. A percentile locates a position in that ordered distribution; interpolation conventions can differ. Match the summary to the question.</a:t>
            </a:r>
          </a:p>
          <a:p xmlns:a="http://schemas.openxmlformats.org/drawingml/2006/main">
            <a:r>
              <a:t/>
            </a:r>
          </a:p>
          <a:p xmlns:a="http://schemas.openxmlformats.org/drawingml/2006/main">
            <a:r>
              <a:t>CHECK AND EXPECTED ANSWER</a:t>
            </a:r>
          </a:p>
          <a:p xmlns:a="http://schemas.openxmlformats.org/drawingml/2006/main">
            <a:r>
              <a:t>For [2,3,4,5,100], median=4 and mean=22.8. The large value pulls the mean up.</a:t>
            </a:r>
          </a:p>
          <a:p xmlns:a="http://schemas.openxmlformats.org/drawingml/2006/main">
            <a:r>
              <a:t/>
            </a:r>
          </a:p>
          <a:p xmlns:a="http://schemas.openxmlformats.org/drawingml/2006/main">
            <a:r>
              <a:t>IF LEARNERS ARE STUCK</a:t>
            </a:r>
          </a:p>
          <a:p xmlns:a="http://schemas.openxmlformats.org/drawingml/2006/main">
            <a:r>
              <a:t>Sort five values by hand. A skewed distribution does not make the mean wrong if the question concerns totals or expected cost.</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Filling a gap adds an estimate.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Filling a gap adds an estimate.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Filling a gap adds an estimate</a:t>
            </a:r>
          </a:p>
          <a:p xmlns:a="http://schemas.openxmlformats.org/drawingml/2006/main">
            <a:r>
              <a:t/>
            </a:r>
          </a:p>
          <a:p xmlns:a="http://schemas.openxmlformats.org/drawingml/2006/main">
            <a:r>
              <a:t>CONNECT</a:t>
            </a:r>
          </a:p>
          <a:p xmlns:a="http://schemas.openxmlformats.org/drawingml/2006/main">
            <a:r>
              <a:t>Build on Mean, median and unusual readings. Explain why this example is needed before running it.</a:t>
            </a:r>
          </a:p>
          <a:p xmlns:a="http://schemas.openxmlformats.org/drawingml/2006/main">
            <a:r>
              <a:t/>
            </a:r>
          </a:p>
          <a:p xmlns:a="http://schemas.openxmlformats.org/drawingml/2006/main">
            <a:r>
              <a:t>EXPLAIN</a:t>
            </a:r>
          </a:p>
          <a:p xmlns:a="http://schemas.openxmlformats.org/drawingml/2006/main">
            <a:r>
              <a:t>The valid readings, sorted, are 20, 22, 24 and 80.</a:t>
            </a:r>
          </a:p>
          <a:p xmlns:a="http://schemas.openxmlformats.org/drawingml/2006/main">
            <a:r>
              <a:t/>
            </a:r>
          </a:p>
          <a:p xmlns:a="http://schemas.openxmlformats.org/drawingml/2006/main">
            <a:r>
              <a:t>The two middle values are 22 and 24. Their mean is 23.</a:t>
            </a:r>
          </a:p>
          <a:p xmlns:a="http://schemas.openxmlformats.org/drawingml/2006/main">
            <a:r>
              <a:t/>
            </a:r>
          </a:p>
          <a:p xmlns:a="http://schemas.openxmlformats.org/drawingml/2006/main">
            <a:r>
              <a:t>Using 23 for a blank is a declared cleaning rule. It does not recover the lost measurement.</a:t>
            </a:r>
          </a:p>
          <a:p xmlns:a="http://schemas.openxmlformats.org/drawingml/2006/main">
            <a:r>
              <a:t/>
            </a:r>
          </a:p>
          <a:p xmlns:a="http://schemas.openxmlformats.org/drawingml/2006/main">
            <a:r>
              <a:t>In Python, value is None tests for a missing marker. is not None tests that it is not that marker.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Filling a gap adds an estimate</a:t>
            </a:r>
          </a:p>
          <a:p xmlns:a="http://schemas.openxmlformats.org/drawingml/2006/main">
            <a:r>
              <a:t/>
            </a:r>
          </a:p>
          <a:p xmlns:a="http://schemas.openxmlformats.org/drawingml/2006/main">
            <a:r>
              <a:t>CONNECT</a:t>
            </a:r>
          </a:p>
          <a:p xmlns:a="http://schemas.openxmlformats.org/drawingml/2006/main">
            <a:r>
              <a:t>Build on the preceding slide: Mean, median and unusual readings.</a:t>
            </a:r>
          </a:p>
          <a:p xmlns:a="http://schemas.openxmlformats.org/drawingml/2006/main">
            <a:r>
              <a:t/>
            </a:r>
          </a:p>
          <a:p xmlns:a="http://schemas.openxmlformats.org/drawingml/2006/main">
            <a:r>
              <a:t>LECTURER CUE</a:t>
            </a:r>
          </a:p>
          <a:p xmlns:a="http://schemas.openxmlformats.org/drawingml/2006/main">
            <a:r>
              <a:t>Use the example below to sort four valid readings. The median is (22 + 24) / 2 = 23. Filling a blank with 23 is a stated teaching rule, not a recovered measurement.</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Worked example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decisions and charts in Python (1/2)</a:t>
            </a:r>
          </a:p>
          <a:p xmlns:a="http://schemas.openxmlformats.org/drawingml/2006/main">
            <a:r>
              <a:t/>
            </a:r>
          </a:p>
          <a:p xmlns:a="http://schemas.openxmlformats.org/drawingml/2006/main">
            <a:r>
              <a:t>CONNECT</a:t>
            </a:r>
          </a:p>
          <a:p xmlns:a="http://schemas.openxmlformats.org/drawingml/2006/main">
            <a:r>
              <a:t>Build on Filling a gap adds an estimate.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(1/2)</a:t>
            </a:r>
          </a:p>
          <a:p xmlns:a="http://schemas.openxmlformats.org/drawingml/2006/main">
            <a:r>
              <a:t/>
            </a:r>
          </a:p>
          <a:p xmlns:a="http://schemas.openxmlformats.org/drawingml/2006/main">
            <a:r>
              <a:t>CONNECT</a:t>
            </a:r>
          </a:p>
          <a:p xmlns:a="http://schemas.openxmlformats.org/drawingml/2006/main">
            <a:r>
              <a:t>Build on the preceding slide: Filling a gap adds an estimate.</a:t>
            </a:r>
          </a:p>
          <a:p xmlns:a="http://schemas.openxmlformats.org/drawingml/2006/main">
            <a:r>
              <a:t/>
            </a:r>
          </a:p>
          <a:p xmlns:a="http://schemas.openxmlformats.org/drawingml/2006/main">
            <a:r>
              <a:t>LECTURER CUE</a:t>
            </a:r>
          </a:p>
          <a:p xmlns:a="http://schemas.openxmlformats.org/drawingml/2006/main">
            <a:r>
              <a:t>Use the example below to sort four valid readings. The median is (22 + 24) / 2 = 23. Filling a blank with 23 is a stated teaching rule, not a recovered measurement. Model a defect register: observation, evidence, decision, affected count, limitation. Work one repeated record and one missing value together. Draw a scatter plot from four pairs on the board. A pattern can motivate investigation without proving that one variable causes the other.</a:t>
            </a:r>
          </a:p>
          <a:p xmlns:a="http://schemas.openxmlformats.org/drawingml/2006/main">
            <a:r>
              <a:t/>
            </a:r>
          </a:p>
          <a:p xmlns:a="http://schemas.openxmlformats.org/drawingml/2006/main">
            <a:r>
              <a:t>Complete practice code:</a:t>
            </a:r>
          </a:p>
          <a:p xmlns:a="http://schemas.openxmlformats.org/drawingml/2006/main">
            <a:r>
              <a:t>from statistics import median</a:t>
            </a:r>
          </a:p>
          <a:p xmlns:a="http://schemas.openxmlformats.org/drawingml/2006/main">
            <a:r>
              <a:t>raw = [20, None, 22, 24, 80]</a:t>
            </a:r>
          </a:p>
          <a:p xmlns:a="http://schemas.openxmlformats.org/drawingml/2006/main">
            <a:r>
              <a:t>known = []</a:t>
            </a:r>
          </a:p>
          <a:p xmlns:a="http://schemas.openxmlformats.org/drawingml/2006/main">
            <a:r>
              <a:t>for value in raw:</a:t>
            </a:r>
          </a:p>
          <a:p xmlns:a="http://schemas.openxmlformats.org/drawingml/2006/main">
            <a:r>
              <a:t>    if value is not None:</a:t>
            </a:r>
          </a:p>
          <a:p xmlns:a="http://schemas.openxmlformats.org/drawingml/2006/main">
            <a:r>
              <a:t>        known.append(value)</a:t>
            </a:r>
          </a:p>
          <a:p xmlns:a="http://schemas.openxmlformats.org/drawingml/2006/main">
            <a:r>
              <a:t>fill = median(known)</a:t>
            </a:r>
          </a:p>
          <a:p xmlns:a="http://schemas.openxmlformats.org/drawingml/2006/main">
            <a:r>
              <a:t>cleaned = []</a:t>
            </a:r>
          </a:p>
          <a:p xmlns:a="http://schemas.openxmlformats.org/drawingml/2006/main">
            <a:r>
              <a:t>for value in raw:</a:t>
            </a:r>
          </a:p>
          <a:p xmlns:a="http://schemas.openxmlformats.org/drawingml/2006/main">
            <a:r>
              <a:t>    if value is None:</a:t>
            </a:r>
          </a:p>
          <a:p xmlns:a="http://schemas.openxmlformats.org/drawingml/2006/main">
            <a:r>
              <a:t>        cleaned.append(fill)</a:t>
            </a:r>
          </a:p>
          <a:p xmlns:a="http://schemas.openxmlformats.org/drawingml/2006/main">
            <a:r>
              <a:t>    else:</a:t>
            </a:r>
          </a:p>
          <a:p xmlns:a="http://schemas.openxmlformats.org/drawingml/2006/main">
            <a:r>
              <a:t>        cleaned.append(value)</a:t>
            </a:r>
          </a:p>
          <a:p xmlns:a="http://schemas.openxmlformats.org/drawingml/2006/main">
            <a:r>
              <a:t>print(fill)</a:t>
            </a:r>
          </a:p>
          <a:p xmlns:a="http://schemas.openxmlformats.org/drawingml/2006/main">
            <a:r>
              <a:t>print(raw)</a:t>
            </a:r>
          </a:p>
          <a:p xmlns:a="http://schemas.openxmlformats.org/drawingml/2006/main">
            <a:r>
              <a:t>print(cleaned)</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decisions and charts in Python (2/2)</a:t>
            </a:r>
          </a:p>
          <a:p xmlns:a="http://schemas.openxmlformats.org/drawingml/2006/main">
            <a:r>
              <a:t/>
            </a:r>
          </a:p>
          <a:p xmlns:a="http://schemas.openxmlformats.org/drawingml/2006/main">
            <a:r>
              <a:t>CONNECT</a:t>
            </a:r>
          </a:p>
          <a:p xmlns:a="http://schemas.openxmlformats.org/drawingml/2006/main">
            <a:r>
              <a:t>Build on Cleaning decisions and charts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(2/2)</a:t>
            </a:r>
          </a:p>
          <a:p xmlns:a="http://schemas.openxmlformats.org/drawingml/2006/main">
            <a:r>
              <a:t/>
            </a:r>
          </a:p>
          <a:p xmlns:a="http://schemas.openxmlformats.org/drawingml/2006/main">
            <a:r>
              <a:t>CONNECT</a:t>
            </a:r>
          </a:p>
          <a:p xmlns:a="http://schemas.openxmlformats.org/drawingml/2006/main">
            <a:r>
              <a:t>Build on the preceding slide: Worked example (1/2).</a:t>
            </a:r>
          </a:p>
          <a:p xmlns:a="http://schemas.openxmlformats.org/drawingml/2006/main">
            <a:r>
              <a:t/>
            </a:r>
          </a:p>
          <a:p xmlns:a="http://schemas.openxmlformats.org/drawingml/2006/main">
            <a:r>
              <a:t>LECTURER CUE</a:t>
            </a:r>
          </a:p>
          <a:p xmlns:a="http://schemas.openxmlformats.org/drawingml/2006/main">
            <a:r>
              <a:t>Use the example below to sort four valid readings. The median is (22 + 24) / 2 = 23. Filling a blank with 23 is a stated teaching rule, not a recovered measurement. Model a defect register: observation, evidence, decision, affected count, limitation. Work one repeated record and one missing value together. Draw a scatter plot from four pairs on the board. A pattern can motivate investigation without proving that one variable causes the other.</a:t>
            </a:r>
          </a:p>
          <a:p xmlns:a="http://schemas.openxmlformats.org/drawingml/2006/main">
            <a:r>
              <a:t/>
            </a:r>
          </a:p>
          <a:p xmlns:a="http://schemas.openxmlformats.org/drawingml/2006/main">
            <a:r>
              <a:t>Complete practice code:</a:t>
            </a:r>
          </a:p>
          <a:p xmlns:a="http://schemas.openxmlformats.org/drawingml/2006/main">
            <a:r>
              <a:t>from statistics import median</a:t>
            </a:r>
          </a:p>
          <a:p xmlns:a="http://schemas.openxmlformats.org/drawingml/2006/main">
            <a:r>
              <a:t>raw = [20, None, 22, 24, 80]</a:t>
            </a:r>
          </a:p>
          <a:p xmlns:a="http://schemas.openxmlformats.org/drawingml/2006/main">
            <a:r>
              <a:t>known = []</a:t>
            </a:r>
          </a:p>
          <a:p xmlns:a="http://schemas.openxmlformats.org/drawingml/2006/main">
            <a:r>
              <a:t>for value in raw:</a:t>
            </a:r>
          </a:p>
          <a:p xmlns:a="http://schemas.openxmlformats.org/drawingml/2006/main">
            <a:r>
              <a:t>    if value is not None:</a:t>
            </a:r>
          </a:p>
          <a:p xmlns:a="http://schemas.openxmlformats.org/drawingml/2006/main">
            <a:r>
              <a:t>        known.append(value)</a:t>
            </a:r>
          </a:p>
          <a:p xmlns:a="http://schemas.openxmlformats.org/drawingml/2006/main">
            <a:r>
              <a:t>fill = median(known)</a:t>
            </a:r>
          </a:p>
          <a:p xmlns:a="http://schemas.openxmlformats.org/drawingml/2006/main">
            <a:r>
              <a:t>cleaned = []</a:t>
            </a:r>
          </a:p>
          <a:p xmlns:a="http://schemas.openxmlformats.org/drawingml/2006/main">
            <a:r>
              <a:t>for value in raw:</a:t>
            </a:r>
          </a:p>
          <a:p xmlns:a="http://schemas.openxmlformats.org/drawingml/2006/main">
            <a:r>
              <a:t>    if value is None:</a:t>
            </a:r>
          </a:p>
          <a:p xmlns:a="http://schemas.openxmlformats.org/drawingml/2006/main">
            <a:r>
              <a:t>        cleaned.append(fill)</a:t>
            </a:r>
          </a:p>
          <a:p xmlns:a="http://schemas.openxmlformats.org/drawingml/2006/main">
            <a:r>
              <a:t>    else:</a:t>
            </a:r>
          </a:p>
          <a:p xmlns:a="http://schemas.openxmlformats.org/drawingml/2006/main">
            <a:r>
              <a:t>        cleaned.append(value)</a:t>
            </a:r>
          </a:p>
          <a:p xmlns:a="http://schemas.openxmlformats.org/drawingml/2006/main">
            <a:r>
              <a:t>print(fill)</a:t>
            </a:r>
          </a:p>
          <a:p xmlns:a="http://schemas.openxmlformats.org/drawingml/2006/main">
            <a:r>
              <a:t>print(raw)</a:t>
            </a:r>
          </a:p>
          <a:p xmlns:a="http://schemas.openxmlformats.org/drawingml/2006/main">
            <a:r>
              <a:t>print(cleaned)</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decisions and charts results</a:t>
            </a:r>
          </a:p>
          <a:p xmlns:a="http://schemas.openxmlformats.org/drawingml/2006/main">
            <a:r>
              <a:t/>
            </a:r>
          </a:p>
          <a:p xmlns:a="http://schemas.openxmlformats.org/drawingml/2006/main">
            <a:r>
              <a:t>CONNECT</a:t>
            </a:r>
          </a:p>
          <a:p xmlns:a="http://schemas.openxmlformats.org/drawingml/2006/main">
            <a:r>
              <a:t>Build on Cleaning decisions and charts in Python (2/2). Explain why this example is needed before running it.</a:t>
            </a:r>
          </a:p>
          <a:p xmlns:a="http://schemas.openxmlformats.org/drawingml/2006/main">
            <a:r>
              <a:t/>
            </a:r>
          </a:p>
          <a:p xmlns:a="http://schemas.openxmlformats.org/drawingml/2006/main">
            <a:r>
              <a:t>EXPLAIN</a:t>
            </a:r>
          </a:p>
          <a:p xmlns:a="http://schemas.openxmlformats.org/drawingml/2006/main">
            <a:r>
              <a:t>23.0</a:t>
            </a:r>
          </a:p>
          <a:p xmlns:a="http://schemas.openxmlformats.org/drawingml/2006/main">
            <a:r>
              <a:t>[20, None, 22, 24, 80]</a:t>
            </a:r>
          </a:p>
          <a:p xmlns:a="http://schemas.openxmlformats.org/drawingml/2006/main">
            <a:r>
              <a:t>[20, 23.0, 22, 24, 80]</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 (2/2).</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NEXT</a:t>
            </a:r>
          </a:p>
          <a:p xmlns:a="http://schemas.openxmlformats.org/drawingml/2006/main">
            <a:r>
              <a:t>Copy a record and remember an ID.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Copy a record and remember an ID.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Copy a record and remember an ID</a:t>
            </a:r>
          </a:p>
          <a:p xmlns:a="http://schemas.openxmlformats.org/drawingml/2006/main">
            <a:r>
              <a:t/>
            </a:r>
          </a:p>
          <a:p xmlns:a="http://schemas.openxmlformats.org/drawingml/2006/main">
            <a:r>
              <a:t>CONNECT</a:t>
            </a:r>
          </a:p>
          <a:p xmlns:a="http://schemas.openxmlformats.org/drawingml/2006/main">
            <a:r>
              <a:t>Build on Cleaning decisions and charts results. Explain why this example is needed before running it.</a:t>
            </a:r>
          </a:p>
          <a:p xmlns:a="http://schemas.openxmlformats.org/drawingml/2006/main">
            <a:r>
              <a:t/>
            </a:r>
          </a:p>
          <a:p xmlns:a="http://schemas.openxmlformats.org/drawingml/2006/main">
            <a:r>
              <a:t>EXPLAIN</a:t>
            </a:r>
          </a:p>
          <a:p xmlns:a="http://schemas.openxmlformats.org/drawingml/2006/main">
            <a:r>
              <a:t>dict(row): For our flat records, dict(row) makes a separate dictionary with the same fields. Changing a number in the copy leaves the original record unchanged.</a:t>
            </a:r>
          </a:p>
          <a:p xmlns:a="http://schemas.openxmlformats.org/drawingml/2006/main">
            <a:r>
              <a:t>set, in, add and continue: set() starts an empty collection of unique items. in checks membership; add remembers an item. continue skips the rest of the current loop pass.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Copy a record and remember an ID</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EXPLAIN IN ORDINARY WORDS</a:t>
            </a:r>
          </a:p>
          <a:p xmlns:a="http://schemas.openxmlformats.org/drawingml/2006/main">
            <a:r>
              <a:t>A dictionary pairs a key with a value. For {"unit":"A", "reading":4}, record["reading"] looks up the key and gives 4. The key is not a list position.</a:t>
            </a:r>
          </a:p>
          <a:p xmlns:a="http://schemas.openxmlformats.org/drawingml/2006/main">
            <a:r>
              <a:t/>
            </a:r>
          </a:p>
          <a:p xmlns:a="http://schemas.openxmlformats.org/drawingml/2006/main">
            <a:r>
              <a:t>CHECK AND EXPECTED ANSWER</a:t>
            </a:r>
          </a:p>
          <a:p xmlns:a="http://schemas.openxmlformats.org/drawingml/2006/main">
            <a:r>
              <a:t>What happens if the key is spelled "Reading" instead? It is a different key; direct lookup can raise KeyError.</a:t>
            </a:r>
          </a:p>
          <a:p xmlns:a="http://schemas.openxmlformats.org/drawingml/2006/main">
            <a:r>
              <a:t/>
            </a:r>
          </a:p>
          <a:p xmlns:a="http://schemas.openxmlformats.org/drawingml/2006/main">
            <a:r>
              <a:t>IF LEARNERS ARE STUCK</a:t>
            </a:r>
          </a:p>
          <a:p xmlns:a="http://schemas.openxmlformats.org/drawingml/2006/main">
            <a:r>
              <a:t>Point to each key and its value. Read the colon as associates-with, then do one exact lookup.</a:t>
            </a:r>
          </a:p>
          <a:p xmlns:a="http://schemas.openxmlformats.org/drawingml/2006/main">
            <a:r>
              <a:t/>
            </a:r>
          </a:p>
          <a:p xmlns:a="http://schemas.openxmlformats.org/drawingml/2006/main">
            <a:r>
              <a:t>POINT TO THE DEFINITION</a:t>
            </a:r>
          </a:p>
          <a:p xmlns:a="http://schemas.openxmlformats.org/drawingml/2006/main">
            <a:r>
              <a:t>dict(row): For our flat records, dict(row) makes a separate dictionary with the same fields. Changing a number in the copy leaves the original record unchanged.</a:t>
            </a:r>
          </a:p>
          <a:p xmlns:a="http://schemas.openxmlformats.org/drawingml/2006/main">
            <a:r>
              <a:t>set, in, add and continue: set() starts an empty collection of unique items. in checks membership; add remembers an item. continue skips the rest of the current loop pass.</a:t>
            </a:r>
          </a:p>
          <a:p xmlns:a="http://schemas.openxmlformats.org/drawingml/2006/main">
            <a:r>
              <a:t/>
            </a:r>
          </a:p>
          <a:p xmlns:a="http://schemas.openxmlformats.org/drawingml/2006/main">
            <a:r>
              <a:t>NEXT</a:t>
            </a:r>
          </a:p>
          <a:p xmlns:a="http://schemas.openxmlformats.org/drawingml/2006/main">
            <a:r>
              <a:t>A working copy preserves the original.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working copy preserves the original.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working copy preserves the original</a:t>
            </a:r>
          </a:p>
          <a:p xmlns:a="http://schemas.openxmlformats.org/drawingml/2006/main">
            <a:r>
              <a:t/>
            </a:r>
          </a:p>
          <a:p xmlns:a="http://schemas.openxmlformats.org/drawingml/2006/main">
            <a:r>
              <a:t>CONNECT</a:t>
            </a:r>
          </a:p>
          <a:p xmlns:a="http://schemas.openxmlformats.org/drawingml/2006/main">
            <a:r>
              <a:t>Build on Copy a record and remember an ID. Explain why this example is needed before running it.</a:t>
            </a:r>
          </a:p>
          <a:p xmlns:a="http://schemas.openxmlformats.org/drawingml/2006/main">
            <a:r>
              <a:t/>
            </a:r>
          </a:p>
          <a:p xmlns:a="http://schemas.openxmlformats.org/drawingml/2006/main">
            <a:r>
              <a:t>EXPLAIN</a:t>
            </a:r>
          </a:p>
          <a:p xmlns:a="http://schemas.openxmlformats.org/drawingml/2006/main">
            <a:r>
              <a:t>In this separate four-record example, remove one repeated C record and fill B with (20 + 24) / 2 = 22.</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working copy preserves the original</a:t>
            </a:r>
          </a:p>
          <a:p xmlns:a="http://schemas.openxmlformats.org/drawingml/2006/main">
            <a:r>
              <a:t/>
            </a:r>
          </a:p>
          <a:p xmlns:a="http://schemas.openxmlformats.org/drawingml/2006/main">
            <a:r>
              <a:t>CONNECT</a:t>
            </a:r>
          </a:p>
          <a:p xmlns:a="http://schemas.openxmlformats.org/drawingml/2006/main">
            <a:r>
              <a:t>Build on the preceding slide: Copy a record and remember an ID.</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The working-copy rule is a toy activity, not the exact assessed cleaning policy. Source: figs/experiential/ASSET_SOURCES.md.</a:t>
            </a:r>
          </a:p>
          <a:p xmlns:a="http://schemas.openxmlformats.org/drawingml/2006/main">
            <a:r>
              <a:t/>
            </a:r>
          </a:p>
          <a:p xmlns:a="http://schemas.openxmlformats.org/drawingml/2006/main">
            <a:r>
              <a:t>NEXT</a:t>
            </a:r>
          </a:p>
          <a:p xmlns:a="http://schemas.openxmlformats.org/drawingml/2006/main">
            <a:r>
              <a:t>Copies and duplicate checks.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Copies and duplicate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Copies and duplicate checks</a:t>
            </a:r>
          </a:p>
          <a:p xmlns:a="http://schemas.openxmlformats.org/drawingml/2006/main">
            <a:r>
              <a:t/>
            </a:r>
          </a:p>
          <a:p xmlns:a="http://schemas.openxmlformats.org/drawingml/2006/main">
            <a:r>
              <a:t>CONNECT</a:t>
            </a:r>
          </a:p>
          <a:p xmlns:a="http://schemas.openxmlformats.org/drawingml/2006/main">
            <a:r>
              <a:t>Build on A working copy preserves the original. Explain why this example is needed before running it.</a:t>
            </a:r>
          </a:p>
          <a:p xmlns:a="http://schemas.openxmlformats.org/drawingml/2006/main">
            <a:r>
              <a:t/>
            </a:r>
          </a:p>
          <a:p xmlns:a="http://schemas.openxmlformats.org/drawingml/2006/main">
            <a:r>
              <a:t>EXPLAIN</a:t>
            </a:r>
          </a:p>
          <a:p xmlns:a="http://schemas.openxmlformats.org/drawingml/2006/main">
            <a:r>
              <a:t>dict(row) makes a shallow copy. A set keeps unique IDs.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Copies and duplicate checks</a:t>
            </a:r>
          </a:p>
          <a:p xmlns:a="http://schemas.openxmlformats.org/drawingml/2006/main">
            <a:r>
              <a:t/>
            </a:r>
          </a:p>
          <a:p xmlns:a="http://schemas.openxmlformats.org/drawingml/2006/main">
            <a:r>
              <a:t>CONNECT</a:t>
            </a:r>
          </a:p>
          <a:p xmlns:a="http://schemas.openxmlformats.org/drawingml/2006/main">
            <a:r>
              <a:t>Build on the preceding slide: A working copy preserves the original.</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4 then True. The example has only scalar fields. A shallow copy does not independently copy nested lists.</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Braces hold dictionary key: value pairs here.</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Copying records and recognising repeats.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Following a cleaning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Following a cleaning loop</a:t>
            </a:r>
          </a:p>
          <a:p xmlns:a="http://schemas.openxmlformats.org/drawingml/2006/main">
            <a:r>
              <a:t/>
            </a:r>
          </a:p>
          <a:p xmlns:a="http://schemas.openxmlformats.org/drawingml/2006/main">
            <a:r>
              <a:t>CONNECT</a:t>
            </a:r>
          </a:p>
          <a:p xmlns:a="http://schemas.openxmlformats.org/drawingml/2006/main">
            <a:r>
              <a:t>Build on Copies and duplicate checks. Explain why this example is needed before running it.</a:t>
            </a:r>
          </a:p>
          <a:p xmlns:a="http://schemas.openxmlformats.org/drawingml/2006/main">
            <a:r>
              <a:t/>
            </a:r>
          </a:p>
          <a:p xmlns:a="http://schemas.openxmlformats.org/drawingml/2006/main">
            <a:r>
              <a:t>EXPLAIN</a:t>
            </a:r>
          </a:p>
          <a:p xmlns:a="http://schemas.openxmlformats.org/drawingml/2006/main">
            <a:r>
              <a:t>An empty string "" and None are different values. Parse CSV fields according to the issued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Following a cleaning loop</a:t>
            </a:r>
          </a:p>
          <a:p xmlns:a="http://schemas.openxmlformats.org/drawingml/2006/main">
            <a:r>
              <a:t/>
            </a:r>
          </a:p>
          <a:p xmlns:a="http://schemas.openxmlformats.org/drawingml/2006/main">
            <a:r>
              <a:t>CONNECT</a:t>
            </a:r>
          </a:p>
          <a:p xmlns:a="http://schemas.openxmlformats.org/drawingml/2006/main">
            <a:r>
              <a:t>Build on the preceding slide: Copying records and recognising repeats.</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Copying records and recognising repeats in Python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Copying records and recognising repeats in Python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Copying records and recognising repeats in Python (1/2)</a:t>
            </a:r>
          </a:p>
          <a:p xmlns:a="http://schemas.openxmlformats.org/drawingml/2006/main">
            <a:r>
              <a:t/>
            </a:r>
          </a:p>
          <a:p xmlns:a="http://schemas.openxmlformats.org/drawingml/2006/main">
            <a:r>
              <a:t>CONNECT</a:t>
            </a:r>
          </a:p>
          <a:p xmlns:a="http://schemas.openxmlformats.org/drawingml/2006/main">
            <a:r>
              <a:t>Build on Following a cleaning loop.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Copying records and recognising repeats in Python (1/2)</a:t>
            </a:r>
          </a:p>
          <a:p xmlns:a="http://schemas.openxmlformats.org/drawingml/2006/main">
            <a:r>
              <a:t/>
            </a:r>
          </a:p>
          <a:p xmlns:a="http://schemas.openxmlformats.org/drawingml/2006/main">
            <a:r>
              <a:t>CONNECT</a:t>
            </a:r>
          </a:p>
          <a:p xmlns:a="http://schemas.openxmlformats.org/drawingml/2006/main">
            <a:r>
              <a:t>Build on the preceding slide: Following a cleaning loop.</a:t>
            </a:r>
          </a:p>
          <a:p xmlns:a="http://schemas.openxmlformats.org/drawingml/2006/main">
            <a:r>
              <a:t/>
            </a:r>
          </a:p>
          <a:p xmlns:a="http://schemas.openxmlformats.org/drawingml/2006/main">
            <a:r>
              <a:t>LECTURER CUE</a:t>
            </a:r>
          </a:p>
          <a:p xmlns:a="http://schemas.openxmlformats.org/drawingml/2006/main">
            <a:r>
              <a:t>set() creates a collection of already-seen identifiers. in checks membership. continue skips the rest of that iteration. dict(row) copies a record so later edits do not change the original. Different record IDs from the same equipment remain legitimate observations.</a:t>
            </a:r>
          </a:p>
          <a:p xmlns:a="http://schemas.openxmlformats.org/drawingml/2006/main">
            <a:r>
              <a:t/>
            </a:r>
          </a:p>
          <a:p xmlns:a="http://schemas.openxmlformats.org/drawingml/2006/main">
            <a:r>
              <a:t>Complete practice code:</a:t>
            </a:r>
          </a:p>
          <a:p xmlns:a="http://schemas.openxmlformats.org/drawingml/2006/main">
            <a:r>
              <a:t>raw_records = [{"id": 1, "equipment": "A", "value": 10},</a:t>
            </a:r>
          </a:p>
          <a:p xmlns:a="http://schemas.openxmlformats.org/drawingml/2006/main">
            <a:r>
              <a:t>               {"id": 1, "equipment": "A", "value": 10},</a:t>
            </a:r>
          </a:p>
          <a:p xmlns:a="http://schemas.openxmlformats.org/drawingml/2006/main">
            <a:r>
              <a:t>               {"id": 2, "equipment": "A", "value": 12}]</a:t>
            </a:r>
          </a:p>
          <a:p xmlns:a="http://schemas.openxmlformats.org/drawingml/2006/main">
            <a:r>
              <a:t>seen = set()</a:t>
            </a:r>
          </a:p>
          <a:p xmlns:a="http://schemas.openxmlformats.org/drawingml/2006/main">
            <a:r>
              <a:t>kept = []</a:t>
            </a:r>
          </a:p>
          <a:p xmlns:a="http://schemas.openxmlformats.org/drawingml/2006/main">
            <a:r>
              <a:t>for row in raw_records:</a:t>
            </a:r>
          </a:p>
          <a:p xmlns:a="http://schemas.openxmlformats.org/drawingml/2006/main">
            <a:r>
              <a:t>    if row["id"] in seen:</a:t>
            </a:r>
          </a:p>
          <a:p xmlns:a="http://schemas.openxmlformats.org/drawingml/2006/main">
            <a:r>
              <a:t>        continue</a:t>
            </a:r>
          </a:p>
          <a:p xmlns:a="http://schemas.openxmlformats.org/drawingml/2006/main">
            <a:r>
              <a:t>    seen.add(row["id"])</a:t>
            </a:r>
          </a:p>
          <a:p xmlns:a="http://schemas.openxmlformats.org/drawingml/2006/main">
            <a:r>
              <a:t>    kept.append(dict(row))</a:t>
            </a:r>
          </a:p>
          <a:p xmlns:a="http://schemas.openxmlformats.org/drawingml/2006/main">
            <a:r>
              <a:t>print(len(raw_records), len(kept))</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Square brackets create a list or select an item.</a:t>
            </a:r>
          </a:p>
          <a:p xmlns:a="http://schemas.openxmlformats.org/drawingml/2006/main">
            <a:r>
              <a:t>Braces hold dictionary key: value pairs here.</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Copying records and recognising repeats in Python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Copying records and recognising repeats in Python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Copying records and recognising repeats in Python (2/2)</a:t>
            </a:r>
          </a:p>
          <a:p xmlns:a="http://schemas.openxmlformats.org/drawingml/2006/main">
            <a:r>
              <a:t/>
            </a:r>
          </a:p>
          <a:p xmlns:a="http://schemas.openxmlformats.org/drawingml/2006/main">
            <a:r>
              <a:t>CONNECT</a:t>
            </a:r>
          </a:p>
          <a:p xmlns:a="http://schemas.openxmlformats.org/drawingml/2006/main">
            <a:r>
              <a:t>Build on Copying records and recognising repeats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Copying records and recognising repeats in Python (2/2)</a:t>
            </a:r>
          </a:p>
          <a:p xmlns:a="http://schemas.openxmlformats.org/drawingml/2006/main">
            <a:r>
              <a:t/>
            </a:r>
          </a:p>
          <a:p xmlns:a="http://schemas.openxmlformats.org/drawingml/2006/main">
            <a:r>
              <a:t>CONNECT</a:t>
            </a:r>
          </a:p>
          <a:p xmlns:a="http://schemas.openxmlformats.org/drawingml/2006/main">
            <a:r>
              <a:t>Build on the preceding slide: Copying records and recognising repeats in Python (1/2).</a:t>
            </a:r>
          </a:p>
          <a:p xmlns:a="http://schemas.openxmlformats.org/drawingml/2006/main">
            <a:r>
              <a:t/>
            </a:r>
          </a:p>
          <a:p xmlns:a="http://schemas.openxmlformats.org/drawingml/2006/main">
            <a:r>
              <a:t>LECTURER CUE</a:t>
            </a:r>
          </a:p>
          <a:p xmlns:a="http://schemas.openxmlformats.org/drawingml/2006/main">
            <a:r>
              <a:t>set() creates a collection of already-seen identifiers. in checks membership. continue skips the rest of that iteration. dict(row) copies a record so later edits do not change the original. Different record IDs from the same equipment remain legitimate observations.</a:t>
            </a:r>
          </a:p>
          <a:p xmlns:a="http://schemas.openxmlformats.org/drawingml/2006/main">
            <a:r>
              <a:t/>
            </a:r>
          </a:p>
          <a:p xmlns:a="http://schemas.openxmlformats.org/drawingml/2006/main">
            <a:r>
              <a:t>Complete practice code:</a:t>
            </a:r>
          </a:p>
          <a:p xmlns:a="http://schemas.openxmlformats.org/drawingml/2006/main">
            <a:r>
              <a:t>raw_records = [{"id": 1, "equipment": "A", "value": 10},</a:t>
            </a:r>
          </a:p>
          <a:p xmlns:a="http://schemas.openxmlformats.org/drawingml/2006/main">
            <a:r>
              <a:t>               {"id": 1, "equipment": "A", "value": 10},</a:t>
            </a:r>
          </a:p>
          <a:p xmlns:a="http://schemas.openxmlformats.org/drawingml/2006/main">
            <a:r>
              <a:t>               {"id": 2, "equipment": "A", "value": 12}]</a:t>
            </a:r>
          </a:p>
          <a:p xmlns:a="http://schemas.openxmlformats.org/drawingml/2006/main">
            <a:r>
              <a:t>seen = set()</a:t>
            </a:r>
          </a:p>
          <a:p xmlns:a="http://schemas.openxmlformats.org/drawingml/2006/main">
            <a:r>
              <a:t>kept = []</a:t>
            </a:r>
          </a:p>
          <a:p xmlns:a="http://schemas.openxmlformats.org/drawingml/2006/main">
            <a:r>
              <a:t>for row in raw_records:</a:t>
            </a:r>
          </a:p>
          <a:p xmlns:a="http://schemas.openxmlformats.org/drawingml/2006/main">
            <a:r>
              <a:t>    if row["id"] in seen:</a:t>
            </a:r>
          </a:p>
          <a:p xmlns:a="http://schemas.openxmlformats.org/drawingml/2006/main">
            <a:r>
              <a:t>        continue</a:t>
            </a:r>
          </a:p>
          <a:p xmlns:a="http://schemas.openxmlformats.org/drawingml/2006/main">
            <a:r>
              <a:t>    seen.add(row["id"])</a:t>
            </a:r>
          </a:p>
          <a:p xmlns:a="http://schemas.openxmlformats.org/drawingml/2006/main">
            <a:r>
              <a:t>    kept.append(dict(row))</a:t>
            </a:r>
          </a:p>
          <a:p xmlns:a="http://schemas.openxmlformats.org/drawingml/2006/main">
            <a:r>
              <a:t>print(len(raw_records), len(kept))</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Summaries returned as a dictionary.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Summaries returned as a dictionary.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Summaries returned as a dictionary</a:t>
            </a:r>
          </a:p>
          <a:p xmlns:a="http://schemas.openxmlformats.org/drawingml/2006/main">
            <a:r>
              <a:t/>
            </a:r>
          </a:p>
          <a:p xmlns:a="http://schemas.openxmlformats.org/drawingml/2006/main">
            <a:r>
              <a:t>CONNECT</a:t>
            </a:r>
          </a:p>
          <a:p xmlns:a="http://schemas.openxmlformats.org/drawingml/2006/main">
            <a:r>
              <a:t>Build on Copying records and recognising repeats in Python (2/2). Explain why this example is needed before running it.</a:t>
            </a:r>
          </a:p>
          <a:p xmlns:a="http://schemas.openxmlformats.org/drawingml/2006/main">
            <a:r>
              <a:t/>
            </a:r>
          </a:p>
          <a:p xmlns:a="http://schemas.openxmlformats.org/drawingml/2006/main">
            <a:r>
              <a:t>EXPLAIN</a:t>
            </a:r>
          </a:p>
          <a:p xmlns:a="http://schemas.openxmlformats.org/drawingml/2006/main">
            <a:r>
              <a:t>This example expects a nonempty list.</a:t>
            </a:r>
          </a:p>
          <a:p xmlns:a="http://schemas.openxmlformats.org/drawingml/2006/main">
            <a:r>
              <a:t/>
            </a:r>
          </a:p>
          <a:p xmlns:a="http://schemas.openxmlformats.org/drawingml/2006/main">
            <a:r>
              <a:t>It calculates a count and mean, then returns a dictionary with named outputs.</a:t>
            </a:r>
          </a:p>
          <a:p xmlns:a="http://schemas.openxmlformats.org/drawingml/2006/main">
            <a:r>
              <a:t/>
            </a:r>
          </a:p>
          <a:p xmlns:a="http://schemas.openxmlformats.org/drawingml/2006/main">
            <a:r>
              <a:t>Use the exact keys specified by the issued task when adapting this pattern.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Summaries returned as a dictionary</a:t>
            </a:r>
          </a:p>
          <a:p xmlns:a="http://schemas.openxmlformats.org/drawingml/2006/main">
            <a:r>
              <a:t/>
            </a:r>
          </a:p>
          <a:p xmlns:a="http://schemas.openxmlformats.org/drawingml/2006/main">
            <a:r>
              <a:t>CONNECT</a:t>
            </a:r>
          </a:p>
          <a:p xmlns:a="http://schemas.openxmlformats.org/drawingml/2006/main">
            <a:r>
              <a:t>Build on the preceding slide: Copying records and recognising repeats in Python (2/2).</a:t>
            </a:r>
          </a:p>
          <a:p xmlns:a="http://schemas.openxmlformats.org/drawingml/2006/main">
            <a:r>
              <a:t/>
            </a:r>
          </a:p>
          <a:p xmlns:a="http://schemas.openxmlformats.org/drawingml/2006/main">
            <a:r>
              <a:t>LECTURER CUE</a:t>
            </a:r>
          </a:p>
          <a:p xmlns:a="http://schemas.openxmlformats.org/drawingml/2006/main">
            <a:r>
              <a:t>This example expects a nonempty list. It calculates a count and mean, then returns a dictionary with named outputs. Use the exact keys specified by the issued task when adapting this pattern.</a:t>
            </a:r>
          </a:p>
          <a:p xmlns:a="http://schemas.openxmlformats.org/drawingml/2006/main">
            <a:r>
              <a:t/>
            </a:r>
          </a:p>
          <a:p xmlns:a="http://schemas.openxmlformats.org/drawingml/2006/main">
            <a:r>
              <a:t>EXPLAIN IN ORDINARY WORDS</a:t>
            </a:r>
          </a:p>
          <a:p xmlns:a="http://schemas.openxmlformats.org/drawingml/2006/main">
            <a:r>
              <a:t>A dictionary pairs a key with a value. For {"unit":"A", "reading":4}, record["reading"] looks up the key and gives 4. The key is not a list position.</a:t>
            </a:r>
          </a:p>
          <a:p xmlns:a="http://schemas.openxmlformats.org/drawingml/2006/main">
            <a:r>
              <a:t/>
            </a:r>
          </a:p>
          <a:p xmlns:a="http://schemas.openxmlformats.org/drawingml/2006/main">
            <a:r>
              <a:t>CHECK AND EXPECTED ANSWER</a:t>
            </a:r>
          </a:p>
          <a:p xmlns:a="http://schemas.openxmlformats.org/drawingml/2006/main">
            <a:r>
              <a:t>What happens if the key is spelled "Reading" instead? It is a different key; direct lookup can raise KeyError.</a:t>
            </a:r>
          </a:p>
          <a:p xmlns:a="http://schemas.openxmlformats.org/drawingml/2006/main">
            <a:r>
              <a:t/>
            </a:r>
          </a:p>
          <a:p xmlns:a="http://schemas.openxmlformats.org/drawingml/2006/main">
            <a:r>
              <a:t>IF LEARNERS ARE STUCK</a:t>
            </a:r>
          </a:p>
          <a:p xmlns:a="http://schemas.openxmlformats.org/drawingml/2006/main">
            <a:r>
              <a:t>Point to each key and its value. Read the colon as associates-with, then do one exact lookup.</a:t>
            </a:r>
          </a:p>
          <a:p xmlns:a="http://schemas.openxmlformats.org/drawingml/2006/main">
            <a:r>
              <a:t/>
            </a:r>
          </a:p>
          <a:p xmlns:a="http://schemas.openxmlformats.org/drawingml/2006/main">
            <a:r>
              <a:t>NEXT</a:t>
            </a:r>
          </a:p>
          <a:p xmlns:a="http://schemas.openxmlformats.org/drawingml/2006/main">
            <a:r>
              <a:t>Summaries returned as a dictionary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Summaries returned as a dictionary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Summaries returned as a dictionary in Python</a:t>
            </a:r>
          </a:p>
          <a:p xmlns:a="http://schemas.openxmlformats.org/drawingml/2006/main">
            <a:r>
              <a:t/>
            </a:r>
          </a:p>
          <a:p xmlns:a="http://schemas.openxmlformats.org/drawingml/2006/main">
            <a:r>
              <a:t>CONNECT</a:t>
            </a:r>
          </a:p>
          <a:p xmlns:a="http://schemas.openxmlformats.org/drawingml/2006/main">
            <a:r>
              <a:t>Build on Summaries returned as a dictionary.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Summaries returned as a dictionary in Python</a:t>
            </a:r>
          </a:p>
          <a:p xmlns:a="http://schemas.openxmlformats.org/drawingml/2006/main">
            <a:r>
              <a:t/>
            </a:r>
          </a:p>
          <a:p xmlns:a="http://schemas.openxmlformats.org/drawingml/2006/main">
            <a:r>
              <a:t>CONNECT</a:t>
            </a:r>
          </a:p>
          <a:p xmlns:a="http://schemas.openxmlformats.org/drawingml/2006/main">
            <a:r>
              <a:t>Build on the preceding slide: Summaries returned as a dictionary.</a:t>
            </a:r>
          </a:p>
          <a:p xmlns:a="http://schemas.openxmlformats.org/drawingml/2006/main">
            <a:r>
              <a:t/>
            </a:r>
          </a:p>
          <a:p xmlns:a="http://schemas.openxmlformats.org/drawingml/2006/main">
            <a:r>
              <a:t>LECTURER CUE</a:t>
            </a:r>
          </a:p>
          <a:p xmlns:a="http://schemas.openxmlformats.org/drawingml/2006/main">
            <a:r>
              <a:t>This example expects a nonempty list. It calculates a count and mean, then returns a dictionary with named outputs. Use the exact keys specified by the issued task when adapting this pattern.</a:t>
            </a:r>
          </a:p>
          <a:p xmlns:a="http://schemas.openxmlformats.org/drawingml/2006/main">
            <a:r>
              <a:t/>
            </a:r>
          </a:p>
          <a:p xmlns:a="http://schemas.openxmlformats.org/drawingml/2006/main">
            <a:r>
              <a:t>Complete practice code:</a:t>
            </a:r>
          </a:p>
          <a:p xmlns:a="http://schemas.openxmlformats.org/drawingml/2006/main">
            <a:r>
              <a:t>def describe(values):</a:t>
            </a:r>
          </a:p>
          <a:p xmlns:a="http://schemas.openxmlformats.org/drawingml/2006/main">
            <a:r>
              <a:t>    count = len(values)</a:t>
            </a:r>
          </a:p>
          <a:p xmlns:a="http://schemas.openxmlformats.org/drawingml/2006/main">
            <a:r>
              <a:t>    mean = sum(values) / count</a:t>
            </a:r>
          </a:p>
          <a:p xmlns:a="http://schemas.openxmlformats.org/drawingml/2006/main">
            <a:r>
              <a:t>    return {"count": count, "mean": mean}</a:t>
            </a:r>
          </a:p>
          <a:p xmlns:a="http://schemas.openxmlformats.org/drawingml/2006/main">
            <a:r>
              <a:t/>
            </a:r>
          </a:p>
          <a:p xmlns:a="http://schemas.openxmlformats.org/drawingml/2006/main">
            <a:r>
              <a:t>print(describe([10, 12]))</a:t>
            </a:r>
          </a:p>
          <a:p xmlns:a="http://schemas.openxmlformats.org/drawingml/2006/main">
            <a:r>
              <a:t/>
            </a:r>
          </a:p>
          <a:p xmlns:a="http://schemas.openxmlformats.org/drawingml/2006/main">
            <a:r>
              <a:t>EXPLAIN IN ORDINARY WORDS</a:t>
            </a:r>
          </a:p>
          <a:p xmlns:a="http://schemas.openxmlformats.org/drawingml/2006/main">
            <a:r>
              <a:t>A dictionary pairs a key with a value. For {"unit":"A", "reading":4}, record["reading"] looks up the key and gives 4. The key is not a list position.</a:t>
            </a:r>
          </a:p>
          <a:p xmlns:a="http://schemas.openxmlformats.org/drawingml/2006/main">
            <a:r>
              <a:t/>
            </a:r>
          </a:p>
          <a:p xmlns:a="http://schemas.openxmlformats.org/drawingml/2006/main">
            <a:r>
              <a:t>CHECK AND EXPECTED ANSWER</a:t>
            </a:r>
          </a:p>
          <a:p xmlns:a="http://schemas.openxmlformats.org/drawingml/2006/main">
            <a:r>
              <a:t>What happens if the key is spelled "Reading" instead? It is a different key; direct lookup can raise KeyError.</a:t>
            </a:r>
          </a:p>
          <a:p xmlns:a="http://schemas.openxmlformats.org/drawingml/2006/main">
            <a:r>
              <a:t/>
            </a:r>
          </a:p>
          <a:p xmlns:a="http://schemas.openxmlformats.org/drawingml/2006/main">
            <a:r>
              <a:t>IF LEARNERS ARE STUCK</a:t>
            </a:r>
          </a:p>
          <a:p xmlns:a="http://schemas.openxmlformats.org/drawingml/2006/main">
            <a:r>
              <a:t>Point to each key and its value. Read the colon as associates-with, then do one exact lookup.</a:t>
            </a:r>
          </a:p>
          <a:p xmlns:a="http://schemas.openxmlformats.org/drawingml/2006/main">
            <a:r>
              <a:t/>
            </a:r>
          </a:p>
          <a:p xmlns:a="http://schemas.openxmlformats.org/drawingml/2006/main">
            <a:r>
              <a:t>WALK THROUGH THIS CODE</a:t>
            </a:r>
          </a:p>
          <a:p xmlns:a="http://schemas.openxmlformats.org/drawingml/2006/main">
            <a:r>
              <a:t>def names the function. Inputs go inside parentheses.</a:t>
            </a:r>
          </a:p>
          <a:p xmlns:a="http://schemas.openxmlformats.org/drawingml/2006/main">
            <a:r>
              <a:t>return sends the result back to the caller.</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Reading a blank field.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a blank field.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 blank field</a:t>
            </a:r>
          </a:p>
          <a:p xmlns:a="http://schemas.openxmlformats.org/drawingml/2006/main">
            <a:r>
              <a:t/>
            </a:r>
          </a:p>
          <a:p xmlns:a="http://schemas.openxmlformats.org/drawingml/2006/main">
            <a:r>
              <a:t>CONNECT</a:t>
            </a:r>
          </a:p>
          <a:p xmlns:a="http://schemas.openxmlformats.org/drawingml/2006/main">
            <a:r>
              <a:t>Build on Summaries returned as a dictionary in Python. Explain why this example is needed before running it.</a:t>
            </a:r>
          </a:p>
          <a:p xmlns:a="http://schemas.openxmlformats.org/drawingml/2006/main">
            <a:r>
              <a:t/>
            </a:r>
          </a:p>
          <a:p xmlns:a="http://schemas.openxmlformats.org/drawingml/2006/main">
            <a:r>
              <a:t>EXPLAIN</a:t>
            </a:r>
          </a:p>
          <a:p xmlns:a="http://schemas.openxmlformats.org/drawingml/2006/main">
            <a:r>
              <a:t>CSV values start as text.</a:t>
            </a:r>
          </a:p>
          <a:p xmlns:a="http://schemas.openxmlformats.org/drawingml/2006/main">
            <a:r>
              <a:t/>
            </a:r>
          </a:p>
          <a:p xmlns:a="http://schemas.openxmlformats.org/drawingml/2006/main">
            <a:r>
              <a:t>The if/else below stores None for a blank.</a:t>
            </a:r>
          </a:p>
          <a:p xmlns:a="http://schemas.openxmlformats.org/drawingml/2006/main">
            <a:r>
              <a:t/>
            </a:r>
          </a:p>
          <a:p xmlns:a="http://schemas.openxmlformats.org/drawingml/2006/main">
            <a:r>
              <a:t>Otherwise float converts the text into a number.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a blank field</a:t>
            </a:r>
          </a:p>
          <a:p xmlns:a="http://schemas.openxmlformats.org/drawingml/2006/main">
            <a:r>
              <a:t/>
            </a:r>
          </a:p>
          <a:p xmlns:a="http://schemas.openxmlformats.org/drawingml/2006/main">
            <a:r>
              <a:t>CONNECT</a:t>
            </a:r>
          </a:p>
          <a:p xmlns:a="http://schemas.openxmlformats.org/drawingml/2006/main">
            <a:r>
              <a:t>Build on the preceding slide: Summaries returned as a dictionary in Python.</a:t>
            </a:r>
          </a:p>
          <a:p xmlns:a="http://schemas.openxmlformats.org/drawingml/2006/main">
            <a:r>
              <a:t/>
            </a:r>
          </a:p>
          <a:p xmlns:a="http://schemas.openxmlformats.org/drawingml/2006/main">
            <a:r>
              <a:t>LECTURER CUE</a:t>
            </a:r>
          </a:p>
          <a:p xmlns:a="http://schemas.openxmlformats.org/drawingml/2006/main">
            <a:r>
              <a:t>CSV values start as text. The if/else below stores None for a blank. Otherwise float converts the text into a number.</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Reading a blank field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a blank field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 blank field in Python</a:t>
            </a:r>
          </a:p>
          <a:p xmlns:a="http://schemas.openxmlformats.org/drawingml/2006/main">
            <a:r>
              <a:t/>
            </a:r>
          </a:p>
          <a:p xmlns:a="http://schemas.openxmlformats.org/drawingml/2006/main">
            <a:r>
              <a:t>CONNECT</a:t>
            </a:r>
          </a:p>
          <a:p xmlns:a="http://schemas.openxmlformats.org/drawingml/2006/main">
            <a:r>
              <a:t>Build on Reading a blank field.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a blank field in Python</a:t>
            </a:r>
          </a:p>
          <a:p xmlns:a="http://schemas.openxmlformats.org/drawingml/2006/main">
            <a:r>
              <a:t/>
            </a:r>
          </a:p>
          <a:p xmlns:a="http://schemas.openxmlformats.org/drawingml/2006/main">
            <a:r>
              <a:t>CONNECT</a:t>
            </a:r>
          </a:p>
          <a:p xmlns:a="http://schemas.openxmlformats.org/drawingml/2006/main">
            <a:r>
              <a:t>Build on the preceding slide: Reading a blank field.</a:t>
            </a:r>
          </a:p>
          <a:p xmlns:a="http://schemas.openxmlformats.org/drawingml/2006/main">
            <a:r>
              <a:t/>
            </a:r>
          </a:p>
          <a:p xmlns:a="http://schemas.openxmlformats.org/drawingml/2006/main">
            <a:r>
              <a:t>LECTURER CUE</a:t>
            </a:r>
          </a:p>
          <a:p xmlns:a="http://schemas.openxmlformats.org/drawingml/2006/main">
            <a:r>
              <a:t>CSV values start as text. The if/else below stores None for a blank. Otherwise float converts the text into a number.</a:t>
            </a:r>
          </a:p>
          <a:p xmlns:a="http://schemas.openxmlformats.org/drawingml/2006/main">
            <a:r>
              <a:t/>
            </a:r>
          </a:p>
          <a:p xmlns:a="http://schemas.openxmlformats.org/drawingml/2006/main">
            <a:r>
              <a:t>Complete practice code:</a:t>
            </a:r>
          </a:p>
          <a:p xmlns:a="http://schemas.openxmlformats.org/drawingml/2006/main">
            <a:r>
              <a:t>text_values = ["20", "", "24"]</a:t>
            </a:r>
          </a:p>
          <a:p xmlns:a="http://schemas.openxmlformats.org/drawingml/2006/main">
            <a:r>
              <a:t>parsed = []</a:t>
            </a:r>
          </a:p>
          <a:p xmlns:a="http://schemas.openxmlformats.org/drawingml/2006/main">
            <a:r>
              <a:t>for text in text_values:</a:t>
            </a:r>
          </a:p>
          <a:p xmlns:a="http://schemas.openxmlformats.org/drawingml/2006/main">
            <a:r>
              <a:t>    if text == "":</a:t>
            </a:r>
          </a:p>
          <a:p xmlns:a="http://schemas.openxmlformats.org/drawingml/2006/main">
            <a:r>
              <a:t>        parsed.append(None)</a:t>
            </a:r>
          </a:p>
          <a:p xmlns:a="http://schemas.openxmlformats.org/drawingml/2006/main">
            <a:r>
              <a:t>    else:</a:t>
            </a:r>
          </a:p>
          <a:p xmlns:a="http://schemas.openxmlformats.org/drawingml/2006/main">
            <a:r>
              <a:t>        parsed.append(float(text))</a:t>
            </a:r>
          </a:p>
          <a:p xmlns:a="http://schemas.openxmlformats.org/drawingml/2006/main">
            <a:r>
              <a:t>print(parsed)</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float converts numeric text into a decimal number.</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Audit.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Audit.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Audit</a:t>
            </a:r>
          </a:p>
          <a:p xmlns:a="http://schemas.openxmlformats.org/drawingml/2006/main">
            <a:r>
              <a:t/>
            </a:r>
          </a:p>
          <a:p xmlns:a="http://schemas.openxmlformats.org/drawingml/2006/main">
            <a:r>
              <a:t>CONNECT</a:t>
            </a:r>
          </a:p>
          <a:p xmlns:a="http://schemas.openxmlformats.org/drawingml/2006/main">
            <a:r>
              <a:t>Build on Reading a blank field in Python. Explain why this example is needed before running it.</a:t>
            </a:r>
          </a:p>
          <a:p xmlns:a="http://schemas.openxmlformats.org/drawingml/2006/main">
            <a:r>
              <a:t/>
            </a:r>
          </a:p>
          <a:p xmlns:a="http://schemas.openxmlformats.org/drawingml/2006/main">
            <a:r>
              <a:t>EXPLAIN</a:t>
            </a:r>
          </a:p>
          <a:p xmlns:a="http://schemas.openxmlformats.org/drawingml/2006/main">
            <a:r>
              <a:t>Audit: A count and explanation of what changed, why it changed and how many records remain.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Audit</a:t>
            </a:r>
          </a:p>
          <a:p xmlns:a="http://schemas.openxmlformats.org/drawingml/2006/main">
            <a:r>
              <a:t/>
            </a:r>
          </a:p>
          <a:p xmlns:a="http://schemas.openxmlformats.org/drawingml/2006/main">
            <a:r>
              <a:t>CONNECT</a:t>
            </a:r>
          </a:p>
          <a:p xmlns:a="http://schemas.openxmlformats.org/drawingml/2006/main">
            <a:r>
              <a:t>Build on the preceding slide: Reading a blank field in Python.</a:t>
            </a:r>
          </a:p>
          <a:p xmlns:a="http://schemas.openxmlformats.org/drawingml/2006/main">
            <a:r>
              <a:t/>
            </a:r>
          </a:p>
          <a:p xmlns:a="http://schemas.openxmlformats.org/drawingml/2006/main">
            <a:r>
              <a:t>POINT TO THE DEFINITION</a:t>
            </a:r>
          </a:p>
          <a:p xmlns:a="http://schemas.openxmlformats.org/drawingml/2006/main">
            <a:r>
              <a:t>Audit: A count and explanation of what changed, why it changed and how many records remain.</a:t>
            </a:r>
          </a:p>
          <a:p xmlns:a="http://schemas.openxmlformats.org/drawingml/2006/main">
            <a:r>
              <a:t/>
            </a:r>
          </a:p>
          <a:p xmlns:a="http://schemas.openxmlformats.org/drawingml/2006/main">
            <a:r>
              <a:t>NEXT</a:t>
            </a:r>
          </a:p>
          <a:p xmlns:a="http://schemas.openxmlformats.org/drawingml/2006/main">
            <a:r>
              <a:t>Every cleaning change needs a record.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Every cleaning change needs a record.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Every cleaning change needs a record</a:t>
            </a:r>
          </a:p>
          <a:p xmlns:a="http://schemas.openxmlformats.org/drawingml/2006/main">
            <a:r>
              <a:t/>
            </a:r>
          </a:p>
          <a:p xmlns:a="http://schemas.openxmlformats.org/drawingml/2006/main">
            <a:r>
              <a:t>CONNECT</a:t>
            </a:r>
          </a:p>
          <a:p xmlns:a="http://schemas.openxmlformats.org/drawingml/2006/main">
            <a:r>
              <a:t>Build on Audit. Explain why this example is needed before running it.</a:t>
            </a:r>
          </a:p>
          <a:p xmlns:a="http://schemas.openxmlformats.org/drawingml/2006/main">
            <a:r>
              <a:t/>
            </a:r>
          </a:p>
          <a:p xmlns:a="http://schemas.openxmlformats.org/drawingml/2006/main">
            <a:r>
              <a:t>EXPLAIN</a:t>
            </a:r>
          </a:p>
          <a:p xmlns:a="http://schemas.openxmlformats.org/drawingml/2006/main">
            <a:r>
              <a:t>A duplicate record ID suggests a repeated observation.</a:t>
            </a:r>
          </a:p>
          <a:p xmlns:a="http://schemas.openxmlformats.org/drawingml/2006/main">
            <a:r>
              <a:t/>
            </a:r>
          </a:p>
          <a:p xmlns:a="http://schemas.openxmlformats.org/drawingml/2006/main">
            <a:r>
              <a:t>Two different observations from the same equipment can both be valid.</a:t>
            </a:r>
          </a:p>
          <a:p xmlns:a="http://schemas.openxmlformats.org/drawingml/2006/main">
            <a:r>
              <a:t/>
            </a:r>
          </a:p>
          <a:p xmlns:a="http://schemas.openxmlformats.org/drawingml/2006/main">
            <a:r>
              <a:t>Record the evidence, action, number of affected rows and limitation.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Every cleaning change needs a record</a:t>
            </a:r>
          </a:p>
          <a:p xmlns:a="http://schemas.openxmlformats.org/drawingml/2006/main">
            <a:r>
              <a:t/>
            </a:r>
          </a:p>
          <a:p xmlns:a="http://schemas.openxmlformats.org/drawingml/2006/main">
            <a:r>
              <a:t>CONNECT</a:t>
            </a:r>
          </a:p>
          <a:p xmlns:a="http://schemas.openxmlformats.org/drawingml/2006/main">
            <a:r>
              <a:t>Build on the preceding slide: Audit.</a:t>
            </a:r>
          </a:p>
          <a:p xmlns:a="http://schemas.openxmlformats.org/drawingml/2006/main">
            <a:r>
              <a:t/>
            </a:r>
          </a:p>
          <a:p xmlns:a="http://schemas.openxmlformats.org/drawingml/2006/main">
            <a:r>
              <a:t>LECTURER CUE</a:t>
            </a:r>
          </a:p>
          <a:p xmlns:a="http://schemas.openxmlformats.org/drawingml/2006/main">
            <a:r>
              <a:t>Model a defect register: observation, evidence, decision, affected count, limitation. Work one repeated record and one missing value together.</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NEXT</a:t>
            </a:r>
          </a:p>
          <a:p xmlns:a="http://schemas.openxmlformats.org/drawingml/2006/main">
            <a:r>
              <a:t>You are the cleaning audit.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Chart axes.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Chart axes</a:t>
            </a:r>
          </a:p>
          <a:p xmlns:a="http://schemas.openxmlformats.org/drawingml/2006/main">
            <a:r>
              <a:t/>
            </a:r>
          </a:p>
          <a:p xmlns:a="http://schemas.openxmlformats.org/drawingml/2006/main">
            <a:r>
              <a:t>CONNECT</a:t>
            </a:r>
          </a:p>
          <a:p xmlns:a="http://schemas.openxmlformats.org/drawingml/2006/main">
            <a:r>
              <a:t>Build on Every cleaning change needs a record. Explain why this example is needed before running it.</a:t>
            </a:r>
          </a:p>
          <a:p xmlns:a="http://schemas.openxmlformats.org/drawingml/2006/main">
            <a:r>
              <a:t/>
            </a:r>
          </a:p>
          <a:p xmlns:a="http://schemas.openxmlformats.org/drawingml/2006/main">
            <a:r>
              <a:t>EXPLAIN</a:t>
            </a:r>
          </a:p>
          <a:p xmlns:a="http://schemas.openxmlformats.org/drawingml/2006/main">
            <a:r>
              <a:t>Chart axes: A chart maps values to positions. Read the horizontal variable, vertical variable and their units before interpreting a pattern.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Chart axes</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EXPLAIN IN ORDINARY WORDS</a:t>
            </a:r>
          </a:p>
          <a:p xmlns:a="http://schemas.openxmlformats.org/drawingml/2006/main">
            <a:r>
              <a:t>Begin with the question and intended comparison. Identify what an axis, bar, point or colour represents, including its unit. A chart summarises data and may hide variation.</a:t>
            </a:r>
          </a:p>
          <a:p xmlns:a="http://schemas.openxmlformats.org/drawingml/2006/main">
            <a:r>
              <a:t/>
            </a:r>
          </a:p>
          <a:p xmlns:a="http://schemas.openxmlformats.org/drawingml/2006/main">
            <a:r>
              <a:t>CHECK AND EXPECTED ANSWER</a:t>
            </a:r>
          </a:p>
          <a:p xmlns:a="http://schemas.openxmlformats.org/drawingml/2006/main">
            <a:r>
              <a:t>For a bar chart comparing amounts, why normally start the value axis at zero? Bar length encodes magnitude; truncation can exaggerate differences.</a:t>
            </a:r>
          </a:p>
          <a:p xmlns:a="http://schemas.openxmlformats.org/drawingml/2006/main">
            <a:r>
              <a:t/>
            </a:r>
          </a:p>
          <a:p xmlns:a="http://schemas.openxmlformats.org/drawingml/2006/main">
            <a:r>
              <a:t>IF LEARNERS ARE STUCK</a:t>
            </a:r>
          </a:p>
          <a:p xmlns:a="http://schemas.openxmlformats.org/drawingml/2006/main">
            <a:r>
              <a:t>Read one mark aloud as a sentence. Check the population, period, filters and units before stating the finding.</a:t>
            </a:r>
          </a:p>
          <a:p xmlns:a="http://schemas.openxmlformats.org/drawingml/2006/main">
            <a:r>
              <a:t/>
            </a:r>
          </a:p>
          <a:p xmlns:a="http://schemas.openxmlformats.org/drawingml/2006/main">
            <a:r>
              <a:t>POINT TO THE DEFINITION</a:t>
            </a:r>
          </a:p>
          <a:p xmlns:a="http://schemas.openxmlformats.org/drawingml/2006/main">
            <a:r>
              <a:t>Chart axes: A chart maps values to positions. Read the horizontal variable, vertical variable and their units before interpreting a pattern.</a:t>
            </a:r>
          </a:p>
          <a:p xmlns:a="http://schemas.openxmlformats.org/drawingml/2006/main">
            <a:r>
              <a:t/>
            </a:r>
          </a:p>
          <a:p xmlns:a="http://schemas.openxmlformats.org/drawingml/2006/main">
            <a:r>
              <a:t>NEXT</a:t>
            </a:r>
          </a:p>
          <a:p xmlns:a="http://schemas.openxmlformats.org/drawingml/2006/main">
            <a:r>
              <a:t>A scatter plot pairs two measurements.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scatter plot pairs two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scatter plot pairs two measurements</a:t>
            </a:r>
          </a:p>
          <a:p xmlns:a="http://schemas.openxmlformats.org/drawingml/2006/main">
            <a:r>
              <a:t/>
            </a:r>
          </a:p>
          <a:p xmlns:a="http://schemas.openxmlformats.org/drawingml/2006/main">
            <a:r>
              <a:t>CONNECT</a:t>
            </a:r>
          </a:p>
          <a:p xmlns:a="http://schemas.openxmlformats.org/drawingml/2006/main">
            <a:r>
              <a:t>Build on Chart axes. Explain why this example is needed before running it.</a:t>
            </a:r>
          </a:p>
          <a:p xmlns:a="http://schemas.openxmlformats.org/drawingml/2006/main">
            <a:r>
              <a:t/>
            </a:r>
          </a:p>
          <a:p xmlns:a="http://schemas.openxmlformats.org/drawingml/2006/main">
            <a:r>
              <a:t>EXPLAIN</a:t>
            </a:r>
          </a:p>
          <a:p xmlns:a="http://schemas.openxmlformats.org/drawingml/2006/main">
            <a:r>
              <a:t>The horizontal axis gives the input value.</a:t>
            </a:r>
          </a:p>
          <a:p xmlns:a="http://schemas.openxmlformats.org/drawingml/2006/main">
            <a:r>
              <a:t/>
            </a:r>
          </a:p>
          <a:p xmlns:a="http://schemas.openxmlformats.org/drawingml/2006/main">
            <a:r>
              <a:t>The vertical axis gives the corresponding reading.</a:t>
            </a:r>
          </a:p>
          <a:p xmlns:a="http://schemas.openxmlformats.org/drawingml/2006/main">
            <a:r>
              <a:t/>
            </a:r>
          </a:p>
          <a:p xmlns:a="http://schemas.openxmlformats.org/drawingml/2006/main">
            <a:r>
              <a:t>One point represents one observation. A pattern alone does not prove causation.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scatter plot pairs two measurements</a:t>
            </a:r>
          </a:p>
          <a:p xmlns:a="http://schemas.openxmlformats.org/drawingml/2006/main">
            <a:r>
              <a:t/>
            </a:r>
          </a:p>
          <a:p xmlns:a="http://schemas.openxmlformats.org/drawingml/2006/main">
            <a:r>
              <a:t>CONNECT</a:t>
            </a:r>
          </a:p>
          <a:p xmlns:a="http://schemas.openxmlformats.org/drawingml/2006/main">
            <a:r>
              <a:t>Build on the preceding slide: Chart axes.</a:t>
            </a:r>
          </a:p>
          <a:p xmlns:a="http://schemas.openxmlformats.org/drawingml/2006/main">
            <a:r>
              <a:t/>
            </a:r>
          </a:p>
          <a:p xmlns:a="http://schemas.openxmlformats.org/drawingml/2006/main">
            <a:r>
              <a:t>LECTURER CUE</a:t>
            </a:r>
          </a:p>
          <a:p xmlns:a="http://schemas.openxmlformats.org/drawingml/2006/main">
            <a:r>
              <a:t>Draw a scatter plot from four pairs on the board. A pattern can motivate investigation without proving that one variable causes the other.</a:t>
            </a:r>
          </a:p>
          <a:p xmlns:a="http://schemas.openxmlformats.org/drawingml/2006/main">
            <a:r>
              <a:t/>
            </a:r>
          </a:p>
          <a:p xmlns:a="http://schemas.openxmlformats.org/drawingml/2006/main">
            <a:r>
              <a:t>EXPLAIN IN ORDINARY WORDS</a:t>
            </a:r>
          </a:p>
          <a:p xmlns:a="http://schemas.openxmlformats.org/drawingml/2006/main">
            <a:r>
              <a:t>Begin with the question and intended comparison. Identify what an axis, bar, point or colour represents, including its unit. A chart summarises data and may hide variation.</a:t>
            </a:r>
          </a:p>
          <a:p xmlns:a="http://schemas.openxmlformats.org/drawingml/2006/main">
            <a:r>
              <a:t/>
            </a:r>
          </a:p>
          <a:p xmlns:a="http://schemas.openxmlformats.org/drawingml/2006/main">
            <a:r>
              <a:t>CHECK AND EXPECTED ANSWER</a:t>
            </a:r>
          </a:p>
          <a:p xmlns:a="http://schemas.openxmlformats.org/drawingml/2006/main">
            <a:r>
              <a:t>For a bar chart comparing amounts, why normally start the value axis at zero? Bar length encodes magnitude; truncation can exaggerate differences.</a:t>
            </a:r>
          </a:p>
          <a:p xmlns:a="http://schemas.openxmlformats.org/drawingml/2006/main">
            <a:r>
              <a:t/>
            </a:r>
          </a:p>
          <a:p xmlns:a="http://schemas.openxmlformats.org/drawingml/2006/main">
            <a:r>
              <a:t>IF LEARNERS ARE STUCK</a:t>
            </a:r>
          </a:p>
          <a:p xmlns:a="http://schemas.openxmlformats.org/drawingml/2006/main">
            <a:r>
              <a:t>Read one mark aloud as a sentence. Check the population, period, filters and units before stating the finding.</a:t>
            </a:r>
          </a:p>
          <a:p xmlns:a="http://schemas.openxmlformats.org/drawingml/2006/main">
            <a:r>
              <a:t/>
            </a:r>
          </a:p>
          <a:p xmlns:a="http://schemas.openxmlformats.org/drawingml/2006/main">
            <a:r>
              <a:t>NEXT</a:t>
            </a:r>
          </a:p>
          <a:p xmlns:a="http://schemas.openxmlformats.org/drawingml/2006/main">
            <a:r>
              <a:t>Choose a chart after naming the question.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Choose a chart after naming the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Choose a chart after naming the question</a:t>
            </a:r>
          </a:p>
          <a:p xmlns:a="http://schemas.openxmlformats.org/drawingml/2006/main">
            <a:r>
              <a:t/>
            </a:r>
          </a:p>
          <a:p xmlns:a="http://schemas.openxmlformats.org/drawingml/2006/main">
            <a:r>
              <a:t>CONNECT</a:t>
            </a:r>
          </a:p>
          <a:p xmlns:a="http://schemas.openxmlformats.org/drawingml/2006/main">
            <a:r>
              <a:t>Build on A scatter plot pairs two measurements. Explain why this example is needed before running it.</a:t>
            </a:r>
          </a:p>
          <a:p xmlns:a="http://schemas.openxmlformats.org/drawingml/2006/main">
            <a:r>
              <a:t/>
            </a:r>
          </a:p>
          <a:p xmlns:a="http://schemas.openxmlformats.org/drawingml/2006/main">
            <a:r>
              <a:t>EXPLAIN</a:t>
            </a:r>
          </a:p>
          <a:p xmlns:a="http://schemas.openxmlformats.org/drawingml/2006/main">
            <a:r>
              <a:t>Scatter and bar: A scatter plot places one point for each paired measurement. A bar chart compares values across named groups. Label both axes and their units.</a:t>
            </a:r>
          </a:p>
          <a:p xmlns:a="http://schemas.openxmlformats.org/drawingml/2006/main">
            <a:r>
              <a:t>Histogram and bins: A histogram counts observations in numerical intervals called bins. The horizontal axis is the measurement; the vertical axis is a count. Bin edges affect its appearance.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Choose a chart after naming the question</a:t>
            </a:r>
          </a:p>
          <a:p xmlns:a="http://schemas.openxmlformats.org/drawingml/2006/main">
            <a:r>
              <a:t/>
            </a:r>
          </a:p>
          <a:p xmlns:a="http://schemas.openxmlformats.org/drawingml/2006/main">
            <a:r>
              <a:t>CONNECT</a:t>
            </a:r>
          </a:p>
          <a:p xmlns:a="http://schemas.openxmlformats.org/drawingml/2006/main">
            <a:r>
              <a:t>Build on the preceding slide: A scatter plot pairs two measurements.</a:t>
            </a:r>
          </a:p>
          <a:p xmlns:a="http://schemas.openxmlformats.org/drawingml/2006/main">
            <a:r>
              <a:t/>
            </a:r>
          </a:p>
          <a:p xmlns:a="http://schemas.openxmlformats.org/drawingml/2006/main">
            <a:r>
              <a:t>EXPLAIN IN ORDINARY WORDS</a:t>
            </a:r>
          </a:p>
          <a:p xmlns:a="http://schemas.openxmlformats.org/drawingml/2006/main">
            <a:r>
              <a:t>Begin with the question and intended comparison. Identify what an axis, bar, point or colour represents, including its unit. A chart summarises data and may hide variation.</a:t>
            </a:r>
          </a:p>
          <a:p xmlns:a="http://schemas.openxmlformats.org/drawingml/2006/main">
            <a:r>
              <a:t/>
            </a:r>
          </a:p>
          <a:p xmlns:a="http://schemas.openxmlformats.org/drawingml/2006/main">
            <a:r>
              <a:t>CHECK AND EXPECTED ANSWER</a:t>
            </a:r>
          </a:p>
          <a:p xmlns:a="http://schemas.openxmlformats.org/drawingml/2006/main">
            <a:r>
              <a:t>For a bar chart comparing amounts, why normally start the value axis at zero? Bar length encodes magnitude; truncation can exaggerate differences.</a:t>
            </a:r>
          </a:p>
          <a:p xmlns:a="http://schemas.openxmlformats.org/drawingml/2006/main">
            <a:r>
              <a:t/>
            </a:r>
          </a:p>
          <a:p xmlns:a="http://schemas.openxmlformats.org/drawingml/2006/main">
            <a:r>
              <a:t>IF LEARNERS ARE STUCK</a:t>
            </a:r>
          </a:p>
          <a:p xmlns:a="http://schemas.openxmlformats.org/drawingml/2006/main">
            <a:r>
              <a:t>Read one mark aloud as a sentence. Check the population, period, filters and units before stating the finding.</a:t>
            </a:r>
          </a:p>
          <a:p xmlns:a="http://schemas.openxmlformats.org/drawingml/2006/main">
            <a:r>
              <a:t/>
            </a:r>
          </a:p>
          <a:p xmlns:a="http://schemas.openxmlformats.org/drawingml/2006/main">
            <a:r>
              <a:t>POINT TO THE DEFINITION</a:t>
            </a:r>
          </a:p>
          <a:p xmlns:a="http://schemas.openxmlformats.org/drawingml/2006/main">
            <a:r>
              <a:t>Scatter and bar: A scatter plot places one point for each paired measurement. A bar chart compares values across named groups. Label both axes and their units.</a:t>
            </a:r>
          </a:p>
          <a:p xmlns:a="http://schemas.openxmlformats.org/drawingml/2006/main">
            <a:r>
              <a:t>Histogram and bins: A histogram counts observations in numerical intervals called bins. The horizontal axis is the measurement; the vertical axis is a count. Bin edges affect its appearance.</a:t>
            </a:r>
          </a:p>
          <a:p xmlns:a="http://schemas.openxmlformats.org/drawingml/2006/main">
            <a:r>
              <a:t/>
            </a:r>
          </a:p>
          <a:p xmlns:a="http://schemas.openxmlformats.org/drawingml/2006/main">
            <a:r>
              <a:t>NEXT</a:t>
            </a:r>
          </a:p>
          <a:p xmlns:a="http://schemas.openxmlformats.org/drawingml/2006/main">
            <a:r>
              <a:t>Choosing a chart for the question.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Choosing a chart for the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Choosing a chart for the question</a:t>
            </a:r>
          </a:p>
          <a:p xmlns:a="http://schemas.openxmlformats.org/drawingml/2006/main">
            <a:r>
              <a:t/>
            </a:r>
          </a:p>
          <a:p xmlns:a="http://schemas.openxmlformats.org/drawingml/2006/main">
            <a:r>
              <a:t>CONNECT</a:t>
            </a:r>
          </a:p>
          <a:p xmlns:a="http://schemas.openxmlformats.org/drawingml/2006/main">
            <a:r>
              <a:t>Build on Choose a chart after naming the question. Explain why this example is needed before running it.</a:t>
            </a:r>
          </a:p>
          <a:p xmlns:a="http://schemas.openxmlformats.org/drawingml/2006/main">
            <a:r>
              <a:t/>
            </a:r>
          </a:p>
          <a:p xmlns:a="http://schemas.openxmlformats.org/drawingml/2006/main">
            <a:r>
              <a:t>EXPLAIN</a:t>
            </a:r>
          </a:p>
          <a:p xmlns:a="http://schemas.openxmlformats.org/drawingml/2006/main">
            <a:r>
              <a:t>This week uses histograms, scatter plots and bar charts. The other chart types are reference examples.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Choosing a chart for the question</a:t>
            </a:r>
          </a:p>
          <a:p xmlns:a="http://schemas.openxmlformats.org/drawingml/2006/main">
            <a:r>
              <a:t/>
            </a:r>
          </a:p>
          <a:p xmlns:a="http://schemas.openxmlformats.org/drawingml/2006/main">
            <a:r>
              <a:t>CONNECT</a:t>
            </a:r>
          </a:p>
          <a:p xmlns:a="http://schemas.openxmlformats.org/drawingml/2006/main">
            <a:r>
              <a:t>Build on the preceding slide: Choose a chart after naming the question.</a:t>
            </a:r>
          </a:p>
          <a:p xmlns:a="http://schemas.openxmlformats.org/drawingml/2006/main">
            <a:r>
              <a:t/>
            </a:r>
          </a:p>
          <a:p xmlns:a="http://schemas.openxmlformats.org/drawingml/2006/main">
            <a:r>
              <a:t>LECTURER CUE</a:t>
            </a:r>
          </a:p>
          <a:p xmlns:a="http://schemas.openxmlformats.org/drawingml/2006/main">
            <a:r>
              <a:t>Name the question answered by each chart. Correlation does not establish causation. A bar chart usually needs a zero baseline.</a:t>
            </a:r>
          </a:p>
          <a:p xmlns:a="http://schemas.openxmlformats.org/drawingml/2006/main">
            <a:r>
              <a:t>Source: existing course illustration figs/chart_chooser.png. These are illustrative examples, not this cohort’s assessed results.</a:t>
            </a:r>
          </a:p>
          <a:p xmlns:a="http://schemas.openxmlformats.org/drawingml/2006/main">
            <a:r>
              <a:t/>
            </a:r>
          </a:p>
          <a:p xmlns:a="http://schemas.openxmlformats.org/drawingml/2006/main">
            <a:r>
              <a:t>EXPLAIN IN ORDINARY WORDS</a:t>
            </a:r>
          </a:p>
          <a:p xmlns:a="http://schemas.openxmlformats.org/drawingml/2006/main">
            <a:r>
              <a:t>Begin with the question and intended comparison. Identify what an axis, bar, point or colour represents, including its unit. A chart summarises data and may hide variation.</a:t>
            </a:r>
          </a:p>
          <a:p xmlns:a="http://schemas.openxmlformats.org/drawingml/2006/main">
            <a:r>
              <a:t/>
            </a:r>
          </a:p>
          <a:p xmlns:a="http://schemas.openxmlformats.org/drawingml/2006/main">
            <a:r>
              <a:t>CHECK AND EXPECTED ANSWER</a:t>
            </a:r>
          </a:p>
          <a:p xmlns:a="http://schemas.openxmlformats.org/drawingml/2006/main">
            <a:r>
              <a:t>For a bar chart comparing amounts, why normally start the value axis at zero? Bar length encodes magnitude; truncation can exaggerate differences.</a:t>
            </a:r>
          </a:p>
          <a:p xmlns:a="http://schemas.openxmlformats.org/drawingml/2006/main">
            <a:r>
              <a:t/>
            </a:r>
          </a:p>
          <a:p xmlns:a="http://schemas.openxmlformats.org/drawingml/2006/main">
            <a:r>
              <a:t>IF LEARNERS ARE STUCK</a:t>
            </a:r>
          </a:p>
          <a:p xmlns:a="http://schemas.openxmlformats.org/drawingml/2006/main">
            <a:r>
              <a:t>Read one mark aloud as a sentence. Check the population, period, filters and units before stating the finding.</a:t>
            </a:r>
          </a:p>
          <a:p xmlns:a="http://schemas.openxmlformats.org/drawingml/2006/main">
            <a:r>
              <a:t/>
            </a:r>
          </a:p>
          <a:p xmlns:a="http://schemas.openxmlformats.org/drawingml/2006/main">
            <a:r>
              <a:t>NEXT</a:t>
            </a:r>
          </a:p>
          <a:p xmlns:a="http://schemas.openxmlformats.org/drawingml/2006/main">
            <a:r>
              <a:t>A chart with labelled axes.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chart with labelled axes.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chart with labelled axes</a:t>
            </a:r>
          </a:p>
          <a:p xmlns:a="http://schemas.openxmlformats.org/drawingml/2006/main">
            <a:r>
              <a:t/>
            </a:r>
          </a:p>
          <a:p xmlns:a="http://schemas.openxmlformats.org/drawingml/2006/main">
            <a:r>
              <a:t>CONNECT</a:t>
            </a:r>
          </a:p>
          <a:p xmlns:a="http://schemas.openxmlformats.org/drawingml/2006/main">
            <a:r>
              <a:t>Build on Choosing a chart for the question. Explain why this example is needed before running it.</a:t>
            </a:r>
          </a:p>
          <a:p xmlns:a="http://schemas.openxmlformats.org/drawingml/2006/main">
            <a:r>
              <a:t/>
            </a:r>
          </a:p>
          <a:p xmlns:a="http://schemas.openxmlformats.org/drawingml/2006/main">
            <a:r>
              <a:t>EXPLAIN</a:t>
            </a:r>
          </a:p>
          <a:p xmlns:a="http://schemas.openxmlformats.org/drawingml/2006/main">
            <a:r>
              <a:t>matplotlib is a plotting library. plt is the short name we give its pyplot module.</a:t>
            </a:r>
          </a:p>
          <a:p xmlns:a="http://schemas.openxmlformats.org/drawingml/2006/main">
            <a:r>
              <a:t/>
            </a:r>
          </a:p>
          <a:p xmlns:a="http://schemas.openxmlformats.org/drawingml/2006/main">
            <a:r>
              <a:t>fig, ax = plt.subplots() returns two objects: fig is the whole figure; ax is its plotting area. scatter places the paired measurements as points.</a:t>
            </a:r>
          </a:p>
          <a:p xmlns:a="http://schemas.openxmlformats.org/drawingml/2006/main">
            <a:r>
              <a:t/>
            </a:r>
          </a:p>
          <a:p xmlns:a="http://schemas.openxmlformats.org/drawingml/2006/main">
            <a:r>
              <a:t>ax.set_xlabel(...) labels the horizontal axis. set_ylabel labels the vertical axis. Keep fig when the task asks you to return a Figure object.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chart with labelled axes</a:t>
            </a:r>
          </a:p>
          <a:p xmlns:a="http://schemas.openxmlformats.org/drawingml/2006/main">
            <a:r>
              <a:t/>
            </a:r>
          </a:p>
          <a:p xmlns:a="http://schemas.openxmlformats.org/drawingml/2006/main">
            <a:r>
              <a:t>CONNECT</a:t>
            </a:r>
          </a:p>
          <a:p xmlns:a="http://schemas.openxmlformats.org/drawingml/2006/main">
            <a:r>
              <a:t>Build on the preceding slide: Choosing a chart for the question.</a:t>
            </a:r>
          </a:p>
          <a:p xmlns:a="http://schemas.openxmlformats.org/drawingml/2006/main">
            <a:r>
              <a:t/>
            </a:r>
          </a:p>
          <a:p xmlns:a="http://schemas.openxmlformats.org/drawingml/2006/main">
            <a:r>
              <a:t>LECTURER CUE</a:t>
            </a:r>
          </a:p>
          <a:p xmlns:a="http://schemas.openxmlformats.org/drawingml/2006/main">
            <a:r>
              <a:t>matplotlib draws charts. subplots creates a Figure, the whole page, and Axes, the plotting area. scatter pairs each input with its corresponding reading. The horizontal axis is the input and the vertical axis is the reading. A pattern alone does not prove causation. In the test, return Figure objects as the brief specifies.</a:t>
            </a:r>
          </a:p>
          <a:p xmlns:a="http://schemas.openxmlformats.org/drawingml/2006/main">
            <a:r>
              <a:t/>
            </a:r>
          </a:p>
          <a:p xmlns:a="http://schemas.openxmlformats.org/drawingml/2006/main">
            <a:r>
              <a:t>EXPLAIN IN ORDINARY WORDS</a:t>
            </a:r>
          </a:p>
          <a:p xmlns:a="http://schemas.openxmlformats.org/drawingml/2006/main">
            <a:r>
              <a:t>Begin with the question and intended comparison. Identify what an axis, bar, point or colour represents, including its unit. A chart summarises data and may hide variation.</a:t>
            </a:r>
          </a:p>
          <a:p xmlns:a="http://schemas.openxmlformats.org/drawingml/2006/main">
            <a:r>
              <a:t/>
            </a:r>
          </a:p>
          <a:p xmlns:a="http://schemas.openxmlformats.org/drawingml/2006/main">
            <a:r>
              <a:t>CHECK AND EXPECTED ANSWER</a:t>
            </a:r>
          </a:p>
          <a:p xmlns:a="http://schemas.openxmlformats.org/drawingml/2006/main">
            <a:r>
              <a:t>For a bar chart comparing amounts, why normally start the value axis at zero? Bar length encodes magnitude; truncation can exaggerate differences.</a:t>
            </a:r>
          </a:p>
          <a:p xmlns:a="http://schemas.openxmlformats.org/drawingml/2006/main">
            <a:r>
              <a:t/>
            </a:r>
          </a:p>
          <a:p xmlns:a="http://schemas.openxmlformats.org/drawingml/2006/main">
            <a:r>
              <a:t>IF LEARNERS ARE STUCK</a:t>
            </a:r>
          </a:p>
          <a:p xmlns:a="http://schemas.openxmlformats.org/drawingml/2006/main">
            <a:r>
              <a:t>Read one mark aloud as a sentence. Check the population, period, filters and units before stating the finding.</a:t>
            </a:r>
          </a:p>
          <a:p xmlns:a="http://schemas.openxmlformats.org/drawingml/2006/main">
            <a:r>
              <a:t/>
            </a:r>
          </a:p>
          <a:p xmlns:a="http://schemas.openxmlformats.org/drawingml/2006/main">
            <a:r>
              <a:t>NEXT</a:t>
            </a:r>
          </a:p>
          <a:p xmlns:a="http://schemas.openxmlformats.org/drawingml/2006/main">
            <a:r>
              <a:t>A chart with labelled axes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chart with labelled axes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chart with labelled axes in Python</a:t>
            </a:r>
          </a:p>
          <a:p xmlns:a="http://schemas.openxmlformats.org/drawingml/2006/main">
            <a:r>
              <a:t/>
            </a:r>
          </a:p>
          <a:p xmlns:a="http://schemas.openxmlformats.org/drawingml/2006/main">
            <a:r>
              <a:t>CONNECT</a:t>
            </a:r>
          </a:p>
          <a:p xmlns:a="http://schemas.openxmlformats.org/drawingml/2006/main">
            <a:r>
              <a:t>Build on A chart with labelled axes.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chart with labelled axes in Python</a:t>
            </a:r>
          </a:p>
          <a:p xmlns:a="http://schemas.openxmlformats.org/drawingml/2006/main">
            <a:r>
              <a:t/>
            </a:r>
          </a:p>
          <a:p xmlns:a="http://schemas.openxmlformats.org/drawingml/2006/main">
            <a:r>
              <a:t>CONNECT</a:t>
            </a:r>
          </a:p>
          <a:p xmlns:a="http://schemas.openxmlformats.org/drawingml/2006/main">
            <a:r>
              <a:t>Build on the preceding slide: A chart with labelled axes.</a:t>
            </a:r>
          </a:p>
          <a:p xmlns:a="http://schemas.openxmlformats.org/drawingml/2006/main">
            <a:r>
              <a:t/>
            </a:r>
          </a:p>
          <a:p xmlns:a="http://schemas.openxmlformats.org/drawingml/2006/main">
            <a:r>
              <a:t>LECTURER CUE</a:t>
            </a:r>
          </a:p>
          <a:p xmlns:a="http://schemas.openxmlformats.org/drawingml/2006/main">
            <a:r>
              <a:t>matplotlib draws charts. subplots creates a Figure, the whole page, and Axes, the plotting area. scatter pairs each input with its corresponding reading. The horizontal axis is the input and the vertical axis is the reading. A pattern alone does not prove causation. In the test, return Figure objects as the brief specifies.</a:t>
            </a:r>
          </a:p>
          <a:p xmlns:a="http://schemas.openxmlformats.org/drawingml/2006/main">
            <a:r>
              <a:t/>
            </a:r>
          </a:p>
          <a:p xmlns:a="http://schemas.openxmlformats.org/drawingml/2006/main">
            <a:r>
              <a:t>Complete practice code:</a:t>
            </a:r>
          </a:p>
          <a:p xmlns:a="http://schemas.openxmlformats.org/drawingml/2006/main">
            <a:r>
              <a:t>import matplotlib.pyplot as plt</a:t>
            </a:r>
          </a:p>
          <a:p xmlns:a="http://schemas.openxmlformats.org/drawingml/2006/main">
            <a:r>
              <a:t>inputs = [1, 2, 3, 4]</a:t>
            </a:r>
          </a:p>
          <a:p xmlns:a="http://schemas.openxmlformats.org/drawingml/2006/main">
            <a:r>
              <a:t>readings = [12, 14, 13, 18]</a:t>
            </a:r>
          </a:p>
          <a:p xmlns:a="http://schemas.openxmlformats.org/drawingml/2006/main">
            <a:r>
              <a:t>fig, ax = plt.subplots()</a:t>
            </a:r>
          </a:p>
          <a:p xmlns:a="http://schemas.openxmlformats.org/drawingml/2006/main">
            <a:r>
              <a:t>ax.scatter(inputs, readings)</a:t>
            </a:r>
          </a:p>
          <a:p xmlns:a="http://schemas.openxmlformats.org/drawingml/2006/main">
            <a:r>
              <a:t>ax.set_xlabel("Input (teaching units)")</a:t>
            </a:r>
          </a:p>
          <a:p xmlns:a="http://schemas.openxmlformats.org/drawingml/2006/main">
            <a:r>
              <a:t>ax.set_ylabel("Reading (teaching units)")</a:t>
            </a:r>
          </a:p>
          <a:p xmlns:a="http://schemas.openxmlformats.org/drawingml/2006/main">
            <a:r>
              <a:t>ax.set_title("Four invented observations")</a:t>
            </a:r>
          </a:p>
          <a:p xmlns:a="http://schemas.openxmlformats.org/drawingml/2006/main">
            <a:r>
              <a:t>plt.show()</a:t>
            </a:r>
          </a:p>
          <a:p xmlns:a="http://schemas.openxmlformats.org/drawingml/2006/main">
            <a:r>
              <a:t/>
            </a:r>
          </a:p>
          <a:p xmlns:a="http://schemas.openxmlformats.org/drawingml/2006/main">
            <a:r>
              <a:t>EXPLAIN IN ORDINARY WORDS</a:t>
            </a:r>
          </a:p>
          <a:p xmlns:a="http://schemas.openxmlformats.org/drawingml/2006/main">
            <a:r>
              <a:t>Begin with the question and intended comparison. Identify what an axis, bar, point or colour represents, including its unit. A chart summarises data and may hide variation.</a:t>
            </a:r>
          </a:p>
          <a:p xmlns:a="http://schemas.openxmlformats.org/drawingml/2006/main">
            <a:r>
              <a:t/>
            </a:r>
          </a:p>
          <a:p xmlns:a="http://schemas.openxmlformats.org/drawingml/2006/main">
            <a:r>
              <a:t>CHECK AND EXPECTED ANSWER</a:t>
            </a:r>
          </a:p>
          <a:p xmlns:a="http://schemas.openxmlformats.org/drawingml/2006/main">
            <a:r>
              <a:t>For a bar chart comparing amounts, why normally start the value axis at zero? Bar length encodes magnitude; truncation can exaggerate differences.</a:t>
            </a:r>
          </a:p>
          <a:p xmlns:a="http://schemas.openxmlformats.org/drawingml/2006/main">
            <a:r>
              <a:t/>
            </a:r>
          </a:p>
          <a:p xmlns:a="http://schemas.openxmlformats.org/drawingml/2006/main">
            <a:r>
              <a:t>IF LEARNERS ARE STUCK</a:t>
            </a:r>
          </a:p>
          <a:p xmlns:a="http://schemas.openxmlformats.org/drawingml/2006/main">
            <a:r>
              <a:t>Read one mark aloud as a sentence. Check the population, period, filters and units before stating the finding.</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Comparing groups and a distribution.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Comparing groups and a distribution.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Comparing groups and a distribution</a:t>
            </a:r>
          </a:p>
          <a:p xmlns:a="http://schemas.openxmlformats.org/drawingml/2006/main">
            <a:r>
              <a:t/>
            </a:r>
          </a:p>
          <a:p xmlns:a="http://schemas.openxmlformats.org/drawingml/2006/main">
            <a:r>
              <a:t>CONNECT</a:t>
            </a:r>
          </a:p>
          <a:p xmlns:a="http://schemas.openxmlformats.org/drawingml/2006/main">
            <a:r>
              <a:t>Build on A chart with labelled axes in Python. Explain why this example is needed before running it.</a:t>
            </a:r>
          </a:p>
          <a:p xmlns:a="http://schemas.openxmlformats.org/drawingml/2006/main">
            <a:r>
              <a:t/>
            </a:r>
          </a:p>
          <a:p xmlns:a="http://schemas.openxmlformats.org/drawingml/2006/main">
            <a:r>
              <a:t>EXPLAIN</a:t>
            </a:r>
          </a:p>
          <a:p xmlns:a="http://schemas.openxmlformats.org/drawingml/2006/main">
            <a:r>
              <a:t>bar compares one value for each named group. hist counts observations in value intervals called bins.</a:t>
            </a:r>
          </a:p>
          <a:p xmlns:a="http://schemas.openxmlformats.org/drawingml/2006/main">
            <a:r>
              <a:t/>
            </a:r>
          </a:p>
          <a:p xmlns:a="http://schemas.openxmlformats.org/drawingml/2006/main">
            <a:r>
              <a:t>Read the bar labels and both axes.</a:t>
            </a:r>
          </a:p>
          <a:p xmlns:a="http://schemas.openxmlformats.org/drawingml/2006/main">
            <a:r>
              <a:t/>
            </a:r>
          </a:p>
          <a:p xmlns:a="http://schemas.openxmlformats.org/drawingml/2006/main">
            <a:r>
              <a:t>This practice uses two bins; follow the exact bin rule in the test brief.</a:t>
            </a:r>
          </a:p>
          <a:p xmlns:a="http://schemas.openxmlformats.org/drawingml/2006/main">
            <a:r>
              <a:t/>
            </a:r>
          </a:p>
          <a:p xmlns:a="http://schemas.openxmlformats.org/drawingml/2006/main">
            <a:r>
              <a:t>Save and keep the Figure objects when a task asks for them.</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Comparing groups and a distribution</a:t>
            </a:r>
          </a:p>
          <a:p xmlns:a="http://schemas.openxmlformats.org/drawingml/2006/main">
            <a:r>
              <a:t/>
            </a:r>
          </a:p>
          <a:p xmlns:a="http://schemas.openxmlformats.org/drawingml/2006/main">
            <a:r>
              <a:t>CONNECT</a:t>
            </a:r>
          </a:p>
          <a:p xmlns:a="http://schemas.openxmlformats.org/drawingml/2006/main">
            <a:r>
              <a:t>Build on the preceding slide: A chart with labelled axes in Python.</a:t>
            </a:r>
          </a:p>
          <a:p xmlns:a="http://schemas.openxmlformats.org/drawingml/2006/main">
            <a:r>
              <a:t/>
            </a:r>
          </a:p>
          <a:p xmlns:a="http://schemas.openxmlformats.org/drawingml/2006/main">
            <a:r>
              <a:t>LECTURER CUE</a:t>
            </a:r>
          </a:p>
          <a:p xmlns:a="http://schemas.openxmlformats.org/drawingml/2006/main">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xmlns:a="http://schemas.openxmlformats.org/drawingml/2006/main">
            <a:r>
              <a:t/>
            </a:r>
          </a:p>
          <a:p xmlns:a="http://schemas.openxmlformats.org/drawingml/2006/main">
            <a:r>
              <a:t>EXPLAIN IN ORDINARY WORDS</a:t>
            </a:r>
          </a:p>
          <a:p xmlns:a="http://schemas.openxmlformats.org/drawingml/2006/main">
            <a:r>
              <a:t>Mean is total divided by count. Median is the middle of sorted values. A percentile locates a position in that ordered distribution; interpolation conventions can differ. Match the summary to the question.</a:t>
            </a:r>
          </a:p>
          <a:p xmlns:a="http://schemas.openxmlformats.org/drawingml/2006/main">
            <a:r>
              <a:t/>
            </a:r>
          </a:p>
          <a:p xmlns:a="http://schemas.openxmlformats.org/drawingml/2006/main">
            <a:r>
              <a:t>CHECK AND EXPECTED ANSWER</a:t>
            </a:r>
          </a:p>
          <a:p xmlns:a="http://schemas.openxmlformats.org/drawingml/2006/main">
            <a:r>
              <a:t>For [2,3,4,5,100], median=4 and mean=22.8. The large value pulls the mean up.</a:t>
            </a:r>
          </a:p>
          <a:p xmlns:a="http://schemas.openxmlformats.org/drawingml/2006/main">
            <a:r>
              <a:t/>
            </a:r>
          </a:p>
          <a:p xmlns:a="http://schemas.openxmlformats.org/drawingml/2006/main">
            <a:r>
              <a:t>IF LEARNERS ARE STUCK</a:t>
            </a:r>
          </a:p>
          <a:p xmlns:a="http://schemas.openxmlformats.org/drawingml/2006/main">
            <a:r>
              <a:t>Sort five values by hand. A skewed distribution does not make the mean wrong if the question concerns totals or expected cost.</a:t>
            </a:r>
          </a:p>
          <a:p xmlns:a="http://schemas.openxmlformats.org/drawingml/2006/main">
            <a:r>
              <a:t/>
            </a:r>
          </a:p>
          <a:p xmlns:a="http://schemas.openxmlformats.org/drawingml/2006/main">
            <a:r>
              <a:t>NEXT</a:t>
            </a:r>
          </a:p>
          <a:p xmlns:a="http://schemas.openxmlformats.org/drawingml/2006/main">
            <a:r>
              <a:t>Comparing groups and a distribution in Python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Comparing groups and a distribution in Python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Comparing groups and a distribution in Python (1/2)</a:t>
            </a:r>
          </a:p>
          <a:p xmlns:a="http://schemas.openxmlformats.org/drawingml/2006/main">
            <a:r>
              <a:t/>
            </a:r>
          </a:p>
          <a:p xmlns:a="http://schemas.openxmlformats.org/drawingml/2006/main">
            <a:r>
              <a:t>CONNECT</a:t>
            </a:r>
          </a:p>
          <a:p xmlns:a="http://schemas.openxmlformats.org/drawingml/2006/main">
            <a:r>
              <a:t>Build on Comparing groups and a distribution.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Comparing groups and a distribution in Python (1/2)</a:t>
            </a:r>
          </a:p>
          <a:p xmlns:a="http://schemas.openxmlformats.org/drawingml/2006/main">
            <a:r>
              <a:t/>
            </a:r>
          </a:p>
          <a:p xmlns:a="http://schemas.openxmlformats.org/drawingml/2006/main">
            <a:r>
              <a:t>CONNECT</a:t>
            </a:r>
          </a:p>
          <a:p xmlns:a="http://schemas.openxmlformats.org/drawingml/2006/main">
            <a:r>
              <a:t>Build on the preceding slide: Comparing groups and a distribution.</a:t>
            </a:r>
          </a:p>
          <a:p xmlns:a="http://schemas.openxmlformats.org/drawingml/2006/main">
            <a:r>
              <a:t/>
            </a:r>
          </a:p>
          <a:p xmlns:a="http://schemas.openxmlformats.org/drawingml/2006/main">
            <a:r>
              <a:t>LECTURER CUE</a:t>
            </a:r>
          </a:p>
          <a:p xmlns:a="http://schemas.openxmlformats.org/drawingml/2006/main">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xmlns:a="http://schemas.openxmlformats.org/drawingml/2006/main">
            <a:r>
              <a:t/>
            </a:r>
          </a:p>
          <a:p xmlns:a="http://schemas.openxmlformats.org/drawingml/2006/main">
            <a:r>
              <a:t>Complete practice code:</a:t>
            </a:r>
          </a:p>
          <a:p xmlns:a="http://schemas.openxmlformats.org/drawingml/2006/main">
            <a:r>
              <a:t>bar_fig, bar_ax = plt.subplots()</a:t>
            </a:r>
          </a:p>
          <a:p xmlns:a="http://schemas.openxmlformats.org/drawingml/2006/main">
            <a:r>
              <a:t>bar_ax.bar(["A", "B"], [13, 16])</a:t>
            </a:r>
          </a:p>
          <a:p xmlns:a="http://schemas.openxmlformats.org/drawingml/2006/main">
            <a:r>
              <a:t>bar_ax.set_xlabel("Group")</a:t>
            </a:r>
          </a:p>
          <a:p xmlns:a="http://schemas.openxmlformats.org/drawingml/2006/main">
            <a:r>
              <a:t>bar_ax.set_ylabel("Mean reading (teaching units)")</a:t>
            </a:r>
          </a:p>
          <a:p xmlns:a="http://schemas.openxmlformats.org/drawingml/2006/main">
            <a:r>
              <a:t>bar_ax.set_title("Two invented group means")</a:t>
            </a:r>
          </a:p>
          <a:p xmlns:a="http://schemas.openxmlformats.org/drawingml/2006/main">
            <a:r>
              <a:t>hist_fig, hist_ax = plt.subplots()</a:t>
            </a:r>
          </a:p>
          <a:p xmlns:a="http://schemas.openxmlformats.org/drawingml/2006/main">
            <a:r>
              <a:t>hist_ax.hist(readings, bins=2)</a:t>
            </a:r>
          </a:p>
          <a:p xmlns:a="http://schemas.openxmlformats.org/drawingml/2006/main">
            <a:r>
              <a:t>hist_ax.set_xlabel("Reading (teaching units)")</a:t>
            </a:r>
          </a:p>
          <a:p xmlns:a="http://schemas.openxmlformats.org/drawingml/2006/main">
            <a:r>
              <a:t>hist_ax.set_ylabel("Count of observations")</a:t>
            </a:r>
          </a:p>
          <a:p xmlns:a="http://schemas.openxmlformats.org/drawingml/2006/main">
            <a:r>
              <a:t>hist_ax.set_title("Distribution of four observations")</a:t>
            </a:r>
          </a:p>
          <a:p xmlns:a="http://schemas.openxmlformats.org/drawingml/2006/main">
            <a:r>
              <a:t>plt.show()</a:t>
            </a:r>
          </a:p>
          <a:p xmlns:a="http://schemas.openxmlformats.org/drawingml/2006/main">
            <a:r>
              <a:t/>
            </a:r>
          </a:p>
          <a:p xmlns:a="http://schemas.openxmlformats.org/drawingml/2006/main">
            <a:r>
              <a:t>EXPLAIN IN ORDINARY WORDS</a:t>
            </a:r>
          </a:p>
          <a:p xmlns:a="http://schemas.openxmlformats.org/drawingml/2006/main">
            <a:r>
              <a:t>Mean is total divided by count. Median is the middle of sorted values. A percentile locates a position in that ordered distribution; interpolation conventions can differ. Match the summary to the question.</a:t>
            </a:r>
          </a:p>
          <a:p xmlns:a="http://schemas.openxmlformats.org/drawingml/2006/main">
            <a:r>
              <a:t/>
            </a:r>
          </a:p>
          <a:p xmlns:a="http://schemas.openxmlformats.org/drawingml/2006/main">
            <a:r>
              <a:t>CHECK AND EXPECTED ANSWER</a:t>
            </a:r>
          </a:p>
          <a:p xmlns:a="http://schemas.openxmlformats.org/drawingml/2006/main">
            <a:r>
              <a:t>For [2,3,4,5,100], median=4 and mean=22.8. The large value pulls the mean up.</a:t>
            </a:r>
          </a:p>
          <a:p xmlns:a="http://schemas.openxmlformats.org/drawingml/2006/main">
            <a:r>
              <a:t/>
            </a:r>
          </a:p>
          <a:p xmlns:a="http://schemas.openxmlformats.org/drawingml/2006/main">
            <a:r>
              <a:t>IF LEARNERS ARE STUCK</a:t>
            </a:r>
          </a:p>
          <a:p xmlns:a="http://schemas.openxmlformats.org/drawingml/2006/main">
            <a:r>
              <a:t>Sort five values by hand. A skewed distribution does not make the mean wrong if the question concerns totals or expected cost.</a:t>
            </a:r>
          </a:p>
          <a:p xmlns:a="http://schemas.openxmlformats.org/drawingml/2006/main">
            <a:r>
              <a:t/>
            </a:r>
          </a:p>
          <a:p xmlns:a="http://schemas.openxmlformats.org/drawingml/2006/main">
            <a:r>
              <a:t>WALK THROUGH THIS CODE</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Comparing groups and a distribution in Python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Comparing groups and a distribution in Python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Comparing groups and a distribution in Python (2/2)</a:t>
            </a:r>
          </a:p>
          <a:p xmlns:a="http://schemas.openxmlformats.org/drawingml/2006/main">
            <a:r>
              <a:t/>
            </a:r>
          </a:p>
          <a:p xmlns:a="http://schemas.openxmlformats.org/drawingml/2006/main">
            <a:r>
              <a:t>CONNECT</a:t>
            </a:r>
          </a:p>
          <a:p xmlns:a="http://schemas.openxmlformats.org/drawingml/2006/main">
            <a:r>
              <a:t>Build on Comparing groups and a distribution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Comparing groups and a distribution in Python (2/2)</a:t>
            </a:r>
          </a:p>
          <a:p xmlns:a="http://schemas.openxmlformats.org/drawingml/2006/main">
            <a:r>
              <a:t/>
            </a:r>
          </a:p>
          <a:p xmlns:a="http://schemas.openxmlformats.org/drawingml/2006/main">
            <a:r>
              <a:t>CONNECT</a:t>
            </a:r>
          </a:p>
          <a:p xmlns:a="http://schemas.openxmlformats.org/drawingml/2006/main">
            <a:r>
              <a:t>Build on the preceding slide: Comparing groups and a distribution in Python (1/2).</a:t>
            </a:r>
          </a:p>
          <a:p xmlns:a="http://schemas.openxmlformats.org/drawingml/2006/main">
            <a:r>
              <a:t/>
            </a:r>
          </a:p>
          <a:p xmlns:a="http://schemas.openxmlformats.org/drawingml/2006/main">
            <a:r>
              <a:t>LECTURER CUE</a:t>
            </a:r>
          </a:p>
          <a:p xmlns:a="http://schemas.openxmlformats.org/drawingml/2006/main">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xmlns:a="http://schemas.openxmlformats.org/drawingml/2006/main">
            <a:r>
              <a:t/>
            </a:r>
          </a:p>
          <a:p xmlns:a="http://schemas.openxmlformats.org/drawingml/2006/main">
            <a:r>
              <a:t>Complete practice code:</a:t>
            </a:r>
          </a:p>
          <a:p xmlns:a="http://schemas.openxmlformats.org/drawingml/2006/main">
            <a:r>
              <a:t>bar_fig, bar_ax = plt.subplots()</a:t>
            </a:r>
          </a:p>
          <a:p xmlns:a="http://schemas.openxmlformats.org/drawingml/2006/main">
            <a:r>
              <a:t>bar_ax.bar(["A", "B"], [13, 16])</a:t>
            </a:r>
          </a:p>
          <a:p xmlns:a="http://schemas.openxmlformats.org/drawingml/2006/main">
            <a:r>
              <a:t>bar_ax.set_xlabel("Group")</a:t>
            </a:r>
          </a:p>
          <a:p xmlns:a="http://schemas.openxmlformats.org/drawingml/2006/main">
            <a:r>
              <a:t>bar_ax.set_ylabel("Mean reading (teaching units)")</a:t>
            </a:r>
          </a:p>
          <a:p xmlns:a="http://schemas.openxmlformats.org/drawingml/2006/main">
            <a:r>
              <a:t>bar_ax.set_title("Two invented group means")</a:t>
            </a:r>
          </a:p>
          <a:p xmlns:a="http://schemas.openxmlformats.org/drawingml/2006/main">
            <a:r>
              <a:t>hist_fig, hist_ax = plt.subplots()</a:t>
            </a:r>
          </a:p>
          <a:p xmlns:a="http://schemas.openxmlformats.org/drawingml/2006/main">
            <a:r>
              <a:t>hist_ax.hist(readings, bins=2)</a:t>
            </a:r>
          </a:p>
          <a:p xmlns:a="http://schemas.openxmlformats.org/drawingml/2006/main">
            <a:r>
              <a:t>hist_ax.set_xlabel("Reading (teaching units)")</a:t>
            </a:r>
          </a:p>
          <a:p xmlns:a="http://schemas.openxmlformats.org/drawingml/2006/main">
            <a:r>
              <a:t>hist_ax.set_ylabel("Count of observations")</a:t>
            </a:r>
          </a:p>
          <a:p xmlns:a="http://schemas.openxmlformats.org/drawingml/2006/main">
            <a:r>
              <a:t>hist_ax.set_title("Distribution of four observations")</a:t>
            </a:r>
          </a:p>
          <a:p xmlns:a="http://schemas.openxmlformats.org/drawingml/2006/main">
            <a:r>
              <a:t>plt.show()</a:t>
            </a:r>
          </a:p>
          <a:p xmlns:a="http://schemas.openxmlformats.org/drawingml/2006/main">
            <a:r>
              <a:t/>
            </a:r>
          </a:p>
          <a:p xmlns:a="http://schemas.openxmlformats.org/drawingml/2006/main">
            <a:r>
              <a:t>EXPLAIN IN ORDINARY WORDS</a:t>
            </a:r>
          </a:p>
          <a:p xmlns:a="http://schemas.openxmlformats.org/drawingml/2006/main">
            <a:r>
              <a:t>Mean is total divided by count. Median is the middle of sorted values. A percentile locates a position in that ordered distribution; interpolation conventions can differ. Match the summary to the question.</a:t>
            </a:r>
          </a:p>
          <a:p xmlns:a="http://schemas.openxmlformats.org/drawingml/2006/main">
            <a:r>
              <a:t/>
            </a:r>
          </a:p>
          <a:p xmlns:a="http://schemas.openxmlformats.org/drawingml/2006/main">
            <a:r>
              <a:t>CHECK AND EXPECTED ANSWER</a:t>
            </a:r>
          </a:p>
          <a:p xmlns:a="http://schemas.openxmlformats.org/drawingml/2006/main">
            <a:r>
              <a:t>For [2,3,4,5,100], median=4 and mean=22.8. The large value pulls the mean up.</a:t>
            </a:r>
          </a:p>
          <a:p xmlns:a="http://schemas.openxmlformats.org/drawingml/2006/main">
            <a:r>
              <a:t/>
            </a:r>
          </a:p>
          <a:p xmlns:a="http://schemas.openxmlformats.org/drawingml/2006/main">
            <a:r>
              <a:t>IF LEARNERS ARE STUCK</a:t>
            </a:r>
          </a:p>
          <a:p xmlns:a="http://schemas.openxmlformats.org/drawingml/2006/main">
            <a:r>
              <a:t>Sort five values by hand. A skewed distribution does not make the mean wrong if the question concerns totals or expected cost.</a:t>
            </a:r>
          </a:p>
          <a:p xmlns:a="http://schemas.openxmlformats.org/drawingml/2006/main">
            <a:r>
              <a:t/>
            </a:r>
          </a:p>
          <a:p xmlns:a="http://schemas.openxmlformats.org/drawingml/2006/main">
            <a:r>
              <a:t>WALK THROUGH THIS CODE</a:t>
            </a:r>
          </a:p>
          <a:p xmlns:a="http://schemas.openxmlformats.org/drawingml/2006/main">
            <a:r>
              <a:t>Read the inputs and identify the operation.</a:t>
            </a:r>
          </a:p>
          <a:p xmlns:a="http://schemas.openxmlformats.org/drawingml/2006/main">
            <a:r>
              <a:t>Predict the result before running this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Your turn.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Comparing groups and a distribution in Python (2/2). Explain why this example is needed before running it.</a:t>
            </a:r>
          </a:p>
          <a:p xmlns:a="http://schemas.openxmlformats.org/drawingml/2006/main">
            <a:r>
              <a:t/>
            </a:r>
          </a:p>
          <a:p xmlns:a="http://schemas.openxmlformats.org/drawingml/2006/main">
            <a:r>
              <a:t>EXPLAIN</a:t>
            </a:r>
          </a:p>
          <a:p xmlns:a="http://schemas.openxmlformats.org/drawingml/2006/main">
            <a:r>
              <a:t>Example: Explain why 80 was retained. Replace 24 with 26, predict the new fill value, and check that cleaning still leaves raw unchanged.</a:t>
            </a:r>
          </a:p>
          <a:p xmlns:a="http://schemas.openxmlformats.org/drawingml/2006/main">
            <a:r>
              <a:t/>
            </a:r>
          </a:p>
          <a:p xmlns:a="http://schemas.openxmlformats.org/drawingml/2006/main">
            <a:r>
              <a:t>Answer: An unusual value alone does not prove an error. The task did not authorize deleting 80. With 26 replacing 24, the middle known values are 22 and 26, so the new fill is 24. The raw list still contains None.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Comparing groups and a distribution in Python (2/2).</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An unusual value alone does not prove an error. The task did not authorize deleting 80. With 26 replacing 24, the middle known values are 22 and 26, so the new fill is 24. The raw list still contains None.</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An unusual value alone does not prove an error. The task did not authorize deleting 80. With 26 replacing 24, the middle known values are 22 and 26, so the new fill is 24. The raw list still contains None.</a:t>
            </a:r>
          </a:p>
          <a:p xmlns:a="http://schemas.openxmlformats.org/drawingml/2006/main">
            <a:r>
              <a:t>Which step produced this result? What changes if one input changes?</a:t>
            </a:r>
          </a:p>
          <a:p xmlns:a="http://schemas.openxmlformats.org/drawingml/2006/main">
            <a:r>
              <a:t>CML3112   Week 6   38</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compact loop is optional.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compact loop is optional</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A list comprehension makes the same list. Learn the ordinary loop first.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compact loop is optional</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[4, 8, 12] twice</a:t>
            </a:r>
          </a:p>
          <a:p xmlns:a="http://schemas.openxmlformats.org/drawingml/2006/main">
            <a:r>
              <a:t/>
            </a:r>
          </a:p>
          <a:p xmlns:a="http://schemas.openxmlformats.org/drawingml/2006/main">
            <a:r>
              <a:t>EXPLAIN IN ORDINARY WORDS</a:t>
            </a:r>
          </a:p>
          <a:p xmlns:a="http://schemas.openxmlformats.org/drawingml/2006/main">
            <a:r>
              <a:t>A loop repeats its indented instructions for each item. A running total must be initialised before the loop and updated inside it.</a:t>
            </a:r>
          </a:p>
          <a:p xmlns:a="http://schemas.openxmlformats.org/drawingml/2006/main">
            <a:r>
              <a:t/>
            </a:r>
          </a:p>
          <a:p xmlns:a="http://schemas.openxmlformats.org/drawingml/2006/main">
            <a:r>
              <a:t>CHECK AND EXPECTED ANSWER</a:t>
            </a:r>
          </a:p>
          <a:p xmlns:a="http://schemas.openxmlformats.org/drawingml/2006/main">
            <a:r>
              <a:t>For values 2,4,6 and total initially 0, what are the successive totals? 2,6,12.</a:t>
            </a:r>
          </a:p>
          <a:p xmlns:a="http://schemas.openxmlformats.org/drawingml/2006/main">
            <a:r>
              <a:t/>
            </a:r>
          </a:p>
          <a:p xmlns:a="http://schemas.openxmlformats.org/drawingml/2006/main">
            <a:r>
              <a:t>IF LEARNERS ARE STUCK</a:t>
            </a:r>
          </a:p>
          <a:p xmlns:a="http://schemas.openxmlformats.org/drawingml/2006/main">
            <a:r>
              <a:t>Use a trace table with current item and total. Resetting total inside the loop loses earlier additions.</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print displays a value below the cell.</a:t>
            </a:r>
          </a:p>
          <a:p xmlns:a="http://schemas.openxmlformats.org/drawingml/2006/main">
            <a:r>
              <a:t>append adds one item to the end of a list.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Short explainer and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A compact loop is optional. Explain why this example is needed before running it.</a:t>
            </a:r>
          </a:p>
          <a:p xmlns:a="http://schemas.openxmlformats.org/drawingml/2006/main">
            <a:r>
              <a:t/>
            </a:r>
          </a:p>
          <a:p xmlns:a="http://schemas.openxmlformats.org/drawingml/2006/main">
            <a:r>
              <a:t>EXPLAIN</a:t>
            </a:r>
          </a:p>
          <a:p xmlns:a="http://schemas.openxmlformats.org/drawingml/2006/main">
            <a:r>
              <a:t>W06 uses a list of record dictionaries.</a:t>
            </a:r>
          </a:p>
          <a:p xmlns:a="http://schemas.openxmlformats.org/drawingml/2006/main">
            <a:r>
              <a:t/>
            </a:r>
          </a:p>
          <a:p xmlns:a="http://schemas.openxmlformats.org/drawingml/2006/main">
            <a:r>
              <a:t>Show one record and one field lookup before the function interfaces.</a:t>
            </a:r>
          </a:p>
          <a:p xmlns:a="http://schemas.openxmlformats.org/drawingml/2006/main">
            <a:r>
              <a:t/>
            </a:r>
          </a:p>
          <a:p xmlns:a="http://schemas.openxmlformats.org/drawingml/2006/main">
            <a:r>
              <a:t>Parse CSV blank numeric cells as None. dict(row) copies a record. append adds an item to a list.</a:t>
            </a:r>
          </a:p>
          <a:p xmlns:a="http://schemas.openxmlformats.org/drawingml/2006/main">
            <a:r>
              <a:t/>
            </a:r>
          </a:p>
          <a:p xmlns:a="http://schemas.openxmlformats.org/drawingml/2006/main">
            <a:r>
              <a:t>The task brief specifies the cleaning order and returned outputs.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After the video.</a:t>
            </a:r>
          </a:p>
          <a:p xmlns:a="http://schemas.openxmlformats.org/drawingml/2006/main">
            <a:r>
              <a:t/>
            </a:r>
          </a:p>
          <a:p xmlns:a="http://schemas.openxmlformats.org/drawingml/2006/main">
            <a:r>
              <a:t>LECTURER CUE</a:t>
            </a:r>
          </a:p>
          <a:p xmlns:a="http://schemas.openxmlformats.org/drawingml/2006/main">
            <a:r>
              <a:t>W06 uses a list of record dictionaries. Show one record and one field lookup before the function interfaces. Parse CSV blank numeric cells as None. Model copying with dict(row) and list.append. Walk through the published cleaning order before students write clean_records, summarize_records and audit_cleaning. Teach set membership for duplicate IDs and grouped accumulation. Explain that written evidence belongs in My written evidence, not in code comments.</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Preparing for the assignment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A set records IDs already seen.</a:t>
            </a:r>
          </a:p>
          <a:p xmlns:a="http://schemas.openxmlformats.org/drawingml/2006/main">
            <a:r>
              <a:t/>
            </a:r>
          </a:p>
          <a:p xmlns:a="http://schemas.openxmlformats.org/drawingml/2006/main">
            <a:r>
              <a:t>Group summaries collect readings with the same equipment ID.</a:t>
            </a:r>
          </a:p>
          <a:p xmlns:a="http://schemas.openxmlformats.org/drawingml/2006/main">
            <a:r>
              <a:t/>
            </a:r>
          </a:p>
          <a:p xmlns:a="http://schemas.openxmlformats.org/drawingml/2006/main">
            <a:r>
              <a:t>Explain that written evidence belongs in My written evidence, not in code comments.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W06 uses a list of record dictionaries. Show one record and one field lookup before the function interfaces. Parse CSV blank numeric cells as None. Model copying with dict(row) and list.append. Walk through the published cleaning order before students write clean_records, summarize_records and audit_cleaning. Teach set membership for duplicate IDs and grouped accumulation. Explain that written evidence belongs in My written evidence, not in code comments.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Cleaning choices and charts.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Cleaning choices and charts.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choices and charts</a:t>
            </a:r>
          </a:p>
          <a:p xmlns:a="http://schemas.openxmlformats.org/drawingml/2006/main">
            <a:r>
              <a:t/>
            </a:r>
          </a:p>
          <a:p xmlns:a="http://schemas.openxmlformats.org/drawingml/2006/main">
            <a:r>
              <a:t>CONNECT</a:t>
            </a:r>
          </a:p>
          <a:p xmlns:a="http://schemas.openxmlformats.org/drawingml/2006/main">
            <a:r>
              <a:t>Build on Preparing for the assignment continued. Explain why this example is needed before running it.</a:t>
            </a:r>
          </a:p>
          <a:p xmlns:a="http://schemas.openxmlformats.org/drawingml/2006/main">
            <a:r>
              <a:t/>
            </a:r>
          </a:p>
          <a:p xmlns:a="http://schemas.openxmlformats.org/drawingml/2006/main">
            <a:r>
              <a:t>EXPLAIN</a:t>
            </a:r>
          </a:p>
          <a:p xmlns:a="http://schemas.openxmlformats.org/drawingml/2006/main">
            <a:r>
              <a:t>Filling blanks with zero changes the mean and may be unjustified.</a:t>
            </a:r>
          </a:p>
          <a:p xmlns:a="http://schemas.openxmlformats.org/drawingml/2006/main">
            <a:r>
              <a:t/>
            </a:r>
          </a:p>
          <a:p xmlns:a="http://schemas.openxmlformats.org/drawingml/2006/main">
            <a:r>
              <a:t>Dropping every row with any blank can remove valid observations.</a:t>
            </a:r>
          </a:p>
          <a:p xmlns:a="http://schemas.openxmlformats.org/drawingml/2006/main">
            <a:r>
              <a:t/>
            </a:r>
          </a:p>
          <a:p xmlns:a="http://schemas.openxmlformats.org/drawingml/2006/main">
            <a:r>
              <a:t>A failed numeric conversion identifies a problematic value to inspect rather than hide.</a:t>
            </a:r>
          </a:p>
          <a:p xmlns:a="http://schemas.openxmlformats.org/drawingml/2006/main">
            <a:r>
              <a:t/>
            </a:r>
          </a:p>
          <a:p xmlns:a="http://schemas.openxmlformats.org/drawingml/2006/main">
            <a:r>
              <a:t>A histogram describes one distribution; a scatter plot shows paired values; a grouped chart compares groups.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Cleaning choices and charts</a:t>
            </a:r>
          </a:p>
          <a:p xmlns:a="http://schemas.openxmlformats.org/drawingml/2006/main">
            <a:r>
              <a:t/>
            </a:r>
          </a:p>
          <a:p xmlns:a="http://schemas.openxmlformats.org/drawingml/2006/main">
            <a:r>
              <a:t>CONNECT</a:t>
            </a:r>
          </a:p>
          <a:p xmlns:a="http://schemas.openxmlformats.org/drawingml/2006/main">
            <a:r>
              <a:t>Build on the preceding slide: Preparing for the assignment continued.</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NEXT</a:t>
            </a:r>
          </a:p>
          <a:p xmlns:a="http://schemas.openxmlformats.org/drawingml/2006/main">
            <a:r>
              <a:t>Cleaning choices and charts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Cleaning choices and charts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choices and charts continued</a:t>
            </a:r>
          </a:p>
          <a:p xmlns:a="http://schemas.openxmlformats.org/drawingml/2006/main">
            <a:r>
              <a:t/>
            </a:r>
          </a:p>
          <a:p xmlns:a="http://schemas.openxmlformats.org/drawingml/2006/main">
            <a:r>
              <a:t>CONNECT</a:t>
            </a:r>
          </a:p>
          <a:p xmlns:a="http://schemas.openxmlformats.org/drawingml/2006/main">
            <a:r>
              <a:t>Build on Cleaning choices and charts. Explain why this example is needed before running it.</a:t>
            </a:r>
          </a:p>
          <a:p xmlns:a="http://schemas.openxmlformats.org/drawingml/2006/main">
            <a:r>
              <a:t/>
            </a:r>
          </a:p>
          <a:p xmlns:a="http://schemas.openxmlformats.org/drawingml/2006/main">
            <a:r>
              <a:t>EXPLAIN</a:t>
            </a:r>
          </a:p>
          <a:p xmlns:a="http://schemas.openxmlformats.org/drawingml/2006/main">
            <a:r>
              <a:t>Read both axes and units.</a:t>
            </a:r>
          </a:p>
          <a:p xmlns:a="http://schemas.openxmlformats.org/drawingml/2006/main">
            <a:r>
              <a:t/>
            </a:r>
          </a:p>
          <a:p xmlns:a="http://schemas.openxmlformats.org/drawingml/2006/main">
            <a:r>
              <a:t>A plausible extreme needs investigation before deletion.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Cleaning choices and charts continued</a:t>
            </a:r>
          </a:p>
          <a:p xmlns:a="http://schemas.openxmlformats.org/drawingml/2006/main">
            <a:r>
              <a:t/>
            </a:r>
          </a:p>
          <a:p xmlns:a="http://schemas.openxmlformats.org/drawingml/2006/main">
            <a:r>
              <a:t>CONNECT</a:t>
            </a:r>
          </a:p>
          <a:p xmlns:a="http://schemas.openxmlformats.org/drawingml/2006/main">
            <a:r>
              <a:t>Build on the preceding slide: Cleaning choices and charts.</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NEXT</a:t>
            </a:r>
          </a:p>
          <a:p xmlns:a="http://schemas.openxmlformats.org/drawingml/2006/main">
            <a:r>
              <a:t>Your issued task.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Cleaning choices and charts continued. Explain why this example is needed before running it.</a:t>
            </a:r>
          </a:p>
          <a:p xmlns:a="http://schemas.openxmlformats.org/drawingml/2006/main">
            <a:r>
              <a:t/>
            </a:r>
          </a:p>
          <a:p xmlns:a="http://schemas.openxmlformats.org/drawingml/2006/main">
            <a:r>
              <a:t>EXPLAIN</a:t>
            </a:r>
          </a:p>
          <a:p xmlns:a="http://schemas.openxmlformats.org/drawingml/2006/main">
            <a:r>
              <a:t>Investigate building cooling load.</a:t>
            </a:r>
          </a:p>
          <a:p xmlns:a="http://schemas.openxmlformats.org/drawingml/2006/main">
            <a:r>
              <a:t/>
            </a:r>
          </a:p>
          <a:p xmlns:a="http://schemas.openxmlformats.org/drawingml/2006/main">
            <a:r>
              <a:t>Target units: kW.</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the preceding slide: Cleaning choices and charts continued.</a:t>
            </a:r>
          </a:p>
          <a:p xmlns:a="http://schemas.openxmlformats.org/drawingml/2006/main">
            <a:r>
              <a:t/>
            </a:r>
          </a:p>
          <a:p xmlns:a="http://schemas.openxmlformats.org/drawingml/2006/main">
            <a:r>
              <a:t>LECTURER CUE</a:t>
            </a:r>
          </a:p>
          <a:p xmlns:a="http://schemas.openxmlformats.org/drawingml/2006/main">
            <a:r>
              <a:t>Investigate building cooling load. Target units: kW.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clean_records(records).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clean_records(records).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clean_records(records)</a:t>
            </a:r>
          </a:p>
          <a:p xmlns:a="http://schemas.openxmlformats.org/drawingml/2006/main">
            <a:r>
              <a:t/>
            </a:r>
          </a:p>
          <a:p xmlns:a="http://schemas.openxmlformats.org/drawingml/2006/main">
            <a:r>
              <a:t>CONNECT</a:t>
            </a:r>
          </a:p>
          <a:p xmlns:a="http://schemas.openxmlformats.org/drawingml/2006/main">
            <a:r>
              <a:t>Build on Your issued task. Explain why this example is needed before running it.</a:t>
            </a:r>
          </a:p>
          <a:p xmlns:a="http://schemas.openxmlformats.org/drawingml/2006/main">
            <a:r>
              <a:t/>
            </a:r>
          </a:p>
          <a:p xmlns:a="http://schemas.openxmlformats.org/drawingml/2006/main">
            <a:r>
              <a:t>EXPLAIN</a:t>
            </a:r>
          </a:p>
          <a:p xmlns:a="http://schemas.openxmlformats.org/drawingml/2006/main">
            <a:r>
              <a:t>Return copied records in original order: remove repeated record_id after its first occurrence, drop rows with missing target or load_pct outside 0–100 inclusive, then fill missing ambient_c with the median of retained non-missing ambient_c values.</a:t>
            </a:r>
          </a:p>
          <a:p xmlns:a="http://schemas.openxmlformats.org/drawingml/2006/main">
            <a:r>
              <a:t/>
            </a:r>
          </a:p>
          <a:p xmlns:a="http://schemas.openxmlformats.org/drawingml/2006/main">
            <a:r>
              <a:t>Preserve raw input.</a:t>
            </a:r>
          </a:p>
          <a:p xmlns:a="http://schemas.openxmlformats.org/drawingml/2006/main">
            <a:r>
              <a:t/>
            </a:r>
          </a:p>
          <a:p xmlns:a="http://schemas.openxmlformats.org/drawingml/2006/main">
            <a:r>
              <a:t>No other changes.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clean_records(records)</a:t>
            </a:r>
          </a:p>
          <a:p xmlns:a="http://schemas.openxmlformats.org/drawingml/2006/main">
            <a:r>
              <a:t/>
            </a:r>
          </a:p>
          <a:p xmlns:a="http://schemas.openxmlformats.org/drawingml/2006/main">
            <a:r>
              <a:t>CONNECT</a:t>
            </a:r>
          </a:p>
          <a:p xmlns:a="http://schemas.openxmlformats.org/drawingml/2006/main">
            <a:r>
              <a:t>Build on the preceding slide: Your issued task.</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IUEA_Teaching_Plan/assessment_banks/W06/CML3112/A/TASKS.md</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NEXT</a:t>
            </a:r>
          </a:p>
          <a:p xmlns:a="http://schemas.openxmlformats.org/drawingml/2006/main">
            <a:r>
              <a:t>summarize_records(clean_records).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summarize_records(clean_records).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summarize_records(clean_records)</a:t>
            </a:r>
          </a:p>
          <a:p xmlns:a="http://schemas.openxmlformats.org/drawingml/2006/main">
            <a:r>
              <a:t/>
            </a:r>
          </a:p>
          <a:p xmlns:a="http://schemas.openxmlformats.org/drawingml/2006/main">
            <a:r>
              <a:t>CONNECT</a:t>
            </a:r>
          </a:p>
          <a:p xmlns:a="http://schemas.openxmlformats.org/drawingml/2006/main">
            <a:r>
              <a:t>Build on clean_records(records). Explain why this example is needed before running it.</a:t>
            </a:r>
          </a:p>
          <a:p xmlns:a="http://schemas.openxmlformats.org/drawingml/2006/main">
            <a:r>
              <a:t/>
            </a:r>
          </a:p>
          <a:p xmlns:a="http://schemas.openxmlformats.org/drawingml/2006/main">
            <a:r>
              <a:t>EXPLAIN</a:t>
            </a:r>
          </a:p>
          <a:p xmlns:a="http://schemas.openxmlformats.org/drawingml/2006/main">
            <a:r>
              <a:t>Return count, mean, minimum, maximum of target and group_means by equipment_id.</a:t>
            </a:r>
          </a:p>
          <a:p xmlns:a="http://schemas.openxmlformats.org/drawingml/2006/main">
            <a:r>
              <a:t/>
            </a:r>
          </a:p>
          <a:p xmlns:a="http://schemas.openxmlformats.org/drawingml/2006/main">
            <a:r>
              <a:t>Retain full precision.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summarize_records(clean_records)</a:t>
            </a:r>
          </a:p>
          <a:p xmlns:a="http://schemas.openxmlformats.org/drawingml/2006/main">
            <a:r>
              <a:t/>
            </a:r>
          </a:p>
          <a:p xmlns:a="http://schemas.openxmlformats.org/drawingml/2006/main">
            <a:r>
              <a:t>CONNECT</a:t>
            </a:r>
          </a:p>
          <a:p xmlns:a="http://schemas.openxmlformats.org/drawingml/2006/main">
            <a:r>
              <a:t>Build on the preceding slide: clean_records(records).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IUEA_Teaching_Plan/assessment_banks/W06/CML3112/A/TASKS.md</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audit_cleaning(raw_records, cleaned_records).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audit_cleaning(raw_records, cleaned_records).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audit_cleaning(raw_records, cleaned_records)</a:t>
            </a:r>
          </a:p>
          <a:p xmlns:a="http://schemas.openxmlformats.org/drawingml/2006/main">
            <a:r>
              <a:t/>
            </a:r>
          </a:p>
          <a:p xmlns:a="http://schemas.openxmlformats.org/drawingml/2006/main">
            <a:r>
              <a:t>CONNECT</a:t>
            </a:r>
          </a:p>
          <a:p xmlns:a="http://schemas.openxmlformats.org/drawingml/2006/main">
            <a:r>
              <a:t>Build on summarize_records(clean_records). Explain why this example is needed before running it.</a:t>
            </a:r>
          </a:p>
          <a:p xmlns:a="http://schemas.openxmlformats.org/drawingml/2006/main">
            <a:r>
              <a:t/>
            </a:r>
          </a:p>
          <a:p xmlns:a="http://schemas.openxmlformats.org/drawingml/2006/main">
            <a:r>
              <a:t>EXPLAIN</a:t>
            </a:r>
          </a:p>
          <a:p xmlns:a="http://schemas.openxmlformats.org/drawingml/2006/main">
            <a:r>
              <a:t>Return raw_count and cleaned_count; duplicate_ids is the number of cleaned records beyond the first occurrence of each record_id; missing_targets counts None targets; invalid_loads counts cleaned load_pct outside 0–100 inclusive.</a:t>
            </a:r>
          </a:p>
          <a:p xmlns:a="http://schemas.openxmlformats.org/drawingml/2006/main">
            <a:r>
              <a:t/>
            </a:r>
          </a:p>
          <a:p xmlns:a="http://schemas.openxmlformats.org/drawingml/2006/main">
            <a:r>
              <a:t>Report the actual supplied data, which may still contain defects.</a:t>
            </a:r>
          </a:p>
          <a:p xmlns:a="http://schemas.openxmlformats.org/drawingml/2006/main">
            <a:r>
              <a:t/>
            </a:r>
          </a:p>
          <a:p xmlns:a="http://schemas.openxmlformats.org/drawingml/2006/main">
            <a:r>
              <a:t>Do not change either input.</a:t>
            </a:r>
          </a:p>
          <a:p xmlns:a="http://schemas.openxmlformats.org/drawingml/2006/main">
            <a:r>
              <a:t/>
            </a:r>
          </a:p>
          <a:p xmlns:a="http://schemas.openxmlformats.org/drawingml/2006/main">
            <a:r>
              <a:t>All five values are integer counts.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audit_cleaning(raw_records, cleaned_records)</a:t>
            </a:r>
          </a:p>
          <a:p xmlns:a="http://schemas.openxmlformats.org/drawingml/2006/main">
            <a:r>
              <a:t/>
            </a:r>
          </a:p>
          <a:p xmlns:a="http://schemas.openxmlformats.org/drawingml/2006/main">
            <a:r>
              <a:t>CONNECT</a:t>
            </a:r>
          </a:p>
          <a:p xmlns:a="http://schemas.openxmlformats.org/drawingml/2006/main">
            <a:r>
              <a:t>Build on the preceding slide: summarize_records(clean_records).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IUEA_Teaching_Plan/assessment_banks/W06/CML3112/A/TASKS.md</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NEXT</a:t>
            </a:r>
          </a:p>
          <a:p xmlns:a="http://schemas.openxmlformats.org/drawingml/2006/main">
            <a:r>
              <a:t>Written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audit_cleaning(raw_records, cleaned_records). Explain why this example is needed before running it.</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the preceding slide: audit_cleaning(raw_records, cleaned_records).</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Cleaning and quality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Cleaning and quality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and quality submission</a:t>
            </a:r>
          </a:p>
          <a:p xmlns:a="http://schemas.openxmlformats.org/drawingml/2006/main">
            <a:r>
              <a:t/>
            </a:r>
          </a:p>
          <a:p xmlns:a="http://schemas.openxmlformats.org/drawingml/2006/main">
            <a:r>
              <a:t>CONNECT</a:t>
            </a:r>
          </a:p>
          <a:p xmlns:a="http://schemas.openxmlformats.org/drawingml/2006/main">
            <a:r>
              <a:t>Build on Written evidence. Explain why this example is needed before running it.</a:t>
            </a:r>
          </a:p>
          <a:p xmlns:a="http://schemas.openxmlformats.org/drawingml/2006/main">
            <a:r>
              <a:t/>
            </a:r>
          </a:p>
          <a:p xmlns:a="http://schemas.openxmlformats.org/drawingml/2006/main">
            <a:r>
              <a:t>EXPLAIN</a:t>
            </a:r>
          </a:p>
          <a:p xmlns:a="http://schemas.openxmlformats.org/drawingml/2006/main">
            <a:r>
              <a:t>Opens: 13 Oct 2026, 11:00 Kampala</a:t>
            </a:r>
          </a:p>
          <a:p xmlns:a="http://schemas.openxmlformats.org/drawingml/2006/main">
            <a:r>
              <a:t/>
            </a:r>
          </a:p>
          <a:p xmlns:a="http://schemas.openxmlformats.org/drawingml/2006/main">
            <a:r>
              <a:t>Deadline: 20 Oct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Cleaning and quality submission</a:t>
            </a:r>
          </a:p>
          <a:p xmlns:a="http://schemas.openxmlformats.org/drawingml/2006/main">
            <a:r>
              <a:t/>
            </a:r>
          </a:p>
          <a:p xmlns:a="http://schemas.openxmlformats.org/drawingml/2006/main">
            <a:r>
              <a:t>CONNECT</a:t>
            </a:r>
          </a:p>
          <a:p xmlns:a="http://schemas.openxmlformats.org/drawingml/2006/main">
            <a:r>
              <a:t>Build on the preceding slide: Written evidence.</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Project preparation.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Project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Cleaning and quality submission. Explain why this example is needed before running it.</a:t>
            </a:r>
          </a:p>
          <a:p xmlns:a="http://schemas.openxmlformats.org/drawingml/2006/main">
            <a:r>
              <a:t/>
            </a:r>
          </a:p>
          <a:p xmlns:a="http://schemas.openxmlformats.org/drawingml/2006/main">
            <a:r>
              <a:t>EXPLAIN</a:t>
            </a:r>
          </a:p>
          <a:p xmlns:a="http://schemas.openxmlformats.org/drawingml/2006/main">
            <a:r>
              <a:t>Use the published data analysis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27 Oct 2026, 11:00 Kampala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the preceding slide: Cleaning and quality submission.</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6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6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6 quiz</a:t>
            </a:r>
          </a:p>
          <a:p xmlns:a="http://schemas.openxmlformats.org/drawingml/2006/main">
            <a:r>
              <a:t/>
            </a:r>
          </a:p>
          <a:p xmlns:a="http://schemas.openxmlformats.org/drawingml/2006/main">
            <a:r>
              <a:t>CONNECT</a:t>
            </a:r>
          </a:p>
          <a:p xmlns:a="http://schemas.openxmlformats.org/drawingml/2006/main">
            <a:r>
              <a:t>Build on Project preparation.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6 quiz</a:t>
            </a:r>
          </a:p>
          <a:p xmlns:a="http://schemas.openxmlformats.org/drawingml/2006/main">
            <a:r>
              <a:t/>
            </a:r>
          </a:p>
          <a:p xmlns:a="http://schemas.openxmlformats.org/drawingml/2006/main">
            <a:r>
              <a:t>CONNECT</a:t>
            </a:r>
          </a:p>
          <a:p xmlns:a="http://schemas.openxmlformats.org/drawingml/2006/main">
            <a:r>
              <a:t>Build on the preceding slide: Project preparation.</a:t>
            </a:r>
          </a:p>
          <a:p xmlns:a="http://schemas.openxmlformats.org/drawingml/2006/main">
            <a:r>
              <a:t/>
            </a:r>
          </a:p>
          <a:p xmlns:a="http://schemas.openxmlformats.org/drawingml/2006/main">
            <a:r>
              <a:t>LECTURER CUE</a:t>
            </a:r>
          </a:p>
          <a:p xmlns:a="http://schemas.openxmlformats.org/drawingml/2006/main">
            <a:r>
              <a:t>Activate the matching open_W6_CML3112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6 quiz. Explain why this example is needed before running it.</a:t>
            </a:r>
          </a:p>
          <a:p xmlns:a="http://schemas.openxmlformats.org/drawingml/2006/main">
            <a:r>
              <a:t/>
            </a:r>
          </a:p>
          <a:p xmlns:a="http://schemas.openxmlformats.org/drawingml/2006/main">
            <a:r>
              <a:t>EXPLAIN</a:t>
            </a:r>
          </a:p>
          <a:p xmlns:a="http://schemas.openxmlformats.org/drawingml/2006/main">
            <a:r>
              <a:t>You can justify a change, show its effect and identify an estimated value.</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6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Optional revision video.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Build on Revision and submission checklist. Explain why this example is needed before running it.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Boxplots are Awesome!!!</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What does the box show, and does a point outside it prove an error?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Short explainer and discussion</a:t>
            </a:r>
          </a:p>
          <a:p xmlns:a="http://schemas.openxmlformats.org/drawingml/2006/main">
            <a:r>
              <a:t/>
            </a:r>
          </a:p>
          <a:p xmlns:a="http://schemas.openxmlformats.org/drawingml/2006/main">
            <a:r>
              <a:t>CONNECT</a:t>
            </a:r>
          </a:p>
          <a:p xmlns:a="http://schemas.openxmlformats.org/drawingml/2006/main">
            <a:r>
              <a:t>Build on the preceding slide: A compact loop is optional.</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 do not make viewing compulsory.</a:t>
            </a:r>
          </a:p>
          <a:p xmlns:a="http://schemas.openxmlformats.org/drawingml/2006/main">
            <a:r>
              <a:t>After viewing: Explain why an unusual temperature needs investigation before deletion.</a:t>
            </a:r>
          </a:p>
          <a:p xmlns:a="http://schemas.openxmlformats.org/drawingml/2006/main">
            <a:r>
              <a:t>Preview before class and stop after the selected short excerpt. If playback fails, teach the worked example. Video is optional. Source: https://www.youtube.com/watch?v=fHLhBnmwUM0</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VIDEO ROUTINE</a:t>
            </a:r>
          </a:p>
          <a:p xmlns:a="http://schemas.openxmlformats.org/drawingml/2006/main">
            <a:r>
              <a:t>Preview the exact link and stated excerpt before class. State the viewing question first, pause after the example, and ask a learner to explain it. If access fails, use the adjacent worked example and discussion rather than spend class time troubleshooting streaming.</a:t>
            </a:r>
          </a:p>
          <a:p xmlns:a="http://schemas.openxmlformats.org/drawingml/2006/main">
            <a:r>
              <a:t/>
            </a:r>
          </a:p>
          <a:p xmlns:a="http://schemas.openxmlformats.org/drawingml/2006/main">
            <a:r>
              <a:t>NEXT</a:t>
            </a:r>
          </a:p>
          <a:p xmlns:a="http://schemas.openxmlformats.org/drawingml/2006/main">
            <a:r>
              <a:t>After the video.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0ae07150f724cd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ca61b4bec60487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6ffa8375753470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52908cdc7524ba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47e68c433414e7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eee9599b73544b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4D9B894-E331-46F0-A503-E486839BC859}"/>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E7C46B6-44BC-430F-838F-233245565BB5}"/>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0C6DBB69-5527-4773-9285-106422DB651B}"/>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F91E1A30-9402-403F-A2D9-323529E98BC7}"/>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A44B6489-F8D9-472B-AE3A-C2C2FE50D4A9}"/>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6FAB511-0091-493F-B7C8-6DA2F211C0D6}"/>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3601B59-D94E-4CCB-8A18-82AF959BEDC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F8C3A3F2-4013-40F0-8A9A-3032CCB9E174}"/>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7A4E5245-D14E-4864-BC4D-7FD40857A619}"/>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3C93BBA-DCAE-48E2-BA05-9C0E61B6706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533C7692-465A-43CF-AB42-B35CBCE6365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CBA9C415-FCF4-4E12-8FF3-914DC6D70F0E}"/>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AD32D40-1F44-4DDD-B928-01F96EDA780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08EFA10-6FF6-472C-9ED8-8860F831298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48063B65-1E5A-4AC7-8229-8111675375B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c8b6ad8755c4eec" /><Relationship Type="http://schemas.openxmlformats.org/officeDocument/2006/relationships/slideLayout" Target="/ppt/slideLayouts/slideLayout1.xml" Id="R090d1c69dc02424f" /><Relationship Type="http://schemas.openxmlformats.org/officeDocument/2006/relationships/slideLayout" Target="/ppt/slideLayouts/slideLayout2.xml" Id="R5bcdac49ab424592" /><Relationship Type="http://schemas.openxmlformats.org/officeDocument/2006/relationships/slideLayout" Target="/ppt/slideLayouts/slideLayout3.xml" Id="R4cbb9d8df2b047d4" /><Relationship Type="http://schemas.openxmlformats.org/officeDocument/2006/relationships/slideLayout" Target="/ppt/slideLayouts/slideLayout4.xml" Id="Re8771948aba844ea" /><Relationship Type="http://schemas.openxmlformats.org/officeDocument/2006/relationships/slideLayout" Target="/ppt/slideLayouts/slideLayout5.xml" Id="R4e864a889913417d" /><Relationship Type="http://schemas.openxmlformats.org/officeDocument/2006/relationships/slideLayout" Target="/ppt/slideLayouts/slideLayout6.xml" Id="R6571699b1b0e47b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90d1c69dc02424f"/>
    <p:sldLayoutId xmlns:r="http://schemas.openxmlformats.org/officeDocument/2006/relationships" id="2147483650" r:id="R5bcdac49ab424592"/>
    <p:sldLayoutId xmlns:r="http://schemas.openxmlformats.org/officeDocument/2006/relationships" id="2147483651" r:id="R4cbb9d8df2b047d4"/>
    <p:sldLayoutId xmlns:r="http://schemas.openxmlformats.org/officeDocument/2006/relationships" id="2147483652" r:id="Re8771948aba844ea"/>
    <p:sldLayoutId xmlns:r="http://schemas.openxmlformats.org/officeDocument/2006/relationships" id="2147483653" r:id="R4e864a889913417d"/>
    <p:sldLayoutId xmlns:r="http://schemas.openxmlformats.org/officeDocument/2006/relationships" id="2147483654" r:id="R6571699b1b0e47b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f44348566704a27" /><Relationship Type="http://schemas.openxmlformats.org/officeDocument/2006/relationships/image" Target="/ppt/media/image.png" Id="Rdf8c0141286a4123" /><Relationship Type="http://schemas.openxmlformats.org/officeDocument/2006/relationships/notesSlide" Target="/ppt/notesSlides/notesSlide1.xml" Id="Rb7e35496ac4c4dd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fdae874aa744bda" /><Relationship Type="http://schemas.openxmlformats.org/officeDocument/2006/relationships/notesSlide" Target="/ppt/notesSlides/notesSlide2.xml" Id="Rd4e25c779787470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6a8df4c5af74d64" /><Relationship Type="http://schemas.openxmlformats.org/officeDocument/2006/relationships/notesSlide" Target="/ppt/notesSlides/notesSlide3.xml" Id="R2a6cb0c8e973470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d6cb569b1b24156" /><Relationship Type="http://schemas.openxmlformats.org/officeDocument/2006/relationships/notesSlide" Target="/ppt/notesSlides/notesSlide4.xml" Id="Rdbc09432c68d4d3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0b88f14d8f44e10" /><Relationship Type="http://schemas.openxmlformats.org/officeDocument/2006/relationships/notesSlide" Target="/ppt/notesSlides/notesSlide5.xml" Id="R6e9164a10cb544f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0fc7bd81db94927" /><Relationship Type="http://schemas.openxmlformats.org/officeDocument/2006/relationships/notesSlide" Target="/ppt/notesSlides/notesSlide6.xml" Id="R76026d8beb2345a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480867aa29c4df2" /><Relationship Type="http://schemas.openxmlformats.org/officeDocument/2006/relationships/notesSlide" Target="/ppt/notesSlides/notesSlide7.xml" Id="R708e78f0d1444dc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658eeb5f896434f" /><Relationship Type="http://schemas.openxmlformats.org/officeDocument/2006/relationships/notesSlide" Target="/ppt/notesSlides/notesSlide8.xml" Id="R22b46d4e021b44d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6ce8e013ca540f0" /><Relationship Type="http://schemas.openxmlformats.org/officeDocument/2006/relationships/notesSlide" Target="/ppt/notesSlides/notesSlide9.xml" Id="Re46225a0067b425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efb209a48054d44" /><Relationship Type="http://schemas.openxmlformats.org/officeDocument/2006/relationships/notesSlide" Target="/ppt/notesSlides/notesSlide10.xml" Id="R73439a01e687429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d1b0544962c4816" /><Relationship Type="http://schemas.openxmlformats.org/officeDocument/2006/relationships/notesSlide" Target="/ppt/notesSlides/notesSlide11.xml" Id="R1f641efe7b724b7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787e0ff42eb4831" /><Relationship Type="http://schemas.openxmlformats.org/officeDocument/2006/relationships/notesSlide" Target="/ppt/notesSlides/notesSlide12.xml" Id="R701ca66b173e4d4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2b242e858d44114" /><Relationship Type="http://schemas.openxmlformats.org/officeDocument/2006/relationships/notesSlide" Target="/ppt/notesSlides/notesSlide13.xml" Id="R9f7f9c0957a64df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f5bed44cec442ef" /><Relationship Type="http://schemas.openxmlformats.org/officeDocument/2006/relationships/image" Target="/ppt/media/image2.png" Id="R5b21913a3e974a5e" /><Relationship Type="http://schemas.openxmlformats.org/officeDocument/2006/relationships/notesSlide" Target="/ppt/notesSlides/notesSlide14.xml" Id="Rdef01169a7de408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f4556c83176c4807" /><Relationship Type="http://schemas.openxmlformats.org/officeDocument/2006/relationships/notesSlide" Target="/ppt/notesSlides/notesSlide15.xml" Id="Rabc05b55e8c6426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4185dd229a24d1d" /><Relationship Type="http://schemas.openxmlformats.org/officeDocument/2006/relationships/notesSlide" Target="/ppt/notesSlides/notesSlide16.xml" Id="Rf6906f04512843b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978f44e31814cb7" /><Relationship Type="http://schemas.openxmlformats.org/officeDocument/2006/relationships/notesSlide" Target="/ppt/notesSlides/notesSlide17.xml" Id="R067cd3fd06484d2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9ac9b4febdb4946" /><Relationship Type="http://schemas.openxmlformats.org/officeDocument/2006/relationships/notesSlide" Target="/ppt/notesSlides/notesSlide18.xml" Id="Rb0e030d2509243f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cc6682b8ad54db0" /><Relationship Type="http://schemas.openxmlformats.org/officeDocument/2006/relationships/notesSlide" Target="/ppt/notesSlides/notesSlide19.xml" Id="R3ebef5310ecc409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15ea5d77c5e84172" /><Relationship Type="http://schemas.openxmlformats.org/officeDocument/2006/relationships/notesSlide" Target="/ppt/notesSlides/notesSlide20.xml" Id="R18ae472e987d4c2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9f0caf45b124391" /><Relationship Type="http://schemas.openxmlformats.org/officeDocument/2006/relationships/notesSlide" Target="/ppt/notesSlides/notesSlide21.xml" Id="R5f559f6658aa42a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b4937106db34627" /><Relationship Type="http://schemas.openxmlformats.org/officeDocument/2006/relationships/notesSlide" Target="/ppt/notesSlides/notesSlide22.xml" Id="Rb1b3d0f5d939474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e72526edbbe44bd" /><Relationship Type="http://schemas.openxmlformats.org/officeDocument/2006/relationships/notesSlide" Target="/ppt/notesSlides/notesSlide23.xml" Id="R0a1b4713f7c944b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856bc63798fa4ef3" /><Relationship Type="http://schemas.openxmlformats.org/officeDocument/2006/relationships/notesSlide" Target="/ppt/notesSlides/notesSlide24.xml" Id="R77037add52e9425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4988f406150b4260" /><Relationship Type="http://schemas.openxmlformats.org/officeDocument/2006/relationships/notesSlide" Target="/ppt/notesSlides/notesSlide25.xml" Id="R225a01fbcc60445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95f1a0f111ac4a97" /><Relationship Type="http://schemas.openxmlformats.org/officeDocument/2006/relationships/notesSlide" Target="/ppt/notesSlides/notesSlide26.xml" Id="R8d612f6055a649e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c65d7a1be5749f6" /><Relationship Type="http://schemas.openxmlformats.org/officeDocument/2006/relationships/notesSlide" Target="/ppt/notesSlides/notesSlide27.xml" Id="R236aa30902b04a4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c84368b36684833" /><Relationship Type="http://schemas.openxmlformats.org/officeDocument/2006/relationships/image" Target="/ppt/media/image3.png" Id="Rfefb87ab2ff14cba" /><Relationship Type="http://schemas.openxmlformats.org/officeDocument/2006/relationships/notesSlide" Target="/ppt/notesSlides/notesSlide28.xml" Id="R8b346d2b7f6241e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9b3a75ac8794ffd" /><Relationship Type="http://schemas.openxmlformats.org/officeDocument/2006/relationships/notesSlide" Target="/ppt/notesSlides/notesSlide29.xml" Id="R1de7fdd43f684e6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74ae3d6475745af" /><Relationship Type="http://schemas.openxmlformats.org/officeDocument/2006/relationships/notesSlide" Target="/ppt/notesSlides/notesSlide30.xml" Id="R566937e9422b4ed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fe2f7537a3024d47" /><Relationship Type="http://schemas.openxmlformats.org/officeDocument/2006/relationships/notesSlide" Target="/ppt/notesSlides/notesSlide31.xml" Id="Rbe757cce4c1c47f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1dbdfa7e91694317" /><Relationship Type="http://schemas.openxmlformats.org/officeDocument/2006/relationships/notesSlide" Target="/ppt/notesSlides/notesSlide32.xml" Id="R7df17955f925480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49b4631eb9c4090" /><Relationship Type="http://schemas.openxmlformats.org/officeDocument/2006/relationships/notesSlide" Target="/ppt/notesSlides/notesSlide33.xml" Id="R15903c9eb0054f2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4d334d0427d4c62" /><Relationship Type="http://schemas.openxmlformats.org/officeDocument/2006/relationships/notesSlide" Target="/ppt/notesSlides/notesSlide34.xml" Id="R99807fb0ed5f48f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1ef92605e61a415c" /><Relationship Type="http://schemas.openxmlformats.org/officeDocument/2006/relationships/notesSlide" Target="/ppt/notesSlides/notesSlide35.xml" Id="Rf586a11a7a664b4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fc3e4ae950fa4341" /><Relationship Type="http://schemas.openxmlformats.org/officeDocument/2006/relationships/notesSlide" Target="/ppt/notesSlides/notesSlide36.xml" Id="R8e703d65be34491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019a3bc7c55249d2" /><Relationship Type="http://schemas.openxmlformats.org/officeDocument/2006/relationships/notesSlide" Target="/ppt/notesSlides/notesSlide37.xml" Id="R0062447cd8214f7e"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9fb32652822342de" /><Relationship Type="http://schemas.openxmlformats.org/officeDocument/2006/relationships/notesSlide" Target="/ppt/notesSlides/notesSlide38.xml" Id="Re24c370267d24f20"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6f533d0f7be04599" /><Relationship Type="http://schemas.openxmlformats.org/officeDocument/2006/relationships/notesSlide" Target="/ppt/notesSlides/notesSlide39.xml" Id="R546e862afa914a9a"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a95a3da8469b4c73" /><Relationship Type="http://schemas.openxmlformats.org/officeDocument/2006/relationships/notesSlide" Target="/ppt/notesSlides/notesSlide40.xml" Id="R02f323355493459d"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5643faf1d8494a30" /><Relationship Type="http://schemas.openxmlformats.org/officeDocument/2006/relationships/notesSlide" Target="/ppt/notesSlides/notesSlide41.xml" Id="Rd2f1046e95a2494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a5771574d77e45b4" /><Relationship Type="http://schemas.openxmlformats.org/officeDocument/2006/relationships/notesSlide" Target="/ppt/notesSlides/notesSlide42.xml" Id="Rdac8b9d3b7574a4a"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23e65a1c083d4168" /><Relationship Type="http://schemas.openxmlformats.org/officeDocument/2006/relationships/notesSlide" Target="/ppt/notesSlides/notesSlide43.xml" Id="R7769300c06fc465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3ee81ccdf5aa434a" /><Relationship Type="http://schemas.openxmlformats.org/officeDocument/2006/relationships/notesSlide" Target="/ppt/notesSlides/notesSlide44.xml" Id="Rc2c67d57cad04bf3"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7ce534df861445ee" /><Relationship Type="http://schemas.openxmlformats.org/officeDocument/2006/relationships/hyperlink" Target="https://docs.google.com/forms/d/e/1FAIpQLScHyVpTnSxgMVMvsImyTtkME2QAGZmMg55dBKy2VvQ_0d7fxQ/viewform" TargetMode="External" Id="R53708fd6ad234826" /><Relationship Type="http://schemas.openxmlformats.org/officeDocument/2006/relationships/notesSlide" Target="/ppt/notesSlides/notesSlide45.xml" Id="Rc055a45bff2a42d7"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f5e8ebc4fbc34420" /><Relationship Type="http://schemas.openxmlformats.org/officeDocument/2006/relationships/notesSlide" Target="/ppt/notesSlides/notesSlide46.xml" Id="R036888d7e0984e65"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5097a78cc9bb40b4" /><Relationship Type="http://schemas.openxmlformats.org/officeDocument/2006/relationships/image" Target="/ppt/media/image4.png" Id="R7656e05d55464fdf" /><Relationship Type="http://schemas.openxmlformats.org/officeDocument/2006/relationships/hyperlink" Target="https://forms.gle/i4xkY7g2jn8Q7HXt8" TargetMode="External" Id="Rb645daf0619b4f7a" /><Relationship Type="http://schemas.openxmlformats.org/officeDocument/2006/relationships/notesSlide" Target="/ppt/notesSlides/notesSlide47.xml" Id="R06ea10872099454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5920a0913f834357" /><Relationship Type="http://schemas.openxmlformats.org/officeDocument/2006/relationships/notesSlide" Target="/ppt/notesSlides/notesSlide48.xml" Id="R28888e0325334b31"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a2f9b838d55a43d5" /><Relationship Type="http://schemas.openxmlformats.org/officeDocument/2006/relationships/hyperlink" Target="https://www.youtube.com/watch?v=fHLhBnmwUM0" TargetMode="External" Id="Rd36f925a288d4753" /><Relationship Type="http://schemas.openxmlformats.org/officeDocument/2006/relationships/notesSlide" Target="/ppt/notesSlides/notesSlide49.xml" Id="Rf81337c95fe44ce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df8c0141286a4123"/>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286AF0F-F501-4446-AED1-CD33FDAAB636}"/>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47C2081-3602-4A18-B598-299D448BD1E9}"/>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6</a:t>
            </a:r>
          </a:p>
        </p:txBody>
      </p:sp>
      <p:sp>
        <p:nvSpPr>
          <p:cNvPr id="4" name="">
            <a:extLst xmlns:a="http://schemas.openxmlformats.org/drawingml/2006/main">
              <a:ext uri="{FF2B5EF4-FFF2-40B4-BE49-F238E27FC236}">
                <a16:creationId xmlns:a16="http://schemas.microsoft.com/office/drawing/2014/main" id="{CA4CFCD8-E3DA-480B-AE8E-E22B0E3EEB34}"/>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Cleaning data and explaining changes</a:t>
            </a:r>
          </a:p>
        </p:txBody>
      </p:sp>
      <p:sp>
        <p:nvSpPr>
          <p:cNvPr id="5" name="">
            <a:extLst xmlns:a="http://schemas.openxmlformats.org/drawingml/2006/main">
              <a:ext uri="{FF2B5EF4-FFF2-40B4-BE49-F238E27FC236}">
                <a16:creationId xmlns:a16="http://schemas.microsoft.com/office/drawing/2014/main" id="{2F8C4659-3008-4B88-B43E-A20F182FFCCD}"/>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DD5CF174-5929-4663-92FD-32AE23B24F6B}"/>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13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90792414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2DBFE5E-6548-43FD-80FB-6B76C3BFB4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AF3576-CD11-492B-8220-4C25205070E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B6F01821-C7E7-4594-8084-7EEA5F569E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E668FE44-796B-4D46-8193-13168F10E5AF}"/>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6BB202-125F-4AC9-853B-DB9648267F77}"/>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66E719C7-8176-4AFB-B1A3-40D2275BBE19}"/>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Recognise missing values and repeated records.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 a working copy and record each cleaning action.</a:t>
            </a:r>
          </a:p>
        </p:txBody>
      </p:sp>
      <p:sp>
        <p:nvSpPr>
          <p:cNvPr id="7" name="">
            <a:extLst xmlns:a="http://schemas.openxmlformats.org/drawingml/2006/main">
              <a:ext uri="{FF2B5EF4-FFF2-40B4-BE49-F238E27FC236}">
                <a16:creationId xmlns:a16="http://schemas.microsoft.com/office/drawing/2014/main" id="{83933764-0334-4DC9-B70A-C93E2A1D4D67}"/>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DF89EDCB-9D78-4C5C-9D69-63013BFD11FC}"/>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justify a change, show its effect and identify an estimated value.</a:t>
            </a:r>
          </a:p>
        </p:txBody>
      </p:sp>
      <p:sp>
        <p:nvSpPr>
          <p:cNvPr id="9" name="">
            <a:extLst xmlns:a="http://schemas.openxmlformats.org/drawingml/2006/main">
              <a:ext uri="{FF2B5EF4-FFF2-40B4-BE49-F238E27FC236}">
                <a16:creationId xmlns:a16="http://schemas.microsoft.com/office/drawing/2014/main" id="{114790F4-DE53-4CE9-B5C6-FF13D1DA3A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a:t>
            </a:r>
          </a:p>
        </p:txBody>
      </p:sp>
    </p:spTree>
    <p:extLst>
      <p:ext uri="{BB962C8B-B14F-4D97-AF65-F5344CB8AC3E}">
        <p14:creationId xmlns:p14="http://schemas.microsoft.com/office/powerpoint/2010/main" val="84202805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C0695C8-C10C-47C0-8D80-16CD0A36DA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F6D720-FCE6-4CFD-996D-4FEEFC5699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CB5AD22-5C26-41D2-9EBE-A321F97023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62ED22C7-C61E-4A21-B3D3-BB8785690FB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E1A7D2D-1F94-4904-90F5-A80BD7E6FA9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5 selected and summarised columns.</a:t>
            </a:r>
          </a:p>
        </p:txBody>
      </p:sp>
      <p:sp>
        <p:nvSpPr>
          <p:cNvPr id="6" name="">
            <a:extLst xmlns:a="http://schemas.openxmlformats.org/drawingml/2006/main">
              <a:ext uri="{FF2B5EF4-FFF2-40B4-BE49-F238E27FC236}">
                <a16:creationId xmlns:a16="http://schemas.microsoft.com/office/drawing/2014/main" id="{ACBCEE8F-C5DE-4C37-94CD-0A7A6A4BFC9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trusting those summaries, inspect missing values, repeated observations and measurement units.</a:t>
            </a:r>
          </a:p>
        </p:txBody>
      </p:sp>
      <p:sp>
        <p:nvSpPr>
          <p:cNvPr id="7" name="">
            <a:extLst xmlns:a="http://schemas.openxmlformats.org/drawingml/2006/main">
              <a:ext uri="{FF2B5EF4-FFF2-40B4-BE49-F238E27FC236}">
                <a16:creationId xmlns:a16="http://schemas.microsoft.com/office/drawing/2014/main" id="{848B3420-0445-4402-8AB0-B9BD418DE9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a:t>
            </a:r>
          </a:p>
        </p:txBody>
      </p:sp>
    </p:spTree>
    <p:extLst>
      <p:ext uri="{BB962C8B-B14F-4D97-AF65-F5344CB8AC3E}">
        <p14:creationId xmlns:p14="http://schemas.microsoft.com/office/powerpoint/2010/main" val="159629637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0CE7545-E61A-4E38-B888-D66BA713AC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CBA115-3CB6-4A3A-822D-8221EE33A3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5B5488C-D115-4DCB-B542-5E5450E346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D4923119-65A8-49CD-841B-57C67064CF0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BA0184-C97E-42FB-A8B0-92CCC7F2D31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repeated record or a missing measurement can change a summary.</a:t>
            </a:r>
          </a:p>
        </p:txBody>
      </p:sp>
      <p:sp>
        <p:nvSpPr>
          <p:cNvPr id="6" name="">
            <a:extLst xmlns:a="http://schemas.openxmlformats.org/drawingml/2006/main">
              <a:ext uri="{FF2B5EF4-FFF2-40B4-BE49-F238E27FC236}">
                <a16:creationId xmlns:a16="http://schemas.microsoft.com/office/drawing/2014/main" id="{8AE3BB44-8847-44A7-A54F-1BEDACFB21E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keep the original records, apply the stated cleaning rules and explain each change before plotting.</a:t>
            </a:r>
          </a:p>
        </p:txBody>
      </p:sp>
      <p:sp>
        <p:nvSpPr>
          <p:cNvPr id="7" name="">
            <a:extLst xmlns:a="http://schemas.openxmlformats.org/drawingml/2006/main">
              <a:ext uri="{FF2B5EF4-FFF2-40B4-BE49-F238E27FC236}">
                <a16:creationId xmlns:a16="http://schemas.microsoft.com/office/drawing/2014/main" id="{62CA915F-6480-4D7A-9B98-704A8DA715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a:t>
            </a:r>
          </a:p>
        </p:txBody>
      </p:sp>
    </p:spTree>
    <p:extLst>
      <p:ext uri="{BB962C8B-B14F-4D97-AF65-F5344CB8AC3E}">
        <p14:creationId xmlns:p14="http://schemas.microsoft.com/office/powerpoint/2010/main" val="136252658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733D265-EE4F-4837-BC02-E99889E643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B30A841-3C6C-45BD-B688-0C92313874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D2D6DBE-7CD8-4420-AAF3-A6D976FA02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Raw data and Missing value</a:t>
            </a:r>
          </a:p>
        </p:txBody>
      </p:sp>
      <p:sp>
        <p:nvSpPr>
          <p:cNvPr id="4" name="">
            <a:extLst xmlns:a="http://schemas.openxmlformats.org/drawingml/2006/main">
              <a:ext uri="{FF2B5EF4-FFF2-40B4-BE49-F238E27FC236}">
                <a16:creationId xmlns:a16="http://schemas.microsoft.com/office/drawing/2014/main" id="{34E40B34-0420-4DFF-9C63-79CE7588AD7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7ABBFD-4047-42B4-B003-41D3D12EF95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Raw data</a:t>
            </a:r>
          </a:p>
        </p:txBody>
      </p:sp>
      <p:sp>
        <p:nvSpPr>
          <p:cNvPr id="6" name="">
            <a:extLst xmlns:a="http://schemas.openxmlformats.org/drawingml/2006/main">
              <a:ext uri="{FF2B5EF4-FFF2-40B4-BE49-F238E27FC236}">
                <a16:creationId xmlns:a16="http://schemas.microsoft.com/office/drawing/2014/main" id="{14336729-592D-4517-873E-F5D5A3BD7E3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original supplied records. Keep these unchanged so another person can check your decisions.</a:t>
            </a:r>
          </a:p>
        </p:txBody>
      </p:sp>
      <p:sp>
        <p:nvSpPr>
          <p:cNvPr id="7" name="">
            <a:extLst xmlns:a="http://schemas.openxmlformats.org/drawingml/2006/main">
              <a:ext uri="{FF2B5EF4-FFF2-40B4-BE49-F238E27FC236}">
                <a16:creationId xmlns:a16="http://schemas.microsoft.com/office/drawing/2014/main" id="{07CBC41C-1F1B-42DE-90EF-D3003ABC751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4BA652C-B179-4C98-B756-2C6582928CA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Missing value</a:t>
            </a:r>
          </a:p>
        </p:txBody>
      </p:sp>
      <p:sp>
        <p:nvSpPr>
          <p:cNvPr id="9" name="">
            <a:extLst xmlns:a="http://schemas.openxmlformats.org/drawingml/2006/main">
              <a:ext uri="{FF2B5EF4-FFF2-40B4-BE49-F238E27FC236}">
                <a16:creationId xmlns:a16="http://schemas.microsoft.com/office/drawing/2014/main" id="{4B12BA6E-770A-4B83-BA2B-66137F954B0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that was not recorded, represented here by None in Python records. Missing does not automatically mean zero.</a:t>
            </a:r>
          </a:p>
        </p:txBody>
      </p:sp>
      <p:sp>
        <p:nvSpPr>
          <p:cNvPr id="10" name="">
            <a:extLst xmlns:a="http://schemas.openxmlformats.org/drawingml/2006/main">
              <a:ext uri="{FF2B5EF4-FFF2-40B4-BE49-F238E27FC236}">
                <a16:creationId xmlns:a16="http://schemas.microsoft.com/office/drawing/2014/main" id="{A2BCA6DC-738C-483F-B9F5-0B4A560870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a:t>
            </a:r>
          </a:p>
        </p:txBody>
      </p:sp>
    </p:spTree>
    <p:extLst>
      <p:ext uri="{BB962C8B-B14F-4D97-AF65-F5344CB8AC3E}">
        <p14:creationId xmlns:p14="http://schemas.microsoft.com/office/powerpoint/2010/main" val="71520493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933F32D-0CB8-4191-AF6F-27AD732451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71CDDD-EE2E-4717-B5C4-069384C5D2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06B33D6-E1DC-4764-999B-5A1E713534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 and equipment ID and Median and imputation</a:t>
            </a:r>
          </a:p>
        </p:txBody>
      </p:sp>
      <p:sp>
        <p:nvSpPr>
          <p:cNvPr id="4" name="">
            <a:extLst xmlns:a="http://schemas.openxmlformats.org/drawingml/2006/main">
              <a:ext uri="{FF2B5EF4-FFF2-40B4-BE49-F238E27FC236}">
                <a16:creationId xmlns:a16="http://schemas.microsoft.com/office/drawing/2014/main" id="{11508031-3E96-44BE-AD97-9ED9DB94D9B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BD0069-F9EC-4DF2-B2E0-5E33974017C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Record and equipment ID</a:t>
            </a:r>
          </a:p>
        </p:txBody>
      </p:sp>
      <p:sp>
        <p:nvSpPr>
          <p:cNvPr id="6" name="">
            <a:extLst xmlns:a="http://schemas.openxmlformats.org/drawingml/2006/main">
              <a:ext uri="{FF2B5EF4-FFF2-40B4-BE49-F238E27FC236}">
                <a16:creationId xmlns:a16="http://schemas.microsoft.com/office/drawing/2014/main" id="{0195D370-533D-4B2E-A1CC-90CBD5596EC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ID identifies an observation. An equipment ID identifies the source and may repeat legitimately. Remove repeated observations only under the stated rule.</a:t>
            </a:r>
          </a:p>
        </p:txBody>
      </p:sp>
      <p:sp>
        <p:nvSpPr>
          <p:cNvPr id="7" name="">
            <a:extLst xmlns:a="http://schemas.openxmlformats.org/drawingml/2006/main">
              <a:ext uri="{FF2B5EF4-FFF2-40B4-BE49-F238E27FC236}">
                <a16:creationId xmlns:a16="http://schemas.microsoft.com/office/drawing/2014/main" id="{2C00DDDE-55C1-492B-A147-9EA15CA3CEE2}"/>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727DD20-6BC2-4D28-8829-EF0B23B45C5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Median and imputation</a:t>
            </a:r>
          </a:p>
        </p:txBody>
      </p:sp>
      <p:sp>
        <p:nvSpPr>
          <p:cNvPr id="9" name="">
            <a:extLst xmlns:a="http://schemas.openxmlformats.org/drawingml/2006/main">
              <a:ext uri="{FF2B5EF4-FFF2-40B4-BE49-F238E27FC236}">
                <a16:creationId xmlns:a16="http://schemas.microsoft.com/office/drawing/2014/main" id="{0CF721A2-E475-4A05-A30E-22C3193C9EF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median is the middle sorted value, or the mean of the two middle values. Imputation fills a missing value using an explicit rule and introduces uncertainty.</a:t>
            </a:r>
          </a:p>
        </p:txBody>
      </p:sp>
      <p:sp>
        <p:nvSpPr>
          <p:cNvPr id="10" name="">
            <a:extLst xmlns:a="http://schemas.openxmlformats.org/drawingml/2006/main">
              <a:ext uri="{FF2B5EF4-FFF2-40B4-BE49-F238E27FC236}">
                <a16:creationId xmlns:a16="http://schemas.microsoft.com/office/drawing/2014/main" id="{E51F2222-85F4-469D-B996-652401D588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6</a:t>
            </a:r>
          </a:p>
        </p:txBody>
      </p:sp>
    </p:spTree>
    <p:extLst>
      <p:ext uri="{BB962C8B-B14F-4D97-AF65-F5344CB8AC3E}">
        <p14:creationId xmlns:p14="http://schemas.microsoft.com/office/powerpoint/2010/main" val="191660853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A28F6DB-9692-431B-8204-5397DD0AEF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1E9E41-4D35-4FBC-BFF9-8682A715D4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40E1607-C87E-44E6-881E-FD6D76659A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unusual value needs a reason</a:t>
            </a:r>
          </a:p>
        </p:txBody>
      </p:sp>
      <p:sp>
        <p:nvSpPr>
          <p:cNvPr id="4" name="">
            <a:extLst xmlns:a="http://schemas.openxmlformats.org/drawingml/2006/main">
              <a:ext uri="{FF2B5EF4-FFF2-40B4-BE49-F238E27FC236}">
                <a16:creationId xmlns:a16="http://schemas.microsoft.com/office/drawing/2014/main" id="{023C9D63-3BFF-4F8E-A7C3-C5F915C2254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89701B0-6BFD-40C9-BAC9-E37102F9173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missing reading has no recorded value.</a:t>
            </a:r>
          </a:p>
        </p:txBody>
      </p:sp>
      <p:sp>
        <p:nvSpPr>
          <p:cNvPr id="6" name="">
            <a:extLst xmlns:a="http://schemas.openxmlformats.org/drawingml/2006/main">
              <a:ext uri="{FF2B5EF4-FFF2-40B4-BE49-F238E27FC236}">
                <a16:creationId xmlns:a16="http://schemas.microsoft.com/office/drawing/2014/main" id="{F8B6C0E2-6EC5-44C4-B6D8-479918ECBEF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D5869C-EBDA-4507-9971-8BC5572441E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Zero is a recorded value and may be physically meaningful.</a:t>
            </a:r>
          </a:p>
        </p:txBody>
      </p:sp>
      <p:sp>
        <p:nvSpPr>
          <p:cNvPr id="8" name="">
            <a:extLst xmlns:a="http://schemas.openxmlformats.org/drawingml/2006/main">
              <a:ext uri="{FF2B5EF4-FFF2-40B4-BE49-F238E27FC236}">
                <a16:creationId xmlns:a16="http://schemas.microsoft.com/office/drawing/2014/main" id="{3A46B6BF-1FA1-4ECE-89AA-F13FF2DD8C1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DF54E4-A63D-4435-B7B8-F1B05DE6055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large or negative value needs instrument and unit context.</a:t>
            </a:r>
          </a:p>
        </p:txBody>
      </p:sp>
      <p:sp>
        <p:nvSpPr>
          <p:cNvPr id="10" name="">
            <a:extLst xmlns:a="http://schemas.openxmlformats.org/drawingml/2006/main">
              <a:ext uri="{FF2B5EF4-FFF2-40B4-BE49-F238E27FC236}">
                <a16:creationId xmlns:a16="http://schemas.microsoft.com/office/drawing/2014/main" id="{D4E13937-8BFB-4C80-8733-C8961B29FA6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C9477A7-C045-4221-A6F1-84EA6C853B8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Preserve the raw data and record every cleaning decision.</a:t>
            </a:r>
          </a:p>
        </p:txBody>
      </p:sp>
      <p:sp>
        <p:nvSpPr>
          <p:cNvPr id="12" name="">
            <a:extLst xmlns:a="http://schemas.openxmlformats.org/drawingml/2006/main">
              <a:ext uri="{FF2B5EF4-FFF2-40B4-BE49-F238E27FC236}">
                <a16:creationId xmlns:a16="http://schemas.microsoft.com/office/drawing/2014/main" id="{347CFA36-771C-4DA3-AC12-7F44E21988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7</a:t>
            </a:r>
          </a:p>
        </p:txBody>
      </p:sp>
    </p:spTree>
    <p:extLst>
      <p:ext uri="{BB962C8B-B14F-4D97-AF65-F5344CB8AC3E}">
        <p14:creationId xmlns:p14="http://schemas.microsoft.com/office/powerpoint/2010/main" val="195589461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E31887E-F250-458C-937E-AF5A7A36D6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A35DF21-CB00-4494-92B7-6D6F504285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97EED9E-766D-4790-BD1C-6F9820C128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 median and unusual readings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Readings</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a:t>
                      </a:r>
                    </a:p>
                  </a:txBody>
                  <a:tcPr marL="91440" marR="91440" marT="45720" marB="45720">
                    <a:solidFill>
                      <a:srgbClr val="2E7D6F"/>
                    </a:solidFill>
                  </a:tcPr>
                </a:tc>
                <a:tc>
                  <a:txBody>
                    <a:bodyPr/>
                    <a:lstStyle/>
                    <a:p>
                      <a:r>
                        <a:rPr sz="2025" b="1">
                          <a:solidFill>
                            <a:srgbClr val="FFFFFF"/>
                          </a:solidFill>
                          <a:latin typeface="Calibri"/>
                          <a:ea typeface="Calibri"/>
                          <a:cs typeface="Calibri"/>
                        </a:rPr>
                        <a:t>Median</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2, 4, 30</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3603C89-0AEB-4970-93A8-5B016BF1FB04}"/>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mean uses every value. The median is the middle sorted value. A large value needs context.</a:t>
            </a:r>
          </a:p>
        </p:txBody>
      </p:sp>
      <p:sp>
        <p:nvSpPr>
          <p:cNvPr id="6" name="">
            <a:extLst xmlns:a="http://schemas.openxmlformats.org/drawingml/2006/main">
              <a:ext uri="{FF2B5EF4-FFF2-40B4-BE49-F238E27FC236}">
                <a16:creationId xmlns:a16="http://schemas.microsoft.com/office/drawing/2014/main" id="{23ABA168-9FB5-472B-93C2-652FA33472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8</a:t>
            </a:r>
          </a:p>
        </p:txBody>
      </p:sp>
    </p:spTree>
    <p:extLst>
      <p:ext uri="{BB962C8B-B14F-4D97-AF65-F5344CB8AC3E}">
        <p14:creationId xmlns:p14="http://schemas.microsoft.com/office/powerpoint/2010/main" val="155845470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3E82F8C-0ADB-4FF9-8F2F-39B4127495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591B34-346B-48D9-B87D-B7D52C1D2D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56D2C55-0855-42E9-89CA-BC7683EB0A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Filling a gap adds an estimate</a:t>
            </a:r>
          </a:p>
        </p:txBody>
      </p:sp>
      <p:sp>
        <p:nvSpPr>
          <p:cNvPr id="4" name="">
            <a:extLst xmlns:a="http://schemas.openxmlformats.org/drawingml/2006/main">
              <a:ext uri="{FF2B5EF4-FFF2-40B4-BE49-F238E27FC236}">
                <a16:creationId xmlns:a16="http://schemas.microsoft.com/office/drawing/2014/main" id="{CD47AC8A-61D5-4DDA-95F0-7F5C8741CBE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1E5640B-536D-4D5D-AC6F-B0E3D790A72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valid readings, sorted, are 20, 22, 24 and 80.</a:t>
            </a:r>
          </a:p>
        </p:txBody>
      </p:sp>
      <p:sp>
        <p:nvSpPr>
          <p:cNvPr id="6" name="">
            <a:extLst xmlns:a="http://schemas.openxmlformats.org/drawingml/2006/main">
              <a:ext uri="{FF2B5EF4-FFF2-40B4-BE49-F238E27FC236}">
                <a16:creationId xmlns:a16="http://schemas.microsoft.com/office/drawing/2014/main" id="{A929F2FB-A3FA-4E1C-8973-974C18E78F8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BD3D560-FD52-4CCB-BA01-100B7D6AD71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middle values are 22 and 24. Their mean is 23.</a:t>
            </a:r>
          </a:p>
        </p:txBody>
      </p:sp>
      <p:sp>
        <p:nvSpPr>
          <p:cNvPr id="8" name="">
            <a:extLst xmlns:a="http://schemas.openxmlformats.org/drawingml/2006/main">
              <a:ext uri="{FF2B5EF4-FFF2-40B4-BE49-F238E27FC236}">
                <a16:creationId xmlns:a16="http://schemas.microsoft.com/office/drawing/2014/main" id="{4F1E5E1F-9B75-402E-B91F-43E52A4C5EB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8831E2E-C71C-4E19-B858-5CB7D2BC961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23 for a blank is a declared cleaning rule. It does not recover the lost measurement.</a:t>
            </a:r>
          </a:p>
        </p:txBody>
      </p:sp>
      <p:sp>
        <p:nvSpPr>
          <p:cNvPr id="10" name="">
            <a:extLst xmlns:a="http://schemas.openxmlformats.org/drawingml/2006/main">
              <a:ext uri="{FF2B5EF4-FFF2-40B4-BE49-F238E27FC236}">
                <a16:creationId xmlns:a16="http://schemas.microsoft.com/office/drawing/2014/main" id="{FCEDDF11-FF7D-477F-A804-9478DCCA5E3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C7C764E-3955-4A3D-AE5B-6DCD75EA9AD5}"/>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Python, value is None tests for a missing marker. is not None tests that it is not that marker.</a:t>
            </a:r>
          </a:p>
        </p:txBody>
      </p:sp>
      <p:sp>
        <p:nvSpPr>
          <p:cNvPr id="12" name="">
            <a:extLst xmlns:a="http://schemas.openxmlformats.org/drawingml/2006/main">
              <a:ext uri="{FF2B5EF4-FFF2-40B4-BE49-F238E27FC236}">
                <a16:creationId xmlns:a16="http://schemas.microsoft.com/office/drawing/2014/main" id="{2B97B5E7-9944-4082-918B-501A96FCC7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9</a:t>
            </a:r>
          </a:p>
        </p:txBody>
      </p:sp>
    </p:spTree>
    <p:extLst>
      <p:ext uri="{BB962C8B-B14F-4D97-AF65-F5344CB8AC3E}">
        <p14:creationId xmlns:p14="http://schemas.microsoft.com/office/powerpoint/2010/main" val="157509732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E72F89F-3AD5-4780-B7FE-350E5218EC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2D7ADA-C9D0-4558-A06D-584E6577A0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ECFDDA9-BE6D-4EE6-BA1C-F06760600B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in Python (1/2)</a:t>
            </a:r>
          </a:p>
        </p:txBody>
      </p:sp>
      <p:sp>
        <p:nvSpPr>
          <p:cNvPr id="4" name="">
            <a:extLst xmlns:a="http://schemas.openxmlformats.org/drawingml/2006/main">
              <a:ext uri="{FF2B5EF4-FFF2-40B4-BE49-F238E27FC236}">
                <a16:creationId xmlns:a16="http://schemas.microsoft.com/office/drawing/2014/main" id="{4CB9D957-F5B9-4CAF-B1BC-7697813D151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BD9909-2803-459E-A460-F97E4667B25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statistics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[20,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 22, 24, 80]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known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not 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known.append(value)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fill = median(known)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cleaned = []</a:t>
            </a:r>
          </a:p>
        </p:txBody>
      </p:sp>
      <p:sp>
        <p:nvSpPr>
          <p:cNvPr id="6" name="">
            <a:extLst xmlns:a="http://schemas.openxmlformats.org/drawingml/2006/main">
              <a:ext uri="{FF2B5EF4-FFF2-40B4-BE49-F238E27FC236}">
                <a16:creationId xmlns:a16="http://schemas.microsoft.com/office/drawing/2014/main" id="{811F3B3B-0F38-4F5A-A000-EA5C0704734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F4D3E3E-8B7D-4F91-B56D-7E876961016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C85C4D19-91F6-4252-992F-DE3452BD102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9" name="">
            <a:extLst xmlns:a="http://schemas.openxmlformats.org/drawingml/2006/main">
              <a:ext uri="{FF2B5EF4-FFF2-40B4-BE49-F238E27FC236}">
                <a16:creationId xmlns:a16="http://schemas.microsoft.com/office/drawing/2014/main" id="{DA385F07-9F6B-49FD-93D7-F96B45D58A6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10" name="">
            <a:extLst xmlns:a="http://schemas.openxmlformats.org/drawingml/2006/main">
              <a:ext uri="{FF2B5EF4-FFF2-40B4-BE49-F238E27FC236}">
                <a16:creationId xmlns:a16="http://schemas.microsoft.com/office/drawing/2014/main" id="{650F5682-8EC1-43F9-8C27-A2D02A8B0A7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1A5453B1-3358-4A2D-A188-286A9E1617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10</a:t>
            </a:r>
          </a:p>
        </p:txBody>
      </p:sp>
    </p:spTree>
    <p:extLst>
      <p:ext uri="{BB962C8B-B14F-4D97-AF65-F5344CB8AC3E}">
        <p14:creationId xmlns:p14="http://schemas.microsoft.com/office/powerpoint/2010/main" val="185997897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23321EA-B68A-4CC8-AD8D-9E7FD81FF3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F11863-C891-41C3-86F1-5E09D7AC69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3180C83-0B34-493B-ADE7-FEEE910504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in Python (2/2)</a:t>
            </a:r>
          </a:p>
        </p:txBody>
      </p:sp>
      <p:sp>
        <p:nvSpPr>
          <p:cNvPr id="4" name="">
            <a:extLst xmlns:a="http://schemas.openxmlformats.org/drawingml/2006/main">
              <a:ext uri="{FF2B5EF4-FFF2-40B4-BE49-F238E27FC236}">
                <a16:creationId xmlns:a16="http://schemas.microsoft.com/office/drawing/2014/main" id="{A7EE1140-05E4-4F83-9755-BB9856FD05F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052A8D-2134-4BAE-BBAB-049A360A43D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cleaned.append(fill)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cleaned.append(value)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print(cleaned)</a:t>
            </a:r>
          </a:p>
        </p:txBody>
      </p:sp>
      <p:sp>
        <p:nvSpPr>
          <p:cNvPr id="6" name="">
            <a:extLst xmlns:a="http://schemas.openxmlformats.org/drawingml/2006/main">
              <a:ext uri="{FF2B5EF4-FFF2-40B4-BE49-F238E27FC236}">
                <a16:creationId xmlns:a16="http://schemas.microsoft.com/office/drawing/2014/main" id="{B03C7DD1-FE39-4EDD-9D30-B024E4E070B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218FA3E-EBE4-4A2E-BD17-B2C98DD9003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5DDE9726-ED67-448E-B03E-BB3DC9C60D2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E8D2F6A3-BC91-4CC9-8457-7AEFF5BE444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B057EB06-4400-4412-B2C4-39A37B8873D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5AD7255F-C57B-4588-AAE7-B494DF7650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11</a:t>
            </a:r>
          </a:p>
        </p:txBody>
      </p:sp>
    </p:spTree>
    <p:extLst>
      <p:ext uri="{BB962C8B-B14F-4D97-AF65-F5344CB8AC3E}">
        <p14:creationId xmlns:p14="http://schemas.microsoft.com/office/powerpoint/2010/main" val="20973350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D872E22-EFBF-4EE9-8991-91C603B9D8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317051-74AE-4E38-9FB6-82815F424B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BF16010D-7D2C-4F72-9F61-8692C5BF40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results</a:t>
            </a:r>
          </a:p>
        </p:txBody>
      </p:sp>
      <p:sp>
        <p:nvSpPr>
          <p:cNvPr id="4" name="">
            <a:extLst xmlns:a="http://schemas.openxmlformats.org/drawingml/2006/main">
              <a:ext uri="{FF2B5EF4-FFF2-40B4-BE49-F238E27FC236}">
                <a16:creationId xmlns:a16="http://schemas.microsoft.com/office/drawing/2014/main" id="{B3F24BB3-62F4-43B0-8E0A-EE5302150267}"/>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260E0F-5854-4805-B159-620BD624D0FE}"/>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23.0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[20, None, 22, 24, 80]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[20, 23.0, 22, 24, 80]</a:t>
            </a:r>
          </a:p>
        </p:txBody>
      </p:sp>
      <p:sp>
        <p:nvSpPr>
          <p:cNvPr id="6" name="">
            <a:extLst xmlns:a="http://schemas.openxmlformats.org/drawingml/2006/main">
              <a:ext uri="{FF2B5EF4-FFF2-40B4-BE49-F238E27FC236}">
                <a16:creationId xmlns:a16="http://schemas.microsoft.com/office/drawing/2014/main" id="{7A5ACFCC-D7E6-488A-981B-2A2C4D850301}"/>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91086989-B418-4325-BFA5-14C678B49E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12</a:t>
            </a:r>
          </a:p>
        </p:txBody>
      </p:sp>
    </p:spTree>
    <p:extLst>
      <p:ext uri="{BB962C8B-B14F-4D97-AF65-F5344CB8AC3E}">
        <p14:creationId xmlns:p14="http://schemas.microsoft.com/office/powerpoint/2010/main" val="34900503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3DA7FA0-93A2-474C-A2C6-AC89BA840F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FCBBA4-EA1B-4DAD-84D7-8321062699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5BE9A81-FF1B-4A66-99D8-E5F5EA1579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Copy a record and remember an ID</a:t>
            </a:r>
          </a:p>
        </p:txBody>
      </p:sp>
      <p:sp>
        <p:nvSpPr>
          <p:cNvPr id="4" name="">
            <a:extLst xmlns:a="http://schemas.openxmlformats.org/drawingml/2006/main">
              <a:ext uri="{FF2B5EF4-FFF2-40B4-BE49-F238E27FC236}">
                <a16:creationId xmlns:a16="http://schemas.microsoft.com/office/drawing/2014/main" id="{5429F8C2-0B6D-4318-A7AA-F959975305E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7C0384-2D53-422B-873B-34CC4E8B474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dict(row)</a:t>
            </a:r>
          </a:p>
        </p:txBody>
      </p:sp>
      <p:sp>
        <p:nvSpPr>
          <p:cNvPr id="6" name="">
            <a:extLst xmlns:a="http://schemas.openxmlformats.org/drawingml/2006/main">
              <a:ext uri="{FF2B5EF4-FFF2-40B4-BE49-F238E27FC236}">
                <a16:creationId xmlns:a16="http://schemas.microsoft.com/office/drawing/2014/main" id="{D85E1103-2795-4336-8115-50F38A1E21A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our flat records, dict(row) makes a separate dictionary with the same fields. Changing a number in the copy leaves the original record unchanged.</a:t>
            </a:r>
          </a:p>
        </p:txBody>
      </p:sp>
      <p:sp>
        <p:nvSpPr>
          <p:cNvPr id="7" name="">
            <a:extLst xmlns:a="http://schemas.openxmlformats.org/drawingml/2006/main">
              <a:ext uri="{FF2B5EF4-FFF2-40B4-BE49-F238E27FC236}">
                <a16:creationId xmlns:a16="http://schemas.microsoft.com/office/drawing/2014/main" id="{7B1A5A04-2736-4C0A-AE0B-15A70F307D4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EFFD16A-6625-4235-9FC0-8FA4461E6F3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set, in, add and continue</a:t>
            </a:r>
          </a:p>
        </p:txBody>
      </p:sp>
      <p:sp>
        <p:nvSpPr>
          <p:cNvPr id="9" name="">
            <a:extLst xmlns:a="http://schemas.openxmlformats.org/drawingml/2006/main">
              <a:ext uri="{FF2B5EF4-FFF2-40B4-BE49-F238E27FC236}">
                <a16:creationId xmlns:a16="http://schemas.microsoft.com/office/drawing/2014/main" id="{9EC8B132-AA8E-4720-9354-9FB053FD1C1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set() starts an empty collection of unique items. in checks membership; add remembers an item. continue skips the rest of the current loop pass.</a:t>
            </a:r>
          </a:p>
        </p:txBody>
      </p:sp>
      <p:sp>
        <p:nvSpPr>
          <p:cNvPr id="10" name="">
            <a:extLst xmlns:a="http://schemas.openxmlformats.org/drawingml/2006/main">
              <a:ext uri="{FF2B5EF4-FFF2-40B4-BE49-F238E27FC236}">
                <a16:creationId xmlns:a16="http://schemas.microsoft.com/office/drawing/2014/main" id="{F45FD134-15BD-443F-B6D7-E649DB43E5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13</a:t>
            </a:r>
          </a:p>
        </p:txBody>
      </p:sp>
    </p:spTree>
    <p:extLst>
      <p:ext uri="{BB962C8B-B14F-4D97-AF65-F5344CB8AC3E}">
        <p14:creationId xmlns:p14="http://schemas.microsoft.com/office/powerpoint/2010/main" val="172726297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8DF273D-2FA0-4343-8542-C55C29E6C1FB}"/>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45CF5C-9C4B-4757-9249-A4E6C89E9638}"/>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working copy preserves the original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5b21913a3e974a5e"/>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0F6AF25-2DA3-4BC1-AF81-4657ACA80091}"/>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F12C3A4-A7B1-4DCD-81A3-0D47CC9246B5}"/>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In this separate four-record example, remove one repeated C record and fill B with (20 + 24) / 2 = 22.</a:t>
            </a:r>
          </a:p>
        </p:txBody>
      </p:sp>
      <p:sp>
        <p:nvSpPr>
          <p:cNvPr id="6" name="">
            <a:extLst xmlns:a="http://schemas.openxmlformats.org/drawingml/2006/main">
              <a:ext uri="{FF2B5EF4-FFF2-40B4-BE49-F238E27FC236}">
                <a16:creationId xmlns:a16="http://schemas.microsoft.com/office/drawing/2014/main" id="{59CB9574-5ECB-4392-B38D-CF6D79D22D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14</a:t>
            </a:r>
          </a:p>
        </p:txBody>
      </p:sp>
    </p:spTree>
    <p:extLst>
      <p:ext uri="{BB962C8B-B14F-4D97-AF65-F5344CB8AC3E}">
        <p14:creationId xmlns:p14="http://schemas.microsoft.com/office/powerpoint/2010/main" val="90945882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EF53007-F2C0-4D96-B2C0-AE3AB38E4B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29600A-871C-4341-B713-B51CEBA8A7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927FA68-D442-48E5-8DED-A6979CB5D4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Copies and duplicate checks</a:t>
            </a:r>
          </a:p>
        </p:txBody>
      </p:sp>
      <p:sp>
        <p:nvSpPr>
          <p:cNvPr id="4" name="">
            <a:extLst xmlns:a="http://schemas.openxmlformats.org/drawingml/2006/main">
              <a:ext uri="{FF2B5EF4-FFF2-40B4-BE49-F238E27FC236}">
                <a16:creationId xmlns:a16="http://schemas.microsoft.com/office/drawing/2014/main" id="{36AF9CCC-6E45-484E-9FEC-46009BEDDDE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60CB79-413B-44E2-AE65-5EA665F8019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row = {"id":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copy = dict(row)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copy["reading"] =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p:txBody>
      </p:sp>
      <p:sp>
        <p:nvSpPr>
          <p:cNvPr id="6" name="">
            <a:extLst xmlns:a="http://schemas.openxmlformats.org/drawingml/2006/main">
              <a:ext uri="{FF2B5EF4-FFF2-40B4-BE49-F238E27FC236}">
                <a16:creationId xmlns:a16="http://schemas.microsoft.com/office/drawing/2014/main" id="{E31AF2A2-7142-432E-9AE3-B5522867F7A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C055E0E-2E5E-43CA-8417-32D6C881823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2D5CEA1E-A46B-4A2B-BBA2-B4C4E33C29D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2D9ED76A-0924-46F6-AB83-1099452AC35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Braces hold dictionary key: value pairs here.</a:t>
            </a:r>
          </a:p>
        </p:txBody>
      </p:sp>
      <p:sp>
        <p:nvSpPr>
          <p:cNvPr id="10" name="">
            <a:extLst xmlns:a="http://schemas.openxmlformats.org/drawingml/2006/main">
              <a:ext uri="{FF2B5EF4-FFF2-40B4-BE49-F238E27FC236}">
                <a16:creationId xmlns:a16="http://schemas.microsoft.com/office/drawing/2014/main" id="{19FE8543-236C-4015-B348-9D3BF246B3A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dict(row) makes a shallow copy. A set keeps unique IDs.</a:t>
            </a:r>
          </a:p>
        </p:txBody>
      </p:sp>
      <p:sp>
        <p:nvSpPr>
          <p:cNvPr id="11" name="">
            <a:extLst xmlns:a="http://schemas.openxmlformats.org/drawingml/2006/main">
              <a:ext uri="{FF2B5EF4-FFF2-40B4-BE49-F238E27FC236}">
                <a16:creationId xmlns:a16="http://schemas.microsoft.com/office/drawing/2014/main" id="{D2F44B61-EAAF-4C71-B42B-0DDC306408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15</a:t>
            </a:r>
          </a:p>
        </p:txBody>
      </p:sp>
    </p:spTree>
    <p:extLst>
      <p:ext uri="{BB962C8B-B14F-4D97-AF65-F5344CB8AC3E}">
        <p14:creationId xmlns:p14="http://schemas.microsoft.com/office/powerpoint/2010/main" val="50680105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F235A0A-0387-484E-8FED-5C235C9645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3B24B3-0F56-4FB5-B404-C98869EC03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63A8EA7-9109-4741-B56C-F3F6B00706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Following a cleaning loop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seen = set()</a:t>
                      </a:r>
                    </a:p>
                  </a:txBody>
                  <a:tcPr marL="91440" marR="91440" marT="45720" marB="45720">
                    <a:solidFill>
                      <a:srgbClr val="EEF3F6"/>
                    </a:solidFill>
                  </a:tcPr>
                </a:tc>
                <a:tc>
                  <a:txBody>
                    <a:bodyPr/>
                    <a:lstStyle/>
                    <a:p>
                      <a:r>
                        <a:rPr sz="2025" b="0">
                          <a:solidFill>
                            <a:srgbClr val="1C3144"/>
                          </a:solidFill>
                          <a:latin typeface="Calibri"/>
                          <a:ea typeface="Calibri"/>
                          <a:cs typeface="Calibri"/>
                        </a:rPr>
                        <a:t>Start an empty collection of IDs</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record_id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Has this ID already been recorded?</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continue</a:t>
                      </a:r>
                    </a:p>
                  </a:txBody>
                  <a:tcPr marL="91440" marR="91440" marT="45720" marB="45720">
                    <a:solidFill>
                      <a:srgbClr val="EEF3F6"/>
                    </a:solidFill>
                  </a:tcPr>
                </a:tc>
                <a:tc>
                  <a:txBody>
                    <a:bodyPr/>
                    <a:lstStyle/>
                    <a:p>
                      <a:r>
                        <a:rPr sz="2025" b="0">
                          <a:solidFill>
                            <a:srgbClr val="1C3144"/>
                          </a:solidFill>
                          <a:latin typeface="Calibri"/>
                          <a:ea typeface="Calibri"/>
                          <a:cs typeface="Calibri"/>
                        </a:rPr>
                        <a:t>Skip the remaining lines for this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value is None</a:t>
                      </a:r>
                    </a:p>
                  </a:txBody>
                  <a:tcPr marL="91440" marR="91440" marT="45720" marB="45720">
                    <a:solidFill>
                      <a:srgbClr val="FFFFFF"/>
                    </a:solidFill>
                  </a:tcPr>
                </a:tc>
                <a:tc>
                  <a:txBody>
                    <a:bodyPr/>
                    <a:lstStyle/>
                    <a:p>
                      <a:r>
                        <a:rPr sz="2025" b="0">
                          <a:solidFill>
                            <a:srgbClr val="1C3144"/>
                          </a:solidFill>
                          <a:latin typeface="Calibri"/>
                          <a:ea typeface="Calibri"/>
                          <a:cs typeface="Calibri"/>
                        </a:rPr>
                        <a:t>Check for Python’s no-value marker</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613B933-7760-4A16-A4DD-B922B1FC546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string "" and None are different values. Parse CSV fields according to the issued rule.</a:t>
            </a:r>
          </a:p>
        </p:txBody>
      </p:sp>
      <p:sp>
        <p:nvSpPr>
          <p:cNvPr id="6" name="">
            <a:extLst xmlns:a="http://schemas.openxmlformats.org/drawingml/2006/main">
              <a:ext uri="{FF2B5EF4-FFF2-40B4-BE49-F238E27FC236}">
                <a16:creationId xmlns:a16="http://schemas.microsoft.com/office/drawing/2014/main" id="{59B153F5-8A26-462B-832B-CC49C2DDB0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16</a:t>
            </a:r>
          </a:p>
        </p:txBody>
      </p:sp>
    </p:spTree>
    <p:extLst>
      <p:ext uri="{BB962C8B-B14F-4D97-AF65-F5344CB8AC3E}">
        <p14:creationId xmlns:p14="http://schemas.microsoft.com/office/powerpoint/2010/main" val="152823344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AC4ED18-1B91-4CE0-88E3-065904743EB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662524-6CD2-4862-977F-1DD9280C1A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24BA0AD-D3A0-4BE9-9476-B6918414F2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Copying records and recognising repeats in Python (1/2)</a:t>
            </a:r>
          </a:p>
        </p:txBody>
      </p:sp>
      <p:sp>
        <p:nvSpPr>
          <p:cNvPr id="4" name="">
            <a:extLst xmlns:a="http://schemas.openxmlformats.org/drawingml/2006/main">
              <a:ext uri="{FF2B5EF4-FFF2-40B4-BE49-F238E27FC236}">
                <a16:creationId xmlns:a16="http://schemas.microsoft.com/office/drawing/2014/main" id="{82945338-99DC-454F-9A25-8AA5D7731E3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7815AF-9A0E-4E1C-B7F0-3DDC006D28A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raw_records = [{"id": 1, "equipment": "A", "value":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{"id": 1, "equipment": "A", "value":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{"id": 2, "equipment": "A", "value": 12}]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kept = []</a:t>
            </a:r>
          </a:p>
        </p:txBody>
      </p:sp>
      <p:sp>
        <p:nvSpPr>
          <p:cNvPr id="6" name="">
            <a:extLst xmlns:a="http://schemas.openxmlformats.org/drawingml/2006/main">
              <a:ext uri="{FF2B5EF4-FFF2-40B4-BE49-F238E27FC236}">
                <a16:creationId xmlns:a16="http://schemas.microsoft.com/office/drawing/2014/main" id="{F2D07078-9FEC-4E89-95ED-1211F90FE33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Square brackets create a list or select an item.</a:t>
            </a:r>
          </a:p>
        </p:txBody>
      </p:sp>
      <p:sp>
        <p:nvSpPr>
          <p:cNvPr id="7" name="">
            <a:extLst xmlns:a="http://schemas.openxmlformats.org/drawingml/2006/main">
              <a:ext uri="{FF2B5EF4-FFF2-40B4-BE49-F238E27FC236}">
                <a16:creationId xmlns:a16="http://schemas.microsoft.com/office/drawing/2014/main" id="{884EFF23-D063-4200-92E5-13678FAA9E7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07E3BBB9-CB4F-4E84-BF36-B5F6CC9177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17</a:t>
            </a:r>
          </a:p>
        </p:txBody>
      </p:sp>
    </p:spTree>
    <p:extLst>
      <p:ext uri="{BB962C8B-B14F-4D97-AF65-F5344CB8AC3E}">
        <p14:creationId xmlns:p14="http://schemas.microsoft.com/office/powerpoint/2010/main" val="111767681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23A30C5-1860-40CA-AA68-ED173F46BA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2A4E32-D92E-4A4B-9C90-7D58E9E761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0869CB2-5E99-4E36-B863-5F90D40FBB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Copying records and recognising repeats in Python (2/2)</a:t>
            </a:r>
          </a:p>
        </p:txBody>
      </p:sp>
      <p:sp>
        <p:nvSpPr>
          <p:cNvPr id="4" name="">
            <a:extLst xmlns:a="http://schemas.openxmlformats.org/drawingml/2006/main">
              <a:ext uri="{FF2B5EF4-FFF2-40B4-BE49-F238E27FC236}">
                <a16:creationId xmlns:a16="http://schemas.microsoft.com/office/drawing/2014/main" id="{0A5BE840-6914-4C9B-8E6C-FD34A172FF8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23CD0FB-2BE2-4A7F-A1D9-2E5BBD4E693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raw_records: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row["id"]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seen.add(row["id"])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kept.append(dict(row))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print(len(raw_records), len(kept))</a:t>
            </a:r>
          </a:p>
        </p:txBody>
      </p:sp>
      <p:sp>
        <p:nvSpPr>
          <p:cNvPr id="6" name="">
            <a:extLst xmlns:a="http://schemas.openxmlformats.org/drawingml/2006/main">
              <a:ext uri="{FF2B5EF4-FFF2-40B4-BE49-F238E27FC236}">
                <a16:creationId xmlns:a16="http://schemas.microsoft.com/office/drawing/2014/main" id="{CC661DAC-522E-4705-B175-3DA4171CB78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D0F034F-65D8-4329-8C7F-9805AE764AC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33CE9A34-FCEE-4B6D-8AED-948F1AD557D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3D08CD54-9756-4FBB-87A5-0989893EB514}"/>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253C842B-6953-4EB1-8604-F7E9FD57441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8CEB2131-8C1B-4A6C-83CB-8CDFD691D1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18</a:t>
            </a:r>
          </a:p>
        </p:txBody>
      </p:sp>
    </p:spTree>
    <p:extLst>
      <p:ext uri="{BB962C8B-B14F-4D97-AF65-F5344CB8AC3E}">
        <p14:creationId xmlns:p14="http://schemas.microsoft.com/office/powerpoint/2010/main" val="166344958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8B2B448-3B10-482E-B737-A2D19CC11B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F670A9A-21E8-47C8-ACF9-26BFA4D96E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25864EB-8610-40B7-8BCA-0E1D176438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returned as a dictionary</a:t>
            </a:r>
          </a:p>
        </p:txBody>
      </p:sp>
      <p:sp>
        <p:nvSpPr>
          <p:cNvPr id="4" name="">
            <a:extLst xmlns:a="http://schemas.openxmlformats.org/drawingml/2006/main">
              <a:ext uri="{FF2B5EF4-FFF2-40B4-BE49-F238E27FC236}">
                <a16:creationId xmlns:a16="http://schemas.microsoft.com/office/drawing/2014/main" id="{E0D74344-9E00-4509-8B99-6368A18F962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8AE4FAD-3922-4115-A9A2-9982FC38D72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example expects a nonempty list.</a:t>
            </a:r>
          </a:p>
        </p:txBody>
      </p:sp>
      <p:sp>
        <p:nvSpPr>
          <p:cNvPr id="6" name="">
            <a:extLst xmlns:a="http://schemas.openxmlformats.org/drawingml/2006/main">
              <a:ext uri="{FF2B5EF4-FFF2-40B4-BE49-F238E27FC236}">
                <a16:creationId xmlns:a16="http://schemas.microsoft.com/office/drawing/2014/main" id="{E3471439-18FF-4CC3-8F49-230FA240115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D22275-EFB3-4DB9-B51A-213F0FD4957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calculates a count and mean, then returns a dictionary with named outputs.</a:t>
            </a:r>
          </a:p>
        </p:txBody>
      </p:sp>
      <p:sp>
        <p:nvSpPr>
          <p:cNvPr id="8" name="">
            <a:extLst xmlns:a="http://schemas.openxmlformats.org/drawingml/2006/main">
              <a:ext uri="{FF2B5EF4-FFF2-40B4-BE49-F238E27FC236}">
                <a16:creationId xmlns:a16="http://schemas.microsoft.com/office/drawing/2014/main" id="{97D242CB-168B-435C-9548-563A552FB69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FA48964-421A-4197-84A0-D43A6A5C980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exact keys specified by the issued task when adapting this pattern.</a:t>
            </a:r>
          </a:p>
        </p:txBody>
      </p:sp>
      <p:sp>
        <p:nvSpPr>
          <p:cNvPr id="10" name="">
            <a:extLst xmlns:a="http://schemas.openxmlformats.org/drawingml/2006/main">
              <a:ext uri="{FF2B5EF4-FFF2-40B4-BE49-F238E27FC236}">
                <a16:creationId xmlns:a16="http://schemas.microsoft.com/office/drawing/2014/main" id="{A003B9BE-A942-4EFE-B67F-21EB15972A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19</a:t>
            </a:r>
          </a:p>
        </p:txBody>
      </p:sp>
    </p:spTree>
    <p:extLst>
      <p:ext uri="{BB962C8B-B14F-4D97-AF65-F5344CB8AC3E}">
        <p14:creationId xmlns:p14="http://schemas.microsoft.com/office/powerpoint/2010/main" val="169450509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2FEEC11-30C1-4954-88E0-D1995E0EA1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40635E7-FE6E-4CB6-A7E8-93C898B0C7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937B9E9-BDDE-4DF3-A17E-32564B1BDD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returned as a dictionary in Python</a:t>
            </a:r>
          </a:p>
        </p:txBody>
      </p:sp>
      <p:sp>
        <p:nvSpPr>
          <p:cNvPr id="4" name="">
            <a:extLst xmlns:a="http://schemas.openxmlformats.org/drawingml/2006/main">
              <a:ext uri="{FF2B5EF4-FFF2-40B4-BE49-F238E27FC236}">
                <a16:creationId xmlns:a16="http://schemas.microsoft.com/office/drawing/2014/main" id="{C07E50C8-F9C2-4965-91E2-44EC88C34EA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B3A7FF-9B8A-414E-B01F-6D081CDFF93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def</a:t>
            </a:r>
            <a:r>
              <a:rPr sz="2039" b="0">
                <a:solidFill>
                  <a:srgbClr val="F4F7FA"/>
                </a:solidFill>
                <a:latin typeface="Courier New"/>
                <a:ea typeface="Courier New"/>
                <a:cs typeface="Courier New"/>
              </a:rPr>
              <a:t> describe(values):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count = len(values)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mean = sum(values) / count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a:t>
            </a:r>
            <a:r>
              <a:rPr sz="2039" b="0">
                <a:solidFill>
                  <a:srgbClr val="FFB080"/>
                </a:solidFill>
                <a:latin typeface="Courier New"/>
                <a:ea typeface="Courier New"/>
                <a:cs typeface="Courier New"/>
              </a:rPr>
              <a:t>return</a:t>
            </a:r>
            <a:r>
              <a:rPr sz="2039" b="0">
                <a:solidFill>
                  <a:srgbClr val="F4F7FA"/>
                </a:solidFill>
                <a:latin typeface="Courier New"/>
                <a:ea typeface="Courier New"/>
                <a:cs typeface="Courier New"/>
              </a:rPr>
              <a:t> {"count": count, "mean": mean}</a:t>
            </a:r>
          </a:p>
          <a:p xmlns:a="http://schemas.openxmlformats.org/drawingml/2006/main">
            <a:r>
              <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print(describe([10, 12]))</a:t>
            </a:r>
          </a:p>
        </p:txBody>
      </p:sp>
      <p:sp>
        <p:nvSpPr>
          <p:cNvPr id="6" name="">
            <a:extLst xmlns:a="http://schemas.openxmlformats.org/drawingml/2006/main">
              <a:ext uri="{FF2B5EF4-FFF2-40B4-BE49-F238E27FC236}">
                <a16:creationId xmlns:a16="http://schemas.microsoft.com/office/drawing/2014/main" id="{F7E89B57-C728-4098-8275-40D724B0199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66062DE-429F-4B63-9D3E-F08F19D6D36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0E978491-59F5-4512-AA1C-FC7CB80CB11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39C86A3A-60B0-439A-B367-66F1B694160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636DE523-8565-4336-AAF1-DFEC36ECA7E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99C53520-589C-4909-990A-76E1037B33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20</a:t>
            </a:r>
          </a:p>
        </p:txBody>
      </p:sp>
    </p:spTree>
    <p:extLst>
      <p:ext uri="{BB962C8B-B14F-4D97-AF65-F5344CB8AC3E}">
        <p14:creationId xmlns:p14="http://schemas.microsoft.com/office/powerpoint/2010/main" val="116975347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31E7AE3-D82A-49ED-B3D3-6CD73B6F9D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D36EA6-1FB0-4212-AD7F-3F42DCC6B9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F2ECD6B-8BCC-42FF-A8CB-5354A168B6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blank field</a:t>
            </a:r>
          </a:p>
        </p:txBody>
      </p:sp>
      <p:sp>
        <p:nvSpPr>
          <p:cNvPr id="4" name="">
            <a:extLst xmlns:a="http://schemas.openxmlformats.org/drawingml/2006/main">
              <a:ext uri="{FF2B5EF4-FFF2-40B4-BE49-F238E27FC236}">
                <a16:creationId xmlns:a16="http://schemas.microsoft.com/office/drawing/2014/main" id="{AC355FDD-5D77-4485-AFF5-C561B28E4C3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CE4F5A-981C-4255-96E6-35A0C965E96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values start as text.</a:t>
            </a:r>
          </a:p>
        </p:txBody>
      </p:sp>
      <p:sp>
        <p:nvSpPr>
          <p:cNvPr id="6" name="">
            <a:extLst xmlns:a="http://schemas.openxmlformats.org/drawingml/2006/main">
              <a:ext uri="{FF2B5EF4-FFF2-40B4-BE49-F238E27FC236}">
                <a16:creationId xmlns:a16="http://schemas.microsoft.com/office/drawing/2014/main" id="{E8C10D66-9AF4-4E74-8169-ED18CB1AFB9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72FFF4-0CED-46D9-87DF-DC9FCCC00C5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if/else below stores None for a blank.</a:t>
            </a:r>
          </a:p>
        </p:txBody>
      </p:sp>
      <p:sp>
        <p:nvSpPr>
          <p:cNvPr id="8" name="">
            <a:extLst xmlns:a="http://schemas.openxmlformats.org/drawingml/2006/main">
              <a:ext uri="{FF2B5EF4-FFF2-40B4-BE49-F238E27FC236}">
                <a16:creationId xmlns:a16="http://schemas.microsoft.com/office/drawing/2014/main" id="{82085A34-4E7C-45AD-856B-C7BD59A86F0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5AA313D-C7D5-4FA5-A4C4-C685745AB47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Otherwise float converts the text into a number.</a:t>
            </a:r>
          </a:p>
        </p:txBody>
      </p:sp>
      <p:sp>
        <p:nvSpPr>
          <p:cNvPr id="10" name="">
            <a:extLst xmlns:a="http://schemas.openxmlformats.org/drawingml/2006/main">
              <a:ext uri="{FF2B5EF4-FFF2-40B4-BE49-F238E27FC236}">
                <a16:creationId xmlns:a16="http://schemas.microsoft.com/office/drawing/2014/main" id="{1EE5759F-3F6A-4BCD-8F9A-E8BDE5D7C4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21</a:t>
            </a:r>
          </a:p>
        </p:txBody>
      </p:sp>
    </p:spTree>
    <p:extLst>
      <p:ext uri="{BB962C8B-B14F-4D97-AF65-F5344CB8AC3E}">
        <p14:creationId xmlns:p14="http://schemas.microsoft.com/office/powerpoint/2010/main" val="24568175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F57E2A8-92FD-490F-A4D1-1E65924E92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EB4BFC-47C8-48D6-9759-FE6C756DC2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25DEED2-5D6B-41E6-81C1-B165FAC3DF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blank field in Python</a:t>
            </a:r>
          </a:p>
        </p:txBody>
      </p:sp>
      <p:sp>
        <p:nvSpPr>
          <p:cNvPr id="4" name="">
            <a:extLst xmlns:a="http://schemas.openxmlformats.org/drawingml/2006/main">
              <a:ext uri="{FF2B5EF4-FFF2-40B4-BE49-F238E27FC236}">
                <a16:creationId xmlns:a16="http://schemas.microsoft.com/office/drawing/2014/main" id="{03E89A77-A57A-45C6-9E91-14A8C0AF180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89F2DC-6C7E-45DE-A677-762436B1088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text_values = ["20", "", "24"]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parsed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text in text_values: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parsed.append(</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parsed.append(float(text))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print(parsed)</a:t>
            </a:r>
          </a:p>
        </p:txBody>
      </p:sp>
      <p:sp>
        <p:nvSpPr>
          <p:cNvPr id="6" name="">
            <a:extLst xmlns:a="http://schemas.openxmlformats.org/drawingml/2006/main">
              <a:ext uri="{FF2B5EF4-FFF2-40B4-BE49-F238E27FC236}">
                <a16:creationId xmlns:a16="http://schemas.microsoft.com/office/drawing/2014/main" id="{C4FF23E3-9D7D-45D9-A79B-1E7C0712F9D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31CF76D-FC83-4626-92BC-B8DCD669494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71A6A4B5-49A9-4FB9-9DA7-6C11654234B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0D03A0DA-4A78-4F88-9E5E-6B5A545ADFB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10" name="">
            <a:extLst xmlns:a="http://schemas.openxmlformats.org/drawingml/2006/main">
              <a:ext uri="{FF2B5EF4-FFF2-40B4-BE49-F238E27FC236}">
                <a16:creationId xmlns:a16="http://schemas.microsoft.com/office/drawing/2014/main" id="{610BDB95-6595-43D2-AE37-A45FFE8EF57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0B79355D-885A-4ED0-9867-753BD97E3E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22</a:t>
            </a:r>
          </a:p>
        </p:txBody>
      </p:sp>
    </p:spTree>
    <p:extLst>
      <p:ext uri="{BB962C8B-B14F-4D97-AF65-F5344CB8AC3E}">
        <p14:creationId xmlns:p14="http://schemas.microsoft.com/office/powerpoint/2010/main" val="97137635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20D75C8-CBD0-41C7-9767-41665FAA1F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22A4DB0-61A9-4E08-B49C-10839992F9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BD5C54F-B3DC-45E9-BADF-323047BE69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a:t>
            </a:r>
          </a:p>
        </p:txBody>
      </p:sp>
      <p:sp>
        <p:nvSpPr>
          <p:cNvPr id="4" name="">
            <a:extLst xmlns:a="http://schemas.openxmlformats.org/drawingml/2006/main">
              <a:ext uri="{FF2B5EF4-FFF2-40B4-BE49-F238E27FC236}">
                <a16:creationId xmlns:a16="http://schemas.microsoft.com/office/drawing/2014/main" id="{65D3B3B0-9352-42B3-BFA8-21D717DFC35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86F8F99-338B-41CF-8FFA-3CB5173F890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Audit</a:t>
            </a:r>
          </a:p>
        </p:txBody>
      </p:sp>
      <p:sp>
        <p:nvSpPr>
          <p:cNvPr id="6" name="">
            <a:extLst xmlns:a="http://schemas.openxmlformats.org/drawingml/2006/main">
              <a:ext uri="{FF2B5EF4-FFF2-40B4-BE49-F238E27FC236}">
                <a16:creationId xmlns:a16="http://schemas.microsoft.com/office/drawing/2014/main" id="{0E99923B-B6C3-4B05-9240-71B933BCA545}"/>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count and explanation of what changed, why it changed and how many records remain.</a:t>
            </a:r>
          </a:p>
        </p:txBody>
      </p:sp>
      <p:sp>
        <p:nvSpPr>
          <p:cNvPr id="7" name="">
            <a:extLst xmlns:a="http://schemas.openxmlformats.org/drawingml/2006/main">
              <a:ext uri="{FF2B5EF4-FFF2-40B4-BE49-F238E27FC236}">
                <a16:creationId xmlns:a16="http://schemas.microsoft.com/office/drawing/2014/main" id="{94C6566A-1D26-4958-A228-0F8C717F23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23</a:t>
            </a:r>
          </a:p>
        </p:txBody>
      </p:sp>
    </p:spTree>
    <p:extLst>
      <p:ext uri="{BB962C8B-B14F-4D97-AF65-F5344CB8AC3E}">
        <p14:creationId xmlns:p14="http://schemas.microsoft.com/office/powerpoint/2010/main" val="160858056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0A8DAA8-1BBE-4D86-BDCB-CA0155C6D5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B1BB0BA-2D7C-4263-91AE-34661A16D3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56B6E30-6A6A-4066-B400-B22239C5D9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Every cleaning change needs a record</a:t>
            </a:r>
          </a:p>
        </p:txBody>
      </p:sp>
      <p:sp>
        <p:nvSpPr>
          <p:cNvPr id="4" name="">
            <a:extLst xmlns:a="http://schemas.openxmlformats.org/drawingml/2006/main">
              <a:ext uri="{FF2B5EF4-FFF2-40B4-BE49-F238E27FC236}">
                <a16:creationId xmlns:a16="http://schemas.microsoft.com/office/drawing/2014/main" id="{2D2C96ED-46CD-42A8-9FE8-814446AF19C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D89E2EE-4610-4E0E-8F87-F56B19217F0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duplicate record ID suggests a repeated observation.</a:t>
            </a:r>
          </a:p>
        </p:txBody>
      </p:sp>
      <p:sp>
        <p:nvSpPr>
          <p:cNvPr id="6" name="">
            <a:extLst xmlns:a="http://schemas.openxmlformats.org/drawingml/2006/main">
              <a:ext uri="{FF2B5EF4-FFF2-40B4-BE49-F238E27FC236}">
                <a16:creationId xmlns:a16="http://schemas.microsoft.com/office/drawing/2014/main" id="{FD6652EC-7F08-4FEE-983D-B012209F141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BEAE77F-5560-4634-A690-643E35FB458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Two different observations from the same equipment can both be valid.</a:t>
            </a:r>
          </a:p>
        </p:txBody>
      </p:sp>
      <p:sp>
        <p:nvSpPr>
          <p:cNvPr id="8" name="">
            <a:extLst xmlns:a="http://schemas.openxmlformats.org/drawingml/2006/main">
              <a:ext uri="{FF2B5EF4-FFF2-40B4-BE49-F238E27FC236}">
                <a16:creationId xmlns:a16="http://schemas.microsoft.com/office/drawing/2014/main" id="{3F0267F9-D639-4D9B-8A04-88663EE0D3D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2439DDC-5A15-4965-B096-259DEEEF7EB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the evidence, action, number of affected rows and limitation.</a:t>
            </a:r>
          </a:p>
        </p:txBody>
      </p:sp>
      <p:sp>
        <p:nvSpPr>
          <p:cNvPr id="10" name="">
            <a:extLst xmlns:a="http://schemas.openxmlformats.org/drawingml/2006/main">
              <a:ext uri="{FF2B5EF4-FFF2-40B4-BE49-F238E27FC236}">
                <a16:creationId xmlns:a16="http://schemas.microsoft.com/office/drawing/2014/main" id="{1D317B2C-DEF7-4430-8826-B1A5E78E59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24</a:t>
            </a:r>
          </a:p>
        </p:txBody>
      </p:sp>
    </p:spTree>
    <p:extLst>
      <p:ext uri="{BB962C8B-B14F-4D97-AF65-F5344CB8AC3E}">
        <p14:creationId xmlns:p14="http://schemas.microsoft.com/office/powerpoint/2010/main" val="35096010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297CE04-3836-4F29-8AB7-F21FAE3A06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83147A-60EA-49BC-B45B-973BFC166F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0B9ADFF-4355-491D-8567-C27047E65D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 axes</a:t>
            </a:r>
          </a:p>
        </p:txBody>
      </p:sp>
      <p:sp>
        <p:nvSpPr>
          <p:cNvPr id="4" name="">
            <a:extLst xmlns:a="http://schemas.openxmlformats.org/drawingml/2006/main">
              <a:ext uri="{FF2B5EF4-FFF2-40B4-BE49-F238E27FC236}">
                <a16:creationId xmlns:a16="http://schemas.microsoft.com/office/drawing/2014/main" id="{C16C954C-655E-4104-999D-D1CE2D8B5E6D}"/>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1AB26B-AB98-495E-A08B-56097282A2F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Chart axes</a:t>
            </a:r>
          </a:p>
        </p:txBody>
      </p:sp>
      <p:sp>
        <p:nvSpPr>
          <p:cNvPr id="6" name="">
            <a:extLst xmlns:a="http://schemas.openxmlformats.org/drawingml/2006/main">
              <a:ext uri="{FF2B5EF4-FFF2-40B4-BE49-F238E27FC236}">
                <a16:creationId xmlns:a16="http://schemas.microsoft.com/office/drawing/2014/main" id="{0E9E2EC8-01AB-42E8-8172-25F75E362C0F}"/>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chart maps values to positions. Read the horizontal variable, vertical variable and their units before interpreting a pattern.</a:t>
            </a:r>
          </a:p>
        </p:txBody>
      </p:sp>
      <p:sp>
        <p:nvSpPr>
          <p:cNvPr id="7" name="">
            <a:extLst xmlns:a="http://schemas.openxmlformats.org/drawingml/2006/main">
              <a:ext uri="{FF2B5EF4-FFF2-40B4-BE49-F238E27FC236}">
                <a16:creationId xmlns:a16="http://schemas.microsoft.com/office/drawing/2014/main" id="{6C3EFE5E-EBAB-4A00-8A7F-8F577674CC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25</a:t>
            </a:r>
          </a:p>
        </p:txBody>
      </p:sp>
    </p:spTree>
    <p:extLst>
      <p:ext uri="{BB962C8B-B14F-4D97-AF65-F5344CB8AC3E}">
        <p14:creationId xmlns:p14="http://schemas.microsoft.com/office/powerpoint/2010/main" val="8388316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6E4F8EE-9F40-4387-90CD-7289BF3B17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A6AFC2-5CF4-4CE8-B226-877E17C5DB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F895F1-577A-4D4F-A020-9FFCC3044D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scatter plot pairs two measurements</a:t>
            </a:r>
          </a:p>
        </p:txBody>
      </p:sp>
      <p:sp>
        <p:nvSpPr>
          <p:cNvPr id="4" name="">
            <a:extLst xmlns:a="http://schemas.openxmlformats.org/drawingml/2006/main">
              <a:ext uri="{FF2B5EF4-FFF2-40B4-BE49-F238E27FC236}">
                <a16:creationId xmlns:a16="http://schemas.microsoft.com/office/drawing/2014/main" id="{F0DDD8E6-AC61-4E47-8A22-80E2076DE23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8A08EB8-6880-44A0-93FA-C5207EAC2B2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horizontal axis gives the input value.</a:t>
            </a:r>
          </a:p>
        </p:txBody>
      </p:sp>
      <p:sp>
        <p:nvSpPr>
          <p:cNvPr id="6" name="">
            <a:extLst xmlns:a="http://schemas.openxmlformats.org/drawingml/2006/main">
              <a:ext uri="{FF2B5EF4-FFF2-40B4-BE49-F238E27FC236}">
                <a16:creationId xmlns:a16="http://schemas.microsoft.com/office/drawing/2014/main" id="{DE7DA82C-B021-44F9-843E-FA0D1083DEE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0DFA2EF-4D5C-4B01-BD6D-A5F6B608437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vertical axis gives the corresponding reading.</a:t>
            </a:r>
          </a:p>
        </p:txBody>
      </p:sp>
      <p:sp>
        <p:nvSpPr>
          <p:cNvPr id="8" name="">
            <a:extLst xmlns:a="http://schemas.openxmlformats.org/drawingml/2006/main">
              <a:ext uri="{FF2B5EF4-FFF2-40B4-BE49-F238E27FC236}">
                <a16:creationId xmlns:a16="http://schemas.microsoft.com/office/drawing/2014/main" id="{BD4A7862-4091-46B1-BF3C-238A2DC388A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AB67B8E-D263-4E4C-8061-4DCA37AB44B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point represents one observation. A pattern alone does not prove causation.</a:t>
            </a:r>
          </a:p>
        </p:txBody>
      </p:sp>
      <p:sp>
        <p:nvSpPr>
          <p:cNvPr id="10" name="">
            <a:extLst xmlns:a="http://schemas.openxmlformats.org/drawingml/2006/main">
              <a:ext uri="{FF2B5EF4-FFF2-40B4-BE49-F238E27FC236}">
                <a16:creationId xmlns:a16="http://schemas.microsoft.com/office/drawing/2014/main" id="{3A9D4F8C-C1ED-4D5C-8E7D-BBBAD98DA8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26</a:t>
            </a:r>
          </a:p>
        </p:txBody>
      </p:sp>
    </p:spTree>
    <p:extLst>
      <p:ext uri="{BB962C8B-B14F-4D97-AF65-F5344CB8AC3E}">
        <p14:creationId xmlns:p14="http://schemas.microsoft.com/office/powerpoint/2010/main" val="100089122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9816012-41AB-41D3-B6BE-7D2ACF61B3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5378FD-532B-4DC9-A3AE-69BC9C82F1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440430F-DA5A-41B4-9B3D-59F108089A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a chart after naming the question</a:t>
            </a:r>
          </a:p>
        </p:txBody>
      </p:sp>
      <p:sp>
        <p:nvSpPr>
          <p:cNvPr id="4" name="">
            <a:extLst xmlns:a="http://schemas.openxmlformats.org/drawingml/2006/main">
              <a:ext uri="{FF2B5EF4-FFF2-40B4-BE49-F238E27FC236}">
                <a16:creationId xmlns:a16="http://schemas.microsoft.com/office/drawing/2014/main" id="{3E45AE6E-9034-4C6C-8AA1-930A48FC374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15BA3E1-0C8F-4AB3-907B-B5DE3FB0EAD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Scatter and bar</a:t>
            </a:r>
          </a:p>
        </p:txBody>
      </p:sp>
      <p:sp>
        <p:nvSpPr>
          <p:cNvPr id="6" name="">
            <a:extLst xmlns:a="http://schemas.openxmlformats.org/drawingml/2006/main">
              <a:ext uri="{FF2B5EF4-FFF2-40B4-BE49-F238E27FC236}">
                <a16:creationId xmlns:a16="http://schemas.microsoft.com/office/drawing/2014/main" id="{E575698F-D4CF-478F-8A56-14A8F3DA10B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scatter plot places one point for each paired measurement. A bar chart compares values across named groups. Label both axes and their units.</a:t>
            </a:r>
          </a:p>
        </p:txBody>
      </p:sp>
      <p:sp>
        <p:nvSpPr>
          <p:cNvPr id="7" name="">
            <a:extLst xmlns:a="http://schemas.openxmlformats.org/drawingml/2006/main">
              <a:ext uri="{FF2B5EF4-FFF2-40B4-BE49-F238E27FC236}">
                <a16:creationId xmlns:a16="http://schemas.microsoft.com/office/drawing/2014/main" id="{9F06FD02-45FF-44AE-9B7A-A78C8927A7C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AA4DB24-F7C0-4093-93AA-A72E66752BB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Histogram and bins</a:t>
            </a:r>
          </a:p>
        </p:txBody>
      </p:sp>
      <p:sp>
        <p:nvSpPr>
          <p:cNvPr id="9" name="">
            <a:extLst xmlns:a="http://schemas.openxmlformats.org/drawingml/2006/main">
              <a:ext uri="{FF2B5EF4-FFF2-40B4-BE49-F238E27FC236}">
                <a16:creationId xmlns:a16="http://schemas.microsoft.com/office/drawing/2014/main" id="{5EB712B8-BF40-4C5F-9907-4F99D337145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histogram counts observations in numerical intervals called bins. The horizontal axis is the measurement; the vertical axis is a count. Bin edges affect its appearance.</a:t>
            </a:r>
          </a:p>
        </p:txBody>
      </p:sp>
      <p:sp>
        <p:nvSpPr>
          <p:cNvPr id="10" name="">
            <a:extLst xmlns:a="http://schemas.openxmlformats.org/drawingml/2006/main">
              <a:ext uri="{FF2B5EF4-FFF2-40B4-BE49-F238E27FC236}">
                <a16:creationId xmlns:a16="http://schemas.microsoft.com/office/drawing/2014/main" id="{68340312-6CD5-41EC-ACD2-11338606EA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27</a:t>
            </a:r>
          </a:p>
        </p:txBody>
      </p:sp>
    </p:spTree>
    <p:extLst>
      <p:ext uri="{BB962C8B-B14F-4D97-AF65-F5344CB8AC3E}">
        <p14:creationId xmlns:p14="http://schemas.microsoft.com/office/powerpoint/2010/main" val="23091926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D995617-DE5F-41F5-99CF-B5644DBFC76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BF0ABB-C68F-4AC4-B99C-5FD6B4243950}"/>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Choosing a chart for the question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fefb87ab2ff14cba"/>
          <a:stretch xmlns:a="http://schemas.openxmlformats.org/drawingml/2006/main"/>
        </p:blipFill>
        <p:spPr>
          <a:xfrm xmlns:a="http://schemas.openxmlformats.org/drawingml/2006/main">
            <a:off x="1125175" y="1057275"/>
            <a:ext cx="994164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1F6B338-70CE-46D2-ABA2-7F578F998D11}"/>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778882-27EB-4C86-9369-61C9CDAA19C3}"/>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week uses histograms, scatter plots and bar charts. The other chart types are reference examples.</a:t>
            </a:r>
          </a:p>
        </p:txBody>
      </p:sp>
      <p:sp>
        <p:nvSpPr>
          <p:cNvPr id="6" name="">
            <a:extLst xmlns:a="http://schemas.openxmlformats.org/drawingml/2006/main">
              <a:ext uri="{FF2B5EF4-FFF2-40B4-BE49-F238E27FC236}">
                <a16:creationId xmlns:a16="http://schemas.microsoft.com/office/drawing/2014/main" id="{A461255D-243D-4D7E-8FF7-C9D14BA418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28</a:t>
            </a:r>
          </a:p>
        </p:txBody>
      </p:sp>
    </p:spTree>
    <p:extLst>
      <p:ext uri="{BB962C8B-B14F-4D97-AF65-F5344CB8AC3E}">
        <p14:creationId xmlns:p14="http://schemas.microsoft.com/office/powerpoint/2010/main" val="212023873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4BC2DAB-3C35-4612-BDA0-25D66A5043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98DFE9-F4C4-44EB-A4C3-85E4DC1FEE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256D802-EA1D-414C-9A1E-8041663C87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chart with labelled axes</a:t>
            </a:r>
          </a:p>
        </p:txBody>
      </p:sp>
      <p:sp>
        <p:nvSpPr>
          <p:cNvPr id="4" name="">
            <a:extLst xmlns:a="http://schemas.openxmlformats.org/drawingml/2006/main">
              <a:ext uri="{FF2B5EF4-FFF2-40B4-BE49-F238E27FC236}">
                <a16:creationId xmlns:a16="http://schemas.microsoft.com/office/drawing/2014/main" id="{B015186E-6D0F-47B4-BB8B-F64361448D2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5374833-4350-4ECF-BCEB-1806326D5EB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matplotlib is a plotting library. plt is the short name we give its pyplot module.</a:t>
            </a:r>
          </a:p>
        </p:txBody>
      </p:sp>
      <p:sp>
        <p:nvSpPr>
          <p:cNvPr id="6" name="">
            <a:extLst xmlns:a="http://schemas.openxmlformats.org/drawingml/2006/main">
              <a:ext uri="{FF2B5EF4-FFF2-40B4-BE49-F238E27FC236}">
                <a16:creationId xmlns:a16="http://schemas.microsoft.com/office/drawing/2014/main" id="{4FC94F03-11AE-46FE-80E6-48786F41968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F00CD78-4A58-4C54-BE8F-A613DC24696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fig, ax = plt.subplots() returns two objects: fig is the whole figure; ax is its plotting area. scatter places the paired measurements as points.</a:t>
            </a:r>
          </a:p>
        </p:txBody>
      </p:sp>
      <p:sp>
        <p:nvSpPr>
          <p:cNvPr id="8" name="">
            <a:extLst xmlns:a="http://schemas.openxmlformats.org/drawingml/2006/main">
              <a:ext uri="{FF2B5EF4-FFF2-40B4-BE49-F238E27FC236}">
                <a16:creationId xmlns:a16="http://schemas.microsoft.com/office/drawing/2014/main" id="{BC36936C-2ECA-42E2-835C-4287662CE4E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08182C1-81C2-481C-A3B7-A6B0F71A0D8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ax.set_xlabel(...) labels the horizontal axis. set_ylabel labels the vertical axis. Keep fig when the task asks you to return a Figure object.</a:t>
            </a:r>
          </a:p>
        </p:txBody>
      </p:sp>
      <p:sp>
        <p:nvSpPr>
          <p:cNvPr id="10" name="">
            <a:extLst xmlns:a="http://schemas.openxmlformats.org/drawingml/2006/main">
              <a:ext uri="{FF2B5EF4-FFF2-40B4-BE49-F238E27FC236}">
                <a16:creationId xmlns:a16="http://schemas.microsoft.com/office/drawing/2014/main" id="{15936125-D362-41FE-83CB-237010B50D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29</a:t>
            </a:r>
          </a:p>
        </p:txBody>
      </p:sp>
    </p:spTree>
    <p:extLst>
      <p:ext uri="{BB962C8B-B14F-4D97-AF65-F5344CB8AC3E}">
        <p14:creationId xmlns:p14="http://schemas.microsoft.com/office/powerpoint/2010/main" val="58694134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070049C-D541-4B77-A8FD-D5D8D3D8F6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31BB1F-DD0E-4E7D-8D18-5969D88F88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5D57015-5FA5-4AD9-AB3F-A3BBC802AC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chart with labelled axes in Python</a:t>
            </a:r>
          </a:p>
        </p:txBody>
      </p:sp>
      <p:sp>
        <p:nvSpPr>
          <p:cNvPr id="4" name="">
            <a:extLst xmlns:a="http://schemas.openxmlformats.org/drawingml/2006/main">
              <a:ext uri="{FF2B5EF4-FFF2-40B4-BE49-F238E27FC236}">
                <a16:creationId xmlns:a16="http://schemas.microsoft.com/office/drawing/2014/main" id="{B17CD63C-0F89-4CD4-8D24-492241AC5B1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C652FF9-1A25-4460-8320-D0318569013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90" b="0">
                <a:solidFill>
                  <a:srgbClr val="F4F7FA"/>
                </a:solidFill>
                <a:latin typeface="Courier New"/>
                <a:ea typeface="Courier New"/>
                <a:cs typeface="Courier New"/>
              </a:defRPr>
            </a:pPr>
            <a:r>
              <a:rPr sz="1990" b="0">
                <a:solidFill>
                  <a:srgbClr val="FFB080"/>
                </a:solidFill>
                <a:latin typeface="Courier New"/>
                <a:ea typeface="Courier New"/>
                <a:cs typeface="Courier New"/>
              </a:rPr>
              <a:t>import</a:t>
            </a:r>
            <a:r>
              <a:rPr sz="1990" b="0">
                <a:solidFill>
                  <a:srgbClr val="F4F7FA"/>
                </a:solidFill>
                <a:latin typeface="Courier New"/>
                <a:ea typeface="Courier New"/>
                <a:cs typeface="Courier New"/>
              </a:rPr>
              <a:t> matplotlib.pyplot as plt</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inputs = [1, 2, 3, 4]</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[12, 14, 13, 18]</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fig, ax = plt.subplots()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ax.scatter(inputs, readings)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ax.set_xlabel("Input (teaching units)")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ax.set_ylabel("Reading (teaching units)")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ax.set_title("Four invented observations")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29B31277-B381-4698-A0D4-81297C89B81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3F2F5C9-E254-4597-8CE0-A34BB94CCFC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83E8FE49-2C66-49F3-A6A7-B491232BFDA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81B772EC-D018-4485-8E5A-F596ECF482D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3F4F57B4-A822-46E3-89BF-EDF4FDB484B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59A8C2D3-6134-4FF9-AB62-DA2DA6D15E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30</a:t>
            </a:r>
          </a:p>
        </p:txBody>
      </p:sp>
    </p:spTree>
    <p:extLst>
      <p:ext uri="{BB962C8B-B14F-4D97-AF65-F5344CB8AC3E}">
        <p14:creationId xmlns:p14="http://schemas.microsoft.com/office/powerpoint/2010/main" val="158490317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72252CC-D2AC-4E44-AAC4-0A500B7F3B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41AD0E-15AA-41C7-A10A-744D61DF21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DE314CC-4459-4061-BD2B-6B1A4CA99F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groups and a distribution</a:t>
            </a:r>
          </a:p>
        </p:txBody>
      </p:sp>
      <p:sp>
        <p:nvSpPr>
          <p:cNvPr id="4" name="">
            <a:extLst xmlns:a="http://schemas.openxmlformats.org/drawingml/2006/main">
              <a:ext uri="{FF2B5EF4-FFF2-40B4-BE49-F238E27FC236}">
                <a16:creationId xmlns:a16="http://schemas.microsoft.com/office/drawing/2014/main" id="{E8197D38-E9DD-4907-9D13-D1259D083B4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7C3375B-741F-4233-85ED-8F785CF0F0B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bar compares one value for each named group. hist counts observations in value intervals called bins.</a:t>
            </a:r>
          </a:p>
        </p:txBody>
      </p:sp>
      <p:sp>
        <p:nvSpPr>
          <p:cNvPr id="6" name="">
            <a:extLst xmlns:a="http://schemas.openxmlformats.org/drawingml/2006/main">
              <a:ext uri="{FF2B5EF4-FFF2-40B4-BE49-F238E27FC236}">
                <a16:creationId xmlns:a16="http://schemas.microsoft.com/office/drawing/2014/main" id="{6F0015E9-B503-4DBF-B6CE-531012E6AFF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17985D6-243B-4792-9CA7-EC194852745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bar labels and both axes.</a:t>
            </a:r>
          </a:p>
        </p:txBody>
      </p:sp>
      <p:sp>
        <p:nvSpPr>
          <p:cNvPr id="8" name="">
            <a:extLst xmlns:a="http://schemas.openxmlformats.org/drawingml/2006/main">
              <a:ext uri="{FF2B5EF4-FFF2-40B4-BE49-F238E27FC236}">
                <a16:creationId xmlns:a16="http://schemas.microsoft.com/office/drawing/2014/main" id="{91AA5577-4591-42A7-92EB-2D39914FF2D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B52B89E-F1FD-4B7C-AF29-FE5DAD1B091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practice uses two bins; follow the exact bin rule in the test brief.</a:t>
            </a:r>
          </a:p>
        </p:txBody>
      </p:sp>
      <p:sp>
        <p:nvSpPr>
          <p:cNvPr id="10" name="">
            <a:extLst xmlns:a="http://schemas.openxmlformats.org/drawingml/2006/main">
              <a:ext uri="{FF2B5EF4-FFF2-40B4-BE49-F238E27FC236}">
                <a16:creationId xmlns:a16="http://schemas.microsoft.com/office/drawing/2014/main" id="{152257E6-552E-484A-8FA9-EE22C440E7A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4386959-E744-4F48-9E9D-683DD4D389C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and keep the Figure objects when a task asks for them.</a:t>
            </a:r>
          </a:p>
        </p:txBody>
      </p:sp>
      <p:sp>
        <p:nvSpPr>
          <p:cNvPr id="12" name="">
            <a:extLst xmlns:a="http://schemas.openxmlformats.org/drawingml/2006/main">
              <a:ext uri="{FF2B5EF4-FFF2-40B4-BE49-F238E27FC236}">
                <a16:creationId xmlns:a16="http://schemas.microsoft.com/office/drawing/2014/main" id="{B91F0078-4749-46F7-A652-9CC8C25DF2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31</a:t>
            </a:r>
          </a:p>
        </p:txBody>
      </p:sp>
    </p:spTree>
    <p:extLst>
      <p:ext uri="{BB962C8B-B14F-4D97-AF65-F5344CB8AC3E}">
        <p14:creationId xmlns:p14="http://schemas.microsoft.com/office/powerpoint/2010/main" val="34269128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4F1850D-63C9-42E7-9EDD-BFDBBC98240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0BBD95-FDB3-4356-B6FA-3BB9545358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E8B2389-ECAA-4E4A-BCF1-BF8D90AD01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Comparing groups and a distribution in Python (1/2)</a:t>
            </a:r>
          </a:p>
        </p:txBody>
      </p:sp>
      <p:sp>
        <p:nvSpPr>
          <p:cNvPr id="4" name="">
            <a:extLst xmlns:a="http://schemas.openxmlformats.org/drawingml/2006/main">
              <a:ext uri="{FF2B5EF4-FFF2-40B4-BE49-F238E27FC236}">
                <a16:creationId xmlns:a16="http://schemas.microsoft.com/office/drawing/2014/main" id="{7482C868-F02B-4B97-A10A-76219B58F66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E3FE83-DEBE-4DB7-8BC5-2F87753F53C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bar_fig, bar_ax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bar_ax.bar(["A", "B"], [13,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bar_ax.set_xlabel("Group")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bar_ax.set_ylabel("Mean reading (teaching units)")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bar_ax.set_title("Two invented group means")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hist_fig, hist_ax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hist_ax.hist(readings, bins=2)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hist_ax.set_xlabel("Reading (teaching units)")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hist_ax.set_ylabel("Count of observations")</a:t>
            </a:r>
          </a:p>
        </p:txBody>
      </p:sp>
      <p:sp>
        <p:nvSpPr>
          <p:cNvPr id="6" name="">
            <a:extLst xmlns:a="http://schemas.openxmlformats.org/drawingml/2006/main">
              <a:ext uri="{FF2B5EF4-FFF2-40B4-BE49-F238E27FC236}">
                <a16:creationId xmlns:a16="http://schemas.microsoft.com/office/drawing/2014/main" id="{E34969FD-1FEC-4DC2-8E56-F5885B3FC85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Square brackets create a list or select an item.</a:t>
            </a:r>
          </a:p>
        </p:txBody>
      </p:sp>
      <p:sp>
        <p:nvSpPr>
          <p:cNvPr id="7" name="">
            <a:extLst xmlns:a="http://schemas.openxmlformats.org/drawingml/2006/main">
              <a:ext uri="{FF2B5EF4-FFF2-40B4-BE49-F238E27FC236}">
                <a16:creationId xmlns:a16="http://schemas.microsoft.com/office/drawing/2014/main" id="{4F62959A-A060-426A-B384-17ED5D35231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DE5F4C28-0DD9-4CDC-BD12-41DDC8523F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32</a:t>
            </a:r>
          </a:p>
        </p:txBody>
      </p:sp>
    </p:spTree>
    <p:extLst>
      <p:ext uri="{BB962C8B-B14F-4D97-AF65-F5344CB8AC3E}">
        <p14:creationId xmlns:p14="http://schemas.microsoft.com/office/powerpoint/2010/main" val="151558991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34C0129-1A34-422C-875F-D9E2FB96AF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42B4CC-34B7-446F-B4CA-BC91A9DC75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0AC8068-182C-4667-B1D6-452E5B15CF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Comparing groups and a distribution in Python (2/2)</a:t>
            </a:r>
          </a:p>
        </p:txBody>
      </p:sp>
      <p:sp>
        <p:nvSpPr>
          <p:cNvPr id="4" name="">
            <a:extLst xmlns:a="http://schemas.openxmlformats.org/drawingml/2006/main">
              <a:ext uri="{FF2B5EF4-FFF2-40B4-BE49-F238E27FC236}">
                <a16:creationId xmlns:a16="http://schemas.microsoft.com/office/drawing/2014/main" id="{A57E5737-F2C5-426A-B3FC-349C91F2905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763462-735C-46D2-9414-0A0F350C904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hist_ax.set_title("Distribution of four observations")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7B23F3F3-2F82-48FD-AA40-E437B11F1C4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the inputs and identify the operation.</a:t>
            </a:r>
          </a:p>
        </p:txBody>
      </p:sp>
      <p:sp>
        <p:nvSpPr>
          <p:cNvPr id="7" name="">
            <a:extLst xmlns:a="http://schemas.openxmlformats.org/drawingml/2006/main">
              <a:ext uri="{FF2B5EF4-FFF2-40B4-BE49-F238E27FC236}">
                <a16:creationId xmlns:a16="http://schemas.microsoft.com/office/drawing/2014/main" id="{B74C867A-1429-4069-A176-980B87FAF9D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91F8E137-48D1-48A3-8215-F6F0B05188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33</a:t>
            </a:r>
          </a:p>
        </p:txBody>
      </p:sp>
    </p:spTree>
    <p:extLst>
      <p:ext uri="{BB962C8B-B14F-4D97-AF65-F5344CB8AC3E}">
        <p14:creationId xmlns:p14="http://schemas.microsoft.com/office/powerpoint/2010/main" val="10935873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724F02D-37BB-4612-92F0-CAD10523A8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5E5C1E6-DC85-4AD7-98D7-25F554697D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BB93D4F-B4FF-41C4-852B-98173E2DBD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1DEF053E-E782-4D2F-8E18-5DADC8C7C96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2E75D5F-7C78-4480-944A-AA66A7014F3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92C9BE9-84BA-435A-83F3-EFD27AE5189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Explain why 80 was retained. Replace 24 with 26, predict the new fill value, and check that cleaning still leaves raw unchanged.</a:t>
            </a:r>
          </a:p>
        </p:txBody>
      </p:sp>
      <p:sp>
        <p:nvSpPr>
          <p:cNvPr id="7" name="">
            <a:extLst xmlns:a="http://schemas.openxmlformats.org/drawingml/2006/main">
              <a:ext uri="{FF2B5EF4-FFF2-40B4-BE49-F238E27FC236}">
                <a16:creationId xmlns:a16="http://schemas.microsoft.com/office/drawing/2014/main" id="{392F5097-39D4-499A-8524-942E1025D83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An unusual value alone does not prove an error. The task did not authorize deleting 80. With 26 replacing 24, the middle known values are 22 and 26, so the new fill is 24. The raw list still contains None.</a:t>
            </a:r>
          </a:p>
        </p:txBody>
      </p:sp>
      <p:sp>
        <p:nvSpPr>
          <p:cNvPr id="8" name="">
            <a:extLst xmlns:a="http://schemas.openxmlformats.org/drawingml/2006/main">
              <a:ext uri="{FF2B5EF4-FFF2-40B4-BE49-F238E27FC236}">
                <a16:creationId xmlns:a16="http://schemas.microsoft.com/office/drawing/2014/main" id="{14E2C81A-16E1-4040-934B-BB386A4416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34</a:t>
            </a:r>
          </a:p>
        </p:txBody>
      </p:sp>
    </p:spTree>
    <p:extLst>
      <p:ext uri="{BB962C8B-B14F-4D97-AF65-F5344CB8AC3E}">
        <p14:creationId xmlns:p14="http://schemas.microsoft.com/office/powerpoint/2010/main" val="860269278"/>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3145833-3F31-4585-8820-6B311B7607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F7ABAF-4E37-48F9-B13E-B4F5BD84FD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7A4E1BA-9C49-4940-9B8A-6F939FC0A0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compact loop is optional</a:t>
            </a:r>
          </a:p>
        </p:txBody>
      </p:sp>
      <p:sp>
        <p:nvSpPr>
          <p:cNvPr id="4" name="">
            <a:extLst xmlns:a="http://schemas.openxmlformats.org/drawingml/2006/main">
              <a:ext uri="{FF2B5EF4-FFF2-40B4-BE49-F238E27FC236}">
                <a16:creationId xmlns:a16="http://schemas.microsoft.com/office/drawing/2014/main" id="{A3CE0FB7-FAF4-4C65-8CA7-95FB1EA60A3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64D764E-F090-46DE-9A9B-882260581EA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readings = [2, 4, 6]</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doubled = []</a:t>
            </a:r>
          </a:p>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for</a:t>
            </a:r>
            <a:r>
              <a:rPr sz="2090" b="0">
                <a:solidFill>
                  <a:srgbClr val="F4F7FA"/>
                </a:solidFill>
                <a:latin typeface="Courier New"/>
                <a:ea typeface="Courier New"/>
                <a:cs typeface="Courier New"/>
              </a:rPr>
              <a:t> value in readings:</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doubled.append(value *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print(doubled)</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Same operation in compact form:</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print([value * 2 for value in readings])</a:t>
            </a:r>
          </a:p>
        </p:txBody>
      </p:sp>
      <p:sp>
        <p:nvSpPr>
          <p:cNvPr id="6" name="">
            <a:extLst xmlns:a="http://schemas.openxmlformats.org/drawingml/2006/main">
              <a:ext uri="{FF2B5EF4-FFF2-40B4-BE49-F238E27FC236}">
                <a16:creationId xmlns:a16="http://schemas.microsoft.com/office/drawing/2014/main" id="{8711395D-6E61-4281-A558-F80F6DF0A8F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7546D23-FEE1-412F-AAA9-98229C5A4E2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89A183A0-0687-4C21-943C-6C81EB5DF7E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AD5FFBEA-0788-4F7B-AED4-7569CFA2A6D4}"/>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10" name="">
            <a:extLst xmlns:a="http://schemas.openxmlformats.org/drawingml/2006/main">
              <a:ext uri="{FF2B5EF4-FFF2-40B4-BE49-F238E27FC236}">
                <a16:creationId xmlns:a16="http://schemas.microsoft.com/office/drawing/2014/main" id="{1C49BC34-83F0-4332-9ABF-BAED5D505AC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A list comprehension makes the same list. Learn the ordinary loop first.</a:t>
            </a:r>
          </a:p>
        </p:txBody>
      </p:sp>
      <p:sp>
        <p:nvSpPr>
          <p:cNvPr id="11" name="">
            <a:extLst xmlns:a="http://schemas.openxmlformats.org/drawingml/2006/main">
              <a:ext uri="{FF2B5EF4-FFF2-40B4-BE49-F238E27FC236}">
                <a16:creationId xmlns:a16="http://schemas.microsoft.com/office/drawing/2014/main" id="{5BCC333D-F83E-4F0E-8B9F-29F191697B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35</a:t>
            </a:r>
          </a:p>
        </p:txBody>
      </p:sp>
    </p:spTree>
    <p:extLst>
      <p:ext uri="{BB962C8B-B14F-4D97-AF65-F5344CB8AC3E}">
        <p14:creationId xmlns:p14="http://schemas.microsoft.com/office/powerpoint/2010/main" val="23925899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FC5857A-B93B-4DD4-8101-97F0767729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12C0B44-3B8E-40A6-88DC-CEE018DE09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DF85028-EAF4-4099-92C0-CB2FC889CD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D4989430-C314-4629-86CB-20776DB8C04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2C76F18-6D3A-4DF3-ADDF-91D0C40BEE9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W06 uses a list of record dictionaries.</a:t>
            </a:r>
          </a:p>
        </p:txBody>
      </p:sp>
      <p:sp>
        <p:nvSpPr>
          <p:cNvPr id="6" name="">
            <a:extLst xmlns:a="http://schemas.openxmlformats.org/drawingml/2006/main">
              <a:ext uri="{FF2B5EF4-FFF2-40B4-BE49-F238E27FC236}">
                <a16:creationId xmlns:a16="http://schemas.microsoft.com/office/drawing/2014/main" id="{DD849798-BBAA-437E-873C-E12C55EF96B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DB5398B-675B-4DC7-AB7B-01A61ED5FF7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Show one record and one field lookup before the function interfaces.</a:t>
            </a:r>
          </a:p>
        </p:txBody>
      </p:sp>
      <p:sp>
        <p:nvSpPr>
          <p:cNvPr id="8" name="">
            <a:extLst xmlns:a="http://schemas.openxmlformats.org/drawingml/2006/main">
              <a:ext uri="{FF2B5EF4-FFF2-40B4-BE49-F238E27FC236}">
                <a16:creationId xmlns:a16="http://schemas.microsoft.com/office/drawing/2014/main" id="{39CE86BF-23C8-4D9F-92DF-DB38AB552CC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B5FB0F4-1408-497D-9998-74F90828408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Parse CSV blank numeric cells as None. dict(row) copies a record. append adds an item to a list.</a:t>
            </a:r>
          </a:p>
        </p:txBody>
      </p:sp>
      <p:sp>
        <p:nvSpPr>
          <p:cNvPr id="10" name="">
            <a:extLst xmlns:a="http://schemas.openxmlformats.org/drawingml/2006/main">
              <a:ext uri="{FF2B5EF4-FFF2-40B4-BE49-F238E27FC236}">
                <a16:creationId xmlns:a16="http://schemas.microsoft.com/office/drawing/2014/main" id="{9EEA8CFB-4AD7-4CA9-87C6-3F964B251CD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17FFFA1-0A7E-4344-BE20-8E384A3A369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task brief specifies the cleaning order and returned outputs.</a:t>
            </a:r>
          </a:p>
        </p:txBody>
      </p:sp>
      <p:sp>
        <p:nvSpPr>
          <p:cNvPr id="12" name="">
            <a:extLst xmlns:a="http://schemas.openxmlformats.org/drawingml/2006/main">
              <a:ext uri="{FF2B5EF4-FFF2-40B4-BE49-F238E27FC236}">
                <a16:creationId xmlns:a16="http://schemas.microsoft.com/office/drawing/2014/main" id="{FD395767-E178-4151-B150-316FF50226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36</a:t>
            </a:r>
          </a:p>
        </p:txBody>
      </p:sp>
    </p:spTree>
    <p:extLst>
      <p:ext uri="{BB962C8B-B14F-4D97-AF65-F5344CB8AC3E}">
        <p14:creationId xmlns:p14="http://schemas.microsoft.com/office/powerpoint/2010/main" val="66057067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34EB1A1-F5C9-4FBD-8B3F-FF3A6D9DAD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D73A69-1D59-4034-BE54-B1523FD705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28BA0A2-5C80-459E-AF46-97F05A37CD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A7B97DFF-6590-4604-98EE-18236B7A3BD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B829660-88C0-4129-94B6-F9F90C84F9E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records IDs already seen.</a:t>
            </a:r>
          </a:p>
        </p:txBody>
      </p:sp>
      <p:sp>
        <p:nvSpPr>
          <p:cNvPr id="6" name="">
            <a:extLst xmlns:a="http://schemas.openxmlformats.org/drawingml/2006/main">
              <a:ext uri="{FF2B5EF4-FFF2-40B4-BE49-F238E27FC236}">
                <a16:creationId xmlns:a16="http://schemas.microsoft.com/office/drawing/2014/main" id="{311567C2-6B65-4479-9480-8799E4D3AB2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8983BB6-64B0-42B1-9FE5-4B67BB433E9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 summaries collect readings with the same equipment ID.</a:t>
            </a:r>
          </a:p>
        </p:txBody>
      </p:sp>
      <p:sp>
        <p:nvSpPr>
          <p:cNvPr id="8" name="">
            <a:extLst xmlns:a="http://schemas.openxmlformats.org/drawingml/2006/main">
              <a:ext uri="{FF2B5EF4-FFF2-40B4-BE49-F238E27FC236}">
                <a16:creationId xmlns:a16="http://schemas.microsoft.com/office/drawing/2014/main" id="{76B90E55-BF94-4AAC-ADD8-36209778020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C2D3536-C04A-4026-8997-462F1F5FDA2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that written evidence belongs in My written evidence, not in code comments.</a:t>
            </a:r>
          </a:p>
        </p:txBody>
      </p:sp>
      <p:sp>
        <p:nvSpPr>
          <p:cNvPr id="10" name="">
            <a:extLst xmlns:a="http://schemas.openxmlformats.org/drawingml/2006/main">
              <a:ext uri="{FF2B5EF4-FFF2-40B4-BE49-F238E27FC236}">
                <a16:creationId xmlns:a16="http://schemas.microsoft.com/office/drawing/2014/main" id="{26683C34-B2ED-4BEC-B784-BBCACC502C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37</a:t>
            </a:r>
          </a:p>
        </p:txBody>
      </p:sp>
    </p:spTree>
    <p:extLst>
      <p:ext uri="{BB962C8B-B14F-4D97-AF65-F5344CB8AC3E}">
        <p14:creationId xmlns:p14="http://schemas.microsoft.com/office/powerpoint/2010/main" val="35910104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75B0758-ED86-4D9A-B111-15D6AB6BE1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2C7BFC-2A3B-4775-BFFC-67341AFCAC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77CDAC0-2867-46C0-A989-25F1C8AF0E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choices and charts</a:t>
            </a:r>
          </a:p>
        </p:txBody>
      </p:sp>
      <p:sp>
        <p:nvSpPr>
          <p:cNvPr id="4" name="">
            <a:extLst xmlns:a="http://schemas.openxmlformats.org/drawingml/2006/main">
              <a:ext uri="{FF2B5EF4-FFF2-40B4-BE49-F238E27FC236}">
                <a16:creationId xmlns:a16="http://schemas.microsoft.com/office/drawing/2014/main" id="{740B7EA0-E2B5-4037-BBF8-005A2BC72C4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9DC4F81-595D-4CF3-B4BE-A8144772702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Filling blanks with zero changes the mean and may be unjustified.</a:t>
            </a:r>
          </a:p>
        </p:txBody>
      </p:sp>
      <p:sp>
        <p:nvSpPr>
          <p:cNvPr id="6" name="">
            <a:extLst xmlns:a="http://schemas.openxmlformats.org/drawingml/2006/main">
              <a:ext uri="{FF2B5EF4-FFF2-40B4-BE49-F238E27FC236}">
                <a16:creationId xmlns:a16="http://schemas.microsoft.com/office/drawing/2014/main" id="{FE2F6DBB-2CCC-4E5B-A386-D162D7F6C05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8FFF33F-72BE-4A19-9D99-95C57B9DC63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Dropping every row with any blank can remove valid observations.</a:t>
            </a:r>
          </a:p>
        </p:txBody>
      </p:sp>
      <p:sp>
        <p:nvSpPr>
          <p:cNvPr id="8" name="">
            <a:extLst xmlns:a="http://schemas.openxmlformats.org/drawingml/2006/main">
              <a:ext uri="{FF2B5EF4-FFF2-40B4-BE49-F238E27FC236}">
                <a16:creationId xmlns:a16="http://schemas.microsoft.com/office/drawing/2014/main" id="{439B555E-49BD-45AC-AEF4-CFA39A62720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C79807A-7126-49DC-A14C-57E8CD4BD96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failed numeric conversion identifies a problematic value to inspect rather than hide.</a:t>
            </a:r>
          </a:p>
        </p:txBody>
      </p:sp>
      <p:sp>
        <p:nvSpPr>
          <p:cNvPr id="10" name="">
            <a:extLst xmlns:a="http://schemas.openxmlformats.org/drawingml/2006/main">
              <a:ext uri="{FF2B5EF4-FFF2-40B4-BE49-F238E27FC236}">
                <a16:creationId xmlns:a16="http://schemas.microsoft.com/office/drawing/2014/main" id="{FD8354A7-1C44-492C-A64F-FD42F01911F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B02239B-87FA-4DFE-BC68-199DD36153C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describes one distribution; a scatter plot shows paired values; a grouped chart compares groups.</a:t>
            </a:r>
          </a:p>
        </p:txBody>
      </p:sp>
      <p:sp>
        <p:nvSpPr>
          <p:cNvPr id="12" name="">
            <a:extLst xmlns:a="http://schemas.openxmlformats.org/drawingml/2006/main">
              <a:ext uri="{FF2B5EF4-FFF2-40B4-BE49-F238E27FC236}">
                <a16:creationId xmlns:a16="http://schemas.microsoft.com/office/drawing/2014/main" id="{E9292AC5-EE9B-4B4E-B9BD-29624AC531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38</a:t>
            </a:r>
          </a:p>
        </p:txBody>
      </p:sp>
    </p:spTree>
    <p:extLst>
      <p:ext uri="{BB962C8B-B14F-4D97-AF65-F5344CB8AC3E}">
        <p14:creationId xmlns:p14="http://schemas.microsoft.com/office/powerpoint/2010/main" val="1113563360"/>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2F00CFD-CFCD-4A06-BE4E-AC45119589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7F9B7C9-7FC5-41FD-86F9-F4A5449DC5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9DF6F84-03F4-4B1D-B7B3-360DE2C391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choices and charts continued</a:t>
            </a:r>
          </a:p>
        </p:txBody>
      </p:sp>
      <p:sp>
        <p:nvSpPr>
          <p:cNvPr id="4" name="">
            <a:extLst xmlns:a="http://schemas.openxmlformats.org/drawingml/2006/main">
              <a:ext uri="{FF2B5EF4-FFF2-40B4-BE49-F238E27FC236}">
                <a16:creationId xmlns:a16="http://schemas.microsoft.com/office/drawing/2014/main" id="{D8492925-AA52-4A40-BA59-71B2E2501DC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551DC8-937E-459F-A302-289A58AEA88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A9A5E1E-22F2-4D22-9CC8-B6E454F4956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Read both axes and units.</a:t>
            </a:r>
          </a:p>
        </p:txBody>
      </p:sp>
      <p:sp>
        <p:nvSpPr>
          <p:cNvPr id="7" name="">
            <a:extLst xmlns:a="http://schemas.openxmlformats.org/drawingml/2006/main">
              <a:ext uri="{FF2B5EF4-FFF2-40B4-BE49-F238E27FC236}">
                <a16:creationId xmlns:a16="http://schemas.microsoft.com/office/drawing/2014/main" id="{46BF07E5-18C7-4606-B499-DE49F1F0520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plausible extreme needs investigation before deletion.</a:t>
            </a:r>
          </a:p>
        </p:txBody>
      </p:sp>
      <p:sp>
        <p:nvSpPr>
          <p:cNvPr id="8" name="">
            <a:extLst xmlns:a="http://schemas.openxmlformats.org/drawingml/2006/main">
              <a:ext uri="{FF2B5EF4-FFF2-40B4-BE49-F238E27FC236}">
                <a16:creationId xmlns:a16="http://schemas.microsoft.com/office/drawing/2014/main" id="{A0829F19-43F2-44D5-86B5-88E4F2FD3B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39</a:t>
            </a:r>
          </a:p>
        </p:txBody>
      </p:sp>
    </p:spTree>
    <p:extLst>
      <p:ext uri="{BB962C8B-B14F-4D97-AF65-F5344CB8AC3E}">
        <p14:creationId xmlns:p14="http://schemas.microsoft.com/office/powerpoint/2010/main" val="130263659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9B6C51D-7791-49B2-93D0-7BFAF23A2D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F29CA3-6FB6-4941-9EFA-A3E5336393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C2CFDDD-E1D8-47BC-B930-AF2467455E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37DA6F98-C5DE-47BE-AE9F-CBA93DE204B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47532B7-AD12-4CF9-BC46-31D63854CA6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8A6352E4-BFD2-4D6D-9C38-664DD9C0C9D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13C02D9-60AF-4C1F-B121-6D756A4C687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209A75A7-72A3-474F-A7EE-2EBDED31288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F140D57-DFAE-4821-9DBB-1F35728F7C7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DC23A580-2591-4699-8E3A-5A57035D139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9A4A372-DC02-4E3D-ADC1-4437A9752DB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68840FF0-61C5-4D0A-B1CB-CBFC77663C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40</a:t>
            </a:r>
          </a:p>
        </p:txBody>
      </p:sp>
    </p:spTree>
    <p:extLst>
      <p:ext uri="{BB962C8B-B14F-4D97-AF65-F5344CB8AC3E}">
        <p14:creationId xmlns:p14="http://schemas.microsoft.com/office/powerpoint/2010/main" val="94061681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C765C32-EC40-476C-B5CC-808A39A822B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0169A6-D093-4429-AAAA-C734C65DFD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EAC1D484-E667-4D2B-BD5B-B1492DE76F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clean_records(records)</a:t>
            </a:r>
          </a:p>
        </p:txBody>
      </p:sp>
      <p:sp>
        <p:nvSpPr>
          <p:cNvPr id="4" name="">
            <a:extLst xmlns:a="http://schemas.openxmlformats.org/drawingml/2006/main">
              <a:ext uri="{FF2B5EF4-FFF2-40B4-BE49-F238E27FC236}">
                <a16:creationId xmlns:a16="http://schemas.microsoft.com/office/drawing/2014/main" id="{5CB4C63D-06C1-441D-ABAC-4743AEF9840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B313A5-AEFE-4BB7-885A-CE2692DFD5D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copied records in original order: remove repeated record_id after its first occurrence, drop rows with missing target or load_pct outside 0–100 inclusive, then fill missing ambient_c with the median of retained non-missing ambient_c values.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Preserve raw input.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No other changes.</a:t>
            </a:r>
          </a:p>
        </p:txBody>
      </p:sp>
      <p:sp>
        <p:nvSpPr>
          <p:cNvPr id="6" name="">
            <a:extLst xmlns:a="http://schemas.openxmlformats.org/drawingml/2006/main">
              <a:ext uri="{FF2B5EF4-FFF2-40B4-BE49-F238E27FC236}">
                <a16:creationId xmlns:a16="http://schemas.microsoft.com/office/drawing/2014/main" id="{F8CE673B-2E6F-4EEF-B71E-F9A77B45F00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F602A5A-EFF7-4380-B851-C91852BFD6C5}"/>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5DDE992F-F0EF-40AD-BA42-8BC1AA3D41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41</a:t>
            </a:r>
          </a:p>
        </p:txBody>
      </p:sp>
    </p:spTree>
    <p:extLst>
      <p:ext uri="{BB962C8B-B14F-4D97-AF65-F5344CB8AC3E}">
        <p14:creationId xmlns:p14="http://schemas.microsoft.com/office/powerpoint/2010/main" val="271678154"/>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0EFB42A-DB41-4E34-906E-2606C8AEBA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5EB8BE-0136-4B3D-BEAA-0C87F51FA0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3C78FEA-9D1B-4B2E-B35F-BED6F6EB4E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summarize_records(clean_records)</a:t>
            </a:r>
          </a:p>
        </p:txBody>
      </p:sp>
      <p:sp>
        <p:nvSpPr>
          <p:cNvPr id="4" name="">
            <a:extLst xmlns:a="http://schemas.openxmlformats.org/drawingml/2006/main">
              <a:ext uri="{FF2B5EF4-FFF2-40B4-BE49-F238E27FC236}">
                <a16:creationId xmlns:a16="http://schemas.microsoft.com/office/drawing/2014/main" id="{6E1B8FD8-C4AD-4417-AF73-E9906F2A969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E232DB9-0C90-430F-8D4B-E4B6BA344A6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count, mean, minimum, maximum of target and group_means by equipment_id.</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Retain full precision.</a:t>
            </a:r>
          </a:p>
        </p:txBody>
      </p:sp>
      <p:sp>
        <p:nvSpPr>
          <p:cNvPr id="6" name="">
            <a:extLst xmlns:a="http://schemas.openxmlformats.org/drawingml/2006/main">
              <a:ext uri="{FF2B5EF4-FFF2-40B4-BE49-F238E27FC236}">
                <a16:creationId xmlns:a16="http://schemas.microsoft.com/office/drawing/2014/main" id="{E985CA5E-A46F-4782-B9D6-828000C853A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1AC1FF4-15AD-4CC9-B823-3F9512784B4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299DAC8-684B-4D78-B9E7-5EAD296907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42</a:t>
            </a:r>
          </a:p>
        </p:txBody>
      </p:sp>
    </p:spTree>
    <p:extLst>
      <p:ext uri="{BB962C8B-B14F-4D97-AF65-F5344CB8AC3E}">
        <p14:creationId xmlns:p14="http://schemas.microsoft.com/office/powerpoint/2010/main" val="137631512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93C7841-739F-4AD1-A14A-C869D4883B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FB1F6E5-24AD-441C-9511-B33A41B816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C6D3EAA9-AC60-4D54-917E-4406EB12FA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audit_cleaning(raw_records, cleaned_records)</a:t>
            </a:r>
          </a:p>
        </p:txBody>
      </p:sp>
      <p:sp>
        <p:nvSpPr>
          <p:cNvPr id="4" name="">
            <a:extLst xmlns:a="http://schemas.openxmlformats.org/drawingml/2006/main">
              <a:ext uri="{FF2B5EF4-FFF2-40B4-BE49-F238E27FC236}">
                <a16:creationId xmlns:a16="http://schemas.microsoft.com/office/drawing/2014/main" id="{B10AD7ED-DA14-48EA-8965-95ED10370E8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54AFA0-B8DF-407F-8D1D-9B391AA2838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raw_count and cleaned_count; duplicate_ids is the number of cleaned records beyond the first occurrence of each record_id; missing_targets counts None targets; invalid_loads counts cleaned load_pct outside 0–100 inclusive.</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Report the actual supplied data, which may still contain defects.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Do not change either input.</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All five values are integer counts.</a:t>
            </a:r>
          </a:p>
        </p:txBody>
      </p:sp>
      <p:sp>
        <p:nvSpPr>
          <p:cNvPr id="6" name="">
            <a:extLst xmlns:a="http://schemas.openxmlformats.org/drawingml/2006/main">
              <a:ext uri="{FF2B5EF4-FFF2-40B4-BE49-F238E27FC236}">
                <a16:creationId xmlns:a16="http://schemas.microsoft.com/office/drawing/2014/main" id="{31AAB9DF-CEE9-4312-B2B0-1D51325A808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0AEDE31-34E6-4190-BA4C-438D9F7BA14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6C868B0-D231-4FA8-B409-A64578FF99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43</a:t>
            </a:r>
          </a:p>
        </p:txBody>
      </p:sp>
    </p:spTree>
    <p:extLst>
      <p:ext uri="{BB962C8B-B14F-4D97-AF65-F5344CB8AC3E}">
        <p14:creationId xmlns:p14="http://schemas.microsoft.com/office/powerpoint/2010/main" val="1455205416"/>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BB9BE73-30EB-4A57-AF5A-10378B4B3C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6CA6611-2760-4FE0-8529-C2B153BCAC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6DB676F-5887-44BE-81CA-35E32CC43C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19F364D3-C6E5-44B2-8840-2EB0642E349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63E75E-BF90-42C9-AA0F-38FC7581F78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FB1BA971-99BC-455F-831F-188175DB56F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8BB4268-40B9-4C20-9F0F-EABD74457FB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5838F437-EAA2-4089-9B2C-F250B1E1867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6C26A8A-78A2-48C3-9FE2-7D8AE3918F7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CB4E4A4F-FD9C-4FE1-8C8F-17641729EB3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15E3E16-B4FE-4479-9D16-897875EB9DD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E84BD4DE-3CF1-485D-AD15-2C195188C3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44</a:t>
            </a:r>
          </a:p>
        </p:txBody>
      </p:sp>
    </p:spTree>
    <p:extLst>
      <p:ext uri="{BB962C8B-B14F-4D97-AF65-F5344CB8AC3E}">
        <p14:creationId xmlns:p14="http://schemas.microsoft.com/office/powerpoint/2010/main" val="2014973176"/>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769F4A9-E4A1-4625-BBAB-A127D62D4A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4F911E-C60F-4E36-AA98-1B90E66A50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17200B4D-9AA5-49C3-B61A-ED505D7011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and quality submission</a:t>
            </a:r>
          </a:p>
        </p:txBody>
      </p:sp>
      <p:sp>
        <p:nvSpPr>
          <p:cNvPr id="4" name="">
            <a:extLst xmlns:a="http://schemas.openxmlformats.org/drawingml/2006/main">
              <a:ext uri="{FF2B5EF4-FFF2-40B4-BE49-F238E27FC236}">
                <a16:creationId xmlns:a16="http://schemas.microsoft.com/office/drawing/2014/main" id="{443BAB90-7AD6-448A-AC91-970329B2C23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521F20D-D2F3-499C-8FD2-FCCB026D3912}"/>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13 Oct 2026, 11:00 Kampala</a:t>
            </a:r>
          </a:p>
        </p:txBody>
      </p:sp>
      <p:sp>
        <p:nvSpPr>
          <p:cNvPr id="6" name="">
            <a:extLst xmlns:a="http://schemas.openxmlformats.org/drawingml/2006/main">
              <a:ext uri="{FF2B5EF4-FFF2-40B4-BE49-F238E27FC236}">
                <a16:creationId xmlns:a16="http://schemas.microsoft.com/office/drawing/2014/main" id="{00A8A037-A127-4C2F-A6A3-39A6B8D021A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AD42AC0-0E23-414E-9629-F26DF5F2584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20 Oct 2026, 11:00 Kampala</a:t>
            </a:r>
          </a:p>
        </p:txBody>
      </p:sp>
      <p:sp>
        <p:nvSpPr>
          <p:cNvPr id="8" name="">
            <a:extLst xmlns:a="http://schemas.openxmlformats.org/drawingml/2006/main">
              <a:ext uri="{FF2B5EF4-FFF2-40B4-BE49-F238E27FC236}">
                <a16:creationId xmlns:a16="http://schemas.microsoft.com/office/drawing/2014/main" id="{B2A1E94E-ED08-43FA-A7E5-2704ED28ED21}"/>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4D40BE5-1E6D-4565-9020-4A5CE11B8BC3}"/>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C42D913-3B33-4C9E-855F-CDC8E98A028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A5AB240-C348-4068-B8D5-FBAFFEB3622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97A9ED38-BBD7-4F55-B7DE-9396CAE8A27F}"/>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5664B56-AD51-4E4C-BFD1-80708A2C0A5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3708fd6ad234826"/>
              </a:rPr>
              <a:t>Open W06 assignment form</a:t>
            </a:r>
          </a:p>
        </p:txBody>
      </p:sp>
      <p:sp>
        <p:nvSpPr>
          <p:cNvPr id="14" name="">
            <a:extLst xmlns:a="http://schemas.openxmlformats.org/drawingml/2006/main">
              <a:ext uri="{FF2B5EF4-FFF2-40B4-BE49-F238E27FC236}">
                <a16:creationId xmlns:a16="http://schemas.microsoft.com/office/drawing/2014/main" id="{843152BB-269C-41BA-A296-D06B4328E78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https://docs.google.com/forms/d/e/1FAIpQLScHyVpTnSxgMVMvsImyTtkME2QAGZmMg55dBKy2VvQ_0d7fxQ/viewform</a:t>
            </a:r>
          </a:p>
        </p:txBody>
      </p:sp>
      <p:sp>
        <p:nvSpPr>
          <p:cNvPr id="15" name="">
            <a:extLst xmlns:a="http://schemas.openxmlformats.org/drawingml/2006/main">
              <a:ext uri="{FF2B5EF4-FFF2-40B4-BE49-F238E27FC236}">
                <a16:creationId xmlns:a16="http://schemas.microsoft.com/office/drawing/2014/main" id="{B527AA4A-B41F-4FC6-84ED-0551F5888E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45</a:t>
            </a:r>
          </a:p>
        </p:txBody>
      </p:sp>
    </p:spTree>
    <p:extLst>
      <p:ext uri="{BB962C8B-B14F-4D97-AF65-F5344CB8AC3E}">
        <p14:creationId xmlns:p14="http://schemas.microsoft.com/office/powerpoint/2010/main" val="1676025209"/>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4D1C68C-B0F3-4F6B-A217-C0775F293B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88BC6F8-FEDE-407B-9740-8DCF2D595D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177D528-F887-45BF-81B6-AF6F355AC6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412FB02A-110C-4536-83C6-66A88ACCF4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F23A84-1E5A-4D2C-A6FA-E0B26D3B6D7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AF4DBD2B-760F-4226-9B50-BDEFE78B970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A12D108-5070-4C43-AFEC-5A9E43D27DA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3C23D950-5C2C-4E0C-B8A5-8905A080FC6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7C3D081-1711-4DAD-BA8F-C1AD98358F1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BB52F4C5-20A5-471A-A4C7-13CC920DD2B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17DC74B-9E6F-4BFE-88F6-2C05A6AC64C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27 Oct 2026, 11:00 Kampala</a:t>
            </a:r>
          </a:p>
        </p:txBody>
      </p:sp>
      <p:sp>
        <p:nvSpPr>
          <p:cNvPr id="12" name="">
            <a:extLst xmlns:a="http://schemas.openxmlformats.org/drawingml/2006/main">
              <a:ext uri="{FF2B5EF4-FFF2-40B4-BE49-F238E27FC236}">
                <a16:creationId xmlns:a16="http://schemas.microsoft.com/office/drawing/2014/main" id="{8EBD678D-6B62-4FE2-923E-B228E5FCC2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46</a:t>
            </a:r>
          </a:p>
        </p:txBody>
      </p:sp>
    </p:spTree>
    <p:extLst>
      <p:ext uri="{BB962C8B-B14F-4D97-AF65-F5344CB8AC3E}">
        <p14:creationId xmlns:p14="http://schemas.microsoft.com/office/powerpoint/2010/main" val="1637374671"/>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A805DEE-46D1-46B2-9A03-991E2C46CA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8D4FA6-1054-4542-BBBE-3FB44CC4C7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C21BC0B3-2485-4899-B8EB-94378CB69B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6 quiz</a:t>
            </a:r>
          </a:p>
        </p:txBody>
      </p:sp>
      <p:sp>
        <p:nvSpPr>
          <p:cNvPr id="4" name="">
            <a:extLst xmlns:a="http://schemas.openxmlformats.org/drawingml/2006/main">
              <a:ext uri="{FF2B5EF4-FFF2-40B4-BE49-F238E27FC236}">
                <a16:creationId xmlns:a16="http://schemas.microsoft.com/office/drawing/2014/main" id="{776EB062-1F8C-4C2B-8EAA-9F555945A42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35B34EA-41A3-4DFE-92D7-12302ABD721F}"/>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3AEB70E2-6B16-443A-8682-960107CCECF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A0C371-0C65-488C-BA44-F80D867DF80F}"/>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D3C52A8D-5E85-465E-878F-77753AE4F1A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34FCAC8-255F-4D48-BC38-D6DBAA4B606E}"/>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8BFFFB70-CA19-4831-B965-CE6563B258AD}"/>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6B3D3DE-77D3-4C0A-99E6-F87D15FDD59F}"/>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7656e05d55464fdf"/>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6E454E05-A6E6-42F8-95E9-9C40C46F02E6}"/>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549115FD-FD9D-4475-BC69-CC45B285E28F}"/>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360A96A-C411-419C-9519-5CE98DD819F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645daf0619b4f7a"/>
              </a:rPr>
              <a:t>Open this week’s quiz</a:t>
            </a:r>
          </a:p>
        </p:txBody>
      </p:sp>
      <p:sp>
        <p:nvSpPr>
          <p:cNvPr id="16" name="">
            <a:extLst xmlns:a="http://schemas.openxmlformats.org/drawingml/2006/main">
              <a:ext uri="{FF2B5EF4-FFF2-40B4-BE49-F238E27FC236}">
                <a16:creationId xmlns:a16="http://schemas.microsoft.com/office/drawing/2014/main" id="{CB174EC3-528F-4B63-AA9E-F50B21D4EE4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https://forms.gle/i4xkY7g2jn8Q7HXt8</a:t>
            </a:r>
          </a:p>
        </p:txBody>
      </p:sp>
      <p:sp>
        <p:nvSpPr>
          <p:cNvPr id="17" name="">
            <a:extLst xmlns:a="http://schemas.openxmlformats.org/drawingml/2006/main">
              <a:ext uri="{FF2B5EF4-FFF2-40B4-BE49-F238E27FC236}">
                <a16:creationId xmlns:a16="http://schemas.microsoft.com/office/drawing/2014/main" id="{42DE634A-59A8-4290-965A-5574996070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47</a:t>
            </a:r>
          </a:p>
        </p:txBody>
      </p:sp>
    </p:spTree>
    <p:extLst>
      <p:ext uri="{BB962C8B-B14F-4D97-AF65-F5344CB8AC3E}">
        <p14:creationId xmlns:p14="http://schemas.microsoft.com/office/powerpoint/2010/main" val="832959335"/>
      </p:ext>
    </p:extLst>
  </p:cSld>
</p:sld>
</file>

<file path=ppt/slides/slide4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AC03E9A-C3F8-44B6-93D7-88D5FBCBE7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09EE7170-27A7-4F66-942B-5AA83D59C7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55D580B5-A97A-44BC-A14D-EE9B163E13CF}"/>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C5643856-51B9-4531-9485-C8FC85189B29}"/>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justify a change, show its effect and identify an estimated value.</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A12A7459-C375-4437-BAB3-863F1E598AE9}"/>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59A31590-50CA-4993-B359-B30A0B5809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6   48</a:t>
            </a:r>
          </a:p>
        </p:txBody>
      </p:sp>
    </p:spTree>
    <p:extLst>
      <p:ext uri="{BB962C8B-B14F-4D97-AF65-F5344CB8AC3E}">
        <p14:creationId xmlns:p14="http://schemas.microsoft.com/office/powerpoint/2010/main" val="991483605"/>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7998611-962C-49C9-BFA5-5DC22CB468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FB010E-2F83-4ECC-8412-CD0F649051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135776A3-B1D9-4B2C-9FDC-5B0442422A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0C20B2EE-A035-441C-9792-A1A5ADF77FB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B198CBC-E33E-4FC9-A714-64D1CCA7FC9A}"/>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29B5A463-4CC2-4FF9-B041-A391684C7BEE}"/>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43B4807-7D50-4628-B86E-D28692B3230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Boxplots are Awesome!!!</a:t>
            </a:r>
          </a:p>
        </p:txBody>
      </p:sp>
      <p:sp>
        <p:nvSpPr>
          <p:cNvPr id="8" name="">
            <a:extLst xmlns:a="http://schemas.openxmlformats.org/drawingml/2006/main">
              <a:ext uri="{FF2B5EF4-FFF2-40B4-BE49-F238E27FC236}">
                <a16:creationId xmlns:a16="http://schemas.microsoft.com/office/drawing/2014/main" id="{14381BCE-A00F-4479-820B-26A5A71FD237}"/>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236B4DD-B3C9-4B12-A59C-C3DCD8E2857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3128B40F-2C68-46B5-BA0F-EDB8F6D95B0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4221937-890A-431D-B4BD-C8086CD3242B}"/>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What does the box show, and does a point outside it prove an error?</a:t>
            </a:r>
          </a:p>
        </p:txBody>
      </p:sp>
      <p:sp>
        <p:nvSpPr>
          <p:cNvPr id="12" name="">
            <a:extLst xmlns:a="http://schemas.openxmlformats.org/drawingml/2006/main">
              <a:ext uri="{FF2B5EF4-FFF2-40B4-BE49-F238E27FC236}">
                <a16:creationId xmlns:a16="http://schemas.microsoft.com/office/drawing/2014/main" id="{B8E49A18-1133-4CEB-8D58-7C13C788E4F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CFD36A6-CD8D-4BE9-8A41-88692CA7401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36f925a288d4753"/>
              </a:rPr>
              <a:t>Open explainer video</a:t>
            </a:r>
          </a:p>
        </p:txBody>
      </p:sp>
      <p:sp>
        <p:nvSpPr>
          <p:cNvPr id="14" name="">
            <a:extLst xmlns:a="http://schemas.openxmlformats.org/drawingml/2006/main">
              <a:ext uri="{FF2B5EF4-FFF2-40B4-BE49-F238E27FC236}">
                <a16:creationId xmlns:a16="http://schemas.microsoft.com/office/drawing/2014/main" id="{09B7C3FC-5375-4228-A4C0-F10A9D09EE9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https://www.youtube.com/watch?v=fHLhBnmwUM0</a:t>
            </a:r>
          </a:p>
        </p:txBody>
      </p:sp>
      <p:sp>
        <p:nvSpPr>
          <p:cNvPr id="15" name="">
            <a:extLst xmlns:a="http://schemas.openxmlformats.org/drawingml/2006/main">
              <a:ext uri="{FF2B5EF4-FFF2-40B4-BE49-F238E27FC236}">
                <a16:creationId xmlns:a16="http://schemas.microsoft.com/office/drawing/2014/main" id="{3DAE20A9-84E7-45F2-AF52-B5DA53F6A5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49</a:t>
            </a:r>
          </a:p>
        </p:txBody>
      </p:sp>
    </p:spTree>
    <p:extLst>
      <p:ext uri="{BB962C8B-B14F-4D97-AF65-F5344CB8AC3E}">
        <p14:creationId xmlns:p14="http://schemas.microsoft.com/office/powerpoint/2010/main" val="18544150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2026-09-28T21:14:53.0850000Z</dcterms:created>
  <dcterms:modified xsi:type="dcterms:W3CDTF">2026-09-28T21:14:53.0850000Z</dcterms:modified>
</coreProperties>
</file>