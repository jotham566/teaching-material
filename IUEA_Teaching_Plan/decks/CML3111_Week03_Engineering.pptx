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06a5b58f924174" /><Relationship Type="http://schemas.openxmlformats.org/officeDocument/2006/relationships/extended-properties" Target="/docProps/app.xml" Id="Rb44c03945ae849df" /><Relationship Type="http://schemas.openxmlformats.org/officeDocument/2006/relationships/officeDocument" Target="/ppt/presentation.xml" Id="R63de438f6d20488d" /></Relationships>
</file>

<file path=ppt/presentation.xml><?xml version="1.0" encoding="utf-8"?>
<p:presentation xmlns:p="http://schemas.openxmlformats.org/presentationml/2006/main">
  <p:sldMasterIdLst>
    <p:sldMasterId xmlns:r="http://schemas.openxmlformats.org/officeDocument/2006/relationships" id="2147483648" r:id="R3d3ac61f7fea42b1"/>
  </p:sldMasterIdLst>
  <p:notesMasterIdLst>
    <p:notesMasterId xmlns:r="http://schemas.openxmlformats.org/officeDocument/2006/relationships" r:id="R3bcb0a11f33d4b39"/>
  </p:notesMasterIdLst>
  <p:sldIdLst>
    <p:sldId xmlns:r="http://schemas.openxmlformats.org/officeDocument/2006/relationships" id="256" r:id="R95354732171e411d"/>
    <p:sldId xmlns:r="http://schemas.openxmlformats.org/officeDocument/2006/relationships" id="257" r:id="R6a23706bfc054476"/>
    <p:sldId xmlns:r="http://schemas.openxmlformats.org/officeDocument/2006/relationships" id="258" r:id="Re5ef81e09e6d485a"/>
    <p:sldId xmlns:r="http://schemas.openxmlformats.org/officeDocument/2006/relationships" id="259" r:id="Recefc15cface46eb"/>
    <p:sldId xmlns:r="http://schemas.openxmlformats.org/officeDocument/2006/relationships" id="260" r:id="Rc984181973a3452d"/>
    <p:sldId xmlns:r="http://schemas.openxmlformats.org/officeDocument/2006/relationships" id="261" r:id="Raca9b4977d614c41"/>
    <p:sldId xmlns:r="http://schemas.openxmlformats.org/officeDocument/2006/relationships" id="262" r:id="R34d14ed23a724007"/>
    <p:sldId xmlns:r="http://schemas.openxmlformats.org/officeDocument/2006/relationships" id="263" r:id="Rb97ab5cf0e8848a1"/>
    <p:sldId xmlns:r="http://schemas.openxmlformats.org/officeDocument/2006/relationships" id="264" r:id="R1949e56f518942fd"/>
    <p:sldId xmlns:r="http://schemas.openxmlformats.org/officeDocument/2006/relationships" id="265" r:id="Rfa22c88e14e94a04"/>
    <p:sldId xmlns:r="http://schemas.openxmlformats.org/officeDocument/2006/relationships" id="266" r:id="R4492b2fbb0424a91"/>
    <p:sldId xmlns:r="http://schemas.openxmlformats.org/officeDocument/2006/relationships" id="267" r:id="R262a847189514877"/>
    <p:sldId xmlns:r="http://schemas.openxmlformats.org/officeDocument/2006/relationships" id="268" r:id="Rd1c245cb001342cf"/>
    <p:sldId xmlns:r="http://schemas.openxmlformats.org/officeDocument/2006/relationships" id="269" r:id="R452189d8b50a4e9d"/>
    <p:sldId xmlns:r="http://schemas.openxmlformats.org/officeDocument/2006/relationships" id="270" r:id="Rfafd9f9e97914104"/>
    <p:sldId xmlns:r="http://schemas.openxmlformats.org/officeDocument/2006/relationships" id="271" r:id="Rdac0492d748b4940"/>
    <p:sldId xmlns:r="http://schemas.openxmlformats.org/officeDocument/2006/relationships" id="272" r:id="R22fb951213974870"/>
    <p:sldId xmlns:r="http://schemas.openxmlformats.org/officeDocument/2006/relationships" id="273" r:id="R251e2c3cb7e94cde"/>
    <p:sldId xmlns:r="http://schemas.openxmlformats.org/officeDocument/2006/relationships" id="274" r:id="Rdb48c1c0641f446e"/>
    <p:sldId xmlns:r="http://schemas.openxmlformats.org/officeDocument/2006/relationships" id="275" r:id="Rf3ae820c133d4a38"/>
    <p:sldId xmlns:r="http://schemas.openxmlformats.org/officeDocument/2006/relationships" id="276" r:id="Rf0ce716e9f0d41f3"/>
    <p:sldId xmlns:r="http://schemas.openxmlformats.org/officeDocument/2006/relationships" id="277" r:id="R7e7b078198274f53"/>
    <p:sldId xmlns:r="http://schemas.openxmlformats.org/officeDocument/2006/relationships" id="278" r:id="Rd7d2d16b2e914a6c"/>
    <p:sldId xmlns:r="http://schemas.openxmlformats.org/officeDocument/2006/relationships" id="279" r:id="R02ec67907ccb48c4"/>
    <p:sldId xmlns:r="http://schemas.openxmlformats.org/officeDocument/2006/relationships" id="280" r:id="R2bae74c227cb4b95"/>
    <p:sldId xmlns:r="http://schemas.openxmlformats.org/officeDocument/2006/relationships" id="281" r:id="R2a76ec4046c24da3"/>
    <p:sldId xmlns:r="http://schemas.openxmlformats.org/officeDocument/2006/relationships" id="282" r:id="R2db4eaca6a8a4352"/>
    <p:sldId xmlns:r="http://schemas.openxmlformats.org/officeDocument/2006/relationships" id="283" r:id="Rd3a6a39a39ec4d3f"/>
    <p:sldId xmlns:r="http://schemas.openxmlformats.org/officeDocument/2006/relationships" id="284" r:id="Rd5cee60e8ad844e7"/>
    <p:sldId xmlns:r="http://schemas.openxmlformats.org/officeDocument/2006/relationships" id="285" r:id="R0bef4f6d94a14880"/>
    <p:sldId xmlns:r="http://schemas.openxmlformats.org/officeDocument/2006/relationships" id="286" r:id="R17635982b8e44d33"/>
    <p:sldId xmlns:r="http://schemas.openxmlformats.org/officeDocument/2006/relationships" id="287" r:id="Ra66c7be800bf43a0"/>
    <p:sldId xmlns:r="http://schemas.openxmlformats.org/officeDocument/2006/relationships" id="288" r:id="Rc834a17235d34062"/>
    <p:sldId xmlns:r="http://schemas.openxmlformats.org/officeDocument/2006/relationships" id="289" r:id="R26f8b124eb3f466a"/>
    <p:sldId xmlns:r="http://schemas.openxmlformats.org/officeDocument/2006/relationships" id="290" r:id="R9f53324dbe4546da"/>
    <p:sldId xmlns:r="http://schemas.openxmlformats.org/officeDocument/2006/relationships" id="291" r:id="Ra7d8dba5fd834f9a"/>
    <p:sldId xmlns:r="http://schemas.openxmlformats.org/officeDocument/2006/relationships" id="292" r:id="R870aca5489814958"/>
    <p:sldId xmlns:r="http://schemas.openxmlformats.org/officeDocument/2006/relationships" id="293" r:id="Rd7f7807b83ec4913"/>
    <p:sldId xmlns:r="http://schemas.openxmlformats.org/officeDocument/2006/relationships" id="294" r:id="R8988a9fbd201481e"/>
    <p:sldId xmlns:r="http://schemas.openxmlformats.org/officeDocument/2006/relationships" id="295" r:id="Rf0bf7f2576a4466c"/>
    <p:sldId xmlns:r="http://schemas.openxmlformats.org/officeDocument/2006/relationships" id="296" r:id="R16da616e6ede4b09"/>
    <p:sldId xmlns:r="http://schemas.openxmlformats.org/officeDocument/2006/relationships" id="297" r:id="R8899340e7ee9421e"/>
    <p:sldId xmlns:r="http://schemas.openxmlformats.org/officeDocument/2006/relationships" id="298" r:id="Rf6ae77df775d4c23"/>
    <p:sldId xmlns:r="http://schemas.openxmlformats.org/officeDocument/2006/relationships" id="299" r:id="R9108de0f4cdc4b8d"/>
    <p:sldId xmlns:r="http://schemas.openxmlformats.org/officeDocument/2006/relationships" id="300" r:id="R04836b529c5a44b0"/>
    <p:sldId xmlns:r="http://schemas.openxmlformats.org/officeDocument/2006/relationships" id="301" r:id="Rcf79ada6f5654ff1"/>
    <p:sldId xmlns:r="http://schemas.openxmlformats.org/officeDocument/2006/relationships" id="302" r:id="Rf26bff8b62c54319"/>
    <p:sldId xmlns:r="http://schemas.openxmlformats.org/officeDocument/2006/relationships" id="303" r:id="Ra92d8f9012274c09"/>
    <p:sldId xmlns:r="http://schemas.openxmlformats.org/officeDocument/2006/relationships" id="304" r:id="Reaf13b172e6d4dab"/>
    <p:sldId xmlns:r="http://schemas.openxmlformats.org/officeDocument/2006/relationships" id="305" r:id="R0e8d2d45bb014a06"/>
    <p:sldId xmlns:r="http://schemas.openxmlformats.org/officeDocument/2006/relationships" id="306" r:id="Rc5c6fd46eed7457a"/>
    <p:sldId xmlns:r="http://schemas.openxmlformats.org/officeDocument/2006/relationships" id="307" r:id="R1859641495e3443a"/>
    <p:sldId xmlns:r="http://schemas.openxmlformats.org/officeDocument/2006/relationships" id="308" r:id="R39b661373dd04a5b"/>
    <p:sldId xmlns:r="http://schemas.openxmlformats.org/officeDocument/2006/relationships" id="309" r:id="R1f1ff3e05d9942ff"/>
    <p:sldId xmlns:r="http://schemas.openxmlformats.org/officeDocument/2006/relationships" id="310" r:id="Rdf706994451a423c"/>
    <p:sldId xmlns:r="http://schemas.openxmlformats.org/officeDocument/2006/relationships" id="311" r:id="Ra75476ace16b4c11"/>
    <p:sldId xmlns:r="http://schemas.openxmlformats.org/officeDocument/2006/relationships" id="312" r:id="Re4268b3bdccc4035"/>
    <p:sldId xmlns:r="http://schemas.openxmlformats.org/officeDocument/2006/relationships" id="313" r:id="R8f193d46cfc5454c"/>
    <p:sldId xmlns:r="http://schemas.openxmlformats.org/officeDocument/2006/relationships" id="314" r:id="Rcae444649e2646b6"/>
    <p:sldId xmlns:r="http://schemas.openxmlformats.org/officeDocument/2006/relationships" id="315" r:id="Race1603c94b84708"/>
    <p:sldId xmlns:r="http://schemas.openxmlformats.org/officeDocument/2006/relationships" id="316" r:id="R0178c025839840bf"/>
    <p:sldId xmlns:r="http://schemas.openxmlformats.org/officeDocument/2006/relationships" id="317" r:id="R24954517bc53446e"/>
    <p:sldId xmlns:r="http://schemas.openxmlformats.org/officeDocument/2006/relationships" id="318" r:id="R9a77622aeccb4e76"/>
    <p:sldId xmlns:r="http://schemas.openxmlformats.org/officeDocument/2006/relationships" id="319" r:id="Rb5bf638660e34f94"/>
    <p:sldId xmlns:r="http://schemas.openxmlformats.org/officeDocument/2006/relationships" id="320" r:id="R3bcdad3381484aac"/>
    <p:sldId xmlns:r="http://schemas.openxmlformats.org/officeDocument/2006/relationships" id="321" r:id="R4abdbed295454fde"/>
    <p:sldId xmlns:r="http://schemas.openxmlformats.org/officeDocument/2006/relationships" id="322" r:id="R5dae70f74011461d"/>
    <p:sldId xmlns:r="http://schemas.openxmlformats.org/officeDocument/2006/relationships" id="323" r:id="R13124840bbb54609"/>
    <p:sldId xmlns:r="http://schemas.openxmlformats.org/officeDocument/2006/relationships" id="324" r:id="R43bf6402b2674af5"/>
    <p:sldId xmlns:r="http://schemas.openxmlformats.org/officeDocument/2006/relationships" id="325" r:id="Rd546a660705d4a16"/>
    <p:sldId xmlns:r="http://schemas.openxmlformats.org/officeDocument/2006/relationships" id="326" r:id="Rb196a8d057ab47fe"/>
    <p:sldId xmlns:r="http://schemas.openxmlformats.org/officeDocument/2006/relationships" id="327" r:id="R3f3b6e1cfac84453"/>
    <p:sldId xmlns:r="http://schemas.openxmlformats.org/officeDocument/2006/relationships" id="328" r:id="R7b4dc1237fa84b4c"/>
    <p:sldId xmlns:r="http://schemas.openxmlformats.org/officeDocument/2006/relationships" id="329" r:id="R7347b08b994a4ede"/>
    <p:sldId xmlns:r="http://schemas.openxmlformats.org/officeDocument/2006/relationships" id="330" r:id="R9fb907121c074b53"/>
    <p:sldId xmlns:r="http://schemas.openxmlformats.org/officeDocument/2006/relationships" id="331" r:id="R13d729b9512c43f8"/>
    <p:sldId xmlns:r="http://schemas.openxmlformats.org/officeDocument/2006/relationships" id="332" r:id="R5562e64b11934589"/>
    <p:sldId xmlns:r="http://schemas.openxmlformats.org/officeDocument/2006/relationships" id="333" r:id="R920e85dad355448e"/>
    <p:sldId xmlns:r="http://schemas.openxmlformats.org/officeDocument/2006/relationships" id="334" r:id="R8d9f3413da2b458a"/>
    <p:sldId xmlns:r="http://schemas.openxmlformats.org/officeDocument/2006/relationships" id="335" r:id="Rabbb79df0dac4cfe"/>
    <p:sldId xmlns:r="http://schemas.openxmlformats.org/officeDocument/2006/relationships" id="336" r:id="R36a0a933a2f849e0"/>
    <p:sldId xmlns:r="http://schemas.openxmlformats.org/officeDocument/2006/relationships" id="337" r:id="Ra2a2b25bfb1c46f0"/>
    <p:sldId xmlns:r="http://schemas.openxmlformats.org/officeDocument/2006/relationships" id="338" r:id="R3c876f2d0f2b49e8"/>
    <p:sldId xmlns:r="http://schemas.openxmlformats.org/officeDocument/2006/relationships" id="339" r:id="R0f7773a14f0441a8"/>
    <p:sldId xmlns:r="http://schemas.openxmlformats.org/officeDocument/2006/relationships" id="340" r:id="Recdea7e8d5be44fc"/>
    <p:sldId xmlns:r="http://schemas.openxmlformats.org/officeDocument/2006/relationships" id="341" r:id="R569550e1081c4432"/>
    <p:sldId xmlns:r="http://schemas.openxmlformats.org/officeDocument/2006/relationships" id="342" r:id="Rbbe928a9daf24dfc"/>
    <p:sldId xmlns:r="http://schemas.openxmlformats.org/officeDocument/2006/relationships" id="343" r:id="R9ac7de3f22a1462b"/>
    <p:sldId xmlns:r="http://schemas.openxmlformats.org/officeDocument/2006/relationships" id="344" r:id="Re30f42ca24c6475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f1083863879429e" /><Relationship Type="http://schemas.openxmlformats.org/officeDocument/2006/relationships/slideMaster" Target="/ppt/slideMasters/slideMaster1.xml" Id="R3d3ac61f7fea42b1" /><Relationship Type="http://schemas.openxmlformats.org/officeDocument/2006/relationships/notesMaster" Target="/ppt/notesMasters/notesMaster1.xml" Id="R3bcb0a11f33d4b39" /><Relationship Type="http://schemas.openxmlformats.org/officeDocument/2006/relationships/presProps" Target="/ppt/presProps.xml" Id="R531409a4b2014d54" /><Relationship Type="http://schemas.openxmlformats.org/officeDocument/2006/relationships/tableStyles" Target="/ppt/tableStyles.xml" Id="Raadfdc014a29485e" /><Relationship Type="http://schemas.openxmlformats.org/officeDocument/2006/relationships/slide" Target="/ppt/slides/slide1.xml" Id="R95354732171e411d" /><Relationship Type="http://schemas.openxmlformats.org/officeDocument/2006/relationships/slide" Target="/ppt/slides/slide2.xml" Id="R6a23706bfc054476" /><Relationship Type="http://schemas.openxmlformats.org/officeDocument/2006/relationships/slide" Target="/ppt/slides/slide3.xml" Id="Re5ef81e09e6d485a" /><Relationship Type="http://schemas.openxmlformats.org/officeDocument/2006/relationships/slide" Target="/ppt/slides/slide4.xml" Id="Recefc15cface46eb" /><Relationship Type="http://schemas.openxmlformats.org/officeDocument/2006/relationships/slide" Target="/ppt/slides/slide5.xml" Id="Rc984181973a3452d" /><Relationship Type="http://schemas.openxmlformats.org/officeDocument/2006/relationships/slide" Target="/ppt/slides/slide6.xml" Id="Raca9b4977d614c41" /><Relationship Type="http://schemas.openxmlformats.org/officeDocument/2006/relationships/slide" Target="/ppt/slides/slide7.xml" Id="R34d14ed23a724007" /><Relationship Type="http://schemas.openxmlformats.org/officeDocument/2006/relationships/slide" Target="/ppt/slides/slide8.xml" Id="Rb97ab5cf0e8848a1" /><Relationship Type="http://schemas.openxmlformats.org/officeDocument/2006/relationships/slide" Target="/ppt/slides/slide9.xml" Id="R1949e56f518942fd" /><Relationship Type="http://schemas.openxmlformats.org/officeDocument/2006/relationships/slide" Target="/ppt/slides/slide10.xml" Id="Rfa22c88e14e94a04" /><Relationship Type="http://schemas.openxmlformats.org/officeDocument/2006/relationships/slide" Target="/ppt/slides/slide11.xml" Id="R4492b2fbb0424a91" /><Relationship Type="http://schemas.openxmlformats.org/officeDocument/2006/relationships/slide" Target="/ppt/slides/slide12.xml" Id="R262a847189514877" /><Relationship Type="http://schemas.openxmlformats.org/officeDocument/2006/relationships/slide" Target="/ppt/slides/slide13.xml" Id="Rd1c245cb001342cf" /><Relationship Type="http://schemas.openxmlformats.org/officeDocument/2006/relationships/slide" Target="/ppt/slides/slide14.xml" Id="R452189d8b50a4e9d" /><Relationship Type="http://schemas.openxmlformats.org/officeDocument/2006/relationships/slide" Target="/ppt/slides/slide15.xml" Id="Rfafd9f9e97914104" /><Relationship Type="http://schemas.openxmlformats.org/officeDocument/2006/relationships/slide" Target="/ppt/slides/slide16.xml" Id="Rdac0492d748b4940" /><Relationship Type="http://schemas.openxmlformats.org/officeDocument/2006/relationships/slide" Target="/ppt/slides/slide17.xml" Id="R22fb951213974870" /><Relationship Type="http://schemas.openxmlformats.org/officeDocument/2006/relationships/slide" Target="/ppt/slides/slide18.xml" Id="R251e2c3cb7e94cde" /><Relationship Type="http://schemas.openxmlformats.org/officeDocument/2006/relationships/slide" Target="/ppt/slides/slide19.xml" Id="Rdb48c1c0641f446e" /><Relationship Type="http://schemas.openxmlformats.org/officeDocument/2006/relationships/slide" Target="/ppt/slides/slide20.xml" Id="Rf3ae820c133d4a38" /><Relationship Type="http://schemas.openxmlformats.org/officeDocument/2006/relationships/slide" Target="/ppt/slides/slide21.xml" Id="Rf0ce716e9f0d41f3" /><Relationship Type="http://schemas.openxmlformats.org/officeDocument/2006/relationships/slide" Target="/ppt/slides/slide22.xml" Id="R7e7b078198274f53" /><Relationship Type="http://schemas.openxmlformats.org/officeDocument/2006/relationships/slide" Target="/ppt/slides/slide23.xml" Id="Rd7d2d16b2e914a6c" /><Relationship Type="http://schemas.openxmlformats.org/officeDocument/2006/relationships/slide" Target="/ppt/slides/slide24.xml" Id="R02ec67907ccb48c4" /><Relationship Type="http://schemas.openxmlformats.org/officeDocument/2006/relationships/slide" Target="/ppt/slides/slide25.xml" Id="R2bae74c227cb4b95" /><Relationship Type="http://schemas.openxmlformats.org/officeDocument/2006/relationships/slide" Target="/ppt/slides/slide26.xml" Id="R2a76ec4046c24da3" /><Relationship Type="http://schemas.openxmlformats.org/officeDocument/2006/relationships/slide" Target="/ppt/slides/slide27.xml" Id="R2db4eaca6a8a4352" /><Relationship Type="http://schemas.openxmlformats.org/officeDocument/2006/relationships/slide" Target="/ppt/slides/slide28.xml" Id="Rd3a6a39a39ec4d3f" /><Relationship Type="http://schemas.openxmlformats.org/officeDocument/2006/relationships/slide" Target="/ppt/slides/slide29.xml" Id="Rd5cee60e8ad844e7" /><Relationship Type="http://schemas.openxmlformats.org/officeDocument/2006/relationships/slide" Target="/ppt/slides/slide30.xml" Id="R0bef4f6d94a14880" /><Relationship Type="http://schemas.openxmlformats.org/officeDocument/2006/relationships/slide" Target="/ppt/slides/slide31.xml" Id="R17635982b8e44d33" /><Relationship Type="http://schemas.openxmlformats.org/officeDocument/2006/relationships/slide" Target="/ppt/slides/slide32.xml" Id="Ra66c7be800bf43a0" /><Relationship Type="http://schemas.openxmlformats.org/officeDocument/2006/relationships/slide" Target="/ppt/slides/slide33.xml" Id="Rc834a17235d34062" /><Relationship Type="http://schemas.openxmlformats.org/officeDocument/2006/relationships/slide" Target="/ppt/slides/slide34.xml" Id="R26f8b124eb3f466a" /><Relationship Type="http://schemas.openxmlformats.org/officeDocument/2006/relationships/slide" Target="/ppt/slides/slide35.xml" Id="R9f53324dbe4546da" /><Relationship Type="http://schemas.openxmlformats.org/officeDocument/2006/relationships/slide" Target="/ppt/slides/slide36.xml" Id="Ra7d8dba5fd834f9a" /><Relationship Type="http://schemas.openxmlformats.org/officeDocument/2006/relationships/slide" Target="/ppt/slides/slide37.xml" Id="R870aca5489814958" /><Relationship Type="http://schemas.openxmlformats.org/officeDocument/2006/relationships/slide" Target="/ppt/slides/slide38.xml" Id="Rd7f7807b83ec4913" /><Relationship Type="http://schemas.openxmlformats.org/officeDocument/2006/relationships/slide" Target="/ppt/slides/slide39.xml" Id="R8988a9fbd201481e" /><Relationship Type="http://schemas.openxmlformats.org/officeDocument/2006/relationships/slide" Target="/ppt/slides/slide40.xml" Id="Rf0bf7f2576a4466c" /><Relationship Type="http://schemas.openxmlformats.org/officeDocument/2006/relationships/slide" Target="/ppt/slides/slide41.xml" Id="R16da616e6ede4b09" /><Relationship Type="http://schemas.openxmlformats.org/officeDocument/2006/relationships/slide" Target="/ppt/slides/slide42.xml" Id="R8899340e7ee9421e" /><Relationship Type="http://schemas.openxmlformats.org/officeDocument/2006/relationships/slide" Target="/ppt/slides/slide43.xml" Id="Rf6ae77df775d4c23" /><Relationship Type="http://schemas.openxmlformats.org/officeDocument/2006/relationships/slide" Target="/ppt/slides/slide44.xml" Id="R9108de0f4cdc4b8d" /><Relationship Type="http://schemas.openxmlformats.org/officeDocument/2006/relationships/slide" Target="/ppt/slides/slide45.xml" Id="R04836b529c5a44b0" /><Relationship Type="http://schemas.openxmlformats.org/officeDocument/2006/relationships/slide" Target="/ppt/slides/slide46.xml" Id="Rcf79ada6f5654ff1" /><Relationship Type="http://schemas.openxmlformats.org/officeDocument/2006/relationships/slide" Target="/ppt/slides/slide47.xml" Id="Rf26bff8b62c54319" /><Relationship Type="http://schemas.openxmlformats.org/officeDocument/2006/relationships/slide" Target="/ppt/slides/slide48.xml" Id="Ra92d8f9012274c09" /><Relationship Type="http://schemas.openxmlformats.org/officeDocument/2006/relationships/slide" Target="/ppt/slides/slide49.xml" Id="Reaf13b172e6d4dab" /><Relationship Type="http://schemas.openxmlformats.org/officeDocument/2006/relationships/slide" Target="/ppt/slides/slide50.xml" Id="R0e8d2d45bb014a06" /><Relationship Type="http://schemas.openxmlformats.org/officeDocument/2006/relationships/slide" Target="/ppt/slides/slide51.xml" Id="Rc5c6fd46eed7457a" /><Relationship Type="http://schemas.openxmlformats.org/officeDocument/2006/relationships/slide" Target="/ppt/slides/slide52.xml" Id="R1859641495e3443a" /><Relationship Type="http://schemas.openxmlformats.org/officeDocument/2006/relationships/slide" Target="/ppt/slides/slide53.xml" Id="R39b661373dd04a5b" /><Relationship Type="http://schemas.openxmlformats.org/officeDocument/2006/relationships/slide" Target="/ppt/slides/slide54.xml" Id="R1f1ff3e05d9942ff" /><Relationship Type="http://schemas.openxmlformats.org/officeDocument/2006/relationships/slide" Target="/ppt/slides/slide55.xml" Id="Rdf706994451a423c" /><Relationship Type="http://schemas.openxmlformats.org/officeDocument/2006/relationships/slide" Target="/ppt/slides/slide56.xml" Id="Ra75476ace16b4c11" /><Relationship Type="http://schemas.openxmlformats.org/officeDocument/2006/relationships/slide" Target="/ppt/slides/slide57.xml" Id="Re4268b3bdccc4035" /><Relationship Type="http://schemas.openxmlformats.org/officeDocument/2006/relationships/slide" Target="/ppt/slides/slide58.xml" Id="R8f193d46cfc5454c" /><Relationship Type="http://schemas.openxmlformats.org/officeDocument/2006/relationships/slide" Target="/ppt/slides/slide59.xml" Id="Rcae444649e2646b6" /><Relationship Type="http://schemas.openxmlformats.org/officeDocument/2006/relationships/slide" Target="/ppt/slides/slide60.xml" Id="Race1603c94b84708" /><Relationship Type="http://schemas.openxmlformats.org/officeDocument/2006/relationships/slide" Target="/ppt/slides/slide61.xml" Id="R0178c025839840bf" /><Relationship Type="http://schemas.openxmlformats.org/officeDocument/2006/relationships/slide" Target="/ppt/slides/slide62.xml" Id="R24954517bc53446e" /><Relationship Type="http://schemas.openxmlformats.org/officeDocument/2006/relationships/slide" Target="/ppt/slides/slide63.xml" Id="R9a77622aeccb4e76" /><Relationship Type="http://schemas.openxmlformats.org/officeDocument/2006/relationships/slide" Target="/ppt/slides/slide64.xml" Id="Rb5bf638660e34f94" /><Relationship Type="http://schemas.openxmlformats.org/officeDocument/2006/relationships/slide" Target="/ppt/slides/slide65.xml" Id="R3bcdad3381484aac" /><Relationship Type="http://schemas.openxmlformats.org/officeDocument/2006/relationships/slide" Target="/ppt/slides/slide66.xml" Id="R4abdbed295454fde" /><Relationship Type="http://schemas.openxmlformats.org/officeDocument/2006/relationships/slide" Target="/ppt/slides/slide67.xml" Id="R5dae70f74011461d" /><Relationship Type="http://schemas.openxmlformats.org/officeDocument/2006/relationships/slide" Target="/ppt/slides/slide68.xml" Id="R13124840bbb54609" /><Relationship Type="http://schemas.openxmlformats.org/officeDocument/2006/relationships/slide" Target="/ppt/slides/slide69.xml" Id="R43bf6402b2674af5" /><Relationship Type="http://schemas.openxmlformats.org/officeDocument/2006/relationships/slide" Target="/ppt/slides/slide70.xml" Id="Rd546a660705d4a16" /><Relationship Type="http://schemas.openxmlformats.org/officeDocument/2006/relationships/slide" Target="/ppt/slides/slide71.xml" Id="Rb196a8d057ab47fe" /><Relationship Type="http://schemas.openxmlformats.org/officeDocument/2006/relationships/slide" Target="/ppt/slides/slide72.xml" Id="R3f3b6e1cfac84453" /><Relationship Type="http://schemas.openxmlformats.org/officeDocument/2006/relationships/slide" Target="/ppt/slides/slide73.xml" Id="R7b4dc1237fa84b4c" /><Relationship Type="http://schemas.openxmlformats.org/officeDocument/2006/relationships/slide" Target="/ppt/slides/slide74.xml" Id="R7347b08b994a4ede" /><Relationship Type="http://schemas.openxmlformats.org/officeDocument/2006/relationships/slide" Target="/ppt/slides/slide75.xml" Id="R9fb907121c074b53" /><Relationship Type="http://schemas.openxmlformats.org/officeDocument/2006/relationships/slide" Target="/ppt/slides/slide76.xml" Id="R13d729b9512c43f8" /><Relationship Type="http://schemas.openxmlformats.org/officeDocument/2006/relationships/slide" Target="/ppt/slides/slide77.xml" Id="R5562e64b11934589" /><Relationship Type="http://schemas.openxmlformats.org/officeDocument/2006/relationships/slide" Target="/ppt/slides/slide78.xml" Id="R920e85dad355448e" /><Relationship Type="http://schemas.openxmlformats.org/officeDocument/2006/relationships/slide" Target="/ppt/slides/slide79.xml" Id="R8d9f3413da2b458a" /><Relationship Type="http://schemas.openxmlformats.org/officeDocument/2006/relationships/slide" Target="/ppt/slides/slide80.xml" Id="Rabbb79df0dac4cfe" /><Relationship Type="http://schemas.openxmlformats.org/officeDocument/2006/relationships/slide" Target="/ppt/slides/slide81.xml" Id="R36a0a933a2f849e0" /><Relationship Type="http://schemas.openxmlformats.org/officeDocument/2006/relationships/slide" Target="/ppt/slides/slide82.xml" Id="Ra2a2b25bfb1c46f0" /><Relationship Type="http://schemas.openxmlformats.org/officeDocument/2006/relationships/slide" Target="/ppt/slides/slide83.xml" Id="R3c876f2d0f2b49e8" /><Relationship Type="http://schemas.openxmlformats.org/officeDocument/2006/relationships/slide" Target="/ppt/slides/slide84.xml" Id="R0f7773a14f0441a8" /><Relationship Type="http://schemas.openxmlformats.org/officeDocument/2006/relationships/slide" Target="/ppt/slides/slide85.xml" Id="Recdea7e8d5be44fc" /><Relationship Type="http://schemas.openxmlformats.org/officeDocument/2006/relationships/slide" Target="/ppt/slides/slide86.xml" Id="R569550e1081c4432" /><Relationship Type="http://schemas.openxmlformats.org/officeDocument/2006/relationships/slide" Target="/ppt/slides/slide87.xml" Id="Rbbe928a9daf24dfc" /><Relationship Type="http://schemas.openxmlformats.org/officeDocument/2006/relationships/slide" Target="/ppt/slides/slide88.xml" Id="R9ac7de3f22a1462b" /><Relationship Type="http://schemas.openxmlformats.org/officeDocument/2006/relationships/slide" Target="/ppt/slides/slide89.xml" Id="Re30f42ca24c647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c236fbe765d4e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db86088d7cb426b" /><Relationship Type="http://schemas.openxmlformats.org/officeDocument/2006/relationships/notesMaster" Target="/ppt/notesMasters/notesMaster1.xml" Id="Rcdb73693c1984239"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d638627b904168" /><Relationship Type="http://schemas.openxmlformats.org/officeDocument/2006/relationships/notesMaster" Target="/ppt/notesMasters/notesMaster1.xml" Id="Rd15513cc447f4a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85b0301c494085" /><Relationship Type="http://schemas.openxmlformats.org/officeDocument/2006/relationships/notesMaster" Target="/ppt/notesMasters/notesMaster1.xml" Id="R267d18f18b3741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fdd004be594e23" /><Relationship Type="http://schemas.openxmlformats.org/officeDocument/2006/relationships/notesMaster" Target="/ppt/notesMasters/notesMaster1.xml" Id="Raef4eeda4e0047a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0024168d4eb477e" /><Relationship Type="http://schemas.openxmlformats.org/officeDocument/2006/relationships/notesMaster" Target="/ppt/notesMasters/notesMaster1.xml" Id="R7c7a0ddd7d1c42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a3d9718a5e4119" /><Relationship Type="http://schemas.openxmlformats.org/officeDocument/2006/relationships/notesMaster" Target="/ppt/notesMasters/notesMaster1.xml" Id="R7cada6bce2784da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602035e0a334816" /><Relationship Type="http://schemas.openxmlformats.org/officeDocument/2006/relationships/notesMaster" Target="/ppt/notesMasters/notesMaster1.xml" Id="R39acf713053a49ad" /></Relationships>
</file>

<file path=ppt/notesSlides/_rels/notesSlide8.xml.rels>&#65279;<?xml version="1.0" encoding="utf-8"?><Relationships xmlns="http://schemas.openxmlformats.org/package/2006/relationships"><Relationship Type="http://schemas.openxmlformats.org/officeDocument/2006/relationships/slide" Target="/ppt/slides/slide8.xml" Id="R78170d6947994ce3" /><Relationship Type="http://schemas.openxmlformats.org/officeDocument/2006/relationships/notesMaster" Target="/ppt/notesMasters/notesMaster1.xml" Id="R6c1ef72945b44cf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3807ac9ae58447f" /><Relationship Type="http://schemas.openxmlformats.org/officeDocument/2006/relationships/notesMaster" Target="/ppt/notesMasters/notesMaster1.xml" Id="Rcd7d829de6a04cf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35fc9d854884a4a" /><Relationship Type="http://schemas.openxmlformats.org/officeDocument/2006/relationships/notesMaster" Target="/ppt/notesMasters/notesMaster1.xml" Id="Rad4ada8810464a3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d8c6657729b4a8f" /><Relationship Type="http://schemas.openxmlformats.org/officeDocument/2006/relationships/notesMaster" Target="/ppt/notesMasters/notesMaster1.xml" Id="R1532cd9c17da451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54b3c48c5f0495c" /><Relationship Type="http://schemas.openxmlformats.org/officeDocument/2006/relationships/notesMaster" Target="/ppt/notesMasters/notesMaster1.xml" Id="Re3ac7218bded46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223c1fe098248fb" /><Relationship Type="http://schemas.openxmlformats.org/officeDocument/2006/relationships/notesMaster" Target="/ppt/notesMasters/notesMaster1.xml" Id="Re90eebda3f88442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d172820f967403a" /><Relationship Type="http://schemas.openxmlformats.org/officeDocument/2006/relationships/notesMaster" Target="/ppt/notesMasters/notesMaster1.xml" Id="R5be3e6d74bb84ce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a471e3d347c4d74" /><Relationship Type="http://schemas.openxmlformats.org/officeDocument/2006/relationships/notesMaster" Target="/ppt/notesMasters/notesMaster1.xml" Id="R3d482698c1064bc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a4d0ac5b4c54d02" /><Relationship Type="http://schemas.openxmlformats.org/officeDocument/2006/relationships/notesMaster" Target="/ppt/notesMasters/notesMaster1.xml" Id="R24b767ab4e6248d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2d690c721dc408a" /><Relationship Type="http://schemas.openxmlformats.org/officeDocument/2006/relationships/notesMaster" Target="/ppt/notesMasters/notesMaster1.xml" Id="Rfef2b70d88a043f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e51ccd623c546d4" /><Relationship Type="http://schemas.openxmlformats.org/officeDocument/2006/relationships/notesMaster" Target="/ppt/notesMasters/notesMaster1.xml" Id="Rf065c87fae2742e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a92525e32bb4522" /><Relationship Type="http://schemas.openxmlformats.org/officeDocument/2006/relationships/notesMaster" Target="/ppt/notesMasters/notesMaster1.xml" Id="Rccad71579611422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7f8982f196a493a" /><Relationship Type="http://schemas.openxmlformats.org/officeDocument/2006/relationships/notesMaster" Target="/ppt/notesMasters/notesMaster1.xml" Id="R5fbd0d80a95b4f9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e00601db0f44f15" /><Relationship Type="http://schemas.openxmlformats.org/officeDocument/2006/relationships/notesMaster" Target="/ppt/notesMasters/notesMaster1.xml" Id="R1374666f34f8495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fc9cf86dc7042ab" /><Relationship Type="http://schemas.openxmlformats.org/officeDocument/2006/relationships/notesMaster" Target="/ppt/notesMasters/notesMaster1.xml" Id="R8ecf646f4fbc458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fc40fb644cf46dc" /><Relationship Type="http://schemas.openxmlformats.org/officeDocument/2006/relationships/notesMaster" Target="/ppt/notesMasters/notesMaster1.xml" Id="Rb878e194d2e8436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4053376adc64a18" /><Relationship Type="http://schemas.openxmlformats.org/officeDocument/2006/relationships/notesMaster" Target="/ppt/notesMasters/notesMaster1.xml" Id="Rf6d1126c1b0d444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3ac8df196514656" /><Relationship Type="http://schemas.openxmlformats.org/officeDocument/2006/relationships/notesMaster" Target="/ppt/notesMasters/notesMaster1.xml" Id="R7d8156db50834e0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5cc15ebaf284476" /><Relationship Type="http://schemas.openxmlformats.org/officeDocument/2006/relationships/notesMaster" Target="/ppt/notesMasters/notesMaster1.xml" Id="Rd0af06a7cc914d4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5e2e83d1f914d09" /><Relationship Type="http://schemas.openxmlformats.org/officeDocument/2006/relationships/notesMaster" Target="/ppt/notesMasters/notesMaster1.xml" Id="Rc215d5d1d03c4ca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d8a5586b259453b" /><Relationship Type="http://schemas.openxmlformats.org/officeDocument/2006/relationships/notesMaster" Target="/ppt/notesMasters/notesMaster1.xml" Id="R1a68d1e62c0f451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a15cc386551489f" /><Relationship Type="http://schemas.openxmlformats.org/officeDocument/2006/relationships/notesMaster" Target="/ppt/notesMasters/notesMaster1.xml" Id="R71e7eb69ba594ce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7087ac628e34fad" /><Relationship Type="http://schemas.openxmlformats.org/officeDocument/2006/relationships/notesMaster" Target="/ppt/notesMasters/notesMaster1.xml" Id="Rcd8a05215a774a3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215e929b3224da5" /><Relationship Type="http://schemas.openxmlformats.org/officeDocument/2006/relationships/notesMaster" Target="/ppt/notesMasters/notesMaster1.xml" Id="R437dafe9e59f4ed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cc317d8c7d84471" /><Relationship Type="http://schemas.openxmlformats.org/officeDocument/2006/relationships/notesMaster" Target="/ppt/notesMasters/notesMaster1.xml" Id="R0c9ac8cabee2424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588df6638434f15" /><Relationship Type="http://schemas.openxmlformats.org/officeDocument/2006/relationships/notesMaster" Target="/ppt/notesMasters/notesMaster1.xml" Id="Rca15663e8487497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54e727775e344cb" /><Relationship Type="http://schemas.openxmlformats.org/officeDocument/2006/relationships/notesMaster" Target="/ppt/notesMasters/notesMaster1.xml" Id="Rc71acb1a10c74a9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fb2561523e247c6" /><Relationship Type="http://schemas.openxmlformats.org/officeDocument/2006/relationships/notesMaster" Target="/ppt/notesMasters/notesMaster1.xml" Id="Rdc30430d071e48c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2b0628dc08b4bc2" /><Relationship Type="http://schemas.openxmlformats.org/officeDocument/2006/relationships/notesMaster" Target="/ppt/notesMasters/notesMaster1.xml" Id="R5b9fab50390b4f0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caeb513bc4d4f7e" /><Relationship Type="http://schemas.openxmlformats.org/officeDocument/2006/relationships/notesMaster" Target="/ppt/notesMasters/notesMaster1.xml" Id="R539327f8d9e34df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71f81c00ec8483c" /><Relationship Type="http://schemas.openxmlformats.org/officeDocument/2006/relationships/notesMaster" Target="/ppt/notesMasters/notesMaster1.xml" Id="Rd7c95d0ccb964e7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17bd03d85b24efe" /><Relationship Type="http://schemas.openxmlformats.org/officeDocument/2006/relationships/notesMaster" Target="/ppt/notesMasters/notesMaster1.xml" Id="R64af85fd11fd4f3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9e994ba490f4681" /><Relationship Type="http://schemas.openxmlformats.org/officeDocument/2006/relationships/notesMaster" Target="/ppt/notesMasters/notesMaster1.xml" Id="R866147d9d28e4b5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d03741f985e4917" /><Relationship Type="http://schemas.openxmlformats.org/officeDocument/2006/relationships/notesMaster" Target="/ppt/notesMasters/notesMaster1.xml" Id="R8ab909e9c0f5444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32b7cb941454775" /><Relationship Type="http://schemas.openxmlformats.org/officeDocument/2006/relationships/notesMaster" Target="/ppt/notesMasters/notesMaster1.xml" Id="R7b049cbf145e420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cbdb0133f134c94" /><Relationship Type="http://schemas.openxmlformats.org/officeDocument/2006/relationships/notesMaster" Target="/ppt/notesMasters/notesMaster1.xml" Id="R482309534d3c489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e6c2bd494bb4329" /><Relationship Type="http://schemas.openxmlformats.org/officeDocument/2006/relationships/notesMaster" Target="/ppt/notesMasters/notesMaster1.xml" Id="R37e8e5f87eb1403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eb4f06822134da8" /><Relationship Type="http://schemas.openxmlformats.org/officeDocument/2006/relationships/notesMaster" Target="/ppt/notesMasters/notesMaster1.xml" Id="R33042319743641b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c41655f896a4eec" /><Relationship Type="http://schemas.openxmlformats.org/officeDocument/2006/relationships/notesMaster" Target="/ppt/notesMasters/notesMaster1.xml" Id="Rb8b2d40d8df745a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321efc172a34744" /><Relationship Type="http://schemas.openxmlformats.org/officeDocument/2006/relationships/notesMaster" Target="/ppt/notesMasters/notesMaster1.xml" Id="R58bd30b9882e484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c2ad3f441ea415f" /><Relationship Type="http://schemas.openxmlformats.org/officeDocument/2006/relationships/notesMaster" Target="/ppt/notesMasters/notesMaster1.xml" Id="Rc286f82d41ea42b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4a25a4c2b6145f4" /><Relationship Type="http://schemas.openxmlformats.org/officeDocument/2006/relationships/notesMaster" Target="/ppt/notesMasters/notesMaster1.xml" Id="Rd0ce9eea641c4e5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3a7115e77504c09" /><Relationship Type="http://schemas.openxmlformats.org/officeDocument/2006/relationships/notesMaster" Target="/ppt/notesMasters/notesMaster1.xml" Id="Rdc596f33d5b54ec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38a10476759422a" /><Relationship Type="http://schemas.openxmlformats.org/officeDocument/2006/relationships/notesMaster" Target="/ppt/notesMasters/notesMaster1.xml" Id="R9ddea05e0c1145d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679787fd1794927" /><Relationship Type="http://schemas.openxmlformats.org/officeDocument/2006/relationships/notesMaster" Target="/ppt/notesMasters/notesMaster1.xml" Id="R52d9e010ffd4426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f3a615c312a404c" /><Relationship Type="http://schemas.openxmlformats.org/officeDocument/2006/relationships/notesMaster" Target="/ppt/notesMasters/notesMaster1.xml" Id="R3a1cffd4e735412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8d2345e3b0947d5" /><Relationship Type="http://schemas.openxmlformats.org/officeDocument/2006/relationships/notesMaster" Target="/ppt/notesMasters/notesMaster1.xml" Id="R73df253572ef4fa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377545164c346b4" /><Relationship Type="http://schemas.openxmlformats.org/officeDocument/2006/relationships/notesMaster" Target="/ppt/notesMasters/notesMaster1.xml" Id="R1d2c364b340c4b4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41ceb4e63ca44ed" /><Relationship Type="http://schemas.openxmlformats.org/officeDocument/2006/relationships/notesMaster" Target="/ppt/notesMasters/notesMaster1.xml" Id="R1d80ad151fde43a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fce2009b769443ca" /><Relationship Type="http://schemas.openxmlformats.org/officeDocument/2006/relationships/notesMaster" Target="/ppt/notesMasters/notesMaster1.xml" Id="Rb90fa52105e44ae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29336f890214c02" /><Relationship Type="http://schemas.openxmlformats.org/officeDocument/2006/relationships/notesMaster" Target="/ppt/notesMasters/notesMaster1.xml" Id="Ra5857ecfcd1945e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2d214510d3b84f62" /><Relationship Type="http://schemas.openxmlformats.org/officeDocument/2006/relationships/notesMaster" Target="/ppt/notesMasters/notesMaster1.xml" Id="R7fcc3ea524c54d7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36434e26b01464d" /><Relationship Type="http://schemas.openxmlformats.org/officeDocument/2006/relationships/notesMaster" Target="/ppt/notesMasters/notesMaster1.xml" Id="R86a742009da74f2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13f682440504bfa" /><Relationship Type="http://schemas.openxmlformats.org/officeDocument/2006/relationships/notesMaster" Target="/ppt/notesMasters/notesMaster1.xml" Id="Rff4845d689f14f08"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3b0af66a102f45c0" /><Relationship Type="http://schemas.openxmlformats.org/officeDocument/2006/relationships/notesMaster" Target="/ppt/notesMasters/notesMaster1.xml" Id="Rb409c7fb3e9e4b2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69970ec3237748b6" /><Relationship Type="http://schemas.openxmlformats.org/officeDocument/2006/relationships/notesMaster" Target="/ppt/notesMasters/notesMaster1.xml" Id="Re8dd163f3de84d6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6f2d36ba4b44375" /><Relationship Type="http://schemas.openxmlformats.org/officeDocument/2006/relationships/notesMaster" Target="/ppt/notesMasters/notesMaster1.xml" Id="R48987814def04a7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0d335cb33df946e6" /><Relationship Type="http://schemas.openxmlformats.org/officeDocument/2006/relationships/notesMaster" Target="/ppt/notesMasters/notesMaster1.xml" Id="R077a479fc02b4bf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5f035a4d7d74780" /><Relationship Type="http://schemas.openxmlformats.org/officeDocument/2006/relationships/notesMaster" Target="/ppt/notesMasters/notesMaster1.xml" Id="R7530d4a1a6a04571"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7b1571f2e4749bf" /><Relationship Type="http://schemas.openxmlformats.org/officeDocument/2006/relationships/notesMaster" Target="/ppt/notesMasters/notesMaster1.xml" Id="R0b8bd43dfc724c6a"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45f1c8a13ad42bd" /><Relationship Type="http://schemas.openxmlformats.org/officeDocument/2006/relationships/notesMaster" Target="/ppt/notesMasters/notesMaster1.xml" Id="R9e5006f7cf994f47"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8ece8862ad84007" /><Relationship Type="http://schemas.openxmlformats.org/officeDocument/2006/relationships/notesMaster" Target="/ppt/notesMasters/notesMaster1.xml" Id="R35c7b0233b01450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b92f35bdb1246fe" /><Relationship Type="http://schemas.openxmlformats.org/officeDocument/2006/relationships/notesMaster" Target="/ppt/notesMasters/notesMaster1.xml" Id="Rc5a1c47ae4a6421f"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7889382310d5417b" /><Relationship Type="http://schemas.openxmlformats.org/officeDocument/2006/relationships/notesMaster" Target="/ppt/notesMasters/notesMaster1.xml" Id="R8b1e09852b2147b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a26505499e746b3" /><Relationship Type="http://schemas.openxmlformats.org/officeDocument/2006/relationships/notesMaster" Target="/ppt/notesMasters/notesMaster1.xml" Id="R80f7c35f87424c9b"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73c38b5b1ce4713" /><Relationship Type="http://schemas.openxmlformats.org/officeDocument/2006/relationships/notesMaster" Target="/ppt/notesMasters/notesMaster1.xml" Id="Rb809eff6fad64080"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ecba88631644702" /><Relationship Type="http://schemas.openxmlformats.org/officeDocument/2006/relationships/notesMaster" Target="/ppt/notesMasters/notesMaster1.xml" Id="Rcaa2dd9de63443f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5cacba539b864e9d" /><Relationship Type="http://schemas.openxmlformats.org/officeDocument/2006/relationships/notesMaster" Target="/ppt/notesMasters/notesMaster1.xml" Id="Raf88eca6e0a14291"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26decef5c3fd4b01" /><Relationship Type="http://schemas.openxmlformats.org/officeDocument/2006/relationships/notesMaster" Target="/ppt/notesMasters/notesMaster1.xml" Id="Rb52350c4d8144010"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ed11840176543fa" /><Relationship Type="http://schemas.openxmlformats.org/officeDocument/2006/relationships/notesMaster" Target="/ppt/notesMasters/notesMaster1.xml" Id="R18a8c90fae194c09"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3452949f22984498" /><Relationship Type="http://schemas.openxmlformats.org/officeDocument/2006/relationships/notesMaster" Target="/ppt/notesMasters/notesMaster1.xml" Id="R75a4407c052f47b1"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2e076aeca0d4728" /><Relationship Type="http://schemas.openxmlformats.org/officeDocument/2006/relationships/notesMaster" Target="/ppt/notesMasters/notesMaster1.xml" Id="R25a25db4395e405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fa47d8b37764661" /><Relationship Type="http://schemas.openxmlformats.org/officeDocument/2006/relationships/notesMaster" Target="/ppt/notesMasters/notesMaster1.xml" Id="R387e2a037490456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5080d46d2214a94" /><Relationship Type="http://schemas.openxmlformats.org/officeDocument/2006/relationships/notesMaster" Target="/ppt/notesMasters/notesMaster1.xml" Id="R3a2563c1f2a2401f"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274bbcd2b2ba45a4" /><Relationship Type="http://schemas.openxmlformats.org/officeDocument/2006/relationships/notesMaster" Target="/ppt/notesMasters/notesMaster1.xml" Id="R0d1bef2bb8f14904"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bf844f09f0a43a1" /><Relationship Type="http://schemas.openxmlformats.org/officeDocument/2006/relationships/notesMaster" Target="/ppt/notesMasters/notesMaster1.xml" Id="R5601848c75394e69"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b70d6655691b443b" /><Relationship Type="http://schemas.openxmlformats.org/officeDocument/2006/relationships/notesMaster" Target="/ppt/notesMasters/notesMaster1.xml" Id="R49c90b4b6a3241a9"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ee05b0a1c23543f0" /><Relationship Type="http://schemas.openxmlformats.org/officeDocument/2006/relationships/notesMaster" Target="/ppt/notesMasters/notesMaster1.xml" Id="Re464a19a68784fc1"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b05256bca4e44741" /><Relationship Type="http://schemas.openxmlformats.org/officeDocument/2006/relationships/notesMaster" Target="/ppt/notesMasters/notesMaster1.xml" Id="Rbd8ca291341942f7"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d02a0710f2e14db7" /><Relationship Type="http://schemas.openxmlformats.org/officeDocument/2006/relationships/notesMaster" Target="/ppt/notesMasters/notesMaster1.xml" Id="Ree708ab5ac534416"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bad65a6f0378435c" /><Relationship Type="http://schemas.openxmlformats.org/officeDocument/2006/relationships/notesMaster" Target="/ppt/notesMasters/notesMaster1.xml" Id="R4fbba765e45242eb"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4c8dfa7a69ea4a4c" /><Relationship Type="http://schemas.openxmlformats.org/officeDocument/2006/relationships/notesMaster" Target="/ppt/notesMasters/notesMaster1.xml" Id="Rb31b0b93b06240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Python calculations and reusable functions</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Python calculations and reusable functions.</a:t>
            </a:r>
          </a:p>
          <a:p xmlns:a="http://schemas.openxmlformats.org/drawingml/2006/main">
            <a:r>
              <a:t/>
            </a:r>
          </a:p>
          <a:p xmlns:a="http://schemas.openxmlformats.org/drawingml/2006/main">
            <a:r>
              <a:t>EXPLAIN</a:t>
            </a:r>
          </a:p>
          <a:p xmlns:a="http://schemas.openxmlformats.org/drawingml/2006/main">
            <a:r>
              <a:t>Read Python values and arithmetic symbols.</a:t>
            </a:r>
          </a:p>
          <a:p xmlns:a="http://schemas.openxmlformats.org/drawingml/2006/main">
            <a:r>
              <a:t/>
            </a:r>
          </a:p>
          <a:p xmlns:a="http://schemas.openxmlformats.org/drawingml/2006/main">
            <a:r>
              <a:t>Define a function, call it and check its inputs.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Five-function libraries, module imports, scope details, debugger setup and six independent bug hunts can wait. Demonstrate one ordinary traceback and one unit mistake now.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How to read the examples.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How to read the examples</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Each example separates the instructions you type from the output Python displays.</a:t>
            </a:r>
          </a:p>
          <a:p xmlns:a="http://schemas.openxmlformats.org/drawingml/2006/main">
            <a:r>
              <a:t/>
            </a:r>
          </a:p>
          <a:p xmlns:a="http://schemas.openxmlformats.org/drawingml/2006/main">
            <a:r>
              <a:t>The lecturer explains the symbols first, then runs the example and traces its result. Keep the displayed output for revision.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engineering context.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Previous slide: How to read the examples.</a:t>
            </a:r>
          </a:p>
          <a:p xmlns:a="http://schemas.openxmlformats.org/drawingml/2006/main">
            <a:r>
              <a:t/>
            </a:r>
          </a:p>
          <a:p xmlns:a="http://schemas.openxmlformats.org/drawingml/2006/main">
            <a:r>
              <a:t>EXPLAIN</a:t>
            </a:r>
          </a:p>
          <a:p xmlns:a="http://schemas.openxmlformats.org/drawingml/2006/main">
            <a:r>
              <a:t>A team records device temperature to investigate cooling.</a:t>
            </a:r>
          </a:p>
          <a:p xmlns:a="http://schemas.openxmlformats.org/drawingml/2006/main">
            <a:r>
              <a:t/>
            </a:r>
          </a:p>
          <a:p xmlns:a="http://schemas.openxmlformats.org/drawingml/2006/main">
            <a:r>
              <a:t>Use a communications cabinet, an electrical enclosure or a robot controller as the physical example.</a:t>
            </a:r>
          </a:p>
          <a:p xmlns:a="http://schemas.openxmlformats.org/drawingml/2006/main">
            <a:r>
              <a:t/>
            </a:r>
          </a:p>
          <a:p xmlns:a="http://schemas.openxmlformats.org/drawingml/2006/main">
            <a:r>
              <a:t>No specialist hardware knowledge is assumed.</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Start with numbers and values.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Start with numbers and values</a:t>
            </a:r>
          </a:p>
          <a:p xmlns:a="http://schemas.openxmlformats.org/drawingml/2006/main">
            <a:r>
              <a:t/>
            </a:r>
          </a:p>
          <a:p xmlns:a="http://schemas.openxmlformats.org/drawingml/2006/main">
            <a:r>
              <a:t>CONNECT</a:t>
            </a:r>
          </a:p>
          <a:p xmlns:a="http://schemas.openxmlformats.org/drawingml/2006/main">
            <a:r>
              <a:t>Previous slide: The engineering context.</a:t>
            </a:r>
          </a:p>
          <a:p xmlns:a="http://schemas.openxmlformats.org/drawingml/2006/main">
            <a:r>
              <a:t/>
            </a:r>
          </a:p>
          <a:p xmlns:a="http://schemas.openxmlformats.org/drawingml/2006/main">
            <a:r>
              <a:t>EXPLAIN</a:t>
            </a:r>
          </a:p>
          <a:p xmlns:a="http://schemas.openxmlformats.org/drawingml/2006/main">
            <a:r>
              <a:t>Number: A number expresses how much or how many: 3 items or 2.5 metres. Whole numbers count; decimal numbers can describe a part of a unit.</a:t>
            </a:r>
          </a:p>
          <a:p xmlns:a="http://schemas.openxmlformats.org/drawingml/2006/main">
            <a:r>
              <a:t/>
            </a:r>
          </a:p>
          <a:p xmlns:a="http://schemas.openxmlformats.org/drawingml/2006/main">
            <a:r>
              <a:t>Value and unit: A value is one piece of information. The number 2.5 is a value. A measurement also needs a unit, such as metres. Python does not attach that unit automatically.</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Words we will use.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Previous slide: Start with numbers and values.</a:t>
            </a:r>
          </a:p>
          <a:p xmlns:a="http://schemas.openxmlformats.org/drawingml/2006/main">
            <a:r>
              <a:t/>
            </a:r>
          </a:p>
          <a:p xmlns:a="http://schemas.openxmlformats.org/drawingml/2006/main">
            <a:r>
              <a:t>EXPLAIN</a:t>
            </a:r>
          </a:p>
          <a:p xmlns:a="http://schemas.openxmlformats.org/drawingml/2006/main">
            <a:r>
              <a:t>Variable: A name referring to a value. In length_m = 5, the right side is evaluated and assigned to length_m.</a:t>
            </a:r>
          </a:p>
          <a:p xmlns:a="http://schemas.openxmlformats.org/drawingml/2006/main">
            <a:r>
              <a:t/>
            </a:r>
          </a:p>
          <a:p xmlns:a="http://schemas.openxmlformats.org/drawingml/2006/main">
            <a:r>
              <a:t>int, float, str, bool: int represents whole numbers; float represents approximate real numbers such as 2.5; str is text in quotes; bool is True or False.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variable refers to its current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variable refers to its current value</a:t>
            </a:r>
          </a:p>
          <a:p xmlns:a="http://schemas.openxmlformats.org/drawingml/2006/main">
            <a:r>
              <a:t/>
            </a:r>
          </a:p>
          <a:p xmlns:a="http://schemas.openxmlformats.org/drawingml/2006/main">
            <a:r>
              <a:t>CONNECT</a:t>
            </a:r>
          </a:p>
          <a:p xmlns:a="http://schemas.openxmlformats.org/drawingml/2006/main">
            <a:r>
              <a:t>Previous slide: Words we will use.</a:t>
            </a:r>
          </a:p>
          <a:p xmlns:a="http://schemas.openxmlformats.org/drawingml/2006/main">
            <a:r>
              <a:t/>
            </a:r>
          </a:p>
          <a:p xmlns:a="http://schemas.openxmlformats.org/drawingml/2006/main">
            <a:r>
              <a:t>EXPLAIN</a:t>
            </a:r>
          </a:p>
          <a:p xmlns:a="http://schemas.openxmlformats.org/drawingml/2006/main">
            <a:r>
              <a:t>After reassignment, thickness refers to 0.20.</a:t>
            </a:r>
          </a:p>
          <a:p xmlns:a="http://schemas.openxmlformats.org/drawingml/2006/main">
            <a:r>
              <a:t/>
            </a:r>
          </a:p>
          <a:p xmlns:a="http://schemas.openxmlformats.org/drawingml/2006/main">
            <a:r>
              <a:t>LECTURER CUE</a:t>
            </a:r>
          </a:p>
          <a:p xmlns:a="http://schemas.openxmlformats.org/drawingml/2006/main">
            <a:r>
              <a:t>This box is a simplified model of a name referring to a value. Other names could still refer to an earlier object.</a:t>
            </a:r>
          </a:p>
          <a:p xmlns:a="http://schemas.openxmlformats.org/drawingml/2006/main">
            <a:r>
              <a:t>Source: existing course illustration figs/variable_box.png.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Python values have types.</a:t>
            </a:r>
          </a:p>
          <a:p xmlns:a="http://schemas.openxmlformats.org/drawingml/2006/main">
            <a:r>
              <a:t/>
            </a:r>
          </a:p>
          <a:p xmlns:a="http://schemas.openxmlformats.org/drawingml/2006/main">
            <a:r>
              <a:t>REFERENCES</a:t>
            </a:r>
          </a:p>
          <a:p xmlns:a="http://schemas.openxmlformats.org/drawingml/2006/main">
            <a:r>
              <a:t>Source: existing course illustration figs/variable_box.png.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Python values have types</a:t>
            </a:r>
          </a:p>
          <a:p xmlns:a="http://schemas.openxmlformats.org/drawingml/2006/main">
            <a:r>
              <a:t/>
            </a:r>
          </a:p>
          <a:p xmlns:a="http://schemas.openxmlformats.org/drawingml/2006/main">
            <a:r>
              <a:t>CONNECT</a:t>
            </a:r>
          </a:p>
          <a:p xmlns:a="http://schemas.openxmlformats.org/drawingml/2006/main">
            <a:r>
              <a:t>Previous slide: A variable refers to its current value.</a:t>
            </a:r>
          </a:p>
          <a:p xmlns:a="http://schemas.openxmlformats.org/drawingml/2006/main">
            <a:r>
              <a:t/>
            </a:r>
          </a:p>
          <a:p xmlns:a="http://schemas.openxmlformats.org/drawingml/2006/main">
            <a:r>
              <a:t>EXPLAIN</a:t>
            </a:r>
          </a:p>
          <a:p xmlns:a="http://schemas.openxmlformats.org/drawingml/2006/main">
            <a:r>
              <a:t>Type | Example | Meaning</a:t>
            </a:r>
          </a:p>
          <a:p xmlns:a="http://schemas.openxmlformats.org/drawingml/2006/main">
            <a:r>
              <a:t/>
            </a:r>
          </a:p>
          <a:p xmlns:a="http://schemas.openxmlformats.org/drawingml/2006/main">
            <a:r>
              <a:t>int | 3 | Whole number</a:t>
            </a:r>
          </a:p>
          <a:p xmlns:a="http://schemas.openxmlformats.org/drawingml/2006/main">
            <a:r>
              <a:t/>
            </a:r>
          </a:p>
          <a:p xmlns:a="http://schemas.openxmlformats.org/drawingml/2006/main">
            <a:r>
              <a:t>float | 3.5 | Decimal approximation</a:t>
            </a:r>
          </a:p>
          <a:p xmlns:a="http://schemas.openxmlformats.org/drawingml/2006/main">
            <a:r>
              <a:t/>
            </a:r>
          </a:p>
          <a:p xmlns:a="http://schemas.openxmlformats.org/drawingml/2006/main">
            <a:r>
              <a:t>str | "3.5" | Text in quotes</a:t>
            </a:r>
          </a:p>
          <a:p xmlns:a="http://schemas.openxmlformats.org/drawingml/2006/main">
            <a:r>
              <a:t/>
            </a:r>
          </a:p>
          <a:p xmlns:a="http://schemas.openxmlformats.org/drawingml/2006/main">
            <a:r>
              <a:t>bool | True / False | Logical value</a:t>
            </a:r>
          </a:p>
          <a:p xmlns:a="http://schemas.openxmlformats.org/drawingml/2006/main">
            <a:r>
              <a:t/>
            </a:r>
          </a:p>
          <a:p xmlns:a="http://schemas.openxmlformats.org/drawingml/2006/main">
            <a:r>
              <a:t>NoneType | None | No value supplied</a:t>
            </a:r>
          </a:p>
          <a:p xmlns:a="http://schemas.openxmlformats.org/drawingml/2006/main">
            <a:r>
              <a:t/>
            </a:r>
          </a:p>
          <a:p xmlns:a="http://schemas.openxmlformats.org/drawingml/2006/main">
            <a:r>
              <a:t>3.5 + 2 gives 5.5. "3.5" + "2" joins text into "3.52".</a:t>
            </a:r>
          </a:p>
          <a:p xmlns:a="http://schemas.openxmlformats.org/drawingml/2006/main">
            <a:r>
              <a:t/>
            </a:r>
          </a:p>
          <a:p xmlns:a="http://schemas.openxmlformats.org/drawingml/2006/main">
            <a:r>
              <a:t>LECTURER CUE</a:t>
            </a:r>
          </a:p>
          <a:p xmlns:a="http://schemas.openxmlformats.org/drawingml/2006/main">
            <a:r>
              <a:t>3.5 + 2 gives 5.5. "3.5" + "2" joins text into "3.52".</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Operator.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Operator</a:t>
            </a:r>
          </a:p>
          <a:p xmlns:a="http://schemas.openxmlformats.org/drawingml/2006/main">
            <a:r>
              <a:t/>
            </a:r>
          </a:p>
          <a:p xmlns:a="http://schemas.openxmlformats.org/drawingml/2006/main">
            <a:r>
              <a:t>CONNECT</a:t>
            </a:r>
          </a:p>
          <a:p xmlns:a="http://schemas.openxmlformats.org/drawingml/2006/main">
            <a:r>
              <a:t>Previous slide: Python values have types.</a:t>
            </a:r>
          </a:p>
          <a:p xmlns:a="http://schemas.openxmlformats.org/drawingml/2006/main">
            <a:r>
              <a:t/>
            </a:r>
          </a:p>
          <a:p xmlns:a="http://schemas.openxmlformats.org/drawingml/2006/main">
            <a:r>
              <a:t>EXPLAIN</a:t>
            </a:r>
          </a:p>
          <a:p xmlns:a="http://schemas.openxmlformats.org/drawingml/2006/main">
            <a:r>
              <a:t>Operator: A symbol for an operation: + adds, - subtracts, * multiplies, / divides, ** raises to a power. // floors a quotient, so -5 // 2 is -3.</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a function call before using it.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a function call before using it</a:t>
            </a:r>
          </a:p>
          <a:p xmlns:a="http://schemas.openxmlformats.org/drawingml/2006/main">
            <a:r>
              <a:t/>
            </a:r>
          </a:p>
          <a:p xmlns:a="http://schemas.openxmlformats.org/drawingml/2006/main">
            <a:r>
              <a:t>CONNECT</a:t>
            </a:r>
          </a:p>
          <a:p xmlns:a="http://schemas.openxmlformats.org/drawingml/2006/main">
            <a:r>
              <a:t>Previous slide: Operator.</a:t>
            </a:r>
          </a:p>
          <a:p xmlns:a="http://schemas.openxmlformats.org/drawingml/2006/main">
            <a:r>
              <a:t/>
            </a:r>
          </a:p>
          <a:p xmlns:a="http://schemas.openxmlformats.org/drawingml/2006/main">
            <a:r>
              <a:t>EXPLAIN</a:t>
            </a:r>
          </a:p>
          <a:p xmlns:a="http://schemas.openxmlformats.org/drawingml/2006/main">
            <a:r>
              <a:t>A built-in function: Python already provides tools such as print, type and float. A function call asks a named tool to do its work: print(3) displays 3.</a:t>
            </a:r>
          </a:p>
          <a:p xmlns:a="http://schemas.openxmlformats.org/drawingml/2006/main">
            <a:r>
              <a:t/>
            </a:r>
          </a:p>
          <a:p xmlns:a="http://schemas.openxmlformats.org/drawingml/2006/main">
            <a:r>
              <a:t>Parentheses, quotes and comments: Parentheses hold the inputs to a call. Quotes make text: "3.5" is text; float("3.5") converts it to a number. # starts a comment that Python does not run.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Python symbols.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Python symbols</a:t>
            </a:r>
          </a:p>
          <a:p xmlns:a="http://schemas.openxmlformats.org/drawingml/2006/main">
            <a:r>
              <a:t/>
            </a:r>
          </a:p>
          <a:p xmlns:a="http://schemas.openxmlformats.org/drawingml/2006/main">
            <a:r>
              <a:t>CONNECT</a:t>
            </a:r>
          </a:p>
          <a:p xmlns:a="http://schemas.openxmlformats.org/drawingml/2006/main">
            <a:r>
              <a:t>Previous slide: Read a function call before using it.</a:t>
            </a:r>
          </a:p>
          <a:p xmlns:a="http://schemas.openxmlformats.org/drawingml/2006/main">
            <a:r>
              <a:t/>
            </a:r>
          </a:p>
          <a:p xmlns:a="http://schemas.openxmlformats.org/drawingml/2006/main">
            <a:r>
              <a:t>EXPLAIN</a:t>
            </a:r>
          </a:p>
          <a:p xmlns:a="http://schemas.openxmlformats.org/drawingml/2006/main">
            <a:r>
              <a:t>= assigns a value to a name. == compares two values.</a:t>
            </a:r>
          </a:p>
          <a:p xmlns:a="http://schemas.openxmlformats.org/drawingml/2006/main">
            <a:r>
              <a:t/>
            </a:r>
          </a:p>
          <a:p xmlns:a="http://schemas.openxmlformats.org/drawingml/2006/main">
            <a:r>
              <a:t>* multiplies. / divides. ** raises to a power.</a:t>
            </a:r>
          </a:p>
          <a:p xmlns:a="http://schemas.openxmlformats.org/drawingml/2006/main">
            <a:r>
              <a:t/>
            </a:r>
          </a:p>
          <a:p xmlns:a="http://schemas.openxmlformats.org/drawingml/2006/main">
            <a:r>
              <a:t>Parentheses pass inputs when we call a function.</a:t>
            </a:r>
          </a:p>
          <a:p xmlns:a="http://schemas.openxmlformats.org/drawingml/2006/main">
            <a:r>
              <a:t/>
            </a:r>
          </a:p>
          <a:p xmlns:a="http://schemas.openxmlformats.org/drawingml/2006/main">
            <a:r>
              <a:t>Indented lines belong to the block above them.</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Names, conversion and comments.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Names, conversion and comments</a:t>
            </a:r>
          </a:p>
          <a:p xmlns:a="http://schemas.openxmlformats.org/drawingml/2006/main">
            <a:r>
              <a:t/>
            </a:r>
          </a:p>
          <a:p xmlns:a="http://schemas.openxmlformats.org/drawingml/2006/main">
            <a:r>
              <a:t>CONNECT</a:t>
            </a:r>
          </a:p>
          <a:p xmlns:a="http://schemas.openxmlformats.org/drawingml/2006/main">
            <a:r>
              <a:t>Previous slide: Reading Python symbols.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length_m = float("3.5")  # text to number</a:t>
            </a:r>
          </a:p>
          <a:p xmlns:a="http://schemas.openxmlformats.org/drawingml/2006/main">
            <a:r>
              <a:t>width_m = 2</a:t>
            </a:r>
          </a:p>
          <a:p xmlns:a="http://schemas.openxmlformats.org/drawingml/2006/main">
            <a:r>
              <a:t>area_m2 = length_m * width_m</a:t>
            </a:r>
          </a:p>
          <a:p xmlns:a="http://schemas.openxmlformats.org/drawingml/2006/main">
            <a:r>
              <a:t>print(area_m2)</a:t>
            </a:r>
          </a:p>
          <a:p xmlns:a="http://schemas.openxmlformats.org/drawingml/2006/main">
            <a:r>
              <a:t>print(type(length_m))</a:t>
            </a:r>
          </a:p>
          <a:p xmlns:a="http://schemas.openxmlformats.org/drawingml/2006/main">
            <a:r>
              <a:t/>
            </a:r>
          </a:p>
          <a:p xmlns:a="http://schemas.openxmlformats.org/drawingml/2006/main">
            <a:r>
              <a:t>float converts numeric text into a decimal number.</a:t>
            </a:r>
          </a:p>
          <a:p xmlns:a="http://schemas.openxmlformats.org/drawingml/2006/main">
            <a:r>
              <a:t/>
            </a:r>
          </a:p>
          <a:p xmlns:a="http://schemas.openxmlformats.org/drawingml/2006/main">
            <a:r>
              <a:t>type reports the kind of value: for example, float.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type(...) reports the kind of value. &lt;class 'float'&gt; means a floating-point number.</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7.0 then &lt;class 'float'&gt;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3 continuation.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3 continuation</a:t>
            </a:r>
          </a:p>
          <a:p xmlns:a="http://schemas.openxmlformats.org/drawingml/2006/main">
            <a:r>
              <a:t/>
            </a:r>
          </a:p>
          <a:p xmlns:a="http://schemas.openxmlformats.org/drawingml/2006/main">
            <a:r>
              <a:t>CONNECT</a:t>
            </a:r>
          </a:p>
          <a:p xmlns:a="http://schemas.openxmlformats.org/drawingml/2006/main">
            <a:r>
              <a:t>Previous slide: Names, conversion and comments.</a:t>
            </a:r>
          </a:p>
          <a:p xmlns:a="http://schemas.openxmlformats.org/drawingml/2006/main">
            <a:r>
              <a:t/>
            </a:r>
          </a:p>
          <a:p xmlns:a="http://schemas.openxmlformats.org/drawingml/2006/main">
            <a:r>
              <a:t>EXPLAIN</a:t>
            </a:r>
          </a:p>
          <a:p xmlns:a="http://schemas.openxmlformats.org/drawingml/2006/main">
            <a:r>
              <a:t>From slides 1–12: values have types, variables name values, = assigns, and print displays a result. float("3.5") converts text to a number. We now use those ideas in calculations and functions.</a:t>
            </a:r>
          </a:p>
          <a:p xmlns:a="http://schemas.openxmlformats.org/drawingml/2006/main">
            <a:r>
              <a:t/>
            </a:r>
          </a:p>
          <a:p xmlns:a="http://schemas.openxmlformats.org/drawingml/2006/main">
            <a:r>
              <a:t>Next: arithmetic, decisions, functions, then lists and the A3 brief.</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a Python expression.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Python expression</a:t>
            </a:r>
          </a:p>
          <a:p xmlns:a="http://schemas.openxmlformats.org/drawingml/2006/main">
            <a:r>
              <a:t/>
            </a:r>
          </a:p>
          <a:p xmlns:a="http://schemas.openxmlformats.org/drawingml/2006/main">
            <a:r>
              <a:t>CONNECT</a:t>
            </a:r>
          </a:p>
          <a:p xmlns:a="http://schemas.openxmlformats.org/drawingml/2006/main">
            <a:r>
              <a:t>Previous slide: Week 3 continuation.</a:t>
            </a:r>
          </a:p>
          <a:p xmlns:a="http://schemas.openxmlformats.org/drawingml/2006/main">
            <a:r>
              <a:t/>
            </a:r>
          </a:p>
          <a:p xmlns:a="http://schemas.openxmlformats.org/drawingml/2006/main">
            <a:r>
              <a:t>EXPLAIN</a:t>
            </a:r>
          </a:p>
          <a:p xmlns:a="http://schemas.openxmlformats.org/drawingml/2006/main">
            <a:r>
              <a:t>An expression is code that produces a value. In 7 + 2, the inputs are 7 and 2; the operator + tells Python to add them.</a:t>
            </a:r>
          </a:p>
          <a:p xmlns:a="http://schemas.openxmlformats.org/drawingml/2006/main">
            <a:r>
              <a:t/>
            </a:r>
          </a:p>
          <a:p xmlns:a="http://schemas.openxmlformats.org/drawingml/2006/main">
            <a:r>
              <a:t>A statement is an instruction. total = 7 + 2 calculates 9, then gives it the name total. print(total) displays the stored value.</a:t>
            </a:r>
          </a:p>
          <a:p xmlns:a="http://schemas.openxmlformats.org/drawingml/2006/main">
            <a:r>
              <a:t/>
            </a:r>
          </a:p>
          <a:p xmlns:a="http://schemas.openxmlformats.org/drawingml/2006/main">
            <a:r>
              <a:t>Read each symbol before running. Code is what you type; output is what Python displays. Do not type the word “Output”.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Addition subtraction multiplication and division.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Addition subtraction multiplication and division</a:t>
            </a:r>
          </a:p>
          <a:p xmlns:a="http://schemas.openxmlformats.org/drawingml/2006/main">
            <a:r>
              <a:t/>
            </a:r>
          </a:p>
          <a:p xmlns:a="http://schemas.openxmlformats.org/drawingml/2006/main">
            <a:r>
              <a:t>CONNECT</a:t>
            </a:r>
          </a:p>
          <a:p xmlns:a="http://schemas.openxmlformats.org/drawingml/2006/main">
            <a:r>
              <a:t>Previous slide: Reading a Python expression.</a:t>
            </a:r>
          </a:p>
          <a:p xmlns:a="http://schemas.openxmlformats.org/drawingml/2006/main">
            <a:r>
              <a:t/>
            </a:r>
          </a:p>
          <a:p xmlns:a="http://schemas.openxmlformats.org/drawingml/2006/main">
            <a:r>
              <a:t>EXPLAIN</a:t>
            </a:r>
          </a:p>
          <a:p xmlns:a="http://schemas.openxmlformats.org/drawingml/2006/main">
            <a:r>
              <a:t>Operator | Meaning | Example and result</a:t>
            </a:r>
          </a:p>
          <a:p xmlns:a="http://schemas.openxmlformats.org/drawingml/2006/main">
            <a:r>
              <a:t/>
            </a:r>
          </a:p>
          <a:p xmlns:a="http://schemas.openxmlformats.org/drawingml/2006/main">
            <a:r>
              <a:t>+ | Add | 7 + 2 gives 9</a:t>
            </a:r>
          </a:p>
          <a:p xmlns:a="http://schemas.openxmlformats.org/drawingml/2006/main">
            <a:r>
              <a:t/>
            </a:r>
          </a:p>
          <a:p xmlns:a="http://schemas.openxmlformats.org/drawingml/2006/main">
            <a:r>
              <a:t>- | Subtract | 7 - 2 gives 5</a:t>
            </a:r>
          </a:p>
          <a:p xmlns:a="http://schemas.openxmlformats.org/drawingml/2006/main">
            <a:r>
              <a:t/>
            </a:r>
          </a:p>
          <a:p xmlns:a="http://schemas.openxmlformats.org/drawingml/2006/main">
            <a:r>
              <a:t>* | Multiply | 7 * 2 gives 14</a:t>
            </a:r>
          </a:p>
          <a:p xmlns:a="http://schemas.openxmlformats.org/drawingml/2006/main">
            <a:r>
              <a:t/>
            </a:r>
          </a:p>
          <a:p xmlns:a="http://schemas.openxmlformats.org/drawingml/2006/main">
            <a:r>
              <a:t>/ | Divide | 7 / 2 gives 3.5</a:t>
            </a:r>
          </a:p>
          <a:p xmlns:a="http://schemas.openxmlformats.org/drawingml/2006/main">
            <a:r>
              <a:t/>
            </a:r>
          </a:p>
          <a:p xmlns:a="http://schemas.openxmlformats.org/drawingml/2006/main">
            <a:r>
              <a:t>Python uses * for multiplication, not ×. / can produce a fractional result.</a:t>
            </a:r>
          </a:p>
          <a:p xmlns:a="http://schemas.openxmlformats.org/drawingml/2006/main">
            <a:r>
              <a:t/>
            </a:r>
          </a:p>
          <a:p xmlns:a="http://schemas.openxmlformats.org/drawingml/2006/main">
            <a:r>
              <a:t>Read the rows in order. Python uses * for multiplication, not ×. / can produce a fractional result.</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Run the four arithmetic operations.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Run the four arithmetic operations</a:t>
            </a:r>
          </a:p>
          <a:p xmlns:a="http://schemas.openxmlformats.org/drawingml/2006/main">
            <a:r>
              <a:t/>
            </a:r>
          </a:p>
          <a:p xmlns:a="http://schemas.openxmlformats.org/drawingml/2006/main">
            <a:r>
              <a:t>CONNECT</a:t>
            </a:r>
          </a:p>
          <a:p xmlns:a="http://schemas.openxmlformats.org/drawingml/2006/main">
            <a:r>
              <a:t>Previous slide: Addition subtraction multiplication and division.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print(7 + 2)</a:t>
            </a:r>
          </a:p>
          <a:p xmlns:a="http://schemas.openxmlformats.org/drawingml/2006/main">
            <a:r>
              <a:t>print(7 - 2)</a:t>
            </a:r>
          </a:p>
          <a:p xmlns:a="http://schemas.openxmlformats.org/drawingml/2006/main">
            <a:r>
              <a:t>print(7 * 2)</a:t>
            </a:r>
          </a:p>
          <a:p xmlns:a="http://schemas.openxmlformats.org/drawingml/2006/main">
            <a:r>
              <a:t>print(7 / 2)</a:t>
            </a:r>
          </a:p>
          <a:p xmlns:a="http://schemas.openxmlformats.org/drawingml/2006/main">
            <a:r>
              <a:t/>
            </a:r>
          </a:p>
          <a:p xmlns:a="http://schemas.openxmlformats.org/drawingml/2006/main">
            <a:r>
              <a:t>Each print call displays one calculated result.</a:t>
            </a:r>
          </a:p>
          <a:p xmlns:a="http://schemas.openxmlformats.org/drawingml/2006/main">
            <a:r>
              <a:t/>
            </a:r>
          </a:p>
          <a:p xmlns:a="http://schemas.openxmlformats.org/drawingml/2006/main">
            <a:r>
              <a:t>The numbers have no units until we assign a meaning to them.</a:t>
            </a:r>
          </a:p>
          <a:p xmlns:a="http://schemas.openxmlformats.org/drawingml/2006/main">
            <a:r>
              <a:t/>
            </a:r>
          </a:p>
          <a:p xmlns:a="http://schemas.openxmlformats.org/drawingml/2006/main">
            <a:r>
              <a:t>Output: 9; 5; 14; 3.5</a:t>
            </a:r>
          </a:p>
          <a:p xmlns:a="http://schemas.openxmlformats.org/drawingml/2006/main">
            <a:r>
              <a:t/>
            </a:r>
          </a:p>
          <a:p xmlns:a="http://schemas.openxmlformats.org/drawingml/2006/main">
            <a:r>
              <a:t>Expected printed output:</a:t>
            </a:r>
          </a:p>
          <a:p xmlns:a="http://schemas.openxmlformats.org/drawingml/2006/main">
            <a:r>
              <a:t>9</a:t>
            </a:r>
          </a:p>
          <a:p xmlns:a="http://schemas.openxmlformats.org/drawingml/2006/main">
            <a:r>
              <a:t>5</a:t>
            </a:r>
          </a:p>
          <a:p xmlns:a="http://schemas.openxmlformats.org/drawingml/2006/main">
            <a:r>
              <a:t>14</a:t>
            </a:r>
          </a:p>
          <a:p xmlns:a="http://schemas.openxmlformats.org/drawingml/2006/main">
            <a:r>
              <a:t>3.5</a:t>
            </a:r>
          </a:p>
          <a:p xmlns:a="http://schemas.openxmlformats.org/drawingml/2006/main">
            <a:r>
              <a:t/>
            </a:r>
          </a:p>
          <a:p xmlns:a="http://schemas.openxmlformats.org/drawingml/2006/main">
            <a:r>
              <a:t>Run the complete cell, then trace each line. Expected output:</a:t>
            </a:r>
          </a:p>
          <a:p xmlns:a="http://schemas.openxmlformats.org/drawingml/2006/main">
            <a:r>
              <a:t>9</a:t>
            </a:r>
          </a:p>
          <a:p xmlns:a="http://schemas.openxmlformats.org/drawingml/2006/main">
            <a:r>
              <a:t>5</a:t>
            </a:r>
          </a:p>
          <a:p xmlns:a="http://schemas.openxmlformats.org/drawingml/2006/main">
            <a:r>
              <a:t>14</a:t>
            </a:r>
          </a:p>
          <a:p xmlns:a="http://schemas.openxmlformats.org/drawingml/2006/main">
            <a:r>
              <a:t>3.5</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Floor division remainder and powers.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Floor division remainder and powers</a:t>
            </a:r>
          </a:p>
          <a:p xmlns:a="http://schemas.openxmlformats.org/drawingml/2006/main">
            <a:r>
              <a:t/>
            </a:r>
          </a:p>
          <a:p xmlns:a="http://schemas.openxmlformats.org/drawingml/2006/main">
            <a:r>
              <a:t>CONNECT</a:t>
            </a:r>
          </a:p>
          <a:p xmlns:a="http://schemas.openxmlformats.org/drawingml/2006/main">
            <a:r>
              <a:t>Previous slide: Run the four arithmetic operations.</a:t>
            </a:r>
          </a:p>
          <a:p xmlns:a="http://schemas.openxmlformats.org/drawingml/2006/main">
            <a:r>
              <a:t/>
            </a:r>
          </a:p>
          <a:p xmlns:a="http://schemas.openxmlformats.org/drawingml/2006/main">
            <a:r>
              <a:t>EXPLAIN</a:t>
            </a:r>
          </a:p>
          <a:p xmlns:a="http://schemas.openxmlformats.org/drawingml/2006/main">
            <a:r>
              <a:t>Operator | Meaning | Example and result</a:t>
            </a:r>
          </a:p>
          <a:p xmlns:a="http://schemas.openxmlformats.org/drawingml/2006/main">
            <a:r>
              <a:t/>
            </a:r>
          </a:p>
          <a:p xmlns:a="http://schemas.openxmlformats.org/drawingml/2006/main">
            <a:r>
              <a:t>// | Floor the quotient | 7 // 2 gives 3</a:t>
            </a:r>
          </a:p>
          <a:p xmlns:a="http://schemas.openxmlformats.org/drawingml/2006/main">
            <a:r>
              <a:t/>
            </a:r>
          </a:p>
          <a:p xmlns:a="http://schemas.openxmlformats.org/drawingml/2006/main">
            <a:r>
              <a:t>% | Remainder | 7 % 2 gives 1</a:t>
            </a:r>
          </a:p>
          <a:p xmlns:a="http://schemas.openxmlformats.org/drawingml/2006/main">
            <a:r>
              <a:t/>
            </a:r>
          </a:p>
          <a:p xmlns:a="http://schemas.openxmlformats.org/drawingml/2006/main">
            <a:r>
              <a:t>** | Raise to a power | 2 ** 3 gives 8</a:t>
            </a:r>
          </a:p>
          <a:p xmlns:a="http://schemas.openxmlformats.org/drawingml/2006/main">
            <a:r>
              <a:t/>
            </a:r>
          </a:p>
          <a:p xmlns:a="http://schemas.openxmlformats.org/drawingml/2006/main">
            <a:r>
              <a:t>7 contains three groups of 2 with 1 left over: 7 = 3 × 2 + 1.</a:t>
            </a:r>
          </a:p>
          <a:p xmlns:a="http://schemas.openxmlformats.org/drawingml/2006/main">
            <a:r>
              <a:t/>
            </a:r>
          </a:p>
          <a:p xmlns:a="http://schemas.openxmlformats.org/drawingml/2006/main">
            <a:r>
              <a:t>Read the rows in order. 7 contains three groups of 2 with 1 left over: 7 = 3 × 2 + 1.</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powers signs and remainders.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powers signs and remainders</a:t>
            </a:r>
          </a:p>
          <a:p xmlns:a="http://schemas.openxmlformats.org/drawingml/2006/main">
            <a:r>
              <a:t/>
            </a:r>
          </a:p>
          <a:p xmlns:a="http://schemas.openxmlformats.org/drawingml/2006/main">
            <a:r>
              <a:t>CONNECT</a:t>
            </a:r>
          </a:p>
          <a:p xmlns:a="http://schemas.openxmlformats.org/drawingml/2006/main">
            <a:r>
              <a:t>Previous slide: Floor division remainder and powers.</a:t>
            </a:r>
          </a:p>
          <a:p xmlns:a="http://schemas.openxmlformats.org/drawingml/2006/main">
            <a:r>
              <a:t/>
            </a:r>
          </a:p>
          <a:p xmlns:a="http://schemas.openxmlformats.org/drawingml/2006/main">
            <a:r>
              <a:t>EXPLAIN</a:t>
            </a:r>
          </a:p>
          <a:p xmlns:a="http://schemas.openxmlformats.org/drawingml/2006/main">
            <a:r>
              <a:t>2 ** 3 means 2 × 2 × 2. It does not mean 2 × 3. The left value is the base; the right value is the exponent.</a:t>
            </a:r>
          </a:p>
          <a:p xmlns:a="http://schemas.openxmlformats.org/drawingml/2006/main">
            <a:r>
              <a:t/>
            </a:r>
          </a:p>
          <a:p xmlns:a="http://schemas.openxmlformats.org/drawingml/2006/main">
            <a:r>
              <a:t>A leading minus makes a number negative: -7. Floor division rounds the quotient down: -7 / 2 is -3.5, so -7 // 2 is -4.</a:t>
            </a:r>
          </a:p>
          <a:p xmlns:a="http://schemas.openxmlformats.org/drawingml/2006/main">
            <a:r>
              <a:t/>
            </a:r>
          </a:p>
          <a:p xmlns:a="http://schemas.openxmlformats.org/drawingml/2006/main">
            <a:r>
              <a:t>% is remainder, not percentage. To turn 75% into a fraction, calculate 75 / 100. Do not divide by zero.</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Run floor division remainder and powers.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Run floor division remainder and powers</a:t>
            </a:r>
          </a:p>
          <a:p xmlns:a="http://schemas.openxmlformats.org/drawingml/2006/main">
            <a:r>
              <a:t/>
            </a:r>
          </a:p>
          <a:p xmlns:a="http://schemas.openxmlformats.org/drawingml/2006/main">
            <a:r>
              <a:t>CONNECT</a:t>
            </a:r>
          </a:p>
          <a:p xmlns:a="http://schemas.openxmlformats.org/drawingml/2006/main">
            <a:r>
              <a:t>Previous slide: Reading powers signs and remainders.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print(7 // 2)</a:t>
            </a:r>
          </a:p>
          <a:p xmlns:a="http://schemas.openxmlformats.org/drawingml/2006/main">
            <a:r>
              <a:t>print(7 % 2)</a:t>
            </a:r>
          </a:p>
          <a:p xmlns:a="http://schemas.openxmlformats.org/drawingml/2006/main">
            <a:r>
              <a:t>print(2 ** 3)</a:t>
            </a:r>
          </a:p>
          <a:p xmlns:a="http://schemas.openxmlformats.org/drawingml/2006/main">
            <a:r>
              <a:t>print(-7 // 2)</a:t>
            </a:r>
          </a:p>
          <a:p xmlns:a="http://schemas.openxmlformats.org/drawingml/2006/main">
            <a:r>
              <a:t>print(75 / 100)</a:t>
            </a:r>
          </a:p>
          <a:p xmlns:a="http://schemas.openxmlformats.org/drawingml/2006/main">
            <a:r>
              <a:t/>
            </a:r>
          </a:p>
          <a:p xmlns:a="http://schemas.openxmlformats.org/drawingml/2006/main">
            <a:r>
              <a:t>** repeats multiplication.</a:t>
            </a:r>
          </a:p>
          <a:p xmlns:a="http://schemas.openxmlformats.org/drawingml/2006/main">
            <a:r>
              <a:t/>
            </a:r>
          </a:p>
          <a:p xmlns:a="http://schemas.openxmlformats.org/drawingml/2006/main">
            <a:r>
              <a:t>A negative floor result rounds toward the smaller integer.</a:t>
            </a:r>
          </a:p>
          <a:p xmlns:a="http://schemas.openxmlformats.org/drawingml/2006/main">
            <a:r>
              <a:t/>
            </a:r>
          </a:p>
          <a:p xmlns:a="http://schemas.openxmlformats.org/drawingml/2006/main">
            <a:r>
              <a:t>Output: 3; 1; 8; -4; 0.75</a:t>
            </a:r>
          </a:p>
          <a:p xmlns:a="http://schemas.openxmlformats.org/drawingml/2006/main">
            <a:r>
              <a:t/>
            </a:r>
          </a:p>
          <a:p xmlns:a="http://schemas.openxmlformats.org/drawingml/2006/main">
            <a:r>
              <a:t>Expected printed output:</a:t>
            </a:r>
          </a:p>
          <a:p xmlns:a="http://schemas.openxmlformats.org/drawingml/2006/main">
            <a:r>
              <a:t>3</a:t>
            </a:r>
          </a:p>
          <a:p xmlns:a="http://schemas.openxmlformats.org/drawingml/2006/main">
            <a:r>
              <a:t>1</a:t>
            </a:r>
          </a:p>
          <a:p xmlns:a="http://schemas.openxmlformats.org/drawingml/2006/main">
            <a:r>
              <a:t>8</a:t>
            </a:r>
          </a:p>
          <a:p xmlns:a="http://schemas.openxmlformats.org/drawingml/2006/main">
            <a:r>
              <a:t>-4</a:t>
            </a:r>
          </a:p>
          <a:p xmlns:a="http://schemas.openxmlformats.org/drawingml/2006/main">
            <a:r>
              <a:t>0.75</a:t>
            </a:r>
          </a:p>
          <a:p xmlns:a="http://schemas.openxmlformats.org/drawingml/2006/main">
            <a:r>
              <a:t/>
            </a:r>
          </a:p>
          <a:p xmlns:a="http://schemas.openxmlformats.org/drawingml/2006/main">
            <a:r>
              <a:t>Run the complete cell, then trace each line. Expected output:</a:t>
            </a:r>
          </a:p>
          <a:p xmlns:a="http://schemas.openxmlformats.org/drawingml/2006/main">
            <a:r>
              <a:t>3</a:t>
            </a:r>
          </a:p>
          <a:p xmlns:a="http://schemas.openxmlformats.org/drawingml/2006/main">
            <a:r>
              <a:t>1</a:t>
            </a:r>
          </a:p>
          <a:p xmlns:a="http://schemas.openxmlformats.org/drawingml/2006/main">
            <a:r>
              <a:t>8</a:t>
            </a:r>
          </a:p>
          <a:p xmlns:a="http://schemas.openxmlformats.org/drawingml/2006/main">
            <a:r>
              <a:t>-4</a:t>
            </a:r>
          </a:p>
          <a:p xmlns:a="http://schemas.openxmlformats.org/drawingml/2006/main">
            <a:r>
              <a:t>0.75</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Which operation happens first.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Which operation happens first</a:t>
            </a:r>
          </a:p>
          <a:p xmlns:a="http://schemas.openxmlformats.org/drawingml/2006/main">
            <a:r>
              <a:t/>
            </a:r>
          </a:p>
          <a:p xmlns:a="http://schemas.openxmlformats.org/drawingml/2006/main">
            <a:r>
              <a:t>CONNECT</a:t>
            </a:r>
          </a:p>
          <a:p xmlns:a="http://schemas.openxmlformats.org/drawingml/2006/main">
            <a:r>
              <a:t>Previous slide: Run floor division remainder and powers.</a:t>
            </a:r>
          </a:p>
          <a:p xmlns:a="http://schemas.openxmlformats.org/drawingml/2006/main">
            <a:r>
              <a:t/>
            </a:r>
          </a:p>
          <a:p xmlns:a="http://schemas.openxmlformats.org/drawingml/2006/main">
            <a:r>
              <a:t>EXPLAIN</a:t>
            </a:r>
          </a:p>
          <a:p xmlns:a="http://schemas.openxmlformats.org/drawingml/2006/main">
            <a:r>
              <a:t>Parentheses group a calculation: do (2 + 3) before multiplying it by 4.</a:t>
            </a:r>
          </a:p>
          <a:p xmlns:a="http://schemas.openxmlformats.org/drawingml/2006/main">
            <a:r>
              <a:t/>
            </a:r>
          </a:p>
          <a:p xmlns:a="http://schemas.openxmlformats.org/drawingml/2006/main">
            <a:r>
              <a:t>Powers come before multiplication and division. Multiplication, /, // and % come before addition and subtraction. Equal-level * and / run left to right.</a:t>
            </a:r>
          </a:p>
          <a:p xmlns:a="http://schemas.openxmlformats.org/drawingml/2006/main">
            <a:r>
              <a:t/>
            </a:r>
          </a:p>
          <a:p xmlns:a="http://schemas.openxmlformats.org/drawingml/2006/main">
            <a:r>
              <a:t>Use parentheses when the intended grouping might be unclear. For a negative base, write (-2) ** 2. This gives 4; -(2 ** 2) gives -4.</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an expression before its output.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an expression before its output</a:t>
            </a:r>
          </a:p>
          <a:p xmlns:a="http://schemas.openxmlformats.org/drawingml/2006/main">
            <a:r>
              <a:t/>
            </a:r>
          </a:p>
          <a:p xmlns:a="http://schemas.openxmlformats.org/drawingml/2006/main">
            <a:r>
              <a:t>CONNECT</a:t>
            </a:r>
          </a:p>
          <a:p xmlns:a="http://schemas.openxmlformats.org/drawingml/2006/main">
            <a:r>
              <a:t>Previous slide: Which operation happens first.</a:t>
            </a:r>
          </a:p>
          <a:p xmlns:a="http://schemas.openxmlformats.org/drawingml/2006/main">
            <a:r>
              <a:t/>
            </a:r>
          </a:p>
          <a:p xmlns:a="http://schemas.openxmlformats.org/drawingml/2006/main">
            <a:r>
              <a:t>EXPLAIN</a:t>
            </a:r>
          </a:p>
          <a:p xmlns:a="http://schemas.openxmlformats.org/drawingml/2006/main">
            <a:r>
              <a:t>Expression | First calculation | Result</a:t>
            </a:r>
          </a:p>
          <a:p xmlns:a="http://schemas.openxmlformats.org/drawingml/2006/main">
            <a:r>
              <a:t/>
            </a:r>
          </a:p>
          <a:p xmlns:a="http://schemas.openxmlformats.org/drawingml/2006/main">
            <a:r>
              <a:t>2 + 3 * 4 | 3 * 4 gives 12 | 2 + 12 gives 14</a:t>
            </a:r>
          </a:p>
          <a:p xmlns:a="http://schemas.openxmlformats.org/drawingml/2006/main">
            <a:r>
              <a:t/>
            </a:r>
          </a:p>
          <a:p xmlns:a="http://schemas.openxmlformats.org/drawingml/2006/main">
            <a:r>
              <a:t>(2 + 3) * 4 | 2 + 3 gives 5 | 5 * 4 gives 20</a:t>
            </a:r>
          </a:p>
          <a:p xmlns:a="http://schemas.openxmlformats.org/drawingml/2006/main">
            <a:r>
              <a:t/>
            </a:r>
          </a:p>
          <a:p xmlns:a="http://schemas.openxmlformats.org/drawingml/2006/main">
            <a:r>
              <a:t>12 / 3 * 2 | 12 / 3 gives 4.0 | 4.0 * 2 gives 8.0</a:t>
            </a:r>
          </a:p>
          <a:p xmlns:a="http://schemas.openxmlformats.org/drawingml/2006/main">
            <a:r>
              <a:t/>
            </a:r>
          </a:p>
          <a:p xmlns:a="http://schemas.openxmlformats.org/drawingml/2006/main">
            <a:r>
              <a:t>Changing parentheses can change the answer even when the numbers stay the same.</a:t>
            </a:r>
          </a:p>
          <a:p xmlns:a="http://schemas.openxmlformats.org/drawingml/2006/main">
            <a:r>
              <a:t/>
            </a:r>
          </a:p>
          <a:p xmlns:a="http://schemas.openxmlformats.org/drawingml/2006/main">
            <a:r>
              <a:t>Read the rows in order. Changing parentheses can change the answer even when the numbers stay the same.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Check operation order.</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Check operation order</a:t>
            </a:r>
          </a:p>
          <a:p xmlns:a="http://schemas.openxmlformats.org/drawingml/2006/main">
            <a:r>
              <a:t/>
            </a:r>
          </a:p>
          <a:p xmlns:a="http://schemas.openxmlformats.org/drawingml/2006/main">
            <a:r>
              <a:t>CONNECT</a:t>
            </a:r>
          </a:p>
          <a:p xmlns:a="http://schemas.openxmlformats.org/drawingml/2006/main">
            <a:r>
              <a:t>Previous slide: Trace an expression before its output.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print(2 + 3 * 4)</a:t>
            </a:r>
          </a:p>
          <a:p xmlns:a="http://schemas.openxmlformats.org/drawingml/2006/main">
            <a:r>
              <a:t>print((2 + 3) * 4)</a:t>
            </a:r>
          </a:p>
          <a:p xmlns:a="http://schemas.openxmlformats.org/drawingml/2006/main">
            <a:r>
              <a:t>print(12 / 3 * 2)</a:t>
            </a:r>
          </a:p>
          <a:p xmlns:a="http://schemas.openxmlformats.org/drawingml/2006/main">
            <a:r>
              <a:t/>
            </a:r>
          </a:p>
          <a:p xmlns:a="http://schemas.openxmlformats.org/drawingml/2006/main">
            <a:r>
              <a:t>Read the calculation from the trace table.</a:t>
            </a:r>
          </a:p>
          <a:p xmlns:a="http://schemas.openxmlformats.org/drawingml/2006/main">
            <a:r>
              <a:t/>
            </a:r>
          </a:p>
          <a:p xmlns:a="http://schemas.openxmlformats.org/drawingml/2006/main">
            <a:r>
              <a:t>Run first; then compare with the shown outputs.</a:t>
            </a:r>
          </a:p>
          <a:p xmlns:a="http://schemas.openxmlformats.org/drawingml/2006/main">
            <a:r>
              <a:t/>
            </a:r>
          </a:p>
          <a:p xmlns:a="http://schemas.openxmlformats.org/drawingml/2006/main">
            <a:r>
              <a:t>Output: 14; 20; 8.0</a:t>
            </a:r>
          </a:p>
          <a:p xmlns:a="http://schemas.openxmlformats.org/drawingml/2006/main">
            <a:r>
              <a:t/>
            </a:r>
          </a:p>
          <a:p xmlns:a="http://schemas.openxmlformats.org/drawingml/2006/main">
            <a:r>
              <a:t>Expected printed output:</a:t>
            </a:r>
          </a:p>
          <a:p xmlns:a="http://schemas.openxmlformats.org/drawingml/2006/main">
            <a:r>
              <a:t>14</a:t>
            </a:r>
          </a:p>
          <a:p xmlns:a="http://schemas.openxmlformats.org/drawingml/2006/main">
            <a:r>
              <a:t>20</a:t>
            </a:r>
          </a:p>
          <a:p xmlns:a="http://schemas.openxmlformats.org/drawingml/2006/main">
            <a:r>
              <a:t>8.0</a:t>
            </a:r>
          </a:p>
          <a:p xmlns:a="http://schemas.openxmlformats.org/drawingml/2006/main">
            <a:r>
              <a:t/>
            </a:r>
          </a:p>
          <a:p xmlns:a="http://schemas.openxmlformats.org/drawingml/2006/main">
            <a:r>
              <a:t>Run the complete cell, then trace each line. Expected output:</a:t>
            </a:r>
          </a:p>
          <a:p xmlns:a="http://schemas.openxmlformats.org/drawingml/2006/main">
            <a:r>
              <a:t>14</a:t>
            </a:r>
          </a:p>
          <a:p xmlns:a="http://schemas.openxmlformats.org/drawingml/2006/main">
            <a:r>
              <a:t>20</a:t>
            </a:r>
          </a:p>
          <a:p xmlns:a="http://schemas.openxmlformats.org/drawingml/2006/main">
            <a:r>
              <a:t>8.0</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Assigning and updating a named value.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Assigning and updating a named value</a:t>
            </a:r>
          </a:p>
          <a:p xmlns:a="http://schemas.openxmlformats.org/drawingml/2006/main">
            <a:r>
              <a:t/>
            </a:r>
          </a:p>
          <a:p xmlns:a="http://schemas.openxmlformats.org/drawingml/2006/main">
            <a:r>
              <a:t>CONNECT</a:t>
            </a:r>
          </a:p>
          <a:p xmlns:a="http://schemas.openxmlformats.org/drawingml/2006/main">
            <a:r>
              <a:t>Previous slide: Check operation order.</a:t>
            </a:r>
          </a:p>
          <a:p xmlns:a="http://schemas.openxmlformats.org/drawingml/2006/main">
            <a:r>
              <a:t/>
            </a:r>
          </a:p>
          <a:p xmlns:a="http://schemas.openxmlformats.org/drawingml/2006/main">
            <a:r>
              <a:t>EXPLAIN</a:t>
            </a:r>
          </a:p>
          <a:p xmlns:a="http://schemas.openxmlformats.org/drawingml/2006/main">
            <a:r>
              <a:t>count = 2 gives the name count the value 2. = means assignment; it does not ask whether two values are equal.</a:t>
            </a:r>
          </a:p>
          <a:p xmlns:a="http://schemas.openxmlformats.org/drawingml/2006/main">
            <a:r>
              <a:t/>
            </a:r>
          </a:p>
          <a:p xmlns:a="http://schemas.openxmlformats.org/drawingml/2006/main">
            <a:r>
              <a:t>count = count + 1 first reads the old value 2, calculates 3, then assigns 3 back to count.</a:t>
            </a:r>
          </a:p>
          <a:p xmlns:a="http://schemas.openxmlformats.org/drawingml/2006/main">
            <a:r>
              <a:t/>
            </a:r>
          </a:p>
          <a:p xmlns:a="http://schemas.openxmlformats.org/drawingml/2006/main">
            <a:r>
              <a:t>After the update, print(count) displays 3. Re-running only the update cell changes count again; restart and run from the beginning for the shown result.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one update.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one update</a:t>
            </a:r>
          </a:p>
          <a:p xmlns:a="http://schemas.openxmlformats.org/drawingml/2006/main">
            <a:r>
              <a:t/>
            </a:r>
          </a:p>
          <a:p xmlns:a="http://schemas.openxmlformats.org/drawingml/2006/main">
            <a:r>
              <a:t>CONNECT</a:t>
            </a:r>
          </a:p>
          <a:p xmlns:a="http://schemas.openxmlformats.org/drawingml/2006/main">
            <a:r>
              <a:t>Previous slide: Assigning and updating a named value.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count = 2</a:t>
            </a:r>
          </a:p>
          <a:p xmlns:a="http://schemas.openxmlformats.org/drawingml/2006/main">
            <a:r>
              <a:t>print(count)</a:t>
            </a:r>
          </a:p>
          <a:p xmlns:a="http://schemas.openxmlformats.org/drawingml/2006/main">
            <a:r>
              <a:t>count = count + 1</a:t>
            </a:r>
          </a:p>
          <a:p xmlns:a="http://schemas.openxmlformats.org/drawingml/2006/main">
            <a:r>
              <a:t>print(count)</a:t>
            </a:r>
          </a:p>
          <a:p xmlns:a="http://schemas.openxmlformats.org/drawingml/2006/main">
            <a:r>
              <a:t/>
            </a:r>
          </a:p>
          <a:p xmlns:a="http://schemas.openxmlformats.org/drawingml/2006/main">
            <a:r>
              <a:t>The right side is calculated before the left side changes.</a:t>
            </a:r>
          </a:p>
          <a:p xmlns:a="http://schemas.openxmlformats.org/drawingml/2006/main">
            <a:r>
              <a:t/>
            </a:r>
          </a:p>
          <a:p xmlns:a="http://schemas.openxmlformats.org/drawingml/2006/main">
            <a:r>
              <a:t>Output: 2; 3</a:t>
            </a:r>
          </a:p>
          <a:p xmlns:a="http://schemas.openxmlformats.org/drawingml/2006/main">
            <a:r>
              <a:t/>
            </a:r>
          </a:p>
          <a:p xmlns:a="http://schemas.openxmlformats.org/drawingml/2006/main">
            <a:r>
              <a:t>Expected printed output:</a:t>
            </a:r>
          </a:p>
          <a:p xmlns:a="http://schemas.openxmlformats.org/drawingml/2006/main">
            <a:r>
              <a:t>2</a:t>
            </a:r>
          </a:p>
          <a:p xmlns:a="http://schemas.openxmlformats.org/drawingml/2006/main">
            <a:r>
              <a:t>3</a:t>
            </a:r>
          </a:p>
          <a:p xmlns:a="http://schemas.openxmlformats.org/drawingml/2006/main">
            <a:r>
              <a:t/>
            </a:r>
          </a:p>
          <a:p xmlns:a="http://schemas.openxmlformats.org/drawingml/2006/main">
            <a:r>
              <a:t>Run the complete cell, then trace each line. Expected output:</a:t>
            </a:r>
          </a:p>
          <a:p xmlns:a="http://schemas.openxmlformats.org/drawingml/2006/main">
            <a:r>
              <a:t>2</a:t>
            </a:r>
          </a:p>
          <a:p xmlns:a="http://schemas.openxmlformats.org/drawingml/2006/main">
            <a:r>
              <a:t>3</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Numbers text and conversion.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Numbers text and conversion</a:t>
            </a:r>
          </a:p>
          <a:p xmlns:a="http://schemas.openxmlformats.org/drawingml/2006/main">
            <a:r>
              <a:t/>
            </a:r>
          </a:p>
          <a:p xmlns:a="http://schemas.openxmlformats.org/drawingml/2006/main">
            <a:r>
              <a:t>CONNECT</a:t>
            </a:r>
          </a:p>
          <a:p xmlns:a="http://schemas.openxmlformats.org/drawingml/2006/main">
            <a:r>
              <a:t>Previous slide: Trace one update.</a:t>
            </a:r>
          </a:p>
          <a:p xmlns:a="http://schemas.openxmlformats.org/drawingml/2006/main">
            <a:r>
              <a:t/>
            </a:r>
          </a:p>
          <a:p xmlns:a="http://schemas.openxmlformats.org/drawingml/2006/main">
            <a:r>
              <a:t>EXPLAIN</a:t>
            </a:r>
          </a:p>
          <a:p xmlns:a="http://schemas.openxmlformats.org/drawingml/2006/main">
            <a:r>
              <a:t>7 is an integer. 7.0 is a decimal-valued float. "7" is text because it is inside quotes. Both single and double quotes can enclose text.</a:t>
            </a:r>
          </a:p>
          <a:p xmlns:a="http://schemas.openxmlformats.org/drawingml/2006/main">
            <a:r>
              <a:t/>
            </a:r>
          </a:p>
          <a:p xmlns:a="http://schemas.openxmlformats.org/drawingml/2006/main">
            <a:r>
              <a:t>"7" + "2" joins text into "72". To add those digits as numbers, convert each first: int("7") + int("2") gives 9.</a:t>
            </a:r>
          </a:p>
          <a:p xmlns:a="http://schemas.openxmlformats.org/drawingml/2006/main">
            <a:r>
              <a:t/>
            </a:r>
          </a:p>
          <a:p xmlns:a="http://schemas.openxmlformats.org/drawingml/2006/main">
            <a:r>
              <a:t>int converts valid integer text; float converts valid decimal text. str turns a value into text. print displays a value; type reports its Python type.</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Compare numeric addition with text joining.</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Compare numeric addition with text joining</a:t>
            </a:r>
          </a:p>
          <a:p xmlns:a="http://schemas.openxmlformats.org/drawingml/2006/main">
            <a:r>
              <a:t/>
            </a:r>
          </a:p>
          <a:p xmlns:a="http://schemas.openxmlformats.org/drawingml/2006/main">
            <a:r>
              <a:t>CONNECT</a:t>
            </a:r>
          </a:p>
          <a:p xmlns:a="http://schemas.openxmlformats.org/drawingml/2006/main">
            <a:r>
              <a:t>Previous slide: Numbers text and conversion.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print(7 + 2)</a:t>
            </a:r>
          </a:p>
          <a:p xmlns:a="http://schemas.openxmlformats.org/drawingml/2006/main">
            <a:r>
              <a:t>print("7" + "2")</a:t>
            </a:r>
          </a:p>
          <a:p xmlns:a="http://schemas.openxmlformats.org/drawingml/2006/main">
            <a:r>
              <a:t>print(int("7") + int("2"))</a:t>
            </a:r>
          </a:p>
          <a:p xmlns:a="http://schemas.openxmlformats.org/drawingml/2006/main">
            <a:r>
              <a:t>print(float("2.5"))</a:t>
            </a:r>
          </a:p>
          <a:p xmlns:a="http://schemas.openxmlformats.org/drawingml/2006/main">
            <a:r>
              <a:t/>
            </a:r>
          </a:p>
          <a:p xmlns:a="http://schemas.openxmlformats.org/drawingml/2006/main">
            <a:r>
              <a:t>Quotes change the type and therefore what + does.</a:t>
            </a:r>
          </a:p>
          <a:p xmlns:a="http://schemas.openxmlformats.org/drawingml/2006/main">
            <a:r>
              <a:t/>
            </a:r>
          </a:p>
          <a:p xmlns:a="http://schemas.openxmlformats.org/drawingml/2006/main">
            <a:r>
              <a:t>Conversion happens before the addition.</a:t>
            </a:r>
          </a:p>
          <a:p xmlns:a="http://schemas.openxmlformats.org/drawingml/2006/main">
            <a:r>
              <a:t/>
            </a:r>
          </a:p>
          <a:p xmlns:a="http://schemas.openxmlformats.org/drawingml/2006/main">
            <a:r>
              <a:t>Output: 9; 72; 9; 2.5</a:t>
            </a:r>
          </a:p>
          <a:p xmlns:a="http://schemas.openxmlformats.org/drawingml/2006/main">
            <a:r>
              <a:t/>
            </a:r>
          </a:p>
          <a:p xmlns:a="http://schemas.openxmlformats.org/drawingml/2006/main">
            <a:r>
              <a:t>Expected printed output:</a:t>
            </a:r>
          </a:p>
          <a:p xmlns:a="http://schemas.openxmlformats.org/drawingml/2006/main">
            <a:r>
              <a:t>9</a:t>
            </a:r>
          </a:p>
          <a:p xmlns:a="http://schemas.openxmlformats.org/drawingml/2006/main">
            <a:r>
              <a:t>72</a:t>
            </a:r>
          </a:p>
          <a:p xmlns:a="http://schemas.openxmlformats.org/drawingml/2006/main">
            <a:r>
              <a:t>9</a:t>
            </a:r>
          </a:p>
          <a:p xmlns:a="http://schemas.openxmlformats.org/drawingml/2006/main">
            <a:r>
              <a:t>2.5</a:t>
            </a:r>
          </a:p>
          <a:p xmlns:a="http://schemas.openxmlformats.org/drawingml/2006/main">
            <a:r>
              <a:t/>
            </a:r>
          </a:p>
          <a:p xmlns:a="http://schemas.openxmlformats.org/drawingml/2006/main">
            <a:r>
              <a:t>Run the complete cell, then trace each line. Expected output:</a:t>
            </a:r>
          </a:p>
          <a:p xmlns:a="http://schemas.openxmlformats.org/drawingml/2006/main">
            <a:r>
              <a:t>9</a:t>
            </a:r>
          </a:p>
          <a:p xmlns:a="http://schemas.openxmlformats.org/drawingml/2006/main">
            <a:r>
              <a:t>72</a:t>
            </a:r>
          </a:p>
          <a:p xmlns:a="http://schemas.openxmlformats.org/drawingml/2006/main">
            <a:r>
              <a:t>9</a:t>
            </a:r>
          </a:p>
          <a:p xmlns:a="http://schemas.openxmlformats.org/drawingml/2006/main">
            <a:r>
              <a:t>2.5</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Arithmetic that needs care.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Arithmetic that needs care</a:t>
            </a:r>
          </a:p>
          <a:p xmlns:a="http://schemas.openxmlformats.org/drawingml/2006/main">
            <a:r>
              <a:t/>
            </a:r>
          </a:p>
          <a:p xmlns:a="http://schemas.openxmlformats.org/drawingml/2006/main">
            <a:r>
              <a:t>CONNECT</a:t>
            </a:r>
          </a:p>
          <a:p xmlns:a="http://schemas.openxmlformats.org/drawingml/2006/main">
            <a:r>
              <a:t>Previous slide: Compare numeric addition with text joining.</a:t>
            </a:r>
          </a:p>
          <a:p xmlns:a="http://schemas.openxmlformats.org/drawingml/2006/main">
            <a:r>
              <a:t/>
            </a:r>
          </a:p>
          <a:p xmlns:a="http://schemas.openxmlformats.org/drawingml/2006/main">
            <a:r>
              <a:t>EXPLAIN</a:t>
            </a:r>
          </a:p>
          <a:p xmlns:a="http://schemas.openxmlformats.org/drawingml/2006/main">
            <a:r>
              <a:t>Parentheses run first: (2 + 4) / 2 is 3.0. Without them, division runs before addition: 2 + 4 / 2 is 4.0.</a:t>
            </a:r>
          </a:p>
          <a:p xmlns:a="http://schemas.openxmlformats.org/drawingml/2006/main">
            <a:r>
              <a:t/>
            </a:r>
          </a:p>
          <a:p xmlns:a="http://schemas.openxmlformats.org/drawingml/2006/main">
            <a:r>
              <a:t>/ gives a quotient. // rounds that quotient down: 7 // 2 is 3 and -7 // 2 is -4.</a:t>
            </a:r>
          </a:p>
          <a:p xmlns:a="http://schemas.openxmlformats.org/drawingml/2006/main">
            <a:r>
              <a:t/>
            </a:r>
          </a:p>
          <a:p xmlns:a="http://schemas.openxmlformats.org/drawingml/2006/main">
            <a:r>
              <a:t>Many decimal fractions are approximate in a computer. A tolerance is an allowed difference, for example 0.01 m when checking two calculated lengths.</a:t>
            </a:r>
          </a:p>
          <a:p xmlns:a="http://schemas.openxmlformats.org/drawingml/2006/main">
            <a:r>
              <a:t/>
            </a:r>
          </a:p>
          <a:p xmlns:a="http://schemas.openxmlformats.org/drawingml/2006/main">
            <a:r>
              <a:t>LECTURER CUE</a:t>
            </a:r>
          </a:p>
          <a:p xmlns:a="http://schemas.openxmlformats.org/drawingml/2006/main">
            <a:r>
              <a:t>Floor division rounds down. Use parentheses to state the intended calculation. Keep units in variable names.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quantities in your programme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quantities in your programme example</a:t>
            </a:r>
          </a:p>
          <a:p xmlns:a="http://schemas.openxmlformats.org/drawingml/2006/main">
            <a:r>
              <a:t/>
            </a:r>
          </a:p>
          <a:p xmlns:a="http://schemas.openxmlformats.org/drawingml/2006/main">
            <a:r>
              <a:t>CONNECT</a:t>
            </a:r>
          </a:p>
          <a:p xmlns:a="http://schemas.openxmlformats.org/drawingml/2006/main">
            <a:r>
              <a:t>Previous slide: Arithmetic that needs care.</a:t>
            </a:r>
          </a:p>
          <a:p xmlns:a="http://schemas.openxmlformats.org/drawingml/2006/main">
            <a:r>
              <a:t/>
            </a:r>
          </a:p>
          <a:p xmlns:a="http://schemas.openxmlformats.org/drawingml/2006/main">
            <a:r>
              <a:t>EXPLAIN</a:t>
            </a:r>
          </a:p>
          <a:p xmlns:a="http://schemas.openxmlformats.org/drawingml/2006/main">
            <a:r>
              <a:t>Voltage and current: Voltage describes electrical potential difference in volts (V). Current is the rate of charge flow in amperes (A). This example uses direct current (DC).</a:t>
            </a:r>
          </a:p>
          <a:p xmlns:a="http://schemas.openxmlformats.org/drawingml/2006/main">
            <a:r>
              <a:t/>
            </a:r>
          </a:p>
          <a:p xmlns:a="http://schemas.openxmlformats.org/drawingml/2006/main">
            <a:r>
              <a:t>Power: Power is energy transferred each second, measured in watts (W). For this DC example, power = voltage × current. Resistive heating later uses current squared × resistance.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calculation for your programme.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calculation for your programme</a:t>
            </a:r>
          </a:p>
          <a:p xmlns:a="http://schemas.openxmlformats.org/drawingml/2006/main">
            <a:r>
              <a:t/>
            </a:r>
          </a:p>
          <a:p xmlns:a="http://schemas.openxmlformats.org/drawingml/2006/main">
            <a:r>
              <a:t>CONNECT</a:t>
            </a:r>
          </a:p>
          <a:p xmlns:a="http://schemas.openxmlformats.org/drawingml/2006/main">
            <a:r>
              <a:t>Previous slide: Read the quantities in your programme example.</a:t>
            </a:r>
          </a:p>
          <a:p xmlns:a="http://schemas.openxmlformats.org/drawingml/2006/main">
            <a:r>
              <a:t/>
            </a:r>
          </a:p>
          <a:p xmlns:a="http://schemas.openxmlformats.org/drawingml/2006/main">
            <a:r>
              <a:t>EXPLAIN</a:t>
            </a:r>
          </a:p>
          <a:p xmlns:a="http://schemas.openxmlformats.org/drawingml/2006/main">
            <a:r>
              <a:t>A DC test circuit has 12 volts and 2 amperes.</a:t>
            </a:r>
          </a:p>
          <a:p xmlns:a="http://schemas.openxmlformats.org/drawingml/2006/main">
            <a:r>
              <a:t/>
            </a:r>
          </a:p>
          <a:p xmlns:a="http://schemas.openxmlformats.org/drawingml/2006/main">
            <a:r>
              <a:t>Power = voltage × current = 24 watts.</a:t>
            </a:r>
          </a:p>
          <a:p xmlns:a="http://schemas.openxmlformats.org/drawingml/2006/main">
            <a:r>
              <a:t/>
            </a:r>
          </a:p>
          <a:p xmlns:a="http://schemas.openxmlformats.org/drawingml/2006/main">
            <a:r>
              <a:t>This example assumes DC; AC real power needs additional information.</a:t>
            </a:r>
          </a:p>
          <a:p xmlns:a="http://schemas.openxmlformats.org/drawingml/2006/main">
            <a:r>
              <a:t/>
            </a:r>
          </a:p>
          <a:p xmlns:a="http://schemas.openxmlformats.org/drawingml/2006/main">
            <a:r>
              <a:t>LECTURER CUE</a:t>
            </a:r>
          </a:p>
          <a:p xmlns:a="http://schemas.openxmlformats.org/drawingml/2006/main">
            <a:r>
              <a:t>A DC test circuit has 12 volts and 2 amperes. Power = voltage × current = 24 watts. This example assumes DC; AC real power needs additional information.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calculation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calculation in Python</a:t>
            </a:r>
          </a:p>
          <a:p xmlns:a="http://schemas.openxmlformats.org/drawingml/2006/main">
            <a:r>
              <a:t/>
            </a:r>
          </a:p>
          <a:p xmlns:a="http://schemas.openxmlformats.org/drawingml/2006/main">
            <a:r>
              <a:t>CONNECT</a:t>
            </a:r>
          </a:p>
          <a:p xmlns:a="http://schemas.openxmlformats.org/drawingml/2006/main">
            <a:r>
              <a:t>Previous slide: A calculation for your programme.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voltage_v = 12</a:t>
            </a:r>
          </a:p>
          <a:p xmlns:a="http://schemas.openxmlformats.org/drawingml/2006/main">
            <a:r>
              <a:t>current_a = 2</a:t>
            </a:r>
          </a:p>
          <a:p xmlns:a="http://schemas.openxmlformats.org/drawingml/2006/main">
            <a:r>
              <a:t>power_w = voltage_v * current_a</a:t>
            </a:r>
          </a:p>
          <a:p xmlns:a="http://schemas.openxmlformats.org/drawingml/2006/main">
            <a:r>
              <a:t>print(power_w)</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Read each name and unit. = assigns the number, * multiplies and / divides. print displays the result. A DC test circuit has 12 volts and 2 amperes. Power = voltage × current = 24 watts. This example assumes DC; AC real power needs additional information.</a:t>
            </a:r>
          </a:p>
          <a:p xmlns:a="http://schemas.openxmlformats.org/drawingml/2006/main">
            <a:r>
              <a:t/>
            </a:r>
          </a:p>
          <a:p xmlns:a="http://schemas.openxmlformats.org/drawingml/2006/main">
            <a:r>
              <a:t>Complete practice code:</a:t>
            </a:r>
          </a:p>
          <a:p xmlns:a="http://schemas.openxmlformats.org/drawingml/2006/main">
            <a:r>
              <a:t>voltage_v = 12</a:t>
            </a:r>
          </a:p>
          <a:p xmlns:a="http://schemas.openxmlformats.org/drawingml/2006/main">
            <a:r>
              <a:t>current_a = 2</a:t>
            </a:r>
          </a:p>
          <a:p xmlns:a="http://schemas.openxmlformats.org/drawingml/2006/main">
            <a:r>
              <a:t>power_w = voltage_v * current_a</a:t>
            </a:r>
          </a:p>
          <a:p xmlns:a="http://schemas.openxmlformats.org/drawingml/2006/main">
            <a:r>
              <a:t>print(power_w)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an error message.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an error message</a:t>
            </a:r>
          </a:p>
          <a:p xmlns:a="http://schemas.openxmlformats.org/drawingml/2006/main">
            <a:r>
              <a:t/>
            </a:r>
          </a:p>
          <a:p xmlns:a="http://schemas.openxmlformats.org/drawingml/2006/main">
            <a:r>
              <a:t>CONNECT</a:t>
            </a:r>
          </a:p>
          <a:p xmlns:a="http://schemas.openxmlformats.org/drawingml/2006/main">
            <a:r>
              <a:t>Previous slide: The calculation in Python.</a:t>
            </a:r>
          </a:p>
          <a:p xmlns:a="http://schemas.openxmlformats.org/drawingml/2006/main">
            <a:r>
              <a:t/>
            </a:r>
          </a:p>
          <a:p xmlns:a="http://schemas.openxmlformats.org/drawingml/2006/main">
            <a:r>
              <a:t>EXPLAIN</a:t>
            </a:r>
          </a:p>
          <a:p xmlns:a="http://schemas.openxmlformats.org/drawingml/2006/main">
            <a:r>
              <a:t>Message | Meaning | First check</a:t>
            </a:r>
          </a:p>
          <a:p xmlns:a="http://schemas.openxmlformats.org/drawingml/2006/main">
            <a:r>
              <a:t/>
            </a:r>
          </a:p>
          <a:p xmlns:a="http://schemas.openxmlformats.org/drawingml/2006/main">
            <a:r>
              <a:t>NameError | A name is unavailable | Spelling and run order</a:t>
            </a:r>
          </a:p>
          <a:p xmlns:a="http://schemas.openxmlformats.org/drawingml/2006/main">
            <a:r>
              <a:t/>
            </a:r>
          </a:p>
          <a:p xmlns:a="http://schemas.openxmlformats.org/drawingml/2006/main">
            <a:r>
              <a:t>TypeError | Wrong kind of value | Text versus number</a:t>
            </a:r>
          </a:p>
          <a:p xmlns:a="http://schemas.openxmlformats.org/drawingml/2006/main">
            <a:r>
              <a:t/>
            </a:r>
          </a:p>
          <a:p xmlns:a="http://schemas.openxmlformats.org/drawingml/2006/main">
            <a:r>
              <a:t>SyntaxError | Python cannot parse a line | Quotes, brackets, colon</a:t>
            </a:r>
          </a:p>
          <a:p xmlns:a="http://schemas.openxmlformats.org/drawingml/2006/main">
            <a:r>
              <a:t/>
            </a:r>
          </a:p>
          <a:p xmlns:a="http://schemas.openxmlformats.org/drawingml/2006/main">
            <a:r>
              <a:t>IndentationError | Block spacing is invalid | Consistent spaces</a:t>
            </a:r>
          </a:p>
          <a:p xmlns:a="http://schemas.openxmlformats.org/drawingml/2006/main">
            <a:r>
              <a:t/>
            </a:r>
          </a:p>
          <a:p xmlns:a="http://schemas.openxmlformats.org/drawingml/2006/main">
            <a:r>
              <a:t>The last line names the error. The indicated line shows where Python noticed it.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comparison produces a Boolean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comparison produces a Boolean value</a:t>
            </a:r>
          </a:p>
          <a:p xmlns:a="http://schemas.openxmlformats.org/drawingml/2006/main">
            <a:r>
              <a:t/>
            </a:r>
          </a:p>
          <a:p xmlns:a="http://schemas.openxmlformats.org/drawingml/2006/main">
            <a:r>
              <a:t>CONNECT</a:t>
            </a:r>
          </a:p>
          <a:p xmlns:a="http://schemas.openxmlformats.org/drawingml/2006/main">
            <a:r>
              <a:t>Previous slide: Reading an error message.</a:t>
            </a:r>
          </a:p>
          <a:p xmlns:a="http://schemas.openxmlformats.org/drawingml/2006/main">
            <a:r>
              <a:t/>
            </a:r>
          </a:p>
          <a:p xmlns:a="http://schemas.openxmlformats.org/drawingml/2006/main">
            <a:r>
              <a:t>EXPLAIN</a:t>
            </a:r>
          </a:p>
          <a:p xmlns:a="http://schemas.openxmlformats.org/drawingml/2006/main">
            <a:r>
              <a:t>A comparison asks a yes/no question about values. Its Python result is True or False, written with capital first letters and no quotes.</a:t>
            </a:r>
          </a:p>
          <a:p xmlns:a="http://schemas.openxmlformats.org/drawingml/2006/main">
            <a:r>
              <a:t/>
            </a:r>
          </a:p>
          <a:p xmlns:a="http://schemas.openxmlformats.org/drawingml/2006/main">
            <a:r>
              <a:t>30 &gt;= 30 asks “Is 30 at least 30?” The answer is True. 28 &gt;= 30 gives False.</a:t>
            </a:r>
          </a:p>
          <a:p xmlns:a="http://schemas.openxmlformats.org/drawingml/2006/main">
            <a:r>
              <a:t/>
            </a:r>
          </a:p>
          <a:p xmlns:a="http://schemas.openxmlformats.org/drawingml/2006/main">
            <a:r>
              <a:t>True and False have type bool. "False" is text, not the Boolean value False. Conditions use Boolean results to choose what happens next.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Equality and difference.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Equality and difference</a:t>
            </a:r>
          </a:p>
          <a:p xmlns:a="http://schemas.openxmlformats.org/drawingml/2006/main">
            <a:r>
              <a:t/>
            </a:r>
          </a:p>
          <a:p xmlns:a="http://schemas.openxmlformats.org/drawingml/2006/main">
            <a:r>
              <a:t>CONNECT</a:t>
            </a:r>
          </a:p>
          <a:p xmlns:a="http://schemas.openxmlformats.org/drawingml/2006/main">
            <a:r>
              <a:t>Previous slide: A comparison produces a Boolean value.</a:t>
            </a:r>
          </a:p>
          <a:p xmlns:a="http://schemas.openxmlformats.org/drawingml/2006/main">
            <a:r>
              <a:t/>
            </a:r>
          </a:p>
          <a:p xmlns:a="http://schemas.openxmlformats.org/drawingml/2006/main">
            <a:r>
              <a:t>EXPLAIN</a:t>
            </a:r>
          </a:p>
          <a:p xmlns:a="http://schemas.openxmlformats.org/drawingml/2006/main">
            <a:r>
              <a:t>Symbol | Question | Example and result</a:t>
            </a:r>
          </a:p>
          <a:p xmlns:a="http://schemas.openxmlformats.org/drawingml/2006/main">
            <a:r>
              <a:t/>
            </a:r>
          </a:p>
          <a:p xmlns:a="http://schemas.openxmlformats.org/drawingml/2006/main">
            <a:r>
              <a:t>== | Equal values? | 3 == 3 gives True</a:t>
            </a:r>
          </a:p>
          <a:p xmlns:a="http://schemas.openxmlformats.org/drawingml/2006/main">
            <a:r>
              <a:t/>
            </a:r>
          </a:p>
          <a:p xmlns:a="http://schemas.openxmlformats.org/drawingml/2006/main">
            <a:r>
              <a:t>!= | Different values? | 3 != 4 gives True</a:t>
            </a:r>
          </a:p>
          <a:p xmlns:a="http://schemas.openxmlformats.org/drawingml/2006/main">
            <a:r>
              <a:t/>
            </a:r>
          </a:p>
          <a:p xmlns:a="http://schemas.openxmlformats.org/drawingml/2006/main">
            <a:r>
              <a:t>= assigns a value. == compares values. They have different jobs.</a:t>
            </a:r>
          </a:p>
          <a:p xmlns:a="http://schemas.openxmlformats.org/drawingml/2006/main">
            <a:r>
              <a:t/>
            </a:r>
          </a:p>
          <a:p xmlns:a="http://schemas.openxmlformats.org/drawingml/2006/main">
            <a:r>
              <a:t>Read the rows in order. = assigns a value. == compares values. They have different jobs.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Comparing sizes and boundaries.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sizes and boundaries</a:t>
            </a:r>
          </a:p>
          <a:p xmlns:a="http://schemas.openxmlformats.org/drawingml/2006/main">
            <a:r>
              <a:t/>
            </a:r>
          </a:p>
          <a:p xmlns:a="http://schemas.openxmlformats.org/drawingml/2006/main">
            <a:r>
              <a:t>CONNECT</a:t>
            </a:r>
          </a:p>
          <a:p xmlns:a="http://schemas.openxmlformats.org/drawingml/2006/main">
            <a:r>
              <a:t>Previous slide: Equality and difference.</a:t>
            </a:r>
          </a:p>
          <a:p xmlns:a="http://schemas.openxmlformats.org/drawingml/2006/main">
            <a:r>
              <a:t/>
            </a:r>
          </a:p>
          <a:p xmlns:a="http://schemas.openxmlformats.org/drawingml/2006/main">
            <a:r>
              <a:t>EXPLAIN</a:t>
            </a:r>
          </a:p>
          <a:p xmlns:a="http://schemas.openxmlformats.org/drawingml/2006/main">
            <a:r>
              <a:t>Symbol | Question | Example and result</a:t>
            </a:r>
          </a:p>
          <a:p xmlns:a="http://schemas.openxmlformats.org/drawingml/2006/main">
            <a:r>
              <a:t/>
            </a:r>
          </a:p>
          <a:p xmlns:a="http://schemas.openxmlformats.org/drawingml/2006/main">
            <a:r>
              <a:t>&gt; | Greater than? | 3 &gt; 3 gives False</a:t>
            </a:r>
          </a:p>
          <a:p xmlns:a="http://schemas.openxmlformats.org/drawingml/2006/main">
            <a:r>
              <a:t/>
            </a:r>
          </a:p>
          <a:p xmlns:a="http://schemas.openxmlformats.org/drawingml/2006/main">
            <a:r>
              <a:t>&gt;= | Greater than or equal? | 3 &gt;= 3 gives True</a:t>
            </a:r>
          </a:p>
          <a:p xmlns:a="http://schemas.openxmlformats.org/drawingml/2006/main">
            <a:r>
              <a:t/>
            </a:r>
          </a:p>
          <a:p xmlns:a="http://schemas.openxmlformats.org/drawingml/2006/main">
            <a:r>
              <a:t>&lt; | Less than? | 2 &lt; 3 gives True</a:t>
            </a:r>
          </a:p>
          <a:p xmlns:a="http://schemas.openxmlformats.org/drawingml/2006/main">
            <a:r>
              <a:t/>
            </a:r>
          </a:p>
          <a:p xmlns:a="http://schemas.openxmlformats.org/drawingml/2006/main">
            <a:r>
              <a:t>&lt;= | Less than or equal? | 3 &lt;= 3 gives True</a:t>
            </a:r>
          </a:p>
          <a:p xmlns:a="http://schemas.openxmlformats.org/drawingml/2006/main">
            <a:r>
              <a:t/>
            </a:r>
          </a:p>
          <a:p xmlns:a="http://schemas.openxmlformats.org/drawingml/2006/main">
            <a:r>
              <a:t>The = part of &gt;= and &lt;= includes the boundary value.</a:t>
            </a:r>
          </a:p>
          <a:p xmlns:a="http://schemas.openxmlformats.org/drawingml/2006/main">
            <a:r>
              <a:t/>
            </a:r>
          </a:p>
          <a:p xmlns:a="http://schemas.openxmlformats.org/drawingml/2006/main">
            <a:r>
              <a:t>Read the rows in order. The = part of &gt;= and &lt;= includes the boundary value.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Display comparison results.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Display comparison results</a:t>
            </a:r>
          </a:p>
          <a:p xmlns:a="http://schemas.openxmlformats.org/drawingml/2006/main">
            <a:r>
              <a:t/>
            </a:r>
          </a:p>
          <a:p xmlns:a="http://schemas.openxmlformats.org/drawingml/2006/main">
            <a:r>
              <a:t>CONNECT</a:t>
            </a:r>
          </a:p>
          <a:p xmlns:a="http://schemas.openxmlformats.org/drawingml/2006/main">
            <a:r>
              <a:t>Previous slide: Comparing sizes and boundaries.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 = 30</a:t>
            </a:r>
          </a:p>
          <a:p xmlns:a="http://schemas.openxmlformats.org/drawingml/2006/main">
            <a:r>
              <a:t>print(reading == 30)</a:t>
            </a:r>
          </a:p>
          <a:p xmlns:a="http://schemas.openxmlformats.org/drawingml/2006/main">
            <a:r>
              <a:t>print(reading != 30)</a:t>
            </a:r>
          </a:p>
          <a:p xmlns:a="http://schemas.openxmlformats.org/drawingml/2006/main">
            <a:r>
              <a:t>print(reading &gt; 30)</a:t>
            </a:r>
          </a:p>
          <a:p xmlns:a="http://schemas.openxmlformats.org/drawingml/2006/main">
            <a:r>
              <a:t>print(reading &gt;= 30)</a:t>
            </a:r>
          </a:p>
          <a:p xmlns:a="http://schemas.openxmlformats.org/drawingml/2006/main">
            <a:r>
              <a:t>print(reading &lt; 30)</a:t>
            </a:r>
          </a:p>
          <a:p xmlns:a="http://schemas.openxmlformats.org/drawingml/2006/main">
            <a:r>
              <a:t>print(reading &lt;= 30)</a:t>
            </a:r>
          </a:p>
          <a:p xmlns:a="http://schemas.openxmlformats.org/drawingml/2006/main">
            <a:r>
              <a:t/>
            </a:r>
          </a:p>
          <a:p xmlns:a="http://schemas.openxmlformats.org/drawingml/2006/main">
            <a:r>
              <a:t>Each comparison produces a Boolean.</a:t>
            </a:r>
          </a:p>
          <a:p xmlns:a="http://schemas.openxmlformats.org/drawingml/2006/main">
            <a:r>
              <a:t/>
            </a:r>
          </a:p>
          <a:p xmlns:a="http://schemas.openxmlformats.org/drawingml/2006/main">
            <a:r>
              <a:t>No branch has run yet; print only displays the answers.</a:t>
            </a:r>
          </a:p>
          <a:p xmlns:a="http://schemas.openxmlformats.org/drawingml/2006/main">
            <a:r>
              <a:t/>
            </a:r>
          </a:p>
          <a:p xmlns:a="http://schemas.openxmlformats.org/drawingml/2006/main">
            <a:r>
              <a:t>Output: True; False; False; True; False; True</a:t>
            </a:r>
          </a:p>
          <a:p xmlns:a="http://schemas.openxmlformats.org/drawingml/2006/main">
            <a:r>
              <a:t/>
            </a:r>
          </a:p>
          <a:p xmlns:a="http://schemas.openxmlformats.org/drawingml/2006/main">
            <a:r>
              <a:t>Expected printed output:</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True</a:t>
            </a:r>
          </a:p>
          <a:p xmlns:a="http://schemas.openxmlformats.org/drawingml/2006/main">
            <a:r>
              <a:t>False</a:t>
            </a:r>
          </a:p>
          <a:p xmlns:a="http://schemas.openxmlformats.org/drawingml/2006/main">
            <a:r>
              <a:t>True</a:t>
            </a:r>
          </a:p>
          <a:p xmlns:a="http://schemas.openxmlformats.org/drawingml/2006/main">
            <a:r>
              <a:t/>
            </a:r>
          </a:p>
          <a:p xmlns:a="http://schemas.openxmlformats.org/drawingml/2006/main">
            <a:r>
              <a:t>Run the complete cell, then trace each line. Expected output:</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True</a:t>
            </a:r>
          </a:p>
          <a:p xmlns:a="http://schemas.openxmlformats.org/drawingml/2006/main">
            <a:r>
              <a:t>False</a:t>
            </a:r>
          </a:p>
          <a:p xmlns:a="http://schemas.openxmlformats.org/drawingml/2006/main">
            <a:r>
              <a:t>True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condition and an if block.</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condition and an if block</a:t>
            </a:r>
          </a:p>
          <a:p xmlns:a="http://schemas.openxmlformats.org/drawingml/2006/main">
            <a:r>
              <a:t/>
            </a:r>
          </a:p>
          <a:p xmlns:a="http://schemas.openxmlformats.org/drawingml/2006/main">
            <a:r>
              <a:t>CONNECT</a:t>
            </a:r>
          </a:p>
          <a:p xmlns:a="http://schemas.openxmlformats.org/drawingml/2006/main">
            <a:r>
              <a:t>Previous slide: Display comparison results.</a:t>
            </a:r>
          </a:p>
          <a:p xmlns:a="http://schemas.openxmlformats.org/drawingml/2006/main">
            <a:r>
              <a:t/>
            </a:r>
          </a:p>
          <a:p xmlns:a="http://schemas.openxmlformats.org/drawingml/2006/main">
            <a:r>
              <a:t>EXPLAIN</a:t>
            </a:r>
          </a:p>
          <a:p xmlns:a="http://schemas.openxmlformats.org/drawingml/2006/main">
            <a:r>
              <a:t>A condition is the question tested by an if statement. if reading &gt;= 30: checks whether reading is at least 30.</a:t>
            </a:r>
          </a:p>
          <a:p xmlns:a="http://schemas.openxmlformats.org/drawingml/2006/main">
            <a:r>
              <a:t/>
            </a:r>
          </a:p>
          <a:p xmlns:a="http://schemas.openxmlformats.org/drawingml/2006/main">
            <a:r>
              <a:t>The colon ends the header. The next line starts with four spaces; those spaces place it inside the block controlled by if.</a:t>
            </a:r>
          </a:p>
          <a:p xmlns:a="http://schemas.openxmlformats.org/drawingml/2006/main">
            <a:r>
              <a:t/>
            </a:r>
          </a:p>
          <a:p xmlns:a="http://schemas.openxmlformats.org/drawingml/2006/main">
            <a:r>
              <a:t>If the condition is True, run the block. If it is False, skip it. The next line without those four spaces is outside the block and runs afterwards.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if statement without else.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if statement without else</a:t>
            </a:r>
          </a:p>
          <a:p xmlns:a="http://schemas.openxmlformats.org/drawingml/2006/main">
            <a:r>
              <a:t/>
            </a:r>
          </a:p>
          <a:p xmlns:a="http://schemas.openxmlformats.org/drawingml/2006/main">
            <a:r>
              <a:t>CONNECT</a:t>
            </a:r>
          </a:p>
          <a:p xmlns:a="http://schemas.openxmlformats.org/drawingml/2006/main">
            <a:r>
              <a:t>Previous slide: A condition and an if block.</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 = 28</a:t>
            </a:r>
          </a:p>
          <a:p xmlns:a="http://schemas.openxmlformats.org/drawingml/2006/main">
            <a:r>
              <a:t>if reading &gt;= 30:</a:t>
            </a:r>
          </a:p>
          <a:p xmlns:a="http://schemas.openxmlformats.org/drawingml/2006/main">
            <a:r>
              <a:t>    print("warm")</a:t>
            </a:r>
          </a:p>
          <a:p xmlns:a="http://schemas.openxmlformats.org/drawingml/2006/main">
            <a:r>
              <a:t>print("check finished")</a:t>
            </a:r>
          </a:p>
          <a:p xmlns:a="http://schemas.openxmlformats.org/drawingml/2006/main">
            <a:r>
              <a:t/>
            </a:r>
          </a:p>
          <a:p xmlns:a="http://schemas.openxmlformats.org/drawingml/2006/main">
            <a:r>
              <a:t>28 &gt;= 30 is False, so the indented print is skipped.</a:t>
            </a:r>
          </a:p>
          <a:p xmlns:a="http://schemas.openxmlformats.org/drawingml/2006/main">
            <a:r>
              <a:t/>
            </a:r>
          </a:p>
          <a:p xmlns:a="http://schemas.openxmlformats.org/drawingml/2006/main">
            <a:r>
              <a:t>The final print is outside the block.</a:t>
            </a:r>
          </a:p>
          <a:p xmlns:a="http://schemas.openxmlformats.org/drawingml/2006/main">
            <a:r>
              <a:t/>
            </a:r>
          </a:p>
          <a:p xmlns:a="http://schemas.openxmlformats.org/drawingml/2006/main">
            <a:r>
              <a:t>Output: check finished</a:t>
            </a:r>
          </a:p>
          <a:p xmlns:a="http://schemas.openxmlformats.org/drawingml/2006/main">
            <a:r>
              <a:t/>
            </a:r>
          </a:p>
          <a:p xmlns:a="http://schemas.openxmlformats.org/drawingml/2006/main">
            <a:r>
              <a:t>Expected printed output:</a:t>
            </a:r>
          </a:p>
          <a:p xmlns:a="http://schemas.openxmlformats.org/drawingml/2006/main">
            <a:r>
              <a:t>check finished</a:t>
            </a:r>
          </a:p>
          <a:p xmlns:a="http://schemas.openxmlformats.org/drawingml/2006/main">
            <a:r>
              <a:t/>
            </a:r>
          </a:p>
          <a:p xmlns:a="http://schemas.openxmlformats.org/drawingml/2006/main">
            <a:r>
              <a:t>Run the complete cell, then trace each line. Expected output:</a:t>
            </a:r>
          </a:p>
          <a:p xmlns:a="http://schemas.openxmlformats.org/drawingml/2006/main">
            <a:r>
              <a:t>check finished</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both paths through if.</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both paths through if</a:t>
            </a:r>
          </a:p>
          <a:p xmlns:a="http://schemas.openxmlformats.org/drawingml/2006/main">
            <a:r>
              <a:t/>
            </a:r>
          </a:p>
          <a:p xmlns:a="http://schemas.openxmlformats.org/drawingml/2006/main">
            <a:r>
              <a:t>CONNECT</a:t>
            </a:r>
          </a:p>
          <a:p xmlns:a="http://schemas.openxmlformats.org/drawingml/2006/main">
            <a:r>
              <a:t>Previous slide: An if statement without else.</a:t>
            </a:r>
          </a:p>
          <a:p xmlns:a="http://schemas.openxmlformats.org/drawingml/2006/main">
            <a:r>
              <a:t/>
            </a:r>
          </a:p>
          <a:p xmlns:a="http://schemas.openxmlformats.org/drawingml/2006/main">
            <a:r>
              <a:t>EXPLAIN</a:t>
            </a:r>
          </a:p>
          <a:p xmlns:a="http://schemas.openxmlformats.org/drawingml/2006/main">
            <a:r>
              <a:t>Value of reading | reading &gt;= 30 | Displayed lines</a:t>
            </a:r>
          </a:p>
          <a:p xmlns:a="http://schemas.openxmlformats.org/drawingml/2006/main">
            <a:r>
              <a:t/>
            </a:r>
          </a:p>
          <a:p xmlns:a="http://schemas.openxmlformats.org/drawingml/2006/main">
            <a:r>
              <a:t>28 | False | check finished</a:t>
            </a:r>
          </a:p>
          <a:p xmlns:a="http://schemas.openxmlformats.org/drawingml/2006/main">
            <a:r>
              <a:t/>
            </a:r>
          </a:p>
          <a:p xmlns:a="http://schemas.openxmlformats.org/drawingml/2006/main">
            <a:r>
              <a:t>30 | True | warm; check finished</a:t>
            </a:r>
          </a:p>
          <a:p xmlns:a="http://schemas.openxmlformats.org/drawingml/2006/main">
            <a:r>
              <a:t/>
            </a:r>
          </a:p>
          <a:p xmlns:a="http://schemas.openxmlformats.org/drawingml/2006/main">
            <a:r>
              <a:t>31 | True | warm; check finished</a:t>
            </a:r>
          </a:p>
          <a:p xmlns:a="http://schemas.openxmlformats.org/drawingml/2006/main">
            <a:r>
              <a:t/>
            </a:r>
          </a:p>
          <a:p xmlns:a="http://schemas.openxmlformats.org/drawingml/2006/main">
            <a:r>
              <a:t>Only the indented line is conditional. The outside line runs on either path.</a:t>
            </a:r>
          </a:p>
          <a:p xmlns:a="http://schemas.openxmlformats.org/drawingml/2006/main">
            <a:r>
              <a:t/>
            </a:r>
          </a:p>
          <a:p xmlns:a="http://schemas.openxmlformats.org/drawingml/2006/main">
            <a:r>
              <a:t>Read the rows in order. Only the indented line is conditional. The outside line runs on either path.</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else gives the other path.</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else gives the other path</a:t>
            </a:r>
          </a:p>
          <a:p xmlns:a="http://schemas.openxmlformats.org/drawingml/2006/main">
            <a:r>
              <a:t/>
            </a:r>
          </a:p>
          <a:p xmlns:a="http://schemas.openxmlformats.org/drawingml/2006/main">
            <a:r>
              <a:t>CONNECT</a:t>
            </a:r>
          </a:p>
          <a:p xmlns:a="http://schemas.openxmlformats.org/drawingml/2006/main">
            <a:r>
              <a:t>Previous slide: Trace both paths through if.</a:t>
            </a:r>
          </a:p>
          <a:p xmlns:a="http://schemas.openxmlformats.org/drawingml/2006/main">
            <a:r>
              <a:t/>
            </a:r>
          </a:p>
          <a:p xmlns:a="http://schemas.openxmlformats.org/drawingml/2006/main">
            <a:r>
              <a:t>EXPLAIN</a:t>
            </a:r>
          </a:p>
          <a:p xmlns:a="http://schemas.openxmlformats.org/drawingml/2006/main">
            <a:r>
              <a:t>else means “otherwise”. It has a colon but no extra condition. Align else with its matching if.</a:t>
            </a:r>
          </a:p>
          <a:p xmlns:a="http://schemas.openxmlformats.org/drawingml/2006/main">
            <a:r>
              <a:t/>
            </a:r>
          </a:p>
          <a:p xmlns:a="http://schemas.openxmlformats.org/drawingml/2006/main">
            <a:r>
              <a:t>The if block runs when its condition is True. The else block runs when that same condition is False. Only one of these blocks runs.</a:t>
            </a:r>
          </a:p>
          <a:p xmlns:a="http://schemas.openxmlformats.org/drawingml/2006/main">
            <a:r>
              <a:t/>
            </a:r>
          </a:p>
          <a:p xmlns:a="http://schemas.openxmlformats.org/drawingml/2006/main">
            <a:r>
              <a:t>Both branch bodies are indented by four spaces. Returning to the left margin ends the whole decision.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decision needs a colon and indentation.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decision needs a colon and indentation</a:t>
            </a:r>
          </a:p>
          <a:p xmlns:a="http://schemas.openxmlformats.org/drawingml/2006/main">
            <a:r>
              <a:t/>
            </a:r>
          </a:p>
          <a:p xmlns:a="http://schemas.openxmlformats.org/drawingml/2006/main">
            <a:r>
              <a:t>CONNECT</a:t>
            </a:r>
          </a:p>
          <a:p xmlns:a="http://schemas.openxmlformats.org/drawingml/2006/main">
            <a:r>
              <a:t>Previous slide: else gives the other path.</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temperature = 28</a:t>
            </a:r>
          </a:p>
          <a:p xmlns:a="http://schemas.openxmlformats.org/drawingml/2006/main">
            <a:r>
              <a:t>if temperature &gt;= 30:</a:t>
            </a:r>
          </a:p>
          <a:p xmlns:a="http://schemas.openxmlformats.org/drawingml/2006/main">
            <a:r>
              <a:t>    print("warm")</a:t>
            </a:r>
          </a:p>
          <a:p xmlns:a="http://schemas.openxmlformats.org/drawingml/2006/main">
            <a:r>
              <a:t>else:</a:t>
            </a:r>
          </a:p>
          <a:p xmlns:a="http://schemas.openxmlformats.org/drawingml/2006/main">
            <a:r>
              <a:t>    print("below 30")</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&gt;= compares values. Only the chosen indented block runs.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below 30. Change 28 to 30 and predict warm. This is a toy threshold, not an engineering limit.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both paths through if else.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both paths through if else</a:t>
            </a:r>
          </a:p>
          <a:p xmlns:a="http://schemas.openxmlformats.org/drawingml/2006/main">
            <a:r>
              <a:t/>
            </a:r>
          </a:p>
          <a:p xmlns:a="http://schemas.openxmlformats.org/drawingml/2006/main">
            <a:r>
              <a:t>CONNECT</a:t>
            </a:r>
          </a:p>
          <a:p xmlns:a="http://schemas.openxmlformats.org/drawingml/2006/main">
            <a:r>
              <a:t>Previous slide: A decision needs a colon and indentation.</a:t>
            </a:r>
          </a:p>
          <a:p xmlns:a="http://schemas.openxmlformats.org/drawingml/2006/main">
            <a:r>
              <a:t/>
            </a:r>
          </a:p>
          <a:p xmlns:a="http://schemas.openxmlformats.org/drawingml/2006/main">
            <a:r>
              <a:t>EXPLAIN</a:t>
            </a:r>
          </a:p>
          <a:p xmlns:a="http://schemas.openxmlformats.org/drawingml/2006/main">
            <a:r>
              <a:t>temperature | temperature &gt;= 30 | Selected output</a:t>
            </a:r>
          </a:p>
          <a:p xmlns:a="http://schemas.openxmlformats.org/drawingml/2006/main">
            <a:r>
              <a:t/>
            </a:r>
          </a:p>
          <a:p xmlns:a="http://schemas.openxmlformats.org/drawingml/2006/main">
            <a:r>
              <a:t>28 | False | below 30</a:t>
            </a:r>
          </a:p>
          <a:p xmlns:a="http://schemas.openxmlformats.org/drawingml/2006/main">
            <a:r>
              <a:t/>
            </a:r>
          </a:p>
          <a:p xmlns:a="http://schemas.openxmlformats.org/drawingml/2006/main">
            <a:r>
              <a:t>30 | True | warm</a:t>
            </a:r>
          </a:p>
          <a:p xmlns:a="http://schemas.openxmlformats.org/drawingml/2006/main">
            <a:r>
              <a:t/>
            </a:r>
          </a:p>
          <a:p xmlns:a="http://schemas.openxmlformats.org/drawingml/2006/main">
            <a:r>
              <a:t>31 | True | warm</a:t>
            </a:r>
          </a:p>
          <a:p xmlns:a="http://schemas.openxmlformats.org/drawingml/2006/main">
            <a:r>
              <a:t/>
            </a:r>
          </a:p>
          <a:p xmlns:a="http://schemas.openxmlformats.org/drawingml/2006/main">
            <a:r>
              <a:t>Re-run the complete previous example for each value. Exactly one branch prints.</a:t>
            </a:r>
          </a:p>
          <a:p xmlns:a="http://schemas.openxmlformats.org/drawingml/2006/main">
            <a:r>
              <a:t/>
            </a:r>
          </a:p>
          <a:p xmlns:a="http://schemas.openxmlformats.org/drawingml/2006/main">
            <a:r>
              <a:t>Read the rows in order. Re-run the complete previous example for each value. Exactly one branch prints.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More than two branches.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More than two branches</a:t>
            </a:r>
          </a:p>
          <a:p xmlns:a="http://schemas.openxmlformats.org/drawingml/2006/main">
            <a:r>
              <a:t/>
            </a:r>
          </a:p>
          <a:p xmlns:a="http://schemas.openxmlformats.org/drawingml/2006/main">
            <a:r>
              <a:t>CONNECT</a:t>
            </a:r>
          </a:p>
          <a:p xmlns:a="http://schemas.openxmlformats.org/drawingml/2006/main">
            <a:r>
              <a:t>Previous slide: Trace both paths through if else.</a:t>
            </a:r>
          </a:p>
          <a:p xmlns:a="http://schemas.openxmlformats.org/drawingml/2006/main">
            <a:r>
              <a:t/>
            </a:r>
          </a:p>
          <a:p xmlns:a="http://schemas.openxmlformats.org/drawingml/2006/main">
            <a:r>
              <a:t>EXPLAIN</a:t>
            </a:r>
          </a:p>
          <a:p xmlns:a="http://schemas.openxmlformats.org/drawingml/2006/main">
            <a:r>
              <a:t>if tests the first condition. elif means “otherwise, if” and tests another condition only if the earlier one was false. else handles the remaining case.</a:t>
            </a:r>
          </a:p>
          <a:p xmlns:a="http://schemas.openxmlformats.org/drawingml/2006/main">
            <a:r>
              <a:t/>
            </a:r>
          </a:p>
          <a:p xmlns:a="http://schemas.openxmlformats.org/drawingml/2006/main">
            <a:r>
              <a:t>Python runs only the first matching branch. Put a narrower condition before a broader one that would also match. A colon and indentation mark each body.</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Tracing an if elif else chain.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Tracing an if elif else chain</a:t>
            </a:r>
          </a:p>
          <a:p xmlns:a="http://schemas.openxmlformats.org/drawingml/2006/main">
            <a:r>
              <a:t/>
            </a:r>
          </a:p>
          <a:p xmlns:a="http://schemas.openxmlformats.org/drawingml/2006/main">
            <a:r>
              <a:t>CONNECT</a:t>
            </a:r>
          </a:p>
          <a:p xmlns:a="http://schemas.openxmlformats.org/drawingml/2006/main">
            <a:r>
              <a:t>Previous slide: More than two branches.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level = 7</a:t>
            </a:r>
          </a:p>
          <a:p xmlns:a="http://schemas.openxmlformats.org/drawingml/2006/main">
            <a:r>
              <a:t>if level &gt;= 10:</a:t>
            </a:r>
          </a:p>
          <a:p xmlns:a="http://schemas.openxmlformats.org/drawingml/2006/main">
            <a:r>
              <a:t>    print("high")</a:t>
            </a:r>
          </a:p>
          <a:p xmlns:a="http://schemas.openxmlformats.org/drawingml/2006/main">
            <a:r>
              <a:t>elif level &gt;= 5:</a:t>
            </a:r>
          </a:p>
          <a:p xmlns:a="http://schemas.openxmlformats.org/drawingml/2006/main">
            <a:r>
              <a:t>    print("medium")</a:t>
            </a:r>
          </a:p>
          <a:p xmlns:a="http://schemas.openxmlformats.org/drawingml/2006/main">
            <a:r>
              <a:t>else:</a:t>
            </a:r>
          </a:p>
          <a:p xmlns:a="http://schemas.openxmlformats.org/drawingml/2006/main">
            <a:r>
              <a:t>    print("low")</a:t>
            </a:r>
          </a:p>
          <a:p xmlns:a="http://schemas.openxmlformats.org/drawingml/2006/main">
            <a:r>
              <a:t/>
            </a:r>
          </a:p>
          <a:p xmlns:a="http://schemas.openxmlformats.org/drawingml/2006/main">
            <a:r>
              <a:t>elif is checked only after the earlier condition fails.</a:t>
            </a:r>
          </a:p>
          <a:p xmlns:a="http://schemas.openxmlformats.org/drawingml/2006/main">
            <a:r>
              <a:t/>
            </a:r>
          </a:p>
          <a:p xmlns:a="http://schemas.openxmlformats.org/drawingml/2006/main">
            <a:r>
              <a:t>Output: medium. The first condition is false; the second is true.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if elif else chain.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if elif else chain</a:t>
            </a:r>
          </a:p>
          <a:p xmlns:a="http://schemas.openxmlformats.org/drawingml/2006/main">
            <a:r>
              <a:t/>
            </a:r>
          </a:p>
          <a:p xmlns:a="http://schemas.openxmlformats.org/drawingml/2006/main">
            <a:r>
              <a:t>CONNECT</a:t>
            </a:r>
          </a:p>
          <a:p xmlns:a="http://schemas.openxmlformats.org/drawingml/2006/main">
            <a:r>
              <a:t>Previous slide: Tracing an if elif else chain.</a:t>
            </a:r>
          </a:p>
          <a:p xmlns:a="http://schemas.openxmlformats.org/drawingml/2006/main">
            <a:r>
              <a:t/>
            </a:r>
          </a:p>
          <a:p xmlns:a="http://schemas.openxmlformats.org/drawingml/2006/main">
            <a:r>
              <a:t>EXPLAIN</a:t>
            </a:r>
          </a:p>
          <a:p xmlns:a="http://schemas.openxmlformats.org/drawingml/2006/main">
            <a:r>
              <a:t>level | Tests in order | Output</a:t>
            </a:r>
          </a:p>
          <a:p xmlns:a="http://schemas.openxmlformats.org/drawingml/2006/main">
            <a:r>
              <a:t/>
            </a:r>
          </a:p>
          <a:p xmlns:a="http://schemas.openxmlformats.org/drawingml/2006/main">
            <a:r>
              <a:t>7 | 7 &gt;= 10: False; 7 &gt;= 5: True | medium</a:t>
            </a:r>
          </a:p>
          <a:p xmlns:a="http://schemas.openxmlformats.org/drawingml/2006/main">
            <a:r>
              <a:t/>
            </a:r>
          </a:p>
          <a:p xmlns:a="http://schemas.openxmlformats.org/drawingml/2006/main">
            <a:r>
              <a:t>10 | 10 &gt;= 10: True; stop testing | high</a:t>
            </a:r>
          </a:p>
          <a:p xmlns:a="http://schemas.openxmlformats.org/drawingml/2006/main">
            <a:r>
              <a:t/>
            </a:r>
          </a:p>
          <a:p xmlns:a="http://schemas.openxmlformats.org/drawingml/2006/main">
            <a:r>
              <a:t>3 | 3 &gt;= 10: False; 3 &gt;= 5: False | low</a:t>
            </a:r>
          </a:p>
          <a:p xmlns:a="http://schemas.openxmlformats.org/drawingml/2006/main">
            <a:r>
              <a:t/>
            </a:r>
          </a:p>
          <a:p xmlns:a="http://schemas.openxmlformats.org/drawingml/2006/main">
            <a:r>
              <a:t>Python stops at the first True branch. else runs when neither test passes.</a:t>
            </a:r>
          </a:p>
          <a:p xmlns:a="http://schemas.openxmlformats.org/drawingml/2006/main">
            <a:r>
              <a:t/>
            </a:r>
          </a:p>
          <a:p xmlns:a="http://schemas.openxmlformats.org/drawingml/2006/main">
            <a:r>
              <a:t>Read the rows in order. Python stops at the first True branch. else runs when neither test passes.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Combining and reversing conditions.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Combining and reversing conditions</a:t>
            </a:r>
          </a:p>
          <a:p xmlns:a="http://schemas.openxmlformats.org/drawingml/2006/main">
            <a:r>
              <a:t/>
            </a:r>
          </a:p>
          <a:p xmlns:a="http://schemas.openxmlformats.org/drawingml/2006/main">
            <a:r>
              <a:t>CONNECT</a:t>
            </a:r>
          </a:p>
          <a:p xmlns:a="http://schemas.openxmlformats.org/drawingml/2006/main">
            <a:r>
              <a:t>Previous slide: Trace the if elif else chain.</a:t>
            </a:r>
          </a:p>
          <a:p xmlns:a="http://schemas.openxmlformats.org/drawingml/2006/main">
            <a:r>
              <a:t/>
            </a:r>
          </a:p>
          <a:p xmlns:a="http://schemas.openxmlformats.org/drawingml/2006/main">
            <a:r>
              <a:t>EXPLAIN</a:t>
            </a:r>
          </a:p>
          <a:p xmlns:a="http://schemas.openxmlformats.org/drawingml/2006/main">
            <a:r>
              <a:t>and asks for both conditions to be True. or asks for at least one to be True. not reverses a Boolean answer.</a:t>
            </a:r>
          </a:p>
          <a:p xmlns:a="http://schemas.openxmlformats.org/drawingml/2006/main">
            <a:r>
              <a:t/>
            </a:r>
          </a:p>
          <a:p xmlns:a="http://schemas.openxmlformats.org/drawingml/2006/main">
            <a:r>
              <a:t>Use parentheses to make each comparison readable: (reading &gt;= 20) and (reading &lt;= 30). This is an inclusive range check.</a:t>
            </a:r>
          </a:p>
          <a:p xmlns:a="http://schemas.openxmlformats.org/drawingml/2006/main">
            <a:r>
              <a:t/>
            </a:r>
          </a:p>
          <a:p xmlns:a="http://schemas.openxmlformats.org/drawingml/2006/main">
            <a:r>
              <a:t>For these lessons we combine comparisons, so their results are Boolean. Python also permits other operand types; those are not needed for the shown checks.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and and or with Boolean inputs.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and and or with Boolean inputs</a:t>
            </a:r>
          </a:p>
          <a:p xmlns:a="http://schemas.openxmlformats.org/drawingml/2006/main">
            <a:r>
              <a:t/>
            </a:r>
          </a:p>
          <a:p xmlns:a="http://schemas.openxmlformats.org/drawingml/2006/main">
            <a:r>
              <a:t>CONNECT</a:t>
            </a:r>
          </a:p>
          <a:p xmlns:a="http://schemas.openxmlformats.org/drawingml/2006/main">
            <a:r>
              <a:t>Previous slide: Combining and reversing conditions.</a:t>
            </a:r>
          </a:p>
          <a:p xmlns:a="http://schemas.openxmlformats.org/drawingml/2006/main">
            <a:r>
              <a:t/>
            </a:r>
          </a:p>
          <a:p xmlns:a="http://schemas.openxmlformats.org/drawingml/2006/main">
            <a:r>
              <a:t>EXPLAIN</a:t>
            </a:r>
          </a:p>
          <a:p xmlns:a="http://schemas.openxmlformats.org/drawingml/2006/main">
            <a:r>
              <a:t>Inputs | and result | or result</a:t>
            </a:r>
          </a:p>
          <a:p xmlns:a="http://schemas.openxmlformats.org/drawingml/2006/main">
            <a:r>
              <a:t/>
            </a:r>
          </a:p>
          <a:p xmlns:a="http://schemas.openxmlformats.org/drawingml/2006/main">
            <a:r>
              <a:t>True, True | True | True</a:t>
            </a:r>
          </a:p>
          <a:p xmlns:a="http://schemas.openxmlformats.org/drawingml/2006/main">
            <a:r>
              <a:t/>
            </a:r>
          </a:p>
          <a:p xmlns:a="http://schemas.openxmlformats.org/drawingml/2006/main">
            <a:r>
              <a:t>True, False | False | True</a:t>
            </a:r>
          </a:p>
          <a:p xmlns:a="http://schemas.openxmlformats.org/drawingml/2006/main">
            <a:r>
              <a:t/>
            </a:r>
          </a:p>
          <a:p xmlns:a="http://schemas.openxmlformats.org/drawingml/2006/main">
            <a:r>
              <a:t>False, True | False | True</a:t>
            </a:r>
          </a:p>
          <a:p xmlns:a="http://schemas.openxmlformats.org/drawingml/2006/main">
            <a:r>
              <a:t/>
            </a:r>
          </a:p>
          <a:p xmlns:a="http://schemas.openxmlformats.org/drawingml/2006/main">
            <a:r>
              <a:t>False, False | False | False</a:t>
            </a:r>
          </a:p>
          <a:p xmlns:a="http://schemas.openxmlformats.org/drawingml/2006/main">
            <a:r>
              <a:t/>
            </a:r>
          </a:p>
          <a:p xmlns:a="http://schemas.openxmlformats.org/drawingml/2006/main">
            <a:r>
              <a:t>not True gives False; not False gives True.</a:t>
            </a:r>
          </a:p>
          <a:p xmlns:a="http://schemas.openxmlformats.org/drawingml/2006/main">
            <a:r>
              <a:t/>
            </a:r>
          </a:p>
          <a:p xmlns:a="http://schemas.openxmlformats.org/drawingml/2006/main">
            <a:r>
              <a:t>Read the rows in order. not True gives False; not False gives True.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Check a permitted range.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Check a permitted range</a:t>
            </a:r>
          </a:p>
          <a:p xmlns:a="http://schemas.openxmlformats.org/drawingml/2006/main">
            <a:r>
              <a:t/>
            </a:r>
          </a:p>
          <a:p xmlns:a="http://schemas.openxmlformats.org/drawingml/2006/main">
            <a:r>
              <a:t>CONNECT</a:t>
            </a:r>
          </a:p>
          <a:p xmlns:a="http://schemas.openxmlformats.org/drawingml/2006/main">
            <a:r>
              <a:t>Previous slide: and and or with Boolean inputs.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 = 25</a:t>
            </a:r>
          </a:p>
          <a:p xmlns:a="http://schemas.openxmlformats.org/drawingml/2006/main">
            <a:r>
              <a:t>inside = (reading &gt;= 20) and (reading &lt;= 30)</a:t>
            </a:r>
          </a:p>
          <a:p xmlns:a="http://schemas.openxmlformats.org/drawingml/2006/main">
            <a:r>
              <a:t>print(inside)</a:t>
            </a:r>
          </a:p>
          <a:p xmlns:a="http://schemas.openxmlformats.org/drawingml/2006/main">
            <a:r>
              <a:t>print((reading &lt; 20) or (reading &gt; 30))</a:t>
            </a:r>
          </a:p>
          <a:p xmlns:a="http://schemas.openxmlformats.org/drawingml/2006/main">
            <a:r>
              <a:t>print(not inside)</a:t>
            </a:r>
          </a:p>
          <a:p xmlns:a="http://schemas.openxmlformats.org/drawingml/2006/main">
            <a:r>
              <a:t/>
            </a:r>
          </a:p>
          <a:p xmlns:a="http://schemas.openxmlformats.org/drawingml/2006/main">
            <a:r>
              <a:t>Both range comparisons are True.</a:t>
            </a:r>
          </a:p>
          <a:p xmlns:a="http://schemas.openxmlformats.org/drawingml/2006/main">
            <a:r>
              <a:t/>
            </a:r>
          </a:p>
          <a:p xmlns:a="http://schemas.openxmlformats.org/drawingml/2006/main">
            <a:r>
              <a:t>The outside-range comparisons are both False.</a:t>
            </a:r>
          </a:p>
          <a:p xmlns:a="http://schemas.openxmlformats.org/drawingml/2006/main">
            <a:r>
              <a:t/>
            </a:r>
          </a:p>
          <a:p xmlns:a="http://schemas.openxmlformats.org/drawingml/2006/main">
            <a:r>
              <a:t>Output: True; False; False</a:t>
            </a:r>
          </a:p>
          <a:p xmlns:a="http://schemas.openxmlformats.org/drawingml/2006/main">
            <a:r>
              <a:t/>
            </a:r>
          </a:p>
          <a:p xmlns:a="http://schemas.openxmlformats.org/drawingml/2006/main">
            <a:r>
              <a:t>Expected printed output:</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
            </a:r>
          </a:p>
          <a:p xmlns:a="http://schemas.openxmlformats.org/drawingml/2006/main">
            <a:r>
              <a:t>Run the complete cell, then trace each line. Expected output:</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a zero check comes first.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a zero check comes first</a:t>
            </a:r>
          </a:p>
          <a:p xmlns:a="http://schemas.openxmlformats.org/drawingml/2006/main">
            <a:r>
              <a:t/>
            </a:r>
          </a:p>
          <a:p xmlns:a="http://schemas.openxmlformats.org/drawingml/2006/main">
            <a:r>
              <a:t>CONNECT</a:t>
            </a:r>
          </a:p>
          <a:p xmlns:a="http://schemas.openxmlformats.org/drawingml/2006/main">
            <a:r>
              <a:t>Previous slide: Check a permitted range.</a:t>
            </a:r>
          </a:p>
          <a:p xmlns:a="http://schemas.openxmlformats.org/drawingml/2006/main">
            <a:r>
              <a:t/>
            </a:r>
          </a:p>
          <a:p xmlns:a="http://schemas.openxmlformats.org/drawingml/2006/main">
            <a:r>
              <a:t>EXPLAIN</a:t>
            </a:r>
          </a:p>
          <a:p xmlns:a="http://schemas.openxmlformats.org/drawingml/2006/main">
            <a:r>
              <a:t>Python evaluates and from left to right. When the first Boolean comparison is False, it does not need to evaluate the second.</a:t>
            </a:r>
          </a:p>
          <a:p xmlns:a="http://schemas.openxmlformats.org/drawingml/2006/main">
            <a:r>
              <a:t/>
            </a:r>
          </a:p>
          <a:p xmlns:a="http://schemas.openxmlformats.org/drawingml/2006/main">
            <a:r>
              <a:t>For a simple zero guard, use if denominator == 0: before the division and return or handle that case explicitly.</a:t>
            </a:r>
          </a:p>
          <a:p xmlns:a="http://schemas.openxmlformats.org/drawingml/2006/main">
            <a:r>
              <a:t/>
            </a:r>
          </a:p>
          <a:p xmlns:a="http://schemas.openxmlformats.org/drawingml/2006/main">
            <a:r>
              <a:t>We will demonstrate that guard inside a function after learning how def and return work.</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Function.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Function</a:t>
            </a:r>
          </a:p>
          <a:p xmlns:a="http://schemas.openxmlformats.org/drawingml/2006/main">
            <a:r>
              <a:t/>
            </a:r>
          </a:p>
          <a:p xmlns:a="http://schemas.openxmlformats.org/drawingml/2006/main">
            <a:r>
              <a:t>CONNECT</a:t>
            </a:r>
          </a:p>
          <a:p xmlns:a="http://schemas.openxmlformats.org/drawingml/2006/main">
            <a:r>
              <a:t>Previous slide: Why a zero check comes first.</a:t>
            </a:r>
          </a:p>
          <a:p xmlns:a="http://schemas.openxmlformats.org/drawingml/2006/main">
            <a:r>
              <a:t/>
            </a:r>
          </a:p>
          <a:p xmlns:a="http://schemas.openxmlformats.org/drawingml/2006/main">
            <a:r>
              <a:t>EXPLAIN</a:t>
            </a:r>
          </a:p>
          <a:p xmlns:a="http://schemas.openxmlformats.org/drawingml/2006/main">
            <a:r>
              <a:t>Function: A named, reusable calculation or procedure. def introduces its definition. Parameters are the names for its inputs; arguments are the values supplied when calling it.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Indentation and return.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Indentation and return</a:t>
            </a:r>
          </a:p>
          <a:p xmlns:a="http://schemas.openxmlformats.org/drawingml/2006/main">
            <a:r>
              <a:t/>
            </a:r>
          </a:p>
          <a:p xmlns:a="http://schemas.openxmlformats.org/drawingml/2006/main">
            <a:r>
              <a:t>CONNECT</a:t>
            </a:r>
          </a:p>
          <a:p xmlns:a="http://schemas.openxmlformats.org/drawingml/2006/main">
            <a:r>
              <a:t>Previous slide: Function.</a:t>
            </a:r>
          </a:p>
          <a:p xmlns:a="http://schemas.openxmlformats.org/drawingml/2006/main">
            <a:r>
              <a:t/>
            </a:r>
          </a:p>
          <a:p xmlns:a="http://schemas.openxmlformats.org/drawingml/2006/main">
            <a:r>
              <a:t>EXPLAIN</a:t>
            </a:r>
          </a:p>
          <a:p xmlns:a="http://schemas.openxmlformats.org/drawingml/2006/main">
            <a:r>
              <a:t>Indentation and return: Spaces at the start of a line group the function body. return hands a result to the calling code. print displays a value and returns None.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function definition and a call.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function definition and a call</a:t>
            </a:r>
          </a:p>
          <a:p xmlns:a="http://schemas.openxmlformats.org/drawingml/2006/main">
            <a:r>
              <a:t/>
            </a:r>
          </a:p>
          <a:p xmlns:a="http://schemas.openxmlformats.org/drawingml/2006/main">
            <a:r>
              <a:t>CONNECT</a:t>
            </a:r>
          </a:p>
          <a:p xmlns:a="http://schemas.openxmlformats.org/drawingml/2006/main">
            <a:r>
              <a:t>Previous slide: Indentation and return.</a:t>
            </a:r>
          </a:p>
          <a:p xmlns:a="http://schemas.openxmlformats.org/drawingml/2006/main">
            <a:r>
              <a:t/>
            </a:r>
          </a:p>
          <a:p xmlns:a="http://schemas.openxmlformats.org/drawingml/2006/main">
            <a:r>
              <a:t>EXPLAIN</a:t>
            </a:r>
          </a:p>
          <a:p xmlns:a="http://schemas.openxmlformats.org/drawingml/2006/main">
            <a:r>
              <a:t>def gives a reusable calculation a name and inputs.</a:t>
            </a:r>
          </a:p>
          <a:p xmlns:a="http://schemas.openxmlformats.org/drawingml/2006/main">
            <a:r>
              <a:t/>
            </a:r>
          </a:p>
          <a:p xmlns:a="http://schemas.openxmlformats.org/drawingml/2006/main">
            <a:r>
              <a:t>Defining a function remembers the instructions.</a:t>
            </a:r>
          </a:p>
          <a:p xmlns:a="http://schemas.openxmlformats.org/drawingml/2006/main">
            <a:r>
              <a:t/>
            </a:r>
          </a:p>
          <a:p xmlns:a="http://schemas.openxmlformats.org/drawingml/2006/main">
            <a:r>
              <a:t>Calling the function runs those instructions with values.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Inputs, instructions and a returned result.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Inputs, instructions and a returned result</a:t>
            </a:r>
          </a:p>
          <a:p xmlns:a="http://schemas.openxmlformats.org/drawingml/2006/main">
            <a:r>
              <a:t/>
            </a:r>
          </a:p>
          <a:p xmlns:a="http://schemas.openxmlformats.org/drawingml/2006/main">
            <a:r>
              <a:t>CONNECT</a:t>
            </a:r>
          </a:p>
          <a:p xmlns:a="http://schemas.openxmlformats.org/drawingml/2006/main">
            <a:r>
              <a:t>Previous slide: A function definition and a call.</a:t>
            </a:r>
          </a:p>
          <a:p xmlns:a="http://schemas.openxmlformats.org/drawingml/2006/main">
            <a:r>
              <a:t/>
            </a:r>
          </a:p>
          <a:p xmlns:a="http://schemas.openxmlformats.org/drawingml/2006/main">
            <a:r>
              <a:t>EXPLAIN</a:t>
            </a:r>
          </a:p>
          <a:p xmlns:a="http://schemas.openxmlformats.org/drawingml/2006/main">
            <a:r>
              <a:t>The illustration uses slab_volume: length × width × thickness. The next function uses the same input/body/return pattern.</a:t>
            </a:r>
          </a:p>
          <a:p xmlns:a="http://schemas.openxmlformats.org/drawingml/2006/main">
            <a:r>
              <a:t/>
            </a:r>
          </a:p>
          <a:p xmlns:a="http://schemas.openxmlformats.org/drawingml/2006/main">
            <a:r>
              <a:t>LECTURER CUE</a:t>
            </a:r>
          </a:p>
          <a:p xmlns:a="http://schemas.openxmlformats.org/drawingml/2006/main">
            <a:r>
              <a:t>Read def, the name, parameters, colon, indentation, return and call. Definition creates the function. Its body waits for a call. Distinguish print, which displays, from return, which passes a value back.</a:t>
            </a:r>
          </a:p>
          <a:p xmlns:a="http://schemas.openxmlformats.org/drawingml/2006/main">
            <a:r>
              <a:t>Source: existing course illustration figs/function_anatomy.png.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Defining and calling double_value.</a:t>
            </a:r>
          </a:p>
          <a:p xmlns:a="http://schemas.openxmlformats.org/drawingml/2006/main">
            <a:r>
              <a:t/>
            </a:r>
          </a:p>
          <a:p xmlns:a="http://schemas.openxmlformats.org/drawingml/2006/main">
            <a:r>
              <a:t>REFERENCES</a:t>
            </a:r>
          </a:p>
          <a:p xmlns:a="http://schemas.openxmlformats.org/drawingml/2006/main">
            <a:r>
              <a:t>Source: existing course illustration figs/function_anatomy.png.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Defining and calling double_value</a:t>
            </a:r>
          </a:p>
          <a:p xmlns:a="http://schemas.openxmlformats.org/drawingml/2006/main">
            <a:r>
              <a:t/>
            </a:r>
          </a:p>
          <a:p xmlns:a="http://schemas.openxmlformats.org/drawingml/2006/main">
            <a:r>
              <a:t>CONNECT</a:t>
            </a:r>
          </a:p>
          <a:p xmlns:a="http://schemas.openxmlformats.org/drawingml/2006/main">
            <a:r>
              <a:t>Previous slide: Inputs, instructions and a returned result.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double_value(x):</a:t>
            </a:r>
          </a:p>
          <a:p xmlns:a="http://schemas.openxmlformats.org/drawingml/2006/main">
            <a:r>
              <a:t>    return x * 2</a:t>
            </a:r>
          </a:p>
          <a:p xmlns:a="http://schemas.openxmlformats.org/drawingml/2006/main">
            <a:r>
              <a:t/>
            </a:r>
          </a:p>
          <a:p xmlns:a="http://schemas.openxmlformats.org/drawingml/2006/main">
            <a:r>
              <a:t>answer = double_value(4)</a:t>
            </a:r>
          </a:p>
          <a:p xmlns:a="http://schemas.openxmlformats.org/drawingml/2006/main">
            <a:r>
              <a:t>print(answer)</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Output: 8. Calling passes 4 to x; return sends 8 back; print displays it.</a:t>
            </a:r>
          </a:p>
          <a:p xmlns:a="http://schemas.openxmlformats.org/drawingml/2006/main">
            <a:r>
              <a:t/>
            </a:r>
          </a:p>
          <a:p xmlns:a="http://schemas.openxmlformats.org/drawingml/2006/main">
            <a:r>
              <a:t>LECTURER CUE</a:t>
            </a:r>
          </a:p>
          <a:p xmlns:a="http://schemas.openxmlformats.org/drawingml/2006/main">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xmlns:a="http://schemas.openxmlformats.org/drawingml/2006/main">
            <a:r>
              <a:t/>
            </a:r>
          </a:p>
          <a:p xmlns:a="http://schemas.openxmlformats.org/drawingml/2006/main">
            <a:r>
              <a:t>Complete practice code:</a:t>
            </a:r>
          </a:p>
          <a:p xmlns:a="http://schemas.openxmlformats.org/drawingml/2006/main">
            <a:r>
              <a:t>def double_value(x):</a:t>
            </a:r>
          </a:p>
          <a:p xmlns:a="http://schemas.openxmlformats.org/drawingml/2006/main">
            <a:r>
              <a:t>    return x * 2</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one function call.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one function call</a:t>
            </a:r>
          </a:p>
          <a:p xmlns:a="http://schemas.openxmlformats.org/drawingml/2006/main">
            <a:r>
              <a:t/>
            </a:r>
          </a:p>
          <a:p xmlns:a="http://schemas.openxmlformats.org/drawingml/2006/main">
            <a:r>
              <a:t>CONNECT</a:t>
            </a:r>
          </a:p>
          <a:p xmlns:a="http://schemas.openxmlformats.org/drawingml/2006/main">
            <a:r>
              <a:t>Previous slide: Defining and calling double_value.</a:t>
            </a:r>
          </a:p>
          <a:p xmlns:a="http://schemas.openxmlformats.org/drawingml/2006/main">
            <a:r>
              <a:t/>
            </a:r>
          </a:p>
          <a:p xmlns:a="http://schemas.openxmlformats.org/drawingml/2006/main">
            <a:r>
              <a:t>EXPLAIN</a:t>
            </a:r>
          </a:p>
          <a:p xmlns:a="http://schemas.openxmlformats.org/drawingml/2006/main">
            <a:r>
              <a:t>Step | What Python does | Value</a:t>
            </a:r>
          </a:p>
          <a:p xmlns:a="http://schemas.openxmlformats.org/drawingml/2006/main">
            <a:r>
              <a:t/>
            </a:r>
          </a:p>
          <a:p xmlns:a="http://schemas.openxmlformats.org/drawingml/2006/main">
            <a:r>
              <a:t>Define | Store the body; do not run it | No printed output</a:t>
            </a:r>
          </a:p>
          <a:p xmlns:a="http://schemas.openxmlformats.org/drawingml/2006/main">
            <a:r>
              <a:t/>
            </a:r>
          </a:p>
          <a:p xmlns:a="http://schemas.openxmlformats.org/drawingml/2006/main">
            <a:r>
              <a:t>Call double_value(4) | Give parameter x the argument | x is 4</a:t>
            </a:r>
          </a:p>
          <a:p xmlns:a="http://schemas.openxmlformats.org/drawingml/2006/main">
            <a:r>
              <a:t/>
            </a:r>
          </a:p>
          <a:p xmlns:a="http://schemas.openxmlformats.org/drawingml/2006/main">
            <a:r>
              <a:t>return x * 2 | Calculate and return | 8</a:t>
            </a:r>
          </a:p>
          <a:p xmlns:a="http://schemas.openxmlformats.org/drawingml/2006/main">
            <a:r>
              <a:t/>
            </a:r>
          </a:p>
          <a:p xmlns:a="http://schemas.openxmlformats.org/drawingml/2006/main">
            <a:r>
              <a:t>Assign and print | Store returned 8 in answer; display | 8</a:t>
            </a:r>
          </a:p>
          <a:p xmlns:a="http://schemas.openxmlformats.org/drawingml/2006/main">
            <a:r>
              <a:t/>
            </a:r>
          </a:p>
          <a:p xmlns:a="http://schemas.openxmlformats.org/drawingml/2006/main">
            <a:r>
              <a:t>return sends a value back to the caller. print displays it. These are different actions.</a:t>
            </a:r>
          </a:p>
          <a:p xmlns:a="http://schemas.openxmlformats.org/drawingml/2006/main">
            <a:r>
              <a:t/>
            </a:r>
          </a:p>
          <a:p xmlns:a="http://schemas.openxmlformats.org/drawingml/2006/main">
            <a:r>
              <a:t>Read the rows in order. return sends a value back to the caller. print displays it. These are different actions.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Passing inputs by position or by name.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Passing inputs by position or by name</a:t>
            </a:r>
          </a:p>
          <a:p xmlns:a="http://schemas.openxmlformats.org/drawingml/2006/main">
            <a:r>
              <a:t/>
            </a:r>
          </a:p>
          <a:p xmlns:a="http://schemas.openxmlformats.org/drawingml/2006/main">
            <a:r>
              <a:t>CONNECT</a:t>
            </a:r>
          </a:p>
          <a:p xmlns:a="http://schemas.openxmlformats.org/drawingml/2006/main">
            <a:r>
              <a:t>Previous slide: Trace one function call.</a:t>
            </a:r>
          </a:p>
          <a:p xmlns:a="http://schemas.openxmlformats.org/drawingml/2006/main">
            <a:r>
              <a:t/>
            </a:r>
          </a:p>
          <a:p xmlns:a="http://schemas.openxmlformats.org/drawingml/2006/main">
            <a:r>
              <a:t>EXPLAIN</a:t>
            </a:r>
          </a:p>
          <a:p xmlns:a="http://schemas.openxmlformats.org/drawingml/2006/main">
            <a:r>
              <a:t>In def rectangle_area(length, width):, length and width are parameter names. A call supplies an argument value for each.</a:t>
            </a:r>
          </a:p>
          <a:p xmlns:a="http://schemas.openxmlformats.org/drawingml/2006/main">
            <a:r>
              <a:t/>
            </a:r>
          </a:p>
          <a:p xmlns:a="http://schemas.openxmlformats.org/drawingml/2006/main">
            <a:r>
              <a:t>rectangle_area(3, 2) binds 3 to length and 2 to width by position. rectangle_area(width=2, length=3) binds them by name.</a:t>
            </a:r>
          </a:p>
          <a:p xmlns:a="http://schemas.openxmlformats.org/drawingml/2006/main">
            <a:r>
              <a:t/>
            </a:r>
          </a:p>
          <a:p xmlns:a="http://schemas.openxmlformats.org/drawingml/2006/main">
            <a:r>
              <a:t>The = inside a named argument labels an input for the call. Both calls run the same function body with the same two values.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Positional and named inputs.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Positional and named inputs</a:t>
            </a:r>
          </a:p>
          <a:p xmlns:a="http://schemas.openxmlformats.org/drawingml/2006/main">
            <a:r>
              <a:t/>
            </a:r>
          </a:p>
          <a:p xmlns:a="http://schemas.openxmlformats.org/drawingml/2006/main">
            <a:r>
              <a:t>CONNECT</a:t>
            </a:r>
          </a:p>
          <a:p xmlns:a="http://schemas.openxmlformats.org/drawingml/2006/main">
            <a:r>
              <a:t>Previous slide: Passing inputs by position or by name.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rectangle_area(length, width):</a:t>
            </a:r>
          </a:p>
          <a:p xmlns:a="http://schemas.openxmlformats.org/drawingml/2006/main">
            <a:r>
              <a:t>    return length * width</a:t>
            </a:r>
          </a:p>
          <a:p xmlns:a="http://schemas.openxmlformats.org/drawingml/2006/main">
            <a:r>
              <a:t/>
            </a:r>
          </a:p>
          <a:p xmlns:a="http://schemas.openxmlformats.org/drawingml/2006/main">
            <a:r>
              <a:t>print(rectangle_area(3, 2))</a:t>
            </a:r>
          </a:p>
          <a:p xmlns:a="http://schemas.openxmlformats.org/drawingml/2006/main">
            <a:r>
              <a:t>print(rectangle_area(width=2, length=3))</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Both calls supply the same inputs. return makes the result reusable.</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6 then 6</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None means there is no result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None means there is no result value</a:t>
            </a:r>
          </a:p>
          <a:p xmlns:a="http://schemas.openxmlformats.org/drawingml/2006/main">
            <a:r>
              <a:t/>
            </a:r>
          </a:p>
          <a:p xmlns:a="http://schemas.openxmlformats.org/drawingml/2006/main">
            <a:r>
              <a:t>CONNECT</a:t>
            </a:r>
          </a:p>
          <a:p xmlns:a="http://schemas.openxmlformats.org/drawingml/2006/main">
            <a:r>
              <a:t>Previous slide: Positional and named inputs.</a:t>
            </a:r>
          </a:p>
          <a:p xmlns:a="http://schemas.openxmlformats.org/drawingml/2006/main">
            <a:r>
              <a:t/>
            </a:r>
          </a:p>
          <a:p xmlns:a="http://schemas.openxmlformats.org/drawingml/2006/main">
            <a:r>
              <a:t>EXPLAIN</a:t>
            </a:r>
          </a:p>
          <a:p xmlns:a="http://schemas.openxmlformats.org/drawingml/2006/main">
            <a:r>
              <a:t>None is a Python value used here to mean “no calculated answer”. It is not zero, an empty string, or the word "None".</a:t>
            </a:r>
          </a:p>
          <a:p xmlns:a="http://schemas.openxmlformats.org/drawingml/2006/main">
            <a:r>
              <a:t/>
            </a:r>
          </a:p>
          <a:p xmlns:a="http://schemas.openxmlformats.org/drawingml/2006/main">
            <a:r>
              <a:t>A function returns None explicitly with return None. A function also returns None if it reaches its end without a return value.</a:t>
            </a:r>
          </a:p>
          <a:p xmlns:a="http://schemas.openxmlformats.org/drawingml/2006/main">
            <a:r>
              <a:t/>
            </a:r>
          </a:p>
          <a:p xmlns:a="http://schemas.openxmlformats.org/drawingml/2006/main">
            <a:r>
              <a:t>A caller must handle None before trying arithmetic with the result. The next example returns it for division by zero.</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input check before division.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input check before division</a:t>
            </a:r>
          </a:p>
          <a:p xmlns:a="http://schemas.openxmlformats.org/drawingml/2006/main">
            <a:r>
              <a:t/>
            </a:r>
          </a:p>
          <a:p xmlns:a="http://schemas.openxmlformats.org/drawingml/2006/main">
            <a:r>
              <a:t>CONNECT</a:t>
            </a:r>
          </a:p>
          <a:p xmlns:a="http://schemas.openxmlformats.org/drawingml/2006/main">
            <a:r>
              <a:t>Previous slide: None means there is no result value.</a:t>
            </a:r>
          </a:p>
          <a:p xmlns:a="http://schemas.openxmlformats.org/drawingml/2006/main">
            <a:r>
              <a:t/>
            </a:r>
          </a:p>
          <a:p xmlns:a="http://schemas.openxmlformats.org/drawingml/2006/main">
            <a:r>
              <a:t>EXPLAIN</a:t>
            </a:r>
          </a:p>
          <a:p xmlns:a="http://schemas.openxmlformats.org/drawingml/2006/main">
            <a:r>
              <a:t>Division by zero raises ZeroDivisionError. We choose to return None when people is zero, so there is no calculated share.</a:t>
            </a:r>
          </a:p>
          <a:p xmlns:a="http://schemas.openxmlformats.org/drawingml/2006/main">
            <a:r>
              <a:t/>
            </a:r>
          </a:p>
          <a:p xmlns:a="http://schemas.openxmlformats.org/drawingml/2006/main">
            <a:r>
              <a:t>The check belongs inside the function, before the division. return ends that call immediately. A valid input follows the later return line.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function with a zero-input check.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function with a zero-input check</a:t>
            </a:r>
          </a:p>
          <a:p xmlns:a="http://schemas.openxmlformats.org/drawingml/2006/main">
            <a:r>
              <a:t/>
            </a:r>
          </a:p>
          <a:p xmlns:a="http://schemas.openxmlformats.org/drawingml/2006/main">
            <a:r>
              <a:t>CONNECT</a:t>
            </a:r>
          </a:p>
          <a:p xmlns:a="http://schemas.openxmlformats.org/drawingml/2006/main">
            <a:r>
              <a:t>Previous slide: An input check before division.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safe_share(total, people):</a:t>
            </a:r>
          </a:p>
          <a:p xmlns:a="http://schemas.openxmlformats.org/drawingml/2006/main">
            <a:r>
              <a:t>    if people == 0:</a:t>
            </a:r>
          </a:p>
          <a:p xmlns:a="http://schemas.openxmlformats.org/drawingml/2006/main">
            <a:r>
              <a:t>        return None</a:t>
            </a:r>
          </a:p>
          <a:p xmlns:a="http://schemas.openxmlformats.org/drawingml/2006/main">
            <a:r>
              <a:t>    return total / people</a:t>
            </a:r>
          </a:p>
          <a:p xmlns:a="http://schemas.openxmlformats.org/drawingml/2006/main">
            <a:r>
              <a:t/>
            </a:r>
          </a:p>
          <a:p xmlns:a="http://schemas.openxmlformats.org/drawingml/2006/main">
            <a:r>
              <a:t>print(safe_share(12, 3))</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Output: 4.0. safe_share(12, 0) returns None before any division.</a:t>
            </a:r>
          </a:p>
          <a:p xmlns:a="http://schemas.openxmlformats.org/drawingml/2006/main">
            <a:r>
              <a:t/>
            </a:r>
          </a:p>
          <a:p xmlns:a="http://schemas.openxmlformats.org/drawingml/2006/main">
            <a:r>
              <a:t>LECTURER CUE</a:t>
            </a:r>
          </a:p>
          <a:p xmlns:a="http://schemas.openxmlformats.org/drawingml/2006/main">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xmlns:a="http://schemas.openxmlformats.org/drawingml/2006/main">
            <a:r>
              <a:t/>
            </a:r>
          </a:p>
          <a:p xmlns:a="http://schemas.openxmlformats.org/drawingml/2006/main">
            <a:r>
              <a:t>Complete practice code:</a:t>
            </a:r>
          </a:p>
          <a:p xmlns:a="http://schemas.openxmlformats.org/drawingml/2006/main">
            <a:r>
              <a:t>def safe_share(total, people):</a:t>
            </a:r>
          </a:p>
          <a:p xmlns:a="http://schemas.openxmlformats.org/drawingml/2006/main">
            <a:r>
              <a:t>    if people == 0:</a:t>
            </a:r>
          </a:p>
          <a:p xmlns:a="http://schemas.openxmlformats.org/drawingml/2006/main">
            <a:r>
              <a:t>        return None</a:t>
            </a:r>
          </a:p>
          <a:p xmlns:a="http://schemas.openxmlformats.org/drawingml/2006/main">
            <a:r>
              <a:t>    return total / people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division guard.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division guard</a:t>
            </a:r>
          </a:p>
          <a:p xmlns:a="http://schemas.openxmlformats.org/drawingml/2006/main">
            <a:r>
              <a:t/>
            </a:r>
          </a:p>
          <a:p xmlns:a="http://schemas.openxmlformats.org/drawingml/2006/main">
            <a:r>
              <a:t>CONNECT</a:t>
            </a:r>
          </a:p>
          <a:p xmlns:a="http://schemas.openxmlformats.org/drawingml/2006/main">
            <a:r>
              <a:t>Previous slide: A function with a zero-input check.</a:t>
            </a:r>
          </a:p>
          <a:p xmlns:a="http://schemas.openxmlformats.org/drawingml/2006/main">
            <a:r>
              <a:t/>
            </a:r>
          </a:p>
          <a:p xmlns:a="http://schemas.openxmlformats.org/drawingml/2006/main">
            <a:r>
              <a:t>EXPLAIN</a:t>
            </a:r>
          </a:p>
          <a:p xmlns:a="http://schemas.openxmlformats.org/drawingml/2006/main">
            <a:r>
              <a:t>Call | First test | Returned result</a:t>
            </a:r>
          </a:p>
          <a:p xmlns:a="http://schemas.openxmlformats.org/drawingml/2006/main">
            <a:r>
              <a:t/>
            </a:r>
          </a:p>
          <a:p xmlns:a="http://schemas.openxmlformats.org/drawingml/2006/main">
            <a:r>
              <a:t>safe_share(12, 3) | 3 == 0 is False | 12 / 3 gives 4.0</a:t>
            </a:r>
          </a:p>
          <a:p xmlns:a="http://schemas.openxmlformats.org/drawingml/2006/main">
            <a:r>
              <a:t/>
            </a:r>
          </a:p>
          <a:p xmlns:a="http://schemas.openxmlformats.org/drawingml/2006/main">
            <a:r>
              <a:t>safe_share(12, 0) | 0 == 0 is True | None; division is skipped</a:t>
            </a:r>
          </a:p>
          <a:p xmlns:a="http://schemas.openxmlformats.org/drawingml/2006/main">
            <a:r>
              <a:t/>
            </a:r>
          </a:p>
          <a:p xmlns:a="http://schemas.openxmlformats.org/drawingml/2006/main">
            <a:r>
              <a:t>return ends this function call immediately. Later lines inside it do not run.</a:t>
            </a:r>
          </a:p>
          <a:p xmlns:a="http://schemas.openxmlformats.org/drawingml/2006/main">
            <a:r>
              <a:t/>
            </a:r>
          </a:p>
          <a:p xmlns:a="http://schemas.openxmlformats.org/drawingml/2006/main">
            <a:r>
              <a:t>Read the rows in order. return ends this function call immediately. Later lines inside it do not run.</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branch with a clear boundary.</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branch with a clear boundary</a:t>
            </a:r>
          </a:p>
          <a:p xmlns:a="http://schemas.openxmlformats.org/drawingml/2006/main">
            <a:r>
              <a:t/>
            </a:r>
          </a:p>
          <a:p xmlns:a="http://schemas.openxmlformats.org/drawingml/2006/main">
            <a:r>
              <a:t>CONNECT</a:t>
            </a:r>
          </a:p>
          <a:p xmlns:a="http://schemas.openxmlformats.org/drawingml/2006/main">
            <a:r>
              <a:t>Previous slide: Trace the division guard.</a:t>
            </a:r>
          </a:p>
          <a:p xmlns:a="http://schemas.openxmlformats.org/drawingml/2006/main">
            <a:r>
              <a:t/>
            </a:r>
          </a:p>
          <a:p xmlns:a="http://schemas.openxmlformats.org/drawingml/2006/main">
            <a:r>
              <a:t>EXPLAIN</a:t>
            </a:r>
          </a:p>
          <a:p xmlns:a="http://schemas.openxmlformats.org/drawingml/2006/main">
            <a:r>
              <a:t>Read from the top. &gt;= includes the boundary.</a:t>
            </a:r>
          </a:p>
          <a:p xmlns:a="http://schemas.openxmlformats.org/drawingml/2006/main">
            <a:r>
              <a:t/>
            </a:r>
          </a:p>
          <a:p xmlns:a="http://schemas.openxmlformats.org/drawingml/2006/main">
            <a:r>
              <a:t>Only the selected branch runs.</a:t>
            </a:r>
          </a:p>
          <a:p xmlns:a="http://schemas.openxmlformats.org/drawingml/2006/main">
            <a:r>
              <a:t/>
            </a:r>
          </a:p>
          <a:p xmlns:a="http://schemas.openxmlformats.org/drawingml/2006/main">
            <a:r>
              <a:t>Try the value exactly at 10 as well as 9 and 11.</a:t>
            </a:r>
          </a:p>
          <a:p xmlns:a="http://schemas.openxmlformats.org/drawingml/2006/main">
            <a:r>
              <a:t/>
            </a:r>
          </a:p>
          <a:p xmlns:a="http://schemas.openxmlformats.org/drawingml/2006/main">
            <a:r>
              <a:t>LECTURER CUE</a:t>
            </a:r>
          </a:p>
          <a:p xmlns:a="http://schemas.openxmlformats.org/drawingml/2006/main">
            <a:r>
              <a:t>Read from the top. &gt;= includes the boundary. Only the selected branch runs. Try the value exactly at 10 as well as 9 and 11.</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branch with a clear boundary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branch with a clear boundary in Python</a:t>
            </a:r>
          </a:p>
          <a:p xmlns:a="http://schemas.openxmlformats.org/drawingml/2006/main">
            <a:r>
              <a:t/>
            </a:r>
          </a:p>
          <a:p xmlns:a="http://schemas.openxmlformats.org/drawingml/2006/main">
            <a:r>
              <a:t>CONNECT</a:t>
            </a:r>
          </a:p>
          <a:p xmlns:a="http://schemas.openxmlformats.org/drawingml/2006/main">
            <a:r>
              <a:t>Previous slide: A branch with a clear boundary.</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check_level(value):</a:t>
            </a:r>
          </a:p>
          <a:p xmlns:a="http://schemas.openxmlformats.org/drawingml/2006/main">
            <a:r>
              <a:t>    if value &gt;= 10:</a:t>
            </a:r>
          </a:p>
          <a:p xmlns:a="http://schemas.openxmlformats.org/drawingml/2006/main">
            <a:r>
              <a:t>        return "high"</a:t>
            </a:r>
          </a:p>
          <a:p xmlns:a="http://schemas.openxmlformats.org/drawingml/2006/main">
            <a:r>
              <a:t>    return "low"</a:t>
            </a:r>
          </a:p>
          <a:p xmlns:a="http://schemas.openxmlformats.org/drawingml/2006/main">
            <a:r>
              <a:t/>
            </a:r>
          </a:p>
          <a:p xmlns:a="http://schemas.openxmlformats.org/drawingml/2006/main">
            <a:r>
              <a:t>print(check_level(10))</a:t>
            </a:r>
          </a:p>
          <a:p xmlns:a="http://schemas.openxmlformats.org/drawingml/2006/main">
            <a:r>
              <a:t>print(check_level(9))</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Read from the top. &gt;= includes the boundary. Only the selected branch runs. Try the value exactly at 10 as well as 9 and 11.</a:t>
            </a:r>
          </a:p>
          <a:p xmlns:a="http://schemas.openxmlformats.org/drawingml/2006/main">
            <a:r>
              <a:t/>
            </a:r>
          </a:p>
          <a:p xmlns:a="http://schemas.openxmlformats.org/drawingml/2006/main">
            <a:r>
              <a:t>Complete practice code:</a:t>
            </a:r>
          </a:p>
          <a:p xmlns:a="http://schemas.openxmlformats.org/drawingml/2006/main">
            <a:r>
              <a:t>def check_level(value):</a:t>
            </a:r>
          </a:p>
          <a:p xmlns:a="http://schemas.openxmlformats.org/drawingml/2006/main">
            <a:r>
              <a:t>    if value &gt;= 10:</a:t>
            </a:r>
          </a:p>
          <a:p xmlns:a="http://schemas.openxmlformats.org/drawingml/2006/main">
            <a:r>
              <a:t>        return "high"</a:t>
            </a:r>
          </a:p>
          <a:p xmlns:a="http://schemas.openxmlformats.org/drawingml/2006/main">
            <a:r>
              <a:t>    return "low"</a:t>
            </a:r>
          </a:p>
          <a:p xmlns:a="http://schemas.openxmlformats.org/drawingml/2006/main">
            <a:r>
              <a:t/>
            </a:r>
          </a:p>
          <a:p xmlns:a="http://schemas.openxmlformats.org/drawingml/2006/main">
            <a:r>
              <a:t>print(check_level(10))</a:t>
            </a:r>
          </a:p>
          <a:p xmlns:a="http://schemas.openxmlformats.org/drawingml/2006/main">
            <a:r>
              <a:t>print(check_level(9))</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One value and a collection of values.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value and a collection of values</a:t>
            </a:r>
          </a:p>
          <a:p xmlns:a="http://schemas.openxmlformats.org/drawingml/2006/main">
            <a:r>
              <a:t/>
            </a:r>
          </a:p>
          <a:p xmlns:a="http://schemas.openxmlformats.org/drawingml/2006/main">
            <a:r>
              <a:t>CONNECT</a:t>
            </a:r>
          </a:p>
          <a:p xmlns:a="http://schemas.openxmlformats.org/drawingml/2006/main">
            <a:r>
              <a:t>Previous slide: A branch with a clear boundary in Python.</a:t>
            </a:r>
          </a:p>
          <a:p xmlns:a="http://schemas.openxmlformats.org/drawingml/2006/main">
            <a:r>
              <a:t/>
            </a:r>
          </a:p>
          <a:p xmlns:a="http://schemas.openxmlformats.org/drawingml/2006/main">
            <a:r>
              <a:t>EXPLAIN</a:t>
            </a:r>
          </a:p>
          <a:p xmlns:a="http://schemas.openxmlformats.org/drawingml/2006/main">
            <a:r>
              <a:t>A variable can refer to one value: reading = 98. A collection stores several related values under one name.</a:t>
            </a:r>
          </a:p>
          <a:p xmlns:a="http://schemas.openxmlformats.org/drawingml/2006/main">
            <a:r>
              <a:t/>
            </a:r>
          </a:p>
          <a:p xmlns:a="http://schemas.openxmlformats.org/drawingml/2006/main">
            <a:r>
              <a:t>Python has several collection types. Choose one according to how you need to find, change or organise its contents.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Lists dictionaries tuples and sets.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dictionaries tuples and sets</a:t>
            </a:r>
          </a:p>
          <a:p xmlns:a="http://schemas.openxmlformats.org/drawingml/2006/main">
            <a:r>
              <a:t/>
            </a:r>
          </a:p>
          <a:p xmlns:a="http://schemas.openxmlformats.org/drawingml/2006/main">
            <a:r>
              <a:t>CONNECT</a:t>
            </a:r>
          </a:p>
          <a:p xmlns:a="http://schemas.openxmlformats.org/drawingml/2006/main">
            <a:r>
              <a:t>Previous slide: One value and a collection of values.</a:t>
            </a:r>
          </a:p>
          <a:p xmlns:a="http://schemas.openxmlformats.org/drawingml/2006/main">
            <a:r>
              <a:t/>
            </a:r>
          </a:p>
          <a:p xmlns:a="http://schemas.openxmlformats.org/drawingml/2006/main">
            <a:r>
              <a:t>EXPLAIN</a:t>
            </a:r>
          </a:p>
          <a:p xmlns:a="http://schemas.openxmlformats.org/drawingml/2006/main">
            <a:r>
              <a:t>Type | Example | Choose it for</a:t>
            </a:r>
          </a:p>
          <a:p xmlns:a="http://schemas.openxmlformats.org/drawingml/2006/main">
            <a:r>
              <a:t/>
            </a:r>
          </a:p>
          <a:p xmlns:a="http://schemas.openxmlformats.org/drawingml/2006/main">
            <a:r>
              <a:t>list | [98, 105, 92] | Values in a changeable order</a:t>
            </a:r>
          </a:p>
          <a:p xmlns:a="http://schemas.openxmlformats.org/drawingml/2006/main">
            <a:r>
              <a:t/>
            </a:r>
          </a:p>
          <a:p xmlns:a="http://schemas.openxmlformats.org/drawingml/2006/main">
            <a:r>
              <a:t>dict | {"reading": 98} | Values found by named keys</a:t>
            </a:r>
          </a:p>
          <a:p xmlns:a="http://schemas.openxmlformats.org/drawingml/2006/main">
            <a:r>
              <a:t/>
            </a:r>
          </a:p>
          <a:p xmlns:a="http://schemas.openxmlformats.org/drawingml/2006/main">
            <a:r>
              <a:t>tuple | (2, 3) | Positions you will not reassign</a:t>
            </a:r>
          </a:p>
          <a:p xmlns:a="http://schemas.openxmlformats.org/drawingml/2006/main">
            <a:r>
              <a:t/>
            </a:r>
          </a:p>
          <a:p xmlns:a="http://schemas.openxmlformats.org/drawingml/2006/main">
            <a:r>
              <a:t>set | {"A", "B"} | Distinct items and membership</a:t>
            </a:r>
          </a:p>
          <a:p xmlns:a="http://schemas.openxmlformats.org/drawingml/2006/main">
            <a:r>
              <a:t/>
            </a:r>
          </a:p>
          <a:p xmlns:a="http://schemas.openxmlformats.org/drawingml/2006/main">
            <a:r>
              <a:t>List and tuple positions start at zero. Dictionaries use keys. Sets have no positional index.</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list stores values in positions.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stores values in positions</a:t>
            </a:r>
          </a:p>
          <a:p xmlns:a="http://schemas.openxmlformats.org/drawingml/2006/main">
            <a:r>
              <a:t/>
            </a:r>
          </a:p>
          <a:p xmlns:a="http://schemas.openxmlformats.org/drawingml/2006/main">
            <a:r>
              <a:t>CONNECT</a:t>
            </a:r>
          </a:p>
          <a:p xmlns:a="http://schemas.openxmlformats.org/drawingml/2006/main">
            <a:r>
              <a:t>Previous slide: Lists dictionaries tuples and sets.</a:t>
            </a:r>
          </a:p>
          <a:p xmlns:a="http://schemas.openxmlformats.org/drawingml/2006/main">
            <a:r>
              <a:t/>
            </a:r>
          </a:p>
          <a:p xmlns:a="http://schemas.openxmlformats.org/drawingml/2006/main">
            <a:r>
              <a:t>EXPLAIN</a:t>
            </a:r>
          </a:p>
          <a:p xmlns:a="http://schemas.openxmlformats.org/drawingml/2006/main">
            <a:r>
              <a:t>readings = [98, 105, 92] creates a list. Square brackets enclose the items; commas separate them.</a:t>
            </a:r>
          </a:p>
          <a:p xmlns:a="http://schemas.openxmlformats.org/drawingml/2006/main">
            <a:r>
              <a:t/>
            </a:r>
          </a:p>
          <a:p xmlns:a="http://schemas.openxmlformats.org/drawingml/2006/main">
            <a:r>
              <a:t>An index is an item’s position. Python starts counting at zero: readings[0] is 98, readings[1] is 105, readings[2] is 92.</a:t>
            </a:r>
          </a:p>
          <a:p xmlns:a="http://schemas.openxmlformats.org/drawingml/2006/main">
            <a:r>
              <a:t/>
            </a:r>
          </a:p>
          <a:p xmlns:a="http://schemas.openxmlformats.org/drawingml/2006/main">
            <a:r>
              <a:t>Three items have positions 0, 1 and 2. readings[3] raises IndexError because there is no fourth item.</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Count items before choosing a position.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 items before choosing a position</a:t>
            </a:r>
          </a:p>
          <a:p xmlns:a="http://schemas.openxmlformats.org/drawingml/2006/main">
            <a:r>
              <a:t/>
            </a:r>
          </a:p>
          <a:p xmlns:a="http://schemas.openxmlformats.org/drawingml/2006/main">
            <a:r>
              <a:t>CONNECT</a:t>
            </a:r>
          </a:p>
          <a:p xmlns:a="http://schemas.openxmlformats.org/drawingml/2006/main">
            <a:r>
              <a:t>Previous slide: A list stores values in positions.</a:t>
            </a:r>
          </a:p>
          <a:p xmlns:a="http://schemas.openxmlformats.org/drawingml/2006/main">
            <a:r>
              <a:t/>
            </a:r>
          </a:p>
          <a:p xmlns:a="http://schemas.openxmlformats.org/drawingml/2006/main">
            <a:r>
              <a:t>EXPLAIN</a:t>
            </a:r>
          </a:p>
          <a:p xmlns:a="http://schemas.openxmlformats.org/drawingml/2006/main">
            <a:r>
              <a:t>len(readings) is a built-in function call that returns how many items the list contains. len([98, 105, 92]) is 3.</a:t>
            </a:r>
          </a:p>
          <a:p xmlns:a="http://schemas.openxmlformats.org/drawingml/2006/main">
            <a:r>
              <a:t/>
            </a:r>
          </a:p>
          <a:p xmlns:a="http://schemas.openxmlformats.org/drawingml/2006/main">
            <a:r>
              <a:t>A count and an index are different: the count is 3, while the valid positions are 0, 1 and 2.</a:t>
            </a:r>
          </a:p>
          <a:p xmlns:a="http://schemas.openxmlformats.org/drawingml/2006/main">
            <a:r>
              <a:t/>
            </a:r>
          </a:p>
          <a:p xmlns:a="http://schemas.openxmlformats.org/drawingml/2006/main">
            <a:r>
              <a:t>print(readings) displays the whole list. print(readings[0]) displays only the value at its first position.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Creating and reading a list.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and reading a list</a:t>
            </a:r>
          </a:p>
          <a:p xmlns:a="http://schemas.openxmlformats.org/drawingml/2006/main">
            <a:r>
              <a:t/>
            </a:r>
          </a:p>
          <a:p xmlns:a="http://schemas.openxmlformats.org/drawingml/2006/main">
            <a:r>
              <a:t>CONNECT</a:t>
            </a:r>
          </a:p>
          <a:p xmlns:a="http://schemas.openxmlformats.org/drawingml/2006/main">
            <a:r>
              <a:t>Previous slide: Count items before choosing a position.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readings = [98, 105, 92]</a:t>
            </a:r>
          </a:p>
          <a:p xmlns:a="http://schemas.openxmlformats.org/drawingml/2006/main">
            <a:r>
              <a:t>print(readings)</a:t>
            </a:r>
          </a:p>
          <a:p xmlns:a="http://schemas.openxmlformats.org/drawingml/2006/main">
            <a:r>
              <a:t>print(readings[0])</a:t>
            </a:r>
          </a:p>
          <a:p xmlns:a="http://schemas.openxmlformats.org/drawingml/2006/main">
            <a:r>
              <a:t>print(len(readings))</a:t>
            </a:r>
          </a:p>
          <a:p xmlns:a="http://schemas.openxmlformats.org/drawingml/2006/main">
            <a:r>
              <a:t/>
            </a:r>
          </a:p>
          <a:p xmlns:a="http://schemas.openxmlformats.org/drawingml/2006/main">
            <a:r>
              <a:t>[ ] creates a list or selects a position.</a:t>
            </a:r>
          </a:p>
          <a:p xmlns:a="http://schemas.openxmlformats.org/drawingml/2006/main">
            <a:r>
              <a:t/>
            </a:r>
          </a:p>
          <a:p xmlns:a="http://schemas.openxmlformats.org/drawingml/2006/main">
            <a:r>
              <a:t>len counts the items; it is a built-in function.</a:t>
            </a:r>
          </a:p>
          <a:p xmlns:a="http://schemas.openxmlformats.org/drawingml/2006/main">
            <a:r>
              <a:t/>
            </a:r>
          </a:p>
          <a:p xmlns:a="http://schemas.openxmlformats.org/drawingml/2006/main">
            <a:r>
              <a:t>Output: [98, 105, 92], then 98, then 3.</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Choosing the right collection.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the right collection</a:t>
            </a:r>
          </a:p>
          <a:p xmlns:a="http://schemas.openxmlformats.org/drawingml/2006/main">
            <a:r>
              <a:t/>
            </a:r>
          </a:p>
          <a:p xmlns:a="http://schemas.openxmlformats.org/drawingml/2006/main">
            <a:r>
              <a:t>CONNECT</a:t>
            </a:r>
          </a:p>
          <a:p xmlns:a="http://schemas.openxmlformats.org/drawingml/2006/main">
            <a:r>
              <a:t>Previous slide: Creating and reading a list.</a:t>
            </a:r>
          </a:p>
          <a:p xmlns:a="http://schemas.openxmlformats.org/drawingml/2006/main">
            <a:r>
              <a:t/>
            </a:r>
          </a:p>
          <a:p xmlns:a="http://schemas.openxmlformats.org/drawingml/2006/main">
            <a:r>
              <a:t>EXPLAIN</a:t>
            </a:r>
          </a:p>
          <a:p xmlns:a="http://schemas.openxmlformats.org/drawingml/2006/main">
            <a:r>
              <a:t>A dictionary connects a key to a value: {"reading": 98}. The colon connects them; record["reading"] finds the value by its key.</a:t>
            </a:r>
          </a:p>
          <a:p xmlns:a="http://schemas.openxmlformats.org/drawingml/2006/main">
            <a:r>
              <a:t/>
            </a:r>
          </a:p>
          <a:p xmlns:a="http://schemas.openxmlformats.org/drawingml/2006/main">
            <a:r>
              <a:t>A tuple such as (2, 3) stores ordered items whose positions cannot be reassigned. A set such as {"A", "B"} stores distinct items without positions.</a:t>
            </a:r>
          </a:p>
          <a:p xmlns:a="http://schemas.openxmlformats.org/drawingml/2006/main">
            <a:r>
              <a:t/>
            </a:r>
          </a:p>
          <a:p xmlns:a="http://schemas.openxmlformats.org/drawingml/2006/main">
            <a:r>
              <a:t>We use a list for today’s readings because their order matters. Week 4 develops dictionary, tuple and set operations before we use them with records.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method belongs to a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method belongs to a value</a:t>
            </a:r>
          </a:p>
          <a:p xmlns:a="http://schemas.openxmlformats.org/drawingml/2006/main">
            <a:r>
              <a:t/>
            </a:r>
          </a:p>
          <a:p xmlns:a="http://schemas.openxmlformats.org/drawingml/2006/main">
            <a:r>
              <a:t>CONNECT</a:t>
            </a:r>
          </a:p>
          <a:p xmlns:a="http://schemas.openxmlformats.org/drawingml/2006/main">
            <a:r>
              <a:t>Previous slide: Choosing the right collection.</a:t>
            </a:r>
          </a:p>
          <a:p xmlns:a="http://schemas.openxmlformats.org/drawingml/2006/main">
            <a:r>
              <a:t/>
            </a:r>
          </a:p>
          <a:p xmlns:a="http://schemas.openxmlformats.org/drawingml/2006/main">
            <a:r>
              <a:t>EXPLAIN</a:t>
            </a:r>
          </a:p>
          <a:p xmlns:a="http://schemas.openxmlformats.org/drawingml/2006/main">
            <a:r>
              <a:t>A function is called by name: len(readings). A method is called through a value with a dot: readings.index(105).</a:t>
            </a:r>
          </a:p>
          <a:p xmlns:a="http://schemas.openxmlformats.org/drawingml/2006/main">
            <a:r>
              <a:t/>
            </a:r>
          </a:p>
          <a:p xmlns:a="http://schemas.openxmlformats.org/drawingml/2006/main">
            <a:r>
              <a:t>index searches a list for a value and returns its first position. Here readings.index(105) returns 1. A missing value raises ValueError.</a:t>
            </a:r>
          </a:p>
          <a:p xmlns:a="http://schemas.openxmlformats.org/drawingml/2006/main">
            <a:r>
              <a:t/>
            </a:r>
          </a:p>
          <a:p xmlns:a="http://schemas.openxmlformats.org/drawingml/2006/main">
            <a:r>
              <a:t>The parentheses contain inputs to the operation. The square brackets in readings[1] select an item; they do a different job.</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Selecting a largest error without loops.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Selecting a largest error without loops</a:t>
            </a:r>
          </a:p>
          <a:p xmlns:a="http://schemas.openxmlformats.org/drawingml/2006/main">
            <a:r>
              <a:t/>
            </a:r>
          </a:p>
          <a:p xmlns:a="http://schemas.openxmlformats.org/drawingml/2006/main">
            <a:r>
              <a:t>CONNECT</a:t>
            </a:r>
          </a:p>
          <a:p xmlns:a="http://schemas.openxmlformats.org/drawingml/2006/main">
            <a:r>
              <a:t>Previous slide: A method belongs to a value.</a:t>
            </a:r>
          </a:p>
          <a:p xmlns:a="http://schemas.openxmlformats.org/drawingml/2006/main">
            <a:r>
              <a:t/>
            </a:r>
          </a:p>
          <a:p xmlns:a="http://schemas.openxmlformats.org/drawingml/2006/main">
            <a:r>
              <a:t>EXPLAIN</a:t>
            </a:r>
          </a:p>
          <a:p xmlns:a="http://schemas.openxmlformats.org/drawingml/2006/main">
            <a:r>
              <a:t>An error is measured − expected. Its sign shows the direction. abs gives its magnitude: abs(-8) is 8.</a:t>
            </a:r>
          </a:p>
          <a:p xmlns:a="http://schemas.openxmlformats.org/drawingml/2006/main">
            <a:r>
              <a:t/>
            </a:r>
          </a:p>
          <a:p xmlns:a="http://schemas.openxmlformats.org/drawingml/2006/main">
            <a:r>
              <a:t>max finds the largest supplied value: max(2, 5, 8) is 8. Compare magnitudes when the task asks for the largest error by size.</a:t>
            </a:r>
          </a:p>
          <a:p xmlns:a="http://schemas.openxmlformats.org/drawingml/2006/main">
            <a:r>
              <a:t/>
            </a:r>
          </a:p>
          <a:p xmlns:a="http://schemas.openxmlformats.org/drawingml/2006/main">
            <a:r>
              <a:t>Keep the original signed error as well, because the magnitude alone loses direction.</a:t>
            </a:r>
          </a:p>
          <a:p xmlns:a="http://schemas.openxmlformats.org/drawingml/2006/main">
            <a:r>
              <a:t/>
            </a:r>
          </a:p>
          <a:p xmlns:a="http://schemas.openxmlformats.org/drawingml/2006/main">
            <a:r>
              <a:t>LECTURER CUE</a:t>
            </a:r>
          </a:p>
          <a:p xmlns:a="http://schemas.openxmlformats.org/drawingml/2006/main">
            <a:r>
              <a:t>A list holds several values. abs removes the sign when measuring the SIZE of an error. max returns the largest supplied value. Keep the original signed error when the task asks for direction.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Selecting a largest error without loops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Selecting a largest error without loops in Python</a:t>
            </a:r>
          </a:p>
          <a:p xmlns:a="http://schemas.openxmlformats.org/drawingml/2006/main">
            <a:r>
              <a:t/>
            </a:r>
          </a:p>
          <a:p xmlns:a="http://schemas.openxmlformats.org/drawingml/2006/main">
            <a:r>
              <a:t>CONNECT</a:t>
            </a:r>
          </a:p>
          <a:p xmlns:a="http://schemas.openxmlformats.org/drawingml/2006/main">
            <a:r>
              <a:t>Previous slide: Selecting a largest error without loops.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errors = [-2, 5, -8]</a:t>
            </a:r>
          </a:p>
          <a:p xmlns:a="http://schemas.openxmlformats.org/drawingml/2006/main">
            <a:r>
              <a:t>largest = max(abs(errors[0]), abs(errors[1]), abs(errors[2]))</a:t>
            </a:r>
          </a:p>
          <a:p xmlns:a="http://schemas.openxmlformats.org/drawingml/2006/main">
            <a:r>
              <a:t>print(largest)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A list holds several values. abs removes the sign when measuring the SIZE of an error. max returns the largest supplied value. Keep the original signed error when the task asks for direction.</a:t>
            </a:r>
          </a:p>
          <a:p xmlns:a="http://schemas.openxmlformats.org/drawingml/2006/main">
            <a:r>
              <a:t/>
            </a:r>
          </a:p>
          <a:p xmlns:a="http://schemas.openxmlformats.org/drawingml/2006/main">
            <a:r>
              <a:t>Complete practice code:</a:t>
            </a:r>
          </a:p>
          <a:p xmlns:a="http://schemas.openxmlformats.org/drawingml/2006/main">
            <a:r>
              <a:t>errors = [-2, 5, -8]</a:t>
            </a:r>
          </a:p>
          <a:p xmlns:a="http://schemas.openxmlformats.org/drawingml/2006/main">
            <a:r>
              <a:t>largest = max(abs(errors[0]), abs(errors[1]), abs(errors[2]))</a:t>
            </a:r>
          </a:p>
          <a:p xmlns:a="http://schemas.openxmlformats.org/drawingml/2006/main">
            <a:r>
              <a:t>print(largest)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Keep the reading beside its signed error.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 the reading beside its signed error</a:t>
            </a:r>
          </a:p>
          <a:p xmlns:a="http://schemas.openxmlformats.org/drawingml/2006/main">
            <a:r>
              <a:t/>
            </a:r>
          </a:p>
          <a:p xmlns:a="http://schemas.openxmlformats.org/drawingml/2006/main">
            <a:r>
              <a:t>CONNECT</a:t>
            </a:r>
          </a:p>
          <a:p xmlns:a="http://schemas.openxmlformats.org/drawingml/2006/main">
            <a:r>
              <a:t>Previous slide: Selecting a largest error without loops in Python.</a:t>
            </a:r>
          </a:p>
          <a:p xmlns:a="http://schemas.openxmlformats.org/drawingml/2006/main">
            <a:r>
              <a:t/>
            </a:r>
          </a:p>
          <a:p xmlns:a="http://schemas.openxmlformats.org/drawingml/2006/main">
            <a:r>
              <a:t>EXPLAIN</a:t>
            </a:r>
          </a:p>
          <a:p xmlns:a="http://schemas.openxmlformats.org/drawingml/2006/main">
            <a:r>
              <a:t>These paired lists use the same positions: the first error belongs to the first reading. The sign tells the direction; abs gives only the size.</a:t>
            </a:r>
          </a:p>
          <a:p xmlns:a="http://schemas.openxmlformats.org/drawingml/2006/main">
            <a:r>
              <a:t/>
            </a:r>
          </a:p>
          <a:p xmlns:a="http://schemas.openxmlformats.org/drawingml/2006/main">
            <a:r>
              <a:t>index(value) finds the first position containing that value. Use that position in the original lists. An exact tie selects the first here; follow the issued task’s rule.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Find a position, then recover the original values.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Find a position, then recover the original values</a:t>
            </a:r>
          </a:p>
          <a:p xmlns:a="http://schemas.openxmlformats.org/drawingml/2006/main">
            <a:r>
              <a:t/>
            </a:r>
          </a:p>
          <a:p xmlns:a="http://schemas.openxmlformats.org/drawingml/2006/main">
            <a:r>
              <a:t>CONNECT</a:t>
            </a:r>
          </a:p>
          <a:p xmlns:a="http://schemas.openxmlformats.org/drawingml/2006/main">
            <a:r>
              <a:t>Previous slide: Keep the reading beside its signed error.</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readings = [98, 105, 92]</a:t>
            </a:r>
          </a:p>
          <a:p xmlns:a="http://schemas.openxmlformats.org/drawingml/2006/main">
            <a:r>
              <a:t>errors = [-2, 5, -8]</a:t>
            </a:r>
          </a:p>
          <a:p xmlns:a="http://schemas.openxmlformats.org/drawingml/2006/main">
            <a:r>
              <a:t>sizes = [abs(errors[0]), abs(errors[1]), abs(errors[2])]</a:t>
            </a:r>
          </a:p>
          <a:p xmlns:a="http://schemas.openxmlformats.org/drawingml/2006/main">
            <a:r>
              <a:t>position = sizes.index(max(sizes))</a:t>
            </a:r>
          </a:p>
          <a:p xmlns:a="http://schemas.openxmlformats.org/drawingml/2006/main">
            <a:r>
              <a:t>print(readings[position], errors[position])</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Expected: 92 -8. The largest size is 8; the signed error is -8.</a:t>
            </a:r>
          </a:p>
          <a:p xmlns:a="http://schemas.openxmlformats.org/drawingml/2006/main">
            <a:r>
              <a:t/>
            </a:r>
          </a:p>
          <a:p xmlns:a="http://schemas.openxmlformats.org/drawingml/2006/main">
            <a:r>
              <a:t>LECTURER CUE</a:t>
            </a:r>
          </a:p>
          <a:p xmlns:a="http://schemas.openxmlformats.org/drawingml/2006/main">
            <a:r>
              <a:t>Expected: 92 -8. The largest size is 8; the signed error is -8.</a:t>
            </a:r>
          </a:p>
          <a:p xmlns:a="http://schemas.openxmlformats.org/drawingml/2006/main">
            <a:r>
              <a:t/>
            </a:r>
          </a:p>
          <a:p xmlns:a="http://schemas.openxmlformats.org/drawingml/2006/main">
            <a:r>
              <a:t>Complete practice code:</a:t>
            </a:r>
          </a:p>
          <a:p xmlns:a="http://schemas.openxmlformats.org/drawingml/2006/main">
            <a:r>
              <a:t>readings = [98, 105, 92]</a:t>
            </a:r>
          </a:p>
          <a:p xmlns:a="http://schemas.openxmlformats.org/drawingml/2006/main">
            <a:r>
              <a:t>errors = [-2, 5, -8]</a:t>
            </a:r>
          </a:p>
          <a:p xmlns:a="http://schemas.openxmlformats.org/drawingml/2006/main">
            <a:r>
              <a:t>sizes = [abs(errors[0]), abs(errors[1]), abs(errors[2])]</a:t>
            </a:r>
          </a:p>
          <a:p xmlns:a="http://schemas.openxmlformats.org/drawingml/2006/main">
            <a:r>
              <a:t>position = sizes.index(max(sizes))</a:t>
            </a:r>
          </a:p>
          <a:p xmlns:a="http://schemas.openxmlformats.org/drawingml/2006/main">
            <a:r>
              <a:t>print(readings[position], errors[position])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Find a position, then recover the original values.</a:t>
            </a:r>
          </a:p>
          <a:p xmlns:a="http://schemas.openxmlformats.org/drawingml/2006/main">
            <a:r>
              <a:t/>
            </a:r>
          </a:p>
          <a:p xmlns:a="http://schemas.openxmlformats.org/drawingml/2006/main">
            <a:r>
              <a:t>EXPLAIN</a:t>
            </a:r>
          </a:p>
          <a:p xmlns:a="http://schemas.openxmlformats.org/drawingml/2006/main">
            <a:r>
              <a:t>Example: Write triple_value(x). Predict triple_value(5). Then predict safe_share(12, 0).</a:t>
            </a:r>
          </a:p>
          <a:p xmlns:a="http://schemas.openxmlformats.org/drawingml/2006/main">
            <a:r>
              <a:t/>
            </a:r>
          </a:p>
          <a:p xmlns:a="http://schemas.openxmlformats.org/drawingml/2006/main">
            <a:r>
              <a:t>Answer: triple_value returns x * 3. The calls give 15 and None respectively. The guard returns before division when people is zero.</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triple_value returns x * 3. The calls give 15 and None respectively. The guard returns before division when people is zero.</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quantities before the formulas.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quantities before the formulas</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Mass measures matter in kilograms (kg). Weight is a force in newtons (N): mass × gravitational acceleration. The assignment uses g = 9.81 m/s².</a:t>
            </a:r>
          </a:p>
          <a:p xmlns:a="http://schemas.openxmlformats.org/drawingml/2006/main">
            <a:r>
              <a:t/>
            </a:r>
          </a:p>
          <a:p xmlns:a="http://schemas.openxmlformats.org/drawingml/2006/main">
            <a:r>
              <a:t>Power is energy transferred per second, in watts (W). Efficiency in percent = 100 × useful output power / input power.</a:t>
            </a:r>
          </a:p>
          <a:p xmlns:a="http://schemas.openxmlformats.org/drawingml/2006/main">
            <a:r>
              <a:t/>
            </a:r>
          </a:p>
          <a:p xmlns:a="http://schemas.openxmlformats.org/drawingml/2006/main">
            <a:r>
              <a:t>A named constant stores a value kept fixed in the calculation. Uppercase names such as G are a convention, not a Python restriction.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programme formula.</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programme formula</a:t>
            </a:r>
          </a:p>
          <a:p xmlns:a="http://schemas.openxmlformats.org/drawingml/2006/main">
            <a:r>
              <a:t/>
            </a:r>
          </a:p>
          <a:p xmlns:a="http://schemas.openxmlformats.org/drawingml/2006/main">
            <a:r>
              <a:t>CONNECT</a:t>
            </a:r>
          </a:p>
          <a:p xmlns:a="http://schemas.openxmlformats.org/drawingml/2006/main">
            <a:r>
              <a:t>Previous slide: Read the quantities before the formulas.</a:t>
            </a:r>
          </a:p>
          <a:p xmlns:a="http://schemas.openxmlformats.org/drawingml/2006/main">
            <a:r>
              <a:t/>
            </a:r>
          </a:p>
          <a:p xmlns:a="http://schemas.openxmlformats.org/drawingml/2006/main">
            <a:r>
              <a:t>EXPLAIN</a:t>
            </a:r>
          </a:p>
          <a:p xmlns:a="http://schemas.openxmlformats.org/drawingml/2006/main">
            <a:r>
              <a:t>Resistive power loss (W) = current (A) squared × resistance (ohms). In Python, current ** 2 means current multiplied by itself.</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Your programme formula.</a:t>
            </a:r>
          </a:p>
          <a:p xmlns:a="http://schemas.openxmlformats.org/drawingml/2006/main">
            <a:r>
              <a:t/>
            </a:r>
          </a:p>
          <a:p xmlns:a="http://schemas.openxmlformats.org/drawingml/2006/main">
            <a:r>
              <a:t>EXPLAIN</a:t>
            </a:r>
          </a:p>
          <a:p xmlns:a="http://schemas.openxmlformats.org/drawingml/2006/main">
            <a:r>
              <a:t>A3 has five named tasks, not five additional projects.</a:t>
            </a:r>
          </a:p>
          <a:p xmlns:a="http://schemas.openxmlformats.org/drawingml/2006/main">
            <a:r>
              <a:t/>
            </a:r>
          </a:p>
          <a:p xmlns:a="http://schemas.openxmlformats.org/drawingml/2006/main">
            <a:r>
              <a:t>Read each public prompt and its exact output name.</a:t>
            </a:r>
          </a:p>
          <a:p xmlns:a="http://schemas.openxmlformats.org/drawingml/2006/main">
            <a:r>
              <a:t/>
            </a:r>
          </a:p>
          <a:p xmlns:a="http://schemas.openxmlformats.org/drawingml/2006/main">
            <a:r>
              <a:t>Signed percentage error = 100 × (measured − expected) / expected.</a:t>
            </a:r>
          </a:p>
          <a:p xmlns:a="http://schemas.openxmlformats.org/drawingml/2006/main">
            <a:r>
              <a:t/>
            </a:r>
          </a:p>
          <a:p xmlns:a="http://schemas.openxmlformats.org/drawingml/2006/main">
            <a:r>
              <a:t>Use a nonzero expected value.</a:t>
            </a:r>
          </a:p>
          <a:p xmlns:a="http://schemas.openxmlformats.org/drawingml/2006/main">
            <a:r>
              <a:t/>
            </a:r>
          </a:p>
          <a:p xmlns:a="http://schemas.openxmlformats.org/drawingml/2006/main">
            <a:r>
              <a:t>LECTURER CUE</a:t>
            </a:r>
          </a:p>
          <a:p xmlns:a="http://schemas.openxmlformats.org/drawingml/2006/main">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Use the formula for your programme shown earlier. q4 specifies the zero-input behaviour. q5 uses the supplied six readings; trace them on paper, and use your own percentage-error function.</a:t>
            </a:r>
          </a:p>
          <a:p xmlns:a="http://schemas.openxmlformats.org/drawingml/2006/main">
            <a:r>
              <a:t/>
            </a:r>
          </a:p>
          <a:p xmlns:a="http://schemas.openxmlformats.org/drawingml/2006/main">
            <a:r>
              <a:t>Loops are not required yet.</a:t>
            </a:r>
          </a:p>
          <a:p xmlns:a="http://schemas.openxmlformats.org/drawingml/2006/main">
            <a:r>
              <a:t/>
            </a:r>
          </a:p>
          <a:p xmlns:a="http://schemas.openxmlformats.org/drawingml/2006/main">
            <a:r>
              <a:t>LECTURER CUE</a:t>
            </a:r>
          </a:p>
          <a:p xmlns:a="http://schemas.openxmlformats.org/drawingml/2006/main">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Unit conversions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Unit conversions for the assignment</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Millimetres become metres by dividing by 1000: 200 mm is 0.2 m.</a:t>
            </a:r>
          </a:p>
          <a:p xmlns:a="http://schemas.openxmlformats.org/drawingml/2006/main">
            <a:r>
              <a:t/>
            </a:r>
          </a:p>
          <a:p xmlns:a="http://schemas.openxmlformats.org/drawingml/2006/main">
            <a:r>
              <a:t>Percent becomes a fraction by dividing by 100: 75% is 0.75.</a:t>
            </a:r>
          </a:p>
          <a:p xmlns:a="http://schemas.openxmlformats.org/drawingml/2006/main">
            <a:r>
              <a:t/>
            </a:r>
          </a:p>
          <a:p xmlns:a="http://schemas.openxmlformats.org/drawingml/2006/main">
            <a:r>
              <a:t>Only for rotational-speed questions: rpm means revolutions per minute. One revolution is 2π radians and one minute is 60 seconds, so multiply rpm by 2π/60.</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Previous slide: Unit conversions for the assignment.</a:t>
            </a:r>
          </a:p>
          <a:p xmlns:a="http://schemas.openxmlformats.org/drawingml/2006/main">
            <a:r>
              <a:t/>
            </a:r>
          </a:p>
          <a:p xmlns:a="http://schemas.openxmlformats.org/drawingml/2006/main">
            <a:r>
              <a:t>EXPLAIN</a:t>
            </a:r>
          </a:p>
          <a:p xmlns:a="http://schemas.openxmlformats.org/drawingml/2006/main">
            <a:r>
              <a:t>Open W03_student.ipynb.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CUE</a:t>
            </a:r>
          </a:p>
          <a:p xmlns:a="http://schemas.openxmlformats.org/drawingml/2006/main">
            <a:r>
              <a:t># W03: variables and functions</a:t>
            </a:r>
          </a:p>
          <a:p xmlns:a="http://schemas.openxmlformats.org/drawingml/2006/main">
            <a:r>
              <a:t>CML3111. Complete each named output. Save as STUDENT_ID_W03.ipynb.</a:t>
            </a:r>
          </a:p>
          <a:p xmlns:a="http://schemas.openxmlformats.org/drawingml/2006/main">
            <a:r>
              <a:t>## q1: 3 marks</a:t>
            </a:r>
          </a:p>
          <a:p xmlns:a="http://schemas.openxmlformats.org/drawingml/2006/main">
            <a:r>
              <a:t>A 40 kg motor sits on a bench. Set weight_n to its weight in newtons, taking g = 9.81.</a:t>
            </a:r>
          </a:p>
          <a:p xmlns:a="http://schemas.openxmlformats.org/drawingml/2006/main">
            <a:r>
              <a:t>## q2: 4 marks</a:t>
            </a:r>
          </a:p>
          <a:p xmlns:a="http://schemas.openxmlformats.org/drawingml/2006/main">
            <a:r>
              <a:t>Write percent_error(measured, expected) returning the signed percent error.</a:t>
            </a:r>
          </a:p>
          <a:p xmlns:a="http://schemas.openxmlformats.org/drawingml/2006/main">
            <a:r>
              <a:t>## q3: 3 marks</a:t>
            </a:r>
          </a:p>
          <a:p xmlns:a="http://schemas.openxmlformats.org/drawingml/2006/main">
            <a:r>
              <a:t>Write power_loss(current, resistance) returning the power lost in watts (I squared R).</a:t>
            </a:r>
          </a:p>
          <a:p xmlns:a="http://schemas.openxmlformats.org/drawingml/2006/main">
            <a:r>
              <a:t>## q4: 5 marks</a:t>
            </a:r>
          </a:p>
          <a:p xmlns:a="http://schemas.openxmlformats.org/drawingml/2006/main">
            <a:r>
              <a:t>Write efficiency(out_w, in_w) returning the percentage, and returning None when in_w is zero or negative.</a:t>
            </a:r>
          </a:p>
          <a:p xmlns:a="http://schemas.openxmlformats.org/drawingml/2006/main">
            <a:r>
              <a:t>## q5: 5 marks</a:t>
            </a:r>
          </a:p>
          <a:p xmlns:a="http://schemas.openxmlformats.org/drawingml/2006/main">
            <a:r>
              <a:t>READINGS is given in the notebook. Using your own percent_error against a nominal of 100, set worst_reading to the reading with the largest error by size, and worst_error to that reading's signed percent error.</a:t>
            </a:r>
          </a:p>
          <a:p xmlns:a="http://schemas.openxmlformats.org/drawingml/2006/main">
            <a:r>
              <a:t>You may compare these six readings directly; a loop is not required this week.</a:t>
            </a:r>
          </a:p>
          <a:p xmlns:a="http://schemas.openxmlformats.org/drawingml/2006/main">
            <a:r>
              <a:t>Restart and Run All, then save your named notebook. Practice check results are feedback; the submitted notebook is graded independently.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q1: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Previous slide: Your issued assignment.</a:t>
            </a:r>
          </a:p>
          <a:p xmlns:a="http://schemas.openxmlformats.org/drawingml/2006/main">
            <a:r>
              <a:t/>
            </a:r>
          </a:p>
          <a:p xmlns:a="http://schemas.openxmlformats.org/drawingml/2006/main">
            <a:r>
              <a:t>EXPLAIN</a:t>
            </a:r>
          </a:p>
          <a:p xmlns:a="http://schemas.openxmlformats.org/drawingml/2006/main">
            <a:r>
              <a:t>A 40 kg motor sits on a bench.</a:t>
            </a:r>
          </a:p>
          <a:p xmlns:a="http://schemas.openxmlformats.org/drawingml/2006/main">
            <a:r>
              <a:t/>
            </a:r>
          </a:p>
          <a:p xmlns:a="http://schemas.openxmlformats.org/drawingml/2006/main">
            <a:r>
              <a:t>Set weight_n to its weight in newtons, taking g = 9.81.</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q2: 4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q2: 4 marks</a:t>
            </a:r>
          </a:p>
          <a:p xmlns:a="http://schemas.openxmlformats.org/drawingml/2006/main">
            <a:r>
              <a:t/>
            </a:r>
          </a:p>
          <a:p xmlns:a="http://schemas.openxmlformats.org/drawingml/2006/main">
            <a:r>
              <a:t>CONNECT</a:t>
            </a:r>
          </a:p>
          <a:p xmlns:a="http://schemas.openxmlformats.org/drawingml/2006/main">
            <a:r>
              <a:t>Previous slide: q1: 3 marks.</a:t>
            </a:r>
          </a:p>
          <a:p xmlns:a="http://schemas.openxmlformats.org/drawingml/2006/main">
            <a:r>
              <a:t/>
            </a:r>
          </a:p>
          <a:p xmlns:a="http://schemas.openxmlformats.org/drawingml/2006/main">
            <a:r>
              <a:t>EXPLAIN</a:t>
            </a:r>
          </a:p>
          <a:p xmlns:a="http://schemas.openxmlformats.org/drawingml/2006/main">
            <a:r>
              <a:t>Write percent_error(measured, expected) returning the signed percent error.</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q3: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q3: 3 marks</a:t>
            </a:r>
          </a:p>
          <a:p xmlns:a="http://schemas.openxmlformats.org/drawingml/2006/main">
            <a:r>
              <a:t/>
            </a:r>
          </a:p>
          <a:p xmlns:a="http://schemas.openxmlformats.org/drawingml/2006/main">
            <a:r>
              <a:t>CONNECT</a:t>
            </a:r>
          </a:p>
          <a:p xmlns:a="http://schemas.openxmlformats.org/drawingml/2006/main">
            <a:r>
              <a:t>Previous slide: q2: 4 marks.</a:t>
            </a:r>
          </a:p>
          <a:p xmlns:a="http://schemas.openxmlformats.org/drawingml/2006/main">
            <a:r>
              <a:t/>
            </a:r>
          </a:p>
          <a:p xmlns:a="http://schemas.openxmlformats.org/drawingml/2006/main">
            <a:r>
              <a:t>EXPLAIN</a:t>
            </a:r>
          </a:p>
          <a:p xmlns:a="http://schemas.openxmlformats.org/drawingml/2006/main">
            <a:r>
              <a:t>Write power_loss(current, resistance) returning the power lost in watts (I squared R).</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q4: 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q4: 5 marks</a:t>
            </a:r>
          </a:p>
          <a:p xmlns:a="http://schemas.openxmlformats.org/drawingml/2006/main">
            <a:r>
              <a:t/>
            </a:r>
          </a:p>
          <a:p xmlns:a="http://schemas.openxmlformats.org/drawingml/2006/main">
            <a:r>
              <a:t>CONNECT</a:t>
            </a:r>
          </a:p>
          <a:p xmlns:a="http://schemas.openxmlformats.org/drawingml/2006/main">
            <a:r>
              <a:t>Previous slide: q3: 3 marks.</a:t>
            </a:r>
          </a:p>
          <a:p xmlns:a="http://schemas.openxmlformats.org/drawingml/2006/main">
            <a:r>
              <a:t/>
            </a:r>
          </a:p>
          <a:p xmlns:a="http://schemas.openxmlformats.org/drawingml/2006/main">
            <a:r>
              <a:t>EXPLAIN</a:t>
            </a:r>
          </a:p>
          <a:p xmlns:a="http://schemas.openxmlformats.org/drawingml/2006/main">
            <a:r>
              <a:t>Write efficiency(out_w, in_w) returning the percentage, and returning None when in_w is zero or negative.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q5: 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q5: 5 marks</a:t>
            </a:r>
          </a:p>
          <a:p xmlns:a="http://schemas.openxmlformats.org/drawingml/2006/main">
            <a:r>
              <a:t/>
            </a:r>
          </a:p>
          <a:p xmlns:a="http://schemas.openxmlformats.org/drawingml/2006/main">
            <a:r>
              <a:t>CONNECT</a:t>
            </a:r>
          </a:p>
          <a:p xmlns:a="http://schemas.openxmlformats.org/drawingml/2006/main">
            <a:r>
              <a:t>Previous slide: q4: 5 marks.</a:t>
            </a:r>
          </a:p>
          <a:p xmlns:a="http://schemas.openxmlformats.org/drawingml/2006/main">
            <a:r>
              <a:t/>
            </a:r>
          </a:p>
          <a:p xmlns:a="http://schemas.openxmlformats.org/drawingml/2006/main">
            <a:r>
              <a:t>EXPLAIN</a:t>
            </a:r>
          </a:p>
          <a:p xmlns:a="http://schemas.openxmlformats.org/drawingml/2006/main">
            <a:r>
              <a:t>READINGS is given in the notebook.</a:t>
            </a:r>
          </a:p>
          <a:p xmlns:a="http://schemas.openxmlformats.org/drawingml/2006/main">
            <a:r>
              <a:t/>
            </a:r>
          </a:p>
          <a:p xmlns:a="http://schemas.openxmlformats.org/drawingml/2006/main">
            <a:r>
              <a:t>Using your own percent_error against a nominal of 100, set worst_reading to the reading with the largest error by size, and worst_error to that reading's signed percent error.</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functions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functions submission</a:t>
            </a:r>
          </a:p>
          <a:p xmlns:a="http://schemas.openxmlformats.org/drawingml/2006/main">
            <a:r>
              <a:t/>
            </a:r>
          </a:p>
          <a:p xmlns:a="http://schemas.openxmlformats.org/drawingml/2006/main">
            <a:r>
              <a:t>CONNECT</a:t>
            </a:r>
          </a:p>
          <a:p xmlns:a="http://schemas.openxmlformats.org/drawingml/2006/main">
            <a:r>
              <a:t>Previous slide: q5: 5 marks.</a:t>
            </a:r>
          </a:p>
          <a:p xmlns:a="http://schemas.openxmlformats.org/drawingml/2006/main">
            <a:r>
              <a:t/>
            </a:r>
          </a:p>
          <a:p xmlns:a="http://schemas.openxmlformats.org/drawingml/2006/main">
            <a:r>
              <a:t>EXPLAIN</a:t>
            </a:r>
          </a:p>
          <a:p xmlns:a="http://schemas.openxmlformats.org/drawingml/2006/main">
            <a:r>
              <a:t>Opens: 25 Sep 2026, 11:00 Kampala</a:t>
            </a:r>
          </a:p>
          <a:p xmlns:a="http://schemas.openxmlformats.org/drawingml/2006/main">
            <a:r>
              <a:t/>
            </a:r>
          </a:p>
          <a:p xmlns:a="http://schemas.openxmlformats.org/drawingml/2006/main">
            <a:r>
              <a:t>Deadline: 02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3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3 quiz</a:t>
            </a:r>
          </a:p>
          <a:p xmlns:a="http://schemas.openxmlformats.org/drawingml/2006/main">
            <a:r>
              <a:t/>
            </a:r>
          </a:p>
          <a:p xmlns:a="http://schemas.openxmlformats.org/drawingml/2006/main">
            <a:r>
              <a:t>CONNECT</a:t>
            </a:r>
          </a:p>
          <a:p xmlns:a="http://schemas.openxmlformats.org/drawingml/2006/main">
            <a:r>
              <a:t>Previous slide: Engineering functions submission.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open_W3_CML3111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3 quiz.</a:t>
            </a:r>
          </a:p>
          <a:p xmlns:a="http://schemas.openxmlformats.org/drawingml/2006/main">
            <a:r>
              <a:t/>
            </a:r>
          </a:p>
          <a:p xmlns:a="http://schemas.openxmlformats.org/drawingml/2006/main">
            <a:r>
              <a:t>EXPLAIN</a:t>
            </a:r>
          </a:p>
          <a:p xmlns:a="http://schemas.openxmlformats.org/drawingml/2006/main">
            <a:r>
              <a:t>You can explain each input, the returned answer and its engineering unit.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Corey Schafer</a:t>
            </a:r>
          </a:p>
          <a:p xmlns:a="http://schemas.openxmlformats.org/drawingml/2006/main">
            <a:r>
              <a:t>Python Tutorial for Beginners 3: Integers and Floats</a:t>
            </a:r>
          </a:p>
          <a:p xmlns:a="http://schemas.openxmlformats.org/drawingml/2006/main">
            <a:r>
              <a:t/>
            </a:r>
          </a:p>
          <a:p xmlns:a="http://schemas.openxmlformats.org/drawingml/2006/main">
            <a:r>
              <a:t>Opening 00:00–04:00, suggested four-minute excerpt; preview before class</a:t>
            </a:r>
          </a:p>
          <a:p xmlns:a="http://schemas.openxmlformats.org/drawingml/2006/main">
            <a:r>
              <a:t/>
            </a:r>
          </a:p>
          <a:p xmlns:a="http://schemas.openxmlformats.org/drawingml/2006/main">
            <a:r>
              <a:t>Listening question: How are numbers written and how do arithmetic operators change them?</a:t>
            </a:r>
          </a:p>
          <a:p xmlns:a="http://schemas.openxmlformats.org/drawingml/2006/main">
            <a:r>
              <a:t/>
            </a:r>
          </a:p>
          <a:p xmlns:a="http://schemas.openxmlformats.org/drawingml/2006/main">
            <a:r>
              <a:t>LECTURER CUE</a:t>
            </a:r>
          </a:p>
          <a:p xmlns:a="http://schemas.openxmlformats.org/drawingml/2006/main">
            <a:r>
              <a:t>Title/channel and subject confirmed from the original YouTube listing. Exact excerpt content has not been fully watched; keep the local worked example as the fallback.</a:t>
            </a:r>
          </a:p>
          <a:p xmlns:a="http://schemas.openxmlformats.org/drawingml/2006/main">
            <a:r>
              <a:t>After viewing: Calculate 7 / 2 and 7 // 2 in Colab and explain the difference.</a:t>
            </a:r>
          </a:p>
          <a:p xmlns:a="http://schemas.openxmlformats.org/drawingml/2006/main">
            <a:r>
              <a:t>Preview before class and stop after the selected short excerpt. If playback fails, teach the worked example. Video is optional. Source: https://www.youtube.com/watch?v=khKv-8q7YmY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b2068dbb97f482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e0d38e1372a46c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4930cfd1c2f4b9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af93947816e4f7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2b49e3e6005470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2ed2d2e06334e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C55D724-B506-48E5-AC2A-A72DA7CA08A6}"/>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63769BD-D83F-4506-97BC-FE8B5BB373B2}"/>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FF380D2-18D7-4FEC-86DB-BB26C21FF7A0}"/>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416B89C9-0282-42E5-B83B-210B54CB092F}"/>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9AF633E3-5E02-4E3B-AB41-489151DFF4EA}"/>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BC65DED-2006-42FE-9613-9C5CA5780D33}"/>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2410A82-0C05-428E-8C94-8D3DB5A58FA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53C8BE1-33C1-4164-A391-0A3140905056}"/>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38EAE08-0DD6-4F52-B7E2-392F8228B44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CF7D64C-C1D9-410A-941C-D7DF45C8E43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D66548A-8D94-421A-BD08-8FDADA966BE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C5928EA-1FDE-4EEA-864A-09BBAC3DCC1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E04EAB5-5AAB-4994-BF7D-EBF0FA5AA01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724BD37-6186-456C-8834-B72B251CCE0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A535753-53B7-4BF4-9B28-BEA0B9ADC41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0d0d6f63a3346c8" /><Relationship Type="http://schemas.openxmlformats.org/officeDocument/2006/relationships/slideLayout" Target="/ppt/slideLayouts/slideLayout1.xml" Id="R7275f40539bd4384" /><Relationship Type="http://schemas.openxmlformats.org/officeDocument/2006/relationships/slideLayout" Target="/ppt/slideLayouts/slideLayout2.xml" Id="R483cc000b8bf4a2b" /><Relationship Type="http://schemas.openxmlformats.org/officeDocument/2006/relationships/slideLayout" Target="/ppt/slideLayouts/slideLayout3.xml" Id="Rfaeef69430ac4cf0" /><Relationship Type="http://schemas.openxmlformats.org/officeDocument/2006/relationships/slideLayout" Target="/ppt/slideLayouts/slideLayout4.xml" Id="Ra3fddc5844b54633" /><Relationship Type="http://schemas.openxmlformats.org/officeDocument/2006/relationships/slideLayout" Target="/ppt/slideLayouts/slideLayout5.xml" Id="R2377ed3be84e426b" /><Relationship Type="http://schemas.openxmlformats.org/officeDocument/2006/relationships/slideLayout" Target="/ppt/slideLayouts/slideLayout6.xml" Id="Rf380cabecb184a0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75f40539bd4384"/>
    <p:sldLayoutId xmlns:r="http://schemas.openxmlformats.org/officeDocument/2006/relationships" id="2147483650" r:id="R483cc000b8bf4a2b"/>
    <p:sldLayoutId xmlns:r="http://schemas.openxmlformats.org/officeDocument/2006/relationships" id="2147483651" r:id="Rfaeef69430ac4cf0"/>
    <p:sldLayoutId xmlns:r="http://schemas.openxmlformats.org/officeDocument/2006/relationships" id="2147483652" r:id="Ra3fddc5844b54633"/>
    <p:sldLayoutId xmlns:r="http://schemas.openxmlformats.org/officeDocument/2006/relationships" id="2147483653" r:id="R2377ed3be84e426b"/>
    <p:sldLayoutId xmlns:r="http://schemas.openxmlformats.org/officeDocument/2006/relationships" id="2147483654" r:id="Rf380cabecb184a0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f2fa45ebb6a456f" /><Relationship Type="http://schemas.openxmlformats.org/officeDocument/2006/relationships/image" Target="/ppt/media/image.png" Id="R290edf2aaeb54e8d" /><Relationship Type="http://schemas.openxmlformats.org/officeDocument/2006/relationships/notesSlide" Target="/ppt/notesSlides/notesSlide1.xml" Id="R098e9325b78f481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14455fa4ff145c6" /><Relationship Type="http://schemas.openxmlformats.org/officeDocument/2006/relationships/notesSlide" Target="/ppt/notesSlides/notesSlide2.xml" Id="Re3226c5c1e6845c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d56d9d9030a4540" /><Relationship Type="http://schemas.openxmlformats.org/officeDocument/2006/relationships/notesSlide" Target="/ppt/notesSlides/notesSlide3.xml" Id="R62872b97c17845b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a0c02e866a44b57" /><Relationship Type="http://schemas.openxmlformats.org/officeDocument/2006/relationships/notesSlide" Target="/ppt/notesSlides/notesSlide4.xml" Id="R9edabcb691b548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3d53b1586d34213" /><Relationship Type="http://schemas.openxmlformats.org/officeDocument/2006/relationships/notesSlide" Target="/ppt/notesSlides/notesSlide5.xml" Id="Raf2e4a92be6341f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045e9103feb497a" /><Relationship Type="http://schemas.openxmlformats.org/officeDocument/2006/relationships/notesSlide" Target="/ppt/notesSlides/notesSlide6.xml" Id="Rdf0ab30d5e4444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10f9d6a75bf4fa0" /><Relationship Type="http://schemas.openxmlformats.org/officeDocument/2006/relationships/image" Target="/ppt/media/image2.png" Id="R57180712ae8f473f" /><Relationship Type="http://schemas.openxmlformats.org/officeDocument/2006/relationships/notesSlide" Target="/ppt/notesSlides/notesSlide7.xml" Id="Rced12d9febaf414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2b4a769c1814da0" /><Relationship Type="http://schemas.openxmlformats.org/officeDocument/2006/relationships/notesSlide" Target="/ppt/notesSlides/notesSlide8.xml" Id="R5156c2d9db464c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53948c735224a90" /><Relationship Type="http://schemas.openxmlformats.org/officeDocument/2006/relationships/notesSlide" Target="/ppt/notesSlides/notesSlide9.xml" Id="Re6db204634cb4f6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f58b96c681f4301" /><Relationship Type="http://schemas.openxmlformats.org/officeDocument/2006/relationships/notesSlide" Target="/ppt/notesSlides/notesSlide10.xml" Id="R2520ee97b3a9495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cf0828c2a97485a" /><Relationship Type="http://schemas.openxmlformats.org/officeDocument/2006/relationships/notesSlide" Target="/ppt/notesSlides/notesSlide11.xml" Id="Ra7b245071cb84dc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8e81404e7ec47bf" /><Relationship Type="http://schemas.openxmlformats.org/officeDocument/2006/relationships/notesSlide" Target="/ppt/notesSlides/notesSlide12.xml" Id="R80aabc1d7d9447c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955a6ce13c4509" /><Relationship Type="http://schemas.openxmlformats.org/officeDocument/2006/relationships/notesSlide" Target="/ppt/notesSlides/notesSlide13.xml" Id="R85d00bfa64684ba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957e2be9d9a4f58" /><Relationship Type="http://schemas.openxmlformats.org/officeDocument/2006/relationships/notesSlide" Target="/ppt/notesSlides/notesSlide14.xml" Id="R14db36e25ba64f4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9b7aa34e87645f5" /><Relationship Type="http://schemas.openxmlformats.org/officeDocument/2006/relationships/notesSlide" Target="/ppt/notesSlides/notesSlide15.xml" Id="Rd1fc7ca78db54b2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bd34a53fcaa4b65" /><Relationship Type="http://schemas.openxmlformats.org/officeDocument/2006/relationships/notesSlide" Target="/ppt/notesSlides/notesSlide16.xml" Id="R4828927162ce4b0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9f195a91a124e18" /><Relationship Type="http://schemas.openxmlformats.org/officeDocument/2006/relationships/notesSlide" Target="/ppt/notesSlides/notesSlide17.xml" Id="Rf2094e32e2b54b4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f3e3f36d8fa4a9a" /><Relationship Type="http://schemas.openxmlformats.org/officeDocument/2006/relationships/notesSlide" Target="/ppt/notesSlides/notesSlide18.xml" Id="R267c30fcf39d47c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eeef7f52bc24db5" /><Relationship Type="http://schemas.openxmlformats.org/officeDocument/2006/relationships/notesSlide" Target="/ppt/notesSlides/notesSlide19.xml" Id="R152c15de4f6a405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97f85d3aa304ffa" /><Relationship Type="http://schemas.openxmlformats.org/officeDocument/2006/relationships/notesSlide" Target="/ppt/notesSlides/notesSlide20.xml" Id="R53e3349a91c44c5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9dfd6a56ab847d5" /><Relationship Type="http://schemas.openxmlformats.org/officeDocument/2006/relationships/notesSlide" Target="/ppt/notesSlides/notesSlide21.xml" Id="R31f53b83a8d642f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6f3bf5873e7428a" /><Relationship Type="http://schemas.openxmlformats.org/officeDocument/2006/relationships/notesSlide" Target="/ppt/notesSlides/notesSlide22.xml" Id="Rfda31843db4e4c0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8acb45a73134354" /><Relationship Type="http://schemas.openxmlformats.org/officeDocument/2006/relationships/notesSlide" Target="/ppt/notesSlides/notesSlide23.xml" Id="R2e321c2940764a9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0267ba008924bf7" /><Relationship Type="http://schemas.openxmlformats.org/officeDocument/2006/relationships/notesSlide" Target="/ppt/notesSlides/notesSlide24.xml" Id="Rd0ace0a250c148e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fad633a1f8c4678" /><Relationship Type="http://schemas.openxmlformats.org/officeDocument/2006/relationships/notesSlide" Target="/ppt/notesSlides/notesSlide25.xml" Id="R1a3b4db7c27d497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bf3daa3285f431d" /><Relationship Type="http://schemas.openxmlformats.org/officeDocument/2006/relationships/notesSlide" Target="/ppt/notesSlides/notesSlide26.xml" Id="R50eafcc9dcaf47d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7cad9f60c144d10" /><Relationship Type="http://schemas.openxmlformats.org/officeDocument/2006/relationships/notesSlide" Target="/ppt/notesSlides/notesSlide27.xml" Id="R1c86e8778ced4d7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13d21338ec84678" /><Relationship Type="http://schemas.openxmlformats.org/officeDocument/2006/relationships/notesSlide" Target="/ppt/notesSlides/notesSlide28.xml" Id="Rce90cc054e484e7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d8adb2649744f3a" /><Relationship Type="http://schemas.openxmlformats.org/officeDocument/2006/relationships/notesSlide" Target="/ppt/notesSlides/notesSlide29.xml" Id="Rf965d43b9761448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5bff1e14d274c8e" /><Relationship Type="http://schemas.openxmlformats.org/officeDocument/2006/relationships/notesSlide" Target="/ppt/notesSlides/notesSlide30.xml" Id="R99e42ae8a6f74b6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2261090aa904713" /><Relationship Type="http://schemas.openxmlformats.org/officeDocument/2006/relationships/notesSlide" Target="/ppt/notesSlides/notesSlide31.xml" Id="Rc651d9592eaa4b2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c77600e0cc049f5" /><Relationship Type="http://schemas.openxmlformats.org/officeDocument/2006/relationships/notesSlide" Target="/ppt/notesSlides/notesSlide32.xml" Id="R57d72513fbfc489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5f74bcf7a8245c9" /><Relationship Type="http://schemas.openxmlformats.org/officeDocument/2006/relationships/notesSlide" Target="/ppt/notesSlides/notesSlide33.xml" Id="Rc2424c38329c479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f798a34594e4a59" /><Relationship Type="http://schemas.openxmlformats.org/officeDocument/2006/relationships/notesSlide" Target="/ppt/notesSlides/notesSlide34.xml" Id="Rb96e9d5b2d364fb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0b1f8f325b6477a" /><Relationship Type="http://schemas.openxmlformats.org/officeDocument/2006/relationships/notesSlide" Target="/ppt/notesSlides/notesSlide35.xml" Id="R4512addb13b4440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b82785d10b21428a" /><Relationship Type="http://schemas.openxmlformats.org/officeDocument/2006/relationships/notesSlide" Target="/ppt/notesSlides/notesSlide36.xml" Id="Rdb1129fced3041e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9c20a4f060494d85" /><Relationship Type="http://schemas.openxmlformats.org/officeDocument/2006/relationships/notesSlide" Target="/ppt/notesSlides/notesSlide37.xml" Id="R494cf3dfc203422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a1c1fe01b77b4120" /><Relationship Type="http://schemas.openxmlformats.org/officeDocument/2006/relationships/notesSlide" Target="/ppt/notesSlides/notesSlide38.xml" Id="Rb14a5e4bae0941e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722e6268d5d74b58" /><Relationship Type="http://schemas.openxmlformats.org/officeDocument/2006/relationships/notesSlide" Target="/ppt/notesSlides/notesSlide39.xml" Id="R5ae1f0329159430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20eb3cd95da4677" /><Relationship Type="http://schemas.openxmlformats.org/officeDocument/2006/relationships/notesSlide" Target="/ppt/notesSlides/notesSlide40.xml" Id="Re0310358d631419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2e23272af2841a0" /><Relationship Type="http://schemas.openxmlformats.org/officeDocument/2006/relationships/notesSlide" Target="/ppt/notesSlides/notesSlide41.xml" Id="R350689519f13413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313e8fedfea4dbe" /><Relationship Type="http://schemas.openxmlformats.org/officeDocument/2006/relationships/notesSlide" Target="/ppt/notesSlides/notesSlide42.xml" Id="R68b539d98f6d41a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da53eb794a04d98" /><Relationship Type="http://schemas.openxmlformats.org/officeDocument/2006/relationships/notesSlide" Target="/ppt/notesSlides/notesSlide43.xml" Id="R7682a678fd62484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380b327131a14532" /><Relationship Type="http://schemas.openxmlformats.org/officeDocument/2006/relationships/notesSlide" Target="/ppt/notesSlides/notesSlide44.xml" Id="R187f9ec25124431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1132cdd1a3f4471" /><Relationship Type="http://schemas.openxmlformats.org/officeDocument/2006/relationships/notesSlide" Target="/ppt/notesSlides/notesSlide45.xml" Id="Rdfc01428ba3c44b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777f135ac63f4252" /><Relationship Type="http://schemas.openxmlformats.org/officeDocument/2006/relationships/notesSlide" Target="/ppt/notesSlides/notesSlide46.xml" Id="Rcba6389f2a2444a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01f112d55b5f4796" /><Relationship Type="http://schemas.openxmlformats.org/officeDocument/2006/relationships/notesSlide" Target="/ppt/notesSlides/notesSlide47.xml" Id="Rba4cfbd0eb25437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0ab9d8a2e7074931" /><Relationship Type="http://schemas.openxmlformats.org/officeDocument/2006/relationships/notesSlide" Target="/ppt/notesSlides/notesSlide48.xml" Id="R40bfc5a047084a5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d76dd949f8d4884" /><Relationship Type="http://schemas.openxmlformats.org/officeDocument/2006/relationships/notesSlide" Target="/ppt/notesSlides/notesSlide49.xml" Id="Rf5a31bc655724a5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156d3c892cd741dc" /><Relationship Type="http://schemas.openxmlformats.org/officeDocument/2006/relationships/notesSlide" Target="/ppt/notesSlides/notesSlide50.xml" Id="R3bcadd341b6642a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0bfcdfa55cc343eb" /><Relationship Type="http://schemas.openxmlformats.org/officeDocument/2006/relationships/notesSlide" Target="/ppt/notesSlides/notesSlide51.xml" Id="R04c2b5c1eb13461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6d7193d9cff4145" /><Relationship Type="http://schemas.openxmlformats.org/officeDocument/2006/relationships/image" Target="/ppt/media/image3.png" Id="R401e6d7548fc4704" /><Relationship Type="http://schemas.openxmlformats.org/officeDocument/2006/relationships/notesSlide" Target="/ppt/notesSlides/notesSlide52.xml" Id="Rdc16af6591284d2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e55b3848b4b4bd5" /><Relationship Type="http://schemas.openxmlformats.org/officeDocument/2006/relationships/notesSlide" Target="/ppt/notesSlides/notesSlide53.xml" Id="Rd4e77a3cd42849d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b83a6adda0b740e7" /><Relationship Type="http://schemas.openxmlformats.org/officeDocument/2006/relationships/notesSlide" Target="/ppt/notesSlides/notesSlide54.xml" Id="R257a902340a4482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9158be08db884942" /><Relationship Type="http://schemas.openxmlformats.org/officeDocument/2006/relationships/notesSlide" Target="/ppt/notesSlides/notesSlide55.xml" Id="Rd3e1c732497148f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e065f59c96f442cf" /><Relationship Type="http://schemas.openxmlformats.org/officeDocument/2006/relationships/notesSlide" Target="/ppt/notesSlides/notesSlide56.xml" Id="R7b86e1f714dd4be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a9b17d8735974593" /><Relationship Type="http://schemas.openxmlformats.org/officeDocument/2006/relationships/notesSlide" Target="/ppt/notesSlides/notesSlide57.xml" Id="R412d7a00285a491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c90c664590d64d38" /><Relationship Type="http://schemas.openxmlformats.org/officeDocument/2006/relationships/notesSlide" Target="/ppt/notesSlides/notesSlide58.xml" Id="R4b17d3fde573418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c6b6dd384aa846d4" /><Relationship Type="http://schemas.openxmlformats.org/officeDocument/2006/relationships/notesSlide" Target="/ppt/notesSlides/notesSlide59.xml" Id="Rad2cf6b06acf436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059af5a4a6b4de5" /><Relationship Type="http://schemas.openxmlformats.org/officeDocument/2006/relationships/notesSlide" Target="/ppt/notesSlides/notesSlide60.xml" Id="R287fc6b569f642c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96f8e74326e04474" /><Relationship Type="http://schemas.openxmlformats.org/officeDocument/2006/relationships/notesSlide" Target="/ppt/notesSlides/notesSlide61.xml" Id="R347c9fe82ec3490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e506adb935184e11" /><Relationship Type="http://schemas.openxmlformats.org/officeDocument/2006/relationships/notesSlide" Target="/ppt/notesSlides/notesSlide62.xml" Id="R723be057bec0408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c089deb039094a8a" /><Relationship Type="http://schemas.openxmlformats.org/officeDocument/2006/relationships/notesSlide" Target="/ppt/notesSlides/notesSlide63.xml" Id="R383f66211cd744b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10b568a719c545d0" /><Relationship Type="http://schemas.openxmlformats.org/officeDocument/2006/relationships/notesSlide" Target="/ppt/notesSlides/notesSlide64.xml" Id="R7a61ce72776e481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2128d1cc717b48c9" /><Relationship Type="http://schemas.openxmlformats.org/officeDocument/2006/relationships/notesSlide" Target="/ppt/notesSlides/notesSlide65.xml" Id="Rc8109f0270894c25"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bb2e4603922040b6" /><Relationship Type="http://schemas.openxmlformats.org/officeDocument/2006/relationships/notesSlide" Target="/ppt/notesSlides/notesSlide66.xml" Id="Rae0ed7d99bb44f8d"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dc7826b0aaa946c6" /><Relationship Type="http://schemas.openxmlformats.org/officeDocument/2006/relationships/notesSlide" Target="/ppt/notesSlides/notesSlide67.xml" Id="Rb123cfcf376f4573"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1b513d5898454b92" /><Relationship Type="http://schemas.openxmlformats.org/officeDocument/2006/relationships/notesSlide" Target="/ppt/notesSlides/notesSlide68.xml" Id="Rcacc29508afc4b2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4f114aafae23404e" /><Relationship Type="http://schemas.openxmlformats.org/officeDocument/2006/relationships/notesSlide" Target="/ppt/notesSlides/notesSlide69.xml" Id="R03dd4766ad6f49c9"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bd08cee14acd4b5d" /><Relationship Type="http://schemas.openxmlformats.org/officeDocument/2006/relationships/notesSlide" Target="/ppt/notesSlides/notesSlide70.xml" Id="Rd195cb4ab77b48e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bae49f8070ec4542" /><Relationship Type="http://schemas.openxmlformats.org/officeDocument/2006/relationships/notesSlide" Target="/ppt/notesSlides/notesSlide71.xml" Id="R4ec487368b7d4c3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c97b187fbb114879" /><Relationship Type="http://schemas.openxmlformats.org/officeDocument/2006/relationships/notesSlide" Target="/ppt/notesSlides/notesSlide72.xml" Id="Rc2006bc77b05447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5ca60b22b6654f70" /><Relationship Type="http://schemas.openxmlformats.org/officeDocument/2006/relationships/notesSlide" Target="/ppt/notesSlides/notesSlide73.xml" Id="R15e51feae1384372"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29e63a2992394cf0" /><Relationship Type="http://schemas.openxmlformats.org/officeDocument/2006/relationships/notesSlide" Target="/ppt/notesSlides/notesSlide74.xml" Id="Rc966ac9efb114c48"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7503d7ec85744e66" /><Relationship Type="http://schemas.openxmlformats.org/officeDocument/2006/relationships/notesSlide" Target="/ppt/notesSlides/notesSlide75.xml" Id="R16dfa3f28cb1452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ed4f5739a00e457d" /><Relationship Type="http://schemas.openxmlformats.org/officeDocument/2006/relationships/notesSlide" Target="/ppt/notesSlides/notesSlide76.xml" Id="R1e7b1fdfebf64f4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1f283afe104a4dc5" /><Relationship Type="http://schemas.openxmlformats.org/officeDocument/2006/relationships/notesSlide" Target="/ppt/notesSlides/notesSlide77.xml" Id="Rcb665fa83fdd47f2"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92b0e4dfaaf64de2" /><Relationship Type="http://schemas.openxmlformats.org/officeDocument/2006/relationships/notesSlide" Target="/ppt/notesSlides/notesSlide78.xml" Id="R00ae97b3200d406a"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f8fd7b7ae60849e3" /><Relationship Type="http://schemas.openxmlformats.org/officeDocument/2006/relationships/notesSlide" Target="/ppt/notesSlides/notesSlide79.xml" Id="Re1c93e2b8586454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0d28566b5c7b4ad2" /><Relationship Type="http://schemas.openxmlformats.org/officeDocument/2006/relationships/notesSlide" Target="/ppt/notesSlides/notesSlide80.xml" Id="Rb5eb84842bc34818"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8ac6ea9ef70747ef" /><Relationship Type="http://schemas.openxmlformats.org/officeDocument/2006/relationships/notesSlide" Target="/ppt/notesSlides/notesSlide81.xml" Id="Rcd5718f4a34d4e66"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dc2f485b5de548b9" /><Relationship Type="http://schemas.openxmlformats.org/officeDocument/2006/relationships/notesSlide" Target="/ppt/notesSlides/notesSlide82.xml" Id="R5163fbe077ce437c"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bcdab71cfeee4ff6" /><Relationship Type="http://schemas.openxmlformats.org/officeDocument/2006/relationships/notesSlide" Target="/ppt/notesSlides/notesSlide83.xml" Id="R8dfb145fd5e4486f"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f2ff899274ec4870" /><Relationship Type="http://schemas.openxmlformats.org/officeDocument/2006/relationships/notesSlide" Target="/ppt/notesSlides/notesSlide84.xml" Id="R79e0d8da885145f7"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fc5782a08eea42e2" /><Relationship Type="http://schemas.openxmlformats.org/officeDocument/2006/relationships/notesSlide" Target="/ppt/notesSlides/notesSlide85.xml" Id="R3eee0921a7e243da"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c50b26f9c31e4369" /><Relationship Type="http://schemas.openxmlformats.org/officeDocument/2006/relationships/hyperlink" Target="https://docs.google.com/forms/d/e/1FAIpQLSfKemYzDIRelE0iDCo_KsJvzw0jyw--Fy8lyJHvm-XpNoEQkQ/viewform" TargetMode="External" Id="R4e6b758cd1e6414f" /><Relationship Type="http://schemas.openxmlformats.org/officeDocument/2006/relationships/notesSlide" Target="/ppt/notesSlides/notesSlide86.xml" Id="R5d031462c6814b58"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cde168cef8584390" /><Relationship Type="http://schemas.openxmlformats.org/officeDocument/2006/relationships/image" Target="/ppt/media/image4.png" Id="R1e5839f61ec145c4" /><Relationship Type="http://schemas.openxmlformats.org/officeDocument/2006/relationships/hyperlink" Target="https://forms.gle/vyTpTEpJUaAbAFbM9" TargetMode="External" Id="Readf25f612a749ee" /><Relationship Type="http://schemas.openxmlformats.org/officeDocument/2006/relationships/notesSlide" Target="/ppt/notesSlides/notesSlide87.xml" Id="R1046162220f1423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555765993d1b4c3f" /><Relationship Type="http://schemas.openxmlformats.org/officeDocument/2006/relationships/notesSlide" Target="/ppt/notesSlides/notesSlide88.xml" Id="Rf70461a7bde44157"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fcde1ffb12e24877" /><Relationship Type="http://schemas.openxmlformats.org/officeDocument/2006/relationships/hyperlink" Target="https://www.youtube.com/watch?v=khKv-8q7YmY" TargetMode="External" Id="R0555db22fe624aa1" /><Relationship Type="http://schemas.openxmlformats.org/officeDocument/2006/relationships/notesSlide" Target="/ppt/notesSlides/notesSlide89.xml" Id="R95ff31f20eef446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90edf2aaeb54e8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16CA7BB-23A7-4E9F-88FD-CEA4C883DD3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069B7C6-6FDE-4810-A8E4-F38CE10B413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3</a:t>
            </a:r>
          </a:p>
        </p:txBody>
      </p:sp>
      <p:sp>
        <p:nvSpPr>
          <p:cNvPr id="4" name="">
            <a:extLst xmlns:a="http://schemas.openxmlformats.org/drawingml/2006/main">
              <a:ext uri="{FF2B5EF4-FFF2-40B4-BE49-F238E27FC236}">
                <a16:creationId xmlns:a16="http://schemas.microsoft.com/office/drawing/2014/main" id="{D322F0A9-468B-4F1C-B7D7-B2E16E1427F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09A6D877-67BC-4EE7-BD7E-B4C4CB4BF79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11F09A39-EEE2-40F7-89AF-A885FC11822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25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40326455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777C4C1-50F9-486C-93C8-218C50E4C0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B256A7-FCCF-42ED-9A09-657AEC911F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653F5542-8F53-46D0-871D-988AB38122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34769FD-26BA-4FA1-9EE5-8C287674B631}"/>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9298B4-F4A6-461F-BCD4-03EB74E0741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DDC60B6-0F3C-4A38-9E35-3AC27504044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DFCEF064-6560-454C-A62F-2107C94B2D1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55F8C55-9197-49DD-A067-94A6D02259B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F24AB928-6068-48E5-B63A-33824AB306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a:t>
            </a:r>
          </a:p>
        </p:txBody>
      </p:sp>
    </p:spTree>
    <p:extLst>
      <p:ext uri="{BB962C8B-B14F-4D97-AF65-F5344CB8AC3E}">
        <p14:creationId xmlns:p14="http://schemas.microsoft.com/office/powerpoint/2010/main" val="196559215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D66A17E-1200-40FD-B292-9D528D8918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A8D6E7-2B31-4A31-A42D-937733DA54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6C537F-B0DA-49E3-8D04-F7F7F7169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to read the examples</a:t>
            </a:r>
          </a:p>
        </p:txBody>
      </p:sp>
      <p:sp>
        <p:nvSpPr>
          <p:cNvPr id="4" name="">
            <a:extLst xmlns:a="http://schemas.openxmlformats.org/drawingml/2006/main">
              <a:ext uri="{FF2B5EF4-FFF2-40B4-BE49-F238E27FC236}">
                <a16:creationId xmlns:a16="http://schemas.microsoft.com/office/drawing/2014/main" id="{C8E3EEFE-6BD0-40A4-8329-D27469443E7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16DEA0-8FD9-47AD-8936-89E0137A28A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8431F75-741B-45DA-9F13-C3F51B72E57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Each example separates the instructions you type from the output Python displays.</a:t>
            </a:r>
          </a:p>
        </p:txBody>
      </p:sp>
      <p:sp>
        <p:nvSpPr>
          <p:cNvPr id="7" name="">
            <a:extLst xmlns:a="http://schemas.openxmlformats.org/drawingml/2006/main">
              <a:ext uri="{FF2B5EF4-FFF2-40B4-BE49-F238E27FC236}">
                <a16:creationId xmlns:a16="http://schemas.microsoft.com/office/drawing/2014/main" id="{D79A5A5E-ECC9-487E-B255-90A0E82909F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lecturer explains the symbols first, then runs the example and traces its result. Keep the displayed output for revision.</a:t>
            </a:r>
          </a:p>
        </p:txBody>
      </p:sp>
      <p:sp>
        <p:nvSpPr>
          <p:cNvPr id="8" name="">
            <a:extLst xmlns:a="http://schemas.openxmlformats.org/drawingml/2006/main">
              <a:ext uri="{FF2B5EF4-FFF2-40B4-BE49-F238E27FC236}">
                <a16:creationId xmlns:a16="http://schemas.microsoft.com/office/drawing/2014/main" id="{4C36BD49-AF23-418C-AF62-28EC881C8D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a:t>
            </a:r>
          </a:p>
        </p:txBody>
      </p:sp>
    </p:spTree>
    <p:extLst>
      <p:ext uri="{BB962C8B-B14F-4D97-AF65-F5344CB8AC3E}">
        <p14:creationId xmlns:p14="http://schemas.microsoft.com/office/powerpoint/2010/main" val="73589634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9E3910-49AD-4700-823B-24CE9547F1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7D4D97-88BD-4EE6-ADA7-2E6210EF6D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6B31880F-8C52-4FD0-BAF3-6505D05BD8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CBA3DCE9-7C39-4E1F-A9BC-F468DEADDE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9E6284-1CA7-4637-8CCD-5BEC770E0F4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9F472071-703E-4160-80DA-949993813E1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140D370-1997-4683-BC7B-4144EBC27FE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42AEC012-F518-4B65-9B0B-F155D8D332A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3E84A54-D20F-445B-AC87-F54FEAC4399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0BBC0B4E-4051-4037-AC40-0C5073C1B7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a:t>
            </a:r>
          </a:p>
        </p:txBody>
      </p:sp>
    </p:spTree>
    <p:extLst>
      <p:ext uri="{BB962C8B-B14F-4D97-AF65-F5344CB8AC3E}">
        <p14:creationId xmlns:p14="http://schemas.microsoft.com/office/powerpoint/2010/main" val="4063941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8DCABD-4A69-4E50-96A7-5EC93214A2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687B3C-9EDC-425D-ABEC-2E5DBCC002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91A654C-94F6-4A9B-8499-9AFCF25A48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6C34A003-0FD9-45FE-9073-8878F28A14B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96CD20-5FEF-40AB-9C1D-9F59C6B3B8A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F5A1405B-A271-4CDE-876C-1E5C65F4D8E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8E9A0988-18C8-427F-9A3F-A8F63A34660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A5EEDEA-C8FF-49AC-92B6-53ED6D03832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9F3C1489-7FE1-4C7A-9BB7-E14E205720B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DE45CDA8-A2D3-4774-B3C9-0D9A9BCDA8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a:t>
            </a:r>
          </a:p>
        </p:txBody>
      </p:sp>
    </p:spTree>
    <p:extLst>
      <p:ext uri="{BB962C8B-B14F-4D97-AF65-F5344CB8AC3E}">
        <p14:creationId xmlns:p14="http://schemas.microsoft.com/office/powerpoint/2010/main" val="47188593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429385-5E6D-4681-B43D-8B51235F8E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B5DBBF-1568-483E-A538-44870A9381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9F73DC9-FDB9-4676-B4D2-601A24EAC9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17C8BBDA-B773-41CA-9F3E-84AD7D1A6C2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7458B5-C154-4AFF-8AC8-C605EEB7B8F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9648A2EB-4052-43B4-AC01-78210E89169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7027BCAE-BDBC-420D-B91C-39768EFB62B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1EC2B69-BCE9-4724-98A7-8127905C182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B01961DB-0F55-4D3E-ADE7-E48B92EA9C1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4A6765FB-01AE-44B2-ABCC-E33794B998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a:t>
            </a:r>
          </a:p>
        </p:txBody>
      </p:sp>
    </p:spTree>
    <p:extLst>
      <p:ext uri="{BB962C8B-B14F-4D97-AF65-F5344CB8AC3E}">
        <p14:creationId xmlns:p14="http://schemas.microsoft.com/office/powerpoint/2010/main" val="121088836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102627-8F30-4498-9467-D5125460706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D2C4AC-AED1-4961-80C6-61F1ED6BD4E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7180712ae8f473f"/>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BD5E1AB-5ABE-4CA3-A5AF-9619415F397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1044DE-D196-488E-9BFF-468A2BF9CBA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F54A28EF-BD24-45F9-A06B-A200195C2D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a:t>
            </a:r>
          </a:p>
        </p:txBody>
      </p:sp>
    </p:spTree>
    <p:extLst>
      <p:ext uri="{BB962C8B-B14F-4D97-AF65-F5344CB8AC3E}">
        <p14:creationId xmlns:p14="http://schemas.microsoft.com/office/powerpoint/2010/main" val="165348772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19967AD-A436-466A-85A8-CAABCE3F55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758417-B213-4AD4-87DC-7539969398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3D20FB9-7B80-4E13-BB3F-53A01A2B85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8E6FACA0-1773-426B-9A80-8DFFD32F6FE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339EF1AE-A9ED-4C26-B348-906CABD1CA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a:t>
            </a:r>
          </a:p>
        </p:txBody>
      </p:sp>
    </p:spTree>
    <p:extLst>
      <p:ext uri="{BB962C8B-B14F-4D97-AF65-F5344CB8AC3E}">
        <p14:creationId xmlns:p14="http://schemas.microsoft.com/office/powerpoint/2010/main" val="50266891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0925D9-1EE7-4EA1-8A5E-C281241CC8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788476-59EE-4846-9A55-85C71F3652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7294E1C-6A2A-4022-A747-14958ECBB5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85E54D0E-E2AA-48ED-AE41-C1504748941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6AB5A8-9E25-4D0A-ADBF-7FA91A72CCD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3EFFC3CD-7868-499B-A37E-D2BD17560D2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1D48A9E8-0733-40FB-8853-836323FEB0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9</a:t>
            </a:r>
          </a:p>
        </p:txBody>
      </p:sp>
    </p:spTree>
    <p:extLst>
      <p:ext uri="{BB962C8B-B14F-4D97-AF65-F5344CB8AC3E}">
        <p14:creationId xmlns:p14="http://schemas.microsoft.com/office/powerpoint/2010/main" val="191777103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273CB1-E232-4EEE-98CC-FFF8052F01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C1958B-7B6E-46A7-85AB-DA232F338B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5D6E243-AE5D-4866-AC4B-A4E78F2B8E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D7C9A3F1-0450-4679-B9A9-59FF4A37BAC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7C609C-B841-4421-8E5B-60ED8C1DC57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93CDA328-D92A-4668-A69B-1A4FF9FA680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6B051593-C2E4-4EC1-8413-D0EE28F9196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268FEB8-410A-4F8A-AA0D-499EFDFD01F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5192BD10-0B6C-4619-8818-FC7C926C936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003D3EA2-92B3-47E2-B3EB-42FD13F12C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10</a:t>
            </a:r>
          </a:p>
        </p:txBody>
      </p:sp>
    </p:spTree>
    <p:extLst>
      <p:ext uri="{BB962C8B-B14F-4D97-AF65-F5344CB8AC3E}">
        <p14:creationId xmlns:p14="http://schemas.microsoft.com/office/powerpoint/2010/main" val="113645295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04FDD4-A2CC-4D35-BC5C-F9374AFB55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037A66-4BB4-49B2-A5C6-77085B4974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594B93-5ABA-4231-B0F3-D1CC6699DF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006C2142-17C2-436B-BF56-E52BDECCF1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A35CA34-0FBA-4275-AB0E-247D1774FEE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4E34568F-79A5-47D0-AEFF-160A42BEEC5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E86751-BD62-4C75-B799-FE7F715257E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FDD16FC8-CAEE-4BEE-9DB9-5491D3636A7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9289FF-E35A-407F-B168-99B30F27E22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D9DC0D5B-CD25-4D65-A12B-9B7AF4F06F7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6E37254-76C8-49E5-9A14-665C182B7E7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B1EFC02F-C785-4049-8008-D41507D7F4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11</a:t>
            </a:r>
          </a:p>
        </p:txBody>
      </p:sp>
    </p:spTree>
    <p:extLst>
      <p:ext uri="{BB962C8B-B14F-4D97-AF65-F5344CB8AC3E}">
        <p14:creationId xmlns:p14="http://schemas.microsoft.com/office/powerpoint/2010/main" val="170587024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36CA4EC-63AA-43B4-868D-0EF841D370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55EF9D-7252-4790-92BA-0A3EEE2B10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B8E574E-D7B6-404E-8F76-C967EF53C6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2A61C681-7738-4961-A663-41F8CAA12D3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176AE4-A635-4FFC-B71C-E46F400979D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38508F1E-D376-41A6-BF10-F829783E7B0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DADC64E-B4DD-471B-BF81-1BEF8583600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FB4D2D55-41D9-4DA6-B181-C29602504F3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DCF5BA72-19AA-4D39-A49E-50AAA72798C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9A696823-7F73-4CF5-AC9F-004F98B4393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D5BEFFAA-BA90-4FDA-A48C-7942E77684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12</a:t>
            </a:r>
          </a:p>
        </p:txBody>
      </p:sp>
    </p:spTree>
    <p:extLst>
      <p:ext uri="{BB962C8B-B14F-4D97-AF65-F5344CB8AC3E}">
        <p14:creationId xmlns:p14="http://schemas.microsoft.com/office/powerpoint/2010/main" val="93055773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524DD3-772D-4F7C-9F33-6DAD4DC307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6A42F8-3EE3-494B-9FE0-074123E2DD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CE697A5-8EE5-4C8D-A181-6E9FB856FA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F53FB3CB-8931-4C28-8D53-C69FB3084FF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D50413-2AEC-4513-BD56-DF22C9F2C94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2B2BB53-4B91-497E-9704-D59EEAAD11D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D12AD3A6-7CBD-4007-8D01-1F2B78BB694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DABA8D71-5BD2-4E8E-8ED8-A3C3FBEAD4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13</a:t>
            </a:r>
          </a:p>
        </p:txBody>
      </p:sp>
    </p:spTree>
    <p:extLst>
      <p:ext uri="{BB962C8B-B14F-4D97-AF65-F5344CB8AC3E}">
        <p14:creationId xmlns:p14="http://schemas.microsoft.com/office/powerpoint/2010/main" val="17510163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1AA1BF-6A42-47C3-BD68-CE4C5A3524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A32DE2-2379-47F5-B3CB-DDC34B5D14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2B63B9-B59B-4030-8C6D-103F99A50A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Python expression</a:t>
            </a:r>
          </a:p>
        </p:txBody>
      </p:sp>
      <p:sp>
        <p:nvSpPr>
          <p:cNvPr id="4" name="">
            <a:extLst xmlns:a="http://schemas.openxmlformats.org/drawingml/2006/main">
              <a:ext uri="{FF2B5EF4-FFF2-40B4-BE49-F238E27FC236}">
                <a16:creationId xmlns:a16="http://schemas.microsoft.com/office/drawing/2014/main" id="{A0798E6B-40C7-484C-A24D-97CD42DEE6C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2A9C49-F9B8-4965-8748-FD92C1A8F7F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expression is code that produces a value. In 7 + 2, the inputs are 7 and 2; the operator + tells Python to add them.</a:t>
            </a:r>
          </a:p>
        </p:txBody>
      </p:sp>
      <p:sp>
        <p:nvSpPr>
          <p:cNvPr id="6" name="">
            <a:extLst xmlns:a="http://schemas.openxmlformats.org/drawingml/2006/main">
              <a:ext uri="{FF2B5EF4-FFF2-40B4-BE49-F238E27FC236}">
                <a16:creationId xmlns:a16="http://schemas.microsoft.com/office/drawing/2014/main" id="{65906038-A434-4DC1-B0C6-2BCDBAEEC9A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A2B008-34C2-4E37-9240-5D11672D9C5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statement is an instruction. total = 7 + 2 calculates 9, then gives it the name total. print(total) displays the stored value.</a:t>
            </a:r>
          </a:p>
        </p:txBody>
      </p:sp>
      <p:sp>
        <p:nvSpPr>
          <p:cNvPr id="8" name="">
            <a:extLst xmlns:a="http://schemas.openxmlformats.org/drawingml/2006/main">
              <a:ext uri="{FF2B5EF4-FFF2-40B4-BE49-F238E27FC236}">
                <a16:creationId xmlns:a16="http://schemas.microsoft.com/office/drawing/2014/main" id="{38C2237A-4FFE-499F-896A-2BA4C6F7758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FAE7C55-9901-44A8-9684-0181EA61F99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symbol before running. Code is what you type; output is what Python displays. Do not type the word “Output”.</a:t>
            </a:r>
          </a:p>
        </p:txBody>
      </p:sp>
      <p:sp>
        <p:nvSpPr>
          <p:cNvPr id="10" name="">
            <a:extLst xmlns:a="http://schemas.openxmlformats.org/drawingml/2006/main">
              <a:ext uri="{FF2B5EF4-FFF2-40B4-BE49-F238E27FC236}">
                <a16:creationId xmlns:a16="http://schemas.microsoft.com/office/drawing/2014/main" id="{50D09534-C0BA-4006-BF90-246D8AEE1F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14</a:t>
            </a:r>
          </a:p>
        </p:txBody>
      </p:sp>
    </p:spTree>
    <p:extLst>
      <p:ext uri="{BB962C8B-B14F-4D97-AF65-F5344CB8AC3E}">
        <p14:creationId xmlns:p14="http://schemas.microsoft.com/office/powerpoint/2010/main" val="10998725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5F82FB5-61D7-4C8C-AE8D-E816AAECB2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22B029-17F5-44E1-B9A6-F8066F6A0F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ED57A77-82DF-46F5-96C7-161779F462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Addition subtraction multiplication and division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9</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Subtract</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5</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Multiply</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14</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Divide</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69D63CA-97D0-4D71-A39B-37F0716D009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uses * for multiplication, not ×. / can produce a fractional result.</a:t>
            </a:r>
          </a:p>
        </p:txBody>
      </p:sp>
      <p:sp>
        <p:nvSpPr>
          <p:cNvPr id="6" name="">
            <a:extLst xmlns:a="http://schemas.openxmlformats.org/drawingml/2006/main">
              <a:ext uri="{FF2B5EF4-FFF2-40B4-BE49-F238E27FC236}">
                <a16:creationId xmlns:a16="http://schemas.microsoft.com/office/drawing/2014/main" id="{9BDDAAC6-F2D6-4BBA-A5C9-C44693C9B5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15</a:t>
            </a:r>
          </a:p>
        </p:txBody>
      </p:sp>
    </p:spTree>
    <p:extLst>
      <p:ext uri="{BB962C8B-B14F-4D97-AF65-F5344CB8AC3E}">
        <p14:creationId xmlns:p14="http://schemas.microsoft.com/office/powerpoint/2010/main" val="170172879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29540D-3FFA-4B9F-8AFC-2F505A0884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6DFA8C-3B47-4F48-AC67-9F69C4A0C3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89FC6DE-BC0F-491F-A86B-4D0B059C32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the four arithmetic operations</a:t>
            </a:r>
          </a:p>
        </p:txBody>
      </p:sp>
      <p:sp>
        <p:nvSpPr>
          <p:cNvPr id="4" name="">
            <a:extLst xmlns:a="http://schemas.openxmlformats.org/drawingml/2006/main">
              <a:ext uri="{FF2B5EF4-FFF2-40B4-BE49-F238E27FC236}">
                <a16:creationId xmlns:a16="http://schemas.microsoft.com/office/drawing/2014/main" id="{72ABE22E-4364-4A71-B685-42B797E840A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F24776-F4F2-4981-B550-5C6D9102473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p:txBody>
      </p:sp>
      <p:sp>
        <p:nvSpPr>
          <p:cNvPr id="6" name="">
            <a:extLst xmlns:a="http://schemas.openxmlformats.org/drawingml/2006/main">
              <a:ext uri="{FF2B5EF4-FFF2-40B4-BE49-F238E27FC236}">
                <a16:creationId xmlns:a16="http://schemas.microsoft.com/office/drawing/2014/main" id="{121BF09E-D939-4B54-A2C0-8928A9ABC21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389FD87-3820-4DD7-8E38-05F8A601169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print call displays one calculated result.</a:t>
            </a:r>
          </a:p>
        </p:txBody>
      </p:sp>
      <p:sp>
        <p:nvSpPr>
          <p:cNvPr id="8" name="">
            <a:extLst xmlns:a="http://schemas.openxmlformats.org/drawingml/2006/main">
              <a:ext uri="{FF2B5EF4-FFF2-40B4-BE49-F238E27FC236}">
                <a16:creationId xmlns:a16="http://schemas.microsoft.com/office/drawing/2014/main" id="{7724D843-0B8F-4879-916D-B7710306A19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numbers have no units until we assign a meaning to them.</a:t>
            </a:r>
          </a:p>
        </p:txBody>
      </p:sp>
      <p:sp>
        <p:nvSpPr>
          <p:cNvPr id="9" name="">
            <a:extLst xmlns:a="http://schemas.openxmlformats.org/drawingml/2006/main">
              <a:ext uri="{FF2B5EF4-FFF2-40B4-BE49-F238E27FC236}">
                <a16:creationId xmlns:a16="http://schemas.microsoft.com/office/drawing/2014/main" id="{FA4AFCFC-9BC1-4DB7-A2AF-282C06F6E5A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5; 14; 3.5</a:t>
            </a:r>
          </a:p>
        </p:txBody>
      </p:sp>
      <p:sp>
        <p:nvSpPr>
          <p:cNvPr id="10" name="">
            <a:extLst xmlns:a="http://schemas.openxmlformats.org/drawingml/2006/main">
              <a:ext uri="{FF2B5EF4-FFF2-40B4-BE49-F238E27FC236}">
                <a16:creationId xmlns:a16="http://schemas.microsoft.com/office/drawing/2014/main" id="{AA95E0D8-ECA8-4763-AB3D-3EFF37BEA7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16</a:t>
            </a:r>
          </a:p>
        </p:txBody>
      </p:sp>
    </p:spTree>
    <p:extLst>
      <p:ext uri="{BB962C8B-B14F-4D97-AF65-F5344CB8AC3E}">
        <p14:creationId xmlns:p14="http://schemas.microsoft.com/office/powerpoint/2010/main" val="57432333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05DE7C1-489A-4AA2-B993-EA582DCC99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CF53E0-8546-40A4-8C43-8AD458D9FD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DF3DAE1-40A3-46B1-9866-78131DC589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Floor division remainder and powers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Floor the quotient</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3</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Remainder</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Raise to a power</a:t>
                      </a:r>
                    </a:p>
                  </a:txBody>
                  <a:tcPr marL="91440" marR="91440" marT="45720" marB="45720">
                    <a:solidFill>
                      <a:srgbClr val="EEF3F6"/>
                    </a:solidFill>
                  </a:tcPr>
                </a:tc>
                <a:tc>
                  <a:txBody>
                    <a:bodyPr/>
                    <a:lstStyle/>
                    <a:p>
                      <a:r>
                        <a:rPr sz="2025" b="0">
                          <a:solidFill>
                            <a:srgbClr val="1C3144"/>
                          </a:solidFill>
                          <a:latin typeface="Calibri"/>
                          <a:ea typeface="Calibri"/>
                          <a:cs typeface="Calibri"/>
                        </a:rPr>
                        <a:t>2 ** 3 gives 8</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0B91E82C-24A9-45FA-8364-7C25EACF738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7 contains three groups of 2 with 1 left over: 7 = 3 × 2 + 1.</a:t>
            </a:r>
          </a:p>
        </p:txBody>
      </p:sp>
      <p:sp>
        <p:nvSpPr>
          <p:cNvPr id="6" name="">
            <a:extLst xmlns:a="http://schemas.openxmlformats.org/drawingml/2006/main">
              <a:ext uri="{FF2B5EF4-FFF2-40B4-BE49-F238E27FC236}">
                <a16:creationId xmlns:a16="http://schemas.microsoft.com/office/drawing/2014/main" id="{3DBA752F-3D3F-413B-BBFA-27D476653C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17</a:t>
            </a:r>
          </a:p>
        </p:txBody>
      </p:sp>
    </p:spTree>
    <p:extLst>
      <p:ext uri="{BB962C8B-B14F-4D97-AF65-F5344CB8AC3E}">
        <p14:creationId xmlns:p14="http://schemas.microsoft.com/office/powerpoint/2010/main" val="38692214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4BFA57-E9FC-4631-A63B-97532E9461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75A550-42C3-4521-9514-FCC45097A9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17690A6-9BA1-4A1B-8159-1CEB5192D4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powers signs and remainders</a:t>
            </a:r>
          </a:p>
        </p:txBody>
      </p:sp>
      <p:sp>
        <p:nvSpPr>
          <p:cNvPr id="4" name="">
            <a:extLst xmlns:a="http://schemas.openxmlformats.org/drawingml/2006/main">
              <a:ext uri="{FF2B5EF4-FFF2-40B4-BE49-F238E27FC236}">
                <a16:creationId xmlns:a16="http://schemas.microsoft.com/office/drawing/2014/main" id="{3ADA2E00-0E5A-48E7-986B-325C5A17BD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DB3CDC-3D45-46F3-BBB0-E40F3F08435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3 means 2 × 2 × 2. It does not mean 2 × 3. The left value is the base; the right value is the exponent.</a:t>
            </a:r>
          </a:p>
        </p:txBody>
      </p:sp>
      <p:sp>
        <p:nvSpPr>
          <p:cNvPr id="6" name="">
            <a:extLst xmlns:a="http://schemas.openxmlformats.org/drawingml/2006/main">
              <a:ext uri="{FF2B5EF4-FFF2-40B4-BE49-F238E27FC236}">
                <a16:creationId xmlns:a16="http://schemas.microsoft.com/office/drawing/2014/main" id="{3F977B02-B162-4F98-8786-805A4CCD68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E944FD5-7A07-4BDD-9AA8-D0BC0298B69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leading minus makes a number negative: -7. Floor division rounds the quotient down: -7 / 2 is -3.5, so -7 // 2 is -4.</a:t>
            </a:r>
          </a:p>
        </p:txBody>
      </p:sp>
      <p:sp>
        <p:nvSpPr>
          <p:cNvPr id="8" name="">
            <a:extLst xmlns:a="http://schemas.openxmlformats.org/drawingml/2006/main">
              <a:ext uri="{FF2B5EF4-FFF2-40B4-BE49-F238E27FC236}">
                <a16:creationId xmlns:a16="http://schemas.microsoft.com/office/drawing/2014/main" id="{BFFE394C-CF0A-4FCB-9D0F-10AF533F828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72B75E-27FC-4F17-A7D1-EA5DB73537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is remainder, not percentage. To turn 75% into a fraction, calculate 75 / 100. Do not divide by zero.</a:t>
            </a:r>
          </a:p>
        </p:txBody>
      </p:sp>
      <p:sp>
        <p:nvSpPr>
          <p:cNvPr id="10" name="">
            <a:extLst xmlns:a="http://schemas.openxmlformats.org/drawingml/2006/main">
              <a:ext uri="{FF2B5EF4-FFF2-40B4-BE49-F238E27FC236}">
                <a16:creationId xmlns:a16="http://schemas.microsoft.com/office/drawing/2014/main" id="{533D490B-4268-4199-A7F9-DF31599485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18</a:t>
            </a:r>
          </a:p>
        </p:txBody>
      </p:sp>
    </p:spTree>
    <p:extLst>
      <p:ext uri="{BB962C8B-B14F-4D97-AF65-F5344CB8AC3E}">
        <p14:creationId xmlns:p14="http://schemas.microsoft.com/office/powerpoint/2010/main" val="101254094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711E8A-6904-474D-B816-3144F874D4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3B03E3-5632-48DE-AE81-D9DA8F46DF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E38B0FB-C510-4C8A-93C1-D1398DFCFB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floor division remainder and powers</a:t>
            </a:r>
          </a:p>
        </p:txBody>
      </p:sp>
      <p:sp>
        <p:nvSpPr>
          <p:cNvPr id="4" name="">
            <a:extLst xmlns:a="http://schemas.openxmlformats.org/drawingml/2006/main">
              <a:ext uri="{FF2B5EF4-FFF2-40B4-BE49-F238E27FC236}">
                <a16:creationId xmlns:a16="http://schemas.microsoft.com/office/drawing/2014/main" id="{0AC492E4-ED75-4FCB-8247-010261A502C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BEE3B3-9FFD-4965-ACD0-49F5CA58E36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print(75 / 100)</a:t>
            </a:r>
          </a:p>
        </p:txBody>
      </p:sp>
      <p:sp>
        <p:nvSpPr>
          <p:cNvPr id="6" name="">
            <a:extLst xmlns:a="http://schemas.openxmlformats.org/drawingml/2006/main">
              <a:ext uri="{FF2B5EF4-FFF2-40B4-BE49-F238E27FC236}">
                <a16:creationId xmlns:a16="http://schemas.microsoft.com/office/drawing/2014/main" id="{43835D5B-69F6-4E5A-B5C2-8C3FD14C796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B8F4083-96FC-4E98-AEC3-282614FCCA9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repeats multiplication.</a:t>
            </a:r>
          </a:p>
        </p:txBody>
      </p:sp>
      <p:sp>
        <p:nvSpPr>
          <p:cNvPr id="8" name="">
            <a:extLst xmlns:a="http://schemas.openxmlformats.org/drawingml/2006/main">
              <a:ext uri="{FF2B5EF4-FFF2-40B4-BE49-F238E27FC236}">
                <a16:creationId xmlns:a16="http://schemas.microsoft.com/office/drawing/2014/main" id="{911CC612-B46E-4467-AFC3-2B391B37F73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negative floor result rounds toward the smaller integer.</a:t>
            </a:r>
          </a:p>
        </p:txBody>
      </p:sp>
      <p:sp>
        <p:nvSpPr>
          <p:cNvPr id="9" name="">
            <a:extLst xmlns:a="http://schemas.openxmlformats.org/drawingml/2006/main">
              <a:ext uri="{FF2B5EF4-FFF2-40B4-BE49-F238E27FC236}">
                <a16:creationId xmlns:a16="http://schemas.microsoft.com/office/drawing/2014/main" id="{42AC37E5-275A-4D6F-9F30-FC8FA660D50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 1; 8; -4; 0.75</a:t>
            </a:r>
          </a:p>
        </p:txBody>
      </p:sp>
      <p:sp>
        <p:nvSpPr>
          <p:cNvPr id="10" name="">
            <a:extLst xmlns:a="http://schemas.openxmlformats.org/drawingml/2006/main">
              <a:ext uri="{FF2B5EF4-FFF2-40B4-BE49-F238E27FC236}">
                <a16:creationId xmlns:a16="http://schemas.microsoft.com/office/drawing/2014/main" id="{903B838B-9A28-4253-AD53-8202B851B9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19</a:t>
            </a:r>
          </a:p>
        </p:txBody>
      </p:sp>
    </p:spTree>
    <p:extLst>
      <p:ext uri="{BB962C8B-B14F-4D97-AF65-F5344CB8AC3E}">
        <p14:creationId xmlns:p14="http://schemas.microsoft.com/office/powerpoint/2010/main" val="7751785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0D1E6C-A30E-49CA-804F-B8E893D58F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3D091F-412E-4C79-B859-EC9C5CE7F9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0336A4-22B3-4C62-BEA0-9BBBBF5748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operation happens first</a:t>
            </a:r>
          </a:p>
        </p:txBody>
      </p:sp>
      <p:sp>
        <p:nvSpPr>
          <p:cNvPr id="4" name="">
            <a:extLst xmlns:a="http://schemas.openxmlformats.org/drawingml/2006/main">
              <a:ext uri="{FF2B5EF4-FFF2-40B4-BE49-F238E27FC236}">
                <a16:creationId xmlns:a16="http://schemas.microsoft.com/office/drawing/2014/main" id="{EE2AEB8B-2716-44F0-89B4-AFC144E128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E5B5E9-5827-42A1-A501-116FCB2D357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group a calculation: do (2 + 3) before multiplying it by 4.</a:t>
            </a:r>
          </a:p>
        </p:txBody>
      </p:sp>
      <p:sp>
        <p:nvSpPr>
          <p:cNvPr id="6" name="">
            <a:extLst xmlns:a="http://schemas.openxmlformats.org/drawingml/2006/main">
              <a:ext uri="{FF2B5EF4-FFF2-40B4-BE49-F238E27FC236}">
                <a16:creationId xmlns:a16="http://schemas.microsoft.com/office/drawing/2014/main" id="{4989A956-2BC0-42BB-85AC-3FA8F98FB1A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8788E5-1E17-49ED-952A-0C140E2E7C1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Powers come before multiplication and division. Multiplication, /, // and % come before addition and subtraction. Equal-level * and / run left to right.</a:t>
            </a:r>
          </a:p>
        </p:txBody>
      </p:sp>
      <p:sp>
        <p:nvSpPr>
          <p:cNvPr id="8" name="">
            <a:extLst xmlns:a="http://schemas.openxmlformats.org/drawingml/2006/main">
              <a:ext uri="{FF2B5EF4-FFF2-40B4-BE49-F238E27FC236}">
                <a16:creationId xmlns:a16="http://schemas.microsoft.com/office/drawing/2014/main" id="{B6E4B64A-F227-4BEF-A0E3-CAC4472351F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A2D26A-74FD-4FF6-B8F5-ABD5ABF751E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when the intended grouping might be unclear. For a negative base, write (-2) ** 2. This gives 4; -(2 ** 2) gives -4.</a:t>
            </a:r>
          </a:p>
        </p:txBody>
      </p:sp>
      <p:sp>
        <p:nvSpPr>
          <p:cNvPr id="10" name="">
            <a:extLst xmlns:a="http://schemas.openxmlformats.org/drawingml/2006/main">
              <a:ext uri="{FF2B5EF4-FFF2-40B4-BE49-F238E27FC236}">
                <a16:creationId xmlns:a16="http://schemas.microsoft.com/office/drawing/2014/main" id="{6726500D-3672-4631-A2C1-C27C30FEDE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20</a:t>
            </a:r>
          </a:p>
        </p:txBody>
      </p:sp>
    </p:spTree>
    <p:extLst>
      <p:ext uri="{BB962C8B-B14F-4D97-AF65-F5344CB8AC3E}">
        <p14:creationId xmlns:p14="http://schemas.microsoft.com/office/powerpoint/2010/main" val="15619754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6C06D4F-BBF0-49ED-B967-682A69F1F0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59FD86-2858-4FA4-9588-5118D83356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60FD1E0-C3E9-431F-89E1-0FB1197562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an expression before its output</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calculation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EEF3F6"/>
                    </a:solidFill>
                  </a:tcPr>
                </a:tc>
                <a:tc>
                  <a:txBody>
                    <a:bodyPr/>
                    <a:lstStyle/>
                    <a:p>
                      <a:r>
                        <a:rPr sz="2025" b="0">
                          <a:solidFill>
                            <a:srgbClr val="1C3144"/>
                          </a:solidFill>
                          <a:latin typeface="Calibri"/>
                          <a:ea typeface="Calibri"/>
                          <a:cs typeface="Calibri"/>
                        </a:rPr>
                        <a:t>3 * 4 gives 12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+ 12 gives 14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FFFFFF"/>
                    </a:solidFill>
                  </a:tcPr>
                </a:tc>
                <a:tc>
                  <a:txBody>
                    <a:bodyPr/>
                    <a:lstStyle/>
                    <a:p>
                      <a:r>
                        <a:rPr sz="2025" b="0">
                          <a:solidFill>
                            <a:srgbClr val="1C3144"/>
                          </a:solidFill>
                          <a:latin typeface="Calibri"/>
                          <a:ea typeface="Calibri"/>
                          <a:cs typeface="Calibri"/>
                        </a:rPr>
                        <a:t>2 + 3 gives 5</a:t>
                      </a:r>
                    </a:p>
                  </a:txBody>
                  <a:tcPr marL="91440" marR="91440" marT="45720" marB="45720">
                    <a:solidFill>
                      <a:srgbClr val="FFFFFF"/>
                    </a:solidFill>
                  </a:tcPr>
                </a:tc>
                <a:tc>
                  <a:txBody>
                    <a:bodyPr/>
                    <a:lstStyle/>
                    <a:p>
                      <a:r>
                        <a:rPr sz="2025" b="0">
                          <a:solidFill>
                            <a:srgbClr val="1C3144"/>
                          </a:solidFill>
                          <a:latin typeface="Calibri"/>
                          <a:ea typeface="Calibri"/>
                          <a:cs typeface="Calibri"/>
                        </a:rPr>
                        <a:t>5 * 4 gives 20</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12 / 3 * 2</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c>
                  <a:txBody>
                    <a:bodyPr/>
                    <a:lstStyle/>
                    <a:p>
                      <a:r>
                        <a:rPr sz="2025" b="0">
                          <a:solidFill>
                            <a:srgbClr val="1C3144"/>
                          </a:solidFill>
                          <a:latin typeface="Calibri"/>
                          <a:ea typeface="Calibri"/>
                          <a:cs typeface="Calibri"/>
                        </a:rPr>
                        <a:t>4.0 * 2 gives 8.0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870CB3C2-04C9-4748-8128-98562AAA9BD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Changing parentheses can change the answer even when the numbers stay the same.</a:t>
            </a:r>
          </a:p>
        </p:txBody>
      </p:sp>
      <p:sp>
        <p:nvSpPr>
          <p:cNvPr id="6" name="">
            <a:extLst xmlns:a="http://schemas.openxmlformats.org/drawingml/2006/main">
              <a:ext uri="{FF2B5EF4-FFF2-40B4-BE49-F238E27FC236}">
                <a16:creationId xmlns:a16="http://schemas.microsoft.com/office/drawing/2014/main" id="{A510303B-5953-4F8B-96F1-7B22BA0489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21</a:t>
            </a:r>
          </a:p>
        </p:txBody>
      </p:sp>
    </p:spTree>
    <p:extLst>
      <p:ext uri="{BB962C8B-B14F-4D97-AF65-F5344CB8AC3E}">
        <p14:creationId xmlns:p14="http://schemas.microsoft.com/office/powerpoint/2010/main" val="88022337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3678AE-9917-4B3E-B5A3-22A9A5A2F7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BEE68D-A0A0-4025-AC6C-B8FF39A7F4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6591D9D-F0C0-4041-AA30-999124A327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operation order</a:t>
            </a:r>
          </a:p>
        </p:txBody>
      </p:sp>
      <p:sp>
        <p:nvSpPr>
          <p:cNvPr id="4" name="">
            <a:extLst xmlns:a="http://schemas.openxmlformats.org/drawingml/2006/main">
              <a:ext uri="{FF2B5EF4-FFF2-40B4-BE49-F238E27FC236}">
                <a16:creationId xmlns:a16="http://schemas.microsoft.com/office/drawing/2014/main" id="{FACA840E-E857-4EEB-B4E6-B5C5798AF2E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746052-D90A-4A9D-A031-62F551B75C9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print(12 / 3 * 2)</a:t>
            </a:r>
          </a:p>
        </p:txBody>
      </p:sp>
      <p:sp>
        <p:nvSpPr>
          <p:cNvPr id="6" name="">
            <a:extLst xmlns:a="http://schemas.openxmlformats.org/drawingml/2006/main">
              <a:ext uri="{FF2B5EF4-FFF2-40B4-BE49-F238E27FC236}">
                <a16:creationId xmlns:a16="http://schemas.microsoft.com/office/drawing/2014/main" id="{5FE9769F-6BCB-44D7-AEEA-314F93924AC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DE8E21F-8F63-4A8F-B08C-AF35451BAEA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 the calculation from the trace table.</a:t>
            </a:r>
          </a:p>
        </p:txBody>
      </p:sp>
      <p:sp>
        <p:nvSpPr>
          <p:cNvPr id="8" name="">
            <a:extLst xmlns:a="http://schemas.openxmlformats.org/drawingml/2006/main">
              <a:ext uri="{FF2B5EF4-FFF2-40B4-BE49-F238E27FC236}">
                <a16:creationId xmlns:a16="http://schemas.microsoft.com/office/drawing/2014/main" id="{F7F0C684-7B10-4158-B997-61B0FCDA9C6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first; then compare with the shown outputs.</a:t>
            </a:r>
          </a:p>
        </p:txBody>
      </p:sp>
      <p:sp>
        <p:nvSpPr>
          <p:cNvPr id="9" name="">
            <a:extLst xmlns:a="http://schemas.openxmlformats.org/drawingml/2006/main">
              <a:ext uri="{FF2B5EF4-FFF2-40B4-BE49-F238E27FC236}">
                <a16:creationId xmlns:a16="http://schemas.microsoft.com/office/drawing/2014/main" id="{F2B5D295-B48D-4FDD-9CC1-42CB22175A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14; 20; 8.0</a:t>
            </a:r>
          </a:p>
        </p:txBody>
      </p:sp>
      <p:sp>
        <p:nvSpPr>
          <p:cNvPr id="10" name="">
            <a:extLst xmlns:a="http://schemas.openxmlformats.org/drawingml/2006/main">
              <a:ext uri="{FF2B5EF4-FFF2-40B4-BE49-F238E27FC236}">
                <a16:creationId xmlns:a16="http://schemas.microsoft.com/office/drawing/2014/main" id="{0472CB83-EBF8-4F18-9135-8D7C4AC884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22</a:t>
            </a:r>
          </a:p>
        </p:txBody>
      </p:sp>
    </p:spTree>
    <p:extLst>
      <p:ext uri="{BB962C8B-B14F-4D97-AF65-F5344CB8AC3E}">
        <p14:creationId xmlns:p14="http://schemas.microsoft.com/office/powerpoint/2010/main" val="54378254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72C357-E732-4B2B-A9AF-06BEEDD6FB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C9B127-A86D-4459-873E-85DCFC215E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E7F231-6116-4621-A192-D8839358F1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Assigning and updating a named value</a:t>
            </a:r>
          </a:p>
        </p:txBody>
      </p:sp>
      <p:sp>
        <p:nvSpPr>
          <p:cNvPr id="4" name="">
            <a:extLst xmlns:a="http://schemas.openxmlformats.org/drawingml/2006/main">
              <a:ext uri="{FF2B5EF4-FFF2-40B4-BE49-F238E27FC236}">
                <a16:creationId xmlns:a16="http://schemas.microsoft.com/office/drawing/2014/main" id="{B1601E7A-07CE-430E-B622-B4643ACB44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D1A22E-E129-4ADE-9A95-FB18F2D160F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2 gives the name count the value 2. = means assignment; it does not ask whether two values are equal.</a:t>
            </a:r>
          </a:p>
        </p:txBody>
      </p:sp>
      <p:sp>
        <p:nvSpPr>
          <p:cNvPr id="6" name="">
            <a:extLst xmlns:a="http://schemas.openxmlformats.org/drawingml/2006/main">
              <a:ext uri="{FF2B5EF4-FFF2-40B4-BE49-F238E27FC236}">
                <a16:creationId xmlns:a16="http://schemas.microsoft.com/office/drawing/2014/main" id="{1B9C0D63-10F7-474A-9614-A7C4CE91725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719865-A986-432B-92B1-87C67014598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count + 1 first reads the old value 2, calculates 3, then assigns 3 back to count.</a:t>
            </a:r>
          </a:p>
        </p:txBody>
      </p:sp>
      <p:sp>
        <p:nvSpPr>
          <p:cNvPr id="8" name="">
            <a:extLst xmlns:a="http://schemas.openxmlformats.org/drawingml/2006/main">
              <a:ext uri="{FF2B5EF4-FFF2-40B4-BE49-F238E27FC236}">
                <a16:creationId xmlns:a16="http://schemas.microsoft.com/office/drawing/2014/main" id="{D8DC97AA-5701-45AF-8636-666E6AE8E59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DB7F35-8CE4-489F-BB16-EF2E3BC4433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the update, print(count) displays 3. Re-running only the update cell changes count again; restart and run from the beginning for the shown result.</a:t>
            </a:r>
          </a:p>
        </p:txBody>
      </p:sp>
      <p:sp>
        <p:nvSpPr>
          <p:cNvPr id="10" name="">
            <a:extLst xmlns:a="http://schemas.openxmlformats.org/drawingml/2006/main">
              <a:ext uri="{FF2B5EF4-FFF2-40B4-BE49-F238E27FC236}">
                <a16:creationId xmlns:a16="http://schemas.microsoft.com/office/drawing/2014/main" id="{7FD77F00-AB47-4E28-8EEF-28D38BF7DE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23</a:t>
            </a:r>
          </a:p>
        </p:txBody>
      </p:sp>
    </p:spTree>
    <p:extLst>
      <p:ext uri="{BB962C8B-B14F-4D97-AF65-F5344CB8AC3E}">
        <p14:creationId xmlns:p14="http://schemas.microsoft.com/office/powerpoint/2010/main" val="135775911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A543CB-E3FF-40A4-A100-2A9E0BD26A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90E8CB-B2C9-4FFA-9AD3-0D7953E842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2BFADA2-CD2A-4118-AABA-EF6F7BAD9E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update</a:t>
            </a:r>
          </a:p>
        </p:txBody>
      </p:sp>
      <p:sp>
        <p:nvSpPr>
          <p:cNvPr id="4" name="">
            <a:extLst xmlns:a="http://schemas.openxmlformats.org/drawingml/2006/main">
              <a:ext uri="{FF2B5EF4-FFF2-40B4-BE49-F238E27FC236}">
                <a16:creationId xmlns:a16="http://schemas.microsoft.com/office/drawing/2014/main" id="{5D57A059-A19C-452E-B775-D0C21FF5BC8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A30C4A-5383-4B17-8F06-71F88539BEB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3D47C6A3-7556-4A8A-8B4F-BF155B40D33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ED88546-4A9B-4103-B286-CA40AB72DDB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right side is calculated before the left side changes.</a:t>
            </a:r>
          </a:p>
        </p:txBody>
      </p:sp>
      <p:sp>
        <p:nvSpPr>
          <p:cNvPr id="8" name="">
            <a:extLst xmlns:a="http://schemas.openxmlformats.org/drawingml/2006/main">
              <a:ext uri="{FF2B5EF4-FFF2-40B4-BE49-F238E27FC236}">
                <a16:creationId xmlns:a16="http://schemas.microsoft.com/office/drawing/2014/main" id="{98D1FE74-AE4A-4F37-A89B-435DA177A20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3</a:t>
            </a:r>
          </a:p>
        </p:txBody>
      </p:sp>
      <p:sp>
        <p:nvSpPr>
          <p:cNvPr id="9" name="">
            <a:extLst xmlns:a="http://schemas.openxmlformats.org/drawingml/2006/main">
              <a:ext uri="{FF2B5EF4-FFF2-40B4-BE49-F238E27FC236}">
                <a16:creationId xmlns:a16="http://schemas.microsoft.com/office/drawing/2014/main" id="{78C534DD-09A1-47C6-9B61-FC846F057B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24</a:t>
            </a:r>
          </a:p>
        </p:txBody>
      </p:sp>
    </p:spTree>
    <p:extLst>
      <p:ext uri="{BB962C8B-B14F-4D97-AF65-F5344CB8AC3E}">
        <p14:creationId xmlns:p14="http://schemas.microsoft.com/office/powerpoint/2010/main" val="42469013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23A5F5-9D28-46ED-9F70-5003BABC1E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D2B7D0-6CC5-4A75-9461-E3A237F042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496299-5357-442D-9823-091098ABE7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text and conversion</a:t>
            </a:r>
          </a:p>
        </p:txBody>
      </p:sp>
      <p:sp>
        <p:nvSpPr>
          <p:cNvPr id="4" name="">
            <a:extLst xmlns:a="http://schemas.openxmlformats.org/drawingml/2006/main">
              <a:ext uri="{FF2B5EF4-FFF2-40B4-BE49-F238E27FC236}">
                <a16:creationId xmlns:a16="http://schemas.microsoft.com/office/drawing/2014/main" id="{F425F396-EA2A-4482-A8B7-4BF96F2AE4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BE8C78-ADAB-4D24-A1EC-586EBCB8EF9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is an integer. 7.0 is a decimal-valued float. "7" is text because it is inside quotes. Both single and double quotes can enclose text.</a:t>
            </a:r>
          </a:p>
        </p:txBody>
      </p:sp>
      <p:sp>
        <p:nvSpPr>
          <p:cNvPr id="6" name="">
            <a:extLst xmlns:a="http://schemas.openxmlformats.org/drawingml/2006/main">
              <a:ext uri="{FF2B5EF4-FFF2-40B4-BE49-F238E27FC236}">
                <a16:creationId xmlns:a16="http://schemas.microsoft.com/office/drawing/2014/main" id="{6B38CBFE-1291-48C6-A343-CD05967541C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BF2AA7-4E1B-41D3-8DF8-87CFA0805AB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joins text into "72". To add those digits as numbers, convert each first: int("7") + int("2") gives 9.</a:t>
            </a:r>
          </a:p>
        </p:txBody>
      </p:sp>
      <p:sp>
        <p:nvSpPr>
          <p:cNvPr id="8" name="">
            <a:extLst xmlns:a="http://schemas.openxmlformats.org/drawingml/2006/main">
              <a:ext uri="{FF2B5EF4-FFF2-40B4-BE49-F238E27FC236}">
                <a16:creationId xmlns:a16="http://schemas.microsoft.com/office/drawing/2014/main" id="{4CE98837-8711-4D83-A2E7-2F45C9D133E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64DB5C-4DC9-4698-89AD-146776633F9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int converts valid integer text; float converts valid decimal text. str turns a value into text. print displays a value; type reports its Python type.</a:t>
            </a:r>
          </a:p>
        </p:txBody>
      </p:sp>
      <p:sp>
        <p:nvSpPr>
          <p:cNvPr id="10" name="">
            <a:extLst xmlns:a="http://schemas.openxmlformats.org/drawingml/2006/main">
              <a:ext uri="{FF2B5EF4-FFF2-40B4-BE49-F238E27FC236}">
                <a16:creationId xmlns:a16="http://schemas.microsoft.com/office/drawing/2014/main" id="{23651F13-A8E9-4D1A-AF27-D08F502931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25</a:t>
            </a:r>
          </a:p>
        </p:txBody>
      </p:sp>
    </p:spTree>
    <p:extLst>
      <p:ext uri="{BB962C8B-B14F-4D97-AF65-F5344CB8AC3E}">
        <p14:creationId xmlns:p14="http://schemas.microsoft.com/office/powerpoint/2010/main" val="125669991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A8884C-B0A6-49EA-89F1-93347A33F6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86243C-FA90-4409-9D34-CC7C59134C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9893C79-B716-4E40-8CF8-B41D4EA462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numeric addition with text joining</a:t>
            </a:r>
          </a:p>
        </p:txBody>
      </p:sp>
      <p:sp>
        <p:nvSpPr>
          <p:cNvPr id="4" name="">
            <a:extLst xmlns:a="http://schemas.openxmlformats.org/drawingml/2006/main">
              <a:ext uri="{FF2B5EF4-FFF2-40B4-BE49-F238E27FC236}">
                <a16:creationId xmlns:a16="http://schemas.microsoft.com/office/drawing/2014/main" id="{EF366BBE-3F25-4D29-B09A-309B67A9C9A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220C6A-9B8F-4E00-B03F-13FB7A93324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print(int("7") + int("2"))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print(float("2.5"))</a:t>
            </a:r>
          </a:p>
        </p:txBody>
      </p:sp>
      <p:sp>
        <p:nvSpPr>
          <p:cNvPr id="6" name="">
            <a:extLst xmlns:a="http://schemas.openxmlformats.org/drawingml/2006/main">
              <a:ext uri="{FF2B5EF4-FFF2-40B4-BE49-F238E27FC236}">
                <a16:creationId xmlns:a16="http://schemas.microsoft.com/office/drawing/2014/main" id="{7CA0E4F6-437D-4582-8688-8537BDA26FB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6BAF9B3-24D9-43ED-A785-A99018A8B39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Quotes change the type and therefore what + does.</a:t>
            </a:r>
          </a:p>
        </p:txBody>
      </p:sp>
      <p:sp>
        <p:nvSpPr>
          <p:cNvPr id="8" name="">
            <a:extLst xmlns:a="http://schemas.openxmlformats.org/drawingml/2006/main">
              <a:ext uri="{FF2B5EF4-FFF2-40B4-BE49-F238E27FC236}">
                <a16:creationId xmlns:a16="http://schemas.microsoft.com/office/drawing/2014/main" id="{89382B8F-4FFB-4384-9006-C0E87C80E83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Conversion happens before the addition.</a:t>
            </a:r>
          </a:p>
        </p:txBody>
      </p:sp>
      <p:sp>
        <p:nvSpPr>
          <p:cNvPr id="9" name="">
            <a:extLst xmlns:a="http://schemas.openxmlformats.org/drawingml/2006/main">
              <a:ext uri="{FF2B5EF4-FFF2-40B4-BE49-F238E27FC236}">
                <a16:creationId xmlns:a16="http://schemas.microsoft.com/office/drawing/2014/main" id="{BE5112D1-DE35-4F64-B512-BC5AED04E8D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72; 9; 2.5</a:t>
            </a:r>
          </a:p>
        </p:txBody>
      </p:sp>
      <p:sp>
        <p:nvSpPr>
          <p:cNvPr id="10" name="">
            <a:extLst xmlns:a="http://schemas.openxmlformats.org/drawingml/2006/main">
              <a:ext uri="{FF2B5EF4-FFF2-40B4-BE49-F238E27FC236}">
                <a16:creationId xmlns:a16="http://schemas.microsoft.com/office/drawing/2014/main" id="{5F4539F8-A462-4FEA-A75A-5251F7CBC9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26</a:t>
            </a:r>
          </a:p>
        </p:txBody>
      </p:sp>
    </p:spTree>
    <p:extLst>
      <p:ext uri="{BB962C8B-B14F-4D97-AF65-F5344CB8AC3E}">
        <p14:creationId xmlns:p14="http://schemas.microsoft.com/office/powerpoint/2010/main" val="149859995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2BEFE9-3A98-4A71-B2CE-68FA1234D2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2D5033-B38C-4662-A2EA-BF348232E3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0581F5A-7C91-403A-8006-249BB5DEF1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BC377FA6-F052-47D6-82FC-031ADF4E9A3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F14CD1-0739-482B-8E00-CD833C181F5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BEB2FD5A-7E48-47CF-8D06-B3B4D0DB624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674971-C3B3-43E1-82DC-2B1388A93E6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2AB74DF3-FD56-4E43-AB83-9D2E10721D1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11F174-E410-4FFE-8401-6BF236E180B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FC7E467A-53B4-4141-ABD0-A2726EE1C1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27</a:t>
            </a:r>
          </a:p>
        </p:txBody>
      </p:sp>
    </p:spTree>
    <p:extLst>
      <p:ext uri="{BB962C8B-B14F-4D97-AF65-F5344CB8AC3E}">
        <p14:creationId xmlns:p14="http://schemas.microsoft.com/office/powerpoint/2010/main" val="175675493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D0A1DB-F5B2-4411-A192-FF97F71C5D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A013CB-4BCC-48DA-ACFB-DC7504C9A0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015A23F-7215-46F7-94A0-AFDCDD4896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8358FB3B-DF7D-4546-A589-CD5F52B99D4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34DABB-3B80-4C20-961B-E6CC775B5C2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Voltage and current</a:t>
            </a:r>
          </a:p>
        </p:txBody>
      </p:sp>
      <p:sp>
        <p:nvSpPr>
          <p:cNvPr id="6" name="">
            <a:extLst xmlns:a="http://schemas.openxmlformats.org/drawingml/2006/main">
              <a:ext uri="{FF2B5EF4-FFF2-40B4-BE49-F238E27FC236}">
                <a16:creationId xmlns:a16="http://schemas.microsoft.com/office/drawing/2014/main" id="{4501F615-DD66-4450-9D44-FEA136C102A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Voltage describes electrical potential difference in volts (V). Current is the rate of charge flow in amperes (A). This example uses direct current (DC).</a:t>
            </a:r>
          </a:p>
        </p:txBody>
      </p:sp>
      <p:sp>
        <p:nvSpPr>
          <p:cNvPr id="7" name="">
            <a:extLst xmlns:a="http://schemas.openxmlformats.org/drawingml/2006/main">
              <a:ext uri="{FF2B5EF4-FFF2-40B4-BE49-F238E27FC236}">
                <a16:creationId xmlns:a16="http://schemas.microsoft.com/office/drawing/2014/main" id="{7C91C334-C6BC-4310-A372-2907A0C4F4F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54DEF95-6F54-49B8-A04A-1EC0B7988E6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Power</a:t>
            </a:r>
          </a:p>
        </p:txBody>
      </p:sp>
      <p:sp>
        <p:nvSpPr>
          <p:cNvPr id="9" name="">
            <a:extLst xmlns:a="http://schemas.openxmlformats.org/drawingml/2006/main">
              <a:ext uri="{FF2B5EF4-FFF2-40B4-BE49-F238E27FC236}">
                <a16:creationId xmlns:a16="http://schemas.microsoft.com/office/drawing/2014/main" id="{639B9621-8B0D-45DF-8D2B-7EF3038C36D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Power is energy transferred each second, measured in watts (W). For this DC example, power = voltage × current. Resistive heating later uses current squared × resistance.</a:t>
            </a:r>
          </a:p>
        </p:txBody>
      </p:sp>
      <p:sp>
        <p:nvSpPr>
          <p:cNvPr id="10" name="">
            <a:extLst xmlns:a="http://schemas.openxmlformats.org/drawingml/2006/main">
              <a:ext uri="{FF2B5EF4-FFF2-40B4-BE49-F238E27FC236}">
                <a16:creationId xmlns:a16="http://schemas.microsoft.com/office/drawing/2014/main" id="{F8DB71CD-811F-4F9F-8C12-E4B5BB87A5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28</a:t>
            </a:r>
          </a:p>
        </p:txBody>
      </p:sp>
    </p:spTree>
    <p:extLst>
      <p:ext uri="{BB962C8B-B14F-4D97-AF65-F5344CB8AC3E}">
        <p14:creationId xmlns:p14="http://schemas.microsoft.com/office/powerpoint/2010/main" val="142501268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BB7404-BBE4-4F2E-81A7-E32E6DDD9C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857545-B576-43BB-BF8F-811E732139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5133A57-1728-4A1C-94DC-243507EF15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FC6946F7-C085-4BEE-BADC-C1CB517137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F581FD-BF3E-4971-BCC5-6890157913B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DC test circuit has 12 volts and 2 amperes.</a:t>
            </a:r>
          </a:p>
        </p:txBody>
      </p:sp>
      <p:sp>
        <p:nvSpPr>
          <p:cNvPr id="6" name="">
            <a:extLst xmlns:a="http://schemas.openxmlformats.org/drawingml/2006/main">
              <a:ext uri="{FF2B5EF4-FFF2-40B4-BE49-F238E27FC236}">
                <a16:creationId xmlns:a16="http://schemas.microsoft.com/office/drawing/2014/main" id="{53A1BD1F-2E99-409A-82AE-979D2DF8A71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B02977-8A08-4283-A46A-50B8C481A20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 voltage × current = 24 watts.</a:t>
            </a:r>
          </a:p>
        </p:txBody>
      </p:sp>
      <p:sp>
        <p:nvSpPr>
          <p:cNvPr id="8" name="">
            <a:extLst xmlns:a="http://schemas.openxmlformats.org/drawingml/2006/main">
              <a:ext uri="{FF2B5EF4-FFF2-40B4-BE49-F238E27FC236}">
                <a16:creationId xmlns:a16="http://schemas.microsoft.com/office/drawing/2014/main" id="{141D808C-21E7-43BA-934E-A213A7B5CED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DD34FD7-4ACA-46A0-A275-8638C363C05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assumes DC; AC real power needs additional information.</a:t>
            </a:r>
          </a:p>
        </p:txBody>
      </p:sp>
      <p:sp>
        <p:nvSpPr>
          <p:cNvPr id="10" name="">
            <a:extLst xmlns:a="http://schemas.openxmlformats.org/drawingml/2006/main">
              <a:ext uri="{FF2B5EF4-FFF2-40B4-BE49-F238E27FC236}">
                <a16:creationId xmlns:a16="http://schemas.microsoft.com/office/drawing/2014/main" id="{67CC1AFB-6AF3-4040-9208-58D9C7ED33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29</a:t>
            </a:r>
          </a:p>
        </p:txBody>
      </p:sp>
    </p:spTree>
    <p:extLst>
      <p:ext uri="{BB962C8B-B14F-4D97-AF65-F5344CB8AC3E}">
        <p14:creationId xmlns:p14="http://schemas.microsoft.com/office/powerpoint/2010/main" val="85308086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BDB236-F816-48EF-9314-725DE1553A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FB1742-067F-40D7-A62C-DB3A1265DA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C9E5246-B461-4E42-B107-B58BA34773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A8FE1259-9C04-4B44-8766-ADFD0BB3D8F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888E21-07FF-467F-862F-C90CA01338F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voltage_v =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current_a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power_w = voltage_v * current_a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print(power_w)</a:t>
            </a:r>
          </a:p>
        </p:txBody>
      </p:sp>
      <p:sp>
        <p:nvSpPr>
          <p:cNvPr id="6" name="">
            <a:extLst xmlns:a="http://schemas.openxmlformats.org/drawingml/2006/main">
              <a:ext uri="{FF2B5EF4-FFF2-40B4-BE49-F238E27FC236}">
                <a16:creationId xmlns:a16="http://schemas.microsoft.com/office/drawing/2014/main" id="{CAFA362E-BBFA-4B98-98E0-D64F8A10563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54E7DEB-AB55-44FA-9026-3F6329624A5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99D8F58-D671-4FDE-829E-9BC15EB9035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31164397-989A-4EE2-B0C4-BBDDD995A7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BB212F66-BDEA-49FE-A2AA-D356E553A5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30</a:t>
            </a:r>
          </a:p>
        </p:txBody>
      </p:sp>
    </p:spTree>
    <p:extLst>
      <p:ext uri="{BB962C8B-B14F-4D97-AF65-F5344CB8AC3E}">
        <p14:creationId xmlns:p14="http://schemas.microsoft.com/office/powerpoint/2010/main" val="155910130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D83D488-C412-45FD-858A-03807635CF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480C0F-34A1-4421-A63F-9DC2A43FCC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2823905-E348-439B-AA20-9B1D20CFDC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8B56BED-3847-4C03-A538-D8292E170F0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B78AC4BC-53FA-4251-A549-18447CDD0C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31</a:t>
            </a:r>
          </a:p>
        </p:txBody>
      </p:sp>
    </p:spTree>
    <p:extLst>
      <p:ext uri="{BB962C8B-B14F-4D97-AF65-F5344CB8AC3E}">
        <p14:creationId xmlns:p14="http://schemas.microsoft.com/office/powerpoint/2010/main" val="160872560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B31FA1-8B4E-4218-A7B8-3EEB9616E4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F35E9E-FF46-43A0-96D5-561445317E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F25BA5-45BF-4603-B98A-754CE3CA83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comparison produces a Boolean value</a:t>
            </a:r>
          </a:p>
        </p:txBody>
      </p:sp>
      <p:sp>
        <p:nvSpPr>
          <p:cNvPr id="4" name="">
            <a:extLst xmlns:a="http://schemas.openxmlformats.org/drawingml/2006/main">
              <a:ext uri="{FF2B5EF4-FFF2-40B4-BE49-F238E27FC236}">
                <a16:creationId xmlns:a16="http://schemas.microsoft.com/office/drawing/2014/main" id="{AB79544C-A10E-45E5-B0BE-D712DA6974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6AA68B-1427-42D6-AC45-A5CFCD4A02A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asks a yes/no question about values. Its Python result is True or False, written with capital first letters and no quotes.</a:t>
            </a:r>
          </a:p>
        </p:txBody>
      </p:sp>
      <p:sp>
        <p:nvSpPr>
          <p:cNvPr id="6" name="">
            <a:extLst xmlns:a="http://schemas.openxmlformats.org/drawingml/2006/main">
              <a:ext uri="{FF2B5EF4-FFF2-40B4-BE49-F238E27FC236}">
                <a16:creationId xmlns:a16="http://schemas.microsoft.com/office/drawing/2014/main" id="{BFDAD27F-25EF-4F62-AA2D-9F563775B67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BD83B47-8F35-42FA-9F76-AF874901658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 &gt;= 30 asks “Is 30 at least 30?” The answer is True. 28 &gt;= 30 gives False.</a:t>
            </a:r>
          </a:p>
        </p:txBody>
      </p:sp>
      <p:sp>
        <p:nvSpPr>
          <p:cNvPr id="8" name="">
            <a:extLst xmlns:a="http://schemas.openxmlformats.org/drawingml/2006/main">
              <a:ext uri="{FF2B5EF4-FFF2-40B4-BE49-F238E27FC236}">
                <a16:creationId xmlns:a16="http://schemas.microsoft.com/office/drawing/2014/main" id="{8F65CB07-0575-4B0B-BA5C-545882E33E2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3AA6589-7467-43CA-BE6A-CB2B88EDFC4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and False have type bool. "False" is text, not the Boolean value False. Conditions use Boolean results to choose what happens next.</a:t>
            </a:r>
          </a:p>
        </p:txBody>
      </p:sp>
      <p:sp>
        <p:nvSpPr>
          <p:cNvPr id="10" name="">
            <a:extLst xmlns:a="http://schemas.openxmlformats.org/drawingml/2006/main">
              <a:ext uri="{FF2B5EF4-FFF2-40B4-BE49-F238E27FC236}">
                <a16:creationId xmlns:a16="http://schemas.microsoft.com/office/drawing/2014/main" id="{B1B244D0-562A-4858-B22D-D8B7B26010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32</a:t>
            </a:r>
          </a:p>
        </p:txBody>
      </p:sp>
    </p:spTree>
    <p:extLst>
      <p:ext uri="{BB962C8B-B14F-4D97-AF65-F5344CB8AC3E}">
        <p14:creationId xmlns:p14="http://schemas.microsoft.com/office/powerpoint/2010/main" val="25882882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B9A0B6-9B3D-44C5-9BE1-0385D63A0D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816616-E6BD-4F84-9138-90B4FDEA0C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C9DFCE4-5BED-4D61-9A8B-D342747982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Equality and difference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Equal values?</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gives True</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Different values?</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6915166-E429-42A1-8B69-3C142AB30982}"/>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 assigns a value. == compares values. They have different jobs.</a:t>
            </a:r>
          </a:p>
        </p:txBody>
      </p:sp>
      <p:sp>
        <p:nvSpPr>
          <p:cNvPr id="6" name="">
            <a:extLst xmlns:a="http://schemas.openxmlformats.org/drawingml/2006/main">
              <a:ext uri="{FF2B5EF4-FFF2-40B4-BE49-F238E27FC236}">
                <a16:creationId xmlns:a16="http://schemas.microsoft.com/office/drawing/2014/main" id="{2990E598-F463-4DCE-A691-6E8D6421E4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33</a:t>
            </a:r>
          </a:p>
        </p:txBody>
      </p:sp>
    </p:spTree>
    <p:extLst>
      <p:ext uri="{BB962C8B-B14F-4D97-AF65-F5344CB8AC3E}">
        <p14:creationId xmlns:p14="http://schemas.microsoft.com/office/powerpoint/2010/main" val="140667776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EA5274-71DD-4FB6-B40C-63A371F74F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C6B94F-C4F1-499A-B99B-16DC6F258F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DA1FA4D-8E7F-4360-9CE7-B6211D565C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sizes and boundaries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Greater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gives False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FFFFFF"/>
                    </a:solidFill>
                  </a:tcPr>
                </a:tc>
                <a:tc>
                  <a:txBody>
                    <a:bodyPr/>
                    <a:lstStyle/>
                    <a:p>
                      <a:r>
                        <a:rPr sz="2025" b="0">
                          <a:solidFill>
                            <a:srgbClr val="1C3144"/>
                          </a:solidFill>
                          <a:latin typeface="Calibri"/>
                          <a:ea typeface="Calibri"/>
                          <a:cs typeface="Calibri"/>
                        </a:rPr>
                        <a:t>Greater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&gt;= 3 gives 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EEF3F6"/>
                    </a:solidFill>
                  </a:tcPr>
                </a:tc>
                <a:tc>
                  <a:txBody>
                    <a:bodyPr/>
                    <a:lstStyle/>
                    <a:p>
                      <a:r>
                        <a:rPr sz="2025" b="0">
                          <a:solidFill>
                            <a:srgbClr val="1C3144"/>
                          </a:solidFill>
                          <a:latin typeface="Calibri"/>
                          <a:ea typeface="Calibri"/>
                          <a:cs typeface="Calibri"/>
                        </a:rPr>
                        <a:t>Less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2 &lt; 3 gives 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FFFFFF"/>
                    </a:solidFill>
                  </a:tcPr>
                </a:tc>
                <a:tc>
                  <a:txBody>
                    <a:bodyPr/>
                    <a:lstStyle/>
                    <a:p>
                      <a:r>
                        <a:rPr sz="2025" b="0">
                          <a:solidFill>
                            <a:srgbClr val="1C3144"/>
                          </a:solidFill>
                          <a:latin typeface="Calibri"/>
                          <a:ea typeface="Calibri"/>
                          <a:cs typeface="Calibri"/>
                        </a:rPr>
                        <a:t>Less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&lt;= 3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0CEA234-BDA3-4A36-AB08-DFFD8D03A3C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 part of &gt;= and &lt;= includes the boundary value.</a:t>
            </a:r>
          </a:p>
        </p:txBody>
      </p:sp>
      <p:sp>
        <p:nvSpPr>
          <p:cNvPr id="6" name="">
            <a:extLst xmlns:a="http://schemas.openxmlformats.org/drawingml/2006/main">
              <a:ext uri="{FF2B5EF4-FFF2-40B4-BE49-F238E27FC236}">
                <a16:creationId xmlns:a16="http://schemas.microsoft.com/office/drawing/2014/main" id="{CB0619D4-C780-436D-A29F-F750C09131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34</a:t>
            </a:r>
          </a:p>
        </p:txBody>
      </p:sp>
    </p:spTree>
    <p:extLst>
      <p:ext uri="{BB962C8B-B14F-4D97-AF65-F5344CB8AC3E}">
        <p14:creationId xmlns:p14="http://schemas.microsoft.com/office/powerpoint/2010/main" val="33049820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4B51AB-3D0B-43E8-894B-2CDB1C785C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26306C-44EA-49E1-BC30-C28E4104B4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7B27EE-111A-4D6D-8ACA-DB29AB00E2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Display comparison results</a:t>
            </a:r>
          </a:p>
        </p:txBody>
      </p:sp>
      <p:sp>
        <p:nvSpPr>
          <p:cNvPr id="4" name="">
            <a:extLst xmlns:a="http://schemas.openxmlformats.org/drawingml/2006/main">
              <a:ext uri="{FF2B5EF4-FFF2-40B4-BE49-F238E27FC236}">
                <a16:creationId xmlns:a16="http://schemas.microsoft.com/office/drawing/2014/main" id="{090C6470-7254-45A2-B237-F34401C06CB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FF9CA6-B73C-400A-A393-3C579F78254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p:txBody>
      </p:sp>
      <p:sp>
        <p:nvSpPr>
          <p:cNvPr id="6" name="">
            <a:extLst xmlns:a="http://schemas.openxmlformats.org/drawingml/2006/main">
              <a:ext uri="{FF2B5EF4-FFF2-40B4-BE49-F238E27FC236}">
                <a16:creationId xmlns:a16="http://schemas.microsoft.com/office/drawing/2014/main" id="{84F1D08A-5A60-4F45-89C4-A6DE64077A1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B4E1B1A-D78E-4FD0-BD32-29BBCA36571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comparison produces a Boolean.</a:t>
            </a:r>
          </a:p>
        </p:txBody>
      </p:sp>
      <p:sp>
        <p:nvSpPr>
          <p:cNvPr id="8" name="">
            <a:extLst xmlns:a="http://schemas.openxmlformats.org/drawingml/2006/main">
              <a:ext uri="{FF2B5EF4-FFF2-40B4-BE49-F238E27FC236}">
                <a16:creationId xmlns:a16="http://schemas.microsoft.com/office/drawing/2014/main" id="{22B25DEB-AF50-492E-9143-874E54CD784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No branch has run yet; print only displays the answers.</a:t>
            </a:r>
          </a:p>
        </p:txBody>
      </p:sp>
      <p:sp>
        <p:nvSpPr>
          <p:cNvPr id="9" name="">
            <a:extLst xmlns:a="http://schemas.openxmlformats.org/drawingml/2006/main">
              <a:ext uri="{FF2B5EF4-FFF2-40B4-BE49-F238E27FC236}">
                <a16:creationId xmlns:a16="http://schemas.microsoft.com/office/drawing/2014/main" id="{C352E405-793D-4FBC-BF17-DBD9830204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 True; False; True</a:t>
            </a:r>
          </a:p>
        </p:txBody>
      </p:sp>
      <p:sp>
        <p:nvSpPr>
          <p:cNvPr id="10" name="">
            <a:extLst xmlns:a="http://schemas.openxmlformats.org/drawingml/2006/main">
              <a:ext uri="{FF2B5EF4-FFF2-40B4-BE49-F238E27FC236}">
                <a16:creationId xmlns:a16="http://schemas.microsoft.com/office/drawing/2014/main" id="{0234418B-9E95-4209-9533-175C650116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35</a:t>
            </a:r>
          </a:p>
        </p:txBody>
      </p:sp>
    </p:spTree>
    <p:extLst>
      <p:ext uri="{BB962C8B-B14F-4D97-AF65-F5344CB8AC3E}">
        <p14:creationId xmlns:p14="http://schemas.microsoft.com/office/powerpoint/2010/main" val="158137017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2806BC9-3A0B-4DBF-A48D-FCD31C38A0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517F89-5342-446C-8BF5-308D36A275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91A5D6-750D-467E-B230-167077AB44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condition and an if block</a:t>
            </a:r>
          </a:p>
        </p:txBody>
      </p:sp>
      <p:sp>
        <p:nvSpPr>
          <p:cNvPr id="4" name="">
            <a:extLst xmlns:a="http://schemas.openxmlformats.org/drawingml/2006/main">
              <a:ext uri="{FF2B5EF4-FFF2-40B4-BE49-F238E27FC236}">
                <a16:creationId xmlns:a16="http://schemas.microsoft.com/office/drawing/2014/main" id="{49DFA502-E302-4620-81EE-379FCA91C4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35775B-C129-419B-8829-465B440D41F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condition is the question tested by an if statement. if reading &gt;= 30: checks whether reading is at least 30.</a:t>
            </a:r>
          </a:p>
        </p:txBody>
      </p:sp>
      <p:sp>
        <p:nvSpPr>
          <p:cNvPr id="6" name="">
            <a:extLst xmlns:a="http://schemas.openxmlformats.org/drawingml/2006/main">
              <a:ext uri="{FF2B5EF4-FFF2-40B4-BE49-F238E27FC236}">
                <a16:creationId xmlns:a16="http://schemas.microsoft.com/office/drawing/2014/main" id="{6F809503-E85E-40D7-96B5-35821A3774E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9AF2EC-8A73-421E-815E-458B734650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ends the header. The next line starts with four spaces; those spaces place it inside the block controlled by if.</a:t>
            </a:r>
          </a:p>
        </p:txBody>
      </p:sp>
      <p:sp>
        <p:nvSpPr>
          <p:cNvPr id="8" name="">
            <a:extLst xmlns:a="http://schemas.openxmlformats.org/drawingml/2006/main">
              <a:ext uri="{FF2B5EF4-FFF2-40B4-BE49-F238E27FC236}">
                <a16:creationId xmlns:a16="http://schemas.microsoft.com/office/drawing/2014/main" id="{E4A59975-EE9E-4639-9913-2A2B3320C93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B11CF6A-56C8-42C2-B1CC-053F67AF898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condition is True, run the block. If it is False, skip it. The next line without those four spaces is outside the block and runs afterwards.</a:t>
            </a:r>
          </a:p>
        </p:txBody>
      </p:sp>
      <p:sp>
        <p:nvSpPr>
          <p:cNvPr id="10" name="">
            <a:extLst xmlns:a="http://schemas.openxmlformats.org/drawingml/2006/main">
              <a:ext uri="{FF2B5EF4-FFF2-40B4-BE49-F238E27FC236}">
                <a16:creationId xmlns:a16="http://schemas.microsoft.com/office/drawing/2014/main" id="{4BAA8796-103F-496E-A508-2A8DAA297A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36</a:t>
            </a:r>
          </a:p>
        </p:txBody>
      </p:sp>
    </p:spTree>
    <p:extLst>
      <p:ext uri="{BB962C8B-B14F-4D97-AF65-F5344CB8AC3E}">
        <p14:creationId xmlns:p14="http://schemas.microsoft.com/office/powerpoint/2010/main" val="164862575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BB72971-3878-4273-919F-EAAE6B282E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5B7553-DEE7-4A22-A931-095D22D1AF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5D3B357-A33F-4BFE-91A4-3934191553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if statement without else</a:t>
            </a:r>
          </a:p>
        </p:txBody>
      </p:sp>
      <p:sp>
        <p:nvSpPr>
          <p:cNvPr id="4" name="">
            <a:extLst xmlns:a="http://schemas.openxmlformats.org/drawingml/2006/main">
              <a:ext uri="{FF2B5EF4-FFF2-40B4-BE49-F238E27FC236}">
                <a16:creationId xmlns:a16="http://schemas.microsoft.com/office/drawing/2014/main" id="{0FA41577-B367-4D5E-A774-A6F6B9EE892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99E400-F873-4D34-BDCF-893ECB272ED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 finished")</a:t>
            </a:r>
          </a:p>
        </p:txBody>
      </p:sp>
      <p:sp>
        <p:nvSpPr>
          <p:cNvPr id="6" name="">
            <a:extLst xmlns:a="http://schemas.openxmlformats.org/drawingml/2006/main">
              <a:ext uri="{FF2B5EF4-FFF2-40B4-BE49-F238E27FC236}">
                <a16:creationId xmlns:a16="http://schemas.microsoft.com/office/drawing/2014/main" id="{DFCAEC09-155E-4D6D-8DBC-F1717181413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39035FA-B6A9-4200-9379-5AFACBCFC08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28 &gt;= 30 is False, so the indented print is skipped.</a:t>
            </a:r>
          </a:p>
        </p:txBody>
      </p:sp>
      <p:sp>
        <p:nvSpPr>
          <p:cNvPr id="8" name="">
            <a:extLst xmlns:a="http://schemas.openxmlformats.org/drawingml/2006/main">
              <a:ext uri="{FF2B5EF4-FFF2-40B4-BE49-F238E27FC236}">
                <a16:creationId xmlns:a16="http://schemas.microsoft.com/office/drawing/2014/main" id="{6273604C-5B1C-46C1-97A3-828D32F22C7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print is outside the block.</a:t>
            </a:r>
          </a:p>
        </p:txBody>
      </p:sp>
      <p:sp>
        <p:nvSpPr>
          <p:cNvPr id="9" name="">
            <a:extLst xmlns:a="http://schemas.openxmlformats.org/drawingml/2006/main">
              <a:ext uri="{FF2B5EF4-FFF2-40B4-BE49-F238E27FC236}">
                <a16:creationId xmlns:a16="http://schemas.microsoft.com/office/drawing/2014/main" id="{AF99C0FA-C1B3-49BE-AE80-CF8B40EADCA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check finished</a:t>
            </a:r>
          </a:p>
        </p:txBody>
      </p:sp>
      <p:sp>
        <p:nvSpPr>
          <p:cNvPr id="10" name="">
            <a:extLst xmlns:a="http://schemas.openxmlformats.org/drawingml/2006/main">
              <a:ext uri="{FF2B5EF4-FFF2-40B4-BE49-F238E27FC236}">
                <a16:creationId xmlns:a16="http://schemas.microsoft.com/office/drawing/2014/main" id="{240BD54E-97AF-481B-A94E-20181871EF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37</a:t>
            </a:r>
          </a:p>
        </p:txBody>
      </p:sp>
    </p:spTree>
    <p:extLst>
      <p:ext uri="{BB962C8B-B14F-4D97-AF65-F5344CB8AC3E}">
        <p14:creationId xmlns:p14="http://schemas.microsoft.com/office/powerpoint/2010/main" val="185448029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9C43F14-F50D-489B-8D91-80996B2146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5D501F-EA1C-4342-A31B-340E7CB341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386E7BD-D222-4A5C-9C2A-4A40EB9CB3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Value of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lines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check finished</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DE350776-729C-4C88-9FFF-4D726534C2B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indented line is conditional. The outside line runs on either path.</a:t>
            </a:r>
          </a:p>
        </p:txBody>
      </p:sp>
      <p:sp>
        <p:nvSpPr>
          <p:cNvPr id="6" name="">
            <a:extLst xmlns:a="http://schemas.openxmlformats.org/drawingml/2006/main">
              <a:ext uri="{FF2B5EF4-FFF2-40B4-BE49-F238E27FC236}">
                <a16:creationId xmlns:a16="http://schemas.microsoft.com/office/drawing/2014/main" id="{B71F337D-0B5E-4985-BA39-8C599EDBBD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38</a:t>
            </a:r>
          </a:p>
        </p:txBody>
      </p:sp>
    </p:spTree>
    <p:extLst>
      <p:ext uri="{BB962C8B-B14F-4D97-AF65-F5344CB8AC3E}">
        <p14:creationId xmlns:p14="http://schemas.microsoft.com/office/powerpoint/2010/main" val="145514262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A171BD-D6E3-494F-9DD9-26C1117586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A9D344-4A58-4F99-BCA7-57C07E83E3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202BD6C-2B00-4A0E-97A1-77B4528959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else gives the other path</a:t>
            </a:r>
          </a:p>
        </p:txBody>
      </p:sp>
      <p:sp>
        <p:nvSpPr>
          <p:cNvPr id="4" name="">
            <a:extLst xmlns:a="http://schemas.openxmlformats.org/drawingml/2006/main">
              <a:ext uri="{FF2B5EF4-FFF2-40B4-BE49-F238E27FC236}">
                <a16:creationId xmlns:a16="http://schemas.microsoft.com/office/drawing/2014/main" id="{277A8B15-915B-4323-82D1-240BEB2AF6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33385A-BEDA-4105-B5C2-81E5483CAB7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else means “otherwise”. It has a colon but no extra condition. Align else with its matching if.</a:t>
            </a:r>
          </a:p>
        </p:txBody>
      </p:sp>
      <p:sp>
        <p:nvSpPr>
          <p:cNvPr id="6" name="">
            <a:extLst xmlns:a="http://schemas.openxmlformats.org/drawingml/2006/main">
              <a:ext uri="{FF2B5EF4-FFF2-40B4-BE49-F238E27FC236}">
                <a16:creationId xmlns:a16="http://schemas.microsoft.com/office/drawing/2014/main" id="{85000866-2DC4-41A0-9CF3-8FAD5105A3B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4977AEA-E9BF-4FD0-83CC-1CE53A77C6A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 block runs when its condition is True. The else block runs when that same condition is False. Only one of these blocks runs.</a:t>
            </a:r>
          </a:p>
        </p:txBody>
      </p:sp>
      <p:sp>
        <p:nvSpPr>
          <p:cNvPr id="8" name="">
            <a:extLst xmlns:a="http://schemas.openxmlformats.org/drawingml/2006/main">
              <a:ext uri="{FF2B5EF4-FFF2-40B4-BE49-F238E27FC236}">
                <a16:creationId xmlns:a16="http://schemas.microsoft.com/office/drawing/2014/main" id="{CD09941C-A3D0-46CA-9288-3BFFC5D7E40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08059C-D184-48D0-BB23-0B3A1D7F6CB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branch bodies are indented by four spaces. Returning to the left margin ends the whole decision.</a:t>
            </a:r>
          </a:p>
        </p:txBody>
      </p:sp>
      <p:sp>
        <p:nvSpPr>
          <p:cNvPr id="10" name="">
            <a:extLst xmlns:a="http://schemas.openxmlformats.org/drawingml/2006/main">
              <a:ext uri="{FF2B5EF4-FFF2-40B4-BE49-F238E27FC236}">
                <a16:creationId xmlns:a16="http://schemas.microsoft.com/office/drawing/2014/main" id="{8B4FF10E-3FB6-4C97-8906-6E7D1E6F91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39</a:t>
            </a:r>
          </a:p>
        </p:txBody>
      </p:sp>
    </p:spTree>
    <p:extLst>
      <p:ext uri="{BB962C8B-B14F-4D97-AF65-F5344CB8AC3E}">
        <p14:creationId xmlns:p14="http://schemas.microsoft.com/office/powerpoint/2010/main" val="29827638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991374F-127F-451C-9E0D-9D61ACBF80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719223-D388-4146-8D45-6E24F34DE7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D77866-C55B-403C-828D-4F83B5195A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A311A19B-1549-4267-9697-712FD97D521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5E9E0C-6225-4A17-86AD-466C746A5EE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A9897307-C0DB-4E7E-A369-2F126D78E84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E87C20D-E14F-4406-941C-DE64BC2F1F9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B332297F-0727-418B-AB3E-2FC235A069A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51C78C56-CB54-4424-8EA8-C7B89D47FA2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FABBF0B7-2D30-45E0-BA7D-AA6C815DD7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BCCA23C0-645C-482A-B745-6A7EA58E89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40</a:t>
            </a:r>
          </a:p>
        </p:txBody>
      </p:sp>
    </p:spTree>
    <p:extLst>
      <p:ext uri="{BB962C8B-B14F-4D97-AF65-F5344CB8AC3E}">
        <p14:creationId xmlns:p14="http://schemas.microsoft.com/office/powerpoint/2010/main" val="121376617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D24609-8D36-4AE3-A4C9-848DC6B001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ADAE22-1B40-4B11-BD42-8DC83F1242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3C9D05E-23FB-4E17-9C20-464D6EB88F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 else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temperature</a:t>
                      </a:r>
                    </a:p>
                  </a:txBody>
                  <a:tcPr marL="91440" marR="91440" marT="45720" marB="45720">
                    <a:solidFill>
                      <a:srgbClr val="2E7D6F"/>
                    </a:solidFill>
                  </a:tcPr>
                </a:tc>
                <a:tc>
                  <a:txBody>
                    <a:bodyPr/>
                    <a:lstStyle/>
                    <a:p>
                      <a:r>
                        <a:rPr sz="2025" b="1">
                          <a:solidFill>
                            <a:srgbClr val="FFFFFF"/>
                          </a:solidFill>
                          <a:latin typeface="Calibri"/>
                          <a:ea typeface="Calibri"/>
                          <a:cs typeface="Calibri"/>
                        </a:rPr>
                        <a:t>temperature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Selected 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below 30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DD5ACC7-1BA2-4AFA-AC23-420D7DC6B70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Re-run the complete previous example for each value. Exactly one branch prints.</a:t>
            </a:r>
          </a:p>
        </p:txBody>
      </p:sp>
      <p:sp>
        <p:nvSpPr>
          <p:cNvPr id="6" name="">
            <a:extLst xmlns:a="http://schemas.openxmlformats.org/drawingml/2006/main">
              <a:ext uri="{FF2B5EF4-FFF2-40B4-BE49-F238E27FC236}">
                <a16:creationId xmlns:a16="http://schemas.microsoft.com/office/drawing/2014/main" id="{2AA37A73-E089-458A-AE8D-07AA5E4D68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41</a:t>
            </a:r>
          </a:p>
        </p:txBody>
      </p:sp>
    </p:spTree>
    <p:extLst>
      <p:ext uri="{BB962C8B-B14F-4D97-AF65-F5344CB8AC3E}">
        <p14:creationId xmlns:p14="http://schemas.microsoft.com/office/powerpoint/2010/main" val="39661225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8F74FE-22A5-436C-B451-D785304FC8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BA2DE6-4B01-462D-9F2D-AA68DCE3E5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1211D3-2DDE-4986-B1B6-90B20FCA01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C76BED33-D58C-40A6-BC94-BEDB3F999F6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41B2B3-1F96-4615-B5DE-E911C56E5BD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AB8B567-4B1D-4981-94C7-55A9BB9F896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A3082F47-0026-4F32-96D8-3E9010AFFFB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0B42E576-583F-444F-9D9F-E026418CA5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42</a:t>
            </a:r>
          </a:p>
        </p:txBody>
      </p:sp>
    </p:spTree>
    <p:extLst>
      <p:ext uri="{BB962C8B-B14F-4D97-AF65-F5344CB8AC3E}">
        <p14:creationId xmlns:p14="http://schemas.microsoft.com/office/powerpoint/2010/main" val="18467447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43F903A-D106-4F4A-BDED-F56B40A24D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F7B8A6-8983-47F6-B9B0-5A16A98709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34D7D56-43DF-4659-90E4-4C380F4A67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47DDC44D-863C-447F-B108-4CCB3E22434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D3E7A5-5469-4480-98F1-C6D588FE6D3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83734A78-11BD-42A1-9D23-71A4ADACA8E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2DD863F-02DC-49C6-8A7C-DF212A53DEE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BC01750B-BB8F-4994-917F-5042905A00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C56E985A-2075-47C3-B038-C21D6CA7B2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43</a:t>
            </a:r>
          </a:p>
        </p:txBody>
      </p:sp>
    </p:spTree>
    <p:extLst>
      <p:ext uri="{BB962C8B-B14F-4D97-AF65-F5344CB8AC3E}">
        <p14:creationId xmlns:p14="http://schemas.microsoft.com/office/powerpoint/2010/main" val="65378238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4E834C-E590-4792-A81A-3133C8B4C9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553B1B-0CFA-4FE4-85BC-D7A09E3EA9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34FAC37-0D9E-45D9-980D-DD17FD6F67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if elif else chain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level</a:t>
                      </a:r>
                    </a:p>
                  </a:txBody>
                  <a:tcPr marL="91440" marR="91440" marT="45720" marB="45720">
                    <a:solidFill>
                      <a:srgbClr val="2E7D6F"/>
                    </a:solidFill>
                  </a:tcPr>
                </a:tc>
                <a:tc>
                  <a:txBody>
                    <a:bodyPr/>
                    <a:lstStyle/>
                    <a:p>
                      <a:r>
                        <a:rPr sz="2025" b="1">
                          <a:solidFill>
                            <a:srgbClr val="FFFFFF"/>
                          </a:solidFill>
                          <a:latin typeface="Calibri"/>
                          <a:ea typeface="Calibri"/>
                          <a:cs typeface="Calibri"/>
                        </a:rPr>
                        <a:t>Tests in order</a:t>
                      </a:r>
                    </a:p>
                  </a:txBody>
                  <a:tcPr marL="91440" marR="91440" marT="45720" marB="45720">
                    <a:solidFill>
                      <a:srgbClr val="2E7D6F"/>
                    </a:solidFill>
                  </a:tcPr>
                </a:tc>
                <a:tc>
                  <a:txBody>
                    <a:bodyPr/>
                    <a:lstStyle/>
                    <a:p>
                      <a:r>
                        <a:rPr sz="2025" b="1">
                          <a:solidFill>
                            <a:srgbClr val="FFFFFF"/>
                          </a:solidFill>
                          <a:latin typeface="Calibri"/>
                          <a:ea typeface="Calibri"/>
                          <a:cs typeface="Calibri"/>
                        </a:rPr>
                        <a:t>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7</a:t>
                      </a:r>
                    </a:p>
                  </a:txBody>
                  <a:tcPr marL="91440" marR="91440" marT="45720" marB="45720">
                    <a:solidFill>
                      <a:srgbClr val="EEF3F6"/>
                    </a:solidFill>
                  </a:tcPr>
                </a:tc>
                <a:tc>
                  <a:txBody>
                    <a:bodyPr/>
                    <a:lstStyle/>
                    <a:p>
                      <a:r>
                        <a:rPr sz="2025" b="0">
                          <a:solidFill>
                            <a:srgbClr val="1C3144"/>
                          </a:solidFill>
                          <a:latin typeface="Calibri"/>
                          <a:ea typeface="Calibri"/>
                          <a:cs typeface="Calibri"/>
                        </a:rPr>
                        <a:t>7 &gt;= 10: False; 7 &gt;= 5: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medium</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10</a:t>
                      </a:r>
                    </a:p>
                  </a:txBody>
                  <a:tcPr marL="91440" marR="91440" marT="45720" marB="45720">
                    <a:solidFill>
                      <a:srgbClr val="FFFFFF"/>
                    </a:solidFill>
                  </a:tcPr>
                </a:tc>
                <a:tc>
                  <a:txBody>
                    <a:bodyPr/>
                    <a:lstStyle/>
                    <a:p>
                      <a:r>
                        <a:rPr sz="2025" b="0">
                          <a:solidFill>
                            <a:srgbClr val="1C3144"/>
                          </a:solidFill>
                          <a:latin typeface="Calibri"/>
                          <a:ea typeface="Calibri"/>
                          <a:cs typeface="Calibri"/>
                        </a:rPr>
                        <a:t>10 &gt;= 10: True; stop testing</a:t>
                      </a:r>
                    </a:p>
                  </a:txBody>
                  <a:tcPr marL="91440" marR="91440" marT="45720" marB="45720">
                    <a:solidFill>
                      <a:srgbClr val="FFFFFF"/>
                    </a:solidFill>
                  </a:tcPr>
                </a:tc>
                <a:tc>
                  <a:txBody>
                    <a:bodyPr/>
                    <a:lstStyle/>
                    <a:p>
                      <a:r>
                        <a:rPr sz="2025" b="0">
                          <a:solidFill>
                            <a:srgbClr val="1C3144"/>
                          </a:solidFill>
                          <a:latin typeface="Calibri"/>
                          <a:ea typeface="Calibri"/>
                          <a:cs typeface="Calibri"/>
                        </a:rPr>
                        <a:t>high</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10: False; 3 &gt;= 5: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low</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8F895A4-C3EE-471C-BC5D-0A79FFBDA29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stops at the first True branch. else runs when neither test passes.</a:t>
            </a:r>
          </a:p>
        </p:txBody>
      </p:sp>
      <p:sp>
        <p:nvSpPr>
          <p:cNvPr id="6" name="">
            <a:extLst xmlns:a="http://schemas.openxmlformats.org/drawingml/2006/main">
              <a:ext uri="{FF2B5EF4-FFF2-40B4-BE49-F238E27FC236}">
                <a16:creationId xmlns:a16="http://schemas.microsoft.com/office/drawing/2014/main" id="{297B25F9-C01C-47A5-8A9F-04306AA9E0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44</a:t>
            </a:r>
          </a:p>
        </p:txBody>
      </p:sp>
    </p:spTree>
    <p:extLst>
      <p:ext uri="{BB962C8B-B14F-4D97-AF65-F5344CB8AC3E}">
        <p14:creationId xmlns:p14="http://schemas.microsoft.com/office/powerpoint/2010/main" val="188959634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569CD6-9837-4E0F-B13D-4FFF132F20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BEBEEE-416B-4C96-BD1B-041A9F25F8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C5C191E-C5A8-44A9-8394-4DF869DC70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Combining and reversing conditions</a:t>
            </a:r>
          </a:p>
        </p:txBody>
      </p:sp>
      <p:sp>
        <p:nvSpPr>
          <p:cNvPr id="4" name="">
            <a:extLst xmlns:a="http://schemas.openxmlformats.org/drawingml/2006/main">
              <a:ext uri="{FF2B5EF4-FFF2-40B4-BE49-F238E27FC236}">
                <a16:creationId xmlns:a16="http://schemas.microsoft.com/office/drawing/2014/main" id="{0BAC2342-551D-47CA-BBBD-373C34E740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61E75E-EF08-4A2F-93FF-AF983B94D0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and asks for both conditions to be True. or asks for at least one to be True. not reverses a Boolean answer.</a:t>
            </a:r>
          </a:p>
        </p:txBody>
      </p:sp>
      <p:sp>
        <p:nvSpPr>
          <p:cNvPr id="6" name="">
            <a:extLst xmlns:a="http://schemas.openxmlformats.org/drawingml/2006/main">
              <a:ext uri="{FF2B5EF4-FFF2-40B4-BE49-F238E27FC236}">
                <a16:creationId xmlns:a16="http://schemas.microsoft.com/office/drawing/2014/main" id="{3AE9DAC2-6679-4C40-9AD9-447894BEB8B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45677D2-C655-43A2-9963-108DDBC70CE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to make each comparison readable: (reading &gt;= 20) and (reading &lt;= 30). This is an inclusive range check.</a:t>
            </a:r>
          </a:p>
        </p:txBody>
      </p:sp>
      <p:sp>
        <p:nvSpPr>
          <p:cNvPr id="8" name="">
            <a:extLst xmlns:a="http://schemas.openxmlformats.org/drawingml/2006/main">
              <a:ext uri="{FF2B5EF4-FFF2-40B4-BE49-F238E27FC236}">
                <a16:creationId xmlns:a16="http://schemas.microsoft.com/office/drawing/2014/main" id="{C01F9824-22BE-459A-9F70-C9419358573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8D860D-42F6-46DA-AA19-4D5568775CB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lessons we combine comparisons, so their results are Boolean. Python also permits other operand types; those are not needed for the shown checks.</a:t>
            </a:r>
          </a:p>
        </p:txBody>
      </p:sp>
      <p:sp>
        <p:nvSpPr>
          <p:cNvPr id="10" name="">
            <a:extLst xmlns:a="http://schemas.openxmlformats.org/drawingml/2006/main">
              <a:ext uri="{FF2B5EF4-FFF2-40B4-BE49-F238E27FC236}">
                <a16:creationId xmlns:a16="http://schemas.microsoft.com/office/drawing/2014/main" id="{68A85346-5030-4DB4-9176-AB8CA886F6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45</a:t>
            </a:r>
          </a:p>
        </p:txBody>
      </p:sp>
    </p:spTree>
    <p:extLst>
      <p:ext uri="{BB962C8B-B14F-4D97-AF65-F5344CB8AC3E}">
        <p14:creationId xmlns:p14="http://schemas.microsoft.com/office/powerpoint/2010/main" val="168480265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C870BC0-607C-4C78-8483-FC997C5C83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DE342F-A745-4F00-A0C8-B15F7BA052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AA9C7B3-9265-4B26-BC3F-D437FEB91F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and and or with Boolean inputs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Inputs</a:t>
                      </a:r>
                    </a:p>
                  </a:txBody>
                  <a:tcPr marL="91440" marR="91440" marT="45720" marB="45720">
                    <a:solidFill>
                      <a:srgbClr val="2E7D6F"/>
                    </a:solidFill>
                  </a:tcPr>
                </a:tc>
                <a:tc>
                  <a:txBody>
                    <a:bodyPr/>
                    <a:lstStyle/>
                    <a:p>
                      <a:r>
                        <a:rPr sz="2025" b="1">
                          <a:solidFill>
                            <a:srgbClr val="FFFFFF"/>
                          </a:solidFill>
                          <a:latin typeface="Calibri"/>
                          <a:ea typeface="Calibri"/>
                          <a:cs typeface="Calibri"/>
                        </a:rPr>
                        <a:t>and result</a:t>
                      </a:r>
                    </a:p>
                  </a:txBody>
                  <a:tcPr marL="91440" marR="91440" marT="45720" marB="45720">
                    <a:solidFill>
                      <a:srgbClr val="2E7D6F"/>
                    </a:solidFill>
                  </a:tcPr>
                </a:tc>
                <a:tc>
                  <a:txBody>
                    <a:bodyPr/>
                    <a:lstStyle/>
                    <a:p>
                      <a:r>
                        <a:rPr sz="2025" b="1">
                          <a:solidFill>
                            <a:srgbClr val="FFFFFF"/>
                          </a:solidFill>
                          <a:latin typeface="Calibri"/>
                          <a:ea typeface="Calibri"/>
                          <a:cs typeface="Calibri"/>
                        </a:rPr>
                        <a:t>or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True,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True,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False,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False,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DC6BB2F-B140-4BFF-8680-4BB06431FA2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not True gives False; not False gives True.</a:t>
            </a:r>
          </a:p>
        </p:txBody>
      </p:sp>
      <p:sp>
        <p:nvSpPr>
          <p:cNvPr id="6" name="">
            <a:extLst xmlns:a="http://schemas.openxmlformats.org/drawingml/2006/main">
              <a:ext uri="{FF2B5EF4-FFF2-40B4-BE49-F238E27FC236}">
                <a16:creationId xmlns:a16="http://schemas.microsoft.com/office/drawing/2014/main" id="{59333305-EE8E-43B1-8909-38CD15C0DE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46</a:t>
            </a:r>
          </a:p>
        </p:txBody>
      </p:sp>
    </p:spTree>
    <p:extLst>
      <p:ext uri="{BB962C8B-B14F-4D97-AF65-F5344CB8AC3E}">
        <p14:creationId xmlns:p14="http://schemas.microsoft.com/office/powerpoint/2010/main" val="82787668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3A4EC2-A12C-46ED-A1A6-80E366669B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B5F241-8516-4BD7-A9E8-6E739725AA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BBE849C-58BB-4AF3-90A0-6C788F0FDD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a permitted range</a:t>
            </a:r>
          </a:p>
        </p:txBody>
      </p:sp>
      <p:sp>
        <p:nvSpPr>
          <p:cNvPr id="4" name="">
            <a:extLst xmlns:a="http://schemas.openxmlformats.org/drawingml/2006/main">
              <a:ext uri="{FF2B5EF4-FFF2-40B4-BE49-F238E27FC236}">
                <a16:creationId xmlns:a16="http://schemas.microsoft.com/office/drawing/2014/main" id="{B11B6995-72FD-41F3-8933-E5238F4D677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623E97-DA47-4C08-B0AB-0C911F5BDF3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reading = 25</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inside = (reading &gt;= 20) and (reading &lt;=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print(inside)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print((reading &lt; 20) or (reading &gt;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print(not inside)</a:t>
            </a:r>
          </a:p>
        </p:txBody>
      </p:sp>
      <p:sp>
        <p:nvSpPr>
          <p:cNvPr id="6" name="">
            <a:extLst xmlns:a="http://schemas.openxmlformats.org/drawingml/2006/main">
              <a:ext uri="{FF2B5EF4-FFF2-40B4-BE49-F238E27FC236}">
                <a16:creationId xmlns:a16="http://schemas.microsoft.com/office/drawing/2014/main" id="{509A99C2-8138-4C0C-9ACD-B9012466349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BE4315E-95D1-44CE-948B-672DC0E2FC5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Both range comparisons are True.</a:t>
            </a:r>
          </a:p>
        </p:txBody>
      </p:sp>
      <p:sp>
        <p:nvSpPr>
          <p:cNvPr id="8" name="">
            <a:extLst xmlns:a="http://schemas.openxmlformats.org/drawingml/2006/main">
              <a:ext uri="{FF2B5EF4-FFF2-40B4-BE49-F238E27FC236}">
                <a16:creationId xmlns:a16="http://schemas.microsoft.com/office/drawing/2014/main" id="{EEB2D910-3B00-4C67-B100-7EDB111865A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outside-range comparisons are both False.</a:t>
            </a:r>
          </a:p>
        </p:txBody>
      </p:sp>
      <p:sp>
        <p:nvSpPr>
          <p:cNvPr id="9" name="">
            <a:extLst xmlns:a="http://schemas.openxmlformats.org/drawingml/2006/main">
              <a:ext uri="{FF2B5EF4-FFF2-40B4-BE49-F238E27FC236}">
                <a16:creationId xmlns:a16="http://schemas.microsoft.com/office/drawing/2014/main" id="{D47B4730-CC17-43B8-8057-FC86DB85C49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a:t>
            </a:r>
          </a:p>
        </p:txBody>
      </p:sp>
      <p:sp>
        <p:nvSpPr>
          <p:cNvPr id="10" name="">
            <a:extLst xmlns:a="http://schemas.openxmlformats.org/drawingml/2006/main">
              <a:ext uri="{FF2B5EF4-FFF2-40B4-BE49-F238E27FC236}">
                <a16:creationId xmlns:a16="http://schemas.microsoft.com/office/drawing/2014/main" id="{D7EA4648-65F9-460F-B5C4-E21E2BB707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47</a:t>
            </a:r>
          </a:p>
        </p:txBody>
      </p:sp>
    </p:spTree>
    <p:extLst>
      <p:ext uri="{BB962C8B-B14F-4D97-AF65-F5344CB8AC3E}">
        <p14:creationId xmlns:p14="http://schemas.microsoft.com/office/powerpoint/2010/main" val="113512657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B0E396-84A0-434C-998B-0E6EE99E37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380E30-E581-4A09-B5B4-1AEB2EB67A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15D06C-337C-487A-8A86-9A43B4BE52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a zero check comes first</a:t>
            </a:r>
          </a:p>
        </p:txBody>
      </p:sp>
      <p:sp>
        <p:nvSpPr>
          <p:cNvPr id="4" name="">
            <a:extLst xmlns:a="http://schemas.openxmlformats.org/drawingml/2006/main">
              <a:ext uri="{FF2B5EF4-FFF2-40B4-BE49-F238E27FC236}">
                <a16:creationId xmlns:a16="http://schemas.microsoft.com/office/drawing/2014/main" id="{B163E87C-3F6C-4A03-A0FB-CD3327455C4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1D7FA5-78AB-467E-A0FA-7E1F0BA0748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evaluates and from left to right. When the first Boolean comparison is False, it does not need to evaluate the second.</a:t>
            </a:r>
          </a:p>
        </p:txBody>
      </p:sp>
      <p:sp>
        <p:nvSpPr>
          <p:cNvPr id="6" name="">
            <a:extLst xmlns:a="http://schemas.openxmlformats.org/drawingml/2006/main">
              <a:ext uri="{FF2B5EF4-FFF2-40B4-BE49-F238E27FC236}">
                <a16:creationId xmlns:a16="http://schemas.microsoft.com/office/drawing/2014/main" id="{6CA67BEE-6FCB-4E58-80A6-06ABD353C20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A3A2F9-E108-4F93-A2DB-50CC7190399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simple zero guard, use if denominator == 0: before the division and return or handle that case explicitly.</a:t>
            </a:r>
          </a:p>
        </p:txBody>
      </p:sp>
      <p:sp>
        <p:nvSpPr>
          <p:cNvPr id="8" name="">
            <a:extLst xmlns:a="http://schemas.openxmlformats.org/drawingml/2006/main">
              <a:ext uri="{FF2B5EF4-FFF2-40B4-BE49-F238E27FC236}">
                <a16:creationId xmlns:a16="http://schemas.microsoft.com/office/drawing/2014/main" id="{C39DAA12-04AC-4D70-8627-DF5CF3726DC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CBB497-90E0-4E8B-ADA3-4B21F2E5ECF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will demonstrate that guard inside a function after learning how def and return work.</a:t>
            </a:r>
          </a:p>
        </p:txBody>
      </p:sp>
      <p:sp>
        <p:nvSpPr>
          <p:cNvPr id="10" name="">
            <a:extLst xmlns:a="http://schemas.openxmlformats.org/drawingml/2006/main">
              <a:ext uri="{FF2B5EF4-FFF2-40B4-BE49-F238E27FC236}">
                <a16:creationId xmlns:a16="http://schemas.microsoft.com/office/drawing/2014/main" id="{1F45CC38-3BF5-48BF-A144-32037ED01A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48</a:t>
            </a:r>
          </a:p>
        </p:txBody>
      </p:sp>
    </p:spTree>
    <p:extLst>
      <p:ext uri="{BB962C8B-B14F-4D97-AF65-F5344CB8AC3E}">
        <p14:creationId xmlns:p14="http://schemas.microsoft.com/office/powerpoint/2010/main" val="40641992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56C2DC-FE30-48D5-9C3B-ED81D6E8D3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223A57-1C60-4225-8E83-BB7B722A82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3294B79-E9F1-40DF-917E-BB4F667E37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9F7F8FCF-A65D-4BDC-AC84-93C67674C50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D51CD8-EFE0-4615-84D3-86A3300F557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6D737C3A-0686-4824-A0D6-217AA4E6BD0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052B0AE1-5F56-4701-8AF4-32F0588308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49</a:t>
            </a:r>
          </a:p>
        </p:txBody>
      </p:sp>
    </p:spTree>
    <p:extLst>
      <p:ext uri="{BB962C8B-B14F-4D97-AF65-F5344CB8AC3E}">
        <p14:creationId xmlns:p14="http://schemas.microsoft.com/office/powerpoint/2010/main" val="825620692"/>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1A1AB8-8983-4591-8E8F-34A352EDDE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0F485E-5AB8-473A-87EB-8A8FDBCE15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D50D109-2BBE-4531-B3AC-0DDBECD9EB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A3D27ABA-1E6A-4DE4-817F-B368286F5ED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1983FF-9828-4DC2-AAEA-D40C2006940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AB87BB81-C9A3-483C-96FD-0E43EDC7338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153224FC-9A82-463C-B416-5E974CA319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50</a:t>
            </a:r>
          </a:p>
        </p:txBody>
      </p:sp>
    </p:spTree>
    <p:extLst>
      <p:ext uri="{BB962C8B-B14F-4D97-AF65-F5344CB8AC3E}">
        <p14:creationId xmlns:p14="http://schemas.microsoft.com/office/powerpoint/2010/main" val="64826601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A8970DF-96DC-4B42-B55A-7700E0A5EE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94E769-015C-4116-B113-572B8D5C25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45F891-5FF5-470D-BDD2-8744AE5994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8421A055-CD44-47D5-8130-7BD40577FB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3C5FB3-AF41-4BAD-9A86-07D89134DB1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0AB9FC9F-D150-4C65-9BE8-55990E9688F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DCFD0F-0954-427F-934E-EB11A8868FA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49321D97-5064-49FB-B8E1-CD2CFECDDFC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33F1BD-225D-4933-A48C-D828845611A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44F3182F-6791-4A0F-B94D-271126E950A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B978949-77A1-46E7-B31D-21E518C415B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026E4C33-9987-4EE0-A22B-60C3CD2C95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51</a:t>
            </a:r>
          </a:p>
        </p:txBody>
      </p:sp>
    </p:spTree>
    <p:extLst>
      <p:ext uri="{BB962C8B-B14F-4D97-AF65-F5344CB8AC3E}">
        <p14:creationId xmlns:p14="http://schemas.microsoft.com/office/powerpoint/2010/main" val="76459019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C8B007-984E-407F-B90B-666F64C13C9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517E32-DFF9-4802-A81F-67DE93E9BB9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01e6d7548fc4704"/>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34E17D5-85AB-481F-A039-7DCAA666638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3E4637-576A-4430-BE3F-EB6E5A2CA875}"/>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211A64C3-29F0-4055-B1FE-4E79E2E3C6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52</a:t>
            </a:r>
          </a:p>
        </p:txBody>
      </p:sp>
    </p:spTree>
    <p:extLst>
      <p:ext uri="{BB962C8B-B14F-4D97-AF65-F5344CB8AC3E}">
        <p14:creationId xmlns:p14="http://schemas.microsoft.com/office/powerpoint/2010/main" val="35314361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D89EFD-0AC8-478C-9E4D-2E5F36CB68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20E13C-7AEF-4AB1-AC9E-9B6DDE0830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7DD28D9-7505-4FFD-B49C-275557DDC7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BEF8848C-7CAC-42A8-91A8-EF54346645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4C1CAF-065E-411B-B4E0-3BA629DB846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15EEC9C3-8294-4CFD-8B8B-5D36D4194BB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99F064B-D95B-4436-81A1-165011431B7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0ADED065-CCE7-421E-BF95-1DC87706439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5768BD8E-AD6C-4C34-AF6A-35C3FC3D826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06CC0D73-282F-4A83-820E-7A1C72FCEA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53</a:t>
            </a:r>
          </a:p>
        </p:txBody>
      </p:sp>
    </p:spTree>
    <p:extLst>
      <p:ext uri="{BB962C8B-B14F-4D97-AF65-F5344CB8AC3E}">
        <p14:creationId xmlns:p14="http://schemas.microsoft.com/office/powerpoint/2010/main" val="31337762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2F16C7-8977-453E-8442-BF809186E2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51E4FA-CA4F-4D69-AF27-184E43F583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CCB09DE-A6BF-48E3-BF57-9EF30F27D1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function call</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Python does</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Define</a:t>
                      </a:r>
                    </a:p>
                  </a:txBody>
                  <a:tcPr marL="91440" marR="91440" marT="45720" marB="45720">
                    <a:solidFill>
                      <a:srgbClr val="EEF3F6"/>
                    </a:solidFill>
                  </a:tcPr>
                </a:tc>
                <a:tc>
                  <a:txBody>
                    <a:bodyPr/>
                    <a:lstStyle/>
                    <a:p>
                      <a:r>
                        <a:rPr sz="2025" b="0">
                          <a:solidFill>
                            <a:srgbClr val="1C3144"/>
                          </a:solidFill>
                          <a:latin typeface="Calibri"/>
                          <a:ea typeface="Calibri"/>
                          <a:cs typeface="Calibri"/>
                        </a:rPr>
                        <a:t>Store the body; do not run it</a:t>
                      </a:r>
                    </a:p>
                  </a:txBody>
                  <a:tcPr marL="91440" marR="91440" marT="45720" marB="45720">
                    <a:solidFill>
                      <a:srgbClr val="EEF3F6"/>
                    </a:solidFill>
                  </a:tcPr>
                </a:tc>
                <a:tc>
                  <a:txBody>
                    <a:bodyPr/>
                    <a:lstStyle/>
                    <a:p>
                      <a:r>
                        <a:rPr sz="2025" b="0">
                          <a:solidFill>
                            <a:srgbClr val="1C3144"/>
                          </a:solidFill>
                          <a:latin typeface="Calibri"/>
                          <a:ea typeface="Calibri"/>
                          <a:cs typeface="Calibri"/>
                        </a:rPr>
                        <a:t>No printed output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Call double_value(4)</a:t>
                      </a:r>
                    </a:p>
                  </a:txBody>
                  <a:tcPr marL="91440" marR="91440" marT="45720" marB="45720">
                    <a:solidFill>
                      <a:srgbClr val="FFFFFF"/>
                    </a:solidFill>
                  </a:tcPr>
                </a:tc>
                <a:tc>
                  <a:txBody>
                    <a:bodyPr/>
                    <a:lstStyle/>
                    <a:p>
                      <a:r>
                        <a:rPr sz="2025" b="0">
                          <a:solidFill>
                            <a:srgbClr val="1C3144"/>
                          </a:solidFill>
                          <a:latin typeface="Calibri"/>
                          <a:ea typeface="Calibri"/>
                          <a:cs typeface="Calibri"/>
                        </a:rPr>
                        <a:t>Give parameter x the argument</a:t>
                      </a:r>
                    </a:p>
                  </a:txBody>
                  <a:tcPr marL="91440" marR="91440" marT="45720" marB="45720">
                    <a:solidFill>
                      <a:srgbClr val="FFFFFF"/>
                    </a:solidFill>
                  </a:tcPr>
                </a:tc>
                <a:tc>
                  <a:txBody>
                    <a:bodyPr/>
                    <a:lstStyle/>
                    <a:p>
                      <a:r>
                        <a:rPr sz="2025" b="0">
                          <a:solidFill>
                            <a:srgbClr val="1C3144"/>
                          </a:solidFill>
                          <a:latin typeface="Calibri"/>
                          <a:ea typeface="Calibri"/>
                          <a:cs typeface="Calibri"/>
                        </a:rPr>
                        <a:t>x is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return x * 2</a:t>
                      </a:r>
                    </a:p>
                  </a:txBody>
                  <a:tcPr marL="91440" marR="91440" marT="45720" marB="45720">
                    <a:solidFill>
                      <a:srgbClr val="EEF3F6"/>
                    </a:solidFill>
                  </a:tcPr>
                </a:tc>
                <a:tc>
                  <a:txBody>
                    <a:bodyPr/>
                    <a:lstStyle/>
                    <a:p>
                      <a:r>
                        <a:rPr sz="2025" b="0">
                          <a:solidFill>
                            <a:srgbClr val="1C3144"/>
                          </a:solidFill>
                          <a:latin typeface="Calibri"/>
                          <a:ea typeface="Calibri"/>
                          <a:cs typeface="Calibri"/>
                        </a:rPr>
                        <a:t>Calculate and return</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Assign and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Store returned 8 in answer; display</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72850AD-0EAA-4A6C-AE81-CC894F69601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sends a value back to the caller. print displays it. These are different actions.</a:t>
            </a:r>
          </a:p>
        </p:txBody>
      </p:sp>
      <p:sp>
        <p:nvSpPr>
          <p:cNvPr id="6" name="">
            <a:extLst xmlns:a="http://schemas.openxmlformats.org/drawingml/2006/main">
              <a:ext uri="{FF2B5EF4-FFF2-40B4-BE49-F238E27FC236}">
                <a16:creationId xmlns:a16="http://schemas.microsoft.com/office/drawing/2014/main" id="{71B13539-CE15-4C62-A6A4-DD054C47E9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54</a:t>
            </a:r>
          </a:p>
        </p:txBody>
      </p:sp>
    </p:spTree>
    <p:extLst>
      <p:ext uri="{BB962C8B-B14F-4D97-AF65-F5344CB8AC3E}">
        <p14:creationId xmlns:p14="http://schemas.microsoft.com/office/powerpoint/2010/main" val="669435712"/>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A208C7-F8B2-414B-A1F4-30F0D16F88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71EDAE-8839-4B74-AD6B-CF5671D9B2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E46723-62FA-4A3C-BDC1-786372753D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Passing inputs by position or by name</a:t>
            </a:r>
          </a:p>
        </p:txBody>
      </p:sp>
      <p:sp>
        <p:nvSpPr>
          <p:cNvPr id="4" name="">
            <a:extLst xmlns:a="http://schemas.openxmlformats.org/drawingml/2006/main">
              <a:ext uri="{FF2B5EF4-FFF2-40B4-BE49-F238E27FC236}">
                <a16:creationId xmlns:a16="http://schemas.microsoft.com/office/drawing/2014/main" id="{99591988-1995-4661-B50E-BBCF24C501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A96C113-86C2-42F5-BB1D-FF11A3CBC5F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def rectangle_area(length, width):, length and width are parameter names. A call supplies an argument value for each.</a:t>
            </a:r>
          </a:p>
        </p:txBody>
      </p:sp>
      <p:sp>
        <p:nvSpPr>
          <p:cNvPr id="6" name="">
            <a:extLst xmlns:a="http://schemas.openxmlformats.org/drawingml/2006/main">
              <a:ext uri="{FF2B5EF4-FFF2-40B4-BE49-F238E27FC236}">
                <a16:creationId xmlns:a16="http://schemas.microsoft.com/office/drawing/2014/main" id="{37002276-7E35-4252-B5C7-619286DCFED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1795A1-E49B-4031-B0C4-9BEC98A3166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rectangle_area(3, 2) binds 3 to length and 2 to width by position. rectangle_area(width=2, length=3) binds them by name.</a:t>
            </a:r>
          </a:p>
        </p:txBody>
      </p:sp>
      <p:sp>
        <p:nvSpPr>
          <p:cNvPr id="8" name="">
            <a:extLst xmlns:a="http://schemas.openxmlformats.org/drawingml/2006/main">
              <a:ext uri="{FF2B5EF4-FFF2-40B4-BE49-F238E27FC236}">
                <a16:creationId xmlns:a16="http://schemas.microsoft.com/office/drawing/2014/main" id="{9CD0CF14-6039-49CB-812E-782CDCF48B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88F5B29-BE1F-4E5E-B21E-83A2EE9B316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 inside a named argument labels an input for the call. Both calls run the same function body with the same two values.</a:t>
            </a:r>
          </a:p>
        </p:txBody>
      </p:sp>
      <p:sp>
        <p:nvSpPr>
          <p:cNvPr id="10" name="">
            <a:extLst xmlns:a="http://schemas.openxmlformats.org/drawingml/2006/main">
              <a:ext uri="{FF2B5EF4-FFF2-40B4-BE49-F238E27FC236}">
                <a16:creationId xmlns:a16="http://schemas.microsoft.com/office/drawing/2014/main" id="{B42C68BD-9D40-4D6F-990E-0E8A9015C3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55</a:t>
            </a:r>
          </a:p>
        </p:txBody>
      </p:sp>
    </p:spTree>
    <p:extLst>
      <p:ext uri="{BB962C8B-B14F-4D97-AF65-F5344CB8AC3E}">
        <p14:creationId xmlns:p14="http://schemas.microsoft.com/office/powerpoint/2010/main" val="1537698013"/>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BC2F206-61A1-4F4F-A70C-2C780ED202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B28D27-A41B-475F-80DB-CD5074D85C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54886E0-DC05-423B-BD82-DE8F94C5E1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D488F795-6AA8-4340-BD9D-7AF5F8BF12B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FFA691-CA1B-453C-B72F-4A34C880A42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FE199FC7-5D54-4437-B4F9-EBB20589222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219174D-6494-4098-85D4-5866AD64E3B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78A68ADE-E775-4874-B056-DBE9C24D59D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A19D71F6-D36F-4B1A-8B6A-54008081175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05A37631-5D14-4F14-9485-446D4266DF2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5FB579A0-B708-401D-8AA0-E1BAE00A77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56</a:t>
            </a:r>
          </a:p>
        </p:txBody>
      </p:sp>
    </p:spTree>
    <p:extLst>
      <p:ext uri="{BB962C8B-B14F-4D97-AF65-F5344CB8AC3E}">
        <p14:creationId xmlns:p14="http://schemas.microsoft.com/office/powerpoint/2010/main" val="10207563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E705F0-306A-4E4B-9F3A-42FFCBF6A1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256FC4-FA55-461F-979E-40C6DC5BF6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E793F5-2C09-4981-BF73-3EBAEAE0EC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None means there is no result value</a:t>
            </a:r>
          </a:p>
        </p:txBody>
      </p:sp>
      <p:sp>
        <p:nvSpPr>
          <p:cNvPr id="4" name="">
            <a:extLst xmlns:a="http://schemas.openxmlformats.org/drawingml/2006/main">
              <a:ext uri="{FF2B5EF4-FFF2-40B4-BE49-F238E27FC236}">
                <a16:creationId xmlns:a16="http://schemas.microsoft.com/office/drawing/2014/main" id="{9C62095B-35C2-4271-B870-3B272F8D7EE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DA2075-EC3E-459A-B4D4-0AA3CC6358C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a Python value used here to mean “no calculated answer”. It is not zero, an empty string, or the word "None".</a:t>
            </a:r>
          </a:p>
        </p:txBody>
      </p:sp>
      <p:sp>
        <p:nvSpPr>
          <p:cNvPr id="6" name="">
            <a:extLst xmlns:a="http://schemas.openxmlformats.org/drawingml/2006/main">
              <a:ext uri="{FF2B5EF4-FFF2-40B4-BE49-F238E27FC236}">
                <a16:creationId xmlns:a16="http://schemas.microsoft.com/office/drawing/2014/main" id="{C9C63AD3-CE64-4058-8247-FED3E20E7EE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E81E19C-1C87-45C7-857E-798615326A6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returns None explicitly with return None. A function also returns None if it reaches its end without a return value.</a:t>
            </a:r>
          </a:p>
        </p:txBody>
      </p:sp>
      <p:sp>
        <p:nvSpPr>
          <p:cNvPr id="8" name="">
            <a:extLst xmlns:a="http://schemas.openxmlformats.org/drawingml/2006/main">
              <a:ext uri="{FF2B5EF4-FFF2-40B4-BE49-F238E27FC236}">
                <a16:creationId xmlns:a16="http://schemas.microsoft.com/office/drawing/2014/main" id="{578AD0F1-111E-4995-9B79-F1E59F83511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9BCB42-2D66-4095-8F6B-4E2A596127B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caller must handle None before trying arithmetic with the result. The next example returns it for division by zero.</a:t>
            </a:r>
          </a:p>
        </p:txBody>
      </p:sp>
      <p:sp>
        <p:nvSpPr>
          <p:cNvPr id="10" name="">
            <a:extLst xmlns:a="http://schemas.openxmlformats.org/drawingml/2006/main">
              <a:ext uri="{FF2B5EF4-FFF2-40B4-BE49-F238E27FC236}">
                <a16:creationId xmlns:a16="http://schemas.microsoft.com/office/drawing/2014/main" id="{B1F169D1-6EC7-4B93-8F6F-9434FD5E29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57</a:t>
            </a:r>
          </a:p>
        </p:txBody>
      </p:sp>
    </p:spTree>
    <p:extLst>
      <p:ext uri="{BB962C8B-B14F-4D97-AF65-F5344CB8AC3E}">
        <p14:creationId xmlns:p14="http://schemas.microsoft.com/office/powerpoint/2010/main" val="1164282929"/>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6A710D-367F-4518-A742-31C73FC14C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A9FC60-F851-46CA-A266-1CCD09B89F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84C5C4-F6E3-43DD-990C-8D2017A0DB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9049179E-898E-4FE9-8D7F-297926A8016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B94A87-C906-470D-9097-0D4E77F842C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FDC7BD9-F78D-4459-912D-0CAF998770E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801964A3-EA98-424C-AB8F-503BBA214D0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E4875D7F-8D47-4925-8FAA-8255861BF3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58</a:t>
            </a:r>
          </a:p>
        </p:txBody>
      </p:sp>
    </p:spTree>
    <p:extLst>
      <p:ext uri="{BB962C8B-B14F-4D97-AF65-F5344CB8AC3E}">
        <p14:creationId xmlns:p14="http://schemas.microsoft.com/office/powerpoint/2010/main" val="1884385381"/>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D5B2824-4E94-4A2B-8637-530A21F7EF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7B1935-BE11-45B1-86BD-F320B8C011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458C953-EFCF-44CC-922F-5BEF78CE5C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C72A1400-5E38-4BB6-99D6-0F645F05FB3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CC586E-A32A-44C9-83DB-C753EC5D3B8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751CCB28-A317-4630-BBAA-B2C2CFAB673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6CB1CE0-E66E-46E4-82EE-A6AD3A42E53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FA266AB1-3E10-4D6D-9CED-1199D1F913D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6E3EA314-4E27-43E6-BBC1-2A773E1000B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FB1ADEFF-DDB4-406E-8F12-D3131659A07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9EDEEEB6-139E-4095-9091-68F3862819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59</a:t>
            </a:r>
          </a:p>
        </p:txBody>
      </p:sp>
    </p:spTree>
    <p:extLst>
      <p:ext uri="{BB962C8B-B14F-4D97-AF65-F5344CB8AC3E}">
        <p14:creationId xmlns:p14="http://schemas.microsoft.com/office/powerpoint/2010/main" val="267381621"/>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2C951D-F482-4069-B8F7-B30392E399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E3B8CD-51E4-4DB3-8DA4-E94BDB78BB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4AFDC48-4CB1-4393-90FE-880909EBDC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division guard</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Call</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Returned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safe_share(12, 3)</a:t>
                      </a:r>
                    </a:p>
                  </a:txBody>
                  <a:tcPr marL="91440" marR="91440" marT="45720" marB="45720">
                    <a:solidFill>
                      <a:srgbClr val="EEF3F6"/>
                    </a:solidFill>
                  </a:tcPr>
                </a:tc>
                <a:tc>
                  <a:txBody>
                    <a:bodyPr/>
                    <a:lstStyle/>
                    <a:p>
                      <a:r>
                        <a:rPr sz="2025" b="0">
                          <a:solidFill>
                            <a:srgbClr val="1C3144"/>
                          </a:solidFill>
                          <a:latin typeface="Calibri"/>
                          <a:ea typeface="Calibri"/>
                          <a:cs typeface="Calibri"/>
                        </a:rPr>
                        <a:t>3 == 0 is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safe_share(12, 0)</a:t>
                      </a:r>
                    </a:p>
                  </a:txBody>
                  <a:tcPr marL="91440" marR="91440" marT="45720" marB="45720">
                    <a:solidFill>
                      <a:srgbClr val="FFFFFF"/>
                    </a:solidFill>
                  </a:tcPr>
                </a:tc>
                <a:tc>
                  <a:txBody>
                    <a:bodyPr/>
                    <a:lstStyle/>
                    <a:p>
                      <a:r>
                        <a:rPr sz="2025" b="0">
                          <a:solidFill>
                            <a:srgbClr val="1C3144"/>
                          </a:solidFill>
                          <a:latin typeface="Calibri"/>
                          <a:ea typeface="Calibri"/>
                          <a:cs typeface="Calibri"/>
                        </a:rPr>
                        <a:t>0 == 0 is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division is skipped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6BA0A32-AE5A-4E94-9E9A-D86436621282}"/>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ends this function call immediately. Later lines inside it do not run.</a:t>
            </a:r>
          </a:p>
        </p:txBody>
      </p:sp>
      <p:sp>
        <p:nvSpPr>
          <p:cNvPr id="6" name="">
            <a:extLst xmlns:a="http://schemas.openxmlformats.org/drawingml/2006/main">
              <a:ext uri="{FF2B5EF4-FFF2-40B4-BE49-F238E27FC236}">
                <a16:creationId xmlns:a16="http://schemas.microsoft.com/office/drawing/2014/main" id="{75CE00B2-5A79-4466-901B-C9F497E7D1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60</a:t>
            </a:r>
          </a:p>
        </p:txBody>
      </p:sp>
    </p:spTree>
    <p:extLst>
      <p:ext uri="{BB962C8B-B14F-4D97-AF65-F5344CB8AC3E}">
        <p14:creationId xmlns:p14="http://schemas.microsoft.com/office/powerpoint/2010/main" val="33500130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86C8B6-32FC-49FB-9FCD-A80EB29BE8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5D8E44-7B73-47DC-8C00-A3251307FA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EF7983-5A60-47A9-B911-155C9273CF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5F5D59B3-F3E2-4FE3-AF45-BD9C2D5385C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03B86FA-279D-429F-A2B6-EE8DB4D9B05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9A917DCB-5383-4285-AA96-006F56DB643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6F7E73-3BE1-4999-8EFA-F84BBE63DBB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02B3642D-5209-4BA7-8A66-2000B171813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242EFD-E8CA-457F-BF86-941C2F59548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BE0EADCC-F510-4650-B508-E8B28D7583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61</a:t>
            </a:r>
          </a:p>
        </p:txBody>
      </p:sp>
    </p:spTree>
    <p:extLst>
      <p:ext uri="{BB962C8B-B14F-4D97-AF65-F5344CB8AC3E}">
        <p14:creationId xmlns:p14="http://schemas.microsoft.com/office/powerpoint/2010/main" val="1150317488"/>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DD767EB-70CB-47C3-ADB0-BEC9BC5732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8BC9A4-9A27-4575-ABA7-B0101D1837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F615C36-F673-42BE-98C7-9113309ACC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943780AB-5AA5-402E-B40F-C8F4F0C0D0F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9958B6-876E-45C5-A553-350E4A09EE5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4B07B291-638C-4264-B7B2-6A33C5F7B2F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0579EA9-D969-4975-8FCC-315541C322C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06B1FBBC-CB89-4A60-B825-AD8355C735C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DFCA50EB-9096-4D62-AB72-BCFDA474A76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2EB0D622-EE3F-4F41-82D6-B75F644142F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3E742A7-6364-44AA-B828-67BA7E3396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62</a:t>
            </a:r>
          </a:p>
        </p:txBody>
      </p:sp>
    </p:spTree>
    <p:extLst>
      <p:ext uri="{BB962C8B-B14F-4D97-AF65-F5344CB8AC3E}">
        <p14:creationId xmlns:p14="http://schemas.microsoft.com/office/powerpoint/2010/main" val="1651138665"/>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550B437-3D21-4009-9EE3-68DEC371FA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C4BF0C-E16B-4EB7-9F2C-576781FE87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A4315E-C37B-480B-AB70-C6FF0DD2BC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25527018-8BDB-4D24-891E-D409103650F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B806FD-743F-4132-8850-FDAE5B74615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FD2CFF5-7F7F-4023-8F1C-6615C6571AD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B70B8784-E1F2-4B48-A1F1-3D1A1FAA4B3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37C4CA9A-18CC-42B8-9ED5-F63EDD5226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63</a:t>
            </a:r>
          </a:p>
        </p:txBody>
      </p:sp>
    </p:spTree>
    <p:extLst>
      <p:ext uri="{BB962C8B-B14F-4D97-AF65-F5344CB8AC3E}">
        <p14:creationId xmlns:p14="http://schemas.microsoft.com/office/powerpoint/2010/main" val="201254851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5E9C19-ABF5-495F-84B1-A49D3F9D47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60C7AE-C8DF-424B-A3ED-A1F1E1E70D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5877332-B29B-4D57-8E7A-D770609498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1DA3BA9-38A3-4111-A381-A186D0F25F2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D9EDB8F7-26D4-43A7-8C98-B531C60758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64</a:t>
            </a:r>
          </a:p>
        </p:txBody>
      </p:sp>
    </p:spTree>
    <p:extLst>
      <p:ext uri="{BB962C8B-B14F-4D97-AF65-F5344CB8AC3E}">
        <p14:creationId xmlns:p14="http://schemas.microsoft.com/office/powerpoint/2010/main" val="1426097024"/>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5DD167-7347-4FCF-8F93-6CC98756F5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73B5EE-EFAE-455F-B29B-70796AB02B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F4AD162-5D7A-4224-B262-0B0C428377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19A0A4B2-FC11-4196-B7FF-60A82098D45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D7650B-F398-4292-84A2-6782CBD20B8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8F464D2B-3FDF-4E9B-B0FA-F646DB3D254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0A9B81A-E155-468C-A76F-39AD2E55C5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91600947-7671-4D01-A5C0-7F0EF6871A1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083FB7-C37E-4618-86D8-659E919C66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28A8D99E-ADAC-427C-8551-8F6B20FB88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65</a:t>
            </a:r>
          </a:p>
        </p:txBody>
      </p:sp>
    </p:spTree>
    <p:extLst>
      <p:ext uri="{BB962C8B-B14F-4D97-AF65-F5344CB8AC3E}">
        <p14:creationId xmlns:p14="http://schemas.microsoft.com/office/powerpoint/2010/main" val="1787180432"/>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CF7ADB-9000-4FC4-A84C-3BA9ACAD09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FC41C4-070D-4DC8-BCF7-162FA376F2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887F884-12DE-4535-9828-5E6AECFBBE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items before choosing a position</a:t>
            </a:r>
          </a:p>
        </p:txBody>
      </p:sp>
      <p:sp>
        <p:nvSpPr>
          <p:cNvPr id="4" name="">
            <a:extLst xmlns:a="http://schemas.openxmlformats.org/drawingml/2006/main">
              <a:ext uri="{FF2B5EF4-FFF2-40B4-BE49-F238E27FC236}">
                <a16:creationId xmlns:a16="http://schemas.microsoft.com/office/drawing/2014/main" id="{FB24B928-DB96-4544-A884-9D6EC9C532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789CCF-E7B9-4539-AE67-7BC8BE78D9C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len(readings) is a built-in function call that returns how many items the list contains. len([98, 105, 92]) is 3.</a:t>
            </a:r>
          </a:p>
        </p:txBody>
      </p:sp>
      <p:sp>
        <p:nvSpPr>
          <p:cNvPr id="6" name="">
            <a:extLst xmlns:a="http://schemas.openxmlformats.org/drawingml/2006/main">
              <a:ext uri="{FF2B5EF4-FFF2-40B4-BE49-F238E27FC236}">
                <a16:creationId xmlns:a16="http://schemas.microsoft.com/office/drawing/2014/main" id="{D9EE7E7E-0C9E-4E90-9A2F-3033A84B773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6C9704-CDAB-4961-A63A-1AEB1B5E12E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 and an index are different: the count is 3, while the valid positions are 0, 1 and 2.</a:t>
            </a:r>
          </a:p>
        </p:txBody>
      </p:sp>
      <p:sp>
        <p:nvSpPr>
          <p:cNvPr id="8" name="">
            <a:extLst xmlns:a="http://schemas.openxmlformats.org/drawingml/2006/main">
              <a:ext uri="{FF2B5EF4-FFF2-40B4-BE49-F238E27FC236}">
                <a16:creationId xmlns:a16="http://schemas.microsoft.com/office/drawing/2014/main" id="{49BFFC67-A2FA-4799-B95E-619AE3EA5B2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EADA8CA-4A1F-4242-B8DA-DB860ECA32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print(readings) displays the whole list. print(readings[0]) displays only the value at its first position.</a:t>
            </a:r>
          </a:p>
        </p:txBody>
      </p:sp>
      <p:sp>
        <p:nvSpPr>
          <p:cNvPr id="10" name="">
            <a:extLst xmlns:a="http://schemas.openxmlformats.org/drawingml/2006/main">
              <a:ext uri="{FF2B5EF4-FFF2-40B4-BE49-F238E27FC236}">
                <a16:creationId xmlns:a16="http://schemas.microsoft.com/office/drawing/2014/main" id="{717ECA18-FA81-4CC3-BBC5-E6631B960F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66</a:t>
            </a:r>
          </a:p>
        </p:txBody>
      </p:sp>
    </p:spTree>
    <p:extLst>
      <p:ext uri="{BB962C8B-B14F-4D97-AF65-F5344CB8AC3E}">
        <p14:creationId xmlns:p14="http://schemas.microsoft.com/office/powerpoint/2010/main" val="616436534"/>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C1FA7D-D063-440F-9DDE-F1ECD52DD5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EAEF34-D394-409A-ACA2-9BC0B4767E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FC14CF3-4893-491F-B293-DDCD4700ED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ED3E0E6B-9711-4DE5-AE64-8D550F5414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80CCC4-046B-4A70-970C-3ADDA2CDF2D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7E9009C8-33F8-49AE-8E00-0EC4AE25F8C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38F63CB-50A0-4149-8187-F5196965124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A2E44A5D-968B-4454-BCB1-1CD3F2A56F4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81664F6F-6209-4A12-B1FA-40D8D867BC7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94703AB7-C9D2-4676-9498-9BFAFCED3A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67</a:t>
            </a:r>
          </a:p>
        </p:txBody>
      </p:sp>
    </p:spTree>
    <p:extLst>
      <p:ext uri="{BB962C8B-B14F-4D97-AF65-F5344CB8AC3E}">
        <p14:creationId xmlns:p14="http://schemas.microsoft.com/office/powerpoint/2010/main" val="1118232344"/>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16CC39-5579-495A-91AA-BD0356423E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C242DC-CF8C-4CA1-87B9-E3E1F8A8FC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9C4910E-4C0B-4FF9-922A-F8AFE49498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F9311283-EC70-452F-A09D-B4AB310A8C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77D5E3-0D27-4D93-AD7E-29AAB8EA388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D582AA0F-BF51-410B-BDC6-0CBEA22D3B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1CB189-D5BB-47D7-A3CD-B60D66C0395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C0A95A8D-261F-48D7-830F-32321A0FA6A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6B48AD-36C9-4E40-BB36-16C2C984BFC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D3BA97E6-17ED-4540-9470-92C8E165F8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68</a:t>
            </a:r>
          </a:p>
        </p:txBody>
      </p:sp>
    </p:spTree>
    <p:extLst>
      <p:ext uri="{BB962C8B-B14F-4D97-AF65-F5344CB8AC3E}">
        <p14:creationId xmlns:p14="http://schemas.microsoft.com/office/powerpoint/2010/main" val="146739517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09F7F5-4668-429C-AE4A-9264C279A7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DE7EF8-05C0-4114-830F-6DD81DA9A6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BE60E4-EEC3-4198-8BC7-6EF86763FC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479B4C06-4A6D-4310-8213-416FBE95FEB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673F9F-4A87-40A3-87C2-8AB11C5AB61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A44408E3-13F7-40D8-B480-80BC5EF7491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DE879D-A8D5-48AF-86C5-340BB30241F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B37FF044-4497-46BE-8077-5DF9D9915E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4F8262-3C10-4A5F-8C76-27BD96CA0A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B977E916-1D8D-4D18-B593-12CF3D96C7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69</a:t>
            </a:r>
          </a:p>
        </p:txBody>
      </p:sp>
    </p:spTree>
    <p:extLst>
      <p:ext uri="{BB962C8B-B14F-4D97-AF65-F5344CB8AC3E}">
        <p14:creationId xmlns:p14="http://schemas.microsoft.com/office/powerpoint/2010/main" val="756195441"/>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0EB06E-44A1-4557-943A-3E2BCA13B3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E46FC1-38B9-4712-BE1A-937D1F00B9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B4CDCA-76B6-421F-BC44-EF1E0356E0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DD2FB6B0-ECC4-48F6-9837-A2D40A0774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55324D-6F0A-4535-8945-CDAA007395D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6C6ACF65-DAD8-42A5-BA3E-D7E7A386B5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0D5FDC-4E27-4570-86D4-748EBCCCD23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CE0826A5-E9F4-4469-8B34-7412F43884C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5B31D2-B38F-47AE-A4FC-A5B903193B7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88FD7027-CBBA-4D53-9C2A-6635A7EA9B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70</a:t>
            </a:r>
          </a:p>
        </p:txBody>
      </p:sp>
    </p:spTree>
    <p:extLst>
      <p:ext uri="{BB962C8B-B14F-4D97-AF65-F5344CB8AC3E}">
        <p14:creationId xmlns:p14="http://schemas.microsoft.com/office/powerpoint/2010/main" val="2075796738"/>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E2A3A9-A687-4B7F-9E33-CED0D22D93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DA3DEE-12F4-4D41-8E9F-8E3629B24C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78DE2BF-E02A-4E2A-B2B8-2DFD3DBC52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3FC481DC-FF7D-46D8-BB41-B200EFDC9C2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7A3A87-14A1-43EC-AF4B-F8B24B56BA4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A1B2647B-0C74-433E-A508-0112522012F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20CB3411-EE47-4BC0-8087-530F57FE373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EC6ABA14-886F-422E-BD7C-FB11051C16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71</a:t>
            </a:r>
          </a:p>
        </p:txBody>
      </p:sp>
    </p:spTree>
    <p:extLst>
      <p:ext uri="{BB962C8B-B14F-4D97-AF65-F5344CB8AC3E}">
        <p14:creationId xmlns:p14="http://schemas.microsoft.com/office/powerpoint/2010/main" val="1707919717"/>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D026EB-05A9-42D5-AC79-BC30E4CB10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BFA4B9-20E5-4934-8914-4B05D62CBD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5403C40-41BE-4A39-880F-90F286FDB3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C60BBAF3-49B6-4C9A-8275-69D47D3C495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EEA823-8317-42D6-BEF8-97E999E0B37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25070A5-9DF2-4FC3-AE61-32A103A0DA9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3640F03C-A4B8-4B97-88DF-DA7DC885ADC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7F0AA6A9-0508-469D-97AB-CF961FA7CD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72</a:t>
            </a:r>
          </a:p>
        </p:txBody>
      </p:sp>
    </p:spTree>
    <p:extLst>
      <p:ext uri="{BB962C8B-B14F-4D97-AF65-F5344CB8AC3E}">
        <p14:creationId xmlns:p14="http://schemas.microsoft.com/office/powerpoint/2010/main" val="2123847872"/>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B0CD81-2921-44D6-A7CA-9EBD3FC35C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FF792B-F329-44E0-8722-C57744E8F4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C281EA7-617C-4BC3-9352-3008A5B6C0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1F56695B-E495-464B-A3E8-C71239FE5E4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121D72-31AD-493B-B1FC-76CF6E103A9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577ACAF6-A87F-4CA5-A3D2-EBB172CC022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83AFFD1D-02BB-4E5C-B9DC-DACCA83EE0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3897C0F8-98EA-4E0C-9012-3FFC7B4C3B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73</a:t>
            </a:r>
          </a:p>
        </p:txBody>
      </p:sp>
    </p:spTree>
    <p:extLst>
      <p:ext uri="{BB962C8B-B14F-4D97-AF65-F5344CB8AC3E}">
        <p14:creationId xmlns:p14="http://schemas.microsoft.com/office/powerpoint/2010/main" val="1569050253"/>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295E3D-9E44-4657-81F3-7F8549CBC7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0E549E-C337-4F3F-AD54-CBC4C4AFE8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54E613-4FAF-4178-A413-9450860DCD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9614846-395D-46F8-9DCE-810963416BB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69FEEE-C28B-403C-91A1-4A3136AB29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7AE5265-683C-44FF-AE65-09B39A9EF1D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E364F8A9-38EA-403A-AD4F-B3BC62374D2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E4E97482-CBBC-4546-BA98-F1CC60C6FC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74</a:t>
            </a:r>
          </a:p>
        </p:txBody>
      </p:sp>
    </p:spTree>
    <p:extLst>
      <p:ext uri="{BB962C8B-B14F-4D97-AF65-F5344CB8AC3E}">
        <p14:creationId xmlns:p14="http://schemas.microsoft.com/office/powerpoint/2010/main" val="1719272330"/>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C99943-1E4F-412D-A6FC-2372680FFF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483D3A-3F66-4E81-B730-6FC5367202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410CC0-3B50-4086-AF4A-FC9FC6A79E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B2FBF646-E55F-4DC2-8A7E-46C1067ECFC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C24DDA-B57E-498D-9782-74EC77DA503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3E3A913A-A6D3-4F7A-BB2E-1120A940048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6625E4-1BE8-4CDB-A4C4-EA50C2D2900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C4B9375B-6446-4DAC-8858-15FA1B5A682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95939E6-748C-41CE-BCBA-219CFCDA4D4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C9DFCBE3-E0B8-479A-919D-1ABC28F0EF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75</a:t>
            </a:r>
          </a:p>
        </p:txBody>
      </p:sp>
    </p:spTree>
    <p:extLst>
      <p:ext uri="{BB962C8B-B14F-4D97-AF65-F5344CB8AC3E}">
        <p14:creationId xmlns:p14="http://schemas.microsoft.com/office/powerpoint/2010/main" val="815570454"/>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47A4545-A05A-42C8-A8A7-F53C42B4EF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99EAA2-03ED-4965-9F3D-646A9E191D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1DFDF1-01D6-4D59-9188-994A60D1A5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B862760E-E421-49F5-A74C-7200763B6BF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8FDF91-5AFF-4B94-B66B-DD735667B75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Resistive power loss (W) = current (A) squared × resistance (ohms).</a:t>
            </a:r>
          </a:p>
        </p:txBody>
      </p:sp>
      <p:sp>
        <p:nvSpPr>
          <p:cNvPr id="6" name="">
            <a:extLst xmlns:a="http://schemas.openxmlformats.org/drawingml/2006/main">
              <a:ext uri="{FF2B5EF4-FFF2-40B4-BE49-F238E27FC236}">
                <a16:creationId xmlns:a16="http://schemas.microsoft.com/office/drawing/2014/main" id="{4EC7579C-A22C-4507-9442-CC50E9340B0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current ** 2 means current multiplied by itself.</a:t>
            </a:r>
          </a:p>
        </p:txBody>
      </p:sp>
      <p:sp>
        <p:nvSpPr>
          <p:cNvPr id="7" name="">
            <a:extLst xmlns:a="http://schemas.openxmlformats.org/drawingml/2006/main">
              <a:ext uri="{FF2B5EF4-FFF2-40B4-BE49-F238E27FC236}">
                <a16:creationId xmlns:a16="http://schemas.microsoft.com/office/drawing/2014/main" id="{67AB8EDA-305F-40D1-88A6-E807310757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76</a:t>
            </a:r>
          </a:p>
        </p:txBody>
      </p:sp>
    </p:spTree>
    <p:extLst>
      <p:ext uri="{BB962C8B-B14F-4D97-AF65-F5344CB8AC3E}">
        <p14:creationId xmlns:p14="http://schemas.microsoft.com/office/powerpoint/2010/main" val="209607662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A1D2317-54DC-4EE9-B3D4-D1F25A758C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67FD25-1E64-4BB5-B7FE-3277929A16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522B0C7-615D-43C4-9E33-8F772E34CD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337D59FC-4FC6-4B8A-9FFF-93EF7262AF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3D5E8F-134D-4638-B8A7-E10B9B91A34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21DE69F9-818B-4169-BF47-5CB7560DA0D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0D8622-0D1B-4E2A-95E9-21D25A11726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6295B85B-15AB-440F-93CC-2220EC777D4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C54259-AC50-4EE1-9523-6D3195C307E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EB78E800-C2D3-4F69-ADA3-E0DCEDE121E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21A2718-D120-44EE-A348-6F069E86EC3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DFE4B22A-04DE-4AA2-8FF1-0792E1F006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77</a:t>
            </a:r>
          </a:p>
        </p:txBody>
      </p:sp>
    </p:spTree>
    <p:extLst>
      <p:ext uri="{BB962C8B-B14F-4D97-AF65-F5344CB8AC3E}">
        <p14:creationId xmlns:p14="http://schemas.microsoft.com/office/powerpoint/2010/main" val="60904545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19F958-B543-4A2F-AF2D-4797D4A0B6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A69186-C0E0-48F9-BD02-6D252E62F1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E128973-7C6D-4B34-A8A3-7E5048E1FF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0F9E7283-8FC3-4D4A-9368-8C4401D2496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3D8425-598B-4E61-9A6C-33E60491D0DE}"/>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B108CC31-39E1-4355-BE20-5C6B8B3E821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9FB079-4CDF-4080-820A-BD52AAC9BE81}"/>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5656B51F-E245-41AD-A8A0-04B32F3F07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78</a:t>
            </a:r>
          </a:p>
        </p:txBody>
      </p:sp>
    </p:spTree>
    <p:extLst>
      <p:ext uri="{BB962C8B-B14F-4D97-AF65-F5344CB8AC3E}">
        <p14:creationId xmlns:p14="http://schemas.microsoft.com/office/powerpoint/2010/main" val="179293092"/>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D022D1-6B90-4F73-B3C1-9F39676C60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A50CDC-335E-44B0-9B58-CEF1DC1DEF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030CC9-0FB7-4B2E-8916-228BDFF6BA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E03AF1CF-C42B-4FEE-BEDF-6988DFB2F0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F6A8B4-D5B3-4027-94E4-7F776617B4A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52A62208-6222-43B0-B545-44F73E75E8E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D7EB51-60D1-4385-8CDF-9D55B3DC36C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9778D0EF-CCDE-484C-B04F-E296A38B537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479D94F-ECB0-4514-A5D7-58C33C94223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1B5DAEB5-BD28-4DE1-A585-FF452A4992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79</a:t>
            </a:r>
          </a:p>
        </p:txBody>
      </p:sp>
    </p:spTree>
    <p:extLst>
      <p:ext uri="{BB962C8B-B14F-4D97-AF65-F5344CB8AC3E}">
        <p14:creationId xmlns:p14="http://schemas.microsoft.com/office/powerpoint/2010/main" val="2859427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5CE46F9-3EED-4374-B8C5-D9E5FAD598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BD5ECC-ED66-47A6-B516-3C17315AC6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5463A6D-63B9-4431-B4E2-9BEB7FDBE0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C73D35FA-04D8-4329-B5FE-B98DEE0688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8CDAA89-F30C-4973-8E23-CDB671BE3D3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D72668D7-925E-4FDB-9553-84AD2540A50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FD70B41-EACF-4B89-8E1A-D982988B89C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8A1D5ECF-239C-4F0A-8EB3-5441D3953F2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E2EFDD8-57AF-48D2-B5DE-5625F9F6A5B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2E99BAEB-6939-4BEC-AE40-6B7B723AF51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8297F75-0C0C-4CE2-890B-FB81C54ECBF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E62F81FA-2B3B-48B9-B0F5-71347696D1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80</a:t>
            </a:r>
          </a:p>
        </p:txBody>
      </p:sp>
    </p:spTree>
    <p:extLst>
      <p:ext uri="{BB962C8B-B14F-4D97-AF65-F5344CB8AC3E}">
        <p14:creationId xmlns:p14="http://schemas.microsoft.com/office/powerpoint/2010/main" val="1197151639"/>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A3CC4F8-F8E1-412A-9C43-AA5C8577AB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C118E5-79C5-41D2-89E7-D14C9C9AB7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09E85DA-4590-4A8C-A86B-9597B60095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B45271DF-D9CC-4D46-A51B-1BD49BC2133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620DDD-E0C7-444A-B36F-00902559E3C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30A0CF2F-8571-4A46-88C2-3922A14442E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81A2E3B-377C-48AD-845D-5A0E94E36B9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20239AF-055D-435D-AD64-3BCC0EC5A7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81</a:t>
            </a:r>
          </a:p>
        </p:txBody>
      </p:sp>
    </p:spTree>
    <p:extLst>
      <p:ext uri="{BB962C8B-B14F-4D97-AF65-F5344CB8AC3E}">
        <p14:creationId xmlns:p14="http://schemas.microsoft.com/office/powerpoint/2010/main" val="490578103"/>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B6D364-DF24-472E-A0D5-0B4083C973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FA86C5-961B-43EC-8FA9-B0ED775A97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19F10C4-ED4C-4569-9B86-FF744BE1B4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5D1335D1-89D4-4E6A-9FA1-205263316B8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FBCB33-A7E3-48A0-991E-15D5E29A2EF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8FE47459-65EA-4C12-8098-D2805658543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6FD988E-C411-4D08-9FA7-F35DD181768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7F6FEFF-9961-4D02-8187-9C44C8AB5E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82</a:t>
            </a:r>
          </a:p>
        </p:txBody>
      </p:sp>
    </p:spTree>
    <p:extLst>
      <p:ext uri="{BB962C8B-B14F-4D97-AF65-F5344CB8AC3E}">
        <p14:creationId xmlns:p14="http://schemas.microsoft.com/office/powerpoint/2010/main" val="1145882427"/>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77B3B2B-1CBB-4A16-8791-DE54681838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EFD130-9415-49F8-8979-C1BEC9AB5F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4DEEAFB-4E26-4C3F-B4D9-598548015F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C765B89F-CDAB-44EB-906B-65646510892E}"/>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3A36D8-C322-47DB-9F13-D1F1329173E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power_loss(current, resistance) returning the power lost in watts (I squared R).</a:t>
            </a:r>
          </a:p>
        </p:txBody>
      </p:sp>
      <p:sp>
        <p:nvSpPr>
          <p:cNvPr id="6" name="">
            <a:extLst xmlns:a="http://schemas.openxmlformats.org/drawingml/2006/main">
              <a:ext uri="{FF2B5EF4-FFF2-40B4-BE49-F238E27FC236}">
                <a16:creationId xmlns:a16="http://schemas.microsoft.com/office/drawing/2014/main" id="{74C69AFB-38F4-4BBF-A92B-0C2C7C7C4D0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5E178C7-8D86-416D-B2C3-0E76E8EB0F4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B70A35D-95DC-4F58-8378-C7E13F1DC9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83</a:t>
            </a:r>
          </a:p>
        </p:txBody>
      </p:sp>
    </p:spTree>
    <p:extLst>
      <p:ext uri="{BB962C8B-B14F-4D97-AF65-F5344CB8AC3E}">
        <p14:creationId xmlns:p14="http://schemas.microsoft.com/office/powerpoint/2010/main" val="1797939811"/>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C48A20-5186-4761-B381-FE0C180D88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B44FEA-6C18-4955-980A-9F92D5EE19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45CA10D-FEC7-43CB-812D-A0F57ECDF4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A7B30D2B-9B1F-44D1-B6E6-3B98180DBF1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1F26A2-4B96-4F50-933C-FD112A5F726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A4B4AE07-A481-48B3-8994-9CAF7EB942C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22D5337-E4AD-45FE-A1A5-11A497B8DD6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DE5673A-645F-44B0-90F6-B0C1E56C64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84</a:t>
            </a:r>
          </a:p>
        </p:txBody>
      </p:sp>
    </p:spTree>
    <p:extLst>
      <p:ext uri="{BB962C8B-B14F-4D97-AF65-F5344CB8AC3E}">
        <p14:creationId xmlns:p14="http://schemas.microsoft.com/office/powerpoint/2010/main" val="1869976703"/>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8F2020-62E9-4DC7-903A-7CEC618C79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5C1BE0-C5E9-4AE0-8D8F-047496B9D6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86595B6-6BBF-4944-A4EC-FA4DE4643E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2B7D145A-60D4-4C49-9F96-B5B79413B8D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DCFEED-C46B-4DA4-B426-DB63BA2933D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7FC2D330-1A85-4740-ADC3-401A6471C80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28770C0-0EE2-46B0-AF76-69D0989D1A8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2A2FBE4-CA16-448E-A34B-6192766494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85</a:t>
            </a:r>
          </a:p>
        </p:txBody>
      </p:sp>
    </p:spTree>
    <p:extLst>
      <p:ext uri="{BB962C8B-B14F-4D97-AF65-F5344CB8AC3E}">
        <p14:creationId xmlns:p14="http://schemas.microsoft.com/office/powerpoint/2010/main" val="691486042"/>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CA95CFB-2AFA-4857-ABAC-C4ED29D6EE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1671B9-3F24-4A1E-88FE-45A2F3DC58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3DD7C38-A424-411B-8851-EBBB0B7FCD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9B85987A-6FD8-45B9-8280-5A12802BE4F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F561014-A3B7-46ED-89A6-3109ED4636F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25 Sep 2026, 11:00 Kampala</a:t>
            </a:r>
          </a:p>
        </p:txBody>
      </p:sp>
      <p:sp>
        <p:nvSpPr>
          <p:cNvPr id="6" name="">
            <a:extLst xmlns:a="http://schemas.openxmlformats.org/drawingml/2006/main">
              <a:ext uri="{FF2B5EF4-FFF2-40B4-BE49-F238E27FC236}">
                <a16:creationId xmlns:a16="http://schemas.microsoft.com/office/drawing/2014/main" id="{3D038146-EC69-4A45-9BB5-1E31B5744B8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0077A3-9AB7-45A0-B820-FDA0A35D037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02 Oct 2026, 11:00 Kampala</a:t>
            </a:r>
          </a:p>
        </p:txBody>
      </p:sp>
      <p:sp>
        <p:nvSpPr>
          <p:cNvPr id="8" name="">
            <a:extLst xmlns:a="http://schemas.openxmlformats.org/drawingml/2006/main">
              <a:ext uri="{FF2B5EF4-FFF2-40B4-BE49-F238E27FC236}">
                <a16:creationId xmlns:a16="http://schemas.microsoft.com/office/drawing/2014/main" id="{7FB7A8D2-6A80-44B3-B719-A88493D292B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57229A-A5DF-4271-BB3E-9D7E1E48BE7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5A5450E9-24A7-4FA3-9C37-7AAAE4BA3F5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5805B4-5BCE-4113-842B-5207CA622B5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D06E4D32-81A6-49E0-9CFE-FB16372ED61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427E76B-59B5-4525-8F95-8C885DB47E5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e6b758cd1e6414f"/>
              </a:rPr>
              <a:t>Open W03 assignment form</a:t>
            </a:r>
          </a:p>
        </p:txBody>
      </p:sp>
      <p:sp>
        <p:nvSpPr>
          <p:cNvPr id="14" name="">
            <a:extLst xmlns:a="http://schemas.openxmlformats.org/drawingml/2006/main">
              <a:ext uri="{FF2B5EF4-FFF2-40B4-BE49-F238E27FC236}">
                <a16:creationId xmlns:a16="http://schemas.microsoft.com/office/drawing/2014/main" id="{6FE5DFC6-CDA6-4A75-BA33-BD382E68A32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https://docs.google.com/forms/d/e/1FAIpQLSfKemYzDIRelE0iDCo_KsJvzw0jyw--Fy8lyJHvm-XpNoEQkQ/viewform</a:t>
            </a:r>
          </a:p>
        </p:txBody>
      </p:sp>
      <p:sp>
        <p:nvSpPr>
          <p:cNvPr id="15" name="">
            <a:extLst xmlns:a="http://schemas.openxmlformats.org/drawingml/2006/main">
              <a:ext uri="{FF2B5EF4-FFF2-40B4-BE49-F238E27FC236}">
                <a16:creationId xmlns:a16="http://schemas.microsoft.com/office/drawing/2014/main" id="{61ADF3BB-6BF2-440A-BC3C-E550532127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86</a:t>
            </a:r>
          </a:p>
        </p:txBody>
      </p:sp>
    </p:spTree>
    <p:extLst>
      <p:ext uri="{BB962C8B-B14F-4D97-AF65-F5344CB8AC3E}">
        <p14:creationId xmlns:p14="http://schemas.microsoft.com/office/powerpoint/2010/main" val="694542045"/>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39F56DF-F46A-4E7F-A39A-F1AFFEBA5F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A49012-ABBE-4590-B003-F7C9BA647D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946FEE2B-FF16-4908-831F-372C32E3B5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9D595B07-F0CB-4F9B-8216-BDDE9EF979E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BC4665-4296-4E8C-AB0B-4330AD04FDB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E434D88-0CE3-42FC-9D66-439ECB2A9EF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2EEB00-227A-44DA-9AB2-8C999AFE6077}"/>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DEBCF66B-52C7-4BD3-9F66-06E48DA88BA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BDCC8E0-A0B5-48B8-898C-1D028BD5B006}"/>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E522E0A6-3555-45B9-95CC-194CD461F3B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1C93C8C-4BBA-4555-B15D-61F1494F5D84}"/>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e5839f61ec145c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48DC1627-BA14-4E12-9EBF-3CF789AC190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6A409DE9-3EDB-4244-B396-9E8125443BE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684EC1B-2608-486D-8B55-30B363D0EB1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adf25f612a749ee"/>
              </a:rPr>
              <a:t>Open this week’s quiz</a:t>
            </a:r>
          </a:p>
        </p:txBody>
      </p:sp>
      <p:sp>
        <p:nvSpPr>
          <p:cNvPr id="16" name="">
            <a:extLst xmlns:a="http://schemas.openxmlformats.org/drawingml/2006/main">
              <a:ext uri="{FF2B5EF4-FFF2-40B4-BE49-F238E27FC236}">
                <a16:creationId xmlns:a16="http://schemas.microsoft.com/office/drawing/2014/main" id="{BCA55DE0-D0C5-4393-B9F2-921DEF8724C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https://forms.gle/vyTpTEpJUaAbAFbM9</a:t>
            </a:r>
          </a:p>
        </p:txBody>
      </p:sp>
      <p:sp>
        <p:nvSpPr>
          <p:cNvPr id="17" name="">
            <a:extLst xmlns:a="http://schemas.openxmlformats.org/drawingml/2006/main">
              <a:ext uri="{FF2B5EF4-FFF2-40B4-BE49-F238E27FC236}">
                <a16:creationId xmlns:a16="http://schemas.microsoft.com/office/drawing/2014/main" id="{64075AC6-14DA-4E4C-A59D-D2C38D5D42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87</a:t>
            </a:r>
          </a:p>
        </p:txBody>
      </p:sp>
    </p:spTree>
    <p:extLst>
      <p:ext uri="{BB962C8B-B14F-4D97-AF65-F5344CB8AC3E}">
        <p14:creationId xmlns:p14="http://schemas.microsoft.com/office/powerpoint/2010/main" val="443911220"/>
      </p:ext>
    </p:extLst>
  </p:cSld>
</p:sld>
</file>

<file path=ppt/slides/slide8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1B148FF-1F2A-459E-A1AA-40CE53C331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790D686-4E11-4D3B-ADD6-E4884682A5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D7E13E0A-D2DB-45CF-BEED-A9C74C2E931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4B6368E-8FBE-4D66-A1DC-2F819CD349F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CD35CB3-1523-4DF8-842F-E15BFBF4409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E0668363-B129-46DA-B060-27984FF47A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3   88</a:t>
            </a:r>
          </a:p>
        </p:txBody>
      </p:sp>
    </p:spTree>
    <p:extLst>
      <p:ext uri="{BB962C8B-B14F-4D97-AF65-F5344CB8AC3E}">
        <p14:creationId xmlns:p14="http://schemas.microsoft.com/office/powerpoint/2010/main" val="188250224"/>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979EF11-2932-4A59-B60D-1798610201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B8FFDB-EBC8-4489-849A-9D759E22B7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4BF30EF2-6FF2-4B7D-92FB-EC6E402B33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8AE54E5E-76FF-40E2-965F-4AF50C1D779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A2B49C-614D-4277-87DE-776D2E5A04E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F5346696-F46A-4A72-BD97-DDCBDBB200A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683865E-DDF5-4ABE-8A65-1A057F12BAD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FEAE3852-86D1-4343-A058-B1790D26B94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8A355E-73F3-419E-AF24-4307364B816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85F34BD2-DB31-482D-9D44-7933017FCF7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329EA52-AD19-4283-9A67-907B95A6704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B5968D69-5DBD-4747-AEFB-1CDA621E179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BA74277-6F4A-448E-A237-401AF2C8A94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555db22fe624aa1"/>
              </a:rPr>
              <a:t>Open explainer video</a:t>
            </a:r>
          </a:p>
        </p:txBody>
      </p:sp>
      <p:sp>
        <p:nvSpPr>
          <p:cNvPr id="14" name="">
            <a:extLst xmlns:a="http://schemas.openxmlformats.org/drawingml/2006/main">
              <a:ext uri="{FF2B5EF4-FFF2-40B4-BE49-F238E27FC236}">
                <a16:creationId xmlns:a16="http://schemas.microsoft.com/office/drawing/2014/main" id="{CCDB2B07-1EB5-4957-B0B2-3C18E4CC52D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DF5A13AD-BFD9-45F8-B424-97877CCDF4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3   89</a:t>
            </a:r>
          </a:p>
        </p:txBody>
      </p:sp>
    </p:spTree>
    <p:extLst>
      <p:ext uri="{BB962C8B-B14F-4D97-AF65-F5344CB8AC3E}">
        <p14:creationId xmlns:p14="http://schemas.microsoft.com/office/powerpoint/2010/main" val="5377698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2026-09-28T21:46:12.2120000Z</dcterms:created>
  <dcterms:modified xsi:type="dcterms:W3CDTF">2026-09-28T21:46:12.2120000Z</dcterms:modified>
</coreProperties>
</file>