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today runs on formulas you already know from your own programme. The syntax rides along on familiar content, which is why this week works even though it is your first real programming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objective is the one this whole week is built around. It matters more than any piece of syntax, and it comes back in Week 10 when a leaking model reports a beautiful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of recall, then the new material. You can already run code and push it to GitHub; today it starts calculating something from your own discipline.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first question feels shaky, the Week 2 deck has a cheat-sheet slide with Restart and Run All on it. Get that habit settled before Week 5, when submitted notebooks start being run from a clean start by a program rather than by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of these are Week 2 material and all three get used today. git status especially: run it before and after everything for the first fortnight, until you stop having to think about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objection in this segment is a fair one and it gets a real answer. For a single calculation a calculator is faster, and the case for writing the formula down begins as soon as there is more than one calculation to 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answering the objection yourself before you turn the page. The commonest answer, 'because you can do it lots of times', is exactly right, and the four reasons on the next slide expand it into something you can use in an argument with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 three is the habit that matters most: feed the function a case whose answer you already know and confirm it agrees. Every practical from here on is marked partly on that, so it is worth building now. The last reason is why this week exists at all — from Week 8 the computer starts working out relationships you never supplied, and you cannot check that work without being fluent at expressing relationships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on two ideas. The second one, types, causes more beginner bugs than anything else in this course, and it is learned by writing code rather than by reading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common early misunderstanding, and it matters because `readings = readings + 5` is nonsense as an equation and perfectly sensible as an instruction.</a:t>
            </a:r>
          </a:p>
          <a:p/>
          <a:p>
            <a:r>
              <a:t>Read it right to left: take what is in readings, add five, put the result 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line is a forward reference on purpose. Everything read from a file arrives as text until you convert it, and meeting that idea now makes Week 4's crash make sense rather than feel arbitrary.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float behaviour is worth being precise about. 0.1 + 0.2 printing 0.30000000000000004 is the same phenomenon as a third having no exact decimal form, and it happens in every language that stores numbers in binary. The units point is the one that will actually cost you marks: Python has no idea what unit your number is in and it will never ask.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with everyone typing. The function is built one line at a time, with the unit of every value written down as it is defined. That ordering is the habit being taught, and it is what the function-library practical is marked against.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definition-versus-call distinction accounts for a large share of 'my code does nothing' reports. A beginner writes a perfect function, never calls it, and concludes Python is broken.</a:t>
            </a:r>
          </a:p>
          <a:p/>
          <a:p>
            <a:r>
              <a:t>The docstring — the text in triple quotes — is not decoration. It is where you state what the function does and what units it expects, and it is marked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sounds trivial and is not. Most beginner function bugs come from starting to type before deciding what the function is for, and they surface as wrong answers rather than as syntax errors. Step 4, writing the docstring first, works the way a specification does: a requirement you cannot state clearly produces a confused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output:</a:t>
            </a:r>
          </a:p>
          <a:p>
            <a:r>
              <a:t>    in 3000 W, out 1291 W, efficiency 43.0 %</a:t>
            </a:r>
          </a:p>
          <a:p/>
          <a:p>
            <a:r>
              <a:t>Every value has its unit in a comment beside it. That comment is the only defence you have against the trap in the box below the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Week 5 you will apply your functions to a whole column of data at once. A printing function is useless for that: it would print ten thousand lines and produce no column.</a:t>
            </a:r>
          </a:p>
          <a:p/>
          <a:p>
            <a:r>
              <a:t>A function may of course do both, but if it only prints, it is a dead 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on the foundations before the break. Question C is the one to dwell on, because it is the theme of the whole week and the answer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is the sentence to carry for the rest of the semester. Python ignores your unit comments and you do not, and the comment exists for the only part of the system able to catch a factor-of-a-thousand error, which is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The practical after the break is the long one, at 35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You already write engineering decision rules — thresholds out of a code of practice, pass and fail bands, alarm set points — and an if-statement is notation for what you already do. This is the left-hand column from Week 1: the rule you write yourself.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130 and 155 degree limits come from the insulation class on the motor's datasheet. No data is needed to write this rule, which puts it in the left-hand column of the Week 1 diagram.</a:t>
            </a:r>
          </a:p>
          <a:p/>
          <a:p>
            <a:r>
              <a:t>An if-chain is checked top to bottom and stops at the first match. That is why the strictest condition goes first — reverse them and the strict branch becomes unreachable.</a:t>
            </a:r>
          </a:p>
          <a:p/>
          <a:p>
            <a:r>
              <a:t>else is the catch-all. Leave it out and a case that matches nothing returns None, which will confuse you later.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on reading tracebacks. Most beginners do not read them at all, which is expensive, because the message usually names both the type of problem and the line it happened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'traceback' means it is tracing back through the calls that led to the problem. For your code this week it will usually be two or three lines long.</a:t>
            </a:r>
          </a:p>
          <a:p/>
          <a:p>
            <a:r>
              <a:t>This exact error — adding text to a number — is the one you will hit in Week 4 when you read a file, because everything read from a file arrives as text.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trap in that list: a SyntaxError often points at the line after the real problem. An unclosed bracket is reported on the next line down, so when Python blames a line that looks perfect, check the line above it. The last entry on the slide has no name and no error message, and the next segment is about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print(type(x)) is the most underused diagnostic available to a beginner. It answers 'is this a number or is it text?', which is the cause of a large share of first-year errors.</a:t>
            </a:r>
          </a:p>
          <a:p/>
          <a:p>
            <a:r>
              <a:t>On step 6 — the course policy is that AI assistants are permitted and taught in coursework, with a short declaration of what you asked and what you changed, and prohibited in the two practical tests, which run offline. You are marked on what you can explain.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Thirty-five minutes building five functions from your own field. The expected value comes first: work out by hand what each function should return before you run it. A formula you cannot state an expected answer for is a formula you have not understood yet, and syntax help will not repair that.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rather than print. A function that returns hands back a value you can go on to use, and a printing function only gives you something to read. From Week 5 you will feed these into columns of data, and a printing function is useless for that.</a:t>
            </a:r>
          </a:p>
          <a:p/>
          <a:p>
            <a:r>
              <a:t>The two test values are the marked part. If you cannot say what answer to expect, you cannot tell whether you got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error is a gift. It is Python refusing to guess, and telling you exactly where it stopped.</a:t>
            </a:r>
          </a:p>
          <a:p/>
          <a:p>
            <a:r>
              <a:t>A silent wrong answer is the real hazard, and it is the one you will meet again in Week 10 when a model with a data leak reports a near-perfect score. The habit that protects you is the same in both cases: know roughly what the answer should be BEFORE you compute it, and check the one you got against the one you expected.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functions run cleanly and all six are wrong, which is the entire point. The belief that code which runs is code which is correct is the most dangerous thing to carry out of a first month of programming, and it is fatal in Week 10 when a leaking model reports a near-perfect score. Work the six questions on the slide in order — the first two, right size and right unit, catch most of them.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reflection paragraph carries real weight. Naming the bug you would most likely have written yourself makes you measurably less likely to write it. It is also the best preparation there is for the weekly quiz, where two of the five questions show code that runs and returns a wrong answer, so there is nothing to memorise for it and doing A3 honestly is the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past this slide is revision material: a summary, a self-test with worked answers, a twenty-term glossary and a one-page reference on writing a function you can defend.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statements covering the session. The last one is what this week exists for, and knowing the rough size of the answer before you compute it is the only defence against a wrong result that produces no error.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E has one intended answer and it is the theme of the week. Anything that notices the missing unit is right.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 is the sentence to carry all semester: ask for the unit before you ask whether the number is right. It comes back in Week 8, when model errors have to be reported in physical units rather than as a bare score.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terms. The last one has no Python keyword attached to it and is the most important on the list.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Photograph this slide. Every practical from here on is marked against some subset of these seven habits, and the units line accounts for more lost marks than the rest put together.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five minutes of every teaching session. Five questions, one per cent, and you see your score as you submit.</a:t>
            </a:r>
          </a:p>
          <a:p/>
          <a:p>
            <a:r>
              <a:t>Nothing on it can be answered without reading what it shows you, so there is nothing to revise for it beyond having done the session. Twelve run across the semester and the best ten count.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functions today produced confident, plausible, wrong answers and Python raised no objection to any of them. Your own engineering judgement caught what the computer could not. Watch for the same pattern in Week 8, when a model reports a good score, and in Week 10, when one reports an impossible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CML3111</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Python as an</a:t>
            </a:r>
          </a:p>
          <a:p>
            <a:pPr algn="l">
              <a:lnSpc>
                <a:spcPct val="105000"/>
              </a:lnSpc>
              <a:spcAft>
                <a:spcPts val="600"/>
              </a:spcAft>
            </a:pPr>
            <a:r>
              <a:rPr sz="4400" b="1" i="0">
                <a:solidFill>
                  <a:srgbClr val="FFFFFF"/>
                </a:solidFill>
                <a:latin typeface="Cambria"/>
              </a:rPr>
              <a:t>engineering calculator</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Variables, decisions, functions — and reading errors</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3  ·  Fri 25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11:00–14:00 · Room 115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what the equals sign actually does in Python, and why it is not equality.</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Use integers, floats, strings and booleans, and say what goes wrong when they are mixed.</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Write a function with parameters, a docstring, stated units and a return value.</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Turn a formula from your own discipline into a function, and test it against a value you already know.</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Write conditional logic that encodes an engineering decision rule.</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Read a Python traceback and name the line and the cause.</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Recognise a wrong answer that produced no error at all — and say how you would have caught it.</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3 · Python as an engineering calculator · nothing here needs prior programming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Where we got to</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You can run code and put it on GitHub. Today you make it calculate something you care about.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minutes: what stuck from Week 2?</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does Restart and Run All do, and why would you bother?</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cell shows [7] and the cell above it shows [3]. Should you trust the notebook's final answer?</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Which Git command tells you what has changed and where it currently is?</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Restart and Run All?</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Clears the kernel and runs every cell from the top in order. It is the only honest test that your notebook produces its results from nothing but itself.</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[7] above [3]?</a:t>
            </a:r>
          </a:p>
        </p:txBody>
      </p:sp>
      <p:sp>
        <p:nvSpPr>
          <p:cNvPr id="9" name="TextBox 8"/>
          <p:cNvSpPr txBox="1"/>
          <p:nvPr/>
        </p:nvSpPr>
        <p:spPr>
          <a:xfrm>
            <a:off x="1216152" y="3352897"/>
            <a:ext cx="10253167" cy="474012"/>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No. They were run out of order, so the kernel's memory does not match what the notebook looks like.</a:t>
            </a:r>
          </a:p>
        </p:txBody>
      </p:sp>
      <p:sp>
        <p:nvSpPr>
          <p:cNvPr id="10" name="Oval 9"/>
          <p:cNvSpPr/>
          <p:nvPr/>
        </p:nvSpPr>
        <p:spPr>
          <a:xfrm>
            <a:off x="685800" y="390006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386348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Which command?</a:t>
            </a:r>
          </a:p>
        </p:txBody>
      </p:sp>
      <p:sp>
        <p:nvSpPr>
          <p:cNvPr id="12" name="TextBox 11"/>
          <p:cNvSpPr txBox="1"/>
          <p:nvPr/>
        </p:nvSpPr>
        <p:spPr>
          <a:xfrm>
            <a:off x="1216152" y="4156093"/>
            <a:ext cx="10253167" cy="474012"/>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git status. Run it constantly until it is automatic.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Why write down a formula you already know?</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A fair question, and it deserves a real answer before you spend three hours on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TODAY STARTS WITH AN OBJECTION</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"You already know power is voltage times current. Why write it as code?"</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For one motor, a calculator is faster. The answer is what happens when it is not one motor.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WHY BOTHER</a:t>
            </a:r>
          </a:p>
        </p:txBody>
      </p:sp>
      <p:sp>
        <p:nvSpPr>
          <p:cNvPr id="3" name="TextBox 2"/>
          <p:cNvSpPr txBox="1"/>
          <p:nvPr/>
        </p:nvSpPr>
        <p:spPr>
          <a:xfrm>
            <a:off x="685800" y="950976"/>
            <a:ext cx="10820095" cy="128016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honest reasons, and one that matters more than the others</a:t>
            </a:r>
          </a:p>
        </p:txBody>
      </p:sp>
      <p:sp>
        <p:nvSpPr>
          <p:cNvPr id="4" name="TextBox 3"/>
          <p:cNvSpPr txBox="1"/>
          <p:nvPr/>
        </p:nvSpPr>
        <p:spPr>
          <a:xfrm>
            <a:off x="685800" y="2395728"/>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1 · You will do it four hundred times</a:t>
            </a:r>
          </a:p>
        </p:txBody>
      </p:sp>
      <p:sp>
        <p:nvSpPr>
          <p:cNvPr id="5" name="TextBox 4"/>
          <p:cNvSpPr txBox="1"/>
          <p:nvPr/>
        </p:nvSpPr>
        <p:spPr>
          <a:xfrm>
            <a:off x="685800" y="2783577"/>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Not once. Once per motor, per hour of data. From Week 5 the same formula is applied to a column of ten thousand rows in one line.</a:t>
            </a:r>
          </a:p>
        </p:txBody>
      </p:sp>
      <p:sp>
        <p:nvSpPr>
          <p:cNvPr id="6" name="TextBox 5"/>
          <p:cNvSpPr txBox="1"/>
          <p:nvPr/>
        </p:nvSpPr>
        <p:spPr>
          <a:xfrm>
            <a:off x="685800" y="3611094"/>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2 · It is inspectable</a:t>
            </a:r>
          </a:p>
        </p:txBody>
      </p:sp>
      <p:sp>
        <p:nvSpPr>
          <p:cNvPr id="7" name="TextBox 6"/>
          <p:cNvSpPr txBox="1"/>
          <p:nvPr/>
        </p:nvSpPr>
        <p:spPr>
          <a:xfrm>
            <a:off x="685800" y="3998943"/>
            <a:ext cx="5158587" cy="870943"/>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A number on a calculator screen carries no record of how it was produced. A function states its inputs, its units and its logic, and anyone can check it — including you, in six months.</a:t>
            </a:r>
          </a:p>
        </p:txBody>
      </p:sp>
      <p:sp>
        <p:nvSpPr>
          <p:cNvPr id="8" name="TextBox 7"/>
          <p:cNvSpPr txBox="1"/>
          <p:nvPr/>
        </p:nvSpPr>
        <p:spPr>
          <a:xfrm>
            <a:off x="6347307" y="2395728"/>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3 · It is testable</a:t>
            </a:r>
          </a:p>
        </p:txBody>
      </p:sp>
      <p:sp>
        <p:nvSpPr>
          <p:cNvPr id="9" name="TextBox 8"/>
          <p:cNvSpPr txBox="1"/>
          <p:nvPr/>
        </p:nvSpPr>
        <p:spPr>
          <a:xfrm>
            <a:off x="6347307" y="2783577"/>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You can feed it a case where you already know the answer and confirm it agrees. You cannot test a calculation you did in your head.</a:t>
            </a:r>
          </a:p>
        </p:txBody>
      </p:sp>
      <p:sp>
        <p:nvSpPr>
          <p:cNvPr id="10" name="TextBox 9"/>
          <p:cNvSpPr txBox="1"/>
          <p:nvPr/>
        </p:nvSpPr>
        <p:spPr>
          <a:xfrm>
            <a:off x="6347307" y="3611094"/>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4 · When the standard changes, you fix one line</a:t>
            </a:r>
          </a:p>
        </p:txBody>
      </p:sp>
      <p:sp>
        <p:nvSpPr>
          <p:cNvPr id="11" name="TextBox 10"/>
          <p:cNvSpPr txBox="1"/>
          <p:nvPr/>
        </p:nvSpPr>
        <p:spPr>
          <a:xfrm>
            <a:off x="6347307" y="3998943"/>
            <a:ext cx="5158587" cy="326890"/>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Not forty spreadsheets, of which you will find thirty-eight.</a:t>
            </a:r>
          </a:p>
        </p:txBody>
      </p:sp>
      <p:sp>
        <p:nvSpPr>
          <p:cNvPr id="12" name="TextBox 11"/>
          <p:cNvSpPr txBox="1"/>
          <p:nvPr/>
        </p:nvSpPr>
        <p:spPr>
          <a:xfrm>
            <a:off x="6347307" y="4554433"/>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And the one that matters most</a:t>
            </a:r>
          </a:p>
        </p:txBody>
      </p:sp>
      <p:sp>
        <p:nvSpPr>
          <p:cNvPr id="13" name="TextBox 12"/>
          <p:cNvSpPr txBox="1"/>
          <p:nvPr/>
        </p:nvSpPr>
        <p:spPr>
          <a:xfrm>
            <a:off x="6347307" y="4942282"/>
            <a:ext cx="5158587" cy="1142970"/>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From Week 8 the computer starts working out relationships you did not give it. You will not be able to check that work unless you are already fluent at expressing relationships yourself. This week is the foundation for trusting — or refusing to trust — a model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Variables and types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Two ideas, and the second one causes more beginner bugs than anything else in this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VARIABLES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the equals sign actually does</a:t>
            </a:r>
          </a:p>
        </p:txBody>
      </p:sp>
      <p:pic>
        <p:nvPicPr>
          <p:cNvPr id="4" name="Picture 3" descr="variable_box.png"/>
          <p:cNvPicPr>
            <a:picLocks noChangeAspect="1"/>
          </p:cNvPicPr>
          <p:nvPr/>
        </p:nvPicPr>
        <p:blipFill>
          <a:blip r:embed="rId2"/>
          <a:stretch>
            <a:fillRect/>
          </a:stretch>
        </p:blipFill>
        <p:spPr>
          <a:xfrm>
            <a:off x="1129969" y="1911095"/>
            <a:ext cx="9931757"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It is not equality. It means: work out the value on the right, then put it into the box named on the left. Assign to the same name again and the old value is simply gone.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The four types you need this week</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An INT is a whole number. A FLOAT has a decimal point. A STR is text, in quotes. A BOOL is True or False. Python decides which you have from how you wrote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thickness = 0.25 is a float. count = 12 is an int. name = "Bridge 4" is a string. passed = True is a boolean.</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What the value looks like on screen. "12" with quotes is text and you cannot do arithmetic with it — which is exactly the error you will hit in Week 4 when you read a file.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GOES WRONG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arithmetic traps, and how to see them coming</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Integer division</a:t>
            </a:r>
          </a:p>
        </p:txBody>
      </p:sp>
      <p:sp>
        <p:nvSpPr>
          <p:cNvPr id="5" name="TextBox 4"/>
          <p:cNvSpPr txBox="1"/>
          <p:nvPr/>
        </p:nvSpPr>
        <p:spPr>
          <a:xfrm>
            <a:off x="685800"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In Python 3, 7 / 2 is 3.5 — a float, as you would expect. But 7 // 2 is 3, because the double slash throws the remainder away. Use it deliberately or not at all.</a:t>
            </a:r>
          </a:p>
        </p:txBody>
      </p:sp>
      <p:sp>
        <p:nvSpPr>
          <p:cNvPr id="6" name="TextBox 5"/>
          <p:cNvSpPr txBox="1"/>
          <p:nvPr/>
        </p:nvSpPr>
        <p:spPr>
          <a:xfrm>
            <a:off x="685800"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Operator precedence</a:t>
            </a:r>
          </a:p>
        </p:txBody>
      </p:sp>
      <p:sp>
        <p:nvSpPr>
          <p:cNvPr id="7" name="TextBox 6"/>
          <p:cNvSpPr txBox="1"/>
          <p:nvPr/>
        </p:nvSpPr>
        <p:spPr>
          <a:xfrm>
            <a:off x="685800" y="4088012"/>
            <a:ext cx="5158587" cy="1738837"/>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Python follows the same rules you already use: brackets, then powers, then multiply and divide, then add and subtract. a + b / 2 is not (a + b) / 2. When in doubt, put the brackets in — they cost nothing and they document your intent.</a:t>
            </a:r>
          </a:p>
        </p:txBody>
      </p:sp>
      <p:sp>
        <p:nvSpPr>
          <p:cNvPr id="8" name="TextBox 7"/>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Floats are approximations</a:t>
            </a:r>
          </a:p>
        </p:txBody>
      </p:sp>
      <p:sp>
        <p:nvSpPr>
          <p:cNvPr id="9" name="TextBox 8"/>
          <p:cNvSpPr txBox="1"/>
          <p:nvPr/>
        </p:nvSpPr>
        <p:spPr>
          <a:xfrm>
            <a:off x="6347307" y="2352629"/>
            <a:ext cx="5158587" cy="1402042"/>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0.1 + 0.2 prints 0.30000000000000004. That is not a bug; it is what binary fractions do, in every language, and it is why you compare with a tolerance rather than with equals when it matters.</a:t>
            </a:r>
          </a:p>
        </p:txBody>
      </p:sp>
      <p:sp>
        <p:nvSpPr>
          <p:cNvPr id="10" name="TextBox 9"/>
          <p:cNvSpPr txBox="1"/>
          <p:nvPr/>
        </p:nvSpPr>
        <p:spPr>
          <a:xfrm>
            <a:off x="6347307" y="3983272"/>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And the trap that is not arithmetic at all</a:t>
            </a:r>
          </a:p>
        </p:txBody>
      </p:sp>
      <p:sp>
        <p:nvSpPr>
          <p:cNvPr id="11" name="TextBox 10"/>
          <p:cNvSpPr txBox="1"/>
          <p:nvPr/>
        </p:nvSpPr>
        <p:spPr>
          <a:xfrm>
            <a:off x="6347307" y="4424806"/>
            <a:ext cx="5158587" cy="2075632"/>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Units. Python has no idea whether 0.25 is metres or millimetres. It will multiply revolutions per minute and radians per second together without a murmur and hand you a confident wrong answer. Write the unit in a comment beside every value you define — every single one — and you will catch most of these before they happen.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Turning your formula into a function</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Everybody types. We build mechanical_power together, line by 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ANATOMY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parts of a function</a:t>
            </a:r>
          </a:p>
        </p:txBody>
      </p:sp>
      <p:pic>
        <p:nvPicPr>
          <p:cNvPr id="4" name="Picture 3" descr="function_anatomy.png"/>
          <p:cNvPicPr>
            <a:picLocks noChangeAspect="1"/>
          </p:cNvPicPr>
          <p:nvPr/>
        </p:nvPicPr>
        <p:blipFill>
          <a:blip r:embed="rId2"/>
          <a:stretch>
            <a:fillRect/>
          </a:stretch>
        </p:blipFill>
        <p:spPr>
          <a:xfrm>
            <a:off x="1286256" y="1911095"/>
            <a:ext cx="961918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Six parts, and one thing worth noticing: nothing happens when Python reads the definition. The recipe is only written down. It runs when you call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Turning a formula into a function, step by step</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The reasoning, before we type anything. This is the routine to use for every formula you convert for the rest of the course.</a:t>
            </a:r>
          </a:p>
        </p:txBody>
      </p:sp>
      <p:sp>
        <p:nvSpPr>
          <p:cNvPr id="5" name="Rounded Rectangle 4"/>
          <p:cNvSpPr/>
          <p:nvPr/>
        </p:nvSpPr>
        <p:spPr>
          <a:xfrm>
            <a:off x="685800" y="27323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Write the formula down in words first, with its units. What goes in, what comes out, and in what unit is the answer?</a:t>
            </a:r>
          </a:p>
        </p:txBody>
      </p:sp>
      <p:sp>
        <p:nvSpPr>
          <p:cNvPr id="8" name="Rounded Rectangle 7"/>
          <p:cNvSpPr/>
          <p:nvPr/>
        </p:nvSpPr>
        <p:spPr>
          <a:xfrm>
            <a:off x="685800" y="31895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2444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2352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Decide what varies and what does not. The things that vary become parameters; the things that do not can stay as values you define once.</a:t>
            </a:r>
          </a:p>
        </p:txBody>
      </p:sp>
      <p:sp>
        <p:nvSpPr>
          <p:cNvPr id="11" name="Rounded Rectangle 10"/>
          <p:cNvSpPr/>
          <p:nvPr/>
        </p:nvSpPr>
        <p:spPr>
          <a:xfrm>
            <a:off x="685800" y="36467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7016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6924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Name it for what it does. mechanical_power tells a reader what comes back; calc does not.</a:t>
            </a:r>
          </a:p>
        </p:txBody>
      </p:sp>
      <p:sp>
        <p:nvSpPr>
          <p:cNvPr id="14" name="Rounded Rectangle 13"/>
          <p:cNvSpPr/>
          <p:nvPr/>
        </p:nvSpPr>
        <p:spPr>
          <a:xfrm>
            <a:off x="685800" y="41039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1588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1496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Write the docstring before the body. If you cannot say in one line what it returns and in what unit, you are not ready to write it.</a:t>
            </a:r>
          </a:p>
        </p:txBody>
      </p:sp>
      <p:sp>
        <p:nvSpPr>
          <p:cNvPr id="17" name="Rounded Rectangle 16"/>
          <p:cNvSpPr/>
          <p:nvPr/>
        </p:nvSpPr>
        <p:spPr>
          <a:xfrm>
            <a:off x="685800" y="45611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6160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6068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Write the body as a single return statement wherever you can. One formula, one line.</a:t>
            </a:r>
          </a:p>
        </p:txBody>
      </p:sp>
      <p:sp>
        <p:nvSpPr>
          <p:cNvPr id="20" name="Rounded Rectangle 19"/>
          <p:cNvSpPr/>
          <p:nvPr/>
        </p:nvSpPr>
        <p:spPr>
          <a:xfrm>
            <a:off x="685800" y="5018347"/>
            <a:ext cx="10820095" cy="60678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5256" y="5073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22" name="TextBox 21"/>
          <p:cNvSpPr txBox="1"/>
          <p:nvPr/>
        </p:nvSpPr>
        <p:spPr>
          <a:xfrm>
            <a:off x="1435607" y="5064067"/>
            <a:ext cx="9814255" cy="515345"/>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Test it against a value you already know — from your notes, a worked example, or by hand. If you cannot state the expected answer, you cannot tell whether the function is right.</a:t>
            </a:r>
          </a:p>
        </p:txBody>
      </p:sp>
      <p:sp>
        <p:nvSpPr>
          <p:cNvPr id="23" name="Rounded Rectangle 22"/>
          <p:cNvSpPr/>
          <p:nvPr/>
        </p:nvSpPr>
        <p:spPr>
          <a:xfrm>
            <a:off x="685800" y="5734860"/>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 y="5872020"/>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Step 6 is the one that gets skipped, and it is the one that catches every bug in the Wrong Answer Hunt later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mechanical_power — type this with me</a:t>
            </a:r>
          </a:p>
        </p:txBody>
      </p:sp>
      <p:sp>
        <p:nvSpPr>
          <p:cNvPr id="4" name="Rounded Rectangle 3"/>
          <p:cNvSpPr/>
          <p:nvPr/>
        </p:nvSpPr>
        <p:spPr>
          <a:xfrm>
            <a:off x="8243316" y="512064"/>
            <a:ext cx="3262579"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OPEN COLAB — NEW NOTEBOOK</a:t>
            </a:r>
          </a:p>
        </p:txBody>
      </p:sp>
      <p:sp>
        <p:nvSpPr>
          <p:cNvPr id="5" name="Rectangle 4"/>
          <p:cNvSpPr/>
          <p:nvPr/>
        </p:nvSpPr>
        <p:spPr>
          <a:xfrm>
            <a:off x="685800" y="1911095"/>
            <a:ext cx="10820095" cy="352104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228441"/>
          </a:xfrm>
          <a:prstGeom prst="rect">
            <a:avLst/>
          </a:prstGeom>
          <a:noFill/>
        </p:spPr>
        <p:txBody>
          <a:bodyPr wrap="square" lIns="0" rIns="0" tIns="0" bIns="0" anchor="t">
            <a:spAutoFit/>
          </a:bodyPr>
          <a:lstStyle/>
          <a:p>
            <a:pPr algn="l">
              <a:lnSpc>
                <a:spcPts val="1795"/>
              </a:lnSpc>
              <a:spcAft>
                <a:spcPts val="0"/>
              </a:spcAft>
            </a:pPr>
            <a:r>
              <a:rPr sz="1320" b="0" i="0">
                <a:solidFill>
                  <a:srgbClr val="D8E3EC"/>
                </a:solidFill>
                <a:latin typeface="Courier New"/>
              </a:rPr>
              <a:t>def mechanical_power(torque_nm, rpm):</a:t>
            </a:r>
          </a:p>
          <a:p>
            <a:pPr algn="l">
              <a:lnSpc>
                <a:spcPts val="1795"/>
              </a:lnSpc>
              <a:spcAft>
                <a:spcPts val="0"/>
              </a:spcAft>
            </a:pPr>
            <a:r>
              <a:rPr sz="1320" b="0" i="0">
                <a:solidFill>
                  <a:srgbClr val="D8E3EC"/>
                </a:solidFill>
                <a:latin typeface="Courier New"/>
              </a:rPr>
              <a:t>    """Shaft power in watts from torque and rotational speed."""</a:t>
            </a:r>
          </a:p>
          <a:p>
            <a:pPr algn="l">
              <a:lnSpc>
                <a:spcPts val="1795"/>
              </a:lnSpc>
              <a:spcAft>
                <a:spcPts val="0"/>
              </a:spcAft>
            </a:pPr>
            <a:r>
              <a:rPr sz="1320" b="0" i="0">
                <a:solidFill>
                  <a:srgbClr val="D8E3EC"/>
                </a:solidFill>
                <a:latin typeface="Courier New"/>
              </a:rPr>
              <a:t>    return torque_nm * rpm * 2 * 3.14159 / 60.0</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voltage = 240.0     # volts</a:t>
            </a:r>
          </a:p>
          <a:p>
            <a:pPr algn="l">
              <a:lnSpc>
                <a:spcPts val="1795"/>
              </a:lnSpc>
              <a:spcAft>
                <a:spcPts val="0"/>
              </a:spcAft>
            </a:pPr>
            <a:r>
              <a:rPr sz="1320" b="0" i="0">
                <a:solidFill>
                  <a:srgbClr val="D8E3EC"/>
                </a:solidFill>
                <a:latin typeface="Courier New"/>
              </a:rPr>
              <a:t>current = 12.5      # amperes</a:t>
            </a:r>
          </a:p>
          <a:p>
            <a:pPr algn="l">
              <a:lnSpc>
                <a:spcPts val="1795"/>
              </a:lnSpc>
              <a:spcAft>
                <a:spcPts val="0"/>
              </a:spcAft>
            </a:pPr>
            <a:r>
              <a:rPr sz="1320" b="0" i="0">
                <a:solidFill>
                  <a:srgbClr val="D8E3EC"/>
                </a:solidFill>
                <a:latin typeface="Courier New"/>
              </a:rPr>
              <a:t>torque = 8.5        # newton metres</a:t>
            </a:r>
          </a:p>
          <a:p>
            <a:pPr algn="l">
              <a:lnSpc>
                <a:spcPts val="1795"/>
              </a:lnSpc>
              <a:spcAft>
                <a:spcPts val="0"/>
              </a:spcAft>
            </a:pPr>
            <a:r>
              <a:rPr sz="1320" b="0" i="0">
                <a:solidFill>
                  <a:srgbClr val="D8E3EC"/>
                </a:solidFill>
                <a:latin typeface="Courier New"/>
              </a:rPr>
              <a:t>speed = 1450.0      # revolutions per minute</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p_in = voltage * current</a:t>
            </a:r>
          </a:p>
          <a:p>
            <a:pPr algn="l">
              <a:lnSpc>
                <a:spcPts val="1795"/>
              </a:lnSpc>
              <a:spcAft>
                <a:spcPts val="0"/>
              </a:spcAft>
            </a:pPr>
            <a:r>
              <a:rPr sz="1320" b="0" i="0">
                <a:solidFill>
                  <a:srgbClr val="D8E3EC"/>
                </a:solidFill>
                <a:latin typeface="Courier New"/>
              </a:rPr>
              <a:t>p_out = mechanical_power(torque, speed)</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print(f"in {p_in:.0f} W, out {p_out:.0f} W, "</a:t>
            </a:r>
          </a:p>
          <a:p>
            <a:pPr algn="l">
              <a:lnSpc>
                <a:spcPts val="1795"/>
              </a:lnSpc>
              <a:spcAft>
                <a:spcPts val="0"/>
              </a:spcAft>
            </a:pPr>
            <a:r>
              <a:rPr sz="1320" b="0" i="0">
                <a:solidFill>
                  <a:srgbClr val="D8E3EC"/>
                </a:solidFill>
                <a:latin typeface="Courier New"/>
              </a:rPr>
              <a:t>      f"efficiency {100 * p_out / p_in:.1f} %")</a:t>
            </a:r>
          </a:p>
        </p:txBody>
      </p:sp>
      <p:sp>
        <p:nvSpPr>
          <p:cNvPr id="7" name="Rounded Rectangle 6"/>
          <p:cNvSpPr/>
          <p:nvPr/>
        </p:nvSpPr>
        <p:spPr>
          <a:xfrm>
            <a:off x="685800" y="565160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6074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Delete the / 60.0 from the function. Efficiency comes back as about 2,600 per cent. You spot that instantly because you know a motor cannot exceed a hundred per cent. Python knows nothing at all about motors.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return and print</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RETURN hands a value back to whoever called the function, so it can be used. PRINT puts characters on the screen and hands back nothing.</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result = mechanical_power(8.5, 1450) only works because the function returns. If it printed instead, volume would hold None and the next line would fail.</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Each other — and this is the commonest structural mistake in beginner code. A function that prints gives you something to look at. A function that returns gives you something to work with.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minutes: check the foundations</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thickness = 0.25, then thickness = 0.30. What is in thickness now, and what happened to 0.25?</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need to work out whether 7 divided by 2 should be 3.5 or 3 in your calculation. Which operator gives which?</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write the unit in a comment beside every value, when Python ignores comments entirely?</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 Write something for each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thickness after two assignments?</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0.30. The 0.25 is gone entirely — assignment replaces, it does not accumulate. There is no history in a variable.</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7 / 2 versus 7 // 2?</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A single slash gives 3.5, a float. A double slash gives 3, throwing the remainder away. Use // only when you actually want whole units — a number of bags, a number of bars — and never by accident.</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comment the units?</a:t>
            </a:r>
          </a:p>
        </p:txBody>
      </p:sp>
      <p:sp>
        <p:nvSpPr>
          <p:cNvPr id="12" name="TextBox 11"/>
          <p:cNvSpPr txBox="1"/>
          <p:nvPr/>
        </p:nvSpPr>
        <p:spPr>
          <a:xfrm>
            <a:off x="1216152" y="4502090"/>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Python ignores them and you do not. The computer will happily multiply millimetres by metres and hand you a confident answer that is wrong by a factor of a thousand. The comment is for the only part of the system that can catch that: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Encoding a decision rule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You already write engineering decision rules. An 'if' statement is just notation for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 rule you already know, written down</a:t>
            </a:r>
          </a:p>
        </p:txBody>
      </p:sp>
      <p:sp>
        <p:nvSpPr>
          <p:cNvPr id="4" name="Rounded Rectangle 3"/>
          <p:cNvSpPr/>
          <p:nvPr/>
        </p:nvSpPr>
        <p:spPr>
          <a:xfrm>
            <a:off x="8243316" y="512064"/>
            <a:ext cx="3262579"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READ IT BEFORE YOU RUN IT</a:t>
            </a:r>
          </a:p>
        </p:txBody>
      </p:sp>
      <p:sp>
        <p:nvSpPr>
          <p:cNvPr id="5" name="Rectangle 4"/>
          <p:cNvSpPr/>
          <p:nvPr/>
        </p:nvSpPr>
        <p:spPr>
          <a:xfrm>
            <a:off x="685800" y="1911095"/>
            <a:ext cx="10820095" cy="34640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71444"/>
          </a:xfrm>
          <a:prstGeom prst="rect">
            <a:avLst/>
          </a:prstGeom>
          <a:noFill/>
        </p:spPr>
        <p:txBody>
          <a:bodyPr wrap="square" lIns="0" rIns="0" tIns="0" bIns="0" anchor="t">
            <a:spAutoFit/>
          </a:bodyPr>
          <a:lstStyle/>
          <a:p>
            <a:pPr algn="l">
              <a:lnSpc>
                <a:spcPts val="2244"/>
              </a:lnSpc>
              <a:spcAft>
                <a:spcPts val="0"/>
              </a:spcAft>
            </a:pPr>
            <a:r>
              <a:rPr sz="1650" b="0" i="0">
                <a:solidFill>
                  <a:srgbClr val="D8E3EC"/>
                </a:solidFill>
                <a:latin typeface="Courier New"/>
              </a:rPr>
              <a:t>def temp_action(winding_c, ambient_c):</a:t>
            </a:r>
          </a:p>
          <a:p>
            <a:pPr algn="l">
              <a:lnSpc>
                <a:spcPts val="2244"/>
              </a:lnSpc>
              <a:spcAft>
                <a:spcPts val="0"/>
              </a:spcAft>
            </a:pPr>
            <a:r>
              <a:rPr sz="1650" b="0" i="0">
                <a:solidFill>
                  <a:srgbClr val="D8E3EC"/>
                </a:solidFill>
                <a:latin typeface="Courier New"/>
              </a:rPr>
              <a:t>    """Return the protective action for this winding temperature."""</a:t>
            </a:r>
          </a:p>
          <a:p>
            <a:pPr algn="l">
              <a:lnSpc>
                <a:spcPts val="2244"/>
              </a:lnSpc>
              <a:spcAft>
                <a:spcPts val="0"/>
              </a:spcAft>
            </a:pPr>
            <a:r>
              <a:rPr sz="1650" b="0" i="0">
                <a:solidFill>
                  <a:srgbClr val="D8E3EC"/>
                </a:solidFill>
                <a:latin typeface="Courier New"/>
              </a:rPr>
              <a:t>    rise = winding_c - ambient_c</a:t>
            </a:r>
          </a:p>
          <a:p>
            <a:pPr algn="l">
              <a:lnSpc>
                <a:spcPts val="2244"/>
              </a:lnSpc>
              <a:spcAft>
                <a:spcPts val="0"/>
              </a:spcAft>
            </a:pPr>
            <a:r>
              <a:rPr sz="1650" b="0" i="0">
                <a:solidFill>
                  <a:srgbClr val="D8E3EC"/>
                </a:solidFill>
                <a:latin typeface="Courier New"/>
              </a:rPr>
              <a:t>    if winding_c &gt; 155:</a:t>
            </a:r>
          </a:p>
          <a:p>
            <a:pPr algn="l">
              <a:lnSpc>
                <a:spcPts val="2244"/>
              </a:lnSpc>
              <a:spcAft>
                <a:spcPts val="0"/>
              </a:spcAft>
            </a:pPr>
            <a:r>
              <a:rPr sz="1650" b="0" i="0">
                <a:solidFill>
                  <a:srgbClr val="D8E3EC"/>
                </a:solidFill>
                <a:latin typeface="Courier New"/>
              </a:rPr>
              <a:t>        return "trip"</a:t>
            </a:r>
          </a:p>
          <a:p>
            <a:pPr algn="l">
              <a:lnSpc>
                <a:spcPts val="2244"/>
              </a:lnSpc>
              <a:spcAft>
                <a:spcPts val="0"/>
              </a:spcAft>
            </a:pPr>
            <a:r>
              <a:rPr sz="1650" b="0" i="0">
                <a:solidFill>
                  <a:srgbClr val="D8E3EC"/>
                </a:solidFill>
                <a:latin typeface="Courier New"/>
              </a:rPr>
              <a:t>    elif winding_c &gt; 130:</a:t>
            </a:r>
          </a:p>
          <a:p>
            <a:pPr algn="l">
              <a:lnSpc>
                <a:spcPts val="2244"/>
              </a:lnSpc>
              <a:spcAft>
                <a:spcPts val="0"/>
              </a:spcAft>
            </a:pPr>
            <a:r>
              <a:rPr sz="1650" b="0" i="0">
                <a:solidFill>
                  <a:srgbClr val="D8E3EC"/>
                </a:solidFill>
                <a:latin typeface="Courier New"/>
              </a:rPr>
              <a:t>        return "alarm"</a:t>
            </a:r>
          </a:p>
          <a:p>
            <a:pPr algn="l">
              <a:lnSpc>
                <a:spcPts val="2244"/>
              </a:lnSpc>
              <a:spcAft>
                <a:spcPts val="0"/>
              </a:spcAft>
            </a:pPr>
            <a:r>
              <a:rPr sz="1650" b="0" i="0">
                <a:solidFill>
                  <a:srgbClr val="D8E3EC"/>
                </a:solidFill>
                <a:latin typeface="Courier New"/>
              </a:rPr>
              <a:t>    elif rise &gt; 80:</a:t>
            </a:r>
          </a:p>
          <a:p>
            <a:pPr algn="l">
              <a:lnSpc>
                <a:spcPts val="2244"/>
              </a:lnSpc>
              <a:spcAft>
                <a:spcPts val="0"/>
              </a:spcAft>
            </a:pPr>
            <a:r>
              <a:rPr sz="1650" b="0" i="0">
                <a:solidFill>
                  <a:srgbClr val="D8E3EC"/>
                </a:solidFill>
                <a:latin typeface="Courier New"/>
              </a:rPr>
              <a:t>        return "investigate cooling"</a:t>
            </a:r>
          </a:p>
          <a:p>
            <a:pPr algn="l">
              <a:lnSpc>
                <a:spcPts val="2244"/>
              </a:lnSpc>
              <a:spcAft>
                <a:spcPts val="0"/>
              </a:spcAft>
            </a:pPr>
            <a:r>
              <a:rPr sz="1650" b="0" i="0">
                <a:solidFill>
                  <a:srgbClr val="D8E3EC"/>
                </a:solidFill>
                <a:latin typeface="Courier New"/>
              </a:rPr>
              <a:t>    else:</a:t>
            </a:r>
          </a:p>
          <a:p>
            <a:pPr algn="l">
              <a:lnSpc>
                <a:spcPts val="2244"/>
              </a:lnSpc>
              <a:spcAft>
                <a:spcPts val="0"/>
              </a:spcAft>
            </a:pPr>
            <a:r>
              <a:rPr sz="1650" b="0" i="0">
                <a:solidFill>
                  <a:srgbClr val="D8E3EC"/>
                </a:solidFill>
                <a:latin typeface="Courier New"/>
              </a:rPr>
              <a:t>        return "normal"</a:t>
            </a:r>
          </a:p>
        </p:txBody>
      </p:sp>
      <p:sp>
        <p:nvSpPr>
          <p:cNvPr id="7" name="Rounded Rectangle 6"/>
          <p:cNvSpPr/>
          <p:nvPr/>
        </p:nvSpPr>
        <p:spPr>
          <a:xfrm>
            <a:off x="685800" y="55946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037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Change the first threshold to be larger than the second and run it. Nothing errors, and some inputs now return the wrong action because the first branch catches them. Order matters in an if-chain, and getting it wrong is silent.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Reading an error</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Errors are the most useful output Python produces. Most beginners do not read them at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TRACEBACKS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anatomy of a traceback</a:t>
            </a:r>
          </a:p>
        </p:txBody>
      </p:sp>
      <p:pic>
        <p:nvPicPr>
          <p:cNvPr id="4" name="Picture 3" descr="traceback_anatomy.png"/>
          <p:cNvPicPr>
            <a:picLocks noChangeAspect="1"/>
          </p:cNvPicPr>
          <p:nvPr/>
        </p:nvPicPr>
        <p:blipFill>
          <a:blip r:embed="rId2"/>
          <a:stretch>
            <a:fillRect/>
          </a:stretch>
        </p:blipFill>
        <p:spPr>
          <a:xfrm>
            <a:off x="1446288" y="1911095"/>
            <a:ext cx="929911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Read the last line first. It names the error type and what Python actually wanted. Then look up one line for the code that failed, and at the line number for where it 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FIVE NAMES, AND ONE WITHOUT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five errors you will actually meet this week</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NameError</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used a name Python has never seen. Usually a typo, or a cell you did not run.</a:t>
            </a:r>
          </a:p>
        </p:txBody>
      </p:sp>
      <p:sp>
        <p:nvSpPr>
          <p:cNvPr id="6" name="TextBox 5"/>
          <p:cNvSpPr txBox="1"/>
          <p:nvPr/>
        </p:nvSpPr>
        <p:spPr>
          <a:xfrm>
            <a:off x="685800" y="3309683"/>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TypeError</a:t>
            </a:r>
          </a:p>
        </p:txBody>
      </p:sp>
      <p:sp>
        <p:nvSpPr>
          <p:cNvPr id="7" name="TextBox 6"/>
          <p:cNvSpPr txBox="1"/>
          <p:nvPr/>
        </p:nvSpPr>
        <p:spPr>
          <a:xfrm>
            <a:off x="685800" y="3751217"/>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did something to a value its type does not allow — most often arithmetic on text.</a:t>
            </a:r>
          </a:p>
        </p:txBody>
      </p:sp>
      <p:sp>
        <p:nvSpPr>
          <p:cNvPr id="8" name="TextBox 7"/>
          <p:cNvSpPr txBox="1"/>
          <p:nvPr/>
        </p:nvSpPr>
        <p:spPr>
          <a:xfrm>
            <a:off x="685800" y="4708270"/>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SyntaxError</a:t>
            </a:r>
          </a:p>
        </p:txBody>
      </p:sp>
      <p:sp>
        <p:nvSpPr>
          <p:cNvPr id="9" name="TextBox 8"/>
          <p:cNvSpPr txBox="1"/>
          <p:nvPr/>
        </p:nvSpPr>
        <p:spPr>
          <a:xfrm>
            <a:off x="685800" y="5149804"/>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Python could not even read the line. Look for a missing bracket, quote or colon, and check the line ABOVE the one it blames.</a:t>
            </a:r>
          </a:p>
        </p:txBody>
      </p:sp>
      <p:sp>
        <p:nvSpPr>
          <p:cNvPr id="10" name="TextBox 9"/>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IndentationError</a:t>
            </a:r>
          </a:p>
        </p:txBody>
      </p:sp>
      <p:sp>
        <p:nvSpPr>
          <p:cNvPr id="11" name="TextBox 10"/>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spacing at the start of a line is wrong. Python uses indentation to decide what is inside what.</a:t>
            </a:r>
          </a:p>
        </p:txBody>
      </p:sp>
      <p:sp>
        <p:nvSpPr>
          <p:cNvPr id="12" name="TextBox 11"/>
          <p:cNvSpPr txBox="1"/>
          <p:nvPr/>
        </p:nvSpPr>
        <p:spPr>
          <a:xfrm>
            <a:off x="6347307" y="3309683"/>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ZeroDivisionError</a:t>
            </a:r>
          </a:p>
        </p:txBody>
      </p:sp>
      <p:sp>
        <p:nvSpPr>
          <p:cNvPr id="13" name="TextBox 12"/>
          <p:cNvSpPr txBox="1"/>
          <p:nvPr/>
        </p:nvSpPr>
        <p:spPr>
          <a:xfrm>
            <a:off x="6347307" y="3751217"/>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Exactly what it says. Usually a variable you expected to have a value and which is zero.</a:t>
            </a:r>
          </a:p>
        </p:txBody>
      </p:sp>
      <p:sp>
        <p:nvSpPr>
          <p:cNvPr id="14" name="TextBox 13"/>
          <p:cNvSpPr txBox="1"/>
          <p:nvPr/>
        </p:nvSpPr>
        <p:spPr>
          <a:xfrm>
            <a:off x="6347307" y="4708270"/>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And the one with no name</a:t>
            </a:r>
          </a:p>
        </p:txBody>
      </p:sp>
      <p:sp>
        <p:nvSpPr>
          <p:cNvPr id="15" name="TextBox 14"/>
          <p:cNvSpPr txBox="1"/>
          <p:nvPr/>
        </p:nvSpPr>
        <p:spPr>
          <a:xfrm>
            <a:off x="6347307" y="5149804"/>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No error at all, and the answer is wrong. Python cannot help you here. This is what the next segment is about, and it is the whole point of the week.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Working through an error you have never seen before</a:t>
            </a:r>
          </a:p>
        </p:txBody>
      </p:sp>
      <p:sp>
        <p:nvSpPr>
          <p:cNvPr id="4" name="TextBox 3"/>
          <p:cNvSpPr txBox="1"/>
          <p:nvPr/>
        </p:nvSpPr>
        <p:spPr>
          <a:xfrm>
            <a:off x="685800" y="1911095"/>
            <a:ext cx="10820095" cy="410625"/>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You will meet errors this course never mentioned. This is the routine, and it works on all of them.</a:t>
            </a:r>
          </a:p>
        </p:txBody>
      </p:sp>
      <p:sp>
        <p:nvSpPr>
          <p:cNvPr id="5" name="Rounded Rectangle 4"/>
          <p:cNvSpPr/>
          <p:nvPr/>
        </p:nvSpPr>
        <p:spPr>
          <a:xfrm>
            <a:off x="685800" y="2376585"/>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4314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422305"/>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Read the LAST line. It names the error type and what Python actually wanted. Everything above it is context.</a:t>
            </a:r>
          </a:p>
        </p:txBody>
      </p:sp>
      <p:sp>
        <p:nvSpPr>
          <p:cNvPr id="8" name="Rounded Rectangle 7"/>
          <p:cNvSpPr/>
          <p:nvPr/>
        </p:nvSpPr>
        <p:spPr>
          <a:xfrm>
            <a:off x="685800" y="2833785"/>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8886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2879505"/>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Read the line of your code that it quotes. Not the line you think is wrong — the line Python says failed.</a:t>
            </a:r>
          </a:p>
        </p:txBody>
      </p:sp>
      <p:sp>
        <p:nvSpPr>
          <p:cNvPr id="11" name="Rounded Rectangle 10"/>
          <p:cNvSpPr/>
          <p:nvPr/>
        </p:nvSpPr>
        <p:spPr>
          <a:xfrm>
            <a:off x="685800" y="3290985"/>
            <a:ext cx="10820095" cy="60678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3458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336705"/>
            <a:ext cx="9814255" cy="515345"/>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Say out loud what you expected that line to be working with. 'I expected width to be a number.' Often the error is already obvious at this point.</a:t>
            </a:r>
          </a:p>
        </p:txBody>
      </p:sp>
      <p:sp>
        <p:nvSpPr>
          <p:cNvPr id="14" name="Rounded Rectangle 13"/>
          <p:cNvSpPr/>
          <p:nvPr/>
        </p:nvSpPr>
        <p:spPr>
          <a:xfrm>
            <a:off x="685800" y="3952634"/>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00749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3998354"/>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Check that assumption. Print the thing just before the failing line: print(width), print(type(width)). Most bugs die here.</a:t>
            </a:r>
          </a:p>
        </p:txBody>
      </p:sp>
      <p:sp>
        <p:nvSpPr>
          <p:cNvPr id="17" name="Rounded Rectangle 16"/>
          <p:cNvSpPr/>
          <p:nvPr/>
        </p:nvSpPr>
        <p:spPr>
          <a:xfrm>
            <a:off x="685800" y="4409834"/>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46469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455554"/>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If it is still unclear, search the exact error message — the last line, in quotes, without your variable names. Somebody has had it before.</a:t>
            </a:r>
          </a:p>
        </p:txBody>
      </p:sp>
      <p:sp>
        <p:nvSpPr>
          <p:cNvPr id="20" name="Rounded Rectangle 19"/>
          <p:cNvSpPr/>
          <p:nvPr/>
        </p:nvSpPr>
        <p:spPr>
          <a:xfrm>
            <a:off x="685800" y="4867034"/>
            <a:ext cx="10820095" cy="60678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5256" y="492189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22" name="TextBox 21"/>
          <p:cNvSpPr txBox="1"/>
          <p:nvPr/>
        </p:nvSpPr>
        <p:spPr>
          <a:xfrm>
            <a:off x="1435607" y="4912754"/>
            <a:ext cx="9814255" cy="515345"/>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If you use an AI assistant, paste the error AND your code and ask it to explain the cause. Do not ask it to rewrite your function — you will learn nothing and you have to be able to explain what you submit.</a:t>
            </a:r>
          </a:p>
        </p:txBody>
      </p:sp>
      <p:sp>
        <p:nvSpPr>
          <p:cNvPr id="23" name="Rounded Rectangle 22"/>
          <p:cNvSpPr/>
          <p:nvPr/>
        </p:nvSpPr>
        <p:spPr>
          <a:xfrm>
            <a:off x="685800" y="5583547"/>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 y="5720707"/>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Step 4 is where most bugs are actually found: print the thing, look at it, and check it is what you assumed.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Practical: a function library for your own discipline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Five functions from your own field, each with units stated and each tested against a value you already know.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PRACTICAL — 35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to build</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Five functions, and what each one needs</a:t>
            </a:r>
          </a:p>
        </p:txBody>
      </p:sp>
      <p:sp>
        <p:nvSpPr>
          <p:cNvPr id="5" name="TextBox 4"/>
          <p:cNvSpPr txBox="1"/>
          <p:nvPr/>
        </p:nvSpPr>
        <p:spPr>
          <a:xfrm>
            <a:off x="685800" y="2409332"/>
            <a:ext cx="5204307" cy="39577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A name that says what it does.</a:t>
            </a:r>
          </a:p>
        </p:txBody>
      </p:sp>
      <p:sp>
        <p:nvSpPr>
          <p:cNvPr id="6" name="TextBox 5"/>
          <p:cNvSpPr txBox="1"/>
          <p:nvPr/>
        </p:nvSpPr>
        <p:spPr>
          <a:xfrm>
            <a:off x="685800" y="2859971"/>
            <a:ext cx="5204307" cy="39577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A docstring stating what it returns and in what unit.</a:t>
            </a:r>
          </a:p>
        </p:txBody>
      </p:sp>
      <p:sp>
        <p:nvSpPr>
          <p:cNvPr id="7" name="TextBox 6"/>
          <p:cNvSpPr txBox="1"/>
          <p:nvPr/>
        </p:nvSpPr>
        <p:spPr>
          <a:xfrm>
            <a:off x="685800" y="3310610"/>
            <a:ext cx="5204307" cy="39577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The unit of every parameter, in a comment.</a:t>
            </a:r>
          </a:p>
        </p:txBody>
      </p:sp>
      <p:sp>
        <p:nvSpPr>
          <p:cNvPr id="8" name="TextBox 7"/>
          <p:cNvSpPr txBox="1"/>
          <p:nvPr/>
        </p:nvSpPr>
        <p:spPr>
          <a:xfrm>
            <a:off x="685800" y="3761249"/>
            <a:ext cx="5204307" cy="39577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A return value — not a print.</a:t>
            </a:r>
          </a:p>
        </p:txBody>
      </p:sp>
      <p:sp>
        <p:nvSpPr>
          <p:cNvPr id="9" name="TextBox 8"/>
          <p:cNvSpPr txBox="1"/>
          <p:nvPr/>
        </p:nvSpPr>
        <p:spPr>
          <a:xfrm>
            <a:off x="685800" y="4211888"/>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Two test values with the answer you expect, worked out by hand or from your notes.</a:t>
            </a:r>
          </a:p>
        </p:txBody>
      </p:sp>
      <p:sp>
        <p:nvSpPr>
          <p:cNvPr id="10" name="TextBox 9"/>
          <p:cNvSpPr txBox="1"/>
          <p:nvPr/>
        </p:nvSpPr>
        <p:spPr>
          <a:xfrm>
            <a:off x="685800" y="5012582"/>
            <a:ext cx="5204307" cy="39577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CORE: five working functions.</a:t>
            </a:r>
          </a:p>
        </p:txBody>
      </p:sp>
      <p:sp>
        <p:nvSpPr>
          <p:cNvPr id="11" name="TextBox 10"/>
          <p:cNvSpPr txBox="1"/>
          <p:nvPr/>
        </p:nvSpPr>
        <p:spPr>
          <a:xfrm>
            <a:off x="685800" y="5463221"/>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STRETCH: make one refuse a physically impossible input with a clear message.</a:t>
            </a:r>
          </a:p>
        </p:txBody>
      </p:sp>
      <p:sp>
        <p:nvSpPr>
          <p:cNvPr id="12" name="Rounded Rectangle 11"/>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Suggested formulas</a:t>
            </a:r>
          </a:p>
        </p:txBody>
      </p:sp>
      <p:sp>
        <p:nvSpPr>
          <p:cNvPr id="14" name="TextBox 13"/>
          <p:cNvSpPr txBox="1"/>
          <p:nvPr/>
        </p:nvSpPr>
        <p:spPr>
          <a:xfrm>
            <a:off x="6575907" y="2496312"/>
            <a:ext cx="4655667" cy="1284255"/>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 Ohm's law and electrical power • Three-phase real power with a power factor • Motor torque, and revolutions per minute converted to radians per second • Gear ratio and output speed</a:t>
            </a:r>
          </a:p>
        </p:txBody>
      </p:sp>
      <p:sp>
        <p:nvSpPr>
          <p:cNvPr id="15" name="TextBox 14"/>
          <p:cNvSpPr txBox="1"/>
          <p:nvPr/>
        </p:nvSpPr>
        <p:spPr>
          <a:xfrm>
            <a:off x="6575907" y="3826287"/>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 Decibel conversion for a power ratio • RC time constant, and root-mean-square of a sampled signal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POINT OF THIS WEEK</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kinds of wrong</a:t>
            </a:r>
          </a:p>
        </p:txBody>
      </p:sp>
      <p:pic>
        <p:nvPicPr>
          <p:cNvPr id="4" name="Picture 3" descr="silent_wrong.png"/>
          <p:cNvPicPr>
            <a:picLocks noChangeAspect="1"/>
          </p:cNvPicPr>
          <p:nvPr/>
        </p:nvPicPr>
        <p:blipFill>
          <a:blip r:embed="rId2"/>
          <a:stretch>
            <a:fillRect/>
          </a:stretch>
        </p:blipFill>
        <p:spPr>
          <a:xfrm>
            <a:off x="1227382" y="1911095"/>
            <a:ext cx="973693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On the left, Python stops and tells you. On the right, it says nothing and the answer is wrong by a factor of a thousand. Only one of these is dangerous.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Wrong Answer Hunt</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Six functions. All six run without any error. All six return the wrong answer.</a:t>
            </a:r>
          </a:p>
          <a:p>
            <a:pPr algn="l">
              <a:lnSpc>
                <a:spcPct val="125000"/>
              </a:lnSpc>
              <a:spcAft>
                <a:spcPts val="600"/>
              </a:spcAft>
            </a:pPr>
            <a:r>
              <a:rPr sz="1923" b="0" i="0">
                <a:solidFill>
                  <a:srgbClr val="1C3144"/>
                </a:solidFill>
                <a:latin typeface="Calibri"/>
              </a:rPr>
              <a:t>Find every one, name the cause, and fix it. Twenty-five minutes, in teams, no hints from me.</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Is that answer even the right size?</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unit is that in?</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happens at the boundary value?</a:t>
            </a:r>
          </a:p>
        </p:txBody>
      </p:sp>
      <p:sp>
        <p:nvSpPr>
          <p:cNvPr id="10" name="TextBox 9"/>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Did the order of operations do what you meant?</a:t>
            </a:r>
          </a:p>
        </p:txBody>
      </p:sp>
      <p:sp>
        <p:nvSpPr>
          <p:cNvPr id="11" name="TextBox 10"/>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Has something been divided twice?</a:t>
            </a:r>
          </a:p>
        </p:txBody>
      </p:sp>
      <p:sp>
        <p:nvSpPr>
          <p:cNvPr id="12" name="TextBox 11"/>
          <p:cNvSpPr txBox="1"/>
          <p:nvPr/>
        </p:nvSpPr>
        <p:spPr>
          <a:xfrm>
            <a:off x="6278727"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Would you sign your name under this number?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Week 4</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A3 — due at the start of Week 4</a:t>
            </a:r>
          </a:p>
        </p:txBody>
      </p:sp>
      <p:sp>
        <p:nvSpPr>
          <p:cNvPr id="5" name="TextBox 4"/>
          <p:cNvSpPr txBox="1"/>
          <p:nvPr/>
        </p:nvSpPr>
        <p:spPr>
          <a:xfrm>
            <a:off x="685800" y="2409332"/>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Your function library: five documented, tested functions, in a notebook in your repository.</a:t>
            </a:r>
          </a:p>
        </p:txBody>
      </p:sp>
      <p:sp>
        <p:nvSpPr>
          <p:cNvPr id="6" name="TextBox 5"/>
          <p:cNvSpPr txBox="1"/>
          <p:nvPr/>
        </p:nvSpPr>
        <p:spPr>
          <a:xfrm>
            <a:off x="685800" y="3230742"/>
            <a:ext cx="5204307" cy="1126959"/>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Each one needs its docstring, its units, and its two test values with the expected answers shown in the output.</a:t>
            </a:r>
          </a:p>
        </p:txBody>
      </p:sp>
      <p:sp>
        <p:nvSpPr>
          <p:cNvPr id="7" name="TextBox 6"/>
          <p:cNvSpPr txBox="1"/>
          <p:nvPr/>
        </p:nvSpPr>
        <p:spPr>
          <a:xfrm>
            <a:off x="685800" y="4412565"/>
            <a:ext cx="5204307" cy="1126959"/>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Plus one short paragraph: which of the six Wrong Answer Hunt bugs would you have been most likely to write yourself, and what will you do differently?</a:t>
            </a:r>
          </a:p>
        </p:txBody>
      </p:sp>
      <p:sp>
        <p:nvSpPr>
          <p:cNvPr id="8" name="TextBox 7"/>
          <p:cNvSpPr txBox="1"/>
          <p:nvPr/>
        </p:nvSpPr>
        <p:spPr>
          <a:xfrm>
            <a:off x="685800" y="5594388"/>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Restart and Run All before you submit.</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Looking ahead</a:t>
            </a:r>
          </a:p>
        </p:txBody>
      </p:sp>
      <p:sp>
        <p:nvSpPr>
          <p:cNvPr id="11" name="TextBox 10"/>
          <p:cNvSpPr txBox="1"/>
          <p:nvPr/>
        </p:nvSpPr>
        <p:spPr>
          <a:xfrm>
            <a:off x="6575907" y="2496312"/>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Next week you stop calculating one thing at a time.</a:t>
            </a:r>
          </a:p>
        </p:txBody>
      </p:sp>
      <p:sp>
        <p:nvSpPr>
          <p:cNvPr id="12" name="TextBox 11"/>
          <p:cNvSpPr txBox="1"/>
          <p:nvPr/>
        </p:nvSpPr>
        <p:spPr>
          <a:xfrm>
            <a:off x="6575907" y="333503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You get a file with a few hundred rows in it and a question you cannot answer by hand.</a:t>
            </a:r>
          </a:p>
        </p:txBody>
      </p:sp>
      <p:sp>
        <p:nvSpPr>
          <p:cNvPr id="13" name="TextBox 12"/>
          <p:cNvSpPr txBox="1"/>
          <p:nvPr/>
        </p:nvSpPr>
        <p:spPr>
          <a:xfrm>
            <a:off x="6575907" y="4173759"/>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Every session ends with a five-question quiz worth one per cent. Two of the five show code that runs and returns a wrong answer.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Summary, self-test with answers, glossary and a one-page reference.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MODULE SUMMARY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should take away</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13978"/>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The equals sign is an instruction: work out the right-hand side and put the result in the box named on the left.</a:t>
            </a:r>
          </a:p>
        </p:txBody>
      </p:sp>
      <p:sp>
        <p:nvSpPr>
          <p:cNvPr id="6" name="Oval 5"/>
          <p:cNvSpPr/>
          <p:nvPr/>
        </p:nvSpPr>
        <p:spPr>
          <a:xfrm>
            <a:off x="685800" y="2425658"/>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70794"/>
            <a:ext cx="10271455" cy="727373"/>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Values have types. Text that looks like a number is still text, and arithmetic on it raises a TypeError — which is exactly what happens when you read a file.</a:t>
            </a:r>
          </a:p>
        </p:txBody>
      </p:sp>
      <p:sp>
        <p:nvSpPr>
          <p:cNvPr id="8" name="Oval 7"/>
          <p:cNvSpPr/>
          <p:nvPr/>
        </p:nvSpPr>
        <p:spPr>
          <a:xfrm>
            <a:off x="685800" y="319875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143887"/>
            <a:ext cx="10271455" cy="413978"/>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A function is a named recipe. Nothing happens when Python reads the definition; it runs when you call it.</a:t>
            </a:r>
          </a:p>
        </p:txBody>
      </p:sp>
      <p:sp>
        <p:nvSpPr>
          <p:cNvPr id="10" name="Oval 9"/>
          <p:cNvSpPr/>
          <p:nvPr/>
        </p:nvSpPr>
        <p:spPr>
          <a:xfrm>
            <a:off x="685800" y="365845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603586"/>
            <a:ext cx="10271455" cy="727373"/>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A docstring and a unit comment on every parameter are part of the function. Python does not know what unit your number is in.</a:t>
            </a:r>
          </a:p>
        </p:txBody>
      </p:sp>
      <p:sp>
        <p:nvSpPr>
          <p:cNvPr id="12" name="Oval 11"/>
          <p:cNvSpPr/>
          <p:nvPr/>
        </p:nvSpPr>
        <p:spPr>
          <a:xfrm>
            <a:off x="685800" y="4431543"/>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376679"/>
            <a:ext cx="10271455" cy="413978"/>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An if-chain is checked top to bottom and stops at the first match, so the strictest condition goes first.</a:t>
            </a:r>
          </a:p>
        </p:txBody>
      </p:sp>
      <p:sp>
        <p:nvSpPr>
          <p:cNvPr id="14" name="Oval 13"/>
          <p:cNvSpPr/>
          <p:nvPr/>
        </p:nvSpPr>
        <p:spPr>
          <a:xfrm>
            <a:off x="685800" y="4891242"/>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836378"/>
            <a:ext cx="10271455" cy="413978"/>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Read a traceback from the last line up. It names the error type and what Python wanted.</a:t>
            </a:r>
          </a:p>
        </p:txBody>
      </p:sp>
      <p:sp>
        <p:nvSpPr>
          <p:cNvPr id="16" name="Oval 15"/>
          <p:cNvSpPr/>
          <p:nvPr/>
        </p:nvSpPr>
        <p:spPr>
          <a:xfrm>
            <a:off x="685800" y="535094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296076"/>
            <a:ext cx="10271455" cy="727373"/>
          </a:xfrm>
          <a:prstGeom prst="rect">
            <a:avLst/>
          </a:prstGeom>
          <a:noFill/>
        </p:spPr>
        <p:txBody>
          <a:bodyPr wrap="square" lIns="0" rIns="0" tIns="0" bIns="0" anchor="t">
            <a:spAutoFit/>
          </a:bodyPr>
          <a:lstStyle/>
          <a:p>
            <a:pPr algn="l">
              <a:lnSpc>
                <a:spcPct val="120000"/>
              </a:lnSpc>
              <a:spcAft>
                <a:spcPts val="600"/>
              </a:spcAft>
            </a:pPr>
            <a:r>
              <a:rPr sz="1650" b="0" i="0">
                <a:solidFill>
                  <a:srgbClr val="2A3B4A"/>
                </a:solidFill>
                <a:latin typeface="Calibri"/>
              </a:rPr>
              <a:t>The dangerous failure is the one with no error message. Know roughly what the answer should be before you compute it — that is the only defence, and it is the habit this week exists to build.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write something for each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does  x = x + 1  mean, given that it is nonsense as an equation?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"12" + 3  fail, and what would you write instead?</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wrote a function and ran the cell. Nothing printed and no error appeared. What is the most likely explanation?</a:t>
            </a:r>
          </a:p>
        </p:txBody>
      </p:sp>
      <p:sp>
        <p:nvSpPr>
          <p:cNvPr id="10" name="Oval 9"/>
          <p:cNvSpPr/>
          <p:nvPr/>
        </p:nvSpPr>
        <p:spPr>
          <a:xfrm>
            <a:off x="685800" y="391935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388278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if-chain tests  width &gt; 0.30  before  width &gt; 0.50 . What goes wrong, and will Python warn you?</a:t>
            </a:r>
          </a:p>
        </p:txBody>
      </p:sp>
      <p:sp>
        <p:nvSpPr>
          <p:cNvPr id="12" name="Oval 11"/>
          <p:cNvSpPr/>
          <p:nvPr/>
        </p:nvSpPr>
        <p:spPr>
          <a:xfrm>
            <a:off x="685800" y="4813761"/>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477718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compute a beam moment and get 4.2. What is the first question you should ask, before anything else?</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What does  x = x + 1  mean?</a:t>
            </a:r>
          </a:p>
        </p:txBody>
      </p:sp>
      <p:sp>
        <p:nvSpPr>
          <p:cNvPr id="6" name="TextBox 5"/>
          <p:cNvSpPr txBox="1"/>
          <p:nvPr/>
        </p:nvSpPr>
        <p:spPr>
          <a:xfrm>
            <a:off x="1216152" y="2203703"/>
            <a:ext cx="4614519" cy="955377"/>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Take whatever is currently in x, add one, and put the result back into x. Read it right to left. As an instruction it is entirely sensible; as an equation it would be false.</a:t>
            </a:r>
          </a:p>
        </p:txBody>
      </p:sp>
      <p:sp>
        <p:nvSpPr>
          <p:cNvPr id="7" name="Oval 6"/>
          <p:cNvSpPr/>
          <p:nvPr/>
        </p:nvSpPr>
        <p:spPr>
          <a:xfrm>
            <a:off x="685800" y="3232233"/>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195657"/>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Why does  "12" + 3  fail?</a:t>
            </a:r>
          </a:p>
        </p:txBody>
      </p:sp>
      <p:sp>
        <p:nvSpPr>
          <p:cNvPr id="9" name="TextBox 8"/>
          <p:cNvSpPr txBox="1"/>
          <p:nvPr/>
        </p:nvSpPr>
        <p:spPr>
          <a:xfrm>
            <a:off x="1216152" y="3488265"/>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Because "12" is text. Python will not guess a conversion, so it raises a TypeError. Write int("12") + 3 or float("12") + 3 to convert it first — which is exactly what you will do to every value you read from a file next week.</a:t>
            </a:r>
          </a:p>
        </p:txBody>
      </p:sp>
      <p:sp>
        <p:nvSpPr>
          <p:cNvPr id="10" name="Oval 9"/>
          <p:cNvSpPr/>
          <p:nvPr/>
        </p:nvSpPr>
        <p:spPr>
          <a:xfrm>
            <a:off x="685800" y="479258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756006"/>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Nothing printed, no error?</a:t>
            </a:r>
          </a:p>
        </p:txBody>
      </p:sp>
      <p:sp>
        <p:nvSpPr>
          <p:cNvPr id="12" name="TextBox 11"/>
          <p:cNvSpPr txBox="1"/>
          <p:nvPr/>
        </p:nvSpPr>
        <p:spPr>
          <a:xfrm>
            <a:off x="1216152" y="5048614"/>
            <a:ext cx="4614519" cy="955377"/>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You defined the function but never called it. Defining writes the recipe down; calling runs it. Add a line that calls it and prints or uses the result.</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if-chain in the wrong order?</a:t>
            </a:r>
          </a:p>
        </p:txBody>
      </p:sp>
      <p:sp>
        <p:nvSpPr>
          <p:cNvPr id="15" name="TextBox 14"/>
          <p:cNvSpPr txBox="1"/>
          <p:nvPr/>
        </p:nvSpPr>
        <p:spPr>
          <a:xfrm>
            <a:off x="6854799"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 0.30 branch catches everything above 0.30, including everything above 0.50, so the 0.50 branch can never run. Python will not warn you — it is valid code that returns the wrong action. Put the strictest condition first.</a:t>
            </a:r>
          </a:p>
        </p:txBody>
      </p:sp>
      <p:sp>
        <p:nvSpPr>
          <p:cNvPr id="16" name="Oval 15"/>
          <p:cNvSpPr/>
          <p:nvPr/>
        </p:nvSpPr>
        <p:spPr>
          <a:xfrm>
            <a:off x="6324447"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Beam moment of 4.2?</a:t>
            </a:r>
          </a:p>
        </p:txBody>
      </p:sp>
      <p:sp>
        <p:nvSpPr>
          <p:cNvPr id="18" name="TextBox 17"/>
          <p:cNvSpPr txBox="1"/>
          <p:nvPr/>
        </p:nvSpPr>
        <p:spPr>
          <a:xfrm>
            <a:off x="6854799"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In what unit? 4.2 newton-metres and 4.2 kilonewton-metres are a factor of a thousand apart, and only one of them is plausible. Always ask for the unit before you ask whether the number is right.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a:t>
            </a:r>
          </a:p>
        </p:txBody>
      </p:sp>
      <p:sp>
        <p:nvSpPr>
          <p:cNvPr id="4" name="TextBox 3"/>
          <p:cNvSpPr txBox="1"/>
          <p:nvPr/>
        </p:nvSpPr>
        <p:spPr>
          <a:xfrm>
            <a:off x="685800"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Variable</a:t>
            </a:r>
          </a:p>
        </p:txBody>
      </p:sp>
      <p:sp>
        <p:nvSpPr>
          <p:cNvPr id="5" name="TextBox 4"/>
          <p:cNvSpPr txBox="1"/>
          <p:nvPr/>
        </p:nvSpPr>
        <p:spPr>
          <a:xfrm>
            <a:off x="685800"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name that holds a value. Assigning to it again replaces what was there.</a:t>
            </a:r>
          </a:p>
        </p:txBody>
      </p:sp>
      <p:sp>
        <p:nvSpPr>
          <p:cNvPr id="6" name="TextBox 5"/>
          <p:cNvSpPr txBox="1"/>
          <p:nvPr/>
        </p:nvSpPr>
        <p:spPr>
          <a:xfrm>
            <a:off x="685800"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Assignment (=)</a:t>
            </a:r>
          </a:p>
        </p:txBody>
      </p:sp>
      <p:sp>
        <p:nvSpPr>
          <p:cNvPr id="7" name="TextBox 6"/>
          <p:cNvSpPr txBox="1"/>
          <p:nvPr/>
        </p:nvSpPr>
        <p:spPr>
          <a:xfrm>
            <a:off x="685800" y="25297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Work out the right-hand side, put the result in the name on the left.</a:t>
            </a:r>
          </a:p>
        </p:txBody>
      </p:sp>
      <p:sp>
        <p:nvSpPr>
          <p:cNvPr id="8" name="TextBox 7"/>
          <p:cNvSpPr txBox="1"/>
          <p:nvPr/>
        </p:nvSpPr>
        <p:spPr>
          <a:xfrm>
            <a:off x="685800" y="277977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int</a:t>
            </a:r>
          </a:p>
        </p:txBody>
      </p:sp>
      <p:sp>
        <p:nvSpPr>
          <p:cNvPr id="9" name="TextBox 8"/>
          <p:cNvSpPr txBox="1"/>
          <p:nvPr/>
        </p:nvSpPr>
        <p:spPr>
          <a:xfrm>
            <a:off x="685800" y="29641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whole number: 12.</a:t>
            </a:r>
          </a:p>
        </p:txBody>
      </p:sp>
      <p:sp>
        <p:nvSpPr>
          <p:cNvPr id="10" name="TextBox 9"/>
          <p:cNvSpPr txBox="1"/>
          <p:nvPr/>
        </p:nvSpPr>
        <p:spPr>
          <a:xfrm>
            <a:off x="685800" y="321411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float</a:t>
            </a:r>
          </a:p>
        </p:txBody>
      </p:sp>
      <p:sp>
        <p:nvSpPr>
          <p:cNvPr id="11" name="TextBox 10"/>
          <p:cNvSpPr txBox="1"/>
          <p:nvPr/>
        </p:nvSpPr>
        <p:spPr>
          <a:xfrm>
            <a:off x="685800" y="3398459"/>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number with a decimal point: 0.25. Stored approximately, which is why 0.1 + 0.2 is not exactly 0.3.</a:t>
            </a:r>
          </a:p>
        </p:txBody>
      </p:sp>
      <p:sp>
        <p:nvSpPr>
          <p:cNvPr id="12" name="TextBox 11"/>
          <p:cNvSpPr txBox="1"/>
          <p:nvPr/>
        </p:nvSpPr>
        <p:spPr>
          <a:xfrm>
            <a:off x="685800" y="382676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str (string)</a:t>
            </a:r>
          </a:p>
        </p:txBody>
      </p:sp>
      <p:sp>
        <p:nvSpPr>
          <p:cNvPr id="13" name="TextBox 12"/>
          <p:cNvSpPr txBox="1"/>
          <p:nvPr/>
        </p:nvSpPr>
        <p:spPr>
          <a:xfrm>
            <a:off x="685800" y="40111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Text, in quotes: "Bridge 4". Arithmetic on it raises a TypeError.</a:t>
            </a:r>
          </a:p>
        </p:txBody>
      </p:sp>
      <p:sp>
        <p:nvSpPr>
          <p:cNvPr id="14" name="TextBox 13"/>
          <p:cNvSpPr txBox="1"/>
          <p:nvPr/>
        </p:nvSpPr>
        <p:spPr>
          <a:xfrm>
            <a:off x="685800" y="426110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bool</a:t>
            </a:r>
          </a:p>
        </p:txBody>
      </p:sp>
      <p:sp>
        <p:nvSpPr>
          <p:cNvPr id="15" name="TextBox 14"/>
          <p:cNvSpPr txBox="1"/>
          <p:nvPr/>
        </p:nvSpPr>
        <p:spPr>
          <a:xfrm>
            <a:off x="685800" y="444544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True or False.</a:t>
            </a:r>
          </a:p>
        </p:txBody>
      </p:sp>
      <p:sp>
        <p:nvSpPr>
          <p:cNvPr id="16" name="TextBox 15"/>
          <p:cNvSpPr txBox="1"/>
          <p:nvPr/>
        </p:nvSpPr>
        <p:spPr>
          <a:xfrm>
            <a:off x="685800" y="469544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Type conversion</a:t>
            </a:r>
          </a:p>
        </p:txBody>
      </p:sp>
      <p:sp>
        <p:nvSpPr>
          <p:cNvPr id="17" name="TextBox 16"/>
          <p:cNvSpPr txBox="1"/>
          <p:nvPr/>
        </p:nvSpPr>
        <p:spPr>
          <a:xfrm>
            <a:off x="685800" y="48797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Turning one type into another: int("12"), float("0.25"), str(12).</a:t>
            </a:r>
          </a:p>
        </p:txBody>
      </p:sp>
      <p:sp>
        <p:nvSpPr>
          <p:cNvPr id="18" name="TextBox 17"/>
          <p:cNvSpPr txBox="1"/>
          <p:nvPr/>
        </p:nvSpPr>
        <p:spPr>
          <a:xfrm>
            <a:off x="685800" y="512978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Operator precedence</a:t>
            </a:r>
          </a:p>
        </p:txBody>
      </p:sp>
      <p:sp>
        <p:nvSpPr>
          <p:cNvPr id="19" name="TextBox 18"/>
          <p:cNvSpPr txBox="1"/>
          <p:nvPr/>
        </p:nvSpPr>
        <p:spPr>
          <a:xfrm>
            <a:off x="685800" y="53141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order operations happen in. Brackets first. When in doubt, add brackets.</a:t>
            </a:r>
          </a:p>
        </p:txBody>
      </p:sp>
      <p:sp>
        <p:nvSpPr>
          <p:cNvPr id="20" name="TextBox 19"/>
          <p:cNvSpPr txBox="1"/>
          <p:nvPr/>
        </p:nvSpPr>
        <p:spPr>
          <a:xfrm>
            <a:off x="685800" y="556412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 (floor division)</a:t>
            </a:r>
          </a:p>
        </p:txBody>
      </p:sp>
      <p:sp>
        <p:nvSpPr>
          <p:cNvPr id="21" name="TextBox 20"/>
          <p:cNvSpPr txBox="1"/>
          <p:nvPr/>
        </p:nvSpPr>
        <p:spPr>
          <a:xfrm>
            <a:off x="685800" y="57484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Divide and throw the remainder away. 7 // 2 is 3.</a:t>
            </a:r>
          </a:p>
        </p:txBody>
      </p:sp>
      <p:sp>
        <p:nvSpPr>
          <p:cNvPr id="22" name="TextBox 21"/>
          <p:cNvSpPr txBox="1"/>
          <p:nvPr/>
        </p:nvSpPr>
        <p:spPr>
          <a:xfrm>
            <a:off x="685800" y="59984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Function</a:t>
            </a:r>
          </a:p>
        </p:txBody>
      </p:sp>
      <p:sp>
        <p:nvSpPr>
          <p:cNvPr id="23" name="TextBox 22"/>
          <p:cNvSpPr txBox="1"/>
          <p:nvPr/>
        </p:nvSpPr>
        <p:spPr>
          <a:xfrm>
            <a:off x="685800" y="61828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named recipe. Defined with def, run when called.</a:t>
            </a:r>
          </a:p>
        </p:txBody>
      </p:sp>
      <p:sp>
        <p:nvSpPr>
          <p:cNvPr id="24" name="TextBox 23"/>
          <p:cNvSpPr txBox="1"/>
          <p:nvPr/>
        </p:nvSpPr>
        <p:spPr>
          <a:xfrm>
            <a:off x="6324447"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Parameter / argument</a:t>
            </a:r>
          </a:p>
        </p:txBody>
      </p:sp>
      <p:sp>
        <p:nvSpPr>
          <p:cNvPr id="25" name="TextBox 24"/>
          <p:cNvSpPr txBox="1"/>
          <p:nvPr/>
        </p:nvSpPr>
        <p:spPr>
          <a:xfrm>
            <a:off x="6324447"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name in the definition is the parameter; the value you pass in is the argument.</a:t>
            </a:r>
          </a:p>
        </p:txBody>
      </p:sp>
      <p:sp>
        <p:nvSpPr>
          <p:cNvPr id="26" name="TextBox 25"/>
          <p:cNvSpPr txBox="1"/>
          <p:nvPr/>
        </p:nvSpPr>
        <p:spPr>
          <a:xfrm>
            <a:off x="6324447"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return</a:t>
            </a:r>
          </a:p>
        </p:txBody>
      </p:sp>
      <p:sp>
        <p:nvSpPr>
          <p:cNvPr id="27" name="TextBox 26"/>
          <p:cNvSpPr txBox="1"/>
          <p:nvPr/>
        </p:nvSpPr>
        <p:spPr>
          <a:xfrm>
            <a:off x="6324447" y="25297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Hands a value back to whoever called the function. Not the same as print.</a:t>
            </a:r>
          </a:p>
        </p:txBody>
      </p:sp>
      <p:sp>
        <p:nvSpPr>
          <p:cNvPr id="28" name="TextBox 27"/>
          <p:cNvSpPr txBox="1"/>
          <p:nvPr/>
        </p:nvSpPr>
        <p:spPr>
          <a:xfrm>
            <a:off x="6324447" y="277977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Docstring</a:t>
            </a:r>
          </a:p>
        </p:txBody>
      </p:sp>
      <p:sp>
        <p:nvSpPr>
          <p:cNvPr id="29" name="TextBox 28"/>
          <p:cNvSpPr txBox="1"/>
          <p:nvPr/>
        </p:nvSpPr>
        <p:spPr>
          <a:xfrm>
            <a:off x="6324447" y="2964119"/>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text in triple quotes just inside a function, saying what it does and in what units.</a:t>
            </a:r>
          </a:p>
        </p:txBody>
      </p:sp>
      <p:sp>
        <p:nvSpPr>
          <p:cNvPr id="30" name="TextBox 29"/>
          <p:cNvSpPr txBox="1"/>
          <p:nvPr/>
        </p:nvSpPr>
        <p:spPr>
          <a:xfrm>
            <a:off x="6324447" y="339242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Conditional (if / elif / else)</a:t>
            </a:r>
          </a:p>
        </p:txBody>
      </p:sp>
      <p:sp>
        <p:nvSpPr>
          <p:cNvPr id="31" name="TextBox 30"/>
          <p:cNvSpPr txBox="1"/>
          <p:nvPr/>
        </p:nvSpPr>
        <p:spPr>
          <a:xfrm>
            <a:off x="6324447" y="35767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Checked top to bottom, stops at the first match. else is the catch-all.</a:t>
            </a:r>
          </a:p>
        </p:txBody>
      </p:sp>
      <p:sp>
        <p:nvSpPr>
          <p:cNvPr id="32" name="TextBox 31"/>
          <p:cNvSpPr txBox="1"/>
          <p:nvPr/>
        </p:nvSpPr>
        <p:spPr>
          <a:xfrm>
            <a:off x="6324447" y="38267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Boolean expression</a:t>
            </a:r>
          </a:p>
        </p:txBody>
      </p:sp>
      <p:sp>
        <p:nvSpPr>
          <p:cNvPr id="33" name="TextBox 32"/>
          <p:cNvSpPr txBox="1"/>
          <p:nvPr/>
        </p:nvSpPr>
        <p:spPr>
          <a:xfrm>
            <a:off x="6324447" y="40111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Something that evaluates to True or False: width &gt; 0.30.</a:t>
            </a:r>
          </a:p>
        </p:txBody>
      </p:sp>
      <p:sp>
        <p:nvSpPr>
          <p:cNvPr id="34" name="TextBox 33"/>
          <p:cNvSpPr txBox="1"/>
          <p:nvPr/>
        </p:nvSpPr>
        <p:spPr>
          <a:xfrm>
            <a:off x="6324447" y="426110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Traceback</a:t>
            </a:r>
          </a:p>
        </p:txBody>
      </p:sp>
      <p:sp>
        <p:nvSpPr>
          <p:cNvPr id="35" name="TextBox 34"/>
          <p:cNvSpPr txBox="1"/>
          <p:nvPr/>
        </p:nvSpPr>
        <p:spPr>
          <a:xfrm>
            <a:off x="6324447" y="444544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error report. Read the last line first.</a:t>
            </a:r>
          </a:p>
        </p:txBody>
      </p:sp>
      <p:sp>
        <p:nvSpPr>
          <p:cNvPr id="36" name="TextBox 35"/>
          <p:cNvSpPr txBox="1"/>
          <p:nvPr/>
        </p:nvSpPr>
        <p:spPr>
          <a:xfrm>
            <a:off x="6324447" y="469544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NameError</a:t>
            </a:r>
          </a:p>
        </p:txBody>
      </p:sp>
      <p:sp>
        <p:nvSpPr>
          <p:cNvPr id="37" name="TextBox 36"/>
          <p:cNvSpPr txBox="1"/>
          <p:nvPr/>
        </p:nvSpPr>
        <p:spPr>
          <a:xfrm>
            <a:off x="6324447" y="48797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name Python has not seen. Usually a typo or an unrun cell.</a:t>
            </a:r>
          </a:p>
        </p:txBody>
      </p:sp>
      <p:sp>
        <p:nvSpPr>
          <p:cNvPr id="38" name="TextBox 37"/>
          <p:cNvSpPr txBox="1"/>
          <p:nvPr/>
        </p:nvSpPr>
        <p:spPr>
          <a:xfrm>
            <a:off x="6324447" y="512978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TypeError</a:t>
            </a:r>
          </a:p>
        </p:txBody>
      </p:sp>
      <p:sp>
        <p:nvSpPr>
          <p:cNvPr id="39" name="TextBox 38"/>
          <p:cNvSpPr txBox="1"/>
          <p:nvPr/>
        </p:nvSpPr>
        <p:spPr>
          <a:xfrm>
            <a:off x="6324447" y="53141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An operation the value's type does not allow. Most often arithmetic on text.</a:t>
            </a:r>
          </a:p>
        </p:txBody>
      </p:sp>
      <p:sp>
        <p:nvSpPr>
          <p:cNvPr id="40" name="TextBox 39"/>
          <p:cNvSpPr txBox="1"/>
          <p:nvPr/>
        </p:nvSpPr>
        <p:spPr>
          <a:xfrm>
            <a:off x="6324447" y="556412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SyntaxError</a:t>
            </a:r>
          </a:p>
        </p:txBody>
      </p:sp>
      <p:sp>
        <p:nvSpPr>
          <p:cNvPr id="41" name="TextBox 40"/>
          <p:cNvSpPr txBox="1"/>
          <p:nvPr/>
        </p:nvSpPr>
        <p:spPr>
          <a:xfrm>
            <a:off x="6324447" y="57484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Python could not read the line. Check the line above too.</a:t>
            </a:r>
          </a:p>
        </p:txBody>
      </p:sp>
      <p:sp>
        <p:nvSpPr>
          <p:cNvPr id="42" name="TextBox 41"/>
          <p:cNvSpPr txBox="1"/>
          <p:nvPr/>
        </p:nvSpPr>
        <p:spPr>
          <a:xfrm>
            <a:off x="6324447" y="59984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Silent wrong answer</a:t>
            </a:r>
          </a:p>
        </p:txBody>
      </p:sp>
      <p:sp>
        <p:nvSpPr>
          <p:cNvPr id="43" name="TextBox 42"/>
          <p:cNvSpPr txBox="1"/>
          <p:nvPr/>
        </p:nvSpPr>
        <p:spPr>
          <a:xfrm>
            <a:off x="6324447" y="61828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No error, wrong result. The dangerous one. Know the expected magnitude first.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CHEAT SHEET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One-page reference — writing a function you can defend</a:t>
            </a:r>
          </a:p>
        </p:txBody>
      </p:sp>
      <p:sp>
        <p:nvSpPr>
          <p:cNvPr id="4" name="TextBox 3"/>
          <p:cNvSpPr txBox="1"/>
          <p:nvPr/>
        </p:nvSpPr>
        <p:spPr>
          <a:xfrm>
            <a:off x="685800" y="191109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Name it for what it does</a:t>
            </a:r>
          </a:p>
        </p:txBody>
      </p:sp>
      <p:sp>
        <p:nvSpPr>
          <p:cNvPr id="5" name="TextBox 4"/>
          <p:cNvSpPr txBox="1"/>
          <p:nvPr/>
        </p:nvSpPr>
        <p:spPr>
          <a:xfrm>
            <a:off x="685800" y="2298945"/>
            <a:ext cx="5158587" cy="326890"/>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mechanical_power tells a reader what comes back.</a:t>
            </a:r>
          </a:p>
        </p:txBody>
      </p:sp>
      <p:sp>
        <p:nvSpPr>
          <p:cNvPr id="6" name="TextBox 5"/>
          <p:cNvSpPr txBox="1"/>
          <p:nvPr/>
        </p:nvSpPr>
        <p:spPr>
          <a:xfrm>
            <a:off x="685800" y="285443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State the units, always</a:t>
            </a:r>
          </a:p>
        </p:txBody>
      </p:sp>
      <p:sp>
        <p:nvSpPr>
          <p:cNvPr id="7" name="TextBox 6"/>
          <p:cNvSpPr txBox="1"/>
          <p:nvPr/>
        </p:nvSpPr>
        <p:spPr>
          <a:xfrm>
            <a:off x="685800" y="3242284"/>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In the docstring for what comes out, in a comment for everything that goes in. Python does not know and will not warn you.</a:t>
            </a:r>
          </a:p>
        </p:txBody>
      </p:sp>
      <p:sp>
        <p:nvSpPr>
          <p:cNvPr id="8" name="TextBox 7"/>
          <p:cNvSpPr txBox="1"/>
          <p:nvPr/>
        </p:nvSpPr>
        <p:spPr>
          <a:xfrm>
            <a:off x="685800" y="4069801"/>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Return, do not print</a:t>
            </a:r>
          </a:p>
        </p:txBody>
      </p:sp>
      <p:sp>
        <p:nvSpPr>
          <p:cNvPr id="9" name="TextBox 8"/>
          <p:cNvSpPr txBox="1"/>
          <p:nvPr/>
        </p:nvSpPr>
        <p:spPr>
          <a:xfrm>
            <a:off x="685800" y="4457650"/>
            <a:ext cx="5158587" cy="326890"/>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A returned value can be used. A printed one can only be looked at.</a:t>
            </a:r>
          </a:p>
        </p:txBody>
      </p:sp>
      <p:sp>
        <p:nvSpPr>
          <p:cNvPr id="10" name="TextBox 9"/>
          <p:cNvSpPr txBox="1"/>
          <p:nvPr/>
        </p:nvSpPr>
        <p:spPr>
          <a:xfrm>
            <a:off x="6347307" y="191109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Test it against something you already know</a:t>
            </a:r>
          </a:p>
        </p:txBody>
      </p:sp>
      <p:sp>
        <p:nvSpPr>
          <p:cNvPr id="11" name="TextBox 10"/>
          <p:cNvSpPr txBox="1"/>
          <p:nvPr/>
        </p:nvSpPr>
        <p:spPr>
          <a:xfrm>
            <a:off x="6347307" y="2298945"/>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Two values, worked out by hand or taken from your notes. If you cannot say what to expect, you cannot tell whether you got it.</a:t>
            </a:r>
          </a:p>
        </p:txBody>
      </p:sp>
      <p:sp>
        <p:nvSpPr>
          <p:cNvPr id="12" name="TextBox 11"/>
          <p:cNvSpPr txBox="1"/>
          <p:nvPr/>
        </p:nvSpPr>
        <p:spPr>
          <a:xfrm>
            <a:off x="6347307" y="3126462"/>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Put the strictest condition first</a:t>
            </a:r>
          </a:p>
        </p:txBody>
      </p:sp>
      <p:sp>
        <p:nvSpPr>
          <p:cNvPr id="13" name="TextBox 12"/>
          <p:cNvSpPr txBox="1"/>
          <p:nvPr/>
        </p:nvSpPr>
        <p:spPr>
          <a:xfrm>
            <a:off x="6347307" y="3514311"/>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An if-chain stops at the first match. Reverse them and a branch becomes unreachable, silently.</a:t>
            </a:r>
          </a:p>
        </p:txBody>
      </p:sp>
      <p:sp>
        <p:nvSpPr>
          <p:cNvPr id="14" name="TextBox 13"/>
          <p:cNvSpPr txBox="1"/>
          <p:nvPr/>
        </p:nvSpPr>
        <p:spPr>
          <a:xfrm>
            <a:off x="6347307" y="4341828"/>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Before you believe a number</a:t>
            </a:r>
          </a:p>
        </p:txBody>
      </p:sp>
      <p:sp>
        <p:nvSpPr>
          <p:cNvPr id="15" name="TextBox 14"/>
          <p:cNvSpPr txBox="1"/>
          <p:nvPr/>
        </p:nvSpPr>
        <p:spPr>
          <a:xfrm>
            <a:off x="6347307" y="4729677"/>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Ask its unit. Ask its rough magnitude. Ask whether you would sign your name under it.</a:t>
            </a:r>
          </a:p>
        </p:txBody>
      </p:sp>
      <p:sp>
        <p:nvSpPr>
          <p:cNvPr id="16" name="TextBox 15"/>
          <p:cNvSpPr txBox="1"/>
          <p:nvPr/>
        </p:nvSpPr>
        <p:spPr>
          <a:xfrm>
            <a:off x="6347307" y="5557194"/>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When it breaks</a:t>
            </a:r>
          </a:p>
        </p:txBody>
      </p:sp>
      <p:sp>
        <p:nvSpPr>
          <p:cNvPr id="17" name="TextBox 16"/>
          <p:cNvSpPr txBox="1"/>
          <p:nvPr/>
        </p:nvSpPr>
        <p:spPr>
          <a:xfrm>
            <a:off x="6347307" y="5945043"/>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Last line of the traceback first. Then the line number. Then what you actually typed.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6868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END-OF-SESSION QUIZ  ·  WEEK 3</a:t>
            </a:r>
          </a:p>
        </p:txBody>
      </p:sp>
      <p:sp>
        <p:nvSpPr>
          <p:cNvPr id="4" name="TextBox 3"/>
          <p:cNvSpPr txBox="1"/>
          <p:nvPr/>
        </p:nvSpPr>
        <p:spPr>
          <a:xfrm>
            <a:off x="685800" y="1325880"/>
            <a:ext cx="6766560" cy="1371600"/>
          </a:xfrm>
          <a:prstGeom prst="rect">
            <a:avLst/>
          </a:prstGeom>
          <a:noFill/>
        </p:spPr>
        <p:txBody>
          <a:bodyPr wrap="square" lIns="0" rIns="0" tIns="0" bIns="0" anchor="t">
            <a:spAutoFit/>
          </a:bodyPr>
          <a:lstStyle/>
          <a:p>
            <a:pPr algn="l">
              <a:lnSpc>
                <a:spcPct val="105000"/>
              </a:lnSpc>
              <a:spcAft>
                <a:spcPts val="600"/>
              </a:spcAft>
            </a:pPr>
            <a:r>
              <a:rPr sz="4000" b="1" i="0">
                <a:solidFill>
                  <a:srgbClr val="FFFFFF"/>
                </a:solidFill>
                <a:latin typeface="Cambria"/>
              </a:rPr>
              <a:t>Five questions,</a:t>
            </a:r>
          </a:p>
          <a:p>
            <a:pPr algn="l">
              <a:lnSpc>
                <a:spcPct val="105000"/>
              </a:lnSpc>
              <a:spcAft>
                <a:spcPts val="600"/>
              </a:spcAft>
            </a:pPr>
            <a:r>
              <a:rPr sz="4000" b="1" i="0">
                <a:solidFill>
                  <a:srgbClr val="FFFFFF"/>
                </a:solidFill>
                <a:latin typeface="Cambria"/>
              </a:rPr>
              <a:t>five minutes</a:t>
            </a:r>
          </a:p>
        </p:txBody>
      </p:sp>
      <p:sp>
        <p:nvSpPr>
          <p:cNvPr id="5" name="TextBox 4"/>
          <p:cNvSpPr txBox="1"/>
          <p:nvPr/>
        </p:nvSpPr>
        <p:spPr>
          <a:xfrm>
            <a:off x="685800" y="2880360"/>
            <a:ext cx="6766560" cy="816005"/>
          </a:xfrm>
          <a:prstGeom prst="rect">
            <a:avLst/>
          </a:prstGeom>
          <a:noFill/>
        </p:spPr>
        <p:txBody>
          <a:bodyPr wrap="square" lIns="0" rIns="0" tIns="0" bIns="0" anchor="t">
            <a:spAutoFit/>
          </a:bodyPr>
          <a:lstStyle/>
          <a:p>
            <a:pPr algn="l">
              <a:lnSpc>
                <a:spcPct val="125000"/>
              </a:lnSpc>
              <a:spcAft>
                <a:spcPts val="600"/>
              </a:spcAft>
            </a:pPr>
            <a:r>
              <a:rPr sz="1923" b="0" i="0">
                <a:solidFill>
                  <a:srgbClr val="B8C9D8"/>
                </a:solidFill>
                <a:latin typeface="Calibri"/>
              </a:rPr>
              <a:t>A unit error that returns a plausible number, a function that prints instead of returning, and one traceback.</a:t>
            </a:r>
          </a:p>
        </p:txBody>
      </p:sp>
      <p:sp>
        <p:nvSpPr>
          <p:cNvPr id="6" name="Oval 5"/>
          <p:cNvSpPr/>
          <p:nvPr/>
        </p:nvSpPr>
        <p:spPr>
          <a:xfrm>
            <a:off x="704088" y="402554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52397"/>
            <a:ext cx="6492240" cy="729027"/>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Scan the code. First box is your registration number, off your card.</a:t>
            </a:r>
          </a:p>
        </p:txBody>
      </p:sp>
      <p:sp>
        <p:nvSpPr>
          <p:cNvPr id="8" name="Oval 7"/>
          <p:cNvSpPr/>
          <p:nvPr/>
        </p:nvSpPr>
        <p:spPr>
          <a:xfrm>
            <a:off x="704088" y="4818584"/>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745432"/>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attempt, from the Google account you are signed in to.</a:t>
            </a:r>
          </a:p>
        </p:txBody>
      </p:sp>
      <p:sp>
        <p:nvSpPr>
          <p:cNvPr id="10" name="Oval 9"/>
          <p:cNvSpPr/>
          <p:nvPr/>
        </p:nvSpPr>
        <p:spPr>
          <a:xfrm>
            <a:off x="704088" y="5269966"/>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96814"/>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Open for 48 hours if the network fails, then it closes itself.</a:t>
            </a:r>
          </a:p>
        </p:txBody>
      </p:sp>
      <p:sp>
        <p:nvSpPr>
          <p:cNvPr id="12" name="Oval 11"/>
          <p:cNvSpPr/>
          <p:nvPr/>
        </p:nvSpPr>
        <p:spPr>
          <a:xfrm>
            <a:off x="704088" y="5721348"/>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648196"/>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per cent each. Tap View score and read the feedback.</a:t>
            </a:r>
          </a:p>
        </p:txBody>
      </p:sp>
      <p:sp>
        <p:nvSpPr>
          <p:cNvPr id="14" name="Oval 13"/>
          <p:cNvSpPr/>
          <p:nvPr/>
        </p:nvSpPr>
        <p:spPr>
          <a:xfrm>
            <a:off x="704088" y="617272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6099577"/>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Twelve this semester, best ten count. No resits.</a:t>
            </a:r>
          </a:p>
        </p:txBody>
      </p:sp>
      <p:sp>
        <p:nvSpPr>
          <p:cNvPr id="16" name="Rectangle 15"/>
          <p:cNvSpPr/>
          <p:nvPr/>
        </p:nvSpPr>
        <p:spPr>
          <a:xfrm>
            <a:off x="8716975" y="1783080"/>
            <a:ext cx="2788920"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uiz_CML3111_W03.png"/>
          <p:cNvPicPr>
            <a:picLocks noChangeAspect="1"/>
          </p:cNvPicPr>
          <p:nvPr/>
        </p:nvPicPr>
        <p:blipFill>
          <a:blip r:embed="rId2"/>
          <a:stretch>
            <a:fillRect/>
          </a:stretch>
        </p:blipFill>
        <p:spPr>
          <a:xfrm>
            <a:off x="8826703" y="1892807"/>
            <a:ext cx="2569463" cy="2569463"/>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Six functions ran cleanly</a:t>
            </a:r>
          </a:p>
          <a:p>
            <a:pPr algn="l">
              <a:lnSpc>
                <a:spcPct val="110000"/>
              </a:lnSpc>
              <a:spcAft>
                <a:spcPts val="600"/>
              </a:spcAft>
            </a:pPr>
            <a:r>
              <a:rPr sz="3400" b="1" i="0">
                <a:solidFill>
                  <a:srgbClr val="FFFFFF"/>
                </a:solidFill>
                <a:latin typeface="Cambria"/>
              </a:rPr>
              <a:t>and returned wrong answers.</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Six functions today produced confident, plausible, wrong answers and Python raised no objection at all. Your engineering judgement caught what the computer could not — and that is the thing this course is really training.</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week: a few hundred rows, a question you cannot answer by hand, and your first unguided investigation.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