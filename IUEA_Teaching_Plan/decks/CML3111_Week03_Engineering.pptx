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06d1b6cc4ec40fc" /><Relationship Type="http://schemas.openxmlformats.org/officeDocument/2006/relationships/extended-properties" Target="/docProps/app.xml" Id="Rb54066becc244511" /><Relationship Type="http://schemas.openxmlformats.org/officeDocument/2006/relationships/officeDocument" Target="/ppt/presentation.xml" Id="R81f0127dedbc4af3" /></Relationships>
</file>

<file path=ppt/presentation.xml><?xml version="1.0" encoding="utf-8"?>
<p:presentation xmlns:p="http://schemas.openxmlformats.org/presentationml/2006/main">
  <p:sldMasterIdLst>
    <p:sldMasterId xmlns:r="http://schemas.openxmlformats.org/officeDocument/2006/relationships" id="2147483648" r:id="Rc19e052c24e04fac"/>
  </p:sldMasterIdLst>
  <p:notesMasterIdLst>
    <p:notesMasterId xmlns:r="http://schemas.openxmlformats.org/officeDocument/2006/relationships" r:id="R6f55a0c906084c53"/>
  </p:notesMasterIdLst>
  <p:sldIdLst>
    <p:sldId xmlns:r="http://schemas.openxmlformats.org/officeDocument/2006/relationships" id="256" r:id="Rbc4bc52e970b46ed"/>
    <p:sldId xmlns:r="http://schemas.openxmlformats.org/officeDocument/2006/relationships" id="257" r:id="R9709e973baad4185"/>
    <p:sldId xmlns:r="http://schemas.openxmlformats.org/officeDocument/2006/relationships" id="258" r:id="R07691c134f074557"/>
    <p:sldId xmlns:r="http://schemas.openxmlformats.org/officeDocument/2006/relationships" id="259" r:id="Rb0c75a15dfc7440b"/>
    <p:sldId xmlns:r="http://schemas.openxmlformats.org/officeDocument/2006/relationships" id="260" r:id="Rdde6628bd0b043fb"/>
    <p:sldId xmlns:r="http://schemas.openxmlformats.org/officeDocument/2006/relationships" id="261" r:id="R9e38375c7cdd4645"/>
    <p:sldId xmlns:r="http://schemas.openxmlformats.org/officeDocument/2006/relationships" id="262" r:id="R14be6daca3cd45b0"/>
    <p:sldId xmlns:r="http://schemas.openxmlformats.org/officeDocument/2006/relationships" id="263" r:id="R1c8caace18544e89"/>
    <p:sldId xmlns:r="http://schemas.openxmlformats.org/officeDocument/2006/relationships" id="264" r:id="R108cbc5f30fb44d6"/>
    <p:sldId xmlns:r="http://schemas.openxmlformats.org/officeDocument/2006/relationships" id="265" r:id="Rc6393daa22794106"/>
    <p:sldId xmlns:r="http://schemas.openxmlformats.org/officeDocument/2006/relationships" id="266" r:id="R8f8f803c98f246be"/>
    <p:sldId xmlns:r="http://schemas.openxmlformats.org/officeDocument/2006/relationships" id="267" r:id="R9ac588d4cf7948b6"/>
    <p:sldId xmlns:r="http://schemas.openxmlformats.org/officeDocument/2006/relationships" id="268" r:id="R9ce1f66242e64ef7"/>
    <p:sldId xmlns:r="http://schemas.openxmlformats.org/officeDocument/2006/relationships" id="269" r:id="Rc9f7f567dbef48ff"/>
    <p:sldId xmlns:r="http://schemas.openxmlformats.org/officeDocument/2006/relationships" id="270" r:id="R0f707e3cc7764db0"/>
    <p:sldId xmlns:r="http://schemas.openxmlformats.org/officeDocument/2006/relationships" id="271" r:id="R4e626a0b300a436c"/>
    <p:sldId xmlns:r="http://schemas.openxmlformats.org/officeDocument/2006/relationships" id="272" r:id="R8806087fb93f4268"/>
    <p:sldId xmlns:r="http://schemas.openxmlformats.org/officeDocument/2006/relationships" id="273" r:id="R18c77619058644e1"/>
    <p:sldId xmlns:r="http://schemas.openxmlformats.org/officeDocument/2006/relationships" id="274" r:id="R265b0d47211241a4"/>
    <p:sldId xmlns:r="http://schemas.openxmlformats.org/officeDocument/2006/relationships" id="275" r:id="R12df87b49ced4bc2"/>
    <p:sldId xmlns:r="http://schemas.openxmlformats.org/officeDocument/2006/relationships" id="276" r:id="R49a6be3830464b50"/>
    <p:sldId xmlns:r="http://schemas.openxmlformats.org/officeDocument/2006/relationships" id="277" r:id="Rf15ebf4389994840"/>
    <p:sldId xmlns:r="http://schemas.openxmlformats.org/officeDocument/2006/relationships" id="278" r:id="R6433b443bd8e4833"/>
    <p:sldId xmlns:r="http://schemas.openxmlformats.org/officeDocument/2006/relationships" id="279" r:id="R8207faad873e4ede"/>
    <p:sldId xmlns:r="http://schemas.openxmlformats.org/officeDocument/2006/relationships" id="280" r:id="R8ad4b10b5bd8417a"/>
    <p:sldId xmlns:r="http://schemas.openxmlformats.org/officeDocument/2006/relationships" id="281" r:id="R35692c4a7bdf4ce6"/>
    <p:sldId xmlns:r="http://schemas.openxmlformats.org/officeDocument/2006/relationships" id="282" r:id="R5de957b7ca7a48fa"/>
    <p:sldId xmlns:r="http://schemas.openxmlformats.org/officeDocument/2006/relationships" id="283" r:id="R0ca6568da7e14f2b"/>
    <p:sldId xmlns:r="http://schemas.openxmlformats.org/officeDocument/2006/relationships" id="284" r:id="Rccdf731d2c3d499e"/>
    <p:sldId xmlns:r="http://schemas.openxmlformats.org/officeDocument/2006/relationships" id="285" r:id="Rfd9c1a7b06a94ae8"/>
    <p:sldId xmlns:r="http://schemas.openxmlformats.org/officeDocument/2006/relationships" id="286" r:id="R055287375df5448a"/>
    <p:sldId xmlns:r="http://schemas.openxmlformats.org/officeDocument/2006/relationships" id="287" r:id="Rd58cdebcf9594ed5"/>
    <p:sldId xmlns:r="http://schemas.openxmlformats.org/officeDocument/2006/relationships" id="288" r:id="R6339d858dc11494b"/>
    <p:sldId xmlns:r="http://schemas.openxmlformats.org/officeDocument/2006/relationships" id="289" r:id="Rbeb86fae684b4ea5"/>
    <p:sldId xmlns:r="http://schemas.openxmlformats.org/officeDocument/2006/relationships" id="290" r:id="R1b72499d10914952"/>
    <p:sldId xmlns:r="http://schemas.openxmlformats.org/officeDocument/2006/relationships" id="291" r:id="Ra9744ebeb6d24707"/>
    <p:sldId xmlns:r="http://schemas.openxmlformats.org/officeDocument/2006/relationships" id="292" r:id="Rc3dec5ce59194e67"/>
    <p:sldId xmlns:r="http://schemas.openxmlformats.org/officeDocument/2006/relationships" id="293" r:id="Rc089dc62b95d4e61"/>
    <p:sldId xmlns:r="http://schemas.openxmlformats.org/officeDocument/2006/relationships" id="294" r:id="R31511c285b004c4c"/>
    <p:sldId xmlns:r="http://schemas.openxmlformats.org/officeDocument/2006/relationships" id="295" r:id="Rafcea7e56c1f4202"/>
    <p:sldId xmlns:r="http://schemas.openxmlformats.org/officeDocument/2006/relationships" id="296" r:id="R51c18d57ba2e4dc3"/>
    <p:sldId xmlns:r="http://schemas.openxmlformats.org/officeDocument/2006/relationships" id="297" r:id="R30c3030a263e4845"/>
    <p:sldId xmlns:r="http://schemas.openxmlformats.org/officeDocument/2006/relationships" id="298" r:id="Rd05a86271d7643e5"/>
    <p:sldId xmlns:r="http://schemas.openxmlformats.org/officeDocument/2006/relationships" id="299" r:id="Re1a382c85cb442d8"/>
    <p:sldId xmlns:r="http://schemas.openxmlformats.org/officeDocument/2006/relationships" id="300" r:id="R09efe2d74e39417a"/>
    <p:sldId xmlns:r="http://schemas.openxmlformats.org/officeDocument/2006/relationships" id="301" r:id="R5a4bde73d9874778"/>
    <p:sldId xmlns:r="http://schemas.openxmlformats.org/officeDocument/2006/relationships" id="302" r:id="R145014560e184ce4"/>
    <p:sldId xmlns:r="http://schemas.openxmlformats.org/officeDocument/2006/relationships" id="303" r:id="R019b4a5bc9ba4fcd"/>
    <p:sldId xmlns:r="http://schemas.openxmlformats.org/officeDocument/2006/relationships" id="304" r:id="Re501843b2fae402e"/>
    <p:sldId xmlns:r="http://schemas.openxmlformats.org/officeDocument/2006/relationships" id="305" r:id="R8b30491414364ad8"/>
    <p:sldId xmlns:r="http://schemas.openxmlformats.org/officeDocument/2006/relationships" id="306" r:id="Rd4e3563ccfcf46a6"/>
    <p:sldId xmlns:r="http://schemas.openxmlformats.org/officeDocument/2006/relationships" id="307" r:id="Re735b927ee6d465c"/>
    <p:sldId xmlns:r="http://schemas.openxmlformats.org/officeDocument/2006/relationships" id="308" r:id="R6ea50e70750b474a"/>
    <p:sldId xmlns:r="http://schemas.openxmlformats.org/officeDocument/2006/relationships" id="309" r:id="Rf18243d81d244266"/>
    <p:sldId xmlns:r="http://schemas.openxmlformats.org/officeDocument/2006/relationships" id="310" r:id="R03de8fd305014f43"/>
    <p:sldId xmlns:r="http://schemas.openxmlformats.org/officeDocument/2006/relationships" id="311" r:id="R83ff6e4271994a8e"/>
    <p:sldId xmlns:r="http://schemas.openxmlformats.org/officeDocument/2006/relationships" id="312" r:id="Rbc272cd46a8841cb"/>
    <p:sldId xmlns:r="http://schemas.openxmlformats.org/officeDocument/2006/relationships" id="313" r:id="R5a29efd3d2a94d15"/>
    <p:sldId xmlns:r="http://schemas.openxmlformats.org/officeDocument/2006/relationships" id="314" r:id="Rab0f1ff1a5364f0c"/>
    <p:sldId xmlns:r="http://schemas.openxmlformats.org/officeDocument/2006/relationships" id="315" r:id="R3c40a7a9f9244438"/>
    <p:sldId xmlns:r="http://schemas.openxmlformats.org/officeDocument/2006/relationships" id="316" r:id="R8dff25a0ce734b6e"/>
    <p:sldId xmlns:r="http://schemas.openxmlformats.org/officeDocument/2006/relationships" id="317" r:id="Rfb7eddbf2d604217"/>
    <p:sldId xmlns:r="http://schemas.openxmlformats.org/officeDocument/2006/relationships" id="318" r:id="Rde522c76f9594c73"/>
    <p:sldId xmlns:r="http://schemas.openxmlformats.org/officeDocument/2006/relationships" id="319" r:id="Rc5bf17acaab4440e"/>
    <p:sldId xmlns:r="http://schemas.openxmlformats.org/officeDocument/2006/relationships" id="320" r:id="Rdac701194fe84e76"/>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88e58330cc94a79" /><Relationship Type="http://schemas.openxmlformats.org/officeDocument/2006/relationships/slideMaster" Target="/ppt/slideMasters/slideMaster1.xml" Id="Rc19e052c24e04fac" /><Relationship Type="http://schemas.openxmlformats.org/officeDocument/2006/relationships/notesMaster" Target="/ppt/notesMasters/notesMaster1.xml" Id="R6f55a0c906084c53" /><Relationship Type="http://schemas.openxmlformats.org/officeDocument/2006/relationships/presProps" Target="/ppt/presProps.xml" Id="R2c0da484928a4ef4" /><Relationship Type="http://schemas.openxmlformats.org/officeDocument/2006/relationships/tableStyles" Target="/ppt/tableStyles.xml" Id="Re8cadd50e06c495a" /><Relationship Type="http://schemas.openxmlformats.org/officeDocument/2006/relationships/slide" Target="/ppt/slides/slide1.xml" Id="Rbc4bc52e970b46ed" /><Relationship Type="http://schemas.openxmlformats.org/officeDocument/2006/relationships/slide" Target="/ppt/slides/slide2.xml" Id="R9709e973baad4185" /><Relationship Type="http://schemas.openxmlformats.org/officeDocument/2006/relationships/slide" Target="/ppt/slides/slide3.xml" Id="R07691c134f074557" /><Relationship Type="http://schemas.openxmlformats.org/officeDocument/2006/relationships/slide" Target="/ppt/slides/slide4.xml" Id="Rb0c75a15dfc7440b" /><Relationship Type="http://schemas.openxmlformats.org/officeDocument/2006/relationships/slide" Target="/ppt/slides/slide5.xml" Id="Rdde6628bd0b043fb" /><Relationship Type="http://schemas.openxmlformats.org/officeDocument/2006/relationships/slide" Target="/ppt/slides/slide6.xml" Id="R9e38375c7cdd4645" /><Relationship Type="http://schemas.openxmlformats.org/officeDocument/2006/relationships/slide" Target="/ppt/slides/slide7.xml" Id="R14be6daca3cd45b0" /><Relationship Type="http://schemas.openxmlformats.org/officeDocument/2006/relationships/slide" Target="/ppt/slides/slide8.xml" Id="R1c8caace18544e89" /><Relationship Type="http://schemas.openxmlformats.org/officeDocument/2006/relationships/slide" Target="/ppt/slides/slide9.xml" Id="R108cbc5f30fb44d6" /><Relationship Type="http://schemas.openxmlformats.org/officeDocument/2006/relationships/slide" Target="/ppt/slides/slide10.xml" Id="Rc6393daa22794106" /><Relationship Type="http://schemas.openxmlformats.org/officeDocument/2006/relationships/slide" Target="/ppt/slides/slide11.xml" Id="R8f8f803c98f246be" /><Relationship Type="http://schemas.openxmlformats.org/officeDocument/2006/relationships/slide" Target="/ppt/slides/slide12.xml" Id="R9ac588d4cf7948b6" /><Relationship Type="http://schemas.openxmlformats.org/officeDocument/2006/relationships/slide" Target="/ppt/slides/slide13.xml" Id="R9ce1f66242e64ef7" /><Relationship Type="http://schemas.openxmlformats.org/officeDocument/2006/relationships/slide" Target="/ppt/slides/slide14.xml" Id="Rc9f7f567dbef48ff" /><Relationship Type="http://schemas.openxmlformats.org/officeDocument/2006/relationships/slide" Target="/ppt/slides/slide15.xml" Id="R0f707e3cc7764db0" /><Relationship Type="http://schemas.openxmlformats.org/officeDocument/2006/relationships/slide" Target="/ppt/slides/slide16.xml" Id="R4e626a0b300a436c" /><Relationship Type="http://schemas.openxmlformats.org/officeDocument/2006/relationships/slide" Target="/ppt/slides/slide17.xml" Id="R8806087fb93f4268" /><Relationship Type="http://schemas.openxmlformats.org/officeDocument/2006/relationships/slide" Target="/ppt/slides/slide18.xml" Id="R18c77619058644e1" /><Relationship Type="http://schemas.openxmlformats.org/officeDocument/2006/relationships/slide" Target="/ppt/slides/slide19.xml" Id="R265b0d47211241a4" /><Relationship Type="http://schemas.openxmlformats.org/officeDocument/2006/relationships/slide" Target="/ppt/slides/slide20.xml" Id="R12df87b49ced4bc2" /><Relationship Type="http://schemas.openxmlformats.org/officeDocument/2006/relationships/slide" Target="/ppt/slides/slide21.xml" Id="R49a6be3830464b50" /><Relationship Type="http://schemas.openxmlformats.org/officeDocument/2006/relationships/slide" Target="/ppt/slides/slide22.xml" Id="Rf15ebf4389994840" /><Relationship Type="http://schemas.openxmlformats.org/officeDocument/2006/relationships/slide" Target="/ppt/slides/slide23.xml" Id="R6433b443bd8e4833" /><Relationship Type="http://schemas.openxmlformats.org/officeDocument/2006/relationships/slide" Target="/ppt/slides/slide24.xml" Id="R8207faad873e4ede" /><Relationship Type="http://schemas.openxmlformats.org/officeDocument/2006/relationships/slide" Target="/ppt/slides/slide25.xml" Id="R8ad4b10b5bd8417a" /><Relationship Type="http://schemas.openxmlformats.org/officeDocument/2006/relationships/slide" Target="/ppt/slides/slide26.xml" Id="R35692c4a7bdf4ce6" /><Relationship Type="http://schemas.openxmlformats.org/officeDocument/2006/relationships/slide" Target="/ppt/slides/slide27.xml" Id="R5de957b7ca7a48fa" /><Relationship Type="http://schemas.openxmlformats.org/officeDocument/2006/relationships/slide" Target="/ppt/slides/slide28.xml" Id="R0ca6568da7e14f2b" /><Relationship Type="http://schemas.openxmlformats.org/officeDocument/2006/relationships/slide" Target="/ppt/slides/slide29.xml" Id="Rccdf731d2c3d499e" /><Relationship Type="http://schemas.openxmlformats.org/officeDocument/2006/relationships/slide" Target="/ppt/slides/slide30.xml" Id="Rfd9c1a7b06a94ae8" /><Relationship Type="http://schemas.openxmlformats.org/officeDocument/2006/relationships/slide" Target="/ppt/slides/slide31.xml" Id="R055287375df5448a" /><Relationship Type="http://schemas.openxmlformats.org/officeDocument/2006/relationships/slide" Target="/ppt/slides/slide32.xml" Id="Rd58cdebcf9594ed5" /><Relationship Type="http://schemas.openxmlformats.org/officeDocument/2006/relationships/slide" Target="/ppt/slides/slide33.xml" Id="R6339d858dc11494b" /><Relationship Type="http://schemas.openxmlformats.org/officeDocument/2006/relationships/slide" Target="/ppt/slides/slide34.xml" Id="Rbeb86fae684b4ea5" /><Relationship Type="http://schemas.openxmlformats.org/officeDocument/2006/relationships/slide" Target="/ppt/slides/slide35.xml" Id="R1b72499d10914952" /><Relationship Type="http://schemas.openxmlformats.org/officeDocument/2006/relationships/slide" Target="/ppt/slides/slide36.xml" Id="Ra9744ebeb6d24707" /><Relationship Type="http://schemas.openxmlformats.org/officeDocument/2006/relationships/slide" Target="/ppt/slides/slide37.xml" Id="Rc3dec5ce59194e67" /><Relationship Type="http://schemas.openxmlformats.org/officeDocument/2006/relationships/slide" Target="/ppt/slides/slide38.xml" Id="Rc089dc62b95d4e61" /><Relationship Type="http://schemas.openxmlformats.org/officeDocument/2006/relationships/slide" Target="/ppt/slides/slide39.xml" Id="R31511c285b004c4c" /><Relationship Type="http://schemas.openxmlformats.org/officeDocument/2006/relationships/slide" Target="/ppt/slides/slide40.xml" Id="Rafcea7e56c1f4202" /><Relationship Type="http://schemas.openxmlformats.org/officeDocument/2006/relationships/slide" Target="/ppt/slides/slide41.xml" Id="R51c18d57ba2e4dc3" /><Relationship Type="http://schemas.openxmlformats.org/officeDocument/2006/relationships/slide" Target="/ppt/slides/slide42.xml" Id="R30c3030a263e4845" /><Relationship Type="http://schemas.openxmlformats.org/officeDocument/2006/relationships/slide" Target="/ppt/slides/slide43.xml" Id="Rd05a86271d7643e5" /><Relationship Type="http://schemas.openxmlformats.org/officeDocument/2006/relationships/slide" Target="/ppt/slides/slide44.xml" Id="Re1a382c85cb442d8" /><Relationship Type="http://schemas.openxmlformats.org/officeDocument/2006/relationships/slide" Target="/ppt/slides/slide45.xml" Id="R09efe2d74e39417a" /><Relationship Type="http://schemas.openxmlformats.org/officeDocument/2006/relationships/slide" Target="/ppt/slides/slide46.xml" Id="R5a4bde73d9874778" /><Relationship Type="http://schemas.openxmlformats.org/officeDocument/2006/relationships/slide" Target="/ppt/slides/slide47.xml" Id="R145014560e184ce4" /><Relationship Type="http://schemas.openxmlformats.org/officeDocument/2006/relationships/slide" Target="/ppt/slides/slide48.xml" Id="R019b4a5bc9ba4fcd" /><Relationship Type="http://schemas.openxmlformats.org/officeDocument/2006/relationships/slide" Target="/ppt/slides/slide49.xml" Id="Re501843b2fae402e" /><Relationship Type="http://schemas.openxmlformats.org/officeDocument/2006/relationships/slide" Target="/ppt/slides/slide50.xml" Id="R8b30491414364ad8" /><Relationship Type="http://schemas.openxmlformats.org/officeDocument/2006/relationships/slide" Target="/ppt/slides/slide51.xml" Id="Rd4e3563ccfcf46a6" /><Relationship Type="http://schemas.openxmlformats.org/officeDocument/2006/relationships/slide" Target="/ppt/slides/slide52.xml" Id="Re735b927ee6d465c" /><Relationship Type="http://schemas.openxmlformats.org/officeDocument/2006/relationships/slide" Target="/ppt/slides/slide53.xml" Id="R6ea50e70750b474a" /><Relationship Type="http://schemas.openxmlformats.org/officeDocument/2006/relationships/slide" Target="/ppt/slides/slide54.xml" Id="Rf18243d81d244266" /><Relationship Type="http://schemas.openxmlformats.org/officeDocument/2006/relationships/slide" Target="/ppt/slides/slide55.xml" Id="R03de8fd305014f43" /><Relationship Type="http://schemas.openxmlformats.org/officeDocument/2006/relationships/slide" Target="/ppt/slides/slide56.xml" Id="R83ff6e4271994a8e" /><Relationship Type="http://schemas.openxmlformats.org/officeDocument/2006/relationships/slide" Target="/ppt/slides/slide57.xml" Id="Rbc272cd46a8841cb" /><Relationship Type="http://schemas.openxmlformats.org/officeDocument/2006/relationships/slide" Target="/ppt/slides/slide58.xml" Id="R5a29efd3d2a94d15" /><Relationship Type="http://schemas.openxmlformats.org/officeDocument/2006/relationships/slide" Target="/ppt/slides/slide59.xml" Id="Rab0f1ff1a5364f0c" /><Relationship Type="http://schemas.openxmlformats.org/officeDocument/2006/relationships/slide" Target="/ppt/slides/slide60.xml" Id="R3c40a7a9f9244438" /><Relationship Type="http://schemas.openxmlformats.org/officeDocument/2006/relationships/slide" Target="/ppt/slides/slide61.xml" Id="R8dff25a0ce734b6e" /><Relationship Type="http://schemas.openxmlformats.org/officeDocument/2006/relationships/slide" Target="/ppt/slides/slide62.xml" Id="Rfb7eddbf2d604217" /><Relationship Type="http://schemas.openxmlformats.org/officeDocument/2006/relationships/slide" Target="/ppt/slides/slide63.xml" Id="Rde522c76f9594c73" /><Relationship Type="http://schemas.openxmlformats.org/officeDocument/2006/relationships/slide" Target="/ppt/slides/slide64.xml" Id="Rc5bf17acaab4440e" /><Relationship Type="http://schemas.openxmlformats.org/officeDocument/2006/relationships/slide" Target="/ppt/slides/slide65.xml" Id="Rdac701194fe84e7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2e5be0bec9347b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71aa032f42a4f52" /><Relationship Type="http://schemas.openxmlformats.org/officeDocument/2006/relationships/notesMaster" Target="/ppt/notesMasters/notesMaster1.xml" Id="Ra2293cf41319445d" /></Relationships>
</file>

<file path=ppt/notesSlides/_rels/notesSlide2.xml.rels>&#65279;<?xml version="1.0" encoding="utf-8"?><Relationships xmlns="http://schemas.openxmlformats.org/package/2006/relationships"><Relationship Type="http://schemas.openxmlformats.org/officeDocument/2006/relationships/slide" Target="/ppt/slides/slide2.xml" Id="R6537a22fd0e849f9" /><Relationship Type="http://schemas.openxmlformats.org/officeDocument/2006/relationships/notesMaster" Target="/ppt/notesMasters/notesMaster1.xml" Id="Rf433d3f9b9de4c86" /></Relationships>
</file>

<file path=ppt/notesSlides/_rels/notesSlide3.xml.rels>&#65279;<?xml version="1.0" encoding="utf-8"?><Relationships xmlns="http://schemas.openxmlformats.org/package/2006/relationships"><Relationship Type="http://schemas.openxmlformats.org/officeDocument/2006/relationships/slide" Target="/ppt/slides/slide3.xml" Id="R84c4b7e9bcbd488e" /><Relationship Type="http://schemas.openxmlformats.org/officeDocument/2006/relationships/notesMaster" Target="/ppt/notesMasters/notesMaster1.xml" Id="R9b996b8a9e624f22" /></Relationships>
</file>

<file path=ppt/notesSlides/_rels/notesSlide4.xml.rels>&#65279;<?xml version="1.0" encoding="utf-8"?><Relationships xmlns="http://schemas.openxmlformats.org/package/2006/relationships"><Relationship Type="http://schemas.openxmlformats.org/officeDocument/2006/relationships/slide" Target="/ppt/slides/slide4.xml" Id="R943519f6789a47f9" /><Relationship Type="http://schemas.openxmlformats.org/officeDocument/2006/relationships/notesMaster" Target="/ppt/notesMasters/notesMaster1.xml" Id="Ra29c66a758c34a51" /></Relationships>
</file>

<file path=ppt/notesSlides/_rels/notesSlide5.xml.rels>&#65279;<?xml version="1.0" encoding="utf-8"?><Relationships xmlns="http://schemas.openxmlformats.org/package/2006/relationships"><Relationship Type="http://schemas.openxmlformats.org/officeDocument/2006/relationships/slide" Target="/ppt/slides/slide5.xml" Id="R733adef2a7c84038" /><Relationship Type="http://schemas.openxmlformats.org/officeDocument/2006/relationships/notesMaster" Target="/ppt/notesMasters/notesMaster1.xml" Id="R5f64676edeb54bbe" /></Relationships>
</file>

<file path=ppt/notesSlides/_rels/notesSlide6.xml.rels>&#65279;<?xml version="1.0" encoding="utf-8"?><Relationships xmlns="http://schemas.openxmlformats.org/package/2006/relationships"><Relationship Type="http://schemas.openxmlformats.org/officeDocument/2006/relationships/slide" Target="/ppt/slides/slide6.xml" Id="R8d8cc1aafec744d5" /><Relationship Type="http://schemas.openxmlformats.org/officeDocument/2006/relationships/notesMaster" Target="/ppt/notesMasters/notesMaster1.xml" Id="R91927e9a1a5940e3" /></Relationships>
</file>

<file path=ppt/notesSlides/_rels/notesSlide7.xml.rels>&#65279;<?xml version="1.0" encoding="utf-8"?><Relationships xmlns="http://schemas.openxmlformats.org/package/2006/relationships"><Relationship Type="http://schemas.openxmlformats.org/officeDocument/2006/relationships/slide" Target="/ppt/slides/slide7.xml" Id="Re8ff7c6fbdac4b35" /><Relationship Type="http://schemas.openxmlformats.org/officeDocument/2006/relationships/notesMaster" Target="/ppt/notesMasters/notesMaster1.xml" Id="R115a58afd3d84fed" /></Relationships>
</file>

<file path=ppt/notesSlides/_rels/notesSlide8.xml.rels>&#65279;<?xml version="1.0" encoding="utf-8"?><Relationships xmlns="http://schemas.openxmlformats.org/package/2006/relationships"><Relationship Type="http://schemas.openxmlformats.org/officeDocument/2006/relationships/slide" Target="/ppt/slides/slide8.xml" Id="Rd173bb6c9c234492" /><Relationship Type="http://schemas.openxmlformats.org/officeDocument/2006/relationships/notesMaster" Target="/ppt/notesMasters/notesMaster1.xml" Id="R9124730f0501455b" /></Relationships>
</file>

<file path=ppt/notesSlides/_rels/notesSlide9.xml.rels>&#65279;<?xml version="1.0" encoding="utf-8"?><Relationships xmlns="http://schemas.openxmlformats.org/package/2006/relationships"><Relationship Type="http://schemas.openxmlformats.org/officeDocument/2006/relationships/slide" Target="/ppt/slides/slide9.xml" Id="R19eb5da4b4dc4d20" /><Relationship Type="http://schemas.openxmlformats.org/officeDocument/2006/relationships/notesMaster" Target="/ppt/notesMasters/notesMaster1.xml" Id="R3f5c61a2302e4ba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8d3e141da9c4d18" /><Relationship Type="http://schemas.openxmlformats.org/officeDocument/2006/relationships/notesMaster" Target="/ppt/notesMasters/notesMaster1.xml" Id="R958546ffb5824e9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2ef38406ca54845" /><Relationship Type="http://schemas.openxmlformats.org/officeDocument/2006/relationships/notesMaster" Target="/ppt/notesMasters/notesMaster1.xml" Id="R95dbaf749239421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8e8d064110c4e52" /><Relationship Type="http://schemas.openxmlformats.org/officeDocument/2006/relationships/notesMaster" Target="/ppt/notesMasters/notesMaster1.xml" Id="R1c3c6c7274a7496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70d38d965824edd" /><Relationship Type="http://schemas.openxmlformats.org/officeDocument/2006/relationships/notesMaster" Target="/ppt/notesMasters/notesMaster1.xml" Id="R66405fa98fc641b4"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daf498bb01c64745" /><Relationship Type="http://schemas.openxmlformats.org/officeDocument/2006/relationships/notesMaster" Target="/ppt/notesMasters/notesMaster1.xml" Id="R1a4a3d45e04b4092"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3b2ce17881d14c14" /><Relationship Type="http://schemas.openxmlformats.org/officeDocument/2006/relationships/notesMaster" Target="/ppt/notesMasters/notesMaster1.xml" Id="Rb574209644074f29"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115df1e0301b436c" /><Relationship Type="http://schemas.openxmlformats.org/officeDocument/2006/relationships/notesMaster" Target="/ppt/notesMasters/notesMaster1.xml" Id="R92d01520ffe14b87"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287fc84c917d4d72" /><Relationship Type="http://schemas.openxmlformats.org/officeDocument/2006/relationships/notesMaster" Target="/ppt/notesMasters/notesMaster1.xml" Id="R116d9045674f43e5"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bae24972005e4caa" /><Relationship Type="http://schemas.openxmlformats.org/officeDocument/2006/relationships/notesMaster" Target="/ppt/notesMasters/notesMaster1.xml" Id="R6f96dff2059a4a5b"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43d8c1374bc349ca" /><Relationship Type="http://schemas.openxmlformats.org/officeDocument/2006/relationships/notesMaster" Target="/ppt/notesMasters/notesMaster1.xml" Id="R8985a36cb114408e"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48c8e367ba234871" /><Relationship Type="http://schemas.openxmlformats.org/officeDocument/2006/relationships/notesMaster" Target="/ppt/notesMasters/notesMaster1.xml" Id="R35e704ef5da14a1f"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cbe8f05d2c6d4adf" /><Relationship Type="http://schemas.openxmlformats.org/officeDocument/2006/relationships/notesMaster" Target="/ppt/notesMasters/notesMaster1.xml" Id="R53f43fef1f3c402a"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1dce5d472dee42cf" /><Relationship Type="http://schemas.openxmlformats.org/officeDocument/2006/relationships/notesMaster" Target="/ppt/notesMasters/notesMaster1.xml" Id="Ra12ad892a58c4b77"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ca22eb3ecade4d45" /><Relationship Type="http://schemas.openxmlformats.org/officeDocument/2006/relationships/notesMaster" Target="/ppt/notesMasters/notesMaster1.xml" Id="Rb390e6a355f74080"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acc4a2d0bc614561" /><Relationship Type="http://schemas.openxmlformats.org/officeDocument/2006/relationships/notesMaster" Target="/ppt/notesMasters/notesMaster1.xml" Id="R07a46000018b41ce"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2ca1bd25eb4e4d52" /><Relationship Type="http://schemas.openxmlformats.org/officeDocument/2006/relationships/notesMaster" Target="/ppt/notesMasters/notesMaster1.xml" Id="R8fe05962dc4e4152"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67700892e6224a03" /><Relationship Type="http://schemas.openxmlformats.org/officeDocument/2006/relationships/notesMaster" Target="/ppt/notesMasters/notesMaster1.xml" Id="R7c133d422fad47a3"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1ce34fd04bb54727" /><Relationship Type="http://schemas.openxmlformats.org/officeDocument/2006/relationships/notesMaster" Target="/ppt/notesMasters/notesMaster1.xml" Id="Rda8b50d445cb419b"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c3099e28d135480a" /><Relationship Type="http://schemas.openxmlformats.org/officeDocument/2006/relationships/notesMaster" Target="/ppt/notesMasters/notesMaster1.xml" Id="Ref424e91f3e94eb4"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0c56663cfb634d6b" /><Relationship Type="http://schemas.openxmlformats.org/officeDocument/2006/relationships/notesMaster" Target="/ppt/notesMasters/notesMaster1.xml" Id="R87ef5e03842c4128"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03b20f729d084a30" /><Relationship Type="http://schemas.openxmlformats.org/officeDocument/2006/relationships/notesMaster" Target="/ppt/notesMasters/notesMaster1.xml" Id="R3b31d130f4374367"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82e89b0710184a58" /><Relationship Type="http://schemas.openxmlformats.org/officeDocument/2006/relationships/notesMaster" Target="/ppt/notesMasters/notesMaster1.xml" Id="R4d2f0d3f74d44155"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852f61fc9a0b4d28" /><Relationship Type="http://schemas.openxmlformats.org/officeDocument/2006/relationships/notesMaster" Target="/ppt/notesMasters/notesMaster1.xml" Id="R0cd17416da61465e"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48bbc9510fa946aa" /><Relationship Type="http://schemas.openxmlformats.org/officeDocument/2006/relationships/notesMaster" Target="/ppt/notesMasters/notesMaster1.xml" Id="Re342d1eecc224332"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6c2cca8fdae44527" /><Relationship Type="http://schemas.openxmlformats.org/officeDocument/2006/relationships/notesMaster" Target="/ppt/notesMasters/notesMaster1.xml" Id="R6d070594448f4079"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3be45c3dcb54454b" /><Relationship Type="http://schemas.openxmlformats.org/officeDocument/2006/relationships/notesMaster" Target="/ppt/notesMasters/notesMaster1.xml" Id="Rbe85c4e1c05e4774"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2e8abbe2cc33493a" /><Relationship Type="http://schemas.openxmlformats.org/officeDocument/2006/relationships/notesMaster" Target="/ppt/notesMasters/notesMaster1.xml" Id="R81083399fc51453c"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2c0e594a933b4bcf" /><Relationship Type="http://schemas.openxmlformats.org/officeDocument/2006/relationships/notesMaster" Target="/ppt/notesMasters/notesMaster1.xml" Id="Rf097bd764f3d40cc"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55c14141ec1140b4" /><Relationship Type="http://schemas.openxmlformats.org/officeDocument/2006/relationships/notesMaster" Target="/ppt/notesMasters/notesMaster1.xml" Id="Re9d337f72cd84909"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89e09e3607a74412" /><Relationship Type="http://schemas.openxmlformats.org/officeDocument/2006/relationships/notesMaster" Target="/ppt/notesMasters/notesMaster1.xml" Id="Rcd24d2626e40499f"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0e632c70c7e64720" /><Relationship Type="http://schemas.openxmlformats.org/officeDocument/2006/relationships/notesMaster" Target="/ppt/notesMasters/notesMaster1.xml" Id="R79886dcb5a334f27"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bc8f940ec6da4caf" /><Relationship Type="http://schemas.openxmlformats.org/officeDocument/2006/relationships/notesMaster" Target="/ppt/notesMasters/notesMaster1.xml" Id="R03c1581842b241b6"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577219b3ee874cb3" /><Relationship Type="http://schemas.openxmlformats.org/officeDocument/2006/relationships/notesMaster" Target="/ppt/notesMasters/notesMaster1.xml" Id="R3838a97ff7be4091"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b0b6c91c6e39427d" /><Relationship Type="http://schemas.openxmlformats.org/officeDocument/2006/relationships/notesMaster" Target="/ppt/notesMasters/notesMaster1.xml" Id="R4b093848cc034eea"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0d56e5d7c3fd426d" /><Relationship Type="http://schemas.openxmlformats.org/officeDocument/2006/relationships/notesMaster" Target="/ppt/notesMasters/notesMaster1.xml" Id="R237bb3a1903b41b4"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333160b9262c4358" /><Relationship Type="http://schemas.openxmlformats.org/officeDocument/2006/relationships/notesMaster" Target="/ppt/notesMasters/notesMaster1.xml" Id="Re554b8fdf55641fd"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e03b88f976584878" /><Relationship Type="http://schemas.openxmlformats.org/officeDocument/2006/relationships/notesMaster" Target="/ppt/notesMasters/notesMaster1.xml" Id="Refa273c81e864a3c"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ece47422c47e4b7a" /><Relationship Type="http://schemas.openxmlformats.org/officeDocument/2006/relationships/notesMaster" Target="/ppt/notesMasters/notesMaster1.xml" Id="Rbde835334ad84ab4"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4133224a951a4a7b" /><Relationship Type="http://schemas.openxmlformats.org/officeDocument/2006/relationships/notesMaster" Target="/ppt/notesMasters/notesMaster1.xml" Id="R7fea064dd25b42fb"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ef4705ed64ff4976" /><Relationship Type="http://schemas.openxmlformats.org/officeDocument/2006/relationships/notesMaster" Target="/ppt/notesMasters/notesMaster1.xml" Id="R69fa4e4c9dc945e2"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59ca126ef8bf447f" /><Relationship Type="http://schemas.openxmlformats.org/officeDocument/2006/relationships/notesMaster" Target="/ppt/notesMasters/notesMaster1.xml" Id="Rd03c47f31d4f41aa"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297a24c2873f4e92" /><Relationship Type="http://schemas.openxmlformats.org/officeDocument/2006/relationships/notesMaster" Target="/ppt/notesMasters/notesMaster1.xml" Id="Rb6e9b2c38763402a"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dfa6d8daa5674633" /><Relationship Type="http://schemas.openxmlformats.org/officeDocument/2006/relationships/notesMaster" Target="/ppt/notesMasters/notesMaster1.xml" Id="R5c569509d84d4038"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12eb5fd90d724830" /><Relationship Type="http://schemas.openxmlformats.org/officeDocument/2006/relationships/notesMaster" Target="/ppt/notesMasters/notesMaster1.xml" Id="R5f4b58fe21db4c99"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8247c95fb89f4b05" /><Relationship Type="http://schemas.openxmlformats.org/officeDocument/2006/relationships/notesMaster" Target="/ppt/notesMasters/notesMaster1.xml" Id="R29b966a8edba40d7"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62a724273c5940a1" /><Relationship Type="http://schemas.openxmlformats.org/officeDocument/2006/relationships/notesMaster" Target="/ppt/notesMasters/notesMaster1.xml" Id="R4a4687ee05ea486f"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2679b0e7c3854504" /><Relationship Type="http://schemas.openxmlformats.org/officeDocument/2006/relationships/notesMaster" Target="/ppt/notesMasters/notesMaster1.xml" Id="R51407e5d5d2e496e"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8c0643ae5dd04e3d" /><Relationship Type="http://schemas.openxmlformats.org/officeDocument/2006/relationships/notesMaster" Target="/ppt/notesMasters/notesMaster1.xml" Id="R2f0568e725a94dee"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d77b405d67bf4173" /><Relationship Type="http://schemas.openxmlformats.org/officeDocument/2006/relationships/notesMaster" Target="/ppt/notesMasters/notesMaster1.xml" Id="Rbb76cb3657fb4655"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70711df583404e9f" /><Relationship Type="http://schemas.openxmlformats.org/officeDocument/2006/relationships/notesMaster" Target="/ppt/notesMasters/notesMaster1.xml" Id="Re8b5f98df11f4fb1"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95e1d71b975f4c9b" /><Relationship Type="http://schemas.openxmlformats.org/officeDocument/2006/relationships/notesMaster" Target="/ppt/notesMasters/notesMaster1.xml" Id="R157041dc5fcf4843"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a4917a2840744af6" /><Relationship Type="http://schemas.openxmlformats.org/officeDocument/2006/relationships/notesMaster" Target="/ppt/notesMasters/notesMaster1.xml" Id="Rb9a78fc085584006"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2b90d9c4783e412b" /><Relationship Type="http://schemas.openxmlformats.org/officeDocument/2006/relationships/notesMaster" Target="/ppt/notesMasters/notesMaster1.xml" Id="R27e4303e675e4af9"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d9fb758e4e794002" /><Relationship Type="http://schemas.openxmlformats.org/officeDocument/2006/relationships/notesMaster" Target="/ppt/notesMasters/notesMaster1.xml" Id="Ra7034ed33de24b36"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dcecf6c2bbdf481b" /><Relationship Type="http://schemas.openxmlformats.org/officeDocument/2006/relationships/notesMaster" Target="/ppt/notesMasters/notesMaster1.xml" Id="R982fb83cafde490e"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822d81e4c3664f48" /><Relationship Type="http://schemas.openxmlformats.org/officeDocument/2006/relationships/notesMaster" Target="/ppt/notesMasters/notesMaster1.xml" Id="R2d5a3696212647b4"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Python calculations and reusable functions</a:t>
            </a:r>
          </a:p>
          <a:p>
            <a:r>
              <a:t/>
            </a:r>
          </a:p>
          <a:p>
            <a:r>
              <a:t>LECTURER CUE</a:t>
            </a:r>
          </a:p>
          <a:p>
            <a:r>
              <a:t>Use PowerPoint Presenter View for these notes. Teach one example, pause for every learner to predict, then work an analogous example together. The practice notebook is a learning aid, not an extra graded upload.</a:t>
            </a:r>
          </a:p>
          <a:p>
            <a:r>
              <a:t/>
            </a:r>
          </a:p>
          <a:p>
            <a:r>
              <a:t>EXPLAIN IN ORDINARY WORDS</a:t>
            </a:r>
          </a:p>
          <a:p>
            <a:r>
              <a:t>A function is a named set of instructions. def defines it; a call runs it with inputs. Parameters are input names, arguments are supplied values, and return sends the result back.</a:t>
            </a:r>
          </a:p>
          <a:p>
            <a:r>
              <a:t/>
            </a:r>
          </a:p>
          <a:p>
            <a:r>
              <a:t>CHECK AND EXPECTED ANSWER</a:t>
            </a:r>
          </a:p>
          <a:p>
            <a:r>
              <a:t>Does print(8) return the number 8 to the caller? No; it displays 8 and returns None. A function needing a numeric result should return it.</a:t>
            </a:r>
          </a:p>
          <a:p>
            <a:r>
              <a:t/>
            </a:r>
          </a:p>
          <a:p>
            <a:r>
              <a:t>IF LEARNERS ARE STUCK</a:t>
            </a:r>
          </a:p>
          <a:p>
            <a:r>
              <a:t>Trace one call: bind input names, run the indented body, reach return, then put the returned result back into the calling expression.</a:t>
            </a:r>
          </a:p>
          <a:p>
            <a:r>
              <a:t/>
            </a:r>
          </a:p>
          <a:p>
            <a:r>
              <a:t>NEXT</a:t>
            </a:r>
          </a:p>
          <a:p>
            <a:r>
              <a:t>Today’s learning.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Today’s learning</a:t>
            </a:r>
          </a:p>
          <a:p>
            <a:r>
              <a:t/>
            </a:r>
          </a:p>
          <a:p>
            <a:r>
              <a:t>CONNECT</a:t>
            </a:r>
          </a:p>
          <a:p>
            <a:r>
              <a:t>Build on the preceding slide: Python calculations and reusable functions.</a:t>
            </a:r>
          </a:p>
          <a:p>
            <a:r>
              <a:t/>
            </a:r>
          </a:p>
          <a:p>
            <a:r>
              <a:t>LECTURER CUE</a:t>
            </a:r>
          </a:p>
          <a:p>
            <a:r>
              <a:t>Ask learners to explain this goal in ordinary language. The first successful attempt matters more than covering optional extensions. Defer: Five-function libraries, module imports, scope details, debugger setup and six independent bug hunts can wait. Demonstrate one ordinary traceback and one unit mistake now.</a:t>
            </a:r>
          </a:p>
          <a:p>
            <a:r>
              <a:t/>
            </a:r>
          </a:p>
          <a:p>
            <a:r>
              <a:t>EXPLAIN IN ORDINARY WORDS</a:t>
            </a:r>
          </a:p>
          <a:p>
            <a:r>
              <a:t>A function is a named set of instructions. def defines it; a call runs it with inputs. Parameters are input names, arguments are supplied values, and return sends the result back.</a:t>
            </a:r>
          </a:p>
          <a:p>
            <a:r>
              <a:t/>
            </a:r>
          </a:p>
          <a:p>
            <a:r>
              <a:t>CHECK AND EXPECTED ANSWER</a:t>
            </a:r>
          </a:p>
          <a:p>
            <a:r>
              <a:t>Does print(8) return the number 8 to the caller? No; it displays 8 and returns None. A function needing a numeric result should return it.</a:t>
            </a:r>
          </a:p>
          <a:p>
            <a:r>
              <a:t/>
            </a:r>
          </a:p>
          <a:p>
            <a:r>
              <a:t>IF LEARNERS ARE STUCK</a:t>
            </a:r>
          </a:p>
          <a:p>
            <a:r>
              <a:t>Trace one call: bind input names, run the indented body, reach return, then put the returned result back into the calling expression.</a:t>
            </a:r>
          </a:p>
          <a:p>
            <a:r>
              <a:t/>
            </a:r>
          </a:p>
          <a:p>
            <a:r>
              <a:t>NEXT</a:t>
            </a:r>
          </a:p>
          <a:p>
            <a:r>
              <a:t>Recall and a first attempt.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Recall and a first attempt</a:t>
            </a:r>
          </a:p>
          <a:p>
            <a:r>
              <a:t/>
            </a:r>
          </a:p>
          <a:p>
            <a:r>
              <a:t>CONNECT</a:t>
            </a:r>
          </a:p>
          <a:p>
            <a:r>
              <a:t>Build on the preceding slide: Today’s learning.</a:t>
            </a:r>
          </a:p>
          <a:p>
            <a:r>
              <a:t/>
            </a:r>
          </a:p>
          <a:p>
            <a:r>
              <a:t>LECTURER CUE</a:t>
            </a:r>
          </a:p>
          <a:p>
            <a:r>
              <a:t>Allow two minutes for everyone to try. Ask pairs to compare. If many cannot begin, show the first step and repeat with changed values. Checkpoint for today: Students explain the difference between defining and calling a function, and between return and print. Re-model with double_value if these are confused.</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a:p>
            <a:r>
              <a:t/>
            </a:r>
          </a:p>
          <a:p>
            <a:r>
              <a:t>NEXT</a:t>
            </a:r>
          </a:p>
          <a:p>
            <a:r>
              <a:t>The engineering context.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The engineering context</a:t>
            </a:r>
          </a:p>
          <a:p>
            <a:r>
              <a:t/>
            </a:r>
          </a:p>
          <a:p>
            <a:r>
              <a:t>CONNECT</a:t>
            </a:r>
          </a:p>
          <a:p>
            <a:r>
              <a:t>Build on the preceding slide: Recall and a first attempt.</a:t>
            </a:r>
          </a:p>
          <a:p>
            <a:r>
              <a:t/>
            </a:r>
          </a:p>
          <a:p>
            <a:r>
              <a:t>LECTURER CUE</a:t>
            </a:r>
          </a:p>
          <a:p>
            <a:r>
              <a:t>A team records device temperature to investigate cooling. Use a communications cabinet, an electrical enclosure or a robot controller as the physical example. No specialist hardware knowledge is assumed.</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NEXT</a:t>
            </a:r>
          </a:p>
          <a:p>
            <a:r>
              <a:t>Start with numbers and values.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Start with numbers and values</a:t>
            </a:r>
          </a:p>
          <a:p>
            <a:r>
              <a:t/>
            </a:r>
          </a:p>
          <a:p>
            <a:r>
              <a:t>CONNECT</a:t>
            </a:r>
          </a:p>
          <a:p>
            <a:r>
              <a:t>Build on the preceding slide: The engineering context.</a:t>
            </a:r>
          </a:p>
          <a:p>
            <a:r>
              <a:t/>
            </a:r>
          </a:p>
          <a:p>
            <a:r>
              <a:t>EXPLAIN IN ORDINARY WORDS</a:t>
            </a:r>
          </a:p>
          <a:p>
            <a:r>
              <a:t>A value is a piece of information. A variable is a name referring to a value. In length_m = 5, Python evaluates the right side and binds that result to the name on the left.</a:t>
            </a:r>
          </a:p>
          <a:p>
            <a:r>
              <a:t/>
            </a:r>
          </a:p>
          <a:p>
            <a:r>
              <a:t>CHECK AND EXPECTED ANSWER</a:t>
            </a:r>
          </a:p>
          <a:p>
            <a:r>
              <a:t>After x=3 then x=5, what does print(x) display? 5. The earlier value is not added automatically.</a:t>
            </a:r>
          </a:p>
          <a:p>
            <a:r>
              <a:t/>
            </a:r>
          </a:p>
          <a:p>
            <a:r>
              <a:t>IF LEARNERS ARE STUCK</a:t>
            </a:r>
          </a:p>
          <a:p>
            <a:r>
              <a:t>Write the name on a card and the current value beside it. Distinguish number 3 from quoted text "3".</a:t>
            </a:r>
          </a:p>
          <a:p>
            <a:r>
              <a:t/>
            </a:r>
          </a:p>
          <a:p>
            <a:r>
              <a:t>POINT TO THE DEFINITION</a:t>
            </a:r>
          </a:p>
          <a:p>
            <a:r>
              <a:t>Number: A number expresses how much or how many: 3 items or 2.5 metres. Whole numbers count; decimal numbers can describe a part of a unit.</a:t>
            </a:r>
          </a:p>
          <a:p>
            <a:r>
              <a:t>Value and unit: A value is one piece of information. The number 2.5 is a value. A measurement also needs a unit, such as metres. Python does not attach that unit automatically.</a:t>
            </a:r>
          </a:p>
          <a:p>
            <a:r>
              <a:t/>
            </a:r>
          </a:p>
          <a:p>
            <a:r>
              <a:t>NEXT</a:t>
            </a:r>
          </a:p>
          <a:p>
            <a:r>
              <a:t>Words we will use.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Words we will use</a:t>
            </a:r>
          </a:p>
          <a:p>
            <a:r>
              <a:t/>
            </a:r>
          </a:p>
          <a:p>
            <a:r>
              <a:t>CONNECT</a:t>
            </a:r>
          </a:p>
          <a:p>
            <a:r>
              <a:t>Build on the preceding slide: Start with numbers and values.</a:t>
            </a:r>
          </a:p>
          <a:p>
            <a:r>
              <a:t/>
            </a:r>
          </a:p>
          <a:p>
            <a:r>
              <a:t>EXPLAIN IN ORDINARY WORDS</a:t>
            </a:r>
          </a:p>
          <a:p>
            <a:r>
              <a:t>A value is a piece of information. A variable is a name referring to a value. In length_m = 5, Python evaluates the right side and binds that result to the name on the left.</a:t>
            </a:r>
          </a:p>
          <a:p>
            <a:r>
              <a:t/>
            </a:r>
          </a:p>
          <a:p>
            <a:r>
              <a:t>CHECK AND EXPECTED ANSWER</a:t>
            </a:r>
          </a:p>
          <a:p>
            <a:r>
              <a:t>After x=3 then x=5, what does print(x) display? 5. The earlier value is not added automatically.</a:t>
            </a:r>
          </a:p>
          <a:p>
            <a:r>
              <a:t/>
            </a:r>
          </a:p>
          <a:p>
            <a:r>
              <a:t>IF LEARNERS ARE STUCK</a:t>
            </a:r>
          </a:p>
          <a:p>
            <a:r>
              <a:t>Write the name on a card and the current value beside it. Distinguish number 3 from quoted text "3".</a:t>
            </a:r>
          </a:p>
          <a:p>
            <a:r>
              <a:t/>
            </a:r>
          </a:p>
          <a:p>
            <a:r>
              <a:t>POINT TO THE DEFINITION</a:t>
            </a:r>
          </a:p>
          <a:p>
            <a:r>
              <a:t>Variable: A name referring to a value. In length_m = 5, the right side is evaluated and assigned to length_m.</a:t>
            </a:r>
          </a:p>
          <a:p>
            <a:r>
              <a:t>int, float, str, bool: int represents whole numbers; float represents approximate real numbers such as 2.5; str is text in quotes; bool is True or False.</a:t>
            </a:r>
          </a:p>
          <a:p>
            <a:r>
              <a:t/>
            </a:r>
          </a:p>
          <a:p>
            <a:r>
              <a:t>NEXT</a:t>
            </a:r>
          </a:p>
          <a:p>
            <a:r>
              <a:t>A variable refers to its current value.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variable refers to its current value</a:t>
            </a:r>
          </a:p>
          <a:p>
            <a:r>
              <a:t/>
            </a:r>
          </a:p>
          <a:p>
            <a:r>
              <a:t>CONNECT</a:t>
            </a:r>
          </a:p>
          <a:p>
            <a:r>
              <a:t>Build on the preceding slide: Words we will use.</a:t>
            </a:r>
          </a:p>
          <a:p>
            <a:r>
              <a:t/>
            </a:r>
          </a:p>
          <a:p>
            <a:r>
              <a:t>LECTURER CUE</a:t>
            </a:r>
          </a:p>
          <a:p>
            <a:r>
              <a:t>This box is a simplified model of a name referring to a value. Other names could still refer to an earlier object.</a:t>
            </a:r>
          </a:p>
          <a:p>
            <a:r>
              <a:t>Source: existing course illustration figs/variable_box.png. These are illustrative examples, not this cohort’s assessed results.</a:t>
            </a:r>
          </a:p>
          <a:p>
            <a:r>
              <a:t/>
            </a:r>
          </a:p>
          <a:p>
            <a:r>
              <a:t>EXPLAIN IN ORDINARY WORDS</a:t>
            </a:r>
          </a:p>
          <a:p>
            <a:r>
              <a:t>A value is a piece of information. A variable is a name referring to a value. In length_m = 5, Python evaluates the right side and binds that result to the name on the left.</a:t>
            </a:r>
          </a:p>
          <a:p>
            <a:r>
              <a:t/>
            </a:r>
          </a:p>
          <a:p>
            <a:r>
              <a:t>CHECK AND EXPECTED ANSWER</a:t>
            </a:r>
          </a:p>
          <a:p>
            <a:r>
              <a:t>After x=3 then x=5, what does print(x) display? 5. The earlier value is not added automatically.</a:t>
            </a:r>
          </a:p>
          <a:p>
            <a:r>
              <a:t/>
            </a:r>
          </a:p>
          <a:p>
            <a:r>
              <a:t>IF LEARNERS ARE STUCK</a:t>
            </a:r>
          </a:p>
          <a:p>
            <a:r>
              <a:t>Write the name on a card and the current value beside it. Distinguish number 3 from quoted text "3".</a:t>
            </a:r>
          </a:p>
          <a:p>
            <a:r>
              <a:t/>
            </a:r>
          </a:p>
          <a:p>
            <a:r>
              <a:t>NEXT</a:t>
            </a:r>
          </a:p>
          <a:p>
            <a:r>
              <a:t>Python values have types.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Python values have types</a:t>
            </a:r>
          </a:p>
          <a:p>
            <a:r>
              <a:t/>
            </a:r>
          </a:p>
          <a:p>
            <a:r>
              <a:t>CONNECT</a:t>
            </a:r>
          </a:p>
          <a:p>
            <a:r>
              <a:t>Build on the preceding slide: A variable refers to its current value.</a:t>
            </a:r>
          </a:p>
          <a:p>
            <a:r>
              <a:t/>
            </a:r>
          </a:p>
          <a:p>
            <a:r>
              <a:t>LECTURER CUE</a:t>
            </a:r>
          </a:p>
          <a:p>
            <a:r>
              <a:t>3.5 + 2 gives 5.5. "3.5" + "2" joins text into "3.52".</a:t>
            </a:r>
          </a:p>
          <a:p>
            <a:r>
              <a:t/>
            </a:r>
          </a:p>
          <a:p>
            <a:r>
              <a:t>EXPLAIN IN ORDINARY WORDS</a:t>
            </a:r>
          </a:p>
          <a:p>
            <a:r>
              <a:t>A value is a piece of information. A variable is a name referring to a value. In length_m = 5, Python evaluates the right side and binds that result to the name on the left.</a:t>
            </a:r>
          </a:p>
          <a:p>
            <a:r>
              <a:t/>
            </a:r>
          </a:p>
          <a:p>
            <a:r>
              <a:t>CHECK AND EXPECTED ANSWER</a:t>
            </a:r>
          </a:p>
          <a:p>
            <a:r>
              <a:t>After x=3 then x=5, what does print(x) display? 5. The earlier value is not added automatically.</a:t>
            </a:r>
          </a:p>
          <a:p>
            <a:r>
              <a:t/>
            </a:r>
          </a:p>
          <a:p>
            <a:r>
              <a:t>IF LEARNERS ARE STUCK</a:t>
            </a:r>
          </a:p>
          <a:p>
            <a:r>
              <a:t>Write the name on a card and the current value beside it. Distinguish number 3 from quoted text "3".</a:t>
            </a:r>
          </a:p>
          <a:p>
            <a:r>
              <a:t/>
            </a:r>
          </a:p>
          <a:p>
            <a:r>
              <a:t>READ THE VISUAL</a:t>
            </a:r>
          </a:p>
          <a:p>
            <a:r>
              <a:t>Start with the title and labels. Read one row or mark aloud, including its unit. Let a learner read a second one before discussing the pattern. Do not infer a numerical value from an unlabelled drawing.</a:t>
            </a:r>
          </a:p>
          <a:p>
            <a:r>
              <a:t/>
            </a:r>
          </a:p>
          <a:p>
            <a:r>
              <a:t>NEXT</a:t>
            </a:r>
          </a:p>
          <a:p>
            <a:r>
              <a:t>Operator.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Operator</a:t>
            </a:r>
          </a:p>
          <a:p>
            <a:r>
              <a:t/>
            </a:r>
          </a:p>
          <a:p>
            <a:r>
              <a:t>CONNECT</a:t>
            </a:r>
          </a:p>
          <a:p>
            <a:r>
              <a:t>Build on the preceding slide: Python values have types.</a:t>
            </a:r>
          </a:p>
          <a:p>
            <a:r>
              <a:t/>
            </a:r>
          </a:p>
          <a:p>
            <a:r>
              <a:t>EXPLAIN IN ORDINARY WORDS</a:t>
            </a:r>
          </a:p>
          <a:p>
            <a:r>
              <a:t>Read each quantity and unit before using a formula. Python calculates numbers but does not enforce physical units. Parentheses specify which operation happens first.</a:t>
            </a:r>
          </a:p>
          <a:p>
            <a:r>
              <a:t/>
            </a:r>
          </a:p>
          <a:p>
            <a:r>
              <a:t>CHECK AND EXPECTED ANSWER</a:t>
            </a:r>
          </a:p>
          <a:p>
            <a:r>
              <a:t>What is 5 m times 3 m? 15 square metres. What is 7/2 in Python? 3.5; 7//2 is 3.</a:t>
            </a:r>
          </a:p>
          <a:p>
            <a:r>
              <a:t/>
            </a:r>
          </a:p>
          <a:p>
            <a:r>
              <a:t>IF LEARNERS ARE STUCK</a:t>
            </a:r>
          </a:p>
          <a:p>
            <a:r>
              <a:t>Write the formula and units on paper, substitute small values, then translate it to Python. Check zero denominators and the issued sign convention.</a:t>
            </a:r>
          </a:p>
          <a:p>
            <a:r>
              <a:t/>
            </a:r>
          </a:p>
          <a:p>
            <a:r>
              <a:t>POINT TO THE DEFINITION</a:t>
            </a:r>
          </a:p>
          <a:p>
            <a:r>
              <a:t>Operator: A symbol for an operation: + adds, - subtracts, * multiplies, / divides, ** raises to a power. // floors a quotient, so -5 // 2 is -3.</a:t>
            </a:r>
          </a:p>
          <a:p>
            <a:r>
              <a:t/>
            </a:r>
          </a:p>
          <a:p>
            <a:r>
              <a:t>NEXT</a:t>
            </a:r>
          </a:p>
          <a:p>
            <a:r>
              <a:t>Read a function call before using it.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Read a function call before using it</a:t>
            </a:r>
          </a:p>
          <a:p>
            <a:r>
              <a:t/>
            </a:r>
          </a:p>
          <a:p>
            <a:r>
              <a:t>CONNECT</a:t>
            </a:r>
          </a:p>
          <a:p>
            <a:r>
              <a:t>Build on the preceding slide: Operator.</a:t>
            </a:r>
          </a:p>
          <a:p>
            <a:r>
              <a:t/>
            </a:r>
          </a:p>
          <a:p>
            <a:r>
              <a:t>EXPLAIN IN ORDINARY WORDS</a:t>
            </a:r>
          </a:p>
          <a:p>
            <a:r>
              <a:t>A function is a named set of instructions. def defines it; a call runs it with inputs. Parameters are input names, arguments are supplied values, and return sends the result back.</a:t>
            </a:r>
          </a:p>
          <a:p>
            <a:r>
              <a:t/>
            </a:r>
          </a:p>
          <a:p>
            <a:r>
              <a:t>CHECK AND EXPECTED ANSWER</a:t>
            </a:r>
          </a:p>
          <a:p>
            <a:r>
              <a:t>Does print(8) return the number 8 to the caller? No; it displays 8 and returns None. A function needing a numeric result should return it.</a:t>
            </a:r>
          </a:p>
          <a:p>
            <a:r>
              <a:t/>
            </a:r>
          </a:p>
          <a:p>
            <a:r>
              <a:t>IF LEARNERS ARE STUCK</a:t>
            </a:r>
          </a:p>
          <a:p>
            <a:r>
              <a:t>Trace one call: bind input names, run the indented body, reach return, then put the returned result back into the calling expression.</a:t>
            </a:r>
          </a:p>
          <a:p>
            <a:r>
              <a:t/>
            </a:r>
          </a:p>
          <a:p>
            <a:r>
              <a:t>POINT TO THE DEFINITION</a:t>
            </a:r>
          </a:p>
          <a:p>
            <a:r>
              <a:t>A built-in function: Python already provides tools such as print, type and float. A function call asks a named tool to do its work: print(3) displays 3.</a:t>
            </a:r>
          </a:p>
          <a:p>
            <a:r>
              <a:t>Parentheses, quotes and comments: Parentheses hold the inputs to a call. Quotes make text: "3.5" is text; float("3.5") converts it to a number. # starts a comment that Python does not run.</a:t>
            </a:r>
          </a:p>
          <a:p>
            <a:r>
              <a:t/>
            </a:r>
          </a:p>
          <a:p>
            <a:r>
              <a:t>NEXT</a:t>
            </a:r>
          </a:p>
          <a:p>
            <a:r>
              <a:t>Reading Python symbols.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Reading Python symbols</a:t>
            </a:r>
          </a:p>
          <a:p>
            <a:r>
              <a:t/>
            </a:r>
          </a:p>
          <a:p>
            <a:r>
              <a:t>CONNECT</a:t>
            </a:r>
          </a:p>
          <a:p>
            <a:r>
              <a:t>Build on the preceding slide: Read a function call before using it.</a:t>
            </a:r>
          </a:p>
          <a:p>
            <a:r>
              <a:t/>
            </a:r>
          </a:p>
          <a:p>
            <a:r>
              <a:t>EXPLAIN IN ORDINARY WORDS</a:t>
            </a:r>
          </a:p>
          <a:p>
            <a:r>
              <a:t>Read each quantity and unit before using a formula. Python calculates numbers but does not enforce physical units. Parentheses specify which operation happens first.</a:t>
            </a:r>
          </a:p>
          <a:p>
            <a:r>
              <a:t/>
            </a:r>
          </a:p>
          <a:p>
            <a:r>
              <a:t>CHECK AND EXPECTED ANSWER</a:t>
            </a:r>
          </a:p>
          <a:p>
            <a:r>
              <a:t>What is 5 m times 3 m? 15 square metres. What is 7/2 in Python? 3.5; 7//2 is 3.</a:t>
            </a:r>
          </a:p>
          <a:p>
            <a:r>
              <a:t/>
            </a:r>
          </a:p>
          <a:p>
            <a:r>
              <a:t>IF LEARNERS ARE STUCK</a:t>
            </a:r>
          </a:p>
          <a:p>
            <a:r>
              <a:t>Write the formula and units on paper, substitute small values, then translate it to Python. Check zero denominators and the issued sign convention.</a:t>
            </a:r>
          </a:p>
          <a:p>
            <a:r>
              <a:t/>
            </a:r>
          </a:p>
          <a:p>
            <a:r>
              <a:t>NEXT</a:t>
            </a:r>
          </a:p>
          <a:p>
            <a:r>
              <a:t>Names, conversion and comments.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Names, conversion and comments</a:t>
            </a:r>
          </a:p>
          <a:p>
            <a:r>
              <a:t/>
            </a:r>
          </a:p>
          <a:p>
            <a:r>
              <a:t>CONNECT</a:t>
            </a:r>
          </a:p>
          <a:p>
            <a:r>
              <a:t>Build on the preceding slide: Reading Python symbols.</a:t>
            </a:r>
          </a:p>
          <a:p>
            <a:r>
              <a:t/>
            </a:r>
          </a:p>
          <a:p>
            <a:r>
              <a:t>LECTURER CUE</a:t>
            </a:r>
          </a:p>
          <a:p>
            <a:r>
              <a:t>Read each symbol before running. Ask everyone to predict. Expected output: 7.0 then &lt;class 'float'&gt;</a:t>
            </a:r>
          </a:p>
          <a:p>
            <a:r>
              <a:t/>
            </a:r>
          </a:p>
          <a:p>
            <a:r>
              <a:t>EXPLAIN IN ORDINARY WORDS</a:t>
            </a:r>
          </a:p>
          <a:p>
            <a:r>
              <a:t>Read each quantity and unit before using a formula. Python calculates numbers but does not enforce physical units. Parentheses specify which operation happens first.</a:t>
            </a:r>
          </a:p>
          <a:p>
            <a:r>
              <a:t/>
            </a:r>
          </a:p>
          <a:p>
            <a:r>
              <a:t>CHECK AND EXPECTED ANSWER</a:t>
            </a:r>
          </a:p>
          <a:p>
            <a:r>
              <a:t>What is 5 m times 3 m? 15 square metres. What is 7/2 in Python? 3.5; 7//2 is 3.</a:t>
            </a:r>
          </a:p>
          <a:p>
            <a:r>
              <a:t/>
            </a:r>
          </a:p>
          <a:p>
            <a:r>
              <a:t>IF LEARNERS ARE STUCK</a:t>
            </a:r>
          </a:p>
          <a:p>
            <a:r>
              <a:t>Write the formula and units on paper, substitute small values, then translate it to Python. Check zero denominators and the issued sign convention.</a:t>
            </a:r>
          </a:p>
          <a:p>
            <a:r>
              <a:t/>
            </a:r>
          </a:p>
          <a:p>
            <a:r>
              <a:t>WALK THROUGH THIS CODE</a:t>
            </a:r>
          </a:p>
          <a:p>
            <a:r>
              <a:t>float converts numeric text into a decimal number.</a:t>
            </a:r>
          </a:p>
          <a:p>
            <a:r>
              <a:t>type reports the kind of value: for example, float.</a:t>
            </a:r>
          </a:p>
          <a:p>
            <a:r>
              <a:t>print displays a value below the cell.</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Arithmetic that needs care.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Arithmetic that needs care</a:t>
            </a:r>
          </a:p>
          <a:p>
            <a:r>
              <a:t/>
            </a:r>
          </a:p>
          <a:p>
            <a:r>
              <a:t>CONNECT</a:t>
            </a:r>
          </a:p>
          <a:p>
            <a:r>
              <a:t>Build on the preceding slide: Names, conversion and comments.</a:t>
            </a:r>
          </a:p>
          <a:p>
            <a:r>
              <a:t/>
            </a:r>
          </a:p>
          <a:p>
            <a:r>
              <a:t>LECTURER CUE</a:t>
            </a:r>
          </a:p>
          <a:p>
            <a:r>
              <a:t>Floor division rounds down. Use parentheses to state the intended calculation. Keep units in variable names.</a:t>
            </a:r>
          </a:p>
          <a:p>
            <a:r>
              <a:t/>
            </a:r>
          </a:p>
          <a:p>
            <a:r>
              <a:t>EXPLAIN IN ORDINARY WORDS</a:t>
            </a:r>
          </a:p>
          <a:p>
            <a:r>
              <a:t>Read each quantity and unit before using a formula. Python calculates numbers but does not enforce physical units. Parentheses specify which operation happens first.</a:t>
            </a:r>
          </a:p>
          <a:p>
            <a:r>
              <a:t/>
            </a:r>
          </a:p>
          <a:p>
            <a:r>
              <a:t>CHECK AND EXPECTED ANSWER</a:t>
            </a:r>
          </a:p>
          <a:p>
            <a:r>
              <a:t>What is 5 m times 3 m? 15 square metres. What is 7/2 in Python? 3.5; 7//2 is 3.</a:t>
            </a:r>
          </a:p>
          <a:p>
            <a:r>
              <a:t/>
            </a:r>
          </a:p>
          <a:p>
            <a:r>
              <a:t>IF LEARNERS ARE STUCK</a:t>
            </a:r>
          </a:p>
          <a:p>
            <a:r>
              <a:t>Write the formula and units on paper, substitute small values, then translate it to Python. Check zero denominators and the issued sign convention.</a:t>
            </a:r>
          </a:p>
          <a:p>
            <a:r>
              <a:t/>
            </a:r>
          </a:p>
          <a:p>
            <a:r>
              <a:t>NEXT</a:t>
            </a:r>
          </a:p>
          <a:p>
            <a:r>
              <a:t>Read the quantities in your programme example.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Read the quantities in your programme example</a:t>
            </a:r>
          </a:p>
          <a:p>
            <a:r>
              <a:t/>
            </a:r>
          </a:p>
          <a:p>
            <a:r>
              <a:t>CONNECT</a:t>
            </a:r>
          </a:p>
          <a:p>
            <a:r>
              <a:t>Build on the preceding slide: Arithmetic that needs care.</a:t>
            </a:r>
          </a:p>
          <a:p>
            <a:r>
              <a:t/>
            </a:r>
          </a:p>
          <a:p>
            <a:r>
              <a:t>EXPLAIN IN ORDINARY WORDS</a:t>
            </a:r>
          </a:p>
          <a:p>
            <a:r>
              <a:t>Read each quantity and unit before using a formula. Python calculates numbers but does not enforce physical units. Parentheses specify which operation happens first.</a:t>
            </a:r>
          </a:p>
          <a:p>
            <a:r>
              <a:t/>
            </a:r>
          </a:p>
          <a:p>
            <a:r>
              <a:t>CHECK AND EXPECTED ANSWER</a:t>
            </a:r>
          </a:p>
          <a:p>
            <a:r>
              <a:t>What is 5 m times 3 m? 15 square metres. What is 7/2 in Python? 3.5; 7//2 is 3.</a:t>
            </a:r>
          </a:p>
          <a:p>
            <a:r>
              <a:t/>
            </a:r>
          </a:p>
          <a:p>
            <a:r>
              <a:t>IF LEARNERS ARE STUCK</a:t>
            </a:r>
          </a:p>
          <a:p>
            <a:r>
              <a:t>Write the formula and units on paper, substitute small values, then translate it to Python. Check zero denominators and the issued sign convention.</a:t>
            </a:r>
          </a:p>
          <a:p>
            <a:r>
              <a:t/>
            </a:r>
          </a:p>
          <a:p>
            <a:r>
              <a:t>POINT TO THE DEFINITION</a:t>
            </a:r>
          </a:p>
          <a:p>
            <a:r>
              <a:t>Voltage and current: Voltage describes electrical potential difference in volts (V). Current is the rate of charge flow in amperes (A). This example uses direct current (DC).</a:t>
            </a:r>
          </a:p>
          <a:p>
            <a:r>
              <a:t>Power: Power is energy transferred each second, measured in watts (W). For this DC example, power = voltage × current. Resistive heating later uses current squared × resistance.</a:t>
            </a:r>
          </a:p>
          <a:p>
            <a:r>
              <a:t/>
            </a:r>
          </a:p>
          <a:p>
            <a:r>
              <a:t>NEXT</a:t>
            </a:r>
          </a:p>
          <a:p>
            <a:r>
              <a:t>A calculation for your programme.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calculation for your programme</a:t>
            </a:r>
          </a:p>
          <a:p>
            <a:r>
              <a:t/>
            </a:r>
          </a:p>
          <a:p>
            <a:r>
              <a:t>CONNECT</a:t>
            </a:r>
          </a:p>
          <a:p>
            <a:r>
              <a:t>Build on the preceding slide: Read the quantities in your programme example.</a:t>
            </a:r>
          </a:p>
          <a:p>
            <a:r>
              <a:t/>
            </a:r>
          </a:p>
          <a:p>
            <a:r>
              <a:t>LECTURER CUE</a:t>
            </a:r>
          </a:p>
          <a:p>
            <a:r>
              <a:t>A DC test circuit has 12 volts and 2 amperes. Power = voltage × current = 24 watts. This example assumes DC; AC real power needs additional information.</a:t>
            </a:r>
          </a:p>
          <a:p>
            <a:r>
              <a:t/>
            </a:r>
          </a:p>
          <a:p>
            <a:r>
              <a:t>NEXT</a:t>
            </a:r>
          </a:p>
          <a:p>
            <a:r>
              <a:t>The calculation in Python.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The calculation in Python</a:t>
            </a:r>
          </a:p>
          <a:p>
            <a:r>
              <a:t/>
            </a:r>
          </a:p>
          <a:p>
            <a:r>
              <a:t>CONNECT</a:t>
            </a:r>
          </a:p>
          <a:p>
            <a:r>
              <a:t>Build on the preceding slide: A calculation for your programme.</a:t>
            </a:r>
          </a:p>
          <a:p>
            <a:r>
              <a:t/>
            </a:r>
          </a:p>
          <a:p>
            <a:r>
              <a:t>LECTURER CUE</a:t>
            </a:r>
          </a:p>
          <a:p>
            <a:r>
              <a:t>Read each name and unit. = assigns the number, * multiplies and / divides. print displays the result. A DC test circuit has 12 volts and 2 amperes. Power = voltage × current = 24 watts. This example assumes DC; AC real power needs additional information.</a:t>
            </a:r>
          </a:p>
          <a:p>
            <a:r>
              <a:t/>
            </a:r>
          </a:p>
          <a:p>
            <a:r>
              <a:t>Complete practice code:</a:t>
            </a:r>
          </a:p>
          <a:p>
            <a:r>
              <a:t>voltage_v = 12</a:t>
            </a:r>
          </a:p>
          <a:p>
            <a:r>
              <a:t>current_a = 2</a:t>
            </a:r>
          </a:p>
          <a:p>
            <a:r>
              <a:t>power_w = voltage_v * current_a</a:t>
            </a:r>
          </a:p>
          <a:p>
            <a:r>
              <a:t>print(power_w)</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WALK THROUGH THIS CODE</a:t>
            </a:r>
          </a:p>
          <a:p>
            <a:r>
              <a:t>print displays a value below the cell.</a:t>
            </a:r>
          </a:p>
          <a:p>
            <a:r>
              <a:t>= assigns the value on the right to the name on the left.</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A change to predict.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change to predict</a:t>
            </a:r>
          </a:p>
          <a:p>
            <a:r>
              <a:t/>
            </a:r>
          </a:p>
          <a:p>
            <a:r>
              <a:t>CONNECT</a:t>
            </a:r>
          </a:p>
          <a:p>
            <a:r>
              <a:t>Build on the preceding slide: The calculation in Python.</a:t>
            </a:r>
          </a:p>
          <a:p>
            <a:r>
              <a:t/>
            </a:r>
          </a:p>
          <a:p>
            <a:r>
              <a:t>LECTURER CUE</a:t>
            </a:r>
          </a:p>
          <a:p>
            <a:r>
              <a:t>Expected practice answer: 36 watts</a:t>
            </a:r>
          </a:p>
          <a:p>
            <a:r>
              <a:t/>
            </a:r>
          </a:p>
          <a:p>
            <a:r>
              <a:t>DISCUSSION KEY FOR THIS SLIDE</a:t>
            </a:r>
          </a:p>
          <a:p>
            <a:r>
              <a:t>DISCUSS THE REASONING</a:t>
            </a:r>
          </a:p>
          <a:p>
            <a:r>
              <a:t>The practice result</a:t>
            </a:r>
          </a:p>
          <a:p>
            <a:r>
              <a:t>36 watts</a:t>
            </a:r>
          </a:p>
          <a:p>
            <a:r>
              <a:t>Which step produced this result? What changes if one input changes?</a:t>
            </a:r>
          </a:p>
          <a:p>
            <a:r>
              <a:t>CML3111   Week 3   18</a:t>
            </a:r>
          </a:p>
          <a:p>
            <a:r>
              <a:t>Let learners attempt first; use this to explain the reasoning, not just reveal the answer.</a:t>
            </a:r>
          </a:p>
          <a:p>
            <a:r>
              <a:t/>
            </a:r>
          </a:p>
          <a:p>
            <a:r>
              <a:t>NEXT</a:t>
            </a:r>
          </a:p>
          <a:p>
            <a:r>
              <a:t>The practice result.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The practice result</a:t>
            </a:r>
          </a:p>
          <a:p>
            <a:r>
              <a:t/>
            </a:r>
          </a:p>
          <a:p>
            <a:r>
              <a:t>CONNECT</a:t>
            </a:r>
          </a:p>
          <a:p>
            <a:r>
              <a:t>Build on the preceding slide: A change to predict.</a:t>
            </a:r>
          </a:p>
          <a:p>
            <a:r>
              <a:t/>
            </a:r>
          </a:p>
          <a:p>
            <a:r>
              <a:t>DELIVER THIS SLIDE</a:t>
            </a:r>
          </a:p>
          <a:p>
            <a:r>
              <a:t>Read the stated purpose, then point to the named example or action on the slide. Ask learners to describe what they will do before moving on. For a break slide, announce the return time; for a section divider, name the next concrete task.</a:t>
            </a:r>
          </a:p>
          <a:p>
            <a:r>
              <a:t/>
            </a:r>
          </a:p>
          <a:p>
            <a:r>
              <a:t>NEXT</a:t>
            </a:r>
          </a:p>
          <a:p>
            <a:r>
              <a:t>Reading an error message.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Reading an error message</a:t>
            </a:r>
          </a:p>
          <a:p>
            <a:r>
              <a:t/>
            </a:r>
          </a:p>
          <a:p>
            <a:r>
              <a:t>CONNECT</a:t>
            </a:r>
          </a:p>
          <a:p>
            <a:r>
              <a:t>Build on the preceding slide: The practice result.</a:t>
            </a:r>
          </a:p>
          <a:p>
            <a:r>
              <a:t/>
            </a:r>
          </a:p>
          <a:p>
            <a:r>
              <a:t>LECTURER CUE</a:t>
            </a:r>
          </a:p>
          <a:p>
            <a:r>
              <a:t>Read one row at a time and use a changed value. This is a syntax reference for the worked examples.</a:t>
            </a:r>
          </a:p>
          <a:p>
            <a:r>
              <a:t/>
            </a:r>
          </a:p>
          <a:p>
            <a:r>
              <a:t>READ THE VISUAL</a:t>
            </a:r>
          </a:p>
          <a:p>
            <a:r>
              <a:t>Start with the title and labels. Read one row or mark aloud, including its unit. Let a learner read a second one before discussing the pattern. Do not infer a numerical value from an unlabelled drawing.</a:t>
            </a:r>
          </a:p>
          <a:p>
            <a:r>
              <a:t/>
            </a:r>
          </a:p>
          <a:p>
            <a:r>
              <a:t>NEXT</a:t>
            </a:r>
          </a:p>
          <a:p>
            <a:r>
              <a:t>Condition.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Condition</a:t>
            </a:r>
          </a:p>
          <a:p>
            <a:r>
              <a:t/>
            </a:r>
          </a:p>
          <a:p>
            <a:r>
              <a:t>CONNECT</a:t>
            </a:r>
          </a:p>
          <a:p>
            <a:r>
              <a:t>Build on the preceding slide: Reading an error message.</a:t>
            </a:r>
          </a:p>
          <a:p>
            <a:r>
              <a:t/>
            </a:r>
          </a:p>
          <a:p>
            <a:r>
              <a:t>EXPLAIN IN ORDINARY WORDS</a:t>
            </a:r>
          </a:p>
          <a:p>
            <a:r>
              <a:t>A condition is a True/False question. Python executes the matching indented branch. = assigns; == compares. &gt;= includes the boundary, while &gt; excludes it.</a:t>
            </a:r>
          </a:p>
          <a:p>
            <a:r>
              <a:t/>
            </a:r>
          </a:p>
          <a:p>
            <a:r>
              <a:t>CHECK AND EXPECTED ANSWER</a:t>
            </a:r>
          </a:p>
          <a:p>
            <a:r>
              <a:t>With value 30, is value &gt;= 30 true? Yes. Is value &gt; 30 true? No.</a:t>
            </a:r>
          </a:p>
          <a:p>
            <a:r>
              <a:t/>
            </a:r>
          </a:p>
          <a:p>
            <a:r>
              <a:t>IF LEARNERS ARE STUCK</a:t>
            </a:r>
          </a:p>
          <a:p>
            <a:r>
              <a:t>Try one value below, at and above the boundary before running the code.</a:t>
            </a:r>
          </a:p>
          <a:p>
            <a:r>
              <a:t/>
            </a:r>
          </a:p>
          <a:p>
            <a:r>
              <a:t>POINT TO THE DEFINITION</a:t>
            </a:r>
          </a:p>
          <a:p>
            <a:r>
              <a:t>Condition: A True/False question. == compares equality; = assigns. if selects a branch; else handles the other case. A colon starts an indented block.</a:t>
            </a:r>
          </a:p>
          <a:p>
            <a:r>
              <a:t/>
            </a:r>
          </a:p>
          <a:p>
            <a:r>
              <a:t>NEXT</a:t>
            </a:r>
          </a:p>
          <a:p>
            <a:r>
              <a:t>Comparison and logic.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Comparison and logic</a:t>
            </a:r>
          </a:p>
          <a:p>
            <a:r>
              <a:t/>
            </a:r>
          </a:p>
          <a:p>
            <a:r>
              <a:t>CONNECT</a:t>
            </a:r>
          </a:p>
          <a:p>
            <a:r>
              <a:t>Build on the preceding slide: Condition.</a:t>
            </a:r>
          </a:p>
          <a:p>
            <a:r>
              <a:t/>
            </a:r>
          </a:p>
          <a:p>
            <a:r>
              <a:t>LECTURER CUE</a:t>
            </a:r>
          </a:p>
          <a:p>
            <a:r>
              <a:t>Read one row at a time and use a changed value. This is a syntax reference for the worked examples.</a:t>
            </a:r>
          </a:p>
          <a:p>
            <a:r>
              <a:t/>
            </a:r>
          </a:p>
          <a:p>
            <a:r>
              <a:t>EXPLAIN IN ORDINARY WORDS</a:t>
            </a:r>
          </a:p>
          <a:p>
            <a:r>
              <a:t>A condition is a True/False question. Python executes the matching indented branch. = assigns; == compares. &gt;= includes the boundary, while &gt; excludes it.</a:t>
            </a:r>
          </a:p>
          <a:p>
            <a:r>
              <a:t/>
            </a:r>
          </a:p>
          <a:p>
            <a:r>
              <a:t>CHECK AND EXPECTED ANSWER</a:t>
            </a:r>
          </a:p>
          <a:p>
            <a:r>
              <a:t>With value 30, is value &gt;= 30 true? Yes. Is value &gt; 30 true? No.</a:t>
            </a:r>
          </a:p>
          <a:p>
            <a:r>
              <a:t/>
            </a:r>
          </a:p>
          <a:p>
            <a:r>
              <a:t>IF LEARNERS ARE STUCK</a:t>
            </a:r>
          </a:p>
          <a:p>
            <a:r>
              <a:t>Try one value below, at and above the boundary before running the code.</a:t>
            </a:r>
          </a:p>
          <a:p>
            <a:r>
              <a:t/>
            </a:r>
          </a:p>
          <a:p>
            <a:r>
              <a:t>READ THE VISUAL</a:t>
            </a:r>
          </a:p>
          <a:p>
            <a:r>
              <a:t>Start with the title and labels. Read one row or mark aloud, including its unit. Let a learner read a second one before discussing the pattern. Do not infer a numerical value from an unlabelled drawing.</a:t>
            </a:r>
          </a:p>
          <a:p>
            <a:r>
              <a:t/>
            </a:r>
          </a:p>
          <a:p>
            <a:r>
              <a:t>NEXT</a:t>
            </a:r>
          </a:p>
          <a:p>
            <a:r>
              <a:t>A decision needs a colon and indentation.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decision needs a colon and indentation</a:t>
            </a:r>
          </a:p>
          <a:p>
            <a:r>
              <a:t/>
            </a:r>
          </a:p>
          <a:p>
            <a:r>
              <a:t>CONNECT</a:t>
            </a:r>
          </a:p>
          <a:p>
            <a:r>
              <a:t>Build on the preceding slide: Comparison and logic.</a:t>
            </a:r>
          </a:p>
          <a:p>
            <a:r>
              <a:t/>
            </a:r>
          </a:p>
          <a:p>
            <a:r>
              <a:t>LECTURER CUE</a:t>
            </a:r>
          </a:p>
          <a:p>
            <a:r>
              <a:t>Read each symbol before running. Ask everyone to predict. Expected output: below 30. Change 28 to 30 and predict warm. This is a toy threshold, not an engineering limit.</a:t>
            </a:r>
          </a:p>
          <a:p>
            <a:r>
              <a:t/>
            </a:r>
          </a:p>
          <a:p>
            <a:r>
              <a:t>EXPLAIN IN ORDINARY WORDS</a:t>
            </a:r>
          </a:p>
          <a:p>
            <a:r>
              <a:t>A condition is a True/False question. Python executes the matching indented branch. = assigns; == compares. &gt;= includes the boundary, while &gt; excludes it.</a:t>
            </a:r>
          </a:p>
          <a:p>
            <a:r>
              <a:t/>
            </a:r>
          </a:p>
          <a:p>
            <a:r>
              <a:t>CHECK AND EXPECTED ANSWER</a:t>
            </a:r>
          </a:p>
          <a:p>
            <a:r>
              <a:t>With value 30, is value &gt;= 30 true? Yes. Is value &gt; 30 true? No.</a:t>
            </a:r>
          </a:p>
          <a:p>
            <a:r>
              <a:t/>
            </a:r>
          </a:p>
          <a:p>
            <a:r>
              <a:t>IF LEARNERS ARE STUCK</a:t>
            </a:r>
          </a:p>
          <a:p>
            <a:r>
              <a:t>Try one value below, at and above the boundary before running the code.</a:t>
            </a:r>
          </a:p>
          <a:p>
            <a:r>
              <a:t/>
            </a:r>
          </a:p>
          <a:p>
            <a:r>
              <a:t>WALK THROUGH THIS CODE</a:t>
            </a:r>
          </a:p>
          <a:p>
            <a:r>
              <a:t>if tests a condition. The chosen indented block runs.</a:t>
            </a:r>
          </a:p>
          <a:p>
            <a:r>
              <a:t>print displays a value below the cell.</a:t>
            </a:r>
          </a:p>
          <a:p>
            <a:r>
              <a:t>= assigns the value on the right to the name on the left.</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Function.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Function</a:t>
            </a:r>
          </a:p>
          <a:p>
            <a:r>
              <a:t/>
            </a:r>
          </a:p>
          <a:p>
            <a:r>
              <a:t>CONNECT</a:t>
            </a:r>
          </a:p>
          <a:p>
            <a:r>
              <a:t>Build on the preceding slide: A decision needs a colon and indentation.</a:t>
            </a:r>
          </a:p>
          <a:p>
            <a:r>
              <a:t/>
            </a:r>
          </a:p>
          <a:p>
            <a:r>
              <a:t>EXPLAIN IN ORDINARY WORDS</a:t>
            </a:r>
          </a:p>
          <a:p>
            <a:r>
              <a:t>A function is a named set of instructions. def defines it; a call runs it with inputs. Parameters are input names, arguments are supplied values, and return sends the result back.</a:t>
            </a:r>
          </a:p>
          <a:p>
            <a:r>
              <a:t/>
            </a:r>
          </a:p>
          <a:p>
            <a:r>
              <a:t>CHECK AND EXPECTED ANSWER</a:t>
            </a:r>
          </a:p>
          <a:p>
            <a:r>
              <a:t>Does print(8) return the number 8 to the caller? No; it displays 8 and returns None. A function needing a numeric result should return it.</a:t>
            </a:r>
          </a:p>
          <a:p>
            <a:r>
              <a:t/>
            </a:r>
          </a:p>
          <a:p>
            <a:r>
              <a:t>IF LEARNERS ARE STUCK</a:t>
            </a:r>
          </a:p>
          <a:p>
            <a:r>
              <a:t>Trace one call: bind input names, run the indented body, reach return, then put the returned result back into the calling expression.</a:t>
            </a:r>
          </a:p>
          <a:p>
            <a:r>
              <a:t/>
            </a:r>
          </a:p>
          <a:p>
            <a:r>
              <a:t>POINT TO THE DEFINITION</a:t>
            </a:r>
          </a:p>
          <a:p>
            <a:r>
              <a:t>Function: A named, reusable calculation or procedure. def introduces its definition. Parameters are the names for its inputs; arguments are the values supplied when calling it.</a:t>
            </a:r>
          </a:p>
          <a:p>
            <a:r>
              <a:t/>
            </a:r>
          </a:p>
          <a:p>
            <a:r>
              <a:t>NEXT</a:t>
            </a:r>
          </a:p>
          <a:p>
            <a:r>
              <a:t>Indentation and return.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Indentation and return</a:t>
            </a:r>
          </a:p>
          <a:p>
            <a:r>
              <a:t/>
            </a:r>
          </a:p>
          <a:p>
            <a:r>
              <a:t>CONNECT</a:t>
            </a:r>
          </a:p>
          <a:p>
            <a:r>
              <a:t>Build on the preceding slide: Function.</a:t>
            </a:r>
          </a:p>
          <a:p>
            <a:r>
              <a:t/>
            </a:r>
          </a:p>
          <a:p>
            <a:r>
              <a:t>EXPLAIN IN ORDINARY WORDS</a:t>
            </a:r>
          </a:p>
          <a:p>
            <a:r>
              <a:t>A function is a named set of instructions. def defines it; a call runs it with inputs. Parameters are input names, arguments are supplied values, and return sends the result back.</a:t>
            </a:r>
          </a:p>
          <a:p>
            <a:r>
              <a:t/>
            </a:r>
          </a:p>
          <a:p>
            <a:r>
              <a:t>CHECK AND EXPECTED ANSWER</a:t>
            </a:r>
          </a:p>
          <a:p>
            <a:r>
              <a:t>Does print(8) return the number 8 to the caller? No; it displays 8 and returns None. A function needing a numeric result should return it.</a:t>
            </a:r>
          </a:p>
          <a:p>
            <a:r>
              <a:t/>
            </a:r>
          </a:p>
          <a:p>
            <a:r>
              <a:t>IF LEARNERS ARE STUCK</a:t>
            </a:r>
          </a:p>
          <a:p>
            <a:r>
              <a:t>Trace one call: bind input names, run the indented body, reach return, then put the returned result back into the calling expression.</a:t>
            </a:r>
          </a:p>
          <a:p>
            <a:r>
              <a:t/>
            </a:r>
          </a:p>
          <a:p>
            <a:r>
              <a:t>POINT TO THE DEFINITION</a:t>
            </a:r>
          </a:p>
          <a:p>
            <a:r>
              <a:t>Indentation and return: Spaces at the start of a line group the function body. return hands a result to the calling code. print displays a value and returns None.</a:t>
            </a:r>
          </a:p>
          <a:p>
            <a:r>
              <a:t/>
            </a:r>
          </a:p>
          <a:p>
            <a:r>
              <a:t>NEXT</a:t>
            </a:r>
          </a:p>
          <a:p>
            <a:r>
              <a:t>A function definition and a call.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function definition and a call</a:t>
            </a:r>
          </a:p>
          <a:p>
            <a:r>
              <a:t/>
            </a:r>
          </a:p>
          <a:p>
            <a:r>
              <a:t>CONNECT</a:t>
            </a:r>
          </a:p>
          <a:p>
            <a:r>
              <a:t>Build on the preceding slide: Indentation and return.</a:t>
            </a:r>
          </a:p>
          <a:p>
            <a:r>
              <a:t/>
            </a:r>
          </a:p>
          <a:p>
            <a:r>
              <a:t>EXPLAIN IN ORDINARY WORDS</a:t>
            </a:r>
          </a:p>
          <a:p>
            <a:r>
              <a:t>A function is a named set of instructions. def defines it; a call runs it with inputs. Parameters are input names, arguments are supplied values, and return sends the result back.</a:t>
            </a:r>
          </a:p>
          <a:p>
            <a:r>
              <a:t/>
            </a:r>
          </a:p>
          <a:p>
            <a:r>
              <a:t>CHECK AND EXPECTED ANSWER</a:t>
            </a:r>
          </a:p>
          <a:p>
            <a:r>
              <a:t>Does print(8) return the number 8 to the caller? No; it displays 8 and returns None. A function needing a numeric result should return it.</a:t>
            </a:r>
          </a:p>
          <a:p>
            <a:r>
              <a:t/>
            </a:r>
          </a:p>
          <a:p>
            <a:r>
              <a:t>IF LEARNERS ARE STUCK</a:t>
            </a:r>
          </a:p>
          <a:p>
            <a:r>
              <a:t>Trace one call: bind input names, run the indented body, reach return, then put the returned result back into the calling expression.</a:t>
            </a:r>
          </a:p>
          <a:p>
            <a:r>
              <a:t/>
            </a:r>
          </a:p>
          <a:p>
            <a:r>
              <a:t>NEXT</a:t>
            </a:r>
          </a:p>
          <a:p>
            <a:r>
              <a:t>A calculation has inputs and an answer.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calculation has inputs and an answer</a:t>
            </a:r>
          </a:p>
          <a:p>
            <a:r>
              <a:t/>
            </a:r>
          </a:p>
          <a:p>
            <a:r>
              <a:t>CONNECT</a:t>
            </a:r>
          </a:p>
          <a:p>
            <a:r>
              <a:t>Build on the preceding slide: A function definition and a call.</a:t>
            </a:r>
          </a:p>
          <a:p>
            <a:r>
              <a:t/>
            </a:r>
          </a:p>
          <a:p>
            <a:r>
              <a:t>LECTURER CUE</a:t>
            </a:r>
          </a:p>
          <a:p>
            <a:r>
              <a:t>Work the cohort formula by hand before opening Python. State every unit. Use the four-line cohort calculation first; do not begin with formatting, imports or a long function.</a:t>
            </a:r>
          </a:p>
          <a:p>
            <a:r>
              <a:t/>
            </a:r>
          </a:p>
          <a:p>
            <a:r>
              <a:t>EXPLAIN IN ORDINARY WORDS</a:t>
            </a:r>
          </a:p>
          <a:p>
            <a:r>
              <a:t>Read each quantity and unit before using a formula. Python calculates numbers but does not enforce physical units. Parentheses specify which operation happens first.</a:t>
            </a:r>
          </a:p>
          <a:p>
            <a:r>
              <a:t/>
            </a:r>
          </a:p>
          <a:p>
            <a:r>
              <a:t>CHECK AND EXPECTED ANSWER</a:t>
            </a:r>
          </a:p>
          <a:p>
            <a:r>
              <a:t>What is 5 m times 3 m? 15 square metres. What is 7/2 in Python? 3.5; 7//2 is 3.</a:t>
            </a:r>
          </a:p>
          <a:p>
            <a:r>
              <a:t/>
            </a:r>
          </a:p>
          <a:p>
            <a:r>
              <a:t>IF LEARNERS ARE STUCK</a:t>
            </a:r>
          </a:p>
          <a:p>
            <a:r>
              <a:t>Write the formula and units on paper, substitute small values, then translate it to Python. Check zero denominators and the issued sign convention.</a:t>
            </a:r>
          </a:p>
          <a:p>
            <a:r>
              <a:t/>
            </a:r>
          </a:p>
          <a:p>
            <a:r>
              <a:t>NEXT</a:t>
            </a:r>
          </a:p>
          <a:p>
            <a:r>
              <a:t>A reusable calculation.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reusable calculation</a:t>
            </a:r>
          </a:p>
          <a:p>
            <a:r>
              <a:t/>
            </a:r>
          </a:p>
          <a:p>
            <a:r>
              <a:t>CONNECT</a:t>
            </a:r>
          </a:p>
          <a:p>
            <a:r>
              <a:t>Build on the preceding slide: A calculation has inputs and an answer.</a:t>
            </a:r>
          </a:p>
          <a:p>
            <a:r>
              <a:t/>
            </a:r>
          </a:p>
          <a:p>
            <a:r>
              <a:t>LECTURER CUE</a:t>
            </a:r>
          </a:p>
          <a:p>
            <a:r>
              <a:t>Introduce one reusable calculation using the example below. Read def, the function name, parentheses, parameter, colon, indentation and return separately. Defining the function does not run its body.</a:t>
            </a:r>
          </a:p>
          <a:p>
            <a:r>
              <a:t/>
            </a:r>
          </a:p>
          <a:p>
            <a:r>
              <a:t>EXPLAIN IN ORDINARY WORDS</a:t>
            </a:r>
          </a:p>
          <a:p>
            <a:r>
              <a:t>A function is a named set of instructions. def defines it; a call runs it with inputs. Parameters are input names, arguments are supplied values, and return sends the result back.</a:t>
            </a:r>
          </a:p>
          <a:p>
            <a:r>
              <a:t/>
            </a:r>
          </a:p>
          <a:p>
            <a:r>
              <a:t>CHECK AND EXPECTED ANSWER</a:t>
            </a:r>
          </a:p>
          <a:p>
            <a:r>
              <a:t>Does print(8) return the number 8 to the caller? No; it displays 8 and returns None. A function needing a numeric result should return it.</a:t>
            </a:r>
          </a:p>
          <a:p>
            <a:r>
              <a:t/>
            </a:r>
          </a:p>
          <a:p>
            <a:r>
              <a:t>IF LEARNERS ARE STUCK</a:t>
            </a:r>
          </a:p>
          <a:p>
            <a:r>
              <a:t>Trace one call: bind input names, run the indented body, reach return, then put the returned result back into the calling expression.</a:t>
            </a:r>
          </a:p>
          <a:p>
            <a:r>
              <a:t/>
            </a:r>
          </a:p>
          <a:p>
            <a:r>
              <a:t>NEXT</a:t>
            </a:r>
          </a:p>
          <a:p>
            <a:r>
              <a:t>Inputs, instructions and a returned result.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Inputs, instructions and a returned result</a:t>
            </a:r>
          </a:p>
          <a:p>
            <a:r>
              <a:t/>
            </a:r>
          </a:p>
          <a:p>
            <a:r>
              <a:t>CONNECT</a:t>
            </a:r>
          </a:p>
          <a:p>
            <a:r>
              <a:t>Build on the preceding slide: A reusable calculation.</a:t>
            </a:r>
          </a:p>
          <a:p>
            <a:r>
              <a:t/>
            </a:r>
          </a:p>
          <a:p>
            <a:r>
              <a:t>LECTURER CUE</a:t>
            </a:r>
          </a:p>
          <a:p>
            <a:r>
              <a:t>Read def, the name, parameters, colon, indentation, return and call. Definition creates the function. Its body waits for a call. Distinguish print, which displays, from return, which passes a value back.</a:t>
            </a:r>
          </a:p>
          <a:p>
            <a:r>
              <a:t>Source: existing course illustration figs/function_anatomy.png. These are illustrative examples, not this cohort’s assessed results.</a:t>
            </a:r>
          </a:p>
          <a:p>
            <a:r>
              <a:t/>
            </a:r>
          </a:p>
          <a:p>
            <a:r>
              <a:t>EXPLAIN IN ORDINARY WORDS</a:t>
            </a:r>
          </a:p>
          <a:p>
            <a:r>
              <a:t>A function is a named set of instructions. def defines it; a call runs it with inputs. Parameters are input names, arguments are supplied values, and return sends the result back.</a:t>
            </a:r>
          </a:p>
          <a:p>
            <a:r>
              <a:t/>
            </a:r>
          </a:p>
          <a:p>
            <a:r>
              <a:t>CHECK AND EXPECTED ANSWER</a:t>
            </a:r>
          </a:p>
          <a:p>
            <a:r>
              <a:t>Does print(8) return the number 8 to the caller? No; it displays 8 and returns None. A function needing a numeric result should return it.</a:t>
            </a:r>
          </a:p>
          <a:p>
            <a:r>
              <a:t/>
            </a:r>
          </a:p>
          <a:p>
            <a:r>
              <a:t>IF LEARNERS ARE STUCK</a:t>
            </a:r>
          </a:p>
          <a:p>
            <a:r>
              <a:t>Trace one call: bind input names, run the indented body, reach return, then put the returned result back into the calling expression.</a:t>
            </a:r>
          </a:p>
          <a:p>
            <a:r>
              <a:t/>
            </a:r>
          </a:p>
          <a:p>
            <a:r>
              <a:t>NEXT</a:t>
            </a:r>
          </a:p>
          <a:p>
            <a:r>
              <a:t>Following a function call.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Following a function call</a:t>
            </a:r>
          </a:p>
          <a:p>
            <a:r>
              <a:t/>
            </a:r>
          </a:p>
          <a:p>
            <a:r>
              <a:t>CONNECT</a:t>
            </a:r>
          </a:p>
          <a:p>
            <a:r>
              <a:t>Build on the preceding slide: Inputs, instructions and a returned result.</a:t>
            </a:r>
          </a:p>
          <a:p>
            <a:r>
              <a:t/>
            </a:r>
          </a:p>
          <a:p>
            <a:r>
              <a:t>LECTURER CUE</a:t>
            </a:r>
          </a:p>
          <a:p>
            <a:r>
              <a:t>Calling double_value(4) supplies 4 for x, calculates 8 and returns 8. The outer print displays it. Then teach an if/else guard with a separate small example.</a:t>
            </a:r>
          </a:p>
          <a:p>
            <a:r>
              <a:t/>
            </a:r>
          </a:p>
          <a:p>
            <a:r>
              <a:t>EXPLAIN IN ORDINARY WORDS</a:t>
            </a:r>
          </a:p>
          <a:p>
            <a:r>
              <a:t>A function is a named set of instructions. def defines it; a call runs it with inputs. Parameters are input names, arguments are supplied values, and return sends the result back.</a:t>
            </a:r>
          </a:p>
          <a:p>
            <a:r>
              <a:t/>
            </a:r>
          </a:p>
          <a:p>
            <a:r>
              <a:t>CHECK AND EXPECTED ANSWER</a:t>
            </a:r>
          </a:p>
          <a:p>
            <a:r>
              <a:t>Does print(8) return the number 8 to the caller? No; it displays 8 and returns None. A function needing a numeric result should return it.</a:t>
            </a:r>
          </a:p>
          <a:p>
            <a:r>
              <a:t/>
            </a:r>
          </a:p>
          <a:p>
            <a:r>
              <a:t>IF LEARNERS ARE STUCK</a:t>
            </a:r>
          </a:p>
          <a:p>
            <a:r>
              <a:t>Trace one call: bind input names, run the indented body, reach return, then put the returned result back into the calling expression.</a:t>
            </a:r>
          </a:p>
          <a:p>
            <a:r>
              <a:t/>
            </a:r>
          </a:p>
          <a:p>
            <a:r>
              <a:t>NEXT</a:t>
            </a:r>
          </a:p>
          <a:p>
            <a:r>
              <a:t>Worked example.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Worked example</a:t>
            </a:r>
          </a:p>
          <a:p>
            <a:r>
              <a:t/>
            </a:r>
          </a:p>
          <a:p>
            <a:r>
              <a:t>CONNECT</a:t>
            </a:r>
          </a:p>
          <a:p>
            <a:r>
              <a:t>Build on the preceding slide: Following a function call.</a:t>
            </a:r>
          </a:p>
          <a:p>
            <a:r>
              <a:t/>
            </a:r>
          </a:p>
          <a:p>
            <a:r>
              <a:t>LECTURER CUE</a:t>
            </a:r>
          </a:p>
          <a:p>
            <a:r>
              <a:t>Work the cohort formula by hand before opening Python. State every unit. Use the four-line cohort calculation first; do not begin with formatting, imports or a long function. Introduce one reusable calculation using the example below. Read def, the function name, parentheses, parameter, colon, indentation and return separately. Defining the function does not run its body. Calling double_value(4) supplies 4 for x, calculates 8 and returns 8. The outer print displays it. Then teach an if/else guard with a separate small example.</a:t>
            </a:r>
          </a:p>
          <a:p>
            <a:r>
              <a:t/>
            </a:r>
          </a:p>
          <a:p>
            <a:r>
              <a:t>Complete practice code:</a:t>
            </a:r>
          </a:p>
          <a:p>
            <a:r>
              <a:t>def double_value(x):</a:t>
            </a:r>
          </a:p>
          <a:p>
            <a:r>
              <a:t>    return x * 2</a:t>
            </a:r>
          </a:p>
          <a:p>
            <a:r>
              <a:t/>
            </a:r>
          </a:p>
          <a:p>
            <a:r>
              <a:t>EXPLAIN IN ORDINARY WORDS</a:t>
            </a:r>
          </a:p>
          <a:p>
            <a:r>
              <a:t>A function is a named set of instructions. def defines it; a call runs it with inputs. Parameters are input names, arguments are supplied values, and return sends the result back.</a:t>
            </a:r>
          </a:p>
          <a:p>
            <a:r>
              <a:t/>
            </a:r>
          </a:p>
          <a:p>
            <a:r>
              <a:t>CHECK AND EXPECTED ANSWER</a:t>
            </a:r>
          </a:p>
          <a:p>
            <a:r>
              <a:t>Does print(8) return the number 8 to the caller? No; it displays 8 and returns None. A function needing a numeric result should return it.</a:t>
            </a:r>
          </a:p>
          <a:p>
            <a:r>
              <a:t/>
            </a:r>
          </a:p>
          <a:p>
            <a:r>
              <a:t>IF LEARNERS ARE STUCK</a:t>
            </a:r>
          </a:p>
          <a:p>
            <a:r>
              <a:t>Trace one call: bind input names, run the indented body, reach return, then put the returned result back into the calling expression.</a:t>
            </a:r>
          </a:p>
          <a:p>
            <a:r>
              <a:t/>
            </a:r>
          </a:p>
          <a:p>
            <a:r>
              <a:t>WALK THROUGH THIS CODE</a:t>
            </a:r>
          </a:p>
          <a:p>
            <a:r>
              <a:t>def names the function. Inputs go inside parentheses.</a:t>
            </a:r>
          </a:p>
          <a:p>
            <a:r>
              <a:t>return sends the result back to the caller.</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Worked example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Worked example continued</a:t>
            </a:r>
          </a:p>
          <a:p>
            <a:r>
              <a:t/>
            </a:r>
          </a:p>
          <a:p>
            <a:r>
              <a:t>CONNECT</a:t>
            </a:r>
          </a:p>
          <a:p>
            <a:r>
              <a:t>Build on the preceding slide: Worked example.</a:t>
            </a:r>
          </a:p>
          <a:p>
            <a:r>
              <a:t/>
            </a:r>
          </a:p>
          <a:p>
            <a:r>
              <a:t>LECTURER CUE</a:t>
            </a:r>
          </a:p>
          <a:p>
            <a:r>
              <a:t>Work the cohort formula by hand before opening Python. State every unit. Use the four-line cohort calculation first; do not begin with formatting, imports or a long function. Introduce one reusable calculation using the example below. Read def, the function name, parentheses, parameter, colon, indentation and return separately. Defining the function does not run its body. Calling double_value(4) supplies 4 for x, calculates 8 and returns 8. The outer print displays it. Then teach an if/else guard with a separate small example.</a:t>
            </a:r>
          </a:p>
          <a:p>
            <a:r>
              <a:t/>
            </a:r>
          </a:p>
          <a:p>
            <a:r>
              <a:t>Complete practice code:</a:t>
            </a:r>
          </a:p>
          <a:p>
            <a:r>
              <a:t>print(double_value(4))</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WALK THROUGH THIS CODE</a:t>
            </a:r>
          </a:p>
          <a:p>
            <a:r>
              <a:t>print displays a value below the cell.</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Positional and named inputs.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Positional and named inputs</a:t>
            </a:r>
          </a:p>
          <a:p>
            <a:r>
              <a:t/>
            </a:r>
          </a:p>
          <a:p>
            <a:r>
              <a:t>CONNECT</a:t>
            </a:r>
          </a:p>
          <a:p>
            <a:r>
              <a:t>Build on the preceding slide: Worked example continued.</a:t>
            </a:r>
          </a:p>
          <a:p>
            <a:r>
              <a:t/>
            </a:r>
          </a:p>
          <a:p>
            <a:r>
              <a:t>LECTURER CUE</a:t>
            </a:r>
          </a:p>
          <a:p>
            <a:r>
              <a:t>Read each symbol before running. Ask everyone to predict. Expected output: 6 then 6</a:t>
            </a:r>
          </a:p>
          <a:p>
            <a:r>
              <a:t/>
            </a:r>
          </a:p>
          <a:p>
            <a:r>
              <a:t>EXPLAIN IN ORDINARY WORDS</a:t>
            </a:r>
          </a:p>
          <a:p>
            <a:r>
              <a:t>A function is a named set of instructions. def defines it; a call runs it with inputs. Parameters are input names, arguments are supplied values, and return sends the result back.</a:t>
            </a:r>
          </a:p>
          <a:p>
            <a:r>
              <a:t/>
            </a:r>
          </a:p>
          <a:p>
            <a:r>
              <a:t>CHECK AND EXPECTED ANSWER</a:t>
            </a:r>
          </a:p>
          <a:p>
            <a:r>
              <a:t>Does print(8) return the number 8 to the caller? No; it displays 8 and returns None. A function needing a numeric result should return it.</a:t>
            </a:r>
          </a:p>
          <a:p>
            <a:r>
              <a:t/>
            </a:r>
          </a:p>
          <a:p>
            <a:r>
              <a:t>IF LEARNERS ARE STUCK</a:t>
            </a:r>
          </a:p>
          <a:p>
            <a:r>
              <a:t>Trace one call: bind input names, run the indented body, reach return, then put the returned result back into the calling expression.</a:t>
            </a:r>
          </a:p>
          <a:p>
            <a:r>
              <a:t/>
            </a:r>
          </a:p>
          <a:p>
            <a:r>
              <a:t>WALK THROUGH THIS CODE</a:t>
            </a:r>
          </a:p>
          <a:p>
            <a:r>
              <a:t>def names the function. Inputs go inside parentheses.</a:t>
            </a:r>
          </a:p>
          <a:p>
            <a:r>
              <a:t>return sends the result back to the caller.</a:t>
            </a:r>
          </a:p>
          <a:p>
            <a:r>
              <a:t>print displays a value below the cell.</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Worked example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Worked example continued</a:t>
            </a:r>
          </a:p>
          <a:p>
            <a:r>
              <a:t/>
            </a:r>
          </a:p>
          <a:p>
            <a:r>
              <a:t>CONNECT</a:t>
            </a:r>
          </a:p>
          <a:p>
            <a:r>
              <a:t>Build on the preceding slide: Positional and named inputs.</a:t>
            </a:r>
          </a:p>
          <a:p>
            <a:r>
              <a:t/>
            </a:r>
          </a:p>
          <a:p>
            <a:r>
              <a:t>LECTURER CUE</a:t>
            </a:r>
          </a:p>
          <a:p>
            <a:r>
              <a:t>Work the cohort formula by hand before opening Python. State every unit. Use the four-line cohort calculation first; do not begin with formatting, imports or a long function. Introduce one reusable calculation using the example below. Read def, the function name, parentheses, parameter, colon, indentation and return separately. Defining the function does not run its body. Calling double_value(4) supplies 4 for x, calculates 8 and returns 8. The outer print displays it. Then teach an if/else guard with a separate small example.</a:t>
            </a:r>
          </a:p>
          <a:p>
            <a:r>
              <a:t/>
            </a:r>
          </a:p>
          <a:p>
            <a:r>
              <a:t>Complete practice code:</a:t>
            </a:r>
          </a:p>
          <a:p>
            <a:r>
              <a:t>def safe_share(total, people):</a:t>
            </a:r>
          </a:p>
          <a:p>
            <a:r>
              <a:t>    if people == 0:</a:t>
            </a:r>
          </a:p>
          <a:p>
            <a:r>
              <a:t>        return None</a:t>
            </a:r>
          </a:p>
          <a:p>
            <a:r>
              <a:t>    return total / people</a:t>
            </a:r>
          </a:p>
          <a:p>
            <a:r>
              <a:t/>
            </a:r>
          </a:p>
          <a:p>
            <a:r>
              <a:t>EXPLAIN IN ORDINARY WORDS</a:t>
            </a:r>
          </a:p>
          <a:p>
            <a:r>
              <a:t>A function is a named set of instructions. def defines it; a call runs it with inputs. Parameters are input names, arguments are supplied values, and return sends the result back.</a:t>
            </a:r>
          </a:p>
          <a:p>
            <a:r>
              <a:t/>
            </a:r>
          </a:p>
          <a:p>
            <a:r>
              <a:t>CHECK AND EXPECTED ANSWER</a:t>
            </a:r>
          </a:p>
          <a:p>
            <a:r>
              <a:t>Does print(8) return the number 8 to the caller? No; it displays 8 and returns None. A function needing a numeric result should return it.</a:t>
            </a:r>
          </a:p>
          <a:p>
            <a:r>
              <a:t/>
            </a:r>
          </a:p>
          <a:p>
            <a:r>
              <a:t>IF LEARNERS ARE STUCK</a:t>
            </a:r>
          </a:p>
          <a:p>
            <a:r>
              <a:t>Trace one call: bind input names, run the indented body, reach return, then put the returned result back into the calling expression.</a:t>
            </a:r>
          </a:p>
          <a:p>
            <a:r>
              <a:t/>
            </a:r>
          </a:p>
          <a:p>
            <a:r>
              <a:t>WALK THROUGH THIS CODE</a:t>
            </a:r>
          </a:p>
          <a:p>
            <a:r>
              <a:t>def names the function. Inputs go inside parentheses.</a:t>
            </a:r>
          </a:p>
          <a:p>
            <a:r>
              <a:t>if tests a condition. The chosen indented block runs.</a:t>
            </a:r>
          </a:p>
          <a:p>
            <a:r>
              <a:t>return sends the result back to the caller.</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Worked example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Worked example continued</a:t>
            </a:r>
          </a:p>
          <a:p>
            <a:r>
              <a:t/>
            </a:r>
          </a:p>
          <a:p>
            <a:r>
              <a:t>CONNECT</a:t>
            </a:r>
          </a:p>
          <a:p>
            <a:r>
              <a:t>Build on the preceding slide: Worked example continued.</a:t>
            </a:r>
          </a:p>
          <a:p>
            <a:r>
              <a:t/>
            </a:r>
          </a:p>
          <a:p>
            <a:r>
              <a:t>LECTURER CUE</a:t>
            </a:r>
          </a:p>
          <a:p>
            <a:r>
              <a:t>Work the cohort formula by hand before opening Python. State every unit. Use the four-line cohort calculation first; do not begin with formatting, imports or a long function. Introduce one reusable calculation using the example below. Read def, the function name, parentheses, parameter, colon, indentation and return separately. Defining the function does not run its body. Calling double_value(4) supplies 4 for x, calculates 8 and returns 8. The outer print displays it. Then teach an if/else guard with a separate small example.</a:t>
            </a:r>
          </a:p>
          <a:p>
            <a:r>
              <a:t/>
            </a:r>
          </a:p>
          <a:p>
            <a:r>
              <a:t>Complete practice code:</a:t>
            </a:r>
          </a:p>
          <a:p>
            <a:r>
              <a:t>print(safe_share(12, 3))</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WALK THROUGH THIS CODE</a:t>
            </a:r>
          </a:p>
          <a:p>
            <a:r>
              <a:t>print displays a value below the cell.</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Expected output.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Expected output</a:t>
            </a:r>
          </a:p>
          <a:p>
            <a:r>
              <a:t/>
            </a:r>
          </a:p>
          <a:p>
            <a:r>
              <a:t>CONNECT</a:t>
            </a:r>
          </a:p>
          <a:p>
            <a:r>
              <a:t>Build on the preceding slide: Worked example continued.</a:t>
            </a:r>
          </a:p>
          <a:p>
            <a:r>
              <a:t/>
            </a:r>
          </a:p>
          <a:p>
            <a:r>
              <a:t>LECTURER CUE</a:t>
            </a:r>
          </a:p>
          <a:p>
            <a:r>
              <a:t>Compare the actual output character by character with this practice result. If it differs, read the first error and check the input, units, names and execution order. Do not copy this practice output into a graded answer.</a:t>
            </a:r>
          </a:p>
          <a:p>
            <a:r>
              <a:t/>
            </a:r>
          </a:p>
          <a:p>
            <a:r>
              <a:t>NEXT</a:t>
            </a:r>
          </a:p>
          <a:p>
            <a:r>
              <a:t>A branch with a clear boundary.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branch with a clear boundary</a:t>
            </a:r>
          </a:p>
          <a:p>
            <a:r>
              <a:t/>
            </a:r>
          </a:p>
          <a:p>
            <a:r>
              <a:t>CONNECT</a:t>
            </a:r>
          </a:p>
          <a:p>
            <a:r>
              <a:t>Build on the preceding slide: Expected output.</a:t>
            </a:r>
          </a:p>
          <a:p>
            <a:r>
              <a:t/>
            </a:r>
          </a:p>
          <a:p>
            <a:r>
              <a:t>LECTURER CUE</a:t>
            </a:r>
          </a:p>
          <a:p>
            <a:r>
              <a:t>Read from the top. &gt;= includes the boundary. Only the selected branch runs. Try the value exactly at 10 as well as 9 and 11.</a:t>
            </a:r>
          </a:p>
          <a:p>
            <a:r>
              <a:t/>
            </a:r>
          </a:p>
          <a:p>
            <a:r>
              <a:t>EXPLAIN IN ORDINARY WORDS</a:t>
            </a:r>
          </a:p>
          <a:p>
            <a:r>
              <a:t>A condition is a True/False question. Python executes the matching indented branch. = assigns; == compares. &gt;= includes the boundary, while &gt; excludes it.</a:t>
            </a:r>
          </a:p>
          <a:p>
            <a:r>
              <a:t/>
            </a:r>
          </a:p>
          <a:p>
            <a:r>
              <a:t>CHECK AND EXPECTED ANSWER</a:t>
            </a:r>
          </a:p>
          <a:p>
            <a:r>
              <a:t>With value 30, is value &gt;= 30 true? Yes. Is value &gt; 30 true? No.</a:t>
            </a:r>
          </a:p>
          <a:p>
            <a:r>
              <a:t/>
            </a:r>
          </a:p>
          <a:p>
            <a:r>
              <a:t>IF LEARNERS ARE STUCK</a:t>
            </a:r>
          </a:p>
          <a:p>
            <a:r>
              <a:t>Try one value below, at and above the boundary before running the code.</a:t>
            </a:r>
          </a:p>
          <a:p>
            <a:r>
              <a:t/>
            </a:r>
          </a:p>
          <a:p>
            <a:r>
              <a:t>NEXT</a:t>
            </a:r>
          </a:p>
          <a:p>
            <a:r>
              <a:t>A branch with a clear boundary in Python.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branch with a clear boundary in Python</a:t>
            </a:r>
          </a:p>
          <a:p>
            <a:r>
              <a:t/>
            </a:r>
          </a:p>
          <a:p>
            <a:r>
              <a:t>CONNECT</a:t>
            </a:r>
          </a:p>
          <a:p>
            <a:r>
              <a:t>Build on the preceding slide: A branch with a clear boundary.</a:t>
            </a:r>
          </a:p>
          <a:p>
            <a:r>
              <a:t/>
            </a:r>
          </a:p>
          <a:p>
            <a:r>
              <a:t>LECTURER CUE</a:t>
            </a:r>
          </a:p>
          <a:p>
            <a:r>
              <a:t>Read from the top. &gt;= includes the boundary. Only the selected branch runs. Try the value exactly at 10 as well as 9 and 11.</a:t>
            </a:r>
          </a:p>
          <a:p>
            <a:r>
              <a:t/>
            </a:r>
          </a:p>
          <a:p>
            <a:r>
              <a:t>Complete practice code:</a:t>
            </a:r>
          </a:p>
          <a:p>
            <a:r>
              <a:t>def check_level(value):</a:t>
            </a:r>
          </a:p>
          <a:p>
            <a:r>
              <a:t>    if value &gt;= 10:</a:t>
            </a:r>
          </a:p>
          <a:p>
            <a:r>
              <a:t>        return "high"</a:t>
            </a:r>
          </a:p>
          <a:p>
            <a:r>
              <a:t>    return "low"</a:t>
            </a:r>
          </a:p>
          <a:p>
            <a:r>
              <a:t/>
            </a:r>
          </a:p>
          <a:p>
            <a:r>
              <a:t>print(check_level(10))</a:t>
            </a:r>
          </a:p>
          <a:p>
            <a:r>
              <a:t>print(check_level(9))</a:t>
            </a:r>
          </a:p>
          <a:p>
            <a:r>
              <a:t/>
            </a:r>
          </a:p>
          <a:p>
            <a:r>
              <a:t>EXPLAIN IN ORDINARY WORDS</a:t>
            </a:r>
          </a:p>
          <a:p>
            <a:r>
              <a:t>A condition is a True/False question. Python executes the matching indented branch. = assigns; == compares. &gt;= includes the boundary, while &gt; excludes it.</a:t>
            </a:r>
          </a:p>
          <a:p>
            <a:r>
              <a:t/>
            </a:r>
          </a:p>
          <a:p>
            <a:r>
              <a:t>CHECK AND EXPECTED ANSWER</a:t>
            </a:r>
          </a:p>
          <a:p>
            <a:r>
              <a:t>With value 30, is value &gt;= 30 true? Yes. Is value &gt; 30 true? No.</a:t>
            </a:r>
          </a:p>
          <a:p>
            <a:r>
              <a:t/>
            </a:r>
          </a:p>
          <a:p>
            <a:r>
              <a:t>IF LEARNERS ARE STUCK</a:t>
            </a:r>
          </a:p>
          <a:p>
            <a:r>
              <a:t>Try one value below, at and above the boundary before running the code.</a:t>
            </a:r>
          </a:p>
          <a:p>
            <a:r>
              <a:t/>
            </a:r>
          </a:p>
          <a:p>
            <a:r>
              <a:t>WALK THROUGH THIS CODE</a:t>
            </a:r>
          </a:p>
          <a:p>
            <a:r>
              <a:t>def names the function. Inputs go inside parentheses.</a:t>
            </a:r>
          </a:p>
          <a:p>
            <a:r>
              <a:t>if tests a condition. The chosen indented block runs.</a:t>
            </a:r>
          </a:p>
          <a:p>
            <a:r>
              <a:t>return sends the result back to the caller.</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Selecting a largest error without loops.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Selecting a largest error without loops</a:t>
            </a:r>
          </a:p>
          <a:p>
            <a:r>
              <a:t/>
            </a:r>
          </a:p>
          <a:p>
            <a:r>
              <a:t>CONNECT</a:t>
            </a:r>
          </a:p>
          <a:p>
            <a:r>
              <a:t>Build on the preceding slide: A branch with a clear boundary in Python.</a:t>
            </a:r>
          </a:p>
          <a:p>
            <a:r>
              <a:t/>
            </a:r>
          </a:p>
          <a:p>
            <a:r>
              <a:t>LECTURER CUE</a:t>
            </a:r>
          </a:p>
          <a:p>
            <a:r>
              <a:t>A list holds several values. abs removes the sign when measuring the SIZE of an error. max returns the largest supplied value. Keep the original signed error when the task asks for direction.</a:t>
            </a:r>
          </a:p>
          <a:p>
            <a:r>
              <a:t/>
            </a:r>
          </a:p>
          <a:p>
            <a:r>
              <a:t>EXPLAIN IN ORDINARY WORDS</a:t>
            </a:r>
          </a:p>
          <a:p>
            <a:r>
              <a:t>The size of an error is its absolute value. Keep the original sign and the matching reading. Find the position of the largest size, then use that same position in both original lists.</a:t>
            </a:r>
          </a:p>
          <a:p>
            <a:r>
              <a:t/>
            </a:r>
          </a:p>
          <a:p>
            <a:r>
              <a:t>CHECK AND EXPECTED ANSWER</a:t>
            </a:r>
          </a:p>
          <a:p>
            <a:r>
              <a:t>For errors [-2,5,-8], sizes are [2,5,8]. The maximum size is 8 at position 2; the original signed error is -8.</a:t>
            </a:r>
          </a:p>
          <a:p>
            <a:r>
              <a:t/>
            </a:r>
          </a:p>
          <a:p>
            <a:r>
              <a:t>IF LEARNERS ARE STUCK</a:t>
            </a:r>
          </a:p>
          <a:p>
            <a:r>
              <a:t>Draw the readings, signed errors and sizes in aligned columns. Circle the position rather than replacing the signed error with its absolute value.</a:t>
            </a:r>
          </a:p>
          <a:p>
            <a:r>
              <a:t/>
            </a:r>
          </a:p>
          <a:p>
            <a:r>
              <a:t>NEXT</a:t>
            </a:r>
          </a:p>
          <a:p>
            <a:r>
              <a:t>Reading a short list.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Reading a short list</a:t>
            </a:r>
          </a:p>
          <a:p>
            <a:r>
              <a:t/>
            </a:r>
          </a:p>
          <a:p>
            <a:r>
              <a:t>CONNECT</a:t>
            </a:r>
          </a:p>
          <a:p>
            <a:r>
              <a:t>Build on the preceding slide: Selecting a largest error without loops.</a:t>
            </a:r>
          </a:p>
          <a:p>
            <a:r>
              <a:t/>
            </a:r>
          </a:p>
          <a:p>
            <a:r>
              <a:t>LECTURER CUE</a:t>
            </a:r>
          </a:p>
          <a:p>
            <a:r>
              <a:t>Trace positions 0, 1 and 2. abs(-8) is 8. Use a new list for a prediction before running the example.</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READ THE VISUAL</a:t>
            </a:r>
          </a:p>
          <a:p>
            <a:r>
              <a:t>Start with the title and labels. Read one row or mark aloud, including its unit. Let a learner read a second one before discussing the pattern. Do not infer a numerical value from an unlabelled drawing.</a:t>
            </a:r>
          </a:p>
          <a:p>
            <a:r>
              <a:t/>
            </a:r>
          </a:p>
          <a:p>
            <a:r>
              <a:t>NEXT</a:t>
            </a:r>
          </a:p>
          <a:p>
            <a:r>
              <a:t>Selecting a largest error without loops in Python.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Selecting a largest error without loops in Python</a:t>
            </a:r>
          </a:p>
          <a:p>
            <a:r>
              <a:t/>
            </a:r>
          </a:p>
          <a:p>
            <a:r>
              <a:t>CONNECT</a:t>
            </a:r>
          </a:p>
          <a:p>
            <a:r>
              <a:t>Build on the preceding slide: Reading a short list.</a:t>
            </a:r>
          </a:p>
          <a:p>
            <a:r>
              <a:t/>
            </a:r>
          </a:p>
          <a:p>
            <a:r>
              <a:t>LECTURER CUE</a:t>
            </a:r>
          </a:p>
          <a:p>
            <a:r>
              <a:t>A list holds several values. abs removes the sign when measuring the SIZE of an error. max returns the largest supplied value. Keep the original signed error when the task asks for direction.</a:t>
            </a:r>
          </a:p>
          <a:p>
            <a:r>
              <a:t/>
            </a:r>
          </a:p>
          <a:p>
            <a:r>
              <a:t>Complete practice code:</a:t>
            </a:r>
          </a:p>
          <a:p>
            <a:r>
              <a:t>errors = [-2, 5, -8]</a:t>
            </a:r>
          </a:p>
          <a:p>
            <a:r>
              <a:t>largest = max(abs(errors[0]), abs(errors[1]), abs(errors[2]))</a:t>
            </a:r>
          </a:p>
          <a:p>
            <a:r>
              <a:t>print(largest)</a:t>
            </a:r>
          </a:p>
          <a:p>
            <a:r>
              <a:t/>
            </a:r>
          </a:p>
          <a:p>
            <a:r>
              <a:t>EXPLAIN IN ORDINARY WORDS</a:t>
            </a:r>
          </a:p>
          <a:p>
            <a:r>
              <a:t>The size of an error is its absolute value. Keep the original sign and the matching reading. Find the position of the largest size, then use that same position in both original lists.</a:t>
            </a:r>
          </a:p>
          <a:p>
            <a:r>
              <a:t/>
            </a:r>
          </a:p>
          <a:p>
            <a:r>
              <a:t>CHECK AND EXPECTED ANSWER</a:t>
            </a:r>
          </a:p>
          <a:p>
            <a:r>
              <a:t>For errors [-2,5,-8], sizes are [2,5,8]. The maximum size is 8 at position 2; the original signed error is -8.</a:t>
            </a:r>
          </a:p>
          <a:p>
            <a:r>
              <a:t/>
            </a:r>
          </a:p>
          <a:p>
            <a:r>
              <a:t>IF LEARNERS ARE STUCK</a:t>
            </a:r>
          </a:p>
          <a:p>
            <a:r>
              <a:t>Draw the readings, signed errors and sizes in aligned columns. Circle the position rather than replacing the signed error with its absolute value.</a:t>
            </a:r>
          </a:p>
          <a:p>
            <a:r>
              <a:t/>
            </a:r>
          </a:p>
          <a:p>
            <a:r>
              <a:t>WALK THROUGH THIS CODE</a:t>
            </a:r>
          </a:p>
          <a:p>
            <a:r>
              <a:t>print displays a value below the cell.</a:t>
            </a:r>
          </a:p>
          <a:p>
            <a:r>
              <a:t>Square brackets create a list or select an item.</a:t>
            </a:r>
          </a:p>
          <a:p>
            <a:r>
              <a:t>= assigns the value on the right to the name on the left.</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Keep the reading beside its signed error.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Keep the reading beside its signed error</a:t>
            </a:r>
          </a:p>
          <a:p>
            <a:r>
              <a:t/>
            </a:r>
          </a:p>
          <a:p>
            <a:r>
              <a:t>CONNECT</a:t>
            </a:r>
          </a:p>
          <a:p>
            <a:r>
              <a:t>Build on the preceding slide: Selecting a largest error without loops in Python.</a:t>
            </a:r>
          </a:p>
          <a:p>
            <a:r>
              <a:t/>
            </a:r>
          </a:p>
          <a:p>
            <a:r>
              <a:t>EXPLAIN IN ORDINARY WORDS</a:t>
            </a:r>
          </a:p>
          <a:p>
            <a:r>
              <a:t>The size of an error is its absolute value. Keep the original sign and the matching reading. Find the position of the largest size, then use that same position in both original lists.</a:t>
            </a:r>
          </a:p>
          <a:p>
            <a:r>
              <a:t/>
            </a:r>
          </a:p>
          <a:p>
            <a:r>
              <a:t>CHECK AND EXPECTED ANSWER</a:t>
            </a:r>
          </a:p>
          <a:p>
            <a:r>
              <a:t>For errors [-2,5,-8], sizes are [2,5,8]. The maximum size is 8 at position 2; the original signed error is -8.</a:t>
            </a:r>
          </a:p>
          <a:p>
            <a:r>
              <a:t/>
            </a:r>
          </a:p>
          <a:p>
            <a:r>
              <a:t>IF LEARNERS ARE STUCK</a:t>
            </a:r>
          </a:p>
          <a:p>
            <a:r>
              <a:t>Draw the readings, signed errors and sizes in aligned columns. Circle the position rather than replacing the signed error with its absolute value.</a:t>
            </a:r>
          </a:p>
          <a:p>
            <a:r>
              <a:t/>
            </a:r>
          </a:p>
          <a:p>
            <a:r>
              <a:t>NEXT</a:t>
            </a:r>
          </a:p>
          <a:p>
            <a:r>
              <a:t>Find a position, then recover the original values.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Find a position, then recover the original values</a:t>
            </a:r>
          </a:p>
          <a:p>
            <a:r>
              <a:t/>
            </a:r>
          </a:p>
          <a:p>
            <a:r>
              <a:t>CONNECT</a:t>
            </a:r>
          </a:p>
          <a:p>
            <a:r>
              <a:t>Build on the preceding slide: Keep the reading beside its signed error.</a:t>
            </a:r>
          </a:p>
          <a:p>
            <a:r>
              <a:t/>
            </a:r>
          </a:p>
          <a:p>
            <a:r>
              <a:t>LECTURER CUE</a:t>
            </a:r>
          </a:p>
          <a:p>
            <a:r>
              <a:t>Expected: 92 -8. The largest size is 8; the signed error is -8.</a:t>
            </a:r>
          </a:p>
          <a:p>
            <a:r>
              <a:t/>
            </a:r>
          </a:p>
          <a:p>
            <a:r>
              <a:t>Complete practice code:</a:t>
            </a:r>
          </a:p>
          <a:p>
            <a:r>
              <a:t>readings = [98, 105, 92]</a:t>
            </a:r>
          </a:p>
          <a:p>
            <a:r>
              <a:t>errors = [-2, 5, -8]</a:t>
            </a:r>
          </a:p>
          <a:p>
            <a:r>
              <a:t>sizes = [abs(errors[0]), abs(errors[1]), abs(errors[2])]</a:t>
            </a:r>
          </a:p>
          <a:p>
            <a:r>
              <a:t>position = sizes.index(max(sizes))</a:t>
            </a:r>
          </a:p>
          <a:p>
            <a:r>
              <a:t>print(readings[position], errors[position])</a:t>
            </a:r>
          </a:p>
          <a:p>
            <a:r>
              <a:t/>
            </a:r>
          </a:p>
          <a:p>
            <a:r>
              <a:t>EXPLAIN IN ORDINARY WORDS</a:t>
            </a:r>
          </a:p>
          <a:p>
            <a:r>
              <a:t>The size of an error is its absolute value. Keep the original sign and the matching reading. Find the position of the largest size, then use that same position in both original lists.</a:t>
            </a:r>
          </a:p>
          <a:p>
            <a:r>
              <a:t/>
            </a:r>
          </a:p>
          <a:p>
            <a:r>
              <a:t>CHECK AND EXPECTED ANSWER</a:t>
            </a:r>
          </a:p>
          <a:p>
            <a:r>
              <a:t>For errors [-2,5,-8], sizes are [2,5,8]. The maximum size is 8 at position 2; the original signed error is -8.</a:t>
            </a:r>
          </a:p>
          <a:p>
            <a:r>
              <a:t/>
            </a:r>
          </a:p>
          <a:p>
            <a:r>
              <a:t>IF LEARNERS ARE STUCK</a:t>
            </a:r>
          </a:p>
          <a:p>
            <a:r>
              <a:t>Draw the readings, signed errors and sizes in aligned columns. Circle the position rather than replacing the signed error with its absolute value.</a:t>
            </a:r>
          </a:p>
          <a:p>
            <a:r>
              <a:t/>
            </a:r>
          </a:p>
          <a:p>
            <a:r>
              <a:t>WALK THROUGH THIS CODE</a:t>
            </a:r>
          </a:p>
          <a:p>
            <a:r>
              <a:t>print displays a value below the cell.</a:t>
            </a:r>
          </a:p>
          <a:p>
            <a:r>
              <a:t>Square brackets create a list or select an item.</a:t>
            </a:r>
          </a:p>
          <a:p>
            <a:r>
              <a:t>= assigns the value on the right to the name on the left.</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You are the function.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 are the function</a:t>
            </a:r>
          </a:p>
          <a:p>
            <a:r>
              <a:t/>
            </a:r>
          </a:p>
          <a:p>
            <a:r>
              <a:t>CONNECT</a:t>
            </a:r>
          </a:p>
          <a:p>
            <a:r>
              <a:t>Build on the preceding slide: Find a position, then recover the original values.</a:t>
            </a:r>
          </a:p>
          <a:p>
            <a:r>
              <a:t/>
            </a:r>
          </a:p>
          <a:p>
            <a:r>
              <a:t>LECTURER CUE</a:t>
            </a:r>
          </a:p>
          <a:p>
            <a:r>
              <a:t>Do this before revealing the discussion slide. One learner moves or writes the items, the other checks. Swap roles. Every student explains one step. Expected: The returned answers are 8 and 14. The same instructions accept different inputs.</a:t>
            </a:r>
          </a:p>
          <a:p>
            <a:r>
              <a:t>Wait for an individual prediction before inviting pair discussion. Give a first-step hint if needed.</a:t>
            </a:r>
          </a:p>
          <a:p>
            <a:r>
              <a:t/>
            </a:r>
          </a:p>
          <a:p>
            <a:r>
              <a:t>EXPLAIN IN ORDINARY WORDS</a:t>
            </a:r>
          </a:p>
          <a:p>
            <a:r>
              <a:t>A function is a named set of instructions. def defines it; a call runs it with inputs. Parameters are input names, arguments are supplied values, and return sends the result back.</a:t>
            </a:r>
          </a:p>
          <a:p>
            <a:r>
              <a:t/>
            </a:r>
          </a:p>
          <a:p>
            <a:r>
              <a:t>CHECK AND EXPECTED ANSWER</a:t>
            </a:r>
          </a:p>
          <a:p>
            <a:r>
              <a:t>Does print(8) return the number 8 to the caller? No; it displays 8 and returns None. A function needing a numeric result should return it.</a:t>
            </a:r>
          </a:p>
          <a:p>
            <a:r>
              <a:t/>
            </a:r>
          </a:p>
          <a:p>
            <a:r>
              <a:t>IF LEARNERS ARE STUCK</a:t>
            </a:r>
          </a:p>
          <a:p>
            <a:r>
              <a:t>Trace one call: bind input names, run the indented body, reach return, then put the returned result back into the calling expression.</a:t>
            </a:r>
          </a:p>
          <a:p>
            <a:r>
              <a:t/>
            </a:r>
          </a:p>
          <a:p>
            <a:r>
              <a:t>NEXT</a:t>
            </a:r>
          </a:p>
          <a:p>
            <a:r>
              <a:t>What the activity shows.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What the activity shows</a:t>
            </a:r>
          </a:p>
          <a:p>
            <a:r>
              <a:t/>
            </a:r>
          </a:p>
          <a:p>
            <a:r>
              <a:t>CONNECT</a:t>
            </a:r>
          </a:p>
          <a:p>
            <a:r>
              <a:t>Build on the preceding slide: You are the function.</a:t>
            </a:r>
          </a:p>
          <a:p>
            <a:r>
              <a:t/>
            </a:r>
          </a:p>
          <a:p>
            <a:r>
              <a:t>LECTURER CUE</a:t>
            </a:r>
          </a:p>
          <a:p>
            <a:r>
              <a:t>Ask which step produced this answer. Return to the concrete action if a learner cannot explain it. This is practice feedback, never a quiz key.</a:t>
            </a:r>
          </a:p>
          <a:p>
            <a:r>
              <a:t/>
            </a:r>
          </a:p>
          <a:p>
            <a:r>
              <a:t>EXPLAIN IN ORDINARY WORDS</a:t>
            </a:r>
          </a:p>
          <a:p>
            <a:r>
              <a:t>A function is a named set of instructions. def defines it; a call runs it with inputs. Parameters are input names, arguments are supplied values, and return sends the result back.</a:t>
            </a:r>
          </a:p>
          <a:p>
            <a:r>
              <a:t/>
            </a:r>
          </a:p>
          <a:p>
            <a:r>
              <a:t>CHECK AND EXPECTED ANSWER</a:t>
            </a:r>
          </a:p>
          <a:p>
            <a:r>
              <a:t>Does print(8) return the number 8 to the caller? No; it displays 8 and returns None. A function needing a numeric result should return it.</a:t>
            </a:r>
          </a:p>
          <a:p>
            <a:r>
              <a:t/>
            </a:r>
          </a:p>
          <a:p>
            <a:r>
              <a:t>IF LEARNERS ARE STUCK</a:t>
            </a:r>
          </a:p>
          <a:p>
            <a:r>
              <a:t>Trace one call: bind input names, run the indented body, reach return, then put the returned result back into the calling expression.</a:t>
            </a:r>
          </a:p>
          <a:p>
            <a:r>
              <a:t/>
            </a:r>
          </a:p>
          <a:p>
            <a:r>
              <a:t>NEXT</a:t>
            </a:r>
          </a:p>
          <a:p>
            <a:r>
              <a:t>Your turn.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Your turn</a:t>
            </a:r>
          </a:p>
          <a:p>
            <a:r>
              <a:t/>
            </a:r>
          </a:p>
          <a:p>
            <a:r>
              <a:t>CONNECT</a:t>
            </a:r>
          </a:p>
          <a:p>
            <a:r>
              <a:t>Build on the preceding slide: What the activity shows.</a:t>
            </a:r>
          </a:p>
          <a:p>
            <a:r>
              <a:t/>
            </a:r>
          </a:p>
          <a:p>
            <a:r>
              <a:t>LECTURER CUE</a:t>
            </a:r>
          </a:p>
          <a:p>
            <a:r>
              <a:t>Give silent thinking time, then let pairs discuss. Rotate who types. This is practice, not a graded quiz. Expected response: triple_value returns x * 3. The calls give 15 and None respectively. The guard returns before division when people is zero.</a:t>
            </a:r>
          </a:p>
          <a:p>
            <a:r>
              <a:t/>
            </a:r>
          </a:p>
          <a:p>
            <a:r>
              <a:t>DISCUSSION KEY FOR THIS SLIDE</a:t>
            </a:r>
          </a:p>
          <a:p>
            <a:r>
              <a:t>DISCUSS THE REASONING</a:t>
            </a:r>
          </a:p>
          <a:p>
            <a:r>
              <a:t>Practice discussion</a:t>
            </a:r>
          </a:p>
          <a:p>
            <a:r>
              <a:t>triple_value returns x * 3. The calls give 15 and None respectively. The guard returns before division when people is zero.</a:t>
            </a:r>
          </a:p>
          <a:p>
            <a:r>
              <a:t>Which step produced this result? What changes if one input changes?</a:t>
            </a:r>
          </a:p>
          <a:p>
            <a:r>
              <a:t>CML3111   Week 3   46</a:t>
            </a:r>
          </a:p>
          <a:p>
            <a:r>
              <a:t>Let learners attempt first; use this to explain the reasoning, not just reveal the answer.</a:t>
            </a:r>
          </a:p>
          <a:p>
            <a:r>
              <a:t/>
            </a:r>
          </a:p>
          <a:p>
            <a:r>
              <a:t>NEXT</a:t>
            </a:r>
          </a:p>
          <a:p>
            <a:r>
              <a:t>Practice discussion.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Practice discussion</a:t>
            </a:r>
          </a:p>
          <a:p>
            <a:r>
              <a:t/>
            </a:r>
          </a:p>
          <a:p>
            <a:r>
              <a:t>CONNECT</a:t>
            </a:r>
          </a:p>
          <a:p>
            <a:r>
              <a:t>Build on the preceding slide: Your turn.</a:t>
            </a:r>
          </a:p>
          <a:p>
            <a:r>
              <a:t/>
            </a:r>
          </a:p>
          <a:p>
            <a:r>
              <a:t>LECTURER CUE</a:t>
            </a:r>
          </a:p>
          <a:p>
            <a:r>
              <a:t>Ask how the result was obtained. Reteach the smallest missing step instead of giving a longer lecture.</a:t>
            </a:r>
          </a:p>
          <a:p>
            <a:r>
              <a:t/>
            </a:r>
          </a:p>
          <a:p>
            <a:r>
              <a:t>EXPLAIN IN ORDINARY WORDS</a:t>
            </a:r>
          </a:p>
          <a:p>
            <a:r>
              <a:t>A function is a named set of instructions. def defines it; a call runs it with inputs. Parameters are input names, arguments are supplied values, and return sends the result back.</a:t>
            </a:r>
          </a:p>
          <a:p>
            <a:r>
              <a:t/>
            </a:r>
          </a:p>
          <a:p>
            <a:r>
              <a:t>CHECK AND EXPECTED ANSWER</a:t>
            </a:r>
          </a:p>
          <a:p>
            <a:r>
              <a:t>Does print(8) return the number 8 to the caller? No; it displays 8 and returns None. A function needing a numeric result should return it.</a:t>
            </a:r>
          </a:p>
          <a:p>
            <a:r>
              <a:t/>
            </a:r>
          </a:p>
          <a:p>
            <a:r>
              <a:t>IF LEARNERS ARE STUCK</a:t>
            </a:r>
          </a:p>
          <a:p>
            <a:r>
              <a:t>Trace one call: bind input names, run the indented body, reach return, then put the returned result back into the calling expression.</a:t>
            </a:r>
          </a:p>
          <a:p>
            <a:r>
              <a:t/>
            </a:r>
          </a:p>
          <a:p>
            <a:r>
              <a:t>NEXT</a:t>
            </a:r>
          </a:p>
          <a:p>
            <a:r>
              <a:t>Read the quantities before the formulas.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Read the quantities before the formulas</a:t>
            </a:r>
          </a:p>
          <a:p>
            <a:r>
              <a:t/>
            </a:r>
          </a:p>
          <a:p>
            <a:r>
              <a:t>CONNECT</a:t>
            </a:r>
          </a:p>
          <a:p>
            <a:r>
              <a:t>Build on the preceding slide: Practice discussion.</a:t>
            </a:r>
          </a:p>
          <a:p>
            <a:r>
              <a:t/>
            </a:r>
          </a:p>
          <a:p>
            <a:r>
              <a:t>EXPLAIN IN ORDINARY WORDS</a:t>
            </a:r>
          </a:p>
          <a:p>
            <a:r>
              <a:t>Read each quantity and unit before using a formula. Python calculates numbers but does not enforce physical units. Parentheses specify which operation happens first.</a:t>
            </a:r>
          </a:p>
          <a:p>
            <a:r>
              <a:t/>
            </a:r>
          </a:p>
          <a:p>
            <a:r>
              <a:t>CHECK AND EXPECTED ANSWER</a:t>
            </a:r>
          </a:p>
          <a:p>
            <a:r>
              <a:t>What is 5 m times 3 m? 15 square metres. What is 7/2 in Python? 3.5; 7//2 is 3.</a:t>
            </a:r>
          </a:p>
          <a:p>
            <a:r>
              <a:t/>
            </a:r>
          </a:p>
          <a:p>
            <a:r>
              <a:t>IF LEARNERS ARE STUCK</a:t>
            </a:r>
          </a:p>
          <a:p>
            <a:r>
              <a:t>Write the formula and units on paper, substitute small values, then translate it to Python. Check zero denominators and the issued sign convention.</a:t>
            </a:r>
          </a:p>
          <a:p>
            <a:r>
              <a:t/>
            </a:r>
          </a:p>
          <a:p>
            <a:r>
              <a:t>NEXT</a:t>
            </a:r>
          </a:p>
          <a:p>
            <a:r>
              <a:t>Quantities and units.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Quantities and units</a:t>
            </a:r>
          </a:p>
          <a:p>
            <a:r>
              <a:t/>
            </a:r>
          </a:p>
          <a:p>
            <a:r>
              <a:t>CONNECT</a:t>
            </a:r>
          </a:p>
          <a:p>
            <a:r>
              <a:t>Build on the preceding slide: Read the quantities before the formulas.</a:t>
            </a:r>
          </a:p>
          <a:p>
            <a:r>
              <a:t/>
            </a:r>
          </a:p>
          <a:p>
            <a:r>
              <a:t>EXPLAIN IN ORDINARY WORDS</a:t>
            </a:r>
          </a:p>
          <a:p>
            <a:r>
              <a:t>Read each quantity and unit before using a formula. Python calculates numbers but does not enforce physical units. Parentheses specify which operation happens first.</a:t>
            </a:r>
          </a:p>
          <a:p>
            <a:r>
              <a:t/>
            </a:r>
          </a:p>
          <a:p>
            <a:r>
              <a:t>CHECK AND EXPECTED ANSWER</a:t>
            </a:r>
          </a:p>
          <a:p>
            <a:r>
              <a:t>What is 5 m times 3 m? 15 square metres. What is 7/2 in Python? 3.5; 7//2 is 3.</a:t>
            </a:r>
          </a:p>
          <a:p>
            <a:r>
              <a:t/>
            </a:r>
          </a:p>
          <a:p>
            <a:r>
              <a:t>IF LEARNERS ARE STUCK</a:t>
            </a:r>
          </a:p>
          <a:p>
            <a:r>
              <a:t>Write the formula and units on paper, substitute small values, then translate it to Python. Check zero denominators and the issued sign convention.</a:t>
            </a:r>
          </a:p>
          <a:p>
            <a:r>
              <a:t/>
            </a:r>
          </a:p>
          <a:p>
            <a:r>
              <a:t>NEXT</a:t>
            </a:r>
          </a:p>
          <a:p>
            <a:r>
              <a:t>Your programme formula.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Your programme formula</a:t>
            </a:r>
          </a:p>
          <a:p>
            <a:r>
              <a:t/>
            </a:r>
          </a:p>
          <a:p>
            <a:r>
              <a:t>CONNECT</a:t>
            </a:r>
          </a:p>
          <a:p>
            <a:r>
              <a:t>Build on the preceding slide: Quantities and units.</a:t>
            </a:r>
          </a:p>
          <a:p>
            <a:r>
              <a:t/>
            </a:r>
          </a:p>
          <a:p>
            <a:r>
              <a:t>DELIVER THIS SLIDE</a:t>
            </a:r>
          </a:p>
          <a:p>
            <a:r>
              <a:t>Read the stated purpose, then point to the named example or action on the slide. Ask learners to describe what they will do before moving on. For a break slide, announce the return time; for a section divider, name the next concrete task.</a:t>
            </a:r>
          </a:p>
          <a:p>
            <a:r>
              <a:t/>
            </a:r>
          </a:p>
          <a:p>
            <a:r>
              <a:t>NEXT</a:t>
            </a:r>
          </a:p>
          <a:p>
            <a:r>
              <a:t>Short explainer and discussion.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Short explainer and discussion</a:t>
            </a:r>
          </a:p>
          <a:p>
            <a:r>
              <a:t/>
            </a:r>
          </a:p>
          <a:p>
            <a:r>
              <a:t>CONNECT</a:t>
            </a:r>
          </a:p>
          <a:p>
            <a:r>
              <a:t>Build on the preceding slide: Your programme formula.</a:t>
            </a:r>
          </a:p>
          <a:p>
            <a:r>
              <a:t/>
            </a:r>
          </a:p>
          <a:p>
            <a:r>
              <a:t>LECTURER CUE</a:t>
            </a:r>
          </a:p>
          <a:p>
            <a:r>
              <a:t>Title/channel and subject confirmed from the original YouTube listing. Exact excerpt content has not been fully watched; keep the local worked example as the fallback.</a:t>
            </a:r>
          </a:p>
          <a:p>
            <a:r>
              <a:t>After viewing: Calculate 7 / 2 and 7 // 2 in Colab and explain the difference.</a:t>
            </a:r>
          </a:p>
          <a:p>
            <a:r>
              <a:t>Preview before class and stop after the selected short excerpt. If playback fails, teach the worked example. Video is optional. Source: https://www.youtube.com/watch?v=khKv-8q7YmY</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VIDEO ROUTINE</a:t>
            </a:r>
          </a:p>
          <a:p>
            <a:r>
              <a:t>Preview the exact link and stated excerpt before class. State the viewing question first, pause after the example, and ask a learner to explain it. If access fails, use the adjacent worked example and discussion rather than spend class time troubleshooting streaming.</a:t>
            </a:r>
          </a:p>
          <a:p>
            <a:r>
              <a:t/>
            </a:r>
          </a:p>
          <a:p>
            <a:r>
              <a:t>NEXT</a:t>
            </a:r>
          </a:p>
          <a:p>
            <a:r>
              <a:t>After the video.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After the video</a:t>
            </a:r>
          </a:p>
          <a:p>
            <a:r>
              <a:t/>
            </a:r>
          </a:p>
          <a:p>
            <a:r>
              <a:t>CONNECT</a:t>
            </a:r>
          </a:p>
          <a:p>
            <a:r>
              <a:t>Build on the preceding slide: Short explainer and discussion.</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NEXT</a:t>
            </a:r>
          </a:p>
          <a:p>
            <a:r>
              <a:t>Preparing for the assignment.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Preparing for the assignment</a:t>
            </a:r>
          </a:p>
          <a:p>
            <a:r>
              <a:t/>
            </a:r>
          </a:p>
          <a:p>
            <a:r>
              <a:t>CONNECT</a:t>
            </a:r>
          </a:p>
          <a:p>
            <a:r>
              <a:t>Build on the preceding slide: After the video.</a:t>
            </a:r>
          </a:p>
          <a:p>
            <a:r>
              <a:t/>
            </a:r>
          </a:p>
          <a:p>
            <a:r>
              <a:t>LECTURER CUE</a:t>
            </a:r>
          </a:p>
          <a:p>
            <a:r>
              <a:t>A3 has five named tasks, not five additional projects. Read each public prompt and its exact output name. Signed percentage error = 100 × (measured − expected) / expected. Use a nonzero expected value. For the cohort task: resistive loss = current² × resistance; slab mass = area × thickness × 2400; hydrostatic pressure in kPa = density × 9.81 × depth / 1000. The brief determines which formula you implement. q4 specifies the zero-input behaviour. q5 uses the supplied six readings; trace them on paper, and use your own percentage-error function. Loops are not required yet.</a:t>
            </a:r>
          </a:p>
          <a:p>
            <a:r>
              <a:t/>
            </a:r>
          </a:p>
          <a:p>
            <a:r>
              <a:t>EXPLAIN IN ORDINARY WORDS</a:t>
            </a:r>
          </a:p>
          <a:p>
            <a:r>
              <a:t>Signed percentage error compares a measurement with its expected reference: (measured - expected) / expected times 100. Positive means above the reference; negative means below it.</a:t>
            </a:r>
          </a:p>
          <a:p>
            <a:r>
              <a:t/>
            </a:r>
          </a:p>
          <a:p>
            <a:r>
              <a:t>CHECK AND EXPECTED ANSWER</a:t>
            </a:r>
          </a:p>
          <a:p>
            <a:r>
              <a:t>For measured 90 and expected 100, the signed error is -10%. Its size is 10%.</a:t>
            </a:r>
          </a:p>
          <a:p>
            <a:r>
              <a:t/>
            </a:r>
          </a:p>
          <a:p>
            <a:r>
              <a:t>IF LEARNERS ARE STUCK</a:t>
            </a:r>
          </a:p>
          <a:p>
            <a:r>
              <a:t>Calculate the difference first, divide by the reference, then multiply by 100. The formula needs a nonzero reference; follow the issued task contract for exceptional inputs.</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Preparing for the assignment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Preparing for the assignment continued</a:t>
            </a:r>
          </a:p>
          <a:p>
            <a:r>
              <a:t/>
            </a:r>
          </a:p>
          <a:p>
            <a:r>
              <a:t>CONNECT</a:t>
            </a:r>
          </a:p>
          <a:p>
            <a:r>
              <a:t>Build on the preceding slide: Preparing for the assignment.</a:t>
            </a:r>
          </a:p>
          <a:p>
            <a:r>
              <a:t/>
            </a:r>
          </a:p>
          <a:p>
            <a:r>
              <a:t>LECTURER CUE</a:t>
            </a:r>
          </a:p>
          <a:p>
            <a:r>
              <a:t>A3 has five named tasks, not five additional projects. Read each public prompt and its exact output name. Signed percentage error = 100 × (measured − expected) / expected. Use a nonzero expected value. For the cohort task: resistive loss = current² × resistance; slab mass = area × thickness × 2400; hydrostatic pressure in kPa = density × 9.81 × depth / 1000. The brief determines which formula you implement. q4 specifies the zero-input behaviour. q5 uses the supplied six readings; trace them on paper, and use your own percentage-error function. Loops are not required yet.</a:t>
            </a:r>
          </a:p>
          <a:p>
            <a:r>
              <a:t/>
            </a:r>
          </a:p>
          <a:p>
            <a:r>
              <a:t>EXPLAIN IN ORDINARY WORDS</a:t>
            </a:r>
          </a:p>
          <a:p>
            <a:r>
              <a:t>A loop repeats its indented instructions for each item. A running total must be initialised before the loop and updated inside it.</a:t>
            </a:r>
          </a:p>
          <a:p>
            <a:r>
              <a:t/>
            </a:r>
          </a:p>
          <a:p>
            <a:r>
              <a:t>CHECK AND EXPECTED ANSWER</a:t>
            </a:r>
          </a:p>
          <a:p>
            <a:r>
              <a:t>For values 2,4,6 and total initially 0, what are the successive totals? 2,6,12.</a:t>
            </a:r>
          </a:p>
          <a:p>
            <a:r>
              <a:t/>
            </a:r>
          </a:p>
          <a:p>
            <a:r>
              <a:t>IF LEARNERS ARE STUCK</a:t>
            </a:r>
          </a:p>
          <a:p>
            <a:r>
              <a:t>Use a trace table with current item and total. Resetting total inside the loop loses earlier additions.</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Units branches and error messages.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Units branches and error messages</a:t>
            </a:r>
          </a:p>
          <a:p>
            <a:r>
              <a:t/>
            </a:r>
          </a:p>
          <a:p>
            <a:r>
              <a:t>CONNECT</a:t>
            </a:r>
          </a:p>
          <a:p>
            <a:r>
              <a:t>Build on the preceding slide: Preparing for the assignment continued.</a:t>
            </a:r>
          </a:p>
          <a:p>
            <a:r>
              <a:t/>
            </a:r>
          </a:p>
          <a:p>
            <a:r>
              <a:t>LECTURER CUE</a:t>
            </a:r>
          </a:p>
          <a:p>
            <a:r>
              <a:t>Teach these concepts before the weekly quiz. Use changed numbers for practice. This slide supplies concepts, not the quiz key.</a:t>
            </a:r>
          </a:p>
          <a:p>
            <a:r>
              <a:t/>
            </a:r>
          </a:p>
          <a:p>
            <a:r>
              <a:t>EXPLAIN IN ORDINARY WORDS</a:t>
            </a:r>
          </a:p>
          <a:p>
            <a:r>
              <a:t>A condition is a True/False question. Python executes the matching indented branch. = assigns; == compares. &gt;= includes the boundary, while &gt; excludes it.</a:t>
            </a:r>
          </a:p>
          <a:p>
            <a:r>
              <a:t/>
            </a:r>
          </a:p>
          <a:p>
            <a:r>
              <a:t>CHECK AND EXPECTED ANSWER</a:t>
            </a:r>
          </a:p>
          <a:p>
            <a:r>
              <a:t>With value 30, is value &gt;= 30 true? Yes. Is value &gt; 30 true? No.</a:t>
            </a:r>
          </a:p>
          <a:p>
            <a:r>
              <a:t/>
            </a:r>
          </a:p>
          <a:p>
            <a:r>
              <a:t>IF LEARNERS ARE STUCK</a:t>
            </a:r>
          </a:p>
          <a:p>
            <a:r>
              <a:t>Try one value below, at and above the boundary before running the code.</a:t>
            </a:r>
          </a:p>
          <a:p>
            <a:r>
              <a:t/>
            </a:r>
          </a:p>
          <a:p>
            <a:r>
              <a:t>NEXT</a:t>
            </a:r>
          </a:p>
          <a:p>
            <a:r>
              <a:t>Units branches and error messages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Units branches and error messages continued</a:t>
            </a:r>
          </a:p>
          <a:p>
            <a:r>
              <a:t/>
            </a:r>
          </a:p>
          <a:p>
            <a:r>
              <a:t>CONNECT</a:t>
            </a:r>
          </a:p>
          <a:p>
            <a:r>
              <a:t>Build on the preceding slide: Units branches and error messages.</a:t>
            </a:r>
          </a:p>
          <a:p>
            <a:r>
              <a:t/>
            </a:r>
          </a:p>
          <a:p>
            <a:r>
              <a:t>LECTURER CUE</a:t>
            </a:r>
          </a:p>
          <a:p>
            <a:r>
              <a:t>Teach these concepts before the weekly quiz. Use changed numbers for practice. This slide supplies concepts, not the quiz key.</a:t>
            </a:r>
          </a:p>
          <a:p>
            <a:r>
              <a:t/>
            </a:r>
          </a:p>
          <a:p>
            <a:r>
              <a:t>EXPLAIN IN ORDINARY WORDS</a:t>
            </a:r>
          </a:p>
          <a:p>
            <a:r>
              <a:t>A condition is a True/False question. Python executes the matching indented branch. = assigns; == compares. &gt;= includes the boundary, while &gt; excludes it.</a:t>
            </a:r>
          </a:p>
          <a:p>
            <a:r>
              <a:t/>
            </a:r>
          </a:p>
          <a:p>
            <a:r>
              <a:t>CHECK AND EXPECTED ANSWER</a:t>
            </a:r>
          </a:p>
          <a:p>
            <a:r>
              <a:t>With value 30, is value &gt;= 30 true? Yes. Is value &gt; 30 true? No.</a:t>
            </a:r>
          </a:p>
          <a:p>
            <a:r>
              <a:t/>
            </a:r>
          </a:p>
          <a:p>
            <a:r>
              <a:t>IF LEARNERS ARE STUCK</a:t>
            </a:r>
          </a:p>
          <a:p>
            <a:r>
              <a:t>Try one value below, at and above the boundary before running the code.</a:t>
            </a:r>
          </a:p>
          <a:p>
            <a:r>
              <a:t/>
            </a:r>
          </a:p>
          <a:p>
            <a:r>
              <a:t>NEXT</a:t>
            </a:r>
          </a:p>
          <a:p>
            <a:r>
              <a:t>Units branches and error messages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Units branches and error messages continued</a:t>
            </a:r>
          </a:p>
          <a:p>
            <a:r>
              <a:t/>
            </a:r>
          </a:p>
          <a:p>
            <a:r>
              <a:t>CONNECT</a:t>
            </a:r>
          </a:p>
          <a:p>
            <a:r>
              <a:t>Build on the preceding slide: Units branches and error messages continued.</a:t>
            </a:r>
          </a:p>
          <a:p>
            <a:r>
              <a:t/>
            </a:r>
          </a:p>
          <a:p>
            <a:r>
              <a:t>LECTURER CUE</a:t>
            </a:r>
          </a:p>
          <a:p>
            <a:r>
              <a:t>Teach these concepts before the weekly quiz. Use changed numbers for practice. This slide supplies concepts, not the quiz key.</a:t>
            </a:r>
          </a:p>
          <a:p>
            <a:r>
              <a:t/>
            </a:r>
          </a:p>
          <a:p>
            <a:r>
              <a:t>EXPLAIN IN ORDINARY WORDS</a:t>
            </a:r>
          </a:p>
          <a:p>
            <a:r>
              <a:t>A condition is a True/False question. Python executes the matching indented branch. = assigns; == compares. &gt;= includes the boundary, while &gt; excludes it.</a:t>
            </a:r>
          </a:p>
          <a:p>
            <a:r>
              <a:t/>
            </a:r>
          </a:p>
          <a:p>
            <a:r>
              <a:t>CHECK AND EXPECTED ANSWER</a:t>
            </a:r>
          </a:p>
          <a:p>
            <a:r>
              <a:t>With value 30, is value &gt;= 30 true? Yes. Is value &gt; 30 true? No.</a:t>
            </a:r>
          </a:p>
          <a:p>
            <a:r>
              <a:t/>
            </a:r>
          </a:p>
          <a:p>
            <a:r>
              <a:t>IF LEARNERS ARE STUCK</a:t>
            </a:r>
          </a:p>
          <a:p>
            <a:r>
              <a:t>Try one value below, at and above the boundary before running the code.</a:t>
            </a:r>
          </a:p>
          <a:p>
            <a:r>
              <a:t/>
            </a:r>
          </a:p>
          <a:p>
            <a:r>
              <a:t>NEXT</a:t>
            </a:r>
          </a:p>
          <a:p>
            <a:r>
              <a:t>Your issued assignment.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Your issued assignment</a:t>
            </a:r>
          </a:p>
          <a:p>
            <a:r>
              <a:t/>
            </a:r>
          </a:p>
          <a:p>
            <a:r>
              <a:t>CONNECT</a:t>
            </a:r>
          </a:p>
          <a:p>
            <a:r>
              <a:t>Build on the preceding slide: Units branches and error messages continued.</a:t>
            </a:r>
          </a:p>
          <a:p>
            <a:r>
              <a:t/>
            </a:r>
          </a:p>
          <a:p>
            <a:r>
              <a:t>LECTURER CUE</a:t>
            </a:r>
          </a:p>
          <a:p>
            <a:r>
              <a:t># W03: variables and functions</a:t>
            </a:r>
          </a:p>
          <a:p>
            <a:r>
              <a:t>CML3111. Complete each named output. Save as STUDENT_ID_W03.ipynb.</a:t>
            </a:r>
          </a:p>
          <a:p>
            <a:r>
              <a:t>## q1: 3 marks</a:t>
            </a:r>
          </a:p>
          <a:p>
            <a:r>
              <a:t>A 40 kg motor sits on a bench. Set weight_n to its weight in newtons, taking g = 9.81.</a:t>
            </a:r>
          </a:p>
          <a:p>
            <a:r>
              <a:t>## q2: 4 marks</a:t>
            </a:r>
          </a:p>
          <a:p>
            <a:r>
              <a:t>Write percent_error(measured, expected) returning the signed percent error.</a:t>
            </a:r>
          </a:p>
          <a:p>
            <a:r>
              <a:t>## q3: 3 marks</a:t>
            </a:r>
          </a:p>
          <a:p>
            <a:r>
              <a:t>Write power_loss(current, resistance) returning the power lost in watts (I squared R).</a:t>
            </a:r>
          </a:p>
          <a:p>
            <a:r>
              <a:t>## q4: 5 marks</a:t>
            </a:r>
          </a:p>
          <a:p>
            <a:r>
              <a:t>Write efficiency(out_w, in_w) returning the percentage, and returning None when in_w is zero or negative.</a:t>
            </a:r>
          </a:p>
          <a:p>
            <a:r>
              <a:t>## q5: 5 marks</a:t>
            </a:r>
          </a:p>
          <a:p>
            <a:r>
              <a:t>READINGS is given in the notebook. Using your own percent_error against a nominal of 100, set worst_reading to the reading with the largest error by size, and worst_error to that reading's signed percent error.</a:t>
            </a:r>
          </a:p>
          <a:p>
            <a:r>
              <a:t>You may compare these six readings directly; a loop is not required this week.</a:t>
            </a:r>
          </a:p>
          <a:p>
            <a:r>
              <a:t>Restart and Run All, then save your named notebook. Practice check results are feedback; the submitted notebook is graded independently.</a:t>
            </a:r>
          </a:p>
          <a:p>
            <a:r>
              <a:t/>
            </a:r>
          </a:p>
          <a:p>
            <a:r>
              <a:t>EXPLAIN IN ORDINARY WORDS</a:t>
            </a:r>
          </a:p>
          <a:p>
            <a:r>
              <a:t>A function is a named set of instructions. def defines it; a call runs it with inputs. Parameters are input names, arguments are supplied values, and return sends the result back.</a:t>
            </a:r>
          </a:p>
          <a:p>
            <a:r>
              <a:t/>
            </a:r>
          </a:p>
          <a:p>
            <a:r>
              <a:t>CHECK AND EXPECTED ANSWER</a:t>
            </a:r>
          </a:p>
          <a:p>
            <a:r>
              <a:t>Does print(8) return the number 8 to the caller? No; it displays 8 and returns None. A function needing a numeric result should return it.</a:t>
            </a:r>
          </a:p>
          <a:p>
            <a:r>
              <a:t/>
            </a:r>
          </a:p>
          <a:p>
            <a:r>
              <a:t>IF LEARNERS ARE STUCK</a:t>
            </a:r>
          </a:p>
          <a:p>
            <a:r>
              <a:t>Trace one call: bind input names, run the indented body, reach return, then put the returned result back into the calling expression.</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q1: 3 marks.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q1: 3 marks</a:t>
            </a:r>
          </a:p>
          <a:p>
            <a:r>
              <a:t/>
            </a:r>
          </a:p>
          <a:p>
            <a:r>
              <a:t>CONNECT</a:t>
            </a:r>
          </a:p>
          <a:p>
            <a:r>
              <a:t>Build on the preceding slide: Your issued assignment.</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Read each quantity and unit before using a formula. Python calculates numbers but does not enforce physical units. Parentheses specify which operation happens first.</a:t>
            </a:r>
          </a:p>
          <a:p>
            <a:r>
              <a:t/>
            </a:r>
          </a:p>
          <a:p>
            <a:r>
              <a:t>CHECK AND EXPECTED ANSWER</a:t>
            </a:r>
          </a:p>
          <a:p>
            <a:r>
              <a:t>What is 5 m times 3 m? 15 square metres. What is 7/2 in Python? 3.5; 7//2 is 3.</a:t>
            </a:r>
          </a:p>
          <a:p>
            <a:r>
              <a:t/>
            </a:r>
          </a:p>
          <a:p>
            <a:r>
              <a:t>IF LEARNERS ARE STUCK</a:t>
            </a:r>
          </a:p>
          <a:p>
            <a:r>
              <a:t>Write the formula and units on paper, substitute small values, then translate it to Python. Check zero denominators and the issued sign convention.</a:t>
            </a:r>
          </a:p>
          <a:p>
            <a:r>
              <a:t/>
            </a:r>
          </a:p>
          <a:p>
            <a:r>
              <a:t>NEXT</a:t>
            </a:r>
          </a:p>
          <a:p>
            <a:r>
              <a:t>q2: 4 marks.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q2: 4 marks</a:t>
            </a:r>
          </a:p>
          <a:p>
            <a:r>
              <a:t/>
            </a:r>
          </a:p>
          <a:p>
            <a:r>
              <a:t>CONNECT</a:t>
            </a:r>
          </a:p>
          <a:p>
            <a:r>
              <a:t>Build on the preceding slide: q1: 3 marks.</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Signed percentage error compares a measurement with its expected reference: (measured - expected) / expected times 100. Positive means above the reference; negative means below it.</a:t>
            </a:r>
          </a:p>
          <a:p>
            <a:r>
              <a:t/>
            </a:r>
          </a:p>
          <a:p>
            <a:r>
              <a:t>CHECK AND EXPECTED ANSWER</a:t>
            </a:r>
          </a:p>
          <a:p>
            <a:r>
              <a:t>For measured 90 and expected 100, the signed error is -10%. Its size is 10%.</a:t>
            </a:r>
          </a:p>
          <a:p>
            <a:r>
              <a:t/>
            </a:r>
          </a:p>
          <a:p>
            <a:r>
              <a:t>IF LEARNERS ARE STUCK</a:t>
            </a:r>
          </a:p>
          <a:p>
            <a:r>
              <a:t>Calculate the difference first, divide by the reference, then multiply by 100. The formula needs a nonzero reference; follow the issued task contract for exceptional inputs.</a:t>
            </a:r>
          </a:p>
          <a:p>
            <a:r>
              <a:t/>
            </a:r>
          </a:p>
          <a:p>
            <a:r>
              <a:t>NEXT</a:t>
            </a:r>
          </a:p>
          <a:p>
            <a:r>
              <a:t>q3: 3 marks.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q3: 3 marks</a:t>
            </a:r>
          </a:p>
          <a:p>
            <a:r>
              <a:t/>
            </a:r>
          </a:p>
          <a:p>
            <a:r>
              <a:t>CONNECT</a:t>
            </a:r>
          </a:p>
          <a:p>
            <a:r>
              <a:t>Build on the preceding slide: q2: 4 marks.</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A function is a named set of instructions. def defines it; a call runs it with inputs. Parameters are input names, arguments are supplied values, and return sends the result back.</a:t>
            </a:r>
          </a:p>
          <a:p>
            <a:r>
              <a:t/>
            </a:r>
          </a:p>
          <a:p>
            <a:r>
              <a:t>CHECK AND EXPECTED ANSWER</a:t>
            </a:r>
          </a:p>
          <a:p>
            <a:r>
              <a:t>Does print(8) return the number 8 to the caller? No; it displays 8 and returns None. A function needing a numeric result should return it.</a:t>
            </a:r>
          </a:p>
          <a:p>
            <a:r>
              <a:t/>
            </a:r>
          </a:p>
          <a:p>
            <a:r>
              <a:t>IF LEARNERS ARE STUCK</a:t>
            </a:r>
          </a:p>
          <a:p>
            <a:r>
              <a:t>Trace one call: bind input names, run the indented body, reach return, then put the returned result back into the calling expression.</a:t>
            </a:r>
          </a:p>
          <a:p>
            <a:r>
              <a:t/>
            </a:r>
          </a:p>
          <a:p>
            <a:r>
              <a:t>NEXT</a:t>
            </a:r>
          </a:p>
          <a:p>
            <a:r>
              <a:t>q4: 5 marks.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q4: 5 marks</a:t>
            </a:r>
          </a:p>
          <a:p>
            <a:r>
              <a:t/>
            </a:r>
          </a:p>
          <a:p>
            <a:r>
              <a:t>CONNECT</a:t>
            </a:r>
          </a:p>
          <a:p>
            <a:r>
              <a:t>Build on the preceding slide: q3: 3 marks.</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A function is a named set of instructions. def defines it; a call runs it with inputs. Parameters are input names, arguments are supplied values, and return sends the result back.</a:t>
            </a:r>
          </a:p>
          <a:p>
            <a:r>
              <a:t/>
            </a:r>
          </a:p>
          <a:p>
            <a:r>
              <a:t>CHECK AND EXPECTED ANSWER</a:t>
            </a:r>
          </a:p>
          <a:p>
            <a:r>
              <a:t>Does print(8) return the number 8 to the caller? No; it displays 8 and returns None. A function needing a numeric result should return it.</a:t>
            </a:r>
          </a:p>
          <a:p>
            <a:r>
              <a:t/>
            </a:r>
          </a:p>
          <a:p>
            <a:r>
              <a:t>IF LEARNERS ARE STUCK</a:t>
            </a:r>
          </a:p>
          <a:p>
            <a:r>
              <a:t>Trace one call: bind input names, run the indented body, reach return, then put the returned result back into the calling expression.</a:t>
            </a:r>
          </a:p>
          <a:p>
            <a:r>
              <a:t/>
            </a:r>
          </a:p>
          <a:p>
            <a:r>
              <a:t>NEXT</a:t>
            </a:r>
          </a:p>
          <a:p>
            <a:r>
              <a:t>q5: 5 marks.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q5: 5 marks</a:t>
            </a:r>
          </a:p>
          <a:p>
            <a:r>
              <a:t/>
            </a:r>
          </a:p>
          <a:p>
            <a:r>
              <a:t>CONNECT</a:t>
            </a:r>
          </a:p>
          <a:p>
            <a:r>
              <a:t>Build on the preceding slide: q4: 5 marks.</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Signed percentage error compares a measurement with its expected reference: (measured - expected) / expected times 100. Positive means above the reference; negative means below it.</a:t>
            </a:r>
          </a:p>
          <a:p>
            <a:r>
              <a:t/>
            </a:r>
          </a:p>
          <a:p>
            <a:r>
              <a:t>CHECK AND EXPECTED ANSWER</a:t>
            </a:r>
          </a:p>
          <a:p>
            <a:r>
              <a:t>For measured 90 and expected 100, the signed error is -10%. Its size is 10%.</a:t>
            </a:r>
          </a:p>
          <a:p>
            <a:r>
              <a:t/>
            </a:r>
          </a:p>
          <a:p>
            <a:r>
              <a:t>IF LEARNERS ARE STUCK</a:t>
            </a:r>
          </a:p>
          <a:p>
            <a:r>
              <a:t>Calculate the difference first, divide by the reference, then multiply by 100. The formula needs a nonzero reference; follow the issued task contract for exceptional inputs.</a:t>
            </a:r>
          </a:p>
          <a:p>
            <a:r>
              <a:t/>
            </a:r>
          </a:p>
          <a:p>
            <a:r>
              <a:t>NEXT</a:t>
            </a:r>
          </a:p>
          <a:p>
            <a:r>
              <a:t>Engineering functions submission.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Engineering functions submission</a:t>
            </a:r>
          </a:p>
          <a:p>
            <a:r>
              <a:t/>
            </a:r>
          </a:p>
          <a:p>
            <a:r>
              <a:t>CONNECT</a:t>
            </a:r>
          </a:p>
          <a:p>
            <a:r>
              <a:t>Build on the preceding slide: q5: 5 marks.</a:t>
            </a:r>
          </a:p>
          <a:p>
            <a:r>
              <a:t/>
            </a:r>
          </a:p>
          <a:p>
            <a:r>
              <a:t>LECTURER CUE</a:t>
            </a:r>
          </a:p>
          <a:p>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a:r>
              <a:t/>
            </a:r>
          </a:p>
          <a:p>
            <a:r>
              <a:t>EXPLAIN IN ORDINARY WORDS</a:t>
            </a:r>
          </a:p>
          <a:p>
            <a:r>
              <a:t>A function is a named set of instructions. def defines it; a call runs it with inputs. Parameters are input names, arguments are supplied values, and return sends the result back.</a:t>
            </a:r>
          </a:p>
          <a:p>
            <a:r>
              <a:t/>
            </a:r>
          </a:p>
          <a:p>
            <a:r>
              <a:t>CHECK AND EXPECTED ANSWER</a:t>
            </a:r>
          </a:p>
          <a:p>
            <a:r>
              <a:t>Does print(8) return the number 8 to the caller? No; it displays 8 and returns None. A function needing a numeric result should return it.</a:t>
            </a:r>
          </a:p>
          <a:p>
            <a:r>
              <a:t/>
            </a:r>
          </a:p>
          <a:p>
            <a:r>
              <a:t>IF LEARNERS ARE STUCK</a:t>
            </a:r>
          </a:p>
          <a:p>
            <a:r>
              <a:t>Trace one call: bind input names, run the indented body, reach return, then put the returned result back into the calling expression.</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Week 3 quiz.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Week 3 quiz</a:t>
            </a:r>
          </a:p>
          <a:p>
            <a:r>
              <a:t/>
            </a:r>
          </a:p>
          <a:p>
            <a:r>
              <a:t>CONNECT</a:t>
            </a:r>
          </a:p>
          <a:p>
            <a:r>
              <a:t>Build on the preceding slide: Engineering functions submission.</a:t>
            </a:r>
          </a:p>
          <a:p>
            <a:r>
              <a:t/>
            </a:r>
          </a:p>
          <a:p>
            <a:r>
              <a:t>LECTURER CUE</a:t>
            </a:r>
          </a:p>
          <a:p>
            <a:r>
              <a:t>Activate the matching open_W3_CML3111 function in Quiz Controls, then confirm the 24-hour close time. Opening this slide or clicking its link does not activate the form. The 24 hours is the availability window. Keep existing quiz scoring and form rules. Do not show private answer keys.</a:t>
            </a:r>
          </a:p>
          <a:p>
            <a:r>
              <a:t/>
            </a:r>
          </a:p>
          <a:p>
            <a:r>
              <a:t>QUIZ OPERATION</a:t>
            </a:r>
          </a:p>
          <a:p>
            <a:r>
              <a:t>Opening the student link does not activate the quiz. In Quiz Controls run the matching open_W&lt;week&gt;_&lt;cohort&gt; function once when ready. Announce the logged closing time: 24 hours after activation. Five minutes describes expected answering time, not the availability window. Quiz 1 and Quiz 2 require separate activation when collecting catch-up work.</a:t>
            </a:r>
          </a:p>
          <a:p>
            <a:r>
              <a:t/>
            </a:r>
          </a:p>
          <a:p>
            <a:r>
              <a:t>NEXT</a:t>
            </a:r>
          </a:p>
          <a:p>
            <a:r>
              <a:t>Before you leave.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Before you leave</a:t>
            </a:r>
          </a:p>
          <a:p>
            <a:r>
              <a:t/>
            </a:r>
          </a:p>
          <a:p>
            <a:r>
              <a:t>CONNECT</a:t>
            </a:r>
          </a:p>
          <a:p>
            <a:r>
              <a:t>Build on the preceding slide: Week 3 quiz.</a:t>
            </a:r>
          </a:p>
          <a:p>
            <a:r>
              <a:t/>
            </a:r>
          </a:p>
          <a:p>
            <a:r>
              <a:t>LECTURER CUE</a:t>
            </a:r>
          </a:p>
          <a:p>
            <a:r>
              <a:t>Ask every learner for an individual response. Record one misconception to revisit at the start of the next class. If a deadline changed, announce the exact Kampala date and update the source registry before rebuilding slides.</a:t>
            </a:r>
          </a:p>
          <a:p>
            <a:r>
              <a:t/>
            </a:r>
          </a:p>
          <a:p>
            <a:r>
              <a:t>EXPLAIN IN ORDINARY WORDS</a:t>
            </a:r>
          </a:p>
          <a:p>
            <a:r>
              <a:t>A function is a named set of instructions. def defines it; a call runs it with inputs. Parameters are input names, arguments are supplied values, and return sends the result back.</a:t>
            </a:r>
          </a:p>
          <a:p>
            <a:r>
              <a:t/>
            </a:r>
          </a:p>
          <a:p>
            <a:r>
              <a:t>CHECK AND EXPECTED ANSWER</a:t>
            </a:r>
          </a:p>
          <a:p>
            <a:r>
              <a:t>Does print(8) return the number 8 to the caller? No; it displays 8 and returns None. A function needing a numeric result should return it.</a:t>
            </a:r>
          </a:p>
          <a:p>
            <a:r>
              <a:t/>
            </a:r>
          </a:p>
          <a:p>
            <a:r>
              <a:t>IF LEARNERS ARE STUCK</a:t>
            </a:r>
          </a:p>
          <a:p>
            <a:r>
              <a:t>Trace one call: bind input names, run the indented body, reach return, then put the returned result back into the calling expression.</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10d96f700fd42b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ade662ae555454f" /><Relationship Type="http://schemas.openxmlformats.org/officeDocument/2006/relationships/slideLayout" Target="/ppt/slideLayouts/slideLayout1.xml" Id="Rb88a5f13fe52417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88a5f13fe52417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a206c2080c6e448a" /><Relationship Type="http://schemas.openxmlformats.org/officeDocument/2006/relationships/image" Target="/ppt/media/image.png" Id="Rfef7411882464621" /><Relationship Type="http://schemas.openxmlformats.org/officeDocument/2006/relationships/notesSlide" Target="/ppt/notesSlides/notesSlide1.xml" Id="R9ad53fba827b42af"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c886052d57d04f88" /><Relationship Type="http://schemas.openxmlformats.org/officeDocument/2006/relationships/notesSlide" Target="/ppt/notesSlides/notesSlide2.xml" Id="R9e147353406c42fc"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76034d83b8324ba7" /><Relationship Type="http://schemas.openxmlformats.org/officeDocument/2006/relationships/notesSlide" Target="/ppt/notesSlides/notesSlide3.xml" Id="R06bd224147f5422f"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0b0b30859237437d" /><Relationship Type="http://schemas.openxmlformats.org/officeDocument/2006/relationships/notesSlide" Target="/ppt/notesSlides/notesSlide4.xml" Id="R4eb9ce7e7fb64300"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a2d6bf8746748bf" /><Relationship Type="http://schemas.openxmlformats.org/officeDocument/2006/relationships/notesSlide" Target="/ppt/notesSlides/notesSlide5.xml" Id="Rf710933106e64eec"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b6a99e449345406c" /><Relationship Type="http://schemas.openxmlformats.org/officeDocument/2006/relationships/notesSlide" Target="/ppt/notesSlides/notesSlide6.xml" Id="Rc9c795cbe8034935"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fafa16cc1f034365" /><Relationship Type="http://schemas.openxmlformats.org/officeDocument/2006/relationships/image" Target="/ppt/media/image2.png" Id="R3b0ef7744ea04076" /><Relationship Type="http://schemas.openxmlformats.org/officeDocument/2006/relationships/notesSlide" Target="/ppt/notesSlides/notesSlide7.xml" Id="R9307e4fc2e8644e6"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9e24ec0616c843cf" /><Relationship Type="http://schemas.openxmlformats.org/officeDocument/2006/relationships/notesSlide" Target="/ppt/notesSlides/notesSlide8.xml" Id="Rb871ca010fbb426b"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75be1d8dd4c44446" /><Relationship Type="http://schemas.openxmlformats.org/officeDocument/2006/relationships/notesSlide" Target="/ppt/notesSlides/notesSlide9.xml" Id="Rcd82395642534b3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26561ea8602d4481" /><Relationship Type="http://schemas.openxmlformats.org/officeDocument/2006/relationships/notesSlide" Target="/ppt/notesSlides/notesSlide10.xml" Id="Rb44131f0c6e143e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d2e304d4c92349b3" /><Relationship Type="http://schemas.openxmlformats.org/officeDocument/2006/relationships/notesSlide" Target="/ppt/notesSlides/notesSlide11.xml" Id="R251b07381a2843b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14ed5d6b294a4984" /><Relationship Type="http://schemas.openxmlformats.org/officeDocument/2006/relationships/notesSlide" Target="/ppt/notesSlides/notesSlide12.xml" Id="R387f05d45fd143fb"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40bba2c31a4e4df1" /><Relationship Type="http://schemas.openxmlformats.org/officeDocument/2006/relationships/notesSlide" Target="/ppt/notesSlides/notesSlide13.xml" Id="R309e47dbe54d4f6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0dbee46a9d374ba6" /><Relationship Type="http://schemas.openxmlformats.org/officeDocument/2006/relationships/notesSlide" Target="/ppt/notesSlides/notesSlide14.xml" Id="Rb55c6eca91ed4d85"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df897b0e3c6c4df6" /><Relationship Type="http://schemas.openxmlformats.org/officeDocument/2006/relationships/notesSlide" Target="/ppt/notesSlides/notesSlide15.xml" Id="Ra079841dee1840ba"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be82836363404d94" /><Relationship Type="http://schemas.openxmlformats.org/officeDocument/2006/relationships/notesSlide" Target="/ppt/notesSlides/notesSlide16.xml" Id="R41b8031bfc664e8b"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5f83230371d94257" /><Relationship Type="http://schemas.openxmlformats.org/officeDocument/2006/relationships/notesSlide" Target="/ppt/notesSlides/notesSlide17.xml" Id="Rc545592e592249d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a1432b8e2ab04243" /><Relationship Type="http://schemas.openxmlformats.org/officeDocument/2006/relationships/notesSlide" Target="/ppt/notesSlides/notesSlide18.xml" Id="Rb3d28e4e64bc460a"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0074807c4a1347f0" /><Relationship Type="http://schemas.openxmlformats.org/officeDocument/2006/relationships/notesSlide" Target="/ppt/notesSlides/notesSlide19.xml" Id="Rf948df08e38a4d72"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68d244736dc9494b" /><Relationship Type="http://schemas.openxmlformats.org/officeDocument/2006/relationships/notesSlide" Target="/ppt/notesSlides/notesSlide20.xml" Id="Rb09a7af0929f4c3f"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a7d08c198a90459b" /><Relationship Type="http://schemas.openxmlformats.org/officeDocument/2006/relationships/notesSlide" Target="/ppt/notesSlides/notesSlide21.xml" Id="R61831c9ceb1c4c04"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603f00cc89f446d9" /><Relationship Type="http://schemas.openxmlformats.org/officeDocument/2006/relationships/notesSlide" Target="/ppt/notesSlides/notesSlide22.xml" Id="Rfab9768a0c254217"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f2776c6889124231" /><Relationship Type="http://schemas.openxmlformats.org/officeDocument/2006/relationships/notesSlide" Target="/ppt/notesSlides/notesSlide23.xml" Id="Rf539d5af25a04c3c"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138c4d8c982c478c" /><Relationship Type="http://schemas.openxmlformats.org/officeDocument/2006/relationships/notesSlide" Target="/ppt/notesSlides/notesSlide24.xml" Id="R09e925613b9a40f2"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8a2c33fc6a304ff7" /><Relationship Type="http://schemas.openxmlformats.org/officeDocument/2006/relationships/notesSlide" Target="/ppt/notesSlides/notesSlide25.xml" Id="R57a0c2d72fbe43d4"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54ed40d0849b4b90" /><Relationship Type="http://schemas.openxmlformats.org/officeDocument/2006/relationships/notesSlide" Target="/ppt/notesSlides/notesSlide26.xml" Id="R0f4764f485f84e6f"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9ddce2ddb0674dab" /><Relationship Type="http://schemas.openxmlformats.org/officeDocument/2006/relationships/notesSlide" Target="/ppt/notesSlides/notesSlide27.xml" Id="R2de43cab53ab4eb5"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1ac4ceb8d59044e4" /><Relationship Type="http://schemas.openxmlformats.org/officeDocument/2006/relationships/image" Target="/ppt/media/image3.png" Id="R8ab4b28d3eee411e" /><Relationship Type="http://schemas.openxmlformats.org/officeDocument/2006/relationships/notesSlide" Target="/ppt/notesSlides/notesSlide28.xml" Id="Rd32b423a02aa49f2"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1fa389221e484860" /><Relationship Type="http://schemas.openxmlformats.org/officeDocument/2006/relationships/notesSlide" Target="/ppt/notesSlides/notesSlide29.xml" Id="R9b46ce580b6f4a7c"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57d9fd8c35d24f9a" /><Relationship Type="http://schemas.openxmlformats.org/officeDocument/2006/relationships/notesSlide" Target="/ppt/notesSlides/notesSlide30.xml" Id="Rd7bb4ee84bb54b13"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3147d1ff6ccb44a4" /><Relationship Type="http://schemas.openxmlformats.org/officeDocument/2006/relationships/notesSlide" Target="/ppt/notesSlides/notesSlide31.xml" Id="R8b0c3b3d834a49e3"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46ea993784c9426f" /><Relationship Type="http://schemas.openxmlformats.org/officeDocument/2006/relationships/notesSlide" Target="/ppt/notesSlides/notesSlide32.xml" Id="R7c5f0ef010ac4639"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2790c7bb20664b82" /><Relationship Type="http://schemas.openxmlformats.org/officeDocument/2006/relationships/notesSlide" Target="/ppt/notesSlides/notesSlide33.xml" Id="R94f12df72ad1429c"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62ffbe010c6c4739" /><Relationship Type="http://schemas.openxmlformats.org/officeDocument/2006/relationships/notesSlide" Target="/ppt/notesSlides/notesSlide34.xml" Id="Rd541baa8912f41cd"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a859986a06dc454f" /><Relationship Type="http://schemas.openxmlformats.org/officeDocument/2006/relationships/notesSlide" Target="/ppt/notesSlides/notesSlide35.xml" Id="Rc126cd533da94c8d"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4c474484a10e437c" /><Relationship Type="http://schemas.openxmlformats.org/officeDocument/2006/relationships/notesSlide" Target="/ppt/notesSlides/notesSlide36.xml" Id="Rfb847a97eeaa427c"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1b21a0be716f4ca9" /><Relationship Type="http://schemas.openxmlformats.org/officeDocument/2006/relationships/notesSlide" Target="/ppt/notesSlides/notesSlide37.xml" Id="R7312175a4e464c0b"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23c681f509d44604" /><Relationship Type="http://schemas.openxmlformats.org/officeDocument/2006/relationships/notesSlide" Target="/ppt/notesSlides/notesSlide38.xml" Id="Rbcadbfb7a5c34945"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2448081a08034aa1" /><Relationship Type="http://schemas.openxmlformats.org/officeDocument/2006/relationships/notesSlide" Target="/ppt/notesSlides/notesSlide39.xml" Id="R4525d85850484139"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57387f0faf3b4df8" /><Relationship Type="http://schemas.openxmlformats.org/officeDocument/2006/relationships/notesSlide" Target="/ppt/notesSlides/notesSlide40.xml" Id="R19fa1997a9fa4dc9"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3581ea5fa3df47ac" /><Relationship Type="http://schemas.openxmlformats.org/officeDocument/2006/relationships/notesSlide" Target="/ppt/notesSlides/notesSlide41.xml" Id="R1108c36514ce462a"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729439f271ad4293" /><Relationship Type="http://schemas.openxmlformats.org/officeDocument/2006/relationships/notesSlide" Target="/ppt/notesSlides/notesSlide42.xml" Id="Rbed20745e0774316"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d29e34230f054a7b" /><Relationship Type="http://schemas.openxmlformats.org/officeDocument/2006/relationships/notesSlide" Target="/ppt/notesSlides/notesSlide43.xml" Id="R6a4eb8b714c649e7"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c7862b0d6331470c" /><Relationship Type="http://schemas.openxmlformats.org/officeDocument/2006/relationships/notesSlide" Target="/ppt/notesSlides/notesSlide44.xml" Id="R2757c022be634f70"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f066981ae85447fd" /><Relationship Type="http://schemas.openxmlformats.org/officeDocument/2006/relationships/notesSlide" Target="/ppt/notesSlides/notesSlide45.xml" Id="R547c1c4da7b7484d"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6fbe680d153a4daa" /><Relationship Type="http://schemas.openxmlformats.org/officeDocument/2006/relationships/notesSlide" Target="/ppt/notesSlides/notesSlide46.xml" Id="R25aa5d61d9794596"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214b27982c644327" /><Relationship Type="http://schemas.openxmlformats.org/officeDocument/2006/relationships/notesSlide" Target="/ppt/notesSlides/notesSlide47.xml" Id="R15c18ccd391546dc"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39fc802a6956420b" /><Relationship Type="http://schemas.openxmlformats.org/officeDocument/2006/relationships/notesSlide" Target="/ppt/notesSlides/notesSlide48.xml" Id="R5818c55e07914e0a"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82a662074a2c41e9" /><Relationship Type="http://schemas.openxmlformats.org/officeDocument/2006/relationships/notesSlide" Target="/ppt/notesSlides/notesSlide49.xml" Id="R61af921090544c25"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10c2b6df215d4eb4" /><Relationship Type="http://schemas.openxmlformats.org/officeDocument/2006/relationships/hyperlink" Target="https://www.youtube.com/watch?v=khKv-8q7YmY" TargetMode="External" Id="R595c0224478640bc" /><Relationship Type="http://schemas.openxmlformats.org/officeDocument/2006/relationships/notesSlide" Target="/ppt/notesSlides/notesSlide50.xml" Id="R0cc3253f33ae4991"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adbac201042f4386" /><Relationship Type="http://schemas.openxmlformats.org/officeDocument/2006/relationships/notesSlide" Target="/ppt/notesSlides/notesSlide51.xml" Id="Rb5276448c2794357"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b9ce59108cf24124" /><Relationship Type="http://schemas.openxmlformats.org/officeDocument/2006/relationships/notesSlide" Target="/ppt/notesSlides/notesSlide52.xml" Id="R8720676a07b84290"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8c423198658a4bed" /><Relationship Type="http://schemas.openxmlformats.org/officeDocument/2006/relationships/notesSlide" Target="/ppt/notesSlides/notesSlide53.xml" Id="R4e04e0f5b04d4630"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6deb5f5328a24abd" /><Relationship Type="http://schemas.openxmlformats.org/officeDocument/2006/relationships/notesSlide" Target="/ppt/notesSlides/notesSlide54.xml" Id="R7431365c772142fe"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feb61533fef44b4e" /><Relationship Type="http://schemas.openxmlformats.org/officeDocument/2006/relationships/notesSlide" Target="/ppt/notesSlides/notesSlide55.xml" Id="R1dbdb1be02c547da"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bf33c7b106aa44af" /><Relationship Type="http://schemas.openxmlformats.org/officeDocument/2006/relationships/notesSlide" Target="/ppt/notesSlides/notesSlide56.xml" Id="Rc621f5305f36424b"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667ff672fcf44bb2" /><Relationship Type="http://schemas.openxmlformats.org/officeDocument/2006/relationships/notesSlide" Target="/ppt/notesSlides/notesSlide57.xml" Id="R7de124e62e8c4471"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9a17eebdf7a346c7" /><Relationship Type="http://schemas.openxmlformats.org/officeDocument/2006/relationships/notesSlide" Target="/ppt/notesSlides/notesSlide58.xml" Id="Rac239daa151b4a8f"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de7d501654d84f1d" /><Relationship Type="http://schemas.openxmlformats.org/officeDocument/2006/relationships/notesSlide" Target="/ppt/notesSlides/notesSlide59.xml" Id="R6fddf613d7894099"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b350a7893b314966" /><Relationship Type="http://schemas.openxmlformats.org/officeDocument/2006/relationships/notesSlide" Target="/ppt/notesSlides/notesSlide60.xml" Id="R5f9a1ce9e46f43a6"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eefb3a2949a24b59" /><Relationship Type="http://schemas.openxmlformats.org/officeDocument/2006/relationships/notesSlide" Target="/ppt/notesSlides/notesSlide61.xml" Id="Rdb8edcb0190c403e"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e02537c0b7964928" /><Relationship Type="http://schemas.openxmlformats.org/officeDocument/2006/relationships/notesSlide" Target="/ppt/notesSlides/notesSlide62.xml" Id="R0a90e77c9c064950"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5b20592333764d9a" /><Relationship Type="http://schemas.openxmlformats.org/officeDocument/2006/relationships/hyperlink" Target="https://docs.google.com/forms/d/e/1FAIpQLSfKemYzDIRelE0iDCo_KsJvzw0jyw--Fy8lyJHvm-XpNoEQkQ/viewform" TargetMode="External" Id="R12f7044f7f4742ce" /><Relationship Type="http://schemas.openxmlformats.org/officeDocument/2006/relationships/notesSlide" Target="/ppt/notesSlides/notesSlide63.xml" Id="Rb5633a64447645c4"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1722badb64964633" /><Relationship Type="http://schemas.openxmlformats.org/officeDocument/2006/relationships/image" Target="/ppt/media/image4.png" Id="R4e6391ac557d40c4" /><Relationship Type="http://schemas.openxmlformats.org/officeDocument/2006/relationships/hyperlink" Target="https://forms.gle/vyTpTEpJUaAbAFbM9" TargetMode="External" Id="R6617eddccb474492" /><Relationship Type="http://schemas.openxmlformats.org/officeDocument/2006/relationships/notesSlide" Target="/ppt/notesSlides/notesSlide64.xml" Id="Re0c02bc3843d4009"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2d78787a16cc4909" /><Relationship Type="http://schemas.openxmlformats.org/officeDocument/2006/relationships/notesSlide" Target="/ppt/notesSlides/notesSlide65.xml" Id="Rccbb35ab5f864d8d"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fef7411882464621"/>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051D28E5-EAE4-4218-B7BB-8494A298C8D3}"/>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8B2519AE-8AFF-4941-9C1A-BDB6F2F6AD46}"/>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CML3111   WEEK 3</a:t>
            </a:r>
          </a:p>
        </p:txBody>
      </p:sp>
      <p:sp>
        <p:nvSpPr>
          <p:cNvPr id="4" name="">
            <a:extLst xmlns:a="http://schemas.openxmlformats.org/drawingml/2006/main">
              <a:ext uri="{FF2B5EF4-FFF2-40B4-BE49-F238E27FC236}">
                <a16:creationId xmlns:a16="http://schemas.microsoft.com/office/drawing/2014/main" id="{B66BE956-719B-4AF6-9CEB-1A5FAEA818E1}"/>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Python calculations and reusable functions</a:t>
            </a:r>
          </a:p>
        </p:txBody>
      </p:sp>
      <p:sp>
        <p:nvSpPr>
          <p:cNvPr id="5" name="">
            <a:extLst xmlns:a="http://schemas.openxmlformats.org/drawingml/2006/main">
              <a:ext uri="{FF2B5EF4-FFF2-40B4-BE49-F238E27FC236}">
                <a16:creationId xmlns:a16="http://schemas.microsoft.com/office/drawing/2014/main" id="{888FA271-86F9-4273-ABCA-AFD4E71B00AF}"/>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Communications, Electrical, Mechatronics and Robotics Engineering</a:t>
            </a:r>
          </a:p>
        </p:txBody>
      </p:sp>
      <p:sp>
        <p:nvSpPr>
          <p:cNvPr id="6" name="">
            <a:extLst xmlns:a="http://schemas.openxmlformats.org/drawingml/2006/main">
              <a:ext uri="{FF2B5EF4-FFF2-40B4-BE49-F238E27FC236}">
                <a16:creationId xmlns:a16="http://schemas.microsoft.com/office/drawing/2014/main" id="{89AFF8A9-CB5F-4BA3-B14D-8ACAA258F434}"/>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25 September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11:00–14:00, Room 115</a:t>
            </a:r>
          </a:p>
        </p:txBody>
      </p:sp>
    </p:spTree>
    <p:extLst>
      <p:ext uri="{BB962C8B-B14F-4D97-AF65-F5344CB8AC3E}">
        <p14:creationId xmlns:p14="http://schemas.microsoft.com/office/powerpoint/2010/main" val="63333801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1D05097-AAEB-4519-9EF1-BF99C13021A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03510FF-227E-4CE3-A4BC-1A9BFCE3F33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E8E32F86-62C3-4FCF-B975-159233CCEC8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E328B14B-54CC-4CA2-BBA4-F6C195A16AAC}"/>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A5BED7D-87F5-4AF2-A06E-AB39F89711D7}"/>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BD4BB498-ECF7-4A70-B5FB-B988EB235E51}"/>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Python values and arithmetic symbols.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Define a function, call it and check its inputs.</a:t>
            </a:r>
          </a:p>
        </p:txBody>
      </p:sp>
      <p:sp>
        <p:nvSpPr>
          <p:cNvPr id="7" name="">
            <a:extLst xmlns:a="http://schemas.openxmlformats.org/drawingml/2006/main">
              <a:ext uri="{FF2B5EF4-FFF2-40B4-BE49-F238E27FC236}">
                <a16:creationId xmlns:a16="http://schemas.microsoft.com/office/drawing/2014/main" id="{C7B7E55B-7064-4277-91F1-01DB7DF37CFA}"/>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C29FE896-2D4A-43E1-9DCD-D0AE6DE84239}"/>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explain each input, the returned answer and its engineering unit.</a:t>
            </a:r>
          </a:p>
        </p:txBody>
      </p:sp>
      <p:sp>
        <p:nvSpPr>
          <p:cNvPr id="9" name="">
            <a:extLst xmlns:a="http://schemas.openxmlformats.org/drawingml/2006/main">
              <a:ext uri="{FF2B5EF4-FFF2-40B4-BE49-F238E27FC236}">
                <a16:creationId xmlns:a16="http://schemas.microsoft.com/office/drawing/2014/main" id="{7ADCB339-5A9B-4BF2-831D-0007B9FD1EC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2</a:t>
            </a:r>
          </a:p>
        </p:txBody>
      </p:sp>
    </p:spTree>
    <p:extLst>
      <p:ext uri="{BB962C8B-B14F-4D97-AF65-F5344CB8AC3E}">
        <p14:creationId xmlns:p14="http://schemas.microsoft.com/office/powerpoint/2010/main" val="225664959"/>
      </p:ext>
    </p:extLst>
  </p:cSld>
</p:sld>
</file>

<file path=ppt/slides/slide3.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02911C4-740B-42F9-AF3C-F7669B26CBE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44EA8314-2FA6-4964-A315-3DFE426F54F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Recall and a first attempt</a:t>
            </a:r>
          </a:p>
        </p:txBody>
      </p:sp>
      <p:sp>
        <p:nvSpPr>
          <p:cNvPr id="3" name="">
            <a:extLst xmlns:a="http://schemas.openxmlformats.org/drawingml/2006/main">
              <a:ext uri="{FF2B5EF4-FFF2-40B4-BE49-F238E27FC236}">
                <a16:creationId xmlns:a16="http://schemas.microsoft.com/office/drawing/2014/main" id="{C1DE4266-9CB3-46DA-88B9-8048E0846A30}"/>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2E00DEC3-6CD4-4B46-8FC5-92ACF9E7C3D9}"/>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Run print(2 + 3). Which part is the instruction, and which part is the output?</a:t>
            </a:r>
          </a:p>
        </p:txBody>
      </p:sp>
      <p:sp>
        <p:nvSpPr>
          <p:cNvPr id="5" name="">
            <a:extLst xmlns:a="http://schemas.openxmlformats.org/drawingml/2006/main">
              <a:ext uri="{FF2B5EF4-FFF2-40B4-BE49-F238E27FC236}">
                <a16:creationId xmlns:a16="http://schemas.microsoft.com/office/drawing/2014/main" id="{C0E499B9-E49A-4C6C-916A-D5D340E6E673}"/>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Think alone first. Then compare your reasoning with a partner.</a:t>
            </a:r>
          </a:p>
        </p:txBody>
      </p:sp>
      <p:sp>
        <p:nvSpPr>
          <p:cNvPr id="6" name="">
            <a:extLst xmlns:a="http://schemas.openxmlformats.org/drawingml/2006/main">
              <a:ext uri="{FF2B5EF4-FFF2-40B4-BE49-F238E27FC236}">
                <a16:creationId xmlns:a16="http://schemas.microsoft.com/office/drawing/2014/main" id="{55346BED-2539-48AE-9015-90FBD7353FE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3   3</a:t>
            </a:r>
          </a:p>
        </p:txBody>
      </p:sp>
    </p:spTree>
    <p:extLst>
      <p:ext uri="{BB962C8B-B14F-4D97-AF65-F5344CB8AC3E}">
        <p14:creationId xmlns:p14="http://schemas.microsoft.com/office/powerpoint/2010/main" val="254542415"/>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DEB26E2-49B3-4624-8789-73EB8BEA279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05810BE-9549-49AC-90DA-E2A4A88A2B1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THE ENGINEERING QUESTION</a:t>
            </a:r>
          </a:p>
        </p:txBody>
      </p:sp>
      <p:sp>
        <p:nvSpPr>
          <p:cNvPr id="3" name="">
            <a:extLst xmlns:a="http://schemas.openxmlformats.org/drawingml/2006/main">
              <a:ext uri="{FF2B5EF4-FFF2-40B4-BE49-F238E27FC236}">
                <a16:creationId xmlns:a16="http://schemas.microsoft.com/office/drawing/2014/main" id="{D14155B2-AF6D-4126-9B99-1C8F183E604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engineering context</a:t>
            </a:r>
          </a:p>
        </p:txBody>
      </p:sp>
      <p:sp>
        <p:nvSpPr>
          <p:cNvPr id="4" name="">
            <a:extLst xmlns:a="http://schemas.openxmlformats.org/drawingml/2006/main">
              <a:ext uri="{FF2B5EF4-FFF2-40B4-BE49-F238E27FC236}">
                <a16:creationId xmlns:a16="http://schemas.microsoft.com/office/drawing/2014/main" id="{41F2423E-3AEE-4F3E-84AB-0D224478561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31CD348-DC26-4D86-9161-F7C0F524E07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team records device temperature to investigate cooling.</a:t>
            </a:r>
          </a:p>
        </p:txBody>
      </p:sp>
      <p:sp>
        <p:nvSpPr>
          <p:cNvPr id="6" name="">
            <a:extLst xmlns:a="http://schemas.openxmlformats.org/drawingml/2006/main">
              <a:ext uri="{FF2B5EF4-FFF2-40B4-BE49-F238E27FC236}">
                <a16:creationId xmlns:a16="http://schemas.microsoft.com/office/drawing/2014/main" id="{ADB0796E-157C-47E8-ACCB-E1CF3AF35D0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7AA5D68-F2B3-4BBA-84A0-544A7D24AE92}"/>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a communications cabinet, an electrical enclosure or a robot controller as the physical example.</a:t>
            </a:r>
          </a:p>
        </p:txBody>
      </p:sp>
      <p:sp>
        <p:nvSpPr>
          <p:cNvPr id="8" name="">
            <a:extLst xmlns:a="http://schemas.openxmlformats.org/drawingml/2006/main">
              <a:ext uri="{FF2B5EF4-FFF2-40B4-BE49-F238E27FC236}">
                <a16:creationId xmlns:a16="http://schemas.microsoft.com/office/drawing/2014/main" id="{C5056937-440D-41DD-BDE1-8D9875620AAD}"/>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D233036-4319-4564-9901-74B3F7203E24}"/>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specialist hardware knowledge is assumed.</a:t>
            </a:r>
          </a:p>
        </p:txBody>
      </p:sp>
      <p:sp>
        <p:nvSpPr>
          <p:cNvPr id="10" name="">
            <a:extLst xmlns:a="http://schemas.openxmlformats.org/drawingml/2006/main">
              <a:ext uri="{FF2B5EF4-FFF2-40B4-BE49-F238E27FC236}">
                <a16:creationId xmlns:a16="http://schemas.microsoft.com/office/drawing/2014/main" id="{D075B8BB-142B-4855-914A-B78744321AB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4</a:t>
            </a:r>
          </a:p>
        </p:txBody>
      </p:sp>
    </p:spTree>
    <p:extLst>
      <p:ext uri="{BB962C8B-B14F-4D97-AF65-F5344CB8AC3E}">
        <p14:creationId xmlns:p14="http://schemas.microsoft.com/office/powerpoint/2010/main" val="1344980132"/>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0531955-537A-48ED-BCB4-7CD858F541E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8586B83-90F9-471C-8765-AA57DA81F3B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9E150052-9706-4A95-80BC-82904B2FC6F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Start with numbers and values</a:t>
            </a:r>
          </a:p>
        </p:txBody>
      </p:sp>
      <p:sp>
        <p:nvSpPr>
          <p:cNvPr id="4" name="">
            <a:extLst xmlns:a="http://schemas.openxmlformats.org/drawingml/2006/main">
              <a:ext uri="{FF2B5EF4-FFF2-40B4-BE49-F238E27FC236}">
                <a16:creationId xmlns:a16="http://schemas.microsoft.com/office/drawing/2014/main" id="{ACD95F56-E14B-4BB6-9C94-2A04753C734A}"/>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AE4267D-94BC-4E89-BCD9-7CA10BC3CEB4}"/>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Number</a:t>
            </a:r>
          </a:p>
        </p:txBody>
      </p:sp>
      <p:sp>
        <p:nvSpPr>
          <p:cNvPr id="6" name="">
            <a:extLst xmlns:a="http://schemas.openxmlformats.org/drawingml/2006/main">
              <a:ext uri="{FF2B5EF4-FFF2-40B4-BE49-F238E27FC236}">
                <a16:creationId xmlns:a16="http://schemas.microsoft.com/office/drawing/2014/main" id="{8FF95CA0-0511-4996-8029-DF0295A6B604}"/>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number expresses how much or how many: 3 items or 2.5 metres. Whole numbers count; decimal numbers can describe a part of a unit.</a:t>
            </a:r>
          </a:p>
        </p:txBody>
      </p:sp>
      <p:sp>
        <p:nvSpPr>
          <p:cNvPr id="7" name="">
            <a:extLst xmlns:a="http://schemas.openxmlformats.org/drawingml/2006/main">
              <a:ext uri="{FF2B5EF4-FFF2-40B4-BE49-F238E27FC236}">
                <a16:creationId xmlns:a16="http://schemas.microsoft.com/office/drawing/2014/main" id="{DB0084D8-43F9-46ED-84FD-1011A5C08AA2}"/>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9AA5E5C6-CAE5-40A0-8FAE-810B6C65913D}"/>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Value and unit</a:t>
            </a:r>
          </a:p>
        </p:txBody>
      </p:sp>
      <p:sp>
        <p:nvSpPr>
          <p:cNvPr id="9" name="">
            <a:extLst xmlns:a="http://schemas.openxmlformats.org/drawingml/2006/main">
              <a:ext uri="{FF2B5EF4-FFF2-40B4-BE49-F238E27FC236}">
                <a16:creationId xmlns:a16="http://schemas.microsoft.com/office/drawing/2014/main" id="{A5C70B7E-01B1-4FFA-98C9-968CEA78C451}"/>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value is one piece of information. The number 2.5 is a value. A measurement also needs a unit, such as metres. Python does not attach that unit automatically.</a:t>
            </a:r>
          </a:p>
        </p:txBody>
      </p:sp>
      <p:sp>
        <p:nvSpPr>
          <p:cNvPr id="10" name="">
            <a:extLst xmlns:a="http://schemas.openxmlformats.org/drawingml/2006/main">
              <a:ext uri="{FF2B5EF4-FFF2-40B4-BE49-F238E27FC236}">
                <a16:creationId xmlns:a16="http://schemas.microsoft.com/office/drawing/2014/main" id="{2DA35252-EEAA-40F0-9C11-F8A65069F8A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5</a:t>
            </a:r>
          </a:p>
        </p:txBody>
      </p:sp>
    </p:spTree>
    <p:extLst>
      <p:ext uri="{BB962C8B-B14F-4D97-AF65-F5344CB8AC3E}">
        <p14:creationId xmlns:p14="http://schemas.microsoft.com/office/powerpoint/2010/main" val="10316382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5114331-2DF0-4430-A470-37E39AB9BED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3DE1A90-8C8C-4560-8D33-C53A9314722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54C378A7-BCDB-4E32-8337-E81B1705C97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Words we will use</a:t>
            </a:r>
          </a:p>
        </p:txBody>
      </p:sp>
      <p:sp>
        <p:nvSpPr>
          <p:cNvPr id="4" name="">
            <a:extLst xmlns:a="http://schemas.openxmlformats.org/drawingml/2006/main">
              <a:ext uri="{FF2B5EF4-FFF2-40B4-BE49-F238E27FC236}">
                <a16:creationId xmlns:a16="http://schemas.microsoft.com/office/drawing/2014/main" id="{3CDCE6BA-D684-4E0C-A08C-F5729791B134}"/>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C001018-2479-4AA5-BE56-A3EAB58CBB0E}"/>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Variable</a:t>
            </a:r>
          </a:p>
        </p:txBody>
      </p:sp>
      <p:sp>
        <p:nvSpPr>
          <p:cNvPr id="6" name="">
            <a:extLst xmlns:a="http://schemas.openxmlformats.org/drawingml/2006/main">
              <a:ext uri="{FF2B5EF4-FFF2-40B4-BE49-F238E27FC236}">
                <a16:creationId xmlns:a16="http://schemas.microsoft.com/office/drawing/2014/main" id="{1A30F47D-FF3E-49B2-966F-24813FEFEB57}"/>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name referring to a value. In length_m = 5, the right side is evaluated and assigned to length_m.</a:t>
            </a:r>
          </a:p>
        </p:txBody>
      </p:sp>
      <p:sp>
        <p:nvSpPr>
          <p:cNvPr id="7" name="">
            <a:extLst xmlns:a="http://schemas.openxmlformats.org/drawingml/2006/main">
              <a:ext uri="{FF2B5EF4-FFF2-40B4-BE49-F238E27FC236}">
                <a16:creationId xmlns:a16="http://schemas.microsoft.com/office/drawing/2014/main" id="{C1ED3DE0-57D0-45E6-B960-2E6A28B59F55}"/>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4655E3D9-3D6D-4641-A872-7D5701F336FB}"/>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int, float, str, bool</a:t>
            </a:r>
          </a:p>
        </p:txBody>
      </p:sp>
      <p:sp>
        <p:nvSpPr>
          <p:cNvPr id="9" name="">
            <a:extLst xmlns:a="http://schemas.openxmlformats.org/drawingml/2006/main">
              <a:ext uri="{FF2B5EF4-FFF2-40B4-BE49-F238E27FC236}">
                <a16:creationId xmlns:a16="http://schemas.microsoft.com/office/drawing/2014/main" id="{EF5FA90A-93A4-4828-9C28-3FAA56B91AB4}"/>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int represents whole numbers; float represents approximate real numbers such as 2.5; str is text in quotes; bool is True or False.</a:t>
            </a:r>
          </a:p>
        </p:txBody>
      </p:sp>
      <p:sp>
        <p:nvSpPr>
          <p:cNvPr id="10" name="">
            <a:extLst xmlns:a="http://schemas.openxmlformats.org/drawingml/2006/main">
              <a:ext uri="{FF2B5EF4-FFF2-40B4-BE49-F238E27FC236}">
                <a16:creationId xmlns:a16="http://schemas.microsoft.com/office/drawing/2014/main" id="{F00BBF28-83BF-4BE7-A6BD-EF0651F20B5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6</a:t>
            </a:r>
          </a:p>
        </p:txBody>
      </p:sp>
    </p:spTree>
    <p:extLst>
      <p:ext uri="{BB962C8B-B14F-4D97-AF65-F5344CB8AC3E}">
        <p14:creationId xmlns:p14="http://schemas.microsoft.com/office/powerpoint/2010/main" val="1443274239"/>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0280183-DF27-4038-9628-3106D1777982}"/>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C8225C7-4238-46DE-AC9C-5FE2B5363E02}"/>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variable refers to its current value</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3b0ef7744ea04076"/>
          <a:stretch xmlns:a="http://schemas.openxmlformats.org/drawingml/2006/main"/>
        </p:blipFill>
        <p:spPr>
          <a:xfrm xmlns:a="http://schemas.openxmlformats.org/drawingml/2006/main">
            <a:off x="381186" y="1057275"/>
            <a:ext cx="11429628"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29F8124F-F432-4672-9E15-DF0D498F0B9E}"/>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CC14EA7-1247-49A1-90FA-C24584F9A34B}"/>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After reassignment, thickness refers to 0.20.</a:t>
            </a:r>
          </a:p>
        </p:txBody>
      </p:sp>
      <p:sp>
        <p:nvSpPr>
          <p:cNvPr id="6" name="">
            <a:extLst xmlns:a="http://schemas.openxmlformats.org/drawingml/2006/main">
              <a:ext uri="{FF2B5EF4-FFF2-40B4-BE49-F238E27FC236}">
                <a16:creationId xmlns:a16="http://schemas.microsoft.com/office/drawing/2014/main" id="{E5F03414-35A6-4D2A-ADE4-3BF44FDDB62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7</a:t>
            </a:r>
          </a:p>
        </p:txBody>
      </p:sp>
    </p:spTree>
    <p:extLst>
      <p:ext uri="{BB962C8B-B14F-4D97-AF65-F5344CB8AC3E}">
        <p14:creationId xmlns:p14="http://schemas.microsoft.com/office/powerpoint/2010/main" val="200942983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532B356-B7CD-447C-9641-5F3C7792BB8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9E2B320-142B-4420-9A73-7458863430E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4C8850F2-59E6-4099-85D1-377BA95E429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Python values have types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555625">
                <a:tc>
                  <a:txBody>
                    <a:bodyPr/>
                    <a:lstStyle/>
                    <a:p>
                      <a:r>
                        <a:rPr sz="2025" b="1">
                          <a:solidFill>
                            <a:srgbClr val="FFFFFF"/>
                          </a:solidFill>
                          <a:latin typeface="Calibri"/>
                          <a:ea typeface="Calibri"/>
                          <a:cs typeface="Calibri"/>
                        </a:rPr>
                        <a:t>Type</a:t>
                      </a:r>
                    </a:p>
                  </a:txBody>
                  <a:tcPr marL="91440" marR="91440" marT="45720" marB="45720">
                    <a:solidFill>
                      <a:srgbClr val="2E7D6F"/>
                    </a:solidFill>
                  </a:tcPr>
                </a:tc>
                <a:tc>
                  <a:txBody>
                    <a:bodyPr/>
                    <a:lstStyle/>
                    <a:p>
                      <a:r>
                        <a:rPr sz="2025" b="1">
                          <a:solidFill>
                            <a:srgbClr val="FFFFFF"/>
                          </a:solidFill>
                          <a:latin typeface="Calibri"/>
                          <a:ea typeface="Calibri"/>
                          <a:cs typeface="Calibri"/>
                        </a:rPr>
                        <a:t>Example</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Meaning</a:t>
                      </a:r>
                    </a:p>
                  </a:txBody>
                  <a:tcPr marL="91440" marR="91440" marT="45720" marB="45720">
                    <a:solidFill>
                      <a:srgbClr val="2E7D6F"/>
                    </a:solidFill>
                  </a:tcPr>
                </a:tc>
              </a:tr>
              <a:tr h="555625">
                <a:tc>
                  <a:txBody>
                    <a:bodyPr/>
                    <a:lstStyle/>
                    <a:p>
                      <a:r>
                        <a:rPr sz="2025" b="0">
                          <a:solidFill>
                            <a:srgbClr val="1C3144"/>
                          </a:solidFill>
                          <a:latin typeface="Calibri"/>
                          <a:ea typeface="Calibri"/>
                          <a:cs typeface="Calibri"/>
                        </a:rPr>
                        <a:t>int</a:t>
                      </a:r>
                    </a:p>
                  </a:txBody>
                  <a:tcPr marL="91440" marR="91440" marT="45720" marB="45720">
                    <a:solidFill>
                      <a:srgbClr val="EEF3F6"/>
                    </a:solidFill>
                  </a:tcPr>
                </a:tc>
                <a:tc>
                  <a:txBody>
                    <a:bodyPr/>
                    <a:lstStyle/>
                    <a:p>
                      <a:r>
                        <a:rPr sz="2025" b="0">
                          <a:solidFill>
                            <a:srgbClr val="1C3144"/>
                          </a:solidFill>
                          <a:latin typeface="Calibri"/>
                          <a:ea typeface="Calibri"/>
                          <a:cs typeface="Calibri"/>
                        </a:rPr>
                        <a:t>3</a:t>
                      </a:r>
                    </a:p>
                  </a:txBody>
                  <a:tcPr marL="91440" marR="91440" marT="45720" marB="45720">
                    <a:solidFill>
                      <a:srgbClr val="EEF3F6"/>
                    </a:solidFill>
                  </a:tcPr>
                </a:tc>
                <a:tc>
                  <a:txBody>
                    <a:bodyPr/>
                    <a:lstStyle/>
                    <a:p>
                      <a:r>
                        <a:rPr sz="2025" b="0">
                          <a:solidFill>
                            <a:srgbClr val="1C3144"/>
                          </a:solidFill>
                          <a:latin typeface="Calibri"/>
                          <a:ea typeface="Calibri"/>
                          <a:cs typeface="Calibri"/>
                        </a:rPr>
                        <a:t>Whole number</a:t>
                      </a:r>
                    </a:p>
                  </a:txBody>
                  <a:tcPr marL="91440" marR="91440" marT="45720" marB="45720">
                    <a:solidFill>
                      <a:srgbClr val="EEF3F6"/>
                    </a:solidFill>
                  </a:tcPr>
                </a:tc>
              </a:tr>
              <a:tr h="555625">
                <a:tc>
                  <a:txBody>
                    <a:bodyPr/>
                    <a:lstStyle/>
                    <a:p>
                      <a:r>
                        <a:rPr sz="2025" b="0">
                          <a:solidFill>
                            <a:srgbClr val="1C3144"/>
                          </a:solidFill>
                          <a:latin typeface="Calibri"/>
                          <a:ea typeface="Calibri"/>
                          <a:cs typeface="Calibri"/>
                        </a:rPr>
                        <a:t>float</a:t>
                      </a:r>
                    </a:p>
                  </a:txBody>
                  <a:tcPr marL="91440" marR="91440" marT="45720" marB="45720">
                    <a:solidFill>
                      <a:srgbClr val="FFFFFF"/>
                    </a:solidFill>
                  </a:tcPr>
                </a:tc>
                <a:tc>
                  <a:txBody>
                    <a:bodyPr/>
                    <a:lstStyle/>
                    <a:p>
                      <a:r>
                        <a:rPr sz="2025" b="0">
                          <a:solidFill>
                            <a:srgbClr val="1C3144"/>
                          </a:solidFill>
                          <a:latin typeface="Calibri"/>
                          <a:ea typeface="Calibri"/>
                          <a:cs typeface="Calibri"/>
                        </a:rPr>
                        <a:t>3.5</a:t>
                      </a:r>
                    </a:p>
                  </a:txBody>
                  <a:tcPr marL="91440" marR="91440" marT="45720" marB="45720">
                    <a:solidFill>
                      <a:srgbClr val="FFFFFF"/>
                    </a:solidFill>
                  </a:tcPr>
                </a:tc>
                <a:tc>
                  <a:txBody>
                    <a:bodyPr/>
                    <a:lstStyle/>
                    <a:p>
                      <a:r>
                        <a:rPr sz="2025" b="0">
                          <a:solidFill>
                            <a:srgbClr val="1C3144"/>
                          </a:solidFill>
                          <a:latin typeface="Calibri"/>
                          <a:ea typeface="Calibri"/>
                          <a:cs typeface="Calibri"/>
                        </a:rPr>
                        <a:t>Decimal approximation</a:t>
                      </a:r>
                    </a:p>
                  </a:txBody>
                  <a:tcPr marL="91440" marR="91440" marT="45720" marB="45720">
                    <a:solidFill>
                      <a:srgbClr val="FFFFFF"/>
                    </a:solidFill>
                  </a:tcPr>
                </a:tc>
              </a:tr>
              <a:tr h="555625">
                <a:tc>
                  <a:txBody>
                    <a:bodyPr/>
                    <a:lstStyle/>
                    <a:p>
                      <a:r>
                        <a:rPr sz="2025" b="0">
                          <a:solidFill>
                            <a:srgbClr val="1C3144"/>
                          </a:solidFill>
                          <a:latin typeface="Calibri"/>
                          <a:ea typeface="Calibri"/>
                          <a:cs typeface="Calibri"/>
                        </a:rPr>
                        <a:t>str</a:t>
                      </a:r>
                    </a:p>
                  </a:txBody>
                  <a:tcPr marL="91440" marR="91440" marT="45720" marB="45720">
                    <a:solidFill>
                      <a:srgbClr val="EEF3F6"/>
                    </a:solidFill>
                  </a:tcPr>
                </a:tc>
                <a:tc>
                  <a:txBody>
                    <a:bodyPr/>
                    <a:lstStyle/>
                    <a:p>
                      <a:r>
                        <a:rPr sz="2025" b="0">
                          <a:solidFill>
                            <a:srgbClr val="1C3144"/>
                          </a:solidFill>
                          <a:latin typeface="Calibri"/>
                          <a:ea typeface="Calibri"/>
                          <a:cs typeface="Calibri"/>
                        </a:rPr>
                        <a:t>"3.5"</a:t>
                      </a:r>
                    </a:p>
                  </a:txBody>
                  <a:tcPr marL="91440" marR="91440" marT="45720" marB="45720">
                    <a:solidFill>
                      <a:srgbClr val="EEF3F6"/>
                    </a:solidFill>
                  </a:tcPr>
                </a:tc>
                <a:tc>
                  <a:txBody>
                    <a:bodyPr/>
                    <a:lstStyle/>
                    <a:p>
                      <a:r>
                        <a:rPr sz="2025" b="0">
                          <a:solidFill>
                            <a:srgbClr val="1C3144"/>
                          </a:solidFill>
                          <a:latin typeface="Calibri"/>
                          <a:ea typeface="Calibri"/>
                          <a:cs typeface="Calibri"/>
                        </a:rPr>
                        <a:t>Text in quotes</a:t>
                      </a:r>
                    </a:p>
                  </a:txBody>
                  <a:tcPr marL="91440" marR="91440" marT="45720" marB="45720">
                    <a:solidFill>
                      <a:srgbClr val="EEF3F6"/>
                    </a:solidFill>
                  </a:tcPr>
                </a:tc>
              </a:tr>
              <a:tr h="555625">
                <a:tc>
                  <a:txBody>
                    <a:bodyPr/>
                    <a:lstStyle/>
                    <a:p>
                      <a:r>
                        <a:rPr sz="2025" b="0">
                          <a:solidFill>
                            <a:srgbClr val="1C3144"/>
                          </a:solidFill>
                          <a:latin typeface="Calibri"/>
                          <a:ea typeface="Calibri"/>
                          <a:cs typeface="Calibri"/>
                        </a:rPr>
                        <a:t>bool</a:t>
                      </a:r>
                    </a:p>
                  </a:txBody>
                  <a:tcPr marL="91440" marR="91440" marT="45720" marB="45720">
                    <a:solidFill>
                      <a:srgbClr val="FFFFFF"/>
                    </a:solidFill>
                  </a:tcPr>
                </a:tc>
                <a:tc>
                  <a:txBody>
                    <a:bodyPr/>
                    <a:lstStyle/>
                    <a:p>
                      <a:r>
                        <a:rPr sz="2025" b="0">
                          <a:solidFill>
                            <a:srgbClr val="1C3144"/>
                          </a:solidFill>
                          <a:latin typeface="Calibri"/>
                          <a:ea typeface="Calibri"/>
                          <a:cs typeface="Calibri"/>
                        </a:rPr>
                        <a:t>True / False</a:t>
                      </a:r>
                    </a:p>
                  </a:txBody>
                  <a:tcPr marL="91440" marR="91440" marT="45720" marB="45720">
                    <a:solidFill>
                      <a:srgbClr val="FFFFFF"/>
                    </a:solidFill>
                  </a:tcPr>
                </a:tc>
                <a:tc>
                  <a:txBody>
                    <a:bodyPr/>
                    <a:lstStyle/>
                    <a:p>
                      <a:r>
                        <a:rPr sz="2025" b="0">
                          <a:solidFill>
                            <a:srgbClr val="1C3144"/>
                          </a:solidFill>
                          <a:latin typeface="Calibri"/>
                          <a:ea typeface="Calibri"/>
                          <a:cs typeface="Calibri"/>
                        </a:rPr>
                        <a:t>Logical value</a:t>
                      </a:r>
                    </a:p>
                  </a:txBody>
                  <a:tcPr marL="91440" marR="91440" marT="45720" marB="45720">
                    <a:solidFill>
                      <a:srgbClr val="FFFFFF"/>
                    </a:solidFill>
                  </a:tcPr>
                </a:tc>
              </a:tr>
              <a:tr h="555625">
                <a:tc>
                  <a:txBody>
                    <a:bodyPr/>
                    <a:lstStyle/>
                    <a:p>
                      <a:r>
                        <a:rPr sz="2025" b="0">
                          <a:solidFill>
                            <a:srgbClr val="1C3144"/>
                          </a:solidFill>
                          <a:latin typeface="Calibri"/>
                          <a:ea typeface="Calibri"/>
                          <a:cs typeface="Calibri"/>
                        </a:rPr>
                        <a:t>NoneType</a:t>
                      </a:r>
                    </a:p>
                  </a:txBody>
                  <a:tcPr marL="91440" marR="91440" marT="45720" marB="45720">
                    <a:solidFill>
                      <a:srgbClr val="EEF3F6"/>
                    </a:solidFill>
                  </a:tcPr>
                </a:tc>
                <a:tc>
                  <a:txBody>
                    <a:bodyPr/>
                    <a:lstStyle/>
                    <a:p>
                      <a:r>
                        <a:rPr sz="2025" b="0">
                          <a:solidFill>
                            <a:srgbClr val="1C3144"/>
                          </a:solidFill>
                          <a:latin typeface="Calibri"/>
                          <a:ea typeface="Calibri"/>
                          <a:cs typeface="Calibri"/>
                        </a:rPr>
                        <a:t>None</a:t>
                      </a:r>
                    </a:p>
                  </a:txBody>
                  <a:tcPr marL="91440" marR="91440" marT="45720" marB="45720">
                    <a:solidFill>
                      <a:srgbClr val="EEF3F6"/>
                    </a:solidFill>
                  </a:tcPr>
                </a:tc>
                <a:tc>
                  <a:txBody>
                    <a:bodyPr/>
                    <a:lstStyle/>
                    <a:p>
                      <a:r>
                        <a:rPr sz="2025" b="0">
                          <a:solidFill>
                            <a:srgbClr val="1C3144"/>
                          </a:solidFill>
                          <a:latin typeface="Calibri"/>
                          <a:ea typeface="Calibri"/>
                          <a:cs typeface="Calibri"/>
                        </a:rPr>
                        <a:t>No value supplied</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A721A8B3-C5FB-4AA7-8DFF-5CCB01139F47}"/>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3.5 + 2 gives 5.5. "3.5" + "2" joins text into "3.52".</a:t>
            </a:r>
          </a:p>
        </p:txBody>
      </p:sp>
      <p:sp>
        <p:nvSpPr>
          <p:cNvPr id="6" name="">
            <a:extLst xmlns:a="http://schemas.openxmlformats.org/drawingml/2006/main">
              <a:ext uri="{FF2B5EF4-FFF2-40B4-BE49-F238E27FC236}">
                <a16:creationId xmlns:a16="http://schemas.microsoft.com/office/drawing/2014/main" id="{DD6194CE-3193-4316-BAE3-86F9E472CAB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8</a:t>
            </a:r>
          </a:p>
        </p:txBody>
      </p:sp>
    </p:spTree>
    <p:extLst>
      <p:ext uri="{BB962C8B-B14F-4D97-AF65-F5344CB8AC3E}">
        <p14:creationId xmlns:p14="http://schemas.microsoft.com/office/powerpoint/2010/main" val="34114375"/>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AEFB2B4-4872-4C4C-89EB-F08AFB0948F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92A9EA0-43B7-46C6-90A7-24B3AE78FA4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B748CC2A-8E98-4471-A6FF-0580AD1A87D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Operator</a:t>
            </a:r>
          </a:p>
        </p:txBody>
      </p:sp>
      <p:sp>
        <p:nvSpPr>
          <p:cNvPr id="4" name="">
            <a:extLst xmlns:a="http://schemas.openxmlformats.org/drawingml/2006/main">
              <a:ext uri="{FF2B5EF4-FFF2-40B4-BE49-F238E27FC236}">
                <a16:creationId xmlns:a16="http://schemas.microsoft.com/office/drawing/2014/main" id="{4CEAC23C-5FD3-43E1-93EF-6BDE3DFB0AC6}"/>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50BF33A-E83F-49CD-951D-2E366B88B647}"/>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Operator</a:t>
            </a:r>
          </a:p>
        </p:txBody>
      </p:sp>
      <p:sp>
        <p:nvSpPr>
          <p:cNvPr id="6" name="">
            <a:extLst xmlns:a="http://schemas.openxmlformats.org/drawingml/2006/main">
              <a:ext uri="{FF2B5EF4-FFF2-40B4-BE49-F238E27FC236}">
                <a16:creationId xmlns:a16="http://schemas.microsoft.com/office/drawing/2014/main" id="{8B974373-34CA-4C47-8286-34466F8E4D76}"/>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symbol for an operation: + adds, - subtracts, * multiplies, / divides, ** raises to a power. // floors a quotient, so -5 // 2 is -3.</a:t>
            </a:r>
          </a:p>
        </p:txBody>
      </p:sp>
      <p:sp>
        <p:nvSpPr>
          <p:cNvPr id="7" name="">
            <a:extLst xmlns:a="http://schemas.openxmlformats.org/drawingml/2006/main">
              <a:ext uri="{FF2B5EF4-FFF2-40B4-BE49-F238E27FC236}">
                <a16:creationId xmlns:a16="http://schemas.microsoft.com/office/drawing/2014/main" id="{38288C6F-CFA0-4A9A-893C-A73249C938D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9</a:t>
            </a:r>
          </a:p>
        </p:txBody>
      </p:sp>
    </p:spTree>
    <p:extLst>
      <p:ext uri="{BB962C8B-B14F-4D97-AF65-F5344CB8AC3E}">
        <p14:creationId xmlns:p14="http://schemas.microsoft.com/office/powerpoint/2010/main" val="1999435780"/>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E224BB5-95C7-4FB8-AE4B-E552326BD01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6F7DF21-E2A6-429E-90EA-802B11D3D0A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C4DCE89F-2A2B-4C95-8F16-777CFD3F965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a function call before using it</a:t>
            </a:r>
          </a:p>
        </p:txBody>
      </p:sp>
      <p:sp>
        <p:nvSpPr>
          <p:cNvPr id="4" name="">
            <a:extLst xmlns:a="http://schemas.openxmlformats.org/drawingml/2006/main">
              <a:ext uri="{FF2B5EF4-FFF2-40B4-BE49-F238E27FC236}">
                <a16:creationId xmlns:a16="http://schemas.microsoft.com/office/drawing/2014/main" id="{7CA02483-D23C-47D0-B582-6F17FBBA5729}"/>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4DB0FD9-61E8-49BC-A38D-4F10CD6F85CF}"/>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A built-in function</a:t>
            </a:r>
          </a:p>
        </p:txBody>
      </p:sp>
      <p:sp>
        <p:nvSpPr>
          <p:cNvPr id="6" name="">
            <a:extLst xmlns:a="http://schemas.openxmlformats.org/drawingml/2006/main">
              <a:ext uri="{FF2B5EF4-FFF2-40B4-BE49-F238E27FC236}">
                <a16:creationId xmlns:a16="http://schemas.microsoft.com/office/drawing/2014/main" id="{F315322A-4B95-4EED-B62C-62728695448D}"/>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Python already provides tools such as print, type and float. A function call asks a named tool to do its work: print(3) displays 3.</a:t>
            </a:r>
          </a:p>
        </p:txBody>
      </p:sp>
      <p:sp>
        <p:nvSpPr>
          <p:cNvPr id="7" name="">
            <a:extLst xmlns:a="http://schemas.openxmlformats.org/drawingml/2006/main">
              <a:ext uri="{FF2B5EF4-FFF2-40B4-BE49-F238E27FC236}">
                <a16:creationId xmlns:a16="http://schemas.microsoft.com/office/drawing/2014/main" id="{714FDF53-1C1F-4026-8BB0-08CB10FFA835}"/>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D03311E5-7F5E-43EC-9A77-CABBFADC8FBF}"/>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Parentheses, quotes and comments</a:t>
            </a:r>
          </a:p>
        </p:txBody>
      </p:sp>
      <p:sp>
        <p:nvSpPr>
          <p:cNvPr id="9" name="">
            <a:extLst xmlns:a="http://schemas.openxmlformats.org/drawingml/2006/main">
              <a:ext uri="{FF2B5EF4-FFF2-40B4-BE49-F238E27FC236}">
                <a16:creationId xmlns:a16="http://schemas.microsoft.com/office/drawing/2014/main" id="{E91AF854-7D65-49C4-A90B-9924C7DD8ADA}"/>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Parentheses hold the inputs to a call. Quotes make text: "3.5" is text; float("3.5") converts it to a number. # starts a comment that Python does not run.</a:t>
            </a:r>
          </a:p>
        </p:txBody>
      </p:sp>
      <p:sp>
        <p:nvSpPr>
          <p:cNvPr id="10" name="">
            <a:extLst xmlns:a="http://schemas.openxmlformats.org/drawingml/2006/main">
              <a:ext uri="{FF2B5EF4-FFF2-40B4-BE49-F238E27FC236}">
                <a16:creationId xmlns:a16="http://schemas.microsoft.com/office/drawing/2014/main" id="{A81D649E-4B96-4907-B3FF-EA337B7761B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10</a:t>
            </a:r>
          </a:p>
        </p:txBody>
      </p:sp>
    </p:spTree>
    <p:extLst>
      <p:ext uri="{BB962C8B-B14F-4D97-AF65-F5344CB8AC3E}">
        <p14:creationId xmlns:p14="http://schemas.microsoft.com/office/powerpoint/2010/main" val="88247287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C391B46-282C-4049-B8EC-4670D708A22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6FD0A63-C534-413F-9D1E-FCDFA95D947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29AA2C3-DCB0-4427-8DF7-53A74BA15B0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Python symbols</a:t>
            </a:r>
          </a:p>
        </p:txBody>
      </p:sp>
      <p:sp>
        <p:nvSpPr>
          <p:cNvPr id="4" name="">
            <a:extLst xmlns:a="http://schemas.openxmlformats.org/drawingml/2006/main">
              <a:ext uri="{FF2B5EF4-FFF2-40B4-BE49-F238E27FC236}">
                <a16:creationId xmlns:a16="http://schemas.microsoft.com/office/drawing/2014/main" id="{418BF627-43A2-4075-A29D-EDBCFC58971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852DA40-49EC-4A6E-A71A-88DAD7196C1B}"/>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assigns a value to a name. == compares two values.</a:t>
            </a:r>
          </a:p>
        </p:txBody>
      </p:sp>
      <p:sp>
        <p:nvSpPr>
          <p:cNvPr id="6" name="">
            <a:extLst xmlns:a="http://schemas.openxmlformats.org/drawingml/2006/main">
              <a:ext uri="{FF2B5EF4-FFF2-40B4-BE49-F238E27FC236}">
                <a16:creationId xmlns:a16="http://schemas.microsoft.com/office/drawing/2014/main" id="{76254FDC-AA7C-46CC-A6FB-DFA1F357E7A8}"/>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2C28D17-0CA8-4A31-ABBF-0BFBE5D7C64D}"/>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multiplies. / divides. ** raises to a power.</a:t>
            </a:r>
          </a:p>
        </p:txBody>
      </p:sp>
      <p:sp>
        <p:nvSpPr>
          <p:cNvPr id="8" name="">
            <a:extLst xmlns:a="http://schemas.openxmlformats.org/drawingml/2006/main">
              <a:ext uri="{FF2B5EF4-FFF2-40B4-BE49-F238E27FC236}">
                <a16:creationId xmlns:a16="http://schemas.microsoft.com/office/drawing/2014/main" id="{DD99EC50-C784-480C-94BA-72CF9F037844}"/>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C69483F-DDF2-4E87-8AD3-7D3F5DB3A7AF}"/>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Parentheses pass inputs when we call a function.</a:t>
            </a:r>
          </a:p>
        </p:txBody>
      </p:sp>
      <p:sp>
        <p:nvSpPr>
          <p:cNvPr id="10" name="">
            <a:extLst xmlns:a="http://schemas.openxmlformats.org/drawingml/2006/main">
              <a:ext uri="{FF2B5EF4-FFF2-40B4-BE49-F238E27FC236}">
                <a16:creationId xmlns:a16="http://schemas.microsoft.com/office/drawing/2014/main" id="{3F86BC1C-EE43-4EF7-8F7F-8389D40B87B1}"/>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315862B-AD65-4B6C-BF90-CCC69F04B168}"/>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Indented lines belong to the block above them.</a:t>
            </a:r>
          </a:p>
        </p:txBody>
      </p:sp>
      <p:sp>
        <p:nvSpPr>
          <p:cNvPr id="12" name="">
            <a:extLst xmlns:a="http://schemas.openxmlformats.org/drawingml/2006/main">
              <a:ext uri="{FF2B5EF4-FFF2-40B4-BE49-F238E27FC236}">
                <a16:creationId xmlns:a16="http://schemas.microsoft.com/office/drawing/2014/main" id="{4F7C5986-CEA2-4A95-912D-13FCA54C4E1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11</a:t>
            </a:r>
          </a:p>
        </p:txBody>
      </p:sp>
    </p:spTree>
    <p:extLst>
      <p:ext uri="{BB962C8B-B14F-4D97-AF65-F5344CB8AC3E}">
        <p14:creationId xmlns:p14="http://schemas.microsoft.com/office/powerpoint/2010/main" val="1757381755"/>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EBCAA29-7F32-4676-B7CE-0FAAE21BBF6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001E3BB-5040-4088-8982-FFE1CDF95E4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6D29556-C939-4016-A54D-B83D9C43DDB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Names, conversion and comments</a:t>
            </a:r>
          </a:p>
        </p:txBody>
      </p:sp>
      <p:sp>
        <p:nvSpPr>
          <p:cNvPr id="4" name="">
            <a:extLst xmlns:a="http://schemas.openxmlformats.org/drawingml/2006/main">
              <a:ext uri="{FF2B5EF4-FFF2-40B4-BE49-F238E27FC236}">
                <a16:creationId xmlns:a16="http://schemas.microsoft.com/office/drawing/2014/main" id="{3B630843-AF76-4734-AA8E-FF2745F40374}"/>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BAF28C2-58B9-4B25-ABA0-19DEB9EC591B}"/>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length_m = float("3.5")  # text to number</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width_m = 2</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area_m2 = length_m * width_m</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print(area_m2)</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print(type(length_m))</a:t>
            </a:r>
          </a:p>
        </p:txBody>
      </p:sp>
      <p:sp>
        <p:nvSpPr>
          <p:cNvPr id="6" name="">
            <a:extLst xmlns:a="http://schemas.openxmlformats.org/drawingml/2006/main">
              <a:ext uri="{FF2B5EF4-FFF2-40B4-BE49-F238E27FC236}">
                <a16:creationId xmlns:a16="http://schemas.microsoft.com/office/drawing/2014/main" id="{18573F3D-0700-4BFD-9F00-A1F611093E9A}"/>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DBB3A318-EAEE-4D39-A56E-77C8C2240172}"/>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float converts numeric text into a decimal number.</a:t>
            </a:r>
          </a:p>
        </p:txBody>
      </p:sp>
      <p:sp>
        <p:nvSpPr>
          <p:cNvPr id="8" name="">
            <a:extLst xmlns:a="http://schemas.openxmlformats.org/drawingml/2006/main">
              <a:ext uri="{FF2B5EF4-FFF2-40B4-BE49-F238E27FC236}">
                <a16:creationId xmlns:a16="http://schemas.microsoft.com/office/drawing/2014/main" id="{7690E8B3-5525-4D85-8652-2A9C83EFAE50}"/>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type reports the kind of value: for example, float.</a:t>
            </a:r>
          </a:p>
        </p:txBody>
      </p:sp>
      <p:sp>
        <p:nvSpPr>
          <p:cNvPr id="9" name="">
            <a:extLst xmlns:a="http://schemas.openxmlformats.org/drawingml/2006/main">
              <a:ext uri="{FF2B5EF4-FFF2-40B4-BE49-F238E27FC236}">
                <a16:creationId xmlns:a16="http://schemas.microsoft.com/office/drawing/2014/main" id="{7EA68680-0B2A-4C6F-8A20-AF28BE6EA74D}"/>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10" name="">
            <a:extLst xmlns:a="http://schemas.openxmlformats.org/drawingml/2006/main">
              <a:ext uri="{FF2B5EF4-FFF2-40B4-BE49-F238E27FC236}">
                <a16:creationId xmlns:a16="http://schemas.microsoft.com/office/drawing/2014/main" id="{15E9F912-6505-485E-9FB4-5AF2CBDE285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type(...) reports the kind of value. &lt;class 'float'&gt; means a floating-point number.</a:t>
            </a:r>
          </a:p>
        </p:txBody>
      </p:sp>
      <p:sp>
        <p:nvSpPr>
          <p:cNvPr id="11" name="">
            <a:extLst xmlns:a="http://schemas.openxmlformats.org/drawingml/2006/main">
              <a:ext uri="{FF2B5EF4-FFF2-40B4-BE49-F238E27FC236}">
                <a16:creationId xmlns:a16="http://schemas.microsoft.com/office/drawing/2014/main" id="{7A1689FD-E7A1-4A89-B471-D22E1803CCE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12</a:t>
            </a:r>
          </a:p>
        </p:txBody>
      </p:sp>
    </p:spTree>
    <p:extLst>
      <p:ext uri="{BB962C8B-B14F-4D97-AF65-F5344CB8AC3E}">
        <p14:creationId xmlns:p14="http://schemas.microsoft.com/office/powerpoint/2010/main" val="1324486693"/>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0673DD1-2BE2-4365-88EC-C2B81E12382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98C4072-76DA-45D7-8F89-9E15D48D789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6239AA0-7BCC-4B98-9F44-4A5184F3D23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Arithmetic that needs care</a:t>
            </a:r>
          </a:p>
        </p:txBody>
      </p:sp>
      <p:sp>
        <p:nvSpPr>
          <p:cNvPr id="4" name="">
            <a:extLst xmlns:a="http://schemas.openxmlformats.org/drawingml/2006/main">
              <a:ext uri="{FF2B5EF4-FFF2-40B4-BE49-F238E27FC236}">
                <a16:creationId xmlns:a16="http://schemas.microsoft.com/office/drawing/2014/main" id="{FEEBC5C3-82A6-4983-B9F8-96AF518D672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D7E72BD-190D-4622-9F67-4AB0EA667AA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(2 + 4) / 2 gives 3.0. 2 + 4 / 2 gives 4.0.</a:t>
            </a:r>
          </a:p>
        </p:txBody>
      </p:sp>
      <p:sp>
        <p:nvSpPr>
          <p:cNvPr id="6" name="">
            <a:extLst xmlns:a="http://schemas.openxmlformats.org/drawingml/2006/main">
              <a:ext uri="{FF2B5EF4-FFF2-40B4-BE49-F238E27FC236}">
                <a16:creationId xmlns:a16="http://schemas.microsoft.com/office/drawing/2014/main" id="{4F8E7D78-EBB6-4392-A988-A81F9391E736}"/>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BBF45D0-0306-4D8F-B7CE-D0F78370939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7 / 2 gives 3.5. 7 // 2 gives 3. -7 // 2 gives -4.</a:t>
            </a:r>
          </a:p>
        </p:txBody>
      </p:sp>
      <p:sp>
        <p:nvSpPr>
          <p:cNvPr id="8" name="">
            <a:extLst xmlns:a="http://schemas.openxmlformats.org/drawingml/2006/main">
              <a:ext uri="{FF2B5EF4-FFF2-40B4-BE49-F238E27FC236}">
                <a16:creationId xmlns:a16="http://schemas.microsoft.com/office/drawing/2014/main" id="{D3B068F1-85C3-403D-BE03-18EEDE81E5A8}"/>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908582D-56A3-46C7-9234-3EBCBA161C7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Floating-point numbers approximate many decimals. Compare calculated measurements with a stated tolerance.</a:t>
            </a:r>
          </a:p>
        </p:txBody>
      </p:sp>
      <p:sp>
        <p:nvSpPr>
          <p:cNvPr id="10" name="">
            <a:extLst xmlns:a="http://schemas.openxmlformats.org/drawingml/2006/main">
              <a:ext uri="{FF2B5EF4-FFF2-40B4-BE49-F238E27FC236}">
                <a16:creationId xmlns:a16="http://schemas.microsoft.com/office/drawing/2014/main" id="{887E1151-4829-469E-A8BF-58712571F61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13</a:t>
            </a:r>
          </a:p>
        </p:txBody>
      </p:sp>
    </p:spTree>
    <p:extLst>
      <p:ext uri="{BB962C8B-B14F-4D97-AF65-F5344CB8AC3E}">
        <p14:creationId xmlns:p14="http://schemas.microsoft.com/office/powerpoint/2010/main" val="844565543"/>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471B9D4-3F46-44F0-99EE-3E01B9139FE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45447B6-47AA-43B3-BB7A-9A1587A53A2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A8DCC94A-5AEF-4DE7-9AEE-545A6B80131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quantities in your programme example</a:t>
            </a:r>
          </a:p>
        </p:txBody>
      </p:sp>
      <p:sp>
        <p:nvSpPr>
          <p:cNvPr id="4" name="">
            <a:extLst xmlns:a="http://schemas.openxmlformats.org/drawingml/2006/main">
              <a:ext uri="{FF2B5EF4-FFF2-40B4-BE49-F238E27FC236}">
                <a16:creationId xmlns:a16="http://schemas.microsoft.com/office/drawing/2014/main" id="{AF75C9C5-8BB4-45E7-9C33-88AAD8EBCC43}"/>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911BDF8-BE33-49DC-8DDD-2913A775EEF2}"/>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Voltage and current</a:t>
            </a:r>
          </a:p>
        </p:txBody>
      </p:sp>
      <p:sp>
        <p:nvSpPr>
          <p:cNvPr id="6" name="">
            <a:extLst xmlns:a="http://schemas.openxmlformats.org/drawingml/2006/main">
              <a:ext uri="{FF2B5EF4-FFF2-40B4-BE49-F238E27FC236}">
                <a16:creationId xmlns:a16="http://schemas.microsoft.com/office/drawing/2014/main" id="{4A5197BF-D965-4993-A157-1B9911DD4095}"/>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Voltage describes electrical potential difference in volts (V). Current is the rate of charge flow in amperes (A). This example uses direct current (DC).</a:t>
            </a:r>
          </a:p>
        </p:txBody>
      </p:sp>
      <p:sp>
        <p:nvSpPr>
          <p:cNvPr id="7" name="">
            <a:extLst xmlns:a="http://schemas.openxmlformats.org/drawingml/2006/main">
              <a:ext uri="{FF2B5EF4-FFF2-40B4-BE49-F238E27FC236}">
                <a16:creationId xmlns:a16="http://schemas.microsoft.com/office/drawing/2014/main" id="{DEA054A9-5C80-48EF-A0DB-1DE02F82AC6E}"/>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16621E0D-FB6F-4D54-88A6-39F4FE7AD855}"/>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Power</a:t>
            </a:r>
          </a:p>
        </p:txBody>
      </p:sp>
      <p:sp>
        <p:nvSpPr>
          <p:cNvPr id="9" name="">
            <a:extLst xmlns:a="http://schemas.openxmlformats.org/drawingml/2006/main">
              <a:ext uri="{FF2B5EF4-FFF2-40B4-BE49-F238E27FC236}">
                <a16:creationId xmlns:a16="http://schemas.microsoft.com/office/drawing/2014/main" id="{7DC9D46C-C3B7-4270-9830-EDCF4D7F97F4}"/>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Power is energy transferred each second, measured in watts (W). For this DC example, power = voltage × current. Resistive heating later uses current squared × resistance.</a:t>
            </a:r>
          </a:p>
        </p:txBody>
      </p:sp>
      <p:sp>
        <p:nvSpPr>
          <p:cNvPr id="10" name="">
            <a:extLst xmlns:a="http://schemas.openxmlformats.org/drawingml/2006/main">
              <a:ext uri="{FF2B5EF4-FFF2-40B4-BE49-F238E27FC236}">
                <a16:creationId xmlns:a16="http://schemas.microsoft.com/office/drawing/2014/main" id="{F5BCB438-0E7B-49BB-B9E6-3E42B559842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14</a:t>
            </a:r>
          </a:p>
        </p:txBody>
      </p:sp>
    </p:spTree>
    <p:extLst>
      <p:ext uri="{BB962C8B-B14F-4D97-AF65-F5344CB8AC3E}">
        <p14:creationId xmlns:p14="http://schemas.microsoft.com/office/powerpoint/2010/main" val="976187788"/>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3123496-5295-4F94-AECC-7F2C6E91AE7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ABDDD55-F689-4C08-93AC-D08B7D14649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5A03CD6-447C-482A-9602-71B16D3A59A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calculation for your programme</a:t>
            </a:r>
          </a:p>
        </p:txBody>
      </p:sp>
      <p:sp>
        <p:nvSpPr>
          <p:cNvPr id="4" name="">
            <a:extLst xmlns:a="http://schemas.openxmlformats.org/drawingml/2006/main">
              <a:ext uri="{FF2B5EF4-FFF2-40B4-BE49-F238E27FC236}">
                <a16:creationId xmlns:a16="http://schemas.microsoft.com/office/drawing/2014/main" id="{63C2ED0E-089F-4568-BB53-7A16329CCB8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0822EE1-27EE-49D3-97F5-AA8252D30045}"/>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DC test circuit has 12 volts and 2 amperes.</a:t>
            </a:r>
          </a:p>
        </p:txBody>
      </p:sp>
      <p:sp>
        <p:nvSpPr>
          <p:cNvPr id="6" name="">
            <a:extLst xmlns:a="http://schemas.openxmlformats.org/drawingml/2006/main">
              <a:ext uri="{FF2B5EF4-FFF2-40B4-BE49-F238E27FC236}">
                <a16:creationId xmlns:a16="http://schemas.microsoft.com/office/drawing/2014/main" id="{7B7D988D-F93A-474F-B6D0-B972318FCC8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38C2D84-EDAE-49F0-8FCE-0F877FA9E55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Power = voltage × current = 24 watts.</a:t>
            </a:r>
          </a:p>
        </p:txBody>
      </p:sp>
      <p:sp>
        <p:nvSpPr>
          <p:cNvPr id="8" name="">
            <a:extLst xmlns:a="http://schemas.openxmlformats.org/drawingml/2006/main">
              <a:ext uri="{FF2B5EF4-FFF2-40B4-BE49-F238E27FC236}">
                <a16:creationId xmlns:a16="http://schemas.microsoft.com/office/drawing/2014/main" id="{687A3871-BBE6-4781-98C0-D5C89F3D6749}"/>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DE03B0F-6E1C-450B-A065-58B1724CB67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example assumes DC; AC real power needs additional information.</a:t>
            </a:r>
          </a:p>
        </p:txBody>
      </p:sp>
      <p:sp>
        <p:nvSpPr>
          <p:cNvPr id="10" name="">
            <a:extLst xmlns:a="http://schemas.openxmlformats.org/drawingml/2006/main">
              <a:ext uri="{FF2B5EF4-FFF2-40B4-BE49-F238E27FC236}">
                <a16:creationId xmlns:a16="http://schemas.microsoft.com/office/drawing/2014/main" id="{17DA61B8-67D1-4C4D-BF7B-D95995092F0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15</a:t>
            </a:r>
          </a:p>
        </p:txBody>
      </p:sp>
    </p:spTree>
    <p:extLst>
      <p:ext uri="{BB962C8B-B14F-4D97-AF65-F5344CB8AC3E}">
        <p14:creationId xmlns:p14="http://schemas.microsoft.com/office/powerpoint/2010/main" val="1692150488"/>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4C79078-3299-481E-A3FA-7AA47CFDAF7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7037FA5-6F53-4EEF-9894-045781BAE27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7E28349-77FA-4F56-878B-E0AC6470D06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calculation in Python</a:t>
            </a:r>
          </a:p>
        </p:txBody>
      </p:sp>
      <p:sp>
        <p:nvSpPr>
          <p:cNvPr id="4" name="">
            <a:extLst xmlns:a="http://schemas.openxmlformats.org/drawingml/2006/main">
              <a:ext uri="{FF2B5EF4-FFF2-40B4-BE49-F238E27FC236}">
                <a16:creationId xmlns:a16="http://schemas.microsoft.com/office/drawing/2014/main" id="{5150D4A6-2E56-4FEC-B055-51BB5E684F8A}"/>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01034B6-4ACF-4CFD-8EBE-AD9214009605}"/>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voltage_v = 12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current_a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power_w = voltage_v * current_a</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print(power_w)</a:t>
            </a:r>
          </a:p>
        </p:txBody>
      </p:sp>
      <p:sp>
        <p:nvSpPr>
          <p:cNvPr id="6" name="">
            <a:extLst xmlns:a="http://schemas.openxmlformats.org/drawingml/2006/main">
              <a:ext uri="{FF2B5EF4-FFF2-40B4-BE49-F238E27FC236}">
                <a16:creationId xmlns:a16="http://schemas.microsoft.com/office/drawing/2014/main" id="{562DF227-B7D8-40C8-9AB0-5C873D4EA931}"/>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FA334242-5752-4E30-B3D4-1C53CBB45616}"/>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6433C712-49D1-457D-8E6B-3C9594AB59B7}"/>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9" name="">
            <a:extLst xmlns:a="http://schemas.openxmlformats.org/drawingml/2006/main">
              <a:ext uri="{FF2B5EF4-FFF2-40B4-BE49-F238E27FC236}">
                <a16:creationId xmlns:a16="http://schemas.microsoft.com/office/drawing/2014/main" id="{97E3781F-064F-4808-8745-051E5E3AC35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10" name="">
            <a:extLst xmlns:a="http://schemas.openxmlformats.org/drawingml/2006/main">
              <a:ext uri="{FF2B5EF4-FFF2-40B4-BE49-F238E27FC236}">
                <a16:creationId xmlns:a16="http://schemas.microsoft.com/office/drawing/2014/main" id="{F3BBCFE1-BDBD-4834-8696-EC9A968C9BC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16</a:t>
            </a:r>
          </a:p>
        </p:txBody>
      </p:sp>
    </p:spTree>
    <p:extLst>
      <p:ext uri="{BB962C8B-B14F-4D97-AF65-F5344CB8AC3E}">
        <p14:creationId xmlns:p14="http://schemas.microsoft.com/office/powerpoint/2010/main" val="990133451"/>
      </p:ext>
    </p:extLst>
  </p:cSld>
</p:sld>
</file>

<file path=ppt/slides/slide17.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04D1ACA-7618-40B7-B885-76AC1255B8A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36E7E587-E879-4C02-B22A-C00951A15D2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change to predict</a:t>
            </a:r>
          </a:p>
        </p:txBody>
      </p:sp>
      <p:sp>
        <p:nvSpPr>
          <p:cNvPr id="3" name="">
            <a:extLst xmlns:a="http://schemas.openxmlformats.org/drawingml/2006/main">
              <a:ext uri="{FF2B5EF4-FFF2-40B4-BE49-F238E27FC236}">
                <a16:creationId xmlns:a16="http://schemas.microsoft.com/office/drawing/2014/main" id="{B82F8B50-10C2-41BA-BE25-A7BB94A521E7}"/>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F169590E-6BF0-4654-A61F-1A90FD97A444}"/>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Change current_a to 3. Predict the power before running.</a:t>
            </a:r>
          </a:p>
        </p:txBody>
      </p:sp>
      <p:sp>
        <p:nvSpPr>
          <p:cNvPr id="5" name="">
            <a:extLst xmlns:a="http://schemas.openxmlformats.org/drawingml/2006/main">
              <a:ext uri="{FF2B5EF4-FFF2-40B4-BE49-F238E27FC236}">
                <a16:creationId xmlns:a16="http://schemas.microsoft.com/office/drawing/2014/main" id="{CD6F9A23-2FCC-4442-A935-9A067BC4F7EC}"/>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Think alone first. Then compare your reasoning with a partner.</a:t>
            </a:r>
          </a:p>
        </p:txBody>
      </p:sp>
      <p:sp>
        <p:nvSpPr>
          <p:cNvPr id="6" name="">
            <a:extLst xmlns:a="http://schemas.openxmlformats.org/drawingml/2006/main">
              <a:ext uri="{FF2B5EF4-FFF2-40B4-BE49-F238E27FC236}">
                <a16:creationId xmlns:a16="http://schemas.microsoft.com/office/drawing/2014/main" id="{E1FEDE00-3E43-4C83-9F04-0BC80EFACBC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3   17</a:t>
            </a:r>
          </a:p>
        </p:txBody>
      </p:sp>
    </p:spTree>
    <p:extLst>
      <p:ext uri="{BB962C8B-B14F-4D97-AF65-F5344CB8AC3E}">
        <p14:creationId xmlns:p14="http://schemas.microsoft.com/office/powerpoint/2010/main" val="1020524997"/>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364EDAA-D36E-4609-8EF7-58485FADC8B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2654034-C455-404C-97B3-ACFCBE24775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DISCUSS THE REASONING</a:t>
            </a:r>
          </a:p>
        </p:txBody>
      </p:sp>
      <p:sp>
        <p:nvSpPr>
          <p:cNvPr id="3" name="">
            <a:extLst xmlns:a="http://schemas.openxmlformats.org/drawingml/2006/main">
              <a:ext uri="{FF2B5EF4-FFF2-40B4-BE49-F238E27FC236}">
                <a16:creationId xmlns:a16="http://schemas.microsoft.com/office/drawing/2014/main" id="{0FDE1091-6C92-4989-82B0-77F867BC2F6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practice result</a:t>
            </a:r>
          </a:p>
        </p:txBody>
      </p:sp>
      <p:sp>
        <p:nvSpPr>
          <p:cNvPr id="4" name="">
            <a:extLst xmlns:a="http://schemas.openxmlformats.org/drawingml/2006/main">
              <a:ext uri="{FF2B5EF4-FFF2-40B4-BE49-F238E27FC236}">
                <a16:creationId xmlns:a16="http://schemas.microsoft.com/office/drawing/2014/main" id="{EC700881-054E-454F-8DA8-8BD6E706FC6D}"/>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58D12D0-DCE5-4081-B16B-95A32BF12B2B}"/>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2E7D6F"/>
                </a:solidFill>
                <a:latin typeface="Calibri"/>
                <a:ea typeface="Calibri"/>
                <a:cs typeface="Calibri"/>
              </a:defRPr>
            </a:pPr>
            <a:r>
              <a:rPr sz="3150" b="1">
                <a:solidFill>
                  <a:srgbClr val="2E7D6F"/>
                </a:solidFill>
                <a:latin typeface="Calibri"/>
                <a:ea typeface="Calibri"/>
                <a:cs typeface="Calibri"/>
              </a:rPr>
              <a:t>36 watts</a:t>
            </a:r>
          </a:p>
        </p:txBody>
      </p:sp>
      <p:sp>
        <p:nvSpPr>
          <p:cNvPr id="6" name="">
            <a:extLst xmlns:a="http://schemas.openxmlformats.org/drawingml/2006/main">
              <a:ext uri="{FF2B5EF4-FFF2-40B4-BE49-F238E27FC236}">
                <a16:creationId xmlns:a16="http://schemas.microsoft.com/office/drawing/2014/main" id="{48B476A3-66D0-49B4-A06E-1A1AB3CB4E33}"/>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F6E867F4-331E-451E-9435-218E0AECE6C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18</a:t>
            </a:r>
          </a:p>
        </p:txBody>
      </p:sp>
    </p:spTree>
    <p:extLst>
      <p:ext uri="{BB962C8B-B14F-4D97-AF65-F5344CB8AC3E}">
        <p14:creationId xmlns:p14="http://schemas.microsoft.com/office/powerpoint/2010/main" val="777743186"/>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A1B690A-93F4-42BD-AA2F-8F485AE0F12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5720898-50BC-438D-B698-0550424725B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BA3725F0-FF8D-46DC-8B24-FC4C4717FF1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an error message</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Message</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Meaning</a:t>
                      </a:r>
                    </a:p>
                  </a:txBody>
                  <a:tcPr marL="91440" marR="91440" marT="45720" marB="45720">
                    <a:solidFill>
                      <a:srgbClr val="2E7D6F"/>
                    </a:solidFill>
                  </a:tcPr>
                </a:tc>
                <a:tc>
                  <a:txBody>
                    <a:bodyPr/>
                    <a:lstStyle/>
                    <a:p>
                      <a:r>
                        <a:rPr sz="2025" b="1">
                          <a:solidFill>
                            <a:srgbClr val="FFFFFF"/>
                          </a:solidFill>
                          <a:latin typeface="Calibri"/>
                          <a:ea typeface="Calibri"/>
                          <a:cs typeface="Calibri"/>
                        </a:rPr>
                        <a:t>First check</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NameError</a:t>
                      </a:r>
                    </a:p>
                  </a:txBody>
                  <a:tcPr marL="91440" marR="91440" marT="45720" marB="45720">
                    <a:solidFill>
                      <a:srgbClr val="EEF3F6"/>
                    </a:solidFill>
                  </a:tcPr>
                </a:tc>
                <a:tc>
                  <a:txBody>
                    <a:bodyPr/>
                    <a:lstStyle/>
                    <a:p>
                      <a:r>
                        <a:rPr sz="2025" b="0">
                          <a:solidFill>
                            <a:srgbClr val="1C3144"/>
                          </a:solidFill>
                          <a:latin typeface="Calibri"/>
                          <a:ea typeface="Calibri"/>
                          <a:cs typeface="Calibri"/>
                        </a:rPr>
                        <a:t>A name is unavailable</a:t>
                      </a:r>
                    </a:p>
                  </a:txBody>
                  <a:tcPr marL="91440" marR="91440" marT="45720" marB="45720">
                    <a:solidFill>
                      <a:srgbClr val="EEF3F6"/>
                    </a:solidFill>
                  </a:tcPr>
                </a:tc>
                <a:tc>
                  <a:txBody>
                    <a:bodyPr/>
                    <a:lstStyle/>
                    <a:p>
                      <a:r>
                        <a:rPr sz="2025" b="0">
                          <a:solidFill>
                            <a:srgbClr val="1C3144"/>
                          </a:solidFill>
                          <a:latin typeface="Calibri"/>
                          <a:ea typeface="Calibri"/>
                          <a:cs typeface="Calibri"/>
                        </a:rPr>
                        <a:t>Spelling and run order</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TypeError</a:t>
                      </a:r>
                    </a:p>
                  </a:txBody>
                  <a:tcPr marL="91440" marR="91440" marT="45720" marB="45720">
                    <a:solidFill>
                      <a:srgbClr val="FFFFFF"/>
                    </a:solidFill>
                  </a:tcPr>
                </a:tc>
                <a:tc>
                  <a:txBody>
                    <a:bodyPr/>
                    <a:lstStyle/>
                    <a:p>
                      <a:r>
                        <a:rPr sz="2025" b="0">
                          <a:solidFill>
                            <a:srgbClr val="1C3144"/>
                          </a:solidFill>
                          <a:latin typeface="Calibri"/>
                          <a:ea typeface="Calibri"/>
                          <a:cs typeface="Calibri"/>
                        </a:rPr>
                        <a:t>Wrong kind of value</a:t>
                      </a:r>
                    </a:p>
                  </a:txBody>
                  <a:tcPr marL="91440" marR="91440" marT="45720" marB="45720">
                    <a:solidFill>
                      <a:srgbClr val="FFFFFF"/>
                    </a:solidFill>
                  </a:tcPr>
                </a:tc>
                <a:tc>
                  <a:txBody>
                    <a:bodyPr/>
                    <a:lstStyle/>
                    <a:p>
                      <a:r>
                        <a:rPr sz="2025" b="0">
                          <a:solidFill>
                            <a:srgbClr val="1C3144"/>
                          </a:solidFill>
                          <a:latin typeface="Calibri"/>
                          <a:ea typeface="Calibri"/>
                          <a:cs typeface="Calibri"/>
                        </a:rPr>
                        <a:t>Text versus number</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SyntaxError</a:t>
                      </a:r>
                    </a:p>
                  </a:txBody>
                  <a:tcPr marL="91440" marR="91440" marT="45720" marB="45720">
                    <a:solidFill>
                      <a:srgbClr val="EEF3F6"/>
                    </a:solidFill>
                  </a:tcPr>
                </a:tc>
                <a:tc>
                  <a:txBody>
                    <a:bodyPr/>
                    <a:lstStyle/>
                    <a:p>
                      <a:r>
                        <a:rPr sz="2025" b="0">
                          <a:solidFill>
                            <a:srgbClr val="1C3144"/>
                          </a:solidFill>
                          <a:latin typeface="Calibri"/>
                          <a:ea typeface="Calibri"/>
                          <a:cs typeface="Calibri"/>
                        </a:rPr>
                        <a:t>Python cannot parse a line</a:t>
                      </a:r>
                    </a:p>
                  </a:txBody>
                  <a:tcPr marL="91440" marR="91440" marT="45720" marB="45720">
                    <a:solidFill>
                      <a:srgbClr val="EEF3F6"/>
                    </a:solidFill>
                  </a:tcPr>
                </a:tc>
                <a:tc>
                  <a:txBody>
                    <a:bodyPr/>
                    <a:lstStyle/>
                    <a:p>
                      <a:r>
                        <a:rPr sz="2025" b="0">
                          <a:solidFill>
                            <a:srgbClr val="1C3144"/>
                          </a:solidFill>
                          <a:latin typeface="Calibri"/>
                          <a:ea typeface="Calibri"/>
                          <a:cs typeface="Calibri"/>
                        </a:rPr>
                        <a:t>Quotes, brackets, colon</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IndentationError</a:t>
                      </a:r>
                    </a:p>
                  </a:txBody>
                  <a:tcPr marL="91440" marR="91440" marT="45720" marB="45720">
                    <a:solidFill>
                      <a:srgbClr val="FFFFFF"/>
                    </a:solidFill>
                  </a:tcPr>
                </a:tc>
                <a:tc>
                  <a:txBody>
                    <a:bodyPr/>
                    <a:lstStyle/>
                    <a:p>
                      <a:r>
                        <a:rPr sz="2025" b="0">
                          <a:solidFill>
                            <a:srgbClr val="1C3144"/>
                          </a:solidFill>
                          <a:latin typeface="Calibri"/>
                          <a:ea typeface="Calibri"/>
                          <a:cs typeface="Calibri"/>
                        </a:rPr>
                        <a:t>Block spacing is invalid</a:t>
                      </a:r>
                    </a:p>
                  </a:txBody>
                  <a:tcPr marL="91440" marR="91440" marT="45720" marB="45720">
                    <a:solidFill>
                      <a:srgbClr val="FFFFFF"/>
                    </a:solidFill>
                  </a:tcPr>
                </a:tc>
                <a:tc>
                  <a:txBody>
                    <a:bodyPr/>
                    <a:lstStyle/>
                    <a:p>
                      <a:r>
                        <a:rPr sz="2025" b="0">
                          <a:solidFill>
                            <a:srgbClr val="1C3144"/>
                          </a:solidFill>
                          <a:latin typeface="Calibri"/>
                          <a:ea typeface="Calibri"/>
                          <a:cs typeface="Calibri"/>
                        </a:rPr>
                        <a:t>Consistent spaces</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35F50441-0128-41C0-8A12-1148D788A4BC}"/>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The last line names the error. The indicated line shows where Python noticed it.</a:t>
            </a:r>
          </a:p>
        </p:txBody>
      </p:sp>
      <p:sp>
        <p:nvSpPr>
          <p:cNvPr id="6" name="">
            <a:extLst xmlns:a="http://schemas.openxmlformats.org/drawingml/2006/main">
              <a:ext uri="{FF2B5EF4-FFF2-40B4-BE49-F238E27FC236}">
                <a16:creationId xmlns:a16="http://schemas.microsoft.com/office/drawing/2014/main" id="{5CA2F98C-AA0D-4284-BAFD-92321BD8004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19</a:t>
            </a:r>
          </a:p>
        </p:txBody>
      </p:sp>
    </p:spTree>
    <p:extLst>
      <p:ext uri="{BB962C8B-B14F-4D97-AF65-F5344CB8AC3E}">
        <p14:creationId xmlns:p14="http://schemas.microsoft.com/office/powerpoint/2010/main" val="1447275912"/>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A171BF5-AFDA-40D9-9503-DF16017F2E2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D2BF8FF-08A5-45EF-87DD-5C5C700C586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3A1F6F57-E4E7-4B14-A3F4-A204C719EDE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Condition</a:t>
            </a:r>
          </a:p>
        </p:txBody>
      </p:sp>
      <p:sp>
        <p:nvSpPr>
          <p:cNvPr id="4" name="">
            <a:extLst xmlns:a="http://schemas.openxmlformats.org/drawingml/2006/main">
              <a:ext uri="{FF2B5EF4-FFF2-40B4-BE49-F238E27FC236}">
                <a16:creationId xmlns:a16="http://schemas.microsoft.com/office/drawing/2014/main" id="{FBCA25DA-3BD9-4859-8DB1-4ED3514B14B5}"/>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588B2C1-BB74-4055-9C59-19283CEB1468}"/>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Condition</a:t>
            </a:r>
          </a:p>
        </p:txBody>
      </p:sp>
      <p:sp>
        <p:nvSpPr>
          <p:cNvPr id="6" name="">
            <a:extLst xmlns:a="http://schemas.openxmlformats.org/drawingml/2006/main">
              <a:ext uri="{FF2B5EF4-FFF2-40B4-BE49-F238E27FC236}">
                <a16:creationId xmlns:a16="http://schemas.microsoft.com/office/drawing/2014/main" id="{481AF301-ED40-4F1A-90B2-391E018878A5}"/>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True/False question. == compares equality; = assigns. if selects a branch; else handles the other case. A colon starts an indented block.</a:t>
            </a:r>
          </a:p>
        </p:txBody>
      </p:sp>
      <p:sp>
        <p:nvSpPr>
          <p:cNvPr id="7" name="">
            <a:extLst xmlns:a="http://schemas.openxmlformats.org/drawingml/2006/main">
              <a:ext uri="{FF2B5EF4-FFF2-40B4-BE49-F238E27FC236}">
                <a16:creationId xmlns:a16="http://schemas.microsoft.com/office/drawing/2014/main" id="{FDCA75BE-5FC5-423B-B038-EF7A4824CCD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20</a:t>
            </a:r>
          </a:p>
        </p:txBody>
      </p:sp>
    </p:spTree>
    <p:extLst>
      <p:ext uri="{BB962C8B-B14F-4D97-AF65-F5344CB8AC3E}">
        <p14:creationId xmlns:p14="http://schemas.microsoft.com/office/powerpoint/2010/main" val="1507673154"/>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FD03058-2291-4958-86FC-D56ADB01CB0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450EA2C-283A-4DA0-8D24-C4B32EA8659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0E7DDD53-FB69-4A53-BFE6-454D6D33D88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Comparison and logic</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555625">
                <a:tc>
                  <a:txBody>
                    <a:bodyPr/>
                    <a:lstStyle/>
                    <a:p>
                      <a:r>
                        <a:rPr sz="2025" b="1">
                          <a:solidFill>
                            <a:srgbClr val="FFFFFF"/>
                          </a:solidFill>
                          <a:latin typeface="Calibri"/>
                          <a:ea typeface="Calibri"/>
                          <a:cs typeface="Calibri"/>
                        </a:rPr>
                        <a:t>Symbol</a:t>
                      </a:r>
                    </a:p>
                  </a:txBody>
                  <a:tcPr marL="91440" marR="91440" marT="45720" marB="45720">
                    <a:solidFill>
                      <a:srgbClr val="2E7D6F"/>
                    </a:solidFill>
                  </a:tcPr>
                </a:tc>
                <a:tc>
                  <a:txBody>
                    <a:bodyPr/>
                    <a:lstStyle/>
                    <a:p>
                      <a:r>
                        <a:rPr sz="2025" b="1">
                          <a:solidFill>
                            <a:srgbClr val="FFFFFF"/>
                          </a:solidFill>
                          <a:latin typeface="Calibri"/>
                          <a:ea typeface="Calibri"/>
                          <a:cs typeface="Calibri"/>
                        </a:rPr>
                        <a:t>Question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Example result</a:t>
                      </a:r>
                    </a:p>
                  </a:txBody>
                  <a:tcPr marL="91440" marR="91440" marT="45720" marB="45720">
                    <a:solidFill>
                      <a:srgbClr val="2E7D6F"/>
                    </a:solidFill>
                  </a:tcPr>
                </a:tc>
              </a:tr>
              <a:tr h="555625">
                <a:tc>
                  <a:txBody>
                    <a:bodyPr/>
                    <a:lstStyle/>
                    <a:p>
                      <a:r>
                        <a:rPr sz="2025" b="0">
                          <a:solidFill>
                            <a:srgbClr val="1C3144"/>
                          </a:solidFill>
                          <a:latin typeface="Calibri"/>
                          <a:ea typeface="Calibri"/>
                          <a:cs typeface="Calibri"/>
                        </a:rPr>
                        <a:t>==</a:t>
                      </a:r>
                    </a:p>
                  </a:txBody>
                  <a:tcPr marL="91440" marR="91440" marT="45720" marB="45720">
                    <a:solidFill>
                      <a:srgbClr val="EEF3F6"/>
                    </a:solidFill>
                  </a:tcPr>
                </a:tc>
                <a:tc>
                  <a:txBody>
                    <a:bodyPr/>
                    <a:lstStyle/>
                    <a:p>
                      <a:r>
                        <a:rPr sz="2025" b="0">
                          <a:solidFill>
                            <a:srgbClr val="1C3144"/>
                          </a:solidFill>
                          <a:latin typeface="Calibri"/>
                          <a:ea typeface="Calibri"/>
                          <a:cs typeface="Calibri"/>
                        </a:rPr>
                        <a:t>Are values equal?</a:t>
                      </a:r>
                    </a:p>
                  </a:txBody>
                  <a:tcPr marL="91440" marR="91440" marT="45720" marB="45720">
                    <a:solidFill>
                      <a:srgbClr val="EEF3F6"/>
                    </a:solidFill>
                  </a:tcPr>
                </a:tc>
                <a:tc>
                  <a:txBody>
                    <a:bodyPr/>
                    <a:lstStyle/>
                    <a:p>
                      <a:r>
                        <a:rPr sz="2025" b="0">
                          <a:solidFill>
                            <a:srgbClr val="1C3144"/>
                          </a:solidFill>
                          <a:latin typeface="Calibri"/>
                          <a:ea typeface="Calibri"/>
                          <a:cs typeface="Calibri"/>
                        </a:rPr>
                        <a:t>3 == 3 is True</a:t>
                      </a:r>
                    </a:p>
                  </a:txBody>
                  <a:tcPr marL="91440" marR="91440" marT="45720" marB="45720">
                    <a:solidFill>
                      <a:srgbClr val="EEF3F6"/>
                    </a:solidFill>
                  </a:tcPr>
                </a:tc>
              </a:tr>
              <a:tr h="555625">
                <a:tc>
                  <a:txBody>
                    <a:bodyPr/>
                    <a:lstStyle/>
                    <a:p>
                      <a:r>
                        <a:rPr sz="2025" b="0">
                          <a:solidFill>
                            <a:srgbClr val="1C3144"/>
                          </a:solidFill>
                          <a:latin typeface="Calibri"/>
                          <a:ea typeface="Calibri"/>
                          <a:cs typeface="Calibri"/>
                        </a:rPr>
                        <a:t>!=</a:t>
                      </a:r>
                    </a:p>
                  </a:txBody>
                  <a:tcPr marL="91440" marR="91440" marT="45720" marB="45720">
                    <a:solidFill>
                      <a:srgbClr val="FFFFFF"/>
                    </a:solidFill>
                  </a:tcPr>
                </a:tc>
                <a:tc>
                  <a:txBody>
                    <a:bodyPr/>
                    <a:lstStyle/>
                    <a:p>
                      <a:r>
                        <a:rPr sz="2025" b="0">
                          <a:solidFill>
                            <a:srgbClr val="1C3144"/>
                          </a:solidFill>
                          <a:latin typeface="Calibri"/>
                          <a:ea typeface="Calibri"/>
                          <a:cs typeface="Calibri"/>
                        </a:rPr>
                        <a:t>Are values different?</a:t>
                      </a:r>
                    </a:p>
                  </a:txBody>
                  <a:tcPr marL="91440" marR="91440" marT="45720" marB="45720">
                    <a:solidFill>
                      <a:srgbClr val="FFFFFF"/>
                    </a:solidFill>
                  </a:tcPr>
                </a:tc>
                <a:tc>
                  <a:txBody>
                    <a:bodyPr/>
                    <a:lstStyle/>
                    <a:p>
                      <a:r>
                        <a:rPr sz="2025" b="0">
                          <a:solidFill>
                            <a:srgbClr val="1C3144"/>
                          </a:solidFill>
                          <a:latin typeface="Calibri"/>
                          <a:ea typeface="Calibri"/>
                          <a:cs typeface="Calibri"/>
                        </a:rPr>
                        <a:t>3 != 4 is True</a:t>
                      </a:r>
                    </a:p>
                  </a:txBody>
                  <a:tcPr marL="91440" marR="91440" marT="45720" marB="45720">
                    <a:solidFill>
                      <a:srgbClr val="FFFFFF"/>
                    </a:solidFill>
                  </a:tcPr>
                </a:tc>
              </a:tr>
              <a:tr h="555625">
                <a:tc>
                  <a:txBody>
                    <a:bodyPr/>
                    <a:lstStyle/>
                    <a:p>
                      <a:r>
                        <a:rPr sz="2025" b="0">
                          <a:solidFill>
                            <a:srgbClr val="1C3144"/>
                          </a:solidFill>
                          <a:latin typeface="Calibri"/>
                          <a:ea typeface="Calibri"/>
                          <a:cs typeface="Calibri"/>
                        </a:rPr>
                        <a:t>&gt;=</a:t>
                      </a:r>
                    </a:p>
                  </a:txBody>
                  <a:tcPr marL="91440" marR="91440" marT="45720" marB="45720">
                    <a:solidFill>
                      <a:srgbClr val="EEF3F6"/>
                    </a:solidFill>
                  </a:tcPr>
                </a:tc>
                <a:tc>
                  <a:txBody>
                    <a:bodyPr/>
                    <a:lstStyle/>
                    <a:p>
                      <a:r>
                        <a:rPr sz="2025" b="0">
                          <a:solidFill>
                            <a:srgbClr val="1C3144"/>
                          </a:solidFill>
                          <a:latin typeface="Calibri"/>
                          <a:ea typeface="Calibri"/>
                          <a:cs typeface="Calibri"/>
                        </a:rPr>
                        <a:t>At least the limit?</a:t>
                      </a:r>
                    </a:p>
                  </a:txBody>
                  <a:tcPr marL="91440" marR="91440" marT="45720" marB="45720">
                    <a:solidFill>
                      <a:srgbClr val="EEF3F6"/>
                    </a:solidFill>
                  </a:tcPr>
                </a:tc>
                <a:tc>
                  <a:txBody>
                    <a:bodyPr/>
                    <a:lstStyle/>
                    <a:p>
                      <a:r>
                        <a:rPr sz="2025" b="0">
                          <a:solidFill>
                            <a:srgbClr val="1C3144"/>
                          </a:solidFill>
                          <a:latin typeface="Calibri"/>
                          <a:ea typeface="Calibri"/>
                          <a:cs typeface="Calibri"/>
                        </a:rPr>
                        <a:t>3 &gt;= 3 is True</a:t>
                      </a:r>
                    </a:p>
                  </a:txBody>
                  <a:tcPr marL="91440" marR="91440" marT="45720" marB="45720">
                    <a:solidFill>
                      <a:srgbClr val="EEF3F6"/>
                    </a:solidFill>
                  </a:tcPr>
                </a:tc>
              </a:tr>
              <a:tr h="555625">
                <a:tc>
                  <a:txBody>
                    <a:bodyPr/>
                    <a:lstStyle/>
                    <a:p>
                      <a:r>
                        <a:rPr sz="2025" b="0">
                          <a:solidFill>
                            <a:srgbClr val="1C3144"/>
                          </a:solidFill>
                          <a:latin typeface="Calibri"/>
                          <a:ea typeface="Calibri"/>
                          <a:cs typeface="Calibri"/>
                        </a:rPr>
                        <a:t>and</a:t>
                      </a:r>
                    </a:p>
                  </a:txBody>
                  <a:tcPr marL="91440" marR="91440" marT="45720" marB="45720">
                    <a:solidFill>
                      <a:srgbClr val="FFFFFF"/>
                    </a:solidFill>
                  </a:tcPr>
                </a:tc>
                <a:tc>
                  <a:txBody>
                    <a:bodyPr/>
                    <a:lstStyle/>
                    <a:p>
                      <a:r>
                        <a:rPr sz="2025" b="0">
                          <a:solidFill>
                            <a:srgbClr val="1C3144"/>
                          </a:solidFill>
                          <a:latin typeface="Calibri"/>
                          <a:ea typeface="Calibri"/>
                          <a:cs typeface="Calibri"/>
                        </a:rPr>
                        <a:t>Are both conditions true?</a:t>
                      </a:r>
                    </a:p>
                  </a:txBody>
                  <a:tcPr marL="91440" marR="91440" marT="45720" marB="45720">
                    <a:solidFill>
                      <a:srgbClr val="FFFFFF"/>
                    </a:solidFill>
                  </a:tcPr>
                </a:tc>
                <a:tc>
                  <a:txBody>
                    <a:bodyPr/>
                    <a:lstStyle/>
                    <a:p>
                      <a:r>
                        <a:rPr sz="2025" b="0">
                          <a:solidFill>
                            <a:srgbClr val="1C3144"/>
                          </a:solidFill>
                          <a:latin typeface="Calibri"/>
                          <a:ea typeface="Calibri"/>
                          <a:cs typeface="Calibri"/>
                        </a:rPr>
                        <a:t>True and False is False</a:t>
                      </a:r>
                    </a:p>
                  </a:txBody>
                  <a:tcPr marL="91440" marR="91440" marT="45720" marB="45720">
                    <a:solidFill>
                      <a:srgbClr val="FFFFFF"/>
                    </a:solidFill>
                  </a:tcPr>
                </a:tc>
              </a:tr>
              <a:tr h="555625">
                <a:tc>
                  <a:txBody>
                    <a:bodyPr/>
                    <a:lstStyle/>
                    <a:p>
                      <a:r>
                        <a:rPr sz="2025" b="0">
                          <a:solidFill>
                            <a:srgbClr val="1C3144"/>
                          </a:solidFill>
                          <a:latin typeface="Calibri"/>
                          <a:ea typeface="Calibri"/>
                          <a:cs typeface="Calibri"/>
                        </a:rPr>
                        <a:t>or</a:t>
                      </a:r>
                    </a:p>
                  </a:txBody>
                  <a:tcPr marL="91440" marR="91440" marT="45720" marB="45720">
                    <a:solidFill>
                      <a:srgbClr val="EEF3F6"/>
                    </a:solidFill>
                  </a:tcPr>
                </a:tc>
                <a:tc>
                  <a:txBody>
                    <a:bodyPr/>
                    <a:lstStyle/>
                    <a:p>
                      <a:r>
                        <a:rPr sz="2025" b="0">
                          <a:solidFill>
                            <a:srgbClr val="1C3144"/>
                          </a:solidFill>
                          <a:latin typeface="Calibri"/>
                          <a:ea typeface="Calibri"/>
                          <a:cs typeface="Calibri"/>
                        </a:rPr>
                        <a:t>Is either condition 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 or False is True</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F4DB6BD3-2F77-46C5-A788-19EA03DE9637}"/>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An assignment uses =. A comparison uses ==. Capitalise True, False and None.</a:t>
            </a:r>
          </a:p>
        </p:txBody>
      </p:sp>
      <p:sp>
        <p:nvSpPr>
          <p:cNvPr id="6" name="">
            <a:extLst xmlns:a="http://schemas.openxmlformats.org/drawingml/2006/main">
              <a:ext uri="{FF2B5EF4-FFF2-40B4-BE49-F238E27FC236}">
                <a16:creationId xmlns:a16="http://schemas.microsoft.com/office/drawing/2014/main" id="{129A02F8-E1B3-4434-B668-DEF4B5C1595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21</a:t>
            </a:r>
          </a:p>
        </p:txBody>
      </p:sp>
    </p:spTree>
    <p:extLst>
      <p:ext uri="{BB962C8B-B14F-4D97-AF65-F5344CB8AC3E}">
        <p14:creationId xmlns:p14="http://schemas.microsoft.com/office/powerpoint/2010/main" val="1213524623"/>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F5F84BEB-622B-4875-BD7E-AB2FCDD8D03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F05C37A-B21F-4FF7-A8BD-E85B389B66B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D603A9C-D414-4044-9D9B-3B481D79511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decision needs a colon and indentation</a:t>
            </a:r>
          </a:p>
        </p:txBody>
      </p:sp>
      <p:sp>
        <p:nvSpPr>
          <p:cNvPr id="4" name="">
            <a:extLst xmlns:a="http://schemas.openxmlformats.org/drawingml/2006/main">
              <a:ext uri="{FF2B5EF4-FFF2-40B4-BE49-F238E27FC236}">
                <a16:creationId xmlns:a16="http://schemas.microsoft.com/office/drawing/2014/main" id="{A104608B-2251-4C6C-8BF7-ABCD381BC4C9}"/>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5F77C64-A943-48F1-8C01-AF675D60ACAC}"/>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temperature = 28</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temperature &gt;=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print("warm")</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else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print("below 30")</a:t>
            </a:r>
          </a:p>
        </p:txBody>
      </p:sp>
      <p:sp>
        <p:nvSpPr>
          <p:cNvPr id="6" name="">
            <a:extLst xmlns:a="http://schemas.openxmlformats.org/drawingml/2006/main">
              <a:ext uri="{FF2B5EF4-FFF2-40B4-BE49-F238E27FC236}">
                <a16:creationId xmlns:a16="http://schemas.microsoft.com/office/drawing/2014/main" id="{C2485A8B-3561-4299-B30C-E841A1B30FB7}"/>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9C8D67AB-4141-4D0B-9E82-24BD41388C79}"/>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8" name="">
            <a:extLst xmlns:a="http://schemas.openxmlformats.org/drawingml/2006/main">
              <a:ext uri="{FF2B5EF4-FFF2-40B4-BE49-F238E27FC236}">
                <a16:creationId xmlns:a16="http://schemas.microsoft.com/office/drawing/2014/main" id="{420F5B4A-E787-4F6D-B0A8-5B7863798DE6}"/>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C9652BBD-9684-4BEB-AE47-80FEB8377886}"/>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00053339-E944-4C58-895F-C3A5D71B557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&gt;= compares values. Only the chosen indented block runs.</a:t>
            </a:r>
          </a:p>
        </p:txBody>
      </p:sp>
      <p:sp>
        <p:nvSpPr>
          <p:cNvPr id="11" name="">
            <a:extLst xmlns:a="http://schemas.openxmlformats.org/drawingml/2006/main">
              <a:ext uri="{FF2B5EF4-FFF2-40B4-BE49-F238E27FC236}">
                <a16:creationId xmlns:a16="http://schemas.microsoft.com/office/drawing/2014/main" id="{0F62FDCB-ABC4-4487-8F98-918F941F9CE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22</a:t>
            </a:r>
          </a:p>
        </p:txBody>
      </p:sp>
    </p:spTree>
    <p:extLst>
      <p:ext uri="{BB962C8B-B14F-4D97-AF65-F5344CB8AC3E}">
        <p14:creationId xmlns:p14="http://schemas.microsoft.com/office/powerpoint/2010/main" val="1627678688"/>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9C30C34-A0CC-4E15-B398-B8162DD978B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BC95AE6-08E9-4A8E-8879-206229AC047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43FF4EA5-4F04-4182-8DBD-20D10959F97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Function</a:t>
            </a:r>
          </a:p>
        </p:txBody>
      </p:sp>
      <p:sp>
        <p:nvSpPr>
          <p:cNvPr id="4" name="">
            <a:extLst xmlns:a="http://schemas.openxmlformats.org/drawingml/2006/main">
              <a:ext uri="{FF2B5EF4-FFF2-40B4-BE49-F238E27FC236}">
                <a16:creationId xmlns:a16="http://schemas.microsoft.com/office/drawing/2014/main" id="{E4E17405-8DE7-49E6-AE5F-9D67AD655209}"/>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BA974F3-F5BB-4D73-BF7A-12F2DEF67635}"/>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Function</a:t>
            </a:r>
          </a:p>
        </p:txBody>
      </p:sp>
      <p:sp>
        <p:nvSpPr>
          <p:cNvPr id="6" name="">
            <a:extLst xmlns:a="http://schemas.openxmlformats.org/drawingml/2006/main">
              <a:ext uri="{FF2B5EF4-FFF2-40B4-BE49-F238E27FC236}">
                <a16:creationId xmlns:a16="http://schemas.microsoft.com/office/drawing/2014/main" id="{C0F0086C-D519-4F31-A59A-58F2769E4F56}"/>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named, reusable calculation or procedure. def introduces its definition. Parameters are the names for its inputs; arguments are the values supplied when calling it.</a:t>
            </a:r>
          </a:p>
        </p:txBody>
      </p:sp>
      <p:sp>
        <p:nvSpPr>
          <p:cNvPr id="7" name="">
            <a:extLst xmlns:a="http://schemas.openxmlformats.org/drawingml/2006/main">
              <a:ext uri="{FF2B5EF4-FFF2-40B4-BE49-F238E27FC236}">
                <a16:creationId xmlns:a16="http://schemas.microsoft.com/office/drawing/2014/main" id="{F5753396-9F30-4564-9D52-C8DF90BA86D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23</a:t>
            </a:r>
          </a:p>
        </p:txBody>
      </p:sp>
    </p:spTree>
    <p:extLst>
      <p:ext uri="{BB962C8B-B14F-4D97-AF65-F5344CB8AC3E}">
        <p14:creationId xmlns:p14="http://schemas.microsoft.com/office/powerpoint/2010/main" val="1542080484"/>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B943F21-09D8-46F0-A865-F48F2D9AC2B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9363438-CEAD-49E4-B0D7-E086F1422B3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F0446528-8488-4B86-8E1E-FDC3FE31474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Indentation and return</a:t>
            </a:r>
          </a:p>
        </p:txBody>
      </p:sp>
      <p:sp>
        <p:nvSpPr>
          <p:cNvPr id="4" name="">
            <a:extLst xmlns:a="http://schemas.openxmlformats.org/drawingml/2006/main">
              <a:ext uri="{FF2B5EF4-FFF2-40B4-BE49-F238E27FC236}">
                <a16:creationId xmlns:a16="http://schemas.microsoft.com/office/drawing/2014/main" id="{A6AA4776-C6D6-45D3-A988-6B16433B6D4B}"/>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87073AD-FFD3-4AFB-A54C-0D8E20E7DE6B}"/>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Indentation and return</a:t>
            </a:r>
          </a:p>
        </p:txBody>
      </p:sp>
      <p:sp>
        <p:nvSpPr>
          <p:cNvPr id="6" name="">
            <a:extLst xmlns:a="http://schemas.openxmlformats.org/drawingml/2006/main">
              <a:ext uri="{FF2B5EF4-FFF2-40B4-BE49-F238E27FC236}">
                <a16:creationId xmlns:a16="http://schemas.microsoft.com/office/drawing/2014/main" id="{3E0E5DB1-8372-445A-89B9-0FB4E122EDFA}"/>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Spaces at the start of a line group the function body. return hands a result to the calling code. print displays a value and returns None.</a:t>
            </a:r>
          </a:p>
        </p:txBody>
      </p:sp>
      <p:sp>
        <p:nvSpPr>
          <p:cNvPr id="7" name="">
            <a:extLst xmlns:a="http://schemas.openxmlformats.org/drawingml/2006/main">
              <a:ext uri="{FF2B5EF4-FFF2-40B4-BE49-F238E27FC236}">
                <a16:creationId xmlns:a16="http://schemas.microsoft.com/office/drawing/2014/main" id="{540ED796-9EFE-4E64-A4ED-239F5F49473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24</a:t>
            </a:r>
          </a:p>
        </p:txBody>
      </p:sp>
    </p:spTree>
    <p:extLst>
      <p:ext uri="{BB962C8B-B14F-4D97-AF65-F5344CB8AC3E}">
        <p14:creationId xmlns:p14="http://schemas.microsoft.com/office/powerpoint/2010/main" val="656765755"/>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603D8E6-D179-461B-A605-B27F6CF10FA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4BE239E-15C7-4739-B473-CF22B950DEC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8B3446B-77FA-44D3-A736-FA4827B9E7A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function definition and a call</a:t>
            </a:r>
          </a:p>
        </p:txBody>
      </p:sp>
      <p:sp>
        <p:nvSpPr>
          <p:cNvPr id="4" name="">
            <a:extLst xmlns:a="http://schemas.openxmlformats.org/drawingml/2006/main">
              <a:ext uri="{FF2B5EF4-FFF2-40B4-BE49-F238E27FC236}">
                <a16:creationId xmlns:a16="http://schemas.microsoft.com/office/drawing/2014/main" id="{100EC5D2-EDD3-40BC-9504-58553CB8E26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3EB66CC-3799-4B97-B82C-5A1530BB5CDE}"/>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def gives a reusable calculation a name and inputs.</a:t>
            </a:r>
          </a:p>
        </p:txBody>
      </p:sp>
      <p:sp>
        <p:nvSpPr>
          <p:cNvPr id="6" name="">
            <a:extLst xmlns:a="http://schemas.openxmlformats.org/drawingml/2006/main">
              <a:ext uri="{FF2B5EF4-FFF2-40B4-BE49-F238E27FC236}">
                <a16:creationId xmlns:a16="http://schemas.microsoft.com/office/drawing/2014/main" id="{607539E8-D8F1-4452-9B1B-1B9FC90CA835}"/>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DF78CF1-6479-4F6F-A110-096F2F8DD6F0}"/>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Defining a function remembers the instructions.</a:t>
            </a:r>
          </a:p>
        </p:txBody>
      </p:sp>
      <p:sp>
        <p:nvSpPr>
          <p:cNvPr id="8" name="">
            <a:extLst xmlns:a="http://schemas.openxmlformats.org/drawingml/2006/main">
              <a:ext uri="{FF2B5EF4-FFF2-40B4-BE49-F238E27FC236}">
                <a16:creationId xmlns:a16="http://schemas.microsoft.com/office/drawing/2014/main" id="{022E858A-8203-411D-892B-0DF914CE3F39}"/>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57DF811-1983-4928-BA95-339BD9B700E0}"/>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Calling the function runs those instructions with values.</a:t>
            </a:r>
          </a:p>
        </p:txBody>
      </p:sp>
      <p:sp>
        <p:nvSpPr>
          <p:cNvPr id="10" name="">
            <a:extLst xmlns:a="http://schemas.openxmlformats.org/drawingml/2006/main">
              <a:ext uri="{FF2B5EF4-FFF2-40B4-BE49-F238E27FC236}">
                <a16:creationId xmlns:a16="http://schemas.microsoft.com/office/drawing/2014/main" id="{5B1F0852-09E9-4221-8F40-50BE6A4CE1BD}"/>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BA16B26-A48B-4C28-B6EB-D6613F06075E}"/>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return sends the result back to the caller.</a:t>
            </a:r>
          </a:p>
        </p:txBody>
      </p:sp>
      <p:sp>
        <p:nvSpPr>
          <p:cNvPr id="12" name="">
            <a:extLst xmlns:a="http://schemas.openxmlformats.org/drawingml/2006/main">
              <a:ext uri="{FF2B5EF4-FFF2-40B4-BE49-F238E27FC236}">
                <a16:creationId xmlns:a16="http://schemas.microsoft.com/office/drawing/2014/main" id="{3239C3EA-4A9E-44BB-985E-DB1CA89B155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25</a:t>
            </a:r>
          </a:p>
        </p:txBody>
      </p:sp>
    </p:spTree>
    <p:extLst>
      <p:ext uri="{BB962C8B-B14F-4D97-AF65-F5344CB8AC3E}">
        <p14:creationId xmlns:p14="http://schemas.microsoft.com/office/powerpoint/2010/main" val="808507545"/>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B606AA7-1504-4FB1-90F7-1405670CB3F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048C5AF-F988-4611-B52A-85A75436BA0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96A151B-8D8C-4116-A604-D634241A248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calculation has inputs and an answer</a:t>
            </a:r>
          </a:p>
        </p:txBody>
      </p:sp>
      <p:sp>
        <p:nvSpPr>
          <p:cNvPr id="4" name="">
            <a:extLst xmlns:a="http://schemas.openxmlformats.org/drawingml/2006/main">
              <a:ext uri="{FF2B5EF4-FFF2-40B4-BE49-F238E27FC236}">
                <a16:creationId xmlns:a16="http://schemas.microsoft.com/office/drawing/2014/main" id="{58870D0E-F5AB-47E3-A5B3-B2BA861D526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DDFC3EA-B2CA-41F9-91CE-E3F7EF57837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Inputs are the values supplied to a calculation.</a:t>
            </a:r>
          </a:p>
        </p:txBody>
      </p:sp>
      <p:sp>
        <p:nvSpPr>
          <p:cNvPr id="6" name="">
            <a:extLst xmlns:a="http://schemas.openxmlformats.org/drawingml/2006/main">
              <a:ext uri="{FF2B5EF4-FFF2-40B4-BE49-F238E27FC236}">
                <a16:creationId xmlns:a16="http://schemas.microsoft.com/office/drawing/2014/main" id="{59762628-216D-44EC-919B-EF0365504AFD}"/>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FA043FE-C139-4FAC-8A86-D290E6F4018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operation combines them, such as length multiplied by width.</a:t>
            </a:r>
          </a:p>
        </p:txBody>
      </p:sp>
      <p:sp>
        <p:nvSpPr>
          <p:cNvPr id="8" name="">
            <a:extLst xmlns:a="http://schemas.openxmlformats.org/drawingml/2006/main">
              <a:ext uri="{FF2B5EF4-FFF2-40B4-BE49-F238E27FC236}">
                <a16:creationId xmlns:a16="http://schemas.microsoft.com/office/drawing/2014/main" id="{50FDF742-1487-43DB-9066-B61BB3F3142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65FCBC3-57C3-4F66-A525-4B617C0B9D4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result needs a unit, such as square metres.</a:t>
            </a:r>
          </a:p>
        </p:txBody>
      </p:sp>
      <p:sp>
        <p:nvSpPr>
          <p:cNvPr id="10" name="">
            <a:extLst xmlns:a="http://schemas.openxmlformats.org/drawingml/2006/main">
              <a:ext uri="{FF2B5EF4-FFF2-40B4-BE49-F238E27FC236}">
                <a16:creationId xmlns:a16="http://schemas.microsoft.com/office/drawing/2014/main" id="{D1C59958-B826-4749-AF2E-044AAB22D94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26</a:t>
            </a:r>
          </a:p>
        </p:txBody>
      </p:sp>
    </p:spTree>
    <p:extLst>
      <p:ext uri="{BB962C8B-B14F-4D97-AF65-F5344CB8AC3E}">
        <p14:creationId xmlns:p14="http://schemas.microsoft.com/office/powerpoint/2010/main" val="567627373"/>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1C0C7C9-BB6D-40E9-97EC-0017FD961F0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AB48586-A09F-4CFB-994E-9F56D64AA72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6C9A261-1CC1-472F-B30E-CC508055342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reusable calculation</a:t>
            </a:r>
          </a:p>
        </p:txBody>
      </p:sp>
      <p:sp>
        <p:nvSpPr>
          <p:cNvPr id="4" name="">
            <a:extLst xmlns:a="http://schemas.openxmlformats.org/drawingml/2006/main">
              <a:ext uri="{FF2B5EF4-FFF2-40B4-BE49-F238E27FC236}">
                <a16:creationId xmlns:a16="http://schemas.microsoft.com/office/drawing/2014/main" id="{2E3AE05B-48DC-4630-B163-3D91DF9FFD0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756F341-EBDE-4B9B-8EB8-40D8B07A286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def begins a function definition. The name identifies the calculation.</a:t>
            </a:r>
          </a:p>
        </p:txBody>
      </p:sp>
      <p:sp>
        <p:nvSpPr>
          <p:cNvPr id="6" name="">
            <a:extLst xmlns:a="http://schemas.openxmlformats.org/drawingml/2006/main">
              <a:ext uri="{FF2B5EF4-FFF2-40B4-BE49-F238E27FC236}">
                <a16:creationId xmlns:a16="http://schemas.microsoft.com/office/drawing/2014/main" id="{091722E6-C972-43FE-A574-2EDB1A1542B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2BF3018-E4C4-4338-B411-7F58DF67234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Parameters are names for the inputs. A colon and indentation mark the body.</a:t>
            </a:r>
          </a:p>
        </p:txBody>
      </p:sp>
      <p:sp>
        <p:nvSpPr>
          <p:cNvPr id="8" name="">
            <a:extLst xmlns:a="http://schemas.openxmlformats.org/drawingml/2006/main">
              <a:ext uri="{FF2B5EF4-FFF2-40B4-BE49-F238E27FC236}">
                <a16:creationId xmlns:a16="http://schemas.microsoft.com/office/drawing/2014/main" id="{423B6F99-FBF3-406C-BE53-B18156A69F7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3D5C224-CAD6-41F6-8CF8-83A970821200}"/>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return sends a result back when the function is called.</a:t>
            </a:r>
          </a:p>
        </p:txBody>
      </p:sp>
      <p:sp>
        <p:nvSpPr>
          <p:cNvPr id="10" name="">
            <a:extLst xmlns:a="http://schemas.openxmlformats.org/drawingml/2006/main">
              <a:ext uri="{FF2B5EF4-FFF2-40B4-BE49-F238E27FC236}">
                <a16:creationId xmlns:a16="http://schemas.microsoft.com/office/drawing/2014/main" id="{FDC7B8D3-EC1F-4CB8-BAD9-416C4C79077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27</a:t>
            </a:r>
          </a:p>
        </p:txBody>
      </p:sp>
    </p:spTree>
    <p:extLst>
      <p:ext uri="{BB962C8B-B14F-4D97-AF65-F5344CB8AC3E}">
        <p14:creationId xmlns:p14="http://schemas.microsoft.com/office/powerpoint/2010/main" val="417867793"/>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86A9BA1-BA36-4F65-846F-148AA0A99A74}"/>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5F475BB-653B-449B-8559-26D95004E031}"/>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Inputs, instructions and a returned result</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8ab4b28d3eee411e"/>
          <a:stretch xmlns:a="http://schemas.openxmlformats.org/drawingml/2006/main"/>
        </p:blipFill>
        <p:spPr>
          <a:xfrm xmlns:a="http://schemas.openxmlformats.org/drawingml/2006/main">
            <a:off x="561045" y="1057275"/>
            <a:ext cx="11069911"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31C7B243-568E-4510-92D8-C9797A2C992E}"/>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A8CE661-1C1E-43D3-BC07-9B49B74552D7}"/>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The function body runs when we call the function.</a:t>
            </a:r>
          </a:p>
        </p:txBody>
      </p:sp>
      <p:sp>
        <p:nvSpPr>
          <p:cNvPr id="6" name="">
            <a:extLst xmlns:a="http://schemas.openxmlformats.org/drawingml/2006/main">
              <a:ext uri="{FF2B5EF4-FFF2-40B4-BE49-F238E27FC236}">
                <a16:creationId xmlns:a16="http://schemas.microsoft.com/office/drawing/2014/main" id="{3B375603-BA6F-4C30-B6A6-37838044473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28</a:t>
            </a:r>
          </a:p>
        </p:txBody>
      </p:sp>
    </p:spTree>
    <p:extLst>
      <p:ext uri="{BB962C8B-B14F-4D97-AF65-F5344CB8AC3E}">
        <p14:creationId xmlns:p14="http://schemas.microsoft.com/office/powerpoint/2010/main" val="48160375"/>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9ADA8A0-8E7A-4B01-A608-1DD509DD08D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A89683E-497D-4B59-ADAE-31A0A3A7647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578E407-BC50-4D33-86B6-BE6E388226B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Following a function call</a:t>
            </a:r>
          </a:p>
        </p:txBody>
      </p:sp>
      <p:sp>
        <p:nvSpPr>
          <p:cNvPr id="4" name="">
            <a:extLst xmlns:a="http://schemas.openxmlformats.org/drawingml/2006/main">
              <a:ext uri="{FF2B5EF4-FFF2-40B4-BE49-F238E27FC236}">
                <a16:creationId xmlns:a16="http://schemas.microsoft.com/office/drawing/2014/main" id="{AF9F6BAE-FF6C-4D27-9C7B-04167C5C1CC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61DC934-83D4-475C-A1F2-7FE2C70C4D2E}"/>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double_value(4) puts 4 into the parameter x.</a:t>
            </a:r>
          </a:p>
        </p:txBody>
      </p:sp>
      <p:sp>
        <p:nvSpPr>
          <p:cNvPr id="6" name="">
            <a:extLst xmlns:a="http://schemas.openxmlformats.org/drawingml/2006/main">
              <a:ext uri="{FF2B5EF4-FFF2-40B4-BE49-F238E27FC236}">
                <a16:creationId xmlns:a16="http://schemas.microsoft.com/office/drawing/2014/main" id="{AA9E095A-513B-4C51-BCC4-5F068785FEF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C59A026-1DE6-4DDF-8755-F222E52C7DFC}"/>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 * 2 calculates 8. return passes 8 back.</a:t>
            </a:r>
          </a:p>
        </p:txBody>
      </p:sp>
      <p:sp>
        <p:nvSpPr>
          <p:cNvPr id="8" name="">
            <a:extLst xmlns:a="http://schemas.openxmlformats.org/drawingml/2006/main">
              <a:ext uri="{FF2B5EF4-FFF2-40B4-BE49-F238E27FC236}">
                <a16:creationId xmlns:a16="http://schemas.microsoft.com/office/drawing/2014/main" id="{6ECF1EBA-9040-4D45-8A8E-89C508D25BB4}"/>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33C1981-322B-4DAB-8AB7-DD2357623FDB}"/>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print displays that returned value. A guard can return early when an input is invalid.</a:t>
            </a:r>
          </a:p>
        </p:txBody>
      </p:sp>
      <p:sp>
        <p:nvSpPr>
          <p:cNvPr id="10" name="">
            <a:extLst xmlns:a="http://schemas.openxmlformats.org/drawingml/2006/main">
              <a:ext uri="{FF2B5EF4-FFF2-40B4-BE49-F238E27FC236}">
                <a16:creationId xmlns:a16="http://schemas.microsoft.com/office/drawing/2014/main" id="{A0B8F2FF-862A-4A5F-A298-5CDF157EC7A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29</a:t>
            </a:r>
          </a:p>
        </p:txBody>
      </p:sp>
    </p:spTree>
    <p:extLst>
      <p:ext uri="{BB962C8B-B14F-4D97-AF65-F5344CB8AC3E}">
        <p14:creationId xmlns:p14="http://schemas.microsoft.com/office/powerpoint/2010/main" val="1183239608"/>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F9BF7E2-7D5B-4A43-A16F-7ED95118397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076BF8A-ADA4-4F54-B36C-519C0B8A120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73F27DF-7659-4986-AAE5-76BB01C0533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Worked example</a:t>
            </a:r>
          </a:p>
        </p:txBody>
      </p:sp>
      <p:sp>
        <p:nvSpPr>
          <p:cNvPr id="4" name="">
            <a:extLst xmlns:a="http://schemas.openxmlformats.org/drawingml/2006/main">
              <a:ext uri="{FF2B5EF4-FFF2-40B4-BE49-F238E27FC236}">
                <a16:creationId xmlns:a16="http://schemas.microsoft.com/office/drawing/2014/main" id="{30E35A0B-F67B-474B-9723-F45E7AD0F66F}"/>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DD56809-617F-4A03-ADA5-A7202C511AA3}"/>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def</a:t>
            </a:r>
            <a:r>
              <a:rPr sz="2175" b="0">
                <a:solidFill>
                  <a:srgbClr val="F4F7FA"/>
                </a:solidFill>
                <a:latin typeface="Courier New"/>
                <a:ea typeface="Courier New"/>
                <a:cs typeface="Courier New"/>
              </a:rPr>
              <a:t> double_value(x):</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return</a:t>
            </a:r>
            <a:r>
              <a:rPr sz="2175" b="0">
                <a:solidFill>
                  <a:srgbClr val="F4F7FA"/>
                </a:solidFill>
                <a:latin typeface="Courier New"/>
                <a:ea typeface="Courier New"/>
                <a:cs typeface="Courier New"/>
              </a:rPr>
              <a:t> x * 2</a:t>
            </a:r>
          </a:p>
        </p:txBody>
      </p:sp>
      <p:sp>
        <p:nvSpPr>
          <p:cNvPr id="6" name="">
            <a:extLst xmlns:a="http://schemas.openxmlformats.org/drawingml/2006/main">
              <a:ext uri="{FF2B5EF4-FFF2-40B4-BE49-F238E27FC236}">
                <a16:creationId xmlns:a16="http://schemas.microsoft.com/office/drawing/2014/main" id="{8B1071E7-CAC5-4ED1-8C17-8D714063E115}"/>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2B283180-26D9-458F-A948-BF22B5FA1008}"/>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def names the function. Inputs go inside parentheses.</a:t>
            </a:r>
          </a:p>
        </p:txBody>
      </p:sp>
      <p:sp>
        <p:nvSpPr>
          <p:cNvPr id="8" name="">
            <a:extLst xmlns:a="http://schemas.openxmlformats.org/drawingml/2006/main">
              <a:ext uri="{FF2B5EF4-FFF2-40B4-BE49-F238E27FC236}">
                <a16:creationId xmlns:a16="http://schemas.microsoft.com/office/drawing/2014/main" id="{9D9A987F-11CF-437C-BE05-75E4CD015334}"/>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return sends the result back to the caller.</a:t>
            </a:r>
          </a:p>
        </p:txBody>
      </p:sp>
      <p:sp>
        <p:nvSpPr>
          <p:cNvPr id="9" name="">
            <a:extLst xmlns:a="http://schemas.openxmlformats.org/drawingml/2006/main">
              <a:ext uri="{FF2B5EF4-FFF2-40B4-BE49-F238E27FC236}">
                <a16:creationId xmlns:a16="http://schemas.microsoft.com/office/drawing/2014/main" id="{5DCBB8F3-31DE-4A42-8704-4530C26F7E1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10" name="">
            <a:extLst xmlns:a="http://schemas.openxmlformats.org/drawingml/2006/main">
              <a:ext uri="{FF2B5EF4-FFF2-40B4-BE49-F238E27FC236}">
                <a16:creationId xmlns:a16="http://schemas.microsoft.com/office/drawing/2014/main" id="{A9CD2096-F90F-47C2-A94A-386D0B30134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30</a:t>
            </a:r>
          </a:p>
        </p:txBody>
      </p:sp>
    </p:spTree>
    <p:extLst>
      <p:ext uri="{BB962C8B-B14F-4D97-AF65-F5344CB8AC3E}">
        <p14:creationId xmlns:p14="http://schemas.microsoft.com/office/powerpoint/2010/main" val="777692883"/>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EC2C1B7-E05D-4AF4-9AE7-A46B847DAA3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0BE2964-AFAD-4B3A-A0EB-77F711E1858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BAC3E45-1EAB-43BF-B4AB-59CE354FE9C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Worked example continued</a:t>
            </a:r>
          </a:p>
        </p:txBody>
      </p:sp>
      <p:sp>
        <p:nvSpPr>
          <p:cNvPr id="4" name="">
            <a:extLst xmlns:a="http://schemas.openxmlformats.org/drawingml/2006/main">
              <a:ext uri="{FF2B5EF4-FFF2-40B4-BE49-F238E27FC236}">
                <a16:creationId xmlns:a16="http://schemas.microsoft.com/office/drawing/2014/main" id="{0B1E70BF-FC7C-4E03-AD15-D2E78554EDDB}"/>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D4BF356-00EB-4419-B732-79D23DA28FDA}"/>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print(double_value(4))</a:t>
            </a:r>
          </a:p>
        </p:txBody>
      </p:sp>
      <p:sp>
        <p:nvSpPr>
          <p:cNvPr id="6" name="">
            <a:extLst xmlns:a="http://schemas.openxmlformats.org/drawingml/2006/main">
              <a:ext uri="{FF2B5EF4-FFF2-40B4-BE49-F238E27FC236}">
                <a16:creationId xmlns:a16="http://schemas.microsoft.com/office/drawing/2014/main" id="{D2D0C2CA-FD1A-4385-96A5-411823A66805}"/>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262EFA44-A7C9-496B-B3EB-359C0A8430ED}"/>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51E34BF4-9AE7-49DF-B418-B5B64EFF775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9" name="">
            <a:extLst xmlns:a="http://schemas.openxmlformats.org/drawingml/2006/main">
              <a:ext uri="{FF2B5EF4-FFF2-40B4-BE49-F238E27FC236}">
                <a16:creationId xmlns:a16="http://schemas.microsoft.com/office/drawing/2014/main" id="{7278AF60-26CD-4D85-AB37-A53CAD6D87D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31</a:t>
            </a:r>
          </a:p>
        </p:txBody>
      </p:sp>
    </p:spTree>
    <p:extLst>
      <p:ext uri="{BB962C8B-B14F-4D97-AF65-F5344CB8AC3E}">
        <p14:creationId xmlns:p14="http://schemas.microsoft.com/office/powerpoint/2010/main" val="1783195652"/>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7ABEC6A5-B9FB-4845-91C8-8306A893287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2681F39-7F33-4619-AE93-E1AB9EAC4DD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F4FF02C-2CB7-4A62-83C4-20EE652DE12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Positional and named inputs</a:t>
            </a:r>
          </a:p>
        </p:txBody>
      </p:sp>
      <p:sp>
        <p:nvSpPr>
          <p:cNvPr id="4" name="">
            <a:extLst xmlns:a="http://schemas.openxmlformats.org/drawingml/2006/main">
              <a:ext uri="{FF2B5EF4-FFF2-40B4-BE49-F238E27FC236}">
                <a16:creationId xmlns:a16="http://schemas.microsoft.com/office/drawing/2014/main" id="{0A0257E6-97D7-4D7D-A46C-02C7AB33571C}"/>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63C6CD9-22A2-4924-83DE-C1AA9E44F417}"/>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90" b="0">
                <a:solidFill>
                  <a:srgbClr val="F4F7FA"/>
                </a:solidFill>
                <a:latin typeface="Courier New"/>
                <a:ea typeface="Courier New"/>
                <a:cs typeface="Courier New"/>
              </a:defRPr>
            </a:pPr>
            <a:r>
              <a:rPr sz="2090" b="0">
                <a:solidFill>
                  <a:srgbClr val="FFB080"/>
                </a:solidFill>
                <a:latin typeface="Courier New"/>
                <a:ea typeface="Courier New"/>
                <a:cs typeface="Courier New"/>
              </a:rPr>
              <a:t>def</a:t>
            </a:r>
            <a:r>
              <a:rPr sz="2090" b="0">
                <a:solidFill>
                  <a:srgbClr val="F4F7FA"/>
                </a:solidFill>
                <a:latin typeface="Courier New"/>
                <a:ea typeface="Courier New"/>
                <a:cs typeface="Courier New"/>
              </a:rPr>
              <a:t> rectangle_area(length, width):</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    </a:t>
            </a:r>
            <a:r>
              <a:rPr sz="2090" b="0">
                <a:solidFill>
                  <a:srgbClr val="FFB080"/>
                </a:solidFill>
                <a:latin typeface="Courier New"/>
                <a:ea typeface="Courier New"/>
                <a:cs typeface="Courier New"/>
              </a:rPr>
              <a:t>return</a:t>
            </a:r>
            <a:r>
              <a:rPr sz="2090" b="0">
                <a:solidFill>
                  <a:srgbClr val="F4F7FA"/>
                </a:solidFill>
                <a:latin typeface="Courier New"/>
                <a:ea typeface="Courier New"/>
                <a:cs typeface="Courier New"/>
              </a:rPr>
              <a:t> length * width</a:t>
            </a:r>
          </a:p>
          <a:p xmlns:a="http://schemas.openxmlformats.org/drawingml/2006/main">
            <a:r>
              <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print(rectangle_area(3, 2))</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print(rectangle_area(width=2, length=3))</a:t>
            </a:r>
          </a:p>
        </p:txBody>
      </p:sp>
      <p:sp>
        <p:nvSpPr>
          <p:cNvPr id="6" name="">
            <a:extLst xmlns:a="http://schemas.openxmlformats.org/drawingml/2006/main">
              <a:ext uri="{FF2B5EF4-FFF2-40B4-BE49-F238E27FC236}">
                <a16:creationId xmlns:a16="http://schemas.microsoft.com/office/drawing/2014/main" id="{029E599E-936F-4D0E-AD13-59C2C6DB45EA}"/>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618711C8-A1BE-47D9-9D4F-9C006A055611}"/>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def names the function. Inputs go inside parentheses.</a:t>
            </a:r>
          </a:p>
        </p:txBody>
      </p:sp>
      <p:sp>
        <p:nvSpPr>
          <p:cNvPr id="8" name="">
            <a:extLst xmlns:a="http://schemas.openxmlformats.org/drawingml/2006/main">
              <a:ext uri="{FF2B5EF4-FFF2-40B4-BE49-F238E27FC236}">
                <a16:creationId xmlns:a16="http://schemas.microsoft.com/office/drawing/2014/main" id="{E530795B-0AE9-4057-9243-70909083C82D}"/>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return sends the result back to the caller.</a:t>
            </a:r>
          </a:p>
        </p:txBody>
      </p:sp>
      <p:sp>
        <p:nvSpPr>
          <p:cNvPr id="9" name="">
            <a:extLst xmlns:a="http://schemas.openxmlformats.org/drawingml/2006/main">
              <a:ext uri="{FF2B5EF4-FFF2-40B4-BE49-F238E27FC236}">
                <a16:creationId xmlns:a16="http://schemas.microsoft.com/office/drawing/2014/main" id="{25D1C7F0-72F4-4AE7-BC76-1C38A9F1705B}"/>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10" name="">
            <a:extLst xmlns:a="http://schemas.openxmlformats.org/drawingml/2006/main">
              <a:ext uri="{FF2B5EF4-FFF2-40B4-BE49-F238E27FC236}">
                <a16:creationId xmlns:a16="http://schemas.microsoft.com/office/drawing/2014/main" id="{A320EEF6-5396-4D1A-8C2D-68D2A44CA5E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Both calls supply the same inputs. return makes the result reusable.</a:t>
            </a:r>
          </a:p>
        </p:txBody>
      </p:sp>
      <p:sp>
        <p:nvSpPr>
          <p:cNvPr id="11" name="">
            <a:extLst xmlns:a="http://schemas.openxmlformats.org/drawingml/2006/main">
              <a:ext uri="{FF2B5EF4-FFF2-40B4-BE49-F238E27FC236}">
                <a16:creationId xmlns:a16="http://schemas.microsoft.com/office/drawing/2014/main" id="{EB525AC0-7011-4D86-BAE0-C80803437DF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32</a:t>
            </a:r>
          </a:p>
        </p:txBody>
      </p:sp>
    </p:spTree>
    <p:extLst>
      <p:ext uri="{BB962C8B-B14F-4D97-AF65-F5344CB8AC3E}">
        <p14:creationId xmlns:p14="http://schemas.microsoft.com/office/powerpoint/2010/main" val="2038247801"/>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AC31E038-F070-4A09-B03F-5A225A9B82B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7A2A8B8-993A-4A8D-9141-F791427D841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AF033913-6B7E-4BB6-BE6D-C21BB377549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Worked example continued</a:t>
            </a:r>
          </a:p>
        </p:txBody>
      </p:sp>
      <p:sp>
        <p:nvSpPr>
          <p:cNvPr id="4" name="">
            <a:extLst xmlns:a="http://schemas.openxmlformats.org/drawingml/2006/main">
              <a:ext uri="{FF2B5EF4-FFF2-40B4-BE49-F238E27FC236}">
                <a16:creationId xmlns:a16="http://schemas.microsoft.com/office/drawing/2014/main" id="{EE0CEFCB-9C51-45F3-A9C5-9F6C30FF46B8}"/>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CC282C3-6D7E-4F14-8E07-B4C4A394A2C7}"/>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def</a:t>
            </a:r>
            <a:r>
              <a:rPr sz="2175" b="0">
                <a:solidFill>
                  <a:srgbClr val="F4F7FA"/>
                </a:solidFill>
                <a:latin typeface="Courier New"/>
                <a:ea typeface="Courier New"/>
                <a:cs typeface="Courier New"/>
              </a:rPr>
              <a:t> safe_share(total, people):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people == 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return</a:t>
            </a: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None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return total / people</a:t>
            </a:r>
          </a:p>
        </p:txBody>
      </p:sp>
      <p:sp>
        <p:nvSpPr>
          <p:cNvPr id="6" name="">
            <a:extLst xmlns:a="http://schemas.openxmlformats.org/drawingml/2006/main">
              <a:ext uri="{FF2B5EF4-FFF2-40B4-BE49-F238E27FC236}">
                <a16:creationId xmlns:a16="http://schemas.microsoft.com/office/drawing/2014/main" id="{67EBF57F-4B88-4AE9-8F30-5ADB6A091950}"/>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20D0E93C-7B55-4CC8-8EB9-C589A295DE3C}"/>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def names the function. Inputs go inside parentheses.</a:t>
            </a:r>
          </a:p>
        </p:txBody>
      </p:sp>
      <p:sp>
        <p:nvSpPr>
          <p:cNvPr id="8" name="">
            <a:extLst xmlns:a="http://schemas.openxmlformats.org/drawingml/2006/main">
              <a:ext uri="{FF2B5EF4-FFF2-40B4-BE49-F238E27FC236}">
                <a16:creationId xmlns:a16="http://schemas.microsoft.com/office/drawing/2014/main" id="{2C018078-1009-4EFD-8210-15AB925EF958}"/>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24003AB9-9217-4069-A242-6B332B1DE727}"/>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return sends the result back to the caller.</a:t>
            </a:r>
          </a:p>
        </p:txBody>
      </p:sp>
      <p:sp>
        <p:nvSpPr>
          <p:cNvPr id="10" name="">
            <a:extLst xmlns:a="http://schemas.openxmlformats.org/drawingml/2006/main">
              <a:ext uri="{FF2B5EF4-FFF2-40B4-BE49-F238E27FC236}">
                <a16:creationId xmlns:a16="http://schemas.microsoft.com/office/drawing/2014/main" id="{92E6D7DC-89DC-4949-8AD8-58805340266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11" name="">
            <a:extLst xmlns:a="http://schemas.openxmlformats.org/drawingml/2006/main">
              <a:ext uri="{FF2B5EF4-FFF2-40B4-BE49-F238E27FC236}">
                <a16:creationId xmlns:a16="http://schemas.microsoft.com/office/drawing/2014/main" id="{6B659991-8F14-4B53-AC06-73A81B861F8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33</a:t>
            </a:r>
          </a:p>
        </p:txBody>
      </p:sp>
    </p:spTree>
    <p:extLst>
      <p:ext uri="{BB962C8B-B14F-4D97-AF65-F5344CB8AC3E}">
        <p14:creationId xmlns:p14="http://schemas.microsoft.com/office/powerpoint/2010/main" val="1408565888"/>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AABBE29E-5807-484D-90A7-4FA99A2E9B9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A4BDDFE-E162-41A4-9EE0-A485EFA2613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156F551-E2E7-4576-94BA-247CFF9CF47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Worked example continued</a:t>
            </a:r>
          </a:p>
        </p:txBody>
      </p:sp>
      <p:sp>
        <p:nvSpPr>
          <p:cNvPr id="4" name="">
            <a:extLst xmlns:a="http://schemas.openxmlformats.org/drawingml/2006/main">
              <a:ext uri="{FF2B5EF4-FFF2-40B4-BE49-F238E27FC236}">
                <a16:creationId xmlns:a16="http://schemas.microsoft.com/office/drawing/2014/main" id="{20C9FB75-8251-46DE-8E01-18D0EECAE8C6}"/>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F3A8565-B783-4E57-BB49-20D3F8314DB0}"/>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print(safe_share(12, 3))</a:t>
            </a:r>
          </a:p>
        </p:txBody>
      </p:sp>
      <p:sp>
        <p:nvSpPr>
          <p:cNvPr id="6" name="">
            <a:extLst xmlns:a="http://schemas.openxmlformats.org/drawingml/2006/main">
              <a:ext uri="{FF2B5EF4-FFF2-40B4-BE49-F238E27FC236}">
                <a16:creationId xmlns:a16="http://schemas.microsoft.com/office/drawing/2014/main" id="{90E679EB-89C9-4201-93D1-476844CF5EE2}"/>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564FA048-BC14-456C-9EB2-E31356916CE3}"/>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FCABDC6D-D829-4029-9035-FCA04610351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9" name="">
            <a:extLst xmlns:a="http://schemas.openxmlformats.org/drawingml/2006/main">
              <a:ext uri="{FF2B5EF4-FFF2-40B4-BE49-F238E27FC236}">
                <a16:creationId xmlns:a16="http://schemas.microsoft.com/office/drawing/2014/main" id="{FCDF7DC0-5EB6-4EAD-A14D-D8F73F2A489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34</a:t>
            </a:r>
          </a:p>
        </p:txBody>
      </p:sp>
    </p:spTree>
    <p:extLst>
      <p:ext uri="{BB962C8B-B14F-4D97-AF65-F5344CB8AC3E}">
        <p14:creationId xmlns:p14="http://schemas.microsoft.com/office/powerpoint/2010/main" val="1076069332"/>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17A3148-1D31-4ECA-8EE3-CB1D562DA7F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DD432B9-F7C0-48EF-82D6-F951A7C5B74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7CBF2888-1160-4C7C-AA90-5694DA8053E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Expected output</a:t>
            </a:r>
          </a:p>
        </p:txBody>
      </p:sp>
      <p:sp>
        <p:nvSpPr>
          <p:cNvPr id="4" name="">
            <a:extLst xmlns:a="http://schemas.openxmlformats.org/drawingml/2006/main">
              <a:ext uri="{FF2B5EF4-FFF2-40B4-BE49-F238E27FC236}">
                <a16:creationId xmlns:a16="http://schemas.microsoft.com/office/drawing/2014/main" id="{B52FEB9A-6623-477E-988F-255943C71919}"/>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3ED676D-F6C8-41F0-A525-04554929D91E}"/>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8</a:t>
            </a:r>
          </a:p>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4.0</a:t>
            </a:r>
          </a:p>
        </p:txBody>
      </p:sp>
      <p:sp>
        <p:nvSpPr>
          <p:cNvPr id="6" name="">
            <a:extLst xmlns:a="http://schemas.openxmlformats.org/drawingml/2006/main">
              <a:ext uri="{FF2B5EF4-FFF2-40B4-BE49-F238E27FC236}">
                <a16:creationId xmlns:a16="http://schemas.microsoft.com/office/drawing/2014/main" id="{75C1ADE6-7937-4679-A8A1-0ACB1F1D9891}"/>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B39A2A87-0D50-486C-B22E-A912507A1BC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35</a:t>
            </a:r>
          </a:p>
        </p:txBody>
      </p:sp>
    </p:spTree>
    <p:extLst>
      <p:ext uri="{BB962C8B-B14F-4D97-AF65-F5344CB8AC3E}">
        <p14:creationId xmlns:p14="http://schemas.microsoft.com/office/powerpoint/2010/main" val="135685175"/>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D03636D-9AD2-4225-95FC-4770D26ADD3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00DF129-1304-441F-BE8E-9C2607718B8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88F7683-D67C-402B-A7F0-8089356E2E7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branch with a clear boundary</a:t>
            </a:r>
          </a:p>
        </p:txBody>
      </p:sp>
      <p:sp>
        <p:nvSpPr>
          <p:cNvPr id="4" name="">
            <a:extLst xmlns:a="http://schemas.openxmlformats.org/drawingml/2006/main">
              <a:ext uri="{FF2B5EF4-FFF2-40B4-BE49-F238E27FC236}">
                <a16:creationId xmlns:a16="http://schemas.microsoft.com/office/drawing/2014/main" id="{19964D84-37D3-433F-91D4-1B7ACD35B7F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7A0E467-6019-4669-82C2-35F864CFED6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from the top. &gt;= includes the boundary.</a:t>
            </a:r>
          </a:p>
        </p:txBody>
      </p:sp>
      <p:sp>
        <p:nvSpPr>
          <p:cNvPr id="6" name="">
            <a:extLst xmlns:a="http://schemas.openxmlformats.org/drawingml/2006/main">
              <a:ext uri="{FF2B5EF4-FFF2-40B4-BE49-F238E27FC236}">
                <a16:creationId xmlns:a16="http://schemas.microsoft.com/office/drawing/2014/main" id="{6721A752-EF9D-404D-B745-B9E2B160901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FDD2E67-9FC8-4881-AC2E-0C86241B8C8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Only the selected branch runs.</a:t>
            </a:r>
          </a:p>
        </p:txBody>
      </p:sp>
      <p:sp>
        <p:nvSpPr>
          <p:cNvPr id="8" name="">
            <a:extLst xmlns:a="http://schemas.openxmlformats.org/drawingml/2006/main">
              <a:ext uri="{FF2B5EF4-FFF2-40B4-BE49-F238E27FC236}">
                <a16:creationId xmlns:a16="http://schemas.microsoft.com/office/drawing/2014/main" id="{A63B8813-582C-4EDD-84F8-F07FAC186ACF}"/>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B69D7B6-7136-4775-BAB5-9FFCB4B5F8F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Try the value exactly at 10 as well as 9 and 11.</a:t>
            </a:r>
          </a:p>
        </p:txBody>
      </p:sp>
      <p:sp>
        <p:nvSpPr>
          <p:cNvPr id="10" name="">
            <a:extLst xmlns:a="http://schemas.openxmlformats.org/drawingml/2006/main">
              <a:ext uri="{FF2B5EF4-FFF2-40B4-BE49-F238E27FC236}">
                <a16:creationId xmlns:a16="http://schemas.microsoft.com/office/drawing/2014/main" id="{066879A1-E0A6-47EC-9838-CC5601D882B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36</a:t>
            </a:r>
          </a:p>
        </p:txBody>
      </p:sp>
    </p:spTree>
    <p:extLst>
      <p:ext uri="{BB962C8B-B14F-4D97-AF65-F5344CB8AC3E}">
        <p14:creationId xmlns:p14="http://schemas.microsoft.com/office/powerpoint/2010/main" val="1131755541"/>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99C86C38-52D6-46DD-9370-009EF4573A2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4AB4CD0-79A7-4A09-877D-105914D1FC8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FFE6C5C-8FC0-4FEA-A3CF-D8CC108D1AA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branch with a clear boundary in Python</a:t>
            </a:r>
          </a:p>
        </p:txBody>
      </p:sp>
      <p:sp>
        <p:nvSpPr>
          <p:cNvPr id="4" name="">
            <a:extLst xmlns:a="http://schemas.openxmlformats.org/drawingml/2006/main">
              <a:ext uri="{FF2B5EF4-FFF2-40B4-BE49-F238E27FC236}">
                <a16:creationId xmlns:a16="http://schemas.microsoft.com/office/drawing/2014/main" id="{BCD49E72-EF8A-4A32-95C8-FC64B42AD858}"/>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62455BC-CF95-4072-A6C9-72B9B1F61713}"/>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def</a:t>
            </a:r>
            <a:r>
              <a:rPr sz="2175" b="0">
                <a:solidFill>
                  <a:srgbClr val="F4F7FA"/>
                </a:solidFill>
                <a:latin typeface="Courier New"/>
                <a:ea typeface="Courier New"/>
                <a:cs typeface="Courier New"/>
              </a:rPr>
              <a:t> check_level(value):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value &gt;= 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return</a:t>
            </a:r>
            <a:r>
              <a:rPr sz="2175" b="0">
                <a:solidFill>
                  <a:srgbClr val="F4F7FA"/>
                </a:solidFill>
                <a:latin typeface="Courier New"/>
                <a:ea typeface="Courier New"/>
                <a:cs typeface="Courier New"/>
              </a:rPr>
              <a:t> "high"</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return "low"</a:t>
            </a:r>
          </a:p>
          <a:p xmlns:a="http://schemas.openxmlformats.org/drawingml/2006/main">
            <a:r>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print(check_level(10))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print(check_level(9))</a:t>
            </a:r>
          </a:p>
        </p:txBody>
      </p:sp>
      <p:sp>
        <p:nvSpPr>
          <p:cNvPr id="6" name="">
            <a:extLst xmlns:a="http://schemas.openxmlformats.org/drawingml/2006/main">
              <a:ext uri="{FF2B5EF4-FFF2-40B4-BE49-F238E27FC236}">
                <a16:creationId xmlns:a16="http://schemas.microsoft.com/office/drawing/2014/main" id="{6A14B303-2272-4821-8CFD-5E95166BB0E4}"/>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8B87ED5D-7B44-4BB5-BF7D-EFE12137661A}"/>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def names the function. Inputs go inside parentheses.</a:t>
            </a:r>
          </a:p>
        </p:txBody>
      </p:sp>
      <p:sp>
        <p:nvSpPr>
          <p:cNvPr id="8" name="">
            <a:extLst xmlns:a="http://schemas.openxmlformats.org/drawingml/2006/main">
              <a:ext uri="{FF2B5EF4-FFF2-40B4-BE49-F238E27FC236}">
                <a16:creationId xmlns:a16="http://schemas.microsoft.com/office/drawing/2014/main" id="{0DDB2C98-754D-4387-B97A-C5D0376A12A7}"/>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21466857-4BA5-4693-9A95-CB7443C336FE}"/>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return sends the result back to the caller.</a:t>
            </a:r>
          </a:p>
        </p:txBody>
      </p:sp>
      <p:sp>
        <p:nvSpPr>
          <p:cNvPr id="10" name="">
            <a:extLst xmlns:a="http://schemas.openxmlformats.org/drawingml/2006/main">
              <a:ext uri="{FF2B5EF4-FFF2-40B4-BE49-F238E27FC236}">
                <a16:creationId xmlns:a16="http://schemas.microsoft.com/office/drawing/2014/main" id="{594FA80E-60AC-4A32-8FFE-0B067E03F84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11" name="">
            <a:extLst xmlns:a="http://schemas.openxmlformats.org/drawingml/2006/main">
              <a:ext uri="{FF2B5EF4-FFF2-40B4-BE49-F238E27FC236}">
                <a16:creationId xmlns:a16="http://schemas.microsoft.com/office/drawing/2014/main" id="{16486F2E-2251-483F-B235-4D9C4D48FF6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37</a:t>
            </a:r>
          </a:p>
        </p:txBody>
      </p:sp>
    </p:spTree>
    <p:extLst>
      <p:ext uri="{BB962C8B-B14F-4D97-AF65-F5344CB8AC3E}">
        <p14:creationId xmlns:p14="http://schemas.microsoft.com/office/powerpoint/2010/main" val="1012558317"/>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E1DAA78-8627-494B-87BE-B6CEAA75929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9B735FD-782B-4AE5-8A06-43D485E0838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A16EAD2-153E-4049-AD4E-AFB7A4BEF60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Selecting a largest error without loops</a:t>
            </a:r>
          </a:p>
        </p:txBody>
      </p:sp>
      <p:sp>
        <p:nvSpPr>
          <p:cNvPr id="4" name="">
            <a:extLst xmlns:a="http://schemas.openxmlformats.org/drawingml/2006/main">
              <a:ext uri="{FF2B5EF4-FFF2-40B4-BE49-F238E27FC236}">
                <a16:creationId xmlns:a16="http://schemas.microsoft.com/office/drawing/2014/main" id="{D82B8D6E-3F35-4343-AF4C-6893CCC2250C}"/>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0C117BB-2642-43F0-A590-BEC24F83981B}"/>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19996B6-E9CF-4716-B955-FCD533A56A08}"/>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list holds several values. abs removes the sign when measuring the SIZE of an error. max returns the largest supplied value.</a:t>
            </a:r>
          </a:p>
        </p:txBody>
      </p:sp>
      <p:sp>
        <p:nvSpPr>
          <p:cNvPr id="7" name="">
            <a:extLst xmlns:a="http://schemas.openxmlformats.org/drawingml/2006/main">
              <a:ext uri="{FF2B5EF4-FFF2-40B4-BE49-F238E27FC236}">
                <a16:creationId xmlns:a16="http://schemas.microsoft.com/office/drawing/2014/main" id="{A75AF6EA-2DBB-405C-AA48-005CBA49BE19}"/>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Keep the original signed error when the task asks for direction.</a:t>
            </a:r>
          </a:p>
        </p:txBody>
      </p:sp>
      <p:sp>
        <p:nvSpPr>
          <p:cNvPr id="8" name="">
            <a:extLst xmlns:a="http://schemas.openxmlformats.org/drawingml/2006/main">
              <a:ext uri="{FF2B5EF4-FFF2-40B4-BE49-F238E27FC236}">
                <a16:creationId xmlns:a16="http://schemas.microsoft.com/office/drawing/2014/main" id="{6BF47F8E-F209-4AAB-B797-790C368AF92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38</a:t>
            </a:r>
          </a:p>
        </p:txBody>
      </p:sp>
    </p:spTree>
    <p:extLst>
      <p:ext uri="{BB962C8B-B14F-4D97-AF65-F5344CB8AC3E}">
        <p14:creationId xmlns:p14="http://schemas.microsoft.com/office/powerpoint/2010/main" val="452890827"/>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A6F5FA5-AEB7-43C5-805E-2140BD951DB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33F2FB5-9834-4D32-B328-90A8337940C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A2B4A37A-07A6-41E8-9921-6041FEC19A3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 short list</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Expression</a:t>
                      </a:r>
                    </a:p>
                  </a:txBody>
                  <a:tcPr marL="91440" marR="91440" marT="45720" marB="45720">
                    <a:solidFill>
                      <a:srgbClr val="2E7D6F"/>
                    </a:solidFill>
                  </a:tcPr>
                </a:tc>
                <a:tc>
                  <a:txBody>
                    <a:bodyPr/>
                    <a:lstStyle/>
                    <a:p>
                      <a:r>
                        <a:rPr sz="2025" b="1">
                          <a:solidFill>
                            <a:srgbClr val="FFFFFF"/>
                          </a:solidFill>
                          <a:latin typeface="Calibri"/>
                          <a:ea typeface="Calibri"/>
                          <a:cs typeface="Calibri"/>
                        </a:rPr>
                        <a:t>Value</a:t>
                      </a:r>
                    </a:p>
                  </a:txBody>
                  <a:tcPr marL="91440" marR="91440" marT="45720" marB="45720">
                    <a:solidFill>
                      <a:srgbClr val="2E7D6F"/>
                    </a:solidFill>
                  </a:tcPr>
                </a:tc>
                <a:tc>
                  <a:txBody>
                    <a:bodyPr/>
                    <a:lstStyle/>
                    <a:p>
                      <a:r>
                        <a:rPr sz="2025" b="1">
                          <a:solidFill>
                            <a:srgbClr val="FFFFFF"/>
                          </a:solidFill>
                          <a:latin typeface="Calibri"/>
                          <a:ea typeface="Calibri"/>
                          <a:cs typeface="Calibri"/>
                        </a:rPr>
                        <a:t>Why</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errors = [-2, 5, -8]</a:t>
                      </a:r>
                    </a:p>
                  </a:txBody>
                  <a:tcPr marL="91440" marR="91440" marT="45720" marB="45720">
                    <a:solidFill>
                      <a:srgbClr val="EEF3F6"/>
                    </a:solidFill>
                  </a:tcPr>
                </a:tc>
                <a:tc>
                  <a:txBody>
                    <a:bodyPr/>
                    <a:lstStyle/>
                    <a:p>
                      <a:r>
                        <a:rPr sz="2025" b="0">
                          <a:solidFill>
                            <a:srgbClr val="1C3144"/>
                          </a:solidFill>
                          <a:latin typeface="Calibri"/>
                          <a:ea typeface="Calibri"/>
                          <a:cs typeface="Calibri"/>
                        </a:rPr>
                        <a:t>Three signed errors</a:t>
                      </a:r>
                    </a:p>
                  </a:txBody>
                  <a:tcPr marL="91440" marR="91440" marT="45720" marB="45720">
                    <a:solidFill>
                      <a:srgbClr val="EEF3F6"/>
                    </a:solidFill>
                  </a:tcPr>
                </a:tc>
                <a:tc>
                  <a:txBody>
                    <a:bodyPr/>
                    <a:lstStyle/>
                    <a:p>
                      <a:r>
                        <a:rPr sz="2025" b="0">
                          <a:solidFill>
                            <a:srgbClr val="1C3144"/>
                          </a:solidFill>
                          <a:latin typeface="Calibri"/>
                          <a:ea typeface="Calibri"/>
                          <a:cs typeface="Calibri"/>
                        </a:rPr>
                        <a:t>Brackets hold the list</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errors[0]</a:t>
                      </a:r>
                    </a:p>
                  </a:txBody>
                  <a:tcPr marL="91440" marR="91440" marT="45720" marB="45720">
                    <a:solidFill>
                      <a:srgbClr val="FFFFFF"/>
                    </a:solidFill>
                  </a:tcPr>
                </a:tc>
                <a:tc>
                  <a:txBody>
                    <a:bodyPr/>
                    <a:lstStyle/>
                    <a:p>
                      <a:r>
                        <a:rPr sz="2025" b="0">
                          <a:solidFill>
                            <a:srgbClr val="1C3144"/>
                          </a:solidFill>
                          <a:latin typeface="Calibri"/>
                          <a:ea typeface="Calibri"/>
                          <a:cs typeface="Calibri"/>
                        </a:rPr>
                        <a:t>-2</a:t>
                      </a:r>
                    </a:p>
                  </a:txBody>
                  <a:tcPr marL="91440" marR="91440" marT="45720" marB="45720">
                    <a:solidFill>
                      <a:srgbClr val="FFFFFF"/>
                    </a:solidFill>
                  </a:tcPr>
                </a:tc>
                <a:tc>
                  <a:txBody>
                    <a:bodyPr/>
                    <a:lstStyle/>
                    <a:p>
                      <a:r>
                        <a:rPr sz="2025" b="0">
                          <a:solidFill>
                            <a:srgbClr val="1C3144"/>
                          </a:solidFill>
                          <a:latin typeface="Calibri"/>
                          <a:ea typeface="Calibri"/>
                          <a:cs typeface="Calibri"/>
                        </a:rPr>
                        <a:t>Positions start at zero</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abs(errors[2])</a:t>
                      </a:r>
                    </a:p>
                  </a:txBody>
                  <a:tcPr marL="91440" marR="91440" marT="45720" marB="45720">
                    <a:solidFill>
                      <a:srgbClr val="EEF3F6"/>
                    </a:solidFill>
                  </a:tcPr>
                </a:tc>
                <a:tc>
                  <a:txBody>
                    <a:bodyPr/>
                    <a:lstStyle/>
                    <a:p>
                      <a:r>
                        <a:rPr sz="2025" b="0">
                          <a:solidFill>
                            <a:srgbClr val="1C3144"/>
                          </a:solidFill>
                          <a:latin typeface="Calibri"/>
                          <a:ea typeface="Calibri"/>
                          <a:cs typeface="Calibri"/>
                        </a:rPr>
                        <a:t>8</a:t>
                      </a:r>
                    </a:p>
                  </a:txBody>
                  <a:tcPr marL="91440" marR="91440" marT="45720" marB="45720">
                    <a:solidFill>
                      <a:srgbClr val="EEF3F6"/>
                    </a:solidFill>
                  </a:tcPr>
                </a:tc>
                <a:tc>
                  <a:txBody>
                    <a:bodyPr/>
                    <a:lstStyle/>
                    <a:p>
                      <a:r>
                        <a:rPr sz="2025" b="0">
                          <a:solidFill>
                            <a:srgbClr val="1C3144"/>
                          </a:solidFill>
                          <a:latin typeface="Calibri"/>
                          <a:ea typeface="Calibri"/>
                          <a:cs typeface="Calibri"/>
                        </a:rPr>
                        <a:t>abs gives the size</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max(2, 5, 8)</a:t>
                      </a:r>
                    </a:p>
                  </a:txBody>
                  <a:tcPr marL="91440" marR="91440" marT="45720" marB="45720">
                    <a:solidFill>
                      <a:srgbClr val="FFFFFF"/>
                    </a:solidFill>
                  </a:tcPr>
                </a:tc>
                <a:tc>
                  <a:txBody>
                    <a:bodyPr/>
                    <a:lstStyle/>
                    <a:p>
                      <a:r>
                        <a:rPr sz="2025" b="0">
                          <a:solidFill>
                            <a:srgbClr val="1C3144"/>
                          </a:solidFill>
                          <a:latin typeface="Calibri"/>
                          <a:ea typeface="Calibri"/>
                          <a:cs typeface="Calibri"/>
                        </a:rPr>
                        <a:t>8</a:t>
                      </a:r>
                    </a:p>
                  </a:txBody>
                  <a:tcPr marL="91440" marR="91440" marT="45720" marB="45720">
                    <a:solidFill>
                      <a:srgbClr val="FFFFFF"/>
                    </a:solidFill>
                  </a:tcPr>
                </a:tc>
                <a:tc>
                  <a:txBody>
                    <a:bodyPr/>
                    <a:lstStyle/>
                    <a:p>
                      <a:r>
                        <a:rPr sz="2025" b="0">
                          <a:solidFill>
                            <a:srgbClr val="1C3144"/>
                          </a:solidFill>
                          <a:latin typeface="Calibri"/>
                          <a:ea typeface="Calibri"/>
                          <a:cs typeface="Calibri"/>
                        </a:rPr>
                        <a:t>max selects the largest</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0C48B166-E38C-49B9-AEBD-90EC09B58F94}"/>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The bracketed number is a position. It is not the value stored there.</a:t>
            </a:r>
          </a:p>
        </p:txBody>
      </p:sp>
      <p:sp>
        <p:nvSpPr>
          <p:cNvPr id="6" name="">
            <a:extLst xmlns:a="http://schemas.openxmlformats.org/drawingml/2006/main">
              <a:ext uri="{FF2B5EF4-FFF2-40B4-BE49-F238E27FC236}">
                <a16:creationId xmlns:a16="http://schemas.microsoft.com/office/drawing/2014/main" id="{9B7E59E3-085F-4910-A5B8-4D511CF7FEB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39</a:t>
            </a:r>
          </a:p>
        </p:txBody>
      </p:sp>
    </p:spTree>
    <p:extLst>
      <p:ext uri="{BB962C8B-B14F-4D97-AF65-F5344CB8AC3E}">
        <p14:creationId xmlns:p14="http://schemas.microsoft.com/office/powerpoint/2010/main" val="1393183466"/>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FA6456E-0873-4F8D-BB2C-23B5F2FA229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ACCF89F-53D3-44BD-9405-8420AC271F5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250545B-7A87-4B6D-A579-70391842F62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Selecting a largest error without loops in Python</a:t>
            </a:r>
          </a:p>
        </p:txBody>
      </p:sp>
      <p:sp>
        <p:nvSpPr>
          <p:cNvPr id="4" name="">
            <a:extLst xmlns:a="http://schemas.openxmlformats.org/drawingml/2006/main">
              <a:ext uri="{FF2B5EF4-FFF2-40B4-BE49-F238E27FC236}">
                <a16:creationId xmlns:a16="http://schemas.microsoft.com/office/drawing/2014/main" id="{27A3C5E5-D0C3-42A0-BDE1-E6E49919C69D}"/>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2D48D94-7251-45C1-88F8-7F20876D5C7A}"/>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errors = [-2, 5, -8]</a:t>
            </a:r>
          </a:p>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largest = max(abs(errors[0]), abs(errors[1]), abs(errors[2]))</a:t>
            </a:r>
          </a:p>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print(largest)</a:t>
            </a:r>
          </a:p>
        </p:txBody>
      </p:sp>
      <p:sp>
        <p:nvSpPr>
          <p:cNvPr id="6" name="">
            <a:extLst xmlns:a="http://schemas.openxmlformats.org/drawingml/2006/main">
              <a:ext uri="{FF2B5EF4-FFF2-40B4-BE49-F238E27FC236}">
                <a16:creationId xmlns:a16="http://schemas.microsoft.com/office/drawing/2014/main" id="{2CAEDDC5-1256-4DE4-94E8-3958B0357516}"/>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print displays a value below the cell.</a:t>
            </a:r>
          </a:p>
        </p:txBody>
      </p:sp>
      <p:sp>
        <p:nvSpPr>
          <p:cNvPr id="7" name="">
            <a:extLst xmlns:a="http://schemas.openxmlformats.org/drawingml/2006/main">
              <a:ext uri="{FF2B5EF4-FFF2-40B4-BE49-F238E27FC236}">
                <a16:creationId xmlns:a16="http://schemas.microsoft.com/office/drawing/2014/main" id="{97A64CC4-3D68-4DDF-B4E4-A1609BD7D9C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8" name="">
            <a:extLst xmlns:a="http://schemas.openxmlformats.org/drawingml/2006/main">
              <a:ext uri="{FF2B5EF4-FFF2-40B4-BE49-F238E27FC236}">
                <a16:creationId xmlns:a16="http://schemas.microsoft.com/office/drawing/2014/main" id="{21E35650-095D-451C-9418-C0B322E78DC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40</a:t>
            </a:r>
          </a:p>
        </p:txBody>
      </p:sp>
    </p:spTree>
    <p:extLst>
      <p:ext uri="{BB962C8B-B14F-4D97-AF65-F5344CB8AC3E}">
        <p14:creationId xmlns:p14="http://schemas.microsoft.com/office/powerpoint/2010/main" val="1355971121"/>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08D3A7E-F509-4E4B-88F5-DC8460994A1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2084CFB-A578-4643-9504-CD735F50076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6FE210F-1666-47DA-B3AA-F050E26F454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Keep the reading beside its signed error</a:t>
            </a:r>
          </a:p>
        </p:txBody>
      </p:sp>
      <p:sp>
        <p:nvSpPr>
          <p:cNvPr id="4" name="">
            <a:extLst xmlns:a="http://schemas.openxmlformats.org/drawingml/2006/main">
              <a:ext uri="{FF2B5EF4-FFF2-40B4-BE49-F238E27FC236}">
                <a16:creationId xmlns:a16="http://schemas.microsoft.com/office/drawing/2014/main" id="{BC5152BC-0057-4D6B-B068-42A288CF21C2}"/>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C3BE873-2D99-46DE-AF80-9803BD7C2F94}"/>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4FD08D1-7024-429E-86B4-9403DC79F3AD}"/>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These paired lists use the same positions: the first error belongs to the first reading. The sign tells the direction; abs gives only the size.</a:t>
            </a:r>
          </a:p>
        </p:txBody>
      </p:sp>
      <p:sp>
        <p:nvSpPr>
          <p:cNvPr id="7" name="">
            <a:extLst xmlns:a="http://schemas.openxmlformats.org/drawingml/2006/main">
              <a:ext uri="{FF2B5EF4-FFF2-40B4-BE49-F238E27FC236}">
                <a16:creationId xmlns:a16="http://schemas.microsoft.com/office/drawing/2014/main" id="{F4980F5B-B893-45E5-B79D-4204015DA3F9}"/>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index(value) finds the first position containing that value. Use that position in the original lists. An exact tie selects the first here; follow the issued task’s rule.</a:t>
            </a:r>
          </a:p>
        </p:txBody>
      </p:sp>
      <p:sp>
        <p:nvSpPr>
          <p:cNvPr id="8" name="">
            <a:extLst xmlns:a="http://schemas.openxmlformats.org/drawingml/2006/main">
              <a:ext uri="{FF2B5EF4-FFF2-40B4-BE49-F238E27FC236}">
                <a16:creationId xmlns:a16="http://schemas.microsoft.com/office/drawing/2014/main" id="{AAB237C8-6B1F-44E0-887C-20089B03563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41</a:t>
            </a:r>
          </a:p>
        </p:txBody>
      </p:sp>
    </p:spTree>
    <p:extLst>
      <p:ext uri="{BB962C8B-B14F-4D97-AF65-F5344CB8AC3E}">
        <p14:creationId xmlns:p14="http://schemas.microsoft.com/office/powerpoint/2010/main" val="617493069"/>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B96E63E-2428-408B-87F0-F9EE23BB4D1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53944DD-6904-45A4-9463-B994B65A83B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8F1BB18-55D7-4752-8FF3-692E867D47B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Find a position, then recover the original values</a:t>
            </a:r>
          </a:p>
        </p:txBody>
      </p:sp>
      <p:sp>
        <p:nvSpPr>
          <p:cNvPr id="4" name="">
            <a:extLst xmlns:a="http://schemas.openxmlformats.org/drawingml/2006/main">
              <a:ext uri="{FF2B5EF4-FFF2-40B4-BE49-F238E27FC236}">
                <a16:creationId xmlns:a16="http://schemas.microsoft.com/office/drawing/2014/main" id="{EE820BED-24B2-4C70-A99B-617C938D3578}"/>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576B414-9744-4027-8813-96899ECC1E6A}"/>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[98, 105, 92]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errors = [-2, 5, -8]</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sizes = [abs(errors[0]), abs(errors[1]), abs(errors[2])]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position = sizes.index(max(sizes))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print(readings[position], errors[position])</a:t>
            </a:r>
          </a:p>
        </p:txBody>
      </p:sp>
      <p:sp>
        <p:nvSpPr>
          <p:cNvPr id="6" name="">
            <a:extLst xmlns:a="http://schemas.openxmlformats.org/drawingml/2006/main">
              <a:ext uri="{FF2B5EF4-FFF2-40B4-BE49-F238E27FC236}">
                <a16:creationId xmlns:a16="http://schemas.microsoft.com/office/drawing/2014/main" id="{E4818D5F-AF29-4F84-A6AF-B23559FDDAA9}"/>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print displays a value below the cell.</a:t>
            </a:r>
          </a:p>
        </p:txBody>
      </p:sp>
      <p:sp>
        <p:nvSpPr>
          <p:cNvPr id="7" name="">
            <a:extLst xmlns:a="http://schemas.openxmlformats.org/drawingml/2006/main">
              <a:ext uri="{FF2B5EF4-FFF2-40B4-BE49-F238E27FC236}">
                <a16:creationId xmlns:a16="http://schemas.microsoft.com/office/drawing/2014/main" id="{569228B3-1600-451E-B2BC-3627F42894F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92 -8. The largest size is 8; the signed error is -8.</a:t>
            </a:r>
          </a:p>
        </p:txBody>
      </p:sp>
      <p:sp>
        <p:nvSpPr>
          <p:cNvPr id="8" name="">
            <a:extLst xmlns:a="http://schemas.openxmlformats.org/drawingml/2006/main">
              <a:ext uri="{FF2B5EF4-FFF2-40B4-BE49-F238E27FC236}">
                <a16:creationId xmlns:a16="http://schemas.microsoft.com/office/drawing/2014/main" id="{B595869B-6E18-4272-88A7-8A9E3DF6D27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42</a:t>
            </a:r>
          </a:p>
        </p:txBody>
      </p:sp>
    </p:spTree>
    <p:extLst>
      <p:ext uri="{BB962C8B-B14F-4D97-AF65-F5344CB8AC3E}">
        <p14:creationId xmlns:p14="http://schemas.microsoft.com/office/powerpoint/2010/main" val="1236512122"/>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149BFC2-7476-42CA-B02A-249C63E28D1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B97514A-D3BC-42E2-B830-20C86A24E16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TRY IT TOGETHER   5 MINUTES</a:t>
            </a:r>
          </a:p>
        </p:txBody>
      </p:sp>
      <p:sp>
        <p:nvSpPr>
          <p:cNvPr id="3" name="">
            <a:extLst xmlns:a="http://schemas.openxmlformats.org/drawingml/2006/main">
              <a:ext uri="{FF2B5EF4-FFF2-40B4-BE49-F238E27FC236}">
                <a16:creationId xmlns:a16="http://schemas.microsoft.com/office/drawing/2014/main" id="{9BC3A97B-A1E5-431E-A3F3-8DB06F9E788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 are the function</a:t>
            </a:r>
          </a:p>
        </p:txBody>
      </p:sp>
      <p:sp>
        <p:nvSpPr>
          <p:cNvPr id="4" name="">
            <a:extLst xmlns:a="http://schemas.openxmlformats.org/drawingml/2006/main">
              <a:ext uri="{FF2B5EF4-FFF2-40B4-BE49-F238E27FC236}">
                <a16:creationId xmlns:a16="http://schemas.microsoft.com/office/drawing/2014/main" id="{C918A277-E4D2-41AD-A8E8-F2A16640AC0F}"/>
              </a:ext>
            </a:extLst>
          </p:cNvPr>
          <p:cNvSpPr>
            <a:spLocks xmlns:a="http://schemas.openxmlformats.org/drawingml/2006/main" noGrp="1"/>
          </p:cNvSpPr>
          <p:nvPr/>
        </p:nvSpPr>
        <p:spPr>
          <a:xfrm xmlns:a="http://schemas.openxmlformats.org/drawingml/2006/main">
            <a:off x="619125" y="1809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11C4151-48C2-4C54-9B82-B0442CFFFC59}"/>
              </a:ext>
            </a:extLst>
          </p:cNvPr>
          <p:cNvSpPr>
            <a:spLocks xmlns:a="http://schemas.openxmlformats.org/drawingml/2006/main" noGrp="1"/>
          </p:cNvSpPr>
          <p:nvPr/>
        </p:nvSpPr>
        <p:spPr>
          <a:xfrm xmlns:a="http://schemas.openxmlformats.org/drawingml/2006/main">
            <a:off x="1409700" y="18097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One partner supplies the input 4.</a:t>
            </a:r>
          </a:p>
        </p:txBody>
      </p:sp>
      <p:sp>
        <p:nvSpPr>
          <p:cNvPr id="6" name="">
            <a:extLst xmlns:a="http://schemas.openxmlformats.org/drawingml/2006/main">
              <a:ext uri="{FF2B5EF4-FFF2-40B4-BE49-F238E27FC236}">
                <a16:creationId xmlns:a16="http://schemas.microsoft.com/office/drawing/2014/main" id="{5033C06A-89E0-4D64-929C-180D20C0EAC1}"/>
              </a:ext>
            </a:extLst>
          </p:cNvPr>
          <p:cNvSpPr>
            <a:spLocks xmlns:a="http://schemas.openxmlformats.org/drawingml/2006/main" noGrp="1"/>
          </p:cNvSpPr>
          <p:nvPr/>
        </p:nvSpPr>
        <p:spPr>
          <a:xfrm xmlns:a="http://schemas.openxmlformats.org/drawingml/2006/main">
            <a:off x="619125" y="31432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5021670-E05F-4AC6-9BD1-5A8132C43F74}"/>
              </a:ext>
            </a:extLst>
          </p:cNvPr>
          <p:cNvSpPr>
            <a:spLocks xmlns:a="http://schemas.openxmlformats.org/drawingml/2006/main" noGrp="1"/>
          </p:cNvSpPr>
          <p:nvPr/>
        </p:nvSpPr>
        <p:spPr>
          <a:xfrm xmlns:a="http://schemas.openxmlformats.org/drawingml/2006/main">
            <a:off x="1409700" y="31432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other follows the rule: multiply the input by 2.</a:t>
            </a:r>
          </a:p>
        </p:txBody>
      </p:sp>
      <p:sp>
        <p:nvSpPr>
          <p:cNvPr id="8" name="">
            <a:extLst xmlns:a="http://schemas.openxmlformats.org/drawingml/2006/main">
              <a:ext uri="{FF2B5EF4-FFF2-40B4-BE49-F238E27FC236}">
                <a16:creationId xmlns:a16="http://schemas.microsoft.com/office/drawing/2014/main" id="{D3799EC9-F3B2-4A35-8547-D09D20F8490C}"/>
              </a:ext>
            </a:extLst>
          </p:cNvPr>
          <p:cNvSpPr>
            <a:spLocks xmlns:a="http://schemas.openxmlformats.org/drawingml/2006/main" noGrp="1"/>
          </p:cNvSpPr>
          <p:nvPr/>
        </p:nvSpPr>
        <p:spPr>
          <a:xfrm xmlns:a="http://schemas.openxmlformats.org/drawingml/2006/main">
            <a:off x="619125" y="447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B7B1FF5-F3BC-4EC1-B203-CC5141C3AF25}"/>
              </a:ext>
            </a:extLst>
          </p:cNvPr>
          <p:cNvSpPr>
            <a:spLocks xmlns:a="http://schemas.openxmlformats.org/drawingml/2006/main" noGrp="1"/>
          </p:cNvSpPr>
          <p:nvPr/>
        </p:nvSpPr>
        <p:spPr>
          <a:xfrm xmlns:a="http://schemas.openxmlformats.org/drawingml/2006/main">
            <a:off x="1409700" y="44767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Return the answer on paper, then repeat with input 7.</a:t>
            </a:r>
          </a:p>
        </p:txBody>
      </p:sp>
      <p:sp>
        <p:nvSpPr>
          <p:cNvPr id="10" name="">
            <a:extLst xmlns:a="http://schemas.openxmlformats.org/drawingml/2006/main">
              <a:ext uri="{FF2B5EF4-FFF2-40B4-BE49-F238E27FC236}">
                <a16:creationId xmlns:a16="http://schemas.microsoft.com/office/drawing/2014/main" id="{473EC594-9B7D-42E5-A06E-259DA0BE5C8C}"/>
              </a:ext>
            </a:extLst>
          </p:cNvPr>
          <p:cNvSpPr>
            <a:spLocks xmlns:a="http://schemas.openxmlformats.org/drawingml/2006/main" noGrp="1"/>
          </p:cNvSpPr>
          <p:nvPr/>
        </p:nvSpPr>
        <p:spPr>
          <a:xfrm xmlns:a="http://schemas.openxmlformats.org/drawingml/2006/main">
            <a:off x="0" y="5915025"/>
            <a:ext cx="12191695" cy="4667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30FCA6DE-E006-4498-BAC9-5196CAD8187A}"/>
              </a:ext>
            </a:extLst>
          </p:cNvPr>
          <p:cNvSpPr>
            <a:spLocks xmlns:a="http://schemas.openxmlformats.org/drawingml/2006/main" noGrp="1"/>
          </p:cNvSpPr>
          <p:nvPr/>
        </p:nvSpPr>
        <p:spPr>
          <a:xfrm xmlns:a="http://schemas.openxmlformats.org/drawingml/2006/main">
            <a:off x="619125" y="5981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One partner acts. One partner checks. Then swap roles.</a:t>
            </a:r>
          </a:p>
        </p:txBody>
      </p:sp>
      <p:sp>
        <p:nvSpPr>
          <p:cNvPr id="12" name="">
            <a:extLst xmlns:a="http://schemas.openxmlformats.org/drawingml/2006/main">
              <a:ext uri="{FF2B5EF4-FFF2-40B4-BE49-F238E27FC236}">
                <a16:creationId xmlns:a16="http://schemas.microsoft.com/office/drawing/2014/main" id="{F055F258-7D53-4E83-AEF1-193B5CBA047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43</a:t>
            </a:r>
          </a:p>
        </p:txBody>
      </p:sp>
    </p:spTree>
    <p:extLst>
      <p:ext uri="{BB962C8B-B14F-4D97-AF65-F5344CB8AC3E}">
        <p14:creationId xmlns:p14="http://schemas.microsoft.com/office/powerpoint/2010/main" val="2026653226"/>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68C193A-7C3B-4860-AF20-AD0622E3768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FFE7D04-9E19-4018-BFC7-6370440389D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DISCUSS THE REASONING</a:t>
            </a:r>
          </a:p>
        </p:txBody>
      </p:sp>
      <p:sp>
        <p:nvSpPr>
          <p:cNvPr id="3" name="">
            <a:extLst xmlns:a="http://schemas.openxmlformats.org/drawingml/2006/main">
              <a:ext uri="{FF2B5EF4-FFF2-40B4-BE49-F238E27FC236}">
                <a16:creationId xmlns:a16="http://schemas.microsoft.com/office/drawing/2014/main" id="{3E3B169C-B29A-4E4A-A521-92C2DD5BF2C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the activity shows</a:t>
            </a:r>
          </a:p>
        </p:txBody>
      </p:sp>
      <p:sp>
        <p:nvSpPr>
          <p:cNvPr id="4" name="">
            <a:extLst xmlns:a="http://schemas.openxmlformats.org/drawingml/2006/main">
              <a:ext uri="{FF2B5EF4-FFF2-40B4-BE49-F238E27FC236}">
                <a16:creationId xmlns:a16="http://schemas.microsoft.com/office/drawing/2014/main" id="{0891A349-C4E4-4934-AA2F-DF10289691F9}"/>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B052896-E3ED-432C-AE0E-DD676E005901}"/>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2E7D6F"/>
                </a:solidFill>
                <a:latin typeface="Calibri"/>
                <a:ea typeface="Calibri"/>
                <a:cs typeface="Calibri"/>
              </a:defRPr>
            </a:pPr>
            <a:r>
              <a:rPr sz="3150" b="1">
                <a:solidFill>
                  <a:srgbClr val="2E7D6F"/>
                </a:solidFill>
                <a:latin typeface="Calibri"/>
                <a:ea typeface="Calibri"/>
                <a:cs typeface="Calibri"/>
              </a:rPr>
              <a:t>The returned answers are 8 and 14. The same instructions accept different inputs.</a:t>
            </a:r>
          </a:p>
        </p:txBody>
      </p:sp>
      <p:sp>
        <p:nvSpPr>
          <p:cNvPr id="6" name="">
            <a:extLst xmlns:a="http://schemas.openxmlformats.org/drawingml/2006/main">
              <a:ext uri="{FF2B5EF4-FFF2-40B4-BE49-F238E27FC236}">
                <a16:creationId xmlns:a16="http://schemas.microsoft.com/office/drawing/2014/main" id="{EDB76793-3FD9-4DE9-B89D-BED3B7B5DF29}"/>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75DF894D-EBA1-4768-8ED6-24208E9D45D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44</a:t>
            </a:r>
          </a:p>
        </p:txBody>
      </p:sp>
    </p:spTree>
    <p:extLst>
      <p:ext uri="{BB962C8B-B14F-4D97-AF65-F5344CB8AC3E}">
        <p14:creationId xmlns:p14="http://schemas.microsoft.com/office/powerpoint/2010/main" val="1286453243"/>
      </p:ext>
    </p:extLst>
  </p:cSld>
</p:sld>
</file>

<file path=ppt/slides/slide45.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7C30C84-D547-4BCF-A8A1-6E0F70CE6E6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D5A60113-26BC-41D7-8146-5F43DE73BD0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turn</a:t>
            </a:r>
          </a:p>
        </p:txBody>
      </p:sp>
      <p:sp>
        <p:nvSpPr>
          <p:cNvPr id="3" name="">
            <a:extLst xmlns:a="http://schemas.openxmlformats.org/drawingml/2006/main">
              <a:ext uri="{FF2B5EF4-FFF2-40B4-BE49-F238E27FC236}">
                <a16:creationId xmlns:a16="http://schemas.microsoft.com/office/drawing/2014/main" id="{A0005BFE-3B09-4513-AFDA-86953D502583}"/>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EA49772F-F822-4F88-B78E-347FD31A3BE4}"/>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Write triple_value(x). Predict triple_value(5). Then predict safe_share(12, 0).</a:t>
            </a:r>
          </a:p>
        </p:txBody>
      </p:sp>
      <p:sp>
        <p:nvSpPr>
          <p:cNvPr id="5" name="">
            <a:extLst xmlns:a="http://schemas.openxmlformats.org/drawingml/2006/main">
              <a:ext uri="{FF2B5EF4-FFF2-40B4-BE49-F238E27FC236}">
                <a16:creationId xmlns:a16="http://schemas.microsoft.com/office/drawing/2014/main" id="{8748FAF4-236E-4C72-A6B0-6EB97D5BE62F}"/>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Think alone first. Then compare your reasoning with a partner.</a:t>
            </a:r>
          </a:p>
        </p:txBody>
      </p:sp>
      <p:sp>
        <p:nvSpPr>
          <p:cNvPr id="6" name="">
            <a:extLst xmlns:a="http://schemas.openxmlformats.org/drawingml/2006/main">
              <a:ext uri="{FF2B5EF4-FFF2-40B4-BE49-F238E27FC236}">
                <a16:creationId xmlns:a16="http://schemas.microsoft.com/office/drawing/2014/main" id="{77E36EE5-CCE2-4CE9-AB14-FA0F01FABA0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3   45</a:t>
            </a:r>
          </a:p>
        </p:txBody>
      </p:sp>
    </p:spTree>
    <p:extLst>
      <p:ext uri="{BB962C8B-B14F-4D97-AF65-F5344CB8AC3E}">
        <p14:creationId xmlns:p14="http://schemas.microsoft.com/office/powerpoint/2010/main" val="219286130"/>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C1BEB93-4421-4754-A95F-2D3438FB866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7C32A31-A7F6-4F25-9880-60D7784358A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DISCUSS THE REASONING</a:t>
            </a:r>
          </a:p>
        </p:txBody>
      </p:sp>
      <p:sp>
        <p:nvSpPr>
          <p:cNvPr id="3" name="">
            <a:extLst xmlns:a="http://schemas.openxmlformats.org/drawingml/2006/main">
              <a:ext uri="{FF2B5EF4-FFF2-40B4-BE49-F238E27FC236}">
                <a16:creationId xmlns:a16="http://schemas.microsoft.com/office/drawing/2014/main" id="{AE308851-F87C-49FE-953A-5462496DBD3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discussion</a:t>
            </a:r>
          </a:p>
        </p:txBody>
      </p:sp>
      <p:sp>
        <p:nvSpPr>
          <p:cNvPr id="4" name="">
            <a:extLst xmlns:a="http://schemas.openxmlformats.org/drawingml/2006/main">
              <a:ext uri="{FF2B5EF4-FFF2-40B4-BE49-F238E27FC236}">
                <a16:creationId xmlns:a16="http://schemas.microsoft.com/office/drawing/2014/main" id="{BBE95F34-433F-48B8-87D0-663751C239CB}"/>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397F54A-7202-4D9F-A121-053EFD6FCED8}"/>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2E7D6F"/>
                </a:solidFill>
                <a:latin typeface="Calibri"/>
                <a:ea typeface="Calibri"/>
                <a:cs typeface="Calibri"/>
              </a:defRPr>
            </a:pPr>
            <a:r>
              <a:rPr sz="3150" b="1">
                <a:solidFill>
                  <a:srgbClr val="2E7D6F"/>
                </a:solidFill>
                <a:latin typeface="Calibri"/>
                <a:ea typeface="Calibri"/>
                <a:cs typeface="Calibri"/>
              </a:rPr>
              <a:t>triple_value returns x * 3. The calls give 15 and None respectively. The guard returns before division when people is zero.</a:t>
            </a:r>
          </a:p>
        </p:txBody>
      </p:sp>
      <p:sp>
        <p:nvSpPr>
          <p:cNvPr id="6" name="">
            <a:extLst xmlns:a="http://schemas.openxmlformats.org/drawingml/2006/main">
              <a:ext uri="{FF2B5EF4-FFF2-40B4-BE49-F238E27FC236}">
                <a16:creationId xmlns:a16="http://schemas.microsoft.com/office/drawing/2014/main" id="{B153BFF9-3E94-4170-AA08-EC5BFFA5EE40}"/>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6556A970-337E-4AAB-B9B1-04A273A8F40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46</a:t>
            </a:r>
          </a:p>
        </p:txBody>
      </p:sp>
    </p:spTree>
    <p:extLst>
      <p:ext uri="{BB962C8B-B14F-4D97-AF65-F5344CB8AC3E}">
        <p14:creationId xmlns:p14="http://schemas.microsoft.com/office/powerpoint/2010/main" val="814689506"/>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ED9C35A-A05E-4B11-956C-3CEDA8C03D6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44A76CE-B0D7-48F4-9CAD-C07ED4B50B8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0EAC114-713C-44FE-A977-51997086811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quantities before the formulas</a:t>
            </a:r>
          </a:p>
        </p:txBody>
      </p:sp>
      <p:sp>
        <p:nvSpPr>
          <p:cNvPr id="4" name="">
            <a:extLst xmlns:a="http://schemas.openxmlformats.org/drawingml/2006/main">
              <a:ext uri="{FF2B5EF4-FFF2-40B4-BE49-F238E27FC236}">
                <a16:creationId xmlns:a16="http://schemas.microsoft.com/office/drawing/2014/main" id="{CFA3B43A-19D2-4C86-9D6F-3C82EB640D5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7CC3D79-60F2-43EC-A0CF-9AC6FC4903C2}"/>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Mass measures matter in kg. Weight is a force in newtons (N): mass × gravitational acceleration. Here g = 9.81 m/s².</a:t>
            </a:r>
          </a:p>
        </p:txBody>
      </p:sp>
      <p:sp>
        <p:nvSpPr>
          <p:cNvPr id="6" name="">
            <a:extLst xmlns:a="http://schemas.openxmlformats.org/drawingml/2006/main">
              <a:ext uri="{FF2B5EF4-FFF2-40B4-BE49-F238E27FC236}">
                <a16:creationId xmlns:a16="http://schemas.microsoft.com/office/drawing/2014/main" id="{98ED9045-9D5D-482E-A5C7-ADA5F5D7AC25}"/>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5970F7B-68BB-4BBC-A480-BC31264371CB}"/>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Power is a rate of energy transfer, measured in watts (W). Efficiency compares useful output power with input power.</a:t>
            </a:r>
          </a:p>
        </p:txBody>
      </p:sp>
      <p:sp>
        <p:nvSpPr>
          <p:cNvPr id="8" name="">
            <a:extLst xmlns:a="http://schemas.openxmlformats.org/drawingml/2006/main">
              <a:ext uri="{FF2B5EF4-FFF2-40B4-BE49-F238E27FC236}">
                <a16:creationId xmlns:a16="http://schemas.microsoft.com/office/drawing/2014/main" id="{015F3BCA-F17D-4C60-BA28-05A6F440A0B7}"/>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8B176B5-61D4-44B2-B9F1-7AE3BD37D5D8}"/>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rpm means revolutions per minute. One revolution is 2π radians; one minute is 60 seconds. π is approximately 3.14159.</a:t>
            </a:r>
          </a:p>
        </p:txBody>
      </p:sp>
      <p:sp>
        <p:nvSpPr>
          <p:cNvPr id="10" name="">
            <a:extLst xmlns:a="http://schemas.openxmlformats.org/drawingml/2006/main">
              <a:ext uri="{FF2B5EF4-FFF2-40B4-BE49-F238E27FC236}">
                <a16:creationId xmlns:a16="http://schemas.microsoft.com/office/drawing/2014/main" id="{D59028FC-CCA6-40A6-A1FB-125C619CBB5A}"/>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F388649-4B1C-4093-8167-F8EE96845FA3}"/>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named constant is a value kept fixed for a calculation. Uppercase names such as PI are a convention; Python does not prevent changing them.</a:t>
            </a:r>
          </a:p>
        </p:txBody>
      </p:sp>
      <p:sp>
        <p:nvSpPr>
          <p:cNvPr id="12" name="">
            <a:extLst xmlns:a="http://schemas.openxmlformats.org/drawingml/2006/main">
              <a:ext uri="{FF2B5EF4-FFF2-40B4-BE49-F238E27FC236}">
                <a16:creationId xmlns:a16="http://schemas.microsoft.com/office/drawing/2014/main" id="{E39BD55E-3F0E-4B73-A398-5406CEB3D39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47</a:t>
            </a:r>
          </a:p>
        </p:txBody>
      </p:sp>
    </p:spTree>
    <p:extLst>
      <p:ext uri="{BB962C8B-B14F-4D97-AF65-F5344CB8AC3E}">
        <p14:creationId xmlns:p14="http://schemas.microsoft.com/office/powerpoint/2010/main" val="111466870"/>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41C09B0-27FE-41FD-8187-9E5EF272F0F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BFB4154-2561-41EB-B363-BAEAE4E79B6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3B2A1EE-15DE-43FA-9B4C-96CECAD0E20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Quantities and units</a:t>
            </a:r>
          </a:p>
        </p:txBody>
      </p:sp>
      <p:sp>
        <p:nvSpPr>
          <p:cNvPr id="4" name="">
            <a:extLst xmlns:a="http://schemas.openxmlformats.org/drawingml/2006/main">
              <a:ext uri="{FF2B5EF4-FFF2-40B4-BE49-F238E27FC236}">
                <a16:creationId xmlns:a16="http://schemas.microsoft.com/office/drawing/2014/main" id="{7D6A4B2C-EDBA-4CF4-A9F4-6E5127914AF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8174595-A64A-44D7-AE2A-166473D8392E}"/>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Weight = mass × gravitational acceleration. Use g = 9.81 m/s² in the task.</a:t>
            </a:r>
          </a:p>
        </p:txBody>
      </p:sp>
      <p:sp>
        <p:nvSpPr>
          <p:cNvPr id="6" name="">
            <a:extLst xmlns:a="http://schemas.openxmlformats.org/drawingml/2006/main">
              <a:ext uri="{FF2B5EF4-FFF2-40B4-BE49-F238E27FC236}">
                <a16:creationId xmlns:a16="http://schemas.microsoft.com/office/drawing/2014/main" id="{C32F0213-42CA-4828-8E9F-D5508ADF2EFD}"/>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68F8AA4-6B21-4E4A-8C41-64D0F665DCF2}"/>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Signed percentage error = 100 × (measured − expected) / expected, for a nonzero expected value.</a:t>
            </a:r>
          </a:p>
        </p:txBody>
      </p:sp>
      <p:sp>
        <p:nvSpPr>
          <p:cNvPr id="8" name="">
            <a:extLst xmlns:a="http://schemas.openxmlformats.org/drawingml/2006/main">
              <a:ext uri="{FF2B5EF4-FFF2-40B4-BE49-F238E27FC236}">
                <a16:creationId xmlns:a16="http://schemas.microsoft.com/office/drawing/2014/main" id="{11A5D875-AAA9-4B60-902D-FFC480FBFA14}"/>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9C66C6E-4B32-4929-9FEF-BBAA34209146}"/>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Efficiency (%) = 100 × output power / input power.</a:t>
            </a:r>
          </a:p>
        </p:txBody>
      </p:sp>
      <p:sp>
        <p:nvSpPr>
          <p:cNvPr id="10" name="">
            <a:extLst xmlns:a="http://schemas.openxmlformats.org/drawingml/2006/main">
              <a:ext uri="{FF2B5EF4-FFF2-40B4-BE49-F238E27FC236}">
                <a16:creationId xmlns:a16="http://schemas.microsoft.com/office/drawing/2014/main" id="{2838A0A0-A637-4E32-BC25-680CD7BFBF79}"/>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B2183E1-9AAC-48C2-94BB-B871337A3E5F}"/>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assignment returns None when input power is zero or negative.</a:t>
            </a:r>
          </a:p>
        </p:txBody>
      </p:sp>
      <p:sp>
        <p:nvSpPr>
          <p:cNvPr id="12" name="">
            <a:extLst xmlns:a="http://schemas.openxmlformats.org/drawingml/2006/main">
              <a:ext uri="{FF2B5EF4-FFF2-40B4-BE49-F238E27FC236}">
                <a16:creationId xmlns:a16="http://schemas.microsoft.com/office/drawing/2014/main" id="{FE9BDE8C-DEF3-4E4E-8635-A650B83BBED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48</a:t>
            </a:r>
          </a:p>
        </p:txBody>
      </p:sp>
    </p:spTree>
    <p:extLst>
      <p:ext uri="{BB962C8B-B14F-4D97-AF65-F5344CB8AC3E}">
        <p14:creationId xmlns:p14="http://schemas.microsoft.com/office/powerpoint/2010/main" val="553714990"/>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5ED49FA-0606-46B6-803B-D41EB786BA6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2B7E06C-DACA-4004-AD1B-97CE8985688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D15A816-CD3B-4776-B1D7-0E15C7E885A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programme formula</a:t>
            </a:r>
          </a:p>
        </p:txBody>
      </p:sp>
      <p:sp>
        <p:nvSpPr>
          <p:cNvPr id="4" name="">
            <a:extLst xmlns:a="http://schemas.openxmlformats.org/drawingml/2006/main">
              <a:ext uri="{FF2B5EF4-FFF2-40B4-BE49-F238E27FC236}">
                <a16:creationId xmlns:a16="http://schemas.microsoft.com/office/drawing/2014/main" id="{E719C541-54DB-4D02-8F5E-A2454C57EEB7}"/>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B4F40DC-AD98-4124-8FD8-12B55323C3BE}"/>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Resistive power loss (W) = current (A) squared × resistance (ohms).</a:t>
            </a:r>
          </a:p>
        </p:txBody>
      </p:sp>
      <p:sp>
        <p:nvSpPr>
          <p:cNvPr id="6" name="">
            <a:extLst xmlns:a="http://schemas.openxmlformats.org/drawingml/2006/main">
              <a:ext uri="{FF2B5EF4-FFF2-40B4-BE49-F238E27FC236}">
                <a16:creationId xmlns:a16="http://schemas.microsoft.com/office/drawing/2014/main" id="{C3171574-1778-4FF3-892B-B7FA058A6B8B}"/>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Python, current ** 2 means current multiplied by itself.</a:t>
            </a:r>
          </a:p>
        </p:txBody>
      </p:sp>
      <p:sp>
        <p:nvSpPr>
          <p:cNvPr id="7" name="">
            <a:extLst xmlns:a="http://schemas.openxmlformats.org/drawingml/2006/main">
              <a:ext uri="{FF2B5EF4-FFF2-40B4-BE49-F238E27FC236}">
                <a16:creationId xmlns:a16="http://schemas.microsoft.com/office/drawing/2014/main" id="{6B6616FC-3D62-4DDB-8594-B2A89C6F523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49</a:t>
            </a:r>
          </a:p>
        </p:txBody>
      </p:sp>
    </p:spTree>
    <p:extLst>
      <p:ext uri="{BB962C8B-B14F-4D97-AF65-F5344CB8AC3E}">
        <p14:creationId xmlns:p14="http://schemas.microsoft.com/office/powerpoint/2010/main" val="555427085"/>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BF1D24C9-99F0-4BF4-A078-81CDDBB7FCE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5A7CC2C-6935-4063-ACC5-45E33A0C43C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69193D41-30C8-4E94-B3BF-496669D323D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Short explainer and discussion</a:t>
            </a:r>
          </a:p>
        </p:txBody>
      </p:sp>
      <p:sp>
        <p:nvSpPr>
          <p:cNvPr id="4" name="">
            <a:extLst xmlns:a="http://schemas.openxmlformats.org/drawingml/2006/main">
              <a:ext uri="{FF2B5EF4-FFF2-40B4-BE49-F238E27FC236}">
                <a16:creationId xmlns:a16="http://schemas.microsoft.com/office/drawing/2014/main" id="{6A7BC954-18C2-463D-BD36-3F1D9BBA46ED}"/>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45DF46A-B0D1-4B0E-9E01-B451E3168C99}"/>
              </a:ext>
            </a:extLst>
          </p:cNvPr>
          <p:cNvSpPr>
            <a:spLocks xmlns:a="http://schemas.openxmlformats.org/drawingml/2006/main" noGrp="1"/>
          </p:cNvSpPr>
          <p:nvPr/>
        </p:nvSpPr>
        <p:spPr>
          <a:xfrm xmlns:a="http://schemas.openxmlformats.org/drawingml/2006/main">
            <a:off x="1381125" y="1724025"/>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Corey Schafer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Python Tutorial for Beginners 3: Integers and Floats</a:t>
            </a:r>
          </a:p>
        </p:txBody>
      </p:sp>
      <p:sp>
        <p:nvSpPr>
          <p:cNvPr id="6" name="">
            <a:extLst xmlns:a="http://schemas.openxmlformats.org/drawingml/2006/main">
              <a:ext uri="{FF2B5EF4-FFF2-40B4-BE49-F238E27FC236}">
                <a16:creationId xmlns:a16="http://schemas.microsoft.com/office/drawing/2014/main" id="{9D00EBE0-1E1C-48D7-A3FA-FEB93C2F3BF2}"/>
              </a:ext>
            </a:extLst>
          </p:cNvPr>
          <p:cNvSpPr>
            <a:spLocks xmlns:a="http://schemas.openxmlformats.org/drawingml/2006/main" noGrp="1"/>
          </p:cNvSpPr>
          <p:nvPr/>
        </p:nvSpPr>
        <p:spPr>
          <a:xfrm xmlns:a="http://schemas.openxmlformats.org/drawingml/2006/main">
            <a:off x="590550" y="27876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C7D4A7A-6AB6-4247-9CC3-41664609EAFE}"/>
              </a:ext>
            </a:extLst>
          </p:cNvPr>
          <p:cNvSpPr>
            <a:spLocks xmlns:a="http://schemas.openxmlformats.org/drawingml/2006/main" noGrp="1"/>
          </p:cNvSpPr>
          <p:nvPr/>
        </p:nvSpPr>
        <p:spPr>
          <a:xfrm xmlns:a="http://schemas.openxmlformats.org/drawingml/2006/main">
            <a:off x="1381125" y="2787650"/>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00:00–04:00, suggested four-minute excerpt; preview before class</a:t>
            </a:r>
          </a:p>
        </p:txBody>
      </p:sp>
      <p:sp>
        <p:nvSpPr>
          <p:cNvPr id="8" name="">
            <a:extLst xmlns:a="http://schemas.openxmlformats.org/drawingml/2006/main">
              <a:ext uri="{FF2B5EF4-FFF2-40B4-BE49-F238E27FC236}">
                <a16:creationId xmlns:a16="http://schemas.microsoft.com/office/drawing/2014/main" id="{1354F10B-5C0E-4E44-8BB6-0970E5A329F7}"/>
              </a:ext>
            </a:extLst>
          </p:cNvPr>
          <p:cNvSpPr>
            <a:spLocks xmlns:a="http://schemas.openxmlformats.org/drawingml/2006/main" noGrp="1"/>
          </p:cNvSpPr>
          <p:nvPr/>
        </p:nvSpPr>
        <p:spPr>
          <a:xfrm xmlns:a="http://schemas.openxmlformats.org/drawingml/2006/main">
            <a:off x="590550" y="38512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F9675F2-263D-4317-B582-06F0DA8848CD}"/>
              </a:ext>
            </a:extLst>
          </p:cNvPr>
          <p:cNvSpPr>
            <a:spLocks xmlns:a="http://schemas.openxmlformats.org/drawingml/2006/main" noGrp="1"/>
          </p:cNvSpPr>
          <p:nvPr/>
        </p:nvSpPr>
        <p:spPr>
          <a:xfrm xmlns:a="http://schemas.openxmlformats.org/drawingml/2006/main">
            <a:off x="1381125" y="3851275"/>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How are numbers written and how do arithmetic operators change them?</a:t>
            </a:r>
          </a:p>
        </p:txBody>
      </p:sp>
      <p:sp>
        <p:nvSpPr>
          <p:cNvPr id="10" name="">
            <a:extLst xmlns:a="http://schemas.openxmlformats.org/drawingml/2006/main">
              <a:ext uri="{FF2B5EF4-FFF2-40B4-BE49-F238E27FC236}">
                <a16:creationId xmlns:a16="http://schemas.microsoft.com/office/drawing/2014/main" id="{C031D6DC-4414-4AEC-AE28-1027C342E1E1}"/>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6072300-944D-4767-BDA1-8535080574C3}"/>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595c0224478640bc"/>
              </a:rPr>
              <a:t>Open explainer video</a:t>
            </a:r>
          </a:p>
        </p:txBody>
      </p:sp>
      <p:sp>
        <p:nvSpPr>
          <p:cNvPr id="12" name="">
            <a:extLst xmlns:a="http://schemas.openxmlformats.org/drawingml/2006/main">
              <a:ext uri="{FF2B5EF4-FFF2-40B4-BE49-F238E27FC236}">
                <a16:creationId xmlns:a16="http://schemas.microsoft.com/office/drawing/2014/main" id="{B30E3B72-0458-4EC9-A563-1CD097176EC6}"/>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https://www.youtube.com/watch?v=khKv-8q7YmY</a:t>
            </a:r>
          </a:p>
        </p:txBody>
      </p:sp>
      <p:sp>
        <p:nvSpPr>
          <p:cNvPr id="13" name="">
            <a:extLst xmlns:a="http://schemas.openxmlformats.org/drawingml/2006/main">
              <a:ext uri="{FF2B5EF4-FFF2-40B4-BE49-F238E27FC236}">
                <a16:creationId xmlns:a16="http://schemas.microsoft.com/office/drawing/2014/main" id="{6F14BF9D-2FA3-41B6-BAEC-4EDC17796CF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50</a:t>
            </a:r>
          </a:p>
        </p:txBody>
      </p:sp>
    </p:spTree>
    <p:extLst>
      <p:ext uri="{BB962C8B-B14F-4D97-AF65-F5344CB8AC3E}">
        <p14:creationId xmlns:p14="http://schemas.microsoft.com/office/powerpoint/2010/main" val="484125753"/>
      </p:ext>
    </p:extLst>
  </p:cSld>
</p:sld>
</file>

<file path=ppt/slides/slide51.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5AAA4F5-A2CF-4EBF-8BBA-D4F1B72726D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D92527E3-2CE4-455C-AD76-04B2D6B0DD8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After the video</a:t>
            </a:r>
          </a:p>
        </p:txBody>
      </p:sp>
      <p:sp>
        <p:nvSpPr>
          <p:cNvPr id="3" name="">
            <a:extLst xmlns:a="http://schemas.openxmlformats.org/drawingml/2006/main">
              <a:ext uri="{FF2B5EF4-FFF2-40B4-BE49-F238E27FC236}">
                <a16:creationId xmlns:a16="http://schemas.microsoft.com/office/drawing/2014/main" id="{196F89C1-D3DE-464D-BCA7-2681EA69B091}"/>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9A39541A-6DE7-41D5-9FD2-7A5EFB563020}"/>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Calculate 7 / 2 and 7 // 2 in Colab and explain the difference.</a:t>
            </a:r>
          </a:p>
        </p:txBody>
      </p:sp>
      <p:sp>
        <p:nvSpPr>
          <p:cNvPr id="5" name="">
            <a:extLst xmlns:a="http://schemas.openxmlformats.org/drawingml/2006/main">
              <a:ext uri="{FF2B5EF4-FFF2-40B4-BE49-F238E27FC236}">
                <a16:creationId xmlns:a16="http://schemas.microsoft.com/office/drawing/2014/main" id="{57177706-37C2-4F17-A3BA-8B8B3155FC8E}"/>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Think alone first. Then compare your reasoning with a partner.</a:t>
            </a:r>
          </a:p>
        </p:txBody>
      </p:sp>
      <p:sp>
        <p:nvSpPr>
          <p:cNvPr id="6" name="">
            <a:extLst xmlns:a="http://schemas.openxmlformats.org/drawingml/2006/main">
              <a:ext uri="{FF2B5EF4-FFF2-40B4-BE49-F238E27FC236}">
                <a16:creationId xmlns:a16="http://schemas.microsoft.com/office/drawing/2014/main" id="{BD42048F-80B3-46BC-8A9B-CB92860E958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3   51</a:t>
            </a:r>
          </a:p>
        </p:txBody>
      </p:sp>
    </p:spTree>
    <p:extLst>
      <p:ext uri="{BB962C8B-B14F-4D97-AF65-F5344CB8AC3E}">
        <p14:creationId xmlns:p14="http://schemas.microsoft.com/office/powerpoint/2010/main" val="669311027"/>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2D1E19B-92D4-4FDE-9A8D-AEF233F7044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29F88F4-4C85-4B72-A539-5A81885093F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7918B71B-94D5-481F-BADA-E5A4C86E682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6E222CD0-BA8E-4ED5-AA25-854480D2968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951F795-6116-437F-9CBB-D6943DB28627}"/>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A3 has five named tasks, not five additional projects.</a:t>
            </a:r>
          </a:p>
        </p:txBody>
      </p:sp>
      <p:sp>
        <p:nvSpPr>
          <p:cNvPr id="6" name="">
            <a:extLst xmlns:a="http://schemas.openxmlformats.org/drawingml/2006/main">
              <a:ext uri="{FF2B5EF4-FFF2-40B4-BE49-F238E27FC236}">
                <a16:creationId xmlns:a16="http://schemas.microsoft.com/office/drawing/2014/main" id="{3B82FAB8-6143-477C-93AF-9851ECEB3AB8}"/>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8469F4D-6366-4150-8D7B-FFA12972A712}"/>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each public prompt and its exact output name.</a:t>
            </a:r>
          </a:p>
        </p:txBody>
      </p:sp>
      <p:sp>
        <p:nvSpPr>
          <p:cNvPr id="8" name="">
            <a:extLst xmlns:a="http://schemas.openxmlformats.org/drawingml/2006/main">
              <a:ext uri="{FF2B5EF4-FFF2-40B4-BE49-F238E27FC236}">
                <a16:creationId xmlns:a16="http://schemas.microsoft.com/office/drawing/2014/main" id="{CCE25ED5-A1B3-45AA-808B-048F7CECB50B}"/>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DB97288-BABB-4A3A-BF47-6A8ED003F783}"/>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Signed percentage error = 100 × (measured − expected) / expected.</a:t>
            </a:r>
          </a:p>
        </p:txBody>
      </p:sp>
      <p:sp>
        <p:nvSpPr>
          <p:cNvPr id="10" name="">
            <a:extLst xmlns:a="http://schemas.openxmlformats.org/drawingml/2006/main">
              <a:ext uri="{FF2B5EF4-FFF2-40B4-BE49-F238E27FC236}">
                <a16:creationId xmlns:a16="http://schemas.microsoft.com/office/drawing/2014/main" id="{A20019B2-F8F1-476B-A63A-76DE97FF9F7C}"/>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56B7327-3B16-4CA2-8D4B-BE80765B9CDD}"/>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a nonzero expected value.</a:t>
            </a:r>
          </a:p>
        </p:txBody>
      </p:sp>
      <p:sp>
        <p:nvSpPr>
          <p:cNvPr id="12" name="">
            <a:extLst xmlns:a="http://schemas.openxmlformats.org/drawingml/2006/main">
              <a:ext uri="{FF2B5EF4-FFF2-40B4-BE49-F238E27FC236}">
                <a16:creationId xmlns:a16="http://schemas.microsoft.com/office/drawing/2014/main" id="{818D34EB-B997-4A2F-BC8D-5789E51EBDD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52</a:t>
            </a:r>
          </a:p>
        </p:txBody>
      </p:sp>
    </p:spTree>
    <p:extLst>
      <p:ext uri="{BB962C8B-B14F-4D97-AF65-F5344CB8AC3E}">
        <p14:creationId xmlns:p14="http://schemas.microsoft.com/office/powerpoint/2010/main" val="1928196242"/>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8FD8A45-273C-4CBE-9DD0-CA940FB16AE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449959D-F7E5-47BA-BA95-67C4BFA7E21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E32FC14-13DD-4077-ACDE-1F3A9E726DD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 continued</a:t>
            </a:r>
          </a:p>
        </p:txBody>
      </p:sp>
      <p:sp>
        <p:nvSpPr>
          <p:cNvPr id="4" name="">
            <a:extLst xmlns:a="http://schemas.openxmlformats.org/drawingml/2006/main">
              <a:ext uri="{FF2B5EF4-FFF2-40B4-BE49-F238E27FC236}">
                <a16:creationId xmlns:a16="http://schemas.microsoft.com/office/drawing/2014/main" id="{2F00A3C0-2C72-49BE-88C3-A35E33CD424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89F636A-0C4D-413E-A66B-88F47363379B}"/>
              </a:ext>
            </a:extLst>
          </p:cNvPr>
          <p:cNvSpPr>
            <a:spLocks xmlns:a="http://schemas.openxmlformats.org/drawingml/2006/main" noGrp="1"/>
          </p:cNvSpPr>
          <p:nvPr/>
        </p:nvSpPr>
        <p:spPr>
          <a:xfrm xmlns:a="http://schemas.openxmlformats.org/drawingml/2006/main">
            <a:off x="1381125" y="1781175"/>
            <a:ext cx="10096500" cy="2062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formula for your programme shown earlier. q4 specifies the zero-input behaviour. q5 uses the supplied six readings; trace them on paper, and use your own percentage-error function.</a:t>
            </a:r>
          </a:p>
        </p:txBody>
      </p:sp>
      <p:sp>
        <p:nvSpPr>
          <p:cNvPr id="6" name="">
            <a:extLst xmlns:a="http://schemas.openxmlformats.org/drawingml/2006/main">
              <a:ext uri="{FF2B5EF4-FFF2-40B4-BE49-F238E27FC236}">
                <a16:creationId xmlns:a16="http://schemas.microsoft.com/office/drawing/2014/main" id="{E7AC9BC7-9CB4-4291-B4D6-A67F9A75460E}"/>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1925AA3-6AF8-4174-A2EA-F8C4D6155EF8}"/>
              </a:ext>
            </a:extLst>
          </p:cNvPr>
          <p:cNvSpPr>
            <a:spLocks xmlns:a="http://schemas.openxmlformats.org/drawingml/2006/main" noGrp="1"/>
          </p:cNvSpPr>
          <p:nvPr/>
        </p:nvSpPr>
        <p:spPr>
          <a:xfrm xmlns:a="http://schemas.openxmlformats.org/drawingml/2006/main">
            <a:off x="1381125" y="3919538"/>
            <a:ext cx="10096500" cy="2062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Loops are not required yet.</a:t>
            </a:r>
          </a:p>
        </p:txBody>
      </p:sp>
      <p:sp>
        <p:nvSpPr>
          <p:cNvPr id="8" name="">
            <a:extLst xmlns:a="http://schemas.openxmlformats.org/drawingml/2006/main">
              <a:ext uri="{FF2B5EF4-FFF2-40B4-BE49-F238E27FC236}">
                <a16:creationId xmlns:a16="http://schemas.microsoft.com/office/drawing/2014/main" id="{BDDE2B15-FAE9-42B2-A9AD-D545C74CA32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53</a:t>
            </a:r>
          </a:p>
        </p:txBody>
      </p:sp>
    </p:spTree>
    <p:extLst>
      <p:ext uri="{BB962C8B-B14F-4D97-AF65-F5344CB8AC3E}">
        <p14:creationId xmlns:p14="http://schemas.microsoft.com/office/powerpoint/2010/main" val="1297481008"/>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57F6D1D-02FA-4F53-9551-99146EFF151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4034D54-0CBD-4DA0-BD05-FC5FBCD7868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D13FCA5-F0BC-4015-A475-E54312E00F0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Units branches and error messages</a:t>
            </a:r>
          </a:p>
        </p:txBody>
      </p:sp>
      <p:sp>
        <p:nvSpPr>
          <p:cNvPr id="4" name="">
            <a:extLst xmlns:a="http://schemas.openxmlformats.org/drawingml/2006/main">
              <a:ext uri="{FF2B5EF4-FFF2-40B4-BE49-F238E27FC236}">
                <a16:creationId xmlns:a16="http://schemas.microsoft.com/office/drawing/2014/main" id="{CCFF6BA3-E33B-4BCD-B5F0-780CE93B22F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0395D46-AEB5-4E3F-A74B-C44121AE3964}"/>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the unit beside each function input.</a:t>
            </a:r>
          </a:p>
        </p:txBody>
      </p:sp>
      <p:sp>
        <p:nvSpPr>
          <p:cNvPr id="6" name="">
            <a:extLst xmlns:a="http://schemas.openxmlformats.org/drawingml/2006/main">
              <a:ext uri="{FF2B5EF4-FFF2-40B4-BE49-F238E27FC236}">
                <a16:creationId xmlns:a16="http://schemas.microsoft.com/office/drawing/2014/main" id="{D61B8AF6-D7B2-45F6-8A53-1AA8B9093C8B}"/>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2FF20B0-EBC3-481A-82DD-B7E97AF6BBFA}"/>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Millimetres become metres by dividing by 1000.</a:t>
            </a:r>
          </a:p>
        </p:txBody>
      </p:sp>
      <p:sp>
        <p:nvSpPr>
          <p:cNvPr id="8" name="">
            <a:extLst xmlns:a="http://schemas.openxmlformats.org/drawingml/2006/main">
              <a:ext uri="{FF2B5EF4-FFF2-40B4-BE49-F238E27FC236}">
                <a16:creationId xmlns:a16="http://schemas.microsoft.com/office/drawing/2014/main" id="{A26C1768-007C-441E-BBE1-8D27B1283866}"/>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DBA1137-CB25-4D8E-884E-63AC0264E08B}"/>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Percent becomes a fraction by dividing by 100.</a:t>
            </a:r>
          </a:p>
        </p:txBody>
      </p:sp>
      <p:sp>
        <p:nvSpPr>
          <p:cNvPr id="10" name="">
            <a:extLst xmlns:a="http://schemas.openxmlformats.org/drawingml/2006/main">
              <a:ext uri="{FF2B5EF4-FFF2-40B4-BE49-F238E27FC236}">
                <a16:creationId xmlns:a16="http://schemas.microsoft.com/office/drawing/2014/main" id="{35E61EA4-6406-4F46-B565-71FF875F7860}"/>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A54B044-7D2F-4D08-9D4F-5C93F19A96B0}"/>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Rotational speed in rpm becomes radians per second by multiplying by 2π/60.</a:t>
            </a:r>
          </a:p>
        </p:txBody>
      </p:sp>
      <p:sp>
        <p:nvSpPr>
          <p:cNvPr id="12" name="">
            <a:extLst xmlns:a="http://schemas.openxmlformats.org/drawingml/2006/main">
              <a:ext uri="{FF2B5EF4-FFF2-40B4-BE49-F238E27FC236}">
                <a16:creationId xmlns:a16="http://schemas.microsoft.com/office/drawing/2014/main" id="{9CAB60CB-BA0C-4482-A980-562F3BC1FC6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54</a:t>
            </a:r>
          </a:p>
        </p:txBody>
      </p:sp>
    </p:spTree>
    <p:extLst>
      <p:ext uri="{BB962C8B-B14F-4D97-AF65-F5344CB8AC3E}">
        <p14:creationId xmlns:p14="http://schemas.microsoft.com/office/powerpoint/2010/main" val="1361440988"/>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621A4C1-F4D4-49F9-A224-09929B1BDE7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37A22E4-CCC7-4F00-A576-94C9EB51670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72CBB32-F602-4136-933D-EE7D40FD971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Units branches and error messages continued</a:t>
            </a:r>
          </a:p>
        </p:txBody>
      </p:sp>
      <p:sp>
        <p:nvSpPr>
          <p:cNvPr id="4" name="">
            <a:extLst xmlns:a="http://schemas.openxmlformats.org/drawingml/2006/main">
              <a:ext uri="{FF2B5EF4-FFF2-40B4-BE49-F238E27FC236}">
                <a16:creationId xmlns:a16="http://schemas.microsoft.com/office/drawing/2014/main" id="{504DFDA2-F046-43DA-947F-97ED97FCF46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8AF27B9-A4C9-4B02-9723-2E2E63B06BDE}"/>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conversions change the number, not the physical quantity.</a:t>
            </a:r>
          </a:p>
        </p:txBody>
      </p:sp>
      <p:sp>
        <p:nvSpPr>
          <p:cNvPr id="6" name="">
            <a:extLst xmlns:a="http://schemas.openxmlformats.org/drawingml/2006/main">
              <a:ext uri="{FF2B5EF4-FFF2-40B4-BE49-F238E27FC236}">
                <a16:creationId xmlns:a16="http://schemas.microsoft.com/office/drawing/2014/main" id="{B0197086-6359-4FF3-961F-DC0181BAAF7D}"/>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ED2586C-2868-4602-A8C9-DBDDA30FB2B1}"/>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an if/elif chain, Python uses the FIRST matching branch.</a:t>
            </a:r>
          </a:p>
        </p:txBody>
      </p:sp>
      <p:sp>
        <p:nvSpPr>
          <p:cNvPr id="8" name="">
            <a:extLst xmlns:a="http://schemas.openxmlformats.org/drawingml/2006/main">
              <a:ext uri="{FF2B5EF4-FFF2-40B4-BE49-F238E27FC236}">
                <a16:creationId xmlns:a16="http://schemas.microsoft.com/office/drawing/2014/main" id="{981416CD-256A-43EF-8EC2-16DCA0020477}"/>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081BC0A-B82E-432E-A5B3-A59D29CC0457}"/>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Trace one branch at a time.</a:t>
            </a:r>
          </a:p>
        </p:txBody>
      </p:sp>
      <p:sp>
        <p:nvSpPr>
          <p:cNvPr id="10" name="">
            <a:extLst xmlns:a="http://schemas.openxmlformats.org/drawingml/2006/main">
              <a:ext uri="{FF2B5EF4-FFF2-40B4-BE49-F238E27FC236}">
                <a16:creationId xmlns:a16="http://schemas.microsoft.com/office/drawing/2014/main" id="{F1FDA27C-60F3-41B7-8E5F-1CEECC80BD06}"/>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4757DA3-02F3-40A2-A3EE-6BE93B34B85A}"/>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TypeError can mean text was used where a number was expected.</a:t>
            </a:r>
          </a:p>
        </p:txBody>
      </p:sp>
      <p:sp>
        <p:nvSpPr>
          <p:cNvPr id="12" name="">
            <a:extLst xmlns:a="http://schemas.openxmlformats.org/drawingml/2006/main">
              <a:ext uri="{FF2B5EF4-FFF2-40B4-BE49-F238E27FC236}">
                <a16:creationId xmlns:a16="http://schemas.microsoft.com/office/drawing/2014/main" id="{3320FA4C-B119-4546-B9A4-1F397142A6D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55</a:t>
            </a:r>
          </a:p>
        </p:txBody>
      </p:sp>
    </p:spTree>
    <p:extLst>
      <p:ext uri="{BB962C8B-B14F-4D97-AF65-F5344CB8AC3E}">
        <p14:creationId xmlns:p14="http://schemas.microsoft.com/office/powerpoint/2010/main" val="387459094"/>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AE63C81-A7E2-499E-8E2C-8DECDAF2140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D78B8D6-5B34-414A-B3C0-C87A2A7D234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F2D9EFE-CAE2-473A-AD0C-FC3A41174B7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Units branches and error messages continued</a:t>
            </a:r>
          </a:p>
        </p:txBody>
      </p:sp>
      <p:sp>
        <p:nvSpPr>
          <p:cNvPr id="4" name="">
            <a:extLst xmlns:a="http://schemas.openxmlformats.org/drawingml/2006/main">
              <a:ext uri="{FF2B5EF4-FFF2-40B4-BE49-F238E27FC236}">
                <a16:creationId xmlns:a16="http://schemas.microsoft.com/office/drawing/2014/main" id="{DCC1F81C-233C-44CF-B61E-57CF4D702C1C}"/>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4C31462-3262-45B9-8AC1-ABE9D5F5CA94}"/>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Put a repeated teaching limit in one clearly named constant.</a:t>
            </a:r>
          </a:p>
        </p:txBody>
      </p:sp>
      <p:sp>
        <p:nvSpPr>
          <p:cNvPr id="6" name="">
            <a:extLst xmlns:a="http://schemas.openxmlformats.org/drawingml/2006/main">
              <a:ext uri="{FF2B5EF4-FFF2-40B4-BE49-F238E27FC236}">
                <a16:creationId xmlns:a16="http://schemas.microsoft.com/office/drawing/2014/main" id="{04E4AA2A-2B13-4C15-8621-22D2F0613EF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56</a:t>
            </a:r>
          </a:p>
        </p:txBody>
      </p:sp>
    </p:spTree>
    <p:extLst>
      <p:ext uri="{BB962C8B-B14F-4D97-AF65-F5344CB8AC3E}">
        <p14:creationId xmlns:p14="http://schemas.microsoft.com/office/powerpoint/2010/main" val="101098368"/>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923DAC7-1CE8-4891-8994-897DE161773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F2BCAD8-4244-4A6A-9BC1-33C85BC455B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FEB7C54-B523-4831-B498-E766AC0E83E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assignment</a:t>
            </a:r>
          </a:p>
        </p:txBody>
      </p:sp>
      <p:sp>
        <p:nvSpPr>
          <p:cNvPr id="4" name="">
            <a:extLst xmlns:a="http://schemas.openxmlformats.org/drawingml/2006/main">
              <a:ext uri="{FF2B5EF4-FFF2-40B4-BE49-F238E27FC236}">
                <a16:creationId xmlns:a16="http://schemas.microsoft.com/office/drawing/2014/main" id="{BD85EDCF-F79C-4F1F-BE5C-2F8CDE95055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AA13C76-BAA9-4109-8C30-B82324FE66F9}"/>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W03_student.ipynb.</a:t>
            </a:r>
          </a:p>
        </p:txBody>
      </p:sp>
      <p:sp>
        <p:nvSpPr>
          <p:cNvPr id="6" name="">
            <a:extLst xmlns:a="http://schemas.openxmlformats.org/drawingml/2006/main">
              <a:ext uri="{FF2B5EF4-FFF2-40B4-BE49-F238E27FC236}">
                <a16:creationId xmlns:a16="http://schemas.microsoft.com/office/drawing/2014/main" id="{1A9A7D75-CA8A-44D2-B636-87DF0F189DA6}"/>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F0496E4-2A52-46A3-B8F7-C61FB6525931}"/>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every task and its input units before coding.</a:t>
            </a:r>
          </a:p>
        </p:txBody>
      </p:sp>
      <p:sp>
        <p:nvSpPr>
          <p:cNvPr id="8" name="">
            <a:extLst xmlns:a="http://schemas.openxmlformats.org/drawingml/2006/main">
              <a:ext uri="{FF2B5EF4-FFF2-40B4-BE49-F238E27FC236}">
                <a16:creationId xmlns:a16="http://schemas.microsoft.com/office/drawing/2014/main" id="{1D5EEAE1-7D13-4C01-890D-914977D88607}"/>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F46A8E3-9F18-47D8-BCDE-02B174175DD6}"/>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required function names and returned outputs.</a:t>
            </a:r>
          </a:p>
        </p:txBody>
      </p:sp>
      <p:sp>
        <p:nvSpPr>
          <p:cNvPr id="10" name="">
            <a:extLst xmlns:a="http://schemas.openxmlformats.org/drawingml/2006/main">
              <a:ext uri="{FF2B5EF4-FFF2-40B4-BE49-F238E27FC236}">
                <a16:creationId xmlns:a16="http://schemas.microsoft.com/office/drawing/2014/main" id="{50514E4B-6521-4416-97F9-09E0954B676D}"/>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BE34174-5E75-423E-B061-EAB5B5E49358}"/>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Run the supplied visible checks, then restart and run all.</a:t>
            </a:r>
          </a:p>
        </p:txBody>
      </p:sp>
      <p:sp>
        <p:nvSpPr>
          <p:cNvPr id="12" name="">
            <a:extLst xmlns:a="http://schemas.openxmlformats.org/drawingml/2006/main">
              <a:ext uri="{FF2B5EF4-FFF2-40B4-BE49-F238E27FC236}">
                <a16:creationId xmlns:a16="http://schemas.microsoft.com/office/drawing/2014/main" id="{CBDE134E-0CAE-4D1B-A6E9-C932AF1975A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57</a:t>
            </a:r>
          </a:p>
        </p:txBody>
      </p:sp>
    </p:spTree>
    <p:extLst>
      <p:ext uri="{BB962C8B-B14F-4D97-AF65-F5344CB8AC3E}">
        <p14:creationId xmlns:p14="http://schemas.microsoft.com/office/powerpoint/2010/main" val="1781318389"/>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5D11972-E71F-490F-A8E4-1E3748AD05C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F08DB1D-AF11-4672-ADA0-C3E35D9D6D1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47AE0F6F-EA5F-4696-868D-918F2DFBE3C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q1: 3 marks</a:t>
            </a:r>
          </a:p>
        </p:txBody>
      </p:sp>
      <p:sp>
        <p:nvSpPr>
          <p:cNvPr id="4" name="">
            <a:extLst xmlns:a="http://schemas.openxmlformats.org/drawingml/2006/main">
              <a:ext uri="{FF2B5EF4-FFF2-40B4-BE49-F238E27FC236}">
                <a16:creationId xmlns:a16="http://schemas.microsoft.com/office/drawing/2014/main" id="{5E27B6C7-F507-436D-8DF7-79EC9189DDD1}"/>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B2B6E93-F1AC-422D-A62E-3CC899793742}"/>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A 40 kg motor sits on a bench.</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Set weight_n to its weight in newtons, taking g = 9.81.</a:t>
            </a:r>
          </a:p>
        </p:txBody>
      </p:sp>
      <p:sp>
        <p:nvSpPr>
          <p:cNvPr id="6" name="">
            <a:extLst xmlns:a="http://schemas.openxmlformats.org/drawingml/2006/main">
              <a:ext uri="{FF2B5EF4-FFF2-40B4-BE49-F238E27FC236}">
                <a16:creationId xmlns:a16="http://schemas.microsoft.com/office/drawing/2014/main" id="{72FF294F-7527-4ACA-9A97-B30D835DF2F1}"/>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0D2B5CE9-8CB1-4987-A4B8-66EC934DD64C}"/>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5878FF3A-11E3-4A3F-A3BE-6F09E19FFE0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58</a:t>
            </a:r>
          </a:p>
        </p:txBody>
      </p:sp>
    </p:spTree>
    <p:extLst>
      <p:ext uri="{BB962C8B-B14F-4D97-AF65-F5344CB8AC3E}">
        <p14:creationId xmlns:p14="http://schemas.microsoft.com/office/powerpoint/2010/main" val="378595573"/>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90E9628-A312-4B13-803B-765735A9A1E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CB28329-C126-4568-8C6A-FF6C3DD356D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A641FE9A-3A0D-41F1-B19D-3E2CB54D0AA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q2: 4 marks</a:t>
            </a:r>
          </a:p>
        </p:txBody>
      </p:sp>
      <p:sp>
        <p:nvSpPr>
          <p:cNvPr id="4" name="">
            <a:extLst xmlns:a="http://schemas.openxmlformats.org/drawingml/2006/main">
              <a:ext uri="{FF2B5EF4-FFF2-40B4-BE49-F238E27FC236}">
                <a16:creationId xmlns:a16="http://schemas.microsoft.com/office/drawing/2014/main" id="{ACA035F5-21D6-481A-883B-A6BBCBF2B0AC}"/>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F6A6E61-F0FB-470C-B709-DBA0184F8260}"/>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Write percent_error(measured, expected) returning the signed percent error.</a:t>
            </a:r>
          </a:p>
        </p:txBody>
      </p:sp>
      <p:sp>
        <p:nvSpPr>
          <p:cNvPr id="6" name="">
            <a:extLst xmlns:a="http://schemas.openxmlformats.org/drawingml/2006/main">
              <a:ext uri="{FF2B5EF4-FFF2-40B4-BE49-F238E27FC236}">
                <a16:creationId xmlns:a16="http://schemas.microsoft.com/office/drawing/2014/main" id="{B1A16282-EDE3-4DF3-AF89-7D7FFAA26A3C}"/>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FF5FB92D-4056-4A72-93D2-7F9D88D9E975}"/>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CBD26506-3F7F-45FD-A247-AA36729E254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59</a:t>
            </a:r>
          </a:p>
        </p:txBody>
      </p:sp>
    </p:spTree>
    <p:extLst>
      <p:ext uri="{BB962C8B-B14F-4D97-AF65-F5344CB8AC3E}">
        <p14:creationId xmlns:p14="http://schemas.microsoft.com/office/powerpoint/2010/main" val="2032869642"/>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2576091-6AE3-4020-A11C-B2B33F8417A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1344C03-CF19-4369-A6A1-B0AB1C82C9E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69862490-C9B7-4D07-BF0F-7E9E489DE9B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q3: 3 marks</a:t>
            </a:r>
          </a:p>
        </p:txBody>
      </p:sp>
      <p:sp>
        <p:nvSpPr>
          <p:cNvPr id="4" name="">
            <a:extLst xmlns:a="http://schemas.openxmlformats.org/drawingml/2006/main">
              <a:ext uri="{FF2B5EF4-FFF2-40B4-BE49-F238E27FC236}">
                <a16:creationId xmlns:a16="http://schemas.microsoft.com/office/drawing/2014/main" id="{B72EE27A-1C62-4D21-94D3-01973BFD7918}"/>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7052703-6D66-4F80-929E-42FF36EC002A}"/>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Write power_loss(current, resistance) returning the power lost in watts (I squared R).</a:t>
            </a:r>
          </a:p>
        </p:txBody>
      </p:sp>
      <p:sp>
        <p:nvSpPr>
          <p:cNvPr id="6" name="">
            <a:extLst xmlns:a="http://schemas.openxmlformats.org/drawingml/2006/main">
              <a:ext uri="{FF2B5EF4-FFF2-40B4-BE49-F238E27FC236}">
                <a16:creationId xmlns:a16="http://schemas.microsoft.com/office/drawing/2014/main" id="{8D43087B-E3B7-47C1-95D7-AACE0688EF0B}"/>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54266AA0-E24A-4B38-AD9C-0E84E60F2CBF}"/>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E21D82DD-9F5F-48E1-B52B-6EF5D126B7C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60</a:t>
            </a:r>
          </a:p>
        </p:txBody>
      </p:sp>
    </p:spTree>
    <p:extLst>
      <p:ext uri="{BB962C8B-B14F-4D97-AF65-F5344CB8AC3E}">
        <p14:creationId xmlns:p14="http://schemas.microsoft.com/office/powerpoint/2010/main" val="864894904"/>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3DBDA48-3367-4C47-8ADD-DABB086157E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3CF809E-BB57-41AE-A1FE-A87BDDC00EB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A618598E-5E53-4C7A-B03D-8C5A8B5D957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q4: 5 marks</a:t>
            </a:r>
          </a:p>
        </p:txBody>
      </p:sp>
      <p:sp>
        <p:nvSpPr>
          <p:cNvPr id="4" name="">
            <a:extLst xmlns:a="http://schemas.openxmlformats.org/drawingml/2006/main">
              <a:ext uri="{FF2B5EF4-FFF2-40B4-BE49-F238E27FC236}">
                <a16:creationId xmlns:a16="http://schemas.microsoft.com/office/drawing/2014/main" id="{B8C9413E-3275-4157-A5F5-EB758EE75AF1}"/>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3617E26-7793-4B3C-BC7B-1DEEFA9A58E1}"/>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Write efficiency(out_w, in_w) returning the percentage, and returning None when in_w is zero or negative.</a:t>
            </a:r>
          </a:p>
        </p:txBody>
      </p:sp>
      <p:sp>
        <p:nvSpPr>
          <p:cNvPr id="6" name="">
            <a:extLst xmlns:a="http://schemas.openxmlformats.org/drawingml/2006/main">
              <a:ext uri="{FF2B5EF4-FFF2-40B4-BE49-F238E27FC236}">
                <a16:creationId xmlns:a16="http://schemas.microsoft.com/office/drawing/2014/main" id="{71680BD9-C212-447E-BA0E-854CE536F9C5}"/>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EE30DD4-8C5D-4594-A96D-5B04B09C3840}"/>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5A952C9F-2AC5-40D7-93E3-32AEE36C5A4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61</a:t>
            </a:r>
          </a:p>
        </p:txBody>
      </p:sp>
    </p:spTree>
    <p:extLst>
      <p:ext uri="{BB962C8B-B14F-4D97-AF65-F5344CB8AC3E}">
        <p14:creationId xmlns:p14="http://schemas.microsoft.com/office/powerpoint/2010/main" val="1004352482"/>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8BF30DC-32BE-463B-A66E-B4C19A3581D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A8EE810-1D2B-4F8A-9107-49D9BA7AD6D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D46929C6-DC3F-4D62-AF5F-70DFF0DE9F4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q5: 5 marks</a:t>
            </a:r>
          </a:p>
        </p:txBody>
      </p:sp>
      <p:sp>
        <p:nvSpPr>
          <p:cNvPr id="4" name="">
            <a:extLst xmlns:a="http://schemas.openxmlformats.org/drawingml/2006/main">
              <a:ext uri="{FF2B5EF4-FFF2-40B4-BE49-F238E27FC236}">
                <a16:creationId xmlns:a16="http://schemas.microsoft.com/office/drawing/2014/main" id="{FD830BC4-A289-45DF-B874-11A5C79D83A9}"/>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09BE04D-A0CC-47DB-A790-C65AB54F23FE}"/>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READINGS is given in the notebook.</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Using your own percent_error against a nominal of 100, set worst_reading to the reading with the largest error by size, and worst_error to that reading's signed percent error.</a:t>
            </a:r>
          </a:p>
        </p:txBody>
      </p:sp>
      <p:sp>
        <p:nvSpPr>
          <p:cNvPr id="6" name="">
            <a:extLst xmlns:a="http://schemas.openxmlformats.org/drawingml/2006/main">
              <a:ext uri="{FF2B5EF4-FFF2-40B4-BE49-F238E27FC236}">
                <a16:creationId xmlns:a16="http://schemas.microsoft.com/office/drawing/2014/main" id="{F0C4389B-3349-4896-B309-4B5C4A53E4BF}"/>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ED14C7BF-DDE3-416B-8D63-99EC1532430F}"/>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57773D68-3780-4E4B-88F8-5484EA8DA39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62</a:t>
            </a:r>
          </a:p>
        </p:txBody>
      </p:sp>
    </p:spTree>
    <p:extLst>
      <p:ext uri="{BB962C8B-B14F-4D97-AF65-F5344CB8AC3E}">
        <p14:creationId xmlns:p14="http://schemas.microsoft.com/office/powerpoint/2010/main" val="1085487249"/>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6447351B-7181-497B-8581-4CD99E543D3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3EED291-7D9A-4A04-AE0A-79162ED78D5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4B1514C3-2D5B-4208-9C3A-BAC749C6535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functions submission</a:t>
            </a:r>
          </a:p>
        </p:txBody>
      </p:sp>
      <p:sp>
        <p:nvSpPr>
          <p:cNvPr id="4" name="">
            <a:extLst xmlns:a="http://schemas.openxmlformats.org/drawingml/2006/main">
              <a:ext uri="{FF2B5EF4-FFF2-40B4-BE49-F238E27FC236}">
                <a16:creationId xmlns:a16="http://schemas.microsoft.com/office/drawing/2014/main" id="{29BA3BCD-8368-409D-AA6C-3169C195A380}"/>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09A177E-7A6F-4E20-A9F4-E9778A148501}"/>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25 Sep 2026, 11:00 Kampala</a:t>
            </a:r>
          </a:p>
        </p:txBody>
      </p:sp>
      <p:sp>
        <p:nvSpPr>
          <p:cNvPr id="6" name="">
            <a:extLst xmlns:a="http://schemas.openxmlformats.org/drawingml/2006/main">
              <a:ext uri="{FF2B5EF4-FFF2-40B4-BE49-F238E27FC236}">
                <a16:creationId xmlns:a16="http://schemas.microsoft.com/office/drawing/2014/main" id="{B78AC227-1F99-4C1D-9F9E-B78D5406AB37}"/>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F623FDB-34DB-4C84-BF02-ECE20EAE5D49}"/>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02 Oct 2026, 11:00 Kampala</a:t>
            </a:r>
          </a:p>
        </p:txBody>
      </p:sp>
      <p:sp>
        <p:nvSpPr>
          <p:cNvPr id="8" name="">
            <a:extLst xmlns:a="http://schemas.openxmlformats.org/drawingml/2006/main">
              <a:ext uri="{FF2B5EF4-FFF2-40B4-BE49-F238E27FC236}">
                <a16:creationId xmlns:a16="http://schemas.microsoft.com/office/drawing/2014/main" id="{D3C1EC27-218C-45FA-B8A5-A0C65983FDB0}"/>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4B053F8-F5CF-4272-84F9-379A336D37E1}"/>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D96E473D-BA12-4D2F-A700-8E142B1C9971}"/>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8382B26A-D6DB-4E37-AFB8-0E52A2DF66E4}"/>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B02FA2E2-9D6A-4770-86F8-0384B4026D6D}"/>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E54DA5F9-8682-4DEB-98CB-91C7D20899CC}"/>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12f7044f7f4742ce"/>
              </a:rPr>
              <a:t>Open W03 assignment form</a:t>
            </a:r>
          </a:p>
        </p:txBody>
      </p:sp>
      <p:sp>
        <p:nvSpPr>
          <p:cNvPr id="14" name="">
            <a:extLst xmlns:a="http://schemas.openxmlformats.org/drawingml/2006/main">
              <a:ext uri="{FF2B5EF4-FFF2-40B4-BE49-F238E27FC236}">
                <a16:creationId xmlns:a16="http://schemas.microsoft.com/office/drawing/2014/main" id="{797F11D9-ACEF-4B2B-8283-686735EB9DD5}"/>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https://docs.google.com/forms/d/e/1FAIpQLSfKemYzDIRelE0iDCo_KsJvzw0jyw--Fy8lyJHvm-XpNoEQkQ/viewform</a:t>
            </a:r>
          </a:p>
        </p:txBody>
      </p:sp>
      <p:sp>
        <p:nvSpPr>
          <p:cNvPr id="15" name="">
            <a:extLst xmlns:a="http://schemas.openxmlformats.org/drawingml/2006/main">
              <a:ext uri="{FF2B5EF4-FFF2-40B4-BE49-F238E27FC236}">
                <a16:creationId xmlns:a16="http://schemas.microsoft.com/office/drawing/2014/main" id="{A4E15481-169A-4C36-B8B1-B77B0F85920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63</a:t>
            </a:r>
          </a:p>
        </p:txBody>
      </p:sp>
    </p:spTree>
    <p:extLst>
      <p:ext uri="{BB962C8B-B14F-4D97-AF65-F5344CB8AC3E}">
        <p14:creationId xmlns:p14="http://schemas.microsoft.com/office/powerpoint/2010/main" val="1769602083"/>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93593119-7C29-42F6-B902-40DA84A4A9A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771A845-86F0-4B91-BA76-112CFD607DD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93CA8F16-F360-444A-AE9B-19DF3FE2D51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3 quiz</a:t>
            </a:r>
          </a:p>
        </p:txBody>
      </p:sp>
      <p:sp>
        <p:nvSpPr>
          <p:cNvPr id="4" name="">
            <a:extLst xmlns:a="http://schemas.openxmlformats.org/drawingml/2006/main">
              <a:ext uri="{FF2B5EF4-FFF2-40B4-BE49-F238E27FC236}">
                <a16:creationId xmlns:a16="http://schemas.microsoft.com/office/drawing/2014/main" id="{10CCDB7C-DCF1-48D9-99CC-6FA7DA1E9995}"/>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5715500-E8CF-4FD8-86C5-1616F6288416}"/>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BB36EF48-C412-4A46-A49E-92D763088528}"/>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E387BE5-6401-46E2-B7C3-CABD0602D766}"/>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FE166997-B6B5-4FC5-8DCC-368B1D0102DB}"/>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84C2ECF-ED4C-4E32-8458-0E2D64F7AD5F}"/>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DBFA2C14-35B5-42E5-84E0-DA5E8D134658}"/>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96D4684-9EF9-4B3E-B74F-72710F01A0E9}"/>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 will confirm the exact closing time.</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4e6391ac557d40c4"/>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153796E0-A680-4B40-BCBB-2C42791431D9}"/>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C6D325AF-23AA-4B80-9E34-0402C26DF4B5}"/>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0C14886A-33A6-4745-AE26-EDEF702172CF}"/>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6617eddccb474492"/>
              </a:rPr>
              <a:t>Open this week’s quiz</a:t>
            </a:r>
          </a:p>
        </p:txBody>
      </p:sp>
      <p:sp>
        <p:nvSpPr>
          <p:cNvPr id="16" name="">
            <a:extLst xmlns:a="http://schemas.openxmlformats.org/drawingml/2006/main">
              <a:ext uri="{FF2B5EF4-FFF2-40B4-BE49-F238E27FC236}">
                <a16:creationId xmlns:a16="http://schemas.microsoft.com/office/drawing/2014/main" id="{E065F280-DAD7-4F4C-8913-4441055BB37C}"/>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https://forms.gle/vyTpTEpJUaAbAFbM9</a:t>
            </a:r>
          </a:p>
        </p:txBody>
      </p:sp>
      <p:sp>
        <p:nvSpPr>
          <p:cNvPr id="17" name="">
            <a:extLst xmlns:a="http://schemas.openxmlformats.org/drawingml/2006/main">
              <a:ext uri="{FF2B5EF4-FFF2-40B4-BE49-F238E27FC236}">
                <a16:creationId xmlns:a16="http://schemas.microsoft.com/office/drawing/2014/main" id="{84FE15A2-F6FA-41C5-9818-68CA50CC28C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64</a:t>
            </a:r>
          </a:p>
        </p:txBody>
      </p:sp>
    </p:spTree>
    <p:extLst>
      <p:ext uri="{BB962C8B-B14F-4D97-AF65-F5344CB8AC3E}">
        <p14:creationId xmlns:p14="http://schemas.microsoft.com/office/powerpoint/2010/main" val="466700131"/>
      </p:ext>
    </p:extLst>
  </p:cSld>
</p:sld>
</file>

<file path=ppt/slides/slide65.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EA7A364-3D3D-4558-BA9E-B27D3C23312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FB2AE0A0-7A5F-49C8-8031-EC82B611479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Before you leave</a:t>
            </a:r>
          </a:p>
        </p:txBody>
      </p:sp>
      <p:sp>
        <p:nvSpPr>
          <p:cNvPr id="3" name="">
            <a:extLst xmlns:a="http://schemas.openxmlformats.org/drawingml/2006/main">
              <a:ext uri="{FF2B5EF4-FFF2-40B4-BE49-F238E27FC236}">
                <a16:creationId xmlns:a16="http://schemas.microsoft.com/office/drawing/2014/main" id="{4BFA9382-ABA2-416A-97EC-C87230D6A4FB}"/>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B0EFF18A-2344-4739-AB29-6CA4DAB7FBC0}"/>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explain each input, the returned answer and its engineering unit.</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6409BD89-26AC-41D1-9273-071B9900CFD8}"/>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4BE79483-E72E-486F-B694-A46899FF124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3   65</a:t>
            </a:r>
          </a:p>
        </p:txBody>
      </p:sp>
    </p:spTree>
    <p:extLst>
      <p:ext uri="{BB962C8B-B14F-4D97-AF65-F5344CB8AC3E}">
        <p14:creationId xmlns:p14="http://schemas.microsoft.com/office/powerpoint/2010/main" val="92910887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2026-09-21T10:27:03.1210000Z</dcterms:created>
  <dcterms:modified xsi:type="dcterms:W3CDTF">2026-09-21T10:27:03.1210000Z</dcterms:modified>
</coreProperties>
</file>