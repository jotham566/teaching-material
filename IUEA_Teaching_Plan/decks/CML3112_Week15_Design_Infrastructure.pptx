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9eaf52b08d4e17" /><Relationship Type="http://schemas.openxmlformats.org/officeDocument/2006/relationships/extended-properties" Target="/docProps/app.xml" Id="R266e91a71c6040bd" /><Relationship Type="http://schemas.openxmlformats.org/officeDocument/2006/relationships/officeDocument" Target="/ppt/presentation.xml" Id="Rd22d5af0271c4b8f" /></Relationships>
</file>

<file path=ppt/presentation.xml><?xml version="1.0" encoding="utf-8"?>
<p:presentation xmlns:p="http://schemas.openxmlformats.org/presentationml/2006/main">
  <p:sldMasterIdLst>
    <p:sldMasterId xmlns:r="http://schemas.openxmlformats.org/officeDocument/2006/relationships" id="2147483648" r:id="R38006fe1c9ef4e61"/>
  </p:sldMasterIdLst>
  <p:notesMasterIdLst>
    <p:notesMasterId xmlns:r="http://schemas.openxmlformats.org/officeDocument/2006/relationships" r:id="R1a086a7e71774fe6"/>
  </p:notesMasterIdLst>
  <p:sldIdLst>
    <p:sldId xmlns:r="http://schemas.openxmlformats.org/officeDocument/2006/relationships" id="256" r:id="R3a399bb4c4e74789"/>
    <p:sldId xmlns:r="http://schemas.openxmlformats.org/officeDocument/2006/relationships" id="257" r:id="R098226f278704ad3"/>
    <p:sldId xmlns:r="http://schemas.openxmlformats.org/officeDocument/2006/relationships" id="258" r:id="R944e04c9125f4a90"/>
    <p:sldId xmlns:r="http://schemas.openxmlformats.org/officeDocument/2006/relationships" id="259" r:id="R9da8a0e31fca4f57"/>
    <p:sldId xmlns:r="http://schemas.openxmlformats.org/officeDocument/2006/relationships" id="260" r:id="Red3e48e863304145"/>
    <p:sldId xmlns:r="http://schemas.openxmlformats.org/officeDocument/2006/relationships" id="261" r:id="R0f6da96b98764285"/>
    <p:sldId xmlns:r="http://schemas.openxmlformats.org/officeDocument/2006/relationships" id="262" r:id="R67c8b6b65dcc4e3f"/>
    <p:sldId xmlns:r="http://schemas.openxmlformats.org/officeDocument/2006/relationships" id="263" r:id="R6d62bc38583b457e"/>
    <p:sldId xmlns:r="http://schemas.openxmlformats.org/officeDocument/2006/relationships" id="264" r:id="R9d6ec0a231544d4c"/>
    <p:sldId xmlns:r="http://schemas.openxmlformats.org/officeDocument/2006/relationships" id="265" r:id="R7625bfe833b04584"/>
    <p:sldId xmlns:r="http://schemas.openxmlformats.org/officeDocument/2006/relationships" id="266" r:id="R479e830122dd4b74"/>
    <p:sldId xmlns:r="http://schemas.openxmlformats.org/officeDocument/2006/relationships" id="267" r:id="R3874137705d34da0"/>
    <p:sldId xmlns:r="http://schemas.openxmlformats.org/officeDocument/2006/relationships" id="268" r:id="Re500d5fa40ff40f9"/>
    <p:sldId xmlns:r="http://schemas.openxmlformats.org/officeDocument/2006/relationships" id="269" r:id="Ree17c12a7a5b4cda"/>
    <p:sldId xmlns:r="http://schemas.openxmlformats.org/officeDocument/2006/relationships" id="270" r:id="R4215f171f1d34ff3"/>
    <p:sldId xmlns:r="http://schemas.openxmlformats.org/officeDocument/2006/relationships" id="271" r:id="Re160778f2e8149e0"/>
    <p:sldId xmlns:r="http://schemas.openxmlformats.org/officeDocument/2006/relationships" id="272" r:id="Rb16996f501e24a35"/>
    <p:sldId xmlns:r="http://schemas.openxmlformats.org/officeDocument/2006/relationships" id="273" r:id="Ra7bcfb2030514624"/>
    <p:sldId xmlns:r="http://schemas.openxmlformats.org/officeDocument/2006/relationships" id="274" r:id="Rf25ee9f2077d4ff7"/>
    <p:sldId xmlns:r="http://schemas.openxmlformats.org/officeDocument/2006/relationships" id="275" r:id="R6408fdc3ed684ad5"/>
    <p:sldId xmlns:r="http://schemas.openxmlformats.org/officeDocument/2006/relationships" id="276" r:id="Reaf3fbc673534872"/>
    <p:sldId xmlns:r="http://schemas.openxmlformats.org/officeDocument/2006/relationships" id="277" r:id="R71d6567625f44f2f"/>
    <p:sldId xmlns:r="http://schemas.openxmlformats.org/officeDocument/2006/relationships" id="278" r:id="R75a0271b6b944478"/>
    <p:sldId xmlns:r="http://schemas.openxmlformats.org/officeDocument/2006/relationships" id="279" r:id="Raf5e43af0ce04c1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bc7c95554e43d8" /><Relationship Type="http://schemas.openxmlformats.org/officeDocument/2006/relationships/slideMaster" Target="/ppt/slideMasters/slideMaster1.xml" Id="R38006fe1c9ef4e61" /><Relationship Type="http://schemas.openxmlformats.org/officeDocument/2006/relationships/notesMaster" Target="/ppt/notesMasters/notesMaster1.xml" Id="R1a086a7e71774fe6" /><Relationship Type="http://schemas.openxmlformats.org/officeDocument/2006/relationships/presProps" Target="/ppt/presProps.xml" Id="Rb046a5f226064ed1" /><Relationship Type="http://schemas.openxmlformats.org/officeDocument/2006/relationships/tableStyles" Target="/ppt/tableStyles.xml" Id="R7a6a572def2a41e7" /><Relationship Type="http://schemas.openxmlformats.org/officeDocument/2006/relationships/slide" Target="/ppt/slides/slide1.xml" Id="R3a399bb4c4e74789" /><Relationship Type="http://schemas.openxmlformats.org/officeDocument/2006/relationships/slide" Target="/ppt/slides/slide2.xml" Id="R098226f278704ad3" /><Relationship Type="http://schemas.openxmlformats.org/officeDocument/2006/relationships/slide" Target="/ppt/slides/slide3.xml" Id="R944e04c9125f4a90" /><Relationship Type="http://schemas.openxmlformats.org/officeDocument/2006/relationships/slide" Target="/ppt/slides/slide4.xml" Id="R9da8a0e31fca4f57" /><Relationship Type="http://schemas.openxmlformats.org/officeDocument/2006/relationships/slide" Target="/ppt/slides/slide5.xml" Id="Red3e48e863304145" /><Relationship Type="http://schemas.openxmlformats.org/officeDocument/2006/relationships/slide" Target="/ppt/slides/slide6.xml" Id="R0f6da96b98764285" /><Relationship Type="http://schemas.openxmlformats.org/officeDocument/2006/relationships/slide" Target="/ppt/slides/slide7.xml" Id="R67c8b6b65dcc4e3f" /><Relationship Type="http://schemas.openxmlformats.org/officeDocument/2006/relationships/slide" Target="/ppt/slides/slide8.xml" Id="R6d62bc38583b457e" /><Relationship Type="http://schemas.openxmlformats.org/officeDocument/2006/relationships/slide" Target="/ppt/slides/slide9.xml" Id="R9d6ec0a231544d4c" /><Relationship Type="http://schemas.openxmlformats.org/officeDocument/2006/relationships/slide" Target="/ppt/slides/slide10.xml" Id="R7625bfe833b04584" /><Relationship Type="http://schemas.openxmlformats.org/officeDocument/2006/relationships/slide" Target="/ppt/slides/slide11.xml" Id="R479e830122dd4b74" /><Relationship Type="http://schemas.openxmlformats.org/officeDocument/2006/relationships/slide" Target="/ppt/slides/slide12.xml" Id="R3874137705d34da0" /><Relationship Type="http://schemas.openxmlformats.org/officeDocument/2006/relationships/slide" Target="/ppt/slides/slide13.xml" Id="Re500d5fa40ff40f9" /><Relationship Type="http://schemas.openxmlformats.org/officeDocument/2006/relationships/slide" Target="/ppt/slides/slide14.xml" Id="Ree17c12a7a5b4cda" /><Relationship Type="http://schemas.openxmlformats.org/officeDocument/2006/relationships/slide" Target="/ppt/slides/slide15.xml" Id="R4215f171f1d34ff3" /><Relationship Type="http://schemas.openxmlformats.org/officeDocument/2006/relationships/slide" Target="/ppt/slides/slide16.xml" Id="Re160778f2e8149e0" /><Relationship Type="http://schemas.openxmlformats.org/officeDocument/2006/relationships/slide" Target="/ppt/slides/slide17.xml" Id="Rb16996f501e24a35" /><Relationship Type="http://schemas.openxmlformats.org/officeDocument/2006/relationships/slide" Target="/ppt/slides/slide18.xml" Id="Ra7bcfb2030514624" /><Relationship Type="http://schemas.openxmlformats.org/officeDocument/2006/relationships/slide" Target="/ppt/slides/slide19.xml" Id="Rf25ee9f2077d4ff7" /><Relationship Type="http://schemas.openxmlformats.org/officeDocument/2006/relationships/slide" Target="/ppt/slides/slide20.xml" Id="R6408fdc3ed684ad5" /><Relationship Type="http://schemas.openxmlformats.org/officeDocument/2006/relationships/slide" Target="/ppt/slides/slide21.xml" Id="Reaf3fbc673534872" /><Relationship Type="http://schemas.openxmlformats.org/officeDocument/2006/relationships/slide" Target="/ppt/slides/slide22.xml" Id="R71d6567625f44f2f" /><Relationship Type="http://schemas.openxmlformats.org/officeDocument/2006/relationships/slide" Target="/ppt/slides/slide23.xml" Id="R75a0271b6b944478" /><Relationship Type="http://schemas.openxmlformats.org/officeDocument/2006/relationships/slide" Target="/ppt/slides/slide24.xml" Id="Raf5e43af0ce04c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6c24be499e4c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827bbf02f84d2b" /><Relationship Type="http://schemas.openxmlformats.org/officeDocument/2006/relationships/notesMaster" Target="/ppt/notesMasters/notesMaster1.xml" Id="R36e5572f8a414f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ed8d97e7ef4c90" /><Relationship Type="http://schemas.openxmlformats.org/officeDocument/2006/relationships/notesMaster" Target="/ppt/notesMasters/notesMaster1.xml" Id="R5222b7842d6542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7fd289106745c8" /><Relationship Type="http://schemas.openxmlformats.org/officeDocument/2006/relationships/notesMaster" Target="/ppt/notesMasters/notesMaster1.xml" Id="R9984e64554e048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97d174e12041d7" /><Relationship Type="http://schemas.openxmlformats.org/officeDocument/2006/relationships/notesMaster" Target="/ppt/notesMasters/notesMaster1.xml" Id="Rd9fe2afbc7b34a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06fb52be1a486e" /><Relationship Type="http://schemas.openxmlformats.org/officeDocument/2006/relationships/notesMaster" Target="/ppt/notesMasters/notesMaster1.xml" Id="Re4c82218597845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59acb29dd3473f" /><Relationship Type="http://schemas.openxmlformats.org/officeDocument/2006/relationships/notesMaster" Target="/ppt/notesMasters/notesMaster1.xml" Id="R5f3d5f8cefdf49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cc8ff79364467e" /><Relationship Type="http://schemas.openxmlformats.org/officeDocument/2006/relationships/notesMaster" Target="/ppt/notesMasters/notesMaster1.xml" Id="R279ff77bb12740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7e354d1b1247c1" /><Relationship Type="http://schemas.openxmlformats.org/officeDocument/2006/relationships/notesMaster" Target="/ppt/notesMasters/notesMaster1.xml" Id="R0ddc255f4d0b41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b3aabab8ce4483" /><Relationship Type="http://schemas.openxmlformats.org/officeDocument/2006/relationships/notesMaster" Target="/ppt/notesMasters/notesMaster1.xml" Id="R1fc2158eec4348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09446bcd694802" /><Relationship Type="http://schemas.openxmlformats.org/officeDocument/2006/relationships/notesMaster" Target="/ppt/notesMasters/notesMaster1.xml" Id="R36bdda1ea86942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e5b7110d394298" /><Relationship Type="http://schemas.openxmlformats.org/officeDocument/2006/relationships/notesMaster" Target="/ppt/notesMasters/notesMaster1.xml" Id="R02ea2a9ca9b04b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3664927e594dfc" /><Relationship Type="http://schemas.openxmlformats.org/officeDocument/2006/relationships/notesMaster" Target="/ppt/notesMasters/notesMaster1.xml" Id="R086b9baacda840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d95fb4794747e2" /><Relationship Type="http://schemas.openxmlformats.org/officeDocument/2006/relationships/notesMaster" Target="/ppt/notesMasters/notesMaster1.xml" Id="R7e007f89279b4a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4d4cbdb9094130" /><Relationship Type="http://schemas.openxmlformats.org/officeDocument/2006/relationships/notesMaster" Target="/ppt/notesMasters/notesMaster1.xml" Id="R6d1c184a6bce43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2738618a914c8a" /><Relationship Type="http://schemas.openxmlformats.org/officeDocument/2006/relationships/notesMaster" Target="/ppt/notesMasters/notesMaster1.xml" Id="Rc88d69ebd4b743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2aacbf23024576" /><Relationship Type="http://schemas.openxmlformats.org/officeDocument/2006/relationships/notesMaster" Target="/ppt/notesMasters/notesMaster1.xml" Id="R5ba14c6c343641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b613df9f434f7c" /><Relationship Type="http://schemas.openxmlformats.org/officeDocument/2006/relationships/notesMaster" Target="/ppt/notesMasters/notesMaster1.xml" Id="R70d0762c75044f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a10f88749242fa" /><Relationship Type="http://schemas.openxmlformats.org/officeDocument/2006/relationships/notesMaster" Target="/ppt/notesMasters/notesMaster1.xml" Id="R5456dd05332144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afb67b05e24b1d" /><Relationship Type="http://schemas.openxmlformats.org/officeDocument/2006/relationships/notesMaster" Target="/ppt/notesMasters/notesMaster1.xml" Id="R1dd9c8d11e944c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de1dd2876d45f5" /><Relationship Type="http://schemas.openxmlformats.org/officeDocument/2006/relationships/notesMaster" Target="/ppt/notesMasters/notesMaster1.xml" Id="R1be54fc7b2c140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8c9b6914904398" /><Relationship Type="http://schemas.openxmlformats.org/officeDocument/2006/relationships/notesMaster" Target="/ppt/notesMasters/notesMaster1.xml" Id="Rf15edeab13d142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24da23db57408b" /><Relationship Type="http://schemas.openxmlformats.org/officeDocument/2006/relationships/notesMaster" Target="/ppt/notesMasters/notesMaster1.xml" Id="R01698725aa83405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deae4aaa0c4972" /><Relationship Type="http://schemas.openxmlformats.org/officeDocument/2006/relationships/notesMaster" Target="/ppt/notesMasters/notesMaster1.xml" Id="R6d22bd3336664a7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52326704f84a97" /><Relationship Type="http://schemas.openxmlformats.org/officeDocument/2006/relationships/notesMaster" Target="/ppt/notesMasters/notesMaster1.xml" Id="R91202b4d7fff4a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Presenting the project and individual contribution</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Civil Engineering and Architecture</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Presenting the project and individual contribution.</a:t>
            </a:r>
          </a:p>
          <a:p xmlns:a="http://schemas.openxmlformats.org/drawingml/2006/main">
            <a:r>
              <a:t/>
            </a:r>
          </a:p>
          <a:p xmlns:a="http://schemas.openxmlformats.org/drawingml/2006/main">
            <a:r>
              <a:t>EXPLAIN</a:t>
            </a:r>
          </a:p>
          <a:p xmlns:a="http://schemas.openxmlformats.org/drawingml/2006/main">
            <a:r>
              <a:t>Explain your question and one supported finding.</a:t>
            </a:r>
          </a:p>
          <a:p xmlns:a="http://schemas.openxmlformats.org/drawingml/2006/main">
            <a:r>
              <a:t/>
            </a:r>
          </a:p>
          <a:p xmlns:a="http://schemas.openxmlformats.org/drawingml/2006/main">
            <a:r>
              <a:t>State a limitation and your individual contribution.</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New models and a last-minute redesign are unnecessary. Fix broken run instructions first.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What question did your team investigate, and what result can you support with evidence?</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presentation connects a claim to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presentation connects a claim to evidence</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Finding and limitation: A finding states what the evidence shows. A limitation states where that evidence is incomplete or may not apply. Point to the relevant chart, metric or record.</a:t>
            </a:r>
          </a:p>
          <a:p xmlns:a="http://schemas.openxmlformats.org/drawingml/2006/main">
            <a:r>
              <a:t/>
            </a:r>
          </a:p>
          <a:p xmlns:a="http://schemas.openxmlformats.org/drawingml/2006/main">
            <a:r>
              <a:t>Defence and reflection: A defence explains why you made a choice. A reflection explains what you learned and would improve. Describe your own contribution with specific evidence.</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six-minute presentation.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six-minute presentation</a:t>
            </a:r>
          </a:p>
          <a:p xmlns:a="http://schemas.openxmlformats.org/drawingml/2006/main">
            <a:r>
              <a:t/>
            </a:r>
          </a:p>
          <a:p xmlns:a="http://schemas.openxmlformats.org/drawingml/2006/main">
            <a:r>
              <a:t>CONNECT</a:t>
            </a:r>
          </a:p>
          <a:p xmlns:a="http://schemas.openxmlformats.org/drawingml/2006/main">
            <a:r>
              <a:t>Previous slide: A presentation connects a claim to evidence.</a:t>
            </a:r>
          </a:p>
          <a:p xmlns:a="http://schemas.openxmlformats.org/drawingml/2006/main">
            <a:r>
              <a:t/>
            </a:r>
          </a:p>
          <a:p xmlns:a="http://schemas.openxmlformats.org/drawingml/2006/main">
            <a:r>
              <a:t>EXPLAIN</a:t>
            </a:r>
          </a:p>
          <a:p xmlns:a="http://schemas.openxmlformats.org/drawingml/2006/main">
            <a:r>
              <a:t>Minutes 1–2: explain the question and data.</a:t>
            </a:r>
          </a:p>
          <a:p xmlns:a="http://schemas.openxmlformats.org/drawingml/2006/main">
            <a:r>
              <a:t/>
            </a:r>
          </a:p>
          <a:p xmlns:a="http://schemas.openxmlformats.org/drawingml/2006/main">
            <a:r>
              <a:t>Minutes 3–4: show the method and one supported result.</a:t>
            </a:r>
          </a:p>
          <a:p xmlns:a="http://schemas.openxmlformats.org/drawingml/2006/main">
            <a:r>
              <a:t/>
            </a:r>
          </a:p>
          <a:p xmlns:a="http://schemas.openxmlformats.org/drawingml/2006/main">
            <a:r>
              <a:t>Minutes 5–6: explain limitations, contributions and a next step.</a:t>
            </a:r>
          </a:p>
          <a:p xmlns:a="http://schemas.openxmlformats.org/drawingml/2006/main">
            <a:r>
              <a:t/>
            </a:r>
          </a:p>
          <a:p xmlns:a="http://schemas.openxmlformats.org/drawingml/2006/main">
            <a:r>
              <a:t>LECTURER CUE</a:t>
            </a:r>
          </a:p>
          <a:p xmlns:a="http://schemas.openxmlformats.org/drawingml/2006/main">
            <a:r>
              <a:t>Model a six-minute presentation: one minute for the problem, one for the data, two for the method and result, one for limitations and one for contribution and next step.</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Make the evidence readable.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Make the evidence readable</a:t>
            </a:r>
          </a:p>
          <a:p xmlns:a="http://schemas.openxmlformats.org/drawingml/2006/main">
            <a:r>
              <a:t/>
            </a:r>
          </a:p>
          <a:p xmlns:a="http://schemas.openxmlformats.org/drawingml/2006/main">
            <a:r>
              <a:t>CONNECT</a:t>
            </a:r>
          </a:p>
          <a:p xmlns:a="http://schemas.openxmlformats.org/drawingml/2006/main">
            <a:r>
              <a:t>Previous slide: A six-minute presentation.</a:t>
            </a:r>
          </a:p>
          <a:p xmlns:a="http://schemas.openxmlformats.org/drawingml/2006/main">
            <a:r>
              <a:t/>
            </a:r>
          </a:p>
          <a:p xmlns:a="http://schemas.openxmlformats.org/drawingml/2006/main">
            <a:r>
              <a:t>EXPLAIN</a:t>
            </a:r>
          </a:p>
          <a:p xmlns:a="http://schemas.openxmlformats.org/drawingml/2006/main">
            <a:r>
              <a:t>Name the chart axes and their units.</a:t>
            </a:r>
          </a:p>
          <a:p xmlns:a="http://schemas.openxmlformats.org/drawingml/2006/main">
            <a:r>
              <a:t/>
            </a:r>
          </a:p>
          <a:p xmlns:a="http://schemas.openxmlformats.org/drawingml/2006/main">
            <a:r>
              <a:t>State the measured evaluation result and how you obtained it.</a:t>
            </a:r>
          </a:p>
          <a:p xmlns:a="http://schemas.openxmlformats.org/drawingml/2006/main">
            <a:r>
              <a:t/>
            </a:r>
          </a:p>
          <a:p xmlns:a="http://schemas.openxmlformats.org/drawingml/2006/main">
            <a:r>
              <a:t>Point to the particular table, plot or calculation that supports your claim.</a:t>
            </a:r>
          </a:p>
          <a:p xmlns:a="http://schemas.openxmlformats.org/drawingml/2006/main">
            <a:r>
              <a:t/>
            </a:r>
          </a:p>
          <a:p xmlns:a="http://schemas.openxmlformats.org/drawingml/2006/main">
            <a:r>
              <a:t>LECTURER CUE</a:t>
            </a:r>
          </a:p>
          <a:p xmlns:a="http://schemas.openxmlformats.org/drawingml/2006/main">
            <a:r>
              <a:t>Explain each chart’s axes and unit before stating its finding. Use the actual measured validation results and state how they were obtained.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Explain the limits honestly.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Explain the limits honestly</a:t>
            </a:r>
          </a:p>
          <a:p xmlns:a="http://schemas.openxmlformats.org/drawingml/2006/main">
            <a:r>
              <a:t/>
            </a:r>
          </a:p>
          <a:p xmlns:a="http://schemas.openxmlformats.org/drawingml/2006/main">
            <a:r>
              <a:t>CONNECT</a:t>
            </a:r>
          </a:p>
          <a:p xmlns:a="http://schemas.openxmlformats.org/drawingml/2006/main">
            <a:r>
              <a:t>Previous slide: Make the evidence readable.</a:t>
            </a:r>
          </a:p>
          <a:p xmlns:a="http://schemas.openxmlformats.org/drawingml/2006/main">
            <a:r>
              <a:t/>
            </a:r>
          </a:p>
          <a:p xmlns:a="http://schemas.openxmlformats.org/drawingml/2006/main">
            <a:r>
              <a:t>EXPLAIN</a:t>
            </a:r>
          </a:p>
          <a:p xmlns:a="http://schemas.openxmlformats.org/drawingml/2006/main">
            <a:r>
              <a:t>State what your investigation can support.</a:t>
            </a:r>
          </a:p>
          <a:p xmlns:a="http://schemas.openxmlformats.org/drawingml/2006/main">
            <a:r>
              <a:t/>
            </a:r>
          </a:p>
          <a:p xmlns:a="http://schemas.openxmlformats.org/drawingml/2006/main">
            <a:r>
              <a:t>If an answer is unknown, say what evidence would resolve it.</a:t>
            </a:r>
          </a:p>
          <a:p xmlns:a="http://schemas.openxmlformats.org/drawingml/2006/main">
            <a:r>
              <a:t/>
            </a:r>
          </a:p>
          <a:p xmlns:a="http://schemas.openxmlformats.org/drawingml/2006/main">
            <a:r>
              <a:t>Teaching data alone do not establish readiness for real operation.</a:t>
            </a:r>
          </a:p>
          <a:p xmlns:a="http://schemas.openxmlformats.org/drawingml/2006/main">
            <a:r>
              <a:t/>
            </a:r>
          </a:p>
          <a:p xmlns:a="http://schemas.openxmlformats.org/drawingml/2006/main">
            <a:r>
              <a:t>LECTURER CUE</a:t>
            </a:r>
          </a:p>
          <a:p xmlns:a="http://schemas.openxmlformats.org/drawingml/2006/main">
            <a:r>
              <a:t>Practise saying “I do not know yet” followed by the evidence needed to resolve the question. Do not claim deployment readiness from a teaching dataset.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Preparation checkpoint.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Preparation checkpoint</a:t>
            </a:r>
          </a:p>
          <a:p xmlns:a="http://schemas.openxmlformats.org/drawingml/2006/main">
            <a:r>
              <a:t/>
            </a:r>
          </a:p>
          <a:p xmlns:a="http://schemas.openxmlformats.org/drawingml/2006/main">
            <a:r>
              <a:t>CONNECT</a:t>
            </a:r>
          </a:p>
          <a:p xmlns:a="http://schemas.openxmlformats.org/drawingml/2006/main">
            <a:r>
              <a:t>Previous slide: Explain the limits honestly.</a:t>
            </a:r>
          </a:p>
          <a:p xmlns:a="http://schemas.openxmlformats.org/drawingml/2006/main">
            <a:r>
              <a:t/>
            </a:r>
          </a:p>
          <a:p xmlns:a="http://schemas.openxmlformats.org/drawingml/2006/main">
            <a:r>
              <a:t>EXPLAIN</a:t>
            </a:r>
          </a:p>
          <a:p xmlns:a="http://schemas.openxmlformats.org/drawingml/2006/main">
            <a:r>
              <a:t>Each student can explain one decision they personally worked on and point to its evidence.</a:t>
            </a:r>
          </a:p>
          <a:p xmlns:a="http://schemas.openxmlformats.org/drawingml/2006/main">
            <a:r>
              <a:t/>
            </a:r>
          </a:p>
          <a:p xmlns:a="http://schemas.openxmlformats.org/drawingml/2006/main">
            <a:r>
              <a:t>LECTURER CUE</a:t>
            </a:r>
          </a:p>
          <a:p xmlns:a="http://schemas.openxmlformats.org/drawingml/2006/main">
            <a:r>
              <a:t>Each student can explain one decision they personally worked on and point to its evidence.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evidence</a:t>
            </a:r>
          </a:p>
          <a:p xmlns:a="http://schemas.openxmlformats.org/drawingml/2006/main">
            <a:r>
              <a:t/>
            </a:r>
          </a:p>
          <a:p xmlns:a="http://schemas.openxmlformats.org/drawingml/2006/main">
            <a:r>
              <a:t>CONNECT</a:t>
            </a:r>
          </a:p>
          <a:p xmlns:a="http://schemas.openxmlformats.org/drawingml/2006/main">
            <a:r>
              <a:t>Previous slide: Preparation checkpoint.</a:t>
            </a:r>
          </a:p>
          <a:p xmlns:a="http://schemas.openxmlformats.org/drawingml/2006/main">
            <a:r>
              <a:t/>
            </a:r>
          </a:p>
          <a:p xmlns:a="http://schemas.openxmlformats.org/drawingml/2006/main">
            <a:r>
              <a:t>EXPLAIN</a:t>
            </a:r>
          </a:p>
          <a:p xmlns:a="http://schemas.openxmlformats.org/drawingml/2006/main">
            <a:r>
              <a:t>Use the published project and DEMO requirements.</a:t>
            </a:r>
          </a:p>
          <a:p xmlns:a="http://schemas.openxmlformats.org/drawingml/2006/main">
            <a:r>
              <a:t/>
            </a:r>
          </a:p>
          <a:p xmlns:a="http://schemas.openxmlformats.org/drawingml/2006/main">
            <a:r>
              <a:t>Each individual submits their own typed defence and reflection through the designated route.</a:t>
            </a:r>
          </a:p>
          <a:p xmlns:a="http://schemas.openxmlformats.org/drawingml/2006/main">
            <a:r>
              <a:t/>
            </a:r>
          </a:p>
          <a:p xmlns:a="http://schemas.openxmlformats.org/drawingml/2006/main">
            <a:r>
              <a:t>Submit your own written defence and reflection as instructed.</a:t>
            </a:r>
          </a:p>
          <a:p xmlns:a="http://schemas.openxmlformats.org/drawingml/2006/main">
            <a:r>
              <a:t/>
            </a:r>
          </a:p>
          <a:p xmlns:a="http://schemas.openxmlformats.org/drawingml/2006/main">
            <a:r>
              <a:t>LECTURER CUE</a:t>
            </a:r>
          </a:p>
          <a:p xmlns:a="http://schemas.openxmlformats.org/drawingml/2006/main">
            <a:r>
              <a:t>Use the published project and DEMO requirements. Each individual submits their own typed defence and reflection through the designated route. Live questioning and peer comments support learning; they are not a new manual marking workload.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a:t>
            </a:r>
          </a:p>
          <a:p xmlns:a="http://schemas.openxmlformats.org/drawingml/2006/main">
            <a:r>
              <a:t/>
            </a:r>
          </a:p>
          <a:p xmlns:a="http://schemas.openxmlformats.org/drawingml/2006/main">
            <a:r>
              <a:t>CONNECT</a:t>
            </a:r>
          </a:p>
          <a:p xmlns:a="http://schemas.openxmlformats.org/drawingml/2006/main">
            <a:r>
              <a:t>Previous slide: Your evidence.</a:t>
            </a:r>
          </a:p>
          <a:p xmlns:a="http://schemas.openxmlformats.org/drawingml/2006/main">
            <a:r>
              <a:t/>
            </a:r>
          </a:p>
          <a:p xmlns:a="http://schemas.openxmlformats.org/drawingml/2006/main">
            <a:r>
              <a:t>EXPLAIN</a:t>
            </a:r>
          </a:p>
          <a:p xmlns:a="http://schemas.openxmlformats.org/drawingml/2006/main">
            <a:r>
              <a:t>Write your own explanation in the markdown cell headed `## My written evidence`.</a:t>
            </a:r>
          </a:p>
          <a:p xmlns:a="http://schemas.openxmlformats.org/drawingml/2006/main">
            <a:r>
              <a:t/>
            </a:r>
          </a:p>
          <a:p xmlns:a="http://schemas.openxmlformats.org/drawingml/2006/main">
            <a:r>
              <a:t>Keep that heading.</a:t>
            </a:r>
          </a:p>
          <a:p xmlns:a="http://schemas.openxmlformats.org/drawingml/2006/main">
            <a:r>
              <a:t/>
            </a:r>
          </a:p>
          <a:p xmlns:a="http://schemas.openxmlformats.org/drawingml/2006/main">
            <a:r>
              <a:t>Task prompts and code comments are excluded from reasoning marks.</a:t>
            </a:r>
          </a:p>
          <a:p xmlns:a="http://schemas.openxmlformats.org/drawingml/2006/main">
            <a:r>
              <a:t/>
            </a:r>
          </a:p>
          <a:p xmlns:a="http://schemas.openxmlformats.org/drawingml/2006/main">
            <a:r>
              <a:t>Complete every original rubric criterion below, not just the checked functions.</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a:t>
            </a:r>
          </a:p>
          <a:p xmlns:a="http://schemas.openxmlformats.org/drawingml/2006/main">
            <a:r>
              <a:t/>
            </a:r>
          </a:p>
          <a:p xmlns:a="http://schemas.openxmlformats.org/drawingml/2006/main">
            <a:r>
              <a:t>EXPLAIN</a:t>
            </a:r>
          </a:p>
          <a:p xmlns:a="http://schemas.openxmlformats.org/drawingml/2006/main">
            <a:r>
              <a:t>Include profiling, justified cleaning, question-led charts and your engineering recommendation where required.</a:t>
            </a:r>
          </a:p>
          <a:p xmlns:a="http://schemas.openxmlformats.org/drawingml/2006/main">
            <a:r>
              <a:t/>
            </a:r>
          </a:p>
          <a:p xmlns:a="http://schemas.openxmlformats.org/drawingml/2006/main">
            <a:r>
              <a:t>Keep raw data.</a:t>
            </a:r>
          </a:p>
          <a:p xmlns:a="http://schemas.openxmlformats.org/drawingml/2006/main">
            <a:r>
              <a:t/>
            </a:r>
          </a:p>
          <a:p xmlns:a="http://schemas.openxmlformats.org/drawingml/2006/main">
            <a:r>
              <a:t>State units and distinguish correlation from causation.</a:t>
            </a:r>
          </a:p>
          <a:p xmlns:a="http://schemas.openxmlformats.org/drawingml/2006/main">
            <a:r>
              <a:t/>
            </a:r>
          </a:p>
          <a:p xmlns:a="http://schemas.openxmlformats.org/drawingml/2006/main">
            <a:r>
              <a:t>Charts must be actual labelled figures in the notebook, not claims that charts exist.</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Include captions and a separate readable DOCX/PDF report.</a:t>
            </a:r>
          </a:p>
          <a:p xmlns:a="http://schemas.openxmlformats.org/drawingml/2006/main">
            <a:r>
              <a:t/>
            </a:r>
          </a:p>
          <a:p xmlns:a="http://schemas.openxmlformats.org/drawingml/2006/main">
            <a:r>
              <a:t>Problem definition (15.0 total): The engineering problem is real, specific and bounded.</a:t>
            </a:r>
          </a:p>
          <a:p xmlns:a="http://schemas.openxmlformats.org/drawingml/2006/main">
            <a:r>
              <a:t/>
            </a:r>
          </a:p>
          <a:p xmlns:a="http://schemas.openxmlformats.org/drawingml/2006/main">
            <a:r>
              <a:t>The ML task is correctly derived from it.</a:t>
            </a:r>
          </a:p>
          <a:p xmlns:a="http://schemas.openxmlformats.org/drawingml/2006/main">
            <a:r>
              <a:t/>
            </a:r>
          </a:p>
          <a:p xmlns:a="http://schemas.openxmlformats.org/drawingml/2006/main">
            <a:r>
              <a:t>The target variable is justified, not merely available.</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Data understanding (15.0 total): Provenance, licence and collection method stated.</a:t>
            </a:r>
          </a:p>
          <a:p xmlns:a="http://schemas.openxmlformats.org/drawingml/2006/main">
            <a:r>
              <a:t/>
            </a:r>
          </a:p>
          <a:p xmlns:a="http://schemas.openxmlformats.org/drawingml/2006/main">
            <a:r>
              <a:t>Defects found and handled with justification.</a:t>
            </a:r>
          </a:p>
          <a:p xmlns:a="http://schemas.openxmlformats.org/drawingml/2006/main">
            <a:r>
              <a:t/>
            </a:r>
          </a:p>
          <a:p xmlns:a="http://schemas.openxmlformats.org/drawingml/2006/main">
            <a:r>
              <a:t>Limitations of the data acknowledged before any modelling.</a:t>
            </a:r>
          </a:p>
          <a:p xmlns:a="http://schemas.openxmlformats.org/drawingml/2006/main">
            <a:r>
              <a:t/>
            </a:r>
          </a:p>
          <a:p xmlns:a="http://schemas.openxmlformats.org/drawingml/2006/main">
            <a:r>
              <a:t>Methodology (20.0 total): Appropriate models chosen and compared under one protocol.</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Pipeline used.</a:t>
            </a:r>
          </a:p>
          <a:p xmlns:a="http://schemas.openxmlformats.org/drawingml/2006/main">
            <a:r>
              <a:t/>
            </a:r>
          </a:p>
          <a:p xmlns:a="http://schemas.openxmlformats.org/drawingml/2006/main">
            <a:r>
              <a:t>Hyperparameters handled sensibly.</a:t>
            </a:r>
          </a:p>
          <a:p xmlns:a="http://schemas.openxmlformats.org/drawingml/2006/main">
            <a:r>
              <a:t/>
            </a:r>
          </a:p>
          <a:p xmlns:a="http://schemas.openxmlformats.org/drawingml/2006/main">
            <a:r>
              <a:t>Choices explained rather than defaulted to.</a:t>
            </a:r>
          </a:p>
          <a:p xmlns:a="http://schemas.openxmlformats.org/drawingml/2006/main">
            <a:r>
              <a:t/>
            </a:r>
          </a:p>
          <a:p xmlns:a="http://schemas.openxmlformats.org/drawingml/2006/main">
            <a:r>
              <a:t>Engineering reasoning (20.0 total): Domain knowledge visibly enters the work through features, banding, metric choice or interpretation.</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The result is discussed as engineering, not as a score.</a:t>
            </a:r>
          </a:p>
          <a:p xmlns:a="http://schemas.openxmlformats.org/drawingml/2006/main">
            <a:r>
              <a:t/>
            </a:r>
          </a:p>
          <a:p xmlns:a="http://schemas.openxmlformats.org/drawingml/2006/main">
            <a:r>
              <a:t>Validation (15.0 total): Correct train/test discipline, cross-validation with a reported spread, leakage explicitly checked and ruled out, metric justified against the cost of error.</a:t>
            </a:r>
          </a:p>
          <a:p xmlns:a="http://schemas.openxmlformats.org/drawingml/2006/main">
            <a:r>
              <a:t/>
            </a:r>
          </a:p>
          <a:p xmlns:a="http://schemas.openxmlformats.org/drawingml/2006/main">
            <a:r>
              <a:t>Communication (10.0 total): The 2-page brief is readable by a non-specialist engineer.</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Charts answer questions and are captioned with findings.</a:t>
            </a:r>
          </a:p>
          <a:p xmlns:a="http://schemas.openxmlformats.org/drawingml/2006/main">
            <a:r>
              <a:t/>
            </a:r>
          </a:p>
          <a:p xmlns:a="http://schemas.openxmlformats.org/drawingml/2006/main">
            <a:r>
              <a:t>Uncertainty and limitations stated honestly.</a:t>
            </a:r>
          </a:p>
          <a:p xmlns:a="http://schemas.openxmlformats.org/drawingml/2006/main">
            <a:r>
              <a:t/>
            </a:r>
          </a:p>
          <a:p xmlns:a="http://schemas.openxmlformats.org/drawingml/2006/main">
            <a:r>
              <a:t>Reproducibility &amp; documentation (5.0 total): Repository runs from a clean clone.</a:t>
            </a:r>
          </a:p>
          <a:p xmlns:a="http://schemas.openxmlformats.org/drawingml/2006/main">
            <a:r>
              <a:t/>
            </a:r>
          </a:p>
          <a:p xmlns:a="http://schemas.openxmlformats.org/drawingml/2006/main">
            <a:r>
              <a:t>README complete. requirements.txt present.</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continued</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Seeds set.</a:t>
            </a:r>
          </a:p>
          <a:p xmlns:a="http://schemas.openxmlformats.org/drawingml/2006/main">
            <a:r>
              <a:t/>
            </a:r>
          </a:p>
          <a:p xmlns:a="http://schemas.openxmlformats.org/drawingml/2006/main">
            <a:r>
              <a:t>AI use declared.</a:t>
            </a:r>
          </a:p>
          <a:p xmlns:a="http://schemas.openxmlformats.org/drawingml/2006/main">
            <a:r>
              <a:t/>
            </a:r>
          </a:p>
          <a:p xmlns:a="http://schemas.openxmlformats.org/drawingml/2006/main">
            <a:r>
              <a:t>Contribution log present.</a:t>
            </a:r>
          </a:p>
          <a:p xmlns:a="http://schemas.openxmlformats.org/drawingml/2006/main">
            <a:r>
              <a:t/>
            </a:r>
          </a:p>
          <a:p xmlns:a="http://schemas.openxmlformats.org/drawingml/2006/main">
            <a:r>
              <a:t>LECTURER CUE</a:t>
            </a:r>
          </a:p>
          <a:p xmlns:a="http://schemas.openxmlformats.org/drawingml/2006/main">
            <a:r>
              <a:t># CML3112 ML_PROJECT: Engineering ML project — variant A</a:t>
            </a:r>
          </a:p>
          <a:p xmlns:a="http://schemas.openxmlformats.org/drawingml/2006/main">
            <a:r>
              <a:t>Full assessment requirements belong in the current public task guide; explain only the criterion or task shown on this slide.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Engineering ML project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Engineering ML project submission</a:t>
            </a:r>
          </a:p>
          <a:p xmlns:a="http://schemas.openxmlformats.org/drawingml/2006/main">
            <a:r>
              <a:t/>
            </a:r>
          </a:p>
          <a:p xmlns:a="http://schemas.openxmlformats.org/drawingml/2006/main">
            <a:r>
              <a:t>CONNECT</a:t>
            </a:r>
          </a:p>
          <a:p xmlns:a="http://schemas.openxmlformats.org/drawingml/2006/main">
            <a:r>
              <a:t>Previous slide: Engineering ML project continued.</a:t>
            </a:r>
          </a:p>
          <a:p xmlns:a="http://schemas.openxmlformats.org/drawingml/2006/main">
            <a:r>
              <a:t/>
            </a:r>
          </a:p>
          <a:p xmlns:a="http://schemas.openxmlformats.org/drawingml/2006/main">
            <a:r>
              <a:t>EXPLAIN</a:t>
            </a:r>
          </a:p>
          <a:p xmlns:a="http://schemas.openxmlformats.org/drawingml/2006/main">
            <a:r>
              <a:t>Opens: 24 Nov 2026, 11:00 Kampala</a:t>
            </a:r>
          </a:p>
          <a:p xmlns:a="http://schemas.openxmlformats.org/drawingml/2006/main">
            <a:r>
              <a:t/>
            </a:r>
          </a:p>
          <a:p xmlns:a="http://schemas.openxmlformats.org/drawingml/2006/main">
            <a:r>
              <a:t>Deadline: 15 Dec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Presentation evidence (35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Presentation evidence (35 marks)</a:t>
            </a:r>
          </a:p>
          <a:p xmlns:a="http://schemas.openxmlformats.org/drawingml/2006/main">
            <a:r>
              <a:t/>
            </a:r>
          </a:p>
          <a:p xmlns:a="http://schemas.openxmlformats.org/drawingml/2006/main">
            <a:r>
              <a:t>CONNECT</a:t>
            </a:r>
          </a:p>
          <a:p xmlns:a="http://schemas.openxmlformats.org/drawingml/2006/main">
            <a:r>
              <a:t>Previous slide: Engineering ML project submission.</a:t>
            </a:r>
          </a:p>
          <a:p xmlns:a="http://schemas.openxmlformats.org/drawingml/2006/main">
            <a:r>
              <a:t/>
            </a:r>
          </a:p>
          <a:p xmlns:a="http://schemas.openxmlformats.org/drawingml/2006/main">
            <a:r>
              <a:t>EXPLAIN</a:t>
            </a:r>
          </a:p>
          <a:p xmlns:a="http://schemas.openxmlformats.org/drawingml/2006/main">
            <a:r>
              <a:t>Slides and narration notes explain the question, method, evidence and limitations for an engineering audience.</a:t>
            </a:r>
          </a:p>
          <a:p xmlns:a="http://schemas.openxmlformats.org/drawingml/2006/main">
            <a:r>
              <a:t/>
            </a:r>
          </a:p>
          <a:p xmlns:a="http://schemas.openxmlformats.org/drawingml/2006/main">
            <a:r>
              <a:t>The local text grader does not assess visual styling or spoken delivery.</a:t>
            </a:r>
          </a:p>
          <a:p xmlns:a="http://schemas.openxmlformats.org/drawingml/2006/main">
            <a:r>
              <a:t/>
            </a:r>
          </a:p>
          <a:p xmlns:a="http://schemas.openxmlformats.org/drawingml/2006/main">
            <a:r>
              <a:t>LECTURER CUE</a:t>
            </a:r>
          </a:p>
          <a:p xmlns:a="http://schemas.openxmlformats.org/drawingml/2006/main">
            <a:r>
              <a:t>Published DEMO criterion. Check the assessment grading-release status before issuing. Live questioning is formative. Source: /Users/jothamwambi/Projects/IUEA-Teaching-Resources/IUEA_Teaching_Plan/grader/rubrics/DEMO.json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Individual written defence (40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Individual written defence (40 marks)</a:t>
            </a:r>
          </a:p>
          <a:p xmlns:a="http://schemas.openxmlformats.org/drawingml/2006/main">
            <a:r>
              <a:t/>
            </a:r>
          </a:p>
          <a:p xmlns:a="http://schemas.openxmlformats.org/drawingml/2006/main">
            <a:r>
              <a:t>CONNECT</a:t>
            </a:r>
          </a:p>
          <a:p xmlns:a="http://schemas.openxmlformats.org/drawingml/2006/main">
            <a:r>
              <a:t>Previous slide: Presentation evidence (35 marks).</a:t>
            </a:r>
          </a:p>
          <a:p xmlns:a="http://schemas.openxmlformats.org/drawingml/2006/main">
            <a:r>
              <a:t/>
            </a:r>
          </a:p>
          <a:p xmlns:a="http://schemas.openxmlformats.org/drawingml/2006/main">
            <a:r>
              <a:t>EXPLAIN</a:t>
            </a:r>
          </a:p>
          <a:p xmlns:a="http://schemas.openxmlformats.org/drawingml/2006/main">
            <a:r>
              <a:t>Two typed answers about the student's own repository identify specific cells/results and explain the decisions.</a:t>
            </a:r>
          </a:p>
          <a:p xmlns:a="http://schemas.openxmlformats.org/drawingml/2006/main">
            <a:r>
              <a:t/>
            </a:r>
          </a:p>
          <a:p xmlns:a="http://schemas.openxmlformats.org/drawingml/2006/main">
            <a:r>
              <a:t>Credit is based on the submitted evidence; live questioning is formative.</a:t>
            </a:r>
          </a:p>
          <a:p xmlns:a="http://schemas.openxmlformats.org/drawingml/2006/main">
            <a:r>
              <a:t/>
            </a:r>
          </a:p>
          <a:p xmlns:a="http://schemas.openxmlformats.org/drawingml/2006/main">
            <a:r>
              <a:t>LECTURER CUE</a:t>
            </a:r>
          </a:p>
          <a:p xmlns:a="http://schemas.openxmlformats.org/drawingml/2006/main">
            <a:r>
              <a:t>Published DEMO criterion. Check the assessment grading-release status before issuing. Live questioning is formative. Source: /Users/jothamwambi/Projects/IUEA-Teaching-Resources/IUEA_Teaching_Plan/grader/rubrics/DEMO.json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Reflection (20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Reflection (20 marks)</a:t>
            </a:r>
          </a:p>
          <a:p xmlns:a="http://schemas.openxmlformats.org/drawingml/2006/main">
            <a:r>
              <a:t/>
            </a:r>
          </a:p>
          <a:p xmlns:a="http://schemas.openxmlformats.org/drawingml/2006/main">
            <a:r>
              <a:t>CONNECT</a:t>
            </a:r>
          </a:p>
          <a:p xmlns:a="http://schemas.openxmlformats.org/drawingml/2006/main">
            <a:r>
              <a:t>Previous slide: Individual written defence (40 marks).</a:t>
            </a:r>
          </a:p>
          <a:p xmlns:a="http://schemas.openxmlformats.org/drawingml/2006/main">
            <a:r>
              <a:t/>
            </a:r>
          </a:p>
          <a:p xmlns:a="http://schemas.openxmlformats.org/drawingml/2006/main">
            <a:r>
              <a:t>EXPLAIN</a:t>
            </a:r>
          </a:p>
          <a:p xmlns:a="http://schemas.openxmlformats.org/drawingml/2006/main">
            <a:r>
              <a:t>500 words.</a:t>
            </a:r>
          </a:p>
          <a:p xmlns:a="http://schemas.openxmlformats.org/drawingml/2006/main">
            <a:r>
              <a:t/>
            </a:r>
          </a:p>
          <a:p xmlns:a="http://schemas.openxmlformats.org/drawingml/2006/main">
            <a:r>
              <a:t>Specific about what changed since Week 1, what remains difficult, and two concrete Semester 2 goals.</a:t>
            </a:r>
          </a:p>
          <a:p xmlns:a="http://schemas.openxmlformats.org/drawingml/2006/main">
            <a:r>
              <a:t/>
            </a:r>
          </a:p>
          <a:p xmlns:a="http://schemas.openxmlformats.org/drawingml/2006/main">
            <a:r>
              <a:t>Generic reflection scores low.</a:t>
            </a:r>
          </a:p>
          <a:p xmlns:a="http://schemas.openxmlformats.org/drawingml/2006/main">
            <a:r>
              <a:t/>
            </a:r>
          </a:p>
          <a:p xmlns:a="http://schemas.openxmlformats.org/drawingml/2006/main">
            <a:r>
              <a:t>LECTURER CUE</a:t>
            </a:r>
          </a:p>
          <a:p xmlns:a="http://schemas.openxmlformats.org/drawingml/2006/main">
            <a:r>
              <a:t>Published DEMO criterion. Check the assessment grading-release status before issuing. Live questioning is formative. Source: /Users/jothamwambi/Projects/IUEA-Teaching-Resources/IUEA_Teaching_Plan/grader/rubrics/DEMO.json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AI-use declaration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AI-use declaration (5 marks)</a:t>
            </a:r>
          </a:p>
          <a:p xmlns:a="http://schemas.openxmlformats.org/drawingml/2006/main">
            <a:r>
              <a:t/>
            </a:r>
          </a:p>
          <a:p xmlns:a="http://schemas.openxmlformats.org/drawingml/2006/main">
            <a:r>
              <a:t>CONNECT</a:t>
            </a:r>
          </a:p>
          <a:p xmlns:a="http://schemas.openxmlformats.org/drawingml/2006/main">
            <a:r>
              <a:t>Previous slide: Reflection (20 marks).</a:t>
            </a:r>
          </a:p>
          <a:p xmlns:a="http://schemas.openxmlformats.org/drawingml/2006/main">
            <a:r>
              <a:t/>
            </a:r>
          </a:p>
          <a:p xmlns:a="http://schemas.openxmlformats.org/drawingml/2006/main">
            <a:r>
              <a:t>EXPLAIN</a:t>
            </a:r>
          </a:p>
          <a:p xmlns:a="http://schemas.openxmlformats.org/drawingml/2006/main">
            <a:r>
              <a:t>Present, complete and plausible against the repository history.</a:t>
            </a:r>
          </a:p>
          <a:p xmlns:a="http://schemas.openxmlformats.org/drawingml/2006/main">
            <a:r>
              <a:t/>
            </a:r>
          </a:p>
          <a:p xmlns:a="http://schemas.openxmlformats.org/drawingml/2006/main">
            <a:r>
              <a:t>LECTURER CUE</a:t>
            </a:r>
          </a:p>
          <a:p xmlns:a="http://schemas.openxmlformats.org/drawingml/2006/main">
            <a:r>
              <a:t>Published DEMO criterion. Check the assessment grading-release status before issuing. Live questioning is formative. Source: /Users/jothamwambi/Projects/IUEA-Teaching-Resources/IUEA_Teaching_Plan/grader/rubrics/DEMO.json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Presentation and individual reflection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Presentation and individual reflection submission</a:t>
            </a:r>
          </a:p>
          <a:p xmlns:a="http://schemas.openxmlformats.org/drawingml/2006/main">
            <a:r>
              <a:t/>
            </a:r>
          </a:p>
          <a:p xmlns:a="http://schemas.openxmlformats.org/drawingml/2006/main">
            <a:r>
              <a:t>CONNECT</a:t>
            </a:r>
          </a:p>
          <a:p xmlns:a="http://schemas.openxmlformats.org/drawingml/2006/main">
            <a:r>
              <a:t>Previous slide: AI-use declaration (5 marks).</a:t>
            </a:r>
          </a:p>
          <a:p xmlns:a="http://schemas.openxmlformats.org/drawingml/2006/main">
            <a:r>
              <a:t/>
            </a:r>
          </a:p>
          <a:p xmlns:a="http://schemas.openxmlformats.org/drawingml/2006/main">
            <a:r>
              <a:t>EXPLAIN</a:t>
            </a:r>
          </a:p>
          <a:p xmlns:a="http://schemas.openxmlformats.org/drawingml/2006/main">
            <a:r>
              <a:t>Opens: 24 Nov 2026, 11:00 Kampala</a:t>
            </a:r>
          </a:p>
          <a:p xmlns:a="http://schemas.openxmlformats.org/drawingml/2006/main">
            <a:r>
              <a:t/>
            </a:r>
          </a:p>
          <a:p xmlns:a="http://schemas.openxmlformats.org/drawingml/2006/main">
            <a:r>
              <a:t>Deadline: 15 Dec 2026, 14:00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Presentation and individual reflection submission.</a:t>
            </a:r>
          </a:p>
          <a:p xmlns:a="http://schemas.openxmlformats.org/drawingml/2006/main">
            <a:r>
              <a:t/>
            </a:r>
          </a:p>
          <a:p xmlns:a="http://schemas.openxmlformats.org/drawingml/2006/main">
            <a:r>
              <a:t>EXPLAIN</a:t>
            </a:r>
          </a:p>
          <a:p xmlns:a="http://schemas.openxmlformats.org/drawingml/2006/main">
            <a:r>
              <a:t>You can point to the evidence behind one decision you personally worked on.</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a159c9bc2747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f5551f6a0347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e6a9e4533548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0ab6c8780645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414d1d572541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3dc178052746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A0B7973-F052-463A-B633-F3CAB4A7B11A}"/>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2E6AA1E-6B32-4AD4-875A-4636148A8FB5}"/>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0985B20-9074-440D-A979-EBE8B75D3D64}"/>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B1A1CBA-EDBF-451D-934A-8B9BC090D31D}"/>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1B83608-D96C-41B6-9A0B-333BDC8437A7}"/>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4253E35-F73E-4D5A-91A6-9908C3E82FD1}"/>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D9C5F76-0726-4BF9-BA77-80155FCA8FA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77A407B-A495-4024-863F-D70FD0273FD4}"/>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491CA9A-B2D6-4F4B-97BA-72D37E369E01}"/>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84B48CE-9428-4FEF-A8DA-4DEC4BE0278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20BF8DB-5676-476F-A8EF-8C2D43988DB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51D5887-3225-4136-8A3C-454CDB687015}"/>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3BF7EAD-B992-4532-9278-7FBB5A8BA939}"/>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4040E9F-81E3-45D9-B713-FD368D8A78A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012423E-2BBF-4594-A073-D0E54EDC304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6e2c4e53444547" /><Relationship Type="http://schemas.openxmlformats.org/officeDocument/2006/relationships/slideLayout" Target="/ppt/slideLayouts/slideLayout1.xml" Id="Rca0d5364348e468a" /><Relationship Type="http://schemas.openxmlformats.org/officeDocument/2006/relationships/slideLayout" Target="/ppt/slideLayouts/slideLayout2.xml" Id="Rc2e7d0a091384774" /><Relationship Type="http://schemas.openxmlformats.org/officeDocument/2006/relationships/slideLayout" Target="/ppt/slideLayouts/slideLayout3.xml" Id="R52c25af82c1c4a40" /><Relationship Type="http://schemas.openxmlformats.org/officeDocument/2006/relationships/slideLayout" Target="/ppt/slideLayouts/slideLayout4.xml" Id="R46a0f84f8eee4842" /><Relationship Type="http://schemas.openxmlformats.org/officeDocument/2006/relationships/slideLayout" Target="/ppt/slideLayouts/slideLayout5.xml" Id="R18451d4b7a2b47d1" /><Relationship Type="http://schemas.openxmlformats.org/officeDocument/2006/relationships/slideLayout" Target="/ppt/slideLayouts/slideLayout6.xml" Id="R63691ba0beac4e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0d5364348e468a"/>
    <p:sldLayoutId xmlns:r="http://schemas.openxmlformats.org/officeDocument/2006/relationships" id="2147483650" r:id="Rc2e7d0a091384774"/>
    <p:sldLayoutId xmlns:r="http://schemas.openxmlformats.org/officeDocument/2006/relationships" id="2147483651" r:id="R52c25af82c1c4a40"/>
    <p:sldLayoutId xmlns:r="http://schemas.openxmlformats.org/officeDocument/2006/relationships" id="2147483652" r:id="R46a0f84f8eee4842"/>
    <p:sldLayoutId xmlns:r="http://schemas.openxmlformats.org/officeDocument/2006/relationships" id="2147483653" r:id="R18451d4b7a2b47d1"/>
    <p:sldLayoutId xmlns:r="http://schemas.openxmlformats.org/officeDocument/2006/relationships" id="2147483654" r:id="R63691ba0beac4e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fca59db41647b9" /><Relationship Type="http://schemas.openxmlformats.org/officeDocument/2006/relationships/image" Target="/ppt/media/image.png" Id="R3235d6eae77942a5" /><Relationship Type="http://schemas.openxmlformats.org/officeDocument/2006/relationships/notesSlide" Target="/ppt/notesSlides/notesSlide1.xml" Id="Rca8f3948e24847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e70980000045bc" /><Relationship Type="http://schemas.openxmlformats.org/officeDocument/2006/relationships/notesSlide" Target="/ppt/notesSlides/notesSlide2.xml" Id="R95df9defad8544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a59e99789f4151" /><Relationship Type="http://schemas.openxmlformats.org/officeDocument/2006/relationships/notesSlide" Target="/ppt/notesSlides/notesSlide3.xml" Id="R891fb3e0190547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3ec4af39b049e6" /><Relationship Type="http://schemas.openxmlformats.org/officeDocument/2006/relationships/notesSlide" Target="/ppt/notesSlides/notesSlide4.xml" Id="Racf2f8ddb22d44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8f9add0aee46bf" /><Relationship Type="http://schemas.openxmlformats.org/officeDocument/2006/relationships/notesSlide" Target="/ppt/notesSlides/notesSlide5.xml" Id="R3910c241604a43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cbe82a2ada4cd5" /><Relationship Type="http://schemas.openxmlformats.org/officeDocument/2006/relationships/notesSlide" Target="/ppt/notesSlides/notesSlide6.xml" Id="R81b4d5e637c449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29bb84588b4d3e" /><Relationship Type="http://schemas.openxmlformats.org/officeDocument/2006/relationships/notesSlide" Target="/ppt/notesSlides/notesSlide7.xml" Id="R22ed0e24416443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30d33000334efa" /><Relationship Type="http://schemas.openxmlformats.org/officeDocument/2006/relationships/notesSlide" Target="/ppt/notesSlides/notesSlide8.xml" Id="R52980d86d13f4b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ba7d261cc64061" /><Relationship Type="http://schemas.openxmlformats.org/officeDocument/2006/relationships/notesSlide" Target="/ppt/notesSlides/notesSlide9.xml" Id="R4a4676f01a7749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04a354da1974e75" /><Relationship Type="http://schemas.openxmlformats.org/officeDocument/2006/relationships/notesSlide" Target="/ppt/notesSlides/notesSlide10.xml" Id="R73676428b17141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dbe68ec3024b53" /><Relationship Type="http://schemas.openxmlformats.org/officeDocument/2006/relationships/notesSlide" Target="/ppt/notesSlides/notesSlide11.xml" Id="Rfe7ee9d14e964f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f334c5c4c244184" /><Relationship Type="http://schemas.openxmlformats.org/officeDocument/2006/relationships/notesSlide" Target="/ppt/notesSlides/notesSlide12.xml" Id="R66a5e55de3f549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e1017d4bf5348fe" /><Relationship Type="http://schemas.openxmlformats.org/officeDocument/2006/relationships/notesSlide" Target="/ppt/notesSlides/notesSlide13.xml" Id="R143144d4b49e41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49efab6b3f4599" /><Relationship Type="http://schemas.openxmlformats.org/officeDocument/2006/relationships/notesSlide" Target="/ppt/notesSlides/notesSlide14.xml" Id="Rd7c2b6ee149e44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844c0584f79476c" /><Relationship Type="http://schemas.openxmlformats.org/officeDocument/2006/relationships/notesSlide" Target="/ppt/notesSlides/notesSlide15.xml" Id="R75915fed97f74b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4ca84ebedc452a" /><Relationship Type="http://schemas.openxmlformats.org/officeDocument/2006/relationships/notesSlide" Target="/ppt/notesSlides/notesSlide16.xml" Id="R570254c365504c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5ce81cec2334f9b" /><Relationship Type="http://schemas.openxmlformats.org/officeDocument/2006/relationships/notesSlide" Target="/ppt/notesSlides/notesSlide17.xml" Id="Rc5b179c931e146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4cce8d6f064ea0" /><Relationship Type="http://schemas.openxmlformats.org/officeDocument/2006/relationships/hyperlink" Target="https://docs.google.com/forms/d/e/1FAIpQLScD30Pc6ce5oxjODx1WAXBoNeXE65KXD488S4ja9tgKPAWnsQ/viewform" TargetMode="External" Id="R04f174fb5cc34af6" /><Relationship Type="http://schemas.openxmlformats.org/officeDocument/2006/relationships/notesSlide" Target="/ppt/notesSlides/notesSlide18.xml" Id="R8eecf0ef1c5042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a76ab926da74ddb" /><Relationship Type="http://schemas.openxmlformats.org/officeDocument/2006/relationships/notesSlide" Target="/ppt/notesSlides/notesSlide19.xml" Id="R5a3dfe32fa4646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ac8e2ed63384855" /><Relationship Type="http://schemas.openxmlformats.org/officeDocument/2006/relationships/notesSlide" Target="/ppt/notesSlides/notesSlide20.xml" Id="R8d1b67e91dd0483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96071783094c1c" /><Relationship Type="http://schemas.openxmlformats.org/officeDocument/2006/relationships/notesSlide" Target="/ppt/notesSlides/notesSlide21.xml" Id="R552deb9742e24a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68a7a4901084a4c" /><Relationship Type="http://schemas.openxmlformats.org/officeDocument/2006/relationships/notesSlide" Target="/ppt/notesSlides/notesSlide22.xml" Id="R9e03b937e679440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664283e29a4446" /><Relationship Type="http://schemas.openxmlformats.org/officeDocument/2006/relationships/hyperlink" Target="https://docs.google.com/forms/d/e/1FAIpQLSeysbLBKvHp3A-2GvSz_4KodUPaS9D2oASV9-j-qx_IDXPzlw/viewform" TargetMode="External" Id="R8c38f180802d4ac2" /><Relationship Type="http://schemas.openxmlformats.org/officeDocument/2006/relationships/notesSlide" Target="/ppt/notesSlides/notesSlide23.xml" Id="R900b0c4cb5dc44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396339d6a134227" /><Relationship Type="http://schemas.openxmlformats.org/officeDocument/2006/relationships/notesSlide" Target="/ppt/notesSlides/notesSlide24.xml" Id="R78b589bef1d74d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235d6eae77942a5"/>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47F855-374C-4AD4-8715-CEADF3385C6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7C1DCF-C19B-4CEB-8E92-25240EDDDE21}"/>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15</a:t>
            </a:r>
          </a:p>
        </p:txBody>
      </p:sp>
      <p:sp>
        <p:nvSpPr>
          <p:cNvPr id="4" name="">
            <a:extLst xmlns:a="http://schemas.openxmlformats.org/drawingml/2006/main">
              <a:ext uri="{FF2B5EF4-FFF2-40B4-BE49-F238E27FC236}">
                <a16:creationId xmlns:a16="http://schemas.microsoft.com/office/drawing/2014/main" id="{C922502D-F190-4F7B-A6C0-9531EADA3790}"/>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Presenting the project and individual contribution</a:t>
            </a:r>
          </a:p>
        </p:txBody>
      </p:sp>
      <p:sp>
        <p:nvSpPr>
          <p:cNvPr id="5" name="">
            <a:extLst xmlns:a="http://schemas.openxmlformats.org/drawingml/2006/main">
              <a:ext uri="{FF2B5EF4-FFF2-40B4-BE49-F238E27FC236}">
                <a16:creationId xmlns:a16="http://schemas.microsoft.com/office/drawing/2014/main" id="{C7E49E96-7E65-484C-B15B-11F71E55199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20AAD859-0179-4353-9FDC-D0A2025B4C0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15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5848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15BB0D-D5D6-411E-8105-8E3A9C119D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62C406-CE0A-4CAF-9D88-AFCE1ADA31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127C500A-29CB-4F6A-A593-9E11EFB354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03BD3A26-41B5-42FA-BEA4-D4AA5DB9EF83}"/>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43B4A5-EBF2-41AD-8FD3-24BAEAEDCC4C}"/>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176FBEC1-B647-44AB-AABD-630536651354}"/>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your question and one supported finding.</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your individual contribution.</a:t>
            </a:r>
          </a:p>
        </p:txBody>
      </p:sp>
      <p:sp>
        <p:nvSpPr>
          <p:cNvPr id="7" name="">
            <a:extLst xmlns:a="http://schemas.openxmlformats.org/drawingml/2006/main">
              <a:ext uri="{FF2B5EF4-FFF2-40B4-BE49-F238E27FC236}">
                <a16:creationId xmlns:a16="http://schemas.microsoft.com/office/drawing/2014/main" id="{6A553715-E5B2-49AB-B8F4-F19ECB7CC8A0}"/>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87DC4960-6F7E-489C-83D9-52E66D3F382B}"/>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point to the evidence behind one decision you personally worked on.</a:t>
            </a:r>
          </a:p>
        </p:txBody>
      </p:sp>
      <p:sp>
        <p:nvSpPr>
          <p:cNvPr id="9" name="">
            <a:extLst xmlns:a="http://schemas.openxmlformats.org/drawingml/2006/main">
              <a:ext uri="{FF2B5EF4-FFF2-40B4-BE49-F238E27FC236}">
                <a16:creationId xmlns:a16="http://schemas.microsoft.com/office/drawing/2014/main" id="{632133D0-B9DA-49AB-9986-B6D03D1B95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2</a:t>
            </a:r>
          </a:p>
        </p:txBody>
      </p:sp>
    </p:spTree>
    <p:extLst>
      <p:ext uri="{BB962C8B-B14F-4D97-AF65-F5344CB8AC3E}">
        <p14:creationId xmlns:p14="http://schemas.microsoft.com/office/powerpoint/2010/main" val="16971045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6EA7CF-2011-445A-86C3-BB77A993B2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5F2EC2-40DA-4327-950B-CAC92C7E6D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85ABF26-503A-4D2D-A591-0C0B205CA3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0AE64100-AF16-48CD-9CA1-05137DC55E6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1445A3-7DE8-4FE1-83DD-2EC3004D68C7}"/>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What question did your team investigate, and what result can you support with evidence?</a:t>
            </a:r>
          </a:p>
        </p:txBody>
      </p:sp>
      <p:sp>
        <p:nvSpPr>
          <p:cNvPr id="6" name="">
            <a:extLst xmlns:a="http://schemas.openxmlformats.org/drawingml/2006/main">
              <a:ext uri="{FF2B5EF4-FFF2-40B4-BE49-F238E27FC236}">
                <a16:creationId xmlns:a16="http://schemas.microsoft.com/office/drawing/2014/main" id="{B8565C0E-F779-431B-A8A1-8096E4910A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3</a:t>
            </a:r>
          </a:p>
        </p:txBody>
      </p:sp>
    </p:spTree>
    <p:extLst>
      <p:ext uri="{BB962C8B-B14F-4D97-AF65-F5344CB8AC3E}">
        <p14:creationId xmlns:p14="http://schemas.microsoft.com/office/powerpoint/2010/main" val="6400162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9EB3F8-E7D0-4875-918E-AA5B6224D1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D046F8-D3F1-4DC8-AD7F-D0CE4287436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E5D7814-36F6-483F-BD68-6C69F0B57E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presentation connects a claim to evidence</a:t>
            </a:r>
          </a:p>
        </p:txBody>
      </p:sp>
      <p:sp>
        <p:nvSpPr>
          <p:cNvPr id="4" name="">
            <a:extLst xmlns:a="http://schemas.openxmlformats.org/drawingml/2006/main">
              <a:ext uri="{FF2B5EF4-FFF2-40B4-BE49-F238E27FC236}">
                <a16:creationId xmlns:a16="http://schemas.microsoft.com/office/drawing/2014/main" id="{FECC91B2-13D6-408B-A78A-A4608ED2276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31DAAD-1E74-462D-824D-700C73312B8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Finding and limitation</a:t>
            </a:r>
          </a:p>
        </p:txBody>
      </p:sp>
      <p:sp>
        <p:nvSpPr>
          <p:cNvPr id="6" name="">
            <a:extLst xmlns:a="http://schemas.openxmlformats.org/drawingml/2006/main">
              <a:ext uri="{FF2B5EF4-FFF2-40B4-BE49-F238E27FC236}">
                <a16:creationId xmlns:a16="http://schemas.microsoft.com/office/drawing/2014/main" id="{AD87A0F1-A386-4E7C-9F0C-B06B991E6320}"/>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finding states what the evidence shows. A limitation states where that evidence is incomplete or may not apply. Point to the relevant chart, metric or record.</a:t>
            </a:r>
          </a:p>
        </p:txBody>
      </p:sp>
      <p:sp>
        <p:nvSpPr>
          <p:cNvPr id="7" name="">
            <a:extLst xmlns:a="http://schemas.openxmlformats.org/drawingml/2006/main">
              <a:ext uri="{FF2B5EF4-FFF2-40B4-BE49-F238E27FC236}">
                <a16:creationId xmlns:a16="http://schemas.microsoft.com/office/drawing/2014/main" id="{8375031A-352A-4BE0-B113-DD4D6BAD619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8051DA-2FB2-411E-9353-24CC5F3650A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Defence and reflection</a:t>
            </a:r>
          </a:p>
        </p:txBody>
      </p:sp>
      <p:sp>
        <p:nvSpPr>
          <p:cNvPr id="9" name="">
            <a:extLst xmlns:a="http://schemas.openxmlformats.org/drawingml/2006/main">
              <a:ext uri="{FF2B5EF4-FFF2-40B4-BE49-F238E27FC236}">
                <a16:creationId xmlns:a16="http://schemas.microsoft.com/office/drawing/2014/main" id="{E317016B-42E3-4952-A8BD-7D3CA54A85C1}"/>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defence explains why you made a choice. A reflection explains what you learned and would improve. Describe your own contribution with specific evidence.</a:t>
            </a:r>
          </a:p>
        </p:txBody>
      </p:sp>
      <p:sp>
        <p:nvSpPr>
          <p:cNvPr id="10" name="">
            <a:extLst xmlns:a="http://schemas.openxmlformats.org/drawingml/2006/main">
              <a:ext uri="{FF2B5EF4-FFF2-40B4-BE49-F238E27FC236}">
                <a16:creationId xmlns:a16="http://schemas.microsoft.com/office/drawing/2014/main" id="{F960AC89-0E44-468D-BA99-BB55070088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4</a:t>
            </a:r>
          </a:p>
        </p:txBody>
      </p:sp>
    </p:spTree>
    <p:extLst>
      <p:ext uri="{BB962C8B-B14F-4D97-AF65-F5344CB8AC3E}">
        <p14:creationId xmlns:p14="http://schemas.microsoft.com/office/powerpoint/2010/main" val="16728533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696FAD-0E9C-40C6-9BCD-2A61B45910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F0646B-9E4D-4595-8B36-31B3D1E568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BC296E5-C422-47A8-9077-D64012DBC9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six-minute presentation</a:t>
            </a:r>
          </a:p>
        </p:txBody>
      </p:sp>
      <p:sp>
        <p:nvSpPr>
          <p:cNvPr id="4" name="">
            <a:extLst xmlns:a="http://schemas.openxmlformats.org/drawingml/2006/main">
              <a:ext uri="{FF2B5EF4-FFF2-40B4-BE49-F238E27FC236}">
                <a16:creationId xmlns:a16="http://schemas.microsoft.com/office/drawing/2014/main" id="{F3F674DC-9FB2-4BA5-8592-DA8FEEE9B7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F11AA2-2EFA-48B2-8B3D-49BCE88C8FC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1–2: explain the question and data.</a:t>
            </a:r>
          </a:p>
        </p:txBody>
      </p:sp>
      <p:sp>
        <p:nvSpPr>
          <p:cNvPr id="6" name="">
            <a:extLst xmlns:a="http://schemas.openxmlformats.org/drawingml/2006/main">
              <a:ext uri="{FF2B5EF4-FFF2-40B4-BE49-F238E27FC236}">
                <a16:creationId xmlns:a16="http://schemas.microsoft.com/office/drawing/2014/main" id="{EE187EFB-4C54-4ED3-8535-212FFA5EC5F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31C6B5E-1DCA-4973-B840-8B5527CEAF9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3–4: show the method and one supported result.</a:t>
            </a:r>
          </a:p>
        </p:txBody>
      </p:sp>
      <p:sp>
        <p:nvSpPr>
          <p:cNvPr id="8" name="">
            <a:extLst xmlns:a="http://schemas.openxmlformats.org/drawingml/2006/main">
              <a:ext uri="{FF2B5EF4-FFF2-40B4-BE49-F238E27FC236}">
                <a16:creationId xmlns:a16="http://schemas.microsoft.com/office/drawing/2014/main" id="{F4964C72-DBE2-46F6-A397-1BCE0F1C106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164D5D-28A8-48CD-8C8A-FFC851C0041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5–6: explain limitations, contributions and a next step.</a:t>
            </a:r>
          </a:p>
        </p:txBody>
      </p:sp>
      <p:sp>
        <p:nvSpPr>
          <p:cNvPr id="10" name="">
            <a:extLst xmlns:a="http://schemas.openxmlformats.org/drawingml/2006/main">
              <a:ext uri="{FF2B5EF4-FFF2-40B4-BE49-F238E27FC236}">
                <a16:creationId xmlns:a16="http://schemas.microsoft.com/office/drawing/2014/main" id="{1C687AB5-6600-4F7E-A922-9C36C3D6E7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5</a:t>
            </a:r>
          </a:p>
        </p:txBody>
      </p:sp>
    </p:spTree>
    <p:extLst>
      <p:ext uri="{BB962C8B-B14F-4D97-AF65-F5344CB8AC3E}">
        <p14:creationId xmlns:p14="http://schemas.microsoft.com/office/powerpoint/2010/main" val="2794717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7D70A7-7157-4BF5-B3E3-CE0E5C59E9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E5A790-EF61-4FEA-A05F-5AB45F3EC1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FD868E0-B68E-4747-BF27-B6A0FE3BDA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 the evidence readable</a:t>
            </a:r>
          </a:p>
        </p:txBody>
      </p:sp>
      <p:sp>
        <p:nvSpPr>
          <p:cNvPr id="4" name="">
            <a:extLst xmlns:a="http://schemas.openxmlformats.org/drawingml/2006/main">
              <a:ext uri="{FF2B5EF4-FFF2-40B4-BE49-F238E27FC236}">
                <a16:creationId xmlns:a16="http://schemas.microsoft.com/office/drawing/2014/main" id="{A88B96D0-7D70-4122-8D4F-97216A0C687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1604084-686E-4EB5-AEC5-B93F0966846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chart axes and their units.</a:t>
            </a:r>
          </a:p>
        </p:txBody>
      </p:sp>
      <p:sp>
        <p:nvSpPr>
          <p:cNvPr id="6" name="">
            <a:extLst xmlns:a="http://schemas.openxmlformats.org/drawingml/2006/main">
              <a:ext uri="{FF2B5EF4-FFF2-40B4-BE49-F238E27FC236}">
                <a16:creationId xmlns:a16="http://schemas.microsoft.com/office/drawing/2014/main" id="{224AA6BC-788C-448F-BDAF-EC43D60D3C0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069EE46-9ED5-4215-A103-5AC6CB8250D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measured evaluation result and how you obtained it.</a:t>
            </a:r>
          </a:p>
        </p:txBody>
      </p:sp>
      <p:sp>
        <p:nvSpPr>
          <p:cNvPr id="8" name="">
            <a:extLst xmlns:a="http://schemas.openxmlformats.org/drawingml/2006/main">
              <a:ext uri="{FF2B5EF4-FFF2-40B4-BE49-F238E27FC236}">
                <a16:creationId xmlns:a16="http://schemas.microsoft.com/office/drawing/2014/main" id="{DC5F597A-B14B-4B7B-B245-AE0B6E9D607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BC5020D-360C-48D7-AC4F-2337CF49551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Point to the particular table, plot or calculation that supports your claim.</a:t>
            </a:r>
          </a:p>
        </p:txBody>
      </p:sp>
      <p:sp>
        <p:nvSpPr>
          <p:cNvPr id="10" name="">
            <a:extLst xmlns:a="http://schemas.openxmlformats.org/drawingml/2006/main">
              <a:ext uri="{FF2B5EF4-FFF2-40B4-BE49-F238E27FC236}">
                <a16:creationId xmlns:a16="http://schemas.microsoft.com/office/drawing/2014/main" id="{19A3476D-A87B-4B38-BEF2-2AE1AD210D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6</a:t>
            </a:r>
          </a:p>
        </p:txBody>
      </p:sp>
    </p:spTree>
    <p:extLst>
      <p:ext uri="{BB962C8B-B14F-4D97-AF65-F5344CB8AC3E}">
        <p14:creationId xmlns:p14="http://schemas.microsoft.com/office/powerpoint/2010/main" val="10108589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E38D61-6B28-4CF6-BF57-C2F84DDA22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25826C-F9D3-4190-8F6A-457223D48C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E5765A-5580-49A5-953B-793F47E55D7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Explain the limits honestly</a:t>
            </a:r>
          </a:p>
        </p:txBody>
      </p:sp>
      <p:sp>
        <p:nvSpPr>
          <p:cNvPr id="4" name="">
            <a:extLst xmlns:a="http://schemas.openxmlformats.org/drawingml/2006/main">
              <a:ext uri="{FF2B5EF4-FFF2-40B4-BE49-F238E27FC236}">
                <a16:creationId xmlns:a16="http://schemas.microsoft.com/office/drawing/2014/main" id="{4B7CADB2-BC4E-4CB1-B23A-CE974CABCC6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C1A8FD-D123-4F08-91C3-302D1ADE5EA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what your investigation can support.</a:t>
            </a:r>
          </a:p>
        </p:txBody>
      </p:sp>
      <p:sp>
        <p:nvSpPr>
          <p:cNvPr id="6" name="">
            <a:extLst xmlns:a="http://schemas.openxmlformats.org/drawingml/2006/main">
              <a:ext uri="{FF2B5EF4-FFF2-40B4-BE49-F238E27FC236}">
                <a16:creationId xmlns:a16="http://schemas.microsoft.com/office/drawing/2014/main" id="{E9B84C5E-9080-4257-89E6-494DCB87968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2D33E01-AA42-495F-9EA5-892C62F7023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an answer is unknown, say what evidence would resolve it.</a:t>
            </a:r>
          </a:p>
        </p:txBody>
      </p:sp>
      <p:sp>
        <p:nvSpPr>
          <p:cNvPr id="8" name="">
            <a:extLst xmlns:a="http://schemas.openxmlformats.org/drawingml/2006/main">
              <a:ext uri="{FF2B5EF4-FFF2-40B4-BE49-F238E27FC236}">
                <a16:creationId xmlns:a16="http://schemas.microsoft.com/office/drawing/2014/main" id="{5A99F6D5-67B2-45DA-9A62-1E7FE0507C3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AA0DF54-9AB7-4D74-84A5-ED6A83A2DBD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Teaching data alone do not establish readiness for real operation.</a:t>
            </a:r>
          </a:p>
        </p:txBody>
      </p:sp>
      <p:sp>
        <p:nvSpPr>
          <p:cNvPr id="10" name="">
            <a:extLst xmlns:a="http://schemas.openxmlformats.org/drawingml/2006/main">
              <a:ext uri="{FF2B5EF4-FFF2-40B4-BE49-F238E27FC236}">
                <a16:creationId xmlns:a16="http://schemas.microsoft.com/office/drawing/2014/main" id="{18C1EE0C-9C64-4817-8139-75CE6F3FCD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7</a:t>
            </a:r>
          </a:p>
        </p:txBody>
      </p:sp>
    </p:spTree>
    <p:extLst>
      <p:ext uri="{BB962C8B-B14F-4D97-AF65-F5344CB8AC3E}">
        <p14:creationId xmlns:p14="http://schemas.microsoft.com/office/powerpoint/2010/main" val="17486009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929542-B630-46FC-A0A9-F4CCA2A32C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122D14-9860-4B0B-AB82-60A38F0E1C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29C563A-465B-4178-AC04-8D9F67B37F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43E17371-BB62-40DF-9060-C246E3EBB18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417F6B-417C-4FB0-8D54-6C478417BBC2}"/>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student can explain one decision they personally worked on and point to its evidence.</a:t>
            </a:r>
          </a:p>
        </p:txBody>
      </p:sp>
      <p:sp>
        <p:nvSpPr>
          <p:cNvPr id="6" name="">
            <a:extLst xmlns:a="http://schemas.openxmlformats.org/drawingml/2006/main">
              <a:ext uri="{FF2B5EF4-FFF2-40B4-BE49-F238E27FC236}">
                <a16:creationId xmlns:a16="http://schemas.microsoft.com/office/drawing/2014/main" id="{702D4E34-4F9C-466F-A9A2-D4EF0E65F3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8</a:t>
            </a:r>
          </a:p>
        </p:txBody>
      </p:sp>
    </p:spTree>
    <p:extLst>
      <p:ext uri="{BB962C8B-B14F-4D97-AF65-F5344CB8AC3E}">
        <p14:creationId xmlns:p14="http://schemas.microsoft.com/office/powerpoint/2010/main" val="17410345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7D3B2F-1ADD-4615-AAAC-405C5C8269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814E82-2942-44E2-A7F6-A276DCE809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BFD72CD-A704-4314-B3EC-09179EF5DF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DDFC9732-BA26-4682-952F-5B8EEEEECE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D36F7DE-DED7-486D-91C7-46A67121B4B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project and DEMO requirements.</a:t>
            </a:r>
          </a:p>
        </p:txBody>
      </p:sp>
      <p:sp>
        <p:nvSpPr>
          <p:cNvPr id="6" name="">
            <a:extLst xmlns:a="http://schemas.openxmlformats.org/drawingml/2006/main">
              <a:ext uri="{FF2B5EF4-FFF2-40B4-BE49-F238E27FC236}">
                <a16:creationId xmlns:a16="http://schemas.microsoft.com/office/drawing/2014/main" id="{4F5C3EFB-425E-4834-BF56-F072030B965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85FDB9-14EA-4722-9333-EC55528451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individual submits their own typed defence and reflection through the designated route.</a:t>
            </a:r>
          </a:p>
        </p:txBody>
      </p:sp>
      <p:sp>
        <p:nvSpPr>
          <p:cNvPr id="8" name="">
            <a:extLst xmlns:a="http://schemas.openxmlformats.org/drawingml/2006/main">
              <a:ext uri="{FF2B5EF4-FFF2-40B4-BE49-F238E27FC236}">
                <a16:creationId xmlns:a16="http://schemas.microsoft.com/office/drawing/2014/main" id="{C4810A4B-5668-450A-9DF5-CB42260D228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20E6BAC-747B-427E-BEEC-A62A4CF3082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your own written defence and reflection as instructed.</a:t>
            </a:r>
          </a:p>
        </p:txBody>
      </p:sp>
      <p:sp>
        <p:nvSpPr>
          <p:cNvPr id="10" name="">
            <a:extLst xmlns:a="http://schemas.openxmlformats.org/drawingml/2006/main">
              <a:ext uri="{FF2B5EF4-FFF2-40B4-BE49-F238E27FC236}">
                <a16:creationId xmlns:a16="http://schemas.microsoft.com/office/drawing/2014/main" id="{FD569F1B-3599-4200-9507-64A1643898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9</a:t>
            </a:r>
          </a:p>
        </p:txBody>
      </p:sp>
    </p:spTree>
    <p:extLst>
      <p:ext uri="{BB962C8B-B14F-4D97-AF65-F5344CB8AC3E}">
        <p14:creationId xmlns:p14="http://schemas.microsoft.com/office/powerpoint/2010/main" val="4293891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6B8BEC-4CEC-4CEC-AAE3-2F4556E6FC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5B06C1-9F8A-4C2B-B85B-BEE98222F4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668A62C-99A9-4BE4-B1A9-CB8FA63276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a:t>
            </a:r>
          </a:p>
        </p:txBody>
      </p:sp>
      <p:sp>
        <p:nvSpPr>
          <p:cNvPr id="4" name="">
            <a:extLst xmlns:a="http://schemas.openxmlformats.org/drawingml/2006/main">
              <a:ext uri="{FF2B5EF4-FFF2-40B4-BE49-F238E27FC236}">
                <a16:creationId xmlns:a16="http://schemas.microsoft.com/office/drawing/2014/main" id="{B2026255-E18F-4807-9D4B-0EA588227F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C649049-05F2-48D2-9C9B-810D0621F88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5BF86A4D-5991-4174-A100-CFB95CD3F8D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4F6E7E-0DD2-47B6-BD55-EC9DACAB5CB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5F156560-D3F0-41D7-B2E7-F5849CF3A6D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3554A6-EAA1-4D8B-BB3A-5984D10B0E2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724AF166-2BFB-462F-99D6-A6FDE74BF24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9A260EA-2310-427B-9B04-34C85425C3C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7ABFC45E-4B7B-4025-A51A-BBB1F51284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10</a:t>
            </a:r>
          </a:p>
        </p:txBody>
      </p:sp>
    </p:spTree>
    <p:extLst>
      <p:ext uri="{BB962C8B-B14F-4D97-AF65-F5344CB8AC3E}">
        <p14:creationId xmlns:p14="http://schemas.microsoft.com/office/powerpoint/2010/main" val="653872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F8B4C8-1FB8-4D0D-846B-B05420C257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A73760-159A-4C7E-84A2-24CB5E4D5F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2D83A53-8961-4D1B-B77B-730A1463A7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DE9AACB5-19E2-426E-97AD-634B3E270C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F54186-60E0-4B9F-953A-4AD2E3DC9A3E}"/>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37F8F298-05D3-45D4-9457-AC82C5560CE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AD8A5CA-1679-431D-BE35-53826F23365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5BD218EA-0C6F-4C5A-9F20-236E67106FE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0003AF6-58FF-4FD0-A8C5-8594FF4C7F2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795BA51A-A411-4199-B316-DF067834E58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34818BE-9946-4888-969A-B3700FA02DE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92FB17C2-F2EE-4336-871A-54531EB199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11</a:t>
            </a:r>
          </a:p>
        </p:txBody>
      </p:sp>
    </p:spTree>
    <p:extLst>
      <p:ext uri="{BB962C8B-B14F-4D97-AF65-F5344CB8AC3E}">
        <p14:creationId xmlns:p14="http://schemas.microsoft.com/office/powerpoint/2010/main" val="14058630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1DD1C1-C038-4F8D-84EF-86D91FAEB4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3BF250-87AD-491A-A5B8-BDC7067317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507143F-46B7-4304-A28E-1035ADFB0AA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EC7C4813-003C-4B88-8752-767839C049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13120A-C769-46E6-BCAD-18E0B472FFB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xmlns:a="http://schemas.openxmlformats.org/drawingml/2006/main">
              <a:ext uri="{FF2B5EF4-FFF2-40B4-BE49-F238E27FC236}">
                <a16:creationId xmlns:a16="http://schemas.microsoft.com/office/drawing/2014/main" id="{5738A373-6CD4-4E3F-A361-72E4424F04B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4540351-2EDD-4FA3-8C66-FEC7D7E0AFB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Problem definition (15.0 total): The engineering problem is real, specific and bounded.</a:t>
            </a:r>
          </a:p>
        </p:txBody>
      </p:sp>
      <p:sp>
        <p:nvSpPr>
          <p:cNvPr id="8" name="">
            <a:extLst xmlns:a="http://schemas.openxmlformats.org/drawingml/2006/main">
              <a:ext uri="{FF2B5EF4-FFF2-40B4-BE49-F238E27FC236}">
                <a16:creationId xmlns:a16="http://schemas.microsoft.com/office/drawing/2014/main" id="{94828FF8-790F-43E4-A6D9-94DB1CF6D71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EAB533A-5F94-4065-A1A4-405D3B70406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ML task is correctly derived from it.</a:t>
            </a:r>
          </a:p>
        </p:txBody>
      </p:sp>
      <p:sp>
        <p:nvSpPr>
          <p:cNvPr id="10" name="">
            <a:extLst xmlns:a="http://schemas.openxmlformats.org/drawingml/2006/main">
              <a:ext uri="{FF2B5EF4-FFF2-40B4-BE49-F238E27FC236}">
                <a16:creationId xmlns:a16="http://schemas.microsoft.com/office/drawing/2014/main" id="{9CC7202C-1668-44C6-9912-9E934BF17D4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1BE9656-A6AB-4B93-A287-6223FAE9766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variable is justified, not merely available.</a:t>
            </a:r>
          </a:p>
        </p:txBody>
      </p:sp>
      <p:sp>
        <p:nvSpPr>
          <p:cNvPr id="12" name="">
            <a:extLst xmlns:a="http://schemas.openxmlformats.org/drawingml/2006/main">
              <a:ext uri="{FF2B5EF4-FFF2-40B4-BE49-F238E27FC236}">
                <a16:creationId xmlns:a16="http://schemas.microsoft.com/office/drawing/2014/main" id="{529723CE-85D8-4167-86BD-80CB152032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12</a:t>
            </a:r>
          </a:p>
        </p:txBody>
      </p:sp>
    </p:spTree>
    <p:extLst>
      <p:ext uri="{BB962C8B-B14F-4D97-AF65-F5344CB8AC3E}">
        <p14:creationId xmlns:p14="http://schemas.microsoft.com/office/powerpoint/2010/main" val="6222947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E00FE3-71B7-4269-89D2-E965350593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B327B1-9392-48A2-81A6-9164C88D29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3B57F21-6209-4895-A5EC-ED81EEB81D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0D9A6D86-3856-4E23-8181-3512E66693E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5CFF43-9FDC-4E50-B369-A0F306AB8B0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Data understanding (15.0 total): Provenance, licence and collection method stated.</a:t>
            </a:r>
          </a:p>
        </p:txBody>
      </p:sp>
      <p:sp>
        <p:nvSpPr>
          <p:cNvPr id="6" name="">
            <a:extLst xmlns:a="http://schemas.openxmlformats.org/drawingml/2006/main">
              <a:ext uri="{FF2B5EF4-FFF2-40B4-BE49-F238E27FC236}">
                <a16:creationId xmlns:a16="http://schemas.microsoft.com/office/drawing/2014/main" id="{98B7491F-B45E-48FE-9CBD-AA9F588E142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172E1C-36F7-4A27-8ECA-D769A17956A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Defects found and handled with justification.</a:t>
            </a:r>
          </a:p>
        </p:txBody>
      </p:sp>
      <p:sp>
        <p:nvSpPr>
          <p:cNvPr id="8" name="">
            <a:extLst xmlns:a="http://schemas.openxmlformats.org/drawingml/2006/main">
              <a:ext uri="{FF2B5EF4-FFF2-40B4-BE49-F238E27FC236}">
                <a16:creationId xmlns:a16="http://schemas.microsoft.com/office/drawing/2014/main" id="{5ECF4D34-4D0C-4CBF-BDFB-AE74E759DC4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2A647A-E8C7-4EFE-B107-0ED8D427324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Limitations of the data acknowledged before any modelling.</a:t>
            </a:r>
          </a:p>
        </p:txBody>
      </p:sp>
      <p:sp>
        <p:nvSpPr>
          <p:cNvPr id="10" name="">
            <a:extLst xmlns:a="http://schemas.openxmlformats.org/drawingml/2006/main">
              <a:ext uri="{FF2B5EF4-FFF2-40B4-BE49-F238E27FC236}">
                <a16:creationId xmlns:a16="http://schemas.microsoft.com/office/drawing/2014/main" id="{8183E64E-B525-4315-80A0-2C7683C0DF7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D044F04-B66E-46EB-A592-B1AEAF7AC3A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Methodology (20.0 total): Appropriate models chosen and compared under one protocol.</a:t>
            </a:r>
          </a:p>
        </p:txBody>
      </p:sp>
      <p:sp>
        <p:nvSpPr>
          <p:cNvPr id="12" name="">
            <a:extLst xmlns:a="http://schemas.openxmlformats.org/drawingml/2006/main">
              <a:ext uri="{FF2B5EF4-FFF2-40B4-BE49-F238E27FC236}">
                <a16:creationId xmlns:a16="http://schemas.microsoft.com/office/drawing/2014/main" id="{CB684B4E-22B1-4E7F-95F2-1569F3AC44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13</a:t>
            </a:r>
          </a:p>
        </p:txBody>
      </p:sp>
    </p:spTree>
    <p:extLst>
      <p:ext uri="{BB962C8B-B14F-4D97-AF65-F5344CB8AC3E}">
        <p14:creationId xmlns:p14="http://schemas.microsoft.com/office/powerpoint/2010/main" val="6906119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3857CE-B8BA-4B43-B196-EBC745C76F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7A5A60-C0FA-417A-9FF1-8ACAB53CD7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60F20CE-726D-4F4C-B08C-80BA420F58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3FA2000C-B298-47DF-BEEC-886C4BC85B8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799EED-2765-4C37-9DBE-415A6DEB492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B125500A-1268-490E-B18A-6333DBC97E2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DDA909A-5922-4641-A62D-6A98A1011AC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8" name="">
            <a:extLst xmlns:a="http://schemas.openxmlformats.org/drawingml/2006/main">
              <a:ext uri="{FF2B5EF4-FFF2-40B4-BE49-F238E27FC236}">
                <a16:creationId xmlns:a16="http://schemas.microsoft.com/office/drawing/2014/main" id="{7E42FF19-AD20-4FF1-9E67-AB68D38BD2F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67EA12B-26C0-49EA-A75B-23EC9841BFD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Choices explained rather than defaulted to.</a:t>
            </a:r>
          </a:p>
        </p:txBody>
      </p:sp>
      <p:sp>
        <p:nvSpPr>
          <p:cNvPr id="10" name="">
            <a:extLst xmlns:a="http://schemas.openxmlformats.org/drawingml/2006/main">
              <a:ext uri="{FF2B5EF4-FFF2-40B4-BE49-F238E27FC236}">
                <a16:creationId xmlns:a16="http://schemas.microsoft.com/office/drawing/2014/main" id="{4571F6A5-0399-47D7-BA3F-313F3781257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7DF24C4-9FA1-4537-8E75-A2E08052B6C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reasoning (20.0 total): Domain knowledge visibly enters the work through features, banding, metric choice or interpretation.</a:t>
            </a:r>
          </a:p>
        </p:txBody>
      </p:sp>
      <p:sp>
        <p:nvSpPr>
          <p:cNvPr id="12" name="">
            <a:extLst xmlns:a="http://schemas.openxmlformats.org/drawingml/2006/main">
              <a:ext uri="{FF2B5EF4-FFF2-40B4-BE49-F238E27FC236}">
                <a16:creationId xmlns:a16="http://schemas.microsoft.com/office/drawing/2014/main" id="{8264EFBA-AC6D-4F34-A6D0-50064CC5F7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14</a:t>
            </a:r>
          </a:p>
        </p:txBody>
      </p:sp>
    </p:spTree>
    <p:extLst>
      <p:ext uri="{BB962C8B-B14F-4D97-AF65-F5344CB8AC3E}">
        <p14:creationId xmlns:p14="http://schemas.microsoft.com/office/powerpoint/2010/main" val="11509077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C21DB8-F681-4B0F-9667-C86D5D16A3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860604-0EE4-47D2-ACA4-D248438F3C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40A2D4B-8443-448A-820E-8A16058D9F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A46C8E8C-0B9A-427B-A08C-B69CA22BE41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8D94E37-2016-4187-A1E7-125D0926381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result is discussed as engineering, not as a score.</a:t>
            </a:r>
          </a:p>
        </p:txBody>
      </p:sp>
      <p:sp>
        <p:nvSpPr>
          <p:cNvPr id="6" name="">
            <a:extLst xmlns:a="http://schemas.openxmlformats.org/drawingml/2006/main">
              <a:ext uri="{FF2B5EF4-FFF2-40B4-BE49-F238E27FC236}">
                <a16:creationId xmlns:a16="http://schemas.microsoft.com/office/drawing/2014/main" id="{EF434162-C2C6-4DCE-87E2-D394BA377EF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AD84F2-C3EF-4D95-B48F-051390A40F9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(15.0 total): Correct train/test discipline, cross-validation with a reported spread, leakage explicitly checked and ruled out, metric justified against the cost of error.</a:t>
            </a:r>
          </a:p>
        </p:txBody>
      </p:sp>
      <p:sp>
        <p:nvSpPr>
          <p:cNvPr id="8" name="">
            <a:extLst xmlns:a="http://schemas.openxmlformats.org/drawingml/2006/main">
              <a:ext uri="{FF2B5EF4-FFF2-40B4-BE49-F238E27FC236}">
                <a16:creationId xmlns:a16="http://schemas.microsoft.com/office/drawing/2014/main" id="{22AE63EA-23F0-4260-9E01-A7DBAB8026D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3F3D17-CF8D-4E31-8298-D5F61ED7936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Communication (10.0 total): The 2-page brief is readable by a non-specialist engineer.</a:t>
            </a:r>
          </a:p>
        </p:txBody>
      </p:sp>
      <p:sp>
        <p:nvSpPr>
          <p:cNvPr id="10" name="">
            <a:extLst xmlns:a="http://schemas.openxmlformats.org/drawingml/2006/main">
              <a:ext uri="{FF2B5EF4-FFF2-40B4-BE49-F238E27FC236}">
                <a16:creationId xmlns:a16="http://schemas.microsoft.com/office/drawing/2014/main" id="{6C2CF3CD-5C3E-48A3-9D9E-211D7B2DEAC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15</a:t>
            </a:r>
          </a:p>
        </p:txBody>
      </p:sp>
    </p:spTree>
    <p:extLst>
      <p:ext uri="{BB962C8B-B14F-4D97-AF65-F5344CB8AC3E}">
        <p14:creationId xmlns:p14="http://schemas.microsoft.com/office/powerpoint/2010/main" val="904557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DEC4C1-B706-41C4-9B4C-31CD4723AC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A44707-1A5E-4AC7-A751-84DABFBD07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E4BD0A0-4916-4EDD-9E38-B456126CF9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D6E21EB8-DFA6-4425-BE8D-C2C9EC88DA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D754A03-C0C5-4138-9D75-66ABD4623F5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answer questions and are captioned with findings.</a:t>
            </a:r>
          </a:p>
        </p:txBody>
      </p:sp>
      <p:sp>
        <p:nvSpPr>
          <p:cNvPr id="6" name="">
            <a:extLst xmlns:a="http://schemas.openxmlformats.org/drawingml/2006/main">
              <a:ext uri="{FF2B5EF4-FFF2-40B4-BE49-F238E27FC236}">
                <a16:creationId xmlns:a16="http://schemas.microsoft.com/office/drawing/2014/main" id="{D6D2146D-B5DC-4015-B0CF-BB979223C74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AE95B90-A8AF-4000-B81E-3873DBD7DA2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Uncertainty and limitations stated honestly.</a:t>
            </a:r>
          </a:p>
        </p:txBody>
      </p:sp>
      <p:sp>
        <p:nvSpPr>
          <p:cNvPr id="8" name="">
            <a:extLst xmlns:a="http://schemas.openxmlformats.org/drawingml/2006/main">
              <a:ext uri="{FF2B5EF4-FFF2-40B4-BE49-F238E27FC236}">
                <a16:creationId xmlns:a16="http://schemas.microsoft.com/office/drawing/2014/main" id="{8D96CE17-D3C5-451B-86C2-FA6DFCCC13F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B8F7B41-7E14-49C7-8A8D-582124049EE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Reproducibility &amp; documentation (5.0 total): Repository runs from a clean clone.</a:t>
            </a:r>
          </a:p>
        </p:txBody>
      </p:sp>
      <p:sp>
        <p:nvSpPr>
          <p:cNvPr id="10" name="">
            <a:extLst xmlns:a="http://schemas.openxmlformats.org/drawingml/2006/main">
              <a:ext uri="{FF2B5EF4-FFF2-40B4-BE49-F238E27FC236}">
                <a16:creationId xmlns:a16="http://schemas.microsoft.com/office/drawing/2014/main" id="{93FEEB13-6A36-4F59-9784-122DA87C8E5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D23BDC2-BEC1-42DF-9E3E-FB61123C18F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README complete. requirements.txt present.</a:t>
            </a:r>
          </a:p>
        </p:txBody>
      </p:sp>
      <p:sp>
        <p:nvSpPr>
          <p:cNvPr id="12" name="">
            <a:extLst xmlns:a="http://schemas.openxmlformats.org/drawingml/2006/main">
              <a:ext uri="{FF2B5EF4-FFF2-40B4-BE49-F238E27FC236}">
                <a16:creationId xmlns:a16="http://schemas.microsoft.com/office/drawing/2014/main" id="{8F846BFE-B68F-4EDB-9AA0-731FEA6ACF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16</a:t>
            </a:r>
          </a:p>
        </p:txBody>
      </p:sp>
    </p:spTree>
    <p:extLst>
      <p:ext uri="{BB962C8B-B14F-4D97-AF65-F5344CB8AC3E}">
        <p14:creationId xmlns:p14="http://schemas.microsoft.com/office/powerpoint/2010/main" val="16432238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D4178B-49D9-47CD-B899-2BDD03A1E1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C90C2C-E071-4559-9CCE-7A82936994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70D4913-B300-4402-883A-32EF9E3374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DB7D8395-7429-4B47-96D9-FBA24ECFD06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886F19D-9194-4208-8030-1D519C3D1F2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Seeds set.</a:t>
            </a:r>
          </a:p>
        </p:txBody>
      </p:sp>
      <p:sp>
        <p:nvSpPr>
          <p:cNvPr id="6" name="">
            <a:extLst xmlns:a="http://schemas.openxmlformats.org/drawingml/2006/main">
              <a:ext uri="{FF2B5EF4-FFF2-40B4-BE49-F238E27FC236}">
                <a16:creationId xmlns:a16="http://schemas.microsoft.com/office/drawing/2014/main" id="{24587901-1BE6-4DCD-B51F-6FE1DB8CC63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F07B5A9-99F1-43F2-854F-CDD47371271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AI use declared.</a:t>
            </a:r>
          </a:p>
        </p:txBody>
      </p:sp>
      <p:sp>
        <p:nvSpPr>
          <p:cNvPr id="8" name="">
            <a:extLst xmlns:a="http://schemas.openxmlformats.org/drawingml/2006/main">
              <a:ext uri="{FF2B5EF4-FFF2-40B4-BE49-F238E27FC236}">
                <a16:creationId xmlns:a16="http://schemas.microsoft.com/office/drawing/2014/main" id="{DF7939C9-F2B8-4EED-9F3B-7561A61017C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CE347A-9BB5-4B2A-94D8-1E83A7ECD38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Contribution log present.</a:t>
            </a:r>
          </a:p>
        </p:txBody>
      </p:sp>
      <p:sp>
        <p:nvSpPr>
          <p:cNvPr id="10" name="">
            <a:extLst xmlns:a="http://schemas.openxmlformats.org/drawingml/2006/main">
              <a:ext uri="{FF2B5EF4-FFF2-40B4-BE49-F238E27FC236}">
                <a16:creationId xmlns:a16="http://schemas.microsoft.com/office/drawing/2014/main" id="{A6AFB6BE-49CD-400F-B01A-56F95CF54E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17</a:t>
            </a:r>
          </a:p>
        </p:txBody>
      </p:sp>
    </p:spTree>
    <p:extLst>
      <p:ext uri="{BB962C8B-B14F-4D97-AF65-F5344CB8AC3E}">
        <p14:creationId xmlns:p14="http://schemas.microsoft.com/office/powerpoint/2010/main" val="8939191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D1A2D2-9D99-44FF-909A-378C9D1115A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9E9AF9-B357-4007-843A-B6DD0A9DAA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277C2B9A-172C-40FC-991C-041B8157FF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submission</a:t>
            </a:r>
          </a:p>
        </p:txBody>
      </p:sp>
      <p:sp>
        <p:nvSpPr>
          <p:cNvPr id="4" name="">
            <a:extLst xmlns:a="http://schemas.openxmlformats.org/drawingml/2006/main">
              <a:ext uri="{FF2B5EF4-FFF2-40B4-BE49-F238E27FC236}">
                <a16:creationId xmlns:a16="http://schemas.microsoft.com/office/drawing/2014/main" id="{5980509A-E0CA-4479-9E4F-DCC8AB0C808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319E153-A1EB-4E45-B3CB-D9251CB5180F}"/>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24 Nov 2026, 11:00 Kampala</a:t>
            </a:r>
          </a:p>
        </p:txBody>
      </p:sp>
      <p:sp>
        <p:nvSpPr>
          <p:cNvPr id="6" name="">
            <a:extLst xmlns:a="http://schemas.openxmlformats.org/drawingml/2006/main">
              <a:ext uri="{FF2B5EF4-FFF2-40B4-BE49-F238E27FC236}">
                <a16:creationId xmlns:a16="http://schemas.microsoft.com/office/drawing/2014/main" id="{98E44483-3872-4337-A55C-9F6B7B6CA612}"/>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790C0D7-8E7D-47E5-BA88-91E00EF0F8CF}"/>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15 Dec 2026, 11:00 Kampala</a:t>
            </a:r>
          </a:p>
        </p:txBody>
      </p:sp>
      <p:sp>
        <p:nvSpPr>
          <p:cNvPr id="8" name="">
            <a:extLst xmlns:a="http://schemas.openxmlformats.org/drawingml/2006/main">
              <a:ext uri="{FF2B5EF4-FFF2-40B4-BE49-F238E27FC236}">
                <a16:creationId xmlns:a16="http://schemas.microsoft.com/office/drawing/2014/main" id="{59614F6A-216D-4AB0-A729-7C2A4AD2916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D15D7D5-2108-456C-B49F-126CEFA9C5DE}"/>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986C5765-ECBC-4B9F-89AC-87EDE947D27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1C80DBF-0E95-449D-B777-109F87D40BE6}"/>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B662EE06-F19B-4666-8B35-A40DF06E2C8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AAC255-46EC-4AE6-8737-D9CC3423FCC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4f174fb5cc34af6"/>
              </a:rPr>
              <a:t>Open ML_PROJECT assignment form</a:t>
            </a:r>
          </a:p>
        </p:txBody>
      </p:sp>
      <p:sp>
        <p:nvSpPr>
          <p:cNvPr id="14" name="">
            <a:extLst xmlns:a="http://schemas.openxmlformats.org/drawingml/2006/main">
              <a:ext uri="{FF2B5EF4-FFF2-40B4-BE49-F238E27FC236}">
                <a16:creationId xmlns:a16="http://schemas.microsoft.com/office/drawing/2014/main" id="{12CCCCA5-E238-462E-986C-184F3DD45CF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https://docs.google.com/forms/d/e/1FAIpQLScD30Pc6ce5oxjODx1WAXBoNeXE65KXD488S4ja9tgKPAWnsQ/viewform</a:t>
            </a:r>
          </a:p>
        </p:txBody>
      </p:sp>
      <p:sp>
        <p:nvSpPr>
          <p:cNvPr id="15" name="">
            <a:extLst xmlns:a="http://schemas.openxmlformats.org/drawingml/2006/main">
              <a:ext uri="{FF2B5EF4-FFF2-40B4-BE49-F238E27FC236}">
                <a16:creationId xmlns:a16="http://schemas.microsoft.com/office/drawing/2014/main" id="{4A1CFFAC-4892-4E07-BCA8-453DE2D95D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18</a:t>
            </a:r>
          </a:p>
        </p:txBody>
      </p:sp>
    </p:spTree>
    <p:extLst>
      <p:ext uri="{BB962C8B-B14F-4D97-AF65-F5344CB8AC3E}">
        <p14:creationId xmlns:p14="http://schemas.microsoft.com/office/powerpoint/2010/main" val="20921695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90D211-A961-4F25-8177-190EDA2346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545173-E654-44FA-A470-0A9396FE50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9A0DA6B-2BEC-4337-99E0-F73EB1FB9B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evidence (35 marks)</a:t>
            </a:r>
          </a:p>
        </p:txBody>
      </p:sp>
      <p:sp>
        <p:nvSpPr>
          <p:cNvPr id="4" name="">
            <a:extLst xmlns:a="http://schemas.openxmlformats.org/drawingml/2006/main">
              <a:ext uri="{FF2B5EF4-FFF2-40B4-BE49-F238E27FC236}">
                <a16:creationId xmlns:a16="http://schemas.microsoft.com/office/drawing/2014/main" id="{258D1A2B-B638-4EA8-B763-FE431E0709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9BC1BAB-F6C2-4617-8347-DF6D27BBDBD8}"/>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Slides and narration notes explain the question, method, evidence and limitations for an engineering audience.</a:t>
            </a:r>
          </a:p>
        </p:txBody>
      </p:sp>
      <p:sp>
        <p:nvSpPr>
          <p:cNvPr id="6" name="">
            <a:extLst xmlns:a="http://schemas.openxmlformats.org/drawingml/2006/main">
              <a:ext uri="{FF2B5EF4-FFF2-40B4-BE49-F238E27FC236}">
                <a16:creationId xmlns:a16="http://schemas.microsoft.com/office/drawing/2014/main" id="{8C95E955-AACF-460F-B463-02F28E9D38C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DC8725-46F7-4A78-853F-16DA5D70240B}"/>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local text grader does not assess visual styling or spoken delivery.</a:t>
            </a:r>
          </a:p>
        </p:txBody>
      </p:sp>
      <p:sp>
        <p:nvSpPr>
          <p:cNvPr id="8" name="">
            <a:extLst xmlns:a="http://schemas.openxmlformats.org/drawingml/2006/main">
              <a:ext uri="{FF2B5EF4-FFF2-40B4-BE49-F238E27FC236}">
                <a16:creationId xmlns:a16="http://schemas.microsoft.com/office/drawing/2014/main" id="{AD32FE21-D47E-46CA-83A1-6FF36022B1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19</a:t>
            </a:r>
          </a:p>
        </p:txBody>
      </p:sp>
    </p:spTree>
    <p:extLst>
      <p:ext uri="{BB962C8B-B14F-4D97-AF65-F5344CB8AC3E}">
        <p14:creationId xmlns:p14="http://schemas.microsoft.com/office/powerpoint/2010/main" val="9608332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3F0080-6519-49D9-96DC-22B782F62D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BED7A5-5591-4FBC-8202-DD99AAA6EE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55901C-1AD2-4CCD-ADF4-E84A440577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Individual written defence (40 marks)</a:t>
            </a:r>
          </a:p>
        </p:txBody>
      </p:sp>
      <p:sp>
        <p:nvSpPr>
          <p:cNvPr id="4" name="">
            <a:extLst xmlns:a="http://schemas.openxmlformats.org/drawingml/2006/main">
              <a:ext uri="{FF2B5EF4-FFF2-40B4-BE49-F238E27FC236}">
                <a16:creationId xmlns:a16="http://schemas.microsoft.com/office/drawing/2014/main" id="{495FF253-EFD3-4942-8519-7620400E8BB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B98FF3-E2FE-44F8-A681-1CB629F265E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04E3710-4285-4DB6-BE37-257CF8F24D5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Two typed answers about the student's own repository identify specific cells/results and explain the decisions.</a:t>
            </a:r>
          </a:p>
        </p:txBody>
      </p:sp>
      <p:sp>
        <p:nvSpPr>
          <p:cNvPr id="7" name="">
            <a:extLst xmlns:a="http://schemas.openxmlformats.org/drawingml/2006/main">
              <a:ext uri="{FF2B5EF4-FFF2-40B4-BE49-F238E27FC236}">
                <a16:creationId xmlns:a16="http://schemas.microsoft.com/office/drawing/2014/main" id="{E66E4AD4-706B-4DF8-8C47-92245EB2B6F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Credit is based on the submitted evidence; live questioning is formative.</a:t>
            </a:r>
          </a:p>
        </p:txBody>
      </p:sp>
      <p:sp>
        <p:nvSpPr>
          <p:cNvPr id="8" name="">
            <a:extLst xmlns:a="http://schemas.openxmlformats.org/drawingml/2006/main">
              <a:ext uri="{FF2B5EF4-FFF2-40B4-BE49-F238E27FC236}">
                <a16:creationId xmlns:a16="http://schemas.microsoft.com/office/drawing/2014/main" id="{8747DB73-6B6D-4CFF-9483-3792F93950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20</a:t>
            </a:r>
          </a:p>
        </p:txBody>
      </p:sp>
    </p:spTree>
    <p:extLst>
      <p:ext uri="{BB962C8B-B14F-4D97-AF65-F5344CB8AC3E}">
        <p14:creationId xmlns:p14="http://schemas.microsoft.com/office/powerpoint/2010/main" val="1345852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2EF42F-8B81-47E6-AF64-F67C5A5481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D45837-1859-4774-8D09-DFF9D7953D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FB1F12-C866-46A7-8AA3-5CB3A7FB22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Reflection (20 marks)</a:t>
            </a:r>
          </a:p>
        </p:txBody>
      </p:sp>
      <p:sp>
        <p:nvSpPr>
          <p:cNvPr id="4" name="">
            <a:extLst xmlns:a="http://schemas.openxmlformats.org/drawingml/2006/main">
              <a:ext uri="{FF2B5EF4-FFF2-40B4-BE49-F238E27FC236}">
                <a16:creationId xmlns:a16="http://schemas.microsoft.com/office/drawing/2014/main" id="{04C84193-FF43-40D8-96C7-D66DAC89E25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2A8C837-F250-4F89-B3B8-91237AD022E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500 words.</a:t>
            </a:r>
          </a:p>
        </p:txBody>
      </p:sp>
      <p:sp>
        <p:nvSpPr>
          <p:cNvPr id="6" name="">
            <a:extLst xmlns:a="http://schemas.openxmlformats.org/drawingml/2006/main">
              <a:ext uri="{FF2B5EF4-FFF2-40B4-BE49-F238E27FC236}">
                <a16:creationId xmlns:a16="http://schemas.microsoft.com/office/drawing/2014/main" id="{746C8193-F7BC-4BDB-85E4-4E3B2CB555A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0D466D-C7BB-46BE-87F9-15AA119DD7F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Specific about what changed since Week 1, what remains difficult, and two concrete Semester 2 goals.</a:t>
            </a:r>
          </a:p>
        </p:txBody>
      </p:sp>
      <p:sp>
        <p:nvSpPr>
          <p:cNvPr id="8" name="">
            <a:extLst xmlns:a="http://schemas.openxmlformats.org/drawingml/2006/main">
              <a:ext uri="{FF2B5EF4-FFF2-40B4-BE49-F238E27FC236}">
                <a16:creationId xmlns:a16="http://schemas.microsoft.com/office/drawing/2014/main" id="{AD90C629-6262-4C39-AFD1-E5E28BF4D4A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9B6C72-4FB4-4A6D-A87B-09B9C09D2C0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Generic reflection scores low.</a:t>
            </a:r>
          </a:p>
        </p:txBody>
      </p:sp>
      <p:sp>
        <p:nvSpPr>
          <p:cNvPr id="10" name="">
            <a:extLst xmlns:a="http://schemas.openxmlformats.org/drawingml/2006/main">
              <a:ext uri="{FF2B5EF4-FFF2-40B4-BE49-F238E27FC236}">
                <a16:creationId xmlns:a16="http://schemas.microsoft.com/office/drawing/2014/main" id="{EEDF8F01-934C-4B91-8C9C-AACE988F2D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21</a:t>
            </a:r>
          </a:p>
        </p:txBody>
      </p:sp>
    </p:spTree>
    <p:extLst>
      <p:ext uri="{BB962C8B-B14F-4D97-AF65-F5344CB8AC3E}">
        <p14:creationId xmlns:p14="http://schemas.microsoft.com/office/powerpoint/2010/main" val="17839315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621074-305F-48D7-A15A-03947D3215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B7A92E-D732-43CF-8F65-5F7BE74879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30CD0A6-B3A6-4F0A-BB08-A537ED622B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AI-use declaration (5 marks)</a:t>
            </a:r>
          </a:p>
        </p:txBody>
      </p:sp>
      <p:sp>
        <p:nvSpPr>
          <p:cNvPr id="4" name="">
            <a:extLst xmlns:a="http://schemas.openxmlformats.org/drawingml/2006/main">
              <a:ext uri="{FF2B5EF4-FFF2-40B4-BE49-F238E27FC236}">
                <a16:creationId xmlns:a16="http://schemas.microsoft.com/office/drawing/2014/main" id="{F29C3D59-61B6-41E3-851C-4AB463BF4E65}"/>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171BFE-A966-4D7D-B2D7-52C911FB9CEA}"/>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Present, complete and plausible against the repository history.</a:t>
            </a:r>
          </a:p>
        </p:txBody>
      </p:sp>
      <p:sp>
        <p:nvSpPr>
          <p:cNvPr id="6" name="">
            <a:extLst xmlns:a="http://schemas.openxmlformats.org/drawingml/2006/main">
              <a:ext uri="{FF2B5EF4-FFF2-40B4-BE49-F238E27FC236}">
                <a16:creationId xmlns:a16="http://schemas.microsoft.com/office/drawing/2014/main" id="{7219FF1B-C1B2-4754-A4D1-A3B4DF6163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22</a:t>
            </a:r>
          </a:p>
        </p:txBody>
      </p:sp>
    </p:spTree>
    <p:extLst>
      <p:ext uri="{BB962C8B-B14F-4D97-AF65-F5344CB8AC3E}">
        <p14:creationId xmlns:p14="http://schemas.microsoft.com/office/powerpoint/2010/main" val="17029268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1B82447-059B-416C-AB55-0C93AACC03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80F0AF-ECCD-4991-8A83-357E942A3D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C2D05A5-A57B-46A6-9168-3A631A46B1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and individual reflection submission</a:t>
            </a:r>
          </a:p>
        </p:txBody>
      </p:sp>
      <p:sp>
        <p:nvSpPr>
          <p:cNvPr id="4" name="">
            <a:extLst xmlns:a="http://schemas.openxmlformats.org/drawingml/2006/main">
              <a:ext uri="{FF2B5EF4-FFF2-40B4-BE49-F238E27FC236}">
                <a16:creationId xmlns:a16="http://schemas.microsoft.com/office/drawing/2014/main" id="{F33F935D-C1B5-4FCC-8609-FF9E1D8EE18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9C908BF-3F53-4A9A-8CE2-4065467DEF9B}"/>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24 Nov 2026, 11:00 Kampala</a:t>
            </a:r>
          </a:p>
        </p:txBody>
      </p:sp>
      <p:sp>
        <p:nvSpPr>
          <p:cNvPr id="6" name="">
            <a:extLst xmlns:a="http://schemas.openxmlformats.org/drawingml/2006/main">
              <a:ext uri="{FF2B5EF4-FFF2-40B4-BE49-F238E27FC236}">
                <a16:creationId xmlns:a16="http://schemas.microsoft.com/office/drawing/2014/main" id="{0BB7C53C-4E62-4E85-AAE0-91E61F99FEA0}"/>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5B2FAAE-D4BA-4E93-94B5-4D83813DA09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15 Dec 2026, 14:00 Kampala</a:t>
            </a:r>
          </a:p>
        </p:txBody>
      </p:sp>
      <p:sp>
        <p:nvSpPr>
          <p:cNvPr id="8" name="">
            <a:extLst xmlns:a="http://schemas.openxmlformats.org/drawingml/2006/main">
              <a:ext uri="{FF2B5EF4-FFF2-40B4-BE49-F238E27FC236}">
                <a16:creationId xmlns:a16="http://schemas.microsoft.com/office/drawing/2014/main" id="{A37BA12A-BD5F-4B5D-A837-B8A41AA1F9C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56B238-C938-4C72-BD88-AA7E379E32A1}"/>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9675EEE6-D7B2-45A1-84A5-931023DFC23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D25BE3F-32B8-471E-9D40-8C3AD8353D70}"/>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98572F9D-9F21-48DD-8F6A-2B8E773FC49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75CB98-8257-4A3D-B9FB-F19BECAB426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c38f180802d4ac2"/>
              </a:rPr>
              <a:t>Open DEMO assignment form</a:t>
            </a:r>
          </a:p>
        </p:txBody>
      </p:sp>
      <p:sp>
        <p:nvSpPr>
          <p:cNvPr id="14" name="">
            <a:extLst xmlns:a="http://schemas.openxmlformats.org/drawingml/2006/main">
              <a:ext uri="{FF2B5EF4-FFF2-40B4-BE49-F238E27FC236}">
                <a16:creationId xmlns:a16="http://schemas.microsoft.com/office/drawing/2014/main" id="{7C947D75-0349-4671-BC0A-3824822C787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https://docs.google.com/forms/d/e/1FAIpQLSeysbLBKvHp3A-2GvSz_4KodUPaS9D2oASV9-j-qx_IDXPzlw/viewform</a:t>
            </a:r>
          </a:p>
        </p:txBody>
      </p:sp>
      <p:sp>
        <p:nvSpPr>
          <p:cNvPr id="15" name="">
            <a:extLst xmlns:a="http://schemas.openxmlformats.org/drawingml/2006/main">
              <a:ext uri="{FF2B5EF4-FFF2-40B4-BE49-F238E27FC236}">
                <a16:creationId xmlns:a16="http://schemas.microsoft.com/office/drawing/2014/main" id="{986B2033-FE18-4BF5-99DB-AF7A975178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15   23</a:t>
            </a:r>
          </a:p>
        </p:txBody>
      </p:sp>
    </p:spTree>
    <p:extLst>
      <p:ext uri="{BB962C8B-B14F-4D97-AF65-F5344CB8AC3E}">
        <p14:creationId xmlns:p14="http://schemas.microsoft.com/office/powerpoint/2010/main" val="1804553159"/>
      </p:ext>
    </p:extLst>
  </p:cSld>
</p:sld>
</file>

<file path=ppt/slides/slide2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051577-E41C-4773-A803-45E4A12BEF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94E2D9B8-B9BD-41EF-A942-8ECA7FC398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31B47013-EA88-4636-9959-1A3F7962D714}"/>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E5A2E39-9943-4DFC-B48E-B13957BB070F}"/>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point to the evidence behind one decision you personally worked 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A38D264B-A402-40ED-9302-F2349D569F26}"/>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39193EFF-9D3F-42C8-9685-E608330EB6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15   24</a:t>
            </a:r>
          </a:p>
        </p:txBody>
      </p:sp>
    </p:spTree>
    <p:extLst>
      <p:ext uri="{BB962C8B-B14F-4D97-AF65-F5344CB8AC3E}">
        <p14:creationId xmlns:p14="http://schemas.microsoft.com/office/powerpoint/2010/main" val="14299340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2026-09-28T21:43:21.4310000Z</dcterms:created>
  <dcterms:modified xsi:type="dcterms:W3CDTF">2026-09-28T21:43:21.4310000Z</dcterms:modified>
</coreProperties>
</file>