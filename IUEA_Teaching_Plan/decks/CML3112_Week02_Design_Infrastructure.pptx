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10039.xml" ContentType="application/vnd.openxmlformats-officedocument.presentationml.notesSlide+xml"/>
  <Override PartName="/ppt/notesSlides/notesSlide10040.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0039.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39.xml" /></ns0:Relationships>
</file>

<file path=ppt/notesSlides/_rels/notesSlide10040.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40.xml" /></ns0: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Where the work</a:t>
            </a:r>
          </a:p>
          <a:p>
            <a:r>
              <a:t/>
            </a:r>
          </a:p>
          <a:p>
            <a:r>
              <a:t>LECTURER CUE</a:t>
            </a:r>
          </a:p>
          <a:p>
            <a:r>
              <a:t>Today you stop reading about this and start doing it. By the end of the session you will have run your own code, seen its output, and put it somewhere a marker can find it.</a:t>
            </a:r>
          </a:p>
          <a:p>
            <a:r>
              <a:t>You need three things: a browser, a Google account and a GitHub account. You do not need to install anything at all — that is deliberate.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By the end of today you can….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By the end of today you can…</a:t>
            </a:r>
          </a:p>
          <a:p>
            <a:r>
              <a:t/>
            </a:r>
          </a:p>
          <a:p>
            <a:r>
              <a:t>CONNECT</a:t>
            </a:r>
          </a:p>
          <a:p>
            <a:r>
              <a:t>Build on the preceding slide: Where the work.</a:t>
            </a:r>
          </a:p>
          <a:p>
            <a:r>
              <a:t/>
            </a:r>
          </a:p>
          <a:p>
            <a:r>
              <a:t>LECTURER CUE</a:t>
            </a:r>
          </a:p>
          <a:p>
            <a:r>
              <a:t>Seven objectives, and the fourth is the one that will save you the most time all semester.</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How today runs.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today runs</a:t>
            </a:r>
          </a:p>
          <a:p>
            <a:r>
              <a:t/>
            </a:r>
          </a:p>
          <a:p>
            <a:r>
              <a:t>CONNECT</a:t>
            </a:r>
          </a:p>
          <a:p>
            <a:r>
              <a:t>Build on the preceding slide: By the end of today you can….</a:t>
            </a:r>
          </a:p>
          <a:p>
            <a:r>
              <a:t/>
            </a:r>
          </a:p>
          <a:p>
            <a:r>
              <a:t>LECTURER CUE</a:t>
            </a:r>
          </a:p>
          <a:p>
            <a:r>
              <a:t>The same eleven-segment shape as Week 1, with more keyboard time than any session so far. The break falls at the midpoint, straight after the execution-trap segment.</a:t>
            </a:r>
          </a:p>
          <a:p>
            <a:r>
              <a:t/>
            </a:r>
          </a:p>
          <a:p>
            <a:r>
              <a:t>NEXT</a:t>
            </a:r>
          </a:p>
          <a:p>
            <a:r>
              <a:t>Where we got to, and where we are going.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Where we got to, and where we are going</a:t>
            </a:r>
          </a:p>
          <a:p>
            <a:r>
              <a:t/>
            </a:r>
          </a:p>
          <a:p>
            <a:r>
              <a:t>CONNECT</a:t>
            </a:r>
          </a:p>
          <a:p>
            <a:r>
              <a:t>Build on the preceding slide: How today runs.</a:t>
            </a:r>
          </a:p>
          <a:p>
            <a:r>
              <a:t/>
            </a:r>
          </a:p>
          <a:p>
            <a:r>
              <a:t>LECTURER CUE</a:t>
            </a:r>
          </a:p>
          <a:p>
            <a:r>
              <a:t>Ten minutes of recall before any new material. A2 is due at the start of Week 3, and by the end of today most of it is already built.</a:t>
            </a:r>
          </a:p>
          <a:p>
            <a:r>
              <a:t/>
            </a:r>
          </a:p>
          <a:p>
            <a:r>
              <a:t>NEXT</a:t>
            </a:r>
          </a:p>
          <a:p>
            <a:r>
              <a:t>Two minutes: what stuck from Week 1?.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Two minutes: what stuck from Week 1?</a:t>
            </a:r>
          </a:p>
          <a:p>
            <a:r>
              <a:t/>
            </a:r>
          </a:p>
          <a:p>
            <a:r>
              <a:t>CONNECT</a:t>
            </a:r>
          </a:p>
          <a:p>
            <a:r>
              <a:t>Build on the preceding slide: Where we got to, and where we are going.</a:t>
            </a:r>
          </a:p>
          <a:p>
            <a:r>
              <a:t/>
            </a:r>
          </a:p>
          <a:p>
            <a:r>
              <a:t>LECTURER CUE</a:t>
            </a:r>
          </a:p>
          <a:p>
            <a:r>
              <a:t>These three answers are the vocabulary the rest of the semester assumes. If you cannot answer them, the Week 1 deck's glossary slide has all of it in one place.</a:t>
            </a:r>
          </a:p>
          <a:p>
            <a:r>
              <a:t/>
            </a:r>
          </a:p>
          <a:p>
            <a:r>
              <a:t>EXPLAIN IN ORDINARY WORDS</a:t>
            </a:r>
          </a:p>
          <a:p>
            <a:r>
              <a:t>A feature is an input available when predicting. The target is the answer to learn from. Regression predicts a number; classification predicts a category. Learning patterns does not by itself establish cause.</a:t>
            </a:r>
          </a:p>
          <a:p>
            <a:r>
              <a:t/>
            </a:r>
          </a:p>
          <a:p>
            <a:r>
              <a:t>CHECK AND EXPECTED ANSWER</a:t>
            </a:r>
          </a:p>
          <a:p>
            <a:r>
              <a:t>Predicting concrete strength: regression. Predicting pass/fail: classification. Is a later test result available before that test? No.</a:t>
            </a:r>
          </a:p>
          <a:p>
            <a:r>
              <a:t/>
            </a:r>
          </a:p>
          <a:p>
            <a:r>
              <a:t>IF LEARNERS ARE STUCK</a:t>
            </a:r>
          </a:p>
          <a:p>
            <a:r>
              <a:t>Describe the engineering decision in everyday language, then label one row, an input and its answer. Compare with a rule you could write directly.</a:t>
            </a:r>
          </a:p>
          <a:p>
            <a:r>
              <a:t/>
            </a:r>
          </a:p>
          <a:p>
            <a:r>
              <a:t>DISCUSSION KEY FOR THIS SLIDE</a:t>
            </a:r>
          </a:p>
          <a:p>
            <a:r>
              <a:t>ANSWERS</a:t>
            </a:r>
          </a:p>
          <a:p>
            <a:r>
              <a:t>How did you do?</a:t>
            </a:r>
          </a:p>
          <a:p>
            <a:r>
              <a:t>A</a:t>
            </a:r>
          </a:p>
          <a:p>
            <a:r>
              <a:t>The input columns, and the value?</a:t>
            </a:r>
          </a:p>
          <a:p>
            <a:r>
              <a:t>The columns you were given are the FEATURES. The value you predicted is the TARGET. One row with both is one EXAMPLE.</a:t>
            </a:r>
          </a:p>
          <a:p>
            <a:r>
              <a:t>B</a:t>
            </a:r>
          </a:p>
          <a:p>
            <a:r>
              <a:t>Days until servicing?</a:t>
            </a:r>
          </a:p>
          <a:p>
            <a:r>
              <a:t>Regression — the answer is a number with a unit. If it were 'service due or not' it would be classification.</a:t>
            </a:r>
          </a:p>
          <a:p>
            <a:r>
              <a:t>C</a:t>
            </a:r>
          </a:p>
          <a:p>
            <a:r>
              <a:t>One of the four limits?</a:t>
            </a:r>
          </a:p>
          <a:p>
            <a:r>
              <a:t>No data · no signal · physics is simply better · the future stopped resembling the past. Any one of those.</a:t>
            </a:r>
          </a:p>
          <a:p>
            <a:r>
              <a:t>Let learners attempt first; use this to explain the reasoning, not just reveal the answer.</a:t>
            </a:r>
          </a:p>
          <a:p>
            <a:r>
              <a:t/>
            </a:r>
          </a:p>
          <a:p>
            <a:r>
              <a:t>NEXT</a:t>
            </a:r>
          </a:p>
          <a:p>
            <a:r>
              <a:t>How did you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did you do?</a:t>
            </a:r>
          </a:p>
          <a:p>
            <a:r>
              <a:t/>
            </a:r>
          </a:p>
          <a:p>
            <a:r>
              <a:t>CONNECT</a:t>
            </a:r>
          </a:p>
          <a:p>
            <a:r>
              <a:t>Build on the preceding slide: Two minutes: what stuck from Week 1?.</a:t>
            </a:r>
          </a:p>
          <a:p>
            <a:r>
              <a:t/>
            </a:r>
          </a:p>
          <a:p>
            <a:r>
              <a:t>LECTURER CUE</a:t>
            </a:r>
          </a:p>
          <a:p>
            <a:r>
              <a:t>Features, target, example: those three words are the vocabulary every later week assumes. If the first question was hard, the Week 1 deck's data-table figure and glossary slide have all of it in one place, and half an hour on them this evening is worth more than anything else you could revise.</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NEXT</a:t>
            </a:r>
          </a:p>
          <a:p>
            <a:r>
              <a:t>Four questions, four tools.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Four questions, four tools</a:t>
            </a:r>
          </a:p>
          <a:p>
            <a:r>
              <a:t/>
            </a:r>
          </a:p>
          <a:p>
            <a:r>
              <a:t>CONNECT</a:t>
            </a:r>
          </a:p>
          <a:p>
            <a:r>
              <a:t>Build on the preceding slide: How did you do?.</a:t>
            </a:r>
          </a:p>
          <a:p>
            <a:r>
              <a:t/>
            </a:r>
          </a:p>
          <a:p>
            <a:r>
              <a:t>LECTURER CUE</a:t>
            </a:r>
          </a:p>
          <a:p>
            <a:r>
              <a:t>Each of today's four tools answers a different question, and the question is the part to remember. Meeting ten libraries in three weeks and retaining none is the standard way an introductory data course fails; knowing which question each tool answers is what stops it happening to you.</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The four questions.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four questions</a:t>
            </a:r>
          </a:p>
          <a:p>
            <a:r>
              <a:t/>
            </a:r>
          </a:p>
          <a:p>
            <a:r>
              <a:t>CONNECT</a:t>
            </a:r>
          </a:p>
          <a:p>
            <a:r>
              <a:t>Build on the preceding slide: Four questions, four tools.</a:t>
            </a:r>
          </a:p>
          <a:p>
            <a:r>
              <a:t/>
            </a:r>
          </a:p>
          <a:p>
            <a:r>
              <a:t>LECTURER CUE</a:t>
            </a:r>
          </a:p>
          <a:p>
            <a:r>
              <a:t>Read it as four questions rather than four products. The question is the durable part — the tool that answers it will change during your career, and the question will not.</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Google Colab.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Google Colab</a:t>
            </a:r>
          </a:p>
          <a:p>
            <a:r>
              <a:t/>
            </a:r>
          </a:p>
          <a:p>
            <a:r>
              <a:t>CONNECT</a:t>
            </a:r>
          </a:p>
          <a:p>
            <a:r>
              <a:t>Build on the preceding slide: The four questions.</a:t>
            </a:r>
          </a:p>
          <a:p>
            <a:r>
              <a:t/>
            </a:r>
          </a:p>
          <a:p>
            <a:r>
              <a:t>LECTURER CUE</a:t>
            </a:r>
          </a:p>
          <a:p>
            <a:r>
              <a:t>The reason this course uses Colab is bandwidth and time. A hundred students installing Python, an editor and five libraries over one campus connection does not work; it has to be attempted to be believed.</a:t>
            </a:r>
          </a:p>
          <a:p>
            <a:r>
              <a:t>The honest limitation: Colab needs an internet connection. That is why the two practical tests in Weeks 7 and 14 are sat offline on lab machines instead, and why the Setup Guide still exists for anyone who wants a local installation.</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Your first notebook.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Your first notebook</a:t>
            </a:r>
          </a:p>
          <a:p>
            <a:r>
              <a:t/>
            </a:r>
          </a:p>
          <a:p>
            <a:r>
              <a:t>CONNECT</a:t>
            </a:r>
          </a:p>
          <a:p>
            <a:r>
              <a:t>Build on the preceding slide: Google Colab.</a:t>
            </a:r>
          </a:p>
          <a:p>
            <a:r>
              <a:t/>
            </a:r>
          </a:p>
          <a:p>
            <a:r>
              <a:t>LECTURER CUE</a:t>
            </a:r>
          </a:p>
          <a:p>
            <a:r>
              <a:t>Thirty minutes with your hands on the keyboard. Open a browser now — this segment does not work as something you watch.</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Three cells.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Three cells</a:t>
            </a:r>
          </a:p>
          <a:p>
            <a:r>
              <a:t/>
            </a:r>
          </a:p>
          <a:p>
            <a:r>
              <a:t>CONNECT</a:t>
            </a:r>
          </a:p>
          <a:p>
            <a:r>
              <a:t>Build on the preceding slide: Your first notebook.</a:t>
            </a:r>
          </a:p>
          <a:p>
            <a:r>
              <a:t/>
            </a:r>
          </a:p>
          <a:p>
            <a:r>
              <a:t>LECTURER CUE</a:t>
            </a:r>
          </a:p>
          <a:p>
            <a:r>
              <a:t>Three cells, and each teaches one thing. Cell 1: code runs and produces output underneath it. Cell 2: a name can hold a value, and that value survives into the next cell. Cell 3: running the same cell twice is not the same as running it once.</a:t>
            </a:r>
          </a:p>
          <a:p>
            <a:r>
              <a:t>The f in front of a string is what lets you put a variable inside the text — anything in {curly braces} is replaced by that variable's value.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The three things that go wrong in the first ten minutes.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three things that go wrong in the first ten minutes</a:t>
            </a:r>
          </a:p>
          <a:p>
            <a:r>
              <a:t/>
            </a:r>
          </a:p>
          <a:p>
            <a:r>
              <a:t>CONNECT</a:t>
            </a:r>
          </a:p>
          <a:p>
            <a:r>
              <a:t>Build on the preceding slide: Three cells.</a:t>
            </a:r>
          </a:p>
          <a:p>
            <a:r>
              <a:t/>
            </a:r>
          </a:p>
          <a:p>
            <a:r>
              <a:t>LECTURER CUE</a:t>
            </a:r>
          </a:p>
          <a:p>
            <a:r>
              <a:t>Every item on this slide came from a real beginner making that mistake in a real first session. Shift-and-Enter alone accounts for a large share of the first ten minutes. Keep the slide in view while you work rather than reading it once, because it answers most of what goes wrong before you have to ask anybody.</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Markdown cell.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Markdown cell</a:t>
            </a:r>
          </a:p>
          <a:p>
            <a:r>
              <a:t/>
            </a:r>
          </a:p>
          <a:p>
            <a:r>
              <a:t>CONNECT</a:t>
            </a:r>
          </a:p>
          <a:p>
            <a:r>
              <a:t>Build on the preceding slide: The three things that go wrong in the first ten minutes.</a:t>
            </a:r>
          </a:p>
          <a:p>
            <a:r>
              <a:t/>
            </a:r>
          </a:p>
          <a:p>
            <a:r>
              <a:t>LECTURER CUE</a:t>
            </a:r>
          </a:p>
          <a:p>
            <a:r>
              <a:t>This is what makes a notebook better than a script for data work: the reasoning lives beside the calculation instead of in a separate report nobody updates.</a:t>
            </a:r>
          </a:p>
          <a:p>
            <a:r>
              <a:t>In Colab, press the + Text button instead of + Code. A # at the start of a line makes it a heading; ** around words makes them bold.</a:t>
            </a:r>
          </a:p>
          <a:p>
            <a:r>
              <a:t>From Week 5 your submitted notebooks are marked partly on whether a reader can follow them, so this is not optional polish.</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Thirty seconds: check you are with me.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Thirty seconds: check you are with me</a:t>
            </a:r>
          </a:p>
          <a:p>
            <a:r>
              <a:t/>
            </a:r>
          </a:p>
          <a:p>
            <a:r>
              <a:t>CONNECT</a:t>
            </a:r>
          </a:p>
          <a:p>
            <a:r>
              <a:t>Build on the preceding slide: Markdown cell.</a:t>
            </a:r>
          </a:p>
          <a:p>
            <a:r>
              <a:t/>
            </a:r>
          </a:p>
          <a:p>
            <a:r>
              <a:t>LECTURER CUE</a:t>
            </a:r>
          </a:p>
          <a:p>
            <a:r>
              <a:t>Three quick questions to confirm you are still with the session. Question C is the interesting one: two people running identical code and getting different numbers is a real property of notebooks, and the execution-order block explains why.</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DISCUSSION KEY FOR THIS SLIDE</a:t>
            </a:r>
          </a:p>
          <a:p>
            <a:r>
              <a:t>ANSWERS</a:t>
            </a:r>
          </a:p>
          <a:p>
            <a:r>
              <a:t>How did you do?</a:t>
            </a:r>
          </a:p>
          <a:p>
            <a:r>
              <a:t>A</a:t>
            </a:r>
          </a:p>
          <a:p>
            <a:r>
              <a:t>Enter did nothing?</a:t>
            </a:r>
          </a:p>
          <a:p>
            <a:r>
              <a:t>Enter adds a new line inside the cell. Shift and Enter together runs it. This catches almost everybody once.</a:t>
            </a:r>
          </a:p>
          <a:p>
            <a:r>
              <a:t>B</a:t>
            </a:r>
          </a:p>
          <a:p>
            <a:r>
              <a:t>Where does 'hello' appear?</a:t>
            </a:r>
          </a:p>
          <a:p>
            <a:r>
              <a:t>Directly underneath that cell, in the output area. Not in a separate window — a notebook keeps the code and its output together, which is the whole point of it.</a:t>
            </a:r>
          </a:p>
          <a:p>
            <a:r>
              <a:t>C</a:t>
            </a:r>
          </a:p>
          <a:p>
            <a:r>
              <a:t>27 versus 17 — who is wrong?</a:t>
            </a:r>
          </a:p>
          <a:p>
            <a:r>
              <a:t>Neither. They have run the cell a different number of times. That is not a difference of opinion, it is a property of how notebooks work — and it is the subject of the execution-order block.</a:t>
            </a:r>
          </a:p>
          <a:p>
            <a:r>
              <a:t>Let learners attempt first; use this to explain the reasoning, not just reveal the answer.</a:t>
            </a:r>
          </a:p>
          <a:p>
            <a:r>
              <a:t/>
            </a:r>
          </a:p>
          <a:p>
            <a:r>
              <a:t>NEXT</a:t>
            </a:r>
          </a:p>
          <a:p>
            <a:r>
              <a:t>How did you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did you do?</a:t>
            </a:r>
          </a:p>
          <a:p>
            <a:r>
              <a:t/>
            </a:r>
          </a:p>
          <a:p>
            <a:r>
              <a:t>CONNECT</a:t>
            </a:r>
          </a:p>
          <a:p>
            <a:r>
              <a:t>Build on the preceding slide: Thirty seconds: check you are with me.</a:t>
            </a:r>
          </a:p>
          <a:p>
            <a:r>
              <a:t/>
            </a:r>
          </a:p>
          <a:p>
            <a:r>
              <a:t>LECTURER CUE</a:t>
            </a:r>
          </a:p>
          <a:p>
            <a:r>
              <a:t>Answer C sets up the next segment. Two notebooks holding identical code can hold different values, because the kernel remembers how many times each cell has been run and the screen does not show you that history. Neither person is wrong; the notebook is simply not telling you everything it knows.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What a notebook actually is.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a notebook actually is</a:t>
            </a:r>
          </a:p>
          <a:p>
            <a:r>
              <a:t/>
            </a:r>
          </a:p>
          <a:p>
            <a:r>
              <a:t>CONNECT</a:t>
            </a:r>
          </a:p>
          <a:p>
            <a:r>
              <a:t>Build on the preceding slide: How did you do?.</a:t>
            </a:r>
          </a:p>
          <a:p>
            <a:r>
              <a:t/>
            </a:r>
          </a:p>
          <a:p>
            <a:r>
              <a:t>LECTURER CUE</a:t>
            </a:r>
          </a:p>
          <a:p>
            <a:r>
              <a:t>Twenty minutes away from the keyboard, and the only concept block in the session. The execution-order block depends on it, because the execution trap only makes sense once you know what the kernel is holding on your behalf.</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The anatomy of a notebook.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anatomy of a notebook</a:t>
            </a:r>
          </a:p>
          <a:p>
            <a:r>
              <a:t/>
            </a:r>
          </a:p>
          <a:p>
            <a:r>
              <a:t>CONNECT</a:t>
            </a:r>
          </a:p>
          <a:p>
            <a:r>
              <a:t>Build on the preceding slide: What a notebook actually is.</a:t>
            </a:r>
          </a:p>
          <a:p>
            <a:r>
              <a:t/>
            </a:r>
          </a:p>
          <a:p>
            <a:r>
              <a:t>LECTURER CUE</a:t>
            </a:r>
          </a:p>
          <a:p>
            <a:r>
              <a:t>The kernel is the part worth understanding properly. It is a single Python session sitting behind the whole notebook, so a variable made in cell 2 is available in cell 7 because both cells are talking to that one session. The cells themselves have no connection to each other.</a:t>
            </a:r>
          </a:p>
          <a:p>
            <a:r>
              <a:t>This is also why a notebook can lie to you. The kernel remembers everything you have run in the order you ran it, and that order need not match the order the cells appear on screen.</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Cell, kernel, and the execution counter.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Cell, kernel, and the execution counter</a:t>
            </a:r>
          </a:p>
          <a:p>
            <a:r>
              <a:t/>
            </a:r>
          </a:p>
          <a:p>
            <a:r>
              <a:t>CONNECT</a:t>
            </a:r>
          </a:p>
          <a:p>
            <a:r>
              <a:t>Build on the preceding slide: The anatomy of a notebook.</a:t>
            </a:r>
          </a:p>
          <a:p>
            <a:r>
              <a:t/>
            </a:r>
          </a:p>
          <a:p>
            <a:r>
              <a:t>LECTURER CUE</a:t>
            </a:r>
          </a:p>
          <a:p>
            <a:r>
              <a:t>Watch the execution counter. It is the single most useful diagnostic in a notebook and almost no beginner looks at it.</a:t>
            </a:r>
          </a:p>
          <a:p>
            <a:r>
              <a:t>A notebook where the counters run 1, 2, 3, 4 top to bottom is a notebook you can trust. Anything else needs checking.</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The trap, and the habit that saves you.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trap, and the habit that saves you</a:t>
            </a:r>
          </a:p>
          <a:p>
            <a:r>
              <a:t/>
            </a:r>
          </a:p>
          <a:p>
            <a:r>
              <a:t>CONNECT</a:t>
            </a:r>
          </a:p>
          <a:p>
            <a:r>
              <a:t>Build on the preceding slide: Cell, kernel, and the execution counter.</a:t>
            </a:r>
          </a:p>
          <a:p>
            <a:r>
              <a:t/>
            </a:r>
          </a:p>
          <a:p>
            <a:r>
              <a:t>LECTURER CUE</a:t>
            </a:r>
          </a:p>
          <a:p>
            <a:r>
              <a:t>Twenty minutes on the most common way a notebook produces a confident wrong answer, and on the one menu item that prevents it. If you take a single habit out of Week 2, take this one.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The same cell, run three times.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same cell, run three times</a:t>
            </a:r>
          </a:p>
          <a:p>
            <a:r>
              <a:t/>
            </a:r>
          </a:p>
          <a:p>
            <a:r>
              <a:t>CONNECT</a:t>
            </a:r>
          </a:p>
          <a:p>
            <a:r>
              <a:t>Build on the preceding slide: The trap, and the habit that saves you.</a:t>
            </a:r>
          </a:p>
          <a:p>
            <a:r>
              <a:t/>
            </a:r>
          </a:p>
          <a:p>
            <a:r>
              <a:t>LECTURER CUE</a:t>
            </a:r>
          </a:p>
          <a:p>
            <a:r>
              <a:t>This is why `readings = readings + 5` behaves the way it does: the right-hand side is worked out first, using whatever is currently in readings, and the result is then put back into readings. Run it three times and you have added fifteen.</a:t>
            </a:r>
          </a:p>
          <a:p>
            <a:r>
              <a:t>The habit: **Restart and Run All** before you believe any answer. It clears the kernel and runs every cell from the top in order, which is exactly what your marker's machine will do.</a:t>
            </a:r>
          </a:p>
          <a:p>
            <a:r>
              <a:t>From Week 5 your submitted work is graded by a program that does precisely this from a clean start. If your notebook only works in the order you happened to click, it does not work.</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Can you answer these?.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Can you answer these?</a:t>
            </a:r>
          </a:p>
          <a:p>
            <a:r>
              <a:t/>
            </a:r>
          </a:p>
          <a:p>
            <a:r>
              <a:t>CONNECT</a:t>
            </a:r>
          </a:p>
          <a:p>
            <a:r>
              <a:t>Build on the preceding slide: The same cell, run three times.</a:t>
            </a:r>
          </a:p>
          <a:p>
            <a:r>
              <a:t/>
            </a:r>
          </a:p>
          <a:p>
            <a:r>
              <a:t>LECTURER CUE</a:t>
            </a:r>
          </a:p>
          <a:p>
            <a:r>
              <a:t>Question B is the one to take slowly. It is the realisation that 'it worked' can be an illusion produced by execution order, and that restarting is what turns the claim into evidence.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DISCUSSION KEY FOR THIS SLIDE</a:t>
            </a:r>
          </a:p>
          <a:p>
            <a:r>
              <a:t>ANSWERS</a:t>
            </a:r>
          </a:p>
          <a:p>
            <a:r>
              <a:t>How did you do?</a:t>
            </a:r>
          </a:p>
          <a:p>
            <a:r>
              <a:t>A</a:t>
            </a:r>
          </a:p>
          <a:p>
            <a:r>
              <a:t>Counters [4], [1], [5], [2]?</a:t>
            </a:r>
          </a:p>
          <a:p>
            <a:r>
              <a:t>They were run out of order, so the kernel's memory does not match what the notebook looks like. Do not trust the final answer until you have restarted and run all.</a:t>
            </a:r>
          </a:p>
          <a:p>
            <a:r>
              <a:t>B</a:t>
            </a:r>
          </a:p>
          <a:p>
            <a:r>
              <a:t>It fails after restarting?</a:t>
            </a:r>
          </a:p>
          <a:p>
            <a:r>
              <a:t>Cell 6 was depending on something created by a cell that has since been changed or deleted — or on a cell further down that you happened to run earlier. It never actually worked from a clean start; the kernel was just still holding the leftovers.</a:t>
            </a:r>
          </a:p>
          <a:p>
            <a:r>
              <a:t>C</a:t>
            </a:r>
          </a:p>
          <a:p>
            <a:r>
              <a:t>Why restart rather than re-run one cell?</a:t>
            </a:r>
          </a:p>
          <a:p>
            <a:r>
              <a:t>Because re-running one cell keeps everything else the kernel is holding, including things that no longer exist anywhere in your code. Only a restart proves the notebook can produce its results from nothing but itself — which is what reproducibility means.</a:t>
            </a:r>
          </a:p>
          <a:p>
            <a:r>
              <a:t>Let learners attempt first; use this to explain the reasoning, not just reveal the answer.</a:t>
            </a:r>
          </a:p>
          <a:p>
            <a:r>
              <a:t/>
            </a:r>
          </a:p>
          <a:p>
            <a:r>
              <a:t>NEXT</a:t>
            </a:r>
          </a:p>
          <a:p>
            <a:r>
              <a:t>How did you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did you do?</a:t>
            </a:r>
          </a:p>
          <a:p>
            <a:r>
              <a:t/>
            </a:r>
          </a:p>
          <a:p>
            <a:r>
              <a:t>CONNECT</a:t>
            </a:r>
          </a:p>
          <a:p>
            <a:r>
              <a:t>Build on the preceding slide: Can you answer these?.</a:t>
            </a:r>
          </a:p>
          <a:p>
            <a:r>
              <a:t/>
            </a:r>
          </a:p>
          <a:p>
            <a:r>
              <a:t>LECTURER CUE</a:t>
            </a:r>
          </a:p>
          <a:p>
            <a:r>
              <a:t>Answer B describes the most common way submitted work loses marks: the notebook ran for you and then failed for the marker. Every automated grader and every colleague runs code from a clean start, which is the whole reason the restart habit is asked for here.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Diagnosing a notebook from its counters.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Diagnosing a notebook from its counters</a:t>
            </a:r>
          </a:p>
          <a:p>
            <a:r>
              <a:t/>
            </a:r>
          </a:p>
          <a:p>
            <a:r>
              <a:t>CONNECT</a:t>
            </a:r>
          </a:p>
          <a:p>
            <a:r>
              <a:t>Build on the preceding slide: How did you do?.</a:t>
            </a:r>
          </a:p>
          <a:p>
            <a:r>
              <a:t/>
            </a:r>
          </a:p>
          <a:p>
            <a:r>
              <a:t>LECTURER CUE</a:t>
            </a:r>
          </a:p>
          <a:p>
            <a:r>
              <a:t>This is the diagnostic routine to use for the rest of your degree. Counters out of order, or a blank counter, mean the notebook and the kernel disagree, and the kernel is what actually ran.</a:t>
            </a:r>
          </a:p>
          <a:p>
            <a:r>
              <a:t>Step 4 is the question that matters. A result you cannot reproduce from a clean start is indistinguishable from a coincidence, which is why reproducibility gets treated as an engineering requirement in this course.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Break.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Break</a:t>
            </a:r>
          </a:p>
          <a:p>
            <a:r>
              <a:t/>
            </a:r>
          </a:p>
          <a:p>
            <a:r>
              <a:t>CONNECT</a:t>
            </a:r>
          </a:p>
          <a:p>
            <a:r>
              <a:t>Build on the preceding slide: Diagnosing a notebook from its counters.</a:t>
            </a:r>
          </a:p>
          <a:p>
            <a:r>
              <a:t/>
            </a:r>
          </a:p>
          <a:p>
            <a:r>
              <a:t>LECTURER CUE</a:t>
            </a:r>
          </a:p>
          <a:p>
            <a:r>
              <a:t>Ten minutes. Git comes after the break and it needs you awake.</a:t>
            </a:r>
          </a:p>
          <a:p>
            <a:r>
              <a:t/>
            </a:r>
          </a:p>
          <a:p>
            <a:r>
              <a:t>NEXT</a:t>
            </a:r>
          </a:p>
          <a:p>
            <a:r>
              <a:t>What version control gives you.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version control gives you</a:t>
            </a:r>
          </a:p>
          <a:p>
            <a:r>
              <a:t/>
            </a:r>
          </a:p>
          <a:p>
            <a:r>
              <a:t>CONNECT</a:t>
            </a:r>
          </a:p>
          <a:p>
            <a:r>
              <a:t>Build on the preceding slide: Break.</a:t>
            </a:r>
          </a:p>
          <a:p>
            <a:r>
              <a:t/>
            </a:r>
          </a:p>
          <a:p>
            <a:r>
              <a:t>LECTURER CUE</a:t>
            </a:r>
          </a:p>
          <a:p>
            <a:r>
              <a:t>Twenty-five minutes on what Git records that a copied folder does not. The commands come later; this segment is about the problem they solve, because Git treated as ceremony never gets used voluntarily.</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NEXT</a:t>
            </a:r>
          </a:p>
          <a:p>
            <a:r>
              <a:t>The problem Git actually solves.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problem Git actually solves</a:t>
            </a:r>
          </a:p>
          <a:p>
            <a:r>
              <a:t/>
            </a:r>
          </a:p>
          <a:p>
            <a:r>
              <a:t>CONNECT</a:t>
            </a:r>
          </a:p>
          <a:p>
            <a:r>
              <a:t>Build on the preceding slide: What version control gives you.</a:t>
            </a:r>
          </a:p>
          <a:p>
            <a:r>
              <a:t/>
            </a:r>
          </a:p>
          <a:p>
            <a:r>
              <a:t>LECTURER CUE</a:t>
            </a:r>
          </a:p>
          <a:p>
            <a:r>
              <a:t>The 'final_v3_REAL_final' folder is a problem everybody recognises, and Git is the tool built for it. The assessment consequence is the part to take seriously: your commit history is the evidence of which part of a team project you did, and sixty-five per cent of your mark is individual.</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NEXT</a:t>
            </a:r>
          </a:p>
          <a:p>
            <a:r>
              <a:t>The four places your work can be.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four places your work can be</a:t>
            </a:r>
          </a:p>
          <a:p>
            <a:r>
              <a:t/>
            </a:r>
          </a:p>
          <a:p>
            <a:r>
              <a:t>CONNECT</a:t>
            </a:r>
          </a:p>
          <a:p>
            <a:r>
              <a:t>Build on the preceding slide: The problem Git actually solves.</a:t>
            </a:r>
          </a:p>
          <a:p>
            <a:r>
              <a:t/>
            </a:r>
          </a:p>
          <a:p>
            <a:r>
              <a:t>LECTURER CUE</a:t>
            </a:r>
          </a:p>
          <a:p>
            <a:r>
              <a:t>Most Git confusion comes from not knowing which of these four places a file is in. The diagram is worth photographing.</a:t>
            </a:r>
          </a:p>
          <a:p>
            <a:r>
              <a:t>The staging area feels like a pointless extra step until the first time you want to commit two of the five files you changed. That is what it is for.</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NEXT</a:t>
            </a:r>
          </a:p>
          <a:p>
            <a:r>
              <a:t>Repository, commit, and push.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Repository, commit, and push</a:t>
            </a:r>
          </a:p>
          <a:p>
            <a:r>
              <a:t/>
            </a:r>
          </a:p>
          <a:p>
            <a:r>
              <a:t>CONNECT</a:t>
            </a:r>
          </a:p>
          <a:p>
            <a:r>
              <a:t>Build on the preceding slide: The four places your work can be.</a:t>
            </a:r>
          </a:p>
          <a:p>
            <a:r>
              <a:t/>
            </a:r>
          </a:p>
          <a:p>
            <a:r>
              <a:t>LECTURER CUE</a:t>
            </a:r>
          </a:p>
          <a:p>
            <a:r>
              <a:t>Commit messages matter more than beginners expect. 'update', 'fix' and 'stuff' are worthless in November. A message should say what changed and, where it is not obvious, why.</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NEXT</a:t>
            </a:r>
          </a:p>
          <a:p>
            <a:r>
              <a:t>Doing it: repository, commit, push.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Doing it: repository, commit, push</a:t>
            </a:r>
          </a:p>
          <a:p>
            <a:r>
              <a:t/>
            </a:r>
          </a:p>
          <a:p>
            <a:r>
              <a:t>CONNECT</a:t>
            </a:r>
          </a:p>
          <a:p>
            <a:r>
              <a:t>Build on the preceding slide: Repository, commit, and push.</a:t>
            </a:r>
          </a:p>
          <a:p>
            <a:r>
              <a:t/>
            </a:r>
          </a:p>
          <a:p>
            <a:r>
              <a:t>LECTURER CUE</a:t>
            </a:r>
          </a:p>
          <a:p>
            <a:r>
              <a:t>Twenty-five minutes with the whole room in step. You leave this segment with a live GitHub URL, and submit that URL together with the notebook and README.md for A2.</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NEXT</a:t>
            </a:r>
          </a:p>
          <a:p>
            <a:r>
              <a:t>From Colab to GitHub.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From Colab to GitHub</a:t>
            </a:r>
          </a:p>
          <a:p>
            <a:r>
              <a:t/>
            </a:r>
          </a:p>
          <a:p>
            <a:r>
              <a:t>CONNECT</a:t>
            </a:r>
          </a:p>
          <a:p>
            <a:r>
              <a:t>Build on the preceding slide: Doing it: repository, commit, push.</a:t>
            </a:r>
          </a:p>
          <a:p>
            <a:r>
              <a:t/>
            </a:r>
          </a:p>
          <a:p>
            <a:r>
              <a:t>LECTURER CUE</a:t>
            </a:r>
          </a:p>
          <a:p>
            <a:r>
              <a:t>Use the browser route in STUDENT_HOW_TO.md: download the completed notebook from Colab; create a private GitHub repository with a README; choose Add file, Upload files; add the notebook and supplied CSV; commit the changes. Edit and commit your own README. The displayed Git commands are optional reference for a local terminal, not instructions to type into a Python cell.</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NEXT</a:t>
            </a:r>
          </a:p>
          <a:p>
            <a:r>
              <a:t>Assignment A2 — Proof of Life.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Assignment A2 — Proof of Life</a:t>
            </a:r>
          </a:p>
          <a:p>
            <a:r>
              <a:t/>
            </a:r>
          </a:p>
          <a:p>
            <a:r>
              <a:t>CONNECT</a:t>
            </a:r>
          </a:p>
          <a:p>
            <a:r>
              <a:t>Build on the preceding slide: From Colab to GitHub.</a:t>
            </a:r>
          </a:p>
          <a:p>
            <a:r>
              <a:t/>
            </a:r>
          </a:p>
          <a:p>
            <a:r>
              <a:t>LECTURER CUE</a:t>
            </a:r>
          </a:p>
          <a:p>
            <a:r>
              <a:t>A2 is marked out of 20: identity 2, proof_sum 4, fresh-run readings 4, correct CSV records 4, execution-order explanation 3, README 3. Keep My explanation: in the notebook text cell. Submit exactly the completed renamed notebook and your own README.md together, plus the repository URL in its form field. The CSV stays in the runtime and repository. Use the current cohort form deadline; do not promise an automatic redo or extra attempt. A1, Quiz 1, A2 and Quiz 2 are separate tasks.</a:t>
            </a:r>
          </a:p>
          <a:p>
            <a:r>
              <a:t/>
            </a:r>
          </a:p>
          <a:p>
            <a:r>
              <a:t>EXPLAIN IN ORDINARY WORDS</a:t>
            </a:r>
          </a:p>
          <a:p>
            <a:r>
              <a:t>A CSV is a text table. The header supplies column names. With csv.DictReader, values start as text, even if they look like numbers. A path tells Python where the file is.</a:t>
            </a:r>
          </a:p>
          <a:p>
            <a:r>
              <a:t/>
            </a:r>
          </a:p>
          <a:p>
            <a:r>
              <a:t>CHECK AND EXPECTED ANSWER</a:t>
            </a:r>
          </a:p>
          <a:p>
            <a:r>
              <a:t>Can "2.5" from csv.DictReader be added as a number without conversion? No; convert valid numeric text first.</a:t>
            </a:r>
          </a:p>
          <a:p>
            <a:r>
              <a:t/>
            </a:r>
          </a:p>
          <a:p>
            <a:r>
              <a:t>IF LEARNERS ARE STUCK</a:t>
            </a:r>
          </a:p>
          <a:p>
            <a:r>
              <a:t>Show the file in the runtime folder and compare its exact filename, case and column headers. Upload data again after a fresh Colab runtime.</a:t>
            </a:r>
          </a:p>
          <a:p>
            <a:r>
              <a:t/>
            </a:r>
          </a:p>
          <a:p>
            <a:r>
              <a:t>NEXT</a:t>
            </a:r>
          </a:p>
          <a:p>
            <a:r>
              <a:t>What makes a README worth reading.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makes a README worth reading</a:t>
            </a:r>
          </a:p>
          <a:p>
            <a:r>
              <a:t/>
            </a:r>
          </a:p>
          <a:p>
            <a:r>
              <a:t>CONNECT</a:t>
            </a:r>
          </a:p>
          <a:p>
            <a:r>
              <a:t>Build on the preceding slide: Assignment A2 — Proof of Life.</a:t>
            </a:r>
          </a:p>
          <a:p>
            <a:r>
              <a:t/>
            </a:r>
          </a:p>
          <a:p>
            <a:r>
              <a:t>LECTURER CUE</a:t>
            </a:r>
          </a:p>
          <a:p>
            <a:r>
              <a:t>The README is required now. Include the programme, exact file list, instructions to open the notebook, upload the CSV, restart and run from the top, then save/download. Demonstrate editing README.md on GitHub and downloading the raw file. Ask a partner to follow the instructions literally. Do not submit the instruction README supplied in the ZIP.</a:t>
            </a:r>
          </a:p>
          <a:p>
            <a:r>
              <a:t/>
            </a:r>
          </a:p>
          <a:p>
            <a:r>
              <a:t>EXPLAIN IN ORDINARY WORDS</a:t>
            </a:r>
          </a:p>
          <a:p>
            <a:r>
              <a:t>A repository is the project folder and recorded history. A commit records a chosen change; uploading or pushing shares it. A README tells someone else how to run the work.</a:t>
            </a:r>
          </a:p>
          <a:p>
            <a:r>
              <a:t/>
            </a:r>
          </a:p>
          <a:p>
            <a:r>
              <a:t>CHECK AND EXPECTED ANSWER</a:t>
            </a:r>
          </a:p>
          <a:p>
            <a:r>
              <a:t>Does saving to GitHub hand in the assignment? No; submission requires the correct form and its confirmation.</a:t>
            </a:r>
          </a:p>
          <a:p>
            <a:r>
              <a:t/>
            </a:r>
          </a:p>
          <a:p>
            <a:r>
              <a:t>IF LEARNERS ARE STUCK</a:t>
            </a:r>
          </a:p>
          <a:p>
            <a:r>
              <a:t>Ask a partner to follow only the README. It should identify the data, files, run order and expected result. Keep secrets out of the repository.</a:t>
            </a:r>
          </a:p>
          <a:p>
            <a:r>
              <a:t/>
            </a:r>
          </a:p>
          <a:p>
            <a:r>
              <a:t>NEXT</a:t>
            </a:r>
          </a:p>
          <a:p>
            <a:r>
              <a:t>Break and Fix.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Break and Fix</a:t>
            </a:r>
          </a:p>
          <a:p>
            <a:r>
              <a:t/>
            </a:r>
          </a:p>
          <a:p>
            <a:r>
              <a:t>CONNECT</a:t>
            </a:r>
          </a:p>
          <a:p>
            <a:r>
              <a:t>Build on the preceding slide: What makes a README worth reading.</a:t>
            </a:r>
          </a:p>
          <a:p>
            <a:r>
              <a:t/>
            </a:r>
          </a:p>
          <a:p>
            <a:r>
              <a:t>LECTURER CUE</a:t>
            </a:r>
          </a:p>
          <a:p>
            <a:r>
              <a:t>Guide repairs 01–04 in class, one at a time. 01: identify the deliberately unavailable module and remove the unused import; do not install the made-up package. 02: compare the required and actual Python versions. 03: locate the CSV and correct its path. 04: trace 12, then 17, then the unwanted reset to 12. Remove the reset; restart and Run all for 17. Ask learners to state the cause before showing a repair. These notebooks and hello_engineering.py are practice only; return to proof_of_life.ipynb for the assessed work.</a:t>
            </a:r>
          </a:p>
          <a:p>
            <a:r>
              <a:t/>
            </a:r>
          </a:p>
          <a:p>
            <a:r>
              <a:t>EXPLAIN IN ORDINARY WORDS</a:t>
            </a:r>
          </a:p>
          <a:p>
            <a:r>
              <a:t>A module supplies Python tools; import asks Python to load it. A version identifies a software release. A path identifies a file. A state error happens when stored values differ from what we expected.</a:t>
            </a:r>
          </a:p>
          <a:p>
            <a:r>
              <a:t/>
            </a:r>
          </a:p>
          <a:p>
            <a:r>
              <a:t>CHECK AND EXPECTED ANSWER</a:t>
            </a:r>
          </a:p>
          <a:p>
            <a:r>
              <a:t>Notebook 04 starts at 12, adds 5 to get 17, then resets to 12. Why does it print 12? The final assignment overwrites 17.</a:t>
            </a:r>
          </a:p>
          <a:p>
            <a:r>
              <a:t/>
            </a:r>
          </a:p>
          <a:p>
            <a:r>
              <a:t>IF LEARNERS ARE STUCK</a:t>
            </a:r>
          </a:p>
          <a:p>
            <a:r>
              <a:t>01: the named module is deliberately unavailable; remove the unused import instead of trying to install a made-up package. 02: the exercise asserts Python 2 but the course uses Python 3; inspect sys.version_info and correct that deliberate mismatch. 03: upload the issued CSV and replace the nonexistent folder path with its real filename. 04: remove the unwanted reset, restart and run all for 17; repeat only the increment to see 22, then 27.</a:t>
            </a:r>
          </a:p>
          <a:p>
            <a:r>
              <a:t/>
            </a:r>
          </a:p>
          <a:p>
            <a:r>
              <a:t>NEXT</a:t>
            </a:r>
          </a:p>
          <a:p>
            <a:r>
              <a:t>Before you leave the room.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Before you leave the room</a:t>
            </a:r>
          </a:p>
          <a:p>
            <a:r>
              <a:t/>
            </a:r>
          </a:p>
          <a:p>
            <a:r>
              <a:t>CONNECT</a:t>
            </a:r>
          </a:p>
          <a:p>
            <a:r>
              <a:t>Build on the preceding slide: Break and Fix.</a:t>
            </a:r>
          </a:p>
          <a:p>
            <a:r>
              <a:t/>
            </a:r>
          </a:p>
          <a:p>
            <a:r>
              <a:t>LECTURER CUE</a:t>
            </a:r>
          </a:p>
          <a:p>
            <a:r>
              <a:t>Answer the setup question honestly. 'I could not get that far' is worth more to me than a guess, and it is not the question that carries the mark.</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NEXT</a:t>
            </a:r>
          </a:p>
          <a:p>
            <a:r>
              <a:t>Revision material.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Revision material</a:t>
            </a:r>
          </a:p>
          <a:p>
            <a:r>
              <a:t/>
            </a:r>
          </a:p>
          <a:p>
            <a:r>
              <a:t>CONNECT</a:t>
            </a:r>
          </a:p>
          <a:p>
            <a:r>
              <a:t>Build on the preceding slide: Before you leave the room.</a:t>
            </a:r>
          </a:p>
          <a:p>
            <a:r>
              <a:t/>
            </a:r>
          </a:p>
          <a:p>
            <a:r>
              <a:t>LECTURER CUE</a:t>
            </a:r>
          </a:p>
          <a:p>
            <a:r>
              <a:t>Everything past this slide is revision material: a summary, a self-test with worked answers, an eighteen-term glossary and a one-page command reference. It is written to be studied from during the week.</a:t>
            </a:r>
          </a:p>
          <a:p>
            <a:r>
              <a:t/>
            </a:r>
          </a:p>
          <a:p>
            <a:r>
              <a:t>NEXT</a:t>
            </a:r>
          </a:p>
          <a:p>
            <a:r>
              <a:t>What you should take away.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you should take away</a:t>
            </a:r>
          </a:p>
          <a:p>
            <a:r>
              <a:t/>
            </a:r>
          </a:p>
          <a:p>
            <a:r>
              <a:t>CONNECT</a:t>
            </a:r>
          </a:p>
          <a:p>
            <a:r>
              <a:t>Build on the preceding slide: Revision material.</a:t>
            </a:r>
          </a:p>
          <a:p>
            <a:r>
              <a:t/>
            </a:r>
          </a:p>
          <a:p>
            <a:r>
              <a:t>LECTURER CUE</a:t>
            </a:r>
          </a:p>
          <a:p>
            <a:r>
              <a:t>Seven statements covering the whole session. The fourth and the seventh are the two that carry into every later week: Restart and Run All as the only honest test, and the broken notebook that never announces itself.</a:t>
            </a:r>
          </a:p>
          <a:p>
            <a:r>
              <a:t/>
            </a:r>
          </a:p>
          <a:p>
            <a:r>
              <a:t>EXPLAIN IN ORDINARY WORDS</a:t>
            </a:r>
          </a:p>
          <a:p>
            <a:r>
              <a:t>A value is a piece of information. A variable is a name referring to a value. In length_m = 5, Python evaluates the right side and binds that result to the name on the left.</a:t>
            </a:r>
          </a:p>
          <a:p>
            <a:r>
              <a:t/>
            </a:r>
          </a:p>
          <a:p>
            <a:r>
              <a:t>CHECK AND EXPECTED ANSWER</a:t>
            </a:r>
          </a:p>
          <a:p>
            <a:r>
              <a:t>After x=3 then x=5, what does print(x) display? 5. The earlier value is not added automatically.</a:t>
            </a:r>
          </a:p>
          <a:p>
            <a:r>
              <a:t/>
            </a:r>
          </a:p>
          <a:p>
            <a:r>
              <a:t>IF LEARNERS ARE STUCK</a:t>
            </a:r>
          </a:p>
          <a:p>
            <a:r>
              <a:t>Write the name on a card and the current value beside it. Distinguish number 3 from quoted text "3".</a:t>
            </a:r>
          </a:p>
          <a:p>
            <a:r>
              <a:t/>
            </a:r>
          </a:p>
          <a:p>
            <a:r>
              <a:t>NEXT</a:t>
            </a:r>
          </a:p>
          <a:p>
            <a:r>
              <a:t>Self-test — write something for each before you look.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Self-test — write something for each before you look</a:t>
            </a:r>
          </a:p>
          <a:p>
            <a:r>
              <a:t/>
            </a:r>
          </a:p>
          <a:p>
            <a:r>
              <a:t>CONNECT</a:t>
            </a:r>
          </a:p>
          <a:p>
            <a:r>
              <a:t>Build on the preceding slide: What you should take away.</a:t>
            </a:r>
          </a:p>
          <a:p>
            <a:r>
              <a:t/>
            </a:r>
          </a:p>
          <a:p>
            <a:r>
              <a:t>LECTURER CUE</a:t>
            </a:r>
          </a:p>
          <a:p>
            <a:r>
              <a:t>Question E is worth thinking about properly. It is the trade-off at the centre of how this course is set up.</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DISCUSSION KEY FOR THIS SLIDE</a:t>
            </a:r>
          </a:p>
          <a:p>
            <a:r>
              <a:t>ANSWERS</a:t>
            </a:r>
          </a:p>
          <a:p>
            <a:r>
              <a:t>How did you do?</a:t>
            </a:r>
          </a:p>
          <a:p>
            <a:r>
              <a:t>A</a:t>
            </a:r>
          </a:p>
          <a:p>
            <a:r>
              <a:t>'It worked yesterday'?</a:t>
            </a:r>
          </a:p>
          <a:p>
            <a:r>
              <a:t>Restart and Run All. Almost always the kernel was holding something from a cell that has since changed or been deleted, so it never really worked from a clean start.</a:t>
            </a:r>
          </a:p>
          <a:p>
            <a:r>
              <a:t>B</a:t>
            </a:r>
          </a:p>
          <a:p>
            <a:r>
              <a:t>What the counter tells you?</a:t>
            </a:r>
          </a:p>
          <a:p>
            <a:r>
              <a:t>The order in which cells were actually executed. Position on the page is only a layout — the counter is what the kernel actually did, and the two can disagree.</a:t>
            </a:r>
          </a:p>
          <a:p>
            <a:r>
              <a:t>C</a:t>
            </a:r>
          </a:p>
          <a:p>
            <a:r>
              <a:t>Recording two of five files?</a:t>
            </a:r>
          </a:p>
          <a:p>
            <a:r>
              <a:t>git add, naming just those two files rather than using a dot. They move into the staging area, and only staged files go into the next commit.</a:t>
            </a:r>
          </a:p>
          <a:p>
            <a:r>
              <a:t>D</a:t>
            </a:r>
          </a:p>
          <a:p>
            <a:r>
              <a:t>Why GitHub rather than email?</a:t>
            </a:r>
          </a:p>
          <a:p>
            <a:r>
              <a:t>Because it records who did what and when, which is how a team mark becomes an individual one; because the grading tools collect work from repositories automatically; and because it is what every engineering employer expects you to have used.</a:t>
            </a:r>
          </a:p>
          <a:p>
            <a:r>
              <a:t>E</a:t>
            </a:r>
          </a:p>
          <a:p>
            <a:r>
              <a:t>Colab needs internet — so how are the tests run?</a:t>
            </a:r>
          </a:p>
          <a:p>
            <a:r>
              <a:t>Offline, on laboratory machines with a local Python installation and no network. That is deliberate: it makes the no-AI-assistance rule actually enforceable rather than a request, and it certifies what you can do unaided. It is also why the Student Setup Guide still exists.</a:t>
            </a:r>
          </a:p>
          <a:p>
            <a:r>
              <a:t>Let learners attempt first; use this to explain the reasoning, not just reveal the answer.</a:t>
            </a:r>
          </a:p>
          <a:p>
            <a:r>
              <a:t/>
            </a:r>
          </a:p>
          <a:p>
            <a:r>
              <a:t>NEXT</a:t>
            </a:r>
          </a:p>
          <a:p>
            <a:r>
              <a:t>How did you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did you do?</a:t>
            </a:r>
          </a:p>
          <a:p>
            <a:r>
              <a:t/>
            </a:r>
          </a:p>
          <a:p>
            <a:r>
              <a:t>CONNECT</a:t>
            </a:r>
          </a:p>
          <a:p>
            <a:r>
              <a:t>Build on the preceding slide: Self-test — write something for each before you look.</a:t>
            </a:r>
          </a:p>
          <a:p>
            <a:r>
              <a:t/>
            </a:r>
          </a:p>
          <a:p>
            <a:r>
              <a:t>LECTURER CUE</a:t>
            </a:r>
          </a:p>
          <a:p>
            <a:r>
              <a:t>Answer E is the trade-off at the centre of how this course is set up. Colab removes every installation problem and needs a connection to work; the offline lab machines make the no-AI rule in the two tests enforceable rather than a request. Both compromises are deliberate, and they are why the Student Setup Guide still exists for anyone who wants a local installation.</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Every word we used today (1 of 3).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Every word we used today (3 of 3)</a:t>
            </a:r>
          </a:p>
          <a:p>
            <a:r>
              <a:t/>
            </a:r>
          </a:p>
          <a:p>
            <a:r>
              <a:t>CONNECT</a:t>
            </a:r>
          </a:p>
          <a:p>
            <a:r>
              <a:t>Build on the preceding slide: Every word we used today (2 of 3).</a:t>
            </a:r>
          </a:p>
          <a:p>
            <a:r>
              <a:t/>
            </a:r>
          </a:p>
          <a:p>
            <a:r>
              <a:t>LECTURER CUE</a:t>
            </a:r>
          </a:p>
          <a:p>
            <a:r>
              <a:t>Eighteen terms, and all of them are used every week from now on. If you can define them all by Week 4 you are in good shape — several appear in the weekly quizzes.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NEXT</a:t>
            </a:r>
          </a:p>
          <a:p>
            <a:r>
              <a:t>One-page reference — the commands and the habits.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One-page reference — the commands and the habits</a:t>
            </a:r>
          </a:p>
          <a:p>
            <a:r>
              <a:t/>
            </a:r>
          </a:p>
          <a:p>
            <a:r>
              <a:t>CONNECT</a:t>
            </a:r>
          </a:p>
          <a:p>
            <a:r>
              <a:t>Build on the preceding slide: Every word we used today (3 of 3).</a:t>
            </a:r>
          </a:p>
          <a:p>
            <a:r>
              <a:t/>
            </a:r>
          </a:p>
          <a:p>
            <a:r>
              <a:t>LECTURER CUE</a:t>
            </a:r>
          </a:p>
          <a:p>
            <a:r>
              <a:t>Photograph this slide. It answers most of what comes up in Weeks 3 to 6, and the four Git commands on it are the same four you will still be using on the project in Week 13.</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Five questions,.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Five questions,</a:t>
            </a:r>
          </a:p>
          <a:p>
            <a:r>
              <a:t/>
            </a:r>
          </a:p>
          <a:p>
            <a:r>
              <a:t>CONNECT</a:t>
            </a:r>
          </a:p>
          <a:p>
            <a:r>
              <a:t>Build on the preceding slide: One-page reference — the commands and the habits.</a:t>
            </a:r>
          </a:p>
          <a:p>
            <a:r>
              <a:t/>
            </a:r>
          </a:p>
          <a:p>
            <a:r>
              <a:t>LECTURER CUE</a:t>
            </a:r>
          </a:p>
          <a:p>
            <a:r>
              <a:t>The last five minutes of every teaching session. Five questions, one per cent, and you see your score as you submit.</a:t>
            </a:r>
          </a:p>
          <a:p>
            <a:r>
              <a:t>Nothing on it can be answered without reading what it shows you, so there is nothing to revise for it beyond having done the session. Twelve run across the semester and the best ten count.</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QUIZ OPERATION</a:t>
            </a:r>
          </a:p>
          <a:p>
            <a:r>
              <a:t>Opening the student link does not activate the quiz. In Quiz Controls run the matching open_W&lt;week&gt;_&lt;cohort&gt; function once when ready. Announce the logged closing time: 24 hours after activation. Five minutes describes expected answering time, not the availability window. Quiz 1 and Quiz 2 require separate activation when collecting catch-up work.</a:t>
            </a:r>
          </a:p>
          <a:p>
            <a:r>
              <a:t/>
            </a:r>
          </a:p>
          <a:p>
            <a:r>
              <a:t>NEXT</a:t>
            </a:r>
          </a:p>
          <a:p>
            <a:r>
              <a:t>Every error today told you.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Every error today told you</a:t>
            </a:r>
          </a:p>
          <a:p>
            <a:r>
              <a:t/>
            </a:r>
          </a:p>
          <a:p>
            <a:r>
              <a:t>CONNECT</a:t>
            </a:r>
          </a:p>
          <a:p>
            <a:r>
              <a:t>Build on the preceding slide: Five questions,.</a:t>
            </a:r>
          </a:p>
          <a:p>
            <a:r>
              <a:t/>
            </a:r>
          </a:p>
          <a:p>
            <a:r>
              <a:t>LECTURER CUE</a:t>
            </a:r>
          </a:p>
          <a:p>
            <a:r>
              <a:t>Everything you saw go wrong today has gone wrong for every engineer in this building, and it will keep happening for the rest of your career. What changes is how long it takes you to read the message and carry on. Next week is Python as an engineering calculator, built on formulas from your own programme.</a:t>
            </a:r>
          </a:p>
        </p:txBody>
      </p:sp>
      <p:sp>
        <p:nvSpPr>
          <p:cNvPr id="4" name="Slide Number Placeholder 3"/>
          <p:cNvSpPr>
            <a:spLocks noGrp="1"/>
          </p:cNvSpPr>
          <p:nvPr>
            <p:ph type="sldNum" idx="5" sz="quarter"/>
          </p:nvPr>
        </p:nvSpPr>
        <p:spPr/>
      </p:sp>
    </p:spTree>
  </p:cSld>
  <p:clrMapOvr>
    <a:masterClrMapping/>
  </p:clrMapOvr>
</p:notes>
</file>

<file path=ppt/notesSlides/notesSlide1003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Every word we used today (1 of 3)</a:t>
            </a:r>
          </a:p>
          <a:p>
            <a:r>
              <a:t/>
            </a:r>
          </a:p>
          <a:p>
            <a:r>
              <a:t>CONNECT</a:t>
            </a:r>
          </a:p>
          <a:p>
            <a:r>
              <a:t>Build on the preceding slide: How did you do?.</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Every word we used today (2 of 3).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04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Every word we used today (2 of 3)</a:t>
            </a:r>
          </a:p>
          <a:p>
            <a:r>
              <a:t/>
            </a:r>
          </a:p>
          <a:p>
            <a:r>
              <a:t>CONNECT</a:t>
            </a:r>
          </a:p>
          <a:p>
            <a:r>
              <a:t>Build on the preceding slide: Every word we used today (1 of 3).</a:t>
            </a:r>
          </a:p>
          <a:p>
            <a:r>
              <a:t/>
            </a:r>
          </a:p>
          <a:p>
            <a:r>
              <a:t>EXPLAIN IN ORDINARY WORDS</a:t>
            </a:r>
          </a:p>
          <a:p>
            <a:r>
              <a:t>A value is a piece of information. A variable is a name referring to a value. In length_m = 5, Python evaluates the right side and binds that result to the name on the left.</a:t>
            </a:r>
          </a:p>
          <a:p>
            <a:r>
              <a:t/>
            </a:r>
          </a:p>
          <a:p>
            <a:r>
              <a:t>CHECK AND EXPECTED ANSWER</a:t>
            </a:r>
          </a:p>
          <a:p>
            <a:r>
              <a:t>After x=3 then x=5, what does print(x) display? 5. The earlier value is not added automatically.</a:t>
            </a:r>
          </a:p>
          <a:p>
            <a:r>
              <a:t/>
            </a:r>
          </a:p>
          <a:p>
            <a:r>
              <a:t>IF LEARNERS ARE STUCK</a:t>
            </a:r>
          </a:p>
          <a:p>
            <a:r>
              <a:t>Write the name on a card and the current value beside it. Distinguish number 3 from quoted text "3".</a:t>
            </a:r>
          </a:p>
          <a:p>
            <a:r>
              <a:t/>
            </a:r>
          </a:p>
          <a:p>
            <a:r>
              <a:t>NEXT</a:t>
            </a:r>
          </a:p>
          <a:p>
            <a:r>
              <a:t>Every word we used today (3 of 3).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39.xml" /></ns0:Relationships>
</file>

<file path=ppt/slides/_rels/slide40.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40.xml" /></ns0: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CML3112</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Where the work</a:t>
            </a:r>
          </a:p>
          <a:p>
            <a:pPr algn="l">
              <a:lnSpc>
                <a:spcPct val="105000"/>
              </a:lnSpc>
              <a:spcAft>
                <a:spcPts val="600"/>
              </a:spcAft>
            </a:pPr>
            <a:r>
              <a:rPr sz="4400" b="1" i="0">
                <a:solidFill>
                  <a:srgbClr val="FFFFFF"/>
                </a:solidFill>
                <a:latin typeface="Cambria"/>
              </a:rPr>
              <a:t>actually happens</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Colab, notebooks and version control</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2  ·  Tue 15 September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Tuesday 11:00–14:00 · Room 106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Open a notebook in Google Colab and run code in it without installing anything.</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what a cell is, what the execution counter means, and what the kernel holds.</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Predict what happens when a cell is run twice, and say why that matters.</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Use Restart and Run All, and say what problem it solves.</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what Git records that a backup does not.</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Create a repository, commit your work and push it, ending with a live URL.</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Read four different error messages and name the cause of each in one sentence.</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2 · Colab, notebooks and version control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HOW TODAY RUNS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today runs</a:t>
            </a:r>
          </a:p>
        </p:txBody>
      </p:sp>
      <p:pic>
        <p:nvPicPr>
          <p:cNvPr id="4" name="Picture 3" descr="clock_w2.png"/>
          <p:cNvPicPr>
            <a:picLocks noChangeAspect="1"/>
          </p:cNvPicPr>
          <p:nvPr/>
        </p:nvPicPr>
        <p:blipFill>
          <a:blip r:embed="rId2"/>
          <a:stretch>
            <a:fillRect/>
          </a:stretch>
        </p:blipFill>
        <p:spPr>
          <a:xfrm>
            <a:off x="969195" y="1911095"/>
            <a:ext cx="10253304"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same eleven-segment shape as last week. Today is heavier on practical work than any session so far. Keep the cohort kit open for the practical activities.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 and where we are going</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A2 is due at the start of next week, and by the end of today you will already have most of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what stuck from Week 1?</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Last week you predicted case 13 from twelve examples. What was the name for the input columns you were given, and what was the name for the value you predicted?</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want to predict how many days until a pump needs servicing. Regression or classification?</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Name one of the four limits — one thing machine learning cannot do.</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 Ask a neighbour first — that is faster than waiting for 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The input columns, and the value?</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 columns you were given are the FEATURES. The value you predicted is the TARGET. One row with both is one EXAMPLE.</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Days until servicing?</a:t>
            </a:r>
          </a:p>
        </p:txBody>
      </p:sp>
      <p:sp>
        <p:nvSpPr>
          <p:cNvPr id="9" name="TextBox 8"/>
          <p:cNvSpPr txBox="1"/>
          <p:nvPr/>
        </p:nvSpPr>
        <p:spPr>
          <a:xfrm>
            <a:off x="1216152" y="33528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Regression — the answer is a number with a unit. If it were 'service due or not' it would be classification.</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One of the four limits?</a:t>
            </a:r>
          </a:p>
        </p:txBody>
      </p:sp>
      <p:sp>
        <p:nvSpPr>
          <p:cNvPr id="12" name="TextBox 11"/>
          <p:cNvSpPr txBox="1"/>
          <p:nvPr/>
        </p:nvSpPr>
        <p:spPr>
          <a:xfrm>
            <a:off x="1216152" y="4502090"/>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No data · no signal · physics is simply better · the future stopped resembling the past. Any one of those.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Four questions, four tools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Nobody memorises tools. You need to know which one answers which question — and each of today's four answers a different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TOOL MAP</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four questions</a:t>
            </a:r>
          </a:p>
        </p:txBody>
      </p:sp>
      <p:pic>
        <p:nvPicPr>
          <p:cNvPr id="4" name="Picture 3" descr="tool_map.png"/>
          <p:cNvPicPr>
            <a:picLocks noChangeAspect="1"/>
          </p:cNvPicPr>
          <p:nvPr/>
        </p:nvPicPr>
        <p:blipFill>
          <a:blip r:embed="rId2"/>
          <a:stretch>
            <a:fillRect/>
          </a:stretch>
        </p:blipFill>
        <p:spPr>
          <a:xfrm>
            <a:off x="1551182" y="1911095"/>
            <a:ext cx="908933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Four separate problems, four separate tools. You will use all four every week for the rest of the year, and you will not need a fifth this semester.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Google Colab</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notebook that runs in your browser, on Google's computers. Python and every library this course needs are already installed on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You open colab.research.google.com, sign in with a Google account, and you are running Python about fifteen seconds later. Nothing is installed on your own machine.</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website that teaches Python. Colab is not a tutorial — it is the real tool, and professional engineers use it for exactly this kind of work.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Your first notebook</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Everybody types. This is not a demonstration you watch — open a browser now.</a:t>
            </a:r>
          </a:p>
        </p:txBody>
      </p:sp>
    </p:spTree>
  </p:cSld>
  <p:clrMapOvr>
    <a:masterClrMapping/>
  </p:clrMapOvr>
</p:sld>
</file>

<file path=ppt/slides/slide11.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Three cells</a:t>
            </a:r>
          </a:p>
        </p:txBody>
      </p:sp>
      <p:sp>
        <p:nvSpPr>
          <p:cNvPr id="4" name="Rounded Rectangle 3"/>
          <p:cNvSpPr/>
          <p:nvPr/>
        </p:nvSpPr>
        <p:spPr>
          <a:xfrm>
            <a:off x="6852842" y="512064"/>
            <a:ext cx="4653052"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NEW NOTEBOOK — TYPE THIS</a:t>
            </a:r>
          </a:p>
        </p:txBody>
      </p:sp>
      <p:sp>
        <p:nvSpPr>
          <p:cNvPr id="5" name="Rectangle 4"/>
          <p:cNvSpPr/>
          <p:nvPr/>
        </p:nvSpPr>
        <p:spPr>
          <a:xfrm>
            <a:off x="685800" y="1911095"/>
            <a:ext cx="10820095" cy="3213262"/>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2920654"/>
          </a:xfrm>
          <a:prstGeom prst="rect">
            <a:avLst/>
          </a:prstGeom>
          <a:noFill/>
        </p:spPr>
        <p:txBody>
          <a:bodyPr wrap="square" lIns="0" rIns="0" tIns="0" bIns="0" anchor="t">
            <a:spAutoFit/>
          </a:bodyPr>
          <a:lstStyle/>
          <a:p>
            <a:pPr algn="l">
              <a:lnSpc>
                <a:spcPts val="2064"/>
              </a:lnSpc>
              <a:spcAft>
                <a:spcPts val="0"/>
              </a:spcAft>
            </a:pPr>
            <a:r>
              <a:rPr sz="1518" b="0" i="0">
                <a:solidFill>
                  <a:srgbClr val="D8E3EC"/>
                </a:solidFill>
                <a:latin typeface="Courier New"/>
              </a:rPr>
              <a:t># Cell 1 - press Shift and Enter together to run it</a:t>
            </a:r>
          </a:p>
          <a:p>
            <a:pPr algn="l">
              <a:lnSpc>
                <a:spcPts val="2064"/>
              </a:lnSpc>
              <a:spcAft>
                <a:spcPts val="0"/>
              </a:spcAft>
            </a:pPr>
            <a:r>
              <a:rPr sz="1518" b="0" i="0">
                <a:solidFill>
                  <a:srgbClr val="D8E3EC"/>
                </a:solidFill>
                <a:latin typeface="Courier New"/>
              </a:rPr>
              <a:t>print("Hello from CML3112")</a:t>
            </a:r>
          </a:p>
          <a:p>
            <a:pPr algn="l">
              <a:lnSpc>
                <a:spcPts val="2064"/>
              </a:lnSpc>
              <a:spcAft>
                <a:spcPts val="0"/>
              </a:spcAft>
            </a:pPr>
            <a:r>
              <a:rPr sz="1518" b="0" i="0">
                <a:solidFill>
                  <a:srgbClr val="D8E3EC"/>
                </a:solidFill>
                <a:latin typeface="Courier New"/>
              </a:rPr>
              <a:t>print(2 + 2)</a:t>
            </a:r>
          </a:p>
          <a:p>
            <a:pPr algn="l">
              <a:lnSpc>
                <a:spcPts val="2064"/>
              </a:lnSpc>
              <a:spcAft>
                <a:spcPts val="0"/>
              </a:spcAft>
            </a:pPr>
            <a:r>
              <a:rPr sz="1518" b="0" i="0">
                <a:solidFill>
                  <a:srgbClr val="D8E3EC"/>
                </a:solidFill>
                <a:latin typeface="Courier New"/>
              </a:rPr>
              <a:t/>
            </a:r>
          </a:p>
          <a:p>
            <a:pPr algn="l">
              <a:lnSpc>
                <a:spcPts val="2064"/>
              </a:lnSpc>
              <a:spcAft>
                <a:spcPts val="0"/>
              </a:spcAft>
            </a:pPr>
            <a:r>
              <a:rPr sz="1518" b="0" i="0">
                <a:solidFill>
                  <a:srgbClr val="D8E3EC"/>
                </a:solidFill>
                <a:latin typeface="Courier New"/>
              </a:rPr>
              <a:t># Cell 2 - a variable is a name for a value</a:t>
            </a:r>
          </a:p>
          <a:p>
            <a:pPr algn="l">
              <a:lnSpc>
                <a:spcPts val="2064"/>
              </a:lnSpc>
              <a:spcAft>
                <a:spcPts val="0"/>
              </a:spcAft>
            </a:pPr>
            <a:r>
              <a:rPr sz="1518" b="0" i="0">
                <a:solidFill>
                  <a:srgbClr val="D8E3EC"/>
                </a:solidFill>
                <a:latin typeface="Courier New"/>
              </a:rPr>
              <a:t>readings = 12</a:t>
            </a:r>
          </a:p>
          <a:p>
            <a:pPr algn="l">
              <a:lnSpc>
                <a:spcPts val="2064"/>
              </a:lnSpc>
              <a:spcAft>
                <a:spcPts val="0"/>
              </a:spcAft>
            </a:pPr>
            <a:r>
              <a:rPr sz="1518" b="0" i="0">
                <a:solidFill>
                  <a:srgbClr val="D8E3EC"/>
                </a:solidFill>
                <a:latin typeface="Courier New"/>
              </a:rPr>
              <a:t>print(f"I have {readings} readings")</a:t>
            </a:r>
          </a:p>
          <a:p>
            <a:pPr algn="l">
              <a:lnSpc>
                <a:spcPts val="2064"/>
              </a:lnSpc>
              <a:spcAft>
                <a:spcPts val="0"/>
              </a:spcAft>
            </a:pPr>
            <a:r>
              <a:rPr sz="1518" b="0" i="0">
                <a:solidFill>
                  <a:srgbClr val="D8E3EC"/>
                </a:solidFill>
                <a:latin typeface="Courier New"/>
              </a:rPr>
              <a:t/>
            </a:r>
          </a:p>
          <a:p>
            <a:pPr algn="l">
              <a:lnSpc>
                <a:spcPts val="2064"/>
              </a:lnSpc>
              <a:spcAft>
                <a:spcPts val="0"/>
              </a:spcAft>
            </a:pPr>
            <a:r>
              <a:rPr sz="1518" b="0" i="0">
                <a:solidFill>
                  <a:srgbClr val="D8E3EC"/>
                </a:solidFill>
                <a:latin typeface="Courier New"/>
              </a:rPr>
              <a:t># Cell 3 - run THIS one three times and watch both numbers</a:t>
            </a:r>
          </a:p>
          <a:p>
            <a:pPr algn="l">
              <a:lnSpc>
                <a:spcPts val="2064"/>
              </a:lnSpc>
              <a:spcAft>
                <a:spcPts val="0"/>
              </a:spcAft>
            </a:pPr>
            <a:r>
              <a:rPr sz="1518" b="0" i="0">
                <a:solidFill>
                  <a:srgbClr val="D8E3EC"/>
                </a:solidFill>
                <a:latin typeface="Courier New"/>
              </a:rPr>
              <a:t>readings = readings + 5</a:t>
            </a:r>
          </a:p>
          <a:p>
            <a:pPr algn="l">
              <a:lnSpc>
                <a:spcPts val="2064"/>
              </a:lnSpc>
              <a:spcAft>
                <a:spcPts val="0"/>
              </a:spcAft>
            </a:pPr>
            <a:r>
              <a:rPr sz="1518" b="0" i="0">
                <a:solidFill>
                  <a:srgbClr val="D8E3EC"/>
                </a:solidFill>
                <a:latin typeface="Courier New"/>
              </a:rPr>
              <a:t>print(f"readings is now {readings}")</a:t>
            </a:r>
          </a:p>
        </p:txBody>
      </p:sp>
      <p:sp>
        <p:nvSpPr>
          <p:cNvPr id="7" name="Rounded Rectangle 6"/>
          <p:cNvSpPr/>
          <p:nvPr/>
        </p:nvSpPr>
        <p:spPr>
          <a:xfrm>
            <a:off x="685800" y="5343814"/>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TRY IT, THEN EXPLAIN</a:t>
            </a:r>
          </a:p>
        </p:txBody>
      </p:sp>
      <p:sp>
        <p:nvSpPr>
          <p:cNvPr id="8" name="TextBox 7"/>
          <p:cNvSpPr txBox="1"/>
          <p:nvPr/>
        </p:nvSpPr>
        <p:spPr>
          <a:xfrm>
            <a:off x="4297680" y="5352958"/>
            <a:ext cx="7208215" cy="1336856"/>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Run cell 3 three times and watch the number it prints. You have not changed a single character, so an unchanging cell giving a changing answer is worth explaining. Hold that thought — it is the whole of the block on execution order.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TROUBLESHOOTING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three things that go wrong in the first ten minutes</a:t>
            </a:r>
          </a:p>
        </p:txBody>
      </p:sp>
      <p:sp>
        <p:nvSpPr>
          <p:cNvPr id="4" name="TextBox 3"/>
          <p:cNvSpPr txBox="1"/>
          <p:nvPr/>
        </p:nvSpPr>
        <p:spPr>
          <a:xfrm>
            <a:off x="685800"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You pressed Enter instead of Shift and Enter</a:t>
            </a:r>
          </a:p>
        </p:txBody>
      </p:sp>
      <p:sp>
        <p:nvSpPr>
          <p:cNvPr id="5" name="TextBox 4"/>
          <p:cNvSpPr txBox="1"/>
          <p:nvPr/>
        </p:nvSpPr>
        <p:spPr>
          <a:xfrm>
            <a:off x="685800" y="2322358"/>
            <a:ext cx="5158587" cy="650731"/>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Enter gives you a new line inside the cell. Shift and Enter runs it. This catches almost everybody once.</a:t>
            </a:r>
          </a:p>
        </p:txBody>
      </p:sp>
      <p:sp>
        <p:nvSpPr>
          <p:cNvPr id="6" name="TextBox 5"/>
          <p:cNvSpPr txBox="1"/>
          <p:nvPr/>
        </p:nvSpPr>
        <p:spPr>
          <a:xfrm>
            <a:off x="685800" y="3201690"/>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Nothing appears underneath the cell</a:t>
            </a:r>
          </a:p>
        </p:txBody>
      </p:sp>
      <p:sp>
        <p:nvSpPr>
          <p:cNvPr id="7" name="TextBox 6"/>
          <p:cNvSpPr txBox="1"/>
          <p:nvPr/>
        </p:nvSpPr>
        <p:spPr>
          <a:xfrm>
            <a:off x="685800" y="3612952"/>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Either the cell has no print in it, or it has not finished running. A cell that is still running shows a spinning circle to its left instead of a number.</a:t>
            </a:r>
          </a:p>
        </p:txBody>
      </p:sp>
      <p:sp>
        <p:nvSpPr>
          <p:cNvPr id="8" name="TextBox 7"/>
          <p:cNvSpPr txBox="1"/>
          <p:nvPr/>
        </p:nvSpPr>
        <p:spPr>
          <a:xfrm>
            <a:off x="6347307" y="1911095"/>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Colab asks you to sign in, or to connect</a:t>
            </a:r>
          </a:p>
        </p:txBody>
      </p:sp>
      <p:sp>
        <p:nvSpPr>
          <p:cNvPr id="9" name="TextBox 8"/>
          <p:cNvSpPr txBox="1"/>
          <p:nvPr/>
        </p:nvSpPr>
        <p:spPr>
          <a:xfrm>
            <a:off x="6347307" y="2322358"/>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Sign in with your Google account. 'Connect' means Colab is allocating you a machine and takes a few seconds — it is normal and it is not an error.</a:t>
            </a:r>
          </a:p>
        </p:txBody>
      </p:sp>
      <p:sp>
        <p:nvSpPr>
          <p:cNvPr id="10" name="TextBox 9"/>
          <p:cNvSpPr txBox="1"/>
          <p:nvPr/>
        </p:nvSpPr>
        <p:spPr>
          <a:xfrm>
            <a:off x="6347307" y="3499624"/>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And one thing that is not a problem</a:t>
            </a:r>
          </a:p>
        </p:txBody>
      </p:sp>
      <p:sp>
        <p:nvSpPr>
          <p:cNvPr id="11" name="TextBox 10"/>
          <p:cNvSpPr txBox="1"/>
          <p:nvPr/>
        </p:nvSpPr>
        <p:spPr>
          <a:xfrm>
            <a:off x="6347307" y="3910886"/>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A warning in yellow is not an error. Errors are red and they stop the cell. Yellow means Python is telling you something and carrying on regardless.</a:t>
            </a:r>
          </a:p>
        </p:txBody>
      </p:sp>
      <p:sp>
        <p:nvSpPr>
          <p:cNvPr id="12" name="TextBox 11"/>
          <p:cNvSpPr txBox="1"/>
          <p:nvPr/>
        </p:nvSpPr>
        <p:spPr>
          <a:xfrm>
            <a:off x="6347307" y="5088152"/>
            <a:ext cx="5158587" cy="402118"/>
          </a:xfrm>
          <a:prstGeom prst="rect">
            <a:avLst/>
          </a:prstGeom>
          <a:noFill/>
        </p:spPr>
        <p:txBody>
          <a:bodyPr wrap="square" lIns="0" rIns="0" tIns="0" bIns="0" anchor="t">
            <a:spAutoFit/>
          </a:bodyPr>
          <a:lstStyle/>
          <a:p>
            <a:pPr algn="l">
              <a:lnSpc>
                <a:spcPct val="124000"/>
              </a:lnSpc>
              <a:spcAft>
                <a:spcPts val="600"/>
              </a:spcAft>
            </a:pPr>
            <a:r>
              <a:rPr sz="1769" b="1" i="0">
                <a:solidFill>
                  <a:srgbClr val="E4572E"/>
                </a:solidFill>
                <a:latin typeface="Calibri"/>
              </a:rPr>
              <a:t>If you are stuck for more than five minutes</a:t>
            </a:r>
          </a:p>
        </p:txBody>
      </p:sp>
      <p:sp>
        <p:nvSpPr>
          <p:cNvPr id="13" name="TextBox 12"/>
          <p:cNvSpPr txBox="1"/>
          <p:nvPr/>
        </p:nvSpPr>
        <p:spPr>
          <a:xfrm>
            <a:off x="6347307" y="5499414"/>
            <a:ext cx="5158587" cy="948665"/>
          </a:xfrm>
          <a:prstGeom prst="rect">
            <a:avLst/>
          </a:prstGeom>
          <a:noFill/>
        </p:spPr>
        <p:txBody>
          <a:bodyPr wrap="square" lIns="0" rIns="0" tIns="0" bIns="0" anchor="t">
            <a:spAutoFit/>
          </a:bodyPr>
          <a:lstStyle/>
          <a:p>
            <a:pPr algn="l">
              <a:lnSpc>
                <a:spcPct val="124000"/>
              </a:lnSpc>
              <a:spcAft>
                <a:spcPts val="600"/>
              </a:spcAft>
            </a:pPr>
            <a:r>
              <a:rPr sz="1518" b="0" i="0">
                <a:solidFill>
                  <a:srgbClr val="334657"/>
                </a:solidFill>
                <a:latin typeface="Calibri"/>
              </a:rPr>
              <a:t>Put your hand up. Do not sit quietly and do not restart your laptop hoping. Say three things: what you were trying to do, what you typed, and what it said back.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Markdown cell</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cell holding text rather than code. It is where you write down what you are doing and why, in among the code that does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heading saying 'Question 3: does fly ash change strength?', then the code that answers it, then a sentence saying what the answer was. Anyone reading it — including you in November — can follow the reasoning.</a:t>
            </a:r>
          </a:p>
        </p:txBody>
      </p:sp>
      <p:sp>
        <p:nvSpPr>
          <p:cNvPr id="8" name="Rounded Rectangle 7"/>
          <p:cNvSpPr/>
          <p:nvPr/>
        </p:nvSpPr>
        <p:spPr>
          <a:xfrm>
            <a:off x="685800" y="4636735"/>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18447"/>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comment. A comment explains one line to someone reading the code; a markdown cell explains the reasoning to someone reading the document.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Thirty seconds: check you are with me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press Enter at the end of a line in a code cell and nothing runs. Why?</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wrote print("hello") in a cell and ran it. Where does the word hello appear?</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neighbour's cell 3 says 27 and yours says 17. Neither of you has changed the code. Who is wrong?</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 Do not look yet.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Enter did nothing?</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Enter adds a new line inside the cell. Shift and Enter together runs it. This catches almost everybody once.</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Where does 'hello' appear?</a:t>
            </a:r>
          </a:p>
        </p:txBody>
      </p:sp>
      <p:sp>
        <p:nvSpPr>
          <p:cNvPr id="9" name="TextBox 8"/>
          <p:cNvSpPr txBox="1"/>
          <p:nvPr/>
        </p:nvSpPr>
        <p:spPr>
          <a:xfrm>
            <a:off x="1216152" y="33528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Directly underneath that cell, in the output area. Not in a separate window — a notebook keeps the code and its output together, which is the whole point of it.</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27 versus 17 — who is wrong?</a:t>
            </a:r>
          </a:p>
        </p:txBody>
      </p:sp>
      <p:sp>
        <p:nvSpPr>
          <p:cNvPr id="12" name="TextBox 11"/>
          <p:cNvSpPr txBox="1"/>
          <p:nvPr/>
        </p:nvSpPr>
        <p:spPr>
          <a:xfrm>
            <a:off x="1216152" y="4502090"/>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Neither. They have run the cell a different number of times. That is not a difference of opinion, it is a property of how notebooks work — and it is the subject of the execution-order block.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a notebook actually is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have used one for half an hour. Now here is what is underneath it, because the next segment depends on understanding this.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ANATOMY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anatomy of a notebook</a:t>
            </a:r>
          </a:p>
        </p:txBody>
      </p:sp>
      <p:pic>
        <p:nvPicPr>
          <p:cNvPr id="4" name="Picture 3" descr="notebook_anatomy.png"/>
          <p:cNvPicPr>
            <a:picLocks noChangeAspect="1"/>
          </p:cNvPicPr>
          <p:nvPr/>
        </p:nvPicPr>
        <p:blipFill>
          <a:blip r:embed="rId2"/>
          <a:stretch>
            <a:fillRect/>
          </a:stretch>
        </p:blipFill>
        <p:spPr>
          <a:xfrm>
            <a:off x="1584233" y="1911095"/>
            <a:ext cx="902322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Cells hold either text or code. Code cells produce output directly beneath them. The number in brackets counts how many pieces of code you have run since the notebook started. All the cells share one memory, called the kernel.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Cell, kernel, and the execution counter</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CELL is one block of text or code. The KERNEL is the single Python session that all cells share. The EXECUTION COUNTER is the number in brackets beside a code cell, showing the order in which things were actually run.</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If the cell at the top of your notebook shows [7] and the one below it shows [3], you ran them out of order — and any answer that depends on both is suspect.</a:t>
            </a:r>
          </a:p>
        </p:txBody>
      </p:sp>
      <p:sp>
        <p:nvSpPr>
          <p:cNvPr id="8" name="Rounded Rectangle 7"/>
          <p:cNvSpPr/>
          <p:nvPr/>
        </p:nvSpPr>
        <p:spPr>
          <a:xfrm>
            <a:off x="685800" y="4687522"/>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69234"/>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The order the cells appear on screen. That is a layout; the counter is the truth.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trap, and the habit that saves you</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most common way a notebook gives a confident wrong answer — and the one keystroke that prevents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EXECUTION TRAP</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same cell, run three times</a:t>
            </a:r>
          </a:p>
        </p:txBody>
      </p:sp>
      <p:pic>
        <p:nvPicPr>
          <p:cNvPr id="4" name="Picture 3" descr="execution_trap.png"/>
          <p:cNvPicPr>
            <a:picLocks noChangeAspect="1"/>
          </p:cNvPicPr>
          <p:nvPr/>
        </p:nvPicPr>
        <p:blipFill>
          <a:blip r:embed="rId2"/>
          <a:stretch>
            <a:fillRect/>
          </a:stretch>
        </p:blipFill>
        <p:spPr>
          <a:xfrm>
            <a:off x="920362" y="1911095"/>
            <a:ext cx="10350971"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The code never changed. Not one character. The answer went 17, then 22, then 27, because the cell adds five to whatever is already in the box and puts it back. Restart and Run All takes it back to 17.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notebook's cells show, top to bottom, the counters [4], [1], [5], [2]. What does that tell you, and would you trust its final answer?</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run Restart and Run All and the notebook now fails on cell 6 with an error, though it 'worked' five minutes ago. What was almost certainly true before you restarted?</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is Restart and Run All a better test than just re-running the one cell you changed?</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Counters [4], [1], [5], [2]?</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They were run out of order, so the kernel's memory does not match what the notebook looks like. Do not trust the final answer until you have restarted and run all.</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It fails after restarting?</a:t>
            </a:r>
          </a:p>
        </p:txBody>
      </p:sp>
      <p:sp>
        <p:nvSpPr>
          <p:cNvPr id="9" name="TextBox 8"/>
          <p:cNvSpPr txBox="1"/>
          <p:nvPr/>
        </p:nvSpPr>
        <p:spPr>
          <a:xfrm>
            <a:off x="1216152" y="3352897"/>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Cell 6 was depending on something created by a cell that has since been changed or deleted — or on a cell further down that you happened to run earlier. It never actually worked from a clean start; the kernel was just still holding the leftovers.</a:t>
            </a:r>
          </a:p>
        </p:txBody>
      </p:sp>
      <p:sp>
        <p:nvSpPr>
          <p:cNvPr id="10" name="Oval 9"/>
          <p:cNvSpPr/>
          <p:nvPr/>
        </p:nvSpPr>
        <p:spPr>
          <a:xfrm>
            <a:off x="685800" y="4592054"/>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555478"/>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Why restart rather than re-run one cell?</a:t>
            </a:r>
          </a:p>
        </p:txBody>
      </p:sp>
      <p:sp>
        <p:nvSpPr>
          <p:cNvPr id="12" name="TextBox 11"/>
          <p:cNvSpPr txBox="1"/>
          <p:nvPr/>
        </p:nvSpPr>
        <p:spPr>
          <a:xfrm>
            <a:off x="1216152" y="4848086"/>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Because re-running one cell keeps everything else the kernel is holding, including things that no longer exist anywhere in your code. Only a restart proves the notebook can produce its results from nothing but itself — which is what reproducibility means.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Diagnosing a notebook from its counters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 reasoning, step by step. A classmate says their notebook 'stopped working' and shows you this: the cells read, top to bottom, [2], [7], [3], and cell 4 is blank.</a:t>
            </a:r>
          </a:p>
        </p:txBody>
      </p:sp>
      <p:sp>
        <p:nvSpPr>
          <p:cNvPr id="5" name="Rounded Rectangle 4"/>
          <p:cNvSpPr/>
          <p:nvPr/>
        </p:nvSpPr>
        <p:spPr>
          <a:xfrm>
            <a:off x="685800" y="2732347"/>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Read the counters: 2, then 7, then 3. Not run top to bottom.</a:t>
            </a:r>
          </a:p>
        </p:txBody>
      </p:sp>
      <p:sp>
        <p:nvSpPr>
          <p:cNvPr id="8" name="Rounded Rectangle 7"/>
          <p:cNvSpPr/>
          <p:nvPr/>
        </p:nvSpPr>
        <p:spPr>
          <a:xfrm>
            <a:off x="685800" y="3258366"/>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31323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304086"/>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Cell 4 is blank, so it never ran. Anything needing it will fail.</a:t>
            </a:r>
          </a:p>
        </p:txBody>
      </p:sp>
      <p:sp>
        <p:nvSpPr>
          <p:cNvPr id="11" name="Rounded Rectangle 10"/>
          <p:cNvSpPr/>
          <p:nvPr/>
        </p:nvSpPr>
        <p:spPr>
          <a:xfrm>
            <a:off x="685800" y="3784385"/>
            <a:ext cx="10820095" cy="79600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8392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830105"/>
            <a:ext cx="9814255" cy="704566"/>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[7] before [3] means they jumped down and came back up. The kernel keeps the last write to each name.</a:t>
            </a:r>
          </a:p>
        </p:txBody>
      </p:sp>
      <p:sp>
        <p:nvSpPr>
          <p:cNvPr id="14" name="Rounded Rectangle 13"/>
          <p:cNvSpPr/>
          <p:nvPr/>
        </p:nvSpPr>
        <p:spPr>
          <a:xfrm>
            <a:off x="685800" y="4635255"/>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69011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680975"/>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The only useful question: does this notebook produce its results from nothing but itself?</a:t>
            </a:r>
          </a:p>
        </p:txBody>
      </p:sp>
      <p:sp>
        <p:nvSpPr>
          <p:cNvPr id="17" name="Rounded Rectangle 16"/>
          <p:cNvSpPr/>
          <p:nvPr/>
        </p:nvSpPr>
        <p:spPr>
          <a:xfrm>
            <a:off x="685800" y="5161274"/>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521613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5206994"/>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Restart and Run All. Whatever breaks now is a real problem you can fix.</a:t>
            </a:r>
          </a:p>
        </p:txBody>
      </p:sp>
      <p:sp>
        <p:nvSpPr>
          <p:cNvPr id="20" name="Rounded Rectangle 19"/>
          <p:cNvSpPr/>
          <p:nvPr/>
        </p:nvSpPr>
        <p:spPr>
          <a:xfrm>
            <a:off x="685800" y="5742157"/>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5879317"/>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The diagnosis is almost never 'the notebook is broken'. It is 'the notebook was never run in the order it is written in', and the fix is one menu item.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What version control gives you</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What Git records that a copy of a folder does not — and why this course submits everything through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VERSION CONTROL</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problem Git actually solves</a:t>
            </a:r>
          </a:p>
        </p:txBody>
      </p:sp>
      <p:sp>
        <p:nvSpPr>
          <p:cNvPr id="4" name="TextBox 3"/>
          <p:cNvSpPr txBox="1"/>
          <p:nvPr/>
        </p:nvSpPr>
        <p:spPr>
          <a:xfrm>
            <a:off x="685800"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a backup gives you</a:t>
            </a:r>
          </a:p>
        </p:txBody>
      </p:sp>
      <p:sp>
        <p:nvSpPr>
          <p:cNvPr id="5" name="TextBox 4"/>
          <p:cNvSpPr txBox="1"/>
          <p:nvPr/>
        </p:nvSpPr>
        <p:spPr>
          <a:xfrm>
            <a:off x="685800" y="2332633"/>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Yesterday's version of the file. One version, and only if you remembered.</a:t>
            </a:r>
          </a:p>
        </p:txBody>
      </p:sp>
      <p:sp>
        <p:nvSpPr>
          <p:cNvPr id="6" name="TextBox 5"/>
          <p:cNvSpPr txBox="1"/>
          <p:nvPr/>
        </p:nvSpPr>
        <p:spPr>
          <a:xfrm>
            <a:off x="685800" y="3237872"/>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you actually need, repeatedly</a:t>
            </a:r>
          </a:p>
        </p:txBody>
      </p:sp>
      <p:sp>
        <p:nvSpPr>
          <p:cNvPr id="7" name="TextBox 6"/>
          <p:cNvSpPr txBox="1"/>
          <p:nvPr/>
        </p:nvSpPr>
        <p:spPr>
          <a:xfrm>
            <a:off x="685800" y="3659410"/>
            <a:ext cx="5158587" cy="1298413"/>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Which lines changed between Tuesday and Thursday. Who changed them. Why — because a good message says why. And the ability to go back to the version that worked, without having kept a folder called 'final_v3_REAL_final'.</a:t>
            </a:r>
          </a:p>
        </p:txBody>
      </p:sp>
      <p:sp>
        <p:nvSpPr>
          <p:cNvPr id="8" name="TextBox 7"/>
          <p:cNvSpPr txBox="1"/>
          <p:nvPr/>
        </p:nvSpPr>
        <p:spPr>
          <a:xfrm>
            <a:off x="6347307" y="1911095"/>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What it gives a team of five</a:t>
            </a:r>
          </a:p>
        </p:txBody>
      </p:sp>
      <p:sp>
        <p:nvSpPr>
          <p:cNvPr id="9" name="TextBox 8"/>
          <p:cNvSpPr txBox="1"/>
          <p:nvPr/>
        </p:nvSpPr>
        <p:spPr>
          <a:xfrm>
            <a:off x="6347307" y="2332633"/>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Five people editing the same project without overwriting each other, and a record of who did which part.</a:t>
            </a:r>
          </a:p>
        </p:txBody>
      </p:sp>
      <p:sp>
        <p:nvSpPr>
          <p:cNvPr id="10" name="TextBox 9"/>
          <p:cNvSpPr txBox="1"/>
          <p:nvPr/>
        </p:nvSpPr>
        <p:spPr>
          <a:xfrm>
            <a:off x="6347307" y="3237872"/>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Which is why it is in this course at all</a:t>
            </a:r>
          </a:p>
        </p:txBody>
      </p:sp>
      <p:sp>
        <p:nvSpPr>
          <p:cNvPr id="11" name="TextBox 10"/>
          <p:cNvSpPr txBox="1"/>
          <p:nvPr/>
        </p:nvSpPr>
        <p:spPr>
          <a:xfrm>
            <a:off x="6347307" y="3659410"/>
            <a:ext cx="5158587" cy="1298413"/>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Sixty-five per cent of your mark is individual, and two of your assessments are team projects. The commit history is how a team mark becomes an individual one. It is not administrative — it is the evidence that you did your share.</a:t>
            </a:r>
          </a:p>
        </p:txBody>
      </p:sp>
      <p:sp>
        <p:nvSpPr>
          <p:cNvPr id="12" name="TextBox 11"/>
          <p:cNvSpPr txBox="1"/>
          <p:nvPr/>
        </p:nvSpPr>
        <p:spPr>
          <a:xfrm>
            <a:off x="6347307" y="5186424"/>
            <a:ext cx="5158587" cy="412393"/>
          </a:xfrm>
          <a:prstGeom prst="rect">
            <a:avLst/>
          </a:prstGeom>
          <a:noFill/>
        </p:spPr>
        <p:txBody>
          <a:bodyPr wrap="square" lIns="0" rIns="0" tIns="0" bIns="0" anchor="t">
            <a:spAutoFit/>
          </a:bodyPr>
          <a:lstStyle/>
          <a:p>
            <a:pPr algn="l">
              <a:lnSpc>
                <a:spcPct val="124000"/>
              </a:lnSpc>
              <a:spcAft>
                <a:spcPts val="600"/>
              </a:spcAft>
            </a:pPr>
            <a:r>
              <a:rPr sz="1821" b="1" i="0">
                <a:solidFill>
                  <a:srgbClr val="E4572E"/>
                </a:solidFill>
                <a:latin typeface="Calibri"/>
              </a:rPr>
              <a:t>And it is what industry uses</a:t>
            </a:r>
          </a:p>
        </p:txBody>
      </p:sp>
      <p:sp>
        <p:nvSpPr>
          <p:cNvPr id="13" name="TextBox 12"/>
          <p:cNvSpPr txBox="1"/>
          <p:nvPr/>
        </p:nvSpPr>
        <p:spPr>
          <a:xfrm>
            <a:off x="6347307" y="5607962"/>
            <a:ext cx="5158587" cy="676638"/>
          </a:xfrm>
          <a:prstGeom prst="rect">
            <a:avLst/>
          </a:prstGeom>
          <a:noFill/>
        </p:spPr>
        <p:txBody>
          <a:bodyPr wrap="square" lIns="0" rIns="0" tIns="0" bIns="0" anchor="t">
            <a:spAutoFit/>
          </a:bodyPr>
          <a:lstStyle/>
          <a:p>
            <a:pPr algn="l">
              <a:lnSpc>
                <a:spcPct val="124000"/>
              </a:lnSpc>
              <a:spcAft>
                <a:spcPts val="600"/>
              </a:spcAft>
            </a:pPr>
            <a:r>
              <a:rPr sz="1584" b="0" i="0">
                <a:solidFill>
                  <a:srgbClr val="334657"/>
                </a:solidFill>
                <a:latin typeface="Calibri"/>
              </a:rPr>
              <a:t>Many engineering software teams use version control. Today you practise the basic workflow.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FOUR STATES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four places your work can be</a:t>
            </a:r>
          </a:p>
        </p:txBody>
      </p:sp>
      <p:pic>
        <p:nvPicPr>
          <p:cNvPr id="4" name="Picture 3" descr="git_states.png"/>
          <p:cNvPicPr>
            <a:picLocks noChangeAspect="1"/>
          </p:cNvPicPr>
          <p:nvPr/>
        </p:nvPicPr>
        <p:blipFill>
          <a:blip r:embed="rId2"/>
          <a:stretch>
            <a:fillRect/>
          </a:stretch>
        </p:blipFill>
        <p:spPr>
          <a:xfrm>
            <a:off x="685800" y="1996544"/>
            <a:ext cx="10820095" cy="3843318"/>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Your files move left to right through four states, and one command moves them between each. git status tells you where things currently are — run it constantly until it becomes automatic.</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Repository, commit, and push</a:t>
            </a:r>
          </a:p>
        </p:txBody>
      </p:sp>
      <p:sp>
        <p:nvSpPr>
          <p:cNvPr id="4" name="Rounded Rectangle 3"/>
          <p:cNvSpPr/>
          <p:nvPr/>
        </p:nvSpPr>
        <p:spPr>
          <a:xfrm>
            <a:off x="685800" y="1854203"/>
            <a:ext cx="10820095" cy="1592685"/>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1245213"/>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REPOSITORY is a project folder whose entire history Git is tracking. A COMMIT is one recorded snapshot with a message saying what changed. To PUSH is to send your commits to GitHub so they exist somewhere other than your laptop.</a:t>
            </a:r>
          </a:p>
        </p:txBody>
      </p:sp>
      <p:sp>
        <p:nvSpPr>
          <p:cNvPr id="6" name="Rounded Rectangle 5"/>
          <p:cNvSpPr/>
          <p:nvPr/>
        </p:nvSpPr>
        <p:spPr>
          <a:xfrm>
            <a:off x="685800" y="3721209"/>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702921"/>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git commit -m "Add water/cement ratio column" records a snapshot with that message. Six weeks later that message is the only thing that tells you what you did.</a:t>
            </a:r>
          </a:p>
        </p:txBody>
      </p:sp>
      <p:sp>
        <p:nvSpPr>
          <p:cNvPr id="8" name="Rounded Rectangle 7"/>
          <p:cNvSpPr/>
          <p:nvPr/>
        </p:nvSpPr>
        <p:spPr>
          <a:xfrm>
            <a:off x="685800" y="4687522"/>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669234"/>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Saving. Saving overwrites; committing adds a version and keeps every earlier one.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Doing it: repository, commit, push</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Whole room in lockstep. Everyone finishes with a live repository URL and keeps a downloaded notebook and README for A2.</a:t>
            </a:r>
          </a:p>
        </p:txBody>
      </p:sp>
    </p:spTree>
  </p:cSld>
  <p:clrMapOvr>
    <a:masterClrMapping/>
  </p:clrMapOvr>
</p:sld>
</file>

<file path=ppt/slides/slide30.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From Colab to GitHub</a:t>
            </a:r>
          </a:p>
        </p:txBody>
      </p:sp>
      <p:sp>
        <p:nvSpPr>
          <p:cNvPr id="4" name="Rounded Rectangle 3"/>
          <p:cNvSpPr/>
          <p:nvPr/>
        </p:nvSpPr>
        <p:spPr>
          <a:xfrm>
            <a:off x="7084588" y="512064"/>
            <a:ext cx="4421306"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GITHUB: UPLOAD AND COMMIT</a:t>
            </a:r>
          </a:p>
        </p:txBody>
      </p:sp>
      <p:sp>
        <p:nvSpPr>
          <p:cNvPr id="5" name="Rectangle 4"/>
          <p:cNvSpPr/>
          <p:nvPr/>
        </p:nvSpPr>
        <p:spPr>
          <a:xfrm>
            <a:off x="685800" y="1911095"/>
            <a:ext cx="10820095" cy="3464052"/>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171444"/>
          </a:xfrm>
          <a:prstGeom prst="rect">
            <a:avLst/>
          </a:prstGeom>
          <a:noFill/>
        </p:spPr>
        <p:txBody>
          <a:bodyPr wrap="square" lIns="0" rIns="0" tIns="0" bIns="0" anchor="t">
            <a:spAutoFit/>
          </a:bodyPr>
          <a:lstStyle/>
          <a:p>
            <a:pPr algn="l">
              <a:lnSpc>
                <a:spcPts val="2244"/>
              </a:lnSpc>
              <a:spcAft>
                <a:spcPts val="0"/>
              </a:spcAft>
            </a:pPr>
            <a:r>
              <a:rPr sz="1650" b="0" i="0">
                <a:solidFill>
                  <a:srgbClr val="D8E3EC"/>
                </a:solidFill>
                <a:latin typeface="Courier New"/>
              </a:rPr>
              <a:t># Browser route used today:</a:t>
            </a:r>
          </a:p>
          <a:p>
            <a:pPr algn="l">
              <a:lnSpc>
                <a:spcPts val="2244"/>
              </a:lnSpc>
              <a:spcAft>
                <a:spcPts val="0"/>
              </a:spcAft>
            </a:pPr>
            <a:r>
              <a:rPr sz="1650" b="0" i="0">
                <a:solidFill>
                  <a:srgbClr val="D8E3EC"/>
                </a:solidFill>
                <a:latin typeface="Courier New"/>
              </a:rPr>
              <a:t>#   Colab: download your completed .ipynb</a:t>
            </a:r>
          </a:p>
          <a:p>
            <a:pPr algn="l">
              <a:lnSpc>
                <a:spcPts val="2244"/>
              </a:lnSpc>
              <a:spcAft>
                <a:spcPts val="0"/>
              </a:spcAft>
            </a:pPr>
            <a:r>
              <a:rPr sz="1650" b="0" i="0">
                <a:solidFill>
                  <a:srgbClr val="D8E3EC"/>
                </a:solidFill>
                <a:latin typeface="Courier New"/>
              </a:rPr>
              <a:t>#   GitHub: create a private repo with README</a:t>
            </a:r>
          </a:p>
          <a:p>
            <a:pPr algn="l">
              <a:lnSpc>
                <a:spcPts val="2244"/>
              </a:lnSpc>
              <a:spcAft>
                <a:spcPts val="0"/>
              </a:spcAft>
            </a:pPr>
            <a:r>
              <a:rPr sz="1650" b="0" i="0">
                <a:solidFill>
                  <a:srgbClr val="D8E3EC"/>
                </a:solidFill>
                <a:latin typeface="Courier New"/>
              </a:rPr>
              <a:t>#   Add file -&gt; Upload files: notebook and CSV</a:t>
            </a:r>
          </a:p>
          <a:p>
            <a:pPr algn="l">
              <a:lnSpc>
                <a:spcPts val="2244"/>
              </a:lnSpc>
              <a:spcAft>
                <a:spcPts val="0"/>
              </a:spcAft>
            </a:pPr>
            <a:r>
              <a:rPr sz="1650" b="0" i="0">
                <a:solidFill>
                  <a:srgbClr val="D8E3EC"/>
                </a:solidFill>
                <a:latin typeface="Courier New"/>
              </a:rPr>
              <a:t>#   Commit changes, then edit your README</a:t>
            </a:r>
          </a:p>
          <a:p>
            <a:pPr algn="l">
              <a:lnSpc>
                <a:spcPts val="2244"/>
              </a:lnSpc>
              <a:spcAft>
                <a:spcPts val="0"/>
              </a:spcAft>
            </a:pPr>
            <a:r>
              <a:rPr sz="1650" b="0" i="0">
                <a:solidFill>
                  <a:srgbClr val="D8E3EC"/>
                </a:solidFill>
                <a:latin typeface="Courier New"/>
              </a:rPr>
              <a:t/>
            </a:r>
          </a:p>
          <a:p>
            <a:pPr algn="l">
              <a:lnSpc>
                <a:spcPts val="2244"/>
              </a:lnSpc>
              <a:spcAft>
                <a:spcPts val="0"/>
              </a:spcAft>
            </a:pPr>
            <a:r>
              <a:rPr sz="1650" b="0" i="0">
                <a:solidFill>
                  <a:srgbClr val="D8E3EC"/>
                </a:solidFill>
                <a:latin typeface="Courier New"/>
              </a:rPr>
              <a:t># The command route, for when you work locally later:</a:t>
            </a:r>
          </a:p>
          <a:p>
            <a:pPr algn="l">
              <a:lnSpc>
                <a:spcPts val="2244"/>
              </a:lnSpc>
              <a:spcAft>
                <a:spcPts val="0"/>
              </a:spcAft>
            </a:pPr>
            <a:r>
              <a:rPr sz="1650" b="0" i="0">
                <a:solidFill>
                  <a:srgbClr val="D8E3EC"/>
                </a:solidFill>
                <a:latin typeface="Courier New"/>
              </a:rPr>
              <a:t>git status                     # what have I changed?</a:t>
            </a:r>
          </a:p>
          <a:p>
            <a:pPr algn="l">
              <a:lnSpc>
                <a:spcPts val="2244"/>
              </a:lnSpc>
              <a:spcAft>
                <a:spcPts val="0"/>
              </a:spcAft>
            </a:pPr>
            <a:r>
              <a:rPr sz="1650" b="0" i="0">
                <a:solidFill>
                  <a:srgbClr val="D8E3EC"/>
                </a:solidFill>
                <a:latin typeface="Courier New"/>
              </a:rPr>
              <a:t>git add .                      # mark it all ready</a:t>
            </a:r>
          </a:p>
          <a:p>
            <a:pPr algn="l">
              <a:lnSpc>
                <a:spcPts val="2244"/>
              </a:lnSpc>
              <a:spcAft>
                <a:spcPts val="0"/>
              </a:spcAft>
            </a:pPr>
            <a:r>
              <a:rPr sz="1650" b="0" i="0">
                <a:solidFill>
                  <a:srgbClr val="D8E3EC"/>
                </a:solidFill>
                <a:latin typeface="Courier New"/>
              </a:rPr>
              <a:t>git commit -m "First commit"   # record it, with a message</a:t>
            </a:r>
          </a:p>
          <a:p>
            <a:pPr algn="l">
              <a:lnSpc>
                <a:spcPts val="2244"/>
              </a:lnSpc>
              <a:spcAft>
                <a:spcPts val="0"/>
              </a:spcAft>
            </a:pPr>
            <a:r>
              <a:rPr sz="1650" b="0" i="0">
                <a:solidFill>
                  <a:srgbClr val="D8E3EC"/>
                </a:solidFill>
                <a:latin typeface="Courier New"/>
              </a:rPr>
              <a:t>git push                       # send it to GitHub</a:t>
            </a:r>
          </a:p>
        </p:txBody>
      </p:sp>
      <p:sp>
        <p:nvSpPr>
          <p:cNvPr id="7" name="Rounded Rectangle 6"/>
          <p:cNvSpPr/>
          <p:nvPr/>
        </p:nvSpPr>
        <p:spPr>
          <a:xfrm>
            <a:off x="685800" y="5594604"/>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TRY IT, THEN EXPLAIN</a:t>
            </a:r>
          </a:p>
        </p:txBody>
      </p:sp>
      <p:sp>
        <p:nvSpPr>
          <p:cNvPr id="8" name="TextBox 7"/>
          <p:cNvSpPr txBox="1"/>
          <p:nvPr/>
        </p:nvSpPr>
        <p:spPr>
          <a:xfrm>
            <a:off x="4297680" y="5603748"/>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Use GitHub in the browser today: upload your files and commit the changes. The commands above are optional local-terminal reference, not Python cells.</a:t>
            </a:r>
          </a:p>
        </p:txBody>
      </p:sp>
    </p:spTree>
  </p:cSld>
  <p:clrMapOvr>
    <a:masterClrMapping/>
  </p:clrMapOvr>
</p:sld>
</file>

<file path=ppt/slides/slide31.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YOU OWE ME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Assignment A2 — Proof of Life</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Due at the start of Week 3</a:t>
            </a:r>
          </a:p>
        </p:txBody>
      </p:sp>
      <p:sp>
        <p:nvSpPr>
          <p:cNvPr id="5" name="TextBox 4"/>
          <p:cNvSpPr txBox="1"/>
          <p:nvPr/>
        </p:nvSpPr>
        <p:spPr>
          <a:xfrm>
            <a:off x="685800" y="2409332"/>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Submit the notebook, README.md and repository URL through the A2 form.</a:t>
            </a:r>
          </a:p>
        </p:txBody>
      </p:sp>
      <p:sp>
        <p:nvSpPr>
          <p:cNvPr id="6" name="TextBox 5"/>
          <p:cNvSpPr txBox="1"/>
          <p:nvPr/>
        </p:nvSpPr>
        <p:spPr>
          <a:xfrm>
            <a:off x="685800" y="3230742"/>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Keep the CSV in your repository. Upload only your notebook and README.md.</a:t>
            </a:r>
          </a:p>
        </p:txBody>
      </p:sp>
      <p:sp>
        <p:nvSpPr>
          <p:cNvPr id="7" name="TextBox 6"/>
          <p:cNvSpPr txBox="1"/>
          <p:nvPr/>
        </p:nvSpPr>
        <p:spPr>
          <a:xfrm>
            <a:off x="685800" y="4412565"/>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Explain what changed when you repeated a cell, and what Restart and Run All does. Record one error you repaired.</a:t>
            </a:r>
          </a:p>
        </p:txBody>
      </p:sp>
      <p:sp>
        <p:nvSpPr>
          <p:cNvPr id="8" name="Rounded Rectangle 7"/>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Before you submit</a:t>
            </a:r>
          </a:p>
        </p:txBody>
      </p:sp>
      <p:sp>
        <p:nvSpPr>
          <p:cNvPr id="10" name="TextBox 9"/>
          <p:cNvSpPr txBox="1"/>
          <p:nvPr/>
        </p:nvSpPr>
        <p:spPr>
          <a:xfrm>
            <a:off x="6575907" y="2496312"/>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Restart and Run All.</a:t>
            </a:r>
          </a:p>
        </p:txBody>
      </p:sp>
      <p:sp>
        <p:nvSpPr>
          <p:cNvPr id="11" name="TextBox 10"/>
          <p:cNvSpPr txBox="1"/>
          <p:nvPr/>
        </p:nvSpPr>
        <p:spPr>
          <a:xfrm>
            <a:off x="6575907" y="2897385"/>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It must finish with no errors.</a:t>
            </a:r>
          </a:p>
        </p:txBody>
      </p:sp>
      <p:sp>
        <p:nvSpPr>
          <p:cNvPr id="12" name="TextBox 11"/>
          <p:cNvSpPr txBox="1"/>
          <p:nvPr/>
        </p:nvSpPr>
        <p:spPr>
          <a:xfrm>
            <a:off x="6575907" y="3426475"/>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Save with the outputs showing.</a:t>
            </a:r>
          </a:p>
        </p:txBody>
      </p:sp>
      <p:sp>
        <p:nvSpPr>
          <p:cNvPr id="13" name="TextBox 12"/>
          <p:cNvSpPr txBox="1"/>
          <p:nvPr/>
        </p:nvSpPr>
        <p:spPr>
          <a:xfrm>
            <a:off x="6575907" y="395556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Use a private repository, e.g. cml3112-practice. Paste its URL into the A2 form.</a:t>
            </a:r>
          </a:p>
        </p:txBody>
      </p:sp>
      <p:sp>
        <p:nvSpPr>
          <p:cNvPr id="14" name="TextBox 13"/>
          <p:cNvSpPr txBox="1"/>
          <p:nvPr/>
        </p:nvSpPr>
        <p:spPr>
          <a:xfrm>
            <a:off x="6575907" y="4794289"/>
            <a:ext cx="4655667" cy="355353"/>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20 marks using the published rubric.</a:t>
            </a:r>
          </a:p>
        </p:txBody>
      </p:sp>
    </p:spTree>
  </p:cSld>
  <p:clrMapOvr>
    <a:masterClrMapping/>
  </p:clrMapOvr>
</p:sld>
</file>

<file path=ppt/slides/slide32.xml><?xml version="1.0" encoding="utf-8"?>
<p:sld xmlns:a="http://schemas.openxmlformats.org/drawingml/2006/main" xmlns:p="http://schemas.openxmlformats.org/presentationml/2006/main">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README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makes a README worth reading</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It is the front door of your repository</a:t>
            </a:r>
          </a:p>
        </p:txBody>
      </p:sp>
      <p:sp>
        <p:nvSpPr>
          <p:cNvPr id="5" name="TextBox 4"/>
          <p:cNvSpPr txBox="1"/>
          <p:nvPr/>
        </p:nvSpPr>
        <p:spPr>
          <a:xfrm>
            <a:off x="685800" y="235262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It is the first thing a marker, a colleague or a future employer sees. An empty one says the work was not finished even when it was.</a:t>
            </a:r>
          </a:p>
        </p:txBody>
      </p:sp>
      <p:sp>
        <p:nvSpPr>
          <p:cNvPr id="6" name="TextBox 5"/>
          <p:cNvSpPr txBox="1"/>
          <p:nvPr/>
        </p:nvSpPr>
        <p:spPr>
          <a:xfrm>
            <a:off x="685800" y="3646478"/>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Four things, for A2</a:t>
            </a:r>
          </a:p>
        </p:txBody>
      </p:sp>
      <p:sp>
        <p:nvSpPr>
          <p:cNvPr id="7" name="TextBox 6"/>
          <p:cNvSpPr txBox="1"/>
          <p:nvPr/>
        </p:nvSpPr>
        <p:spPr>
          <a:xfrm>
            <a:off x="685800" y="4088012"/>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Your course code and program; keep personal identifiers in the submission form.</a:t>
            </a:r>
          </a:p>
        </p:txBody>
      </p:sp>
      <p:sp>
        <p:nvSpPr>
          <p:cNvPr id="8" name="TextBox 7"/>
          <p:cNvSpPr txBox="1"/>
          <p:nvPr/>
        </p:nvSpPr>
        <p:spPr>
          <a:xfrm>
            <a:off x="685800" y="4898761"/>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exact notebook and CSV filenames in your repository.</a:t>
            </a:r>
          </a:p>
        </p:txBody>
      </p:sp>
      <p:sp>
        <p:nvSpPr>
          <p:cNvPr id="9" name="TextBox 8"/>
          <p:cNvSpPr txBox="1"/>
          <p:nvPr/>
        </p:nvSpPr>
        <p:spPr>
          <a:xfrm>
            <a:off x="685800" y="5709511"/>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How to open the notebook, upload the CSV and run cells from the top.</a:t>
            </a:r>
          </a:p>
        </p:txBody>
      </p:sp>
      <p:sp>
        <p:nvSpPr>
          <p:cNvPr id="10" name="TextBox 9"/>
          <p:cNvSpPr txBox="1"/>
          <p:nvPr/>
        </p:nvSpPr>
        <p:spPr>
          <a:xfrm>
            <a:off x="6347307" y="1911095"/>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How to restart, Run all, save and download the finished notebook.</a:t>
            </a:r>
          </a:p>
        </p:txBody>
      </p:sp>
      <p:sp>
        <p:nvSpPr>
          <p:cNvPr id="11" name="TextBox 10"/>
          <p:cNvSpPr txBox="1"/>
          <p:nvPr/>
        </p:nvSpPr>
        <p:spPr>
          <a:xfrm>
            <a:off x="6347307" y="2868149"/>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Keep the README practical</a:t>
            </a:r>
          </a:p>
        </p:txBody>
      </p:sp>
      <p:sp>
        <p:nvSpPr>
          <p:cNvPr id="12" name="TextBox 11"/>
          <p:cNvSpPr txBox="1"/>
          <p:nvPr/>
        </p:nvSpPr>
        <p:spPr>
          <a:xfrm>
            <a:off x="6347307" y="3309683"/>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Keep it short, but include the file list and run instructions. A new reader should be able to repeat your steps.</a:t>
            </a:r>
          </a:p>
        </p:txBody>
      </p:sp>
      <p:sp>
        <p:nvSpPr>
          <p:cNvPr id="13" name="TextBox 12"/>
          <p:cNvSpPr txBox="1"/>
          <p:nvPr/>
        </p:nvSpPr>
        <p:spPr>
          <a:xfrm>
            <a:off x="6347307" y="4603531"/>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Why the run instructions matter</a:t>
            </a:r>
          </a:p>
        </p:txBody>
      </p:sp>
      <p:sp>
        <p:nvSpPr>
          <p:cNvPr id="14" name="TextBox 13"/>
          <p:cNvSpPr txBox="1"/>
          <p:nvPr/>
        </p:nvSpPr>
        <p:spPr>
          <a:xfrm>
            <a:off x="6347307" y="5045065"/>
            <a:ext cx="5158587" cy="1402042"/>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A new reader should be able to open your files and reproduce the result. Test your README instructions before submitting.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Break and Fix</a:t>
            </a:r>
          </a:p>
        </p:txBody>
      </p:sp>
      <p:sp>
        <p:nvSpPr>
          <p:cNvPr id="4" name="Rounded Rectangle 3"/>
          <p:cNvSpPr/>
          <p:nvPr/>
        </p:nvSpPr>
        <p:spPr>
          <a:xfrm>
            <a:off x="685800" y="1911095"/>
            <a:ext cx="10820095" cy="1997770"/>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1632010"/>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Four notebooks are shared with you. Every one is broken. In your team, diagnose each and write the cause in ONE sentence.</a:t>
            </a:r>
          </a:p>
          <a:p>
            <a:pPr algn="l">
              <a:lnSpc>
                <a:spcPct val="125000"/>
              </a:lnSpc>
              <a:spcAft>
                <a:spcPts val="600"/>
              </a:spcAft>
            </a:pPr>
            <a:r>
              <a:rPr sz="1923" b="0" i="0">
                <a:solidFill>
                  <a:srgbClr val="1C3144"/>
                </a:solidFill>
                <a:latin typeface="Calibri"/>
              </a:rPr>
              <a:t>Three of them throw an error. One does not — it runs cleanly and gives a wrong answer. That fourth one is the one that matters.</a:t>
            </a:r>
          </a:p>
        </p:txBody>
      </p:sp>
      <p:sp>
        <p:nvSpPr>
          <p:cNvPr id="6" name="TextBox 5"/>
          <p:cNvSpPr txBox="1"/>
          <p:nvPr/>
        </p:nvSpPr>
        <p:spPr>
          <a:xfrm>
            <a:off x="685800" y="418318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465867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does the LAST line of the error say?</a:t>
            </a:r>
          </a:p>
        </p:txBody>
      </p:sp>
      <p:sp>
        <p:nvSpPr>
          <p:cNvPr id="8" name="TextBox 7"/>
          <p:cNvSpPr txBox="1"/>
          <p:nvPr/>
        </p:nvSpPr>
        <p:spPr>
          <a:xfrm>
            <a:off x="685800" y="513561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was it looking for?</a:t>
            </a:r>
          </a:p>
        </p:txBody>
      </p:sp>
      <p:sp>
        <p:nvSpPr>
          <p:cNvPr id="9" name="TextBox 8"/>
          <p:cNvSpPr txBox="1"/>
          <p:nvPr/>
        </p:nvSpPr>
        <p:spPr>
          <a:xfrm>
            <a:off x="685800" y="561255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Where did it look?</a:t>
            </a:r>
          </a:p>
        </p:txBody>
      </p:sp>
      <p:sp>
        <p:nvSpPr>
          <p:cNvPr id="10" name="TextBox 9"/>
          <p:cNvSpPr txBox="1"/>
          <p:nvPr/>
        </p:nvSpPr>
        <p:spPr>
          <a:xfrm>
            <a:off x="6278727" y="4658674"/>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Which cells ran, and in what order?</a:t>
            </a:r>
          </a:p>
        </p:txBody>
      </p:sp>
      <p:sp>
        <p:nvSpPr>
          <p:cNvPr id="11" name="TextBox 10"/>
          <p:cNvSpPr txBox="1"/>
          <p:nvPr/>
        </p:nvSpPr>
        <p:spPr>
          <a:xfrm>
            <a:off x="6278727" y="513561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Is the answer even plausible?</a:t>
            </a:r>
          </a:p>
        </p:txBody>
      </p:sp>
      <p:sp>
        <p:nvSpPr>
          <p:cNvPr id="12" name="TextBox 11"/>
          <p:cNvSpPr txBox="1"/>
          <p:nvPr/>
        </p:nvSpPr>
        <p:spPr>
          <a:xfrm>
            <a:off x="6278727" y="5612558"/>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How would you have caught this yourself?</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QUIZ AND 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you leave the room</a:t>
            </a:r>
          </a:p>
        </p:txBody>
      </p:sp>
      <p:sp>
        <p:nvSpPr>
          <p:cNvPr id="4" name="Rounded Rectangle 3"/>
          <p:cNvSpPr/>
          <p:nvPr/>
        </p:nvSpPr>
        <p:spPr>
          <a:xfrm>
            <a:off x="685800" y="1911095"/>
            <a:ext cx="10820095" cy="2228649"/>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42416" y="293398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554480" y="2029967"/>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This week's quiz — five minutes, and it counts for one per cent</a:t>
            </a:r>
          </a:p>
        </p:txBody>
      </p:sp>
      <p:sp>
        <p:nvSpPr>
          <p:cNvPr id="7" name="TextBox 6"/>
          <p:cNvSpPr txBox="1"/>
          <p:nvPr/>
        </p:nvSpPr>
        <p:spPr>
          <a:xfrm>
            <a:off x="1554480" y="2423159"/>
            <a:ext cx="9631375" cy="1625145"/>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A QR code goes up, you answer five questions on your phone, and you see your score after submission. The questions check notebook state, version control and error diagnosis.</a:t>
            </a:r>
          </a:p>
        </p:txBody>
      </p:sp>
      <p:sp>
        <p:nvSpPr>
          <p:cNvPr id="8" name="Rounded Rectangle 7"/>
          <p:cNvSpPr/>
          <p:nvPr/>
        </p:nvSpPr>
        <p:spPr>
          <a:xfrm>
            <a:off x="685800" y="4377489"/>
            <a:ext cx="10820095" cy="1913582"/>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42416" y="524284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554480" y="4496361"/>
            <a:ext cx="9631375" cy="475488"/>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A2 — due at the start of Week 3</a:t>
            </a:r>
          </a:p>
        </p:txBody>
      </p:sp>
      <p:sp>
        <p:nvSpPr>
          <p:cNvPr id="11" name="TextBox 10"/>
          <p:cNvSpPr txBox="1"/>
          <p:nvPr/>
        </p:nvSpPr>
        <p:spPr>
          <a:xfrm>
            <a:off x="1554480" y="4889553"/>
            <a:ext cx="9631375" cy="1310078"/>
          </a:xfrm>
          <a:prstGeom prst="rect">
            <a:avLst/>
          </a:prstGeom>
          <a:noFill/>
        </p:spPr>
        <p:txBody>
          <a:bodyPr wrap="square" lIns="0" rIns="0" tIns="0" bIns="0" anchor="t">
            <a:spAutoFit/>
          </a:bodyPr>
          <a:lstStyle/>
          <a:p>
            <a:pPr algn="l">
              <a:lnSpc>
                <a:spcPct val="116000"/>
              </a:lnSpc>
              <a:spcAft>
                <a:spcPts val="600"/>
              </a:spcAft>
            </a:pPr>
            <a:r>
              <a:rPr sz="1716" b="0" i="0">
                <a:solidFill>
                  <a:srgbClr val="3C4E5E"/>
                </a:solidFill>
                <a:latin typeface="Calibri"/>
              </a:rPr>
              <a:t>Upload the notebook and README, and provide the repository URL. Restart and Run All first.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from here is for you to study from — summary, self-test with answers, glossary and a one-page reference.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Google Colab runs Python in your browser on Google's computers. Nothing is installed on your machine, and it needs an internet connection.</a:t>
            </a:r>
          </a:p>
        </p:txBody>
      </p:sp>
      <p:sp>
        <p:nvSpPr>
          <p:cNvPr id="6" name="Oval 5"/>
          <p:cNvSpPr/>
          <p:nvPr/>
        </p:nvSpPr>
        <p:spPr>
          <a:xfrm>
            <a:off x="685800" y="266383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608974"/>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 notebook is made of cells. Code cells produce output beneath them; the number in brackets shows the order things were actually run.</a:t>
            </a:r>
          </a:p>
        </p:txBody>
      </p:sp>
      <p:sp>
        <p:nvSpPr>
          <p:cNvPr id="8" name="Oval 7"/>
          <p:cNvSpPr/>
          <p:nvPr/>
        </p:nvSpPr>
        <p:spPr>
          <a:xfrm>
            <a:off x="685800" y="336171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306852"/>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All cells share one kernel — a single Python session. That is why a variable made in one cell exists in another, and why order matters.</a:t>
            </a:r>
          </a:p>
        </p:txBody>
      </p:sp>
      <p:sp>
        <p:nvSpPr>
          <p:cNvPr id="10" name="Oval 9"/>
          <p:cNvSpPr/>
          <p:nvPr/>
        </p:nvSpPr>
        <p:spPr>
          <a:xfrm>
            <a:off x="685800" y="405959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4004731"/>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Running the same cell twice is not the same as running it once. Restart and Run All is the only honest test of a notebook.</a:t>
            </a:r>
          </a:p>
        </p:txBody>
      </p:sp>
      <p:sp>
        <p:nvSpPr>
          <p:cNvPr id="12" name="Oval 11"/>
          <p:cNvSpPr/>
          <p:nvPr/>
        </p:nvSpPr>
        <p:spPr>
          <a:xfrm>
            <a:off x="685800" y="448168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426822"/>
            <a:ext cx="10271455" cy="376371"/>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Git records every version, what changed, and who changed it. A backup gives you yesterday's file; Git gives you the history.</a:t>
            </a:r>
          </a:p>
        </p:txBody>
      </p:sp>
      <p:sp>
        <p:nvSpPr>
          <p:cNvPr id="14" name="Oval 13"/>
          <p:cNvSpPr/>
          <p:nvPr/>
        </p:nvSpPr>
        <p:spPr>
          <a:xfrm>
            <a:off x="685800" y="4903777"/>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848913"/>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Four states, four commands: working directory, git add, staging, git commit, local repository, git push, GitHub. git status tells you where you are.</a:t>
            </a:r>
          </a:p>
        </p:txBody>
      </p:sp>
      <p:sp>
        <p:nvSpPr>
          <p:cNvPr id="16" name="Oval 15"/>
          <p:cNvSpPr/>
          <p:nvPr/>
        </p:nvSpPr>
        <p:spPr>
          <a:xfrm>
            <a:off x="685800" y="5601656"/>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546792"/>
            <a:ext cx="10271455" cy="652158"/>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Three of today's four broken notebooks announced their problem. The fourth did not, and that is the kind you have to catch yourself.</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classmate says their notebook 'worked yesterday' but fails today. What is the first thing you would ask them to do, and why?</a:t>
            </a:r>
          </a:p>
        </p:txBody>
      </p:sp>
      <p:sp>
        <p:nvSpPr>
          <p:cNvPr id="6" name="Oval 5"/>
          <p:cNvSpPr/>
          <p:nvPr/>
        </p:nvSpPr>
        <p:spPr>
          <a:xfrm>
            <a:off x="685800" y="284207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80549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What does the number in brackets beside a code cell tell you that the cell's position on the page does not?</a:t>
            </a:r>
          </a:p>
        </p:txBody>
      </p:sp>
      <p:sp>
        <p:nvSpPr>
          <p:cNvPr id="8" name="Oval 7"/>
          <p:cNvSpPr/>
          <p:nvPr/>
        </p:nvSpPr>
        <p:spPr>
          <a:xfrm>
            <a:off x="685800" y="373647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69990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changed five files but only want to record two of them. Which Git command lets you choose, and which state do the two files move into?</a:t>
            </a:r>
          </a:p>
        </p:txBody>
      </p:sp>
      <p:sp>
        <p:nvSpPr>
          <p:cNvPr id="10" name="Oval 9"/>
          <p:cNvSpPr/>
          <p:nvPr/>
        </p:nvSpPr>
        <p:spPr>
          <a:xfrm>
            <a:off x="685800" y="463088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459430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does this course submit work through GitHub rather than by email?</a:t>
            </a:r>
          </a:p>
        </p:txBody>
      </p:sp>
      <p:sp>
        <p:nvSpPr>
          <p:cNvPr id="12" name="Oval 11"/>
          <p:cNvSpPr/>
          <p:nvPr/>
        </p:nvSpPr>
        <p:spPr>
          <a:xfrm>
            <a:off x="685800" y="516952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5132946"/>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Colab needs an internet connection. Given that, how are the Week 7 and Week 14 practical tests run, and why?</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518" b="1" i="0">
                <a:solidFill>
                  <a:srgbClr val="6B7A8A"/>
                </a:solidFill>
                <a:latin typeface="Calibri"/>
              </a:rPr>
              <a:t>'It worked yesterday'?</a:t>
            </a:r>
          </a:p>
        </p:txBody>
      </p:sp>
      <p:sp>
        <p:nvSpPr>
          <p:cNvPr id="6" name="TextBox 5"/>
          <p:cNvSpPr txBox="1"/>
          <p:nvPr/>
        </p:nvSpPr>
        <p:spPr>
          <a:xfrm>
            <a:off x="1216152" y="2203703"/>
            <a:ext cx="4614519" cy="992985"/>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Restart and Run All. Almost always the kernel was holding something from a cell that has since changed or been deleted, so it never really worked from a clean start.</a:t>
            </a:r>
          </a:p>
        </p:txBody>
      </p:sp>
      <p:sp>
        <p:nvSpPr>
          <p:cNvPr id="7" name="Oval 6"/>
          <p:cNvSpPr/>
          <p:nvPr/>
        </p:nvSpPr>
        <p:spPr>
          <a:xfrm>
            <a:off x="685800" y="326984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233265"/>
            <a:ext cx="4614519" cy="274320"/>
          </a:xfrm>
          <a:prstGeom prst="rect">
            <a:avLst/>
          </a:prstGeom>
          <a:noFill/>
        </p:spPr>
        <p:txBody>
          <a:bodyPr wrap="square" lIns="0" rIns="0" tIns="0" bIns="0" anchor="t">
            <a:spAutoFit/>
          </a:bodyPr>
          <a:lstStyle/>
          <a:p>
            <a:pPr algn="l">
              <a:spcAft>
                <a:spcPts val="600"/>
              </a:spcAft>
            </a:pPr>
            <a:r>
              <a:rPr sz="1518" b="1" i="0">
                <a:solidFill>
                  <a:srgbClr val="6B7A8A"/>
                </a:solidFill>
                <a:latin typeface="Calibri"/>
              </a:rPr>
              <a:t>What the counter tells you?</a:t>
            </a:r>
          </a:p>
        </p:txBody>
      </p:sp>
      <p:sp>
        <p:nvSpPr>
          <p:cNvPr id="9" name="TextBox 8"/>
          <p:cNvSpPr txBox="1"/>
          <p:nvPr/>
        </p:nvSpPr>
        <p:spPr>
          <a:xfrm>
            <a:off x="1216152" y="3525873"/>
            <a:ext cx="4614519" cy="992985"/>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The order in which cells were actually executed. Position on the page is only a layout — the counter is what the kernel actually did, and the two can disagree.</a:t>
            </a:r>
          </a:p>
        </p:txBody>
      </p:sp>
      <p:sp>
        <p:nvSpPr>
          <p:cNvPr id="10" name="Oval 9"/>
          <p:cNvSpPr/>
          <p:nvPr/>
        </p:nvSpPr>
        <p:spPr>
          <a:xfrm>
            <a:off x="685800" y="459201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555434"/>
            <a:ext cx="4614519" cy="274320"/>
          </a:xfrm>
          <a:prstGeom prst="rect">
            <a:avLst/>
          </a:prstGeom>
          <a:noFill/>
        </p:spPr>
        <p:txBody>
          <a:bodyPr wrap="square" lIns="0" rIns="0" tIns="0" bIns="0" anchor="t">
            <a:spAutoFit/>
          </a:bodyPr>
          <a:lstStyle/>
          <a:p>
            <a:pPr algn="l">
              <a:spcAft>
                <a:spcPts val="600"/>
              </a:spcAft>
            </a:pPr>
            <a:r>
              <a:rPr sz="1518" b="1" i="0">
                <a:solidFill>
                  <a:srgbClr val="6B7A8A"/>
                </a:solidFill>
                <a:latin typeface="Calibri"/>
              </a:rPr>
              <a:t>Recording two of five files?</a:t>
            </a:r>
          </a:p>
        </p:txBody>
      </p:sp>
      <p:sp>
        <p:nvSpPr>
          <p:cNvPr id="12" name="TextBox 11"/>
          <p:cNvSpPr txBox="1"/>
          <p:nvPr/>
        </p:nvSpPr>
        <p:spPr>
          <a:xfrm>
            <a:off x="1216152" y="4848042"/>
            <a:ext cx="4614519" cy="992985"/>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git add, naming just those two files rather than using a dot. They move into the staging area, and only staged files go into the next commit.</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518" b="1" i="0">
                <a:solidFill>
                  <a:srgbClr val="6B7A8A"/>
                </a:solidFill>
                <a:latin typeface="Calibri"/>
              </a:rPr>
              <a:t>Why GitHub rather than email?</a:t>
            </a:r>
          </a:p>
        </p:txBody>
      </p:sp>
      <p:sp>
        <p:nvSpPr>
          <p:cNvPr id="15" name="TextBox 14"/>
          <p:cNvSpPr txBox="1"/>
          <p:nvPr/>
        </p:nvSpPr>
        <p:spPr>
          <a:xfrm>
            <a:off x="6854799" y="2203703"/>
            <a:ext cx="4614519" cy="1569631"/>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Because it records who did what and when, which is how a team mark becomes an individual one; because the grading tools collect work from repositories automatically; and because it is what every engineering employer expects you to have used.</a:t>
            </a:r>
          </a:p>
        </p:txBody>
      </p:sp>
      <p:sp>
        <p:nvSpPr>
          <p:cNvPr id="16" name="Oval 15"/>
          <p:cNvSpPr/>
          <p:nvPr/>
        </p:nvSpPr>
        <p:spPr>
          <a:xfrm>
            <a:off x="6324447" y="3846487"/>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809911"/>
            <a:ext cx="4614519" cy="274320"/>
          </a:xfrm>
          <a:prstGeom prst="rect">
            <a:avLst/>
          </a:prstGeom>
          <a:noFill/>
        </p:spPr>
        <p:txBody>
          <a:bodyPr wrap="square" lIns="0" rIns="0" tIns="0" bIns="0" anchor="t">
            <a:spAutoFit/>
          </a:bodyPr>
          <a:lstStyle/>
          <a:p>
            <a:pPr algn="l">
              <a:spcAft>
                <a:spcPts val="600"/>
              </a:spcAft>
            </a:pPr>
            <a:r>
              <a:rPr sz="1518" b="1" i="0">
                <a:solidFill>
                  <a:srgbClr val="6B7A8A"/>
                </a:solidFill>
                <a:latin typeface="Calibri"/>
              </a:rPr>
              <a:t>Colab needs internet — so how are the tests run?</a:t>
            </a:r>
          </a:p>
        </p:txBody>
      </p:sp>
      <p:sp>
        <p:nvSpPr>
          <p:cNvPr id="18" name="TextBox 17"/>
          <p:cNvSpPr txBox="1"/>
          <p:nvPr/>
        </p:nvSpPr>
        <p:spPr>
          <a:xfrm>
            <a:off x="6854799" y="4102519"/>
            <a:ext cx="4614519" cy="1569631"/>
          </a:xfrm>
          <a:prstGeom prst="rect">
            <a:avLst/>
          </a:prstGeom>
          <a:noFill/>
        </p:spPr>
        <p:txBody>
          <a:bodyPr wrap="square" lIns="0" rIns="0" tIns="0" bIns="0" anchor="t">
            <a:spAutoFit/>
          </a:bodyPr>
          <a:lstStyle/>
          <a:p>
            <a:pPr algn="l">
              <a:lnSpc>
                <a:spcPct val="120000"/>
              </a:lnSpc>
              <a:spcAft>
                <a:spcPts val="600"/>
              </a:spcAft>
            </a:pPr>
            <a:r>
              <a:rPr sz="1518" b="0" i="0">
                <a:solidFill>
                  <a:srgbClr val="2A3B4A"/>
                </a:solidFill>
                <a:latin typeface="Calibri"/>
              </a:rPr>
              <a:t>Offline, on laboratory machines with a local Python installation and no network. That is deliberate: it makes the no-AI-assistance rule actually enforceable rather than a request, and it certifies what you can do unaided. It is also why the Student Setup Guide still exists.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(1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Google Colab</a:t>
            </a:r>
          </a:p>
        </p:txBody>
      </p:sp>
      <p:sp>
        <p:nvSpPr>
          <p:cNvPr id="5" name="TextBox 4"/>
          <p:cNvSpPr txBox="1"/>
          <p:nvPr/>
        </p:nvSpPr>
        <p:spPr>
          <a:xfrm>
            <a:off x="685800" y="2278309"/>
            <a:ext cx="5181447" cy="978973"/>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notebook environment that runs in a browser on Google's computers, with Python and the course libraries already installed.</a:t>
            </a:r>
          </a:p>
        </p:txBody>
      </p:sp>
      <p:sp>
        <p:nvSpPr>
          <p:cNvPr id="6" name="TextBox 5"/>
          <p:cNvSpPr txBox="1"/>
          <p:nvPr/>
        </p:nvSpPr>
        <p:spPr>
          <a:xfrm>
            <a:off x="685800" y="338529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Notebook (.ipynb)</a:t>
            </a:r>
          </a:p>
        </p:txBody>
      </p:sp>
      <p:sp>
        <p:nvSpPr>
          <p:cNvPr id="7" name="TextBox 6"/>
          <p:cNvSpPr txBox="1"/>
          <p:nvPr/>
        </p:nvSpPr>
        <p:spPr>
          <a:xfrm>
            <a:off x="685800" y="3752513"/>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document made of cells, mixing text, code and the code's output.</a:t>
            </a:r>
          </a:p>
        </p:txBody>
      </p:sp>
      <p:sp>
        <p:nvSpPr>
          <p:cNvPr id="8" name="TextBox 7"/>
          <p:cNvSpPr txBox="1"/>
          <p:nvPr/>
        </p:nvSpPr>
        <p:spPr>
          <a:xfrm>
            <a:off x="685800" y="4563658"/>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Cell</a:t>
            </a:r>
          </a:p>
        </p:txBody>
      </p:sp>
      <p:sp>
        <p:nvSpPr>
          <p:cNvPr id="9" name="TextBox 8"/>
          <p:cNvSpPr txBox="1"/>
          <p:nvPr/>
        </p:nvSpPr>
        <p:spPr>
          <a:xfrm>
            <a:off x="685800" y="4930872"/>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One block of a notebook. Either markdown (text) or code.</a:t>
            </a:r>
          </a:p>
        </p:txBody>
      </p:sp>
      <p:sp>
        <p:nvSpPr>
          <p:cNvPr id="10" name="TextBox 9"/>
          <p:cNvSpPr txBox="1"/>
          <p:nvPr/>
        </p:nvSpPr>
        <p:spPr>
          <a:xfrm>
            <a:off x="685800" y="5446172"/>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Markdown</a:t>
            </a:r>
          </a:p>
        </p:txBody>
      </p:sp>
      <p:sp>
        <p:nvSpPr>
          <p:cNvPr id="11" name="TextBox 10"/>
          <p:cNvSpPr txBox="1"/>
          <p:nvPr/>
        </p:nvSpPr>
        <p:spPr>
          <a:xfrm>
            <a:off x="685800" y="5813386"/>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simple text format used for the text cells.</a:t>
            </a:r>
          </a:p>
        </p:txBody>
      </p:sp>
      <p:sp>
        <p:nvSpPr>
          <p:cNvPr id="12" name="TextBox 11"/>
          <p:cNvSpPr txBox="1"/>
          <p:nvPr/>
        </p:nvSpPr>
        <p:spPr>
          <a:xfrm>
            <a:off x="6324447"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Kernel</a:t>
            </a:r>
          </a:p>
        </p:txBody>
      </p:sp>
      <p:sp>
        <p:nvSpPr>
          <p:cNvPr id="13" name="TextBox 12"/>
          <p:cNvSpPr txBox="1"/>
          <p:nvPr/>
        </p:nvSpPr>
        <p:spPr>
          <a:xfrm>
            <a:off x="6324447" y="2278309"/>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single Python session that all the cells in a notebook share.</a:t>
            </a:r>
          </a:p>
        </p:txBody>
      </p:sp>
      <p:sp>
        <p:nvSpPr>
          <p:cNvPr id="14" name="TextBox 13"/>
          <p:cNvSpPr txBox="1"/>
          <p:nvPr/>
        </p:nvSpPr>
        <p:spPr>
          <a:xfrm>
            <a:off x="6324447" y="3089454"/>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Execution counter</a:t>
            </a:r>
          </a:p>
        </p:txBody>
      </p:sp>
      <p:sp>
        <p:nvSpPr>
          <p:cNvPr id="15" name="TextBox 14"/>
          <p:cNvSpPr txBox="1"/>
          <p:nvPr/>
        </p:nvSpPr>
        <p:spPr>
          <a:xfrm>
            <a:off x="6324447" y="3456668"/>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number in brackets beside a code cell, showing the order cells were run in.</a:t>
            </a:r>
          </a:p>
        </p:txBody>
      </p:sp>
      <p:sp>
        <p:nvSpPr>
          <p:cNvPr id="16" name="TextBox 15"/>
          <p:cNvSpPr txBox="1"/>
          <p:nvPr/>
        </p:nvSpPr>
        <p:spPr>
          <a:xfrm>
            <a:off x="6324447" y="4267813"/>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Restart and Run All</a:t>
            </a:r>
          </a:p>
        </p:txBody>
      </p:sp>
      <p:sp>
        <p:nvSpPr>
          <p:cNvPr id="17" name="TextBox 16"/>
          <p:cNvSpPr txBox="1"/>
          <p:nvPr/>
        </p:nvSpPr>
        <p:spPr>
          <a:xfrm>
            <a:off x="6324447" y="4635027"/>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Clear the kernel and run every cell from the top. The only honest test of a notebook.</a:t>
            </a:r>
          </a:p>
        </p:txBody>
      </p:sp>
      <p:sp>
        <p:nvSpPr>
          <p:cNvPr id="18" name="TextBox 17"/>
          <p:cNvSpPr txBox="1"/>
          <p:nvPr/>
        </p:nvSpPr>
        <p:spPr>
          <a:xfrm>
            <a:off x="6324447" y="5446172"/>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Output</a:t>
            </a:r>
          </a:p>
        </p:txBody>
      </p:sp>
      <p:sp>
        <p:nvSpPr>
          <p:cNvPr id="19" name="TextBox 18"/>
          <p:cNvSpPr txBox="1"/>
          <p:nvPr/>
        </p:nvSpPr>
        <p:spPr>
          <a:xfrm>
            <a:off x="6324447" y="5813386"/>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Whatever a code cell produced, shown directly beneath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(2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f-string</a:t>
            </a:r>
          </a:p>
        </p:txBody>
      </p:sp>
      <p:sp>
        <p:nvSpPr>
          <p:cNvPr id="5" name="TextBox 4"/>
          <p:cNvSpPr txBox="1"/>
          <p:nvPr/>
        </p:nvSpPr>
        <p:spPr>
          <a:xfrm>
            <a:off x="685800" y="2278309"/>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Text with holes in it: f"I have {n} readings". Anything in braces is replaced by that variable's value.</a:t>
            </a:r>
          </a:p>
        </p:txBody>
      </p:sp>
      <p:sp>
        <p:nvSpPr>
          <p:cNvPr id="6" name="TextBox 5"/>
          <p:cNvSpPr txBox="1"/>
          <p:nvPr/>
        </p:nvSpPr>
        <p:spPr>
          <a:xfrm>
            <a:off x="685800" y="3089454"/>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Git</a:t>
            </a:r>
          </a:p>
        </p:txBody>
      </p:sp>
      <p:sp>
        <p:nvSpPr>
          <p:cNvPr id="7" name="TextBox 6"/>
          <p:cNvSpPr txBox="1"/>
          <p:nvPr/>
        </p:nvSpPr>
        <p:spPr>
          <a:xfrm>
            <a:off x="685800" y="3456668"/>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tool that records every version of a project, what changed and who changed it.</a:t>
            </a:r>
          </a:p>
        </p:txBody>
      </p:sp>
      <p:sp>
        <p:nvSpPr>
          <p:cNvPr id="8" name="TextBox 7"/>
          <p:cNvSpPr txBox="1"/>
          <p:nvPr/>
        </p:nvSpPr>
        <p:spPr>
          <a:xfrm>
            <a:off x="685800" y="4267813"/>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GitHub</a:t>
            </a:r>
          </a:p>
        </p:txBody>
      </p:sp>
      <p:sp>
        <p:nvSpPr>
          <p:cNvPr id="9" name="TextBox 8"/>
          <p:cNvSpPr txBox="1"/>
          <p:nvPr/>
        </p:nvSpPr>
        <p:spPr>
          <a:xfrm>
            <a:off x="685800" y="4635027"/>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website that stores Git repositories so your work exists somewhere other than your laptop.</a:t>
            </a:r>
          </a:p>
        </p:txBody>
      </p:sp>
      <p:sp>
        <p:nvSpPr>
          <p:cNvPr id="10" name="TextBox 9"/>
          <p:cNvSpPr txBox="1"/>
          <p:nvPr/>
        </p:nvSpPr>
        <p:spPr>
          <a:xfrm>
            <a:off x="685800" y="5446172"/>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Repository (repo)</a:t>
            </a:r>
          </a:p>
        </p:txBody>
      </p:sp>
      <p:sp>
        <p:nvSpPr>
          <p:cNvPr id="11" name="TextBox 10"/>
          <p:cNvSpPr txBox="1"/>
          <p:nvPr/>
        </p:nvSpPr>
        <p:spPr>
          <a:xfrm>
            <a:off x="685800" y="5813386"/>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 project folder whose whole history Git is tracking.</a:t>
            </a:r>
          </a:p>
        </p:txBody>
      </p:sp>
      <p:sp>
        <p:nvSpPr>
          <p:cNvPr id="12" name="TextBox 11"/>
          <p:cNvSpPr txBox="1"/>
          <p:nvPr/>
        </p:nvSpPr>
        <p:spPr>
          <a:xfrm>
            <a:off x="6324447"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Working directory</a:t>
            </a:r>
          </a:p>
        </p:txBody>
      </p:sp>
      <p:sp>
        <p:nvSpPr>
          <p:cNvPr id="13" name="TextBox 12"/>
          <p:cNvSpPr txBox="1"/>
          <p:nvPr/>
        </p:nvSpPr>
        <p:spPr>
          <a:xfrm>
            <a:off x="6324447" y="2278309"/>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Your files as they are right now, changes included.</a:t>
            </a:r>
          </a:p>
        </p:txBody>
      </p:sp>
      <p:sp>
        <p:nvSpPr>
          <p:cNvPr id="14" name="TextBox 13"/>
          <p:cNvSpPr txBox="1"/>
          <p:nvPr/>
        </p:nvSpPr>
        <p:spPr>
          <a:xfrm>
            <a:off x="6324447" y="2793610"/>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Staging area</a:t>
            </a:r>
          </a:p>
        </p:txBody>
      </p:sp>
      <p:sp>
        <p:nvSpPr>
          <p:cNvPr id="15" name="TextBox 14"/>
          <p:cNvSpPr txBox="1"/>
          <p:nvPr/>
        </p:nvSpPr>
        <p:spPr>
          <a:xfrm>
            <a:off x="6324447" y="3160824"/>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set of changes you have marked as ready to go into the next commit.</a:t>
            </a:r>
          </a:p>
        </p:txBody>
      </p:sp>
      <p:sp>
        <p:nvSpPr>
          <p:cNvPr id="16" name="TextBox 15"/>
          <p:cNvSpPr txBox="1"/>
          <p:nvPr/>
        </p:nvSpPr>
        <p:spPr>
          <a:xfrm>
            <a:off x="6324447" y="3971969"/>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Commit</a:t>
            </a:r>
          </a:p>
        </p:txBody>
      </p:sp>
      <p:sp>
        <p:nvSpPr>
          <p:cNvPr id="17" name="TextBox 16"/>
          <p:cNvSpPr txBox="1"/>
          <p:nvPr/>
        </p:nvSpPr>
        <p:spPr>
          <a:xfrm>
            <a:off x="6324447" y="4339183"/>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One recorded snapshot, with a message saying what changed.</a:t>
            </a:r>
          </a:p>
        </p:txBody>
      </p:sp>
      <p:sp>
        <p:nvSpPr>
          <p:cNvPr id="18" name="TextBox 17"/>
          <p:cNvSpPr txBox="1"/>
          <p:nvPr/>
        </p:nvSpPr>
        <p:spPr>
          <a:xfrm>
            <a:off x="6324447" y="4854483"/>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Push</a:t>
            </a:r>
          </a:p>
        </p:txBody>
      </p:sp>
      <p:sp>
        <p:nvSpPr>
          <p:cNvPr id="19" name="TextBox 18"/>
          <p:cNvSpPr txBox="1"/>
          <p:nvPr/>
        </p:nvSpPr>
        <p:spPr>
          <a:xfrm>
            <a:off x="6324447" y="5221697"/>
            <a:ext cx="5181447" cy="387284"/>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Send your commits up to GitHub.</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 (3 of 3)</a:t>
            </a:r>
          </a:p>
        </p:txBody>
      </p:sp>
      <p:sp>
        <p:nvSpPr>
          <p:cNvPr id="4" name="TextBox 3"/>
          <p:cNvSpPr txBox="1"/>
          <p:nvPr/>
        </p:nvSpPr>
        <p:spPr>
          <a:xfrm>
            <a:off x="685800" y="1911095"/>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git status</a:t>
            </a:r>
          </a:p>
        </p:txBody>
      </p:sp>
      <p:sp>
        <p:nvSpPr>
          <p:cNvPr id="5" name="TextBox 4"/>
          <p:cNvSpPr txBox="1"/>
          <p:nvPr/>
        </p:nvSpPr>
        <p:spPr>
          <a:xfrm>
            <a:off x="685800" y="2278309"/>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Ask Git what has changed and where it currently is. The most useful command on the list.</a:t>
            </a:r>
          </a:p>
        </p:txBody>
      </p:sp>
      <p:sp>
        <p:nvSpPr>
          <p:cNvPr id="6" name="TextBox 5"/>
          <p:cNvSpPr txBox="1"/>
          <p:nvPr/>
        </p:nvSpPr>
        <p:spPr>
          <a:xfrm>
            <a:off x="685800" y="3089454"/>
            <a:ext cx="5181447" cy="367213"/>
          </a:xfrm>
          <a:prstGeom prst="rect">
            <a:avLst/>
          </a:prstGeom>
          <a:noFill/>
        </p:spPr>
        <p:txBody>
          <a:bodyPr wrap="square" lIns="0" rIns="0" tIns="0" bIns="0" anchor="t">
            <a:spAutoFit/>
          </a:bodyPr>
          <a:lstStyle/>
          <a:p>
            <a:pPr algn="l">
              <a:lnSpc>
                <a:spcPct val="115000"/>
              </a:lnSpc>
              <a:spcAft>
                <a:spcPts val="600"/>
              </a:spcAft>
            </a:pPr>
            <a:r>
              <a:rPr sz="1716" b="1" i="0">
                <a:solidFill>
                  <a:srgbClr val="E4572E"/>
                </a:solidFill>
                <a:latin typeface="Calibri"/>
              </a:rPr>
              <a:t>README</a:t>
            </a:r>
          </a:p>
        </p:txBody>
      </p:sp>
      <p:sp>
        <p:nvSpPr>
          <p:cNvPr id="7" name="TextBox 6"/>
          <p:cNvSpPr txBox="1"/>
          <p:nvPr/>
        </p:nvSpPr>
        <p:spPr>
          <a:xfrm>
            <a:off x="685800" y="3456668"/>
            <a:ext cx="5181447" cy="683129"/>
          </a:xfrm>
          <a:prstGeom prst="rect">
            <a:avLst/>
          </a:prstGeom>
          <a:noFill/>
        </p:spPr>
        <p:txBody>
          <a:bodyPr wrap="square" lIns="0" rIns="0" tIns="0" bIns="0" anchor="t">
            <a:spAutoFit/>
          </a:bodyPr>
          <a:lstStyle/>
          <a:p>
            <a:pPr algn="l">
              <a:lnSpc>
                <a:spcPct val="118000"/>
              </a:lnSpc>
              <a:spcAft>
                <a:spcPts val="600"/>
              </a:spcAft>
            </a:pPr>
            <a:r>
              <a:rPr sz="1584" b="0" i="0">
                <a:solidFill>
                  <a:srgbClr val="1C3144"/>
                </a:solidFill>
                <a:latin typeface="Calibri"/>
              </a:rPr>
              <a:t>The file that explains a repository to whoever opens it. Yours is marked.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the commands and the habits</a:t>
            </a:r>
          </a:p>
        </p:txBody>
      </p:sp>
      <p:sp>
        <p:nvSpPr>
          <p:cNvPr id="4" name="TextBox 3"/>
          <p:cNvSpPr txBox="1"/>
          <p:nvPr/>
        </p:nvSpPr>
        <p:spPr>
          <a:xfrm>
            <a:off x="685800" y="1911095"/>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Running code</a:t>
            </a:r>
          </a:p>
        </p:txBody>
      </p:sp>
      <p:sp>
        <p:nvSpPr>
          <p:cNvPr id="5" name="TextBox 4"/>
          <p:cNvSpPr txBox="1"/>
          <p:nvPr/>
        </p:nvSpPr>
        <p:spPr>
          <a:xfrm>
            <a:off x="685800" y="2273037"/>
            <a:ext cx="5158587" cy="300983"/>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Shift and Enter runs a cell. Enter alone just adds a line inside it.</a:t>
            </a:r>
          </a:p>
        </p:txBody>
      </p:sp>
      <p:sp>
        <p:nvSpPr>
          <p:cNvPr id="6" name="TextBox 5"/>
          <p:cNvSpPr txBox="1"/>
          <p:nvPr/>
        </p:nvSpPr>
        <p:spPr>
          <a:xfrm>
            <a:off x="685800" y="2802621"/>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Before you believe any answer</a:t>
            </a:r>
          </a:p>
        </p:txBody>
      </p:sp>
      <p:sp>
        <p:nvSpPr>
          <p:cNvPr id="7" name="TextBox 6"/>
          <p:cNvSpPr txBox="1"/>
          <p:nvPr/>
        </p:nvSpPr>
        <p:spPr>
          <a:xfrm>
            <a:off x="685800" y="3164562"/>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Restart and Run All. If it fails, it was never working — the kernel was covering for you.</a:t>
            </a:r>
          </a:p>
        </p:txBody>
      </p:sp>
      <p:sp>
        <p:nvSpPr>
          <p:cNvPr id="8" name="TextBox 7"/>
          <p:cNvSpPr txBox="1"/>
          <p:nvPr/>
        </p:nvSpPr>
        <p:spPr>
          <a:xfrm>
            <a:off x="685800" y="3940265"/>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Before you submit anything</a:t>
            </a:r>
          </a:p>
        </p:txBody>
      </p:sp>
      <p:sp>
        <p:nvSpPr>
          <p:cNvPr id="9" name="TextBox 8"/>
          <p:cNvSpPr txBox="1"/>
          <p:nvPr/>
        </p:nvSpPr>
        <p:spPr>
          <a:xfrm>
            <a:off x="685800" y="4302207"/>
            <a:ext cx="5158587" cy="300983"/>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Restart and Run All, confirm no errors, then save with outputs visible.</a:t>
            </a:r>
          </a:p>
        </p:txBody>
      </p:sp>
      <p:sp>
        <p:nvSpPr>
          <p:cNvPr id="10" name="TextBox 9"/>
          <p:cNvSpPr txBox="1"/>
          <p:nvPr/>
        </p:nvSpPr>
        <p:spPr>
          <a:xfrm>
            <a:off x="6347307" y="1911095"/>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The four Git commands</a:t>
            </a:r>
          </a:p>
        </p:txBody>
      </p:sp>
      <p:sp>
        <p:nvSpPr>
          <p:cNvPr id="11" name="TextBox 10"/>
          <p:cNvSpPr txBox="1"/>
          <p:nvPr/>
        </p:nvSpPr>
        <p:spPr>
          <a:xfrm>
            <a:off x="6347307" y="2273037"/>
            <a:ext cx="5158587" cy="1039340"/>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git status — what changed, and where is it?</a:t>
            </a:r>
          </a:p>
          <a:p>
            <a:pPr algn="l">
              <a:lnSpc>
                <a:spcPct val="124000"/>
              </a:lnSpc>
              <a:spcAft>
                <a:spcPts val="600"/>
              </a:spcAft>
            </a:pPr>
            <a:r>
              <a:rPr sz="1254" b="0" i="0">
                <a:solidFill>
                  <a:srgbClr val="334657"/>
                </a:solidFill>
                <a:latin typeface="Calibri"/>
              </a:rPr>
              <a:t>git add . — mark it all ready</a:t>
            </a:r>
          </a:p>
          <a:p>
            <a:pPr algn="l">
              <a:lnSpc>
                <a:spcPct val="124000"/>
              </a:lnSpc>
              <a:spcAft>
                <a:spcPts val="600"/>
              </a:spcAft>
            </a:pPr>
            <a:r>
              <a:rPr sz="1254" b="0" i="0">
                <a:solidFill>
                  <a:srgbClr val="334657"/>
                </a:solidFill>
                <a:latin typeface="Calibri"/>
              </a:rPr>
              <a:t>git commit -m "message" — record it</a:t>
            </a:r>
          </a:p>
          <a:p>
            <a:pPr algn="l">
              <a:lnSpc>
                <a:spcPct val="124000"/>
              </a:lnSpc>
              <a:spcAft>
                <a:spcPts val="600"/>
              </a:spcAft>
            </a:pPr>
            <a:r>
              <a:rPr sz="1254" b="0" i="0">
                <a:solidFill>
                  <a:srgbClr val="334657"/>
                </a:solidFill>
                <a:latin typeface="Calibri"/>
              </a:rPr>
              <a:t>git push — send it to GitHub</a:t>
            </a:r>
          </a:p>
        </p:txBody>
      </p:sp>
      <p:sp>
        <p:nvSpPr>
          <p:cNvPr id="12" name="TextBox 11"/>
          <p:cNvSpPr txBox="1"/>
          <p:nvPr/>
        </p:nvSpPr>
        <p:spPr>
          <a:xfrm>
            <a:off x="6347307" y="3540978"/>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Writing a commit message</a:t>
            </a:r>
          </a:p>
        </p:txBody>
      </p:sp>
      <p:sp>
        <p:nvSpPr>
          <p:cNvPr id="13" name="TextBox 12"/>
          <p:cNvSpPr txBox="1"/>
          <p:nvPr/>
        </p:nvSpPr>
        <p:spPr>
          <a:xfrm>
            <a:off x="6347307" y="3902920"/>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Say what changed, and why if it is not obvious. 'Add water/cement ratio column' is useful in November. 'update' is not.</a:t>
            </a:r>
          </a:p>
        </p:txBody>
      </p:sp>
      <p:sp>
        <p:nvSpPr>
          <p:cNvPr id="14" name="TextBox 13"/>
          <p:cNvSpPr txBox="1"/>
          <p:nvPr/>
        </p:nvSpPr>
        <p:spPr>
          <a:xfrm>
            <a:off x="6347307" y="4678622"/>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Reading an error</a:t>
            </a:r>
          </a:p>
        </p:txBody>
      </p:sp>
      <p:sp>
        <p:nvSpPr>
          <p:cNvPr id="15" name="TextBox 14"/>
          <p:cNvSpPr txBox="1"/>
          <p:nvPr/>
        </p:nvSpPr>
        <p:spPr>
          <a:xfrm>
            <a:off x="6347307" y="5040564"/>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Last line first. It names the error type and what Python actually wanted. Then look at the line number.</a:t>
            </a:r>
          </a:p>
        </p:txBody>
      </p:sp>
      <p:sp>
        <p:nvSpPr>
          <p:cNvPr id="16" name="TextBox 15"/>
          <p:cNvSpPr txBox="1"/>
          <p:nvPr/>
        </p:nvSpPr>
        <p:spPr>
          <a:xfrm>
            <a:off x="6347307" y="5816267"/>
            <a:ext cx="5158587" cy="352797"/>
          </a:xfrm>
          <a:prstGeom prst="rect">
            <a:avLst/>
          </a:prstGeom>
          <a:noFill/>
        </p:spPr>
        <p:txBody>
          <a:bodyPr wrap="square" lIns="0" rIns="0" tIns="0" bIns="0" anchor="t">
            <a:spAutoFit/>
          </a:bodyPr>
          <a:lstStyle/>
          <a:p>
            <a:pPr algn="l">
              <a:lnSpc>
                <a:spcPct val="124000"/>
              </a:lnSpc>
              <a:spcAft>
                <a:spcPts val="600"/>
              </a:spcAft>
            </a:pPr>
            <a:r>
              <a:rPr sz="1518" b="1" i="0">
                <a:solidFill>
                  <a:srgbClr val="E4572E"/>
                </a:solidFill>
                <a:latin typeface="Calibri"/>
              </a:rPr>
              <a:t>Asking for help</a:t>
            </a:r>
          </a:p>
        </p:txBody>
      </p:sp>
      <p:sp>
        <p:nvSpPr>
          <p:cNvPr id="17" name="TextBox 16"/>
          <p:cNvSpPr txBox="1"/>
          <p:nvPr/>
        </p:nvSpPr>
        <p:spPr>
          <a:xfrm>
            <a:off x="6347307" y="6178208"/>
            <a:ext cx="5158587" cy="547102"/>
          </a:xfrm>
          <a:prstGeom prst="rect">
            <a:avLst/>
          </a:prstGeom>
          <a:noFill/>
        </p:spPr>
        <p:txBody>
          <a:bodyPr wrap="square" lIns="0" rIns="0" tIns="0" bIns="0" anchor="t">
            <a:spAutoFit/>
          </a:bodyPr>
          <a:lstStyle/>
          <a:p>
            <a:pPr algn="l">
              <a:lnSpc>
                <a:spcPct val="124000"/>
              </a:lnSpc>
              <a:spcAft>
                <a:spcPts val="600"/>
              </a:spcAft>
            </a:pPr>
            <a:r>
              <a:rPr sz="1254" b="0" i="0">
                <a:solidFill>
                  <a:srgbClr val="334657"/>
                </a:solidFill>
                <a:latin typeface="Calibri"/>
              </a:rPr>
              <a:t>What you were trying to do, what you typed, what it said back. Those three things, in that order.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2</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Out-of-order execution, what Restart and Run All proves, and reading one git status output.</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Enter your own Student Registration Number exactly as recorded.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24 hours from lecturer activation, then it closes.</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2_W02.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Every error today told you</a:t>
            </a:r>
          </a:p>
          <a:p>
            <a:pPr algn="l">
              <a:lnSpc>
                <a:spcPct val="110000"/>
              </a:lnSpc>
              <a:spcAft>
                <a:spcPts val="600"/>
              </a:spcAft>
            </a:pPr>
            <a:r>
              <a:rPr sz="3400" b="1" i="0">
                <a:solidFill>
                  <a:srgbClr val="FFFFFF"/>
                </a:solidFill>
                <a:latin typeface="Cambria"/>
              </a:rPr>
              <a:t>exactly what it needed.</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Everything you saw go wrong today has gone wrong for every engineer in this building, including me, this week. The skill is not avoiding errors — it is reading them and carrying on.</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Python as an engineering calculator, using formulas you already know.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