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39.xml" ContentType="application/vnd.openxmlformats-officedocument.presentationml.notesSlide+xml"/>
  <Override PartName="/ppt/notesSlides/notesSlide1004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039.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39.xml" /></ns0:Relationships>
</file>

<file path=ppt/notesSlides/_rels/notesSlide10040.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40.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work</a:t>
            </a:r>
          </a:p>
          <a:p>
            <a:r>
              <a:t>CML3112, Week 2, slide 1</a:t>
            </a:r>
          </a:p>
          <a:p>
            <a:r>
              <a:t/>
            </a:r>
          </a:p>
          <a:p>
            <a:r>
              <a:t>Explanation to give</a:t>
            </a:r>
          </a:p>
          <a:p>
            <a:r>
              <a:t>Today the learner creates, runs, saves and submits a notebook. Separate those actions so a successful run is not mistaken for a saved or submitted file.</a:t>
            </a:r>
          </a:p>
          <a:p>
            <a:r>
              <a:t/>
            </a:r>
          </a:p>
          <a:p>
            <a:r>
              <a:t>Worked illustration / lecturer answer</a:t>
            </a:r>
          </a:p>
          <a:p>
            <a:r>
              <a:t>The runtime remembers readings = 12. One update adding 5 gives 17; repeating only that update gives 22. A fresh run starts at 12 again.</a:t>
            </a:r>
          </a:p>
          <a:p>
            <a:r>
              <a:t/>
            </a:r>
          </a:p>
          <a:p>
            <a:r>
              <a:t>Misconception to address</a:t>
            </a:r>
          </a:p>
          <a:p>
            <a:r>
              <a:t>Use this as an orientation to the lesson. Terms and syntax will be unpacked on their own slides; students do not need to know them in advance.</a:t>
            </a:r>
          </a:p>
          <a:p>
            <a:r>
              <a:t/>
            </a:r>
          </a:p>
          <a:p>
            <a:r>
              <a:t>Continue to</a:t>
            </a:r>
          </a:p>
          <a:p>
            <a:r>
              <a:t>By the end of today you can…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today you can…</a:t>
            </a:r>
          </a:p>
          <a:p>
            <a:r>
              <a:t>CML3112, Week 2, slide 2</a:t>
            </a:r>
          </a:p>
          <a:p>
            <a:r>
              <a:t/>
            </a:r>
          </a:p>
          <a:p>
            <a:r>
              <a:t>Explanation to give</a:t>
            </a:r>
          </a:p>
          <a:p>
            <a:r>
              <a:t>Today the learner creates, runs, saves and submits a notebook. Separate those actions so a successful run is not mistaken for a saved or submitted file.</a:t>
            </a:r>
          </a:p>
          <a:p>
            <a:r>
              <a:t/>
            </a:r>
          </a:p>
          <a:p>
            <a:r>
              <a:t>Worked illustration / lecturer answer</a:t>
            </a:r>
          </a:p>
          <a:p>
            <a:r>
              <a:t>The runtime remembers readings = 12. One update adding 5 gives 17; repeating only that update gives 22. A fresh run starts at 12 again.</a:t>
            </a:r>
          </a:p>
          <a:p>
            <a:r>
              <a:t/>
            </a:r>
          </a:p>
          <a:p>
            <a:r>
              <a:t>Misconception to address</a:t>
            </a:r>
          </a:p>
          <a:p>
            <a:r>
              <a:t>Use the outcomes listed on this slide to check understanding through the small examples, rather than asking only whether everybody understands.</a:t>
            </a:r>
          </a:p>
          <a:p>
            <a:r>
              <a:t/>
            </a:r>
          </a:p>
          <a:p>
            <a:r>
              <a:t>Continue to</a:t>
            </a:r>
          </a:p>
          <a:p>
            <a:r>
              <a:t>How today runs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today runs</a:t>
            </a:r>
          </a:p>
          <a:p>
            <a:r>
              <a:t>CML3112, Week 2, slide 3</a:t>
            </a:r>
          </a:p>
          <a:p>
            <a:r>
              <a:t/>
            </a:r>
          </a:p>
          <a:p>
            <a:r>
              <a:t>Explanation to give</a:t>
            </a:r>
          </a:p>
          <a:p>
            <a:r>
              <a:t>Orient students to this particular lesson: explain what they will see demonstrated, which file they will use and what they must retain for revision. Keep the transition short enough to preserve explanation time.</a:t>
            </a:r>
          </a:p>
          <a:p>
            <a:r>
              <a:t/>
            </a:r>
          </a:p>
          <a:p>
            <a:r>
              <a:t>Worked illustration / lecturer answer</a:t>
            </a:r>
          </a:p>
          <a:p>
            <a:r>
              <a:t>Open the next worked example on the projector and name its input and intended result. Demonstrate it yourself before asking students to interpret a result. Use remaining summary and glossary pages for independent revision.</a:t>
            </a:r>
          </a:p>
          <a:p>
            <a:r>
              <a:t/>
            </a:r>
          </a:p>
          <a:p>
            <a:r>
              <a:t>Misconception to address</a:t>
            </a:r>
          </a:p>
          <a:p>
            <a:r>
              <a:t>The historical slide's timed group activity is not a requirement to stop for partner work. Use a lecturer-led walkthrough in the current limited class time.</a:t>
            </a:r>
          </a:p>
          <a:p>
            <a:r>
              <a:t/>
            </a:r>
          </a:p>
          <a:p>
            <a:r>
              <a:t>Continue to</a:t>
            </a:r>
          </a:p>
          <a:p>
            <a:r>
              <a:t>Previous lesson and today’s topics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Previous lesson and today’s topics</a:t>
            </a:r>
          </a:p>
          <a:p>
            <a:r>
              <a:t>CML3112, Week 2, slide 4</a:t>
            </a:r>
          </a:p>
          <a:p>
            <a:r>
              <a:t/>
            </a:r>
          </a:p>
          <a:p>
            <a:r>
              <a:t>Explanation to give</a:t>
            </a:r>
          </a:p>
          <a:p>
            <a:r>
              <a:t>Today the learner creates, runs, saves and submits a notebook. Separate those actions so a successful run is not mistaken for a saved or submitted file.</a:t>
            </a:r>
          </a:p>
          <a:p>
            <a:r>
              <a:t/>
            </a:r>
          </a:p>
          <a:p>
            <a:r>
              <a:t>Worked illustration / lecturer answer</a:t>
            </a:r>
          </a:p>
          <a:p>
            <a:r>
              <a:t>The runtime remembers readings = 12. One update adding 5 gives 17; repeating only that update gives 22. A fresh run starts at 12 again.</a:t>
            </a:r>
          </a:p>
          <a:p>
            <a:r>
              <a:t/>
            </a:r>
          </a:p>
          <a:p>
            <a:r>
              <a:t>Misconception to address</a:t>
            </a:r>
          </a:p>
          <a:p>
            <a:r>
              <a:t>Use the outcomes listed on this slide to check understanding through the small examples, rather than asking only whether everybody understands.</a:t>
            </a:r>
          </a:p>
          <a:p>
            <a:r>
              <a:t/>
            </a:r>
          </a:p>
          <a:p>
            <a:r>
              <a:t>Continue to</a:t>
            </a:r>
          </a:p>
          <a:p>
            <a:r>
              <a:t>Two minutes: what stuck from Week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what stuck from Week 1?</a:t>
            </a:r>
          </a:p>
          <a:p>
            <a:r>
              <a:t>CML3112, Week 2, slide 5</a:t>
            </a:r>
          </a:p>
          <a:p>
            <a:r>
              <a:t/>
            </a:r>
          </a:p>
          <a:p>
            <a:r>
              <a:t>Explanation to give</a:t>
            </a:r>
          </a:p>
          <a:p>
            <a:r>
              <a:t>Recall features as information known beforehand and target as the answer to predict. Days until servicing is a quantity, so regression. A fixed verified formula may make ML unnecessary. Use the following answer slide to explain why, without requiring partner discussion.</a:t>
            </a:r>
          </a:p>
          <a:p>
            <a:r>
              <a:t/>
            </a:r>
          </a:p>
          <a:p>
            <a:r>
              <a:t>Worked illustration / lecturer answer</a:t>
            </a:r>
          </a:p>
          <a:p>
            <a:r>
              <a:t>Point to the particular code cell or answer on this slide while explaining the reasoning.</a:t>
            </a:r>
          </a:p>
          <a:p>
            <a:r>
              <a:t/>
            </a:r>
          </a:p>
          <a:p>
            <a:r>
              <a:t>Misconception to address</a:t>
            </a:r>
          </a:p>
          <a:p>
            <a:r>
              <a:t>The current assignment guide and live form take precedence over historical logistics printed in this deck.</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CML3112, Week 2, slide 6</a:t>
            </a:r>
          </a:p>
          <a:p>
            <a:r>
              <a:t/>
            </a:r>
          </a:p>
          <a:p>
            <a:r>
              <a:t>Explanation to give</a:t>
            </a:r>
          </a:p>
          <a:p>
            <a:r>
              <a:t>For each answer on this slide, identify the deciding feature of the question: timing of the input, kind of target, run order or operation requested.</a:t>
            </a:r>
          </a:p>
          <a:p>
            <a:r>
              <a:t/>
            </a:r>
          </a:p>
          <a:p>
            <a:r>
              <a:t>Worked illustration / lecturer answer</a:t>
            </a:r>
          </a:p>
          <a:p>
            <a:r>
              <a:t>The input columns, and the value?</a:t>
            </a:r>
          </a:p>
          <a:p>
            <a:r>
              <a:t>The columns you were given are the FEATURES. The value you predicted is the TARGET. One row with both is one EXAMPLE.</a:t>
            </a:r>
          </a:p>
          <a:p>
            <a:r>
              <a:t>Days until servicing?</a:t>
            </a:r>
          </a:p>
          <a:p>
            <a:r>
              <a:t>Regression — the answer is a number with a unit. If it were 'service due or not' it would be classification.</a:t>
            </a:r>
          </a:p>
          <a:p>
            <a:r>
              <a:t>One of the four limits?</a:t>
            </a:r>
          </a:p>
          <a:p>
            <a:r>
              <a:t>Missing data, weak patterns, a better physical model or changed operating conditions.</a:t>
            </a:r>
          </a:p>
          <a:p>
            <a:r>
              <a:t/>
            </a:r>
          </a:p>
          <a:p>
            <a:r>
              <a:t>Misconception to address</a:t>
            </a:r>
          </a:p>
          <a:p>
            <a:r>
              <a:t>If a student gives a different engineering example, check its reasoning and timing rather than requiring identical wording to the printed example.</a:t>
            </a:r>
          </a:p>
          <a:p>
            <a:r>
              <a:t/>
            </a:r>
          </a:p>
          <a:p>
            <a:r>
              <a:t>Continue to</a:t>
            </a:r>
          </a:p>
          <a:p>
            <a:r>
              <a:t>Four questions, four tools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questions, four tools</a:t>
            </a:r>
          </a:p>
          <a:p>
            <a:r>
              <a:t>CML3112, Week 2, slide 7</a:t>
            </a:r>
          </a:p>
          <a:p>
            <a:r>
              <a:t/>
            </a:r>
          </a:p>
          <a:p>
            <a:r>
              <a:t>Explanation to give</a:t>
            </a:r>
          </a:p>
          <a:p>
            <a:r>
              <a:t>Give each tool one job: Python expresses instructions, a notebook combines code and explanations, Colab runs the notebook in a browser, and Git/GitHub records and hosts project versions.</a:t>
            </a:r>
          </a:p>
          <a:p>
            <a:r>
              <a:t/>
            </a:r>
          </a:p>
          <a:p>
            <a:r>
              <a:t>Worked illustration / lecturer answer</a:t>
            </a:r>
          </a:p>
          <a:p>
            <a:r>
              <a:t>A saved .ipynb can move between notebook environments. Moving the document does not necessarily move the running session or its uploaded CSV.</a:t>
            </a:r>
          </a:p>
          <a:p>
            <a:r>
              <a:t/>
            </a:r>
          </a:p>
          <a:p>
            <a:r>
              <a:t>Misconception to address</a:t>
            </a:r>
          </a:p>
          <a:p>
            <a:r>
              <a:t>Do not imply students must master all tools at once or that no other tool can ever be needed. Demonstrate the browser workflow used for this assessment.</a:t>
            </a:r>
          </a:p>
          <a:p>
            <a:r>
              <a:t/>
            </a:r>
          </a:p>
          <a:p>
            <a:r>
              <a:t>Continue to</a:t>
            </a:r>
          </a:p>
          <a:p>
            <a:r>
              <a:t>The four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questions</a:t>
            </a:r>
          </a:p>
          <a:p>
            <a:r>
              <a:t>CML3112, Week 2, slide 8</a:t>
            </a:r>
          </a:p>
          <a:p>
            <a:r>
              <a:t/>
            </a:r>
          </a:p>
          <a:p>
            <a:r>
              <a:t>Explanation to give</a:t>
            </a:r>
          </a:p>
          <a:p>
            <a:r>
              <a:t>Give each tool one job: Python expresses instructions, a notebook combines code and explanations, Colab runs the notebook in a browser, and Git/GitHub records and hosts project versions.</a:t>
            </a:r>
          </a:p>
          <a:p>
            <a:r>
              <a:t/>
            </a:r>
          </a:p>
          <a:p>
            <a:r>
              <a:t>Worked illustration / lecturer answer</a:t>
            </a:r>
          </a:p>
          <a:p>
            <a:r>
              <a:t>A saved .ipynb can move between notebook environments. Moving the document does not necessarily move the running session or its uploaded CSV.</a:t>
            </a:r>
          </a:p>
          <a:p>
            <a:r>
              <a:t/>
            </a:r>
          </a:p>
          <a:p>
            <a:r>
              <a:t>Misconception to address</a:t>
            </a:r>
          </a:p>
          <a:p>
            <a:r>
              <a:t>Do not imply students must master all tools at once or that no other tool can ever be needed. Demonstrate the browser workflow used for this assessment.</a:t>
            </a:r>
          </a:p>
          <a:p>
            <a:r>
              <a:t/>
            </a:r>
          </a:p>
          <a:p>
            <a:r>
              <a:t>Continue to</a:t>
            </a:r>
          </a:p>
          <a:p>
            <a:r>
              <a:t>Google Colab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Colab</a:t>
            </a:r>
          </a:p>
          <a:p>
            <a:r>
              <a:t>CML3112, Week 2, slide 9</a:t>
            </a:r>
          </a:p>
          <a:p>
            <a:r>
              <a:t/>
            </a:r>
          </a:p>
          <a:p>
            <a:r>
              <a:t>Explanation to give</a:t>
            </a:r>
          </a:p>
          <a:p>
            <a:r>
              <a:t>Demonstrate the file-opening path slowly: sign in, open Colab, choose the notebook upload option and select the extracted .ipynb file. Connecting starts a remote Python runtime.</a:t>
            </a:r>
          </a:p>
          <a:p>
            <a:r>
              <a:t/>
            </a:r>
          </a:p>
          <a:p>
            <a:r>
              <a:t>Worked illustration / lecturer answer</a:t>
            </a:r>
          </a:p>
          <a:p>
            <a:r>
              <a:t>Open proof_of_life.ipynb, identify a code cell and run it with Shift+Enter. Show the result underneath. Upload its CSV separately through the runtime Files panel before reading it.</a:t>
            </a:r>
          </a:p>
          <a:p>
            <a:r>
              <a:t/>
            </a:r>
          </a:p>
          <a:p>
            <a:r>
              <a:t>Misconception to address</a:t>
            </a:r>
          </a:p>
          <a:p>
            <a:r>
              <a:t>Saving the notebook to Drive and uploading data to a temporary runtime are separate actions. If the runtime is replaced, the data file may need uploading again.</a:t>
            </a:r>
          </a:p>
          <a:p>
            <a:r>
              <a:t/>
            </a:r>
          </a:p>
          <a:p>
            <a:r>
              <a:t>Continue to</a:t>
            </a:r>
          </a:p>
          <a:p>
            <a:r>
              <a:t>Your first notebook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first notebook</a:t>
            </a:r>
          </a:p>
          <a:p>
            <a:r>
              <a:t>CML3112, Week 2, slide 10</a:t>
            </a:r>
          </a:p>
          <a:p>
            <a:r>
              <a:t/>
            </a:r>
          </a:p>
          <a:p>
            <a:r>
              <a:t>Explanation to give</a:t>
            </a:r>
          </a:p>
          <a:p>
            <a:r>
              <a:t>Demonstrate the file-opening path slowly: sign in, open Colab, choose the notebook upload option and select the extracted .ipynb file. Connecting starts a remote Python runtime.</a:t>
            </a:r>
          </a:p>
          <a:p>
            <a:r>
              <a:t/>
            </a:r>
          </a:p>
          <a:p>
            <a:r>
              <a:t>Worked illustration / lecturer answer</a:t>
            </a:r>
          </a:p>
          <a:p>
            <a:r>
              <a:t>Open proof_of_life.ipynb, identify a code cell and run it with Shift+Enter. Show the result underneath. Upload its CSV separately through the runtime Files panel before reading it.</a:t>
            </a:r>
          </a:p>
          <a:p>
            <a:r>
              <a:t/>
            </a:r>
          </a:p>
          <a:p>
            <a:r>
              <a:t>Misconception to address</a:t>
            </a:r>
          </a:p>
          <a:p>
            <a:r>
              <a:t>Saving the notebook to Drive and uploading data to a temporary runtime are separate actions. If the runtime is replaced, the data file may need uploading again.</a:t>
            </a:r>
          </a:p>
          <a:p>
            <a:r>
              <a:t/>
            </a:r>
          </a:p>
          <a:p>
            <a:r>
              <a:t>Continue to</a:t>
            </a:r>
          </a:p>
          <a:p>
            <a:r>
              <a:t>Three cells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cells</a:t>
            </a:r>
          </a:p>
          <a:p>
            <a:r>
              <a:t>CML3112, Week 2, slide 11</a:t>
            </a:r>
          </a:p>
          <a:p>
            <a:r>
              <a:t/>
            </a:r>
          </a:p>
          <a:p>
            <a:r>
              <a:t>Explanation to give</a:t>
            </a:r>
          </a:p>
          <a:p>
            <a:r>
              <a:t>Read the three cells separately. Cell 1 prints the cohort greeting and 4. Cell 2 assigns readings = 12 and the f-string inserts 12 into the text. Repeating only cell 3 gives 17,22,27. Repeating cells 2 and 3 resets to 12 and ends at 17. Braces inside an f-string request the current value; they are not printed literally.</a:t>
            </a:r>
          </a:p>
          <a:p>
            <a:r>
              <a:t/>
            </a:r>
          </a:p>
          <a:p>
            <a:r>
              <a:t>Worked illustration / lecturer answer</a:t>
            </a:r>
          </a:p>
          <a:p>
            <a:r>
              <a:t>Point to the particular code cell or answer on this slide while explaining the reasoning.</a:t>
            </a:r>
          </a:p>
          <a:p>
            <a:r>
              <a:t/>
            </a:r>
          </a:p>
          <a:p>
            <a:r>
              <a:t>Misconception to address</a:t>
            </a:r>
          </a:p>
          <a:p>
            <a:r>
              <a:t>The current assignment guide and live form take precedence over historical logistics printed in this deck.</a:t>
            </a:r>
          </a:p>
          <a:p>
            <a:r>
              <a:t/>
            </a:r>
          </a:p>
          <a:p>
            <a:r>
              <a:t>Continue to</a:t>
            </a:r>
          </a:p>
          <a:p>
            <a:r>
              <a:t>The three things that go wrong in the first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things that go wrong in the first ten minutes</a:t>
            </a:r>
          </a:p>
          <a:p>
            <a:r>
              <a:t>CML3112, Week 2, slide 12</a:t>
            </a:r>
          </a:p>
          <a:p>
            <a:r>
              <a:t/>
            </a:r>
          </a:p>
          <a:p>
            <a:r>
              <a:t>Explanation to give</a:t>
            </a:r>
          </a:p>
          <a:p>
            <a:r>
              <a:t>Teach a diagnosis sequence: read the final error line, locate the indicated instruction, compare the expected input with what actually exists, and fix the first cause. Explain the error type rather than treating all red output alike.</a:t>
            </a:r>
          </a:p>
          <a:p>
            <a:r>
              <a:t/>
            </a:r>
          </a:p>
          <a:p>
            <a:r>
              <a:t>Worked illustration / lecturer answer</a:t>
            </a:r>
          </a:p>
          <a:p>
            <a:r>
              <a:t>NameError often means a misspelled or not-yet-created name. FileNotFoundError means the named path was not found. TypeError can result from adding text and a number. A wrong answer can occur with no exception at all.</a:t>
            </a:r>
          </a:p>
          <a:p>
            <a:r>
              <a:t/>
            </a:r>
          </a:p>
          <a:p>
            <a:r>
              <a:t>Misconception to address</a:t>
            </a:r>
          </a:p>
          <a:p>
            <a:r>
              <a:t>The highlighted line is where Python noticed a problem, not always its original cause. Do not install an unrelated package when the exercise deliberately names a nonexistent module.</a:t>
            </a:r>
          </a:p>
          <a:p>
            <a:r>
              <a:t/>
            </a:r>
          </a:p>
          <a:p>
            <a:r>
              <a:t>Continue to</a:t>
            </a:r>
          </a:p>
          <a:p>
            <a:r>
              <a:t>Markdown cell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Markdown cell</a:t>
            </a:r>
          </a:p>
          <a:p>
            <a:r>
              <a:t>CML3112, Week 2, slide 13</a:t>
            </a:r>
          </a:p>
          <a:p>
            <a:r>
              <a:t/>
            </a:r>
          </a:p>
          <a:p>
            <a:r>
              <a:t>Explanation to give</a:t>
            </a:r>
          </a:p>
          <a:p>
            <a:r>
              <a:t>Explain the notebook as a document containing executable instructions and readable explanations. The code cell holds Python; the text cell explains the reasoning. Output sits below the code that produced it.</a:t>
            </a:r>
          </a:p>
          <a:p>
            <a:r>
              <a:t/>
            </a:r>
          </a:p>
          <a:p>
            <a:r>
              <a:t>Worked illustration / lecturer answer</a:t>
            </a:r>
          </a:p>
          <a:p>
            <a:r>
              <a:t>In one code cell, print(2 + 2) displays 4 below it. In a text cell, write “I added two counts.” Running that text cell formats the explanation rather than calculating a result.</a:t>
            </a:r>
          </a:p>
          <a:p>
            <a:r>
              <a:t/>
            </a:r>
          </a:p>
          <a:p>
            <a:r>
              <a:t>Misconception to address</a:t>
            </a:r>
          </a:p>
          <a:p>
            <a:r>
              <a:t>A cell's location is document order, while its execution counter reflects when it last ran. Saved output may come from an earlier version of the code.</a:t>
            </a:r>
          </a:p>
          <a:p>
            <a:r>
              <a:t/>
            </a:r>
          </a:p>
          <a:p>
            <a:r>
              <a:t>Continue to</a:t>
            </a:r>
          </a:p>
          <a:p>
            <a:r>
              <a:t>Thirty seconds: check you are with 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check you are with me</a:t>
            </a:r>
          </a:p>
          <a:p>
            <a:r>
              <a:t>CML3112, Week 2, slide 14</a:t>
            </a:r>
          </a:p>
          <a:p>
            <a:r>
              <a:t/>
            </a:r>
          </a:p>
          <a:p>
            <a:r>
              <a:t>Explanation to give</a:t>
            </a:r>
          </a:p>
          <a:p>
            <a:r>
              <a:t>Enter creates a new line; Shift+Enter executes. hello appears below its code cell. Values 17 and 27 can both result from the shown update if it has run different numbers of times. The difference exposes shared runtime state, not different arithmetic.</a:t>
            </a:r>
          </a:p>
          <a:p>
            <a:r>
              <a:t/>
            </a:r>
          </a:p>
          <a:p>
            <a:r>
              <a:t>Worked illustration / lecturer answer</a:t>
            </a:r>
          </a:p>
          <a:p>
            <a:r>
              <a:t>Point to the particular code cell or answer on this slide while explaining the reasoning.</a:t>
            </a:r>
          </a:p>
          <a:p>
            <a:r>
              <a:t/>
            </a:r>
          </a:p>
          <a:p>
            <a:r>
              <a:t>Misconception to address</a:t>
            </a:r>
          </a:p>
          <a:p>
            <a:r>
              <a:t>The current assignment guide and live form take precedence over historical logistics printed in this deck.</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CML3112, Week 2, slide 15</a:t>
            </a:r>
          </a:p>
          <a:p>
            <a:r>
              <a:t/>
            </a:r>
          </a:p>
          <a:p>
            <a:r>
              <a:t>Explanation to give</a:t>
            </a:r>
          </a:p>
          <a:p>
            <a:r>
              <a:t>For each answer on this slide, identify the deciding feature of the question: timing of the input, kind of target, run order or operation requested.</a:t>
            </a:r>
          </a:p>
          <a:p>
            <a:r>
              <a:t/>
            </a:r>
          </a:p>
          <a:p>
            <a:r>
              <a:t>Worked illustration / lecturer answer</a:t>
            </a:r>
          </a:p>
          <a:p>
            <a:r>
              <a:t>Enter did nothing?</a:t>
            </a:r>
          </a:p>
          <a:p>
            <a:r>
              <a:t>Enter adds a new line inside a cell. Shift + Enter runs the cell.</a:t>
            </a:r>
          </a:p>
          <a:p>
            <a:r>
              <a:t>Where does 'hello' appear?</a:t>
            </a:r>
          </a:p>
          <a:p>
            <a:r>
              <a:t>The output appears directly below the cell that produced it.</a:t>
            </a:r>
          </a:p>
          <a:p>
            <a:r>
              <a:t>27 versus 17 — who is wrong?</a:t>
            </a:r>
          </a:p>
          <a:p>
            <a:r>
              <a:t>Neither. They have run the cell a different number of times. That is not a difference of opinion, it is a property of how notebooks work — and it is the subject of the execution-order block.</a:t>
            </a:r>
          </a:p>
          <a:p>
            <a:r>
              <a:t/>
            </a:r>
          </a:p>
          <a:p>
            <a:r>
              <a:t>Misconception to address</a:t>
            </a:r>
          </a:p>
          <a:p>
            <a:r>
              <a:t>If a student gives a different engineering example, check its reasoning and timing rather than requiring identical wording to the printed example.</a:t>
            </a:r>
          </a:p>
          <a:p>
            <a:r>
              <a:t/>
            </a:r>
          </a:p>
          <a:p>
            <a:r>
              <a:t>Continue to</a:t>
            </a:r>
          </a:p>
          <a:p>
            <a:r>
              <a:t>Notebook cells and execution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cells and execution</a:t>
            </a:r>
          </a:p>
          <a:p>
            <a:r>
              <a:t>CML3112, Week 2, slide 16</a:t>
            </a:r>
          </a:p>
          <a:p>
            <a:r>
              <a:t/>
            </a:r>
          </a:p>
          <a:p>
            <a:r>
              <a:t>Explanation to give</a:t>
            </a:r>
          </a:p>
          <a:p>
            <a:r>
              <a:t>This divider introduces The anatomy of a notebook. Explain the notebook as a document containing executable instructions and readable explanations. The code cell holds Python; the text cell explains the reasoning. Output sits below the code that produced it.</a:t>
            </a:r>
          </a:p>
          <a:p>
            <a:r>
              <a:t/>
            </a:r>
          </a:p>
          <a:p>
            <a:r>
              <a:t>Worked illustration / lecturer answer</a:t>
            </a:r>
          </a:p>
          <a:p>
            <a:r>
              <a:t>In one code cell, print(2 + 2) displays 4 below it. In a text cell, write “I added two counts.” Running that text cell formats the explanation rather than calculating a result.</a:t>
            </a:r>
          </a:p>
          <a:p>
            <a:r>
              <a:t/>
            </a:r>
          </a:p>
          <a:p>
            <a:r>
              <a:t>Misconception to address</a:t>
            </a:r>
          </a:p>
          <a:p>
            <a:r>
              <a:t>Keep this transition brief. The detailed demonstration follows; do not add another activity before students have seen it.</a:t>
            </a:r>
          </a:p>
          <a:p>
            <a:r>
              <a:t/>
            </a:r>
          </a:p>
          <a:p>
            <a:r>
              <a:t>Continue to</a:t>
            </a:r>
          </a:p>
          <a:p>
            <a:r>
              <a:t>The anatomy of a notebook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anatomy of a notebook</a:t>
            </a:r>
          </a:p>
          <a:p>
            <a:r>
              <a:t>CML3112, Week 2, slide 17</a:t>
            </a:r>
          </a:p>
          <a:p>
            <a:r>
              <a:t/>
            </a:r>
          </a:p>
          <a:p>
            <a:r>
              <a:t>Explanation to give</a:t>
            </a:r>
          </a:p>
          <a:p>
            <a:r>
              <a:t>Explain the notebook as a document containing executable instructions and readable explanations. The code cell holds Python; the text cell explains the reasoning. Output sits below the code that produced it.</a:t>
            </a:r>
          </a:p>
          <a:p>
            <a:r>
              <a:t/>
            </a:r>
          </a:p>
          <a:p>
            <a:r>
              <a:t>Worked illustration / lecturer answer</a:t>
            </a:r>
          </a:p>
          <a:p>
            <a:r>
              <a:t>In one code cell, print(2 + 2) displays 4 below it. In a text cell, write “I added two counts.” Running that text cell formats the explanation rather than calculating a result.</a:t>
            </a:r>
          </a:p>
          <a:p>
            <a:r>
              <a:t/>
            </a:r>
          </a:p>
          <a:p>
            <a:r>
              <a:t>Misconception to address</a:t>
            </a:r>
          </a:p>
          <a:p>
            <a:r>
              <a:t>A cell's location is document order, while its execution counter reflects when it last ran. Saved output may come from an earlier version of the code.</a:t>
            </a:r>
          </a:p>
          <a:p>
            <a:r>
              <a:t/>
            </a:r>
          </a:p>
          <a:p>
            <a:r>
              <a:t>Continue to</a:t>
            </a:r>
          </a:p>
          <a:p>
            <a:r>
              <a:t>Cell, kernel, and the execution counter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Cell, kernel, and the execution counter</a:t>
            </a:r>
          </a:p>
          <a:p>
            <a:r>
              <a:t>CML3112, Week 2, slide 18</a:t>
            </a:r>
          </a:p>
          <a:p>
            <a:r>
              <a:t/>
            </a:r>
          </a:p>
          <a:p>
            <a:r>
              <a:t>Explanation to give</a:t>
            </a:r>
          </a:p>
          <a:p>
            <a:r>
              <a:t>Explain the notebook as a document containing executable instructions and readable explanations. The code cell holds Python; the text cell explains the reasoning. Output sits below the code that produced it.</a:t>
            </a:r>
          </a:p>
          <a:p>
            <a:r>
              <a:t/>
            </a:r>
          </a:p>
          <a:p>
            <a:r>
              <a:t>Worked illustration / lecturer answer</a:t>
            </a:r>
          </a:p>
          <a:p>
            <a:r>
              <a:t>In one code cell, print(2 + 2) displays 4 below it. In a text cell, write “I added two counts.” Running that text cell formats the explanation rather than calculating a result.</a:t>
            </a:r>
          </a:p>
          <a:p>
            <a:r>
              <a:t/>
            </a:r>
          </a:p>
          <a:p>
            <a:r>
              <a:t>Misconception to address</a:t>
            </a:r>
          </a:p>
          <a:p>
            <a:r>
              <a:t>A cell's location is document order, while its execution counter reflects when it last ran. Saved output may come from an earlier version of the code.</a:t>
            </a:r>
          </a:p>
          <a:p>
            <a:r>
              <a:t/>
            </a:r>
          </a:p>
          <a:p>
            <a:r>
              <a:t>Continue to</a:t>
            </a:r>
          </a:p>
          <a:p>
            <a:r>
              <a:t>The trap, and the habit that saves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and the habit that saves you</a:t>
            </a:r>
          </a:p>
          <a:p>
            <a:r>
              <a:t>CML3112, Week 2, slide 19</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Continue to</a:t>
            </a:r>
          </a:p>
          <a:p>
            <a:r>
              <a:t>The same cell, run three times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cell, run three times</a:t>
            </a:r>
          </a:p>
          <a:p>
            <a:r>
              <a:t>CML3112, Week 2, slide 20</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Continue to</a:t>
            </a:r>
          </a:p>
          <a:p>
            <a:r>
              <a:t>Can you answer these?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you answer these?</a:t>
            </a:r>
          </a:p>
          <a:p>
            <a:r>
              <a:t>CML3112, Week 2, slide 21</a:t>
            </a:r>
          </a:p>
          <a:p>
            <a:r>
              <a:t/>
            </a:r>
          </a:p>
          <a:p>
            <a:r>
              <a:t>Explanation to give</a:t>
            </a:r>
          </a:p>
          <a:p>
            <a:r>
              <a:t>Counters [4],[1],[5],[2] show nonsequential execution, but do not alone prove an incorrect answer. Restart and run in the written order to check. Failure after a restart may reveal a stale variable, missing input file or missing setup; diagnose the actual first exception.</a:t>
            </a:r>
          </a:p>
          <a:p>
            <a:r>
              <a:t/>
            </a:r>
          </a:p>
          <a:p>
            <a:r>
              <a:t>Worked illustration / lecturer answer</a:t>
            </a:r>
          </a:p>
          <a:p>
            <a:r>
              <a:t>Point to the particular code cell or answer on this slide while explaining the reasoning.</a:t>
            </a:r>
          </a:p>
          <a:p>
            <a:r>
              <a:t/>
            </a:r>
          </a:p>
          <a:p>
            <a:r>
              <a:t>Misconception to address</a:t>
            </a:r>
          </a:p>
          <a:p>
            <a:r>
              <a:t>The current assignment guide and live form take precedence over historical logistics printed in this deck.</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CML3112, Week 2, slide 22</a:t>
            </a:r>
          </a:p>
          <a:p>
            <a:r>
              <a:t/>
            </a:r>
          </a:p>
          <a:p>
            <a:r>
              <a:t>Explanation to give</a:t>
            </a:r>
          </a:p>
          <a:p>
            <a:r>
              <a:t>For each answer on this slide, identify the deciding feature of the question: timing of the input, kind of target, run order or operation requested.</a:t>
            </a:r>
          </a:p>
          <a:p>
            <a:r>
              <a:t/>
            </a:r>
          </a:p>
          <a:p>
            <a:r>
              <a:t>Worked illustration / lecturer answer</a:t>
            </a:r>
          </a:p>
          <a:p>
            <a:r>
              <a:t>Counters [4], [1], [5], [2]?</a:t>
            </a:r>
          </a:p>
          <a:p>
            <a:r>
              <a:t>They were run out of order, so the kernel's memory does not match what the notebook looks like. Do not trust the final answer until you have restarted and run all.</a:t>
            </a:r>
          </a:p>
          <a:p>
            <a:r>
              <a:t>It fails after restarting?</a:t>
            </a:r>
          </a:p>
          <a:p>
            <a:r>
              <a:t>Cell 6 may need a value from an earlier cell, a deleted cell or a cell run out of order. Restart and run all cells to locate the first failure.</a:t>
            </a:r>
          </a:p>
          <a:p>
            <a:r>
              <a:t>Why restart rather than re-run one cell?</a:t>
            </a:r>
          </a:p>
          <a:p>
            <a:r>
              <a:t>Because re-running one cell keeps everything else the kernel is holding, including things that no longer exist anywhere in your code. Only a restart proves the notebook can produce its results from nothing but itself — which is what reproducibility means.</a:t>
            </a:r>
          </a:p>
          <a:p>
            <a:r>
              <a:t/>
            </a:r>
          </a:p>
          <a:p>
            <a:r>
              <a:t>Misconception to address</a:t>
            </a:r>
          </a:p>
          <a:p>
            <a:r>
              <a:t>If a student gives a different engineering example, check its reasoning and timing rather than requiring identical wording to the printed example.</a:t>
            </a:r>
          </a:p>
          <a:p>
            <a:r>
              <a:t/>
            </a:r>
          </a:p>
          <a:p>
            <a:r>
              <a:t>Continue to</a:t>
            </a:r>
          </a:p>
          <a:p>
            <a:r>
              <a:t>Diagnosing a notebook from its counters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Diagnosing a notebook from its counters</a:t>
            </a:r>
          </a:p>
          <a:p>
            <a:r>
              <a:t>CML3112, Week 2, slide 23</a:t>
            </a:r>
          </a:p>
          <a:p>
            <a:r>
              <a:t/>
            </a:r>
          </a:p>
          <a:p>
            <a:r>
              <a:t>Explanation to give</a:t>
            </a:r>
          </a:p>
          <a:p>
            <a:r>
              <a:t>Counters [2],[7],[3] reveal execution order, not a complete history. A blank counter usually means a cell has not executed in the current session or its execution information was cleared. It does not establish that every later result is wrong. Restart, load the required data and run all to test the dependency chain.</a:t>
            </a:r>
          </a:p>
          <a:p>
            <a:r>
              <a:t/>
            </a:r>
          </a:p>
          <a:p>
            <a:r>
              <a:t>Worked illustration / lecturer answer</a:t>
            </a:r>
          </a:p>
          <a:p>
            <a:r>
              <a:t>Point to the particular code cell or answer on this slide while explaining the reasoning.</a:t>
            </a:r>
          </a:p>
          <a:p>
            <a:r>
              <a:t/>
            </a:r>
          </a:p>
          <a:p>
            <a:r>
              <a:t>Misconception to address</a:t>
            </a:r>
          </a:p>
          <a:p>
            <a:r>
              <a:t>The current assignment guide and live form take precedence over historical logistics printed in this deck.</a:t>
            </a:r>
          </a:p>
          <a:p>
            <a:r>
              <a:t/>
            </a:r>
          </a:p>
          <a:p>
            <a:r>
              <a:t>Continue to</a:t>
            </a:r>
          </a:p>
          <a:p>
            <a:r>
              <a:t>Break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a:t>
            </a:r>
          </a:p>
          <a:p>
            <a:r>
              <a:t>CML3112, Week 2, slide 24</a:t>
            </a:r>
          </a:p>
          <a:p>
            <a:r>
              <a:t/>
            </a:r>
          </a:p>
          <a:p>
            <a:r>
              <a:t>Explanation to give</a:t>
            </a:r>
          </a:p>
          <a:p>
            <a:r>
              <a:t>Announce the actual return time based on the clock now, rather than leaving “ten minutes” ambiguous.</a:t>
            </a:r>
          </a:p>
          <a:p>
            <a:r>
              <a:t/>
            </a:r>
          </a:p>
          <a:p>
            <a:r>
              <a:t>Worked illustration / lecturer answer</a:t>
            </a:r>
          </a:p>
          <a:p>
            <a:r>
              <a:t>Save the current notebook before the break. On return, continue at the next topic named in the deck.</a:t>
            </a:r>
          </a:p>
          <a:p>
            <a:r>
              <a:t/>
            </a:r>
          </a:p>
          <a:p>
            <a:r>
              <a:t>Misconception to address</a:t>
            </a:r>
          </a:p>
          <a:p>
            <a:r>
              <a:t>No new assessment or group task is assigned by this divider.</a:t>
            </a:r>
          </a:p>
          <a:p>
            <a:r>
              <a:t/>
            </a:r>
          </a:p>
          <a:p>
            <a:r>
              <a:t>Continue to</a:t>
            </a:r>
          </a:p>
          <a:p>
            <a:r>
              <a:t>What version control gives you</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version control gives you</a:t>
            </a:r>
          </a:p>
          <a:p>
            <a:r>
              <a:t>CML3112, Week 2, slide 25</a:t>
            </a:r>
          </a:p>
          <a:p>
            <a:r>
              <a:t/>
            </a:r>
          </a:p>
          <a:p>
            <a:r>
              <a:t>Explanation to give</a:t>
            </a:r>
          </a:p>
          <a:p>
            <a:r>
              <a:t>Distinguish saving the working file, recording a version and submitting an assignment. Git records chosen changes in commits; GitHub hosts a repository. A commit message should describe the change.</a:t>
            </a:r>
          </a:p>
          <a:p>
            <a:r>
              <a:t/>
            </a:r>
          </a:p>
          <a:p>
            <a:r>
              <a:t>Worked illustration / lecturer answer</a:t>
            </a:r>
          </a:p>
          <a:p>
            <a:r>
              <a:t>For today's browser route, download the notebook from Colab, create a private GitHub repository, upload the notebook and CSV, commit them, then edit and commit your own README. The A2 form receives the notebook and README plus the repository URL.</a:t>
            </a:r>
          </a:p>
          <a:p>
            <a:r>
              <a:t/>
            </a:r>
          </a:p>
          <a:p>
            <a:r>
              <a:t>Misconception to address</a:t>
            </a:r>
          </a:p>
          <a:p>
            <a:r>
              <a:t>git commands belong in a terminal, not a Python cell. The web interface handles the remote commit directly. A repository upload does not replace the assignment form.</a:t>
            </a:r>
          </a:p>
          <a:p>
            <a:r>
              <a:t/>
            </a:r>
          </a:p>
          <a:p>
            <a:r>
              <a:t>Continue to</a:t>
            </a:r>
          </a:p>
          <a:p>
            <a:r>
              <a:t>Tracking changes with Git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Tracking changes with Git</a:t>
            </a:r>
          </a:p>
          <a:p>
            <a:r>
              <a:t>CML3112, Week 2, slide 26</a:t>
            </a:r>
          </a:p>
          <a:p>
            <a:r>
              <a:t/>
            </a:r>
          </a:p>
          <a:p>
            <a:r>
              <a:t>Explanation to give</a:t>
            </a:r>
          </a:p>
          <a:p>
            <a:r>
              <a:t>Distinguish saving the working file, recording a version and submitting an assignment. Git records chosen changes in commits; GitHub hosts a repository. A commit message should describe the change.</a:t>
            </a:r>
          </a:p>
          <a:p>
            <a:r>
              <a:t/>
            </a:r>
          </a:p>
          <a:p>
            <a:r>
              <a:t>Worked illustration / lecturer answer</a:t>
            </a:r>
          </a:p>
          <a:p>
            <a:r>
              <a:t>For today's browser route, download the notebook from Colab, create a private GitHub repository, upload the notebook and CSV, commit them, then edit and commit your own README. The A2 form receives the notebook and README plus the repository URL.</a:t>
            </a:r>
          </a:p>
          <a:p>
            <a:r>
              <a:t/>
            </a:r>
          </a:p>
          <a:p>
            <a:r>
              <a:t>Misconception to address</a:t>
            </a:r>
          </a:p>
          <a:p>
            <a:r>
              <a:t>git commands belong in a terminal, not a Python cell. The web interface handles the remote commit directly. A repository upload does not replace the assignment form.</a:t>
            </a:r>
          </a:p>
          <a:p>
            <a:r>
              <a:t/>
            </a:r>
          </a:p>
          <a:p>
            <a:r>
              <a:t>Continue to</a:t>
            </a:r>
          </a:p>
          <a:p>
            <a:r>
              <a:t>The four places your work can be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places your work can be</a:t>
            </a:r>
          </a:p>
          <a:p>
            <a:r>
              <a:t>CML3112, Week 2, slide 27</a:t>
            </a:r>
          </a:p>
          <a:p>
            <a:r>
              <a:t/>
            </a:r>
          </a:p>
          <a:p>
            <a:r>
              <a:t>Explanation to give</a:t>
            </a:r>
          </a:p>
          <a:p>
            <a:r>
              <a:t>Distinguish saving the working file, recording a version and submitting an assignment. Git records chosen changes in commits; GitHub hosts a repository. A commit message should describe the change.</a:t>
            </a:r>
          </a:p>
          <a:p>
            <a:r>
              <a:t/>
            </a:r>
          </a:p>
          <a:p>
            <a:r>
              <a:t>Worked illustration / lecturer answer</a:t>
            </a:r>
          </a:p>
          <a:p>
            <a:r>
              <a:t>For today's browser route, download the notebook from Colab, create a private GitHub repository, upload the notebook and CSV, commit them, then edit and commit your own README. The A2 form receives the notebook and README plus the repository URL.</a:t>
            </a:r>
          </a:p>
          <a:p>
            <a:r>
              <a:t/>
            </a:r>
          </a:p>
          <a:p>
            <a:r>
              <a:t>Misconception to address</a:t>
            </a:r>
          </a:p>
          <a:p>
            <a:r>
              <a:t>git commands belong in a terminal, not a Python cell. The web interface handles the remote commit directly. A repository upload does not replace the assignment form.</a:t>
            </a:r>
          </a:p>
          <a:p>
            <a:r>
              <a:t/>
            </a:r>
          </a:p>
          <a:p>
            <a:r>
              <a:t>Continue to</a:t>
            </a:r>
          </a:p>
          <a:p>
            <a:r>
              <a:t>Repository, commit, and push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Repository, commit, and push</a:t>
            </a:r>
          </a:p>
          <a:p>
            <a:r>
              <a:t>CML3112, Week 2, slide 28</a:t>
            </a:r>
          </a:p>
          <a:p>
            <a:r>
              <a:t/>
            </a:r>
          </a:p>
          <a:p>
            <a:r>
              <a:t>Explanation to give</a:t>
            </a:r>
          </a:p>
          <a:p>
            <a:r>
              <a:t>Distinguish saving the working file, recording a version and submitting an assignment. Git records chosen changes in commits; GitHub hosts a repository. A commit message should describe the change.</a:t>
            </a:r>
          </a:p>
          <a:p>
            <a:r>
              <a:t/>
            </a:r>
          </a:p>
          <a:p>
            <a:r>
              <a:t>Worked illustration / lecturer answer</a:t>
            </a:r>
          </a:p>
          <a:p>
            <a:r>
              <a:t>For today's browser route, download the notebook from Colab, create a private GitHub repository, upload the notebook and CSV, commit them, then edit and commit your own README. The A2 form receives the notebook and README plus the repository URL.</a:t>
            </a:r>
          </a:p>
          <a:p>
            <a:r>
              <a:t/>
            </a:r>
          </a:p>
          <a:p>
            <a:r>
              <a:t>Misconception to address</a:t>
            </a:r>
          </a:p>
          <a:p>
            <a:r>
              <a:t>git commands belong in a terminal, not a Python cell. The web interface handles the remote commit directly. A repository upload does not replace the assignment form.</a:t>
            </a:r>
          </a:p>
          <a:p>
            <a:r>
              <a:t/>
            </a:r>
          </a:p>
          <a:p>
            <a:r>
              <a:t>Continue to</a:t>
            </a:r>
          </a:p>
          <a:p>
            <a:r>
              <a:t>Doing it: repository, commit, push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Doing it: repository, commit, push</a:t>
            </a:r>
          </a:p>
          <a:p>
            <a:r>
              <a:t>CML3112, Week 2, slide 29</a:t>
            </a:r>
          </a:p>
          <a:p>
            <a:r>
              <a:t/>
            </a:r>
          </a:p>
          <a:p>
            <a:r>
              <a:t>Explanation to give</a:t>
            </a:r>
          </a:p>
          <a:p>
            <a:r>
              <a:t>Distinguish saving the working file, recording a version and submitting an assignment. Git records chosen changes in commits; GitHub hosts a repository. A commit message should describe the change.</a:t>
            </a:r>
          </a:p>
          <a:p>
            <a:r>
              <a:t/>
            </a:r>
          </a:p>
          <a:p>
            <a:r>
              <a:t>Worked illustration / lecturer answer</a:t>
            </a:r>
          </a:p>
          <a:p>
            <a:r>
              <a:t>For today's browser route, download the notebook from Colab, create a private GitHub repository, upload the notebook and CSV, commit them, then edit and commit your own README. The A2 form receives the notebook and README plus the repository URL.</a:t>
            </a:r>
          </a:p>
          <a:p>
            <a:r>
              <a:t/>
            </a:r>
          </a:p>
          <a:p>
            <a:r>
              <a:t>Misconception to address</a:t>
            </a:r>
          </a:p>
          <a:p>
            <a:r>
              <a:t>git commands belong in a terminal, not a Python cell. The web interface handles the remote commit directly. A repository upload does not replace the assignment form.</a:t>
            </a:r>
          </a:p>
          <a:p>
            <a:r>
              <a:t/>
            </a:r>
          </a:p>
          <a:p>
            <a:r>
              <a:t>Continue to</a:t>
            </a:r>
          </a:p>
          <a:p>
            <a:r>
              <a:t>From Colab to GitHub</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Colab to GitHub</a:t>
            </a:r>
          </a:p>
          <a:p>
            <a:r>
              <a:t>CML3112, Week 2, slide 30</a:t>
            </a:r>
          </a:p>
          <a:p>
            <a:r>
              <a:t/>
            </a:r>
          </a:p>
          <a:p>
            <a:r>
              <a:t>Explanation to give</a:t>
            </a:r>
          </a:p>
          <a:p>
            <a:r>
              <a:t>Distinguish saving the working file, recording a version and submitting an assignment. Git records chosen changes in commits; GitHub hosts a repository. A commit message should describe the change.</a:t>
            </a:r>
          </a:p>
          <a:p>
            <a:r>
              <a:t/>
            </a:r>
          </a:p>
          <a:p>
            <a:r>
              <a:t>Worked illustration / lecturer answer</a:t>
            </a:r>
          </a:p>
          <a:p>
            <a:r>
              <a:t>For today's browser route, download the notebook from Colab, create a private GitHub repository, upload the notebook and CSV, commit them, then edit and commit your own README. The A2 form receives the notebook and README plus the repository URL.</a:t>
            </a:r>
          </a:p>
          <a:p>
            <a:r>
              <a:t/>
            </a:r>
          </a:p>
          <a:p>
            <a:r>
              <a:t>Misconception to address</a:t>
            </a:r>
          </a:p>
          <a:p>
            <a:r>
              <a:t>git commands belong in a terminal, not a Python cell. The web interface handles the remote commit directly. A repository upload does not replace the assignment form.</a:t>
            </a:r>
          </a:p>
          <a:p>
            <a:r>
              <a:t/>
            </a:r>
          </a:p>
          <a:p>
            <a:r>
              <a:t>Continue to</a:t>
            </a:r>
          </a:p>
          <a:p>
            <a:r>
              <a:t>Assignment A2 — Proof of Life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Assignment A2 — Proof of Life</a:t>
            </a:r>
          </a:p>
          <a:p>
            <a:r>
              <a:t>CML3112, Week 2, slide 31</a:t>
            </a:r>
          </a:p>
          <a:p>
            <a:r>
              <a:t/>
            </a:r>
          </a:p>
          <a:p>
            <a:r>
              <a:t>Explanation to give</a:t>
            </a:r>
          </a:p>
          <a:p>
            <a:r>
              <a:t>A2 requires the completed main notebook and the student’s own README.md, with a repository URL in the form. Keep the CSV in the runtime/repository. The current guide is authoritative about the required execution-order explanation; repair exercises are practice. Read the live form cutoff rather than the old “start of Week 3” label.</a:t>
            </a:r>
          </a:p>
          <a:p>
            <a:r>
              <a:t/>
            </a:r>
          </a:p>
          <a:p>
            <a:r>
              <a:t>Worked illustration / lecturer answer</a:t>
            </a:r>
          </a:p>
          <a:p>
            <a:r>
              <a:t>Point to the particular code cell or answer on this slide while explaining the reasoning.</a:t>
            </a:r>
          </a:p>
          <a:p>
            <a:r>
              <a:t/>
            </a:r>
          </a:p>
          <a:p>
            <a:r>
              <a:t>Misconception to address</a:t>
            </a:r>
          </a:p>
          <a:p>
            <a:r>
              <a:t>The current assignment guide and live form take precedence over historical logistics printed in this deck.</a:t>
            </a:r>
          </a:p>
          <a:p>
            <a:r>
              <a:t/>
            </a:r>
          </a:p>
          <a:p>
            <a:r>
              <a:t>Continue to</a:t>
            </a:r>
          </a:p>
          <a:p>
            <a:r>
              <a:t>What makes a README worth reading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makes a README worth reading</a:t>
            </a:r>
          </a:p>
          <a:p>
            <a:r>
              <a:t>CML3112, Week 2, slide 32</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Continue to</a:t>
            </a:r>
          </a:p>
          <a:p>
            <a:r>
              <a:t>Break and Fix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and Fix</a:t>
            </a:r>
          </a:p>
          <a:p>
            <a:r>
              <a:t>CML3112, Week 2, slide 33</a:t>
            </a:r>
          </a:p>
          <a:p>
            <a:r>
              <a:t/>
            </a:r>
          </a:p>
          <a:p>
            <a:r>
              <a:t>Explanation to give</a:t>
            </a:r>
          </a:p>
          <a:p>
            <a:r>
              <a:t>Teach a diagnosis sequence: read the final error line, locate the indicated instruction, compare the expected input with what actually exists, and fix the first cause. Explain the error type rather than treating all red output alike.</a:t>
            </a:r>
          </a:p>
          <a:p>
            <a:r>
              <a:t/>
            </a:r>
          </a:p>
          <a:p>
            <a:r>
              <a:t>Worked illustration / lecturer answer</a:t>
            </a:r>
          </a:p>
          <a:p>
            <a:r>
              <a:t>NameError often means a misspelled or not-yet-created name. FileNotFoundError means the named path was not found. TypeError can result from adding text and a number. A wrong answer can occur with no exception at all.</a:t>
            </a:r>
          </a:p>
          <a:p>
            <a:r>
              <a:t/>
            </a:r>
          </a:p>
          <a:p>
            <a:r>
              <a:t>Misconception to address</a:t>
            </a:r>
          </a:p>
          <a:p>
            <a:r>
              <a:t>The highlighted line is where Python noticed a problem, not always its original cause. Do not install an unrelated package when the exercise deliberately names a nonexistent module.</a:t>
            </a:r>
          </a:p>
          <a:p>
            <a:r>
              <a:t/>
            </a:r>
          </a:p>
          <a:p>
            <a:r>
              <a:t>Continue to</a:t>
            </a:r>
          </a:p>
          <a:p>
            <a:r>
              <a:t>Before you leave the room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leave the room</a:t>
            </a:r>
          </a:p>
          <a:p>
            <a:r>
              <a:t>CML3112, Week 2, slide 34</a:t>
            </a:r>
          </a:p>
          <a:p>
            <a:r>
              <a:t/>
            </a:r>
          </a:p>
          <a:p>
            <a:r>
              <a:t>Explanation to give</a:t>
            </a:r>
          </a:p>
          <a:p>
            <a:r>
              <a:t>There are separate submission actions: activate the Week 2 quiz for a 24-hour window, and use the A2 form for the completed notebook plus README. Five minutes is expected quiz effort, not a five-minute opening. Where catching up, A1 and Quiz 1 have separate links.</a:t>
            </a:r>
          </a:p>
          <a:p>
            <a:r>
              <a:t/>
            </a:r>
          </a:p>
          <a:p>
            <a:r>
              <a:t>Worked illustration / lecturer answer</a:t>
            </a:r>
          </a:p>
          <a:p>
            <a:r>
              <a:t>Point to the particular code cell or answer on this slide while explaining the reasoning.</a:t>
            </a:r>
          </a:p>
          <a:p>
            <a:r>
              <a:t/>
            </a:r>
          </a:p>
          <a:p>
            <a:r>
              <a:t>Misconception to address</a:t>
            </a:r>
          </a:p>
          <a:p>
            <a:r>
              <a:t>The current assignment guide and live form take precedence over historical logistics printed in this deck.</a:t>
            </a:r>
          </a:p>
          <a:p>
            <a:r>
              <a:t/>
            </a:r>
          </a:p>
          <a:p>
            <a:r>
              <a:t>Continue to</a:t>
            </a:r>
          </a:p>
          <a:p>
            <a:r>
              <a:t>Revision material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Revision material</a:t>
            </a:r>
          </a:p>
          <a:p>
            <a:r>
              <a:t>CML3112, Week 2, slide 35</a:t>
            </a:r>
          </a:p>
          <a:p>
            <a:r>
              <a:t/>
            </a:r>
          </a:p>
          <a:p>
            <a:r>
              <a:t>Explanation to give</a:t>
            </a:r>
          </a:p>
          <a:p>
            <a:r>
              <a:t>Orient students to this particular lesson: explain what they will see demonstrated, which file they will use and what they must retain for revision. Keep the transition short enough to preserve explanation time.</a:t>
            </a:r>
          </a:p>
          <a:p>
            <a:r>
              <a:t/>
            </a:r>
          </a:p>
          <a:p>
            <a:r>
              <a:t>Worked illustration / lecturer answer</a:t>
            </a:r>
          </a:p>
          <a:p>
            <a:r>
              <a:t>Open the next worked example on the projector and name its input and intended result. Demonstrate it yourself before asking students to interpret a result. Use remaining summary and glossary pages for independent revision.</a:t>
            </a:r>
          </a:p>
          <a:p>
            <a:r>
              <a:t/>
            </a:r>
          </a:p>
          <a:p>
            <a:r>
              <a:t>Misconception to address</a:t>
            </a:r>
          </a:p>
          <a:p>
            <a:r>
              <a:t>The historical slide's timed group activity is not a requirement to stop for partner work. Use a lecturer-led walkthrough in the current limited class time.</a:t>
            </a:r>
          </a:p>
          <a:p>
            <a:r>
              <a:t/>
            </a:r>
          </a:p>
          <a:p>
            <a:r>
              <a:t>Continue to</a:t>
            </a:r>
          </a:p>
          <a:p>
            <a:r>
              <a:t>What you should take away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 should take away</a:t>
            </a:r>
          </a:p>
          <a:p>
            <a:r>
              <a:t>CML3112, Week 2, slide 36</a:t>
            </a:r>
          </a:p>
          <a:p>
            <a:r>
              <a:t/>
            </a:r>
          </a:p>
          <a:p>
            <a:r>
              <a:t>Explanation to give</a:t>
            </a:r>
          </a:p>
          <a:p>
            <a:r>
              <a:t>Today the learner creates, runs, saves and submits a notebook. Separate those actions so a successful run is not mistaken for a saved or submitted file.</a:t>
            </a:r>
          </a:p>
          <a:p>
            <a:r>
              <a:t/>
            </a:r>
          </a:p>
          <a:p>
            <a:r>
              <a:t>Worked illustration / lecturer answer</a:t>
            </a:r>
          </a:p>
          <a:p>
            <a:r>
              <a:t>The runtime remembers readings = 12. One update adding 5 gives 17; repeating only that update gives 22. A fresh run starts at 12 again.</a:t>
            </a:r>
          </a:p>
          <a:p>
            <a:r>
              <a:t/>
            </a:r>
          </a:p>
          <a:p>
            <a:r>
              <a:t>Misconception to address</a:t>
            </a:r>
          </a:p>
          <a:p>
            <a:r>
              <a:t>Use the outcomes listed on this slide to check understanding through the small examples, rather than asking only whether everybody understands.</a:t>
            </a:r>
          </a:p>
          <a:p>
            <a:r>
              <a:t/>
            </a:r>
          </a:p>
          <a:p>
            <a:r>
              <a:t>Continue to</a:t>
            </a:r>
          </a:p>
          <a:p>
            <a:r>
              <a:t>Self-test — write something for each before you look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Self-test — write something for each before you look</a:t>
            </a:r>
          </a:p>
          <a:p>
            <a:r>
              <a:t>CML3112, Week 2, slide 37</a:t>
            </a:r>
          </a:p>
          <a:p>
            <a:r>
              <a:t/>
            </a:r>
          </a:p>
          <a:p>
            <a:r>
              <a:t>Explanation to give</a:t>
            </a:r>
          </a:p>
          <a:p>
            <a:r>
              <a:t>A: restart and run with required data available, then diagnose the first error. B: counters record actual execution sequence. C: git add naming two files stages those two, not all five. D: GitHub records project history; the current course collects graded files through the assignment form. E: Tests 1 and 2 use the prepared offline environment with invigilated collection.</a:t>
            </a:r>
          </a:p>
          <a:p>
            <a:r>
              <a:t/>
            </a:r>
          </a:p>
          <a:p>
            <a:r>
              <a:t>Worked illustration / lecturer answer</a:t>
            </a:r>
          </a:p>
          <a:p>
            <a:r>
              <a:t>Point to the particular code cell or answer on this slide while explaining the reasoning.</a:t>
            </a:r>
          </a:p>
          <a:p>
            <a:r>
              <a:t/>
            </a:r>
          </a:p>
          <a:p>
            <a:r>
              <a:t>Misconception to address</a:t>
            </a:r>
          </a:p>
          <a:p>
            <a:r>
              <a:t>The current assignment guide and live form take precedence over historical logistics printed in this deck.</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CML3112, Week 2, slide 38</a:t>
            </a:r>
          </a:p>
          <a:p>
            <a:r>
              <a:t/>
            </a:r>
          </a:p>
          <a:p>
            <a:r>
              <a:t>Explanation to give</a:t>
            </a:r>
          </a:p>
          <a:p>
            <a:r>
              <a:t>Clarify the old GitHub wording: repositories preserve work and contribution history, but the current grader receives uploaded assessment files. Students still need the appropriate submission form. A notebook that fails after restarting may lack variables, files or setup; do not assert stale memory is the only possible cause.</a:t>
            </a:r>
          </a:p>
          <a:p>
            <a:r>
              <a:t/>
            </a:r>
          </a:p>
          <a:p>
            <a:r>
              <a:t>Worked illustration / lecturer answer</a:t>
            </a:r>
          </a:p>
          <a:p>
            <a:r>
              <a:t>Point to the particular code cell or answer on this slide while explaining the reasoning.</a:t>
            </a:r>
          </a:p>
          <a:p>
            <a:r>
              <a:t/>
            </a:r>
          </a:p>
          <a:p>
            <a:r>
              <a:t>Misconception to address</a:t>
            </a:r>
          </a:p>
          <a:p>
            <a:r>
              <a:t>The current assignment guide and live form take precedence over historical logistics printed in this deck.</a:t>
            </a:r>
          </a:p>
          <a:p>
            <a:r>
              <a:t/>
            </a:r>
          </a:p>
          <a:p>
            <a:r>
              <a:t>Continue to</a:t>
            </a:r>
          </a:p>
          <a:p>
            <a:r>
              <a:t>Every word we used today (1 of 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word we used today (3 of 3)</a:t>
            </a:r>
          </a:p>
          <a:p>
            <a:r>
              <a:t>CML3112, Week 2, slide 41</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Use this page for revision. Connect each word to the concrete example just taught; do not introduce all the definitions as new material in one block.</a:t>
            </a:r>
          </a:p>
          <a:p>
            <a:r>
              <a:t/>
            </a:r>
          </a:p>
          <a:p>
            <a:r>
              <a:t>Continue to</a:t>
            </a:r>
          </a:p>
          <a:p>
            <a:r>
              <a:t>One-page reference — the commands and the habits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One-page reference — the commands and the habits</a:t>
            </a:r>
          </a:p>
          <a:p>
            <a:r>
              <a:t>CML3112, Week 2, slide 42</a:t>
            </a:r>
          </a:p>
          <a:p>
            <a:r>
              <a:t/>
            </a:r>
          </a:p>
          <a:p>
            <a:r>
              <a:t>Explanation to give</a:t>
            </a:r>
          </a:p>
          <a:p>
            <a:r>
              <a:t>Use this as a reference, not a command drill. Today’s browser GitHub route does not require the terminal commands. Before submission, load the correct data, restart, run all and save. For an error, read its type and the indicated operation, then describe what was expected and what happened.</a:t>
            </a:r>
          </a:p>
          <a:p>
            <a:r>
              <a:t/>
            </a:r>
          </a:p>
          <a:p>
            <a:r>
              <a:t>Worked illustration / lecturer answer</a:t>
            </a:r>
          </a:p>
          <a:p>
            <a:r>
              <a:t>Point to the particular code cell or answer on this slide while explaining the reasoning.</a:t>
            </a:r>
          </a:p>
          <a:p>
            <a:r>
              <a:t/>
            </a:r>
          </a:p>
          <a:p>
            <a:r>
              <a:t>Misconception to address</a:t>
            </a:r>
          </a:p>
          <a:p>
            <a:r>
              <a:t>The current assignment guide and live form take precedence over historical logistics printed in this deck.</a:t>
            </a:r>
          </a:p>
          <a:p>
            <a:r>
              <a:t/>
            </a:r>
          </a:p>
          <a:p>
            <a:r>
              <a:t>Continue to</a:t>
            </a:r>
          </a:p>
          <a:p>
            <a:r>
              <a:t>Five questions,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questions,</a:t>
            </a:r>
          </a:p>
          <a:p>
            <a:r>
              <a:t>CML3112, Week 2, slide 43</a:t>
            </a:r>
          </a:p>
          <a:p>
            <a:r>
              <a:t/>
            </a:r>
          </a:p>
          <a:p>
            <a:r>
              <a:t>Explanation to give</a:t>
            </a:r>
          </a:p>
          <a:p>
            <a:r>
              <a:t>This is the CML3112 Week 2 quiz. The student link opens the response form; it does not activate its window. In Quiz Controls use open_W2_CML3112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Continue to</a:t>
            </a:r>
          </a:p>
          <a:p>
            <a:r>
              <a:t>Error messages provide clues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 messages provide clues</a:t>
            </a:r>
          </a:p>
          <a:p>
            <a:r>
              <a:t>CML3112, Week 2, slide 44</a:t>
            </a:r>
          </a:p>
          <a:p>
            <a:r>
              <a:t/>
            </a:r>
          </a:p>
          <a:p>
            <a:r>
              <a:t>Explanation to give</a:t>
            </a:r>
          </a:p>
          <a:p>
            <a:r>
              <a:t>Close with a precise correction: some wrong results produce no exception, so reading errors is only part of checking work. Verify run order, the input file, units and whether the result is plausible. Next week explains the Python values and operators used in the first notebook.</a:t>
            </a:r>
          </a:p>
          <a:p>
            <a:r>
              <a:t/>
            </a:r>
          </a:p>
          <a:p>
            <a:r>
              <a:t>Worked illustration / lecturer answer</a:t>
            </a:r>
          </a:p>
          <a:p>
            <a:r>
              <a:t>Point to the particular code cell or answer on this slide while explaining the reasoning.</a:t>
            </a:r>
          </a:p>
          <a:p>
            <a:r>
              <a:t/>
            </a:r>
          </a:p>
          <a:p>
            <a:r>
              <a:t>Misconception to address</a:t>
            </a:r>
          </a:p>
          <a:p>
            <a:r>
              <a:t>The current assignment guide and live form take precedence over historical logistics printed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1003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word we used today (1 of 3)</a:t>
            </a:r>
          </a:p>
          <a:p>
            <a:r>
              <a:t>CML3112, Week 2, slide 39</a:t>
            </a:r>
          </a:p>
          <a:p>
            <a:r>
              <a:t/>
            </a:r>
          </a:p>
          <a:p>
            <a:r>
              <a:t>Explanation to give</a:t>
            </a:r>
          </a:p>
          <a:p>
            <a:r>
              <a:t>Demonstrate the file-opening path slowly: sign in, open Colab, choose the notebook upload option and select the extracted .ipynb file. Connecting starts a remote Python runtime.</a:t>
            </a:r>
          </a:p>
          <a:p>
            <a:r>
              <a:t/>
            </a:r>
          </a:p>
          <a:p>
            <a:r>
              <a:t>Worked illustration / lecturer answer</a:t>
            </a:r>
          </a:p>
          <a:p>
            <a:r>
              <a:t>Open proof_of_life.ipynb, identify a code cell and run it with Shift+Enter. Show the result underneath. Upload its CSV separately through the runtime Files panel before reading it.</a:t>
            </a:r>
          </a:p>
          <a:p>
            <a:r>
              <a:t/>
            </a:r>
          </a:p>
          <a:p>
            <a:r>
              <a:t>Misconception to address</a:t>
            </a:r>
          </a:p>
          <a:p>
            <a:r>
              <a:t>Use this page for revision. Connect each word to the concrete example just taught; do not introduce all the definitions as new material in one block.</a:t>
            </a:r>
          </a:p>
          <a:p>
            <a:r>
              <a:t/>
            </a:r>
          </a:p>
          <a:p>
            <a:r>
              <a:t>Continue to</a:t>
            </a:r>
          </a:p>
          <a:p>
            <a:r>
              <a:t>Every word we used today (2 of 3)</a:t>
            </a:r>
          </a:p>
        </p:txBody>
      </p:sp>
      <p:sp>
        <p:nvSpPr>
          <p:cNvPr id="4" name="Slide Number Placeholder 3"/>
          <p:cNvSpPr>
            <a:spLocks noGrp="1"/>
          </p:cNvSpPr>
          <p:nvPr>
            <p:ph type="sldNum" idx="5" sz="quarter"/>
          </p:nvPr>
        </p:nvSpPr>
        <p:spPr/>
      </p:sp>
    </p:spTree>
  </p:cSld>
  <p:clrMapOvr>
    <a:masterClrMapping/>
  </p:clrMapOvr>
</p:notes>
</file>

<file path=ppt/notesSlides/notesSlide1004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word we used today (2 of 3)</a:t>
            </a:r>
          </a:p>
          <a:p>
            <a:r>
              <a:t>CML3112, Week 2, slide 40</a:t>
            </a:r>
          </a:p>
          <a:p>
            <a:r>
              <a:t/>
            </a:r>
          </a:p>
          <a:p>
            <a:r>
              <a:t>Explanation to give</a:t>
            </a:r>
          </a:p>
          <a:p>
            <a:r>
              <a:t>Explain assignment as evaluating the right side and attaching the name on the left to that result. The name can later refer to a different value. Read the equals sign as “assign”, rather than as a mathematical claim that lasts forever.</a:t>
            </a:r>
          </a:p>
          <a:p>
            <a:r>
              <a:t/>
            </a:r>
          </a:p>
          <a:p>
            <a:r>
              <a:t>Worked illustration / lecturer answer</a:t>
            </a:r>
          </a:p>
          <a:p>
            <a:r>
              <a:t>length_m = 4 makes length_m refer to 4. length_m = 6 replaces that association. Printing length_m now displays 6; the name does not remember a history of both values.</a:t>
            </a:r>
          </a:p>
          <a:p>
            <a:r>
              <a:t/>
            </a:r>
          </a:p>
          <a:p>
            <a:r>
              <a:t>Misconception to address</a:t>
            </a:r>
          </a:p>
          <a:p>
            <a:r>
              <a:t>Use this page for revision. Connect each word to the concrete example just taught; do not introduce all the definitions as new material in one block.</a:t>
            </a:r>
          </a:p>
          <a:p>
            <a:r>
              <a:t/>
            </a:r>
          </a:p>
          <a:p>
            <a:r>
              <a:t>Continue to</a:t>
            </a:r>
          </a:p>
          <a:p>
            <a:r>
              <a:t>Every word we used today (3 of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39.xml" /></ns0:Relationships>
</file>

<file path=ppt/slides/_rels/slide40.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40.xml" /></ns0: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Where the work</a:t>
            </a:r>
          </a:p>
          <a:p>
            <a:pPr algn="l">
              <a:lnSpc>
                <a:spcPct val="105000"/>
              </a:lnSpc>
              <a:spcAft>
                <a:spcPts val="600"/>
              </a:spcAft>
            </a:pPr>
            <a:r>
              <a:rPr sz="4400" b="1" i="0">
                <a:solidFill>
                  <a:srgbClr val="FFFFFF"/>
                </a:solidFill>
                <a:latin typeface="Cambria"/>
              </a:rPr>
              <a:t>actually happens</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Colab, notebooks and version control</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2  ·  Tue 15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Open a notebook in Google Colab and run code in it without installing anything.</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what a cell is, what the execution counter means, and what the kernel holds.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Predict what happens when a cell is run twice, and say why that matters.</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Restart and Run All, and say what problem it solves.</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what Git records that a backup does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Create a repository, commit your work and push it, ending with a live URL.</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four different error messages and name the cause of each in one sentence.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2 · Colab, notebooks and version control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2.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eleven-segment shape as last week. Today is heavier on practical work than any session so far. Keep the cohort kit open for the practical activities.</a:t>
            </a:r>
          </a:p>
        </p:txBody>
      </p:sp>
    </p:spTree>
  </p:cSld>
  <p:clrMapOvr>
    <a:masterClrMapping/>
  </p:clrMapOvr>
</p:sld>
</file>

<file path=ppt/slides/slide4.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Previous lesson and today’s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A2 is due at the start of next week, and by the end of today you will already have most of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1?</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Last week you predicted case 13 from twelve examples. What was the name for the input columns you were given, and what was the name for the value you predicted?</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pump needs servicing. Regression or classification?</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one of the four limits — one thing machine learning cannot do.</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Ask a neighbour first — that is faster than waiting for me.</a:t>
            </a:r>
          </a:p>
        </p:txBody>
      </p:sp>
    </p:spTree>
  </p:cSld>
  <p:clrMapOvr>
    <a:masterClrMapping/>
  </p:clrMapOvr>
</p:sld>
</file>

<file path=ppt/slides/slide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input columns, and the value?</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columns you were given are the FEATURES. The value you predicted is the TARGET. One row with both is one EXAMPLE.</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Days until servicing?</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Regression — the answer is a number with a unit. If it were 'service due or not' it would be classification.</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One of the four limits?</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Missing data, weak patterns, a better physical model or changed operating conditions.</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Four questions, four tools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Each tool has a different purpose. Use the table to choose the tool you need.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TOOL MAP</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four questions</a:t>
            </a:r>
          </a:p>
        </p:txBody>
      </p:sp>
      <p:pic>
        <p:nvPicPr>
          <p:cNvPr id="4" name="Picture 3" descr="tool_map.png"/>
          <p:cNvPicPr>
            <a:picLocks noChangeAspect="1"/>
          </p:cNvPicPr>
          <p:nvPr/>
        </p:nvPicPr>
        <p:blipFill>
          <a:blip r:embed="rId2"/>
          <a:stretch>
            <a:fillRect/>
          </a:stretch>
        </p:blipFill>
        <p:spPr>
          <a:xfrm>
            <a:off x="1551182" y="1911095"/>
            <a:ext cx="908933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four tools help you write code, save files, track changes and share work.</a:t>
            </a:r>
          </a:p>
        </p:txBody>
      </p:sp>
    </p:spTree>
  </p:cSld>
  <p:clrMapOvr>
    <a:masterClrMapping/>
  </p:clrMapOvr>
</p:sld>
</file>

<file path=ppt/slides/slide9.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Google Colab</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notebook that runs in your browser, on Google's computers. Python and every library this course needs are already installed on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Open colab.research.google.com and sign in with a Google account. Colab runs Python in your browser without a local Python installation.</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Colab runs Python notebooks in a browser. A tutorial provides the instructions and examples to follow.</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Your first notebook</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Open Colab in your browser and follow the example on your own computer.</a:t>
            </a:r>
          </a:p>
        </p:txBody>
      </p:sp>
    </p:spTree>
  </p:cSld>
  <p:clrMapOvr>
    <a:masterClrMapping/>
  </p:clrMapOvr>
</p:sld>
</file>

<file path=ppt/slides/slide1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cells</a:t>
            </a:r>
          </a:p>
        </p:txBody>
      </p:sp>
      <p:sp>
        <p:nvSpPr>
          <p:cNvPr id="4" name="Rounded Rectangle 3"/>
          <p:cNvSpPr/>
          <p:nvPr/>
        </p:nvSpPr>
        <p:spPr>
          <a:xfrm>
            <a:off x="6852842" y="512064"/>
            <a:ext cx="4653052"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NEW NOTEBOOK — TYPE THIS</a:t>
            </a:r>
          </a:p>
        </p:txBody>
      </p:sp>
      <p:sp>
        <p:nvSpPr>
          <p:cNvPr id="5" name="Rectangle 4"/>
          <p:cNvSpPr/>
          <p:nvPr/>
        </p:nvSpPr>
        <p:spPr>
          <a:xfrm>
            <a:off x="685800" y="1911095"/>
            <a:ext cx="10820095" cy="3213262"/>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20654"/>
          </a:xfrm>
          <a:prstGeom prst="rect">
            <a:avLst/>
          </a:prstGeom>
          <a:noFill/>
        </p:spPr>
        <p:txBody>
          <a:bodyPr wrap="square" lIns="0" rIns="0" tIns="0" bIns="0" anchor="t">
            <a:spAutoFit/>
          </a:bodyPr>
          <a:lstStyle/>
          <a:p>
            <a:pPr algn="l">
              <a:lnSpc>
                <a:spcPts val="2064"/>
              </a:lnSpc>
              <a:spcAft>
                <a:spcPts val="0"/>
              </a:spcAft>
            </a:pPr>
            <a:r>
              <a:rPr sz="1518" b="0" i="0">
                <a:solidFill>
                  <a:srgbClr val="D8E3EC"/>
                </a:solidFill>
                <a:latin typeface="Courier New"/>
              </a:rPr>
              <a:t># Cell 1 - press Shift and Enter together to run it</a:t>
            </a:r>
          </a:p>
          <a:p>
            <a:pPr algn="l">
              <a:lnSpc>
                <a:spcPts val="2064"/>
              </a:lnSpc>
              <a:spcAft>
                <a:spcPts val="0"/>
              </a:spcAft>
            </a:pPr>
            <a:r>
              <a:rPr sz="1518" b="0" i="0">
                <a:solidFill>
                  <a:srgbClr val="D8E3EC"/>
                </a:solidFill>
                <a:latin typeface="Courier New"/>
              </a:rPr>
              <a:t>print("Hello from CML3112")</a:t>
            </a:r>
          </a:p>
          <a:p>
            <a:pPr algn="l">
              <a:lnSpc>
                <a:spcPts val="2064"/>
              </a:lnSpc>
              <a:spcAft>
                <a:spcPts val="0"/>
              </a:spcAft>
            </a:pPr>
            <a:r>
              <a:rPr sz="1518" b="0" i="0">
                <a:solidFill>
                  <a:srgbClr val="D8E3EC"/>
                </a:solidFill>
                <a:latin typeface="Courier New"/>
              </a:rPr>
              <a:t>print(2 + 2)</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 Cell 2 - a variable is a name for a value</a:t>
            </a:r>
          </a:p>
          <a:p>
            <a:pPr algn="l">
              <a:lnSpc>
                <a:spcPts val="2064"/>
              </a:lnSpc>
              <a:spcAft>
                <a:spcPts val="0"/>
              </a:spcAft>
            </a:pPr>
            <a:r>
              <a:rPr sz="1518" b="0" i="0">
                <a:solidFill>
                  <a:srgbClr val="D8E3EC"/>
                </a:solidFill>
                <a:latin typeface="Courier New"/>
              </a:rPr>
              <a:t>readings = 12</a:t>
            </a:r>
          </a:p>
          <a:p>
            <a:pPr algn="l">
              <a:lnSpc>
                <a:spcPts val="2064"/>
              </a:lnSpc>
              <a:spcAft>
                <a:spcPts val="0"/>
              </a:spcAft>
            </a:pPr>
            <a:r>
              <a:rPr sz="1518" b="0" i="0">
                <a:solidFill>
                  <a:srgbClr val="D8E3EC"/>
                </a:solidFill>
                <a:latin typeface="Courier New"/>
              </a:rPr>
              <a:t>print(f"I have {readings} readings")</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 Cell 3 - run THIS one three times and watch both numbers</a:t>
            </a:r>
          </a:p>
          <a:p>
            <a:pPr algn="l">
              <a:lnSpc>
                <a:spcPts val="2064"/>
              </a:lnSpc>
              <a:spcAft>
                <a:spcPts val="0"/>
              </a:spcAft>
            </a:pPr>
            <a:r>
              <a:rPr sz="1518" b="0" i="0">
                <a:solidFill>
                  <a:srgbClr val="D8E3EC"/>
                </a:solidFill>
                <a:latin typeface="Courier New"/>
              </a:rPr>
              <a:t>readings = readings + 5</a:t>
            </a:r>
          </a:p>
          <a:p>
            <a:pPr algn="l">
              <a:lnSpc>
                <a:spcPts val="2064"/>
              </a:lnSpc>
              <a:spcAft>
                <a:spcPts val="0"/>
              </a:spcAft>
            </a:pPr>
            <a:r>
              <a:rPr sz="1518" b="0" i="0">
                <a:solidFill>
                  <a:srgbClr val="D8E3EC"/>
                </a:solidFill>
                <a:latin typeface="Courier New"/>
              </a:rPr>
              <a:t>print(f"readings is now {readings}")</a:t>
            </a:r>
          </a:p>
        </p:txBody>
      </p:sp>
      <p:sp>
        <p:nvSpPr>
          <p:cNvPr id="7" name="Rounded Rectangle 6"/>
          <p:cNvSpPr/>
          <p:nvPr/>
        </p:nvSpPr>
        <p:spPr>
          <a:xfrm>
            <a:off x="685800" y="5343814"/>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TRY IT, THEN EXPLAIN</a:t>
            </a:r>
          </a:p>
        </p:txBody>
      </p:sp>
      <p:sp>
        <p:nvSpPr>
          <p:cNvPr id="8" name="TextBox 7"/>
          <p:cNvSpPr txBox="1"/>
          <p:nvPr/>
        </p:nvSpPr>
        <p:spPr>
          <a:xfrm>
            <a:off x="4297680" y="5352958"/>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Run cell 3 three times and watch the number it prints. You have not changed a single character, so an unchanging cell giving a changing answer is worth explaining. Hold that thought — it is the whole of the block on execution order.</a:t>
            </a:r>
          </a:p>
        </p:txBody>
      </p:sp>
    </p:spTree>
  </p:cSld>
  <p:clrMapOvr>
    <a:masterClrMapping/>
  </p:clrMapOvr>
</p:sld>
</file>

<file path=ppt/slides/slide1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TROUBLESHOOTING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three things that go wrong in the first ten minutes</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You pressed Enter instead of Shift and Enter</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Enter gives you a new line inside the cell. Shift and Enter runs it. This catches almost everybody once.</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Nothing appears underneath the cell</a:t>
            </a:r>
          </a:p>
        </p:txBody>
      </p:sp>
      <p:sp>
        <p:nvSpPr>
          <p:cNvPr id="7" name="TextBox 6"/>
          <p:cNvSpPr txBox="1"/>
          <p:nvPr/>
        </p:nvSpPr>
        <p:spPr>
          <a:xfrm>
            <a:off x="685800" y="3612952"/>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Either the cell has no print in it, or it has not finished running. A cell that is still running shows a spinning circle to its left instead of a number.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Colab asks you to sign in, or to connect</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Sign in with your Google account. 'Connect' means Colab is allocating you a machine and takes a few seconds — it is normal and it is not an error.</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one thing that is not a problem</a:t>
            </a:r>
          </a:p>
        </p:txBody>
      </p:sp>
      <p:sp>
        <p:nvSpPr>
          <p:cNvPr id="11" name="TextBox 10"/>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warning in yellow is not an error. Errors are red and they stop the cell. Yellow means Python is telling you something and carrying on regardless.</a:t>
            </a:r>
          </a:p>
        </p:txBody>
      </p:sp>
      <p:sp>
        <p:nvSpPr>
          <p:cNvPr id="12" name="TextBox 11"/>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If you are stuck for more than five minutes</a:t>
            </a:r>
          </a:p>
        </p:txBody>
      </p:sp>
      <p:sp>
        <p:nvSpPr>
          <p:cNvPr id="13" name="TextBox 12"/>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Ask for help if you cannot continue. Show what you tried, the code you entered and the error message.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Markdown cell</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cell holding text rather than code. It is where you write down what you are doing and why, in among the code that does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heading saying 'Question 3: does fly ash change strength?', then the code that answers it, then a sentence saying what the answer was. Anyone reading it — including you in November — can follow the reasoning.</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comment. A comment explains one line to someone reading the code; a markdown cell explains the reasoning to someone reading the document.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Thirty seconds: check you are with me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press Enter at the end of a line in a code cell and nothing runs. Why?</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wrote print("hello") in a cell and ran it. Where does the word hello appear?</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neighbour's cell 3 says 27 and yours says 17. Neither of you has changed the code. Who is wrong?</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Do not look yet.</a:t>
            </a:r>
          </a:p>
        </p:txBody>
      </p:sp>
    </p:spTree>
  </p:cSld>
  <p:clrMapOvr>
    <a:masterClrMapping/>
  </p:clrMapOvr>
</p:sld>
</file>

<file path=ppt/slides/slide15.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Enter did nothing?</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Enter adds a new line inside a cell. Shift + Enter runs the cell.</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Where does 'hello' appear?</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output appears directly below the cell that produced it.</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27 versus 17 — who is wrong?</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Neither. They have run the cell a different number of times. That is not a difference of opinion, it is a property of how notebooks work — and it is the subject of the execution-order block.</a:t>
            </a:r>
          </a:p>
        </p:txBody>
      </p:sp>
    </p:spTree>
  </p:cSld>
  <p:clrMapOvr>
    <a:masterClrMapping/>
  </p:clrMapOvr>
</p:sld>
</file>

<file path=ppt/slides/slide16.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Notebook cells and execution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notebook contains cells. The Python session stores values from the cells you have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ANATOMY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anatomy of a notebook</a:t>
            </a:r>
          </a:p>
        </p:txBody>
      </p:sp>
      <p:pic>
        <p:nvPicPr>
          <p:cNvPr id="4" name="Picture 3" descr="notebook_anatomy.png"/>
          <p:cNvPicPr>
            <a:picLocks noChangeAspect="1"/>
          </p:cNvPicPr>
          <p:nvPr/>
        </p:nvPicPr>
        <p:blipFill>
          <a:blip r:embed="rId2"/>
          <a:stretch>
            <a:fillRect/>
          </a:stretch>
        </p:blipFill>
        <p:spPr>
          <a:xfrm>
            <a:off x="1584233" y="1911095"/>
            <a:ext cx="90232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Cells hold either text or code. Code cells produce output directly beneath them. The number in brackets counts how many pieces of code you have run since the notebook started. All the cells share one memory, called the kernel.</a:t>
            </a:r>
          </a:p>
        </p:txBody>
      </p:sp>
    </p:spTree>
  </p:cSld>
  <p:clrMapOvr>
    <a:masterClrMapping/>
  </p:clrMapOvr>
</p:sld>
</file>

<file path=ppt/slides/slide18.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Cell, kernel, and the execution counter</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CELL is one block of text or code. The KERNEL is the single Python session that all cells share. The EXECUTION COUNTER is the number in brackets beside a code cell, showing the order in which things were actually run.</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If the cell at the top of your notebook shows [7] and the one below it shows [3], you ran them out of order — and any answer that depends on both is suspect.</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visible cell order may differ from the order you ran them. Execution numbers record the running order.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trap, and the habit that saves you</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most common way a notebook gives a confident wrong answer — and the one keystroke that prevents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EXECUTION TRAP</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cell, run three times</a:t>
            </a:r>
          </a:p>
        </p:txBody>
      </p:sp>
      <p:pic>
        <p:nvPicPr>
          <p:cNvPr id="4" name="Picture 3" descr="execution_trap.png"/>
          <p:cNvPicPr>
            <a:picLocks noChangeAspect="1"/>
          </p:cNvPicPr>
          <p:nvPr/>
        </p:nvPicPr>
        <p:blipFill>
          <a:blip r:embed="rId2"/>
          <a:stretch>
            <a:fillRect/>
          </a:stretch>
        </p:blipFill>
        <p:spPr>
          <a:xfrm>
            <a:off x="920362" y="1911095"/>
            <a:ext cx="1035097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code never changed. Not one character. The answer went 17, then 22, then 27, because the cell adds five to whatever is already in the box and puts it back. Restart and Run All takes it back to 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notebook's cells show, top to bottom, the counters [4], [1], [5], [2]. What does that tell you, and would you trust its final answer?</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run Restart and Run All and the notebook now fails on cell 6 with an error, though it 'worked' five minutes ago. What was almost certainly true before you restarted?</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Restart and Run All a better test than just re-running the one cell you changed?</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Counters [4], [1], [5], [2]?</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They were run out of order, so the kernel's memory does not match what the notebook looks like. Do not trust the final answer until you have restarted and run all.</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It fails after restarting?</a:t>
            </a:r>
          </a:p>
        </p:txBody>
      </p:sp>
      <p:sp>
        <p:nvSpPr>
          <p:cNvPr id="9" name="TextBox 8"/>
          <p:cNvSpPr txBox="1"/>
          <p:nvPr/>
        </p:nvSpPr>
        <p:spPr>
          <a:xfrm>
            <a:off x="1216152" y="3352897"/>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Cell 6 may need a value from an earlier cell, a deleted cell or a cell run out of order. Restart and run all cells to locate the first failure.</a:t>
            </a:r>
          </a:p>
        </p:txBody>
      </p:sp>
      <p:sp>
        <p:nvSpPr>
          <p:cNvPr id="10" name="Oval 9"/>
          <p:cNvSpPr/>
          <p:nvPr/>
        </p:nvSpPr>
        <p:spPr>
          <a:xfrm>
            <a:off x="685800" y="459205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555478"/>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restart rather than re-run one cell?</a:t>
            </a:r>
          </a:p>
        </p:txBody>
      </p:sp>
      <p:sp>
        <p:nvSpPr>
          <p:cNvPr id="12" name="TextBox 11"/>
          <p:cNvSpPr txBox="1"/>
          <p:nvPr/>
        </p:nvSpPr>
        <p:spPr>
          <a:xfrm>
            <a:off x="1216152" y="4848086"/>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re-running one cell keeps everything else the kernel is holding, including things that no longer exist anywhere in your code. Only a restart proves the notebook can produce its results from nothing but itself — which is what reproducibility means.</a:t>
            </a:r>
          </a:p>
        </p:txBody>
      </p:sp>
    </p:spTree>
  </p:cSld>
  <p:clrMapOvr>
    <a:masterClrMapping/>
  </p:clrMapOvr>
</p:sld>
</file>

<file path=ppt/slides/slide2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Diagnosing a notebook from its counters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reasoning, step by step. A classmate says their notebook 'stopped working' and shows you this: the cells read, top to bottom, [2], [7], [3], and cell 4 is blank.</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Read the counters: 2, then 7, then 3. Not run top to bottom.</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 blank execution counter means that the cell has not run in this session. Run it before cells that need its values.</a:t>
            </a:r>
          </a:p>
        </p:txBody>
      </p:sp>
      <p:sp>
        <p:nvSpPr>
          <p:cNvPr id="11" name="Rounded Rectangle 10"/>
          <p:cNvSpPr/>
          <p:nvPr/>
        </p:nvSpPr>
        <p:spPr>
          <a:xfrm>
            <a:off x="685800" y="3784385"/>
            <a:ext cx="10820095" cy="79600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704566"/>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[7] before [3] means they jumped down and came back up. The kernel keeps the last write to each name.</a:t>
            </a:r>
          </a:p>
        </p:txBody>
      </p:sp>
      <p:sp>
        <p:nvSpPr>
          <p:cNvPr id="14" name="Rounded Rectangle 13"/>
          <p:cNvSpPr/>
          <p:nvPr/>
        </p:nvSpPr>
        <p:spPr>
          <a:xfrm>
            <a:off x="685800" y="463525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69011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68097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The only useful question: does this notebook produce its results from nothing but itself?</a:t>
            </a:r>
          </a:p>
        </p:txBody>
      </p:sp>
      <p:sp>
        <p:nvSpPr>
          <p:cNvPr id="17" name="Rounded Rectangle 16"/>
          <p:cNvSpPr/>
          <p:nvPr/>
        </p:nvSpPr>
        <p:spPr>
          <a:xfrm>
            <a:off x="685800" y="516127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521613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520699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Restart and Run All. Read the first error message and check that cell’s inputs.</a:t>
            </a:r>
          </a:p>
        </p:txBody>
      </p:sp>
      <p:sp>
        <p:nvSpPr>
          <p:cNvPr id="20" name="Rounded Rectangle 19"/>
          <p:cNvSpPr/>
          <p:nvPr/>
        </p:nvSpPr>
        <p:spPr>
          <a:xfrm>
            <a:off x="685800" y="5742157"/>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879317"/>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First restart and run all cells in order. If a cell fails, read its error message and check the inputs it needs.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version control gives you</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Git records that a copy of a folder does not — and why this course submits everything through it.</a:t>
            </a:r>
          </a:p>
        </p:txBody>
      </p:sp>
    </p:spTree>
  </p:cSld>
  <p:clrMapOvr>
    <a:masterClrMapping/>
  </p:clrMapOvr>
</p:sld>
</file>

<file path=ppt/slides/slide2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VERSION CONTROL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Tracking changes with Git</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a backup gives you</a:t>
            </a:r>
          </a:p>
        </p:txBody>
      </p:sp>
      <p:sp>
        <p:nvSpPr>
          <p:cNvPr id="5" name="TextBox 4"/>
          <p:cNvSpPr txBox="1"/>
          <p:nvPr/>
        </p:nvSpPr>
        <p:spPr>
          <a:xfrm>
            <a:off x="685800" y="2332633"/>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 saved copy for recovering a file. Some backup tools also keep earlier versions.</a:t>
            </a:r>
          </a:p>
        </p:txBody>
      </p:sp>
      <p:sp>
        <p:nvSpPr>
          <p:cNvPr id="6" name="TextBox 5"/>
          <p:cNvSpPr txBox="1"/>
          <p:nvPr/>
        </p:nvSpPr>
        <p:spPr>
          <a:xfrm>
            <a:off x="685800" y="3237872"/>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Common Git commands</a:t>
            </a:r>
          </a:p>
        </p:txBody>
      </p:sp>
      <p:sp>
        <p:nvSpPr>
          <p:cNvPr id="7" name="TextBox 6"/>
          <p:cNvSpPr txBox="1"/>
          <p:nvPr/>
        </p:nvSpPr>
        <p:spPr>
          <a:xfrm>
            <a:off x="685800" y="3659410"/>
            <a:ext cx="5158587" cy="1298413"/>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Which lines changed between Tuesday and Thursday. Who changed them. Why — because a good message says why. And the ability to go back to the version that worked, without having kept a folder called 'final_v3_REAL_final'.</a:t>
            </a:r>
          </a:p>
        </p:txBody>
      </p:sp>
      <p:sp>
        <p:nvSpPr>
          <p:cNvPr id="8" name="TextBox 7"/>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it gives a team of five</a:t>
            </a:r>
          </a:p>
        </p:txBody>
      </p:sp>
      <p:sp>
        <p:nvSpPr>
          <p:cNvPr id="9" name="TextBox 8"/>
          <p:cNvSpPr txBox="1"/>
          <p:nvPr/>
        </p:nvSpPr>
        <p:spPr>
          <a:xfrm>
            <a:off x="6347307" y="2332633"/>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Five people editing the same project without overwriting each other, and a record of who did which part.</a:t>
            </a:r>
          </a:p>
        </p:txBody>
      </p:sp>
      <p:sp>
        <p:nvSpPr>
          <p:cNvPr id="10" name="TextBox 9"/>
          <p:cNvSpPr txBox="1"/>
          <p:nvPr/>
        </p:nvSpPr>
        <p:spPr>
          <a:xfrm>
            <a:off x="6347307" y="3237872"/>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Which is why it is in this course at all</a:t>
            </a:r>
          </a:p>
        </p:txBody>
      </p:sp>
      <p:sp>
        <p:nvSpPr>
          <p:cNvPr id="11" name="TextBox 10"/>
          <p:cNvSpPr txBox="1"/>
          <p:nvPr/>
        </p:nvSpPr>
        <p:spPr>
          <a:xfrm>
            <a:off x="6347307" y="3659410"/>
            <a:ext cx="5158587" cy="1298413"/>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Sixty-five per cent of your mark is individual, and two of your assessments are team projects. The commit history is how a team mark becomes an individual one. It is not administrative — it is the evidence that you did your share.</a:t>
            </a:r>
          </a:p>
        </p:txBody>
      </p:sp>
      <p:sp>
        <p:nvSpPr>
          <p:cNvPr id="12" name="TextBox 11"/>
          <p:cNvSpPr txBox="1"/>
          <p:nvPr/>
        </p:nvSpPr>
        <p:spPr>
          <a:xfrm>
            <a:off x="6347307" y="5186424"/>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And it is what industry uses</a:t>
            </a:r>
          </a:p>
        </p:txBody>
      </p:sp>
      <p:sp>
        <p:nvSpPr>
          <p:cNvPr id="13" name="TextBox 12"/>
          <p:cNvSpPr txBox="1"/>
          <p:nvPr/>
        </p:nvSpPr>
        <p:spPr>
          <a:xfrm>
            <a:off x="6347307" y="5607962"/>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Many engineering software teams use version control. Today you practise the basic workflow.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FOUR STATES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four places your work can be</a:t>
            </a:r>
          </a:p>
        </p:txBody>
      </p:sp>
      <p:pic>
        <p:nvPicPr>
          <p:cNvPr id="4" name="Picture 3" descr="git_states.png"/>
          <p:cNvPicPr>
            <a:picLocks noChangeAspect="1"/>
          </p:cNvPicPr>
          <p:nvPr/>
        </p:nvPicPr>
        <p:blipFill>
          <a:blip r:embed="rId2"/>
          <a:stretch>
            <a:fillRect/>
          </a:stretch>
        </p:blipFill>
        <p:spPr>
          <a:xfrm>
            <a:off x="685800" y="1996544"/>
            <a:ext cx="10820095" cy="3843318"/>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Your files move left to right through four states, and one command moves them between each. git status tells you where things currently are — run it constantly until it becomes automatic.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Repository, commit, and push</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REPOSITORY is a project folder whose entire history Git is tracking. A COMMIT is one recorded snapshot with a message saying what changed. To PUSH is to send your commits to GitHub so they exist somewhere other than your laptop.</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git commit -m "Add water/cement ratio column" records a snapshot with that message. Six weeks later that message is the only thing that tells you what you did.</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Saving. Saving overwrites; committing adds a version and keeps every earlier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Doing it: repository, commit, push</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Whole room in lockstep. Everyone finishes with a live repository URL and keeps a downloaded notebook and README for A2.</a:t>
            </a:r>
          </a:p>
        </p:txBody>
      </p:sp>
    </p:spTree>
  </p:cSld>
  <p:clrMapOvr>
    <a:masterClrMapping/>
  </p:clrMapOvr>
</p:sld>
</file>

<file path=ppt/slides/slide3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From Colab to GitHub</a:t>
            </a:r>
          </a:p>
        </p:txBody>
      </p:sp>
      <p:sp>
        <p:nvSpPr>
          <p:cNvPr id="4" name="Rounded Rectangle 3"/>
          <p:cNvSpPr/>
          <p:nvPr/>
        </p:nvSpPr>
        <p:spPr>
          <a:xfrm>
            <a:off x="7084588" y="512064"/>
            <a:ext cx="44213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GITHUB: UPLOAD AND COMMIT</a:t>
            </a:r>
          </a:p>
        </p:txBody>
      </p:sp>
      <p:sp>
        <p:nvSpPr>
          <p:cNvPr id="5" name="Rectangle 4"/>
          <p:cNvSpPr/>
          <p:nvPr/>
        </p:nvSpPr>
        <p:spPr>
          <a:xfrm>
            <a:off x="685800" y="1911095"/>
            <a:ext cx="10820095" cy="3464052"/>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171444"/>
          </a:xfrm>
          <a:prstGeom prst="rect">
            <a:avLst/>
          </a:prstGeom>
          <a:noFill/>
        </p:spPr>
        <p:txBody>
          <a:bodyPr wrap="square" lIns="0" rIns="0" tIns="0" bIns="0" anchor="t">
            <a:spAutoFit/>
          </a:bodyPr>
          <a:lstStyle/>
          <a:p>
            <a:pPr algn="l">
              <a:lnSpc>
                <a:spcPts val="2244"/>
              </a:lnSpc>
              <a:spcAft>
                <a:spcPts val="0"/>
              </a:spcAft>
            </a:pPr>
            <a:r>
              <a:rPr sz="1650" b="0" i="0">
                <a:solidFill>
                  <a:srgbClr val="D8E3EC"/>
                </a:solidFill>
                <a:latin typeface="Courier New"/>
              </a:rPr>
              <a:t># Browser route used today:</a:t>
            </a:r>
          </a:p>
          <a:p>
            <a:pPr algn="l">
              <a:lnSpc>
                <a:spcPts val="2244"/>
              </a:lnSpc>
              <a:spcAft>
                <a:spcPts val="0"/>
              </a:spcAft>
            </a:pPr>
            <a:r>
              <a:rPr sz="1650" b="0" i="0">
                <a:solidFill>
                  <a:srgbClr val="D8E3EC"/>
                </a:solidFill>
                <a:latin typeface="Courier New"/>
              </a:rPr>
              <a:t>#   Colab: download your completed .ipynb</a:t>
            </a:r>
          </a:p>
          <a:p>
            <a:pPr algn="l">
              <a:lnSpc>
                <a:spcPts val="2244"/>
              </a:lnSpc>
              <a:spcAft>
                <a:spcPts val="0"/>
              </a:spcAft>
            </a:pPr>
            <a:r>
              <a:rPr sz="1650" b="0" i="0">
                <a:solidFill>
                  <a:srgbClr val="D8E3EC"/>
                </a:solidFill>
                <a:latin typeface="Courier New"/>
              </a:rPr>
              <a:t>#   GitHub: create a private repo with README</a:t>
            </a:r>
          </a:p>
          <a:p>
            <a:pPr algn="l">
              <a:lnSpc>
                <a:spcPts val="2244"/>
              </a:lnSpc>
              <a:spcAft>
                <a:spcPts val="0"/>
              </a:spcAft>
            </a:pPr>
            <a:r>
              <a:rPr sz="1650" b="0" i="0">
                <a:solidFill>
                  <a:srgbClr val="D8E3EC"/>
                </a:solidFill>
                <a:latin typeface="Courier New"/>
              </a:rPr>
              <a:t>#   Add file -&gt; Upload files: notebook and CSV</a:t>
            </a:r>
          </a:p>
          <a:p>
            <a:pPr algn="l">
              <a:lnSpc>
                <a:spcPts val="2244"/>
              </a:lnSpc>
              <a:spcAft>
                <a:spcPts val="0"/>
              </a:spcAft>
            </a:pPr>
            <a:r>
              <a:rPr sz="1650" b="0" i="0">
                <a:solidFill>
                  <a:srgbClr val="D8E3EC"/>
                </a:solidFill>
                <a:latin typeface="Courier New"/>
              </a:rPr>
              <a:t>#   Commit changes, then edit your README</a:t>
            </a:r>
          </a:p>
          <a:p>
            <a:pPr algn="l">
              <a:lnSpc>
                <a:spcPts val="2244"/>
              </a:lnSpc>
              <a:spcAft>
                <a:spcPts val="0"/>
              </a:spcAft>
            </a:pPr>
            <a:r>
              <a:rPr sz="1650" b="0" i="0">
                <a:solidFill>
                  <a:srgbClr val="D8E3EC"/>
                </a:solidFill>
                <a:latin typeface="Courier New"/>
              </a:rPr>
              <a:t/>
            </a:r>
          </a:p>
          <a:p>
            <a:pPr algn="l">
              <a:lnSpc>
                <a:spcPts val="2244"/>
              </a:lnSpc>
              <a:spcAft>
                <a:spcPts val="0"/>
              </a:spcAft>
            </a:pPr>
            <a:r>
              <a:rPr sz="1650" b="0" i="0">
                <a:solidFill>
                  <a:srgbClr val="D8E3EC"/>
                </a:solidFill>
                <a:latin typeface="Courier New"/>
              </a:rPr>
              <a:t># The command route, for when you work locally later:</a:t>
            </a:r>
          </a:p>
          <a:p>
            <a:pPr algn="l">
              <a:lnSpc>
                <a:spcPts val="2244"/>
              </a:lnSpc>
              <a:spcAft>
                <a:spcPts val="0"/>
              </a:spcAft>
            </a:pPr>
            <a:r>
              <a:rPr sz="1650" b="0" i="0">
                <a:solidFill>
                  <a:srgbClr val="D8E3EC"/>
                </a:solidFill>
                <a:latin typeface="Courier New"/>
              </a:rPr>
              <a:t>git status                     # what have I changed?</a:t>
            </a:r>
          </a:p>
          <a:p>
            <a:pPr algn="l">
              <a:lnSpc>
                <a:spcPts val="2244"/>
              </a:lnSpc>
              <a:spcAft>
                <a:spcPts val="0"/>
              </a:spcAft>
            </a:pPr>
            <a:r>
              <a:rPr sz="1650" b="0" i="0">
                <a:solidFill>
                  <a:srgbClr val="D8E3EC"/>
                </a:solidFill>
                <a:latin typeface="Courier New"/>
              </a:rPr>
              <a:t>git add .                      # mark it all ready</a:t>
            </a:r>
          </a:p>
          <a:p>
            <a:pPr algn="l">
              <a:lnSpc>
                <a:spcPts val="2244"/>
              </a:lnSpc>
              <a:spcAft>
                <a:spcPts val="0"/>
              </a:spcAft>
            </a:pPr>
            <a:r>
              <a:rPr sz="1650" b="0" i="0">
                <a:solidFill>
                  <a:srgbClr val="D8E3EC"/>
                </a:solidFill>
                <a:latin typeface="Courier New"/>
              </a:rPr>
              <a:t>git commit -m "First commit"   # record it, with a message</a:t>
            </a:r>
          </a:p>
          <a:p>
            <a:pPr algn="l">
              <a:lnSpc>
                <a:spcPts val="2244"/>
              </a:lnSpc>
              <a:spcAft>
                <a:spcPts val="0"/>
              </a:spcAft>
            </a:pPr>
            <a:r>
              <a:rPr sz="1650" b="0" i="0">
                <a:solidFill>
                  <a:srgbClr val="D8E3EC"/>
                </a:solidFill>
                <a:latin typeface="Courier New"/>
              </a:rPr>
              <a:t>git push                       # send it to GitHub</a:t>
            </a:r>
          </a:p>
        </p:txBody>
      </p:sp>
      <p:sp>
        <p:nvSpPr>
          <p:cNvPr id="7" name="Rounded Rectangle 6"/>
          <p:cNvSpPr/>
          <p:nvPr/>
        </p:nvSpPr>
        <p:spPr>
          <a:xfrm>
            <a:off x="685800" y="5594604"/>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TRY IT, THEN EXPLAIN</a:t>
            </a:r>
          </a:p>
        </p:txBody>
      </p:sp>
      <p:sp>
        <p:nvSpPr>
          <p:cNvPr id="8" name="TextBox 7"/>
          <p:cNvSpPr txBox="1"/>
          <p:nvPr/>
        </p:nvSpPr>
        <p:spPr>
          <a:xfrm>
            <a:off x="4297680" y="5603748"/>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Use GitHub in the browser today: upload your files and commit the changes. The commands above are optional local-terminal reference, not Python cells.</a:t>
            </a:r>
          </a:p>
        </p:txBody>
      </p:sp>
    </p:spTree>
  </p:cSld>
  <p:clrMapOvr>
    <a:masterClrMapping/>
  </p:clrMapOvr>
</p:sld>
</file>

<file path=ppt/slides/slide3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OWE ME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Assignment A2 — Proof of Life</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Due at the start of Week 3</a:t>
            </a:r>
          </a:p>
        </p:txBody>
      </p:sp>
      <p:sp>
        <p:nvSpPr>
          <p:cNvPr id="5" name="TextBox 4"/>
          <p:cNvSpPr txBox="1"/>
          <p:nvPr/>
        </p:nvSpPr>
        <p:spPr>
          <a:xfrm>
            <a:off x="685800" y="240933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Submit the notebook, README.md and repository URL through the A2 form.</a:t>
            </a:r>
          </a:p>
        </p:txBody>
      </p:sp>
      <p:sp>
        <p:nvSpPr>
          <p:cNvPr id="6" name="TextBox 5"/>
          <p:cNvSpPr txBox="1"/>
          <p:nvPr/>
        </p:nvSpPr>
        <p:spPr>
          <a:xfrm>
            <a:off x="685800" y="323074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Keep the CSV in your repository. Upload only your notebook and README.md.</a:t>
            </a:r>
          </a:p>
        </p:txBody>
      </p:sp>
      <p:sp>
        <p:nvSpPr>
          <p:cNvPr id="7" name="TextBox 6"/>
          <p:cNvSpPr txBox="1"/>
          <p:nvPr/>
        </p:nvSpPr>
        <p:spPr>
          <a:xfrm>
            <a:off x="685800" y="4412565"/>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Explain what changed when you repeated a cell, and what Restart and Run All does. Record one error you repaired.</a:t>
            </a:r>
          </a:p>
        </p:txBody>
      </p:sp>
      <p:sp>
        <p:nvSpPr>
          <p:cNvPr id="8" name="Rounded Rectangle 7"/>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Before you submit</a:t>
            </a:r>
          </a:p>
        </p:txBody>
      </p:sp>
      <p:sp>
        <p:nvSpPr>
          <p:cNvPr id="10" name="TextBox 9"/>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Restart and Run All.</a:t>
            </a:r>
          </a:p>
        </p:txBody>
      </p:sp>
      <p:sp>
        <p:nvSpPr>
          <p:cNvPr id="11" name="TextBox 10"/>
          <p:cNvSpPr txBox="1"/>
          <p:nvPr/>
        </p:nvSpPr>
        <p:spPr>
          <a:xfrm>
            <a:off x="6575907" y="2897385"/>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It must finish with no errors.</a:t>
            </a:r>
          </a:p>
        </p:txBody>
      </p:sp>
      <p:sp>
        <p:nvSpPr>
          <p:cNvPr id="12" name="TextBox 11"/>
          <p:cNvSpPr txBox="1"/>
          <p:nvPr/>
        </p:nvSpPr>
        <p:spPr>
          <a:xfrm>
            <a:off x="6575907" y="3426475"/>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Save with the outputs showing.</a:t>
            </a:r>
          </a:p>
        </p:txBody>
      </p:sp>
      <p:sp>
        <p:nvSpPr>
          <p:cNvPr id="13" name="TextBox 12"/>
          <p:cNvSpPr txBox="1"/>
          <p:nvPr/>
        </p:nvSpPr>
        <p:spPr>
          <a:xfrm>
            <a:off x="6575907" y="395556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Use a private repository, e.g. cml3112-practice. Paste its URL into the A2 form.</a:t>
            </a:r>
          </a:p>
        </p:txBody>
      </p:sp>
      <p:sp>
        <p:nvSpPr>
          <p:cNvPr id="14" name="TextBox 13"/>
          <p:cNvSpPr txBox="1"/>
          <p:nvPr/>
        </p:nvSpPr>
        <p:spPr>
          <a:xfrm>
            <a:off x="6575907" y="479428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20 marks using the published rubric.</a:t>
            </a:r>
          </a:p>
        </p:txBody>
      </p:sp>
    </p:spTree>
  </p:cSld>
  <p:clrMapOvr>
    <a:masterClrMapping/>
  </p:clrMapOvr>
</p:sld>
</file>

<file path=ppt/slides/slide3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README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makes a README worth reading</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It is the front door of your repository</a:t>
            </a:r>
          </a:p>
        </p:txBody>
      </p:sp>
      <p:sp>
        <p:nvSpPr>
          <p:cNvPr id="5" name="TextBox 4"/>
          <p:cNvSpPr txBox="1"/>
          <p:nvPr/>
        </p:nvSpPr>
        <p:spPr>
          <a:xfrm>
            <a:off x="685800"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README explains what the project does, which files it contains and how to run it.</a:t>
            </a:r>
          </a:p>
        </p:txBody>
      </p:sp>
      <p:sp>
        <p:nvSpPr>
          <p:cNvPr id="6" name="TextBox 5"/>
          <p:cNvSpPr txBox="1"/>
          <p:nvPr/>
        </p:nvSpPr>
        <p:spPr>
          <a:xfrm>
            <a:off x="685800"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Four things, for A2</a:t>
            </a:r>
          </a:p>
        </p:txBody>
      </p:sp>
      <p:sp>
        <p:nvSpPr>
          <p:cNvPr id="7" name="TextBox 6"/>
          <p:cNvSpPr txBox="1"/>
          <p:nvPr/>
        </p:nvSpPr>
        <p:spPr>
          <a:xfrm>
            <a:off x="685800" y="408801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Your course code and program; keep personal identifiers in the submission form.</a:t>
            </a:r>
          </a:p>
        </p:txBody>
      </p:sp>
      <p:sp>
        <p:nvSpPr>
          <p:cNvPr id="8" name="TextBox 7"/>
          <p:cNvSpPr txBox="1"/>
          <p:nvPr/>
        </p:nvSpPr>
        <p:spPr>
          <a:xfrm>
            <a:off x="685800" y="4898761"/>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exact notebook and CSV filenames in your repository.</a:t>
            </a:r>
          </a:p>
        </p:txBody>
      </p:sp>
      <p:sp>
        <p:nvSpPr>
          <p:cNvPr id="9" name="TextBox 8"/>
          <p:cNvSpPr txBox="1"/>
          <p:nvPr/>
        </p:nvSpPr>
        <p:spPr>
          <a:xfrm>
            <a:off x="685800" y="5709511"/>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How to open the notebook, upload the CSV and run cells from the top.</a:t>
            </a:r>
          </a:p>
        </p:txBody>
      </p:sp>
      <p:sp>
        <p:nvSpPr>
          <p:cNvPr id="10" name="TextBox 9"/>
          <p:cNvSpPr txBox="1"/>
          <p:nvPr/>
        </p:nvSpPr>
        <p:spPr>
          <a:xfrm>
            <a:off x="6347307" y="1911095"/>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How to restart, Run all, save and download the finished notebook.</a:t>
            </a:r>
          </a:p>
        </p:txBody>
      </p:sp>
      <p:sp>
        <p:nvSpPr>
          <p:cNvPr id="11" name="TextBox 10"/>
          <p:cNvSpPr txBox="1"/>
          <p:nvPr/>
        </p:nvSpPr>
        <p:spPr>
          <a:xfrm>
            <a:off x="6347307" y="2868149"/>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Keep the README practical</a:t>
            </a:r>
          </a:p>
        </p:txBody>
      </p:sp>
      <p:sp>
        <p:nvSpPr>
          <p:cNvPr id="12" name="TextBox 11"/>
          <p:cNvSpPr txBox="1"/>
          <p:nvPr/>
        </p:nvSpPr>
        <p:spPr>
          <a:xfrm>
            <a:off x="6347307" y="3309683"/>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Keep it short, but include the file list and run instructions. A new reader should be able to repeat your steps.</a:t>
            </a:r>
          </a:p>
        </p:txBody>
      </p:sp>
      <p:sp>
        <p:nvSpPr>
          <p:cNvPr id="13" name="TextBox 12"/>
          <p:cNvSpPr txBox="1"/>
          <p:nvPr/>
        </p:nvSpPr>
        <p:spPr>
          <a:xfrm>
            <a:off x="6347307" y="4603531"/>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Why the run instructions matter</a:t>
            </a:r>
          </a:p>
        </p:txBody>
      </p:sp>
      <p:sp>
        <p:nvSpPr>
          <p:cNvPr id="14" name="TextBox 13"/>
          <p:cNvSpPr txBox="1"/>
          <p:nvPr/>
        </p:nvSpPr>
        <p:spPr>
          <a:xfrm>
            <a:off x="6347307" y="5045065"/>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new reader should be able to open your files and reproduce the result. Test your README instructions before submitting.</a:t>
            </a:r>
          </a:p>
        </p:txBody>
      </p:sp>
    </p:spTree>
  </p:cSld>
  <p:clrMapOvr>
    <a:masterClrMapping/>
  </p:clrMapOvr>
</p:sld>
</file>

<file path=ppt/slides/slide3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Break and Fix</a:t>
            </a:r>
          </a:p>
        </p:txBody>
      </p:sp>
      <p:sp>
        <p:nvSpPr>
          <p:cNvPr id="4" name="Rounded Rectangle 3"/>
          <p:cNvSpPr/>
          <p:nvPr/>
        </p:nvSpPr>
        <p:spPr>
          <a:xfrm>
            <a:off x="685800" y="1911095"/>
            <a:ext cx="10820095" cy="199777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63201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Notebooks 01–04 contain errors. Use the worked repair to identify each error, fix it and describe its cause in one sentence.</a:t>
            </a:r>
          </a:p>
          <a:p>
            <a:pPr algn="l">
              <a:lnSpc>
                <a:spcPct val="125000"/>
              </a:lnSpc>
              <a:spcAft>
                <a:spcPts val="600"/>
              </a:spcAft>
            </a:pPr>
            <a:r>
              <a:rPr sz="1923" b="0" i="0">
                <a:solidFill>
                  <a:srgbClr val="1C3144"/>
                </a:solidFill>
                <a:latin typeface="Calibri"/>
              </a:rPr>
              <a:t>Three of them throw an error. One does not — it runs cleanly and gives a wrong answer. That fourth one is the one that matters.</a:t>
            </a:r>
          </a:p>
        </p:txBody>
      </p:sp>
      <p:sp>
        <p:nvSpPr>
          <p:cNvPr id="6" name="TextBox 5"/>
          <p:cNvSpPr txBox="1"/>
          <p:nvPr/>
        </p:nvSpPr>
        <p:spPr>
          <a:xfrm>
            <a:off x="685800" y="418318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65867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the LAST line of the error say?</a:t>
            </a:r>
          </a:p>
        </p:txBody>
      </p:sp>
      <p:sp>
        <p:nvSpPr>
          <p:cNvPr id="8" name="TextBox 7"/>
          <p:cNvSpPr txBox="1"/>
          <p:nvPr/>
        </p:nvSpPr>
        <p:spPr>
          <a:xfrm>
            <a:off x="685800" y="513561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was it looking for?</a:t>
            </a:r>
          </a:p>
        </p:txBody>
      </p:sp>
      <p:sp>
        <p:nvSpPr>
          <p:cNvPr id="9" name="TextBox 8"/>
          <p:cNvSpPr txBox="1"/>
          <p:nvPr/>
        </p:nvSpPr>
        <p:spPr>
          <a:xfrm>
            <a:off x="685800" y="561255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Where did it look?</a:t>
            </a:r>
          </a:p>
        </p:txBody>
      </p:sp>
      <p:sp>
        <p:nvSpPr>
          <p:cNvPr id="10" name="TextBox 9"/>
          <p:cNvSpPr txBox="1"/>
          <p:nvPr/>
        </p:nvSpPr>
        <p:spPr>
          <a:xfrm>
            <a:off x="6278727" y="465867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Which cells ran, and in what order?</a:t>
            </a:r>
          </a:p>
        </p:txBody>
      </p:sp>
      <p:sp>
        <p:nvSpPr>
          <p:cNvPr id="11" name="TextBox 10"/>
          <p:cNvSpPr txBox="1"/>
          <p:nvPr/>
        </p:nvSpPr>
        <p:spPr>
          <a:xfrm>
            <a:off x="6278727" y="513561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Is the answer even plausible?</a:t>
            </a:r>
          </a:p>
        </p:txBody>
      </p:sp>
      <p:sp>
        <p:nvSpPr>
          <p:cNvPr id="12" name="TextBox 11"/>
          <p:cNvSpPr txBox="1"/>
          <p:nvPr/>
        </p:nvSpPr>
        <p:spPr>
          <a:xfrm>
            <a:off x="6278727" y="561255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have caught this yourself?</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QUIZ AND 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2228649"/>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93398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This week's quiz — five minutes, and it counts for one per cent</a:t>
            </a:r>
          </a:p>
        </p:txBody>
      </p:sp>
      <p:sp>
        <p:nvSpPr>
          <p:cNvPr id="7" name="TextBox 6"/>
          <p:cNvSpPr txBox="1"/>
          <p:nvPr/>
        </p:nvSpPr>
        <p:spPr>
          <a:xfrm>
            <a:off x="1554480" y="2423159"/>
            <a:ext cx="9631375" cy="1625145"/>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A QR code goes up, you answer five questions on your phone, and you see your score after submission. The questions check notebook state, version control and error diagnosis.</a:t>
            </a:r>
          </a:p>
        </p:txBody>
      </p:sp>
      <p:sp>
        <p:nvSpPr>
          <p:cNvPr id="8" name="Rounded Rectangle 7"/>
          <p:cNvSpPr/>
          <p:nvPr/>
        </p:nvSpPr>
        <p:spPr>
          <a:xfrm>
            <a:off x="685800" y="4377489"/>
            <a:ext cx="10820095" cy="191358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524284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4496361"/>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A2 — due at the start of Week 3</a:t>
            </a:r>
          </a:p>
        </p:txBody>
      </p:sp>
      <p:sp>
        <p:nvSpPr>
          <p:cNvPr id="11" name="TextBox 10"/>
          <p:cNvSpPr txBox="1"/>
          <p:nvPr/>
        </p:nvSpPr>
        <p:spPr>
          <a:xfrm>
            <a:off x="1554480" y="4889553"/>
            <a:ext cx="9631375" cy="1310078"/>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Upload the notebook and README, and provide the repository URL. Restart and Run All first.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is for you to study from — summary, self-test with answers, glossary and a one-page reference.</a:t>
            </a:r>
          </a:p>
        </p:txBody>
      </p:sp>
    </p:spTree>
  </p:cSld>
  <p:clrMapOvr>
    <a:masterClrMapping/>
  </p:clrMapOvr>
</p:sld>
</file>

<file path=ppt/slides/slide3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Google Colab runs Python in your browser on Google's computers. Nothing is installed on your machine, and it needs an internet connection.</a:t>
            </a:r>
          </a:p>
        </p:txBody>
      </p:sp>
      <p:sp>
        <p:nvSpPr>
          <p:cNvPr id="6" name="Oval 5"/>
          <p:cNvSpPr/>
          <p:nvPr/>
        </p:nvSpPr>
        <p:spPr>
          <a:xfrm>
            <a:off x="685800" y="266383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08974"/>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notebook is made of cells. Code cells produce output beneath them; the number in brackets shows the order things were actually run.</a:t>
            </a:r>
          </a:p>
        </p:txBody>
      </p:sp>
      <p:sp>
        <p:nvSpPr>
          <p:cNvPr id="8" name="Oval 7"/>
          <p:cNvSpPr/>
          <p:nvPr/>
        </p:nvSpPr>
        <p:spPr>
          <a:xfrm>
            <a:off x="685800" y="336171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06852"/>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All cells share one kernel — a single Python session. That is why a variable made in one cell exists in another, and why order matters.</a:t>
            </a:r>
          </a:p>
        </p:txBody>
      </p:sp>
      <p:sp>
        <p:nvSpPr>
          <p:cNvPr id="10" name="Oval 9"/>
          <p:cNvSpPr/>
          <p:nvPr/>
        </p:nvSpPr>
        <p:spPr>
          <a:xfrm>
            <a:off x="685800" y="40595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04731"/>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Running a cell twice can change stored values twice. Restart and Run All checks whether the notebook works from a fresh session.</a:t>
            </a:r>
          </a:p>
        </p:txBody>
      </p:sp>
      <p:sp>
        <p:nvSpPr>
          <p:cNvPr id="12" name="Oval 11"/>
          <p:cNvSpPr/>
          <p:nvPr/>
        </p:nvSpPr>
        <p:spPr>
          <a:xfrm>
            <a:off x="685800" y="448168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426822"/>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Git records every version, what changed, and who changed it. A backup gives you yesterday's file; Git gives you the history.</a:t>
            </a:r>
          </a:p>
        </p:txBody>
      </p:sp>
      <p:sp>
        <p:nvSpPr>
          <p:cNvPr id="14" name="Oval 13"/>
          <p:cNvSpPr/>
          <p:nvPr/>
        </p:nvSpPr>
        <p:spPr>
          <a:xfrm>
            <a:off x="685800" y="490377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848913"/>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Four states, four commands: working directory, git add, staging, git commit, local repository, git push, GitHub. git status tells you where you are.</a:t>
            </a:r>
          </a:p>
        </p:txBody>
      </p:sp>
      <p:sp>
        <p:nvSpPr>
          <p:cNvPr id="16" name="Oval 15"/>
          <p:cNvSpPr/>
          <p:nvPr/>
        </p:nvSpPr>
        <p:spPr>
          <a:xfrm>
            <a:off x="685800" y="560165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546792"/>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Three of today's four broken notebooks announced their problem. The fourth did not, and that is the kind you have to catch yourself.</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classmate says their notebook 'worked yesterday' but fails today. What is the first thing you would ask them to do, and why?</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does the number in brackets beside a code cell tell you that the cell's position on the page does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changed five files but only want to record two of them. Which Git command lets you choose, and which state do the two files move into?</a:t>
            </a:r>
          </a:p>
        </p:txBody>
      </p:sp>
      <p:sp>
        <p:nvSpPr>
          <p:cNvPr id="10" name="Oval 9"/>
          <p:cNvSpPr/>
          <p:nvPr/>
        </p:nvSpPr>
        <p:spPr>
          <a:xfrm>
            <a:off x="685800" y="463088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59430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does this course submit work through GitHub rather than by email?</a:t>
            </a:r>
          </a:p>
        </p:txBody>
      </p:sp>
      <p:sp>
        <p:nvSpPr>
          <p:cNvPr id="12" name="Oval 11"/>
          <p:cNvSpPr/>
          <p:nvPr/>
        </p:nvSpPr>
        <p:spPr>
          <a:xfrm>
            <a:off x="685800" y="516952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132946"/>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Colab needs an internet connection. Given that, how are the Week 7 and Week 14 practical tests run, and why?</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8.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'It worked yesterday'?</a:t>
            </a:r>
          </a:p>
        </p:txBody>
      </p:sp>
      <p:sp>
        <p:nvSpPr>
          <p:cNvPr id="6" name="TextBox 5"/>
          <p:cNvSpPr txBox="1"/>
          <p:nvPr/>
        </p:nvSpPr>
        <p:spPr>
          <a:xfrm>
            <a:off x="1216152" y="2203703"/>
            <a:ext cx="4614519" cy="992985"/>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Restart and Run All checks for missing steps and dependencies on values from earlier runs. Fix the first failing cell.</a:t>
            </a:r>
          </a:p>
        </p:txBody>
      </p:sp>
      <p:sp>
        <p:nvSpPr>
          <p:cNvPr id="7" name="Oval 6"/>
          <p:cNvSpPr/>
          <p:nvPr/>
        </p:nvSpPr>
        <p:spPr>
          <a:xfrm>
            <a:off x="685800" y="326984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233265"/>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What the counter tells you?</a:t>
            </a:r>
          </a:p>
        </p:txBody>
      </p:sp>
      <p:sp>
        <p:nvSpPr>
          <p:cNvPr id="9" name="TextBox 8"/>
          <p:cNvSpPr txBox="1"/>
          <p:nvPr/>
        </p:nvSpPr>
        <p:spPr>
          <a:xfrm>
            <a:off x="1216152" y="3525873"/>
            <a:ext cx="4614519" cy="992985"/>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The order in which cells were actually executed. Position on the page is only a layout — the counter is what the kernel actually did, and the two can disagree.</a:t>
            </a:r>
          </a:p>
        </p:txBody>
      </p:sp>
      <p:sp>
        <p:nvSpPr>
          <p:cNvPr id="10" name="Oval 9"/>
          <p:cNvSpPr/>
          <p:nvPr/>
        </p:nvSpPr>
        <p:spPr>
          <a:xfrm>
            <a:off x="685800" y="459201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555434"/>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Recording two of five files?</a:t>
            </a:r>
          </a:p>
        </p:txBody>
      </p:sp>
      <p:sp>
        <p:nvSpPr>
          <p:cNvPr id="12" name="TextBox 11"/>
          <p:cNvSpPr txBox="1"/>
          <p:nvPr/>
        </p:nvSpPr>
        <p:spPr>
          <a:xfrm>
            <a:off x="1216152" y="4848042"/>
            <a:ext cx="4614519" cy="992985"/>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git add, naming just those two files rather than using a dot. They move into the staging area, and only staged files go into the next commit.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Why GitHub rather than email?</a:t>
            </a:r>
          </a:p>
        </p:txBody>
      </p:sp>
      <p:sp>
        <p:nvSpPr>
          <p:cNvPr id="15" name="TextBox 14"/>
          <p:cNvSpPr txBox="1"/>
          <p:nvPr/>
        </p:nvSpPr>
        <p:spPr>
          <a:xfrm>
            <a:off x="6854799" y="2203703"/>
            <a:ext cx="4614519" cy="1569631"/>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Git records changes and their authors. GitHub helps teams share code. Follow the assignment instructions for the files you must upload.</a:t>
            </a:r>
          </a:p>
        </p:txBody>
      </p:sp>
      <p:sp>
        <p:nvSpPr>
          <p:cNvPr id="16" name="Oval 15"/>
          <p:cNvSpPr/>
          <p:nvPr/>
        </p:nvSpPr>
        <p:spPr>
          <a:xfrm>
            <a:off x="6324447" y="384648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809911"/>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Colab needs internet — so how are the tests run?</a:t>
            </a:r>
          </a:p>
        </p:txBody>
      </p:sp>
      <p:sp>
        <p:nvSpPr>
          <p:cNvPr id="18" name="TextBox 17"/>
          <p:cNvSpPr txBox="1"/>
          <p:nvPr/>
        </p:nvSpPr>
        <p:spPr>
          <a:xfrm>
            <a:off x="6854799" y="4102519"/>
            <a:ext cx="4614519" cy="1569631"/>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Offline, on laboratory machines with a local Python installation and no network. That is deliberate: it makes the no-AI-assistance rule actually enforceable rather than a request, and it certifies what you can do unaided. It is also why the Student Setup Guide still exists.</a:t>
            </a:r>
          </a:p>
        </p:txBody>
      </p:sp>
    </p:spTree>
  </p:cSld>
  <p:clrMapOvr>
    <a:masterClrMapping/>
  </p:clrMapOvr>
</p:sld>
</file>

<file path=ppt/slides/slide39.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(1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Google Colab</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notebook environment that runs in a browser on Google's computers, with Python and the course libraries already installed.</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Notebook (.ipynb)</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document made of cells, mixing text, code and the code's output.</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Cell</a:t>
            </a:r>
          </a:p>
        </p:txBody>
      </p:sp>
      <p:sp>
        <p:nvSpPr>
          <p:cNvPr id="9" name="TextBox 8"/>
          <p:cNvSpPr txBox="1"/>
          <p:nvPr/>
        </p:nvSpPr>
        <p:spPr>
          <a:xfrm>
            <a:off x="685800" y="4930872"/>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One block of a notebook. Either markdown (text) or code.</a:t>
            </a:r>
          </a:p>
        </p:txBody>
      </p:sp>
      <p:sp>
        <p:nvSpPr>
          <p:cNvPr id="10" name="TextBox 9"/>
          <p:cNvSpPr txBox="1"/>
          <p:nvPr/>
        </p:nvSpPr>
        <p:spPr>
          <a:xfrm>
            <a:off x="685800" y="5446172"/>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Markdown</a:t>
            </a:r>
          </a:p>
        </p:txBody>
      </p:sp>
      <p:sp>
        <p:nvSpPr>
          <p:cNvPr id="11" name="TextBox 10"/>
          <p:cNvSpPr txBox="1"/>
          <p:nvPr/>
        </p:nvSpPr>
        <p:spPr>
          <a:xfrm>
            <a:off x="685800" y="5813386"/>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simple text format used for the text cells.</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Kernel</a:t>
            </a:r>
          </a:p>
        </p:txBody>
      </p:sp>
      <p:sp>
        <p:nvSpPr>
          <p:cNvPr id="13" name="TextBox 12"/>
          <p:cNvSpPr txBox="1"/>
          <p:nvPr/>
        </p:nvSpPr>
        <p:spPr>
          <a:xfrm>
            <a:off x="6324447" y="2278309"/>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single Python session that all the cells in a notebook share.</a:t>
            </a:r>
          </a:p>
        </p:txBody>
      </p:sp>
      <p:sp>
        <p:nvSpPr>
          <p:cNvPr id="14" name="TextBox 13"/>
          <p:cNvSpPr txBox="1"/>
          <p:nvPr/>
        </p:nvSpPr>
        <p:spPr>
          <a:xfrm>
            <a:off x="6324447" y="308945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Execution counter</a:t>
            </a:r>
          </a:p>
        </p:txBody>
      </p:sp>
      <p:sp>
        <p:nvSpPr>
          <p:cNvPr id="15" name="TextBox 14"/>
          <p:cNvSpPr txBox="1"/>
          <p:nvPr/>
        </p:nvSpPr>
        <p:spPr>
          <a:xfrm>
            <a:off x="6324447" y="345666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number in brackets beside a code cell, showing the order cells were run in.</a:t>
            </a:r>
          </a:p>
        </p:txBody>
      </p:sp>
      <p:sp>
        <p:nvSpPr>
          <p:cNvPr id="16" name="TextBox 15"/>
          <p:cNvSpPr txBox="1"/>
          <p:nvPr/>
        </p:nvSpPr>
        <p:spPr>
          <a:xfrm>
            <a:off x="6324447" y="426781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Restart and Run All</a:t>
            </a:r>
          </a:p>
        </p:txBody>
      </p:sp>
      <p:sp>
        <p:nvSpPr>
          <p:cNvPr id="17" name="TextBox 16"/>
          <p:cNvSpPr txBox="1"/>
          <p:nvPr/>
        </p:nvSpPr>
        <p:spPr>
          <a:xfrm>
            <a:off x="6324447" y="4635027"/>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Restart the kernel, then run every cell from the top to check the notebook in a fresh session.</a:t>
            </a:r>
          </a:p>
        </p:txBody>
      </p:sp>
      <p:sp>
        <p:nvSpPr>
          <p:cNvPr id="18" name="TextBox 17"/>
          <p:cNvSpPr txBox="1"/>
          <p:nvPr/>
        </p:nvSpPr>
        <p:spPr>
          <a:xfrm>
            <a:off x="6324447" y="5446172"/>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Output</a:t>
            </a:r>
          </a:p>
        </p:txBody>
      </p:sp>
      <p:sp>
        <p:nvSpPr>
          <p:cNvPr id="19" name="TextBox 18"/>
          <p:cNvSpPr txBox="1"/>
          <p:nvPr/>
        </p:nvSpPr>
        <p:spPr>
          <a:xfrm>
            <a:off x="6324447" y="5813386"/>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Whatever a code cell produced, shown directly beneath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(2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f-string</a:t>
            </a:r>
          </a:p>
        </p:txBody>
      </p:sp>
      <p:sp>
        <p:nvSpPr>
          <p:cNvPr id="5" name="TextBox 4"/>
          <p:cNvSpPr txBox="1"/>
          <p:nvPr/>
        </p:nvSpPr>
        <p:spPr>
          <a:xfrm>
            <a:off x="685800" y="2278309"/>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Text with holes in it: f"I have {n} readings". Anything in braces is replaced by that variable's value.</a:t>
            </a:r>
          </a:p>
        </p:txBody>
      </p:sp>
      <p:sp>
        <p:nvSpPr>
          <p:cNvPr id="6" name="TextBox 5"/>
          <p:cNvSpPr txBox="1"/>
          <p:nvPr/>
        </p:nvSpPr>
        <p:spPr>
          <a:xfrm>
            <a:off x="685800" y="308945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Git</a:t>
            </a:r>
          </a:p>
        </p:txBody>
      </p:sp>
      <p:sp>
        <p:nvSpPr>
          <p:cNvPr id="7" name="TextBox 6"/>
          <p:cNvSpPr txBox="1"/>
          <p:nvPr/>
        </p:nvSpPr>
        <p:spPr>
          <a:xfrm>
            <a:off x="685800" y="345666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tool that records every version of a project, what changed and who changed it.</a:t>
            </a:r>
          </a:p>
        </p:txBody>
      </p:sp>
      <p:sp>
        <p:nvSpPr>
          <p:cNvPr id="8" name="TextBox 7"/>
          <p:cNvSpPr txBox="1"/>
          <p:nvPr/>
        </p:nvSpPr>
        <p:spPr>
          <a:xfrm>
            <a:off x="685800" y="426781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GitHub</a:t>
            </a:r>
          </a:p>
        </p:txBody>
      </p:sp>
      <p:sp>
        <p:nvSpPr>
          <p:cNvPr id="9" name="TextBox 8"/>
          <p:cNvSpPr txBox="1"/>
          <p:nvPr/>
        </p:nvSpPr>
        <p:spPr>
          <a:xfrm>
            <a:off x="685800" y="4635027"/>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website that stores Git repositories so your work exists somewhere other than your laptop.</a:t>
            </a:r>
          </a:p>
        </p:txBody>
      </p:sp>
      <p:sp>
        <p:nvSpPr>
          <p:cNvPr id="10" name="TextBox 9"/>
          <p:cNvSpPr txBox="1"/>
          <p:nvPr/>
        </p:nvSpPr>
        <p:spPr>
          <a:xfrm>
            <a:off x="685800" y="5446172"/>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Repository (repo)</a:t>
            </a:r>
          </a:p>
        </p:txBody>
      </p:sp>
      <p:sp>
        <p:nvSpPr>
          <p:cNvPr id="11" name="TextBox 10"/>
          <p:cNvSpPr txBox="1"/>
          <p:nvPr/>
        </p:nvSpPr>
        <p:spPr>
          <a:xfrm>
            <a:off x="685800" y="5813386"/>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project folder whose whole history Git is tracking.</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Working directory</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Your files as they are right now, changes included.</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Staging area</a:t>
            </a:r>
          </a:p>
        </p:txBody>
      </p:sp>
      <p:sp>
        <p:nvSpPr>
          <p:cNvPr id="15" name="TextBox 14"/>
          <p:cNvSpPr txBox="1"/>
          <p:nvPr/>
        </p:nvSpPr>
        <p:spPr>
          <a:xfrm>
            <a:off x="6324447"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set of changes you have marked as ready to go into the next commit.</a:t>
            </a:r>
          </a:p>
        </p:txBody>
      </p:sp>
      <p:sp>
        <p:nvSpPr>
          <p:cNvPr id="16" name="TextBox 15"/>
          <p:cNvSpPr txBox="1"/>
          <p:nvPr/>
        </p:nvSpPr>
        <p:spPr>
          <a:xfrm>
            <a:off x="6324447"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Commit</a:t>
            </a:r>
          </a:p>
        </p:txBody>
      </p:sp>
      <p:sp>
        <p:nvSpPr>
          <p:cNvPr id="17" name="TextBox 16"/>
          <p:cNvSpPr txBox="1"/>
          <p:nvPr/>
        </p:nvSpPr>
        <p:spPr>
          <a:xfrm>
            <a:off x="6324447" y="4339183"/>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One recorded snapshot, with a message saying what changed.</a:t>
            </a:r>
          </a:p>
        </p:txBody>
      </p:sp>
      <p:sp>
        <p:nvSpPr>
          <p:cNvPr id="18" name="TextBox 17"/>
          <p:cNvSpPr txBox="1"/>
          <p:nvPr/>
        </p:nvSpPr>
        <p:spPr>
          <a:xfrm>
            <a:off x="6324447" y="485448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Push</a:t>
            </a:r>
          </a:p>
        </p:txBody>
      </p:sp>
      <p:sp>
        <p:nvSpPr>
          <p:cNvPr id="19" name="TextBox 18"/>
          <p:cNvSpPr txBox="1"/>
          <p:nvPr/>
        </p:nvSpPr>
        <p:spPr>
          <a:xfrm>
            <a:off x="6324447" y="522169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Send your commits up to GitHub.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git status</a:t>
            </a:r>
          </a:p>
        </p:txBody>
      </p:sp>
      <p:sp>
        <p:nvSpPr>
          <p:cNvPr id="5" name="TextBox 4"/>
          <p:cNvSpPr txBox="1"/>
          <p:nvPr/>
        </p:nvSpPr>
        <p:spPr>
          <a:xfrm>
            <a:off x="685800" y="2278309"/>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Ask Git what has changed and where it currently is. The most useful command on the list.</a:t>
            </a:r>
          </a:p>
        </p:txBody>
      </p:sp>
      <p:sp>
        <p:nvSpPr>
          <p:cNvPr id="6" name="TextBox 5"/>
          <p:cNvSpPr txBox="1"/>
          <p:nvPr/>
        </p:nvSpPr>
        <p:spPr>
          <a:xfrm>
            <a:off x="685800" y="308945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README</a:t>
            </a:r>
          </a:p>
        </p:txBody>
      </p:sp>
      <p:sp>
        <p:nvSpPr>
          <p:cNvPr id="7" name="TextBox 6"/>
          <p:cNvSpPr txBox="1"/>
          <p:nvPr/>
        </p:nvSpPr>
        <p:spPr>
          <a:xfrm>
            <a:off x="685800" y="345666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file that explains a repository to whoever opens it. Yours is marked.</a:t>
            </a:r>
          </a:p>
        </p:txBody>
      </p:sp>
    </p:spTree>
  </p:cSld>
  <p:clrMapOvr>
    <a:masterClrMapping/>
  </p:clrMapOvr>
</p:sld>
</file>

<file path=ppt/slides/slide4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the commands and the habits</a:t>
            </a:r>
          </a:p>
        </p:txBody>
      </p:sp>
      <p:sp>
        <p:nvSpPr>
          <p:cNvPr id="4" name="TextBox 3"/>
          <p:cNvSpPr txBox="1"/>
          <p:nvPr/>
        </p:nvSpPr>
        <p:spPr>
          <a:xfrm>
            <a:off x="685800" y="191109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Running code</a:t>
            </a:r>
          </a:p>
        </p:txBody>
      </p:sp>
      <p:sp>
        <p:nvSpPr>
          <p:cNvPr id="5" name="TextBox 4"/>
          <p:cNvSpPr txBox="1"/>
          <p:nvPr/>
        </p:nvSpPr>
        <p:spPr>
          <a:xfrm>
            <a:off x="685800" y="2273037"/>
            <a:ext cx="5158587" cy="300983"/>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Shift and Enter runs a cell. Enter alone just adds a line inside it.</a:t>
            </a:r>
          </a:p>
        </p:txBody>
      </p:sp>
      <p:sp>
        <p:nvSpPr>
          <p:cNvPr id="6" name="TextBox 5"/>
          <p:cNvSpPr txBox="1"/>
          <p:nvPr/>
        </p:nvSpPr>
        <p:spPr>
          <a:xfrm>
            <a:off x="685800" y="2802621"/>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Before you believe any answer</a:t>
            </a:r>
          </a:p>
        </p:txBody>
      </p:sp>
      <p:sp>
        <p:nvSpPr>
          <p:cNvPr id="7" name="TextBox 6"/>
          <p:cNvSpPr txBox="1"/>
          <p:nvPr/>
        </p:nvSpPr>
        <p:spPr>
          <a:xfrm>
            <a:off x="685800" y="3164562"/>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Restart and Run All. If a cell fails, check its error message and the inputs it needs.</a:t>
            </a:r>
          </a:p>
        </p:txBody>
      </p:sp>
      <p:sp>
        <p:nvSpPr>
          <p:cNvPr id="8" name="TextBox 7"/>
          <p:cNvSpPr txBox="1"/>
          <p:nvPr/>
        </p:nvSpPr>
        <p:spPr>
          <a:xfrm>
            <a:off x="685800" y="394026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Before you submit anything</a:t>
            </a:r>
          </a:p>
        </p:txBody>
      </p:sp>
      <p:sp>
        <p:nvSpPr>
          <p:cNvPr id="9" name="TextBox 8"/>
          <p:cNvSpPr txBox="1"/>
          <p:nvPr/>
        </p:nvSpPr>
        <p:spPr>
          <a:xfrm>
            <a:off x="685800" y="4302207"/>
            <a:ext cx="5158587" cy="300983"/>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Restart and Run All, confirm no errors, then save with outputs visible.</a:t>
            </a:r>
          </a:p>
        </p:txBody>
      </p:sp>
      <p:sp>
        <p:nvSpPr>
          <p:cNvPr id="10" name="TextBox 9"/>
          <p:cNvSpPr txBox="1"/>
          <p:nvPr/>
        </p:nvSpPr>
        <p:spPr>
          <a:xfrm>
            <a:off x="6347307" y="191109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The four Git commands</a:t>
            </a:r>
          </a:p>
        </p:txBody>
      </p:sp>
      <p:sp>
        <p:nvSpPr>
          <p:cNvPr id="11" name="TextBox 10"/>
          <p:cNvSpPr txBox="1"/>
          <p:nvPr/>
        </p:nvSpPr>
        <p:spPr>
          <a:xfrm>
            <a:off x="6347307" y="2273037"/>
            <a:ext cx="5158587" cy="1039340"/>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git status — what changed, and where is it?</a:t>
            </a:r>
          </a:p>
          <a:p>
            <a:pPr algn="l">
              <a:lnSpc>
                <a:spcPct val="124000"/>
              </a:lnSpc>
              <a:spcAft>
                <a:spcPts val="600"/>
              </a:spcAft>
            </a:pPr>
            <a:r>
              <a:rPr sz="1254" b="0" i="0">
                <a:solidFill>
                  <a:srgbClr val="334657"/>
                </a:solidFill>
                <a:latin typeface="Calibri"/>
              </a:rPr>
              <a:t>git add . — mark it all ready</a:t>
            </a:r>
          </a:p>
          <a:p>
            <a:pPr algn="l">
              <a:lnSpc>
                <a:spcPct val="124000"/>
              </a:lnSpc>
              <a:spcAft>
                <a:spcPts val="600"/>
              </a:spcAft>
            </a:pPr>
            <a:r>
              <a:rPr sz="1254" b="0" i="0">
                <a:solidFill>
                  <a:srgbClr val="334657"/>
                </a:solidFill>
                <a:latin typeface="Calibri"/>
              </a:rPr>
              <a:t>git commit -m "message" — record it</a:t>
            </a:r>
          </a:p>
          <a:p>
            <a:pPr algn="l">
              <a:lnSpc>
                <a:spcPct val="124000"/>
              </a:lnSpc>
              <a:spcAft>
                <a:spcPts val="600"/>
              </a:spcAft>
            </a:pPr>
            <a:r>
              <a:rPr sz="1254" b="0" i="0">
                <a:solidFill>
                  <a:srgbClr val="334657"/>
                </a:solidFill>
                <a:latin typeface="Calibri"/>
              </a:rPr>
              <a:t>git push — send it to GitHub</a:t>
            </a:r>
          </a:p>
        </p:txBody>
      </p:sp>
      <p:sp>
        <p:nvSpPr>
          <p:cNvPr id="12" name="TextBox 11"/>
          <p:cNvSpPr txBox="1"/>
          <p:nvPr/>
        </p:nvSpPr>
        <p:spPr>
          <a:xfrm>
            <a:off x="6347307" y="3540978"/>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Writing a commit message</a:t>
            </a:r>
          </a:p>
        </p:txBody>
      </p:sp>
      <p:sp>
        <p:nvSpPr>
          <p:cNvPr id="13" name="TextBox 12"/>
          <p:cNvSpPr txBox="1"/>
          <p:nvPr/>
        </p:nvSpPr>
        <p:spPr>
          <a:xfrm>
            <a:off x="6347307" y="3902920"/>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Say what changed, and why if it is not obvious. 'Add water/cement ratio column' is useful in November. 'update' is not.</a:t>
            </a:r>
          </a:p>
        </p:txBody>
      </p:sp>
      <p:sp>
        <p:nvSpPr>
          <p:cNvPr id="14" name="TextBox 13"/>
          <p:cNvSpPr txBox="1"/>
          <p:nvPr/>
        </p:nvSpPr>
        <p:spPr>
          <a:xfrm>
            <a:off x="6347307" y="4678622"/>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Reading an error</a:t>
            </a:r>
          </a:p>
        </p:txBody>
      </p:sp>
      <p:sp>
        <p:nvSpPr>
          <p:cNvPr id="15" name="TextBox 14"/>
          <p:cNvSpPr txBox="1"/>
          <p:nvPr/>
        </p:nvSpPr>
        <p:spPr>
          <a:xfrm>
            <a:off x="6347307" y="5040564"/>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Read the last line for the error type and message. Then find the indicated line in your code.</a:t>
            </a:r>
          </a:p>
        </p:txBody>
      </p:sp>
      <p:sp>
        <p:nvSpPr>
          <p:cNvPr id="16" name="TextBox 15"/>
          <p:cNvSpPr txBox="1"/>
          <p:nvPr/>
        </p:nvSpPr>
        <p:spPr>
          <a:xfrm>
            <a:off x="6347307" y="5816267"/>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Asking for help</a:t>
            </a:r>
          </a:p>
        </p:txBody>
      </p:sp>
      <p:sp>
        <p:nvSpPr>
          <p:cNvPr id="17" name="TextBox 16"/>
          <p:cNvSpPr txBox="1"/>
          <p:nvPr/>
        </p:nvSpPr>
        <p:spPr>
          <a:xfrm>
            <a:off x="6347307" y="6178208"/>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What you were trying to do, what you typed, what it said back. Those three things, in that order.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2</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Out-of-order execution, what Restart and Run All proves, and reading one git status output.</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Enter your own Student Registration Number exactly as recorded.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24 hours from lecturer activation, then it closes.</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02.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Error messages provide clues</a:t>
            </a:r>
          </a:p>
          <a:p>
            <a:pPr algn="l">
              <a:lnSpc>
                <a:spcPct val="110000"/>
              </a:lnSpc>
              <a:spcAft>
                <a:spcPts val="600"/>
              </a:spcAft>
            </a:pPr>
            <a:r>
              <a:rPr sz="3400" b="1" i="0">
                <a:solidFill>
                  <a:srgbClr val="FFFFFF"/>
                </a:solidFill>
                <a:latin typeface="Cambria"/>
              </a:rPr>
              <a:t>about what went wrong.</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Errors are common when writing code. Read the final line of the error message, locate the relevant cell and fix one problem at a time.</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Python calculations, with the formulas and units explained.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