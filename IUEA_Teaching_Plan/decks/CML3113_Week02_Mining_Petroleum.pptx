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you stop reading about this and start doing it. By the end of the session you will have run your own code, seen its output, and put it somewhere a marker can find it.</a:t>
            </a:r>
          </a:p>
          <a:p/>
          <a:p>
            <a:r>
              <a:t>You need three things: a browser, a Google account and a GitHub account. You do not need to install anything at all — that is deliberate.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objectives, and the fourth is the one that will save you the most time all semester.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eleven-segment shape as Week 1, with more keyboard time than any session so far. The break falls at the midpoint, straight after the execution-trap segment.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of recall before any new material. A2 is due at the start of Week 3, and by the end of today most of it is already built.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answers are the vocabulary the rest of the semester assumes. If you cannot answer them, the Week 1 deck's glossary slide has all of it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Features, target, example: those three words are the vocabulary every later week assumes. If the first question was hard, the Week 1 deck's data-table figure and glossary slide have all of it in one place, and half an hour on them this evening is worth more than anything else you could revise.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today's four tools answers a different question, and the question is the part to remember. Meeting ten libraries in three weeks and retaining none is the standard way an introductory data course fails; knowing which question each tool answers is what stops it happening to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as four questions rather than four products. The question is the durable part — the tool that answers it will change during your career, and the question will not.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 this course uses Colab is bandwidth and time. A hundred students installing Python, an editor and five libraries over one campus connection does not work; it has to be attempted to be believed.</a:t>
            </a:r>
          </a:p>
          <a:p/>
          <a:p>
            <a:r>
              <a:t>The honest limitation: Colab needs an internet connection. That is why the two practical tests in Weeks 7 and 14 are sat offline on lab machines instead, and why the Setup Guide still exists for anyone who wants a local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minutes with your hands on the keyboard. Open a browser now — this segment does not work as something you watch.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cells, and each teaches one thing. Cell 1: code runs and produces output underneath it. Cell 2: a name can hold a value, and that value survives into the next cell. Cell 3: running the same cell twice is not the same as running it once.</a:t>
            </a:r>
          </a:p>
          <a:p/>
          <a:p>
            <a:r>
              <a:t>The f in front of a string is what lets you put a variable inside the text — anything in {curly braces} is replaced by that variable's value.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item on this slide came from a real beginner making that mistake in a real first session. Shift-and-Enter alone accounts for a large share of the first ten minutes. Keep the slide in view while you work rather than reading it once, because it answers most of what goes wrong before you have to ask anybody.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makes a notebook better than a script for data work: the reasoning lives beside the calculation instead of in a separate report nobody updates.</a:t>
            </a:r>
          </a:p>
          <a:p/>
          <a:p>
            <a:r>
              <a:t>In Colab, press the + Text button instead of + Code. A # at the start of a line makes it a heading; ** around words makes them bold.</a:t>
            </a:r>
          </a:p>
          <a:p/>
          <a:p>
            <a:r>
              <a:t>From Week 5 your submitted notebooks are marked partly on whether a reader can follow them, so this is not optional polish.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quick questions to confirm you are still with the session. Question C is the interesting one: two people running identical code and getting different numbers is a real property of notebooks, and the execution-order block explains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C sets up the next segment. Two notebooks holding identical code can hold different values, because the kernel remembers how many times each cell has been run and the screen does not show you that history. Neither person is wrong; the notebook is simply not telling you everything it knows.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away from the keyboard, and the only concept block in the session. The execution-order block depends on it, because the execution trap only makes sense once you know what the kernel is holding on your behalf.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kernel is the part worth understanding properly. It is a single Python session sitting behind the whole notebook, so a variable made in cell 2 is available in cell 7 because both cells are talking to that one session. The cells themselves have no connection to each other.</a:t>
            </a:r>
          </a:p>
          <a:p/>
          <a:p>
            <a:r>
              <a:t>This is also why a notebook can lie to you. The kernel remembers everything you have run in the order you ran it, and that order need not match the order the cells appear on screen.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Watch the execution counter. It is the single most useful diagnostic in a notebook and almost no beginner looks at it.</a:t>
            </a:r>
          </a:p>
          <a:p/>
          <a:p>
            <a:r>
              <a:t>A notebook where the counters run 1, 2, 3, 4 top to bottom is a notebook you can trust. Anything else needs checking.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minutes on the most common way a notebook produces a confident wrong answer, and on the one menu item that prevents it. If you take a single habit out of Week 2, take this 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`readings = readings + 5` behaves the way it does: the right-hand side is worked out first, using whatever is currently in readings, and the result is then put back into readings. Run it three times and you have added fifteen.</a:t>
            </a:r>
          </a:p>
          <a:p/>
          <a:p>
            <a:r>
              <a:t>The habit: **Restart and Run All** before you believe any answer. It clears the kernel and runs every cell from the top in order, which is exactly what your marker's machine will do.</a:t>
            </a:r>
          </a:p>
          <a:p/>
          <a:p>
            <a:r>
              <a:t>From Week 5 your submitted work is graded by a program that does precisely this from a clean start. If your notebook only works in the order you happened to click, it does not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B is the one to take slowly. It is the realisation that 'it worked' can be an illusion produced by execution order, and that restarting is what turns the claim into evidence.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describes the most common way submitted work loses marks: the notebook ran for you and then failed for the marker. Every automated grader and every colleague runs code from a clean start, which is the whole reason the restart habit is asked for here.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diagnostic routine to use for the rest of your degree. Counters out of order, or a blank counter, mean the notebook and the kernel disagree, and the kernel is what actually ran.</a:t>
            </a:r>
          </a:p>
          <a:p/>
          <a:p>
            <a:r>
              <a:t>Step 4 is the question that matters. A result you cannot reproduce from a clean start is indistinguishable from a coincidence, which is why reproducibility gets treated as an engineering requirement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Git comes after the break and it needs you awake.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on what Git records that a copied folder does not. The commands come later; this segment is about the problem they solve, because Git treated as ceremony never gets used voluntarily.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'final_v3_REAL_final' folder is a problem everybody recognises, and Git is the tool built for it. The assessment consequence is the part to take seriously: your commit history is the evidence of which part of a team project you did, and sixty-five per cent of your mark is individual.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Git confusion comes from not knowing which of these four places a file is in. The diagram is worth photographing.</a:t>
            </a:r>
          </a:p>
          <a:p/>
          <a:p>
            <a:r>
              <a:t>The staging area feels like a pointless extra step until the first time you want to commit two of the five files you changed. That is what it is for.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messages matter more than beginners expect. 'update', 'fix' and 'stuff' are worthless in November. A message should say what changed and, where it is not obvious, why.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Twenty-five minutes with the whole room in step. You leave this segment with a live GitHub URL, and that URL is your A2 submission.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 can save straight to GitHub from the File menu, which is why today needs no command line at all. The four commands are shown because you will need them from Week 13, when the project has to be reproducible, and because every job you apply for expects them.</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honesty sentence is the part that is actually useful. What went wrong for you tells me where this session needs fixing, and being able to say plainly what broke and how you fixed it is a professional skill this course keeps asking for.</a:t>
            </a:r>
          </a:p>
          <a:p/>
          <a:p>
            <a:r>
              <a:t>Redo is not a penalty. It means come to office hours this week, because Week 3 assumes a working setup.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README files are written in markdown — the same format as the text cells you just used. A # makes a heading and ** makes bold.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of the four notebooks throw an error and one does not. The fourth runs cleanly and returns a wrong answer, and it deserves your last three minutes. An error tells you something is wrong and roughly where; a clean wrong answer tells you nothing at all, and it is the failure that costs a model in Week 10 and marks in the Week 14 test. Work the six questions in order rather than guessing, and pay attention to which cells ran and in what order.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the setup question honestly. 'I could not get that far' is worth more to me than a guess, and it is not the question that carries the mark.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past this slide is revision material: a summary, a self-test with worked answers, an eighteen-term glossary and a one-page command reference. It is written to be studied from during the week.</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statements covering the whole session. The fourth and the seventh are the two that carry into every later week: Restart and Run All as the only honest test, and the broken notebook that never announces itself.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E is worth thinking about properly. It is the trade-off at the centre of how this course is set 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E is the trade-off at the centre of how this course is set up. Colab removes every installation problem and needs a connection to work; the offline lab machines make the no-AI rule in the two tests enforceable rather than a request. Both compromises are deliberate, and they are why the Student Setup Guide still exists for anyone who wants a local installation.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Eighteen terms, and all of them are used every week from now on. If you can define them all by Week 4 you are in good shape — several appear in the weekly quizzes.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Photograph this slide. It answers most of what comes up in Weeks 3 to 6, and the four Git commands on it are the same four you will still be using on the project in Week 13.</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five minutes of every teaching session. Five questions, one per cent, and you see your score as you submit.</a:t>
            </a:r>
          </a:p>
          <a:p/>
          <a:p>
            <a:r>
              <a:t>Nothing on it can be answered without reading what it shows you, so there is nothing to revise for it beyond having done the session. Twelve run across the semester and the best ten count.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 saw go wrong today has gone wrong for every engineer in this building, and it will keep happening for the rest of your career. What changes is how long it takes you to read the message and carry on. Next week is Python as an engineering calculator, built on formulas from your own programme.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960120"/>
            <a:ext cx="123444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CML3113</a:t>
            </a:r>
          </a:p>
        </p:txBody>
      </p:sp>
      <p:sp>
        <p:nvSpPr>
          <p:cNvPr id="4" name="TextBox 3"/>
          <p:cNvSpPr txBox="1"/>
          <p:nvPr/>
        </p:nvSpPr>
        <p:spPr>
          <a:xfrm>
            <a:off x="685800" y="1600200"/>
            <a:ext cx="10820095" cy="2011680"/>
          </a:xfrm>
          <a:prstGeom prst="rect">
            <a:avLst/>
          </a:prstGeom>
          <a:noFill/>
        </p:spPr>
        <p:txBody>
          <a:bodyPr wrap="square" lIns="0" rIns="0" tIns="0" bIns="0" anchor="t">
            <a:spAutoFit/>
          </a:bodyPr>
          <a:lstStyle/>
          <a:p>
            <a:pPr algn="l">
              <a:lnSpc>
                <a:spcPct val="105000"/>
              </a:lnSpc>
              <a:spcAft>
                <a:spcPts val="600"/>
              </a:spcAft>
            </a:pPr>
            <a:r>
              <a:rPr sz="4400" b="1" i="0">
                <a:solidFill>
                  <a:srgbClr val="FFFFFF"/>
                </a:solidFill>
                <a:latin typeface="Cambria"/>
              </a:rPr>
              <a:t>Where the work</a:t>
            </a:r>
          </a:p>
          <a:p>
            <a:pPr algn="l">
              <a:lnSpc>
                <a:spcPct val="105000"/>
              </a:lnSpc>
              <a:spcAft>
                <a:spcPts val="600"/>
              </a:spcAft>
            </a:pPr>
            <a:r>
              <a:rPr sz="4400" b="1" i="0">
                <a:solidFill>
                  <a:srgbClr val="FFFFFF"/>
                </a:solidFill>
                <a:latin typeface="Cambria"/>
              </a:rPr>
              <a:t>actually happens</a:t>
            </a:r>
          </a:p>
        </p:txBody>
      </p:sp>
      <p:sp>
        <p:nvSpPr>
          <p:cNvPr id="5" name="TextBox 4"/>
          <p:cNvSpPr txBox="1"/>
          <p:nvPr/>
        </p:nvSpPr>
        <p:spPr>
          <a:xfrm>
            <a:off x="685800" y="3703320"/>
            <a:ext cx="10820095" cy="548640"/>
          </a:xfrm>
          <a:prstGeom prst="rect">
            <a:avLst/>
          </a:prstGeom>
          <a:noFill/>
        </p:spPr>
        <p:txBody>
          <a:bodyPr wrap="square" lIns="0" rIns="0" tIns="0" bIns="0" anchor="t">
            <a:spAutoFit/>
          </a:bodyPr>
          <a:lstStyle/>
          <a:p>
            <a:pPr algn="l">
              <a:spcAft>
                <a:spcPts val="600"/>
              </a:spcAft>
            </a:pPr>
            <a:r>
              <a:rPr sz="2293" b="0" i="0">
                <a:solidFill>
                  <a:srgbClr val="A8BCCE"/>
                </a:solidFill>
                <a:latin typeface="Calibri"/>
              </a:rPr>
              <a:t>Colab, notebooks and version control</a:t>
            </a:r>
          </a:p>
        </p:txBody>
      </p:sp>
      <p:sp>
        <p:nvSpPr>
          <p:cNvPr id="6" name="TextBox 5"/>
          <p:cNvSpPr txBox="1"/>
          <p:nvPr/>
        </p:nvSpPr>
        <p:spPr>
          <a:xfrm>
            <a:off x="685800" y="5349240"/>
            <a:ext cx="5486400"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WEEK 2  ·  Fri 18 September 2026</a:t>
            </a:r>
          </a:p>
        </p:txBody>
      </p:sp>
      <p:sp>
        <p:nvSpPr>
          <p:cNvPr id="7" name="TextBox 6"/>
          <p:cNvSpPr txBox="1"/>
          <p:nvPr/>
        </p:nvSpPr>
        <p:spPr>
          <a:xfrm>
            <a:off x="685800" y="5715000"/>
            <a:ext cx="8229600"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Friday 08:00–11:00 · Room 105  ·  IUEA Faculty of Engineering · Semester 1,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LEARNING OBJECTIVES</a:t>
            </a:r>
          </a:p>
        </p:txBody>
      </p:sp>
      <p:sp>
        <p:nvSpPr>
          <p:cNvPr id="3" name="TextBox 2"/>
          <p:cNvSpPr txBox="1"/>
          <p:nvPr/>
        </p:nvSpPr>
        <p:spPr>
          <a:xfrm>
            <a:off x="685800" y="950976"/>
            <a:ext cx="10820095" cy="731520"/>
          </a:xfrm>
          <a:prstGeom prst="rect">
            <a:avLst/>
          </a:prstGeom>
          <a:noFill/>
        </p:spPr>
        <p:txBody>
          <a:bodyPr wrap="square" lIns="0" rIns="0" tIns="0" bIns="0" anchor="t">
            <a:spAutoFit/>
          </a:bodyPr>
          <a:lstStyle/>
          <a:p>
            <a:pPr algn="l">
              <a:spcAft>
                <a:spcPts val="600"/>
              </a:spcAft>
            </a:pPr>
            <a:r>
              <a:rPr sz="3000" b="1" i="0">
                <a:solidFill>
                  <a:srgbClr val="1C3144"/>
                </a:solidFill>
                <a:latin typeface="Cambria"/>
              </a:rPr>
              <a:t>By the end of today you can…</a:t>
            </a:r>
          </a:p>
        </p:txBody>
      </p:sp>
      <p:sp>
        <p:nvSpPr>
          <p:cNvPr id="4" name="Oval 3"/>
          <p:cNvSpPr/>
          <p:nvPr/>
        </p:nvSpPr>
        <p:spPr>
          <a:xfrm>
            <a:off x="685800" y="190195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5" name="TextBox 4"/>
          <p:cNvSpPr txBox="1"/>
          <p:nvPr/>
        </p:nvSpPr>
        <p:spPr>
          <a:xfrm>
            <a:off x="1188720" y="1874519"/>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Open a notebook in Google Colab and run code in it without installing anything.</a:t>
            </a:r>
          </a:p>
        </p:txBody>
      </p:sp>
      <p:sp>
        <p:nvSpPr>
          <p:cNvPr id="6" name="Oval 5"/>
          <p:cNvSpPr/>
          <p:nvPr/>
        </p:nvSpPr>
        <p:spPr>
          <a:xfrm>
            <a:off x="685800" y="246887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7" name="TextBox 6"/>
          <p:cNvSpPr txBox="1"/>
          <p:nvPr/>
        </p:nvSpPr>
        <p:spPr>
          <a:xfrm>
            <a:off x="1188720" y="244144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what a cell is, what the execution counter means, and what the kernel holds.</a:t>
            </a:r>
          </a:p>
        </p:txBody>
      </p:sp>
      <p:sp>
        <p:nvSpPr>
          <p:cNvPr id="8" name="Oval 7"/>
          <p:cNvSpPr/>
          <p:nvPr/>
        </p:nvSpPr>
        <p:spPr>
          <a:xfrm>
            <a:off x="685800" y="303580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9" name="TextBox 8"/>
          <p:cNvSpPr txBox="1"/>
          <p:nvPr/>
        </p:nvSpPr>
        <p:spPr>
          <a:xfrm>
            <a:off x="1188720" y="3008376"/>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Predict what happens when a cell is run twice, and say why that matters.</a:t>
            </a:r>
          </a:p>
        </p:txBody>
      </p:sp>
      <p:sp>
        <p:nvSpPr>
          <p:cNvPr id="10" name="Oval 9"/>
          <p:cNvSpPr/>
          <p:nvPr/>
        </p:nvSpPr>
        <p:spPr>
          <a:xfrm>
            <a:off x="685800" y="3602736"/>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1" name="TextBox 10"/>
          <p:cNvSpPr txBox="1"/>
          <p:nvPr/>
        </p:nvSpPr>
        <p:spPr>
          <a:xfrm>
            <a:off x="1188720" y="3575304"/>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Use Restart and Run All, and say what problem it solves.</a:t>
            </a:r>
          </a:p>
        </p:txBody>
      </p:sp>
      <p:sp>
        <p:nvSpPr>
          <p:cNvPr id="12" name="Oval 11"/>
          <p:cNvSpPr/>
          <p:nvPr/>
        </p:nvSpPr>
        <p:spPr>
          <a:xfrm>
            <a:off x="685800" y="4169664"/>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3" name="TextBox 12"/>
          <p:cNvSpPr txBox="1"/>
          <p:nvPr/>
        </p:nvSpPr>
        <p:spPr>
          <a:xfrm>
            <a:off x="1188720" y="4142232"/>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Explain what Git records that a backup does not.</a:t>
            </a:r>
          </a:p>
        </p:txBody>
      </p:sp>
      <p:sp>
        <p:nvSpPr>
          <p:cNvPr id="14" name="Oval 13"/>
          <p:cNvSpPr/>
          <p:nvPr/>
        </p:nvSpPr>
        <p:spPr>
          <a:xfrm>
            <a:off x="685800" y="4736592"/>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6</a:t>
            </a:r>
          </a:p>
        </p:txBody>
      </p:sp>
      <p:sp>
        <p:nvSpPr>
          <p:cNvPr id="15" name="TextBox 14"/>
          <p:cNvSpPr txBox="1"/>
          <p:nvPr/>
        </p:nvSpPr>
        <p:spPr>
          <a:xfrm>
            <a:off x="1188720" y="4709160"/>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Create a repository, commit your work and push it, ending with a live URL.</a:t>
            </a:r>
          </a:p>
        </p:txBody>
      </p:sp>
      <p:sp>
        <p:nvSpPr>
          <p:cNvPr id="16" name="Oval 15"/>
          <p:cNvSpPr/>
          <p:nvPr/>
        </p:nvSpPr>
        <p:spPr>
          <a:xfrm>
            <a:off x="685800" y="530352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7</a:t>
            </a:r>
          </a:p>
        </p:txBody>
      </p:sp>
      <p:sp>
        <p:nvSpPr>
          <p:cNvPr id="17" name="TextBox 16"/>
          <p:cNvSpPr txBox="1"/>
          <p:nvPr/>
        </p:nvSpPr>
        <p:spPr>
          <a:xfrm>
            <a:off x="1188720" y="5276088"/>
            <a:ext cx="10180015" cy="566928"/>
          </a:xfrm>
          <a:prstGeom prst="rect">
            <a:avLst/>
          </a:prstGeom>
          <a:noFill/>
        </p:spPr>
        <p:txBody>
          <a:bodyPr wrap="square" lIns="0" rIns="0" tIns="0" bIns="0" anchor="t">
            <a:spAutoFit/>
          </a:bodyPr>
          <a:lstStyle/>
          <a:p>
            <a:pPr algn="l">
              <a:lnSpc>
                <a:spcPct val="116000"/>
              </a:lnSpc>
              <a:spcAft>
                <a:spcPts val="600"/>
              </a:spcAft>
            </a:pPr>
            <a:r>
              <a:rPr sz="1873" b="0" i="0">
                <a:solidFill>
                  <a:srgbClr val="2A3B4A"/>
                </a:solidFill>
                <a:latin typeface="Calibri"/>
              </a:rPr>
              <a:t>Read four different error messages and name the cause of each in one sentence.</a:t>
            </a:r>
          </a:p>
        </p:txBody>
      </p:sp>
      <p:sp>
        <p:nvSpPr>
          <p:cNvPr id="18" name="TextBox 17"/>
          <p:cNvSpPr txBox="1"/>
          <p:nvPr/>
        </p:nvSpPr>
        <p:spPr>
          <a:xfrm>
            <a:off x="685800" y="6199632"/>
            <a:ext cx="10820095" cy="365760"/>
          </a:xfrm>
          <a:prstGeom prst="rect">
            <a:avLst/>
          </a:prstGeom>
          <a:noFill/>
        </p:spPr>
        <p:txBody>
          <a:bodyPr wrap="square" lIns="0" rIns="0" tIns="0" bIns="0" anchor="t">
            <a:spAutoFit/>
          </a:bodyPr>
          <a:lstStyle/>
          <a:p>
            <a:pPr algn="l">
              <a:spcAft>
                <a:spcPts val="600"/>
              </a:spcAft>
            </a:pPr>
            <a:r>
              <a:rPr sz="1452" b="0" i="1">
                <a:solidFill>
                  <a:srgbClr val="6B7A8A"/>
                </a:solidFill>
                <a:latin typeface="Calibri"/>
              </a:rPr>
              <a:t>Week 2 · Colab, notebooks and version control · nothing here needs prior programming experience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HOW TODAY RUNS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today runs</a:t>
            </a:r>
          </a:p>
        </p:txBody>
      </p:sp>
      <p:pic>
        <p:nvPicPr>
          <p:cNvPr id="4" name="Picture 3" descr="clock_w2.png"/>
          <p:cNvPicPr>
            <a:picLocks noChangeAspect="1"/>
          </p:cNvPicPr>
          <p:nvPr/>
        </p:nvPicPr>
        <p:blipFill>
          <a:blip r:embed="rId2"/>
          <a:stretch>
            <a:fillRect/>
          </a:stretch>
        </p:blipFill>
        <p:spPr>
          <a:xfrm>
            <a:off x="969195" y="1911095"/>
            <a:ext cx="10253304"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same eleven-segment shape as last week. Today is heavier on practical work than any session so far — you will be typing for well over half of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1</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Where we got to, and where we are going</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10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A2 is due at the start of next week, and by the end of today you will already have most of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Two minutes: what stuck from Week 1?</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Last week you predicted case 13 from twelve examples. What was the name for the twelve columns you were given, and what was the name for the value you predicted?</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want to predict how many days until a pump needs servicing. Regression or classification?</a:t>
            </a:r>
          </a:p>
        </p:txBody>
      </p:sp>
      <p:sp>
        <p:nvSpPr>
          <p:cNvPr id="8" name="Oval 7"/>
          <p:cNvSpPr/>
          <p:nvPr/>
        </p:nvSpPr>
        <p:spPr>
          <a:xfrm>
            <a:off x="685800" y="3380716"/>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344140"/>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Name one of the four limits — one thing machine learning cannot do.</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next slide. Ask a neighbour first — that is faster than waiting for 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The twelve columns, and the value?</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The columns you were given are the FEATURES. The value you predicted is the TARGET. One row with both is one EXAMPLE.</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Days until servicing?</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Regression — the answer is a number with a unit. If it were 'service due or not' it would be classification.</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One of the four limits?</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No data · no signal · physics is simply better · the future stopped resembling the past. Any one of those.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2</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Four questions, four tools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Nobody memorises tools. You need to know which one answers which question — and each of today's four answers a different one.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TOOL MAP</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four questions</a:t>
            </a:r>
          </a:p>
        </p:txBody>
      </p:sp>
      <p:pic>
        <p:nvPicPr>
          <p:cNvPr id="4" name="Picture 3" descr="tool_map.png"/>
          <p:cNvPicPr>
            <a:picLocks noChangeAspect="1"/>
          </p:cNvPicPr>
          <p:nvPr/>
        </p:nvPicPr>
        <p:blipFill>
          <a:blip r:embed="rId2"/>
          <a:stretch>
            <a:fillRect/>
          </a:stretch>
        </p:blipFill>
        <p:spPr>
          <a:xfrm>
            <a:off x="1551182" y="1911095"/>
            <a:ext cx="908933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Four separate problems, four separate tools. You will use all four every week for the rest of the year, and you will not need a fifth this semester.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Google Colab</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notebook that runs in your browser, on Google's computers. Python and every library this course needs are already installed on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You open colab.research.google.com, sign in with a Google account, and you are running Python about fifteen seconds later. Nothing is installed on your own machine.</a:t>
            </a:r>
          </a:p>
        </p:txBody>
      </p:sp>
      <p:sp>
        <p:nvSpPr>
          <p:cNvPr id="8" name="Rounded Rectangle 7"/>
          <p:cNvSpPr/>
          <p:nvPr/>
        </p:nvSpPr>
        <p:spPr>
          <a:xfrm>
            <a:off x="685800" y="4290739"/>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272451"/>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website that teaches Python. Colab is not a tutorial — it is the real tool, and professional engineers use it for exactly this kind of work.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3</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Your first notebook</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30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Everybody types. This is not a demonstration you watch — open a browser now.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Three cells</a:t>
            </a:r>
          </a:p>
        </p:txBody>
      </p:sp>
      <p:sp>
        <p:nvSpPr>
          <p:cNvPr id="4" name="Rounded Rectangle 3"/>
          <p:cNvSpPr/>
          <p:nvPr/>
        </p:nvSpPr>
        <p:spPr>
          <a:xfrm>
            <a:off x="6852842" y="512064"/>
            <a:ext cx="4653052"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OPEN COLAB — NEW NOTEBOOK — TYPE THIS</a:t>
            </a:r>
          </a:p>
        </p:txBody>
      </p:sp>
      <p:sp>
        <p:nvSpPr>
          <p:cNvPr id="5" name="Rectangle 4"/>
          <p:cNvSpPr/>
          <p:nvPr/>
        </p:nvSpPr>
        <p:spPr>
          <a:xfrm>
            <a:off x="685800" y="1911095"/>
            <a:ext cx="10820095" cy="321326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2920654"/>
          </a:xfrm>
          <a:prstGeom prst="rect">
            <a:avLst/>
          </a:prstGeom>
          <a:noFill/>
        </p:spPr>
        <p:txBody>
          <a:bodyPr wrap="square" lIns="0" rIns="0" tIns="0" bIns="0" anchor="t">
            <a:spAutoFit/>
          </a:bodyPr>
          <a:lstStyle/>
          <a:p>
            <a:pPr algn="l">
              <a:lnSpc>
                <a:spcPts val="2064"/>
              </a:lnSpc>
              <a:spcAft>
                <a:spcPts val="0"/>
              </a:spcAft>
            </a:pPr>
            <a:r>
              <a:rPr sz="1518" b="0" i="0">
                <a:solidFill>
                  <a:srgbClr val="D8E3EC"/>
                </a:solidFill>
                <a:latin typeface="Courier New"/>
              </a:rPr>
              <a:t># Cell 1 - press Shift and Enter together to run it</a:t>
            </a:r>
          </a:p>
          <a:p>
            <a:pPr algn="l">
              <a:lnSpc>
                <a:spcPts val="2064"/>
              </a:lnSpc>
              <a:spcAft>
                <a:spcPts val="0"/>
              </a:spcAft>
            </a:pPr>
            <a:r>
              <a:rPr sz="1518" b="0" i="0">
                <a:solidFill>
                  <a:srgbClr val="D8E3EC"/>
                </a:solidFill>
                <a:latin typeface="Courier New"/>
              </a:rPr>
              <a:t>print("Hello from CML3113")</a:t>
            </a:r>
          </a:p>
          <a:p>
            <a:pPr algn="l">
              <a:lnSpc>
                <a:spcPts val="2064"/>
              </a:lnSpc>
              <a:spcAft>
                <a:spcPts val="0"/>
              </a:spcAft>
            </a:pPr>
            <a:r>
              <a:rPr sz="1518" b="0" i="0">
                <a:solidFill>
                  <a:srgbClr val="D8E3EC"/>
                </a:solidFill>
                <a:latin typeface="Courier New"/>
              </a:rPr>
              <a:t>print(2 + 2)</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 Cell 2 - a variable is a name for a value</a:t>
            </a:r>
          </a:p>
          <a:p>
            <a:pPr algn="l">
              <a:lnSpc>
                <a:spcPts val="2064"/>
              </a:lnSpc>
              <a:spcAft>
                <a:spcPts val="0"/>
              </a:spcAft>
            </a:pPr>
            <a:r>
              <a:rPr sz="1518" b="0" i="0">
                <a:solidFill>
                  <a:srgbClr val="D8E3EC"/>
                </a:solidFill>
                <a:latin typeface="Courier New"/>
              </a:rPr>
              <a:t>readings = 12</a:t>
            </a:r>
          </a:p>
          <a:p>
            <a:pPr algn="l">
              <a:lnSpc>
                <a:spcPts val="2064"/>
              </a:lnSpc>
              <a:spcAft>
                <a:spcPts val="0"/>
              </a:spcAft>
            </a:pPr>
            <a:r>
              <a:rPr sz="1518" b="0" i="0">
                <a:solidFill>
                  <a:srgbClr val="D8E3EC"/>
                </a:solidFill>
                <a:latin typeface="Courier New"/>
              </a:rPr>
              <a:t>print(f"I have {readings} readings")</a:t>
            </a:r>
          </a:p>
          <a:p>
            <a:pPr algn="l">
              <a:lnSpc>
                <a:spcPts val="2064"/>
              </a:lnSpc>
              <a:spcAft>
                <a:spcPts val="0"/>
              </a:spcAft>
            </a:pPr>
            <a:r>
              <a:rPr sz="1518" b="0" i="0">
                <a:solidFill>
                  <a:srgbClr val="D8E3EC"/>
                </a:solidFill>
                <a:latin typeface="Courier New"/>
              </a:rPr>
              <a:t/>
            </a:r>
          </a:p>
          <a:p>
            <a:pPr algn="l">
              <a:lnSpc>
                <a:spcPts val="2064"/>
              </a:lnSpc>
              <a:spcAft>
                <a:spcPts val="0"/>
              </a:spcAft>
            </a:pPr>
            <a:r>
              <a:rPr sz="1518" b="0" i="0">
                <a:solidFill>
                  <a:srgbClr val="D8E3EC"/>
                </a:solidFill>
                <a:latin typeface="Courier New"/>
              </a:rPr>
              <a:t># Cell 3 - run THIS one three times and watch both numbers</a:t>
            </a:r>
          </a:p>
          <a:p>
            <a:pPr algn="l">
              <a:lnSpc>
                <a:spcPts val="2064"/>
              </a:lnSpc>
              <a:spcAft>
                <a:spcPts val="0"/>
              </a:spcAft>
            </a:pPr>
            <a:r>
              <a:rPr sz="1518" b="0" i="0">
                <a:solidFill>
                  <a:srgbClr val="D8E3EC"/>
                </a:solidFill>
                <a:latin typeface="Courier New"/>
              </a:rPr>
              <a:t>readings = readings + 5</a:t>
            </a:r>
          </a:p>
          <a:p>
            <a:pPr algn="l">
              <a:lnSpc>
                <a:spcPts val="2064"/>
              </a:lnSpc>
              <a:spcAft>
                <a:spcPts val="0"/>
              </a:spcAft>
            </a:pPr>
            <a:r>
              <a:rPr sz="1518" b="0" i="0">
                <a:solidFill>
                  <a:srgbClr val="D8E3EC"/>
                </a:solidFill>
                <a:latin typeface="Courier New"/>
              </a:rPr>
              <a:t>print(f"readings is now {readings}")</a:t>
            </a:r>
          </a:p>
        </p:txBody>
      </p:sp>
      <p:sp>
        <p:nvSpPr>
          <p:cNvPr id="7" name="Rounded Rectangle 6"/>
          <p:cNvSpPr/>
          <p:nvPr/>
        </p:nvSpPr>
        <p:spPr>
          <a:xfrm>
            <a:off x="685800" y="534381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352958"/>
            <a:ext cx="7208215" cy="1336856"/>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Run cell 3 three times and watch the number it prints. You have not changed a single character, so an unchanging cell giving a changing answer is worth explaining. Hold that thought — it is the whole of the block on execution order.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TROUBLESHOOTING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three things that go wrong in the first ten minutes</a:t>
            </a:r>
          </a:p>
        </p:txBody>
      </p:sp>
      <p:sp>
        <p:nvSpPr>
          <p:cNvPr id="4" name="TextBox 3"/>
          <p:cNvSpPr txBox="1"/>
          <p:nvPr/>
        </p:nvSpPr>
        <p:spPr>
          <a:xfrm>
            <a:off x="685800"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You pressed Enter instead of Shift and Enter</a:t>
            </a:r>
          </a:p>
        </p:txBody>
      </p:sp>
      <p:sp>
        <p:nvSpPr>
          <p:cNvPr id="5" name="TextBox 4"/>
          <p:cNvSpPr txBox="1"/>
          <p:nvPr/>
        </p:nvSpPr>
        <p:spPr>
          <a:xfrm>
            <a:off x="685800"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Enter gives you a new line inside the cell. Shift and Enter runs it. This catches almost everybody once.</a:t>
            </a:r>
          </a:p>
        </p:txBody>
      </p:sp>
      <p:sp>
        <p:nvSpPr>
          <p:cNvPr id="6" name="TextBox 5"/>
          <p:cNvSpPr txBox="1"/>
          <p:nvPr/>
        </p:nvSpPr>
        <p:spPr>
          <a:xfrm>
            <a:off x="685800"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Nothing appears underneath the cell</a:t>
            </a:r>
          </a:p>
        </p:txBody>
      </p:sp>
      <p:sp>
        <p:nvSpPr>
          <p:cNvPr id="7" name="TextBox 6"/>
          <p:cNvSpPr txBox="1"/>
          <p:nvPr/>
        </p:nvSpPr>
        <p:spPr>
          <a:xfrm>
            <a:off x="685800" y="3612952"/>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Either the cell has no print in it, or it has not finished running. A cell that is still running shows a spinning circle to its left instead of a number.</a:t>
            </a:r>
          </a:p>
        </p:txBody>
      </p:sp>
      <p:sp>
        <p:nvSpPr>
          <p:cNvPr id="8" name="TextBox 7"/>
          <p:cNvSpPr txBox="1"/>
          <p:nvPr/>
        </p:nvSpPr>
        <p:spPr>
          <a:xfrm>
            <a:off x="6347307"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Colab asks you to sign in, or to connect</a:t>
            </a:r>
          </a:p>
        </p:txBody>
      </p:sp>
      <p:sp>
        <p:nvSpPr>
          <p:cNvPr id="9" name="TextBox 8"/>
          <p:cNvSpPr txBox="1"/>
          <p:nvPr/>
        </p:nvSpPr>
        <p:spPr>
          <a:xfrm>
            <a:off x="6347307" y="2322358"/>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Sign in with your Google account. 'Connect' means Colab is allocating you a machine and takes a few seconds — it is normal and it is not an error.</a:t>
            </a:r>
          </a:p>
        </p:txBody>
      </p:sp>
      <p:sp>
        <p:nvSpPr>
          <p:cNvPr id="10" name="TextBox 9"/>
          <p:cNvSpPr txBox="1"/>
          <p:nvPr/>
        </p:nvSpPr>
        <p:spPr>
          <a:xfrm>
            <a:off x="6347307" y="3499624"/>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And one thing that is not a problem</a:t>
            </a:r>
          </a:p>
        </p:txBody>
      </p:sp>
      <p:sp>
        <p:nvSpPr>
          <p:cNvPr id="11" name="TextBox 10"/>
          <p:cNvSpPr txBox="1"/>
          <p:nvPr/>
        </p:nvSpPr>
        <p:spPr>
          <a:xfrm>
            <a:off x="6347307" y="3910886"/>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A warning in yellow is not an error. Errors are red and they stop the cell. Yellow means Python is telling you something and carrying on regardless.</a:t>
            </a:r>
          </a:p>
        </p:txBody>
      </p:sp>
      <p:sp>
        <p:nvSpPr>
          <p:cNvPr id="12" name="TextBox 11"/>
          <p:cNvSpPr txBox="1"/>
          <p:nvPr/>
        </p:nvSpPr>
        <p:spPr>
          <a:xfrm>
            <a:off x="6347307" y="5088152"/>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If you are stuck for more than five minutes</a:t>
            </a:r>
          </a:p>
        </p:txBody>
      </p:sp>
      <p:sp>
        <p:nvSpPr>
          <p:cNvPr id="13" name="TextBox 12"/>
          <p:cNvSpPr txBox="1"/>
          <p:nvPr/>
        </p:nvSpPr>
        <p:spPr>
          <a:xfrm>
            <a:off x="6347307" y="5499414"/>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Put your hand up. Do not sit quietly and do not restart your laptop hoping. Say three things: what you were trying to do, what you typed, and what it said 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Markdown cell</a:t>
            </a:r>
          </a:p>
        </p:txBody>
      </p:sp>
      <p:sp>
        <p:nvSpPr>
          <p:cNvPr id="4" name="Rounded Rectangle 3"/>
          <p:cNvSpPr/>
          <p:nvPr/>
        </p:nvSpPr>
        <p:spPr>
          <a:xfrm>
            <a:off x="685800" y="1854203"/>
            <a:ext cx="10820095" cy="119590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848430"/>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cell holding text rather than code. It is where you write down what you are doing and why, in among the code that does it.</a:t>
            </a:r>
          </a:p>
        </p:txBody>
      </p:sp>
      <p:sp>
        <p:nvSpPr>
          <p:cNvPr id="6" name="Rounded Rectangle 5"/>
          <p:cNvSpPr/>
          <p:nvPr/>
        </p:nvSpPr>
        <p:spPr>
          <a:xfrm>
            <a:off x="685800" y="3324426"/>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306138"/>
            <a:ext cx="8808415" cy="1092853"/>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heading saying 'Question 3: does fly ash change strength?', then the code that answers it, then a sentence saying what the answer was. Anyone reading it — including you in November — can follow the reasoning.</a:t>
            </a:r>
          </a:p>
        </p:txBody>
      </p:sp>
      <p:sp>
        <p:nvSpPr>
          <p:cNvPr id="8" name="Rounded Rectangle 7"/>
          <p:cNvSpPr/>
          <p:nvPr/>
        </p:nvSpPr>
        <p:spPr>
          <a:xfrm>
            <a:off x="685800" y="4636735"/>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18447"/>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A comment. A comment explains one line to someone reading the code; a markdown cell explains the reasoning to someone reading the document.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Thirty seconds: check you are with me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press Enter at the end of a line in a code cell and nothing runs. Why?</a:t>
            </a:r>
          </a:p>
        </p:txBody>
      </p:sp>
      <p:sp>
        <p:nvSpPr>
          <p:cNvPr id="6" name="Oval 5"/>
          <p:cNvSpPr/>
          <p:nvPr/>
        </p:nvSpPr>
        <p:spPr>
          <a:xfrm>
            <a:off x="685800" y="2486313"/>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449737"/>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wrote print("hello") in a cell and ran it. Where does the word hello appear?</a:t>
            </a:r>
          </a:p>
        </p:txBody>
      </p:sp>
      <p:sp>
        <p:nvSpPr>
          <p:cNvPr id="8" name="Oval 7"/>
          <p:cNvSpPr/>
          <p:nvPr/>
        </p:nvSpPr>
        <p:spPr>
          <a:xfrm>
            <a:off x="685800" y="302495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298837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Your neighbour's cell 3 says 27 and yours says 17. Neither of you has changed the code. Who is wrong?</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next slide. Do not look yet.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Enter did nothing?</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Enter adds a new line inside the cell. Shift and Enter together runs it. This catches almost everybody once.</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Where does 'hello' appear?</a:t>
            </a:r>
          </a:p>
        </p:txBody>
      </p:sp>
      <p:sp>
        <p:nvSpPr>
          <p:cNvPr id="9" name="TextBox 8"/>
          <p:cNvSpPr txBox="1"/>
          <p:nvPr/>
        </p:nvSpPr>
        <p:spPr>
          <a:xfrm>
            <a:off x="1216152" y="3352897"/>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Directly underneath that cell, in the output area. Not in a separate window — a notebook keeps the code and its output together, which is the whole point of it.</a:t>
            </a:r>
          </a:p>
        </p:txBody>
      </p:sp>
      <p:sp>
        <p:nvSpPr>
          <p:cNvPr id="10" name="Oval 9"/>
          <p:cNvSpPr/>
          <p:nvPr/>
        </p:nvSpPr>
        <p:spPr>
          <a:xfrm>
            <a:off x="685800" y="4246058"/>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209482"/>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27 versus 17 — who is wrong?</a:t>
            </a:r>
          </a:p>
        </p:txBody>
      </p:sp>
      <p:sp>
        <p:nvSpPr>
          <p:cNvPr id="12" name="TextBox 11"/>
          <p:cNvSpPr txBox="1"/>
          <p:nvPr/>
        </p:nvSpPr>
        <p:spPr>
          <a:xfrm>
            <a:off x="1216152" y="4502090"/>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Neither. They have run the cell a different number of times. That is not a difference of opinion, it is a property of how notebooks work — and it is the subject of the execution-order block.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4</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a notebook actually is</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You have used one for half an hour. Now here is what is underneath it, because the next segment depends on understanding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ANATOMY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anatomy of a notebook</a:t>
            </a:r>
          </a:p>
        </p:txBody>
      </p:sp>
      <p:pic>
        <p:nvPicPr>
          <p:cNvPr id="4" name="Picture 3" descr="notebook_anatomy.png"/>
          <p:cNvPicPr>
            <a:picLocks noChangeAspect="1"/>
          </p:cNvPicPr>
          <p:nvPr/>
        </p:nvPicPr>
        <p:blipFill>
          <a:blip r:embed="rId2"/>
          <a:stretch>
            <a:fillRect/>
          </a:stretch>
        </p:blipFill>
        <p:spPr>
          <a:xfrm>
            <a:off x="1584233" y="1911095"/>
            <a:ext cx="9023229"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Cells hold either text or code. Code cells produce output directly beneath them. The number in brackets counts how many pieces of code you have run since the notebook started. All the cells share one memory, called the kernel.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Cell, kernel, and the execution counter</a:t>
            </a:r>
          </a:p>
        </p:txBody>
      </p:sp>
      <p:sp>
        <p:nvSpPr>
          <p:cNvPr id="4" name="Rounded Rectangle 3"/>
          <p:cNvSpPr/>
          <p:nvPr/>
        </p:nvSpPr>
        <p:spPr>
          <a:xfrm>
            <a:off x="685800" y="1854203"/>
            <a:ext cx="10820095" cy="1592685"/>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1245213"/>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CELL is one block of text or code. The KERNEL is the single Python session that all cells share. The EXECUTION COUNTER is the number in brackets beside a code cell, showing the order in which things were actually run.</a:t>
            </a:r>
          </a:p>
        </p:txBody>
      </p:sp>
      <p:sp>
        <p:nvSpPr>
          <p:cNvPr id="6" name="Rounded Rectangle 5"/>
          <p:cNvSpPr/>
          <p:nvPr/>
        </p:nvSpPr>
        <p:spPr>
          <a:xfrm>
            <a:off x="685800" y="3721209"/>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702921"/>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If the cell at the top of your notebook shows [7] and the one below it shows [3], you ran them out of order — and any answer that depends on both is suspect.</a:t>
            </a:r>
          </a:p>
        </p:txBody>
      </p:sp>
      <p:sp>
        <p:nvSpPr>
          <p:cNvPr id="8" name="Rounded Rectangle 7"/>
          <p:cNvSpPr/>
          <p:nvPr/>
        </p:nvSpPr>
        <p:spPr>
          <a:xfrm>
            <a:off x="685800" y="4687522"/>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69234"/>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The order the cells appear on screen. That is a layout; the counter is the truth.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5</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The trap, and the habit that saves you</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20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The most common way a notebook gives a confident wrong answer — and the one keystroke that prevents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EXECUTION TRAP</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same cell, run three times</a:t>
            </a:r>
          </a:p>
        </p:txBody>
      </p:sp>
      <p:pic>
        <p:nvPicPr>
          <p:cNvPr id="4" name="Picture 3" descr="execution_trap.png"/>
          <p:cNvPicPr>
            <a:picLocks noChangeAspect="1"/>
          </p:cNvPicPr>
          <p:nvPr/>
        </p:nvPicPr>
        <p:blipFill>
          <a:blip r:embed="rId2"/>
          <a:stretch>
            <a:fillRect/>
          </a:stretch>
        </p:blipFill>
        <p:spPr>
          <a:xfrm>
            <a:off x="920362" y="1911095"/>
            <a:ext cx="10350971" cy="4014216"/>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The code never changed. Not one character. The answer went 17, then 22, then 27, because the cell adds five to whatever is already in the box and puts it back. Restart and Run All takes it back to 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Can you answer these?</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notebook's cells show, top to bottom, the counters [4], [1], [5], [2]. What does that tell you, and would you trust its final answer?</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run Restart and Run All and the notebook now fails on cell 6 with an error, though it 'worked' five minutes ago. What was almost certainly true before you restarted?</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is Restart and Run All a better test than just re-running the one cell you changed?</a:t>
            </a:r>
          </a:p>
        </p:txBody>
      </p:sp>
      <p:sp>
        <p:nvSpPr>
          <p:cNvPr id="10" name="TextBox 9"/>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are on the next slide — try first, then look.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Counters [4], [1], [5], [2]?</a:t>
            </a:r>
          </a:p>
        </p:txBody>
      </p:sp>
      <p:sp>
        <p:nvSpPr>
          <p:cNvPr id="6" name="TextBox 5"/>
          <p:cNvSpPr txBox="1"/>
          <p:nvPr/>
        </p:nvSpPr>
        <p:spPr>
          <a:xfrm>
            <a:off x="1216152" y="2203703"/>
            <a:ext cx="10253167" cy="820009"/>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They were run out of order, so the kernel's memory does not match what the notebook looks like. Do not trust the final answer until you have restarted and run all.</a:t>
            </a:r>
          </a:p>
        </p:txBody>
      </p:sp>
      <p:sp>
        <p:nvSpPr>
          <p:cNvPr id="7" name="Oval 6"/>
          <p:cNvSpPr/>
          <p:nvPr/>
        </p:nvSpPr>
        <p:spPr>
          <a:xfrm>
            <a:off x="685800" y="3096865"/>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060289"/>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It fails after restarting?</a:t>
            </a:r>
          </a:p>
        </p:txBody>
      </p:sp>
      <p:sp>
        <p:nvSpPr>
          <p:cNvPr id="9" name="TextBox 8"/>
          <p:cNvSpPr txBox="1"/>
          <p:nvPr/>
        </p:nvSpPr>
        <p:spPr>
          <a:xfrm>
            <a:off x="1216152" y="3352897"/>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Cell 6 was depending on something created by a cell that has since been changed or deleted — or on a cell further down that you happened to run earlier. It never actually worked from a clean start; the kernel was just still holding the leftovers.</a:t>
            </a:r>
          </a:p>
        </p:txBody>
      </p:sp>
      <p:sp>
        <p:nvSpPr>
          <p:cNvPr id="10" name="Oval 9"/>
          <p:cNvSpPr/>
          <p:nvPr/>
        </p:nvSpPr>
        <p:spPr>
          <a:xfrm>
            <a:off x="685800" y="4592054"/>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555478"/>
            <a:ext cx="10253167" cy="274320"/>
          </a:xfrm>
          <a:prstGeom prst="rect">
            <a:avLst/>
          </a:prstGeom>
          <a:noFill/>
        </p:spPr>
        <p:txBody>
          <a:bodyPr wrap="square" lIns="0" rIns="0" tIns="0" bIns="0" anchor="t">
            <a:spAutoFit/>
          </a:bodyPr>
          <a:lstStyle/>
          <a:p>
            <a:pPr algn="l">
              <a:spcAft>
                <a:spcPts val="600"/>
              </a:spcAft>
            </a:pPr>
            <a:r>
              <a:rPr sz="1650" b="1" i="0">
                <a:solidFill>
                  <a:srgbClr val="6B7A8A"/>
                </a:solidFill>
                <a:latin typeface="Calibri"/>
              </a:rPr>
              <a:t>Why restart rather than re-run one cell?</a:t>
            </a:r>
          </a:p>
        </p:txBody>
      </p:sp>
      <p:sp>
        <p:nvSpPr>
          <p:cNvPr id="12" name="TextBox 11"/>
          <p:cNvSpPr txBox="1"/>
          <p:nvPr/>
        </p:nvSpPr>
        <p:spPr>
          <a:xfrm>
            <a:off x="1216152" y="4848086"/>
            <a:ext cx="10253167" cy="1166005"/>
          </a:xfrm>
          <a:prstGeom prst="rect">
            <a:avLst/>
          </a:prstGeom>
          <a:noFill/>
        </p:spPr>
        <p:txBody>
          <a:bodyPr wrap="square" lIns="0" rIns="0" tIns="0" bIns="0" anchor="t">
            <a:spAutoFit/>
          </a:bodyPr>
          <a:lstStyle/>
          <a:p>
            <a:pPr algn="l">
              <a:lnSpc>
                <a:spcPct val="120000"/>
              </a:lnSpc>
              <a:spcAft>
                <a:spcPts val="600"/>
              </a:spcAft>
            </a:pPr>
            <a:r>
              <a:rPr sz="1821" b="0" i="0">
                <a:solidFill>
                  <a:srgbClr val="2A3B4A"/>
                </a:solidFill>
                <a:latin typeface="Calibri"/>
              </a:rPr>
              <a:t>Because re-running one cell keeps everything else the kernel is holding, including things that no longer exist anywhere in your code. Only a restart proves the notebook can produce its results from nothing but itself — which is what reproducibility means.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WORKED EXAMPLE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Diagnosing a notebook from its counters</a:t>
            </a:r>
          </a:p>
        </p:txBody>
      </p:sp>
      <p:sp>
        <p:nvSpPr>
          <p:cNvPr id="4" name="TextBox 3"/>
          <p:cNvSpPr txBox="1"/>
          <p:nvPr/>
        </p:nvSpPr>
        <p:spPr>
          <a:xfrm>
            <a:off x="685800" y="1911095"/>
            <a:ext cx="10820095" cy="766387"/>
          </a:xfrm>
          <a:prstGeom prst="rect">
            <a:avLst/>
          </a:prstGeom>
          <a:noFill/>
        </p:spPr>
        <p:txBody>
          <a:bodyPr wrap="square" lIns="0" rIns="0" tIns="0" bIns="0" anchor="t">
            <a:spAutoFit/>
          </a:bodyPr>
          <a:lstStyle/>
          <a:p>
            <a:pPr algn="l">
              <a:lnSpc>
                <a:spcPct val="120000"/>
              </a:lnSpc>
              <a:spcAft>
                <a:spcPts val="600"/>
              </a:spcAft>
            </a:pPr>
            <a:r>
              <a:rPr sz="1873" b="0" i="0">
                <a:solidFill>
                  <a:srgbClr val="334657"/>
                </a:solidFill>
                <a:latin typeface="Calibri"/>
              </a:rPr>
              <a:t>The reasoning, step by step. A classmate says their notebook 'stopped working' and shows you this: the cells read, top to bottom, [2], [7], [3], and cell 4 is blank.</a:t>
            </a:r>
          </a:p>
        </p:txBody>
      </p:sp>
      <p:sp>
        <p:nvSpPr>
          <p:cNvPr id="5" name="Rounded Rectangle 4"/>
          <p:cNvSpPr/>
          <p:nvPr/>
        </p:nvSpPr>
        <p:spPr>
          <a:xfrm>
            <a:off x="685800" y="2732347"/>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 y="2787211"/>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1</a:t>
            </a:r>
          </a:p>
        </p:txBody>
      </p:sp>
      <p:sp>
        <p:nvSpPr>
          <p:cNvPr id="7" name="TextBox 6"/>
          <p:cNvSpPr txBox="1"/>
          <p:nvPr/>
        </p:nvSpPr>
        <p:spPr>
          <a:xfrm>
            <a:off x="1435607" y="2778067"/>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Read the counters: 2, then 7, then 3. Not run top to bottom.</a:t>
            </a:r>
          </a:p>
        </p:txBody>
      </p:sp>
      <p:sp>
        <p:nvSpPr>
          <p:cNvPr id="8" name="Rounded Rectangle 7"/>
          <p:cNvSpPr/>
          <p:nvPr/>
        </p:nvSpPr>
        <p:spPr>
          <a:xfrm>
            <a:off x="685800" y="3258366"/>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05256" y="3313230"/>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2</a:t>
            </a:r>
          </a:p>
        </p:txBody>
      </p:sp>
      <p:sp>
        <p:nvSpPr>
          <p:cNvPr id="10" name="TextBox 9"/>
          <p:cNvSpPr txBox="1"/>
          <p:nvPr/>
        </p:nvSpPr>
        <p:spPr>
          <a:xfrm>
            <a:off x="1435607" y="3304086"/>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Cell 4 is blank, so it never ran. Anything needing it will fail.</a:t>
            </a:r>
          </a:p>
        </p:txBody>
      </p:sp>
      <p:sp>
        <p:nvSpPr>
          <p:cNvPr id="11" name="Rounded Rectangle 10"/>
          <p:cNvSpPr/>
          <p:nvPr/>
        </p:nvSpPr>
        <p:spPr>
          <a:xfrm>
            <a:off x="685800" y="3784385"/>
            <a:ext cx="10820095" cy="796006"/>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05256" y="383924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3</a:t>
            </a:r>
          </a:p>
        </p:txBody>
      </p:sp>
      <p:sp>
        <p:nvSpPr>
          <p:cNvPr id="13" name="TextBox 12"/>
          <p:cNvSpPr txBox="1"/>
          <p:nvPr/>
        </p:nvSpPr>
        <p:spPr>
          <a:xfrm>
            <a:off x="1435607" y="3830105"/>
            <a:ext cx="9814255" cy="704566"/>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[7] before [3] means they jumped down and came back up. The kernel keeps the last write to each name.</a:t>
            </a:r>
          </a:p>
        </p:txBody>
      </p:sp>
      <p:sp>
        <p:nvSpPr>
          <p:cNvPr id="14" name="Rounded Rectangle 13"/>
          <p:cNvSpPr/>
          <p:nvPr/>
        </p:nvSpPr>
        <p:spPr>
          <a:xfrm>
            <a:off x="685800" y="4635255"/>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5256" y="4690119"/>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4</a:t>
            </a:r>
          </a:p>
        </p:txBody>
      </p:sp>
      <p:sp>
        <p:nvSpPr>
          <p:cNvPr id="16" name="TextBox 15"/>
          <p:cNvSpPr txBox="1"/>
          <p:nvPr/>
        </p:nvSpPr>
        <p:spPr>
          <a:xfrm>
            <a:off x="1435607" y="4680975"/>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The only useful question: does this notebook produce its results from nothing but itself?</a:t>
            </a:r>
          </a:p>
        </p:txBody>
      </p:sp>
      <p:sp>
        <p:nvSpPr>
          <p:cNvPr id="17" name="Rounded Rectangle 16"/>
          <p:cNvSpPr/>
          <p:nvPr/>
        </p:nvSpPr>
        <p:spPr>
          <a:xfrm>
            <a:off x="685800" y="5161274"/>
            <a:ext cx="10820095" cy="471155"/>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05256" y="5216138"/>
            <a:ext cx="310896" cy="310896"/>
          </a:xfrm>
          <a:prstGeom prst="ellipse">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20" b="1">
                <a:solidFill>
                  <a:srgbClr val="FFFFFF"/>
                </a:solidFill>
                <a:latin typeface="Calibri"/>
              </a:rPr>
              <a:t>5</a:t>
            </a:r>
          </a:p>
        </p:txBody>
      </p:sp>
      <p:sp>
        <p:nvSpPr>
          <p:cNvPr id="19" name="TextBox 18"/>
          <p:cNvSpPr txBox="1"/>
          <p:nvPr/>
        </p:nvSpPr>
        <p:spPr>
          <a:xfrm>
            <a:off x="1435607" y="5206994"/>
            <a:ext cx="9814255" cy="379715"/>
          </a:xfrm>
          <a:prstGeom prst="rect">
            <a:avLst/>
          </a:prstGeom>
          <a:noFill/>
        </p:spPr>
        <p:txBody>
          <a:bodyPr wrap="square" lIns="0" rIns="0" tIns="0" bIns="0" anchor="t">
            <a:spAutoFit/>
          </a:bodyPr>
          <a:lstStyle/>
          <a:p>
            <a:pPr algn="l">
              <a:lnSpc>
                <a:spcPct val="116000"/>
              </a:lnSpc>
              <a:spcAft>
                <a:spcPts val="600"/>
              </a:spcAft>
            </a:pPr>
            <a:r>
              <a:rPr sz="1769" b="0" i="0">
                <a:solidFill>
                  <a:srgbClr val="1C3144"/>
                </a:solidFill>
                <a:latin typeface="Calibri"/>
              </a:rPr>
              <a:t>Restart and Run All. Whatever breaks now is a real problem you can fix.</a:t>
            </a:r>
          </a:p>
        </p:txBody>
      </p:sp>
      <p:sp>
        <p:nvSpPr>
          <p:cNvPr id="20" name="Rounded Rectangle 19"/>
          <p:cNvSpPr/>
          <p:nvPr/>
        </p:nvSpPr>
        <p:spPr>
          <a:xfrm>
            <a:off x="685800" y="5742157"/>
            <a:ext cx="10820095" cy="992912"/>
          </a:xfrm>
          <a:prstGeom prst="roundRect">
            <a:avLst>
              <a:gd name="adj" fmla="val 6000"/>
            </a:avLst>
          </a:prstGeom>
          <a:solidFill>
            <a:srgbClr val="E457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78408" y="5879317"/>
            <a:ext cx="10234879" cy="718592"/>
          </a:xfrm>
          <a:prstGeom prst="rect">
            <a:avLst/>
          </a:prstGeom>
          <a:noFill/>
        </p:spPr>
        <p:txBody>
          <a:bodyPr wrap="square" lIns="0" rIns="0" tIns="0" bIns="0" anchor="t">
            <a:spAutoFit/>
          </a:bodyPr>
          <a:lstStyle/>
          <a:p>
            <a:pPr algn="l">
              <a:lnSpc>
                <a:spcPct val="118000"/>
              </a:lnSpc>
              <a:spcAft>
                <a:spcPts val="600"/>
              </a:spcAft>
            </a:pPr>
            <a:r>
              <a:rPr sz="2021" b="1" i="0">
                <a:solidFill>
                  <a:srgbClr val="FFFFFF"/>
                </a:solidFill>
                <a:latin typeface="Calibri"/>
              </a:rPr>
              <a:t>The diagnosis is almost never 'the notebook is broken'. It is 'the notebook was never run in the order it is written in', and the fix is one menu item.</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2377440"/>
            <a:ext cx="10820095" cy="1280160"/>
          </a:xfrm>
          <a:prstGeom prst="rect">
            <a:avLst/>
          </a:prstGeom>
          <a:noFill/>
        </p:spPr>
        <p:txBody>
          <a:bodyPr wrap="square" lIns="0" rIns="0" tIns="0" bIns="0" anchor="t">
            <a:spAutoFit/>
          </a:bodyPr>
          <a:lstStyle/>
          <a:p>
            <a:pPr algn="ctr">
              <a:spcAft>
                <a:spcPts val="600"/>
              </a:spcAft>
            </a:pPr>
            <a:r>
              <a:rPr sz="5400" b="1" i="0">
                <a:solidFill>
                  <a:srgbClr val="FFFFFF"/>
                </a:solidFill>
                <a:latin typeface="Cambria"/>
              </a:rPr>
              <a:t>Break</a:t>
            </a:r>
          </a:p>
        </p:txBody>
      </p:sp>
      <p:sp>
        <p:nvSpPr>
          <p:cNvPr id="4" name="TextBox 3"/>
          <p:cNvSpPr txBox="1"/>
          <p:nvPr/>
        </p:nvSpPr>
        <p:spPr>
          <a:xfrm>
            <a:off x="685800" y="3749039"/>
            <a:ext cx="10820095" cy="548640"/>
          </a:xfrm>
          <a:prstGeom prst="rect">
            <a:avLst/>
          </a:prstGeom>
          <a:noFill/>
        </p:spPr>
        <p:txBody>
          <a:bodyPr wrap="square" lIns="0" rIns="0" tIns="0" bIns="0" anchor="t">
            <a:spAutoFit/>
          </a:bodyPr>
          <a:lstStyle/>
          <a:p>
            <a:pPr algn="ctr">
              <a:spcAft>
                <a:spcPts val="600"/>
              </a:spcAft>
            </a:pPr>
            <a:r>
              <a:rPr sz="2531" b="0" i="0">
                <a:solidFill>
                  <a:srgbClr val="E4572E"/>
                </a:solidFill>
                <a:latin typeface="Calibri"/>
              </a:rPr>
              <a:t>10 minutes</a:t>
            </a:r>
          </a:p>
        </p:txBody>
      </p:sp>
      <p:sp>
        <p:nvSpPr>
          <p:cNvPr id="5" name="TextBox 4"/>
          <p:cNvSpPr txBox="1"/>
          <p:nvPr/>
        </p:nvSpPr>
        <p:spPr>
          <a:xfrm>
            <a:off x="685800" y="4572000"/>
            <a:ext cx="10820095" cy="548640"/>
          </a:xfrm>
          <a:prstGeom prst="rect">
            <a:avLst/>
          </a:prstGeom>
          <a:noFill/>
        </p:spPr>
        <p:txBody>
          <a:bodyPr wrap="square" lIns="0" rIns="0" tIns="0" bIns="0" anchor="t">
            <a:spAutoFit/>
          </a:bodyPr>
          <a:lstStyle/>
          <a:p>
            <a:pPr algn="ctr">
              <a:spcAft>
                <a:spcPts val="600"/>
              </a:spcAft>
            </a:pPr>
            <a:r>
              <a:rPr sz="1821" b="0" i="0">
                <a:solidFill>
                  <a:srgbClr val="8EA4B8"/>
                </a:solidFill>
                <a:latin typeface="Calibri"/>
              </a:rPr>
              <a:t>Stretch, and talk to someone you have not worked with. Be back on time: the longest working block of the session is next.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6</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What version control gives you</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What Git records that a copy of a folder does not — and why this course submits everything through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VERSION CONTROL</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problem Git actually solves</a:t>
            </a:r>
          </a:p>
        </p:txBody>
      </p:sp>
      <p:sp>
        <p:nvSpPr>
          <p:cNvPr id="4" name="TextBox 3"/>
          <p:cNvSpPr txBox="1"/>
          <p:nvPr/>
        </p:nvSpPr>
        <p:spPr>
          <a:xfrm>
            <a:off x="685800"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What a backup gives you</a:t>
            </a:r>
          </a:p>
        </p:txBody>
      </p:sp>
      <p:sp>
        <p:nvSpPr>
          <p:cNvPr id="5" name="TextBox 4"/>
          <p:cNvSpPr txBox="1"/>
          <p:nvPr/>
        </p:nvSpPr>
        <p:spPr>
          <a:xfrm>
            <a:off x="685800"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Yesterday's version of the file. One version, and only if you remembered.</a:t>
            </a:r>
          </a:p>
        </p:txBody>
      </p:sp>
      <p:sp>
        <p:nvSpPr>
          <p:cNvPr id="6" name="TextBox 5"/>
          <p:cNvSpPr txBox="1"/>
          <p:nvPr/>
        </p:nvSpPr>
        <p:spPr>
          <a:xfrm>
            <a:off x="685800"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What you actually need, repeatedly</a:t>
            </a:r>
          </a:p>
        </p:txBody>
      </p:sp>
      <p:sp>
        <p:nvSpPr>
          <p:cNvPr id="7" name="TextBox 6"/>
          <p:cNvSpPr txBox="1"/>
          <p:nvPr/>
        </p:nvSpPr>
        <p:spPr>
          <a:xfrm>
            <a:off x="685800" y="3612952"/>
            <a:ext cx="5158587" cy="1246599"/>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Which lines changed between Tuesday and Thursday. Who changed them. Why — because a good message says why. And the ability to go back to the version that worked, without having kept a folder called 'final_v3_REAL_final'.</a:t>
            </a:r>
          </a:p>
        </p:txBody>
      </p:sp>
      <p:sp>
        <p:nvSpPr>
          <p:cNvPr id="8" name="TextBox 7"/>
          <p:cNvSpPr txBox="1"/>
          <p:nvPr/>
        </p:nvSpPr>
        <p:spPr>
          <a:xfrm>
            <a:off x="6347307" y="1911095"/>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What it gives a team of five</a:t>
            </a:r>
          </a:p>
        </p:txBody>
      </p:sp>
      <p:sp>
        <p:nvSpPr>
          <p:cNvPr id="9" name="TextBox 8"/>
          <p:cNvSpPr txBox="1"/>
          <p:nvPr/>
        </p:nvSpPr>
        <p:spPr>
          <a:xfrm>
            <a:off x="6347307" y="2322358"/>
            <a:ext cx="5158587" cy="650731"/>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Five people editing the same project without overwriting each other, and a record of who did which part.</a:t>
            </a:r>
          </a:p>
        </p:txBody>
      </p:sp>
      <p:sp>
        <p:nvSpPr>
          <p:cNvPr id="10" name="TextBox 9"/>
          <p:cNvSpPr txBox="1"/>
          <p:nvPr/>
        </p:nvSpPr>
        <p:spPr>
          <a:xfrm>
            <a:off x="6347307" y="3201690"/>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Which is why it is in this course at all</a:t>
            </a:r>
          </a:p>
        </p:txBody>
      </p:sp>
      <p:sp>
        <p:nvSpPr>
          <p:cNvPr id="11" name="TextBox 10"/>
          <p:cNvSpPr txBox="1"/>
          <p:nvPr/>
        </p:nvSpPr>
        <p:spPr>
          <a:xfrm>
            <a:off x="6347307" y="3612952"/>
            <a:ext cx="5158587" cy="1246599"/>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Sixty-five per cent of your mark is individual, and two of your assessments are team projects. The commit history is how a team mark becomes an individual one. It is not administrative — it is the evidence that you did your share.</a:t>
            </a:r>
          </a:p>
        </p:txBody>
      </p:sp>
      <p:sp>
        <p:nvSpPr>
          <p:cNvPr id="12" name="TextBox 11"/>
          <p:cNvSpPr txBox="1"/>
          <p:nvPr/>
        </p:nvSpPr>
        <p:spPr>
          <a:xfrm>
            <a:off x="6347307" y="5088152"/>
            <a:ext cx="5158587" cy="402118"/>
          </a:xfrm>
          <a:prstGeom prst="rect">
            <a:avLst/>
          </a:prstGeom>
          <a:noFill/>
        </p:spPr>
        <p:txBody>
          <a:bodyPr wrap="square" lIns="0" rIns="0" tIns="0" bIns="0" anchor="t">
            <a:spAutoFit/>
          </a:bodyPr>
          <a:lstStyle/>
          <a:p>
            <a:pPr algn="l">
              <a:lnSpc>
                <a:spcPct val="124000"/>
              </a:lnSpc>
              <a:spcAft>
                <a:spcPts val="600"/>
              </a:spcAft>
            </a:pPr>
            <a:r>
              <a:rPr sz="1769" b="1" i="0">
                <a:solidFill>
                  <a:srgbClr val="E4572E"/>
                </a:solidFill>
                <a:latin typeface="Calibri"/>
              </a:rPr>
              <a:t>And it is what industry uses</a:t>
            </a:r>
          </a:p>
        </p:txBody>
      </p:sp>
      <p:sp>
        <p:nvSpPr>
          <p:cNvPr id="13" name="TextBox 12"/>
          <p:cNvSpPr txBox="1"/>
          <p:nvPr/>
        </p:nvSpPr>
        <p:spPr>
          <a:xfrm>
            <a:off x="6347307" y="5499414"/>
            <a:ext cx="5158587" cy="948665"/>
          </a:xfrm>
          <a:prstGeom prst="rect">
            <a:avLst/>
          </a:prstGeom>
          <a:noFill/>
        </p:spPr>
        <p:txBody>
          <a:bodyPr wrap="square" lIns="0" rIns="0" tIns="0" bIns="0" anchor="t">
            <a:spAutoFit/>
          </a:bodyPr>
          <a:lstStyle/>
          <a:p>
            <a:pPr algn="l">
              <a:lnSpc>
                <a:spcPct val="124000"/>
              </a:lnSpc>
              <a:spcAft>
                <a:spcPts val="600"/>
              </a:spcAft>
            </a:pPr>
            <a:r>
              <a:rPr sz="1518" b="0" i="0">
                <a:solidFill>
                  <a:srgbClr val="334657"/>
                </a:solidFill>
                <a:latin typeface="Calibri"/>
              </a:rPr>
              <a:t>Every engineering software team on earth. Learning it now costs you twenty minutes; not learning it costs you a first job interview.</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FOUR STATES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The four places your work can be</a:t>
            </a:r>
          </a:p>
        </p:txBody>
      </p:sp>
      <p:pic>
        <p:nvPicPr>
          <p:cNvPr id="4" name="Picture 3" descr="git_states.png"/>
          <p:cNvPicPr>
            <a:picLocks noChangeAspect="1"/>
          </p:cNvPicPr>
          <p:nvPr/>
        </p:nvPicPr>
        <p:blipFill>
          <a:blip r:embed="rId2"/>
          <a:stretch>
            <a:fillRect/>
          </a:stretch>
        </p:blipFill>
        <p:spPr>
          <a:xfrm>
            <a:off x="685800" y="1996544"/>
            <a:ext cx="10820095" cy="3843318"/>
          </a:xfrm>
          <a:prstGeom prst="rect">
            <a:avLst/>
          </a:prstGeom>
        </p:spPr>
      </p:pic>
      <p:sp>
        <p:nvSpPr>
          <p:cNvPr id="5" name="TextBox 4"/>
          <p:cNvSpPr txBox="1"/>
          <p:nvPr/>
        </p:nvSpPr>
        <p:spPr>
          <a:xfrm>
            <a:off x="685800" y="6016752"/>
            <a:ext cx="10820095" cy="548640"/>
          </a:xfrm>
          <a:prstGeom prst="rect">
            <a:avLst/>
          </a:prstGeom>
          <a:noFill/>
        </p:spPr>
        <p:txBody>
          <a:bodyPr wrap="square" lIns="0" rIns="0" tIns="0" bIns="0" anchor="t">
            <a:spAutoFit/>
          </a:bodyPr>
          <a:lstStyle/>
          <a:p>
            <a:pPr algn="l">
              <a:lnSpc>
                <a:spcPct val="120000"/>
              </a:lnSpc>
              <a:spcAft>
                <a:spcPts val="600"/>
              </a:spcAft>
            </a:pPr>
            <a:r>
              <a:rPr sz="1584" b="0" i="1">
                <a:solidFill>
                  <a:srgbClr val="6B7A8A"/>
                </a:solidFill>
                <a:latin typeface="Calibri"/>
              </a:rPr>
              <a:t>Your files move left to right through four states, and one command moves them between each. git status tells you where things currently are — run it constantly until it becomes automatic.</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DEFINITION</a:t>
            </a:r>
          </a:p>
        </p:txBody>
      </p:sp>
      <p:sp>
        <p:nvSpPr>
          <p:cNvPr id="3" name="TextBox 2"/>
          <p:cNvSpPr txBox="1"/>
          <p:nvPr/>
        </p:nvSpPr>
        <p:spPr>
          <a:xfrm>
            <a:off x="685800" y="932688"/>
            <a:ext cx="10820095" cy="702059"/>
          </a:xfrm>
          <a:prstGeom prst="rect">
            <a:avLst/>
          </a:prstGeom>
          <a:noFill/>
        </p:spPr>
        <p:txBody>
          <a:bodyPr wrap="square" lIns="0" rIns="0" tIns="0" bIns="0" anchor="t">
            <a:spAutoFit/>
          </a:bodyPr>
          <a:lstStyle/>
          <a:p>
            <a:pPr algn="l">
              <a:spcAft>
                <a:spcPts val="600"/>
              </a:spcAft>
            </a:pPr>
            <a:r>
              <a:rPr sz="3800" b="1" i="0">
                <a:solidFill>
                  <a:srgbClr val="1C3144"/>
                </a:solidFill>
                <a:latin typeface="Cambria"/>
              </a:rPr>
              <a:t>Repository, commit, and push</a:t>
            </a:r>
          </a:p>
        </p:txBody>
      </p:sp>
      <p:sp>
        <p:nvSpPr>
          <p:cNvPr id="4" name="Rounded Rectangle 3"/>
          <p:cNvSpPr/>
          <p:nvPr/>
        </p:nvSpPr>
        <p:spPr>
          <a:xfrm>
            <a:off x="685800" y="1854203"/>
            <a:ext cx="10820095" cy="1592685"/>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055371"/>
            <a:ext cx="10234879" cy="1245213"/>
          </a:xfrm>
          <a:prstGeom prst="rect">
            <a:avLst/>
          </a:prstGeom>
          <a:noFill/>
        </p:spPr>
        <p:txBody>
          <a:bodyPr wrap="square" lIns="0" rIns="0" tIns="0" bIns="0" anchor="t">
            <a:spAutoFit/>
          </a:bodyPr>
          <a:lstStyle/>
          <a:p>
            <a:pPr algn="l">
              <a:lnSpc>
                <a:spcPct val="124000"/>
              </a:lnSpc>
              <a:spcAft>
                <a:spcPts val="600"/>
              </a:spcAft>
            </a:pPr>
            <a:r>
              <a:rPr sz="2021" b="0" i="0">
                <a:solidFill>
                  <a:srgbClr val="1C3144"/>
                </a:solidFill>
                <a:latin typeface="Calibri"/>
              </a:rPr>
              <a:t>A REPOSITORY is a project folder whose entire history Git is tracking. A COMMIT is one recorded snapshot with a message saying what changed. To PUSH is to send your commits to GitHub so they exist somewhere other than your laptop.</a:t>
            </a:r>
          </a:p>
        </p:txBody>
      </p:sp>
      <p:sp>
        <p:nvSpPr>
          <p:cNvPr id="6" name="Rounded Rectangle 5"/>
          <p:cNvSpPr/>
          <p:nvPr/>
        </p:nvSpPr>
        <p:spPr>
          <a:xfrm>
            <a:off x="685800" y="3721209"/>
            <a:ext cx="16459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FOR EXAMPLE</a:t>
            </a:r>
          </a:p>
        </p:txBody>
      </p:sp>
      <p:sp>
        <p:nvSpPr>
          <p:cNvPr id="7" name="TextBox 6"/>
          <p:cNvSpPr txBox="1"/>
          <p:nvPr/>
        </p:nvSpPr>
        <p:spPr>
          <a:xfrm>
            <a:off x="2560320" y="3702921"/>
            <a:ext cx="880841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git commit -m "Add reagent-to-feed ratio column" records a snapshot with that message. Six weeks later that message is the only thing that tells you what you did.</a:t>
            </a:r>
          </a:p>
        </p:txBody>
      </p:sp>
      <p:sp>
        <p:nvSpPr>
          <p:cNvPr id="8" name="Rounded Rectangle 7"/>
          <p:cNvSpPr/>
          <p:nvPr/>
        </p:nvSpPr>
        <p:spPr>
          <a:xfrm>
            <a:off x="685800" y="4687522"/>
            <a:ext cx="246888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DO NOT CONFUSE WITH</a:t>
            </a:r>
          </a:p>
        </p:txBody>
      </p:sp>
      <p:sp>
        <p:nvSpPr>
          <p:cNvPr id="9" name="TextBox 8"/>
          <p:cNvSpPr txBox="1"/>
          <p:nvPr/>
        </p:nvSpPr>
        <p:spPr>
          <a:xfrm>
            <a:off x="3383280" y="4669234"/>
            <a:ext cx="7985455" cy="746857"/>
          </a:xfrm>
          <a:prstGeom prst="rect">
            <a:avLst/>
          </a:prstGeom>
          <a:noFill/>
        </p:spPr>
        <p:txBody>
          <a:bodyPr wrap="square" lIns="0" rIns="0" tIns="0" bIns="0" anchor="t">
            <a:spAutoFit/>
          </a:bodyPr>
          <a:lstStyle/>
          <a:p>
            <a:pPr algn="l">
              <a:lnSpc>
                <a:spcPct val="120000"/>
              </a:lnSpc>
              <a:spcAft>
                <a:spcPts val="600"/>
              </a:spcAft>
            </a:pPr>
            <a:r>
              <a:rPr sz="1821" b="0" i="0">
                <a:solidFill>
                  <a:srgbClr val="334657"/>
                </a:solidFill>
                <a:latin typeface="Calibri"/>
              </a:rPr>
              <a:t>Saving. Saving overwrites; committing adds a version and keeps every earlier one.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7</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Doing it: repository, commit, push</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25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Whole room in lockstep. Everyone finishes with a live URL, and that URL is your A2 submission.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LIVE CODING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From Colab to GitHub</a:t>
            </a:r>
          </a:p>
        </p:txBody>
      </p:sp>
      <p:sp>
        <p:nvSpPr>
          <p:cNvPr id="4" name="Rounded Rectangle 3"/>
          <p:cNvSpPr/>
          <p:nvPr/>
        </p:nvSpPr>
        <p:spPr>
          <a:xfrm>
            <a:off x="7084588" y="512064"/>
            <a:ext cx="4421306"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COLAB: FILE → SAVE A COPY IN GITHUB</a:t>
            </a:r>
          </a:p>
        </p:txBody>
      </p:sp>
      <p:sp>
        <p:nvSpPr>
          <p:cNvPr id="5" name="Rectangle 4"/>
          <p:cNvSpPr/>
          <p:nvPr/>
        </p:nvSpPr>
        <p:spPr>
          <a:xfrm>
            <a:off x="685800" y="1911095"/>
            <a:ext cx="10820095" cy="3464052"/>
          </a:xfrm>
          <a:prstGeom prst="rect">
            <a:avLst/>
          </a:prstGeom>
          <a:solidFill>
            <a:srgbClr val="1624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57400"/>
            <a:ext cx="10234879" cy="3171444"/>
          </a:xfrm>
          <a:prstGeom prst="rect">
            <a:avLst/>
          </a:prstGeom>
          <a:noFill/>
        </p:spPr>
        <p:txBody>
          <a:bodyPr wrap="square" lIns="0" rIns="0" tIns="0" bIns="0" anchor="t">
            <a:spAutoFit/>
          </a:bodyPr>
          <a:lstStyle/>
          <a:p>
            <a:pPr algn="l">
              <a:lnSpc>
                <a:spcPts val="2244"/>
              </a:lnSpc>
              <a:spcAft>
                <a:spcPts val="0"/>
              </a:spcAft>
            </a:pPr>
            <a:r>
              <a:rPr sz="1650" b="0" i="0">
                <a:solidFill>
                  <a:srgbClr val="D8E3EC"/>
                </a:solidFill>
                <a:latin typeface="Courier New"/>
              </a:rPr>
              <a:t># The menu route, which is what we use today:</a:t>
            </a:r>
          </a:p>
          <a:p>
            <a:pPr algn="l">
              <a:lnSpc>
                <a:spcPts val="2244"/>
              </a:lnSpc>
              <a:spcAft>
                <a:spcPts val="0"/>
              </a:spcAft>
            </a:pPr>
            <a:r>
              <a:rPr sz="1650" b="0" i="0">
                <a:solidFill>
                  <a:srgbClr val="D8E3EC"/>
                </a:solidFill>
                <a:latin typeface="Courier New"/>
              </a:rPr>
              <a:t>#   File  -&gt;  Save a copy in GitHub</a:t>
            </a:r>
          </a:p>
          <a:p>
            <a:pPr algn="l">
              <a:lnSpc>
                <a:spcPts val="2244"/>
              </a:lnSpc>
              <a:spcAft>
                <a:spcPts val="0"/>
              </a:spcAft>
            </a:pPr>
            <a:r>
              <a:rPr sz="1650" b="0" i="0">
                <a:solidFill>
                  <a:srgbClr val="D8E3EC"/>
                </a:solidFill>
                <a:latin typeface="Courier New"/>
              </a:rPr>
              <a:t>#   choose "Create a new repository"</a:t>
            </a:r>
          </a:p>
          <a:p>
            <a:pPr algn="l">
              <a:lnSpc>
                <a:spcPts val="2244"/>
              </a:lnSpc>
              <a:spcAft>
                <a:spcPts val="0"/>
              </a:spcAft>
            </a:pPr>
            <a:r>
              <a:rPr sz="1650" b="0" i="0">
                <a:solidFill>
                  <a:srgbClr val="D8E3EC"/>
                </a:solidFill>
                <a:latin typeface="Courier New"/>
              </a:rPr>
              <a:t>#   name it exactly as given on the next slide</a:t>
            </a:r>
          </a:p>
          <a:p>
            <a:pPr algn="l">
              <a:lnSpc>
                <a:spcPts val="2244"/>
              </a:lnSpc>
              <a:spcAft>
                <a:spcPts val="0"/>
              </a:spcAft>
            </a:pPr>
            <a:r>
              <a:rPr sz="1650" b="0" i="0">
                <a:solidFill>
                  <a:srgbClr val="D8E3EC"/>
                </a:solidFill>
                <a:latin typeface="Courier New"/>
              </a:rPr>
              <a:t>#   write a commit message, then OK</a:t>
            </a:r>
          </a:p>
          <a:p>
            <a:pPr algn="l">
              <a:lnSpc>
                <a:spcPts val="2244"/>
              </a:lnSpc>
              <a:spcAft>
                <a:spcPts val="0"/>
              </a:spcAft>
            </a:pPr>
            <a:r>
              <a:rPr sz="1650" b="0" i="0">
                <a:solidFill>
                  <a:srgbClr val="D8E3EC"/>
                </a:solidFill>
                <a:latin typeface="Courier New"/>
              </a:rPr>
              <a:t/>
            </a:r>
          </a:p>
          <a:p>
            <a:pPr algn="l">
              <a:lnSpc>
                <a:spcPts val="2244"/>
              </a:lnSpc>
              <a:spcAft>
                <a:spcPts val="0"/>
              </a:spcAft>
            </a:pPr>
            <a:r>
              <a:rPr sz="1650" b="0" i="0">
                <a:solidFill>
                  <a:srgbClr val="D8E3EC"/>
                </a:solidFill>
                <a:latin typeface="Courier New"/>
              </a:rPr>
              <a:t># The command route, for when you work locally later:</a:t>
            </a:r>
          </a:p>
          <a:p>
            <a:pPr algn="l">
              <a:lnSpc>
                <a:spcPts val="2244"/>
              </a:lnSpc>
              <a:spcAft>
                <a:spcPts val="0"/>
              </a:spcAft>
            </a:pPr>
            <a:r>
              <a:rPr sz="1650" b="0" i="0">
                <a:solidFill>
                  <a:srgbClr val="D8E3EC"/>
                </a:solidFill>
                <a:latin typeface="Courier New"/>
              </a:rPr>
              <a:t>git status                     # what have I changed?</a:t>
            </a:r>
          </a:p>
          <a:p>
            <a:pPr algn="l">
              <a:lnSpc>
                <a:spcPts val="2244"/>
              </a:lnSpc>
              <a:spcAft>
                <a:spcPts val="0"/>
              </a:spcAft>
            </a:pPr>
            <a:r>
              <a:rPr sz="1650" b="0" i="0">
                <a:solidFill>
                  <a:srgbClr val="D8E3EC"/>
                </a:solidFill>
                <a:latin typeface="Courier New"/>
              </a:rPr>
              <a:t>git add .                      # mark it all ready</a:t>
            </a:r>
          </a:p>
          <a:p>
            <a:pPr algn="l">
              <a:lnSpc>
                <a:spcPts val="2244"/>
              </a:lnSpc>
              <a:spcAft>
                <a:spcPts val="0"/>
              </a:spcAft>
            </a:pPr>
            <a:r>
              <a:rPr sz="1650" b="0" i="0">
                <a:solidFill>
                  <a:srgbClr val="D8E3EC"/>
                </a:solidFill>
                <a:latin typeface="Courier New"/>
              </a:rPr>
              <a:t>git commit -m "First commit"   # record it, with a message</a:t>
            </a:r>
          </a:p>
          <a:p>
            <a:pPr algn="l">
              <a:lnSpc>
                <a:spcPts val="2244"/>
              </a:lnSpc>
              <a:spcAft>
                <a:spcPts val="0"/>
              </a:spcAft>
            </a:pPr>
            <a:r>
              <a:rPr sz="1650" b="0" i="0">
                <a:solidFill>
                  <a:srgbClr val="D8E3EC"/>
                </a:solidFill>
                <a:latin typeface="Courier New"/>
              </a:rPr>
              <a:t>git push                       # send it to GitHub</a:t>
            </a:r>
          </a:p>
        </p:txBody>
      </p:sp>
      <p:sp>
        <p:nvSpPr>
          <p:cNvPr id="7" name="Rounded Rectangle 6"/>
          <p:cNvSpPr/>
          <p:nvPr/>
        </p:nvSpPr>
        <p:spPr>
          <a:xfrm>
            <a:off x="685800" y="5594604"/>
            <a:ext cx="3017520" cy="384048"/>
          </a:xfrm>
          <a:prstGeom prst="roundRect">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NOW BREAK IT ON PURPOSE</a:t>
            </a:r>
          </a:p>
        </p:txBody>
      </p:sp>
      <p:sp>
        <p:nvSpPr>
          <p:cNvPr id="8" name="TextBox 7"/>
          <p:cNvSpPr txBox="1"/>
          <p:nvPr/>
        </p:nvSpPr>
        <p:spPr>
          <a:xfrm>
            <a:off x="4297680" y="5603748"/>
            <a:ext cx="7208215" cy="1016358"/>
          </a:xfrm>
          <a:prstGeom prst="rect">
            <a:avLst/>
          </a:prstGeom>
          <a:noFill/>
        </p:spPr>
        <p:txBody>
          <a:bodyPr wrap="square" lIns="0" rIns="0" tIns="0" bIns="0" anchor="t">
            <a:spAutoFit/>
          </a:bodyPr>
          <a:lstStyle/>
          <a:p>
            <a:pPr algn="l">
              <a:lnSpc>
                <a:spcPct val="118000"/>
              </a:lnSpc>
              <a:spcAft>
                <a:spcPts val="600"/>
              </a:spcAft>
            </a:pPr>
            <a:r>
              <a:rPr sz="1716" b="0" i="0">
                <a:solidFill>
                  <a:srgbClr val="1C3144"/>
                </a:solidFill>
                <a:latin typeface="Calibri"/>
              </a:rPr>
              <a:t>Run git status BEFORE and AFTER git add. The same filenames move from red to green, which is the staging area doing its one job: holding the changes you have chosen for the next commit.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WHAT YOU OWE ME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Assignment A2 — Proof of Life</a:t>
            </a:r>
          </a:p>
        </p:txBody>
      </p:sp>
      <p:sp>
        <p:nvSpPr>
          <p:cNvPr id="4" name="TextBox 3"/>
          <p:cNvSpPr txBox="1"/>
          <p:nvPr/>
        </p:nvSpPr>
        <p:spPr>
          <a:xfrm>
            <a:off x="685800" y="1911095"/>
            <a:ext cx="5204307" cy="425084"/>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Due at the start of Week 3</a:t>
            </a:r>
          </a:p>
        </p:txBody>
      </p:sp>
      <p:sp>
        <p:nvSpPr>
          <p:cNvPr id="5" name="TextBox 4"/>
          <p:cNvSpPr txBox="1"/>
          <p:nvPr/>
        </p:nvSpPr>
        <p:spPr>
          <a:xfrm>
            <a:off x="685800" y="2409332"/>
            <a:ext cx="5204307" cy="385230"/>
          </a:xfrm>
          <a:prstGeom prst="rect">
            <a:avLst/>
          </a:prstGeom>
          <a:noFill/>
        </p:spPr>
        <p:txBody>
          <a:bodyPr wrap="square" lIns="0" rIns="0" tIns="0" bIns="0" anchor="t">
            <a:spAutoFit/>
          </a:bodyPr>
          <a:lstStyle/>
          <a:p>
            <a:pPr algn="l">
              <a:lnSpc>
                <a:spcPct val="125000"/>
              </a:lnSpc>
              <a:spcAft>
                <a:spcPts val="600"/>
              </a:spcAft>
            </a:pPr>
            <a:r>
              <a:rPr sz="1716" b="0" i="0">
                <a:solidFill>
                  <a:srgbClr val="3C4E5E"/>
                </a:solidFill>
                <a:latin typeface="Calibri"/>
              </a:rPr>
              <a:t>One thing: a link to a GitHub repository.</a:t>
            </a:r>
          </a:p>
        </p:txBody>
      </p:sp>
      <p:sp>
        <p:nvSpPr>
          <p:cNvPr id="6" name="TextBox 5"/>
          <p:cNvSpPr txBox="1"/>
          <p:nvPr/>
        </p:nvSpPr>
        <p:spPr>
          <a:xfrm>
            <a:off x="685800" y="2849426"/>
            <a:ext cx="5204307" cy="724741"/>
          </a:xfrm>
          <a:prstGeom prst="rect">
            <a:avLst/>
          </a:prstGeom>
          <a:noFill/>
        </p:spPr>
        <p:txBody>
          <a:bodyPr wrap="square" lIns="0" rIns="0" tIns="0" bIns="0" anchor="t">
            <a:spAutoFit/>
          </a:bodyPr>
          <a:lstStyle/>
          <a:p>
            <a:pPr algn="l">
              <a:lnSpc>
                <a:spcPct val="125000"/>
              </a:lnSpc>
              <a:spcAft>
                <a:spcPts val="600"/>
              </a:spcAft>
            </a:pPr>
            <a:r>
              <a:rPr sz="1716" b="0" i="0">
                <a:solidFill>
                  <a:srgbClr val="3C4E5E"/>
                </a:solidFill>
                <a:latin typeface="Calibri"/>
              </a:rPr>
              <a:t>It must contain the notebook you built today, run from top to bottom with its outputs visible, and a README.</a:t>
            </a:r>
          </a:p>
        </p:txBody>
      </p:sp>
      <p:sp>
        <p:nvSpPr>
          <p:cNvPr id="7" name="TextBox 6"/>
          <p:cNvSpPr txBox="1"/>
          <p:nvPr/>
        </p:nvSpPr>
        <p:spPr>
          <a:xfrm>
            <a:off x="685800" y="3629032"/>
            <a:ext cx="5204307" cy="2082784"/>
          </a:xfrm>
          <a:prstGeom prst="rect">
            <a:avLst/>
          </a:prstGeom>
          <a:noFill/>
        </p:spPr>
        <p:txBody>
          <a:bodyPr wrap="square" lIns="0" rIns="0" tIns="0" bIns="0" anchor="t">
            <a:spAutoFit/>
          </a:bodyPr>
          <a:lstStyle/>
          <a:p>
            <a:pPr algn="l">
              <a:lnSpc>
                <a:spcPct val="125000"/>
              </a:lnSpc>
              <a:spcAft>
                <a:spcPts val="600"/>
              </a:spcAft>
            </a:pPr>
            <a:r>
              <a:rPr sz="1716" b="0" i="0">
                <a:solidFill>
                  <a:srgbClr val="3C4E5E"/>
                </a:solidFill>
                <a:latin typeface="Calibri"/>
              </a:rPr>
              <a:t>The README needs four short things: your name, student number and course code; one engineering problem from your own discipline that you think data could help with; one sentence on what data that would need; and one sentence on what you had to fix today, or 'nothing' if it worked first time.</a:t>
            </a:r>
          </a:p>
        </p:txBody>
      </p:sp>
      <p:sp>
        <p:nvSpPr>
          <p:cNvPr id="8" name="TextBox 7"/>
          <p:cNvSpPr txBox="1"/>
          <p:nvPr/>
        </p:nvSpPr>
        <p:spPr>
          <a:xfrm>
            <a:off x="685800" y="5766681"/>
            <a:ext cx="5204307" cy="385230"/>
          </a:xfrm>
          <a:prstGeom prst="rect">
            <a:avLst/>
          </a:prstGeom>
          <a:noFill/>
        </p:spPr>
        <p:txBody>
          <a:bodyPr wrap="square" lIns="0" rIns="0" tIns="0" bIns="0" anchor="t">
            <a:spAutoFit/>
          </a:bodyPr>
          <a:lstStyle/>
          <a:p>
            <a:pPr algn="l">
              <a:lnSpc>
                <a:spcPct val="125000"/>
              </a:lnSpc>
              <a:spcAft>
                <a:spcPts val="600"/>
              </a:spcAft>
            </a:pPr>
            <a:r>
              <a:rPr sz="1716" b="0" i="0">
                <a:solidFill>
                  <a:srgbClr val="3C4E5E"/>
                </a:solidFill>
                <a:latin typeface="Calibri"/>
              </a:rPr>
              <a:t>That last sentence carries marks.</a:t>
            </a:r>
          </a:p>
        </p:txBody>
      </p:sp>
      <p:sp>
        <p:nvSpPr>
          <p:cNvPr id="9" name="Rounded Rectangle 8"/>
          <p:cNvSpPr/>
          <p:nvPr/>
        </p:nvSpPr>
        <p:spPr>
          <a:xfrm>
            <a:off x="6301587" y="1801367"/>
            <a:ext cx="5204307" cy="4553712"/>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5907" y="1984248"/>
            <a:ext cx="4655667" cy="402336"/>
          </a:xfrm>
          <a:prstGeom prst="rect">
            <a:avLst/>
          </a:prstGeom>
          <a:noFill/>
        </p:spPr>
        <p:txBody>
          <a:bodyPr wrap="square" lIns="0" rIns="0" tIns="0" bIns="0" anchor="t">
            <a:spAutoFit/>
          </a:bodyPr>
          <a:lstStyle/>
          <a:p>
            <a:pPr algn="l">
              <a:spcAft>
                <a:spcPts val="600"/>
              </a:spcAft>
            </a:pPr>
            <a:r>
              <a:rPr sz="1923" b="1" i="0">
                <a:solidFill>
                  <a:srgbClr val="1C3144"/>
                </a:solidFill>
                <a:latin typeface="Calibri"/>
              </a:rPr>
              <a:t>Before you submit</a:t>
            </a:r>
          </a:p>
        </p:txBody>
      </p:sp>
      <p:sp>
        <p:nvSpPr>
          <p:cNvPr id="11" name="TextBox 10"/>
          <p:cNvSpPr txBox="1"/>
          <p:nvPr/>
        </p:nvSpPr>
        <p:spPr>
          <a:xfrm>
            <a:off x="6575907" y="2496312"/>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Restart and Run All.</a:t>
            </a:r>
          </a:p>
        </p:txBody>
      </p:sp>
      <p:sp>
        <p:nvSpPr>
          <p:cNvPr id="12" name="TextBox 11"/>
          <p:cNvSpPr txBox="1"/>
          <p:nvPr/>
        </p:nvSpPr>
        <p:spPr>
          <a:xfrm>
            <a:off x="6575907" y="2897385"/>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It must finish with no errors.</a:t>
            </a:r>
          </a:p>
        </p:txBody>
      </p:sp>
      <p:sp>
        <p:nvSpPr>
          <p:cNvPr id="13" name="TextBox 12"/>
          <p:cNvSpPr txBox="1"/>
          <p:nvPr/>
        </p:nvSpPr>
        <p:spPr>
          <a:xfrm>
            <a:off x="6575907" y="3426475"/>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Save with the outputs showing.</a:t>
            </a:r>
          </a:p>
        </p:txBody>
      </p:sp>
      <p:sp>
        <p:nvSpPr>
          <p:cNvPr id="14" name="TextBox 13"/>
          <p:cNvSpPr txBox="1"/>
          <p:nvPr/>
        </p:nvSpPr>
        <p:spPr>
          <a:xfrm>
            <a:off x="6575907" y="3955565"/>
            <a:ext cx="4655667" cy="664987"/>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Repository name: cml3113-yourstudentnumber Paste the URL where I tell you.</a:t>
            </a:r>
          </a:p>
        </p:txBody>
      </p:sp>
      <p:sp>
        <p:nvSpPr>
          <p:cNvPr id="15" name="TextBox 14"/>
          <p:cNvSpPr txBox="1"/>
          <p:nvPr/>
        </p:nvSpPr>
        <p:spPr>
          <a:xfrm>
            <a:off x="6575907" y="4794289"/>
            <a:ext cx="4655667" cy="355353"/>
          </a:xfrm>
          <a:prstGeom prst="rect">
            <a:avLst/>
          </a:prstGeom>
          <a:noFill/>
        </p:spPr>
        <p:txBody>
          <a:bodyPr wrap="square" lIns="0" rIns="0" tIns="0" bIns="0" anchor="t">
            <a:spAutoFit/>
          </a:bodyPr>
          <a:lstStyle/>
          <a:p>
            <a:pPr algn="l">
              <a:lnSpc>
                <a:spcPct val="114000"/>
              </a:lnSpc>
              <a:spcAft>
                <a:spcPts val="600"/>
              </a:spcAft>
            </a:pPr>
            <a:r>
              <a:rPr sz="1716" b="0" i="0">
                <a:solidFill>
                  <a:srgbClr val="334657"/>
                </a:solidFill>
                <a:latin typeface="Calibri"/>
              </a:rPr>
              <a:t>Marked pass / merit / redo.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THE README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makes a README worth reading</a:t>
            </a:r>
          </a:p>
        </p:txBody>
      </p:sp>
      <p:sp>
        <p:nvSpPr>
          <p:cNvPr id="4" name="TextBox 3"/>
          <p:cNvSpPr txBox="1"/>
          <p:nvPr/>
        </p:nvSpPr>
        <p:spPr>
          <a:xfrm>
            <a:off x="685800" y="1911095"/>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It is the front door of your repository</a:t>
            </a:r>
          </a:p>
        </p:txBody>
      </p:sp>
      <p:sp>
        <p:nvSpPr>
          <p:cNvPr id="5" name="TextBox 4"/>
          <p:cNvSpPr txBox="1"/>
          <p:nvPr/>
        </p:nvSpPr>
        <p:spPr>
          <a:xfrm>
            <a:off x="685800" y="2352629"/>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It is the first thing a marker, a colleague or a future employer sees. An empty one says the work was not finished even when it was.</a:t>
            </a:r>
          </a:p>
        </p:txBody>
      </p:sp>
      <p:sp>
        <p:nvSpPr>
          <p:cNvPr id="6" name="TextBox 5"/>
          <p:cNvSpPr txBox="1"/>
          <p:nvPr/>
        </p:nvSpPr>
        <p:spPr>
          <a:xfrm>
            <a:off x="685800" y="3646478"/>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Four things, for A2</a:t>
            </a:r>
          </a:p>
        </p:txBody>
      </p:sp>
      <p:sp>
        <p:nvSpPr>
          <p:cNvPr id="7" name="TextBox 6"/>
          <p:cNvSpPr txBox="1"/>
          <p:nvPr/>
        </p:nvSpPr>
        <p:spPr>
          <a:xfrm>
            <a:off x="685800" y="4088012"/>
            <a:ext cx="5158587" cy="39165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Your name, student number and course code.</a:t>
            </a:r>
          </a:p>
        </p:txBody>
      </p:sp>
      <p:sp>
        <p:nvSpPr>
          <p:cNvPr id="8" name="TextBox 7"/>
          <p:cNvSpPr txBox="1"/>
          <p:nvPr/>
        </p:nvSpPr>
        <p:spPr>
          <a:xfrm>
            <a:off x="685800" y="4561966"/>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One engineering problem from your own discipline that you think data could help with. Real and yours.</a:t>
            </a:r>
          </a:p>
        </p:txBody>
      </p:sp>
      <p:sp>
        <p:nvSpPr>
          <p:cNvPr id="9" name="TextBox 8"/>
          <p:cNvSpPr txBox="1"/>
          <p:nvPr/>
        </p:nvSpPr>
        <p:spPr>
          <a:xfrm>
            <a:off x="685800" y="5372716"/>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One sentence on what data that would need: who measures it, how often, and whether anyone keeps it.</a:t>
            </a:r>
          </a:p>
        </p:txBody>
      </p:sp>
      <p:sp>
        <p:nvSpPr>
          <p:cNvPr id="10" name="TextBox 9"/>
          <p:cNvSpPr txBox="1"/>
          <p:nvPr/>
        </p:nvSpPr>
        <p:spPr>
          <a:xfrm>
            <a:off x="6347307" y="1911095"/>
            <a:ext cx="5158587" cy="728453"/>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One sentence on what you had to fix today, or 'nothing' if it worked first time.</a:t>
            </a:r>
          </a:p>
        </p:txBody>
      </p:sp>
      <p:sp>
        <p:nvSpPr>
          <p:cNvPr id="11" name="TextBox 10"/>
          <p:cNvSpPr txBox="1"/>
          <p:nvPr/>
        </p:nvSpPr>
        <p:spPr>
          <a:xfrm>
            <a:off x="6347307" y="2868149"/>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What a good README is not</a:t>
            </a:r>
          </a:p>
        </p:txBody>
      </p:sp>
      <p:sp>
        <p:nvSpPr>
          <p:cNvPr id="12" name="TextBox 11"/>
          <p:cNvSpPr txBox="1"/>
          <p:nvPr/>
        </p:nvSpPr>
        <p:spPr>
          <a:xfrm>
            <a:off x="6347307" y="3309683"/>
            <a:ext cx="5158587" cy="1065248"/>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Long. Six sentences is plenty for A2. By Week 13 yours will also say how to run the project and what the results were, and it will still fit on one screen.</a:t>
            </a:r>
          </a:p>
        </p:txBody>
      </p:sp>
      <p:sp>
        <p:nvSpPr>
          <p:cNvPr id="13" name="TextBox 12"/>
          <p:cNvSpPr txBox="1"/>
          <p:nvPr/>
        </p:nvSpPr>
        <p:spPr>
          <a:xfrm>
            <a:off x="6347307" y="4603531"/>
            <a:ext cx="5158587" cy="432389"/>
          </a:xfrm>
          <a:prstGeom prst="rect">
            <a:avLst/>
          </a:prstGeom>
          <a:noFill/>
        </p:spPr>
        <p:txBody>
          <a:bodyPr wrap="square" lIns="0" rIns="0" tIns="0" bIns="0" anchor="t">
            <a:spAutoFit/>
          </a:bodyPr>
          <a:lstStyle/>
          <a:p>
            <a:pPr algn="l">
              <a:lnSpc>
                <a:spcPct val="124000"/>
              </a:lnSpc>
              <a:spcAft>
                <a:spcPts val="600"/>
              </a:spcAft>
            </a:pPr>
            <a:r>
              <a:rPr sz="1923" b="1" i="0">
                <a:solidFill>
                  <a:srgbClr val="E4572E"/>
                </a:solidFill>
                <a:latin typeface="Calibri"/>
              </a:rPr>
              <a:t>Why the honesty sentence carries marks</a:t>
            </a:r>
          </a:p>
        </p:txBody>
      </p:sp>
      <p:sp>
        <p:nvSpPr>
          <p:cNvPr id="14" name="TextBox 13"/>
          <p:cNvSpPr txBox="1"/>
          <p:nvPr/>
        </p:nvSpPr>
        <p:spPr>
          <a:xfrm>
            <a:off x="6347307" y="5045065"/>
            <a:ext cx="5158587" cy="1402042"/>
          </a:xfrm>
          <a:prstGeom prst="rect">
            <a:avLst/>
          </a:prstGeom>
          <a:noFill/>
        </p:spPr>
        <p:txBody>
          <a:bodyPr wrap="square" lIns="0" rIns="0" tIns="0" bIns="0" anchor="t">
            <a:spAutoFit/>
          </a:bodyPr>
          <a:lstStyle/>
          <a:p>
            <a:pPr algn="l">
              <a:lnSpc>
                <a:spcPct val="124000"/>
              </a:lnSpc>
              <a:spcAft>
                <a:spcPts val="600"/>
              </a:spcAft>
            </a:pPr>
            <a:r>
              <a:rPr sz="1716" b="0" i="0">
                <a:solidFill>
                  <a:srgbClr val="334657"/>
                </a:solidFill>
                <a:latin typeface="Calibri"/>
              </a:rPr>
              <a:t>What went wrong for you tells me where this session needs fixing, and being able to say plainly what broke and how you fixed it is a professional skill this course keeps asking for.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CHALLENGE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Break and Fix</a:t>
            </a:r>
          </a:p>
        </p:txBody>
      </p:sp>
      <p:sp>
        <p:nvSpPr>
          <p:cNvPr id="4" name="Rounded Rectangle 3"/>
          <p:cNvSpPr/>
          <p:nvPr/>
        </p:nvSpPr>
        <p:spPr>
          <a:xfrm>
            <a:off x="685800" y="1911095"/>
            <a:ext cx="10820095" cy="1517904"/>
          </a:xfrm>
          <a:prstGeom prst="roundRect">
            <a:avLst>
              <a:gd name="adj" fmla="val 6000"/>
            </a:avLst>
          </a:prstGeom>
          <a:solidFill>
            <a:srgbClr val="E8ED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8" y="2112264"/>
            <a:ext cx="10234879" cy="1152143"/>
          </a:xfrm>
          <a:prstGeom prst="rect">
            <a:avLst/>
          </a:prstGeom>
          <a:noFill/>
        </p:spPr>
        <p:txBody>
          <a:bodyPr wrap="square" lIns="0" rIns="0" tIns="0" bIns="0" anchor="t">
            <a:spAutoFit/>
          </a:bodyPr>
          <a:lstStyle/>
          <a:p>
            <a:pPr algn="l">
              <a:lnSpc>
                <a:spcPct val="125000"/>
              </a:lnSpc>
              <a:spcAft>
                <a:spcPts val="600"/>
              </a:spcAft>
            </a:pPr>
            <a:r>
              <a:rPr sz="1923" b="0" i="0">
                <a:solidFill>
                  <a:srgbClr val="1C3144"/>
                </a:solidFill>
                <a:latin typeface="Calibri"/>
              </a:rPr>
              <a:t>Four notebooks are shared with you. Every one is broken. In your team, diagnose each and write the cause in ONE sentence.</a:t>
            </a:r>
          </a:p>
          <a:p>
            <a:pPr algn="l">
              <a:lnSpc>
                <a:spcPct val="125000"/>
              </a:lnSpc>
              <a:spcAft>
                <a:spcPts val="600"/>
              </a:spcAft>
            </a:pPr>
            <a:r>
              <a:rPr sz="1923" b="0" i="0">
                <a:solidFill>
                  <a:srgbClr val="1C3144"/>
                </a:solidFill>
                <a:latin typeface="Calibri"/>
              </a:rPr>
              <a:t>Three of them throw an error. One does not — it runs cleanly and gives a wrong answer. That fourth one is the one that matters.</a:t>
            </a:r>
          </a:p>
        </p:txBody>
      </p:sp>
      <p:sp>
        <p:nvSpPr>
          <p:cNvPr id="6" name="TextBox 5"/>
          <p:cNvSpPr txBox="1"/>
          <p:nvPr/>
        </p:nvSpPr>
        <p:spPr>
          <a:xfrm>
            <a:off x="685800" y="3739896"/>
            <a:ext cx="10820095" cy="310896"/>
          </a:xfrm>
          <a:prstGeom prst="rect">
            <a:avLst/>
          </a:prstGeom>
          <a:noFill/>
        </p:spPr>
        <p:txBody>
          <a:bodyPr wrap="square" lIns="0" rIns="0" tIns="0" bIns="0" anchor="t">
            <a:spAutoFit/>
          </a:bodyPr>
          <a:lstStyle/>
          <a:p>
            <a:pPr algn="l">
              <a:spcAft>
                <a:spcPts val="600"/>
              </a:spcAft>
            </a:pPr>
            <a:r>
              <a:rPr sz="1821" b="1" i="0">
                <a:solidFill>
                  <a:srgbClr val="E4572E"/>
                </a:solidFill>
                <a:latin typeface="Calibri"/>
              </a:rPr>
              <a:t>Work these questions in order:</a:t>
            </a:r>
          </a:p>
        </p:txBody>
      </p:sp>
      <p:sp>
        <p:nvSpPr>
          <p:cNvPr id="7" name="TextBox 6"/>
          <p:cNvSpPr txBox="1"/>
          <p:nvPr/>
        </p:nvSpPr>
        <p:spPr>
          <a:xfrm>
            <a:off x="685800" y="416052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does the LAST line of the error say?</a:t>
            </a:r>
          </a:p>
        </p:txBody>
      </p:sp>
      <p:sp>
        <p:nvSpPr>
          <p:cNvPr id="8" name="TextBox 7"/>
          <p:cNvSpPr txBox="1"/>
          <p:nvPr/>
        </p:nvSpPr>
        <p:spPr>
          <a:xfrm>
            <a:off x="685800" y="458114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What was it looking for?</a:t>
            </a:r>
          </a:p>
        </p:txBody>
      </p:sp>
      <p:sp>
        <p:nvSpPr>
          <p:cNvPr id="9" name="TextBox 8"/>
          <p:cNvSpPr txBox="1"/>
          <p:nvPr/>
        </p:nvSpPr>
        <p:spPr>
          <a:xfrm>
            <a:off x="685800" y="500176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Where did it look?</a:t>
            </a:r>
          </a:p>
        </p:txBody>
      </p:sp>
      <p:sp>
        <p:nvSpPr>
          <p:cNvPr id="10" name="TextBox 9"/>
          <p:cNvSpPr txBox="1"/>
          <p:nvPr/>
        </p:nvSpPr>
        <p:spPr>
          <a:xfrm>
            <a:off x="6278727" y="4160520"/>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Which cells ran, and in what order?</a:t>
            </a:r>
          </a:p>
        </p:txBody>
      </p:sp>
      <p:sp>
        <p:nvSpPr>
          <p:cNvPr id="11" name="TextBox 10"/>
          <p:cNvSpPr txBox="1"/>
          <p:nvPr/>
        </p:nvSpPr>
        <p:spPr>
          <a:xfrm>
            <a:off x="6278727" y="4581144"/>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Is the answer even plausible?</a:t>
            </a:r>
          </a:p>
        </p:txBody>
      </p:sp>
      <p:sp>
        <p:nvSpPr>
          <p:cNvPr id="12" name="TextBox 11"/>
          <p:cNvSpPr txBox="1"/>
          <p:nvPr/>
        </p:nvSpPr>
        <p:spPr>
          <a:xfrm>
            <a:off x="6278727" y="5001768"/>
            <a:ext cx="5227167" cy="365760"/>
          </a:xfrm>
          <a:prstGeom prst="rect">
            <a:avLst/>
          </a:prstGeom>
          <a:noFill/>
        </p:spPr>
        <p:txBody>
          <a:bodyPr wrap="square" lIns="0" rIns="0" tIns="0" bIns="0" anchor="t">
            <a:spAutoFit/>
          </a:bodyPr>
          <a:lstStyle/>
          <a:p>
            <a:pPr algn="l">
              <a:lnSpc>
                <a:spcPct val="115000"/>
              </a:lnSpc>
              <a:spcAft>
                <a:spcPts val="600"/>
              </a:spcAft>
            </a:pPr>
            <a:r>
              <a:rPr sz="1716" b="0" i="0">
                <a:solidFill>
                  <a:srgbClr val="334657"/>
                </a:solidFill>
                <a:latin typeface="Calibri"/>
              </a:rPr>
              <a:t>→  How would you have caught this yourself?</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QUIZ AND ASSIGNMENT</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Before you leave the room</a:t>
            </a:r>
          </a:p>
        </p:txBody>
      </p:sp>
      <p:sp>
        <p:nvSpPr>
          <p:cNvPr id="4" name="Rounded Rectangle 3"/>
          <p:cNvSpPr/>
          <p:nvPr/>
        </p:nvSpPr>
        <p:spPr>
          <a:xfrm>
            <a:off x="685800" y="1911095"/>
            <a:ext cx="10820095" cy="2386182"/>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42416" y="301274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54480" y="2029967"/>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This week's quiz — five minutes, and it counts for one per cent</a:t>
            </a:r>
          </a:p>
        </p:txBody>
      </p:sp>
      <p:sp>
        <p:nvSpPr>
          <p:cNvPr id="7" name="TextBox 6"/>
          <p:cNvSpPr txBox="1"/>
          <p:nvPr/>
        </p:nvSpPr>
        <p:spPr>
          <a:xfrm>
            <a:off x="1554480" y="2423159"/>
            <a:ext cx="9631375" cy="1782678"/>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A QR code goes up, you answer five questions on your phone, and you see your score immediately. One of the five asks you to read your own setup output, so it also tells me who is not ready before Week 3 starts depending on it.</a:t>
            </a:r>
          </a:p>
        </p:txBody>
      </p:sp>
      <p:sp>
        <p:nvSpPr>
          <p:cNvPr id="8" name="Rounded Rectangle 7"/>
          <p:cNvSpPr/>
          <p:nvPr/>
        </p:nvSpPr>
        <p:spPr>
          <a:xfrm>
            <a:off x="685800" y="4535022"/>
            <a:ext cx="10820095" cy="1756049"/>
          </a:xfrm>
          <a:prstGeom prst="roundRect">
            <a:avLst>
              <a:gd name="adj" fmla="val 6000"/>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42416" y="532160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4653894"/>
            <a:ext cx="9631375" cy="475488"/>
          </a:xfrm>
          <a:prstGeom prst="rect">
            <a:avLst/>
          </a:prstGeom>
          <a:noFill/>
        </p:spPr>
        <p:txBody>
          <a:bodyPr wrap="square" lIns="0" rIns="0" tIns="0" bIns="0" anchor="t">
            <a:spAutoFit/>
          </a:bodyPr>
          <a:lstStyle/>
          <a:p>
            <a:pPr algn="l">
              <a:spcAft>
                <a:spcPts val="600"/>
              </a:spcAft>
            </a:pPr>
            <a:r>
              <a:rPr sz="2116" b="1" i="0">
                <a:solidFill>
                  <a:srgbClr val="1C3144"/>
                </a:solidFill>
                <a:latin typeface="Calibri"/>
              </a:rPr>
              <a:t>Assignment A2 — due at the start of Week 3</a:t>
            </a:r>
          </a:p>
        </p:txBody>
      </p:sp>
      <p:sp>
        <p:nvSpPr>
          <p:cNvPr id="11" name="TextBox 10"/>
          <p:cNvSpPr txBox="1"/>
          <p:nvPr/>
        </p:nvSpPr>
        <p:spPr>
          <a:xfrm>
            <a:off x="1554480" y="5047086"/>
            <a:ext cx="9631375" cy="1152545"/>
          </a:xfrm>
          <a:prstGeom prst="rect">
            <a:avLst/>
          </a:prstGeom>
          <a:noFill/>
        </p:spPr>
        <p:txBody>
          <a:bodyPr wrap="square" lIns="0" rIns="0" tIns="0" bIns="0" anchor="t">
            <a:spAutoFit/>
          </a:bodyPr>
          <a:lstStyle/>
          <a:p>
            <a:pPr algn="l">
              <a:lnSpc>
                <a:spcPct val="116000"/>
              </a:lnSpc>
              <a:spcAft>
                <a:spcPts val="600"/>
              </a:spcAft>
            </a:pPr>
            <a:r>
              <a:rPr sz="1716" b="0" i="0">
                <a:solidFill>
                  <a:srgbClr val="3C4E5E"/>
                </a:solidFill>
                <a:latin typeface="Calibri"/>
              </a:rPr>
              <a:t>Your repository URL. Restart and Run All before you submit.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2588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SEGMENT 8</a:t>
            </a:r>
          </a:p>
        </p:txBody>
      </p:sp>
      <p:sp>
        <p:nvSpPr>
          <p:cNvPr id="4" name="TextBox 3"/>
          <p:cNvSpPr txBox="1"/>
          <p:nvPr/>
        </p:nvSpPr>
        <p:spPr>
          <a:xfrm>
            <a:off x="685800" y="1874519"/>
            <a:ext cx="10820095" cy="1737360"/>
          </a:xfrm>
          <a:prstGeom prst="rect">
            <a:avLst/>
          </a:prstGeom>
          <a:noFill/>
        </p:spPr>
        <p:txBody>
          <a:bodyPr wrap="square" lIns="0" rIns="0" tIns="0" bIns="0" anchor="t">
            <a:spAutoFit/>
          </a:bodyPr>
          <a:lstStyle/>
          <a:p>
            <a:pPr algn="l">
              <a:lnSpc>
                <a:spcPct val="108000"/>
              </a:lnSpc>
              <a:spcAft>
                <a:spcPts val="600"/>
              </a:spcAft>
            </a:pPr>
            <a:r>
              <a:rPr sz="3600" b="1" i="0">
                <a:solidFill>
                  <a:srgbClr val="FFFFFF"/>
                </a:solidFill>
                <a:latin typeface="Cambria"/>
              </a:rPr>
              <a:t>Revision material</a:t>
            </a:r>
          </a:p>
        </p:txBody>
      </p:sp>
      <p:sp>
        <p:nvSpPr>
          <p:cNvPr id="5" name="Rounded Rectangle 4"/>
          <p:cNvSpPr/>
          <p:nvPr/>
        </p:nvSpPr>
        <p:spPr>
          <a:xfrm>
            <a:off x="685800" y="3977639"/>
            <a:ext cx="1828800" cy="384048"/>
          </a:xfrm>
          <a:prstGeom prst="roundRect">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584" b="1">
                <a:solidFill>
                  <a:srgbClr val="FFFFFF"/>
                </a:solidFill>
                <a:latin typeface="Calibri"/>
              </a:rPr>
              <a:t>5 MINUTES</a:t>
            </a:r>
          </a:p>
        </p:txBody>
      </p:sp>
      <p:sp>
        <p:nvSpPr>
          <p:cNvPr id="6" name="TextBox 5"/>
          <p:cNvSpPr txBox="1"/>
          <p:nvPr/>
        </p:nvSpPr>
        <p:spPr>
          <a:xfrm>
            <a:off x="685800" y="470916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from here is for you to study from — summary, self-test with answers, glossary and a one-page reference.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MODULE SUMMARY</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What you should take away</a:t>
            </a:r>
          </a:p>
        </p:txBody>
      </p:sp>
      <p:sp>
        <p:nvSpPr>
          <p:cNvPr id="4" name="Oval 3"/>
          <p:cNvSpPr/>
          <p:nvPr/>
        </p:nvSpPr>
        <p:spPr>
          <a:xfrm>
            <a:off x="685800" y="1965960"/>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911095"/>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Google Colab runs Python in your browser on Google's computers. Nothing is installed on your machine, and it needs an internet connection.</a:t>
            </a:r>
          </a:p>
        </p:txBody>
      </p:sp>
      <p:sp>
        <p:nvSpPr>
          <p:cNvPr id="6" name="Oval 5"/>
          <p:cNvSpPr/>
          <p:nvPr/>
        </p:nvSpPr>
        <p:spPr>
          <a:xfrm>
            <a:off x="685800" y="2663838"/>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608974"/>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 notebook is made of cells. Code cells produce output beneath them; the number in brackets shows the order things were actually run.</a:t>
            </a:r>
          </a:p>
        </p:txBody>
      </p:sp>
      <p:sp>
        <p:nvSpPr>
          <p:cNvPr id="8" name="Oval 7"/>
          <p:cNvSpPr/>
          <p:nvPr/>
        </p:nvSpPr>
        <p:spPr>
          <a:xfrm>
            <a:off x="685800" y="3361716"/>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306852"/>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All cells share one kernel — a single Python session. That is why a variable made in one cell exists in another, and why order matters.</a:t>
            </a:r>
          </a:p>
        </p:txBody>
      </p:sp>
      <p:sp>
        <p:nvSpPr>
          <p:cNvPr id="10" name="Oval 9"/>
          <p:cNvSpPr/>
          <p:nvPr/>
        </p:nvSpPr>
        <p:spPr>
          <a:xfrm>
            <a:off x="685800" y="4059595"/>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004731"/>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Running the same cell twice is not the same as running it once. Restart and Run All is the only honest test of a notebook.</a:t>
            </a:r>
          </a:p>
        </p:txBody>
      </p:sp>
      <p:sp>
        <p:nvSpPr>
          <p:cNvPr id="12" name="Oval 11"/>
          <p:cNvSpPr/>
          <p:nvPr/>
        </p:nvSpPr>
        <p:spPr>
          <a:xfrm>
            <a:off x="685800" y="4481686"/>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426822"/>
            <a:ext cx="10271455" cy="376371"/>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Git records every version, what changed, and who changed it. A backup gives you yesterday's file; Git gives you the history.</a:t>
            </a:r>
          </a:p>
        </p:txBody>
      </p:sp>
      <p:sp>
        <p:nvSpPr>
          <p:cNvPr id="14" name="Oval 13"/>
          <p:cNvSpPr/>
          <p:nvPr/>
        </p:nvSpPr>
        <p:spPr>
          <a:xfrm>
            <a:off x="685800" y="4903777"/>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848913"/>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Four states, four commands: working directory, git add, staging, git commit, local repository, git push, GitHub. git status tells you where you are.</a:t>
            </a:r>
          </a:p>
        </p:txBody>
      </p:sp>
      <p:sp>
        <p:nvSpPr>
          <p:cNvPr id="16" name="Oval 15"/>
          <p:cNvSpPr/>
          <p:nvPr/>
        </p:nvSpPr>
        <p:spPr>
          <a:xfrm>
            <a:off x="685800" y="5601656"/>
            <a:ext cx="182880" cy="182880"/>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546792"/>
            <a:ext cx="10271455" cy="652158"/>
          </a:xfrm>
          <a:prstGeom prst="rect">
            <a:avLst/>
          </a:prstGeom>
          <a:noFill/>
        </p:spPr>
        <p:txBody>
          <a:bodyPr wrap="square" lIns="0" rIns="0" tIns="0" bIns="0" anchor="t">
            <a:spAutoFit/>
          </a:bodyPr>
          <a:lstStyle/>
          <a:p>
            <a:pPr algn="l">
              <a:lnSpc>
                <a:spcPct val="120000"/>
              </a:lnSpc>
              <a:spcAft>
                <a:spcPts val="600"/>
              </a:spcAft>
            </a:pPr>
            <a:r>
              <a:rPr sz="1452" b="0" i="0">
                <a:solidFill>
                  <a:srgbClr val="2A3B4A"/>
                </a:solidFill>
                <a:latin typeface="Calibri"/>
              </a:rPr>
              <a:t>Three of today's four broken notebooks announced their problem. The fourth did not, and that is the kind you have to catch yourself.</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CHECK YOUR UNDERSTANDING</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Self-test — write something for each before you look</a:t>
            </a:r>
          </a:p>
        </p:txBody>
      </p:sp>
      <p:sp>
        <p:nvSpPr>
          <p:cNvPr id="4" name="Oval 3"/>
          <p:cNvSpPr/>
          <p:nvPr/>
        </p:nvSpPr>
        <p:spPr>
          <a:xfrm>
            <a:off x="685800" y="194767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A classmate says their notebook 'worked yesterday' but fails today. What is the first thing you would ask them to do, and why?</a:t>
            </a:r>
          </a:p>
        </p:txBody>
      </p:sp>
      <p:sp>
        <p:nvSpPr>
          <p:cNvPr id="6" name="Oval 5"/>
          <p:cNvSpPr/>
          <p:nvPr/>
        </p:nvSpPr>
        <p:spPr>
          <a:xfrm>
            <a:off x="685800" y="2842075"/>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7" name="TextBox 6"/>
          <p:cNvSpPr txBox="1"/>
          <p:nvPr/>
        </p:nvSpPr>
        <p:spPr>
          <a:xfrm>
            <a:off x="1216152" y="2805499"/>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What does the number in brackets beside a code cell tell you that the cell's position on the page does not?</a:t>
            </a:r>
          </a:p>
        </p:txBody>
      </p:sp>
      <p:sp>
        <p:nvSpPr>
          <p:cNvPr id="8" name="Oval 7"/>
          <p:cNvSpPr/>
          <p:nvPr/>
        </p:nvSpPr>
        <p:spPr>
          <a:xfrm>
            <a:off x="685800" y="3736478"/>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9" name="TextBox 8"/>
          <p:cNvSpPr txBox="1"/>
          <p:nvPr/>
        </p:nvSpPr>
        <p:spPr>
          <a:xfrm>
            <a:off x="1216152" y="3699902"/>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You changed five files but only want to record two of them. Which Git command lets you choose, and which state do the two files move into?</a:t>
            </a:r>
          </a:p>
        </p:txBody>
      </p:sp>
      <p:sp>
        <p:nvSpPr>
          <p:cNvPr id="10" name="Oval 9"/>
          <p:cNvSpPr/>
          <p:nvPr/>
        </p:nvSpPr>
        <p:spPr>
          <a:xfrm>
            <a:off x="685800" y="4630881"/>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1" name="TextBox 10"/>
          <p:cNvSpPr txBox="1"/>
          <p:nvPr/>
        </p:nvSpPr>
        <p:spPr>
          <a:xfrm>
            <a:off x="1216152" y="4594305"/>
            <a:ext cx="10134295" cy="483777"/>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Why does this course submit work through GitHub rather than by email?</a:t>
            </a:r>
          </a:p>
        </p:txBody>
      </p:sp>
      <p:sp>
        <p:nvSpPr>
          <p:cNvPr id="12" name="Oval 11"/>
          <p:cNvSpPr/>
          <p:nvPr/>
        </p:nvSpPr>
        <p:spPr>
          <a:xfrm>
            <a:off x="685800" y="5169522"/>
            <a:ext cx="329184" cy="329184"/>
          </a:xfrm>
          <a:prstGeom prst="ellipse">
            <a:avLst/>
          </a:prstGeom>
          <a:solidFill>
            <a:srgbClr val="2E7D6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3" name="TextBox 12"/>
          <p:cNvSpPr txBox="1"/>
          <p:nvPr/>
        </p:nvSpPr>
        <p:spPr>
          <a:xfrm>
            <a:off x="1216152" y="5132946"/>
            <a:ext cx="10134295" cy="839539"/>
          </a:xfrm>
          <a:prstGeom prst="rect">
            <a:avLst/>
          </a:prstGeom>
          <a:noFill/>
        </p:spPr>
        <p:txBody>
          <a:bodyPr wrap="square" lIns="0" rIns="0" tIns="0" bIns="0" anchor="t">
            <a:spAutoFit/>
          </a:bodyPr>
          <a:lstStyle/>
          <a:p>
            <a:pPr algn="l">
              <a:lnSpc>
                <a:spcPct val="120000"/>
              </a:lnSpc>
              <a:spcAft>
                <a:spcPts val="600"/>
              </a:spcAft>
            </a:pPr>
            <a:r>
              <a:rPr sz="1873" b="0" i="0">
                <a:solidFill>
                  <a:srgbClr val="2A3B4A"/>
                </a:solidFill>
                <a:latin typeface="Calibri"/>
              </a:rPr>
              <a:t>Colab needs an internet connection. Given that, how are the Week 7 and Week 14 practical tests run, and why?</a:t>
            </a:r>
          </a:p>
        </p:txBody>
      </p:sp>
      <p:sp>
        <p:nvSpPr>
          <p:cNvPr id="14" name="TextBox 13"/>
          <p:cNvSpPr txBox="1"/>
          <p:nvPr/>
        </p:nvSpPr>
        <p:spPr>
          <a:xfrm>
            <a:off x="685800" y="6108192"/>
            <a:ext cx="10820095" cy="365760"/>
          </a:xfrm>
          <a:prstGeom prst="rect">
            <a:avLst/>
          </a:prstGeom>
          <a:noFill/>
        </p:spPr>
        <p:txBody>
          <a:bodyPr wrap="square" lIns="0" rIns="0" tIns="0" bIns="0" anchor="t">
            <a:spAutoFit/>
          </a:bodyPr>
          <a:lstStyle/>
          <a:p>
            <a:pPr algn="l">
              <a:spcAft>
                <a:spcPts val="600"/>
              </a:spcAft>
            </a:pPr>
            <a:r>
              <a:rPr sz="1584" b="0" i="1">
                <a:solidFill>
                  <a:srgbClr val="6B7A8A"/>
                </a:solidFill>
                <a:latin typeface="Calibri"/>
              </a:rPr>
              <a:t>Answers on the next slide.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ANSWERS</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How did you do?</a:t>
            </a:r>
          </a:p>
        </p:txBody>
      </p:sp>
      <p:sp>
        <p:nvSpPr>
          <p:cNvPr id="4" name="Oval 3"/>
          <p:cNvSpPr/>
          <p:nvPr/>
        </p:nvSpPr>
        <p:spPr>
          <a:xfrm>
            <a:off x="685800"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A</a:t>
            </a:r>
          </a:p>
        </p:txBody>
      </p:sp>
      <p:sp>
        <p:nvSpPr>
          <p:cNvPr id="5" name="TextBox 4"/>
          <p:cNvSpPr txBox="1"/>
          <p:nvPr/>
        </p:nvSpPr>
        <p:spPr>
          <a:xfrm>
            <a:off x="1216152" y="1911095"/>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'It worked yesterday'?</a:t>
            </a:r>
          </a:p>
        </p:txBody>
      </p:sp>
      <p:sp>
        <p:nvSpPr>
          <p:cNvPr id="6" name="TextBox 5"/>
          <p:cNvSpPr txBox="1"/>
          <p:nvPr/>
        </p:nvSpPr>
        <p:spPr>
          <a:xfrm>
            <a:off x="1216152" y="2203703"/>
            <a:ext cx="4614519" cy="992985"/>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Restart and Run All. Almost always the kernel was holding something from a cell that has since changed or been deleted, so it never really worked from a clean start.</a:t>
            </a:r>
          </a:p>
        </p:txBody>
      </p:sp>
      <p:sp>
        <p:nvSpPr>
          <p:cNvPr id="7" name="Oval 6"/>
          <p:cNvSpPr/>
          <p:nvPr/>
        </p:nvSpPr>
        <p:spPr>
          <a:xfrm>
            <a:off x="685800" y="3269841"/>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B</a:t>
            </a:r>
          </a:p>
        </p:txBody>
      </p:sp>
      <p:sp>
        <p:nvSpPr>
          <p:cNvPr id="8" name="TextBox 7"/>
          <p:cNvSpPr txBox="1"/>
          <p:nvPr/>
        </p:nvSpPr>
        <p:spPr>
          <a:xfrm>
            <a:off x="1216152" y="3233265"/>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What the counter tells you?</a:t>
            </a:r>
          </a:p>
        </p:txBody>
      </p:sp>
      <p:sp>
        <p:nvSpPr>
          <p:cNvPr id="9" name="TextBox 8"/>
          <p:cNvSpPr txBox="1"/>
          <p:nvPr/>
        </p:nvSpPr>
        <p:spPr>
          <a:xfrm>
            <a:off x="1216152" y="3525873"/>
            <a:ext cx="4614519" cy="992985"/>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The order in which cells were actually executed. Position on the page is only a layout — the counter is what the kernel actually did, and the two can disagree.</a:t>
            </a:r>
          </a:p>
        </p:txBody>
      </p:sp>
      <p:sp>
        <p:nvSpPr>
          <p:cNvPr id="10" name="Oval 9"/>
          <p:cNvSpPr/>
          <p:nvPr/>
        </p:nvSpPr>
        <p:spPr>
          <a:xfrm>
            <a:off x="685800" y="4592010"/>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C</a:t>
            </a:r>
          </a:p>
        </p:txBody>
      </p:sp>
      <p:sp>
        <p:nvSpPr>
          <p:cNvPr id="11" name="TextBox 10"/>
          <p:cNvSpPr txBox="1"/>
          <p:nvPr/>
        </p:nvSpPr>
        <p:spPr>
          <a:xfrm>
            <a:off x="1216152" y="4555434"/>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Recording two of five files?</a:t>
            </a:r>
          </a:p>
        </p:txBody>
      </p:sp>
      <p:sp>
        <p:nvSpPr>
          <p:cNvPr id="12" name="TextBox 11"/>
          <p:cNvSpPr txBox="1"/>
          <p:nvPr/>
        </p:nvSpPr>
        <p:spPr>
          <a:xfrm>
            <a:off x="1216152" y="4848042"/>
            <a:ext cx="4614519" cy="992985"/>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git add, naming just those two files rather than using a dot. They move into the staging area, and only staged files go into the next commit.</a:t>
            </a:r>
          </a:p>
        </p:txBody>
      </p:sp>
      <p:sp>
        <p:nvSpPr>
          <p:cNvPr id="13" name="Oval 12"/>
          <p:cNvSpPr/>
          <p:nvPr/>
        </p:nvSpPr>
        <p:spPr>
          <a:xfrm>
            <a:off x="6324447" y="1947672"/>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D</a:t>
            </a:r>
          </a:p>
        </p:txBody>
      </p:sp>
      <p:sp>
        <p:nvSpPr>
          <p:cNvPr id="14" name="TextBox 13"/>
          <p:cNvSpPr txBox="1"/>
          <p:nvPr/>
        </p:nvSpPr>
        <p:spPr>
          <a:xfrm>
            <a:off x="6854799" y="1911095"/>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Why GitHub rather than email?</a:t>
            </a:r>
          </a:p>
        </p:txBody>
      </p:sp>
      <p:sp>
        <p:nvSpPr>
          <p:cNvPr id="15" name="TextBox 14"/>
          <p:cNvSpPr txBox="1"/>
          <p:nvPr/>
        </p:nvSpPr>
        <p:spPr>
          <a:xfrm>
            <a:off x="6854799" y="2203703"/>
            <a:ext cx="4614519" cy="1569631"/>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Because it records who did what and when, which is how a team mark becomes an individual one; because the grading tools collect work from repositories automatically; and because it is what every engineering employer expects you to have used.</a:t>
            </a:r>
          </a:p>
        </p:txBody>
      </p:sp>
      <p:sp>
        <p:nvSpPr>
          <p:cNvPr id="16" name="Oval 15"/>
          <p:cNvSpPr/>
          <p:nvPr/>
        </p:nvSpPr>
        <p:spPr>
          <a:xfrm>
            <a:off x="6324447" y="3846487"/>
            <a:ext cx="329184" cy="329184"/>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452" b="1">
                <a:solidFill>
                  <a:srgbClr val="FFFFFF"/>
                </a:solidFill>
                <a:latin typeface="Calibri"/>
              </a:rPr>
              <a:t>E</a:t>
            </a:r>
          </a:p>
        </p:txBody>
      </p:sp>
      <p:sp>
        <p:nvSpPr>
          <p:cNvPr id="17" name="TextBox 16"/>
          <p:cNvSpPr txBox="1"/>
          <p:nvPr/>
        </p:nvSpPr>
        <p:spPr>
          <a:xfrm>
            <a:off x="6854799" y="3809911"/>
            <a:ext cx="4614519" cy="274320"/>
          </a:xfrm>
          <a:prstGeom prst="rect">
            <a:avLst/>
          </a:prstGeom>
          <a:noFill/>
        </p:spPr>
        <p:txBody>
          <a:bodyPr wrap="square" lIns="0" rIns="0" tIns="0" bIns="0" anchor="t">
            <a:spAutoFit/>
          </a:bodyPr>
          <a:lstStyle/>
          <a:p>
            <a:pPr algn="l">
              <a:spcAft>
                <a:spcPts val="600"/>
              </a:spcAft>
            </a:pPr>
            <a:r>
              <a:rPr sz="1518" b="1" i="0">
                <a:solidFill>
                  <a:srgbClr val="6B7A8A"/>
                </a:solidFill>
                <a:latin typeface="Calibri"/>
              </a:rPr>
              <a:t>Colab needs internet — so how are the tests run?</a:t>
            </a:r>
          </a:p>
        </p:txBody>
      </p:sp>
      <p:sp>
        <p:nvSpPr>
          <p:cNvPr id="18" name="TextBox 17"/>
          <p:cNvSpPr txBox="1"/>
          <p:nvPr/>
        </p:nvSpPr>
        <p:spPr>
          <a:xfrm>
            <a:off x="6854799" y="4102519"/>
            <a:ext cx="4614519" cy="1569631"/>
          </a:xfrm>
          <a:prstGeom prst="rect">
            <a:avLst/>
          </a:prstGeom>
          <a:noFill/>
        </p:spPr>
        <p:txBody>
          <a:bodyPr wrap="square" lIns="0" rIns="0" tIns="0" bIns="0" anchor="t">
            <a:spAutoFit/>
          </a:bodyPr>
          <a:lstStyle/>
          <a:p>
            <a:pPr algn="l">
              <a:lnSpc>
                <a:spcPct val="120000"/>
              </a:lnSpc>
              <a:spcAft>
                <a:spcPts val="600"/>
              </a:spcAft>
            </a:pPr>
            <a:r>
              <a:rPr sz="1518" b="0" i="0">
                <a:solidFill>
                  <a:srgbClr val="2A3B4A"/>
                </a:solidFill>
                <a:latin typeface="Calibri"/>
              </a:rPr>
              <a:t>Offline, on laboratory machines with a local Python installation and no network. That is deliberate: it makes the no-AI-assistance rule actually enforceable rather than a request, and it certifies what you can do unaided. It is also why the Student Setup Guide still exists.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GLOSSARY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Every word we used today</a:t>
            </a:r>
          </a:p>
        </p:txBody>
      </p:sp>
      <p:sp>
        <p:nvSpPr>
          <p:cNvPr id="4" name="TextBox 3"/>
          <p:cNvSpPr txBox="1"/>
          <p:nvPr/>
        </p:nvSpPr>
        <p:spPr>
          <a:xfrm>
            <a:off x="685800"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Google Colab</a:t>
            </a:r>
          </a:p>
        </p:txBody>
      </p:sp>
      <p:sp>
        <p:nvSpPr>
          <p:cNvPr id="5" name="TextBox 4"/>
          <p:cNvSpPr txBox="1"/>
          <p:nvPr/>
        </p:nvSpPr>
        <p:spPr>
          <a:xfrm>
            <a:off x="685800" y="2095439"/>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notebook environment that runs in a browser on Google's computers, with Python and the course libraries already installed.</a:t>
            </a:r>
          </a:p>
        </p:txBody>
      </p:sp>
      <p:sp>
        <p:nvSpPr>
          <p:cNvPr id="6" name="TextBox 5"/>
          <p:cNvSpPr txBox="1"/>
          <p:nvPr/>
        </p:nvSpPr>
        <p:spPr>
          <a:xfrm>
            <a:off x="685800" y="252374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Notebook (.ipynb)</a:t>
            </a:r>
          </a:p>
        </p:txBody>
      </p:sp>
      <p:sp>
        <p:nvSpPr>
          <p:cNvPr id="7" name="TextBox 6"/>
          <p:cNvSpPr txBox="1"/>
          <p:nvPr/>
        </p:nvSpPr>
        <p:spPr>
          <a:xfrm>
            <a:off x="685800" y="270808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document made of cells, mixing text, code and the code's output.</a:t>
            </a:r>
          </a:p>
        </p:txBody>
      </p:sp>
      <p:sp>
        <p:nvSpPr>
          <p:cNvPr id="8" name="TextBox 7"/>
          <p:cNvSpPr txBox="1"/>
          <p:nvPr/>
        </p:nvSpPr>
        <p:spPr>
          <a:xfrm>
            <a:off x="685800" y="295808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Cell</a:t>
            </a:r>
          </a:p>
        </p:txBody>
      </p:sp>
      <p:sp>
        <p:nvSpPr>
          <p:cNvPr id="9" name="TextBox 8"/>
          <p:cNvSpPr txBox="1"/>
          <p:nvPr/>
        </p:nvSpPr>
        <p:spPr>
          <a:xfrm>
            <a:off x="685800" y="314242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One block of a notebook. Either markdown (text) or code.</a:t>
            </a:r>
          </a:p>
        </p:txBody>
      </p:sp>
      <p:sp>
        <p:nvSpPr>
          <p:cNvPr id="10" name="TextBox 9"/>
          <p:cNvSpPr txBox="1"/>
          <p:nvPr/>
        </p:nvSpPr>
        <p:spPr>
          <a:xfrm>
            <a:off x="685800" y="339242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Markdown</a:t>
            </a:r>
          </a:p>
        </p:txBody>
      </p:sp>
      <p:sp>
        <p:nvSpPr>
          <p:cNvPr id="11" name="TextBox 10"/>
          <p:cNvSpPr txBox="1"/>
          <p:nvPr/>
        </p:nvSpPr>
        <p:spPr>
          <a:xfrm>
            <a:off x="685800" y="357676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simple text format used for the text cells.</a:t>
            </a:r>
          </a:p>
        </p:txBody>
      </p:sp>
      <p:sp>
        <p:nvSpPr>
          <p:cNvPr id="12" name="TextBox 11"/>
          <p:cNvSpPr txBox="1"/>
          <p:nvPr/>
        </p:nvSpPr>
        <p:spPr>
          <a:xfrm>
            <a:off x="685800" y="382676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Kernel</a:t>
            </a:r>
          </a:p>
        </p:txBody>
      </p:sp>
      <p:sp>
        <p:nvSpPr>
          <p:cNvPr id="13" name="TextBox 12"/>
          <p:cNvSpPr txBox="1"/>
          <p:nvPr/>
        </p:nvSpPr>
        <p:spPr>
          <a:xfrm>
            <a:off x="685800" y="401110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single Python session that all the cells in a notebook share.</a:t>
            </a:r>
          </a:p>
        </p:txBody>
      </p:sp>
      <p:sp>
        <p:nvSpPr>
          <p:cNvPr id="14" name="TextBox 13"/>
          <p:cNvSpPr txBox="1"/>
          <p:nvPr/>
        </p:nvSpPr>
        <p:spPr>
          <a:xfrm>
            <a:off x="685800" y="426110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Execution counter</a:t>
            </a:r>
          </a:p>
        </p:txBody>
      </p:sp>
      <p:sp>
        <p:nvSpPr>
          <p:cNvPr id="15" name="TextBox 14"/>
          <p:cNvSpPr txBox="1"/>
          <p:nvPr/>
        </p:nvSpPr>
        <p:spPr>
          <a:xfrm>
            <a:off x="685800" y="444544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number in brackets beside a code cell, showing the order cells were run in.</a:t>
            </a:r>
          </a:p>
        </p:txBody>
      </p:sp>
      <p:sp>
        <p:nvSpPr>
          <p:cNvPr id="16" name="TextBox 15"/>
          <p:cNvSpPr txBox="1"/>
          <p:nvPr/>
        </p:nvSpPr>
        <p:spPr>
          <a:xfrm>
            <a:off x="685800" y="469544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Restart and Run All</a:t>
            </a:r>
          </a:p>
        </p:txBody>
      </p:sp>
      <p:sp>
        <p:nvSpPr>
          <p:cNvPr id="17" name="TextBox 16"/>
          <p:cNvSpPr txBox="1"/>
          <p:nvPr/>
        </p:nvSpPr>
        <p:spPr>
          <a:xfrm>
            <a:off x="685800" y="487978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Clear the kernel and run every cell from the top. The only honest test of a notebook.</a:t>
            </a:r>
          </a:p>
        </p:txBody>
      </p:sp>
      <p:sp>
        <p:nvSpPr>
          <p:cNvPr id="18" name="TextBox 17"/>
          <p:cNvSpPr txBox="1"/>
          <p:nvPr/>
        </p:nvSpPr>
        <p:spPr>
          <a:xfrm>
            <a:off x="685800" y="512978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Output</a:t>
            </a:r>
          </a:p>
        </p:txBody>
      </p:sp>
      <p:sp>
        <p:nvSpPr>
          <p:cNvPr id="19" name="TextBox 18"/>
          <p:cNvSpPr txBox="1"/>
          <p:nvPr/>
        </p:nvSpPr>
        <p:spPr>
          <a:xfrm>
            <a:off x="685800" y="531412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Whatever a code cell produced, shown directly beneath it.</a:t>
            </a:r>
          </a:p>
        </p:txBody>
      </p:sp>
      <p:sp>
        <p:nvSpPr>
          <p:cNvPr id="20" name="TextBox 19"/>
          <p:cNvSpPr txBox="1"/>
          <p:nvPr/>
        </p:nvSpPr>
        <p:spPr>
          <a:xfrm>
            <a:off x="685800" y="556412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f-string</a:t>
            </a:r>
          </a:p>
        </p:txBody>
      </p:sp>
      <p:sp>
        <p:nvSpPr>
          <p:cNvPr id="21" name="TextBox 20"/>
          <p:cNvSpPr txBox="1"/>
          <p:nvPr/>
        </p:nvSpPr>
        <p:spPr>
          <a:xfrm>
            <a:off x="685800" y="5748467"/>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Text with holes in it: f"I have {n} readings". Anything in braces is replaced by that variable's value.</a:t>
            </a:r>
          </a:p>
        </p:txBody>
      </p:sp>
      <p:sp>
        <p:nvSpPr>
          <p:cNvPr id="22" name="TextBox 21"/>
          <p:cNvSpPr txBox="1"/>
          <p:nvPr/>
        </p:nvSpPr>
        <p:spPr>
          <a:xfrm>
            <a:off x="6324447" y="1911095"/>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Git</a:t>
            </a:r>
          </a:p>
        </p:txBody>
      </p:sp>
      <p:sp>
        <p:nvSpPr>
          <p:cNvPr id="23" name="TextBox 22"/>
          <p:cNvSpPr txBox="1"/>
          <p:nvPr/>
        </p:nvSpPr>
        <p:spPr>
          <a:xfrm>
            <a:off x="6324447" y="2095439"/>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tool that records every version of a project, what changed and who changed it.</a:t>
            </a:r>
          </a:p>
        </p:txBody>
      </p:sp>
      <p:sp>
        <p:nvSpPr>
          <p:cNvPr id="24" name="TextBox 23"/>
          <p:cNvSpPr txBox="1"/>
          <p:nvPr/>
        </p:nvSpPr>
        <p:spPr>
          <a:xfrm>
            <a:off x="6324447" y="2345436"/>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GitHub</a:t>
            </a:r>
          </a:p>
        </p:txBody>
      </p:sp>
      <p:sp>
        <p:nvSpPr>
          <p:cNvPr id="25" name="TextBox 24"/>
          <p:cNvSpPr txBox="1"/>
          <p:nvPr/>
        </p:nvSpPr>
        <p:spPr>
          <a:xfrm>
            <a:off x="6324447" y="2529779"/>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website that stores Git repositories so your work exists somewhere other than your laptop.</a:t>
            </a:r>
          </a:p>
        </p:txBody>
      </p:sp>
      <p:sp>
        <p:nvSpPr>
          <p:cNvPr id="26" name="TextBox 25"/>
          <p:cNvSpPr txBox="1"/>
          <p:nvPr/>
        </p:nvSpPr>
        <p:spPr>
          <a:xfrm>
            <a:off x="6324447" y="295808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Repository (repo)</a:t>
            </a:r>
          </a:p>
        </p:txBody>
      </p:sp>
      <p:sp>
        <p:nvSpPr>
          <p:cNvPr id="27" name="TextBox 26"/>
          <p:cNvSpPr txBox="1"/>
          <p:nvPr/>
        </p:nvSpPr>
        <p:spPr>
          <a:xfrm>
            <a:off x="6324447" y="314242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 project folder whose whole history Git is tracking.</a:t>
            </a:r>
          </a:p>
        </p:txBody>
      </p:sp>
      <p:sp>
        <p:nvSpPr>
          <p:cNvPr id="28" name="TextBox 27"/>
          <p:cNvSpPr txBox="1"/>
          <p:nvPr/>
        </p:nvSpPr>
        <p:spPr>
          <a:xfrm>
            <a:off x="6324447" y="3392424"/>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Working directory</a:t>
            </a:r>
          </a:p>
        </p:txBody>
      </p:sp>
      <p:sp>
        <p:nvSpPr>
          <p:cNvPr id="29" name="TextBox 28"/>
          <p:cNvSpPr txBox="1"/>
          <p:nvPr/>
        </p:nvSpPr>
        <p:spPr>
          <a:xfrm>
            <a:off x="6324447" y="357676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Your files as they are right now, changes included.</a:t>
            </a:r>
          </a:p>
        </p:txBody>
      </p:sp>
      <p:sp>
        <p:nvSpPr>
          <p:cNvPr id="30" name="TextBox 29"/>
          <p:cNvSpPr txBox="1"/>
          <p:nvPr/>
        </p:nvSpPr>
        <p:spPr>
          <a:xfrm>
            <a:off x="6324447" y="382676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Staging area</a:t>
            </a:r>
          </a:p>
        </p:txBody>
      </p:sp>
      <p:sp>
        <p:nvSpPr>
          <p:cNvPr id="31" name="TextBox 30"/>
          <p:cNvSpPr txBox="1"/>
          <p:nvPr/>
        </p:nvSpPr>
        <p:spPr>
          <a:xfrm>
            <a:off x="6324447" y="401110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set of changes you have marked as ready to go into the next commit.</a:t>
            </a:r>
          </a:p>
        </p:txBody>
      </p:sp>
      <p:sp>
        <p:nvSpPr>
          <p:cNvPr id="32" name="TextBox 31"/>
          <p:cNvSpPr txBox="1"/>
          <p:nvPr/>
        </p:nvSpPr>
        <p:spPr>
          <a:xfrm>
            <a:off x="6324447" y="426110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Commit</a:t>
            </a:r>
          </a:p>
        </p:txBody>
      </p:sp>
      <p:sp>
        <p:nvSpPr>
          <p:cNvPr id="33" name="TextBox 32"/>
          <p:cNvSpPr txBox="1"/>
          <p:nvPr/>
        </p:nvSpPr>
        <p:spPr>
          <a:xfrm>
            <a:off x="6324447" y="444544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One recorded snapshot, with a message saying what changed.</a:t>
            </a:r>
          </a:p>
        </p:txBody>
      </p:sp>
      <p:sp>
        <p:nvSpPr>
          <p:cNvPr id="34" name="TextBox 33"/>
          <p:cNvSpPr txBox="1"/>
          <p:nvPr/>
        </p:nvSpPr>
        <p:spPr>
          <a:xfrm>
            <a:off x="6324447" y="469544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Push</a:t>
            </a:r>
          </a:p>
        </p:txBody>
      </p:sp>
      <p:sp>
        <p:nvSpPr>
          <p:cNvPr id="35" name="TextBox 34"/>
          <p:cNvSpPr txBox="1"/>
          <p:nvPr/>
        </p:nvSpPr>
        <p:spPr>
          <a:xfrm>
            <a:off x="6324447" y="4879787"/>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Send your commits up to GitHub.</a:t>
            </a:r>
          </a:p>
        </p:txBody>
      </p:sp>
      <p:sp>
        <p:nvSpPr>
          <p:cNvPr id="36" name="TextBox 35"/>
          <p:cNvSpPr txBox="1"/>
          <p:nvPr/>
        </p:nvSpPr>
        <p:spPr>
          <a:xfrm>
            <a:off x="6324447" y="5129783"/>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git status</a:t>
            </a:r>
          </a:p>
        </p:txBody>
      </p:sp>
      <p:sp>
        <p:nvSpPr>
          <p:cNvPr id="37" name="TextBox 36"/>
          <p:cNvSpPr txBox="1"/>
          <p:nvPr/>
        </p:nvSpPr>
        <p:spPr>
          <a:xfrm>
            <a:off x="6324447" y="5314127"/>
            <a:ext cx="5181447" cy="402336"/>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Ask Git what has changed and where it currently is. The most useful command on the list.</a:t>
            </a:r>
          </a:p>
        </p:txBody>
      </p:sp>
      <p:sp>
        <p:nvSpPr>
          <p:cNvPr id="38" name="TextBox 37"/>
          <p:cNvSpPr txBox="1"/>
          <p:nvPr/>
        </p:nvSpPr>
        <p:spPr>
          <a:xfrm>
            <a:off x="6324447" y="5742431"/>
            <a:ext cx="5181447" cy="192024"/>
          </a:xfrm>
          <a:prstGeom prst="rect">
            <a:avLst/>
          </a:prstGeom>
          <a:noFill/>
        </p:spPr>
        <p:txBody>
          <a:bodyPr wrap="square" lIns="0" rIns="0" tIns="0" bIns="0" anchor="t">
            <a:spAutoFit/>
          </a:bodyPr>
          <a:lstStyle/>
          <a:p>
            <a:pPr algn="l">
              <a:spcAft>
                <a:spcPts val="600"/>
              </a:spcAft>
            </a:pPr>
            <a:r>
              <a:rPr sz="1650" b="1" i="0">
                <a:solidFill>
                  <a:srgbClr val="E4572E"/>
                </a:solidFill>
                <a:latin typeface="Calibri"/>
              </a:rPr>
              <a:t>README</a:t>
            </a:r>
          </a:p>
        </p:txBody>
      </p:sp>
      <p:sp>
        <p:nvSpPr>
          <p:cNvPr id="39" name="TextBox 38"/>
          <p:cNvSpPr txBox="1"/>
          <p:nvPr/>
        </p:nvSpPr>
        <p:spPr>
          <a:xfrm>
            <a:off x="6324447" y="5926775"/>
            <a:ext cx="5181447" cy="224028"/>
          </a:xfrm>
          <a:prstGeom prst="rect">
            <a:avLst/>
          </a:prstGeom>
          <a:noFill/>
        </p:spPr>
        <p:txBody>
          <a:bodyPr wrap="square" lIns="0" rIns="0" tIns="0" bIns="0" anchor="t">
            <a:spAutoFit/>
          </a:bodyPr>
          <a:lstStyle/>
          <a:p>
            <a:pPr algn="l">
              <a:lnSpc>
                <a:spcPct val="112000"/>
              </a:lnSpc>
              <a:spcAft>
                <a:spcPts val="600"/>
              </a:spcAft>
            </a:pPr>
            <a:r>
              <a:rPr sz="1452" b="0" i="0">
                <a:solidFill>
                  <a:srgbClr val="334657"/>
                </a:solidFill>
                <a:latin typeface="Calibri"/>
              </a:rPr>
              <a:t>The file that explains a repository to whoever opens it. Yours is marked.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566928"/>
            <a:ext cx="10820095" cy="292608"/>
          </a:xfrm>
          <a:prstGeom prst="rect">
            <a:avLst/>
          </a:prstGeom>
          <a:noFill/>
        </p:spPr>
        <p:txBody>
          <a:bodyPr wrap="square" lIns="0" rIns="0" tIns="0" bIns="0" anchor="t">
            <a:spAutoFit/>
          </a:bodyPr>
          <a:lstStyle/>
          <a:p>
            <a:pPr algn="l">
              <a:spcAft>
                <a:spcPts val="600"/>
              </a:spcAft>
            </a:pPr>
            <a:r>
              <a:rPr sz="1584" b="1" i="0">
                <a:solidFill>
                  <a:srgbClr val="E4572E"/>
                </a:solidFill>
                <a:latin typeface="Calibri"/>
              </a:rPr>
              <a:t>CHEAT SHEET — KEEP THIS SLIDE</a:t>
            </a:r>
          </a:p>
        </p:txBody>
      </p:sp>
      <p:sp>
        <p:nvSpPr>
          <p:cNvPr id="3" name="TextBox 2"/>
          <p:cNvSpPr txBox="1"/>
          <p:nvPr/>
        </p:nvSpPr>
        <p:spPr>
          <a:xfrm>
            <a:off x="685800" y="950976"/>
            <a:ext cx="10820095" cy="777240"/>
          </a:xfrm>
          <a:prstGeom prst="rect">
            <a:avLst/>
          </a:prstGeom>
          <a:noFill/>
        </p:spPr>
        <p:txBody>
          <a:bodyPr wrap="square" lIns="0" rIns="0" tIns="0" bIns="0" anchor="t">
            <a:spAutoFit/>
          </a:bodyPr>
          <a:lstStyle/>
          <a:p>
            <a:pPr algn="l">
              <a:lnSpc>
                <a:spcPct val="100000"/>
              </a:lnSpc>
              <a:spcAft>
                <a:spcPts val="600"/>
              </a:spcAft>
            </a:pPr>
            <a:r>
              <a:rPr sz="3200" b="1" i="0">
                <a:solidFill>
                  <a:srgbClr val="1C3144"/>
                </a:solidFill>
                <a:latin typeface="Cambria"/>
              </a:rPr>
              <a:t>One-page reference — the commands and the habits</a:t>
            </a:r>
          </a:p>
        </p:txBody>
      </p:sp>
      <p:sp>
        <p:nvSpPr>
          <p:cNvPr id="4" name="TextBox 3"/>
          <p:cNvSpPr txBox="1"/>
          <p:nvPr/>
        </p:nvSpPr>
        <p:spPr>
          <a:xfrm>
            <a:off x="685800" y="1911095"/>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Running code</a:t>
            </a:r>
          </a:p>
        </p:txBody>
      </p:sp>
      <p:sp>
        <p:nvSpPr>
          <p:cNvPr id="5" name="TextBox 4"/>
          <p:cNvSpPr txBox="1"/>
          <p:nvPr/>
        </p:nvSpPr>
        <p:spPr>
          <a:xfrm>
            <a:off x="685800" y="2273037"/>
            <a:ext cx="5158587" cy="300983"/>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Shift and Enter runs a cell. Enter alone just adds a line inside it.</a:t>
            </a:r>
          </a:p>
        </p:txBody>
      </p:sp>
      <p:sp>
        <p:nvSpPr>
          <p:cNvPr id="6" name="TextBox 5"/>
          <p:cNvSpPr txBox="1"/>
          <p:nvPr/>
        </p:nvSpPr>
        <p:spPr>
          <a:xfrm>
            <a:off x="685800" y="2802621"/>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Before you believe any answer</a:t>
            </a:r>
          </a:p>
        </p:txBody>
      </p:sp>
      <p:sp>
        <p:nvSpPr>
          <p:cNvPr id="7" name="TextBox 6"/>
          <p:cNvSpPr txBox="1"/>
          <p:nvPr/>
        </p:nvSpPr>
        <p:spPr>
          <a:xfrm>
            <a:off x="685800" y="3164562"/>
            <a:ext cx="5158587" cy="547102"/>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Restart and Run All. If it fails, it was never working — the kernel was covering for you.</a:t>
            </a:r>
          </a:p>
        </p:txBody>
      </p:sp>
      <p:sp>
        <p:nvSpPr>
          <p:cNvPr id="8" name="TextBox 7"/>
          <p:cNvSpPr txBox="1"/>
          <p:nvPr/>
        </p:nvSpPr>
        <p:spPr>
          <a:xfrm>
            <a:off x="685800" y="3940265"/>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Before you submit anything</a:t>
            </a:r>
          </a:p>
        </p:txBody>
      </p:sp>
      <p:sp>
        <p:nvSpPr>
          <p:cNvPr id="9" name="TextBox 8"/>
          <p:cNvSpPr txBox="1"/>
          <p:nvPr/>
        </p:nvSpPr>
        <p:spPr>
          <a:xfrm>
            <a:off x="685800" y="4302207"/>
            <a:ext cx="5158587" cy="300983"/>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Restart and Run All, confirm no errors, then save with outputs visible.</a:t>
            </a:r>
          </a:p>
        </p:txBody>
      </p:sp>
      <p:sp>
        <p:nvSpPr>
          <p:cNvPr id="10" name="TextBox 9"/>
          <p:cNvSpPr txBox="1"/>
          <p:nvPr/>
        </p:nvSpPr>
        <p:spPr>
          <a:xfrm>
            <a:off x="6347307" y="1911095"/>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The four Git commands</a:t>
            </a:r>
          </a:p>
        </p:txBody>
      </p:sp>
      <p:sp>
        <p:nvSpPr>
          <p:cNvPr id="11" name="TextBox 10"/>
          <p:cNvSpPr txBox="1"/>
          <p:nvPr/>
        </p:nvSpPr>
        <p:spPr>
          <a:xfrm>
            <a:off x="6347307" y="2273037"/>
            <a:ext cx="5158587" cy="1039340"/>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git status — what changed, and where is it?</a:t>
            </a:r>
          </a:p>
          <a:p>
            <a:pPr algn="l">
              <a:lnSpc>
                <a:spcPct val="124000"/>
              </a:lnSpc>
              <a:spcAft>
                <a:spcPts val="600"/>
              </a:spcAft>
            </a:pPr>
            <a:r>
              <a:rPr sz="1254" b="0" i="0">
                <a:solidFill>
                  <a:srgbClr val="334657"/>
                </a:solidFill>
                <a:latin typeface="Calibri"/>
              </a:rPr>
              <a:t>git add . — mark it all ready</a:t>
            </a:r>
          </a:p>
          <a:p>
            <a:pPr algn="l">
              <a:lnSpc>
                <a:spcPct val="124000"/>
              </a:lnSpc>
              <a:spcAft>
                <a:spcPts val="600"/>
              </a:spcAft>
            </a:pPr>
            <a:r>
              <a:rPr sz="1254" b="0" i="0">
                <a:solidFill>
                  <a:srgbClr val="334657"/>
                </a:solidFill>
                <a:latin typeface="Calibri"/>
              </a:rPr>
              <a:t>git commit -m "message" — record it</a:t>
            </a:r>
          </a:p>
          <a:p>
            <a:pPr algn="l">
              <a:lnSpc>
                <a:spcPct val="124000"/>
              </a:lnSpc>
              <a:spcAft>
                <a:spcPts val="600"/>
              </a:spcAft>
            </a:pPr>
            <a:r>
              <a:rPr sz="1254" b="0" i="0">
                <a:solidFill>
                  <a:srgbClr val="334657"/>
                </a:solidFill>
                <a:latin typeface="Calibri"/>
              </a:rPr>
              <a:t>git push — send it to GitHub</a:t>
            </a:r>
          </a:p>
        </p:txBody>
      </p:sp>
      <p:sp>
        <p:nvSpPr>
          <p:cNvPr id="12" name="TextBox 11"/>
          <p:cNvSpPr txBox="1"/>
          <p:nvPr/>
        </p:nvSpPr>
        <p:spPr>
          <a:xfrm>
            <a:off x="6347307" y="3540978"/>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Writing a commit message</a:t>
            </a:r>
          </a:p>
        </p:txBody>
      </p:sp>
      <p:sp>
        <p:nvSpPr>
          <p:cNvPr id="13" name="TextBox 12"/>
          <p:cNvSpPr txBox="1"/>
          <p:nvPr/>
        </p:nvSpPr>
        <p:spPr>
          <a:xfrm>
            <a:off x="6347307" y="3902920"/>
            <a:ext cx="5158587" cy="547102"/>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Say what changed, and why if it is not obvious. 'Add reagent-to-feed ratio column' is useful in November. 'update' is not.</a:t>
            </a:r>
          </a:p>
        </p:txBody>
      </p:sp>
      <p:sp>
        <p:nvSpPr>
          <p:cNvPr id="14" name="TextBox 13"/>
          <p:cNvSpPr txBox="1"/>
          <p:nvPr/>
        </p:nvSpPr>
        <p:spPr>
          <a:xfrm>
            <a:off x="6347307" y="4678622"/>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Reading an error</a:t>
            </a:r>
          </a:p>
        </p:txBody>
      </p:sp>
      <p:sp>
        <p:nvSpPr>
          <p:cNvPr id="15" name="TextBox 14"/>
          <p:cNvSpPr txBox="1"/>
          <p:nvPr/>
        </p:nvSpPr>
        <p:spPr>
          <a:xfrm>
            <a:off x="6347307" y="5040564"/>
            <a:ext cx="5158587" cy="547102"/>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Last line first. It names the error type and what Python actually wanted. Then look at the line number.</a:t>
            </a:r>
          </a:p>
        </p:txBody>
      </p:sp>
      <p:sp>
        <p:nvSpPr>
          <p:cNvPr id="16" name="TextBox 15"/>
          <p:cNvSpPr txBox="1"/>
          <p:nvPr/>
        </p:nvSpPr>
        <p:spPr>
          <a:xfrm>
            <a:off x="6347307" y="5816267"/>
            <a:ext cx="5158587" cy="352797"/>
          </a:xfrm>
          <a:prstGeom prst="rect">
            <a:avLst/>
          </a:prstGeom>
          <a:noFill/>
        </p:spPr>
        <p:txBody>
          <a:bodyPr wrap="square" lIns="0" rIns="0" tIns="0" bIns="0" anchor="t">
            <a:spAutoFit/>
          </a:bodyPr>
          <a:lstStyle/>
          <a:p>
            <a:pPr algn="l">
              <a:lnSpc>
                <a:spcPct val="124000"/>
              </a:lnSpc>
              <a:spcAft>
                <a:spcPts val="600"/>
              </a:spcAft>
            </a:pPr>
            <a:r>
              <a:rPr sz="1518" b="1" i="0">
                <a:solidFill>
                  <a:srgbClr val="E4572E"/>
                </a:solidFill>
                <a:latin typeface="Calibri"/>
              </a:rPr>
              <a:t>Asking for help</a:t>
            </a:r>
          </a:p>
        </p:txBody>
      </p:sp>
      <p:sp>
        <p:nvSpPr>
          <p:cNvPr id="17" name="TextBox 16"/>
          <p:cNvSpPr txBox="1"/>
          <p:nvPr/>
        </p:nvSpPr>
        <p:spPr>
          <a:xfrm>
            <a:off x="6347307" y="6178208"/>
            <a:ext cx="5158587" cy="547102"/>
          </a:xfrm>
          <a:prstGeom prst="rect">
            <a:avLst/>
          </a:prstGeom>
          <a:noFill/>
        </p:spPr>
        <p:txBody>
          <a:bodyPr wrap="square" lIns="0" rIns="0" tIns="0" bIns="0" anchor="t">
            <a:spAutoFit/>
          </a:bodyPr>
          <a:lstStyle/>
          <a:p>
            <a:pPr algn="l">
              <a:lnSpc>
                <a:spcPct val="124000"/>
              </a:lnSpc>
              <a:spcAft>
                <a:spcPts val="600"/>
              </a:spcAft>
            </a:pPr>
            <a:r>
              <a:rPr sz="1254" b="0" i="0">
                <a:solidFill>
                  <a:srgbClr val="334657"/>
                </a:solidFill>
                <a:latin typeface="Calibri"/>
              </a:rPr>
              <a:t>What you were trying to do, what you typed, what it said back. Those three things, in that order.</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A4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868680"/>
            <a:ext cx="10820095" cy="310896"/>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END-OF-SESSION QUIZ  ·  WEEK 2</a:t>
            </a:r>
          </a:p>
        </p:txBody>
      </p:sp>
      <p:sp>
        <p:nvSpPr>
          <p:cNvPr id="4" name="TextBox 3"/>
          <p:cNvSpPr txBox="1"/>
          <p:nvPr/>
        </p:nvSpPr>
        <p:spPr>
          <a:xfrm>
            <a:off x="685800" y="1325880"/>
            <a:ext cx="6766560" cy="1371600"/>
          </a:xfrm>
          <a:prstGeom prst="rect">
            <a:avLst/>
          </a:prstGeom>
          <a:noFill/>
        </p:spPr>
        <p:txBody>
          <a:bodyPr wrap="square" lIns="0" rIns="0" tIns="0" bIns="0" anchor="t">
            <a:spAutoFit/>
          </a:bodyPr>
          <a:lstStyle/>
          <a:p>
            <a:pPr algn="l">
              <a:lnSpc>
                <a:spcPct val="105000"/>
              </a:lnSpc>
              <a:spcAft>
                <a:spcPts val="600"/>
              </a:spcAft>
            </a:pPr>
            <a:r>
              <a:rPr sz="4000" b="1" i="0">
                <a:solidFill>
                  <a:srgbClr val="FFFFFF"/>
                </a:solidFill>
                <a:latin typeface="Cambria"/>
              </a:rPr>
              <a:t>Five questions,</a:t>
            </a:r>
          </a:p>
          <a:p>
            <a:pPr algn="l">
              <a:lnSpc>
                <a:spcPct val="105000"/>
              </a:lnSpc>
              <a:spcAft>
                <a:spcPts val="600"/>
              </a:spcAft>
            </a:pPr>
            <a:r>
              <a:rPr sz="4000" b="1" i="0">
                <a:solidFill>
                  <a:srgbClr val="FFFFFF"/>
                </a:solidFill>
                <a:latin typeface="Cambria"/>
              </a:rPr>
              <a:t>five minutes</a:t>
            </a:r>
          </a:p>
        </p:txBody>
      </p:sp>
      <p:sp>
        <p:nvSpPr>
          <p:cNvPr id="5" name="TextBox 4"/>
          <p:cNvSpPr txBox="1"/>
          <p:nvPr/>
        </p:nvSpPr>
        <p:spPr>
          <a:xfrm>
            <a:off x="685800" y="2880360"/>
            <a:ext cx="6766560" cy="816005"/>
          </a:xfrm>
          <a:prstGeom prst="rect">
            <a:avLst/>
          </a:prstGeom>
          <a:noFill/>
        </p:spPr>
        <p:txBody>
          <a:bodyPr wrap="square" lIns="0" rIns="0" tIns="0" bIns="0" anchor="t">
            <a:spAutoFit/>
          </a:bodyPr>
          <a:lstStyle/>
          <a:p>
            <a:pPr algn="l">
              <a:lnSpc>
                <a:spcPct val="125000"/>
              </a:lnSpc>
              <a:spcAft>
                <a:spcPts val="600"/>
              </a:spcAft>
            </a:pPr>
            <a:r>
              <a:rPr sz="1923" b="0" i="0">
                <a:solidFill>
                  <a:srgbClr val="B8C9D8"/>
                </a:solidFill>
                <a:latin typeface="Calibri"/>
              </a:rPr>
              <a:t>Out-of-order execution, what Restart and Run All proves, and reading one git status output.</a:t>
            </a:r>
          </a:p>
        </p:txBody>
      </p:sp>
      <p:sp>
        <p:nvSpPr>
          <p:cNvPr id="6" name="Oval 5"/>
          <p:cNvSpPr/>
          <p:nvPr/>
        </p:nvSpPr>
        <p:spPr>
          <a:xfrm>
            <a:off x="704088" y="4025549"/>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3952397"/>
            <a:ext cx="6492240" cy="729027"/>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Scan the code. First box is your registration number, off your card.</a:t>
            </a:r>
          </a:p>
        </p:txBody>
      </p:sp>
      <p:sp>
        <p:nvSpPr>
          <p:cNvPr id="8" name="Oval 7"/>
          <p:cNvSpPr/>
          <p:nvPr/>
        </p:nvSpPr>
        <p:spPr>
          <a:xfrm>
            <a:off x="704088" y="4818584"/>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745432"/>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One attempt, from the Google account you are signed in to.</a:t>
            </a:r>
          </a:p>
        </p:txBody>
      </p:sp>
      <p:sp>
        <p:nvSpPr>
          <p:cNvPr id="10" name="Oval 9"/>
          <p:cNvSpPr/>
          <p:nvPr/>
        </p:nvSpPr>
        <p:spPr>
          <a:xfrm>
            <a:off x="704088" y="5269966"/>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5196814"/>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Open for 48 hours if the network fails, then it closes itself.</a:t>
            </a:r>
          </a:p>
        </p:txBody>
      </p:sp>
      <p:sp>
        <p:nvSpPr>
          <p:cNvPr id="12" name="Oval 11"/>
          <p:cNvSpPr/>
          <p:nvPr/>
        </p:nvSpPr>
        <p:spPr>
          <a:xfrm>
            <a:off x="704088" y="5721348"/>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648196"/>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One per cent each. Tap View score and read the feedback.</a:t>
            </a:r>
          </a:p>
        </p:txBody>
      </p:sp>
      <p:sp>
        <p:nvSpPr>
          <p:cNvPr id="14" name="Oval 13"/>
          <p:cNvSpPr/>
          <p:nvPr/>
        </p:nvSpPr>
        <p:spPr>
          <a:xfrm>
            <a:off x="704088" y="6172729"/>
            <a:ext cx="109728" cy="109728"/>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6099577"/>
            <a:ext cx="6492240" cy="387373"/>
          </a:xfrm>
          <a:prstGeom prst="rect">
            <a:avLst/>
          </a:prstGeom>
          <a:noFill/>
        </p:spPr>
        <p:txBody>
          <a:bodyPr wrap="square" lIns="0" rIns="0" tIns="0" bIns="0" anchor="t">
            <a:spAutoFit/>
          </a:bodyPr>
          <a:lstStyle/>
          <a:p>
            <a:pPr algn="l">
              <a:lnSpc>
                <a:spcPct val="122000"/>
              </a:lnSpc>
              <a:spcAft>
                <a:spcPts val="600"/>
              </a:spcAft>
            </a:pPr>
            <a:r>
              <a:rPr sz="1769" b="0" i="0">
                <a:solidFill>
                  <a:srgbClr val="A8BCCE"/>
                </a:solidFill>
                <a:latin typeface="Calibri"/>
              </a:rPr>
              <a:t>Twelve this semester, best ten count. No resits.</a:t>
            </a:r>
          </a:p>
        </p:txBody>
      </p:sp>
      <p:sp>
        <p:nvSpPr>
          <p:cNvPr id="16" name="Rectangle 15"/>
          <p:cNvSpPr/>
          <p:nvPr/>
        </p:nvSpPr>
        <p:spPr>
          <a:xfrm>
            <a:off x="8716975" y="1783080"/>
            <a:ext cx="2788920" cy="2788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quiz_CML3113_W02.png"/>
          <p:cNvPicPr>
            <a:picLocks noChangeAspect="1"/>
          </p:cNvPicPr>
          <p:nvPr/>
        </p:nvPicPr>
        <p:blipFill>
          <a:blip r:embed="rId2"/>
          <a:stretch>
            <a:fillRect/>
          </a:stretch>
        </p:blipFill>
        <p:spPr>
          <a:xfrm>
            <a:off x="8826703" y="1892807"/>
            <a:ext cx="2569463" cy="2569463"/>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3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371600"/>
            <a:ext cx="10820095" cy="365760"/>
          </a:xfrm>
          <a:prstGeom prst="rect">
            <a:avLst/>
          </a:prstGeom>
          <a:noFill/>
        </p:spPr>
        <p:txBody>
          <a:bodyPr wrap="square" lIns="0" rIns="0" tIns="0" bIns="0" anchor="t">
            <a:spAutoFit/>
          </a:bodyPr>
          <a:lstStyle/>
          <a:p>
            <a:pPr algn="l">
              <a:spcAft>
                <a:spcPts val="600"/>
              </a:spcAft>
            </a:pPr>
            <a:r>
              <a:rPr sz="1716" b="1" i="0">
                <a:solidFill>
                  <a:srgbClr val="E4572E"/>
                </a:solidFill>
                <a:latin typeface="Calibri"/>
              </a:rPr>
              <a:t>THE ONE THING TO REMEMBER</a:t>
            </a:r>
          </a:p>
        </p:txBody>
      </p:sp>
      <p:sp>
        <p:nvSpPr>
          <p:cNvPr id="4" name="TextBox 3"/>
          <p:cNvSpPr txBox="1"/>
          <p:nvPr/>
        </p:nvSpPr>
        <p:spPr>
          <a:xfrm>
            <a:off x="685800" y="1965960"/>
            <a:ext cx="10820095" cy="2194560"/>
          </a:xfrm>
          <a:prstGeom prst="rect">
            <a:avLst/>
          </a:prstGeom>
          <a:noFill/>
        </p:spPr>
        <p:txBody>
          <a:bodyPr wrap="square" lIns="0" rIns="0" tIns="0" bIns="0" anchor="t">
            <a:spAutoFit/>
          </a:bodyPr>
          <a:lstStyle/>
          <a:p>
            <a:pPr algn="l">
              <a:lnSpc>
                <a:spcPct val="110000"/>
              </a:lnSpc>
              <a:spcAft>
                <a:spcPts val="600"/>
              </a:spcAft>
            </a:pPr>
            <a:r>
              <a:rPr sz="3400" b="1" i="0">
                <a:solidFill>
                  <a:srgbClr val="FFFFFF"/>
                </a:solidFill>
                <a:latin typeface="Cambria"/>
              </a:rPr>
              <a:t>Every error today told you</a:t>
            </a:r>
          </a:p>
          <a:p>
            <a:pPr algn="l">
              <a:lnSpc>
                <a:spcPct val="110000"/>
              </a:lnSpc>
              <a:spcAft>
                <a:spcPts val="600"/>
              </a:spcAft>
            </a:pPr>
            <a:r>
              <a:rPr sz="3400" b="1" i="0">
                <a:solidFill>
                  <a:srgbClr val="FFFFFF"/>
                </a:solidFill>
                <a:latin typeface="Cambria"/>
              </a:rPr>
              <a:t>exactly what it needed.</a:t>
            </a:r>
          </a:p>
        </p:txBody>
      </p:sp>
      <p:sp>
        <p:nvSpPr>
          <p:cNvPr id="5" name="TextBox 4"/>
          <p:cNvSpPr txBox="1"/>
          <p:nvPr/>
        </p:nvSpPr>
        <p:spPr>
          <a:xfrm>
            <a:off x="685800" y="4434840"/>
            <a:ext cx="10820095" cy="1188720"/>
          </a:xfrm>
          <a:prstGeom prst="rect">
            <a:avLst/>
          </a:prstGeom>
          <a:noFill/>
        </p:spPr>
        <p:txBody>
          <a:bodyPr wrap="square" lIns="0" rIns="0" tIns="0" bIns="0" anchor="t">
            <a:spAutoFit/>
          </a:bodyPr>
          <a:lstStyle/>
          <a:p>
            <a:pPr algn="l">
              <a:lnSpc>
                <a:spcPct val="125000"/>
              </a:lnSpc>
              <a:spcAft>
                <a:spcPts val="600"/>
              </a:spcAft>
            </a:pPr>
            <a:r>
              <a:rPr sz="2021" b="0" i="0">
                <a:solidFill>
                  <a:srgbClr val="B8C9D8"/>
                </a:solidFill>
                <a:latin typeface="Calibri"/>
              </a:rPr>
              <a:t>Everything you saw go wrong today has gone wrong for every engineer in this building, including me, this week. The skill is not avoiding errors — it is reading them and carrying on.</a:t>
            </a:r>
          </a:p>
        </p:txBody>
      </p:sp>
      <p:sp>
        <p:nvSpPr>
          <p:cNvPr id="6" name="TextBox 5"/>
          <p:cNvSpPr txBox="1"/>
          <p:nvPr/>
        </p:nvSpPr>
        <p:spPr>
          <a:xfrm>
            <a:off x="685800" y="5943600"/>
            <a:ext cx="10820095" cy="365760"/>
          </a:xfrm>
          <a:prstGeom prst="rect">
            <a:avLst/>
          </a:prstGeom>
          <a:noFill/>
        </p:spPr>
        <p:txBody>
          <a:bodyPr wrap="square" lIns="0" rIns="0" tIns="0" bIns="0" anchor="t">
            <a:spAutoFit/>
          </a:bodyPr>
          <a:lstStyle/>
          <a:p>
            <a:pPr algn="l">
              <a:spcAft>
                <a:spcPts val="600"/>
              </a:spcAft>
            </a:pPr>
            <a:r>
              <a:rPr sz="1452" b="0" i="0">
                <a:solidFill>
                  <a:srgbClr val="7E93A6"/>
                </a:solidFill>
                <a:latin typeface="Calibri"/>
              </a:rPr>
              <a:t>Next week: Python as an engineering calculator, using formulas you already know.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