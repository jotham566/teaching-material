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594121ff0974926" /><Relationship Type="http://schemas.openxmlformats.org/officeDocument/2006/relationships/extended-properties" Target="/docProps/app.xml" Id="R3ecbe394dabe4675" /><Relationship Type="http://schemas.openxmlformats.org/officeDocument/2006/relationships/officeDocument" Target="/ppt/presentation.xml" Id="Rad8345061ece473a" /></Relationships>
</file>

<file path=ppt/presentation.xml><?xml version="1.0" encoding="utf-8"?>
<p:presentation xmlns:p="http://schemas.openxmlformats.org/presentationml/2006/main">
  <p:sldMasterIdLst>
    <p:sldMasterId xmlns:r="http://schemas.openxmlformats.org/officeDocument/2006/relationships" id="2147483648" r:id="Rcdb2a39837704f3d"/>
  </p:sldMasterIdLst>
  <p:notesMasterIdLst>
    <p:notesMasterId xmlns:r="http://schemas.openxmlformats.org/officeDocument/2006/relationships" r:id="R2fca571a7c6147e3"/>
  </p:notesMasterIdLst>
  <p:sldIdLst>
    <p:sldId xmlns:r="http://schemas.openxmlformats.org/officeDocument/2006/relationships" id="256" r:id="R5a89fb0faa5e4fe5"/>
    <p:sldId xmlns:r="http://schemas.openxmlformats.org/officeDocument/2006/relationships" id="257" r:id="Rd76669bf061344da"/>
    <p:sldId xmlns:r="http://schemas.openxmlformats.org/officeDocument/2006/relationships" id="258" r:id="R9ed6038afd4e4d7c"/>
    <p:sldId xmlns:r="http://schemas.openxmlformats.org/officeDocument/2006/relationships" id="259" r:id="R09f7fbf693d94f82"/>
    <p:sldId xmlns:r="http://schemas.openxmlformats.org/officeDocument/2006/relationships" id="260" r:id="Rb2d83e3e073744ec"/>
    <p:sldId xmlns:r="http://schemas.openxmlformats.org/officeDocument/2006/relationships" id="261" r:id="Raa35a9836531494d"/>
    <p:sldId xmlns:r="http://schemas.openxmlformats.org/officeDocument/2006/relationships" id="262" r:id="Ra048a457bdc343a3"/>
    <p:sldId xmlns:r="http://schemas.openxmlformats.org/officeDocument/2006/relationships" id="263" r:id="R7ebdf5e245174375"/>
    <p:sldId xmlns:r="http://schemas.openxmlformats.org/officeDocument/2006/relationships" id="264" r:id="R7109c0c86c184cba"/>
    <p:sldId xmlns:r="http://schemas.openxmlformats.org/officeDocument/2006/relationships" id="265" r:id="Rf32765ff40f64e89"/>
    <p:sldId xmlns:r="http://schemas.openxmlformats.org/officeDocument/2006/relationships" id="266" r:id="R6f70c149c3a94714"/>
    <p:sldId xmlns:r="http://schemas.openxmlformats.org/officeDocument/2006/relationships" id="267" r:id="Rc4820e86169c4e33"/>
    <p:sldId xmlns:r="http://schemas.openxmlformats.org/officeDocument/2006/relationships" id="268" r:id="R9f3f4ec78f3e4469"/>
    <p:sldId xmlns:r="http://schemas.openxmlformats.org/officeDocument/2006/relationships" id="269" r:id="R8ccb3adf47c041c6"/>
    <p:sldId xmlns:r="http://schemas.openxmlformats.org/officeDocument/2006/relationships" id="270" r:id="R68990515d996419e"/>
    <p:sldId xmlns:r="http://schemas.openxmlformats.org/officeDocument/2006/relationships" id="271" r:id="Rf72a670f3d1d47e3"/>
    <p:sldId xmlns:r="http://schemas.openxmlformats.org/officeDocument/2006/relationships" id="272" r:id="R575e0587a94243f1"/>
    <p:sldId xmlns:r="http://schemas.openxmlformats.org/officeDocument/2006/relationships" id="273" r:id="R6afbfbb2e0244f54"/>
    <p:sldId xmlns:r="http://schemas.openxmlformats.org/officeDocument/2006/relationships" id="274" r:id="R68d635d2cc98481b"/>
    <p:sldId xmlns:r="http://schemas.openxmlformats.org/officeDocument/2006/relationships" id="275" r:id="R82b2277e77a74579"/>
    <p:sldId xmlns:r="http://schemas.openxmlformats.org/officeDocument/2006/relationships" id="276" r:id="R5205ba4206054305"/>
    <p:sldId xmlns:r="http://schemas.openxmlformats.org/officeDocument/2006/relationships" id="277" r:id="R168cebcebd494b22"/>
    <p:sldId xmlns:r="http://schemas.openxmlformats.org/officeDocument/2006/relationships" id="278" r:id="R2cab1145ac1841f4"/>
    <p:sldId xmlns:r="http://schemas.openxmlformats.org/officeDocument/2006/relationships" id="279" r:id="Ra7b704e7f16b48f4"/>
    <p:sldId xmlns:r="http://schemas.openxmlformats.org/officeDocument/2006/relationships" id="280" r:id="Rb48be1769d3440fa"/>
    <p:sldId xmlns:r="http://schemas.openxmlformats.org/officeDocument/2006/relationships" id="281" r:id="R194df7df52fc4961"/>
    <p:sldId xmlns:r="http://schemas.openxmlformats.org/officeDocument/2006/relationships" id="282" r:id="Rb6143c37d53d464b"/>
    <p:sldId xmlns:r="http://schemas.openxmlformats.org/officeDocument/2006/relationships" id="283" r:id="R952aaaf245434dd8"/>
    <p:sldId xmlns:r="http://schemas.openxmlformats.org/officeDocument/2006/relationships" id="284" r:id="Rf577e48b776f46ee"/>
    <p:sldId xmlns:r="http://schemas.openxmlformats.org/officeDocument/2006/relationships" id="285" r:id="Recdde4eb66f14573"/>
    <p:sldId xmlns:r="http://schemas.openxmlformats.org/officeDocument/2006/relationships" id="286" r:id="Re809823786964a6c"/>
    <p:sldId xmlns:r="http://schemas.openxmlformats.org/officeDocument/2006/relationships" id="287" r:id="Rfa094111a7b54401"/>
    <p:sldId xmlns:r="http://schemas.openxmlformats.org/officeDocument/2006/relationships" id="288" r:id="R98dcdd2a5eef48cf"/>
    <p:sldId xmlns:r="http://schemas.openxmlformats.org/officeDocument/2006/relationships" id="289" r:id="Re3230b6f0643481c"/>
    <p:sldId xmlns:r="http://schemas.openxmlformats.org/officeDocument/2006/relationships" id="290" r:id="R36562300c6a34385"/>
    <p:sldId xmlns:r="http://schemas.openxmlformats.org/officeDocument/2006/relationships" id="291" r:id="Rfaef4bd8cc0a42ff"/>
    <p:sldId xmlns:r="http://schemas.openxmlformats.org/officeDocument/2006/relationships" id="292" r:id="R548fb59435354d37"/>
    <p:sldId xmlns:r="http://schemas.openxmlformats.org/officeDocument/2006/relationships" id="293" r:id="R0e77e015354a4d0a"/>
    <p:sldId xmlns:r="http://schemas.openxmlformats.org/officeDocument/2006/relationships" id="294" r:id="R5c36938dc3fe4a09"/>
    <p:sldId xmlns:r="http://schemas.openxmlformats.org/officeDocument/2006/relationships" id="295" r:id="R3d5beb6a29eb4d8f"/>
    <p:sldId xmlns:r="http://schemas.openxmlformats.org/officeDocument/2006/relationships" id="296" r:id="R0aa5a79b82e541ca"/>
    <p:sldId xmlns:r="http://schemas.openxmlformats.org/officeDocument/2006/relationships" id="297" r:id="Rceeb684d2c2e4861"/>
    <p:sldId xmlns:r="http://schemas.openxmlformats.org/officeDocument/2006/relationships" id="298" r:id="Rfd249981ed7c483d"/>
    <p:sldId xmlns:r="http://schemas.openxmlformats.org/officeDocument/2006/relationships" id="299" r:id="R8e5dcef3b9664d8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47b734b7c7d4bff" /><Relationship Type="http://schemas.openxmlformats.org/officeDocument/2006/relationships/slideMaster" Target="/ppt/slideMasters/slideMaster1.xml" Id="Rcdb2a39837704f3d" /><Relationship Type="http://schemas.openxmlformats.org/officeDocument/2006/relationships/notesMaster" Target="/ppt/notesMasters/notesMaster1.xml" Id="R2fca571a7c6147e3" /><Relationship Type="http://schemas.openxmlformats.org/officeDocument/2006/relationships/presProps" Target="/ppt/presProps.xml" Id="R80bda826f3c6496a" /><Relationship Type="http://schemas.openxmlformats.org/officeDocument/2006/relationships/tableStyles" Target="/ppt/tableStyles.xml" Id="R37326dded8e047e3" /><Relationship Type="http://schemas.openxmlformats.org/officeDocument/2006/relationships/slide" Target="/ppt/slides/slide1.xml" Id="R5a89fb0faa5e4fe5" /><Relationship Type="http://schemas.openxmlformats.org/officeDocument/2006/relationships/slide" Target="/ppt/slides/slide2.xml" Id="Rd76669bf061344da" /><Relationship Type="http://schemas.openxmlformats.org/officeDocument/2006/relationships/slide" Target="/ppt/slides/slide3.xml" Id="R9ed6038afd4e4d7c" /><Relationship Type="http://schemas.openxmlformats.org/officeDocument/2006/relationships/slide" Target="/ppt/slides/slide4.xml" Id="R09f7fbf693d94f82" /><Relationship Type="http://schemas.openxmlformats.org/officeDocument/2006/relationships/slide" Target="/ppt/slides/slide5.xml" Id="Rb2d83e3e073744ec" /><Relationship Type="http://schemas.openxmlformats.org/officeDocument/2006/relationships/slide" Target="/ppt/slides/slide6.xml" Id="Raa35a9836531494d" /><Relationship Type="http://schemas.openxmlformats.org/officeDocument/2006/relationships/slide" Target="/ppt/slides/slide7.xml" Id="Ra048a457bdc343a3" /><Relationship Type="http://schemas.openxmlformats.org/officeDocument/2006/relationships/slide" Target="/ppt/slides/slide8.xml" Id="R7ebdf5e245174375" /><Relationship Type="http://schemas.openxmlformats.org/officeDocument/2006/relationships/slide" Target="/ppt/slides/slide9.xml" Id="R7109c0c86c184cba" /><Relationship Type="http://schemas.openxmlformats.org/officeDocument/2006/relationships/slide" Target="/ppt/slides/slide10.xml" Id="Rf32765ff40f64e89" /><Relationship Type="http://schemas.openxmlformats.org/officeDocument/2006/relationships/slide" Target="/ppt/slides/slide11.xml" Id="R6f70c149c3a94714" /><Relationship Type="http://schemas.openxmlformats.org/officeDocument/2006/relationships/slide" Target="/ppt/slides/slide12.xml" Id="Rc4820e86169c4e33" /><Relationship Type="http://schemas.openxmlformats.org/officeDocument/2006/relationships/slide" Target="/ppt/slides/slide13.xml" Id="R9f3f4ec78f3e4469" /><Relationship Type="http://schemas.openxmlformats.org/officeDocument/2006/relationships/slide" Target="/ppt/slides/slide14.xml" Id="R8ccb3adf47c041c6" /><Relationship Type="http://schemas.openxmlformats.org/officeDocument/2006/relationships/slide" Target="/ppt/slides/slide15.xml" Id="R68990515d996419e" /><Relationship Type="http://schemas.openxmlformats.org/officeDocument/2006/relationships/slide" Target="/ppt/slides/slide16.xml" Id="Rf72a670f3d1d47e3" /><Relationship Type="http://schemas.openxmlformats.org/officeDocument/2006/relationships/slide" Target="/ppt/slides/slide17.xml" Id="R575e0587a94243f1" /><Relationship Type="http://schemas.openxmlformats.org/officeDocument/2006/relationships/slide" Target="/ppt/slides/slide18.xml" Id="R6afbfbb2e0244f54" /><Relationship Type="http://schemas.openxmlformats.org/officeDocument/2006/relationships/slide" Target="/ppt/slides/slide19.xml" Id="R68d635d2cc98481b" /><Relationship Type="http://schemas.openxmlformats.org/officeDocument/2006/relationships/slide" Target="/ppt/slides/slide20.xml" Id="R82b2277e77a74579" /><Relationship Type="http://schemas.openxmlformats.org/officeDocument/2006/relationships/slide" Target="/ppt/slides/slide21.xml" Id="R5205ba4206054305" /><Relationship Type="http://schemas.openxmlformats.org/officeDocument/2006/relationships/slide" Target="/ppt/slides/slide22.xml" Id="R168cebcebd494b22" /><Relationship Type="http://schemas.openxmlformats.org/officeDocument/2006/relationships/slide" Target="/ppt/slides/slide23.xml" Id="R2cab1145ac1841f4" /><Relationship Type="http://schemas.openxmlformats.org/officeDocument/2006/relationships/slide" Target="/ppt/slides/slide24.xml" Id="Ra7b704e7f16b48f4" /><Relationship Type="http://schemas.openxmlformats.org/officeDocument/2006/relationships/slide" Target="/ppt/slides/slide25.xml" Id="Rb48be1769d3440fa" /><Relationship Type="http://schemas.openxmlformats.org/officeDocument/2006/relationships/slide" Target="/ppt/slides/slide26.xml" Id="R194df7df52fc4961" /><Relationship Type="http://schemas.openxmlformats.org/officeDocument/2006/relationships/slide" Target="/ppt/slides/slide27.xml" Id="Rb6143c37d53d464b" /><Relationship Type="http://schemas.openxmlformats.org/officeDocument/2006/relationships/slide" Target="/ppt/slides/slide28.xml" Id="R952aaaf245434dd8" /><Relationship Type="http://schemas.openxmlformats.org/officeDocument/2006/relationships/slide" Target="/ppt/slides/slide29.xml" Id="Rf577e48b776f46ee" /><Relationship Type="http://schemas.openxmlformats.org/officeDocument/2006/relationships/slide" Target="/ppt/slides/slide30.xml" Id="Recdde4eb66f14573" /><Relationship Type="http://schemas.openxmlformats.org/officeDocument/2006/relationships/slide" Target="/ppt/slides/slide31.xml" Id="Re809823786964a6c" /><Relationship Type="http://schemas.openxmlformats.org/officeDocument/2006/relationships/slide" Target="/ppt/slides/slide32.xml" Id="Rfa094111a7b54401" /><Relationship Type="http://schemas.openxmlformats.org/officeDocument/2006/relationships/slide" Target="/ppt/slides/slide33.xml" Id="R98dcdd2a5eef48cf" /><Relationship Type="http://schemas.openxmlformats.org/officeDocument/2006/relationships/slide" Target="/ppt/slides/slide34.xml" Id="Re3230b6f0643481c" /><Relationship Type="http://schemas.openxmlformats.org/officeDocument/2006/relationships/slide" Target="/ppt/slides/slide35.xml" Id="R36562300c6a34385" /><Relationship Type="http://schemas.openxmlformats.org/officeDocument/2006/relationships/slide" Target="/ppt/slides/slide36.xml" Id="Rfaef4bd8cc0a42ff" /><Relationship Type="http://schemas.openxmlformats.org/officeDocument/2006/relationships/slide" Target="/ppt/slides/slide37.xml" Id="R548fb59435354d37" /><Relationship Type="http://schemas.openxmlformats.org/officeDocument/2006/relationships/slide" Target="/ppt/slides/slide38.xml" Id="R0e77e015354a4d0a" /><Relationship Type="http://schemas.openxmlformats.org/officeDocument/2006/relationships/slide" Target="/ppt/slides/slide39.xml" Id="R5c36938dc3fe4a09" /><Relationship Type="http://schemas.openxmlformats.org/officeDocument/2006/relationships/slide" Target="/ppt/slides/slide40.xml" Id="R3d5beb6a29eb4d8f" /><Relationship Type="http://schemas.openxmlformats.org/officeDocument/2006/relationships/slide" Target="/ppt/slides/slide41.xml" Id="R0aa5a79b82e541ca" /><Relationship Type="http://schemas.openxmlformats.org/officeDocument/2006/relationships/slide" Target="/ppt/slides/slide42.xml" Id="Rceeb684d2c2e4861" /><Relationship Type="http://schemas.openxmlformats.org/officeDocument/2006/relationships/slide" Target="/ppt/slides/slide43.xml" Id="Rfd249981ed7c483d" /><Relationship Type="http://schemas.openxmlformats.org/officeDocument/2006/relationships/slide" Target="/ppt/slides/slide44.xml" Id="R8e5dcef3b9664d8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e47b4495ab64c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efcf6a24d634132" /><Relationship Type="http://schemas.openxmlformats.org/officeDocument/2006/relationships/notesMaster" Target="/ppt/notesMasters/notesMaster1.xml" Id="Rd60e50a6481f4bd5"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ef9a79704748bb" /><Relationship Type="http://schemas.openxmlformats.org/officeDocument/2006/relationships/notesMaster" Target="/ppt/notesMasters/notesMaster1.xml" Id="Rb9a4865ee6c34d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7bb71fc66b4801" /><Relationship Type="http://schemas.openxmlformats.org/officeDocument/2006/relationships/notesMaster" Target="/ppt/notesMasters/notesMaster1.xml" Id="R525060cad3fd4d4f" /></Relationships>
</file>

<file path=ppt/notesSlides/_rels/notesSlide4.xml.rels>&#65279;<?xml version="1.0" encoding="utf-8"?><Relationships xmlns="http://schemas.openxmlformats.org/package/2006/relationships"><Relationship Type="http://schemas.openxmlformats.org/officeDocument/2006/relationships/slide" Target="/ppt/slides/slide4.xml" Id="R83ecee4cdf1b4472" /><Relationship Type="http://schemas.openxmlformats.org/officeDocument/2006/relationships/notesMaster" Target="/ppt/notesMasters/notesMaster1.xml" Id="Rb0e700cefa564040" /></Relationships>
</file>

<file path=ppt/notesSlides/_rels/notesSlide5.xml.rels>&#65279;<?xml version="1.0" encoding="utf-8"?><Relationships xmlns="http://schemas.openxmlformats.org/package/2006/relationships"><Relationship Type="http://schemas.openxmlformats.org/officeDocument/2006/relationships/slide" Target="/ppt/slides/slide5.xml" Id="R6786b8bf69f442df" /><Relationship Type="http://schemas.openxmlformats.org/officeDocument/2006/relationships/notesMaster" Target="/ppt/notesMasters/notesMaster1.xml" Id="Re6b0d9b853f24cfa" /></Relationships>
</file>

<file path=ppt/notesSlides/_rels/notesSlide6.xml.rels>&#65279;<?xml version="1.0" encoding="utf-8"?><Relationships xmlns="http://schemas.openxmlformats.org/package/2006/relationships"><Relationship Type="http://schemas.openxmlformats.org/officeDocument/2006/relationships/slide" Target="/ppt/slides/slide6.xml" Id="R63bccae9968348b6" /><Relationship Type="http://schemas.openxmlformats.org/officeDocument/2006/relationships/notesMaster" Target="/ppt/notesMasters/notesMaster1.xml" Id="R117161c784a049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2cf26f2ae62e4cfc" /><Relationship Type="http://schemas.openxmlformats.org/officeDocument/2006/relationships/notesMaster" Target="/ppt/notesMasters/notesMaster1.xml" Id="Rd77e0c1e4d824b28" /></Relationships>
</file>

<file path=ppt/notesSlides/_rels/notesSlide8.xml.rels>&#65279;<?xml version="1.0" encoding="utf-8"?><Relationships xmlns="http://schemas.openxmlformats.org/package/2006/relationships"><Relationship Type="http://schemas.openxmlformats.org/officeDocument/2006/relationships/slide" Target="/ppt/slides/slide8.xml" Id="Rb80fb757851e4b77" /><Relationship Type="http://schemas.openxmlformats.org/officeDocument/2006/relationships/notesMaster" Target="/ppt/notesMasters/notesMaster1.xml" Id="R21819cfd86ac4d0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07da2e8f9fa46a7" /><Relationship Type="http://schemas.openxmlformats.org/officeDocument/2006/relationships/notesMaster" Target="/ppt/notesMasters/notesMaster1.xml" Id="R74fccfcbfda34ac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aded8bb319e406f" /><Relationship Type="http://schemas.openxmlformats.org/officeDocument/2006/relationships/notesMaster" Target="/ppt/notesMasters/notesMaster1.xml" Id="R63c3a0bc4a9b4f1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7d8927b7f8d4d0f" /><Relationship Type="http://schemas.openxmlformats.org/officeDocument/2006/relationships/notesMaster" Target="/ppt/notesMasters/notesMaster1.xml" Id="Rdbb7bc2eae57456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61811c460754c7b" /><Relationship Type="http://schemas.openxmlformats.org/officeDocument/2006/relationships/notesMaster" Target="/ppt/notesMasters/notesMaster1.xml" Id="R299a44fc637040a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1fd8e1552d64808" /><Relationship Type="http://schemas.openxmlformats.org/officeDocument/2006/relationships/notesMaster" Target="/ppt/notesMasters/notesMaster1.xml" Id="R0c38abb401634bb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87a378dfaaa4637" /><Relationship Type="http://schemas.openxmlformats.org/officeDocument/2006/relationships/notesMaster" Target="/ppt/notesMasters/notesMaster1.xml" Id="R8762cfd885ee432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7ffbc313e204829" /><Relationship Type="http://schemas.openxmlformats.org/officeDocument/2006/relationships/notesMaster" Target="/ppt/notesMasters/notesMaster1.xml" Id="R645a46ab91e74a4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8282db18ae8499f" /><Relationship Type="http://schemas.openxmlformats.org/officeDocument/2006/relationships/notesMaster" Target="/ppt/notesMasters/notesMaster1.xml" Id="Ra53ec9685cab422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deb3290895045cb" /><Relationship Type="http://schemas.openxmlformats.org/officeDocument/2006/relationships/notesMaster" Target="/ppt/notesMasters/notesMaster1.xml" Id="R4e1f9f9475c24d5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966af217b9f4ff0" /><Relationship Type="http://schemas.openxmlformats.org/officeDocument/2006/relationships/notesMaster" Target="/ppt/notesMasters/notesMaster1.xml" Id="Reebb0575d34e4cb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570f07325cc44ac" /><Relationship Type="http://schemas.openxmlformats.org/officeDocument/2006/relationships/notesMaster" Target="/ppt/notesMasters/notesMaster1.xml" Id="Rdbae6cbd0ec540e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122dc568fef49fd" /><Relationship Type="http://schemas.openxmlformats.org/officeDocument/2006/relationships/notesMaster" Target="/ppt/notesMasters/notesMaster1.xml" Id="R26fe5d26e7bc479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49fca9ca7244ef4" /><Relationship Type="http://schemas.openxmlformats.org/officeDocument/2006/relationships/notesMaster" Target="/ppt/notesMasters/notesMaster1.xml" Id="Rd60ee7a1217b481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802002af88c4320" /><Relationship Type="http://schemas.openxmlformats.org/officeDocument/2006/relationships/notesMaster" Target="/ppt/notesMasters/notesMaster1.xml" Id="Rb00b8a5651bc4da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16338472ffc4599" /><Relationship Type="http://schemas.openxmlformats.org/officeDocument/2006/relationships/notesMaster" Target="/ppt/notesMasters/notesMaster1.xml" Id="Rb9ad2061e92a40b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adc7de562a3423e" /><Relationship Type="http://schemas.openxmlformats.org/officeDocument/2006/relationships/notesMaster" Target="/ppt/notesMasters/notesMaster1.xml" Id="Re358b383cd0d406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7881ec722ad431d" /><Relationship Type="http://schemas.openxmlformats.org/officeDocument/2006/relationships/notesMaster" Target="/ppt/notesMasters/notesMaster1.xml" Id="Rf8be150df95d4d4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df27a8b28c94ba8" /><Relationship Type="http://schemas.openxmlformats.org/officeDocument/2006/relationships/notesMaster" Target="/ppt/notesMasters/notesMaster1.xml" Id="Redd540d06d29481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d5768ca13164017" /><Relationship Type="http://schemas.openxmlformats.org/officeDocument/2006/relationships/notesMaster" Target="/ppt/notesMasters/notesMaster1.xml" Id="Refeca150c3564e0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65754633f9d4ff0" /><Relationship Type="http://schemas.openxmlformats.org/officeDocument/2006/relationships/notesMaster" Target="/ppt/notesMasters/notesMaster1.xml" Id="R07e652b5b56f4d0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f90f26741c844cc" /><Relationship Type="http://schemas.openxmlformats.org/officeDocument/2006/relationships/notesMaster" Target="/ppt/notesMasters/notesMaster1.xml" Id="Rb8692de9715f4ce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77f19d9ff3f4e8a" /><Relationship Type="http://schemas.openxmlformats.org/officeDocument/2006/relationships/notesMaster" Target="/ppt/notesMasters/notesMaster1.xml" Id="R067c66ed0cfb438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2c41ef0309c4fd8" /><Relationship Type="http://schemas.openxmlformats.org/officeDocument/2006/relationships/notesMaster" Target="/ppt/notesMasters/notesMaster1.xml" Id="Ra410dd79caff48e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388f038b46f47c9" /><Relationship Type="http://schemas.openxmlformats.org/officeDocument/2006/relationships/notesMaster" Target="/ppt/notesMasters/notesMaster1.xml" Id="Rcae116405333418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06c566b5d664641" /><Relationship Type="http://schemas.openxmlformats.org/officeDocument/2006/relationships/notesMaster" Target="/ppt/notesMasters/notesMaster1.xml" Id="Rf34bed813e52470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81ab5df8ec0479f" /><Relationship Type="http://schemas.openxmlformats.org/officeDocument/2006/relationships/notesMaster" Target="/ppt/notesMasters/notesMaster1.xml" Id="Rbae1239b7a704ac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4b7de34cde14dc5" /><Relationship Type="http://schemas.openxmlformats.org/officeDocument/2006/relationships/notesMaster" Target="/ppt/notesMasters/notesMaster1.xml" Id="R42a56b61405348d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c10a7455cf24a54" /><Relationship Type="http://schemas.openxmlformats.org/officeDocument/2006/relationships/notesMaster" Target="/ppt/notesMasters/notesMaster1.xml" Id="Rf29cb70863ac4e8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36d9bd50ba54cb2" /><Relationship Type="http://schemas.openxmlformats.org/officeDocument/2006/relationships/notesMaster" Target="/ppt/notesMasters/notesMaster1.xml" Id="R3fa275034fcd415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73c6dd4ad8e46d1" /><Relationship Type="http://schemas.openxmlformats.org/officeDocument/2006/relationships/notesMaster" Target="/ppt/notesMasters/notesMaster1.xml" Id="R7bc5ca688fa04a8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c893220a1c54a4a" /><Relationship Type="http://schemas.openxmlformats.org/officeDocument/2006/relationships/notesMaster" Target="/ppt/notesMasters/notesMaster1.xml" Id="Rd27055645cd1459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006f669236348b4" /><Relationship Type="http://schemas.openxmlformats.org/officeDocument/2006/relationships/notesMaster" Target="/ppt/notesMasters/notesMaster1.xml" Id="R61db2e31642844f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9d75095479946e2" /><Relationship Type="http://schemas.openxmlformats.org/officeDocument/2006/relationships/notesMaster" Target="/ppt/notesMasters/notesMaster1.xml" Id="R7e7aa5e20f9f4ee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566a1c6ec2941e7" /><Relationship Type="http://schemas.openxmlformats.org/officeDocument/2006/relationships/notesMaster" Target="/ppt/notesMasters/notesMaster1.xml" Id="Re785d7efade7449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df1095a5bae4426" /><Relationship Type="http://schemas.openxmlformats.org/officeDocument/2006/relationships/notesMaster" Target="/ppt/notesMasters/notesMaster1.xml" Id="R8c51070ed2ac4f4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27c15349e6045ae" /><Relationship Type="http://schemas.openxmlformats.org/officeDocument/2006/relationships/notesMaster" Target="/ppt/notesMasters/notesMaster1.xml" Id="R2bf0a80436934c85"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Running and saving your first notebook</a:t>
            </a:r>
          </a:p>
          <a:p>
            <a:r>
              <a:t>CML3111, Week 2, slide 1</a:t>
            </a:r>
          </a:p>
          <a:p>
            <a:r>
              <a:t/>
            </a:r>
          </a:p>
          <a:p>
            <a:r>
              <a:t>Explanation to give</a:t>
            </a:r>
          </a:p>
          <a:p>
            <a:r>
              <a:t>Today the learner creates, runs, saves and submits a notebook. Separate those actions so a successful run is not mistaken for a saved or submitted file.</a:t>
            </a:r>
          </a:p>
          <a:p>
            <a:r>
              <a:t/>
            </a:r>
          </a:p>
          <a:p>
            <a:r>
              <a:t>Worked illustration / lecturer answer</a:t>
            </a:r>
          </a:p>
          <a:p>
            <a:r>
              <a:t>The runtime remembers readings = 12. One update adding 5 gives 17; repeating only that update gives 22. A fresh run starts at 12 again.</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2, slide 2</a:t>
            </a:r>
          </a:p>
          <a:p>
            <a:r>
              <a:t/>
            </a:r>
          </a:p>
          <a:p>
            <a:r>
              <a:t>Explanation to give</a:t>
            </a:r>
          </a:p>
          <a:p>
            <a:r>
              <a:t>Today the learner creates, runs, saves and submits a notebook. Separate those actions so a successful run is not mistaken for a saved or submitted file.</a:t>
            </a:r>
          </a:p>
          <a:p>
            <a:r>
              <a:t/>
            </a:r>
          </a:p>
          <a:p>
            <a:r>
              <a:t>Worked illustration / lecturer answer</a:t>
            </a:r>
          </a:p>
          <a:p>
            <a:r>
              <a:t>The runtime remembers readings = 12. One update adding 5 gives 17; repeating only that update gives 22. A fresh run starts at 12 again.</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Run a code cell and find its output.</a:t>
            </a:r>
          </a:p>
          <a:p>
            <a:r>
              <a:t/>
            </a:r>
          </a:p>
          <a:p>
            <a:r>
              <a:t>Restart, save and reopen your main notebook.</a:t>
            </a:r>
          </a:p>
          <a:p>
            <a:r>
              <a:t/>
            </a:r>
          </a:p>
          <a:p>
            <a:r>
              <a:t>Continue to</a:t>
            </a:r>
          </a:p>
          <a:p>
            <a:r>
              <a:t>Week 2 includes your Week 1 catch-up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2 includes your Week 1 catch-up</a:t>
            </a:r>
          </a:p>
          <a:p>
            <a:r>
              <a:t>CML3111, Week 2, slide 3</a:t>
            </a:r>
          </a:p>
          <a:p>
            <a:r>
              <a:t/>
            </a:r>
          </a:p>
          <a:p>
            <a:r>
              <a:t>Explanation to give</a:t>
            </a:r>
          </a:p>
          <a:p>
            <a:r>
              <a:t>Separate the four tasks so students do not combine unrelated uploads: A1 report, Quiz 1, A2 notebook and README, and Quiz 2.</a:t>
            </a:r>
          </a:p>
          <a:p>
            <a:r>
              <a:t/>
            </a:r>
          </a:p>
          <a:p>
            <a:r>
              <a:t>Worked illustration / lecturer answer</a:t>
            </a:r>
          </a:p>
          <a:p>
            <a:r>
              <a:t>Show each matching title and link. A1 and A2 are assignment forms; the quizzes record responses separately and have their own 24-hour activations.</a:t>
            </a:r>
          </a:p>
          <a:p>
            <a:r>
              <a:t/>
            </a:r>
          </a:p>
          <a:p>
            <a:r>
              <a:t>Misconception to address</a:t>
            </a:r>
          </a:p>
          <a:p>
            <a:r>
              <a:t>A1 catch-up is still required even though the class is now studying Week 2. Read the current live deadlines rather than calculating from an old slide date.</a:t>
            </a:r>
          </a:p>
          <a:p>
            <a:r>
              <a:t/>
            </a:r>
          </a:p>
          <a:p>
            <a:r>
              <a:t>On this slide</a:t>
            </a:r>
          </a:p>
          <a:p>
            <a:r>
              <a:t>Complete A1, the Week 1 three-problems assignment, and submit it using the A1 link.</a:t>
            </a:r>
          </a:p>
          <a:p>
            <a:r>
              <a:t/>
            </a:r>
          </a:p>
          <a:p>
            <a:r>
              <a:t>Take Quiz 1 when your lecturer activates it. It is separate from the A1 upload.</a:t>
            </a:r>
          </a:p>
          <a:p>
            <a:r>
              <a:t/>
            </a:r>
          </a:p>
          <a:p>
            <a:r>
              <a:t>Also complete today’s A2 notebook and README, and take Quiz 2 when activated. These are four separate tasks.</a:t>
            </a:r>
          </a:p>
          <a:p>
            <a:r>
              <a:t/>
            </a:r>
          </a:p>
          <a:p>
            <a:r>
              <a:t>Continue to</a:t>
            </a:r>
          </a:p>
          <a:p>
            <a:r>
              <a:t>Recall and a first attempt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Recall and a first attempt</a:t>
            </a:r>
          </a:p>
          <a:p>
            <a:r>
              <a:t>CML3111, Week 2, slide 4</a:t>
            </a:r>
          </a:p>
          <a:p>
            <a:r>
              <a:t/>
            </a:r>
          </a:p>
          <a:p>
            <a:r>
              <a:t>Explanation to give</a:t>
            </a:r>
          </a:p>
          <a:p>
            <a:r>
              <a:t>Today the learner creates, runs, saves and submits a notebook. Separate those actions so a successful run is not mistaken for a saved or submitted file.</a:t>
            </a:r>
          </a:p>
          <a:p>
            <a:r>
              <a:t/>
            </a:r>
          </a:p>
          <a:p>
            <a:r>
              <a:t>Worked illustration / lecturer answer</a:t>
            </a:r>
          </a:p>
          <a:p>
            <a:r>
              <a:t>The runtime remembers readings = 12. One update adding 5 gives 17; repeating only that update gives 22. A fresh run starts at 12 again.</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desk is 1.2 metres long. The number is 1.2 and the unit is metres. What other measurements can you describe this way?</a:t>
            </a:r>
          </a:p>
          <a:p>
            <a:r>
              <a:t/>
            </a:r>
          </a:p>
          <a:p>
            <a:r>
              <a:t>Continue to</a:t>
            </a:r>
          </a:p>
          <a:p>
            <a:r>
              <a:t>The engineering context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engineering context</a:t>
            </a:r>
          </a:p>
          <a:p>
            <a:r>
              <a:t>CML3111, Week 2, slide 5</a:t>
            </a:r>
          </a:p>
          <a:p>
            <a:r>
              <a:t/>
            </a:r>
          </a:p>
          <a:p>
            <a:r>
              <a:t>Explanation to give</a:t>
            </a:r>
          </a:p>
          <a:p>
            <a:r>
              <a:t>Use an electrical device as the physical reference. Voltage is measured in volts, current in amperes and power in watts. State what each quantity describes before multiplying them.</a:t>
            </a:r>
          </a:p>
          <a:p>
            <a:r>
              <a:t/>
            </a:r>
          </a:p>
          <a:p>
            <a:r>
              <a:t>Worked illustration / lecturer answer</a:t>
            </a:r>
          </a:p>
          <a:p>
            <a:r>
              <a:t>Show motor_test_bench.csv in the runtime Files panel. The Week 2 file has four rows for setup; Week 4 uses its own 300-row file. Inspect the header to locate this cohort’s reading field and group field.</a:t>
            </a:r>
          </a:p>
          <a:p>
            <a:r>
              <a:t/>
            </a:r>
          </a:p>
          <a:p>
            <a:r>
              <a:t>Misconception to address</a:t>
            </a:r>
          </a:p>
          <a:p>
            <a:r>
              <a:t>Do not confuse input voltage with resistance or energy with power. Read the exact programme task and its units before substituting numbers.</a:t>
            </a:r>
          </a:p>
          <a:p>
            <a:r>
              <a:t/>
            </a:r>
          </a:p>
          <a:p>
            <a:r>
              <a:t>On this slide</a:t>
            </a:r>
          </a:p>
          <a:p>
            <a:r>
              <a:t>A team records device temperature to investigate cooling.</a:t>
            </a:r>
          </a:p>
          <a:p>
            <a:r>
              <a:t/>
            </a:r>
          </a:p>
          <a:p>
            <a:r>
              <a:t>Use a communications cabinet, an electrical enclosure or a robot controller as the physical example.</a:t>
            </a:r>
          </a:p>
          <a:p>
            <a:r>
              <a:t/>
            </a:r>
          </a:p>
          <a:p>
            <a:r>
              <a:t>No specialist hardware knowledge is assumed.</a:t>
            </a:r>
          </a:p>
          <a:p>
            <a:r>
              <a:t/>
            </a:r>
          </a:p>
          <a:p>
            <a:r>
              <a:t>Continue to</a:t>
            </a:r>
          </a:p>
          <a:p>
            <a:r>
              <a:t>Measurements become observations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Measurements become observations</a:t>
            </a:r>
          </a:p>
          <a:p>
            <a:r>
              <a:t>CML3111, Week 2, slide 6</a:t>
            </a:r>
          </a:p>
          <a:p>
            <a:r>
              <a:t/>
            </a:r>
          </a:p>
          <a:p>
            <a:r>
              <a:t>Explanation to give</a:t>
            </a:r>
          </a:p>
          <a:p>
            <a:r>
              <a:t>Use an electrical device as the physical reference. Voltage is measured in volts, current in amperes and power in watts. State what each quantity describes before multiplying them.</a:t>
            </a:r>
          </a:p>
          <a:p>
            <a:r>
              <a:t/>
            </a:r>
          </a:p>
          <a:p>
            <a:r>
              <a:t>Worked illustration / lecturer answer</a:t>
            </a:r>
          </a:p>
          <a:p>
            <a:r>
              <a:t>Show motor_test_bench.csv in the runtime Files panel. The Week 2 file has four rows for setup; Week 4 uses its own 300-row file. Inspect the header to locate this cohort’s reading field and group field.</a:t>
            </a:r>
          </a:p>
          <a:p>
            <a:r>
              <a:t/>
            </a:r>
          </a:p>
          <a:p>
            <a:r>
              <a:t>Misconception to address</a:t>
            </a:r>
          </a:p>
          <a:p>
            <a:r>
              <a:t>Do not confuse input voltage with resistance or energy with power. Read the exact programme task and its units before substituting numbers.</a:t>
            </a:r>
          </a:p>
          <a:p>
            <a:r>
              <a:t/>
            </a:r>
          </a:p>
          <a:p>
            <a:r>
              <a:t>On this slide</a:t>
            </a:r>
          </a:p>
          <a:p>
            <a:r>
              <a:t>Which object was measured? Which quantity was recorded?</a:t>
            </a:r>
          </a:p>
          <a:p>
            <a:r>
              <a:t/>
            </a:r>
          </a:p>
          <a:p>
            <a:r>
              <a:t>Continue to</a:t>
            </a:r>
          </a:p>
          <a:p>
            <a:r>
              <a:t>Words we will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Words we will use</a:t>
            </a:r>
          </a:p>
          <a:p>
            <a:r>
              <a:t>CML3111, Week 2, slide 7</a:t>
            </a:r>
          </a:p>
          <a:p>
            <a:r>
              <a:t/>
            </a:r>
          </a:p>
          <a:p>
            <a:r>
              <a:t>Explanation to give</a:t>
            </a:r>
          </a:p>
          <a:p>
            <a:r>
              <a:t>A ZIP is a compressed container. Extract it to obtain ordinary files. Explain extensions by purpose: .ipynb is the working notebook, .csv holds data, .md holds readable text and .py is a Python script.</a:t>
            </a:r>
          </a:p>
          <a:p>
            <a:r>
              <a:t/>
            </a:r>
          </a:p>
          <a:p>
            <a:r>
              <a:t>Worked illustration / lecturer answer</a:t>
            </a:r>
          </a:p>
          <a:p>
            <a:r>
              <a:t>For Week 2, proof_of_life.ipynb is the main assignment notebook. The 01–04 notebooks are deliberately broken practice examples. The supplied README explains the package; students create their own assessed README.</a:t>
            </a:r>
          </a:p>
          <a:p>
            <a:r>
              <a:t/>
            </a:r>
          </a:p>
          <a:p>
            <a:r>
              <a:t>Misconception to address</a:t>
            </a:r>
          </a:p>
          <a:p>
            <a:r>
              <a:t>Do not upload the ZIP as the assignment. Students need the exact required files, and they should retain the extracted folder so data is easy to find.</a:t>
            </a:r>
          </a:p>
          <a:p>
            <a:r>
              <a:t/>
            </a:r>
          </a:p>
          <a:p>
            <a:r>
              <a:t>On this slide</a:t>
            </a:r>
          </a:p>
          <a:p>
            <a:r>
              <a:t>File: A saved item with a name. Its extension tells us the kind: .ipynb is a notebook, .csv a table, .py a Python script and .md a text document.</a:t>
            </a:r>
          </a:p>
          <a:p>
            <a:r>
              <a:t>Folder: A container that helps you keep related files together. Extracting a ZIP restores the files inside it.</a:t>
            </a:r>
          </a:p>
          <a:p>
            <a:r>
              <a:t/>
            </a:r>
          </a:p>
          <a:p>
            <a:r>
              <a:t>Continue to</a:t>
            </a:r>
          </a:p>
          <a:p>
            <a:r>
              <a:t>The files in your ZIP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files in your ZIP</a:t>
            </a:r>
          </a:p>
          <a:p>
            <a:r>
              <a:t>CML3111, Week 2, slide 8</a:t>
            </a:r>
          </a:p>
          <a:p>
            <a:r>
              <a:t/>
            </a:r>
          </a:p>
          <a:p>
            <a:r>
              <a:t>Explanation to give</a:t>
            </a:r>
          </a:p>
          <a:p>
            <a:r>
              <a:t>A ZIP is a compressed container. Extract it to obtain ordinary files. Explain extensions by purpose: .ipynb is the working notebook, .csv holds data, .md holds readable text and .py is a Python script.</a:t>
            </a:r>
          </a:p>
          <a:p>
            <a:r>
              <a:t/>
            </a:r>
          </a:p>
          <a:p>
            <a:r>
              <a:t>Worked illustration / lecturer answer</a:t>
            </a:r>
          </a:p>
          <a:p>
            <a:r>
              <a:t>For Week 2, proof_of_life.ipynb is the main assignment notebook. The 01–04 notebooks are deliberately broken practice examples. The supplied README explains the package; students create their own assessed README.</a:t>
            </a:r>
          </a:p>
          <a:p>
            <a:r>
              <a:t/>
            </a:r>
          </a:p>
          <a:p>
            <a:r>
              <a:t>Misconception to address</a:t>
            </a:r>
          </a:p>
          <a:p>
            <a:r>
              <a:t>Do not upload the ZIP as the assignment. Students need the exact required files, and they should retain the extracted folder so data is easy to find.</a:t>
            </a:r>
          </a:p>
          <a:p>
            <a:r>
              <a:t/>
            </a:r>
          </a:p>
          <a:p>
            <a:r>
              <a:t>On this slide</a:t>
            </a:r>
          </a:p>
          <a:p>
            <a:r>
              <a:t>proof_of_life.ipynb is the main class notebook.</a:t>
            </a:r>
          </a:p>
          <a:p>
            <a:r>
              <a:t/>
            </a:r>
          </a:p>
          <a:p>
            <a:r>
              <a:t>Notebooks 01–04 contain errors to identify and fix.</a:t>
            </a:r>
          </a:p>
          <a:p>
            <a:r>
              <a:t/>
            </a:r>
          </a:p>
          <a:p>
            <a:r>
              <a:t>hello_engineering.py shows the same idea as a script.</a:t>
            </a:r>
          </a:p>
          <a:p>
            <a:r>
              <a:t/>
            </a:r>
          </a:p>
          <a:p>
            <a:r>
              <a:t>Return to proof_of_life.ipynb to finish the assignment.</a:t>
            </a:r>
          </a:p>
          <a:p>
            <a:r>
              <a:t/>
            </a:r>
          </a:p>
          <a:p>
            <a:r>
              <a:t>Continue to</a:t>
            </a:r>
          </a:p>
          <a:p>
            <a:r>
              <a:t>A script and a notebook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script and a notebook</a:t>
            </a:r>
          </a:p>
          <a:p>
            <a:r>
              <a:t>CML3111, Week 2, slide 9</a:t>
            </a:r>
          </a:p>
          <a:p>
            <a:r>
              <a:t/>
            </a:r>
          </a:p>
          <a:p>
            <a:r>
              <a:t>Explanation to give</a:t>
            </a:r>
          </a:p>
          <a:p>
            <a:r>
              <a:t>A script is a text file of Python instructions usually executed as a program. A notebook divides code into cells and can also store explanations and outputs. Both can contain the same Python calculation.</a:t>
            </a:r>
          </a:p>
          <a:p>
            <a:r>
              <a:t/>
            </a:r>
          </a:p>
          <a:p>
            <a:r>
              <a:t>Worked illustration / lecturer answer</a:t>
            </a:r>
          </a:p>
          <a:p>
            <a:r>
              <a:t>hello_engineering.py prints a greeting. A notebook code cell can contain the same print instruction. In this course's Week 2 workflow, the main notebook is the assessed working document.</a:t>
            </a:r>
          </a:p>
          <a:p>
            <a:r>
              <a:t/>
            </a:r>
          </a:p>
          <a:p>
            <a:r>
              <a:t>Misconception to address</a:t>
            </a:r>
          </a:p>
          <a:p>
            <a:r>
              <a:t>The optional script is not another assignment. Do not ask learners to install an editor or learn terminal commands merely to run this comparison.</a:t>
            </a:r>
          </a:p>
          <a:p>
            <a:r>
              <a:t/>
            </a:r>
          </a:p>
          <a:p>
            <a:r>
              <a:t>On this slide</a:t>
            </a:r>
          </a:p>
          <a:p>
            <a:r>
              <a:t>A .py script stores Python instructions in a text file.</a:t>
            </a:r>
          </a:p>
          <a:p>
            <a:r>
              <a:t/>
            </a:r>
          </a:p>
          <a:p>
            <a:r>
              <a:t>A notebook stores code cells, explanations and saved outputs.</a:t>
            </a:r>
          </a:p>
          <a:p>
            <a:r>
              <a:t/>
            </a:r>
          </a:p>
          <a:p>
            <a:r>
              <a:t>We use the notebook in Colab for this class.</a:t>
            </a:r>
          </a:p>
          <a:p>
            <a:r>
              <a:t/>
            </a:r>
          </a:p>
          <a:p>
            <a:r>
              <a:t>The script is an optional comparison, not an extra upload.</a:t>
            </a:r>
          </a:p>
          <a:p>
            <a:r>
              <a:t/>
            </a:r>
          </a:p>
          <a:p>
            <a:r>
              <a:t>Continue to</a:t>
            </a:r>
          </a:p>
          <a:p>
            <a:r>
              <a:t>Opening the main notebook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Opening the main notebook</a:t>
            </a:r>
          </a:p>
          <a:p>
            <a:r>
              <a:t>CML3111, Week 2, slide 10</a:t>
            </a:r>
          </a:p>
          <a:p>
            <a:r>
              <a:t/>
            </a:r>
          </a:p>
          <a:p>
            <a:r>
              <a:t>Explanation to give</a:t>
            </a:r>
          </a:p>
          <a:p>
            <a:r>
              <a:t>Demonstrate the file-opening path slowly: sign in, open Colab, choose the notebook upload option and select the extracted .ipynb file. Connecting starts a remote Python runtime.</a:t>
            </a:r>
          </a:p>
          <a:p>
            <a:r>
              <a:t/>
            </a:r>
          </a:p>
          <a:p>
            <a:r>
              <a:t>Worked illustration / lecturer answer</a:t>
            </a:r>
          </a:p>
          <a:p>
            <a:r>
              <a:t>Open proof_of_life.ipynb, identify a code cell and run it with Shift+Enter. Show the result underneath. Upload its CSV separately through the runtime Files panel before reading it.</a:t>
            </a:r>
          </a:p>
          <a:p>
            <a:r>
              <a:t/>
            </a:r>
          </a:p>
          <a:p>
            <a:r>
              <a:t>Misconception to address</a:t>
            </a:r>
          </a:p>
          <a:p>
            <a:r>
              <a:t>Saving the notebook to Drive and uploading data to a temporary runtime are separate actions. If the runtime is replaced, the data file may need uploading again.</a:t>
            </a:r>
          </a:p>
          <a:p>
            <a:r>
              <a:t/>
            </a:r>
          </a:p>
          <a:p>
            <a:r>
              <a:t>On this slide</a:t>
            </a:r>
          </a:p>
          <a:p>
            <a:r>
              <a:t>Download the ZIP for your course code. Extract it into one folder; leave the supplied files together.</a:t>
            </a:r>
          </a:p>
          <a:p>
            <a:r>
              <a:t/>
            </a:r>
          </a:p>
          <a:p>
            <a:r>
              <a:t>Open Google Colab. Choose Open notebook → Upload and select proof_of_life.ipynb.</a:t>
            </a:r>
          </a:p>
          <a:p>
            <a:r>
              <a:t/>
            </a:r>
          </a:p>
          <a:p>
            <a:r>
              <a:t>Wait for the notebook page. Find one text block and one code block before clicking Run.</a:t>
            </a:r>
          </a:p>
          <a:p>
            <a:r>
              <a:t/>
            </a:r>
          </a:p>
          <a:p>
            <a:r>
              <a:t>Continue to</a:t>
            </a:r>
          </a:p>
          <a:p>
            <a:r>
              <a:t>Words we will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Words we will use</a:t>
            </a:r>
          </a:p>
          <a:p>
            <a:r>
              <a:t>CML3111, Week 2, slide 11</a:t>
            </a:r>
          </a:p>
          <a:p>
            <a:r>
              <a:t/>
            </a:r>
          </a:p>
          <a:p>
            <a:r>
              <a:t>Explanation to give</a:t>
            </a:r>
          </a:p>
          <a:p>
            <a:r>
              <a:t>Explain the notebook as a document containing executable instructions and readable explanations. The code cell holds Python; the text cell explains the reasoning. Output sits below the code that produced it.</a:t>
            </a:r>
          </a:p>
          <a:p>
            <a:r>
              <a:t/>
            </a:r>
          </a:p>
          <a:p>
            <a:r>
              <a:t>Worked illustration / lecturer answer</a:t>
            </a:r>
          </a:p>
          <a:p>
            <a:r>
              <a:t>In one code cell, print(2 + 2) displays 4 below it. In a text cell, write “I added two counts.” Running that text cell formats the explanation rather than calculating a result.</a:t>
            </a:r>
          </a:p>
          <a:p>
            <a:r>
              <a:t/>
            </a:r>
          </a:p>
          <a:p>
            <a:r>
              <a:t>Misconception to address</a:t>
            </a:r>
          </a:p>
          <a:p>
            <a:r>
              <a:t>A cell's location is document order, while its execution counter reflects when it last ran. Saved output may come from an earlier version of the code.</a:t>
            </a:r>
          </a:p>
          <a:p>
            <a:r>
              <a:t/>
            </a:r>
          </a:p>
          <a:p>
            <a:r>
              <a:t>On this slide</a:t>
            </a:r>
          </a:p>
          <a:p>
            <a:r>
              <a:t>Python and code: Python is the language. Code is the instructions written in that language. Running asks the computer to carry them out.</a:t>
            </a:r>
          </a:p>
          <a:p>
            <a:r>
              <a:t>Cell and output: A cell is one notebook block. A code cell runs instructions; a text cell explains them. Output is the result shown below a code cell.</a:t>
            </a:r>
          </a:p>
          <a:p>
            <a:r>
              <a:t/>
            </a:r>
          </a:p>
          <a:p>
            <a:r>
              <a:t>Continue to</a:t>
            </a:r>
          </a:p>
          <a:p>
            <a:r>
              <a:t>A notebook has two kinds of cell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notebook has two kinds of cell</a:t>
            </a:r>
          </a:p>
          <a:p>
            <a:r>
              <a:t>CML3111, Week 2, slide 12</a:t>
            </a:r>
          </a:p>
          <a:p>
            <a:r>
              <a:t/>
            </a:r>
          </a:p>
          <a:p>
            <a:r>
              <a:t>Explanation to give</a:t>
            </a:r>
          </a:p>
          <a:p>
            <a:r>
              <a:t>Explain the notebook as a document containing executable instructions and readable explanations. The code cell holds Python; the text cell explains the reasoning. Output sits below the code that produced it.</a:t>
            </a:r>
          </a:p>
          <a:p>
            <a:r>
              <a:t/>
            </a:r>
          </a:p>
          <a:p>
            <a:r>
              <a:t>Worked illustration / lecturer answer</a:t>
            </a:r>
          </a:p>
          <a:p>
            <a:r>
              <a:t>In one code cell, print(2 + 2) displays 4 below it. In a text cell, write “I added two counts.” Running that text cell formats the explanation rather than calculating a result.</a:t>
            </a:r>
          </a:p>
          <a:p>
            <a:r>
              <a:t/>
            </a:r>
          </a:p>
          <a:p>
            <a:r>
              <a:t>Misconception to address</a:t>
            </a:r>
          </a:p>
          <a:p>
            <a:r>
              <a:t>A cell's location is document order, while its execution counter reflects when it last ran. Saved output may come from an earlier version of the code.</a:t>
            </a:r>
          </a:p>
          <a:p>
            <a:r>
              <a:t/>
            </a:r>
          </a:p>
          <a:p>
            <a:r>
              <a:t>On this slide</a:t>
            </a:r>
          </a:p>
          <a:p>
            <a:r>
              <a:t>A code cell contains Python instructions and a run button.</a:t>
            </a:r>
          </a:p>
          <a:p>
            <a:r>
              <a:t/>
            </a:r>
          </a:p>
          <a:p>
            <a:r>
              <a:t>A text cell contains an explanation. It does not run Python.</a:t>
            </a:r>
          </a:p>
          <a:p>
            <a:r>
              <a:t/>
            </a:r>
          </a:p>
          <a:p>
            <a:r>
              <a:t>The output appears below the code cell that produced it.</a:t>
            </a:r>
          </a:p>
          <a:p>
            <a:r>
              <a:t/>
            </a:r>
          </a:p>
          <a:p>
            <a:r>
              <a:t>Continue to</a:t>
            </a:r>
          </a:p>
          <a:p>
            <a:r>
              <a:t>Cells share one Python session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Cells share one Python session</a:t>
            </a:r>
          </a:p>
          <a:p>
            <a:r>
              <a:t>CML3111, Week 2, slide 13</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A code cell runs instructions. A text cell explains them.</a:t>
            </a:r>
          </a:p>
          <a:p>
            <a:r>
              <a:t/>
            </a:r>
          </a:p>
          <a:p>
            <a:r>
              <a:t>Continue to</a:t>
            </a:r>
          </a:p>
          <a:p>
            <a:r>
              <a:t>Start with numbers and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Start with numbers and values</a:t>
            </a:r>
          </a:p>
          <a:p>
            <a:r>
              <a:t>CML3111, Week 2, slide 14</a:t>
            </a:r>
          </a:p>
          <a:p>
            <a:r>
              <a:t/>
            </a:r>
          </a:p>
          <a:p>
            <a:r>
              <a:t>Explanation to give</a:t>
            </a:r>
          </a:p>
          <a:p>
            <a:r>
              <a:t>Begin with a physical quantity: how many objects, or how much length? A number is the amount; a unit says what that amount measures. Python stores the number but does not automatically know the engineering unit.</a:t>
            </a:r>
          </a:p>
          <a:p>
            <a:r>
              <a:t/>
            </a:r>
          </a:p>
          <a:p>
            <a:r>
              <a:t>Worked illustration / lecturer answer</a:t>
            </a:r>
          </a:p>
          <a:p>
            <a:r>
              <a:t>Put 3 bolts beside 3 metres on the board. Both use the number 3, but adding them would make no physical sense. A length of 2.5 m is two whole metres plus half a metre.</a:t>
            </a:r>
          </a:p>
          <a:p>
            <a:r>
              <a:t/>
            </a:r>
          </a:p>
          <a:p>
            <a:r>
              <a:t>Misconception to address</a:t>
            </a:r>
          </a:p>
          <a:p>
            <a:r>
              <a:t>A decimal point does not supply a unit. Read the variable suffix, axis label or task definition before calculating.</a:t>
            </a:r>
          </a:p>
          <a:p>
            <a:r>
              <a:t/>
            </a:r>
          </a:p>
          <a:p>
            <a:r>
              <a:t>On this slide</a:t>
            </a:r>
          </a:p>
          <a:p>
            <a:r>
              <a:t>Number: A number expresses how much or how many: 3 items or 2.5 metres. Whole numbers count; decimal numbers can describe a part of a unit.</a:t>
            </a:r>
          </a:p>
          <a:p>
            <a:r>
              <a:t>Value and unit: A value is one piece of information. The number 2.5 is a value. A measurement also needs a unit, such as metres. Python does not attach that unit automatically.</a:t>
            </a:r>
          </a:p>
          <a:p>
            <a:r>
              <a:t/>
            </a:r>
          </a:p>
          <a:p>
            <a:r>
              <a:t>Continue to</a:t>
            </a:r>
          </a:p>
          <a:p>
            <a:r>
              <a:t>Give a value a name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Give a value a name</a:t>
            </a:r>
          </a:p>
          <a:p>
            <a:r>
              <a:t>CML3111, Week 2, slide 15</a:t>
            </a:r>
          </a:p>
          <a:p>
            <a:r>
              <a:t/>
            </a:r>
          </a:p>
          <a:p>
            <a:r>
              <a:t>Explanation to give</a:t>
            </a:r>
          </a:p>
          <a:p>
            <a:r>
              <a:t>Explain assignment as evaluating the right side and attaching the name on the left to that result. The name can later refer to a different value. Read the equals sign as “assign”, rather than as a mathematical claim that lasts forever.</a:t>
            </a:r>
          </a:p>
          <a:p>
            <a:r>
              <a:t/>
            </a:r>
          </a:p>
          <a:p>
            <a:r>
              <a:t>Worked illustration / lecturer answer</a:t>
            </a:r>
          </a:p>
          <a:p>
            <a:r>
              <a:t>length_m = 4 makes length_m refer to 4. length_m = 6 replaces that association. Printing length_m now displays 6; the name does not remember a history of both values.</a:t>
            </a:r>
          </a:p>
          <a:p>
            <a:r>
              <a:t/>
            </a:r>
          </a:p>
          <a:p>
            <a:r>
              <a:t>Misconception to address</a:t>
            </a:r>
          </a:p>
          <a:p>
            <a:r>
              <a:t>Changing text in a notebook cell changes the instructions. The runtime value changes only when that cell executes.</a:t>
            </a:r>
          </a:p>
          <a:p>
            <a:r>
              <a:t/>
            </a:r>
          </a:p>
          <a:p>
            <a:r>
              <a:t>On this slide</a:t>
            </a:r>
          </a:p>
          <a:p>
            <a:r>
              <a:t>Variable: A variable is a name referring to a value. In readings = 12, readings is the name and 12 is its initial number.</a:t>
            </a:r>
          </a:p>
          <a:p>
            <a:r>
              <a:t>Assignment: Read = as “assign”, not “is equal to”. Python calculates the right side first, then gives that value to the name on the left. A later assignment replaces its previous value.</a:t>
            </a:r>
          </a:p>
          <a:p>
            <a:r>
              <a:t/>
            </a:r>
          </a:p>
          <a:p>
            <a:r>
              <a:t>Continue to</a:t>
            </a:r>
          </a:p>
          <a:p>
            <a:r>
              <a:t>Four symbols in our first program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Four symbols in our first program</a:t>
            </a:r>
          </a:p>
          <a:p>
            <a:r>
              <a:t>CML3111, Week 2, slide 16</a:t>
            </a:r>
          </a:p>
          <a:p>
            <a:r>
              <a:t/>
            </a:r>
          </a:p>
          <a:p>
            <a:r>
              <a:t>Explanation to give</a:t>
            </a:r>
          </a:p>
          <a:p>
            <a:r>
              <a:t>Separate a value-producing expression from the instruction that uses it. Evaluate the calculation first, assign it second, and display it only if a print call asks for output. Explain parentheses, quotes and the comment symbol when pointing to them.</a:t>
            </a:r>
          </a:p>
          <a:p>
            <a:r>
              <a:t/>
            </a:r>
          </a:p>
          <a:p>
            <a:r>
              <a:t>Worked illustration / lecturer answer</a:t>
            </a:r>
          </a:p>
          <a:p>
            <a:r>
              <a:t>total = 6 + 2 first calculates 8, then stores it under total. print(total) displays 8. total == 8 asks a question and produces True; it does not assign anything.</a:t>
            </a:r>
          </a:p>
          <a:p>
            <a:r>
              <a:t/>
            </a:r>
          </a:p>
          <a:p>
            <a:r>
              <a:t>Misconception to address</a:t>
            </a:r>
          </a:p>
          <a:p>
            <a:r>
              <a:t>Do not read = and == interchangeably. A bare assignment normally produces no printed line in a notebook.</a:t>
            </a:r>
          </a:p>
          <a:p>
            <a:r>
              <a:t/>
            </a:r>
          </a:p>
          <a:p>
            <a:r>
              <a:t>On this slide</a:t>
            </a:r>
          </a:p>
          <a:p>
            <a:r>
              <a:t>= assigns the value on the right to the name on the left.</a:t>
            </a:r>
          </a:p>
          <a:p>
            <a:r>
              <a:t/>
            </a:r>
          </a:p>
          <a:p>
            <a:r>
              <a:t>+ adds numbers. print(...) displays a value.</a:t>
            </a:r>
          </a:p>
          <a:p>
            <a:r>
              <a:t/>
            </a:r>
          </a:p>
          <a:p>
            <a:r>
              <a:t># starts a comment for the person reading the code.</a:t>
            </a:r>
          </a:p>
          <a:p>
            <a:r>
              <a:t/>
            </a:r>
          </a:p>
          <a:p>
            <a:r>
              <a:t>Continue to</a:t>
            </a:r>
          </a:p>
          <a:p>
            <a:r>
              <a:t>The session remembers earlier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session remembers earlier values</a:t>
            </a:r>
          </a:p>
          <a:p>
            <a:r>
              <a:t>CML3111, Week 2, slide 17</a:t>
            </a:r>
          </a:p>
          <a:p>
            <a:r>
              <a:t/>
            </a:r>
          </a:p>
          <a:p>
            <a:r>
              <a:t>Explanation to give</a:t>
            </a:r>
          </a:p>
          <a:p>
            <a:r>
              <a:t>Explain assignment as evaluating the right side and attaching the name on the left to that result. The name can later refer to a different value. Read the equals sign as “assign”, rather than as a mathematical claim that lasts forever.</a:t>
            </a:r>
          </a:p>
          <a:p>
            <a:r>
              <a:t/>
            </a:r>
          </a:p>
          <a:p>
            <a:r>
              <a:t>Worked illustration / lecturer answer</a:t>
            </a:r>
          </a:p>
          <a:p>
            <a:r>
              <a:t>length_m = 4 makes length_m refer to 4. length_m = 6 replaces that association. Printing length_m now displays 6; the name does not remember a history of both values.</a:t>
            </a:r>
          </a:p>
          <a:p>
            <a:r>
              <a:t/>
            </a:r>
          </a:p>
          <a:p>
            <a:r>
              <a:t>Misconception to address</a:t>
            </a:r>
          </a:p>
          <a:p>
            <a:r>
              <a:t>Changing text in a notebook cell changes the instructions. The runtime value changes only when that cell executes.</a:t>
            </a:r>
          </a:p>
          <a:p>
            <a:r>
              <a:t/>
            </a:r>
          </a:p>
          <a:p>
            <a:r>
              <a:t>On this slide</a:t>
            </a:r>
          </a:p>
          <a:p>
            <a:r>
              <a:t>The first cell assigns 12 to readings.</a:t>
            </a:r>
          </a:p>
          <a:p>
            <a:r>
              <a:t/>
            </a:r>
          </a:p>
          <a:p>
            <a:r>
              <a:t>The next cell adds 5 to the value currently stored.</a:t>
            </a:r>
          </a:p>
          <a:p>
            <a:r>
              <a:t/>
            </a:r>
          </a:p>
          <a:p>
            <a:r>
              <a:t>Running only the second cell again adds another 5.</a:t>
            </a:r>
          </a:p>
          <a:p>
            <a:r>
              <a:t/>
            </a:r>
          </a:p>
          <a:p>
            <a:r>
              <a:t>Continue to</a:t>
            </a:r>
          </a:p>
          <a:p>
            <a:r>
              <a:t>Worked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Worked example</a:t>
            </a:r>
          </a:p>
          <a:p>
            <a:r>
              <a:t>CML3111, Week 2, slide 18</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Read the displayed code line by line</a:t>
            </a:r>
          </a:p>
          <a:p>
            <a:r>
              <a:t>readings = 12</a:t>
            </a:r>
          </a:p>
          <a:p>
            <a:r>
              <a:t>Evaluate the complete right-hand expression first, then assign its result to the name or selected field on the left.</a:t>
            </a:r>
          </a:p>
          <a:p>
            <a:r>
              <a:t/>
            </a:r>
          </a:p>
          <a:p>
            <a:r>
              <a:t>readings = readings + 5</a:t>
            </a:r>
          </a:p>
          <a:p>
            <a:r>
              <a:t>Evaluate the complete right-hand expression first, then assign its result to the name or selected field on the left.</a:t>
            </a:r>
          </a:p>
          <a:p>
            <a:r>
              <a:t/>
            </a:r>
          </a:p>
          <a:p>
            <a:r>
              <a:t>print(readings)</a:t>
            </a:r>
          </a:p>
          <a:p>
            <a:r>
              <a:t>Evaluate the expression inside the parentheses and display it. Displaying is separate from returning a function result.</a:t>
            </a:r>
          </a:p>
          <a:p>
            <a:r>
              <a:t/>
            </a:r>
          </a:p>
          <a:p>
            <a:r>
              <a:t>Result / continuity</a:t>
            </a:r>
          </a:p>
          <a:p>
            <a:r>
              <a:t>Read the code, then predict its output before running it.</a:t>
            </a:r>
          </a:p>
          <a:p>
            <a:r>
              <a:t/>
            </a:r>
          </a:p>
          <a:p>
            <a:r>
              <a:t>Continue to</a:t>
            </a:r>
          </a:p>
          <a:p>
            <a:r>
              <a:t>Expected output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Expected output</a:t>
            </a:r>
          </a:p>
          <a:p>
            <a:r>
              <a:t>CML3111, Week 2, slide 19</a:t>
            </a:r>
          </a:p>
          <a:p>
            <a:r>
              <a:t/>
            </a:r>
          </a:p>
          <a:p>
            <a:r>
              <a:t>Explanation to give</a:t>
            </a:r>
          </a:p>
          <a:p>
            <a:r>
              <a:t>Use the displayed example as a short individual revision question, then explain the reasoning behind its answer.</a:t>
            </a:r>
          </a:p>
          <a:p>
            <a:r>
              <a:t/>
            </a:r>
          </a:p>
          <a:p>
            <a:r>
              <a:t>Worked illustration / lecturer answer</a:t>
            </a:r>
          </a:p>
          <a:p>
            <a:r>
              <a:t>17 on the first run of the second cell; 22 on its second run; 27 on its third.</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Runtime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Runtime</a:t>
            </a:r>
          </a:p>
          <a:p>
            <a:r>
              <a:t>CML3111, Week 2, slide 20</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Runtime: The running Python session and its current memory. Restarting clears variables. Downloading the notebook saves the document, not the whole running computer.</a:t>
            </a:r>
          </a:p>
          <a:p>
            <a:r>
              <a:t/>
            </a:r>
          </a:p>
          <a:p>
            <a:r>
              <a:t>Continue to</a:t>
            </a:r>
          </a:p>
          <a:p>
            <a:r>
              <a:t>Execution order changes the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Execution order changes the result</a:t>
            </a:r>
          </a:p>
          <a:p>
            <a:r>
              <a:t>CML3111, Week 2, slide 21</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Restart, then run all cells in order before submission.</a:t>
            </a:r>
          </a:p>
          <a:p>
            <a:r>
              <a:t/>
            </a:r>
          </a:p>
          <a:p>
            <a:r>
              <a:t>Continue to</a:t>
            </a:r>
          </a:p>
          <a:p>
            <a:r>
              <a:t>Tracing stored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Tracing stored values</a:t>
            </a:r>
          </a:p>
          <a:p>
            <a:r>
              <a:t>CML3111, Week 2, slide 22</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Write 12 on paper. This is the current value.</a:t>
            </a:r>
          </a:p>
          <a:p>
            <a:r>
              <a:t/>
            </a:r>
          </a:p>
          <a:p>
            <a:r>
              <a:t>Add 5 and replace the old number with the result.</a:t>
            </a:r>
          </a:p>
          <a:p>
            <a:r>
              <a:t/>
            </a:r>
          </a:p>
          <a:p>
            <a:r>
              <a:t>Repeat only that addition once. What value remains?</a:t>
            </a:r>
          </a:p>
          <a:p>
            <a:r>
              <a:t/>
            </a:r>
          </a:p>
          <a:p>
            <a:r>
              <a:t>Continue to</a:t>
            </a:r>
          </a:p>
          <a:p>
            <a:r>
              <a:t>What the activity shows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the activity shows</a:t>
            </a:r>
          </a:p>
          <a:p>
            <a:r>
              <a:t>CML3111, Week 2, slide 23</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22. Re-running the setup first would replace the value with 12 again.</a:t>
            </a:r>
          </a:p>
          <a:p>
            <a:r>
              <a:t/>
            </a:r>
          </a:p>
          <a:p>
            <a:r>
              <a:t>Continue to</a:t>
            </a:r>
          </a:p>
          <a:p>
            <a:r>
              <a:t>Your turn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turn</a:t>
            </a:r>
          </a:p>
          <a:p>
            <a:r>
              <a:t>CML3111, Week 2, slide 24</a:t>
            </a:r>
          </a:p>
          <a:p>
            <a:r>
              <a:t/>
            </a:r>
          </a:p>
          <a:p>
            <a:r>
              <a:t>Explanation to give</a:t>
            </a:r>
          </a:p>
          <a:p>
            <a:r>
              <a:t>Use the displayed example as a short individual revision question, then explain the reasoning behind its answer.</a:t>
            </a:r>
          </a:p>
          <a:p>
            <a:r>
              <a:t/>
            </a:r>
          </a:p>
          <a:p>
            <a:r>
              <a:t>Worked illustration / lecturer answer</a:t>
            </a:r>
          </a:p>
          <a:p>
            <a:r>
              <a:t>22. Running the entire example from the top resets readings to 12, so a complete run ends at 17 every time.</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On this slide</a:t>
            </a:r>
          </a:p>
          <a:p>
            <a:r>
              <a:t>Restart, run the first cell once, and run the second cell twice. Write down the final number and explain why it changed.</a:t>
            </a:r>
          </a:p>
          <a:p>
            <a:r>
              <a:t/>
            </a:r>
          </a:p>
          <a:p>
            <a:r>
              <a:t>Continue to</a:t>
            </a:r>
          </a:p>
          <a:p>
            <a:r>
              <a:t>Practice discussion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Practice discussion</a:t>
            </a:r>
          </a:p>
          <a:p>
            <a:r>
              <a:t>CML3111, Week 2, slide 25</a:t>
            </a:r>
          </a:p>
          <a:p>
            <a:r>
              <a:t/>
            </a:r>
          </a:p>
          <a:p>
            <a:r>
              <a:t>Explanation to give</a:t>
            </a:r>
          </a:p>
          <a:p>
            <a:r>
              <a:t>Use the displayed example as a short individual revision question, then explain the reasoning behind its answer.</a:t>
            </a:r>
          </a:p>
          <a:p>
            <a:r>
              <a:t/>
            </a:r>
          </a:p>
          <a:p>
            <a:r>
              <a:t>Worked illustration / lecturer answer</a:t>
            </a:r>
          </a:p>
          <a:p>
            <a:r>
              <a:t>22. Running the entire example from the top resets readings to 12, so a complete run ends at 17 every time.</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Save a copy you can find again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Save a copy you can find again</a:t>
            </a:r>
          </a:p>
          <a:p>
            <a:r>
              <a:t>CML3111, Week 2, slide 26</a:t>
            </a:r>
          </a:p>
          <a:p>
            <a:r>
              <a:t/>
            </a:r>
          </a:p>
          <a:p>
            <a:r>
              <a:t>Explanation to give</a:t>
            </a:r>
          </a:p>
          <a:p>
            <a:r>
              <a:t>Distinguish saving the working file, recording a version and submitting an assignment. Git records chosen changes in commits; GitHub hosts a repository. A commit message should describe the change.</a:t>
            </a:r>
          </a:p>
          <a:p>
            <a:r>
              <a:t/>
            </a:r>
          </a:p>
          <a:p>
            <a:r>
              <a:t>Worked illustration / lecturer answer</a:t>
            </a:r>
          </a:p>
          <a:p>
            <a:r>
              <a:t>For today's browser route, download the notebook from Colab, create a private GitHub repository, upload the notebook and CSV, commit them, then edit and commit your own README. The A2 form receives the notebook and README plus the repository URL.</a:t>
            </a:r>
          </a:p>
          <a:p>
            <a:r>
              <a:t/>
            </a:r>
          </a:p>
          <a:p>
            <a:r>
              <a:t>Misconception to address</a:t>
            </a:r>
          </a:p>
          <a:p>
            <a:r>
              <a:t>git commands belong in a terminal, not a Python cell. The web interface handles the remote commit directly. A repository upload does not replace the assignment form.</a:t>
            </a:r>
          </a:p>
          <a:p>
            <a:r>
              <a:t/>
            </a:r>
          </a:p>
          <a:p>
            <a:r>
              <a:t>On this slide</a:t>
            </a:r>
          </a:p>
          <a:p>
            <a:r>
              <a:t>In Colab choose File → Download → Download .ipynb. Find the downloaded notebook on your computer.</a:t>
            </a:r>
          </a:p>
          <a:p>
            <a:r>
              <a:t/>
            </a:r>
          </a:p>
          <a:p>
            <a:r>
              <a:t>Use File → Open notebook → Upload to reopen that file. Check your changes are present.</a:t>
            </a:r>
          </a:p>
          <a:p>
            <a:r>
              <a:t/>
            </a:r>
          </a:p>
          <a:p>
            <a:r>
              <a:t>Restart the session, upload the supplied CSV again if needed, and Run all. Save the notebook again after this check.</a:t>
            </a:r>
          </a:p>
          <a:p>
            <a:r>
              <a:t/>
            </a:r>
          </a:p>
          <a:p>
            <a:r>
              <a:t>Continue to</a:t>
            </a:r>
          </a:p>
          <a:p>
            <a:r>
              <a:t>The words in the repair exercises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words in the repair exercises</a:t>
            </a:r>
          </a:p>
          <a:p>
            <a:r>
              <a:t>CML3111, Week 2, slide 27</a:t>
            </a:r>
          </a:p>
          <a:p>
            <a:r>
              <a:t/>
            </a:r>
          </a:p>
          <a:p>
            <a:r>
              <a:t>Explanation to give</a:t>
            </a:r>
          </a:p>
          <a:p>
            <a:r>
              <a:t>Teach a diagnosis sequence: read the final error line, locate the indicated instruction, compare the expected input with what actually exists, and fix the first cause. Explain the error type rather than treating all red output alike.</a:t>
            </a:r>
          </a:p>
          <a:p>
            <a:r>
              <a:t/>
            </a:r>
          </a:p>
          <a:p>
            <a:r>
              <a:t>Worked illustration / lecturer answer</a:t>
            </a:r>
          </a:p>
          <a:p>
            <a:r>
              <a:t>NameError often means a misspelled or not-yet-created name. FileNotFoundError means the named path was not found. TypeError can result from adding text and a number. A wrong answer can occur with no exception at all.</a:t>
            </a:r>
          </a:p>
          <a:p>
            <a:r>
              <a:t/>
            </a:r>
          </a:p>
          <a:p>
            <a:r>
              <a:t>Misconception to address</a:t>
            </a:r>
          </a:p>
          <a:p>
            <a:r>
              <a:t>The highlighted line is where Python noticed a problem, not always its original cause. Do not install an unrelated package when the exercise deliberately names a nonexistent module.</a:t>
            </a:r>
          </a:p>
          <a:p>
            <a:r>
              <a:t/>
            </a:r>
          </a:p>
          <a:p>
            <a:r>
              <a:t>On this slide</a:t>
            </a:r>
          </a:p>
          <a:p>
            <a:r>
              <a:t>Module and version: A module is a collection of Python tools. import asks for it. A version identifies a software release; different releases can behave differently.</a:t>
            </a:r>
          </a:p>
          <a:p>
            <a:r>
              <a:t>Path and working folder: A path tells Python where a file is. A bare filename is looked up in the current working folder. The runtime Files panel shows uploaded files.</a:t>
            </a:r>
          </a:p>
          <a:p>
            <a:r>
              <a:t/>
            </a:r>
          </a:p>
          <a:p>
            <a:r>
              <a:t>Continue to</a:t>
            </a:r>
          </a:p>
          <a:p>
            <a:r>
              <a:t>Your cohort data</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cohort data</a:t>
            </a:r>
          </a:p>
          <a:p>
            <a:r>
              <a:t>CML3111, Week 2, slide 28</a:t>
            </a:r>
          </a:p>
          <a:p>
            <a:r>
              <a:t/>
            </a:r>
          </a:p>
          <a:p>
            <a:r>
              <a:t>Explanation to give</a:t>
            </a:r>
          </a:p>
          <a:p>
            <a:r>
              <a:t>Use an electrical device as the physical reference. Voltage is measured in volts, current in amperes and power in watts. State what each quantity describes before multiplying them.</a:t>
            </a:r>
          </a:p>
          <a:p>
            <a:r>
              <a:t/>
            </a:r>
          </a:p>
          <a:p>
            <a:r>
              <a:t>Worked illustration / lecturer answer</a:t>
            </a:r>
          </a:p>
          <a:p>
            <a:r>
              <a:t>Show motor_test_bench.csv in the runtime Files panel. The Week 2 file has four rows for setup; Week 4 uses its own 300-row file. Inspect the header to locate this cohort’s reading field and group field.</a:t>
            </a:r>
          </a:p>
          <a:p>
            <a:r>
              <a:t/>
            </a:r>
          </a:p>
          <a:p>
            <a:r>
              <a:t>Misconception to address</a:t>
            </a:r>
          </a:p>
          <a:p>
            <a:r>
              <a:t>Do not confuse input voltage with resistance or energy with power. Read the exact programme task and its units before substituting numbers.</a:t>
            </a:r>
          </a:p>
          <a:p>
            <a:r>
              <a:t/>
            </a:r>
          </a:p>
          <a:p>
            <a:r>
              <a:t>On this slide</a:t>
            </a:r>
          </a:p>
          <a:p>
            <a:r>
              <a:t>motor_test_bench.csv</a:t>
            </a:r>
          </a:p>
          <a:p>
            <a:r>
              <a:t/>
            </a:r>
          </a:p>
          <a:p>
            <a:r>
              <a:t>Reading column: current_a</a:t>
            </a:r>
          </a:p>
          <a:p>
            <a:r>
              <a:t/>
            </a:r>
          </a:p>
          <a:p>
            <a:r>
              <a:t>Keep the data file beside the notebook or upload it into the current Colab runtime.</a:t>
            </a:r>
          </a:p>
          <a:p>
            <a:r>
              <a:t/>
            </a:r>
          </a:p>
          <a:p>
            <a:r>
              <a:t>Continue to</a:t>
            </a:r>
          </a:p>
          <a:p>
            <a:r>
              <a:t>The four repair exercises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four repair exercises</a:t>
            </a:r>
          </a:p>
          <a:p>
            <a:r>
              <a:t>CML3111, Week 2, slide 29</a:t>
            </a:r>
          </a:p>
          <a:p>
            <a:r>
              <a:t/>
            </a:r>
          </a:p>
          <a:p>
            <a:r>
              <a:t>Explanation to give</a:t>
            </a:r>
          </a:p>
          <a:p>
            <a:r>
              <a:t>Teach a diagnosis sequence: read the final error line, locate the indicated instruction, compare the expected input with what actually exists, and fix the first cause. Explain the error type rather than treating all red output alike.</a:t>
            </a:r>
          </a:p>
          <a:p>
            <a:r>
              <a:t/>
            </a:r>
          </a:p>
          <a:p>
            <a:r>
              <a:t>Worked illustration / lecturer answer</a:t>
            </a:r>
          </a:p>
          <a:p>
            <a:r>
              <a:t>NameError often means a misspelled or not-yet-created name. FileNotFoundError means the named path was not found. TypeError can result from adding text and a number. A wrong answer can occur with no exception at all.</a:t>
            </a:r>
          </a:p>
          <a:p>
            <a:r>
              <a:t/>
            </a:r>
          </a:p>
          <a:p>
            <a:r>
              <a:t>Misconception to address</a:t>
            </a:r>
          </a:p>
          <a:p>
            <a:r>
              <a:t>The highlighted line is where Python noticed a problem, not always its original cause. Do not install an unrelated package when the exercise deliberately names a nonexistent module.</a:t>
            </a:r>
          </a:p>
          <a:p>
            <a:r>
              <a:t/>
            </a:r>
          </a:p>
          <a:p>
            <a:r>
              <a:t>On this slide</a:t>
            </a:r>
          </a:p>
          <a:p>
            <a:r>
              <a:t>Identify the deliberately unavailable module.</a:t>
            </a:r>
          </a:p>
          <a:p>
            <a:r>
              <a:t/>
            </a:r>
          </a:p>
          <a:p>
            <a:r>
              <a:t>Compare the required and actual Python versions.</a:t>
            </a:r>
          </a:p>
          <a:p>
            <a:r>
              <a:t/>
            </a:r>
          </a:p>
          <a:p>
            <a:r>
              <a:t>Locate the CSV and correct its file path.</a:t>
            </a:r>
          </a:p>
          <a:p>
            <a:r>
              <a:t/>
            </a:r>
          </a:p>
          <a:p>
            <a:r>
              <a:t>Trace the values and remove the unwanted reset.</a:t>
            </a:r>
          </a:p>
          <a:p>
            <a:r>
              <a:t/>
            </a:r>
          </a:p>
          <a:p>
            <a:r>
              <a:t>Continue to</a:t>
            </a:r>
          </a:p>
          <a:p>
            <a:r>
              <a:t>Repository and commit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Repository and commit</a:t>
            </a:r>
          </a:p>
          <a:p>
            <a:r>
              <a:t>CML3111, Week 2, slide 30</a:t>
            </a:r>
          </a:p>
          <a:p>
            <a:r>
              <a:t/>
            </a:r>
          </a:p>
          <a:p>
            <a:r>
              <a:t>Explanation to give</a:t>
            </a:r>
          </a:p>
          <a:p>
            <a:r>
              <a:t>Distinguish saving the working file, recording a version and submitting an assignment. Git records chosen changes in commits; GitHub hosts a repository. A commit message should describe the change.</a:t>
            </a:r>
          </a:p>
          <a:p>
            <a:r>
              <a:t/>
            </a:r>
          </a:p>
          <a:p>
            <a:r>
              <a:t>Worked illustration / lecturer answer</a:t>
            </a:r>
          </a:p>
          <a:p>
            <a:r>
              <a:t>For today's browser route, download the notebook from Colab, create a private GitHub repository, upload the notebook and CSV, commit them, then edit and commit your own README. The A2 form receives the notebook and README plus the repository URL.</a:t>
            </a:r>
          </a:p>
          <a:p>
            <a:r>
              <a:t/>
            </a:r>
          </a:p>
          <a:p>
            <a:r>
              <a:t>Misconception to address</a:t>
            </a:r>
          </a:p>
          <a:p>
            <a:r>
              <a:t>git commands belong in a terminal, not a Python cell. The web interface handles the remote commit directly. A repository upload does not replace the assignment form.</a:t>
            </a:r>
          </a:p>
          <a:p>
            <a:r>
              <a:t/>
            </a:r>
          </a:p>
          <a:p>
            <a:r>
              <a:t>On this slide</a:t>
            </a:r>
          </a:p>
          <a:p>
            <a:r>
              <a:t>Repository and commit: A repository stores a project and its recorded changes. A commit records a change with a message. Git tracks history; GitHub hosts repositories online.</a:t>
            </a:r>
          </a:p>
          <a:p>
            <a:r>
              <a:t/>
            </a:r>
          </a:p>
          <a:p>
            <a:r>
              <a:t>Continue to</a:t>
            </a:r>
          </a:p>
          <a:p>
            <a:r>
              <a:t>Record a change in your repository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Record a change in your repository</a:t>
            </a:r>
          </a:p>
          <a:p>
            <a:r>
              <a:t>CML3111, Week 2, slide 31</a:t>
            </a:r>
          </a:p>
          <a:p>
            <a:r>
              <a:t/>
            </a:r>
          </a:p>
          <a:p>
            <a:r>
              <a:t>Explanation to give</a:t>
            </a:r>
          </a:p>
          <a:p>
            <a:r>
              <a:t>Distinguish saving the working file, recording a version and submitting an assignment. Git records chosen changes in commits; GitHub hosts a repository. A commit message should describe the change.</a:t>
            </a:r>
          </a:p>
          <a:p>
            <a:r>
              <a:t/>
            </a:r>
          </a:p>
          <a:p>
            <a:r>
              <a:t>Worked illustration / lecturer answer</a:t>
            </a:r>
          </a:p>
          <a:p>
            <a:r>
              <a:t>For today's browser route, download the notebook from Colab, create a private GitHub repository, upload the notebook and CSV, commit them, then edit and commit your own README. The A2 form receives the notebook and README plus the repository URL.</a:t>
            </a:r>
          </a:p>
          <a:p>
            <a:r>
              <a:t/>
            </a:r>
          </a:p>
          <a:p>
            <a:r>
              <a:t>Misconception to address</a:t>
            </a:r>
          </a:p>
          <a:p>
            <a:r>
              <a:t>git commands belong in a terminal, not a Python cell. The web interface handles the remote commit directly. A repository upload does not replace the assignment form.</a:t>
            </a:r>
          </a:p>
          <a:p>
            <a:r>
              <a:t/>
            </a:r>
          </a:p>
          <a:p>
            <a:r>
              <a:t>On this slide</a:t>
            </a:r>
          </a:p>
          <a:p>
            <a:r>
              <a:t>Sign into GitHub. Create a repository: the project folder with recorded history. Use an appropriate private setting for personal work.</a:t>
            </a:r>
          </a:p>
          <a:p>
            <a:r>
              <a:t/>
            </a:r>
          </a:p>
          <a:p>
            <a:r>
              <a:t>Choose Add file → Upload files. Add the notebook, supplied CSV and README.md. A README is a text file containing your run instructions.</a:t>
            </a:r>
          </a:p>
          <a:p>
            <a:r>
              <a:t/>
            </a:r>
          </a:p>
          <a:p>
            <a:r>
              <a:t>Write a short message describing the change and choose Commit changes. A commit records this version of the files.</a:t>
            </a:r>
          </a:p>
          <a:p>
            <a:r>
              <a:t/>
            </a:r>
          </a:p>
          <a:p>
            <a:r>
              <a:t>Open the file list to confirm the files arrived. Copy the repository page URL for the assignment form.</a:t>
            </a:r>
          </a:p>
          <a:p>
            <a:r>
              <a:t/>
            </a:r>
          </a:p>
          <a:p>
            <a:r>
              <a:t>Continue to</a:t>
            </a:r>
          </a:p>
          <a:p>
            <a:r>
              <a:t>Short explainer and discussion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Short explainer and discussion</a:t>
            </a:r>
          </a:p>
          <a:p>
            <a:r>
              <a:t>CML3111, Week 2, slide 32</a:t>
            </a:r>
          </a:p>
          <a:p>
            <a:r>
              <a:t/>
            </a:r>
          </a:p>
          <a:p>
            <a:r>
              <a:t>Explanation to give</a:t>
            </a:r>
          </a:p>
          <a:p>
            <a:r>
              <a:t>Give the viewing question before playing the excerpt: Why keep history, and what is a repository?</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CodeWithChris</a:t>
            </a:r>
          </a:p>
          <a:p>
            <a:r>
              <a:t>GitHub Tutorial for Beginners (2025)</a:t>
            </a:r>
          </a:p>
          <a:p>
            <a:r>
              <a:t/>
            </a:r>
          </a:p>
          <a:p>
            <a:r>
              <a:t>00:00–02:10, then 03:35–06:08 (4 min 43 sec total)</a:t>
            </a:r>
          </a:p>
          <a:p>
            <a:r>
              <a:t/>
            </a:r>
          </a:p>
          <a:p>
            <a:r>
              <a:t>Listening question: Why keep history, and what is a repository?</a:t>
            </a:r>
          </a:p>
          <a:p>
            <a:r>
              <a:t/>
            </a:r>
          </a:p>
          <a:p>
            <a:r>
              <a:t>Reference / existing resource</a:t>
            </a:r>
          </a:p>
          <a:p>
            <a:r>
              <a:t>https://www.youtube.com/watch?v=v5gnvDUWqFM</a:t>
            </a:r>
          </a:p>
          <a:p>
            <a:r>
              <a:t/>
            </a:r>
          </a:p>
          <a:p>
            <a:r>
              <a:t>Continue to</a:t>
            </a:r>
          </a:p>
          <a:p>
            <a:r>
              <a:t>After the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After the video</a:t>
            </a:r>
          </a:p>
          <a:p>
            <a:r>
              <a:t>CML3111, Week 2, slide 33</a:t>
            </a:r>
          </a:p>
          <a:p>
            <a:r>
              <a:t/>
            </a:r>
          </a:p>
          <a:p>
            <a:r>
              <a:t>Explanation to give</a:t>
            </a:r>
          </a:p>
          <a:p>
            <a:r>
              <a:t>Give the viewing question before playing the excerpt: Explain the distinction or mechanism named on this video slide using one example from today.</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Explain the difference between saving a file and recording a commit. Then make one browser-based commit.</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CML3111, Week 2, slide 34</a:t>
            </a:r>
          </a:p>
          <a:p>
            <a:r>
              <a:t/>
            </a:r>
          </a:p>
          <a:p>
            <a:r>
              <a:t>Explanation to give</a:t>
            </a:r>
          </a:p>
          <a:p>
            <a:r>
              <a:t>For A2, the main working file is proof_of_life.ipynb. The student completes it, writes the execution-order explanation and creates their own README.</a:t>
            </a:r>
          </a:p>
          <a:p>
            <a:r>
              <a:t/>
            </a:r>
          </a:p>
          <a:p>
            <a:r>
              <a:t>Worked illustration / lecturer answer</a:t>
            </a:r>
          </a:p>
          <a:p>
            <a:r>
              <a:t>A fresh successful run should show proof_sum 4, readings 17 and the four rows from the cohort CSV. The repository keeps the notebook and CSV, while the form receives the notebook and README plus its repository URL.</a:t>
            </a:r>
          </a:p>
          <a:p>
            <a:r>
              <a:t/>
            </a:r>
          </a:p>
          <a:p>
            <a:r>
              <a:t>Misconception to address</a:t>
            </a:r>
          </a:p>
          <a:p>
            <a:r>
              <a:t>Repair notebooks 01–04 and hello_engineering.py are practice only. Do not turn them into extra submissions or mistake the supplied package README for the student’s own README.</a:t>
            </a:r>
          </a:p>
          <a:p>
            <a:r>
              <a:t/>
            </a:r>
          </a:p>
          <a:p>
            <a:r>
              <a:t>On this slide</a:t>
            </a:r>
          </a:p>
          <a:p>
            <a:r>
              <a:t>Use proof_of_life.ipynb for A2.</a:t>
            </a:r>
          </a:p>
          <a:p>
            <a:r>
              <a:t/>
            </a:r>
          </a:p>
          <a:p>
            <a:r>
              <a:t>Upload the cohort CSV into the runtime Files area and show the filename before reading it.</a:t>
            </a:r>
          </a:p>
          <a:p>
            <a:r>
              <a:t/>
            </a:r>
          </a:p>
          <a:p>
            <a:r>
              <a:t>Follow repair 01, then try the same approach in 02–04.</a:t>
            </a:r>
          </a:p>
          <a:p>
            <a:r>
              <a:t/>
            </a:r>
          </a:p>
          <a:p>
            <a:r>
              <a:t>Submit the completed main notebook and your own README.md together, plus the repository URL.</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CML3111, Week 2, slide 35</a:t>
            </a:r>
          </a:p>
          <a:p>
            <a:r>
              <a:t/>
            </a:r>
          </a:p>
          <a:p>
            <a:r>
              <a:t>Explanation to give</a:t>
            </a:r>
          </a:p>
          <a:p>
            <a:r>
              <a:t>For A2, the main working file is proof_of_life.ipynb. The student completes it, writes the execution-order explanation and creates their own README.</a:t>
            </a:r>
          </a:p>
          <a:p>
            <a:r>
              <a:t/>
            </a:r>
          </a:p>
          <a:p>
            <a:r>
              <a:t>Worked illustration / lecturer answer</a:t>
            </a:r>
          </a:p>
          <a:p>
            <a:r>
              <a:t>A fresh successful run should show proof_sum 4, readings 17 and the four rows from the cohort CSV. The repository keeps the notebook and CSV, while the form receives the notebook and README plus its repository URL.</a:t>
            </a:r>
          </a:p>
          <a:p>
            <a:r>
              <a:t/>
            </a:r>
          </a:p>
          <a:p>
            <a:r>
              <a:t>Misconception to address</a:t>
            </a:r>
          </a:p>
          <a:p>
            <a:r>
              <a:t>Repair notebooks 01–04 and hello_engineering.py are practice only. Do not turn them into extra submissions or mistake the supplied package README for the student’s own README.</a:t>
            </a:r>
          </a:p>
          <a:p>
            <a:r>
              <a:t/>
            </a:r>
          </a:p>
          <a:p>
            <a:r>
              <a:t>On this slide</a:t>
            </a:r>
          </a:p>
          <a:p>
            <a:r>
              <a:t>Repairs 01–04 and hello_engineering.py are practice, not extra submissions.</a:t>
            </a:r>
          </a:p>
          <a:p>
            <a:r>
              <a:t/>
            </a:r>
          </a:p>
          <a:p>
            <a:r>
              <a:t>Continue to</a:t>
            </a:r>
          </a:p>
          <a:p>
            <a:r>
              <a:t>Execution order and saved changes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Execution order and saved changes</a:t>
            </a:r>
          </a:p>
          <a:p>
            <a:r>
              <a:t>CML3111, Week 2, slide 36</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The number beside a code cell records when it ran in that session, not its position on the page.</a:t>
            </a:r>
          </a:p>
          <a:p>
            <a:r>
              <a:t/>
            </a:r>
          </a:p>
          <a:p>
            <a:r>
              <a:t>Restart clears memory; Run All follows page order.</a:t>
            </a:r>
          </a:p>
          <a:p>
            <a:r>
              <a:t/>
            </a:r>
          </a:p>
          <a:p>
            <a:r>
              <a:t>A fresh run tests the run order, not whether the engineering formula is valid.</a:t>
            </a:r>
          </a:p>
          <a:p>
            <a:r>
              <a:t/>
            </a:r>
          </a:p>
          <a:p>
            <a:r>
              <a:t>A commit is a recorded change.</a:t>
            </a:r>
          </a:p>
          <a:p>
            <a:r>
              <a:t/>
            </a:r>
          </a:p>
          <a:p>
            <a:r>
              <a:t>Continue to</a:t>
            </a:r>
          </a:p>
          <a:p>
            <a:r>
              <a:t>Execution order and saved changes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Execution order and saved changes continued</a:t>
            </a:r>
          </a:p>
          <a:p>
            <a:r>
              <a:t>CML3111, Week 2, slide 37</a:t>
            </a:r>
          </a:p>
          <a:p>
            <a:r>
              <a:t/>
            </a:r>
          </a:p>
          <a:p>
            <a:r>
              <a:t>Explanation to give</a:t>
            </a:r>
          </a:p>
          <a:p>
            <a:r>
              <a:t>Describe the runtime as a temporary shared workspace containing names and their current values. All code cells use that same workspace. Running a cell updates it; merely editing a cell does not.</a:t>
            </a:r>
          </a:p>
          <a:p>
            <a:r>
              <a:t/>
            </a:r>
          </a:p>
          <a:p>
            <a:r>
              <a:t>Worked illustration / lecturer answer</a:t>
            </a:r>
          </a:p>
          <a:p>
            <a:r>
              <a:t>Run readings = 12 once. Running readings = readings + 5 gives 17, then 22, then 27 on successive executions. Restart and run from the top resets to 12 and ends at 17.</a:t>
            </a:r>
          </a:p>
          <a:p>
            <a:r>
              <a:t/>
            </a:r>
          </a:p>
          <a:p>
            <a:r>
              <a:t>Misconception to address</a:t>
            </a:r>
          </a:p>
          <a:p>
            <a:r>
              <a:t>If the initialisation and update are in one cell, running the whole cell repeatedly gives 17 each time. Put them in separate cells when demonstrating repeated updates.</a:t>
            </a:r>
          </a:p>
          <a:p>
            <a:r>
              <a:t/>
            </a:r>
          </a:p>
          <a:p>
            <a:r>
              <a:t>On this slide</a:t>
            </a:r>
          </a:p>
          <a:p>
            <a:r>
              <a:t>In terminal reference material, git status describes local changes; it does not itself save or upload them.</a:t>
            </a:r>
          </a:p>
          <a:p>
            <a:r>
              <a:t/>
            </a:r>
          </a:p>
          <a:p>
            <a:r>
              <a:t>Continue to</a:t>
            </a:r>
          </a:p>
          <a:p>
            <a:r>
              <a:t>A1 — what to write and submit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A1 — what to write and submit</a:t>
            </a:r>
          </a:p>
          <a:p>
            <a:r>
              <a:t>CML3111, Week 2, slide 38</a:t>
            </a:r>
          </a:p>
          <a:p>
            <a:r>
              <a:t/>
            </a:r>
          </a:p>
          <a:p>
            <a:r>
              <a:t>Explanation to give</a:t>
            </a:r>
          </a:p>
          <a:p>
            <a:r>
              <a:t>A1 is a short problem-framing report, separate from A2. Explain the four sections: three proposed problems, then the selected problem and dataset rationale.</a:t>
            </a:r>
          </a:p>
          <a:p>
            <a:r>
              <a:t/>
            </a:r>
          </a:p>
          <a:p>
            <a:r>
              <a:t>Worked illustration / lecturer answer</a:t>
            </a:r>
          </a:p>
          <a:p>
            <a:r>
              <a:t>For each proposed problem, identify the decision, available inputs, target, plausible data source and one limitation. Students are proposing a study; they are not training a model.</a:t>
            </a:r>
          </a:p>
          <a:p>
            <a:r>
              <a:t/>
            </a:r>
          </a:p>
          <a:p>
            <a:r>
              <a:t>Misconception to address</a:t>
            </a:r>
          </a:p>
          <a:p>
            <a:r>
              <a:t>Submit one DOCX or selectable-text PDF through A1. A2 is the notebook and README, and Quiz 1 and Quiz 2 each have their own link.</a:t>
            </a:r>
          </a:p>
          <a:p>
            <a:r>
              <a:t/>
            </a:r>
          </a:p>
          <a:p>
            <a:r>
              <a:t>On this slide</a:t>
            </a:r>
          </a:p>
          <a:p>
            <a:r>
              <a:t>Describe three engineering problems. For each, state what you would measure or classify and whether machine learning is suitable.</a:t>
            </a:r>
          </a:p>
          <a:p>
            <a:r>
              <a:t/>
            </a:r>
          </a:p>
          <a:p>
            <a:r>
              <a:t>List possible inputs, the target where appropriate, a data source and one limitation for each problem. Choose one problem and dataset and justify your choice.</a:t>
            </a:r>
          </a:p>
          <a:p>
            <a:r>
              <a:t/>
            </a:r>
          </a:p>
          <a:p>
            <a:r>
              <a:t>Write one complete report in DOCX or selectable-text PDF. PPTX with narration notes or notebook evidence is also accepted. Upload through the A1 form; keep its confirmation.</a:t>
            </a:r>
          </a:p>
          <a:p>
            <a:r>
              <a:t/>
            </a:r>
          </a:p>
          <a:p>
            <a:r>
              <a:t>Continue to</a:t>
            </a:r>
          </a:p>
          <a:p>
            <a:r>
              <a:t>Week 1 Assignment A1 catch-up upload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 Assignment A1 catch-up upload</a:t>
            </a:r>
          </a:p>
          <a:p>
            <a:r>
              <a:t>CML3111, Week 2, slide 39</a:t>
            </a:r>
          </a:p>
          <a:p>
            <a:r>
              <a:t/>
            </a:r>
          </a:p>
          <a:p>
            <a:r>
              <a:t>Explanation to give</a:t>
            </a:r>
          </a:p>
          <a:p>
            <a:r>
              <a:t>This slide hands over CML3111 W01. Show the exact form title before uploading. The required packet is one DOCX or selectable-text PDF report.</a:t>
            </a:r>
          </a:p>
          <a:p>
            <a:r>
              <a:t/>
            </a:r>
          </a:p>
          <a:p>
            <a:r>
              <a:t>Worked illustration / lecturer answer</a:t>
            </a:r>
          </a:p>
          <a:p>
            <a:r>
              <a:t>The recorded cutoff for this form is 2026-09-27T08:05:46.219Z.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Submit A1 separately from the A2 notebook and README.</a:t>
            </a:r>
          </a:p>
          <a:p>
            <a:r>
              <a:t/>
            </a:r>
          </a:p>
          <a:p>
            <a:r>
              <a:t>Deadline: 25 Sep 2026, 11:00 Kampala.</a:t>
            </a:r>
          </a:p>
          <a:p>
            <a:r>
              <a:t/>
            </a:r>
          </a:p>
          <a:p>
            <a:r>
              <a:t>Enter your own Student Registration Number; the required field accepts any format.</a:t>
            </a:r>
          </a:p>
          <a:p>
            <a:r>
              <a:t/>
            </a:r>
          </a:p>
          <a:p>
            <a:r>
              <a:t>Continue to</a:t>
            </a:r>
          </a:p>
          <a:p>
            <a:r>
              <a:t>Week 1 Quiz 1 catch-up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 Quiz 1 catch-up</a:t>
            </a:r>
          </a:p>
          <a:p>
            <a:r>
              <a:t>CML3111, Week 2, slide 40</a:t>
            </a:r>
          </a:p>
          <a:p>
            <a:r>
              <a:t/>
            </a:r>
          </a:p>
          <a:p>
            <a:r>
              <a:t>Explanation to give</a:t>
            </a:r>
          </a:p>
          <a:p>
            <a:r>
              <a:t>This is the CML3111 Week 1 quiz. The student link opens the response form; it does not activate its window. In Quiz Controls use open_W1_CML3111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Quiz 1 is required catch-up work, separate from A1.</a:t>
            </a:r>
          </a:p>
          <a:p>
            <a:r>
              <a:t/>
            </a:r>
          </a:p>
          <a:p>
            <a:r>
              <a:t>Complete it individually after lecturer activation.</a:t>
            </a:r>
          </a:p>
          <a:p>
            <a:r>
              <a:t/>
            </a:r>
          </a:p>
          <a:p>
            <a:r>
              <a:t>It closes 24 hours after activation, not at the assignment deadline.</a:t>
            </a:r>
          </a:p>
          <a:p>
            <a:r>
              <a:t/>
            </a:r>
          </a:p>
          <a:p>
            <a:r>
              <a:t>Press Submit and keep your confirmation.</a:t>
            </a:r>
          </a:p>
          <a:p>
            <a:r>
              <a:t/>
            </a:r>
          </a:p>
          <a:p>
            <a:r>
              <a:t>Continue to</a:t>
            </a:r>
          </a:p>
          <a:p>
            <a:r>
              <a:t>Week 2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2 assignment</a:t>
            </a:r>
          </a:p>
          <a:p>
            <a:r>
              <a:t>CML3111, Week 2, slide 41</a:t>
            </a:r>
          </a:p>
          <a:p>
            <a:r>
              <a:t/>
            </a:r>
          </a:p>
          <a:p>
            <a:r>
              <a:t>Explanation to give</a:t>
            </a:r>
          </a:p>
          <a:p>
            <a:r>
              <a:t>For A2, the main working file is proof_of_life.ipynb. The student completes it, writes the execution-order explanation and creates their own README.</a:t>
            </a:r>
          </a:p>
          <a:p>
            <a:r>
              <a:t/>
            </a:r>
          </a:p>
          <a:p>
            <a:r>
              <a:t>Worked illustration / lecturer answer</a:t>
            </a:r>
          </a:p>
          <a:p>
            <a:r>
              <a:t>A fresh successful run should show proof_sum 4, readings 17 and the four rows from the cohort CSV. The repository keeps the notebook and CSV, while the form receives the notebook and README plus its repository URL.</a:t>
            </a:r>
          </a:p>
          <a:p>
            <a:r>
              <a:t/>
            </a:r>
          </a:p>
          <a:p>
            <a:r>
              <a:t>Misconception to address</a:t>
            </a:r>
          </a:p>
          <a:p>
            <a:r>
              <a:t>Repair notebooks 01–04 and hello_engineering.py are practice only. Do not turn them into extra submissions or mistake the supplied package README for the student’s own README.</a:t>
            </a:r>
          </a:p>
          <a:p>
            <a:r>
              <a:t/>
            </a:r>
          </a:p>
          <a:p>
            <a:r>
              <a:t>On this slide</a:t>
            </a:r>
          </a:p>
          <a:p>
            <a:r>
              <a:t>Complete proof_of_life.ipynb and write your own README.md.</a:t>
            </a:r>
          </a:p>
          <a:p>
            <a:r>
              <a:t/>
            </a:r>
          </a:p>
          <a:p>
            <a:r>
              <a:t>The README states your programme, file list and run instructions.</a:t>
            </a:r>
          </a:p>
          <a:p>
            <a:r>
              <a:t/>
            </a:r>
          </a:p>
          <a:p>
            <a:r>
              <a:t>Include the repository URL in the form.</a:t>
            </a:r>
          </a:p>
          <a:p>
            <a:r>
              <a:t/>
            </a:r>
          </a:p>
          <a:p>
            <a:r>
              <a:t>Upload the renamed notebook and README, not the ZIP or 01–04 repair notebooks.</a:t>
            </a:r>
          </a:p>
          <a:p>
            <a:r>
              <a:t/>
            </a:r>
          </a:p>
          <a:p>
            <a:r>
              <a:t>Continue to</a:t>
            </a:r>
          </a:p>
          <a:p>
            <a:r>
              <a:t>Proof of life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Proof of life submission</a:t>
            </a:r>
          </a:p>
          <a:p>
            <a:r>
              <a:t>CML3111, Week 2, slide 42</a:t>
            </a:r>
          </a:p>
          <a:p>
            <a:r>
              <a:t/>
            </a:r>
          </a:p>
          <a:p>
            <a:r>
              <a:t>Explanation to give</a:t>
            </a:r>
          </a:p>
          <a:p>
            <a:r>
              <a:t>This slide hands over CML3111 W02. Show the exact form title before uploading. The required packet is the completed proof_of_life notebook and the learner’s own README.md, with the repository URL in its form field.</a:t>
            </a:r>
          </a:p>
          <a:p>
            <a:r>
              <a:t/>
            </a:r>
          </a:p>
          <a:p>
            <a:r>
              <a:t>Worked illustration / lecturer answer</a:t>
            </a:r>
          </a:p>
          <a:p>
            <a:r>
              <a:t>The recorded cutoff for this form is 2026-09-27T08:05:46.219Z.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18 Sep 2026, 11:00 Kampala</a:t>
            </a:r>
          </a:p>
          <a:p>
            <a:r>
              <a:t/>
            </a:r>
          </a:p>
          <a:p>
            <a:r>
              <a:t>Deadline: 25 Sep 2026, 11:00 Kampala</a:t>
            </a:r>
          </a:p>
          <a:p>
            <a:r>
              <a:t/>
            </a:r>
          </a:p>
          <a:p>
            <a:r>
              <a:t>Use your full Student Registration Number in the form.</a:t>
            </a:r>
          </a:p>
          <a:p>
            <a:r>
              <a:t/>
            </a:r>
          </a:p>
          <a:p>
            <a:r>
              <a:t>Keep the submitted files and confirmation.</a:t>
            </a:r>
          </a:p>
          <a:p>
            <a:r>
              <a:t/>
            </a:r>
          </a:p>
          <a:p>
            <a:r>
              <a:t>Continue to</a:t>
            </a:r>
          </a:p>
          <a:p>
            <a:r>
              <a:t>Week 2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2 quiz</a:t>
            </a:r>
          </a:p>
          <a:p>
            <a:r>
              <a:t>CML3111, Week 2, slide 43</a:t>
            </a:r>
          </a:p>
          <a:p>
            <a:r>
              <a:t/>
            </a:r>
          </a:p>
          <a:p>
            <a:r>
              <a:t>Explanation to give</a:t>
            </a:r>
          </a:p>
          <a:p>
            <a:r>
              <a:t>This is the CML3111 Week 2 quiz. The student link opens the response form; it does not activate its window. In Quiz Controls use open_W2_CML3111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Before you leave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Before you leave</a:t>
            </a:r>
          </a:p>
          <a:p>
            <a:r>
              <a:t>CML3111, Week 2, slide 44</a:t>
            </a:r>
          </a:p>
          <a:p>
            <a:r>
              <a:t/>
            </a:r>
          </a:p>
          <a:p>
            <a:r>
              <a:t>Explanation to give</a:t>
            </a:r>
          </a:p>
          <a:p>
            <a:r>
              <a:t>Today the learner creates, runs, saves and submits a notebook. Separate those actions so a successful run is not mistaken for a saved or submitted file.</a:t>
            </a:r>
          </a:p>
          <a:p>
            <a:r>
              <a:t/>
            </a:r>
          </a:p>
          <a:p>
            <a:r>
              <a:t>Worked illustration / lecturer answer</a:t>
            </a:r>
          </a:p>
          <a:p>
            <a:r>
              <a:t>The runtime remembers readings = 12. One update adding 5 gives 17; repeating only that update gives 22. A fresh run starts at 12 again.</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explain why running the same cell again may change its output.</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e85139a853d425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c9e53b3d1794a93" /><Relationship Type="http://schemas.openxmlformats.org/officeDocument/2006/relationships/slideLayout" Target="/ppt/slideLayouts/slideLayout1.xml" Id="Rb32998d4adf740b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2998d4adf740b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0540dd03cad44d6" /><Relationship Type="http://schemas.openxmlformats.org/officeDocument/2006/relationships/image" Target="/ppt/media/image.png" Id="R60b3be849f8a470e" /><Relationship Type="http://schemas.openxmlformats.org/officeDocument/2006/relationships/notesSlide" Target="/ppt/notesSlides/notesSlide1.xml" Id="R8ab462d65b9a4c6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d98314ec7ed477e" /><Relationship Type="http://schemas.openxmlformats.org/officeDocument/2006/relationships/notesSlide" Target="/ppt/notesSlides/notesSlide2.xml" Id="R04ca6b14a29c42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b28ea43668149e1" /><Relationship Type="http://schemas.openxmlformats.org/officeDocument/2006/relationships/notesSlide" Target="/ppt/notesSlides/notesSlide3.xml" Id="Rbae5d9985a6c4f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b1c3249a2bb4557" /><Relationship Type="http://schemas.openxmlformats.org/officeDocument/2006/relationships/notesSlide" Target="/ppt/notesSlides/notesSlide4.xml" Id="Raab9ab686530466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f754ba282794e7a" /><Relationship Type="http://schemas.openxmlformats.org/officeDocument/2006/relationships/notesSlide" Target="/ppt/notesSlides/notesSlide5.xml" Id="Rf743349153be414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0e324f2e1ed41dc" /><Relationship Type="http://schemas.openxmlformats.org/officeDocument/2006/relationships/image" Target="/ppt/media/image2.png" Id="R0303ebca749b4208" /><Relationship Type="http://schemas.openxmlformats.org/officeDocument/2006/relationships/notesSlide" Target="/ppt/notesSlides/notesSlide6.xml" Id="R8379aa31c19747e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4430847139a4cf6" /><Relationship Type="http://schemas.openxmlformats.org/officeDocument/2006/relationships/notesSlide" Target="/ppt/notesSlides/notesSlide7.xml" Id="R8cf6394a5fae46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7ae9016425c4ea2" /><Relationship Type="http://schemas.openxmlformats.org/officeDocument/2006/relationships/notesSlide" Target="/ppt/notesSlides/notesSlide8.xml" Id="R5af03704426f47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9bd2e77f16b4efd" /><Relationship Type="http://schemas.openxmlformats.org/officeDocument/2006/relationships/notesSlide" Target="/ppt/notesSlides/notesSlide9.xml" Id="R53204e9279374af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495122c9b384cd9" /><Relationship Type="http://schemas.openxmlformats.org/officeDocument/2006/relationships/notesSlide" Target="/ppt/notesSlides/notesSlide10.xml" Id="R40963a2a86a6451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4a543c77fde424f" /><Relationship Type="http://schemas.openxmlformats.org/officeDocument/2006/relationships/notesSlide" Target="/ppt/notesSlides/notesSlide11.xml" Id="R3e56d4264f064b0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8006bd4b4504525" /><Relationship Type="http://schemas.openxmlformats.org/officeDocument/2006/relationships/notesSlide" Target="/ppt/notesSlides/notesSlide12.xml" Id="Refd5ab69bebf494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2b9a4174b56431b" /><Relationship Type="http://schemas.openxmlformats.org/officeDocument/2006/relationships/image" Target="/ppt/media/image3.png" Id="R623166c7623e40b5" /><Relationship Type="http://schemas.openxmlformats.org/officeDocument/2006/relationships/notesSlide" Target="/ppt/notesSlides/notesSlide13.xml" Id="R37ad745867da4d3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84c924dac0d4b03" /><Relationship Type="http://schemas.openxmlformats.org/officeDocument/2006/relationships/notesSlide" Target="/ppt/notesSlides/notesSlide14.xml" Id="Rf5704271a4e2415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e624975ec5a4f33" /><Relationship Type="http://schemas.openxmlformats.org/officeDocument/2006/relationships/notesSlide" Target="/ppt/notesSlides/notesSlide15.xml" Id="Ra1ad9c8374da4a2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ca5405d7af54116" /><Relationship Type="http://schemas.openxmlformats.org/officeDocument/2006/relationships/notesSlide" Target="/ppt/notesSlides/notesSlide16.xml" Id="Rab406c13b1644ca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3f3feeee12f47ae" /><Relationship Type="http://schemas.openxmlformats.org/officeDocument/2006/relationships/notesSlide" Target="/ppt/notesSlides/notesSlide17.xml" Id="R6ea8a98d886c466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3dc53fad874400b" /><Relationship Type="http://schemas.openxmlformats.org/officeDocument/2006/relationships/notesSlide" Target="/ppt/notesSlides/notesSlide18.xml" Id="Rfa368e6789b44e0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595c92360fa4a3e" /><Relationship Type="http://schemas.openxmlformats.org/officeDocument/2006/relationships/notesSlide" Target="/ppt/notesSlides/notesSlide19.xml" Id="Re159cfa4c007447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f212ebf797d474c" /><Relationship Type="http://schemas.openxmlformats.org/officeDocument/2006/relationships/notesSlide" Target="/ppt/notesSlides/notesSlide20.xml" Id="Rdc071da1711f46b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879871ea7f445e8" /><Relationship Type="http://schemas.openxmlformats.org/officeDocument/2006/relationships/image" Target="/ppt/media/image4.png" Id="R31670e4ecd8141dd" /><Relationship Type="http://schemas.openxmlformats.org/officeDocument/2006/relationships/notesSlide" Target="/ppt/notesSlides/notesSlide21.xml" Id="Rbc50a334428840f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9cc5864a705471a" /><Relationship Type="http://schemas.openxmlformats.org/officeDocument/2006/relationships/notesSlide" Target="/ppt/notesSlides/notesSlide22.xml" Id="R981af533acb44a5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d60d2a619094c5f" /><Relationship Type="http://schemas.openxmlformats.org/officeDocument/2006/relationships/notesSlide" Target="/ppt/notesSlides/notesSlide23.xml" Id="Rfd537587204e41d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e60f512fc034e76" /><Relationship Type="http://schemas.openxmlformats.org/officeDocument/2006/relationships/notesSlide" Target="/ppt/notesSlides/notesSlide24.xml" Id="R0ddbecc9e23a405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c8bd71ee9ad4e96" /><Relationship Type="http://schemas.openxmlformats.org/officeDocument/2006/relationships/notesSlide" Target="/ppt/notesSlides/notesSlide25.xml" Id="Rf770b50ab37c430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b63c2e251c94d79" /><Relationship Type="http://schemas.openxmlformats.org/officeDocument/2006/relationships/notesSlide" Target="/ppt/notesSlides/notesSlide26.xml" Id="R0396e876446d4c5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4cc7690cb0f4caa" /><Relationship Type="http://schemas.openxmlformats.org/officeDocument/2006/relationships/notesSlide" Target="/ppt/notesSlides/notesSlide27.xml" Id="R2be8198b75a54f4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71a55b97c674928" /><Relationship Type="http://schemas.openxmlformats.org/officeDocument/2006/relationships/notesSlide" Target="/ppt/notesSlides/notesSlide28.xml" Id="R2dd9f3e6377a440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99f1b6ed28b4862" /><Relationship Type="http://schemas.openxmlformats.org/officeDocument/2006/relationships/notesSlide" Target="/ppt/notesSlides/notesSlide29.xml" Id="R386b2d8a5bef4f6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c8a5a29070a94f5a" /><Relationship Type="http://schemas.openxmlformats.org/officeDocument/2006/relationships/notesSlide" Target="/ppt/notesSlides/notesSlide30.xml" Id="Rcb06e0d808f0442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ab609ffaddab48e9" /><Relationship Type="http://schemas.openxmlformats.org/officeDocument/2006/relationships/notesSlide" Target="/ppt/notesSlides/notesSlide31.xml" Id="R574656bb7a3a484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5df698775c84457b" /><Relationship Type="http://schemas.openxmlformats.org/officeDocument/2006/relationships/hyperlink" Target="https://www.youtube.com/watch?v=v5gnvDUWqFM" TargetMode="External" Id="R2e145639852a447b" /><Relationship Type="http://schemas.openxmlformats.org/officeDocument/2006/relationships/notesSlide" Target="/ppt/notesSlides/notesSlide32.xml" Id="R2fc39ca7cdf549c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68e4e59f070422f" /><Relationship Type="http://schemas.openxmlformats.org/officeDocument/2006/relationships/notesSlide" Target="/ppt/notesSlides/notesSlide33.xml" Id="R4647ea7ad048440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2f3bd2f4cc6422b" /><Relationship Type="http://schemas.openxmlformats.org/officeDocument/2006/relationships/notesSlide" Target="/ppt/notesSlides/notesSlide34.xml" Id="R984a63197567457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788ee62acc64ec9" /><Relationship Type="http://schemas.openxmlformats.org/officeDocument/2006/relationships/notesSlide" Target="/ppt/notesSlides/notesSlide35.xml" Id="R148720745d3f4f7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6886aa288dc4445" /><Relationship Type="http://schemas.openxmlformats.org/officeDocument/2006/relationships/notesSlide" Target="/ppt/notesSlides/notesSlide36.xml" Id="R38c328abe0694fb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6bbb4424fa6342b0" /><Relationship Type="http://schemas.openxmlformats.org/officeDocument/2006/relationships/notesSlide" Target="/ppt/notesSlides/notesSlide37.xml" Id="Rd61f72bb58bf4b5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57dbd672bc0545c5" /><Relationship Type="http://schemas.openxmlformats.org/officeDocument/2006/relationships/notesSlide" Target="/ppt/notesSlides/notesSlide38.xml" Id="R9a8b9dbc21c34e3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487d56d979004868" /><Relationship Type="http://schemas.openxmlformats.org/officeDocument/2006/relationships/hyperlink" Target="https://docs.google.com/forms/d/e/1FAIpQLSeE677AvoxTAOJSdCV5bVYWu34RHPg5tsOLqUVS1E7EVI8sYg/viewform" TargetMode="External" Id="Rd95be2b2f48240c7" /><Relationship Type="http://schemas.openxmlformats.org/officeDocument/2006/relationships/notesSlide" Target="/ppt/notesSlides/notesSlide39.xml" Id="Rcb4063a3a854475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7aa571fd2e594eca" /><Relationship Type="http://schemas.openxmlformats.org/officeDocument/2006/relationships/hyperlink" Target="https://forms.gle/ChK3D2sopncRbbLx5" TargetMode="External" Id="R29f6afc8734a48f9" /><Relationship Type="http://schemas.openxmlformats.org/officeDocument/2006/relationships/notesSlide" Target="/ppt/notesSlides/notesSlide40.xml" Id="R71a94469e3c2415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3880677e96a34a2d" /><Relationship Type="http://schemas.openxmlformats.org/officeDocument/2006/relationships/notesSlide" Target="/ppt/notesSlides/notesSlide41.xml" Id="R415130556f2b451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acd182e6ef6341b3" /><Relationship Type="http://schemas.openxmlformats.org/officeDocument/2006/relationships/hyperlink" Target="https://docs.google.com/forms/d/e/1FAIpQLSfjyYUtobO5sgIWH30AidQu7Sx8bcmH6lSbtHQv-9SISaEDqA/viewform" TargetMode="External" Id="Rd6e8129184b24a02" /><Relationship Type="http://schemas.openxmlformats.org/officeDocument/2006/relationships/notesSlide" Target="/ppt/notesSlides/notesSlide42.xml" Id="R00ff94c63e5e462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b3f99112c236430a" /><Relationship Type="http://schemas.openxmlformats.org/officeDocument/2006/relationships/image" Target="/ppt/media/image5.png" Id="R18c930b7ab2d44a2" /><Relationship Type="http://schemas.openxmlformats.org/officeDocument/2006/relationships/hyperlink" Target="https://forms.gle/326KYcY6JvBqbPa78" TargetMode="External" Id="Raedd6d240dd8410d" /><Relationship Type="http://schemas.openxmlformats.org/officeDocument/2006/relationships/notesSlide" Target="/ppt/notesSlides/notesSlide43.xml" Id="R7373726c6e36480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b117e4f6b7d44245" /><Relationship Type="http://schemas.openxmlformats.org/officeDocument/2006/relationships/notesSlide" Target="/ppt/notesSlides/notesSlide44.xml" Id="R3c8ca4d75dde40d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0b3be849f8a470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827BE42-C541-4EE1-9057-573C6D6DD54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1B48D75-A07A-41B8-8C99-836FC7D14B0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2</a:t>
            </a:r>
          </a:p>
        </p:txBody>
      </p:sp>
      <p:sp>
        <p:nvSpPr>
          <p:cNvPr id="4" name="">
            <a:extLst xmlns:a="http://schemas.openxmlformats.org/drawingml/2006/main">
              <a:ext uri="{FF2B5EF4-FFF2-40B4-BE49-F238E27FC236}">
                <a16:creationId xmlns:a16="http://schemas.microsoft.com/office/drawing/2014/main" id="{7324DDA5-7DB7-49AE-BE07-E46602B9F25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Running and saving your first notebook</a:t>
            </a:r>
          </a:p>
        </p:txBody>
      </p:sp>
      <p:sp>
        <p:nvSpPr>
          <p:cNvPr id="5" name="">
            <a:extLst xmlns:a="http://schemas.openxmlformats.org/drawingml/2006/main">
              <a:ext uri="{FF2B5EF4-FFF2-40B4-BE49-F238E27FC236}">
                <a16:creationId xmlns:a16="http://schemas.microsoft.com/office/drawing/2014/main" id="{9AFBAAE4-5DE3-436C-95FE-009DC60ADEB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9810B0D1-BE89-4FC5-94A7-2DB890CD1DE5}"/>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14957066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12E5C51-EDFB-4C09-98DE-DD6204C926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CBBBE6-DE11-41F8-959E-8CAB9FEA4B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F15575A6-98C0-4913-A3CA-D244EA2AE7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054481A-1CDB-49D4-87D3-8B6569D6A48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866C15-B923-4C17-BF6D-2BEEA9F0751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AE92E26-BAD2-4781-A99B-38A8C5FF8405}"/>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a code cell and find its output.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save and reopen your main notebook.</a:t>
            </a:r>
          </a:p>
        </p:txBody>
      </p:sp>
      <p:sp>
        <p:nvSpPr>
          <p:cNvPr id="7" name="">
            <a:extLst xmlns:a="http://schemas.openxmlformats.org/drawingml/2006/main">
              <a:ext uri="{FF2B5EF4-FFF2-40B4-BE49-F238E27FC236}">
                <a16:creationId xmlns:a16="http://schemas.microsoft.com/office/drawing/2014/main" id="{FA9F65AE-D8DF-49A8-9107-778518DEC7BD}"/>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7AB3EE5F-CBEF-4D1C-8FB5-1145FA5E3E5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why running the same cell again may change its output.</a:t>
            </a:r>
          </a:p>
        </p:txBody>
      </p:sp>
      <p:sp>
        <p:nvSpPr>
          <p:cNvPr id="9" name="">
            <a:extLst xmlns:a="http://schemas.openxmlformats.org/drawingml/2006/main">
              <a:ext uri="{FF2B5EF4-FFF2-40B4-BE49-F238E27FC236}">
                <a16:creationId xmlns:a16="http://schemas.microsoft.com/office/drawing/2014/main" id="{972888CE-9B68-4860-97FD-297A77BB9D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a:t>
            </a:r>
          </a:p>
        </p:txBody>
      </p:sp>
    </p:spTree>
    <p:extLst>
      <p:ext uri="{BB962C8B-B14F-4D97-AF65-F5344CB8AC3E}">
        <p14:creationId xmlns:p14="http://schemas.microsoft.com/office/powerpoint/2010/main" val="50569670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9E72B5-46AB-41D4-9D03-6CCA0FD73A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6CDAFE-45B7-4042-B93C-825DA46E6B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905FC81-0848-4EC4-B7AA-5578B1EC4C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includes your Week 1 catch-up</a:t>
            </a:r>
          </a:p>
        </p:txBody>
      </p:sp>
      <p:sp>
        <p:nvSpPr>
          <p:cNvPr id="4" name="">
            <a:extLst xmlns:a="http://schemas.openxmlformats.org/drawingml/2006/main">
              <a:ext uri="{FF2B5EF4-FFF2-40B4-BE49-F238E27FC236}">
                <a16:creationId xmlns:a16="http://schemas.microsoft.com/office/drawing/2014/main" id="{42924DA1-4E5B-4E23-B836-EBA5A90F52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3ECB1C-C6A7-42CC-BE70-1720D39582D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A1, the Week 1 three-problems assignment, and submit it using the A1 link.</a:t>
            </a:r>
          </a:p>
        </p:txBody>
      </p:sp>
      <p:sp>
        <p:nvSpPr>
          <p:cNvPr id="6" name="">
            <a:extLst xmlns:a="http://schemas.openxmlformats.org/drawingml/2006/main">
              <a:ext uri="{FF2B5EF4-FFF2-40B4-BE49-F238E27FC236}">
                <a16:creationId xmlns:a16="http://schemas.microsoft.com/office/drawing/2014/main" id="{B051559F-91F7-4E39-B36C-F5393D357D1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05BEBB-CFDA-4D52-A7BB-73A1CB38182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Take Quiz 1 when your lecturer activates it. It is separate from the A1 upload.</a:t>
            </a:r>
          </a:p>
        </p:txBody>
      </p:sp>
      <p:sp>
        <p:nvSpPr>
          <p:cNvPr id="8" name="">
            <a:extLst xmlns:a="http://schemas.openxmlformats.org/drawingml/2006/main">
              <a:ext uri="{FF2B5EF4-FFF2-40B4-BE49-F238E27FC236}">
                <a16:creationId xmlns:a16="http://schemas.microsoft.com/office/drawing/2014/main" id="{5B6B2393-14B2-4FD5-8F15-838D6C5C2F8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9A61F0-C725-48E9-977E-B0D78C0A2DF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Also complete today’s A2 notebook and README, and take Quiz 2 when activated. These are four separate tasks.</a:t>
            </a:r>
          </a:p>
        </p:txBody>
      </p:sp>
      <p:sp>
        <p:nvSpPr>
          <p:cNvPr id="10" name="">
            <a:extLst xmlns:a="http://schemas.openxmlformats.org/drawingml/2006/main">
              <a:ext uri="{FF2B5EF4-FFF2-40B4-BE49-F238E27FC236}">
                <a16:creationId xmlns:a16="http://schemas.microsoft.com/office/drawing/2014/main" id="{ECEB0DCD-D043-4827-936C-754870AC87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a:t>
            </a:r>
          </a:p>
        </p:txBody>
      </p:sp>
    </p:spTree>
    <p:extLst>
      <p:ext uri="{BB962C8B-B14F-4D97-AF65-F5344CB8AC3E}">
        <p14:creationId xmlns:p14="http://schemas.microsoft.com/office/powerpoint/2010/main" val="642198009"/>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B7A8ADDE-8AE7-44F9-A6E2-C1A99C43DA5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a:ext uri="{FF2B5EF4-FFF2-40B4-BE49-F238E27FC236}">
                <ns2:creationId id="{EB3C6677-E49A-4F3F-83F5-0BD081A307A1}"/>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a:ext uri="{FF2B5EF4-FFF2-40B4-BE49-F238E27FC236}">
                <ns2:creationId id="{8E2778B9-9C94-453E-B181-8AF0CD502C04}"/>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a:ext uri="{FF2B5EF4-FFF2-40B4-BE49-F238E27FC236}">
                <ns2:creationId id="{2D13F0E2-1296-408F-975D-159182B73120}"/>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A desk is 1.2 metres long. The number is 1.2 and the unit is metres. What other measurements can you describe this way?</a:t>
            </a:r>
          </a:p>
        </p:txBody>
      </p:sp>
      <p:sp>
        <p:nvSpPr>
          <p:cNvPr id="5" name="">
            <a:extLst>
              <a:ext uri="{FF2B5EF4-FFF2-40B4-BE49-F238E27FC236}">
                <ns2:creationId id="{38DED22D-91B5-48FF-A211-66E618CFD472}"/>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Write your answer and the reason for it.</a:t>
            </a:r>
          </a:p>
        </p:txBody>
      </p:sp>
      <p:sp>
        <p:nvSpPr>
          <p:cNvPr id="6" name="">
            <a:extLst>
              <a:ext uri="{FF2B5EF4-FFF2-40B4-BE49-F238E27FC236}">
                <ns2:creationId id="{A21885BB-6E09-46FA-893B-9105C040AF4F}"/>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2   4</a:t>
            </a:r>
          </a:p>
        </p:txBody>
      </p:sp>
    </p:spTree>
    <p:extLst>
      <p:ext uri="{BB962C8B-B14F-4D97-AF65-F5344CB8AC3E}">
        <ns3:creationId val="153885101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7508D5-A5BD-4E0D-9B84-2FCDB6070A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A0CCB0-F338-42F1-B59E-483580BEAA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5BE78E21-F2E8-475B-977D-EE136EF0AA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154A5CFE-8637-46A8-8651-7063048756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17484CA-6CBB-4BAB-897C-BFFE93750CF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8196CC91-C886-425A-B6B4-8365E89D989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45BCE46-B2BF-4244-899A-9B213F294A3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2257AE99-36EE-4DB2-8E7C-A52C3771487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92CBAD9-284F-419C-91B9-5DE9240A78C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B5B88A63-76DD-426A-98B1-2BE20F9A65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5</a:t>
            </a:r>
          </a:p>
        </p:txBody>
      </p:sp>
    </p:spTree>
    <p:extLst>
      <p:ext uri="{BB962C8B-B14F-4D97-AF65-F5344CB8AC3E}">
        <p14:creationId xmlns:p14="http://schemas.microsoft.com/office/powerpoint/2010/main" val="14390013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35CD3F1-2669-4754-B4CC-B0F56860765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C884E2-1A8E-4672-9CCD-476A93A09E33}"/>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Measurements become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303ebca749b4208"/>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7DDCB7E-D1EB-47D2-9BB7-C6AE363E744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1B7C5C-6C02-4E35-B609-00C59DBDE97B}"/>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object was measured? Which quantity was recorded?</a:t>
            </a:r>
          </a:p>
        </p:txBody>
      </p:sp>
      <p:sp>
        <p:nvSpPr>
          <p:cNvPr id="6" name="">
            <a:extLst xmlns:a="http://schemas.openxmlformats.org/drawingml/2006/main">
              <a:ext uri="{FF2B5EF4-FFF2-40B4-BE49-F238E27FC236}">
                <a16:creationId xmlns:a16="http://schemas.microsoft.com/office/drawing/2014/main" id="{CB74912E-260F-4E75-A9AD-A6B1667E0A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6</a:t>
            </a:r>
          </a:p>
        </p:txBody>
      </p:sp>
    </p:spTree>
    <p:extLst>
      <p:ext uri="{BB962C8B-B14F-4D97-AF65-F5344CB8AC3E}">
        <p14:creationId xmlns:p14="http://schemas.microsoft.com/office/powerpoint/2010/main" val="187793496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C6891F-0D0F-4BA2-9E1C-F3669C4223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663D53-20AA-4A24-B457-6D1E50A966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9A4B3F1-D15C-4564-84EB-271292DC91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20E25068-51DB-4823-A3D3-882C52A77ED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A77D3A-B898-4EFB-B66A-0853000261B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File</a:t>
            </a:r>
          </a:p>
        </p:txBody>
      </p:sp>
      <p:sp>
        <p:nvSpPr>
          <p:cNvPr id="6" name="">
            <a:extLst xmlns:a="http://schemas.openxmlformats.org/drawingml/2006/main">
              <a:ext uri="{FF2B5EF4-FFF2-40B4-BE49-F238E27FC236}">
                <a16:creationId xmlns:a16="http://schemas.microsoft.com/office/drawing/2014/main" id="{CAA57849-D289-40DD-8B5E-C87236BAC44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saved item with a name. Its extension tells us the kind: .ipynb is a notebook, .csv a table, .py a Python script and .md a text document.</a:t>
            </a:r>
          </a:p>
        </p:txBody>
      </p:sp>
      <p:sp>
        <p:nvSpPr>
          <p:cNvPr id="7" name="">
            <a:extLst xmlns:a="http://schemas.openxmlformats.org/drawingml/2006/main">
              <a:ext uri="{FF2B5EF4-FFF2-40B4-BE49-F238E27FC236}">
                <a16:creationId xmlns:a16="http://schemas.microsoft.com/office/drawing/2014/main" id="{94B4C7A9-2FDA-4B68-AEF1-8F2CC2695B9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8BEBB97-2122-4F83-81D5-681CE9E6459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Folder</a:t>
            </a:r>
          </a:p>
        </p:txBody>
      </p:sp>
      <p:sp>
        <p:nvSpPr>
          <p:cNvPr id="9" name="">
            <a:extLst xmlns:a="http://schemas.openxmlformats.org/drawingml/2006/main">
              <a:ext uri="{FF2B5EF4-FFF2-40B4-BE49-F238E27FC236}">
                <a16:creationId xmlns:a16="http://schemas.microsoft.com/office/drawing/2014/main" id="{4E84EA66-3A43-4B8E-ABF7-CB9B8EC2C55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container that helps you keep related files together. Extracting a ZIP restores the files inside it.</a:t>
            </a:r>
          </a:p>
        </p:txBody>
      </p:sp>
      <p:sp>
        <p:nvSpPr>
          <p:cNvPr id="10" name="">
            <a:extLst xmlns:a="http://schemas.openxmlformats.org/drawingml/2006/main">
              <a:ext uri="{FF2B5EF4-FFF2-40B4-BE49-F238E27FC236}">
                <a16:creationId xmlns:a16="http://schemas.microsoft.com/office/drawing/2014/main" id="{FBBA366F-F58C-434F-ADFD-D27768E7E8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7</a:t>
            </a:r>
          </a:p>
        </p:txBody>
      </p:sp>
    </p:spTree>
    <p:extLst>
      <p:ext uri="{BB962C8B-B14F-4D97-AF65-F5344CB8AC3E}">
        <p14:creationId xmlns:p14="http://schemas.microsoft.com/office/powerpoint/2010/main" val="1766915355"/>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4FFB80E-4A45-46D2-9E97-6CC19EBA263E}"/>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51EF1174-5B69-4B9C-9803-A5D34B033F86}"/>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4D7B41F1-C9BC-4BAC-8E3B-F4D2E110911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The files in your ZIP</a:t>
            </a:r>
          </a:p>
        </p:txBody>
      </p:sp>
      <p:sp>
        <p:nvSpPr>
          <p:cNvPr id="4" name="">
            <a:extLst>
              <a:ext uri="{FF2B5EF4-FFF2-40B4-BE49-F238E27FC236}">
                <ns2:creationId id="{B768C3CA-EDA3-4F31-9F23-6608780A2E56}"/>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4A2E4B65-816E-40C6-AE0E-990EBB33ABAC}"/>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proof_of_life.ipynb is the main class notebook.</a:t>
            </a:r>
          </a:p>
        </p:txBody>
      </p:sp>
      <p:sp>
        <p:nvSpPr>
          <p:cNvPr id="6" name="">
            <a:extLst>
              <a:ext uri="{FF2B5EF4-FFF2-40B4-BE49-F238E27FC236}">
                <ns2:creationId id="{8822D9A7-34BD-420A-B6DA-B4D62193520E}"/>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677E151E-8171-4120-BAD5-755EED20054F}"/>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Notebooks 01–04 contain errors to identify and fix.</a:t>
            </a:r>
          </a:p>
        </p:txBody>
      </p:sp>
      <p:sp>
        <p:nvSpPr>
          <p:cNvPr id="8" name="">
            <a:extLst>
              <a:ext uri="{FF2B5EF4-FFF2-40B4-BE49-F238E27FC236}">
                <ns2:creationId id="{C3602F55-7EB0-4A46-986C-EDAA4ADD5D24}"/>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F6B36C28-D4BF-4AF8-A147-F6AEFAC9FCBC}"/>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hello_engineering.py shows the same idea as a script.</a:t>
            </a:r>
          </a:p>
        </p:txBody>
      </p:sp>
      <p:sp>
        <p:nvSpPr>
          <p:cNvPr id="10" name="">
            <a:extLst>
              <a:ext uri="{FF2B5EF4-FFF2-40B4-BE49-F238E27FC236}">
                <ns2:creationId id="{44F074F8-8D67-474B-A646-A0A0915631D3}"/>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92D352A4-D195-465F-80AA-9F7599F6FC92}"/>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Return to proof_of_life.ipynb to finish the assignment.</a:t>
            </a:r>
          </a:p>
        </p:txBody>
      </p:sp>
      <p:sp>
        <p:nvSpPr>
          <p:cNvPr id="12" name="">
            <a:extLst>
              <a:ext uri="{FF2B5EF4-FFF2-40B4-BE49-F238E27FC236}">
                <ns2:creationId id="{D1FFE68F-F314-4A5B-BC2E-17B543E29694}"/>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8</a:t>
            </a:r>
          </a:p>
        </p:txBody>
      </p:sp>
    </p:spTree>
    <p:extLst>
      <p:ext uri="{BB962C8B-B14F-4D97-AF65-F5344CB8AC3E}">
        <ns3:creationId val="102270091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0883C6F-4E12-4B1E-BBB0-93B6ED78B0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7366B2-F61B-4437-903C-64798BE484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0C225C-37EC-4A8B-86A4-5C898CDF02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script and a notebook</a:t>
            </a:r>
          </a:p>
        </p:txBody>
      </p:sp>
      <p:sp>
        <p:nvSpPr>
          <p:cNvPr id="4" name="">
            <a:extLst xmlns:a="http://schemas.openxmlformats.org/drawingml/2006/main">
              <a:ext uri="{FF2B5EF4-FFF2-40B4-BE49-F238E27FC236}">
                <a16:creationId xmlns:a16="http://schemas.microsoft.com/office/drawing/2014/main" id="{684A5847-1B44-4849-A848-EFAC0D9BA2C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85AE1E-F0C7-430B-B699-19DEBB99CFD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.py script stores Python instructions in a text file.</a:t>
            </a:r>
          </a:p>
        </p:txBody>
      </p:sp>
      <p:sp>
        <p:nvSpPr>
          <p:cNvPr id="6" name="">
            <a:extLst xmlns:a="http://schemas.openxmlformats.org/drawingml/2006/main">
              <a:ext uri="{FF2B5EF4-FFF2-40B4-BE49-F238E27FC236}">
                <a16:creationId xmlns:a16="http://schemas.microsoft.com/office/drawing/2014/main" id="{BD8E59D3-EA2E-4274-AFDD-2F50D1F3299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E88CA6-9494-46A9-B875-06F55862C6D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stores code cells, explanations and saved outputs.</a:t>
            </a:r>
          </a:p>
        </p:txBody>
      </p:sp>
      <p:sp>
        <p:nvSpPr>
          <p:cNvPr id="8" name="">
            <a:extLst xmlns:a="http://schemas.openxmlformats.org/drawingml/2006/main">
              <a:ext uri="{FF2B5EF4-FFF2-40B4-BE49-F238E27FC236}">
                <a16:creationId xmlns:a16="http://schemas.microsoft.com/office/drawing/2014/main" id="{C81A7FA5-1CC7-4835-BB36-1727E192406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D00CC4-77F2-42B9-8DBD-6C687DD7388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the notebook in Colab for this class.</a:t>
            </a:r>
          </a:p>
        </p:txBody>
      </p:sp>
      <p:sp>
        <p:nvSpPr>
          <p:cNvPr id="10" name="">
            <a:extLst xmlns:a="http://schemas.openxmlformats.org/drawingml/2006/main">
              <a:ext uri="{FF2B5EF4-FFF2-40B4-BE49-F238E27FC236}">
                <a16:creationId xmlns:a16="http://schemas.microsoft.com/office/drawing/2014/main" id="{18382299-7F38-480E-AEF2-1FF195CF8BE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788ADBB-8486-42A1-9BE8-F7E2F5C7481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script is an optional comparison, not an extra upload.</a:t>
            </a:r>
          </a:p>
        </p:txBody>
      </p:sp>
      <p:sp>
        <p:nvSpPr>
          <p:cNvPr id="12" name="">
            <a:extLst xmlns:a="http://schemas.openxmlformats.org/drawingml/2006/main">
              <a:ext uri="{FF2B5EF4-FFF2-40B4-BE49-F238E27FC236}">
                <a16:creationId xmlns:a16="http://schemas.microsoft.com/office/drawing/2014/main" id="{9DD69E72-16C9-468D-8484-63A0B0CABC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9</a:t>
            </a:r>
          </a:p>
        </p:txBody>
      </p:sp>
    </p:spTree>
    <p:extLst>
      <p:ext uri="{BB962C8B-B14F-4D97-AF65-F5344CB8AC3E}">
        <p14:creationId xmlns:p14="http://schemas.microsoft.com/office/powerpoint/2010/main" val="1189917222"/>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4FB51ADF-361B-4A9E-8996-83C6529B0E4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3E2DAFC8-1E0F-4E5C-A4A2-0A72B19D2BBA}"/>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AEEC35D0-FC94-41DB-8D3E-E55CF637F70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main notebook</a:t>
            </a:r>
          </a:p>
        </p:txBody>
      </p:sp>
      <p:sp>
        <p:nvSpPr>
          <p:cNvPr id="4" name="">
            <a:extLst>
              <a:ext uri="{FF2B5EF4-FFF2-40B4-BE49-F238E27FC236}">
                <ns2:creationId id="{51E4816A-B92B-4526-B886-B240AA33ADEB}"/>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A2415BE2-8331-4A27-ABAF-669E327050AD}"/>
              </a:ext>
            </a:extLst>
          </p:cNvPr>
          <p:cNvSpPr>
            <a:spLocks noGrp="1"/>
          </p:cNvSpPr>
          <p:nvPr/>
        </p:nvSpPr>
        <p:spPr>
          <a:xfrm>
            <a:off x="1381125" y="1781175"/>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Download the ZIP for your course code. Extract it into one folder; leave the supplied files together.</a:t>
            </a:r>
          </a:p>
        </p:txBody>
      </p:sp>
      <p:sp>
        <p:nvSpPr>
          <p:cNvPr id="6" name="">
            <a:extLst>
              <a:ext uri="{FF2B5EF4-FFF2-40B4-BE49-F238E27FC236}">
                <ns2:creationId id="{1DE7F100-C8E0-4100-942A-5CC65931E6EA}"/>
              </a:ext>
            </a:extLst>
          </p:cNvPr>
          <p:cNvSpPr>
            <a:spLocks noGrp="1"/>
          </p:cNvSpPr>
          <p:nvPr/>
        </p:nvSpPr>
        <p:spPr>
          <a:xfrm>
            <a:off x="590550" y="3206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023C9368-25D1-4817-ABB7-ACA298A39643}"/>
              </a:ext>
            </a:extLst>
          </p:cNvPr>
          <p:cNvSpPr>
            <a:spLocks noGrp="1"/>
          </p:cNvSpPr>
          <p:nvPr/>
        </p:nvSpPr>
        <p:spPr>
          <a:xfrm>
            <a:off x="1381125" y="3206750"/>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Open Google Colab. Choose Open notebook → Upload and select proof_of_life.ipynb.</a:t>
            </a:r>
          </a:p>
        </p:txBody>
      </p:sp>
      <p:sp>
        <p:nvSpPr>
          <p:cNvPr id="8" name="">
            <a:extLst>
              <a:ext uri="{FF2B5EF4-FFF2-40B4-BE49-F238E27FC236}">
                <ns2:creationId id="{20523AF6-2910-42A8-99EB-CD8B9D69DA9F}"/>
              </a:ext>
            </a:extLst>
          </p:cNvPr>
          <p:cNvSpPr>
            <a:spLocks noGrp="1"/>
          </p:cNvSpPr>
          <p:nvPr/>
        </p:nvSpPr>
        <p:spPr>
          <a:xfrm>
            <a:off x="590550" y="46323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67F1459A-EFC8-4B80-896D-1B3D3344B984}"/>
              </a:ext>
            </a:extLst>
          </p:cNvPr>
          <p:cNvSpPr>
            <a:spLocks noGrp="1"/>
          </p:cNvSpPr>
          <p:nvPr/>
        </p:nvSpPr>
        <p:spPr>
          <a:xfrm>
            <a:off x="1381125" y="4632325"/>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Wait for the notebook page. Find one text block and one code block before clicking Run.</a:t>
            </a:r>
          </a:p>
        </p:txBody>
      </p:sp>
      <p:sp>
        <p:nvSpPr>
          <p:cNvPr id="10" name="">
            <a:extLst>
              <a:ext uri="{FF2B5EF4-FFF2-40B4-BE49-F238E27FC236}">
                <ns2:creationId id="{955F961A-75FA-4B1A-9211-EA7BBD043A53}"/>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10</a:t>
            </a:r>
          </a:p>
        </p:txBody>
      </p:sp>
    </p:spTree>
    <p:extLst>
      <p:ext uri="{BB962C8B-B14F-4D97-AF65-F5344CB8AC3E}">
        <ns3:creationId val="191003829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5BEEB7-B871-426D-8B82-EB6ABD95F7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96D37A-57D7-4637-9BBF-A9638F7624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B6E3FFB-A3C0-4CA6-85A0-F770A414B9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F3C0240B-39A8-4332-A610-A40C13818D0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8B3D13-BDDF-4F3E-BA4A-495CF70F44B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Python and code</a:t>
            </a:r>
          </a:p>
        </p:txBody>
      </p:sp>
      <p:sp>
        <p:nvSpPr>
          <p:cNvPr id="6" name="">
            <a:extLst xmlns:a="http://schemas.openxmlformats.org/drawingml/2006/main">
              <a:ext uri="{FF2B5EF4-FFF2-40B4-BE49-F238E27FC236}">
                <a16:creationId xmlns:a16="http://schemas.microsoft.com/office/drawing/2014/main" id="{0F0F4A25-681C-456B-8138-2605EB76E57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is the language. Code is the instructions written in that language. Running asks the computer to carry them out.</a:t>
            </a:r>
          </a:p>
        </p:txBody>
      </p:sp>
      <p:sp>
        <p:nvSpPr>
          <p:cNvPr id="7" name="">
            <a:extLst xmlns:a="http://schemas.openxmlformats.org/drawingml/2006/main">
              <a:ext uri="{FF2B5EF4-FFF2-40B4-BE49-F238E27FC236}">
                <a16:creationId xmlns:a16="http://schemas.microsoft.com/office/drawing/2014/main" id="{C954202B-7BDB-4689-8321-239BBD962DD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4700D9-91F1-452D-AF12-13EB7CAF5B0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Cell and output</a:t>
            </a:r>
          </a:p>
        </p:txBody>
      </p:sp>
      <p:sp>
        <p:nvSpPr>
          <p:cNvPr id="9" name="">
            <a:extLst xmlns:a="http://schemas.openxmlformats.org/drawingml/2006/main">
              <a:ext uri="{FF2B5EF4-FFF2-40B4-BE49-F238E27FC236}">
                <a16:creationId xmlns:a16="http://schemas.microsoft.com/office/drawing/2014/main" id="{34D32BB6-1E6E-4FD1-9447-EB132307433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cell is one notebook block. A code cell runs instructions; a text cell explains them. Output is the result shown below a code cell.</a:t>
            </a:r>
          </a:p>
        </p:txBody>
      </p:sp>
      <p:sp>
        <p:nvSpPr>
          <p:cNvPr id="10" name="">
            <a:extLst xmlns:a="http://schemas.openxmlformats.org/drawingml/2006/main">
              <a:ext uri="{FF2B5EF4-FFF2-40B4-BE49-F238E27FC236}">
                <a16:creationId xmlns:a16="http://schemas.microsoft.com/office/drawing/2014/main" id="{956B0C46-60C6-4865-BE6F-76272176D7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11</a:t>
            </a:r>
          </a:p>
        </p:txBody>
      </p:sp>
    </p:spTree>
    <p:extLst>
      <p:ext uri="{BB962C8B-B14F-4D97-AF65-F5344CB8AC3E}">
        <p14:creationId xmlns:p14="http://schemas.microsoft.com/office/powerpoint/2010/main" val="3351647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F71CA4-7770-4EB5-A013-D4C9BA2DC1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E75853-A70F-409B-B371-2F8AC6332E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F5E60A-7865-4ECB-8B76-6B236721FB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notebook has two kinds of cell</a:t>
            </a:r>
          </a:p>
        </p:txBody>
      </p:sp>
      <p:sp>
        <p:nvSpPr>
          <p:cNvPr id="4" name="">
            <a:extLst xmlns:a="http://schemas.openxmlformats.org/drawingml/2006/main">
              <a:ext uri="{FF2B5EF4-FFF2-40B4-BE49-F238E27FC236}">
                <a16:creationId xmlns:a16="http://schemas.microsoft.com/office/drawing/2014/main" id="{6CDACB37-9055-4EC4-9D81-8B797F9D95F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1EDA85-B698-443A-8455-8E52E89BB05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code cell contains Python instructions and a run button.</a:t>
            </a:r>
          </a:p>
        </p:txBody>
      </p:sp>
      <p:sp>
        <p:nvSpPr>
          <p:cNvPr id="6" name="">
            <a:extLst xmlns:a="http://schemas.openxmlformats.org/drawingml/2006/main">
              <a:ext uri="{FF2B5EF4-FFF2-40B4-BE49-F238E27FC236}">
                <a16:creationId xmlns:a16="http://schemas.microsoft.com/office/drawing/2014/main" id="{F2FA8CAB-0E89-4E42-9F56-B0B153F1BCC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CA8FE9-07E6-42DA-AC59-A60A4D58873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text cell contains an explanation. It does not run Python.</a:t>
            </a:r>
          </a:p>
        </p:txBody>
      </p:sp>
      <p:sp>
        <p:nvSpPr>
          <p:cNvPr id="8" name="">
            <a:extLst xmlns:a="http://schemas.openxmlformats.org/drawingml/2006/main">
              <a:ext uri="{FF2B5EF4-FFF2-40B4-BE49-F238E27FC236}">
                <a16:creationId xmlns:a16="http://schemas.microsoft.com/office/drawing/2014/main" id="{C77BCB92-B98C-4771-A7AB-1D7CBD31F6C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F4117E-C781-46D4-9E8F-82FE3FAFF7B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output appears below the code cell that produced it.</a:t>
            </a:r>
          </a:p>
        </p:txBody>
      </p:sp>
      <p:sp>
        <p:nvSpPr>
          <p:cNvPr id="10" name="">
            <a:extLst xmlns:a="http://schemas.openxmlformats.org/drawingml/2006/main">
              <a:ext uri="{FF2B5EF4-FFF2-40B4-BE49-F238E27FC236}">
                <a16:creationId xmlns:a16="http://schemas.microsoft.com/office/drawing/2014/main" id="{5BF9EDD6-E112-4DAF-BAB3-B1774529EE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12</a:t>
            </a:r>
          </a:p>
        </p:txBody>
      </p:sp>
    </p:spTree>
    <p:extLst>
      <p:ext uri="{BB962C8B-B14F-4D97-AF65-F5344CB8AC3E}">
        <p14:creationId xmlns:p14="http://schemas.microsoft.com/office/powerpoint/2010/main" val="83467920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B99945D-1A36-4F3D-BE09-797F3D9A2BD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66D160-98FD-466F-B52A-69CF2875EB6F}"/>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Cells share one Python session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623166c7623e40b5"/>
          <a:stretch xmlns:a="http://schemas.openxmlformats.org/drawingml/2006/main"/>
        </p:blipFill>
        <p:spPr>
          <a:xfrm xmlns:a="http://schemas.openxmlformats.org/drawingml/2006/main">
            <a:off x="903961" y="1057275"/>
            <a:ext cx="1038407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1A59E50-4FF1-4A89-9C27-38476320A80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00A867-1C1C-4A06-ABEB-C761A44DAD5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 code cell runs instructions. A text cell explains them.</a:t>
            </a:r>
          </a:p>
        </p:txBody>
      </p:sp>
      <p:sp>
        <p:nvSpPr>
          <p:cNvPr id="6" name="">
            <a:extLst xmlns:a="http://schemas.openxmlformats.org/drawingml/2006/main">
              <a:ext uri="{FF2B5EF4-FFF2-40B4-BE49-F238E27FC236}">
                <a16:creationId xmlns:a16="http://schemas.microsoft.com/office/drawing/2014/main" id="{935B2FD0-9761-4D12-B41A-751271267D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13</a:t>
            </a:r>
          </a:p>
        </p:txBody>
      </p:sp>
    </p:spTree>
    <p:extLst>
      <p:ext uri="{BB962C8B-B14F-4D97-AF65-F5344CB8AC3E}">
        <p14:creationId xmlns:p14="http://schemas.microsoft.com/office/powerpoint/2010/main" val="71979137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FBB05D-74AE-4D6B-84D6-CB45C8462C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A0C775-9C6D-44C9-AAB8-E8E0AD8626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8A718E5-A455-47D7-BAD9-E8763A458C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C8243609-81C9-46D8-93A0-656DE1030B8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7BBE3B-0C96-489B-BDA6-5A97E4B2CA3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C0D25BEE-DA83-4EC5-93FF-AA499648C82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D700A53C-EF5B-4136-9C54-19D7B333583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779EF63-748F-4D27-964B-9689F149EB8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7348F43F-4EC6-474C-93B3-C5EF20D0276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B6937DA0-D9A3-4EC4-8EC9-B39B5FAF84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14</a:t>
            </a:r>
          </a:p>
        </p:txBody>
      </p:sp>
    </p:spTree>
    <p:extLst>
      <p:ext uri="{BB962C8B-B14F-4D97-AF65-F5344CB8AC3E}">
        <p14:creationId xmlns:p14="http://schemas.microsoft.com/office/powerpoint/2010/main" val="90047599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F88A25-0491-40DB-8AF0-D44ACB2095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07821D-712F-48AB-99AB-DE572E04B0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D365AE9-7C37-4725-B284-52DBB198EE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Give a value a name</a:t>
            </a:r>
          </a:p>
        </p:txBody>
      </p:sp>
      <p:sp>
        <p:nvSpPr>
          <p:cNvPr id="4" name="">
            <a:extLst xmlns:a="http://schemas.openxmlformats.org/drawingml/2006/main">
              <a:ext uri="{FF2B5EF4-FFF2-40B4-BE49-F238E27FC236}">
                <a16:creationId xmlns:a16="http://schemas.microsoft.com/office/drawing/2014/main" id="{A7B6F70A-02E8-4FED-83D9-575A2B19D55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144776-EE2C-45A4-9EF2-CEDF39853C2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F5E373FD-4DB2-48D0-A6B8-3045B19760D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variable is a name referring to a value. In readings = 12, readings is the name and 12 is its initial number.</a:t>
            </a:r>
          </a:p>
        </p:txBody>
      </p:sp>
      <p:sp>
        <p:nvSpPr>
          <p:cNvPr id="7" name="">
            <a:extLst xmlns:a="http://schemas.openxmlformats.org/drawingml/2006/main">
              <a:ext uri="{FF2B5EF4-FFF2-40B4-BE49-F238E27FC236}">
                <a16:creationId xmlns:a16="http://schemas.microsoft.com/office/drawing/2014/main" id="{596FD331-F929-43F0-88D2-24CF7FD70E9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9B0F269-E097-4081-BD96-A5704764C5C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Assignment</a:t>
            </a:r>
          </a:p>
        </p:txBody>
      </p:sp>
      <p:sp>
        <p:nvSpPr>
          <p:cNvPr id="9" name="">
            <a:extLst xmlns:a="http://schemas.openxmlformats.org/drawingml/2006/main">
              <a:ext uri="{FF2B5EF4-FFF2-40B4-BE49-F238E27FC236}">
                <a16:creationId xmlns:a16="http://schemas.microsoft.com/office/drawing/2014/main" id="{AA77AD78-1784-4DEF-811B-2904E0FD58B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 = as “assign”, not “is equal to”. Python calculates the right side first, then gives that value to the name on the left. A later assignment replaces its previous value.</a:t>
            </a:r>
          </a:p>
        </p:txBody>
      </p:sp>
      <p:sp>
        <p:nvSpPr>
          <p:cNvPr id="10" name="">
            <a:extLst xmlns:a="http://schemas.openxmlformats.org/drawingml/2006/main">
              <a:ext uri="{FF2B5EF4-FFF2-40B4-BE49-F238E27FC236}">
                <a16:creationId xmlns:a16="http://schemas.microsoft.com/office/drawing/2014/main" id="{5F3F566E-4F28-48A0-B6C2-CF3951469C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15</a:t>
            </a:r>
          </a:p>
        </p:txBody>
      </p:sp>
    </p:spTree>
    <p:extLst>
      <p:ext uri="{BB962C8B-B14F-4D97-AF65-F5344CB8AC3E}">
        <p14:creationId xmlns:p14="http://schemas.microsoft.com/office/powerpoint/2010/main" val="185104790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C7BF7A-174D-4B6E-A4A0-6D8738CCC0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7A4174-AFE4-459E-BF0C-48F0EBC9E9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9370B1A-C35C-4085-9038-B6E0C8D61C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Four symbols in our first program</a:t>
            </a:r>
          </a:p>
        </p:txBody>
      </p:sp>
      <p:sp>
        <p:nvSpPr>
          <p:cNvPr id="4" name="">
            <a:extLst xmlns:a="http://schemas.openxmlformats.org/drawingml/2006/main">
              <a:ext uri="{FF2B5EF4-FFF2-40B4-BE49-F238E27FC236}">
                <a16:creationId xmlns:a16="http://schemas.microsoft.com/office/drawing/2014/main" id="{9CDFE146-D770-4336-BF03-639444DC18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3D3AEE0-2F7D-430F-84C4-525BD76B3CB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the value on the right to the name on the left.</a:t>
            </a:r>
          </a:p>
        </p:txBody>
      </p:sp>
      <p:sp>
        <p:nvSpPr>
          <p:cNvPr id="6" name="">
            <a:extLst xmlns:a="http://schemas.openxmlformats.org/drawingml/2006/main">
              <a:ext uri="{FF2B5EF4-FFF2-40B4-BE49-F238E27FC236}">
                <a16:creationId xmlns:a16="http://schemas.microsoft.com/office/drawing/2014/main" id="{2D31F9EF-9B13-48C4-A46C-EBBFFA1320D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DB514D-871A-4A98-9946-7622D55251A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adds numbers. print(...) displays a value.</a:t>
            </a:r>
          </a:p>
        </p:txBody>
      </p:sp>
      <p:sp>
        <p:nvSpPr>
          <p:cNvPr id="8" name="">
            <a:extLst xmlns:a="http://schemas.openxmlformats.org/drawingml/2006/main">
              <a:ext uri="{FF2B5EF4-FFF2-40B4-BE49-F238E27FC236}">
                <a16:creationId xmlns:a16="http://schemas.microsoft.com/office/drawing/2014/main" id="{14C96305-9F23-4C82-82B2-EF55B64204C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CC9EE35-58CC-4F4A-BC5D-F83694E2166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starts a comment for the person reading the code.</a:t>
            </a:r>
          </a:p>
        </p:txBody>
      </p:sp>
      <p:sp>
        <p:nvSpPr>
          <p:cNvPr id="10" name="">
            <a:extLst xmlns:a="http://schemas.openxmlformats.org/drawingml/2006/main">
              <a:ext uri="{FF2B5EF4-FFF2-40B4-BE49-F238E27FC236}">
                <a16:creationId xmlns:a16="http://schemas.microsoft.com/office/drawing/2014/main" id="{EAB7D80B-D1A7-4FC0-911D-4E4C47096E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16</a:t>
            </a:r>
          </a:p>
        </p:txBody>
      </p:sp>
    </p:spTree>
    <p:extLst>
      <p:ext uri="{BB962C8B-B14F-4D97-AF65-F5344CB8AC3E}">
        <p14:creationId xmlns:p14="http://schemas.microsoft.com/office/powerpoint/2010/main" val="80284567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A31F30-6635-42C5-9AD7-2EA71B419D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62685A-736D-4C46-B405-49F9117FB9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0133EC-0C53-4822-B4F1-7599689E57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session remembers earlier values</a:t>
            </a:r>
          </a:p>
        </p:txBody>
      </p:sp>
      <p:sp>
        <p:nvSpPr>
          <p:cNvPr id="4" name="">
            <a:extLst xmlns:a="http://schemas.openxmlformats.org/drawingml/2006/main">
              <a:ext uri="{FF2B5EF4-FFF2-40B4-BE49-F238E27FC236}">
                <a16:creationId xmlns:a16="http://schemas.microsoft.com/office/drawing/2014/main" id="{A806D2B3-C681-43B3-B269-74AF9BF1AD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977690-4D17-4090-8205-CDF25DFD141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cell assigns 12 to readings.</a:t>
            </a:r>
          </a:p>
        </p:txBody>
      </p:sp>
      <p:sp>
        <p:nvSpPr>
          <p:cNvPr id="6" name="">
            <a:extLst xmlns:a="http://schemas.openxmlformats.org/drawingml/2006/main">
              <a:ext uri="{FF2B5EF4-FFF2-40B4-BE49-F238E27FC236}">
                <a16:creationId xmlns:a16="http://schemas.microsoft.com/office/drawing/2014/main" id="{1FD0C901-6554-4BD9-B78B-D53F108681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DCFCA7-5446-496E-9D3D-BEEC61B44DD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next cell adds 5 to the value currently stored.</a:t>
            </a:r>
          </a:p>
        </p:txBody>
      </p:sp>
      <p:sp>
        <p:nvSpPr>
          <p:cNvPr id="8" name="">
            <a:extLst xmlns:a="http://schemas.openxmlformats.org/drawingml/2006/main">
              <a:ext uri="{FF2B5EF4-FFF2-40B4-BE49-F238E27FC236}">
                <a16:creationId xmlns:a16="http://schemas.microsoft.com/office/drawing/2014/main" id="{A606E897-4B64-4298-855C-8AF0CCB0576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847513-906D-40B5-B319-B4505255B32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Running only the second cell again adds another 5.</a:t>
            </a:r>
          </a:p>
        </p:txBody>
      </p:sp>
      <p:sp>
        <p:nvSpPr>
          <p:cNvPr id="10" name="">
            <a:extLst xmlns:a="http://schemas.openxmlformats.org/drawingml/2006/main">
              <a:ext uri="{FF2B5EF4-FFF2-40B4-BE49-F238E27FC236}">
                <a16:creationId xmlns:a16="http://schemas.microsoft.com/office/drawing/2014/main" id="{1945A138-DE28-4D45-9D1F-8D52768073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17</a:t>
            </a:r>
          </a:p>
        </p:txBody>
      </p:sp>
    </p:spTree>
    <p:extLst>
      <p:ext uri="{BB962C8B-B14F-4D97-AF65-F5344CB8AC3E}">
        <p14:creationId xmlns:p14="http://schemas.microsoft.com/office/powerpoint/2010/main" val="408659891"/>
      </p:ext>
    </p:extLst>
  </p:cSld>
</p:sld>
</file>

<file path=ppt/slides/slide1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EF754B59-273A-4EA1-BF21-2A677353222D}"/>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A465C903-C85B-4913-ACCF-CEA4466D7C09}"/>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a:ext uri="{FF2B5EF4-FFF2-40B4-BE49-F238E27FC236}">
                <ns2:creationId id="{D25D34A0-C3FA-4D66-A337-603E713F219F}"/>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a:ext uri="{FF2B5EF4-FFF2-40B4-BE49-F238E27FC236}">
                <ns2:creationId id="{1A3CEA18-F3D9-4CCA-9832-480F131AED7A}"/>
              </a:ext>
            </a:extLst>
          </p:cNvPr>
          <p:cNvSpPr>
            <a:spLocks noGrp="1"/>
          </p:cNvSpPr>
          <p:nvPr/>
        </p:nvSpPr>
        <p:spPr>
          <a:xfrm>
            <a:off x="523875" y="1695450"/>
            <a:ext cx="7296150" cy="3409950"/>
          </a:xfrm>
          <a:prstGeom prst="rect">
            <a:avLst/>
          </a:prstGeom>
          <a:solidFill>
            <a:srgbClr val="1C3144"/>
          </a:solidFill>
          <a:ln w="0">
            <a:noFill/>
          </a:ln>
        </p:spPr>
      </p:sp>
      <p:sp>
        <p:nvSpPr>
          <p:cNvPr id="5" name="">
            <a:extLst>
              <a:ext uri="{FF2B5EF4-FFF2-40B4-BE49-F238E27FC236}">
                <ns2:creationId id="{40B23849-6681-46A7-B9F5-CB495349555C}"/>
              </a:ext>
            </a:extLst>
          </p:cNvPr>
          <p:cNvSpPr>
            <a:spLocks noGrp="1"/>
          </p:cNvSpPr>
          <p:nvPr/>
        </p:nvSpPr>
        <p:spPr>
          <a:xfrm>
            <a:off x="685800" y="1866900"/>
            <a:ext cx="6991350" cy="3143250"/>
          </a:xfrm>
          <a:prstGeom prst="rect">
            <a:avLst/>
          </a:prstGeom>
          <a:noFill/>
          <a:ln w="0">
            <a:noFill/>
          </a:ln>
        </p:spPr>
        <p:txBody>
          <a:bodyPr>
            <a:noAutofit/>
          </a:bodyPr>
          <a:lstStyle/>
          <a:p>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a:t>
            </a:r>
          </a:p>
          <a:p>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Run the next two lines in a SECOND cell.</a:t>
            </a:r>
          </a:p>
          <a:p>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readings + 5</a:t>
            </a:r>
          </a:p>
          <a:p>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print(readings)</a:t>
            </a:r>
          </a:p>
        </p:txBody>
      </p:sp>
      <p:sp>
        <p:nvSpPr>
          <p:cNvPr id="6" name="">
            <a:extLst>
              <a:ext uri="{FF2B5EF4-FFF2-40B4-BE49-F238E27FC236}">
                <ns2:creationId id="{DFB4EDAF-5754-4411-BCDA-A3054A954F45}"/>
              </a:ext>
            </a:extLst>
          </p:cNvPr>
          <p:cNvSpPr>
            <a:spLocks noGrp="1"/>
          </p:cNvSpPr>
          <p:nvPr/>
        </p:nvSpPr>
        <p:spPr>
          <a:xfrm>
            <a:off x="8096250" y="1714500"/>
            <a:ext cx="3429000" cy="342900"/>
          </a:xfrm>
          <a:prstGeom prst="rect">
            <a:avLst/>
          </a:prstGeom>
          <a:noFill/>
          <a:ln w="0">
            <a:noFill/>
          </a:ln>
        </p:spPr>
        <p:txBody>
          <a:bodyPr>
            <a:noAutofit/>
          </a:bodyPr>
          <a:lstStyle/>
          <a:p>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a:ext uri="{FF2B5EF4-FFF2-40B4-BE49-F238E27FC236}">
                <ns2:creationId id="{64970C20-AF06-4076-B834-53986798463A}"/>
              </a:ext>
            </a:extLst>
          </p:cNvPr>
          <p:cNvSpPr>
            <a:spLocks noGrp="1"/>
          </p:cNvSpPr>
          <p:nvPr/>
        </p:nvSpPr>
        <p:spPr>
          <a:xfrm>
            <a:off x="8096250" y="2209800"/>
            <a:ext cx="3333750" cy="942975"/>
          </a:xfrm>
          <a:prstGeom prst="rect">
            <a:avLst/>
          </a:prstGeom>
          <a:noFill/>
          <a:ln w="0">
            <a:noFill/>
          </a:ln>
        </p:spPr>
        <p:txBody>
          <a:bodyPr>
            <a:noAutofit/>
          </a:bodyPr>
          <a:lstStyle/>
          <a:p>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a:ext uri="{FF2B5EF4-FFF2-40B4-BE49-F238E27FC236}">
                <ns2:creationId id="{B69DB495-F9BF-42C7-BAE1-1BFCB218552E}"/>
              </a:ext>
            </a:extLst>
          </p:cNvPr>
          <p:cNvSpPr>
            <a:spLocks noGrp="1"/>
          </p:cNvSpPr>
          <p:nvPr/>
        </p:nvSpPr>
        <p:spPr>
          <a:xfrm>
            <a:off x="8096250" y="3276600"/>
            <a:ext cx="3333750" cy="942975"/>
          </a:xfrm>
          <a:prstGeom prst="rect">
            <a:avLst/>
          </a:prstGeom>
          <a:noFill/>
          <a:ln w="0">
            <a:noFill/>
          </a:ln>
        </p:spPr>
        <p:txBody>
          <a:bodyPr>
            <a:noAutofit/>
          </a:bodyPr>
          <a:lstStyle/>
          <a:p>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a:ext uri="{FF2B5EF4-FFF2-40B4-BE49-F238E27FC236}">
                <ns2:creationId id="{8B7FFB69-F478-4E6C-9B0D-876DD097701D}"/>
              </a:ext>
            </a:extLst>
          </p:cNvPr>
          <p:cNvSpPr>
            <a:spLocks noGrp="1"/>
          </p:cNvSpPr>
          <p:nvPr/>
        </p:nvSpPr>
        <p:spPr>
          <a:xfrm>
            <a:off x="685800" y="5829300"/>
            <a:ext cx="10668000" cy="476250"/>
          </a:xfrm>
          <a:prstGeom prst="rect">
            <a:avLst/>
          </a:prstGeom>
          <a:noFill/>
          <a:ln w="0">
            <a:noFill/>
          </a:ln>
        </p:spPr>
        <p:txBody>
          <a:bodyPr>
            <a:noAutofit/>
          </a:bodyPr>
          <a:lstStyle/>
          <a:p>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then predict its output before running it.</a:t>
            </a:r>
          </a:p>
        </p:txBody>
      </p:sp>
      <p:sp>
        <p:nvSpPr>
          <p:cNvPr id="10" name="">
            <a:extLst>
              <a:ext uri="{FF2B5EF4-FFF2-40B4-BE49-F238E27FC236}">
                <ns2:creationId id="{AA463B45-4A78-4BE2-AC1A-3E3E8F21943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18</a:t>
            </a:r>
          </a:p>
        </p:txBody>
      </p:sp>
    </p:spTree>
    <p:extLst>
      <p:ext uri="{BB962C8B-B14F-4D97-AF65-F5344CB8AC3E}">
        <ns3:creationId val="112474391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4809E1-9987-4553-8C1B-0E98031D46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410DF6-73A3-46AE-AF3D-8F32A10504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2F01A7AC-4F0A-496D-9B48-71320E8FB5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32CE06F1-150B-46CA-AA50-4136916BA208}"/>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FA54A0-AF5A-4FFE-92C9-9526DD68163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17 on the first run of the second cell; 22 on its second run; 27 on its third.</a:t>
            </a:r>
          </a:p>
        </p:txBody>
      </p:sp>
      <p:sp>
        <p:nvSpPr>
          <p:cNvPr id="6" name="">
            <a:extLst xmlns:a="http://schemas.openxmlformats.org/drawingml/2006/main">
              <a:ext uri="{FF2B5EF4-FFF2-40B4-BE49-F238E27FC236}">
                <a16:creationId xmlns:a16="http://schemas.microsoft.com/office/drawing/2014/main" id="{48A85114-648A-459E-B413-D9082A0302F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552BF609-6213-4F27-BF28-096CAF6977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19</a:t>
            </a:r>
          </a:p>
        </p:txBody>
      </p:sp>
    </p:spTree>
    <p:extLst>
      <p:ext uri="{BB962C8B-B14F-4D97-AF65-F5344CB8AC3E}">
        <p14:creationId xmlns:p14="http://schemas.microsoft.com/office/powerpoint/2010/main" val="135579675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1454FD6-B930-4640-9092-05D839B619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BB5C66-6720-4EE4-91A2-F36FBF232E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BBFC6D9-1B2C-4217-8D42-766C0021D8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Runtime</a:t>
            </a:r>
          </a:p>
        </p:txBody>
      </p:sp>
      <p:sp>
        <p:nvSpPr>
          <p:cNvPr id="4" name="">
            <a:extLst xmlns:a="http://schemas.openxmlformats.org/drawingml/2006/main">
              <a:ext uri="{FF2B5EF4-FFF2-40B4-BE49-F238E27FC236}">
                <a16:creationId xmlns:a16="http://schemas.microsoft.com/office/drawing/2014/main" id="{7977AAC7-2A43-429E-B4CC-1A8DA750669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4400DE-9ACF-479C-BEE2-B480085746E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Runtime</a:t>
            </a:r>
          </a:p>
        </p:txBody>
      </p:sp>
      <p:sp>
        <p:nvSpPr>
          <p:cNvPr id="6" name="">
            <a:extLst xmlns:a="http://schemas.openxmlformats.org/drawingml/2006/main">
              <a:ext uri="{FF2B5EF4-FFF2-40B4-BE49-F238E27FC236}">
                <a16:creationId xmlns:a16="http://schemas.microsoft.com/office/drawing/2014/main" id="{4E0A0C6D-3F42-469E-987E-08F7B801261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The running Python session and its current memory. Restarting clears variables. Downloading the notebook saves the document, not the whole running computer.</a:t>
            </a:r>
          </a:p>
        </p:txBody>
      </p:sp>
      <p:sp>
        <p:nvSpPr>
          <p:cNvPr id="7" name="">
            <a:extLst xmlns:a="http://schemas.openxmlformats.org/drawingml/2006/main">
              <a:ext uri="{FF2B5EF4-FFF2-40B4-BE49-F238E27FC236}">
                <a16:creationId xmlns:a16="http://schemas.microsoft.com/office/drawing/2014/main" id="{DE9C52E0-A61E-4FC0-BD70-AE691185D5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20</a:t>
            </a:r>
          </a:p>
        </p:txBody>
      </p:sp>
    </p:spTree>
    <p:extLst>
      <p:ext uri="{BB962C8B-B14F-4D97-AF65-F5344CB8AC3E}">
        <p14:creationId xmlns:p14="http://schemas.microsoft.com/office/powerpoint/2010/main" val="152991707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37ECBC-700A-4FE8-B191-008EC384754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811564-DDDD-4A79-8056-7FA386DCC71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Execution order changes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1670e4ecd8141dd"/>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C16C8AC-23EF-4202-9E3D-2A88781FBE3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9BEEBC-CD2F-4335-86E4-7F537EED836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Restart, then run all cells in order before submission.</a:t>
            </a:r>
          </a:p>
        </p:txBody>
      </p:sp>
      <p:sp>
        <p:nvSpPr>
          <p:cNvPr id="6" name="">
            <a:extLst xmlns:a="http://schemas.openxmlformats.org/drawingml/2006/main">
              <a:ext uri="{FF2B5EF4-FFF2-40B4-BE49-F238E27FC236}">
                <a16:creationId xmlns:a16="http://schemas.microsoft.com/office/drawing/2014/main" id="{01C0F264-ED0D-4CDA-A4EB-1094B8A132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21</a:t>
            </a:r>
          </a:p>
        </p:txBody>
      </p:sp>
    </p:spTree>
    <p:extLst>
      <p:ext uri="{BB962C8B-B14F-4D97-AF65-F5344CB8AC3E}">
        <p14:creationId xmlns:p14="http://schemas.microsoft.com/office/powerpoint/2010/main" val="395753784"/>
      </p:ext>
    </p:extLst>
  </p:cSld>
</p:sld>
</file>

<file path=ppt/slides/slide2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08FBB125-74C2-4DD9-A414-ADC0C8954DFD}"/>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B2552581-A412-4CFD-8949-56D65FC0F900}"/>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PRACTICE   5 MINUTES</a:t>
            </a:r>
          </a:p>
        </p:txBody>
      </p:sp>
      <p:sp>
        <p:nvSpPr>
          <p:cNvPr id="3" name="">
            <a:extLst>
              <a:ext uri="{FF2B5EF4-FFF2-40B4-BE49-F238E27FC236}">
                <ns2:creationId id="{82C8D685-EF43-44EA-A8AC-8F97E5F1F559}"/>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Tracing stored values</a:t>
            </a:r>
          </a:p>
        </p:txBody>
      </p:sp>
      <p:sp>
        <p:nvSpPr>
          <p:cNvPr id="4" name="">
            <a:extLst>
              <a:ext uri="{FF2B5EF4-FFF2-40B4-BE49-F238E27FC236}">
                <ns2:creationId id="{9E92B48F-03E0-462F-81BC-B1A618788942}"/>
              </a:ext>
            </a:extLst>
          </p:cNvPr>
          <p:cNvSpPr>
            <a:spLocks noGrp="1"/>
          </p:cNvSpPr>
          <p:nvPr/>
        </p:nvSpPr>
        <p:spPr>
          <a:xfrm>
            <a:off x="619125" y="1809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77C77CB1-DE72-4050-98E0-5EC59C0A7814}"/>
              </a:ext>
            </a:extLst>
          </p:cNvPr>
          <p:cNvSpPr>
            <a:spLocks noGrp="1"/>
          </p:cNvSpPr>
          <p:nvPr/>
        </p:nvSpPr>
        <p:spPr>
          <a:xfrm>
            <a:off x="1409700" y="1809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Write 12 on paper. This is the current value.</a:t>
            </a:r>
          </a:p>
        </p:txBody>
      </p:sp>
      <p:sp>
        <p:nvSpPr>
          <p:cNvPr id="6" name="">
            <a:extLst>
              <a:ext uri="{FF2B5EF4-FFF2-40B4-BE49-F238E27FC236}">
                <ns2:creationId id="{D32E9837-98CB-4885-91E4-D7A578CF7995}"/>
              </a:ext>
            </a:extLst>
          </p:cNvPr>
          <p:cNvSpPr>
            <a:spLocks noGrp="1"/>
          </p:cNvSpPr>
          <p:nvPr/>
        </p:nvSpPr>
        <p:spPr>
          <a:xfrm>
            <a:off x="619125" y="31432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87FD4679-DC3C-494F-9B35-2A66B2250B62}"/>
              </a:ext>
            </a:extLst>
          </p:cNvPr>
          <p:cNvSpPr>
            <a:spLocks noGrp="1"/>
          </p:cNvSpPr>
          <p:nvPr/>
        </p:nvSpPr>
        <p:spPr>
          <a:xfrm>
            <a:off x="1409700" y="31432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Add 5 and replace the old number with the result.</a:t>
            </a:r>
          </a:p>
        </p:txBody>
      </p:sp>
      <p:sp>
        <p:nvSpPr>
          <p:cNvPr id="8" name="">
            <a:extLst>
              <a:ext uri="{FF2B5EF4-FFF2-40B4-BE49-F238E27FC236}">
                <ns2:creationId id="{CE90521C-D709-42FE-BCEE-A397A218EB6D}"/>
              </a:ext>
            </a:extLst>
          </p:cNvPr>
          <p:cNvSpPr>
            <a:spLocks noGrp="1"/>
          </p:cNvSpPr>
          <p:nvPr/>
        </p:nvSpPr>
        <p:spPr>
          <a:xfrm>
            <a:off x="619125" y="4476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0063C95C-C962-41C0-AAD7-A6B21DCAFBF0}"/>
              </a:ext>
            </a:extLst>
          </p:cNvPr>
          <p:cNvSpPr>
            <a:spLocks noGrp="1"/>
          </p:cNvSpPr>
          <p:nvPr/>
        </p:nvSpPr>
        <p:spPr>
          <a:xfrm>
            <a:off x="1409700" y="4476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Repeat only that addition once. What value remains?</a:t>
            </a:r>
          </a:p>
        </p:txBody>
      </p:sp>
      <p:sp>
        <p:nvSpPr>
          <p:cNvPr id="10" name="">
            <a:extLst>
              <a:ext uri="{FF2B5EF4-FFF2-40B4-BE49-F238E27FC236}">
                <ns2:creationId id="{6CD6D37E-F949-41AA-9B5F-32711609E868}"/>
              </a:ext>
            </a:extLst>
          </p:cNvPr>
          <p:cNvSpPr>
            <a:spLocks noGrp="1"/>
          </p:cNvSpPr>
          <p:nvPr/>
        </p:nvSpPr>
        <p:spPr>
          <a:xfrm>
            <a:off x="0" y="5915025"/>
            <a:ext cx="12191695" cy="466725"/>
          </a:xfrm>
          <a:prstGeom prst="rect">
            <a:avLst/>
          </a:prstGeom>
          <a:solidFill>
            <a:srgbClr val="E5F1EE"/>
          </a:solidFill>
          <a:ln w="0">
            <a:noFill/>
          </a:ln>
        </p:spPr>
      </p:sp>
      <p:sp>
        <p:nvSpPr>
          <p:cNvPr id="11" name="">
            <a:extLst>
              <a:ext uri="{FF2B5EF4-FFF2-40B4-BE49-F238E27FC236}">
                <ns2:creationId id="{70A840A9-AD61-4C6F-9A5D-E358E95B6572}"/>
              </a:ext>
            </a:extLst>
          </p:cNvPr>
          <p:cNvSpPr>
            <a:spLocks noGrp="1"/>
          </p:cNvSpPr>
          <p:nvPr/>
        </p:nvSpPr>
        <p:spPr>
          <a:xfrm>
            <a:off x="619125" y="5981700"/>
            <a:ext cx="10810875" cy="361950"/>
          </a:xfrm>
          <a:prstGeom prst="rect">
            <a:avLst/>
          </a:prstGeom>
          <a:noFill/>
          <a:ln w="0">
            <a:noFill/>
          </a:ln>
        </p:spPr>
        <p:txBody>
          <a:bodyPr>
            <a:noAutofit/>
          </a:bodyPr>
          <a:lstStyle/>
          <a:p>
            <a:pPr>
              <a:defRPr sz="1800" b="1">
                <a:solidFill>
                  <a:srgbClr val="2E7D6F"/>
                </a:solidFill>
                <a:latin typeface="Calibri"/>
                <a:ea typeface="Calibri"/>
                <a:cs typeface="Calibri"/>
              </a:defRPr>
            </a:pPr>
            <a:r>
              <a:rPr sz="1800" b="1">
                <a:solidFill>
                  <a:srgbClr val="2E7D6F"/>
                </a:solidFill>
                <a:latin typeface="Calibri"/>
                <a:ea typeface="Calibri"/>
                <a:cs typeface="Calibri"/>
              </a:rPr>
              <a:t>Complete each step on your own computer.</a:t>
            </a:r>
          </a:p>
        </p:txBody>
      </p:sp>
      <p:sp>
        <p:nvSpPr>
          <p:cNvPr id="12" name="">
            <a:extLst>
              <a:ext uri="{FF2B5EF4-FFF2-40B4-BE49-F238E27FC236}">
                <ns2:creationId id="{5414754C-36C6-4760-8C11-4E9B1A96433E}"/>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22</a:t>
            </a:r>
          </a:p>
        </p:txBody>
      </p:sp>
    </p:spTree>
    <p:extLst>
      <p:ext uri="{BB962C8B-B14F-4D97-AF65-F5344CB8AC3E}">
        <ns3:creationId val="106503959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C226EE5-669A-4091-86C0-CFD3915795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7E88A3-BE12-4876-8779-6014396634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BD50FECA-223E-461D-BA34-6B1E6CE1BB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B21FDCE7-A03B-4D2B-A1DB-2AE8B7EC658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EFC68E-30A3-4791-A3A4-AF7A7C196B9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Re-running the setup first would replace the value with 12 again.</a:t>
            </a:r>
          </a:p>
        </p:txBody>
      </p:sp>
      <p:sp>
        <p:nvSpPr>
          <p:cNvPr id="6" name="">
            <a:extLst xmlns:a="http://schemas.openxmlformats.org/drawingml/2006/main">
              <a:ext uri="{FF2B5EF4-FFF2-40B4-BE49-F238E27FC236}">
                <a16:creationId xmlns:a16="http://schemas.microsoft.com/office/drawing/2014/main" id="{0CF66830-4869-4CEC-911E-AEB4D6067CBC}"/>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53243321-3E81-4EA2-ABD2-E67DF78934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23</a:t>
            </a:r>
          </a:p>
        </p:txBody>
      </p:sp>
    </p:spTree>
    <p:extLst>
      <p:ext uri="{BB962C8B-B14F-4D97-AF65-F5344CB8AC3E}">
        <p14:creationId xmlns:p14="http://schemas.microsoft.com/office/powerpoint/2010/main" val="2105340074"/>
      </p:ext>
    </p:extLst>
  </p:cSld>
</p:sld>
</file>

<file path=ppt/slides/slide2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C1D34384-3413-4DC3-AF96-6FA3C1FFA1B5}"/>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a:ext uri="{FF2B5EF4-FFF2-40B4-BE49-F238E27FC236}">
                <ns2:creationId id="{1346806D-DB3C-4813-8CD0-F27291BEFEFA}"/>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a:ext uri="{FF2B5EF4-FFF2-40B4-BE49-F238E27FC236}">
                <ns2:creationId id="{563D3989-AACF-4369-A6EF-B55F80FDE802}"/>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a:ext uri="{FF2B5EF4-FFF2-40B4-BE49-F238E27FC236}">
                <ns2:creationId id="{AA34582A-177C-4F87-A26B-15EE4B59A1A1}"/>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Restart, run the first cell once, and run the second cell twice. Write down the final number and explain why it changed.</a:t>
            </a:r>
          </a:p>
        </p:txBody>
      </p:sp>
      <p:sp>
        <p:nvSpPr>
          <p:cNvPr id="5" name="">
            <a:extLst>
              <a:ext uri="{FF2B5EF4-FFF2-40B4-BE49-F238E27FC236}">
                <ns2:creationId id="{DE8C718B-DC42-46CB-8BD8-23B8A36A1905}"/>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Write your answer and the reason for it.</a:t>
            </a:r>
          </a:p>
        </p:txBody>
      </p:sp>
      <p:sp>
        <p:nvSpPr>
          <p:cNvPr id="6" name="">
            <a:extLst>
              <a:ext uri="{FF2B5EF4-FFF2-40B4-BE49-F238E27FC236}">
                <ns2:creationId id="{BE0F4670-58BC-449E-886C-104FB201C789}"/>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2   24</a:t>
            </a:r>
          </a:p>
        </p:txBody>
      </p:sp>
    </p:spTree>
    <p:extLst>
      <p:ext uri="{BB962C8B-B14F-4D97-AF65-F5344CB8AC3E}">
        <ns3:creationId val="182382626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85C999F-06AD-4134-A2C8-D8DED451A4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D50E3F-EC5E-422A-B960-B5CF8C282C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5B419673-0349-43CA-A69C-1BE334D818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0515FA53-7002-4376-BDEF-D97F7EC44F8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C82C8C-C526-4070-B4C3-1483FB077F8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Running the entire example from the top resets readings to 12, so a complete run ends at 17 every time.</a:t>
            </a:r>
          </a:p>
        </p:txBody>
      </p:sp>
      <p:sp>
        <p:nvSpPr>
          <p:cNvPr id="6" name="">
            <a:extLst xmlns:a="http://schemas.openxmlformats.org/drawingml/2006/main">
              <a:ext uri="{FF2B5EF4-FFF2-40B4-BE49-F238E27FC236}">
                <a16:creationId xmlns:a16="http://schemas.microsoft.com/office/drawing/2014/main" id="{68A7664B-23BF-4EC0-87D2-91C5FD35E10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9754527-43C1-4270-B8B8-63C3D0DFBE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25</a:t>
            </a:r>
          </a:p>
        </p:txBody>
      </p:sp>
    </p:spTree>
    <p:extLst>
      <p:ext uri="{BB962C8B-B14F-4D97-AF65-F5344CB8AC3E}">
        <p14:creationId xmlns:p14="http://schemas.microsoft.com/office/powerpoint/2010/main" val="87297901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852831-5404-4181-A2BC-1C5E3C0362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CB90F4-055C-4330-8CB6-4FD568C97D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1E4112E-66EA-402C-A366-A5DAA4FCA6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a copy you can find again</a:t>
            </a:r>
          </a:p>
        </p:txBody>
      </p:sp>
      <p:sp>
        <p:nvSpPr>
          <p:cNvPr id="4" name="">
            <a:extLst xmlns:a="http://schemas.openxmlformats.org/drawingml/2006/main">
              <a:ext uri="{FF2B5EF4-FFF2-40B4-BE49-F238E27FC236}">
                <a16:creationId xmlns:a16="http://schemas.microsoft.com/office/drawing/2014/main" id="{76F7BCEE-4486-4451-9596-BB3CE2C9469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7DC195-437A-40B5-BA2A-2FE2C724A04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choose File → Download → Download .ipynb. Find the downloaded notebook on your computer.</a:t>
            </a:r>
          </a:p>
        </p:txBody>
      </p:sp>
      <p:sp>
        <p:nvSpPr>
          <p:cNvPr id="6" name="">
            <a:extLst xmlns:a="http://schemas.openxmlformats.org/drawingml/2006/main">
              <a:ext uri="{FF2B5EF4-FFF2-40B4-BE49-F238E27FC236}">
                <a16:creationId xmlns:a16="http://schemas.microsoft.com/office/drawing/2014/main" id="{10330678-A40C-42BB-B7B4-2A518D04CCC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21D81E-1905-4419-8B9A-F937E04EF4A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File → Open notebook → Upload to reopen that file. Check your changes are present.</a:t>
            </a:r>
          </a:p>
        </p:txBody>
      </p:sp>
      <p:sp>
        <p:nvSpPr>
          <p:cNvPr id="8" name="">
            <a:extLst xmlns:a="http://schemas.openxmlformats.org/drawingml/2006/main">
              <a:ext uri="{FF2B5EF4-FFF2-40B4-BE49-F238E27FC236}">
                <a16:creationId xmlns:a16="http://schemas.microsoft.com/office/drawing/2014/main" id="{5FD0FF67-D2ED-4629-B086-48F34C790E5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F8A61F-6C1D-4B77-A8AD-D50C630C1C2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session, upload the supplied CSV again if needed, and Run all. Save the notebook again after this check.</a:t>
            </a:r>
          </a:p>
        </p:txBody>
      </p:sp>
      <p:sp>
        <p:nvSpPr>
          <p:cNvPr id="10" name="">
            <a:extLst xmlns:a="http://schemas.openxmlformats.org/drawingml/2006/main">
              <a:ext uri="{FF2B5EF4-FFF2-40B4-BE49-F238E27FC236}">
                <a16:creationId xmlns:a16="http://schemas.microsoft.com/office/drawing/2014/main" id="{176846BE-0BAD-4FB1-8F7E-1EE66F5F63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26</a:t>
            </a:r>
          </a:p>
        </p:txBody>
      </p:sp>
    </p:spTree>
    <p:extLst>
      <p:ext uri="{BB962C8B-B14F-4D97-AF65-F5344CB8AC3E}">
        <p14:creationId xmlns:p14="http://schemas.microsoft.com/office/powerpoint/2010/main" val="149171814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DB705F-2973-412B-B220-AFE530A2BC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12A12E-4168-4C9E-8780-70EA224457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4CFCA13-C5DB-4FCD-BB33-057B702C36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words in the repair exercises</a:t>
            </a:r>
          </a:p>
        </p:txBody>
      </p:sp>
      <p:sp>
        <p:nvSpPr>
          <p:cNvPr id="4" name="">
            <a:extLst xmlns:a="http://schemas.openxmlformats.org/drawingml/2006/main">
              <a:ext uri="{FF2B5EF4-FFF2-40B4-BE49-F238E27FC236}">
                <a16:creationId xmlns:a16="http://schemas.microsoft.com/office/drawing/2014/main" id="{3FAD32DE-2443-45CC-99DB-8ABDBFC3C41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426944-3015-43CF-A7C0-9528B49AA8C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Module and version</a:t>
            </a:r>
          </a:p>
        </p:txBody>
      </p:sp>
      <p:sp>
        <p:nvSpPr>
          <p:cNvPr id="6" name="">
            <a:extLst xmlns:a="http://schemas.openxmlformats.org/drawingml/2006/main">
              <a:ext uri="{FF2B5EF4-FFF2-40B4-BE49-F238E27FC236}">
                <a16:creationId xmlns:a16="http://schemas.microsoft.com/office/drawing/2014/main" id="{B6AFDF3B-38A1-4DD7-9821-247C0CEAABD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module is a collection of Python tools. import asks for it. A version identifies a software release; different releases can behave differently.</a:t>
            </a:r>
          </a:p>
        </p:txBody>
      </p:sp>
      <p:sp>
        <p:nvSpPr>
          <p:cNvPr id="7" name="">
            <a:extLst xmlns:a="http://schemas.openxmlformats.org/drawingml/2006/main">
              <a:ext uri="{FF2B5EF4-FFF2-40B4-BE49-F238E27FC236}">
                <a16:creationId xmlns:a16="http://schemas.microsoft.com/office/drawing/2014/main" id="{45CD627A-D17F-48E4-8ECC-B2A35B7D6B4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6BF9F3-BED8-4523-8743-E9605DF29FA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Path and working folder</a:t>
            </a:r>
          </a:p>
        </p:txBody>
      </p:sp>
      <p:sp>
        <p:nvSpPr>
          <p:cNvPr id="9" name="">
            <a:extLst xmlns:a="http://schemas.openxmlformats.org/drawingml/2006/main">
              <a:ext uri="{FF2B5EF4-FFF2-40B4-BE49-F238E27FC236}">
                <a16:creationId xmlns:a16="http://schemas.microsoft.com/office/drawing/2014/main" id="{BD1CDCAE-D9C8-49B6-8DDF-048BA814EF1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path tells Python where a file is. A bare filename is looked up in the current working folder. The runtime Files panel shows uploaded files.</a:t>
            </a:r>
          </a:p>
        </p:txBody>
      </p:sp>
      <p:sp>
        <p:nvSpPr>
          <p:cNvPr id="10" name="">
            <a:extLst xmlns:a="http://schemas.openxmlformats.org/drawingml/2006/main">
              <a:ext uri="{FF2B5EF4-FFF2-40B4-BE49-F238E27FC236}">
                <a16:creationId xmlns:a16="http://schemas.microsoft.com/office/drawing/2014/main" id="{5DB9381B-D3A3-4F9C-A14D-C274A3F61F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27</a:t>
            </a:r>
          </a:p>
        </p:txBody>
      </p:sp>
    </p:spTree>
    <p:extLst>
      <p:ext uri="{BB962C8B-B14F-4D97-AF65-F5344CB8AC3E}">
        <p14:creationId xmlns:p14="http://schemas.microsoft.com/office/powerpoint/2010/main" val="1278265665"/>
      </p:ext>
    </p:extLst>
  </p:cSld>
</p:sld>
</file>

<file path=ppt/slides/slide2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ADFE4A1E-27C5-497D-B5D4-ED1F55E93132}"/>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459B841E-21F5-47BD-B830-35783EE2815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069E0AC0-7854-4BAC-984B-CBDA8B057ED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a:ext uri="{FF2B5EF4-FFF2-40B4-BE49-F238E27FC236}">
                <ns2:creationId id="{BCF3952F-7BCE-4AE9-809D-C20132769635}"/>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4C6D41A0-F465-40AF-8FA1-A333B4A5E6B5}"/>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motor_test_bench.csv</a:t>
            </a:r>
          </a:p>
        </p:txBody>
      </p:sp>
      <p:sp>
        <p:nvSpPr>
          <p:cNvPr id="6" name="">
            <a:extLst>
              <a:ext uri="{FF2B5EF4-FFF2-40B4-BE49-F238E27FC236}">
                <ns2:creationId id="{90265A84-883A-4984-8E37-614FEABB8E42}"/>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5D660044-9D58-4608-96B6-65621423BCAA}"/>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Reading column: current_a</a:t>
            </a:r>
          </a:p>
        </p:txBody>
      </p:sp>
      <p:sp>
        <p:nvSpPr>
          <p:cNvPr id="8" name="">
            <a:extLst>
              <a:ext uri="{FF2B5EF4-FFF2-40B4-BE49-F238E27FC236}">
                <ns2:creationId id="{E097CDF4-F92D-44E7-9A52-95AEC35E162C}"/>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57CEF67C-3499-4667-93B5-825C6C84F28D}"/>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Keep the data file beside the notebook or upload it into the current Colab runtime.</a:t>
            </a:r>
          </a:p>
        </p:txBody>
      </p:sp>
      <p:sp>
        <p:nvSpPr>
          <p:cNvPr id="10" name="">
            <a:extLst>
              <a:ext uri="{FF2B5EF4-FFF2-40B4-BE49-F238E27FC236}">
                <ns2:creationId id="{A4277715-1DA7-4E48-BF6D-F461FC0BE1A4}"/>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28</a:t>
            </a:r>
          </a:p>
        </p:txBody>
      </p:sp>
    </p:spTree>
    <p:extLst>
      <p:ext uri="{BB962C8B-B14F-4D97-AF65-F5344CB8AC3E}">
        <ns3:creationId val="1518909339"/>
      </p:ext>
    </p:extLst>
  </p:cSld>
</p:sld>
</file>

<file path=ppt/slides/slide2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7590B9F-50C6-458C-BEB6-C2D7E76FC545}"/>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104F194C-2888-454F-9F14-525241035911}"/>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0119D1FA-28AD-4A6E-BDC3-41F65DD607DF}"/>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The four repair exercises</a:t>
            </a:r>
          </a:p>
        </p:txBody>
      </p:sp>
      <p:sp>
        <p:nvSpPr>
          <p:cNvPr id="4" name="">
            <a:extLst>
              <a:ext uri="{FF2B5EF4-FFF2-40B4-BE49-F238E27FC236}">
                <ns2:creationId id="{6DE82651-A1F8-4E16-8B5F-7FEE79DB22C6}"/>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EF93444C-3742-4E08-BCFD-D31DAE196974}"/>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Identify the deliberately unavailable module.</a:t>
            </a:r>
          </a:p>
        </p:txBody>
      </p:sp>
      <p:sp>
        <p:nvSpPr>
          <p:cNvPr id="6" name="">
            <a:extLst>
              <a:ext uri="{FF2B5EF4-FFF2-40B4-BE49-F238E27FC236}">
                <ns2:creationId id="{DF2AD93B-03A3-401E-926F-D3A6BB5D5AC2}"/>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81171CF7-D14D-4379-B95F-85863D4D0129}"/>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required and actual Python versions.</a:t>
            </a:r>
          </a:p>
        </p:txBody>
      </p:sp>
      <p:sp>
        <p:nvSpPr>
          <p:cNvPr id="8" name="">
            <a:extLst>
              <a:ext uri="{FF2B5EF4-FFF2-40B4-BE49-F238E27FC236}">
                <ns2:creationId id="{DA9D2621-C7BE-4C4D-B772-4EF93DBC7522}"/>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2B736F0C-073A-429C-956B-43208524D78F}"/>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CSV and correct its file path.</a:t>
            </a:r>
          </a:p>
        </p:txBody>
      </p:sp>
      <p:sp>
        <p:nvSpPr>
          <p:cNvPr id="10" name="">
            <a:extLst>
              <a:ext uri="{FF2B5EF4-FFF2-40B4-BE49-F238E27FC236}">
                <ns2:creationId id="{B0A2F21D-F2B3-4CAA-AD46-DE872FB5A3AA}"/>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2E38E89D-8BAB-4FD4-9A29-99ED8622FE7B}"/>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Trace the values and remove the unwanted reset.</a:t>
            </a:r>
          </a:p>
        </p:txBody>
      </p:sp>
      <p:sp>
        <p:nvSpPr>
          <p:cNvPr id="12" name="">
            <a:extLst>
              <a:ext uri="{FF2B5EF4-FFF2-40B4-BE49-F238E27FC236}">
                <ns2:creationId id="{A33D13CE-F60A-4655-9DA5-018935C5257D}"/>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29</a:t>
            </a:r>
          </a:p>
        </p:txBody>
      </p:sp>
    </p:spTree>
    <p:extLst>
      <p:ext uri="{BB962C8B-B14F-4D97-AF65-F5344CB8AC3E}">
        <ns3:creationId val="81728903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286F4F-DAC3-44E4-88F0-6830E14303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788F3A-2B10-40EF-84CB-6A5EFA7261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A8AFB89-11DB-4C0F-996F-A7DE24FAA2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Repository and commit</a:t>
            </a:r>
          </a:p>
        </p:txBody>
      </p:sp>
      <p:sp>
        <p:nvSpPr>
          <p:cNvPr id="4" name="">
            <a:extLst xmlns:a="http://schemas.openxmlformats.org/drawingml/2006/main">
              <a:ext uri="{FF2B5EF4-FFF2-40B4-BE49-F238E27FC236}">
                <a16:creationId xmlns:a16="http://schemas.microsoft.com/office/drawing/2014/main" id="{38CE66A7-D89F-44C2-81DD-DE7DA1127B4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B01B3C-46DA-41E5-9817-BF720492C66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Repository and commit</a:t>
            </a:r>
          </a:p>
        </p:txBody>
      </p:sp>
      <p:sp>
        <p:nvSpPr>
          <p:cNvPr id="6" name="">
            <a:extLst xmlns:a="http://schemas.openxmlformats.org/drawingml/2006/main">
              <a:ext uri="{FF2B5EF4-FFF2-40B4-BE49-F238E27FC236}">
                <a16:creationId xmlns:a16="http://schemas.microsoft.com/office/drawing/2014/main" id="{4349E063-AF73-4CDD-8BC8-8BE1201EE99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repository stores a project and its recorded changes. A commit records a change with a message. Git tracks history; GitHub hosts repositories online.</a:t>
            </a:r>
          </a:p>
        </p:txBody>
      </p:sp>
      <p:sp>
        <p:nvSpPr>
          <p:cNvPr id="7" name="">
            <a:extLst xmlns:a="http://schemas.openxmlformats.org/drawingml/2006/main">
              <a:ext uri="{FF2B5EF4-FFF2-40B4-BE49-F238E27FC236}">
                <a16:creationId xmlns:a16="http://schemas.microsoft.com/office/drawing/2014/main" id="{73C9E7A2-E659-49EA-8135-B42A53C62B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30</a:t>
            </a:r>
          </a:p>
        </p:txBody>
      </p:sp>
    </p:spTree>
    <p:extLst>
      <p:ext uri="{BB962C8B-B14F-4D97-AF65-F5344CB8AC3E}">
        <p14:creationId xmlns:p14="http://schemas.microsoft.com/office/powerpoint/2010/main" val="88684793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72A384-3EC2-4C46-ACB4-12C696D728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F08BDE-10CE-48B8-A83C-76BC5FD0DD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C738D2A-B0A8-43D5-8635-1CA5C82DB8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 change in your repository</a:t>
            </a:r>
          </a:p>
        </p:txBody>
      </p:sp>
      <p:sp>
        <p:nvSpPr>
          <p:cNvPr id="4" name="">
            <a:extLst xmlns:a="http://schemas.openxmlformats.org/drawingml/2006/main">
              <a:ext uri="{FF2B5EF4-FFF2-40B4-BE49-F238E27FC236}">
                <a16:creationId xmlns:a16="http://schemas.microsoft.com/office/drawing/2014/main" id="{9F76FAFE-2D72-4259-9AFC-019DEF41DE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CAF95D7-01CA-4465-BE51-51ADB6CA388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 into GitHub. Create a repository: the project folder with recorded history. Use an appropriate private setting for personal work.</a:t>
            </a:r>
          </a:p>
        </p:txBody>
      </p:sp>
      <p:sp>
        <p:nvSpPr>
          <p:cNvPr id="6" name="">
            <a:extLst xmlns:a="http://schemas.openxmlformats.org/drawingml/2006/main">
              <a:ext uri="{FF2B5EF4-FFF2-40B4-BE49-F238E27FC236}">
                <a16:creationId xmlns:a16="http://schemas.microsoft.com/office/drawing/2014/main" id="{91CA3EED-7E69-4BDE-9BDF-83B2CC825BE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E5A566-A5EE-471E-8449-2B1436F1FFE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Add file → Upload files. Add the notebook, supplied CSV and README.md. A README is a text file containing your run instructions.</a:t>
            </a:r>
          </a:p>
        </p:txBody>
      </p:sp>
      <p:sp>
        <p:nvSpPr>
          <p:cNvPr id="8" name="">
            <a:extLst xmlns:a="http://schemas.openxmlformats.org/drawingml/2006/main">
              <a:ext uri="{FF2B5EF4-FFF2-40B4-BE49-F238E27FC236}">
                <a16:creationId xmlns:a16="http://schemas.microsoft.com/office/drawing/2014/main" id="{BC88C9EE-5B73-4179-B8A6-AB7DC0276E1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FA28D1-16A3-4B47-BFBD-B6F2F726663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 short message describing the change and choose Commit changes. A commit records this version of the files.</a:t>
            </a:r>
          </a:p>
        </p:txBody>
      </p:sp>
      <p:sp>
        <p:nvSpPr>
          <p:cNvPr id="10" name="">
            <a:extLst xmlns:a="http://schemas.openxmlformats.org/drawingml/2006/main">
              <a:ext uri="{FF2B5EF4-FFF2-40B4-BE49-F238E27FC236}">
                <a16:creationId xmlns:a16="http://schemas.microsoft.com/office/drawing/2014/main" id="{4F4AD30B-2B3B-4438-B732-5A91BD6320C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F1F3B76-6F8F-4AE2-8122-C34149468DB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file list to confirm the files arrived. Copy the repository page URL for the assignment form.</a:t>
            </a:r>
          </a:p>
        </p:txBody>
      </p:sp>
      <p:sp>
        <p:nvSpPr>
          <p:cNvPr id="12" name="">
            <a:extLst xmlns:a="http://schemas.openxmlformats.org/drawingml/2006/main">
              <a:ext uri="{FF2B5EF4-FFF2-40B4-BE49-F238E27FC236}">
                <a16:creationId xmlns:a16="http://schemas.microsoft.com/office/drawing/2014/main" id="{FDEDAF6A-CE8B-4A42-A479-6036E64201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31</a:t>
            </a:r>
          </a:p>
        </p:txBody>
      </p:sp>
    </p:spTree>
    <p:extLst>
      <p:ext uri="{BB962C8B-B14F-4D97-AF65-F5344CB8AC3E}">
        <p14:creationId xmlns:p14="http://schemas.microsoft.com/office/powerpoint/2010/main" val="44618322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2020DDA-3D59-46F7-AFBC-D114659D6C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C90785-7C46-4BB6-BD81-B8CD63DBAC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3A23F68B-81D8-49CD-8026-09AAAE33F3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29711E2A-3774-417E-AE74-941B07F1767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3DC04C5-ADE8-4708-8FE2-12C6A461C6C0}"/>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6" name="">
            <a:extLst xmlns:a="http://schemas.openxmlformats.org/drawingml/2006/main">
              <a:ext uri="{FF2B5EF4-FFF2-40B4-BE49-F238E27FC236}">
                <a16:creationId xmlns:a16="http://schemas.microsoft.com/office/drawing/2014/main" id="{CF79DF90-29E6-4B24-9801-945D766424E6}"/>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B04C361-CE31-47E8-80B6-1D7C7E4E7BAA}"/>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8" name="">
            <a:extLst xmlns:a="http://schemas.openxmlformats.org/drawingml/2006/main">
              <a:ext uri="{FF2B5EF4-FFF2-40B4-BE49-F238E27FC236}">
                <a16:creationId xmlns:a16="http://schemas.microsoft.com/office/drawing/2014/main" id="{2BDF751F-C331-4CFF-AD76-462F3370DCB3}"/>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6F4538-A714-45C5-A3FB-1698FAED4052}"/>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0" name="">
            <a:extLst xmlns:a="http://schemas.openxmlformats.org/drawingml/2006/main">
              <a:ext uri="{FF2B5EF4-FFF2-40B4-BE49-F238E27FC236}">
                <a16:creationId xmlns:a16="http://schemas.microsoft.com/office/drawing/2014/main" id="{A8842014-2201-4D96-9F13-953495FB1CE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6864031-5E76-4F05-87EF-DB5322F65D8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e145639852a447b"/>
              </a:rPr>
              <a:t>Open explainer video</a:t>
            </a:r>
          </a:p>
        </p:txBody>
      </p:sp>
      <p:sp>
        <p:nvSpPr>
          <p:cNvPr id="12" name="">
            <a:extLst xmlns:a="http://schemas.openxmlformats.org/drawingml/2006/main">
              <a:ext uri="{FF2B5EF4-FFF2-40B4-BE49-F238E27FC236}">
                <a16:creationId xmlns:a16="http://schemas.microsoft.com/office/drawing/2014/main" id="{4FE80ACE-5D7A-4DFB-8EE7-0F37544CA01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3" name="">
            <a:extLst xmlns:a="http://schemas.openxmlformats.org/drawingml/2006/main">
              <a:ext uri="{FF2B5EF4-FFF2-40B4-BE49-F238E27FC236}">
                <a16:creationId xmlns:a16="http://schemas.microsoft.com/office/drawing/2014/main" id="{39BB7D8F-2E4B-4B14-8308-1E52A179C6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32</a:t>
            </a:r>
          </a:p>
        </p:txBody>
      </p:sp>
    </p:spTree>
    <p:extLst>
      <p:ext uri="{BB962C8B-B14F-4D97-AF65-F5344CB8AC3E}">
        <p14:creationId xmlns:p14="http://schemas.microsoft.com/office/powerpoint/2010/main" val="1537860075"/>
      </p:ext>
    </p:extLst>
  </p:cSld>
</p:sld>
</file>

<file path=ppt/slides/slide3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A9784964-9E2F-4205-B25F-3791EA8967EE}"/>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a:ext uri="{FF2B5EF4-FFF2-40B4-BE49-F238E27FC236}">
                <ns2:creationId id="{D2D6867A-5849-4AE1-8952-B0C92BA34E15}"/>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a:ext uri="{FF2B5EF4-FFF2-40B4-BE49-F238E27FC236}">
                <ns2:creationId id="{4491974A-2999-4941-803F-4B6171088D46}"/>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a:ext uri="{FF2B5EF4-FFF2-40B4-BE49-F238E27FC236}">
                <ns2:creationId id="{13242690-E702-4738-978D-3FC8238DA217}"/>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Explain the difference between saving a file and recording a commit. Then make one browser-based commit.</a:t>
            </a:r>
          </a:p>
        </p:txBody>
      </p:sp>
      <p:sp>
        <p:nvSpPr>
          <p:cNvPr id="5" name="">
            <a:extLst>
              <a:ext uri="{FF2B5EF4-FFF2-40B4-BE49-F238E27FC236}">
                <ns2:creationId id="{288CE73D-BD46-4277-8756-CF57D8D1DEC0}"/>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Write your answer and the reason for it.</a:t>
            </a:r>
          </a:p>
        </p:txBody>
      </p:sp>
      <p:sp>
        <p:nvSpPr>
          <p:cNvPr id="6" name="">
            <a:extLst>
              <a:ext uri="{FF2B5EF4-FFF2-40B4-BE49-F238E27FC236}">
                <ns2:creationId id="{B5DD2F42-6FFF-48CC-8D30-3ACE3140A64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2   33</a:t>
            </a:r>
          </a:p>
        </p:txBody>
      </p:sp>
    </p:spTree>
    <p:extLst>
      <p:ext uri="{BB962C8B-B14F-4D97-AF65-F5344CB8AC3E}">
        <ns3:creationId val="737099733"/>
      </p:ext>
    </p:extLst>
  </p:cSld>
</p:sld>
</file>

<file path=ppt/slides/slide3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196BA995-B5BD-406D-B441-17551EF3B33D}"/>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A742DA00-3BFD-4F61-A88E-5F67B21A9E4C}"/>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8CCFDEDD-0E39-40C1-B367-59E42D68092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a:ext uri="{FF2B5EF4-FFF2-40B4-BE49-F238E27FC236}">
                <ns2:creationId id="{A35FBC22-5CA0-4CB8-BB65-035954EA826B}"/>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8C189E1F-AC99-4063-A92C-743F3A20440B}"/>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proof_of_life.ipynb for A2.</a:t>
            </a:r>
          </a:p>
        </p:txBody>
      </p:sp>
      <p:sp>
        <p:nvSpPr>
          <p:cNvPr id="6" name="">
            <a:extLst>
              <a:ext uri="{FF2B5EF4-FFF2-40B4-BE49-F238E27FC236}">
                <ns2:creationId id="{65E8EAFB-C82E-4911-A160-B27E3E6AA628}"/>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5002C98A-53B8-46AA-BA68-50E5312A680B}"/>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cohort CSV into the runtime Files area and show the filename before reading it.</a:t>
            </a:r>
          </a:p>
        </p:txBody>
      </p:sp>
      <p:sp>
        <p:nvSpPr>
          <p:cNvPr id="8" name="">
            <a:extLst>
              <a:ext uri="{FF2B5EF4-FFF2-40B4-BE49-F238E27FC236}">
                <ns2:creationId id="{5F1274CC-09DC-40B8-9DB7-4D152905C1E5}"/>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4BFC08DE-31F1-4D4D-ADC9-B10C15B51A8A}"/>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Follow repair 01, then try the same approach in 02–04.</a:t>
            </a:r>
          </a:p>
        </p:txBody>
      </p:sp>
      <p:sp>
        <p:nvSpPr>
          <p:cNvPr id="10" name="">
            <a:extLst>
              <a:ext uri="{FF2B5EF4-FFF2-40B4-BE49-F238E27FC236}">
                <ns2:creationId id="{CEA7D778-B25A-4389-83E8-384745B526AB}"/>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5F22DE8C-6F3B-4513-B193-5E5C79AAA149}"/>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Submit the completed main notebook and your own README.md together, plus the repository URL.</a:t>
            </a:r>
          </a:p>
        </p:txBody>
      </p:sp>
      <p:sp>
        <p:nvSpPr>
          <p:cNvPr id="12" name="">
            <a:extLst>
              <a:ext uri="{FF2B5EF4-FFF2-40B4-BE49-F238E27FC236}">
                <ns2:creationId id="{E7677BED-51F6-43E0-A9FA-ACC630ED8EC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34</a:t>
            </a:r>
          </a:p>
        </p:txBody>
      </p:sp>
    </p:spTree>
    <p:extLst>
      <p:ext uri="{BB962C8B-B14F-4D97-AF65-F5344CB8AC3E}">
        <ns3:creationId val="44249646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4A69CEC-3D7C-4D53-A549-50E33A012B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56F14C-FB76-4F5F-A63C-C91591A9AD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F61E95A-F024-445D-854D-8B7C0C9585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DA83F4E5-1A5E-4F74-A16F-855550DF46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F16C78F-911E-4675-8654-0652CC561B5B}"/>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Repairs 01–04 and hello_engineering.py are practice, not extra submissions.</a:t>
            </a:r>
          </a:p>
        </p:txBody>
      </p:sp>
      <p:sp>
        <p:nvSpPr>
          <p:cNvPr id="6" name="">
            <a:extLst xmlns:a="http://schemas.openxmlformats.org/drawingml/2006/main">
              <a:ext uri="{FF2B5EF4-FFF2-40B4-BE49-F238E27FC236}">
                <a16:creationId xmlns:a16="http://schemas.microsoft.com/office/drawing/2014/main" id="{DE900497-1266-4D71-B7B8-094FD36DED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35</a:t>
            </a:r>
          </a:p>
        </p:txBody>
      </p:sp>
    </p:spTree>
    <p:extLst>
      <p:ext uri="{BB962C8B-B14F-4D97-AF65-F5344CB8AC3E}">
        <p14:creationId xmlns:p14="http://schemas.microsoft.com/office/powerpoint/2010/main" val="124627403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52F0DC-A49E-4D69-B34D-A7C5046952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5F37A0-A00A-4D3E-B2A1-1C7732BE52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0451F9-D7F7-446C-BEB0-B9DFD6B4E5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a:t>
            </a:r>
          </a:p>
        </p:txBody>
      </p:sp>
      <p:sp>
        <p:nvSpPr>
          <p:cNvPr id="4" name="">
            <a:extLst xmlns:a="http://schemas.openxmlformats.org/drawingml/2006/main">
              <a:ext uri="{FF2B5EF4-FFF2-40B4-BE49-F238E27FC236}">
                <a16:creationId xmlns:a16="http://schemas.microsoft.com/office/drawing/2014/main" id="{1EFB19F8-E155-4C27-AF56-BF033D38EA9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9B2538-56E4-41D8-AE81-582ECA100F0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number beside a code cell records when it ran in that session, not its position on the page.</a:t>
            </a:r>
          </a:p>
        </p:txBody>
      </p:sp>
      <p:sp>
        <p:nvSpPr>
          <p:cNvPr id="6" name="">
            <a:extLst xmlns:a="http://schemas.openxmlformats.org/drawingml/2006/main">
              <a:ext uri="{FF2B5EF4-FFF2-40B4-BE49-F238E27FC236}">
                <a16:creationId xmlns:a16="http://schemas.microsoft.com/office/drawing/2014/main" id="{FC44FAB7-848C-4008-A973-7F1312765EB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BB8D13-5C82-4A42-B778-761CC12370B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clears memory; Run All follows page order.</a:t>
            </a:r>
          </a:p>
        </p:txBody>
      </p:sp>
      <p:sp>
        <p:nvSpPr>
          <p:cNvPr id="8" name="">
            <a:extLst xmlns:a="http://schemas.openxmlformats.org/drawingml/2006/main">
              <a:ext uri="{FF2B5EF4-FFF2-40B4-BE49-F238E27FC236}">
                <a16:creationId xmlns:a16="http://schemas.microsoft.com/office/drawing/2014/main" id="{930767A1-A269-4FB0-B9AB-2C68943C801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4F925B-7902-4271-9FBF-07F625282B7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run tests the run order, not whether the engineering formula is valid.</a:t>
            </a:r>
          </a:p>
        </p:txBody>
      </p:sp>
      <p:sp>
        <p:nvSpPr>
          <p:cNvPr id="10" name="">
            <a:extLst xmlns:a="http://schemas.openxmlformats.org/drawingml/2006/main">
              <a:ext uri="{FF2B5EF4-FFF2-40B4-BE49-F238E27FC236}">
                <a16:creationId xmlns:a16="http://schemas.microsoft.com/office/drawing/2014/main" id="{7D6167A1-09CA-464F-9FC5-E1A5D12093D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FBF41FF-2737-4A18-B1A6-69598C6539D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commit is a recorded change.</a:t>
            </a:r>
          </a:p>
        </p:txBody>
      </p:sp>
      <p:sp>
        <p:nvSpPr>
          <p:cNvPr id="12" name="">
            <a:extLst xmlns:a="http://schemas.openxmlformats.org/drawingml/2006/main">
              <a:ext uri="{FF2B5EF4-FFF2-40B4-BE49-F238E27FC236}">
                <a16:creationId xmlns:a16="http://schemas.microsoft.com/office/drawing/2014/main" id="{F0157FBF-3DC4-422F-96DA-F4B59AB0AE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36</a:t>
            </a:r>
          </a:p>
        </p:txBody>
      </p:sp>
    </p:spTree>
    <p:extLst>
      <p:ext uri="{BB962C8B-B14F-4D97-AF65-F5344CB8AC3E}">
        <p14:creationId xmlns:p14="http://schemas.microsoft.com/office/powerpoint/2010/main" val="110187274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DF2E1F-982B-442B-BE86-1117B7EE71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2DAF59-ABCC-4685-B1DC-C8BF426139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E2A9F1-3F5F-4152-8AE7-C30E90221F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 continued</a:t>
            </a:r>
          </a:p>
        </p:txBody>
      </p:sp>
      <p:sp>
        <p:nvSpPr>
          <p:cNvPr id="4" name="">
            <a:extLst xmlns:a="http://schemas.openxmlformats.org/drawingml/2006/main">
              <a:ext uri="{FF2B5EF4-FFF2-40B4-BE49-F238E27FC236}">
                <a16:creationId xmlns:a16="http://schemas.microsoft.com/office/drawing/2014/main" id="{6DD616BA-9F47-48C2-8C76-0903EB80042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E20075-EC7B-418B-B6E9-A037FC80245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In terminal reference material, git status describes local changes; it does not itself save or upload them.</a:t>
            </a:r>
          </a:p>
        </p:txBody>
      </p:sp>
      <p:sp>
        <p:nvSpPr>
          <p:cNvPr id="6" name="">
            <a:extLst xmlns:a="http://schemas.openxmlformats.org/drawingml/2006/main">
              <a:ext uri="{FF2B5EF4-FFF2-40B4-BE49-F238E27FC236}">
                <a16:creationId xmlns:a16="http://schemas.microsoft.com/office/drawing/2014/main" id="{990F8DF9-AFCC-442C-8370-C550AB9F4A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37</a:t>
            </a:r>
          </a:p>
        </p:txBody>
      </p:sp>
    </p:spTree>
    <p:extLst>
      <p:ext uri="{BB962C8B-B14F-4D97-AF65-F5344CB8AC3E}">
        <p14:creationId xmlns:p14="http://schemas.microsoft.com/office/powerpoint/2010/main" val="176402880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0053A8-C2B7-4EEF-9245-9471929229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445C11-4476-4578-8DA9-81D915E32C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128DAEE-DEA9-4F7F-9009-CBDD09697B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A1 — what to write and submit</a:t>
            </a:r>
          </a:p>
        </p:txBody>
      </p:sp>
      <p:sp>
        <p:nvSpPr>
          <p:cNvPr id="4" name="">
            <a:extLst xmlns:a="http://schemas.openxmlformats.org/drawingml/2006/main">
              <a:ext uri="{FF2B5EF4-FFF2-40B4-BE49-F238E27FC236}">
                <a16:creationId xmlns:a16="http://schemas.microsoft.com/office/drawing/2014/main" id="{63774BED-A6C8-417C-B6A0-4387D9B601D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8E6875-B1CE-49F0-918F-EB44B5F59D4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Describe three engineering problems. For each, state what you would measure or classify and whether machine learning is suitable.</a:t>
            </a:r>
          </a:p>
        </p:txBody>
      </p:sp>
      <p:sp>
        <p:nvSpPr>
          <p:cNvPr id="6" name="">
            <a:extLst xmlns:a="http://schemas.openxmlformats.org/drawingml/2006/main">
              <a:ext uri="{FF2B5EF4-FFF2-40B4-BE49-F238E27FC236}">
                <a16:creationId xmlns:a16="http://schemas.microsoft.com/office/drawing/2014/main" id="{522B64C2-999B-4AF6-ADA5-212AE02ACB1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6AA1D1-9942-4385-BEB9-0C0B09E8AE3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possible inputs, the target where appropriate, a data source and one limitation for each problem. Choose one problem and dataset and justify your choice.</a:t>
            </a:r>
          </a:p>
        </p:txBody>
      </p:sp>
      <p:sp>
        <p:nvSpPr>
          <p:cNvPr id="8" name="">
            <a:extLst xmlns:a="http://schemas.openxmlformats.org/drawingml/2006/main">
              <a:ext uri="{FF2B5EF4-FFF2-40B4-BE49-F238E27FC236}">
                <a16:creationId xmlns:a16="http://schemas.microsoft.com/office/drawing/2014/main" id="{1C309EBF-0DEB-405D-98BE-60FAE15B94C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10D1BF-F2C3-4689-9B9A-A8DC478D1DB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one complete report in DOCX or selectable-text PDF. PPTX with narration notes or notebook evidence is also accepted. Upload through the A1 form; keep its confirmation.</a:t>
            </a:r>
          </a:p>
        </p:txBody>
      </p:sp>
      <p:sp>
        <p:nvSpPr>
          <p:cNvPr id="10" name="">
            <a:extLst xmlns:a="http://schemas.openxmlformats.org/drawingml/2006/main">
              <a:ext uri="{FF2B5EF4-FFF2-40B4-BE49-F238E27FC236}">
                <a16:creationId xmlns:a16="http://schemas.microsoft.com/office/drawing/2014/main" id="{41F59BDF-DD55-4951-AA62-7D7ABD844B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38</a:t>
            </a:r>
          </a:p>
        </p:txBody>
      </p:sp>
    </p:spTree>
    <p:extLst>
      <p:ext uri="{BB962C8B-B14F-4D97-AF65-F5344CB8AC3E}">
        <p14:creationId xmlns:p14="http://schemas.microsoft.com/office/powerpoint/2010/main" val="199463877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947BB93-902B-4033-9F3C-514EEFA191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C733FD-8091-4B52-AB82-975A2722AE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BB03D17-9018-46BB-A448-96738F1483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Assignment A1 catch-up upload</a:t>
            </a:r>
          </a:p>
        </p:txBody>
      </p:sp>
      <p:sp>
        <p:nvSpPr>
          <p:cNvPr id="4" name="">
            <a:extLst xmlns:a="http://schemas.openxmlformats.org/drawingml/2006/main">
              <a:ext uri="{FF2B5EF4-FFF2-40B4-BE49-F238E27FC236}">
                <a16:creationId xmlns:a16="http://schemas.microsoft.com/office/drawing/2014/main" id="{CD52A6B7-D1BA-4232-854C-1746BC99AD5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89960A-820E-4B71-AD55-7BAEBA903F55}"/>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A1 separately from the A2 notebook and README.</a:t>
            </a:r>
          </a:p>
        </p:txBody>
      </p:sp>
      <p:sp>
        <p:nvSpPr>
          <p:cNvPr id="6" name="">
            <a:extLst xmlns:a="http://schemas.openxmlformats.org/drawingml/2006/main">
              <a:ext uri="{FF2B5EF4-FFF2-40B4-BE49-F238E27FC236}">
                <a16:creationId xmlns:a16="http://schemas.microsoft.com/office/drawing/2014/main" id="{66A465EC-2072-441C-B19E-44EA54462122}"/>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FE4EC5-BDD7-4953-9DAA-0CC0F602008A}"/>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11:00 Kampala.</a:t>
            </a:r>
          </a:p>
        </p:txBody>
      </p:sp>
      <p:sp>
        <p:nvSpPr>
          <p:cNvPr id="8" name="">
            <a:extLst xmlns:a="http://schemas.openxmlformats.org/drawingml/2006/main">
              <a:ext uri="{FF2B5EF4-FFF2-40B4-BE49-F238E27FC236}">
                <a16:creationId xmlns:a16="http://schemas.microsoft.com/office/drawing/2014/main" id="{DE562E33-88D9-48C5-BD9C-BBA65A5E3418}"/>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A55FDF-78D4-458E-AE53-0FA96A008BBA}"/>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own Student Registration Number; the required field accepts any format.</a:t>
            </a:r>
          </a:p>
        </p:txBody>
      </p:sp>
      <p:sp>
        <p:nvSpPr>
          <p:cNvPr id="10" name="">
            <a:extLst xmlns:a="http://schemas.openxmlformats.org/drawingml/2006/main">
              <a:ext uri="{FF2B5EF4-FFF2-40B4-BE49-F238E27FC236}">
                <a16:creationId xmlns:a16="http://schemas.microsoft.com/office/drawing/2014/main" id="{28737D74-1155-4F52-89DA-F1C5441B0E6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8F8048F-B2AD-46A6-AC6D-244B0D0B6FA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95be2b2f48240c7"/>
              </a:rPr>
              <a:t>Open Week 1 A1 assignment form</a:t>
            </a:r>
          </a:p>
        </p:txBody>
      </p:sp>
      <p:sp>
        <p:nvSpPr>
          <p:cNvPr id="12" name="">
            <a:extLst xmlns:a="http://schemas.openxmlformats.org/drawingml/2006/main">
              <a:ext uri="{FF2B5EF4-FFF2-40B4-BE49-F238E27FC236}">
                <a16:creationId xmlns:a16="http://schemas.microsoft.com/office/drawing/2014/main" id="{1FF1577C-CDCC-40CD-9C46-5DA13FBE60D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https://docs.google.com/forms/d/e/1FAIpQLSeE677AvoxTAOJSdCV5bVYWu34RHPg5tsOLqUVS1E7EVI8sYg/viewform</a:t>
            </a:r>
          </a:p>
        </p:txBody>
      </p:sp>
      <p:sp>
        <p:nvSpPr>
          <p:cNvPr id="13" name="">
            <a:extLst xmlns:a="http://schemas.openxmlformats.org/drawingml/2006/main">
              <a:ext uri="{FF2B5EF4-FFF2-40B4-BE49-F238E27FC236}">
                <a16:creationId xmlns:a16="http://schemas.microsoft.com/office/drawing/2014/main" id="{DE159ACF-E7F8-457D-983F-F075025E51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39</a:t>
            </a:r>
          </a:p>
        </p:txBody>
      </p:sp>
    </p:spTree>
    <p:extLst>
      <p:ext uri="{BB962C8B-B14F-4D97-AF65-F5344CB8AC3E}">
        <p14:creationId xmlns:p14="http://schemas.microsoft.com/office/powerpoint/2010/main" val="212573740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CD05BF9-8D13-47EE-AC0A-A1F47C27AA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C44AEC-035F-40D3-8D31-DC8244EDA4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BCE87541-D72B-411B-AB8A-418250B0D1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Quiz 1 catch-up</a:t>
            </a:r>
          </a:p>
        </p:txBody>
      </p:sp>
      <p:sp>
        <p:nvSpPr>
          <p:cNvPr id="4" name="">
            <a:extLst xmlns:a="http://schemas.openxmlformats.org/drawingml/2006/main">
              <a:ext uri="{FF2B5EF4-FFF2-40B4-BE49-F238E27FC236}">
                <a16:creationId xmlns:a16="http://schemas.microsoft.com/office/drawing/2014/main" id="{D7697056-7EA3-4416-9969-E826955EBCA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5846EA2-C800-469F-A9CC-6326F7C5C21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1 is required catch-up work, separate from A1.</a:t>
            </a:r>
          </a:p>
        </p:txBody>
      </p:sp>
      <p:sp>
        <p:nvSpPr>
          <p:cNvPr id="6" name="">
            <a:extLst xmlns:a="http://schemas.openxmlformats.org/drawingml/2006/main">
              <a:ext uri="{FF2B5EF4-FFF2-40B4-BE49-F238E27FC236}">
                <a16:creationId xmlns:a16="http://schemas.microsoft.com/office/drawing/2014/main" id="{CD214A45-C64E-44A5-9C8F-E06EAC7E490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27D6F5-64D7-4D3E-954B-31DC35BB5945}"/>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it individually after lecturer activation.</a:t>
            </a:r>
          </a:p>
        </p:txBody>
      </p:sp>
      <p:sp>
        <p:nvSpPr>
          <p:cNvPr id="8" name="">
            <a:extLst xmlns:a="http://schemas.openxmlformats.org/drawingml/2006/main">
              <a:ext uri="{FF2B5EF4-FFF2-40B4-BE49-F238E27FC236}">
                <a16:creationId xmlns:a16="http://schemas.microsoft.com/office/drawing/2014/main" id="{3F766C00-0C79-4CDD-8323-B360470DE6C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756DF7-EFEC-4382-AD1C-AB3C5E473D6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closes 24 hours after activation, not at the assignment deadline.</a:t>
            </a:r>
          </a:p>
        </p:txBody>
      </p:sp>
      <p:sp>
        <p:nvSpPr>
          <p:cNvPr id="10" name="">
            <a:extLst xmlns:a="http://schemas.openxmlformats.org/drawingml/2006/main">
              <a:ext uri="{FF2B5EF4-FFF2-40B4-BE49-F238E27FC236}">
                <a16:creationId xmlns:a16="http://schemas.microsoft.com/office/drawing/2014/main" id="{7232EC2C-6709-40CD-8AB2-555E601FF50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4239177-DC4C-4E65-B299-D734554B6A7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and keep your confirmation.</a:t>
            </a:r>
          </a:p>
        </p:txBody>
      </p:sp>
      <p:sp>
        <p:nvSpPr>
          <p:cNvPr id="12" name="">
            <a:extLst xmlns:a="http://schemas.openxmlformats.org/drawingml/2006/main">
              <a:ext uri="{FF2B5EF4-FFF2-40B4-BE49-F238E27FC236}">
                <a16:creationId xmlns:a16="http://schemas.microsoft.com/office/drawing/2014/main" id="{4FD05E97-8200-4131-9CDD-06DEC69515E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6537C32-9D86-479B-B757-497517E6517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9f6afc8734a48f9"/>
              </a:rPr>
              <a:t>Open Week 1 Quiz 1</a:t>
            </a:r>
          </a:p>
        </p:txBody>
      </p:sp>
      <p:sp>
        <p:nvSpPr>
          <p:cNvPr id="14" name="">
            <a:extLst xmlns:a="http://schemas.openxmlformats.org/drawingml/2006/main">
              <a:ext uri="{FF2B5EF4-FFF2-40B4-BE49-F238E27FC236}">
                <a16:creationId xmlns:a16="http://schemas.microsoft.com/office/drawing/2014/main" id="{41545953-A6C9-40F3-968B-3FB7AC72CA7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https://forms.gle/ChK3D2sopncRbbLx5</a:t>
            </a:r>
          </a:p>
        </p:txBody>
      </p:sp>
      <p:sp>
        <p:nvSpPr>
          <p:cNvPr id="15" name="">
            <a:extLst xmlns:a="http://schemas.openxmlformats.org/drawingml/2006/main">
              <a:ext uri="{FF2B5EF4-FFF2-40B4-BE49-F238E27FC236}">
                <a16:creationId xmlns:a16="http://schemas.microsoft.com/office/drawing/2014/main" id="{93CAB810-017E-4712-ACD9-2D8D522A7E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40</a:t>
            </a:r>
          </a:p>
        </p:txBody>
      </p:sp>
    </p:spTree>
    <p:extLst>
      <p:ext uri="{BB962C8B-B14F-4D97-AF65-F5344CB8AC3E}">
        <p14:creationId xmlns:p14="http://schemas.microsoft.com/office/powerpoint/2010/main" val="99276067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FB41733-B85C-40CF-A868-F44A10E8FC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AD0078-71DC-47DD-B218-ACC829C208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64C4798-CEC0-4BF5-A5B1-80922B810C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assignment</a:t>
            </a:r>
          </a:p>
        </p:txBody>
      </p:sp>
      <p:sp>
        <p:nvSpPr>
          <p:cNvPr id="4" name="">
            <a:extLst xmlns:a="http://schemas.openxmlformats.org/drawingml/2006/main">
              <a:ext uri="{FF2B5EF4-FFF2-40B4-BE49-F238E27FC236}">
                <a16:creationId xmlns:a16="http://schemas.microsoft.com/office/drawing/2014/main" id="{361B443B-5B12-45F8-9F20-D2FBFA59B5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0FA0D8-D301-4680-AFEE-B9AE849DFCF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proof_of_life.ipynb and write your own README.md.</a:t>
            </a:r>
          </a:p>
        </p:txBody>
      </p:sp>
      <p:sp>
        <p:nvSpPr>
          <p:cNvPr id="6" name="">
            <a:extLst xmlns:a="http://schemas.openxmlformats.org/drawingml/2006/main">
              <a:ext uri="{FF2B5EF4-FFF2-40B4-BE49-F238E27FC236}">
                <a16:creationId xmlns:a16="http://schemas.microsoft.com/office/drawing/2014/main" id="{94A874D2-8369-47CF-98B9-A3CB2BB1A11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EC3BC2-8B8C-4C39-B76E-43C9A295091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states your programme, file list and run instructions.</a:t>
            </a:r>
          </a:p>
        </p:txBody>
      </p:sp>
      <p:sp>
        <p:nvSpPr>
          <p:cNvPr id="8" name="">
            <a:extLst xmlns:a="http://schemas.openxmlformats.org/drawingml/2006/main">
              <a:ext uri="{FF2B5EF4-FFF2-40B4-BE49-F238E27FC236}">
                <a16:creationId xmlns:a16="http://schemas.microsoft.com/office/drawing/2014/main" id="{55B67FE4-14CE-4648-8BD7-B81962C0D08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82D870-4BBB-44C9-A2B5-D5EE81A3B8B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the repository URL in the form.</a:t>
            </a:r>
          </a:p>
        </p:txBody>
      </p:sp>
      <p:sp>
        <p:nvSpPr>
          <p:cNvPr id="10" name="">
            <a:extLst xmlns:a="http://schemas.openxmlformats.org/drawingml/2006/main">
              <a:ext uri="{FF2B5EF4-FFF2-40B4-BE49-F238E27FC236}">
                <a16:creationId xmlns:a16="http://schemas.microsoft.com/office/drawing/2014/main" id="{924E6C93-DF5B-4569-936A-05471E3FF24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0F7C447-C78F-411A-BD05-CD6316E8865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renamed notebook and README, not the ZIP or 01–04 repair notebooks.</a:t>
            </a:r>
          </a:p>
        </p:txBody>
      </p:sp>
      <p:sp>
        <p:nvSpPr>
          <p:cNvPr id="12" name="">
            <a:extLst xmlns:a="http://schemas.openxmlformats.org/drawingml/2006/main">
              <a:ext uri="{FF2B5EF4-FFF2-40B4-BE49-F238E27FC236}">
                <a16:creationId xmlns:a16="http://schemas.microsoft.com/office/drawing/2014/main" id="{8FBFD9A4-88A3-424B-AE6D-C214D1F150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41</a:t>
            </a:r>
          </a:p>
        </p:txBody>
      </p:sp>
    </p:spTree>
    <p:extLst>
      <p:ext uri="{BB962C8B-B14F-4D97-AF65-F5344CB8AC3E}">
        <p14:creationId xmlns:p14="http://schemas.microsoft.com/office/powerpoint/2010/main" val="19704386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B2A47C2-3B77-4E47-916B-A710F35019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EA0ED5-9FD0-4012-8907-CB0FF43D1B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BBC0D92F-BC18-4D99-AEFD-196CCBAE59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Proof of life submission</a:t>
            </a:r>
          </a:p>
        </p:txBody>
      </p:sp>
      <p:sp>
        <p:nvSpPr>
          <p:cNvPr id="4" name="">
            <a:extLst xmlns:a="http://schemas.openxmlformats.org/drawingml/2006/main">
              <a:ext uri="{FF2B5EF4-FFF2-40B4-BE49-F238E27FC236}">
                <a16:creationId xmlns:a16="http://schemas.microsoft.com/office/drawing/2014/main" id="{8685F851-B382-4BDB-9AC0-BE3139D4B02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5B3379-51ED-4A08-BF49-073682C5998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18 Sep 2026, 11:00 Kampala</a:t>
            </a:r>
          </a:p>
        </p:txBody>
      </p:sp>
      <p:sp>
        <p:nvSpPr>
          <p:cNvPr id="6" name="">
            <a:extLst xmlns:a="http://schemas.openxmlformats.org/drawingml/2006/main">
              <a:ext uri="{FF2B5EF4-FFF2-40B4-BE49-F238E27FC236}">
                <a16:creationId xmlns:a16="http://schemas.microsoft.com/office/drawing/2014/main" id="{745191BA-CA97-4AF1-BB15-6EBE8A1DD13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F4DF7D-1A53-42D5-9B46-E409929EB24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11:00 Kampala</a:t>
            </a:r>
          </a:p>
        </p:txBody>
      </p:sp>
      <p:sp>
        <p:nvSpPr>
          <p:cNvPr id="8" name="">
            <a:extLst xmlns:a="http://schemas.openxmlformats.org/drawingml/2006/main">
              <a:ext uri="{FF2B5EF4-FFF2-40B4-BE49-F238E27FC236}">
                <a16:creationId xmlns:a16="http://schemas.microsoft.com/office/drawing/2014/main" id="{9286E225-D7E5-4BB4-9C89-EE5F026D34B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A3826D-A00D-4CA4-B248-C18CB42277B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1D62299-697C-44AC-9ADC-D11EEC85104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D9929B8-D6F1-4FDA-B235-4D3C11B05F9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C4759D8-F48E-45BF-AE47-4A345FD976E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CA6E739-DF10-4D1E-AFA4-A64A42E49A5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6e8129184b24a02"/>
              </a:rPr>
              <a:t>Open W02 assignment form</a:t>
            </a:r>
          </a:p>
        </p:txBody>
      </p:sp>
      <p:sp>
        <p:nvSpPr>
          <p:cNvPr id="14" name="">
            <a:extLst xmlns:a="http://schemas.openxmlformats.org/drawingml/2006/main">
              <a:ext uri="{FF2B5EF4-FFF2-40B4-BE49-F238E27FC236}">
                <a16:creationId xmlns:a16="http://schemas.microsoft.com/office/drawing/2014/main" id="{857B32F1-3B48-482F-9600-1B20BECE3E5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https://docs.google.com/forms/d/e/1FAIpQLSfjyYUtobO5sgIWH30AidQu7Sx8bcmH6lSbtHQv-9SISaEDqA/viewform</a:t>
            </a:r>
          </a:p>
        </p:txBody>
      </p:sp>
      <p:sp>
        <p:nvSpPr>
          <p:cNvPr id="15" name="">
            <a:extLst xmlns:a="http://schemas.openxmlformats.org/drawingml/2006/main">
              <a:ext uri="{FF2B5EF4-FFF2-40B4-BE49-F238E27FC236}">
                <a16:creationId xmlns:a16="http://schemas.microsoft.com/office/drawing/2014/main" id="{BA688F11-DA45-470F-8F26-8FB06987BC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42</a:t>
            </a:r>
          </a:p>
        </p:txBody>
      </p:sp>
    </p:spTree>
    <p:extLst>
      <p:ext uri="{BB962C8B-B14F-4D97-AF65-F5344CB8AC3E}">
        <p14:creationId xmlns:p14="http://schemas.microsoft.com/office/powerpoint/2010/main" val="1319858427"/>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F773DF5A-306C-4B65-B529-8C195C933BB8}"/>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D53413CA-23F5-4C14-8399-1B3C477AE4E5}"/>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953B42FC-A4C3-4532-99FF-EA90C9421FB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2 quiz</a:t>
            </a:r>
          </a:p>
        </p:txBody>
      </p:sp>
      <p:sp>
        <p:nvSpPr>
          <p:cNvPr id="4" name="">
            <a:extLst>
              <a:ext uri="{FF2B5EF4-FFF2-40B4-BE49-F238E27FC236}">
                <ns2:creationId id="{430CF881-C2B2-4986-AB27-B740F5DECD57}"/>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05C66681-737E-4B8F-803D-8C5A99905FE1}"/>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6DF345D5-E4A8-4825-8A86-D3EDABB05CCF}"/>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949C8BB2-67A4-4B6C-8698-E259F27D11D6}"/>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25BE89A7-36E3-4D25-9B9E-4D6147204484}"/>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9D1D8FC3-B136-4EC9-8FE1-0CE623757513}"/>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44A61A86-D19A-48B9-B2BE-F7C1BA849E20}"/>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3722DF21-36BF-460D-B177-23005451EA5A}"/>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18c930b7ab2d44a2"/>
          <a:stretch/>
        </p:blipFill>
        <p:spPr>
          <a:xfrm>
            <a:off x="9134475" y="2095500"/>
            <a:ext cx="2190750" cy="2190750"/>
          </a:xfrm>
          <a:prstGeom prst="rect">
            <a:avLst/>
          </a:prstGeom>
        </p:spPr>
      </p:pic>
      <p:sp>
        <p:nvSpPr>
          <p:cNvPr id="13" name="">
            <a:extLst>
              <a:ext uri="{FF2B5EF4-FFF2-40B4-BE49-F238E27FC236}">
                <ns2:creationId id="{AAD99B60-5B8E-4E26-918A-C4290357E8F9}"/>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E95FFF98-2331-4A63-AC01-F38E83CCED90}"/>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933CECAB-B723-440E-AD4F-F3442B265A5C}"/>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aedd6d240dd8410d"/>
              </a:rPr>
              <a:t>Open this week’s quiz</a:t>
            </a:r>
          </a:p>
        </p:txBody>
      </p:sp>
      <p:sp>
        <p:nvSpPr>
          <p:cNvPr id="16" name="">
            <a:extLst>
              <a:ext uri="{FF2B5EF4-FFF2-40B4-BE49-F238E27FC236}">
                <ns2:creationId id="{61F3883F-9FE8-4C1B-B34B-A902F7A2FF1A}"/>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https://forms.gle/326KYcY6JvBqbPa78</a:t>
            </a:r>
          </a:p>
        </p:txBody>
      </p:sp>
      <p:sp>
        <p:nvSpPr>
          <p:cNvPr id="17" name="">
            <a:extLst>
              <a:ext uri="{FF2B5EF4-FFF2-40B4-BE49-F238E27FC236}">
                <ns2:creationId id="{9761D7C5-59AD-4578-B135-54F00CF487C3}"/>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43</a:t>
            </a:r>
          </a:p>
        </p:txBody>
      </p:sp>
    </p:spTree>
    <p:extLst>
      <p:ext uri="{BB962C8B-B14F-4D97-AF65-F5344CB8AC3E}">
        <ns4:creationId val="1079812874"/>
      </p:ext>
    </p:extLst>
  </p:cSld>
</p:sld>
</file>

<file path=ppt/slides/slide4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E059F728-54EA-4CDC-8C16-12DEE3105B99}"/>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43B276D6-3156-4D62-9D7C-55F65A21B80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a:ext uri="{FF2B5EF4-FFF2-40B4-BE49-F238E27FC236}">
                <ns2:creationId id="{A9E39C2B-0D48-4CCB-845F-DC1AFF81837F}"/>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AA0E169E-0DB3-4F74-ABAB-96584F2C9751}"/>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why running the same cell again may change its output.</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36207F32-1D6C-4284-8CA7-A9E88C358E63}"/>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B0418229-9708-4479-8D03-353AACDC6C7C}"/>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2   44</a:t>
            </a:r>
          </a:p>
        </p:txBody>
      </p:sp>
    </p:spTree>
    <p:extLst>
      <p:ext uri="{BB962C8B-B14F-4D97-AF65-F5344CB8AC3E}">
        <ns3:creationId val="2029601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2026-09-21T10:33:33.2070000Z</dcterms:created>
  <dcterms:modified xsi:type="dcterms:W3CDTF">2026-09-21T10:33:33.2070000Z</dcterms:modified>
</coreProperties>
</file>