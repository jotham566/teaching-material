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94121ff0974926" /><Relationship Type="http://schemas.openxmlformats.org/officeDocument/2006/relationships/extended-properties" Target="/docProps/app.xml" Id="R3ecbe394dabe4675" /><Relationship Type="http://schemas.openxmlformats.org/officeDocument/2006/relationships/officeDocument" Target="/ppt/presentation.xml" Id="Rad8345061ece473a" /></Relationships>
</file>

<file path=ppt/presentation.xml><?xml version="1.0" encoding="utf-8"?>
<p:presentation xmlns:p="http://schemas.openxmlformats.org/presentationml/2006/main">
  <p:sldMasterIdLst>
    <p:sldMasterId xmlns:r="http://schemas.openxmlformats.org/officeDocument/2006/relationships" id="2147483648" r:id="Rcdb2a39837704f3d"/>
  </p:sldMasterIdLst>
  <p:notesMasterIdLst>
    <p:notesMasterId xmlns:r="http://schemas.openxmlformats.org/officeDocument/2006/relationships" r:id="R2fca571a7c6147e3"/>
  </p:notesMasterIdLst>
  <p:sldIdLst>
    <p:sldId xmlns:r="http://schemas.openxmlformats.org/officeDocument/2006/relationships" id="256" r:id="R5a89fb0faa5e4fe5"/>
    <p:sldId xmlns:r="http://schemas.openxmlformats.org/officeDocument/2006/relationships" id="257" r:id="Rd76669bf061344da"/>
    <p:sldId xmlns:r="http://schemas.openxmlformats.org/officeDocument/2006/relationships" id="258" r:id="R9ed6038afd4e4d7c"/>
    <p:sldId xmlns:r="http://schemas.openxmlformats.org/officeDocument/2006/relationships" id="259" r:id="R09f7fbf693d94f82"/>
    <p:sldId xmlns:r="http://schemas.openxmlformats.org/officeDocument/2006/relationships" id="260" r:id="Rb2d83e3e073744ec"/>
    <p:sldId xmlns:r="http://schemas.openxmlformats.org/officeDocument/2006/relationships" id="261" r:id="Raa35a9836531494d"/>
    <p:sldId xmlns:r="http://schemas.openxmlformats.org/officeDocument/2006/relationships" id="262" r:id="Ra048a457bdc343a3"/>
    <p:sldId xmlns:r="http://schemas.openxmlformats.org/officeDocument/2006/relationships" id="263" r:id="R7ebdf5e245174375"/>
    <p:sldId xmlns:r="http://schemas.openxmlformats.org/officeDocument/2006/relationships" id="264" r:id="R7109c0c86c184cba"/>
    <p:sldId xmlns:r="http://schemas.openxmlformats.org/officeDocument/2006/relationships" id="265" r:id="Rf32765ff40f64e89"/>
    <p:sldId xmlns:r="http://schemas.openxmlformats.org/officeDocument/2006/relationships" id="266" r:id="R6f70c149c3a94714"/>
    <p:sldId xmlns:r="http://schemas.openxmlformats.org/officeDocument/2006/relationships" id="267" r:id="Rc4820e86169c4e33"/>
    <p:sldId xmlns:r="http://schemas.openxmlformats.org/officeDocument/2006/relationships" id="268" r:id="R9f3f4ec78f3e4469"/>
    <p:sldId xmlns:r="http://schemas.openxmlformats.org/officeDocument/2006/relationships" id="269" r:id="R8ccb3adf47c041c6"/>
    <p:sldId xmlns:r="http://schemas.openxmlformats.org/officeDocument/2006/relationships" id="270" r:id="R68990515d996419e"/>
    <p:sldId xmlns:r="http://schemas.openxmlformats.org/officeDocument/2006/relationships" id="271" r:id="Rf72a670f3d1d47e3"/>
    <p:sldId xmlns:r="http://schemas.openxmlformats.org/officeDocument/2006/relationships" id="272" r:id="R575e0587a94243f1"/>
    <p:sldId xmlns:r="http://schemas.openxmlformats.org/officeDocument/2006/relationships" id="273" r:id="R6afbfbb2e0244f54"/>
    <p:sldId xmlns:r="http://schemas.openxmlformats.org/officeDocument/2006/relationships" id="274" r:id="R68d635d2cc98481b"/>
    <p:sldId xmlns:r="http://schemas.openxmlformats.org/officeDocument/2006/relationships" id="275" r:id="R82b2277e77a74579"/>
    <p:sldId xmlns:r="http://schemas.openxmlformats.org/officeDocument/2006/relationships" id="276" r:id="R5205ba4206054305"/>
    <p:sldId xmlns:r="http://schemas.openxmlformats.org/officeDocument/2006/relationships" id="277" r:id="R168cebcebd494b22"/>
    <p:sldId xmlns:r="http://schemas.openxmlformats.org/officeDocument/2006/relationships" id="278" r:id="R2cab1145ac1841f4"/>
    <p:sldId xmlns:r="http://schemas.openxmlformats.org/officeDocument/2006/relationships" id="279" r:id="Ra7b704e7f16b48f4"/>
    <p:sldId xmlns:r="http://schemas.openxmlformats.org/officeDocument/2006/relationships" id="280" r:id="Rb48be1769d3440fa"/>
    <p:sldId xmlns:r="http://schemas.openxmlformats.org/officeDocument/2006/relationships" id="281" r:id="R194df7df52fc4961"/>
    <p:sldId xmlns:r="http://schemas.openxmlformats.org/officeDocument/2006/relationships" id="282" r:id="Rb6143c37d53d464b"/>
    <p:sldId xmlns:r="http://schemas.openxmlformats.org/officeDocument/2006/relationships" id="283" r:id="R952aaaf245434dd8"/>
    <p:sldId xmlns:r="http://schemas.openxmlformats.org/officeDocument/2006/relationships" id="284" r:id="Rf577e48b776f46ee"/>
    <p:sldId xmlns:r="http://schemas.openxmlformats.org/officeDocument/2006/relationships" id="285" r:id="Recdde4eb66f14573"/>
    <p:sldId xmlns:r="http://schemas.openxmlformats.org/officeDocument/2006/relationships" id="286" r:id="Re809823786964a6c"/>
    <p:sldId xmlns:r="http://schemas.openxmlformats.org/officeDocument/2006/relationships" id="287" r:id="Rfa094111a7b54401"/>
    <p:sldId xmlns:r="http://schemas.openxmlformats.org/officeDocument/2006/relationships" id="288" r:id="R98dcdd2a5eef48cf"/>
    <p:sldId xmlns:r="http://schemas.openxmlformats.org/officeDocument/2006/relationships" id="289" r:id="Re3230b6f0643481c"/>
    <p:sldId xmlns:r="http://schemas.openxmlformats.org/officeDocument/2006/relationships" id="290" r:id="R36562300c6a34385"/>
    <p:sldId xmlns:r="http://schemas.openxmlformats.org/officeDocument/2006/relationships" id="291" r:id="Rfaef4bd8cc0a42ff"/>
    <p:sldId xmlns:r="http://schemas.openxmlformats.org/officeDocument/2006/relationships" id="292" r:id="R548fb59435354d37"/>
    <p:sldId xmlns:r="http://schemas.openxmlformats.org/officeDocument/2006/relationships" id="293" r:id="R0e77e015354a4d0a"/>
    <p:sldId xmlns:r="http://schemas.openxmlformats.org/officeDocument/2006/relationships" id="294" r:id="R5c36938dc3fe4a09"/>
    <p:sldId xmlns:r="http://schemas.openxmlformats.org/officeDocument/2006/relationships" id="295" r:id="R3d5beb6a29eb4d8f"/>
    <p:sldId xmlns:r="http://schemas.openxmlformats.org/officeDocument/2006/relationships" id="296" r:id="R0aa5a79b82e541ca"/>
    <p:sldId xmlns:r="http://schemas.openxmlformats.org/officeDocument/2006/relationships" id="297" r:id="Rceeb684d2c2e4861"/>
    <p:sldId xmlns:r="http://schemas.openxmlformats.org/officeDocument/2006/relationships" id="298" r:id="Rfd249981ed7c483d"/>
    <p:sldId xmlns:r="http://schemas.openxmlformats.org/officeDocument/2006/relationships" id="299" r:id="R8e5dcef3b9664d8d"/>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7b734b7c7d4bff" /><Relationship Type="http://schemas.openxmlformats.org/officeDocument/2006/relationships/slideMaster" Target="/ppt/slideMasters/slideMaster1.xml" Id="Rcdb2a39837704f3d" /><Relationship Type="http://schemas.openxmlformats.org/officeDocument/2006/relationships/notesMaster" Target="/ppt/notesMasters/notesMaster1.xml" Id="R2fca571a7c6147e3" /><Relationship Type="http://schemas.openxmlformats.org/officeDocument/2006/relationships/presProps" Target="/ppt/presProps.xml" Id="R80bda826f3c6496a" /><Relationship Type="http://schemas.openxmlformats.org/officeDocument/2006/relationships/tableStyles" Target="/ppt/tableStyles.xml" Id="R37326dded8e047e3" /><Relationship Type="http://schemas.openxmlformats.org/officeDocument/2006/relationships/slide" Target="/ppt/slides/slide1.xml" Id="R5a89fb0faa5e4fe5" /><Relationship Type="http://schemas.openxmlformats.org/officeDocument/2006/relationships/slide" Target="/ppt/slides/slide2.xml" Id="Rd76669bf061344da" /><Relationship Type="http://schemas.openxmlformats.org/officeDocument/2006/relationships/slide" Target="/ppt/slides/slide3.xml" Id="R9ed6038afd4e4d7c" /><Relationship Type="http://schemas.openxmlformats.org/officeDocument/2006/relationships/slide" Target="/ppt/slides/slide4.xml" Id="R09f7fbf693d94f82" /><Relationship Type="http://schemas.openxmlformats.org/officeDocument/2006/relationships/slide" Target="/ppt/slides/slide5.xml" Id="Rb2d83e3e073744ec" /><Relationship Type="http://schemas.openxmlformats.org/officeDocument/2006/relationships/slide" Target="/ppt/slides/slide6.xml" Id="Raa35a9836531494d" /><Relationship Type="http://schemas.openxmlformats.org/officeDocument/2006/relationships/slide" Target="/ppt/slides/slide7.xml" Id="Ra048a457bdc343a3" /><Relationship Type="http://schemas.openxmlformats.org/officeDocument/2006/relationships/slide" Target="/ppt/slides/slide8.xml" Id="R7ebdf5e245174375" /><Relationship Type="http://schemas.openxmlformats.org/officeDocument/2006/relationships/slide" Target="/ppt/slides/slide9.xml" Id="R7109c0c86c184cba" /><Relationship Type="http://schemas.openxmlformats.org/officeDocument/2006/relationships/slide" Target="/ppt/slides/slide10.xml" Id="Rf32765ff40f64e89" /><Relationship Type="http://schemas.openxmlformats.org/officeDocument/2006/relationships/slide" Target="/ppt/slides/slide11.xml" Id="R6f70c149c3a94714" /><Relationship Type="http://schemas.openxmlformats.org/officeDocument/2006/relationships/slide" Target="/ppt/slides/slide12.xml" Id="Rc4820e86169c4e33" /><Relationship Type="http://schemas.openxmlformats.org/officeDocument/2006/relationships/slide" Target="/ppt/slides/slide13.xml" Id="R9f3f4ec78f3e4469" /><Relationship Type="http://schemas.openxmlformats.org/officeDocument/2006/relationships/slide" Target="/ppt/slides/slide14.xml" Id="R8ccb3adf47c041c6" /><Relationship Type="http://schemas.openxmlformats.org/officeDocument/2006/relationships/slide" Target="/ppt/slides/slide15.xml" Id="R68990515d996419e" /><Relationship Type="http://schemas.openxmlformats.org/officeDocument/2006/relationships/slide" Target="/ppt/slides/slide16.xml" Id="Rf72a670f3d1d47e3" /><Relationship Type="http://schemas.openxmlformats.org/officeDocument/2006/relationships/slide" Target="/ppt/slides/slide17.xml" Id="R575e0587a94243f1" /><Relationship Type="http://schemas.openxmlformats.org/officeDocument/2006/relationships/slide" Target="/ppt/slides/slide18.xml" Id="R6afbfbb2e0244f54" /><Relationship Type="http://schemas.openxmlformats.org/officeDocument/2006/relationships/slide" Target="/ppt/slides/slide19.xml" Id="R68d635d2cc98481b" /><Relationship Type="http://schemas.openxmlformats.org/officeDocument/2006/relationships/slide" Target="/ppt/slides/slide20.xml" Id="R82b2277e77a74579" /><Relationship Type="http://schemas.openxmlformats.org/officeDocument/2006/relationships/slide" Target="/ppt/slides/slide21.xml" Id="R5205ba4206054305" /><Relationship Type="http://schemas.openxmlformats.org/officeDocument/2006/relationships/slide" Target="/ppt/slides/slide22.xml" Id="R168cebcebd494b22" /><Relationship Type="http://schemas.openxmlformats.org/officeDocument/2006/relationships/slide" Target="/ppt/slides/slide23.xml" Id="R2cab1145ac1841f4" /><Relationship Type="http://schemas.openxmlformats.org/officeDocument/2006/relationships/slide" Target="/ppt/slides/slide24.xml" Id="Ra7b704e7f16b48f4" /><Relationship Type="http://schemas.openxmlformats.org/officeDocument/2006/relationships/slide" Target="/ppt/slides/slide25.xml" Id="Rb48be1769d3440fa" /><Relationship Type="http://schemas.openxmlformats.org/officeDocument/2006/relationships/slide" Target="/ppt/slides/slide26.xml" Id="R194df7df52fc4961" /><Relationship Type="http://schemas.openxmlformats.org/officeDocument/2006/relationships/slide" Target="/ppt/slides/slide27.xml" Id="Rb6143c37d53d464b" /><Relationship Type="http://schemas.openxmlformats.org/officeDocument/2006/relationships/slide" Target="/ppt/slides/slide28.xml" Id="R952aaaf245434dd8" /><Relationship Type="http://schemas.openxmlformats.org/officeDocument/2006/relationships/slide" Target="/ppt/slides/slide29.xml" Id="Rf577e48b776f46ee" /><Relationship Type="http://schemas.openxmlformats.org/officeDocument/2006/relationships/slide" Target="/ppt/slides/slide30.xml" Id="Recdde4eb66f14573" /><Relationship Type="http://schemas.openxmlformats.org/officeDocument/2006/relationships/slide" Target="/ppt/slides/slide31.xml" Id="Re809823786964a6c" /><Relationship Type="http://schemas.openxmlformats.org/officeDocument/2006/relationships/slide" Target="/ppt/slides/slide32.xml" Id="Rfa094111a7b54401" /><Relationship Type="http://schemas.openxmlformats.org/officeDocument/2006/relationships/slide" Target="/ppt/slides/slide33.xml" Id="R98dcdd2a5eef48cf" /><Relationship Type="http://schemas.openxmlformats.org/officeDocument/2006/relationships/slide" Target="/ppt/slides/slide34.xml" Id="Re3230b6f0643481c" /><Relationship Type="http://schemas.openxmlformats.org/officeDocument/2006/relationships/slide" Target="/ppt/slides/slide35.xml" Id="R36562300c6a34385" /><Relationship Type="http://schemas.openxmlformats.org/officeDocument/2006/relationships/slide" Target="/ppt/slides/slide36.xml" Id="Rfaef4bd8cc0a42ff" /><Relationship Type="http://schemas.openxmlformats.org/officeDocument/2006/relationships/slide" Target="/ppt/slides/slide37.xml" Id="R548fb59435354d37" /><Relationship Type="http://schemas.openxmlformats.org/officeDocument/2006/relationships/slide" Target="/ppt/slides/slide38.xml" Id="R0e77e015354a4d0a" /><Relationship Type="http://schemas.openxmlformats.org/officeDocument/2006/relationships/slide" Target="/ppt/slides/slide39.xml" Id="R5c36938dc3fe4a09" /><Relationship Type="http://schemas.openxmlformats.org/officeDocument/2006/relationships/slide" Target="/ppt/slides/slide40.xml" Id="R3d5beb6a29eb4d8f" /><Relationship Type="http://schemas.openxmlformats.org/officeDocument/2006/relationships/slide" Target="/ppt/slides/slide41.xml" Id="R0aa5a79b82e541ca" /><Relationship Type="http://schemas.openxmlformats.org/officeDocument/2006/relationships/slide" Target="/ppt/slides/slide42.xml" Id="Rceeb684d2c2e4861" /><Relationship Type="http://schemas.openxmlformats.org/officeDocument/2006/relationships/slide" Target="/ppt/slides/slide43.xml" Id="Rfd249981ed7c483d" /><Relationship Type="http://schemas.openxmlformats.org/officeDocument/2006/relationships/slide" Target="/ppt/slides/slide44.xml" Id="R8e5dcef3b9664d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47b4495ab64c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fcf6a24d634132" /><Relationship Type="http://schemas.openxmlformats.org/officeDocument/2006/relationships/notesMaster" Target="/ppt/notesMasters/notesMaster1.xml" Id="Rd60e50a6481f4b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ef9a79704748bb" /><Relationship Type="http://schemas.openxmlformats.org/officeDocument/2006/relationships/notesMaster" Target="/ppt/notesMasters/notesMaster1.xml" Id="Rb9a4865ee6c34d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7bb71fc66b4801" /><Relationship Type="http://schemas.openxmlformats.org/officeDocument/2006/relationships/notesMaster" Target="/ppt/notesMasters/notesMaster1.xml" Id="R525060cad3fd4d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ecee4cdf1b4472" /><Relationship Type="http://schemas.openxmlformats.org/officeDocument/2006/relationships/notesMaster" Target="/ppt/notesMasters/notesMaster1.xml" Id="Rb0e700cefa5640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86b8bf69f442df" /><Relationship Type="http://schemas.openxmlformats.org/officeDocument/2006/relationships/notesMaster" Target="/ppt/notesMasters/notesMaster1.xml" Id="Re6b0d9b853f24c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bccae9968348b6" /><Relationship Type="http://schemas.openxmlformats.org/officeDocument/2006/relationships/notesMaster" Target="/ppt/notesMasters/notesMaster1.xml" Id="R117161c784a049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f26f2ae62e4cfc" /><Relationship Type="http://schemas.openxmlformats.org/officeDocument/2006/relationships/notesMaster" Target="/ppt/notesMasters/notesMaster1.xml" Id="Rd77e0c1e4d824b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0fb757851e4b77" /><Relationship Type="http://schemas.openxmlformats.org/officeDocument/2006/relationships/notesMaster" Target="/ppt/notesMasters/notesMaster1.xml" Id="R21819cfd86ac4d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7da2e8f9fa46a7" /><Relationship Type="http://schemas.openxmlformats.org/officeDocument/2006/relationships/notesMaster" Target="/ppt/notesMasters/notesMaster1.xml" Id="R74fccfcbfda34a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ded8bb319e406f" /><Relationship Type="http://schemas.openxmlformats.org/officeDocument/2006/relationships/notesMaster" Target="/ppt/notesMasters/notesMaster1.xml" Id="R63c3a0bc4a9b4f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d8927b7f8d4d0f" /><Relationship Type="http://schemas.openxmlformats.org/officeDocument/2006/relationships/notesMaster" Target="/ppt/notesMasters/notesMaster1.xml" Id="Rdbb7bc2eae5745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1811c460754c7b" /><Relationship Type="http://schemas.openxmlformats.org/officeDocument/2006/relationships/notesMaster" Target="/ppt/notesMasters/notesMaster1.xml" Id="R299a44fc637040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fd8e1552d64808" /><Relationship Type="http://schemas.openxmlformats.org/officeDocument/2006/relationships/notesMaster" Target="/ppt/notesMasters/notesMaster1.xml" Id="R0c38abb401634b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7a378dfaaa4637" /><Relationship Type="http://schemas.openxmlformats.org/officeDocument/2006/relationships/notesMaster" Target="/ppt/notesMasters/notesMaster1.xml" Id="R8762cfd885ee43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ffbc313e204829" /><Relationship Type="http://schemas.openxmlformats.org/officeDocument/2006/relationships/notesMaster" Target="/ppt/notesMasters/notesMaster1.xml" Id="R645a46ab91e74a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282db18ae8499f" /><Relationship Type="http://schemas.openxmlformats.org/officeDocument/2006/relationships/notesMaster" Target="/ppt/notesMasters/notesMaster1.xml" Id="Ra53ec9685cab42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eb3290895045cb" /><Relationship Type="http://schemas.openxmlformats.org/officeDocument/2006/relationships/notesMaster" Target="/ppt/notesMasters/notesMaster1.xml" Id="R4e1f9f9475c24d5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66af217b9f4ff0" /><Relationship Type="http://schemas.openxmlformats.org/officeDocument/2006/relationships/notesMaster" Target="/ppt/notesMasters/notesMaster1.xml" Id="Reebb0575d34e4c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70f07325cc44ac" /><Relationship Type="http://schemas.openxmlformats.org/officeDocument/2006/relationships/notesMaster" Target="/ppt/notesMasters/notesMaster1.xml" Id="Rdbae6cbd0ec540e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22dc568fef49fd" /><Relationship Type="http://schemas.openxmlformats.org/officeDocument/2006/relationships/notesMaster" Target="/ppt/notesMasters/notesMaster1.xml" Id="R26fe5d26e7bc47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49fca9ca7244ef4" /><Relationship Type="http://schemas.openxmlformats.org/officeDocument/2006/relationships/notesMaster" Target="/ppt/notesMasters/notesMaster1.xml" Id="Rd60ee7a1217b481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02002af88c4320" /><Relationship Type="http://schemas.openxmlformats.org/officeDocument/2006/relationships/notesMaster" Target="/ppt/notesMasters/notesMaster1.xml" Id="Rb00b8a5651bc4d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16338472ffc4599" /><Relationship Type="http://schemas.openxmlformats.org/officeDocument/2006/relationships/notesMaster" Target="/ppt/notesMasters/notesMaster1.xml" Id="Rb9ad2061e92a40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adc7de562a3423e" /><Relationship Type="http://schemas.openxmlformats.org/officeDocument/2006/relationships/notesMaster" Target="/ppt/notesMasters/notesMaster1.xml" Id="Re358b383cd0d406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881ec722ad431d" /><Relationship Type="http://schemas.openxmlformats.org/officeDocument/2006/relationships/notesMaster" Target="/ppt/notesMasters/notesMaster1.xml" Id="Rf8be150df95d4d4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f27a8b28c94ba8" /><Relationship Type="http://schemas.openxmlformats.org/officeDocument/2006/relationships/notesMaster" Target="/ppt/notesMasters/notesMaster1.xml" Id="Redd540d06d2948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d5768ca13164017" /><Relationship Type="http://schemas.openxmlformats.org/officeDocument/2006/relationships/notesMaster" Target="/ppt/notesMasters/notesMaster1.xml" Id="Refeca150c3564e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65754633f9d4ff0" /><Relationship Type="http://schemas.openxmlformats.org/officeDocument/2006/relationships/notesMaster" Target="/ppt/notesMasters/notesMaster1.xml" Id="R07e652b5b56f4d0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f90f26741c844cc" /><Relationship Type="http://schemas.openxmlformats.org/officeDocument/2006/relationships/notesMaster" Target="/ppt/notesMasters/notesMaster1.xml" Id="Rb8692de9715f4c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77f19d9ff3f4e8a" /><Relationship Type="http://schemas.openxmlformats.org/officeDocument/2006/relationships/notesMaster" Target="/ppt/notesMasters/notesMaster1.xml" Id="R067c66ed0cfb438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2c41ef0309c4fd8" /><Relationship Type="http://schemas.openxmlformats.org/officeDocument/2006/relationships/notesMaster" Target="/ppt/notesMasters/notesMaster1.xml" Id="Ra410dd79caff48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88f038b46f47c9" /><Relationship Type="http://schemas.openxmlformats.org/officeDocument/2006/relationships/notesMaster" Target="/ppt/notesMasters/notesMaster1.xml" Id="Rcae116405333418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06c566b5d664641" /><Relationship Type="http://schemas.openxmlformats.org/officeDocument/2006/relationships/notesMaster" Target="/ppt/notesMasters/notesMaster1.xml" Id="Rf34bed813e52470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81ab5df8ec0479f" /><Relationship Type="http://schemas.openxmlformats.org/officeDocument/2006/relationships/notesMaster" Target="/ppt/notesMasters/notesMaster1.xml" Id="Rbae1239b7a704ac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4b7de34cde14dc5" /><Relationship Type="http://schemas.openxmlformats.org/officeDocument/2006/relationships/notesMaster" Target="/ppt/notesMasters/notesMaster1.xml" Id="R42a56b61405348d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c10a7455cf24a54" /><Relationship Type="http://schemas.openxmlformats.org/officeDocument/2006/relationships/notesMaster" Target="/ppt/notesMasters/notesMaster1.xml" Id="Rf29cb70863ac4e8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36d9bd50ba54cb2" /><Relationship Type="http://schemas.openxmlformats.org/officeDocument/2006/relationships/notesMaster" Target="/ppt/notesMasters/notesMaster1.xml" Id="R3fa275034fcd415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73c6dd4ad8e46d1" /><Relationship Type="http://schemas.openxmlformats.org/officeDocument/2006/relationships/notesMaster" Target="/ppt/notesMasters/notesMaster1.xml" Id="R7bc5ca688fa04a8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c893220a1c54a4a" /><Relationship Type="http://schemas.openxmlformats.org/officeDocument/2006/relationships/notesMaster" Target="/ppt/notesMasters/notesMaster1.xml" Id="Rd27055645cd1459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006f669236348b4" /><Relationship Type="http://schemas.openxmlformats.org/officeDocument/2006/relationships/notesMaster" Target="/ppt/notesMasters/notesMaster1.xml" Id="R61db2e31642844f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9d75095479946e2" /><Relationship Type="http://schemas.openxmlformats.org/officeDocument/2006/relationships/notesMaster" Target="/ppt/notesMasters/notesMaster1.xml" Id="R7e7aa5e20f9f4ee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566a1c6ec2941e7" /><Relationship Type="http://schemas.openxmlformats.org/officeDocument/2006/relationships/notesMaster" Target="/ppt/notesMasters/notesMaster1.xml" Id="Re785d7efade7449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df1095a5bae4426" /><Relationship Type="http://schemas.openxmlformats.org/officeDocument/2006/relationships/notesMaster" Target="/ppt/notesMasters/notesMaster1.xml" Id="R8c51070ed2ac4f4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27c15349e6045ae" /><Relationship Type="http://schemas.openxmlformats.org/officeDocument/2006/relationships/notesMaster" Target="/ppt/notesMasters/notesMaster1.xml" Id="R2bf0a80436934c8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Running and saving your first notebook</a:t>
            </a:r>
          </a:p>
          <a:p>
            <a:r>
              <a:t/>
            </a:r>
          </a:p>
          <a:p>
            <a:r>
              <a:t>LECTURER CUE</a:t>
            </a:r>
          </a:p>
          <a:p>
            <a:r>
              <a:t>Use PowerPoint Presenter View for these notes. Teach one example, pause for every learner to predict, then work an analogous example together. The practice notebook is a learning aid, not an extra graded upload.</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Today’s learning.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Today’s learning</a:t>
            </a:r>
          </a:p>
          <a:p>
            <a:r>
              <a:t/>
            </a:r>
          </a:p>
          <a:p>
            <a:r>
              <a:t>CONNECT</a:t>
            </a:r>
          </a:p>
          <a:p>
            <a:r>
              <a:t>Build on the preceding slide: Running and saving your first notebook.</a:t>
            </a:r>
          </a:p>
          <a:p>
            <a:r>
              <a:t/>
            </a:r>
          </a:p>
          <a:p>
            <a:r>
              <a:t>LECTURER CUE</a:t>
            </a:r>
          </a:p>
          <a:p>
            <a:r>
              <a:t>Ask learners to explain this goal in ordinary language. The first successful attempt matters more than covering optional extensions. Defer: Terminal commands, staging, branching, merging, GitHub Desktop installation and f-string formatting are reference topics. Do not make them prerequisites for A2.</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Week 2 includes your Week 1 catch-up.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2 includes your Week 1 catch-up</a:t>
            </a:r>
          </a:p>
          <a:p>
            <a:r>
              <a:t/>
            </a:r>
          </a:p>
          <a:p>
            <a:r>
              <a:t>CONNECT</a:t>
            </a:r>
          </a:p>
          <a:p>
            <a:r>
              <a:t>Build on the preceding slide: Today’s learning.</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Recall and a first attempt.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Recall and a first attempt</a:t>
            </a:r>
          </a:p>
          <a:p>
            <a:r>
              <a:t/>
            </a:r>
          </a:p>
          <a:p>
            <a:r>
              <a:t>CONNECT</a:t>
            </a:r>
          </a:p>
          <a:p>
            <a:r>
              <a:t>Build on the preceding slide: Week 2 includes your Week 1 catch-up.</a:t>
            </a:r>
          </a:p>
          <a:p>
            <a:r>
              <a:t/>
            </a:r>
          </a:p>
          <a:p>
            <a:r>
              <a:t>LECTURER CUE</a:t>
            </a:r>
          </a:p>
          <a:p>
            <a:r>
              <a:t>Allow two minutes for everyone to try. Ask pairs to compare. If many cannot begin, show the first step and repeat with changed values. Checkpoint for today: Ask everyone to point to the output, rerun one cell, and find the saved .ipynb on their own computer. If they cannot, repeat these actions before GitHub.</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NEXT</a:t>
            </a:r>
          </a:p>
          <a:p>
            <a:r>
              <a:t>The engineering context.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engineering context</a:t>
            </a:r>
          </a:p>
          <a:p>
            <a:r>
              <a:t/>
            </a:r>
          </a:p>
          <a:p>
            <a:r>
              <a:t>CONNECT</a:t>
            </a:r>
          </a:p>
          <a:p>
            <a:r>
              <a:t>Build on the preceding slide: Recall and a first attempt.</a:t>
            </a:r>
          </a:p>
          <a:p>
            <a:r>
              <a:t/>
            </a:r>
          </a:p>
          <a:p>
            <a:r>
              <a:t>LECTURER CUE</a:t>
            </a:r>
          </a:p>
          <a:p>
            <a:r>
              <a:t>A team records device temperature to investigate cooling. Use a communications cabinet, an electrical enclosure or a robot controller as the physical example. No specialist hardware knowledge is assumed.</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Measurements become observations.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Measurements become observations</a:t>
            </a:r>
          </a:p>
          <a:p>
            <a:r>
              <a:t/>
            </a:r>
          </a:p>
          <a:p>
            <a:r>
              <a:t>CONNECT</a:t>
            </a:r>
          </a:p>
          <a:p>
            <a:r>
              <a:t>Build on the preceding slide: The engineering context.</a:t>
            </a:r>
          </a:p>
          <a:p>
            <a:r>
              <a:t/>
            </a:r>
          </a:p>
          <a:p>
            <a:r>
              <a:t>LECTURER CUE</a:t>
            </a:r>
          </a:p>
          <a:p>
            <a:r>
              <a:t>Ask students to describe what they see before introducing terminology. Generated conceptual teaching illustration.  Source: figs/experiential/ASSET_SOURCES.md.</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Measurements become observations.</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POINT TO THE DEFINITION</a:t>
            </a:r>
          </a:p>
          <a:p>
            <a:r>
              <a:t>File: A saved item with a name. Its extension tells us the kind: .ipynb is a notebook, .csv a table, .py a Python script and .md a text document.</a:t>
            </a:r>
          </a:p>
          <a:p>
            <a:r>
              <a:t>Folder: A container that helps you keep related files together. Extracting a ZIP restores the files inside it.</a:t>
            </a:r>
          </a:p>
          <a:p>
            <a:r>
              <a:t/>
            </a:r>
          </a:p>
          <a:p>
            <a:r>
              <a:t>NEXT</a:t>
            </a:r>
          </a:p>
          <a:p>
            <a:r>
              <a:t>The files in your ZIP.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files in your ZIP</a:t>
            </a:r>
          </a:p>
          <a:p>
            <a:r>
              <a:t/>
            </a:r>
          </a:p>
          <a:p>
            <a:r>
              <a:t>CONNECT</a:t>
            </a:r>
          </a:p>
          <a:p>
            <a:r>
              <a:t>Build on the preceding slide: Words we will use.</a:t>
            </a:r>
          </a:p>
          <a:p>
            <a:r>
              <a:t/>
            </a:r>
          </a:p>
          <a:p>
            <a:r>
              <a:t>EXPLAIN IN ORDINARY WORDS</a:t>
            </a:r>
          </a:p>
          <a:p>
            <a:r>
              <a:t>A module supplies Python tools; import asks Python to load it. A version identifies a software release. A path identifies a file. A state error happens when stored values differ from what we expected.</a:t>
            </a:r>
          </a:p>
          <a:p>
            <a:r>
              <a:t/>
            </a:r>
          </a:p>
          <a:p>
            <a:r>
              <a:t>CHECK AND EXPECTED ANSWER</a:t>
            </a:r>
          </a:p>
          <a:p>
            <a:r>
              <a:t>Notebook 04 starts at 12, adds 5 to get 17, then resets to 12. Why does it print 12? The final assignment overwrites 17.</a:t>
            </a:r>
          </a:p>
          <a:p>
            <a:r>
              <a:t/>
            </a:r>
          </a:p>
          <a:p>
            <a:r>
              <a:t>IF LEARNERS ARE STUCK</a:t>
            </a:r>
          </a:p>
          <a:p>
            <a:r>
              <a:t>01: the named module is deliberately unavailable; remove the unused import instead of trying to install a made-up package. 02: the exercise asserts Python 2 but the course uses Python 3; inspect sys.version_info and correct that deliberate mismatch. 03: upload the issued CSV and replace the nonexistent folder path with its real filename. 04: remove the unwanted reset, restart and run all for 17; repeat only the increment to see 22, then 27.</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A script and a notebook.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script and a notebook</a:t>
            </a:r>
          </a:p>
          <a:p>
            <a:r>
              <a:t/>
            </a:r>
          </a:p>
          <a:p>
            <a:r>
              <a:t>CONNECT</a:t>
            </a:r>
          </a:p>
          <a:p>
            <a:r>
              <a:t>Build on the preceding slide: The files in your ZIP.</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Open the main notebook together.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Open the main notebook together</a:t>
            </a:r>
          </a:p>
          <a:p>
            <a:r>
              <a:t/>
            </a:r>
          </a:p>
          <a:p>
            <a:r>
              <a:t>CONNECT</a:t>
            </a:r>
          </a:p>
          <a:p>
            <a:r>
              <a:t>Build on the preceding slide: A script and a notebook.</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Open the main notebook together.</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POINT TO THE DEFINITION</a:t>
            </a:r>
          </a:p>
          <a:p>
            <a:r>
              <a:t>Python and code: Python is the language. Code is the instructions written in that language. Running asks the computer to carry them out.</a:t>
            </a:r>
          </a:p>
          <a:p>
            <a:r>
              <a:t>Cell and output: A cell is one notebook block. A code cell runs instructions; a text cell explains them. Output is the result shown below a code cell.</a:t>
            </a:r>
          </a:p>
          <a:p>
            <a:r>
              <a:t/>
            </a:r>
          </a:p>
          <a:p>
            <a:r>
              <a:t>NEXT</a:t>
            </a:r>
          </a:p>
          <a:p>
            <a:r>
              <a:t>A notebook has two kinds of cell.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notebook has two kinds of cell</a:t>
            </a:r>
          </a:p>
          <a:p>
            <a:r>
              <a:t/>
            </a:r>
          </a:p>
          <a:p>
            <a:r>
              <a:t>CONNECT</a:t>
            </a:r>
          </a:p>
          <a:p>
            <a:r>
              <a:t>Build on the preceding slide: Words we will use.</a:t>
            </a:r>
          </a:p>
          <a:p>
            <a:r>
              <a:t/>
            </a:r>
          </a:p>
          <a:p>
            <a:r>
              <a:t>LECTURER CUE</a:t>
            </a:r>
          </a:p>
          <a:p>
            <a:r>
              <a:t>Open the extracted proof_of_life.ipynb in Colab. Show the code cell, text cell, run button and output with the pointer before asking students to click.</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Cells share one Python session.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Cells share one Python session</a:t>
            </a:r>
          </a:p>
          <a:p>
            <a:r>
              <a:t/>
            </a:r>
          </a:p>
          <a:p>
            <a:r>
              <a:t>CONNECT</a:t>
            </a:r>
          </a:p>
          <a:p>
            <a:r>
              <a:t>Build on the preceding slide: A notebook has two kinds of cell.</a:t>
            </a:r>
          </a:p>
          <a:p>
            <a:r>
              <a:t/>
            </a:r>
          </a:p>
          <a:p>
            <a:r>
              <a:t>LECTURER CUE</a:t>
            </a:r>
          </a:p>
          <a:p>
            <a:r>
              <a:t>Point to the code, saved output and shared memory. The pictured filename is illustrative. Open proof_of_life.ipynb for today’s work.</a:t>
            </a:r>
          </a:p>
          <a:p>
            <a:r>
              <a:t>Source: existing course illustration figs/notebook_anatomy.png. These are illustrative examples, not this cohort’s assessed results.</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Start with numbers and values.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Start with numbers and values</a:t>
            </a:r>
          </a:p>
          <a:p>
            <a:r>
              <a:t/>
            </a:r>
          </a:p>
          <a:p>
            <a:r>
              <a:t>CONNECT</a:t>
            </a:r>
          </a:p>
          <a:p>
            <a:r>
              <a:t>Build on the preceding slide: Cells share one Python session.</a:t>
            </a:r>
          </a:p>
          <a:p>
            <a:r>
              <a:t/>
            </a:r>
          </a:p>
          <a:p>
            <a:r>
              <a:t>EXPLAIN IN ORDINARY WORDS</a:t>
            </a:r>
          </a:p>
          <a:p>
            <a:r>
              <a:t>A value is a piece of information. A variable is a name referring to a value. In length_m = 5, Python evaluates the right side and binds that result to the name on the left.</a:t>
            </a:r>
          </a:p>
          <a:p>
            <a:r>
              <a:t/>
            </a:r>
          </a:p>
          <a:p>
            <a:r>
              <a:t>CHECK AND EXPECTED ANSWER</a:t>
            </a:r>
          </a:p>
          <a:p>
            <a:r>
              <a:t>After x=3 then x=5, what does print(x) display? 5. The earlier value is not added automatically.</a:t>
            </a:r>
          </a:p>
          <a:p>
            <a:r>
              <a:t/>
            </a:r>
          </a:p>
          <a:p>
            <a:r>
              <a:t>IF LEARNERS ARE STUCK</a:t>
            </a:r>
          </a:p>
          <a:p>
            <a:r>
              <a:t>Write the name on a card and the current value beside it. Distinguish number 3 from quoted text "3".</a:t>
            </a:r>
          </a:p>
          <a:p>
            <a:r>
              <a:t/>
            </a:r>
          </a:p>
          <a:p>
            <a:r>
              <a:t>POINT TO THE DEFINITION</a:t>
            </a:r>
          </a:p>
          <a:p>
            <a:r>
              <a:t>Number: A number expresses how much or how many: 3 items or 2.5 metres. Whole numbers count; decimal numbers can describe a part of a unit.</a:t>
            </a:r>
          </a:p>
          <a:p>
            <a:r>
              <a:t>Value and unit: A value is one piece of information. The number 2.5 is a value. A measurement also needs a unit, such as metres. Python does not attach that unit automatically.</a:t>
            </a:r>
          </a:p>
          <a:p>
            <a:r>
              <a:t/>
            </a:r>
          </a:p>
          <a:p>
            <a:r>
              <a:t>NEXT</a:t>
            </a:r>
          </a:p>
          <a:p>
            <a:r>
              <a:t>Give a value a name.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Give a value a name</a:t>
            </a:r>
          </a:p>
          <a:p>
            <a:r>
              <a:t/>
            </a:r>
          </a:p>
          <a:p>
            <a:r>
              <a:t>CONNECT</a:t>
            </a:r>
          </a:p>
          <a:p>
            <a:r>
              <a:t>Build on the preceding slide: Start with numbers and values.</a:t>
            </a:r>
          </a:p>
          <a:p>
            <a:r>
              <a:t/>
            </a:r>
          </a:p>
          <a:p>
            <a:r>
              <a:t>EXPLAIN IN ORDINARY WORDS</a:t>
            </a:r>
          </a:p>
          <a:p>
            <a:r>
              <a:t>A value is a piece of information. A variable is a name referring to a value. In length_m = 5, Python evaluates the right side and binds that result to the name on the left.</a:t>
            </a:r>
          </a:p>
          <a:p>
            <a:r>
              <a:t/>
            </a:r>
          </a:p>
          <a:p>
            <a:r>
              <a:t>CHECK AND EXPECTED ANSWER</a:t>
            </a:r>
          </a:p>
          <a:p>
            <a:r>
              <a:t>After x=3 then x=5, what does print(x) display? 5. The earlier value is not added automatically.</a:t>
            </a:r>
          </a:p>
          <a:p>
            <a:r>
              <a:t/>
            </a:r>
          </a:p>
          <a:p>
            <a:r>
              <a:t>IF LEARNERS ARE STUCK</a:t>
            </a:r>
          </a:p>
          <a:p>
            <a:r>
              <a:t>Write the name on a card and the current value beside it. Distinguish number 3 from quoted text "3".</a:t>
            </a:r>
          </a:p>
          <a:p>
            <a:r>
              <a:t/>
            </a:r>
          </a:p>
          <a:p>
            <a:r>
              <a:t>POINT TO THE DEFINITION</a:t>
            </a:r>
          </a:p>
          <a:p>
            <a:r>
              <a:t>Variable: A variable is a name referring to a value. In readings = 12, readings is the name and 12 is its initial number.</a:t>
            </a:r>
          </a:p>
          <a:p>
            <a:r>
              <a:t>Assignment: Read = as “assign”, not “is equal to”. Python calculates the right side first, then gives that value to the name on the left. A later assignment replaces its previous value.</a:t>
            </a:r>
          </a:p>
          <a:p>
            <a:r>
              <a:t/>
            </a:r>
          </a:p>
          <a:p>
            <a:r>
              <a:t>NEXT</a:t>
            </a:r>
          </a:p>
          <a:p>
            <a:r>
              <a:t>Four symbols in our first program.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Four symbols in our first program</a:t>
            </a:r>
          </a:p>
          <a:p>
            <a:r>
              <a:t/>
            </a:r>
          </a:p>
          <a:p>
            <a:r>
              <a:t>CONNECT</a:t>
            </a:r>
          </a:p>
          <a:p>
            <a:r>
              <a:t>Build on the preceding slide: Give a value a name.</a:t>
            </a:r>
          </a:p>
          <a:p>
            <a:r>
              <a:t/>
            </a:r>
          </a:p>
          <a:p>
            <a:r>
              <a:t>LECTURER CUE</a:t>
            </a:r>
          </a:p>
          <a:p>
            <a:r>
              <a:t>Read each symbol aloud: = stores a value under a name; + adds; print(...) displays its input; parentheses hold the input to print. A # starts a comment for a person.</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The session remembers earlier values.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session remembers earlier values</a:t>
            </a:r>
          </a:p>
          <a:p>
            <a:r>
              <a:t/>
            </a:r>
          </a:p>
          <a:p>
            <a:r>
              <a:t>CONNECT</a:t>
            </a:r>
          </a:p>
          <a:p>
            <a:r>
              <a:t>Build on the preceding slide: Four symbols in our first program.</a:t>
            </a:r>
          </a:p>
          <a:p>
            <a:r>
              <a:t/>
            </a:r>
          </a:p>
          <a:p>
            <a:r>
              <a:t>LECTURER CUE</a:t>
            </a:r>
          </a:p>
          <a:p>
            <a:r>
              <a:t>Run the following cells separately. After the first cell, readings refers to 12. The second reads the current value, adds 5, then stores the answer under the same name.</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Worked example.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Worked example</a:t>
            </a:r>
          </a:p>
          <a:p>
            <a:r>
              <a:t/>
            </a:r>
          </a:p>
          <a:p>
            <a:r>
              <a:t>CONNECT</a:t>
            </a:r>
          </a:p>
          <a:p>
            <a:r>
              <a:t>Build on the preceding slide: The session remembers earlier values.</a:t>
            </a:r>
          </a:p>
          <a:p>
            <a:r>
              <a:t/>
            </a:r>
          </a:p>
          <a:p>
            <a:r>
              <a:t>LECTURER CUE</a:t>
            </a:r>
          </a:p>
          <a:p>
            <a:r>
              <a:t>Open the extracted proof_of_life.ipynb in Colab. Show the code cell, text cell, run button and output with the pointer before asking students to click. Read each symbol aloud: = stores a value under a name; + adds; print(...) displays its input; parentheses hold the input to print. A # starts a comment for a person. Run the following cells separately. After the first cell, readings refers to 12. The second reads the current value, adds 5, then stores the answer under the same name.</a:t>
            </a:r>
          </a:p>
          <a:p>
            <a:r>
              <a:t/>
            </a:r>
          </a:p>
          <a:p>
            <a:r>
              <a:t>Complete practice code:</a:t>
            </a:r>
          </a:p>
          <a:p>
            <a:r>
              <a:t>readings = 12</a:t>
            </a:r>
          </a:p>
          <a:p>
            <a:r>
              <a:t># Run the next two lines in a SECOND cell.</a:t>
            </a:r>
          </a:p>
          <a:p>
            <a:r>
              <a:t>readings = readings + 5</a:t>
            </a:r>
          </a:p>
          <a:p>
            <a:r>
              <a:t>print(readings)</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WALK THROUGH THIS CODE</a:t>
            </a:r>
          </a:p>
          <a:p>
            <a:r>
              <a:t>print displays a value below the cell.</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Expected output.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Expected output</a:t>
            </a:r>
          </a:p>
          <a:p>
            <a:r>
              <a:t/>
            </a:r>
          </a:p>
          <a:p>
            <a:r>
              <a:t>CONNECT</a:t>
            </a:r>
          </a:p>
          <a:p>
            <a:r>
              <a:t>Build on the preceding slide: Worked example.</a:t>
            </a:r>
          </a:p>
          <a:p>
            <a:r>
              <a:t/>
            </a:r>
          </a:p>
          <a:p>
            <a:r>
              <a:t>LECTURER CUE</a:t>
            </a:r>
          </a:p>
          <a:p>
            <a:r>
              <a:t>Compare the actual output character by character with this practice result. If it differs, read the first error and check the input, units, names and execution order. Do not copy this practice output into a graded answer.</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Runtime.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Runtime</a:t>
            </a:r>
          </a:p>
          <a:p>
            <a:r>
              <a:t/>
            </a:r>
          </a:p>
          <a:p>
            <a:r>
              <a:t>CONNECT</a:t>
            </a:r>
          </a:p>
          <a:p>
            <a:r>
              <a:t>Build on the preceding slide: Expected output.</a:t>
            </a:r>
          </a:p>
          <a:p>
            <a:r>
              <a:t/>
            </a:r>
          </a:p>
          <a:p>
            <a:r>
              <a:t>EXPLAIN IN ORDINARY WORDS</a:t>
            </a:r>
          </a:p>
          <a:p>
            <a:r>
              <a:t>A value is a piece of information. A variable is a name referring to a value. In length_m = 5, Python evaluates the right side and binds that result to the name on the left.</a:t>
            </a:r>
          </a:p>
          <a:p>
            <a:r>
              <a:t/>
            </a:r>
          </a:p>
          <a:p>
            <a:r>
              <a:t>CHECK AND EXPECTED ANSWER</a:t>
            </a:r>
          </a:p>
          <a:p>
            <a:r>
              <a:t>After x=3 then x=5, what does print(x) display? 5. The earlier value is not added automatically.</a:t>
            </a:r>
          </a:p>
          <a:p>
            <a:r>
              <a:t/>
            </a:r>
          </a:p>
          <a:p>
            <a:r>
              <a:t>IF LEARNERS ARE STUCK</a:t>
            </a:r>
          </a:p>
          <a:p>
            <a:r>
              <a:t>Write the name on a card and the current value beside it. Distinguish number 3 from quoted text "3".</a:t>
            </a:r>
          </a:p>
          <a:p>
            <a:r>
              <a:t/>
            </a:r>
          </a:p>
          <a:p>
            <a:r>
              <a:t>POINT TO THE DEFINITION</a:t>
            </a:r>
          </a:p>
          <a:p>
            <a:r>
              <a:t>Runtime: The running Python session and its current memory. Restarting clears variables. Downloading the notebook saves the document, not the whole running computer.</a:t>
            </a:r>
          </a:p>
          <a:p>
            <a:r>
              <a:t/>
            </a:r>
          </a:p>
          <a:p>
            <a:r>
              <a:t>NEXT</a:t>
            </a:r>
          </a:p>
          <a:p>
            <a:r>
              <a:t>Execution order changes the result.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Execution order changes the result</a:t>
            </a:r>
          </a:p>
          <a:p>
            <a:r>
              <a:t/>
            </a:r>
          </a:p>
          <a:p>
            <a:r>
              <a:t>CONNECT</a:t>
            </a:r>
          </a:p>
          <a:p>
            <a:r>
              <a:t>Build on the preceding slide: Runtime.</a:t>
            </a:r>
          </a:p>
          <a:p>
            <a:r>
              <a:t/>
            </a:r>
          </a:p>
          <a:p>
            <a:r>
              <a:t>LECTURER CUE</a:t>
            </a:r>
          </a:p>
          <a:p>
            <a:r>
              <a:t>Trace 12 + 5 = 17, then 22, then 27. Restarting clears memory. Running the setup cell restores 12.</a:t>
            </a:r>
          </a:p>
          <a:p>
            <a:r>
              <a:t>Source: existing course illustration figs/execution_trap.png. These are illustrative examples, not this cohort’s assessed results.</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You are the notebook’s memory.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 are the notebook’s memory</a:t>
            </a:r>
          </a:p>
          <a:p>
            <a:r>
              <a:t/>
            </a:r>
          </a:p>
          <a:p>
            <a:r>
              <a:t>CONNECT</a:t>
            </a:r>
          </a:p>
          <a:p>
            <a:r>
              <a:t>Build on the preceding slide: Execution order changes the result.</a:t>
            </a:r>
          </a:p>
          <a:p>
            <a:r>
              <a:t/>
            </a:r>
          </a:p>
          <a:p>
            <a:r>
              <a:t>LECTURER CUE</a:t>
            </a:r>
          </a:p>
          <a:p>
            <a:r>
              <a:t>Do this before revealing the discussion slide. One learner moves or writes the items, the other checks. Swap roles. Every student explains one step. Expected: 22. Re-running the setup first would replace the value with 12 again.</a:t>
            </a:r>
          </a:p>
          <a:p>
            <a:r>
              <a:t>Wait for an individual prediction before inviting pair discussion. Give a first-step hint if needed.</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What the activity shows.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the activity shows</a:t>
            </a:r>
          </a:p>
          <a:p>
            <a:r>
              <a:t/>
            </a:r>
          </a:p>
          <a:p>
            <a:r>
              <a:t>CONNECT</a:t>
            </a:r>
          </a:p>
          <a:p>
            <a:r>
              <a:t>Build on the preceding slide: You are the notebook’s memory.</a:t>
            </a:r>
          </a:p>
          <a:p>
            <a:r>
              <a:t/>
            </a:r>
          </a:p>
          <a:p>
            <a:r>
              <a:t>LECTURER CUE</a:t>
            </a:r>
          </a:p>
          <a:p>
            <a:r>
              <a:t>Ask which step produced this answer. Return to the concrete action if a learner cannot explain it. This is practice feedback, never a quiz key.</a:t>
            </a:r>
          </a:p>
          <a:p>
            <a:r>
              <a:t/>
            </a:r>
          </a:p>
          <a:p>
            <a:r>
              <a:t>NEXT</a:t>
            </a:r>
          </a:p>
          <a:p>
            <a:r>
              <a:t>Your turn.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turn</a:t>
            </a:r>
          </a:p>
          <a:p>
            <a:r>
              <a:t/>
            </a:r>
          </a:p>
          <a:p>
            <a:r>
              <a:t>CONNECT</a:t>
            </a:r>
          </a:p>
          <a:p>
            <a:r>
              <a:t>Build on the preceding slide: What the activity shows.</a:t>
            </a:r>
          </a:p>
          <a:p>
            <a:r>
              <a:t/>
            </a:r>
          </a:p>
          <a:p>
            <a:r>
              <a:t>LECTURER CUE</a:t>
            </a:r>
          </a:p>
          <a:p>
            <a:r>
              <a:t>Give silent thinking time, then let pairs discuss. Rotate who types. This is practice, not a graded quiz. Expected response: 22. Running the entire example from the top resets readings to 12, so a complete run ends at 17 every time.</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DISCUSSION KEY FOR THIS SLIDE</a:t>
            </a:r>
          </a:p>
          <a:p>
            <a:r>
              <a:t>DISCUSS THE REASONING</a:t>
            </a:r>
          </a:p>
          <a:p>
            <a:r>
              <a:t>Practice discussion</a:t>
            </a:r>
          </a:p>
          <a:p>
            <a:r>
              <a:t>22. Running the entire example from the top resets readings to 12, so a complete run ends at 17 every time.</a:t>
            </a:r>
          </a:p>
          <a:p>
            <a:r>
              <a:t>Which step produced this result? What changes if one input changes?</a:t>
            </a:r>
          </a:p>
          <a:p>
            <a:r>
              <a:t>CML3111   Week 2   25</a:t>
            </a:r>
          </a:p>
          <a:p>
            <a:r>
              <a:t>Let learners attempt first; use this to explain the reasoning, not just reveal the answer.</a:t>
            </a:r>
          </a:p>
          <a:p>
            <a:r>
              <a:t/>
            </a:r>
          </a:p>
          <a:p>
            <a:r>
              <a:t>NEXT</a:t>
            </a:r>
          </a:p>
          <a:p>
            <a:r>
              <a:t>Practice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Practice discussion</a:t>
            </a:r>
          </a:p>
          <a:p>
            <a:r>
              <a:t/>
            </a:r>
          </a:p>
          <a:p>
            <a:r>
              <a:t>CONNECT</a:t>
            </a:r>
          </a:p>
          <a:p>
            <a:r>
              <a:t>Build on the preceding slide: Your turn.</a:t>
            </a:r>
          </a:p>
          <a:p>
            <a:r>
              <a:t/>
            </a:r>
          </a:p>
          <a:p>
            <a:r>
              <a:t>LECTURER CUE</a:t>
            </a:r>
          </a:p>
          <a:p>
            <a:r>
              <a:t>Ask how the result was obtained. Reteach the smallest missing step instead of giving a longer lecture.</a:t>
            </a:r>
          </a:p>
          <a:p>
            <a:r>
              <a:t/>
            </a:r>
          </a:p>
          <a:p>
            <a:r>
              <a:t>NEXT</a:t>
            </a:r>
          </a:p>
          <a:p>
            <a:r>
              <a:t>Save a copy you can find again.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Save a copy you can find again</a:t>
            </a:r>
          </a:p>
          <a:p>
            <a:r>
              <a:t/>
            </a:r>
          </a:p>
          <a:p>
            <a:r>
              <a:t>CONNECT</a:t>
            </a:r>
          </a:p>
          <a:p>
            <a:r>
              <a:t>Build on the preceding slide: Practice discussion.</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The words in the repair exercises.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words in the repair exercises</a:t>
            </a:r>
          </a:p>
          <a:p>
            <a:r>
              <a:t/>
            </a:r>
          </a:p>
          <a:p>
            <a:r>
              <a:t>CONNECT</a:t>
            </a:r>
          </a:p>
          <a:p>
            <a:r>
              <a:t>Build on the preceding slide: Save a copy you can find again.</a:t>
            </a:r>
          </a:p>
          <a:p>
            <a:r>
              <a:t/>
            </a:r>
          </a:p>
          <a:p>
            <a:r>
              <a:t>EXPLAIN IN ORDINARY WORDS</a:t>
            </a:r>
          </a:p>
          <a:p>
            <a:r>
              <a:t>A module supplies Python tools; import asks Python to load it. A version identifies a software release. A path identifies a file. A state error happens when stored values differ from what we expected.</a:t>
            </a:r>
          </a:p>
          <a:p>
            <a:r>
              <a:t/>
            </a:r>
          </a:p>
          <a:p>
            <a:r>
              <a:t>CHECK AND EXPECTED ANSWER</a:t>
            </a:r>
          </a:p>
          <a:p>
            <a:r>
              <a:t>Notebook 04 starts at 12, adds 5 to get 17, then resets to 12. Why does it print 12? The final assignment overwrites 17.</a:t>
            </a:r>
          </a:p>
          <a:p>
            <a:r>
              <a:t/>
            </a:r>
          </a:p>
          <a:p>
            <a:r>
              <a:t>IF LEARNERS ARE STUCK</a:t>
            </a:r>
          </a:p>
          <a:p>
            <a:r>
              <a:t>01: the named module is deliberately unavailable; remove the unused import instead of trying to install a made-up package. 02: the exercise asserts Python 2 but the course uses Python 3; inspect sys.version_info and correct that deliberate mismatch. 03: upload the issued CSV and replace the nonexistent folder path with its real filename. 04: remove the unwanted reset, restart and run all for 17; repeat only the increment to see 22, then 27.</a:t>
            </a:r>
          </a:p>
          <a:p>
            <a:r>
              <a:t/>
            </a:r>
          </a:p>
          <a:p>
            <a:r>
              <a:t>POINT TO THE DEFINITION</a:t>
            </a:r>
          </a:p>
          <a:p>
            <a:r>
              <a:t>Module and version: A module is a collection of Python tools. import asks for it. A version identifies a software release; different releases can behave differently.</a:t>
            </a:r>
          </a:p>
          <a:p>
            <a:r>
              <a:t>Path and working folder: A path tells Python where a file is. A bare filename is looked up in the current working folder. The runtime Files panel shows uploaded files.</a:t>
            </a:r>
          </a:p>
          <a:p>
            <a:r>
              <a:t/>
            </a:r>
          </a:p>
          <a:p>
            <a:r>
              <a:t>NEXT</a:t>
            </a:r>
          </a:p>
          <a:p>
            <a:r>
              <a:t>Your cohort data.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cohort data</a:t>
            </a:r>
          </a:p>
          <a:p>
            <a:r>
              <a:t/>
            </a:r>
          </a:p>
          <a:p>
            <a:r>
              <a:t>CONNECT</a:t>
            </a:r>
          </a:p>
          <a:p>
            <a:r>
              <a:t>Build on the preceding slide: The words in the repair exercises.</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NEXT</a:t>
            </a:r>
          </a:p>
          <a:p>
            <a:r>
              <a:t>The four repair exercises.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four repair exercises</a:t>
            </a:r>
          </a:p>
          <a:p>
            <a:r>
              <a:t/>
            </a:r>
          </a:p>
          <a:p>
            <a:r>
              <a:t>CONNECT</a:t>
            </a:r>
          </a:p>
          <a:p>
            <a:r>
              <a:t>Build on the preceding slide: Your cohort data.</a:t>
            </a:r>
          </a:p>
          <a:p>
            <a:r>
              <a:t/>
            </a:r>
          </a:p>
          <a:p>
            <a:r>
              <a:t>EXPLAIN IN ORDINARY WORDS</a:t>
            </a:r>
          </a:p>
          <a:p>
            <a:r>
              <a:t>A module supplies Python tools; import asks Python to load it. A version identifies a software release. A path identifies a file. A state error happens when stored values differ from what we expected.</a:t>
            </a:r>
          </a:p>
          <a:p>
            <a:r>
              <a:t/>
            </a:r>
          </a:p>
          <a:p>
            <a:r>
              <a:t>CHECK AND EXPECTED ANSWER</a:t>
            </a:r>
          </a:p>
          <a:p>
            <a:r>
              <a:t>Notebook 04 starts at 12, adds 5 to get 17, then resets to 12. Why does it print 12? The final assignment overwrites 17.</a:t>
            </a:r>
          </a:p>
          <a:p>
            <a:r>
              <a:t/>
            </a:r>
          </a:p>
          <a:p>
            <a:r>
              <a:t>IF LEARNERS ARE STUCK</a:t>
            </a:r>
          </a:p>
          <a:p>
            <a:r>
              <a:t>01: the named module is deliberately unavailable; remove the unused import instead of trying to install a made-up package. 02: the exercise asserts Python 2 but the course uses Python 3; inspect sys.version_info and correct that deliberate mismatch. 03: upload the issued CSV and replace the nonexistent folder path with its real filename. 04: remove the unwanted reset, restart and run all for 17; repeat only the increment to see 22, then 27.</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Repository and commit.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Repository and commit</a:t>
            </a:r>
          </a:p>
          <a:p>
            <a:r>
              <a:t/>
            </a:r>
          </a:p>
          <a:p>
            <a:r>
              <a:t>CONNECT</a:t>
            </a:r>
          </a:p>
          <a:p>
            <a:r>
              <a:t>Build on the preceding slide: The four repair exercises.</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POINT TO THE DEFINITION</a:t>
            </a:r>
          </a:p>
          <a:p>
            <a:r>
              <a:t>Repository and commit: A repository stores a project and its recorded changes. A commit records a change with a message. Git tracks history; GitHub hosts repositories online.</a:t>
            </a:r>
          </a:p>
          <a:p>
            <a:r>
              <a:t/>
            </a:r>
          </a:p>
          <a:p>
            <a:r>
              <a:t>NEXT</a:t>
            </a:r>
          </a:p>
          <a:p>
            <a:r>
              <a:t>Record a change in your repository.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Record a change in your repository</a:t>
            </a:r>
          </a:p>
          <a:p>
            <a:r>
              <a:t/>
            </a:r>
          </a:p>
          <a:p>
            <a:r>
              <a:t>CONNECT</a:t>
            </a:r>
          </a:p>
          <a:p>
            <a:r>
              <a:t>Build on the preceding slide: Repository and commit.</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Short explainer and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Short explainer and discussion</a:t>
            </a:r>
          </a:p>
          <a:p>
            <a:r>
              <a:t/>
            </a:r>
          </a:p>
          <a:p>
            <a:r>
              <a:t>CONNECT</a:t>
            </a:r>
          </a:p>
          <a:p>
            <a:r>
              <a:t>Build on the preceding slide: Record a change in your repository.</a:t>
            </a:r>
          </a:p>
          <a:p>
            <a:r>
              <a:t/>
            </a:r>
          </a:p>
          <a:p>
            <a:r>
              <a:t>LECTURER CUE</a:t>
            </a:r>
          </a:p>
          <a:p>
            <a:r>
              <a:t>Title, channel, 19:53 runtime and chapter boundaries checked on the video page on 15 September 2026. Desktop installation is optional. The originally shared t=167 link starts at installation.</a:t>
            </a:r>
          </a:p>
          <a:p>
            <a:r>
              <a:t>After viewing: Explain the difference between saving a file and recording a commit. Then make one browser-based commit.</a:t>
            </a:r>
          </a:p>
          <a:p>
            <a:r>
              <a:t>Preview before class and stop after the selected short excerpt. If playback fails, teach the worked example. Video is optional. Source: https://www.youtube.com/watch?v=v5gnvDUWqFM</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VIDEO ROUTINE</a:t>
            </a:r>
          </a:p>
          <a:p>
            <a:r>
              <a:t>Preview the exact link and stated excerpt before class. State the viewing question first, pause after the example, and ask a learner to explain it. If access fails, use the adjacent worked example and discussion rather than spend class time troubleshooting streaming.</a:t>
            </a:r>
          </a:p>
          <a:p>
            <a:r>
              <a:t/>
            </a:r>
          </a:p>
          <a:p>
            <a:r>
              <a:t>NEXT</a:t>
            </a:r>
          </a:p>
          <a:p>
            <a:r>
              <a:t>After the video.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After the video</a:t>
            </a:r>
          </a:p>
          <a:p>
            <a:r>
              <a:t/>
            </a:r>
          </a:p>
          <a:p>
            <a:r>
              <a:t>CONNECT</a:t>
            </a:r>
          </a:p>
          <a:p>
            <a:r>
              <a:t>Build on the preceding slide: Short explainer and discussion.</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NEXT</a:t>
            </a:r>
          </a:p>
          <a:p>
            <a:r>
              <a:t>Preparing for the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the assignment</a:t>
            </a:r>
          </a:p>
          <a:p>
            <a:r>
              <a:t/>
            </a:r>
          </a:p>
          <a:p>
            <a:r>
              <a:t>CONNECT</a:t>
            </a:r>
          </a:p>
          <a:p>
            <a:r>
              <a:t>Build on the preceding slide: After the video.</a:t>
            </a:r>
          </a:p>
          <a:p>
            <a:r>
              <a:t/>
            </a:r>
          </a:p>
          <a:p>
            <a:r>
              <a:t>LECTURER CUE</a:t>
            </a:r>
          </a:p>
          <a:p>
            <a:r>
              <a:t>Use proof_of_life.ipynb for A2. Upload the cohort CSV into the runtime Files area and show the filename before reading it. Model repair 01, guide 02–03 and trace 04. Submit the completed main notebook and your own README.md together, plus the repository URL. Repairs 01–04 and hello_engineering.py are practice, not extra submissions.</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Preparing for the assignment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the assignment continued</a:t>
            </a:r>
          </a:p>
          <a:p>
            <a:r>
              <a:t/>
            </a:r>
          </a:p>
          <a:p>
            <a:r>
              <a:t>CONNECT</a:t>
            </a:r>
          </a:p>
          <a:p>
            <a:r>
              <a:t>Build on the preceding slide: Preparing for the assignment.</a:t>
            </a:r>
          </a:p>
          <a:p>
            <a:r>
              <a:t/>
            </a:r>
          </a:p>
          <a:p>
            <a:r>
              <a:t>LECTURER CUE</a:t>
            </a:r>
          </a:p>
          <a:p>
            <a:r>
              <a:t>Use proof_of_life.ipynb for A2. Upload the cohort CSV into the runtime Files area and show the filename before reading it. Model repair 01, guide 02–03 and trace 04. Submit the completed main notebook and your own README.md together, plus the repository URL. Repairs 01–04 and hello_engineering.py are practice, not extra submissions.</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Execution order and saved changes.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Execution order and saved changes</a:t>
            </a:r>
          </a:p>
          <a:p>
            <a:r>
              <a:t/>
            </a:r>
          </a:p>
          <a:p>
            <a:r>
              <a:t>CONNECT</a:t>
            </a:r>
          </a:p>
          <a:p>
            <a:r>
              <a:t>Build on the preceding slide: Preparing for the assignment continued.</a:t>
            </a:r>
          </a:p>
          <a:p>
            <a:r>
              <a:t/>
            </a:r>
          </a:p>
          <a:p>
            <a:r>
              <a:t>LECTURER CUE</a:t>
            </a:r>
          </a:p>
          <a:p>
            <a:r>
              <a:t>Teach these concepts before the weekly quiz. Use changed numbers for practice. This slide supplies concepts, not the quiz key.</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Execution order and saved changes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Execution order and saved changes continued</a:t>
            </a:r>
          </a:p>
          <a:p>
            <a:r>
              <a:t/>
            </a:r>
          </a:p>
          <a:p>
            <a:r>
              <a:t>CONNECT</a:t>
            </a:r>
          </a:p>
          <a:p>
            <a:r>
              <a:t>Build on the preceding slide: Execution order and saved changes.</a:t>
            </a:r>
          </a:p>
          <a:p>
            <a:r>
              <a:t/>
            </a:r>
          </a:p>
          <a:p>
            <a:r>
              <a:t>LECTURER CUE</a:t>
            </a:r>
          </a:p>
          <a:p>
            <a:r>
              <a:t>Teach these concepts before the weekly quiz. Use changed numbers for practice. This slide supplies concepts, not the quiz key.</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A1 — what to write and submit.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A1 — what to write and submit</a:t>
            </a:r>
          </a:p>
          <a:p>
            <a:r>
              <a:t/>
            </a:r>
          </a:p>
          <a:p>
            <a:r>
              <a:t>CONNECT</a:t>
            </a:r>
          </a:p>
          <a:p>
            <a:r>
              <a:t>Build on the preceding slide: Execution order and saved changes continued.</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Week 1 Assignment A1 catch-up upload.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1 Assignment A1 catch-up upload</a:t>
            </a:r>
          </a:p>
          <a:p>
            <a:r>
              <a:t/>
            </a:r>
          </a:p>
          <a:p>
            <a:r>
              <a:t>CONNECT</a:t>
            </a:r>
          </a:p>
          <a:p>
            <a:r>
              <a:t>Build on the preceding slide: A1 — what to write and submit.</a:t>
            </a:r>
          </a:p>
          <a:p>
            <a:r>
              <a:t/>
            </a:r>
          </a:p>
          <a:p>
            <a:r>
              <a:t>LECTURER CUE</a:t>
            </a:r>
          </a:p>
          <a:p>
            <a:r>
              <a:t>Week 1 collection is permitted; existing marks remain protected and new written grading remains held until validated.</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Week 1 Quiz 1 catch-up.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1 Quiz 1 catch-up</a:t>
            </a:r>
          </a:p>
          <a:p>
            <a:r>
              <a:t/>
            </a:r>
          </a:p>
          <a:p>
            <a:r>
              <a:t>CONNECT</a:t>
            </a:r>
          </a:p>
          <a:p>
            <a:r>
              <a:t>Build on the preceding slide: Week 1 Assignment A1 catch-up upload.</a:t>
            </a:r>
          </a:p>
          <a:p>
            <a:r>
              <a:t/>
            </a:r>
          </a:p>
          <a:p>
            <a:r>
              <a:t>LECTURER CUE</a:t>
            </a:r>
          </a:p>
          <a:p>
            <a:r>
              <a:t>In Quiz Controls run open_W1_CML3111 when ready to give the full 24-hour window. Announce the exact logged deadline. Opening this link does not activate the quiz.</a:t>
            </a:r>
          </a:p>
          <a:p>
            <a:r>
              <a:t/>
            </a:r>
          </a:p>
          <a:p>
            <a:r>
              <a:t>QUIZ OPERATION</a:t>
            </a:r>
          </a:p>
          <a:p>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a:r>
              <a:t/>
            </a:r>
          </a:p>
          <a:p>
            <a:r>
              <a:t>NEXT</a:t>
            </a:r>
          </a:p>
          <a:p>
            <a:r>
              <a:t>Week 2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2 assignment</a:t>
            </a:r>
          </a:p>
          <a:p>
            <a:r>
              <a:t/>
            </a:r>
          </a:p>
          <a:p>
            <a:r>
              <a:t>CONNECT</a:t>
            </a:r>
          </a:p>
          <a:p>
            <a:r>
              <a:t>Build on the preceding slide: Week 1 Quiz 1 catch-up.</a:t>
            </a:r>
          </a:p>
          <a:p>
            <a:r>
              <a:t/>
            </a:r>
          </a:p>
          <a:p>
            <a:r>
              <a:t>LECTURER CUE</a:t>
            </a:r>
          </a:p>
          <a:p>
            <a:r>
              <a:t># A2 Proof of life</a:t>
            </a:r>
          </a:p>
          <a:p>
            <a:r>
              <a:t>Full assessment requirements belong in the current public task guide; explain only the criterion or task shown on this slide.</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Proof of life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Proof of life submission</a:t>
            </a:r>
          </a:p>
          <a:p>
            <a:r>
              <a:t/>
            </a:r>
          </a:p>
          <a:p>
            <a:r>
              <a:t>CONNECT</a:t>
            </a:r>
          </a:p>
          <a:p>
            <a:r>
              <a:t>Build on the preceding slide: Week 2 assignment.</a:t>
            </a:r>
          </a:p>
          <a:p>
            <a:r>
              <a:t/>
            </a:r>
          </a:p>
          <a:p>
            <a:r>
              <a:t>LECTURER CUE</a:t>
            </a:r>
          </a:p>
          <a:p>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Week 2 quiz.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2 quiz</a:t>
            </a:r>
          </a:p>
          <a:p>
            <a:r>
              <a:t/>
            </a:r>
          </a:p>
          <a:p>
            <a:r>
              <a:t>CONNECT</a:t>
            </a:r>
          </a:p>
          <a:p>
            <a:r>
              <a:t>Build on the preceding slide: Proof of life submission.</a:t>
            </a:r>
          </a:p>
          <a:p>
            <a:r>
              <a:t/>
            </a:r>
          </a:p>
          <a:p>
            <a:r>
              <a:t>LECTURER CUE</a:t>
            </a:r>
          </a:p>
          <a:p>
            <a:r>
              <a:t>Activate the matching open_W2_CML3111 function in Quiz Controls, then confirm the 24-hour close time. Opening this slide or clicking its link does not activate the form. The 24 hours is the availability window. Keep existing quiz scoring and form rules. Do not show private answer keys.</a:t>
            </a:r>
          </a:p>
          <a:p>
            <a:r>
              <a:t/>
            </a:r>
          </a:p>
          <a:p>
            <a:r>
              <a:t>QUIZ OPERATION</a:t>
            </a:r>
          </a:p>
          <a:p>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a:r>
              <a:t/>
            </a:r>
          </a:p>
          <a:p>
            <a:r>
              <a:t>NEXT</a:t>
            </a:r>
          </a:p>
          <a:p>
            <a:r>
              <a:t>Before you leave.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Before you leave</a:t>
            </a:r>
          </a:p>
          <a:p>
            <a:r>
              <a:t/>
            </a:r>
          </a:p>
          <a:p>
            <a:r>
              <a:t>CONNECT</a:t>
            </a:r>
          </a:p>
          <a:p>
            <a:r>
              <a:t>Build on the preceding slide: Week 2 quiz.</a:t>
            </a:r>
          </a:p>
          <a:p>
            <a:r>
              <a:t/>
            </a:r>
          </a:p>
          <a:p>
            <a:r>
              <a:t>LECTURER CUE</a:t>
            </a:r>
          </a:p>
          <a:p>
            <a:r>
              <a:t>Ask every learner for an individual response. Record one misconception to revisit at the start of the next class. If a deadline changed, announce the exact Kampala date and update the source registry before rebuilding slides.</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85139a853d42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9e53b3d1794a93" /><Relationship Type="http://schemas.openxmlformats.org/officeDocument/2006/relationships/slideLayout" Target="/ppt/slideLayouts/slideLayout1.xml" Id="Rb32998d4adf740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2998d4adf740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540dd03cad44d6" /><Relationship Type="http://schemas.openxmlformats.org/officeDocument/2006/relationships/image" Target="/ppt/media/image.png" Id="R60b3be849f8a470e" /><Relationship Type="http://schemas.openxmlformats.org/officeDocument/2006/relationships/notesSlide" Target="/ppt/notesSlides/notesSlide1.xml" Id="R8ab462d65b9a4c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98314ec7ed477e" /><Relationship Type="http://schemas.openxmlformats.org/officeDocument/2006/relationships/notesSlide" Target="/ppt/notesSlides/notesSlide2.xml" Id="R04ca6b14a29c42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28ea43668149e1" /><Relationship Type="http://schemas.openxmlformats.org/officeDocument/2006/relationships/notesSlide" Target="/ppt/notesSlides/notesSlide3.xml" Id="Rbae5d9985a6c4f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1c3249a2bb4557" /><Relationship Type="http://schemas.openxmlformats.org/officeDocument/2006/relationships/notesSlide" Target="/ppt/notesSlides/notesSlide4.xml" Id="Raab9ab68653046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754ba282794e7a" /><Relationship Type="http://schemas.openxmlformats.org/officeDocument/2006/relationships/notesSlide" Target="/ppt/notesSlides/notesSlide5.xml" Id="Rf743349153be41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e324f2e1ed41dc" /><Relationship Type="http://schemas.openxmlformats.org/officeDocument/2006/relationships/image" Target="/ppt/media/image2.png" Id="R0303ebca749b4208" /><Relationship Type="http://schemas.openxmlformats.org/officeDocument/2006/relationships/notesSlide" Target="/ppt/notesSlides/notesSlide6.xml" Id="R8379aa31c19747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430847139a4cf6" /><Relationship Type="http://schemas.openxmlformats.org/officeDocument/2006/relationships/notesSlide" Target="/ppt/notesSlides/notesSlide7.xml" Id="R8cf6394a5fae46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ae9016425c4ea2" /><Relationship Type="http://schemas.openxmlformats.org/officeDocument/2006/relationships/notesSlide" Target="/ppt/notesSlides/notesSlide8.xml" Id="R5af03704426f47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bd2e77f16b4efd" /><Relationship Type="http://schemas.openxmlformats.org/officeDocument/2006/relationships/notesSlide" Target="/ppt/notesSlides/notesSlide9.xml" Id="R53204e9279374a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95122c9b384cd9" /><Relationship Type="http://schemas.openxmlformats.org/officeDocument/2006/relationships/notesSlide" Target="/ppt/notesSlides/notesSlide10.xml" Id="R40963a2a86a645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a543c77fde424f" /><Relationship Type="http://schemas.openxmlformats.org/officeDocument/2006/relationships/notesSlide" Target="/ppt/notesSlides/notesSlide11.xml" Id="R3e56d4264f064b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006bd4b4504525" /><Relationship Type="http://schemas.openxmlformats.org/officeDocument/2006/relationships/notesSlide" Target="/ppt/notesSlides/notesSlide12.xml" Id="Refd5ab69bebf49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b9a4174b56431b" /><Relationship Type="http://schemas.openxmlformats.org/officeDocument/2006/relationships/image" Target="/ppt/media/image3.png" Id="R623166c7623e40b5" /><Relationship Type="http://schemas.openxmlformats.org/officeDocument/2006/relationships/notesSlide" Target="/ppt/notesSlides/notesSlide13.xml" Id="R37ad745867da4d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84c924dac0d4b03" /><Relationship Type="http://schemas.openxmlformats.org/officeDocument/2006/relationships/notesSlide" Target="/ppt/notesSlides/notesSlide14.xml" Id="Rf5704271a4e241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624975ec5a4f33" /><Relationship Type="http://schemas.openxmlformats.org/officeDocument/2006/relationships/notesSlide" Target="/ppt/notesSlides/notesSlide15.xml" Id="Ra1ad9c8374da4a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ca5405d7af54116" /><Relationship Type="http://schemas.openxmlformats.org/officeDocument/2006/relationships/notesSlide" Target="/ppt/notesSlides/notesSlide16.xml" Id="Rab406c13b1644c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3f3feeee12f47ae" /><Relationship Type="http://schemas.openxmlformats.org/officeDocument/2006/relationships/notesSlide" Target="/ppt/notesSlides/notesSlide17.xml" Id="R6ea8a98d886c46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3dc53fad874400b" /><Relationship Type="http://schemas.openxmlformats.org/officeDocument/2006/relationships/notesSlide" Target="/ppt/notesSlides/notesSlide18.xml" Id="Rfa368e6789b44e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595c92360fa4a3e" /><Relationship Type="http://schemas.openxmlformats.org/officeDocument/2006/relationships/notesSlide" Target="/ppt/notesSlides/notesSlide19.xml" Id="Re159cfa4c00744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f212ebf797d474c" /><Relationship Type="http://schemas.openxmlformats.org/officeDocument/2006/relationships/notesSlide" Target="/ppt/notesSlides/notesSlide20.xml" Id="Rdc071da1711f46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879871ea7f445e8" /><Relationship Type="http://schemas.openxmlformats.org/officeDocument/2006/relationships/image" Target="/ppt/media/image4.png" Id="R31670e4ecd8141dd" /><Relationship Type="http://schemas.openxmlformats.org/officeDocument/2006/relationships/notesSlide" Target="/ppt/notesSlides/notesSlide21.xml" Id="Rbc50a334428840f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9cc5864a705471a" /><Relationship Type="http://schemas.openxmlformats.org/officeDocument/2006/relationships/notesSlide" Target="/ppt/notesSlides/notesSlide22.xml" Id="R981af533acb44a5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d60d2a619094c5f" /><Relationship Type="http://schemas.openxmlformats.org/officeDocument/2006/relationships/notesSlide" Target="/ppt/notesSlides/notesSlide23.xml" Id="Rfd537587204e41d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e60f512fc034e76" /><Relationship Type="http://schemas.openxmlformats.org/officeDocument/2006/relationships/notesSlide" Target="/ppt/notesSlides/notesSlide24.xml" Id="R0ddbecc9e23a40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c8bd71ee9ad4e96" /><Relationship Type="http://schemas.openxmlformats.org/officeDocument/2006/relationships/notesSlide" Target="/ppt/notesSlides/notesSlide25.xml" Id="Rf770b50ab37c43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b63c2e251c94d79" /><Relationship Type="http://schemas.openxmlformats.org/officeDocument/2006/relationships/notesSlide" Target="/ppt/notesSlides/notesSlide26.xml" Id="R0396e876446d4c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4cc7690cb0f4caa" /><Relationship Type="http://schemas.openxmlformats.org/officeDocument/2006/relationships/notesSlide" Target="/ppt/notesSlides/notesSlide27.xml" Id="R2be8198b75a54f4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71a55b97c674928" /><Relationship Type="http://schemas.openxmlformats.org/officeDocument/2006/relationships/notesSlide" Target="/ppt/notesSlides/notesSlide28.xml" Id="R2dd9f3e6377a44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99f1b6ed28b4862" /><Relationship Type="http://schemas.openxmlformats.org/officeDocument/2006/relationships/notesSlide" Target="/ppt/notesSlides/notesSlide29.xml" Id="R386b2d8a5bef4f6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8a5a29070a94f5a" /><Relationship Type="http://schemas.openxmlformats.org/officeDocument/2006/relationships/notesSlide" Target="/ppt/notesSlides/notesSlide30.xml" Id="Rcb06e0d808f0442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b609ffaddab48e9" /><Relationship Type="http://schemas.openxmlformats.org/officeDocument/2006/relationships/notesSlide" Target="/ppt/notesSlides/notesSlide31.xml" Id="R574656bb7a3a484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df698775c84457b" /><Relationship Type="http://schemas.openxmlformats.org/officeDocument/2006/relationships/hyperlink" Target="https://www.youtube.com/watch?v=v5gnvDUWqFM" TargetMode="External" Id="R2e145639852a447b" /><Relationship Type="http://schemas.openxmlformats.org/officeDocument/2006/relationships/notesSlide" Target="/ppt/notesSlides/notesSlide32.xml" Id="R2fc39ca7cdf549c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68e4e59f070422f" /><Relationship Type="http://schemas.openxmlformats.org/officeDocument/2006/relationships/notesSlide" Target="/ppt/notesSlides/notesSlide33.xml" Id="R4647ea7ad048440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2f3bd2f4cc6422b" /><Relationship Type="http://schemas.openxmlformats.org/officeDocument/2006/relationships/notesSlide" Target="/ppt/notesSlides/notesSlide34.xml" Id="R984a63197567457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788ee62acc64ec9" /><Relationship Type="http://schemas.openxmlformats.org/officeDocument/2006/relationships/notesSlide" Target="/ppt/notesSlides/notesSlide35.xml" Id="R148720745d3f4f7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6886aa288dc4445" /><Relationship Type="http://schemas.openxmlformats.org/officeDocument/2006/relationships/notesSlide" Target="/ppt/notesSlides/notesSlide36.xml" Id="R38c328abe0694fb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bbb4424fa6342b0" /><Relationship Type="http://schemas.openxmlformats.org/officeDocument/2006/relationships/notesSlide" Target="/ppt/notesSlides/notesSlide37.xml" Id="Rd61f72bb58bf4b5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7dbd672bc0545c5" /><Relationship Type="http://schemas.openxmlformats.org/officeDocument/2006/relationships/notesSlide" Target="/ppt/notesSlides/notesSlide38.xml" Id="R9a8b9dbc21c34e3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87d56d979004868" /><Relationship Type="http://schemas.openxmlformats.org/officeDocument/2006/relationships/hyperlink" Target="https://docs.google.com/forms/d/e/1FAIpQLSeE677AvoxTAOJSdCV5bVYWu34RHPg5tsOLqUVS1E7EVI8sYg/viewform" TargetMode="External" Id="Rd95be2b2f48240c7" /><Relationship Type="http://schemas.openxmlformats.org/officeDocument/2006/relationships/notesSlide" Target="/ppt/notesSlides/notesSlide39.xml" Id="Rcb4063a3a854475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aa571fd2e594eca" /><Relationship Type="http://schemas.openxmlformats.org/officeDocument/2006/relationships/hyperlink" Target="https://forms.gle/ChK3D2sopncRbbLx5" TargetMode="External" Id="R29f6afc8734a48f9" /><Relationship Type="http://schemas.openxmlformats.org/officeDocument/2006/relationships/notesSlide" Target="/ppt/notesSlides/notesSlide40.xml" Id="R71a94469e3c2415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880677e96a34a2d" /><Relationship Type="http://schemas.openxmlformats.org/officeDocument/2006/relationships/notesSlide" Target="/ppt/notesSlides/notesSlide41.xml" Id="R415130556f2b451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cd182e6ef6341b3" /><Relationship Type="http://schemas.openxmlformats.org/officeDocument/2006/relationships/hyperlink" Target="https://docs.google.com/forms/d/e/1FAIpQLSfjyYUtobO5sgIWH30AidQu7Sx8bcmH6lSbtHQv-9SISaEDqA/viewform" TargetMode="External" Id="Rd6e8129184b24a02" /><Relationship Type="http://schemas.openxmlformats.org/officeDocument/2006/relationships/notesSlide" Target="/ppt/notesSlides/notesSlide42.xml" Id="R00ff94c63e5e462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3f99112c236430a" /><Relationship Type="http://schemas.openxmlformats.org/officeDocument/2006/relationships/image" Target="/ppt/media/image5.png" Id="R18c930b7ab2d44a2" /><Relationship Type="http://schemas.openxmlformats.org/officeDocument/2006/relationships/hyperlink" Target="https://forms.gle/326KYcY6JvBqbPa78" TargetMode="External" Id="Raedd6d240dd8410d" /><Relationship Type="http://schemas.openxmlformats.org/officeDocument/2006/relationships/notesSlide" Target="/ppt/notesSlides/notesSlide43.xml" Id="R7373726c6e36480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117e4f6b7d44245" /><Relationship Type="http://schemas.openxmlformats.org/officeDocument/2006/relationships/notesSlide" Target="/ppt/notesSlides/notesSlide44.xml" Id="R3c8ca4d75dde40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0b3be849f8a470e"/>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827BE42-C541-4EE1-9057-573C6D6DD54F}"/>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B48D75-A07A-41B8-8C99-836FC7D14B08}"/>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2</a:t>
            </a:r>
          </a:p>
        </p:txBody>
      </p:sp>
      <p:sp>
        <p:nvSpPr>
          <p:cNvPr id="4" name="">
            <a:extLst xmlns:a="http://schemas.openxmlformats.org/drawingml/2006/main">
              <a:ext uri="{FF2B5EF4-FFF2-40B4-BE49-F238E27FC236}">
                <a16:creationId xmlns:a16="http://schemas.microsoft.com/office/drawing/2014/main" id="{7324DDA5-7DB7-49AE-BE07-E46602B9F25B}"/>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Running and saving your first notebook</a:t>
            </a:r>
          </a:p>
        </p:txBody>
      </p:sp>
      <p:sp>
        <p:nvSpPr>
          <p:cNvPr id="5" name="">
            <a:extLst xmlns:a="http://schemas.openxmlformats.org/drawingml/2006/main">
              <a:ext uri="{FF2B5EF4-FFF2-40B4-BE49-F238E27FC236}">
                <a16:creationId xmlns:a16="http://schemas.microsoft.com/office/drawing/2014/main" id="{9AFBAAE4-5DE3-436C-95FE-009DC60ADEBF}"/>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9810B0D1-BE89-4FC5-94A7-2DB890CD1DE5}"/>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18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1495706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2E5C51-EDFB-4C09-98DE-DD6204C926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CBBBE6-DE11-41F8-959E-8CAB9FEA4BA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F15575A6-98C0-4913-A3CA-D244EA2AE7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D054481A-1CDB-49D4-87D3-8B6569D6A489}"/>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866C15-B923-4C17-BF6D-2BEEA9F07517}"/>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BAE92E26-BAD2-4781-A99B-38A8C5FF8405}"/>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a code cell and find its output.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save and reopen your main notebook.</a:t>
            </a:r>
          </a:p>
        </p:txBody>
      </p:sp>
      <p:sp>
        <p:nvSpPr>
          <p:cNvPr id="7" name="">
            <a:extLst xmlns:a="http://schemas.openxmlformats.org/drawingml/2006/main">
              <a:ext uri="{FF2B5EF4-FFF2-40B4-BE49-F238E27FC236}">
                <a16:creationId xmlns:a16="http://schemas.microsoft.com/office/drawing/2014/main" id="{FA9F65AE-D8DF-49A8-9107-778518DEC7BD}"/>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7AB3EE5F-CBEF-4D1C-8FB5-1145FA5E3E5B}"/>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why running the same cell again may change its output.</a:t>
            </a:r>
          </a:p>
        </p:txBody>
      </p:sp>
      <p:sp>
        <p:nvSpPr>
          <p:cNvPr id="9" name="">
            <a:extLst xmlns:a="http://schemas.openxmlformats.org/drawingml/2006/main">
              <a:ext uri="{FF2B5EF4-FFF2-40B4-BE49-F238E27FC236}">
                <a16:creationId xmlns:a16="http://schemas.microsoft.com/office/drawing/2014/main" id="{972888CE-9B68-4860-97FD-297A77BB9D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a:t>
            </a:r>
          </a:p>
        </p:txBody>
      </p:sp>
    </p:spTree>
    <p:extLst>
      <p:ext uri="{BB962C8B-B14F-4D97-AF65-F5344CB8AC3E}">
        <p14:creationId xmlns:p14="http://schemas.microsoft.com/office/powerpoint/2010/main" val="5056967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9E72B5-46AB-41D4-9D03-6CCA0FD73A0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CDAFE-45B7-4042-B93C-825DA46E6B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905FC81-0848-4EC4-B7AA-5578B1EC4C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includes your Week 1 catch-up</a:t>
            </a:r>
          </a:p>
        </p:txBody>
      </p:sp>
      <p:sp>
        <p:nvSpPr>
          <p:cNvPr id="4" name="">
            <a:extLst xmlns:a="http://schemas.openxmlformats.org/drawingml/2006/main">
              <a:ext uri="{FF2B5EF4-FFF2-40B4-BE49-F238E27FC236}">
                <a16:creationId xmlns:a16="http://schemas.microsoft.com/office/drawing/2014/main" id="{42924DA1-4E5B-4E23-B836-EBA5A90F520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3ECB1C-C6A7-42CC-BE70-1720D39582D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A1, the Week 1 three-problems assignment, and submit it using the A1 link.</a:t>
            </a:r>
          </a:p>
        </p:txBody>
      </p:sp>
      <p:sp>
        <p:nvSpPr>
          <p:cNvPr id="6" name="">
            <a:extLst xmlns:a="http://schemas.openxmlformats.org/drawingml/2006/main">
              <a:ext uri="{FF2B5EF4-FFF2-40B4-BE49-F238E27FC236}">
                <a16:creationId xmlns:a16="http://schemas.microsoft.com/office/drawing/2014/main" id="{B051559F-91F7-4E39-B36C-F5393D357D1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705BEBB-CFDA-4D52-A7BB-73A1CB38182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Take Quiz 1 when your lecturer activates it. It is separate from the A1 upload.</a:t>
            </a:r>
          </a:p>
        </p:txBody>
      </p:sp>
      <p:sp>
        <p:nvSpPr>
          <p:cNvPr id="8" name="">
            <a:extLst xmlns:a="http://schemas.openxmlformats.org/drawingml/2006/main">
              <a:ext uri="{FF2B5EF4-FFF2-40B4-BE49-F238E27FC236}">
                <a16:creationId xmlns:a16="http://schemas.microsoft.com/office/drawing/2014/main" id="{5B6B2393-14B2-4FD5-8F15-838D6C5C2F8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A9A61F0-C725-48E9-977E-B0D78C0A2DF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Also complete today’s A2 notebook and README, and take Quiz 2 when activated. These are four separate tasks.</a:t>
            </a:r>
          </a:p>
        </p:txBody>
      </p:sp>
      <p:sp>
        <p:nvSpPr>
          <p:cNvPr id="10" name="">
            <a:extLst xmlns:a="http://schemas.openxmlformats.org/drawingml/2006/main">
              <a:ext uri="{FF2B5EF4-FFF2-40B4-BE49-F238E27FC236}">
                <a16:creationId xmlns:a16="http://schemas.microsoft.com/office/drawing/2014/main" id="{ECEB0DCD-D043-4827-936C-754870AC87A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a:t>
            </a:r>
          </a:p>
        </p:txBody>
      </p:sp>
    </p:spTree>
    <p:extLst>
      <p:ext uri="{BB962C8B-B14F-4D97-AF65-F5344CB8AC3E}">
        <p14:creationId xmlns:p14="http://schemas.microsoft.com/office/powerpoint/2010/main" val="642198009"/>
      </p:ext>
    </p:extLst>
  </p:cSld>
</p:sld>
</file>

<file path=ppt/slides/slide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A8ADDE-8AE7-44F9-A6E2-C1A99C43DA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EB3C6677-E49A-4F3F-83F5-0BD081A307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8E2778B9-9C94-453E-B181-8AF0CD502C04}"/>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2D13F0E2-1296-408F-975D-159182B73120}"/>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Think of an everyday measurement, such as a desk length. What number and unit would you write down? We will explain the computer terms before using them.</a:t>
            </a:r>
          </a:p>
        </p:txBody>
      </p:sp>
      <p:sp>
        <p:nvSpPr>
          <p:cNvPr id="5" name="">
            <a:extLst xmlns:a="http://schemas.openxmlformats.org/drawingml/2006/main">
              <a:ext uri="{FF2B5EF4-FFF2-40B4-BE49-F238E27FC236}">
                <a16:creationId xmlns:a16="http://schemas.microsoft.com/office/drawing/2014/main" id="{38DED22D-91B5-48FF-A211-66E618CFD472}"/>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A21885BB-6E09-46FA-893B-9105C040AF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4</a:t>
            </a:r>
          </a:p>
        </p:txBody>
      </p:sp>
    </p:spTree>
    <p:extLst>
      <p:ext uri="{BB962C8B-B14F-4D97-AF65-F5344CB8AC3E}">
        <p14:creationId xmlns:p14="http://schemas.microsoft.com/office/powerpoint/2010/main" val="15388510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7508D5-A5BD-4E0D-9B84-2FCDB6070A1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A0CCB0-F338-42F1-B59E-483580BEAA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5BE78E21-F2E8-475B-977D-EE136EF0AA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154A5CFE-8637-46A8-8651-7063048756F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17484CA-6CBB-4BAB-897C-BFFE93750CF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team records device temperature to investigate cooling.</a:t>
            </a:r>
          </a:p>
        </p:txBody>
      </p:sp>
      <p:sp>
        <p:nvSpPr>
          <p:cNvPr id="6" name="">
            <a:extLst xmlns:a="http://schemas.openxmlformats.org/drawingml/2006/main">
              <a:ext uri="{FF2B5EF4-FFF2-40B4-BE49-F238E27FC236}">
                <a16:creationId xmlns:a16="http://schemas.microsoft.com/office/drawing/2014/main" id="{8196CC91-C886-425A-B6B4-8365E89D989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45BCE46-B2BF-4244-899A-9B213F294A3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communications cabinet, an electrical enclosure or a robot controller as the physical example.</a:t>
            </a:r>
          </a:p>
        </p:txBody>
      </p:sp>
      <p:sp>
        <p:nvSpPr>
          <p:cNvPr id="8" name="">
            <a:extLst xmlns:a="http://schemas.openxmlformats.org/drawingml/2006/main">
              <a:ext uri="{FF2B5EF4-FFF2-40B4-BE49-F238E27FC236}">
                <a16:creationId xmlns:a16="http://schemas.microsoft.com/office/drawing/2014/main" id="{2257AE99-36EE-4DB2-8E7C-A52C3771487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92CBAD9-284F-419C-91B9-5DE9240A78C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specialist hardware knowledge is assumed.</a:t>
            </a:r>
          </a:p>
        </p:txBody>
      </p:sp>
      <p:sp>
        <p:nvSpPr>
          <p:cNvPr id="10" name="">
            <a:extLst xmlns:a="http://schemas.openxmlformats.org/drawingml/2006/main">
              <a:ext uri="{FF2B5EF4-FFF2-40B4-BE49-F238E27FC236}">
                <a16:creationId xmlns:a16="http://schemas.microsoft.com/office/drawing/2014/main" id="{B5B88A63-76DD-426A-98B1-2BE20F9A65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5</a:t>
            </a:r>
          </a:p>
        </p:txBody>
      </p:sp>
    </p:spTree>
    <p:extLst>
      <p:ext uri="{BB962C8B-B14F-4D97-AF65-F5344CB8AC3E}">
        <p14:creationId xmlns:p14="http://schemas.microsoft.com/office/powerpoint/2010/main" val="1439001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5CD3F1-2669-4754-B4CC-B0F568607653}"/>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C884E2-1A8E-4672-9CCD-476A93A09E33}"/>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Measurements become observations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303ebca749b4208"/>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7DDCB7E-D1EB-47D2-9BB7-C6AE363E7440}"/>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1B7C5C-6C02-4E35-B609-00C59DBDE97B}"/>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object was measured? Which quantity was recorded?</a:t>
            </a:r>
          </a:p>
        </p:txBody>
      </p:sp>
      <p:sp>
        <p:nvSpPr>
          <p:cNvPr id="6" name="">
            <a:extLst xmlns:a="http://schemas.openxmlformats.org/drawingml/2006/main">
              <a:ext uri="{FF2B5EF4-FFF2-40B4-BE49-F238E27FC236}">
                <a16:creationId xmlns:a16="http://schemas.microsoft.com/office/drawing/2014/main" id="{CB74912E-260F-4E75-A9AD-A6B1667E0A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6</a:t>
            </a:r>
          </a:p>
        </p:txBody>
      </p:sp>
    </p:spTree>
    <p:extLst>
      <p:ext uri="{BB962C8B-B14F-4D97-AF65-F5344CB8AC3E}">
        <p14:creationId xmlns:p14="http://schemas.microsoft.com/office/powerpoint/2010/main" val="18779349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C6891F-0D0F-4BA2-9E1C-F3669C42234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663D53-20AA-4A24-B457-6D1E50A9664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9A4B3F1-D15C-4564-84EB-271292DC91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20E25068-51DB-4823-A3D3-882C52A77ED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1A77D3A-B898-4EFB-B66A-0853000261B6}"/>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File</a:t>
            </a:r>
          </a:p>
        </p:txBody>
      </p:sp>
      <p:sp>
        <p:nvSpPr>
          <p:cNvPr id="6" name="">
            <a:extLst xmlns:a="http://schemas.openxmlformats.org/drawingml/2006/main">
              <a:ext uri="{FF2B5EF4-FFF2-40B4-BE49-F238E27FC236}">
                <a16:creationId xmlns:a16="http://schemas.microsoft.com/office/drawing/2014/main" id="{CAA57849-D289-40DD-8B5E-C87236BAC447}"/>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saved item with a name. Its extension tells us the kind: .ipynb is a notebook, .csv a table, .py a Python script and .md a text document.</a:t>
            </a:r>
          </a:p>
        </p:txBody>
      </p:sp>
      <p:sp>
        <p:nvSpPr>
          <p:cNvPr id="7" name="">
            <a:extLst xmlns:a="http://schemas.openxmlformats.org/drawingml/2006/main">
              <a:ext uri="{FF2B5EF4-FFF2-40B4-BE49-F238E27FC236}">
                <a16:creationId xmlns:a16="http://schemas.microsoft.com/office/drawing/2014/main" id="{94B4C7A9-2FDA-4B68-AEF1-8F2CC2695B9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BEBB97-2122-4F83-81D5-681CE9E6459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Folder</a:t>
            </a:r>
          </a:p>
        </p:txBody>
      </p:sp>
      <p:sp>
        <p:nvSpPr>
          <p:cNvPr id="9" name="">
            <a:extLst xmlns:a="http://schemas.openxmlformats.org/drawingml/2006/main">
              <a:ext uri="{FF2B5EF4-FFF2-40B4-BE49-F238E27FC236}">
                <a16:creationId xmlns:a16="http://schemas.microsoft.com/office/drawing/2014/main" id="{4E84EA66-3A43-4B8E-ABF7-CB9B8EC2C55D}"/>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container that helps you keep related files together. Extracting a ZIP restores the files inside it.</a:t>
            </a:r>
          </a:p>
        </p:txBody>
      </p:sp>
      <p:sp>
        <p:nvSpPr>
          <p:cNvPr id="10" name="">
            <a:extLst xmlns:a="http://schemas.openxmlformats.org/drawingml/2006/main">
              <a:ext uri="{FF2B5EF4-FFF2-40B4-BE49-F238E27FC236}">
                <a16:creationId xmlns:a16="http://schemas.microsoft.com/office/drawing/2014/main" id="{FBBA366F-F58C-434F-ADFD-D27768E7E88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7</a:t>
            </a:r>
          </a:p>
        </p:txBody>
      </p:sp>
    </p:spTree>
    <p:extLst>
      <p:ext uri="{BB962C8B-B14F-4D97-AF65-F5344CB8AC3E}">
        <p14:creationId xmlns:p14="http://schemas.microsoft.com/office/powerpoint/2010/main" val="17669153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FFB80E-4A45-46D2-9E97-6CC19EBA26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EF1174-5B69-4B9C-9803-A5D34B033F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D7B41F1-C9BC-4BAC-8E3B-F4D2E11091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files in your ZIP</a:t>
            </a:r>
          </a:p>
        </p:txBody>
      </p:sp>
      <p:sp>
        <p:nvSpPr>
          <p:cNvPr id="4" name="">
            <a:extLst xmlns:a="http://schemas.openxmlformats.org/drawingml/2006/main">
              <a:ext uri="{FF2B5EF4-FFF2-40B4-BE49-F238E27FC236}">
                <a16:creationId xmlns:a16="http://schemas.microsoft.com/office/drawing/2014/main" id="{B768C3CA-EDA3-4F31-9F23-6608780A2E5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A2E4B65-816E-40C6-AE0E-990EBB33ABA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proof_of_life.ipynb is the main class notebook.</a:t>
            </a:r>
          </a:p>
        </p:txBody>
      </p:sp>
      <p:sp>
        <p:nvSpPr>
          <p:cNvPr id="6" name="">
            <a:extLst xmlns:a="http://schemas.openxmlformats.org/drawingml/2006/main">
              <a:ext uri="{FF2B5EF4-FFF2-40B4-BE49-F238E27FC236}">
                <a16:creationId xmlns:a16="http://schemas.microsoft.com/office/drawing/2014/main" id="{8822D9A7-34BD-420A-B6DA-B4D62193520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7E151E-8171-4120-BAD5-755EED20054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01–04 are repair exercises we work through together.</a:t>
            </a:r>
          </a:p>
        </p:txBody>
      </p:sp>
      <p:sp>
        <p:nvSpPr>
          <p:cNvPr id="8" name="">
            <a:extLst xmlns:a="http://schemas.openxmlformats.org/drawingml/2006/main">
              <a:ext uri="{FF2B5EF4-FFF2-40B4-BE49-F238E27FC236}">
                <a16:creationId xmlns:a16="http://schemas.microsoft.com/office/drawing/2014/main" id="{C3602F55-7EB0-4A46-986C-EDAA4ADD5D2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6B36C28-D4BF-4AF8-A147-F6AEFAC9FCB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hello_engineering.py shows the same idea as a script.</a:t>
            </a:r>
          </a:p>
        </p:txBody>
      </p:sp>
      <p:sp>
        <p:nvSpPr>
          <p:cNvPr id="10" name="">
            <a:extLst xmlns:a="http://schemas.openxmlformats.org/drawingml/2006/main">
              <a:ext uri="{FF2B5EF4-FFF2-40B4-BE49-F238E27FC236}">
                <a16:creationId xmlns:a16="http://schemas.microsoft.com/office/drawing/2014/main" id="{44F074F8-8D67-474B-A646-A0A0915631D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2D352A4-D195-465F-80AA-9F7599F6FC9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to proof_of_life.ipynb to finish the assignment.</a:t>
            </a:r>
          </a:p>
        </p:txBody>
      </p:sp>
      <p:sp>
        <p:nvSpPr>
          <p:cNvPr id="12" name="">
            <a:extLst xmlns:a="http://schemas.openxmlformats.org/drawingml/2006/main">
              <a:ext uri="{FF2B5EF4-FFF2-40B4-BE49-F238E27FC236}">
                <a16:creationId xmlns:a16="http://schemas.microsoft.com/office/drawing/2014/main" id="{D1FFE68F-F314-4A5B-BC2E-17B543E2969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8</a:t>
            </a:r>
          </a:p>
        </p:txBody>
      </p:sp>
    </p:spTree>
    <p:extLst>
      <p:ext uri="{BB962C8B-B14F-4D97-AF65-F5344CB8AC3E}">
        <p14:creationId xmlns:p14="http://schemas.microsoft.com/office/powerpoint/2010/main" val="10227009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883C6F-4E12-4B1E-BBB0-93B6ED78B0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7366B2-F61B-4437-903C-64798BE484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0C225C-37EC-4A8B-86A4-5C898CDF026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script and a notebook</a:t>
            </a:r>
          </a:p>
        </p:txBody>
      </p:sp>
      <p:sp>
        <p:nvSpPr>
          <p:cNvPr id="4" name="">
            <a:extLst xmlns:a="http://schemas.openxmlformats.org/drawingml/2006/main">
              <a:ext uri="{FF2B5EF4-FFF2-40B4-BE49-F238E27FC236}">
                <a16:creationId xmlns:a16="http://schemas.microsoft.com/office/drawing/2014/main" id="{684A5847-1B44-4849-A848-EFAC0D9BA2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185AE1E-F0C7-430B-B699-19DEBB99CFD3}"/>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.py script stores Python instructions in a text file.</a:t>
            </a:r>
          </a:p>
        </p:txBody>
      </p:sp>
      <p:sp>
        <p:nvSpPr>
          <p:cNvPr id="6" name="">
            <a:extLst xmlns:a="http://schemas.openxmlformats.org/drawingml/2006/main">
              <a:ext uri="{FF2B5EF4-FFF2-40B4-BE49-F238E27FC236}">
                <a16:creationId xmlns:a16="http://schemas.microsoft.com/office/drawing/2014/main" id="{BD8E59D3-EA2E-4274-AFDD-2F50D1F3299A}"/>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E88CA6-9494-46A9-B875-06F55862C6D8}"/>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notebook stores code cells, explanations and saved outputs.</a:t>
            </a:r>
          </a:p>
        </p:txBody>
      </p:sp>
      <p:sp>
        <p:nvSpPr>
          <p:cNvPr id="8" name="">
            <a:extLst xmlns:a="http://schemas.openxmlformats.org/drawingml/2006/main">
              <a:ext uri="{FF2B5EF4-FFF2-40B4-BE49-F238E27FC236}">
                <a16:creationId xmlns:a16="http://schemas.microsoft.com/office/drawing/2014/main" id="{C81A7FA5-1CC7-4835-BB36-1727E1924066}"/>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D00CC4-77F2-42B9-8DBD-6C687DD7388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use the notebook in Colab for this class.</a:t>
            </a:r>
          </a:p>
        </p:txBody>
      </p:sp>
      <p:sp>
        <p:nvSpPr>
          <p:cNvPr id="10" name="">
            <a:extLst xmlns:a="http://schemas.openxmlformats.org/drawingml/2006/main">
              <a:ext uri="{FF2B5EF4-FFF2-40B4-BE49-F238E27FC236}">
                <a16:creationId xmlns:a16="http://schemas.microsoft.com/office/drawing/2014/main" id="{18382299-7F38-480E-AEF2-1FF195CF8BE1}"/>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788ADBB-8486-42A1-9BE8-F7E2F5C7481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script is an optional comparison, not an extra upload.</a:t>
            </a:r>
          </a:p>
        </p:txBody>
      </p:sp>
      <p:sp>
        <p:nvSpPr>
          <p:cNvPr id="12" name="">
            <a:extLst xmlns:a="http://schemas.openxmlformats.org/drawingml/2006/main">
              <a:ext uri="{FF2B5EF4-FFF2-40B4-BE49-F238E27FC236}">
                <a16:creationId xmlns:a16="http://schemas.microsoft.com/office/drawing/2014/main" id="{9DD69E72-16C9-468D-8484-63A0B0CABC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9</a:t>
            </a:r>
          </a:p>
        </p:txBody>
      </p:sp>
    </p:spTree>
    <p:extLst>
      <p:ext uri="{BB962C8B-B14F-4D97-AF65-F5344CB8AC3E}">
        <p14:creationId xmlns:p14="http://schemas.microsoft.com/office/powerpoint/2010/main" val="11899172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B51ADF-361B-4A9E-8996-83C6529B0E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2DAFC8-1E0F-4E5C-A4A2-0A72B19D2B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EEC35D0-FC94-41DB-8D3E-E55CF637F7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 the main notebook together</a:t>
            </a:r>
          </a:p>
        </p:txBody>
      </p:sp>
      <p:sp>
        <p:nvSpPr>
          <p:cNvPr id="4" name="">
            <a:extLst xmlns:a="http://schemas.openxmlformats.org/drawingml/2006/main">
              <a:ext uri="{FF2B5EF4-FFF2-40B4-BE49-F238E27FC236}">
                <a16:creationId xmlns:a16="http://schemas.microsoft.com/office/drawing/2014/main" id="{51E4816A-B92B-4526-B886-B240AA33ADE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415BE2-8331-4A27-ABAF-669E327050A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the ZIP for your course code. Extract it into one folder; leave the supplied files together.</a:t>
            </a:r>
          </a:p>
        </p:txBody>
      </p:sp>
      <p:sp>
        <p:nvSpPr>
          <p:cNvPr id="6" name="">
            <a:extLst xmlns:a="http://schemas.openxmlformats.org/drawingml/2006/main">
              <a:ext uri="{FF2B5EF4-FFF2-40B4-BE49-F238E27FC236}">
                <a16:creationId xmlns:a16="http://schemas.microsoft.com/office/drawing/2014/main" id="{1DE7F100-C8E0-4100-942A-5CC65931E6E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23C9368-25D1-4817-ABB7-ACA298A3964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Google Colab. Choose Open notebook → Upload and select proof_of_life.ipynb.</a:t>
            </a:r>
          </a:p>
        </p:txBody>
      </p:sp>
      <p:sp>
        <p:nvSpPr>
          <p:cNvPr id="8" name="">
            <a:extLst xmlns:a="http://schemas.openxmlformats.org/drawingml/2006/main">
              <a:ext uri="{FF2B5EF4-FFF2-40B4-BE49-F238E27FC236}">
                <a16:creationId xmlns:a16="http://schemas.microsoft.com/office/drawing/2014/main" id="{20523AF6-2910-42A8-99EB-CD8B9D69DA9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7F1459A-EFC8-4B80-896D-1B3D3344B98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for the notebook page. Find one text block and one code block before clicking Run.</a:t>
            </a:r>
          </a:p>
        </p:txBody>
      </p:sp>
      <p:sp>
        <p:nvSpPr>
          <p:cNvPr id="10" name="">
            <a:extLst xmlns:a="http://schemas.openxmlformats.org/drawingml/2006/main">
              <a:ext uri="{FF2B5EF4-FFF2-40B4-BE49-F238E27FC236}">
                <a16:creationId xmlns:a16="http://schemas.microsoft.com/office/drawing/2014/main" id="{955F961A-75FA-4B1A-9211-EA7BBD043A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10</a:t>
            </a:r>
          </a:p>
        </p:txBody>
      </p:sp>
    </p:spTree>
    <p:extLst>
      <p:ext uri="{BB962C8B-B14F-4D97-AF65-F5344CB8AC3E}">
        <p14:creationId xmlns:p14="http://schemas.microsoft.com/office/powerpoint/2010/main" val="19100382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5BEEB7-B871-426D-8B82-EB6ABD95F7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96D37A-57D7-4637-9BBF-A9638F7624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B6E3FFB-A3C0-4CA6-85A0-F770A414B9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F3C0240B-39A8-4332-A610-A40C13818D00}"/>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8B3D13-BDDF-4F3E-BA4A-495CF70F44B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Python and code</a:t>
            </a:r>
          </a:p>
        </p:txBody>
      </p:sp>
      <p:sp>
        <p:nvSpPr>
          <p:cNvPr id="6" name="">
            <a:extLst xmlns:a="http://schemas.openxmlformats.org/drawingml/2006/main">
              <a:ext uri="{FF2B5EF4-FFF2-40B4-BE49-F238E27FC236}">
                <a16:creationId xmlns:a16="http://schemas.microsoft.com/office/drawing/2014/main" id="{0F0F4A25-681C-456B-8138-2605EB76E57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Python is the language. Code is the instructions written in that language. Running asks the computer to carry them out.</a:t>
            </a:r>
          </a:p>
        </p:txBody>
      </p:sp>
      <p:sp>
        <p:nvSpPr>
          <p:cNvPr id="7" name="">
            <a:extLst xmlns:a="http://schemas.openxmlformats.org/drawingml/2006/main">
              <a:ext uri="{FF2B5EF4-FFF2-40B4-BE49-F238E27FC236}">
                <a16:creationId xmlns:a16="http://schemas.microsoft.com/office/drawing/2014/main" id="{C954202B-7BDB-4689-8321-239BBD962DD2}"/>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4700D9-91F1-452D-AF12-13EB7CAF5B00}"/>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Cell and output</a:t>
            </a:r>
          </a:p>
        </p:txBody>
      </p:sp>
      <p:sp>
        <p:nvSpPr>
          <p:cNvPr id="9" name="">
            <a:extLst xmlns:a="http://schemas.openxmlformats.org/drawingml/2006/main">
              <a:ext uri="{FF2B5EF4-FFF2-40B4-BE49-F238E27FC236}">
                <a16:creationId xmlns:a16="http://schemas.microsoft.com/office/drawing/2014/main" id="{34D32BB6-1E6E-4FD1-9447-EB132307433E}"/>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cell is one notebook block. A code cell runs instructions; a text cell explains them. Output is the result shown below a code cell.</a:t>
            </a:r>
          </a:p>
        </p:txBody>
      </p:sp>
      <p:sp>
        <p:nvSpPr>
          <p:cNvPr id="10" name="">
            <a:extLst xmlns:a="http://schemas.openxmlformats.org/drawingml/2006/main">
              <a:ext uri="{FF2B5EF4-FFF2-40B4-BE49-F238E27FC236}">
                <a16:creationId xmlns:a16="http://schemas.microsoft.com/office/drawing/2014/main" id="{956B0C46-60C6-4865-BE6F-76272176D76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11</a:t>
            </a:r>
          </a:p>
        </p:txBody>
      </p:sp>
    </p:spTree>
    <p:extLst>
      <p:ext uri="{BB962C8B-B14F-4D97-AF65-F5344CB8AC3E}">
        <p14:creationId xmlns:p14="http://schemas.microsoft.com/office/powerpoint/2010/main" val="3351647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F71CA4-7770-4EB5-A013-D4C9BA2DC14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E75853-A70F-409B-B371-2F8AC6332E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3F5E60A-7865-4ECB-8B76-6B236721FB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notebook has two kinds of cell</a:t>
            </a:r>
          </a:p>
        </p:txBody>
      </p:sp>
      <p:sp>
        <p:nvSpPr>
          <p:cNvPr id="4" name="">
            <a:extLst xmlns:a="http://schemas.openxmlformats.org/drawingml/2006/main">
              <a:ext uri="{FF2B5EF4-FFF2-40B4-BE49-F238E27FC236}">
                <a16:creationId xmlns:a16="http://schemas.microsoft.com/office/drawing/2014/main" id="{6CDACB37-9055-4EC4-9D81-8B797F9D95F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01EDA85-B698-443A-8455-8E52E89BB05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code cell contains Python instructions and a run button.</a:t>
            </a:r>
          </a:p>
        </p:txBody>
      </p:sp>
      <p:sp>
        <p:nvSpPr>
          <p:cNvPr id="6" name="">
            <a:extLst xmlns:a="http://schemas.openxmlformats.org/drawingml/2006/main">
              <a:ext uri="{FF2B5EF4-FFF2-40B4-BE49-F238E27FC236}">
                <a16:creationId xmlns:a16="http://schemas.microsoft.com/office/drawing/2014/main" id="{F2FA8CAB-0E89-4E42-9F56-B0B153F1BCC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CA8FE9-07E6-42DA-AC59-A60A4D58873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text cell contains an explanation. It does not run Python.</a:t>
            </a:r>
          </a:p>
        </p:txBody>
      </p:sp>
      <p:sp>
        <p:nvSpPr>
          <p:cNvPr id="8" name="">
            <a:extLst xmlns:a="http://schemas.openxmlformats.org/drawingml/2006/main">
              <a:ext uri="{FF2B5EF4-FFF2-40B4-BE49-F238E27FC236}">
                <a16:creationId xmlns:a16="http://schemas.microsoft.com/office/drawing/2014/main" id="{C77BCB92-B98C-4771-A7AB-1D7CBD31F6C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0F4117E-C781-46D4-9E8F-82FE3FAFF7B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output appears below the code cell that produced it.</a:t>
            </a:r>
          </a:p>
        </p:txBody>
      </p:sp>
      <p:sp>
        <p:nvSpPr>
          <p:cNvPr id="10" name="">
            <a:extLst xmlns:a="http://schemas.openxmlformats.org/drawingml/2006/main">
              <a:ext uri="{FF2B5EF4-FFF2-40B4-BE49-F238E27FC236}">
                <a16:creationId xmlns:a16="http://schemas.microsoft.com/office/drawing/2014/main" id="{5BF9EDD6-E112-4DAF-BAB3-B1774529EE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12</a:t>
            </a:r>
          </a:p>
        </p:txBody>
      </p:sp>
    </p:spTree>
    <p:extLst>
      <p:ext uri="{BB962C8B-B14F-4D97-AF65-F5344CB8AC3E}">
        <p14:creationId xmlns:p14="http://schemas.microsoft.com/office/powerpoint/2010/main" val="8346792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99945D-1A36-4F3D-BE09-797F3D9A2BD8}"/>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66D160-98FD-466F-B52A-69CF2875EB6F}"/>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Cells share one Python session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23166c7623e40b5"/>
          <a:stretch xmlns:a="http://schemas.openxmlformats.org/drawingml/2006/main"/>
        </p:blipFill>
        <p:spPr>
          <a:xfrm xmlns:a="http://schemas.openxmlformats.org/drawingml/2006/main">
            <a:off x="903961" y="1057275"/>
            <a:ext cx="10384079"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A59E50-4FF1-4A89-9C27-38476320A802}"/>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00A867-1C1C-4A06-ABEB-C761A44DAD5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 code cell runs instructions. A text cell explains them.</a:t>
            </a:r>
          </a:p>
        </p:txBody>
      </p:sp>
      <p:sp>
        <p:nvSpPr>
          <p:cNvPr id="6" name="">
            <a:extLst xmlns:a="http://schemas.openxmlformats.org/drawingml/2006/main">
              <a:ext uri="{FF2B5EF4-FFF2-40B4-BE49-F238E27FC236}">
                <a16:creationId xmlns:a16="http://schemas.microsoft.com/office/drawing/2014/main" id="{935B2FD0-9761-4D12-B41A-751271267D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13</a:t>
            </a:r>
          </a:p>
        </p:txBody>
      </p:sp>
    </p:spTree>
    <p:extLst>
      <p:ext uri="{BB962C8B-B14F-4D97-AF65-F5344CB8AC3E}">
        <p14:creationId xmlns:p14="http://schemas.microsoft.com/office/powerpoint/2010/main" val="7197913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FBB05D-74AE-4D6B-84D6-CB45C8462C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A0C775-9C6D-44C9-AAB8-E8E0AD8626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8A718E5-A455-47D7-BAD9-E8763A458C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numbers and values</a:t>
            </a:r>
          </a:p>
        </p:txBody>
      </p:sp>
      <p:sp>
        <p:nvSpPr>
          <p:cNvPr id="4" name="">
            <a:extLst xmlns:a="http://schemas.openxmlformats.org/drawingml/2006/main">
              <a:ext uri="{FF2B5EF4-FFF2-40B4-BE49-F238E27FC236}">
                <a16:creationId xmlns:a16="http://schemas.microsoft.com/office/drawing/2014/main" id="{C8243609-81C9-46D8-93A0-656DE1030B82}"/>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7BBE3B-0C96-489B-BDA6-5A97E4B2CA31}"/>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Number</a:t>
            </a:r>
          </a:p>
        </p:txBody>
      </p:sp>
      <p:sp>
        <p:nvSpPr>
          <p:cNvPr id="6" name="">
            <a:extLst xmlns:a="http://schemas.openxmlformats.org/drawingml/2006/main">
              <a:ext uri="{FF2B5EF4-FFF2-40B4-BE49-F238E27FC236}">
                <a16:creationId xmlns:a16="http://schemas.microsoft.com/office/drawing/2014/main" id="{C0D25BEE-DA83-4EC5-93FF-AA499648C827}"/>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number expresses how much or how many: 3 items or 2.5 metres. Whole numbers count; decimal numbers can describe a part of a unit.</a:t>
            </a:r>
          </a:p>
        </p:txBody>
      </p:sp>
      <p:sp>
        <p:nvSpPr>
          <p:cNvPr id="7" name="">
            <a:extLst xmlns:a="http://schemas.openxmlformats.org/drawingml/2006/main">
              <a:ext uri="{FF2B5EF4-FFF2-40B4-BE49-F238E27FC236}">
                <a16:creationId xmlns:a16="http://schemas.microsoft.com/office/drawing/2014/main" id="{D700A53C-EF5B-4136-9C54-19D7B333583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79EF63-748F-4D27-964B-9689F149EB84}"/>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Value and unit</a:t>
            </a:r>
          </a:p>
        </p:txBody>
      </p:sp>
      <p:sp>
        <p:nvSpPr>
          <p:cNvPr id="9" name="">
            <a:extLst xmlns:a="http://schemas.openxmlformats.org/drawingml/2006/main">
              <a:ext uri="{FF2B5EF4-FFF2-40B4-BE49-F238E27FC236}">
                <a16:creationId xmlns:a16="http://schemas.microsoft.com/office/drawing/2014/main" id="{7348F43F-4EC6-474C-93B3-C5EF20D0276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is one piece of information. The number 2.5 is a value. A measurement also needs a unit, such as metres. Python does not attach that unit automatically.</a:t>
            </a:r>
          </a:p>
        </p:txBody>
      </p:sp>
      <p:sp>
        <p:nvSpPr>
          <p:cNvPr id="10" name="">
            <a:extLst xmlns:a="http://schemas.openxmlformats.org/drawingml/2006/main">
              <a:ext uri="{FF2B5EF4-FFF2-40B4-BE49-F238E27FC236}">
                <a16:creationId xmlns:a16="http://schemas.microsoft.com/office/drawing/2014/main" id="{B6937DA0-D9A3-4EC4-8EC9-B39B5FAF84A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14</a:t>
            </a:r>
          </a:p>
        </p:txBody>
      </p:sp>
    </p:spTree>
    <p:extLst>
      <p:ext uri="{BB962C8B-B14F-4D97-AF65-F5344CB8AC3E}">
        <p14:creationId xmlns:p14="http://schemas.microsoft.com/office/powerpoint/2010/main" val="9004759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F88A25-0491-40DB-8AF0-D44ACB2095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07821D-712F-48AB-99AB-DE572E04B0C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D365AE9-7C37-4725-B284-52DBB198EE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Give a value a name</a:t>
            </a:r>
          </a:p>
        </p:txBody>
      </p:sp>
      <p:sp>
        <p:nvSpPr>
          <p:cNvPr id="4" name="">
            <a:extLst xmlns:a="http://schemas.openxmlformats.org/drawingml/2006/main">
              <a:ext uri="{FF2B5EF4-FFF2-40B4-BE49-F238E27FC236}">
                <a16:creationId xmlns:a16="http://schemas.microsoft.com/office/drawing/2014/main" id="{A7B6F70A-02E8-4FED-83D9-575A2B19D553}"/>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144776-EE2C-45A4-9EF2-CEDF39853C2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Variable</a:t>
            </a:r>
          </a:p>
        </p:txBody>
      </p:sp>
      <p:sp>
        <p:nvSpPr>
          <p:cNvPr id="6" name="">
            <a:extLst xmlns:a="http://schemas.openxmlformats.org/drawingml/2006/main">
              <a:ext uri="{FF2B5EF4-FFF2-40B4-BE49-F238E27FC236}">
                <a16:creationId xmlns:a16="http://schemas.microsoft.com/office/drawing/2014/main" id="{F5E373FD-4DB2-48D0-A6B8-3045B19760D6}"/>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variable is a name referring to a value. In readings = 12, readings is the name and 12 is its initial number.</a:t>
            </a:r>
          </a:p>
        </p:txBody>
      </p:sp>
      <p:sp>
        <p:nvSpPr>
          <p:cNvPr id="7" name="">
            <a:extLst xmlns:a="http://schemas.openxmlformats.org/drawingml/2006/main">
              <a:ext uri="{FF2B5EF4-FFF2-40B4-BE49-F238E27FC236}">
                <a16:creationId xmlns:a16="http://schemas.microsoft.com/office/drawing/2014/main" id="{596FD331-F929-43F0-88D2-24CF7FD70E93}"/>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B0F269-E097-4081-BD96-A5704764C5C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Assignment</a:t>
            </a:r>
          </a:p>
        </p:txBody>
      </p:sp>
      <p:sp>
        <p:nvSpPr>
          <p:cNvPr id="9" name="">
            <a:extLst xmlns:a="http://schemas.openxmlformats.org/drawingml/2006/main">
              <a:ext uri="{FF2B5EF4-FFF2-40B4-BE49-F238E27FC236}">
                <a16:creationId xmlns:a16="http://schemas.microsoft.com/office/drawing/2014/main" id="{AA77AD78-1784-4DEF-811B-2904E0FD58B0}"/>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Read = as “assign”, not “is equal to”. Python calculates the right side first, then gives that value to the name on the left. A later assignment replaces its previous value.</a:t>
            </a:r>
          </a:p>
        </p:txBody>
      </p:sp>
      <p:sp>
        <p:nvSpPr>
          <p:cNvPr id="10" name="">
            <a:extLst xmlns:a="http://schemas.openxmlformats.org/drawingml/2006/main">
              <a:ext uri="{FF2B5EF4-FFF2-40B4-BE49-F238E27FC236}">
                <a16:creationId xmlns:a16="http://schemas.microsoft.com/office/drawing/2014/main" id="{5F3F566E-4F28-48A0-B6C2-CF3951469CC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15</a:t>
            </a:r>
          </a:p>
        </p:txBody>
      </p:sp>
    </p:spTree>
    <p:extLst>
      <p:ext uri="{BB962C8B-B14F-4D97-AF65-F5344CB8AC3E}">
        <p14:creationId xmlns:p14="http://schemas.microsoft.com/office/powerpoint/2010/main" val="18510479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C7BF7A-174D-4B6E-A4A0-6D8738CCC0E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7A4174-AFE4-459E-BF0C-48F0EBC9E9E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9370B1A-C35C-4085-9038-B6E0C8D61C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Four symbols in our first program</a:t>
            </a:r>
          </a:p>
        </p:txBody>
      </p:sp>
      <p:sp>
        <p:nvSpPr>
          <p:cNvPr id="4" name="">
            <a:extLst xmlns:a="http://schemas.openxmlformats.org/drawingml/2006/main">
              <a:ext uri="{FF2B5EF4-FFF2-40B4-BE49-F238E27FC236}">
                <a16:creationId xmlns:a16="http://schemas.microsoft.com/office/drawing/2014/main" id="{9CDFE146-D770-4336-BF03-639444DC18E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3D3AEE0-2F7D-430F-84C4-525BD76B3CB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assigns the value on the right to the name on the left.</a:t>
            </a:r>
          </a:p>
        </p:txBody>
      </p:sp>
      <p:sp>
        <p:nvSpPr>
          <p:cNvPr id="6" name="">
            <a:extLst xmlns:a="http://schemas.openxmlformats.org/drawingml/2006/main">
              <a:ext uri="{FF2B5EF4-FFF2-40B4-BE49-F238E27FC236}">
                <a16:creationId xmlns:a16="http://schemas.microsoft.com/office/drawing/2014/main" id="{2D31F9EF-9B13-48C4-A46C-EBBFFA1320D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DDB514D-871A-4A98-9946-7622D55251A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adds numbers. print(...) displays a value.</a:t>
            </a:r>
          </a:p>
        </p:txBody>
      </p:sp>
      <p:sp>
        <p:nvSpPr>
          <p:cNvPr id="8" name="">
            <a:extLst xmlns:a="http://schemas.openxmlformats.org/drawingml/2006/main">
              <a:ext uri="{FF2B5EF4-FFF2-40B4-BE49-F238E27FC236}">
                <a16:creationId xmlns:a16="http://schemas.microsoft.com/office/drawing/2014/main" id="{14C96305-9F23-4C82-82B2-EF55B64204C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CC9EE35-58CC-4F4A-BC5D-F83694E2166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starts a comment for the person reading the code.</a:t>
            </a:r>
          </a:p>
        </p:txBody>
      </p:sp>
      <p:sp>
        <p:nvSpPr>
          <p:cNvPr id="10" name="">
            <a:extLst xmlns:a="http://schemas.openxmlformats.org/drawingml/2006/main">
              <a:ext uri="{FF2B5EF4-FFF2-40B4-BE49-F238E27FC236}">
                <a16:creationId xmlns:a16="http://schemas.microsoft.com/office/drawing/2014/main" id="{EAB7D80B-D1A7-4FC0-911D-4E4C47096E1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16</a:t>
            </a:r>
          </a:p>
        </p:txBody>
      </p:sp>
    </p:spTree>
    <p:extLst>
      <p:ext uri="{BB962C8B-B14F-4D97-AF65-F5344CB8AC3E}">
        <p14:creationId xmlns:p14="http://schemas.microsoft.com/office/powerpoint/2010/main" val="8028456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A31F30-6635-42C5-9AD7-2EA71B419D9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62685A-736D-4C46-B405-49F9117FB9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D0133EC-0C53-4822-B4F1-7599689E57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session remembers earlier values</a:t>
            </a:r>
          </a:p>
        </p:txBody>
      </p:sp>
      <p:sp>
        <p:nvSpPr>
          <p:cNvPr id="4" name="">
            <a:extLst xmlns:a="http://schemas.openxmlformats.org/drawingml/2006/main">
              <a:ext uri="{FF2B5EF4-FFF2-40B4-BE49-F238E27FC236}">
                <a16:creationId xmlns:a16="http://schemas.microsoft.com/office/drawing/2014/main" id="{A806D2B3-C681-43B3-B269-74AF9BF1ADF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5977690-4D17-4090-8205-CDF25DFD141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first cell assigns 12 to readings.</a:t>
            </a:r>
          </a:p>
        </p:txBody>
      </p:sp>
      <p:sp>
        <p:nvSpPr>
          <p:cNvPr id="6" name="">
            <a:extLst xmlns:a="http://schemas.openxmlformats.org/drawingml/2006/main">
              <a:ext uri="{FF2B5EF4-FFF2-40B4-BE49-F238E27FC236}">
                <a16:creationId xmlns:a16="http://schemas.microsoft.com/office/drawing/2014/main" id="{1FD0C901-6554-4BD9-B78B-D53F108681E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BDCFCA7-5446-496E-9D3D-BEEC61B44DD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next cell adds 5 to the value currently stored.</a:t>
            </a:r>
          </a:p>
        </p:txBody>
      </p:sp>
      <p:sp>
        <p:nvSpPr>
          <p:cNvPr id="8" name="">
            <a:extLst xmlns:a="http://schemas.openxmlformats.org/drawingml/2006/main">
              <a:ext uri="{FF2B5EF4-FFF2-40B4-BE49-F238E27FC236}">
                <a16:creationId xmlns:a16="http://schemas.microsoft.com/office/drawing/2014/main" id="{A606E897-4B64-4298-855C-8AF0CCB0576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847513-906D-40B5-B319-B4505255B32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Running only the second cell again adds another 5.</a:t>
            </a:r>
          </a:p>
        </p:txBody>
      </p:sp>
      <p:sp>
        <p:nvSpPr>
          <p:cNvPr id="10" name="">
            <a:extLst xmlns:a="http://schemas.openxmlformats.org/drawingml/2006/main">
              <a:ext uri="{FF2B5EF4-FFF2-40B4-BE49-F238E27FC236}">
                <a16:creationId xmlns:a16="http://schemas.microsoft.com/office/drawing/2014/main" id="{1945A138-DE28-4D45-9D1F-8D52768073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17</a:t>
            </a:r>
          </a:p>
        </p:txBody>
      </p:sp>
    </p:spTree>
    <p:extLst>
      <p:ext uri="{BB962C8B-B14F-4D97-AF65-F5344CB8AC3E}">
        <p14:creationId xmlns:p14="http://schemas.microsoft.com/office/powerpoint/2010/main" val="4086598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754B59-273A-4EA1-BF21-2A67735322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65C903-C85B-4913-ACCF-CEA4466D7C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25D34A0-C3FA-4D66-A337-603E713F21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Worked example</a:t>
            </a:r>
          </a:p>
        </p:txBody>
      </p:sp>
      <p:sp>
        <p:nvSpPr>
          <p:cNvPr id="4" name="">
            <a:extLst xmlns:a="http://schemas.openxmlformats.org/drawingml/2006/main">
              <a:ext uri="{FF2B5EF4-FFF2-40B4-BE49-F238E27FC236}">
                <a16:creationId xmlns:a16="http://schemas.microsoft.com/office/drawing/2014/main" id="{1A3CEA18-F3D9-4CCA-9832-480F131AED7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B23849-6681-46A7-B9F5-CB495349555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readings = 12</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Run the next two lines in a SECOND cell.</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readings = readings + 5</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print(readings)</a:t>
            </a:r>
          </a:p>
        </p:txBody>
      </p:sp>
      <p:sp>
        <p:nvSpPr>
          <p:cNvPr id="6" name="">
            <a:extLst xmlns:a="http://schemas.openxmlformats.org/drawingml/2006/main">
              <a:ext uri="{FF2B5EF4-FFF2-40B4-BE49-F238E27FC236}">
                <a16:creationId xmlns:a16="http://schemas.microsoft.com/office/drawing/2014/main" id="{DFB4EDAF-5754-4411-BCDA-A3054A954F4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4970C20-AF06-4076-B834-53986798463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B69DB495-F9BF-42C7-BAE1-1BFCB218552E}"/>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8B7FFB69-F478-4E6C-9B0D-876DD097701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0" name="">
            <a:extLst xmlns:a="http://schemas.openxmlformats.org/drawingml/2006/main">
              <a:ext uri="{FF2B5EF4-FFF2-40B4-BE49-F238E27FC236}">
                <a16:creationId xmlns:a16="http://schemas.microsoft.com/office/drawing/2014/main" id="{AA463B45-4A78-4BE2-AC1A-3E3E8F2194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18</a:t>
            </a:r>
          </a:p>
        </p:txBody>
      </p:sp>
    </p:spTree>
    <p:extLst>
      <p:ext uri="{BB962C8B-B14F-4D97-AF65-F5344CB8AC3E}">
        <p14:creationId xmlns:p14="http://schemas.microsoft.com/office/powerpoint/2010/main" val="11247439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4809E1-9987-4553-8C1B-0E98031D46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410DF6-73A3-46AE-AF3D-8F32A10504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2F01A7AC-4F0A-496D-9B48-71320E8FB5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Expected output</a:t>
            </a:r>
          </a:p>
        </p:txBody>
      </p:sp>
      <p:sp>
        <p:nvSpPr>
          <p:cNvPr id="4" name="">
            <a:extLst xmlns:a="http://schemas.openxmlformats.org/drawingml/2006/main">
              <a:ext uri="{FF2B5EF4-FFF2-40B4-BE49-F238E27FC236}">
                <a16:creationId xmlns:a16="http://schemas.microsoft.com/office/drawing/2014/main" id="{32CE06F1-150B-46CA-AA50-4136916BA208}"/>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FA54A0-AF5A-4FFE-92C9-9526DD681638}"/>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17 on the first run of the second cell; 22 on its second run; 27 on its third.</a:t>
            </a:r>
          </a:p>
        </p:txBody>
      </p:sp>
      <p:sp>
        <p:nvSpPr>
          <p:cNvPr id="6" name="">
            <a:extLst xmlns:a="http://schemas.openxmlformats.org/drawingml/2006/main">
              <a:ext uri="{FF2B5EF4-FFF2-40B4-BE49-F238E27FC236}">
                <a16:creationId xmlns:a16="http://schemas.microsoft.com/office/drawing/2014/main" id="{48A85114-648A-459E-B413-D9082A0302F3}"/>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552BF609-6213-4F27-BF28-096CAF6977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19</a:t>
            </a:r>
          </a:p>
        </p:txBody>
      </p:sp>
    </p:spTree>
    <p:extLst>
      <p:ext uri="{BB962C8B-B14F-4D97-AF65-F5344CB8AC3E}">
        <p14:creationId xmlns:p14="http://schemas.microsoft.com/office/powerpoint/2010/main" val="13557967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454FD6-B930-4640-9092-05D839B619B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BB5C66-6720-4EE4-91A2-F36FBF232E0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BBFC6D9-1B2C-4217-8D42-766C0021D8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Runtime</a:t>
            </a:r>
          </a:p>
        </p:txBody>
      </p:sp>
      <p:sp>
        <p:nvSpPr>
          <p:cNvPr id="4" name="">
            <a:extLst xmlns:a="http://schemas.openxmlformats.org/drawingml/2006/main">
              <a:ext uri="{FF2B5EF4-FFF2-40B4-BE49-F238E27FC236}">
                <a16:creationId xmlns:a16="http://schemas.microsoft.com/office/drawing/2014/main" id="{7977AAC7-2A43-429E-B4CC-1A8DA7506696}"/>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4400DE-9ACF-479C-BEE2-B480085746E2}"/>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Runtime</a:t>
            </a:r>
          </a:p>
        </p:txBody>
      </p:sp>
      <p:sp>
        <p:nvSpPr>
          <p:cNvPr id="6" name="">
            <a:extLst xmlns:a="http://schemas.openxmlformats.org/drawingml/2006/main">
              <a:ext uri="{FF2B5EF4-FFF2-40B4-BE49-F238E27FC236}">
                <a16:creationId xmlns:a16="http://schemas.microsoft.com/office/drawing/2014/main" id="{4E0A0C6D-3F42-469E-987E-08F7B801261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The running Python session and its current memory. Restarting clears variables. Downloading the notebook saves the document, not the whole running computer.</a:t>
            </a:r>
          </a:p>
        </p:txBody>
      </p:sp>
      <p:sp>
        <p:nvSpPr>
          <p:cNvPr id="7" name="">
            <a:extLst xmlns:a="http://schemas.openxmlformats.org/drawingml/2006/main">
              <a:ext uri="{FF2B5EF4-FFF2-40B4-BE49-F238E27FC236}">
                <a16:creationId xmlns:a16="http://schemas.microsoft.com/office/drawing/2014/main" id="{DE9C52E0-A61E-4FC0-BD70-AE691185D5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20</a:t>
            </a:r>
          </a:p>
        </p:txBody>
      </p:sp>
    </p:spTree>
    <p:extLst>
      <p:ext uri="{BB962C8B-B14F-4D97-AF65-F5344CB8AC3E}">
        <p14:creationId xmlns:p14="http://schemas.microsoft.com/office/powerpoint/2010/main" val="152991707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37ECBC-700A-4FE8-B191-008EC3847543}"/>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811564-DDDD-4A79-8056-7FA386DCC716}"/>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Execution order changes the result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1670e4ecd8141dd"/>
          <a:stretch xmlns:a="http://schemas.openxmlformats.org/drawingml/2006/main"/>
        </p:blipFill>
        <p:spPr>
          <a:xfrm xmlns:a="http://schemas.openxmlformats.org/drawingml/2006/main">
            <a:off x="333375" y="1132281"/>
            <a:ext cx="11525250" cy="44696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16C8AC-23EF-4202-9E3D-2A88781FBE30}"/>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9BEEBC-CD2F-4335-86E4-7F537EED836E}"/>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Restart, then run all cells in order before submission.</a:t>
            </a:r>
          </a:p>
        </p:txBody>
      </p:sp>
      <p:sp>
        <p:nvSpPr>
          <p:cNvPr id="6" name="">
            <a:extLst xmlns:a="http://schemas.openxmlformats.org/drawingml/2006/main">
              <a:ext uri="{FF2B5EF4-FFF2-40B4-BE49-F238E27FC236}">
                <a16:creationId xmlns:a16="http://schemas.microsoft.com/office/drawing/2014/main" id="{01C0F264-ED0D-4CDA-A4EB-1094B8A132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21</a:t>
            </a:r>
          </a:p>
        </p:txBody>
      </p:sp>
    </p:spTree>
    <p:extLst>
      <p:ext uri="{BB962C8B-B14F-4D97-AF65-F5344CB8AC3E}">
        <p14:creationId xmlns:p14="http://schemas.microsoft.com/office/powerpoint/2010/main" val="39575378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8FBB125-74C2-4DD9-A414-ADC0C8954D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552581-A412-4CFD-8949-56D65FC0F9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82C8D685-EF43-44EA-A8AC-8F97E5F1F5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 are the notebook’s memory</a:t>
            </a:r>
          </a:p>
        </p:txBody>
      </p:sp>
      <p:sp>
        <p:nvSpPr>
          <p:cNvPr id="4" name="">
            <a:extLst xmlns:a="http://schemas.openxmlformats.org/drawingml/2006/main">
              <a:ext uri="{FF2B5EF4-FFF2-40B4-BE49-F238E27FC236}">
                <a16:creationId xmlns:a16="http://schemas.microsoft.com/office/drawing/2014/main" id="{9E92B48F-03E0-462F-81BC-B1A618788942}"/>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7C77CB1-DE72-4050-98E0-5EC59C0A7814}"/>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12 on paper. This is the current value.</a:t>
            </a:r>
          </a:p>
        </p:txBody>
      </p:sp>
      <p:sp>
        <p:nvSpPr>
          <p:cNvPr id="6" name="">
            <a:extLst xmlns:a="http://schemas.openxmlformats.org/drawingml/2006/main">
              <a:ext uri="{FF2B5EF4-FFF2-40B4-BE49-F238E27FC236}">
                <a16:creationId xmlns:a16="http://schemas.microsoft.com/office/drawing/2014/main" id="{D32E9837-98CB-4885-91E4-D7A578CF7995}"/>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7FD4679-DC3C-494F-9B35-2A66B2250B62}"/>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5 and replace the old number with the result.</a:t>
            </a:r>
          </a:p>
        </p:txBody>
      </p:sp>
      <p:sp>
        <p:nvSpPr>
          <p:cNvPr id="8" name="">
            <a:extLst xmlns:a="http://schemas.openxmlformats.org/drawingml/2006/main">
              <a:ext uri="{FF2B5EF4-FFF2-40B4-BE49-F238E27FC236}">
                <a16:creationId xmlns:a16="http://schemas.microsoft.com/office/drawing/2014/main" id="{CE90521C-D709-42FE-BCEE-A397A218EB6D}"/>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063C95C-C962-41C0-AAD7-A6B21DCAFBF0}"/>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Repeat only that addition once. What value remains?</a:t>
            </a:r>
          </a:p>
        </p:txBody>
      </p:sp>
      <p:sp>
        <p:nvSpPr>
          <p:cNvPr id="10" name="">
            <a:extLst xmlns:a="http://schemas.openxmlformats.org/drawingml/2006/main">
              <a:ext uri="{FF2B5EF4-FFF2-40B4-BE49-F238E27FC236}">
                <a16:creationId xmlns:a16="http://schemas.microsoft.com/office/drawing/2014/main" id="{6CD6D37E-F949-41AA-9B5F-32711609E868}"/>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A840A9-AD61-4C6F-9A5D-E358E95B6572}"/>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One partner acts. One partner checks. Then swap roles.</a:t>
            </a:r>
          </a:p>
        </p:txBody>
      </p:sp>
      <p:sp>
        <p:nvSpPr>
          <p:cNvPr id="12" name="">
            <a:extLst xmlns:a="http://schemas.openxmlformats.org/drawingml/2006/main">
              <a:ext uri="{FF2B5EF4-FFF2-40B4-BE49-F238E27FC236}">
                <a16:creationId xmlns:a16="http://schemas.microsoft.com/office/drawing/2014/main" id="{5414754C-36C6-4760-8C11-4E9B1A9643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22</a:t>
            </a:r>
          </a:p>
        </p:txBody>
      </p:sp>
    </p:spTree>
    <p:extLst>
      <p:ext uri="{BB962C8B-B14F-4D97-AF65-F5344CB8AC3E}">
        <p14:creationId xmlns:p14="http://schemas.microsoft.com/office/powerpoint/2010/main" val="106503959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226EE5-669A-4091-86C0-CFD3915795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7E88A3-BE12-4876-8779-6014396634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BD50FECA-223E-461D-BA34-6B1E6CE1BB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B21FDCE7-A03B-4D2B-A1DB-2AE8B7EC6582}"/>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EFC68E-30A3-4791-A3A4-AF7A7C196B9A}"/>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22. Re-running the setup first would replace the value with 12 again.</a:t>
            </a:r>
          </a:p>
        </p:txBody>
      </p:sp>
      <p:sp>
        <p:nvSpPr>
          <p:cNvPr id="6" name="">
            <a:extLst xmlns:a="http://schemas.openxmlformats.org/drawingml/2006/main">
              <a:ext uri="{FF2B5EF4-FFF2-40B4-BE49-F238E27FC236}">
                <a16:creationId xmlns:a16="http://schemas.microsoft.com/office/drawing/2014/main" id="{0CF66830-4869-4CEC-911E-AEB4D6067CBC}"/>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53243321-3E81-4EA2-ABD2-E67DF78934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23</a:t>
            </a:r>
          </a:p>
        </p:txBody>
      </p:sp>
    </p:spTree>
    <p:extLst>
      <p:ext uri="{BB962C8B-B14F-4D97-AF65-F5344CB8AC3E}">
        <p14:creationId xmlns:p14="http://schemas.microsoft.com/office/powerpoint/2010/main" val="2105340074"/>
      </p:ext>
    </p:extLst>
  </p:cSld>
</p:sld>
</file>

<file path=ppt/slides/slide2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D34384-3413-4DC3-AF96-6FA3C1FFA1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1346806D-DB3C-4813-8CD0-F27291BEFE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turn</a:t>
            </a:r>
          </a:p>
        </p:txBody>
      </p:sp>
      <p:sp>
        <p:nvSpPr>
          <p:cNvPr id="3" name="">
            <a:extLst xmlns:a="http://schemas.openxmlformats.org/drawingml/2006/main">
              <a:ext uri="{FF2B5EF4-FFF2-40B4-BE49-F238E27FC236}">
                <a16:creationId xmlns:a16="http://schemas.microsoft.com/office/drawing/2014/main" id="{563D3989-AACF-4369-A6EF-B55F80FDE802}"/>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AA34582A-177C-4F87-A26B-15EE4B59A1A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Restart, run the first cell once, and run the second cell twice. Explain the final number to a partner.</a:t>
            </a:r>
          </a:p>
        </p:txBody>
      </p:sp>
      <p:sp>
        <p:nvSpPr>
          <p:cNvPr id="5" name="">
            <a:extLst xmlns:a="http://schemas.openxmlformats.org/drawingml/2006/main">
              <a:ext uri="{FF2B5EF4-FFF2-40B4-BE49-F238E27FC236}">
                <a16:creationId xmlns:a16="http://schemas.microsoft.com/office/drawing/2014/main" id="{DE8C718B-DC42-46CB-8BD8-23B8A36A1905}"/>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BE0F4670-58BC-449E-886C-104FB201C7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24</a:t>
            </a:r>
          </a:p>
        </p:txBody>
      </p:sp>
    </p:spTree>
    <p:extLst>
      <p:ext uri="{BB962C8B-B14F-4D97-AF65-F5344CB8AC3E}">
        <p14:creationId xmlns:p14="http://schemas.microsoft.com/office/powerpoint/2010/main" val="18238262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5C999F-06AD-4134-A2C8-D8DED451A4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D50E3F-EC5E-422A-B960-B5CF8C282CD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5B419673-0349-43CA-A69C-1BE334D818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discussion</a:t>
            </a:r>
          </a:p>
        </p:txBody>
      </p:sp>
      <p:sp>
        <p:nvSpPr>
          <p:cNvPr id="4" name="">
            <a:extLst xmlns:a="http://schemas.openxmlformats.org/drawingml/2006/main">
              <a:ext uri="{FF2B5EF4-FFF2-40B4-BE49-F238E27FC236}">
                <a16:creationId xmlns:a16="http://schemas.microsoft.com/office/drawing/2014/main" id="{0515FA53-7002-4376-BDEF-D97F7EC44F87}"/>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C82C8C-C526-4070-B4C3-1483FB077F8F}"/>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22. Running the entire example from the top resets readings to 12, so a complete run ends at 17 every time.</a:t>
            </a:r>
          </a:p>
        </p:txBody>
      </p:sp>
      <p:sp>
        <p:nvSpPr>
          <p:cNvPr id="6" name="">
            <a:extLst xmlns:a="http://schemas.openxmlformats.org/drawingml/2006/main">
              <a:ext uri="{FF2B5EF4-FFF2-40B4-BE49-F238E27FC236}">
                <a16:creationId xmlns:a16="http://schemas.microsoft.com/office/drawing/2014/main" id="{68A7664B-23BF-4EC0-87D2-91C5FD35E100}"/>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49754527-43C1-4270-B8B8-63C3D0DFBED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25</a:t>
            </a:r>
          </a:p>
        </p:txBody>
      </p:sp>
    </p:spTree>
    <p:extLst>
      <p:ext uri="{BB962C8B-B14F-4D97-AF65-F5344CB8AC3E}">
        <p14:creationId xmlns:p14="http://schemas.microsoft.com/office/powerpoint/2010/main" val="87297901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852831-5404-4181-A2BC-1C5E3C0362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CB90F4-055C-4330-8CB6-4FD568C97D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1E4112E-66EA-402C-A366-A5DAA4FCA6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 a copy you can find again</a:t>
            </a:r>
          </a:p>
        </p:txBody>
      </p:sp>
      <p:sp>
        <p:nvSpPr>
          <p:cNvPr id="4" name="">
            <a:extLst xmlns:a="http://schemas.openxmlformats.org/drawingml/2006/main">
              <a:ext uri="{FF2B5EF4-FFF2-40B4-BE49-F238E27FC236}">
                <a16:creationId xmlns:a16="http://schemas.microsoft.com/office/drawing/2014/main" id="{76F7BCEE-4486-4451-9596-BB3CE2C9469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67DC195-437A-40B5-BA2A-2FE2C724A04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choose File → Download → Download .ipynb. Find the downloaded notebook on your computer.</a:t>
            </a:r>
          </a:p>
        </p:txBody>
      </p:sp>
      <p:sp>
        <p:nvSpPr>
          <p:cNvPr id="6" name="">
            <a:extLst xmlns:a="http://schemas.openxmlformats.org/drawingml/2006/main">
              <a:ext uri="{FF2B5EF4-FFF2-40B4-BE49-F238E27FC236}">
                <a16:creationId xmlns:a16="http://schemas.microsoft.com/office/drawing/2014/main" id="{10330678-A40C-42BB-B7B4-2A518D04CCC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21D81E-1905-4419-8B9A-F937E04EF4A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File → Open notebook → Upload to reopen that file. Check your changes are present.</a:t>
            </a:r>
          </a:p>
        </p:txBody>
      </p:sp>
      <p:sp>
        <p:nvSpPr>
          <p:cNvPr id="8" name="">
            <a:extLst xmlns:a="http://schemas.openxmlformats.org/drawingml/2006/main">
              <a:ext uri="{FF2B5EF4-FFF2-40B4-BE49-F238E27FC236}">
                <a16:creationId xmlns:a16="http://schemas.microsoft.com/office/drawing/2014/main" id="{5FD0FF67-D2ED-4629-B086-48F34C790E5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0F8A61F-6C1D-4B77-A8AD-D50C630C1C2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session, upload the supplied CSV again if needed, and Run all. Save the notebook again after this check.</a:t>
            </a:r>
          </a:p>
        </p:txBody>
      </p:sp>
      <p:sp>
        <p:nvSpPr>
          <p:cNvPr id="10" name="">
            <a:extLst xmlns:a="http://schemas.openxmlformats.org/drawingml/2006/main">
              <a:ext uri="{FF2B5EF4-FFF2-40B4-BE49-F238E27FC236}">
                <a16:creationId xmlns:a16="http://schemas.microsoft.com/office/drawing/2014/main" id="{176846BE-0BAD-4FB1-8F7E-1EE66F5F63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26</a:t>
            </a:r>
          </a:p>
        </p:txBody>
      </p:sp>
    </p:spTree>
    <p:extLst>
      <p:ext uri="{BB962C8B-B14F-4D97-AF65-F5344CB8AC3E}">
        <p14:creationId xmlns:p14="http://schemas.microsoft.com/office/powerpoint/2010/main" val="149171814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DB705F-2973-412B-B220-AFE530A2BC4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12A12E-4168-4C9E-8780-70EA224457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34CFCA13-C5DB-4FCD-BB33-057B702C36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words in the repair exercises</a:t>
            </a:r>
          </a:p>
        </p:txBody>
      </p:sp>
      <p:sp>
        <p:nvSpPr>
          <p:cNvPr id="4" name="">
            <a:extLst xmlns:a="http://schemas.openxmlformats.org/drawingml/2006/main">
              <a:ext uri="{FF2B5EF4-FFF2-40B4-BE49-F238E27FC236}">
                <a16:creationId xmlns:a16="http://schemas.microsoft.com/office/drawing/2014/main" id="{3FAD32DE-2443-45CC-99DB-8ABDBFC3C41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426944-3015-43CF-A7C0-9528B49AA8C6}"/>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Module and version</a:t>
            </a:r>
          </a:p>
        </p:txBody>
      </p:sp>
      <p:sp>
        <p:nvSpPr>
          <p:cNvPr id="6" name="">
            <a:extLst xmlns:a="http://schemas.openxmlformats.org/drawingml/2006/main">
              <a:ext uri="{FF2B5EF4-FFF2-40B4-BE49-F238E27FC236}">
                <a16:creationId xmlns:a16="http://schemas.microsoft.com/office/drawing/2014/main" id="{B6AFDF3B-38A1-4DD7-9821-247C0CEAABDE}"/>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module is a collection of Python tools. import asks for it. A version identifies a software release; different releases can behave differently.</a:t>
            </a:r>
          </a:p>
        </p:txBody>
      </p:sp>
      <p:sp>
        <p:nvSpPr>
          <p:cNvPr id="7" name="">
            <a:extLst xmlns:a="http://schemas.openxmlformats.org/drawingml/2006/main">
              <a:ext uri="{FF2B5EF4-FFF2-40B4-BE49-F238E27FC236}">
                <a16:creationId xmlns:a16="http://schemas.microsoft.com/office/drawing/2014/main" id="{45CD627A-D17F-48E4-8ECC-B2A35B7D6B4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6BF9F3-BED8-4523-8743-E9605DF29FA1}"/>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Path and working folder</a:t>
            </a:r>
          </a:p>
        </p:txBody>
      </p:sp>
      <p:sp>
        <p:nvSpPr>
          <p:cNvPr id="9" name="">
            <a:extLst xmlns:a="http://schemas.openxmlformats.org/drawingml/2006/main">
              <a:ext uri="{FF2B5EF4-FFF2-40B4-BE49-F238E27FC236}">
                <a16:creationId xmlns:a16="http://schemas.microsoft.com/office/drawing/2014/main" id="{BD1CDCAE-D9C8-49B6-8DDF-048BA814EF1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path tells Python where a file is. A bare filename is looked up in the current working folder. The runtime Files panel shows uploaded files.</a:t>
            </a:r>
          </a:p>
        </p:txBody>
      </p:sp>
      <p:sp>
        <p:nvSpPr>
          <p:cNvPr id="10" name="">
            <a:extLst xmlns:a="http://schemas.openxmlformats.org/drawingml/2006/main">
              <a:ext uri="{FF2B5EF4-FFF2-40B4-BE49-F238E27FC236}">
                <a16:creationId xmlns:a16="http://schemas.microsoft.com/office/drawing/2014/main" id="{5DB9381B-D3A3-4F9C-A14D-C274A3F61F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27</a:t>
            </a:r>
          </a:p>
        </p:txBody>
      </p:sp>
    </p:spTree>
    <p:extLst>
      <p:ext uri="{BB962C8B-B14F-4D97-AF65-F5344CB8AC3E}">
        <p14:creationId xmlns:p14="http://schemas.microsoft.com/office/powerpoint/2010/main" val="127826566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FE4A1E-27C5-497D-B5D4-ED1F55E931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9B841E-21F5-47BD-B830-35783EE281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69E0AC0-7854-4BAC-984B-CBDA8B057E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cohort data</a:t>
            </a:r>
          </a:p>
        </p:txBody>
      </p:sp>
      <p:sp>
        <p:nvSpPr>
          <p:cNvPr id="4" name="">
            <a:extLst xmlns:a="http://schemas.openxmlformats.org/drawingml/2006/main">
              <a:ext uri="{FF2B5EF4-FFF2-40B4-BE49-F238E27FC236}">
                <a16:creationId xmlns:a16="http://schemas.microsoft.com/office/drawing/2014/main" id="{BCF3952F-7BCE-4AE9-809D-C2013276963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C6D41A0-F465-40AF-8FA1-A333B4A5E6B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motor_test_bench.csv</a:t>
            </a:r>
          </a:p>
        </p:txBody>
      </p:sp>
      <p:sp>
        <p:nvSpPr>
          <p:cNvPr id="6" name="">
            <a:extLst xmlns:a="http://schemas.openxmlformats.org/drawingml/2006/main">
              <a:ext uri="{FF2B5EF4-FFF2-40B4-BE49-F238E27FC236}">
                <a16:creationId xmlns:a16="http://schemas.microsoft.com/office/drawing/2014/main" id="{90265A84-883A-4984-8E37-614FEABB8E4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D660044-9D58-4608-96B6-65621423BCA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column we will inspect: current_a</a:t>
            </a:r>
          </a:p>
        </p:txBody>
      </p:sp>
      <p:sp>
        <p:nvSpPr>
          <p:cNvPr id="8" name="">
            <a:extLst xmlns:a="http://schemas.openxmlformats.org/drawingml/2006/main">
              <a:ext uri="{FF2B5EF4-FFF2-40B4-BE49-F238E27FC236}">
                <a16:creationId xmlns:a16="http://schemas.microsoft.com/office/drawing/2014/main" id="{E097CDF4-F92D-44E7-9A52-95AEC35E162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7CEF67C-3499-4667-93B5-825C6C84F28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data file beside the notebook or upload it into the current Colab runtime.</a:t>
            </a:r>
          </a:p>
        </p:txBody>
      </p:sp>
      <p:sp>
        <p:nvSpPr>
          <p:cNvPr id="10" name="">
            <a:extLst xmlns:a="http://schemas.openxmlformats.org/drawingml/2006/main">
              <a:ext uri="{FF2B5EF4-FFF2-40B4-BE49-F238E27FC236}">
                <a16:creationId xmlns:a16="http://schemas.microsoft.com/office/drawing/2014/main" id="{A4277715-1DA7-4E48-BF6D-F461FC0BE1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28</a:t>
            </a:r>
          </a:p>
        </p:txBody>
      </p:sp>
    </p:spTree>
    <p:extLst>
      <p:ext uri="{BB962C8B-B14F-4D97-AF65-F5344CB8AC3E}">
        <p14:creationId xmlns:p14="http://schemas.microsoft.com/office/powerpoint/2010/main" val="1518909339"/>
      </p:ext>
    </p:extLst>
  </p:cSld>
</p:sld>
</file>

<file path=ppt/slides/slide2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D7590B9F-50C6-458C-BEB6-C2D7E76FC545}"/>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104F194C-2888-454F-9F14-525241035911}"/>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a:ext uri="{FF2B5EF4-FFF2-40B4-BE49-F238E27FC236}">
                <ns2:creationId id="{0119D1FA-28AD-4A6E-BDC3-41F65DD607DF}"/>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The four repair exercises</a:t>
            </a:r>
          </a:p>
        </p:txBody>
      </p:sp>
      <p:sp>
        <p:nvSpPr>
          <p:cNvPr id="4" name="">
            <a:extLst>
              <a:ext uri="{FF2B5EF4-FFF2-40B4-BE49-F238E27FC236}">
                <ns2:creationId id="{6DE82651-A1F8-4E16-8B5F-7FEE79DB22C6}"/>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EF93444C-3742-4E08-BCFD-D31DAE196974}"/>
              </a:ext>
            </a:extLst>
          </p:cNvPr>
          <p:cNvSpPr>
            <a:spLocks noGrp="1"/>
          </p:cNvSpPr>
          <p:nvPr/>
        </p:nvSpPr>
        <p:spPr>
          <a:xfrm>
            <a:off x="1381125" y="1781175"/>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Identify the deliberately unavailable module.</a:t>
            </a:r>
          </a:p>
        </p:txBody>
      </p:sp>
      <p:sp>
        <p:nvSpPr>
          <p:cNvPr id="6" name="">
            <a:extLst>
              <a:ext uri="{FF2B5EF4-FFF2-40B4-BE49-F238E27FC236}">
                <ns2:creationId id="{DF2AD93B-03A3-401E-926F-D3A6BB5D5AC2}"/>
              </a:ext>
            </a:extLst>
          </p:cNvPr>
          <p:cNvSpPr>
            <a:spLocks noGrp="1"/>
          </p:cNvSpPr>
          <p:nvPr/>
        </p:nvSpPr>
        <p:spPr>
          <a:xfrm>
            <a:off x="590550" y="2850356"/>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81171CF7-D14D-4379-B95F-85863D4D0129}"/>
              </a:ext>
            </a:extLst>
          </p:cNvPr>
          <p:cNvSpPr>
            <a:spLocks noGrp="1"/>
          </p:cNvSpPr>
          <p:nvPr/>
        </p:nvSpPr>
        <p:spPr>
          <a:xfrm>
            <a:off x="1381125" y="2850356"/>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required and actual Python versions.</a:t>
            </a:r>
          </a:p>
        </p:txBody>
      </p:sp>
      <p:sp>
        <p:nvSpPr>
          <p:cNvPr id="8" name="">
            <a:extLst>
              <a:ext uri="{FF2B5EF4-FFF2-40B4-BE49-F238E27FC236}">
                <ns2:creationId id="{DA9D2621-C7BE-4C4D-B772-4EF93DBC7522}"/>
              </a:ext>
            </a:extLst>
          </p:cNvPr>
          <p:cNvSpPr>
            <a:spLocks noGrp="1"/>
          </p:cNvSpPr>
          <p:nvPr/>
        </p:nvSpPr>
        <p:spPr>
          <a:xfrm>
            <a:off x="590550" y="3919538"/>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2B736F0C-073A-429C-956B-43208524D78F}"/>
              </a:ext>
            </a:extLst>
          </p:cNvPr>
          <p:cNvSpPr>
            <a:spLocks noGrp="1"/>
          </p:cNvSpPr>
          <p:nvPr/>
        </p:nvSpPr>
        <p:spPr>
          <a:xfrm>
            <a:off x="1381125" y="3919538"/>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Locate the CSV and correct its file path.</a:t>
            </a:r>
          </a:p>
        </p:txBody>
      </p:sp>
      <p:sp>
        <p:nvSpPr>
          <p:cNvPr id="10" name="">
            <a:extLst>
              <a:ext uri="{FF2B5EF4-FFF2-40B4-BE49-F238E27FC236}">
                <ns2:creationId id="{B0A2F21D-F2B3-4CAA-AD46-DE872FB5A3AA}"/>
              </a:ext>
            </a:extLst>
          </p:cNvPr>
          <p:cNvSpPr>
            <a:spLocks noGrp="1"/>
          </p:cNvSpPr>
          <p:nvPr/>
        </p:nvSpPr>
        <p:spPr>
          <a:xfrm>
            <a:off x="590550" y="4988719"/>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2E38E89D-8BAB-4FD4-9A29-99ED8622FE7B}"/>
              </a:ext>
            </a:extLst>
          </p:cNvPr>
          <p:cNvSpPr>
            <a:spLocks noGrp="1"/>
          </p:cNvSpPr>
          <p:nvPr/>
        </p:nvSpPr>
        <p:spPr>
          <a:xfrm>
            <a:off x="1381125" y="4988719"/>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Trace the values and remove the unwanted reset.</a:t>
            </a:r>
          </a:p>
        </p:txBody>
      </p:sp>
      <p:sp>
        <p:nvSpPr>
          <p:cNvPr id="12" name="">
            <a:extLst>
              <a:ext uri="{FF2B5EF4-FFF2-40B4-BE49-F238E27FC236}">
                <ns2:creationId id="{A33D13CE-F60A-4655-9DA5-018935C5257D}"/>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29</a:t>
            </a:r>
          </a:p>
        </p:txBody>
      </p:sp>
    </p:spTree>
    <p:extLst>
      <p:ext uri="{BB962C8B-B14F-4D97-AF65-F5344CB8AC3E}">
        <ns3:creationId val="81728903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286F4F-DAC3-44E4-88F0-6830E14303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788F3A-2B10-40EF-84CB-6A5EFA7261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A8AFB89-11DB-4C0F-996F-A7DE24FAA2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Repository and commit</a:t>
            </a:r>
          </a:p>
        </p:txBody>
      </p:sp>
      <p:sp>
        <p:nvSpPr>
          <p:cNvPr id="4" name="">
            <a:extLst xmlns:a="http://schemas.openxmlformats.org/drawingml/2006/main">
              <a:ext uri="{FF2B5EF4-FFF2-40B4-BE49-F238E27FC236}">
                <a16:creationId xmlns:a16="http://schemas.microsoft.com/office/drawing/2014/main" id="{38CE66A7-D89F-44C2-81DD-DE7DA1127B4B}"/>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B01B3C-46DA-41E5-9817-BF720492C66F}"/>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Repository and commit</a:t>
            </a:r>
          </a:p>
        </p:txBody>
      </p:sp>
      <p:sp>
        <p:nvSpPr>
          <p:cNvPr id="6" name="">
            <a:extLst xmlns:a="http://schemas.openxmlformats.org/drawingml/2006/main">
              <a:ext uri="{FF2B5EF4-FFF2-40B4-BE49-F238E27FC236}">
                <a16:creationId xmlns:a16="http://schemas.microsoft.com/office/drawing/2014/main" id="{4349E063-AF73-4CDD-8BC8-8BE1201EE995}"/>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repository stores a project and its recorded changes. A commit records a change with a message. Git tracks history; GitHub hosts repositories online.</a:t>
            </a:r>
          </a:p>
        </p:txBody>
      </p:sp>
      <p:sp>
        <p:nvSpPr>
          <p:cNvPr id="7" name="">
            <a:extLst xmlns:a="http://schemas.openxmlformats.org/drawingml/2006/main">
              <a:ext uri="{FF2B5EF4-FFF2-40B4-BE49-F238E27FC236}">
                <a16:creationId xmlns:a16="http://schemas.microsoft.com/office/drawing/2014/main" id="{73C9E7A2-E659-49EA-8135-B42A53C62B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30</a:t>
            </a:r>
          </a:p>
        </p:txBody>
      </p:sp>
    </p:spTree>
    <p:extLst>
      <p:ext uri="{BB962C8B-B14F-4D97-AF65-F5344CB8AC3E}">
        <p14:creationId xmlns:p14="http://schemas.microsoft.com/office/powerpoint/2010/main" val="88684793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72A384-3EC2-4C46-ACB4-12C696D728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F08BDE-10CE-48B8-A83C-76BC5FD0DD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C738D2A-B0A8-43D5-8635-1CA5C82DB8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 a change in your repository</a:t>
            </a:r>
          </a:p>
        </p:txBody>
      </p:sp>
      <p:sp>
        <p:nvSpPr>
          <p:cNvPr id="4" name="">
            <a:extLst xmlns:a="http://schemas.openxmlformats.org/drawingml/2006/main">
              <a:ext uri="{FF2B5EF4-FFF2-40B4-BE49-F238E27FC236}">
                <a16:creationId xmlns:a16="http://schemas.microsoft.com/office/drawing/2014/main" id="{9F76FAFE-2D72-4259-9AFC-019DEF41DE7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CAF95D7-01CA-4465-BE51-51ADB6CA388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Sign into GitHub. Create a repository: the project folder with recorded history. Use an appropriate private setting for personal work.</a:t>
            </a:r>
          </a:p>
        </p:txBody>
      </p:sp>
      <p:sp>
        <p:nvSpPr>
          <p:cNvPr id="6" name="">
            <a:extLst xmlns:a="http://schemas.openxmlformats.org/drawingml/2006/main">
              <a:ext uri="{FF2B5EF4-FFF2-40B4-BE49-F238E27FC236}">
                <a16:creationId xmlns:a16="http://schemas.microsoft.com/office/drawing/2014/main" id="{91CA3EED-7E69-4BDE-9BDF-83B2CC825BE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DE5A566-A5EE-471E-8449-2B1436F1FFE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Choose Add file → Upload files. Add the notebook, supplied CSV and README.md. A README is a text file containing your run instructions.</a:t>
            </a:r>
          </a:p>
        </p:txBody>
      </p:sp>
      <p:sp>
        <p:nvSpPr>
          <p:cNvPr id="8" name="">
            <a:extLst xmlns:a="http://schemas.openxmlformats.org/drawingml/2006/main">
              <a:ext uri="{FF2B5EF4-FFF2-40B4-BE49-F238E27FC236}">
                <a16:creationId xmlns:a16="http://schemas.microsoft.com/office/drawing/2014/main" id="{BC88C9EE-5B73-4179-B8A6-AB7DC0276E1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3FA28D1-16A3-4B47-BFBD-B6F2F726663E}"/>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a short message describing the change and choose Commit changes. A commit records this version of the files.</a:t>
            </a:r>
          </a:p>
        </p:txBody>
      </p:sp>
      <p:sp>
        <p:nvSpPr>
          <p:cNvPr id="10" name="">
            <a:extLst xmlns:a="http://schemas.openxmlformats.org/drawingml/2006/main">
              <a:ext uri="{FF2B5EF4-FFF2-40B4-BE49-F238E27FC236}">
                <a16:creationId xmlns:a16="http://schemas.microsoft.com/office/drawing/2014/main" id="{4F4AD30B-2B3B-4438-B732-5A91BD6320CF}"/>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F1F3B76-6F8F-4AE2-8122-C34149468DB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file list to confirm the files arrived. Copy the repository page URL for the assignment form.</a:t>
            </a:r>
          </a:p>
        </p:txBody>
      </p:sp>
      <p:sp>
        <p:nvSpPr>
          <p:cNvPr id="12" name="">
            <a:extLst xmlns:a="http://schemas.openxmlformats.org/drawingml/2006/main">
              <a:ext uri="{FF2B5EF4-FFF2-40B4-BE49-F238E27FC236}">
                <a16:creationId xmlns:a16="http://schemas.microsoft.com/office/drawing/2014/main" id="{FDEDAF6A-CE8B-4A42-A479-6036E64201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31</a:t>
            </a:r>
          </a:p>
        </p:txBody>
      </p:sp>
    </p:spTree>
    <p:extLst>
      <p:ext uri="{BB962C8B-B14F-4D97-AF65-F5344CB8AC3E}">
        <p14:creationId xmlns:p14="http://schemas.microsoft.com/office/powerpoint/2010/main" val="44618322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2020DDA-3D59-46F7-AFBC-D114659D6C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C90785-7C46-4BB6-BD81-B8CD63DBAC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3A23F68B-81D8-49CD-8026-09AAAE33F3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Short explainer and discussion</a:t>
            </a:r>
          </a:p>
        </p:txBody>
      </p:sp>
      <p:sp>
        <p:nvSpPr>
          <p:cNvPr id="4" name="">
            <a:extLst xmlns:a="http://schemas.openxmlformats.org/drawingml/2006/main">
              <a:ext uri="{FF2B5EF4-FFF2-40B4-BE49-F238E27FC236}">
                <a16:creationId xmlns:a16="http://schemas.microsoft.com/office/drawing/2014/main" id="{29711E2A-3774-417E-AE74-941B07F1767B}"/>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3DC04C5-ADE8-4708-8FE2-12C6A461C6C0}"/>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CodeWithChris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GitHub Tutorial for Beginners (2025)</a:t>
            </a:r>
          </a:p>
        </p:txBody>
      </p:sp>
      <p:sp>
        <p:nvSpPr>
          <p:cNvPr id="6" name="">
            <a:extLst xmlns:a="http://schemas.openxmlformats.org/drawingml/2006/main">
              <a:ext uri="{FF2B5EF4-FFF2-40B4-BE49-F238E27FC236}">
                <a16:creationId xmlns:a16="http://schemas.microsoft.com/office/drawing/2014/main" id="{CF79DF90-29E6-4B24-9801-945D766424E6}"/>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B04C361-CE31-47E8-80B6-1D7C7E4E7BAA}"/>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00:00–02:10, then 03:35–06:08 (4 min 43 sec total)</a:t>
            </a:r>
          </a:p>
        </p:txBody>
      </p:sp>
      <p:sp>
        <p:nvSpPr>
          <p:cNvPr id="8" name="">
            <a:extLst xmlns:a="http://schemas.openxmlformats.org/drawingml/2006/main">
              <a:ext uri="{FF2B5EF4-FFF2-40B4-BE49-F238E27FC236}">
                <a16:creationId xmlns:a16="http://schemas.microsoft.com/office/drawing/2014/main" id="{2BDF751F-C331-4CFF-AD76-462F3370DCB3}"/>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36F4538-A714-45C5-A3FB-1698FAED4052}"/>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keep history, and what is a repository?</a:t>
            </a:r>
          </a:p>
        </p:txBody>
      </p:sp>
      <p:sp>
        <p:nvSpPr>
          <p:cNvPr id="10" name="">
            <a:extLst xmlns:a="http://schemas.openxmlformats.org/drawingml/2006/main">
              <a:ext uri="{FF2B5EF4-FFF2-40B4-BE49-F238E27FC236}">
                <a16:creationId xmlns:a16="http://schemas.microsoft.com/office/drawing/2014/main" id="{A8842014-2201-4D96-9F13-953495FB1CE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864031-5E76-4F05-87EF-DB5322F65D8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2e145639852a447b"/>
              </a:rPr>
              <a:t>Open explainer video</a:t>
            </a:r>
          </a:p>
        </p:txBody>
      </p:sp>
      <p:sp>
        <p:nvSpPr>
          <p:cNvPr id="12" name="">
            <a:extLst xmlns:a="http://schemas.openxmlformats.org/drawingml/2006/main">
              <a:ext uri="{FF2B5EF4-FFF2-40B4-BE49-F238E27FC236}">
                <a16:creationId xmlns:a16="http://schemas.microsoft.com/office/drawing/2014/main" id="{4FE80ACE-5D7A-4DFB-8EE7-0F37544CA01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https://www.youtube.com/watch?v=v5gnvDUWqFM</a:t>
            </a:r>
          </a:p>
        </p:txBody>
      </p:sp>
      <p:sp>
        <p:nvSpPr>
          <p:cNvPr id="13" name="">
            <a:extLst xmlns:a="http://schemas.openxmlformats.org/drawingml/2006/main">
              <a:ext uri="{FF2B5EF4-FFF2-40B4-BE49-F238E27FC236}">
                <a16:creationId xmlns:a16="http://schemas.microsoft.com/office/drawing/2014/main" id="{39BB7D8F-2E4B-4B14-8308-1E52A179C6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32</a:t>
            </a:r>
          </a:p>
        </p:txBody>
      </p:sp>
    </p:spTree>
    <p:extLst>
      <p:ext uri="{BB962C8B-B14F-4D97-AF65-F5344CB8AC3E}">
        <p14:creationId xmlns:p14="http://schemas.microsoft.com/office/powerpoint/2010/main" val="1537860075"/>
      </p:ext>
    </p:extLst>
  </p:cSld>
</p:sld>
</file>

<file path=ppt/slides/slide3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784964-9E2F-4205-B25F-3791EA8967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D2D6867A-5849-4AE1-8952-B0C92BA34E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After the video</a:t>
            </a:r>
          </a:p>
        </p:txBody>
      </p:sp>
      <p:sp>
        <p:nvSpPr>
          <p:cNvPr id="3" name="">
            <a:extLst xmlns:a="http://schemas.openxmlformats.org/drawingml/2006/main">
              <a:ext uri="{FF2B5EF4-FFF2-40B4-BE49-F238E27FC236}">
                <a16:creationId xmlns:a16="http://schemas.microsoft.com/office/drawing/2014/main" id="{4491974A-2999-4941-803F-4B6171088D46}"/>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13242690-E702-4738-978D-3FC8238DA217}"/>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the difference between saving a file and recording a commit. Then make one browser-based commit.</a:t>
            </a:r>
          </a:p>
        </p:txBody>
      </p:sp>
      <p:sp>
        <p:nvSpPr>
          <p:cNvPr id="5" name="">
            <a:extLst xmlns:a="http://schemas.openxmlformats.org/drawingml/2006/main">
              <a:ext uri="{FF2B5EF4-FFF2-40B4-BE49-F238E27FC236}">
                <a16:creationId xmlns:a16="http://schemas.microsoft.com/office/drawing/2014/main" id="{288CE73D-BD46-4277-8756-CF57D8D1DEC0}"/>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B5DD2F42-6FFF-48CC-8D30-3ACE3140A6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33</a:t>
            </a:r>
          </a:p>
        </p:txBody>
      </p:sp>
    </p:spTree>
    <p:extLst>
      <p:ext uri="{BB962C8B-B14F-4D97-AF65-F5344CB8AC3E}">
        <p14:creationId xmlns:p14="http://schemas.microsoft.com/office/powerpoint/2010/main" val="73709973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6BA995-B5BD-406D-B441-17551EF3B3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42DA00-3BFD-4F61-A88E-5F67B21A9E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CCFDEDD-0E39-40C1-B367-59E42D6809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A35FBC22-5CA0-4CB8-BB65-035954EA826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189E1F-AC99-4063-A92C-743F3A20440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proof_of_life.ipynb for A2.</a:t>
            </a:r>
          </a:p>
        </p:txBody>
      </p:sp>
      <p:sp>
        <p:nvSpPr>
          <p:cNvPr id="6" name="">
            <a:extLst xmlns:a="http://schemas.openxmlformats.org/drawingml/2006/main">
              <a:ext uri="{FF2B5EF4-FFF2-40B4-BE49-F238E27FC236}">
                <a16:creationId xmlns:a16="http://schemas.microsoft.com/office/drawing/2014/main" id="{65E8EAFB-C82E-4911-A160-B27E3E6AA62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02C98A-53B8-46AA-BA68-50E5312A680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cohort CSV into the runtime Files area and show the filename before reading it.</a:t>
            </a:r>
          </a:p>
        </p:txBody>
      </p:sp>
      <p:sp>
        <p:nvSpPr>
          <p:cNvPr id="8" name="">
            <a:extLst xmlns:a="http://schemas.openxmlformats.org/drawingml/2006/main">
              <a:ext uri="{FF2B5EF4-FFF2-40B4-BE49-F238E27FC236}">
                <a16:creationId xmlns:a16="http://schemas.microsoft.com/office/drawing/2014/main" id="{5F1274CC-09DC-40B8-9DB7-4D152905C1E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FC08DE-31F1-4D4D-ADC9-B10C15B51A8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Watch repair 01, work through 02–03 together, then trace 04.</a:t>
            </a:r>
          </a:p>
        </p:txBody>
      </p:sp>
      <p:sp>
        <p:nvSpPr>
          <p:cNvPr id="10" name="">
            <a:extLst xmlns:a="http://schemas.openxmlformats.org/drawingml/2006/main">
              <a:ext uri="{FF2B5EF4-FFF2-40B4-BE49-F238E27FC236}">
                <a16:creationId xmlns:a16="http://schemas.microsoft.com/office/drawing/2014/main" id="{CEA7D778-B25A-4389-83E8-384745B526AB}"/>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F22DE8C-6F3B-4513-B193-5E5C79AAA14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the completed main notebook and your own README.md together, plus the repository URL.</a:t>
            </a:r>
          </a:p>
        </p:txBody>
      </p:sp>
      <p:sp>
        <p:nvSpPr>
          <p:cNvPr id="12" name="">
            <a:extLst xmlns:a="http://schemas.openxmlformats.org/drawingml/2006/main">
              <a:ext uri="{FF2B5EF4-FFF2-40B4-BE49-F238E27FC236}">
                <a16:creationId xmlns:a16="http://schemas.microsoft.com/office/drawing/2014/main" id="{E7677BED-51F6-43E0-A9FA-ACC630ED8E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34</a:t>
            </a:r>
          </a:p>
        </p:txBody>
      </p:sp>
    </p:spTree>
    <p:extLst>
      <p:ext uri="{BB962C8B-B14F-4D97-AF65-F5344CB8AC3E}">
        <p14:creationId xmlns:p14="http://schemas.microsoft.com/office/powerpoint/2010/main" val="44249646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A69CEC-3D7C-4D53-A549-50E33A012B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56F14C-FB76-4F5F-A63C-C91591A9AD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F61E95A-F024-445D-854D-8B7C0C9585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DA83F4E5-1A5E-4F74-A16F-855550DF467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F16C78F-911E-4675-8654-0652CC561B5B}"/>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Repairs 01–04 and hello_engineering.py are practice, not extra submissions.</a:t>
            </a:r>
          </a:p>
        </p:txBody>
      </p:sp>
      <p:sp>
        <p:nvSpPr>
          <p:cNvPr id="6" name="">
            <a:extLst xmlns:a="http://schemas.openxmlformats.org/drawingml/2006/main">
              <a:ext uri="{FF2B5EF4-FFF2-40B4-BE49-F238E27FC236}">
                <a16:creationId xmlns:a16="http://schemas.microsoft.com/office/drawing/2014/main" id="{DE900497-1266-4D71-B7B8-094FD36DED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35</a:t>
            </a:r>
          </a:p>
        </p:txBody>
      </p:sp>
    </p:spTree>
    <p:extLst>
      <p:ext uri="{BB962C8B-B14F-4D97-AF65-F5344CB8AC3E}">
        <p14:creationId xmlns:p14="http://schemas.microsoft.com/office/powerpoint/2010/main" val="124627403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352F0DC-A49E-4D69-B34D-A7C50469521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5F37A0-A00A-4D3E-B2A1-1C7732BE527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90451F9-D7F7-446C-BEB0-B9DFD6B4E5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Execution order and saved changes</a:t>
            </a:r>
          </a:p>
        </p:txBody>
      </p:sp>
      <p:sp>
        <p:nvSpPr>
          <p:cNvPr id="4" name="">
            <a:extLst xmlns:a="http://schemas.openxmlformats.org/drawingml/2006/main">
              <a:ext uri="{FF2B5EF4-FFF2-40B4-BE49-F238E27FC236}">
                <a16:creationId xmlns:a16="http://schemas.microsoft.com/office/drawing/2014/main" id="{1EFB19F8-E155-4C27-AF56-BF033D38EA9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D9B2538-56E4-41D8-AE81-582ECA100F03}"/>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number beside a code cell records when it ran in that session, not its position on the page.</a:t>
            </a:r>
          </a:p>
        </p:txBody>
      </p:sp>
      <p:sp>
        <p:nvSpPr>
          <p:cNvPr id="6" name="">
            <a:extLst xmlns:a="http://schemas.openxmlformats.org/drawingml/2006/main">
              <a:ext uri="{FF2B5EF4-FFF2-40B4-BE49-F238E27FC236}">
                <a16:creationId xmlns:a16="http://schemas.microsoft.com/office/drawing/2014/main" id="{FC44FAB7-848C-4008-A973-7F1312765EB7}"/>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DBB8D13-5C82-4A42-B778-761CC12370B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clears memory; Run All follows page order.</a:t>
            </a:r>
          </a:p>
        </p:txBody>
      </p:sp>
      <p:sp>
        <p:nvSpPr>
          <p:cNvPr id="8" name="">
            <a:extLst xmlns:a="http://schemas.openxmlformats.org/drawingml/2006/main">
              <a:ext uri="{FF2B5EF4-FFF2-40B4-BE49-F238E27FC236}">
                <a16:creationId xmlns:a16="http://schemas.microsoft.com/office/drawing/2014/main" id="{930767A1-A269-4FB0-B9AB-2C68943C801D}"/>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A4F925B-7902-4271-9FBF-07F625282B7A}"/>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run tests the run order, not whether the engineering formula is valid.</a:t>
            </a:r>
          </a:p>
        </p:txBody>
      </p:sp>
      <p:sp>
        <p:nvSpPr>
          <p:cNvPr id="10" name="">
            <a:extLst xmlns:a="http://schemas.openxmlformats.org/drawingml/2006/main">
              <a:ext uri="{FF2B5EF4-FFF2-40B4-BE49-F238E27FC236}">
                <a16:creationId xmlns:a16="http://schemas.microsoft.com/office/drawing/2014/main" id="{7D6167A1-09CA-464F-9FC5-E1A5D12093D9}"/>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FBF41FF-2737-4A18-B1A6-69598C6539D7}"/>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commit is a recorded change.</a:t>
            </a:r>
          </a:p>
        </p:txBody>
      </p:sp>
      <p:sp>
        <p:nvSpPr>
          <p:cNvPr id="12" name="">
            <a:extLst xmlns:a="http://schemas.openxmlformats.org/drawingml/2006/main">
              <a:ext uri="{FF2B5EF4-FFF2-40B4-BE49-F238E27FC236}">
                <a16:creationId xmlns:a16="http://schemas.microsoft.com/office/drawing/2014/main" id="{F0157FBF-3DC4-422F-96DA-F4B59AB0AE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36</a:t>
            </a:r>
          </a:p>
        </p:txBody>
      </p:sp>
    </p:spTree>
    <p:extLst>
      <p:ext uri="{BB962C8B-B14F-4D97-AF65-F5344CB8AC3E}">
        <p14:creationId xmlns:p14="http://schemas.microsoft.com/office/powerpoint/2010/main" val="110187274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DF2E1F-982B-442B-BE86-1117B7EE71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2DAF59-ABCC-4685-B1DC-C8BF426139A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5E2A9F1-3F5F-4152-8AE7-C30E90221F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Execution order and saved changes continued</a:t>
            </a:r>
          </a:p>
        </p:txBody>
      </p:sp>
      <p:sp>
        <p:nvSpPr>
          <p:cNvPr id="4" name="">
            <a:extLst xmlns:a="http://schemas.openxmlformats.org/drawingml/2006/main">
              <a:ext uri="{FF2B5EF4-FFF2-40B4-BE49-F238E27FC236}">
                <a16:creationId xmlns:a16="http://schemas.microsoft.com/office/drawing/2014/main" id="{6DD616BA-9F47-48C2-8C76-0903EB80042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E20075-EC7B-418B-B6E9-A037FC80245D}"/>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In terminal reference material, git status describes local changes; it does not itself save or upload them.</a:t>
            </a:r>
          </a:p>
        </p:txBody>
      </p:sp>
      <p:sp>
        <p:nvSpPr>
          <p:cNvPr id="6" name="">
            <a:extLst xmlns:a="http://schemas.openxmlformats.org/drawingml/2006/main">
              <a:ext uri="{FF2B5EF4-FFF2-40B4-BE49-F238E27FC236}">
                <a16:creationId xmlns:a16="http://schemas.microsoft.com/office/drawing/2014/main" id="{990F8DF9-AFCC-442C-8370-C550AB9F4A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37</a:t>
            </a:r>
          </a:p>
        </p:txBody>
      </p:sp>
    </p:spTree>
    <p:extLst>
      <p:ext uri="{BB962C8B-B14F-4D97-AF65-F5344CB8AC3E}">
        <p14:creationId xmlns:p14="http://schemas.microsoft.com/office/powerpoint/2010/main" val="176402880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0053A8-C2B7-4EEF-9245-9471929229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445C11-4476-4578-8DA9-81D915E32C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128DAEE-DEA9-4F7F-9009-CBDD09697B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A1 — what to write and submit</a:t>
            </a:r>
          </a:p>
        </p:txBody>
      </p:sp>
      <p:sp>
        <p:nvSpPr>
          <p:cNvPr id="4" name="">
            <a:extLst xmlns:a="http://schemas.openxmlformats.org/drawingml/2006/main">
              <a:ext uri="{FF2B5EF4-FFF2-40B4-BE49-F238E27FC236}">
                <a16:creationId xmlns:a16="http://schemas.microsoft.com/office/drawing/2014/main" id="{63774BED-A6C8-417C-B6A0-4387D9B601D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8E6875-B1CE-49F0-918F-EB44B5F59D4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Describe three engineering problems. For each, state what you would measure or classify and whether machine learning is suitable.</a:t>
            </a:r>
          </a:p>
        </p:txBody>
      </p:sp>
      <p:sp>
        <p:nvSpPr>
          <p:cNvPr id="6" name="">
            <a:extLst xmlns:a="http://schemas.openxmlformats.org/drawingml/2006/main">
              <a:ext uri="{FF2B5EF4-FFF2-40B4-BE49-F238E27FC236}">
                <a16:creationId xmlns:a16="http://schemas.microsoft.com/office/drawing/2014/main" id="{522B64C2-999B-4AF6-ADA5-212AE02ACB1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16AA1D1-9942-4385-BEB9-0C0B09E8AE3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possible inputs, the target where appropriate, a data source and one limitation for each problem. Choose one problem and dataset and justify your choice.</a:t>
            </a:r>
          </a:p>
        </p:txBody>
      </p:sp>
      <p:sp>
        <p:nvSpPr>
          <p:cNvPr id="8" name="">
            <a:extLst xmlns:a="http://schemas.openxmlformats.org/drawingml/2006/main">
              <a:ext uri="{FF2B5EF4-FFF2-40B4-BE49-F238E27FC236}">
                <a16:creationId xmlns:a16="http://schemas.microsoft.com/office/drawing/2014/main" id="{1C309EBF-0DEB-405D-98BE-60FAE15B94C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910D1BF-F2C3-4689-9B9A-A8DC478D1DB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one complete report in DOCX or selectable-text PDF. PPTX with narration notes or notebook evidence is also accepted. Upload through the A1 form; keep its confirmation.</a:t>
            </a:r>
          </a:p>
        </p:txBody>
      </p:sp>
      <p:sp>
        <p:nvSpPr>
          <p:cNvPr id="10" name="">
            <a:extLst xmlns:a="http://schemas.openxmlformats.org/drawingml/2006/main">
              <a:ext uri="{FF2B5EF4-FFF2-40B4-BE49-F238E27FC236}">
                <a16:creationId xmlns:a16="http://schemas.microsoft.com/office/drawing/2014/main" id="{41F59BDF-DD55-4951-AA62-7D7ABD844B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38</a:t>
            </a:r>
          </a:p>
        </p:txBody>
      </p:sp>
    </p:spTree>
    <p:extLst>
      <p:ext uri="{BB962C8B-B14F-4D97-AF65-F5344CB8AC3E}">
        <p14:creationId xmlns:p14="http://schemas.microsoft.com/office/powerpoint/2010/main" val="199463877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47BB93-902B-4033-9F3C-514EEFA191E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C733FD-8091-4B52-AB82-975A2722AE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0BB03D17-9018-46BB-A448-96738F1483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 Assignment A1 catch-up upload</a:t>
            </a:r>
          </a:p>
        </p:txBody>
      </p:sp>
      <p:sp>
        <p:nvSpPr>
          <p:cNvPr id="4" name="">
            <a:extLst xmlns:a="http://schemas.openxmlformats.org/drawingml/2006/main">
              <a:ext uri="{FF2B5EF4-FFF2-40B4-BE49-F238E27FC236}">
                <a16:creationId xmlns:a16="http://schemas.microsoft.com/office/drawing/2014/main" id="{CD52A6B7-D1BA-4232-854C-1746BC99AD5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F89960A-820E-4B71-AD55-7BAEBA903F55}"/>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A1 separately from the A2 notebook and README.</a:t>
            </a:r>
          </a:p>
        </p:txBody>
      </p:sp>
      <p:sp>
        <p:nvSpPr>
          <p:cNvPr id="6" name="">
            <a:extLst xmlns:a="http://schemas.openxmlformats.org/drawingml/2006/main">
              <a:ext uri="{FF2B5EF4-FFF2-40B4-BE49-F238E27FC236}">
                <a16:creationId xmlns:a16="http://schemas.microsoft.com/office/drawing/2014/main" id="{66A465EC-2072-441C-B19E-44EA54462122}"/>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2FE4EC5-BDD7-4953-9DAA-0CC0F602008A}"/>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25 Sep 2026, 11:00 Kampala.</a:t>
            </a:r>
          </a:p>
        </p:txBody>
      </p:sp>
      <p:sp>
        <p:nvSpPr>
          <p:cNvPr id="8" name="">
            <a:extLst xmlns:a="http://schemas.openxmlformats.org/drawingml/2006/main">
              <a:ext uri="{FF2B5EF4-FFF2-40B4-BE49-F238E27FC236}">
                <a16:creationId xmlns:a16="http://schemas.microsoft.com/office/drawing/2014/main" id="{DE562E33-88D9-48C5-BD9C-BBA65A5E3418}"/>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EA55FDF-78D4-458E-AE53-0FA96A008BBA}"/>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own Student Registration Number; the required field accepts any format.</a:t>
            </a:r>
          </a:p>
        </p:txBody>
      </p:sp>
      <p:sp>
        <p:nvSpPr>
          <p:cNvPr id="10" name="">
            <a:extLst xmlns:a="http://schemas.openxmlformats.org/drawingml/2006/main">
              <a:ext uri="{FF2B5EF4-FFF2-40B4-BE49-F238E27FC236}">
                <a16:creationId xmlns:a16="http://schemas.microsoft.com/office/drawing/2014/main" id="{28737D74-1155-4F52-89DA-F1C5441B0E6B}"/>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8F8048F-B2AD-46A6-AC6D-244B0D0B6FA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95be2b2f48240c7"/>
              </a:rPr>
              <a:t>Open Week 1 A1 assignment form</a:t>
            </a:r>
          </a:p>
        </p:txBody>
      </p:sp>
      <p:sp>
        <p:nvSpPr>
          <p:cNvPr id="12" name="">
            <a:extLst xmlns:a="http://schemas.openxmlformats.org/drawingml/2006/main">
              <a:ext uri="{FF2B5EF4-FFF2-40B4-BE49-F238E27FC236}">
                <a16:creationId xmlns:a16="http://schemas.microsoft.com/office/drawing/2014/main" id="{1FF1577C-CDCC-40CD-9C46-5DA13FBE60DF}"/>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https://docs.google.com/forms/d/e/1FAIpQLSeE677AvoxTAOJSdCV5bVYWu34RHPg5tsOLqUVS1E7EVI8sYg/viewform</a:t>
            </a:r>
          </a:p>
        </p:txBody>
      </p:sp>
      <p:sp>
        <p:nvSpPr>
          <p:cNvPr id="13" name="">
            <a:extLst xmlns:a="http://schemas.openxmlformats.org/drawingml/2006/main">
              <a:ext uri="{FF2B5EF4-FFF2-40B4-BE49-F238E27FC236}">
                <a16:creationId xmlns:a16="http://schemas.microsoft.com/office/drawing/2014/main" id="{DE159ACF-E7F8-457D-983F-F075025E51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39</a:t>
            </a:r>
          </a:p>
        </p:txBody>
      </p:sp>
    </p:spTree>
    <p:extLst>
      <p:ext uri="{BB962C8B-B14F-4D97-AF65-F5344CB8AC3E}">
        <p14:creationId xmlns:p14="http://schemas.microsoft.com/office/powerpoint/2010/main" val="212573740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D05BF9-8D13-47EE-AC0A-A1F47C27AA3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C44AEC-035F-40D3-8D31-DC8244EDA4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BCE87541-D72B-411B-AB8A-418250B0D1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 Quiz 1 catch-up</a:t>
            </a:r>
          </a:p>
        </p:txBody>
      </p:sp>
      <p:sp>
        <p:nvSpPr>
          <p:cNvPr id="4" name="">
            <a:extLst xmlns:a="http://schemas.openxmlformats.org/drawingml/2006/main">
              <a:ext uri="{FF2B5EF4-FFF2-40B4-BE49-F238E27FC236}">
                <a16:creationId xmlns:a16="http://schemas.microsoft.com/office/drawing/2014/main" id="{D7697056-7EA3-4416-9969-E826955EBCAA}"/>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5846EA2-C800-469F-A9CC-6326F7C5C21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Quiz 1 is required catch-up work, separate from A1.</a:t>
            </a:r>
          </a:p>
        </p:txBody>
      </p:sp>
      <p:sp>
        <p:nvSpPr>
          <p:cNvPr id="6" name="">
            <a:extLst xmlns:a="http://schemas.openxmlformats.org/drawingml/2006/main">
              <a:ext uri="{FF2B5EF4-FFF2-40B4-BE49-F238E27FC236}">
                <a16:creationId xmlns:a16="http://schemas.microsoft.com/office/drawing/2014/main" id="{CD214A45-C64E-44A5-9C8F-E06EAC7E4905}"/>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F27D6F5-64D7-4D3E-954B-31DC35BB5945}"/>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it individually after lecturer activation.</a:t>
            </a:r>
          </a:p>
        </p:txBody>
      </p:sp>
      <p:sp>
        <p:nvSpPr>
          <p:cNvPr id="8" name="">
            <a:extLst xmlns:a="http://schemas.openxmlformats.org/drawingml/2006/main">
              <a:ext uri="{FF2B5EF4-FFF2-40B4-BE49-F238E27FC236}">
                <a16:creationId xmlns:a16="http://schemas.microsoft.com/office/drawing/2014/main" id="{3F766C00-0C79-4CDD-8323-B360470DE6C1}"/>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F756DF7-EFEC-4382-AD1C-AB3C5E473D68}"/>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 closes 24 hours after activation, not at the assignment deadline.</a:t>
            </a:r>
          </a:p>
        </p:txBody>
      </p:sp>
      <p:sp>
        <p:nvSpPr>
          <p:cNvPr id="10" name="">
            <a:extLst xmlns:a="http://schemas.openxmlformats.org/drawingml/2006/main">
              <a:ext uri="{FF2B5EF4-FFF2-40B4-BE49-F238E27FC236}">
                <a16:creationId xmlns:a16="http://schemas.microsoft.com/office/drawing/2014/main" id="{7232EC2C-6709-40CD-8AB2-555E601FF505}"/>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4239177-DC4C-4E65-B299-D734554B6A79}"/>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and keep your confirmation.</a:t>
            </a:r>
          </a:p>
        </p:txBody>
      </p:sp>
      <p:sp>
        <p:nvSpPr>
          <p:cNvPr id="12" name="">
            <a:extLst xmlns:a="http://schemas.openxmlformats.org/drawingml/2006/main">
              <a:ext uri="{FF2B5EF4-FFF2-40B4-BE49-F238E27FC236}">
                <a16:creationId xmlns:a16="http://schemas.microsoft.com/office/drawing/2014/main" id="{4FD05E97-8200-4131-9CDD-06DEC69515EE}"/>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6537C32-9D86-479B-B757-497517E6517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29f6afc8734a48f9"/>
              </a:rPr>
              <a:t>Open Week 1 Quiz 1</a:t>
            </a:r>
          </a:p>
        </p:txBody>
      </p:sp>
      <p:sp>
        <p:nvSpPr>
          <p:cNvPr id="14" name="">
            <a:extLst xmlns:a="http://schemas.openxmlformats.org/drawingml/2006/main">
              <a:ext uri="{FF2B5EF4-FFF2-40B4-BE49-F238E27FC236}">
                <a16:creationId xmlns:a16="http://schemas.microsoft.com/office/drawing/2014/main" id="{41545953-A6C9-40F3-968B-3FB7AC72CA7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https://forms.gle/ChK3D2sopncRbbLx5</a:t>
            </a:r>
          </a:p>
        </p:txBody>
      </p:sp>
      <p:sp>
        <p:nvSpPr>
          <p:cNvPr id="15" name="">
            <a:extLst xmlns:a="http://schemas.openxmlformats.org/drawingml/2006/main">
              <a:ext uri="{FF2B5EF4-FFF2-40B4-BE49-F238E27FC236}">
                <a16:creationId xmlns:a16="http://schemas.microsoft.com/office/drawing/2014/main" id="{93CAB810-017E-4712-ACD9-2D8D522A7ED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40</a:t>
            </a:r>
          </a:p>
        </p:txBody>
      </p:sp>
    </p:spTree>
    <p:extLst>
      <p:ext uri="{BB962C8B-B14F-4D97-AF65-F5344CB8AC3E}">
        <p14:creationId xmlns:p14="http://schemas.microsoft.com/office/powerpoint/2010/main" val="99276067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B41733-B85C-40CF-A868-F44A10E8FC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AD0078-71DC-47DD-B218-ACC829C2089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64C4798-CEC0-4BF5-A5B1-80922B810C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assignment</a:t>
            </a:r>
          </a:p>
        </p:txBody>
      </p:sp>
      <p:sp>
        <p:nvSpPr>
          <p:cNvPr id="4" name="">
            <a:extLst xmlns:a="http://schemas.openxmlformats.org/drawingml/2006/main">
              <a:ext uri="{FF2B5EF4-FFF2-40B4-BE49-F238E27FC236}">
                <a16:creationId xmlns:a16="http://schemas.microsoft.com/office/drawing/2014/main" id="{361B443B-5B12-45F8-9F20-D2FBFA59B5B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60FA0D8-D301-4680-AFEE-B9AE849DFCF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proof_of_life.ipynb and write your own README.md.</a:t>
            </a:r>
          </a:p>
        </p:txBody>
      </p:sp>
      <p:sp>
        <p:nvSpPr>
          <p:cNvPr id="6" name="">
            <a:extLst xmlns:a="http://schemas.openxmlformats.org/drawingml/2006/main">
              <a:ext uri="{FF2B5EF4-FFF2-40B4-BE49-F238E27FC236}">
                <a16:creationId xmlns:a16="http://schemas.microsoft.com/office/drawing/2014/main" id="{94A874D2-8369-47CF-98B9-A3CB2BB1A11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3EC3BC2-8B8C-4C39-B76E-43C9A295091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README states your programme, file list and run instructions.</a:t>
            </a:r>
          </a:p>
        </p:txBody>
      </p:sp>
      <p:sp>
        <p:nvSpPr>
          <p:cNvPr id="8" name="">
            <a:extLst xmlns:a="http://schemas.openxmlformats.org/drawingml/2006/main">
              <a:ext uri="{FF2B5EF4-FFF2-40B4-BE49-F238E27FC236}">
                <a16:creationId xmlns:a16="http://schemas.microsoft.com/office/drawing/2014/main" id="{55B67FE4-14CE-4648-8BD7-B81962C0D082}"/>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C82D870-4BBB-44C9-A2B5-D5EE81A3B8B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the repository URL in the form.</a:t>
            </a:r>
          </a:p>
        </p:txBody>
      </p:sp>
      <p:sp>
        <p:nvSpPr>
          <p:cNvPr id="10" name="">
            <a:extLst xmlns:a="http://schemas.openxmlformats.org/drawingml/2006/main">
              <a:ext uri="{FF2B5EF4-FFF2-40B4-BE49-F238E27FC236}">
                <a16:creationId xmlns:a16="http://schemas.microsoft.com/office/drawing/2014/main" id="{924E6C93-DF5B-4569-936A-05471E3FF24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0F7C447-C78F-411A-BD05-CD6316E8865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renamed notebook and README, not the ZIP or 01–04 repair notebooks.</a:t>
            </a:r>
          </a:p>
        </p:txBody>
      </p:sp>
      <p:sp>
        <p:nvSpPr>
          <p:cNvPr id="12" name="">
            <a:extLst xmlns:a="http://schemas.openxmlformats.org/drawingml/2006/main">
              <a:ext uri="{FF2B5EF4-FFF2-40B4-BE49-F238E27FC236}">
                <a16:creationId xmlns:a16="http://schemas.microsoft.com/office/drawing/2014/main" id="{8FBFD9A4-88A3-424B-AE6D-C214D1F150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41</a:t>
            </a:r>
          </a:p>
        </p:txBody>
      </p:sp>
    </p:spTree>
    <p:extLst>
      <p:ext uri="{BB962C8B-B14F-4D97-AF65-F5344CB8AC3E}">
        <p14:creationId xmlns:p14="http://schemas.microsoft.com/office/powerpoint/2010/main" val="19704386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B2A47C2-3B77-4E47-916B-A710F35019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EA0ED5-9FD0-4012-8907-CB0FF43D1B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BBC0D92F-BC18-4D99-AEFD-196CCBAE59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Proof of life submission</a:t>
            </a:r>
          </a:p>
        </p:txBody>
      </p:sp>
      <p:sp>
        <p:nvSpPr>
          <p:cNvPr id="4" name="">
            <a:extLst xmlns:a="http://schemas.openxmlformats.org/drawingml/2006/main">
              <a:ext uri="{FF2B5EF4-FFF2-40B4-BE49-F238E27FC236}">
                <a16:creationId xmlns:a16="http://schemas.microsoft.com/office/drawing/2014/main" id="{8685F851-B382-4BDB-9AC0-BE3139D4B021}"/>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15B3379-51ED-4A08-BF49-073682C5998B}"/>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18 Sep 2026, 11:00 Kampala</a:t>
            </a:r>
          </a:p>
        </p:txBody>
      </p:sp>
      <p:sp>
        <p:nvSpPr>
          <p:cNvPr id="6" name="">
            <a:extLst xmlns:a="http://schemas.openxmlformats.org/drawingml/2006/main">
              <a:ext uri="{FF2B5EF4-FFF2-40B4-BE49-F238E27FC236}">
                <a16:creationId xmlns:a16="http://schemas.microsoft.com/office/drawing/2014/main" id="{745191BA-CA97-4AF1-BB15-6EBE8A1DD13F}"/>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0F4DF7D-1A53-42D5-9B46-E409929EB242}"/>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25 Sep 2026, 11:00 Kampala</a:t>
            </a:r>
          </a:p>
        </p:txBody>
      </p:sp>
      <p:sp>
        <p:nvSpPr>
          <p:cNvPr id="8" name="">
            <a:extLst xmlns:a="http://schemas.openxmlformats.org/drawingml/2006/main">
              <a:ext uri="{FF2B5EF4-FFF2-40B4-BE49-F238E27FC236}">
                <a16:creationId xmlns:a16="http://schemas.microsoft.com/office/drawing/2014/main" id="{9286E225-D7E5-4BB4-9C89-EE5F026D34B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1A3826D-A00D-4CA4-B248-C18CB42277B8}"/>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E1D62299-697C-44AC-9ADC-D11EEC85104F}"/>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D9929B8-D6F1-4FDA-B235-4D3C11B05F94}"/>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AC4759D8-F48E-45BF-AE47-4A345FD976E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A6E739-DF10-4D1E-AFA4-A64A42E49A5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6e8129184b24a02"/>
              </a:rPr>
              <a:t>Open W02 assignment form</a:t>
            </a:r>
          </a:p>
        </p:txBody>
      </p:sp>
      <p:sp>
        <p:nvSpPr>
          <p:cNvPr id="14" name="">
            <a:extLst xmlns:a="http://schemas.openxmlformats.org/drawingml/2006/main">
              <a:ext uri="{FF2B5EF4-FFF2-40B4-BE49-F238E27FC236}">
                <a16:creationId xmlns:a16="http://schemas.microsoft.com/office/drawing/2014/main" id="{857B32F1-3B48-482F-9600-1B20BECE3E5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https://docs.google.com/forms/d/e/1FAIpQLSfjyYUtobO5sgIWH30AidQu7Sx8bcmH6lSbtHQv-9SISaEDqA/viewform</a:t>
            </a:r>
          </a:p>
        </p:txBody>
      </p:sp>
      <p:sp>
        <p:nvSpPr>
          <p:cNvPr id="15" name="">
            <a:extLst xmlns:a="http://schemas.openxmlformats.org/drawingml/2006/main">
              <a:ext uri="{FF2B5EF4-FFF2-40B4-BE49-F238E27FC236}">
                <a16:creationId xmlns:a16="http://schemas.microsoft.com/office/drawing/2014/main" id="{BA688F11-DA45-470F-8F26-8FB06987BC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42</a:t>
            </a:r>
          </a:p>
        </p:txBody>
      </p:sp>
    </p:spTree>
    <p:extLst>
      <p:ext uri="{BB962C8B-B14F-4D97-AF65-F5344CB8AC3E}">
        <p14:creationId xmlns:p14="http://schemas.microsoft.com/office/powerpoint/2010/main" val="131985842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773DF5A-306C-4B65-B529-8C195C933B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3413CA-23F5-4C14-8399-1B3C477AE4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953B42FC-A4C3-4532-99FF-EA90C9421F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2 quiz</a:t>
            </a:r>
          </a:p>
        </p:txBody>
      </p:sp>
      <p:sp>
        <p:nvSpPr>
          <p:cNvPr id="4" name="">
            <a:extLst xmlns:a="http://schemas.openxmlformats.org/drawingml/2006/main">
              <a:ext uri="{FF2B5EF4-FFF2-40B4-BE49-F238E27FC236}">
                <a16:creationId xmlns:a16="http://schemas.microsoft.com/office/drawing/2014/main" id="{430CF881-C2B2-4986-AB27-B740F5DECD57}"/>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5C66681-737E-4B8F-803D-8C5A99905FE1}"/>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6DF345D5-E4A8-4825-8A86-D3EDABB05CCF}"/>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49C8BB2-67A4-4B6C-8698-E259F27D11D6}"/>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25BE89A7-36E3-4D25-9B9E-4D6147204484}"/>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D1D8FC3-B136-4EC9-8FE1-0CE623757513}"/>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44A61A86-D19A-48B9-B2BE-F7C1BA849E2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722DF21-36BF-460D-B177-23005451EA5A}"/>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8c930b7ab2d44a2"/>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AD99B60-5B8E-4E26-918A-C4290357E8F9}"/>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E95FFF98-2331-4A63-AC01-F38E83CCED90}"/>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3CECAB-B723-440E-AD4F-F3442B265A5C}"/>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edd6d240dd8410d"/>
              </a:rPr>
              <a:t>Open this week’s quiz</a:t>
            </a:r>
          </a:p>
        </p:txBody>
      </p:sp>
      <p:sp>
        <p:nvSpPr>
          <p:cNvPr id="16" name="">
            <a:extLst xmlns:a="http://schemas.openxmlformats.org/drawingml/2006/main">
              <a:ext uri="{FF2B5EF4-FFF2-40B4-BE49-F238E27FC236}">
                <a16:creationId xmlns:a16="http://schemas.microsoft.com/office/drawing/2014/main" id="{61F3883F-9FE8-4C1B-B34B-A902F7A2FF1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https://forms.gle/326KYcY6JvBqbPa78</a:t>
            </a:r>
          </a:p>
        </p:txBody>
      </p:sp>
      <p:sp>
        <p:nvSpPr>
          <p:cNvPr id="17" name="">
            <a:extLst xmlns:a="http://schemas.openxmlformats.org/drawingml/2006/main">
              <a:ext uri="{FF2B5EF4-FFF2-40B4-BE49-F238E27FC236}">
                <a16:creationId xmlns:a16="http://schemas.microsoft.com/office/drawing/2014/main" id="{9761D7C5-59AD-4578-B135-54F00CF487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2   43</a:t>
            </a:r>
          </a:p>
        </p:txBody>
      </p:sp>
    </p:spTree>
    <p:extLst>
      <p:ext uri="{BB962C8B-B14F-4D97-AF65-F5344CB8AC3E}">
        <p14:creationId xmlns:p14="http://schemas.microsoft.com/office/powerpoint/2010/main" val="1079812874"/>
      </p:ext>
    </p:extLst>
  </p:cSld>
</p:sld>
</file>

<file path=ppt/slides/slide4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59F728-54EA-4CDC-8C16-12DEE3105B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43B276D6-3156-4D62-9D7C-55F65A21B8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A9E39C2B-0D48-4CCB-845F-DC1AFF81837F}"/>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AA0E169E-0DB3-4F74-ABAB-96584F2C975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why running the same cell again may change its output.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36207F32-1D6C-4284-8CA7-A9E88C358E63}"/>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B0418229-9708-4479-8D03-353AACDC6C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2   44</a:t>
            </a:r>
          </a:p>
        </p:txBody>
      </p:sp>
    </p:spTree>
    <p:extLst>
      <p:ext uri="{BB962C8B-B14F-4D97-AF65-F5344CB8AC3E}">
        <p14:creationId xmlns:p14="http://schemas.microsoft.com/office/powerpoint/2010/main" val="202960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2026-09-21T10:33:33.2070000Z</dcterms:created>
  <dcterms:modified xsi:type="dcterms:W3CDTF">2026-09-21T10:33:33.2070000Z</dcterms:modified>
</coreProperties>
</file>