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b88143de86e4720" /><Relationship Type="http://schemas.openxmlformats.org/officeDocument/2006/relationships/extended-properties" Target="/docProps/app.xml" Id="Rd94298245515431a" /><Relationship Type="http://schemas.openxmlformats.org/officeDocument/2006/relationships/officeDocument" Target="/ppt/presentation.xml" Id="Ra4a1ce0fb4b44583" /></Relationships>
</file>

<file path=ppt/presentation.xml><?xml version="1.0" encoding="utf-8"?>
<p:presentation xmlns:p="http://schemas.openxmlformats.org/presentationml/2006/main">
  <p:sldMasterIdLst>
    <p:sldMasterId xmlns:r="http://schemas.openxmlformats.org/officeDocument/2006/relationships" id="2147483648" r:id="Rd7528cc0bcdb4207"/>
  </p:sldMasterIdLst>
  <p:notesMasterIdLst>
    <p:notesMasterId xmlns:r="http://schemas.openxmlformats.org/officeDocument/2006/relationships" r:id="R9a08875a016b4f54"/>
  </p:notesMasterIdLst>
  <p:sldIdLst>
    <p:sldId xmlns:r="http://schemas.openxmlformats.org/officeDocument/2006/relationships" id="256" r:id="R021d9faaee4043a0"/>
    <p:sldId xmlns:r="http://schemas.openxmlformats.org/officeDocument/2006/relationships" id="257" r:id="R610c8196d4ec4564"/>
    <p:sldId xmlns:r="http://schemas.openxmlformats.org/officeDocument/2006/relationships" id="258" r:id="R61d7be3ef90b4138"/>
    <p:sldId xmlns:r="http://schemas.openxmlformats.org/officeDocument/2006/relationships" id="259" r:id="Rb6ee685c182c4642"/>
    <p:sldId xmlns:r="http://schemas.openxmlformats.org/officeDocument/2006/relationships" id="260" r:id="Rdb465590a34e489a"/>
    <p:sldId xmlns:r="http://schemas.openxmlformats.org/officeDocument/2006/relationships" id="261" r:id="R83819337e3ae4df4"/>
    <p:sldId xmlns:r="http://schemas.openxmlformats.org/officeDocument/2006/relationships" id="262" r:id="Rcae1afc123114711"/>
    <p:sldId xmlns:r="http://schemas.openxmlformats.org/officeDocument/2006/relationships" id="263" r:id="Rcd05b84fd09f4bc3"/>
    <p:sldId xmlns:r="http://schemas.openxmlformats.org/officeDocument/2006/relationships" id="264" r:id="Rb57dbf23ea5d48b8"/>
    <p:sldId xmlns:r="http://schemas.openxmlformats.org/officeDocument/2006/relationships" id="265" r:id="R59a24f5088334455"/>
    <p:sldId xmlns:r="http://schemas.openxmlformats.org/officeDocument/2006/relationships" id="266" r:id="R410020a65acc47dc"/>
    <p:sldId xmlns:r="http://schemas.openxmlformats.org/officeDocument/2006/relationships" id="267" r:id="R5afb8b7529354988"/>
    <p:sldId xmlns:r="http://schemas.openxmlformats.org/officeDocument/2006/relationships" id="268" r:id="Rbf2a49e3a710497a"/>
    <p:sldId xmlns:r="http://schemas.openxmlformats.org/officeDocument/2006/relationships" id="269" r:id="R9ffb904a1d0440dc"/>
    <p:sldId xmlns:r="http://schemas.openxmlformats.org/officeDocument/2006/relationships" id="270" r:id="R4323fa29e6074f2b"/>
    <p:sldId xmlns:r="http://schemas.openxmlformats.org/officeDocument/2006/relationships" id="271" r:id="R5134af07c7034bba"/>
    <p:sldId xmlns:r="http://schemas.openxmlformats.org/officeDocument/2006/relationships" id="272" r:id="R051a11d2f15f40f2"/>
    <p:sldId xmlns:r="http://schemas.openxmlformats.org/officeDocument/2006/relationships" id="273" r:id="R4b8295ad56824c18"/>
    <p:sldId xmlns:r="http://schemas.openxmlformats.org/officeDocument/2006/relationships" id="274" r:id="Rf7fe5c65fc984771"/>
    <p:sldId xmlns:r="http://schemas.openxmlformats.org/officeDocument/2006/relationships" id="275" r:id="Rf2aa1b9bb6104ae8"/>
    <p:sldId xmlns:r="http://schemas.openxmlformats.org/officeDocument/2006/relationships" id="276" r:id="R9506c55855284740"/>
    <p:sldId xmlns:r="http://schemas.openxmlformats.org/officeDocument/2006/relationships" id="277" r:id="R06d6166985654f6d"/>
    <p:sldId xmlns:r="http://schemas.openxmlformats.org/officeDocument/2006/relationships" id="278" r:id="Ref813505f4914a2c"/>
    <p:sldId xmlns:r="http://schemas.openxmlformats.org/officeDocument/2006/relationships" id="279" r:id="R3793c746a9fa4d8e"/>
    <p:sldId xmlns:r="http://schemas.openxmlformats.org/officeDocument/2006/relationships" id="280" r:id="Rd4e50bb8e6dd476f"/>
    <p:sldId xmlns:r="http://schemas.openxmlformats.org/officeDocument/2006/relationships" id="281" r:id="R2dde96119eb34bd9"/>
    <p:sldId xmlns:r="http://schemas.openxmlformats.org/officeDocument/2006/relationships" id="282" r:id="Ra8f85c5041904aac"/>
    <p:sldId xmlns:r="http://schemas.openxmlformats.org/officeDocument/2006/relationships" id="283" r:id="Rb45cb0c01d4f40ac"/>
    <p:sldId xmlns:r="http://schemas.openxmlformats.org/officeDocument/2006/relationships" id="284" r:id="Rdc00885d6cac495e"/>
    <p:sldId xmlns:r="http://schemas.openxmlformats.org/officeDocument/2006/relationships" id="285" r:id="R7f507a8709574af7"/>
    <p:sldId xmlns:r="http://schemas.openxmlformats.org/officeDocument/2006/relationships" id="286" r:id="R22b841a921674507"/>
    <p:sldId xmlns:r="http://schemas.openxmlformats.org/officeDocument/2006/relationships" id="287" r:id="Rebcde3a485974327"/>
    <p:sldId xmlns:r="http://schemas.openxmlformats.org/officeDocument/2006/relationships" id="288" r:id="Rfcbeb17ee27b4293"/>
    <p:sldId xmlns:r="http://schemas.openxmlformats.org/officeDocument/2006/relationships" id="289" r:id="R29fa8b8fb70a4083"/>
    <p:sldId xmlns:r="http://schemas.openxmlformats.org/officeDocument/2006/relationships" id="290" r:id="Rf2e93270f0be4db1"/>
    <p:sldId xmlns:r="http://schemas.openxmlformats.org/officeDocument/2006/relationships" id="291" r:id="R04256d6980f8484e"/>
    <p:sldId xmlns:r="http://schemas.openxmlformats.org/officeDocument/2006/relationships" id="292" r:id="R8a01e90a758d4774"/>
    <p:sldId xmlns:r="http://schemas.openxmlformats.org/officeDocument/2006/relationships" id="293" r:id="Rca75de4a28ea453f"/>
    <p:sldId xmlns:r="http://schemas.openxmlformats.org/officeDocument/2006/relationships" id="294" r:id="R78eb9c6e8c5d43ed"/>
    <p:sldId xmlns:r="http://schemas.openxmlformats.org/officeDocument/2006/relationships" id="295" r:id="R0978fa540f404a49"/>
    <p:sldId xmlns:r="http://schemas.openxmlformats.org/officeDocument/2006/relationships" id="296" r:id="R1101b758102d4284"/>
    <p:sldId xmlns:r="http://schemas.openxmlformats.org/officeDocument/2006/relationships" id="297" r:id="R18497ddc94534bca"/>
    <p:sldId xmlns:r="http://schemas.openxmlformats.org/officeDocument/2006/relationships" id="298" r:id="Rb581a0d58efc4cde"/>
    <p:sldId xmlns:r="http://schemas.openxmlformats.org/officeDocument/2006/relationships" id="299" r:id="R2476cbc4252d45ef"/>
    <p:sldId xmlns:r="http://schemas.openxmlformats.org/officeDocument/2006/relationships" id="300" r:id="R969c973cd82041e8"/>
    <p:sldId xmlns:r="http://schemas.openxmlformats.org/officeDocument/2006/relationships" id="301" r:id="R283cf8ae185e455e"/>
    <p:sldId xmlns:r="http://schemas.openxmlformats.org/officeDocument/2006/relationships" id="302" r:id="R5ea3233cedab434d"/>
    <p:sldId xmlns:r="http://schemas.openxmlformats.org/officeDocument/2006/relationships" id="303" r:id="Rfc0c950050f14b40"/>
    <p:sldId xmlns:r="http://schemas.openxmlformats.org/officeDocument/2006/relationships" id="304" r:id="Rdd0fd873cc114d0a"/>
    <p:sldId xmlns:r="http://schemas.openxmlformats.org/officeDocument/2006/relationships" id="305" r:id="R39b0b142d13c470e"/>
    <p:sldId xmlns:r="http://schemas.openxmlformats.org/officeDocument/2006/relationships" id="306" r:id="Ra2f9f6fd99bf4883"/>
    <p:sldId xmlns:r="http://schemas.openxmlformats.org/officeDocument/2006/relationships" id="307" r:id="R62fb93ddac4c4fab"/>
    <p:sldId xmlns:r="http://schemas.openxmlformats.org/officeDocument/2006/relationships" id="308" r:id="Rfc4ee61fd48e4887"/>
    <p:sldId xmlns:r="http://schemas.openxmlformats.org/officeDocument/2006/relationships" id="309" r:id="R5cee5b51495540ab"/>
    <p:sldId xmlns:r="http://schemas.openxmlformats.org/officeDocument/2006/relationships" id="310" r:id="R2d240b1d965f4734"/>
    <p:sldId xmlns:r="http://schemas.openxmlformats.org/officeDocument/2006/relationships" id="311" r:id="Rdcac5b7e6f954800"/>
    <p:sldId xmlns:r="http://schemas.openxmlformats.org/officeDocument/2006/relationships" id="312" r:id="R78f4847e7ef94c81"/>
    <p:sldId xmlns:r="http://schemas.openxmlformats.org/officeDocument/2006/relationships" id="313" r:id="R8715d45333084466"/>
    <p:sldId xmlns:r="http://schemas.openxmlformats.org/officeDocument/2006/relationships" id="314" r:id="R5cbf95d772d04c2b"/>
    <p:sldId xmlns:r="http://schemas.openxmlformats.org/officeDocument/2006/relationships" id="315" r:id="R652f92bf104a4ee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8d3c92eac0043e1" /><Relationship Type="http://schemas.openxmlformats.org/officeDocument/2006/relationships/slideMaster" Target="/ppt/slideMasters/slideMaster1.xml" Id="Rd7528cc0bcdb4207" /><Relationship Type="http://schemas.openxmlformats.org/officeDocument/2006/relationships/notesMaster" Target="/ppt/notesMasters/notesMaster1.xml" Id="R9a08875a016b4f54" /><Relationship Type="http://schemas.openxmlformats.org/officeDocument/2006/relationships/presProps" Target="/ppt/presProps.xml" Id="R2703ff4d366c4b1b" /><Relationship Type="http://schemas.openxmlformats.org/officeDocument/2006/relationships/tableStyles" Target="/ppt/tableStyles.xml" Id="R57fd1389829b4d9a" /><Relationship Type="http://schemas.openxmlformats.org/officeDocument/2006/relationships/slide" Target="/ppt/slides/slide1.xml" Id="R021d9faaee4043a0" /><Relationship Type="http://schemas.openxmlformats.org/officeDocument/2006/relationships/slide" Target="/ppt/slides/slide2.xml" Id="R610c8196d4ec4564" /><Relationship Type="http://schemas.openxmlformats.org/officeDocument/2006/relationships/slide" Target="/ppt/slides/slide3.xml" Id="R61d7be3ef90b4138" /><Relationship Type="http://schemas.openxmlformats.org/officeDocument/2006/relationships/slide" Target="/ppt/slides/slide4.xml" Id="Rb6ee685c182c4642" /><Relationship Type="http://schemas.openxmlformats.org/officeDocument/2006/relationships/slide" Target="/ppt/slides/slide5.xml" Id="Rdb465590a34e489a" /><Relationship Type="http://schemas.openxmlformats.org/officeDocument/2006/relationships/slide" Target="/ppt/slides/slide6.xml" Id="R83819337e3ae4df4" /><Relationship Type="http://schemas.openxmlformats.org/officeDocument/2006/relationships/slide" Target="/ppt/slides/slide7.xml" Id="Rcae1afc123114711" /><Relationship Type="http://schemas.openxmlformats.org/officeDocument/2006/relationships/slide" Target="/ppt/slides/slide8.xml" Id="Rcd05b84fd09f4bc3" /><Relationship Type="http://schemas.openxmlformats.org/officeDocument/2006/relationships/slide" Target="/ppt/slides/slide9.xml" Id="Rb57dbf23ea5d48b8" /><Relationship Type="http://schemas.openxmlformats.org/officeDocument/2006/relationships/slide" Target="/ppt/slides/slide10.xml" Id="R59a24f5088334455" /><Relationship Type="http://schemas.openxmlformats.org/officeDocument/2006/relationships/slide" Target="/ppt/slides/slide11.xml" Id="R410020a65acc47dc" /><Relationship Type="http://schemas.openxmlformats.org/officeDocument/2006/relationships/slide" Target="/ppt/slides/slide12.xml" Id="R5afb8b7529354988" /><Relationship Type="http://schemas.openxmlformats.org/officeDocument/2006/relationships/slide" Target="/ppt/slides/slide13.xml" Id="Rbf2a49e3a710497a" /><Relationship Type="http://schemas.openxmlformats.org/officeDocument/2006/relationships/slide" Target="/ppt/slides/slide14.xml" Id="R9ffb904a1d0440dc" /><Relationship Type="http://schemas.openxmlformats.org/officeDocument/2006/relationships/slide" Target="/ppt/slides/slide15.xml" Id="R4323fa29e6074f2b" /><Relationship Type="http://schemas.openxmlformats.org/officeDocument/2006/relationships/slide" Target="/ppt/slides/slide16.xml" Id="R5134af07c7034bba" /><Relationship Type="http://schemas.openxmlformats.org/officeDocument/2006/relationships/slide" Target="/ppt/slides/slide17.xml" Id="R051a11d2f15f40f2" /><Relationship Type="http://schemas.openxmlformats.org/officeDocument/2006/relationships/slide" Target="/ppt/slides/slide18.xml" Id="R4b8295ad56824c18" /><Relationship Type="http://schemas.openxmlformats.org/officeDocument/2006/relationships/slide" Target="/ppt/slides/slide19.xml" Id="Rf7fe5c65fc984771" /><Relationship Type="http://schemas.openxmlformats.org/officeDocument/2006/relationships/slide" Target="/ppt/slides/slide20.xml" Id="Rf2aa1b9bb6104ae8" /><Relationship Type="http://schemas.openxmlformats.org/officeDocument/2006/relationships/slide" Target="/ppt/slides/slide21.xml" Id="R9506c55855284740" /><Relationship Type="http://schemas.openxmlformats.org/officeDocument/2006/relationships/slide" Target="/ppt/slides/slide22.xml" Id="R06d6166985654f6d" /><Relationship Type="http://schemas.openxmlformats.org/officeDocument/2006/relationships/slide" Target="/ppt/slides/slide23.xml" Id="Ref813505f4914a2c" /><Relationship Type="http://schemas.openxmlformats.org/officeDocument/2006/relationships/slide" Target="/ppt/slides/slide24.xml" Id="R3793c746a9fa4d8e" /><Relationship Type="http://schemas.openxmlformats.org/officeDocument/2006/relationships/slide" Target="/ppt/slides/slide25.xml" Id="Rd4e50bb8e6dd476f" /><Relationship Type="http://schemas.openxmlformats.org/officeDocument/2006/relationships/slide" Target="/ppt/slides/slide26.xml" Id="R2dde96119eb34bd9" /><Relationship Type="http://schemas.openxmlformats.org/officeDocument/2006/relationships/slide" Target="/ppt/slides/slide27.xml" Id="Ra8f85c5041904aac" /><Relationship Type="http://schemas.openxmlformats.org/officeDocument/2006/relationships/slide" Target="/ppt/slides/slide28.xml" Id="Rb45cb0c01d4f40ac" /><Relationship Type="http://schemas.openxmlformats.org/officeDocument/2006/relationships/slide" Target="/ppt/slides/slide29.xml" Id="Rdc00885d6cac495e" /><Relationship Type="http://schemas.openxmlformats.org/officeDocument/2006/relationships/slide" Target="/ppt/slides/slide30.xml" Id="R7f507a8709574af7" /><Relationship Type="http://schemas.openxmlformats.org/officeDocument/2006/relationships/slide" Target="/ppt/slides/slide31.xml" Id="R22b841a921674507" /><Relationship Type="http://schemas.openxmlformats.org/officeDocument/2006/relationships/slide" Target="/ppt/slides/slide32.xml" Id="Rebcde3a485974327" /><Relationship Type="http://schemas.openxmlformats.org/officeDocument/2006/relationships/slide" Target="/ppt/slides/slide33.xml" Id="Rfcbeb17ee27b4293" /><Relationship Type="http://schemas.openxmlformats.org/officeDocument/2006/relationships/slide" Target="/ppt/slides/slide34.xml" Id="R29fa8b8fb70a4083" /><Relationship Type="http://schemas.openxmlformats.org/officeDocument/2006/relationships/slide" Target="/ppt/slides/slide35.xml" Id="Rf2e93270f0be4db1" /><Relationship Type="http://schemas.openxmlformats.org/officeDocument/2006/relationships/slide" Target="/ppt/slides/slide36.xml" Id="R04256d6980f8484e" /><Relationship Type="http://schemas.openxmlformats.org/officeDocument/2006/relationships/slide" Target="/ppt/slides/slide37.xml" Id="R8a01e90a758d4774" /><Relationship Type="http://schemas.openxmlformats.org/officeDocument/2006/relationships/slide" Target="/ppt/slides/slide38.xml" Id="Rca75de4a28ea453f" /><Relationship Type="http://schemas.openxmlformats.org/officeDocument/2006/relationships/slide" Target="/ppt/slides/slide39.xml" Id="R78eb9c6e8c5d43ed" /><Relationship Type="http://schemas.openxmlformats.org/officeDocument/2006/relationships/slide" Target="/ppt/slides/slide40.xml" Id="R0978fa540f404a49" /><Relationship Type="http://schemas.openxmlformats.org/officeDocument/2006/relationships/slide" Target="/ppt/slides/slide41.xml" Id="R1101b758102d4284" /><Relationship Type="http://schemas.openxmlformats.org/officeDocument/2006/relationships/slide" Target="/ppt/slides/slide42.xml" Id="R18497ddc94534bca" /><Relationship Type="http://schemas.openxmlformats.org/officeDocument/2006/relationships/slide" Target="/ppt/slides/slide43.xml" Id="Rb581a0d58efc4cde" /><Relationship Type="http://schemas.openxmlformats.org/officeDocument/2006/relationships/slide" Target="/ppt/slides/slide44.xml" Id="R2476cbc4252d45ef" /><Relationship Type="http://schemas.openxmlformats.org/officeDocument/2006/relationships/slide" Target="/ppt/slides/slide45.xml" Id="R969c973cd82041e8" /><Relationship Type="http://schemas.openxmlformats.org/officeDocument/2006/relationships/slide" Target="/ppt/slides/slide46.xml" Id="R283cf8ae185e455e" /><Relationship Type="http://schemas.openxmlformats.org/officeDocument/2006/relationships/slide" Target="/ppt/slides/slide47.xml" Id="R5ea3233cedab434d" /><Relationship Type="http://schemas.openxmlformats.org/officeDocument/2006/relationships/slide" Target="/ppt/slides/slide48.xml" Id="Rfc0c950050f14b40" /><Relationship Type="http://schemas.openxmlformats.org/officeDocument/2006/relationships/slide" Target="/ppt/slides/slide49.xml" Id="Rdd0fd873cc114d0a" /><Relationship Type="http://schemas.openxmlformats.org/officeDocument/2006/relationships/slide" Target="/ppt/slides/slide50.xml" Id="R39b0b142d13c470e" /><Relationship Type="http://schemas.openxmlformats.org/officeDocument/2006/relationships/slide" Target="/ppt/slides/slide51.xml" Id="Ra2f9f6fd99bf4883" /><Relationship Type="http://schemas.openxmlformats.org/officeDocument/2006/relationships/slide" Target="/ppt/slides/slide52.xml" Id="R62fb93ddac4c4fab" /><Relationship Type="http://schemas.openxmlformats.org/officeDocument/2006/relationships/slide" Target="/ppt/slides/slide53.xml" Id="Rfc4ee61fd48e4887" /><Relationship Type="http://schemas.openxmlformats.org/officeDocument/2006/relationships/slide" Target="/ppt/slides/slide54.xml" Id="R5cee5b51495540ab" /><Relationship Type="http://schemas.openxmlformats.org/officeDocument/2006/relationships/slide" Target="/ppt/slides/slide55.xml" Id="R2d240b1d965f4734" /><Relationship Type="http://schemas.openxmlformats.org/officeDocument/2006/relationships/slide" Target="/ppt/slides/slide56.xml" Id="Rdcac5b7e6f954800" /><Relationship Type="http://schemas.openxmlformats.org/officeDocument/2006/relationships/slide" Target="/ppt/slides/slide57.xml" Id="R78f4847e7ef94c81" /><Relationship Type="http://schemas.openxmlformats.org/officeDocument/2006/relationships/slide" Target="/ppt/slides/slide58.xml" Id="R8715d45333084466" /><Relationship Type="http://schemas.openxmlformats.org/officeDocument/2006/relationships/slide" Target="/ppt/slides/slide59.xml" Id="R5cbf95d772d04c2b" /><Relationship Type="http://schemas.openxmlformats.org/officeDocument/2006/relationships/slide" Target="/ppt/slides/slide60.xml" Id="R652f92bf104a4ee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dfc75c6e25f406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b3a690f99114d3e" /><Relationship Type="http://schemas.openxmlformats.org/officeDocument/2006/relationships/notesMaster" Target="/ppt/notesMasters/notesMaster1.xml" Id="Rcfb38217fb7a4875" /></Relationships>
</file>

<file path=ppt/notesSlides/_rels/notesSlide2.xml.rels>&#65279;<?xml version="1.0" encoding="utf-8"?><Relationships xmlns="http://schemas.openxmlformats.org/package/2006/relationships"><Relationship Type="http://schemas.openxmlformats.org/officeDocument/2006/relationships/slide" Target="/ppt/slides/slide2.xml" Id="R53f17a2625f54eae" /><Relationship Type="http://schemas.openxmlformats.org/officeDocument/2006/relationships/notesMaster" Target="/ppt/notesMasters/notesMaster1.xml" Id="R16a8b6f122be41eb"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fcfdf8076040b7" /><Relationship Type="http://schemas.openxmlformats.org/officeDocument/2006/relationships/notesMaster" Target="/ppt/notesMasters/notesMaster1.xml" Id="R3aedc74d32584112" /></Relationships>
</file>

<file path=ppt/notesSlides/_rels/notesSlide4.xml.rels>&#65279;<?xml version="1.0" encoding="utf-8"?><Relationships xmlns="http://schemas.openxmlformats.org/package/2006/relationships"><Relationship Type="http://schemas.openxmlformats.org/officeDocument/2006/relationships/slide" Target="/ppt/slides/slide4.xml" Id="Rd4b33dc6b75147ff" /><Relationship Type="http://schemas.openxmlformats.org/officeDocument/2006/relationships/notesMaster" Target="/ppt/notesMasters/notesMaster1.xml" Id="R14d72aa50d4e4ed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d4d4762da54af9" /><Relationship Type="http://schemas.openxmlformats.org/officeDocument/2006/relationships/notesMaster" Target="/ppt/notesMasters/notesMaster1.xml" Id="Ra5ae3672d26e4d5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5f468458bdf4540" /><Relationship Type="http://schemas.openxmlformats.org/officeDocument/2006/relationships/notesMaster" Target="/ppt/notesMasters/notesMaster1.xml" Id="R910802f16e6141dc" /></Relationships>
</file>

<file path=ppt/notesSlides/_rels/notesSlide7.xml.rels>&#65279;<?xml version="1.0" encoding="utf-8"?><Relationships xmlns="http://schemas.openxmlformats.org/package/2006/relationships"><Relationship Type="http://schemas.openxmlformats.org/officeDocument/2006/relationships/slide" Target="/ppt/slides/slide7.xml" Id="Rb5bcd70d2e414073" /><Relationship Type="http://schemas.openxmlformats.org/officeDocument/2006/relationships/notesMaster" Target="/ppt/notesMasters/notesMaster1.xml" Id="Rad25cf7ffb114ac7" /></Relationships>
</file>

<file path=ppt/notesSlides/_rels/notesSlide8.xml.rels>&#65279;<?xml version="1.0" encoding="utf-8"?><Relationships xmlns="http://schemas.openxmlformats.org/package/2006/relationships"><Relationship Type="http://schemas.openxmlformats.org/officeDocument/2006/relationships/slide" Target="/ppt/slides/slide8.xml" Id="Raba70e4452a24b6e" /><Relationship Type="http://schemas.openxmlformats.org/officeDocument/2006/relationships/notesMaster" Target="/ppt/notesMasters/notesMaster1.xml" Id="R0cef4da497b046f6" /></Relationships>
</file>

<file path=ppt/notesSlides/_rels/notesSlide9.xml.rels>&#65279;<?xml version="1.0" encoding="utf-8"?><Relationships xmlns="http://schemas.openxmlformats.org/package/2006/relationships"><Relationship Type="http://schemas.openxmlformats.org/officeDocument/2006/relationships/slide" Target="/ppt/slides/slide9.xml" Id="R0b0371bc9d8e4052" /><Relationship Type="http://schemas.openxmlformats.org/officeDocument/2006/relationships/notesMaster" Target="/ppt/notesMasters/notesMaster1.xml" Id="Rb487414828fd47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dc438ecc34e4671" /><Relationship Type="http://schemas.openxmlformats.org/officeDocument/2006/relationships/notesMaster" Target="/ppt/notesMasters/notesMaster1.xml" Id="Rbf311ee7d346479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4c44923a6f3476f" /><Relationship Type="http://schemas.openxmlformats.org/officeDocument/2006/relationships/notesMaster" Target="/ppt/notesMasters/notesMaster1.xml" Id="R94b2076573604b2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71406b511cd400f" /><Relationship Type="http://schemas.openxmlformats.org/officeDocument/2006/relationships/notesMaster" Target="/ppt/notesMasters/notesMaster1.xml" Id="R031e265e219f45f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e3c141df2b2449c" /><Relationship Type="http://schemas.openxmlformats.org/officeDocument/2006/relationships/notesMaster" Target="/ppt/notesMasters/notesMaster1.xml" Id="Rc638638a5c5f421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a0c68dd8910427a" /><Relationship Type="http://schemas.openxmlformats.org/officeDocument/2006/relationships/notesMaster" Target="/ppt/notesMasters/notesMaster1.xml" Id="R1d9eb6fe50cc461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e2a54a3d93540d9" /><Relationship Type="http://schemas.openxmlformats.org/officeDocument/2006/relationships/notesMaster" Target="/ppt/notesMasters/notesMaster1.xml" Id="Ra830a8c9cbb840b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c5579b67b2c4df2" /><Relationship Type="http://schemas.openxmlformats.org/officeDocument/2006/relationships/notesMaster" Target="/ppt/notesMasters/notesMaster1.xml" Id="Re204614e613649a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7a9885b527c4b33" /><Relationship Type="http://schemas.openxmlformats.org/officeDocument/2006/relationships/notesMaster" Target="/ppt/notesMasters/notesMaster1.xml" Id="R445782fedb05494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c214255bb8f4d79" /><Relationship Type="http://schemas.openxmlformats.org/officeDocument/2006/relationships/notesMaster" Target="/ppt/notesMasters/notesMaster1.xml" Id="R3abe1fb09d82460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e066c3f0b624cd2" /><Relationship Type="http://schemas.openxmlformats.org/officeDocument/2006/relationships/notesMaster" Target="/ppt/notesMasters/notesMaster1.xml" Id="Ra8b1a854f4154db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1d1dad84f084cd7" /><Relationship Type="http://schemas.openxmlformats.org/officeDocument/2006/relationships/notesMaster" Target="/ppt/notesMasters/notesMaster1.xml" Id="R6021fa095043406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fa5fcb53d1d4264" /><Relationship Type="http://schemas.openxmlformats.org/officeDocument/2006/relationships/notesMaster" Target="/ppt/notesMasters/notesMaster1.xml" Id="Rab6a0e33b038458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6759e140f264cd4" /><Relationship Type="http://schemas.openxmlformats.org/officeDocument/2006/relationships/notesMaster" Target="/ppt/notesMasters/notesMaster1.xml" Id="R1ba0b5a8ef3542e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a5ade7b028641bf" /><Relationship Type="http://schemas.openxmlformats.org/officeDocument/2006/relationships/notesMaster" Target="/ppt/notesMasters/notesMaster1.xml" Id="R843637767e70481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854a47e741a43a9" /><Relationship Type="http://schemas.openxmlformats.org/officeDocument/2006/relationships/notesMaster" Target="/ppt/notesMasters/notesMaster1.xml" Id="Rb79d282284ac43e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94bc3f36dcd4344" /><Relationship Type="http://schemas.openxmlformats.org/officeDocument/2006/relationships/notesMaster" Target="/ppt/notesMasters/notesMaster1.xml" Id="R30c30050f82d4c6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88f32eb9ac34f34" /><Relationship Type="http://schemas.openxmlformats.org/officeDocument/2006/relationships/notesMaster" Target="/ppt/notesMasters/notesMaster1.xml" Id="R5fb31e227d71408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4a21c58e39245f7" /><Relationship Type="http://schemas.openxmlformats.org/officeDocument/2006/relationships/notesMaster" Target="/ppt/notesMasters/notesMaster1.xml" Id="R41aa22cae9744ef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0f017de14d149fc" /><Relationship Type="http://schemas.openxmlformats.org/officeDocument/2006/relationships/notesMaster" Target="/ppt/notesMasters/notesMaster1.xml" Id="Rb7105d204b1247d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e0050be5e044092" /><Relationship Type="http://schemas.openxmlformats.org/officeDocument/2006/relationships/notesMaster" Target="/ppt/notesMasters/notesMaster1.xml" Id="R5f75eaf27c214cb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1f7ddd801844d03" /><Relationship Type="http://schemas.openxmlformats.org/officeDocument/2006/relationships/notesMaster" Target="/ppt/notesMasters/notesMaster1.xml" Id="Re3161b0adb1c49e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8a46ff776034140" /><Relationship Type="http://schemas.openxmlformats.org/officeDocument/2006/relationships/notesMaster" Target="/ppt/notesMasters/notesMaster1.xml" Id="R0fdc113b24d8495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845fd4ccd714130" /><Relationship Type="http://schemas.openxmlformats.org/officeDocument/2006/relationships/notesMaster" Target="/ppt/notesMasters/notesMaster1.xml" Id="R9d17b88dd68c46f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d1f80e191c14b59" /><Relationship Type="http://schemas.openxmlformats.org/officeDocument/2006/relationships/notesMaster" Target="/ppt/notesMasters/notesMaster1.xml" Id="Ra40716904f1c4a8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857be98f2ae48e1" /><Relationship Type="http://schemas.openxmlformats.org/officeDocument/2006/relationships/notesMaster" Target="/ppt/notesMasters/notesMaster1.xml" Id="R568b8bb590da4ea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2e8e7b6c3bd45fc" /><Relationship Type="http://schemas.openxmlformats.org/officeDocument/2006/relationships/notesMaster" Target="/ppt/notesMasters/notesMaster1.xml" Id="Re54e4693321e44d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6321e7c42154df1" /><Relationship Type="http://schemas.openxmlformats.org/officeDocument/2006/relationships/notesMaster" Target="/ppt/notesMasters/notesMaster1.xml" Id="Rd0d90ea73bcc4e7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b6d67c8fe0f42e2" /><Relationship Type="http://schemas.openxmlformats.org/officeDocument/2006/relationships/notesMaster" Target="/ppt/notesMasters/notesMaster1.xml" Id="Rc9f428232b2e449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e29b47d20b3441b" /><Relationship Type="http://schemas.openxmlformats.org/officeDocument/2006/relationships/notesMaster" Target="/ppt/notesMasters/notesMaster1.xml" Id="Re0ac4802025f44f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fff9c98fed2492c" /><Relationship Type="http://schemas.openxmlformats.org/officeDocument/2006/relationships/notesMaster" Target="/ppt/notesMasters/notesMaster1.xml" Id="Rc7800e41494f4d7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65e991055d846fd" /><Relationship Type="http://schemas.openxmlformats.org/officeDocument/2006/relationships/notesMaster" Target="/ppt/notesMasters/notesMaster1.xml" Id="R4f4274fbd61846b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64319c495674b4b" /><Relationship Type="http://schemas.openxmlformats.org/officeDocument/2006/relationships/notesMaster" Target="/ppt/notesMasters/notesMaster1.xml" Id="R45863f76b6294fd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e4ea67ac03d4903" /><Relationship Type="http://schemas.openxmlformats.org/officeDocument/2006/relationships/notesMaster" Target="/ppt/notesMasters/notesMaster1.xml" Id="Rfd459b98759f444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d319eb313264b6a" /><Relationship Type="http://schemas.openxmlformats.org/officeDocument/2006/relationships/notesMaster" Target="/ppt/notesMasters/notesMaster1.xml" Id="R98eb37f29b14411b"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ffbebb751624adc" /><Relationship Type="http://schemas.openxmlformats.org/officeDocument/2006/relationships/notesMaster" Target="/ppt/notesMasters/notesMaster1.xml" Id="R09f44f8e48a940c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b6c48eb55d940f2" /><Relationship Type="http://schemas.openxmlformats.org/officeDocument/2006/relationships/notesMaster" Target="/ppt/notesMasters/notesMaster1.xml" Id="R97f6923788804b9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35cb476ba3147de" /><Relationship Type="http://schemas.openxmlformats.org/officeDocument/2006/relationships/notesMaster" Target="/ppt/notesMasters/notesMaster1.xml" Id="Rbdf1ca01f2e34b3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a4909e0d5a34d81" /><Relationship Type="http://schemas.openxmlformats.org/officeDocument/2006/relationships/notesMaster" Target="/ppt/notesMasters/notesMaster1.xml" Id="Rd2fb352315c44f5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97da2da124247a4" /><Relationship Type="http://schemas.openxmlformats.org/officeDocument/2006/relationships/notesMaster" Target="/ppt/notesMasters/notesMaster1.xml" Id="R4d6c30f11b28428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012a842464b476c" /><Relationship Type="http://schemas.openxmlformats.org/officeDocument/2006/relationships/notesMaster" Target="/ppt/notesMasters/notesMaster1.xml" Id="Rbc7ceca3a9c9495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060c8c1136714f9a" /><Relationship Type="http://schemas.openxmlformats.org/officeDocument/2006/relationships/notesMaster" Target="/ppt/notesMasters/notesMaster1.xml" Id="Re9a57b8d14dc42f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92a203bf2424802" /><Relationship Type="http://schemas.openxmlformats.org/officeDocument/2006/relationships/notesMaster" Target="/ppt/notesMasters/notesMaster1.xml" Id="Re18521686ba94be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5474c5a800b2433d" /><Relationship Type="http://schemas.openxmlformats.org/officeDocument/2006/relationships/notesMaster" Target="/ppt/notesMasters/notesMaster1.xml" Id="R3684866dcb2f45c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29da7cb04d34280" /><Relationship Type="http://schemas.openxmlformats.org/officeDocument/2006/relationships/notesMaster" Target="/ppt/notesMasters/notesMaster1.xml" Id="R7a36e410200f413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a156fa504a4443f" /><Relationship Type="http://schemas.openxmlformats.org/officeDocument/2006/relationships/notesMaster" Target="/ppt/notesMasters/notesMaster1.xml" Id="Rd3ffa53a99024e3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58777e00c868497e" /><Relationship Type="http://schemas.openxmlformats.org/officeDocument/2006/relationships/notesMaster" Target="/ppt/notesMasters/notesMaster1.xml" Id="Rb2822b7a204242c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dfce4f0e72e47df" /><Relationship Type="http://schemas.openxmlformats.org/officeDocument/2006/relationships/notesMaster" Target="/ppt/notesMasters/notesMaster1.xml" Id="Rca5bcd662691423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057cd10701d4ace" /><Relationship Type="http://schemas.openxmlformats.org/officeDocument/2006/relationships/notesMaster" Target="/ppt/notesMasters/notesMaster1.xml" Id="R3774256378eb484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fedc872f6934603" /><Relationship Type="http://schemas.openxmlformats.org/officeDocument/2006/relationships/notesMaster" Target="/ppt/notesMasters/notesMaster1.xml" Id="R505ca7b1f9314e04"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7810548b9634b74" /><Relationship Type="http://schemas.openxmlformats.org/officeDocument/2006/relationships/notesMaster" Target="/ppt/notesMasters/notesMaster1.xml" Id="Rf4abb7d83deb443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6ef138cfa844d15" /><Relationship Type="http://schemas.openxmlformats.org/officeDocument/2006/relationships/notesMaster" Target="/ppt/notesMasters/notesMaster1.xml" Id="Rb02e8e97093d4c2a"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Lists loops and reading a table</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Lists loops and reading a table.</a:t>
            </a:r>
          </a:p>
          <a:p>
            <a:r>
              <a:t/>
            </a:r>
          </a:p>
          <a:p>
            <a:r>
              <a:t>LECTURER CUE</a:t>
            </a:r>
          </a:p>
          <a:p>
            <a:r>
              <a:t>Ask learners to explain this goal in ordinary language. The first successful attempt matters more than covering optional extensions. Defer: Nested comprehensions, arbitrary exception handling, a blank-page investigation and data-source hunting are later practice. Never use except: pass to silently erase evidence.</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trace the running total without executing and identify the numeric field in the real CSV. Revisit a three-item list if either step fails.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team records device temperature to investigate cooling. Use a communications cabinet, an electrical enclosure or a robot controller as the physical example. No specialist hardware knowledge is assumed.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List and index.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List and index</a:t>
            </a:r>
          </a:p>
          <a:p>
            <a:r>
              <a:t/>
            </a:r>
          </a:p>
          <a:p>
            <a:r>
              <a:t>CONNECT</a:t>
            </a:r>
          </a:p>
          <a:p>
            <a:r>
              <a:t>Build on the preceding slide: The engineering context.</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POINT TO THE DEFINITION</a:t>
            </a:r>
          </a:p>
          <a:p>
            <a:r>
              <a:t>List and index: A list holds values in order: [2, 4, 6]. Square brackets select a position. readings[0] selects the first item, 2.</a:t>
            </a:r>
          </a:p>
          <a:p>
            <a:r>
              <a:t/>
            </a:r>
          </a:p>
          <a:p>
            <a:r>
              <a:t>NEXT</a:t>
            </a:r>
          </a:p>
          <a:p>
            <a:r>
              <a:t>A list position starts at zero.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list position starts at zero</a:t>
            </a:r>
          </a:p>
          <a:p>
            <a:r>
              <a:t/>
            </a:r>
          </a:p>
          <a:p>
            <a:r>
              <a:t>CONNECT</a:t>
            </a:r>
          </a:p>
          <a:p>
            <a:r>
              <a:t>Build on the preceding slide: List and index.</a:t>
            </a:r>
          </a:p>
          <a:p>
            <a:r>
              <a:t/>
            </a:r>
          </a:p>
          <a:p>
            <a:r>
              <a:t>LECTURER CUE</a:t>
            </a:r>
          </a:p>
          <a:p>
            <a:r>
              <a:t>Draw three boxes labelled 0, 1 and 2 holding 2, 4 and 6. Read the first item aloud, then trace the loop by hand.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Read list operations.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list operations</a:t>
            </a:r>
          </a:p>
          <a:p>
            <a:r>
              <a:t/>
            </a:r>
          </a:p>
          <a:p>
            <a:r>
              <a:t>CONNECT</a:t>
            </a:r>
          </a:p>
          <a:p>
            <a:r>
              <a:t>Build on the preceding slide: A list position starts at zero.</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POINT TO THE DEFINITION</a:t>
            </a:r>
          </a:p>
          <a:p>
            <a:r>
              <a:t>append and len: readings.append(8) adds 8 to the end of the list. len(readings) counts its items. The dot selects an operation belonging to that object; parentheses call it.</a:t>
            </a:r>
          </a:p>
          <a:p>
            <a:r>
              <a:t>Slice: readings[1:3] selects positions 1 and 2. The stop position 3 is excluded. A slice produces a new list; it does not remove items from the original.</a:t>
            </a:r>
          </a:p>
          <a:p>
            <a:r>
              <a:t/>
            </a:r>
          </a:p>
          <a:p>
            <a:r>
              <a:t>NEXT</a:t>
            </a:r>
          </a:p>
          <a:p>
            <a:r>
              <a:t>A list stores items in order.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list stores items in order</a:t>
            </a:r>
          </a:p>
          <a:p>
            <a:r>
              <a:t/>
            </a:r>
          </a:p>
          <a:p>
            <a:r>
              <a:t>CONNECT</a:t>
            </a:r>
          </a:p>
          <a:p>
            <a:r>
              <a:t>Build on the preceding slide: Read list operations.</a:t>
            </a:r>
          </a:p>
          <a:p>
            <a:r>
              <a:t/>
            </a:r>
          </a:p>
          <a:p>
            <a:r>
              <a:t>LECTURER CUE</a:t>
            </a:r>
          </a:p>
          <a:p>
            <a:r>
              <a:t>Read each symbol before running. Ask everyone to predict. Expected output: 2 then 4 then [4, 6]. readings[4] would raise IndexError.</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print displays a value below the cell.</a:t>
            </a:r>
          </a:p>
          <a:p>
            <a:r>
              <a:t>append adds one item to the end of a list.</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Loop and iteration.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Loop and iteration</a:t>
            </a:r>
          </a:p>
          <a:p>
            <a:r>
              <a:t/>
            </a:r>
          </a:p>
          <a:p>
            <a:r>
              <a:t>CONNECT</a:t>
            </a:r>
          </a:p>
          <a:p>
            <a:r>
              <a:t>Build on the preceding slide: A list stores items in order.</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POINT TO THE DEFINITION</a:t>
            </a:r>
          </a:p>
          <a:p>
            <a:r>
              <a:t>Loop and iteration: A for loop runs its indented body once per item. Each pass is one iteration.</a:t>
            </a:r>
          </a:p>
          <a:p>
            <a:r>
              <a:t/>
            </a:r>
          </a:p>
          <a:p>
            <a:r>
              <a:t>NEXT</a:t>
            </a:r>
          </a:p>
          <a:p>
            <a:r>
              <a:t>Accumulator.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Accumulator</a:t>
            </a:r>
          </a:p>
          <a:p>
            <a:r>
              <a:t/>
            </a:r>
          </a:p>
          <a:p>
            <a:r>
              <a:t>CONNECT</a:t>
            </a:r>
          </a:p>
          <a:p>
            <a:r>
              <a:t>Build on the preceding slide: Loop and iteration.</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POINT TO THE DEFINITION</a:t>
            </a:r>
          </a:p>
          <a:p>
            <a:r>
              <a:t>Accumulator: A running total. Set it to zero before the loop, add inside the loop, and read the final total afterward.</a:t>
            </a:r>
          </a:p>
          <a:p>
            <a:r>
              <a:t/>
            </a:r>
          </a:p>
          <a:p>
            <a:r>
              <a:t>NEXT</a:t>
            </a:r>
          </a:p>
          <a:p>
            <a:r>
              <a:t>A loop repeats an indented block.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loop repeats an indented block</a:t>
            </a:r>
          </a:p>
          <a:p>
            <a:r>
              <a:t/>
            </a:r>
          </a:p>
          <a:p>
            <a:r>
              <a:t>CONNECT</a:t>
            </a:r>
          </a:p>
          <a:p>
            <a:r>
              <a:t>Build on the preceding slide: Accumulator.</a:t>
            </a:r>
          </a:p>
          <a:p>
            <a:r>
              <a:t/>
            </a:r>
          </a:p>
          <a:p>
            <a:r>
              <a:t>LECTURER CUE</a:t>
            </a:r>
          </a:p>
          <a:p>
            <a:r>
              <a:t>Trace the native loop table that follows. Predict total after each item. An empty list needs a guard before dividing by its length.</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A mean uses a total and a count.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mean uses a total and a count</a:t>
            </a:r>
          </a:p>
          <a:p>
            <a:r>
              <a:t/>
            </a:r>
          </a:p>
          <a:p>
            <a:r>
              <a:t>CONNECT</a:t>
            </a:r>
          </a:p>
          <a:p>
            <a:r>
              <a:t>Build on the preceding slide: A loop repeats an indented block.</a:t>
            </a:r>
          </a:p>
          <a:p>
            <a:r>
              <a:t/>
            </a:r>
          </a:p>
          <a:p>
            <a:r>
              <a:t>LECTURER CUE</a:t>
            </a:r>
          </a:p>
          <a:p>
            <a:r>
              <a:t>Make a table with columns reading and total: (2,2), (4,6), (6,12). len(readings) counts three items. 12 / 3 is 4.</a:t>
            </a:r>
          </a:p>
          <a:p>
            <a:r>
              <a:t/>
            </a:r>
          </a:p>
          <a:p>
            <a:r>
              <a:t>EXPLAIN IN ORDINARY WORDS</a:t>
            </a:r>
          </a:p>
          <a:p>
            <a:r>
              <a:t>A combined mean is the combined total divided by the combined count. Averaging group means equally gives each group equal influence regardless of size.</a:t>
            </a:r>
          </a:p>
          <a:p>
            <a:r>
              <a:t/>
            </a:r>
          </a:p>
          <a:p>
            <a:r>
              <a:t>CHECK AND EXPECTED ANSWER</a:t>
            </a:r>
          </a:p>
          <a:p>
            <a:r>
              <a:t>Group A: one value 10; group B: three values 2. Overall mean is 16/4=4, not (10+2)/2=6.</a:t>
            </a:r>
          </a:p>
          <a:p>
            <a:r>
              <a:t/>
            </a:r>
          </a:p>
          <a:p>
            <a:r>
              <a:t>IF LEARNERS ARE STUCK</a:t>
            </a:r>
          </a:p>
          <a:p>
            <a:r>
              <a:t>Recover each group total as mean times count, add totals, then divide by all observations.</a:t>
            </a:r>
          </a:p>
          <a:p>
            <a:r>
              <a:t/>
            </a:r>
          </a:p>
          <a:p>
            <a:r>
              <a:t>NEXT</a:t>
            </a:r>
          </a:p>
          <a:p>
            <a:r>
              <a:t>A loop changes the running total.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loop changes the running total</a:t>
            </a:r>
          </a:p>
          <a:p>
            <a:r>
              <a:t/>
            </a:r>
          </a:p>
          <a:p>
            <a:r>
              <a:t>CONNECT</a:t>
            </a:r>
          </a:p>
          <a:p>
            <a:r>
              <a:t>Build on the preceding slide: A mean uses a total and a count.</a:t>
            </a:r>
          </a:p>
          <a:p>
            <a:r>
              <a:t/>
            </a:r>
          </a:p>
          <a:p>
            <a:r>
              <a:t>LECTURER CUE</a:t>
            </a:r>
          </a:p>
          <a:p>
            <a:r>
              <a:t>The displayed mean is rounded to two decimals. Keep full precision in calculations. This larger illustration follows the same rule as our smaller 2, 4, 6 example.</a:t>
            </a:r>
          </a:p>
          <a:p>
            <a:r>
              <a:t>Source: existing course illustration figs/accumulator_trace.png. These are illustrative examples, not this cohort’s assessed results.</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Tracing the loop.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Tracing the loop</a:t>
            </a:r>
          </a:p>
          <a:p>
            <a:r>
              <a:t/>
            </a:r>
          </a:p>
          <a:p>
            <a:r>
              <a:t>CONNECT</a:t>
            </a:r>
          </a:p>
          <a:p>
            <a:r>
              <a:t>Build on the preceding slide: A loop changes the running total.</a:t>
            </a:r>
          </a:p>
          <a:p>
            <a:r>
              <a:t/>
            </a:r>
          </a:p>
          <a:p>
            <a:r>
              <a:t>LECTURER CUE</a:t>
            </a:r>
          </a:p>
          <a:p>
            <a:r>
              <a:t>There are three readings. The mean is 12 / 3 = 4. Reset total before repeating the calculation.</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Tracing the loop.</a:t>
            </a:r>
          </a:p>
          <a:p>
            <a:r>
              <a:t/>
            </a:r>
          </a:p>
          <a:p>
            <a:r>
              <a:t>LECTURER CUE</a:t>
            </a:r>
          </a:p>
          <a:p>
            <a:r>
              <a:t>Draw three boxes labelled 0, 1 and 2 holding 2, 4 and 6. Read the first item aloud, then trace the loop by hand. Make a table with columns reading and total: (2,2), (4,6), (6,12). len(readings) counts three items. 12 / 3 is 4. Before a real CSV, show a two-line text extract and name its header. Open the issued CSV together. Explain csv.DictReader as one dictionary per row. Convert only the numeric column and state what should happen to an invalid value.</a:t>
            </a:r>
          </a:p>
          <a:p>
            <a:r>
              <a:t/>
            </a:r>
          </a:p>
          <a:p>
            <a:r>
              <a:t>Complete practice code:</a:t>
            </a:r>
          </a:p>
          <a:p>
            <a:r>
              <a:t>readings = [2, 4, 6]</a:t>
            </a:r>
          </a:p>
          <a:p>
            <a:r>
              <a:t>total = 0</a:t>
            </a:r>
          </a:p>
          <a:p>
            <a:r>
              <a:t>for reading in readings:</a:t>
            </a:r>
          </a:p>
          <a:p>
            <a:r>
              <a:t>    total = total + reading</a:t>
            </a:r>
          </a:p>
          <a:p>
            <a:r>
              <a:t>mean = total / len(readings)</a:t>
            </a:r>
          </a:p>
          <a:p>
            <a:r>
              <a:t>print(mean)</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for takes the next item. The indented block repeats.</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Dictionary.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Dictionary</a:t>
            </a:r>
          </a:p>
          <a:p>
            <a:r>
              <a:t/>
            </a:r>
          </a:p>
          <a:p>
            <a:r>
              <a:t>CONNECT</a:t>
            </a:r>
          </a:p>
          <a:p>
            <a:r>
              <a:t>Build on the preceding slide: Expected output.</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POINT TO THE DEFINITION</a:t>
            </a:r>
          </a:p>
          <a:p>
            <a:r>
              <a:t>Dictionary: A collection of named values such as {"temperature_c": 25}. Access the value with row["temperature_c"].</a:t>
            </a:r>
          </a:p>
          <a:p>
            <a:r>
              <a:t/>
            </a:r>
          </a:p>
          <a:p>
            <a:r>
              <a:t>NEXT</a:t>
            </a:r>
          </a:p>
          <a:p>
            <a:r>
              <a:t>Read dictionary operations.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dictionary operations</a:t>
            </a:r>
          </a:p>
          <a:p>
            <a:r>
              <a:t/>
            </a:r>
          </a:p>
          <a:p>
            <a:r>
              <a:t>CONNECT</a:t>
            </a:r>
          </a:p>
          <a:p>
            <a:r>
              <a:t>Build on the preceding slide: Dictionary.</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POINT TO THE DEFINITION</a:t>
            </a:r>
          </a:p>
          <a:p>
            <a:r>
              <a:t>Key and lookup: A key is the name used to find a value. record["reading"] looks up that key. record.get("missing", 0) returns 0 if the key is absent.</a:t>
            </a:r>
          </a:p>
          <a:p>
            <a:r>
              <a:t>items and paired names: record.items() supplies key/value pairs. for key, value in ... puts each pair into two names, then runs the indented block once for that pair.</a:t>
            </a:r>
          </a:p>
          <a:p>
            <a:r>
              <a:t/>
            </a:r>
          </a:p>
          <a:p>
            <a:r>
              <a:t>NEXT</a:t>
            </a:r>
          </a:p>
          <a:p>
            <a:r>
              <a:t>Dictionary lookups and list slices.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Dictionary lookups and list slices</a:t>
            </a:r>
          </a:p>
          <a:p>
            <a:r>
              <a:t/>
            </a:r>
          </a:p>
          <a:p>
            <a:r>
              <a:t>CONNECT</a:t>
            </a:r>
          </a:p>
          <a:p>
            <a:r>
              <a:t>Build on the preceding slide: Read dictionary operations.</a:t>
            </a:r>
          </a:p>
          <a:p>
            <a:r>
              <a:t/>
            </a:r>
          </a:p>
          <a:p>
            <a:r>
              <a:t>LECTURER CUE</a:t>
            </a:r>
          </a:p>
          <a:p>
            <a:r>
              <a:t>Read one row at a time and use a changed value. This is a syntax reference for the worked examples.</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position and a key find different things.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position and a key find different things</a:t>
            </a:r>
          </a:p>
          <a:p>
            <a:r>
              <a:t/>
            </a:r>
          </a:p>
          <a:p>
            <a:r>
              <a:t>CONNECT</a:t>
            </a:r>
          </a:p>
          <a:p>
            <a:r>
              <a:t>Build on the preceding slide: Dictionary lookups and list slices.</a:t>
            </a:r>
          </a:p>
          <a:p>
            <a:r>
              <a:t/>
            </a:r>
          </a:p>
          <a:p>
            <a:r>
              <a:t>LECTURER CUE</a:t>
            </a:r>
          </a:p>
          <a:p>
            <a:r>
              <a:t>Ask students to describe what they see before introducing terminology. Generated conceptual teaching illustration.  Source: figs/experiential/ASSET_SOURCES.md.</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A dictionary gives each value a key.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dictionary gives each value a key</a:t>
            </a:r>
          </a:p>
          <a:p>
            <a:r>
              <a:t/>
            </a:r>
          </a:p>
          <a:p>
            <a:r>
              <a:t>CONNECT</a:t>
            </a:r>
          </a:p>
          <a:p>
            <a:r>
              <a:t>Build on the preceding slide: A position and a key find different things.</a:t>
            </a:r>
          </a:p>
          <a:p>
            <a:r>
              <a:t/>
            </a:r>
          </a:p>
          <a:p>
            <a:r>
              <a:t>LECTURER CUE</a:t>
            </a:r>
          </a:p>
          <a:p>
            <a:r>
              <a:t>Read each symbol before running. Ask everyone to predict. Expected output: 4, then 0, then unit A and reading 6. Dictionaries preserve insertion order, but access by key is the important distinction. An unknown key with [] raises KeyError.</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WALK THROUGH THIS CODE</a:t>
            </a:r>
          </a:p>
          <a:p>
            <a:r>
              <a:t>for takes the next item. The indented block repeats.</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Three ways to collect values.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Three ways to collect values</a:t>
            </a:r>
          </a:p>
          <a:p>
            <a:r>
              <a:t/>
            </a:r>
          </a:p>
          <a:p>
            <a:r>
              <a:t>CONNECT</a:t>
            </a:r>
          </a:p>
          <a:p>
            <a:r>
              <a:t>Build on the preceding slide: A dictionary gives each value a key.</a:t>
            </a:r>
          </a:p>
          <a:p>
            <a:r>
              <a:t/>
            </a:r>
          </a:p>
          <a:p>
            <a:r>
              <a:t>LECTURER CUE</a:t>
            </a:r>
          </a:p>
          <a:p>
            <a:r>
              <a:t>A dictionary uses key: value pairs, such as {"reading": 4}.</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CSV and header.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CSV and header</a:t>
            </a:r>
          </a:p>
          <a:p>
            <a:r>
              <a:t/>
            </a:r>
          </a:p>
          <a:p>
            <a:r>
              <a:t>CONNECT</a:t>
            </a:r>
          </a:p>
          <a:p>
            <a:r>
              <a:t>Build on the preceding slide: Three ways to collect values.</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POINT TO THE DEFINITION</a:t>
            </a:r>
          </a:p>
          <a:p>
            <a:r>
              <a:t>CSV and header: CSV means comma-separated values. One line usually represents one record; a header names the columns. CSV numbers arrive as text and may need float conversion.</a:t>
            </a:r>
          </a:p>
          <a:p>
            <a:r>
              <a:t/>
            </a:r>
          </a:p>
          <a:p>
            <a:r>
              <a:t>NEXT</a:t>
            </a:r>
          </a:p>
          <a:p>
            <a:r>
              <a:t>One record at a time.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One record at a time</a:t>
            </a:r>
          </a:p>
          <a:p>
            <a:r>
              <a:t/>
            </a:r>
          </a:p>
          <a:p>
            <a:r>
              <a:t>CONNECT</a:t>
            </a:r>
          </a:p>
          <a:p>
            <a:r>
              <a:t>Build on the preceding slide: CSV and header.</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A CSV file has a header and text values.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CSV file has a header and text values</a:t>
            </a:r>
          </a:p>
          <a:p>
            <a:r>
              <a:t/>
            </a:r>
          </a:p>
          <a:p>
            <a:r>
              <a:t>CONNECT</a:t>
            </a:r>
          </a:p>
          <a:p>
            <a:r>
              <a:t>Build on the preceding slide: One record at a time.</a:t>
            </a:r>
          </a:p>
          <a:p>
            <a:r>
              <a:t/>
            </a:r>
          </a:p>
          <a:p>
            <a:r>
              <a:t>LECTURER CUE</a:t>
            </a:r>
          </a:p>
          <a:p>
            <a:r>
              <a:t>Read one row at a time and use a changed value. This is a syntax reference for the worked examples.</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CSV row becomes a dictionary.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CSV row becomes a dictionary</a:t>
            </a:r>
          </a:p>
          <a:p>
            <a:r>
              <a:t/>
            </a:r>
          </a:p>
          <a:p>
            <a:r>
              <a:t>CONNECT</a:t>
            </a:r>
          </a:p>
          <a:p>
            <a:r>
              <a:t>Build on the preceding slide: A CSV file has a header and text values.</a:t>
            </a:r>
          </a:p>
          <a:p>
            <a:r>
              <a:t/>
            </a:r>
          </a:p>
          <a:p>
            <a:r>
              <a:t>LECTURER CUE</a:t>
            </a:r>
          </a:p>
          <a:p>
            <a:r>
              <a:t>Before a real CSV, show a two-line text extract and name its header. Open the issued CSV together. Explain csv.DictReader as one dictionary per row. Convert only the numeric column and state what should happen to an invalid value.</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with and import.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with and import</a:t>
            </a:r>
          </a:p>
          <a:p>
            <a:r>
              <a:t/>
            </a:r>
          </a:p>
          <a:p>
            <a:r>
              <a:t>CONNECT</a:t>
            </a:r>
          </a:p>
          <a:p>
            <a:r>
              <a:t>Build on the preceding slide: A CSV row becomes a dictionary.</a:t>
            </a:r>
          </a:p>
          <a:p>
            <a:r>
              <a:t/>
            </a:r>
          </a:p>
          <a:p>
            <a:r>
              <a:t>POINT TO THE DEFINITION</a:t>
            </a:r>
          </a:p>
          <a:p>
            <a:r>
              <a:t>with and import: import makes library tools available. with open(...) opens a file for a block and closes it afterward. A filename must match an existing file in the working folder.</a:t>
            </a:r>
          </a:p>
          <a:p>
            <a:r>
              <a:t/>
            </a:r>
          </a:p>
          <a:p>
            <a:r>
              <a:t>NEXT</a:t>
            </a:r>
          </a:p>
          <a:p>
            <a:r>
              <a:t>Your cohort data.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cohort data</a:t>
            </a:r>
          </a:p>
          <a:p>
            <a:r>
              <a:t/>
            </a:r>
          </a:p>
          <a:p>
            <a:r>
              <a:t>CONNECT</a:t>
            </a:r>
          </a:p>
          <a:p>
            <a:r>
              <a:t>Build on the preceding slide: with and import.</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Read the supplied CSV in four steps.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supplied CSV in four steps</a:t>
            </a:r>
          </a:p>
          <a:p>
            <a:r>
              <a:t/>
            </a:r>
          </a:p>
          <a:p>
            <a:r>
              <a:t>CONNECT</a:t>
            </a:r>
          </a:p>
          <a:p>
            <a:r>
              <a:t>Build on the preceding slide: Your cohort data.</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Open a real CSV and inspect its first row.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Open a real CSV and inspect its first row</a:t>
            </a:r>
          </a:p>
          <a:p>
            <a:r>
              <a:t/>
            </a:r>
          </a:p>
          <a:p>
            <a:r>
              <a:t>CONNECT</a:t>
            </a:r>
          </a:p>
          <a:p>
            <a:r>
              <a:t>Build on the preceding slide: Read the supplied CSV in four steps.</a:t>
            </a:r>
          </a:p>
          <a:p>
            <a:r>
              <a:t/>
            </a:r>
          </a:p>
          <a:p>
            <a:r>
              <a:t>LECTURER CUE</a:t>
            </a:r>
          </a:p>
          <a:p>
            <a:r>
              <a:t>Read the actual keys and text values. Check the uploaded filename if Python reports FileNotFoundError.</a:t>
            </a:r>
          </a:p>
          <a:p>
            <a:r>
              <a:t/>
            </a:r>
          </a:p>
          <a:p>
            <a:r>
              <a:t>Complete practice code:</a:t>
            </a:r>
          </a:p>
          <a:p>
            <a:r>
              <a:t>import csv</a:t>
            </a:r>
          </a:p>
          <a:p>
            <a:r>
              <a:t>with open("motor_test_bench.csv", newline="") as source:</a:t>
            </a:r>
          </a:p>
          <a:p>
            <a:r>
              <a:t>    rows = list(csv.DictReader(source))</a:t>
            </a:r>
          </a:p>
          <a:p>
            <a:r>
              <a:t>print(rows[0])</a:t>
            </a:r>
          </a:p>
          <a:p>
            <a:r>
              <a:t>print(len(rows))</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WALK THROUGH THIS CODE</a:t>
            </a:r>
          </a:p>
          <a:p>
            <a:r>
              <a:t>import loads a library. from selects a tool from it.</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 record and a growing list.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record and a growing list</a:t>
            </a:r>
          </a:p>
          <a:p>
            <a:r>
              <a:t/>
            </a:r>
          </a:p>
          <a:p>
            <a:r>
              <a:t>CONNECT</a:t>
            </a:r>
          </a:p>
          <a:p>
            <a:r>
              <a:t>Build on the preceding slide: Open a real CSV and inspect its first row.</a:t>
            </a:r>
          </a:p>
          <a:p>
            <a:r>
              <a:t/>
            </a:r>
          </a:p>
          <a:p>
            <a:r>
              <a:t>LECTURER CUE</a:t>
            </a:r>
          </a:p>
          <a:p>
            <a:r>
              <a:t>Braces pair a key with its value. append adds one value to the end of a list. The same pattern works after reading a CSV row.</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A record and a growing list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record and a growing list in Python</a:t>
            </a:r>
          </a:p>
          <a:p>
            <a:r>
              <a:t/>
            </a:r>
          </a:p>
          <a:p>
            <a:r>
              <a:t>CONNECT</a:t>
            </a:r>
          </a:p>
          <a:p>
            <a:r>
              <a:t>Build on the preceding slide: A record and a growing list.</a:t>
            </a:r>
          </a:p>
          <a:p>
            <a:r>
              <a:t/>
            </a:r>
          </a:p>
          <a:p>
            <a:r>
              <a:t>LECTURER CUE</a:t>
            </a:r>
          </a:p>
          <a:p>
            <a:r>
              <a:t>Braces pair a key with its value. append adds one value to the end of a list. The same pattern works after reading a CSV row.</a:t>
            </a:r>
          </a:p>
          <a:p>
            <a:r>
              <a:t/>
            </a:r>
          </a:p>
          <a:p>
            <a:r>
              <a:t>Complete practice code:</a:t>
            </a:r>
          </a:p>
          <a:p>
            <a:r>
              <a:t>records = [{"sensor": "A", "reading": "2.5"},</a:t>
            </a:r>
          </a:p>
          <a:p>
            <a:r>
              <a:t>           {"sensor": "B", "reading": "3.5"}]</a:t>
            </a:r>
          </a:p>
          <a:p>
            <a:r>
              <a:t>values = []</a:t>
            </a:r>
          </a:p>
          <a:p>
            <a:r>
              <a:t>for row in records:</a:t>
            </a:r>
          </a:p>
          <a:p>
            <a:r>
              <a:t>    values.append(float(row["reading"]))</a:t>
            </a:r>
          </a:p>
          <a:p>
            <a:r>
              <a:t>print(values)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for takes the next item. The indented block repeats.</a:t>
            </a:r>
          </a:p>
          <a:p>
            <a:r>
              <a:t>float converts numeric text into a decimal number.</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Skip a blank before converting 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Skip a blank before converting text</a:t>
            </a:r>
          </a:p>
          <a:p>
            <a:r>
              <a:t/>
            </a:r>
          </a:p>
          <a:p>
            <a:r>
              <a:t>CONNECT</a:t>
            </a:r>
          </a:p>
          <a:p>
            <a:r>
              <a:t>Build on the preceding slide: A record and a growing list in Python.</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Collect only the recorded numbers.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Collect only the recorded numbers</a:t>
            </a:r>
          </a:p>
          <a:p>
            <a:r>
              <a:t/>
            </a:r>
          </a:p>
          <a:p>
            <a:r>
              <a:t>CONNECT</a:t>
            </a:r>
          </a:p>
          <a:p>
            <a:r>
              <a:t>Build on the preceding slide: Skip a blank before converting text.</a:t>
            </a:r>
          </a:p>
          <a:p>
            <a:r>
              <a:t/>
            </a:r>
          </a:p>
          <a:p>
            <a:r>
              <a:t>LECTURER CUE</a:t>
            </a:r>
          </a:p>
          <a:p>
            <a:r>
              <a:t>Expected: 2 [2.5, 3.5]. A blank is missing, not a recorded zero.</a:t>
            </a:r>
          </a:p>
          <a:p>
            <a:r>
              <a:t/>
            </a:r>
          </a:p>
          <a:p>
            <a:r>
              <a:t>Complete practice code:</a:t>
            </a:r>
          </a:p>
          <a:p>
            <a:r>
              <a:t>text_values = ["2.5", "", "3.5"]</a:t>
            </a:r>
          </a:p>
          <a:p>
            <a:r>
              <a:t>values = []</a:t>
            </a:r>
          </a:p>
          <a:p>
            <a:r>
              <a:t>for text in text_values:</a:t>
            </a:r>
          </a:p>
          <a:p>
            <a:r>
              <a:t>    if text != "":</a:t>
            </a:r>
          </a:p>
          <a:p>
            <a:r>
              <a:t>        values.append(float(text))</a:t>
            </a:r>
          </a:p>
          <a:p>
            <a:r>
              <a:t>print(len(values), values)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WALK THROUGH THIS CODE</a:t>
            </a:r>
          </a:p>
          <a:p>
            <a:r>
              <a:t>for takes the next item. The indented block repeats.</a:t>
            </a:r>
          </a:p>
          <a:p>
            <a:r>
              <a:t>if tests a condition. The chosen indented block runs.</a:t>
            </a:r>
          </a:p>
          <a:p>
            <a:r>
              <a:t>float converts numeric text into a decimal number.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Summaries for separate groups.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for separate groups</a:t>
            </a:r>
          </a:p>
          <a:p>
            <a:r>
              <a:t/>
            </a:r>
          </a:p>
          <a:p>
            <a:r>
              <a:t>CONNECT</a:t>
            </a:r>
          </a:p>
          <a:p>
            <a:r>
              <a:t>Build on the preceding slide: Collect only the recorded numbers.</a:t>
            </a:r>
          </a:p>
          <a:p>
            <a:r>
              <a:t/>
            </a:r>
          </a:p>
          <a:p>
            <a:r>
              <a:t>LECTURER CUE</a:t>
            </a:r>
          </a:p>
          <a:p>
            <a:r>
              <a:t>A dictionary can hold one running total for each group. An absent key needs an initial zero. Then add the reading to that group. To calculate group means, keep a matching count and divide each group total by its own count.</a:t>
            </a:r>
          </a:p>
          <a:p>
            <a:r>
              <a:t/>
            </a:r>
          </a:p>
          <a:p>
            <a:r>
              <a:t>EXPLAIN IN ORDINARY WORDS</a:t>
            </a:r>
          </a:p>
          <a:p>
            <a:r>
              <a:t>A combined mean is the combined total divided by the combined count. Averaging group means equally gives each group equal influence regardless of size.</a:t>
            </a:r>
          </a:p>
          <a:p>
            <a:r>
              <a:t/>
            </a:r>
          </a:p>
          <a:p>
            <a:r>
              <a:t>CHECK AND EXPECTED ANSWER</a:t>
            </a:r>
          </a:p>
          <a:p>
            <a:r>
              <a:t>Group A: one value 10; group B: three values 2. Overall mean is 16/4=4, not (10+2)/2=6.</a:t>
            </a:r>
          </a:p>
          <a:p>
            <a:r>
              <a:t/>
            </a:r>
          </a:p>
          <a:p>
            <a:r>
              <a:t>IF LEARNERS ARE STUCK</a:t>
            </a:r>
          </a:p>
          <a:p>
            <a:r>
              <a:t>Recover each group total as mean times count, add totals, then divide by all observations.</a:t>
            </a:r>
          </a:p>
          <a:p>
            <a:r>
              <a:t/>
            </a:r>
          </a:p>
          <a:p>
            <a:r>
              <a:t>NEXT</a:t>
            </a:r>
          </a:p>
          <a:p>
            <a:r>
              <a:t>Summaries for separate groups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for separate groups in Python (1/2)</a:t>
            </a:r>
          </a:p>
          <a:p>
            <a:r>
              <a:t/>
            </a:r>
          </a:p>
          <a:p>
            <a:r>
              <a:t>CONNECT</a:t>
            </a:r>
          </a:p>
          <a:p>
            <a:r>
              <a:t>Build on the preceding slide: Summaries for separate groups.</a:t>
            </a:r>
          </a:p>
          <a:p>
            <a:r>
              <a:t/>
            </a:r>
          </a:p>
          <a:p>
            <a:r>
              <a:t>LECTURER CUE</a:t>
            </a:r>
          </a:p>
          <a:p>
            <a:r>
              <a:t>A dictionary can hold one running total for each group. An absent key needs an initial zero. Then add the reading to that group. To calculate group means, keep a matching count and divide each group total by its own count.</a:t>
            </a:r>
          </a:p>
          <a:p>
            <a:r>
              <a:t/>
            </a:r>
          </a:p>
          <a:p>
            <a:r>
              <a:t>Complete practice code:</a:t>
            </a:r>
          </a:p>
          <a:p>
            <a:r>
              <a:t>records = [{"group": "A", "reading": 2},</a:t>
            </a:r>
          </a:p>
          <a:p>
            <a:r>
              <a:t>           {"group": "A", "reading": 4},</a:t>
            </a:r>
          </a:p>
          <a:p>
            <a:r>
              <a:t>           {"group": "B", "reading": 9}]</a:t>
            </a:r>
          </a:p>
          <a:p>
            <a:r>
              <a:t>totals = {}</a:t>
            </a:r>
          </a:p>
          <a:p>
            <a:r>
              <a:t>for row in records:</a:t>
            </a:r>
          </a:p>
          <a:p>
            <a:r>
              <a:t>    group = row["group"]</a:t>
            </a:r>
          </a:p>
          <a:p>
            <a:r>
              <a:t>    if group not in totals:</a:t>
            </a:r>
          </a:p>
          <a:p>
            <a:r>
              <a:t>        totals[group] = 0</a:t>
            </a:r>
          </a:p>
          <a:p>
            <a:r>
              <a:t>    totals[group] = totals[group] + row["reading"]</a:t>
            </a:r>
          </a:p>
          <a:p>
            <a:r>
              <a:t>print(totals)</a:t>
            </a:r>
          </a:p>
          <a:p>
            <a:r>
              <a:t/>
            </a:r>
          </a:p>
          <a:p>
            <a:r>
              <a:t>WALK THROUGH THIS CODE</a:t>
            </a:r>
          </a:p>
          <a:p>
            <a:r>
              <a:t>for takes the next item. The indented block repeats.</a:t>
            </a:r>
          </a:p>
          <a:p>
            <a:r>
              <a:t>if tests a condition. The chosen indented block runs.</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Summaries for separate groups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for separate groups in Python (2/2)</a:t>
            </a:r>
          </a:p>
          <a:p>
            <a:r>
              <a:t/>
            </a:r>
          </a:p>
          <a:p>
            <a:r>
              <a:t>CONNECT</a:t>
            </a:r>
          </a:p>
          <a:p>
            <a:r>
              <a:t>Build on the preceding slide: Summaries for separate groups in Python (1/2).</a:t>
            </a:r>
          </a:p>
          <a:p>
            <a:r>
              <a:t/>
            </a:r>
          </a:p>
          <a:p>
            <a:r>
              <a:t>LECTURER CUE</a:t>
            </a:r>
          </a:p>
          <a:p>
            <a:r>
              <a:t>A dictionary can hold one running total for each group. An absent key needs an initial zero. Then add the reading to that group. To calculate group means, keep a matching count and divide each group total by its own count.</a:t>
            </a:r>
          </a:p>
          <a:p>
            <a:r>
              <a:t/>
            </a:r>
          </a:p>
          <a:p>
            <a:r>
              <a:t>Complete practice code:</a:t>
            </a:r>
          </a:p>
          <a:p>
            <a:r>
              <a:t>records = [{"group": "A", "reading": 2},</a:t>
            </a:r>
          </a:p>
          <a:p>
            <a:r>
              <a:t>           {"group": "A", "reading": 4},</a:t>
            </a:r>
          </a:p>
          <a:p>
            <a:r>
              <a:t>           {"group": "B", "reading": 9}]</a:t>
            </a:r>
          </a:p>
          <a:p>
            <a:r>
              <a:t>totals = {}</a:t>
            </a:r>
          </a:p>
          <a:p>
            <a:r>
              <a:t>for row in records:</a:t>
            </a:r>
          </a:p>
          <a:p>
            <a:r>
              <a:t>    group = row["group"]</a:t>
            </a:r>
          </a:p>
          <a:p>
            <a:r>
              <a:t>    if group not in totals:</a:t>
            </a:r>
          </a:p>
          <a:p>
            <a:r>
              <a:t>        totals[group] = 0</a:t>
            </a:r>
          </a:p>
          <a:p>
            <a:r>
              <a:t>    totals[group] = totals[group] + row["reading"]</a:t>
            </a:r>
          </a:p>
          <a:p>
            <a:r>
              <a:t>print(totals)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 group mean needs its own count.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group mean needs its own count</a:t>
            </a:r>
          </a:p>
          <a:p>
            <a:r>
              <a:t/>
            </a:r>
          </a:p>
          <a:p>
            <a:r>
              <a:t>CONNECT</a:t>
            </a:r>
          </a:p>
          <a:p>
            <a:r>
              <a:t>Build on the preceding slide: Summaries for separate groups in Python (2/2).</a:t>
            </a:r>
          </a:p>
          <a:p>
            <a:r>
              <a:t/>
            </a:r>
          </a:p>
          <a:p>
            <a:r>
              <a:t>EXPLAIN IN ORDINARY WORDS</a:t>
            </a:r>
          </a:p>
          <a:p>
            <a:r>
              <a:t>A combined mean is the combined total divided by the combined count. Averaging group means equally gives each group equal influence regardless of size.</a:t>
            </a:r>
          </a:p>
          <a:p>
            <a:r>
              <a:t/>
            </a:r>
          </a:p>
          <a:p>
            <a:r>
              <a:t>CHECK AND EXPECTED ANSWER</a:t>
            </a:r>
          </a:p>
          <a:p>
            <a:r>
              <a:t>Group A: one value 10; group B: three values 2. Overall mean is 16/4=4, not (10+2)/2=6.</a:t>
            </a:r>
          </a:p>
          <a:p>
            <a:r>
              <a:t/>
            </a:r>
          </a:p>
          <a:p>
            <a:r>
              <a:t>IF LEARNERS ARE STUCK</a:t>
            </a:r>
          </a:p>
          <a:p>
            <a:r>
              <a:t>Recover each group total as mean times count, add totals, then divide by all observations.</a:t>
            </a:r>
          </a:p>
          <a:p>
            <a:r>
              <a:t/>
            </a:r>
          </a:p>
          <a:p>
            <a:r>
              <a:t>NEXT</a:t>
            </a:r>
          </a:p>
          <a:p>
            <a:r>
              <a:t>From group totals to group means.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From group totals to group means</a:t>
            </a:r>
          </a:p>
          <a:p>
            <a:r>
              <a:t/>
            </a:r>
          </a:p>
          <a:p>
            <a:r>
              <a:t>CONNECT</a:t>
            </a:r>
          </a:p>
          <a:p>
            <a:r>
              <a:t>Build on the preceding slide: A group mean needs its own count.</a:t>
            </a:r>
          </a:p>
          <a:p>
            <a:r>
              <a:t/>
            </a:r>
          </a:p>
          <a:p>
            <a:r>
              <a:t>LECTURER CUE</a:t>
            </a:r>
          </a:p>
          <a:p>
            <a:r>
              <a:t>Expected: A has mean 3.0 and B has mean 9.0. Each group uses its own denominator.</a:t>
            </a:r>
          </a:p>
          <a:p>
            <a:r>
              <a:t/>
            </a:r>
          </a:p>
          <a:p>
            <a:r>
              <a:t>Complete practice code:</a:t>
            </a:r>
          </a:p>
          <a:p>
            <a:r>
              <a:t>counts = {}</a:t>
            </a:r>
          </a:p>
          <a:p>
            <a:r>
              <a:t>for row in records:</a:t>
            </a:r>
          </a:p>
          <a:p>
            <a:r>
              <a:t>    group = row["group"]</a:t>
            </a:r>
          </a:p>
          <a:p>
            <a:r>
              <a:t>    counts[group] = counts.get(group, 0) + 1</a:t>
            </a:r>
          </a:p>
          <a:p>
            <a:r>
              <a:t>means = {}</a:t>
            </a:r>
          </a:p>
          <a:p>
            <a:r>
              <a:t>for group, total in totals.items():</a:t>
            </a:r>
          </a:p>
          <a:p>
            <a:r>
              <a:t>    means[group] = total / counts[group]</a:t>
            </a:r>
          </a:p>
          <a:p>
            <a:r>
              <a:t>print(means)</a:t>
            </a:r>
          </a:p>
          <a:p>
            <a:r>
              <a:t/>
            </a:r>
          </a:p>
          <a:p>
            <a:r>
              <a:t>EXPLAIN IN ORDINARY WORDS</a:t>
            </a:r>
          </a:p>
          <a:p>
            <a:r>
              <a:t>A combined mean is the combined total divided by the combined count. Averaging group means equally gives each group equal influence regardless of size.</a:t>
            </a:r>
          </a:p>
          <a:p>
            <a:r>
              <a:t/>
            </a:r>
          </a:p>
          <a:p>
            <a:r>
              <a:t>CHECK AND EXPECTED ANSWER</a:t>
            </a:r>
          </a:p>
          <a:p>
            <a:r>
              <a:t>Group A: one value 10; group B: three values 2. Overall mean is 16/4=4, not (10+2)/2=6.</a:t>
            </a:r>
          </a:p>
          <a:p>
            <a:r>
              <a:t/>
            </a:r>
          </a:p>
          <a:p>
            <a:r>
              <a:t>IF LEARNERS ARE STUCK</a:t>
            </a:r>
          </a:p>
          <a:p>
            <a:r>
              <a:t>Recover each group total as mean times count, add totals, then divide by all observations.</a:t>
            </a:r>
          </a:p>
          <a:p>
            <a:r>
              <a:t/>
            </a:r>
          </a:p>
          <a:p>
            <a:r>
              <a:t>WALK THROUGH THIS CODE</a:t>
            </a:r>
          </a:p>
          <a:p>
            <a:r>
              <a:t>for takes the next item. The indented block repeats.</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When numeric text cannot be converted.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When numeric text cannot be converted</a:t>
            </a:r>
          </a:p>
          <a:p>
            <a:r>
              <a:t/>
            </a:r>
          </a:p>
          <a:p>
            <a:r>
              <a:t>CONNECT</a:t>
            </a:r>
          </a:p>
          <a:p>
            <a:r>
              <a:t>Build on the preceding slide: From group totals to group means.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Catch one expected conversion failure.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Catch one expected conversion failure</a:t>
            </a:r>
          </a:p>
          <a:p>
            <a:r>
              <a:t/>
            </a:r>
          </a:p>
          <a:p>
            <a:r>
              <a:t>CONNECT</a:t>
            </a:r>
          </a:p>
          <a:p>
            <a:r>
              <a:t>Build on the preceding slide: When numeric text cannot be converted.</a:t>
            </a:r>
          </a:p>
          <a:p>
            <a:r>
              <a:t/>
            </a:r>
          </a:p>
          <a:p>
            <a:r>
              <a:t>LECTURER CUE</a:t>
            </a:r>
          </a:p>
          <a:p>
            <a:r>
              <a:t>Expected: None. The assignment specifies which invalid records to skip; do not invent a replacement number.</a:t>
            </a:r>
          </a:p>
          <a:p>
            <a:r>
              <a:t/>
            </a:r>
          </a:p>
          <a:p>
            <a:r>
              <a:t>Complete practice code:</a:t>
            </a:r>
          </a:p>
          <a:p>
            <a:r>
              <a:t>text = "bad"</a:t>
            </a:r>
          </a:p>
          <a:p>
            <a:r>
              <a:t>try:</a:t>
            </a:r>
          </a:p>
          <a:p>
            <a:r>
              <a:t>    reading = float(text)</a:t>
            </a:r>
          </a:p>
          <a:p>
            <a:r>
              <a:t>except ValueError:</a:t>
            </a:r>
          </a:p>
          <a:p>
            <a:r>
              <a:t>    reading = None</a:t>
            </a:r>
          </a:p>
          <a:p>
            <a:r>
              <a:t>print(reading)</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WALK THROUGH THIS CODE</a:t>
            </a:r>
          </a:p>
          <a:p>
            <a:r>
              <a:t>float converts numeric text into a decimal number.</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You are the loop.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loop</a:t>
            </a:r>
          </a:p>
          <a:p>
            <a:r>
              <a:t/>
            </a:r>
          </a:p>
          <a:p>
            <a:r>
              <a:t>CONNECT</a:t>
            </a:r>
          </a:p>
          <a:p>
            <a:r>
              <a:t>Build on the preceding slide: Catch one expected conversion failure.</a:t>
            </a:r>
          </a:p>
          <a:p>
            <a:r>
              <a:t/>
            </a:r>
          </a:p>
          <a:p>
            <a:r>
              <a:t>LECTURER CUE</a:t>
            </a:r>
          </a:p>
          <a:p>
            <a:r>
              <a:t>Do this before revealing the discussion slide. One learner moves or writes the items, the other checks. Swap roles. Every student explains one step. Expected: The new total is 20 and count is 4, so the mean is 5. Resetting the total inside the loop loses earlier additions.</a:t>
            </a:r>
          </a:p>
          <a:p>
            <a:r>
              <a:t>Wait for an individual prediction before inviting pair discussion. Give a first-step hint if needed.</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loop.</a:t>
            </a:r>
          </a:p>
          <a:p>
            <a:r>
              <a:t/>
            </a:r>
          </a:p>
          <a:p>
            <a:r>
              <a:t>LECTURER CUE</a:t>
            </a:r>
          </a:p>
          <a:p>
            <a:r>
              <a:t>Ask which step produced this answer. Return to the concrete action if a learner cannot explain it. This is practice feedback, never a quiz key.</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Total 20, count 4, mean 5.0. Resetting inside the loop discards previous additions and leaves only the last value in total.</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DISCUSSION KEY FOR THIS SLIDE</a:t>
            </a:r>
          </a:p>
          <a:p>
            <a:r>
              <a:t>DISCUSS THE REASONING</a:t>
            </a:r>
          </a:p>
          <a:p>
            <a:r>
              <a:t>Practice discussion</a:t>
            </a:r>
          </a:p>
          <a:p>
            <a:r>
              <a:t>Total 20, count 4, mean 5.0. Resetting inside the loop discards previous additions and leaves only the last value in total.</a:t>
            </a:r>
          </a:p>
          <a:p>
            <a:r>
              <a:t>Which step produced this result? What changes if one input changes?</a:t>
            </a:r>
          </a:p>
          <a:p>
            <a:r>
              <a:t>CML3111   Week 4   45</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Practice discussion.</a:t>
            </a:r>
          </a:p>
          <a:p>
            <a:r>
              <a:t/>
            </a:r>
          </a:p>
          <a:p>
            <a:r>
              <a:t>LECTURER CUE</a:t>
            </a:r>
          </a:p>
          <a:p>
            <a:r>
              <a:t>Open the issued W04 notebook and its cohort CSV. Compute the requested valid_count, mean_reading, above_limit and group_means using the exact names in the notebook. First identify the correct field and its unit. Keep the CSV beside the notebook locally or upload it into the Colab runtime. The written interpretation is practice.</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Open the issued W04 notebook and its cohort CSV. Compute the requested valid_count, mean_reading, above_limit and group_means using the exact names in the notebook. First identify the correct field and its unit. Keep the CSV beside the notebook locally or upload it into the Colab runtime. The written interpretation is practice.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Counting every record honestly.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every record honestly</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Counting every record honestly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every record honestly continued</a:t>
            </a:r>
          </a:p>
          <a:p>
            <a:r>
              <a:t/>
            </a:r>
          </a:p>
          <a:p>
            <a:r>
              <a:t>CONNECT</a:t>
            </a:r>
          </a:p>
          <a:p>
            <a:r>
              <a:t>Build on the preceding slide: Counting every record honestly.</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Your issued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assignment</a:t>
            </a:r>
          </a:p>
          <a:p>
            <a:r>
              <a:t/>
            </a:r>
          </a:p>
          <a:p>
            <a:r>
              <a:t>CONNECT</a:t>
            </a:r>
          </a:p>
          <a:p>
            <a:r>
              <a:t>Build on the preceding slide: Counting every record honestly continued.</a:t>
            </a:r>
          </a:p>
          <a:p>
            <a:r>
              <a:t/>
            </a:r>
          </a:p>
          <a:p>
            <a:r>
              <a:t>LECTURER CUE</a:t>
            </a:r>
          </a:p>
          <a:p>
            <a:r>
              <a:t># Week 4 reading report</a:t>
            </a:r>
          </a:p>
          <a:p>
            <a:r>
              <a:t>Read README.md. Keep units in your explanation.</a:t>
            </a:r>
          </a:p>
          <a:p>
            <a:r>
              <a:t/>
            </a:r>
          </a:p>
          <a:p>
            <a:r>
              <a:t>## valid_count (5 marks)</a:t>
            </a:r>
          </a:p>
          <a:p>
            <a:r>
              <a:t>Store an integer count of rows whose winding_temp_c field is nonblank. Skip blank readings before numeric conversion.</a:t>
            </a:r>
          </a:p>
          <a:p>
            <a:r>
              <a:t/>
            </a:r>
          </a:p>
          <a:p>
            <a:r>
              <a:t>## mean_reading (5 marks)</a:t>
            </a:r>
          </a:p>
          <a:p>
            <a:r>
              <a:t>Store the arithmetic mean of the nonblank winding_temp_c values as a number. Add the valid readings and divide by their count. Keep full precision.</a:t>
            </a:r>
          </a:p>
          <a:p>
            <a:r>
              <a:t/>
            </a:r>
          </a:p>
          <a:p>
            <a:r>
              <a:t>## above_limit (5 marks)</a:t>
            </a:r>
          </a:p>
          <a:p>
            <a:r>
              <a:t>Store an integer count of valid winding_temp_c readings strictly greater than 130.0. A reading equal to the threshold is not counted.</a:t>
            </a:r>
          </a:p>
          <a:p>
            <a:r>
              <a:t/>
            </a:r>
          </a:p>
          <a:p>
            <a:r>
              <a:t>## group_means (5 marks)</a:t>
            </a:r>
          </a:p>
          <a:p>
            <a:r>
              <a:t>Store a dictionary whose keys are the motor_id labels and whose values are the mean valid winding_temp_c readings within each group. Divide each group total by its own valid count. Keep full precision.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valid_count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valid_count (5 marks)</a:t>
            </a:r>
          </a:p>
          <a:p>
            <a:r>
              <a:t/>
            </a:r>
          </a:p>
          <a:p>
            <a:r>
              <a:t>CONNECT</a:t>
            </a:r>
          </a:p>
          <a:p>
            <a:r>
              <a:t>Build on the preceding slide: Your issued assignment.</a:t>
            </a:r>
          </a:p>
          <a:p>
            <a:r>
              <a:t/>
            </a:r>
          </a:p>
          <a:p>
            <a:r>
              <a:t>LECTURER CUE</a:t>
            </a:r>
          </a:p>
          <a:p>
            <a:r>
              <a:t># Week 4 reading report</a:t>
            </a:r>
          </a:p>
          <a:p>
            <a:r>
              <a:t>Read README.md. Keep units in your explanation.</a:t>
            </a:r>
          </a:p>
          <a:p>
            <a:r>
              <a:t/>
            </a:r>
          </a:p>
          <a:p>
            <a:r>
              <a:t>## valid_count (5 marks)</a:t>
            </a:r>
          </a:p>
          <a:p>
            <a:r>
              <a:t>Store an integer count of rows whose winding_temp_c field is nonblank. Skip blank readings before numeric conversion.</a:t>
            </a:r>
          </a:p>
          <a:p>
            <a:r>
              <a:t/>
            </a:r>
          </a:p>
          <a:p>
            <a:r>
              <a:t>## mean_reading (5 marks)</a:t>
            </a:r>
          </a:p>
          <a:p>
            <a:r>
              <a:t>Store the arithmetic mean of the nonblank winding_temp_c values as a number. Add the valid readings and divide by their count. Keep full precision.</a:t>
            </a:r>
          </a:p>
          <a:p>
            <a:r>
              <a:t/>
            </a:r>
          </a:p>
          <a:p>
            <a:r>
              <a:t>## above_limit (5 marks)</a:t>
            </a:r>
          </a:p>
          <a:p>
            <a:r>
              <a:t>Store an integer count of valid winding_temp_c readings strictly greater than 130.0. A reading equal to the threshold is not counted.</a:t>
            </a:r>
          </a:p>
          <a:p>
            <a:r>
              <a:t/>
            </a:r>
          </a:p>
          <a:p>
            <a:r>
              <a:t>## group_means (5 marks)</a:t>
            </a:r>
          </a:p>
          <a:p>
            <a:r>
              <a:t>Store a dictionary whose keys are the motor_id labels and whose values are the mean valid winding_temp_c readings within each group. Divide each group total by its own valid count. Keep full precision.</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mean_reading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mean_reading (5 marks)</a:t>
            </a:r>
          </a:p>
          <a:p>
            <a:r>
              <a:t/>
            </a:r>
          </a:p>
          <a:p>
            <a:r>
              <a:t>CONNECT</a:t>
            </a:r>
          </a:p>
          <a:p>
            <a:r>
              <a:t>Build on the preceding slide: valid_count (5 marks).</a:t>
            </a:r>
          </a:p>
          <a:p>
            <a:r>
              <a:t/>
            </a:r>
          </a:p>
          <a:p>
            <a:r>
              <a:t>LECTURER CUE</a:t>
            </a:r>
          </a:p>
          <a:p>
            <a:r>
              <a:t># Week 4 reading report</a:t>
            </a:r>
          </a:p>
          <a:p>
            <a:r>
              <a:t>Read README.md. Keep units in your explanation.</a:t>
            </a:r>
          </a:p>
          <a:p>
            <a:r>
              <a:t/>
            </a:r>
          </a:p>
          <a:p>
            <a:r>
              <a:t>## valid_count (5 marks)</a:t>
            </a:r>
          </a:p>
          <a:p>
            <a:r>
              <a:t>Store an integer count of rows whose winding_temp_c field is nonblank. Skip blank readings before numeric conversion.</a:t>
            </a:r>
          </a:p>
          <a:p>
            <a:r>
              <a:t/>
            </a:r>
          </a:p>
          <a:p>
            <a:r>
              <a:t>## mean_reading (5 marks)</a:t>
            </a:r>
          </a:p>
          <a:p>
            <a:r>
              <a:t>Store the arithmetic mean of the nonblank winding_temp_c values as a number. Add the valid readings and divide by their count. Keep full precision.</a:t>
            </a:r>
          </a:p>
          <a:p>
            <a:r>
              <a:t/>
            </a:r>
          </a:p>
          <a:p>
            <a:r>
              <a:t>## above_limit (5 marks)</a:t>
            </a:r>
          </a:p>
          <a:p>
            <a:r>
              <a:t>Store an integer count of valid winding_temp_c readings strictly greater than 130.0. A reading equal to the threshold is not counted.</a:t>
            </a:r>
          </a:p>
          <a:p>
            <a:r>
              <a:t/>
            </a:r>
          </a:p>
          <a:p>
            <a:r>
              <a:t>## group_means (5 marks)</a:t>
            </a:r>
          </a:p>
          <a:p>
            <a:r>
              <a:t>Store a dictionary whose keys are the motor_id labels and whose values are the mean valid winding_temp_c readings within each group. Divide each group total by its own valid count. Keep full precision.</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above_limit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above_limit (5 marks)</a:t>
            </a:r>
          </a:p>
          <a:p>
            <a:r>
              <a:t/>
            </a:r>
          </a:p>
          <a:p>
            <a:r>
              <a:t>CONNECT</a:t>
            </a:r>
          </a:p>
          <a:p>
            <a:r>
              <a:t>Build on the preceding slide: mean_reading (5 marks).</a:t>
            </a:r>
          </a:p>
          <a:p>
            <a:r>
              <a:t/>
            </a:r>
          </a:p>
          <a:p>
            <a:r>
              <a:t>LECTURER CUE</a:t>
            </a:r>
          </a:p>
          <a:p>
            <a:r>
              <a:t># Week 4 reading report</a:t>
            </a:r>
          </a:p>
          <a:p>
            <a:r>
              <a:t>Read README.md. Keep units in your explanation.</a:t>
            </a:r>
          </a:p>
          <a:p>
            <a:r>
              <a:t/>
            </a:r>
          </a:p>
          <a:p>
            <a:r>
              <a:t>## valid_count (5 marks)</a:t>
            </a:r>
          </a:p>
          <a:p>
            <a:r>
              <a:t>Store an integer count of rows whose winding_temp_c field is nonblank. Skip blank readings before numeric conversion.</a:t>
            </a:r>
          </a:p>
          <a:p>
            <a:r>
              <a:t/>
            </a:r>
          </a:p>
          <a:p>
            <a:r>
              <a:t>## mean_reading (5 marks)</a:t>
            </a:r>
          </a:p>
          <a:p>
            <a:r>
              <a:t>Store the arithmetic mean of the nonblank winding_temp_c values as a number. Add the valid readings and divide by their count. Keep full precision.</a:t>
            </a:r>
          </a:p>
          <a:p>
            <a:r>
              <a:t/>
            </a:r>
          </a:p>
          <a:p>
            <a:r>
              <a:t>## above_limit (5 marks)</a:t>
            </a:r>
          </a:p>
          <a:p>
            <a:r>
              <a:t>Store an integer count of valid winding_temp_c readings strictly greater than 130.0. A reading equal to the threshold is not counted.</a:t>
            </a:r>
          </a:p>
          <a:p>
            <a:r>
              <a:t/>
            </a:r>
          </a:p>
          <a:p>
            <a:r>
              <a:t>## group_means (5 marks)</a:t>
            </a:r>
          </a:p>
          <a:p>
            <a:r>
              <a:t>Store a dictionary whose keys are the motor_id labels and whose values are the mean valid winding_temp_c readings within each group. Divide each group total by its own valid count. Keep full precision.</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group_means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group_means (5 marks)</a:t>
            </a:r>
          </a:p>
          <a:p>
            <a:r>
              <a:t/>
            </a:r>
          </a:p>
          <a:p>
            <a:r>
              <a:t>CONNECT</a:t>
            </a:r>
          </a:p>
          <a:p>
            <a:r>
              <a:t>Build on the preceding slide: above_limit (5 marks).</a:t>
            </a:r>
          </a:p>
          <a:p>
            <a:r>
              <a:t/>
            </a:r>
          </a:p>
          <a:p>
            <a:r>
              <a:t>LECTURER CUE</a:t>
            </a:r>
          </a:p>
          <a:p>
            <a:r>
              <a:t># Week 4 reading report</a:t>
            </a:r>
          </a:p>
          <a:p>
            <a:r>
              <a:t>Read README.md. Keep units in your explanation.</a:t>
            </a:r>
          </a:p>
          <a:p>
            <a:r>
              <a:t/>
            </a:r>
          </a:p>
          <a:p>
            <a:r>
              <a:t>## valid_count (5 marks)</a:t>
            </a:r>
          </a:p>
          <a:p>
            <a:r>
              <a:t>Store an integer count of rows whose winding_temp_c field is nonblank. Skip blank readings before numeric conversion.</a:t>
            </a:r>
          </a:p>
          <a:p>
            <a:r>
              <a:t/>
            </a:r>
          </a:p>
          <a:p>
            <a:r>
              <a:t>## mean_reading (5 marks)</a:t>
            </a:r>
          </a:p>
          <a:p>
            <a:r>
              <a:t>Store the arithmetic mean of the nonblank winding_temp_c values as a number. Add the valid readings and divide by their count. Keep full precision.</a:t>
            </a:r>
          </a:p>
          <a:p>
            <a:r>
              <a:t/>
            </a:r>
          </a:p>
          <a:p>
            <a:r>
              <a:t>## above_limit (5 marks)</a:t>
            </a:r>
          </a:p>
          <a:p>
            <a:r>
              <a:t>Store an integer count of valid winding_temp_c readings strictly greater than 130.0. A reading equal to the threshold is not counted.</a:t>
            </a:r>
          </a:p>
          <a:p>
            <a:r>
              <a:t/>
            </a:r>
          </a:p>
          <a:p>
            <a:r>
              <a:t>## group_means (5 marks)</a:t>
            </a:r>
          </a:p>
          <a:p>
            <a:r>
              <a:t>Store a dictionary whose keys are the motor_id labels and whose values are the mean valid winding_temp_c readings within each group. Divide each group total by its own valid count. Keep full precision.</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Week 4 rules.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4 rules</a:t>
            </a:r>
          </a:p>
          <a:p>
            <a:r>
              <a:t/>
            </a:r>
          </a:p>
          <a:p>
            <a:r>
              <a:t>CONNECT</a:t>
            </a:r>
          </a:p>
          <a:p>
            <a:r>
              <a:t>Build on the preceding slide: group_means (5 marks).</a:t>
            </a:r>
          </a:p>
          <a:p>
            <a:r>
              <a:t/>
            </a:r>
          </a:p>
          <a:p>
            <a:r>
              <a:t>LECTURER CUE</a:t>
            </a:r>
          </a:p>
          <a:p>
            <a:r>
              <a:t>Fictional teaching data. 300 records. Three blank winding_temp_c values must be skipped in numerical summaries. Threshold 130.0 is a teaching assumption.</a:t>
            </a:r>
          </a:p>
          <a:p>
            <a:r>
              <a:t/>
            </a:r>
          </a:p>
          <a:p>
            <a:r>
              <a:t>Compute valid_count, mean_reading, above_limit (strictly greater than 130.0) and group_means keyed by motor_id.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Week 4 rules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4 rules continued</a:t>
            </a:r>
          </a:p>
          <a:p>
            <a:r>
              <a:t/>
            </a:r>
          </a:p>
          <a:p>
            <a:r>
              <a:t>CONNECT</a:t>
            </a:r>
          </a:p>
          <a:p>
            <a:r>
              <a:t>Build on the preceding slide: Week 4 rules.</a:t>
            </a:r>
          </a:p>
          <a:p>
            <a:r>
              <a:t/>
            </a:r>
          </a:p>
          <a:p>
            <a:r>
              <a:t>LECTURER CUE</a:t>
            </a:r>
          </a:p>
          <a:p>
            <a:r>
              <a:t>Fictional teaching data. 300 records. Three blank winding_temp_c values must be skipped in numerical summaries. Threshold 130.0 is a teaching assumption.</a:t>
            </a:r>
          </a:p>
          <a:p>
            <a:r>
              <a:t/>
            </a:r>
          </a:p>
          <a:p>
            <a:r>
              <a:t>Compute valid_count, mean_reading, above_limit (strictly greater than 130.0) and group_means keyed by motor_id.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Week 4 rules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4 rules continued</a:t>
            </a:r>
          </a:p>
          <a:p>
            <a:r>
              <a:t/>
            </a:r>
          </a:p>
          <a:p>
            <a:r>
              <a:t>CONNECT</a:t>
            </a:r>
          </a:p>
          <a:p>
            <a:r>
              <a:t>Build on the preceding slide: Week 4 rules continued.</a:t>
            </a:r>
          </a:p>
          <a:p>
            <a:r>
              <a:t/>
            </a:r>
          </a:p>
          <a:p>
            <a:r>
              <a:t>LECTURER CUE</a:t>
            </a:r>
          </a:p>
          <a:p>
            <a:r>
              <a:t>Fictional teaching data. 300 records. Three blank winding_temp_c values must be skipped in numerical summaries. Threshold 130.0 is a teaching assumption.</a:t>
            </a:r>
          </a:p>
          <a:p>
            <a:r>
              <a:t/>
            </a:r>
          </a:p>
          <a:p>
            <a:r>
              <a:t>Compute valid_count, mean_reading, above_limit (strictly greater than 130.0) and group_means keyed by motor_id.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a:r>
              <a:t/>
            </a:r>
          </a:p>
          <a:p>
            <a:r>
              <a:t>NEXT</a:t>
            </a:r>
          </a:p>
          <a:p>
            <a:r>
              <a:t>Reading report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report submission</a:t>
            </a:r>
          </a:p>
          <a:p>
            <a:r>
              <a:t/>
            </a:r>
          </a:p>
          <a:p>
            <a:r>
              <a:t>CONNECT</a:t>
            </a:r>
          </a:p>
          <a:p>
            <a:r>
              <a:t>Build on the preceding slide: Week 4 rules continued.</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4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4 quiz</a:t>
            </a:r>
          </a:p>
          <a:p>
            <a:r>
              <a:t/>
            </a:r>
          </a:p>
          <a:p>
            <a:r>
              <a:t>CONNECT</a:t>
            </a:r>
          </a:p>
          <a:p>
            <a:r>
              <a:t>Build on the preceding slide: Reading report submission.</a:t>
            </a:r>
          </a:p>
          <a:p>
            <a:r>
              <a:t/>
            </a:r>
          </a:p>
          <a:p>
            <a:r>
              <a:t>LECTURER CUE</a:t>
            </a:r>
          </a:p>
          <a:p>
            <a:r>
              <a:t>Activate the matching open_W4_CML3111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4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cd5357f0f64d5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ce2948b32f4db4" /><Relationship Type="http://schemas.openxmlformats.org/officeDocument/2006/relationships/slideLayout" Target="/ppt/slideLayouts/slideLayout1.xml" Id="R58e09120b8374e8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8e09120b8374e8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95f941a0039441d" /><Relationship Type="http://schemas.openxmlformats.org/officeDocument/2006/relationships/image" Target="/ppt/media/image.png" Id="R352da834cad0460d" /><Relationship Type="http://schemas.openxmlformats.org/officeDocument/2006/relationships/notesSlide" Target="/ppt/notesSlides/notesSlide1.xml" Id="Rff93e34a60534af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42340ed989a4df8" /><Relationship Type="http://schemas.openxmlformats.org/officeDocument/2006/relationships/notesSlide" Target="/ppt/notesSlides/notesSlide2.xml" Id="R476affff9be14db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c51984c7d3342f8" /><Relationship Type="http://schemas.openxmlformats.org/officeDocument/2006/relationships/notesSlide" Target="/ppt/notesSlides/notesSlide3.xml" Id="Ra34fef6e72d0423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a64f038c44b4a60" /><Relationship Type="http://schemas.openxmlformats.org/officeDocument/2006/relationships/notesSlide" Target="/ppt/notesSlides/notesSlide4.xml" Id="Rac73a8173542428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e90bcaa07164c61" /><Relationship Type="http://schemas.openxmlformats.org/officeDocument/2006/relationships/notesSlide" Target="/ppt/notesSlides/notesSlide5.xml" Id="Rfbd69ceb74764f4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2eed7c176a74421" /><Relationship Type="http://schemas.openxmlformats.org/officeDocument/2006/relationships/notesSlide" Target="/ppt/notesSlides/notesSlide6.xml" Id="R0af070c6426747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4bd4aeec01044c3" /><Relationship Type="http://schemas.openxmlformats.org/officeDocument/2006/relationships/notesSlide" Target="/ppt/notesSlides/notesSlide7.xml" Id="Rca054099abe04e1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acb4afe8f7f4a02" /><Relationship Type="http://schemas.openxmlformats.org/officeDocument/2006/relationships/notesSlide" Target="/ppt/notesSlides/notesSlide8.xml" Id="R3ebeb17578e448e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0736790408749a5" /><Relationship Type="http://schemas.openxmlformats.org/officeDocument/2006/relationships/notesSlide" Target="/ppt/notesSlides/notesSlide9.xml" Id="Rcd5a00240042461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fcbc93364b74af0" /><Relationship Type="http://schemas.openxmlformats.org/officeDocument/2006/relationships/notesSlide" Target="/ppt/notesSlides/notesSlide10.xml" Id="R801c3678a904411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2e54b82b8a64ec5" /><Relationship Type="http://schemas.openxmlformats.org/officeDocument/2006/relationships/notesSlide" Target="/ppt/notesSlides/notesSlide11.xml" Id="R39d5fd64433d46e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84cd16d28c543cf" /><Relationship Type="http://schemas.openxmlformats.org/officeDocument/2006/relationships/notesSlide" Target="/ppt/notesSlides/notesSlide12.xml" Id="Rf081c8bd0cfb477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9a983c3f6fd45cd" /><Relationship Type="http://schemas.openxmlformats.org/officeDocument/2006/relationships/image" Target="/ppt/media/image2.png" Id="R7b3722b8c96d4a37" /><Relationship Type="http://schemas.openxmlformats.org/officeDocument/2006/relationships/notesSlide" Target="/ppt/notesSlides/notesSlide13.xml" Id="Rcb18a9411d1d424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611f040ec294ae1" /><Relationship Type="http://schemas.openxmlformats.org/officeDocument/2006/relationships/notesSlide" Target="/ppt/notesSlides/notesSlide14.xml" Id="R668774662b3d499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6f8f480b5e8417e" /><Relationship Type="http://schemas.openxmlformats.org/officeDocument/2006/relationships/notesSlide" Target="/ppt/notesSlides/notesSlide15.xml" Id="Rece63a15918b48b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afaecc356c74a00" /><Relationship Type="http://schemas.openxmlformats.org/officeDocument/2006/relationships/notesSlide" Target="/ppt/notesSlides/notesSlide16.xml" Id="Rad2b2e7dce0f45c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ef15adf70254ef5" /><Relationship Type="http://schemas.openxmlformats.org/officeDocument/2006/relationships/notesSlide" Target="/ppt/notesSlides/notesSlide17.xml" Id="Ra51e49adf74148c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dc6e641adc34b77" /><Relationship Type="http://schemas.openxmlformats.org/officeDocument/2006/relationships/notesSlide" Target="/ppt/notesSlides/notesSlide18.xml" Id="R31713aed6669455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667ca7665dd415c" /><Relationship Type="http://schemas.openxmlformats.org/officeDocument/2006/relationships/notesSlide" Target="/ppt/notesSlides/notesSlide19.xml" Id="R790b0e267513408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b9de15dd4834437" /><Relationship Type="http://schemas.openxmlformats.org/officeDocument/2006/relationships/image" Target="/ppt/media/image3.png" Id="R46513602e6dc444c" /><Relationship Type="http://schemas.openxmlformats.org/officeDocument/2006/relationships/notesSlide" Target="/ppt/notesSlides/notesSlide20.xml" Id="R5afff94844fe48b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3b162271a144936" /><Relationship Type="http://schemas.openxmlformats.org/officeDocument/2006/relationships/notesSlide" Target="/ppt/notesSlides/notesSlide21.xml" Id="R9637da1209e746d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4a0687c27f44dbf" /><Relationship Type="http://schemas.openxmlformats.org/officeDocument/2006/relationships/notesSlide" Target="/ppt/notesSlides/notesSlide22.xml" Id="R2a05682d0ef14d8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57e3c636b434d11" /><Relationship Type="http://schemas.openxmlformats.org/officeDocument/2006/relationships/notesSlide" Target="/ppt/notesSlides/notesSlide23.xml" Id="Rad74ab136e004db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a0b31e6541e43e1" /><Relationship Type="http://schemas.openxmlformats.org/officeDocument/2006/relationships/notesSlide" Target="/ppt/notesSlides/notesSlide24.xml" Id="R36680417e49c40a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271f1818d1545f6" /><Relationship Type="http://schemas.openxmlformats.org/officeDocument/2006/relationships/notesSlide" Target="/ppt/notesSlides/notesSlide25.xml" Id="R133475ca50534e2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1725f37a76441b8" /><Relationship Type="http://schemas.openxmlformats.org/officeDocument/2006/relationships/notesSlide" Target="/ppt/notesSlides/notesSlide26.xml" Id="R07b3a6ba96fe43e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2a4db153f0b41d8" /><Relationship Type="http://schemas.openxmlformats.org/officeDocument/2006/relationships/notesSlide" Target="/ppt/notesSlides/notesSlide27.xml" Id="R13c890f8f5b54f8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267987a364a4602" /><Relationship Type="http://schemas.openxmlformats.org/officeDocument/2006/relationships/notesSlide" Target="/ppt/notesSlides/notesSlide28.xml" Id="R95e52fa2cb0140d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76d334b5606465a" /><Relationship Type="http://schemas.openxmlformats.org/officeDocument/2006/relationships/notesSlide" Target="/ppt/notesSlides/notesSlide29.xml" Id="R5335fff02894403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c0f6ffc45de24562" /><Relationship Type="http://schemas.openxmlformats.org/officeDocument/2006/relationships/notesSlide" Target="/ppt/notesSlides/notesSlide30.xml" Id="R3ab791d43d4b43e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c262adafab254b08" /><Relationship Type="http://schemas.openxmlformats.org/officeDocument/2006/relationships/notesSlide" Target="/ppt/notesSlides/notesSlide31.xml" Id="R242eb4d96d2f44e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ecb083762c0d489c" /><Relationship Type="http://schemas.openxmlformats.org/officeDocument/2006/relationships/notesSlide" Target="/ppt/notesSlides/notesSlide32.xml" Id="R8ff7105e651e471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fe46a50eee741e2" /><Relationship Type="http://schemas.openxmlformats.org/officeDocument/2006/relationships/notesSlide" Target="/ppt/notesSlides/notesSlide33.xml" Id="Rb011e06229914e9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ac40b9260f74a96" /><Relationship Type="http://schemas.openxmlformats.org/officeDocument/2006/relationships/notesSlide" Target="/ppt/notesSlides/notesSlide34.xml" Id="R14df941c1dfd4b7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d0a9613e22045b3" /><Relationship Type="http://schemas.openxmlformats.org/officeDocument/2006/relationships/notesSlide" Target="/ppt/notesSlides/notesSlide35.xml" Id="R2fb7e98926854e5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e729f4e723f4498d" /><Relationship Type="http://schemas.openxmlformats.org/officeDocument/2006/relationships/notesSlide" Target="/ppt/notesSlides/notesSlide36.xml" Id="Rf1680e16909e477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3237ad36b7e64a13" /><Relationship Type="http://schemas.openxmlformats.org/officeDocument/2006/relationships/notesSlide" Target="/ppt/notesSlides/notesSlide37.xml" Id="R315af6829df049f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d2615c34c0114dc2" /><Relationship Type="http://schemas.openxmlformats.org/officeDocument/2006/relationships/notesSlide" Target="/ppt/notesSlides/notesSlide38.xml" Id="R8cdbe709a5c6455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4fdaef78a7b4575" /><Relationship Type="http://schemas.openxmlformats.org/officeDocument/2006/relationships/notesSlide" Target="/ppt/notesSlides/notesSlide39.xml" Id="R46a5485d2a924bb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180a02a55bc7483b" /><Relationship Type="http://schemas.openxmlformats.org/officeDocument/2006/relationships/notesSlide" Target="/ppt/notesSlides/notesSlide40.xml" Id="R99078dffa6e74e8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6a99006435ba4283" /><Relationship Type="http://schemas.openxmlformats.org/officeDocument/2006/relationships/notesSlide" Target="/ppt/notesSlides/notesSlide41.xml" Id="Rea59678d0d9545a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b5a8c5bffd1e461a" /><Relationship Type="http://schemas.openxmlformats.org/officeDocument/2006/relationships/notesSlide" Target="/ppt/notesSlides/notesSlide42.xml" Id="R9abd986a9717470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43cb185c62bc45a1" /><Relationship Type="http://schemas.openxmlformats.org/officeDocument/2006/relationships/notesSlide" Target="/ppt/notesSlides/notesSlide43.xml" Id="R8b2c6f16d2754136"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db3745b5117d486f" /><Relationship Type="http://schemas.openxmlformats.org/officeDocument/2006/relationships/notesSlide" Target="/ppt/notesSlides/notesSlide44.xml" Id="R3f22a8a1eb58462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ec9caa83afd24f75" /><Relationship Type="http://schemas.openxmlformats.org/officeDocument/2006/relationships/notesSlide" Target="/ppt/notesSlides/notesSlide45.xml" Id="R32ca9d5a2e2e43e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865aa0b635484d8c" /><Relationship Type="http://schemas.openxmlformats.org/officeDocument/2006/relationships/notesSlide" Target="/ppt/notesSlides/notesSlide46.xml" Id="R762e330dbfd2433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6f78e99bd54c4432" /><Relationship Type="http://schemas.openxmlformats.org/officeDocument/2006/relationships/notesSlide" Target="/ppt/notesSlides/notesSlide47.xml" Id="R25bacdac02f3486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d8618ab396a34d0b" /><Relationship Type="http://schemas.openxmlformats.org/officeDocument/2006/relationships/notesSlide" Target="/ppt/notesSlides/notesSlide48.xml" Id="Rcedd9aa082cf4351"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3f74059b820d437f" /><Relationship Type="http://schemas.openxmlformats.org/officeDocument/2006/relationships/notesSlide" Target="/ppt/notesSlides/notesSlide49.xml" Id="R6472ac5048614cfd"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5144f03935674f01" /><Relationship Type="http://schemas.openxmlformats.org/officeDocument/2006/relationships/notesSlide" Target="/ppt/notesSlides/notesSlide50.xml" Id="R6115f75416b54fa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5a5140efd4c54a54" /><Relationship Type="http://schemas.openxmlformats.org/officeDocument/2006/relationships/notesSlide" Target="/ppt/notesSlides/notesSlide51.xml" Id="Rcf0e9346ed884721"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1c61a7485b55478d" /><Relationship Type="http://schemas.openxmlformats.org/officeDocument/2006/relationships/notesSlide" Target="/ppt/notesSlides/notesSlide52.xml" Id="R47c862de0af2440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8076836ec5304901" /><Relationship Type="http://schemas.openxmlformats.org/officeDocument/2006/relationships/notesSlide" Target="/ppt/notesSlides/notesSlide53.xml" Id="Ree4ce55ec79d4016"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be9e33e350574acc" /><Relationship Type="http://schemas.openxmlformats.org/officeDocument/2006/relationships/notesSlide" Target="/ppt/notesSlides/notesSlide54.xml" Id="Re9f7a06867b04c1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9a2b6753f997433d" /><Relationship Type="http://schemas.openxmlformats.org/officeDocument/2006/relationships/notesSlide" Target="/ppt/notesSlides/notesSlide55.xml" Id="Rc967be9a73284863"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06ae6439b6a64e2a" /><Relationship Type="http://schemas.openxmlformats.org/officeDocument/2006/relationships/notesSlide" Target="/ppt/notesSlides/notesSlide56.xml" Id="R348c547931aa4b81"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adec970e1a7249cb" /><Relationship Type="http://schemas.openxmlformats.org/officeDocument/2006/relationships/notesSlide" Target="/ppt/notesSlides/notesSlide57.xml" Id="Ra618ea6d215648b5"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062d915ec6204248" /><Relationship Type="http://schemas.openxmlformats.org/officeDocument/2006/relationships/hyperlink" Target="https://docs.google.com/forms/d/e/1FAIpQLSePYYXhI694GpzUBX1qxmt3pml_MGCxvT9R9o-fT0__kqrmNA/viewform" TargetMode="External" Id="R3213363f818d4990" /><Relationship Type="http://schemas.openxmlformats.org/officeDocument/2006/relationships/notesSlide" Target="/ppt/notesSlides/notesSlide58.xml" Id="Rdecabfd079244000"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a48d4f4c4c054711" /><Relationship Type="http://schemas.openxmlformats.org/officeDocument/2006/relationships/image" Target="/ppt/media/image4.png" Id="R1eed33d79c1b44d6" /><Relationship Type="http://schemas.openxmlformats.org/officeDocument/2006/relationships/hyperlink" Target="https://forms.gle/grjS1HFfSwn9BcYr9" TargetMode="External" Id="R218a830984114709" /><Relationship Type="http://schemas.openxmlformats.org/officeDocument/2006/relationships/notesSlide" Target="/ppt/notesSlides/notesSlide59.xml" Id="R3dc4465e1f4448de"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c6636efc2b034282" /><Relationship Type="http://schemas.openxmlformats.org/officeDocument/2006/relationships/notesSlide" Target="/ppt/notesSlides/notesSlide60.xml" Id="R1e934514640e4fe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52da834cad0460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F955256-C79A-45AF-8388-EDB0069F95FC}"/>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D2D063F-385C-471B-85BC-F5C78C8B3150}"/>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4</a:t>
            </a:r>
          </a:p>
        </p:txBody>
      </p:sp>
      <p:sp>
        <p:nvSpPr>
          <p:cNvPr id="4" name="">
            <a:extLst xmlns:a="http://schemas.openxmlformats.org/drawingml/2006/main">
              <a:ext uri="{FF2B5EF4-FFF2-40B4-BE49-F238E27FC236}">
                <a16:creationId xmlns:a16="http://schemas.microsoft.com/office/drawing/2014/main" id="{243A1992-DCCD-4196-91D7-EE95367E569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9030F680-A454-4D0E-8570-A08EB75F6D2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5A67BD78-949B-44D0-A447-345121B91B2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02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50039985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34EDB31-1DE7-4ACB-8613-E3D9E49364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F0CF49-5832-4838-BC67-E75BC009CB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B909AFE0-B488-4005-B333-F6943C82B0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286242C-E8DF-4F75-86AC-FC037F4EF5D4}"/>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FFD755-E364-4CEA-BC39-891911719A1F}"/>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E14AFFA-9020-4DA7-A355-3DEF3D597371}"/>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54086F08-DA47-42DF-BA1F-7E0126DEE0D4}"/>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CBDAF935-1589-48F6-9630-E46A02A20A9B}"/>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C38724CF-318B-4776-9863-CC0041865B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a:t>
            </a:r>
          </a:p>
        </p:txBody>
      </p:sp>
    </p:spTree>
    <p:extLst>
      <p:ext uri="{BB962C8B-B14F-4D97-AF65-F5344CB8AC3E}">
        <p14:creationId xmlns:p14="http://schemas.microsoft.com/office/powerpoint/2010/main" val="74031828"/>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9D45AF7-B095-4594-A420-DEE9843CF7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2058E5A4-2D63-4927-87EB-C529C703D1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08A8C068-DCA7-45B9-96A1-99D5DD35F43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6FD3FF11-CD7A-47B4-A70D-01608F3B2487}"/>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Last week we gave values names and called functions. Explain what print(2 + 4) displays, then change one number.</a:t>
            </a:r>
          </a:p>
        </p:txBody>
      </p:sp>
      <p:sp>
        <p:nvSpPr>
          <p:cNvPr id="5" name="">
            <a:extLst xmlns:a="http://schemas.openxmlformats.org/drawingml/2006/main">
              <a:ext uri="{FF2B5EF4-FFF2-40B4-BE49-F238E27FC236}">
                <a16:creationId xmlns:a16="http://schemas.microsoft.com/office/drawing/2014/main" id="{8D0CDD68-11EA-4F86-B055-E92934F4A9C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6FBD6F60-541D-4983-8480-4B80B0F2B3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4   3</a:t>
            </a:r>
          </a:p>
        </p:txBody>
      </p:sp>
    </p:spTree>
    <p:extLst>
      <p:ext uri="{BB962C8B-B14F-4D97-AF65-F5344CB8AC3E}">
        <p14:creationId xmlns:p14="http://schemas.microsoft.com/office/powerpoint/2010/main" val="170807998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926A62-E91D-467B-A519-0FCA1EE953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5AE584-004F-4D7A-A7B4-92F237F6C8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537E266D-3C3C-4A07-8950-10E2A8C7A7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78DC29AD-CC3D-465A-9B12-AEBC4825F4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CFF083-D55F-42B3-8C2E-457A79A615E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256DD262-59AF-46EE-BB21-3254FE405D4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381E06C-0DC1-420C-82E5-B7C421453FC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32B2468A-C4B1-42F9-B113-2C6702EDFD5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F2DE427-0CA6-4E4A-8967-01A0C4F6F17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08154CE4-5F1B-40C1-B3FA-1EC0ACE432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a:t>
            </a:r>
          </a:p>
        </p:txBody>
      </p:sp>
    </p:spTree>
    <p:extLst>
      <p:ext uri="{BB962C8B-B14F-4D97-AF65-F5344CB8AC3E}">
        <p14:creationId xmlns:p14="http://schemas.microsoft.com/office/powerpoint/2010/main" val="98847250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B68CF58-C8E3-49A5-8FA7-9867115888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F2104E-EC50-4E0F-A0C9-0841A56678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5990362-ED39-4414-B2F7-979902BE7C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AD5789FE-2F98-4873-AE54-C8F28EA608D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06E769-3007-4C77-84A3-ACFF3489134F}"/>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BFAA59D5-FF93-4D24-B515-55BFDE5C9AD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642BBA7C-3274-417A-A702-92F56AF450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a:t>
            </a:r>
          </a:p>
        </p:txBody>
      </p:sp>
    </p:spTree>
    <p:extLst>
      <p:ext uri="{BB962C8B-B14F-4D97-AF65-F5344CB8AC3E}">
        <p14:creationId xmlns:p14="http://schemas.microsoft.com/office/powerpoint/2010/main" val="151692288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97097D2-A97B-44CD-B6AE-8182F1F9C8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5845F7-CC8B-4478-B423-2C2CF87C1F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C6CFDF-8707-42C2-AC10-ECAC6E2AA7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F7204C9F-6226-4222-9D9E-A1E3B9F00E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8D9A02-7C0D-48ED-AED1-875D207D4C0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B74BCAF4-208C-4F92-A1AB-5BE2B5BEFBC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9FF32AC-53D2-49FD-878C-24368139865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9B302043-6A41-4FFB-8DBF-61E3AF4E4BF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15ACF1-7EAF-4744-9970-B0E168D9EE7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56A05B19-1D53-4952-ACA9-DF435C95BF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a:t>
            </a:r>
          </a:p>
        </p:txBody>
      </p:sp>
    </p:spTree>
    <p:extLst>
      <p:ext uri="{BB962C8B-B14F-4D97-AF65-F5344CB8AC3E}">
        <p14:creationId xmlns:p14="http://schemas.microsoft.com/office/powerpoint/2010/main" val="15491861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B11EFD-BBA1-4B4E-AF95-790A0F0829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B46412-8639-406D-9767-3EDC86910F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4F718F7-DFFA-449C-80B7-41FA3A6961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8E26A25D-628D-4857-8E0F-5148A773D70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A647F0-C924-406F-B092-617B802ADC3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CB422970-216E-40F1-965C-0B69226C34E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DBAA0BA6-F7A3-4426-99F4-80F31557931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E71836F-FAF3-4628-8B99-510513ACD7A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53E42329-69F9-4878-9E67-D372A5D3137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F2569B80-42F2-4502-897B-73484A648F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a:t>
            </a:r>
          </a:p>
        </p:txBody>
      </p:sp>
    </p:spTree>
    <p:extLst>
      <p:ext uri="{BB962C8B-B14F-4D97-AF65-F5344CB8AC3E}">
        <p14:creationId xmlns:p14="http://schemas.microsoft.com/office/powerpoint/2010/main" val="159313154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BD97A7D-9CB8-4419-9264-6E7951044E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010F4A-C39C-4AFE-92D5-356C079F68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A6D00CC-3C40-408F-9756-2E8B59676C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0B467ECF-7207-4FE2-957C-B94F36EE412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02AC94-35D2-42E5-8C6F-80A07CA1B58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44FCFEBE-4239-473A-AEDF-1DB423410BA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09480CC-304D-43C5-8B5E-95F82A3B6B9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9742AC27-CB82-4939-B109-9AD14B3F341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06DE57DC-989A-4818-8521-FAE30495435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01B8E1F5-AD64-4BDE-A7D7-3360AA822A9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542F3BFC-89B1-49A9-ADBF-2D617D9F9C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8</a:t>
            </a:r>
          </a:p>
        </p:txBody>
      </p:sp>
    </p:spTree>
    <p:extLst>
      <p:ext uri="{BB962C8B-B14F-4D97-AF65-F5344CB8AC3E}">
        <p14:creationId xmlns:p14="http://schemas.microsoft.com/office/powerpoint/2010/main" val="150856860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049A2CA-7C69-4923-9199-B3D8DDFFCB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154315-9591-42F4-9240-4A63FFF043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C9A8041-ACCD-4731-B8EB-30F856E16E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 and iteration</a:t>
            </a:r>
          </a:p>
        </p:txBody>
      </p:sp>
      <p:sp>
        <p:nvSpPr>
          <p:cNvPr id="4" name="">
            <a:extLst xmlns:a="http://schemas.openxmlformats.org/drawingml/2006/main">
              <a:ext uri="{FF2B5EF4-FFF2-40B4-BE49-F238E27FC236}">
                <a16:creationId xmlns:a16="http://schemas.microsoft.com/office/drawing/2014/main" id="{C96B965D-21D0-4E94-8C3D-5B53ABF1E48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E7BCEA-7E90-4D63-A137-45ADF4A479E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Loop and iteration</a:t>
            </a:r>
          </a:p>
        </p:txBody>
      </p:sp>
      <p:sp>
        <p:nvSpPr>
          <p:cNvPr id="6" name="">
            <a:extLst xmlns:a="http://schemas.openxmlformats.org/drawingml/2006/main">
              <a:ext uri="{FF2B5EF4-FFF2-40B4-BE49-F238E27FC236}">
                <a16:creationId xmlns:a16="http://schemas.microsoft.com/office/drawing/2014/main" id="{34E2796E-5019-4B43-A8B5-416B8C56232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for loop runs its indented body once per item. Each pass is one iteration.</a:t>
            </a:r>
          </a:p>
        </p:txBody>
      </p:sp>
      <p:sp>
        <p:nvSpPr>
          <p:cNvPr id="7" name="">
            <a:extLst xmlns:a="http://schemas.openxmlformats.org/drawingml/2006/main">
              <a:ext uri="{FF2B5EF4-FFF2-40B4-BE49-F238E27FC236}">
                <a16:creationId xmlns:a16="http://schemas.microsoft.com/office/drawing/2014/main" id="{2BC5D22C-61C7-4D90-B5E3-CB8EFEE506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9</a:t>
            </a:r>
          </a:p>
        </p:txBody>
      </p:sp>
    </p:spTree>
    <p:extLst>
      <p:ext uri="{BB962C8B-B14F-4D97-AF65-F5344CB8AC3E}">
        <p14:creationId xmlns:p14="http://schemas.microsoft.com/office/powerpoint/2010/main" val="130143437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2134268-0579-47A5-B1D7-C21EB80B4A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EF5A8D-82B4-4448-BFCC-A53C514885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FD6E6C8-7011-4C9E-8A47-38D05F43EF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021EAD94-8746-4AAB-A2C4-001089C6FAAF}"/>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703968-D3DE-42F2-81F5-6C6CF9C6D23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72AB4EFB-4C35-43C2-9415-73EDB155016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5628FF51-CD12-45D8-9FB0-6156FA852D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10</a:t>
            </a:r>
          </a:p>
        </p:txBody>
      </p:sp>
    </p:spTree>
    <p:extLst>
      <p:ext uri="{BB962C8B-B14F-4D97-AF65-F5344CB8AC3E}">
        <p14:creationId xmlns:p14="http://schemas.microsoft.com/office/powerpoint/2010/main" val="92729848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84F74A3-96A7-4EDD-8252-10E76E48B3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A40910-FFF6-4E9B-AA1C-F57DA8E8A4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03DF98E-F1AA-474E-951A-F2F16E3994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87BC9507-0926-457B-BF38-7D680B6B65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12D860-56C6-4CA6-8B44-B620AC91B47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CD24FE95-4ACF-4D0B-85F3-B2F85125E22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847F5AC-6826-4F29-B80B-C57F5771D3D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5276142B-6172-4FF8-B91B-18B927678AA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2957A31-5761-49B5-939C-1DE9661F76E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F1C3B155-802A-4344-BFC8-B4FEDF2FE8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11</a:t>
            </a:r>
          </a:p>
        </p:txBody>
      </p:sp>
    </p:spTree>
    <p:extLst>
      <p:ext uri="{BB962C8B-B14F-4D97-AF65-F5344CB8AC3E}">
        <p14:creationId xmlns:p14="http://schemas.microsoft.com/office/powerpoint/2010/main" val="99851251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522E163-70DE-4085-9604-D415104648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99FE06-3918-4F55-939C-A075D27CB6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25BD5DD-94BA-468D-89BD-E55EF968F4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34FABD19-1671-4EE9-A816-1B22A20A541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8CCEF3-6D80-4D6D-A25B-BF6811A8FA9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59C4F108-2D38-411A-A7A4-4311BF605F9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695525-35A9-4D9D-BB69-788DEA0517D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6C0B4374-3514-4AB2-A6F9-EEB0F9D878D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6B6326-A364-4FB5-B3DB-3346BB1895C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FD46B62F-9D96-43E0-A1AA-BD350FF71A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12</a:t>
            </a:r>
          </a:p>
        </p:txBody>
      </p:sp>
    </p:spTree>
    <p:extLst>
      <p:ext uri="{BB962C8B-B14F-4D97-AF65-F5344CB8AC3E}">
        <p14:creationId xmlns:p14="http://schemas.microsoft.com/office/powerpoint/2010/main" val="2900277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3C7C818-DE15-49B0-A728-060C7CF838F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5D637B-8F36-4D57-BB81-2BD739046EB4}"/>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7b3722b8c96d4a37"/>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05A5AB8-908D-4E67-B269-A7AB1F3DF8F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8BA73C-FCF8-4FCE-9C59-3F9D38E082B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Follow one reading through the code and the trace table.</a:t>
            </a:r>
          </a:p>
        </p:txBody>
      </p:sp>
      <p:sp>
        <p:nvSpPr>
          <p:cNvPr id="6" name="">
            <a:extLst xmlns:a="http://schemas.openxmlformats.org/drawingml/2006/main">
              <a:ext uri="{FF2B5EF4-FFF2-40B4-BE49-F238E27FC236}">
                <a16:creationId xmlns:a16="http://schemas.microsoft.com/office/drawing/2014/main" id="{449265F9-C921-49F9-B0E8-E2A778D135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13</a:t>
            </a:r>
          </a:p>
        </p:txBody>
      </p:sp>
    </p:spTree>
    <p:extLst>
      <p:ext uri="{BB962C8B-B14F-4D97-AF65-F5344CB8AC3E}">
        <p14:creationId xmlns:p14="http://schemas.microsoft.com/office/powerpoint/2010/main" val="152742752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E100DD6-BEA7-470D-9F10-5DC622C090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CFD0BE-A669-4059-ABCA-19592C11E5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31251BF-530E-4285-850C-FFC49FD4FB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E68A2DC-B42E-42D5-BF94-5E541CD1A2D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92C2FA39-E152-4363-8F32-E2F378C132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14</a:t>
            </a:r>
          </a:p>
        </p:txBody>
      </p:sp>
    </p:spTree>
    <p:extLst>
      <p:ext uri="{BB962C8B-B14F-4D97-AF65-F5344CB8AC3E}">
        <p14:creationId xmlns:p14="http://schemas.microsoft.com/office/powerpoint/2010/main" val="116345094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6337B16-4F6A-4149-8E3E-09D77D6960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9A5DA4-B9D3-4F0D-8964-3891362AD0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3C6D300-1686-47FD-A77A-B9FB75B725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5663A931-BEED-4C63-97EF-B63D9C6C9C1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51B904-3A25-43E1-8D08-E483411D0B6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7C3DE574-8BE1-482B-90CD-F5EE706ECE2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1C97CFE-1FDF-492B-96E9-71B244BA0BC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316264F4-552D-4897-B9F2-8B692AB592E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0AF670DA-43C0-4732-98D9-CECB862140E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C859A9B4-84D3-4A69-8608-2E078948161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6A1E502E-6915-42C4-BF46-D2A59E7AC1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15</a:t>
            </a:r>
          </a:p>
        </p:txBody>
      </p:sp>
    </p:spTree>
    <p:extLst>
      <p:ext uri="{BB962C8B-B14F-4D97-AF65-F5344CB8AC3E}">
        <p14:creationId xmlns:p14="http://schemas.microsoft.com/office/powerpoint/2010/main" val="31431554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35CFE99-68AA-4928-A7B7-E32D5F7D34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D17C09-12B5-4B02-BA1B-61DD593704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5F14D022-1926-4A45-B3FF-1D24646BEF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8232835E-31E9-4779-9C18-9AC391E4058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562972-63DA-495E-857B-9CD04C60D8CB}"/>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38C155B6-9D99-4197-BDB9-8B3A94C24789}"/>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3478234D-A6D8-49B3-971A-959CA68C52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16</a:t>
            </a:r>
          </a:p>
        </p:txBody>
      </p:sp>
    </p:spTree>
    <p:extLst>
      <p:ext uri="{BB962C8B-B14F-4D97-AF65-F5344CB8AC3E}">
        <p14:creationId xmlns:p14="http://schemas.microsoft.com/office/powerpoint/2010/main" val="78332977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9E17BA-41E3-4F6B-A74A-C68D715F7B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DAEB44-5531-4A69-B733-A97C745BF5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2D36E10-0E98-438E-8D1F-4F56CD2722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a:t>
            </a:r>
          </a:p>
        </p:txBody>
      </p:sp>
      <p:sp>
        <p:nvSpPr>
          <p:cNvPr id="4" name="">
            <a:extLst xmlns:a="http://schemas.openxmlformats.org/drawingml/2006/main">
              <a:ext uri="{FF2B5EF4-FFF2-40B4-BE49-F238E27FC236}">
                <a16:creationId xmlns:a16="http://schemas.microsoft.com/office/drawing/2014/main" id="{6738D1EA-0C80-4B72-AE57-2265417BD61D}"/>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F45120-66C9-4491-82EF-75BD9512909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Dictionary</a:t>
            </a:r>
          </a:p>
        </p:txBody>
      </p:sp>
      <p:sp>
        <p:nvSpPr>
          <p:cNvPr id="6" name="">
            <a:extLst xmlns:a="http://schemas.openxmlformats.org/drawingml/2006/main">
              <a:ext uri="{FF2B5EF4-FFF2-40B4-BE49-F238E27FC236}">
                <a16:creationId xmlns:a16="http://schemas.microsoft.com/office/drawing/2014/main" id="{6CC82C8F-97FB-4865-A1BA-D891241DB8A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collection of named values such as {"temperature_c": 25}. Access the value with row["temperature_c"].</a:t>
            </a:r>
          </a:p>
        </p:txBody>
      </p:sp>
      <p:sp>
        <p:nvSpPr>
          <p:cNvPr id="7" name="">
            <a:extLst xmlns:a="http://schemas.openxmlformats.org/drawingml/2006/main">
              <a:ext uri="{FF2B5EF4-FFF2-40B4-BE49-F238E27FC236}">
                <a16:creationId xmlns:a16="http://schemas.microsoft.com/office/drawing/2014/main" id="{BC5F961C-8F69-497A-99BC-972D7A05DF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17</a:t>
            </a:r>
          </a:p>
        </p:txBody>
      </p:sp>
    </p:spTree>
    <p:extLst>
      <p:ext uri="{BB962C8B-B14F-4D97-AF65-F5344CB8AC3E}">
        <p14:creationId xmlns:p14="http://schemas.microsoft.com/office/powerpoint/2010/main" val="211565478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498D8B-238D-4368-B9C8-208BC3C703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EC7188-EEC0-4A8D-81AD-511DBD9FA8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C787060-4A99-492B-869A-4ADDB860BD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dictionary operations</a:t>
            </a:r>
          </a:p>
        </p:txBody>
      </p:sp>
      <p:sp>
        <p:nvSpPr>
          <p:cNvPr id="4" name="">
            <a:extLst xmlns:a="http://schemas.openxmlformats.org/drawingml/2006/main">
              <a:ext uri="{FF2B5EF4-FFF2-40B4-BE49-F238E27FC236}">
                <a16:creationId xmlns:a16="http://schemas.microsoft.com/office/drawing/2014/main" id="{42AA79ED-0907-4258-8D04-28FE705BA4D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6BEF7A-B3E9-4362-91C9-722A71EC803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Key and lookup</a:t>
            </a:r>
          </a:p>
        </p:txBody>
      </p:sp>
      <p:sp>
        <p:nvSpPr>
          <p:cNvPr id="6" name="">
            <a:extLst xmlns:a="http://schemas.openxmlformats.org/drawingml/2006/main">
              <a:ext uri="{FF2B5EF4-FFF2-40B4-BE49-F238E27FC236}">
                <a16:creationId xmlns:a16="http://schemas.microsoft.com/office/drawing/2014/main" id="{7A8568B5-8239-45B9-A7B3-05600A7ACEC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key is the name used to find a value. record["reading"] looks up that key. record.get("missing", 0) returns 0 if the key is absent.</a:t>
            </a:r>
          </a:p>
        </p:txBody>
      </p:sp>
      <p:sp>
        <p:nvSpPr>
          <p:cNvPr id="7" name="">
            <a:extLst xmlns:a="http://schemas.openxmlformats.org/drawingml/2006/main">
              <a:ext uri="{FF2B5EF4-FFF2-40B4-BE49-F238E27FC236}">
                <a16:creationId xmlns:a16="http://schemas.microsoft.com/office/drawing/2014/main" id="{4C81BA91-42C6-431A-9C7C-6E8618D844C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8F79BCE-95FB-4EEC-9D6F-A9B152C3F0E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items and paired names</a:t>
            </a:r>
          </a:p>
        </p:txBody>
      </p:sp>
      <p:sp>
        <p:nvSpPr>
          <p:cNvPr id="9" name="">
            <a:extLst xmlns:a="http://schemas.openxmlformats.org/drawingml/2006/main">
              <a:ext uri="{FF2B5EF4-FFF2-40B4-BE49-F238E27FC236}">
                <a16:creationId xmlns:a16="http://schemas.microsoft.com/office/drawing/2014/main" id="{F82D477E-3CB4-4C5D-8DA5-34CD20E32E8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record.items() supplies key/value pairs. for key, value in ... puts each pair into two names, then runs the indented block once for that pair.</a:t>
            </a:r>
          </a:p>
        </p:txBody>
      </p:sp>
      <p:sp>
        <p:nvSpPr>
          <p:cNvPr id="10" name="">
            <a:extLst xmlns:a="http://schemas.openxmlformats.org/drawingml/2006/main">
              <a:ext uri="{FF2B5EF4-FFF2-40B4-BE49-F238E27FC236}">
                <a16:creationId xmlns:a16="http://schemas.microsoft.com/office/drawing/2014/main" id="{E101978E-F8FA-40B8-AFB7-B50BB92ACD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18</a:t>
            </a:r>
          </a:p>
        </p:txBody>
      </p:sp>
    </p:spTree>
    <p:extLst>
      <p:ext uri="{BB962C8B-B14F-4D97-AF65-F5344CB8AC3E}">
        <p14:creationId xmlns:p14="http://schemas.microsoft.com/office/powerpoint/2010/main" val="73172069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512A47F-A295-42E4-94C7-5285E29AC6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C0ACCC-AC58-42EF-BD3E-C5E216B5A6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C04780D-6ABA-46B1-A368-6DC72ECDCD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lookups and list slices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readings[0]</a:t>
                      </a:r>
                    </a:p>
                  </a:txBody>
                  <a:tcPr marL="91440" marR="91440" marT="45720" marB="45720">
                    <a:solidFill>
                      <a:srgbClr val="EEF3F6"/>
                    </a:solidFill>
                  </a:tcPr>
                </a:tc>
                <a:tc>
                  <a:txBody>
                    <a:bodyPr/>
                    <a:lstStyle/>
                    <a:p>
                      <a:r>
                        <a:rPr sz="2025" b="0">
                          <a:solidFill>
                            <a:srgbClr val="1C3144"/>
                          </a:solidFill>
                          <a:latin typeface="Calibri"/>
                          <a:ea typeface="Calibri"/>
                          <a:cs typeface="Calibri"/>
                        </a:rPr>
                        <a:t>The first list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Items at positions 1 and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record.get("missing", 0)</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0 if that key is absent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record.items()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Each key paired with its value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C359D4A-7053-421A-BCC2-18255671CE1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default value is a stated rule. Choose it deliberately; zero is not automatically a suitable missing-data value.</a:t>
            </a:r>
          </a:p>
        </p:txBody>
      </p:sp>
      <p:sp>
        <p:nvSpPr>
          <p:cNvPr id="6" name="">
            <a:extLst xmlns:a="http://schemas.openxmlformats.org/drawingml/2006/main">
              <a:ext uri="{FF2B5EF4-FFF2-40B4-BE49-F238E27FC236}">
                <a16:creationId xmlns:a16="http://schemas.microsoft.com/office/drawing/2014/main" id="{ADBC4E17-7450-41C1-A43D-94A2C8EA3A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19</a:t>
            </a:r>
          </a:p>
        </p:txBody>
      </p:sp>
    </p:spTree>
    <p:extLst>
      <p:ext uri="{BB962C8B-B14F-4D97-AF65-F5344CB8AC3E}">
        <p14:creationId xmlns:p14="http://schemas.microsoft.com/office/powerpoint/2010/main" val="4663313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0CFB529-B6A8-4476-9FBE-4C327772626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99DEF0-AA22-489B-8B4C-9C405155A61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6513602e6dc444c"/>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64C8D25-1790-4B07-9154-F693E182AD2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B30E8C-45DF-4B90-81FA-3D0FACD9757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D8FE590A-741D-490C-AB23-81B67E9417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20</a:t>
            </a:r>
          </a:p>
        </p:txBody>
      </p:sp>
    </p:spTree>
    <p:extLst>
      <p:ext uri="{BB962C8B-B14F-4D97-AF65-F5344CB8AC3E}">
        <p14:creationId xmlns:p14="http://schemas.microsoft.com/office/powerpoint/2010/main" val="40265202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A13AA00-644B-4912-A1D6-0CE17C6A38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D0D28A-C487-4722-A678-87005ADD56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E5BCDEC-5D0C-4FB3-872C-0E9D15CCFF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gives each value a key</a:t>
            </a:r>
          </a:p>
        </p:txBody>
      </p:sp>
      <p:sp>
        <p:nvSpPr>
          <p:cNvPr id="4" name="">
            <a:extLst xmlns:a="http://schemas.openxmlformats.org/drawingml/2006/main">
              <a:ext uri="{FF2B5EF4-FFF2-40B4-BE49-F238E27FC236}">
                <a16:creationId xmlns:a16="http://schemas.microsoft.com/office/drawing/2014/main" id="{B61C5740-2AA7-426F-98CA-23435F912ED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6CD4CC-AC85-4D6F-A774-B7B594FDE26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B987437A-D957-407B-9539-7C00E6420D7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E62CCA0-6930-475E-A515-23340B57709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AF168AC8-A2F0-4F9E-9455-CD28C21F588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ADFF5F65-7604-41DB-BDCF-C7C76CD7D93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421FB41C-B91F-4884-BA65-EBE7EE5FC8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dictionary. Keys identify values. items() supplies key/value pairs.</a:t>
            </a:r>
          </a:p>
        </p:txBody>
      </p:sp>
      <p:sp>
        <p:nvSpPr>
          <p:cNvPr id="11" name="">
            <a:extLst xmlns:a="http://schemas.openxmlformats.org/drawingml/2006/main">
              <a:ext uri="{FF2B5EF4-FFF2-40B4-BE49-F238E27FC236}">
                <a16:creationId xmlns:a16="http://schemas.microsoft.com/office/drawing/2014/main" id="{5B13F0CB-6508-40B6-9151-99F60B22B9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21</a:t>
            </a:r>
          </a:p>
        </p:txBody>
      </p:sp>
    </p:spTree>
    <p:extLst>
      <p:ext uri="{BB962C8B-B14F-4D97-AF65-F5344CB8AC3E}">
        <p14:creationId xmlns:p14="http://schemas.microsoft.com/office/powerpoint/2010/main" val="15988255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EB2D41-240A-4708-B308-A1C03F4295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2178FB-C12A-4474-8FC1-90FBF4467F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8C74FB3-E686-4A4F-A3FF-8A8D253932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Three ways to collect values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Use</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Ordered items you may change</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tuple</a:t>
                      </a:r>
                    </a:p>
                  </a:txBody>
                  <a:tcPr marL="91440" marR="91440" marT="45720" marB="45720">
                    <a:solidFill>
                      <a:srgbClr val="FFFFFF"/>
                    </a:solidFill>
                  </a:tcPr>
                </a:tc>
                <a:tc>
                  <a:txBody>
                    <a:bodyPr/>
                    <a:lstStyle/>
                    <a:p>
                      <a:r>
                        <a:rPr sz="2025" b="0">
                          <a:solidFill>
                            <a:srgbClr val="1C3144"/>
                          </a:solidFill>
                          <a:latin typeface="Calibri"/>
                          <a:ea typeface="Calibri"/>
                          <a:cs typeface="Calibri"/>
                        </a:rPr>
                        <a:t>(2, 4)</a:t>
                      </a:r>
                    </a:p>
                  </a:txBody>
                  <a:tcPr marL="91440" marR="91440" marT="45720" marB="45720">
                    <a:solidFill>
                      <a:srgbClr val="FFFFFF"/>
                    </a:solidFill>
                  </a:tcPr>
                </a:tc>
                <a:tc>
                  <a:txBody>
                    <a:bodyPr/>
                    <a:lstStyle/>
                    <a:p>
                      <a:r>
                        <a:rPr sz="2025" b="0">
                          <a:solidFill>
                            <a:srgbClr val="1C3144"/>
                          </a:solidFill>
                          <a:latin typeface="Calibri"/>
                          <a:ea typeface="Calibri"/>
                          <a:cs typeface="Calibri"/>
                        </a:rPr>
                        <a:t>Fixed collection</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set</a:t>
                      </a:r>
                    </a:p>
                  </a:txBody>
                  <a:tcPr marL="91440" marR="91440" marT="45720" marB="45720">
                    <a:solidFill>
                      <a:srgbClr val="EEF3F6"/>
                    </a:solidFill>
                  </a:tcPr>
                </a:tc>
                <a:tc>
                  <a:txBody>
                    <a:bodyPr/>
                    <a:lstStyle/>
                    <a:p>
                      <a:r>
                        <a:rPr sz="2025" b="0">
                          <a:solidFill>
                            <a:srgbClr val="1C3144"/>
                          </a:solidFill>
                          <a:latin typeface="Calibri"/>
                          <a:ea typeface="Calibri"/>
                          <a:cs typeface="Calibri"/>
                        </a:rPr>
                        <a:t>{2, 4}</a:t>
                      </a:r>
                    </a:p>
                  </a:txBody>
                  <a:tcPr marL="91440" marR="91440" marT="45720" marB="45720">
                    <a:solidFill>
                      <a:srgbClr val="EEF3F6"/>
                    </a:solidFill>
                  </a:tcPr>
                </a:tc>
                <a:tc>
                  <a:txBody>
                    <a:bodyPr/>
                    <a:lstStyle/>
                    <a:p>
                      <a:r>
                        <a:rPr sz="2025" b="0">
                          <a:solidFill>
                            <a:srgbClr val="1C3144"/>
                          </a:solidFill>
                          <a:latin typeface="Calibri"/>
                          <a:ea typeface="Calibri"/>
                          <a:cs typeface="Calibri"/>
                        </a:rPr>
                        <a:t>Unique values / membership</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326BE879-71FF-4257-9BCE-97CBA6215D0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dictionary uses key: value pairs, such as {"reading": 4}.</a:t>
            </a:r>
          </a:p>
        </p:txBody>
      </p:sp>
      <p:sp>
        <p:nvSpPr>
          <p:cNvPr id="6" name="">
            <a:extLst xmlns:a="http://schemas.openxmlformats.org/drawingml/2006/main">
              <a:ext uri="{FF2B5EF4-FFF2-40B4-BE49-F238E27FC236}">
                <a16:creationId xmlns:a16="http://schemas.microsoft.com/office/drawing/2014/main" id="{9CF83EBE-7C53-4959-8C4A-1C994C0FA1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22</a:t>
            </a:r>
          </a:p>
        </p:txBody>
      </p:sp>
    </p:spTree>
    <p:extLst>
      <p:ext uri="{BB962C8B-B14F-4D97-AF65-F5344CB8AC3E}">
        <p14:creationId xmlns:p14="http://schemas.microsoft.com/office/powerpoint/2010/main" val="109486406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19E0AFE-34C5-438A-9EF6-AE79DDA538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4EFB5E-0B7B-4965-B62D-32FF055CA7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EC557F3-6D47-4CC5-90FD-8202A8BE58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62E684B5-C65D-47BC-8816-D4FD6DE3EED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95FF0B-E3CC-49A2-B54E-91F8FE29031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658354E2-E427-4F3B-8FEF-9AAFCF2F488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4559AF5B-2541-4B0E-81EA-27713C0170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23</a:t>
            </a:r>
          </a:p>
        </p:txBody>
      </p:sp>
    </p:spTree>
    <p:extLst>
      <p:ext uri="{BB962C8B-B14F-4D97-AF65-F5344CB8AC3E}">
        <p14:creationId xmlns:p14="http://schemas.microsoft.com/office/powerpoint/2010/main" val="37741996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89A2268-8C61-4AE0-85CC-045A293D45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A24780-FDF2-4B8E-BAD5-0572FC72AC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E1846C0-E8E9-4831-AC2C-FA2AAFDB1A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33598DFF-4E45-4B3A-9A37-8242A50835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9208E39-32A1-4B1A-AECA-DCD9F6808A2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A9C42BEA-0FA9-4930-B875-84521AD8EC2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33ADFC-C539-4C62-99F1-B8141AF4419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B5EDE364-1AFB-4B78-A598-82E94DD7D03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353C952-16B2-468E-8CEC-E02E2F446AB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6902C353-0294-42BA-851E-768256BCEA6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9F48395-0873-41D9-96B7-647438A444D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4E0313E1-3B73-4B2E-A2B2-19B56DBDAF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24</a:t>
            </a:r>
          </a:p>
        </p:txBody>
      </p:sp>
    </p:spTree>
    <p:extLst>
      <p:ext uri="{BB962C8B-B14F-4D97-AF65-F5344CB8AC3E}">
        <p14:creationId xmlns:p14="http://schemas.microsoft.com/office/powerpoint/2010/main" val="128603295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0D04074-FC4A-4747-9E05-867897443C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B034C0-729B-4E64-B01E-C8C721C749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E1018B2-8A40-4485-8386-FE7E1C6885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9FF15585-A596-41F7-90D4-625602FA6BD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2F395F2D-11BC-42E7-8AE6-C25063C69B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25</a:t>
            </a:r>
          </a:p>
        </p:txBody>
      </p:sp>
    </p:spTree>
    <p:extLst>
      <p:ext uri="{BB962C8B-B14F-4D97-AF65-F5344CB8AC3E}">
        <p14:creationId xmlns:p14="http://schemas.microsoft.com/office/powerpoint/2010/main" val="7255340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3D3859-BE67-4A08-BDD5-64474CDD14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7230F9-CC8F-4908-8BE3-DE6B2090D4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CD7865-3F3D-4995-9C89-DF11294146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574C8675-9BCC-4BBF-9CBC-868583E06EA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77E93F-4095-40D7-9391-F9234BDEDA2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5A25068E-D88A-4966-91B3-9774506ADBD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6B39216-E855-4152-B272-D3B468EC565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BE417647-DE73-4008-9682-6A9081BFDE5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DDD336B-D089-4B2D-BF3A-1449FAC8C32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402EF07B-E6C6-419E-B372-C24C201B8E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26</a:t>
            </a:r>
          </a:p>
        </p:txBody>
      </p:sp>
    </p:spTree>
    <p:extLst>
      <p:ext uri="{BB962C8B-B14F-4D97-AF65-F5344CB8AC3E}">
        <p14:creationId xmlns:p14="http://schemas.microsoft.com/office/powerpoint/2010/main" val="149914371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51CA977-DACC-49D8-9B9C-2085DE237C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86C58B-86EE-4E7D-98FC-EE8C3D8813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DD66212-84BF-49B0-9E02-BAF54DE356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F372715C-36DA-47BE-9D72-EEE126AD38C0}"/>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F55270-D877-4D7A-9497-E1C2FEFA7F3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30B1D866-6083-4387-A9F4-913AE22B1D2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A721FF9C-02F4-4287-A4CD-5B8D9F7227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27</a:t>
            </a:r>
          </a:p>
        </p:txBody>
      </p:sp>
    </p:spTree>
    <p:extLst>
      <p:ext uri="{BB962C8B-B14F-4D97-AF65-F5344CB8AC3E}">
        <p14:creationId xmlns:p14="http://schemas.microsoft.com/office/powerpoint/2010/main" val="197723246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08CA3F-9A04-4192-AC5F-8CAF8F3CA2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AFA04B-673B-4105-AF5E-5FE4956253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CB0EA3C-4946-405F-82EE-E372F3F721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B775E52D-AAB9-447F-A972-432D82E1CC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C00131-59D1-43C0-BF78-391D2BA533C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motor_test_bench.csv</a:t>
            </a:r>
          </a:p>
        </p:txBody>
      </p:sp>
      <p:sp>
        <p:nvSpPr>
          <p:cNvPr id="6" name="">
            <a:extLst xmlns:a="http://schemas.openxmlformats.org/drawingml/2006/main">
              <a:ext uri="{FF2B5EF4-FFF2-40B4-BE49-F238E27FC236}">
                <a16:creationId xmlns:a16="http://schemas.microsoft.com/office/drawing/2014/main" id="{7ED03D2B-981B-4909-9FA5-3BBCF7F1660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AEB8466-83A7-4A1A-AC35-B38A0FCC1EB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winding_temp_c (degrees C); group by motor_id.</a:t>
            </a:r>
          </a:p>
        </p:txBody>
      </p:sp>
      <p:sp>
        <p:nvSpPr>
          <p:cNvPr id="8" name="">
            <a:extLst xmlns:a="http://schemas.openxmlformats.org/drawingml/2006/main">
              <a:ext uri="{FF2B5EF4-FFF2-40B4-BE49-F238E27FC236}">
                <a16:creationId xmlns:a16="http://schemas.microsoft.com/office/drawing/2014/main" id="{78B320F9-8401-42AE-A8D5-9740604D24E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44ABBA-5FF4-45DF-90FE-40DD3789260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85492275-203F-4C9E-BB10-8747923948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28</a:t>
            </a:r>
          </a:p>
        </p:txBody>
      </p:sp>
    </p:spTree>
    <p:extLst>
      <p:ext uri="{BB962C8B-B14F-4D97-AF65-F5344CB8AC3E}">
        <p14:creationId xmlns:p14="http://schemas.microsoft.com/office/powerpoint/2010/main" val="151227671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3BFE617-85D1-43B7-B187-439BA1645B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8E0E70-4F13-4BCF-8B6E-A678AED901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A71F1C-02CC-4FCD-A37D-72F265DED9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E3E58D94-76AB-42B9-A35D-C56C20667D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5FD8A55-A200-403D-8DD4-1E801B7E406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motor_test_bench.csv beside the notebook, or upload it in Colab’s Files panel.</a:t>
            </a:r>
          </a:p>
        </p:txBody>
      </p:sp>
      <p:sp>
        <p:nvSpPr>
          <p:cNvPr id="6" name="">
            <a:extLst xmlns:a="http://schemas.openxmlformats.org/drawingml/2006/main">
              <a:ext uri="{FF2B5EF4-FFF2-40B4-BE49-F238E27FC236}">
                <a16:creationId xmlns:a16="http://schemas.microsoft.com/office/drawing/2014/main" id="{128E0AF6-D809-4964-8D3E-396EFEDAF31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48EC30-ACD8-4407-9996-C132DC1FA95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728F4922-6B90-41F6-9C4C-EA11BA6B505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7D78C7-7411-452C-ADD9-664F6131B21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A401915D-C4D1-4529-83A8-C5A2EF8552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29</a:t>
            </a:r>
          </a:p>
        </p:txBody>
      </p:sp>
    </p:spTree>
    <p:extLst>
      <p:ext uri="{BB962C8B-B14F-4D97-AF65-F5344CB8AC3E}">
        <p14:creationId xmlns:p14="http://schemas.microsoft.com/office/powerpoint/2010/main" val="85863352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20CDE76-30B6-41BF-AD28-108EFC2C09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364407-B30F-46D8-BD1D-0730C66141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05A3D78-D2B2-4EAA-8935-8BB396C41B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ED9F77D0-DC3F-4C5F-940F-ADA83131390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42FF58-B93D-462F-85B7-D6D8FBCE89E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with open("motor_test_bench.csv", newline="") as 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rows = list(csv.DictReader(source))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5504C46D-0848-47BB-9505-5AAA159B597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5B535DAA-6156-457D-8E89-F6451916527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462092F4-C1A2-4858-87CC-47DBA2F39A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30</a:t>
            </a:r>
          </a:p>
        </p:txBody>
      </p:sp>
    </p:spTree>
    <p:extLst>
      <p:ext uri="{BB962C8B-B14F-4D97-AF65-F5344CB8AC3E}">
        <p14:creationId xmlns:p14="http://schemas.microsoft.com/office/powerpoint/2010/main" val="65999068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3189FB-5952-4094-938E-14AF084475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32051A-A639-4BA0-A13D-642A297D99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C0312AE-46F0-41B2-8013-2D0E27B570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a:t>
            </a:r>
          </a:p>
        </p:txBody>
      </p:sp>
      <p:sp>
        <p:nvSpPr>
          <p:cNvPr id="4" name="">
            <a:extLst xmlns:a="http://schemas.openxmlformats.org/drawingml/2006/main">
              <a:ext uri="{FF2B5EF4-FFF2-40B4-BE49-F238E27FC236}">
                <a16:creationId xmlns:a16="http://schemas.microsoft.com/office/drawing/2014/main" id="{94C6E18B-AF7B-4999-8B1A-B36F24C1A4D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CCD3E2-E829-4EF8-B719-0ACBE206DE7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2C12D16-B4B9-44D4-9391-C471C22027A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Braces pair a key with its value. append adds one value to the end of a list.</a:t>
            </a:r>
          </a:p>
        </p:txBody>
      </p:sp>
      <p:sp>
        <p:nvSpPr>
          <p:cNvPr id="7" name="">
            <a:extLst xmlns:a="http://schemas.openxmlformats.org/drawingml/2006/main">
              <a:ext uri="{FF2B5EF4-FFF2-40B4-BE49-F238E27FC236}">
                <a16:creationId xmlns:a16="http://schemas.microsoft.com/office/drawing/2014/main" id="{42737E44-ED2F-4B0A-97EE-71F3DAB38CE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same pattern works after reading a CSV row.</a:t>
            </a:r>
          </a:p>
        </p:txBody>
      </p:sp>
      <p:sp>
        <p:nvSpPr>
          <p:cNvPr id="8" name="">
            <a:extLst xmlns:a="http://schemas.openxmlformats.org/drawingml/2006/main">
              <a:ext uri="{FF2B5EF4-FFF2-40B4-BE49-F238E27FC236}">
                <a16:creationId xmlns:a16="http://schemas.microsoft.com/office/drawing/2014/main" id="{7C662EB3-2733-4A41-9F4F-5B4212E713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31</a:t>
            </a:r>
          </a:p>
        </p:txBody>
      </p:sp>
    </p:spTree>
    <p:extLst>
      <p:ext uri="{BB962C8B-B14F-4D97-AF65-F5344CB8AC3E}">
        <p14:creationId xmlns:p14="http://schemas.microsoft.com/office/powerpoint/2010/main" val="73320076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DA474F-FDCE-44FA-9EFB-61DA111AFE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72E306-6E5D-4918-887F-4811E8673D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927BFD6-F821-49F2-8AB7-DB552C23FC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 in Python</a:t>
            </a:r>
          </a:p>
        </p:txBody>
      </p:sp>
      <p:sp>
        <p:nvSpPr>
          <p:cNvPr id="4" name="">
            <a:extLst xmlns:a="http://schemas.openxmlformats.org/drawingml/2006/main">
              <a:ext uri="{FF2B5EF4-FFF2-40B4-BE49-F238E27FC236}">
                <a16:creationId xmlns:a16="http://schemas.microsoft.com/office/drawing/2014/main" id="{8F658E27-971C-41FE-A1DF-E916F73EB13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296A4A-7A8F-43D2-A7D6-AB70B451B37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[{"sensor": "A", "reading":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{"sensor": "B", "reading":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a:t>
            </a:r>
          </a:p>
        </p:txBody>
      </p:sp>
      <p:sp>
        <p:nvSpPr>
          <p:cNvPr id="6" name="">
            <a:extLst xmlns:a="http://schemas.openxmlformats.org/drawingml/2006/main">
              <a:ext uri="{FF2B5EF4-FFF2-40B4-BE49-F238E27FC236}">
                <a16:creationId xmlns:a16="http://schemas.microsoft.com/office/drawing/2014/main" id="{582357D3-28E8-4318-8D33-9BC0F55093F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ED792AC4-2744-483B-82A7-F6799E5CDE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75D8C1B9-2040-4507-9F66-83169C5405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32</a:t>
            </a:r>
          </a:p>
        </p:txBody>
      </p:sp>
    </p:spTree>
    <p:extLst>
      <p:ext uri="{BB962C8B-B14F-4D97-AF65-F5344CB8AC3E}">
        <p14:creationId xmlns:p14="http://schemas.microsoft.com/office/powerpoint/2010/main" val="79647853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3CAFEB-B4BD-42A5-8265-E5B340B515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8504BE-F7BD-4A4F-8751-4C33F1E1CE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F1CB806-6FFF-4826-91E5-764A1EDE72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a blank before converting text</a:t>
            </a:r>
          </a:p>
        </p:txBody>
      </p:sp>
      <p:sp>
        <p:nvSpPr>
          <p:cNvPr id="4" name="">
            <a:extLst xmlns:a="http://schemas.openxmlformats.org/drawingml/2006/main">
              <a:ext uri="{FF2B5EF4-FFF2-40B4-BE49-F238E27FC236}">
                <a16:creationId xmlns:a16="http://schemas.microsoft.com/office/drawing/2014/main" id="{76642223-9D5E-46B3-98BA-047C15C731B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B6B107-8262-488E-88F2-37CC4248C6D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D3C3717-E483-4050-87F5-8D97326E119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empty text field is "". The comparison != means “not equal to”. Only convert a value after the blank check passes.</a:t>
            </a:r>
          </a:p>
        </p:txBody>
      </p:sp>
      <p:sp>
        <p:nvSpPr>
          <p:cNvPr id="7" name="">
            <a:extLst xmlns:a="http://schemas.openxmlformats.org/drawingml/2006/main">
              <a:ext uri="{FF2B5EF4-FFF2-40B4-BE49-F238E27FC236}">
                <a16:creationId xmlns:a16="http://schemas.microsoft.com/office/drawing/2014/main" id="{FB95E7ED-CB85-4768-8E52-3037BCDDA91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 this example, values records valid numbers only. Its length is the valid count; the group summaries must use the same valid-record policy.</a:t>
            </a:r>
          </a:p>
        </p:txBody>
      </p:sp>
      <p:sp>
        <p:nvSpPr>
          <p:cNvPr id="8" name="">
            <a:extLst xmlns:a="http://schemas.openxmlformats.org/drawingml/2006/main">
              <a:ext uri="{FF2B5EF4-FFF2-40B4-BE49-F238E27FC236}">
                <a16:creationId xmlns:a16="http://schemas.microsoft.com/office/drawing/2014/main" id="{A2954C7F-8ABD-419F-892B-F523C51A11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33</a:t>
            </a:r>
          </a:p>
        </p:txBody>
      </p:sp>
    </p:spTree>
    <p:extLst>
      <p:ext uri="{BB962C8B-B14F-4D97-AF65-F5344CB8AC3E}">
        <p14:creationId xmlns:p14="http://schemas.microsoft.com/office/powerpoint/2010/main" val="88773590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9F53666-E83B-402D-BCCA-7B67C25436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0AB30D-1257-4933-9BD8-27AA852BB0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99AE908-9C89-4177-AB68-903073E4F7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Collect only the recorded numbers</a:t>
            </a:r>
          </a:p>
        </p:txBody>
      </p:sp>
      <p:sp>
        <p:nvSpPr>
          <p:cNvPr id="4" name="">
            <a:extLst xmlns:a="http://schemas.openxmlformats.org/drawingml/2006/main">
              <a:ext uri="{FF2B5EF4-FFF2-40B4-BE49-F238E27FC236}">
                <a16:creationId xmlns:a16="http://schemas.microsoft.com/office/drawing/2014/main" id="{93F42FEC-4C05-4CF4-B295-3B855362C4F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1523EF-59F4-484F-91C3-56020F9AE93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["2.5", "",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 values)</a:t>
            </a:r>
          </a:p>
        </p:txBody>
      </p:sp>
      <p:sp>
        <p:nvSpPr>
          <p:cNvPr id="6" name="">
            <a:extLst xmlns:a="http://schemas.openxmlformats.org/drawingml/2006/main">
              <a:ext uri="{FF2B5EF4-FFF2-40B4-BE49-F238E27FC236}">
                <a16:creationId xmlns:a16="http://schemas.microsoft.com/office/drawing/2014/main" id="{B6775C8F-C1D3-418F-8E17-4AF58E9A24E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DD04764-949F-4B59-AEDB-4EDEFECD87B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A5B72841-3352-44C0-939B-CC73434AFC1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567855B7-5DD6-4F0A-B66B-039FE3417D8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4161F21C-CF75-4645-9581-A086549FA9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 [2.5, 3.5]. A blank is missing, not a recorded zero.</a:t>
            </a:r>
          </a:p>
        </p:txBody>
      </p:sp>
      <p:sp>
        <p:nvSpPr>
          <p:cNvPr id="11" name="">
            <a:extLst xmlns:a="http://schemas.openxmlformats.org/drawingml/2006/main">
              <a:ext uri="{FF2B5EF4-FFF2-40B4-BE49-F238E27FC236}">
                <a16:creationId xmlns:a16="http://schemas.microsoft.com/office/drawing/2014/main" id="{26A73E9C-0BFE-42F4-8439-0FBD15301C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34</a:t>
            </a:r>
          </a:p>
        </p:txBody>
      </p:sp>
    </p:spTree>
    <p:extLst>
      <p:ext uri="{BB962C8B-B14F-4D97-AF65-F5344CB8AC3E}">
        <p14:creationId xmlns:p14="http://schemas.microsoft.com/office/powerpoint/2010/main" val="96307949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51AEBE-91D1-4FE9-AF5E-C192F66F92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F5587F-1ABC-4616-A11C-3FE70140CE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58EC3DA-EC6B-4141-8660-E71493C5D3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a:t>
            </a:r>
          </a:p>
        </p:txBody>
      </p:sp>
      <p:sp>
        <p:nvSpPr>
          <p:cNvPr id="4" name="">
            <a:extLst xmlns:a="http://schemas.openxmlformats.org/drawingml/2006/main">
              <a:ext uri="{FF2B5EF4-FFF2-40B4-BE49-F238E27FC236}">
                <a16:creationId xmlns:a16="http://schemas.microsoft.com/office/drawing/2014/main" id="{5A4EB855-E2A3-44DE-B885-F0BFAABD873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1A46CB-892C-4BBB-B5F2-0C88C06DD24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can hold one running total for each group.</a:t>
            </a:r>
          </a:p>
        </p:txBody>
      </p:sp>
      <p:sp>
        <p:nvSpPr>
          <p:cNvPr id="6" name="">
            <a:extLst xmlns:a="http://schemas.openxmlformats.org/drawingml/2006/main">
              <a:ext uri="{FF2B5EF4-FFF2-40B4-BE49-F238E27FC236}">
                <a16:creationId xmlns:a16="http://schemas.microsoft.com/office/drawing/2014/main" id="{D1FE8B14-9140-4884-AF36-470C4DC6658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0DA278-44A7-4D81-B19C-67D6F4C3CBF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absent key needs an initial zero.</a:t>
            </a:r>
          </a:p>
        </p:txBody>
      </p:sp>
      <p:sp>
        <p:nvSpPr>
          <p:cNvPr id="8" name="">
            <a:extLst xmlns:a="http://schemas.openxmlformats.org/drawingml/2006/main">
              <a:ext uri="{FF2B5EF4-FFF2-40B4-BE49-F238E27FC236}">
                <a16:creationId xmlns:a16="http://schemas.microsoft.com/office/drawing/2014/main" id="{0545BC80-1298-47DD-94FE-C0731E5D198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B767DFE-5959-4716-B0B4-96DC1A19C46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add the reading to that group.</a:t>
            </a:r>
          </a:p>
        </p:txBody>
      </p:sp>
      <p:sp>
        <p:nvSpPr>
          <p:cNvPr id="10" name="">
            <a:extLst xmlns:a="http://schemas.openxmlformats.org/drawingml/2006/main">
              <a:ext uri="{FF2B5EF4-FFF2-40B4-BE49-F238E27FC236}">
                <a16:creationId xmlns:a16="http://schemas.microsoft.com/office/drawing/2014/main" id="{1027D268-FA57-4F27-9947-DE391C3B04D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3E28546-A551-49BD-870D-FF127084F81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 calculate group means, keep a matching count and divide each group total by its own count.</a:t>
            </a:r>
          </a:p>
        </p:txBody>
      </p:sp>
      <p:sp>
        <p:nvSpPr>
          <p:cNvPr id="12" name="">
            <a:extLst xmlns:a="http://schemas.openxmlformats.org/drawingml/2006/main">
              <a:ext uri="{FF2B5EF4-FFF2-40B4-BE49-F238E27FC236}">
                <a16:creationId xmlns:a16="http://schemas.microsoft.com/office/drawing/2014/main" id="{29DF4639-8319-4356-B1A0-9B36A24930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35</a:t>
            </a:r>
          </a:p>
        </p:txBody>
      </p:sp>
    </p:spTree>
    <p:extLst>
      <p:ext uri="{BB962C8B-B14F-4D97-AF65-F5344CB8AC3E}">
        <p14:creationId xmlns:p14="http://schemas.microsoft.com/office/powerpoint/2010/main" val="193784857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29C91A-A6B9-46E9-AF96-0022DEA0C9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1D658D-1B0B-4CE5-ADD9-F98BB3A2A5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D3A79B8-CE7F-49B0-8F8C-C8BDDF5120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(1/2)</a:t>
            </a:r>
          </a:p>
        </p:txBody>
      </p:sp>
      <p:sp>
        <p:nvSpPr>
          <p:cNvPr id="4" name="">
            <a:extLst xmlns:a="http://schemas.openxmlformats.org/drawingml/2006/main">
              <a:ext uri="{FF2B5EF4-FFF2-40B4-BE49-F238E27FC236}">
                <a16:creationId xmlns:a16="http://schemas.microsoft.com/office/drawing/2014/main" id="{F4662B66-48A4-4E41-9DEA-FF0D9BCC359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3D9342-C6B4-41AB-B4EF-645A5FC1FD1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[{"group": "A", "reading":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"B", "reading": 9}]</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group not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totals[group] + row["reading"]</a:t>
            </a:r>
          </a:p>
        </p:txBody>
      </p:sp>
      <p:sp>
        <p:nvSpPr>
          <p:cNvPr id="6" name="">
            <a:extLst xmlns:a="http://schemas.openxmlformats.org/drawingml/2006/main">
              <a:ext uri="{FF2B5EF4-FFF2-40B4-BE49-F238E27FC236}">
                <a16:creationId xmlns:a16="http://schemas.microsoft.com/office/drawing/2014/main" id="{3FFACC71-CD45-4E9F-A4C0-49136C3022D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AE051FB7-74C4-4F0B-BD70-C0FC7BCB5FE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A69194F5-2C71-4109-BADC-6F41BDC150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36</a:t>
            </a:r>
          </a:p>
        </p:txBody>
      </p:sp>
    </p:spTree>
    <p:extLst>
      <p:ext uri="{BB962C8B-B14F-4D97-AF65-F5344CB8AC3E}">
        <p14:creationId xmlns:p14="http://schemas.microsoft.com/office/powerpoint/2010/main" val="81371902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F55693E-0EC6-4931-8EF1-7466FCEDAD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7E354F-56D0-42ED-9BB3-B6F3309357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C5DDACF-4CE2-4B02-B04A-15CC90F338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(2/2)</a:t>
            </a:r>
          </a:p>
        </p:txBody>
      </p:sp>
      <p:sp>
        <p:nvSpPr>
          <p:cNvPr id="4" name="">
            <a:extLst xmlns:a="http://schemas.openxmlformats.org/drawingml/2006/main">
              <a:ext uri="{FF2B5EF4-FFF2-40B4-BE49-F238E27FC236}">
                <a16:creationId xmlns:a16="http://schemas.microsoft.com/office/drawing/2014/main" id="{1FB5D196-38A0-48F2-9777-373A75FF70C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D124DC-FDB9-4218-920A-9F9ABE67B19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p:txBody>
      </p:sp>
      <p:sp>
        <p:nvSpPr>
          <p:cNvPr id="6" name="">
            <a:extLst xmlns:a="http://schemas.openxmlformats.org/drawingml/2006/main">
              <a:ext uri="{FF2B5EF4-FFF2-40B4-BE49-F238E27FC236}">
                <a16:creationId xmlns:a16="http://schemas.microsoft.com/office/drawing/2014/main" id="{A8482EF6-CE1B-449A-B849-132C66CAAE6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485EB7C-13E8-4F3B-846E-17A0E926DEC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1198560-AA87-432D-A692-217F77C9189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E006AA01-3225-4069-A18C-1D59F83D84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37</a:t>
            </a:r>
          </a:p>
        </p:txBody>
      </p:sp>
    </p:spTree>
    <p:extLst>
      <p:ext uri="{BB962C8B-B14F-4D97-AF65-F5344CB8AC3E}">
        <p14:creationId xmlns:p14="http://schemas.microsoft.com/office/powerpoint/2010/main" val="129914217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F7B39B-2DEF-4B86-8856-2548474FF0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F54ECD-8B70-4198-965B-9EE550F906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750E84-A22A-4C81-987B-D00E6796F7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group mean needs its own count</a:t>
            </a:r>
          </a:p>
        </p:txBody>
      </p:sp>
      <p:sp>
        <p:nvSpPr>
          <p:cNvPr id="4" name="">
            <a:extLst xmlns:a="http://schemas.openxmlformats.org/drawingml/2006/main">
              <a:ext uri="{FF2B5EF4-FFF2-40B4-BE49-F238E27FC236}">
                <a16:creationId xmlns:a16="http://schemas.microsoft.com/office/drawing/2014/main" id="{4601A218-2E34-4818-B8E2-B396FA4DB49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E63A6D-6F81-46A5-9A6E-B1A0941B8FF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62263F9-8708-4855-8115-D589B88C824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preceding loop calculated a total for each group. Count records in those same groups, then divide each group total by its own count.</a:t>
            </a:r>
          </a:p>
        </p:txBody>
      </p:sp>
      <p:sp>
        <p:nvSpPr>
          <p:cNvPr id="7" name="">
            <a:extLst xmlns:a="http://schemas.openxmlformats.org/drawingml/2006/main">
              <a:ext uri="{FF2B5EF4-FFF2-40B4-BE49-F238E27FC236}">
                <a16:creationId xmlns:a16="http://schemas.microsoft.com/office/drawing/2014/main" id="{66C73BC2-A586-4A3A-A412-7576A353898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items() supplies the group name and its total together. We use small invented records, not the assignment’s answers.</a:t>
            </a:r>
          </a:p>
        </p:txBody>
      </p:sp>
      <p:sp>
        <p:nvSpPr>
          <p:cNvPr id="8" name="">
            <a:extLst xmlns:a="http://schemas.openxmlformats.org/drawingml/2006/main">
              <a:ext uri="{FF2B5EF4-FFF2-40B4-BE49-F238E27FC236}">
                <a16:creationId xmlns:a16="http://schemas.microsoft.com/office/drawing/2014/main" id="{3E1262B8-3BC3-4833-9ED9-D662814CD1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38</a:t>
            </a:r>
          </a:p>
        </p:txBody>
      </p:sp>
    </p:spTree>
    <p:extLst>
      <p:ext uri="{BB962C8B-B14F-4D97-AF65-F5344CB8AC3E}">
        <p14:creationId xmlns:p14="http://schemas.microsoft.com/office/powerpoint/2010/main" val="156625388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2F21463-26CA-4194-8C7F-A760AFB74E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17F102-D9C3-4232-A1DC-C984FCAC84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1510E4C-59B1-40CC-B30A-9AD0204A30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From group totals to group means</a:t>
            </a:r>
          </a:p>
        </p:txBody>
      </p:sp>
      <p:sp>
        <p:nvSpPr>
          <p:cNvPr id="4" name="">
            <a:extLst xmlns:a="http://schemas.openxmlformats.org/drawingml/2006/main">
              <a:ext uri="{FF2B5EF4-FFF2-40B4-BE49-F238E27FC236}">
                <a16:creationId xmlns:a16="http://schemas.microsoft.com/office/drawing/2014/main" id="{C40589B6-BF50-41A5-A6D7-0D9777B6FD4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7A65AB-DCD5-4A75-9E5F-C7D2D77221E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counts = {}</a:t>
            </a:r>
          </a:p>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for</a:t>
            </a:r>
            <a:r>
              <a:rPr sz="1900" b="0">
                <a:solidFill>
                  <a:srgbClr val="F4F7FA"/>
                </a:solidFill>
                <a:latin typeface="Courier New"/>
                <a:ea typeface="Courier New"/>
                <a:cs typeface="Courier New"/>
              </a:rPr>
              <a:t> row in records: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group = row["group"]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counts[group] = counts.get(group, 0) + 1</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means = {}</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for group, total in totals.items():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means[group] = total / counts[group]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8A4E2AF9-36B7-461B-B7FF-F3D690F1FF9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3274BA7-4B48-45B4-9680-775156A76F3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33A63A31-031F-410A-A628-C7E632C27F9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ED65AA15-5C79-4709-9C77-C3B7EDE84CC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B85319B7-0683-4183-B521-036B1A6A13D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has mean 3.0 and B has mean 9.0. Each group uses its own denominator.</a:t>
            </a:r>
          </a:p>
        </p:txBody>
      </p:sp>
      <p:sp>
        <p:nvSpPr>
          <p:cNvPr id="11" name="">
            <a:extLst xmlns:a="http://schemas.openxmlformats.org/drawingml/2006/main">
              <a:ext uri="{FF2B5EF4-FFF2-40B4-BE49-F238E27FC236}">
                <a16:creationId xmlns:a16="http://schemas.microsoft.com/office/drawing/2014/main" id="{B3DEA861-DDE9-412B-8E3F-EE6E048D6F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39</a:t>
            </a:r>
          </a:p>
        </p:txBody>
      </p:sp>
    </p:spTree>
    <p:extLst>
      <p:ext uri="{BB962C8B-B14F-4D97-AF65-F5344CB8AC3E}">
        <p14:creationId xmlns:p14="http://schemas.microsoft.com/office/powerpoint/2010/main" val="210317564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AF9A25-02F0-4C3D-8D7A-2244151B3C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06FB20-BE99-48F7-87F4-BBB98B1202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9159C1-9DCE-4861-B497-E3B38AADB8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When numeric text cannot be converted</a:t>
            </a:r>
          </a:p>
        </p:txBody>
      </p:sp>
      <p:sp>
        <p:nvSpPr>
          <p:cNvPr id="4" name="">
            <a:extLst xmlns:a="http://schemas.openxmlformats.org/drawingml/2006/main">
              <a:ext uri="{FF2B5EF4-FFF2-40B4-BE49-F238E27FC236}">
                <a16:creationId xmlns:a16="http://schemas.microsoft.com/office/drawing/2014/main" id="{FBEB7209-EBA4-4A75-B73E-4E765654AE5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F02BAD-786D-461A-B870-81E345CED52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B7E3AA5-F9D1-4475-9A38-AB06DB77D27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float("bad") raises ValueError: the text does not represent a number. An exception interrupts ordinary execution.</a:t>
            </a:r>
          </a:p>
        </p:txBody>
      </p:sp>
      <p:sp>
        <p:nvSpPr>
          <p:cNvPr id="7" name="">
            <a:extLst xmlns:a="http://schemas.openxmlformats.org/drawingml/2006/main">
              <a:ext uri="{FF2B5EF4-FFF2-40B4-BE49-F238E27FC236}">
                <a16:creationId xmlns:a16="http://schemas.microsoft.com/office/drawing/2014/main" id="{0CEF184C-F4AF-45FB-ACFD-485468C94C0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try contains the operation that might fail. except ValueError runs only for that named failure. Indentation shows the two blocks.</a:t>
            </a:r>
          </a:p>
        </p:txBody>
      </p:sp>
      <p:sp>
        <p:nvSpPr>
          <p:cNvPr id="8" name="">
            <a:extLst xmlns:a="http://schemas.openxmlformats.org/drawingml/2006/main">
              <a:ext uri="{FF2B5EF4-FFF2-40B4-BE49-F238E27FC236}">
                <a16:creationId xmlns:a16="http://schemas.microsoft.com/office/drawing/2014/main" id="{6B254748-502D-4089-95B7-623DFCA361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40</a:t>
            </a:r>
          </a:p>
        </p:txBody>
      </p:sp>
    </p:spTree>
    <p:extLst>
      <p:ext uri="{BB962C8B-B14F-4D97-AF65-F5344CB8AC3E}">
        <p14:creationId xmlns:p14="http://schemas.microsoft.com/office/powerpoint/2010/main" val="22871356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8FCBFAE-B46F-4EFA-842F-1122629D68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A16986-A507-47D1-A98B-36580AA59B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E6BD474-61EE-4516-925F-B154EFE2A7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Catch one expected conversion failure</a:t>
            </a:r>
          </a:p>
        </p:txBody>
      </p:sp>
      <p:sp>
        <p:nvSpPr>
          <p:cNvPr id="4" name="">
            <a:extLst xmlns:a="http://schemas.openxmlformats.org/drawingml/2006/main">
              <a:ext uri="{FF2B5EF4-FFF2-40B4-BE49-F238E27FC236}">
                <a16:creationId xmlns:a16="http://schemas.microsoft.com/office/drawing/2014/main" id="{73CB3DF2-446E-4FB8-BB6E-2D9E7726746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3DBCCB-818B-45B1-8786-7EE5EDE249B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 = "bad"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except ValueError: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a:t>
            </a:r>
          </a:p>
        </p:txBody>
      </p:sp>
      <p:sp>
        <p:nvSpPr>
          <p:cNvPr id="6" name="">
            <a:extLst xmlns:a="http://schemas.openxmlformats.org/drawingml/2006/main">
              <a:ext uri="{FF2B5EF4-FFF2-40B4-BE49-F238E27FC236}">
                <a16:creationId xmlns:a16="http://schemas.microsoft.com/office/drawing/2014/main" id="{D82CA110-DF06-460C-AEA5-3C0B29119AC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FB917FC-835A-46AB-B48E-215ADE41D70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0D801811-45E1-418C-8B6B-892821AB91F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4F846DD3-830B-419C-ACCE-3015CBD3770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C9E3FF60-0775-4F0D-A86C-64CF8F4D3B7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None. The assignment specifies which invalid records to skip; do not invent a replacement number.</a:t>
            </a:r>
          </a:p>
        </p:txBody>
      </p:sp>
      <p:sp>
        <p:nvSpPr>
          <p:cNvPr id="11" name="">
            <a:extLst xmlns:a="http://schemas.openxmlformats.org/drawingml/2006/main">
              <a:ext uri="{FF2B5EF4-FFF2-40B4-BE49-F238E27FC236}">
                <a16:creationId xmlns:a16="http://schemas.microsoft.com/office/drawing/2014/main" id="{A2362DB5-92EB-4D4A-A7C8-AE2DF7B8E9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41</a:t>
            </a:r>
          </a:p>
        </p:txBody>
      </p:sp>
    </p:spTree>
    <p:extLst>
      <p:ext uri="{BB962C8B-B14F-4D97-AF65-F5344CB8AC3E}">
        <p14:creationId xmlns:p14="http://schemas.microsoft.com/office/powerpoint/2010/main" val="49738466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46EF9A-6270-47B3-B0E3-83880C7C58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2E51B9-F66D-4937-8AC3-61DAD31F97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C1310F33-2EC4-4653-9C8A-82B82E240C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loop</a:t>
            </a:r>
          </a:p>
        </p:txBody>
      </p:sp>
      <p:sp>
        <p:nvSpPr>
          <p:cNvPr id="4" name="">
            <a:extLst xmlns:a="http://schemas.openxmlformats.org/drawingml/2006/main">
              <a:ext uri="{FF2B5EF4-FFF2-40B4-BE49-F238E27FC236}">
                <a16:creationId xmlns:a16="http://schemas.microsoft.com/office/drawing/2014/main" id="{E1034B9C-0554-4B7B-9295-C449E489F15A}"/>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FA29F4-CE11-4F3F-8234-877EA884F9CD}"/>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the readings 2, 4 and 6 on separate scraps of paper.</a:t>
            </a:r>
          </a:p>
        </p:txBody>
      </p:sp>
      <p:sp>
        <p:nvSpPr>
          <p:cNvPr id="6" name="">
            <a:extLst xmlns:a="http://schemas.openxmlformats.org/drawingml/2006/main">
              <a:ext uri="{FF2B5EF4-FFF2-40B4-BE49-F238E27FC236}">
                <a16:creationId xmlns:a16="http://schemas.microsoft.com/office/drawing/2014/main" id="{385A0212-848E-4EF1-967A-F3F2661B6204}"/>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A090E7-B6F3-4D65-A929-F6DA253B9D11}"/>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Move through them once. Keep a running total and a count.</a:t>
            </a:r>
          </a:p>
        </p:txBody>
      </p:sp>
      <p:sp>
        <p:nvSpPr>
          <p:cNvPr id="8" name="">
            <a:extLst xmlns:a="http://schemas.openxmlformats.org/drawingml/2006/main">
              <a:ext uri="{FF2B5EF4-FFF2-40B4-BE49-F238E27FC236}">
                <a16:creationId xmlns:a16="http://schemas.microsoft.com/office/drawing/2014/main" id="{4E6BAE3D-1E85-4D68-8ECB-BF54136F915D}"/>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22596A1-4771-4249-977E-6E54A494A6F4}"/>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a fourth reading of 8. Predict the new mean before coding.</a:t>
            </a:r>
          </a:p>
        </p:txBody>
      </p:sp>
      <p:sp>
        <p:nvSpPr>
          <p:cNvPr id="10" name="">
            <a:extLst xmlns:a="http://schemas.openxmlformats.org/drawingml/2006/main">
              <a:ext uri="{FF2B5EF4-FFF2-40B4-BE49-F238E27FC236}">
                <a16:creationId xmlns:a16="http://schemas.microsoft.com/office/drawing/2014/main" id="{F5715BBF-7D88-4AA7-84A1-650D30717DBE}"/>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84C19DE-E1D3-490E-8C5B-CBF2FE9BDE45}"/>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3D4C335A-60EB-4B3E-92A5-0AC44A4F9D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42</a:t>
            </a:r>
          </a:p>
        </p:txBody>
      </p:sp>
    </p:spTree>
    <p:extLst>
      <p:ext uri="{BB962C8B-B14F-4D97-AF65-F5344CB8AC3E}">
        <p14:creationId xmlns:p14="http://schemas.microsoft.com/office/powerpoint/2010/main" val="2033191377"/>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F069CBF-D1ED-46E4-B6FF-728633D2A1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947B34-51D4-4247-A8DB-3EBEDDCD7E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9CABA30A-42ED-41EC-B6AB-F17F912C75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FC055130-CE99-4AF7-9444-EB18F7D46EA4}"/>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8EE609-2C1A-4E22-9A91-678557A432A4}"/>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The new total is 20 and count is 4, so the mean is 5. Resetting the total inside the loop loses earlier additions.</a:t>
            </a:r>
          </a:p>
        </p:txBody>
      </p:sp>
      <p:sp>
        <p:nvSpPr>
          <p:cNvPr id="6" name="">
            <a:extLst xmlns:a="http://schemas.openxmlformats.org/drawingml/2006/main">
              <a:ext uri="{FF2B5EF4-FFF2-40B4-BE49-F238E27FC236}">
                <a16:creationId xmlns:a16="http://schemas.microsoft.com/office/drawing/2014/main" id="{8EFEECFB-5F67-4ECA-BB1E-B33A1D542EB9}"/>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3C6CBFED-CEB9-46AC-B8BB-BE10DB0A7F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43</a:t>
            </a:r>
          </a:p>
        </p:txBody>
      </p:sp>
    </p:spTree>
    <p:extLst>
      <p:ext uri="{BB962C8B-B14F-4D97-AF65-F5344CB8AC3E}">
        <p14:creationId xmlns:p14="http://schemas.microsoft.com/office/powerpoint/2010/main" val="1767670042"/>
      </p:ext>
    </p:extLst>
  </p:cSld>
</p:sld>
</file>

<file path=ppt/slides/slide4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FE9C0C-D029-4AF1-86D9-48740BD156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EEDB22A1-56BE-4BF4-8658-009B395AF9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3D0507D4-988E-427B-88AD-A2BEB391782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4DD08324-48E3-4B69-A611-F68167E1482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Add 8 to the list. Trace the new total and count before running. What happens if total = 0 is moved inside the loop?</a:t>
            </a:r>
          </a:p>
        </p:txBody>
      </p:sp>
      <p:sp>
        <p:nvSpPr>
          <p:cNvPr id="5" name="">
            <a:extLst xmlns:a="http://schemas.openxmlformats.org/drawingml/2006/main">
              <a:ext uri="{FF2B5EF4-FFF2-40B4-BE49-F238E27FC236}">
                <a16:creationId xmlns:a16="http://schemas.microsoft.com/office/drawing/2014/main" id="{6D9326F2-5C9F-45D0-9916-98781E1D1AE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7E4F28E9-4B8E-442D-ADD7-4DFE85F337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4   44</a:t>
            </a:r>
          </a:p>
        </p:txBody>
      </p:sp>
    </p:spTree>
    <p:extLst>
      <p:ext uri="{BB962C8B-B14F-4D97-AF65-F5344CB8AC3E}">
        <p14:creationId xmlns:p14="http://schemas.microsoft.com/office/powerpoint/2010/main" val="117554961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29F3D6F-0C89-4B40-B380-9D2703E797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0D3B6C-73B9-48E9-9EF9-08A29ACD0B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A822E92D-BC5E-44E0-92A9-9559A27DD7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060DF2E5-3BAE-4329-B842-77E7CC682B9B}"/>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BE2BA8-69DB-43AD-8A31-3F1BAB68F731}"/>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Total 20, count 4, mean 5.0. Resetting inside the loop discards previous additions and leaves only the last value in total.</a:t>
            </a:r>
          </a:p>
        </p:txBody>
      </p:sp>
      <p:sp>
        <p:nvSpPr>
          <p:cNvPr id="6" name="">
            <a:extLst xmlns:a="http://schemas.openxmlformats.org/drawingml/2006/main">
              <a:ext uri="{FF2B5EF4-FFF2-40B4-BE49-F238E27FC236}">
                <a16:creationId xmlns:a16="http://schemas.microsoft.com/office/drawing/2014/main" id="{EFFE5609-6C61-4E8B-B090-149EEAE5A05B}"/>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2D2A0197-B277-4CCC-AB91-B52BF380C0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45</a:t>
            </a:r>
          </a:p>
        </p:txBody>
      </p:sp>
    </p:spTree>
    <p:extLst>
      <p:ext uri="{BB962C8B-B14F-4D97-AF65-F5344CB8AC3E}">
        <p14:creationId xmlns:p14="http://schemas.microsoft.com/office/powerpoint/2010/main" val="109610569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7C0E02-9E15-4338-8993-2729DB1B67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8B794D-BA79-412B-84FD-EBC6E54246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668579C-274E-4343-A420-973A1862E3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6DCE55E3-5C86-4CB9-89C1-A12F952A05A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ADE86A-E729-4221-BB0D-5B589DB8A7C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issued W04 notebook and its cohort CSV.</a:t>
            </a:r>
          </a:p>
        </p:txBody>
      </p:sp>
      <p:sp>
        <p:nvSpPr>
          <p:cNvPr id="6" name="">
            <a:extLst xmlns:a="http://schemas.openxmlformats.org/drawingml/2006/main">
              <a:ext uri="{FF2B5EF4-FFF2-40B4-BE49-F238E27FC236}">
                <a16:creationId xmlns:a16="http://schemas.microsoft.com/office/drawing/2014/main" id="{2174F7BB-395D-4608-B01C-58E3D36A3B3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DF3C82-C84D-4E55-BF4B-75EFB738A07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requested valid_count, mean_reading, above_limit and group_means using the exact names in the notebook.</a:t>
            </a:r>
          </a:p>
        </p:txBody>
      </p:sp>
      <p:sp>
        <p:nvSpPr>
          <p:cNvPr id="8" name="">
            <a:extLst xmlns:a="http://schemas.openxmlformats.org/drawingml/2006/main">
              <a:ext uri="{FF2B5EF4-FFF2-40B4-BE49-F238E27FC236}">
                <a16:creationId xmlns:a16="http://schemas.microsoft.com/office/drawing/2014/main" id="{DCB63C44-08C1-49CC-B245-8AFA5197F09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CCCF57-C926-445B-A762-E722BE3550A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identify the correct field and its unit.</a:t>
            </a:r>
          </a:p>
        </p:txBody>
      </p:sp>
      <p:sp>
        <p:nvSpPr>
          <p:cNvPr id="10" name="">
            <a:extLst xmlns:a="http://schemas.openxmlformats.org/drawingml/2006/main">
              <a:ext uri="{FF2B5EF4-FFF2-40B4-BE49-F238E27FC236}">
                <a16:creationId xmlns:a16="http://schemas.microsoft.com/office/drawing/2014/main" id="{3AE2187C-96B6-4397-A5C9-E1A5FDE3C55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A79EA46-A95F-4442-BAFC-DAAA37F6BFC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beside the notebook locally or upload it into the Colab runtime.</a:t>
            </a:r>
          </a:p>
        </p:txBody>
      </p:sp>
      <p:sp>
        <p:nvSpPr>
          <p:cNvPr id="12" name="">
            <a:extLst xmlns:a="http://schemas.openxmlformats.org/drawingml/2006/main">
              <a:ext uri="{FF2B5EF4-FFF2-40B4-BE49-F238E27FC236}">
                <a16:creationId xmlns:a16="http://schemas.microsoft.com/office/drawing/2014/main" id="{C711E948-7C8E-432F-AE1A-808E300732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46</a:t>
            </a:r>
          </a:p>
        </p:txBody>
      </p:sp>
    </p:spTree>
    <p:extLst>
      <p:ext uri="{BB962C8B-B14F-4D97-AF65-F5344CB8AC3E}">
        <p14:creationId xmlns:p14="http://schemas.microsoft.com/office/powerpoint/2010/main" val="37067677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BFE3FA5-66C1-4344-990B-81E4CCA0B7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E52765-8102-4BE0-A71D-4D023AAD96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3D19E1F-67CB-48F2-8BE4-40049E1C38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6CBE74BE-F4F8-40BD-B9EC-3718D05E91F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4D5251-05CD-48A6-BA82-9274AFE08C7D}"/>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interpretation is practice.</a:t>
            </a:r>
          </a:p>
        </p:txBody>
      </p:sp>
      <p:sp>
        <p:nvSpPr>
          <p:cNvPr id="6" name="">
            <a:extLst xmlns:a="http://schemas.openxmlformats.org/drawingml/2006/main">
              <a:ext uri="{FF2B5EF4-FFF2-40B4-BE49-F238E27FC236}">
                <a16:creationId xmlns:a16="http://schemas.microsoft.com/office/drawing/2014/main" id="{DA618518-E54E-402F-9AE6-510E893111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47</a:t>
            </a:r>
          </a:p>
        </p:txBody>
      </p:sp>
    </p:spTree>
    <p:extLst>
      <p:ext uri="{BB962C8B-B14F-4D97-AF65-F5344CB8AC3E}">
        <p14:creationId xmlns:p14="http://schemas.microsoft.com/office/powerpoint/2010/main" val="33997350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2C49490-1D11-4A40-9888-321D31B279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B3B6D6-C498-4E84-99A9-8AC64417CA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B68DFA-0C66-469B-8D82-4891C830DB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honestly</a:t>
            </a:r>
          </a:p>
        </p:txBody>
      </p:sp>
      <p:sp>
        <p:nvSpPr>
          <p:cNvPr id="4" name="">
            <a:extLst xmlns:a="http://schemas.openxmlformats.org/drawingml/2006/main">
              <a:ext uri="{FF2B5EF4-FFF2-40B4-BE49-F238E27FC236}">
                <a16:creationId xmlns:a16="http://schemas.microsoft.com/office/drawing/2014/main" id="{0607F0F4-D061-40FF-81A5-A96CFB6837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7E9BFC-9EF6-4B2F-A7F1-D7B8D5C6F29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already consumes the header; skipping its first yielded row skips real data.</a:t>
            </a:r>
          </a:p>
        </p:txBody>
      </p:sp>
      <p:sp>
        <p:nvSpPr>
          <p:cNvPr id="6" name="">
            <a:extLst xmlns:a="http://schemas.openxmlformats.org/drawingml/2006/main">
              <a:ext uri="{FF2B5EF4-FFF2-40B4-BE49-F238E27FC236}">
                <a16:creationId xmlns:a16="http://schemas.microsoft.com/office/drawing/2014/main" id="{426A2FAB-DC0F-455D-BF1D-913223DFB64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A7AFAF-6585-4995-A39A-58849BC1ACC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string such as "unknown" cannot be converted to float.</a:t>
            </a:r>
          </a:p>
        </p:txBody>
      </p:sp>
      <p:sp>
        <p:nvSpPr>
          <p:cNvPr id="8" name="">
            <a:extLst xmlns:a="http://schemas.openxmlformats.org/drawingml/2006/main">
              <a:ext uri="{FF2B5EF4-FFF2-40B4-BE49-F238E27FC236}">
                <a16:creationId xmlns:a16="http://schemas.microsoft.com/office/drawing/2014/main" id="{B5A8B7C2-7DD7-494A-B2BA-AE925E1CFF3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311FF98-9F66-4981-9A6E-3C246A4EBF5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Catch the expected conversion error, count and record it, then continue under a stated policy.</a:t>
            </a:r>
          </a:p>
        </p:txBody>
      </p:sp>
      <p:sp>
        <p:nvSpPr>
          <p:cNvPr id="10" name="">
            <a:extLst xmlns:a="http://schemas.openxmlformats.org/drawingml/2006/main">
              <a:ext uri="{FF2B5EF4-FFF2-40B4-BE49-F238E27FC236}">
                <a16:creationId xmlns:a16="http://schemas.microsoft.com/office/drawing/2014/main" id="{9526F9C0-6EEE-43B8-9B15-9F19620BB90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EF68454-730F-4B07-B084-1B84A7CB0E3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whether skipped rows share a source before reporting a mean.</a:t>
            </a:r>
          </a:p>
        </p:txBody>
      </p:sp>
      <p:sp>
        <p:nvSpPr>
          <p:cNvPr id="12" name="">
            <a:extLst xmlns:a="http://schemas.openxmlformats.org/drawingml/2006/main">
              <a:ext uri="{FF2B5EF4-FFF2-40B4-BE49-F238E27FC236}">
                <a16:creationId xmlns:a16="http://schemas.microsoft.com/office/drawing/2014/main" id="{32139606-3DA1-428C-A768-822E090353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48</a:t>
            </a:r>
          </a:p>
        </p:txBody>
      </p:sp>
    </p:spTree>
    <p:extLst>
      <p:ext uri="{BB962C8B-B14F-4D97-AF65-F5344CB8AC3E}">
        <p14:creationId xmlns:p14="http://schemas.microsoft.com/office/powerpoint/2010/main" val="25887388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9E9049-26B4-478F-A048-D01DB5E8E9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2F0148-3285-461D-96D8-273CD8E544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1AD9D6-4ACD-486A-8F99-55D55C711A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honestly continued</a:t>
            </a:r>
          </a:p>
        </p:txBody>
      </p:sp>
      <p:sp>
        <p:nvSpPr>
          <p:cNvPr id="4" name="">
            <a:extLst xmlns:a="http://schemas.openxmlformats.org/drawingml/2006/main">
              <a:ext uri="{FF2B5EF4-FFF2-40B4-BE49-F238E27FC236}">
                <a16:creationId xmlns:a16="http://schemas.microsoft.com/office/drawing/2014/main" id="{B738D939-B557-4CED-A516-FECD7A5EDCF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E83987-D821-429A-B895-A5D40C8DF298}"/>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sample summary describes observed records, not every possible operating condition.</a:t>
            </a:r>
          </a:p>
        </p:txBody>
      </p:sp>
      <p:sp>
        <p:nvSpPr>
          <p:cNvPr id="6" name="">
            <a:extLst xmlns:a="http://schemas.openxmlformats.org/drawingml/2006/main">
              <a:ext uri="{FF2B5EF4-FFF2-40B4-BE49-F238E27FC236}">
                <a16:creationId xmlns:a16="http://schemas.microsoft.com/office/drawing/2014/main" id="{29B3EBF4-737F-4FF9-93A7-675F16C60B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49</a:t>
            </a:r>
          </a:p>
        </p:txBody>
      </p:sp>
    </p:spTree>
    <p:extLst>
      <p:ext uri="{BB962C8B-B14F-4D97-AF65-F5344CB8AC3E}">
        <p14:creationId xmlns:p14="http://schemas.microsoft.com/office/powerpoint/2010/main" val="89606895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D7D183D-450D-4F88-B51B-BE7C001BAA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DB4D57-631E-49AB-B0CF-E0740A560B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E0C1144-F2C4-4CB8-86AA-F1EC2CB30B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766CB9A4-5184-4DE2-B969-1072484D75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9655D7-092A-48BE-B69B-89B61CBCD29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E54E129D-EF47-43E0-8D5B-B128D6C8DB7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2E94DB9-BAC2-4072-876A-A910E2FB090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07D76F84-AB6D-44DF-A7C9-32958301C25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997617E-FAA3-47AF-BD26-C9F47E70C4E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CB16E20B-3EEE-4E4A-B8B6-E5397D59BEA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385F007-C319-425F-B1BB-A9FE0345613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806FFBFC-E244-4390-AAFB-3C3B036745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50</a:t>
            </a:r>
          </a:p>
        </p:txBody>
      </p:sp>
    </p:spTree>
    <p:extLst>
      <p:ext uri="{BB962C8B-B14F-4D97-AF65-F5344CB8AC3E}">
        <p14:creationId xmlns:p14="http://schemas.microsoft.com/office/powerpoint/2010/main" val="86478440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221E44-5D5A-4222-A72C-9563BE6D5D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EE5876-97E7-46AC-8B1F-E02FCEA08F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B2CA7D-D801-45CA-A58B-D96789B014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CF9BC1A5-E4CB-4D4A-B895-F4B201B5DE5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C95105-F0D5-45AA-8F3D-163A76452E6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2864B3-F862-4E7F-BD01-13D92E7DD72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winding_temp_c field is nonblank.</a:t>
            </a:r>
          </a:p>
        </p:txBody>
      </p:sp>
      <p:sp>
        <p:nvSpPr>
          <p:cNvPr id="7" name="">
            <a:extLst xmlns:a="http://schemas.openxmlformats.org/drawingml/2006/main">
              <a:ext uri="{FF2B5EF4-FFF2-40B4-BE49-F238E27FC236}">
                <a16:creationId xmlns:a16="http://schemas.microsoft.com/office/drawing/2014/main" id="{4453D854-CD29-47B2-989A-5E62B0FA323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F6880409-63AC-4C83-BDD8-D623164BF7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51</a:t>
            </a:r>
          </a:p>
        </p:txBody>
      </p:sp>
    </p:spTree>
    <p:extLst>
      <p:ext uri="{BB962C8B-B14F-4D97-AF65-F5344CB8AC3E}">
        <p14:creationId xmlns:p14="http://schemas.microsoft.com/office/powerpoint/2010/main" val="107531201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AE9D80-2E29-4E66-B437-AB4C8DBF19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39CE2F-061C-4768-A534-A65357B760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E1C8EE-5997-4140-9212-26E60CE78D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DF30F761-EAF7-469F-AA3E-636AFFA3FD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1E50C0C-8D37-44D2-97A3-5FAE580BC59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winding_temp_c values as a number.</a:t>
            </a:r>
          </a:p>
        </p:txBody>
      </p:sp>
      <p:sp>
        <p:nvSpPr>
          <p:cNvPr id="6" name="">
            <a:extLst xmlns:a="http://schemas.openxmlformats.org/drawingml/2006/main">
              <a:ext uri="{FF2B5EF4-FFF2-40B4-BE49-F238E27FC236}">
                <a16:creationId xmlns:a16="http://schemas.microsoft.com/office/drawing/2014/main" id="{ABC7FD36-5E96-48B3-8D73-0A1DDAA6021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1A61A2-EAF0-49F9-BDBB-891DAAEE4B0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C1BFCF1A-54AD-48E5-B670-84FA24512D8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5F8C80D-062C-4FE2-AA2D-4FBFF588129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DF89F51D-35B1-4353-A439-5C30BBD1BF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52</a:t>
            </a:r>
          </a:p>
        </p:txBody>
      </p:sp>
    </p:spTree>
    <p:extLst>
      <p:ext uri="{BB962C8B-B14F-4D97-AF65-F5344CB8AC3E}">
        <p14:creationId xmlns:p14="http://schemas.microsoft.com/office/powerpoint/2010/main" val="164950096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390AD91-EA28-4448-810C-A828735740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7668C2-B1DD-4B20-BE6C-D0052AC65D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CD2B69-E0D5-41EC-8F70-50763F73D9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13FDC97F-DFCE-4914-A4C3-83716B31C12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9ED0A4-EBCB-4C32-8A49-7781EF0C32A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2086A9C-3509-4C6B-89B7-A5227FAE4EA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winding_temp_c readings strictly greater than 130.0.</a:t>
            </a:r>
          </a:p>
        </p:txBody>
      </p:sp>
      <p:sp>
        <p:nvSpPr>
          <p:cNvPr id="7" name="">
            <a:extLst xmlns:a="http://schemas.openxmlformats.org/drawingml/2006/main">
              <a:ext uri="{FF2B5EF4-FFF2-40B4-BE49-F238E27FC236}">
                <a16:creationId xmlns:a16="http://schemas.microsoft.com/office/drawing/2014/main" id="{2C65F1B2-B27C-46D6-9108-5EFF1845B0F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3FD214FE-81DC-41B7-845F-2D86CAE860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53</a:t>
            </a:r>
          </a:p>
        </p:txBody>
      </p:sp>
    </p:spTree>
    <p:extLst>
      <p:ext uri="{BB962C8B-B14F-4D97-AF65-F5344CB8AC3E}">
        <p14:creationId xmlns:p14="http://schemas.microsoft.com/office/powerpoint/2010/main" val="9683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29C9CC-65C6-4B58-A0F0-636CD20EB5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AD068A-7DF3-4B16-9396-20A2C23A5D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78771DA-5BD9-4D83-AF37-149B71BAC0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4D7144D9-2B29-428A-80EC-2D65D8A9B44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FF2DCC0-F623-40F7-BAE1-C62AEF1C42D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motor_id labels and whose values are the mean valid winding_temp_c readings within each group.</a:t>
            </a:r>
          </a:p>
        </p:txBody>
      </p:sp>
      <p:sp>
        <p:nvSpPr>
          <p:cNvPr id="6" name="">
            <a:extLst xmlns:a="http://schemas.openxmlformats.org/drawingml/2006/main">
              <a:ext uri="{FF2B5EF4-FFF2-40B4-BE49-F238E27FC236}">
                <a16:creationId xmlns:a16="http://schemas.microsoft.com/office/drawing/2014/main" id="{8FE91807-7A35-4C08-89F8-91223FD632D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A46583-3CD5-4056-9CF7-97232A4669F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BBC65594-ED37-4A03-8D2D-5E5F199BBF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FF5EE84-8C97-4EA6-8B68-6D0896274BB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3EF70640-8DBD-42F7-AC4A-F457545973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54</a:t>
            </a:r>
          </a:p>
        </p:txBody>
      </p:sp>
    </p:spTree>
    <p:extLst>
      <p:ext uri="{BB962C8B-B14F-4D97-AF65-F5344CB8AC3E}">
        <p14:creationId xmlns:p14="http://schemas.microsoft.com/office/powerpoint/2010/main" val="148603454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8EDB22B-DBE4-42F5-B2B4-D9FF20EB7D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A33582-99DE-4131-9021-4798E124A5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DDABEB-A34F-4786-A472-086282B7B3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E4AF9137-4DE3-49A2-A89E-85EFADD393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5BF159-DBBC-4FE3-9F53-62F8778DD57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0E533DFD-BD55-4F57-90D4-7402E13F351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FED728-AF2F-48C0-B1D0-7A05131369D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CAD2E2EA-D52B-4E70-8AC1-55956528799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FE08EC-CD27-4349-A347-B6C7356EEFD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winding_temp_c values must be skipped in numerical summaries.</a:t>
            </a:r>
          </a:p>
        </p:txBody>
      </p:sp>
      <p:sp>
        <p:nvSpPr>
          <p:cNvPr id="10" name="">
            <a:extLst xmlns:a="http://schemas.openxmlformats.org/drawingml/2006/main">
              <a:ext uri="{FF2B5EF4-FFF2-40B4-BE49-F238E27FC236}">
                <a16:creationId xmlns:a16="http://schemas.microsoft.com/office/drawing/2014/main" id="{984D59D0-FA7B-4FD5-B9A7-3E2071E44A2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4B6D26E-DF24-4D9E-8FAD-BCE32672BD0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130.0 is a teaching assumption.</a:t>
            </a:r>
          </a:p>
        </p:txBody>
      </p:sp>
      <p:sp>
        <p:nvSpPr>
          <p:cNvPr id="12" name="">
            <a:extLst xmlns:a="http://schemas.openxmlformats.org/drawingml/2006/main">
              <a:ext uri="{FF2B5EF4-FFF2-40B4-BE49-F238E27FC236}">
                <a16:creationId xmlns:a16="http://schemas.microsoft.com/office/drawing/2014/main" id="{8995D2FA-A80B-496E-AAE3-D88059A5AA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55</a:t>
            </a:r>
          </a:p>
        </p:txBody>
      </p:sp>
    </p:spTree>
    <p:extLst>
      <p:ext uri="{BB962C8B-B14F-4D97-AF65-F5344CB8AC3E}">
        <p14:creationId xmlns:p14="http://schemas.microsoft.com/office/powerpoint/2010/main" val="101846087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F9D5D4-59C3-4A97-9EED-7559FA778D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C6E30A-AE5B-4A59-BDFB-14D528BFBE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0317E7-EE49-4A35-B8EA-C2A50D53E9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BD1E8E43-942D-4E12-AEB5-0BBEB81B0C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4E15DD8-EBCD-4E57-B462-3BB763E135B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130.0) and group_means keyed by motor_id.</a:t>
            </a:r>
          </a:p>
        </p:txBody>
      </p:sp>
      <p:sp>
        <p:nvSpPr>
          <p:cNvPr id="6" name="">
            <a:extLst xmlns:a="http://schemas.openxmlformats.org/drawingml/2006/main">
              <a:ext uri="{FF2B5EF4-FFF2-40B4-BE49-F238E27FC236}">
                <a16:creationId xmlns:a16="http://schemas.microsoft.com/office/drawing/2014/main" id="{3A1DDA4D-B3B9-4C45-9187-E8E3FE57710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FB73DE-ED49-48FB-B78E-FD302D7B2A2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4E2C35D6-F320-4122-A7C5-7E2D5611172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23287A-FC2F-473B-907A-962FAC079CD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8130945B-FE49-4FDE-9708-B4536F79A1B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A423FA7-FA71-4E67-B52D-C2C85DF9A71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0E41589D-B8D1-493D-82F1-5A546FA9A7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56</a:t>
            </a:r>
          </a:p>
        </p:txBody>
      </p:sp>
    </p:spTree>
    <p:extLst>
      <p:ext uri="{BB962C8B-B14F-4D97-AF65-F5344CB8AC3E}">
        <p14:creationId xmlns:p14="http://schemas.microsoft.com/office/powerpoint/2010/main" val="2137791797"/>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2EB20BE-CF1B-49E4-A07D-0750F736EA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EC798C-90D8-4999-BA4A-C9C83D41D7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6BAF88-73A7-483F-91BE-590D0BEF7A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C7954B49-C2A7-497E-9CF5-5605F3B77A4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9E8AD8-A28B-4DD4-ABB1-5907DA2BE1B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0C65C45-A194-4FA1-B32B-A1FCEF0F137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Four checks carry five marks each.</a:t>
            </a:r>
          </a:p>
        </p:txBody>
      </p:sp>
      <p:sp>
        <p:nvSpPr>
          <p:cNvPr id="7" name="">
            <a:extLst xmlns:a="http://schemas.openxmlformats.org/drawingml/2006/main">
              <a:ext uri="{FF2B5EF4-FFF2-40B4-BE49-F238E27FC236}">
                <a16:creationId xmlns:a16="http://schemas.microsoft.com/office/drawing/2014/main" id="{84ED358D-FF2E-40BB-B9A6-51C07F78A01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602979BA-BF54-4307-B3E9-3D914FF03B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57</a:t>
            </a:r>
          </a:p>
        </p:txBody>
      </p:sp>
    </p:spTree>
    <p:extLst>
      <p:ext uri="{BB962C8B-B14F-4D97-AF65-F5344CB8AC3E}">
        <p14:creationId xmlns:p14="http://schemas.microsoft.com/office/powerpoint/2010/main" val="716300242"/>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BC64532-B394-4927-AA82-255EC9E8F9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2BC9892-08CA-4236-9B54-B7192F556F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A5ED47F7-B86E-46BD-A8BC-9E14E33C2F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4D6CC03A-92D2-4D4C-8F37-4E877C5EA90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0E45A0F-4B2F-403E-A46D-2C293437193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02 Oct 2026, 11:00 Kampala</a:t>
            </a:r>
          </a:p>
        </p:txBody>
      </p:sp>
      <p:sp>
        <p:nvSpPr>
          <p:cNvPr id="6" name="">
            <a:extLst xmlns:a="http://schemas.openxmlformats.org/drawingml/2006/main">
              <a:ext uri="{FF2B5EF4-FFF2-40B4-BE49-F238E27FC236}">
                <a16:creationId xmlns:a16="http://schemas.microsoft.com/office/drawing/2014/main" id="{4F581D09-6875-42B3-A3A3-E384272DEF1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CED8FA-DFD9-464F-AA23-C45372984E9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09 Oct 2026, 11:00 Kampala</a:t>
            </a:r>
          </a:p>
        </p:txBody>
      </p:sp>
      <p:sp>
        <p:nvSpPr>
          <p:cNvPr id="8" name="">
            <a:extLst xmlns:a="http://schemas.openxmlformats.org/drawingml/2006/main">
              <a:ext uri="{FF2B5EF4-FFF2-40B4-BE49-F238E27FC236}">
                <a16:creationId xmlns:a16="http://schemas.microsoft.com/office/drawing/2014/main" id="{64690564-8D4D-405D-917A-917EFB18A02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427058-1991-4A19-B515-443811ADA7D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F795A13-C53C-4B2D-A4E2-83E480AB2D5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8DDEA96-903A-4C14-9ECE-DE4E23606C3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18BB9DB-B28C-46C5-AAB5-8F9FFB426C7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3653475-727E-487F-9CF1-A67DB665DBE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213363f818d4990"/>
              </a:rPr>
              <a:t>Open W04 assignment form</a:t>
            </a:r>
          </a:p>
        </p:txBody>
      </p:sp>
      <p:sp>
        <p:nvSpPr>
          <p:cNvPr id="14" name="">
            <a:extLst xmlns:a="http://schemas.openxmlformats.org/drawingml/2006/main">
              <a:ext uri="{FF2B5EF4-FFF2-40B4-BE49-F238E27FC236}">
                <a16:creationId xmlns:a16="http://schemas.microsoft.com/office/drawing/2014/main" id="{0478836B-904B-4094-93CC-49C0636EF47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https://docs.google.com/forms/d/e/1FAIpQLSePYYXhI694GpzUBX1qxmt3pml_MGCxvT9R9o-fT0__kqrmNA/viewform</a:t>
            </a:r>
          </a:p>
        </p:txBody>
      </p:sp>
      <p:sp>
        <p:nvSpPr>
          <p:cNvPr id="15" name="">
            <a:extLst xmlns:a="http://schemas.openxmlformats.org/drawingml/2006/main">
              <a:ext uri="{FF2B5EF4-FFF2-40B4-BE49-F238E27FC236}">
                <a16:creationId xmlns:a16="http://schemas.microsoft.com/office/drawing/2014/main" id="{A59CA60B-321B-485E-8E54-EC5CE2D752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58</a:t>
            </a:r>
          </a:p>
        </p:txBody>
      </p:sp>
    </p:spTree>
    <p:extLst>
      <p:ext uri="{BB962C8B-B14F-4D97-AF65-F5344CB8AC3E}">
        <p14:creationId xmlns:p14="http://schemas.microsoft.com/office/powerpoint/2010/main" val="257018292"/>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425AA07-55BD-4021-8DF5-EE38571131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AA883B-9AD8-4BE2-ADFC-72A5D2D1FA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89FFA592-D3FB-4AEA-A28D-F910264D24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F324CE1C-F25E-4B7A-9F3E-CDDBCAFACFE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47AC6A-D88E-490C-A28C-CA328BC9505A}"/>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F706F5D2-1E38-41FF-A2F5-92529602D7A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1AA35A-49C3-43E3-951C-4FFC16BEB3FF}"/>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27AC9C4D-4A61-4F20-A887-DB2B157C3D38}"/>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911522-DA81-4A11-B99D-7CE6CEBD9581}"/>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66B9D11E-F07E-4844-A439-C51B13AD84D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B1ECE8B-3711-46E2-836C-27A5AB55D375}"/>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eed33d79c1b44d6"/>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92B23D18-96E4-43BE-95C8-7A13868823A0}"/>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1C18367E-3BB0-4825-9DEB-6EFE21B4705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8481464-BFA6-44E1-BB31-6FA6BC5AFAB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18a830984114709"/>
              </a:rPr>
              <a:t>Open this week’s quiz</a:t>
            </a:r>
          </a:p>
        </p:txBody>
      </p:sp>
      <p:sp>
        <p:nvSpPr>
          <p:cNvPr id="16" name="">
            <a:extLst xmlns:a="http://schemas.openxmlformats.org/drawingml/2006/main">
              <a:ext uri="{FF2B5EF4-FFF2-40B4-BE49-F238E27FC236}">
                <a16:creationId xmlns:a16="http://schemas.microsoft.com/office/drawing/2014/main" id="{516DDD33-3F2D-472C-A67E-9E1D9F18BE0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https://forms.gle/grjS1HFfSwn9BcYr9</a:t>
            </a:r>
          </a:p>
        </p:txBody>
      </p:sp>
      <p:sp>
        <p:nvSpPr>
          <p:cNvPr id="17" name="">
            <a:extLst xmlns:a="http://schemas.openxmlformats.org/drawingml/2006/main">
              <a:ext uri="{FF2B5EF4-FFF2-40B4-BE49-F238E27FC236}">
                <a16:creationId xmlns:a16="http://schemas.microsoft.com/office/drawing/2014/main" id="{CC382FE5-D05F-4E6C-800E-EADB93169A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59</a:t>
            </a:r>
          </a:p>
        </p:txBody>
      </p:sp>
    </p:spTree>
    <p:extLst>
      <p:ext uri="{BB962C8B-B14F-4D97-AF65-F5344CB8AC3E}">
        <p14:creationId xmlns:p14="http://schemas.microsoft.com/office/powerpoint/2010/main" val="1114374350"/>
      </p:ext>
    </p:extLst>
  </p:cSld>
</p:sld>
</file>

<file path=ppt/slides/slide6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DAD7B7-A970-4F60-8722-17BAAE6384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ED023D5-60D0-4300-AE3C-C898D26E2E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969BED9C-82E8-4139-9547-8297AFA0363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61DA3F10-31D1-474A-AB3D-4D2168503E6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0C047CB6-F59C-4B3A-893A-EF70B783BA1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35028743-48AC-405A-80D0-526276349E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4   60</a:t>
            </a:r>
          </a:p>
        </p:txBody>
      </p:sp>
    </p:spTree>
    <p:extLst>
      <p:ext uri="{BB962C8B-B14F-4D97-AF65-F5344CB8AC3E}">
        <p14:creationId xmlns:p14="http://schemas.microsoft.com/office/powerpoint/2010/main" val="10976274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2026-09-21T10:27:10.5920000Z</dcterms:created>
  <dcterms:modified xsi:type="dcterms:W3CDTF">2026-09-21T10:27:10.5920000Z</dcterms:modified>
</coreProperties>
</file>