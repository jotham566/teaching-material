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8331a3896254002" /><Relationship Type="http://schemas.openxmlformats.org/officeDocument/2006/relationships/extended-properties" Target="/docProps/app.xml" Id="R65b6bc6223b04cc0" /><Relationship Type="http://schemas.openxmlformats.org/officeDocument/2006/relationships/officeDocument" Target="/ppt/presentation.xml" Id="Rf217299750b04fa0" /></Relationships>
</file>

<file path=ppt/presentation.xml><?xml version="1.0" encoding="utf-8"?>
<p:presentation xmlns:p="http://schemas.openxmlformats.org/presentationml/2006/main">
  <p:sldMasterIdLst>
    <p:sldMasterId xmlns:r="http://schemas.openxmlformats.org/officeDocument/2006/relationships" id="2147483648" r:id="Rb64876b92e664608"/>
  </p:sldMasterIdLst>
  <p:notesMasterIdLst>
    <p:notesMasterId xmlns:r="http://schemas.openxmlformats.org/officeDocument/2006/relationships" r:id="R0c498ec9c5e643a8"/>
  </p:notesMasterIdLst>
  <p:sldIdLst>
    <p:sldId xmlns:r="http://schemas.openxmlformats.org/officeDocument/2006/relationships" id="256" r:id="R43b06a0d0c6c46e7"/>
    <p:sldId xmlns:r="http://schemas.openxmlformats.org/officeDocument/2006/relationships" id="257" r:id="R553fa36143154b78"/>
    <p:sldId xmlns:r="http://schemas.openxmlformats.org/officeDocument/2006/relationships" id="258" r:id="R6ef26a5cfbb84410"/>
    <p:sldId xmlns:r="http://schemas.openxmlformats.org/officeDocument/2006/relationships" id="259" r:id="Ra9d0663546664a4a"/>
    <p:sldId xmlns:r="http://schemas.openxmlformats.org/officeDocument/2006/relationships" id="260" r:id="R7b75da5fe0c541ec"/>
    <p:sldId xmlns:r="http://schemas.openxmlformats.org/officeDocument/2006/relationships" id="261" r:id="R7414d3fb96d74ab9"/>
    <p:sldId xmlns:r="http://schemas.openxmlformats.org/officeDocument/2006/relationships" id="262" r:id="Rc3ec6bb785724c6e"/>
    <p:sldId xmlns:r="http://schemas.openxmlformats.org/officeDocument/2006/relationships" id="263" r:id="Rafd321b7ef1044b4"/>
    <p:sldId xmlns:r="http://schemas.openxmlformats.org/officeDocument/2006/relationships" id="264" r:id="Re64bfaaaa3fd459f"/>
    <p:sldId xmlns:r="http://schemas.openxmlformats.org/officeDocument/2006/relationships" id="265" r:id="R5937bc2e7d8641bf"/>
    <p:sldId xmlns:r="http://schemas.openxmlformats.org/officeDocument/2006/relationships" id="266" r:id="R4b6a58c318514368"/>
    <p:sldId xmlns:r="http://schemas.openxmlformats.org/officeDocument/2006/relationships" id="267" r:id="R8ac9f41968214120"/>
    <p:sldId xmlns:r="http://schemas.openxmlformats.org/officeDocument/2006/relationships" id="268" r:id="R06209d2cc2034667"/>
    <p:sldId xmlns:r="http://schemas.openxmlformats.org/officeDocument/2006/relationships" id="269" r:id="R7e16f3e1c5d346dd"/>
    <p:sldId xmlns:r="http://schemas.openxmlformats.org/officeDocument/2006/relationships" id="270" r:id="R9476245b6cf24b6f"/>
    <p:sldId xmlns:r="http://schemas.openxmlformats.org/officeDocument/2006/relationships" id="271" r:id="R2f13fa437d90491b"/>
    <p:sldId xmlns:r="http://schemas.openxmlformats.org/officeDocument/2006/relationships" id="272" r:id="R94a4263e8e854f08"/>
    <p:sldId xmlns:r="http://schemas.openxmlformats.org/officeDocument/2006/relationships" id="273" r:id="R52f48b90932f478f"/>
    <p:sldId xmlns:r="http://schemas.openxmlformats.org/officeDocument/2006/relationships" id="274" r:id="R0e3dffe27eaf4b50"/>
    <p:sldId xmlns:r="http://schemas.openxmlformats.org/officeDocument/2006/relationships" id="275" r:id="R44d601266d7b44b2"/>
    <p:sldId xmlns:r="http://schemas.openxmlformats.org/officeDocument/2006/relationships" id="276" r:id="Rc20328a1c6734070"/>
    <p:sldId xmlns:r="http://schemas.openxmlformats.org/officeDocument/2006/relationships" id="277" r:id="R247736527e01450a"/>
    <p:sldId xmlns:r="http://schemas.openxmlformats.org/officeDocument/2006/relationships" id="278" r:id="R9ecedef659aa4c2a"/>
    <p:sldId xmlns:r="http://schemas.openxmlformats.org/officeDocument/2006/relationships" id="279" r:id="R6937548b29db469e"/>
    <p:sldId xmlns:r="http://schemas.openxmlformats.org/officeDocument/2006/relationships" id="280" r:id="R07c0a5ad043d44b7"/>
    <p:sldId xmlns:r="http://schemas.openxmlformats.org/officeDocument/2006/relationships" id="281" r:id="R9e29172ec8c24929"/>
    <p:sldId xmlns:r="http://schemas.openxmlformats.org/officeDocument/2006/relationships" id="282" r:id="Rd163af578905442c"/>
    <p:sldId xmlns:r="http://schemas.openxmlformats.org/officeDocument/2006/relationships" id="283" r:id="Rc40aa09bec0949ea"/>
    <p:sldId xmlns:r="http://schemas.openxmlformats.org/officeDocument/2006/relationships" id="284" r:id="R88acc80c220446aa"/>
    <p:sldId xmlns:r="http://schemas.openxmlformats.org/officeDocument/2006/relationships" id="285" r:id="R28f346d7b7954eb2"/>
    <p:sldId xmlns:r="http://schemas.openxmlformats.org/officeDocument/2006/relationships" id="286" r:id="R6a930ae0f8414d66"/>
    <p:sldId xmlns:r="http://schemas.openxmlformats.org/officeDocument/2006/relationships" id="287" r:id="R4528b8b0bac5430a"/>
    <p:sldId xmlns:r="http://schemas.openxmlformats.org/officeDocument/2006/relationships" id="288" r:id="R89d44c4344d347e9"/>
    <p:sldId xmlns:r="http://schemas.openxmlformats.org/officeDocument/2006/relationships" id="289" r:id="Re238c454465e4bea"/>
    <p:sldId xmlns:r="http://schemas.openxmlformats.org/officeDocument/2006/relationships" id="290" r:id="Rdf33da13a6564c8b"/>
    <p:sldId xmlns:r="http://schemas.openxmlformats.org/officeDocument/2006/relationships" id="291" r:id="Rf5153cd7f0994abd"/>
    <p:sldId xmlns:r="http://schemas.openxmlformats.org/officeDocument/2006/relationships" id="292" r:id="R2483baebad834ad1"/>
    <p:sldId xmlns:r="http://schemas.openxmlformats.org/officeDocument/2006/relationships" id="293" r:id="R46727065f57747d0"/>
    <p:sldId xmlns:r="http://schemas.openxmlformats.org/officeDocument/2006/relationships" id="294" r:id="Rb5c1b2c877a9459b"/>
    <p:sldId xmlns:r="http://schemas.openxmlformats.org/officeDocument/2006/relationships" id="295" r:id="R7414586dca004c72"/>
    <p:sldId xmlns:r="http://schemas.openxmlformats.org/officeDocument/2006/relationships" id="296" r:id="R7c7d38dd09554a38"/>
    <p:sldId xmlns:r="http://schemas.openxmlformats.org/officeDocument/2006/relationships" id="297" r:id="R68605fe7cf1942b7"/>
    <p:sldId xmlns:r="http://schemas.openxmlformats.org/officeDocument/2006/relationships" id="298" r:id="R81be16726429471b"/>
    <p:sldId xmlns:r="http://schemas.openxmlformats.org/officeDocument/2006/relationships" id="299" r:id="R7b0527329d414de5"/>
    <p:sldId xmlns:r="http://schemas.openxmlformats.org/officeDocument/2006/relationships" id="300" r:id="Ra5a0733d91e8444d"/>
    <p:sldId xmlns:r="http://schemas.openxmlformats.org/officeDocument/2006/relationships" id="301" r:id="Rff440cf929064692"/>
    <p:sldId xmlns:r="http://schemas.openxmlformats.org/officeDocument/2006/relationships" id="302" r:id="Rd938e2467f8c472f"/>
    <p:sldId xmlns:r="http://schemas.openxmlformats.org/officeDocument/2006/relationships" id="303" r:id="Rfd3e552fc3414bdd"/>
    <p:sldId xmlns:r="http://schemas.openxmlformats.org/officeDocument/2006/relationships" id="304" r:id="Rc9f2b7f56d224861"/>
    <p:sldId xmlns:r="http://schemas.openxmlformats.org/officeDocument/2006/relationships" id="305" r:id="Rab8d3d72d3ce4238"/>
    <p:sldId xmlns:r="http://schemas.openxmlformats.org/officeDocument/2006/relationships" id="306" r:id="R60b73d6fd34b47bf"/>
    <p:sldId xmlns:r="http://schemas.openxmlformats.org/officeDocument/2006/relationships" id="307" r:id="Rae3f63cc82364fd3"/>
    <p:sldId xmlns:r="http://schemas.openxmlformats.org/officeDocument/2006/relationships" id="308" r:id="Rdab89c27dbcd49bf"/>
    <p:sldId xmlns:r="http://schemas.openxmlformats.org/officeDocument/2006/relationships" id="309" r:id="Rb035908f35aa4330"/>
    <p:sldId xmlns:r="http://schemas.openxmlformats.org/officeDocument/2006/relationships" id="310" r:id="R18ff29220f4a4adb"/>
    <p:sldId xmlns:r="http://schemas.openxmlformats.org/officeDocument/2006/relationships" id="311" r:id="Re64aff9f1d6849c1"/>
    <p:sldId xmlns:r="http://schemas.openxmlformats.org/officeDocument/2006/relationships" id="312" r:id="R0d8a7c08aa784935"/>
    <p:sldId xmlns:r="http://schemas.openxmlformats.org/officeDocument/2006/relationships" id="313" r:id="Rb9f6667b8e9f49d8"/>
    <p:sldId xmlns:r="http://schemas.openxmlformats.org/officeDocument/2006/relationships" id="314" r:id="R434946b1b76f429f"/>
    <p:sldId xmlns:r="http://schemas.openxmlformats.org/officeDocument/2006/relationships" id="315" r:id="Re0f3ff7372af4521"/>
    <p:sldId xmlns:r="http://schemas.openxmlformats.org/officeDocument/2006/relationships" id="316" r:id="R1bfba1f224db48e5"/>
    <p:sldId xmlns:r="http://schemas.openxmlformats.org/officeDocument/2006/relationships" id="317" r:id="R351a9ceaa4964b62"/>
    <p:sldId xmlns:r="http://schemas.openxmlformats.org/officeDocument/2006/relationships" id="318" r:id="Ra2f68426651b420f"/>
    <p:sldId xmlns:r="http://schemas.openxmlformats.org/officeDocument/2006/relationships" id="319" r:id="R0ef2128475244869"/>
    <p:sldId xmlns:r="http://schemas.openxmlformats.org/officeDocument/2006/relationships" id="320" r:id="R3b9ee6ad29b2430b"/>
    <p:sldId xmlns:r="http://schemas.openxmlformats.org/officeDocument/2006/relationships" id="321" r:id="Rc1d10179162648f5"/>
    <p:sldId xmlns:r="http://schemas.openxmlformats.org/officeDocument/2006/relationships" id="322" r:id="R0c2fe83fa39f4cfd"/>
    <p:sldId xmlns:r="http://schemas.openxmlformats.org/officeDocument/2006/relationships" id="323" r:id="R63c8624ca6d34614"/>
    <p:sldId xmlns:r="http://schemas.openxmlformats.org/officeDocument/2006/relationships" id="324" r:id="R3e3ee88c92b04292"/>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f339d655a924152" /><Relationship Type="http://schemas.openxmlformats.org/officeDocument/2006/relationships/slideMaster" Target="/ppt/slideMasters/slideMaster1.xml" Id="Rb64876b92e664608" /><Relationship Type="http://schemas.openxmlformats.org/officeDocument/2006/relationships/notesMaster" Target="/ppt/notesMasters/notesMaster1.xml" Id="R0c498ec9c5e643a8" /><Relationship Type="http://schemas.openxmlformats.org/officeDocument/2006/relationships/presProps" Target="/ppt/presProps.xml" Id="Raf3dd62292024533" /><Relationship Type="http://schemas.openxmlformats.org/officeDocument/2006/relationships/tableStyles" Target="/ppt/tableStyles.xml" Id="Rc42009e1bba045c7" /><Relationship Type="http://schemas.openxmlformats.org/officeDocument/2006/relationships/slide" Target="/ppt/slides/slide1.xml" Id="R43b06a0d0c6c46e7" /><Relationship Type="http://schemas.openxmlformats.org/officeDocument/2006/relationships/slide" Target="/ppt/slides/slide2.xml" Id="R553fa36143154b78" /><Relationship Type="http://schemas.openxmlformats.org/officeDocument/2006/relationships/slide" Target="/ppt/slides/slide3.xml" Id="R6ef26a5cfbb84410" /><Relationship Type="http://schemas.openxmlformats.org/officeDocument/2006/relationships/slide" Target="/ppt/slides/slide4.xml" Id="Ra9d0663546664a4a" /><Relationship Type="http://schemas.openxmlformats.org/officeDocument/2006/relationships/slide" Target="/ppt/slides/slide5.xml" Id="R7b75da5fe0c541ec" /><Relationship Type="http://schemas.openxmlformats.org/officeDocument/2006/relationships/slide" Target="/ppt/slides/slide6.xml" Id="R7414d3fb96d74ab9" /><Relationship Type="http://schemas.openxmlformats.org/officeDocument/2006/relationships/slide" Target="/ppt/slides/slide7.xml" Id="Rc3ec6bb785724c6e" /><Relationship Type="http://schemas.openxmlformats.org/officeDocument/2006/relationships/slide" Target="/ppt/slides/slide8.xml" Id="Rafd321b7ef1044b4" /><Relationship Type="http://schemas.openxmlformats.org/officeDocument/2006/relationships/slide" Target="/ppt/slides/slide9.xml" Id="Re64bfaaaa3fd459f" /><Relationship Type="http://schemas.openxmlformats.org/officeDocument/2006/relationships/slide" Target="/ppt/slides/slide10.xml" Id="R5937bc2e7d8641bf" /><Relationship Type="http://schemas.openxmlformats.org/officeDocument/2006/relationships/slide" Target="/ppt/slides/slide11.xml" Id="R4b6a58c318514368" /><Relationship Type="http://schemas.openxmlformats.org/officeDocument/2006/relationships/slide" Target="/ppt/slides/slide12.xml" Id="R8ac9f41968214120" /><Relationship Type="http://schemas.openxmlformats.org/officeDocument/2006/relationships/slide" Target="/ppt/slides/slide13.xml" Id="R06209d2cc2034667" /><Relationship Type="http://schemas.openxmlformats.org/officeDocument/2006/relationships/slide" Target="/ppt/slides/slide14.xml" Id="R7e16f3e1c5d346dd" /><Relationship Type="http://schemas.openxmlformats.org/officeDocument/2006/relationships/slide" Target="/ppt/slides/slide15.xml" Id="R9476245b6cf24b6f" /><Relationship Type="http://schemas.openxmlformats.org/officeDocument/2006/relationships/slide" Target="/ppt/slides/slide16.xml" Id="R2f13fa437d90491b" /><Relationship Type="http://schemas.openxmlformats.org/officeDocument/2006/relationships/slide" Target="/ppt/slides/slide17.xml" Id="R94a4263e8e854f08" /><Relationship Type="http://schemas.openxmlformats.org/officeDocument/2006/relationships/slide" Target="/ppt/slides/slide18.xml" Id="R52f48b90932f478f" /><Relationship Type="http://schemas.openxmlformats.org/officeDocument/2006/relationships/slide" Target="/ppt/slides/slide19.xml" Id="R0e3dffe27eaf4b50" /><Relationship Type="http://schemas.openxmlformats.org/officeDocument/2006/relationships/slide" Target="/ppt/slides/slide20.xml" Id="R44d601266d7b44b2" /><Relationship Type="http://schemas.openxmlformats.org/officeDocument/2006/relationships/slide" Target="/ppt/slides/slide21.xml" Id="Rc20328a1c6734070" /><Relationship Type="http://schemas.openxmlformats.org/officeDocument/2006/relationships/slide" Target="/ppt/slides/slide22.xml" Id="R247736527e01450a" /><Relationship Type="http://schemas.openxmlformats.org/officeDocument/2006/relationships/slide" Target="/ppt/slides/slide23.xml" Id="R9ecedef659aa4c2a" /><Relationship Type="http://schemas.openxmlformats.org/officeDocument/2006/relationships/slide" Target="/ppt/slides/slide24.xml" Id="R6937548b29db469e" /><Relationship Type="http://schemas.openxmlformats.org/officeDocument/2006/relationships/slide" Target="/ppt/slides/slide25.xml" Id="R07c0a5ad043d44b7" /><Relationship Type="http://schemas.openxmlformats.org/officeDocument/2006/relationships/slide" Target="/ppt/slides/slide26.xml" Id="R9e29172ec8c24929" /><Relationship Type="http://schemas.openxmlformats.org/officeDocument/2006/relationships/slide" Target="/ppt/slides/slide27.xml" Id="Rd163af578905442c" /><Relationship Type="http://schemas.openxmlformats.org/officeDocument/2006/relationships/slide" Target="/ppt/slides/slide28.xml" Id="Rc40aa09bec0949ea" /><Relationship Type="http://schemas.openxmlformats.org/officeDocument/2006/relationships/slide" Target="/ppt/slides/slide29.xml" Id="R88acc80c220446aa" /><Relationship Type="http://schemas.openxmlformats.org/officeDocument/2006/relationships/slide" Target="/ppt/slides/slide30.xml" Id="R28f346d7b7954eb2" /><Relationship Type="http://schemas.openxmlformats.org/officeDocument/2006/relationships/slide" Target="/ppt/slides/slide31.xml" Id="R6a930ae0f8414d66" /><Relationship Type="http://schemas.openxmlformats.org/officeDocument/2006/relationships/slide" Target="/ppt/slides/slide32.xml" Id="R4528b8b0bac5430a" /><Relationship Type="http://schemas.openxmlformats.org/officeDocument/2006/relationships/slide" Target="/ppt/slides/slide33.xml" Id="R89d44c4344d347e9" /><Relationship Type="http://schemas.openxmlformats.org/officeDocument/2006/relationships/slide" Target="/ppt/slides/slide34.xml" Id="Re238c454465e4bea" /><Relationship Type="http://schemas.openxmlformats.org/officeDocument/2006/relationships/slide" Target="/ppt/slides/slide35.xml" Id="Rdf33da13a6564c8b" /><Relationship Type="http://schemas.openxmlformats.org/officeDocument/2006/relationships/slide" Target="/ppt/slides/slide36.xml" Id="Rf5153cd7f0994abd" /><Relationship Type="http://schemas.openxmlformats.org/officeDocument/2006/relationships/slide" Target="/ppt/slides/slide37.xml" Id="R2483baebad834ad1" /><Relationship Type="http://schemas.openxmlformats.org/officeDocument/2006/relationships/slide" Target="/ppt/slides/slide38.xml" Id="R46727065f57747d0" /><Relationship Type="http://schemas.openxmlformats.org/officeDocument/2006/relationships/slide" Target="/ppt/slides/slide39.xml" Id="Rb5c1b2c877a9459b" /><Relationship Type="http://schemas.openxmlformats.org/officeDocument/2006/relationships/slide" Target="/ppt/slides/slide40.xml" Id="R7414586dca004c72" /><Relationship Type="http://schemas.openxmlformats.org/officeDocument/2006/relationships/slide" Target="/ppt/slides/slide41.xml" Id="R7c7d38dd09554a38" /><Relationship Type="http://schemas.openxmlformats.org/officeDocument/2006/relationships/slide" Target="/ppt/slides/slide42.xml" Id="R68605fe7cf1942b7" /><Relationship Type="http://schemas.openxmlformats.org/officeDocument/2006/relationships/slide" Target="/ppt/slides/slide43.xml" Id="R81be16726429471b" /><Relationship Type="http://schemas.openxmlformats.org/officeDocument/2006/relationships/slide" Target="/ppt/slides/slide44.xml" Id="R7b0527329d414de5" /><Relationship Type="http://schemas.openxmlformats.org/officeDocument/2006/relationships/slide" Target="/ppt/slides/slide45.xml" Id="Ra5a0733d91e8444d" /><Relationship Type="http://schemas.openxmlformats.org/officeDocument/2006/relationships/slide" Target="/ppt/slides/slide46.xml" Id="Rff440cf929064692" /><Relationship Type="http://schemas.openxmlformats.org/officeDocument/2006/relationships/slide" Target="/ppt/slides/slide47.xml" Id="Rd938e2467f8c472f" /><Relationship Type="http://schemas.openxmlformats.org/officeDocument/2006/relationships/slide" Target="/ppt/slides/slide48.xml" Id="Rfd3e552fc3414bdd" /><Relationship Type="http://schemas.openxmlformats.org/officeDocument/2006/relationships/slide" Target="/ppt/slides/slide49.xml" Id="Rc9f2b7f56d224861" /><Relationship Type="http://schemas.openxmlformats.org/officeDocument/2006/relationships/slide" Target="/ppt/slides/slide50.xml" Id="Rab8d3d72d3ce4238" /><Relationship Type="http://schemas.openxmlformats.org/officeDocument/2006/relationships/slide" Target="/ppt/slides/slide51.xml" Id="R60b73d6fd34b47bf" /><Relationship Type="http://schemas.openxmlformats.org/officeDocument/2006/relationships/slide" Target="/ppt/slides/slide52.xml" Id="Rae3f63cc82364fd3" /><Relationship Type="http://schemas.openxmlformats.org/officeDocument/2006/relationships/slide" Target="/ppt/slides/slide53.xml" Id="Rdab89c27dbcd49bf" /><Relationship Type="http://schemas.openxmlformats.org/officeDocument/2006/relationships/slide" Target="/ppt/slides/slide54.xml" Id="Rb035908f35aa4330" /><Relationship Type="http://schemas.openxmlformats.org/officeDocument/2006/relationships/slide" Target="/ppt/slides/slide55.xml" Id="R18ff29220f4a4adb" /><Relationship Type="http://schemas.openxmlformats.org/officeDocument/2006/relationships/slide" Target="/ppt/slides/slide56.xml" Id="Re64aff9f1d6849c1" /><Relationship Type="http://schemas.openxmlformats.org/officeDocument/2006/relationships/slide" Target="/ppt/slides/slide57.xml" Id="R0d8a7c08aa784935" /><Relationship Type="http://schemas.openxmlformats.org/officeDocument/2006/relationships/slide" Target="/ppt/slides/slide58.xml" Id="Rb9f6667b8e9f49d8" /><Relationship Type="http://schemas.openxmlformats.org/officeDocument/2006/relationships/slide" Target="/ppt/slides/slide59.xml" Id="R434946b1b76f429f" /><Relationship Type="http://schemas.openxmlformats.org/officeDocument/2006/relationships/slide" Target="/ppt/slides/slide60.xml" Id="Re0f3ff7372af4521" /><Relationship Type="http://schemas.openxmlformats.org/officeDocument/2006/relationships/slide" Target="/ppt/slides/slide61.xml" Id="R1bfba1f224db48e5" /><Relationship Type="http://schemas.openxmlformats.org/officeDocument/2006/relationships/slide" Target="/ppt/slides/slide62.xml" Id="R351a9ceaa4964b62" /><Relationship Type="http://schemas.openxmlformats.org/officeDocument/2006/relationships/slide" Target="/ppt/slides/slide63.xml" Id="Ra2f68426651b420f" /><Relationship Type="http://schemas.openxmlformats.org/officeDocument/2006/relationships/slide" Target="/ppt/slides/slide64.xml" Id="R0ef2128475244869" /><Relationship Type="http://schemas.openxmlformats.org/officeDocument/2006/relationships/slide" Target="/ppt/slides/slide65.xml" Id="R3b9ee6ad29b2430b" /><Relationship Type="http://schemas.openxmlformats.org/officeDocument/2006/relationships/slide" Target="/ppt/slides/slide66.xml" Id="Rc1d10179162648f5" /><Relationship Type="http://schemas.openxmlformats.org/officeDocument/2006/relationships/slide" Target="/ppt/slides/slide67.xml" Id="R0c2fe83fa39f4cfd" /><Relationship Type="http://schemas.openxmlformats.org/officeDocument/2006/relationships/slide" Target="/ppt/slides/slide68.xml" Id="R63c8624ca6d34614" /><Relationship Type="http://schemas.openxmlformats.org/officeDocument/2006/relationships/slide" Target="/ppt/slides/slide69.xml" Id="R3e3ee88c92b0429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8e79667219d494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0215d50d7404dd8" /><Relationship Type="http://schemas.openxmlformats.org/officeDocument/2006/relationships/notesMaster" Target="/ppt/notesMasters/notesMaster1.xml" Id="R4b929551b2a54e19" /></Relationships>
</file>

<file path=ppt/notesSlides/_rels/notesSlide2.xml.rels>&#65279;<?xml version="1.0" encoding="utf-8"?><Relationships xmlns="http://schemas.openxmlformats.org/package/2006/relationships"><Relationship Type="http://schemas.openxmlformats.org/officeDocument/2006/relationships/slide" Target="/ppt/slides/slide2.xml" Id="Ra35960b92a2145ae" /><Relationship Type="http://schemas.openxmlformats.org/officeDocument/2006/relationships/notesMaster" Target="/ppt/notesMasters/notesMaster1.xml" Id="R4b43517e15a142a0" /></Relationships>
</file>

<file path=ppt/notesSlides/_rels/notesSlide3.xml.rels>&#65279;<?xml version="1.0" encoding="utf-8"?><Relationships xmlns="http://schemas.openxmlformats.org/package/2006/relationships"><Relationship Type="http://schemas.openxmlformats.org/officeDocument/2006/relationships/slide" Target="/ppt/slides/slide3.xml" Id="R9110cb10f0504488" /><Relationship Type="http://schemas.openxmlformats.org/officeDocument/2006/relationships/notesMaster" Target="/ppt/notesMasters/notesMaster1.xml" Id="R707a7f91d7c043d4" /></Relationships>
</file>

<file path=ppt/notesSlides/_rels/notesSlide4.xml.rels>&#65279;<?xml version="1.0" encoding="utf-8"?><Relationships xmlns="http://schemas.openxmlformats.org/package/2006/relationships"><Relationship Type="http://schemas.openxmlformats.org/officeDocument/2006/relationships/slide" Target="/ppt/slides/slide4.xml" Id="R3edd332123124866" /><Relationship Type="http://schemas.openxmlformats.org/officeDocument/2006/relationships/notesMaster" Target="/ppt/notesMasters/notesMaster1.xml" Id="Re8d607fe31f14edf" /></Relationships>
</file>

<file path=ppt/notesSlides/_rels/notesSlide5.xml.rels>&#65279;<?xml version="1.0" encoding="utf-8"?><Relationships xmlns="http://schemas.openxmlformats.org/package/2006/relationships"><Relationship Type="http://schemas.openxmlformats.org/officeDocument/2006/relationships/slide" Target="/ppt/slides/slide5.xml" Id="Re109105912704e46" /><Relationship Type="http://schemas.openxmlformats.org/officeDocument/2006/relationships/notesMaster" Target="/ppt/notesMasters/notesMaster1.xml" Id="R108d44a2f84a4fcc" /></Relationships>
</file>

<file path=ppt/notesSlides/_rels/notesSlide6.xml.rels>&#65279;<?xml version="1.0" encoding="utf-8"?><Relationships xmlns="http://schemas.openxmlformats.org/package/2006/relationships"><Relationship Type="http://schemas.openxmlformats.org/officeDocument/2006/relationships/slide" Target="/ppt/slides/slide6.xml" Id="Rf087aa3c534a43cd" /><Relationship Type="http://schemas.openxmlformats.org/officeDocument/2006/relationships/notesMaster" Target="/ppt/notesMasters/notesMaster1.xml" Id="Rd2a70bb7d7424054" /></Relationships>
</file>

<file path=ppt/notesSlides/_rels/notesSlide7.xml.rels>&#65279;<?xml version="1.0" encoding="utf-8"?><Relationships xmlns="http://schemas.openxmlformats.org/package/2006/relationships"><Relationship Type="http://schemas.openxmlformats.org/officeDocument/2006/relationships/slide" Target="/ppt/slides/slide7.xml" Id="Rb00db0d2f36142d2" /><Relationship Type="http://schemas.openxmlformats.org/officeDocument/2006/relationships/notesMaster" Target="/ppt/notesMasters/notesMaster1.xml" Id="R968c72d4990540cc" /></Relationships>
</file>

<file path=ppt/notesSlides/_rels/notesSlide8.xml.rels>&#65279;<?xml version="1.0" encoding="utf-8"?><Relationships xmlns="http://schemas.openxmlformats.org/package/2006/relationships"><Relationship Type="http://schemas.openxmlformats.org/officeDocument/2006/relationships/slide" Target="/ppt/slides/slide8.xml" Id="R1e51be46d8c24d9b" /><Relationship Type="http://schemas.openxmlformats.org/officeDocument/2006/relationships/notesMaster" Target="/ppt/notesMasters/notesMaster1.xml" Id="Rea04e5ec02b3469f" /></Relationships>
</file>

<file path=ppt/notesSlides/_rels/notesSlide9.xml.rels>&#65279;<?xml version="1.0" encoding="utf-8"?><Relationships xmlns="http://schemas.openxmlformats.org/package/2006/relationships"><Relationship Type="http://schemas.openxmlformats.org/officeDocument/2006/relationships/slide" Target="/ppt/slides/slide9.xml" Id="R7b25b889ac654228" /><Relationship Type="http://schemas.openxmlformats.org/officeDocument/2006/relationships/notesMaster" Target="/ppt/notesMasters/notesMaster1.xml" Id="Ree097742389243f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fb25c0e300f4e9d" /><Relationship Type="http://schemas.openxmlformats.org/officeDocument/2006/relationships/notesMaster" Target="/ppt/notesMasters/notesMaster1.xml" Id="Rbacdf8ea40e8446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61cd096d32b4b2d" /><Relationship Type="http://schemas.openxmlformats.org/officeDocument/2006/relationships/notesMaster" Target="/ppt/notesMasters/notesMaster1.xml" Id="R68489767cabc443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79a3f17611944d0" /><Relationship Type="http://schemas.openxmlformats.org/officeDocument/2006/relationships/notesMaster" Target="/ppt/notesMasters/notesMaster1.xml" Id="Rcaffe23a9e8c48c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bf36bfbe8584d09" /><Relationship Type="http://schemas.openxmlformats.org/officeDocument/2006/relationships/notesMaster" Target="/ppt/notesMasters/notesMaster1.xml" Id="Rda839cab5d9e4d0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eeae51296234086" /><Relationship Type="http://schemas.openxmlformats.org/officeDocument/2006/relationships/notesMaster" Target="/ppt/notesMasters/notesMaster1.xml" Id="R34790603a4124f3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2e73801e19444bb" /><Relationship Type="http://schemas.openxmlformats.org/officeDocument/2006/relationships/notesMaster" Target="/ppt/notesMasters/notesMaster1.xml" Id="R1d3810816c504b3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6765d7afa344069" /><Relationship Type="http://schemas.openxmlformats.org/officeDocument/2006/relationships/notesMaster" Target="/ppt/notesMasters/notesMaster1.xml" Id="Rddd7c9f4b8e14b3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d536a059a2c43ac" /><Relationship Type="http://schemas.openxmlformats.org/officeDocument/2006/relationships/notesMaster" Target="/ppt/notesMasters/notesMaster1.xml" Id="R3ba7192175e7406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4f9d7ae842f4e08" /><Relationship Type="http://schemas.openxmlformats.org/officeDocument/2006/relationships/notesMaster" Target="/ppt/notesMasters/notesMaster1.xml" Id="R649a48d146084c9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77f3118dec34fcc" /><Relationship Type="http://schemas.openxmlformats.org/officeDocument/2006/relationships/notesMaster" Target="/ppt/notesMasters/notesMaster1.xml" Id="R54f0658c105c488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f06926c84a2446b" /><Relationship Type="http://schemas.openxmlformats.org/officeDocument/2006/relationships/notesMaster" Target="/ppt/notesMasters/notesMaster1.xml" Id="R5a1b11352aea410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72978a9610e4894" /><Relationship Type="http://schemas.openxmlformats.org/officeDocument/2006/relationships/notesMaster" Target="/ppt/notesMasters/notesMaster1.xml" Id="R386fd9f4af76485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21bf80dcac54e1e" /><Relationship Type="http://schemas.openxmlformats.org/officeDocument/2006/relationships/notesMaster" Target="/ppt/notesMasters/notesMaster1.xml" Id="R94620c9ea5a94c2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79e9bdc9b394dd9" /><Relationship Type="http://schemas.openxmlformats.org/officeDocument/2006/relationships/notesMaster" Target="/ppt/notesMasters/notesMaster1.xml" Id="R65485d553aad465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caa4da75d9a422d" /><Relationship Type="http://schemas.openxmlformats.org/officeDocument/2006/relationships/notesMaster" Target="/ppt/notesMasters/notesMaster1.xml" Id="R2c1ee7bbeebe408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6045d7aa9824f24" /><Relationship Type="http://schemas.openxmlformats.org/officeDocument/2006/relationships/notesMaster" Target="/ppt/notesMasters/notesMaster1.xml" Id="R825a5a3f7b194f5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443e2f18af14356" /><Relationship Type="http://schemas.openxmlformats.org/officeDocument/2006/relationships/notesMaster" Target="/ppt/notesMasters/notesMaster1.xml" Id="R36cd74d1e9fb48b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4a07fc4cb0241f7" /><Relationship Type="http://schemas.openxmlformats.org/officeDocument/2006/relationships/notesMaster" Target="/ppt/notesMasters/notesMaster1.xml" Id="R55f540ca091d4b1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3ba069d39264605" /><Relationship Type="http://schemas.openxmlformats.org/officeDocument/2006/relationships/notesMaster" Target="/ppt/notesMasters/notesMaster1.xml" Id="Rebe4abf85093497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77e16447f424206" /><Relationship Type="http://schemas.openxmlformats.org/officeDocument/2006/relationships/notesMaster" Target="/ppt/notesMasters/notesMaster1.xml" Id="R6ae30623fa0e4c6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e6436e375e24486" /><Relationship Type="http://schemas.openxmlformats.org/officeDocument/2006/relationships/notesMaster" Target="/ppt/notesMasters/notesMaster1.xml" Id="R84a45065efd24fe5"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06cc9b4812094bf7" /><Relationship Type="http://schemas.openxmlformats.org/officeDocument/2006/relationships/notesMaster" Target="/ppt/notesMasters/notesMaster1.xml" Id="R875d4288dda742f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e8d82e0749147e1" /><Relationship Type="http://schemas.openxmlformats.org/officeDocument/2006/relationships/notesMaster" Target="/ppt/notesMasters/notesMaster1.xml" Id="Ra8b0ef005df8470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a6cfc00ab4e94565" /><Relationship Type="http://schemas.openxmlformats.org/officeDocument/2006/relationships/notesMaster" Target="/ppt/notesMasters/notesMaster1.xml" Id="R2108dfd14d6740b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f37b4174e4d40d4" /><Relationship Type="http://schemas.openxmlformats.org/officeDocument/2006/relationships/notesMaster" Target="/ppt/notesMasters/notesMaster1.xml" Id="Re4f6a1854e4a4e6b"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3a75a3e551ea4c4e" /><Relationship Type="http://schemas.openxmlformats.org/officeDocument/2006/relationships/notesMaster" Target="/ppt/notesMasters/notesMaster1.xml" Id="Reb84d23753074d08"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3aa57b414674e7e" /><Relationship Type="http://schemas.openxmlformats.org/officeDocument/2006/relationships/notesMaster" Target="/ppt/notesMasters/notesMaster1.xml" Id="R3bbe0aa7763e4bbf"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8b92849ae3764928" /><Relationship Type="http://schemas.openxmlformats.org/officeDocument/2006/relationships/notesMaster" Target="/ppt/notesMasters/notesMaster1.xml" Id="Raa30b93fb0bf4d23"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fc661aedf8734bec" /><Relationship Type="http://schemas.openxmlformats.org/officeDocument/2006/relationships/notesMaster" Target="/ppt/notesMasters/notesMaster1.xml" Id="Rce2b2e097ca542a1"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ee228c008fd4a66" /><Relationship Type="http://schemas.openxmlformats.org/officeDocument/2006/relationships/notesMaster" Target="/ppt/notesMasters/notesMaster1.xml" Id="R427f2177af4544d3"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ffecd29792b04b1a" /><Relationship Type="http://schemas.openxmlformats.org/officeDocument/2006/relationships/notesMaster" Target="/ppt/notesMasters/notesMaster1.xml" Id="R1b417c8bcee64445"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be2615627a3b46f2" /><Relationship Type="http://schemas.openxmlformats.org/officeDocument/2006/relationships/notesMaster" Target="/ppt/notesMasters/notesMaster1.xml" Id="R5855960daaa34bc7"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59d9c0c77aa04b15" /><Relationship Type="http://schemas.openxmlformats.org/officeDocument/2006/relationships/notesMaster" Target="/ppt/notesMasters/notesMaster1.xml" Id="R99e58490d5134788"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4079d3053c394d49" /><Relationship Type="http://schemas.openxmlformats.org/officeDocument/2006/relationships/notesMaster" Target="/ppt/notesMasters/notesMaster1.xml" Id="Recce860bdeef4062"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b44eb3a3cf804eb0" /><Relationship Type="http://schemas.openxmlformats.org/officeDocument/2006/relationships/notesMaster" Target="/ppt/notesMasters/notesMaster1.xml" Id="R9d75b0682d524f78"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98cbbd78942c47c1" /><Relationship Type="http://schemas.openxmlformats.org/officeDocument/2006/relationships/notesMaster" Target="/ppt/notesMasters/notesMaster1.xml" Id="R5b0bcfaea87a4e20"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e1d1fa16c4ec4372" /><Relationship Type="http://schemas.openxmlformats.org/officeDocument/2006/relationships/notesMaster" Target="/ppt/notesMasters/notesMaster1.xml" Id="R484d6574f3b2496d"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ff53a03df99241c0" /><Relationship Type="http://schemas.openxmlformats.org/officeDocument/2006/relationships/notesMaster" Target="/ppt/notesMasters/notesMaster1.xml" Id="R5516ac7ba3ce4a10"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29841ff211364aaf" /><Relationship Type="http://schemas.openxmlformats.org/officeDocument/2006/relationships/notesMaster" Target="/ppt/notesMasters/notesMaster1.xml" Id="Refdb016d462647c4"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3155efd6ad894936" /><Relationship Type="http://schemas.openxmlformats.org/officeDocument/2006/relationships/notesMaster" Target="/ppt/notesMasters/notesMaster1.xml" Id="R19fc43a3497645a2"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20c151bb16304b3d" /><Relationship Type="http://schemas.openxmlformats.org/officeDocument/2006/relationships/notesMaster" Target="/ppt/notesMasters/notesMaster1.xml" Id="Rbe9212fb875845c5"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185539f9eb9d4baf" /><Relationship Type="http://schemas.openxmlformats.org/officeDocument/2006/relationships/notesMaster" Target="/ppt/notesMasters/notesMaster1.xml" Id="Rb2df89174cab4107"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39351a6ec6a847e2" /><Relationship Type="http://schemas.openxmlformats.org/officeDocument/2006/relationships/notesMaster" Target="/ppt/notesMasters/notesMaster1.xml" Id="R016cdfcd7b764dba"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1f208f0c20364d15" /><Relationship Type="http://schemas.openxmlformats.org/officeDocument/2006/relationships/notesMaster" Target="/ppt/notesMasters/notesMaster1.xml" Id="R3034a3b8b2214b0a"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6a7c0e03eb764ca1" /><Relationship Type="http://schemas.openxmlformats.org/officeDocument/2006/relationships/notesMaster" Target="/ppt/notesMasters/notesMaster1.xml" Id="R1691eb5e80a142b2"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8f853f67c97b4b92" /><Relationship Type="http://schemas.openxmlformats.org/officeDocument/2006/relationships/notesMaster" Target="/ppt/notesMasters/notesMaster1.xml" Id="R8394390ca6d3492f"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c95059c91fd1403a" /><Relationship Type="http://schemas.openxmlformats.org/officeDocument/2006/relationships/notesMaster" Target="/ppt/notesMasters/notesMaster1.xml" Id="Ra4b959dd7e6147ca"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9f107668710a48b4" /><Relationship Type="http://schemas.openxmlformats.org/officeDocument/2006/relationships/notesMaster" Target="/ppt/notesMasters/notesMaster1.xml" Id="R6dabb4e2fad845ff"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431fb974b3e44330" /><Relationship Type="http://schemas.openxmlformats.org/officeDocument/2006/relationships/notesMaster" Target="/ppt/notesMasters/notesMaster1.xml" Id="R5e796de15051477b"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34c1abd3cde54364" /><Relationship Type="http://schemas.openxmlformats.org/officeDocument/2006/relationships/notesMaster" Target="/ppt/notesMasters/notesMaster1.xml" Id="R144372c37ca845ce"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63524db309034e73" /><Relationship Type="http://schemas.openxmlformats.org/officeDocument/2006/relationships/notesMaster" Target="/ppt/notesMasters/notesMaster1.xml" Id="R7e0ac87d60104577"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3af2a42d75824802" /><Relationship Type="http://schemas.openxmlformats.org/officeDocument/2006/relationships/notesMaster" Target="/ppt/notesMasters/notesMaster1.xml" Id="R6075a25b0b7b4e57"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ee02acc2d6b845d0" /><Relationship Type="http://schemas.openxmlformats.org/officeDocument/2006/relationships/notesMaster" Target="/ppt/notesMasters/notesMaster1.xml" Id="R8c81d3fde0dd4856"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4a70fa14d17941b4" /><Relationship Type="http://schemas.openxmlformats.org/officeDocument/2006/relationships/notesMaster" Target="/ppt/notesMasters/notesMaster1.xml" Id="R4c0dff47e3164add"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64d289ca83c2436b" /><Relationship Type="http://schemas.openxmlformats.org/officeDocument/2006/relationships/notesMaster" Target="/ppt/notesMasters/notesMaster1.xml" Id="R0611c86d4d1b48fe"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e0575529e3ad45b8" /><Relationship Type="http://schemas.openxmlformats.org/officeDocument/2006/relationships/notesMaster" Target="/ppt/notesMasters/notesMaster1.xml" Id="R223edc4942394d91"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5f6f3a0d07bc45ef" /><Relationship Type="http://schemas.openxmlformats.org/officeDocument/2006/relationships/notesMaster" Target="/ppt/notesMasters/notesMaster1.xml" Id="R5be198cc98ec4a46"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bc70096094884ee5" /><Relationship Type="http://schemas.openxmlformats.org/officeDocument/2006/relationships/notesMaster" Target="/ppt/notesMasters/notesMaster1.xml" Id="R89a67e3e38754cd3"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26ce013929fe4ecd" /><Relationship Type="http://schemas.openxmlformats.org/officeDocument/2006/relationships/notesMaster" Target="/ppt/notesMasters/notesMaster1.xml" Id="Rca76a19d2aff4bb6"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b6f6de05233e4f2f" /><Relationship Type="http://schemas.openxmlformats.org/officeDocument/2006/relationships/notesMaster" Target="/ppt/notesMasters/notesMaster1.xml" Id="R9c66a600e66844d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first prediction model</a:t>
            </a:r>
          </a:p>
          <a:p xmlns:a="http://schemas.openxmlformats.org/drawingml/2006/main">
            <a:r>
              <a:t/>
            </a:r>
          </a:p>
          <a:p xmlns:a="http://schemas.openxmlformats.org/drawingml/2006/main">
            <a:r>
              <a:t>CONNECT</a:t>
            </a:r>
          </a:p>
          <a:p xmlns:a="http://schemas.openxmlformats.org/drawingml/2006/main">
            <a:r>
              <a:t>Previous slide: the preceding week.</a:t>
            </a:r>
          </a:p>
          <a:p xmlns:a="http://schemas.openxmlformats.org/drawingml/2006/main">
            <a:r>
              <a:t/>
            </a:r>
          </a:p>
          <a:p xmlns:a="http://schemas.openxmlformats.org/drawingml/2006/main">
            <a:r>
              <a:t>EXPLAIN</a:t>
            </a:r>
          </a:p>
          <a:p xmlns:a="http://schemas.openxmlformats.org/drawingml/2006/main">
            <a:r>
              <a:t>Mining and Petroleum Engineering</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Today’s learning.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Previous slide: A first prediction model.</a:t>
            </a:r>
          </a:p>
          <a:p xmlns:a="http://schemas.openxmlformats.org/drawingml/2006/main">
            <a:r>
              <a:t/>
            </a:r>
          </a:p>
          <a:p xmlns:a="http://schemas.openxmlformats.org/drawingml/2006/main">
            <a:r>
              <a:t>EXPLAIN</a:t>
            </a:r>
          </a:p>
          <a:p xmlns:a="http://schemas.openxmlformats.org/drawingml/2006/main">
            <a:r>
              <a:t>Identify prediction inputs and a measured target.</a:t>
            </a:r>
          </a:p>
          <a:p xmlns:a="http://schemas.openxmlformats.org/drawingml/2006/main">
            <a:r>
              <a:t/>
            </a:r>
          </a:p>
          <a:p xmlns:a="http://schemas.openxmlformats.org/drawingml/2006/main">
            <a:r>
              <a:t>Fit a simple model and compare prediction errors.</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Deriving least squares, leaderboard competition, many residual plots and coefficient inference are reference. R² may be negative and is not an accuracy percentage.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Connection to the previous lesson.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Previous slide: Today’s learning.</a:t>
            </a:r>
          </a:p>
          <a:p xmlns:a="http://schemas.openxmlformats.org/drawingml/2006/main">
            <a:r>
              <a:t/>
            </a:r>
          </a:p>
          <a:p xmlns:a="http://schemas.openxmlformats.org/drawingml/2006/main">
            <a:r>
              <a:t>EXPLAIN</a:t>
            </a:r>
          </a:p>
          <a:p xmlns:a="http://schemas.openxmlformats.org/drawingml/2006/main">
            <a:r>
              <a:t>Weeks 3–6 supplied Python, tables, cleaning and charts. We now use paired inputs and known answers to fit a prediction rule.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Why this week’s tools are needed.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Previous slide: Connection to the previous lesson.</a:t>
            </a:r>
          </a:p>
          <a:p xmlns:a="http://schemas.openxmlformats.org/drawingml/2006/main">
            <a:r>
              <a:t/>
            </a:r>
          </a:p>
          <a:p xmlns:a="http://schemas.openxmlformats.org/drawingml/2006/main">
            <a:r>
              <a:t>EXPLAIN</a:t>
            </a:r>
          </a:p>
          <a:p xmlns:a="http://schemas.openxmlformats.org/drawingml/2006/main">
            <a:r>
              <a:t>A regression model predicts a numerical engineering target from measurements available beforehand. The small invented data explain the code; they do not establish real-world accuracy.</a:t>
            </a:r>
          </a:p>
          <a:p xmlns:a="http://schemas.openxmlformats.org/drawingml/2006/main">
            <a:r>
              <a:t/>
            </a:r>
          </a:p>
          <a:p xmlns:a="http://schemas.openxmlformats.org/drawingml/2006/main">
            <a:r>
              <a:t>LECTURER CUE</a:t>
            </a:r>
          </a:p>
          <a:p xmlns:a="http://schemas.openxmlformats.org/drawingml/2006/main">
            <a:r>
              <a:t>A pump team records temperature to investigate operation. Mining students can relate this to a dewatering pump; petroleum students to a transfer pump. These are teaching examples, not operating limits.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numerical prediction.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numerical prediction</a:t>
            </a:r>
          </a:p>
          <a:p xmlns:a="http://schemas.openxmlformats.org/drawingml/2006/main">
            <a:r>
              <a:t/>
            </a:r>
          </a:p>
          <a:p xmlns:a="http://schemas.openxmlformats.org/drawingml/2006/main">
            <a:r>
              <a:t>CONNECT</a:t>
            </a:r>
          </a:p>
          <a:p xmlns:a="http://schemas.openxmlformats.org/drawingml/2006/main">
            <a:r>
              <a:t>Previous slide: Why this week’s tools are needed.</a:t>
            </a:r>
          </a:p>
          <a:p xmlns:a="http://schemas.openxmlformats.org/drawingml/2006/main">
            <a:r>
              <a:t/>
            </a:r>
          </a:p>
          <a:p xmlns:a="http://schemas.openxmlformats.org/drawingml/2006/main">
            <a:r>
              <a:t>EXPLAIN</a:t>
            </a:r>
          </a:p>
          <a:p xmlns:a="http://schemas.openxmlformats.org/drawingml/2006/main">
            <a:r>
              <a:t>Regression predicts a number, such as cooling load in kW.</a:t>
            </a:r>
          </a:p>
          <a:p xmlns:a="http://schemas.openxmlformats.org/drawingml/2006/main">
            <a:r>
              <a:t/>
            </a:r>
          </a:p>
          <a:p xmlns:a="http://schemas.openxmlformats.org/drawingml/2006/main">
            <a:r>
              <a:t>A feature is information available when predicting.</a:t>
            </a:r>
          </a:p>
          <a:p xmlns:a="http://schemas.openxmlformats.org/drawingml/2006/main">
            <a:r>
              <a:t/>
            </a:r>
          </a:p>
          <a:p xmlns:a="http://schemas.openxmlformats.org/drawingml/2006/main">
            <a:r>
              <a:t>The target is the measured answer used during training.</a:t>
            </a:r>
          </a:p>
          <a:p xmlns:a="http://schemas.openxmlformats.org/drawingml/2006/main">
            <a:r>
              <a:t/>
            </a:r>
          </a:p>
          <a:p xmlns:a="http://schemas.openxmlformats.org/drawingml/2006/main">
            <a:r>
              <a:t>Classification, next week, predicts a category.</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Feature and target and Training validation and test.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 and target and Training validation and test</a:t>
            </a:r>
          </a:p>
          <a:p xmlns:a="http://schemas.openxmlformats.org/drawingml/2006/main">
            <a:r>
              <a:t/>
            </a:r>
          </a:p>
          <a:p xmlns:a="http://schemas.openxmlformats.org/drawingml/2006/main">
            <a:r>
              <a:t>CONNECT</a:t>
            </a:r>
          </a:p>
          <a:p xmlns:a="http://schemas.openxmlformats.org/drawingml/2006/main">
            <a:r>
              <a:t>Previous slide: A numerical prediction.</a:t>
            </a:r>
          </a:p>
          <a:p xmlns:a="http://schemas.openxmlformats.org/drawingml/2006/main">
            <a:r>
              <a:t/>
            </a:r>
          </a:p>
          <a:p xmlns:a="http://schemas.openxmlformats.org/drawingml/2006/main">
            <a:r>
              <a:t>EXPLAIN</a:t>
            </a:r>
          </a:p>
          <a:p xmlns:a="http://schemas.openxmlformats.org/drawingml/2006/main">
            <a:r>
              <a:t>Feature and target: Features are inputs available when making a prediction. The target is the quantity we want to predict.</a:t>
            </a:r>
          </a:p>
          <a:p xmlns:a="http://schemas.openxmlformats.org/drawingml/2006/main">
            <a:r>
              <a:t/>
            </a:r>
          </a:p>
          <a:p xmlns:a="http://schemas.openxmlformats.org/drawingml/2006/main">
            <a:r>
              <a:t>Training validation and test: Training fits the model. Validation helps choose it. The final test estimates performance after choices are fixed. Repeated equipment must stay in the same partition when assessing unseen equipment.</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Baseline.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Baseline</a:t>
            </a:r>
          </a:p>
          <a:p xmlns:a="http://schemas.openxmlformats.org/drawingml/2006/main">
            <a:r>
              <a:t/>
            </a:r>
          </a:p>
          <a:p xmlns:a="http://schemas.openxmlformats.org/drawingml/2006/main">
            <a:r>
              <a:t>CONNECT</a:t>
            </a:r>
          </a:p>
          <a:p xmlns:a="http://schemas.openxmlformats.org/drawingml/2006/main">
            <a:r>
              <a:t>Previous slide: Feature and target and Training validation and test.</a:t>
            </a:r>
          </a:p>
          <a:p xmlns:a="http://schemas.openxmlformats.org/drawingml/2006/main">
            <a:r>
              <a:t/>
            </a:r>
          </a:p>
          <a:p xmlns:a="http://schemas.openxmlformats.org/drawingml/2006/main">
            <a:r>
              <a:t>EXPLAIN</a:t>
            </a:r>
          </a:p>
          <a:p xmlns:a="http://schemas.openxmlformats.org/drawingml/2006/main">
            <a:r>
              <a:t>Baseline: A simple reference prediction. A training-mean baseline predicts the same training mean for every new example.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Linear model and tree.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Linear model and tree</a:t>
            </a:r>
          </a:p>
          <a:p xmlns:a="http://schemas.openxmlformats.org/drawingml/2006/main">
            <a:r>
              <a:t/>
            </a:r>
          </a:p>
          <a:p xmlns:a="http://schemas.openxmlformats.org/drawingml/2006/main">
            <a:r>
              <a:t>CONNECT</a:t>
            </a:r>
          </a:p>
          <a:p xmlns:a="http://schemas.openxmlformats.org/drawingml/2006/main">
            <a:r>
              <a:t>Previous slide: Baseline.</a:t>
            </a:r>
          </a:p>
          <a:p xmlns:a="http://schemas.openxmlformats.org/drawingml/2006/main">
            <a:r>
              <a:t/>
            </a:r>
          </a:p>
          <a:p xmlns:a="http://schemas.openxmlformats.org/drawingml/2006/main">
            <a:r>
              <a:t>EXPLAIN</a:t>
            </a:r>
          </a:p>
          <a:p xmlns:a="http://schemas.openxmlformats.org/drawingml/2006/main">
            <a:r>
              <a:t>Linear model and tree: A linear model combines inputs with learned weights. A regression tree asks feature-threshold questions and predicts a value at each leaf.</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What learning means in this example.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What learning means in this example</a:t>
            </a:r>
          </a:p>
          <a:p xmlns:a="http://schemas.openxmlformats.org/drawingml/2006/main">
            <a:r>
              <a:t/>
            </a:r>
          </a:p>
          <a:p xmlns:a="http://schemas.openxmlformats.org/drawingml/2006/main">
            <a:r>
              <a:t>CONNECT</a:t>
            </a:r>
          </a:p>
          <a:p xmlns:a="http://schemas.openxmlformats.org/drawingml/2006/main">
            <a:r>
              <a:t>Previous slide: Linear model and tree.</a:t>
            </a:r>
          </a:p>
          <a:p xmlns:a="http://schemas.openxmlformats.org/drawingml/2006/main">
            <a:r>
              <a:t/>
            </a:r>
          </a:p>
          <a:p xmlns:a="http://schemas.openxmlformats.org/drawingml/2006/main">
            <a:r>
              <a:t>EXPLAIN</a:t>
            </a:r>
          </a:p>
          <a:p xmlns:a="http://schemas.openxmlformats.org/drawingml/2006/main">
            <a:r>
              <a:t>Training supplies inputs and their known answers.</a:t>
            </a:r>
          </a:p>
          <a:p xmlns:a="http://schemas.openxmlformats.org/drawingml/2006/main">
            <a:r>
              <a:t/>
            </a:r>
          </a:p>
          <a:p xmlns:a="http://schemas.openxmlformats.org/drawingml/2006/main">
            <a:r>
              <a:t>The model uses those examples to choose its internal numbers.</a:t>
            </a:r>
          </a:p>
          <a:p xmlns:a="http://schemas.openxmlformats.org/drawingml/2006/main">
            <a:r>
              <a:t/>
            </a:r>
          </a:p>
          <a:p xmlns:a="http://schemas.openxmlformats.org/drawingml/2006/main">
            <a:r>
              <a:t>Prediction applies the fitted model to inputs whose answer we want to estimate.</a:t>
            </a:r>
          </a:p>
          <a:p xmlns:a="http://schemas.openxmlformats.org/drawingml/2006/main">
            <a:r>
              <a:t/>
            </a:r>
          </a:p>
          <a:p xmlns:a="http://schemas.openxmlformats.org/drawingml/2006/main">
            <a:r>
              <a:t>LECTURER CUE</a:t>
            </a:r>
          </a:p>
          <a:p xmlns:a="http://schemas.openxmlformats.org/drawingml/2006/main">
            <a:r>
              <a:t>Use the small invented table below solely to see fit and predict. Real training needs more data, representative evaluation and careful partitioning.</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Training observations.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Training observations</a:t>
            </a:r>
          </a:p>
          <a:p xmlns:a="http://schemas.openxmlformats.org/drawingml/2006/main">
            <a:r>
              <a:t/>
            </a:r>
          </a:p>
          <a:p xmlns:a="http://schemas.openxmlformats.org/drawingml/2006/main">
            <a:r>
              <a:t>CONNECT</a:t>
            </a:r>
          </a:p>
          <a:p xmlns:a="http://schemas.openxmlformats.org/drawingml/2006/main">
            <a:r>
              <a:t>Previous slide: What learning means in this example.</a:t>
            </a:r>
          </a:p>
          <a:p xmlns:a="http://schemas.openxmlformats.org/drawingml/2006/main">
            <a:r>
              <a:t/>
            </a:r>
          </a:p>
          <a:p xmlns:a="http://schemas.openxmlformats.org/drawingml/2006/main">
            <a:r>
              <a:t>EXPLAIN</a:t>
            </a:r>
          </a:p>
          <a:p xmlns:a="http://schemas.openxmlformats.org/drawingml/2006/main">
            <a:r>
              <a:t>Input | Measured target</a:t>
            </a:r>
          </a:p>
          <a:p xmlns:a="http://schemas.openxmlformats.org/drawingml/2006/main">
            <a:r>
              <a:t/>
            </a:r>
          </a:p>
          <a:p xmlns:a="http://schemas.openxmlformats.org/drawingml/2006/main">
            <a:r>
              <a:t>1 | 12</a:t>
            </a:r>
          </a:p>
          <a:p xmlns:a="http://schemas.openxmlformats.org/drawingml/2006/main">
            <a:r>
              <a:t/>
            </a:r>
          </a:p>
          <a:p xmlns:a="http://schemas.openxmlformats.org/drawingml/2006/main">
            <a:r>
              <a:t>2 | 14</a:t>
            </a:r>
          </a:p>
          <a:p xmlns:a="http://schemas.openxmlformats.org/drawingml/2006/main">
            <a:r>
              <a:t/>
            </a:r>
          </a:p>
          <a:p xmlns:a="http://schemas.openxmlformats.org/drawingml/2006/main">
            <a:r>
              <a:t>3 | 16</a:t>
            </a:r>
          </a:p>
          <a:p xmlns:a="http://schemas.openxmlformats.org/drawingml/2006/main">
            <a:r>
              <a:t/>
            </a:r>
          </a:p>
          <a:p xmlns:a="http://schemas.openxmlformats.org/drawingml/2006/main">
            <a:r>
              <a:t>4 | 18</a:t>
            </a:r>
          </a:p>
          <a:p xmlns:a="http://schemas.openxmlformats.org/drawingml/2006/main">
            <a:r>
              <a:t/>
            </a:r>
          </a:p>
          <a:p xmlns:a="http://schemas.openxmlformats.org/drawingml/2006/main">
            <a:r>
              <a:t>Invented numbers for learning.</a:t>
            </a:r>
          </a:p>
          <a:p xmlns:a="http://schemas.openxmlformats.org/drawingml/2006/main">
            <a:r>
              <a:t/>
            </a:r>
          </a:p>
          <a:p xmlns:a="http://schemas.openxmlformats.org/drawingml/2006/main">
            <a:r>
              <a:t>LECTURER CUE</a:t>
            </a:r>
          </a:p>
          <a:p xmlns:a="http://schemas.openxmlformats.org/drawingml/2006/main">
            <a:r>
              <a:t>Invented numbers for learning. The fitted line predicts 15 at input 2.5. The training mean is also 15 at this one example, so it cannot establish superiority.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fitted line is a numerical rule.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fitted line is a numerical rule</a:t>
            </a:r>
          </a:p>
          <a:p xmlns:a="http://schemas.openxmlformats.org/drawingml/2006/main">
            <a:r>
              <a:t/>
            </a:r>
          </a:p>
          <a:p xmlns:a="http://schemas.openxmlformats.org/drawingml/2006/main">
            <a:r>
              <a:t>CONNECT</a:t>
            </a:r>
          </a:p>
          <a:p xmlns:a="http://schemas.openxmlformats.org/drawingml/2006/main">
            <a:r>
              <a:t>Previous slide: Training observations.</a:t>
            </a:r>
          </a:p>
          <a:p xmlns:a="http://schemas.openxmlformats.org/drawingml/2006/main">
            <a:r>
              <a:t/>
            </a:r>
          </a:p>
          <a:p xmlns:a="http://schemas.openxmlformats.org/drawingml/2006/main">
            <a:r>
              <a:t>EXPLAIN</a:t>
            </a:r>
          </a:p>
          <a:p xmlns:a="http://schemas.openxmlformats.org/drawingml/2006/main">
            <a:r>
              <a:t>For these invented observations, target = 2 × input + 10 matches all four points. 2 is the slope; 10 is the intercept, the value at input zero.</a:t>
            </a:r>
          </a:p>
          <a:p xmlns:a="http://schemas.openxmlformats.org/drawingml/2006/main">
            <a:r>
              <a:t/>
            </a:r>
          </a:p>
          <a:p xmlns:a="http://schemas.openxmlformats.org/drawingml/2006/main">
            <a:r>
              <a:t>A prediction error is the difference between a prediction and the measured answer. A vertical gap in the picture shows that error.</a:t>
            </a:r>
          </a:p>
          <a:p xmlns:a="http://schemas.openxmlformats.org/drawingml/2006/main">
            <a:r>
              <a:t/>
            </a:r>
          </a:p>
          <a:p xmlns:a="http://schemas.openxmlformats.org/drawingml/2006/main">
            <a:r>
              <a:t>Fitting chooses the slope and intercept to minimise summed squared errors. Squaring means multiplying an error by itself; a small training error still needs an unseen-data check.</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Fitting a line to observations.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Fitting a line to observations</a:t>
            </a:r>
          </a:p>
          <a:p xmlns:a="http://schemas.openxmlformats.org/drawingml/2006/main">
            <a:r>
              <a:t/>
            </a:r>
          </a:p>
          <a:p xmlns:a="http://schemas.openxmlformats.org/drawingml/2006/main">
            <a:r>
              <a:t>CONNECT</a:t>
            </a:r>
          </a:p>
          <a:p xmlns:a="http://schemas.openxmlformats.org/drawingml/2006/main">
            <a:r>
              <a:t>Previous slide: A fitted line is a numerical rule.</a:t>
            </a:r>
          </a:p>
          <a:p xmlns:a="http://schemas.openxmlformats.org/drawingml/2006/main">
            <a:r>
              <a:t/>
            </a:r>
          </a:p>
          <a:p xmlns:a="http://schemas.openxmlformats.org/drawingml/2006/main">
            <a:r>
              <a:t>EXPLAIN</a:t>
            </a:r>
          </a:p>
          <a:p xmlns:a="http://schemas.openxmlformats.org/drawingml/2006/main">
            <a:r>
              <a:t>The fitted line minimises the sum of squared vertical errors.</a:t>
            </a:r>
          </a:p>
          <a:p xmlns:a="http://schemas.openxmlformats.org/drawingml/2006/main">
            <a:r>
              <a:t/>
            </a:r>
          </a:p>
          <a:p xmlns:a="http://schemas.openxmlformats.org/drawingml/2006/main">
            <a:r>
              <a:t>LECTURER CUE</a:t>
            </a:r>
          </a:p>
          <a:p xmlns:a="http://schemas.openxmlformats.org/drawingml/2006/main">
            <a:r>
              <a:t>These are illustrative concrete observations. Point to x, y, one prediction and one residual. A unique slope requires variation in x. A low training error alone does not show generalisation.</a:t>
            </a:r>
          </a:p>
          <a:p xmlns:a="http://schemas.openxmlformats.org/drawingml/2006/main">
            <a:r>
              <a:t>Source: existing course illustration figs/fit_by_eye.png. These are illustrative examples, not this cohort’s assessed results.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Rows must stay paired with their answers.</a:t>
            </a:r>
          </a:p>
          <a:p xmlns:a="http://schemas.openxmlformats.org/drawingml/2006/main">
            <a:r>
              <a:t/>
            </a:r>
          </a:p>
          <a:p xmlns:a="http://schemas.openxmlformats.org/drawingml/2006/main">
            <a:r>
              <a:t>REFERENCES</a:t>
            </a:r>
          </a:p>
          <a:p xmlns:a="http://schemas.openxmlformats.org/drawingml/2006/main">
            <a:r>
              <a:t>Source: existing course illustration figs/fit_by_eye.png. These are illustrative examples, not this cohort’s assessed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Rows must stay paired with their answers</a:t>
            </a:r>
          </a:p>
          <a:p xmlns:a="http://schemas.openxmlformats.org/drawingml/2006/main">
            <a:r>
              <a:t/>
            </a:r>
          </a:p>
          <a:p xmlns:a="http://schemas.openxmlformats.org/drawingml/2006/main">
            <a:r>
              <a:t>CONNECT</a:t>
            </a:r>
          </a:p>
          <a:p xmlns:a="http://schemas.openxmlformats.org/drawingml/2006/main">
            <a:r>
              <a:t>Previous slide: Fitting a line to observations.</a:t>
            </a:r>
          </a:p>
          <a:p xmlns:a="http://schemas.openxmlformats.org/drawingml/2006/main">
            <a:r>
              <a:t/>
            </a:r>
          </a:p>
          <a:p xmlns:a="http://schemas.openxmlformats.org/drawingml/2006/main">
            <a:r>
              <a:t>EXPLAIN</a:t>
            </a:r>
          </a:p>
          <a:p xmlns:a="http://schemas.openxmlformats.org/drawingml/2006/main">
            <a:r>
              <a:t>Each inner list in X_train is one observation.</a:t>
            </a:r>
          </a:p>
          <a:p xmlns:a="http://schemas.openxmlformats.org/drawingml/2006/main">
            <a:r>
              <a:t/>
            </a:r>
          </a:p>
          <a:p xmlns:a="http://schemas.openxmlformats.org/drawingml/2006/main">
            <a:r>
              <a:t>y_train contains one target value for each row, in the same order.</a:t>
            </a:r>
          </a:p>
          <a:p xmlns:a="http://schemas.openxmlformats.org/drawingml/2006/main">
            <a:r>
              <a:t/>
            </a:r>
          </a:p>
          <a:p xmlns:a="http://schemas.openxmlformats.org/drawingml/2006/main">
            <a:r>
              <a:t>Changing the order of only one list attaches answers to the wrong observations.</a:t>
            </a:r>
          </a:p>
          <a:p xmlns:a="http://schemas.openxmlformats.org/drawingml/2006/main">
            <a:r>
              <a:t/>
            </a:r>
          </a:p>
          <a:p xmlns:a="http://schemas.openxmlformats.org/drawingml/2006/main">
            <a:r>
              <a:t>LECTURER CUE</a:t>
            </a:r>
          </a:p>
          <a:p xmlns:a="http://schemas.openxmlformats.org/drawingml/2006/main">
            <a:r>
              <a:t>A list of lists is a table: each inner list holds the features of one observation. y_train holds one target per training row in the same order. Never reorder one without the other.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matrix is a rectangular table of numbers.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matrix is a rectangular table of numbers</a:t>
            </a:r>
          </a:p>
          <a:p xmlns:a="http://schemas.openxmlformats.org/drawingml/2006/main">
            <a:r>
              <a:t/>
            </a:r>
          </a:p>
          <a:p xmlns:a="http://schemas.openxmlformats.org/drawingml/2006/main">
            <a:r>
              <a:t>CONNECT</a:t>
            </a:r>
          </a:p>
          <a:p xmlns:a="http://schemas.openxmlformats.org/drawingml/2006/main">
            <a:r>
              <a:t>Previous slide: Rows must stay paired with their answers.</a:t>
            </a:r>
          </a:p>
          <a:p xmlns:a="http://schemas.openxmlformats.org/drawingml/2006/main">
            <a:r>
              <a:t/>
            </a:r>
          </a:p>
          <a:p xmlns:a="http://schemas.openxmlformats.org/drawingml/2006/main">
            <a:r>
              <a:t>EXPLAIN</a:t>
            </a:r>
          </a:p>
          <a:p xmlns:a="http://schemas.openxmlformats.org/drawingml/2006/main">
            <a:r>
              <a:t>A matrix has rows and columns. For modelling, one row is one observation and each column is one input feature.</a:t>
            </a:r>
          </a:p>
          <a:p xmlns:a="http://schemas.openxmlformats.org/drawingml/2006/main">
            <a:r>
              <a:t/>
            </a:r>
          </a:p>
          <a:p xmlns:a="http://schemas.openxmlformats.org/drawingml/2006/main">
            <a:r>
              <a:t>[[1, 20], [2, 22]] has two rows and two columns. The outer list contains rows; each inner list contains that row’s features.</a:t>
            </a:r>
          </a:p>
          <a:p xmlns:a="http://schemas.openxmlformats.org/drawingml/2006/main">
            <a:r>
              <a:t/>
            </a:r>
          </a:p>
          <a:p xmlns:a="http://schemas.openxmlformats.org/drawingml/2006/main">
            <a:r>
              <a:t>X is a conventional name for this input table. y holds one known target per row. These names have no special power in Python.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Rows and arrays before model code.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Rows and arrays before model code</a:t>
            </a:r>
          </a:p>
          <a:p xmlns:a="http://schemas.openxmlformats.org/drawingml/2006/main">
            <a:r>
              <a:t/>
            </a:r>
          </a:p>
          <a:p xmlns:a="http://schemas.openxmlformats.org/drawingml/2006/main">
            <a:r>
              <a:t>CONNECT</a:t>
            </a:r>
          </a:p>
          <a:p xmlns:a="http://schemas.openxmlformats.org/drawingml/2006/main">
            <a:r>
              <a:t>Previous slide: A matrix is a rectangular table of numbers.</a:t>
            </a:r>
          </a:p>
          <a:p xmlns:a="http://schemas.openxmlformats.org/drawingml/2006/main">
            <a:r>
              <a:t/>
            </a:r>
          </a:p>
          <a:p xmlns:a="http://schemas.openxmlformats.org/drawingml/2006/main">
            <a:r>
              <a:t>EXPLAIN</a:t>
            </a:r>
          </a:p>
          <a:p xmlns:a="http://schemas.openxmlformats.org/drawingml/2006/main">
            <a:r>
              <a:t>Nested lists: [[1], [2], [3]] has three inner lists: three rows with one feature each. [12, 14, 16] has one target per row in the same order.</a:t>
            </a:r>
          </a:p>
          <a:p xmlns:a="http://schemas.openxmlformats.org/drawingml/2006/main">
            <a:r>
              <a:t/>
            </a:r>
          </a:p>
          <a:p xmlns:a="http://schemas.openxmlformats.org/drawingml/2006/main">
            <a:r>
              <a:t>NumPy and array: NumPy is a numerical library; np is its short imported name. np.array(...) builds an array. shape reports its dimensions. np.nan represents a missing numerical value.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NumPy results.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NumPy results</a:t>
            </a:r>
          </a:p>
          <a:p xmlns:a="http://schemas.openxmlformats.org/drawingml/2006/main">
            <a:r>
              <a:t/>
            </a:r>
          </a:p>
          <a:p xmlns:a="http://schemas.openxmlformats.org/drawingml/2006/main">
            <a:r>
              <a:t>CONNECT</a:t>
            </a:r>
          </a:p>
          <a:p xmlns:a="http://schemas.openxmlformats.org/drawingml/2006/main">
            <a:r>
              <a:t>Previous slide: Rows and arrays before model code.</a:t>
            </a:r>
          </a:p>
          <a:p xmlns:a="http://schemas.openxmlformats.org/drawingml/2006/main">
            <a:r>
              <a:t/>
            </a:r>
          </a:p>
          <a:p xmlns:a="http://schemas.openxmlformats.org/drawingml/2006/main">
            <a:r>
              <a:t>EXPLAIN</a:t>
            </a:r>
          </a:p>
          <a:p xmlns:a="http://schemas.openxmlformats.org/drawingml/2006/main">
            <a:r>
              <a:t>Expression | Meaning</a:t>
            </a:r>
          </a:p>
          <a:p xmlns:a="http://schemas.openxmlformats.org/drawingml/2006/main">
            <a:r>
              <a:t/>
            </a:r>
          </a:p>
          <a:p xmlns:a="http://schemas.openxmlformats.org/drawingml/2006/main">
            <a:r>
              <a:t>np.nan | A missing numeric value marker</a:t>
            </a:r>
          </a:p>
          <a:p xmlns:a="http://schemas.openxmlformats.org/drawingml/2006/main">
            <a:r>
              <a:t/>
            </a:r>
          </a:p>
          <a:p xmlns:a="http://schemas.openxmlformats.org/drawingml/2006/main">
            <a:r>
              <a:t>X.shape | The array dimensions: rows, columns</a:t>
            </a:r>
          </a:p>
          <a:p xmlns:a="http://schemas.openxmlformats.org/drawingml/2006/main">
            <a:r>
              <a:t/>
            </a:r>
          </a:p>
          <a:p xmlns:a="http://schemas.openxmlformats.org/drawingml/2006/main">
            <a:r>
              <a:t>predictions.round(2) | Round a new array to two decimal places</a:t>
            </a:r>
          </a:p>
          <a:p xmlns:a="http://schemas.openxmlformats.org/drawingml/2006/main">
            <a:r>
              <a:t/>
            </a:r>
          </a:p>
          <a:p xmlns:a="http://schemas.openxmlformats.org/drawingml/2006/main">
            <a:r>
              <a:t>predictions.tolist() | Convert the array into a Python list</a:t>
            </a:r>
          </a:p>
          <a:p xmlns:a="http://schemas.openxmlformats.org/drawingml/2006/main">
            <a:r>
              <a:t/>
            </a:r>
          </a:p>
          <a:p xmlns:a="http://schemas.openxmlformats.org/drawingml/2006/main">
            <a:r>
              <a:t>Use rounded values only for a labelled display. Keep full precision when the assignment requires it.</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Create an array before reading its shape.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Create an array before reading its shape</a:t>
            </a:r>
          </a:p>
          <a:p xmlns:a="http://schemas.openxmlformats.org/drawingml/2006/main">
            <a:r>
              <a:t/>
            </a:r>
          </a:p>
          <a:p xmlns:a="http://schemas.openxmlformats.org/drawingml/2006/main">
            <a:r>
              <a:t>CONNECT</a:t>
            </a:r>
          </a:p>
          <a:p xmlns:a="http://schemas.openxmlformats.org/drawingml/2006/main">
            <a:r>
              <a:t>Previous slide: Reading NumPy results.</a:t>
            </a:r>
          </a:p>
          <a:p xmlns:a="http://schemas.openxmlformats.org/drawingml/2006/main">
            <a:r>
              <a:t/>
            </a:r>
          </a:p>
          <a:p xmlns:a="http://schemas.openxmlformats.org/drawingml/2006/main">
            <a:r>
              <a:t>EXPLAIN</a:t>
            </a:r>
          </a:p>
          <a:p xmlns:a="http://schemas.openxmlformats.org/drawingml/2006/main">
            <a:r>
              <a:t>NumPy is a library for numerical arrays. import numpy as np makes its tools available through the name np.</a:t>
            </a:r>
          </a:p>
          <a:p xmlns:a="http://schemas.openxmlformats.org/drawingml/2006/main">
            <a:r>
              <a:t/>
            </a:r>
          </a:p>
          <a:p xmlns:a="http://schemas.openxmlformats.org/drawingml/2006/main">
            <a:r>
              <a:t>An array stores a regular arrangement of values. np.array([[1], [2], [3]]) creates three rows with one value in each.</a:t>
            </a:r>
          </a:p>
          <a:p xmlns:a="http://schemas.openxmlformats.org/drawingml/2006/main">
            <a:r>
              <a:t/>
            </a:r>
          </a:p>
          <a:p xmlns:a="http://schemas.openxmlformats.org/drawingml/2006/main">
            <a:r>
              <a:t>X.shape reports (3, 1): three rows, one column. np.array([12, 14, 16]) is one-dimensional; its shape is (3,). The comma marks a one-item tuple.</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Rows, columns and named options.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Rows, columns and named options</a:t>
            </a:r>
          </a:p>
          <a:p xmlns:a="http://schemas.openxmlformats.org/drawingml/2006/main">
            <a:r>
              <a:t/>
            </a:r>
          </a:p>
          <a:p xmlns:a="http://schemas.openxmlformats.org/drawingml/2006/main">
            <a:r>
              <a:t>CONNECT</a:t>
            </a:r>
          </a:p>
          <a:p xmlns:a="http://schemas.openxmlformats.org/drawingml/2006/main">
            <a:r>
              <a:t>Previous slide: Create an array before reading its shape.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import numpy as np</a:t>
            </a:r>
          </a:p>
          <a:p xmlns:a="http://schemas.openxmlformats.org/drawingml/2006/main">
            <a:r>
              <a:t>X = np.array([[1], [2], [3]])</a:t>
            </a:r>
          </a:p>
          <a:p xmlns:a="http://schemas.openxmlformats.org/drawingml/2006/main">
            <a:r>
              <a:t>y = np.array([12, 14, 16])</a:t>
            </a:r>
          </a:p>
          <a:p xmlns:a="http://schemas.openxmlformats.org/drawingml/2006/main">
            <a:r>
              <a:t>print(X.shape)</a:t>
            </a:r>
          </a:p>
          <a:p xmlns:a="http://schemas.openxmlformats.org/drawingml/2006/main">
            <a:r>
              <a:t>print(y.shape)</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X has three rows and one feature column. y has three target values.</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(3, 1) then (3,). Explain nested brackets before model.fit(X, y). Keyword arguments such as random_state=42 name an option.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fit and predict.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fit and predict</a:t>
            </a:r>
          </a:p>
          <a:p xmlns:a="http://schemas.openxmlformats.org/drawingml/2006/main">
            <a:r>
              <a:t/>
            </a:r>
          </a:p>
          <a:p xmlns:a="http://schemas.openxmlformats.org/drawingml/2006/main">
            <a:r>
              <a:t>CONNECT</a:t>
            </a:r>
          </a:p>
          <a:p xmlns:a="http://schemas.openxmlformats.org/drawingml/2006/main">
            <a:r>
              <a:t>Previous slide: Rows, columns and named options.</a:t>
            </a:r>
          </a:p>
          <a:p xmlns:a="http://schemas.openxmlformats.org/drawingml/2006/main">
            <a:r>
              <a:t/>
            </a:r>
          </a:p>
          <a:p xmlns:a="http://schemas.openxmlformats.org/drawingml/2006/main">
            <a:r>
              <a:t>EXPLAIN</a:t>
            </a:r>
          </a:p>
          <a:p xmlns:a="http://schemas.openxmlformats.org/drawingml/2006/main">
            <a:r>
              <a:t>fit and predict: fit learns from training inputs and targets. predict uses the fitted rule on new inputs without receiving their true targets.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model object keeps learned information.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model object keeps learned information</a:t>
            </a:r>
          </a:p>
          <a:p xmlns:a="http://schemas.openxmlformats.org/drawingml/2006/main">
            <a:r>
              <a:t/>
            </a:r>
          </a:p>
          <a:p xmlns:a="http://schemas.openxmlformats.org/drawingml/2006/main">
            <a:r>
              <a:t>CONNECT</a:t>
            </a:r>
          </a:p>
          <a:p xmlns:a="http://schemas.openxmlformats.org/drawingml/2006/main">
            <a:r>
              <a:t>Previous slide: fit and predict.</a:t>
            </a:r>
          </a:p>
          <a:p xmlns:a="http://schemas.openxmlformats.org/drawingml/2006/main">
            <a:r>
              <a:t/>
            </a:r>
          </a:p>
          <a:p xmlns:a="http://schemas.openxmlformats.org/drawingml/2006/main">
            <a:r>
              <a:t>EXPLAIN</a:t>
            </a:r>
          </a:p>
          <a:p xmlns:a="http://schemas.openxmlformats.org/drawingml/2006/main">
            <a:r>
              <a:t>Object and method: LinearRegression() creates a model object. A method is an operation on that object. model.fit(...) stores learned information; model.predict(...) uses it.</a:t>
            </a:r>
          </a:p>
          <a:p xmlns:a="http://schemas.openxmlformats.org/drawingml/2006/main">
            <a:r>
              <a:t/>
            </a:r>
          </a:p>
          <a:p xmlns:a="http://schemas.openxmlformats.org/drawingml/2006/main">
            <a:r>
              <a:t>Options: An argument such as strategy="mean" names an option. A random seed fixes the starting state of random choices; it does not prove that a model is accurate.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An object remembers its fitted state.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object remembers its fitted state</a:t>
            </a:r>
          </a:p>
          <a:p xmlns:a="http://schemas.openxmlformats.org/drawingml/2006/main">
            <a:r>
              <a:t/>
            </a:r>
          </a:p>
          <a:p xmlns:a="http://schemas.openxmlformats.org/drawingml/2006/main">
            <a:r>
              <a:t>CONNECT</a:t>
            </a:r>
          </a:p>
          <a:p xmlns:a="http://schemas.openxmlformats.org/drawingml/2006/main">
            <a:r>
              <a:t>Previous slide: A model object keeps learned information.</a:t>
            </a:r>
          </a:p>
          <a:p xmlns:a="http://schemas.openxmlformats.org/drawingml/2006/main">
            <a:r>
              <a:t/>
            </a:r>
          </a:p>
          <a:p xmlns:a="http://schemas.openxmlformats.org/drawingml/2006/main">
            <a:r>
              <a:t>EXPLAIN</a:t>
            </a:r>
          </a:p>
          <a:p xmlns:a="http://schemas.openxmlformats.org/drawingml/2006/main">
            <a:r>
              <a:t>Python expression | What it means</a:t>
            </a:r>
          </a:p>
          <a:p xmlns:a="http://schemas.openxmlformats.org/drawingml/2006/main">
            <a:r>
              <a:t/>
            </a:r>
          </a:p>
          <a:p xmlns:a="http://schemas.openxmlformats.org/drawingml/2006/main">
            <a:r>
              <a:t>model = LinearRegression() | Create an unfitted model object</a:t>
            </a:r>
          </a:p>
          <a:p xmlns:a="http://schemas.openxmlformats.org/drawingml/2006/main">
            <a:r>
              <a:t/>
            </a:r>
          </a:p>
          <a:p xmlns:a="http://schemas.openxmlformats.org/drawingml/2006/main">
            <a:r>
              <a:t>model.fit(X_train, y_train) | Learn from paired training data</a:t>
            </a:r>
          </a:p>
          <a:p xmlns:a="http://schemas.openxmlformats.org/drawingml/2006/main">
            <a:r>
              <a:t/>
            </a:r>
          </a:p>
          <a:p xmlns:a="http://schemas.openxmlformats.org/drawingml/2006/main">
            <a:r>
              <a:t>model.predict(X_new) | Use that learned state</a:t>
            </a:r>
          </a:p>
          <a:p xmlns:a="http://schemas.openxmlformats.org/drawingml/2006/main">
            <a:r>
              <a:t/>
            </a:r>
          </a:p>
          <a:p xmlns:a="http://schemas.openxmlformats.org/drawingml/2006/main">
            <a:r>
              <a:t>random_state=17 | Name an option and set its value</a:t>
            </a:r>
          </a:p>
          <a:p xmlns:a="http://schemas.openxmlformats.org/drawingml/2006/main">
            <a:r>
              <a:t/>
            </a:r>
          </a:p>
          <a:p xmlns:a="http://schemas.openxmlformats.org/drawingml/2006/main">
            <a:r>
              <a:t>An object holds state and has methods. A method is a function used through that object.</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Creating, fitting and predicting.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Creating, fitting and predicting</a:t>
            </a:r>
          </a:p>
          <a:p xmlns:a="http://schemas.openxmlformats.org/drawingml/2006/main">
            <a:r>
              <a:t/>
            </a:r>
          </a:p>
          <a:p xmlns:a="http://schemas.openxmlformats.org/drawingml/2006/main">
            <a:r>
              <a:t>CONNECT</a:t>
            </a:r>
          </a:p>
          <a:p xmlns:a="http://schemas.openxmlformats.org/drawingml/2006/main">
            <a:r>
              <a:t>Previous slide: An object remembers its fitted state.</a:t>
            </a:r>
          </a:p>
          <a:p xmlns:a="http://schemas.openxmlformats.org/drawingml/2006/main">
            <a:r>
              <a:t/>
            </a:r>
          </a:p>
          <a:p xmlns:a="http://schemas.openxmlformats.org/drawingml/2006/main">
            <a:r>
              <a:t>EXPLAIN</a:t>
            </a:r>
          </a:p>
          <a:p xmlns:a="http://schemas.openxmlformats.org/drawingml/2006/main">
            <a:r>
              <a:t>LinearRegression() creates a model that has not learned yet.</a:t>
            </a:r>
          </a:p>
          <a:p xmlns:a="http://schemas.openxmlformats.org/drawingml/2006/main">
            <a:r>
              <a:t/>
            </a:r>
          </a:p>
          <a:p xmlns:a="http://schemas.openxmlformats.org/drawingml/2006/main">
            <a:r>
              <a:t>fit(X_train, y_train) learns from paired training examples.</a:t>
            </a:r>
          </a:p>
          <a:p xmlns:a="http://schemas.openxmlformats.org/drawingml/2006/main">
            <a:r>
              <a:t/>
            </a:r>
          </a:p>
          <a:p xmlns:a="http://schemas.openxmlformats.org/drawingml/2006/main">
            <a:r>
              <a:t>predict(new_inputs) returns estimates. The actual targets are absent from new_inputs.</a:t>
            </a:r>
          </a:p>
          <a:p xmlns:a="http://schemas.openxmlformats.org/drawingml/2006/main">
            <a:r>
              <a:t/>
            </a:r>
          </a:p>
          <a:p xmlns:a="http://schemas.openxmlformats.org/drawingml/2006/main">
            <a:r>
              <a:t>LECTURER CUE</a:t>
            </a:r>
          </a:p>
          <a:p xmlns:a="http://schemas.openxmlformats.org/drawingml/2006/main">
            <a:r>
              <a:t>Read imports and model creation separately. The model line creates an unfitted object. fit learns; predict applies. Explain the shallow tree now because the W08 assignment asks for it, then revisit classification trees in Week 9.</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Where the modelling tools come from.</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Where the modelling tools come from</a:t>
            </a:r>
          </a:p>
          <a:p xmlns:a="http://schemas.openxmlformats.org/drawingml/2006/main">
            <a:r>
              <a:t/>
            </a:r>
          </a:p>
          <a:p xmlns:a="http://schemas.openxmlformats.org/drawingml/2006/main">
            <a:r>
              <a:t>CONNECT</a:t>
            </a:r>
          </a:p>
          <a:p xmlns:a="http://schemas.openxmlformats.org/drawingml/2006/main">
            <a:r>
              <a:t>Previous slide: Creating, fitting and predicting.</a:t>
            </a:r>
          </a:p>
          <a:p xmlns:a="http://schemas.openxmlformats.org/drawingml/2006/main">
            <a:r>
              <a:t/>
            </a:r>
          </a:p>
          <a:p xmlns:a="http://schemas.openxmlformats.org/drawingml/2006/main">
            <a:r>
              <a:t>EXPLAIN</a:t>
            </a:r>
          </a:p>
          <a:p xmlns:a="http://schemas.openxmlformats.org/drawingml/2006/main">
            <a:r>
              <a:t>scikit-learn is an installed machine-learning library. Its Python import name is sklearn. linear_model is the part containing LinearRegression.</a:t>
            </a:r>
          </a:p>
          <a:p xmlns:a="http://schemas.openxmlformats.org/drawingml/2006/main">
            <a:r>
              <a:t/>
            </a:r>
          </a:p>
          <a:p xmlns:a="http://schemas.openxmlformats.org/drawingml/2006/main">
            <a:r>
              <a:t>from sklearn.linear_model import LinearRegression makes that model class available. LinearRegression() creates an individual model object.</a:t>
            </a:r>
          </a:p>
          <a:p xmlns:a="http://schemas.openxmlformats.org/drawingml/2006/main">
            <a:r>
              <a:t/>
            </a:r>
          </a:p>
          <a:p xmlns:a="http://schemas.openxmlformats.org/drawingml/2006/main">
            <a:r>
              <a:t>In Colab this library is normally available. If an import fails, use the course setup instructions and retry the import before running model code.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models and errors in Python</a:t>
            </a:r>
          </a:p>
          <a:p xmlns:a="http://schemas.openxmlformats.org/drawingml/2006/main">
            <a:r>
              <a:t/>
            </a:r>
          </a:p>
          <a:p xmlns:a="http://schemas.openxmlformats.org/drawingml/2006/main">
            <a:r>
              <a:t>CONNECT</a:t>
            </a:r>
          </a:p>
          <a:p xmlns:a="http://schemas.openxmlformats.org/drawingml/2006/main">
            <a:r>
              <a:t>Previous slide: Where the modelling tools come from.</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from sklearn.linear_model import LinearRegression</a:t>
            </a:r>
          </a:p>
          <a:p xmlns:a="http://schemas.openxmlformats.org/drawingml/2006/main">
            <a:r>
              <a:t>X_train = [[1], [2], [3], [4]]</a:t>
            </a:r>
          </a:p>
          <a:p xmlns:a="http://schemas.openxmlformats.org/drawingml/2006/main">
            <a:r>
              <a:t>y_train = [12, 14, 16, 18]</a:t>
            </a:r>
          </a:p>
          <a:p xmlns:a="http://schemas.openxmlformats.org/drawingml/2006/main">
            <a:r>
              <a:t>new_inputs = [[2.5]]</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Use the small invented table below solely to see fit and predict. Real training needs more data, representative evaluation and careful partitioning. A list of lists is a table: each inner list holds the features of one observation. y_train holds one target per training row in the same order. Never reorder one without the other. Read imports and model creation separately. The model line creates an unfitted object. fit learns; predict applies. Explain the shallow tree now because the W08 assignment asks for it, then revisit classification trees in Week 9.</a:t>
            </a:r>
          </a:p>
          <a:p xmlns:a="http://schemas.openxmlformats.org/drawingml/2006/main">
            <a:r>
              <a:t/>
            </a:r>
          </a:p>
          <a:p xmlns:a="http://schemas.openxmlformats.org/drawingml/2006/main">
            <a:r>
              <a:t>Complete practice code:</a:t>
            </a:r>
          </a:p>
          <a:p xmlns:a="http://schemas.openxmlformats.org/drawingml/2006/main">
            <a:r>
              <a:t>from sklearn.linear_model import LinearRegression</a:t>
            </a:r>
          </a:p>
          <a:p xmlns:a="http://schemas.openxmlformats.org/drawingml/2006/main">
            <a:r>
              <a:t>X_train = [[1], [2], [3], [4]]</a:t>
            </a:r>
          </a:p>
          <a:p xmlns:a="http://schemas.openxmlformats.org/drawingml/2006/main">
            <a:r>
              <a:t>y_train = [12, 14, 16, 18]</a:t>
            </a:r>
          </a:p>
          <a:p xmlns:a="http://schemas.openxmlformats.org/drawingml/2006/main">
            <a:r>
              <a:t>new_inputs = [[2.5]]</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models and errors in Python continued</a:t>
            </a:r>
          </a:p>
          <a:p xmlns:a="http://schemas.openxmlformats.org/drawingml/2006/main">
            <a:r>
              <a:t/>
            </a:r>
          </a:p>
          <a:p xmlns:a="http://schemas.openxmlformats.org/drawingml/2006/main">
            <a:r>
              <a:t>CONNECT</a:t>
            </a:r>
          </a:p>
          <a:p xmlns:a="http://schemas.openxmlformats.org/drawingml/2006/main">
            <a:r>
              <a:t>Previous slide: Regression models and errors in Python.</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model = LinearRegression()</a:t>
            </a:r>
          </a:p>
          <a:p xmlns:a="http://schemas.openxmlformats.org/drawingml/2006/main">
            <a:r>
              <a:t>model.fit(X_train, y_train)</a:t>
            </a:r>
          </a:p>
          <a:p xmlns:a="http://schemas.openxmlformats.org/drawingml/2006/main">
            <a:r>
              <a:t/>
            </a:r>
          </a:p>
          <a:p xmlns:a="http://schemas.openxmlformats.org/drawingml/2006/main">
            <a:r>
              <a:t>fit learns using the supplied training observations.</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Use the small invented table below solely to see fit and predict. Real training needs more data, representative evaluation and careful partitioning. A list of lists is a table: each inner list holds the features of one observation. y_train holds one target per training row in the same order. Never reorder one without the other. Read imports and model creation separately. The model line creates an unfitted object. fit learns; predict applies. Explain the shallow tree now because the W08 assignment asks for it, then revisit classification trees in Week 9.</a:t>
            </a:r>
          </a:p>
          <a:p xmlns:a="http://schemas.openxmlformats.org/drawingml/2006/main">
            <a:r>
              <a:t/>
            </a:r>
          </a:p>
          <a:p xmlns:a="http://schemas.openxmlformats.org/drawingml/2006/main">
            <a:r>
              <a:t>Complete practice code:</a:t>
            </a:r>
          </a:p>
          <a:p xmlns:a="http://schemas.openxmlformats.org/drawingml/2006/main">
            <a:r>
              <a:t>model = LinearRegression()</a:t>
            </a:r>
          </a:p>
          <a:p xmlns:a="http://schemas.openxmlformats.org/drawingml/2006/main">
            <a:r>
              <a:t>model.fit(X_train, y_train)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models and errors in Python continued</a:t>
            </a:r>
          </a:p>
          <a:p xmlns:a="http://schemas.openxmlformats.org/drawingml/2006/main">
            <a:r>
              <a:t/>
            </a:r>
          </a:p>
          <a:p xmlns:a="http://schemas.openxmlformats.org/drawingml/2006/main">
            <a:r>
              <a:t>CONNECT</a:t>
            </a:r>
          </a:p>
          <a:p xmlns:a="http://schemas.openxmlformats.org/drawingml/2006/main">
            <a:r>
              <a:t>Previous slide: Regression models and errors in Python continued.</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predictions = model.predict(new_inputs)</a:t>
            </a:r>
          </a:p>
          <a:p xmlns:a="http://schemas.openxmlformats.org/drawingml/2006/main">
            <a:r>
              <a:t>print(predictions.round(2).tolist())</a:t>
            </a:r>
          </a:p>
          <a:p xmlns:a="http://schemas.openxmlformats.org/drawingml/2006/main">
            <a:r>
              <a:t/>
            </a:r>
          </a:p>
          <a:p xmlns:a="http://schemas.openxmlformats.org/drawingml/2006/main">
            <a:r>
              <a:t>predict applies the fitted model to new inputs.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Use the small invented table below solely to see fit and predict. Real training needs more data, representative evaluation and careful partitioning. A list of lists is a table: each inner list holds the features of one observation. y_train holds one target per training row in the same order. Never reorder one without the other. Read imports and model creation separately. The model line creates an unfitted object. fit learns; predict applies. Explain the shallow tree now because the W08 assignment asks for it, then revisit classification trees in Week 9.</a:t>
            </a:r>
          </a:p>
          <a:p xmlns:a="http://schemas.openxmlformats.org/drawingml/2006/main">
            <a:r>
              <a:t/>
            </a:r>
          </a:p>
          <a:p xmlns:a="http://schemas.openxmlformats.org/drawingml/2006/main">
            <a:r>
              <a:t>Complete practice code:</a:t>
            </a:r>
          </a:p>
          <a:p xmlns:a="http://schemas.openxmlformats.org/drawingml/2006/main">
            <a:r>
              <a:t>predictions = model.predict(new_inputs)</a:t>
            </a:r>
          </a:p>
          <a:p xmlns:a="http://schemas.openxmlformats.org/drawingml/2006/main">
            <a:r>
              <a:t>print(predictions.round(2).tolist())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Expected output.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models and errors results</a:t>
            </a:r>
          </a:p>
          <a:p xmlns:a="http://schemas.openxmlformats.org/drawingml/2006/main">
            <a:r>
              <a:t/>
            </a:r>
          </a:p>
          <a:p xmlns:a="http://schemas.openxmlformats.org/drawingml/2006/main">
            <a:r>
              <a:t>CONNECT</a:t>
            </a:r>
          </a:p>
          <a:p xmlns:a="http://schemas.openxmlformats.org/drawingml/2006/main">
            <a:r>
              <a:t>Previous slide: Regression models and errors in Python continued.</a:t>
            </a:r>
          </a:p>
          <a:p xmlns:a="http://schemas.openxmlformats.org/drawingml/2006/main">
            <a:r>
              <a:t/>
            </a:r>
          </a:p>
          <a:p xmlns:a="http://schemas.openxmlformats.org/drawingml/2006/main">
            <a:r>
              <a:t>EXPLAIN</a:t>
            </a:r>
          </a:p>
          <a:p xmlns:a="http://schemas.openxmlformats.org/drawingml/2006/main">
            <a:r>
              <a:t>[15.0]</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The mean baseline.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mean baseline</a:t>
            </a:r>
          </a:p>
          <a:p xmlns:a="http://schemas.openxmlformats.org/drawingml/2006/main">
            <a:r>
              <a:t/>
            </a:r>
          </a:p>
          <a:p xmlns:a="http://schemas.openxmlformats.org/drawingml/2006/main">
            <a:r>
              <a:t>CONNECT</a:t>
            </a:r>
          </a:p>
          <a:p xmlns:a="http://schemas.openxmlformats.org/drawingml/2006/main">
            <a:r>
              <a:t>Previous slide: Regression models and errors results.</a:t>
            </a:r>
          </a:p>
          <a:p xmlns:a="http://schemas.openxmlformats.org/drawingml/2006/main">
            <a:r>
              <a:t/>
            </a:r>
          </a:p>
          <a:p xmlns:a="http://schemas.openxmlformats.org/drawingml/2006/main">
            <a:r>
              <a:t>EXPLAIN</a:t>
            </a:r>
          </a:p>
          <a:p xmlns:a="http://schemas.openxmlformats.org/drawingml/2006/main">
            <a:r>
              <a:t>Use the same training data.</a:t>
            </a:r>
          </a:p>
          <a:p xmlns:a="http://schemas.openxmlformats.org/drawingml/2006/main">
            <a:r>
              <a:t/>
            </a:r>
          </a:p>
          <a:p xmlns:a="http://schemas.openxmlformats.org/drawingml/2006/main">
            <a:r>
              <a:t>This baseline learns their mean, 15, and predicts it for every input.</a:t>
            </a:r>
          </a:p>
          <a:p xmlns:a="http://schemas.openxmlformats.org/drawingml/2006/main">
            <a:r>
              <a:t/>
            </a:r>
          </a:p>
          <a:p xmlns:a="http://schemas.openxmlformats.org/drawingml/2006/main">
            <a:r>
              <a:t>It gives a simple comparison before claiming the line helps.</a:t>
            </a:r>
          </a:p>
          <a:p xmlns:a="http://schemas.openxmlformats.org/drawingml/2006/main">
            <a:r>
              <a:t/>
            </a:r>
          </a:p>
          <a:p xmlns:a="http://schemas.openxmlformats.org/drawingml/2006/main">
            <a:r>
              <a:t>LECTURER CUE</a:t>
            </a:r>
          </a:p>
          <a:p xmlns:a="http://schemas.openxmlformats.org/drawingml/2006/main">
            <a:r>
              <a:t>Use the same training data. This baseline learns their mean, 15, and predicts it for every input. It gives a simple comparison before claiming the line helps.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The mean baseline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mean baseline in Python</a:t>
            </a:r>
          </a:p>
          <a:p xmlns:a="http://schemas.openxmlformats.org/drawingml/2006/main">
            <a:r>
              <a:t/>
            </a:r>
          </a:p>
          <a:p xmlns:a="http://schemas.openxmlformats.org/drawingml/2006/main">
            <a:r>
              <a:t>CONNECT</a:t>
            </a:r>
          </a:p>
          <a:p xmlns:a="http://schemas.openxmlformats.org/drawingml/2006/main">
            <a:r>
              <a:t>Previous slide: The mean baseline.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from sklearn.dummy import DummyRegressor</a:t>
            </a:r>
          </a:p>
          <a:p xmlns:a="http://schemas.openxmlformats.org/drawingml/2006/main">
            <a:r>
              <a:t>baseline = DummyRegressor(strategy="mean")</a:t>
            </a:r>
          </a:p>
          <a:p xmlns:a="http://schemas.openxmlformats.org/drawingml/2006/main">
            <a:r>
              <a:t>baseline.fit(X_train, y_train)</a:t>
            </a:r>
          </a:p>
          <a:p xmlns:a="http://schemas.openxmlformats.org/drawingml/2006/main">
            <a:r>
              <a:t>print(baseline.predict(new_inputs).tolist())</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fit learns using the supplied training observations.</a:t>
            </a:r>
          </a:p>
          <a:p xmlns:a="http://schemas.openxmlformats.org/drawingml/2006/main">
            <a:r>
              <a:t/>
            </a:r>
          </a:p>
          <a:p xmlns:a="http://schemas.openxmlformats.org/drawingml/2006/main">
            <a:r>
              <a:t>predict applies the fitted model to new inputs.</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Use the same training data. This baseline learns their mean, 15, and predicts it for every input. It gives a simple comparison before claiming the line helps.</a:t>
            </a:r>
          </a:p>
          <a:p xmlns:a="http://schemas.openxmlformats.org/drawingml/2006/main">
            <a:r>
              <a:t/>
            </a:r>
          </a:p>
          <a:p xmlns:a="http://schemas.openxmlformats.org/drawingml/2006/main">
            <a:r>
              <a:t>Complete practice code:</a:t>
            </a:r>
          </a:p>
          <a:p xmlns:a="http://schemas.openxmlformats.org/drawingml/2006/main">
            <a:r>
              <a:t>from sklearn.dummy import DummyRegressor</a:t>
            </a:r>
          </a:p>
          <a:p xmlns:a="http://schemas.openxmlformats.org/drawingml/2006/main">
            <a:r>
              <a:t>baseline = DummyRegressor(strategy="mean")</a:t>
            </a:r>
          </a:p>
          <a:p xmlns:a="http://schemas.openxmlformats.org/drawingml/2006/main">
            <a:r>
              <a:t>baseline.fit(X_train, y_train)</a:t>
            </a:r>
          </a:p>
          <a:p xmlns:a="http://schemas.openxmlformats.org/drawingml/2006/main">
            <a:r>
              <a:t>print(baseline.predict(new_inputs).tolist())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small regression tree.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small regression tree</a:t>
            </a:r>
          </a:p>
          <a:p xmlns:a="http://schemas.openxmlformats.org/drawingml/2006/main">
            <a:r>
              <a:t/>
            </a:r>
          </a:p>
          <a:p xmlns:a="http://schemas.openxmlformats.org/drawingml/2006/main">
            <a:r>
              <a:t>CONNECT</a:t>
            </a:r>
          </a:p>
          <a:p xmlns:a="http://schemas.openxmlformats.org/drawingml/2006/main">
            <a:r>
              <a:t>Previous slide: The mean baseline in Python.</a:t>
            </a:r>
          </a:p>
          <a:p xmlns:a="http://schemas.openxmlformats.org/drawingml/2006/main">
            <a:r>
              <a:t/>
            </a:r>
          </a:p>
          <a:p xmlns:a="http://schemas.openxmlformats.org/drawingml/2006/main">
            <a:r>
              <a:t>EXPLAIN</a:t>
            </a:r>
          </a:p>
          <a:p xmlns:a="http://schemas.openxmlformats.org/drawingml/2006/main">
            <a:r>
              <a:t>A tree learns threshold questions from the training inputs.</a:t>
            </a:r>
          </a:p>
          <a:p xmlns:a="http://schemas.openxmlformats.org/drawingml/2006/main">
            <a:r>
              <a:t/>
            </a:r>
          </a:p>
          <a:p xmlns:a="http://schemas.openxmlformats.org/drawingml/2006/main">
            <a:r>
              <a:t>Each final group, or leaf, predicts a target value.</a:t>
            </a:r>
          </a:p>
          <a:p xmlns:a="http://schemas.openxmlformats.org/drawingml/2006/main">
            <a:r>
              <a:t/>
            </a:r>
          </a:p>
          <a:p xmlns:a="http://schemas.openxmlformats.org/drawingml/2006/main">
            <a:r>
              <a:t>This tree returns 14 for input 2.5 in this toy example. max_depth limits the number of successive decisions. random_state fixes the random seed.</a:t>
            </a:r>
          </a:p>
          <a:p xmlns:a="http://schemas.openxmlformats.org/drawingml/2006/main">
            <a:r>
              <a:t/>
            </a:r>
          </a:p>
          <a:p xmlns:a="http://schemas.openxmlformats.org/drawingml/2006/main">
            <a:r>
              <a:t>LECTURER CUE</a:t>
            </a:r>
          </a:p>
          <a:p xmlns:a="http://schemas.openxmlformats.org/drawingml/2006/main">
            <a:r>
              <a:t>A tree learns threshold questions from the training inputs. Each final group, or leaf, predicts a target value. This tree returns 14 for input 2.5 in this toy example. max_depth limits the number of successive decisions. random_state fixes the random seed.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a regression-tree prediction.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a regression-tree prediction</a:t>
            </a:r>
          </a:p>
          <a:p xmlns:a="http://schemas.openxmlformats.org/drawingml/2006/main">
            <a:r>
              <a:t/>
            </a:r>
          </a:p>
          <a:p xmlns:a="http://schemas.openxmlformats.org/drawingml/2006/main">
            <a:r>
              <a:t>CONNECT</a:t>
            </a:r>
          </a:p>
          <a:p xmlns:a="http://schemas.openxmlformats.org/drawingml/2006/main">
            <a:r>
              <a:t>Previous slide: A small regression tree.</a:t>
            </a:r>
          </a:p>
          <a:p xmlns:a="http://schemas.openxmlformats.org/drawingml/2006/main">
            <a:r>
              <a:t/>
            </a:r>
          </a:p>
          <a:p xmlns:a="http://schemas.openxmlformats.org/drawingml/2006/main">
            <a:r>
              <a:t>EXPLAIN</a:t>
            </a:r>
          </a:p>
          <a:p xmlns:a="http://schemas.openxmlformats.org/drawingml/2006/main">
            <a:r>
              <a:t>Input or question | Path for input 2.5 | Result</a:t>
            </a:r>
          </a:p>
          <a:p xmlns:a="http://schemas.openxmlformats.org/drawingml/2006/main">
            <a:r>
              <a:t/>
            </a:r>
          </a:p>
          <a:p xmlns:a="http://schemas.openxmlformats.org/drawingml/2006/main">
            <a:r>
              <a:t>Is input at most 2.5? | Yes: use the lower group | Continue within that group</a:t>
            </a:r>
          </a:p>
          <a:p xmlns:a="http://schemas.openxmlformats.org/drawingml/2006/main">
            <a:r>
              <a:t/>
            </a:r>
          </a:p>
          <a:p xmlns:a="http://schemas.openxmlformats.org/drawingml/2006/main">
            <a:r>
              <a:t>Is input at most 1.5? | No: use its upper leaf | Training target 14</a:t>
            </a:r>
          </a:p>
          <a:p xmlns:a="http://schemas.openxmlformats.org/drawingml/2006/main">
            <a:r>
              <a:t/>
            </a:r>
          </a:p>
          <a:p xmlns:a="http://schemas.openxmlformats.org/drawingml/2006/main">
            <a:r>
              <a:t>Leaf prediction | Return the leaf value | 14</a:t>
            </a:r>
          </a:p>
          <a:p xmlns:a="http://schemas.openxmlformats.org/drawingml/2006/main">
            <a:r>
              <a:t/>
            </a:r>
          </a:p>
          <a:p xmlns:a="http://schemas.openxmlformats.org/drawingml/2006/main">
            <a:r>
              <a:t>This trace describes our fitted four-row teaching tree. A different training set can produce different questions.</a:t>
            </a:r>
          </a:p>
          <a:p xmlns:a="http://schemas.openxmlformats.org/drawingml/2006/main">
            <a:r>
              <a:t/>
            </a:r>
          </a:p>
          <a:p xmlns:a="http://schemas.openxmlformats.org/drawingml/2006/main">
            <a:r>
              <a:t>Read the rows in order. This trace describes our fitted four-row teaching tree. A different training set can produce different questions.</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small regression tree in Python.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small regression tree in Python</a:t>
            </a:r>
          </a:p>
          <a:p xmlns:a="http://schemas.openxmlformats.org/drawingml/2006/main">
            <a:r>
              <a:t/>
            </a:r>
          </a:p>
          <a:p xmlns:a="http://schemas.openxmlformats.org/drawingml/2006/main">
            <a:r>
              <a:t>CONNECT</a:t>
            </a:r>
          </a:p>
          <a:p xmlns:a="http://schemas.openxmlformats.org/drawingml/2006/main">
            <a:r>
              <a:t>Previous slide: Trace a regression-tree prediction.</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from sklearn.tree import DecisionTreeRegressor</a:t>
            </a:r>
          </a:p>
          <a:p xmlns:a="http://schemas.openxmlformats.org/drawingml/2006/main">
            <a:r>
              <a:t>tree = DecisionTreeRegressor(max_depth=4, random_state=17)</a:t>
            </a:r>
          </a:p>
          <a:p xmlns:a="http://schemas.openxmlformats.org/drawingml/2006/main">
            <a:r>
              <a:t>tree.fit(X_train, y_train)</a:t>
            </a:r>
          </a:p>
          <a:p xmlns:a="http://schemas.openxmlformats.org/drawingml/2006/main">
            <a:r>
              <a:t>print(tree.predict(new_inputs).tolist())</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fit learns using the supplied training observations.</a:t>
            </a:r>
          </a:p>
          <a:p xmlns:a="http://schemas.openxmlformats.org/drawingml/2006/main">
            <a:r>
              <a:t/>
            </a:r>
          </a:p>
          <a:p xmlns:a="http://schemas.openxmlformats.org/drawingml/2006/main">
            <a:r>
              <a:t>predict applies the fitted model to new inputs.</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A tree learns threshold questions from the training inputs. Each final group, or leaf, predicts a target value. This tree returns 14 for input 2.5 in this toy example. max_depth limits the number of successive decisions. random_state fixes the random seed.</a:t>
            </a:r>
          </a:p>
          <a:p xmlns:a="http://schemas.openxmlformats.org/drawingml/2006/main">
            <a:r>
              <a:t/>
            </a:r>
          </a:p>
          <a:p xmlns:a="http://schemas.openxmlformats.org/drawingml/2006/main">
            <a:r>
              <a:t>Complete practice code:</a:t>
            </a:r>
          </a:p>
          <a:p xmlns:a="http://schemas.openxmlformats.org/drawingml/2006/main">
            <a:r>
              <a:t>from sklearn.tree import DecisionTreeRegressor</a:t>
            </a:r>
          </a:p>
          <a:p xmlns:a="http://schemas.openxmlformats.org/drawingml/2006/main">
            <a:r>
              <a:t>tree = DecisionTreeRegressor(max_depth=4, random_state=17)</a:t>
            </a:r>
          </a:p>
          <a:p xmlns:a="http://schemas.openxmlformats.org/drawingml/2006/main">
            <a:r>
              <a:t>tree.fit(X_train, y_train)</a:t>
            </a:r>
          </a:p>
          <a:p xmlns:a="http://schemas.openxmlformats.org/drawingml/2006/main">
            <a:r>
              <a:t>print(tree.predict(new_inputs).tolist())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Reuse the same preparation on new inputs.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Reuse the same preparation on new inputs</a:t>
            </a:r>
          </a:p>
          <a:p xmlns:a="http://schemas.openxmlformats.org/drawingml/2006/main">
            <a:r>
              <a:t/>
            </a:r>
          </a:p>
          <a:p xmlns:a="http://schemas.openxmlformats.org/drawingml/2006/main">
            <a:r>
              <a:t>CONNECT</a:t>
            </a:r>
          </a:p>
          <a:p xmlns:a="http://schemas.openxmlformats.org/drawingml/2006/main">
            <a:r>
              <a:t>Previous slide: A small regression tree in Python.</a:t>
            </a:r>
          </a:p>
          <a:p xmlns:a="http://schemas.openxmlformats.org/drawingml/2006/main">
            <a:r>
              <a:t/>
            </a:r>
          </a:p>
          <a:p xmlns:a="http://schemas.openxmlformats.org/drawingml/2006/main">
            <a:r>
              <a:t>EXPLAIN</a:t>
            </a:r>
          </a:p>
          <a:p xmlns:a="http://schemas.openxmlformats.org/drawingml/2006/main">
            <a:r>
              <a:t>Imputer: An imputer fills missing feature values using a stated rule. Fit learns the replacement from training observations only. Prediction reuses that stored replacement.</a:t>
            </a:r>
          </a:p>
          <a:p xmlns:a="http://schemas.openxmlformats.org/drawingml/2006/main">
            <a:r>
              <a:t/>
            </a:r>
          </a:p>
          <a:p xmlns:a="http://schemas.openxmlformats.org/drawingml/2006/main">
            <a:r>
              <a:t>Pipeline: A pipeline connects preprocessing and a model. make_pipeline creates that connection. Its fit learns both stages on training data; predict applies them to new features.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the pipeline tools before combining them.</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pipeline tools before combining them</a:t>
            </a:r>
          </a:p>
          <a:p xmlns:a="http://schemas.openxmlformats.org/drawingml/2006/main">
            <a:r>
              <a:t/>
            </a:r>
          </a:p>
          <a:p xmlns:a="http://schemas.openxmlformats.org/drawingml/2006/main">
            <a:r>
              <a:t>CONNECT</a:t>
            </a:r>
          </a:p>
          <a:p xmlns:a="http://schemas.openxmlformats.org/drawingml/2006/main">
            <a:r>
              <a:t>Previous slide: Reuse the same preparation on new inputs.</a:t>
            </a:r>
          </a:p>
          <a:p xmlns:a="http://schemas.openxmlformats.org/drawingml/2006/main">
            <a:r>
              <a:t/>
            </a:r>
          </a:p>
          <a:p xmlns:a="http://schemas.openxmlformats.org/drawingml/2006/main">
            <a:r>
              <a:t>EXPLAIN</a:t>
            </a:r>
          </a:p>
          <a:p xmlns:a="http://schemas.openxmlformats.org/drawingml/2006/main">
            <a:r>
              <a:t>np.nan is NumPy’s missing-number marker. SimpleImputer(strategy="median") creates a tool that will learn each column’s median from training data.</a:t>
            </a:r>
          </a:p>
          <a:p xmlns:a="http://schemas.openxmlformats.org/drawingml/2006/main">
            <a:r>
              <a:t/>
            </a:r>
          </a:p>
          <a:p xmlns:a="http://schemas.openxmlformats.org/drawingml/2006/main">
            <a:r>
              <a:t>make_pipeline(imputer, model) joins preparation to prediction in that order. pipeline.fit first learns and applies the imputer, then fits the model.</a:t>
            </a:r>
          </a:p>
          <a:p xmlns:a="http://schemas.openxmlformats.org/drawingml/2006/main">
            <a:r>
              <a:t/>
            </a:r>
          </a:p>
          <a:p xmlns:a="http://schemas.openxmlformats.org/drawingml/2006/main">
            <a:r>
              <a:t>pipeline.predict applies the already learned imputer to new inputs before predicting. It does not recalculate medians from the new inputs.</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Preprocessing learned from training only.</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Preprocessing learned from training only</a:t>
            </a:r>
          </a:p>
          <a:p xmlns:a="http://schemas.openxmlformats.org/drawingml/2006/main">
            <a:r>
              <a:t/>
            </a:r>
          </a:p>
          <a:p xmlns:a="http://schemas.openxmlformats.org/drawingml/2006/main">
            <a:r>
              <a:t>CONNECT</a:t>
            </a:r>
          </a:p>
          <a:p xmlns:a="http://schemas.openxmlformats.org/drawingml/2006/main">
            <a:r>
              <a:t>Previous slide: Read the pipeline tools before combining them.</a:t>
            </a:r>
          </a:p>
          <a:p xmlns:a="http://schemas.openxmlformats.org/drawingml/2006/main">
            <a:r>
              <a:t/>
            </a:r>
          </a:p>
          <a:p xmlns:a="http://schemas.openxmlformats.org/drawingml/2006/main">
            <a:r>
              <a:t>EXPLAIN</a:t>
            </a:r>
          </a:p>
          <a:p xmlns:a="http://schemas.openxmlformats.org/drawingml/2006/main">
            <a:r>
              <a:t>SimpleImputer learns one median for each training column. make_pipeline connects this step to the model. fit learns both steps using only the training examples. predict reuses them on new inputs.</a:t>
            </a:r>
          </a:p>
          <a:p xmlns:a="http://schemas.openxmlformats.org/drawingml/2006/main">
            <a:r>
              <a:t/>
            </a:r>
          </a:p>
          <a:p xmlns:a="http://schemas.openxmlformats.org/drawingml/2006/main">
            <a:r>
              <a:t>No target is supplied to predict.</a:t>
            </a:r>
          </a:p>
          <a:p xmlns:a="http://schemas.openxmlformats.org/drawingml/2006/main">
            <a:r>
              <a:t/>
            </a:r>
          </a:p>
          <a:p xmlns:a="http://schemas.openxmlformats.org/drawingml/2006/main">
            <a:r>
              <a:t>The two inputs here are invented practice measurements.</a:t>
            </a:r>
          </a:p>
          <a:p xmlns:a="http://schemas.openxmlformats.org/drawingml/2006/main">
            <a:r>
              <a:t/>
            </a:r>
          </a:p>
          <a:p xmlns:a="http://schemas.openxmlformats.org/drawingml/2006/main">
            <a:r>
              <a:t>LECTURER CUE</a:t>
            </a:r>
          </a:p>
          <a:p xmlns:a="http://schemas.openxmlformats.org/drawingml/2006/main">
            <a:r>
              <a:t>SimpleImputer learns one median for each training column. make_pipeline connects this step to the model. fit learns both steps using only the training examples. predict reuses them on new inputs. No target is supplied to predict. The two inputs here are invented practice measurements.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the training-only fill step.</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the training-only fill step</a:t>
            </a:r>
          </a:p>
          <a:p xmlns:a="http://schemas.openxmlformats.org/drawingml/2006/main">
            <a:r>
              <a:t/>
            </a:r>
          </a:p>
          <a:p xmlns:a="http://schemas.openxmlformats.org/drawingml/2006/main">
            <a:r>
              <a:t>CONNECT</a:t>
            </a:r>
          </a:p>
          <a:p xmlns:a="http://schemas.openxmlformats.org/drawingml/2006/main">
            <a:r>
              <a:t>Previous slide: Preprocessing learned from training only.</a:t>
            </a:r>
          </a:p>
          <a:p xmlns:a="http://schemas.openxmlformats.org/drawingml/2006/main">
            <a:r>
              <a:t/>
            </a:r>
          </a:p>
          <a:p xmlns:a="http://schemas.openxmlformats.org/drawingml/2006/main">
            <a:r>
              <a:t>EXPLAIN</a:t>
            </a:r>
          </a:p>
          <a:p xmlns:a="http://schemas.openxmlformats.org/drawingml/2006/main">
            <a:r>
              <a:t>Stage | Second feature values | Action</a:t>
            </a:r>
          </a:p>
          <a:p xmlns:a="http://schemas.openxmlformats.org/drawingml/2006/main">
            <a:r>
              <a:t/>
            </a:r>
          </a:p>
          <a:p xmlns:a="http://schemas.openxmlformats.org/drawingml/2006/main">
            <a:r>
              <a:t>Training input | 20, 22, missing, 24 | Learn median 22</a:t>
            </a:r>
          </a:p>
          <a:p xmlns:a="http://schemas.openxmlformats.org/drawingml/2006/main">
            <a:r>
              <a:t/>
            </a:r>
          </a:p>
          <a:p xmlns:a="http://schemas.openxmlformats.org/drawingml/2006/main">
            <a:r>
              <a:t>Training after filling | 20, 22, 22, 24 | Fit the model</a:t>
            </a:r>
          </a:p>
          <a:p xmlns:a="http://schemas.openxmlformats.org/drawingml/2006/main">
            <a:r>
              <a:t/>
            </a:r>
          </a:p>
          <a:p xmlns:a="http://schemas.openxmlformats.org/drawingml/2006/main">
            <a:r>
              <a:t>New input | Missing second value | Fill with saved 22</a:t>
            </a:r>
          </a:p>
          <a:p xmlns:a="http://schemas.openxmlformats.org/drawingml/2006/main">
            <a:r>
              <a:t/>
            </a:r>
          </a:p>
          <a:p xmlns:a="http://schemas.openxmlformats.org/drawingml/2006/main">
            <a:r>
              <a:t>No new median is learned during prediction. The model receives the prepared numeric row.</a:t>
            </a:r>
          </a:p>
          <a:p xmlns:a="http://schemas.openxmlformats.org/drawingml/2006/main">
            <a:r>
              <a:t/>
            </a:r>
          </a:p>
          <a:p xmlns:a="http://schemas.openxmlformats.org/drawingml/2006/main">
            <a:r>
              <a:t>Read the rows in order. No new median is learned during prediction. The model receives the prepared numeric row.</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Preprocessing learned from training only in Python (1/2).</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Preprocessing learned from training only in Python (1/2)</a:t>
            </a:r>
          </a:p>
          <a:p xmlns:a="http://schemas.openxmlformats.org/drawingml/2006/main">
            <a:r>
              <a:t/>
            </a:r>
          </a:p>
          <a:p xmlns:a="http://schemas.openxmlformats.org/drawingml/2006/main">
            <a:r>
              <a:t>CONNECT</a:t>
            </a:r>
          </a:p>
          <a:p xmlns:a="http://schemas.openxmlformats.org/drawingml/2006/main">
            <a:r>
              <a:t>Previous slide: Trace the training-only fill step.</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from sklearn.impute import SimpleImputer</a:t>
            </a:r>
          </a:p>
          <a:p xmlns:a="http://schemas.openxmlformats.org/drawingml/2006/main">
            <a:r>
              <a:t>from sklearn.pipeline import make_pipeline</a:t>
            </a:r>
          </a:p>
          <a:p xmlns:a="http://schemas.openxmlformats.org/drawingml/2006/main">
            <a:r>
              <a:t>import numpy as np</a:t>
            </a:r>
          </a:p>
          <a:p xmlns:a="http://schemas.openxmlformats.org/drawingml/2006/main">
            <a:r>
              <a:t>train_inputs = [[1, 20], [2, 22], [3, np.nan], [4, 24]]</a:t>
            </a:r>
          </a:p>
          <a:p xmlns:a="http://schemas.openxmlformats.org/drawingml/2006/main">
            <a:r>
              <a:t>train_targets = [12, 14, 16, 18]</a:t>
            </a:r>
          </a:p>
          <a:p xmlns:a="http://schemas.openxmlformats.org/drawingml/2006/main">
            <a:r>
              <a:t>imputer = SimpleImputer(strategy="median")</a:t>
            </a:r>
          </a:p>
          <a:p xmlns:a="http://schemas.openxmlformats.org/drawingml/2006/main">
            <a:r>
              <a:t>model = LinearRegression()</a:t>
            </a:r>
          </a:p>
          <a:p xmlns:a="http://schemas.openxmlformats.org/drawingml/2006/main">
            <a:r>
              <a:t>pipeline = make_pipeline(imputer, model)</a:t>
            </a:r>
          </a:p>
          <a:p xmlns:a="http://schemas.openxmlformats.org/drawingml/2006/main">
            <a:r>
              <a:t>pipeline.fit(train_inputs, train_targets)</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fit learns using the supplied training observations.</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SimpleImputer learns one median for each training column. make_pipeline connects this step to the model. fit learns both steps using only the training examples. predict reuses them on new inputs. No target is supplied to predict. The two inputs here are invented practice measurements.</a:t>
            </a:r>
          </a:p>
          <a:p xmlns:a="http://schemas.openxmlformats.org/drawingml/2006/main">
            <a:r>
              <a:t/>
            </a:r>
          </a:p>
          <a:p xmlns:a="http://schemas.openxmlformats.org/drawingml/2006/main">
            <a:r>
              <a:t>Complete practice code:</a:t>
            </a:r>
          </a:p>
          <a:p xmlns:a="http://schemas.openxmlformats.org/drawingml/2006/main">
            <a:r>
              <a:t>from sklearn.impute import SimpleImputer</a:t>
            </a:r>
          </a:p>
          <a:p xmlns:a="http://schemas.openxmlformats.org/drawingml/2006/main">
            <a:r>
              <a:t>from sklearn.pipeline import make_pipeline</a:t>
            </a:r>
          </a:p>
          <a:p xmlns:a="http://schemas.openxmlformats.org/drawingml/2006/main">
            <a:r>
              <a:t>import numpy as np</a:t>
            </a:r>
          </a:p>
          <a:p xmlns:a="http://schemas.openxmlformats.org/drawingml/2006/main">
            <a:r>
              <a:t>train_inputs = [[1, 20], [2, 22], [3, np.nan], [4, 24]]</a:t>
            </a:r>
          </a:p>
          <a:p xmlns:a="http://schemas.openxmlformats.org/drawingml/2006/main">
            <a:r>
              <a:t>train_targets = [12, 14, 16, 18]</a:t>
            </a:r>
          </a:p>
          <a:p xmlns:a="http://schemas.openxmlformats.org/drawingml/2006/main">
            <a:r>
              <a:t>imputer = SimpleImputer(strategy="median")</a:t>
            </a:r>
          </a:p>
          <a:p xmlns:a="http://schemas.openxmlformats.org/drawingml/2006/main">
            <a:r>
              <a:t>model = LinearRegression()</a:t>
            </a:r>
          </a:p>
          <a:p xmlns:a="http://schemas.openxmlformats.org/drawingml/2006/main">
            <a:r>
              <a:t>pipeline = make_pipeline(imputer, model)</a:t>
            </a:r>
          </a:p>
          <a:p xmlns:a="http://schemas.openxmlformats.org/drawingml/2006/main">
            <a:r>
              <a:t>pipeline.fit(train_inputs, train_targets)</a:t>
            </a:r>
          </a:p>
          <a:p xmlns:a="http://schemas.openxmlformats.org/drawingml/2006/main">
            <a:r>
              <a:t>predictions = pipeline.predict([[2.5, np.nan]])</a:t>
            </a:r>
          </a:p>
          <a:p xmlns:a="http://schemas.openxmlformats.org/drawingml/2006/main">
            <a:r>
              <a:t>print(predictions.round(2).tolist())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Preprocessing learned from training only in Python (2/2).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Preprocessing learned from training only in Python (2/2)</a:t>
            </a:r>
          </a:p>
          <a:p xmlns:a="http://schemas.openxmlformats.org/drawingml/2006/main">
            <a:r>
              <a:t/>
            </a:r>
          </a:p>
          <a:p xmlns:a="http://schemas.openxmlformats.org/drawingml/2006/main">
            <a:r>
              <a:t>CONNECT</a:t>
            </a:r>
          </a:p>
          <a:p xmlns:a="http://schemas.openxmlformats.org/drawingml/2006/main">
            <a:r>
              <a:t>Previous slide: Preprocessing learned from training only in Python (1/2).</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predictions = pipeline.predict([[2.5, np.nan]])</a:t>
            </a:r>
          </a:p>
          <a:p xmlns:a="http://schemas.openxmlformats.org/drawingml/2006/main">
            <a:r>
              <a:t>print(predictions.round(2).tolist())</a:t>
            </a:r>
          </a:p>
          <a:p xmlns:a="http://schemas.openxmlformats.org/drawingml/2006/main">
            <a:r>
              <a:t/>
            </a:r>
          </a:p>
          <a:p xmlns:a="http://schemas.openxmlformats.org/drawingml/2006/main">
            <a:r>
              <a:t>predict applies the fitted model to new inputs.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CUE</a:t>
            </a:r>
          </a:p>
          <a:p xmlns:a="http://schemas.openxmlformats.org/drawingml/2006/main">
            <a:r>
              <a:t>SimpleImputer learns one median for each training column. make_pipeline connects this step to the model. fit learns both steps using only the training examples. predict reuses them on new inputs. No target is supplied to predict. The two inputs here are invented practice measurements.</a:t>
            </a:r>
          </a:p>
          <a:p xmlns:a="http://schemas.openxmlformats.org/drawingml/2006/main">
            <a:r>
              <a:t/>
            </a:r>
          </a:p>
          <a:p xmlns:a="http://schemas.openxmlformats.org/drawingml/2006/main">
            <a:r>
              <a:t>Complete practice code:</a:t>
            </a:r>
          </a:p>
          <a:p xmlns:a="http://schemas.openxmlformats.org/drawingml/2006/main">
            <a:r>
              <a:t>from sklearn.impute import SimpleImputer</a:t>
            </a:r>
          </a:p>
          <a:p xmlns:a="http://schemas.openxmlformats.org/drawingml/2006/main">
            <a:r>
              <a:t>from sklearn.pipeline import make_pipeline</a:t>
            </a:r>
          </a:p>
          <a:p xmlns:a="http://schemas.openxmlformats.org/drawingml/2006/main">
            <a:r>
              <a:t>import numpy as np</a:t>
            </a:r>
          </a:p>
          <a:p xmlns:a="http://schemas.openxmlformats.org/drawingml/2006/main">
            <a:r>
              <a:t>train_inputs = [[1, 20], [2, 22], [3, np.nan], [4, 24]]</a:t>
            </a:r>
          </a:p>
          <a:p xmlns:a="http://schemas.openxmlformats.org/drawingml/2006/main">
            <a:r>
              <a:t>train_targets = [12, 14, 16, 18]</a:t>
            </a:r>
          </a:p>
          <a:p xmlns:a="http://schemas.openxmlformats.org/drawingml/2006/main">
            <a:r>
              <a:t>imputer = SimpleImputer(strategy="median")</a:t>
            </a:r>
          </a:p>
          <a:p xmlns:a="http://schemas.openxmlformats.org/drawingml/2006/main">
            <a:r>
              <a:t>model = LinearRegression()</a:t>
            </a:r>
          </a:p>
          <a:p xmlns:a="http://schemas.openxmlformats.org/drawingml/2006/main">
            <a:r>
              <a:t>pipeline = make_pipeline(imputer, model)</a:t>
            </a:r>
          </a:p>
          <a:p xmlns:a="http://schemas.openxmlformats.org/drawingml/2006/main">
            <a:r>
              <a:t>pipeline.fit(train_inputs, train_targets)</a:t>
            </a:r>
          </a:p>
          <a:p xmlns:a="http://schemas.openxmlformats.org/drawingml/2006/main">
            <a:r>
              <a:t>predictions = pipeline.predict([[2.5, np.nan]])</a:t>
            </a:r>
          </a:p>
          <a:p xmlns:a="http://schemas.openxmlformats.org/drawingml/2006/main">
            <a:r>
              <a:t>print(predictions.round(2).tolist())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records into a feature table.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records into a feature table</a:t>
            </a:r>
          </a:p>
          <a:p xmlns:a="http://schemas.openxmlformats.org/drawingml/2006/main">
            <a:r>
              <a:t/>
            </a:r>
          </a:p>
          <a:p xmlns:a="http://schemas.openxmlformats.org/drawingml/2006/main">
            <a:r>
              <a:t>CONNECT</a:t>
            </a:r>
          </a:p>
          <a:p xmlns:a="http://schemas.openxmlformats.org/drawingml/2006/main">
            <a:r>
              <a:t>Previous slide: Preprocessing learned from training only in Python (2/2).</a:t>
            </a:r>
          </a:p>
          <a:p xmlns:a="http://schemas.openxmlformats.org/drawingml/2006/main">
            <a:r>
              <a:t/>
            </a:r>
          </a:p>
          <a:p xmlns:a="http://schemas.openxmlformats.org/drawingml/2006/main">
            <a:r>
              <a:t>EXPLAIN</a:t>
            </a:r>
          </a:p>
          <a:p xmlns:a="http://schemas.openxmlformats.org/drawingml/2006/main">
            <a:r>
              <a:t>Each inner list is one row, in the same order as the input records.</a:t>
            </a:r>
          </a:p>
          <a:p xmlns:a="http://schemas.openxmlformats.org/drawingml/2006/main">
            <a:r>
              <a:t/>
            </a:r>
          </a:p>
          <a:p xmlns:a="http://schemas.openxmlformats.org/drawingml/2006/main">
            <a:r>
              <a:t>The target list uses that same row order.</a:t>
            </a:r>
          </a:p>
          <a:p xmlns:a="http://schemas.openxmlformats.org/drawingml/2006/main">
            <a:r>
              <a:t/>
            </a:r>
          </a:p>
          <a:p xmlns:a="http://schemas.openxmlformats.org/drawingml/2006/main">
            <a:r>
              <a:t>The feature table has no answer column.</a:t>
            </a:r>
          </a:p>
          <a:p xmlns:a="http://schemas.openxmlformats.org/drawingml/2006/main">
            <a:r>
              <a:t/>
            </a:r>
          </a:p>
          <a:p xmlns:a="http://schemas.openxmlformats.org/drawingml/2006/main">
            <a:r>
              <a:t>LECTURER CUE</a:t>
            </a:r>
          </a:p>
          <a:p xmlns:a="http://schemas.openxmlformats.org/drawingml/2006/main">
            <a:r>
              <a:t>Each inner list is one row, in the same order as the input records. The target list uses that same row order. The feature table has no answer column.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records into a feature table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records into a feature table in Python</a:t>
            </a:r>
          </a:p>
          <a:p xmlns:a="http://schemas.openxmlformats.org/drawingml/2006/main">
            <a:r>
              <a:t/>
            </a:r>
          </a:p>
          <a:p xmlns:a="http://schemas.openxmlformats.org/drawingml/2006/main">
            <a:r>
              <a:t>CONNECT</a:t>
            </a:r>
          </a:p>
          <a:p xmlns:a="http://schemas.openxmlformats.org/drawingml/2006/main">
            <a:r>
              <a:t>Previous slide: Reading records into a feature table.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rows = [{"length": 2, "width": 3, "area": 6},</a:t>
            </a:r>
          </a:p>
          <a:p xmlns:a="http://schemas.openxmlformats.org/drawingml/2006/main">
            <a:r>
              <a:t>        {"length": 4, "width": 5, "area": 20}]</a:t>
            </a:r>
          </a:p>
          <a:p xmlns:a="http://schemas.openxmlformats.org/drawingml/2006/main">
            <a:r>
              <a:t>X = []</a:t>
            </a:r>
          </a:p>
          <a:p xmlns:a="http://schemas.openxmlformats.org/drawingml/2006/main">
            <a:r>
              <a:t>y = []</a:t>
            </a:r>
          </a:p>
          <a:p xmlns:a="http://schemas.openxmlformats.org/drawingml/2006/main">
            <a:r>
              <a:t>for row in rows:</a:t>
            </a:r>
          </a:p>
          <a:p xmlns:a="http://schemas.openxmlformats.org/drawingml/2006/main">
            <a:r>
              <a:t>    X.append([row["length"], row["width"]])</a:t>
            </a:r>
          </a:p>
          <a:p xmlns:a="http://schemas.openxmlformats.org/drawingml/2006/main">
            <a:r>
              <a:t>    y.append(row["area"])</a:t>
            </a:r>
          </a:p>
          <a:p xmlns:a="http://schemas.openxmlformats.org/drawingml/2006/main">
            <a:r>
              <a:t>print(X)</a:t>
            </a:r>
          </a:p>
          <a:p xmlns:a="http://schemas.openxmlformats.org/drawingml/2006/main">
            <a:r>
              <a:t>print(y)</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append adds one item to the end of a list.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Each inner list is one row, in the same order as the input records. The target list uses that same row order. The feature table has no answer column.</a:t>
            </a:r>
          </a:p>
          <a:p xmlns:a="http://schemas.openxmlformats.org/drawingml/2006/main">
            <a:r>
              <a:t/>
            </a:r>
          </a:p>
          <a:p xmlns:a="http://schemas.openxmlformats.org/drawingml/2006/main">
            <a:r>
              <a:t>Complete practice code:</a:t>
            </a:r>
          </a:p>
          <a:p xmlns:a="http://schemas.openxmlformats.org/drawingml/2006/main">
            <a:r>
              <a:t>rows = [{"length": 2, "width": 3, "area": 6},</a:t>
            </a:r>
          </a:p>
          <a:p xmlns:a="http://schemas.openxmlformats.org/drawingml/2006/main">
            <a:r>
              <a:t>        {"length": 4, "width": 5, "area": 20}]</a:t>
            </a:r>
          </a:p>
          <a:p xmlns:a="http://schemas.openxmlformats.org/drawingml/2006/main">
            <a:r>
              <a:t>X = []</a:t>
            </a:r>
          </a:p>
          <a:p xmlns:a="http://schemas.openxmlformats.org/drawingml/2006/main">
            <a:r>
              <a:t>y = []</a:t>
            </a:r>
          </a:p>
          <a:p xmlns:a="http://schemas.openxmlformats.org/drawingml/2006/main">
            <a:r>
              <a:t>for row in rows:</a:t>
            </a:r>
          </a:p>
          <a:p xmlns:a="http://schemas.openxmlformats.org/drawingml/2006/main">
            <a:r>
              <a:t>    X.append([row["length"], row["width"]])</a:t>
            </a:r>
          </a:p>
          <a:p xmlns:a="http://schemas.openxmlformats.org/drawingml/2006/main">
            <a:r>
              <a:t>    y.append(row["area"])</a:t>
            </a:r>
          </a:p>
          <a:p xmlns:a="http://schemas.openxmlformats.org/drawingml/2006/main">
            <a:r>
              <a:t>print(X)</a:t>
            </a:r>
          </a:p>
          <a:p xmlns:a="http://schemas.openxmlformats.org/drawingml/2006/main">
            <a:r>
              <a:t>print(y)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MAE and RMSE.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MAE and RMSE</a:t>
            </a:r>
          </a:p>
          <a:p xmlns:a="http://schemas.openxmlformats.org/drawingml/2006/main">
            <a:r>
              <a:t/>
            </a:r>
          </a:p>
          <a:p xmlns:a="http://schemas.openxmlformats.org/drawingml/2006/main">
            <a:r>
              <a:t>CONNECT</a:t>
            </a:r>
          </a:p>
          <a:p xmlns:a="http://schemas.openxmlformats.org/drawingml/2006/main">
            <a:r>
              <a:t>Previous slide: Reading records into a feature table in Python.</a:t>
            </a:r>
          </a:p>
          <a:p xmlns:a="http://schemas.openxmlformats.org/drawingml/2006/main">
            <a:r>
              <a:t/>
            </a:r>
          </a:p>
          <a:p xmlns:a="http://schemas.openxmlformats.org/drawingml/2006/main">
            <a:r>
              <a:t>EXPLAIN</a:t>
            </a:r>
          </a:p>
          <a:p xmlns:a="http://schemas.openxmlformats.org/drawingml/2006/main">
            <a:r>
              <a:t>MAE and RMSE: MAE averages absolute prediction errors. RMSE squares errors, averages them and takes the square root. Both use target units. RMSE is more sensitive to large errors.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prediction error in ordinary numbers.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prediction error in ordinary numbers</a:t>
            </a:r>
          </a:p>
          <a:p xmlns:a="http://schemas.openxmlformats.org/drawingml/2006/main">
            <a:r>
              <a:t/>
            </a:r>
          </a:p>
          <a:p xmlns:a="http://schemas.openxmlformats.org/drawingml/2006/main">
            <a:r>
              <a:t>CONNECT</a:t>
            </a:r>
          </a:p>
          <a:p xmlns:a="http://schemas.openxmlformats.org/drawingml/2006/main">
            <a:r>
              <a:t>Previous slide: MAE and RMSE.</a:t>
            </a:r>
          </a:p>
          <a:p xmlns:a="http://schemas.openxmlformats.org/drawingml/2006/main">
            <a:r>
              <a:t/>
            </a:r>
          </a:p>
          <a:p xmlns:a="http://schemas.openxmlformats.org/drawingml/2006/main">
            <a:r>
              <a:t>EXPLAIN</a:t>
            </a:r>
          </a:p>
          <a:p xmlns:a="http://schemas.openxmlformats.org/drawingml/2006/main">
            <a:r>
              <a:t>Actual | Prediction | Absolute error</a:t>
            </a:r>
          </a:p>
          <a:p xmlns:a="http://schemas.openxmlformats.org/drawingml/2006/main">
            <a:r>
              <a:t/>
            </a:r>
          </a:p>
          <a:p xmlns:a="http://schemas.openxmlformats.org/drawingml/2006/main">
            <a:r>
              <a:t>10 | 8 | 2</a:t>
            </a:r>
          </a:p>
          <a:p xmlns:a="http://schemas.openxmlformats.org/drawingml/2006/main">
            <a:r>
              <a:t/>
            </a:r>
          </a:p>
          <a:p xmlns:a="http://schemas.openxmlformats.org/drawingml/2006/main">
            <a:r>
              <a:t>20 | 24 | 4</a:t>
            </a:r>
          </a:p>
          <a:p xmlns:a="http://schemas.openxmlformats.org/drawingml/2006/main">
            <a:r>
              <a:t/>
            </a:r>
          </a:p>
          <a:p xmlns:a="http://schemas.openxmlformats.org/drawingml/2006/main">
            <a:r>
              <a:t>MAE = (2 + 4) / 2 = 3, in the target’s unit. Compare a model against a training-only baseline.</a:t>
            </a:r>
          </a:p>
          <a:p xmlns:a="http://schemas.openxmlformats.org/drawingml/2006/main">
            <a:r>
              <a:t/>
            </a:r>
          </a:p>
          <a:p xmlns:a="http://schemas.openxmlformats.org/drawingml/2006/main">
            <a:r>
              <a:t>LECTURER CUE</a:t>
            </a:r>
          </a:p>
          <a:p xmlns:a="http://schemas.openxmlformats.org/drawingml/2006/main">
            <a:r>
              <a:t>MAE = (2 + 4) / 2 = 3, in the target’s unit. Compare a model against a training-only baseline.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The operations in the error calculation.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operations in the error calculation</a:t>
            </a:r>
          </a:p>
          <a:p xmlns:a="http://schemas.openxmlformats.org/drawingml/2006/main">
            <a:r>
              <a:t/>
            </a:r>
          </a:p>
          <a:p xmlns:a="http://schemas.openxmlformats.org/drawingml/2006/main">
            <a:r>
              <a:t>CONNECT</a:t>
            </a:r>
          </a:p>
          <a:p xmlns:a="http://schemas.openxmlformats.org/drawingml/2006/main">
            <a:r>
              <a:t>Previous slide: A prediction error in ordinary numbers.</a:t>
            </a:r>
          </a:p>
          <a:p xmlns:a="http://schemas.openxmlformats.org/drawingml/2006/main">
            <a:r>
              <a:t/>
            </a:r>
          </a:p>
          <a:p xmlns:a="http://schemas.openxmlformats.org/drawingml/2006/main">
            <a:r>
              <a:t>EXPLAIN</a:t>
            </a:r>
          </a:p>
          <a:p xmlns:a="http://schemas.openxmlformats.org/drawingml/2006/main">
            <a:r>
              <a:t>zip and paired names: zip(actual, predicted) pairs values at matching positions. for truth, guess in ... assigns each pair to two names. Here both lists must have the same nonzero length.</a:t>
            </a:r>
          </a:p>
          <a:p xmlns:a="http://schemas.openxmlformats.org/drawingml/2006/main">
            <a:r>
              <a:t/>
            </a:r>
          </a:p>
          <a:p xmlns:a="http://schemas.openxmlformats.org/drawingml/2006/main">
            <a:r>
              <a:t>Square and square root: difference ** 2 squares an error. sqrt reverses a square for nonnegative numbers: sqrt(9) is 3. from math import sqrt makes this tool available.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Pair two lists using zip.</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Pair two lists using zip</a:t>
            </a:r>
          </a:p>
          <a:p xmlns:a="http://schemas.openxmlformats.org/drawingml/2006/main">
            <a:r>
              <a:t/>
            </a:r>
          </a:p>
          <a:p xmlns:a="http://schemas.openxmlformats.org/drawingml/2006/main">
            <a:r>
              <a:t>CONNECT</a:t>
            </a:r>
          </a:p>
          <a:p xmlns:a="http://schemas.openxmlformats.org/drawingml/2006/main">
            <a:r>
              <a:t>Previous slide: The operations in the error calculation.</a:t>
            </a:r>
          </a:p>
          <a:p xmlns:a="http://schemas.openxmlformats.org/drawingml/2006/main">
            <a:r>
              <a:t/>
            </a:r>
          </a:p>
          <a:p xmlns:a="http://schemas.openxmlformats.org/drawingml/2006/main">
            <a:r>
              <a:t>EXPLAIN</a:t>
            </a:r>
          </a:p>
          <a:p xmlns:a="http://schemas.openxmlformats.org/drawingml/2006/main">
            <a:r>
              <a:t>zip(actual, predicted) visits matching positions together. for truth, guess in zip(...): unpacks each pair into two names.</a:t>
            </a:r>
          </a:p>
          <a:p xmlns:a="http://schemas.openxmlformats.org/drawingml/2006/main">
            <a:r>
              <a:t/>
            </a:r>
          </a:p>
          <a:p xmlns:a="http://schemas.openxmlformats.org/drawingml/2006/main">
            <a:r>
              <a:t>For actual [10, 20] and predicted [12, 16], the pairs are (10, 12) and (20, 16). They describe the same observations in the same order.</a:t>
            </a:r>
          </a:p>
          <a:p xmlns:a="http://schemas.openxmlformats.org/drawingml/2006/main">
            <a:r>
              <a:t/>
            </a:r>
          </a:p>
          <a:p xmlns:a="http://schemas.openxmlformats.org/drawingml/2006/main">
            <a:r>
              <a:t>zip stops at the shorter input. Check equal, nonzero lengths for these error calculations; otherwise a result could ignore observations.</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Inspect the pairs before measuring errors.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Inspect the pairs before measuring errors</a:t>
            </a:r>
          </a:p>
          <a:p xmlns:a="http://schemas.openxmlformats.org/drawingml/2006/main">
            <a:r>
              <a:t/>
            </a:r>
          </a:p>
          <a:p xmlns:a="http://schemas.openxmlformats.org/drawingml/2006/main">
            <a:r>
              <a:t>CONNECT</a:t>
            </a:r>
          </a:p>
          <a:p xmlns:a="http://schemas.openxmlformats.org/drawingml/2006/main">
            <a:r>
              <a:t>Previous slide: Pair two lists using zip.</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actual = [10, 20]</a:t>
            </a:r>
          </a:p>
          <a:p xmlns:a="http://schemas.openxmlformats.org/drawingml/2006/main">
            <a:r>
              <a:t>predicted = [12, 16]</a:t>
            </a:r>
          </a:p>
          <a:p xmlns:a="http://schemas.openxmlformats.org/drawingml/2006/main">
            <a:r>
              <a:t>for truth, guess in zip(actual, predicted):</a:t>
            </a:r>
          </a:p>
          <a:p xmlns:a="http://schemas.openxmlformats.org/drawingml/2006/main">
            <a:r>
              <a:t>    print(truth, guess)</a:t>
            </a:r>
          </a:p>
          <a:p xmlns:a="http://schemas.openxmlformats.org/drawingml/2006/main">
            <a:r>
              <a:t/>
            </a:r>
          </a:p>
          <a:p xmlns:a="http://schemas.openxmlformats.org/drawingml/2006/main">
            <a:r>
              <a:t>The first names receive the first pair, then the second pair.</a:t>
            </a:r>
          </a:p>
          <a:p xmlns:a="http://schemas.openxmlformats.org/drawingml/2006/main">
            <a:r>
              <a:t/>
            </a:r>
          </a:p>
          <a:p xmlns:a="http://schemas.openxmlformats.org/drawingml/2006/main">
            <a:r>
              <a:t>Output: 10 12; 20 16</a:t>
            </a:r>
          </a:p>
          <a:p xmlns:a="http://schemas.openxmlformats.org/drawingml/2006/main">
            <a:r>
              <a:t/>
            </a:r>
          </a:p>
          <a:p xmlns:a="http://schemas.openxmlformats.org/drawingml/2006/main">
            <a:r>
              <a:t>Expected printed output:</a:t>
            </a:r>
          </a:p>
          <a:p xmlns:a="http://schemas.openxmlformats.org/drawingml/2006/main">
            <a:r>
              <a:t>10 12</a:t>
            </a:r>
          </a:p>
          <a:p xmlns:a="http://schemas.openxmlformats.org/drawingml/2006/main">
            <a:r>
              <a:t>20 16</a:t>
            </a:r>
          </a:p>
          <a:p xmlns:a="http://schemas.openxmlformats.org/drawingml/2006/main">
            <a:r>
              <a:t/>
            </a:r>
          </a:p>
          <a:p xmlns:a="http://schemas.openxmlformats.org/drawingml/2006/main">
            <a:r>
              <a:t>Run the complete cell, then trace each line. Expected output:</a:t>
            </a:r>
          </a:p>
          <a:p xmlns:a="http://schemas.openxmlformats.org/drawingml/2006/main">
            <a:r>
              <a:t>10 12</a:t>
            </a:r>
          </a:p>
          <a:p xmlns:a="http://schemas.openxmlformats.org/drawingml/2006/main">
            <a:r>
              <a:t>20 16</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absolute and squared errors.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absolute and squared errors</a:t>
            </a:r>
          </a:p>
          <a:p xmlns:a="http://schemas.openxmlformats.org/drawingml/2006/main">
            <a:r>
              <a:t/>
            </a:r>
          </a:p>
          <a:p xmlns:a="http://schemas.openxmlformats.org/drawingml/2006/main">
            <a:r>
              <a:t>CONNECT</a:t>
            </a:r>
          </a:p>
          <a:p xmlns:a="http://schemas.openxmlformats.org/drawingml/2006/main">
            <a:r>
              <a:t>Previous slide: Inspect the pairs before measuring errors.</a:t>
            </a:r>
          </a:p>
          <a:p xmlns:a="http://schemas.openxmlformats.org/drawingml/2006/main">
            <a:r>
              <a:t/>
            </a:r>
          </a:p>
          <a:p xmlns:a="http://schemas.openxmlformats.org/drawingml/2006/main">
            <a:r>
              <a:t>EXPLAIN</a:t>
            </a:r>
          </a:p>
          <a:p xmlns:a="http://schemas.openxmlformats.org/drawingml/2006/main">
            <a:r>
              <a:t>Actual and predicted | Absolute error | Squared error</a:t>
            </a:r>
          </a:p>
          <a:p xmlns:a="http://schemas.openxmlformats.org/drawingml/2006/main">
            <a:r>
              <a:t/>
            </a:r>
          </a:p>
          <a:p xmlns:a="http://schemas.openxmlformats.org/drawingml/2006/main">
            <a:r>
              <a:t>10 and 12 | abs(-2) = 2 | (-2) ** 2 = 4</a:t>
            </a:r>
          </a:p>
          <a:p xmlns:a="http://schemas.openxmlformats.org/drawingml/2006/main">
            <a:r>
              <a:t/>
            </a:r>
          </a:p>
          <a:p xmlns:a="http://schemas.openxmlformats.org/drawingml/2006/main">
            <a:r>
              <a:t>20 and 16 | abs(4) = 4 | 4 ** 2 = 16</a:t>
            </a:r>
          </a:p>
          <a:p xmlns:a="http://schemas.openxmlformats.org/drawingml/2006/main">
            <a:r>
              <a:t/>
            </a:r>
          </a:p>
          <a:p xmlns:a="http://schemas.openxmlformats.org/drawingml/2006/main">
            <a:r>
              <a:t>Average | (2 + 4) / 2 = 3 | (4 + 16) / 2 = 10</a:t>
            </a:r>
          </a:p>
          <a:p xmlns:a="http://schemas.openxmlformats.org/drawingml/2006/main">
            <a:r>
              <a:t/>
            </a:r>
          </a:p>
          <a:p xmlns:a="http://schemas.openxmlformats.org/drawingml/2006/main">
            <a:r>
              <a:t>MAE is 3. RMSE is sqrt(10), approximately 3.1623. sqrt means the nonnegative square root.</a:t>
            </a:r>
          </a:p>
          <a:p xmlns:a="http://schemas.openxmlformats.org/drawingml/2006/main">
            <a:r>
              <a:t/>
            </a:r>
          </a:p>
          <a:p xmlns:a="http://schemas.openxmlformats.org/drawingml/2006/main">
            <a:r>
              <a:t>Read the rows in order. MAE is 3. RMSE is sqrt(10), approximately 3.1623. sqrt means the nonnegative square root.</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Two error measures.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error measures</a:t>
            </a:r>
          </a:p>
          <a:p xmlns:a="http://schemas.openxmlformats.org/drawingml/2006/main">
            <a:r>
              <a:t/>
            </a:r>
          </a:p>
          <a:p xmlns:a="http://schemas.openxmlformats.org/drawingml/2006/main">
            <a:r>
              <a:t>CONNECT</a:t>
            </a:r>
          </a:p>
          <a:p xmlns:a="http://schemas.openxmlformats.org/drawingml/2006/main">
            <a:r>
              <a:t>Previous slide: Trace absolute and squared errors.</a:t>
            </a:r>
          </a:p>
          <a:p xmlns:a="http://schemas.openxmlformats.org/drawingml/2006/main">
            <a:r>
              <a:t/>
            </a:r>
          </a:p>
          <a:p xmlns:a="http://schemas.openxmlformats.org/drawingml/2006/main">
            <a:r>
              <a:t>EXPLAIN</a:t>
            </a:r>
          </a:p>
          <a:p xmlns:a="http://schemas.openxmlformats.org/drawingml/2006/main">
            <a:r>
              <a:t>zip pairs corresponding values. abs measures error size.</a:t>
            </a:r>
          </a:p>
          <a:p xmlns:a="http://schemas.openxmlformats.org/drawingml/2006/main">
            <a:r>
              <a:t/>
            </a:r>
          </a:p>
          <a:p xmlns:a="http://schemas.openxmlformats.org/drawingml/2006/main">
            <a:r>
              <a:t>Squaring emphasises large errors; taking the square root returns to the original unit.</a:t>
            </a:r>
          </a:p>
          <a:p xmlns:a="http://schemas.openxmlformats.org/drawingml/2006/main">
            <a:r>
              <a:t/>
            </a:r>
          </a:p>
          <a:p xmlns:a="http://schemas.openxmlformats.org/drawingml/2006/main">
            <a:r>
              <a:t>These functions assume equal-length, nonempty paired observations.</a:t>
            </a:r>
          </a:p>
          <a:p xmlns:a="http://schemas.openxmlformats.org/drawingml/2006/main">
            <a:r>
              <a:t/>
            </a:r>
          </a:p>
          <a:p xmlns:a="http://schemas.openxmlformats.org/drawingml/2006/main">
            <a:r>
              <a:t>LECTURER CUE</a:t>
            </a:r>
          </a:p>
          <a:p xmlns:a="http://schemas.openxmlformats.org/drawingml/2006/main">
            <a:r>
              <a:t>zip pairs corresponding values. abs measures error size. Squaring emphasises large errors; taking the square root returns to the original unit. These functions assume equal-length, nonempty paired observations.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Two error measures in Python (1/2).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error measures in Python (1/2)</a:t>
            </a:r>
          </a:p>
          <a:p xmlns:a="http://schemas.openxmlformats.org/drawingml/2006/main">
            <a:r>
              <a:t/>
            </a:r>
          </a:p>
          <a:p xmlns:a="http://schemas.openxmlformats.org/drawingml/2006/main">
            <a:r>
              <a:t>CONNECT</a:t>
            </a:r>
          </a:p>
          <a:p xmlns:a="http://schemas.openxmlformats.org/drawingml/2006/main">
            <a:r>
              <a:t>Previous slide: Two error measures.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from math import sqrt</a:t>
            </a:r>
          </a:p>
          <a:p xmlns:a="http://schemas.openxmlformats.org/drawingml/2006/main">
            <a:r>
              <a:t>a = [10, 20]</a:t>
            </a:r>
          </a:p>
          <a:p xmlns:a="http://schemas.openxmlformats.org/drawingml/2006/main">
            <a:r>
              <a:t>p = [12, 16]</a:t>
            </a:r>
          </a:p>
          <a:p xmlns:a="http://schemas.openxmlformats.org/drawingml/2006/main">
            <a:r>
              <a:t>absolute = []</a:t>
            </a:r>
          </a:p>
          <a:p xmlns:a="http://schemas.openxmlformats.org/drawingml/2006/main">
            <a:r>
              <a:t>squared = []</a:t>
            </a:r>
          </a:p>
          <a:p xmlns:a="http://schemas.openxmlformats.org/drawingml/2006/main">
            <a:r>
              <a:t>for truth, guess in zip(a, p):</a:t>
            </a:r>
          </a:p>
          <a:p xmlns:a="http://schemas.openxmlformats.org/drawingml/2006/main">
            <a:r>
              <a:t>    difference = truth - guess</a:t>
            </a:r>
          </a:p>
          <a:p xmlns:a="http://schemas.openxmlformats.org/drawingml/2006/main">
            <a:r>
              <a:t>    absolute.append(abs(difference))</a:t>
            </a:r>
          </a:p>
          <a:p xmlns:a="http://schemas.openxmlformats.org/drawingml/2006/main">
            <a:r>
              <a:t>    squared.append(difference ** 2)</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zip pairs items at matching positions in these equal-length lists.</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zip pairs corresponding values. abs measures error size. Squaring emphasises large errors; taking the square root returns to the original unit. These functions assume equal-length, nonempty paired observations.</a:t>
            </a:r>
          </a:p>
          <a:p xmlns:a="http://schemas.openxmlformats.org/drawingml/2006/main">
            <a:r>
              <a:t/>
            </a:r>
          </a:p>
          <a:p xmlns:a="http://schemas.openxmlformats.org/drawingml/2006/main">
            <a:r>
              <a:t>Complete practice code:</a:t>
            </a:r>
          </a:p>
          <a:p xmlns:a="http://schemas.openxmlformats.org/drawingml/2006/main">
            <a:r>
              <a:t>from math import sqrt</a:t>
            </a:r>
          </a:p>
          <a:p xmlns:a="http://schemas.openxmlformats.org/drawingml/2006/main">
            <a:r>
              <a:t>a = [10, 20]</a:t>
            </a:r>
          </a:p>
          <a:p xmlns:a="http://schemas.openxmlformats.org/drawingml/2006/main">
            <a:r>
              <a:t>p = [12, 16]</a:t>
            </a:r>
          </a:p>
          <a:p xmlns:a="http://schemas.openxmlformats.org/drawingml/2006/main">
            <a:r>
              <a:t>absolute = []</a:t>
            </a:r>
          </a:p>
          <a:p xmlns:a="http://schemas.openxmlformats.org/drawingml/2006/main">
            <a:r>
              <a:t>squared = []</a:t>
            </a:r>
          </a:p>
          <a:p xmlns:a="http://schemas.openxmlformats.org/drawingml/2006/main">
            <a:r>
              <a:t>for truth, guess in zip(a, p):</a:t>
            </a:r>
          </a:p>
          <a:p xmlns:a="http://schemas.openxmlformats.org/drawingml/2006/main">
            <a:r>
              <a:t>    difference = truth - guess</a:t>
            </a:r>
          </a:p>
          <a:p xmlns:a="http://schemas.openxmlformats.org/drawingml/2006/main">
            <a:r>
              <a:t>    absolute.append(abs(difference))</a:t>
            </a:r>
          </a:p>
          <a:p xmlns:a="http://schemas.openxmlformats.org/drawingml/2006/main">
            <a:r>
              <a:t>    squared.append(difference ** 2)</a:t>
            </a:r>
          </a:p>
          <a:p xmlns:a="http://schemas.openxmlformats.org/drawingml/2006/main">
            <a:r>
              <a:t>print(sum(absolute) / len(a))</a:t>
            </a:r>
          </a:p>
          <a:p xmlns:a="http://schemas.openxmlformats.org/drawingml/2006/main">
            <a:r>
              <a:t>print(sqrt(sum(squared) / len(a)))</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Two error measures in Python (2/2).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error measures in Python (2/2)</a:t>
            </a:r>
          </a:p>
          <a:p xmlns:a="http://schemas.openxmlformats.org/drawingml/2006/main">
            <a:r>
              <a:t/>
            </a:r>
          </a:p>
          <a:p xmlns:a="http://schemas.openxmlformats.org/drawingml/2006/main">
            <a:r>
              <a:t>CONNECT</a:t>
            </a:r>
          </a:p>
          <a:p xmlns:a="http://schemas.openxmlformats.org/drawingml/2006/main">
            <a:r>
              <a:t>Previous slide: Two error measures in Python (1/2).</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print(sum(absolute) / len(a))</a:t>
            </a:r>
          </a:p>
          <a:p xmlns:a="http://schemas.openxmlformats.org/drawingml/2006/main">
            <a:r>
              <a:t>print(sqrt(sum(squared) / len(a)))</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CUE</a:t>
            </a:r>
          </a:p>
          <a:p xmlns:a="http://schemas.openxmlformats.org/drawingml/2006/main">
            <a:r>
              <a:t>zip pairs corresponding values. abs measures error size. Squaring emphasises large errors; taking the square root returns to the original unit. These functions assume equal-length, nonempty paired observations.</a:t>
            </a:r>
          </a:p>
          <a:p xmlns:a="http://schemas.openxmlformats.org/drawingml/2006/main">
            <a:r>
              <a:t/>
            </a:r>
          </a:p>
          <a:p xmlns:a="http://schemas.openxmlformats.org/drawingml/2006/main">
            <a:r>
              <a:t>Complete practice code:</a:t>
            </a:r>
          </a:p>
          <a:p xmlns:a="http://schemas.openxmlformats.org/drawingml/2006/main">
            <a:r>
              <a:t>from math import sqrt</a:t>
            </a:r>
          </a:p>
          <a:p xmlns:a="http://schemas.openxmlformats.org/drawingml/2006/main">
            <a:r>
              <a:t>a = [10, 20]</a:t>
            </a:r>
          </a:p>
          <a:p xmlns:a="http://schemas.openxmlformats.org/drawingml/2006/main">
            <a:r>
              <a:t>p = [12, 16]</a:t>
            </a:r>
          </a:p>
          <a:p xmlns:a="http://schemas.openxmlformats.org/drawingml/2006/main">
            <a:r>
              <a:t>absolute = []</a:t>
            </a:r>
          </a:p>
          <a:p xmlns:a="http://schemas.openxmlformats.org/drawingml/2006/main">
            <a:r>
              <a:t>squared = []</a:t>
            </a:r>
          </a:p>
          <a:p xmlns:a="http://schemas.openxmlformats.org/drawingml/2006/main">
            <a:r>
              <a:t>for truth, guess in zip(a, p):</a:t>
            </a:r>
          </a:p>
          <a:p xmlns:a="http://schemas.openxmlformats.org/drawingml/2006/main">
            <a:r>
              <a:t>    difference = truth - guess</a:t>
            </a:r>
          </a:p>
          <a:p xmlns:a="http://schemas.openxmlformats.org/drawingml/2006/main">
            <a:r>
              <a:t>    absolute.append(abs(difference))</a:t>
            </a:r>
          </a:p>
          <a:p xmlns:a="http://schemas.openxmlformats.org/drawingml/2006/main">
            <a:r>
              <a:t>    squared.append(difference ** 2)</a:t>
            </a:r>
          </a:p>
          <a:p xmlns:a="http://schemas.openxmlformats.org/drawingml/2006/main">
            <a:r>
              <a:t>print(sum(absolute) / len(a))</a:t>
            </a:r>
          </a:p>
          <a:p xmlns:a="http://schemas.openxmlformats.org/drawingml/2006/main">
            <a:r>
              <a:t>print(sqrt(sum(squared) / len(a)))</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R² compares against a mean prediction.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R² compares against a mean prediction</a:t>
            </a:r>
          </a:p>
          <a:p xmlns:a="http://schemas.openxmlformats.org/drawingml/2006/main">
            <a:r>
              <a:t/>
            </a:r>
          </a:p>
          <a:p xmlns:a="http://schemas.openxmlformats.org/drawingml/2006/main">
            <a:r>
              <a:t>CONNECT</a:t>
            </a:r>
          </a:p>
          <a:p xmlns:a="http://schemas.openxmlformats.org/drawingml/2006/main">
            <a:r>
              <a:t>Previous slide: Two error measures in Python (2/2).</a:t>
            </a:r>
          </a:p>
          <a:p xmlns:a="http://schemas.openxmlformats.org/drawingml/2006/main">
            <a:r>
              <a:t/>
            </a:r>
          </a:p>
          <a:p xmlns:a="http://schemas.openxmlformats.org/drawingml/2006/main">
            <a:r>
              <a:t>EXPLAIN</a:t>
            </a:r>
          </a:p>
          <a:p xmlns:a="http://schemas.openxmlformats.org/drawingml/2006/main">
            <a:r>
              <a:t>R² compares squared errors with predicting the mean of the evaluated targets. It is a score, not “percentage accuracy”.</a:t>
            </a:r>
          </a:p>
          <a:p xmlns:a="http://schemas.openxmlformats.org/drawingml/2006/main">
            <a:r>
              <a:t/>
            </a:r>
          </a:p>
          <a:p xmlns:a="http://schemas.openxmlformats.org/drawingml/2006/main">
            <a:r>
              <a:t>1 means perfect predictions on those observations. 0 matches that mean-prediction reference; a negative score can be worse.</a:t>
            </a:r>
          </a:p>
          <a:p xmlns:a="http://schemas.openxmlformats.org/drawingml/2006/main">
            <a:r>
              <a:t/>
            </a:r>
          </a:p>
          <a:p xmlns:a="http://schemas.openxmlformats.org/drawingml/2006/main">
            <a:r>
              <a:t>Use the same evaluation observations and report the specified error metric with its units. Constant targets need special handling; this score alone does not prove usefulness.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Revision example and answer.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Previous slide: R² compares against a mean prediction.</a:t>
            </a:r>
          </a:p>
          <a:p xmlns:a="http://schemas.openxmlformats.org/drawingml/2006/main">
            <a:r>
              <a:t/>
            </a:r>
          </a:p>
          <a:p xmlns:a="http://schemas.openxmlformats.org/drawingml/2006/main">
            <a:r>
              <a:t>EXPLAIN</a:t>
            </a:r>
          </a:p>
          <a:p xmlns:a="http://schemas.openxmlformats.org/drawingml/2006/main">
            <a:r>
              <a:t>Example: On paper compare actual [10, 20] with predictions [12, 16]. Find MAE and RMSE. Is MAE a plus/minus guarantee for each prediction?</a:t>
            </a:r>
          </a:p>
          <a:p xmlns:a="http://schemas.openxmlformats.org/drawingml/2006/main">
            <a:r>
              <a:t/>
            </a:r>
          </a:p>
          <a:p xmlns:a="http://schemas.openxmlformats.org/drawingml/2006/main">
            <a:r>
              <a:t>Answer: Absolute errors are 2 and 4: MAE 3. Squared errors 4 and 16: RMSE sqrt(10), about 3.162. MAE is an average, not an individual error bound.</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Absolute errors are 2 and 4: MAE 3. Squared errors 4 and 16: RMSE sqrt(10), about 3.162. MAE is an average, not an individual error bound.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Previous slide: Revision example and answer.</a:t>
            </a:r>
          </a:p>
          <a:p xmlns:a="http://schemas.openxmlformats.org/drawingml/2006/main">
            <a:r>
              <a:t/>
            </a:r>
          </a:p>
          <a:p xmlns:a="http://schemas.openxmlformats.org/drawingml/2006/main">
            <a:r>
              <a:t>EXPLAIN</a:t>
            </a:r>
          </a:p>
          <a:p xmlns:a="http://schemas.openxmlformats.org/drawingml/2006/main">
            <a:r>
              <a:t>W08 asks for baseline, linear and depth-4 tree prediction lists plus error metrics.</a:t>
            </a:r>
          </a:p>
          <a:p xmlns:a="http://schemas.openxmlformats.org/drawingml/2006/main">
            <a:r>
              <a:t/>
            </a:r>
          </a:p>
          <a:p xmlns:a="http://schemas.openxmlformats.org/drawingml/2006/main">
            <a:r>
              <a:t>Fit missing-value replacement on training data.</a:t>
            </a:r>
          </a:p>
          <a:p xmlns:a="http://schemas.openxmlformats.org/drawingml/2006/main">
            <a:r>
              <a:t/>
            </a:r>
          </a:p>
          <a:p xmlns:a="http://schemas.openxmlformats.org/drawingml/2006/main">
            <a:r>
              <a:t>A Pipeline joins preprocessing to the model.</a:t>
            </a:r>
          </a:p>
          <a:p xmlns:a="http://schemas.openxmlformats.org/drawingml/2006/main">
            <a:r>
              <a:t/>
            </a:r>
          </a:p>
          <a:p xmlns:a="http://schemas.openxmlformats.org/drawingml/2006/main">
            <a:r>
              <a:t>Only load_pct and ambient_c are predictors.</a:t>
            </a:r>
          </a:p>
          <a:p xmlns:a="http://schemas.openxmlformats.org/drawingml/2006/main">
            <a:r>
              <a:t/>
            </a:r>
          </a:p>
          <a:p xmlns:a="http://schemas.openxmlformats.org/drawingml/2006/main">
            <a:r>
              <a:t>LECTURER CUE</a:t>
            </a:r>
          </a:p>
          <a:p xmlns:a="http://schemas.openxmlformats.org/drawingml/2006/main">
            <a:r>
              <a:t>W08 asks for baseline, linear and depth-4 tree prediction lists plus error metrics. Teach training-only median imputation, Pipeline, list-to-table conversion and dictionary return values before those interfaces. Only load_pct and ambient_c are predictors. Introduce grouped partitions now, not first in Week 10. The written comparison is a supplied scenario; do not pretend to have measured its numbers.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Previous slide: Preparing for the assignment.</a:t>
            </a:r>
          </a:p>
          <a:p xmlns:a="http://schemas.openxmlformats.org/drawingml/2006/main">
            <a:r>
              <a:t/>
            </a:r>
          </a:p>
          <a:p xmlns:a="http://schemas.openxmlformats.org/drawingml/2006/main">
            <a:r>
              <a:t>EXPLAIN</a:t>
            </a:r>
          </a:p>
          <a:p xmlns:a="http://schemas.openxmlformats.org/drawingml/2006/main">
            <a:r>
              <a:t>Keep observations from the same equipment in one partition.</a:t>
            </a:r>
          </a:p>
          <a:p xmlns:a="http://schemas.openxmlformats.org/drawingml/2006/main">
            <a:r>
              <a:t/>
            </a:r>
          </a:p>
          <a:p xmlns:a="http://schemas.openxmlformats.org/drawingml/2006/main">
            <a:r>
              <a:t>The written comparison supplies scenario values.</a:t>
            </a:r>
          </a:p>
          <a:p xmlns:a="http://schemas.openxmlformats.org/drawingml/2006/main">
            <a:r>
              <a:t/>
            </a:r>
          </a:p>
          <a:p xmlns:a="http://schemas.openxmlformats.org/drawingml/2006/main">
            <a:r>
              <a:t>Distinguish them from your own measured results.</a:t>
            </a:r>
          </a:p>
          <a:p xmlns:a="http://schemas.openxmlformats.org/drawingml/2006/main">
            <a:r>
              <a:t/>
            </a:r>
          </a:p>
          <a:p xmlns:a="http://schemas.openxmlformats.org/drawingml/2006/main">
            <a:r>
              <a:t>LECTURER CUE</a:t>
            </a:r>
          </a:p>
          <a:p xmlns:a="http://schemas.openxmlformats.org/drawingml/2006/main">
            <a:r>
              <a:t>W08 asks for baseline, linear and depth-4 tree prediction lists plus error metrics. Teach training-only median imputation, Pipeline, list-to-table conversion and dictionary return values before those interfaces. Only load_pct and ambient_c are predictors. Introduce grouped partitions now, not first in Week 10. The written comparison is a supplied scenario; do not pretend to have measured its numbers.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model outputs.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model outputs</a:t>
            </a:r>
          </a:p>
          <a:p xmlns:a="http://schemas.openxmlformats.org/drawingml/2006/main">
            <a:r>
              <a:t/>
            </a:r>
          </a:p>
          <a:p xmlns:a="http://schemas.openxmlformats.org/drawingml/2006/main">
            <a:r>
              <a:t>CONNECT</a:t>
            </a:r>
          </a:p>
          <a:p xmlns:a="http://schemas.openxmlformats.org/drawingml/2006/main">
            <a:r>
              <a:t>Previous slide: Preparing for the assignment continued.</a:t>
            </a:r>
          </a:p>
          <a:p xmlns:a="http://schemas.openxmlformats.org/drawingml/2006/main">
            <a:r>
              <a:t/>
            </a:r>
          </a:p>
          <a:p xmlns:a="http://schemas.openxmlformats.org/drawingml/2006/main">
            <a:r>
              <a:t>EXPLAIN</a:t>
            </a:r>
          </a:p>
          <a:p xmlns:a="http://schemas.openxmlformats.org/drawingml/2006/main">
            <a:r>
              <a:t>A score on training rows describes training fit.</a:t>
            </a:r>
          </a:p>
          <a:p xmlns:a="http://schemas.openxmlformats.org/drawingml/2006/main">
            <a:r>
              <a:t/>
            </a:r>
          </a:p>
          <a:p xmlns:a="http://schemas.openxmlformats.org/drawingml/2006/main">
            <a:r>
              <a:t>A feature table must preserve the training column names, order and units during prediction.</a:t>
            </a:r>
          </a:p>
          <a:p xmlns:a="http://schemas.openxmlformats.org/drawingml/2006/main">
            <a:r>
              <a:t/>
            </a:r>
          </a:p>
          <a:p xmlns:a="http://schemas.openxmlformats.org/drawingml/2006/main">
            <a:r>
              <a:t>A one-dimensional list may have the wrong shape for a model expecting rows and columns.</a:t>
            </a:r>
          </a:p>
          <a:p xmlns:a="http://schemas.openxmlformats.org/drawingml/2006/main">
            <a:r>
              <a:t/>
            </a:r>
          </a:p>
          <a:p xmlns:a="http://schemas.openxmlformats.org/drawingml/2006/main">
            <a:r>
              <a:t>A predicted-versus-actual plot uses the diagonal as perfect agreement; a pattern is not proof of causation.</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model outputs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model outputs continued</a:t>
            </a:r>
          </a:p>
          <a:p xmlns:a="http://schemas.openxmlformats.org/drawingml/2006/main">
            <a:r>
              <a:t/>
            </a:r>
          </a:p>
          <a:p xmlns:a="http://schemas.openxmlformats.org/drawingml/2006/main">
            <a:r>
              <a:t>CONNECT</a:t>
            </a:r>
          </a:p>
          <a:p xmlns:a="http://schemas.openxmlformats.org/drawingml/2006/main">
            <a:r>
              <a:t>Previous slide: Reading model outputs.</a:t>
            </a:r>
          </a:p>
          <a:p xmlns:a="http://schemas.openxmlformats.org/drawingml/2006/main">
            <a:r>
              <a:t/>
            </a:r>
          </a:p>
          <a:p xmlns:a="http://schemas.openxmlformats.org/drawingml/2006/main">
            <a:r>
              <a:t>EXPLAIN</a:t>
            </a:r>
          </a:p>
          <a:p xmlns:a="http://schemas.openxmlformats.org/drawingml/2006/main">
            <a:r>
              <a:t>Judge MAE against the baseline and the decision’s acceptable error.</a:t>
            </a:r>
          </a:p>
          <a:p xmlns:a="http://schemas.openxmlformats.org/drawingml/2006/main">
            <a:r>
              <a:t/>
            </a:r>
          </a:p>
          <a:p xmlns:a="http://schemas.openxmlformats.org/drawingml/2006/main">
            <a:r>
              <a:t>R² is not an accuracy percentage.</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Your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Previous slide: Reading model outputs continued.</a:t>
            </a:r>
          </a:p>
          <a:p xmlns:a="http://schemas.openxmlformats.org/drawingml/2006/main">
            <a:r>
              <a:t/>
            </a:r>
          </a:p>
          <a:p xmlns:a="http://schemas.openxmlformats.org/drawingml/2006/main">
            <a:r>
              <a:t>EXPLAIN</a:t>
            </a:r>
          </a:p>
          <a:p xmlns:a="http://schemas.openxmlformats.org/drawingml/2006/main">
            <a:r>
              <a:t>Investigate crusher energy demand.</a:t>
            </a:r>
          </a:p>
          <a:p xmlns:a="http://schemas.openxmlformats.org/drawingml/2006/main">
            <a:r>
              <a:t/>
            </a:r>
          </a:p>
          <a:p xmlns:a="http://schemas.openxmlformats.org/drawingml/2006/main">
            <a:r>
              <a:t>Target units: kWh/t.</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a:p xmlns:a="http://schemas.openxmlformats.org/drawingml/2006/main">
            <a:r>
              <a:t/>
            </a:r>
          </a:p>
          <a:p xmlns:a="http://schemas.openxmlformats.org/drawingml/2006/main">
            <a:r>
              <a:t>LECTURER CUE</a:t>
            </a:r>
          </a:p>
          <a:p xmlns:a="http://schemas.openxmlformats.org/drawingml/2006/main">
            <a:r>
              <a:t>Investigate crusher energy demand. Target units: kWh/t. These are synthetic teaching records, not measurements suitable for deployment. Each record is one operating observation; equipment_id repeats across observations.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predict_regression(training_records, feature_records).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predict_regression(training_records, feature_records)</a:t>
            </a:r>
          </a:p>
          <a:p xmlns:a="http://schemas.openxmlformats.org/drawingml/2006/main">
            <a:r>
              <a:t/>
            </a:r>
          </a:p>
          <a:p xmlns:a="http://schemas.openxmlformats.org/drawingml/2006/main">
            <a:r>
              <a:t>CONNECT</a:t>
            </a:r>
          </a:p>
          <a:p xmlns:a="http://schemas.openxmlformats.org/drawingml/2006/main">
            <a:r>
              <a:t>Previous slide: Your issued task.</a:t>
            </a:r>
          </a:p>
          <a:p xmlns:a="http://schemas.openxmlformats.org/drawingml/2006/main">
            <a:r>
              <a:t/>
            </a:r>
          </a:p>
          <a:p xmlns:a="http://schemas.openxmlformats.org/drawingml/2006/main">
            <a:r>
              <a:t>EXPLAIN</a:t>
            </a:r>
          </a:p>
          <a:p xmlns:a="http://schemas.openxmlformats.org/drawingml/2006/main">
            <a:r>
              <a:t>Fit a training-mean baseline, linear regression and a decision tree (max_depth=4, random_state=17) using load_pct and ambient_c only.</a:t>
            </a:r>
          </a:p>
          <a:p xmlns:a="http://schemas.openxmlformats.org/drawingml/2006/main">
            <a:r>
              <a:t/>
            </a:r>
          </a:p>
          <a:p xmlns:a="http://schemas.openxmlformats.org/drawingml/2006/main">
            <a:r>
              <a:t>Return three prediction lists under baseline, linear and tree.</a:t>
            </a:r>
          </a:p>
          <a:p xmlns:a="http://schemas.openxmlformats.org/drawingml/2006/main">
            <a:r>
              <a:t/>
            </a:r>
          </a:p>
          <a:p xmlns:a="http://schemas.openxmlformats.org/drawingml/2006/main">
            <a:r>
              <a:t>Feature records have no target.</a:t>
            </a:r>
          </a:p>
          <a:p xmlns:a="http://schemas.openxmlformats.org/drawingml/2006/main">
            <a:r>
              <a:t/>
            </a:r>
          </a:p>
          <a:p xmlns:a="http://schemas.openxmlformats.org/drawingml/2006/main">
            <a:r>
              <a:t>Fit preprocessing only on training data.</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IUEA_Teaching_Plan/assessment_banks/W08/CML3113/A/TASKS.md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regression_errors(actual, predicted).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regression_errors(actual, predicted)</a:t>
            </a:r>
          </a:p>
          <a:p xmlns:a="http://schemas.openxmlformats.org/drawingml/2006/main">
            <a:r>
              <a:t/>
            </a:r>
          </a:p>
          <a:p xmlns:a="http://schemas.openxmlformats.org/drawingml/2006/main">
            <a:r>
              <a:t>CONNECT</a:t>
            </a:r>
          </a:p>
          <a:p xmlns:a="http://schemas.openxmlformats.org/drawingml/2006/main">
            <a:r>
              <a:t>Previous slide: predict_regression(training_records, feature_records).</a:t>
            </a:r>
          </a:p>
          <a:p xmlns:a="http://schemas.openxmlformats.org/drawingml/2006/main">
            <a:r>
              <a:t/>
            </a:r>
          </a:p>
          <a:p xmlns:a="http://schemas.openxmlformats.org/drawingml/2006/main">
            <a:r>
              <a:t>EXPLAIN</a:t>
            </a:r>
          </a:p>
          <a:p xmlns:a="http://schemas.openxmlformats.org/drawingml/2006/main">
            <a:r>
              <a:t>Return mae and rmse, calculated over the same paired observations, with full precision.</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IUEA_Teaching_Plan/assessment_banks/W08/CML3113/A/TASKS.md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Written evidence.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Previous slide: regression_errors(actual, predicted).</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Regression and baseline submission.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and baseline submission</a:t>
            </a:r>
          </a:p>
          <a:p xmlns:a="http://schemas.openxmlformats.org/drawingml/2006/main">
            <a:r>
              <a:t/>
            </a:r>
          </a:p>
          <a:p xmlns:a="http://schemas.openxmlformats.org/drawingml/2006/main">
            <a:r>
              <a:t>CONNECT</a:t>
            </a:r>
          </a:p>
          <a:p xmlns:a="http://schemas.openxmlformats.org/drawingml/2006/main">
            <a:r>
              <a:t>Previous slide: Written evidence.</a:t>
            </a:r>
          </a:p>
          <a:p xmlns:a="http://schemas.openxmlformats.org/drawingml/2006/main">
            <a:r>
              <a:t/>
            </a:r>
          </a:p>
          <a:p xmlns:a="http://schemas.openxmlformats.org/drawingml/2006/main">
            <a:r>
              <a:t>EXPLAIN</a:t>
            </a:r>
          </a:p>
          <a:p xmlns:a="http://schemas.openxmlformats.org/drawingml/2006/main">
            <a:r>
              <a:t>Opens: 30 Oct 2026, 08:00 Kampala</a:t>
            </a:r>
          </a:p>
          <a:p xmlns:a="http://schemas.openxmlformats.org/drawingml/2006/main">
            <a:r>
              <a:t/>
            </a:r>
          </a:p>
          <a:p xmlns:a="http://schemas.openxmlformats.org/drawingml/2006/main">
            <a:r>
              <a:t>Deadline: 06 Nov 2026, 08:00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Data analysis project.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a:t>
            </a:r>
          </a:p>
          <a:p xmlns:a="http://schemas.openxmlformats.org/drawingml/2006/main">
            <a:r>
              <a:t/>
            </a:r>
          </a:p>
          <a:p xmlns:a="http://schemas.openxmlformats.org/drawingml/2006/main">
            <a:r>
              <a:t>CONNECT</a:t>
            </a:r>
          </a:p>
          <a:p xmlns:a="http://schemas.openxmlformats.org/drawingml/2006/main">
            <a:r>
              <a:t>Previous slide: Regression and baseline submission.</a:t>
            </a:r>
          </a:p>
          <a:p xmlns:a="http://schemas.openxmlformats.org/drawingml/2006/main">
            <a:r>
              <a:t/>
            </a:r>
          </a:p>
          <a:p xmlns:a="http://schemas.openxmlformats.org/drawingml/2006/main">
            <a:r>
              <a:t>EXPLAIN</a:t>
            </a:r>
          </a:p>
          <a:p xmlns:a="http://schemas.openxmlformats.org/drawingml/2006/main">
            <a:r>
              <a:t>Write your own explanation in the markdown cell headed `## My written evidence`.</a:t>
            </a:r>
          </a:p>
          <a:p xmlns:a="http://schemas.openxmlformats.org/drawingml/2006/main">
            <a:r>
              <a:t/>
            </a:r>
          </a:p>
          <a:p xmlns:a="http://schemas.openxmlformats.org/drawingml/2006/main">
            <a:r>
              <a:t>Keep that heading.</a:t>
            </a:r>
          </a:p>
          <a:p xmlns:a="http://schemas.openxmlformats.org/drawingml/2006/main">
            <a:r>
              <a:t/>
            </a:r>
          </a:p>
          <a:p xmlns:a="http://schemas.openxmlformats.org/drawingml/2006/main">
            <a:r>
              <a:t>Task prompts and code comments are excluded from reasoning marks.</a:t>
            </a:r>
          </a:p>
          <a:p xmlns:a="http://schemas.openxmlformats.org/drawingml/2006/main">
            <a:r>
              <a:t/>
            </a:r>
          </a:p>
          <a:p xmlns:a="http://schemas.openxmlformats.org/drawingml/2006/main">
            <a:r>
              <a:t>Complete every original rubric criterion below, not just the checked functions.</a:t>
            </a:r>
          </a:p>
          <a:p xmlns:a="http://schemas.openxmlformats.org/drawingml/2006/main">
            <a:r>
              <a:t/>
            </a:r>
          </a:p>
          <a:p xmlns:a="http://schemas.openxmlformats.org/drawingml/2006/main">
            <a:r>
              <a:t>LECTURER CUE</a:t>
            </a:r>
          </a:p>
          <a:p xmlns:a="http://schemas.openxmlformats.org/drawingml/2006/main">
            <a:r>
              <a:t># CML3113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Data analysis project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Previous slide: Data analysis project.</a:t>
            </a:r>
          </a:p>
          <a:p xmlns:a="http://schemas.openxmlformats.org/drawingml/2006/main">
            <a:r>
              <a:t/>
            </a:r>
          </a:p>
          <a:p xmlns:a="http://schemas.openxmlformats.org/drawingml/2006/main">
            <a:r>
              <a:t>EXPLAIN</a:t>
            </a:r>
          </a:p>
          <a:p xmlns:a="http://schemas.openxmlformats.org/drawingml/2006/main">
            <a:r>
              <a:t>Include profiling, justified cleaning, question-led charts and your engineering recommendation where required.</a:t>
            </a:r>
          </a:p>
          <a:p xmlns:a="http://schemas.openxmlformats.org/drawingml/2006/main">
            <a:r>
              <a:t/>
            </a:r>
          </a:p>
          <a:p xmlns:a="http://schemas.openxmlformats.org/drawingml/2006/main">
            <a:r>
              <a:t>Keep raw data.</a:t>
            </a:r>
          </a:p>
          <a:p xmlns:a="http://schemas.openxmlformats.org/drawingml/2006/main">
            <a:r>
              <a:t/>
            </a:r>
          </a:p>
          <a:p xmlns:a="http://schemas.openxmlformats.org/drawingml/2006/main">
            <a:r>
              <a:t>State units and distinguish correlation from causation.</a:t>
            </a:r>
          </a:p>
          <a:p xmlns:a="http://schemas.openxmlformats.org/drawingml/2006/main">
            <a:r>
              <a:t/>
            </a:r>
          </a:p>
          <a:p xmlns:a="http://schemas.openxmlformats.org/drawingml/2006/main">
            <a:r>
              <a:t>Charts must be actual labelled figures in the notebook, not claims that charts exist.</a:t>
            </a:r>
          </a:p>
          <a:p xmlns:a="http://schemas.openxmlformats.org/drawingml/2006/main">
            <a:r>
              <a:t/>
            </a:r>
          </a:p>
          <a:p xmlns:a="http://schemas.openxmlformats.org/drawingml/2006/main">
            <a:r>
              <a:t>LECTURER CUE</a:t>
            </a:r>
          </a:p>
          <a:p xmlns:a="http://schemas.openxmlformats.org/drawingml/2006/main">
            <a:r>
              <a:t># CML3113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Data analysis project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Previous slide: Data analysis project continued.</a:t>
            </a:r>
          </a:p>
          <a:p xmlns:a="http://schemas.openxmlformats.org/drawingml/2006/main">
            <a:r>
              <a:t/>
            </a:r>
          </a:p>
          <a:p xmlns:a="http://schemas.openxmlformats.org/drawingml/2006/main">
            <a:r>
              <a:t>EXPLAIN</a:t>
            </a:r>
          </a:p>
          <a:p xmlns:a="http://schemas.openxmlformats.org/drawingml/2006/main">
            <a:r>
              <a:t>Include captions and a separate readable DOCX/PDF report.</a:t>
            </a:r>
          </a:p>
          <a:p xmlns:a="http://schemas.openxmlformats.org/drawingml/2006/main">
            <a:r>
              <a:t/>
            </a:r>
          </a:p>
          <a:p xmlns:a="http://schemas.openxmlformats.org/drawingml/2006/main">
            <a:r>
              <a:t>Question &amp; dataset fit (20.0 total): A real engineering question is stated, and the chosen dataset can actually answer it.</a:t>
            </a:r>
          </a:p>
          <a:p xmlns:a="http://schemas.openxmlformats.org/drawingml/2006/main">
            <a:r>
              <a:t/>
            </a:r>
          </a:p>
          <a:p xmlns:a="http://schemas.openxmlformats.org/drawingml/2006/main">
            <a:r>
              <a:t>Provenance and licence stated.</a:t>
            </a:r>
          </a:p>
          <a:p xmlns:a="http://schemas.openxmlformats.org/drawingml/2006/main">
            <a:r>
              <a:t/>
            </a:r>
          </a:p>
          <a:p xmlns:a="http://schemas.openxmlformats.org/drawingml/2006/main">
            <a:r>
              <a:t>Data quality work (25.0 total): Defects found and handled with written justification.</a:t>
            </a:r>
          </a:p>
          <a:p xmlns:a="http://schemas.openxmlformats.org/drawingml/2006/main">
            <a:r>
              <a:t/>
            </a:r>
          </a:p>
          <a:p xmlns:a="http://schemas.openxmlformats.org/drawingml/2006/main">
            <a:r>
              <a:t>LECTURER CUE</a:t>
            </a:r>
          </a:p>
          <a:p xmlns:a="http://schemas.openxmlformats.org/drawingml/2006/main">
            <a:r>
              <a:t># CML3113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Data analysis project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Previous slide: Data analysis project continued.</a:t>
            </a:r>
          </a:p>
          <a:p xmlns:a="http://schemas.openxmlformats.org/drawingml/2006/main">
            <a:r>
              <a:t/>
            </a:r>
          </a:p>
          <a:p xmlns:a="http://schemas.openxmlformats.org/drawingml/2006/main">
            <a:r>
              <a:t>EXPLAIN</a:t>
            </a:r>
          </a:p>
          <a:p xmlns:a="http://schemas.openxmlformats.org/drawingml/2006/main">
            <a:r>
              <a:t>A data quality statement is present.</a:t>
            </a:r>
          </a:p>
          <a:p xmlns:a="http://schemas.openxmlformats.org/drawingml/2006/main">
            <a:r>
              <a:t/>
            </a:r>
          </a:p>
          <a:p xmlns:a="http://schemas.openxmlformats.org/drawingml/2006/main">
            <a:r>
              <a:t>Analysis &amp; visualisation (30.0 total): Four or more charts, each answering a stated question.</a:t>
            </a:r>
          </a:p>
          <a:p xmlns:a="http://schemas.openxmlformats.org/drawingml/2006/main">
            <a:r>
              <a:t/>
            </a:r>
          </a:p>
          <a:p xmlns:a="http://schemas.openxmlformats.org/drawingml/2006/main">
            <a:r>
              <a:t>Correct chart types, labelled axes, findings in the captions.</a:t>
            </a:r>
          </a:p>
          <a:p xmlns:a="http://schemas.openxmlformats.org/drawingml/2006/main">
            <a:r>
              <a:t/>
            </a:r>
          </a:p>
          <a:p xmlns:a="http://schemas.openxmlformats.org/drawingml/2006/main">
            <a:r>
              <a:t>Findings &amp; interpretation (20.0 total): Conclusions supported by the analysis, stated in engineering terms, with limitations acknowledged.</a:t>
            </a:r>
          </a:p>
          <a:p xmlns:a="http://schemas.openxmlformats.org/drawingml/2006/main">
            <a:r>
              <a:t/>
            </a:r>
          </a:p>
          <a:p xmlns:a="http://schemas.openxmlformats.org/drawingml/2006/main">
            <a:r>
              <a:t>LECTURER CUE</a:t>
            </a:r>
          </a:p>
          <a:p xmlns:a="http://schemas.openxmlformats.org/drawingml/2006/main">
            <a:r>
              <a:t># CML3113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Data analysis project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Previous slide: Data analysis project continued.</a:t>
            </a:r>
          </a:p>
          <a:p xmlns:a="http://schemas.openxmlformats.org/drawingml/2006/main">
            <a:r>
              <a:t/>
            </a:r>
          </a:p>
          <a:p xmlns:a="http://schemas.openxmlformats.org/drawingml/2006/main">
            <a:r>
              <a:t>EXPLAIN</a:t>
            </a:r>
          </a:p>
          <a:p xmlns:a="http://schemas.openxmlformats.org/drawingml/2006/main">
            <a:r>
              <a:t>Individual contribution log (5.0 total): Present, specific, and consistent with the repository's commit history.</a:t>
            </a:r>
          </a:p>
          <a:p xmlns:a="http://schemas.openxmlformats.org/drawingml/2006/main">
            <a:r>
              <a:t/>
            </a:r>
          </a:p>
          <a:p xmlns:a="http://schemas.openxmlformats.org/drawingml/2006/main">
            <a:r>
              <a:t>LECTURER CUE</a:t>
            </a:r>
          </a:p>
          <a:p xmlns:a="http://schemas.openxmlformats.org/drawingml/2006/main">
            <a:r>
              <a:t># CML3113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Data analysis project submission.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submission</a:t>
            </a:r>
          </a:p>
          <a:p xmlns:a="http://schemas.openxmlformats.org/drawingml/2006/main">
            <a:r>
              <a:t/>
            </a:r>
          </a:p>
          <a:p xmlns:a="http://schemas.openxmlformats.org/drawingml/2006/main">
            <a:r>
              <a:t>CONNECT</a:t>
            </a:r>
          </a:p>
          <a:p xmlns:a="http://schemas.openxmlformats.org/drawingml/2006/main">
            <a:r>
              <a:t>Previous slide: Data analysis project continued.</a:t>
            </a:r>
          </a:p>
          <a:p xmlns:a="http://schemas.openxmlformats.org/drawingml/2006/main">
            <a:r>
              <a:t/>
            </a:r>
          </a:p>
          <a:p xmlns:a="http://schemas.openxmlformats.org/drawingml/2006/main">
            <a:r>
              <a:t>EXPLAIN</a:t>
            </a:r>
          </a:p>
          <a:p xmlns:a="http://schemas.openxmlformats.org/drawingml/2006/main">
            <a:r>
              <a:t>Opens: 09 Oct 2026, 08:00 Kampala</a:t>
            </a:r>
          </a:p>
          <a:p xmlns:a="http://schemas.openxmlformats.org/drawingml/2006/main">
            <a:r>
              <a:t/>
            </a:r>
          </a:p>
          <a:p xmlns:a="http://schemas.openxmlformats.org/drawingml/2006/main">
            <a:r>
              <a:t>Deadline: 30 Oct 2026, 08:00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8 quiz.</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8 quiz</a:t>
            </a:r>
          </a:p>
          <a:p xmlns:a="http://schemas.openxmlformats.org/drawingml/2006/main">
            <a:r>
              <a:t/>
            </a:r>
          </a:p>
          <a:p xmlns:a="http://schemas.openxmlformats.org/drawingml/2006/main">
            <a:r>
              <a:t>CONNECT</a:t>
            </a:r>
          </a:p>
          <a:p xmlns:a="http://schemas.openxmlformats.org/drawingml/2006/main">
            <a:r>
              <a:t>Previous slide: Data analysis project submission.</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CUE</a:t>
            </a:r>
          </a:p>
          <a:p xmlns:a="http://schemas.openxmlformats.org/drawingml/2006/main">
            <a:r>
              <a:t>Activate the matching open_W8_CML3113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Before you leave.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Previous slide: Week 8 quiz.</a:t>
            </a:r>
          </a:p>
          <a:p xmlns:a="http://schemas.openxmlformats.org/drawingml/2006/main">
            <a:r>
              <a:t/>
            </a:r>
          </a:p>
          <a:p xmlns:a="http://schemas.openxmlformats.org/drawingml/2006/main">
            <a:r>
              <a:t>EXPLAIN</a:t>
            </a:r>
          </a:p>
          <a:p xmlns:a="http://schemas.openxmlformats.org/drawingml/2006/main">
            <a:r>
              <a:t>You can calculate one error and explain why evaluation needs unseen observations.</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Optional revision video.</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Previous slide: Revision and submission checklist.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The Essence of Linear Regression!!!</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How can a fitted line turn an input into a numerical prediction?</a:t>
            </a:r>
          </a:p>
          <a:p xmlns:a="http://schemas.openxmlformats.org/drawingml/2006/main">
            <a:r>
              <a:t/>
            </a:r>
          </a:p>
          <a:p xmlns:a="http://schemas.openxmlformats.org/drawingml/2006/main">
            <a:r>
              <a:t>LECTURER CUE</a:t>
            </a:r>
          </a:p>
          <a:p xmlns:a="http://schemas.openxmlformats.org/drawingml/2006/main">
            <a:r>
              <a:t>Linked by the official StatQuest video index. Full audiovisual preview and excerpt timing still required.</a:t>
            </a:r>
          </a:p>
          <a:p xmlns:a="http://schemas.openxmlformats.org/drawingml/2006/main">
            <a:r>
              <a:t>After viewing: Draw an actual value and a prediction, then identify their difference.</a:t>
            </a:r>
          </a:p>
          <a:p xmlns:a="http://schemas.openxmlformats.org/drawingml/2006/main">
            <a:r>
              <a:t>Preview before class and stop after the selected short excerpt. If playback fails, teach the worked example. Video is optional. Source: https://www.youtube.com/watch?v=aFDOzpTeg0s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independent revision and the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56ed4537c9d484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085a1ddb542436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240f9e89872485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5c07cd351e94a6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6b6c73fbad448b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b08f93963e04db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CF1D00FD-5227-41CA-8286-77855A1DB872}"/>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F9CE86F-A6AE-406E-9924-292D009A3235}"/>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E27C3872-441C-4179-9A2F-1663391CEA31}"/>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6D6A29C1-E301-49C5-9515-3A7F6F13F6E1}"/>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8EF2D7DD-0F1D-4047-BE13-6E092AB337C3}"/>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207299A-848E-4D4C-B2E6-91503C2D692B}"/>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804BA17-ECB0-42C4-98B1-A8DC19E671E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69C4E217-C485-4472-BC54-A8ED396DD7C1}"/>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D1B4079E-52BB-42C1-9653-0E0D4E7342F0}"/>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7A3F9E6-BBCF-4618-8814-A598C674C7C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700A58C-E5FE-4DCB-87BF-B08FF1083FB5}"/>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80F4664B-437E-404C-8722-2EF0D675A737}"/>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CF8F0FC-A3B2-47CC-948C-F21C2860092E}"/>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0AFF223-AB8D-4484-9A64-FE4BB6F8E0B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AA214F70-0CB5-46A9-BB98-E6465D4BB32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741476f114644b9" /><Relationship Type="http://schemas.openxmlformats.org/officeDocument/2006/relationships/slideLayout" Target="/ppt/slideLayouts/slideLayout1.xml" Id="R1f38746c84e74bbc" /><Relationship Type="http://schemas.openxmlformats.org/officeDocument/2006/relationships/slideLayout" Target="/ppt/slideLayouts/slideLayout2.xml" Id="R14383c258dfc42e2" /><Relationship Type="http://schemas.openxmlformats.org/officeDocument/2006/relationships/slideLayout" Target="/ppt/slideLayouts/slideLayout3.xml" Id="R2faa76da3beb46b8" /><Relationship Type="http://schemas.openxmlformats.org/officeDocument/2006/relationships/slideLayout" Target="/ppt/slideLayouts/slideLayout4.xml" Id="Re475ab3544944633" /><Relationship Type="http://schemas.openxmlformats.org/officeDocument/2006/relationships/slideLayout" Target="/ppt/slideLayouts/slideLayout5.xml" Id="Rb6ebbfa2f51b4b5c" /><Relationship Type="http://schemas.openxmlformats.org/officeDocument/2006/relationships/slideLayout" Target="/ppt/slideLayouts/slideLayout6.xml" Id="R7b0044621f9044b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f38746c84e74bbc"/>
    <p:sldLayoutId xmlns:r="http://schemas.openxmlformats.org/officeDocument/2006/relationships" id="2147483650" r:id="R14383c258dfc42e2"/>
    <p:sldLayoutId xmlns:r="http://schemas.openxmlformats.org/officeDocument/2006/relationships" id="2147483651" r:id="R2faa76da3beb46b8"/>
    <p:sldLayoutId xmlns:r="http://schemas.openxmlformats.org/officeDocument/2006/relationships" id="2147483652" r:id="Re475ab3544944633"/>
    <p:sldLayoutId xmlns:r="http://schemas.openxmlformats.org/officeDocument/2006/relationships" id="2147483653" r:id="Rb6ebbfa2f51b4b5c"/>
    <p:sldLayoutId xmlns:r="http://schemas.openxmlformats.org/officeDocument/2006/relationships" id="2147483654" r:id="R7b0044621f9044b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b3d2c636f74468c" /><Relationship Type="http://schemas.openxmlformats.org/officeDocument/2006/relationships/image" Target="/ppt/media/image.png" Id="R54553ba766724151" /><Relationship Type="http://schemas.openxmlformats.org/officeDocument/2006/relationships/notesSlide" Target="/ppt/notesSlides/notesSlide1.xml" Id="Rf9ed0d9c40dc490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2fb07e7ffa74784" /><Relationship Type="http://schemas.openxmlformats.org/officeDocument/2006/relationships/notesSlide" Target="/ppt/notesSlides/notesSlide2.xml" Id="R437383034c3947a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e8ed25a55ce489e" /><Relationship Type="http://schemas.openxmlformats.org/officeDocument/2006/relationships/notesSlide" Target="/ppt/notesSlides/notesSlide3.xml" Id="Rbe27104eb12d485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59667e0e7784565" /><Relationship Type="http://schemas.openxmlformats.org/officeDocument/2006/relationships/notesSlide" Target="/ppt/notesSlides/notesSlide4.xml" Id="Rc7c127d9aa8b440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e8eb0b1c8904c9b" /><Relationship Type="http://schemas.openxmlformats.org/officeDocument/2006/relationships/notesSlide" Target="/ppt/notesSlides/notesSlide5.xml" Id="R672054e081bf492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2a792c062b64467" /><Relationship Type="http://schemas.openxmlformats.org/officeDocument/2006/relationships/notesSlide" Target="/ppt/notesSlides/notesSlide6.xml" Id="Rdaa5ae973d9842f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8365d76a768459a" /><Relationship Type="http://schemas.openxmlformats.org/officeDocument/2006/relationships/notesSlide" Target="/ppt/notesSlides/notesSlide7.xml" Id="Rfd0d900b09ac4d5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d683d54e85c43a9" /><Relationship Type="http://schemas.openxmlformats.org/officeDocument/2006/relationships/notesSlide" Target="/ppt/notesSlides/notesSlide8.xml" Id="R00b2fbb9de48475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785f4dc87d14e6e" /><Relationship Type="http://schemas.openxmlformats.org/officeDocument/2006/relationships/notesSlide" Target="/ppt/notesSlides/notesSlide9.xml" Id="R145732c32f9f47c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8d6944084614fca" /><Relationship Type="http://schemas.openxmlformats.org/officeDocument/2006/relationships/notesSlide" Target="/ppt/notesSlides/notesSlide10.xml" Id="R412387238452473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95e2397055d45f6" /><Relationship Type="http://schemas.openxmlformats.org/officeDocument/2006/relationships/notesSlide" Target="/ppt/notesSlides/notesSlide11.xml" Id="R49c44d28717f475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650011da6e047e3" /><Relationship Type="http://schemas.openxmlformats.org/officeDocument/2006/relationships/image" Target="/ppt/media/image2.png" Id="Rbacc85ec836e42b2" /><Relationship Type="http://schemas.openxmlformats.org/officeDocument/2006/relationships/notesSlide" Target="/ppt/notesSlides/notesSlide12.xml" Id="Rba37084f0a8943d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0eaa53a45a54281" /><Relationship Type="http://schemas.openxmlformats.org/officeDocument/2006/relationships/notesSlide" Target="/ppt/notesSlides/notesSlide13.xml" Id="R7fd739a28b1e479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c01ba7fc0c84850" /><Relationship Type="http://schemas.openxmlformats.org/officeDocument/2006/relationships/notesSlide" Target="/ppt/notesSlides/notesSlide14.xml" Id="Ra2953b28d71d4e3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bf05356beb94bbb" /><Relationship Type="http://schemas.openxmlformats.org/officeDocument/2006/relationships/notesSlide" Target="/ppt/notesSlides/notesSlide15.xml" Id="R65d769bdbe6f4fd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3f54325d5c44bf5" /><Relationship Type="http://schemas.openxmlformats.org/officeDocument/2006/relationships/notesSlide" Target="/ppt/notesSlides/notesSlide16.xml" Id="R1a2f2d3be78b485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c8b6015640949f9" /><Relationship Type="http://schemas.openxmlformats.org/officeDocument/2006/relationships/notesSlide" Target="/ppt/notesSlides/notesSlide17.xml" Id="Rc6b88eb4f7924f9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9e5c26caebf41f0" /><Relationship Type="http://schemas.openxmlformats.org/officeDocument/2006/relationships/notesSlide" Target="/ppt/notesSlides/notesSlide18.xml" Id="Rcd64cfa4dc8f443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0145ec3b1f44443" /><Relationship Type="http://schemas.openxmlformats.org/officeDocument/2006/relationships/notesSlide" Target="/ppt/notesSlides/notesSlide19.xml" Id="R1061cac7dbc84b5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c8f9c09049114f11" /><Relationship Type="http://schemas.openxmlformats.org/officeDocument/2006/relationships/notesSlide" Target="/ppt/notesSlides/notesSlide20.xml" Id="Raa86c984669e4b8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73fbf0f136ee4557" /><Relationship Type="http://schemas.openxmlformats.org/officeDocument/2006/relationships/notesSlide" Target="/ppt/notesSlides/notesSlide21.xml" Id="Rf9ab94cd247342b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a005bc9033094179" /><Relationship Type="http://schemas.openxmlformats.org/officeDocument/2006/relationships/notesSlide" Target="/ppt/notesSlides/notesSlide22.xml" Id="R5efcf8c547554d0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369df6a620eb467f" /><Relationship Type="http://schemas.openxmlformats.org/officeDocument/2006/relationships/notesSlide" Target="/ppt/notesSlides/notesSlide23.xml" Id="R412156309f6b4e3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1200014877534bff" /><Relationship Type="http://schemas.openxmlformats.org/officeDocument/2006/relationships/notesSlide" Target="/ppt/notesSlides/notesSlide24.xml" Id="Re53549c5b21c493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0ddec39fa1d34d2a" /><Relationship Type="http://schemas.openxmlformats.org/officeDocument/2006/relationships/notesSlide" Target="/ppt/notesSlides/notesSlide25.xml" Id="R6eeaecd9c06c421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099c8693f3b04a05" /><Relationship Type="http://schemas.openxmlformats.org/officeDocument/2006/relationships/notesSlide" Target="/ppt/notesSlides/notesSlide26.xml" Id="R533f911dd1144ec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d51557ef93d4601" /><Relationship Type="http://schemas.openxmlformats.org/officeDocument/2006/relationships/notesSlide" Target="/ppt/notesSlides/notesSlide27.xml" Id="R24966393d760471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d9f5e1bc3cf64fb0" /><Relationship Type="http://schemas.openxmlformats.org/officeDocument/2006/relationships/notesSlide" Target="/ppt/notesSlides/notesSlide28.xml" Id="R1d250c27a13f43c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98e6913d01734699" /><Relationship Type="http://schemas.openxmlformats.org/officeDocument/2006/relationships/notesSlide" Target="/ppt/notesSlides/notesSlide29.xml" Id="R6ff3eac215d441f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d2150a6e01504021" /><Relationship Type="http://schemas.openxmlformats.org/officeDocument/2006/relationships/notesSlide" Target="/ppt/notesSlides/notesSlide30.xml" Id="R8edc49b94d7f4401"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e91a59a8727c48b5" /><Relationship Type="http://schemas.openxmlformats.org/officeDocument/2006/relationships/notesSlide" Target="/ppt/notesSlides/notesSlide31.xml" Id="R080db1b568c04825"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3954adda32444ac2" /><Relationship Type="http://schemas.openxmlformats.org/officeDocument/2006/relationships/notesSlide" Target="/ppt/notesSlides/notesSlide32.xml" Id="R66cdf15be0a04ef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00c0b077d2254488" /><Relationship Type="http://schemas.openxmlformats.org/officeDocument/2006/relationships/notesSlide" Target="/ppt/notesSlides/notesSlide33.xml" Id="R97619c1659f1489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c122c5d68e304529" /><Relationship Type="http://schemas.openxmlformats.org/officeDocument/2006/relationships/notesSlide" Target="/ppt/notesSlides/notesSlide34.xml" Id="R9a1d8084356a46f2"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92f737e4a0ee4f16" /><Relationship Type="http://schemas.openxmlformats.org/officeDocument/2006/relationships/notesSlide" Target="/ppt/notesSlides/notesSlide35.xml" Id="R05ff2d5b4bac4c3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06dab52b736a46dc" /><Relationship Type="http://schemas.openxmlformats.org/officeDocument/2006/relationships/notesSlide" Target="/ppt/notesSlides/notesSlide36.xml" Id="R2728fa39799a435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50fb41709a204ccb" /><Relationship Type="http://schemas.openxmlformats.org/officeDocument/2006/relationships/notesSlide" Target="/ppt/notesSlides/notesSlide37.xml" Id="R7ebfa40f464c4529"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dc66d755fc754446" /><Relationship Type="http://schemas.openxmlformats.org/officeDocument/2006/relationships/notesSlide" Target="/ppt/notesSlides/notesSlide38.xml" Id="Rf1eaf5ed7fd3495e"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58690435ee9c4504" /><Relationship Type="http://schemas.openxmlformats.org/officeDocument/2006/relationships/notesSlide" Target="/ppt/notesSlides/notesSlide39.xml" Id="R102044a6e8374907"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006fd71baa404c54" /><Relationship Type="http://schemas.openxmlformats.org/officeDocument/2006/relationships/notesSlide" Target="/ppt/notesSlides/notesSlide40.xml" Id="R4527697da7344413"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1127d3ea24f0422e" /><Relationship Type="http://schemas.openxmlformats.org/officeDocument/2006/relationships/notesSlide" Target="/ppt/notesSlides/notesSlide41.xml" Id="R22ab3cc5b00f4493"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611bf4bd4cca4cd5" /><Relationship Type="http://schemas.openxmlformats.org/officeDocument/2006/relationships/notesSlide" Target="/ppt/notesSlides/notesSlide42.xml" Id="R69e18307f7a048f6"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4ad0b27f0ea6412e" /><Relationship Type="http://schemas.openxmlformats.org/officeDocument/2006/relationships/notesSlide" Target="/ppt/notesSlides/notesSlide43.xml" Id="R9c12af73fb45414d"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e99ea855269f45e2" /><Relationship Type="http://schemas.openxmlformats.org/officeDocument/2006/relationships/notesSlide" Target="/ppt/notesSlides/notesSlide44.xml" Id="R4c4d3ffb6a614e67"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e39e43f4edd641ab" /><Relationship Type="http://schemas.openxmlformats.org/officeDocument/2006/relationships/notesSlide" Target="/ppt/notesSlides/notesSlide45.xml" Id="Rf884e220b2ac451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3dd328818f584e85" /><Relationship Type="http://schemas.openxmlformats.org/officeDocument/2006/relationships/notesSlide" Target="/ppt/notesSlides/notesSlide46.xml" Id="R4e3b198a5923442e"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47aecb6740014a42" /><Relationship Type="http://schemas.openxmlformats.org/officeDocument/2006/relationships/notesSlide" Target="/ppt/notesSlides/notesSlide47.xml" Id="R3819540fdacd4038"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6c99cabe5f9e4044" /><Relationship Type="http://schemas.openxmlformats.org/officeDocument/2006/relationships/notesSlide" Target="/ppt/notesSlides/notesSlide48.xml" Id="R7187c98c3d0c4b69"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1a1a3bfbcff24900" /><Relationship Type="http://schemas.openxmlformats.org/officeDocument/2006/relationships/notesSlide" Target="/ppt/notesSlides/notesSlide49.xml" Id="Re08f576b35834df9"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e31832f09e2d4539" /><Relationship Type="http://schemas.openxmlformats.org/officeDocument/2006/relationships/notesSlide" Target="/ppt/notesSlides/notesSlide50.xml" Id="Rf16d1f42432745c9"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610dc0d6ee5144df" /><Relationship Type="http://schemas.openxmlformats.org/officeDocument/2006/relationships/notesSlide" Target="/ppt/notesSlides/notesSlide51.xml" Id="Re114011532674450"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9fdcda867a664ef1" /><Relationship Type="http://schemas.openxmlformats.org/officeDocument/2006/relationships/notesSlide" Target="/ppt/notesSlides/notesSlide52.xml" Id="Rbca629ade4df4d56"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c4218be27f22443b" /><Relationship Type="http://schemas.openxmlformats.org/officeDocument/2006/relationships/notesSlide" Target="/ppt/notesSlides/notesSlide53.xml" Id="Rf71b15d443544740"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2203218c513748d9" /><Relationship Type="http://schemas.openxmlformats.org/officeDocument/2006/relationships/notesSlide" Target="/ppt/notesSlides/notesSlide54.xml" Id="R508b2c7ec458460b"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86f7de6699e34054" /><Relationship Type="http://schemas.openxmlformats.org/officeDocument/2006/relationships/notesSlide" Target="/ppt/notesSlides/notesSlide55.xml" Id="R404a670537ef49f7"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28d79b2a44b14f67" /><Relationship Type="http://schemas.openxmlformats.org/officeDocument/2006/relationships/notesSlide" Target="/ppt/notesSlides/notesSlide56.xml" Id="R53e25124b54a4045"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59dfb7b652df435c" /><Relationship Type="http://schemas.openxmlformats.org/officeDocument/2006/relationships/notesSlide" Target="/ppt/notesSlides/notesSlide57.xml" Id="Rc98aece195a0461e"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2b8fe5f266d94106" /><Relationship Type="http://schemas.openxmlformats.org/officeDocument/2006/relationships/notesSlide" Target="/ppt/notesSlides/notesSlide58.xml" Id="R8a76a4b168594ed7"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dd9ded7450ae499f" /><Relationship Type="http://schemas.openxmlformats.org/officeDocument/2006/relationships/notesSlide" Target="/ppt/notesSlides/notesSlide59.xml" Id="R27110eb9f9964ec1"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fce9db493c2c4665" /><Relationship Type="http://schemas.openxmlformats.org/officeDocument/2006/relationships/hyperlink" Target="https://docs.google.com/forms/d/e/1FAIpQLScEhukVhOy7mk4-sfmGMIBPDwAXlVTIZeAict3izXXZ1fvCFg/viewform" TargetMode="External" Id="R820fe4e744314d50" /><Relationship Type="http://schemas.openxmlformats.org/officeDocument/2006/relationships/notesSlide" Target="/ppt/notesSlides/notesSlide60.xml" Id="Rc667e2bb610a4b50"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f13291afd9f04fee" /><Relationship Type="http://schemas.openxmlformats.org/officeDocument/2006/relationships/notesSlide" Target="/ppt/notesSlides/notesSlide61.xml" Id="Rb78aac3f72a74f5c"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38d1844dc7db4e63" /><Relationship Type="http://schemas.openxmlformats.org/officeDocument/2006/relationships/notesSlide" Target="/ppt/notesSlides/notesSlide62.xml" Id="Rcc252041cb274b63"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dc2cd799da524d7b" /><Relationship Type="http://schemas.openxmlformats.org/officeDocument/2006/relationships/notesSlide" Target="/ppt/notesSlides/notesSlide63.xml" Id="R1b840939dd384228"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9aa29de11f384197" /><Relationship Type="http://schemas.openxmlformats.org/officeDocument/2006/relationships/notesSlide" Target="/ppt/notesSlides/notesSlide64.xml" Id="R21296afd107d4579"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b43603c443db46c1" /><Relationship Type="http://schemas.openxmlformats.org/officeDocument/2006/relationships/notesSlide" Target="/ppt/notesSlides/notesSlide65.xml" Id="Ra833725fd7624f1d"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5ff1e69b1f814ad1" /><Relationship Type="http://schemas.openxmlformats.org/officeDocument/2006/relationships/hyperlink" Target="https://docs.google.com/forms/d/e/1FAIpQLSf_avvvqyl5ZJ-6HU7n4zal9AQETYyJkykuDO5J5Au3dBA4vw/viewform" TargetMode="External" Id="Rdc28d363f5cb41b8" /><Relationship Type="http://schemas.openxmlformats.org/officeDocument/2006/relationships/notesSlide" Target="/ppt/notesSlides/notesSlide66.xml" Id="R70be5999cb414a0c"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32034698540c4931" /><Relationship Type="http://schemas.openxmlformats.org/officeDocument/2006/relationships/image" Target="/ppt/media/image3.png" Id="R0c28780d1bab4a47" /><Relationship Type="http://schemas.openxmlformats.org/officeDocument/2006/relationships/hyperlink" Target="https://forms.gle/njADrQM1EKhyhRSA8" TargetMode="External" Id="Rf74b278569fb44d6" /><Relationship Type="http://schemas.openxmlformats.org/officeDocument/2006/relationships/notesSlide" Target="/ppt/notesSlides/notesSlide67.xml" Id="R11f1614761ff4a8f"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b9b33f2f79cc4fed" /><Relationship Type="http://schemas.openxmlformats.org/officeDocument/2006/relationships/notesSlide" Target="/ppt/notesSlides/notesSlide68.xml" Id="Re70a61d8706a41ee"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178d744d5cc8441a" /><Relationship Type="http://schemas.openxmlformats.org/officeDocument/2006/relationships/hyperlink" Target="https://www.youtube.com/watch?v=aFDOzpTeg0s" TargetMode="External" Id="R6eecaef9bf794655" /><Relationship Type="http://schemas.openxmlformats.org/officeDocument/2006/relationships/notesSlide" Target="/ppt/notesSlides/notesSlide69.xml" Id="R8c5a9c2aa99d4ab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54553ba766724151"/>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08EE8AE-55EC-4259-9894-86B43F7B399A}"/>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BB912C8-5C02-4E91-984E-1B1B97998828}"/>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8</a:t>
            </a:r>
          </a:p>
        </p:txBody>
      </p:sp>
      <p:sp>
        <p:nvSpPr>
          <p:cNvPr id="4" name="">
            <a:extLst xmlns:a="http://schemas.openxmlformats.org/drawingml/2006/main">
              <a:ext uri="{FF2B5EF4-FFF2-40B4-BE49-F238E27FC236}">
                <a16:creationId xmlns:a16="http://schemas.microsoft.com/office/drawing/2014/main" id="{B12F52C5-FBE1-4E15-84CA-7541E0224BCF}"/>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A first prediction model</a:t>
            </a:r>
          </a:p>
        </p:txBody>
      </p:sp>
      <p:sp>
        <p:nvSpPr>
          <p:cNvPr id="5" name="">
            <a:extLst xmlns:a="http://schemas.openxmlformats.org/drawingml/2006/main">
              <a:ext uri="{FF2B5EF4-FFF2-40B4-BE49-F238E27FC236}">
                <a16:creationId xmlns:a16="http://schemas.microsoft.com/office/drawing/2014/main" id="{5063FC00-C57D-4C7A-B41A-8D459B1D1C0A}"/>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BE6D626E-D839-4969-A09E-957F1F1B280D}"/>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30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93794920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8828C9A-A616-452B-AC0B-13F6E320A5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450FEF-46B4-4EE4-83C2-7C72449FE9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5EADE94C-59E0-4C00-ACC3-BFF1D3F791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431F2612-D0AC-4C93-AC29-A8A2BA3A310E}"/>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8899A1-F17D-4936-B0E6-D701B41CB227}"/>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3E97361E-11E1-4EDF-8FE0-3588234AD783}"/>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Identify prediction inputs and a measured target.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a simple model and compare prediction errors.</a:t>
            </a:r>
          </a:p>
        </p:txBody>
      </p:sp>
      <p:sp>
        <p:nvSpPr>
          <p:cNvPr id="7" name="">
            <a:extLst xmlns:a="http://schemas.openxmlformats.org/drawingml/2006/main">
              <a:ext uri="{FF2B5EF4-FFF2-40B4-BE49-F238E27FC236}">
                <a16:creationId xmlns:a16="http://schemas.microsoft.com/office/drawing/2014/main" id="{EC5DF557-1900-42EB-B563-D91660D5FE27}"/>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AA194262-4B2F-41B9-9F64-AD97E1D9AE69}"/>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calculate one error and explain why evaluation needs unseen observations.</a:t>
            </a:r>
          </a:p>
        </p:txBody>
      </p:sp>
      <p:sp>
        <p:nvSpPr>
          <p:cNvPr id="9" name="">
            <a:extLst xmlns:a="http://schemas.openxmlformats.org/drawingml/2006/main">
              <a:ext uri="{FF2B5EF4-FFF2-40B4-BE49-F238E27FC236}">
                <a16:creationId xmlns:a16="http://schemas.microsoft.com/office/drawing/2014/main" id="{90686F64-AF0D-4BA7-9368-27E90031DE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a:t>
            </a:r>
          </a:p>
        </p:txBody>
      </p:sp>
    </p:spTree>
    <p:extLst>
      <p:ext uri="{BB962C8B-B14F-4D97-AF65-F5344CB8AC3E}">
        <p14:creationId xmlns:p14="http://schemas.microsoft.com/office/powerpoint/2010/main" val="145055660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1C02F34-1054-4DEF-B2A8-E13166F921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722F9E-5C4F-41F3-99ED-AB4604F666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5A30626-A321-4013-9AA0-90E92B31CB9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6954C2D0-C641-488F-ABD3-3FAB54F8CA0B}"/>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F83BFF-F066-4960-93A5-2238CB83C72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Weeks 3–6 supplied Python, tables, cleaning and charts.</a:t>
            </a:r>
          </a:p>
        </p:txBody>
      </p:sp>
      <p:sp>
        <p:nvSpPr>
          <p:cNvPr id="6" name="">
            <a:extLst xmlns:a="http://schemas.openxmlformats.org/drawingml/2006/main">
              <a:ext uri="{FF2B5EF4-FFF2-40B4-BE49-F238E27FC236}">
                <a16:creationId xmlns:a16="http://schemas.microsoft.com/office/drawing/2014/main" id="{47B1FA03-75E2-4FB2-B985-71044448C6C4}"/>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now use paired inputs and known answers to fit a prediction rule.</a:t>
            </a:r>
          </a:p>
        </p:txBody>
      </p:sp>
      <p:sp>
        <p:nvSpPr>
          <p:cNvPr id="7" name="">
            <a:extLst xmlns:a="http://schemas.openxmlformats.org/drawingml/2006/main">
              <a:ext uri="{FF2B5EF4-FFF2-40B4-BE49-F238E27FC236}">
                <a16:creationId xmlns:a16="http://schemas.microsoft.com/office/drawing/2014/main" id="{26725B53-1A0B-433A-A501-2DF46F6E25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a:t>
            </a:r>
          </a:p>
        </p:txBody>
      </p:sp>
    </p:spTree>
    <p:extLst>
      <p:ext uri="{BB962C8B-B14F-4D97-AF65-F5344CB8AC3E}">
        <p14:creationId xmlns:p14="http://schemas.microsoft.com/office/powerpoint/2010/main" val="173372058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668D724-A7C7-43E8-ACFB-A915B23257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B14C8F2-BBA7-41A8-91C6-AD8F89FB92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2CAA5D0-1868-4430-9833-4A27900B4E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E04C1299-C710-4567-82EF-29B706CC5377}"/>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DFD4C17-7B52-447C-B040-3171B66C4ACE}"/>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regression model predicts a numerical engineering target from measurements available beforehand.</a:t>
            </a:r>
          </a:p>
        </p:txBody>
      </p:sp>
      <p:sp>
        <p:nvSpPr>
          <p:cNvPr id="6" name="">
            <a:extLst xmlns:a="http://schemas.openxmlformats.org/drawingml/2006/main">
              <a:ext uri="{FF2B5EF4-FFF2-40B4-BE49-F238E27FC236}">
                <a16:creationId xmlns:a16="http://schemas.microsoft.com/office/drawing/2014/main" id="{08075F2A-9745-4126-88C9-39CD553FB38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small invented data explain the code; they do not establish real-world accuracy.</a:t>
            </a:r>
          </a:p>
        </p:txBody>
      </p:sp>
      <p:sp>
        <p:nvSpPr>
          <p:cNvPr id="7" name="">
            <a:extLst xmlns:a="http://schemas.openxmlformats.org/drawingml/2006/main">
              <a:ext uri="{FF2B5EF4-FFF2-40B4-BE49-F238E27FC236}">
                <a16:creationId xmlns:a16="http://schemas.microsoft.com/office/drawing/2014/main" id="{2B2F8A03-63A6-4E55-9024-4E306DDDB1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a:t>
            </a:r>
          </a:p>
        </p:txBody>
      </p:sp>
    </p:spTree>
    <p:extLst>
      <p:ext uri="{BB962C8B-B14F-4D97-AF65-F5344CB8AC3E}">
        <p14:creationId xmlns:p14="http://schemas.microsoft.com/office/powerpoint/2010/main" val="176024312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183F617-885D-4EC2-AD75-CA8294D13A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4F55B53-1F2D-4B9C-A656-2EDCCFE461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55FD91F-4DE7-4354-84D4-7643BEFF31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numerical prediction</a:t>
            </a:r>
          </a:p>
        </p:txBody>
      </p:sp>
      <p:sp>
        <p:nvSpPr>
          <p:cNvPr id="4" name="">
            <a:extLst xmlns:a="http://schemas.openxmlformats.org/drawingml/2006/main">
              <a:ext uri="{FF2B5EF4-FFF2-40B4-BE49-F238E27FC236}">
                <a16:creationId xmlns:a16="http://schemas.microsoft.com/office/drawing/2014/main" id="{85FCBBF1-E77C-44C7-AA77-D13D9163630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82C28C3-CAB3-4CE5-B662-16412DC9167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Regression predicts a number, such as cooling load in kW.</a:t>
            </a:r>
          </a:p>
        </p:txBody>
      </p:sp>
      <p:sp>
        <p:nvSpPr>
          <p:cNvPr id="6" name="">
            <a:extLst xmlns:a="http://schemas.openxmlformats.org/drawingml/2006/main">
              <a:ext uri="{FF2B5EF4-FFF2-40B4-BE49-F238E27FC236}">
                <a16:creationId xmlns:a16="http://schemas.microsoft.com/office/drawing/2014/main" id="{15E659BC-B30E-440B-BEDF-D9D954A4491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C081C3-6849-4FF5-85CF-A5A342D2796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is information available when predicting.</a:t>
            </a:r>
          </a:p>
        </p:txBody>
      </p:sp>
      <p:sp>
        <p:nvSpPr>
          <p:cNvPr id="8" name="">
            <a:extLst xmlns:a="http://schemas.openxmlformats.org/drawingml/2006/main">
              <a:ext uri="{FF2B5EF4-FFF2-40B4-BE49-F238E27FC236}">
                <a16:creationId xmlns:a16="http://schemas.microsoft.com/office/drawing/2014/main" id="{B1A30BE7-B6E2-44A6-AFDF-48394063475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BD9C614-48A2-4832-B934-04E05DA3F06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is the measured answer used during training.</a:t>
            </a:r>
          </a:p>
        </p:txBody>
      </p:sp>
      <p:sp>
        <p:nvSpPr>
          <p:cNvPr id="10" name="">
            <a:extLst xmlns:a="http://schemas.openxmlformats.org/drawingml/2006/main">
              <a:ext uri="{FF2B5EF4-FFF2-40B4-BE49-F238E27FC236}">
                <a16:creationId xmlns:a16="http://schemas.microsoft.com/office/drawing/2014/main" id="{D142AFC9-260F-45DD-8A08-9A9F3AA8C73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01EA52D-43E5-4927-A826-FA152700589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Classification, next week, predicts a category.</a:t>
            </a:r>
          </a:p>
        </p:txBody>
      </p:sp>
      <p:sp>
        <p:nvSpPr>
          <p:cNvPr id="12" name="">
            <a:extLst xmlns:a="http://schemas.openxmlformats.org/drawingml/2006/main">
              <a:ext uri="{FF2B5EF4-FFF2-40B4-BE49-F238E27FC236}">
                <a16:creationId xmlns:a16="http://schemas.microsoft.com/office/drawing/2014/main" id="{9809E0E1-19BF-4207-B2B0-15B0A826DF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a:t>
            </a:r>
          </a:p>
        </p:txBody>
      </p:sp>
    </p:spTree>
    <p:extLst>
      <p:ext uri="{BB962C8B-B14F-4D97-AF65-F5344CB8AC3E}">
        <p14:creationId xmlns:p14="http://schemas.microsoft.com/office/powerpoint/2010/main" val="120226369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741703B-7B36-4ADB-BAF3-E58F4A970E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3266B06-4F0F-49AD-A340-DD3B252221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E2A88EB-9259-4DE5-BFE1-A21D1A0FE0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Feature and target and Training validation and test</a:t>
            </a:r>
          </a:p>
        </p:txBody>
      </p:sp>
      <p:sp>
        <p:nvSpPr>
          <p:cNvPr id="4" name="">
            <a:extLst xmlns:a="http://schemas.openxmlformats.org/drawingml/2006/main">
              <a:ext uri="{FF2B5EF4-FFF2-40B4-BE49-F238E27FC236}">
                <a16:creationId xmlns:a16="http://schemas.microsoft.com/office/drawing/2014/main" id="{1ACBFC23-54A2-4B15-B1F1-B5F97831070B}"/>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8DC0C51-02E3-4800-A410-025E2697092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Feature and target</a:t>
            </a:r>
          </a:p>
        </p:txBody>
      </p:sp>
      <p:sp>
        <p:nvSpPr>
          <p:cNvPr id="6" name="">
            <a:extLst xmlns:a="http://schemas.openxmlformats.org/drawingml/2006/main">
              <a:ext uri="{FF2B5EF4-FFF2-40B4-BE49-F238E27FC236}">
                <a16:creationId xmlns:a16="http://schemas.microsoft.com/office/drawing/2014/main" id="{9C069A08-C2D1-44B4-85F3-6A177D260CA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Features are inputs available when making a prediction. The target is the quantity we want to predict.</a:t>
            </a:r>
          </a:p>
        </p:txBody>
      </p:sp>
      <p:sp>
        <p:nvSpPr>
          <p:cNvPr id="7" name="">
            <a:extLst xmlns:a="http://schemas.openxmlformats.org/drawingml/2006/main">
              <a:ext uri="{FF2B5EF4-FFF2-40B4-BE49-F238E27FC236}">
                <a16:creationId xmlns:a16="http://schemas.microsoft.com/office/drawing/2014/main" id="{43A767ED-AF85-42A0-A89E-07415EA171D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CAEBD12-3E0A-4FA6-9F32-BCC5BACEFCD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Training validation and test</a:t>
            </a:r>
          </a:p>
        </p:txBody>
      </p:sp>
      <p:sp>
        <p:nvSpPr>
          <p:cNvPr id="9" name="">
            <a:extLst xmlns:a="http://schemas.openxmlformats.org/drawingml/2006/main">
              <a:ext uri="{FF2B5EF4-FFF2-40B4-BE49-F238E27FC236}">
                <a16:creationId xmlns:a16="http://schemas.microsoft.com/office/drawing/2014/main" id="{BD211343-F042-440F-B964-B89A26CAFBB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Training fits the model. Validation helps choose it. The final test estimates performance after choices are fixed. Repeated equipment must stay in the same partition when assessing unseen equipment.</a:t>
            </a:r>
          </a:p>
        </p:txBody>
      </p:sp>
      <p:sp>
        <p:nvSpPr>
          <p:cNvPr id="10" name="">
            <a:extLst xmlns:a="http://schemas.openxmlformats.org/drawingml/2006/main">
              <a:ext uri="{FF2B5EF4-FFF2-40B4-BE49-F238E27FC236}">
                <a16:creationId xmlns:a16="http://schemas.microsoft.com/office/drawing/2014/main" id="{F4347E7F-4BD6-4764-86D1-D90F52AB1E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a:t>
            </a:r>
          </a:p>
        </p:txBody>
      </p:sp>
    </p:spTree>
    <p:extLst>
      <p:ext uri="{BB962C8B-B14F-4D97-AF65-F5344CB8AC3E}">
        <p14:creationId xmlns:p14="http://schemas.microsoft.com/office/powerpoint/2010/main" val="147360971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AFBB07A-218C-41A2-9099-28A19B7429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09CB62-73B9-4C7F-B445-A981E410BB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3CCFBF8-C2D2-4300-AFB3-7BD45A4C6E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a:t>
            </a:r>
          </a:p>
        </p:txBody>
      </p:sp>
      <p:sp>
        <p:nvSpPr>
          <p:cNvPr id="4" name="">
            <a:extLst xmlns:a="http://schemas.openxmlformats.org/drawingml/2006/main">
              <a:ext uri="{FF2B5EF4-FFF2-40B4-BE49-F238E27FC236}">
                <a16:creationId xmlns:a16="http://schemas.microsoft.com/office/drawing/2014/main" id="{0878D408-F743-46A0-BCB6-0CC53422FCEE}"/>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2B0C5DD-82A6-4DA7-91E4-F7441E5B8C95}"/>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Baseline</a:t>
            </a:r>
          </a:p>
        </p:txBody>
      </p:sp>
      <p:sp>
        <p:nvSpPr>
          <p:cNvPr id="6" name="">
            <a:extLst xmlns:a="http://schemas.openxmlformats.org/drawingml/2006/main">
              <a:ext uri="{FF2B5EF4-FFF2-40B4-BE49-F238E27FC236}">
                <a16:creationId xmlns:a16="http://schemas.microsoft.com/office/drawing/2014/main" id="{50856FC2-B609-44AB-A7EA-8D2A2F40AAD3}"/>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simple reference prediction. A training-mean baseline predicts the same training mean for every new example.</a:t>
            </a:r>
          </a:p>
        </p:txBody>
      </p:sp>
      <p:sp>
        <p:nvSpPr>
          <p:cNvPr id="7" name="">
            <a:extLst xmlns:a="http://schemas.openxmlformats.org/drawingml/2006/main">
              <a:ext uri="{FF2B5EF4-FFF2-40B4-BE49-F238E27FC236}">
                <a16:creationId xmlns:a16="http://schemas.microsoft.com/office/drawing/2014/main" id="{EC81E5C9-5BF0-473E-8FD1-D44B00DAB9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7</a:t>
            </a:r>
          </a:p>
        </p:txBody>
      </p:sp>
    </p:spTree>
    <p:extLst>
      <p:ext uri="{BB962C8B-B14F-4D97-AF65-F5344CB8AC3E}">
        <p14:creationId xmlns:p14="http://schemas.microsoft.com/office/powerpoint/2010/main" val="144398170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23A589A-5F8E-467D-8DA9-CAFCCBCFD3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7A47726-605E-48FA-92C4-6F751E6FA3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2CC58101-C193-46BF-AA71-CD33737D7E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Linear model and tree</a:t>
            </a:r>
          </a:p>
        </p:txBody>
      </p:sp>
      <p:sp>
        <p:nvSpPr>
          <p:cNvPr id="4" name="">
            <a:extLst xmlns:a="http://schemas.openxmlformats.org/drawingml/2006/main">
              <a:ext uri="{FF2B5EF4-FFF2-40B4-BE49-F238E27FC236}">
                <a16:creationId xmlns:a16="http://schemas.microsoft.com/office/drawing/2014/main" id="{6670F1DA-80EA-4715-8C09-81174706B522}"/>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0F0E5FF-9533-4668-A3E6-D5E13FBABAE8}"/>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Linear model and tree</a:t>
            </a:r>
          </a:p>
        </p:txBody>
      </p:sp>
      <p:sp>
        <p:nvSpPr>
          <p:cNvPr id="6" name="">
            <a:extLst xmlns:a="http://schemas.openxmlformats.org/drawingml/2006/main">
              <a:ext uri="{FF2B5EF4-FFF2-40B4-BE49-F238E27FC236}">
                <a16:creationId xmlns:a16="http://schemas.microsoft.com/office/drawing/2014/main" id="{0AA512A9-C78F-4156-8CA9-21741E4FAAC9}"/>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linear model combines inputs with learned weights. A regression tree asks feature-threshold questions and predicts a value at each leaf.</a:t>
            </a:r>
          </a:p>
        </p:txBody>
      </p:sp>
      <p:sp>
        <p:nvSpPr>
          <p:cNvPr id="7" name="">
            <a:extLst xmlns:a="http://schemas.openxmlformats.org/drawingml/2006/main">
              <a:ext uri="{FF2B5EF4-FFF2-40B4-BE49-F238E27FC236}">
                <a16:creationId xmlns:a16="http://schemas.microsoft.com/office/drawing/2014/main" id="{EF12CCA1-725D-4A2D-82DE-0BA63B4DA8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8</a:t>
            </a:r>
          </a:p>
        </p:txBody>
      </p:sp>
    </p:spTree>
    <p:extLst>
      <p:ext uri="{BB962C8B-B14F-4D97-AF65-F5344CB8AC3E}">
        <p14:creationId xmlns:p14="http://schemas.microsoft.com/office/powerpoint/2010/main" val="109840857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F1D53CC-CD3A-42FC-BCE1-31598CA30F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C8AC0F-08D5-45A3-BC92-3B6BDCD3BE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31232D0-216B-48A9-889B-C56B7EA369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learning means in this example</a:t>
            </a:r>
          </a:p>
        </p:txBody>
      </p:sp>
      <p:sp>
        <p:nvSpPr>
          <p:cNvPr id="4" name="">
            <a:extLst xmlns:a="http://schemas.openxmlformats.org/drawingml/2006/main">
              <a:ext uri="{FF2B5EF4-FFF2-40B4-BE49-F238E27FC236}">
                <a16:creationId xmlns:a16="http://schemas.microsoft.com/office/drawing/2014/main" id="{6B9A6510-CE97-4A7C-B7DB-C1C8CE55523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4DE6308-4F9C-46A0-833E-6BE8AAEE14D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Training supplies inputs and their known answers.</a:t>
            </a:r>
          </a:p>
        </p:txBody>
      </p:sp>
      <p:sp>
        <p:nvSpPr>
          <p:cNvPr id="6" name="">
            <a:extLst xmlns:a="http://schemas.openxmlformats.org/drawingml/2006/main">
              <a:ext uri="{FF2B5EF4-FFF2-40B4-BE49-F238E27FC236}">
                <a16:creationId xmlns:a16="http://schemas.microsoft.com/office/drawing/2014/main" id="{3B341A86-6F60-4415-B1D7-D803845A59E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6D1D4D7-163B-4A23-8C79-B5156CD52A4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model uses those examples to choose its internal numbers.</a:t>
            </a:r>
          </a:p>
        </p:txBody>
      </p:sp>
      <p:sp>
        <p:nvSpPr>
          <p:cNvPr id="8" name="">
            <a:extLst xmlns:a="http://schemas.openxmlformats.org/drawingml/2006/main">
              <a:ext uri="{FF2B5EF4-FFF2-40B4-BE49-F238E27FC236}">
                <a16:creationId xmlns:a16="http://schemas.microsoft.com/office/drawing/2014/main" id="{E69E5E4C-EBA1-49BB-A8B3-C693389672D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58A59C7-E8D7-432F-B531-C48FA466D72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Prediction applies the fitted model to inputs whose answer we want to estimate.</a:t>
            </a:r>
          </a:p>
        </p:txBody>
      </p:sp>
      <p:sp>
        <p:nvSpPr>
          <p:cNvPr id="10" name="">
            <a:extLst xmlns:a="http://schemas.openxmlformats.org/drawingml/2006/main">
              <a:ext uri="{FF2B5EF4-FFF2-40B4-BE49-F238E27FC236}">
                <a16:creationId xmlns:a16="http://schemas.microsoft.com/office/drawing/2014/main" id="{10F39567-74B5-4939-9BE5-3F1D6ACC77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9</a:t>
            </a:r>
          </a:p>
        </p:txBody>
      </p:sp>
    </p:spTree>
    <p:extLst>
      <p:ext uri="{BB962C8B-B14F-4D97-AF65-F5344CB8AC3E}">
        <p14:creationId xmlns:p14="http://schemas.microsoft.com/office/powerpoint/2010/main" val="58479268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9B4DA42-B307-411F-A6A3-F59B6D131C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A09DB69-4129-430D-AD90-6D41259209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F2C45A82-CBF6-4353-8E55-5B40FB2B17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observations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Input</a:t>
                      </a:r>
                    </a:p>
                  </a:txBody>
                  <a:tcPr marL="91440" marR="91440" marT="45720" marB="45720">
                    <a:solidFill>
                      <a:srgbClr val="2E7D6F"/>
                    </a:solidFill>
                  </a:tcPr>
                </a:tc>
                <a:tc>
                  <a:txBody>
                    <a:bodyPr/>
                    <a:lstStyle/>
                    <a:p>
                      <a:r>
                        <a:rPr sz="2025" b="1">
                          <a:solidFill>
                            <a:srgbClr val="FFFFFF"/>
                          </a:solidFill>
                          <a:latin typeface="Calibri"/>
                          <a:ea typeface="Calibri"/>
                          <a:cs typeface="Calibri"/>
                        </a:rPr>
                        <a:t>Measured target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12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14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16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18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FF2F47F-4B01-4AB8-AC20-35955B5E635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Invented numbers for learning.</a:t>
            </a:r>
          </a:p>
        </p:txBody>
      </p:sp>
      <p:sp>
        <p:nvSpPr>
          <p:cNvPr id="6" name="">
            <a:extLst xmlns:a="http://schemas.openxmlformats.org/drawingml/2006/main">
              <a:ext uri="{FF2B5EF4-FFF2-40B4-BE49-F238E27FC236}">
                <a16:creationId xmlns:a16="http://schemas.microsoft.com/office/drawing/2014/main" id="{0B38EC9C-2009-4663-BAFC-33659F3539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10</a:t>
            </a:r>
          </a:p>
        </p:txBody>
      </p:sp>
    </p:spTree>
    <p:extLst>
      <p:ext uri="{BB962C8B-B14F-4D97-AF65-F5344CB8AC3E}">
        <p14:creationId xmlns:p14="http://schemas.microsoft.com/office/powerpoint/2010/main" val="154027940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AB755B5-1F58-4E6B-8111-E5FB32509C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A476A3E-2714-4BA7-8080-5C630CCDF6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9CCFC1F-27B7-4E63-AA9B-23CB16E562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fitted line is a numerical rule</a:t>
            </a:r>
          </a:p>
        </p:txBody>
      </p:sp>
      <p:sp>
        <p:nvSpPr>
          <p:cNvPr id="4" name="">
            <a:extLst xmlns:a="http://schemas.openxmlformats.org/drawingml/2006/main">
              <a:ext uri="{FF2B5EF4-FFF2-40B4-BE49-F238E27FC236}">
                <a16:creationId xmlns:a16="http://schemas.microsoft.com/office/drawing/2014/main" id="{9773EA59-7D58-4C7A-8BBE-5090EF4E408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027B148-2017-4C2B-BF96-C12B68FBBE3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invented observations, target = 2 × input + 10 matches all four points. 2 is the slope; 10 is the intercept, the value at input zero.</a:t>
            </a:r>
          </a:p>
        </p:txBody>
      </p:sp>
      <p:sp>
        <p:nvSpPr>
          <p:cNvPr id="6" name="">
            <a:extLst xmlns:a="http://schemas.openxmlformats.org/drawingml/2006/main">
              <a:ext uri="{FF2B5EF4-FFF2-40B4-BE49-F238E27FC236}">
                <a16:creationId xmlns:a16="http://schemas.microsoft.com/office/drawing/2014/main" id="{4263B249-0825-4693-9412-F8323BA1AEE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20331C2-2733-4494-ABAE-7CFDD8E0F7F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prediction error is the difference between a prediction and the measured answer. A vertical gap in the picture shows that error.</a:t>
            </a:r>
          </a:p>
        </p:txBody>
      </p:sp>
      <p:sp>
        <p:nvSpPr>
          <p:cNvPr id="8" name="">
            <a:extLst xmlns:a="http://schemas.openxmlformats.org/drawingml/2006/main">
              <a:ext uri="{FF2B5EF4-FFF2-40B4-BE49-F238E27FC236}">
                <a16:creationId xmlns:a16="http://schemas.microsoft.com/office/drawing/2014/main" id="{2A1B6B79-BAD3-4224-A66F-753B135811D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145E4D4-82EA-401A-8903-510E1D0A867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Fitting chooses the slope and intercept to minimise summed squared errors. Squaring means multiplying an error by itself; a small training error still needs an unseen-data check.</a:t>
            </a:r>
          </a:p>
        </p:txBody>
      </p:sp>
      <p:sp>
        <p:nvSpPr>
          <p:cNvPr id="10" name="">
            <a:extLst xmlns:a="http://schemas.openxmlformats.org/drawingml/2006/main">
              <a:ext uri="{FF2B5EF4-FFF2-40B4-BE49-F238E27FC236}">
                <a16:creationId xmlns:a16="http://schemas.microsoft.com/office/drawing/2014/main" id="{354670D4-2BD3-453F-8910-ED17B56FF4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11</a:t>
            </a:r>
          </a:p>
        </p:txBody>
      </p:sp>
    </p:spTree>
    <p:extLst>
      <p:ext uri="{BB962C8B-B14F-4D97-AF65-F5344CB8AC3E}">
        <p14:creationId xmlns:p14="http://schemas.microsoft.com/office/powerpoint/2010/main" val="120978160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8C7F8C0-BF79-4E29-BDEA-50B3427C2E27}"/>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4431497-B274-471E-B9CA-5CDA6EE50ADC}"/>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Fitting a line to observations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bacc85ec836e42b2"/>
          <a:stretch xmlns:a="http://schemas.openxmlformats.org/drawingml/2006/main"/>
        </p:blipFill>
        <p:spPr>
          <a:xfrm xmlns:a="http://schemas.openxmlformats.org/drawingml/2006/main">
            <a:off x="333375" y="1631613"/>
            <a:ext cx="11525250" cy="34709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4B2207A-9CE4-4BAE-8968-A9C855641DCF}"/>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33C9137-7686-4752-AE22-D64516131AD7}"/>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fitted line minimises the sum of squared vertical errors.</a:t>
            </a:r>
          </a:p>
        </p:txBody>
      </p:sp>
      <p:sp>
        <p:nvSpPr>
          <p:cNvPr id="6" name="">
            <a:extLst xmlns:a="http://schemas.openxmlformats.org/drawingml/2006/main">
              <a:ext uri="{FF2B5EF4-FFF2-40B4-BE49-F238E27FC236}">
                <a16:creationId xmlns:a16="http://schemas.microsoft.com/office/drawing/2014/main" id="{B6F9B621-6D01-4231-8C00-221FA93B45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12</a:t>
            </a:r>
          </a:p>
        </p:txBody>
      </p:sp>
    </p:spTree>
    <p:extLst>
      <p:ext uri="{BB962C8B-B14F-4D97-AF65-F5344CB8AC3E}">
        <p14:creationId xmlns:p14="http://schemas.microsoft.com/office/powerpoint/2010/main" val="72708337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C046D61-3FE7-42B7-A898-0609478AA2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9E9BF7F-DFD5-4A03-89FD-D40055ED2B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9A1EE20-2F93-4212-9542-9490C0DDC6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must stay paired with their answers</a:t>
            </a:r>
          </a:p>
        </p:txBody>
      </p:sp>
      <p:sp>
        <p:nvSpPr>
          <p:cNvPr id="4" name="">
            <a:extLst xmlns:a="http://schemas.openxmlformats.org/drawingml/2006/main">
              <a:ext uri="{FF2B5EF4-FFF2-40B4-BE49-F238E27FC236}">
                <a16:creationId xmlns:a16="http://schemas.microsoft.com/office/drawing/2014/main" id="{DC2BEE0D-55D2-413B-B396-0DD6DD68E28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EC3ACD3-F634-4CBD-9627-3DDA68A6E1A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inner list in X_train is one observation.</a:t>
            </a:r>
          </a:p>
        </p:txBody>
      </p:sp>
      <p:sp>
        <p:nvSpPr>
          <p:cNvPr id="6" name="">
            <a:extLst xmlns:a="http://schemas.openxmlformats.org/drawingml/2006/main">
              <a:ext uri="{FF2B5EF4-FFF2-40B4-BE49-F238E27FC236}">
                <a16:creationId xmlns:a16="http://schemas.microsoft.com/office/drawing/2014/main" id="{B8B22FC5-85AD-4F24-A303-2DE8EEB194A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004FB8D-7BF8-4658-9E52-23A42FD73FE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y_train contains one target value for each row, in the same order.</a:t>
            </a:r>
          </a:p>
        </p:txBody>
      </p:sp>
      <p:sp>
        <p:nvSpPr>
          <p:cNvPr id="8" name="">
            <a:extLst xmlns:a="http://schemas.openxmlformats.org/drawingml/2006/main">
              <a:ext uri="{FF2B5EF4-FFF2-40B4-BE49-F238E27FC236}">
                <a16:creationId xmlns:a16="http://schemas.microsoft.com/office/drawing/2014/main" id="{29E2E012-943D-4633-BA63-D590AA38C05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7BEBED1-711C-4BA6-A9B9-E98DED3B1BA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Changing the order of only one list attaches answers to the wrong observations.</a:t>
            </a:r>
          </a:p>
        </p:txBody>
      </p:sp>
      <p:sp>
        <p:nvSpPr>
          <p:cNvPr id="10" name="">
            <a:extLst xmlns:a="http://schemas.openxmlformats.org/drawingml/2006/main">
              <a:ext uri="{FF2B5EF4-FFF2-40B4-BE49-F238E27FC236}">
                <a16:creationId xmlns:a16="http://schemas.microsoft.com/office/drawing/2014/main" id="{8A0E88A4-9032-4919-8AA6-6BE2466E49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13</a:t>
            </a:r>
          </a:p>
        </p:txBody>
      </p:sp>
    </p:spTree>
    <p:extLst>
      <p:ext uri="{BB962C8B-B14F-4D97-AF65-F5344CB8AC3E}">
        <p14:creationId xmlns:p14="http://schemas.microsoft.com/office/powerpoint/2010/main" val="194756228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726DE01-4FE1-4ADF-AC46-C9A317F253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B6236D-F6BA-4739-9D94-BA16EA06C8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77A964F-7404-4D24-9129-810FAFF684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matrix is a rectangular table of numbers</a:t>
            </a:r>
          </a:p>
        </p:txBody>
      </p:sp>
      <p:sp>
        <p:nvSpPr>
          <p:cNvPr id="4" name="">
            <a:extLst xmlns:a="http://schemas.openxmlformats.org/drawingml/2006/main">
              <a:ext uri="{FF2B5EF4-FFF2-40B4-BE49-F238E27FC236}">
                <a16:creationId xmlns:a16="http://schemas.microsoft.com/office/drawing/2014/main" id="{A3330BC2-6FBA-414D-8822-6E7BB0E8C18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4E136B5-453D-4533-8CD1-1B6B00F4619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matrix has rows and columns. For modelling, one row is one observation and each column is one input feature.</a:t>
            </a:r>
          </a:p>
        </p:txBody>
      </p:sp>
      <p:sp>
        <p:nvSpPr>
          <p:cNvPr id="6" name="">
            <a:extLst xmlns:a="http://schemas.openxmlformats.org/drawingml/2006/main">
              <a:ext uri="{FF2B5EF4-FFF2-40B4-BE49-F238E27FC236}">
                <a16:creationId xmlns:a16="http://schemas.microsoft.com/office/drawing/2014/main" id="{545E2CEE-20F1-4B0B-B4B0-FD261C6A0E7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6944548-9803-4ED3-8E1F-33E8E731A4A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 20], [2, 22]] has two rows and two columns. The outer list contains rows; each inner list contains that row’s features.</a:t>
            </a:r>
          </a:p>
        </p:txBody>
      </p:sp>
      <p:sp>
        <p:nvSpPr>
          <p:cNvPr id="8" name="">
            <a:extLst xmlns:a="http://schemas.openxmlformats.org/drawingml/2006/main">
              <a:ext uri="{FF2B5EF4-FFF2-40B4-BE49-F238E27FC236}">
                <a16:creationId xmlns:a16="http://schemas.microsoft.com/office/drawing/2014/main" id="{E0C2865D-161E-4C28-A232-BD33387AC89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47EA753-1D0E-432F-8E33-F906D07897C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 is a conventional name for this input table. y holds one known target per row. These names have no special power in Python.</a:t>
            </a:r>
          </a:p>
        </p:txBody>
      </p:sp>
      <p:sp>
        <p:nvSpPr>
          <p:cNvPr id="10" name="">
            <a:extLst xmlns:a="http://schemas.openxmlformats.org/drawingml/2006/main">
              <a:ext uri="{FF2B5EF4-FFF2-40B4-BE49-F238E27FC236}">
                <a16:creationId xmlns:a16="http://schemas.microsoft.com/office/drawing/2014/main" id="{0797CEEF-7E62-4A85-A5E0-45E7768B6D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14</a:t>
            </a:r>
          </a:p>
        </p:txBody>
      </p:sp>
    </p:spTree>
    <p:extLst>
      <p:ext uri="{BB962C8B-B14F-4D97-AF65-F5344CB8AC3E}">
        <p14:creationId xmlns:p14="http://schemas.microsoft.com/office/powerpoint/2010/main" val="155108250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535B573-0041-4E67-A7BD-597FF76E2D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4E62E94-5497-4528-A7A1-277094710C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E7516AD-DC29-4220-B959-A7079A6504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and arrays before model code</a:t>
            </a:r>
          </a:p>
        </p:txBody>
      </p:sp>
      <p:sp>
        <p:nvSpPr>
          <p:cNvPr id="4" name="">
            <a:extLst xmlns:a="http://schemas.openxmlformats.org/drawingml/2006/main">
              <a:ext uri="{FF2B5EF4-FFF2-40B4-BE49-F238E27FC236}">
                <a16:creationId xmlns:a16="http://schemas.microsoft.com/office/drawing/2014/main" id="{640F9C51-5D39-4F71-B22E-208556EF39F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DCB6C14-5175-4F62-9BA6-2DAEE2663D97}"/>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Nested lists</a:t>
            </a:r>
          </a:p>
        </p:txBody>
      </p:sp>
      <p:sp>
        <p:nvSpPr>
          <p:cNvPr id="6" name="">
            <a:extLst xmlns:a="http://schemas.openxmlformats.org/drawingml/2006/main">
              <a:ext uri="{FF2B5EF4-FFF2-40B4-BE49-F238E27FC236}">
                <a16:creationId xmlns:a16="http://schemas.microsoft.com/office/drawing/2014/main" id="{E38C506E-C54C-44F0-A867-B8D383E6F46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[[1], [2], [3]] has three inner lists: three rows with one feature each. [12, 14, 16] has one target per row in the same order.</a:t>
            </a:r>
          </a:p>
        </p:txBody>
      </p:sp>
      <p:sp>
        <p:nvSpPr>
          <p:cNvPr id="7" name="">
            <a:extLst xmlns:a="http://schemas.openxmlformats.org/drawingml/2006/main">
              <a:ext uri="{FF2B5EF4-FFF2-40B4-BE49-F238E27FC236}">
                <a16:creationId xmlns:a16="http://schemas.microsoft.com/office/drawing/2014/main" id="{B0FC46D6-2011-4205-83A7-414E45CFA421}"/>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7CB7766-3602-44C6-9813-798399C8A15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NumPy and array</a:t>
            </a:r>
          </a:p>
        </p:txBody>
      </p:sp>
      <p:sp>
        <p:nvSpPr>
          <p:cNvPr id="9" name="">
            <a:extLst xmlns:a="http://schemas.openxmlformats.org/drawingml/2006/main">
              <a:ext uri="{FF2B5EF4-FFF2-40B4-BE49-F238E27FC236}">
                <a16:creationId xmlns:a16="http://schemas.microsoft.com/office/drawing/2014/main" id="{15839336-1FC8-4917-868E-F80722F531B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NumPy is a numerical library; np is its short imported name. np.array(...) builds an array. shape reports its dimensions. np.nan represents a missing numerical value.</a:t>
            </a:r>
          </a:p>
        </p:txBody>
      </p:sp>
      <p:sp>
        <p:nvSpPr>
          <p:cNvPr id="10" name="">
            <a:extLst xmlns:a="http://schemas.openxmlformats.org/drawingml/2006/main">
              <a:ext uri="{FF2B5EF4-FFF2-40B4-BE49-F238E27FC236}">
                <a16:creationId xmlns:a16="http://schemas.microsoft.com/office/drawing/2014/main" id="{6A6E0EA5-A711-49A5-8F61-FA4E916C4A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15</a:t>
            </a:r>
          </a:p>
        </p:txBody>
      </p:sp>
    </p:spTree>
    <p:extLst>
      <p:ext uri="{BB962C8B-B14F-4D97-AF65-F5344CB8AC3E}">
        <p14:creationId xmlns:p14="http://schemas.microsoft.com/office/powerpoint/2010/main" val="110262728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81E3272-8D55-4F42-A6CE-6E7F2277CE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84EE887-60CA-4F28-969D-A33AA7BE77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FB9F2B4B-A984-4AE3-A876-682499BEF0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NumPy results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17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17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1725" b="0">
                          <a:solidFill>
                            <a:srgbClr val="1C3144"/>
                          </a:solidFill>
                          <a:latin typeface="Calibri"/>
                          <a:ea typeface="Calibri"/>
                          <a:cs typeface="Calibri"/>
                        </a:rPr>
                        <a:t>np.nan</a:t>
                      </a:r>
                    </a:p>
                  </a:txBody>
                  <a:tcPr marL="91440" marR="91440" marT="45720" marB="45720">
                    <a:solidFill>
                      <a:srgbClr val="EEF3F6"/>
                    </a:solidFill>
                  </a:tcPr>
                </a:tc>
                <a:tc>
                  <a:txBody>
                    <a:bodyPr/>
                    <a:lstStyle/>
                    <a:p>
                      <a:r>
                        <a:rPr sz="1725" b="0">
                          <a:solidFill>
                            <a:srgbClr val="1C3144"/>
                          </a:solidFill>
                          <a:latin typeface="Calibri"/>
                          <a:ea typeface="Calibri"/>
                          <a:cs typeface="Calibri"/>
                        </a:rPr>
                        <a:t>A missing numeric value marker</a:t>
                      </a:r>
                    </a:p>
                  </a:txBody>
                  <a:tcPr marL="91440" marR="91440" marT="45720" marB="45720">
                    <a:solidFill>
                      <a:srgbClr val="EEF3F6"/>
                    </a:solidFill>
                  </a:tcPr>
                </a:tc>
              </a:tr>
              <a:tr h="666750">
                <a:tc>
                  <a:txBody>
                    <a:bodyPr/>
                    <a:lstStyle/>
                    <a:p>
                      <a:r>
                        <a:rPr sz="1725" b="0">
                          <a:solidFill>
                            <a:srgbClr val="1C3144"/>
                          </a:solidFill>
                          <a:latin typeface="Calibri"/>
                          <a:ea typeface="Calibri"/>
                          <a:cs typeface="Calibri"/>
                        </a:rPr>
                        <a:t>X.shape</a:t>
                      </a:r>
                    </a:p>
                  </a:txBody>
                  <a:tcPr marL="91440" marR="91440" marT="45720" marB="45720">
                    <a:solidFill>
                      <a:srgbClr val="FFFFFF"/>
                    </a:solidFill>
                  </a:tcPr>
                </a:tc>
                <a:tc>
                  <a:txBody>
                    <a:bodyPr/>
                    <a:lstStyle/>
                    <a:p>
                      <a:r>
                        <a:rPr sz="1725" b="0">
                          <a:solidFill>
                            <a:srgbClr val="1C3144"/>
                          </a:solidFill>
                          <a:latin typeface="Calibri"/>
                          <a:ea typeface="Calibri"/>
                          <a:cs typeface="Calibri"/>
                        </a:rPr>
                        <a:t>The array dimensions: rows, columns</a:t>
                      </a:r>
                    </a:p>
                  </a:txBody>
                  <a:tcPr marL="91440" marR="91440" marT="45720" marB="45720">
                    <a:solidFill>
                      <a:srgbClr val="FFFFFF"/>
                    </a:solidFill>
                  </a:tcPr>
                </a:tc>
              </a:tr>
              <a:tr h="666750">
                <a:tc>
                  <a:txBody>
                    <a:bodyPr/>
                    <a:lstStyle/>
                    <a:p>
                      <a:r>
                        <a:rPr sz="1725" b="0">
                          <a:solidFill>
                            <a:srgbClr val="1C3144"/>
                          </a:solidFill>
                          <a:latin typeface="Calibri"/>
                          <a:ea typeface="Calibri"/>
                          <a:cs typeface="Calibri"/>
                        </a:rPr>
                        <a:t>predictions.round(2)</a:t>
                      </a:r>
                    </a:p>
                  </a:txBody>
                  <a:tcPr marL="91440" marR="91440" marT="45720" marB="45720">
                    <a:solidFill>
                      <a:srgbClr val="EEF3F6"/>
                    </a:solidFill>
                  </a:tcPr>
                </a:tc>
                <a:tc>
                  <a:txBody>
                    <a:bodyPr/>
                    <a:lstStyle/>
                    <a:p>
                      <a:r>
                        <a:rPr sz="1725" b="0">
                          <a:solidFill>
                            <a:srgbClr val="1C3144"/>
                          </a:solidFill>
                          <a:latin typeface="Calibri"/>
                          <a:ea typeface="Calibri"/>
                          <a:cs typeface="Calibri"/>
                        </a:rPr>
                        <a:t>Round a new array to two decimal places</a:t>
                      </a:r>
                    </a:p>
                  </a:txBody>
                  <a:tcPr marL="91440" marR="91440" marT="45720" marB="45720">
                    <a:solidFill>
                      <a:srgbClr val="EEF3F6"/>
                    </a:solidFill>
                  </a:tcPr>
                </a:tc>
              </a:tr>
              <a:tr h="666750">
                <a:tc>
                  <a:txBody>
                    <a:bodyPr/>
                    <a:lstStyle/>
                    <a:p>
                      <a:r>
                        <a:rPr sz="1725" b="0">
                          <a:solidFill>
                            <a:srgbClr val="1C3144"/>
                          </a:solidFill>
                          <a:latin typeface="Calibri"/>
                          <a:ea typeface="Calibri"/>
                          <a:cs typeface="Calibri"/>
                        </a:rPr>
                        <a:t>predictions.tolist()</a:t>
                      </a:r>
                    </a:p>
                  </a:txBody>
                  <a:tcPr marL="91440" marR="91440" marT="45720" marB="45720">
                    <a:solidFill>
                      <a:srgbClr val="FFFFFF"/>
                    </a:solidFill>
                  </a:tcPr>
                </a:tc>
                <a:tc>
                  <a:txBody>
                    <a:bodyPr/>
                    <a:lstStyle/>
                    <a:p>
                      <a:r>
                        <a:rPr sz="1725" b="0">
                          <a:solidFill>
                            <a:srgbClr val="1C3144"/>
                          </a:solidFill>
                          <a:latin typeface="Calibri"/>
                          <a:ea typeface="Calibri"/>
                          <a:cs typeface="Calibri"/>
                        </a:rPr>
                        <a:t>Convert the array into a Python list</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1CBDF665-33EE-4309-874B-9943A25B627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Use rounded values only for a labelled display. Keep full precision when the assignment requires it.</a:t>
            </a:r>
          </a:p>
        </p:txBody>
      </p:sp>
      <p:sp>
        <p:nvSpPr>
          <p:cNvPr id="6" name="">
            <a:extLst xmlns:a="http://schemas.openxmlformats.org/drawingml/2006/main">
              <a:ext uri="{FF2B5EF4-FFF2-40B4-BE49-F238E27FC236}">
                <a16:creationId xmlns:a16="http://schemas.microsoft.com/office/drawing/2014/main" id="{ADBA5413-5F70-4DB8-8A61-58930D9D48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16</a:t>
            </a:r>
          </a:p>
        </p:txBody>
      </p:sp>
    </p:spTree>
    <p:extLst>
      <p:ext uri="{BB962C8B-B14F-4D97-AF65-F5344CB8AC3E}">
        <p14:creationId xmlns:p14="http://schemas.microsoft.com/office/powerpoint/2010/main" val="21909712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47A4304-BDB4-4D7A-8FED-5D19582EE9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EDB1ABC-F59E-4A87-8159-C5B9FBE6DA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B7010A0-BB93-4838-A11A-B9A4DAB6F8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an array before reading its shape</a:t>
            </a:r>
          </a:p>
        </p:txBody>
      </p:sp>
      <p:sp>
        <p:nvSpPr>
          <p:cNvPr id="4" name="">
            <a:extLst xmlns:a="http://schemas.openxmlformats.org/drawingml/2006/main">
              <a:ext uri="{FF2B5EF4-FFF2-40B4-BE49-F238E27FC236}">
                <a16:creationId xmlns:a16="http://schemas.microsoft.com/office/drawing/2014/main" id="{CB83ACE1-1DEC-4BE4-8989-83F178076D9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CD79D5-5E56-424C-94A4-61BD92C5336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NumPy is a library for numerical arrays. import numpy as np makes its tools available through the name np.</a:t>
            </a:r>
          </a:p>
        </p:txBody>
      </p:sp>
      <p:sp>
        <p:nvSpPr>
          <p:cNvPr id="6" name="">
            <a:extLst xmlns:a="http://schemas.openxmlformats.org/drawingml/2006/main">
              <a:ext uri="{FF2B5EF4-FFF2-40B4-BE49-F238E27FC236}">
                <a16:creationId xmlns:a16="http://schemas.microsoft.com/office/drawing/2014/main" id="{1227EEBD-FCCE-410F-A90C-8DD4CA9205F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4550135-79CF-42B1-8D06-B645815A096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array stores a regular arrangement of values. np.array([[1], [2], [3]]) creates three rows with one value in each.</a:t>
            </a:r>
          </a:p>
        </p:txBody>
      </p:sp>
      <p:sp>
        <p:nvSpPr>
          <p:cNvPr id="8" name="">
            <a:extLst xmlns:a="http://schemas.openxmlformats.org/drawingml/2006/main">
              <a:ext uri="{FF2B5EF4-FFF2-40B4-BE49-F238E27FC236}">
                <a16:creationId xmlns:a16="http://schemas.microsoft.com/office/drawing/2014/main" id="{E89A4C3E-9D6E-46B2-AE6A-70FE2C25855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36AAC5-D271-41BE-8A15-4BA37C9D8FF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X.shape reports (3, 1): three rows, one column. np.array([12, 14, 16]) is one-dimensional; its shape is (3,). The comma marks a one-item tuple.</a:t>
            </a:r>
          </a:p>
        </p:txBody>
      </p:sp>
      <p:sp>
        <p:nvSpPr>
          <p:cNvPr id="10" name="">
            <a:extLst xmlns:a="http://schemas.openxmlformats.org/drawingml/2006/main">
              <a:ext uri="{FF2B5EF4-FFF2-40B4-BE49-F238E27FC236}">
                <a16:creationId xmlns:a16="http://schemas.microsoft.com/office/drawing/2014/main" id="{863BA46F-FAD1-4AF1-B3D8-BC785BA4EE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17</a:t>
            </a:r>
          </a:p>
        </p:txBody>
      </p:sp>
    </p:spTree>
    <p:extLst>
      <p:ext uri="{BB962C8B-B14F-4D97-AF65-F5344CB8AC3E}">
        <p14:creationId xmlns:p14="http://schemas.microsoft.com/office/powerpoint/2010/main" val="64980680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F08400F-05BF-445A-9192-3194C34802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38848F-5FEA-4FF9-9F1A-1E3EB05D6C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3731C36-DA67-48E3-85CF-2E49933D2B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columns and named options</a:t>
            </a:r>
          </a:p>
        </p:txBody>
      </p:sp>
      <p:sp>
        <p:nvSpPr>
          <p:cNvPr id="4" name="">
            <a:extLst xmlns:a="http://schemas.openxmlformats.org/drawingml/2006/main">
              <a:ext uri="{FF2B5EF4-FFF2-40B4-BE49-F238E27FC236}">
                <a16:creationId xmlns:a16="http://schemas.microsoft.com/office/drawing/2014/main" id="{6BD100D9-802D-48C7-9DDF-30B7A0D28BC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BE5A56B-E6A3-44D0-B242-BBA90EF481E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numpy as np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 np.array([[1], [2],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np.array([12, 14,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print(X.shape)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print(y.shape)</a:t>
            </a:r>
          </a:p>
        </p:txBody>
      </p:sp>
      <p:sp>
        <p:nvSpPr>
          <p:cNvPr id="6" name="">
            <a:extLst xmlns:a="http://schemas.openxmlformats.org/drawingml/2006/main">
              <a:ext uri="{FF2B5EF4-FFF2-40B4-BE49-F238E27FC236}">
                <a16:creationId xmlns:a16="http://schemas.microsoft.com/office/drawing/2014/main" id="{42A2609F-7120-4908-A7D2-68F938C91EB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E757249-FF4E-4C93-83F3-DDD66417F22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E490EB62-31EA-4FE3-891D-1BF3B930050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DA46E076-E7C4-403C-927D-BBE78053C7DE}"/>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F86F5DA6-B5B2-496D-B427-B6B61965EF8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X has three rows and one feature column. y has three target values.</a:t>
            </a:r>
          </a:p>
        </p:txBody>
      </p:sp>
      <p:sp>
        <p:nvSpPr>
          <p:cNvPr id="11" name="">
            <a:extLst xmlns:a="http://schemas.openxmlformats.org/drawingml/2006/main">
              <a:ext uri="{FF2B5EF4-FFF2-40B4-BE49-F238E27FC236}">
                <a16:creationId xmlns:a16="http://schemas.microsoft.com/office/drawing/2014/main" id="{A6AB6302-463C-4C20-BF15-C920B1C10A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18</a:t>
            </a:r>
          </a:p>
        </p:txBody>
      </p:sp>
    </p:spTree>
    <p:extLst>
      <p:ext uri="{BB962C8B-B14F-4D97-AF65-F5344CB8AC3E}">
        <p14:creationId xmlns:p14="http://schemas.microsoft.com/office/powerpoint/2010/main" val="205505757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89F966F-8831-4B97-AD1F-73B4465206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443619-BAD1-4803-A832-A70557E243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145AAA6-29D2-4848-AEE6-62673B89FF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fit and predict</a:t>
            </a:r>
          </a:p>
        </p:txBody>
      </p:sp>
      <p:sp>
        <p:nvSpPr>
          <p:cNvPr id="4" name="">
            <a:extLst xmlns:a="http://schemas.openxmlformats.org/drawingml/2006/main">
              <a:ext uri="{FF2B5EF4-FFF2-40B4-BE49-F238E27FC236}">
                <a16:creationId xmlns:a16="http://schemas.microsoft.com/office/drawing/2014/main" id="{43AFBCE1-B593-4C09-BB75-346B2FA6F8AC}"/>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68E1A8-DB51-4DCF-8F4F-FA125DCC625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fit and predict</a:t>
            </a:r>
          </a:p>
        </p:txBody>
      </p:sp>
      <p:sp>
        <p:nvSpPr>
          <p:cNvPr id="6" name="">
            <a:extLst xmlns:a="http://schemas.openxmlformats.org/drawingml/2006/main">
              <a:ext uri="{FF2B5EF4-FFF2-40B4-BE49-F238E27FC236}">
                <a16:creationId xmlns:a16="http://schemas.microsoft.com/office/drawing/2014/main" id="{0D17CEBF-1922-4EF2-BD48-96E2146B5FA5}"/>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fit learns from training inputs and targets. predict uses the fitted rule on new inputs without receiving their true targets.</a:t>
            </a:r>
          </a:p>
        </p:txBody>
      </p:sp>
      <p:sp>
        <p:nvSpPr>
          <p:cNvPr id="7" name="">
            <a:extLst xmlns:a="http://schemas.openxmlformats.org/drawingml/2006/main">
              <a:ext uri="{FF2B5EF4-FFF2-40B4-BE49-F238E27FC236}">
                <a16:creationId xmlns:a16="http://schemas.microsoft.com/office/drawing/2014/main" id="{A3DEE6CC-DC40-46A4-9051-760937E950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19</a:t>
            </a:r>
          </a:p>
        </p:txBody>
      </p:sp>
    </p:spTree>
    <p:extLst>
      <p:ext uri="{BB962C8B-B14F-4D97-AF65-F5344CB8AC3E}">
        <p14:creationId xmlns:p14="http://schemas.microsoft.com/office/powerpoint/2010/main" val="162967845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5EEDE45-8A37-4DD1-8D1C-85B2848EB6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EAAF98-7A16-4ED6-9D54-9C62295BB57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D75F43E-CEBF-47BC-96B8-2469D9AAC3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model object keeps learned information</a:t>
            </a:r>
          </a:p>
        </p:txBody>
      </p:sp>
      <p:sp>
        <p:nvSpPr>
          <p:cNvPr id="4" name="">
            <a:extLst xmlns:a="http://schemas.openxmlformats.org/drawingml/2006/main">
              <a:ext uri="{FF2B5EF4-FFF2-40B4-BE49-F238E27FC236}">
                <a16:creationId xmlns:a16="http://schemas.microsoft.com/office/drawing/2014/main" id="{35141DAB-464E-4D32-AD59-D6D4CC8B515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881F377-C89D-4A4F-9BA9-CBB3BEF11E9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Object and method</a:t>
            </a:r>
          </a:p>
        </p:txBody>
      </p:sp>
      <p:sp>
        <p:nvSpPr>
          <p:cNvPr id="6" name="">
            <a:extLst xmlns:a="http://schemas.openxmlformats.org/drawingml/2006/main">
              <a:ext uri="{FF2B5EF4-FFF2-40B4-BE49-F238E27FC236}">
                <a16:creationId xmlns:a16="http://schemas.microsoft.com/office/drawing/2014/main" id="{18FA46EB-64E4-4C09-AE6E-88085C2A9DB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LinearRegression() creates a model object. A method is an operation on that object. model.fit(...) stores learned information; model.predict(...) uses it.</a:t>
            </a:r>
          </a:p>
        </p:txBody>
      </p:sp>
      <p:sp>
        <p:nvSpPr>
          <p:cNvPr id="7" name="">
            <a:extLst xmlns:a="http://schemas.openxmlformats.org/drawingml/2006/main">
              <a:ext uri="{FF2B5EF4-FFF2-40B4-BE49-F238E27FC236}">
                <a16:creationId xmlns:a16="http://schemas.microsoft.com/office/drawing/2014/main" id="{FEBA25D3-ECFC-45E1-8F85-0CB405E2726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872A562-3F4E-4E37-9283-5F8687C5EBCC}"/>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Options</a:t>
            </a:r>
          </a:p>
        </p:txBody>
      </p:sp>
      <p:sp>
        <p:nvSpPr>
          <p:cNvPr id="9" name="">
            <a:extLst xmlns:a="http://schemas.openxmlformats.org/drawingml/2006/main">
              <a:ext uri="{FF2B5EF4-FFF2-40B4-BE49-F238E27FC236}">
                <a16:creationId xmlns:a16="http://schemas.microsoft.com/office/drawing/2014/main" id="{D8792C6F-6557-4726-AFE9-802DB7FBE5B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 argument such as strategy="mean" names an option. A random seed fixes the starting state of random choices; it does not prove that a model is accurate.</a:t>
            </a:r>
          </a:p>
        </p:txBody>
      </p:sp>
      <p:sp>
        <p:nvSpPr>
          <p:cNvPr id="10" name="">
            <a:extLst xmlns:a="http://schemas.openxmlformats.org/drawingml/2006/main">
              <a:ext uri="{FF2B5EF4-FFF2-40B4-BE49-F238E27FC236}">
                <a16:creationId xmlns:a16="http://schemas.microsoft.com/office/drawing/2014/main" id="{67A26E1C-DDA9-497A-A441-9AB3093A5D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20</a:t>
            </a:r>
          </a:p>
        </p:txBody>
      </p:sp>
    </p:spTree>
    <p:extLst>
      <p:ext uri="{BB962C8B-B14F-4D97-AF65-F5344CB8AC3E}">
        <p14:creationId xmlns:p14="http://schemas.microsoft.com/office/powerpoint/2010/main" val="37119797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E839EBA-82B7-4253-999E-2EA6D7A961D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04F9074-56EC-40AE-84A3-874EB6E150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08CB8BD-1FF9-4BDB-A99C-B6BF4F0F42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object remembers its fitted state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Python 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What it means</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model = LinearRegression()</a:t>
                      </a:r>
                    </a:p>
                  </a:txBody>
                  <a:tcPr marL="91440" marR="91440" marT="45720" marB="45720">
                    <a:solidFill>
                      <a:srgbClr val="EEF3F6"/>
                    </a:solidFill>
                  </a:tcPr>
                </a:tc>
                <a:tc>
                  <a:txBody>
                    <a:bodyPr/>
                    <a:lstStyle/>
                    <a:p>
                      <a:r>
                        <a:rPr sz="2025" b="0">
                          <a:solidFill>
                            <a:srgbClr val="1C3144"/>
                          </a:solidFill>
                          <a:latin typeface="Calibri"/>
                          <a:ea typeface="Calibri"/>
                          <a:cs typeface="Calibri"/>
                        </a:rPr>
                        <a:t>Create an unfitted model object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model.fit(X_train, y_train)</a:t>
                      </a:r>
                    </a:p>
                  </a:txBody>
                  <a:tcPr marL="91440" marR="91440" marT="45720" marB="45720">
                    <a:solidFill>
                      <a:srgbClr val="FFFFFF"/>
                    </a:solidFill>
                  </a:tcPr>
                </a:tc>
                <a:tc>
                  <a:txBody>
                    <a:bodyPr/>
                    <a:lstStyle/>
                    <a:p>
                      <a:r>
                        <a:rPr sz="2025" b="0">
                          <a:solidFill>
                            <a:srgbClr val="1C3144"/>
                          </a:solidFill>
                          <a:latin typeface="Calibri"/>
                          <a:ea typeface="Calibri"/>
                          <a:cs typeface="Calibri"/>
                        </a:rPr>
                        <a:t>Learn from paired training data</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model.predict(X_new)</a:t>
                      </a:r>
                    </a:p>
                  </a:txBody>
                  <a:tcPr marL="91440" marR="91440" marT="45720" marB="45720">
                    <a:solidFill>
                      <a:srgbClr val="EEF3F6"/>
                    </a:solidFill>
                  </a:tcPr>
                </a:tc>
                <a:tc>
                  <a:txBody>
                    <a:bodyPr/>
                    <a:lstStyle/>
                    <a:p>
                      <a:r>
                        <a:rPr sz="2025" b="0">
                          <a:solidFill>
                            <a:srgbClr val="1C3144"/>
                          </a:solidFill>
                          <a:latin typeface="Calibri"/>
                          <a:ea typeface="Calibri"/>
                          <a:cs typeface="Calibri"/>
                        </a:rPr>
                        <a:t>Use that learned state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random_state=17</a:t>
                      </a:r>
                    </a:p>
                  </a:txBody>
                  <a:tcPr marL="91440" marR="91440" marT="45720" marB="45720">
                    <a:solidFill>
                      <a:srgbClr val="FFFFFF"/>
                    </a:solidFill>
                  </a:tcPr>
                </a:tc>
                <a:tc>
                  <a:txBody>
                    <a:bodyPr/>
                    <a:lstStyle/>
                    <a:p>
                      <a:r>
                        <a:rPr sz="2025" b="0">
                          <a:solidFill>
                            <a:srgbClr val="1C3144"/>
                          </a:solidFill>
                          <a:latin typeface="Calibri"/>
                          <a:ea typeface="Calibri"/>
                          <a:cs typeface="Calibri"/>
                        </a:rPr>
                        <a:t>Name an option and set its value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0097AEA-D7A3-43A9-9AE3-57FCDC9584EA}"/>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object holds state and has methods. A method is a function used through that object.</a:t>
            </a:r>
          </a:p>
        </p:txBody>
      </p:sp>
      <p:sp>
        <p:nvSpPr>
          <p:cNvPr id="6" name="">
            <a:extLst xmlns:a="http://schemas.openxmlformats.org/drawingml/2006/main">
              <a:ext uri="{FF2B5EF4-FFF2-40B4-BE49-F238E27FC236}">
                <a16:creationId xmlns:a16="http://schemas.microsoft.com/office/drawing/2014/main" id="{D3372AE2-5A94-4114-BF78-4C613A5C63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21</a:t>
            </a:r>
          </a:p>
        </p:txBody>
      </p:sp>
    </p:spTree>
    <p:extLst>
      <p:ext uri="{BB962C8B-B14F-4D97-AF65-F5344CB8AC3E}">
        <p14:creationId xmlns:p14="http://schemas.microsoft.com/office/powerpoint/2010/main" val="101361474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5C6E598-F3DB-42C9-8FBD-75786DC083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24CBB05-F62E-4AEC-BA72-C3E408C679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4D2F019-736A-46E2-A095-8AB9018351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fitting and predicting</a:t>
            </a:r>
          </a:p>
        </p:txBody>
      </p:sp>
      <p:sp>
        <p:nvSpPr>
          <p:cNvPr id="4" name="">
            <a:extLst xmlns:a="http://schemas.openxmlformats.org/drawingml/2006/main">
              <a:ext uri="{FF2B5EF4-FFF2-40B4-BE49-F238E27FC236}">
                <a16:creationId xmlns:a16="http://schemas.microsoft.com/office/drawing/2014/main" id="{E0E37689-D3C4-4000-B110-F5CFFEE2E03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E6659B3-2033-4F18-91DA-E97ACD427D4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LinearRegression() creates a model that has not learned yet.</a:t>
            </a:r>
          </a:p>
        </p:txBody>
      </p:sp>
      <p:sp>
        <p:nvSpPr>
          <p:cNvPr id="6" name="">
            <a:extLst xmlns:a="http://schemas.openxmlformats.org/drawingml/2006/main">
              <a:ext uri="{FF2B5EF4-FFF2-40B4-BE49-F238E27FC236}">
                <a16:creationId xmlns:a16="http://schemas.microsoft.com/office/drawing/2014/main" id="{C297FA5A-95BF-41ED-A984-FE0AB7F1EA5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B903CA4-8DAE-4CDC-8480-67A46B02E02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fit(X_train, y_train) learns from paired training examples.</a:t>
            </a:r>
          </a:p>
        </p:txBody>
      </p:sp>
      <p:sp>
        <p:nvSpPr>
          <p:cNvPr id="8" name="">
            <a:extLst xmlns:a="http://schemas.openxmlformats.org/drawingml/2006/main">
              <a:ext uri="{FF2B5EF4-FFF2-40B4-BE49-F238E27FC236}">
                <a16:creationId xmlns:a16="http://schemas.microsoft.com/office/drawing/2014/main" id="{0C5517EC-50F2-4287-B62C-50F690EBB7D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1F186E9-8CB7-4AB7-B3E1-CB3CEA8EA9A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predict(new_inputs) returns estimates. The actual targets are absent from new_inputs.</a:t>
            </a:r>
          </a:p>
        </p:txBody>
      </p:sp>
      <p:sp>
        <p:nvSpPr>
          <p:cNvPr id="10" name="">
            <a:extLst xmlns:a="http://schemas.openxmlformats.org/drawingml/2006/main">
              <a:ext uri="{FF2B5EF4-FFF2-40B4-BE49-F238E27FC236}">
                <a16:creationId xmlns:a16="http://schemas.microsoft.com/office/drawing/2014/main" id="{F9296CF9-66B4-4209-9EAD-724ED9F6B1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22</a:t>
            </a:r>
          </a:p>
        </p:txBody>
      </p:sp>
    </p:spTree>
    <p:extLst>
      <p:ext uri="{BB962C8B-B14F-4D97-AF65-F5344CB8AC3E}">
        <p14:creationId xmlns:p14="http://schemas.microsoft.com/office/powerpoint/2010/main" val="102284574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A814D69-47C6-4F09-B504-6027A1F9E9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FB31CB5-5098-4722-A2DA-2B6AF09771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206AF7E-B419-4461-9741-20886DBBE7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Where the modelling tools come from</a:t>
            </a:r>
          </a:p>
        </p:txBody>
      </p:sp>
      <p:sp>
        <p:nvSpPr>
          <p:cNvPr id="4" name="">
            <a:extLst xmlns:a="http://schemas.openxmlformats.org/drawingml/2006/main">
              <a:ext uri="{FF2B5EF4-FFF2-40B4-BE49-F238E27FC236}">
                <a16:creationId xmlns:a16="http://schemas.microsoft.com/office/drawing/2014/main" id="{B29F28C2-F81A-41FA-9DD3-E3B4FA04CDE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E4319BE-3711-4D8D-8E4C-61763310F7B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scikit-learn is an installed machine-learning library. Its Python import name is sklearn. linear_model is the part containing LinearRegression.</a:t>
            </a:r>
          </a:p>
        </p:txBody>
      </p:sp>
      <p:sp>
        <p:nvSpPr>
          <p:cNvPr id="6" name="">
            <a:extLst xmlns:a="http://schemas.openxmlformats.org/drawingml/2006/main">
              <a:ext uri="{FF2B5EF4-FFF2-40B4-BE49-F238E27FC236}">
                <a16:creationId xmlns:a16="http://schemas.microsoft.com/office/drawing/2014/main" id="{B3CB0D60-6D80-4423-9790-5E6BABB702E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66C1543-FF93-4844-806E-0E777CF87F3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from sklearn.linear_model import LinearRegression makes that model class available. LinearRegression() creates an individual model object.</a:t>
            </a:r>
          </a:p>
        </p:txBody>
      </p:sp>
      <p:sp>
        <p:nvSpPr>
          <p:cNvPr id="8" name="">
            <a:extLst xmlns:a="http://schemas.openxmlformats.org/drawingml/2006/main">
              <a:ext uri="{FF2B5EF4-FFF2-40B4-BE49-F238E27FC236}">
                <a16:creationId xmlns:a16="http://schemas.microsoft.com/office/drawing/2014/main" id="{8E692DBE-8927-4DA7-B410-A5A8D7A8C98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C595F24-AD86-4B66-A835-7764C9F48E1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this library is normally available. If an import fails, use the course setup instructions and retry the import before running model code.</a:t>
            </a:r>
          </a:p>
        </p:txBody>
      </p:sp>
      <p:sp>
        <p:nvSpPr>
          <p:cNvPr id="10" name="">
            <a:extLst xmlns:a="http://schemas.openxmlformats.org/drawingml/2006/main">
              <a:ext uri="{FF2B5EF4-FFF2-40B4-BE49-F238E27FC236}">
                <a16:creationId xmlns:a16="http://schemas.microsoft.com/office/drawing/2014/main" id="{5570F9BF-28F4-401C-A614-1CC2A7D158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23</a:t>
            </a:r>
          </a:p>
        </p:txBody>
      </p:sp>
    </p:spTree>
    <p:extLst>
      <p:ext uri="{BB962C8B-B14F-4D97-AF65-F5344CB8AC3E}">
        <p14:creationId xmlns:p14="http://schemas.microsoft.com/office/powerpoint/2010/main" val="213209907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1CCE629-AAA9-4BD0-9CB8-F0A0115EB9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54E1A2E-F381-42F8-BBAB-DA8D39D5A6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0051E6E-8EAB-4906-8093-81A53BE673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in Python</a:t>
            </a:r>
          </a:p>
        </p:txBody>
      </p:sp>
      <p:sp>
        <p:nvSpPr>
          <p:cNvPr id="4" name="">
            <a:extLst xmlns:a="http://schemas.openxmlformats.org/drawingml/2006/main">
              <a:ext uri="{FF2B5EF4-FFF2-40B4-BE49-F238E27FC236}">
                <a16:creationId xmlns:a16="http://schemas.microsoft.com/office/drawing/2014/main" id="{87E31BBE-F845-4019-BD1C-00E137AC992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A750BA1-8D67-4EE3-B8C8-CFD3DE3134B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sklearn.linear_model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X_train = [[1], [2], [3],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y_train = [12, 14, 16, 18]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new_inputs = [[2.5]]</a:t>
            </a:r>
          </a:p>
        </p:txBody>
      </p:sp>
      <p:sp>
        <p:nvSpPr>
          <p:cNvPr id="6" name="">
            <a:extLst xmlns:a="http://schemas.openxmlformats.org/drawingml/2006/main">
              <a:ext uri="{FF2B5EF4-FFF2-40B4-BE49-F238E27FC236}">
                <a16:creationId xmlns:a16="http://schemas.microsoft.com/office/drawing/2014/main" id="{E78AA9F1-610A-4F6D-8E24-DEB4772D909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298B11E5-4E34-4FEE-BCC0-52CA6CFC0AA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C0F48351-CBB4-48D3-BF9A-EBB23509DE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24</a:t>
            </a:r>
          </a:p>
        </p:txBody>
      </p:sp>
    </p:spTree>
    <p:extLst>
      <p:ext uri="{BB962C8B-B14F-4D97-AF65-F5344CB8AC3E}">
        <p14:creationId xmlns:p14="http://schemas.microsoft.com/office/powerpoint/2010/main" val="200190141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11B401F-DD6E-473F-A0A1-5CAD08B283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9F7043-233A-4332-BC26-C376409B34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1D313C4-D7EB-40C9-B33E-FE3894EB66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in Python continued</a:t>
            </a:r>
          </a:p>
        </p:txBody>
      </p:sp>
      <p:sp>
        <p:nvSpPr>
          <p:cNvPr id="4" name="">
            <a:extLst xmlns:a="http://schemas.openxmlformats.org/drawingml/2006/main">
              <a:ext uri="{FF2B5EF4-FFF2-40B4-BE49-F238E27FC236}">
                <a16:creationId xmlns:a16="http://schemas.microsoft.com/office/drawing/2014/main" id="{D794F606-C368-4A00-B55E-79B6B6F50F8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11D855-9200-44B6-9160-60D1A854274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model.fit(X_train, y_train)</a:t>
            </a:r>
          </a:p>
        </p:txBody>
      </p:sp>
      <p:sp>
        <p:nvSpPr>
          <p:cNvPr id="6" name="">
            <a:extLst xmlns:a="http://schemas.openxmlformats.org/drawingml/2006/main">
              <a:ext uri="{FF2B5EF4-FFF2-40B4-BE49-F238E27FC236}">
                <a16:creationId xmlns:a16="http://schemas.microsoft.com/office/drawing/2014/main" id="{7B86328A-5640-4719-80FE-96FFD6C1EFB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52C6497-AF0C-4F5C-ABB3-800ACDA4FC0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fit learns using the supplied training observations.</a:t>
            </a:r>
          </a:p>
        </p:txBody>
      </p:sp>
      <p:sp>
        <p:nvSpPr>
          <p:cNvPr id="8" name="">
            <a:extLst xmlns:a="http://schemas.openxmlformats.org/drawingml/2006/main">
              <a:ext uri="{FF2B5EF4-FFF2-40B4-BE49-F238E27FC236}">
                <a16:creationId xmlns:a16="http://schemas.microsoft.com/office/drawing/2014/main" id="{7CFCE9D5-E41E-438A-9D50-A3D5AA4E010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8A035868-4585-4324-9550-AF4C7CD0F75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DA75ABE4-947F-4E3C-B5A3-18D2DADA26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25</a:t>
            </a:r>
          </a:p>
        </p:txBody>
      </p:sp>
    </p:spTree>
    <p:extLst>
      <p:ext uri="{BB962C8B-B14F-4D97-AF65-F5344CB8AC3E}">
        <p14:creationId xmlns:p14="http://schemas.microsoft.com/office/powerpoint/2010/main" val="21758208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A50762B-3CBE-471A-935C-EBB28375AD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C2B0E4-589B-46B9-81E2-93C9C8F23F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423B6D5-B736-4261-A0D1-DBEA585B09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in Python continued</a:t>
            </a:r>
          </a:p>
        </p:txBody>
      </p:sp>
      <p:sp>
        <p:nvSpPr>
          <p:cNvPr id="4" name="">
            <a:extLst xmlns:a="http://schemas.openxmlformats.org/drawingml/2006/main">
              <a:ext uri="{FF2B5EF4-FFF2-40B4-BE49-F238E27FC236}">
                <a16:creationId xmlns:a16="http://schemas.microsoft.com/office/drawing/2014/main" id="{056CF3AA-12C7-486F-9FCE-19BE6B06144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70B70B-A370-4A1E-A7CE-370CA4DFC75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predictions = model.predict(new_inputs)</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print(predictions.round(2).tolist())</a:t>
            </a:r>
          </a:p>
        </p:txBody>
      </p:sp>
      <p:sp>
        <p:nvSpPr>
          <p:cNvPr id="6" name="">
            <a:extLst xmlns:a="http://schemas.openxmlformats.org/drawingml/2006/main">
              <a:ext uri="{FF2B5EF4-FFF2-40B4-BE49-F238E27FC236}">
                <a16:creationId xmlns:a16="http://schemas.microsoft.com/office/drawing/2014/main" id="{F6B02F92-D11E-4283-B09F-D1F71F753F9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52045D6-51F7-4E9D-B9BF-E184BE2491D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 applies the fitted model to new inputs.</a:t>
            </a:r>
          </a:p>
        </p:txBody>
      </p:sp>
      <p:sp>
        <p:nvSpPr>
          <p:cNvPr id="8" name="">
            <a:extLst xmlns:a="http://schemas.openxmlformats.org/drawingml/2006/main">
              <a:ext uri="{FF2B5EF4-FFF2-40B4-BE49-F238E27FC236}">
                <a16:creationId xmlns:a16="http://schemas.microsoft.com/office/drawing/2014/main" id="{7A593A0C-EDCD-43A0-A788-52117550846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4760E204-C181-4268-A0A5-A15E59BB607F}"/>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4FDCD712-5908-4984-A8C3-9DB60DF7C4C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074E9705-4366-488D-ADAD-E03A8F6614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26</a:t>
            </a:r>
          </a:p>
        </p:txBody>
      </p:sp>
    </p:spTree>
    <p:extLst>
      <p:ext uri="{BB962C8B-B14F-4D97-AF65-F5344CB8AC3E}">
        <p14:creationId xmlns:p14="http://schemas.microsoft.com/office/powerpoint/2010/main" val="87896079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D96A102-EC19-4AA0-80F6-C381111B5F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E40859E-A2B6-4BF0-9B30-4DC05D8906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837F951E-B30B-480E-8B6E-D41537B4FF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results</a:t>
            </a:r>
          </a:p>
        </p:txBody>
      </p:sp>
      <p:sp>
        <p:nvSpPr>
          <p:cNvPr id="4" name="">
            <a:extLst xmlns:a="http://schemas.openxmlformats.org/drawingml/2006/main">
              <a:ext uri="{FF2B5EF4-FFF2-40B4-BE49-F238E27FC236}">
                <a16:creationId xmlns:a16="http://schemas.microsoft.com/office/drawing/2014/main" id="{B2DAC7CD-CB84-4659-8F72-49CE338BD2FC}"/>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CE957C3-A220-4FB8-AE18-CFC40F14C157}"/>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[15.0]</a:t>
            </a:r>
          </a:p>
        </p:txBody>
      </p:sp>
      <p:sp>
        <p:nvSpPr>
          <p:cNvPr id="6" name="">
            <a:extLst xmlns:a="http://schemas.openxmlformats.org/drawingml/2006/main">
              <a:ext uri="{FF2B5EF4-FFF2-40B4-BE49-F238E27FC236}">
                <a16:creationId xmlns:a16="http://schemas.microsoft.com/office/drawing/2014/main" id="{FA903493-545A-475D-A96E-28FA2DE73199}"/>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A75B3D0B-7C2B-4F4A-B77D-4F94C39289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27</a:t>
            </a:r>
          </a:p>
        </p:txBody>
      </p:sp>
    </p:spTree>
    <p:extLst>
      <p:ext uri="{BB962C8B-B14F-4D97-AF65-F5344CB8AC3E}">
        <p14:creationId xmlns:p14="http://schemas.microsoft.com/office/powerpoint/2010/main" val="1608120781"/>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99C23BB-24C9-4A3F-A1E6-122BA6D815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F4F5997-16ED-45CF-9DFB-0926ABE761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DDEFD88-10F3-4CD0-8548-7B6EEDB9932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mean baseline</a:t>
            </a:r>
          </a:p>
        </p:txBody>
      </p:sp>
      <p:sp>
        <p:nvSpPr>
          <p:cNvPr id="4" name="">
            <a:extLst xmlns:a="http://schemas.openxmlformats.org/drawingml/2006/main">
              <a:ext uri="{FF2B5EF4-FFF2-40B4-BE49-F238E27FC236}">
                <a16:creationId xmlns:a16="http://schemas.microsoft.com/office/drawing/2014/main" id="{C2434FF8-2048-4118-8867-E6F9D18DA41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5E8067D-2AF2-4795-BA7D-98002E48139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training data.</a:t>
            </a:r>
          </a:p>
        </p:txBody>
      </p:sp>
      <p:sp>
        <p:nvSpPr>
          <p:cNvPr id="6" name="">
            <a:extLst xmlns:a="http://schemas.openxmlformats.org/drawingml/2006/main">
              <a:ext uri="{FF2B5EF4-FFF2-40B4-BE49-F238E27FC236}">
                <a16:creationId xmlns:a16="http://schemas.microsoft.com/office/drawing/2014/main" id="{31E0648B-5941-4284-95B9-D32B167223E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4799CC9-E92F-4027-80BB-75C7B140F58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baseline learns their mean, 15, and predicts it for every input.</a:t>
            </a:r>
          </a:p>
        </p:txBody>
      </p:sp>
      <p:sp>
        <p:nvSpPr>
          <p:cNvPr id="8" name="">
            <a:extLst xmlns:a="http://schemas.openxmlformats.org/drawingml/2006/main">
              <a:ext uri="{FF2B5EF4-FFF2-40B4-BE49-F238E27FC236}">
                <a16:creationId xmlns:a16="http://schemas.microsoft.com/office/drawing/2014/main" id="{1EBE4EDD-9034-48B5-B9AC-2DAFE806390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E93E718-99B6-47EE-AD24-B2BC78DF47B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gives a simple comparison before claiming the line helps.</a:t>
            </a:r>
          </a:p>
        </p:txBody>
      </p:sp>
      <p:sp>
        <p:nvSpPr>
          <p:cNvPr id="10" name="">
            <a:extLst xmlns:a="http://schemas.openxmlformats.org/drawingml/2006/main">
              <a:ext uri="{FF2B5EF4-FFF2-40B4-BE49-F238E27FC236}">
                <a16:creationId xmlns:a16="http://schemas.microsoft.com/office/drawing/2014/main" id="{A82D01EB-77C6-4049-8681-AC27125B7E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28</a:t>
            </a:r>
          </a:p>
        </p:txBody>
      </p:sp>
    </p:spTree>
    <p:extLst>
      <p:ext uri="{BB962C8B-B14F-4D97-AF65-F5344CB8AC3E}">
        <p14:creationId xmlns:p14="http://schemas.microsoft.com/office/powerpoint/2010/main" val="155665060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20A3C9D-3418-49A9-B361-13BF7918DB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C3953A-6FF7-4E51-B0A9-E646E532CE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1C92D20-366F-4E75-A3BC-62ECEF997B7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mean baseline in Python</a:t>
            </a:r>
          </a:p>
        </p:txBody>
      </p:sp>
      <p:sp>
        <p:nvSpPr>
          <p:cNvPr id="4" name="">
            <a:extLst xmlns:a="http://schemas.openxmlformats.org/drawingml/2006/main">
              <a:ext uri="{FF2B5EF4-FFF2-40B4-BE49-F238E27FC236}">
                <a16:creationId xmlns:a16="http://schemas.microsoft.com/office/drawing/2014/main" id="{3061AA27-200E-4951-BAE6-0822C1EC5A2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28B9E3-D129-432B-8421-F7385FA7376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FB080"/>
                </a:solidFill>
                <a:latin typeface="Courier New"/>
                <a:ea typeface="Courier New"/>
                <a:cs typeface="Courier New"/>
              </a:rPr>
              <a:t>from</a:t>
            </a:r>
            <a:r>
              <a:rPr sz="1900" b="0">
                <a:solidFill>
                  <a:srgbClr val="F4F7FA"/>
                </a:solidFill>
                <a:latin typeface="Courier New"/>
                <a:ea typeface="Courier New"/>
                <a:cs typeface="Courier New"/>
              </a:rPr>
              <a:t> sklearn.dummy </a:t>
            </a:r>
            <a:r>
              <a:rPr sz="1900" b="0">
                <a:solidFill>
                  <a:srgbClr val="FFB080"/>
                </a:solidFill>
                <a:latin typeface="Courier New"/>
                <a:ea typeface="Courier New"/>
                <a:cs typeface="Courier New"/>
              </a:rPr>
              <a:t>import</a:t>
            </a:r>
            <a:r>
              <a:rPr sz="1900" b="0">
                <a:solidFill>
                  <a:srgbClr val="F4F7FA"/>
                </a:solidFill>
                <a:latin typeface="Courier New"/>
                <a:ea typeface="Courier New"/>
                <a:cs typeface="Courier New"/>
              </a:rPr>
              <a:t> DummyRegressor</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baseline = DummyRegressor(strategy="mean")</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baseline.fit(X_train, y_train)</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print(baseline.predict(new_inputs).tolist())</a:t>
            </a:r>
          </a:p>
        </p:txBody>
      </p:sp>
      <p:sp>
        <p:nvSpPr>
          <p:cNvPr id="6" name="">
            <a:extLst xmlns:a="http://schemas.openxmlformats.org/drawingml/2006/main">
              <a:ext uri="{FF2B5EF4-FFF2-40B4-BE49-F238E27FC236}">
                <a16:creationId xmlns:a16="http://schemas.microsoft.com/office/drawing/2014/main" id="{46C9DA30-26D0-41CC-964C-91B91B40BE0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471B685-7EBB-43BA-AD09-A89B7F63DC8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528FC788-0693-41D6-B2D4-992D1C3C6D7E}"/>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fit learns using the supplied training observations.</a:t>
            </a:r>
          </a:p>
        </p:txBody>
      </p:sp>
      <p:sp>
        <p:nvSpPr>
          <p:cNvPr id="9" name="">
            <a:extLst xmlns:a="http://schemas.openxmlformats.org/drawingml/2006/main">
              <a:ext uri="{FF2B5EF4-FFF2-40B4-BE49-F238E27FC236}">
                <a16:creationId xmlns:a16="http://schemas.microsoft.com/office/drawing/2014/main" id="{CD25CA98-3C74-4332-BD42-5B07B3BECF6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 applies the fitted model to new inputs.</a:t>
            </a:r>
          </a:p>
        </p:txBody>
      </p:sp>
      <p:sp>
        <p:nvSpPr>
          <p:cNvPr id="10" name="">
            <a:extLst xmlns:a="http://schemas.openxmlformats.org/drawingml/2006/main">
              <a:ext uri="{FF2B5EF4-FFF2-40B4-BE49-F238E27FC236}">
                <a16:creationId xmlns:a16="http://schemas.microsoft.com/office/drawing/2014/main" id="{32E7A84C-BCE9-4F72-BC4C-32B3F9E10CF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0DD8CCFA-089A-4403-B684-FB56879F15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29</a:t>
            </a:r>
          </a:p>
        </p:txBody>
      </p:sp>
    </p:spTree>
    <p:extLst>
      <p:ext uri="{BB962C8B-B14F-4D97-AF65-F5344CB8AC3E}">
        <p14:creationId xmlns:p14="http://schemas.microsoft.com/office/powerpoint/2010/main" val="81445053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F33BAF5-6608-43A1-8CE6-CD8C1EB1C5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A099F23-313B-4169-9071-676B9CF731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CF6D328-FF14-4F32-B71C-4DF67E271A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small regression tree</a:t>
            </a:r>
          </a:p>
        </p:txBody>
      </p:sp>
      <p:sp>
        <p:nvSpPr>
          <p:cNvPr id="4" name="">
            <a:extLst xmlns:a="http://schemas.openxmlformats.org/drawingml/2006/main">
              <a:ext uri="{FF2B5EF4-FFF2-40B4-BE49-F238E27FC236}">
                <a16:creationId xmlns:a16="http://schemas.microsoft.com/office/drawing/2014/main" id="{5BC93703-0A62-44E4-B6AA-58C6A9C1875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4CE4AA5-4B22-4FDC-B95F-E2AB58CF319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tree learns threshold questions from the training inputs.</a:t>
            </a:r>
          </a:p>
        </p:txBody>
      </p:sp>
      <p:sp>
        <p:nvSpPr>
          <p:cNvPr id="6" name="">
            <a:extLst xmlns:a="http://schemas.openxmlformats.org/drawingml/2006/main">
              <a:ext uri="{FF2B5EF4-FFF2-40B4-BE49-F238E27FC236}">
                <a16:creationId xmlns:a16="http://schemas.microsoft.com/office/drawing/2014/main" id="{B44490B8-2032-4962-A971-09B1174CB04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7CC150-1CE1-4A7B-9B2F-AED348210E0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final group, or leaf, predicts a target value.</a:t>
            </a:r>
          </a:p>
        </p:txBody>
      </p:sp>
      <p:sp>
        <p:nvSpPr>
          <p:cNvPr id="8" name="">
            <a:extLst xmlns:a="http://schemas.openxmlformats.org/drawingml/2006/main">
              <a:ext uri="{FF2B5EF4-FFF2-40B4-BE49-F238E27FC236}">
                <a16:creationId xmlns:a16="http://schemas.microsoft.com/office/drawing/2014/main" id="{97CAEFF4-2FD0-48C7-ADFC-AD6C29852E7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475C2EF-C3FF-4BE1-9817-67C60112FAF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tree returns 14 for input 2.5 in this toy example. max_depth limits the number of successive decisions. random_state fixes the random seed.</a:t>
            </a:r>
          </a:p>
        </p:txBody>
      </p:sp>
      <p:sp>
        <p:nvSpPr>
          <p:cNvPr id="10" name="">
            <a:extLst xmlns:a="http://schemas.openxmlformats.org/drawingml/2006/main">
              <a:ext uri="{FF2B5EF4-FFF2-40B4-BE49-F238E27FC236}">
                <a16:creationId xmlns:a16="http://schemas.microsoft.com/office/drawing/2014/main" id="{AD4CC454-7CFF-485F-877C-4E83EA3800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30</a:t>
            </a:r>
          </a:p>
        </p:txBody>
      </p:sp>
    </p:spTree>
    <p:extLst>
      <p:ext uri="{BB962C8B-B14F-4D97-AF65-F5344CB8AC3E}">
        <p14:creationId xmlns:p14="http://schemas.microsoft.com/office/powerpoint/2010/main" val="1377509756"/>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FFFE0D8-DCB9-4F7C-B951-DA222EB10A4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701B15-EF2A-4FDD-9B34-45280AE4DF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3B3FBA4-C6BD-40B5-B583-43DAC77983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 regression-tree prediction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Input or 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Path for input 2.5</a:t>
                      </a:r>
                    </a:p>
                  </a:txBody>
                  <a:tcPr marL="91440" marR="91440" marT="45720" marB="45720">
                    <a:solidFill>
                      <a:srgbClr val="2E7D6F"/>
                    </a:solidFill>
                  </a:tcPr>
                </a:tc>
                <a:tc>
                  <a:txBody>
                    <a:bodyPr/>
                    <a:lstStyle/>
                    <a:p>
                      <a:r>
                        <a:rPr sz="2025" b="1">
                          <a:solidFill>
                            <a:srgbClr val="FFFFFF"/>
                          </a:solidFill>
                          <a:latin typeface="Calibri"/>
                          <a:ea typeface="Calibri"/>
                          <a:cs typeface="Calibri"/>
                        </a:rPr>
                        <a:t>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Is input at most 2.5?</a:t>
                      </a:r>
                    </a:p>
                  </a:txBody>
                  <a:tcPr marL="91440" marR="91440" marT="45720" marB="45720">
                    <a:solidFill>
                      <a:srgbClr val="EEF3F6"/>
                    </a:solidFill>
                  </a:tcPr>
                </a:tc>
                <a:tc>
                  <a:txBody>
                    <a:bodyPr/>
                    <a:lstStyle/>
                    <a:p>
                      <a:r>
                        <a:rPr sz="2025" b="0">
                          <a:solidFill>
                            <a:srgbClr val="1C3144"/>
                          </a:solidFill>
                          <a:latin typeface="Calibri"/>
                          <a:ea typeface="Calibri"/>
                          <a:cs typeface="Calibri"/>
                        </a:rPr>
                        <a:t>Yes: use the lower group</a:t>
                      </a:r>
                    </a:p>
                  </a:txBody>
                  <a:tcPr marL="91440" marR="91440" marT="45720" marB="45720">
                    <a:solidFill>
                      <a:srgbClr val="EEF3F6"/>
                    </a:solidFill>
                  </a:tcPr>
                </a:tc>
                <a:tc>
                  <a:txBody>
                    <a:bodyPr/>
                    <a:lstStyle/>
                    <a:p>
                      <a:r>
                        <a:rPr sz="2025" b="0">
                          <a:solidFill>
                            <a:srgbClr val="1C3144"/>
                          </a:solidFill>
                          <a:latin typeface="Calibri"/>
                          <a:ea typeface="Calibri"/>
                          <a:cs typeface="Calibri"/>
                        </a:rPr>
                        <a:t>Continue within that group</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Is input at most 1.5?</a:t>
                      </a:r>
                    </a:p>
                  </a:txBody>
                  <a:tcPr marL="91440" marR="91440" marT="45720" marB="45720">
                    <a:solidFill>
                      <a:srgbClr val="FFFFFF"/>
                    </a:solidFill>
                  </a:tcPr>
                </a:tc>
                <a:tc>
                  <a:txBody>
                    <a:bodyPr/>
                    <a:lstStyle/>
                    <a:p>
                      <a:r>
                        <a:rPr sz="2025" b="0">
                          <a:solidFill>
                            <a:srgbClr val="1C3144"/>
                          </a:solidFill>
                          <a:latin typeface="Calibri"/>
                          <a:ea typeface="Calibri"/>
                          <a:cs typeface="Calibri"/>
                        </a:rPr>
                        <a:t>No: use its upper leaf</a:t>
                      </a:r>
                    </a:p>
                  </a:txBody>
                  <a:tcPr marL="91440" marR="91440" marT="45720" marB="45720">
                    <a:solidFill>
                      <a:srgbClr val="FFFFFF"/>
                    </a:solidFill>
                  </a:tcPr>
                </a:tc>
                <a:tc>
                  <a:txBody>
                    <a:bodyPr/>
                    <a:lstStyle/>
                    <a:p>
                      <a:r>
                        <a:rPr sz="2025" b="0">
                          <a:solidFill>
                            <a:srgbClr val="1C3144"/>
                          </a:solidFill>
                          <a:latin typeface="Calibri"/>
                          <a:ea typeface="Calibri"/>
                          <a:cs typeface="Calibri"/>
                        </a:rPr>
                        <a:t>Training target 14</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Leaf prediction</a:t>
                      </a:r>
                    </a:p>
                  </a:txBody>
                  <a:tcPr marL="91440" marR="91440" marT="45720" marB="45720">
                    <a:solidFill>
                      <a:srgbClr val="EEF3F6"/>
                    </a:solidFill>
                  </a:tcPr>
                </a:tc>
                <a:tc>
                  <a:txBody>
                    <a:bodyPr/>
                    <a:lstStyle/>
                    <a:p>
                      <a:r>
                        <a:rPr sz="2025" b="0">
                          <a:solidFill>
                            <a:srgbClr val="1C3144"/>
                          </a:solidFill>
                          <a:latin typeface="Calibri"/>
                          <a:ea typeface="Calibri"/>
                          <a:cs typeface="Calibri"/>
                        </a:rPr>
                        <a:t>Return the leaf value</a:t>
                      </a:r>
                    </a:p>
                  </a:txBody>
                  <a:tcPr marL="91440" marR="91440" marT="45720" marB="45720">
                    <a:solidFill>
                      <a:srgbClr val="EEF3F6"/>
                    </a:solidFill>
                  </a:tcPr>
                </a:tc>
                <a:tc>
                  <a:txBody>
                    <a:bodyPr/>
                    <a:lstStyle/>
                    <a:p>
                      <a:r>
                        <a:rPr sz="2025" b="0">
                          <a:solidFill>
                            <a:srgbClr val="1C3144"/>
                          </a:solidFill>
                          <a:latin typeface="Calibri"/>
                          <a:ea typeface="Calibri"/>
                          <a:cs typeface="Calibri"/>
                        </a:rPr>
                        <a:t>14</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C91196C3-BFF1-4EF6-BD87-489161688279}"/>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This trace describes our fitted four-row teaching tree. A different training set can produce different questions.</a:t>
            </a:r>
          </a:p>
        </p:txBody>
      </p:sp>
      <p:sp>
        <p:nvSpPr>
          <p:cNvPr id="6" name="">
            <a:extLst xmlns:a="http://schemas.openxmlformats.org/drawingml/2006/main">
              <a:ext uri="{FF2B5EF4-FFF2-40B4-BE49-F238E27FC236}">
                <a16:creationId xmlns:a16="http://schemas.microsoft.com/office/drawing/2014/main" id="{78380DCD-4C65-488A-AD88-5C241D1961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31</a:t>
            </a:r>
          </a:p>
        </p:txBody>
      </p:sp>
    </p:spTree>
    <p:extLst>
      <p:ext uri="{BB962C8B-B14F-4D97-AF65-F5344CB8AC3E}">
        <p14:creationId xmlns:p14="http://schemas.microsoft.com/office/powerpoint/2010/main" val="1072254394"/>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87B686E-22CD-4CA0-A707-F8BEAAF9E3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5B76E3-E047-40BF-B7A5-821B14B3D3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C83BAD4-C21E-47DB-8DCF-0FF5F1D44E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small regression tree in Python</a:t>
            </a:r>
          </a:p>
        </p:txBody>
      </p:sp>
      <p:sp>
        <p:nvSpPr>
          <p:cNvPr id="4" name="">
            <a:extLst xmlns:a="http://schemas.openxmlformats.org/drawingml/2006/main">
              <a:ext uri="{FF2B5EF4-FFF2-40B4-BE49-F238E27FC236}">
                <a16:creationId xmlns:a16="http://schemas.microsoft.com/office/drawing/2014/main" id="{1CC2E73F-3872-4F2E-8EF3-C5A5202DB61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63FD4AC-38A1-4494-959C-31B59A6D611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sklearn.tree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DecisionTreeRegressor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tree = DecisionTreeRegressor(max_depth=4, random_state=17)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tree.fit(X_train, y_train)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print(tree.predict(new_inputs).tolist())</a:t>
            </a:r>
          </a:p>
        </p:txBody>
      </p:sp>
      <p:sp>
        <p:nvSpPr>
          <p:cNvPr id="6" name="">
            <a:extLst xmlns:a="http://schemas.openxmlformats.org/drawingml/2006/main">
              <a:ext uri="{FF2B5EF4-FFF2-40B4-BE49-F238E27FC236}">
                <a16:creationId xmlns:a16="http://schemas.microsoft.com/office/drawing/2014/main" id="{FA7E3B15-4EC2-4555-B34A-2444A1C5CF3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1E636E29-1D0B-4FB3-B48A-DDE6919C7FB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63356286-80EE-4828-A39A-826235E6E8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32</a:t>
            </a:r>
          </a:p>
        </p:txBody>
      </p:sp>
    </p:spTree>
    <p:extLst>
      <p:ext uri="{BB962C8B-B14F-4D97-AF65-F5344CB8AC3E}">
        <p14:creationId xmlns:p14="http://schemas.microsoft.com/office/powerpoint/2010/main" val="184943795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F750107-212F-4608-9FD7-E02CB94789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2FD184-8982-4A22-8B39-8BCEFD5F87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48ABDF7-9E1D-44C8-9A44-75C41B52F7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Reuse the same preparation on new inputs</a:t>
            </a:r>
          </a:p>
        </p:txBody>
      </p:sp>
      <p:sp>
        <p:nvSpPr>
          <p:cNvPr id="4" name="">
            <a:extLst xmlns:a="http://schemas.openxmlformats.org/drawingml/2006/main">
              <a:ext uri="{FF2B5EF4-FFF2-40B4-BE49-F238E27FC236}">
                <a16:creationId xmlns:a16="http://schemas.microsoft.com/office/drawing/2014/main" id="{B1B7B289-7B1B-4388-B2AF-7C48776DE85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DC38DE-CA91-49D5-9183-304D691D493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Imputer</a:t>
            </a:r>
          </a:p>
        </p:txBody>
      </p:sp>
      <p:sp>
        <p:nvSpPr>
          <p:cNvPr id="6" name="">
            <a:extLst xmlns:a="http://schemas.openxmlformats.org/drawingml/2006/main">
              <a:ext uri="{FF2B5EF4-FFF2-40B4-BE49-F238E27FC236}">
                <a16:creationId xmlns:a16="http://schemas.microsoft.com/office/drawing/2014/main" id="{898C29DF-CCFE-4B5D-A4EF-9B81282D337E}"/>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 imputer fills missing feature values using a stated rule. Fit learns the replacement from training observations only. Prediction reuses that stored replacement.</a:t>
            </a:r>
          </a:p>
        </p:txBody>
      </p:sp>
      <p:sp>
        <p:nvSpPr>
          <p:cNvPr id="7" name="">
            <a:extLst xmlns:a="http://schemas.openxmlformats.org/drawingml/2006/main">
              <a:ext uri="{FF2B5EF4-FFF2-40B4-BE49-F238E27FC236}">
                <a16:creationId xmlns:a16="http://schemas.microsoft.com/office/drawing/2014/main" id="{FAF8ECBB-DEDD-409E-96C4-0F0F4263AA84}"/>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9F82260-FF88-451E-AADB-6D2A916EF45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Pipeline</a:t>
            </a:r>
          </a:p>
        </p:txBody>
      </p:sp>
      <p:sp>
        <p:nvSpPr>
          <p:cNvPr id="9" name="">
            <a:extLst xmlns:a="http://schemas.openxmlformats.org/drawingml/2006/main">
              <a:ext uri="{FF2B5EF4-FFF2-40B4-BE49-F238E27FC236}">
                <a16:creationId xmlns:a16="http://schemas.microsoft.com/office/drawing/2014/main" id="{F852345E-0491-4570-B89A-A1F0E3E1D29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pipeline connects preprocessing and a model. make_pipeline creates that connection. Its fit learns both stages on training data; predict applies them to new features.</a:t>
            </a:r>
          </a:p>
        </p:txBody>
      </p:sp>
      <p:sp>
        <p:nvSpPr>
          <p:cNvPr id="10" name="">
            <a:extLst xmlns:a="http://schemas.openxmlformats.org/drawingml/2006/main">
              <a:ext uri="{FF2B5EF4-FFF2-40B4-BE49-F238E27FC236}">
                <a16:creationId xmlns:a16="http://schemas.microsoft.com/office/drawing/2014/main" id="{F59662D4-AF95-40A2-8314-3D4CA4F822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33</a:t>
            </a:r>
          </a:p>
        </p:txBody>
      </p:sp>
    </p:spTree>
    <p:extLst>
      <p:ext uri="{BB962C8B-B14F-4D97-AF65-F5344CB8AC3E}">
        <p14:creationId xmlns:p14="http://schemas.microsoft.com/office/powerpoint/2010/main" val="1786377078"/>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63D19EA-D612-4733-B6FB-C5DD3A38B4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B5A3960-E33A-4F4C-959D-A466B7305B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7E9C843-6FDD-454A-AEB0-69E16AF53B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pipeline tools before combining them</a:t>
            </a:r>
          </a:p>
        </p:txBody>
      </p:sp>
      <p:sp>
        <p:nvSpPr>
          <p:cNvPr id="4" name="">
            <a:extLst xmlns:a="http://schemas.openxmlformats.org/drawingml/2006/main">
              <a:ext uri="{FF2B5EF4-FFF2-40B4-BE49-F238E27FC236}">
                <a16:creationId xmlns:a16="http://schemas.microsoft.com/office/drawing/2014/main" id="{EEF02D9E-5CDC-4F45-8821-E8D5A74DD94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0B89252-FAE8-4BF8-887F-91054D134B0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np.nan is NumPy’s missing-number marker. SimpleImputer(strategy="median") creates a tool that will learn each column’s median from training data.</a:t>
            </a:r>
          </a:p>
        </p:txBody>
      </p:sp>
      <p:sp>
        <p:nvSpPr>
          <p:cNvPr id="6" name="">
            <a:extLst xmlns:a="http://schemas.openxmlformats.org/drawingml/2006/main">
              <a:ext uri="{FF2B5EF4-FFF2-40B4-BE49-F238E27FC236}">
                <a16:creationId xmlns:a16="http://schemas.microsoft.com/office/drawing/2014/main" id="{79FD8E9D-04B7-46E7-84B2-274BA42A2AE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79043FD-FC06-4F8D-B0A0-BF2D4FCBC81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make_pipeline(imputer, model) joins preparation to prediction in that order. pipeline.fit first learns and applies the imputer, then fits the model.</a:t>
            </a:r>
          </a:p>
        </p:txBody>
      </p:sp>
      <p:sp>
        <p:nvSpPr>
          <p:cNvPr id="8" name="">
            <a:extLst xmlns:a="http://schemas.openxmlformats.org/drawingml/2006/main">
              <a:ext uri="{FF2B5EF4-FFF2-40B4-BE49-F238E27FC236}">
                <a16:creationId xmlns:a16="http://schemas.microsoft.com/office/drawing/2014/main" id="{1B547444-29A8-4A88-84CE-468807221F8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6D96245-0784-4556-8410-D3BAACF3B1D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pipeline.predict applies the already learned imputer to new inputs before predicting. It does not recalculate medians from the new inputs.</a:t>
            </a:r>
          </a:p>
        </p:txBody>
      </p:sp>
      <p:sp>
        <p:nvSpPr>
          <p:cNvPr id="10" name="">
            <a:extLst xmlns:a="http://schemas.openxmlformats.org/drawingml/2006/main">
              <a:ext uri="{FF2B5EF4-FFF2-40B4-BE49-F238E27FC236}">
                <a16:creationId xmlns:a16="http://schemas.microsoft.com/office/drawing/2014/main" id="{949E9DAB-595F-4612-9D3E-6D3A076DC1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34</a:t>
            </a:r>
          </a:p>
        </p:txBody>
      </p:sp>
    </p:spTree>
    <p:extLst>
      <p:ext uri="{BB962C8B-B14F-4D97-AF65-F5344CB8AC3E}">
        <p14:creationId xmlns:p14="http://schemas.microsoft.com/office/powerpoint/2010/main" val="13370931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5B0892F-50B7-42E6-88B7-96307CD53F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B82347-4EBC-4FEB-8F00-E9583B7C51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AE3A92F-B7CC-47B6-9AAB-453D0939E0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Preprocessing learned from training only</a:t>
            </a:r>
          </a:p>
        </p:txBody>
      </p:sp>
      <p:sp>
        <p:nvSpPr>
          <p:cNvPr id="4" name="">
            <a:extLst xmlns:a="http://schemas.openxmlformats.org/drawingml/2006/main">
              <a:ext uri="{FF2B5EF4-FFF2-40B4-BE49-F238E27FC236}">
                <a16:creationId xmlns:a16="http://schemas.microsoft.com/office/drawing/2014/main" id="{2E67034B-0F1C-4B5F-BA4A-6D17557EAE9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76DF0B5-F541-43CD-9991-C9CA93A7954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SimpleImputer learns one median for each training column. make_pipeline connects this step to the model. fit learns both steps using only the training examples. predict reuses them on new inputs.</a:t>
            </a:r>
          </a:p>
        </p:txBody>
      </p:sp>
      <p:sp>
        <p:nvSpPr>
          <p:cNvPr id="6" name="">
            <a:extLst xmlns:a="http://schemas.openxmlformats.org/drawingml/2006/main">
              <a:ext uri="{FF2B5EF4-FFF2-40B4-BE49-F238E27FC236}">
                <a16:creationId xmlns:a16="http://schemas.microsoft.com/office/drawing/2014/main" id="{93A8E73B-AF23-4ABF-882F-47654CE511B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D6CC3B-947C-4DBD-BA44-2D5691B0A3E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target is supplied to predict.</a:t>
            </a:r>
          </a:p>
        </p:txBody>
      </p:sp>
      <p:sp>
        <p:nvSpPr>
          <p:cNvPr id="8" name="">
            <a:extLst xmlns:a="http://schemas.openxmlformats.org/drawingml/2006/main">
              <a:ext uri="{FF2B5EF4-FFF2-40B4-BE49-F238E27FC236}">
                <a16:creationId xmlns:a16="http://schemas.microsoft.com/office/drawing/2014/main" id="{AEF974B8-A54D-40BE-A67F-768A5C1B614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CCB769D-549E-4AC7-8526-0E32B20AF68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inputs here are invented practice measurements.</a:t>
            </a:r>
          </a:p>
        </p:txBody>
      </p:sp>
      <p:sp>
        <p:nvSpPr>
          <p:cNvPr id="10" name="">
            <a:extLst xmlns:a="http://schemas.openxmlformats.org/drawingml/2006/main">
              <a:ext uri="{FF2B5EF4-FFF2-40B4-BE49-F238E27FC236}">
                <a16:creationId xmlns:a16="http://schemas.microsoft.com/office/drawing/2014/main" id="{0DBD7CB4-C966-47B9-BF45-CBA1381273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35</a:t>
            </a:r>
          </a:p>
        </p:txBody>
      </p:sp>
    </p:spTree>
    <p:extLst>
      <p:ext uri="{BB962C8B-B14F-4D97-AF65-F5344CB8AC3E}">
        <p14:creationId xmlns:p14="http://schemas.microsoft.com/office/powerpoint/2010/main" val="1260636492"/>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3870730-26D8-433E-8B7A-944F07646A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08875C6-5E72-499D-A895-AB55CFD80B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220983B-25D6-4C15-997F-1D9FBB214A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training-only fill step</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Stage</a:t>
                      </a:r>
                    </a:p>
                  </a:txBody>
                  <a:tcPr marL="91440" marR="91440" marT="45720" marB="45720">
                    <a:solidFill>
                      <a:srgbClr val="2E7D6F"/>
                    </a:solidFill>
                  </a:tcPr>
                </a:tc>
                <a:tc>
                  <a:txBody>
                    <a:bodyPr/>
                    <a:lstStyle/>
                    <a:p>
                      <a:r>
                        <a:rPr sz="2025" b="1">
                          <a:solidFill>
                            <a:srgbClr val="FFFFFF"/>
                          </a:solidFill>
                          <a:latin typeface="Calibri"/>
                          <a:ea typeface="Calibri"/>
                          <a:cs typeface="Calibri"/>
                        </a:rPr>
                        <a:t>Second feature values</a:t>
                      </a:r>
                    </a:p>
                  </a:txBody>
                  <a:tcPr marL="91440" marR="91440" marT="45720" marB="45720">
                    <a:solidFill>
                      <a:srgbClr val="2E7D6F"/>
                    </a:solidFill>
                  </a:tcPr>
                </a:tc>
                <a:tc>
                  <a:txBody>
                    <a:bodyPr/>
                    <a:lstStyle/>
                    <a:p>
                      <a:r>
                        <a:rPr sz="2025" b="1">
                          <a:solidFill>
                            <a:srgbClr val="FFFFFF"/>
                          </a:solidFill>
                          <a:latin typeface="Calibri"/>
                          <a:ea typeface="Calibri"/>
                          <a:cs typeface="Calibri"/>
                        </a:rPr>
                        <a:t>Action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Training input</a:t>
                      </a:r>
                    </a:p>
                  </a:txBody>
                  <a:tcPr marL="91440" marR="91440" marT="45720" marB="45720">
                    <a:solidFill>
                      <a:srgbClr val="EEF3F6"/>
                    </a:solidFill>
                  </a:tcPr>
                </a:tc>
                <a:tc>
                  <a:txBody>
                    <a:bodyPr/>
                    <a:lstStyle/>
                    <a:p>
                      <a:r>
                        <a:rPr sz="2025" b="0">
                          <a:solidFill>
                            <a:srgbClr val="1C3144"/>
                          </a:solidFill>
                          <a:latin typeface="Calibri"/>
                          <a:ea typeface="Calibri"/>
                          <a:cs typeface="Calibri"/>
                        </a:rPr>
                        <a:t>20, 22, missing, 24</a:t>
                      </a:r>
                    </a:p>
                  </a:txBody>
                  <a:tcPr marL="91440" marR="91440" marT="45720" marB="45720">
                    <a:solidFill>
                      <a:srgbClr val="EEF3F6"/>
                    </a:solidFill>
                  </a:tcPr>
                </a:tc>
                <a:tc>
                  <a:txBody>
                    <a:bodyPr/>
                    <a:lstStyle/>
                    <a:p>
                      <a:r>
                        <a:rPr sz="2025" b="0">
                          <a:solidFill>
                            <a:srgbClr val="1C3144"/>
                          </a:solidFill>
                          <a:latin typeface="Calibri"/>
                          <a:ea typeface="Calibri"/>
                          <a:cs typeface="Calibri"/>
                        </a:rPr>
                        <a:t>Learn median 22</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Training after filling</a:t>
                      </a:r>
                    </a:p>
                  </a:txBody>
                  <a:tcPr marL="91440" marR="91440" marT="45720" marB="45720">
                    <a:solidFill>
                      <a:srgbClr val="FFFFFF"/>
                    </a:solidFill>
                  </a:tcPr>
                </a:tc>
                <a:tc>
                  <a:txBody>
                    <a:bodyPr/>
                    <a:lstStyle/>
                    <a:p>
                      <a:r>
                        <a:rPr sz="2025" b="0">
                          <a:solidFill>
                            <a:srgbClr val="1C3144"/>
                          </a:solidFill>
                          <a:latin typeface="Calibri"/>
                          <a:ea typeface="Calibri"/>
                          <a:cs typeface="Calibri"/>
                        </a:rPr>
                        <a:t>20, 22, 22, 24</a:t>
                      </a:r>
                    </a:p>
                  </a:txBody>
                  <a:tcPr marL="91440" marR="91440" marT="45720" marB="45720">
                    <a:solidFill>
                      <a:srgbClr val="FFFFFF"/>
                    </a:solidFill>
                  </a:tcPr>
                </a:tc>
                <a:tc>
                  <a:txBody>
                    <a:bodyPr/>
                    <a:lstStyle/>
                    <a:p>
                      <a:r>
                        <a:rPr sz="2025" b="0">
                          <a:solidFill>
                            <a:srgbClr val="1C3144"/>
                          </a:solidFill>
                          <a:latin typeface="Calibri"/>
                          <a:ea typeface="Calibri"/>
                          <a:cs typeface="Calibri"/>
                        </a:rPr>
                        <a:t>Fit the model</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New input</a:t>
                      </a:r>
                    </a:p>
                  </a:txBody>
                  <a:tcPr marL="91440" marR="91440" marT="45720" marB="45720">
                    <a:solidFill>
                      <a:srgbClr val="EEF3F6"/>
                    </a:solidFill>
                  </a:tcPr>
                </a:tc>
                <a:tc>
                  <a:txBody>
                    <a:bodyPr/>
                    <a:lstStyle/>
                    <a:p>
                      <a:r>
                        <a:rPr sz="2025" b="0">
                          <a:solidFill>
                            <a:srgbClr val="1C3144"/>
                          </a:solidFill>
                          <a:latin typeface="Calibri"/>
                          <a:ea typeface="Calibri"/>
                          <a:cs typeface="Calibri"/>
                        </a:rPr>
                        <a:t>Missing second value</a:t>
                      </a:r>
                    </a:p>
                  </a:txBody>
                  <a:tcPr marL="91440" marR="91440" marT="45720" marB="45720">
                    <a:solidFill>
                      <a:srgbClr val="EEF3F6"/>
                    </a:solidFill>
                  </a:tcPr>
                </a:tc>
                <a:tc>
                  <a:txBody>
                    <a:bodyPr/>
                    <a:lstStyle/>
                    <a:p>
                      <a:r>
                        <a:rPr sz="2025" b="0">
                          <a:solidFill>
                            <a:srgbClr val="1C3144"/>
                          </a:solidFill>
                          <a:latin typeface="Calibri"/>
                          <a:ea typeface="Calibri"/>
                          <a:cs typeface="Calibri"/>
                        </a:rPr>
                        <a:t>Fill with saved 22</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1679F40-D09B-4AA5-AEBD-47889E880409}"/>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No new median is learned during prediction. The model receives the prepared numeric row.</a:t>
            </a:r>
          </a:p>
        </p:txBody>
      </p:sp>
      <p:sp>
        <p:nvSpPr>
          <p:cNvPr id="6" name="">
            <a:extLst xmlns:a="http://schemas.openxmlformats.org/drawingml/2006/main">
              <a:ext uri="{FF2B5EF4-FFF2-40B4-BE49-F238E27FC236}">
                <a16:creationId xmlns:a16="http://schemas.microsoft.com/office/drawing/2014/main" id="{B0147274-84F7-4D8F-91C2-4D0C99CF8E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36</a:t>
            </a:r>
          </a:p>
        </p:txBody>
      </p:sp>
    </p:spTree>
    <p:extLst>
      <p:ext uri="{BB962C8B-B14F-4D97-AF65-F5344CB8AC3E}">
        <p14:creationId xmlns:p14="http://schemas.microsoft.com/office/powerpoint/2010/main" val="950851560"/>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89A3419-B0C4-4710-99DA-84091CAB2B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05A7DE-053A-4F7B-A8E2-1AD6FF79C7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987C4E3-A2F1-4C19-B14A-47390F488E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Preprocessing learned from training only in Python (1/2)</a:t>
            </a:r>
          </a:p>
        </p:txBody>
      </p:sp>
      <p:sp>
        <p:nvSpPr>
          <p:cNvPr id="4" name="">
            <a:extLst xmlns:a="http://schemas.openxmlformats.org/drawingml/2006/main">
              <a:ext uri="{FF2B5EF4-FFF2-40B4-BE49-F238E27FC236}">
                <a16:creationId xmlns:a16="http://schemas.microsoft.com/office/drawing/2014/main" id="{F1F8FEC2-F886-4D12-A707-80F6825CAB2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607017B-4A2E-4163-981F-9183BA75B72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sklearn.impute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SimpleImputer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from sklearn.pipeline import make_pipeline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import numpy as np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train_inputs = [[1, 20], [2, 22], [3, np.nan], [4, 24]]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train_targets = [12, 14, 16, 18]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imputer = SimpleImputer(strategy="median")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pipeline = make_pipeline(imputer, model)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pipeline.fit(train_inputs, train_targets)</a:t>
            </a:r>
          </a:p>
        </p:txBody>
      </p:sp>
      <p:sp>
        <p:nvSpPr>
          <p:cNvPr id="6" name="">
            <a:extLst xmlns:a="http://schemas.openxmlformats.org/drawingml/2006/main">
              <a:ext uri="{FF2B5EF4-FFF2-40B4-BE49-F238E27FC236}">
                <a16:creationId xmlns:a16="http://schemas.microsoft.com/office/drawing/2014/main" id="{90775E1F-A5BB-462F-909A-03CB5A37578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5B2129A3-895F-4E47-964F-F81A6A81C85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4589FDDB-2F57-4156-8E51-06A1EBB733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37</a:t>
            </a:r>
          </a:p>
        </p:txBody>
      </p:sp>
    </p:spTree>
    <p:extLst>
      <p:ext uri="{BB962C8B-B14F-4D97-AF65-F5344CB8AC3E}">
        <p14:creationId xmlns:p14="http://schemas.microsoft.com/office/powerpoint/2010/main" val="698331827"/>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02F0509-E17C-4534-8012-5459ABF07F4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B6A2A6-A5B2-46FC-971B-372914146D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A7DF03A-0759-4CF0-9D3D-0E7B271460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Preprocessing learned from training only in Python (2/2)</a:t>
            </a:r>
          </a:p>
        </p:txBody>
      </p:sp>
      <p:sp>
        <p:nvSpPr>
          <p:cNvPr id="4" name="">
            <a:extLst xmlns:a="http://schemas.openxmlformats.org/drawingml/2006/main">
              <a:ext uri="{FF2B5EF4-FFF2-40B4-BE49-F238E27FC236}">
                <a16:creationId xmlns:a16="http://schemas.microsoft.com/office/drawing/2014/main" id="{0E82B3C7-134B-44F4-A1E2-9A7401BC31F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EFA044B-84D3-4A0D-907F-87F9148E8E7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predictions = pipeline.predict([[2.5, np.nan]])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print(predictions.round(2).tolist())</a:t>
            </a:r>
          </a:p>
        </p:txBody>
      </p:sp>
      <p:sp>
        <p:nvSpPr>
          <p:cNvPr id="6" name="">
            <a:extLst xmlns:a="http://schemas.openxmlformats.org/drawingml/2006/main">
              <a:ext uri="{FF2B5EF4-FFF2-40B4-BE49-F238E27FC236}">
                <a16:creationId xmlns:a16="http://schemas.microsoft.com/office/drawing/2014/main" id="{AE86FE6B-C753-428F-9704-0F1E6BD4256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predict applies the fitted model to new inputs.</a:t>
            </a:r>
          </a:p>
        </p:txBody>
      </p:sp>
      <p:sp>
        <p:nvSpPr>
          <p:cNvPr id="7" name="">
            <a:extLst xmlns:a="http://schemas.openxmlformats.org/drawingml/2006/main">
              <a:ext uri="{FF2B5EF4-FFF2-40B4-BE49-F238E27FC236}">
                <a16:creationId xmlns:a16="http://schemas.microsoft.com/office/drawing/2014/main" id="{47577914-68AC-4674-9B5A-07F9B125859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8BB7632F-3D73-4AC0-B285-25ECE82BFE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38</a:t>
            </a:r>
          </a:p>
        </p:txBody>
      </p:sp>
    </p:spTree>
    <p:extLst>
      <p:ext uri="{BB962C8B-B14F-4D97-AF65-F5344CB8AC3E}">
        <p14:creationId xmlns:p14="http://schemas.microsoft.com/office/powerpoint/2010/main" val="1020975963"/>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7AB16CC-7379-4D56-8050-F8C230DF53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905E458-D3F5-4651-862A-B4CDAA0530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C1FC7D8-B3C3-4470-B019-3B1E26EAC8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records into a feature table</a:t>
            </a:r>
          </a:p>
        </p:txBody>
      </p:sp>
      <p:sp>
        <p:nvSpPr>
          <p:cNvPr id="4" name="">
            <a:extLst xmlns:a="http://schemas.openxmlformats.org/drawingml/2006/main">
              <a:ext uri="{FF2B5EF4-FFF2-40B4-BE49-F238E27FC236}">
                <a16:creationId xmlns:a16="http://schemas.microsoft.com/office/drawing/2014/main" id="{B6C07EAE-8CDA-40E7-81D8-2C37D46F4BB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2B7DD75-2C6D-4457-9AE2-DE7426EA579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inner list is one row, in the same order as the input records.</a:t>
            </a:r>
          </a:p>
        </p:txBody>
      </p:sp>
      <p:sp>
        <p:nvSpPr>
          <p:cNvPr id="6" name="">
            <a:extLst xmlns:a="http://schemas.openxmlformats.org/drawingml/2006/main">
              <a:ext uri="{FF2B5EF4-FFF2-40B4-BE49-F238E27FC236}">
                <a16:creationId xmlns:a16="http://schemas.microsoft.com/office/drawing/2014/main" id="{5104C35A-3B02-44D5-9484-9EDACBA371C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AA8A11-6981-41F1-B0A3-F5E122EBE7C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list uses that same row order.</a:t>
            </a:r>
          </a:p>
        </p:txBody>
      </p:sp>
      <p:sp>
        <p:nvSpPr>
          <p:cNvPr id="8" name="">
            <a:extLst xmlns:a="http://schemas.openxmlformats.org/drawingml/2006/main">
              <a:ext uri="{FF2B5EF4-FFF2-40B4-BE49-F238E27FC236}">
                <a16:creationId xmlns:a16="http://schemas.microsoft.com/office/drawing/2014/main" id="{2CEC22DC-73BB-4E84-92DE-C07E4C04190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DB55396-8EB7-400A-918F-BE3EA6FD16E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feature table has no answer column.</a:t>
            </a:r>
          </a:p>
        </p:txBody>
      </p:sp>
      <p:sp>
        <p:nvSpPr>
          <p:cNvPr id="10" name="">
            <a:extLst xmlns:a="http://schemas.openxmlformats.org/drawingml/2006/main">
              <a:ext uri="{FF2B5EF4-FFF2-40B4-BE49-F238E27FC236}">
                <a16:creationId xmlns:a16="http://schemas.microsoft.com/office/drawing/2014/main" id="{863DE3AA-4E65-461E-87BE-338791064A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39</a:t>
            </a:r>
          </a:p>
        </p:txBody>
      </p:sp>
    </p:spTree>
    <p:extLst>
      <p:ext uri="{BB962C8B-B14F-4D97-AF65-F5344CB8AC3E}">
        <p14:creationId xmlns:p14="http://schemas.microsoft.com/office/powerpoint/2010/main" val="176315083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AE2DFFB-DF94-49BF-9EB2-FADF74EAA5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B575E8-95DF-48BE-9E98-2792AF7276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43B8AEB-97DB-4666-BD48-EE2655E499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records into a feature table in Python</a:t>
            </a:r>
          </a:p>
        </p:txBody>
      </p:sp>
      <p:sp>
        <p:nvSpPr>
          <p:cNvPr id="4" name="">
            <a:extLst xmlns:a="http://schemas.openxmlformats.org/drawingml/2006/main">
              <a:ext uri="{FF2B5EF4-FFF2-40B4-BE49-F238E27FC236}">
                <a16:creationId xmlns:a16="http://schemas.microsoft.com/office/drawing/2014/main" id="{8DB026C6-C7EB-4508-96E0-31D86787911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87F043-91B7-4DE3-A24E-E5C6136AF65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rows = [{"length": 2, "width": 3, "area":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{"length": 4, "width": 5, "area":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X.append([row["length"], row["width"]])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y.append(row["area"])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a:t>
            </a:r>
          </a:p>
        </p:txBody>
      </p:sp>
      <p:sp>
        <p:nvSpPr>
          <p:cNvPr id="6" name="">
            <a:extLst xmlns:a="http://schemas.openxmlformats.org/drawingml/2006/main">
              <a:ext uri="{FF2B5EF4-FFF2-40B4-BE49-F238E27FC236}">
                <a16:creationId xmlns:a16="http://schemas.microsoft.com/office/drawing/2014/main" id="{411303F4-450E-4771-8A44-980FCF4F135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EE584EFB-B2A4-4559-A408-F8FF8447793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1CF7A41C-27CC-4A75-B9C0-D2203CB0FD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40</a:t>
            </a:r>
          </a:p>
        </p:txBody>
      </p:sp>
    </p:spTree>
    <p:extLst>
      <p:ext uri="{BB962C8B-B14F-4D97-AF65-F5344CB8AC3E}">
        <p14:creationId xmlns:p14="http://schemas.microsoft.com/office/powerpoint/2010/main" val="591446764"/>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A30E9A2-028E-4830-91E0-7C4A99FABC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A3784A-1C78-4E10-AE20-58A6619191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06C32FF-5D8B-493B-B67E-27FBD746DF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MAE and RMSE</a:t>
            </a:r>
          </a:p>
        </p:txBody>
      </p:sp>
      <p:sp>
        <p:nvSpPr>
          <p:cNvPr id="4" name="">
            <a:extLst xmlns:a="http://schemas.openxmlformats.org/drawingml/2006/main">
              <a:ext uri="{FF2B5EF4-FFF2-40B4-BE49-F238E27FC236}">
                <a16:creationId xmlns:a16="http://schemas.microsoft.com/office/drawing/2014/main" id="{8D1734CC-D896-488F-958A-0D3A99EE681A}"/>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649188-496D-4961-90F6-57B39EF1C84A}"/>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MAE and RMSE</a:t>
            </a:r>
          </a:p>
        </p:txBody>
      </p:sp>
      <p:sp>
        <p:nvSpPr>
          <p:cNvPr id="6" name="">
            <a:extLst xmlns:a="http://schemas.openxmlformats.org/drawingml/2006/main">
              <a:ext uri="{FF2B5EF4-FFF2-40B4-BE49-F238E27FC236}">
                <a16:creationId xmlns:a16="http://schemas.microsoft.com/office/drawing/2014/main" id="{4A10F70E-4522-4438-B674-C8916FC84EBA}"/>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MAE averages absolute prediction errors. RMSE squares errors, averages them and takes the square root. Both use target units. RMSE is more sensitive to large errors.</a:t>
            </a:r>
          </a:p>
        </p:txBody>
      </p:sp>
      <p:sp>
        <p:nvSpPr>
          <p:cNvPr id="7" name="">
            <a:extLst xmlns:a="http://schemas.openxmlformats.org/drawingml/2006/main">
              <a:ext uri="{FF2B5EF4-FFF2-40B4-BE49-F238E27FC236}">
                <a16:creationId xmlns:a16="http://schemas.microsoft.com/office/drawing/2014/main" id="{06E1BCDA-F302-4F6A-9728-4BBBE18BDC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41</a:t>
            </a:r>
          </a:p>
        </p:txBody>
      </p:sp>
    </p:spTree>
    <p:extLst>
      <p:ext uri="{BB962C8B-B14F-4D97-AF65-F5344CB8AC3E}">
        <p14:creationId xmlns:p14="http://schemas.microsoft.com/office/powerpoint/2010/main" val="551102932"/>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F3EABC1-5D50-4B1A-A0CC-A865225B25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2C4F99-2669-4BA9-A45B-5358B9A82E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963E593-1381-4720-A7CB-8C0EE84FEE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prediction error in ordinary numbers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Actual</a:t>
                      </a:r>
                    </a:p>
                  </a:txBody>
                  <a:tcPr marL="91440" marR="91440" marT="45720" marB="45720">
                    <a:solidFill>
                      <a:srgbClr val="2E7D6F"/>
                    </a:solidFill>
                  </a:tcPr>
                </a:tc>
                <a:tc>
                  <a:txBody>
                    <a:bodyPr/>
                    <a:lstStyle/>
                    <a:p>
                      <a:r>
                        <a:rPr sz="2025" b="1">
                          <a:solidFill>
                            <a:srgbClr val="FFFFFF"/>
                          </a:solidFill>
                          <a:latin typeface="Calibri"/>
                          <a:ea typeface="Calibri"/>
                          <a:cs typeface="Calibri"/>
                        </a:rPr>
                        <a:t>Prediction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Absolute error</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10</a:t>
                      </a:r>
                    </a:p>
                  </a:txBody>
                  <a:tcPr marL="91440" marR="91440" marT="45720" marB="45720">
                    <a:solidFill>
                      <a:srgbClr val="EEF3F6"/>
                    </a:solidFill>
                  </a:tcPr>
                </a:tc>
                <a:tc>
                  <a:txBody>
                    <a:bodyPr/>
                    <a:lstStyle/>
                    <a:p>
                      <a:r>
                        <a:rPr sz="2025" b="0">
                          <a:solidFill>
                            <a:srgbClr val="1C3144"/>
                          </a:solidFill>
                          <a:latin typeface="Calibri"/>
                          <a:ea typeface="Calibri"/>
                          <a:cs typeface="Calibri"/>
                        </a:rPr>
                        <a:t>8</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20</a:t>
                      </a:r>
                    </a:p>
                  </a:txBody>
                  <a:tcPr marL="91440" marR="91440" marT="45720" marB="45720">
                    <a:solidFill>
                      <a:srgbClr val="FFFFFF"/>
                    </a:solidFill>
                  </a:tcPr>
                </a:tc>
                <a:tc>
                  <a:txBody>
                    <a:bodyPr/>
                    <a:lstStyle/>
                    <a:p>
                      <a:r>
                        <a:rPr sz="2025" b="0">
                          <a:solidFill>
                            <a:srgbClr val="1C3144"/>
                          </a:solidFill>
                          <a:latin typeface="Calibri"/>
                          <a:ea typeface="Calibri"/>
                          <a:cs typeface="Calibri"/>
                        </a:rPr>
                        <a:t>24</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D903B89-2DFD-4B08-8BC9-0C38CFCBFA6B}"/>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MAE = (2 + 4) / 2 = 3, in the target’s unit. Compare a model against a training-only baseline.</a:t>
            </a:r>
          </a:p>
        </p:txBody>
      </p:sp>
      <p:sp>
        <p:nvSpPr>
          <p:cNvPr id="6" name="">
            <a:extLst xmlns:a="http://schemas.openxmlformats.org/drawingml/2006/main">
              <a:ext uri="{FF2B5EF4-FFF2-40B4-BE49-F238E27FC236}">
                <a16:creationId xmlns:a16="http://schemas.microsoft.com/office/drawing/2014/main" id="{7B840F8C-1616-4DFD-9708-71F817BC55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42</a:t>
            </a:r>
          </a:p>
        </p:txBody>
      </p:sp>
    </p:spTree>
    <p:extLst>
      <p:ext uri="{BB962C8B-B14F-4D97-AF65-F5344CB8AC3E}">
        <p14:creationId xmlns:p14="http://schemas.microsoft.com/office/powerpoint/2010/main" val="135233885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D52ADB1-A072-48FE-9B4B-F1951958DC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BAF7A4-F734-4A64-A9B8-E2394864C3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CF0779C-6D91-47E7-95B2-565A8B8490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operations in the error calculation</a:t>
            </a:r>
          </a:p>
        </p:txBody>
      </p:sp>
      <p:sp>
        <p:nvSpPr>
          <p:cNvPr id="4" name="">
            <a:extLst xmlns:a="http://schemas.openxmlformats.org/drawingml/2006/main">
              <a:ext uri="{FF2B5EF4-FFF2-40B4-BE49-F238E27FC236}">
                <a16:creationId xmlns:a16="http://schemas.microsoft.com/office/drawing/2014/main" id="{80D8AC5D-A20B-4416-8339-3E2B508CB2A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2286E2-7DF7-44D8-937B-ED5C2D0C7D89}"/>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zip and paired names</a:t>
            </a:r>
          </a:p>
        </p:txBody>
      </p:sp>
      <p:sp>
        <p:nvSpPr>
          <p:cNvPr id="6" name="">
            <a:extLst xmlns:a="http://schemas.openxmlformats.org/drawingml/2006/main">
              <a:ext uri="{FF2B5EF4-FFF2-40B4-BE49-F238E27FC236}">
                <a16:creationId xmlns:a16="http://schemas.microsoft.com/office/drawing/2014/main" id="{089EC4C8-3384-4C16-854C-8AA55B4CC978}"/>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zip(actual, predicted) pairs values at matching positions. for truth, guess in ... assigns each pair to two names. Here both lists must have the same nonzero length.</a:t>
            </a:r>
          </a:p>
        </p:txBody>
      </p:sp>
      <p:sp>
        <p:nvSpPr>
          <p:cNvPr id="7" name="">
            <a:extLst xmlns:a="http://schemas.openxmlformats.org/drawingml/2006/main">
              <a:ext uri="{FF2B5EF4-FFF2-40B4-BE49-F238E27FC236}">
                <a16:creationId xmlns:a16="http://schemas.microsoft.com/office/drawing/2014/main" id="{EE341B24-52D5-405B-9EC0-107C43245530}"/>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5C8DCCA-1989-4FE0-83A8-914F7BDC536A}"/>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Square and square root</a:t>
            </a:r>
          </a:p>
        </p:txBody>
      </p:sp>
      <p:sp>
        <p:nvSpPr>
          <p:cNvPr id="9" name="">
            <a:extLst xmlns:a="http://schemas.openxmlformats.org/drawingml/2006/main">
              <a:ext uri="{FF2B5EF4-FFF2-40B4-BE49-F238E27FC236}">
                <a16:creationId xmlns:a16="http://schemas.microsoft.com/office/drawing/2014/main" id="{434D12B3-2173-4000-BE8F-F20DCF8E3BB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difference ** 2 squares an error. sqrt reverses a square for nonnegative numbers: sqrt(9) is 3. from math import sqrt makes this tool available.</a:t>
            </a:r>
          </a:p>
        </p:txBody>
      </p:sp>
      <p:sp>
        <p:nvSpPr>
          <p:cNvPr id="10" name="">
            <a:extLst xmlns:a="http://schemas.openxmlformats.org/drawingml/2006/main">
              <a:ext uri="{FF2B5EF4-FFF2-40B4-BE49-F238E27FC236}">
                <a16:creationId xmlns:a16="http://schemas.microsoft.com/office/drawing/2014/main" id="{69327F2A-F110-482F-82E3-2A6C216D4F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43</a:t>
            </a:r>
          </a:p>
        </p:txBody>
      </p:sp>
    </p:spTree>
    <p:extLst>
      <p:ext uri="{BB962C8B-B14F-4D97-AF65-F5344CB8AC3E}">
        <p14:creationId xmlns:p14="http://schemas.microsoft.com/office/powerpoint/2010/main" val="327986887"/>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D6121A5-6501-4E63-91E7-FF51793567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6D99AF1-78FD-4F11-BE8E-B8C2174999E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3544257-E65D-4AB9-9E67-17A4BE11A3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Pair two lists using zip</a:t>
            </a:r>
          </a:p>
        </p:txBody>
      </p:sp>
      <p:sp>
        <p:nvSpPr>
          <p:cNvPr id="4" name="">
            <a:extLst xmlns:a="http://schemas.openxmlformats.org/drawingml/2006/main">
              <a:ext uri="{FF2B5EF4-FFF2-40B4-BE49-F238E27FC236}">
                <a16:creationId xmlns:a16="http://schemas.microsoft.com/office/drawing/2014/main" id="{60C73FE1-2417-4746-9A10-A4E04BD7D8F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4403B2C-58C8-4C90-A225-4710BE151C3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zip(actual, predicted) visits matching positions together. for truth, guess in zip(...): unpacks each pair into two names.</a:t>
            </a:r>
          </a:p>
        </p:txBody>
      </p:sp>
      <p:sp>
        <p:nvSpPr>
          <p:cNvPr id="6" name="">
            <a:extLst xmlns:a="http://schemas.openxmlformats.org/drawingml/2006/main">
              <a:ext uri="{FF2B5EF4-FFF2-40B4-BE49-F238E27FC236}">
                <a16:creationId xmlns:a16="http://schemas.microsoft.com/office/drawing/2014/main" id="{9E8FEF07-9E50-414F-8E8D-B6FE78408E0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226C018-3CCC-4A27-8AFB-FF50BB7AD60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actual [10, 20] and predicted [12, 16], the pairs are (10, 12) and (20, 16). They describe the same observations in the same order.</a:t>
            </a:r>
          </a:p>
        </p:txBody>
      </p:sp>
      <p:sp>
        <p:nvSpPr>
          <p:cNvPr id="8" name="">
            <a:extLst xmlns:a="http://schemas.openxmlformats.org/drawingml/2006/main">
              <a:ext uri="{FF2B5EF4-FFF2-40B4-BE49-F238E27FC236}">
                <a16:creationId xmlns:a16="http://schemas.microsoft.com/office/drawing/2014/main" id="{366E9DB5-3BC2-4726-AE24-9006C18581B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326C956-8C25-4FB8-9D5C-6765EE13F63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zip stops at the shorter input. Check equal, nonzero lengths for these error calculations; otherwise a result could ignore observations.</a:t>
            </a:r>
          </a:p>
        </p:txBody>
      </p:sp>
      <p:sp>
        <p:nvSpPr>
          <p:cNvPr id="10" name="">
            <a:extLst xmlns:a="http://schemas.openxmlformats.org/drawingml/2006/main">
              <a:ext uri="{FF2B5EF4-FFF2-40B4-BE49-F238E27FC236}">
                <a16:creationId xmlns:a16="http://schemas.microsoft.com/office/drawing/2014/main" id="{B661B5A7-6DC1-4E56-9754-069BA9F4B00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44</a:t>
            </a:r>
          </a:p>
        </p:txBody>
      </p:sp>
    </p:spTree>
    <p:extLst>
      <p:ext uri="{BB962C8B-B14F-4D97-AF65-F5344CB8AC3E}">
        <p14:creationId xmlns:p14="http://schemas.microsoft.com/office/powerpoint/2010/main" val="1658534210"/>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B565664-B601-4973-A41A-202339D3C2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4688598-F7D3-436B-8FB0-513B4AF0E8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14EFE8C-5995-4CE2-9593-471D08D40C9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the pairs before measuring errors</a:t>
            </a:r>
          </a:p>
        </p:txBody>
      </p:sp>
      <p:sp>
        <p:nvSpPr>
          <p:cNvPr id="4" name="">
            <a:extLst xmlns:a="http://schemas.openxmlformats.org/drawingml/2006/main">
              <a:ext uri="{FF2B5EF4-FFF2-40B4-BE49-F238E27FC236}">
                <a16:creationId xmlns:a16="http://schemas.microsoft.com/office/drawing/2014/main" id="{4FBAF456-39A2-4976-811B-040BB712C9A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F12A37E-771A-4E93-B2FB-68EC7BC9117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actual = [10, 20]</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predicted = [12, 16]</a:t>
            </a:r>
          </a:p>
          <a:p xmlns:a="http://schemas.openxmlformats.org/drawingml/2006/main">
            <a:pPr>
              <a:defRPr sz="1944" b="0">
                <a:solidFill>
                  <a:srgbClr val="F4F7FA"/>
                </a:solidFill>
                <a:latin typeface="Courier New"/>
                <a:ea typeface="Courier New"/>
                <a:cs typeface="Courier New"/>
              </a:defRPr>
            </a:pPr>
            <a:r>
              <a:rPr sz="1944" b="0">
                <a:solidFill>
                  <a:srgbClr val="FFB080"/>
                </a:solidFill>
                <a:latin typeface="Courier New"/>
                <a:ea typeface="Courier New"/>
                <a:cs typeface="Courier New"/>
              </a:rPr>
              <a:t>for</a:t>
            </a:r>
            <a:r>
              <a:rPr sz="1944" b="0">
                <a:solidFill>
                  <a:srgbClr val="F4F7FA"/>
                </a:solidFill>
                <a:latin typeface="Courier New"/>
                <a:ea typeface="Courier New"/>
                <a:cs typeface="Courier New"/>
              </a:rPr>
              <a:t> truth, guess in zip(actual, predicted):</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print(truth, guess)</a:t>
            </a:r>
          </a:p>
        </p:txBody>
      </p:sp>
      <p:sp>
        <p:nvSpPr>
          <p:cNvPr id="6" name="">
            <a:extLst xmlns:a="http://schemas.openxmlformats.org/drawingml/2006/main">
              <a:ext uri="{FF2B5EF4-FFF2-40B4-BE49-F238E27FC236}">
                <a16:creationId xmlns:a16="http://schemas.microsoft.com/office/drawing/2014/main" id="{39EA0112-7E36-4730-8329-88213AC9837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FAE0C73-E380-42A9-A5EE-43864EAB329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first names receive the first pair, then the second pair.</a:t>
            </a:r>
          </a:p>
        </p:txBody>
      </p:sp>
      <p:sp>
        <p:nvSpPr>
          <p:cNvPr id="8" name="">
            <a:extLst xmlns:a="http://schemas.openxmlformats.org/drawingml/2006/main">
              <a:ext uri="{FF2B5EF4-FFF2-40B4-BE49-F238E27FC236}">
                <a16:creationId xmlns:a16="http://schemas.microsoft.com/office/drawing/2014/main" id="{14EF38C4-B519-41F3-8C30-0B264035791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10 12; 20 16</a:t>
            </a:r>
          </a:p>
        </p:txBody>
      </p:sp>
      <p:sp>
        <p:nvSpPr>
          <p:cNvPr id="9" name="">
            <a:extLst xmlns:a="http://schemas.openxmlformats.org/drawingml/2006/main">
              <a:ext uri="{FF2B5EF4-FFF2-40B4-BE49-F238E27FC236}">
                <a16:creationId xmlns:a16="http://schemas.microsoft.com/office/drawing/2014/main" id="{FA3CBD51-9D46-49CB-8DF4-78490536C4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45</a:t>
            </a:r>
          </a:p>
        </p:txBody>
      </p:sp>
    </p:spTree>
    <p:extLst>
      <p:ext uri="{BB962C8B-B14F-4D97-AF65-F5344CB8AC3E}">
        <p14:creationId xmlns:p14="http://schemas.microsoft.com/office/powerpoint/2010/main" val="70503658"/>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2B5B15F-4956-4A28-84B7-DC5C5FCBCD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40B94A-834E-470A-8FE1-5707C0AB39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4DBC67A-80D3-48FC-9D4C-E3690A5BCF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absolute and squared errors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Actual and predicted</a:t>
                      </a:r>
                    </a:p>
                  </a:txBody>
                  <a:tcPr marL="91440" marR="91440" marT="45720" marB="45720">
                    <a:solidFill>
                      <a:srgbClr val="2E7D6F"/>
                    </a:solidFill>
                  </a:tcPr>
                </a:tc>
                <a:tc>
                  <a:txBody>
                    <a:bodyPr/>
                    <a:lstStyle/>
                    <a:p>
                      <a:r>
                        <a:rPr sz="2025" b="1">
                          <a:solidFill>
                            <a:srgbClr val="FFFFFF"/>
                          </a:solidFill>
                          <a:latin typeface="Calibri"/>
                          <a:ea typeface="Calibri"/>
                          <a:cs typeface="Calibri"/>
                        </a:rPr>
                        <a:t>Absolute error</a:t>
                      </a:r>
                    </a:p>
                  </a:txBody>
                  <a:tcPr marL="91440" marR="91440" marT="45720" marB="45720">
                    <a:solidFill>
                      <a:srgbClr val="2E7D6F"/>
                    </a:solidFill>
                  </a:tcPr>
                </a:tc>
                <a:tc>
                  <a:txBody>
                    <a:bodyPr/>
                    <a:lstStyle/>
                    <a:p>
                      <a:r>
                        <a:rPr sz="2025" b="1">
                          <a:solidFill>
                            <a:srgbClr val="FFFFFF"/>
                          </a:solidFill>
                          <a:latin typeface="Calibri"/>
                          <a:ea typeface="Calibri"/>
                          <a:cs typeface="Calibri"/>
                        </a:rPr>
                        <a:t>Squared error</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10 and 12</a:t>
                      </a:r>
                    </a:p>
                  </a:txBody>
                  <a:tcPr marL="91440" marR="91440" marT="45720" marB="45720">
                    <a:solidFill>
                      <a:srgbClr val="EEF3F6"/>
                    </a:solidFill>
                  </a:tcPr>
                </a:tc>
                <a:tc>
                  <a:txBody>
                    <a:bodyPr/>
                    <a:lstStyle/>
                    <a:p>
                      <a:r>
                        <a:rPr sz="2025" b="0">
                          <a:solidFill>
                            <a:srgbClr val="1C3144"/>
                          </a:solidFill>
                          <a:latin typeface="Calibri"/>
                          <a:ea typeface="Calibri"/>
                          <a:cs typeface="Calibri"/>
                        </a:rPr>
                        <a:t>abs(-2) = 2</a:t>
                      </a:r>
                    </a:p>
                  </a:txBody>
                  <a:tcPr marL="91440" marR="91440" marT="45720" marB="45720">
                    <a:solidFill>
                      <a:srgbClr val="EEF3F6"/>
                    </a:solidFill>
                  </a:tcPr>
                </a:tc>
                <a:tc>
                  <a:txBody>
                    <a:bodyPr/>
                    <a:lstStyle/>
                    <a:p>
                      <a:r>
                        <a:rPr sz="2025" b="0">
                          <a:solidFill>
                            <a:srgbClr val="1C3144"/>
                          </a:solidFill>
                          <a:latin typeface="Calibri"/>
                          <a:ea typeface="Calibri"/>
                          <a:cs typeface="Calibri"/>
                        </a:rPr>
                        <a:t>(-2) ** 2 = 4</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20 and 16</a:t>
                      </a:r>
                    </a:p>
                  </a:txBody>
                  <a:tcPr marL="91440" marR="91440" marT="45720" marB="45720">
                    <a:solidFill>
                      <a:srgbClr val="FFFFFF"/>
                    </a:solidFill>
                  </a:tcPr>
                </a:tc>
                <a:tc>
                  <a:txBody>
                    <a:bodyPr/>
                    <a:lstStyle/>
                    <a:p>
                      <a:r>
                        <a:rPr sz="2025" b="0">
                          <a:solidFill>
                            <a:srgbClr val="1C3144"/>
                          </a:solidFill>
                          <a:latin typeface="Calibri"/>
                          <a:ea typeface="Calibri"/>
                          <a:cs typeface="Calibri"/>
                        </a:rPr>
                        <a:t>abs(4) = 4</a:t>
                      </a:r>
                    </a:p>
                  </a:txBody>
                  <a:tcPr marL="91440" marR="91440" marT="45720" marB="45720">
                    <a:solidFill>
                      <a:srgbClr val="FFFFFF"/>
                    </a:solidFill>
                  </a:tcPr>
                </a:tc>
                <a:tc>
                  <a:txBody>
                    <a:bodyPr/>
                    <a:lstStyle/>
                    <a:p>
                      <a:r>
                        <a:rPr sz="2025" b="0">
                          <a:solidFill>
                            <a:srgbClr val="1C3144"/>
                          </a:solidFill>
                          <a:latin typeface="Calibri"/>
                          <a:ea typeface="Calibri"/>
                          <a:cs typeface="Calibri"/>
                        </a:rPr>
                        <a:t>4 ** 2 = 16</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Average</a:t>
                      </a:r>
                    </a:p>
                  </a:txBody>
                  <a:tcPr marL="91440" marR="91440" marT="45720" marB="45720">
                    <a:solidFill>
                      <a:srgbClr val="EEF3F6"/>
                    </a:solidFill>
                  </a:tcPr>
                </a:tc>
                <a:tc>
                  <a:txBody>
                    <a:bodyPr/>
                    <a:lstStyle/>
                    <a:p>
                      <a:r>
                        <a:rPr sz="2025" b="0">
                          <a:solidFill>
                            <a:srgbClr val="1C3144"/>
                          </a:solidFill>
                          <a:latin typeface="Calibri"/>
                          <a:ea typeface="Calibri"/>
                          <a:cs typeface="Calibri"/>
                        </a:rPr>
                        <a:t>(2 + 4) / 2 = 3</a:t>
                      </a:r>
                    </a:p>
                  </a:txBody>
                  <a:tcPr marL="91440" marR="91440" marT="45720" marB="45720">
                    <a:solidFill>
                      <a:srgbClr val="EEF3F6"/>
                    </a:solidFill>
                  </a:tcPr>
                </a:tc>
                <a:tc>
                  <a:txBody>
                    <a:bodyPr/>
                    <a:lstStyle/>
                    <a:p>
                      <a:r>
                        <a:rPr sz="2025" b="0">
                          <a:solidFill>
                            <a:srgbClr val="1C3144"/>
                          </a:solidFill>
                          <a:latin typeface="Calibri"/>
                          <a:ea typeface="Calibri"/>
                          <a:cs typeface="Calibri"/>
                        </a:rPr>
                        <a:t>(4 + 16) / 2 = 10</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231DE739-E424-45C3-A406-27C318A310FF}"/>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MAE is 3. RMSE is sqrt(10), approximately 3.1623. sqrt means the nonnegative square root.</a:t>
            </a:r>
          </a:p>
        </p:txBody>
      </p:sp>
      <p:sp>
        <p:nvSpPr>
          <p:cNvPr id="6" name="">
            <a:extLst xmlns:a="http://schemas.openxmlformats.org/drawingml/2006/main">
              <a:ext uri="{FF2B5EF4-FFF2-40B4-BE49-F238E27FC236}">
                <a16:creationId xmlns:a16="http://schemas.microsoft.com/office/drawing/2014/main" id="{641AA769-B779-4B2C-BC9A-24D8E95A41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46</a:t>
            </a:r>
          </a:p>
        </p:txBody>
      </p:sp>
    </p:spTree>
    <p:extLst>
      <p:ext uri="{BB962C8B-B14F-4D97-AF65-F5344CB8AC3E}">
        <p14:creationId xmlns:p14="http://schemas.microsoft.com/office/powerpoint/2010/main" val="2044325949"/>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83ADC2F-F99D-4CE9-AD46-0943BDB24D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D20460-A743-41D9-9344-E347BBCECD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75AB48E-5DB0-4E83-86A9-3E81EF2716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a:t>
            </a:r>
          </a:p>
        </p:txBody>
      </p:sp>
      <p:sp>
        <p:nvSpPr>
          <p:cNvPr id="4" name="">
            <a:extLst xmlns:a="http://schemas.openxmlformats.org/drawingml/2006/main">
              <a:ext uri="{FF2B5EF4-FFF2-40B4-BE49-F238E27FC236}">
                <a16:creationId xmlns:a16="http://schemas.microsoft.com/office/drawing/2014/main" id="{4D848194-7A9F-4356-8198-5DD3B9AF067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71C0B59-0C3E-4B22-933E-7266C6D5268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zip pairs corresponding values. abs measures error size.</a:t>
            </a:r>
          </a:p>
        </p:txBody>
      </p:sp>
      <p:sp>
        <p:nvSpPr>
          <p:cNvPr id="6" name="">
            <a:extLst xmlns:a="http://schemas.openxmlformats.org/drawingml/2006/main">
              <a:ext uri="{FF2B5EF4-FFF2-40B4-BE49-F238E27FC236}">
                <a16:creationId xmlns:a16="http://schemas.microsoft.com/office/drawing/2014/main" id="{902ED4A2-A349-4020-8014-A1015ED4A4E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ACC0D1D-770E-40FD-946F-FF7B4B234B0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Squaring emphasises large errors; taking the square root returns to the original unit.</a:t>
            </a:r>
          </a:p>
        </p:txBody>
      </p:sp>
      <p:sp>
        <p:nvSpPr>
          <p:cNvPr id="8" name="">
            <a:extLst xmlns:a="http://schemas.openxmlformats.org/drawingml/2006/main">
              <a:ext uri="{FF2B5EF4-FFF2-40B4-BE49-F238E27FC236}">
                <a16:creationId xmlns:a16="http://schemas.microsoft.com/office/drawing/2014/main" id="{B0366ED0-29A4-431E-8106-5A9C09BD136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1666EA5-7371-4F7D-9BEB-085BC8B8E1E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functions assume equal-length, nonempty paired observations.</a:t>
            </a:r>
          </a:p>
        </p:txBody>
      </p:sp>
      <p:sp>
        <p:nvSpPr>
          <p:cNvPr id="10" name="">
            <a:extLst xmlns:a="http://schemas.openxmlformats.org/drawingml/2006/main">
              <a:ext uri="{FF2B5EF4-FFF2-40B4-BE49-F238E27FC236}">
                <a16:creationId xmlns:a16="http://schemas.microsoft.com/office/drawing/2014/main" id="{33FC0042-2D0B-4649-B705-2CCC0ED950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47</a:t>
            </a:r>
          </a:p>
        </p:txBody>
      </p:sp>
    </p:spTree>
    <p:extLst>
      <p:ext uri="{BB962C8B-B14F-4D97-AF65-F5344CB8AC3E}">
        <p14:creationId xmlns:p14="http://schemas.microsoft.com/office/powerpoint/2010/main" val="94570224"/>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0D23782-D715-4BA8-8699-CFA2BFF690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9FCC56-3883-46C5-9B16-DB96B60E84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4D30C34-951D-4D33-86EE-0B73F3419E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 in Python (1/2)</a:t>
            </a:r>
          </a:p>
        </p:txBody>
      </p:sp>
      <p:sp>
        <p:nvSpPr>
          <p:cNvPr id="4" name="">
            <a:extLst xmlns:a="http://schemas.openxmlformats.org/drawingml/2006/main">
              <a:ext uri="{FF2B5EF4-FFF2-40B4-BE49-F238E27FC236}">
                <a16:creationId xmlns:a16="http://schemas.microsoft.com/office/drawing/2014/main" id="{91F0903A-6EDD-49D1-86B9-076B628897F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79AF2B7-3A5D-42AF-B4CA-7BDC79DAA29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math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sqrt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 = [10,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 = [12,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absolute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squared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truth, guess in zip(a, 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d</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ference = truth - guess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absolute.append(abs(difference))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squared.append(difference ** 2)</a:t>
            </a:r>
          </a:p>
        </p:txBody>
      </p:sp>
      <p:sp>
        <p:nvSpPr>
          <p:cNvPr id="6" name="">
            <a:extLst xmlns:a="http://schemas.openxmlformats.org/drawingml/2006/main">
              <a:ext uri="{FF2B5EF4-FFF2-40B4-BE49-F238E27FC236}">
                <a16:creationId xmlns:a16="http://schemas.microsoft.com/office/drawing/2014/main" id="{4FE29E53-20F9-4527-B3E6-928EC65D634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94F6AEC-44C1-48D3-ACB6-0999DF2C81D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0C594499-00E5-4F97-AF12-BF41B121477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9" name="">
            <a:extLst xmlns:a="http://schemas.openxmlformats.org/drawingml/2006/main">
              <a:ext uri="{FF2B5EF4-FFF2-40B4-BE49-F238E27FC236}">
                <a16:creationId xmlns:a16="http://schemas.microsoft.com/office/drawing/2014/main" id="{23A07795-5646-4403-AEA3-5580DA13B8ED}"/>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10" name="">
            <a:extLst xmlns:a="http://schemas.openxmlformats.org/drawingml/2006/main">
              <a:ext uri="{FF2B5EF4-FFF2-40B4-BE49-F238E27FC236}">
                <a16:creationId xmlns:a16="http://schemas.microsoft.com/office/drawing/2014/main" id="{16F0957B-C30A-4357-8ABD-82155D7A762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D81EA3B7-E987-48B7-80E0-25AB33234DB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48</a:t>
            </a:r>
          </a:p>
        </p:txBody>
      </p:sp>
    </p:spTree>
    <p:extLst>
      <p:ext uri="{BB962C8B-B14F-4D97-AF65-F5344CB8AC3E}">
        <p14:creationId xmlns:p14="http://schemas.microsoft.com/office/powerpoint/2010/main" val="589285054"/>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CA6B190-770C-4A67-B641-A78DBDF06C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0EF60BE-07A8-49FD-BB74-C0D9079A5C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60B27B5-71BC-4D29-9F6A-3F69A88B8C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 in Python (2/2)</a:t>
            </a:r>
          </a:p>
        </p:txBody>
      </p:sp>
      <p:sp>
        <p:nvSpPr>
          <p:cNvPr id="4" name="">
            <a:extLst xmlns:a="http://schemas.openxmlformats.org/drawingml/2006/main">
              <a:ext uri="{FF2B5EF4-FFF2-40B4-BE49-F238E27FC236}">
                <a16:creationId xmlns:a16="http://schemas.microsoft.com/office/drawing/2014/main" id="{AA5BB5C2-2662-4CCE-8642-6958B90F701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A78F648-39D4-4B16-9151-6A0A6E5B122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print(sum(absolute) / len(a))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print(sqrt(sum(squared) / len(a)))</a:t>
            </a:r>
          </a:p>
        </p:txBody>
      </p:sp>
      <p:sp>
        <p:nvSpPr>
          <p:cNvPr id="6" name="">
            <a:extLst xmlns:a="http://schemas.openxmlformats.org/drawingml/2006/main">
              <a:ext uri="{FF2B5EF4-FFF2-40B4-BE49-F238E27FC236}">
                <a16:creationId xmlns:a16="http://schemas.microsoft.com/office/drawing/2014/main" id="{143A5FFF-595F-4B37-AE62-E8B6C0D2D6D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FA38998-A0A2-445E-90E9-C5E3EC88A46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5DD23FAB-DA77-4997-AD6B-75E94BA2A3A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D8279ADC-BEF9-4236-BA91-CF2E281D7D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49</a:t>
            </a:r>
          </a:p>
        </p:txBody>
      </p:sp>
    </p:spTree>
    <p:extLst>
      <p:ext uri="{BB962C8B-B14F-4D97-AF65-F5344CB8AC3E}">
        <p14:creationId xmlns:p14="http://schemas.microsoft.com/office/powerpoint/2010/main" val="509265777"/>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CBC2D39-D71F-4019-BFF3-F19A00A2BE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91BC4BB-7F8A-4747-96EB-393B6862CE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3AAD0BC-0D94-4E4D-BB55-216036EBC5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R² compares against a mean prediction</a:t>
            </a:r>
          </a:p>
        </p:txBody>
      </p:sp>
      <p:sp>
        <p:nvSpPr>
          <p:cNvPr id="4" name="">
            <a:extLst xmlns:a="http://schemas.openxmlformats.org/drawingml/2006/main">
              <a:ext uri="{FF2B5EF4-FFF2-40B4-BE49-F238E27FC236}">
                <a16:creationId xmlns:a16="http://schemas.microsoft.com/office/drawing/2014/main" id="{00707212-22D8-4749-837A-9B8455C0AD1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B3D3263-F256-44A3-9905-8A52FA4841A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R² compares squared errors with predicting the mean of the evaluated targets. It is a score, not “percentage accuracy”.</a:t>
            </a:r>
          </a:p>
        </p:txBody>
      </p:sp>
      <p:sp>
        <p:nvSpPr>
          <p:cNvPr id="6" name="">
            <a:extLst xmlns:a="http://schemas.openxmlformats.org/drawingml/2006/main">
              <a:ext uri="{FF2B5EF4-FFF2-40B4-BE49-F238E27FC236}">
                <a16:creationId xmlns:a16="http://schemas.microsoft.com/office/drawing/2014/main" id="{31BB27E2-121C-42F5-AACF-FB0B37E63AA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CE432E7-53F6-4A30-A469-75A5CCD7D33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 means perfect predictions on those observations. 0 matches that mean-prediction reference; a negative score can be worse.</a:t>
            </a:r>
          </a:p>
        </p:txBody>
      </p:sp>
      <p:sp>
        <p:nvSpPr>
          <p:cNvPr id="8" name="">
            <a:extLst xmlns:a="http://schemas.openxmlformats.org/drawingml/2006/main">
              <a:ext uri="{FF2B5EF4-FFF2-40B4-BE49-F238E27FC236}">
                <a16:creationId xmlns:a16="http://schemas.microsoft.com/office/drawing/2014/main" id="{5687649A-69AB-47A5-A651-5CB1A2CCC7F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AE2E1F-6653-4462-874F-340FFB112BB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evaluation observations and report the specified error metric with its units. Constant targets need special handling; this score alone does not prove usefulness.</a:t>
            </a:r>
          </a:p>
        </p:txBody>
      </p:sp>
      <p:sp>
        <p:nvSpPr>
          <p:cNvPr id="10" name="">
            <a:extLst xmlns:a="http://schemas.openxmlformats.org/drawingml/2006/main">
              <a:ext uri="{FF2B5EF4-FFF2-40B4-BE49-F238E27FC236}">
                <a16:creationId xmlns:a16="http://schemas.microsoft.com/office/drawing/2014/main" id="{421BA39F-2509-4157-A656-15919D96D4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50</a:t>
            </a:r>
          </a:p>
        </p:txBody>
      </p:sp>
    </p:spTree>
    <p:extLst>
      <p:ext uri="{BB962C8B-B14F-4D97-AF65-F5344CB8AC3E}">
        <p14:creationId xmlns:p14="http://schemas.microsoft.com/office/powerpoint/2010/main" val="775292710"/>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B7DE923-BFA0-40E1-9F6A-8F619ECDC5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05CC380-205C-4C9E-A8CB-B04529719E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DA11F04-24E5-4361-8EF5-86BD3FED3C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335A291F-8EBC-4F4D-AE63-0A83DFAD6B4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9860ED4-24F6-4826-AAAE-ED65F3319D4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5978CB7-916E-4F27-AEA7-1395EC67446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On paper compare actual [10, 20] with predictions [12, 16]. Find MAE and RMSE. Is MAE a plus/minus guarantee for each prediction?</a:t>
            </a:r>
          </a:p>
        </p:txBody>
      </p:sp>
      <p:sp>
        <p:nvSpPr>
          <p:cNvPr id="7" name="">
            <a:extLst xmlns:a="http://schemas.openxmlformats.org/drawingml/2006/main">
              <a:ext uri="{FF2B5EF4-FFF2-40B4-BE49-F238E27FC236}">
                <a16:creationId xmlns:a16="http://schemas.microsoft.com/office/drawing/2014/main" id="{F1D2B306-8351-4559-B3DF-0FE90BF8487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Absolute errors are 2 and 4: MAE 3. Squared errors 4 and 16: RMSE sqrt(10), about 3.162. MAE is an average, not an individual error bound.</a:t>
            </a:r>
          </a:p>
        </p:txBody>
      </p:sp>
      <p:sp>
        <p:nvSpPr>
          <p:cNvPr id="8" name="">
            <a:extLst xmlns:a="http://schemas.openxmlformats.org/drawingml/2006/main">
              <a:ext uri="{FF2B5EF4-FFF2-40B4-BE49-F238E27FC236}">
                <a16:creationId xmlns:a16="http://schemas.microsoft.com/office/drawing/2014/main" id="{D734084C-8C95-476F-BC08-C521D07AC1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51</a:t>
            </a:r>
          </a:p>
        </p:txBody>
      </p:sp>
    </p:spTree>
    <p:extLst>
      <p:ext uri="{BB962C8B-B14F-4D97-AF65-F5344CB8AC3E}">
        <p14:creationId xmlns:p14="http://schemas.microsoft.com/office/powerpoint/2010/main" val="1022578200"/>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B007B05-7E11-45A3-8023-88AAC1D36C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B9885E-F087-4BC6-8D0E-F813EE0C72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640E18D-EFC5-4977-8889-A136033C0E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76193156-AE37-408C-8086-7A0E548FA69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A0722FA-DA8B-432D-8A08-C689271D56E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W08 asks for baseline, linear and depth-4 tree prediction lists plus error metrics.</a:t>
            </a:r>
          </a:p>
        </p:txBody>
      </p:sp>
      <p:sp>
        <p:nvSpPr>
          <p:cNvPr id="6" name="">
            <a:extLst xmlns:a="http://schemas.openxmlformats.org/drawingml/2006/main">
              <a:ext uri="{FF2B5EF4-FFF2-40B4-BE49-F238E27FC236}">
                <a16:creationId xmlns:a16="http://schemas.microsoft.com/office/drawing/2014/main" id="{12666F1F-186B-4F1E-BE86-00DE0542106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DBE7A7F-AC5A-42AF-B71E-FF52F8B3111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missing-value replacement on training data.</a:t>
            </a:r>
          </a:p>
        </p:txBody>
      </p:sp>
      <p:sp>
        <p:nvSpPr>
          <p:cNvPr id="8" name="">
            <a:extLst xmlns:a="http://schemas.openxmlformats.org/drawingml/2006/main">
              <a:ext uri="{FF2B5EF4-FFF2-40B4-BE49-F238E27FC236}">
                <a16:creationId xmlns:a16="http://schemas.microsoft.com/office/drawing/2014/main" id="{DC30E596-ACCB-4D92-9B13-BE7EDCF153C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BFF6563-E61B-4C64-A931-C33775E3C4B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Pipeline joins preprocessing to the model.</a:t>
            </a:r>
          </a:p>
        </p:txBody>
      </p:sp>
      <p:sp>
        <p:nvSpPr>
          <p:cNvPr id="10" name="">
            <a:extLst xmlns:a="http://schemas.openxmlformats.org/drawingml/2006/main">
              <a:ext uri="{FF2B5EF4-FFF2-40B4-BE49-F238E27FC236}">
                <a16:creationId xmlns:a16="http://schemas.microsoft.com/office/drawing/2014/main" id="{74D277F9-EC66-40EE-B65E-D0C904F3F87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48F11BB-D602-444F-94A2-CB31CA6C660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load_pct and ambient_c are predictors.</a:t>
            </a:r>
          </a:p>
        </p:txBody>
      </p:sp>
      <p:sp>
        <p:nvSpPr>
          <p:cNvPr id="12" name="">
            <a:extLst xmlns:a="http://schemas.openxmlformats.org/drawingml/2006/main">
              <a:ext uri="{FF2B5EF4-FFF2-40B4-BE49-F238E27FC236}">
                <a16:creationId xmlns:a16="http://schemas.microsoft.com/office/drawing/2014/main" id="{434B128B-1F27-4252-8672-4AD8EA0733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52</a:t>
            </a:r>
          </a:p>
        </p:txBody>
      </p:sp>
    </p:spTree>
    <p:extLst>
      <p:ext uri="{BB962C8B-B14F-4D97-AF65-F5344CB8AC3E}">
        <p14:creationId xmlns:p14="http://schemas.microsoft.com/office/powerpoint/2010/main" val="223236926"/>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AC109D6-C3E2-4A66-88F5-0E92A5C4D9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0A7890B-4532-461F-A3C1-01959A62BC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6DCED8A-8DA9-4C7D-8D30-8779802EB1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2ACD968D-C8AB-40C1-9EB5-B949D21E09C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CD77356-D157-41C4-91DB-6DEC988866B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observations from the same equipment in one partition.</a:t>
            </a:r>
          </a:p>
        </p:txBody>
      </p:sp>
      <p:sp>
        <p:nvSpPr>
          <p:cNvPr id="6" name="">
            <a:extLst xmlns:a="http://schemas.openxmlformats.org/drawingml/2006/main">
              <a:ext uri="{FF2B5EF4-FFF2-40B4-BE49-F238E27FC236}">
                <a16:creationId xmlns:a16="http://schemas.microsoft.com/office/drawing/2014/main" id="{A91AE496-40C8-4886-849F-9C165CC6784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F848BB1-08F4-4997-88A9-9ED6E4FF7DE4}"/>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written comparison supplies scenario values.</a:t>
            </a:r>
          </a:p>
        </p:txBody>
      </p:sp>
      <p:sp>
        <p:nvSpPr>
          <p:cNvPr id="8" name="">
            <a:extLst xmlns:a="http://schemas.openxmlformats.org/drawingml/2006/main">
              <a:ext uri="{FF2B5EF4-FFF2-40B4-BE49-F238E27FC236}">
                <a16:creationId xmlns:a16="http://schemas.microsoft.com/office/drawing/2014/main" id="{1F3524CB-CAA4-43AA-A83E-189ADB287B9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97448B7-4176-48AE-B960-75DD6CBBDDD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Distinguish them from your own measured results.</a:t>
            </a:r>
          </a:p>
        </p:txBody>
      </p:sp>
      <p:sp>
        <p:nvSpPr>
          <p:cNvPr id="10" name="">
            <a:extLst xmlns:a="http://schemas.openxmlformats.org/drawingml/2006/main">
              <a:ext uri="{FF2B5EF4-FFF2-40B4-BE49-F238E27FC236}">
                <a16:creationId xmlns:a16="http://schemas.microsoft.com/office/drawing/2014/main" id="{47319F33-4AFA-42BC-ACB1-2BCB5C4C58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53</a:t>
            </a:r>
          </a:p>
        </p:txBody>
      </p:sp>
    </p:spTree>
    <p:extLst>
      <p:ext uri="{BB962C8B-B14F-4D97-AF65-F5344CB8AC3E}">
        <p14:creationId xmlns:p14="http://schemas.microsoft.com/office/powerpoint/2010/main" val="267359356"/>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0AD865E-A1EB-46FC-85AF-862562E66A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E6DC81E-727A-4A53-BC98-5BCE3C5FAE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190441D-3C01-4DA7-9390-816A5C6A77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model outputs</a:t>
            </a:r>
          </a:p>
        </p:txBody>
      </p:sp>
      <p:sp>
        <p:nvSpPr>
          <p:cNvPr id="4" name="">
            <a:extLst xmlns:a="http://schemas.openxmlformats.org/drawingml/2006/main">
              <a:ext uri="{FF2B5EF4-FFF2-40B4-BE49-F238E27FC236}">
                <a16:creationId xmlns:a16="http://schemas.microsoft.com/office/drawing/2014/main" id="{243D1578-B08C-4AF4-8B52-E47F7F8B530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2C7687E-3113-4934-9C53-6B2A6DD8CB2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score on training rows describes training fit.</a:t>
            </a:r>
          </a:p>
        </p:txBody>
      </p:sp>
      <p:sp>
        <p:nvSpPr>
          <p:cNvPr id="6" name="">
            <a:extLst xmlns:a="http://schemas.openxmlformats.org/drawingml/2006/main">
              <a:ext uri="{FF2B5EF4-FFF2-40B4-BE49-F238E27FC236}">
                <a16:creationId xmlns:a16="http://schemas.microsoft.com/office/drawing/2014/main" id="{3569CADF-D6B2-41F3-8BE4-48FF417E61E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02982B0-3C72-45DC-B9C8-FA04BF26B0A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table must preserve the training column names, order and units during prediction.</a:t>
            </a:r>
          </a:p>
        </p:txBody>
      </p:sp>
      <p:sp>
        <p:nvSpPr>
          <p:cNvPr id="8" name="">
            <a:extLst xmlns:a="http://schemas.openxmlformats.org/drawingml/2006/main">
              <a:ext uri="{FF2B5EF4-FFF2-40B4-BE49-F238E27FC236}">
                <a16:creationId xmlns:a16="http://schemas.microsoft.com/office/drawing/2014/main" id="{7FD303D9-224C-42B1-B132-10519C3C624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CF63F28-1F03-48A7-BA80-04E8CA8AC14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one-dimensional list may have the wrong shape for a model expecting rows and columns.</a:t>
            </a:r>
          </a:p>
        </p:txBody>
      </p:sp>
      <p:sp>
        <p:nvSpPr>
          <p:cNvPr id="10" name="">
            <a:extLst xmlns:a="http://schemas.openxmlformats.org/drawingml/2006/main">
              <a:ext uri="{FF2B5EF4-FFF2-40B4-BE49-F238E27FC236}">
                <a16:creationId xmlns:a16="http://schemas.microsoft.com/office/drawing/2014/main" id="{E5DB3B2D-5111-4694-B7DF-E1131EE52CDC}"/>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850888B-4D20-4D40-B652-9A4F8F51CC9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predicted-versus-actual plot uses the diagonal as perfect agreement; a pattern is not proof of causation.</a:t>
            </a:r>
          </a:p>
        </p:txBody>
      </p:sp>
      <p:sp>
        <p:nvSpPr>
          <p:cNvPr id="12" name="">
            <a:extLst xmlns:a="http://schemas.openxmlformats.org/drawingml/2006/main">
              <a:ext uri="{FF2B5EF4-FFF2-40B4-BE49-F238E27FC236}">
                <a16:creationId xmlns:a16="http://schemas.microsoft.com/office/drawing/2014/main" id="{B9CCAB14-3E93-47D0-AF23-63A9B76F0D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54</a:t>
            </a:r>
          </a:p>
        </p:txBody>
      </p:sp>
    </p:spTree>
    <p:extLst>
      <p:ext uri="{BB962C8B-B14F-4D97-AF65-F5344CB8AC3E}">
        <p14:creationId xmlns:p14="http://schemas.microsoft.com/office/powerpoint/2010/main" val="759444063"/>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D4E858A-BF7B-4C4F-BC1C-6DEDFDA33C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05537DB-A96B-476C-9720-067E8FD2EB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75166F9-E58E-4300-A38F-2AC32A9A0E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model outputs continued</a:t>
            </a:r>
          </a:p>
        </p:txBody>
      </p:sp>
      <p:sp>
        <p:nvSpPr>
          <p:cNvPr id="4" name="">
            <a:extLst xmlns:a="http://schemas.openxmlformats.org/drawingml/2006/main">
              <a:ext uri="{FF2B5EF4-FFF2-40B4-BE49-F238E27FC236}">
                <a16:creationId xmlns:a16="http://schemas.microsoft.com/office/drawing/2014/main" id="{A9C34152-F511-4EAF-B33E-652D15968D4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93F4820-94E4-4761-99CB-EB3796302C3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E7ED50E-DC29-4951-BC6C-659E789A75E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Judge MAE against the baseline and the decision’s acceptable error.</a:t>
            </a:r>
          </a:p>
        </p:txBody>
      </p:sp>
      <p:sp>
        <p:nvSpPr>
          <p:cNvPr id="7" name="">
            <a:extLst xmlns:a="http://schemas.openxmlformats.org/drawingml/2006/main">
              <a:ext uri="{FF2B5EF4-FFF2-40B4-BE49-F238E27FC236}">
                <a16:creationId xmlns:a16="http://schemas.microsoft.com/office/drawing/2014/main" id="{3586A01B-506E-454B-A7FC-3B12631399F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R² is not an accuracy percentage.</a:t>
            </a:r>
          </a:p>
        </p:txBody>
      </p:sp>
      <p:sp>
        <p:nvSpPr>
          <p:cNvPr id="8" name="">
            <a:extLst xmlns:a="http://schemas.openxmlformats.org/drawingml/2006/main">
              <a:ext uri="{FF2B5EF4-FFF2-40B4-BE49-F238E27FC236}">
                <a16:creationId xmlns:a16="http://schemas.microsoft.com/office/drawing/2014/main" id="{D9B8867A-CA0F-404A-81CE-6C3E8AAA15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55</a:t>
            </a:r>
          </a:p>
        </p:txBody>
      </p:sp>
    </p:spTree>
    <p:extLst>
      <p:ext uri="{BB962C8B-B14F-4D97-AF65-F5344CB8AC3E}">
        <p14:creationId xmlns:p14="http://schemas.microsoft.com/office/powerpoint/2010/main" val="959222891"/>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A7AB198-924A-4ED4-B3CD-39D9BE3C78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67C06E-FBDB-4408-959C-F493282506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6C81471-0716-430C-8A69-CC963CE3E0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83AC4284-D3A5-4C62-9551-547BF035876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206C419-1C12-4595-9C00-02AD682151F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AAD2A959-D8BC-4CB4-BE92-D7B12EC5656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F46EA50-ACDC-4CD1-B99C-BEDF7BDCE18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93607A52-A195-4510-9221-0EAD09E9F3D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25C0A5F-80CB-41A3-8A2E-D06921CE1C8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67A1D331-0F79-48FE-87BA-E0224BA089A5}"/>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D173055-F40F-4C78-B0D2-38F4589C475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1B74B9F4-5953-4157-BCBF-F1C0E9B3C2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56</a:t>
            </a:r>
          </a:p>
        </p:txBody>
      </p:sp>
    </p:spTree>
    <p:extLst>
      <p:ext uri="{BB962C8B-B14F-4D97-AF65-F5344CB8AC3E}">
        <p14:creationId xmlns:p14="http://schemas.microsoft.com/office/powerpoint/2010/main" val="1215091007"/>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A363963-7037-4B78-BD8E-143A210D1E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59BAF7-14B3-431D-ABCC-6356326F6A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469DABC1-4D81-4E9D-874B-C211F708A8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1FE79CF0-BEAE-47CF-A6A0-312C238C127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AEDADCD-F74F-4937-A871-4C826CE766E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2A46DEF6-02DC-4341-8EDD-BE7A054A5557}"/>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AF97FFE-7420-46E7-92D9-B701875916A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3303B7E9-08CF-4E8D-9C34-C4F1F015DC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57</a:t>
            </a:r>
          </a:p>
        </p:txBody>
      </p:sp>
    </p:spTree>
    <p:extLst>
      <p:ext uri="{BB962C8B-B14F-4D97-AF65-F5344CB8AC3E}">
        <p14:creationId xmlns:p14="http://schemas.microsoft.com/office/powerpoint/2010/main" val="1067567773"/>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62D582E-F607-44C9-9D2F-F33555244F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0759B9-D811-4495-8514-7E1502C319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60F8573-D328-441A-AD2D-C7BFED45ED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9421ACF5-A303-4037-962A-28E5DEF9A7F7}"/>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882E49-3DB1-4A9F-BF20-F36A5D600FEB}"/>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206462AC-2226-4736-B77B-DF50BDE3032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DFB1DE1-CD0E-468B-B992-E54CC9F7B814}"/>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E30E9697-71E8-4756-B40C-2BA7A9434A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58</a:t>
            </a:r>
          </a:p>
        </p:txBody>
      </p:sp>
    </p:spTree>
    <p:extLst>
      <p:ext uri="{BB962C8B-B14F-4D97-AF65-F5344CB8AC3E}">
        <p14:creationId xmlns:p14="http://schemas.microsoft.com/office/powerpoint/2010/main" val="898403716"/>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1DE7A20-A0CA-48AA-91FC-EC64164B80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B6E1109-3CB6-44BD-85B7-C9FA668CB8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550D5EB-9D43-433F-BB17-ABF367F4C4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6CBDB7B0-0468-4551-9A7F-A6A3AB6071F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AB6EBF8-F99F-4BB7-9527-37C962C19C7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26B57391-AEAF-4650-8A03-CE318E9832A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DEC5771-C005-4520-86D5-1DC48B3439E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520C164B-5021-4E6C-BB4D-98938E3426A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AF3A512-9B44-481C-81E0-058B60D1D38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CC210496-3E6B-4A08-8E4D-78378C863ED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26E7365-9822-41DB-9D56-FF2FFCBE2FB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203EFA41-76F9-4A1D-8206-0D7F544A22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59</a:t>
            </a:r>
          </a:p>
        </p:txBody>
      </p:sp>
    </p:spTree>
    <p:extLst>
      <p:ext uri="{BB962C8B-B14F-4D97-AF65-F5344CB8AC3E}">
        <p14:creationId xmlns:p14="http://schemas.microsoft.com/office/powerpoint/2010/main" val="1500015013"/>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D48A624-BE3F-439F-94C3-EB57857C34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7F5A8AC-4CDC-4B78-8F05-29B4CBB93F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47C306C8-0BCE-4566-B585-F68CEF5478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and baseline submission</a:t>
            </a:r>
          </a:p>
        </p:txBody>
      </p:sp>
      <p:sp>
        <p:nvSpPr>
          <p:cNvPr id="4" name="">
            <a:extLst xmlns:a="http://schemas.openxmlformats.org/drawingml/2006/main">
              <a:ext uri="{FF2B5EF4-FFF2-40B4-BE49-F238E27FC236}">
                <a16:creationId xmlns:a16="http://schemas.microsoft.com/office/drawing/2014/main" id="{4BDC061E-C22C-4CF9-8021-47731094423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ACAB6E1-F92A-4B3B-9712-6389E4944A78}"/>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30 Oct 2026, 08:00 Kampala</a:t>
            </a:r>
          </a:p>
        </p:txBody>
      </p:sp>
      <p:sp>
        <p:nvSpPr>
          <p:cNvPr id="6" name="">
            <a:extLst xmlns:a="http://schemas.openxmlformats.org/drawingml/2006/main">
              <a:ext uri="{FF2B5EF4-FFF2-40B4-BE49-F238E27FC236}">
                <a16:creationId xmlns:a16="http://schemas.microsoft.com/office/drawing/2014/main" id="{BD3EB56A-C486-445B-A7AC-779E549939C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4ACB1D5-1EBF-490A-819F-8FA7BA79F955}"/>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06 Nov 2026, 08:00 Kampala</a:t>
            </a:r>
          </a:p>
        </p:txBody>
      </p:sp>
      <p:sp>
        <p:nvSpPr>
          <p:cNvPr id="8" name="">
            <a:extLst xmlns:a="http://schemas.openxmlformats.org/drawingml/2006/main">
              <a:ext uri="{FF2B5EF4-FFF2-40B4-BE49-F238E27FC236}">
                <a16:creationId xmlns:a16="http://schemas.microsoft.com/office/drawing/2014/main" id="{C6113262-50C2-4517-9713-871A1C02153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5278C71-094E-4A7C-BD0B-DD33470962A9}"/>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E6114105-F8C6-4924-B435-FBF9C42C4A36}"/>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41D0531-2ADC-4E33-B9F0-FA7FED356BDC}"/>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1DEECA00-651C-4579-B3EF-96D610C2119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D9A9B83-EC30-46F5-84B6-CC2264B20A6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20fe4e744314d50"/>
              </a:rPr>
              <a:t>Open W08 assignment form</a:t>
            </a:r>
          </a:p>
        </p:txBody>
      </p:sp>
      <p:sp>
        <p:nvSpPr>
          <p:cNvPr id="14" name="">
            <a:extLst xmlns:a="http://schemas.openxmlformats.org/drawingml/2006/main">
              <a:ext uri="{FF2B5EF4-FFF2-40B4-BE49-F238E27FC236}">
                <a16:creationId xmlns:a16="http://schemas.microsoft.com/office/drawing/2014/main" id="{0F3DCEAD-8665-414C-92EE-7C5D3F88701B}"/>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https://docs.google.com/forms/d/e/1FAIpQLScEhukVhOy7mk4-sfmGMIBPDwAXlVTIZeAict3izXXZ1fvCFg/viewform</a:t>
            </a:r>
          </a:p>
        </p:txBody>
      </p:sp>
      <p:sp>
        <p:nvSpPr>
          <p:cNvPr id="15" name="">
            <a:extLst xmlns:a="http://schemas.openxmlformats.org/drawingml/2006/main">
              <a:ext uri="{FF2B5EF4-FFF2-40B4-BE49-F238E27FC236}">
                <a16:creationId xmlns:a16="http://schemas.microsoft.com/office/drawing/2014/main" id="{A0AE8B86-46AA-43E0-9F0E-854EC6068F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60</a:t>
            </a:r>
          </a:p>
        </p:txBody>
      </p:sp>
    </p:spTree>
    <p:extLst>
      <p:ext uri="{BB962C8B-B14F-4D97-AF65-F5344CB8AC3E}">
        <p14:creationId xmlns:p14="http://schemas.microsoft.com/office/powerpoint/2010/main" val="654747799"/>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29C4F46-234C-4304-A00F-E511F3F13D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FA36DF9-19B0-4C80-8D65-4B1BBEE5F7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C4C780E-9749-4DB5-B48C-9443E7B3AA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a:t>
            </a:r>
          </a:p>
        </p:txBody>
      </p:sp>
      <p:sp>
        <p:nvSpPr>
          <p:cNvPr id="4" name="">
            <a:extLst xmlns:a="http://schemas.openxmlformats.org/drawingml/2006/main">
              <a:ext uri="{FF2B5EF4-FFF2-40B4-BE49-F238E27FC236}">
                <a16:creationId xmlns:a16="http://schemas.microsoft.com/office/drawing/2014/main" id="{BEE8D5C0-474B-4FFB-9DF1-2EC9F627840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1CA4758-31E3-4CF7-A502-FB540F2D3F4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59CB00AA-5D10-4312-A7E3-F06AA69E05B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E9FEB56-98B3-4C35-A44A-B9503BD302B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0AB71A92-A54B-4C54-83A8-4C8BB97531C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98D6568-BB79-4369-8850-CFA781F810C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0FF8B822-E57F-4004-AC73-994AB27B1E8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CC11028-DFD5-4D1E-B226-31B8EBFCD67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F9F6756D-F75A-408E-B8C4-5899577521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61</a:t>
            </a:r>
          </a:p>
        </p:txBody>
      </p:sp>
    </p:spTree>
    <p:extLst>
      <p:ext uri="{BB962C8B-B14F-4D97-AF65-F5344CB8AC3E}">
        <p14:creationId xmlns:p14="http://schemas.microsoft.com/office/powerpoint/2010/main" val="873470356"/>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DD79908-21A2-410D-B821-D36BF47144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1CB2380-A5BA-480E-AF50-12B3379EE5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3AA335E-46FB-4E6F-AE78-73C13ED1BF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459DCF14-20E4-4235-9798-3A442B8AAD6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C3C7D23-992F-444E-9294-955024406B9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A8B703F4-CD84-4F8B-940C-A77100D0732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EEAB1F0-90AB-4AF2-A2C3-F21FFD5E609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DEC13237-42A9-42DC-8025-6D828F6270F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C9D0C8F-B0AE-4B64-9298-489908A2EE6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0DCAF24E-9F78-471E-BB6E-F09ECDB61C0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B9401DC-6D9C-4128-A5EE-29A16F55FAF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9B76A115-3EA7-4097-A7B7-2727FB0DA3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62</a:t>
            </a:r>
          </a:p>
        </p:txBody>
      </p:sp>
    </p:spTree>
    <p:extLst>
      <p:ext uri="{BB962C8B-B14F-4D97-AF65-F5344CB8AC3E}">
        <p14:creationId xmlns:p14="http://schemas.microsoft.com/office/powerpoint/2010/main" val="1103071140"/>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26FA18E-3EA3-4943-8EB1-25B99E3123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7362404-EE28-43E7-AF4D-EAFF547857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5526982-2B96-44CA-BCAD-8EEB281EAD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E18E03A7-F974-4ED2-822C-C78AB42FD7A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EA18C7E-E130-451C-A1A9-6AAA89A80F5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xmlns:a="http://schemas.openxmlformats.org/drawingml/2006/main">
              <a:ext uri="{FF2B5EF4-FFF2-40B4-BE49-F238E27FC236}">
                <a16:creationId xmlns:a16="http://schemas.microsoft.com/office/drawing/2014/main" id="{ACFE081D-D18D-4303-A03A-5AAEE154FE7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EC0AE71-5B55-4F10-BAF8-9FB90D588F3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Question &amp; dataset fit (20.0 total): A real engineering question is stated, and the chosen dataset can actually answer it.</a:t>
            </a:r>
          </a:p>
        </p:txBody>
      </p:sp>
      <p:sp>
        <p:nvSpPr>
          <p:cNvPr id="8" name="">
            <a:extLst xmlns:a="http://schemas.openxmlformats.org/drawingml/2006/main">
              <a:ext uri="{FF2B5EF4-FFF2-40B4-BE49-F238E27FC236}">
                <a16:creationId xmlns:a16="http://schemas.microsoft.com/office/drawing/2014/main" id="{67316D5C-9796-455F-B854-F893662CEB9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3D1F24F-2602-4F93-A089-0A46446D51B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Provenance and licence stated.</a:t>
            </a:r>
          </a:p>
        </p:txBody>
      </p:sp>
      <p:sp>
        <p:nvSpPr>
          <p:cNvPr id="10" name="">
            <a:extLst xmlns:a="http://schemas.openxmlformats.org/drawingml/2006/main">
              <a:ext uri="{FF2B5EF4-FFF2-40B4-BE49-F238E27FC236}">
                <a16:creationId xmlns:a16="http://schemas.microsoft.com/office/drawing/2014/main" id="{80C934FF-F4FA-4C2F-BA76-72D00C4C886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CFF1BFA-3D43-47C7-AC05-F2A0A125027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quality work (25.0 total): Defects found and handled with written justification.</a:t>
            </a:r>
          </a:p>
        </p:txBody>
      </p:sp>
      <p:sp>
        <p:nvSpPr>
          <p:cNvPr id="12" name="">
            <a:extLst xmlns:a="http://schemas.openxmlformats.org/drawingml/2006/main">
              <a:ext uri="{FF2B5EF4-FFF2-40B4-BE49-F238E27FC236}">
                <a16:creationId xmlns:a16="http://schemas.microsoft.com/office/drawing/2014/main" id="{CBAA301B-0A53-44A6-8386-236333AE32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63</a:t>
            </a:r>
          </a:p>
        </p:txBody>
      </p:sp>
    </p:spTree>
    <p:extLst>
      <p:ext uri="{BB962C8B-B14F-4D97-AF65-F5344CB8AC3E}">
        <p14:creationId xmlns:p14="http://schemas.microsoft.com/office/powerpoint/2010/main" val="1797886268"/>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8F8E81D-EB8B-44DF-AE12-D6C47DBF19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E7373E-503F-4990-9DDD-7F0F985C5F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561724A-9C0D-4F8A-8988-37C5C4F905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6D744C3B-D04F-4276-A907-5C8CA741721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D29E458-F689-41D5-BE68-9A5C13DD829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 quality statement is present.</a:t>
            </a:r>
          </a:p>
        </p:txBody>
      </p:sp>
      <p:sp>
        <p:nvSpPr>
          <p:cNvPr id="6" name="">
            <a:extLst xmlns:a="http://schemas.openxmlformats.org/drawingml/2006/main">
              <a:ext uri="{FF2B5EF4-FFF2-40B4-BE49-F238E27FC236}">
                <a16:creationId xmlns:a16="http://schemas.microsoft.com/office/drawing/2014/main" id="{6BDCA4AD-F4DB-4D83-9D55-6557F435ABB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DD06DFA-8B33-4E3B-8D0C-1490291BFCA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Analysis &amp; visualisation (30.0 total): Four or more charts, each answering a stated question.</a:t>
            </a:r>
          </a:p>
        </p:txBody>
      </p:sp>
      <p:sp>
        <p:nvSpPr>
          <p:cNvPr id="8" name="">
            <a:extLst xmlns:a="http://schemas.openxmlformats.org/drawingml/2006/main">
              <a:ext uri="{FF2B5EF4-FFF2-40B4-BE49-F238E27FC236}">
                <a16:creationId xmlns:a16="http://schemas.microsoft.com/office/drawing/2014/main" id="{77ABD089-AEE9-46B1-B130-21A7AFA2267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14C1897-FFDF-43F7-B760-31617327D5E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Correct chart types, labelled axes, findings in the captions.</a:t>
            </a:r>
          </a:p>
        </p:txBody>
      </p:sp>
      <p:sp>
        <p:nvSpPr>
          <p:cNvPr id="10" name="">
            <a:extLst xmlns:a="http://schemas.openxmlformats.org/drawingml/2006/main">
              <a:ext uri="{FF2B5EF4-FFF2-40B4-BE49-F238E27FC236}">
                <a16:creationId xmlns:a16="http://schemas.microsoft.com/office/drawing/2014/main" id="{70017289-EFBE-4D54-A6FC-1672CF7D136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DC3ED47-3647-4BC1-8B42-AA206D0FE41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Findings &amp; interpretation (20.0 total): Conclusions supported by the analysis, stated in engineering terms, with limitations acknowledged.</a:t>
            </a:r>
          </a:p>
        </p:txBody>
      </p:sp>
      <p:sp>
        <p:nvSpPr>
          <p:cNvPr id="12" name="">
            <a:extLst xmlns:a="http://schemas.openxmlformats.org/drawingml/2006/main">
              <a:ext uri="{FF2B5EF4-FFF2-40B4-BE49-F238E27FC236}">
                <a16:creationId xmlns:a16="http://schemas.microsoft.com/office/drawing/2014/main" id="{C75E4E71-EDF2-4D38-BD5C-5322EA9FBE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64</a:t>
            </a:r>
          </a:p>
        </p:txBody>
      </p:sp>
    </p:spTree>
    <p:extLst>
      <p:ext uri="{BB962C8B-B14F-4D97-AF65-F5344CB8AC3E}">
        <p14:creationId xmlns:p14="http://schemas.microsoft.com/office/powerpoint/2010/main" val="447220064"/>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E9C5164-A429-487B-A30C-71217C0019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FD93C7E-F3D9-46C9-B6EC-9CB8808528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872B863-D5F1-4938-85B5-E0C833C988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6986E57B-4962-4ACC-B8CB-BAB95BAA394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BD0589-CE6F-4119-9595-33112AB97B50}"/>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Individual contribution log (5.0 total): Present, specific, and consistent with the repository's commit history.</a:t>
            </a:r>
          </a:p>
        </p:txBody>
      </p:sp>
      <p:sp>
        <p:nvSpPr>
          <p:cNvPr id="6" name="">
            <a:extLst xmlns:a="http://schemas.openxmlformats.org/drawingml/2006/main">
              <a:ext uri="{FF2B5EF4-FFF2-40B4-BE49-F238E27FC236}">
                <a16:creationId xmlns:a16="http://schemas.microsoft.com/office/drawing/2014/main" id="{F1663F7D-38AA-4856-B60D-9C0BCF3E8F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65</a:t>
            </a:r>
          </a:p>
        </p:txBody>
      </p:sp>
    </p:spTree>
    <p:extLst>
      <p:ext uri="{BB962C8B-B14F-4D97-AF65-F5344CB8AC3E}">
        <p14:creationId xmlns:p14="http://schemas.microsoft.com/office/powerpoint/2010/main" val="2050930710"/>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AF5336E-E1AC-4A93-BA32-69623C927C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6972942-A52E-4B1D-8397-CF30DAC605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4B8BB396-5C32-41C8-9A27-6DEFCDB0FB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submission</a:t>
            </a:r>
          </a:p>
        </p:txBody>
      </p:sp>
      <p:sp>
        <p:nvSpPr>
          <p:cNvPr id="4" name="">
            <a:extLst xmlns:a="http://schemas.openxmlformats.org/drawingml/2006/main">
              <a:ext uri="{FF2B5EF4-FFF2-40B4-BE49-F238E27FC236}">
                <a16:creationId xmlns:a16="http://schemas.microsoft.com/office/drawing/2014/main" id="{8BF88776-538D-4289-B2C2-F9F867334F4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AB606C7-D8C1-46DE-AF3E-6D36FCF66940}"/>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09 Oct 2026, 08:00 Kampala</a:t>
            </a:r>
          </a:p>
        </p:txBody>
      </p:sp>
      <p:sp>
        <p:nvSpPr>
          <p:cNvPr id="6" name="">
            <a:extLst xmlns:a="http://schemas.openxmlformats.org/drawingml/2006/main">
              <a:ext uri="{FF2B5EF4-FFF2-40B4-BE49-F238E27FC236}">
                <a16:creationId xmlns:a16="http://schemas.microsoft.com/office/drawing/2014/main" id="{4F3BB2C4-3D83-4D07-8B92-B3249AB93AE5}"/>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F8CE7FF-B6A4-4122-AE03-8860EBADE042}"/>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30 Oct 2026, 08:00 Kampala</a:t>
            </a:r>
          </a:p>
        </p:txBody>
      </p:sp>
      <p:sp>
        <p:nvSpPr>
          <p:cNvPr id="8" name="">
            <a:extLst xmlns:a="http://schemas.openxmlformats.org/drawingml/2006/main">
              <a:ext uri="{FF2B5EF4-FFF2-40B4-BE49-F238E27FC236}">
                <a16:creationId xmlns:a16="http://schemas.microsoft.com/office/drawing/2014/main" id="{1059BB3A-487F-4FAF-AA3A-6717EF903C9C}"/>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93CB622-32D4-41D5-81F3-32A4A82C870D}"/>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A7403C04-9B6E-4F39-869C-077EE11E7D3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1BF9E57-7517-4DF5-9F3D-E57E2DF24EC3}"/>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8CF6A490-3D46-4A6D-BAB3-1C5B62EEFB9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94E406A-DA86-4D82-B327-A10ED7BB1B9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c28d363f5cb41b8"/>
              </a:rPr>
              <a:t>Open DA_PROJECT assignment form</a:t>
            </a:r>
          </a:p>
        </p:txBody>
      </p:sp>
      <p:sp>
        <p:nvSpPr>
          <p:cNvPr id="14" name="">
            <a:extLst xmlns:a="http://schemas.openxmlformats.org/drawingml/2006/main">
              <a:ext uri="{FF2B5EF4-FFF2-40B4-BE49-F238E27FC236}">
                <a16:creationId xmlns:a16="http://schemas.microsoft.com/office/drawing/2014/main" id="{CBC24B7F-5A5C-486C-AE19-6AEBFE2CE58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https://docs.google.com/forms/d/e/1FAIpQLSf_avvvqyl5ZJ-6HU7n4zal9AQETYyJkykuDO5J5Au3dBA4vw/viewform</a:t>
            </a:r>
          </a:p>
        </p:txBody>
      </p:sp>
      <p:sp>
        <p:nvSpPr>
          <p:cNvPr id="15" name="">
            <a:extLst xmlns:a="http://schemas.openxmlformats.org/drawingml/2006/main">
              <a:ext uri="{FF2B5EF4-FFF2-40B4-BE49-F238E27FC236}">
                <a16:creationId xmlns:a16="http://schemas.microsoft.com/office/drawing/2014/main" id="{5D3EB96A-73F8-448B-8A05-5F8938CC80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66</a:t>
            </a:r>
          </a:p>
        </p:txBody>
      </p:sp>
    </p:spTree>
    <p:extLst>
      <p:ext uri="{BB962C8B-B14F-4D97-AF65-F5344CB8AC3E}">
        <p14:creationId xmlns:p14="http://schemas.microsoft.com/office/powerpoint/2010/main" val="1005210806"/>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D7A6AB3-5824-4D51-A8E2-AB7E0FAA6A2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0DAD61A-C0B2-4D1B-855D-971249E607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FAEEB636-A741-463F-8D46-061DE2028C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8 quiz</a:t>
            </a:r>
          </a:p>
        </p:txBody>
      </p:sp>
      <p:sp>
        <p:nvSpPr>
          <p:cNvPr id="4" name="">
            <a:extLst xmlns:a="http://schemas.openxmlformats.org/drawingml/2006/main">
              <a:ext uri="{FF2B5EF4-FFF2-40B4-BE49-F238E27FC236}">
                <a16:creationId xmlns:a16="http://schemas.microsoft.com/office/drawing/2014/main" id="{57CF96B2-98BB-40B2-9471-503432B8AA1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6AE2910-8CBA-4BA8-AFD5-6644B1168BC8}"/>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19365F0F-5C80-4933-9682-77043C7A5532}"/>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A1C168A-292A-4F4A-832B-97057718DEA6}"/>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44DBF86E-25FD-446F-86F0-29125AA3F96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05C1D7B-5A5D-4D50-A8BB-12B9F662824C}"/>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80F429DF-B25E-4332-B1FD-B2BD385B885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AB6B1DA-69EA-44F4-9CE3-4E53DFD2DD94}"/>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0c28780d1bab4a47"/>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71895361-4C8D-4874-A9E4-C559015409AD}"/>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E0514302-AC71-4161-94F6-07D3274D759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8CFA500-0238-4A0D-87EB-9D9063D4751A}"/>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74b278569fb44d6"/>
              </a:rPr>
              <a:t>Open this week’s quiz</a:t>
            </a:r>
          </a:p>
        </p:txBody>
      </p:sp>
      <p:sp>
        <p:nvSpPr>
          <p:cNvPr id="16" name="">
            <a:extLst xmlns:a="http://schemas.openxmlformats.org/drawingml/2006/main">
              <a:ext uri="{FF2B5EF4-FFF2-40B4-BE49-F238E27FC236}">
                <a16:creationId xmlns:a16="http://schemas.microsoft.com/office/drawing/2014/main" id="{2E07A3F3-A487-449E-8217-D0A57FD71277}"/>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https://forms.gle/njADrQM1EKhyhRSA8</a:t>
            </a:r>
          </a:p>
        </p:txBody>
      </p:sp>
      <p:sp>
        <p:nvSpPr>
          <p:cNvPr id="17" name="">
            <a:extLst xmlns:a="http://schemas.openxmlformats.org/drawingml/2006/main">
              <a:ext uri="{FF2B5EF4-FFF2-40B4-BE49-F238E27FC236}">
                <a16:creationId xmlns:a16="http://schemas.microsoft.com/office/drawing/2014/main" id="{F720D2D0-1B6C-4014-8234-BFBF30FFA7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67</a:t>
            </a:r>
          </a:p>
        </p:txBody>
      </p:sp>
    </p:spTree>
    <p:extLst>
      <p:ext uri="{BB962C8B-B14F-4D97-AF65-F5344CB8AC3E}">
        <p14:creationId xmlns:p14="http://schemas.microsoft.com/office/powerpoint/2010/main" val="116652430"/>
      </p:ext>
    </p:extLst>
  </p:cSld>
</p:sld>
</file>

<file path=ppt/slides/slide68.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D5B5481-A3F8-4D36-AF1C-1FA987D2A6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1635B060-CEF8-4F5A-B43F-ED3501115C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475CEF06-3A79-4FFA-855F-0E619F117BA2}"/>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CE964C40-663C-45D9-AA35-F3141C00A025}"/>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calculate one error and explain why evaluation needs unseen observations.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6D2F5638-C58A-4936-94B2-D14C7AD7A92F}"/>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F93C6132-D1AE-4A80-AE22-3ABD7E07F2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8   68</a:t>
            </a:r>
          </a:p>
        </p:txBody>
      </p:sp>
    </p:spTree>
    <p:extLst>
      <p:ext uri="{BB962C8B-B14F-4D97-AF65-F5344CB8AC3E}">
        <p14:creationId xmlns:p14="http://schemas.microsoft.com/office/powerpoint/2010/main" val="1803049387"/>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91D857E-2767-4067-88E8-22B2960F7A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1ED8EC0-6515-4BD8-9F3D-20D444170D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3BE4CC65-439A-4CCF-ABCC-A1D354F31E1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2355DA79-1F75-44B9-A2FC-77E5F456645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7466AC6-3D5E-4EAB-8F07-36F5FA5DF2F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75E1E10C-30F1-45BE-B3BF-56D238FCA06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9D267EC-4570-48E4-927F-23069E02B032}"/>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Essence of Linear Regression!!!</a:t>
            </a:r>
          </a:p>
        </p:txBody>
      </p:sp>
      <p:sp>
        <p:nvSpPr>
          <p:cNvPr id="8" name="">
            <a:extLst xmlns:a="http://schemas.openxmlformats.org/drawingml/2006/main">
              <a:ext uri="{FF2B5EF4-FFF2-40B4-BE49-F238E27FC236}">
                <a16:creationId xmlns:a16="http://schemas.microsoft.com/office/drawing/2014/main" id="{CC5B191A-D9CF-462A-A326-B87FB8B72A8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A321C54-4B98-46B1-8408-9D21475474AB}"/>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D943F8FF-F77F-492F-A843-FC2E2CE45164}"/>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277FF14-EB40-47C9-9A71-997F7C14EA70}"/>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can a fitted line turn an input into a numerical prediction?</a:t>
            </a:r>
          </a:p>
        </p:txBody>
      </p:sp>
      <p:sp>
        <p:nvSpPr>
          <p:cNvPr id="12" name="">
            <a:extLst xmlns:a="http://schemas.openxmlformats.org/drawingml/2006/main">
              <a:ext uri="{FF2B5EF4-FFF2-40B4-BE49-F238E27FC236}">
                <a16:creationId xmlns:a16="http://schemas.microsoft.com/office/drawing/2014/main" id="{C07D782B-E9D4-4268-B06C-84053E429B5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DF69567-B3D7-4CA1-94C3-59E251388A6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eecaef9bf794655"/>
              </a:rPr>
              <a:t>Open explainer video</a:t>
            </a:r>
          </a:p>
        </p:txBody>
      </p:sp>
      <p:sp>
        <p:nvSpPr>
          <p:cNvPr id="14" name="">
            <a:extLst xmlns:a="http://schemas.openxmlformats.org/drawingml/2006/main">
              <a:ext uri="{FF2B5EF4-FFF2-40B4-BE49-F238E27FC236}">
                <a16:creationId xmlns:a16="http://schemas.microsoft.com/office/drawing/2014/main" id="{EF5D6903-D333-4717-B887-6A33535AF7D2}"/>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https://www.youtube.com/watch?v=aFDOzpTeg0s</a:t>
            </a:r>
          </a:p>
        </p:txBody>
      </p:sp>
      <p:sp>
        <p:nvSpPr>
          <p:cNvPr id="15" name="">
            <a:extLst xmlns:a="http://schemas.openxmlformats.org/drawingml/2006/main">
              <a:ext uri="{FF2B5EF4-FFF2-40B4-BE49-F238E27FC236}">
                <a16:creationId xmlns:a16="http://schemas.microsoft.com/office/drawing/2014/main" id="{5BEDB36E-8924-48EE-8741-7F583E064E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69</a:t>
            </a:r>
          </a:p>
        </p:txBody>
      </p:sp>
    </p:spTree>
    <p:extLst>
      <p:ext uri="{BB962C8B-B14F-4D97-AF65-F5344CB8AC3E}">
        <p14:creationId xmlns:p14="http://schemas.microsoft.com/office/powerpoint/2010/main" val="140424741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2026-09-28T21:45:55.4040000Z</dcterms:created>
  <dcterms:modified xsi:type="dcterms:W3CDTF">2026-09-28T21:45:55.4040000Z</dcterms:modified>
</coreProperties>
</file>