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331a3896254002" /><Relationship Type="http://schemas.openxmlformats.org/officeDocument/2006/relationships/extended-properties" Target="/docProps/app.xml" Id="R65b6bc6223b04cc0" /><Relationship Type="http://schemas.openxmlformats.org/officeDocument/2006/relationships/officeDocument" Target="/ppt/presentation.xml" Id="Rf217299750b04fa0" /></Relationships>
</file>

<file path=ppt/presentation.xml><?xml version="1.0" encoding="utf-8"?>
<p:presentation xmlns:p="http://schemas.openxmlformats.org/presentationml/2006/main">
  <p:sldMasterIdLst>
    <p:sldMasterId xmlns:r="http://schemas.openxmlformats.org/officeDocument/2006/relationships" id="2147483648" r:id="Rb64876b92e664608"/>
  </p:sldMasterIdLst>
  <p:notesMasterIdLst>
    <p:notesMasterId xmlns:r="http://schemas.openxmlformats.org/officeDocument/2006/relationships" r:id="R0c498ec9c5e643a8"/>
  </p:notesMasterIdLst>
  <p:sldIdLst>
    <p:sldId xmlns:r="http://schemas.openxmlformats.org/officeDocument/2006/relationships" id="256" r:id="R43b06a0d0c6c46e7"/>
    <p:sldId xmlns:r="http://schemas.openxmlformats.org/officeDocument/2006/relationships" id="257" r:id="R553fa36143154b78"/>
    <p:sldId xmlns:r="http://schemas.openxmlformats.org/officeDocument/2006/relationships" id="258" r:id="R6ef26a5cfbb84410"/>
    <p:sldId xmlns:r="http://schemas.openxmlformats.org/officeDocument/2006/relationships" id="259" r:id="Ra9d0663546664a4a"/>
    <p:sldId xmlns:r="http://schemas.openxmlformats.org/officeDocument/2006/relationships" id="260" r:id="R7b75da5fe0c541ec"/>
    <p:sldId xmlns:r="http://schemas.openxmlformats.org/officeDocument/2006/relationships" id="261" r:id="R7414d3fb96d74ab9"/>
    <p:sldId xmlns:r="http://schemas.openxmlformats.org/officeDocument/2006/relationships" id="262" r:id="Rc3ec6bb785724c6e"/>
    <p:sldId xmlns:r="http://schemas.openxmlformats.org/officeDocument/2006/relationships" id="263" r:id="Rafd321b7ef1044b4"/>
    <p:sldId xmlns:r="http://schemas.openxmlformats.org/officeDocument/2006/relationships" id="264" r:id="Re64bfaaaa3fd459f"/>
    <p:sldId xmlns:r="http://schemas.openxmlformats.org/officeDocument/2006/relationships" id="265" r:id="R5937bc2e7d8641bf"/>
    <p:sldId xmlns:r="http://schemas.openxmlformats.org/officeDocument/2006/relationships" id="266" r:id="R4b6a58c318514368"/>
    <p:sldId xmlns:r="http://schemas.openxmlformats.org/officeDocument/2006/relationships" id="267" r:id="R8ac9f41968214120"/>
    <p:sldId xmlns:r="http://schemas.openxmlformats.org/officeDocument/2006/relationships" id="268" r:id="R06209d2cc2034667"/>
    <p:sldId xmlns:r="http://schemas.openxmlformats.org/officeDocument/2006/relationships" id="269" r:id="R7e16f3e1c5d346dd"/>
    <p:sldId xmlns:r="http://schemas.openxmlformats.org/officeDocument/2006/relationships" id="270" r:id="R9476245b6cf24b6f"/>
    <p:sldId xmlns:r="http://schemas.openxmlformats.org/officeDocument/2006/relationships" id="271" r:id="R2f13fa437d90491b"/>
    <p:sldId xmlns:r="http://schemas.openxmlformats.org/officeDocument/2006/relationships" id="272" r:id="R94a4263e8e854f08"/>
    <p:sldId xmlns:r="http://schemas.openxmlformats.org/officeDocument/2006/relationships" id="273" r:id="R52f48b90932f478f"/>
    <p:sldId xmlns:r="http://schemas.openxmlformats.org/officeDocument/2006/relationships" id="274" r:id="R0e3dffe27eaf4b50"/>
    <p:sldId xmlns:r="http://schemas.openxmlformats.org/officeDocument/2006/relationships" id="275" r:id="R44d601266d7b44b2"/>
    <p:sldId xmlns:r="http://schemas.openxmlformats.org/officeDocument/2006/relationships" id="276" r:id="Rc20328a1c6734070"/>
    <p:sldId xmlns:r="http://schemas.openxmlformats.org/officeDocument/2006/relationships" id="277" r:id="R247736527e01450a"/>
    <p:sldId xmlns:r="http://schemas.openxmlformats.org/officeDocument/2006/relationships" id="278" r:id="R9ecedef659aa4c2a"/>
    <p:sldId xmlns:r="http://schemas.openxmlformats.org/officeDocument/2006/relationships" id="279" r:id="R6937548b29db469e"/>
    <p:sldId xmlns:r="http://schemas.openxmlformats.org/officeDocument/2006/relationships" id="280" r:id="R07c0a5ad043d44b7"/>
    <p:sldId xmlns:r="http://schemas.openxmlformats.org/officeDocument/2006/relationships" id="281" r:id="R9e29172ec8c24929"/>
    <p:sldId xmlns:r="http://schemas.openxmlformats.org/officeDocument/2006/relationships" id="282" r:id="Rd163af578905442c"/>
    <p:sldId xmlns:r="http://schemas.openxmlformats.org/officeDocument/2006/relationships" id="283" r:id="Rc40aa09bec0949ea"/>
    <p:sldId xmlns:r="http://schemas.openxmlformats.org/officeDocument/2006/relationships" id="284" r:id="R88acc80c220446aa"/>
    <p:sldId xmlns:r="http://schemas.openxmlformats.org/officeDocument/2006/relationships" id="285" r:id="R28f346d7b7954eb2"/>
    <p:sldId xmlns:r="http://schemas.openxmlformats.org/officeDocument/2006/relationships" id="286" r:id="R6a930ae0f8414d66"/>
    <p:sldId xmlns:r="http://schemas.openxmlformats.org/officeDocument/2006/relationships" id="287" r:id="R4528b8b0bac5430a"/>
    <p:sldId xmlns:r="http://schemas.openxmlformats.org/officeDocument/2006/relationships" id="288" r:id="R89d44c4344d347e9"/>
    <p:sldId xmlns:r="http://schemas.openxmlformats.org/officeDocument/2006/relationships" id="289" r:id="Re238c454465e4bea"/>
    <p:sldId xmlns:r="http://schemas.openxmlformats.org/officeDocument/2006/relationships" id="290" r:id="Rdf33da13a6564c8b"/>
    <p:sldId xmlns:r="http://schemas.openxmlformats.org/officeDocument/2006/relationships" id="291" r:id="Rf5153cd7f0994abd"/>
    <p:sldId xmlns:r="http://schemas.openxmlformats.org/officeDocument/2006/relationships" id="292" r:id="R2483baebad834ad1"/>
    <p:sldId xmlns:r="http://schemas.openxmlformats.org/officeDocument/2006/relationships" id="293" r:id="R46727065f57747d0"/>
    <p:sldId xmlns:r="http://schemas.openxmlformats.org/officeDocument/2006/relationships" id="294" r:id="Rb5c1b2c877a9459b"/>
    <p:sldId xmlns:r="http://schemas.openxmlformats.org/officeDocument/2006/relationships" id="295" r:id="R7414586dca004c72"/>
    <p:sldId xmlns:r="http://schemas.openxmlformats.org/officeDocument/2006/relationships" id="296" r:id="R7c7d38dd09554a38"/>
    <p:sldId xmlns:r="http://schemas.openxmlformats.org/officeDocument/2006/relationships" id="297" r:id="R68605fe7cf1942b7"/>
    <p:sldId xmlns:r="http://schemas.openxmlformats.org/officeDocument/2006/relationships" id="298" r:id="R81be16726429471b"/>
    <p:sldId xmlns:r="http://schemas.openxmlformats.org/officeDocument/2006/relationships" id="299" r:id="R7b0527329d414de5"/>
    <p:sldId xmlns:r="http://schemas.openxmlformats.org/officeDocument/2006/relationships" id="300" r:id="Ra5a0733d91e8444d"/>
    <p:sldId xmlns:r="http://schemas.openxmlformats.org/officeDocument/2006/relationships" id="301" r:id="Rff440cf929064692"/>
    <p:sldId xmlns:r="http://schemas.openxmlformats.org/officeDocument/2006/relationships" id="302" r:id="Rd938e2467f8c472f"/>
    <p:sldId xmlns:r="http://schemas.openxmlformats.org/officeDocument/2006/relationships" id="303" r:id="Rfd3e552fc3414bdd"/>
    <p:sldId xmlns:r="http://schemas.openxmlformats.org/officeDocument/2006/relationships" id="304" r:id="Rc9f2b7f56d224861"/>
    <p:sldId xmlns:r="http://schemas.openxmlformats.org/officeDocument/2006/relationships" id="305" r:id="Rab8d3d72d3ce4238"/>
    <p:sldId xmlns:r="http://schemas.openxmlformats.org/officeDocument/2006/relationships" id="306" r:id="R60b73d6fd34b47bf"/>
    <p:sldId xmlns:r="http://schemas.openxmlformats.org/officeDocument/2006/relationships" id="307" r:id="Rae3f63cc82364fd3"/>
    <p:sldId xmlns:r="http://schemas.openxmlformats.org/officeDocument/2006/relationships" id="308" r:id="Rdab89c27dbcd49bf"/>
    <p:sldId xmlns:r="http://schemas.openxmlformats.org/officeDocument/2006/relationships" id="309" r:id="Rb035908f35aa4330"/>
    <p:sldId xmlns:r="http://schemas.openxmlformats.org/officeDocument/2006/relationships" id="310" r:id="R18ff29220f4a4adb"/>
    <p:sldId xmlns:r="http://schemas.openxmlformats.org/officeDocument/2006/relationships" id="311" r:id="Re64aff9f1d6849c1"/>
    <p:sldId xmlns:r="http://schemas.openxmlformats.org/officeDocument/2006/relationships" id="312" r:id="R0d8a7c08aa784935"/>
    <p:sldId xmlns:r="http://schemas.openxmlformats.org/officeDocument/2006/relationships" id="313" r:id="Rb9f6667b8e9f49d8"/>
    <p:sldId xmlns:r="http://schemas.openxmlformats.org/officeDocument/2006/relationships" id="314" r:id="R434946b1b76f429f"/>
    <p:sldId xmlns:r="http://schemas.openxmlformats.org/officeDocument/2006/relationships" id="315" r:id="Re0f3ff7372af4521"/>
    <p:sldId xmlns:r="http://schemas.openxmlformats.org/officeDocument/2006/relationships" id="316" r:id="R1bfba1f224db48e5"/>
    <p:sldId xmlns:r="http://schemas.openxmlformats.org/officeDocument/2006/relationships" id="317" r:id="R351a9ceaa4964b62"/>
    <p:sldId xmlns:r="http://schemas.openxmlformats.org/officeDocument/2006/relationships" id="318" r:id="Ra2f68426651b420f"/>
    <p:sldId xmlns:r="http://schemas.openxmlformats.org/officeDocument/2006/relationships" id="319" r:id="R0ef2128475244869"/>
    <p:sldId xmlns:r="http://schemas.openxmlformats.org/officeDocument/2006/relationships" id="320" r:id="R3b9ee6ad29b2430b"/>
    <p:sldId xmlns:r="http://schemas.openxmlformats.org/officeDocument/2006/relationships" id="321" r:id="Rc1d10179162648f5"/>
    <p:sldId xmlns:r="http://schemas.openxmlformats.org/officeDocument/2006/relationships" id="322" r:id="R0c2fe83fa39f4cfd"/>
    <p:sldId xmlns:r="http://schemas.openxmlformats.org/officeDocument/2006/relationships" id="323" r:id="R63c8624ca6d34614"/>
    <p:sldId xmlns:r="http://schemas.openxmlformats.org/officeDocument/2006/relationships" id="324" r:id="R3e3ee88c92b0429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f339d655a924152" /><Relationship Type="http://schemas.openxmlformats.org/officeDocument/2006/relationships/slideMaster" Target="/ppt/slideMasters/slideMaster1.xml" Id="Rb64876b92e664608" /><Relationship Type="http://schemas.openxmlformats.org/officeDocument/2006/relationships/notesMaster" Target="/ppt/notesMasters/notesMaster1.xml" Id="R0c498ec9c5e643a8" /><Relationship Type="http://schemas.openxmlformats.org/officeDocument/2006/relationships/presProps" Target="/ppt/presProps.xml" Id="Raf3dd62292024533" /><Relationship Type="http://schemas.openxmlformats.org/officeDocument/2006/relationships/tableStyles" Target="/ppt/tableStyles.xml" Id="Rc42009e1bba045c7" /><Relationship Type="http://schemas.openxmlformats.org/officeDocument/2006/relationships/slide" Target="/ppt/slides/slide1.xml" Id="R43b06a0d0c6c46e7" /><Relationship Type="http://schemas.openxmlformats.org/officeDocument/2006/relationships/slide" Target="/ppt/slides/slide2.xml" Id="R553fa36143154b78" /><Relationship Type="http://schemas.openxmlformats.org/officeDocument/2006/relationships/slide" Target="/ppt/slides/slide3.xml" Id="R6ef26a5cfbb84410" /><Relationship Type="http://schemas.openxmlformats.org/officeDocument/2006/relationships/slide" Target="/ppt/slides/slide4.xml" Id="Ra9d0663546664a4a" /><Relationship Type="http://schemas.openxmlformats.org/officeDocument/2006/relationships/slide" Target="/ppt/slides/slide5.xml" Id="R7b75da5fe0c541ec" /><Relationship Type="http://schemas.openxmlformats.org/officeDocument/2006/relationships/slide" Target="/ppt/slides/slide6.xml" Id="R7414d3fb96d74ab9" /><Relationship Type="http://schemas.openxmlformats.org/officeDocument/2006/relationships/slide" Target="/ppt/slides/slide7.xml" Id="Rc3ec6bb785724c6e" /><Relationship Type="http://schemas.openxmlformats.org/officeDocument/2006/relationships/slide" Target="/ppt/slides/slide8.xml" Id="Rafd321b7ef1044b4" /><Relationship Type="http://schemas.openxmlformats.org/officeDocument/2006/relationships/slide" Target="/ppt/slides/slide9.xml" Id="Re64bfaaaa3fd459f" /><Relationship Type="http://schemas.openxmlformats.org/officeDocument/2006/relationships/slide" Target="/ppt/slides/slide10.xml" Id="R5937bc2e7d8641bf" /><Relationship Type="http://schemas.openxmlformats.org/officeDocument/2006/relationships/slide" Target="/ppt/slides/slide11.xml" Id="R4b6a58c318514368" /><Relationship Type="http://schemas.openxmlformats.org/officeDocument/2006/relationships/slide" Target="/ppt/slides/slide12.xml" Id="R8ac9f41968214120" /><Relationship Type="http://schemas.openxmlformats.org/officeDocument/2006/relationships/slide" Target="/ppt/slides/slide13.xml" Id="R06209d2cc2034667" /><Relationship Type="http://schemas.openxmlformats.org/officeDocument/2006/relationships/slide" Target="/ppt/slides/slide14.xml" Id="R7e16f3e1c5d346dd" /><Relationship Type="http://schemas.openxmlformats.org/officeDocument/2006/relationships/slide" Target="/ppt/slides/slide15.xml" Id="R9476245b6cf24b6f" /><Relationship Type="http://schemas.openxmlformats.org/officeDocument/2006/relationships/slide" Target="/ppt/slides/slide16.xml" Id="R2f13fa437d90491b" /><Relationship Type="http://schemas.openxmlformats.org/officeDocument/2006/relationships/slide" Target="/ppt/slides/slide17.xml" Id="R94a4263e8e854f08" /><Relationship Type="http://schemas.openxmlformats.org/officeDocument/2006/relationships/slide" Target="/ppt/slides/slide18.xml" Id="R52f48b90932f478f" /><Relationship Type="http://schemas.openxmlformats.org/officeDocument/2006/relationships/slide" Target="/ppt/slides/slide19.xml" Id="R0e3dffe27eaf4b50" /><Relationship Type="http://schemas.openxmlformats.org/officeDocument/2006/relationships/slide" Target="/ppt/slides/slide20.xml" Id="R44d601266d7b44b2" /><Relationship Type="http://schemas.openxmlformats.org/officeDocument/2006/relationships/slide" Target="/ppt/slides/slide21.xml" Id="Rc20328a1c6734070" /><Relationship Type="http://schemas.openxmlformats.org/officeDocument/2006/relationships/slide" Target="/ppt/slides/slide22.xml" Id="R247736527e01450a" /><Relationship Type="http://schemas.openxmlformats.org/officeDocument/2006/relationships/slide" Target="/ppt/slides/slide23.xml" Id="R9ecedef659aa4c2a" /><Relationship Type="http://schemas.openxmlformats.org/officeDocument/2006/relationships/slide" Target="/ppt/slides/slide24.xml" Id="R6937548b29db469e" /><Relationship Type="http://schemas.openxmlformats.org/officeDocument/2006/relationships/slide" Target="/ppt/slides/slide25.xml" Id="R07c0a5ad043d44b7" /><Relationship Type="http://schemas.openxmlformats.org/officeDocument/2006/relationships/slide" Target="/ppt/slides/slide26.xml" Id="R9e29172ec8c24929" /><Relationship Type="http://schemas.openxmlformats.org/officeDocument/2006/relationships/slide" Target="/ppt/slides/slide27.xml" Id="Rd163af578905442c" /><Relationship Type="http://schemas.openxmlformats.org/officeDocument/2006/relationships/slide" Target="/ppt/slides/slide28.xml" Id="Rc40aa09bec0949ea" /><Relationship Type="http://schemas.openxmlformats.org/officeDocument/2006/relationships/slide" Target="/ppt/slides/slide29.xml" Id="R88acc80c220446aa" /><Relationship Type="http://schemas.openxmlformats.org/officeDocument/2006/relationships/slide" Target="/ppt/slides/slide30.xml" Id="R28f346d7b7954eb2" /><Relationship Type="http://schemas.openxmlformats.org/officeDocument/2006/relationships/slide" Target="/ppt/slides/slide31.xml" Id="R6a930ae0f8414d66" /><Relationship Type="http://schemas.openxmlformats.org/officeDocument/2006/relationships/slide" Target="/ppt/slides/slide32.xml" Id="R4528b8b0bac5430a" /><Relationship Type="http://schemas.openxmlformats.org/officeDocument/2006/relationships/slide" Target="/ppt/slides/slide33.xml" Id="R89d44c4344d347e9" /><Relationship Type="http://schemas.openxmlformats.org/officeDocument/2006/relationships/slide" Target="/ppt/slides/slide34.xml" Id="Re238c454465e4bea" /><Relationship Type="http://schemas.openxmlformats.org/officeDocument/2006/relationships/slide" Target="/ppt/slides/slide35.xml" Id="Rdf33da13a6564c8b" /><Relationship Type="http://schemas.openxmlformats.org/officeDocument/2006/relationships/slide" Target="/ppt/slides/slide36.xml" Id="Rf5153cd7f0994abd" /><Relationship Type="http://schemas.openxmlformats.org/officeDocument/2006/relationships/slide" Target="/ppt/slides/slide37.xml" Id="R2483baebad834ad1" /><Relationship Type="http://schemas.openxmlformats.org/officeDocument/2006/relationships/slide" Target="/ppt/slides/slide38.xml" Id="R46727065f57747d0" /><Relationship Type="http://schemas.openxmlformats.org/officeDocument/2006/relationships/slide" Target="/ppt/slides/slide39.xml" Id="Rb5c1b2c877a9459b" /><Relationship Type="http://schemas.openxmlformats.org/officeDocument/2006/relationships/slide" Target="/ppt/slides/slide40.xml" Id="R7414586dca004c72" /><Relationship Type="http://schemas.openxmlformats.org/officeDocument/2006/relationships/slide" Target="/ppt/slides/slide41.xml" Id="R7c7d38dd09554a38" /><Relationship Type="http://schemas.openxmlformats.org/officeDocument/2006/relationships/slide" Target="/ppt/slides/slide42.xml" Id="R68605fe7cf1942b7" /><Relationship Type="http://schemas.openxmlformats.org/officeDocument/2006/relationships/slide" Target="/ppt/slides/slide43.xml" Id="R81be16726429471b" /><Relationship Type="http://schemas.openxmlformats.org/officeDocument/2006/relationships/slide" Target="/ppt/slides/slide44.xml" Id="R7b0527329d414de5" /><Relationship Type="http://schemas.openxmlformats.org/officeDocument/2006/relationships/slide" Target="/ppt/slides/slide45.xml" Id="Ra5a0733d91e8444d" /><Relationship Type="http://schemas.openxmlformats.org/officeDocument/2006/relationships/slide" Target="/ppt/slides/slide46.xml" Id="Rff440cf929064692" /><Relationship Type="http://schemas.openxmlformats.org/officeDocument/2006/relationships/slide" Target="/ppt/slides/slide47.xml" Id="Rd938e2467f8c472f" /><Relationship Type="http://schemas.openxmlformats.org/officeDocument/2006/relationships/slide" Target="/ppt/slides/slide48.xml" Id="Rfd3e552fc3414bdd" /><Relationship Type="http://schemas.openxmlformats.org/officeDocument/2006/relationships/slide" Target="/ppt/slides/slide49.xml" Id="Rc9f2b7f56d224861" /><Relationship Type="http://schemas.openxmlformats.org/officeDocument/2006/relationships/slide" Target="/ppt/slides/slide50.xml" Id="Rab8d3d72d3ce4238" /><Relationship Type="http://schemas.openxmlformats.org/officeDocument/2006/relationships/slide" Target="/ppt/slides/slide51.xml" Id="R60b73d6fd34b47bf" /><Relationship Type="http://schemas.openxmlformats.org/officeDocument/2006/relationships/slide" Target="/ppt/slides/slide52.xml" Id="Rae3f63cc82364fd3" /><Relationship Type="http://schemas.openxmlformats.org/officeDocument/2006/relationships/slide" Target="/ppt/slides/slide53.xml" Id="Rdab89c27dbcd49bf" /><Relationship Type="http://schemas.openxmlformats.org/officeDocument/2006/relationships/slide" Target="/ppt/slides/slide54.xml" Id="Rb035908f35aa4330" /><Relationship Type="http://schemas.openxmlformats.org/officeDocument/2006/relationships/slide" Target="/ppt/slides/slide55.xml" Id="R18ff29220f4a4adb" /><Relationship Type="http://schemas.openxmlformats.org/officeDocument/2006/relationships/slide" Target="/ppt/slides/slide56.xml" Id="Re64aff9f1d6849c1" /><Relationship Type="http://schemas.openxmlformats.org/officeDocument/2006/relationships/slide" Target="/ppt/slides/slide57.xml" Id="R0d8a7c08aa784935" /><Relationship Type="http://schemas.openxmlformats.org/officeDocument/2006/relationships/slide" Target="/ppt/slides/slide58.xml" Id="Rb9f6667b8e9f49d8" /><Relationship Type="http://schemas.openxmlformats.org/officeDocument/2006/relationships/slide" Target="/ppt/slides/slide59.xml" Id="R434946b1b76f429f" /><Relationship Type="http://schemas.openxmlformats.org/officeDocument/2006/relationships/slide" Target="/ppt/slides/slide60.xml" Id="Re0f3ff7372af4521" /><Relationship Type="http://schemas.openxmlformats.org/officeDocument/2006/relationships/slide" Target="/ppt/slides/slide61.xml" Id="R1bfba1f224db48e5" /><Relationship Type="http://schemas.openxmlformats.org/officeDocument/2006/relationships/slide" Target="/ppt/slides/slide62.xml" Id="R351a9ceaa4964b62" /><Relationship Type="http://schemas.openxmlformats.org/officeDocument/2006/relationships/slide" Target="/ppt/slides/slide63.xml" Id="Ra2f68426651b420f" /><Relationship Type="http://schemas.openxmlformats.org/officeDocument/2006/relationships/slide" Target="/ppt/slides/slide64.xml" Id="R0ef2128475244869" /><Relationship Type="http://schemas.openxmlformats.org/officeDocument/2006/relationships/slide" Target="/ppt/slides/slide65.xml" Id="R3b9ee6ad29b2430b" /><Relationship Type="http://schemas.openxmlformats.org/officeDocument/2006/relationships/slide" Target="/ppt/slides/slide66.xml" Id="Rc1d10179162648f5" /><Relationship Type="http://schemas.openxmlformats.org/officeDocument/2006/relationships/slide" Target="/ppt/slides/slide67.xml" Id="R0c2fe83fa39f4cfd" /><Relationship Type="http://schemas.openxmlformats.org/officeDocument/2006/relationships/slide" Target="/ppt/slides/slide68.xml" Id="R63c8624ca6d34614" /><Relationship Type="http://schemas.openxmlformats.org/officeDocument/2006/relationships/slide" Target="/ppt/slides/slide69.xml" Id="R3e3ee88c92b0429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8e79667219d494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0215d50d7404dd8" /><Relationship Type="http://schemas.openxmlformats.org/officeDocument/2006/relationships/notesMaster" Target="/ppt/notesMasters/notesMaster1.xml" Id="R4b929551b2a54e1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5960b92a2145ae" /><Relationship Type="http://schemas.openxmlformats.org/officeDocument/2006/relationships/notesMaster" Target="/ppt/notesMasters/notesMaster1.xml" Id="R4b43517e15a142a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10cb10f0504488" /><Relationship Type="http://schemas.openxmlformats.org/officeDocument/2006/relationships/notesMaster" Target="/ppt/notesMasters/notesMaster1.xml" Id="R707a7f91d7c043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dd332123124866" /><Relationship Type="http://schemas.openxmlformats.org/officeDocument/2006/relationships/notesMaster" Target="/ppt/notesMasters/notesMaster1.xml" Id="Re8d607fe31f14e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09105912704e46" /><Relationship Type="http://schemas.openxmlformats.org/officeDocument/2006/relationships/notesMaster" Target="/ppt/notesMasters/notesMaster1.xml" Id="R108d44a2f84a4fc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87aa3c534a43cd" /><Relationship Type="http://schemas.openxmlformats.org/officeDocument/2006/relationships/notesMaster" Target="/ppt/notesMasters/notesMaster1.xml" Id="Rd2a70bb7d74240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00db0d2f36142d2" /><Relationship Type="http://schemas.openxmlformats.org/officeDocument/2006/relationships/notesMaster" Target="/ppt/notesMasters/notesMaster1.xml" Id="R968c72d4990540c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51be46d8c24d9b" /><Relationship Type="http://schemas.openxmlformats.org/officeDocument/2006/relationships/notesMaster" Target="/ppt/notesMasters/notesMaster1.xml" Id="Rea04e5ec02b3469f"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25b889ac654228" /><Relationship Type="http://schemas.openxmlformats.org/officeDocument/2006/relationships/notesMaster" Target="/ppt/notesMasters/notesMaster1.xml" Id="Ree097742389243f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b25c0e300f4e9d" /><Relationship Type="http://schemas.openxmlformats.org/officeDocument/2006/relationships/notesMaster" Target="/ppt/notesMasters/notesMaster1.xml" Id="Rbacdf8ea40e8446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1cd096d32b4b2d" /><Relationship Type="http://schemas.openxmlformats.org/officeDocument/2006/relationships/notesMaster" Target="/ppt/notesMasters/notesMaster1.xml" Id="R68489767cabc443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79a3f17611944d0" /><Relationship Type="http://schemas.openxmlformats.org/officeDocument/2006/relationships/notesMaster" Target="/ppt/notesMasters/notesMaster1.xml" Id="Rcaffe23a9e8c48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f36bfbe8584d09" /><Relationship Type="http://schemas.openxmlformats.org/officeDocument/2006/relationships/notesMaster" Target="/ppt/notesMasters/notesMaster1.xml" Id="Rda839cab5d9e4d0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eae51296234086" /><Relationship Type="http://schemas.openxmlformats.org/officeDocument/2006/relationships/notesMaster" Target="/ppt/notesMasters/notesMaster1.xml" Id="R34790603a4124f3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2e73801e19444bb" /><Relationship Type="http://schemas.openxmlformats.org/officeDocument/2006/relationships/notesMaster" Target="/ppt/notesMasters/notesMaster1.xml" Id="R1d3810816c504b3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765d7afa344069" /><Relationship Type="http://schemas.openxmlformats.org/officeDocument/2006/relationships/notesMaster" Target="/ppt/notesMasters/notesMaster1.xml" Id="Rddd7c9f4b8e14b3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d536a059a2c43ac" /><Relationship Type="http://schemas.openxmlformats.org/officeDocument/2006/relationships/notesMaster" Target="/ppt/notesMasters/notesMaster1.xml" Id="R3ba7192175e7406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f9d7ae842f4e08" /><Relationship Type="http://schemas.openxmlformats.org/officeDocument/2006/relationships/notesMaster" Target="/ppt/notesMasters/notesMaster1.xml" Id="R649a48d146084c9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77f3118dec34fcc" /><Relationship Type="http://schemas.openxmlformats.org/officeDocument/2006/relationships/notesMaster" Target="/ppt/notesMasters/notesMaster1.xml" Id="R54f0658c105c48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f06926c84a2446b" /><Relationship Type="http://schemas.openxmlformats.org/officeDocument/2006/relationships/notesMaster" Target="/ppt/notesMasters/notesMaster1.xml" Id="R5a1b11352aea41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2978a9610e4894" /><Relationship Type="http://schemas.openxmlformats.org/officeDocument/2006/relationships/notesMaster" Target="/ppt/notesMasters/notesMaster1.xml" Id="R386fd9f4af7648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21bf80dcac54e1e" /><Relationship Type="http://schemas.openxmlformats.org/officeDocument/2006/relationships/notesMaster" Target="/ppt/notesMasters/notesMaster1.xml" Id="R94620c9ea5a94c2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79e9bdc9b394dd9" /><Relationship Type="http://schemas.openxmlformats.org/officeDocument/2006/relationships/notesMaster" Target="/ppt/notesMasters/notesMaster1.xml" Id="R65485d553aad465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caa4da75d9a422d" /><Relationship Type="http://schemas.openxmlformats.org/officeDocument/2006/relationships/notesMaster" Target="/ppt/notesMasters/notesMaster1.xml" Id="R2c1ee7bbeebe408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6045d7aa9824f24" /><Relationship Type="http://schemas.openxmlformats.org/officeDocument/2006/relationships/notesMaster" Target="/ppt/notesMasters/notesMaster1.xml" Id="R825a5a3f7b194f5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443e2f18af14356" /><Relationship Type="http://schemas.openxmlformats.org/officeDocument/2006/relationships/notesMaster" Target="/ppt/notesMasters/notesMaster1.xml" Id="R36cd74d1e9fb48b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4a07fc4cb0241f7" /><Relationship Type="http://schemas.openxmlformats.org/officeDocument/2006/relationships/notesMaster" Target="/ppt/notesMasters/notesMaster1.xml" Id="R55f540ca091d4b1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ba069d39264605" /><Relationship Type="http://schemas.openxmlformats.org/officeDocument/2006/relationships/notesMaster" Target="/ppt/notesMasters/notesMaster1.xml" Id="Rebe4abf85093497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77e16447f424206" /><Relationship Type="http://schemas.openxmlformats.org/officeDocument/2006/relationships/notesMaster" Target="/ppt/notesMasters/notesMaster1.xml" Id="R6ae30623fa0e4c6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e6436e375e24486" /><Relationship Type="http://schemas.openxmlformats.org/officeDocument/2006/relationships/notesMaster" Target="/ppt/notesMasters/notesMaster1.xml" Id="R84a45065efd24fe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6cc9b4812094bf7" /><Relationship Type="http://schemas.openxmlformats.org/officeDocument/2006/relationships/notesMaster" Target="/ppt/notesMasters/notesMaster1.xml" Id="R875d4288dda742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e8d82e0749147e1" /><Relationship Type="http://schemas.openxmlformats.org/officeDocument/2006/relationships/notesMaster" Target="/ppt/notesMasters/notesMaster1.xml" Id="Ra8b0ef005df8470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6cfc00ab4e94565" /><Relationship Type="http://schemas.openxmlformats.org/officeDocument/2006/relationships/notesMaster" Target="/ppt/notesMasters/notesMaster1.xml" Id="R2108dfd14d6740b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f37b4174e4d40d4" /><Relationship Type="http://schemas.openxmlformats.org/officeDocument/2006/relationships/notesMaster" Target="/ppt/notesMasters/notesMaster1.xml" Id="Re4f6a1854e4a4e6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a75a3e551ea4c4e" /><Relationship Type="http://schemas.openxmlformats.org/officeDocument/2006/relationships/notesMaster" Target="/ppt/notesMasters/notesMaster1.xml" Id="Reb84d23753074d0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3aa57b414674e7e" /><Relationship Type="http://schemas.openxmlformats.org/officeDocument/2006/relationships/notesMaster" Target="/ppt/notesMasters/notesMaster1.xml" Id="R3bbe0aa7763e4bb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b92849ae3764928" /><Relationship Type="http://schemas.openxmlformats.org/officeDocument/2006/relationships/notesMaster" Target="/ppt/notesMasters/notesMaster1.xml" Id="Raa30b93fb0bf4d2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c661aedf8734bec" /><Relationship Type="http://schemas.openxmlformats.org/officeDocument/2006/relationships/notesMaster" Target="/ppt/notesMasters/notesMaster1.xml" Id="Rce2b2e097ca542a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ee228c008fd4a66" /><Relationship Type="http://schemas.openxmlformats.org/officeDocument/2006/relationships/notesMaster" Target="/ppt/notesMasters/notesMaster1.xml" Id="R427f2177af4544d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fecd29792b04b1a" /><Relationship Type="http://schemas.openxmlformats.org/officeDocument/2006/relationships/notesMaster" Target="/ppt/notesMasters/notesMaster1.xml" Id="R1b417c8bcee64445"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be2615627a3b46f2" /><Relationship Type="http://schemas.openxmlformats.org/officeDocument/2006/relationships/notesMaster" Target="/ppt/notesMasters/notesMaster1.xml" Id="R5855960daaa34bc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9d9c0c77aa04b15" /><Relationship Type="http://schemas.openxmlformats.org/officeDocument/2006/relationships/notesMaster" Target="/ppt/notesMasters/notesMaster1.xml" Id="R99e58490d513478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079d3053c394d49" /><Relationship Type="http://schemas.openxmlformats.org/officeDocument/2006/relationships/notesMaster" Target="/ppt/notesMasters/notesMaster1.xml" Id="Recce860bdeef406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b44eb3a3cf804eb0" /><Relationship Type="http://schemas.openxmlformats.org/officeDocument/2006/relationships/notesMaster" Target="/ppt/notesMasters/notesMaster1.xml" Id="R9d75b0682d524f7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8cbbd78942c47c1" /><Relationship Type="http://schemas.openxmlformats.org/officeDocument/2006/relationships/notesMaster" Target="/ppt/notesMasters/notesMaster1.xml" Id="R5b0bcfaea87a4e20"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e1d1fa16c4ec4372" /><Relationship Type="http://schemas.openxmlformats.org/officeDocument/2006/relationships/notesMaster" Target="/ppt/notesMasters/notesMaster1.xml" Id="R484d6574f3b2496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f53a03df99241c0" /><Relationship Type="http://schemas.openxmlformats.org/officeDocument/2006/relationships/notesMaster" Target="/ppt/notesMasters/notesMaster1.xml" Id="R5516ac7ba3ce4a1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9841ff211364aaf" /><Relationship Type="http://schemas.openxmlformats.org/officeDocument/2006/relationships/notesMaster" Target="/ppt/notesMasters/notesMaster1.xml" Id="Refdb016d462647c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155efd6ad894936" /><Relationship Type="http://schemas.openxmlformats.org/officeDocument/2006/relationships/notesMaster" Target="/ppt/notesMasters/notesMaster1.xml" Id="R19fc43a3497645a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20c151bb16304b3d" /><Relationship Type="http://schemas.openxmlformats.org/officeDocument/2006/relationships/notesMaster" Target="/ppt/notesMasters/notesMaster1.xml" Id="Rbe9212fb875845c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85539f9eb9d4baf" /><Relationship Type="http://schemas.openxmlformats.org/officeDocument/2006/relationships/notesMaster" Target="/ppt/notesMasters/notesMaster1.xml" Id="Rb2df89174cab410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9351a6ec6a847e2" /><Relationship Type="http://schemas.openxmlformats.org/officeDocument/2006/relationships/notesMaster" Target="/ppt/notesMasters/notesMaster1.xml" Id="R016cdfcd7b764dba"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1f208f0c20364d15" /><Relationship Type="http://schemas.openxmlformats.org/officeDocument/2006/relationships/notesMaster" Target="/ppt/notesMasters/notesMaster1.xml" Id="R3034a3b8b2214b0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a7c0e03eb764ca1" /><Relationship Type="http://schemas.openxmlformats.org/officeDocument/2006/relationships/notesMaster" Target="/ppt/notesMasters/notesMaster1.xml" Id="R1691eb5e80a142b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f853f67c97b4b92" /><Relationship Type="http://schemas.openxmlformats.org/officeDocument/2006/relationships/notesMaster" Target="/ppt/notesMasters/notesMaster1.xml" Id="R8394390ca6d3492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95059c91fd1403a" /><Relationship Type="http://schemas.openxmlformats.org/officeDocument/2006/relationships/notesMaster" Target="/ppt/notesMasters/notesMaster1.xml" Id="Ra4b959dd7e6147ca"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f107668710a48b4" /><Relationship Type="http://schemas.openxmlformats.org/officeDocument/2006/relationships/notesMaster" Target="/ppt/notesMasters/notesMaster1.xml" Id="R6dabb4e2fad845f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31fb974b3e44330" /><Relationship Type="http://schemas.openxmlformats.org/officeDocument/2006/relationships/notesMaster" Target="/ppt/notesMasters/notesMaster1.xml" Id="R5e796de15051477b"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4c1abd3cde54364" /><Relationship Type="http://schemas.openxmlformats.org/officeDocument/2006/relationships/notesMaster" Target="/ppt/notesMasters/notesMaster1.xml" Id="R144372c37ca845c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3524db309034e73" /><Relationship Type="http://schemas.openxmlformats.org/officeDocument/2006/relationships/notesMaster" Target="/ppt/notesMasters/notesMaster1.xml" Id="R7e0ac87d6010457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af2a42d75824802" /><Relationship Type="http://schemas.openxmlformats.org/officeDocument/2006/relationships/notesMaster" Target="/ppt/notesMasters/notesMaster1.xml" Id="R6075a25b0b7b4e5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ee02acc2d6b845d0" /><Relationship Type="http://schemas.openxmlformats.org/officeDocument/2006/relationships/notesMaster" Target="/ppt/notesMasters/notesMaster1.xml" Id="R8c81d3fde0dd485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a70fa14d17941b4" /><Relationship Type="http://schemas.openxmlformats.org/officeDocument/2006/relationships/notesMaster" Target="/ppt/notesMasters/notesMaster1.xml" Id="R4c0dff47e3164ad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4d289ca83c2436b" /><Relationship Type="http://schemas.openxmlformats.org/officeDocument/2006/relationships/notesMaster" Target="/ppt/notesMasters/notesMaster1.xml" Id="R0611c86d4d1b48f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e0575529e3ad45b8" /><Relationship Type="http://schemas.openxmlformats.org/officeDocument/2006/relationships/notesMaster" Target="/ppt/notesMasters/notesMaster1.xml" Id="R223edc4942394d9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f6f3a0d07bc45ef" /><Relationship Type="http://schemas.openxmlformats.org/officeDocument/2006/relationships/notesMaster" Target="/ppt/notesMasters/notesMaster1.xml" Id="R5be198cc98ec4a4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c70096094884ee5" /><Relationship Type="http://schemas.openxmlformats.org/officeDocument/2006/relationships/notesMaster" Target="/ppt/notesMasters/notesMaster1.xml" Id="R89a67e3e38754cd3"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6ce013929fe4ecd" /><Relationship Type="http://schemas.openxmlformats.org/officeDocument/2006/relationships/notesMaster" Target="/ppt/notesMasters/notesMaster1.xml" Id="Rca76a19d2aff4bb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6f6de05233e4f2f" /><Relationship Type="http://schemas.openxmlformats.org/officeDocument/2006/relationships/notesMaster" Target="/ppt/notesMasters/notesMaster1.xml" Id="R9c66a600e66844da"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first prediction model</a:t>
            </a:r>
          </a:p>
          <a:p>
            <a:r>
              <a:t>CML3113, Week 8, slide 1</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8, slide 2</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Identify prediction inputs and a measured target.</a:t>
            </a:r>
          </a:p>
          <a:p>
            <a:r>
              <a:t/>
            </a:r>
          </a:p>
          <a:p>
            <a:r>
              <a:t>Fit a simple model and compare prediction errors.</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8, slide 3</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Weeks 3–6 supplied Python, tables, cleaning and charts. We now use paired inputs and known answers to fit a prediction rule.</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8, slide 4</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regression model predicts a numerical engineering target from measurements available beforehand. These small invented datasets demonstrate the code. They cannot establish performance on real engineering data.</a:t>
            </a:r>
          </a:p>
          <a:p>
            <a:r>
              <a:t/>
            </a:r>
          </a:p>
          <a:p>
            <a:r>
              <a:t>Continue to</a:t>
            </a:r>
          </a:p>
          <a:p>
            <a:r>
              <a:t>A numerical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numerical prediction</a:t>
            </a:r>
          </a:p>
          <a:p>
            <a:r>
              <a:t>CML3113, Week 8, slide 5</a:t>
            </a:r>
          </a:p>
          <a:p>
            <a:r>
              <a:t/>
            </a:r>
          </a:p>
          <a:p>
            <a:r>
              <a:t>Explanation to give</a:t>
            </a:r>
          </a:p>
          <a:p>
            <a:r>
              <a:t>Classify the task by the answer the system must produce. Regression predicts a quantity with a meaningful numerical scale. Classification predicts a category, even if the labels are encoded as numbers.</a:t>
            </a:r>
          </a:p>
          <a:p>
            <a:r>
              <a:t/>
            </a:r>
          </a:p>
          <a:p>
            <a:r>
              <a:t>Worked illustration / lecturer answer</a:t>
            </a:r>
          </a:p>
          <a:p>
            <a:r>
              <a:t>Predicting days until servicing is regression. Predicting whether servicing is due is classification. A code of 0 for normal and 1 for warning still represents categories.</a:t>
            </a:r>
          </a:p>
          <a:p>
            <a:r>
              <a:t/>
            </a:r>
          </a:p>
          <a:p>
            <a:r>
              <a:t>Misconception to address</a:t>
            </a:r>
          </a:p>
          <a:p>
            <a:r>
              <a:t>Do not choose regression just because the dataset contains numbers. Name the target and explain what a prediction means.</a:t>
            </a:r>
          </a:p>
          <a:p>
            <a:r>
              <a:t/>
            </a:r>
          </a:p>
          <a:p>
            <a:r>
              <a:t>On this slide</a:t>
            </a:r>
          </a:p>
          <a:p>
            <a:r>
              <a:t>Regression predicts a number, such as cooling load in kW.</a:t>
            </a:r>
          </a:p>
          <a:p>
            <a:r>
              <a:t/>
            </a:r>
          </a:p>
          <a:p>
            <a:r>
              <a:t>A feature is information available when predicting.</a:t>
            </a:r>
          </a:p>
          <a:p>
            <a:r>
              <a:t/>
            </a:r>
          </a:p>
          <a:p>
            <a:r>
              <a:t>The target is the measured answer used during training.</a:t>
            </a:r>
          </a:p>
          <a:p>
            <a:r>
              <a:t/>
            </a:r>
          </a:p>
          <a:p>
            <a:r>
              <a:t>Classification, next week, predicts a category.</a:t>
            </a:r>
          </a:p>
          <a:p>
            <a:r>
              <a:t/>
            </a:r>
          </a:p>
          <a:p>
            <a:r>
              <a:t>Continue to</a:t>
            </a:r>
          </a:p>
          <a:p>
            <a:r>
              <a:t>Feature and target and Training validation and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Feature and target and Training validation and test</a:t>
            </a:r>
          </a:p>
          <a:p>
            <a:r>
              <a:t>CML3113, Week 8, slide 6</a:t>
            </a:r>
          </a:p>
          <a:p>
            <a:r>
              <a:t/>
            </a:r>
          </a:p>
          <a:p>
            <a:r>
              <a:t>Explanation to give</a:t>
            </a:r>
          </a:p>
          <a:p>
            <a:r>
              <a:t>A feature is information available when making a prediction. The target is the answer recorded for training examples. One observation pairs its features with its own target.</a:t>
            </a:r>
          </a:p>
          <a:p>
            <a:r>
              <a:t/>
            </a:r>
          </a:p>
          <a:p>
            <a:r>
              <a:t>Worked illustration / lecturer answer</a:t>
            </a:r>
          </a:p>
          <a:p>
            <a:r>
              <a:t>To predict tomorrow's cooling load, today's available weather information may be a feature. Tomorrow's measured cooling load becomes a target later. It cannot also be an input available now.</a:t>
            </a:r>
          </a:p>
          <a:p>
            <a:r>
              <a:t/>
            </a:r>
          </a:p>
          <a:p>
            <a:r>
              <a:t>Misconception to address</a:t>
            </a:r>
          </a:p>
          <a:p>
            <a:r>
              <a:t>Information recorded after the decision can leak the answer. An identifier or row number is not automatically a meaningful predictor.</a:t>
            </a:r>
          </a:p>
          <a:p>
            <a:r>
              <a:t/>
            </a:r>
          </a:p>
          <a:p>
            <a:r>
              <a:t>On this slide</a:t>
            </a:r>
          </a:p>
          <a:p>
            <a:r>
              <a:t>Feature and target: Features are inputs available when making a prediction. The target is the quantity we want to predict.</a:t>
            </a:r>
          </a:p>
          <a:p>
            <a:r>
              <a:t>Training validation and test: Training fits the model. Validation helps choose it. The final test estimates performance after choices are fixed. Repeated equipment must stay in the same partition when assessing unseen equipment.</a:t>
            </a:r>
          </a:p>
          <a:p>
            <a:r>
              <a:t/>
            </a:r>
          </a:p>
          <a:p>
            <a:r>
              <a:t>Continue to</a:t>
            </a:r>
          </a:p>
          <a:p>
            <a:r>
              <a:t>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Baseline</a:t>
            </a:r>
          </a:p>
          <a:p>
            <a:r>
              <a:t>CML3113, Week 8, slide 7</a:t>
            </a:r>
          </a:p>
          <a:p>
            <a:r>
              <a:t/>
            </a:r>
          </a:p>
          <a:p>
            <a:r>
              <a:t>Explanation to give</a:t>
            </a:r>
          </a:p>
          <a:p>
            <a:r>
              <a:t>A baseline is a simple reference prediction against which a more elaborate method is judged. Define its rule clearly before reporting any comparison score.</a:t>
            </a:r>
          </a:p>
          <a:p>
            <a:r>
              <a:t/>
            </a:r>
          </a:p>
          <a:p>
            <a:r>
              <a:t>Worked illustration / lecturer answer</a:t>
            </a:r>
          </a:p>
          <a:p>
            <a:r>
              <a:t>If the training target mean is 15, a mean baseline returns 15 for every observation. Calculate its error on exactly the same evaluation cases used for the proposed model.</a:t>
            </a:r>
          </a:p>
          <a:p>
            <a:r>
              <a:t/>
            </a:r>
          </a:p>
          <a:p>
            <a:r>
              <a:t>Misconception to address</a:t>
            </a:r>
          </a:p>
          <a:p>
            <a:r>
              <a:t>A weaker baseline chosen after seeing the results can exaggerate an improvement. Use the stated baseline and evaluation protocol.</a:t>
            </a:r>
          </a:p>
          <a:p>
            <a:r>
              <a:t/>
            </a:r>
          </a:p>
          <a:p>
            <a:r>
              <a:t>On this slide</a:t>
            </a:r>
          </a:p>
          <a:p>
            <a:r>
              <a:t>Baseline: A simple reference prediction. A training-mean baseline predicts the same training mean for every new example.</a:t>
            </a:r>
          </a:p>
          <a:p>
            <a:r>
              <a:t/>
            </a:r>
          </a:p>
          <a:p>
            <a:r>
              <a:t>Continue to</a:t>
            </a:r>
          </a:p>
          <a:p>
            <a:r>
              <a:t>Linear model and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Linear model and tree</a:t>
            </a:r>
          </a:p>
          <a:p>
            <a:r>
              <a:t>CML3113, Week 8, slide 8</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Linear model and tree: A linear model combines inputs with learned weights. A regression tree asks feature-threshold questions and predicts a value at each leaf.</a:t>
            </a:r>
          </a:p>
          <a:p>
            <a:r>
              <a:t/>
            </a:r>
          </a:p>
          <a:p>
            <a:r>
              <a:t>Continue to</a:t>
            </a:r>
          </a:p>
          <a:p>
            <a:r>
              <a:t>What learning means in this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What learning means in this example</a:t>
            </a:r>
          </a:p>
          <a:p>
            <a:r>
              <a:t>CML3113, Week 8, slide 9</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Training supplies inputs and their known answers.</a:t>
            </a:r>
          </a:p>
          <a:p>
            <a:r>
              <a:t/>
            </a:r>
          </a:p>
          <a:p>
            <a:r>
              <a:t>The model uses those examples to choose its internal numbers.</a:t>
            </a:r>
          </a:p>
          <a:p>
            <a:r>
              <a:t/>
            </a:r>
          </a:p>
          <a:p>
            <a:r>
              <a:t>Prediction applies the fitted model to inputs whose answer we want to estimate.</a:t>
            </a:r>
          </a:p>
          <a:p>
            <a:r>
              <a:t/>
            </a:r>
          </a:p>
          <a:p>
            <a:r>
              <a:t>Continue to</a:t>
            </a:r>
          </a:p>
          <a:p>
            <a:r>
              <a:t>Training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Training observations</a:t>
            </a:r>
          </a:p>
          <a:p>
            <a:r>
              <a:t>CML3113, Week 8, slide 10</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Input | Measured target</a:t>
            </a:r>
          </a:p>
          <a:p>
            <a:r>
              <a:t>1 | 12</a:t>
            </a:r>
          </a:p>
          <a:p>
            <a:r>
              <a:t>2 | 14</a:t>
            </a:r>
          </a:p>
          <a:p>
            <a:r>
              <a:t>3 | 16</a:t>
            </a:r>
          </a:p>
          <a:p>
            <a:r>
              <a:t>4 | 18</a:t>
            </a:r>
          </a:p>
          <a:p>
            <a:r>
              <a:t>Invented numbers for learning.</a:t>
            </a:r>
          </a:p>
          <a:p>
            <a:r>
              <a:t/>
            </a:r>
          </a:p>
          <a:p>
            <a:r>
              <a:t>Continue to</a:t>
            </a:r>
          </a:p>
          <a:p>
            <a:r>
              <a:t>A fitted line is a numerical rule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fitted line is a numerical rule</a:t>
            </a:r>
          </a:p>
          <a:p>
            <a:r>
              <a:t>CML3113, Week 8, slide 11</a:t>
            </a:r>
          </a:p>
          <a:p>
            <a:r>
              <a:t/>
            </a:r>
          </a:p>
          <a:p>
            <a:r>
              <a:t>Explanation to give</a:t>
            </a:r>
          </a:p>
          <a:p>
            <a:r>
              <a:t>A fitted straight line summarises how the target changes with an input in the training examples. Its slope is the change in prediction per unit increase of input; its intercept is the prediction at input zero.</a:t>
            </a:r>
          </a:p>
          <a:p>
            <a:r>
              <a:t/>
            </a:r>
          </a:p>
          <a:p>
            <a:r>
              <a:t>Worked illustration / lecturer answer</a:t>
            </a:r>
          </a:p>
          <a:p>
            <a:r>
              <a:t>The teaching data [1,2,3,4] and [12,14,16,18] follow y = 10 + 2x. At x = 2.5 the line predicts 15. That is an illustration, not evidence of accuracy on engineering measurements.</a:t>
            </a:r>
          </a:p>
          <a:p>
            <a:r>
              <a:t/>
            </a:r>
          </a:p>
          <a:p>
            <a:r>
              <a:t>Misconception to address</a:t>
            </a:r>
          </a:p>
          <a:p>
            <a:r>
              <a:t>Fitting a neat line does not establish causation. Extrapolating beyond the observed range can be unreliable.</a:t>
            </a:r>
          </a:p>
          <a:p>
            <a:r>
              <a:t/>
            </a:r>
          </a:p>
          <a:p>
            <a:r>
              <a:t>On this slide</a:t>
            </a:r>
          </a:p>
          <a:p>
            <a:r>
              <a:t>For these invented observations, target = 2 × input + 10 matches all four points. 2 is the slope; 10 is the intercept, the value at input zero.</a:t>
            </a:r>
          </a:p>
          <a:p>
            <a:r>
              <a:t/>
            </a:r>
          </a:p>
          <a:p>
            <a:r>
              <a:t>A prediction error is the difference between a prediction and the measured answer. A vertical gap in the picture shows that error.</a:t>
            </a:r>
          </a:p>
          <a:p>
            <a:r>
              <a:t/>
            </a:r>
          </a:p>
          <a:p>
            <a:r>
              <a:t>Fitting chooses the slope and intercept to minimise summed squared errors. Squaring means multiplying an error by itself; a small training error still needs an unseen-data check.</a:t>
            </a:r>
          </a:p>
          <a:p>
            <a:r>
              <a:t/>
            </a:r>
          </a:p>
          <a:p>
            <a:r>
              <a:t>Continue to</a:t>
            </a:r>
          </a:p>
          <a:p>
            <a:r>
              <a:t>Fitting a line to observations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Fitting a line to observations</a:t>
            </a:r>
          </a:p>
          <a:p>
            <a:r>
              <a:t>CML3113, Week 8, slide 12</a:t>
            </a:r>
          </a:p>
          <a:p>
            <a:r>
              <a:t/>
            </a:r>
          </a:p>
          <a:p>
            <a:r>
              <a:t>Explanation to give</a:t>
            </a:r>
          </a:p>
          <a:p>
            <a:r>
              <a:t>Use the four teaching pairs to make the learned relationship visible. A one-unit input increase corresponds to a two-unit target increase in this invented dataset.</a:t>
            </a:r>
          </a:p>
          <a:p>
            <a:r>
              <a:t/>
            </a:r>
          </a:p>
          <a:p>
            <a:r>
              <a:t>Worked illustration / lecturer answer</a:t>
            </a:r>
          </a:p>
          <a:p>
            <a:r>
              <a:t>The pairs (1,12), (2,14), (3,16), (4,18) follow target = 10 + 2 × input. For input 2.5, that line gives 15. A tree makes threshold-based group predictions instead.</a:t>
            </a:r>
          </a:p>
          <a:p>
            <a:r>
              <a:t/>
            </a:r>
          </a:p>
          <a:p>
            <a:r>
              <a:t>Misconception to address</a:t>
            </a:r>
          </a:p>
          <a:p>
            <a:r>
              <a:t>These perfectly patterned values explain model behaviour. They do not establish that real engineering data follows an exact line.</a:t>
            </a:r>
          </a:p>
          <a:p>
            <a:r>
              <a:t/>
            </a:r>
          </a:p>
          <a:p>
            <a:r>
              <a:t>On this slide</a:t>
            </a:r>
          </a:p>
          <a:p>
            <a:r>
              <a:t>The fitted line minimises the sum of squared vertical errors.</a:t>
            </a:r>
          </a:p>
          <a:p>
            <a:r>
              <a:t/>
            </a:r>
          </a:p>
          <a:p>
            <a:r>
              <a:t>Continue to</a:t>
            </a:r>
          </a:p>
          <a:p>
            <a:r>
              <a:t>Rows must stay paired with their answers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must stay paired with their answers</a:t>
            </a:r>
          </a:p>
          <a:p>
            <a:r>
              <a:t>CML3113, Week 8, slide 13</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Each inner list in X_train is one observation.</a:t>
            </a:r>
          </a:p>
          <a:p>
            <a:r>
              <a:t/>
            </a:r>
          </a:p>
          <a:p>
            <a:r>
              <a:t>y_train contains one target value for each row, in the same order.</a:t>
            </a:r>
          </a:p>
          <a:p>
            <a:r>
              <a:t/>
            </a:r>
          </a:p>
          <a:p>
            <a:r>
              <a:t>Changing the order of only one list attaches answers to the wrong observations.</a:t>
            </a:r>
          </a:p>
          <a:p>
            <a:r>
              <a:t/>
            </a:r>
          </a:p>
          <a:p>
            <a:r>
              <a:t>Continue to</a:t>
            </a:r>
          </a:p>
          <a:p>
            <a:r>
              <a:t>A matrix is a rectangular table of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matrix is a rectangular table of numbers</a:t>
            </a:r>
          </a:p>
          <a:p>
            <a:r>
              <a:t>CML3113, Week 8, slide 14</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A matrix has rows and columns. For modelling, one row is one observation and each column is one input feature.</a:t>
            </a:r>
          </a:p>
          <a:p>
            <a:r>
              <a:t/>
            </a:r>
          </a:p>
          <a:p>
            <a:r>
              <a:t>[[1, 20], [2, 22]] has two rows and two columns. The outer list contains rows; each inner list contains that row’s features.</a:t>
            </a:r>
          </a:p>
          <a:p>
            <a:r>
              <a:t/>
            </a:r>
          </a:p>
          <a:p>
            <a:r>
              <a:t>X is a conventional name for this input table. y holds one known target per row. These names have no special power in Python.</a:t>
            </a:r>
          </a:p>
          <a:p>
            <a:r>
              <a:t/>
            </a:r>
          </a:p>
          <a:p>
            <a:r>
              <a:t>Continue to</a:t>
            </a:r>
          </a:p>
          <a:p>
            <a:r>
              <a:t>Rows and arrays before model code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and arrays before model code</a:t>
            </a:r>
          </a:p>
          <a:p>
            <a:r>
              <a:t>CML3113, Week 8, slide 15</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Nested lists: [[1], [2], [3]] has three inner lists: three rows with one feature each. [12, 14, 16] has one target per row in the same order.</a:t>
            </a:r>
          </a:p>
          <a:p>
            <a:r>
              <a:t>NumPy and array: NumPy is a numerical library; np is its short imported name. np.array(...) builds an array. shape reports its dimensions. np.nan represents a missing numerical value.</a:t>
            </a:r>
          </a:p>
          <a:p>
            <a:r>
              <a:t/>
            </a:r>
          </a:p>
          <a:p>
            <a:r>
              <a:t>Continue to</a:t>
            </a:r>
          </a:p>
          <a:p>
            <a:r>
              <a:t>Reading NumPy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NumPy results</a:t>
            </a:r>
          </a:p>
          <a:p>
            <a:r>
              <a:t>CML3113, Week 8, slide 16</a:t>
            </a:r>
          </a:p>
          <a:p>
            <a:r>
              <a:t/>
            </a:r>
          </a:p>
          <a:p>
            <a:r>
              <a:t>Explanation to give</a:t>
            </a:r>
          </a:p>
          <a:p>
            <a:r>
              <a:t>Preserve the relationship between one observation's inputs and its answer. Show shapes and row order before interpreting returned predictions.</a:t>
            </a:r>
          </a:p>
          <a:p>
            <a:r>
              <a:t/>
            </a:r>
          </a:p>
          <a:p>
            <a:r>
              <a:t>Worked illustration / lecturer answer</a:t>
            </a:r>
          </a:p>
          <a:p>
            <a:r>
              <a:t>X has four training rows and y has four targets. predictions.round(2) changes display precision; .tolist() converts a NumPy array to a Python list. Keep full-precision values for metrics when required.</a:t>
            </a:r>
          </a:p>
          <a:p>
            <a:r>
              <a:t/>
            </a:r>
          </a:p>
          <a:p>
            <a:r>
              <a:t>Misconception to address</a:t>
            </a:r>
          </a:p>
          <a:p>
            <a:r>
              <a:t>Rounding a displayed value is different from changing the values used for assessment. Do not shuffle X without applying the same reordering to y.</a:t>
            </a:r>
          </a:p>
          <a:p>
            <a:r>
              <a:t/>
            </a:r>
          </a:p>
          <a:p>
            <a:r>
              <a:t>On this slide</a:t>
            </a:r>
          </a:p>
          <a:p>
            <a:r>
              <a:t>Expression | Meaning</a:t>
            </a:r>
          </a:p>
          <a:p>
            <a:r>
              <a:t>np.nan | A missing numeric value marker</a:t>
            </a:r>
          </a:p>
          <a:p>
            <a:r>
              <a:t>X.shape | The array dimensions: rows, columns</a:t>
            </a:r>
          </a:p>
          <a:p>
            <a:r>
              <a:t>predictions.round(2) | Round a new array to two decimal places</a:t>
            </a:r>
          </a:p>
          <a:p>
            <a:r>
              <a:t>predictions.tolist() | Convert the array into a Python list</a:t>
            </a:r>
          </a:p>
          <a:p>
            <a:r>
              <a:t>Use rounded values only for a labelled display. Keep full precision when the assignment requires it.</a:t>
            </a:r>
          </a:p>
          <a:p>
            <a:r>
              <a:t/>
            </a:r>
          </a:p>
          <a:p>
            <a:r>
              <a:t>Continue to</a:t>
            </a:r>
          </a:p>
          <a:p>
            <a:r>
              <a:t>Create an array before reading its shape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Create an array before reading its shape</a:t>
            </a:r>
          </a:p>
          <a:p>
            <a:r>
              <a:t>CML3113, Week 8, slide 17</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NumPy is a library for numerical arrays. import numpy as np makes its tools available through the name np.</a:t>
            </a:r>
          </a:p>
          <a:p>
            <a:r>
              <a:t/>
            </a:r>
          </a:p>
          <a:p>
            <a:r>
              <a:t>An array stores a regular arrangement of values. np.array([[1], [2], [3]]) creates three rows with one value in each.</a:t>
            </a:r>
          </a:p>
          <a:p>
            <a:r>
              <a:t/>
            </a:r>
          </a:p>
          <a:p>
            <a:r>
              <a:t>X.shape reports (3, 1): three rows, one column. np.array([12, 14, 16]) is one-dimensional; its shape is (3,). The comma marks a one-item tuple.</a:t>
            </a:r>
          </a:p>
          <a:p>
            <a:r>
              <a:t/>
            </a:r>
          </a:p>
          <a:p>
            <a:r>
              <a:t>Reference / existing resource</a:t>
            </a:r>
          </a:p>
          <a:p>
            <a:r>
              <a:t>https://docs.python.org/3/tutorial/introduction.html</a:t>
            </a:r>
          </a:p>
          <a:p>
            <a:r>
              <a:t>https://docs.python.org/3/tutorial/controlflow.html;</a:t>
            </a:r>
          </a:p>
          <a:p>
            <a:r>
              <a:t/>
            </a:r>
          </a:p>
          <a:p>
            <a:r>
              <a:t>Continue to</a:t>
            </a:r>
          </a:p>
          <a:p>
            <a:r>
              <a:t>Rows, columns and named options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Rows, columns and named options</a:t>
            </a:r>
          </a:p>
          <a:p>
            <a:r>
              <a:t>CML3113, Week 8, slide 18</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import numpy as np</a:t>
            </a:r>
          </a:p>
          <a:p>
            <a:r>
              <a:t>Load this library. An alias after as is the shorter name used below.</a:t>
            </a:r>
          </a:p>
          <a:p>
            <a:r>
              <a:t/>
            </a:r>
          </a:p>
          <a:p>
            <a:r>
              <a:t>X = np.array([[1], [2], [3]])</a:t>
            </a:r>
          </a:p>
          <a:p>
            <a:r>
              <a:t>Evaluate the complete right-hand expression first, then assign its result to the name or selected field on the left.</a:t>
            </a:r>
          </a:p>
          <a:p>
            <a:r>
              <a:t/>
            </a:r>
          </a:p>
          <a:p>
            <a:r>
              <a:t>y = np.array([12, 14, 16])</a:t>
            </a:r>
          </a:p>
          <a:p>
            <a:r>
              <a:t>Evaluate the complete right-hand expression first, then assign its result to the name or selected field on the left.</a:t>
            </a:r>
          </a:p>
          <a:p>
            <a:r>
              <a:t/>
            </a:r>
          </a:p>
          <a:p>
            <a:r>
              <a:t>print(X.shape)</a:t>
            </a:r>
          </a:p>
          <a:p>
            <a:r>
              <a:t>Evaluate the expression inside the parentheses and display it. Displaying is separate from returning a function result.</a:t>
            </a:r>
          </a:p>
          <a:p>
            <a:r>
              <a:t/>
            </a:r>
          </a:p>
          <a:p>
            <a:r>
              <a:t>print(y.shape)</a:t>
            </a:r>
          </a:p>
          <a:p>
            <a:r>
              <a:t>Evaluate the expression inside the parentheses and display it. Displaying is separate from returning a function result.</a:t>
            </a:r>
          </a:p>
          <a:p>
            <a:r>
              <a:t/>
            </a:r>
          </a:p>
          <a:p>
            <a:r>
              <a:t>Result / continuity</a:t>
            </a:r>
          </a:p>
          <a:p>
            <a:r>
              <a:t>X has three rows and one feature column. y has three target values.</a:t>
            </a:r>
          </a:p>
          <a:p>
            <a:r>
              <a:t/>
            </a:r>
          </a:p>
          <a:p>
            <a:r>
              <a:t>Continue to</a:t>
            </a:r>
          </a:p>
          <a:p>
            <a:r>
              <a:t>fit and predict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fit and predict</a:t>
            </a:r>
          </a:p>
          <a:p>
            <a:r>
              <a:t>CML3113, Week 8, slide 19</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fit and predict: fit learns from training inputs and targets. predict uses the fitted rule on new inputs without receiving their true targets.</a:t>
            </a:r>
          </a:p>
          <a:p>
            <a:r>
              <a:t/>
            </a:r>
          </a:p>
          <a:p>
            <a:r>
              <a:t>Continue to</a:t>
            </a:r>
          </a:p>
          <a:p>
            <a:r>
              <a:t>A model object keeps learned information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model object keeps learned information</a:t>
            </a:r>
          </a:p>
          <a:p>
            <a:r>
              <a:t>CML3113, Week 8, slide 20</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Object and method: LinearRegression() creates a model object. A method is an operation on that object. model.fit(...) stores learned information; model.predict(...) uses it.</a:t>
            </a:r>
          </a:p>
          <a:p>
            <a:r>
              <a:t>Options: An argument such as strategy="mean" names an option. A random seed fixes the starting state of random choices; it does not prove that a model is accurate.</a:t>
            </a:r>
          </a:p>
          <a:p>
            <a:r>
              <a:t/>
            </a:r>
          </a:p>
          <a:p>
            <a:r>
              <a:t>Continue to</a:t>
            </a:r>
          </a:p>
          <a:p>
            <a:r>
              <a:t>An object remembers its fitted state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object remembers its fitted state</a:t>
            </a:r>
          </a:p>
          <a:p>
            <a:r>
              <a:t>CML3113, Week 8, slide 21</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Python expression | What it means</a:t>
            </a:r>
          </a:p>
          <a:p>
            <a:r>
              <a:t>model = LinearRegression() | Create an unfitted model object</a:t>
            </a:r>
          </a:p>
          <a:p>
            <a:r>
              <a:t>model.fit(X_train, y_train) | Learn from paired training data</a:t>
            </a:r>
          </a:p>
          <a:p>
            <a:r>
              <a:t>model.predict(X_new) | Use that learned state</a:t>
            </a:r>
          </a:p>
          <a:p>
            <a:r>
              <a:t>random_state=17 | Name an option and set its value</a:t>
            </a:r>
          </a:p>
          <a:p>
            <a:r>
              <a:t>An object holds state and has methods. A method is a function used through that object.</a:t>
            </a:r>
          </a:p>
          <a:p>
            <a:r>
              <a:t/>
            </a:r>
          </a:p>
          <a:p>
            <a:r>
              <a:t>Continue to</a:t>
            </a:r>
          </a:p>
          <a:p>
            <a:r>
              <a:t>Creating, fitting and predicting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fitting and predicting</a:t>
            </a:r>
          </a:p>
          <a:p>
            <a:r>
              <a:t>CML3113, Week 8, slide 22</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LinearRegression() creates a model that has not learned yet.</a:t>
            </a:r>
          </a:p>
          <a:p>
            <a:r>
              <a:t/>
            </a:r>
          </a:p>
          <a:p>
            <a:r>
              <a:t>fit(X_train, y_train) learns from paired training examples.</a:t>
            </a:r>
          </a:p>
          <a:p>
            <a:r>
              <a:t/>
            </a:r>
          </a:p>
          <a:p>
            <a:r>
              <a:t>predict(new_inputs) returns estimates. The actual targets are absent from new_inputs.</a:t>
            </a:r>
          </a:p>
          <a:p>
            <a:r>
              <a:t/>
            </a:r>
          </a:p>
          <a:p>
            <a:r>
              <a:t>Continue to</a:t>
            </a:r>
          </a:p>
          <a:p>
            <a:r>
              <a:t>Where the modelling tools come from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Where the modelling tools come from</a:t>
            </a:r>
          </a:p>
          <a:p>
            <a:r>
              <a:t>CML3113, Week 8, slide 23</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scikit-learn is an installed machine-learning library. Its Python import name is sklearn. linear_model is the part containing LinearRegression.</a:t>
            </a:r>
          </a:p>
          <a:p>
            <a:r>
              <a:t/>
            </a:r>
          </a:p>
          <a:p>
            <a:r>
              <a:t>from sklearn.linear_model import LinearRegression makes that model class available. LinearRegression() creates an individual model object.</a:t>
            </a:r>
          </a:p>
          <a:p>
            <a:r>
              <a:t/>
            </a:r>
          </a:p>
          <a:p>
            <a:r>
              <a:t>In Colab this library is normally available. If an import fails, use the course setup instructions and retry the import before running model code.</a:t>
            </a:r>
          </a:p>
          <a:p>
            <a:r>
              <a:t/>
            </a:r>
          </a:p>
          <a:p>
            <a:r>
              <a:t>Continue to</a:t>
            </a:r>
          </a:p>
          <a:p>
            <a:r>
              <a:t>Regression models and errors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a:t>
            </a:r>
          </a:p>
          <a:p>
            <a:r>
              <a:t>CML3113, Week 8, slide 24</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from sklearn.linear_model import LinearRegression</a:t>
            </a:r>
          </a:p>
          <a:p>
            <a:r>
              <a:t>Bring the named tool from this library into the current Python session.</a:t>
            </a:r>
          </a:p>
          <a:p>
            <a:r>
              <a:t/>
            </a:r>
          </a:p>
          <a:p>
            <a:r>
              <a:t>X_train = [[1], [2], [3], [4]]</a:t>
            </a:r>
          </a:p>
          <a:p>
            <a:r>
              <a:t>Evaluate the complete right-hand expression first, then assign its result to the name or selected field on the left.</a:t>
            </a:r>
          </a:p>
          <a:p>
            <a:r>
              <a:t/>
            </a:r>
          </a:p>
          <a:p>
            <a:r>
              <a:t>y_train = [12, 14, 16, 18]</a:t>
            </a:r>
          </a:p>
          <a:p>
            <a:r>
              <a:t>Evaluate the complete right-hand expression first, then assign its result to the name or selected field on the left.</a:t>
            </a:r>
          </a:p>
          <a:p>
            <a:r>
              <a:t/>
            </a:r>
          </a:p>
          <a:p>
            <a:r>
              <a:t>new_inputs = [[2.5]]</a:t>
            </a:r>
          </a:p>
          <a:p>
            <a:r>
              <a:t>Evaluate the complete right-hand expression first, then assign its result to the name or selected field on the left.</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CML3113, Week 8, slide 25</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model = LinearRegression()</a:t>
            </a:r>
          </a:p>
          <a:p>
            <a:r>
              <a:t>Evaluate the complete right-hand expression first, then assign its result to the name or selected field on the left.</a:t>
            </a:r>
          </a:p>
          <a:p>
            <a:r>
              <a:t/>
            </a:r>
          </a:p>
          <a:p>
            <a:r>
              <a:t>model.fit(X_train, y_train)</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Regression models and errors in Python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in Python continued</a:t>
            </a:r>
          </a:p>
          <a:p>
            <a:r>
              <a:t>CML3113, Week 8, slide 26</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Read the displayed code line by line</a:t>
            </a:r>
          </a:p>
          <a:p>
            <a:r>
              <a:t>predictions = model.predict(new_inputs)</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Regression models and errors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models and errors results</a:t>
            </a:r>
          </a:p>
          <a:p>
            <a:r>
              <a:t>CML3113, Week 8, slide 27</a:t>
            </a:r>
          </a:p>
          <a:p>
            <a:r>
              <a:t/>
            </a:r>
          </a:p>
          <a:p>
            <a:r>
              <a:t>Explanation to give</a:t>
            </a:r>
          </a:p>
          <a:p>
            <a:r>
              <a:t>A model object starts without learned coefficients. fit uses paired training inputs and answers to learn its state. predict applies that saved state to input rows and returns estimates.</a:t>
            </a:r>
          </a:p>
          <a:p>
            <a:r>
              <a:t/>
            </a:r>
          </a:p>
          <a:p>
            <a:r>
              <a:t>Worked illustration / lecturer answer</a:t>
            </a:r>
          </a:p>
          <a:p>
            <a:r>
              <a:t>In the displayed four-row example, fitting learns a line with intercept 10 and slope 2. Predicting [[2.5]] gives [15.0]. No true answer for 2.5 is passed to predict.</a:t>
            </a:r>
          </a:p>
          <a:p>
            <a:r>
              <a:t/>
            </a:r>
          </a:p>
          <a:p>
            <a:r>
              <a:t>Misconception to address</a:t>
            </a:r>
          </a:p>
          <a:p>
            <a:r>
              <a:t>Creating LinearRegression() is not training. Calling predict before fit fails. An import makes a tool available; it does not run the model.</a:t>
            </a:r>
          </a:p>
          <a:p>
            <a:r>
              <a:t/>
            </a:r>
          </a:p>
          <a:p>
            <a:r>
              <a:t>On this slide</a:t>
            </a:r>
          </a:p>
          <a:p>
            <a:r>
              <a:t>[15.0]</a:t>
            </a:r>
          </a:p>
          <a:p>
            <a:r>
              <a:t/>
            </a:r>
          </a:p>
          <a:p>
            <a:r>
              <a:t>Continue to</a:t>
            </a:r>
          </a:p>
          <a:p>
            <a:r>
              <a:t>The mean baseline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a:t>
            </a:r>
          </a:p>
          <a:p>
            <a:r>
              <a:t>CML3113, Week 8, slide 28</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On this slide</a:t>
            </a:r>
          </a:p>
          <a:p>
            <a:r>
              <a:t>Use the same training data.</a:t>
            </a:r>
          </a:p>
          <a:p>
            <a:r>
              <a:t/>
            </a:r>
          </a:p>
          <a:p>
            <a:r>
              <a:t>This baseline learns their mean, 15, and predicts it for every input.</a:t>
            </a:r>
          </a:p>
          <a:p>
            <a:r>
              <a:t/>
            </a:r>
          </a:p>
          <a:p>
            <a:r>
              <a:t>It gives a simple comparison before claiming the line helps.</a:t>
            </a:r>
          </a:p>
          <a:p>
            <a:r>
              <a:t/>
            </a:r>
          </a:p>
          <a:p>
            <a:r>
              <a:t>Continue to</a:t>
            </a:r>
          </a:p>
          <a:p>
            <a:r>
              <a:t>The mean baseline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mean baseline in Python</a:t>
            </a:r>
          </a:p>
          <a:p>
            <a:r>
              <a:t>CML3113, Week 8, slide 29</a:t>
            </a:r>
          </a:p>
          <a:p>
            <a:r>
              <a:t/>
            </a:r>
          </a:p>
          <a:p>
            <a:r>
              <a:t>Explanation to give</a:t>
            </a:r>
          </a:p>
          <a:p>
            <a:r>
              <a:t>A baseline is a deliberately simple comparison. The training-mean baseline ignores input differences and always predicts the same number learned from training targets.</a:t>
            </a:r>
          </a:p>
          <a:p>
            <a:r>
              <a:t/>
            </a:r>
          </a:p>
          <a:p>
            <a:r>
              <a:t>Worked illustration / lecturer answer</a:t>
            </a:r>
          </a:p>
          <a:p>
            <a:r>
              <a:t>Targets 12, 14, 16 and 18 have mean 15. This baseline predicts 15 for input 2.5 and also for input 9. A more complex model must earn its extra complexity on held-out observations.</a:t>
            </a:r>
          </a:p>
          <a:p>
            <a:r>
              <a:t/>
            </a:r>
          </a:p>
          <a:p>
            <a:r>
              <a:t>Misconception to address</a:t>
            </a:r>
          </a:p>
          <a:p>
            <a:r>
              <a:t>Compute the mean from training targets only. A model matching the baseline at one point says nothing about which is better overall.</a:t>
            </a:r>
          </a:p>
          <a:p>
            <a:r>
              <a:t/>
            </a:r>
          </a:p>
          <a:p>
            <a:r>
              <a:t>Read the displayed code line by line</a:t>
            </a:r>
          </a:p>
          <a:p>
            <a:r>
              <a:t>from sklearn.dummy import DummyRegressor</a:t>
            </a:r>
          </a:p>
          <a:p>
            <a:r>
              <a:t>Bring the named tool from this library into the current Python session.</a:t>
            </a:r>
          </a:p>
          <a:p>
            <a:r>
              <a:t/>
            </a:r>
          </a:p>
          <a:p>
            <a:r>
              <a:t>baseline = DummyRegressor(strategy="mean")</a:t>
            </a:r>
          </a:p>
          <a:p>
            <a:r>
              <a:t>Evaluate the complete right-hand expression first, then assign its result to the name or selected field on the left.</a:t>
            </a:r>
          </a:p>
          <a:p>
            <a:r>
              <a:t/>
            </a:r>
          </a:p>
          <a:p>
            <a:r>
              <a:t>baseline.fit(X_train, y_train)</a:t>
            </a:r>
          </a:p>
          <a:p>
            <a:r>
              <a:t>Learn from the supplied training rows and their aligned targets. This changes the fitted object’s state.</a:t>
            </a:r>
          </a:p>
          <a:p>
            <a:r>
              <a:t/>
            </a:r>
          </a:p>
          <a:p>
            <a:r>
              <a:t>print(baseline.predict(new_inputs).tolist())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A small regression tree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a:t>
            </a:r>
          </a:p>
          <a:p>
            <a:r>
              <a:t>CML3113, Week 8, slide 30</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A tree learns threshold questions from the training inputs.</a:t>
            </a:r>
          </a:p>
          <a:p>
            <a:r>
              <a:t/>
            </a:r>
          </a:p>
          <a:p>
            <a:r>
              <a:t>Each final group, or leaf, predicts a target value.</a:t>
            </a:r>
          </a:p>
          <a:p>
            <a:r>
              <a:t/>
            </a:r>
          </a:p>
          <a:p>
            <a:r>
              <a:t>This tree returns 14 for input 2.5 in this toy example. max_depth limits the number of successive decisions. random_state fixes the random seed.</a:t>
            </a:r>
          </a:p>
          <a:p>
            <a:r>
              <a:t/>
            </a:r>
          </a:p>
          <a:p>
            <a:r>
              <a:t>Continue to</a:t>
            </a:r>
          </a:p>
          <a:p>
            <a:r>
              <a:t>Trace a regression-tree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 regression-tree prediction</a:t>
            </a:r>
          </a:p>
          <a:p>
            <a:r>
              <a:t>CML3113, Week 8, slide 31</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On this slide</a:t>
            </a:r>
          </a:p>
          <a:p>
            <a:r>
              <a:t>Input or question | Path for input 2.5 | Result</a:t>
            </a:r>
          </a:p>
          <a:p>
            <a:r>
              <a:t>Is input at most 2.5? | Yes: use the lower group | Continue within that group</a:t>
            </a:r>
          </a:p>
          <a:p>
            <a:r>
              <a:t>Is input at most 1.5? | No: use its upper leaf | Training target 14</a:t>
            </a:r>
          </a:p>
          <a:p>
            <a:r>
              <a:t>Leaf prediction | Return the leaf value | 14</a:t>
            </a:r>
          </a:p>
          <a:p>
            <a:r>
              <a:t>This trace describes our fitted four-row teaching tree. A different training set can produce different questions.</a:t>
            </a:r>
          </a:p>
          <a:p>
            <a:r>
              <a:t/>
            </a:r>
          </a:p>
          <a:p>
            <a:r>
              <a:t>Reference / existing resource</a:t>
            </a:r>
          </a:p>
          <a:p>
            <a:r>
              <a:t>https://docs.python.org/3/tutorial/introduction.html</a:t>
            </a:r>
          </a:p>
          <a:p>
            <a:r>
              <a:t>https://docs.python.org/3/tutorial/controlflow.html;</a:t>
            </a:r>
          </a:p>
          <a:p>
            <a:r>
              <a:t/>
            </a:r>
          </a:p>
          <a:p>
            <a:r>
              <a:t>Continue to</a:t>
            </a:r>
          </a:p>
          <a:p>
            <a:r>
              <a:t>A small regression tree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small regression tree in Python</a:t>
            </a:r>
          </a:p>
          <a:p>
            <a:r>
              <a:t>CML3113, Week 8, slide 32</a:t>
            </a:r>
          </a:p>
          <a:p>
            <a:r>
              <a:t/>
            </a:r>
          </a:p>
          <a:p>
            <a:r>
              <a:t>Explanation to give</a:t>
            </a:r>
          </a:p>
          <a:p>
            <a:r>
              <a:t>A regression tree asks learned threshold questions. Each path leads to a terminal group, or leaf, whose prediction is based on training targets in that group.</a:t>
            </a:r>
          </a:p>
          <a:p>
            <a:r>
              <a:t/>
            </a:r>
          </a:p>
          <a:p>
            <a:r>
              <a:t>Worked illustration / lecturer answer</a:t>
            </a:r>
          </a:p>
          <a:p>
            <a:r>
              <a:t>In the displayed toy tree, input 2.5 follows &lt;= 2.5, then &gt; 1.5, reaching prediction 14. The straight line gives 15 on the same input because it uses a different rule.</a:t>
            </a:r>
          </a:p>
          <a:p>
            <a:r>
              <a:t/>
            </a:r>
          </a:p>
          <a:p>
            <a:r>
              <a:t>Misconception to address</a:t>
            </a:r>
          </a:p>
          <a:p>
            <a:r>
              <a:t>Thresholds and leaf values depend on the training data. max_depth limits complexity; a fixed random_state helps repetition but does not certify accuracy.</a:t>
            </a:r>
          </a:p>
          <a:p>
            <a:r>
              <a:t/>
            </a:r>
          </a:p>
          <a:p>
            <a:r>
              <a:t>Read the displayed code line by line</a:t>
            </a:r>
          </a:p>
          <a:p>
            <a:r>
              <a:t>from sklearn.tree import DecisionTreeRegressor</a:t>
            </a:r>
          </a:p>
          <a:p>
            <a:r>
              <a:t>Bring the named tool from this library into the current Python session.</a:t>
            </a:r>
          </a:p>
          <a:p>
            <a:r>
              <a:t/>
            </a:r>
          </a:p>
          <a:p>
            <a:r>
              <a:t>tree = DecisionTreeRegressor(max_depth=4, random_state=17)</a:t>
            </a:r>
          </a:p>
          <a:p>
            <a:r>
              <a:t>Evaluate the complete right-hand expression first, then assign its result to the name or selected field on the left.</a:t>
            </a:r>
          </a:p>
          <a:p>
            <a:r>
              <a:t/>
            </a:r>
          </a:p>
          <a:p>
            <a:r>
              <a:t>tree.fit(X_train, y_train)</a:t>
            </a:r>
          </a:p>
          <a:p>
            <a:r>
              <a:t>Learn from the supplied training rows and their aligned targets. This changes the fitted object’s state.</a:t>
            </a:r>
          </a:p>
          <a:p>
            <a:r>
              <a:t/>
            </a:r>
          </a:p>
          <a:p>
            <a:r>
              <a:t>print(tree.predict(new_inputs).tolist())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Reuse the same preparation on new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Reuse the same preparation on new inputs</a:t>
            </a:r>
          </a:p>
          <a:p>
            <a:r>
              <a:t>CML3113, Week 8, slide 33</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Imputer: An imputer fills missing feature values using a stated rule. Fit learns the replacement from training observations only. Prediction reuses that stored replacement.</a:t>
            </a:r>
          </a:p>
          <a:p>
            <a:r>
              <a:t>Pipeline: A pipeline connects preprocessing and a model. make_pipeline creates that connection. Its fit learns both stages on training data; predict applies them to new features.</a:t>
            </a:r>
          </a:p>
          <a:p>
            <a:r>
              <a:t/>
            </a:r>
          </a:p>
          <a:p>
            <a:r>
              <a:t>Continue to</a:t>
            </a:r>
          </a:p>
          <a:p>
            <a:r>
              <a:t>Read the pipeline tools before combining them</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pipeline tools before combining them</a:t>
            </a:r>
          </a:p>
          <a:p>
            <a:r>
              <a:t>CML3113, Week 8, slide 34</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np.nan is NumPy’s missing-number marker. SimpleImputer(strategy="median") creates a tool that will learn each column’s median from training data.</a:t>
            </a:r>
          </a:p>
          <a:p>
            <a:r>
              <a:t/>
            </a:r>
          </a:p>
          <a:p>
            <a:r>
              <a:t>make_pipeline(imputer, model) joins preparation to prediction in that order. pipeline.fit first learns and applies the imputer, then fits the model.</a:t>
            </a:r>
          </a:p>
          <a:p>
            <a:r>
              <a:t/>
            </a:r>
          </a:p>
          <a:p>
            <a:r>
              <a:t>pipeline.predict applies the already learned imputer to new inputs before predicting. It does not recalculate medians from the new inputs.</a:t>
            </a:r>
          </a:p>
          <a:p>
            <a:r>
              <a:t/>
            </a:r>
          </a:p>
          <a:p>
            <a:r>
              <a:t>Reference / existing resource</a:t>
            </a:r>
          </a:p>
          <a:p>
            <a:r>
              <a:t>https://docs.python.org/3/tutorial/introduction.html</a:t>
            </a:r>
          </a:p>
          <a:p>
            <a:r>
              <a:t>https://docs.python.org/3/tutorial/controlflow.html;</a:t>
            </a:r>
          </a:p>
          <a:p>
            <a:r>
              <a:t/>
            </a:r>
          </a:p>
          <a:p>
            <a:r>
              <a:t>Continue to</a:t>
            </a:r>
          </a:p>
          <a:p>
            <a:r>
              <a:t>Preprocessing learned from training only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a:t>
            </a:r>
          </a:p>
          <a:p>
            <a:r>
              <a:t>CML3113, Week 8, slide 35</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SimpleImputer learns one median for each training column. make_pipeline connects this step to the model. fit learns both steps using only the training examples. predict reuses them on new inputs.</a:t>
            </a:r>
          </a:p>
          <a:p>
            <a:r>
              <a:t/>
            </a:r>
          </a:p>
          <a:p>
            <a:r>
              <a:t>No target is supplied to predict.</a:t>
            </a:r>
          </a:p>
          <a:p>
            <a:r>
              <a:t/>
            </a:r>
          </a:p>
          <a:p>
            <a:r>
              <a:t>The two inputs here are invented practice measurements.</a:t>
            </a:r>
          </a:p>
          <a:p>
            <a:r>
              <a:t/>
            </a:r>
          </a:p>
          <a:p>
            <a:r>
              <a:t>Continue to</a:t>
            </a:r>
          </a:p>
          <a:p>
            <a:r>
              <a:t>Trace the training-only fill step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training-only fill step</a:t>
            </a:r>
          </a:p>
          <a:p>
            <a:r>
              <a:t>CML3113, Week 8, slide 36</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On this slide</a:t>
            </a:r>
          </a:p>
          <a:p>
            <a:r>
              <a:t>Stage | Second feature values | Action</a:t>
            </a:r>
          </a:p>
          <a:p>
            <a:r>
              <a:t>Training input | 20, 22, missing, 24 | Learn median 22</a:t>
            </a:r>
          </a:p>
          <a:p>
            <a:r>
              <a:t>Training after filling | 20, 22, 22, 24 | Fit the model</a:t>
            </a:r>
          </a:p>
          <a:p>
            <a:r>
              <a:t>New input | Missing second value | Fill with saved 22</a:t>
            </a:r>
          </a:p>
          <a:p>
            <a:r>
              <a:t>No new median is learned during prediction. The model receives the prepared numeric row.</a:t>
            </a:r>
          </a:p>
          <a:p>
            <a:r>
              <a:t/>
            </a:r>
          </a:p>
          <a:p>
            <a:r>
              <a:t>Reference / existing resource</a:t>
            </a:r>
          </a:p>
          <a:p>
            <a:r>
              <a:t>https://docs.python.org/3/tutorial/introduction.html</a:t>
            </a:r>
          </a:p>
          <a:p>
            <a:r>
              <a:t>https://docs.python.org/3/tutorial/controlflow.html;</a:t>
            </a:r>
          </a:p>
          <a:p>
            <a:r>
              <a:t/>
            </a:r>
          </a:p>
          <a:p>
            <a:r>
              <a:t>Continue to</a:t>
            </a:r>
          </a:p>
          <a:p>
            <a:r>
              <a:t>Preprocessing learned from training only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(1/2)</a:t>
            </a:r>
          </a:p>
          <a:p>
            <a:r>
              <a:t>CML3113, Week 8, slide 37</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from sklearn.impute import SimpleImputer</a:t>
            </a:r>
          </a:p>
          <a:p>
            <a:r>
              <a:t>Bring the named tool from this library into the current Python session.</a:t>
            </a:r>
          </a:p>
          <a:p>
            <a:r>
              <a:t/>
            </a:r>
          </a:p>
          <a:p>
            <a:r>
              <a:t>from sklearn.pipeline import make_pipeline</a:t>
            </a:r>
          </a:p>
          <a:p>
            <a:r>
              <a:t>Bring the named tool from this library into the current Python session.</a:t>
            </a:r>
          </a:p>
          <a:p>
            <a:r>
              <a:t/>
            </a:r>
          </a:p>
          <a:p>
            <a:r>
              <a:t>import numpy as np</a:t>
            </a:r>
          </a:p>
          <a:p>
            <a:r>
              <a:t>Load this library. An alias after as is the shorter name used below.</a:t>
            </a:r>
          </a:p>
          <a:p>
            <a:r>
              <a:t/>
            </a:r>
          </a:p>
          <a:p>
            <a:r>
              <a:t>train_inputs = [[1, 20], [2, 22], [3, np.nan], [4, 24]]</a:t>
            </a:r>
          </a:p>
          <a:p>
            <a:r>
              <a:t>Evaluate the complete right-hand expression first, then assign its result to the name or selected field on the left.</a:t>
            </a:r>
          </a:p>
          <a:p>
            <a:r>
              <a:t/>
            </a:r>
          </a:p>
          <a:p>
            <a:r>
              <a:t>train_targets = [12, 14, 16, 18]</a:t>
            </a:r>
          </a:p>
          <a:p>
            <a:r>
              <a:t>Evaluate the complete right-hand expression first, then assign its result to the name or selected field on the left.</a:t>
            </a:r>
          </a:p>
          <a:p>
            <a:r>
              <a:t/>
            </a:r>
          </a:p>
          <a:p>
            <a:r>
              <a:t>imputer = SimpleImputer(strategy="median")</a:t>
            </a:r>
          </a:p>
          <a:p>
            <a:r>
              <a:t>Evaluate the complete right-hand expression first, then assign its result to the name or selected field on the left.</a:t>
            </a:r>
          </a:p>
          <a:p>
            <a:r>
              <a:t/>
            </a:r>
          </a:p>
          <a:p>
            <a:r>
              <a:t>model = LinearRegression()</a:t>
            </a:r>
          </a:p>
          <a:p>
            <a:r>
              <a:t>Evaluate the complete right-hand expression first, then assign its result to the name or selected field on the left.</a:t>
            </a:r>
          </a:p>
          <a:p>
            <a:r>
              <a:t/>
            </a:r>
          </a:p>
          <a:p>
            <a:r>
              <a:t>pipeline = make_pipeline(imputer, model)</a:t>
            </a:r>
          </a:p>
          <a:p>
            <a:r>
              <a:t>Evaluate the complete right-hand expression first, then assign its result to the name or selected field on the left.</a:t>
            </a:r>
          </a:p>
          <a:p>
            <a:r>
              <a:t/>
            </a:r>
          </a:p>
          <a:p>
            <a:r>
              <a:t>pipeline.fit(train_inputs, train_targets)</a:t>
            </a:r>
          </a:p>
          <a:p>
            <a:r>
              <a:t>Learn from the supplied training rows and their aligned targets. This changes the fitted object’s state.</a:t>
            </a:r>
          </a:p>
          <a:p>
            <a:r>
              <a:t/>
            </a:r>
          </a:p>
          <a:p>
            <a:r>
              <a:t>Result / continuity</a:t>
            </a:r>
          </a:p>
          <a:p>
            <a:r>
              <a:t>Read top to bottom. Run the complete example in the matching practice notebook.</a:t>
            </a:r>
          </a:p>
          <a:p>
            <a:r>
              <a:t/>
            </a:r>
          </a:p>
          <a:p>
            <a:r>
              <a:t>Continue to</a:t>
            </a:r>
          </a:p>
          <a:p>
            <a:r>
              <a:t>Preprocessing learned from training only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Preprocessing learned from training only in Python (2/2)</a:t>
            </a:r>
          </a:p>
          <a:p>
            <a:r>
              <a:t>CML3113, Week 8, slide 38</a:t>
            </a:r>
          </a:p>
          <a:p>
            <a:r>
              <a:t/>
            </a:r>
          </a:p>
          <a:p>
            <a:r>
              <a:t>Explanation to give</a:t>
            </a:r>
          </a:p>
          <a:p>
            <a:r>
              <a:t>A pipeline keeps preparation and prediction in one ordered procedure. Fit learns preparation values from training data and then fits the model. Prediction reuses those saved values.</a:t>
            </a:r>
          </a:p>
          <a:p>
            <a:r>
              <a:t/>
            </a:r>
          </a:p>
          <a:p>
            <a:r>
              <a:t>Worked illustration / lecturer answer</a:t>
            </a:r>
          </a:p>
          <a:p>
            <a:r>
              <a:t>For training feature values 20, 22, missing and 24, the learned median is 22. A missing value in a new observation also receives 22, without recalculating from the new observations.</a:t>
            </a:r>
          </a:p>
          <a:p>
            <a:r>
              <a:t/>
            </a:r>
          </a:p>
          <a:p>
            <a:r>
              <a:t>Misconception to address</a:t>
            </a:r>
          </a:p>
          <a:p>
            <a:r>
              <a:t>Filling all records before splitting leaks information. A pipeline avoids that only when its fit receives the correct training subset.</a:t>
            </a:r>
          </a:p>
          <a:p>
            <a:r>
              <a:t/>
            </a:r>
          </a:p>
          <a:p>
            <a:r>
              <a:t>Read the displayed code line by line</a:t>
            </a:r>
          </a:p>
          <a:p>
            <a:r>
              <a:t>predictions = pipeline.predict([[2.5, np.nan]])</a:t>
            </a:r>
          </a:p>
          <a:p>
            <a:r>
              <a:t>Apply the already fitted rule to these input rows without passing their true targets.</a:t>
            </a:r>
          </a:p>
          <a:p>
            <a:r>
              <a:t/>
            </a:r>
          </a:p>
          <a:p>
            <a:r>
              <a:t>print(predictions.round(2).tolist())</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Reading records into a feature table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a:t>
            </a:r>
          </a:p>
          <a:p>
            <a:r>
              <a:t>CML3113, Week 8, slide 39</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On this slide</a:t>
            </a:r>
          </a:p>
          <a:p>
            <a:r>
              <a:t>Each inner list is one row, in the same order as the input records.</a:t>
            </a:r>
          </a:p>
          <a:p>
            <a:r>
              <a:t/>
            </a:r>
          </a:p>
          <a:p>
            <a:r>
              <a:t>The target list uses that same row order.</a:t>
            </a:r>
          </a:p>
          <a:p>
            <a:r>
              <a:t/>
            </a:r>
          </a:p>
          <a:p>
            <a:r>
              <a:t>The feature table has no answer column.</a:t>
            </a:r>
          </a:p>
          <a:p>
            <a:r>
              <a:t/>
            </a:r>
          </a:p>
          <a:p>
            <a:r>
              <a:t>Continue to</a:t>
            </a:r>
          </a:p>
          <a:p>
            <a:r>
              <a:t>Reading records into a feature table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records into a feature table in Python</a:t>
            </a:r>
          </a:p>
          <a:p>
            <a:r>
              <a:t>CML3113, Week 8, slide 40</a:t>
            </a:r>
          </a:p>
          <a:p>
            <a:r>
              <a:t/>
            </a:r>
          </a:p>
          <a:p>
            <a:r>
              <a:t>Explanation to give</a:t>
            </a:r>
          </a:p>
          <a:p>
            <a:r>
              <a:t>Explain an input matrix as a table of numbers with one observation per row and one feature per column. The target vector has one answer per observation in the same order.</a:t>
            </a:r>
          </a:p>
          <a:p>
            <a:r>
              <a:t/>
            </a:r>
          </a:p>
          <a:p>
            <a:r>
              <a:t>Worked illustration / lecturer answer</a:t>
            </a:r>
          </a:p>
          <a:p>
            <a:r>
              <a:t>[[1], [2], [3]] has shape (3, 1). [12, 14, 16] has shape (3,). For one new observation with two features, use [[2.5, 22]], not [2.5, 22].</a:t>
            </a:r>
          </a:p>
          <a:p>
            <a:r>
              <a:t/>
            </a:r>
          </a:p>
          <a:p>
            <a:r>
              <a:t>Misconception to address</a:t>
            </a:r>
          </a:p>
          <a:p>
            <a:r>
              <a:t>Swapping feature columns changes their meaning even if dimensions still match. The model expects the same order and units at prediction time.</a:t>
            </a:r>
          </a:p>
          <a:p>
            <a:r>
              <a:t/>
            </a:r>
          </a:p>
          <a:p>
            <a:r>
              <a:t>Read the displayed code line by line</a:t>
            </a:r>
          </a:p>
          <a:p>
            <a:r>
              <a:t>rows = [{"length": 2, "width": 3, "area": 6},</a:t>
            </a:r>
          </a:p>
          <a:p>
            <a:r>
              <a:t>Evaluate the complete right-hand expression first, then assign its result to the name or selected field on the left.</a:t>
            </a:r>
          </a:p>
          <a:p>
            <a:r>
              <a:t/>
            </a:r>
          </a:p>
          <a:p>
            <a:r>
              <a:t>{"length": 4, "width": 5, "area": 20}]</a:t>
            </a:r>
          </a:p>
          <a:p>
            <a:r>
              <a:t>This line continues the surrounding expression or block; read it together with the preceding line rather than running it alone.</a:t>
            </a:r>
          </a:p>
          <a:p>
            <a:r>
              <a:t/>
            </a:r>
          </a:p>
          <a:p>
            <a:r>
              <a:t>X = []</a:t>
            </a:r>
          </a:p>
          <a:p>
            <a:r>
              <a:t>Evaluate the complete right-hand expression first, then assign its result to the name or selected field on the left.</a:t>
            </a:r>
          </a:p>
          <a:p>
            <a:r>
              <a:t/>
            </a:r>
          </a:p>
          <a:p>
            <a:r>
              <a:t>y = []</a:t>
            </a:r>
          </a:p>
          <a:p>
            <a:r>
              <a:t>Evaluate the complete right-hand expression first, then assign its result to the name or selected field on the left.</a:t>
            </a:r>
          </a:p>
          <a:p>
            <a:r>
              <a:t/>
            </a:r>
          </a:p>
          <a:p>
            <a:r>
              <a:t>for row in rows:</a:t>
            </a:r>
          </a:p>
          <a:p>
            <a:r>
              <a:t>Take each item or pair in turn, assign the loop name(s), and repeat the indented body.</a:t>
            </a:r>
          </a:p>
          <a:p>
            <a:r>
              <a:t/>
            </a:r>
          </a:p>
          <a:p>
            <a:r>
              <a:t>X.append([row["length"], row["width"]])</a:t>
            </a:r>
          </a:p>
          <a:p>
            <a:r>
              <a:t>Evaluate the argument and add it as one new item at the end of this list.</a:t>
            </a:r>
          </a:p>
          <a:p>
            <a:r>
              <a:t/>
            </a:r>
          </a:p>
          <a:p>
            <a:r>
              <a:t>y.append(row["area"])</a:t>
            </a:r>
          </a:p>
          <a:p>
            <a:r>
              <a:t>Evaluate the argument and add it as one new item at the end of this list.</a:t>
            </a:r>
          </a:p>
          <a:p>
            <a:r>
              <a:t/>
            </a:r>
          </a:p>
          <a:p>
            <a:r>
              <a:t>print(X)</a:t>
            </a:r>
          </a:p>
          <a:p>
            <a:r>
              <a:t>Evaluate the expression inside the parentheses and display it. Displaying is separate from returning a function result.</a:t>
            </a:r>
          </a:p>
          <a:p>
            <a:r>
              <a:t/>
            </a:r>
          </a:p>
          <a:p>
            <a:r>
              <a:t>print(y)</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MAE and RMSE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MAE and RMSE</a:t>
            </a:r>
          </a:p>
          <a:p>
            <a:r>
              <a:t>CML3113, Week 8, slide 41</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MAE and RMSE: MAE averages absolute prediction errors. RMSE squares errors, averages them and takes the square root. Both use target units. RMSE is more sensitive to large errors.</a:t>
            </a:r>
          </a:p>
          <a:p>
            <a:r>
              <a:t/>
            </a:r>
          </a:p>
          <a:p>
            <a:r>
              <a:t>Continue to</a:t>
            </a:r>
          </a:p>
          <a:p>
            <a:r>
              <a:t>A prediction error in ordinary numbers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prediction error in ordinary numbers</a:t>
            </a:r>
          </a:p>
          <a:p>
            <a:r>
              <a:t>CML3113, Week 8, slide 42</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 Prediction | Absolute error</a:t>
            </a:r>
          </a:p>
          <a:p>
            <a:r>
              <a:t>10 | 8 | 2</a:t>
            </a:r>
          </a:p>
          <a:p>
            <a:r>
              <a:t>20 | 24 | 4</a:t>
            </a:r>
          </a:p>
          <a:p>
            <a:r>
              <a:t>MAE = (2 + 4) / 2 = 3, in the target’s unit. Compare a model against a training-only baseline.</a:t>
            </a:r>
          </a:p>
          <a:p>
            <a:r>
              <a:t/>
            </a:r>
          </a:p>
          <a:p>
            <a:r>
              <a:t>Continue to</a:t>
            </a:r>
          </a:p>
          <a:p>
            <a:r>
              <a:t>The operations in the error calculation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operations in the error calculation</a:t>
            </a:r>
          </a:p>
          <a:p>
            <a:r>
              <a:t>CML3113, Week 8, slide 43</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and paired names: zip(actual, predicted) pairs values at matching positions. for truth, guess in ... assigns each pair to two names. Here both lists must have the same nonzero length.</a:t>
            </a:r>
          </a:p>
          <a:p>
            <a:r>
              <a:t>Square and square root: difference ** 2 squares an error. sqrt reverses a square for nonnegative numbers: sqrt(9) is 3. from math import sqrt makes this tool available.</a:t>
            </a:r>
          </a:p>
          <a:p>
            <a:r>
              <a:t/>
            </a:r>
          </a:p>
          <a:p>
            <a:r>
              <a:t>Continue to</a:t>
            </a:r>
          </a:p>
          <a:p>
            <a:r>
              <a:t>Pair two lists using zip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Pair two lists using zip</a:t>
            </a:r>
          </a:p>
          <a:p>
            <a:r>
              <a:t>CML3113, Week 8, slide 44</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On this slide</a:t>
            </a:r>
          </a:p>
          <a:p>
            <a:r>
              <a:t>zip(actual, predicted) visits matching positions together. for truth, guess in zip(...): unpacks each pair into two names.</a:t>
            </a:r>
          </a:p>
          <a:p>
            <a:r>
              <a:t/>
            </a:r>
          </a:p>
          <a:p>
            <a:r>
              <a:t>For actual [10, 20] and predicted [12, 16], the pairs are (10, 12) and (20, 16). They describe the same observations in the same order.</a:t>
            </a:r>
          </a:p>
          <a:p>
            <a:r>
              <a:t/>
            </a:r>
          </a:p>
          <a:p>
            <a:r>
              <a:t>zip stops at the shorter input. Check equal, nonzero lengths for these error calculations; otherwise a result could ignore observations.</a:t>
            </a:r>
          </a:p>
          <a:p>
            <a:r>
              <a:t/>
            </a:r>
          </a:p>
          <a:p>
            <a:r>
              <a:t>Reference / existing resource</a:t>
            </a:r>
          </a:p>
          <a:p>
            <a:r>
              <a:t>https://docs.python.org/3/tutorial/introduction.html</a:t>
            </a:r>
          </a:p>
          <a:p>
            <a:r>
              <a:t>https://docs.python.org/3/tutorial/controlflow.html;</a:t>
            </a:r>
          </a:p>
          <a:p>
            <a:r>
              <a:t/>
            </a:r>
          </a:p>
          <a:p>
            <a:r>
              <a:t>Continue to</a:t>
            </a:r>
          </a:p>
          <a:p>
            <a:r>
              <a:t>Inspect the pairs before measuring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Inspect the pairs before measuring errors</a:t>
            </a:r>
          </a:p>
          <a:p>
            <a:r>
              <a:t>CML3113, Week 8, slide 45</a:t>
            </a:r>
          </a:p>
          <a:p>
            <a:r>
              <a:t/>
            </a:r>
          </a:p>
          <a:p>
            <a:r>
              <a:t>Explanation to give</a:t>
            </a:r>
          </a:p>
          <a:p>
            <a:r>
              <a:t>zip pairs items at matching positions. Explain each pair as one observation's truth and prediction, then unpack it into two names.</a:t>
            </a:r>
          </a:p>
          <a:p>
            <a:r>
              <a:t/>
            </a:r>
          </a:p>
          <a:p>
            <a:r>
              <a:t>Worked illustration / lecturer answer</a:t>
            </a:r>
          </a:p>
          <a:p>
            <a:r>
              <a:t>Actual [10,20] with predicted [12,16] produces (10,12), then (20,16). Reversing one list would compare the wrong observations without necessarily causing a Python error.</a:t>
            </a:r>
          </a:p>
          <a:p>
            <a:r>
              <a:t/>
            </a:r>
          </a:p>
          <a:p>
            <a:r>
              <a:t>Misconception to address</a:t>
            </a:r>
          </a:p>
          <a:p>
            <a:r>
              <a:t>zip stops at the shorter input. For error metrics, validate matching nonzero lengths so observations are not silently ignored.</a:t>
            </a:r>
          </a:p>
          <a:p>
            <a:r>
              <a:t/>
            </a:r>
          </a:p>
          <a:p>
            <a:r>
              <a:t>Read the displayed code line by line</a:t>
            </a:r>
          </a:p>
          <a:p>
            <a:r>
              <a:t>actual = [10, 20]</a:t>
            </a:r>
          </a:p>
          <a:p>
            <a:r>
              <a:t>Evaluate the complete right-hand expression first, then assign its result to the name or selected field on the left.</a:t>
            </a:r>
          </a:p>
          <a:p>
            <a:r>
              <a:t/>
            </a:r>
          </a:p>
          <a:p>
            <a:r>
              <a:t>predicted = [12, 16]</a:t>
            </a:r>
          </a:p>
          <a:p>
            <a:r>
              <a:t>Evaluate the complete right-hand expression first, then assign its result to the name or selected field on the left.</a:t>
            </a:r>
          </a:p>
          <a:p>
            <a:r>
              <a:t/>
            </a:r>
          </a:p>
          <a:p>
            <a:r>
              <a:t>for truth, guess in zip(actual, predicted):</a:t>
            </a:r>
          </a:p>
          <a:p>
            <a:r>
              <a:t>Take each item or pair in turn, assign the loop name(s), and repeat the indented body.</a:t>
            </a:r>
          </a:p>
          <a:p>
            <a:r>
              <a:t/>
            </a:r>
          </a:p>
          <a:p>
            <a:r>
              <a:t>print(truth, guess)</a:t>
            </a:r>
          </a:p>
          <a:p>
            <a:r>
              <a:t>Evaluate the expression inside the parentheses and display it. Displaying is separate from returning a function result.</a:t>
            </a:r>
          </a:p>
          <a:p>
            <a:r>
              <a:t/>
            </a:r>
          </a:p>
          <a:p>
            <a:r>
              <a:t>Result / continuity</a:t>
            </a:r>
          </a:p>
          <a:p>
            <a:r>
              <a:t>Output: 10 12; 20 16</a:t>
            </a:r>
          </a:p>
          <a:p>
            <a:r>
              <a:t/>
            </a:r>
          </a:p>
          <a:p>
            <a:r>
              <a:t>Reference / existing resource</a:t>
            </a:r>
          </a:p>
          <a:p>
            <a:r>
              <a:t>https://docs.python.org/3/tutorial/introduction.html</a:t>
            </a:r>
          </a:p>
          <a:p>
            <a:r>
              <a:t>https://docs.python.org/3/tutorial/controlflow.html;</a:t>
            </a:r>
          </a:p>
          <a:p>
            <a:r>
              <a:t/>
            </a:r>
          </a:p>
          <a:p>
            <a:r>
              <a:t>Continue to</a:t>
            </a:r>
          </a:p>
          <a:p>
            <a:r>
              <a:t>Trace absolute and squared errors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absolute and squared errors</a:t>
            </a:r>
          </a:p>
          <a:p>
            <a:r>
              <a:t>CML3113, Week 8, slide 46</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Actual and predicted | Absolute error | Squared error</a:t>
            </a:r>
          </a:p>
          <a:p>
            <a:r>
              <a:t>10 and 12 | abs(-2) = 2 | (-2) ** 2 = 4</a:t>
            </a:r>
          </a:p>
          <a:p>
            <a:r>
              <a:t>20 and 16 | abs(4) = 4 | 4 ** 2 = 16</a:t>
            </a:r>
          </a:p>
          <a:p>
            <a:r>
              <a:t>Average | (2 + 4) / 2 = 3 | (4 + 16) / 2 = 10</a:t>
            </a:r>
          </a:p>
          <a:p>
            <a:r>
              <a:t>MAE is 3. RMSE is sqrt(10), approximately 3.1623. sqrt means the nonnegative square root.</a:t>
            </a:r>
          </a:p>
          <a:p>
            <a:r>
              <a:t/>
            </a:r>
          </a:p>
          <a:p>
            <a:r>
              <a:t>Reference / existing resource</a:t>
            </a:r>
          </a:p>
          <a:p>
            <a:r>
              <a:t>https://docs.python.org/3/tutorial/introduction.html</a:t>
            </a:r>
          </a:p>
          <a:p>
            <a:r>
              <a:t>https://docs.python.org/3/tutorial/controlflow.html;</a:t>
            </a:r>
          </a:p>
          <a:p>
            <a:r>
              <a:t/>
            </a:r>
          </a:p>
          <a:p>
            <a:r>
              <a:t>Continue to</a:t>
            </a:r>
          </a:p>
          <a:p>
            <a:r>
              <a:t>Two error measures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a:t>
            </a:r>
          </a:p>
          <a:p>
            <a:r>
              <a:t>CML3113, Week 8, slide 47</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On this slide</a:t>
            </a:r>
          </a:p>
          <a:p>
            <a:r>
              <a:t>zip pairs corresponding values. abs measures error size.</a:t>
            </a:r>
          </a:p>
          <a:p>
            <a:r>
              <a:t/>
            </a:r>
          </a:p>
          <a:p>
            <a:r>
              <a:t>Squaring emphasises large errors; taking the square root returns to the original unit.</a:t>
            </a:r>
          </a:p>
          <a:p>
            <a:r>
              <a:t/>
            </a:r>
          </a:p>
          <a:p>
            <a:r>
              <a:t>These functions assume equal-length, nonempty paired observations.</a:t>
            </a:r>
          </a:p>
          <a:p>
            <a:r>
              <a:t/>
            </a:r>
          </a:p>
          <a:p>
            <a:r>
              <a:t>Continue to</a:t>
            </a:r>
          </a:p>
          <a:p>
            <a:r>
              <a:t>Two error measures in Python (1/2)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(1/2)</a:t>
            </a:r>
          </a:p>
          <a:p>
            <a:r>
              <a:t>CML3113, Week 8, slide 48</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from math import sqrt</a:t>
            </a:r>
          </a:p>
          <a:p>
            <a:r>
              <a:t>Bring the named tool from this library into the current Python session.</a:t>
            </a:r>
          </a:p>
          <a:p>
            <a:r>
              <a:t/>
            </a:r>
          </a:p>
          <a:p>
            <a:r>
              <a:t>a = [10, 20]</a:t>
            </a:r>
          </a:p>
          <a:p>
            <a:r>
              <a:t>Evaluate the complete right-hand expression first, then assign its result to the name or selected field on the left.</a:t>
            </a:r>
          </a:p>
          <a:p>
            <a:r>
              <a:t/>
            </a:r>
          </a:p>
          <a:p>
            <a:r>
              <a:t>p = [12, 16]</a:t>
            </a:r>
          </a:p>
          <a:p>
            <a:r>
              <a:t>Evaluate the complete right-hand expression first, then assign its result to the name or selected field on the left.</a:t>
            </a:r>
          </a:p>
          <a:p>
            <a:r>
              <a:t/>
            </a:r>
          </a:p>
          <a:p>
            <a:r>
              <a:t>absolute = []</a:t>
            </a:r>
          </a:p>
          <a:p>
            <a:r>
              <a:t>Evaluate the complete right-hand expression first, then assign its result to the name or selected field on the left.</a:t>
            </a:r>
          </a:p>
          <a:p>
            <a:r>
              <a:t/>
            </a:r>
          </a:p>
          <a:p>
            <a:r>
              <a:t>squared = []</a:t>
            </a:r>
          </a:p>
          <a:p>
            <a:r>
              <a:t>Evaluate the complete right-hand expression first, then assign its result to the name or selected field on the left.</a:t>
            </a:r>
          </a:p>
          <a:p>
            <a:r>
              <a:t/>
            </a:r>
          </a:p>
          <a:p>
            <a:r>
              <a:t>for truth, guess in zip(a, p):</a:t>
            </a:r>
          </a:p>
          <a:p>
            <a:r>
              <a:t>Take each item or pair in turn, assign the loop name(s), and repeat the indented body.</a:t>
            </a:r>
          </a:p>
          <a:p>
            <a:r>
              <a:t/>
            </a:r>
          </a:p>
          <a:p>
            <a:r>
              <a:t>difference = truth - guess</a:t>
            </a:r>
          </a:p>
          <a:p>
            <a:r>
              <a:t>Evaluate the complete right-hand expression first, then assign its result to the name or selected field on the left.</a:t>
            </a:r>
          </a:p>
          <a:p>
            <a:r>
              <a:t/>
            </a:r>
          </a:p>
          <a:p>
            <a:r>
              <a:t>absolute.append(abs(difference))</a:t>
            </a:r>
          </a:p>
          <a:p>
            <a:r>
              <a:t>Evaluate the argument and add it as one new item at the end of this list.</a:t>
            </a:r>
          </a:p>
          <a:p>
            <a:r>
              <a:t/>
            </a:r>
          </a:p>
          <a:p>
            <a:r>
              <a:t>squared.append(difference ** 2)</a:t>
            </a:r>
          </a:p>
          <a:p>
            <a:r>
              <a:t>Evaluate the argument and add it as one new item at the end of this list.</a:t>
            </a:r>
          </a:p>
          <a:p>
            <a:r>
              <a:t/>
            </a:r>
          </a:p>
          <a:p>
            <a:r>
              <a:t>Result / continuity</a:t>
            </a:r>
          </a:p>
          <a:p>
            <a:r>
              <a:t>Read top to bottom. Run the complete example in the matching practice notebook.</a:t>
            </a:r>
          </a:p>
          <a:p>
            <a:r>
              <a:t/>
            </a:r>
          </a:p>
          <a:p>
            <a:r>
              <a:t>Continue to</a:t>
            </a:r>
          </a:p>
          <a:p>
            <a:r>
              <a:t>Two error measures in Python (2/2)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Two error measures in Python (2/2)</a:t>
            </a:r>
          </a:p>
          <a:p>
            <a:r>
              <a:t>CML3113, Week 8, slide 49</a:t>
            </a:r>
          </a:p>
          <a:p>
            <a:r>
              <a:t/>
            </a:r>
          </a:p>
          <a:p>
            <a:r>
              <a:t>Explanation to give</a:t>
            </a:r>
          </a:p>
          <a:p>
            <a:r>
              <a:t>Match each prediction with the actual value for the same observation. MAE averages error magnitudes. RMSE averages squared errors and then takes the square root, restoring the target unit.</a:t>
            </a:r>
          </a:p>
          <a:p>
            <a:r>
              <a:t/>
            </a:r>
          </a:p>
          <a:p>
            <a:r>
              <a:t>Worked illustration / lecturer answer</a:t>
            </a:r>
          </a:p>
          <a:p>
            <a:r>
              <a:t>Actual [10,20] and predicted [12,16] have differences -2 and 4. MAE is (2+4)/2 = 3. RMSE is sqrt((4+16)/2) = sqrt(10), about 3.1623.</a:t>
            </a:r>
          </a:p>
          <a:p>
            <a:r>
              <a:t/>
            </a:r>
          </a:p>
          <a:p>
            <a:r>
              <a:t>Misconception to address</a:t>
            </a:r>
          </a:p>
          <a:p>
            <a:r>
              <a:t>Signed errors can cancel if simply averaged. MAE is not a plus/minus guarantee for every case, and RMSE is not in squared units after the square root.</a:t>
            </a:r>
          </a:p>
          <a:p>
            <a:r>
              <a:t/>
            </a:r>
          </a:p>
          <a:p>
            <a:r>
              <a:t>Read the displayed code line by line</a:t>
            </a:r>
          </a:p>
          <a:p>
            <a:r>
              <a:t>print(sum(absolute) / len(a))</a:t>
            </a:r>
          </a:p>
          <a:p>
            <a:r>
              <a:t>Evaluate the expression inside the parentheses and display it. Displaying is separate from returning a function result.</a:t>
            </a:r>
          </a:p>
          <a:p>
            <a:r>
              <a:t/>
            </a:r>
          </a:p>
          <a:p>
            <a:r>
              <a:t>print(sqrt(sum(squared) / len(a)))</a:t>
            </a:r>
          </a:p>
          <a:p>
            <a:r>
              <a:t>Evaluate the expression inside the parentheses and display it. Displaying is separate from returning a function result.</a:t>
            </a:r>
          </a:p>
          <a:p>
            <a:r>
              <a:t/>
            </a:r>
          </a:p>
          <a:p>
            <a:r>
              <a:t>Result / continuity</a:t>
            </a:r>
          </a:p>
          <a:p>
            <a:r>
              <a:t>Continue the SAME cell; keep indentation. Run after all parts are entered.</a:t>
            </a:r>
          </a:p>
          <a:p>
            <a:r>
              <a:t/>
            </a:r>
          </a:p>
          <a:p>
            <a:r>
              <a:t>Continue to</a:t>
            </a:r>
          </a:p>
          <a:p>
            <a:r>
              <a:t>R² compares against a mean prediction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R² compares against a mean prediction</a:t>
            </a:r>
          </a:p>
          <a:p>
            <a:r>
              <a:t>CML3113, Week 8, slide 50</a:t>
            </a:r>
          </a:p>
          <a:p>
            <a:r>
              <a:t/>
            </a:r>
          </a:p>
          <a:p>
            <a:r>
              <a:t>Explanation to give</a:t>
            </a:r>
          </a:p>
          <a:p>
            <a:r>
              <a:t>Explain R² as a comparison of squared prediction errors with a reference that always predicts the mean of the evaluated targets. It is a relative score, not a percentage of correct predictions.</a:t>
            </a:r>
          </a:p>
          <a:p>
            <a:r>
              <a:t/>
            </a:r>
          </a:p>
          <a:p>
            <a:r>
              <a:t>Worked illustration / lecturer answer</a:t>
            </a:r>
          </a:p>
          <a:p>
            <a:r>
              <a:t>R² = 1 means zero error on these observations. R² = 0 matches that mean reference. A negative value means larger squared error than the reference.</a:t>
            </a:r>
          </a:p>
          <a:p>
            <a:r>
              <a:t/>
            </a:r>
          </a:p>
          <a:p>
            <a:r>
              <a:t>Misconception to address</a:t>
            </a:r>
          </a:p>
          <a:p>
            <a:r>
              <a:t>Do not translate 0.8 into “80% accurate”. Constant targets need special handling, and engineering usefulness still depends on errors in physical units.</a:t>
            </a:r>
          </a:p>
          <a:p>
            <a:r>
              <a:t/>
            </a:r>
          </a:p>
          <a:p>
            <a:r>
              <a:t>On this slide</a:t>
            </a:r>
          </a:p>
          <a:p>
            <a:r>
              <a:t>R² compares squared errors with predicting the mean of the evaluated targets. It is a score, not “percentage accuracy”.</a:t>
            </a:r>
          </a:p>
          <a:p>
            <a:r>
              <a:t/>
            </a:r>
          </a:p>
          <a:p>
            <a:r>
              <a:t>1 means perfect predictions on those observations. 0 matches that mean-prediction reference; a negative score can be worse.</a:t>
            </a:r>
          </a:p>
          <a:p>
            <a:r>
              <a:t/>
            </a:r>
          </a:p>
          <a:p>
            <a:r>
              <a:t>Use the same evaluation observations and report the specified error metric with its units. Constant targets need special handling; this score alone does not prove usefulness.</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8, slide 51</a:t>
            </a:r>
          </a:p>
          <a:p>
            <a:r>
              <a:t/>
            </a:r>
          </a:p>
          <a:p>
            <a:r>
              <a:t>Explanation to give</a:t>
            </a:r>
          </a:p>
          <a:p>
            <a:r>
              <a:t>Use the displayed example as a short individual revision question, then explain the reasoning behind its answer.</a:t>
            </a:r>
          </a:p>
          <a:p>
            <a:r>
              <a:t/>
            </a:r>
          </a:p>
          <a:p>
            <a:r>
              <a:t>Worked illustration / lecturer answer</a:t>
            </a:r>
          </a:p>
          <a:p>
            <a:r>
              <a:t>Example: On paper compare actual [10, 20] with predictions [12, 16]. Find MAE and RMSE. Is MAE a plus/minus guarantee for each prediction?</a:t>
            </a:r>
          </a:p>
          <a:p>
            <a:r>
              <a:t/>
            </a:r>
          </a:p>
          <a:p>
            <a:r>
              <a:t>Answer: Absolute errors are 2 and 4: MAE 3. Squared errors 4 and 16: RMSE sqrt(10), about 3.162. MAE is an average, not an individual error bound.</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8, slide 52</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W08 asks for baseline, linear and depth-4 tree prediction lists plus error metrics.</a:t>
            </a:r>
          </a:p>
          <a:p>
            <a:r>
              <a:t/>
            </a:r>
          </a:p>
          <a:p>
            <a:r>
              <a:t>Fit missing-value replacement on training data.</a:t>
            </a:r>
          </a:p>
          <a:p>
            <a:r>
              <a:t/>
            </a:r>
          </a:p>
          <a:p>
            <a:r>
              <a:t>A Pipeline joins preprocessing to the model.</a:t>
            </a:r>
          </a:p>
          <a:p>
            <a:r>
              <a:t/>
            </a:r>
          </a:p>
          <a:p>
            <a:r>
              <a:t>Only load_pct and ambient_c are predictors.</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CML3113, Week 8, slide 53</a:t>
            </a:r>
          </a:p>
          <a:p>
            <a:r>
              <a:t/>
            </a:r>
          </a:p>
          <a:p>
            <a:r>
              <a:t>Explanation to give</a:t>
            </a:r>
          </a:p>
          <a:p>
            <a:r>
              <a:t>Keep related equipment observations together so the validation really represents equipment the model has not seen.</a:t>
            </a:r>
          </a:p>
          <a:p>
            <a:r>
              <a:t/>
            </a:r>
          </a:p>
          <a:p>
            <a:r>
              <a:t>Worked illustration / lecturer answer</a:t>
            </a:r>
          </a:p>
          <a:p>
            <a:r>
              <a:t>The written question may supply a comparison scenario. Label those numbers as supplied scenario evidence; do not claim they came from a run of your own notebook.</a:t>
            </a:r>
          </a:p>
          <a:p>
            <a:r>
              <a:t/>
            </a:r>
          </a:p>
          <a:p>
            <a:r>
              <a:t>Misconception to address</a:t>
            </a:r>
          </a:p>
          <a:p>
            <a:r>
              <a:t>A supplied scenario and an observed experimental result have different provenance. Both can be interpreted, but should not be confused.</a:t>
            </a:r>
          </a:p>
          <a:p>
            <a:r>
              <a:t/>
            </a:r>
          </a:p>
          <a:p>
            <a:r>
              <a:t>On this slide</a:t>
            </a:r>
          </a:p>
          <a:p>
            <a:r>
              <a:t>Keep observations from the same equipment in one partition.</a:t>
            </a:r>
          </a:p>
          <a:p>
            <a:r>
              <a:t/>
            </a:r>
          </a:p>
          <a:p>
            <a:r>
              <a:t>The written comparison supplies scenario values.</a:t>
            </a:r>
          </a:p>
          <a:p>
            <a:r>
              <a:t/>
            </a:r>
          </a:p>
          <a:p>
            <a:r>
              <a:t>Distinguish them from your own measured results.</a:t>
            </a:r>
          </a:p>
          <a:p>
            <a:r>
              <a:t/>
            </a:r>
          </a:p>
          <a:p>
            <a:r>
              <a:t>Continue to</a:t>
            </a:r>
          </a:p>
          <a:p>
            <a:r>
              <a:t>Reading model outputs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a:t>
            </a:r>
          </a:p>
          <a:p>
            <a:r>
              <a:t>CML3113, Week 8, slide 54</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A score on training rows describes training fit.</a:t>
            </a:r>
          </a:p>
          <a:p>
            <a:r>
              <a:t/>
            </a:r>
          </a:p>
          <a:p>
            <a:r>
              <a:t>A feature table must preserve the training column names, order and units during prediction.</a:t>
            </a:r>
          </a:p>
          <a:p>
            <a:r>
              <a:t/>
            </a:r>
          </a:p>
          <a:p>
            <a:r>
              <a:t>A one-dimensional list may have the wrong shape for a model expecting rows and columns.</a:t>
            </a:r>
          </a:p>
          <a:p>
            <a:r>
              <a:t/>
            </a:r>
          </a:p>
          <a:p>
            <a:r>
              <a:t>A predicted-versus-actual plot uses the diagonal as perfect agreement; a pattern is not proof of causation.</a:t>
            </a:r>
          </a:p>
          <a:p>
            <a:r>
              <a:t/>
            </a:r>
          </a:p>
          <a:p>
            <a:r>
              <a:t>Continue to</a:t>
            </a:r>
          </a:p>
          <a:p>
            <a:r>
              <a:t>Reading model outputs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model outputs continued</a:t>
            </a:r>
          </a:p>
          <a:p>
            <a:r>
              <a:t>CML3113, Week 8, slide 55</a:t>
            </a:r>
          </a:p>
          <a:p>
            <a:r>
              <a:t/>
            </a:r>
          </a:p>
          <a:p>
            <a:r>
              <a:t>Explanation to give</a:t>
            </a:r>
          </a:p>
          <a:p>
            <a:r>
              <a:t>Read the result in the target's physical unit and identify which observations produced the score. Training fit and evaluation on unseen observations answer different questions.</a:t>
            </a:r>
          </a:p>
          <a:p>
            <a:r>
              <a:t/>
            </a:r>
          </a:p>
          <a:p>
            <a:r>
              <a:t>Worked illustration / lecturer answer</a:t>
            </a:r>
          </a:p>
          <a:p>
            <a:r>
              <a:t>A predicted-versus-actual plot has perfect agreement along the diagonal. Points systematically above or below it suggest bias to investigate. Compare errors with the stated baseline on the same cases.</a:t>
            </a:r>
          </a:p>
          <a:p>
            <a:r>
              <a:t/>
            </a:r>
          </a:p>
          <a:p>
            <a:r>
              <a:t>Misconception to address</a:t>
            </a:r>
          </a:p>
          <a:p>
            <a:r>
              <a:t>A good score without a clear sample, split and unit cannot support an engineering recommendation.</a:t>
            </a:r>
          </a:p>
          <a:p>
            <a:r>
              <a:t/>
            </a:r>
          </a:p>
          <a:p>
            <a:r>
              <a:t>On this slide</a:t>
            </a:r>
          </a:p>
          <a:p>
            <a:r>
              <a:t>Judge MAE against the baseline and the decision’s acceptable error.</a:t>
            </a:r>
          </a:p>
          <a:p>
            <a:r>
              <a:t/>
            </a:r>
          </a:p>
          <a:p>
            <a:r>
              <a:t>R² is not an accuracy percentage.</a:t>
            </a:r>
          </a:p>
          <a:p>
            <a:r>
              <a:t/>
            </a:r>
          </a:p>
          <a:p>
            <a:r>
              <a:t>Continue to</a:t>
            </a:r>
          </a:p>
          <a:p>
            <a:r>
              <a:t>Your issued task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task</a:t>
            </a:r>
          </a:p>
          <a:p>
            <a:r>
              <a:t>CML3113, Week 8, slide 56</a:t>
            </a:r>
          </a:p>
          <a:p>
            <a:r>
              <a:t/>
            </a:r>
          </a:p>
          <a:p>
            <a:r>
              <a:t>Explanation to give</a:t>
            </a:r>
          </a:p>
          <a:p>
            <a:r>
              <a:t>Name this cohort’s target and its unit exactly as displayed. Each row is one operating observation, while equipment_id can repeat across several observations.</a:t>
            </a:r>
          </a:p>
          <a:p>
            <a:r>
              <a:t/>
            </a:r>
          </a:p>
          <a:p>
            <a:r>
              <a:t>Worked illustration / lecturer answer</a:t>
            </a:r>
          </a:p>
          <a:p>
            <a:r>
              <a:t>Explain record_id as the identifier of an observation, load_pct as load expressed in percent and ambient_c as temperature in degrees Celsius. The target records the known answer in training data.</a:t>
            </a:r>
          </a:p>
          <a:p>
            <a:r>
              <a:t/>
            </a:r>
          </a:p>
          <a:p>
            <a:r>
              <a:t>Misconception to address</a:t>
            </a:r>
          </a:p>
          <a:p>
            <a:r>
              <a:t>These are synthetic examples for learning. They do not establish a calibrated physical relationship or justify operation of real equipment.</a:t>
            </a:r>
          </a:p>
          <a:p>
            <a:r>
              <a:t/>
            </a:r>
          </a:p>
          <a:p>
            <a:r>
              <a:t>On this slide</a:t>
            </a:r>
          </a:p>
          <a:p>
            <a:r>
              <a:t>Investigate crusher energy demand.</a:t>
            </a:r>
          </a:p>
          <a:p>
            <a:r>
              <a:t/>
            </a:r>
          </a:p>
          <a:p>
            <a:r>
              <a:t>Target units: kWh/t.</a:t>
            </a:r>
          </a:p>
          <a:p>
            <a:r>
              <a:t/>
            </a:r>
          </a:p>
          <a:p>
            <a:r>
              <a:t>These are synthetic teaching records, not measurements suitable for deployment.</a:t>
            </a:r>
          </a:p>
          <a:p>
            <a:r>
              <a:t/>
            </a:r>
          </a:p>
          <a:p>
            <a:r>
              <a:t>Each record is one operating observation; equipment_id repeats across observations.</a:t>
            </a:r>
          </a:p>
          <a:p>
            <a:r>
              <a:t/>
            </a:r>
          </a:p>
          <a:p>
            <a:r>
              <a:t>Continue to</a:t>
            </a:r>
          </a:p>
          <a:p>
            <a:r>
              <a:t>predict_regression(training_records, feature_records)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predict_regression(training_records, feature_records)</a:t>
            </a:r>
          </a:p>
          <a:p>
            <a:r>
              <a:t>CML3113, Week 8, slide 57</a:t>
            </a:r>
          </a:p>
          <a:p>
            <a:r>
              <a:t/>
            </a:r>
          </a:p>
          <a:p>
            <a:r>
              <a:t>Explanation to give</a:t>
            </a:r>
          </a:p>
          <a:p>
            <a:r>
              <a:t>Build feature rows using only the specified input fields and preserve their order. Fit preprocessing and the three requested models using training records only.</a:t>
            </a:r>
          </a:p>
          <a:p>
            <a:r>
              <a:t/>
            </a:r>
          </a:p>
          <a:p>
            <a:r>
              <a:t>Worked illustration / lecturer answer</a:t>
            </a:r>
          </a:p>
          <a:p>
            <a:r>
              <a:t>The returned dictionary contains baseline, linear and tree, each with one prediction per feature record. A feature record deliberately contains no target answer.</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Fit a training-mean baseline, linear regression and a decision tree (max_depth=4, random_state=17) using load_pct and ambient_c only.</a:t>
            </a:r>
          </a:p>
          <a:p>
            <a:r>
              <a:t/>
            </a:r>
          </a:p>
          <a:p>
            <a:r>
              <a:t>Return three prediction lists under baseline, linear and tree.</a:t>
            </a:r>
          </a:p>
          <a:p>
            <a:r>
              <a:t/>
            </a:r>
          </a:p>
          <a:p>
            <a:r>
              <a:t>Feature records have no target.</a:t>
            </a:r>
          </a:p>
          <a:p>
            <a:r>
              <a:t/>
            </a:r>
          </a:p>
          <a:p>
            <a:r>
              <a:t>Fit preprocessing only on training data.</a:t>
            </a:r>
          </a:p>
          <a:p>
            <a:r>
              <a:t/>
            </a:r>
          </a:p>
          <a:p>
            <a:r>
              <a:t>Continue to</a:t>
            </a:r>
          </a:p>
          <a:p>
            <a:r>
              <a:t>regression_errors(actual, predicted)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regression_errors(actual, predicted)</a:t>
            </a:r>
          </a:p>
          <a:p>
            <a:r>
              <a:t>CML3113, Week 8, slide 58</a:t>
            </a:r>
          </a:p>
          <a:p>
            <a:r>
              <a:t/>
            </a:r>
          </a:p>
          <a:p>
            <a:r>
              <a:t>Explanation to give</a:t>
            </a:r>
          </a:p>
          <a:p>
            <a:r>
              <a:t>Pair actual and predicted values by position. Return mae and rmse with full numerical precision.</a:t>
            </a:r>
          </a:p>
          <a:p>
            <a:r>
              <a:t/>
            </a:r>
          </a:p>
          <a:p>
            <a:r>
              <a:t>Worked illustration / lecturer answer</a:t>
            </a:r>
          </a:p>
          <a:p>
            <a:r>
              <a:t>On separate teaching pairs with errors 2 and 4, MAE is 3 and RMSE is sqrt(10). Rounding is for a labelled display, not for the returned metric.</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Return mae and rmse, calculated over the same paired observations, with full precision.</a:t>
            </a:r>
          </a:p>
          <a:p>
            <a:r>
              <a:t/>
            </a:r>
          </a:p>
          <a:p>
            <a:r>
              <a:t>Continue to</a:t>
            </a:r>
          </a:p>
          <a:p>
            <a:r>
              <a:t>Written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Written evidence</a:t>
            </a:r>
          </a:p>
          <a:p>
            <a:r>
              <a:t>CML3113, Week 8, slide 59</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Use the cell headed “My written evidence”.</a:t>
            </a:r>
          </a:p>
          <a:p>
            <a:r>
              <a:t/>
            </a:r>
          </a:p>
          <a:p>
            <a:r>
              <a:t>Explain the supplied scenario in your own words.</a:t>
            </a:r>
          </a:p>
          <a:p>
            <a:r>
              <a:t/>
            </a:r>
          </a:p>
          <a:p>
            <a:r>
              <a:t>State target units, reasons and limitations.</a:t>
            </a:r>
          </a:p>
          <a:p>
            <a:r>
              <a:t/>
            </a:r>
          </a:p>
          <a:p>
            <a:r>
              <a:t>Submit one complete notebook containing code and written evidence.</a:t>
            </a:r>
          </a:p>
          <a:p>
            <a:r>
              <a:t/>
            </a:r>
          </a:p>
          <a:p>
            <a:r>
              <a:t>Continue to</a:t>
            </a:r>
          </a:p>
          <a:p>
            <a:r>
              <a:t>Regression and baseline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Regression and baseline submission</a:t>
            </a:r>
          </a:p>
          <a:p>
            <a:r>
              <a:t>CML3113, Week 8, slide 60</a:t>
            </a:r>
          </a:p>
          <a:p>
            <a:r>
              <a:t/>
            </a:r>
          </a:p>
          <a:p>
            <a:r>
              <a:t>Explanation to give</a:t>
            </a:r>
          </a:p>
          <a:p>
            <a:r>
              <a:t>This slide hands over CML3113 W08. Show the exact form title before uploading. The required packet is one completed .ipynb notebook.</a:t>
            </a:r>
          </a:p>
          <a:p>
            <a:r>
              <a:t/>
            </a:r>
          </a:p>
          <a:p>
            <a:r>
              <a:t>Worked illustration / lecturer answer</a:t>
            </a:r>
          </a:p>
          <a:p>
            <a:r>
              <a:t>The recorded cutoff for this form is 2026-11-06T08:00:00+03:00.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30 Oct 2026, 08:00 Kampala</a:t>
            </a:r>
          </a:p>
          <a:p>
            <a:r>
              <a:t/>
            </a:r>
          </a:p>
          <a:p>
            <a:r>
              <a:t>Deadline: 06 Nov 2026, 08:00 Kampala</a:t>
            </a:r>
          </a:p>
          <a:p>
            <a:r>
              <a:t/>
            </a:r>
          </a:p>
          <a:p>
            <a:r>
              <a:t>Use your full Student Registration Number in the form.</a:t>
            </a:r>
          </a:p>
          <a:p>
            <a:r>
              <a:t/>
            </a:r>
          </a:p>
          <a:p>
            <a:r>
              <a:t>Keep the submitted files and confirmation.</a:t>
            </a:r>
          </a:p>
          <a:p>
            <a:r>
              <a:t/>
            </a:r>
          </a:p>
          <a:p>
            <a:r>
              <a:t>Continue to</a:t>
            </a:r>
          </a:p>
          <a:p>
            <a:r>
              <a:t>Data analysis project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a:t>
            </a:r>
          </a:p>
          <a:p>
            <a:r>
              <a:t>CML3113, Week 8, slide 61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CML3113, Week 8, slide 62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CML3113, Week 8, slide 63</a:t>
            </a:r>
          </a:p>
          <a:p>
            <a:r>
              <a:t/>
            </a:r>
          </a:p>
          <a:p>
            <a:r>
              <a:t>Explanation to give</a:t>
            </a:r>
          </a:p>
          <a:p>
            <a:r>
              <a:t>Problem framing begins with a bounded engineering decision and a defined target. Provenance explains where observations came from; a licence states what reuse is allowed.</a:t>
            </a:r>
          </a:p>
          <a:p>
            <a:r>
              <a:t/>
            </a:r>
          </a:p>
          <a:p>
            <a:r>
              <a:t>Worked illustration / lecturer answer</a:t>
            </a:r>
          </a:p>
          <a:p>
            <a:r>
              <a:t>State the population, measurement period, units and who collected the data. Explain how those observations could answer the chosen question rather than merely describing an interesting file.</a:t>
            </a:r>
          </a:p>
          <a:p>
            <a:r>
              <a:t/>
            </a:r>
          </a:p>
          <a:p>
            <a:r>
              <a:t>Misconception to address</a:t>
            </a:r>
          </a:p>
          <a:p>
            <a:r>
              <a:t>Synthetic teaching data must be labelled as synthetic. A plausible story does not establish that a dataset contains the information or permissions the proposed project needs.</a:t>
            </a:r>
          </a:p>
          <a:p>
            <a:r>
              <a:t/>
            </a:r>
          </a:p>
          <a:p>
            <a:r>
              <a:t>On this slide</a:t>
            </a:r>
          </a:p>
          <a:p>
            <a:r>
              <a:t>Include captions and a separate readable DOCX/PDF report.</a:t>
            </a:r>
          </a:p>
          <a:p>
            <a:r>
              <a:t/>
            </a:r>
          </a:p>
          <a:p>
            <a:r>
              <a:t>Question &amp; dataset fit (20.0 total): A real engineering question is stated, and the chosen dataset can actually answer it.</a:t>
            </a:r>
          </a:p>
          <a:p>
            <a:r>
              <a:t/>
            </a:r>
          </a:p>
          <a:p>
            <a:r>
              <a:t>Provenance and licence stated.</a:t>
            </a:r>
          </a:p>
          <a:p>
            <a:r>
              <a:t/>
            </a:r>
          </a:p>
          <a:p>
            <a:r>
              <a:t>Data quality work (25.0 total): Defects found and handled with written justification.</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CML3113, Week 8, slide 64</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A data quality statement is present.</a:t>
            </a:r>
          </a:p>
          <a:p>
            <a:r>
              <a:t/>
            </a:r>
          </a:p>
          <a:p>
            <a:r>
              <a:t>Analysis &amp; visualisation (30.0 total): Four or more charts, each answering a stated question.</a:t>
            </a:r>
          </a:p>
          <a:p>
            <a:r>
              <a:t/>
            </a:r>
          </a:p>
          <a:p>
            <a:r>
              <a:t>Correct chart types, labelled axes, findings in the captions.</a:t>
            </a:r>
          </a:p>
          <a:p>
            <a:r>
              <a:t/>
            </a:r>
          </a:p>
          <a:p>
            <a:r>
              <a:t>Findings &amp; interpretation (20.0 total): Conclusions supported by the analysis, stated in engineering terms, with limitations acknowledged.</a:t>
            </a:r>
          </a:p>
          <a:p>
            <a:r>
              <a:t/>
            </a:r>
          </a:p>
          <a:p>
            <a:r>
              <a:t>Continue to</a:t>
            </a:r>
          </a:p>
          <a:p>
            <a:r>
              <a:t>Data analysis project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continued</a:t>
            </a:r>
          </a:p>
          <a:p>
            <a:r>
              <a:t>CML3113, Week 8, slide 65</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Individual contribution log (5.0 total): Present, specific, and consistent with the repository's commit history.</a:t>
            </a:r>
          </a:p>
          <a:p>
            <a:r>
              <a:t/>
            </a:r>
          </a:p>
          <a:p>
            <a:r>
              <a:t>Continue to</a:t>
            </a:r>
          </a:p>
          <a:p>
            <a:r>
              <a:t>Data analysis project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 analysis project submission</a:t>
            </a:r>
          </a:p>
          <a:p>
            <a:r>
              <a:t>CML3113, Week 8, slide 66</a:t>
            </a:r>
          </a:p>
          <a:p>
            <a:r>
              <a:t/>
            </a:r>
          </a:p>
          <a:p>
            <a:r>
              <a:t>Explanation to give</a:t>
            </a:r>
          </a:p>
          <a:p>
            <a:r>
              <a:t>This slide hands over CML3113 DA_PROJECT. Show the exact form title before uploading. The required packet is the completed project notebook together with one readable DOCX or selectable-text PDF report.</a:t>
            </a:r>
          </a:p>
          <a:p>
            <a:r>
              <a:t/>
            </a:r>
          </a:p>
          <a:p>
            <a:r>
              <a:t>Worked illustration / lecturer answer</a:t>
            </a:r>
          </a:p>
          <a:p>
            <a:r>
              <a:t>The recorded cutoff for this form is 2026-10-30T08:00:00+03:00.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09 Oct 2026, 08:00 Kampala</a:t>
            </a:r>
          </a:p>
          <a:p>
            <a:r>
              <a:t/>
            </a:r>
          </a:p>
          <a:p>
            <a:r>
              <a:t>Deadline: 30 Oct 2026, 08:00 Kampala</a:t>
            </a:r>
          </a:p>
          <a:p>
            <a:r>
              <a:t/>
            </a:r>
          </a:p>
          <a:p>
            <a:r>
              <a:t>Use your full Student Registration Number in the form.</a:t>
            </a:r>
          </a:p>
          <a:p>
            <a:r>
              <a:t/>
            </a:r>
          </a:p>
          <a:p>
            <a:r>
              <a:t>Keep the submitted files and confirmation.</a:t>
            </a:r>
          </a:p>
          <a:p>
            <a:r>
              <a:t/>
            </a:r>
          </a:p>
          <a:p>
            <a:r>
              <a:t>Continue to</a:t>
            </a:r>
          </a:p>
          <a:p>
            <a:r>
              <a:t>Week 8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8 quiz</a:t>
            </a:r>
          </a:p>
          <a:p>
            <a:r>
              <a:t>CML3113, Week 8, slide 67</a:t>
            </a:r>
          </a:p>
          <a:p>
            <a:r>
              <a:t/>
            </a:r>
          </a:p>
          <a:p>
            <a:r>
              <a:t>Explanation to give</a:t>
            </a:r>
          </a:p>
          <a:p>
            <a:r>
              <a:t>This is the CML3113 Week 8 quiz. The student link opens the response form; it does not activate its window. In Quiz Controls use open_W8_CML3113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8, slide 68</a:t>
            </a:r>
          </a:p>
          <a:p>
            <a:r>
              <a:t/>
            </a:r>
          </a:p>
          <a:p>
            <a:r>
              <a:t>Explanation to give</a:t>
            </a:r>
          </a:p>
          <a:p>
            <a:r>
              <a:t>Introduce a fitted predictor only after identifying its inputs and known answers. Compare it with a simple baseline and explain its errors in target units.</a:t>
            </a:r>
          </a:p>
          <a:p>
            <a:r>
              <a:t/>
            </a:r>
          </a:p>
          <a:p>
            <a:r>
              <a:t>Worked illustration / lecturer answer</a:t>
            </a:r>
          </a:p>
          <a:p>
            <a:r>
              <a:t>The teaching line through (1,12), (2,14), (3,16), (4,18) predicts 15 at input 2.5. One neat example does not establish real-world accuracy.</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calculate one error and explain why evaluation needs unseen observations.</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8, slide 69</a:t>
            </a:r>
          </a:p>
          <a:p>
            <a:r>
              <a:t/>
            </a:r>
          </a:p>
          <a:p>
            <a:r>
              <a:t>Explanation to give</a:t>
            </a:r>
          </a:p>
          <a:p>
            <a:r>
              <a:t>Give the viewing question before playing the excerpt: How can a fitted line turn an input into a numerical prediction?</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StatQuest with Josh Starmer</a:t>
            </a:r>
          </a:p>
          <a:p>
            <a:r>
              <a:t>The Essence of Linear Regression!!!</a:t>
            </a:r>
          </a:p>
          <a:p>
            <a:r>
              <a:t/>
            </a:r>
          </a:p>
          <a:p>
            <a:r>
              <a:t>Opening up to 04:00, optional preview-selected excerpt</a:t>
            </a:r>
          </a:p>
          <a:p>
            <a:r>
              <a:t/>
            </a:r>
          </a:p>
          <a:p>
            <a:r>
              <a:t>Listening question: How can a fitted line turn an input into a numerical prediction?</a:t>
            </a:r>
          </a:p>
          <a:p>
            <a:r>
              <a:t/>
            </a:r>
          </a:p>
          <a:p>
            <a:r>
              <a:t>Reference / existing resource</a:t>
            </a:r>
          </a:p>
          <a:p>
            <a:r>
              <a:t>https://www.youtube.com/watch?v=aFDOzpTeg0s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6ed4537c9d48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085a1ddb54243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240f9e89872485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c07cd351e94a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b6c73fbad448b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b08f93963e04db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F1D00FD-5227-41CA-8286-77855A1DB872}"/>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DF9CE86F-A6AE-406E-9924-292D009A323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E27C3872-441C-4179-9A2F-1663391CEA3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D6A29C1-E301-49C5-9515-3A7F6F13F6E1}"/>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8EF2D7DD-0F1D-4047-BE13-6E092AB337C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207299A-848E-4D4C-B2E6-91503C2D692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804BA17-ECB0-42C4-98B1-A8DC19E671E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69C4E217-C485-4472-BC54-A8ED396DD7C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1B4079E-52BB-42C1-9653-0E0D4E7342F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7A3F9E6-BBCF-4618-8814-A598C674C7C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700A58C-E5FE-4DCB-87BF-B08FF1083FB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80F4664B-437E-404C-8722-2EF0D675A73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CF8F0FC-A3B2-47CC-948C-F21C2860092E}"/>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0AFF223-AB8D-4484-9A64-FE4BB6F8E0B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214F70-0CB5-46A9-BB98-E6465D4BB32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41476f114644b9" /><Relationship Type="http://schemas.openxmlformats.org/officeDocument/2006/relationships/slideLayout" Target="/ppt/slideLayouts/slideLayout1.xml" Id="R1f38746c84e74bbc" /><Relationship Type="http://schemas.openxmlformats.org/officeDocument/2006/relationships/slideLayout" Target="/ppt/slideLayouts/slideLayout2.xml" Id="R14383c258dfc42e2" /><Relationship Type="http://schemas.openxmlformats.org/officeDocument/2006/relationships/slideLayout" Target="/ppt/slideLayouts/slideLayout3.xml" Id="R2faa76da3beb46b8" /><Relationship Type="http://schemas.openxmlformats.org/officeDocument/2006/relationships/slideLayout" Target="/ppt/slideLayouts/slideLayout4.xml" Id="Re475ab3544944633" /><Relationship Type="http://schemas.openxmlformats.org/officeDocument/2006/relationships/slideLayout" Target="/ppt/slideLayouts/slideLayout5.xml" Id="Rb6ebbfa2f51b4b5c" /><Relationship Type="http://schemas.openxmlformats.org/officeDocument/2006/relationships/slideLayout" Target="/ppt/slideLayouts/slideLayout6.xml" Id="R7b0044621f9044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38746c84e74bbc"/>
    <p:sldLayoutId xmlns:r="http://schemas.openxmlformats.org/officeDocument/2006/relationships" id="2147483650" r:id="R14383c258dfc42e2"/>
    <p:sldLayoutId xmlns:r="http://schemas.openxmlformats.org/officeDocument/2006/relationships" id="2147483651" r:id="R2faa76da3beb46b8"/>
    <p:sldLayoutId xmlns:r="http://schemas.openxmlformats.org/officeDocument/2006/relationships" id="2147483652" r:id="Re475ab3544944633"/>
    <p:sldLayoutId xmlns:r="http://schemas.openxmlformats.org/officeDocument/2006/relationships" id="2147483653" r:id="Rb6ebbfa2f51b4b5c"/>
    <p:sldLayoutId xmlns:r="http://schemas.openxmlformats.org/officeDocument/2006/relationships" id="2147483654" r:id="R7b0044621f9044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b3d2c636f74468c" /><Relationship Type="http://schemas.openxmlformats.org/officeDocument/2006/relationships/image" Target="/ppt/media/image.png" Id="R54553ba766724151" /><Relationship Type="http://schemas.openxmlformats.org/officeDocument/2006/relationships/notesSlide" Target="/ppt/notesSlides/notesSlide1.xml" Id="Rf9ed0d9c40dc49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2fb07e7ffa74784" /><Relationship Type="http://schemas.openxmlformats.org/officeDocument/2006/relationships/notesSlide" Target="/ppt/notesSlides/notesSlide2.xml" Id="R437383034c3947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e8ed25a55ce489e" /><Relationship Type="http://schemas.openxmlformats.org/officeDocument/2006/relationships/notesSlide" Target="/ppt/notesSlides/notesSlide3.xml" Id="Rbe27104eb12d485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9667e0e7784565" /><Relationship Type="http://schemas.openxmlformats.org/officeDocument/2006/relationships/notesSlide" Target="/ppt/notesSlides/notesSlide4.xml" Id="Rc7c127d9aa8b44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e8eb0b1c8904c9b" /><Relationship Type="http://schemas.openxmlformats.org/officeDocument/2006/relationships/notesSlide" Target="/ppt/notesSlides/notesSlide5.xml" Id="R672054e081bf492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2a792c062b64467" /><Relationship Type="http://schemas.openxmlformats.org/officeDocument/2006/relationships/notesSlide" Target="/ppt/notesSlides/notesSlide6.xml" Id="Rdaa5ae973d9842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8365d76a768459a" /><Relationship Type="http://schemas.openxmlformats.org/officeDocument/2006/relationships/notesSlide" Target="/ppt/notesSlides/notesSlide7.xml" Id="Rfd0d900b09ac4d5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83d54e85c43a9" /><Relationship Type="http://schemas.openxmlformats.org/officeDocument/2006/relationships/notesSlide" Target="/ppt/notesSlides/notesSlide8.xml" Id="R00b2fbb9de4847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785f4dc87d14e6e" /><Relationship Type="http://schemas.openxmlformats.org/officeDocument/2006/relationships/notesSlide" Target="/ppt/notesSlides/notesSlide9.xml" Id="R145732c32f9f47c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8d6944084614fca" /><Relationship Type="http://schemas.openxmlformats.org/officeDocument/2006/relationships/notesSlide" Target="/ppt/notesSlides/notesSlide10.xml" Id="R412387238452473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95e2397055d45f6" /><Relationship Type="http://schemas.openxmlformats.org/officeDocument/2006/relationships/notesSlide" Target="/ppt/notesSlides/notesSlide11.xml" Id="R49c44d28717f475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650011da6e047e3" /><Relationship Type="http://schemas.openxmlformats.org/officeDocument/2006/relationships/image" Target="/ppt/media/image2.png" Id="Rbacc85ec836e42b2" /><Relationship Type="http://schemas.openxmlformats.org/officeDocument/2006/relationships/notesSlide" Target="/ppt/notesSlides/notesSlide12.xml" Id="Rba37084f0a8943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0eaa53a45a54281" /><Relationship Type="http://schemas.openxmlformats.org/officeDocument/2006/relationships/notesSlide" Target="/ppt/notesSlides/notesSlide13.xml" Id="R7fd739a28b1e479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c01ba7fc0c84850" /><Relationship Type="http://schemas.openxmlformats.org/officeDocument/2006/relationships/notesSlide" Target="/ppt/notesSlides/notesSlide14.xml" Id="Ra2953b28d71d4e3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bf05356beb94bbb" /><Relationship Type="http://schemas.openxmlformats.org/officeDocument/2006/relationships/notesSlide" Target="/ppt/notesSlides/notesSlide15.xml" Id="R65d769bdbe6f4f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3f54325d5c44bf5" /><Relationship Type="http://schemas.openxmlformats.org/officeDocument/2006/relationships/notesSlide" Target="/ppt/notesSlides/notesSlide16.xml" Id="R1a2f2d3be78b485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c8b6015640949f9" /><Relationship Type="http://schemas.openxmlformats.org/officeDocument/2006/relationships/notesSlide" Target="/ppt/notesSlides/notesSlide17.xml" Id="Rc6b88eb4f7924f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9e5c26caebf41f0" /><Relationship Type="http://schemas.openxmlformats.org/officeDocument/2006/relationships/notesSlide" Target="/ppt/notesSlides/notesSlide18.xml" Id="Rcd64cfa4dc8f443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0145ec3b1f44443" /><Relationship Type="http://schemas.openxmlformats.org/officeDocument/2006/relationships/notesSlide" Target="/ppt/notesSlides/notesSlide19.xml" Id="R1061cac7dbc84b5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8f9c09049114f11" /><Relationship Type="http://schemas.openxmlformats.org/officeDocument/2006/relationships/notesSlide" Target="/ppt/notesSlides/notesSlide20.xml" Id="Raa86c984669e4b8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3fbf0f136ee4557" /><Relationship Type="http://schemas.openxmlformats.org/officeDocument/2006/relationships/notesSlide" Target="/ppt/notesSlides/notesSlide21.xml" Id="Rf9ab94cd247342b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005bc9033094179" /><Relationship Type="http://schemas.openxmlformats.org/officeDocument/2006/relationships/notesSlide" Target="/ppt/notesSlides/notesSlide22.xml" Id="R5efcf8c547554d0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69df6a620eb467f" /><Relationship Type="http://schemas.openxmlformats.org/officeDocument/2006/relationships/notesSlide" Target="/ppt/notesSlides/notesSlide23.xml" Id="R412156309f6b4e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200014877534bff" /><Relationship Type="http://schemas.openxmlformats.org/officeDocument/2006/relationships/notesSlide" Target="/ppt/notesSlides/notesSlide24.xml" Id="Re53549c5b21c493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dec39fa1d34d2a" /><Relationship Type="http://schemas.openxmlformats.org/officeDocument/2006/relationships/notesSlide" Target="/ppt/notesSlides/notesSlide25.xml" Id="R6eeaecd9c06c421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99c8693f3b04a05" /><Relationship Type="http://schemas.openxmlformats.org/officeDocument/2006/relationships/notesSlide" Target="/ppt/notesSlides/notesSlide26.xml" Id="R533f911dd1144ec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0d51557ef93d4601" /><Relationship Type="http://schemas.openxmlformats.org/officeDocument/2006/relationships/notesSlide" Target="/ppt/notesSlides/notesSlide27.xml" Id="R24966393d760471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d9f5e1bc3cf64fb0" /><Relationship Type="http://schemas.openxmlformats.org/officeDocument/2006/relationships/notesSlide" Target="/ppt/notesSlides/notesSlide28.xml" Id="R1d250c27a13f43c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8e6913d01734699" /><Relationship Type="http://schemas.openxmlformats.org/officeDocument/2006/relationships/notesSlide" Target="/ppt/notesSlides/notesSlide29.xml" Id="R6ff3eac215d441f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2150a6e01504021" /><Relationship Type="http://schemas.openxmlformats.org/officeDocument/2006/relationships/notesSlide" Target="/ppt/notesSlides/notesSlide30.xml" Id="R8edc49b94d7f440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91a59a8727c48b5" /><Relationship Type="http://schemas.openxmlformats.org/officeDocument/2006/relationships/notesSlide" Target="/ppt/notesSlides/notesSlide31.xml" Id="R080db1b568c0482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3954adda32444ac2" /><Relationship Type="http://schemas.openxmlformats.org/officeDocument/2006/relationships/notesSlide" Target="/ppt/notesSlides/notesSlide32.xml" Id="R66cdf15be0a04ef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0c0b077d2254488" /><Relationship Type="http://schemas.openxmlformats.org/officeDocument/2006/relationships/notesSlide" Target="/ppt/notesSlides/notesSlide33.xml" Id="R97619c1659f1489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122c5d68e304529" /><Relationship Type="http://schemas.openxmlformats.org/officeDocument/2006/relationships/notesSlide" Target="/ppt/notesSlides/notesSlide34.xml" Id="R9a1d8084356a46f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2f737e4a0ee4f16" /><Relationship Type="http://schemas.openxmlformats.org/officeDocument/2006/relationships/notesSlide" Target="/ppt/notesSlides/notesSlide35.xml" Id="R05ff2d5b4bac4c3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6dab52b736a46dc" /><Relationship Type="http://schemas.openxmlformats.org/officeDocument/2006/relationships/notesSlide" Target="/ppt/notesSlides/notesSlide36.xml" Id="R2728fa39799a4350"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50fb41709a204ccb" /><Relationship Type="http://schemas.openxmlformats.org/officeDocument/2006/relationships/notesSlide" Target="/ppt/notesSlides/notesSlide37.xml" Id="R7ebfa40f464c452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c66d755fc754446" /><Relationship Type="http://schemas.openxmlformats.org/officeDocument/2006/relationships/notesSlide" Target="/ppt/notesSlides/notesSlide38.xml" Id="Rf1eaf5ed7fd3495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8690435ee9c4504" /><Relationship Type="http://schemas.openxmlformats.org/officeDocument/2006/relationships/notesSlide" Target="/ppt/notesSlides/notesSlide39.xml" Id="R102044a6e837490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06fd71baa404c54" /><Relationship Type="http://schemas.openxmlformats.org/officeDocument/2006/relationships/notesSlide" Target="/ppt/notesSlides/notesSlide40.xml" Id="R4527697da734441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127d3ea24f0422e" /><Relationship Type="http://schemas.openxmlformats.org/officeDocument/2006/relationships/notesSlide" Target="/ppt/notesSlides/notesSlide41.xml" Id="R22ab3cc5b00f449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611bf4bd4cca4cd5" /><Relationship Type="http://schemas.openxmlformats.org/officeDocument/2006/relationships/notesSlide" Target="/ppt/notesSlides/notesSlide42.xml" Id="R69e18307f7a048f6"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ad0b27f0ea6412e" /><Relationship Type="http://schemas.openxmlformats.org/officeDocument/2006/relationships/notesSlide" Target="/ppt/notesSlides/notesSlide43.xml" Id="R9c12af73fb45414d"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e99ea855269f45e2" /><Relationship Type="http://schemas.openxmlformats.org/officeDocument/2006/relationships/notesSlide" Target="/ppt/notesSlides/notesSlide44.xml" Id="R4c4d3ffb6a614e6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39e43f4edd641ab" /><Relationship Type="http://schemas.openxmlformats.org/officeDocument/2006/relationships/notesSlide" Target="/ppt/notesSlides/notesSlide45.xml" Id="Rf884e220b2ac451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3dd328818f584e85" /><Relationship Type="http://schemas.openxmlformats.org/officeDocument/2006/relationships/notesSlide" Target="/ppt/notesSlides/notesSlide46.xml" Id="R4e3b198a5923442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47aecb6740014a42" /><Relationship Type="http://schemas.openxmlformats.org/officeDocument/2006/relationships/notesSlide" Target="/ppt/notesSlides/notesSlide47.xml" Id="R3819540fdacd4038"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c99cabe5f9e4044" /><Relationship Type="http://schemas.openxmlformats.org/officeDocument/2006/relationships/notesSlide" Target="/ppt/notesSlides/notesSlide48.xml" Id="R7187c98c3d0c4b69"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a1a3bfbcff24900" /><Relationship Type="http://schemas.openxmlformats.org/officeDocument/2006/relationships/notesSlide" Target="/ppt/notesSlides/notesSlide49.xml" Id="Re08f576b35834df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31832f09e2d4539" /><Relationship Type="http://schemas.openxmlformats.org/officeDocument/2006/relationships/notesSlide" Target="/ppt/notesSlides/notesSlide50.xml" Id="Rf16d1f42432745c9"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610dc0d6ee5144df" /><Relationship Type="http://schemas.openxmlformats.org/officeDocument/2006/relationships/notesSlide" Target="/ppt/notesSlides/notesSlide51.xml" Id="Re11401153267445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9fdcda867a664ef1" /><Relationship Type="http://schemas.openxmlformats.org/officeDocument/2006/relationships/notesSlide" Target="/ppt/notesSlides/notesSlide52.xml" Id="Rbca629ade4df4d56"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4218be27f22443b" /><Relationship Type="http://schemas.openxmlformats.org/officeDocument/2006/relationships/notesSlide" Target="/ppt/notesSlides/notesSlide53.xml" Id="Rf71b15d44354474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203218c513748d9" /><Relationship Type="http://schemas.openxmlformats.org/officeDocument/2006/relationships/notesSlide" Target="/ppt/notesSlides/notesSlide54.xml" Id="R508b2c7ec458460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86f7de6699e34054" /><Relationship Type="http://schemas.openxmlformats.org/officeDocument/2006/relationships/notesSlide" Target="/ppt/notesSlides/notesSlide55.xml" Id="R404a670537ef49f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8d79b2a44b14f67" /><Relationship Type="http://schemas.openxmlformats.org/officeDocument/2006/relationships/notesSlide" Target="/ppt/notesSlides/notesSlide56.xml" Id="R53e25124b54a404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9dfb7b652df435c" /><Relationship Type="http://schemas.openxmlformats.org/officeDocument/2006/relationships/notesSlide" Target="/ppt/notesSlides/notesSlide57.xml" Id="Rc98aece195a0461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2b8fe5f266d94106" /><Relationship Type="http://schemas.openxmlformats.org/officeDocument/2006/relationships/notesSlide" Target="/ppt/notesSlides/notesSlide58.xml" Id="R8a76a4b168594ed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d9ded7450ae499f" /><Relationship Type="http://schemas.openxmlformats.org/officeDocument/2006/relationships/notesSlide" Target="/ppt/notesSlides/notesSlide59.xml" Id="R27110eb9f9964ec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ce9db493c2c4665" /><Relationship Type="http://schemas.openxmlformats.org/officeDocument/2006/relationships/hyperlink" Target="https://docs.google.com/forms/d/e/1FAIpQLScEhukVhOy7mk4-sfmGMIBPDwAXlVTIZeAict3izXXZ1fvCFg/viewform" TargetMode="External" Id="R820fe4e744314d50" /><Relationship Type="http://schemas.openxmlformats.org/officeDocument/2006/relationships/notesSlide" Target="/ppt/notesSlides/notesSlide60.xml" Id="Rc667e2bb610a4b5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f13291afd9f04fee" /><Relationship Type="http://schemas.openxmlformats.org/officeDocument/2006/relationships/notesSlide" Target="/ppt/notesSlides/notesSlide61.xml" Id="Rb78aac3f72a74f5c"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8d1844dc7db4e63" /><Relationship Type="http://schemas.openxmlformats.org/officeDocument/2006/relationships/notesSlide" Target="/ppt/notesSlides/notesSlide62.xml" Id="Rcc252041cb274b6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dc2cd799da524d7b" /><Relationship Type="http://schemas.openxmlformats.org/officeDocument/2006/relationships/notesSlide" Target="/ppt/notesSlides/notesSlide63.xml" Id="R1b840939dd38422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9aa29de11f384197" /><Relationship Type="http://schemas.openxmlformats.org/officeDocument/2006/relationships/notesSlide" Target="/ppt/notesSlides/notesSlide64.xml" Id="R21296afd107d4579"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b43603c443db46c1" /><Relationship Type="http://schemas.openxmlformats.org/officeDocument/2006/relationships/notesSlide" Target="/ppt/notesSlides/notesSlide65.xml" Id="Ra833725fd7624f1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5ff1e69b1f814ad1" /><Relationship Type="http://schemas.openxmlformats.org/officeDocument/2006/relationships/hyperlink" Target="https://docs.google.com/forms/d/e/1FAIpQLSf_avvvqyl5ZJ-6HU7n4zal9AQETYyJkykuDO5J5Au3dBA4vw/viewform" TargetMode="External" Id="Rdc28d363f5cb41b8" /><Relationship Type="http://schemas.openxmlformats.org/officeDocument/2006/relationships/notesSlide" Target="/ppt/notesSlides/notesSlide66.xml" Id="R70be5999cb414a0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32034698540c4931" /><Relationship Type="http://schemas.openxmlformats.org/officeDocument/2006/relationships/image" Target="/ppt/media/image3.png" Id="R0c28780d1bab4a47" /><Relationship Type="http://schemas.openxmlformats.org/officeDocument/2006/relationships/hyperlink" Target="https://forms.gle/njADrQM1EKhyhRSA8" TargetMode="External" Id="Rf74b278569fb44d6" /><Relationship Type="http://schemas.openxmlformats.org/officeDocument/2006/relationships/notesSlide" Target="/ppt/notesSlides/notesSlide67.xml" Id="R11f1614761ff4a8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9b33f2f79cc4fed" /><Relationship Type="http://schemas.openxmlformats.org/officeDocument/2006/relationships/notesSlide" Target="/ppt/notesSlides/notesSlide68.xml" Id="Re70a61d8706a41e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178d744d5cc8441a" /><Relationship Type="http://schemas.openxmlformats.org/officeDocument/2006/relationships/hyperlink" Target="https://www.youtube.com/watch?v=aFDOzpTeg0s" TargetMode="External" Id="R6eecaef9bf794655" /><Relationship Type="http://schemas.openxmlformats.org/officeDocument/2006/relationships/notesSlide" Target="/ppt/notesSlides/notesSlide69.xml" Id="R8c5a9c2aa99d4ab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4553ba76672415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08EE8AE-55EC-4259-9894-86B43F7B399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B912C8-5C02-4E91-984E-1B1B9799882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8</a:t>
            </a:r>
          </a:p>
        </p:txBody>
      </p:sp>
      <p:sp>
        <p:nvSpPr>
          <p:cNvPr id="4" name="">
            <a:extLst xmlns:a="http://schemas.openxmlformats.org/drawingml/2006/main">
              <a:ext uri="{FF2B5EF4-FFF2-40B4-BE49-F238E27FC236}">
                <a16:creationId xmlns:a16="http://schemas.microsoft.com/office/drawing/2014/main" id="{B12F52C5-FBE1-4E15-84CA-7541E0224BC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5063FC00-C57D-4C7A-B41A-8D459B1D1C0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BE6D626E-D839-4969-A09E-957F1F1B280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93794920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8828C9A-A616-452B-AC0B-13F6E320A5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450FEF-46B4-4EE4-83C2-7C72449FE9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EADE94C-59E0-4C00-ACC3-BFF1D3F791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431F2612-D0AC-4C93-AC29-A8A2BA3A310E}"/>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8899A1-F17D-4936-B0E6-D701B41CB22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E97361E-11E1-4EDF-8FE0-3588234AD78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prediction inputs and a measured target.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 simple model and compare prediction errors.</a:t>
            </a:r>
          </a:p>
        </p:txBody>
      </p:sp>
      <p:sp>
        <p:nvSpPr>
          <p:cNvPr id="7" name="">
            <a:extLst xmlns:a="http://schemas.openxmlformats.org/drawingml/2006/main">
              <a:ext uri="{FF2B5EF4-FFF2-40B4-BE49-F238E27FC236}">
                <a16:creationId xmlns:a16="http://schemas.microsoft.com/office/drawing/2014/main" id="{EC5DF557-1900-42EB-B563-D91660D5FE2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A194262-4B2F-41B9-9F64-AD97E1D9AE6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calculate one error and explain why evaluation needs unseen observations.</a:t>
            </a:r>
          </a:p>
        </p:txBody>
      </p:sp>
      <p:sp>
        <p:nvSpPr>
          <p:cNvPr id="9" name="">
            <a:extLst xmlns:a="http://schemas.openxmlformats.org/drawingml/2006/main">
              <a:ext uri="{FF2B5EF4-FFF2-40B4-BE49-F238E27FC236}">
                <a16:creationId xmlns:a16="http://schemas.microsoft.com/office/drawing/2014/main" id="{90686F64-AF0D-4BA7-9368-27E90031DE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a:t>
            </a:r>
          </a:p>
        </p:txBody>
      </p:sp>
    </p:spTree>
    <p:extLst>
      <p:ext uri="{BB962C8B-B14F-4D97-AF65-F5344CB8AC3E}">
        <p14:creationId xmlns:p14="http://schemas.microsoft.com/office/powerpoint/2010/main" val="14505566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1C02F34-1054-4DEF-B2A8-E13166F921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722F9E-5C4F-41F3-99ED-AB4604F666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A30626-A321-4013-9AA0-90E92B31CB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6954C2D0-C641-488F-ABD3-3FAB54F8CA0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F83BFF-F066-4960-93A5-2238CB83C72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Weeks 3–6 supplied Python, tables, cleaning and charts.</a:t>
            </a:r>
          </a:p>
        </p:txBody>
      </p:sp>
      <p:sp>
        <p:nvSpPr>
          <p:cNvPr id="6" name="">
            <a:extLst xmlns:a="http://schemas.openxmlformats.org/drawingml/2006/main">
              <a:ext uri="{FF2B5EF4-FFF2-40B4-BE49-F238E27FC236}">
                <a16:creationId xmlns:a16="http://schemas.microsoft.com/office/drawing/2014/main" id="{47B1FA03-75E2-4FB2-B985-71044448C6C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now use paired inputs and known answers to fit a prediction rule.</a:t>
            </a:r>
          </a:p>
        </p:txBody>
      </p:sp>
      <p:sp>
        <p:nvSpPr>
          <p:cNvPr id="7" name="">
            <a:extLst xmlns:a="http://schemas.openxmlformats.org/drawingml/2006/main">
              <a:ext uri="{FF2B5EF4-FFF2-40B4-BE49-F238E27FC236}">
                <a16:creationId xmlns:a16="http://schemas.microsoft.com/office/drawing/2014/main" id="{26725B53-1A0B-433A-A501-2DF46F6E25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a:t>
            </a:r>
          </a:p>
        </p:txBody>
      </p:sp>
    </p:spTree>
    <p:extLst>
      <p:ext uri="{BB962C8B-B14F-4D97-AF65-F5344CB8AC3E}">
        <p14:creationId xmlns:p14="http://schemas.microsoft.com/office/powerpoint/2010/main" val="1733720588"/>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4668D724-A7C7-43E8-ACFB-A915B232571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9B14C8F2-BBA7-41A8-91C6-AD8F89FB924A}"/>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32CAA5D0-1868-4430-9833-4A27900B4E7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E04C1299-C710-4567-82EF-29B706CC5377}"/>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ADFD4C17-7B52-447C-B040-3171B66C4ACE}"/>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model predicts a numerical engineering target from measurements available beforehand.</a:t>
            </a:r>
          </a:p>
        </p:txBody>
      </p:sp>
      <p:sp>
        <p:nvSpPr>
          <p:cNvPr id="6" name="">
            <a:extLst>
              <a:ext uri="{FF2B5EF4-FFF2-40B4-BE49-F238E27FC236}">
                <ns2:creationId id="{08075F2A-9745-4126-88C9-39CD553FB38D}"/>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These small invented datasets demonstrate the code. They cannot establish performance on real engineering data.</a:t>
            </a:r>
          </a:p>
        </p:txBody>
      </p:sp>
      <p:sp>
        <p:nvSpPr>
          <p:cNvPr id="7" name="">
            <a:extLst>
              <a:ext uri="{FF2B5EF4-FFF2-40B4-BE49-F238E27FC236}">
                <ns2:creationId id="{2B2F8A03-63A6-4E55-9024-4E306DDDB11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a:t>
            </a:r>
          </a:p>
        </p:txBody>
      </p:sp>
    </p:spTree>
    <p:extLst>
      <p:ext uri="{BB962C8B-B14F-4D97-AF65-F5344CB8AC3E}">
        <ns3:creationId val="17602431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183F617-885D-4EC2-AD75-CA8294D13A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F55B53-1F2D-4B9C-A656-2EDCCFE461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5FD91F-4DE7-4354-84D4-7643BEFF31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numerical prediction</a:t>
            </a:r>
          </a:p>
        </p:txBody>
      </p:sp>
      <p:sp>
        <p:nvSpPr>
          <p:cNvPr id="4" name="">
            <a:extLst xmlns:a="http://schemas.openxmlformats.org/drawingml/2006/main">
              <a:ext uri="{FF2B5EF4-FFF2-40B4-BE49-F238E27FC236}">
                <a16:creationId xmlns:a16="http://schemas.microsoft.com/office/drawing/2014/main" id="{85FCBBF1-E77C-44C7-AA77-D13D916363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82C28C3-CAB3-4CE5-B662-16412DC916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Regression predicts a number, such as cooling load in kW.</a:t>
            </a:r>
          </a:p>
        </p:txBody>
      </p:sp>
      <p:sp>
        <p:nvSpPr>
          <p:cNvPr id="6" name="">
            <a:extLst xmlns:a="http://schemas.openxmlformats.org/drawingml/2006/main">
              <a:ext uri="{FF2B5EF4-FFF2-40B4-BE49-F238E27FC236}">
                <a16:creationId xmlns:a16="http://schemas.microsoft.com/office/drawing/2014/main" id="{15E659BC-B30E-440B-BEDF-D9D954A4491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C081C3-6849-4FF5-85CF-A5A342D2796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is information available when predicting.</a:t>
            </a:r>
          </a:p>
        </p:txBody>
      </p:sp>
      <p:sp>
        <p:nvSpPr>
          <p:cNvPr id="8" name="">
            <a:extLst xmlns:a="http://schemas.openxmlformats.org/drawingml/2006/main">
              <a:ext uri="{FF2B5EF4-FFF2-40B4-BE49-F238E27FC236}">
                <a16:creationId xmlns:a16="http://schemas.microsoft.com/office/drawing/2014/main" id="{B1A30BE7-B6E2-44A6-AFDF-483940634756}"/>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D9C614-48A2-4832-B934-04E05DA3F06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is the measured answer used during training.</a:t>
            </a:r>
          </a:p>
        </p:txBody>
      </p:sp>
      <p:sp>
        <p:nvSpPr>
          <p:cNvPr id="10" name="">
            <a:extLst xmlns:a="http://schemas.openxmlformats.org/drawingml/2006/main">
              <a:ext uri="{FF2B5EF4-FFF2-40B4-BE49-F238E27FC236}">
                <a16:creationId xmlns:a16="http://schemas.microsoft.com/office/drawing/2014/main" id="{D142AFC9-260F-45DD-8A08-9A9F3AA8C73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01EA52D-43E5-4927-A826-FA15270058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Classification, next week, predicts a category.</a:t>
            </a:r>
          </a:p>
        </p:txBody>
      </p:sp>
      <p:sp>
        <p:nvSpPr>
          <p:cNvPr id="12" name="">
            <a:extLst xmlns:a="http://schemas.openxmlformats.org/drawingml/2006/main">
              <a:ext uri="{FF2B5EF4-FFF2-40B4-BE49-F238E27FC236}">
                <a16:creationId xmlns:a16="http://schemas.microsoft.com/office/drawing/2014/main" id="{9809E0E1-19BF-4207-B2B0-15B0A826D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a:t>
            </a:r>
          </a:p>
        </p:txBody>
      </p:sp>
    </p:spTree>
    <p:extLst>
      <p:ext uri="{BB962C8B-B14F-4D97-AF65-F5344CB8AC3E}">
        <p14:creationId xmlns:p14="http://schemas.microsoft.com/office/powerpoint/2010/main" val="12022636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741703B-7B36-4ADB-BAF3-E58F4A970E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266B06-4F0F-49AD-A340-DD3B252221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E2A88EB-9259-4DE5-BFE1-A21D1A0FE0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Feature and target and Training validation and test</a:t>
            </a:r>
          </a:p>
        </p:txBody>
      </p:sp>
      <p:sp>
        <p:nvSpPr>
          <p:cNvPr id="4" name="">
            <a:extLst xmlns:a="http://schemas.openxmlformats.org/drawingml/2006/main">
              <a:ext uri="{FF2B5EF4-FFF2-40B4-BE49-F238E27FC236}">
                <a16:creationId xmlns:a16="http://schemas.microsoft.com/office/drawing/2014/main" id="{1ACBFC23-54A2-4B15-B1F1-B5F97831070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DC0C51-02E3-4800-A410-025E2697092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Feature and target</a:t>
            </a:r>
          </a:p>
        </p:txBody>
      </p:sp>
      <p:sp>
        <p:nvSpPr>
          <p:cNvPr id="6" name="">
            <a:extLst xmlns:a="http://schemas.openxmlformats.org/drawingml/2006/main">
              <a:ext uri="{FF2B5EF4-FFF2-40B4-BE49-F238E27FC236}">
                <a16:creationId xmlns:a16="http://schemas.microsoft.com/office/drawing/2014/main" id="{9C069A08-C2D1-44B4-85F3-6A177D260CA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Features are inputs available when making a prediction. The target is the quantity we want to predict.</a:t>
            </a:r>
          </a:p>
        </p:txBody>
      </p:sp>
      <p:sp>
        <p:nvSpPr>
          <p:cNvPr id="7" name="">
            <a:extLst xmlns:a="http://schemas.openxmlformats.org/drawingml/2006/main">
              <a:ext uri="{FF2B5EF4-FFF2-40B4-BE49-F238E27FC236}">
                <a16:creationId xmlns:a16="http://schemas.microsoft.com/office/drawing/2014/main" id="{43A767ED-AF85-42A0-A89E-07415EA171D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CAEBD12-3E0A-4FA6-9F32-BCC5BACEFCD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Training validation and test</a:t>
            </a:r>
          </a:p>
        </p:txBody>
      </p:sp>
      <p:sp>
        <p:nvSpPr>
          <p:cNvPr id="9" name="">
            <a:extLst xmlns:a="http://schemas.openxmlformats.org/drawingml/2006/main">
              <a:ext uri="{FF2B5EF4-FFF2-40B4-BE49-F238E27FC236}">
                <a16:creationId xmlns:a16="http://schemas.microsoft.com/office/drawing/2014/main" id="{BD211343-F042-440F-B964-B89A26CAFBB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Training fits the model. Validation helps choose it. The final test estimates performance after choices are fixed. Repeated equipment must stay in the same partition when assessing unseen equipment.</a:t>
            </a:r>
          </a:p>
        </p:txBody>
      </p:sp>
      <p:sp>
        <p:nvSpPr>
          <p:cNvPr id="10" name="">
            <a:extLst xmlns:a="http://schemas.openxmlformats.org/drawingml/2006/main">
              <a:ext uri="{FF2B5EF4-FFF2-40B4-BE49-F238E27FC236}">
                <a16:creationId xmlns:a16="http://schemas.microsoft.com/office/drawing/2014/main" id="{F4347E7F-4BD6-4764-86D1-D90F52AB1E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a:t>
            </a:r>
          </a:p>
        </p:txBody>
      </p:sp>
    </p:spTree>
    <p:extLst>
      <p:ext uri="{BB962C8B-B14F-4D97-AF65-F5344CB8AC3E}">
        <p14:creationId xmlns:p14="http://schemas.microsoft.com/office/powerpoint/2010/main" val="14736097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FBB07A-218C-41A2-9099-28A19B7429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09CB62-73B9-4C7F-B445-A981E410BB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3CCFBF8-C2D2-4300-AFB3-7BD45A4C6E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a:t>
            </a:r>
          </a:p>
        </p:txBody>
      </p:sp>
      <p:sp>
        <p:nvSpPr>
          <p:cNvPr id="4" name="">
            <a:extLst xmlns:a="http://schemas.openxmlformats.org/drawingml/2006/main">
              <a:ext uri="{FF2B5EF4-FFF2-40B4-BE49-F238E27FC236}">
                <a16:creationId xmlns:a16="http://schemas.microsoft.com/office/drawing/2014/main" id="{0878D408-F743-46A0-BCB6-0CC53422FCE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B0C5DD-82A6-4DA7-91E4-F7441E5B8C95}"/>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Baseline</a:t>
            </a:r>
          </a:p>
        </p:txBody>
      </p:sp>
      <p:sp>
        <p:nvSpPr>
          <p:cNvPr id="6" name="">
            <a:extLst xmlns:a="http://schemas.openxmlformats.org/drawingml/2006/main">
              <a:ext uri="{FF2B5EF4-FFF2-40B4-BE49-F238E27FC236}">
                <a16:creationId xmlns:a16="http://schemas.microsoft.com/office/drawing/2014/main" id="{50856FC2-B609-44AB-A7EA-8D2A2F40AAD3}"/>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simple reference prediction. A training-mean baseline predicts the same training mean for every new example.</a:t>
            </a:r>
          </a:p>
        </p:txBody>
      </p:sp>
      <p:sp>
        <p:nvSpPr>
          <p:cNvPr id="7" name="">
            <a:extLst xmlns:a="http://schemas.openxmlformats.org/drawingml/2006/main">
              <a:ext uri="{FF2B5EF4-FFF2-40B4-BE49-F238E27FC236}">
                <a16:creationId xmlns:a16="http://schemas.microsoft.com/office/drawing/2014/main" id="{EC81E5C9-5BF0-473E-8FD1-D44B00DAB9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7</a:t>
            </a:r>
          </a:p>
        </p:txBody>
      </p:sp>
    </p:spTree>
    <p:extLst>
      <p:ext uri="{BB962C8B-B14F-4D97-AF65-F5344CB8AC3E}">
        <p14:creationId xmlns:p14="http://schemas.microsoft.com/office/powerpoint/2010/main" val="14439817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3A589A-5F8E-467D-8DA9-CAFCCBCFD3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7A47726-605E-48FA-92C4-6F751E6FA3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CC58101-C193-46BF-AA71-CD33737D7E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Linear model and tree</a:t>
            </a:r>
          </a:p>
        </p:txBody>
      </p:sp>
      <p:sp>
        <p:nvSpPr>
          <p:cNvPr id="4" name="">
            <a:extLst xmlns:a="http://schemas.openxmlformats.org/drawingml/2006/main">
              <a:ext uri="{FF2B5EF4-FFF2-40B4-BE49-F238E27FC236}">
                <a16:creationId xmlns:a16="http://schemas.microsoft.com/office/drawing/2014/main" id="{6670F1DA-80EA-4715-8C09-81174706B522}"/>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F0E5FF-9533-4668-A3E6-D5E13FBABAE8}"/>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Linear model and tree</a:t>
            </a:r>
          </a:p>
        </p:txBody>
      </p:sp>
      <p:sp>
        <p:nvSpPr>
          <p:cNvPr id="6" name="">
            <a:extLst xmlns:a="http://schemas.openxmlformats.org/drawingml/2006/main">
              <a:ext uri="{FF2B5EF4-FFF2-40B4-BE49-F238E27FC236}">
                <a16:creationId xmlns:a16="http://schemas.microsoft.com/office/drawing/2014/main" id="{0AA512A9-C78F-4156-8CA9-21741E4FAAC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linear model combines inputs with learned weights. A regression tree asks feature-threshold questions and predicts a value at each leaf.</a:t>
            </a:r>
          </a:p>
        </p:txBody>
      </p:sp>
      <p:sp>
        <p:nvSpPr>
          <p:cNvPr id="7" name="">
            <a:extLst xmlns:a="http://schemas.openxmlformats.org/drawingml/2006/main">
              <a:ext uri="{FF2B5EF4-FFF2-40B4-BE49-F238E27FC236}">
                <a16:creationId xmlns:a16="http://schemas.microsoft.com/office/drawing/2014/main" id="{EF12CCA1-725D-4A2D-82DE-0BA63B4DA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8</a:t>
            </a:r>
          </a:p>
        </p:txBody>
      </p:sp>
    </p:spTree>
    <p:extLst>
      <p:ext uri="{BB962C8B-B14F-4D97-AF65-F5344CB8AC3E}">
        <p14:creationId xmlns:p14="http://schemas.microsoft.com/office/powerpoint/2010/main" val="109840857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1D53CC-CD3A-42FC-BCE1-31598CA30F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C8AC0F-08D5-45A3-BC92-3B6BDCD3B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1232D0-216B-48A9-889B-C56B7EA369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learning means in this example</a:t>
            </a:r>
          </a:p>
        </p:txBody>
      </p:sp>
      <p:sp>
        <p:nvSpPr>
          <p:cNvPr id="4" name="">
            <a:extLst xmlns:a="http://schemas.openxmlformats.org/drawingml/2006/main">
              <a:ext uri="{FF2B5EF4-FFF2-40B4-BE49-F238E27FC236}">
                <a16:creationId xmlns:a16="http://schemas.microsoft.com/office/drawing/2014/main" id="{6B9A6510-CE97-4A7C-B7DB-C1C8CE55523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DE6308-4F9C-46A0-833E-6BE8AAEE14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supplies inputs and their known answers.</a:t>
            </a:r>
          </a:p>
        </p:txBody>
      </p:sp>
      <p:sp>
        <p:nvSpPr>
          <p:cNvPr id="6" name="">
            <a:extLst xmlns:a="http://schemas.openxmlformats.org/drawingml/2006/main">
              <a:ext uri="{FF2B5EF4-FFF2-40B4-BE49-F238E27FC236}">
                <a16:creationId xmlns:a16="http://schemas.microsoft.com/office/drawing/2014/main" id="{3B341A86-6F60-4415-B1D7-D803845A59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D1D4D7-163B-4A23-8C79-B5156CD52A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model uses those examples to choose its internal numbers.</a:t>
            </a:r>
          </a:p>
        </p:txBody>
      </p:sp>
      <p:sp>
        <p:nvSpPr>
          <p:cNvPr id="8" name="">
            <a:extLst xmlns:a="http://schemas.openxmlformats.org/drawingml/2006/main">
              <a:ext uri="{FF2B5EF4-FFF2-40B4-BE49-F238E27FC236}">
                <a16:creationId xmlns:a16="http://schemas.microsoft.com/office/drawing/2014/main" id="{E69E5E4C-EBA1-49BB-A8B3-C693389672D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8A59C7-E8D7-432F-B531-C48FA466D72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Prediction applies the fitted model to inputs whose answer we want to estimate.</a:t>
            </a:r>
          </a:p>
        </p:txBody>
      </p:sp>
      <p:sp>
        <p:nvSpPr>
          <p:cNvPr id="10" name="">
            <a:extLst xmlns:a="http://schemas.openxmlformats.org/drawingml/2006/main">
              <a:ext uri="{FF2B5EF4-FFF2-40B4-BE49-F238E27FC236}">
                <a16:creationId xmlns:a16="http://schemas.microsoft.com/office/drawing/2014/main" id="{10F39567-74B5-4939-9BE5-3F1D6ACC77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9</a:t>
            </a:r>
          </a:p>
        </p:txBody>
      </p:sp>
    </p:spTree>
    <p:extLst>
      <p:ext uri="{BB962C8B-B14F-4D97-AF65-F5344CB8AC3E}">
        <p14:creationId xmlns:p14="http://schemas.microsoft.com/office/powerpoint/2010/main" val="5847926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B4DA42-B307-411F-A6A3-F59B6D131C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09DB69-4129-430D-AD90-6D41259209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2C45A82-CBF6-4353-8E55-5B40FB2B17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observations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Input</a:t>
                      </a:r>
                    </a:p>
                  </a:txBody>
                  <a:tcPr marL="91440" marR="91440" marT="45720" marB="45720">
                    <a:solidFill>
                      <a:srgbClr val="2E7D6F"/>
                    </a:solidFill>
                  </a:tcPr>
                </a:tc>
                <a:tc>
                  <a:txBody>
                    <a:bodyPr/>
                    <a:lstStyle/>
                    <a:p>
                      <a:r>
                        <a:rPr sz="2025" b="1">
                          <a:solidFill>
                            <a:srgbClr val="FFFFFF"/>
                          </a:solidFill>
                          <a:latin typeface="Calibri"/>
                          <a:ea typeface="Calibri"/>
                          <a:cs typeface="Calibri"/>
                        </a:rPr>
                        <a:t>Measured target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12</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14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16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18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FF2F47F-4B01-4AB8-AC20-35955B5E6351}"/>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numbers for learning.</a:t>
            </a:r>
          </a:p>
        </p:txBody>
      </p:sp>
      <p:sp>
        <p:nvSpPr>
          <p:cNvPr id="6" name="">
            <a:extLst xmlns:a="http://schemas.openxmlformats.org/drawingml/2006/main">
              <a:ext uri="{FF2B5EF4-FFF2-40B4-BE49-F238E27FC236}">
                <a16:creationId xmlns:a16="http://schemas.microsoft.com/office/drawing/2014/main" id="{0B38EC9C-2009-4663-BAFC-33659F3539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10</a:t>
            </a:r>
          </a:p>
        </p:txBody>
      </p:sp>
    </p:spTree>
    <p:extLst>
      <p:ext uri="{BB962C8B-B14F-4D97-AF65-F5344CB8AC3E}">
        <p14:creationId xmlns:p14="http://schemas.microsoft.com/office/powerpoint/2010/main" val="154027940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AB755B5-1F58-4E6B-8111-E5FB32509C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476A3E-2714-4BA7-8080-5C630CCDF6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CCFC1F-27B7-4E63-AA9B-23CB16E562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 is a numerical rule</a:t>
            </a:r>
          </a:p>
        </p:txBody>
      </p:sp>
      <p:sp>
        <p:nvSpPr>
          <p:cNvPr id="4" name="">
            <a:extLst xmlns:a="http://schemas.openxmlformats.org/drawingml/2006/main">
              <a:ext uri="{FF2B5EF4-FFF2-40B4-BE49-F238E27FC236}">
                <a16:creationId xmlns:a16="http://schemas.microsoft.com/office/drawing/2014/main" id="{9773EA59-7D58-4C7A-8BBE-5090EF4E40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027B148-2017-4C2B-BF96-C12B68FBBE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invented observations, target = 2 × input + 10 matches all four points. 2 is the slope; 10 is the intercept, the value at input zero.</a:t>
            </a:r>
          </a:p>
        </p:txBody>
      </p:sp>
      <p:sp>
        <p:nvSpPr>
          <p:cNvPr id="6" name="">
            <a:extLst xmlns:a="http://schemas.openxmlformats.org/drawingml/2006/main">
              <a:ext uri="{FF2B5EF4-FFF2-40B4-BE49-F238E27FC236}">
                <a16:creationId xmlns:a16="http://schemas.microsoft.com/office/drawing/2014/main" id="{4263B249-0825-4693-9412-F8323BA1AEE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0331C2-2733-4494-ABAE-7CFDD8E0F7F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prediction error is the difference between a prediction and the measured answer. A vertical gap in the picture shows that error.</a:t>
            </a:r>
          </a:p>
        </p:txBody>
      </p:sp>
      <p:sp>
        <p:nvSpPr>
          <p:cNvPr id="8" name="">
            <a:extLst xmlns:a="http://schemas.openxmlformats.org/drawingml/2006/main">
              <a:ext uri="{FF2B5EF4-FFF2-40B4-BE49-F238E27FC236}">
                <a16:creationId xmlns:a16="http://schemas.microsoft.com/office/drawing/2014/main" id="{2A1B6B79-BAD3-4224-A66F-753B135811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145E4D4-82EA-401A-8903-510E1D0A86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Fitting chooses the slope and intercept to minimise summed squared errors. Squaring means multiplying an error by itself; a small training error still needs an unseen-data check.</a:t>
            </a:r>
          </a:p>
        </p:txBody>
      </p:sp>
      <p:sp>
        <p:nvSpPr>
          <p:cNvPr id="10" name="">
            <a:extLst xmlns:a="http://schemas.openxmlformats.org/drawingml/2006/main">
              <a:ext uri="{FF2B5EF4-FFF2-40B4-BE49-F238E27FC236}">
                <a16:creationId xmlns:a16="http://schemas.microsoft.com/office/drawing/2014/main" id="{354670D4-2BD3-453F-8910-ED17B56FF4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11</a:t>
            </a:r>
          </a:p>
        </p:txBody>
      </p:sp>
    </p:spTree>
    <p:extLst>
      <p:ext uri="{BB962C8B-B14F-4D97-AF65-F5344CB8AC3E}">
        <p14:creationId xmlns:p14="http://schemas.microsoft.com/office/powerpoint/2010/main" val="120978160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C7F8C0-BF79-4E29-BDEA-50B3427C2E2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431497-B274-471E-B9CA-5CDA6EE50AD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bacc85ec836e42b2"/>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4B2207A-9CE4-4BAE-8968-A9C855641DCF}"/>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3C9137-7686-4752-AE22-D64516131A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B6F9B621-6D01-4231-8C00-221FA93B4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12</a:t>
            </a:r>
          </a:p>
        </p:txBody>
      </p:sp>
    </p:spTree>
    <p:extLst>
      <p:ext uri="{BB962C8B-B14F-4D97-AF65-F5344CB8AC3E}">
        <p14:creationId xmlns:p14="http://schemas.microsoft.com/office/powerpoint/2010/main" val="7270833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046D61-3FE7-42B7-A898-0609478AA2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9E9BF7F-DFD5-4A03-89FD-D40055ED2B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A1EE20-2F93-4212-9542-9490C0DDC6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must stay paired with their answers</a:t>
            </a:r>
          </a:p>
        </p:txBody>
      </p:sp>
      <p:sp>
        <p:nvSpPr>
          <p:cNvPr id="4" name="">
            <a:extLst xmlns:a="http://schemas.openxmlformats.org/drawingml/2006/main">
              <a:ext uri="{FF2B5EF4-FFF2-40B4-BE49-F238E27FC236}">
                <a16:creationId xmlns:a16="http://schemas.microsoft.com/office/drawing/2014/main" id="{DC2BEE0D-55D2-413B-B396-0DD6DD68E28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EC3ACD3-F634-4CBD-9627-3DDA68A6E1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in X_train is one observation.</a:t>
            </a:r>
          </a:p>
        </p:txBody>
      </p:sp>
      <p:sp>
        <p:nvSpPr>
          <p:cNvPr id="6" name="">
            <a:extLst xmlns:a="http://schemas.openxmlformats.org/drawingml/2006/main">
              <a:ext uri="{FF2B5EF4-FFF2-40B4-BE49-F238E27FC236}">
                <a16:creationId xmlns:a16="http://schemas.microsoft.com/office/drawing/2014/main" id="{B8B22FC5-85AD-4F24-A303-2DE8EEB194A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04FB8D-7BF8-4658-9E52-23A42FD73FE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y_train contains one target value for each row, in the same order.</a:t>
            </a:r>
          </a:p>
        </p:txBody>
      </p:sp>
      <p:sp>
        <p:nvSpPr>
          <p:cNvPr id="8" name="">
            <a:extLst xmlns:a="http://schemas.openxmlformats.org/drawingml/2006/main">
              <a:ext uri="{FF2B5EF4-FFF2-40B4-BE49-F238E27FC236}">
                <a16:creationId xmlns:a16="http://schemas.microsoft.com/office/drawing/2014/main" id="{29E2E012-943D-4633-BA63-D590AA38C05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BEBED1-711C-4BA6-A9B9-E98DED3B1B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Changing the order of only one list attaches answers to the wrong observations.</a:t>
            </a:r>
          </a:p>
        </p:txBody>
      </p:sp>
      <p:sp>
        <p:nvSpPr>
          <p:cNvPr id="10" name="">
            <a:extLst xmlns:a="http://schemas.openxmlformats.org/drawingml/2006/main">
              <a:ext uri="{FF2B5EF4-FFF2-40B4-BE49-F238E27FC236}">
                <a16:creationId xmlns:a16="http://schemas.microsoft.com/office/drawing/2014/main" id="{8A0E88A4-9032-4919-8AA6-6BE2466E4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13</a:t>
            </a:r>
          </a:p>
        </p:txBody>
      </p:sp>
    </p:spTree>
    <p:extLst>
      <p:ext uri="{BB962C8B-B14F-4D97-AF65-F5344CB8AC3E}">
        <p14:creationId xmlns:p14="http://schemas.microsoft.com/office/powerpoint/2010/main" val="194756228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26DE01-4FE1-4ADF-AC46-C9A317F253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B6236D-F6BA-4739-9D94-BA16EA06C8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7A964F-7404-4D24-9129-810FAFF684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matrix is a rectangular table of numbers</a:t>
            </a:r>
          </a:p>
        </p:txBody>
      </p:sp>
      <p:sp>
        <p:nvSpPr>
          <p:cNvPr id="4" name="">
            <a:extLst xmlns:a="http://schemas.openxmlformats.org/drawingml/2006/main">
              <a:ext uri="{FF2B5EF4-FFF2-40B4-BE49-F238E27FC236}">
                <a16:creationId xmlns:a16="http://schemas.microsoft.com/office/drawing/2014/main" id="{A3330BC2-6FBA-414D-8822-6E7BB0E8C18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E136B5-453D-4533-8CD1-1B6B00F4619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matrix has rows and columns. For modelling, one row is one observation and each column is one input feature.</a:t>
            </a:r>
          </a:p>
        </p:txBody>
      </p:sp>
      <p:sp>
        <p:nvSpPr>
          <p:cNvPr id="6" name="">
            <a:extLst xmlns:a="http://schemas.openxmlformats.org/drawingml/2006/main">
              <a:ext uri="{FF2B5EF4-FFF2-40B4-BE49-F238E27FC236}">
                <a16:creationId xmlns:a16="http://schemas.microsoft.com/office/drawing/2014/main" id="{545E2CEE-20F1-4B0B-B4B0-FD261C6A0E7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944548-9803-4ED3-8E1F-33E8E731A4A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20], [2, 22]] has two rows and two columns. The outer list contains rows; each inner list contains that row’s features.</a:t>
            </a:r>
          </a:p>
        </p:txBody>
      </p:sp>
      <p:sp>
        <p:nvSpPr>
          <p:cNvPr id="8" name="">
            <a:extLst xmlns:a="http://schemas.openxmlformats.org/drawingml/2006/main">
              <a:ext uri="{FF2B5EF4-FFF2-40B4-BE49-F238E27FC236}">
                <a16:creationId xmlns:a16="http://schemas.microsoft.com/office/drawing/2014/main" id="{E0C2865D-161E-4C28-A232-BD33387AC89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7EA753-1D0E-432F-8E33-F906D07897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 is a conventional name for this input table. y holds one known target per row. These names have no special power in Python.</a:t>
            </a:r>
          </a:p>
        </p:txBody>
      </p:sp>
      <p:sp>
        <p:nvSpPr>
          <p:cNvPr id="10" name="">
            <a:extLst xmlns:a="http://schemas.openxmlformats.org/drawingml/2006/main">
              <a:ext uri="{FF2B5EF4-FFF2-40B4-BE49-F238E27FC236}">
                <a16:creationId xmlns:a16="http://schemas.microsoft.com/office/drawing/2014/main" id="{0797CEEF-7E62-4A85-A5E0-45E7768B6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14</a:t>
            </a:r>
          </a:p>
        </p:txBody>
      </p:sp>
    </p:spTree>
    <p:extLst>
      <p:ext uri="{BB962C8B-B14F-4D97-AF65-F5344CB8AC3E}">
        <p14:creationId xmlns:p14="http://schemas.microsoft.com/office/powerpoint/2010/main" val="155108250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535B573-0041-4E67-A7BD-597FF76E2D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4E62E94-5497-4528-A7A1-277094710C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E7516AD-DC29-4220-B959-A7079A650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and arrays before model code</a:t>
            </a:r>
          </a:p>
        </p:txBody>
      </p:sp>
      <p:sp>
        <p:nvSpPr>
          <p:cNvPr id="4" name="">
            <a:extLst xmlns:a="http://schemas.openxmlformats.org/drawingml/2006/main">
              <a:ext uri="{FF2B5EF4-FFF2-40B4-BE49-F238E27FC236}">
                <a16:creationId xmlns:a16="http://schemas.microsoft.com/office/drawing/2014/main" id="{640F9C51-5D39-4F71-B22E-208556EF39F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DCB6C14-5175-4F62-9BA6-2DAEE2663D9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Nested lists</a:t>
            </a:r>
          </a:p>
        </p:txBody>
      </p:sp>
      <p:sp>
        <p:nvSpPr>
          <p:cNvPr id="6" name="">
            <a:extLst xmlns:a="http://schemas.openxmlformats.org/drawingml/2006/main">
              <a:ext uri="{FF2B5EF4-FFF2-40B4-BE49-F238E27FC236}">
                <a16:creationId xmlns:a16="http://schemas.microsoft.com/office/drawing/2014/main" id="{E38C506E-C54C-44F0-A867-B8D383E6F46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[[1], [2], [3]] has three inner lists: three rows with one feature each. [12, 14, 16] has one target per row in the same order.</a:t>
            </a:r>
          </a:p>
        </p:txBody>
      </p:sp>
      <p:sp>
        <p:nvSpPr>
          <p:cNvPr id="7" name="">
            <a:extLst xmlns:a="http://schemas.openxmlformats.org/drawingml/2006/main">
              <a:ext uri="{FF2B5EF4-FFF2-40B4-BE49-F238E27FC236}">
                <a16:creationId xmlns:a16="http://schemas.microsoft.com/office/drawing/2014/main" id="{B0FC46D6-2011-4205-83A7-414E45CFA42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7CB7766-3602-44C6-9813-798399C8A15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NumPy and array</a:t>
            </a:r>
          </a:p>
        </p:txBody>
      </p:sp>
      <p:sp>
        <p:nvSpPr>
          <p:cNvPr id="9" name="">
            <a:extLst xmlns:a="http://schemas.openxmlformats.org/drawingml/2006/main">
              <a:ext uri="{FF2B5EF4-FFF2-40B4-BE49-F238E27FC236}">
                <a16:creationId xmlns:a16="http://schemas.microsoft.com/office/drawing/2014/main" id="{15839336-1FC8-4917-868E-F80722F531B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NumPy is a numerical library; np is its short imported name. np.array(...) builds an array. shape reports its dimensions. np.nan represents a missing numerical value.</a:t>
            </a:r>
          </a:p>
        </p:txBody>
      </p:sp>
      <p:sp>
        <p:nvSpPr>
          <p:cNvPr id="10" name="">
            <a:extLst xmlns:a="http://schemas.openxmlformats.org/drawingml/2006/main">
              <a:ext uri="{FF2B5EF4-FFF2-40B4-BE49-F238E27FC236}">
                <a16:creationId xmlns:a16="http://schemas.microsoft.com/office/drawing/2014/main" id="{6A6E0EA5-A711-49A5-8F61-FA4E916C4A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15</a:t>
            </a:r>
          </a:p>
        </p:txBody>
      </p:sp>
    </p:spTree>
    <p:extLst>
      <p:ext uri="{BB962C8B-B14F-4D97-AF65-F5344CB8AC3E}">
        <p14:creationId xmlns:p14="http://schemas.microsoft.com/office/powerpoint/2010/main" val="110262728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1E3272-8D55-4F42-A6CE-6E7F2277CE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4EE887-60CA-4F28-969D-A33AA7BE77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B9F2B4B-A984-4AE3-A876-682499BEF0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NumPy results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17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17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1725" b="0">
                          <a:solidFill>
                            <a:srgbClr val="1C3144"/>
                          </a:solidFill>
                          <a:latin typeface="Calibri"/>
                          <a:ea typeface="Calibri"/>
                          <a:cs typeface="Calibri"/>
                        </a:rPr>
                        <a:t>np.nan</a:t>
                      </a:r>
                    </a:p>
                  </a:txBody>
                  <a:tcPr marL="91440" marR="91440" marT="45720" marB="45720">
                    <a:solidFill>
                      <a:srgbClr val="EEF3F6"/>
                    </a:solidFill>
                  </a:tcPr>
                </a:tc>
                <a:tc>
                  <a:txBody>
                    <a:bodyPr/>
                    <a:lstStyle/>
                    <a:p>
                      <a:r>
                        <a:rPr sz="1725" b="0">
                          <a:solidFill>
                            <a:srgbClr val="1C3144"/>
                          </a:solidFill>
                          <a:latin typeface="Calibri"/>
                          <a:ea typeface="Calibri"/>
                          <a:cs typeface="Calibri"/>
                        </a:rPr>
                        <a:t>A missing numeric value marker</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X.shape</a:t>
                      </a:r>
                    </a:p>
                  </a:txBody>
                  <a:tcPr marL="91440" marR="91440" marT="45720" marB="45720">
                    <a:solidFill>
                      <a:srgbClr val="FFFFFF"/>
                    </a:solidFill>
                  </a:tcPr>
                </a:tc>
                <a:tc>
                  <a:txBody>
                    <a:bodyPr/>
                    <a:lstStyle/>
                    <a:p>
                      <a:r>
                        <a:rPr sz="1725" b="0">
                          <a:solidFill>
                            <a:srgbClr val="1C3144"/>
                          </a:solidFill>
                          <a:latin typeface="Calibri"/>
                          <a:ea typeface="Calibri"/>
                          <a:cs typeface="Calibri"/>
                        </a:rPr>
                        <a:t>The array dimensions: rows, columns</a:t>
                      </a:r>
                    </a:p>
                  </a:txBody>
                  <a:tcPr marL="91440" marR="91440" marT="45720" marB="45720">
                    <a:solidFill>
                      <a:srgbClr val="FFFFFF"/>
                    </a:solidFill>
                  </a:tcPr>
                </a:tc>
              </a:tr>
              <a:tr h="666750">
                <a:tc>
                  <a:txBody>
                    <a:bodyPr/>
                    <a:lstStyle/>
                    <a:p>
                      <a:r>
                        <a:rPr sz="1725" b="0">
                          <a:solidFill>
                            <a:srgbClr val="1C3144"/>
                          </a:solidFill>
                          <a:latin typeface="Calibri"/>
                          <a:ea typeface="Calibri"/>
                          <a:cs typeface="Calibri"/>
                        </a:rPr>
                        <a:t>predictions.round(2)</a:t>
                      </a:r>
                    </a:p>
                  </a:txBody>
                  <a:tcPr marL="91440" marR="91440" marT="45720" marB="45720">
                    <a:solidFill>
                      <a:srgbClr val="EEF3F6"/>
                    </a:solidFill>
                  </a:tcPr>
                </a:tc>
                <a:tc>
                  <a:txBody>
                    <a:bodyPr/>
                    <a:lstStyle/>
                    <a:p>
                      <a:r>
                        <a:rPr sz="1725" b="0">
                          <a:solidFill>
                            <a:srgbClr val="1C3144"/>
                          </a:solidFill>
                          <a:latin typeface="Calibri"/>
                          <a:ea typeface="Calibri"/>
                          <a:cs typeface="Calibri"/>
                        </a:rPr>
                        <a:t>Round a new array to two decimal places</a:t>
                      </a:r>
                    </a:p>
                  </a:txBody>
                  <a:tcPr marL="91440" marR="91440" marT="45720" marB="45720">
                    <a:solidFill>
                      <a:srgbClr val="EEF3F6"/>
                    </a:solidFill>
                  </a:tcPr>
                </a:tc>
              </a:tr>
              <a:tr h="666750">
                <a:tc>
                  <a:txBody>
                    <a:bodyPr/>
                    <a:lstStyle/>
                    <a:p>
                      <a:r>
                        <a:rPr sz="1725" b="0">
                          <a:solidFill>
                            <a:srgbClr val="1C3144"/>
                          </a:solidFill>
                          <a:latin typeface="Calibri"/>
                          <a:ea typeface="Calibri"/>
                          <a:cs typeface="Calibri"/>
                        </a:rPr>
                        <a:t>predictions.tolist()</a:t>
                      </a:r>
                    </a:p>
                  </a:txBody>
                  <a:tcPr marL="91440" marR="91440" marT="45720" marB="45720">
                    <a:solidFill>
                      <a:srgbClr val="FFFFFF"/>
                    </a:solidFill>
                  </a:tcPr>
                </a:tc>
                <a:tc>
                  <a:txBody>
                    <a:bodyPr/>
                    <a:lstStyle/>
                    <a:p>
                      <a:r>
                        <a:rPr sz="1725" b="0">
                          <a:solidFill>
                            <a:srgbClr val="1C3144"/>
                          </a:solidFill>
                          <a:latin typeface="Calibri"/>
                          <a:ea typeface="Calibri"/>
                          <a:cs typeface="Calibri"/>
                        </a:rPr>
                        <a:t>Convert the array into a Python list</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CBDF665-33EE-4309-874B-9943A25B627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Use rounded values only for a labelled display. Keep full precision when the assignment requires it.</a:t>
            </a:r>
          </a:p>
        </p:txBody>
      </p:sp>
      <p:sp>
        <p:nvSpPr>
          <p:cNvPr id="6" name="">
            <a:extLst xmlns:a="http://schemas.openxmlformats.org/drawingml/2006/main">
              <a:ext uri="{FF2B5EF4-FFF2-40B4-BE49-F238E27FC236}">
                <a16:creationId xmlns:a16="http://schemas.microsoft.com/office/drawing/2014/main" id="{ADBA5413-5F70-4DB8-8A61-58930D9D48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16</a:t>
            </a:r>
          </a:p>
        </p:txBody>
      </p:sp>
    </p:spTree>
    <p:extLst>
      <p:ext uri="{BB962C8B-B14F-4D97-AF65-F5344CB8AC3E}">
        <p14:creationId xmlns:p14="http://schemas.microsoft.com/office/powerpoint/2010/main" val="21909712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7A4304-BDB4-4D7A-8FED-5D19582EE9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DB1ABC-F59E-4A87-8159-C5B9FBE6DA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10A0-BB93-4838-A11A-B9A4DAB6F8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an array before reading its shape</a:t>
            </a:r>
          </a:p>
        </p:txBody>
      </p:sp>
      <p:sp>
        <p:nvSpPr>
          <p:cNvPr id="4" name="">
            <a:extLst xmlns:a="http://schemas.openxmlformats.org/drawingml/2006/main">
              <a:ext uri="{FF2B5EF4-FFF2-40B4-BE49-F238E27FC236}">
                <a16:creationId xmlns:a16="http://schemas.microsoft.com/office/drawing/2014/main" id="{CB83ACE1-1DEC-4BE4-8989-83F178076D9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CD79D5-5E56-424C-94A4-61BD92C5336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NumPy is a library for numerical arrays. import numpy as np makes its tools available through the name np.</a:t>
            </a:r>
          </a:p>
        </p:txBody>
      </p:sp>
      <p:sp>
        <p:nvSpPr>
          <p:cNvPr id="6" name="">
            <a:extLst xmlns:a="http://schemas.openxmlformats.org/drawingml/2006/main">
              <a:ext uri="{FF2B5EF4-FFF2-40B4-BE49-F238E27FC236}">
                <a16:creationId xmlns:a16="http://schemas.microsoft.com/office/drawing/2014/main" id="{1227EEBD-FCCE-410F-A90C-8DD4CA9205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550135-79CF-42B1-8D06-B645815A096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array stores a regular arrangement of values. np.array([[1], [2], [3]]) creates three rows with one value in each.</a:t>
            </a:r>
          </a:p>
        </p:txBody>
      </p:sp>
      <p:sp>
        <p:nvSpPr>
          <p:cNvPr id="8" name="">
            <a:extLst xmlns:a="http://schemas.openxmlformats.org/drawingml/2006/main">
              <a:ext uri="{FF2B5EF4-FFF2-40B4-BE49-F238E27FC236}">
                <a16:creationId xmlns:a16="http://schemas.microsoft.com/office/drawing/2014/main" id="{E89A4C3E-9D6E-46B2-AE6A-70FE2C25855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36AAC5-D271-41BE-8A15-4BA37C9D8FF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X.shape reports (3, 1): three rows, one column. np.array([12, 14, 16]) is one-dimensional; its shape is (3,). The comma marks a one-item tuple.</a:t>
            </a:r>
          </a:p>
        </p:txBody>
      </p:sp>
      <p:sp>
        <p:nvSpPr>
          <p:cNvPr id="10" name="">
            <a:extLst xmlns:a="http://schemas.openxmlformats.org/drawingml/2006/main">
              <a:ext uri="{FF2B5EF4-FFF2-40B4-BE49-F238E27FC236}">
                <a16:creationId xmlns:a16="http://schemas.microsoft.com/office/drawing/2014/main" id="{863BA46F-FAD1-4AF1-B3D8-BC785BA4EE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17</a:t>
            </a:r>
          </a:p>
        </p:txBody>
      </p:sp>
    </p:spTree>
    <p:extLst>
      <p:ext uri="{BB962C8B-B14F-4D97-AF65-F5344CB8AC3E}">
        <p14:creationId xmlns:p14="http://schemas.microsoft.com/office/powerpoint/2010/main" val="64980680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F08400F-05BF-445A-9192-3194C34802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38848F-5FEA-4FF9-9F1A-1E3EB05D6C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3731C36-DA67-48E3-85CF-2E49933D2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columns and named options</a:t>
            </a:r>
          </a:p>
        </p:txBody>
      </p:sp>
      <p:sp>
        <p:nvSpPr>
          <p:cNvPr id="4" name="">
            <a:extLst xmlns:a="http://schemas.openxmlformats.org/drawingml/2006/main">
              <a:ext uri="{FF2B5EF4-FFF2-40B4-BE49-F238E27FC236}">
                <a16:creationId xmlns:a16="http://schemas.microsoft.com/office/drawing/2014/main" id="{6BD100D9-802D-48C7-9DDF-30B7A0D28BC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E5A56B-E6A3-44D0-B242-BBA90EF481E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np.array([[1], [2],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np.array([12, 14,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print(y.shape)</a:t>
            </a:r>
          </a:p>
        </p:txBody>
      </p:sp>
      <p:sp>
        <p:nvSpPr>
          <p:cNvPr id="6" name="">
            <a:extLst xmlns:a="http://schemas.openxmlformats.org/drawingml/2006/main">
              <a:ext uri="{FF2B5EF4-FFF2-40B4-BE49-F238E27FC236}">
                <a16:creationId xmlns:a16="http://schemas.microsoft.com/office/drawing/2014/main" id="{42A2609F-7120-4908-A7D2-68F938C91EB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E757249-FF4E-4C93-83F3-DDD66417F22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E490EB62-31EA-4FE3-891D-1BF3B930050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DA46E076-E7C4-403C-927D-BBE78053C7D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F86F5DA6-B5B2-496D-B427-B6B61965EF8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X has three rows and one feature column. y has three target values.</a:t>
            </a:r>
          </a:p>
        </p:txBody>
      </p:sp>
      <p:sp>
        <p:nvSpPr>
          <p:cNvPr id="11" name="">
            <a:extLst xmlns:a="http://schemas.openxmlformats.org/drawingml/2006/main">
              <a:ext uri="{FF2B5EF4-FFF2-40B4-BE49-F238E27FC236}">
                <a16:creationId xmlns:a16="http://schemas.microsoft.com/office/drawing/2014/main" id="{A6AB6302-463C-4C20-BF15-C920B1C10A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18</a:t>
            </a:r>
          </a:p>
        </p:txBody>
      </p:sp>
    </p:spTree>
    <p:extLst>
      <p:ext uri="{BB962C8B-B14F-4D97-AF65-F5344CB8AC3E}">
        <p14:creationId xmlns:p14="http://schemas.microsoft.com/office/powerpoint/2010/main" val="20550575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9F966F-8831-4B97-AD1F-73B446520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443619-BAD1-4803-A832-A70557E243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145AAA6-29D2-4848-AEE6-62673B89FF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 and predict</a:t>
            </a:r>
          </a:p>
        </p:txBody>
      </p:sp>
      <p:sp>
        <p:nvSpPr>
          <p:cNvPr id="4" name="">
            <a:extLst xmlns:a="http://schemas.openxmlformats.org/drawingml/2006/main">
              <a:ext uri="{FF2B5EF4-FFF2-40B4-BE49-F238E27FC236}">
                <a16:creationId xmlns:a16="http://schemas.microsoft.com/office/drawing/2014/main" id="{43AFBCE1-B593-4C09-BB75-346B2FA6F8A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8E1A8-DB51-4DCF-8F4F-FA125DCC625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fit and predict</a:t>
            </a:r>
          </a:p>
        </p:txBody>
      </p:sp>
      <p:sp>
        <p:nvSpPr>
          <p:cNvPr id="6" name="">
            <a:extLst xmlns:a="http://schemas.openxmlformats.org/drawingml/2006/main">
              <a:ext uri="{FF2B5EF4-FFF2-40B4-BE49-F238E27FC236}">
                <a16:creationId xmlns:a16="http://schemas.microsoft.com/office/drawing/2014/main" id="{0D17CEBF-1922-4EF2-BD48-96E2146B5FA5}"/>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fit learns from training inputs and targets. predict uses the fitted rule on new inputs without receiving their true targets.</a:t>
            </a:r>
          </a:p>
        </p:txBody>
      </p:sp>
      <p:sp>
        <p:nvSpPr>
          <p:cNvPr id="7" name="">
            <a:extLst xmlns:a="http://schemas.openxmlformats.org/drawingml/2006/main">
              <a:ext uri="{FF2B5EF4-FFF2-40B4-BE49-F238E27FC236}">
                <a16:creationId xmlns:a16="http://schemas.microsoft.com/office/drawing/2014/main" id="{A3DEE6CC-DC40-46A4-9051-760937E950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19</a:t>
            </a:r>
          </a:p>
        </p:txBody>
      </p:sp>
    </p:spTree>
    <p:extLst>
      <p:ext uri="{BB962C8B-B14F-4D97-AF65-F5344CB8AC3E}">
        <p14:creationId xmlns:p14="http://schemas.microsoft.com/office/powerpoint/2010/main" val="162967845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EEDE45-8A37-4DD1-8D1C-85B2848EB6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EAAF98-7A16-4ED6-9D54-9C62295BB5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D75F43E-CEBF-47BC-96B8-2469D9AAC3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object keeps learned information</a:t>
            </a:r>
          </a:p>
        </p:txBody>
      </p:sp>
      <p:sp>
        <p:nvSpPr>
          <p:cNvPr id="4" name="">
            <a:extLst xmlns:a="http://schemas.openxmlformats.org/drawingml/2006/main">
              <a:ext uri="{FF2B5EF4-FFF2-40B4-BE49-F238E27FC236}">
                <a16:creationId xmlns:a16="http://schemas.microsoft.com/office/drawing/2014/main" id="{35141DAB-464E-4D32-AD59-D6D4CC8B515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81F377-C89D-4A4F-9BA9-CBB3BEF11E9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Object and method</a:t>
            </a:r>
          </a:p>
        </p:txBody>
      </p:sp>
      <p:sp>
        <p:nvSpPr>
          <p:cNvPr id="6" name="">
            <a:extLst xmlns:a="http://schemas.openxmlformats.org/drawingml/2006/main">
              <a:ext uri="{FF2B5EF4-FFF2-40B4-BE49-F238E27FC236}">
                <a16:creationId xmlns:a16="http://schemas.microsoft.com/office/drawing/2014/main" id="{18FA46EB-64E4-4C09-AE6E-88085C2A9DB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LinearRegression() creates a model object. A method is an operation on that object. model.fit(...) stores learned information; model.predict(...) uses it.</a:t>
            </a:r>
          </a:p>
        </p:txBody>
      </p:sp>
      <p:sp>
        <p:nvSpPr>
          <p:cNvPr id="7" name="">
            <a:extLst xmlns:a="http://schemas.openxmlformats.org/drawingml/2006/main">
              <a:ext uri="{FF2B5EF4-FFF2-40B4-BE49-F238E27FC236}">
                <a16:creationId xmlns:a16="http://schemas.microsoft.com/office/drawing/2014/main" id="{FEBA25D3-ECFC-45E1-8F85-0CB405E2726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72A562-3F4E-4E37-9283-5F8687C5EBC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Options</a:t>
            </a:r>
          </a:p>
        </p:txBody>
      </p:sp>
      <p:sp>
        <p:nvSpPr>
          <p:cNvPr id="9" name="">
            <a:extLst xmlns:a="http://schemas.openxmlformats.org/drawingml/2006/main">
              <a:ext uri="{FF2B5EF4-FFF2-40B4-BE49-F238E27FC236}">
                <a16:creationId xmlns:a16="http://schemas.microsoft.com/office/drawing/2014/main" id="{D8792C6F-6557-4726-AFE9-802DB7FBE5B1}"/>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argument such as strategy="mean" names an option. A random seed fixes the starting state of random choices; it does not prove that a model is accurate.</a:t>
            </a:r>
          </a:p>
        </p:txBody>
      </p:sp>
      <p:sp>
        <p:nvSpPr>
          <p:cNvPr id="10" name="">
            <a:extLst xmlns:a="http://schemas.openxmlformats.org/drawingml/2006/main">
              <a:ext uri="{FF2B5EF4-FFF2-40B4-BE49-F238E27FC236}">
                <a16:creationId xmlns:a16="http://schemas.microsoft.com/office/drawing/2014/main" id="{67A26E1C-DDA9-497A-A441-9AB3093A5D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20</a:t>
            </a:r>
          </a:p>
        </p:txBody>
      </p:sp>
    </p:spTree>
    <p:extLst>
      <p:ext uri="{BB962C8B-B14F-4D97-AF65-F5344CB8AC3E}">
        <p14:creationId xmlns:p14="http://schemas.microsoft.com/office/powerpoint/2010/main" val="3711979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839EBA-82B7-4253-999E-2EA6D7A961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04F9074-56EC-40AE-84A3-874EB6E150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08CB8BD-1FF9-4BDB-A99C-B6BF4F0F42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object remembers its fitted state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Python 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it means</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model = LinearRegression()</a:t>
                      </a:r>
                    </a:p>
                  </a:txBody>
                  <a:tcPr marL="91440" marR="91440" marT="45720" marB="45720">
                    <a:solidFill>
                      <a:srgbClr val="EEF3F6"/>
                    </a:solidFill>
                  </a:tcPr>
                </a:tc>
                <a:tc>
                  <a:txBody>
                    <a:bodyPr/>
                    <a:lstStyle/>
                    <a:p>
                      <a:r>
                        <a:rPr sz="2025" b="0">
                          <a:solidFill>
                            <a:srgbClr val="1C3144"/>
                          </a:solidFill>
                          <a:latin typeface="Calibri"/>
                          <a:ea typeface="Calibri"/>
                          <a:cs typeface="Calibri"/>
                        </a:rPr>
                        <a:t>Create an unfitted model object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model.fit(X_train, y_train)</a:t>
                      </a:r>
                    </a:p>
                  </a:txBody>
                  <a:tcPr marL="91440" marR="91440" marT="45720" marB="45720">
                    <a:solidFill>
                      <a:srgbClr val="FFFFFF"/>
                    </a:solidFill>
                  </a:tcPr>
                </a:tc>
                <a:tc>
                  <a:txBody>
                    <a:bodyPr/>
                    <a:lstStyle/>
                    <a:p>
                      <a:r>
                        <a:rPr sz="2025" b="0">
                          <a:solidFill>
                            <a:srgbClr val="1C3144"/>
                          </a:solidFill>
                          <a:latin typeface="Calibri"/>
                          <a:ea typeface="Calibri"/>
                          <a:cs typeface="Calibri"/>
                        </a:rPr>
                        <a:t>Learn from paired training data</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model.predict(X_new)</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that learned state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random_state=17</a:t>
                      </a:r>
                    </a:p>
                  </a:txBody>
                  <a:tcPr marL="91440" marR="91440" marT="45720" marB="45720">
                    <a:solidFill>
                      <a:srgbClr val="FFFFFF"/>
                    </a:solidFill>
                  </a:tcPr>
                </a:tc>
                <a:tc>
                  <a:txBody>
                    <a:bodyPr/>
                    <a:lstStyle/>
                    <a:p>
                      <a:r>
                        <a:rPr sz="2025" b="0">
                          <a:solidFill>
                            <a:srgbClr val="1C3144"/>
                          </a:solidFill>
                          <a:latin typeface="Calibri"/>
                          <a:ea typeface="Calibri"/>
                          <a:cs typeface="Calibri"/>
                        </a:rPr>
                        <a:t>Name an option and set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0097AEA-D7A3-43A9-9AE3-57FCDC9584E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object holds state and has methods. A method is a function used through that object.</a:t>
            </a:r>
          </a:p>
        </p:txBody>
      </p:sp>
      <p:sp>
        <p:nvSpPr>
          <p:cNvPr id="6" name="">
            <a:extLst xmlns:a="http://schemas.openxmlformats.org/drawingml/2006/main">
              <a:ext uri="{FF2B5EF4-FFF2-40B4-BE49-F238E27FC236}">
                <a16:creationId xmlns:a16="http://schemas.microsoft.com/office/drawing/2014/main" id="{D3372AE2-5A94-4114-BF78-4C613A5C63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21</a:t>
            </a:r>
          </a:p>
        </p:txBody>
      </p:sp>
    </p:spTree>
    <p:extLst>
      <p:ext uri="{BB962C8B-B14F-4D97-AF65-F5344CB8AC3E}">
        <p14:creationId xmlns:p14="http://schemas.microsoft.com/office/powerpoint/2010/main" val="101361474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C6E598-F3DB-42C9-8FBD-75786DC08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4CBB05-F62E-4AEC-BA72-C3E408C679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D2F019-736A-46E2-A095-8AB901835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fitting and predicting</a:t>
            </a:r>
          </a:p>
        </p:txBody>
      </p:sp>
      <p:sp>
        <p:nvSpPr>
          <p:cNvPr id="4" name="">
            <a:extLst xmlns:a="http://schemas.openxmlformats.org/drawingml/2006/main">
              <a:ext uri="{FF2B5EF4-FFF2-40B4-BE49-F238E27FC236}">
                <a16:creationId xmlns:a16="http://schemas.microsoft.com/office/drawing/2014/main" id="{E0E37689-D3C4-4000-B110-F5CFFEE2E0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6659B3-2033-4F18-91DA-E97ACD427D4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creates a model that has not learned yet.</a:t>
            </a:r>
          </a:p>
        </p:txBody>
      </p:sp>
      <p:sp>
        <p:nvSpPr>
          <p:cNvPr id="6" name="">
            <a:extLst xmlns:a="http://schemas.openxmlformats.org/drawingml/2006/main">
              <a:ext uri="{FF2B5EF4-FFF2-40B4-BE49-F238E27FC236}">
                <a16:creationId xmlns:a16="http://schemas.microsoft.com/office/drawing/2014/main" id="{C297FA5A-95BF-41ED-A984-FE0AB7F1EA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903CA4-8DAE-4CDC-8480-67A46B02E02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fit(X_train, y_train) learns from paired training examples.</a:t>
            </a:r>
          </a:p>
        </p:txBody>
      </p:sp>
      <p:sp>
        <p:nvSpPr>
          <p:cNvPr id="8" name="">
            <a:extLst xmlns:a="http://schemas.openxmlformats.org/drawingml/2006/main">
              <a:ext uri="{FF2B5EF4-FFF2-40B4-BE49-F238E27FC236}">
                <a16:creationId xmlns:a16="http://schemas.microsoft.com/office/drawing/2014/main" id="{0C5517EC-50F2-4287-B62C-50F690EBB7D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F186E9-8CB7-4AB7-B3E1-CB3CEA8EA9A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predict(new_inputs) returns estimates. The actual targets are absent from new_inputs.</a:t>
            </a:r>
          </a:p>
        </p:txBody>
      </p:sp>
      <p:sp>
        <p:nvSpPr>
          <p:cNvPr id="10" name="">
            <a:extLst xmlns:a="http://schemas.openxmlformats.org/drawingml/2006/main">
              <a:ext uri="{FF2B5EF4-FFF2-40B4-BE49-F238E27FC236}">
                <a16:creationId xmlns:a16="http://schemas.microsoft.com/office/drawing/2014/main" id="{F9296CF9-66B4-4209-9EAD-724ED9F6B1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22</a:t>
            </a:r>
          </a:p>
        </p:txBody>
      </p:sp>
    </p:spTree>
    <p:extLst>
      <p:ext uri="{BB962C8B-B14F-4D97-AF65-F5344CB8AC3E}">
        <p14:creationId xmlns:p14="http://schemas.microsoft.com/office/powerpoint/2010/main" val="102284574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814D69-47C6-4F09-B504-6027A1F9E9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B31CB5-5098-4722-A2DA-2B6AF09771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06AF7E-B419-4461-9741-20886DBBE7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Where the modelling tools come from</a:t>
            </a:r>
          </a:p>
        </p:txBody>
      </p:sp>
      <p:sp>
        <p:nvSpPr>
          <p:cNvPr id="4" name="">
            <a:extLst xmlns:a="http://schemas.openxmlformats.org/drawingml/2006/main">
              <a:ext uri="{FF2B5EF4-FFF2-40B4-BE49-F238E27FC236}">
                <a16:creationId xmlns:a16="http://schemas.microsoft.com/office/drawing/2014/main" id="{B29F28C2-F81A-41FA-9DD3-E3B4FA04CD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4319BE-3711-4D8D-8E4C-61763310F7B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scikit-learn is an installed machine-learning library. Its Python import name is sklearn. linear_model is the part containing LinearRegression.</a:t>
            </a:r>
          </a:p>
        </p:txBody>
      </p:sp>
      <p:sp>
        <p:nvSpPr>
          <p:cNvPr id="6" name="">
            <a:extLst xmlns:a="http://schemas.openxmlformats.org/drawingml/2006/main">
              <a:ext uri="{FF2B5EF4-FFF2-40B4-BE49-F238E27FC236}">
                <a16:creationId xmlns:a16="http://schemas.microsoft.com/office/drawing/2014/main" id="{B3CB0D60-6D80-4423-9790-5E6BABB702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6C1543-FF93-4844-806E-0E777CF87F3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from sklearn.linear_model import LinearRegression makes that model class available. LinearRegression() creates an individual model object.</a:t>
            </a:r>
          </a:p>
        </p:txBody>
      </p:sp>
      <p:sp>
        <p:nvSpPr>
          <p:cNvPr id="8" name="">
            <a:extLst xmlns:a="http://schemas.openxmlformats.org/drawingml/2006/main">
              <a:ext uri="{FF2B5EF4-FFF2-40B4-BE49-F238E27FC236}">
                <a16:creationId xmlns:a16="http://schemas.microsoft.com/office/drawing/2014/main" id="{8E692DBE-8927-4DA7-B410-A5A8D7A8C98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595F24-AD86-4B66-A835-7764C9F48E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this library is normally available. If an import fails, use the course setup instructions and retry the import before running model code.</a:t>
            </a:r>
          </a:p>
        </p:txBody>
      </p:sp>
      <p:sp>
        <p:nvSpPr>
          <p:cNvPr id="10" name="">
            <a:extLst xmlns:a="http://schemas.openxmlformats.org/drawingml/2006/main">
              <a:ext uri="{FF2B5EF4-FFF2-40B4-BE49-F238E27FC236}">
                <a16:creationId xmlns:a16="http://schemas.microsoft.com/office/drawing/2014/main" id="{5570F9BF-28F4-401C-A614-1CC2A7D158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23</a:t>
            </a:r>
          </a:p>
        </p:txBody>
      </p:sp>
    </p:spTree>
    <p:extLst>
      <p:ext uri="{BB962C8B-B14F-4D97-AF65-F5344CB8AC3E}">
        <p14:creationId xmlns:p14="http://schemas.microsoft.com/office/powerpoint/2010/main" val="213209907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CCE629-AAA9-4BD0-9CB8-F0A0115EB9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4E1A2E-F381-42F8-BBAB-DA8D39D5A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051E6E-8EAB-4906-8093-81A53BE673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a:t>
            </a:r>
          </a:p>
        </p:txBody>
      </p:sp>
      <p:sp>
        <p:nvSpPr>
          <p:cNvPr id="4" name="">
            <a:extLst xmlns:a="http://schemas.openxmlformats.org/drawingml/2006/main">
              <a:ext uri="{FF2B5EF4-FFF2-40B4-BE49-F238E27FC236}">
                <a16:creationId xmlns:a16="http://schemas.microsoft.com/office/drawing/2014/main" id="{87E31BBE-F845-4019-BD1C-00E137AC992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750BA1-8D67-4EE3-B8C8-CFD3DE3134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sklearn.linear_model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X_train = [[1], [2], [3],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y_train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new_inputs = [[2.5]]</a:t>
            </a:r>
          </a:p>
        </p:txBody>
      </p:sp>
      <p:sp>
        <p:nvSpPr>
          <p:cNvPr id="6" name="">
            <a:extLst xmlns:a="http://schemas.openxmlformats.org/drawingml/2006/main">
              <a:ext uri="{FF2B5EF4-FFF2-40B4-BE49-F238E27FC236}">
                <a16:creationId xmlns:a16="http://schemas.microsoft.com/office/drawing/2014/main" id="{E78AA9F1-610A-4F6D-8E24-DEB4772D90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298B11E5-4E34-4FEE-BCC0-52CA6CFC0A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C0F48351-CBB4-48D3-BF9A-EBB23509DE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24</a:t>
            </a:r>
          </a:p>
        </p:txBody>
      </p:sp>
    </p:spTree>
    <p:extLst>
      <p:ext uri="{BB962C8B-B14F-4D97-AF65-F5344CB8AC3E}">
        <p14:creationId xmlns:p14="http://schemas.microsoft.com/office/powerpoint/2010/main" val="200190141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1B401F-DD6E-473F-A0A1-5CAD08B283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9F7043-233A-4332-BC26-C376409B34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1D313C4-D7EB-40C9-B33E-FE3894EB66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D794F606-C368-4A00-B55E-79B6B6F50F8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11D855-9200-44B6-9160-60D1A854274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model.fit(X_train, y_train)</a:t>
            </a:r>
          </a:p>
        </p:txBody>
      </p:sp>
      <p:sp>
        <p:nvSpPr>
          <p:cNvPr id="6" name="">
            <a:extLst xmlns:a="http://schemas.openxmlformats.org/drawingml/2006/main">
              <a:ext uri="{FF2B5EF4-FFF2-40B4-BE49-F238E27FC236}">
                <a16:creationId xmlns:a16="http://schemas.microsoft.com/office/drawing/2014/main" id="{7B86328A-5640-4719-80FE-96FFD6C1EF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752C6497-AF0C-4F5C-ABB3-800ACDA4FC0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8" name="">
            <a:extLst xmlns:a="http://schemas.openxmlformats.org/drawingml/2006/main">
              <a:ext uri="{FF2B5EF4-FFF2-40B4-BE49-F238E27FC236}">
                <a16:creationId xmlns:a16="http://schemas.microsoft.com/office/drawing/2014/main" id="{7CFCE9D5-E41E-438A-9D50-A3D5AA4E010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8A035868-4585-4324-9550-AF4C7CD0F7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DA75ABE4-947F-4E3C-B5A3-18D2DADA2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25</a:t>
            </a:r>
          </a:p>
        </p:txBody>
      </p:sp>
    </p:spTree>
    <p:extLst>
      <p:ext uri="{BB962C8B-B14F-4D97-AF65-F5344CB8AC3E}">
        <p14:creationId xmlns:p14="http://schemas.microsoft.com/office/powerpoint/2010/main" val="21758208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50762B-3CBE-471A-935C-EBB28375AD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C2B0E4-589B-46B9-81E2-93C9C8F23F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423B6D5-B736-4261-A0D1-DBEA585B09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in Python continued</a:t>
            </a:r>
          </a:p>
        </p:txBody>
      </p:sp>
      <p:sp>
        <p:nvSpPr>
          <p:cNvPr id="4" name="">
            <a:extLst xmlns:a="http://schemas.openxmlformats.org/drawingml/2006/main">
              <a:ext uri="{FF2B5EF4-FFF2-40B4-BE49-F238E27FC236}">
                <a16:creationId xmlns:a16="http://schemas.microsoft.com/office/drawing/2014/main" id="{056CF3AA-12C7-486F-9FCE-19BE6B06144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70B70B-A370-4A1E-A7CE-370CA4DFC75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predictions = model.predict(new_inputs)</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F6B02F92-D11E-4283-B09F-D1F71F753F9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52045D6-51F7-4E9D-B9BF-E184BE2491D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8" name="">
            <a:extLst xmlns:a="http://schemas.openxmlformats.org/drawingml/2006/main">
              <a:ext uri="{FF2B5EF4-FFF2-40B4-BE49-F238E27FC236}">
                <a16:creationId xmlns:a16="http://schemas.microsoft.com/office/drawing/2014/main" id="{7A593A0C-EDCD-43A0-A788-52117550846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760E204-C181-4268-A0A5-A15E59BB607F}"/>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4FDCD712-5908-4984-A8C3-9DB60DF7C4C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74E9705-4366-488D-ADAD-E03A8F6614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26</a:t>
            </a:r>
          </a:p>
        </p:txBody>
      </p:sp>
    </p:spTree>
    <p:extLst>
      <p:ext uri="{BB962C8B-B14F-4D97-AF65-F5344CB8AC3E}">
        <p14:creationId xmlns:p14="http://schemas.microsoft.com/office/powerpoint/2010/main" val="8789607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96A102-EC19-4AA0-80F6-C381111B5F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40859E-A2B6-4BF0-9B30-4DC05D8906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37F951E-B30B-480E-8B6E-D41537B4FF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models and errors results</a:t>
            </a:r>
          </a:p>
        </p:txBody>
      </p:sp>
      <p:sp>
        <p:nvSpPr>
          <p:cNvPr id="4" name="">
            <a:extLst xmlns:a="http://schemas.openxmlformats.org/drawingml/2006/main">
              <a:ext uri="{FF2B5EF4-FFF2-40B4-BE49-F238E27FC236}">
                <a16:creationId xmlns:a16="http://schemas.microsoft.com/office/drawing/2014/main" id="{B2DAC7CD-CB84-4659-8F72-49CE338BD2F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E957C3-A220-4FB8-AE18-CFC40F14C157}"/>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[15.0]</a:t>
            </a:r>
          </a:p>
        </p:txBody>
      </p:sp>
      <p:sp>
        <p:nvSpPr>
          <p:cNvPr id="6" name="">
            <a:extLst xmlns:a="http://schemas.openxmlformats.org/drawingml/2006/main">
              <a:ext uri="{FF2B5EF4-FFF2-40B4-BE49-F238E27FC236}">
                <a16:creationId xmlns:a16="http://schemas.microsoft.com/office/drawing/2014/main" id="{FA903493-545A-475D-A96E-28FA2DE7319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75B3D0B-7C2B-4F4A-B77D-4F94C39289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27</a:t>
            </a:r>
          </a:p>
        </p:txBody>
      </p:sp>
    </p:spTree>
    <p:extLst>
      <p:ext uri="{BB962C8B-B14F-4D97-AF65-F5344CB8AC3E}">
        <p14:creationId xmlns:p14="http://schemas.microsoft.com/office/powerpoint/2010/main" val="160812078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9C23BB-24C9-4A3F-A1E6-122BA6D81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4F5997-16ED-45CF-9DFB-0926ABE76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DEFD88-10F3-4CD0-8548-7B6EEDB993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a:t>
            </a:r>
          </a:p>
        </p:txBody>
      </p:sp>
      <p:sp>
        <p:nvSpPr>
          <p:cNvPr id="4" name="">
            <a:extLst xmlns:a="http://schemas.openxmlformats.org/drawingml/2006/main">
              <a:ext uri="{FF2B5EF4-FFF2-40B4-BE49-F238E27FC236}">
                <a16:creationId xmlns:a16="http://schemas.microsoft.com/office/drawing/2014/main" id="{C2434FF8-2048-4118-8867-E6F9D18DA41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E8067D-2AF2-4795-BA7D-98002E48139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training data.</a:t>
            </a:r>
          </a:p>
        </p:txBody>
      </p:sp>
      <p:sp>
        <p:nvSpPr>
          <p:cNvPr id="6" name="">
            <a:extLst xmlns:a="http://schemas.openxmlformats.org/drawingml/2006/main">
              <a:ext uri="{FF2B5EF4-FFF2-40B4-BE49-F238E27FC236}">
                <a16:creationId xmlns:a16="http://schemas.microsoft.com/office/drawing/2014/main" id="{31E0648B-5941-4284-95B9-D32B167223E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799CC9-E92F-4027-80BB-75C7B140F58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baseline learns their mean, 15, and predicts it for every input.</a:t>
            </a:r>
          </a:p>
        </p:txBody>
      </p:sp>
      <p:sp>
        <p:nvSpPr>
          <p:cNvPr id="8" name="">
            <a:extLst xmlns:a="http://schemas.openxmlformats.org/drawingml/2006/main">
              <a:ext uri="{FF2B5EF4-FFF2-40B4-BE49-F238E27FC236}">
                <a16:creationId xmlns:a16="http://schemas.microsoft.com/office/drawing/2014/main" id="{1EBE4EDD-9034-48B5-B9AC-2DAFE806390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93E718-99B6-47EE-AD24-B2BC78DF47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gives a simple comparison before claiming the line helps.</a:t>
            </a:r>
          </a:p>
        </p:txBody>
      </p:sp>
      <p:sp>
        <p:nvSpPr>
          <p:cNvPr id="10" name="">
            <a:extLst xmlns:a="http://schemas.openxmlformats.org/drawingml/2006/main">
              <a:ext uri="{FF2B5EF4-FFF2-40B4-BE49-F238E27FC236}">
                <a16:creationId xmlns:a16="http://schemas.microsoft.com/office/drawing/2014/main" id="{A82D01EB-77C6-4049-8681-AC27125B7E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28</a:t>
            </a:r>
          </a:p>
        </p:txBody>
      </p:sp>
    </p:spTree>
    <p:extLst>
      <p:ext uri="{BB962C8B-B14F-4D97-AF65-F5344CB8AC3E}">
        <p14:creationId xmlns:p14="http://schemas.microsoft.com/office/powerpoint/2010/main" val="155665060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20A3C9D-3418-49A9-B361-13BF7918DB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3953A-6FF7-4E51-B0A9-E646E532CE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C92D20-366F-4E75-A3BC-62ECEF997B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mean baseline in Python</a:t>
            </a:r>
          </a:p>
        </p:txBody>
      </p:sp>
      <p:sp>
        <p:nvSpPr>
          <p:cNvPr id="4" name="">
            <a:extLst xmlns:a="http://schemas.openxmlformats.org/drawingml/2006/main">
              <a:ext uri="{FF2B5EF4-FFF2-40B4-BE49-F238E27FC236}">
                <a16:creationId xmlns:a16="http://schemas.microsoft.com/office/drawing/2014/main" id="{3061AA27-200E-4951-BAE6-0822C1EC5A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28B9E3-D129-432B-8421-F7385FA7376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from</a:t>
            </a:r>
            <a:r>
              <a:rPr sz="1900" b="0">
                <a:solidFill>
                  <a:srgbClr val="F4F7FA"/>
                </a:solidFill>
                <a:latin typeface="Courier New"/>
                <a:ea typeface="Courier New"/>
                <a:cs typeface="Courier New"/>
              </a:rPr>
              <a:t> sklearn.dummy </a:t>
            </a:r>
            <a:r>
              <a:rPr sz="1900" b="0">
                <a:solidFill>
                  <a:srgbClr val="FFB080"/>
                </a:solidFill>
                <a:latin typeface="Courier New"/>
                <a:ea typeface="Courier New"/>
                <a:cs typeface="Courier New"/>
              </a:rPr>
              <a:t>import</a:t>
            </a:r>
            <a:r>
              <a:rPr sz="1900" b="0">
                <a:solidFill>
                  <a:srgbClr val="F4F7FA"/>
                </a:solidFill>
                <a:latin typeface="Courier New"/>
                <a:ea typeface="Courier New"/>
                <a:cs typeface="Courier New"/>
              </a:rPr>
              <a:t> DummyRegressor</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 = DummyRegressor(strategy="mean")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baseline.fit(X_train, y_train)</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print(baseline.predict(new_inputs).tolist())</a:t>
            </a:r>
          </a:p>
        </p:txBody>
      </p:sp>
      <p:sp>
        <p:nvSpPr>
          <p:cNvPr id="6" name="">
            <a:extLst xmlns:a="http://schemas.openxmlformats.org/drawingml/2006/main">
              <a:ext uri="{FF2B5EF4-FFF2-40B4-BE49-F238E27FC236}">
                <a16:creationId xmlns:a16="http://schemas.microsoft.com/office/drawing/2014/main" id="{46C9DA30-26D0-41CC-964C-91B91B40BE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71B685-7EBB-43BA-AD09-A89B7F63DC8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528FC788-0693-41D6-B2D4-992D1C3C6D7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fit learns using the supplied training observations.</a:t>
            </a:r>
          </a:p>
        </p:txBody>
      </p:sp>
      <p:sp>
        <p:nvSpPr>
          <p:cNvPr id="9" name="">
            <a:extLst xmlns:a="http://schemas.openxmlformats.org/drawingml/2006/main">
              <a:ext uri="{FF2B5EF4-FFF2-40B4-BE49-F238E27FC236}">
                <a16:creationId xmlns:a16="http://schemas.microsoft.com/office/drawing/2014/main" id="{CD25CA98-3C74-4332-BD42-5B07B3BECF6B}"/>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 applies the fitted model to new inputs.</a:t>
            </a:r>
          </a:p>
        </p:txBody>
      </p:sp>
      <p:sp>
        <p:nvSpPr>
          <p:cNvPr id="10" name="">
            <a:extLst xmlns:a="http://schemas.openxmlformats.org/drawingml/2006/main">
              <a:ext uri="{FF2B5EF4-FFF2-40B4-BE49-F238E27FC236}">
                <a16:creationId xmlns:a16="http://schemas.microsoft.com/office/drawing/2014/main" id="{32E7A84C-BCE9-4F72-BC4C-32B3F9E10CF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0DD8CCFA-089A-4403-B684-FB56879F15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29</a:t>
            </a:r>
          </a:p>
        </p:txBody>
      </p:sp>
    </p:spTree>
    <p:extLst>
      <p:ext uri="{BB962C8B-B14F-4D97-AF65-F5344CB8AC3E}">
        <p14:creationId xmlns:p14="http://schemas.microsoft.com/office/powerpoint/2010/main" val="81445053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33BAF5-6608-43A1-8CE6-CD8C1EB1C5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099F23-313B-4169-9071-676B9CF731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F6D328-FF14-4F32-B71C-4DF67E271A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a:t>
            </a:r>
          </a:p>
        </p:txBody>
      </p:sp>
      <p:sp>
        <p:nvSpPr>
          <p:cNvPr id="4" name="">
            <a:extLst xmlns:a="http://schemas.openxmlformats.org/drawingml/2006/main">
              <a:ext uri="{FF2B5EF4-FFF2-40B4-BE49-F238E27FC236}">
                <a16:creationId xmlns:a16="http://schemas.microsoft.com/office/drawing/2014/main" id="{5BC93703-0A62-44E4-B6AA-58C6A9C187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CE4AA5-4B22-4FDC-B95F-E2AB58CF31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tree learns threshold questions from the training inputs.</a:t>
            </a:r>
          </a:p>
        </p:txBody>
      </p:sp>
      <p:sp>
        <p:nvSpPr>
          <p:cNvPr id="6" name="">
            <a:extLst xmlns:a="http://schemas.openxmlformats.org/drawingml/2006/main">
              <a:ext uri="{FF2B5EF4-FFF2-40B4-BE49-F238E27FC236}">
                <a16:creationId xmlns:a16="http://schemas.microsoft.com/office/drawing/2014/main" id="{B44490B8-2032-4962-A971-09B1174CB04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7CC150-1CE1-4A7B-9B2F-AED348210E0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final group, or leaf, predicts a target value.</a:t>
            </a:r>
          </a:p>
        </p:txBody>
      </p:sp>
      <p:sp>
        <p:nvSpPr>
          <p:cNvPr id="8" name="">
            <a:extLst xmlns:a="http://schemas.openxmlformats.org/drawingml/2006/main">
              <a:ext uri="{FF2B5EF4-FFF2-40B4-BE49-F238E27FC236}">
                <a16:creationId xmlns:a16="http://schemas.microsoft.com/office/drawing/2014/main" id="{97CAEFF4-2FD0-48C7-ADFC-AD6C29852E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75C2EF-C3FF-4BE1-9817-67C60112FAF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tree returns 14 for input 2.5 in this toy example. max_depth limits the number of successive decisions. random_state fixes the random seed.</a:t>
            </a:r>
          </a:p>
        </p:txBody>
      </p:sp>
      <p:sp>
        <p:nvSpPr>
          <p:cNvPr id="10" name="">
            <a:extLst xmlns:a="http://schemas.openxmlformats.org/drawingml/2006/main">
              <a:ext uri="{FF2B5EF4-FFF2-40B4-BE49-F238E27FC236}">
                <a16:creationId xmlns:a16="http://schemas.microsoft.com/office/drawing/2014/main" id="{AD4CC454-7CFF-485F-877C-4E83EA3800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30</a:t>
            </a:r>
          </a:p>
        </p:txBody>
      </p:sp>
    </p:spTree>
    <p:extLst>
      <p:ext uri="{BB962C8B-B14F-4D97-AF65-F5344CB8AC3E}">
        <p14:creationId xmlns:p14="http://schemas.microsoft.com/office/powerpoint/2010/main" val="137750975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FFE0D8-DCB9-4F7C-B951-DA222EB10A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701B15-EF2A-4FDD-9B34-45280AE4DF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3B3FBA4-C6BD-40B5-B583-43DAC77983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 regression-tree prediction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Input or 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Path for input 2.5</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Is input at most 2.5?</a:t>
                      </a:r>
                    </a:p>
                  </a:txBody>
                  <a:tcPr marL="91440" marR="91440" marT="45720" marB="45720">
                    <a:solidFill>
                      <a:srgbClr val="EEF3F6"/>
                    </a:solidFill>
                  </a:tcPr>
                </a:tc>
                <a:tc>
                  <a:txBody>
                    <a:bodyPr/>
                    <a:lstStyle/>
                    <a:p>
                      <a:r>
                        <a:rPr sz="2025" b="0">
                          <a:solidFill>
                            <a:srgbClr val="1C3144"/>
                          </a:solidFill>
                          <a:latin typeface="Calibri"/>
                          <a:ea typeface="Calibri"/>
                          <a:cs typeface="Calibri"/>
                        </a:rPr>
                        <a:t>Yes: use the lower group</a:t>
                      </a:r>
                    </a:p>
                  </a:txBody>
                  <a:tcPr marL="91440" marR="91440" marT="45720" marB="45720">
                    <a:solidFill>
                      <a:srgbClr val="EEF3F6"/>
                    </a:solidFill>
                  </a:tcPr>
                </a:tc>
                <a:tc>
                  <a:txBody>
                    <a:bodyPr/>
                    <a:lstStyle/>
                    <a:p>
                      <a:r>
                        <a:rPr sz="2025" b="0">
                          <a:solidFill>
                            <a:srgbClr val="1C3144"/>
                          </a:solidFill>
                          <a:latin typeface="Calibri"/>
                          <a:ea typeface="Calibri"/>
                          <a:cs typeface="Calibri"/>
                        </a:rPr>
                        <a:t>Continue within that group</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Is input at most 1.5?</a:t>
                      </a:r>
                    </a:p>
                  </a:txBody>
                  <a:tcPr marL="91440" marR="91440" marT="45720" marB="45720">
                    <a:solidFill>
                      <a:srgbClr val="FFFFFF"/>
                    </a:solidFill>
                  </a:tcPr>
                </a:tc>
                <a:tc>
                  <a:txBody>
                    <a:bodyPr/>
                    <a:lstStyle/>
                    <a:p>
                      <a:r>
                        <a:rPr sz="2025" b="0">
                          <a:solidFill>
                            <a:srgbClr val="1C3144"/>
                          </a:solidFill>
                          <a:latin typeface="Calibri"/>
                          <a:ea typeface="Calibri"/>
                          <a:cs typeface="Calibri"/>
                        </a:rPr>
                        <a:t>No: use its upper leaf</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 target 14</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Leaf prediction</a:t>
                      </a:r>
                    </a:p>
                  </a:txBody>
                  <a:tcPr marL="91440" marR="91440" marT="45720" marB="45720">
                    <a:solidFill>
                      <a:srgbClr val="EEF3F6"/>
                    </a:solidFill>
                  </a:tcPr>
                </a:tc>
                <a:tc>
                  <a:txBody>
                    <a:bodyPr/>
                    <a:lstStyle/>
                    <a:p>
                      <a:r>
                        <a:rPr sz="2025" b="0">
                          <a:solidFill>
                            <a:srgbClr val="1C3144"/>
                          </a:solidFill>
                          <a:latin typeface="Calibri"/>
                          <a:ea typeface="Calibri"/>
                          <a:cs typeface="Calibri"/>
                        </a:rPr>
                        <a:t>Return the leaf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14</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91196C3-BFF1-4EF6-BD87-48916168827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trace describes our fitted four-row teaching tree. A different training set can produce different questions.</a:t>
            </a:r>
          </a:p>
        </p:txBody>
      </p:sp>
      <p:sp>
        <p:nvSpPr>
          <p:cNvPr id="6" name="">
            <a:extLst xmlns:a="http://schemas.openxmlformats.org/drawingml/2006/main">
              <a:ext uri="{FF2B5EF4-FFF2-40B4-BE49-F238E27FC236}">
                <a16:creationId xmlns:a16="http://schemas.microsoft.com/office/drawing/2014/main" id="{78380DCD-4C65-488A-AD88-5C241D196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31</a:t>
            </a:r>
          </a:p>
        </p:txBody>
      </p:sp>
    </p:spTree>
    <p:extLst>
      <p:ext uri="{BB962C8B-B14F-4D97-AF65-F5344CB8AC3E}">
        <p14:creationId xmlns:p14="http://schemas.microsoft.com/office/powerpoint/2010/main" val="10722543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7B686E-22CD-4CA0-A707-F8BEAAF9E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5B76E3-E047-40BF-B7A5-821B14B3D3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83BAD4-C21E-47DB-8DCF-0FF5F1D44E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regression tree in Python</a:t>
            </a:r>
          </a:p>
        </p:txBody>
      </p:sp>
      <p:sp>
        <p:nvSpPr>
          <p:cNvPr id="4" name="">
            <a:extLst xmlns:a="http://schemas.openxmlformats.org/drawingml/2006/main">
              <a:ext uri="{FF2B5EF4-FFF2-40B4-BE49-F238E27FC236}">
                <a16:creationId xmlns:a16="http://schemas.microsoft.com/office/drawing/2014/main" id="{1CC2E73F-3872-4F2E-8EF3-C5A5202DB61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3FD4AC-38A1-4494-959C-31B59A6D611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sklearn.tree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DecisionTreeRegressor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 = DecisionTreeRegressor(max_depth=4, random_state=17)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tree.fit(X_train, y_train)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print(tree.predict(new_inputs).tolist())</a:t>
            </a:r>
          </a:p>
        </p:txBody>
      </p:sp>
      <p:sp>
        <p:nvSpPr>
          <p:cNvPr id="6" name="">
            <a:extLst xmlns:a="http://schemas.openxmlformats.org/drawingml/2006/main">
              <a:ext uri="{FF2B5EF4-FFF2-40B4-BE49-F238E27FC236}">
                <a16:creationId xmlns:a16="http://schemas.microsoft.com/office/drawing/2014/main" id="{FA7E3B15-4EC2-4555-B34A-2444A1C5CF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1E636E29-1D0B-4FB3-B48A-DDE6919C7F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63356286-80EE-4828-A39A-826235E6E8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32</a:t>
            </a:r>
          </a:p>
        </p:txBody>
      </p:sp>
    </p:spTree>
    <p:extLst>
      <p:ext uri="{BB962C8B-B14F-4D97-AF65-F5344CB8AC3E}">
        <p14:creationId xmlns:p14="http://schemas.microsoft.com/office/powerpoint/2010/main" val="184943795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750107-212F-4608-9FD7-E02CB9478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2FD184-8982-4A22-8B39-8BCEFD5F87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48ABDF7-9E1D-44C8-9A44-75C41B52F7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Reuse the same preparation on new inputs</a:t>
            </a:r>
          </a:p>
        </p:txBody>
      </p:sp>
      <p:sp>
        <p:nvSpPr>
          <p:cNvPr id="4" name="">
            <a:extLst xmlns:a="http://schemas.openxmlformats.org/drawingml/2006/main">
              <a:ext uri="{FF2B5EF4-FFF2-40B4-BE49-F238E27FC236}">
                <a16:creationId xmlns:a16="http://schemas.microsoft.com/office/drawing/2014/main" id="{B1B7B289-7B1B-4388-B2AF-7C48776DE85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DC38DE-CA91-49D5-9183-304D691D493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Imputer</a:t>
            </a:r>
          </a:p>
        </p:txBody>
      </p:sp>
      <p:sp>
        <p:nvSpPr>
          <p:cNvPr id="6" name="">
            <a:extLst xmlns:a="http://schemas.openxmlformats.org/drawingml/2006/main">
              <a:ext uri="{FF2B5EF4-FFF2-40B4-BE49-F238E27FC236}">
                <a16:creationId xmlns:a16="http://schemas.microsoft.com/office/drawing/2014/main" id="{898C29DF-CCFE-4B5D-A4EF-9B81282D337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 imputer fills missing feature values using a stated rule. Fit learns the replacement from training observations only. Prediction reuses that stored replacement.</a:t>
            </a:r>
          </a:p>
        </p:txBody>
      </p:sp>
      <p:sp>
        <p:nvSpPr>
          <p:cNvPr id="7" name="">
            <a:extLst xmlns:a="http://schemas.openxmlformats.org/drawingml/2006/main">
              <a:ext uri="{FF2B5EF4-FFF2-40B4-BE49-F238E27FC236}">
                <a16:creationId xmlns:a16="http://schemas.microsoft.com/office/drawing/2014/main" id="{FAF8ECBB-DEDD-409E-96C4-0F0F4263AA8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F82260-FF88-451E-AADB-6D2A916EF45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Pipeline</a:t>
            </a:r>
          </a:p>
        </p:txBody>
      </p:sp>
      <p:sp>
        <p:nvSpPr>
          <p:cNvPr id="9" name="">
            <a:extLst xmlns:a="http://schemas.openxmlformats.org/drawingml/2006/main">
              <a:ext uri="{FF2B5EF4-FFF2-40B4-BE49-F238E27FC236}">
                <a16:creationId xmlns:a16="http://schemas.microsoft.com/office/drawing/2014/main" id="{F852345E-0491-4570-B89A-A1F0E3E1D29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pipeline connects preprocessing and a model. make_pipeline creates that connection. Its fit learns both stages on training data; predict applies them to new features.</a:t>
            </a:r>
          </a:p>
        </p:txBody>
      </p:sp>
      <p:sp>
        <p:nvSpPr>
          <p:cNvPr id="10" name="">
            <a:extLst xmlns:a="http://schemas.openxmlformats.org/drawingml/2006/main">
              <a:ext uri="{FF2B5EF4-FFF2-40B4-BE49-F238E27FC236}">
                <a16:creationId xmlns:a16="http://schemas.microsoft.com/office/drawing/2014/main" id="{F59662D4-AF95-40A2-8314-3D4CA4F822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33</a:t>
            </a:r>
          </a:p>
        </p:txBody>
      </p:sp>
    </p:spTree>
    <p:extLst>
      <p:ext uri="{BB962C8B-B14F-4D97-AF65-F5344CB8AC3E}">
        <p14:creationId xmlns:p14="http://schemas.microsoft.com/office/powerpoint/2010/main" val="1786377078"/>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63D19EA-D612-4733-B6FB-C5DD3A38B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5A3960-E33A-4F4C-959D-A466B7305B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E9C843-6FDD-454A-AEB0-69E16AF53B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pipeline tools before combining them</a:t>
            </a:r>
          </a:p>
        </p:txBody>
      </p:sp>
      <p:sp>
        <p:nvSpPr>
          <p:cNvPr id="4" name="">
            <a:extLst xmlns:a="http://schemas.openxmlformats.org/drawingml/2006/main">
              <a:ext uri="{FF2B5EF4-FFF2-40B4-BE49-F238E27FC236}">
                <a16:creationId xmlns:a16="http://schemas.microsoft.com/office/drawing/2014/main" id="{EEF02D9E-5CDC-4F45-8821-E8D5A74DD9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B89252-FAE8-4BF8-887F-91054D134B0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np.nan is NumPy’s missing-number marker. SimpleImputer(strategy="median") creates a tool that will learn each column’s median from training data.</a:t>
            </a:r>
          </a:p>
        </p:txBody>
      </p:sp>
      <p:sp>
        <p:nvSpPr>
          <p:cNvPr id="6" name="">
            <a:extLst xmlns:a="http://schemas.openxmlformats.org/drawingml/2006/main">
              <a:ext uri="{FF2B5EF4-FFF2-40B4-BE49-F238E27FC236}">
                <a16:creationId xmlns:a16="http://schemas.microsoft.com/office/drawing/2014/main" id="{79FD8E9D-04B7-46E7-84B2-274BA42A2AE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9043FD-FC06-4F8D-B0A0-BF2D4FCBC8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joins preparation to prediction in that order. pipeline.fit first learns and applies the imputer, then fits the model.</a:t>
            </a:r>
          </a:p>
        </p:txBody>
      </p:sp>
      <p:sp>
        <p:nvSpPr>
          <p:cNvPr id="8" name="">
            <a:extLst xmlns:a="http://schemas.openxmlformats.org/drawingml/2006/main">
              <a:ext uri="{FF2B5EF4-FFF2-40B4-BE49-F238E27FC236}">
                <a16:creationId xmlns:a16="http://schemas.microsoft.com/office/drawing/2014/main" id="{1B547444-29A8-4A88-84CE-468807221F8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D96245-0784-4556-8410-D3BAACF3B1D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pipeline.predict applies the already learned imputer to new inputs before predicting. It does not recalculate medians from the new inputs.</a:t>
            </a:r>
          </a:p>
        </p:txBody>
      </p:sp>
      <p:sp>
        <p:nvSpPr>
          <p:cNvPr id="10" name="">
            <a:extLst xmlns:a="http://schemas.openxmlformats.org/drawingml/2006/main">
              <a:ext uri="{FF2B5EF4-FFF2-40B4-BE49-F238E27FC236}">
                <a16:creationId xmlns:a16="http://schemas.microsoft.com/office/drawing/2014/main" id="{949E9DAB-595F-4612-9D3E-6D3A076DC1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34</a:t>
            </a:r>
          </a:p>
        </p:txBody>
      </p:sp>
    </p:spTree>
    <p:extLst>
      <p:ext uri="{BB962C8B-B14F-4D97-AF65-F5344CB8AC3E}">
        <p14:creationId xmlns:p14="http://schemas.microsoft.com/office/powerpoint/2010/main" val="13370931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B0892F-50B7-42E6-88B7-96307CD53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B82347-4EBC-4FEB-8F00-E9583B7C51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E3A92F-B7CC-47B6-9AAB-453D0939E0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learned from training only</a:t>
            </a:r>
          </a:p>
        </p:txBody>
      </p:sp>
      <p:sp>
        <p:nvSpPr>
          <p:cNvPr id="4" name="">
            <a:extLst xmlns:a="http://schemas.openxmlformats.org/drawingml/2006/main">
              <a:ext uri="{FF2B5EF4-FFF2-40B4-BE49-F238E27FC236}">
                <a16:creationId xmlns:a16="http://schemas.microsoft.com/office/drawing/2014/main" id="{2E67034B-0F1C-4B5F-BA4A-6D17557EAE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6DF0B5-F541-43CD-9991-C9CA93A7954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 learns one median for each training column. make_pipeline connects this step to the model. fit learns both steps using only the training examples. predict reuses them on new inputs.</a:t>
            </a:r>
          </a:p>
        </p:txBody>
      </p:sp>
      <p:sp>
        <p:nvSpPr>
          <p:cNvPr id="6" name="">
            <a:extLst xmlns:a="http://schemas.openxmlformats.org/drawingml/2006/main">
              <a:ext uri="{FF2B5EF4-FFF2-40B4-BE49-F238E27FC236}">
                <a16:creationId xmlns:a16="http://schemas.microsoft.com/office/drawing/2014/main" id="{93A8E73B-AF23-4ABF-882F-47654CE511B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D6CC3B-947C-4DBD-BA44-2D5691B0A3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target is supplied to predict.</a:t>
            </a:r>
          </a:p>
        </p:txBody>
      </p:sp>
      <p:sp>
        <p:nvSpPr>
          <p:cNvPr id="8" name="">
            <a:extLst xmlns:a="http://schemas.openxmlformats.org/drawingml/2006/main">
              <a:ext uri="{FF2B5EF4-FFF2-40B4-BE49-F238E27FC236}">
                <a16:creationId xmlns:a16="http://schemas.microsoft.com/office/drawing/2014/main" id="{AEF974B8-A54D-40BE-A67F-768A5C1B61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CB769D-549E-4AC7-8526-0E32B20AF684}"/>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two inputs here are invented practice measurements.</a:t>
            </a:r>
          </a:p>
        </p:txBody>
      </p:sp>
      <p:sp>
        <p:nvSpPr>
          <p:cNvPr id="10" name="">
            <a:extLst xmlns:a="http://schemas.openxmlformats.org/drawingml/2006/main">
              <a:ext uri="{FF2B5EF4-FFF2-40B4-BE49-F238E27FC236}">
                <a16:creationId xmlns:a16="http://schemas.microsoft.com/office/drawing/2014/main" id="{0DBD7CB4-C966-47B9-BF45-CBA1381273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35</a:t>
            </a:r>
          </a:p>
        </p:txBody>
      </p:sp>
    </p:spTree>
    <p:extLst>
      <p:ext uri="{BB962C8B-B14F-4D97-AF65-F5344CB8AC3E}">
        <p14:creationId xmlns:p14="http://schemas.microsoft.com/office/powerpoint/2010/main" val="126063649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870730-26D8-433E-8B7A-944F07646A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8875C6-5E72-499D-A895-AB55CFD80B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220983B-25D6-4C15-997F-1D9FBB214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training-only fill step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Stage</a:t>
                      </a:r>
                    </a:p>
                  </a:txBody>
                  <a:tcPr marL="91440" marR="91440" marT="45720" marB="45720">
                    <a:solidFill>
                      <a:srgbClr val="2E7D6F"/>
                    </a:solidFill>
                  </a:tcPr>
                </a:tc>
                <a:tc>
                  <a:txBody>
                    <a:bodyPr/>
                    <a:lstStyle/>
                    <a:p>
                      <a:r>
                        <a:rPr sz="2025" b="1">
                          <a:solidFill>
                            <a:srgbClr val="FFFFFF"/>
                          </a:solidFill>
                          <a:latin typeface="Calibri"/>
                          <a:ea typeface="Calibri"/>
                          <a:cs typeface="Calibri"/>
                        </a:rPr>
                        <a:t>Second feature values</a:t>
                      </a:r>
                    </a:p>
                  </a:txBody>
                  <a:tcPr marL="91440" marR="91440" marT="45720" marB="45720">
                    <a:solidFill>
                      <a:srgbClr val="2E7D6F"/>
                    </a:solidFill>
                  </a:tcPr>
                </a:tc>
                <a:tc>
                  <a:txBody>
                    <a:bodyPr/>
                    <a:lstStyle/>
                    <a:p>
                      <a:r>
                        <a:rPr sz="2025" b="1">
                          <a:solidFill>
                            <a:srgbClr val="FFFFFF"/>
                          </a:solidFill>
                          <a:latin typeface="Calibri"/>
                          <a:ea typeface="Calibri"/>
                          <a:cs typeface="Calibri"/>
                        </a:rPr>
                        <a:t>Action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Training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20, 22, missing, 24</a:t>
                      </a:r>
                    </a:p>
                  </a:txBody>
                  <a:tcPr marL="91440" marR="91440" marT="45720" marB="45720">
                    <a:solidFill>
                      <a:srgbClr val="EEF3F6"/>
                    </a:solidFill>
                  </a:tcPr>
                </a:tc>
                <a:tc>
                  <a:txBody>
                    <a:bodyPr/>
                    <a:lstStyle/>
                    <a:p>
                      <a:r>
                        <a:rPr sz="2025" b="0">
                          <a:solidFill>
                            <a:srgbClr val="1C3144"/>
                          </a:solidFill>
                          <a:latin typeface="Calibri"/>
                          <a:ea typeface="Calibri"/>
                          <a:cs typeface="Calibri"/>
                        </a:rPr>
                        <a:t>Learn median 22</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Training after filling</a:t>
                      </a:r>
                    </a:p>
                  </a:txBody>
                  <a:tcPr marL="91440" marR="91440" marT="45720" marB="45720">
                    <a:solidFill>
                      <a:srgbClr val="FFFFFF"/>
                    </a:solidFill>
                  </a:tcPr>
                </a:tc>
                <a:tc>
                  <a:txBody>
                    <a:bodyPr/>
                    <a:lstStyle/>
                    <a:p>
                      <a:r>
                        <a:rPr sz="2025" b="0">
                          <a:solidFill>
                            <a:srgbClr val="1C3144"/>
                          </a:solidFill>
                          <a:latin typeface="Calibri"/>
                          <a:ea typeface="Calibri"/>
                          <a:cs typeface="Calibri"/>
                        </a:rPr>
                        <a:t>20, 22, 22, 24</a:t>
                      </a:r>
                    </a:p>
                  </a:txBody>
                  <a:tcPr marL="91440" marR="91440" marT="45720" marB="45720">
                    <a:solidFill>
                      <a:srgbClr val="FFFFFF"/>
                    </a:solidFill>
                  </a:tcPr>
                </a:tc>
                <a:tc>
                  <a:txBody>
                    <a:bodyPr/>
                    <a:lstStyle/>
                    <a:p>
                      <a:r>
                        <a:rPr sz="2025" b="0">
                          <a:solidFill>
                            <a:srgbClr val="1C3144"/>
                          </a:solidFill>
                          <a:latin typeface="Calibri"/>
                          <a:ea typeface="Calibri"/>
                          <a:cs typeface="Calibri"/>
                        </a:rPr>
                        <a:t>Fit the model</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New input</a:t>
                      </a:r>
                    </a:p>
                  </a:txBody>
                  <a:tcPr marL="91440" marR="91440" marT="45720" marB="45720">
                    <a:solidFill>
                      <a:srgbClr val="EEF3F6"/>
                    </a:solidFill>
                  </a:tcPr>
                </a:tc>
                <a:tc>
                  <a:txBody>
                    <a:bodyPr/>
                    <a:lstStyle/>
                    <a:p>
                      <a:r>
                        <a:rPr sz="2025" b="0">
                          <a:solidFill>
                            <a:srgbClr val="1C3144"/>
                          </a:solidFill>
                          <a:latin typeface="Calibri"/>
                          <a:ea typeface="Calibri"/>
                          <a:cs typeface="Calibri"/>
                        </a:rPr>
                        <a:t>Missing second value</a:t>
                      </a:r>
                    </a:p>
                  </a:txBody>
                  <a:tcPr marL="91440" marR="91440" marT="45720" marB="45720">
                    <a:solidFill>
                      <a:srgbClr val="EEF3F6"/>
                    </a:solidFill>
                  </a:tcPr>
                </a:tc>
                <a:tc>
                  <a:txBody>
                    <a:bodyPr/>
                    <a:lstStyle/>
                    <a:p>
                      <a:r>
                        <a:rPr sz="2025" b="0">
                          <a:solidFill>
                            <a:srgbClr val="1C3144"/>
                          </a:solidFill>
                          <a:latin typeface="Calibri"/>
                          <a:ea typeface="Calibri"/>
                          <a:cs typeface="Calibri"/>
                        </a:rPr>
                        <a:t>Fill with saved 22</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1679F40-D09B-4AA5-AEBD-47889E88040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 new median is learned during prediction. The model receives the prepared numeric row.</a:t>
            </a:r>
          </a:p>
        </p:txBody>
      </p:sp>
      <p:sp>
        <p:nvSpPr>
          <p:cNvPr id="6" name="">
            <a:extLst xmlns:a="http://schemas.openxmlformats.org/drawingml/2006/main">
              <a:ext uri="{FF2B5EF4-FFF2-40B4-BE49-F238E27FC236}">
                <a16:creationId xmlns:a16="http://schemas.microsoft.com/office/drawing/2014/main" id="{B0147274-84F7-4D8F-91C2-4D0C99CF8E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36</a:t>
            </a:r>
          </a:p>
        </p:txBody>
      </p:sp>
    </p:spTree>
    <p:extLst>
      <p:ext uri="{BB962C8B-B14F-4D97-AF65-F5344CB8AC3E}">
        <p14:creationId xmlns:p14="http://schemas.microsoft.com/office/powerpoint/2010/main" val="95085156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9A3419-B0C4-4710-99DA-84091CAB2B9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05A7DE-053A-4F7B-A8E2-1AD6FF79C7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87C4E3-A2F1-4C19-B14A-47390F488E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(1/2)</a:t>
            </a:r>
          </a:p>
        </p:txBody>
      </p:sp>
      <p:sp>
        <p:nvSpPr>
          <p:cNvPr id="4" name="">
            <a:extLst xmlns:a="http://schemas.openxmlformats.org/drawingml/2006/main">
              <a:ext uri="{FF2B5EF4-FFF2-40B4-BE49-F238E27FC236}">
                <a16:creationId xmlns:a16="http://schemas.microsoft.com/office/drawing/2014/main" id="{F1F8FEC2-F886-4D12-A707-80F6825CAB2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07017B-4A2E-4163-981F-9183BA75B7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sklearn.impute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SimpleImputer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from sklearn.pipeline import make_pipeline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import numpy as np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train_inputs = [[1, 20], [2, 22], [3, np.nan], [4, 24]]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train_targets = [12, 14, 16, 18]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imputer = SimpleImputer(strategy="median")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model = LinearRegression()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 = make_pipeline(imputer, model)</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pipeline.fit(train_inputs, train_targets)</a:t>
            </a:r>
          </a:p>
        </p:txBody>
      </p:sp>
      <p:sp>
        <p:nvSpPr>
          <p:cNvPr id="6" name="">
            <a:extLst xmlns:a="http://schemas.openxmlformats.org/drawingml/2006/main">
              <a:ext uri="{FF2B5EF4-FFF2-40B4-BE49-F238E27FC236}">
                <a16:creationId xmlns:a16="http://schemas.microsoft.com/office/drawing/2014/main" id="{90775E1F-A5BB-462F-909A-03CB5A3757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5B2129A3-895F-4E47-964F-F81A6A81C85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4589FDDB-2F57-4156-8E51-06A1EBB733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37</a:t>
            </a:r>
          </a:p>
        </p:txBody>
      </p:sp>
    </p:spTree>
    <p:extLst>
      <p:ext uri="{BB962C8B-B14F-4D97-AF65-F5344CB8AC3E}">
        <p14:creationId xmlns:p14="http://schemas.microsoft.com/office/powerpoint/2010/main" val="69833182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2F0509-E17C-4534-8012-5459ABF07F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B6A2A6-A5B2-46FC-971B-372914146D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A7DF03A-0759-4CF0-9D3D-0E7B271460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Preprocessing learned from training only in Python (2/2)</a:t>
            </a:r>
          </a:p>
        </p:txBody>
      </p:sp>
      <p:sp>
        <p:nvSpPr>
          <p:cNvPr id="4" name="">
            <a:extLst xmlns:a="http://schemas.openxmlformats.org/drawingml/2006/main">
              <a:ext uri="{FF2B5EF4-FFF2-40B4-BE49-F238E27FC236}">
                <a16:creationId xmlns:a16="http://schemas.microsoft.com/office/drawing/2014/main" id="{0E82B3C7-134B-44F4-A1E2-9A7401BC31F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A044B-84D3-4A0D-907F-87F9148E8E7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predictions = pipeline.predict([[2.5, np.nan]])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print(predictions.round(2).tolist())</a:t>
            </a:r>
          </a:p>
        </p:txBody>
      </p:sp>
      <p:sp>
        <p:nvSpPr>
          <p:cNvPr id="6" name="">
            <a:extLst xmlns:a="http://schemas.openxmlformats.org/drawingml/2006/main">
              <a:ext uri="{FF2B5EF4-FFF2-40B4-BE49-F238E27FC236}">
                <a16:creationId xmlns:a16="http://schemas.microsoft.com/office/drawing/2014/main" id="{AE86FE6B-C753-428F-9704-0F1E6BD4256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predict applies the fitted model to new inputs.</a:t>
            </a:r>
          </a:p>
        </p:txBody>
      </p:sp>
      <p:sp>
        <p:nvSpPr>
          <p:cNvPr id="7" name="">
            <a:extLst xmlns:a="http://schemas.openxmlformats.org/drawingml/2006/main">
              <a:ext uri="{FF2B5EF4-FFF2-40B4-BE49-F238E27FC236}">
                <a16:creationId xmlns:a16="http://schemas.microsoft.com/office/drawing/2014/main" id="{47577914-68AC-4674-9B5A-07F9B12585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8BB7632F-3D73-4AC0-B285-25ECE82BFE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38</a:t>
            </a:r>
          </a:p>
        </p:txBody>
      </p:sp>
    </p:spTree>
    <p:extLst>
      <p:ext uri="{BB962C8B-B14F-4D97-AF65-F5344CB8AC3E}">
        <p14:creationId xmlns:p14="http://schemas.microsoft.com/office/powerpoint/2010/main" val="102097596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B16CC-7379-4D56-8050-F8C230DF53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05E458-D3F5-4651-862A-B4CDAA05303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1FC7D8-B3C3-4470-B019-3B1E26EAC8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a:t>
            </a:r>
          </a:p>
        </p:txBody>
      </p:sp>
      <p:sp>
        <p:nvSpPr>
          <p:cNvPr id="4" name="">
            <a:extLst xmlns:a="http://schemas.openxmlformats.org/drawingml/2006/main">
              <a:ext uri="{FF2B5EF4-FFF2-40B4-BE49-F238E27FC236}">
                <a16:creationId xmlns:a16="http://schemas.microsoft.com/office/drawing/2014/main" id="{B6C07EAE-8CDA-40E7-81D8-2C37D46F4B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B7DD75-2C6D-4457-9AE2-DE7426EA579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inner list is one row, in the same order as the input records.</a:t>
            </a:r>
          </a:p>
        </p:txBody>
      </p:sp>
      <p:sp>
        <p:nvSpPr>
          <p:cNvPr id="6" name="">
            <a:extLst xmlns:a="http://schemas.openxmlformats.org/drawingml/2006/main">
              <a:ext uri="{FF2B5EF4-FFF2-40B4-BE49-F238E27FC236}">
                <a16:creationId xmlns:a16="http://schemas.microsoft.com/office/drawing/2014/main" id="{5104C35A-3B02-44D5-9484-9EDACBA371C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AA8A11-6981-41F1-B0A3-F5E122EBE7C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list uses that same row order.</a:t>
            </a:r>
          </a:p>
        </p:txBody>
      </p:sp>
      <p:sp>
        <p:nvSpPr>
          <p:cNvPr id="8" name="">
            <a:extLst xmlns:a="http://schemas.openxmlformats.org/drawingml/2006/main">
              <a:ext uri="{FF2B5EF4-FFF2-40B4-BE49-F238E27FC236}">
                <a16:creationId xmlns:a16="http://schemas.microsoft.com/office/drawing/2014/main" id="{2CEC22DC-73BB-4E84-92DE-C07E4C0419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B55396-8EB7-400A-918F-BE3EA6FD16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feature table has no answer column.</a:t>
            </a:r>
          </a:p>
        </p:txBody>
      </p:sp>
      <p:sp>
        <p:nvSpPr>
          <p:cNvPr id="10" name="">
            <a:extLst xmlns:a="http://schemas.openxmlformats.org/drawingml/2006/main">
              <a:ext uri="{FF2B5EF4-FFF2-40B4-BE49-F238E27FC236}">
                <a16:creationId xmlns:a16="http://schemas.microsoft.com/office/drawing/2014/main" id="{863DE3AA-4E65-461E-87BE-338791064A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39</a:t>
            </a:r>
          </a:p>
        </p:txBody>
      </p:sp>
    </p:spTree>
    <p:extLst>
      <p:ext uri="{BB962C8B-B14F-4D97-AF65-F5344CB8AC3E}">
        <p14:creationId xmlns:p14="http://schemas.microsoft.com/office/powerpoint/2010/main" val="176315083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AE2DFFB-DF94-49BF-9EB2-FADF74EAA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B575E8-95DF-48BE-9E98-2792AF7276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43B8AEB-97DB-4666-BD48-EE2655E499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records into a feature table in Python</a:t>
            </a:r>
          </a:p>
        </p:txBody>
      </p:sp>
      <p:sp>
        <p:nvSpPr>
          <p:cNvPr id="4" name="">
            <a:extLst xmlns:a="http://schemas.openxmlformats.org/drawingml/2006/main">
              <a:ext uri="{FF2B5EF4-FFF2-40B4-BE49-F238E27FC236}">
                <a16:creationId xmlns:a16="http://schemas.microsoft.com/office/drawing/2014/main" id="{8DB026C6-C7EB-4508-96E0-31D867879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87F043-91B7-4DE3-A24E-E5C6136AF65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rows = [{"length": 2, "width": 3, "area":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{"length": 4, "width": 5, "area":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X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y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rows: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X.append([row["length"], row["width"]])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y.append(row["area"])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print(y)</a:t>
            </a:r>
          </a:p>
        </p:txBody>
      </p:sp>
      <p:sp>
        <p:nvSpPr>
          <p:cNvPr id="6" name="">
            <a:extLst xmlns:a="http://schemas.openxmlformats.org/drawingml/2006/main">
              <a:ext uri="{FF2B5EF4-FFF2-40B4-BE49-F238E27FC236}">
                <a16:creationId xmlns:a16="http://schemas.microsoft.com/office/drawing/2014/main" id="{411303F4-450E-4771-8A44-980FCF4F13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EE584EFB-B2A4-4559-A408-F8FF844779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1CF7A41C-27CC-4A75-B9C0-D2203CB0FD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40</a:t>
            </a:r>
          </a:p>
        </p:txBody>
      </p:sp>
    </p:spTree>
    <p:extLst>
      <p:ext uri="{BB962C8B-B14F-4D97-AF65-F5344CB8AC3E}">
        <p14:creationId xmlns:p14="http://schemas.microsoft.com/office/powerpoint/2010/main" val="5914467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30E9A2-028E-4830-91E0-7C4A99FABC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A3784A-1C78-4E10-AE20-58A6619191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06C32FF-5D8B-493B-B67E-27FBD746DF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MAE and RMSE</a:t>
            </a:r>
          </a:p>
        </p:txBody>
      </p:sp>
      <p:sp>
        <p:nvSpPr>
          <p:cNvPr id="4" name="">
            <a:extLst xmlns:a="http://schemas.openxmlformats.org/drawingml/2006/main">
              <a:ext uri="{FF2B5EF4-FFF2-40B4-BE49-F238E27FC236}">
                <a16:creationId xmlns:a16="http://schemas.microsoft.com/office/drawing/2014/main" id="{8D1734CC-D896-488F-958A-0D3A99EE681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649188-496D-4961-90F6-57B39EF1C84A}"/>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MAE and RMSE</a:t>
            </a:r>
          </a:p>
        </p:txBody>
      </p:sp>
      <p:sp>
        <p:nvSpPr>
          <p:cNvPr id="6" name="">
            <a:extLst xmlns:a="http://schemas.openxmlformats.org/drawingml/2006/main">
              <a:ext uri="{FF2B5EF4-FFF2-40B4-BE49-F238E27FC236}">
                <a16:creationId xmlns:a16="http://schemas.microsoft.com/office/drawing/2014/main" id="{4A10F70E-4522-4438-B674-C8916FC84EB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MAE averages absolute prediction errors. RMSE squares errors, averages them and takes the square root. Both use target units. RMSE is more sensitive to large errors.</a:t>
            </a:r>
          </a:p>
        </p:txBody>
      </p:sp>
      <p:sp>
        <p:nvSpPr>
          <p:cNvPr id="7" name="">
            <a:extLst xmlns:a="http://schemas.openxmlformats.org/drawingml/2006/main">
              <a:ext uri="{FF2B5EF4-FFF2-40B4-BE49-F238E27FC236}">
                <a16:creationId xmlns:a16="http://schemas.microsoft.com/office/drawing/2014/main" id="{06E1BCDA-F302-4F6A-9728-4BBBE18BDC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41</a:t>
            </a:r>
          </a:p>
        </p:txBody>
      </p:sp>
    </p:spTree>
    <p:extLst>
      <p:ext uri="{BB962C8B-B14F-4D97-AF65-F5344CB8AC3E}">
        <p14:creationId xmlns:p14="http://schemas.microsoft.com/office/powerpoint/2010/main" val="551102932"/>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3EABC1-5D50-4B1A-A0CC-A865225B2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C4F99-2669-4BA9-A45B-5358B9A82E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963E593-1381-4720-A7CB-8C0EE84FE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prediction error in ordinary numbers</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Actual</a:t>
                      </a:r>
                    </a:p>
                  </a:txBody>
                  <a:tcPr marL="91440" marR="91440" marT="45720" marB="45720">
                    <a:solidFill>
                      <a:srgbClr val="2E7D6F"/>
                    </a:solidFill>
                  </a:tcPr>
                </a:tc>
                <a:tc>
                  <a:txBody>
                    <a:bodyPr/>
                    <a:lstStyle/>
                    <a:p>
                      <a:r>
                        <a:rPr sz="2025" b="1">
                          <a:solidFill>
                            <a:srgbClr val="FFFFFF"/>
                          </a:solidFill>
                          <a:latin typeface="Calibri"/>
                          <a:ea typeface="Calibri"/>
                          <a:cs typeface="Calibri"/>
                        </a:rPr>
                        <a:t>Prediction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10</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c>
                  <a:txBody>
                    <a:bodyPr/>
                    <a:lstStyle/>
                    <a:p>
                      <a:r>
                        <a:rPr sz="2025" b="0">
                          <a:solidFill>
                            <a:srgbClr val="1C3144"/>
                          </a:solidFill>
                          <a:latin typeface="Calibri"/>
                          <a:ea typeface="Calibri"/>
                          <a:cs typeface="Calibri"/>
                        </a:rPr>
                        <a:t>24</a:t>
                      </a:r>
                    </a:p>
                  </a:txBody>
                  <a:tcPr marL="91440" marR="91440" marT="45720" marB="45720">
                    <a:solidFill>
                      <a:srgbClr val="FFFFFF"/>
                    </a:solidFill>
                  </a:tcPr>
                </a:tc>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3D903B89-2DFD-4B08-8BC9-0C38CFCBFA6B}"/>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 (2 + 4) / 2 = 3, in the target’s unit. Compare a model against a training-only baseline.</a:t>
            </a:r>
          </a:p>
        </p:txBody>
      </p:sp>
      <p:sp>
        <p:nvSpPr>
          <p:cNvPr id="6" name="">
            <a:extLst xmlns:a="http://schemas.openxmlformats.org/drawingml/2006/main">
              <a:ext uri="{FF2B5EF4-FFF2-40B4-BE49-F238E27FC236}">
                <a16:creationId xmlns:a16="http://schemas.microsoft.com/office/drawing/2014/main" id="{7B840F8C-1616-4DFD-9708-71F817BC55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42</a:t>
            </a:r>
          </a:p>
        </p:txBody>
      </p:sp>
    </p:spTree>
    <p:extLst>
      <p:ext uri="{BB962C8B-B14F-4D97-AF65-F5344CB8AC3E}">
        <p14:creationId xmlns:p14="http://schemas.microsoft.com/office/powerpoint/2010/main" val="13523388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52ADB1-A072-48FE-9B4B-F1951958DC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BAF7A4-F734-4A64-A9B8-E2394864C3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CF0779C-6D91-47E7-95B2-565A8B8490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operations in the error calculation</a:t>
            </a:r>
          </a:p>
        </p:txBody>
      </p:sp>
      <p:sp>
        <p:nvSpPr>
          <p:cNvPr id="4" name="">
            <a:extLst xmlns:a="http://schemas.openxmlformats.org/drawingml/2006/main">
              <a:ext uri="{FF2B5EF4-FFF2-40B4-BE49-F238E27FC236}">
                <a16:creationId xmlns:a16="http://schemas.microsoft.com/office/drawing/2014/main" id="{80D8AC5D-A20B-4416-8339-3E2B508CB2A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2286E2-7DF7-44D8-937B-ED5C2D0C7D8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zip and paired names</a:t>
            </a:r>
          </a:p>
        </p:txBody>
      </p:sp>
      <p:sp>
        <p:nvSpPr>
          <p:cNvPr id="6" name="">
            <a:extLst xmlns:a="http://schemas.openxmlformats.org/drawingml/2006/main">
              <a:ext uri="{FF2B5EF4-FFF2-40B4-BE49-F238E27FC236}">
                <a16:creationId xmlns:a16="http://schemas.microsoft.com/office/drawing/2014/main" id="{089EC4C8-3384-4C16-854C-8AA55B4CC9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zip(actual, predicted) pairs values at matching positions. for truth, guess in ... assigns each pair to two names. Here both lists must have the same nonzero length.</a:t>
            </a:r>
          </a:p>
        </p:txBody>
      </p:sp>
      <p:sp>
        <p:nvSpPr>
          <p:cNvPr id="7" name="">
            <a:extLst xmlns:a="http://schemas.openxmlformats.org/drawingml/2006/main">
              <a:ext uri="{FF2B5EF4-FFF2-40B4-BE49-F238E27FC236}">
                <a16:creationId xmlns:a16="http://schemas.microsoft.com/office/drawing/2014/main" id="{EE341B24-52D5-405B-9EC0-107C4324553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5C8DCCA-1989-4FE0-83A8-914F7BDC536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Square and square root</a:t>
            </a:r>
          </a:p>
        </p:txBody>
      </p:sp>
      <p:sp>
        <p:nvSpPr>
          <p:cNvPr id="9" name="">
            <a:extLst xmlns:a="http://schemas.openxmlformats.org/drawingml/2006/main">
              <a:ext uri="{FF2B5EF4-FFF2-40B4-BE49-F238E27FC236}">
                <a16:creationId xmlns:a16="http://schemas.microsoft.com/office/drawing/2014/main" id="{434D12B3-2173-4000-BE8F-F20DCF8E3BB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difference ** 2 squares an error. sqrt reverses a square for nonnegative numbers: sqrt(9) is 3. from math import sqrt makes this tool available.</a:t>
            </a:r>
          </a:p>
        </p:txBody>
      </p:sp>
      <p:sp>
        <p:nvSpPr>
          <p:cNvPr id="10" name="">
            <a:extLst xmlns:a="http://schemas.openxmlformats.org/drawingml/2006/main">
              <a:ext uri="{FF2B5EF4-FFF2-40B4-BE49-F238E27FC236}">
                <a16:creationId xmlns:a16="http://schemas.microsoft.com/office/drawing/2014/main" id="{69327F2A-F110-482F-82E3-2A6C216D4F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43</a:t>
            </a:r>
          </a:p>
        </p:txBody>
      </p:sp>
    </p:spTree>
    <p:extLst>
      <p:ext uri="{BB962C8B-B14F-4D97-AF65-F5344CB8AC3E}">
        <p14:creationId xmlns:p14="http://schemas.microsoft.com/office/powerpoint/2010/main" val="32798688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6121A5-6501-4E63-91E7-FF51793567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D99AF1-78FD-4F11-BE8E-B8C2174999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544257-E65D-4AB9-9E67-17A4BE11A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Pair two lists using zip</a:t>
            </a:r>
          </a:p>
        </p:txBody>
      </p:sp>
      <p:sp>
        <p:nvSpPr>
          <p:cNvPr id="4" name="">
            <a:extLst xmlns:a="http://schemas.openxmlformats.org/drawingml/2006/main">
              <a:ext uri="{FF2B5EF4-FFF2-40B4-BE49-F238E27FC236}">
                <a16:creationId xmlns:a16="http://schemas.microsoft.com/office/drawing/2014/main" id="{60C73FE1-2417-4746-9A10-A4E04BD7D8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403B2C-58C8-4C90-A225-4710BE151C3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zip(actual, predicted) visits matching positions together. for truth, guess in zip(...): unpacks each pair into two names.</a:t>
            </a:r>
          </a:p>
        </p:txBody>
      </p:sp>
      <p:sp>
        <p:nvSpPr>
          <p:cNvPr id="6" name="">
            <a:extLst xmlns:a="http://schemas.openxmlformats.org/drawingml/2006/main">
              <a:ext uri="{FF2B5EF4-FFF2-40B4-BE49-F238E27FC236}">
                <a16:creationId xmlns:a16="http://schemas.microsoft.com/office/drawing/2014/main" id="{9E8FEF07-9E50-414F-8E8D-B6FE78408E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26C018-3CCC-4A27-8AFB-FF50BB7AD6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actual [10, 20] and predicted [12, 16], the pairs are (10, 12) and (20, 16). They describe the same observations in the same order.</a:t>
            </a:r>
          </a:p>
        </p:txBody>
      </p:sp>
      <p:sp>
        <p:nvSpPr>
          <p:cNvPr id="8" name="">
            <a:extLst xmlns:a="http://schemas.openxmlformats.org/drawingml/2006/main">
              <a:ext uri="{FF2B5EF4-FFF2-40B4-BE49-F238E27FC236}">
                <a16:creationId xmlns:a16="http://schemas.microsoft.com/office/drawing/2014/main" id="{366E9DB5-3BC2-4726-AE24-9006C18581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326C956-8C25-4FB8-9D5C-6765EE13F63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stops at the shorter input. Check equal, nonzero lengths for these error calculations; otherwise a result could ignore observations.</a:t>
            </a:r>
          </a:p>
        </p:txBody>
      </p:sp>
      <p:sp>
        <p:nvSpPr>
          <p:cNvPr id="10" name="">
            <a:extLst xmlns:a="http://schemas.openxmlformats.org/drawingml/2006/main">
              <a:ext uri="{FF2B5EF4-FFF2-40B4-BE49-F238E27FC236}">
                <a16:creationId xmlns:a16="http://schemas.microsoft.com/office/drawing/2014/main" id="{B661B5A7-6DC1-4E56-9754-069BA9F4B0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44</a:t>
            </a:r>
          </a:p>
        </p:txBody>
      </p:sp>
    </p:spTree>
    <p:extLst>
      <p:ext uri="{BB962C8B-B14F-4D97-AF65-F5344CB8AC3E}">
        <p14:creationId xmlns:p14="http://schemas.microsoft.com/office/powerpoint/2010/main" val="16585342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B565664-B601-4973-A41A-202339D3C2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4688598-F7D3-436B-8FB0-513B4AF0E8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14EFE8C-5995-4CE2-9593-471D08D40C9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pairs before measuring errors</a:t>
            </a:r>
          </a:p>
        </p:txBody>
      </p:sp>
      <p:sp>
        <p:nvSpPr>
          <p:cNvPr id="4" name="">
            <a:extLst xmlns:a="http://schemas.openxmlformats.org/drawingml/2006/main">
              <a:ext uri="{FF2B5EF4-FFF2-40B4-BE49-F238E27FC236}">
                <a16:creationId xmlns:a16="http://schemas.microsoft.com/office/drawing/2014/main" id="{4FBAF456-39A2-4976-811B-040BB712C9A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12A37E-771A-4E93-B2FB-68EC7BC9117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actual = [10, 20]</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predicted = [12, 16]</a:t>
            </a:r>
          </a:p>
          <a:p xmlns:a="http://schemas.openxmlformats.org/drawingml/2006/main">
            <a:pPr>
              <a:defRPr sz="1944" b="0">
                <a:solidFill>
                  <a:srgbClr val="F4F7FA"/>
                </a:solidFill>
                <a:latin typeface="Courier New"/>
                <a:ea typeface="Courier New"/>
                <a:cs typeface="Courier New"/>
              </a:defRPr>
            </a:pPr>
            <a:r>
              <a:rPr sz="1944" b="0">
                <a:solidFill>
                  <a:srgbClr val="FFB080"/>
                </a:solidFill>
                <a:latin typeface="Courier New"/>
                <a:ea typeface="Courier New"/>
                <a:cs typeface="Courier New"/>
              </a:rPr>
              <a:t>for</a:t>
            </a:r>
            <a:r>
              <a:rPr sz="1944" b="0">
                <a:solidFill>
                  <a:srgbClr val="F4F7FA"/>
                </a:solidFill>
                <a:latin typeface="Courier New"/>
                <a:ea typeface="Courier New"/>
                <a:cs typeface="Courier New"/>
              </a:rPr>
              <a:t> truth, guess in zip(actual, predicted):</a:t>
            </a:r>
          </a:p>
          <a:p xmlns:a="http://schemas.openxmlformats.org/drawingml/2006/main">
            <a:pPr>
              <a:defRPr sz="1944" b="0">
                <a:solidFill>
                  <a:srgbClr val="F4F7FA"/>
                </a:solidFill>
                <a:latin typeface="Courier New"/>
                <a:ea typeface="Courier New"/>
                <a:cs typeface="Courier New"/>
              </a:defRPr>
            </a:pPr>
            <a:r>
              <a:rPr sz="1944" b="0">
                <a:solidFill>
                  <a:srgbClr val="F4F7FA"/>
                </a:solidFill>
                <a:latin typeface="Courier New"/>
                <a:ea typeface="Courier New"/>
                <a:cs typeface="Courier New"/>
              </a:rPr>
              <a:t>    print(truth, guess)</a:t>
            </a:r>
          </a:p>
        </p:txBody>
      </p:sp>
      <p:sp>
        <p:nvSpPr>
          <p:cNvPr id="6" name="">
            <a:extLst xmlns:a="http://schemas.openxmlformats.org/drawingml/2006/main">
              <a:ext uri="{FF2B5EF4-FFF2-40B4-BE49-F238E27FC236}">
                <a16:creationId xmlns:a16="http://schemas.microsoft.com/office/drawing/2014/main" id="{39EA0112-7E36-4730-8329-88213AC9837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FAE0C73-E380-42A9-A5EE-43864EAB329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first names receive the first pair, then the second pair.</a:t>
            </a:r>
          </a:p>
        </p:txBody>
      </p:sp>
      <p:sp>
        <p:nvSpPr>
          <p:cNvPr id="8" name="">
            <a:extLst xmlns:a="http://schemas.openxmlformats.org/drawingml/2006/main">
              <a:ext uri="{FF2B5EF4-FFF2-40B4-BE49-F238E27FC236}">
                <a16:creationId xmlns:a16="http://schemas.microsoft.com/office/drawing/2014/main" id="{14EF38C4-B519-41F3-8C30-0B264035791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10 12; 20 16</a:t>
            </a:r>
          </a:p>
        </p:txBody>
      </p:sp>
      <p:sp>
        <p:nvSpPr>
          <p:cNvPr id="9" name="">
            <a:extLst xmlns:a="http://schemas.openxmlformats.org/drawingml/2006/main">
              <a:ext uri="{FF2B5EF4-FFF2-40B4-BE49-F238E27FC236}">
                <a16:creationId xmlns:a16="http://schemas.microsoft.com/office/drawing/2014/main" id="{FA3CBD51-9D46-49CB-8DF4-78490536C4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45</a:t>
            </a:r>
          </a:p>
        </p:txBody>
      </p:sp>
    </p:spTree>
    <p:extLst>
      <p:ext uri="{BB962C8B-B14F-4D97-AF65-F5344CB8AC3E}">
        <p14:creationId xmlns:p14="http://schemas.microsoft.com/office/powerpoint/2010/main" val="70503658"/>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B5B15F-4956-4A28-84B7-DC5C5FCBCD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40B94A-834E-470A-8FE1-5707C0AB39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DBC67A-80D3-48FC-9D4C-E3690A5BC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absolute and squared errors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Actual and predicted</a:t>
                      </a:r>
                    </a:p>
                  </a:txBody>
                  <a:tcPr marL="91440" marR="91440" marT="45720" marB="45720">
                    <a:solidFill>
                      <a:srgbClr val="2E7D6F"/>
                    </a:solidFill>
                  </a:tcPr>
                </a:tc>
                <a:tc>
                  <a:txBody>
                    <a:bodyPr/>
                    <a:lstStyle/>
                    <a:p>
                      <a:r>
                        <a:rPr sz="2025" b="1">
                          <a:solidFill>
                            <a:srgbClr val="FFFFFF"/>
                          </a:solidFill>
                          <a:latin typeface="Calibri"/>
                          <a:ea typeface="Calibri"/>
                          <a:cs typeface="Calibri"/>
                        </a:rPr>
                        <a:t>Absolute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Squared error</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10 and 12</a:t>
                      </a:r>
                    </a:p>
                  </a:txBody>
                  <a:tcPr marL="91440" marR="91440" marT="45720" marB="45720">
                    <a:solidFill>
                      <a:srgbClr val="EEF3F6"/>
                    </a:solidFill>
                  </a:tcPr>
                </a:tc>
                <a:tc>
                  <a:txBody>
                    <a:bodyPr/>
                    <a:lstStyle/>
                    <a:p>
                      <a:r>
                        <a:rPr sz="2025" b="0">
                          <a:solidFill>
                            <a:srgbClr val="1C3144"/>
                          </a:solidFill>
                          <a:latin typeface="Calibri"/>
                          <a:ea typeface="Calibri"/>
                          <a:cs typeface="Calibri"/>
                        </a:rPr>
                        <a:t>abs(-2) = 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2 = 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20 and 16</a:t>
                      </a:r>
                    </a:p>
                  </a:txBody>
                  <a:tcPr marL="91440" marR="91440" marT="45720" marB="45720">
                    <a:solidFill>
                      <a:srgbClr val="FFFFFF"/>
                    </a:solidFill>
                  </a:tcPr>
                </a:tc>
                <a:tc>
                  <a:txBody>
                    <a:bodyPr/>
                    <a:lstStyle/>
                    <a:p>
                      <a:r>
                        <a:rPr sz="2025" b="0">
                          <a:solidFill>
                            <a:srgbClr val="1C3144"/>
                          </a:solidFill>
                          <a:latin typeface="Calibri"/>
                          <a:ea typeface="Calibri"/>
                          <a:cs typeface="Calibri"/>
                        </a:rPr>
                        <a:t>abs(4) = 4</a:t>
                      </a:r>
                    </a:p>
                  </a:txBody>
                  <a:tcPr marL="91440" marR="91440" marT="45720" marB="45720">
                    <a:solidFill>
                      <a:srgbClr val="FFFFFF"/>
                    </a:solidFill>
                  </a:tcPr>
                </a:tc>
                <a:tc>
                  <a:txBody>
                    <a:bodyPr/>
                    <a:lstStyle/>
                    <a:p>
                      <a:r>
                        <a:rPr sz="2025" b="0">
                          <a:solidFill>
                            <a:srgbClr val="1C3144"/>
                          </a:solidFill>
                          <a:latin typeface="Calibri"/>
                          <a:ea typeface="Calibri"/>
                          <a:cs typeface="Calibri"/>
                        </a:rPr>
                        <a:t>4 ** 2 = 16</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Average</a:t>
                      </a:r>
                    </a:p>
                  </a:txBody>
                  <a:tcPr marL="91440" marR="91440" marT="45720" marB="45720">
                    <a:solidFill>
                      <a:srgbClr val="EEF3F6"/>
                    </a:solidFill>
                  </a:tcPr>
                </a:tc>
                <a:tc>
                  <a:txBody>
                    <a:bodyPr/>
                    <a:lstStyle/>
                    <a:p>
                      <a:r>
                        <a:rPr sz="2025" b="0">
                          <a:solidFill>
                            <a:srgbClr val="1C3144"/>
                          </a:solidFill>
                          <a:latin typeface="Calibri"/>
                          <a:ea typeface="Calibri"/>
                          <a:cs typeface="Calibri"/>
                        </a:rPr>
                        <a:t>(2 + 4) / 2 = 3</a:t>
                      </a:r>
                    </a:p>
                  </a:txBody>
                  <a:tcPr marL="91440" marR="91440" marT="45720" marB="45720">
                    <a:solidFill>
                      <a:srgbClr val="EEF3F6"/>
                    </a:solidFill>
                  </a:tcPr>
                </a:tc>
                <a:tc>
                  <a:txBody>
                    <a:bodyPr/>
                    <a:lstStyle/>
                    <a:p>
                      <a:r>
                        <a:rPr sz="2025" b="0">
                          <a:solidFill>
                            <a:srgbClr val="1C3144"/>
                          </a:solidFill>
                          <a:latin typeface="Calibri"/>
                          <a:ea typeface="Calibri"/>
                          <a:cs typeface="Calibri"/>
                        </a:rPr>
                        <a:t>(4 + 16) / 2 = 10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231DE739-E424-45C3-A406-27C318A310F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MAE is 3. RMSE is sqrt(10), approximately 3.1623. sqrt means the nonnegative square root.</a:t>
            </a:r>
          </a:p>
        </p:txBody>
      </p:sp>
      <p:sp>
        <p:nvSpPr>
          <p:cNvPr id="6" name="">
            <a:extLst xmlns:a="http://schemas.openxmlformats.org/drawingml/2006/main">
              <a:ext uri="{FF2B5EF4-FFF2-40B4-BE49-F238E27FC236}">
                <a16:creationId xmlns:a16="http://schemas.microsoft.com/office/drawing/2014/main" id="{641AA769-B779-4B2C-BC9A-24D8E95A41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46</a:t>
            </a:r>
          </a:p>
        </p:txBody>
      </p:sp>
    </p:spTree>
    <p:extLst>
      <p:ext uri="{BB962C8B-B14F-4D97-AF65-F5344CB8AC3E}">
        <p14:creationId xmlns:p14="http://schemas.microsoft.com/office/powerpoint/2010/main" val="2044325949"/>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3ADC2F-F99D-4CE9-AD46-0943BDB24D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D20460-A743-41D9-9344-E347BBCECD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5AB48E-5DB0-4E83-86A9-3E81EF271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a:t>
            </a:r>
          </a:p>
        </p:txBody>
      </p:sp>
      <p:sp>
        <p:nvSpPr>
          <p:cNvPr id="4" name="">
            <a:extLst xmlns:a="http://schemas.openxmlformats.org/drawingml/2006/main">
              <a:ext uri="{FF2B5EF4-FFF2-40B4-BE49-F238E27FC236}">
                <a16:creationId xmlns:a16="http://schemas.microsoft.com/office/drawing/2014/main" id="{4D848194-7A9F-4356-8198-5DD3B9AF06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1C0B59-0C3E-4B22-933E-7266C6D5268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zip pairs corresponding values. abs measures error size.</a:t>
            </a:r>
          </a:p>
        </p:txBody>
      </p:sp>
      <p:sp>
        <p:nvSpPr>
          <p:cNvPr id="6" name="">
            <a:extLst xmlns:a="http://schemas.openxmlformats.org/drawingml/2006/main">
              <a:ext uri="{FF2B5EF4-FFF2-40B4-BE49-F238E27FC236}">
                <a16:creationId xmlns:a16="http://schemas.microsoft.com/office/drawing/2014/main" id="{902ED4A2-A349-4020-8014-A1015ED4A4E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ACC0D1D-770E-40FD-946F-FF7B4B234B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emphasises large errors; taking the square root returns to the original unit.</a:t>
            </a:r>
          </a:p>
        </p:txBody>
      </p:sp>
      <p:sp>
        <p:nvSpPr>
          <p:cNvPr id="8" name="">
            <a:extLst xmlns:a="http://schemas.openxmlformats.org/drawingml/2006/main">
              <a:ext uri="{FF2B5EF4-FFF2-40B4-BE49-F238E27FC236}">
                <a16:creationId xmlns:a16="http://schemas.microsoft.com/office/drawing/2014/main" id="{B0366ED0-29A4-431E-8106-5A9C09BD13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666EA5-7371-4F7D-9BEB-085BC8B8E1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functions assume equal-length, nonempty paired observations.</a:t>
            </a:r>
          </a:p>
        </p:txBody>
      </p:sp>
      <p:sp>
        <p:nvSpPr>
          <p:cNvPr id="10" name="">
            <a:extLst xmlns:a="http://schemas.openxmlformats.org/drawingml/2006/main">
              <a:ext uri="{FF2B5EF4-FFF2-40B4-BE49-F238E27FC236}">
                <a16:creationId xmlns:a16="http://schemas.microsoft.com/office/drawing/2014/main" id="{33FC0042-2D0B-4649-B705-2CCC0ED95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47</a:t>
            </a:r>
          </a:p>
        </p:txBody>
      </p:sp>
    </p:spTree>
    <p:extLst>
      <p:ext uri="{BB962C8B-B14F-4D97-AF65-F5344CB8AC3E}">
        <p14:creationId xmlns:p14="http://schemas.microsoft.com/office/powerpoint/2010/main" val="9457022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0D23782-D715-4BA8-8699-CFA2BFF69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FCC56-3883-46C5-9B16-DB96B60E84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4D30C34-951D-4D33-86EE-0B73F3419E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(1/2)</a:t>
            </a:r>
          </a:p>
        </p:txBody>
      </p:sp>
      <p:sp>
        <p:nvSpPr>
          <p:cNvPr id="4" name="">
            <a:extLst xmlns:a="http://schemas.openxmlformats.org/drawingml/2006/main">
              <a:ext uri="{FF2B5EF4-FFF2-40B4-BE49-F238E27FC236}">
                <a16:creationId xmlns:a16="http://schemas.microsoft.com/office/drawing/2014/main" id="{91F0903A-6EDD-49D1-86B9-076B628897F7}"/>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9AF2B7-3A5D-42AF-B4CA-7BDC79DAA2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math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sqrt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 = [10,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 = [12, 16]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absolute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squared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truth, guess in zip(a,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d</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ference = truth - guess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absolute.append(abs(difference))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squared.append(difference ** 2)</a:t>
            </a:r>
          </a:p>
        </p:txBody>
      </p:sp>
      <p:sp>
        <p:nvSpPr>
          <p:cNvPr id="6" name="">
            <a:extLst xmlns:a="http://schemas.openxmlformats.org/drawingml/2006/main">
              <a:ext uri="{FF2B5EF4-FFF2-40B4-BE49-F238E27FC236}">
                <a16:creationId xmlns:a16="http://schemas.microsoft.com/office/drawing/2014/main" id="{4FE29E53-20F9-4527-B3E6-928EC65D634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94F6AEC-44C1-48D3-ACB6-0999DF2C81D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0C594499-00E5-4F97-AF12-BF41B121477B}"/>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9" name="">
            <a:extLst xmlns:a="http://schemas.openxmlformats.org/drawingml/2006/main">
              <a:ext uri="{FF2B5EF4-FFF2-40B4-BE49-F238E27FC236}">
                <a16:creationId xmlns:a16="http://schemas.microsoft.com/office/drawing/2014/main" id="{23A07795-5646-4403-AEA3-5580DA13B8E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10" name="">
            <a:extLst xmlns:a="http://schemas.openxmlformats.org/drawingml/2006/main">
              <a:ext uri="{FF2B5EF4-FFF2-40B4-BE49-F238E27FC236}">
                <a16:creationId xmlns:a16="http://schemas.microsoft.com/office/drawing/2014/main" id="{16F0957B-C30A-4357-8ABD-82155D7A762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81EA3B7-E987-48B7-80E0-25AB33234DB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48</a:t>
            </a:r>
          </a:p>
        </p:txBody>
      </p:sp>
    </p:spTree>
    <p:extLst>
      <p:ext uri="{BB962C8B-B14F-4D97-AF65-F5344CB8AC3E}">
        <p14:creationId xmlns:p14="http://schemas.microsoft.com/office/powerpoint/2010/main" val="58928505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A6B190-770C-4A67-B641-A78DBDF06C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EF60BE-07A8-49FD-BB74-C0D9079A5C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60B27B5-71BC-4D29-9F6A-3F69A88B8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error measures in Python (2/2)</a:t>
            </a:r>
          </a:p>
        </p:txBody>
      </p:sp>
      <p:sp>
        <p:nvSpPr>
          <p:cNvPr id="4" name="">
            <a:extLst xmlns:a="http://schemas.openxmlformats.org/drawingml/2006/main">
              <a:ext uri="{FF2B5EF4-FFF2-40B4-BE49-F238E27FC236}">
                <a16:creationId xmlns:a16="http://schemas.microsoft.com/office/drawing/2014/main" id="{AA5BB5C2-2662-4CCE-8642-6958B90F701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78F648-39D4-4B16-9151-6A0A6E5B122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print(sum(absolute) / len(a))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print(sqrt(sum(squared) / len(a)))</a:t>
            </a:r>
          </a:p>
        </p:txBody>
      </p:sp>
      <p:sp>
        <p:nvSpPr>
          <p:cNvPr id="6" name="">
            <a:extLst xmlns:a="http://schemas.openxmlformats.org/drawingml/2006/main">
              <a:ext uri="{FF2B5EF4-FFF2-40B4-BE49-F238E27FC236}">
                <a16:creationId xmlns:a16="http://schemas.microsoft.com/office/drawing/2014/main" id="{143A5FFF-595F-4B37-AE62-E8B6C0D2D6D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FA38998-A0A2-445E-90E9-C5E3EC88A46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5DD23FAB-DA77-4997-AD6B-75E94BA2A3A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D8279ADC-BEF9-4236-BA91-CF2E281D7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49</a:t>
            </a:r>
          </a:p>
        </p:txBody>
      </p:sp>
    </p:spTree>
    <p:extLst>
      <p:ext uri="{BB962C8B-B14F-4D97-AF65-F5344CB8AC3E}">
        <p14:creationId xmlns:p14="http://schemas.microsoft.com/office/powerpoint/2010/main" val="50926577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BC2D39-D71F-4019-BFF3-F19A00A2BE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1BC4BB-7F8A-4747-96EB-393B6862CE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AAD0BC-0D94-4E4D-BB55-216036EBC5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R² compares against a mean prediction</a:t>
            </a:r>
          </a:p>
        </p:txBody>
      </p:sp>
      <p:sp>
        <p:nvSpPr>
          <p:cNvPr id="4" name="">
            <a:extLst xmlns:a="http://schemas.openxmlformats.org/drawingml/2006/main">
              <a:ext uri="{FF2B5EF4-FFF2-40B4-BE49-F238E27FC236}">
                <a16:creationId xmlns:a16="http://schemas.microsoft.com/office/drawing/2014/main" id="{00707212-22D8-4749-837A-9B8455C0AD1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3D3263-F256-44A3-9905-8A52FA4841A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R² compares squared errors with predicting the mean of the evaluated targets. It is a score, not “percentage accuracy”.</a:t>
            </a:r>
          </a:p>
        </p:txBody>
      </p:sp>
      <p:sp>
        <p:nvSpPr>
          <p:cNvPr id="6" name="">
            <a:extLst xmlns:a="http://schemas.openxmlformats.org/drawingml/2006/main">
              <a:ext uri="{FF2B5EF4-FFF2-40B4-BE49-F238E27FC236}">
                <a16:creationId xmlns:a16="http://schemas.microsoft.com/office/drawing/2014/main" id="{31BB27E2-121C-42F5-AACF-FB0B37E63A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E432E7-53F6-4A30-A469-75A5CCD7D33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 means perfect predictions on those observations. 0 matches that mean-prediction reference; a negative score can be worse.</a:t>
            </a:r>
          </a:p>
        </p:txBody>
      </p:sp>
      <p:sp>
        <p:nvSpPr>
          <p:cNvPr id="8" name="">
            <a:extLst xmlns:a="http://schemas.openxmlformats.org/drawingml/2006/main">
              <a:ext uri="{FF2B5EF4-FFF2-40B4-BE49-F238E27FC236}">
                <a16:creationId xmlns:a16="http://schemas.microsoft.com/office/drawing/2014/main" id="{5687649A-69AB-47A5-A651-5CB1A2CCC7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AE2E1F-6653-4462-874F-340FFB112B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evaluation observations and report the specified error metric with its units. Constant targets need special handling; this score alone does not prove usefulness.</a:t>
            </a:r>
          </a:p>
        </p:txBody>
      </p:sp>
      <p:sp>
        <p:nvSpPr>
          <p:cNvPr id="10" name="">
            <a:extLst xmlns:a="http://schemas.openxmlformats.org/drawingml/2006/main">
              <a:ext uri="{FF2B5EF4-FFF2-40B4-BE49-F238E27FC236}">
                <a16:creationId xmlns:a16="http://schemas.microsoft.com/office/drawing/2014/main" id="{421BA39F-2509-4157-A656-15919D96D4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50</a:t>
            </a:r>
          </a:p>
        </p:txBody>
      </p:sp>
    </p:spTree>
    <p:extLst>
      <p:ext uri="{BB962C8B-B14F-4D97-AF65-F5344CB8AC3E}">
        <p14:creationId xmlns:p14="http://schemas.microsoft.com/office/powerpoint/2010/main" val="77529271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7DE923-BFA0-40E1-9F6A-8F619ECDC5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5CC380-205C-4C9E-A8CB-B04529719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A11F04-24E5-4361-8EF5-86BD3FED3C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335A291F-8EBC-4F4D-AE63-0A83DFAD6B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860ED4-24F6-4826-AAAE-ED65F3319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5978CB7-916E-4F27-AEA7-1395EC67446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On paper compare actual [10, 20] with predictions [12, 16]. Find MAE and RMSE. Is MAE a plus/minus guarantee for each prediction?</a:t>
            </a:r>
          </a:p>
        </p:txBody>
      </p:sp>
      <p:sp>
        <p:nvSpPr>
          <p:cNvPr id="7" name="">
            <a:extLst xmlns:a="http://schemas.openxmlformats.org/drawingml/2006/main">
              <a:ext uri="{FF2B5EF4-FFF2-40B4-BE49-F238E27FC236}">
                <a16:creationId xmlns:a16="http://schemas.microsoft.com/office/drawing/2014/main" id="{F1D2B306-8351-4559-B3DF-0FE90BF8487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Absolute errors are 2 and 4: MAE 3. Squared errors 4 and 16: RMSE sqrt(10), about 3.162. MAE is an average, not an individual error bound.</a:t>
            </a:r>
          </a:p>
        </p:txBody>
      </p:sp>
      <p:sp>
        <p:nvSpPr>
          <p:cNvPr id="8" name="">
            <a:extLst xmlns:a="http://schemas.openxmlformats.org/drawingml/2006/main">
              <a:ext uri="{FF2B5EF4-FFF2-40B4-BE49-F238E27FC236}">
                <a16:creationId xmlns:a16="http://schemas.microsoft.com/office/drawing/2014/main" id="{D734084C-8C95-476F-BC08-C521D07AC1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51</a:t>
            </a:r>
          </a:p>
        </p:txBody>
      </p:sp>
    </p:spTree>
    <p:extLst>
      <p:ext uri="{BB962C8B-B14F-4D97-AF65-F5344CB8AC3E}">
        <p14:creationId xmlns:p14="http://schemas.microsoft.com/office/powerpoint/2010/main" val="102257820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007B05-7E11-45A3-8023-88AAC1D36C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B9885E-F087-4BC6-8D0E-F813EE0C72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640E18D-EFC5-4977-8889-A136033C0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76193156-AE37-408C-8086-7A0E548FA6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0722FA-DA8B-432D-8A08-C689271D56E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W08 asks for baseline, linear and depth-4 tree prediction lists plus error metrics.</a:t>
            </a:r>
          </a:p>
        </p:txBody>
      </p:sp>
      <p:sp>
        <p:nvSpPr>
          <p:cNvPr id="6" name="">
            <a:extLst xmlns:a="http://schemas.openxmlformats.org/drawingml/2006/main">
              <a:ext uri="{FF2B5EF4-FFF2-40B4-BE49-F238E27FC236}">
                <a16:creationId xmlns:a16="http://schemas.microsoft.com/office/drawing/2014/main" id="{12666F1F-186B-4F1E-BE86-00DE0542106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DBE7A7F-AC5A-42AF-B71E-FF52F8B3111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missing-value replacement on training data.</a:t>
            </a:r>
          </a:p>
        </p:txBody>
      </p:sp>
      <p:sp>
        <p:nvSpPr>
          <p:cNvPr id="8" name="">
            <a:extLst xmlns:a="http://schemas.openxmlformats.org/drawingml/2006/main">
              <a:ext uri="{FF2B5EF4-FFF2-40B4-BE49-F238E27FC236}">
                <a16:creationId xmlns:a16="http://schemas.microsoft.com/office/drawing/2014/main" id="{DC30E596-ACCB-4D92-9B13-BE7EDCF153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FF6563-E61B-4C64-A931-C33775E3C4B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joins preprocessing to the model.</a:t>
            </a:r>
          </a:p>
        </p:txBody>
      </p:sp>
      <p:sp>
        <p:nvSpPr>
          <p:cNvPr id="10" name="">
            <a:extLst xmlns:a="http://schemas.openxmlformats.org/drawingml/2006/main">
              <a:ext uri="{FF2B5EF4-FFF2-40B4-BE49-F238E27FC236}">
                <a16:creationId xmlns:a16="http://schemas.microsoft.com/office/drawing/2014/main" id="{74D277F9-EC66-40EE-B65E-D0C904F3F87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8F11BB-D602-444F-94A2-CB31CA6C66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load_pct and ambient_c are predictors.</a:t>
            </a:r>
          </a:p>
        </p:txBody>
      </p:sp>
      <p:sp>
        <p:nvSpPr>
          <p:cNvPr id="12" name="">
            <a:extLst xmlns:a="http://schemas.openxmlformats.org/drawingml/2006/main">
              <a:ext uri="{FF2B5EF4-FFF2-40B4-BE49-F238E27FC236}">
                <a16:creationId xmlns:a16="http://schemas.microsoft.com/office/drawing/2014/main" id="{434B128B-1F27-4252-8672-4AD8EA0733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52</a:t>
            </a:r>
          </a:p>
        </p:txBody>
      </p:sp>
    </p:spTree>
    <p:extLst>
      <p:ext uri="{BB962C8B-B14F-4D97-AF65-F5344CB8AC3E}">
        <p14:creationId xmlns:p14="http://schemas.microsoft.com/office/powerpoint/2010/main" val="2232369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C109D6-C3E2-4A66-88F5-0E92A5C4D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A7890B-4532-461F-A3C1-01959A62BC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6DCED8A-8DA9-4C7D-8D30-8779802EB1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2ACD968D-C8AB-40C1-9EB5-B949D21E09C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D77356-D157-41C4-91DB-6DEC988866B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observations from the same equipment in one partition.</a:t>
            </a:r>
          </a:p>
        </p:txBody>
      </p:sp>
      <p:sp>
        <p:nvSpPr>
          <p:cNvPr id="6" name="">
            <a:extLst xmlns:a="http://schemas.openxmlformats.org/drawingml/2006/main">
              <a:ext uri="{FF2B5EF4-FFF2-40B4-BE49-F238E27FC236}">
                <a16:creationId xmlns:a16="http://schemas.microsoft.com/office/drawing/2014/main" id="{A91AE496-40C8-4886-849F-9C165CC6784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848BB1-08F4-4997-88A9-9ED6E4FF7DE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comparison supplies scenario values.</a:t>
            </a:r>
          </a:p>
        </p:txBody>
      </p:sp>
      <p:sp>
        <p:nvSpPr>
          <p:cNvPr id="8" name="">
            <a:extLst xmlns:a="http://schemas.openxmlformats.org/drawingml/2006/main">
              <a:ext uri="{FF2B5EF4-FFF2-40B4-BE49-F238E27FC236}">
                <a16:creationId xmlns:a16="http://schemas.microsoft.com/office/drawing/2014/main" id="{1F3524CB-CAA4-43AA-A83E-189ADB287B9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7448B7-4176-48AE-B960-75DD6CBBDDD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Distinguish them from your own measured results.</a:t>
            </a:r>
          </a:p>
        </p:txBody>
      </p:sp>
      <p:sp>
        <p:nvSpPr>
          <p:cNvPr id="10" name="">
            <a:extLst xmlns:a="http://schemas.openxmlformats.org/drawingml/2006/main">
              <a:ext uri="{FF2B5EF4-FFF2-40B4-BE49-F238E27FC236}">
                <a16:creationId xmlns:a16="http://schemas.microsoft.com/office/drawing/2014/main" id="{47319F33-4AFA-42BC-ACB1-2BCB5C4C58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53</a:t>
            </a:r>
          </a:p>
        </p:txBody>
      </p:sp>
    </p:spTree>
    <p:extLst>
      <p:ext uri="{BB962C8B-B14F-4D97-AF65-F5344CB8AC3E}">
        <p14:creationId xmlns:p14="http://schemas.microsoft.com/office/powerpoint/2010/main" val="26735935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AD865E-A1EB-46FC-85AF-862562E66A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6DC81E-727A-4A53-BC98-5BCE3C5FAE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90441D-3C01-4DA7-9390-816A5C6A77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a:t>
            </a:r>
          </a:p>
        </p:txBody>
      </p:sp>
      <p:sp>
        <p:nvSpPr>
          <p:cNvPr id="4" name="">
            <a:extLst xmlns:a="http://schemas.openxmlformats.org/drawingml/2006/main">
              <a:ext uri="{FF2B5EF4-FFF2-40B4-BE49-F238E27FC236}">
                <a16:creationId xmlns:a16="http://schemas.microsoft.com/office/drawing/2014/main" id="{243D1578-B08C-4AF4-8B52-E47F7F8B53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2C7687E-3113-4934-9C53-6B2A6DD8CB2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score on training rows describes training fit.</a:t>
            </a:r>
          </a:p>
        </p:txBody>
      </p:sp>
      <p:sp>
        <p:nvSpPr>
          <p:cNvPr id="6" name="">
            <a:extLst xmlns:a="http://schemas.openxmlformats.org/drawingml/2006/main">
              <a:ext uri="{FF2B5EF4-FFF2-40B4-BE49-F238E27FC236}">
                <a16:creationId xmlns:a16="http://schemas.microsoft.com/office/drawing/2014/main" id="{3569CADF-D6B2-41F3-8BE4-48FF417E61E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2982B0-3C72-45DC-B9C8-FA04BF26B0A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feature table must preserve the training column names, order and units during prediction.</a:t>
            </a:r>
          </a:p>
        </p:txBody>
      </p:sp>
      <p:sp>
        <p:nvSpPr>
          <p:cNvPr id="8" name="">
            <a:extLst xmlns:a="http://schemas.openxmlformats.org/drawingml/2006/main">
              <a:ext uri="{FF2B5EF4-FFF2-40B4-BE49-F238E27FC236}">
                <a16:creationId xmlns:a16="http://schemas.microsoft.com/office/drawing/2014/main" id="{7FD303D9-224C-42B1-B132-10519C3C624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F63F28-1F03-48A7-BA80-04E8CA8AC14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one-dimensional list may have the wrong shape for a model expecting rows and columns.</a:t>
            </a:r>
          </a:p>
        </p:txBody>
      </p:sp>
      <p:sp>
        <p:nvSpPr>
          <p:cNvPr id="10" name="">
            <a:extLst xmlns:a="http://schemas.openxmlformats.org/drawingml/2006/main">
              <a:ext uri="{FF2B5EF4-FFF2-40B4-BE49-F238E27FC236}">
                <a16:creationId xmlns:a16="http://schemas.microsoft.com/office/drawing/2014/main" id="{E5DB3B2D-5111-4694-B7DF-E1131EE52CD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850888B-4D20-4D40-B652-9A4F8F51CC9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predicted-versus-actual plot uses the diagonal as perfect agreement; a pattern is not proof of causation.</a:t>
            </a:r>
          </a:p>
        </p:txBody>
      </p:sp>
      <p:sp>
        <p:nvSpPr>
          <p:cNvPr id="12" name="">
            <a:extLst xmlns:a="http://schemas.openxmlformats.org/drawingml/2006/main">
              <a:ext uri="{FF2B5EF4-FFF2-40B4-BE49-F238E27FC236}">
                <a16:creationId xmlns:a16="http://schemas.microsoft.com/office/drawing/2014/main" id="{B9CCAB14-3E93-47D0-AF23-63A9B76F0D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54</a:t>
            </a:r>
          </a:p>
        </p:txBody>
      </p:sp>
    </p:spTree>
    <p:extLst>
      <p:ext uri="{BB962C8B-B14F-4D97-AF65-F5344CB8AC3E}">
        <p14:creationId xmlns:p14="http://schemas.microsoft.com/office/powerpoint/2010/main" val="759444063"/>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4E858A-BF7B-4C4F-BC1C-6DEDFDA33C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5537DB-A96B-476C-9720-067E8FD2EB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5166F9-E58E-4300-A38F-2AC32A9A0E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model outputs continued</a:t>
            </a:r>
          </a:p>
        </p:txBody>
      </p:sp>
      <p:sp>
        <p:nvSpPr>
          <p:cNvPr id="4" name="">
            <a:extLst xmlns:a="http://schemas.openxmlformats.org/drawingml/2006/main">
              <a:ext uri="{FF2B5EF4-FFF2-40B4-BE49-F238E27FC236}">
                <a16:creationId xmlns:a16="http://schemas.microsoft.com/office/drawing/2014/main" id="{A9C34152-F511-4EAF-B33E-652D15968D4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3F4820-94E4-4761-99CB-EB3796302C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7ED50E-DC29-4951-BC6C-659E789A75E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Judge MAE against the baseline and the decision’s acceptable error.</a:t>
            </a:r>
          </a:p>
        </p:txBody>
      </p:sp>
      <p:sp>
        <p:nvSpPr>
          <p:cNvPr id="7" name="">
            <a:extLst xmlns:a="http://schemas.openxmlformats.org/drawingml/2006/main">
              <a:ext uri="{FF2B5EF4-FFF2-40B4-BE49-F238E27FC236}">
                <a16:creationId xmlns:a16="http://schemas.microsoft.com/office/drawing/2014/main" id="{3586A01B-506E-454B-A7FC-3B12631399F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R² is not an accuracy percentage.</a:t>
            </a:r>
          </a:p>
        </p:txBody>
      </p:sp>
      <p:sp>
        <p:nvSpPr>
          <p:cNvPr id="8" name="">
            <a:extLst xmlns:a="http://schemas.openxmlformats.org/drawingml/2006/main">
              <a:ext uri="{FF2B5EF4-FFF2-40B4-BE49-F238E27FC236}">
                <a16:creationId xmlns:a16="http://schemas.microsoft.com/office/drawing/2014/main" id="{D9B8867A-CA0F-404A-81CE-6C3E8AAA15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55</a:t>
            </a:r>
          </a:p>
        </p:txBody>
      </p:sp>
    </p:spTree>
    <p:extLst>
      <p:ext uri="{BB962C8B-B14F-4D97-AF65-F5344CB8AC3E}">
        <p14:creationId xmlns:p14="http://schemas.microsoft.com/office/powerpoint/2010/main" val="95922289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A7AB198-924A-4ED4-B3CD-39D9BE3C7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67C06E-FBDB-4408-959C-F493282506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6C81471-0716-430C-8A69-CC963CE3E0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3AC4284-D3A5-4C62-9551-547BF03587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06C419-1C12-4595-9C00-02AD682151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AAD2A959-D8BC-4CB4-BE92-D7B12EC5656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F46EA50-ACDC-4CD1-B99C-BEDF7BDCE18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93607A52-A195-4510-9221-0EAD09E9F3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5C0A5F-80CB-41A3-8A2E-D06921CE1C8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67A1D331-0F79-48FE-87BA-E0224BA089A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D173055-F40F-4C78-B0D2-38F4589C475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1B74B9F4-5953-4157-BCBF-F1C0E9B3C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56</a:t>
            </a:r>
          </a:p>
        </p:txBody>
      </p:sp>
    </p:spTree>
    <p:extLst>
      <p:ext uri="{BB962C8B-B14F-4D97-AF65-F5344CB8AC3E}">
        <p14:creationId xmlns:p14="http://schemas.microsoft.com/office/powerpoint/2010/main" val="121509100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363963-7037-4B78-BD8E-143A210D1E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59BAF7-14B3-431D-ABCC-6356326F6A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69DABC1-4D81-4E9D-874B-C211F708A8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1FE79CF0-BEAE-47CF-A6A0-312C238C127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EDADCD-F74F-4937-A871-4C826CE766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A46DEF6-02DC-4341-8EDD-BE7A054A555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AF97FFE-7420-46E7-92D9-B701875916A6}"/>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303B7E9-08CF-4E8D-9C34-C4F1F015DC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57</a:t>
            </a:r>
          </a:p>
        </p:txBody>
      </p:sp>
    </p:spTree>
    <p:extLst>
      <p:ext uri="{BB962C8B-B14F-4D97-AF65-F5344CB8AC3E}">
        <p14:creationId xmlns:p14="http://schemas.microsoft.com/office/powerpoint/2010/main" val="106756777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2D582E-F607-44C9-9D2F-F33555244F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0759B9-D811-4495-8514-7E1502C319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60F8573-D328-441A-AD2D-C7BFED45ED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9421ACF5-A303-4037-962A-28E5DEF9A7F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882E49-3DB1-4A9F-BF20-F36A5D600FE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06462AC-2226-4736-B77B-DF50BDE3032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DFB1DE1-CD0E-468B-B992-E54CC9F7B81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E30E9697-71E8-4756-B40C-2BA7A9434A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58</a:t>
            </a:r>
          </a:p>
        </p:txBody>
      </p:sp>
    </p:spTree>
    <p:extLst>
      <p:ext uri="{BB962C8B-B14F-4D97-AF65-F5344CB8AC3E}">
        <p14:creationId xmlns:p14="http://schemas.microsoft.com/office/powerpoint/2010/main" val="89840371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1DE7A20-A0CA-48AA-91FC-EC64164B8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6E1109-3CB6-44BD-85B7-C9FA668CB8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550D5EB-9D43-433F-BB17-ABF367F4C4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6CBDB7B0-0468-4551-9A7F-A6A3AB6071F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AB6EBF8-F99F-4BB7-9527-37C962C19C7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26B57391-AEAF-4650-8A03-CE318E9832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EC5771-C005-4520-86D5-1DC48B3439E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520C164B-5021-4E6C-BB4D-98938E3426A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F3A512-9B44-481C-81E0-058B60D1D38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CC210496-3E6B-4A08-8E4D-78378C863ED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26E7365-9822-41DB-9D56-FF2FFCBE2F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203EFA41-76F9-4A1D-8206-0D7F544A22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59</a:t>
            </a:r>
          </a:p>
        </p:txBody>
      </p:sp>
    </p:spTree>
    <p:extLst>
      <p:ext uri="{BB962C8B-B14F-4D97-AF65-F5344CB8AC3E}">
        <p14:creationId xmlns:p14="http://schemas.microsoft.com/office/powerpoint/2010/main" val="150001501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48A624-BE3F-439F-94C3-EB57857C34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F5A8AC-4CDC-4B78-8F05-29B4CBB93F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7C306C8-0BCE-4566-B585-F68CEF5478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4BDC061E-C22C-4CF9-8021-47731094423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CAB6E1-F92A-4B3B-9712-6389E4944A7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08:00 Kampala</a:t>
            </a:r>
          </a:p>
        </p:txBody>
      </p:sp>
      <p:sp>
        <p:nvSpPr>
          <p:cNvPr id="6" name="">
            <a:extLst xmlns:a="http://schemas.openxmlformats.org/drawingml/2006/main">
              <a:ext uri="{FF2B5EF4-FFF2-40B4-BE49-F238E27FC236}">
                <a16:creationId xmlns:a16="http://schemas.microsoft.com/office/drawing/2014/main" id="{BD3EB56A-C486-445B-A7AC-779E549939C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4ACB1D5-1EBF-490A-819F-8FA7BA79F955}"/>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08:00 Kampala</a:t>
            </a:r>
          </a:p>
        </p:txBody>
      </p:sp>
      <p:sp>
        <p:nvSpPr>
          <p:cNvPr id="8" name="">
            <a:extLst xmlns:a="http://schemas.openxmlformats.org/drawingml/2006/main">
              <a:ext uri="{FF2B5EF4-FFF2-40B4-BE49-F238E27FC236}">
                <a16:creationId xmlns:a16="http://schemas.microsoft.com/office/drawing/2014/main" id="{C6113262-50C2-4517-9713-871A1C02153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5278C71-094E-4A7C-BD0B-DD33470962A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6114105-F8C6-4924-B435-FBF9C42C4A36}"/>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1D0531-2ADC-4E33-B9F0-FA7FED356BD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1DEECA00-651C-4579-B3EF-96D610C2119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D9A9B83-EC30-46F5-84B6-CC2264B20A6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20fe4e744314d50"/>
              </a:rPr>
              <a:t>Open W08 assignment form</a:t>
            </a:r>
          </a:p>
        </p:txBody>
      </p:sp>
      <p:sp>
        <p:nvSpPr>
          <p:cNvPr id="14" name="">
            <a:extLst xmlns:a="http://schemas.openxmlformats.org/drawingml/2006/main">
              <a:ext uri="{FF2B5EF4-FFF2-40B4-BE49-F238E27FC236}">
                <a16:creationId xmlns:a16="http://schemas.microsoft.com/office/drawing/2014/main" id="{0F3DCEAD-8665-414C-92EE-7C5D3F88701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https://docs.google.com/forms/d/e/1FAIpQLScEhukVhOy7mk4-sfmGMIBPDwAXlVTIZeAict3izXXZ1fvCFg/viewform</a:t>
            </a:r>
          </a:p>
        </p:txBody>
      </p:sp>
      <p:sp>
        <p:nvSpPr>
          <p:cNvPr id="15" name="">
            <a:extLst xmlns:a="http://schemas.openxmlformats.org/drawingml/2006/main">
              <a:ext uri="{FF2B5EF4-FFF2-40B4-BE49-F238E27FC236}">
                <a16:creationId xmlns:a16="http://schemas.microsoft.com/office/drawing/2014/main" id="{A0AE8B86-46AA-43E0-9F0E-854EC6068F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60</a:t>
            </a:r>
          </a:p>
        </p:txBody>
      </p:sp>
    </p:spTree>
    <p:extLst>
      <p:ext uri="{BB962C8B-B14F-4D97-AF65-F5344CB8AC3E}">
        <p14:creationId xmlns:p14="http://schemas.microsoft.com/office/powerpoint/2010/main" val="654747799"/>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9C4F46-234C-4304-A00F-E511F3F13D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A36DF9-19B0-4C80-8D65-4B1BBEE5F7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C4C780E-9749-4DB5-B48C-9443E7B3A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BEE8D5C0-474B-4FFB-9DF1-2EC9F627840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CA4758-31E3-4CF7-A502-FB540F2D3F4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59CB00AA-5D10-4312-A7E3-F06AA69E05B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9FEB56-98B3-4C35-A44A-B9503BD302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0AB71A92-A54B-4C54-83A8-4C8BB97531C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98D6568-BB79-4369-8850-CFA781F810C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0FF8B822-E57F-4004-AC73-994AB27B1E8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C11028-DFD5-4D1E-B226-31B8EBFCD67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F9F6756D-F75A-408E-B8C4-5899577521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61</a:t>
            </a:r>
          </a:p>
        </p:txBody>
      </p:sp>
    </p:spTree>
    <p:extLst>
      <p:ext uri="{BB962C8B-B14F-4D97-AF65-F5344CB8AC3E}">
        <p14:creationId xmlns:p14="http://schemas.microsoft.com/office/powerpoint/2010/main" val="87347035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DD79908-21A2-410D-B821-D36BF4714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B2380-A5BA-480E-AF50-12B3379EE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3AA335E-46FB-4E6F-AE78-73C13ED1BF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459DCF14-20E4-4235-9798-3A442B8AAD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3C7D23-992F-444E-9294-955024406B9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A8B703F4-CD84-4F8B-940C-A77100D0732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EAB1F0-90AB-4AF2-A2C3-F21FFD5E609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DEC13237-42A9-42DC-8025-6D828F6270F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9D0C8F-B0AE-4B64-9298-489908A2EE6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0DCAF24E-9F78-471E-BB6E-F09ECDB61C0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9401DC-6D9C-4128-A5EE-29A16F55FAF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9B76A115-3EA7-4097-A7B7-2727FB0DA3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62</a:t>
            </a:r>
          </a:p>
        </p:txBody>
      </p:sp>
    </p:spTree>
    <p:extLst>
      <p:ext uri="{BB962C8B-B14F-4D97-AF65-F5344CB8AC3E}">
        <p14:creationId xmlns:p14="http://schemas.microsoft.com/office/powerpoint/2010/main" val="1103071140"/>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6FA18E-3EA3-4943-8EB1-25B99E3123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362404-EE28-43E7-AF4D-EAFF547857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5526982-2B96-44CA-BCAD-8EEB281EAD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E18E03A7-F974-4ED2-822C-C78AB42FD7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A18C7E-E130-451C-A1A9-6AAA89A80F5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ACFE081D-D18D-4303-A03A-5AAEE154FE7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EC0AE71-5B55-4F10-BAF8-9FB90D588F3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67316D5C-9796-455F-B854-F893662CEB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D1F24F-2602-4F93-A089-0A46446D51B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80C934FF-F4FA-4C2F-BA76-72D00C4C886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CFF1BFA-3D43-47C7-AC05-F2A0A125027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CBAA301B-0A53-44A6-8386-236333AE32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63</a:t>
            </a:r>
          </a:p>
        </p:txBody>
      </p:sp>
    </p:spTree>
    <p:extLst>
      <p:ext uri="{BB962C8B-B14F-4D97-AF65-F5344CB8AC3E}">
        <p14:creationId xmlns:p14="http://schemas.microsoft.com/office/powerpoint/2010/main" val="1797886268"/>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F8E81D-EB8B-44DF-AE12-D6C47DBF1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7373E-503F-4990-9DDD-7F0F985C5F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561724A-9C0D-4F8A-8988-37C5C4F905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6D744C3B-D04F-4276-A907-5C8CA74172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29E458-F689-41D5-BE68-9A5C13DD829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6BDCA4AD-F4DB-4D83-9D55-6557F435ABB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D06DFA-8B33-4E3B-8D0C-1490291BFCA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7ABD089-AEE9-46B1-B130-21A7AFA2267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14C1897-FFDF-43F7-B760-31617327D5E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70017289-EFBE-4D54-A6FC-1672CF7D136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DC3ED47-3647-4BC1-8B42-AA206D0FE41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C75E4E71-EDF2-4D38-BD5C-5322EA9FBEA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64</a:t>
            </a:r>
          </a:p>
        </p:txBody>
      </p:sp>
    </p:spTree>
    <p:extLst>
      <p:ext uri="{BB962C8B-B14F-4D97-AF65-F5344CB8AC3E}">
        <p14:creationId xmlns:p14="http://schemas.microsoft.com/office/powerpoint/2010/main" val="447220064"/>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C5164-A429-487B-A30C-71217C0019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D93C7E-F3D9-46C9-B6EC-9CB8808528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72B863-D5F1-4938-85B5-E0C833C988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6986E57B-4962-4ACC-B8CB-BAB95BAA394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CBD0589-CE6F-4119-9595-33112AB97B50}"/>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F1663F7D-38AA-4856-B60D-9C0BCF3E8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65</a:t>
            </a:r>
          </a:p>
        </p:txBody>
      </p:sp>
    </p:spTree>
    <p:extLst>
      <p:ext uri="{BB962C8B-B14F-4D97-AF65-F5344CB8AC3E}">
        <p14:creationId xmlns:p14="http://schemas.microsoft.com/office/powerpoint/2010/main" val="205093071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F5336E-E1AC-4A93-BA32-69623C927C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972942-A52E-4B1D-8397-CF30DAC60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B8BB396-5C32-41C8-9A27-6DEFCDB0FB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8BF88776-538D-4289-B2C2-F9F867334F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AB606C7-D8C1-46DE-AF3E-6D36FCF6694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09 Oct 2026, 08:00 Kampala</a:t>
            </a:r>
          </a:p>
        </p:txBody>
      </p:sp>
      <p:sp>
        <p:nvSpPr>
          <p:cNvPr id="6" name="">
            <a:extLst xmlns:a="http://schemas.openxmlformats.org/drawingml/2006/main">
              <a:ext uri="{FF2B5EF4-FFF2-40B4-BE49-F238E27FC236}">
                <a16:creationId xmlns:a16="http://schemas.microsoft.com/office/drawing/2014/main" id="{4F3BB2C4-3D83-4D07-8B92-B3249AB93AE5}"/>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CE7FF-B6A4-4122-AE03-8860EBADE04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30 Oct 2026, 08:00 Kampala</a:t>
            </a:r>
          </a:p>
        </p:txBody>
      </p:sp>
      <p:sp>
        <p:nvSpPr>
          <p:cNvPr id="8" name="">
            <a:extLst xmlns:a="http://schemas.openxmlformats.org/drawingml/2006/main">
              <a:ext uri="{FF2B5EF4-FFF2-40B4-BE49-F238E27FC236}">
                <a16:creationId xmlns:a16="http://schemas.microsoft.com/office/drawing/2014/main" id="{1059BB3A-487F-4FAF-AA3A-6717EF903C9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93CB622-32D4-41D5-81F3-32A4A82C870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A7403C04-9B6E-4F39-869C-077EE11E7D3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BF9E57-7517-4DF5-9F3D-E57E2DF24EC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CF6A490-3D46-4A6D-BAB3-1C5B62EEFB9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94E406A-DA86-4D82-B327-A10ED7BB1B9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c28d363f5cb41b8"/>
              </a:rPr>
              <a:t>Open DA_PROJECT assignment form</a:t>
            </a:r>
          </a:p>
        </p:txBody>
      </p:sp>
      <p:sp>
        <p:nvSpPr>
          <p:cNvPr id="14" name="">
            <a:extLst xmlns:a="http://schemas.openxmlformats.org/drawingml/2006/main">
              <a:ext uri="{FF2B5EF4-FFF2-40B4-BE49-F238E27FC236}">
                <a16:creationId xmlns:a16="http://schemas.microsoft.com/office/drawing/2014/main" id="{CBC24B7F-5A5C-486C-AE19-6AEBFE2CE58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https://docs.google.com/forms/d/e/1FAIpQLSf_avvvqyl5ZJ-6HU7n4zal9AQETYyJkykuDO5J5Au3dBA4vw/viewform</a:t>
            </a:r>
          </a:p>
        </p:txBody>
      </p:sp>
      <p:sp>
        <p:nvSpPr>
          <p:cNvPr id="15" name="">
            <a:extLst xmlns:a="http://schemas.openxmlformats.org/drawingml/2006/main">
              <a:ext uri="{FF2B5EF4-FFF2-40B4-BE49-F238E27FC236}">
                <a16:creationId xmlns:a16="http://schemas.microsoft.com/office/drawing/2014/main" id="{5D3EB96A-73F8-448B-8A05-5F8938CC80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66</a:t>
            </a:r>
          </a:p>
        </p:txBody>
      </p:sp>
    </p:spTree>
    <p:extLst>
      <p:ext uri="{BB962C8B-B14F-4D97-AF65-F5344CB8AC3E}">
        <p14:creationId xmlns:p14="http://schemas.microsoft.com/office/powerpoint/2010/main" val="1005210806"/>
      </p:ext>
    </p:extLst>
  </p:cSld>
</p:sld>
</file>

<file path=ppt/slides/slide6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DD7A6AB3-5824-4D51-A8E2-AB7E0FAA6A26}"/>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0DAD61A-C0B2-4D1B-855D-971249E6078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FAEEB636-A741-463F-8D46-061DE2028C37}"/>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a:ext uri="{FF2B5EF4-FFF2-40B4-BE49-F238E27FC236}">
                <ns2:creationId id="{57CF96B2-98BB-40B2-9471-503432B8AA16}"/>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6AE2910-8CBA-4BA8-AFD5-6644B1168BC8}"/>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19365F0F-5C80-4933-9682-77043C7A5532}"/>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A1C168A-292A-4F4A-832B-97057718DEA6}"/>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44DBF86E-25FD-446F-86F0-29125AA3F96E}"/>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05C1D7B-5A5D-4D50-A8BB-12B9F662824C}"/>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80F429DF-B25E-4332-B1FD-B2BD385B885A}"/>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7AB6B1DA-69EA-44F4-9CE3-4E53DFD2DD94}"/>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0c28780d1bab4a47"/>
          <a:stretch/>
        </p:blipFill>
        <p:spPr>
          <a:xfrm>
            <a:off x="9134475" y="2095500"/>
            <a:ext cx="2190750" cy="2190750"/>
          </a:xfrm>
          <a:prstGeom prst="rect">
            <a:avLst/>
          </a:prstGeom>
        </p:spPr>
      </p:pic>
      <p:sp>
        <p:nvSpPr>
          <p:cNvPr id="13" name="">
            <a:extLst>
              <a:ext uri="{FF2B5EF4-FFF2-40B4-BE49-F238E27FC236}">
                <ns2:creationId id="{71895361-4C8D-4874-A9E4-C559015409AD}"/>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E0514302-AC71-4161-94F6-07D3274D759A}"/>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8CFA500-0238-4A0D-87EB-9D9063D4751A}"/>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f74b278569fb44d6"/>
              </a:rPr>
              <a:t>Open this week’s quiz</a:t>
            </a:r>
          </a:p>
        </p:txBody>
      </p:sp>
      <p:sp>
        <p:nvSpPr>
          <p:cNvPr id="16" name="">
            <a:extLst>
              <a:ext uri="{FF2B5EF4-FFF2-40B4-BE49-F238E27FC236}">
                <ns2:creationId id="{2E07A3F3-A487-449E-8217-D0A57FD71277}"/>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https://forms.gle/njADrQM1EKhyhRSA8</a:t>
            </a:r>
          </a:p>
        </p:txBody>
      </p:sp>
      <p:sp>
        <p:nvSpPr>
          <p:cNvPr id="17" name="">
            <a:extLst>
              <a:ext uri="{FF2B5EF4-FFF2-40B4-BE49-F238E27FC236}">
                <ns2:creationId id="{F720D2D0-1B6C-4014-8234-BFBF30FFA7FD}"/>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67</a:t>
            </a:r>
          </a:p>
        </p:txBody>
      </p:sp>
    </p:spTree>
    <p:extLst>
      <p:ext uri="{BB962C8B-B14F-4D97-AF65-F5344CB8AC3E}">
        <ns4:creationId val="116652430"/>
      </p:ext>
    </p:extLst>
  </p:cSld>
</p:sld>
</file>

<file path=ppt/slides/slide6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4D5B5481-A3F8-4D36-AF1C-1FA987D2A6B7}"/>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1635B060-CEF8-4F5A-B43F-ED3501115C94}"/>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475CEF06-3A79-4FFA-855F-0E619F117BA2}"/>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CE964C40-663C-45D9-AA35-F3141C00A025}"/>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calculate one error and explain why evaluation needs unseen observations.</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6D2F5638-C58A-4936-94B2-D14C7AD7A92F}"/>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F93C6132-D1AE-4A80-AE22-3ABD7E07F2C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8   68</a:t>
            </a:r>
          </a:p>
        </p:txBody>
      </p:sp>
    </p:spTree>
    <p:extLst>
      <p:ext uri="{BB962C8B-B14F-4D97-AF65-F5344CB8AC3E}">
        <ns3:creationId val="180304938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91D857E-2767-4067-88E8-22B2960F7A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1ED8EC0-6515-4BD8-9F3D-20D444170D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3BE4CC65-439A-4CCF-ABCC-A1D354F31E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355DA79-1F75-44B9-A2FC-77E5F456645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466AC6-3D5E-4EAB-8F07-36F5FA5DF2F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75E1E10C-30F1-45BE-B3BF-56D238FCA06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D267EC-4570-48E4-927F-23069E02B03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CC5B191A-D9CF-462A-A326-B87FB8B72A8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321C54-4B98-46B1-8408-9D21475474A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D943F8FF-F77F-492F-A843-FC2E2CE4516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277FF14-EB40-47C9-9A71-997F7C14EA7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C07D782B-E9D4-4268-B06C-84053E429B5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F69567-B3D7-4CA1-94C3-59E251388A6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eecaef9bf794655"/>
              </a:rPr>
              <a:t>Open explainer video</a:t>
            </a:r>
          </a:p>
        </p:txBody>
      </p:sp>
      <p:sp>
        <p:nvSpPr>
          <p:cNvPr id="14" name="">
            <a:extLst xmlns:a="http://schemas.openxmlformats.org/drawingml/2006/main">
              <a:ext uri="{FF2B5EF4-FFF2-40B4-BE49-F238E27FC236}">
                <a16:creationId xmlns:a16="http://schemas.microsoft.com/office/drawing/2014/main" id="{EF5D6903-D333-4717-B887-6A33535AF7D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5BEDB36E-8924-48EE-8741-7F583E064E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8   69</a:t>
            </a:r>
          </a:p>
        </p:txBody>
      </p:sp>
    </p:spTree>
    <p:extLst>
      <p:ext uri="{BB962C8B-B14F-4D97-AF65-F5344CB8AC3E}">
        <p14:creationId xmlns:p14="http://schemas.microsoft.com/office/powerpoint/2010/main" val="14042474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2026-09-28T21:45:55.4040000Z</dcterms:created>
  <dcterms:modified xsi:type="dcterms:W3CDTF">2026-09-28T21:45:55.4040000Z</dcterms:modified>
</coreProperties>
</file>