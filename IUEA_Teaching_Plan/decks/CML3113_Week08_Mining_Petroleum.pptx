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45985903f714f03" /><Relationship Type="http://schemas.openxmlformats.org/officeDocument/2006/relationships/extended-properties" Target="/docProps/app.xml" Id="Rc8a021d5633142de" /><Relationship Type="http://schemas.openxmlformats.org/officeDocument/2006/relationships/officeDocument" Target="/ppt/presentation.xml" Id="R6d025f2af3654bde" /></Relationships>
</file>

<file path=ppt/presentation.xml><?xml version="1.0" encoding="utf-8"?>
<p:presentation xmlns:p="http://schemas.openxmlformats.org/presentationml/2006/main">
  <p:sldMasterIdLst>
    <p:sldMasterId xmlns:r="http://schemas.openxmlformats.org/officeDocument/2006/relationships" id="2147483648" r:id="R1e2ec2e2d48742c1"/>
  </p:sldMasterIdLst>
  <p:notesMasterIdLst>
    <p:notesMasterId xmlns:r="http://schemas.openxmlformats.org/officeDocument/2006/relationships" r:id="R8e3f8c13e76e437c"/>
  </p:notesMasterIdLst>
  <p:sldIdLst>
    <p:sldId xmlns:r="http://schemas.openxmlformats.org/officeDocument/2006/relationships" id="256" r:id="R62b4e860cd6d42bd"/>
    <p:sldId xmlns:r="http://schemas.openxmlformats.org/officeDocument/2006/relationships" id="257" r:id="Re8e347b9602f402a"/>
    <p:sldId xmlns:r="http://schemas.openxmlformats.org/officeDocument/2006/relationships" id="258" r:id="Rf0e2e1fba1544066"/>
    <p:sldId xmlns:r="http://schemas.openxmlformats.org/officeDocument/2006/relationships" id="259" r:id="R69f9d3ebfa6946c3"/>
    <p:sldId xmlns:r="http://schemas.openxmlformats.org/officeDocument/2006/relationships" id="260" r:id="R142d6faa9afa4020"/>
    <p:sldId xmlns:r="http://schemas.openxmlformats.org/officeDocument/2006/relationships" id="261" r:id="Rf02529d3bcc4414e"/>
    <p:sldId xmlns:r="http://schemas.openxmlformats.org/officeDocument/2006/relationships" id="262" r:id="Redd423cc344e47f6"/>
    <p:sldId xmlns:r="http://schemas.openxmlformats.org/officeDocument/2006/relationships" id="263" r:id="Rcc26f4db4fdd45e2"/>
    <p:sldId xmlns:r="http://schemas.openxmlformats.org/officeDocument/2006/relationships" id="264" r:id="Rdfb062adc9464dfb"/>
    <p:sldId xmlns:r="http://schemas.openxmlformats.org/officeDocument/2006/relationships" id="265" r:id="R1fa99ab32d3548ee"/>
    <p:sldId xmlns:r="http://schemas.openxmlformats.org/officeDocument/2006/relationships" id="266" r:id="Rc074b465bd6b4a2f"/>
    <p:sldId xmlns:r="http://schemas.openxmlformats.org/officeDocument/2006/relationships" id="267" r:id="R96d4e2546d4a4e78"/>
    <p:sldId xmlns:r="http://schemas.openxmlformats.org/officeDocument/2006/relationships" id="268" r:id="R19199af05a944c96"/>
    <p:sldId xmlns:r="http://schemas.openxmlformats.org/officeDocument/2006/relationships" id="269" r:id="R1c418517290f4e01"/>
    <p:sldId xmlns:r="http://schemas.openxmlformats.org/officeDocument/2006/relationships" id="270" r:id="R02b9789cf94b4b19"/>
    <p:sldId xmlns:r="http://schemas.openxmlformats.org/officeDocument/2006/relationships" id="271" r:id="R73f5fa3739354ab6"/>
    <p:sldId xmlns:r="http://schemas.openxmlformats.org/officeDocument/2006/relationships" id="272" r:id="R500220e0c8604fd6"/>
    <p:sldId xmlns:r="http://schemas.openxmlformats.org/officeDocument/2006/relationships" id="273" r:id="R0ccc193b1c1b479d"/>
    <p:sldId xmlns:r="http://schemas.openxmlformats.org/officeDocument/2006/relationships" id="274" r:id="R5f7db44d93144c7c"/>
    <p:sldId xmlns:r="http://schemas.openxmlformats.org/officeDocument/2006/relationships" id="275" r:id="R253dd0de74474705"/>
    <p:sldId xmlns:r="http://schemas.openxmlformats.org/officeDocument/2006/relationships" id="276" r:id="R5bdc17609cd141d0"/>
    <p:sldId xmlns:r="http://schemas.openxmlformats.org/officeDocument/2006/relationships" id="277" r:id="R8a5c895540dc475b"/>
    <p:sldId xmlns:r="http://schemas.openxmlformats.org/officeDocument/2006/relationships" id="278" r:id="Rfaeacf2aa64f45dd"/>
    <p:sldId xmlns:r="http://schemas.openxmlformats.org/officeDocument/2006/relationships" id="279" r:id="Rd969cd7f43a440f5"/>
    <p:sldId xmlns:r="http://schemas.openxmlformats.org/officeDocument/2006/relationships" id="280" r:id="R2a0066bb2a2842c1"/>
    <p:sldId xmlns:r="http://schemas.openxmlformats.org/officeDocument/2006/relationships" id="281" r:id="Rd35c5e1e49234e5b"/>
    <p:sldId xmlns:r="http://schemas.openxmlformats.org/officeDocument/2006/relationships" id="282" r:id="R09efb63b9bfe498f"/>
    <p:sldId xmlns:r="http://schemas.openxmlformats.org/officeDocument/2006/relationships" id="283" r:id="Rd9bdf6420a4b47d1"/>
    <p:sldId xmlns:r="http://schemas.openxmlformats.org/officeDocument/2006/relationships" id="284" r:id="R529eb60f68ee4aac"/>
    <p:sldId xmlns:r="http://schemas.openxmlformats.org/officeDocument/2006/relationships" id="285" r:id="Rbc66f7f2972b4f07"/>
    <p:sldId xmlns:r="http://schemas.openxmlformats.org/officeDocument/2006/relationships" id="286" r:id="R6fe1f9fc5fe4486e"/>
    <p:sldId xmlns:r="http://schemas.openxmlformats.org/officeDocument/2006/relationships" id="287" r:id="R50f008c5396840f8"/>
    <p:sldId xmlns:r="http://schemas.openxmlformats.org/officeDocument/2006/relationships" id="288" r:id="Rd3233265be084f60"/>
    <p:sldId xmlns:r="http://schemas.openxmlformats.org/officeDocument/2006/relationships" id="289" r:id="R5f98ef92c3074d02"/>
    <p:sldId xmlns:r="http://schemas.openxmlformats.org/officeDocument/2006/relationships" id="290" r:id="Ra8d890e3c93a4a46"/>
    <p:sldId xmlns:r="http://schemas.openxmlformats.org/officeDocument/2006/relationships" id="291" r:id="R7ccabddfb5cb4ea1"/>
    <p:sldId xmlns:r="http://schemas.openxmlformats.org/officeDocument/2006/relationships" id="292" r:id="R3308d1b03afa4728"/>
    <p:sldId xmlns:r="http://schemas.openxmlformats.org/officeDocument/2006/relationships" id="293" r:id="R34df8d85f320436a"/>
    <p:sldId xmlns:r="http://schemas.openxmlformats.org/officeDocument/2006/relationships" id="294" r:id="R875faa6a4bd94e3a"/>
    <p:sldId xmlns:r="http://schemas.openxmlformats.org/officeDocument/2006/relationships" id="295" r:id="Rfd31a16bcf2445c2"/>
    <p:sldId xmlns:r="http://schemas.openxmlformats.org/officeDocument/2006/relationships" id="296" r:id="R1fef4aee0b764c88"/>
    <p:sldId xmlns:r="http://schemas.openxmlformats.org/officeDocument/2006/relationships" id="297" r:id="R1b455c0aa9f14128"/>
    <p:sldId xmlns:r="http://schemas.openxmlformats.org/officeDocument/2006/relationships" id="298" r:id="R74c814af44dd49b1"/>
    <p:sldId xmlns:r="http://schemas.openxmlformats.org/officeDocument/2006/relationships" id="299" r:id="R0a0a13a2c4d6445d"/>
    <p:sldId xmlns:r="http://schemas.openxmlformats.org/officeDocument/2006/relationships" id="300" r:id="R89008ca25a224a6f"/>
    <p:sldId xmlns:r="http://schemas.openxmlformats.org/officeDocument/2006/relationships" id="301" r:id="R3db11f09a21e4f85"/>
    <p:sldId xmlns:r="http://schemas.openxmlformats.org/officeDocument/2006/relationships" id="302" r:id="R3f094bc472924d74"/>
    <p:sldId xmlns:r="http://schemas.openxmlformats.org/officeDocument/2006/relationships" id="303" r:id="R877539a3fcf14a05"/>
    <p:sldId xmlns:r="http://schemas.openxmlformats.org/officeDocument/2006/relationships" id="304" r:id="R1d5b4e5538a7496f"/>
    <p:sldId xmlns:r="http://schemas.openxmlformats.org/officeDocument/2006/relationships" id="305" r:id="R7c54abe27be64c35"/>
    <p:sldId xmlns:r="http://schemas.openxmlformats.org/officeDocument/2006/relationships" id="306" r:id="Red4fcc728c294ac7"/>
    <p:sldId xmlns:r="http://schemas.openxmlformats.org/officeDocument/2006/relationships" id="307" r:id="R86dcb57cd97c4fd8"/>
    <p:sldId xmlns:r="http://schemas.openxmlformats.org/officeDocument/2006/relationships" id="308" r:id="R151790538a51440f"/>
    <p:sldId xmlns:r="http://schemas.openxmlformats.org/officeDocument/2006/relationships" id="309" r:id="R12f4d8fcfc48406f"/>
    <p:sldId xmlns:r="http://schemas.openxmlformats.org/officeDocument/2006/relationships" id="310" r:id="R8b27581b2a64447c"/>
    <p:sldId xmlns:r="http://schemas.openxmlformats.org/officeDocument/2006/relationships" id="311" r:id="Rb9547261f8b94a3c"/>
    <p:sldId xmlns:r="http://schemas.openxmlformats.org/officeDocument/2006/relationships" id="312" r:id="R41b4cbe05dfa46b1"/>
    <p:sldId xmlns:r="http://schemas.openxmlformats.org/officeDocument/2006/relationships" id="313" r:id="Recbf5fb1b2ac4294"/>
    <p:sldId xmlns:r="http://schemas.openxmlformats.org/officeDocument/2006/relationships" id="314" r:id="R6db3da31a8ec432f"/>
    <p:sldId xmlns:r="http://schemas.openxmlformats.org/officeDocument/2006/relationships" id="315" r:id="Rb4266280973049a9"/>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407d432770b4a45" /><Relationship Type="http://schemas.openxmlformats.org/officeDocument/2006/relationships/slideMaster" Target="/ppt/slideMasters/slideMaster1.xml" Id="R1e2ec2e2d48742c1" /><Relationship Type="http://schemas.openxmlformats.org/officeDocument/2006/relationships/notesMaster" Target="/ppt/notesMasters/notesMaster1.xml" Id="R8e3f8c13e76e437c" /><Relationship Type="http://schemas.openxmlformats.org/officeDocument/2006/relationships/presProps" Target="/ppt/presProps.xml" Id="R68b6ea1ce13e4c6c" /><Relationship Type="http://schemas.openxmlformats.org/officeDocument/2006/relationships/tableStyles" Target="/ppt/tableStyles.xml" Id="R2df8dd22682d4693" /><Relationship Type="http://schemas.openxmlformats.org/officeDocument/2006/relationships/slide" Target="/ppt/slides/slide1.xml" Id="R62b4e860cd6d42bd" /><Relationship Type="http://schemas.openxmlformats.org/officeDocument/2006/relationships/slide" Target="/ppt/slides/slide2.xml" Id="Re8e347b9602f402a" /><Relationship Type="http://schemas.openxmlformats.org/officeDocument/2006/relationships/slide" Target="/ppt/slides/slide3.xml" Id="Rf0e2e1fba1544066" /><Relationship Type="http://schemas.openxmlformats.org/officeDocument/2006/relationships/slide" Target="/ppt/slides/slide4.xml" Id="R69f9d3ebfa6946c3" /><Relationship Type="http://schemas.openxmlformats.org/officeDocument/2006/relationships/slide" Target="/ppt/slides/slide5.xml" Id="R142d6faa9afa4020" /><Relationship Type="http://schemas.openxmlformats.org/officeDocument/2006/relationships/slide" Target="/ppt/slides/slide6.xml" Id="Rf02529d3bcc4414e" /><Relationship Type="http://schemas.openxmlformats.org/officeDocument/2006/relationships/slide" Target="/ppt/slides/slide7.xml" Id="Redd423cc344e47f6" /><Relationship Type="http://schemas.openxmlformats.org/officeDocument/2006/relationships/slide" Target="/ppt/slides/slide8.xml" Id="Rcc26f4db4fdd45e2" /><Relationship Type="http://schemas.openxmlformats.org/officeDocument/2006/relationships/slide" Target="/ppt/slides/slide9.xml" Id="Rdfb062adc9464dfb" /><Relationship Type="http://schemas.openxmlformats.org/officeDocument/2006/relationships/slide" Target="/ppt/slides/slide10.xml" Id="R1fa99ab32d3548ee" /><Relationship Type="http://schemas.openxmlformats.org/officeDocument/2006/relationships/slide" Target="/ppt/slides/slide11.xml" Id="Rc074b465bd6b4a2f" /><Relationship Type="http://schemas.openxmlformats.org/officeDocument/2006/relationships/slide" Target="/ppt/slides/slide12.xml" Id="R96d4e2546d4a4e78" /><Relationship Type="http://schemas.openxmlformats.org/officeDocument/2006/relationships/slide" Target="/ppt/slides/slide13.xml" Id="R19199af05a944c96" /><Relationship Type="http://schemas.openxmlformats.org/officeDocument/2006/relationships/slide" Target="/ppt/slides/slide14.xml" Id="R1c418517290f4e01" /><Relationship Type="http://schemas.openxmlformats.org/officeDocument/2006/relationships/slide" Target="/ppt/slides/slide15.xml" Id="R02b9789cf94b4b19" /><Relationship Type="http://schemas.openxmlformats.org/officeDocument/2006/relationships/slide" Target="/ppt/slides/slide16.xml" Id="R73f5fa3739354ab6" /><Relationship Type="http://schemas.openxmlformats.org/officeDocument/2006/relationships/slide" Target="/ppt/slides/slide17.xml" Id="R500220e0c8604fd6" /><Relationship Type="http://schemas.openxmlformats.org/officeDocument/2006/relationships/slide" Target="/ppt/slides/slide18.xml" Id="R0ccc193b1c1b479d" /><Relationship Type="http://schemas.openxmlformats.org/officeDocument/2006/relationships/slide" Target="/ppt/slides/slide19.xml" Id="R5f7db44d93144c7c" /><Relationship Type="http://schemas.openxmlformats.org/officeDocument/2006/relationships/slide" Target="/ppt/slides/slide20.xml" Id="R253dd0de74474705" /><Relationship Type="http://schemas.openxmlformats.org/officeDocument/2006/relationships/slide" Target="/ppt/slides/slide21.xml" Id="R5bdc17609cd141d0" /><Relationship Type="http://schemas.openxmlformats.org/officeDocument/2006/relationships/slide" Target="/ppt/slides/slide22.xml" Id="R8a5c895540dc475b" /><Relationship Type="http://schemas.openxmlformats.org/officeDocument/2006/relationships/slide" Target="/ppt/slides/slide23.xml" Id="Rfaeacf2aa64f45dd" /><Relationship Type="http://schemas.openxmlformats.org/officeDocument/2006/relationships/slide" Target="/ppt/slides/slide24.xml" Id="Rd969cd7f43a440f5" /><Relationship Type="http://schemas.openxmlformats.org/officeDocument/2006/relationships/slide" Target="/ppt/slides/slide25.xml" Id="R2a0066bb2a2842c1" /><Relationship Type="http://schemas.openxmlformats.org/officeDocument/2006/relationships/slide" Target="/ppt/slides/slide26.xml" Id="Rd35c5e1e49234e5b" /><Relationship Type="http://schemas.openxmlformats.org/officeDocument/2006/relationships/slide" Target="/ppt/slides/slide27.xml" Id="R09efb63b9bfe498f" /><Relationship Type="http://schemas.openxmlformats.org/officeDocument/2006/relationships/slide" Target="/ppt/slides/slide28.xml" Id="Rd9bdf6420a4b47d1" /><Relationship Type="http://schemas.openxmlformats.org/officeDocument/2006/relationships/slide" Target="/ppt/slides/slide29.xml" Id="R529eb60f68ee4aac" /><Relationship Type="http://schemas.openxmlformats.org/officeDocument/2006/relationships/slide" Target="/ppt/slides/slide30.xml" Id="Rbc66f7f2972b4f07" /><Relationship Type="http://schemas.openxmlformats.org/officeDocument/2006/relationships/slide" Target="/ppt/slides/slide31.xml" Id="R6fe1f9fc5fe4486e" /><Relationship Type="http://schemas.openxmlformats.org/officeDocument/2006/relationships/slide" Target="/ppt/slides/slide32.xml" Id="R50f008c5396840f8" /><Relationship Type="http://schemas.openxmlformats.org/officeDocument/2006/relationships/slide" Target="/ppt/slides/slide33.xml" Id="Rd3233265be084f60" /><Relationship Type="http://schemas.openxmlformats.org/officeDocument/2006/relationships/slide" Target="/ppt/slides/slide34.xml" Id="R5f98ef92c3074d02" /><Relationship Type="http://schemas.openxmlformats.org/officeDocument/2006/relationships/slide" Target="/ppt/slides/slide35.xml" Id="Ra8d890e3c93a4a46" /><Relationship Type="http://schemas.openxmlformats.org/officeDocument/2006/relationships/slide" Target="/ppt/slides/slide36.xml" Id="R7ccabddfb5cb4ea1" /><Relationship Type="http://schemas.openxmlformats.org/officeDocument/2006/relationships/slide" Target="/ppt/slides/slide37.xml" Id="R3308d1b03afa4728" /><Relationship Type="http://schemas.openxmlformats.org/officeDocument/2006/relationships/slide" Target="/ppt/slides/slide38.xml" Id="R34df8d85f320436a" /><Relationship Type="http://schemas.openxmlformats.org/officeDocument/2006/relationships/slide" Target="/ppt/slides/slide39.xml" Id="R875faa6a4bd94e3a" /><Relationship Type="http://schemas.openxmlformats.org/officeDocument/2006/relationships/slide" Target="/ppt/slides/slide40.xml" Id="Rfd31a16bcf2445c2" /><Relationship Type="http://schemas.openxmlformats.org/officeDocument/2006/relationships/slide" Target="/ppt/slides/slide41.xml" Id="R1fef4aee0b764c88" /><Relationship Type="http://schemas.openxmlformats.org/officeDocument/2006/relationships/slide" Target="/ppt/slides/slide42.xml" Id="R1b455c0aa9f14128" /><Relationship Type="http://schemas.openxmlformats.org/officeDocument/2006/relationships/slide" Target="/ppt/slides/slide43.xml" Id="R74c814af44dd49b1" /><Relationship Type="http://schemas.openxmlformats.org/officeDocument/2006/relationships/slide" Target="/ppt/slides/slide44.xml" Id="R0a0a13a2c4d6445d" /><Relationship Type="http://schemas.openxmlformats.org/officeDocument/2006/relationships/slide" Target="/ppt/slides/slide45.xml" Id="R89008ca25a224a6f" /><Relationship Type="http://schemas.openxmlformats.org/officeDocument/2006/relationships/slide" Target="/ppt/slides/slide46.xml" Id="R3db11f09a21e4f85" /><Relationship Type="http://schemas.openxmlformats.org/officeDocument/2006/relationships/slide" Target="/ppt/slides/slide47.xml" Id="R3f094bc472924d74" /><Relationship Type="http://schemas.openxmlformats.org/officeDocument/2006/relationships/slide" Target="/ppt/slides/slide48.xml" Id="R877539a3fcf14a05" /><Relationship Type="http://schemas.openxmlformats.org/officeDocument/2006/relationships/slide" Target="/ppt/slides/slide49.xml" Id="R1d5b4e5538a7496f" /><Relationship Type="http://schemas.openxmlformats.org/officeDocument/2006/relationships/slide" Target="/ppt/slides/slide50.xml" Id="R7c54abe27be64c35" /><Relationship Type="http://schemas.openxmlformats.org/officeDocument/2006/relationships/slide" Target="/ppt/slides/slide51.xml" Id="Red4fcc728c294ac7" /><Relationship Type="http://schemas.openxmlformats.org/officeDocument/2006/relationships/slide" Target="/ppt/slides/slide52.xml" Id="R86dcb57cd97c4fd8" /><Relationship Type="http://schemas.openxmlformats.org/officeDocument/2006/relationships/slide" Target="/ppt/slides/slide53.xml" Id="R151790538a51440f" /><Relationship Type="http://schemas.openxmlformats.org/officeDocument/2006/relationships/slide" Target="/ppt/slides/slide54.xml" Id="R12f4d8fcfc48406f" /><Relationship Type="http://schemas.openxmlformats.org/officeDocument/2006/relationships/slide" Target="/ppt/slides/slide55.xml" Id="R8b27581b2a64447c" /><Relationship Type="http://schemas.openxmlformats.org/officeDocument/2006/relationships/slide" Target="/ppt/slides/slide56.xml" Id="Rb9547261f8b94a3c" /><Relationship Type="http://schemas.openxmlformats.org/officeDocument/2006/relationships/slide" Target="/ppt/slides/slide57.xml" Id="R41b4cbe05dfa46b1" /><Relationship Type="http://schemas.openxmlformats.org/officeDocument/2006/relationships/slide" Target="/ppt/slides/slide58.xml" Id="Recbf5fb1b2ac4294" /><Relationship Type="http://schemas.openxmlformats.org/officeDocument/2006/relationships/slide" Target="/ppt/slides/slide59.xml" Id="R6db3da31a8ec432f" /><Relationship Type="http://schemas.openxmlformats.org/officeDocument/2006/relationships/slide" Target="/ppt/slides/slide60.xml" Id="Rb4266280973049a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30b13838f18441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0603b6266944f47" /><Relationship Type="http://schemas.openxmlformats.org/officeDocument/2006/relationships/notesMaster" Target="/ppt/notesMasters/notesMaster1.xml" Id="Ra47c124927d644da" /></Relationships>
</file>

<file path=ppt/notesSlides/_rels/notesSlide2.xml.rels>&#65279;<?xml version="1.0" encoding="utf-8"?><Relationships xmlns="http://schemas.openxmlformats.org/package/2006/relationships"><Relationship Type="http://schemas.openxmlformats.org/officeDocument/2006/relationships/slide" Target="/ppt/slides/slide2.xml" Id="R6e0991e710c84deb" /><Relationship Type="http://schemas.openxmlformats.org/officeDocument/2006/relationships/notesMaster" Target="/ppt/notesMasters/notesMaster1.xml" Id="Rcb86c00e6569487e" /></Relationships>
</file>

<file path=ppt/notesSlides/_rels/notesSlide3.xml.rels>&#65279;<?xml version="1.0" encoding="utf-8"?><Relationships xmlns="http://schemas.openxmlformats.org/package/2006/relationships"><Relationship Type="http://schemas.openxmlformats.org/officeDocument/2006/relationships/slide" Target="/ppt/slides/slide3.xml" Id="R31213cf9be6b4d2e" /><Relationship Type="http://schemas.openxmlformats.org/officeDocument/2006/relationships/notesMaster" Target="/ppt/notesMasters/notesMaster1.xml" Id="R0a017849b44b4b02" /></Relationships>
</file>

<file path=ppt/notesSlides/_rels/notesSlide4.xml.rels>&#65279;<?xml version="1.0" encoding="utf-8"?><Relationships xmlns="http://schemas.openxmlformats.org/package/2006/relationships"><Relationship Type="http://schemas.openxmlformats.org/officeDocument/2006/relationships/slide" Target="/ppt/slides/slide4.xml" Id="R61ffb30d20664d81" /><Relationship Type="http://schemas.openxmlformats.org/officeDocument/2006/relationships/notesMaster" Target="/ppt/notesMasters/notesMaster1.xml" Id="R98d393de9a4345fc" /></Relationships>
</file>

<file path=ppt/notesSlides/_rels/notesSlide5.xml.rels>&#65279;<?xml version="1.0" encoding="utf-8"?><Relationships xmlns="http://schemas.openxmlformats.org/package/2006/relationships"><Relationship Type="http://schemas.openxmlformats.org/officeDocument/2006/relationships/slide" Target="/ppt/slides/slide5.xml" Id="Rf72810c5dd184b2c" /><Relationship Type="http://schemas.openxmlformats.org/officeDocument/2006/relationships/notesMaster" Target="/ppt/notesMasters/notesMaster1.xml" Id="R5374ad2688de4298" /></Relationships>
</file>

<file path=ppt/notesSlides/_rels/notesSlide6.xml.rels>&#65279;<?xml version="1.0" encoding="utf-8"?><Relationships xmlns="http://schemas.openxmlformats.org/package/2006/relationships"><Relationship Type="http://schemas.openxmlformats.org/officeDocument/2006/relationships/slide" Target="/ppt/slides/slide6.xml" Id="R48fb9f5f11f2440d" /><Relationship Type="http://schemas.openxmlformats.org/officeDocument/2006/relationships/notesMaster" Target="/ppt/notesMasters/notesMaster1.xml" Id="R99a07adc8fbf4f33" /></Relationships>
</file>

<file path=ppt/notesSlides/_rels/notesSlide7.xml.rels>&#65279;<?xml version="1.0" encoding="utf-8"?><Relationships xmlns="http://schemas.openxmlformats.org/package/2006/relationships"><Relationship Type="http://schemas.openxmlformats.org/officeDocument/2006/relationships/slide" Target="/ppt/slides/slide7.xml" Id="R45c847621d7f41e4" /><Relationship Type="http://schemas.openxmlformats.org/officeDocument/2006/relationships/notesMaster" Target="/ppt/notesMasters/notesMaster1.xml" Id="Ra92438f02c5b41c1" /></Relationships>
</file>

<file path=ppt/notesSlides/_rels/notesSlide8.xml.rels>&#65279;<?xml version="1.0" encoding="utf-8"?><Relationships xmlns="http://schemas.openxmlformats.org/package/2006/relationships"><Relationship Type="http://schemas.openxmlformats.org/officeDocument/2006/relationships/slide" Target="/ppt/slides/slide8.xml" Id="R50f8febb7d33473d" /><Relationship Type="http://schemas.openxmlformats.org/officeDocument/2006/relationships/notesMaster" Target="/ppt/notesMasters/notesMaster1.xml" Id="Rf9ce18f9f00a4162" /></Relationships>
</file>

<file path=ppt/notesSlides/_rels/notesSlide9.xml.rels>&#65279;<?xml version="1.0" encoding="utf-8"?><Relationships xmlns="http://schemas.openxmlformats.org/package/2006/relationships"><Relationship Type="http://schemas.openxmlformats.org/officeDocument/2006/relationships/slide" Target="/ppt/slides/slide9.xml" Id="R59b0be70a68d429d" /><Relationship Type="http://schemas.openxmlformats.org/officeDocument/2006/relationships/notesMaster" Target="/ppt/notesMasters/notesMaster1.xml" Id="Rc57f245f89f2408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4bcd0468992468f" /><Relationship Type="http://schemas.openxmlformats.org/officeDocument/2006/relationships/notesMaster" Target="/ppt/notesMasters/notesMaster1.xml" Id="Re60d0449266241c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9cdd40da7d64286" /><Relationship Type="http://schemas.openxmlformats.org/officeDocument/2006/relationships/notesMaster" Target="/ppt/notesMasters/notesMaster1.xml" Id="R963e30683f144cf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4fc908740234ca4" /><Relationship Type="http://schemas.openxmlformats.org/officeDocument/2006/relationships/notesMaster" Target="/ppt/notesMasters/notesMaster1.xml" Id="R0e43a1f0f51246e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45c6bdac13f4d59" /><Relationship Type="http://schemas.openxmlformats.org/officeDocument/2006/relationships/notesMaster" Target="/ppt/notesMasters/notesMaster1.xml" Id="R5b1ce074893045a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01f6733e63e424f" /><Relationship Type="http://schemas.openxmlformats.org/officeDocument/2006/relationships/notesMaster" Target="/ppt/notesMasters/notesMaster1.xml" Id="R6ab5ac771ea34c7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47efdf956684178" /><Relationship Type="http://schemas.openxmlformats.org/officeDocument/2006/relationships/notesMaster" Target="/ppt/notesMasters/notesMaster1.xml" Id="Rcc7e8bd09b5146a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e8b7f177f1b4b3d" /><Relationship Type="http://schemas.openxmlformats.org/officeDocument/2006/relationships/notesMaster" Target="/ppt/notesMasters/notesMaster1.xml" Id="Ra92984ac823649f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9e423189f2c4e76" /><Relationship Type="http://schemas.openxmlformats.org/officeDocument/2006/relationships/notesMaster" Target="/ppt/notesMasters/notesMaster1.xml" Id="R13f5ceb9582a4a0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477efd712d04cdb" /><Relationship Type="http://schemas.openxmlformats.org/officeDocument/2006/relationships/notesMaster" Target="/ppt/notesMasters/notesMaster1.xml" Id="R35786fd17be345b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6e4c16533f624809" /><Relationship Type="http://schemas.openxmlformats.org/officeDocument/2006/relationships/notesMaster" Target="/ppt/notesMasters/notesMaster1.xml" Id="R31acee027199447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416c7c5a9ce4df9" /><Relationship Type="http://schemas.openxmlformats.org/officeDocument/2006/relationships/notesMaster" Target="/ppt/notesMasters/notesMaster1.xml" Id="R57184ed555e24798"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8893fd4c0d94989" /><Relationship Type="http://schemas.openxmlformats.org/officeDocument/2006/relationships/notesMaster" Target="/ppt/notesMasters/notesMaster1.xml" Id="R18dcb0510d4145eb"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a54ffdad2fb54f8b" /><Relationship Type="http://schemas.openxmlformats.org/officeDocument/2006/relationships/notesMaster" Target="/ppt/notesMasters/notesMaster1.xml" Id="R743831fe120345ee"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a2a28df5e4348d3" /><Relationship Type="http://schemas.openxmlformats.org/officeDocument/2006/relationships/notesMaster" Target="/ppt/notesMasters/notesMaster1.xml" Id="R1d84443359784d32"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c388a7f2f004bb3" /><Relationship Type="http://schemas.openxmlformats.org/officeDocument/2006/relationships/notesMaster" Target="/ppt/notesMasters/notesMaster1.xml" Id="R393b09a9fa164af9"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6fcade9fecf94e27" /><Relationship Type="http://schemas.openxmlformats.org/officeDocument/2006/relationships/notesMaster" Target="/ppt/notesMasters/notesMaster1.xml" Id="R7fdc458022a64302"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9217eac089b44364" /><Relationship Type="http://schemas.openxmlformats.org/officeDocument/2006/relationships/notesMaster" Target="/ppt/notesMasters/notesMaster1.xml" Id="R545fd93b193a45f6"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26ccb9074f8f4a06" /><Relationship Type="http://schemas.openxmlformats.org/officeDocument/2006/relationships/notesMaster" Target="/ppt/notesMasters/notesMaster1.xml" Id="Rc6c1e239e92d497a"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3242b923e25c49c2" /><Relationship Type="http://schemas.openxmlformats.org/officeDocument/2006/relationships/notesMaster" Target="/ppt/notesMasters/notesMaster1.xml" Id="R7f9494ff49f640e1"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cf19941955eb48c2" /><Relationship Type="http://schemas.openxmlformats.org/officeDocument/2006/relationships/notesMaster" Target="/ppt/notesMasters/notesMaster1.xml" Id="R7d58cb7458434209"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e3a60d77152146cd" /><Relationship Type="http://schemas.openxmlformats.org/officeDocument/2006/relationships/notesMaster" Target="/ppt/notesMasters/notesMaster1.xml" Id="R07eb95bf5ff8426b"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486bf3807b1e45c0" /><Relationship Type="http://schemas.openxmlformats.org/officeDocument/2006/relationships/notesMaster" Target="/ppt/notesMasters/notesMaster1.xml" Id="R95be2f6180b34e25"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7c87c1e8a1a2495c" /><Relationship Type="http://schemas.openxmlformats.org/officeDocument/2006/relationships/notesMaster" Target="/ppt/notesMasters/notesMaster1.xml" Id="Rb483fba613ab4c5c"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ef01a3ca8be149c4" /><Relationship Type="http://schemas.openxmlformats.org/officeDocument/2006/relationships/notesMaster" Target="/ppt/notesMasters/notesMaster1.xml" Id="R265e7f35e79e410a"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3b13bfdb0f75418b" /><Relationship Type="http://schemas.openxmlformats.org/officeDocument/2006/relationships/notesMaster" Target="/ppt/notesMasters/notesMaster1.xml" Id="Rf5c96d3139374a25"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b3b5dd4cbb004ef3" /><Relationship Type="http://schemas.openxmlformats.org/officeDocument/2006/relationships/notesMaster" Target="/ppt/notesMasters/notesMaster1.xml" Id="Rfdd6201496f04707"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39cb9d32ab2446b3" /><Relationship Type="http://schemas.openxmlformats.org/officeDocument/2006/relationships/notesMaster" Target="/ppt/notesMasters/notesMaster1.xml" Id="R540bf35636824c39"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48ad33b6495f46c7" /><Relationship Type="http://schemas.openxmlformats.org/officeDocument/2006/relationships/notesMaster" Target="/ppt/notesMasters/notesMaster1.xml" Id="Ra73aa86f0731408c"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bae59c1dbe634858" /><Relationship Type="http://schemas.openxmlformats.org/officeDocument/2006/relationships/notesMaster" Target="/ppt/notesMasters/notesMaster1.xml" Id="Rec38c884a28d41e9"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fe1710963fd84bce" /><Relationship Type="http://schemas.openxmlformats.org/officeDocument/2006/relationships/notesMaster" Target="/ppt/notesMasters/notesMaster1.xml" Id="R9219013547b04d28"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407d0ac74ddb4e02" /><Relationship Type="http://schemas.openxmlformats.org/officeDocument/2006/relationships/notesMaster" Target="/ppt/notesMasters/notesMaster1.xml" Id="R8ac5df3bf709443b"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5c33b7cb841945fb" /><Relationship Type="http://schemas.openxmlformats.org/officeDocument/2006/relationships/notesMaster" Target="/ppt/notesMasters/notesMaster1.xml" Id="Rca4ddc6ad7cd4717"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5f105d11ff324642" /><Relationship Type="http://schemas.openxmlformats.org/officeDocument/2006/relationships/notesMaster" Target="/ppt/notesMasters/notesMaster1.xml" Id="R1aee8739b93848b8"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62835592023c4150" /><Relationship Type="http://schemas.openxmlformats.org/officeDocument/2006/relationships/notesMaster" Target="/ppt/notesMasters/notesMaster1.xml" Id="R333c2aba1cbd4887"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4614c0b8d4344911" /><Relationship Type="http://schemas.openxmlformats.org/officeDocument/2006/relationships/notesMaster" Target="/ppt/notesMasters/notesMaster1.xml" Id="Re7501025462d41f2"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28abcc216d01440c" /><Relationship Type="http://schemas.openxmlformats.org/officeDocument/2006/relationships/notesMaster" Target="/ppt/notesMasters/notesMaster1.xml" Id="R8ba320b748054cb9"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3a6743916a664200" /><Relationship Type="http://schemas.openxmlformats.org/officeDocument/2006/relationships/notesMaster" Target="/ppt/notesMasters/notesMaster1.xml" Id="R5bfc20b4ded24251"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4623d556599f4918" /><Relationship Type="http://schemas.openxmlformats.org/officeDocument/2006/relationships/notesMaster" Target="/ppt/notesMasters/notesMaster1.xml" Id="R010d50f71ec04712"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a227bf97a4bf481a" /><Relationship Type="http://schemas.openxmlformats.org/officeDocument/2006/relationships/notesMaster" Target="/ppt/notesMasters/notesMaster1.xml" Id="R39f518e742604e08"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6eb0d3c8ea794ee8" /><Relationship Type="http://schemas.openxmlformats.org/officeDocument/2006/relationships/notesMaster" Target="/ppt/notesMasters/notesMaster1.xml" Id="R6c5357114083452c"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c3d68065118a4d51" /><Relationship Type="http://schemas.openxmlformats.org/officeDocument/2006/relationships/notesMaster" Target="/ppt/notesMasters/notesMaster1.xml" Id="R7bec0c1da75e47b7"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135c16a62ed44589" /><Relationship Type="http://schemas.openxmlformats.org/officeDocument/2006/relationships/notesMaster" Target="/ppt/notesMasters/notesMaster1.xml" Id="R131d478e98e34064"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c9351d98ed2c4a69" /><Relationship Type="http://schemas.openxmlformats.org/officeDocument/2006/relationships/notesMaster" Target="/ppt/notesMasters/notesMaster1.xml" Id="R6331bb8b4a28435c"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1d33268250c24259" /><Relationship Type="http://schemas.openxmlformats.org/officeDocument/2006/relationships/notesMaster" Target="/ppt/notesMasters/notesMaster1.xml" Id="R104d7ca5fe0f47ae"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ce159c98139a4dff" /><Relationship Type="http://schemas.openxmlformats.org/officeDocument/2006/relationships/notesMaster" Target="/ppt/notesMasters/notesMaster1.xml" Id="Rebf5290675524d77"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98d80b46335c4af9" /><Relationship Type="http://schemas.openxmlformats.org/officeDocument/2006/relationships/notesMaster" Target="/ppt/notesMasters/notesMaster1.xml" Id="R2e4367798000452c"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7b23bd44618a4a97" /><Relationship Type="http://schemas.openxmlformats.org/officeDocument/2006/relationships/notesMaster" Target="/ppt/notesMasters/notesMaster1.xml" Id="Re9bd0d0ee7c94af7"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812b15659d804ec2" /><Relationship Type="http://schemas.openxmlformats.org/officeDocument/2006/relationships/notesMaster" Target="/ppt/notesMasters/notesMaster1.xml" Id="Rdb680b7959ab48eb"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31609b94d57d4b49" /><Relationship Type="http://schemas.openxmlformats.org/officeDocument/2006/relationships/notesMaster" Target="/ppt/notesMasters/notesMaster1.xml" Id="R4cb695424fb8483d"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a0a7f7f98028412b" /><Relationship Type="http://schemas.openxmlformats.org/officeDocument/2006/relationships/notesMaster" Target="/ppt/notesMasters/notesMaster1.xml" Id="Rb6e74da1e8ab48c3"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ff623893411d4f71" /><Relationship Type="http://schemas.openxmlformats.org/officeDocument/2006/relationships/notesMaster" Target="/ppt/notesMasters/notesMaster1.xml" Id="R830df858010548a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first prediction model</a:t>
            </a:r>
          </a:p>
          <a:p xmlns:a="http://schemas.openxmlformats.org/drawingml/2006/main">
            <a:r>
              <a:t>Explanation to give</a:t>
            </a:r>
          </a:p>
          <a:p xmlns:a="http://schemas.openxmlformats.org/drawingml/2006/main">
            <a:r>
              <a:t>Introduce a fitted predictor only after identifying its inputs and known answers. Compare it with a simple baseline and explain its errors in target units.</a:t>
            </a:r>
          </a:p>
          <a:p xmlns:a="http://schemas.openxmlformats.org/drawingml/2006/main">
            <a:r>
              <a:t/>
            </a:r>
          </a:p>
          <a:p xmlns:a="http://schemas.openxmlformats.org/drawingml/2006/main">
            <a:r>
              <a:t>Worked illustration / lecturer answer</a:t>
            </a:r>
          </a:p>
          <a:p xmlns:a="http://schemas.openxmlformats.org/drawingml/2006/main">
            <a:r>
              <a:t>The teaching line through (1,12), (2,14), (3,16), (4,18) predicts 15 at input 2.5. One neat example does not establish real-world accuracy.</a:t>
            </a:r>
          </a:p>
          <a:p xmlns:a="http://schemas.openxmlformats.org/drawingml/2006/main">
            <a:r>
              <a:t/>
            </a:r>
          </a:p>
          <a:p xmlns:a="http://schemas.openxmlformats.org/drawingml/2006/main">
            <a:r>
              <a:t>Misconception to address</a:t>
            </a:r>
          </a:p>
          <a:p xmlns:a="http://schemas.openxmlformats.org/drawingml/2006/main">
            <a:r>
              <a:t>Use this as an orientation to the lesson. Terms and syntax will be unpacked on their own slides; students do not need to know them in advance.</a:t>
            </a:r>
          </a:p>
          <a:p xmlns:a="http://schemas.openxmlformats.org/drawingml/2006/main">
            <a:r>
              <a:t/>
            </a:r>
          </a:p>
          <a:p xmlns:a="http://schemas.openxmlformats.org/drawingml/2006/main">
            <a:r>
              <a:t>On this slide</a:t>
            </a:r>
          </a:p>
          <a:p xmlns:a="http://schemas.openxmlformats.org/drawingml/2006/main">
            <a:r>
              <a:t>Mining and Petroleum Engineering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Core practice precedes the assessment brief. Give the class one consistent data-handling approach: pandas for tables, scikit-learn for models, matplotlib for figures.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Uploading a notebook does not upload its modelling_data. Check the exact filename and column headings. Each cohort has its own data, so numerical results can differ.</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Import and short names</a:t>
            </a:r>
          </a:p>
          <a:p xmlns:a="http://schemas.openxmlformats.org/drawingml/2006/main">
            <a:r>
              <a:t>import pandas as pd loads pandas and gives it the short name pd. pd.read_csv refers to a function in that library.</a:t>
            </a:r>
          </a:p>
          <a:p xmlns:a="http://schemas.openxmlformats.org/drawingml/2006/main">
            <a:r>
              <a:t/>
            </a:r>
          </a:p>
          <a:p xmlns:a="http://schemas.openxmlformats.org/drawingml/2006/main">
            <a:r>
              <a:t>Reading a CSV</a:t>
            </a:r>
          </a:p>
          <a:p xmlns:a="http://schemas.openxmlformats.org/drawingml/2006/main">
            <a:r>
              <a:t>pd.read_csv("practice_filename.csv") reads the named file into a DataFrame: a table with labelled columns and row labels. The file must exist in the working folder.</a:t>
            </a:r>
          </a:p>
          <a:p xmlns:a="http://schemas.openxmlformats.org/drawingml/2006/main">
            <a:r>
              <a:t/>
            </a:r>
          </a:p>
          <a:p xmlns:a="http://schemas.openxmlformats.org/drawingml/2006/main">
            <a:r>
              <a:t>Counting dimensions</a:t>
            </a:r>
          </a:p>
          <a:p xmlns:a="http://schemas.openxmlformats.org/drawingml/2006/main">
            <a:r>
              <a:t>equipment_data.shape gives (number of rows, number of columns). shape is a property, so it has no parentheses.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Column data types</a:t>
            </a:r>
          </a:p>
          <a:p xmlns:a="http://schemas.openxmlformats.org/drawingml/2006/main">
            <a:r>
              <a:t>equipment_data.dtypes reports each column’s stored type. int64 means integers, float64 means decimal numbers, and object often contains text. Numeric blanks commonly appear as NaN.</a:t>
            </a:r>
          </a:p>
          <a:p xmlns:a="http://schemas.openxmlformats.org/drawingml/2006/main">
            <a:r>
              <a:t/>
            </a:r>
          </a:p>
          <a:p xmlns:a="http://schemas.openxmlformats.org/drawingml/2006/main">
            <a:r>
              <a:t>A preview of rows</a:t>
            </a:r>
          </a:p>
          <a:p xmlns:a="http://schemas.openxmlformats.org/drawingml/2006/main">
            <a:r>
              <a:t>equipment_data.head() returns the first five rows. It leaves the table unchanged. A preview is not the entire dataset.</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assigns a value to a name; == compares values. Parentheses pass inputs or continue an expression across lines. print displays a value; len counts entries. int and float convert to integer and decimal numeric values.</a:t>
            </a:r>
          </a:p>
          <a:p xmlns:a="http://schemas.openxmlformats.org/drawingml/2006/main">
            <a:r>
              <a:t>Explain these operations before running the following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assigns a value to a name; == compares values. Parentheses pass inputs or continue an expression across lines. print displays a value; len counts entries. int and float convert to integer and decimal numeric values.</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import pandas as pd</a:t>
            </a:r>
          </a:p>
          <a:p xmlns:a="http://schemas.openxmlformats.org/drawingml/2006/main">
            <a:r>
              <a:t>Load the named tools. Importing a model class does not train a model.</a:t>
            </a:r>
          </a:p>
          <a:p xmlns:a="http://schemas.openxmlformats.org/drawingml/2006/main">
            <a:r>
              <a:t/>
            </a:r>
          </a:p>
          <a:p xmlns:a="http://schemas.openxmlformats.org/drawingml/2006/main">
            <a:r>
              <a:t>raw_data = pd.read_csv('engineering_data.csv')</a:t>
            </a:r>
          </a:p>
          <a:p xmlns:a="http://schemas.openxmlformats.org/drawingml/2006/main">
            <a:r>
              <a:t>raw_data stores original CSV table; keep it unchanged so the analysis can be checked.</a:t>
            </a:r>
          </a:p>
          <a:p xmlns:a="http://schemas.openxmlformats.org/drawingml/2006/main">
            <a:r>
              <a:t/>
            </a:r>
          </a:p>
          <a:p xmlns:a="http://schemas.openxmlformats.org/drawingml/2006/main">
            <a:r>
              <a:t>print(raw_data.head())</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print(raw_data.shape)</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print(raw_data.dtypes)</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record_id equipment_id  load_pct  ambient_c  target</a:t>
            </a:r>
          </a:p>
          <a:p xmlns:a="http://schemas.openxmlformats.org/drawingml/2006/main">
            <a:r>
              <a:t>0          1           E1     59.15      31.71  14.001</a:t>
            </a:r>
          </a:p>
          <a:p xmlns:a="http://schemas.openxmlformats.org/drawingml/2006/main">
            <a:r>
              <a:t>1          2           E2     77.46      29.97  15.147</a:t>
            </a:r>
          </a:p>
          <a:p xmlns:a="http://schemas.openxmlformats.org/drawingml/2006/main">
            <a:r>
              <a:t>2          3           E3     69.60      19.87  13.005</a:t>
            </a:r>
          </a:p>
          <a:p xmlns:a="http://schemas.openxmlformats.org/drawingml/2006/main">
            <a:r>
              <a:t>3          4           E4     75.98      22.29     NaN</a:t>
            </a:r>
          </a:p>
          <a:p xmlns:a="http://schemas.openxmlformats.org/drawingml/2006/main">
            <a:r>
              <a:t>4          5           E5     57.62      23.40  12.554</a:t>
            </a:r>
          </a:p>
          <a:p xmlns:a="http://schemas.openxmlformats.org/drawingml/2006/main">
            <a:r>
              <a:t>(91, 5)</a:t>
            </a:r>
          </a:p>
          <a:p xmlns:a="http://schemas.openxmlformats.org/drawingml/2006/main">
            <a:r>
              <a:t>record_id         int64</a:t>
            </a:r>
          </a:p>
          <a:p xmlns:a="http://schemas.openxmlformats.org/drawingml/2006/main">
            <a:r>
              <a:t>equipment_id     object</a:t>
            </a:r>
          </a:p>
          <a:p xmlns:a="http://schemas.openxmlformats.org/drawingml/2006/main">
            <a:r>
              <a:t>load_pct        float64</a:t>
            </a:r>
          </a:p>
          <a:p xmlns:a="http://schemas.openxmlformats.org/drawingml/2006/main">
            <a:r>
              <a:t>ambient_c       float64</a:t>
            </a:r>
          </a:p>
          <a:p xmlns:a="http://schemas.openxmlformats.org/drawingml/2006/main">
            <a:r>
              <a:t>target          float64</a:t>
            </a:r>
          </a:p>
          <a:p xmlns:a="http://schemas.openxmlformats.org/drawingml/2006/main">
            <a:r>
              <a:t>dtype: object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follows the issued data rules. Filtering observed targets is different from estimating missing targets. Deduplicate before filtering, so an invalid first occurrence is not replaced by its later duplicate.</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Reading chained operations</a:t>
            </a:r>
          </a:p>
          <a:p xmlns:a="http://schemas.openxmlformats.org/drawingml/2006/main">
            <a:r>
              <a:t>Read a chain from left to right. In equipment_data["target"].mean(), select the target Series first, then calculate its mean. Each step uses the previous step’s result.</a:t>
            </a:r>
          </a:p>
          <a:p xmlns:a="http://schemas.openxmlformats.org/drawingml/2006/main">
            <a:r>
              <a:t/>
            </a:r>
          </a:p>
          <a:p xmlns:a="http://schemas.openxmlformats.org/drawingml/2006/main">
            <a:r>
              <a:t>A separate working table</a:t>
            </a:r>
          </a:p>
          <a:p xmlns:a="http://schemas.openxmlformats.org/drawingml/2006/main">
            <a:r>
              <a:t>equipment_data.copy() creates a working copy. Assigning columns on this copy preserves the source table, so you can compare before and after.</a:t>
            </a:r>
          </a:p>
          <a:p xmlns:a="http://schemas.openxmlformats.org/drawingml/2006/main">
            <a:r>
              <a:t/>
            </a:r>
          </a:p>
          <a:p xmlns:a="http://schemas.openxmlformats.org/drawingml/2006/main">
            <a:r>
              <a:t>Finding recorded cells</a:t>
            </a:r>
          </a:p>
          <a:p xmlns:a="http://schemas.openxmlformats.org/drawingml/2006/main">
            <a:r>
              <a:t>notna() returns True where a value is present. Use it to retain observations with a recorded target before modelling.</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inclusive range</a:t>
            </a:r>
          </a:p>
          <a:p xmlns:a="http://schemas.openxmlformats.org/drawingml/2006/main">
            <a:r>
              <a:t>series.between(0, 100) is True for values from 0 through 100, including both limits. The resulting mask helps select valid rows.</a:t>
            </a:r>
          </a:p>
          <a:p xmlns:a="http://schemas.openxmlformats.org/drawingml/2006/main">
            <a:r>
              <a:t/>
            </a:r>
          </a:p>
          <a:p xmlns:a="http://schemas.openxmlformats.org/drawingml/2006/main">
            <a:r>
              <a:t>Selecting columns</a:t>
            </a:r>
          </a:p>
          <a:p xmlns:a="http://schemas.openxmlformats.org/drawingml/2006/main">
            <a:r>
              <a:t>equipment_data["column"] returns one labelled column, a Series. equipment_data[["a", "b"]] returns a DataFrame containing those named columns in that order.</a:t>
            </a:r>
          </a:p>
          <a:p xmlns:a="http://schemas.openxmlformats.org/drawingml/2006/main">
            <a:r>
              <a:t/>
            </a:r>
          </a:p>
          <a:p xmlns:a="http://schemas.openxmlformats.org/drawingml/2006/main">
            <a:r>
              <a:t>Selecting rows with a mask</a:t>
            </a:r>
          </a:p>
          <a:p xmlns:a="http://schemas.openxmlformats.org/drawingml/2006/main">
            <a:r>
              <a:t>A column comparison produces one True or False per row. equipment_data[mask] keeps the True rows. &amp; combines masks: both conditions must hold. Parenthesise each comparison.</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Keeping the first observation</a:t>
            </a:r>
          </a:p>
          <a:p xmlns:a="http://schemas.openxmlformats.org/drawingml/2006/main">
            <a:r>
              <a:t>equipment_data.drop_duplicates("record_id") returns rows with the first occurrence of each ID, preserving their order. It does not overwrite the source unless you assign the result.</a:t>
            </a:r>
          </a:p>
          <a:p xmlns:a="http://schemas.openxmlformats.org/drawingml/2006/main">
            <a:r>
              <a:t/>
            </a:r>
          </a:p>
          <a:p xmlns:a="http://schemas.openxmlformats.org/drawingml/2006/main">
            <a:r>
              <a:t>Membership in a group list</a:t>
            </a:r>
          </a:p>
          <a:p xmlns:a="http://schemas.openxmlformats.org/drawingml/2006/main">
            <a:r>
              <a:t>series.isin(["E1", "E2"]) returns True for entries matching either listed label. equipment_data[that_mask] keeps all observations belonging to those groups.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First keep the first record ID. Then ask two questions for each remaining row: is the target recorded, and is load between 0 and 100? Only a row passing both checks stays. Missing inputs are handled later using training data only.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First keep the first record ID. Then ask two questions for each remaining row: is the target recorded, and is load between 0 and 100? Only a row passing both checks stays. Missing inputs are handled later using training data only.</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modelling_data = raw_data.drop_duplicates('record_id').copy()</a:t>
            </a:r>
          </a:p>
          <a:p xmlns:a="http://schemas.openxmlformats.org/drawingml/2006/main">
            <a:r>
              <a:t>modelling_data stores copied observations after duplicate and validity checks.</a:t>
            </a:r>
          </a:p>
          <a:p xmlns:a="http://schemas.openxmlformats.org/drawingml/2006/main">
            <a:r>
              <a:t/>
            </a:r>
          </a:p>
          <a:p xmlns:a="http://schemas.openxmlformats.org/drawingml/2006/main">
            <a:r>
              <a:t>target_is_recorded = modelling_data['target'].notna()</a:t>
            </a:r>
          </a:p>
          <a:p xmlns:a="http://schemas.openxmlformats.org/drawingml/2006/main">
            <a:r>
              <a:t>target_is_recorded stores the result of the displayed expression.</a:t>
            </a:r>
          </a:p>
          <a:p xmlns:a="http://schemas.openxmlformats.org/drawingml/2006/main">
            <a:r>
              <a:t/>
            </a:r>
          </a:p>
          <a:p xmlns:a="http://schemas.openxmlformats.org/drawingml/2006/main">
            <a:r>
              <a:t>load_is_valid = modelling_data['load_pct'].between(0, 100)</a:t>
            </a:r>
          </a:p>
          <a:p xmlns:a="http://schemas.openxmlformats.org/drawingml/2006/main">
            <a:r>
              <a:t>load_is_valid stores the result of the displayed expression.</a:t>
            </a:r>
          </a:p>
          <a:p xmlns:a="http://schemas.openxmlformats.org/drawingml/2006/main">
            <a:r>
              <a:t/>
            </a:r>
          </a:p>
          <a:p xmlns:a="http://schemas.openxmlformats.org/drawingml/2006/main">
            <a:r>
              <a:t>rows_to_keep = target_is_recorded &amp; load_is_valid</a:t>
            </a:r>
          </a:p>
          <a:p xmlns:a="http://schemas.openxmlformats.org/drawingml/2006/main">
            <a:r>
              <a:t>rows_to_keep stores the result of the displayed expression.</a:t>
            </a:r>
          </a:p>
          <a:p xmlns:a="http://schemas.openxmlformats.org/drawingml/2006/main">
            <a:r>
              <a:t/>
            </a:r>
          </a:p>
          <a:p xmlns:a="http://schemas.openxmlformats.org/drawingml/2006/main">
            <a:r>
              <a:t>print(target_is_recorded.head())</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print(load_is_valid.head())</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modelling_data = modelling_data[rows_to_keep].copy()</a:t>
            </a:r>
          </a:p>
          <a:p xmlns:a="http://schemas.openxmlformats.org/drawingml/2006/main">
            <a:r>
              <a:t>modelling_data stores copied observations after duplicate and validity checks.</a:t>
            </a:r>
          </a:p>
          <a:p xmlns:a="http://schemas.openxmlformats.org/drawingml/2006/main">
            <a:r>
              <a:t/>
            </a:r>
          </a:p>
          <a:p xmlns:a="http://schemas.openxmlformats.org/drawingml/2006/main">
            <a:r>
              <a:t>print(len(raw_data), len(modelling_data))</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0     True</a:t>
            </a:r>
          </a:p>
          <a:p xmlns:a="http://schemas.openxmlformats.org/drawingml/2006/main">
            <a:r>
              <a:t>1     True</a:t>
            </a:r>
          </a:p>
          <a:p xmlns:a="http://schemas.openxmlformats.org/drawingml/2006/main">
            <a:r>
              <a:t>2     True</a:t>
            </a:r>
          </a:p>
          <a:p xmlns:a="http://schemas.openxmlformats.org/drawingml/2006/main">
            <a:r>
              <a:t>3    False</a:t>
            </a:r>
          </a:p>
          <a:p xmlns:a="http://schemas.openxmlformats.org/drawingml/2006/main">
            <a:r>
              <a:t>4     True</a:t>
            </a:r>
          </a:p>
          <a:p xmlns:a="http://schemas.openxmlformats.org/drawingml/2006/main">
            <a:r>
              <a:t>Name: target, dtype: bool</a:t>
            </a:r>
          </a:p>
          <a:p xmlns:a="http://schemas.openxmlformats.org/drawingml/2006/main">
            <a:r>
              <a:t>0    True</a:t>
            </a:r>
          </a:p>
          <a:p xmlns:a="http://schemas.openxmlformats.org/drawingml/2006/main">
            <a:r>
              <a:t>1    True</a:t>
            </a:r>
          </a:p>
          <a:p xmlns:a="http://schemas.openxmlformats.org/drawingml/2006/main">
            <a:r>
              <a:t>2    True</a:t>
            </a:r>
          </a:p>
          <a:p xmlns:a="http://schemas.openxmlformats.org/drawingml/2006/main">
            <a:r>
              <a:t>3    True</a:t>
            </a:r>
          </a:p>
          <a:p xmlns:a="http://schemas.openxmlformats.org/drawingml/2006/main">
            <a:r>
              <a:t>4    True</a:t>
            </a:r>
          </a:p>
          <a:p xmlns:a="http://schemas.openxmlformats.org/drawingml/2006/main">
            <a:r>
              <a:t>Name: load_pct, dtype: bool</a:t>
            </a:r>
          </a:p>
          <a:p xmlns:a="http://schemas.openxmlformats.org/drawingml/2006/main">
            <a:r>
              <a:t>91 88</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isin(list_of_labels) answers True when a row’s equipment ID appears in the list. Here E1–E4 supply training rows, E5 validation rows and E6 test rows. The groups stay separate so one equipment group cannot appear on both sides.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isin(list_of_labels) answers True when a row’s equipment ID appears in the list. Here E1–E4 supply training rows, E5 validation rows and E6 test rows. The groups stay separate so one equipment group cannot appear on both sides.</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is_training_equipment = modelling_data['equipment_id'].isin(['E1', 'E2', 'E3', 'E4'])</a:t>
            </a:r>
          </a:p>
          <a:p xmlns:a="http://schemas.openxmlformats.org/drawingml/2006/main">
            <a:r>
              <a:t>is_training_equipment stores the result of the displayed expression.</a:t>
            </a:r>
          </a:p>
          <a:p xmlns:a="http://schemas.openxmlformats.org/drawingml/2006/main">
            <a:r>
              <a:t/>
            </a:r>
          </a:p>
          <a:p xmlns:a="http://schemas.openxmlformats.org/drawingml/2006/main">
            <a:r>
              <a:t>is_validation_equipment = modelling_data['equipment_id'].isin(['E5'])</a:t>
            </a:r>
          </a:p>
          <a:p xmlns:a="http://schemas.openxmlformats.org/drawingml/2006/main">
            <a:r>
              <a:t>is_validation_equipment stores the result of the displayed expression.</a:t>
            </a:r>
          </a:p>
          <a:p xmlns:a="http://schemas.openxmlformats.org/drawingml/2006/main">
            <a:r>
              <a:t/>
            </a:r>
          </a:p>
          <a:p xmlns:a="http://schemas.openxmlformats.org/drawingml/2006/main">
            <a:r>
              <a:t>is_test_equipment = modelling_data['equipment_id'].isin(['E6'])</a:t>
            </a:r>
          </a:p>
          <a:p xmlns:a="http://schemas.openxmlformats.org/drawingml/2006/main">
            <a:r>
              <a:t>is_test_equipment stores the result of the displayed expression.</a:t>
            </a:r>
          </a:p>
          <a:p xmlns:a="http://schemas.openxmlformats.org/drawingml/2006/main">
            <a:r>
              <a:t/>
            </a:r>
          </a:p>
          <a:p xmlns:a="http://schemas.openxmlformats.org/drawingml/2006/main">
            <a:r>
              <a:t>Verified result with the supplied CSV</a:t>
            </a:r>
          </a:p>
          <a:p xmlns:a="http://schemas.openxmlformats.org/drawingml/2006/main">
            <a:r>
              <a:t>This cell stores values for the next example; it does not print a result.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training_data: rows used to learn model settings; only these rows may determine imputation values.</a:t>
            </a:r>
          </a:p>
          <a:p xmlns:a="http://schemas.openxmlformats.org/drawingml/2006/main">
            <a:r>
              <a:t/>
            </a:r>
          </a:p>
          <a:p xmlns:a="http://schemas.openxmlformats.org/drawingml/2006/main">
            <a:r>
              <a:t>validation_data: separate rows used to compare models without fitting on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training_data: rows used to learn model settings; only these rows may determine imputation values.</a:t>
            </a:r>
          </a:p>
          <a:p xmlns:a="http://schemas.openxmlformats.org/drawingml/2006/main">
            <a:r>
              <a:t/>
            </a:r>
          </a:p>
          <a:p xmlns:a="http://schemas.openxmlformats.org/drawingml/2006/main">
            <a:r>
              <a:t>validation_data: separate rows used to compare models without fitting on them.</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training_data = modelling_data[is_training_equipment].copy()</a:t>
            </a:r>
          </a:p>
          <a:p xmlns:a="http://schemas.openxmlformats.org/drawingml/2006/main">
            <a:r>
              <a:t>training_data stores rows used to learn model settings; only these rows may determine imputation values.</a:t>
            </a:r>
          </a:p>
          <a:p xmlns:a="http://schemas.openxmlformats.org/drawingml/2006/main">
            <a:r>
              <a:t/>
            </a:r>
          </a:p>
          <a:p xmlns:a="http://schemas.openxmlformats.org/drawingml/2006/main">
            <a:r>
              <a:t>validation_data = modelling_data[is_validation_equipment].copy()</a:t>
            </a:r>
          </a:p>
          <a:p xmlns:a="http://schemas.openxmlformats.org/drawingml/2006/main">
            <a:r>
              <a:t>validation_data stores separate rows used to compare models without fitting on them.</a:t>
            </a:r>
          </a:p>
          <a:p xmlns:a="http://schemas.openxmlformats.org/drawingml/2006/main">
            <a:r>
              <a:t/>
            </a:r>
          </a:p>
          <a:p xmlns:a="http://schemas.openxmlformats.org/drawingml/2006/main">
            <a:r>
              <a:t>test_data = modelling_data[is_test_equipment].copy()</a:t>
            </a:r>
          </a:p>
          <a:p xmlns:a="http://schemas.openxmlformats.org/drawingml/2006/main">
            <a:r>
              <a:t>test_data stores held-out rows kept aside until the final evaluation.</a:t>
            </a:r>
          </a:p>
          <a:p xmlns:a="http://schemas.openxmlformats.org/drawingml/2006/main">
            <a:r>
              <a:t/>
            </a:r>
          </a:p>
          <a:p xmlns:a="http://schemas.openxmlformats.org/drawingml/2006/main">
            <a:r>
              <a:t>feature_columns = ['load_pct', 'ambient_c']</a:t>
            </a:r>
          </a:p>
          <a:p xmlns:a="http://schemas.openxmlformats.org/drawingml/2006/main">
            <a:r>
              <a:t>feature_columns stores the list of input column names supplied to the model.</a:t>
            </a:r>
          </a:p>
          <a:p xmlns:a="http://schemas.openxmlformats.org/drawingml/2006/main">
            <a:r>
              <a:t/>
            </a:r>
          </a:p>
          <a:p xmlns:a="http://schemas.openxmlformats.org/drawingml/2006/main">
            <a:r>
              <a:t>print(len(training_data), len(validation_data), len(test_data))</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58 15 15</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Fitting a line to observations</a:t>
            </a:r>
          </a:p>
          <a:p xmlns:a="http://schemas.openxmlformats.org/drawingml/2006/main">
            <a:r>
              <a:t>Explanation to give</a:t>
            </a:r>
          </a:p>
          <a:p xmlns:a="http://schemas.openxmlformats.org/drawingml/2006/main">
            <a:r>
              <a:t>Use the four teaching pairs to make the learned relationship visible. A one-unit input increase corresponds to a two-unit target increase in this invented dataset.</a:t>
            </a:r>
          </a:p>
          <a:p xmlns:a="http://schemas.openxmlformats.org/drawingml/2006/main">
            <a:r>
              <a:t/>
            </a:r>
          </a:p>
          <a:p xmlns:a="http://schemas.openxmlformats.org/drawingml/2006/main">
            <a:r>
              <a:t>Worked illustration / lecturer answer</a:t>
            </a:r>
          </a:p>
          <a:p xmlns:a="http://schemas.openxmlformats.org/drawingml/2006/main">
            <a:r>
              <a:t>The pairs (1,12), (2,14), (3,16), (4,18) follow target = 10 + 2 × input. For input 2.5, that line gives 15. A tree makes threshold-based group predictions instead.</a:t>
            </a:r>
          </a:p>
          <a:p xmlns:a="http://schemas.openxmlformats.org/drawingml/2006/main">
            <a:r>
              <a:t/>
            </a:r>
          </a:p>
          <a:p xmlns:a="http://schemas.openxmlformats.org/drawingml/2006/main">
            <a:r>
              <a:t>Misconception to address</a:t>
            </a:r>
          </a:p>
          <a:p xmlns:a="http://schemas.openxmlformats.org/drawingml/2006/main">
            <a:r>
              <a:t>These perfectly patterned values explain model behaviour. They do not establish that real engineering data follows an exact line.</a:t>
            </a:r>
          </a:p>
          <a:p xmlns:a="http://schemas.openxmlformats.org/drawingml/2006/main">
            <a:r>
              <a:t/>
            </a:r>
          </a:p>
          <a:p xmlns:a="http://schemas.openxmlformats.org/drawingml/2006/main">
            <a:r>
              <a:t>On this slide</a:t>
            </a:r>
          </a:p>
          <a:p xmlns:a="http://schemas.openxmlformats.org/drawingml/2006/main">
            <a:r>
              <a:t>The fitted line minimises the sum of squared vertical baseline_errors.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model object exists before training. X is two-dimensional and y is one-dimensional. Select inputs in the same order during prediction. A validation target must never enter fit.</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Returning plain values</a:t>
            </a:r>
          </a:p>
          <a:p xmlns:a="http://schemas.openxmlformats.org/drawingml/2006/main">
            <a:r>
              <a:t>series.tolist() or array.tolist() returns a Python list of values, without pandas row labels. Preserve their order when pairing actual values and validation_predictions.</a:t>
            </a:r>
          </a:p>
          <a:p xmlns:a="http://schemas.openxmlformats.org/drawingml/2006/main">
            <a:r>
              <a:t/>
            </a:r>
          </a:p>
          <a:p xmlns:a="http://schemas.openxmlformats.org/drawingml/2006/main">
            <a:r>
              <a:t>Rounded display</a:t>
            </a:r>
          </a:p>
          <a:p xmlns:a="http://schemas.openxmlformats.org/drawingml/2006/main">
            <a:r>
              <a:t>series.round(3) returns values rounded to three decimal places. Python round(number, 3) rounds one number. Keep unrounded calculations for returned assessment answers.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make_pipeline(imputer, estimator) links preprocessing and prediction. fit learns the imputer and estimator on training rows. predict applies the learned steps to new rows in the same order.</a:t>
            </a:r>
          </a:p>
          <a:p xmlns:a="http://schemas.openxmlformats.org/drawingml/2006/main">
            <a:r>
              <a:t/>
            </a:r>
          </a:p>
          <a:p xmlns:a="http://schemas.openxmlformats.org/drawingml/2006/main">
            <a:r>
              <a:t>SimpleImputer(strategy="median") learns a median for each input column during fit. It uses those training medians to fill gaps later. Never learn replacement values from validation or test rows.</a:t>
            </a:r>
          </a:p>
          <a:p xmlns:a="http://schemas.openxmlformats.org/drawingml/2006/main">
            <a:r>
              <a:t>Explain these operations before running the following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LinearRegression() creates an unfitted model. It will learn coefficients and an intercept from training examples. Creating it alone does not train it or make predictions.</a:t>
            </a:r>
          </a:p>
          <a:p xmlns:a="http://schemas.openxmlformats.org/drawingml/2006/main">
            <a:r>
              <a:t/>
            </a:r>
          </a:p>
          <a:p xmlns:a="http://schemas.openxmlformats.org/drawingml/2006/main">
            <a:r>
              <a:t>model.fit(input_table, observed_targets) learns model settings from paired rows. The two inputs must describe the same observations in the same order. Call fit before predict.</a:t>
            </a:r>
          </a:p>
          <a:p xmlns:a="http://schemas.openxmlformats.org/drawingml/2006/main">
            <a:r>
              <a:t>Explain these operations before running the following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model.predict(input_table) returns one prediction per input row. Use the same feature columns and order as during training. Prediction uses learned settings; it does not refit the model.</a:t>
            </a:r>
          </a:p>
          <a:p xmlns:a="http://schemas.openxmlformats.org/drawingml/2006/main">
            <a:r>
              <a:t/>
            </a:r>
          </a:p>
          <a:p xmlns:a="http://schemas.openxmlformats.org/drawingml/2006/main">
            <a:r>
              <a:t>values[:5] selects positions 0 through 4, or fewer if the sequence is shorter. The stop position is excluded. This preview does not change the full array stored in the variable.</a:t>
            </a:r>
          </a:p>
          <a:p xmlns:a="http://schemas.openxmlformats.org/drawingml/2006/main">
            <a:r>
              <a:t>Explain these operations before running the following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common machine-learning conventions. Some tutorials write train_x and train_y instead. The names are chosen by the programmer, not special Python keywords. Keep training_data as the full table; selecting X_train must exclude target. Rows in X and y must stay paired. fit uses training pairs; predict receives only X_valid. Compare predictions with y_valid afterwards.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X_train contains the input columns; y_train contains their observed targets. X_valid contains the same input columns for validation; y_valid holds the answers for checking predictions. Never include target among the inputs.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X_train contains the input columns; y_train contains their observed targets. X_valid contains the same input columns for validation; y_valid holds the answers for checking predictions. Never include target among the inputs.</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X_train = training_data[feature_columns]</a:t>
            </a:r>
          </a:p>
          <a:p xmlns:a="http://schemas.openxmlformats.org/drawingml/2006/main">
            <a:r>
              <a:t>X_train stores training input columns, excluding the target.</a:t>
            </a:r>
          </a:p>
          <a:p xmlns:a="http://schemas.openxmlformats.org/drawingml/2006/main">
            <a:r>
              <a:t/>
            </a:r>
          </a:p>
          <a:p xmlns:a="http://schemas.openxmlformats.org/drawingml/2006/main">
            <a:r>
              <a:t>y_train = training_data['target']</a:t>
            </a:r>
          </a:p>
          <a:p xmlns:a="http://schemas.openxmlformats.org/drawingml/2006/main">
            <a:r>
              <a:t>y_train stores observed training targets in matching row order.</a:t>
            </a:r>
          </a:p>
          <a:p xmlns:a="http://schemas.openxmlformats.org/drawingml/2006/main">
            <a:r>
              <a:t/>
            </a:r>
          </a:p>
          <a:p xmlns:a="http://schemas.openxmlformats.org/drawingml/2006/main">
            <a:r>
              <a:t>X_valid = validation_data[feature_columns]</a:t>
            </a:r>
          </a:p>
          <a:p xmlns:a="http://schemas.openxmlformats.org/drawingml/2006/main">
            <a:r>
              <a:t>X_valid stores validation input columns in training-column order.</a:t>
            </a:r>
          </a:p>
          <a:p xmlns:a="http://schemas.openxmlformats.org/drawingml/2006/main">
            <a:r>
              <a:t/>
            </a:r>
          </a:p>
          <a:p xmlns:a="http://schemas.openxmlformats.org/drawingml/2006/main">
            <a:r>
              <a:t>y_valid = validation_data['target']</a:t>
            </a:r>
          </a:p>
          <a:p xmlns:a="http://schemas.openxmlformats.org/drawingml/2006/main">
            <a:r>
              <a:t>y_valid stores observed validation targets, used only for evaluation.</a:t>
            </a:r>
          </a:p>
          <a:p xmlns:a="http://schemas.openxmlformats.org/drawingml/2006/main">
            <a:r>
              <a:t/>
            </a:r>
          </a:p>
          <a:p xmlns:a="http://schemas.openxmlformats.org/drawingml/2006/main">
            <a:r>
              <a:t>from sklearn.impute import SimpleImputer</a:t>
            </a:r>
          </a:p>
          <a:p xmlns:a="http://schemas.openxmlformats.org/drawingml/2006/main">
            <a:r>
              <a:t>Load the named tools. Importing a model class does not train a model.</a:t>
            </a:r>
          </a:p>
          <a:p xmlns:a="http://schemas.openxmlformats.org/drawingml/2006/main">
            <a:r>
              <a:t/>
            </a:r>
          </a:p>
          <a:p xmlns:a="http://schemas.openxmlformats.org/drawingml/2006/main">
            <a:r>
              <a:t>from sklearn.pipeline import make_pipeline</a:t>
            </a:r>
          </a:p>
          <a:p xmlns:a="http://schemas.openxmlformats.org/drawingml/2006/main">
            <a:r>
              <a:t>Load the named tools. Importing a model class does not train a model.</a:t>
            </a:r>
          </a:p>
          <a:p xmlns:a="http://schemas.openxmlformats.org/drawingml/2006/main">
            <a:r>
              <a:t/>
            </a:r>
          </a:p>
          <a:p xmlns:a="http://schemas.openxmlformats.org/drawingml/2006/main">
            <a:r>
              <a:t>from sklearn.linear_model import LinearRegression</a:t>
            </a:r>
          </a:p>
          <a:p xmlns:a="http://schemas.openxmlformats.org/drawingml/2006/main">
            <a:r>
              <a:t>Load the named tools. Importing a model class does not train a model.</a:t>
            </a:r>
          </a:p>
          <a:p xmlns:a="http://schemas.openxmlformats.org/drawingml/2006/main">
            <a:r>
              <a:t/>
            </a:r>
          </a:p>
          <a:p xmlns:a="http://schemas.openxmlformats.org/drawingml/2006/main">
            <a:r>
              <a:t>Verified result with the supplied CSV</a:t>
            </a:r>
          </a:p>
          <a:p xmlns:a="http://schemas.openxmlformats.org/drawingml/2006/main">
            <a:r>
              <a:t>This cell stores values for the next example; it does not print a result.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Creating an estimator sets up an empty model. fit learns settings from training inputs and their targets. predict uses those learned settings on new inputs; it does not learn from the validation targets.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Creating an estimator sets up an empty model. fit learns settings from training inputs and their targets. predict uses those learned settings on new inputs; it does not learn from the validation targets.</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linear_model = make_pipeline(SimpleImputer(strategy='median'), LinearRegression())</a:t>
            </a:r>
          </a:p>
          <a:p xmlns:a="http://schemas.openxmlformats.org/drawingml/2006/main">
            <a:r>
              <a:t>linear_model stores the linear regression estimator or imputation-and-regression pipeline.</a:t>
            </a:r>
          </a:p>
          <a:p xmlns:a="http://schemas.openxmlformats.org/drawingml/2006/main">
            <a:r>
              <a:t/>
            </a:r>
          </a:p>
          <a:p xmlns:a="http://schemas.openxmlformats.org/drawingml/2006/main">
            <a:r>
              <a:t>linear_model.fit(X_train, y_train)</a:t>
            </a:r>
          </a:p>
          <a:p xmlns:a="http://schemas.openxmlformats.org/drawingml/2006/main">
            <a:r>
              <a:t>model.fit(input_table, observed_targets) learns model settings from paired rows. The two inputs must describe the same observations in the same order. Call fit before predict.</a:t>
            </a:r>
          </a:p>
          <a:p xmlns:a="http://schemas.openxmlformats.org/drawingml/2006/main">
            <a:r>
              <a:t/>
            </a:r>
          </a:p>
          <a:p xmlns:a="http://schemas.openxmlformats.org/drawingml/2006/main">
            <a:r>
              <a:t>validation_predictions = linear_model.predict(X_valid)</a:t>
            </a:r>
          </a:p>
          <a:p xmlns:a="http://schemas.openxmlformats.org/drawingml/2006/main">
            <a:r>
              <a:t>validation_predictions stores one predicted target for each validation row, in the same order.</a:t>
            </a:r>
          </a:p>
          <a:p xmlns:a="http://schemas.openxmlformats.org/drawingml/2006/main">
            <a:r>
              <a:t/>
            </a:r>
          </a:p>
          <a:p xmlns:a="http://schemas.openxmlformats.org/drawingml/2006/main">
            <a:r>
              <a:t>print(validation_predictions[:5].round(3).tolist())</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[11.79, 9.69, 14.015, 8.537, 10.471]</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methods answer the same target question. The baseline provides a useful comparison. Tree predictions need not extrapolate a straight line.</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DummyRegressor(strategy="mean") learns the mean training target during fit. It predicts that same value for every new row. Compare a more complex model against this simple baseline.</a:t>
            </a:r>
          </a:p>
          <a:p xmlns:a="http://schemas.openxmlformats.org/drawingml/2006/main">
            <a:r>
              <a:t/>
            </a:r>
          </a:p>
          <a:p xmlns:a="http://schemas.openxmlformats.org/drawingml/2006/main">
            <a:r>
              <a:t>DecisionTreeRegressor splits inputs into regions with different predicted values. max_depth limits the number of split levels. random_state fixes random choices so the example can be repeated.</a:t>
            </a:r>
          </a:p>
          <a:p xmlns:a="http://schemas.openxmlformats.org/drawingml/2006/main">
            <a:r>
              <a:t>Explain these operations before running the following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training-mean baseline predicts the same value for every validation row. fit calculates that value from y_train. Compare its error with the more complex model on the same validation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training-mean baseline predicts the same value for every validation row. fit calculates that value from y_train. Compare its error with the more complex model on the same validation rows.</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from sklearn.dummy import DummyRegressor</a:t>
            </a:r>
          </a:p>
          <a:p xmlns:a="http://schemas.openxmlformats.org/drawingml/2006/main">
            <a:r>
              <a:t>Load the named tools. Importing a model class does not train a model.</a:t>
            </a:r>
          </a:p>
          <a:p xmlns:a="http://schemas.openxmlformats.org/drawingml/2006/main">
            <a:r>
              <a:t/>
            </a:r>
          </a:p>
          <a:p xmlns:a="http://schemas.openxmlformats.org/drawingml/2006/main">
            <a:r>
              <a:t>from sklearn.tree import DecisionTreeRegressor</a:t>
            </a:r>
          </a:p>
          <a:p xmlns:a="http://schemas.openxmlformats.org/drawingml/2006/main">
            <a:r>
              <a:t>Load the named tools. Importing a model class does not train a model.</a:t>
            </a:r>
          </a:p>
          <a:p xmlns:a="http://schemas.openxmlformats.org/drawingml/2006/main">
            <a:r>
              <a:t/>
            </a:r>
          </a:p>
          <a:p xmlns:a="http://schemas.openxmlformats.org/drawingml/2006/main">
            <a:r>
              <a:t>baseline_model = DummyRegressor(strategy='mean')</a:t>
            </a:r>
          </a:p>
          <a:p xmlns:a="http://schemas.openxmlformats.org/drawingml/2006/main">
            <a:r>
              <a:t>baseline_model stores a simple reference predictor which always predicts the training target mean.</a:t>
            </a:r>
          </a:p>
          <a:p xmlns:a="http://schemas.openxmlformats.org/drawingml/2006/main">
            <a:r>
              <a:t/>
            </a:r>
          </a:p>
          <a:p xmlns:a="http://schemas.openxmlformats.org/drawingml/2006/main">
            <a:r>
              <a:t>baseline_model.fit(X_train, y_train)</a:t>
            </a:r>
          </a:p>
          <a:p xmlns:a="http://schemas.openxmlformats.org/drawingml/2006/main">
            <a:r>
              <a:t>model.fit(input_table, observed_targets) learns model settings from paired rows. The two inputs must describe the same observations in the same order. Call fit before predict.</a:t>
            </a:r>
          </a:p>
          <a:p xmlns:a="http://schemas.openxmlformats.org/drawingml/2006/main">
            <a:r>
              <a:t/>
            </a:r>
          </a:p>
          <a:p xmlns:a="http://schemas.openxmlformats.org/drawingml/2006/main">
            <a:r>
              <a:t>Verified result with the supplied CSV</a:t>
            </a:r>
          </a:p>
          <a:p xmlns:a="http://schemas.openxmlformats.org/drawingml/2006/main">
            <a:r>
              <a:t>This cell stores values for the next example; it does not print a result.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regression tree learns splits in the input columns. max_depth limits its split levels. The imputer fills missing inputs using training medians; the tree then learns from those filled inputs.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regression tree learns splits in the input columns. max_depth limits its split levels. The imputer fills missing inputs using training medians; the tree then learns from those filled inputs.</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tree_model = make_pipeline(SimpleImputer(strategy='median'), DecisionTreeRegressor(max_depth=4, random_state=17))</a:t>
            </a:r>
          </a:p>
          <a:p xmlns:a="http://schemas.openxmlformats.org/drawingml/2006/main">
            <a:r>
              <a:t>tree_model stores the tree regression pipeline being compared on the same validation rows.</a:t>
            </a:r>
          </a:p>
          <a:p xmlns:a="http://schemas.openxmlformats.org/drawingml/2006/main">
            <a:r>
              <a:t/>
            </a:r>
          </a:p>
          <a:p xmlns:a="http://schemas.openxmlformats.org/drawingml/2006/main">
            <a:r>
              <a:t>tree_model.fit(X_train, y_train)</a:t>
            </a:r>
          </a:p>
          <a:p xmlns:a="http://schemas.openxmlformats.org/drawingml/2006/main">
            <a:r>
              <a:t>model.fit(input_table, observed_targets) learns model settings from paired rows. The two inputs must describe the same observations in the same order. Call fit before predict.</a:t>
            </a:r>
          </a:p>
          <a:p xmlns:a="http://schemas.openxmlformats.org/drawingml/2006/main">
            <a:r>
              <a:t/>
            </a:r>
          </a:p>
          <a:p xmlns:a="http://schemas.openxmlformats.org/drawingml/2006/main">
            <a:r>
              <a:t>print(baseline_model.predict(X_valid)[:5].round(3).tolist())</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print(tree_model.predict(X_valid)[:5].round(3).tolist())</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[12.528, 12.528, 12.528, 12.528, 12.528]</a:t>
            </a:r>
          </a:p>
          <a:p xmlns:a="http://schemas.openxmlformats.org/drawingml/2006/main">
            <a:r>
              <a:t>[11.668, 10.113, 12.561, 8.039, 11.668]</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RMSE reacts more strongly to large baseline_errors. Neither metric is a maximum guaranteed error. Pair by row order before calculation. R² is a separate regression measure and can be negative.</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Adding or replacing a column</a:t>
            </a:r>
          </a:p>
          <a:p xmlns:a="http://schemas.openxmlformats.org/drawingml/2006/main">
            <a:r>
              <a:t>equipment_data["name"] = values assigns that column. An array follows row order. A Series aligns by row label, so keep labels paired with the intended observations.</a:t>
            </a:r>
          </a:p>
          <a:p xmlns:a="http://schemas.openxmlformats.org/drawingml/2006/main">
            <a:r>
              <a:t/>
            </a:r>
          </a:p>
          <a:p xmlns:a="http://schemas.openxmlformats.org/drawingml/2006/main">
            <a:r>
              <a:t>Column arithmetic</a:t>
            </a:r>
          </a:p>
          <a:p xmlns:a="http://schemas.openxmlformats.org/drawingml/2006/main">
            <a:r>
              <a:t>Arithmetic on columns calculates one result per row. Series align by row label. Divide only where the denominator is valid and keep actual and predicted observations paired.</a:t>
            </a:r>
          </a:p>
          <a:p xmlns:a="http://schemas.openxmlformats.org/drawingml/2006/main">
            <a:r>
              <a:t/>
            </a:r>
          </a:p>
          <a:p xmlns:a="http://schemas.openxmlformats.org/drawingml/2006/main">
            <a:r>
              <a:t>Mean of recorded values</a:t>
            </a:r>
          </a:p>
          <a:p xmlns:a="http://schemas.openxmlformats.org/drawingml/2006/main">
            <a:r>
              <a:t>series.mean() adds known values and divides by their count. pandas skips missing values by default. The result has the same unit as the original column.</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Magnitude of each error</a:t>
            </a:r>
          </a:p>
          <a:p xmlns:a="http://schemas.openxmlformats.org/drawingml/2006/main">
            <a:r>
              <a:t>series.abs() makes negative values positive while leaving nonnegative values unchanged. Averaging these magnitudes gives mean absolute error.</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error ** 2 squares each error. After averaging, ** 0.5 takes the square root. This gives root mean squared error, which penalises large errors more strongly than mean absolute error.</a:t>
            </a:r>
          </a:p>
          <a:p xmlns:a="http://schemas.openxmlformats.org/drawingml/2006/main">
            <a:r>
              <a:t>Explain these operations before running the following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Copy record IDs and observed targets from validation rows. Add predictions in that same order. Each row now pairs one observation with its own predicted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Copy record IDs and observed targets from validation rows. Add predictions in that same order. Each row now pairs one observation with its own predicted value.</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validation_results = validation_data[['record_id', 'target']].copy()</a:t>
            </a:r>
          </a:p>
          <a:p xmlns:a="http://schemas.openxmlformats.org/drawingml/2006/main">
            <a:r>
              <a:t>validation_results stores actual and predicted targets paired with each record ID.</a:t>
            </a:r>
          </a:p>
          <a:p xmlns:a="http://schemas.openxmlformats.org/drawingml/2006/main">
            <a:r>
              <a:t/>
            </a:r>
          </a:p>
          <a:p xmlns:a="http://schemas.openxmlformats.org/drawingml/2006/main">
            <a:r>
              <a:t>validation_results['predicted'] = validation_predictions</a:t>
            </a:r>
          </a:p>
          <a:p xmlns:a="http://schemas.openxmlformats.org/drawingml/2006/main">
            <a:r>
              <a:t>validation_results stores actual and predicted targets paired with each record ID.</a:t>
            </a:r>
          </a:p>
          <a:p xmlns:a="http://schemas.openxmlformats.org/drawingml/2006/main">
            <a:r>
              <a:t/>
            </a:r>
          </a:p>
          <a:p xmlns:a="http://schemas.openxmlformats.org/drawingml/2006/main">
            <a:r>
              <a:t>Verified result with the supplied CSV</a:t>
            </a:r>
          </a:p>
          <a:p xmlns:a="http://schemas.openxmlformats.org/drawingml/2006/main">
            <a:r>
              <a:t>This cell stores values for the next example; it does not print a result.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Subtract predicted from observed values. Positive errors mean underprediction; negative errors mean overprediction. abs removes signs for MAE. Squaring before averaging and taking a square root gives RMSE.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Subtract predicted from observed values. Positive errors mean underprediction; negative errors mean overprediction. abs removes signs for MAE. Squaring before averaging and taking a square root gives RMSE.</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prediction_errors = validation_results['target'] - validation_results['predicted']</a:t>
            </a:r>
          </a:p>
          <a:p xmlns:a="http://schemas.openxmlformats.org/drawingml/2006/main">
            <a:r>
              <a:t>prediction_errors stores actual targets minus predictions; signs indicate under- or over-prediction.</a:t>
            </a:r>
          </a:p>
          <a:p xmlns:a="http://schemas.openxmlformats.org/drawingml/2006/main">
            <a:r>
              <a:t/>
            </a:r>
          </a:p>
          <a:p xmlns:a="http://schemas.openxmlformats.org/drawingml/2006/main">
            <a:r>
              <a:t>mae = prediction_errors.abs().mean()</a:t>
            </a:r>
          </a:p>
          <a:p xmlns:a="http://schemas.openxmlformats.org/drawingml/2006/main">
            <a:r>
              <a:t>mae stores mean absolute error in the target unit.</a:t>
            </a:r>
          </a:p>
          <a:p xmlns:a="http://schemas.openxmlformats.org/drawingml/2006/main">
            <a:r>
              <a:t/>
            </a:r>
          </a:p>
          <a:p xmlns:a="http://schemas.openxmlformats.org/drawingml/2006/main">
            <a:r>
              <a:t>rmse = (prediction_errors ** 2).mean() ** 0.5</a:t>
            </a:r>
          </a:p>
          <a:p xmlns:a="http://schemas.openxmlformats.org/drawingml/2006/main">
            <a:r>
              <a:t>rmse stores root mean squared error in the target unit.</a:t>
            </a:r>
          </a:p>
          <a:p xmlns:a="http://schemas.openxmlformats.org/drawingml/2006/main">
            <a:r>
              <a:t/>
            </a:r>
          </a:p>
          <a:p xmlns:a="http://schemas.openxmlformats.org/drawingml/2006/main">
            <a:r>
              <a:t>print(validation_results.head())</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print(round(float(mae), 4), round(float(rmse), 4))</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record_id  target  predicted</a:t>
            </a:r>
          </a:p>
          <a:p xmlns:a="http://schemas.openxmlformats.org/drawingml/2006/main">
            <a:r>
              <a:t>4           5  12.554  11.790394</a:t>
            </a:r>
          </a:p>
          <a:p xmlns:a="http://schemas.openxmlformats.org/drawingml/2006/main">
            <a:r>
              <a:t>10         11   7.620   9.689703</a:t>
            </a:r>
          </a:p>
          <a:p xmlns:a="http://schemas.openxmlformats.org/drawingml/2006/main">
            <a:r>
              <a:t>16         17  13.616  14.014617</a:t>
            </a:r>
          </a:p>
          <a:p xmlns:a="http://schemas.openxmlformats.org/drawingml/2006/main">
            <a:r>
              <a:t>22         23   8.196   8.536859</a:t>
            </a:r>
          </a:p>
          <a:p xmlns:a="http://schemas.openxmlformats.org/drawingml/2006/main">
            <a:r>
              <a:t>28         29  10.187  10.471133</a:t>
            </a:r>
          </a:p>
          <a:p xmlns:a="http://schemas.openxmlformats.org/drawingml/2006/main">
            <a:r>
              <a:t>0.6732 0.8148</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the original function names and return types. Do not read a fixed CSV inside the assessed function: hidden tests supply different equipment_records. The separate calling cell reads the CSV.</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Returning a dictionary</a:t>
            </a:r>
          </a:p>
          <a:p xmlns:a="http://schemas.openxmlformats.org/drawingml/2006/main">
            <a:r>
              <a:t>series.to_dict() maps Series labels to values. equipment_data.to_dict("records") instead returns a list of row dictionaries. Choose the form required by the assignment.</a:t>
            </a:r>
          </a:p>
          <a:p xmlns:a="http://schemas.openxmlformats.org/drawingml/2006/main">
            <a:r>
              <a:t/>
            </a:r>
          </a:p>
          <a:p xmlns:a="http://schemas.openxmlformats.org/drawingml/2006/main">
            <a:r>
              <a:t>A table from Python values</a:t>
            </a:r>
          </a:p>
          <a:p xmlns:a="http://schemas.openxmlformats.org/drawingml/2006/main">
            <a:r>
              <a:t>pd.DataFrame(records) builds a table from row dictionaries. With a dictionary of column lists, keys become column names and each list supplies that column’s values.</a:t>
            </a:r>
          </a:p>
          <a:p xmlns:a="http://schemas.openxmlformats.org/drawingml/2006/main">
            <a:r>
              <a:t/>
            </a:r>
          </a:p>
          <a:p xmlns:a="http://schemas.openxmlformats.org/drawingml/2006/main">
            <a:r>
              <a:t>Grouping rows</a:t>
            </a:r>
          </a:p>
          <a:p xmlns:a="http://schemas.openxmlformats.org/drawingml/2006/main">
            <a:r>
              <a:t>equipment_data.groupby("label")["value"] groups the value column by matching labels. Apply mean() or sum() to calculate one result per group. Missing group labels are excluded by default.</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 gives a reusable block a name and input parameters. The indented statements run when it is called. return sends a result back to the caller; print displays a result but does not return it.</a:t>
            </a:r>
          </a:p>
          <a:p xmlns:a="http://schemas.openxmlformats.org/drawingml/2006/main">
            <a:r>
              <a:t>Explain these operations before running the following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 gives a reusable block a name and input parameters. The indented statements run when it is called. return sends a result back to the caller; print displays a result but does not return it.</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def mean_load_by_equipment(equipment_records):</a:t>
            </a:r>
          </a:p>
          <a:p xmlns:a="http://schemas.openxmlformats.org/drawingml/2006/main">
            <a:r>
              <a:t>    equipment_data = pd.DataFrame(equipment_records)</a:t>
            </a:r>
          </a:p>
          <a:p xmlns:a="http://schemas.openxmlformats.org/drawingml/2006/main">
            <a:r>
              <a:t>    mean_load_by_equipment_group = equipment_data.groupby('equipment_id')['load_pct'].mean()</a:t>
            </a:r>
          </a:p>
          <a:p xmlns:a="http://schemas.openxmlformats.org/drawingml/2006/main">
            <a:r>
              <a:t>    return mean_load_by_equipment_group.to_dict()</a:t>
            </a:r>
          </a:p>
          <a:p xmlns:a="http://schemas.openxmlformats.org/drawingml/2006/main">
            <a:r>
              <a:t>Define the function. Explain each input before the call. Its body runs only when called; return supplies the computed value.</a:t>
            </a:r>
          </a:p>
          <a:p xmlns:a="http://schemas.openxmlformats.org/drawingml/2006/main">
            <a:r>
              <a:t/>
            </a:r>
          </a:p>
          <a:p xmlns:a="http://schemas.openxmlformats.org/drawingml/2006/main">
            <a:r>
              <a:t>equipment_records = raw_data.to_dict('records')</a:t>
            </a:r>
          </a:p>
          <a:p xmlns:a="http://schemas.openxmlformats.org/drawingml/2006/main">
            <a:r>
              <a:t>equipment_records stores the input list of row dictionaries supplied to the function.</a:t>
            </a:r>
          </a:p>
          <a:p xmlns:a="http://schemas.openxmlformats.org/drawingml/2006/main">
            <a:r>
              <a:t/>
            </a:r>
          </a:p>
          <a:p xmlns:a="http://schemas.openxmlformats.org/drawingml/2006/main">
            <a:r>
              <a:t>print(mean_load_by_equipment(equipment_records))</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{'E1': 54.9475, 'E2': 61.326, 'E3': 53.46933333333333, 'E4': 66.854, 'E5': 48.10133333333333, 'E6': 51.54}</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issued task</a:t>
            </a:r>
          </a:p>
          <a:p xmlns:a="http://schemas.openxmlformats.org/drawingml/2006/main">
            <a:r>
              <a:t>Explanation to give</a:t>
            </a:r>
          </a:p>
          <a:p xmlns:a="http://schemas.openxmlformats.org/drawingml/2006/main">
            <a:r>
              <a:t>Name this cohort’s target and its unit exactly as displayed. Each row is one operating observation, while equipment_id can repeat across several observations.</a:t>
            </a:r>
          </a:p>
          <a:p xmlns:a="http://schemas.openxmlformats.org/drawingml/2006/main">
            <a:r>
              <a:t/>
            </a:r>
          </a:p>
          <a:p xmlns:a="http://schemas.openxmlformats.org/drawingml/2006/main">
            <a:r>
              <a:t>Worked illustration / lecturer answer</a:t>
            </a:r>
          </a:p>
          <a:p xmlns:a="http://schemas.openxmlformats.org/drawingml/2006/main">
            <a:r>
              <a:t>Explain record_id as the identifier of an observation, load_pct as load expressed in percent and ambient_c as temperature in degrees Celsius. The target records the known answer in training data.</a:t>
            </a:r>
          </a:p>
          <a:p xmlns:a="http://schemas.openxmlformats.org/drawingml/2006/main">
            <a:r>
              <a:t/>
            </a:r>
          </a:p>
          <a:p xmlns:a="http://schemas.openxmlformats.org/drawingml/2006/main">
            <a:r>
              <a:t>Misconception to address</a:t>
            </a:r>
          </a:p>
          <a:p xmlns:a="http://schemas.openxmlformats.org/drawingml/2006/main">
            <a:r>
              <a:t>These are synthetic examples for learning. They do not establish a calibrated physical relationship or justify operation of real equipment.</a:t>
            </a:r>
          </a:p>
          <a:p xmlns:a="http://schemas.openxmlformats.org/drawingml/2006/main">
            <a:r>
              <a:t/>
            </a:r>
          </a:p>
          <a:p xmlns:a="http://schemas.openxmlformats.org/drawingml/2006/main">
            <a:r>
              <a:t>On this slide</a:t>
            </a:r>
          </a:p>
          <a:p xmlns:a="http://schemas.openxmlformats.org/drawingml/2006/main">
            <a:r>
              <a:t>Investigate crusher energy demand.</a:t>
            </a:r>
          </a:p>
          <a:p xmlns:a="http://schemas.openxmlformats.org/drawingml/2006/main">
            <a:r>
              <a:t/>
            </a:r>
          </a:p>
          <a:p xmlns:a="http://schemas.openxmlformats.org/drawingml/2006/main">
            <a:r>
              <a:t>Target units: kWh/t.</a:t>
            </a:r>
          </a:p>
          <a:p xmlns:a="http://schemas.openxmlformats.org/drawingml/2006/main">
            <a:r>
              <a:t/>
            </a:r>
          </a:p>
          <a:p xmlns:a="http://schemas.openxmlformats.org/drawingml/2006/main">
            <a:r>
              <a:t>These are synthetic teaching records, not measurements suitable for deployment.</a:t>
            </a:r>
          </a:p>
          <a:p xmlns:a="http://schemas.openxmlformats.org/drawingml/2006/main">
            <a:r>
              <a:t/>
            </a:r>
          </a:p>
          <a:p xmlns:a="http://schemas.openxmlformats.org/drawingml/2006/main">
            <a:r>
              <a:t>Each record is one operating observation; equipment_id repeats across observations.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Required interface: predict_regression(training_records, feature_records)</a:t>
            </a:r>
          </a:p>
          <a:p xmlns:a="http://schemas.openxmlformats.org/drawingml/2006/main">
            <a:r>
              <a:t/>
            </a:r>
          </a:p>
          <a:p xmlns:a="http://schemas.openxmlformats.org/drawingml/2006/main">
            <a:r>
              <a:t>Fit a training-mean baseline, linear regression and a decision tree (max_depth=4, random_state=17) using load_pct and ambient_c only.</a:t>
            </a:r>
          </a:p>
          <a:p xmlns:a="http://schemas.openxmlformats.org/drawingml/2006/main">
            <a:r>
              <a:t/>
            </a:r>
          </a:p>
          <a:p xmlns:a="http://schemas.openxmlformats.org/drawingml/2006/main">
            <a:r>
              <a:t>Return three prediction lists under baseline, linear and tree.</a:t>
            </a:r>
          </a:p>
          <a:p xmlns:a="http://schemas.openxmlformats.org/drawingml/2006/main">
            <a:r>
              <a:t/>
            </a:r>
          </a:p>
          <a:p xmlns:a="http://schemas.openxmlformats.org/drawingml/2006/main">
            <a:r>
              <a:t>Feature records have no target.</a:t>
            </a:r>
          </a:p>
          <a:p xmlns:a="http://schemas.openxmlformats.org/drawingml/2006/main">
            <a:r>
              <a:t/>
            </a:r>
          </a:p>
          <a:p xmlns:a="http://schemas.openxmlformats.org/drawingml/2006/main">
            <a:r>
              <a:t>Fit preprocessing only on training data.</a:t>
            </a:r>
          </a:p>
          <a:p xmlns:a="http://schemas.openxmlformats.org/drawingml/2006/main">
            <a:r>
              <a:t/>
            </a:r>
          </a:p>
          <a:p xmlns:a="http://schemas.openxmlformats.org/drawingml/2006/main">
            <a:r>
              <a:t>Keep these exact output keys and the function name. You may use descriptive local variable names, such as true_positive_count, but the returned dictionary must use the published key, such as tp. The grader checks keys and values; changing a key changes the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Required interface: regression_errors(actual, predicted)</a:t>
            </a:r>
          </a:p>
          <a:p xmlns:a="http://schemas.openxmlformats.org/drawingml/2006/main">
            <a:r>
              <a:t/>
            </a:r>
          </a:p>
          <a:p xmlns:a="http://schemas.openxmlformats.org/drawingml/2006/main">
            <a:r>
              <a:t>Return mae and rmse, calculated over the same paired observations, with full precision.</a:t>
            </a:r>
          </a:p>
          <a:p xmlns:a="http://schemas.openxmlformats.org/drawingml/2006/main">
            <a:r>
              <a:t/>
            </a:r>
          </a:p>
          <a:p xmlns:a="http://schemas.openxmlformats.org/drawingml/2006/main">
            <a:r>
              <a:t>Keep these exact output keys and the function name. You may use descriptive local variable names, such as true_positive_count, but the returned dictionary must use the published key, such as tp. The grader checks keys and values; changing a key changes the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Written evidence</a:t>
            </a:r>
          </a:p>
          <a:p xmlns:a="http://schemas.openxmlformats.org/drawingml/2006/main">
            <a:r>
              <a:t>Explanation to give</a:t>
            </a:r>
          </a:p>
          <a:p xmlns:a="http://schemas.openxmlformats.org/drawingml/2006/main">
            <a:r>
              <a:t>Show the actual markdown answer cell headed My written evidence. This is where the learner explains the choices and the supplied scenario in their own words.</a:t>
            </a:r>
          </a:p>
          <a:p xmlns:a="http://schemas.openxmlformats.org/drawingml/2006/main">
            <a:r>
              <a:t/>
            </a:r>
          </a:p>
          <a:p xmlns:a="http://schemas.openxmlformats.org/drawingml/2006/main">
            <a:r>
              <a:t>Worked illustration / lecturer answer</a:t>
            </a:r>
          </a:p>
          <a:p xmlns:a="http://schemas.openxmlformats.org/drawingml/2006/main">
            <a:r>
              <a:t>A useful explanation connects a decision to a named result and its limitation: for example, why a training-only median avoids using evaluation information. Describe supplied scenario figures as supplied, not as measurements the learner produced.</a:t>
            </a:r>
          </a:p>
          <a:p xmlns:a="http://schemas.openxmlformats.org/drawingml/2006/main">
            <a:r>
              <a:t/>
            </a:r>
          </a:p>
          <a:p xmlns:a="http://schemas.openxmlformats.org/drawingml/2006/main">
            <a:r>
              <a:t>Misconception to address</a:t>
            </a:r>
          </a:p>
          <a:p xmlns:a="http://schemas.openxmlformats.org/drawingml/2006/main">
            <a:r>
              <a:t>Prompts and copied code comments do not substitute for the learner’s reasoning. Weekly work and tests use the notebook; projects also require their separate readable report.</a:t>
            </a:r>
          </a:p>
          <a:p xmlns:a="http://schemas.openxmlformats.org/drawingml/2006/main">
            <a:r>
              <a:t/>
            </a:r>
          </a:p>
          <a:p xmlns:a="http://schemas.openxmlformats.org/drawingml/2006/main">
            <a:r>
              <a:t>On this slide</a:t>
            </a:r>
          </a:p>
          <a:p xmlns:a="http://schemas.openxmlformats.org/drawingml/2006/main">
            <a:r>
              <a:t>Use the cell headed “My written evidence”.</a:t>
            </a:r>
          </a:p>
          <a:p xmlns:a="http://schemas.openxmlformats.org/drawingml/2006/main">
            <a:r>
              <a:t/>
            </a:r>
          </a:p>
          <a:p xmlns:a="http://schemas.openxmlformats.org/drawingml/2006/main">
            <a:r>
              <a:t>Explain the supplied scenario in your own words.</a:t>
            </a:r>
          </a:p>
          <a:p xmlns:a="http://schemas.openxmlformats.org/drawingml/2006/main">
            <a:r>
              <a:t/>
            </a:r>
          </a:p>
          <a:p xmlns:a="http://schemas.openxmlformats.org/drawingml/2006/main">
            <a:r>
              <a:t>State target units, reasons and limitations.</a:t>
            </a:r>
          </a:p>
          <a:p xmlns:a="http://schemas.openxmlformats.org/drawingml/2006/main">
            <a:r>
              <a:t/>
            </a:r>
          </a:p>
          <a:p xmlns:a="http://schemas.openxmlformats.org/drawingml/2006/main">
            <a:r>
              <a:t>Submit one complete notebook containing code and written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Regression and baseline submission</a:t>
            </a:r>
          </a:p>
          <a:p xmlns:a="http://schemas.openxmlformats.org/drawingml/2006/main">
            <a:r>
              <a:t>Explanation to give</a:t>
            </a:r>
          </a:p>
          <a:p xmlns:a="http://schemas.openxmlformats.org/drawingml/2006/main">
            <a:r>
              <a:t>This slide hands over CML3113 W08. Show the exact form title before uploading. The required packet is one completed .ipynb notebook.</a:t>
            </a:r>
          </a:p>
          <a:p xmlns:a="http://schemas.openxmlformats.org/drawingml/2006/main">
            <a:r>
              <a:t/>
            </a:r>
          </a:p>
          <a:p xmlns:a="http://schemas.openxmlformats.org/drawingml/2006/main">
            <a:r>
              <a:t>Worked illustration / lecturer answer</a:t>
            </a:r>
          </a:p>
          <a:p xmlns:a="http://schemas.openxmlformats.org/drawingml/2006/main">
            <a:r>
              <a:t>The recorded cutoff for this form is 2026-11-06T08:00:00+03:00. Check the live form for later changes. A replacement must contain the complete required file set, not just the changed file.</a:t>
            </a:r>
          </a:p>
          <a:p xmlns:a="http://schemas.openxmlformats.org/drawingml/2006/main">
            <a:r>
              <a:t/>
            </a:r>
          </a:p>
          <a:p xmlns:a="http://schemas.openxmlformats.org/drawingml/2006/main">
            <a:r>
              <a:t>Misconception to address</a:t>
            </a:r>
          </a:p>
          <a:p xmlns:a="http://schemas.openxmlformats.org/drawingml/2006/main">
            <a:r>
              <a:t>Students enter their own Student Registration Number as required freeform text. They wait for filenames to appear, press Submit and keep the confirmation. A file saved in Drive or GitHub is not itself a form submission.</a:t>
            </a:r>
          </a:p>
          <a:p xmlns:a="http://schemas.openxmlformats.org/drawingml/2006/main">
            <a:r>
              <a:t/>
            </a:r>
          </a:p>
          <a:p xmlns:a="http://schemas.openxmlformats.org/drawingml/2006/main">
            <a:r>
              <a:t>On this slide</a:t>
            </a:r>
          </a:p>
          <a:p xmlns:a="http://schemas.openxmlformats.org/drawingml/2006/main">
            <a:r>
              <a:t>Opens: 30 Oct 2026, 08:00 Kampala</a:t>
            </a:r>
          </a:p>
          <a:p xmlns:a="http://schemas.openxmlformats.org/drawingml/2006/main">
            <a:r>
              <a:t/>
            </a:r>
          </a:p>
          <a:p xmlns:a="http://schemas.openxmlformats.org/drawingml/2006/main">
            <a:r>
              <a:t>Deadline: 06 Nov 2026, 08:00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Data analysis project</a:t>
            </a:r>
          </a:p>
          <a:p xmlns:a="http://schemas.openxmlformats.org/drawingml/2006/main">
            <a:r>
              <a:t>Explanation to give</a:t>
            </a:r>
          </a:p>
          <a:p xmlns:a="http://schemas.openxmlformats.org/drawingml/2006/main">
            <a:r>
              <a:t>Show the actual markdown answer cell headed My written evidence. This is where the learner explains the choices and the supplied scenario in their own words.</a:t>
            </a:r>
          </a:p>
          <a:p xmlns:a="http://schemas.openxmlformats.org/drawingml/2006/main">
            <a:r>
              <a:t/>
            </a:r>
          </a:p>
          <a:p xmlns:a="http://schemas.openxmlformats.org/drawingml/2006/main">
            <a:r>
              <a:t>Worked illustration / lecturer answer</a:t>
            </a:r>
          </a:p>
          <a:p xmlns:a="http://schemas.openxmlformats.org/drawingml/2006/main">
            <a:r>
              <a:t>A useful explanation connects a decision to a named result and its limitation: for example, why a training-only median avoids using evaluation information. Describe supplied scenario figures as supplied, not as measurements the learner produced.</a:t>
            </a:r>
          </a:p>
          <a:p xmlns:a="http://schemas.openxmlformats.org/drawingml/2006/main">
            <a:r>
              <a:t/>
            </a:r>
          </a:p>
          <a:p xmlns:a="http://schemas.openxmlformats.org/drawingml/2006/main">
            <a:r>
              <a:t>Misconception to address</a:t>
            </a:r>
          </a:p>
          <a:p xmlns:a="http://schemas.openxmlformats.org/drawingml/2006/main">
            <a:r>
              <a:t>Prompts and copied code comments do not substitute for the learner’s reasoning. Weekly work and tests use the notebook; projects also require their separate readable report.</a:t>
            </a:r>
          </a:p>
          <a:p xmlns:a="http://schemas.openxmlformats.org/drawingml/2006/main">
            <a:r>
              <a:t/>
            </a:r>
          </a:p>
          <a:p xmlns:a="http://schemas.openxmlformats.org/drawingml/2006/main">
            <a:r>
              <a:t>On this slide</a:t>
            </a:r>
          </a:p>
          <a:p xmlns:a="http://schemas.openxmlformats.org/drawingml/2006/main">
            <a:r>
              <a:t>Write your own explanation in the markdown cell headed `## My written evidence`.</a:t>
            </a:r>
          </a:p>
          <a:p xmlns:a="http://schemas.openxmlformats.org/drawingml/2006/main">
            <a:r>
              <a:t/>
            </a:r>
          </a:p>
          <a:p xmlns:a="http://schemas.openxmlformats.org/drawingml/2006/main">
            <a:r>
              <a:t>Keep that heading.</a:t>
            </a:r>
          </a:p>
          <a:p xmlns:a="http://schemas.openxmlformats.org/drawingml/2006/main">
            <a:r>
              <a:t/>
            </a:r>
          </a:p>
          <a:p xmlns:a="http://schemas.openxmlformats.org/drawingml/2006/main">
            <a:r>
              <a:t>Task prompts and code comments are excluded from reasoning marks.</a:t>
            </a:r>
          </a:p>
          <a:p xmlns:a="http://schemas.openxmlformats.org/drawingml/2006/main">
            <a:r>
              <a:t/>
            </a:r>
          </a:p>
          <a:p xmlns:a="http://schemas.openxmlformats.org/drawingml/2006/main">
            <a:r>
              <a:t>Complete every original rubric criterion below, not just the checked functions.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Data analysis project continued</a:t>
            </a:r>
          </a:p>
          <a:p xmlns:a="http://schemas.openxmlformats.org/drawingml/2006/main">
            <a:r>
              <a:t>Explanation to give</a:t>
            </a:r>
          </a:p>
          <a:p xmlns:a="http://schemas.openxmlformats.org/drawingml/2006/main">
            <a:r>
              <a:t>A chart must answer a stated question and show the actual data result. Explain what one mark represents and label both the quantity and unit before stating the finding.</a:t>
            </a:r>
          </a:p>
          <a:p xmlns:a="http://schemas.openxmlformats.org/drawingml/2006/main">
            <a:r>
              <a:t/>
            </a:r>
          </a:p>
          <a:p xmlns:a="http://schemas.openxmlformats.org/drawingml/2006/main">
            <a:r>
              <a:t>Worked illustration / lecturer answer</a:t>
            </a:r>
          </a:p>
          <a:p xmlns:a="http://schemas.openxmlformats.org/drawingml/2006/main">
            <a:r>
              <a:t>A useful caption names the group or sample, the observed difference and the relevant unit. A limitation states what the plotted observations cannot establish, such as causation or performance at a new site.</a:t>
            </a:r>
          </a:p>
          <a:p xmlns:a="http://schemas.openxmlformats.org/drawingml/2006/main">
            <a:r>
              <a:t/>
            </a:r>
          </a:p>
          <a:p xmlns:a="http://schemas.openxmlformats.org/drawingml/2006/main">
            <a:r>
              <a:t>Misconception to address</a:t>
            </a:r>
          </a:p>
          <a:p xmlns:a="http://schemas.openxmlformats.org/drawingml/2006/main">
            <a:r>
              <a:t>Text claiming “a chart was made” is not the required chart. Check the exact number and kinds required on this slide and in the assessment guide.</a:t>
            </a:r>
          </a:p>
          <a:p xmlns:a="http://schemas.openxmlformats.org/drawingml/2006/main">
            <a:r>
              <a:t/>
            </a:r>
          </a:p>
          <a:p xmlns:a="http://schemas.openxmlformats.org/drawingml/2006/main">
            <a:r>
              <a:t>On this slide</a:t>
            </a:r>
          </a:p>
          <a:p xmlns:a="http://schemas.openxmlformats.org/drawingml/2006/main">
            <a:r>
              <a:t>Include profiling, justified cleaning, question-led charts and your engineering recommendation where required.</a:t>
            </a:r>
          </a:p>
          <a:p xmlns:a="http://schemas.openxmlformats.org/drawingml/2006/main">
            <a:r>
              <a:t/>
            </a:r>
          </a:p>
          <a:p xmlns:a="http://schemas.openxmlformats.org/drawingml/2006/main">
            <a:r>
              <a:t>Keep raw data.</a:t>
            </a:r>
          </a:p>
          <a:p xmlns:a="http://schemas.openxmlformats.org/drawingml/2006/main">
            <a:r>
              <a:t/>
            </a:r>
          </a:p>
          <a:p xmlns:a="http://schemas.openxmlformats.org/drawingml/2006/main">
            <a:r>
              <a:t>State units and distinguish correlation from causation.</a:t>
            </a:r>
          </a:p>
          <a:p xmlns:a="http://schemas.openxmlformats.org/drawingml/2006/main">
            <a:r>
              <a:t/>
            </a:r>
          </a:p>
          <a:p xmlns:a="http://schemas.openxmlformats.org/drawingml/2006/main">
            <a:r>
              <a:t>Charts must be actual labelled figures in the notebook, not claims that charts exist.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Data analysis project continued</a:t>
            </a:r>
          </a:p>
          <a:p xmlns:a="http://schemas.openxmlformats.org/drawingml/2006/main">
            <a:r>
              <a:t>Explanation to give</a:t>
            </a:r>
          </a:p>
          <a:p xmlns:a="http://schemas.openxmlformats.org/drawingml/2006/main">
            <a:r>
              <a:t>Problem framing begins with a bounded engineering decision and a defined target. Provenance explains where observations came from; a licence states what reuse is allowed.</a:t>
            </a:r>
          </a:p>
          <a:p xmlns:a="http://schemas.openxmlformats.org/drawingml/2006/main">
            <a:r>
              <a:t/>
            </a:r>
          </a:p>
          <a:p xmlns:a="http://schemas.openxmlformats.org/drawingml/2006/main">
            <a:r>
              <a:t>Worked illustration / lecturer answer</a:t>
            </a:r>
          </a:p>
          <a:p xmlns:a="http://schemas.openxmlformats.org/drawingml/2006/main">
            <a:r>
              <a:t>State the population, measurement period, units and who collected the modelling_data. Explain how those observations could answer the chosen question rather than merely describing an interesting file.</a:t>
            </a:r>
          </a:p>
          <a:p xmlns:a="http://schemas.openxmlformats.org/drawingml/2006/main">
            <a:r>
              <a:t/>
            </a:r>
          </a:p>
          <a:p xmlns:a="http://schemas.openxmlformats.org/drawingml/2006/main">
            <a:r>
              <a:t>Misconception to address</a:t>
            </a:r>
          </a:p>
          <a:p xmlns:a="http://schemas.openxmlformats.org/drawingml/2006/main">
            <a:r>
              <a:t>Synthetic teaching data must be labelled as synthetic. A plausible story does not establish that a dataset contains the information or permissions the proposed project needs.</a:t>
            </a:r>
          </a:p>
          <a:p xmlns:a="http://schemas.openxmlformats.org/drawingml/2006/main">
            <a:r>
              <a:t/>
            </a:r>
          </a:p>
          <a:p xmlns:a="http://schemas.openxmlformats.org/drawingml/2006/main">
            <a:r>
              <a:t>On this slide</a:t>
            </a:r>
          </a:p>
          <a:p xmlns:a="http://schemas.openxmlformats.org/drawingml/2006/main">
            <a:r>
              <a:t>Include captions and a separate readable DOCX/PDF report.</a:t>
            </a:r>
          </a:p>
          <a:p xmlns:a="http://schemas.openxmlformats.org/drawingml/2006/main">
            <a:r>
              <a:t/>
            </a:r>
          </a:p>
          <a:p xmlns:a="http://schemas.openxmlformats.org/drawingml/2006/main">
            <a:r>
              <a:t>Question &amp; dataset fit (20.0 total): A real engineering question is stated, and the chosen dataset can actually answer it.</a:t>
            </a:r>
          </a:p>
          <a:p xmlns:a="http://schemas.openxmlformats.org/drawingml/2006/main">
            <a:r>
              <a:t/>
            </a:r>
          </a:p>
          <a:p xmlns:a="http://schemas.openxmlformats.org/drawingml/2006/main">
            <a:r>
              <a:t>Provenance and licence stated.</a:t>
            </a:r>
          </a:p>
          <a:p xmlns:a="http://schemas.openxmlformats.org/drawingml/2006/main">
            <a:r>
              <a:t/>
            </a:r>
          </a:p>
          <a:p xmlns:a="http://schemas.openxmlformats.org/drawingml/2006/main">
            <a:r>
              <a:t>Data quality work (25.0 total): Defects found and handled with written justification.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Data analysis project continued</a:t>
            </a:r>
          </a:p>
          <a:p xmlns:a="http://schemas.openxmlformats.org/drawingml/2006/main">
            <a:r>
              <a:t>Explanation to give</a:t>
            </a:r>
          </a:p>
          <a:p xmlns:a="http://schemas.openxmlformats.org/drawingml/2006/main">
            <a:r>
              <a:t>A chart must answer a stated question and show the actual data result. Explain what one mark represents and label both the quantity and unit before stating the finding.</a:t>
            </a:r>
          </a:p>
          <a:p xmlns:a="http://schemas.openxmlformats.org/drawingml/2006/main">
            <a:r>
              <a:t/>
            </a:r>
          </a:p>
          <a:p xmlns:a="http://schemas.openxmlformats.org/drawingml/2006/main">
            <a:r>
              <a:t>Worked illustration / lecturer answer</a:t>
            </a:r>
          </a:p>
          <a:p xmlns:a="http://schemas.openxmlformats.org/drawingml/2006/main">
            <a:r>
              <a:t>A useful caption names the group or sample, the observed difference and the relevant unit. A limitation states what the plotted observations cannot establish, such as causation or performance at a new site.</a:t>
            </a:r>
          </a:p>
          <a:p xmlns:a="http://schemas.openxmlformats.org/drawingml/2006/main">
            <a:r>
              <a:t/>
            </a:r>
          </a:p>
          <a:p xmlns:a="http://schemas.openxmlformats.org/drawingml/2006/main">
            <a:r>
              <a:t>Misconception to address</a:t>
            </a:r>
          </a:p>
          <a:p xmlns:a="http://schemas.openxmlformats.org/drawingml/2006/main">
            <a:r>
              <a:t>Text claiming “a chart was made” is not the required chart. Check the exact number and kinds required on this slide and in the assessment guide.</a:t>
            </a:r>
          </a:p>
          <a:p xmlns:a="http://schemas.openxmlformats.org/drawingml/2006/main">
            <a:r>
              <a:t/>
            </a:r>
          </a:p>
          <a:p xmlns:a="http://schemas.openxmlformats.org/drawingml/2006/main">
            <a:r>
              <a:t>On this slide</a:t>
            </a:r>
          </a:p>
          <a:p xmlns:a="http://schemas.openxmlformats.org/drawingml/2006/main">
            <a:r>
              <a:t>A data quality statement is present.</a:t>
            </a:r>
          </a:p>
          <a:p xmlns:a="http://schemas.openxmlformats.org/drawingml/2006/main">
            <a:r>
              <a:t/>
            </a:r>
          </a:p>
          <a:p xmlns:a="http://schemas.openxmlformats.org/drawingml/2006/main">
            <a:r>
              <a:t>Analysis &amp; visualisation (30.0 total): Four or more charts, each answering a stated question.</a:t>
            </a:r>
          </a:p>
          <a:p xmlns:a="http://schemas.openxmlformats.org/drawingml/2006/main">
            <a:r>
              <a:t/>
            </a:r>
          </a:p>
          <a:p xmlns:a="http://schemas.openxmlformats.org/drawingml/2006/main">
            <a:r>
              <a:t>Correct chart types, labelled axes, findings in the captions.</a:t>
            </a:r>
          </a:p>
          <a:p xmlns:a="http://schemas.openxmlformats.org/drawingml/2006/main">
            <a:r>
              <a:t/>
            </a:r>
          </a:p>
          <a:p xmlns:a="http://schemas.openxmlformats.org/drawingml/2006/main">
            <a:r>
              <a:t>Findings &amp; interpretation (20.0 total): Conclusions supported by the analysis, stated in engineering terms, with limitations acknowledged.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Data analysis project continued</a:t>
            </a:r>
          </a:p>
          <a:p xmlns:a="http://schemas.openxmlformats.org/drawingml/2006/main">
            <a:r>
              <a:t>Explanation to give</a:t>
            </a:r>
          </a:p>
          <a:p xmlns:a="http://schemas.openxmlformats.org/drawingml/2006/main">
            <a:r>
              <a:t>Make contribution evidence specific enough to check. A seed records the starting state of random choices; a contribution log records who produced and explained which work.</a:t>
            </a:r>
          </a:p>
          <a:p xmlns:a="http://schemas.openxmlformats.org/drawingml/2006/main">
            <a:r>
              <a:t/>
            </a:r>
          </a:p>
          <a:p xmlns:a="http://schemas.openxmlformats.org/drawingml/2006/main">
            <a:r>
              <a:t>Worked illustration / lecturer answer</a:t>
            </a:r>
          </a:p>
          <a:p xmlns:a="http://schemas.openxmlformats.org/drawingml/2006/main">
            <a:r>
              <a:t>Name a file, function or chart and the decision behind it. Match that entry to meaningful repository history. Disclose AI assistance according to the assessment policy.</a:t>
            </a:r>
          </a:p>
          <a:p xmlns:a="http://schemas.openxmlformats.org/drawingml/2006/main">
            <a:r>
              <a:t/>
            </a:r>
          </a:p>
          <a:p xmlns:a="http://schemas.openxmlformats.org/drawingml/2006/main">
            <a:r>
              <a:t>Misconception to address</a:t>
            </a:r>
          </a:p>
          <a:p xmlns:a="http://schemas.openxmlformats.org/drawingml/2006/main">
            <a:r>
              <a:t>Many commits do not necessarily mean substantial work, and a seed does not establish accuracy. Both are supporting evidence, not replacements for the analysis.</a:t>
            </a:r>
          </a:p>
          <a:p xmlns:a="http://schemas.openxmlformats.org/drawingml/2006/main">
            <a:r>
              <a:t/>
            </a:r>
          </a:p>
          <a:p xmlns:a="http://schemas.openxmlformats.org/drawingml/2006/main">
            <a:r>
              <a:t>On this slide</a:t>
            </a:r>
          </a:p>
          <a:p xmlns:a="http://schemas.openxmlformats.org/drawingml/2006/main">
            <a:r>
              <a:t>Individual contribution log (5.0 total): Present, specific, and consistent with the repository's commit history.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Data analysis project submission</a:t>
            </a:r>
          </a:p>
          <a:p xmlns:a="http://schemas.openxmlformats.org/drawingml/2006/main">
            <a:r>
              <a:t>Explanation to give</a:t>
            </a:r>
          </a:p>
          <a:p xmlns:a="http://schemas.openxmlformats.org/drawingml/2006/main">
            <a:r>
              <a:t>This slide hands over CML3113 DA_PROJECT. Show the exact form title before uploading. The required packet is the completed project notebook together with one readable DOCX or selectable-text PDF report.</a:t>
            </a:r>
          </a:p>
          <a:p xmlns:a="http://schemas.openxmlformats.org/drawingml/2006/main">
            <a:r>
              <a:t/>
            </a:r>
          </a:p>
          <a:p xmlns:a="http://schemas.openxmlformats.org/drawingml/2006/main">
            <a:r>
              <a:t>Worked illustration / lecturer answer</a:t>
            </a:r>
          </a:p>
          <a:p xmlns:a="http://schemas.openxmlformats.org/drawingml/2006/main">
            <a:r>
              <a:t>The recorded cutoff for this form is 2026-10-30T08:00:00+03:00. Check the live form for later changes. A replacement must contain the complete required file set, not just the changed file.</a:t>
            </a:r>
          </a:p>
          <a:p xmlns:a="http://schemas.openxmlformats.org/drawingml/2006/main">
            <a:r>
              <a:t/>
            </a:r>
          </a:p>
          <a:p xmlns:a="http://schemas.openxmlformats.org/drawingml/2006/main">
            <a:r>
              <a:t>Misconception to address</a:t>
            </a:r>
          </a:p>
          <a:p xmlns:a="http://schemas.openxmlformats.org/drawingml/2006/main">
            <a:r>
              <a:t>Students enter their own Student Registration Number as required freeform text. They wait for filenames to appear, press Submit and keep the confirmation. A file saved in Drive or GitHub is not itself a form submission.</a:t>
            </a:r>
          </a:p>
          <a:p xmlns:a="http://schemas.openxmlformats.org/drawingml/2006/main">
            <a:r>
              <a:t/>
            </a:r>
          </a:p>
          <a:p xmlns:a="http://schemas.openxmlformats.org/drawingml/2006/main">
            <a:r>
              <a:t>On this slide</a:t>
            </a:r>
          </a:p>
          <a:p xmlns:a="http://schemas.openxmlformats.org/drawingml/2006/main">
            <a:r>
              <a:t>Opens: 09 Oct 2026, 08:00 Kampala</a:t>
            </a:r>
          </a:p>
          <a:p xmlns:a="http://schemas.openxmlformats.org/drawingml/2006/main">
            <a:r>
              <a:t/>
            </a:r>
          </a:p>
          <a:p xmlns:a="http://schemas.openxmlformats.org/drawingml/2006/main">
            <a:r>
              <a:t>Deadline: 30 Oct 2026, 08:00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8 quiz</a:t>
            </a:r>
          </a:p>
          <a:p xmlns:a="http://schemas.openxmlformats.org/drawingml/2006/main">
            <a:r>
              <a:t>Explanation to give</a:t>
            </a:r>
          </a:p>
          <a:p xmlns:a="http://schemas.openxmlformats.org/drawingml/2006/main">
            <a:r>
              <a:t>This is the CML3113 Week 8 quiz. The student link opens the response form; it does not activate its window. In Quiz Controls use open_W8_CML3113 when ready and read the logged closing time.</a:t>
            </a:r>
          </a:p>
          <a:p xmlns:a="http://schemas.openxmlformats.org/drawingml/2006/main">
            <a:r>
              <a:t/>
            </a:r>
          </a:p>
          <a:p xmlns:a="http://schemas.openxmlformats.org/drawingml/2006/main">
            <a:r>
              <a:t>Worked illustration / lecturer answer</a:t>
            </a:r>
          </a:p>
          <a:p xmlns:a="http://schemas.openxmlformats.org/drawingml/2006/main">
            <a:r>
              <a:t>Explain the distinction between the expected answering time and availability: five minutes of questions can still be available for 24 hours after activation. Enter the learner’s own Student Registration Number and use the registered Google account.</a:t>
            </a:r>
          </a:p>
          <a:p xmlns:a="http://schemas.openxmlformats.org/drawingml/2006/main">
            <a:r>
              <a:t/>
            </a:r>
          </a:p>
          <a:p xmlns:a="http://schemas.openxmlformats.org/drawingml/2006/main">
            <a:r>
              <a:t>Misconception to address</a:t>
            </a:r>
          </a:p>
          <a:p xmlns:a="http://schemas.openxmlformats.org/drawingml/2006/main">
            <a:r>
              <a:t>Read the exact live cutoff before announcing it. Do not promise a new attempt to somebody who already submitted. Quiz catch-up and assignment uploads are separate forms.</a:t>
            </a:r>
          </a:p>
          <a:p xmlns:a="http://schemas.openxmlformats.org/drawingml/2006/main">
            <a:r>
              <a:t/>
            </a:r>
          </a:p>
          <a:p xmlns:a="http://schemas.openxmlformats.org/drawingml/2006/main">
            <a:r>
              <a:t>On this slide</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Check the announced quiz closing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Revision and submission checklist</a:t>
            </a:r>
          </a:p>
          <a:p xmlns:a="http://schemas.openxmlformats.org/drawingml/2006/main">
            <a:r>
              <a:t>Explanation to give</a:t>
            </a:r>
          </a:p>
          <a:p xmlns:a="http://schemas.openxmlformats.org/drawingml/2006/main">
            <a:r>
              <a:t>Introduce a fitted predictor only after identifying its inputs and known answers. Compare it with a simple baseline and explain its errors in target units.</a:t>
            </a:r>
          </a:p>
          <a:p xmlns:a="http://schemas.openxmlformats.org/drawingml/2006/main">
            <a:r>
              <a:t/>
            </a:r>
          </a:p>
          <a:p xmlns:a="http://schemas.openxmlformats.org/drawingml/2006/main">
            <a:r>
              <a:t>Worked illustration / lecturer answer</a:t>
            </a:r>
          </a:p>
          <a:p xmlns:a="http://schemas.openxmlformats.org/drawingml/2006/main">
            <a:r>
              <a:t>The teaching line through (1,12), (2,14), (3,16), (4,18) predicts 15 at input 2.5. One neat example does not establish real-world accuracy.</a:t>
            </a:r>
          </a:p>
          <a:p xmlns:a="http://schemas.openxmlformats.org/drawingml/2006/main">
            <a:r>
              <a:t/>
            </a:r>
          </a:p>
          <a:p xmlns:a="http://schemas.openxmlformats.org/drawingml/2006/main">
            <a:r>
              <a:t>Misconception to address</a:t>
            </a:r>
          </a:p>
          <a:p xmlns:a="http://schemas.openxmlformats.org/drawingml/2006/main">
            <a:r>
              <a:t>Close by identifying the actual saved file and its correct submission route. Read the live deadline. For current weekly notebook tasks, students upload their own work, not the practice notebook, ZIP or grading files.</a:t>
            </a:r>
          </a:p>
          <a:p xmlns:a="http://schemas.openxmlformats.org/drawingml/2006/main">
            <a:r>
              <a:t/>
            </a:r>
          </a:p>
          <a:p xmlns:a="http://schemas.openxmlformats.org/drawingml/2006/main">
            <a:r>
              <a:t>On this slide</a:t>
            </a:r>
          </a:p>
          <a:p xmlns:a="http://schemas.openxmlformats.org/drawingml/2006/main">
            <a:r>
              <a:t>You can calculate one error and explain why evaluation needs unseen observations.</a:t>
            </a:r>
          </a:p>
          <a:p xmlns:a="http://schemas.openxmlformats.org/drawingml/2006/main">
            <a:r>
              <a:t/>
            </a:r>
          </a:p>
          <a:p xmlns:a="http://schemas.openxmlformats.org/drawingml/2006/main">
            <a:r>
              <a:t>Save your work and check the required submission files.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Optional revision video</a:t>
            </a:r>
          </a:p>
          <a:p xmlns:a="http://schemas.openxmlformats.org/drawingml/2006/main">
            <a:r>
              <a:t>Explanation to give</a:t>
            </a:r>
          </a:p>
          <a:p xmlns:a="http://schemas.openxmlformats.org/drawingml/2006/main">
            <a:r>
              <a:t>Give the viewing question before playing the excerpt: How can a fitted line turn an input into a numerical prediction?</a:t>
            </a:r>
          </a:p>
          <a:p xmlns:a="http://schemas.openxmlformats.org/drawingml/2006/main">
            <a:r>
              <a:t/>
            </a:r>
          </a:p>
          <a:p xmlns:a="http://schemas.openxmlformats.org/drawingml/2006/main">
            <a:r>
              <a:t>Worked illustration / lecturer answer</a:t>
            </a:r>
          </a:p>
          <a:p xmlns:a="http://schemas.openxmlformats.org/drawingml/2006/main">
            <a:r>
              <a:t>Use the adjacent worked example as the explanation if the video cannot load. Pause after the relevant example and connect its terms to the names and units already used in this lesson. Preview the displayed link and excerpt before class.</a:t>
            </a:r>
          </a:p>
          <a:p xmlns:a="http://schemas.openxmlformats.org/drawingml/2006/main">
            <a:r>
              <a:t/>
            </a:r>
          </a:p>
          <a:p xmlns:a="http://schemas.openxmlformats.org/drawingml/2006/main">
            <a:r>
              <a:t>Misconception to address</a:t>
            </a:r>
          </a:p>
          <a:p xmlns:a="http://schemas.openxmlformats.org/drawingml/2006/main">
            <a:r>
              <a:t>The video is supporting revision, not a replacement for defining the symbols or a requirement to watch a full tutorial during limited class time.</a:t>
            </a:r>
          </a:p>
          <a:p xmlns:a="http://schemas.openxmlformats.org/drawingml/2006/main">
            <a:r>
              <a:t/>
            </a:r>
          </a:p>
          <a:p xmlns:a="http://schemas.openxmlformats.org/drawingml/2006/main">
            <a:r>
              <a:t>On this slide</a:t>
            </a:r>
          </a:p>
          <a:p xmlns:a="http://schemas.openxmlformats.org/drawingml/2006/main">
            <a:r>
              <a:t>For revision after class.</a:t>
            </a:r>
          </a:p>
          <a:p xmlns:a="http://schemas.openxmlformats.org/drawingml/2006/main">
            <a:r>
              <a:t/>
            </a:r>
          </a:p>
          <a:p xmlns:a="http://schemas.openxmlformats.org/drawingml/2006/main">
            <a:r>
              <a:t>StatQuest with Josh Starmer</a:t>
            </a:r>
          </a:p>
          <a:p xmlns:a="http://schemas.openxmlformats.org/drawingml/2006/main">
            <a:r>
              <a:t>The Essence of Linear Regression!!!</a:t>
            </a:r>
          </a:p>
          <a:p xmlns:a="http://schemas.openxmlformats.org/drawingml/2006/main">
            <a:r>
              <a:t/>
            </a:r>
          </a:p>
          <a:p xmlns:a="http://schemas.openxmlformats.org/drawingml/2006/main">
            <a:r>
              <a:t>Opening up to 04:00, optional preview-selected excerpt</a:t>
            </a:r>
          </a:p>
          <a:p xmlns:a="http://schemas.openxmlformats.org/drawingml/2006/main">
            <a:r>
              <a:t/>
            </a:r>
          </a:p>
          <a:p xmlns:a="http://schemas.openxmlformats.org/drawingml/2006/main">
            <a:r>
              <a:t>Listening question: How can a fitted line turn an input into a numerical prediction?</a:t>
            </a:r>
          </a:p>
          <a:p xmlns:a="http://schemas.openxmlformats.org/drawingml/2006/main">
            <a:r>
              <a:t/>
            </a:r>
          </a:p>
          <a:p xmlns:a="http://schemas.openxmlformats.org/drawingml/2006/main">
            <a:r>
              <a:t>Reference / existing resource</a:t>
            </a:r>
          </a:p>
          <a:p xmlns:a="http://schemas.openxmlformats.org/drawingml/2006/main">
            <a:r>
              <a:t>https://www.youtube.com/watch?v=aFDOzpTeg0s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7e75cb73f2f4b0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cf5c27c95a44f3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13e4b326af7418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96236a7e59e47e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798948e915240c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3a979523ecf400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51F7102-0402-4395-AB75-33DA6BA26FA3}"/>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8928350-18BC-46E1-882F-AA0CDE928FCA}"/>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CFAC78F-0513-450C-B1EC-C9BA86B737AF}"/>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849EC1C-B98C-46E2-B89C-F4585E5C3F90}"/>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DB180692-887E-46C0-9B30-150215D6DA40}"/>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2C526CB-6B1D-4384-B0E6-FA7CA3FBDCF9}"/>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ADDB35A-5B49-47B8-99EB-C875176732E3}"/>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C9B7549-BFA9-4C7B-BD98-BCFB4E0948F5}"/>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F13EAB4-C808-4B59-8F9C-668C557888F2}"/>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AC39D2C-C42E-4C9D-8B47-552E6ABE657A}"/>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748cea6fb354615" /><Relationship Type="http://schemas.openxmlformats.org/officeDocument/2006/relationships/slideLayout" Target="/ppt/slideLayouts/slideLayout1.xml" Id="Ra3bedd03a13947ce" /><Relationship Type="http://schemas.openxmlformats.org/officeDocument/2006/relationships/slideLayout" Target="/ppt/slideLayouts/slideLayout2.xml" Id="R054dec46b1ba4def" /><Relationship Type="http://schemas.openxmlformats.org/officeDocument/2006/relationships/slideLayout" Target="/ppt/slideLayouts/slideLayout3.xml" Id="R903403ea474143fb" /><Relationship Type="http://schemas.openxmlformats.org/officeDocument/2006/relationships/slideLayout" Target="/ppt/slideLayouts/slideLayout4.xml" Id="R0378b5684c1d499e" /><Relationship Type="http://schemas.openxmlformats.org/officeDocument/2006/relationships/slideLayout" Target="/ppt/slideLayouts/slideLayout5.xml" Id="Rb41c16e2b1974980" /><Relationship Type="http://schemas.openxmlformats.org/officeDocument/2006/relationships/slideLayout" Target="/ppt/slideLayouts/slideLayout6.xml" Id="R150d6c92f5a347b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3bedd03a13947ce"/>
    <p:sldLayoutId xmlns:r="http://schemas.openxmlformats.org/officeDocument/2006/relationships" id="2147483650" r:id="R054dec46b1ba4def"/>
    <p:sldLayoutId xmlns:r="http://schemas.openxmlformats.org/officeDocument/2006/relationships" id="2147483651" r:id="R903403ea474143fb"/>
    <p:sldLayoutId xmlns:r="http://schemas.openxmlformats.org/officeDocument/2006/relationships" id="2147483652" r:id="R0378b5684c1d499e"/>
    <p:sldLayoutId xmlns:r="http://schemas.openxmlformats.org/officeDocument/2006/relationships" id="2147483653" r:id="Rb41c16e2b1974980"/>
    <p:sldLayoutId xmlns:r="http://schemas.openxmlformats.org/officeDocument/2006/relationships" id="2147483654" r:id="R150d6c92f5a347b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848ce91ccc6443b" /><Relationship Type="http://schemas.openxmlformats.org/officeDocument/2006/relationships/image" Target="/ppt/media/image.png" Id="R6ac541bf03e8416d" /><Relationship Type="http://schemas.openxmlformats.org/officeDocument/2006/relationships/notesSlide" Target="/ppt/notesSlides/notesSlide1.xml" Id="R7fc4aed1e7144d9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81a5d0dd8a045a8" /><Relationship Type="http://schemas.openxmlformats.org/officeDocument/2006/relationships/notesSlide" Target="/ppt/notesSlides/notesSlide2.xml" Id="R5ab1be05b0a94b0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066fe3d990649b9" /><Relationship Type="http://schemas.openxmlformats.org/officeDocument/2006/relationships/notesSlide" Target="/ppt/notesSlides/notesSlide3.xml" Id="R887518e32f00446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8b331b21d7b4c40" /><Relationship Type="http://schemas.openxmlformats.org/officeDocument/2006/relationships/notesSlide" Target="/ppt/notesSlides/notesSlide4.xml" Id="Rededd5cc89444ca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242aada7c6d4329" /><Relationship Type="http://schemas.openxmlformats.org/officeDocument/2006/relationships/notesSlide" Target="/ppt/notesSlides/notesSlide5.xml" Id="R5ee2373faa08483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d215203e9c04548" /><Relationship Type="http://schemas.openxmlformats.org/officeDocument/2006/relationships/notesSlide" Target="/ppt/notesSlides/notesSlide6.xml" Id="R7f05fd1c6d4a41e1"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62af5948dbf401c" /><Relationship Type="http://schemas.openxmlformats.org/officeDocument/2006/relationships/notesSlide" Target="/ppt/notesSlides/notesSlide7.xml" Id="Rb9a2b647a27b4eea"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9af601385d24b74" /><Relationship Type="http://schemas.openxmlformats.org/officeDocument/2006/relationships/notesSlide" Target="/ppt/notesSlides/notesSlide8.xml" Id="R5be084f3d37f448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3223ba657efc4ae5" /><Relationship Type="http://schemas.openxmlformats.org/officeDocument/2006/relationships/notesSlide" Target="/ppt/notesSlides/notesSlide9.xml" Id="R256af8e9cd3d4f9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686739c1016d4217" /><Relationship Type="http://schemas.openxmlformats.org/officeDocument/2006/relationships/notesSlide" Target="/ppt/notesSlides/notesSlide10.xml" Id="R563c3c90bafa4be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31c3cfc9f1e34ecc" /><Relationship Type="http://schemas.openxmlformats.org/officeDocument/2006/relationships/notesSlide" Target="/ppt/notesSlides/notesSlide11.xml" Id="Rbd88226ccc944e2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f9a258b7e2ac454a" /><Relationship Type="http://schemas.openxmlformats.org/officeDocument/2006/relationships/notesSlide" Target="/ppt/notesSlides/notesSlide12.xml" Id="Rb1cf631a040b40f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8e2aff6656ad4568" /><Relationship Type="http://schemas.openxmlformats.org/officeDocument/2006/relationships/notesSlide" Target="/ppt/notesSlides/notesSlide13.xml" Id="R01c99211c91f47b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0f598c95ef654931" /><Relationship Type="http://schemas.openxmlformats.org/officeDocument/2006/relationships/notesSlide" Target="/ppt/notesSlides/notesSlide14.xml" Id="R2ba9120cbfcf4cb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d3362373eb5049ae" /><Relationship Type="http://schemas.openxmlformats.org/officeDocument/2006/relationships/notesSlide" Target="/ppt/notesSlides/notesSlide15.xml" Id="R23527e5b768e492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2aa6f475791841a2" /><Relationship Type="http://schemas.openxmlformats.org/officeDocument/2006/relationships/notesSlide" Target="/ppt/notesSlides/notesSlide16.xml" Id="R70a41ae65e034c1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acf6a3776ec840c8" /><Relationship Type="http://schemas.openxmlformats.org/officeDocument/2006/relationships/notesSlide" Target="/ppt/notesSlides/notesSlide17.xml" Id="Rc894d91a50ce4bd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db3283b916054064" /><Relationship Type="http://schemas.openxmlformats.org/officeDocument/2006/relationships/image" Target="/ppt/media/image2.png" Id="Radc3c3e0346b43a8" /><Relationship Type="http://schemas.openxmlformats.org/officeDocument/2006/relationships/notesSlide" Target="/ppt/notesSlides/notesSlide18.xml" Id="R0e477e41dba94bd2"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22d25506b06049c1" /><Relationship Type="http://schemas.openxmlformats.org/officeDocument/2006/relationships/notesSlide" Target="/ppt/notesSlides/notesSlide19.xml" Id="R3fa60238f53d489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e67d71de9be64612" /><Relationship Type="http://schemas.openxmlformats.org/officeDocument/2006/relationships/notesSlide" Target="/ppt/notesSlides/notesSlide20.xml" Id="R8f8eb09909134d1b"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71ff7a0ef8854d3a" /><Relationship Type="http://schemas.openxmlformats.org/officeDocument/2006/relationships/notesSlide" Target="/ppt/notesSlides/notesSlide21.xml" Id="R426079391dca4c0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33258bada81d44d0" /><Relationship Type="http://schemas.openxmlformats.org/officeDocument/2006/relationships/notesSlide" Target="/ppt/notesSlides/notesSlide22.xml" Id="Ra603dd3b5cf04c7f"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eaaaa6bd7e45407d" /><Relationship Type="http://schemas.openxmlformats.org/officeDocument/2006/relationships/notesSlide" Target="/ppt/notesSlides/notesSlide23.xml" Id="R28d08a0b733740a5"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e724a66ba3f24bd6" /><Relationship Type="http://schemas.openxmlformats.org/officeDocument/2006/relationships/notesSlide" Target="/ppt/notesSlides/notesSlide24.xml" Id="Rec164eb9336d4bb0"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4d0b6906b8dc42a8" /><Relationship Type="http://schemas.openxmlformats.org/officeDocument/2006/relationships/notesSlide" Target="/ppt/notesSlides/notesSlide25.xml" Id="R37ef4a026d2f4d8e"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d577b06a9b8e425e" /><Relationship Type="http://schemas.openxmlformats.org/officeDocument/2006/relationships/notesSlide" Target="/ppt/notesSlides/notesSlide26.xml" Id="Rca8db768ca604bd3"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4a53b4076447400c" /><Relationship Type="http://schemas.openxmlformats.org/officeDocument/2006/relationships/notesSlide" Target="/ppt/notesSlides/notesSlide27.xml" Id="R8e6af2693c8d4592"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4052da9c2c684716" /><Relationship Type="http://schemas.openxmlformats.org/officeDocument/2006/relationships/notesSlide" Target="/ppt/notesSlides/notesSlide28.xml" Id="R9179a0318ecd42ef"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335de4bd7367425e" /><Relationship Type="http://schemas.openxmlformats.org/officeDocument/2006/relationships/notesSlide" Target="/ppt/notesSlides/notesSlide29.xml" Id="Rcc791e3b16e54603"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e95788e34bdb4b92" /><Relationship Type="http://schemas.openxmlformats.org/officeDocument/2006/relationships/notesSlide" Target="/ppt/notesSlides/notesSlide30.xml" Id="R79e6092dda02449a"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5b579da84ed94d1d" /><Relationship Type="http://schemas.openxmlformats.org/officeDocument/2006/relationships/notesSlide" Target="/ppt/notesSlides/notesSlide31.xml" Id="R16c839c0b37b4b4d"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2e4494752b994cea" /><Relationship Type="http://schemas.openxmlformats.org/officeDocument/2006/relationships/notesSlide" Target="/ppt/notesSlides/notesSlide32.xml" Id="R1a46e215ad0046d9"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f27403e438a74a9b" /><Relationship Type="http://schemas.openxmlformats.org/officeDocument/2006/relationships/notesSlide" Target="/ppt/notesSlides/notesSlide33.xml" Id="R5e7cd9883c30447f"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3968bfc753a84d3c" /><Relationship Type="http://schemas.openxmlformats.org/officeDocument/2006/relationships/notesSlide" Target="/ppt/notesSlides/notesSlide34.xml" Id="Rf411d429dab04537"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4053625038ba4368" /><Relationship Type="http://schemas.openxmlformats.org/officeDocument/2006/relationships/notesSlide" Target="/ppt/notesSlides/notesSlide35.xml" Id="R9851b7ea99e84db3"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02677e600d134191" /><Relationship Type="http://schemas.openxmlformats.org/officeDocument/2006/relationships/notesSlide" Target="/ppt/notesSlides/notesSlide36.xml" Id="Raa651dd0527f4698"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0d9204ebb69741d1" /><Relationship Type="http://schemas.openxmlformats.org/officeDocument/2006/relationships/notesSlide" Target="/ppt/notesSlides/notesSlide37.xml" Id="Re4c384ad0375430c"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fd28c621f70d4fbe" /><Relationship Type="http://schemas.openxmlformats.org/officeDocument/2006/relationships/notesSlide" Target="/ppt/notesSlides/notesSlide38.xml" Id="Re523b01ea0384d40"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d461576ffe924648" /><Relationship Type="http://schemas.openxmlformats.org/officeDocument/2006/relationships/notesSlide" Target="/ppt/notesSlides/notesSlide39.xml" Id="R6b86425dcd504df1"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5e878caa02454e6d" /><Relationship Type="http://schemas.openxmlformats.org/officeDocument/2006/relationships/notesSlide" Target="/ppt/notesSlides/notesSlide40.xml" Id="R32b09dcef0b542cb"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28a73f1dec274111" /><Relationship Type="http://schemas.openxmlformats.org/officeDocument/2006/relationships/notesSlide" Target="/ppt/notesSlides/notesSlide41.xml" Id="R545347f59f704231"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090370cf0b9c4dd6" /><Relationship Type="http://schemas.openxmlformats.org/officeDocument/2006/relationships/notesSlide" Target="/ppt/notesSlides/notesSlide42.xml" Id="Rc87e576dbb444eec"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18cd0a4b4a1d4b64" /><Relationship Type="http://schemas.openxmlformats.org/officeDocument/2006/relationships/notesSlide" Target="/ppt/notesSlides/notesSlide43.xml" Id="R4d643da301744968"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79b8a4b33a454081" /><Relationship Type="http://schemas.openxmlformats.org/officeDocument/2006/relationships/notesSlide" Target="/ppt/notesSlides/notesSlide44.xml" Id="Rb5d3404dc85c4c56"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76b77eb67213443c" /><Relationship Type="http://schemas.openxmlformats.org/officeDocument/2006/relationships/notesSlide" Target="/ppt/notesSlides/notesSlide45.xml" Id="R7e89a0c137b64913"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0c499dc543854e48" /><Relationship Type="http://schemas.openxmlformats.org/officeDocument/2006/relationships/notesSlide" Target="/ppt/notesSlides/notesSlide46.xml" Id="R6d25802e86ad4458"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92c6627fc87e4cc4" /><Relationship Type="http://schemas.openxmlformats.org/officeDocument/2006/relationships/notesSlide" Target="/ppt/notesSlides/notesSlide47.xml" Id="Rb096fde4d52b401b"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812e27b3dc3f43dc" /><Relationship Type="http://schemas.openxmlformats.org/officeDocument/2006/relationships/notesSlide" Target="/ppt/notesSlides/notesSlide48.xml" Id="Rfc5bf0f0b3844a4f"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220f27e9321f4116" /><Relationship Type="http://schemas.openxmlformats.org/officeDocument/2006/relationships/notesSlide" Target="/ppt/notesSlides/notesSlide49.xml" Id="R507186ee0b094592"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f04603f221a44942" /><Relationship Type="http://schemas.openxmlformats.org/officeDocument/2006/relationships/notesSlide" Target="/ppt/notesSlides/notesSlide50.xml" Id="R5fb2ccac44bc44d2"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d8db50f932d445c9" /><Relationship Type="http://schemas.openxmlformats.org/officeDocument/2006/relationships/hyperlink" Target="https://docs.google.com/forms/d/e/1FAIpQLScEhukVhOy7mk4-sfmGMIBPDwAXlVTIZeAict3izXXZ1fvCFg/viewform" TargetMode="External" Id="R6c63f9e54d044ea8" /><Relationship Type="http://schemas.openxmlformats.org/officeDocument/2006/relationships/notesSlide" Target="/ppt/notesSlides/notesSlide51.xml" Id="R3097e1ed7f604337"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93baaff6d577440f" /><Relationship Type="http://schemas.openxmlformats.org/officeDocument/2006/relationships/notesSlide" Target="/ppt/notesSlides/notesSlide52.xml" Id="R7b6c620c7f6a44cd"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25bba411c0264c93" /><Relationship Type="http://schemas.openxmlformats.org/officeDocument/2006/relationships/notesSlide" Target="/ppt/notesSlides/notesSlide53.xml" Id="R80d594471fd34590"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0382f3c1a7104b39" /><Relationship Type="http://schemas.openxmlformats.org/officeDocument/2006/relationships/notesSlide" Target="/ppt/notesSlides/notesSlide54.xml" Id="Rc62630e2e7274e30"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a8cefced1a444ebf" /><Relationship Type="http://schemas.openxmlformats.org/officeDocument/2006/relationships/notesSlide" Target="/ppt/notesSlides/notesSlide55.xml" Id="Rd95abc9f6d794adc"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623e71f0274c47de" /><Relationship Type="http://schemas.openxmlformats.org/officeDocument/2006/relationships/notesSlide" Target="/ppt/notesSlides/notesSlide56.xml" Id="R7c5e3393d5be4ca6"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5f56cf0ea068410b" /><Relationship Type="http://schemas.openxmlformats.org/officeDocument/2006/relationships/hyperlink" Target="https://docs.google.com/forms/d/e/1FAIpQLSf_avvvqyl5ZJ-6HU7n4zal9AQETYyJkykuDO5J5Au3dBA4vw/viewform" TargetMode="External" Id="R61b775ef03e14574" /><Relationship Type="http://schemas.openxmlformats.org/officeDocument/2006/relationships/notesSlide" Target="/ppt/notesSlides/notesSlide57.xml" Id="Rb951f2ee7a4847b2"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97e40318d9b54557" /><Relationship Type="http://schemas.openxmlformats.org/officeDocument/2006/relationships/image" Target="/ppt/media/image3.png" Id="Ra8cac7ba3dc644ea" /><Relationship Type="http://schemas.openxmlformats.org/officeDocument/2006/relationships/hyperlink" Target="https://forms.gle/njADrQM1EKhyhRSA8" TargetMode="External" Id="Rd8b28f6af2a84cbe" /><Relationship Type="http://schemas.openxmlformats.org/officeDocument/2006/relationships/notesSlide" Target="/ppt/notesSlides/notesSlide58.xml" Id="R5ca05130572a4b9e"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fca0d3208ad547b8" /><Relationship Type="http://schemas.openxmlformats.org/officeDocument/2006/relationships/notesSlide" Target="/ppt/notesSlides/notesSlide59.xml" Id="R6cfa659b6a3d4da2"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c4fd0f5a864246de" /><Relationship Type="http://schemas.openxmlformats.org/officeDocument/2006/relationships/hyperlink" Target="https://www.youtube.com/watch?v=aFDOzpTeg0s" TargetMode="External" Id="R77e518dbe760496a" /><Relationship Type="http://schemas.openxmlformats.org/officeDocument/2006/relationships/notesSlide" Target="/ppt/notesSlides/notesSlide60.xml" Id="R5b5d7f97e5a64327"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A312663B-6A33-4D72-8AEE-2C51CAD78A20}"/>
              </a:ext>
            </a:extLst>
          </p:cNvPr>
          <p:cNvPicPr>
            <a:picLocks xmlns:a="http://schemas.openxmlformats.org/drawingml/2006/main" noChangeAspect="1"/>
          </p:cNvPicPr>
          <p:nvPr/>
        </p:nvPicPr>
        <p:blipFill>
          <a:blip xmlns:r="http://schemas.openxmlformats.org/officeDocument/2006/relationships" xmlns:a="http://schemas.openxmlformats.org/drawingml/2006/main" r:embed="R6ac541bf03e8416d"/>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E9A5B70-26A8-4362-8FE9-6AD583221534}"/>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59CC81C4-DED5-41F1-B074-061C24351113}"/>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8</a:t>
            </a:r>
          </a:p>
        </p:txBody>
      </p:sp>
      <p:sp>
        <p:nvSpPr>
          <p:cNvPr id="4" name="">
            <a:extLst xmlns:a="http://schemas.openxmlformats.org/drawingml/2006/main">
              <a:ext uri="{FF2B5EF4-FFF2-40B4-BE49-F238E27FC236}">
                <a16:creationId xmlns:a16="http://schemas.microsoft.com/office/drawing/2014/main" id="{72BAC707-FE56-418E-A4E6-2CF7FDC0C79D}"/>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A first prediction model</a:t>
            </a:r>
          </a:p>
        </p:txBody>
      </p:sp>
      <p:sp>
        <p:nvSpPr>
          <p:cNvPr id="5" name="">
            <a:extLst xmlns:a="http://schemas.openxmlformats.org/drawingml/2006/main">
              <a:ext uri="{FF2B5EF4-FFF2-40B4-BE49-F238E27FC236}">
                <a16:creationId xmlns:a16="http://schemas.microsoft.com/office/drawing/2014/main" id="{ACBE437D-AC24-4918-86FE-72FEAEA5EAC9}"/>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C59595BA-85F3-4234-BE10-86075BF9C538}"/>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30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83540731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6732D99-77AD-4CA6-8A25-C959D8B084B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C651FB1-B382-4F02-B321-9932E296893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F4C6CFA-ED01-494C-B21B-5DD7A3CF6EF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DB106BEB-CCB0-45A4-9DDE-200CBBFC276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07C9FB6-CAED-4665-A688-5B2BFE433A22}"/>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47ADAFE-2CCD-4AB1-8515-2489F9F2403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Use pandas tables for this week’s data work. Explain the decisions and check the outputs.</a:t>
            </a:r>
          </a:p>
        </p:txBody>
      </p:sp>
      <p:sp>
        <p:nvSpPr>
          <p:cNvPr id="7" name="">
            <a:extLst xmlns:a="http://schemas.openxmlformats.org/drawingml/2006/main">
              <a:ext uri="{FF2B5EF4-FFF2-40B4-BE49-F238E27FC236}">
                <a16:creationId xmlns:a16="http://schemas.microsoft.com/office/drawing/2014/main" id="{C742C865-6282-4CE7-85B8-98CFB8CC988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Complete the issued function interfaces and written evidence using the demonstrated workflow.</a:t>
            </a:r>
          </a:p>
        </p:txBody>
      </p:sp>
      <p:sp>
        <p:nvSpPr>
          <p:cNvPr id="8" name="">
            <a:extLst xmlns:a="http://schemas.openxmlformats.org/drawingml/2006/main">
              <a:ext uri="{FF2B5EF4-FFF2-40B4-BE49-F238E27FC236}">
                <a16:creationId xmlns:a16="http://schemas.microsoft.com/office/drawing/2014/main" id="{5C0D8A7B-1B5C-4F56-9547-3F43B5D0167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a:t>
            </a:r>
          </a:p>
        </p:txBody>
      </p:sp>
    </p:spTree>
    <p:extLst>
      <p:ext uri="{BB962C8B-B14F-4D97-AF65-F5344CB8AC3E}">
        <p14:creationId xmlns:p14="http://schemas.microsoft.com/office/powerpoint/2010/main" val="120776902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B3ED75F-447B-448B-9ACA-4BD9C0E8454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5B6295D-E3CE-482D-A187-5A4EFB3586B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2848B93-8BC4-4E5C-B0F7-9933D305D55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file</a:t>
            </a:r>
          </a:p>
        </p:txBody>
      </p:sp>
      <p:sp>
        <p:nvSpPr>
          <p:cNvPr id="4" name="">
            <a:extLst xmlns:a="http://schemas.openxmlformats.org/drawingml/2006/main">
              <a:ext uri="{FF2B5EF4-FFF2-40B4-BE49-F238E27FC236}">
                <a16:creationId xmlns:a16="http://schemas.microsoft.com/office/drawing/2014/main" id="{5B001E34-DD25-4F0A-8DCF-51F0B6FF113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8121578-8B7F-48E4-9589-F6078FF6D6A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5D92C5D-4A4A-433A-A489-8334D7B2532E}"/>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Extract this week’s student ZIP. Upload engineering_data.csv into Colab using the Files panel, or keep it beside the notebook locally.</a:t>
            </a:r>
          </a:p>
        </p:txBody>
      </p:sp>
      <p:sp>
        <p:nvSpPr>
          <p:cNvPr id="7" name="">
            <a:extLst xmlns:a="http://schemas.openxmlformats.org/drawingml/2006/main">
              <a:ext uri="{FF2B5EF4-FFF2-40B4-BE49-F238E27FC236}">
                <a16:creationId xmlns:a16="http://schemas.microsoft.com/office/drawing/2014/main" id="{36EB6957-111C-4DD7-A1A2-2E812DBE92D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examples below read this file. Run the cells in slide order. Keep the original CSV unchanged.</a:t>
            </a:r>
          </a:p>
        </p:txBody>
      </p:sp>
      <p:sp>
        <p:nvSpPr>
          <p:cNvPr id="8" name="">
            <a:extLst xmlns:a="http://schemas.openxmlformats.org/drawingml/2006/main">
              <a:ext uri="{FF2B5EF4-FFF2-40B4-BE49-F238E27FC236}">
                <a16:creationId xmlns:a16="http://schemas.microsoft.com/office/drawing/2014/main" id="{D3D834BC-CA0C-43D1-BFB5-01A2BF0A4A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a:t>
            </a:r>
          </a:p>
        </p:txBody>
      </p:sp>
    </p:spTree>
    <p:extLst>
      <p:ext uri="{BB962C8B-B14F-4D97-AF65-F5344CB8AC3E}">
        <p14:creationId xmlns:p14="http://schemas.microsoft.com/office/powerpoint/2010/main" val="151188130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F70B39F-2867-4090-B10E-755AB820F6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2417FF7-71B8-4AD0-99FB-870AD6E5001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467DB0F-66A6-4617-A37E-A05CC17C42F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151772F3-DB14-4508-AA58-8FA1F2A693F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4F86940-192E-48E1-9410-15EB23D4DC3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and short names: import pandas as pd loads pandas and gives it the short name pd. pd.read_csv refers to a function in that library.</a:t>
            </a:r>
          </a:p>
        </p:txBody>
      </p:sp>
      <p:sp>
        <p:nvSpPr>
          <p:cNvPr id="6" name="">
            <a:extLst xmlns:a="http://schemas.openxmlformats.org/drawingml/2006/main">
              <a:ext uri="{FF2B5EF4-FFF2-40B4-BE49-F238E27FC236}">
                <a16:creationId xmlns:a16="http://schemas.microsoft.com/office/drawing/2014/main" id="{F46EBB04-9302-43FC-8734-6FE3CE3AB8B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37DF50C-E270-4433-BCC0-875150771C0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a CSV: pd.read_csv("practice_filename.csv") reads the named file into a DataFrame: a table with labelled columns and row labels. The file must exist in the working folder.</a:t>
            </a:r>
          </a:p>
        </p:txBody>
      </p:sp>
      <p:sp>
        <p:nvSpPr>
          <p:cNvPr id="8" name="">
            <a:extLst xmlns:a="http://schemas.openxmlformats.org/drawingml/2006/main">
              <a:ext uri="{FF2B5EF4-FFF2-40B4-BE49-F238E27FC236}">
                <a16:creationId xmlns:a16="http://schemas.microsoft.com/office/drawing/2014/main" id="{577466BC-0D97-49B7-BF71-8462CFA5A85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62B1B78-646F-4C3B-A19C-E5162E6FBF1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Counting dimensions: equipment_data.shape gives (number of rows, number of columns). shape is a property, so it has no parentheses.</a:t>
            </a:r>
          </a:p>
        </p:txBody>
      </p:sp>
      <p:sp>
        <p:nvSpPr>
          <p:cNvPr id="10" name="">
            <a:extLst xmlns:a="http://schemas.openxmlformats.org/drawingml/2006/main">
              <a:ext uri="{FF2B5EF4-FFF2-40B4-BE49-F238E27FC236}">
                <a16:creationId xmlns:a16="http://schemas.microsoft.com/office/drawing/2014/main" id="{DC8EF1AB-B0D4-46ED-8556-3A514104C58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a:t>
            </a:r>
          </a:p>
        </p:txBody>
      </p:sp>
    </p:spTree>
    <p:extLst>
      <p:ext uri="{BB962C8B-B14F-4D97-AF65-F5344CB8AC3E}">
        <p14:creationId xmlns:p14="http://schemas.microsoft.com/office/powerpoint/2010/main" val="194048508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24F3BE8-4195-4348-802E-25CE1D74F6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EDEABEA-A3F2-4754-BD51-DFF4CA2A0FA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A2D6B65-615B-4D76-8AC7-D29AB50E2E2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E73EBE84-2645-4824-981B-7267A31A665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C892576-293F-4370-A3B4-BA96A0740E79}"/>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8BB53E3-AD55-4A80-AAE5-E8392822EE2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Column data types: equipment_data.dtypes reports each column’s stored type. int64 means integers, float64 means decimal numbers, and object often contains text. Numeric blanks commonly appear as NaN.</a:t>
            </a:r>
          </a:p>
        </p:txBody>
      </p:sp>
      <p:sp>
        <p:nvSpPr>
          <p:cNvPr id="7" name="">
            <a:extLst xmlns:a="http://schemas.openxmlformats.org/drawingml/2006/main">
              <a:ext uri="{FF2B5EF4-FFF2-40B4-BE49-F238E27FC236}">
                <a16:creationId xmlns:a16="http://schemas.microsoft.com/office/drawing/2014/main" id="{8113E7F8-4959-41F7-B4A1-A54AEA55A21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preview of rows: equipment_data.head() returns the first five rows. It leaves the table unchanged. A preview is not the entire dataset.</a:t>
            </a:r>
          </a:p>
        </p:txBody>
      </p:sp>
      <p:sp>
        <p:nvSpPr>
          <p:cNvPr id="8" name="">
            <a:extLst xmlns:a="http://schemas.openxmlformats.org/drawingml/2006/main">
              <a:ext uri="{FF2B5EF4-FFF2-40B4-BE49-F238E27FC236}">
                <a16:creationId xmlns:a16="http://schemas.microsoft.com/office/drawing/2014/main" id="{215E3097-0C82-4A61-A107-8E4350D2521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a:t>
            </a:r>
          </a:p>
        </p:txBody>
      </p:sp>
    </p:spTree>
    <p:extLst>
      <p:ext uri="{BB962C8B-B14F-4D97-AF65-F5344CB8AC3E}">
        <p14:creationId xmlns:p14="http://schemas.microsoft.com/office/powerpoint/2010/main" val="5909922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9E3D614-ECC9-428F-9FC0-DA25542B50E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2DC345E-A1AE-46E6-A8CA-E35BD8FA37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D51C00B-5872-4055-A2E3-CC39CA80EAD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the code syntax</a:t>
            </a:r>
          </a:p>
        </p:txBody>
      </p:sp>
      <p:sp>
        <p:nvSpPr>
          <p:cNvPr id="4" name="">
            <a:extLst xmlns:a="http://schemas.openxmlformats.org/drawingml/2006/main">
              <a:ext uri="{FF2B5EF4-FFF2-40B4-BE49-F238E27FC236}">
                <a16:creationId xmlns:a16="http://schemas.microsoft.com/office/drawing/2014/main" id="{C36603B5-C9D4-4B4D-AF4A-FBFE927B90D1}"/>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5066584-6E53-4C8D-A647-7813D943B906}"/>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 assigns a value to a name; == compares values. Parentheses pass inputs or continue an expression across lines. print displays a value; len counts entries. int and float convert to integer and decimal numeric values.</a:t>
            </a:r>
          </a:p>
        </p:txBody>
      </p:sp>
      <p:sp>
        <p:nvSpPr>
          <p:cNvPr id="6" name="">
            <a:extLst xmlns:a="http://schemas.openxmlformats.org/drawingml/2006/main">
              <a:ext uri="{FF2B5EF4-FFF2-40B4-BE49-F238E27FC236}">
                <a16:creationId xmlns:a16="http://schemas.microsoft.com/office/drawing/2014/main" id="{EEE114F4-AF25-47EA-87FF-7B953F231F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6</a:t>
            </a:r>
          </a:p>
        </p:txBody>
      </p:sp>
    </p:spTree>
    <p:extLst>
      <p:ext uri="{BB962C8B-B14F-4D97-AF65-F5344CB8AC3E}">
        <p14:creationId xmlns:p14="http://schemas.microsoft.com/office/powerpoint/2010/main" val="73524651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5DCCD85-D737-43DC-8565-A0003DEFB16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3BC3FA2-F4EA-4945-9457-EBF84985CEA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C399E5A-ABA9-4B79-B95D-E738524F003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observations</a:t>
            </a:r>
          </a:p>
        </p:txBody>
      </p:sp>
      <p:sp>
        <p:nvSpPr>
          <p:cNvPr id="4" name="">
            <a:extLst xmlns:a="http://schemas.openxmlformats.org/drawingml/2006/main">
              <a:ext uri="{FF2B5EF4-FFF2-40B4-BE49-F238E27FC236}">
                <a16:creationId xmlns:a16="http://schemas.microsoft.com/office/drawing/2014/main" id="{2F78B07D-8644-445B-A506-244AE01C2E0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6AC543F-C2A1-4A5F-9A34-613555BAD20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pandas as pd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 = pd.read_csv("engineering_data.csv")</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print(raw_data.shape)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print(raw_data.dtypes)</a:t>
            </a:r>
          </a:p>
        </p:txBody>
      </p:sp>
      <p:sp>
        <p:nvSpPr>
          <p:cNvPr id="6" name="">
            <a:extLst xmlns:a="http://schemas.openxmlformats.org/drawingml/2006/main">
              <a:ext uri="{FF2B5EF4-FFF2-40B4-BE49-F238E27FC236}">
                <a16:creationId xmlns:a16="http://schemas.microsoft.com/office/drawing/2014/main" id="{0B1439CD-E6C4-4212-A556-76EBD927AA5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raw_data: original CSV table; keep it unchanged so the analysis can be checked.</a:t>
            </a:r>
          </a:p>
        </p:txBody>
      </p:sp>
      <p:sp>
        <p:nvSpPr>
          <p:cNvPr id="7" name="">
            <a:extLst xmlns:a="http://schemas.openxmlformats.org/drawingml/2006/main">
              <a:ext uri="{FF2B5EF4-FFF2-40B4-BE49-F238E27FC236}">
                <a16:creationId xmlns:a16="http://schemas.microsoft.com/office/drawing/2014/main" id="{7BA4B6D6-4264-4A79-A5A2-C4988989845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247531E9-A4C6-4510-A1EB-3BC19D1770B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7</a:t>
            </a:r>
          </a:p>
        </p:txBody>
      </p:sp>
    </p:spTree>
    <p:extLst>
      <p:ext uri="{BB962C8B-B14F-4D97-AF65-F5344CB8AC3E}">
        <p14:creationId xmlns:p14="http://schemas.microsoft.com/office/powerpoint/2010/main" val="4318958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FA31882-5E19-4932-8C4D-A5C14558F3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3A97383-212C-42B3-929B-C9FBAA6E41B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E2D0EB2-D6BB-4F54-9465-8A80025E0D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used for modelling</a:t>
            </a:r>
          </a:p>
        </p:txBody>
      </p:sp>
      <p:sp>
        <p:nvSpPr>
          <p:cNvPr id="4" name="">
            <a:extLst xmlns:a="http://schemas.openxmlformats.org/drawingml/2006/main">
              <a:ext uri="{FF2B5EF4-FFF2-40B4-BE49-F238E27FC236}">
                <a16:creationId xmlns:a16="http://schemas.microsoft.com/office/drawing/2014/main" id="{7AC93675-46B0-4608-9763-03BA0AC4EE4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CBC08F0-F2F3-4F4C-A6A3-004A19BD5F8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DBB63BC-1C31-4CA9-9497-0F0C6351609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Keep the first occurrence of each record_id. Retain recorded targets and load_pct within 0–100. Then separate E1–E4 for training, E5 for validation and E6 for the final test_data.</a:t>
            </a:r>
          </a:p>
        </p:txBody>
      </p:sp>
      <p:sp>
        <p:nvSpPr>
          <p:cNvPr id="7" name="">
            <a:extLst xmlns:a="http://schemas.openxmlformats.org/drawingml/2006/main">
              <a:ext uri="{FF2B5EF4-FFF2-40B4-BE49-F238E27FC236}">
                <a16:creationId xmlns:a16="http://schemas.microsoft.com/office/drawing/2014/main" id="{FEC5B863-9071-46E3-8D67-86A36DDBC91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Fill missing input values using training data only. Keep final-test targets out of model selection.</a:t>
            </a:r>
          </a:p>
        </p:txBody>
      </p:sp>
      <p:sp>
        <p:nvSpPr>
          <p:cNvPr id="8" name="">
            <a:extLst xmlns:a="http://schemas.openxmlformats.org/drawingml/2006/main">
              <a:ext uri="{FF2B5EF4-FFF2-40B4-BE49-F238E27FC236}">
                <a16:creationId xmlns:a16="http://schemas.microsoft.com/office/drawing/2014/main" id="{F580E974-B353-4AFD-9A1A-3C21D786D4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8</a:t>
            </a:r>
          </a:p>
        </p:txBody>
      </p:sp>
    </p:spTree>
    <p:extLst>
      <p:ext uri="{BB962C8B-B14F-4D97-AF65-F5344CB8AC3E}">
        <p14:creationId xmlns:p14="http://schemas.microsoft.com/office/powerpoint/2010/main" val="119115875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1E906D9-B47F-4607-85D7-DD5F79097FA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5E1DB54-A7DE-498D-BDDF-D0B2FC7E4CE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38F515A-71C1-4575-8023-585F80A1B8C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00362896-5E89-418E-BEDC-E9D9817E435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BD13266-79AB-43F3-9EF1-764EB8D7CD9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chained operations: Read a chain from left to right. In equipment_data["target"].mean(), select the target Series first, then calculate its mean. Each step uses the previous step’s result.</a:t>
            </a:r>
          </a:p>
        </p:txBody>
      </p:sp>
      <p:sp>
        <p:nvSpPr>
          <p:cNvPr id="6" name="">
            <a:extLst xmlns:a="http://schemas.openxmlformats.org/drawingml/2006/main">
              <a:ext uri="{FF2B5EF4-FFF2-40B4-BE49-F238E27FC236}">
                <a16:creationId xmlns:a16="http://schemas.microsoft.com/office/drawing/2014/main" id="{62A3DB8E-E8A3-44DB-B79D-6F12A7AC3EB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C0C1E87-A943-4C1E-86B3-AE6E180A439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separate working table: equipment_data.copy() creates a working copy. Assigning columns on this copy preserves the source table, so you can compare before and after.</a:t>
            </a:r>
          </a:p>
        </p:txBody>
      </p:sp>
      <p:sp>
        <p:nvSpPr>
          <p:cNvPr id="8" name="">
            <a:extLst xmlns:a="http://schemas.openxmlformats.org/drawingml/2006/main">
              <a:ext uri="{FF2B5EF4-FFF2-40B4-BE49-F238E27FC236}">
                <a16:creationId xmlns:a16="http://schemas.microsoft.com/office/drawing/2014/main" id="{56EC50D7-2A58-40E8-9E66-28FD5331DE0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E5253F4-4C77-4E99-B99B-1E77568AF56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Finding recorded cells: notna() returns True where a value is present. Use it to retain observations with a recorded target before modelling.</a:t>
            </a:r>
          </a:p>
        </p:txBody>
      </p:sp>
      <p:sp>
        <p:nvSpPr>
          <p:cNvPr id="10" name="">
            <a:extLst xmlns:a="http://schemas.openxmlformats.org/drawingml/2006/main">
              <a:ext uri="{FF2B5EF4-FFF2-40B4-BE49-F238E27FC236}">
                <a16:creationId xmlns:a16="http://schemas.microsoft.com/office/drawing/2014/main" id="{AC88B70C-56EC-4502-958C-61907367EFE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9</a:t>
            </a:r>
          </a:p>
        </p:txBody>
      </p:sp>
    </p:spTree>
    <p:extLst>
      <p:ext uri="{BB962C8B-B14F-4D97-AF65-F5344CB8AC3E}">
        <p14:creationId xmlns:p14="http://schemas.microsoft.com/office/powerpoint/2010/main" val="18705219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EE21CD0-2772-4FBE-88CD-3D654C3D735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32DD2CE-57C8-4399-B6A6-7A77D99A07A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D8A8547-8933-496F-9E7F-42233A07B1E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E4301382-D5B0-4022-AEB9-04494D594BE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E200650-FFC6-412B-8692-28E81D9E1EE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inclusive range: series.between(0, 100) is True for values from 0 through 100, including both limits. The resulting mask helps select valid rows.</a:t>
            </a:r>
          </a:p>
        </p:txBody>
      </p:sp>
      <p:sp>
        <p:nvSpPr>
          <p:cNvPr id="6" name="">
            <a:extLst xmlns:a="http://schemas.openxmlformats.org/drawingml/2006/main">
              <a:ext uri="{FF2B5EF4-FFF2-40B4-BE49-F238E27FC236}">
                <a16:creationId xmlns:a16="http://schemas.microsoft.com/office/drawing/2014/main" id="{C551D820-44B8-4C16-B4FE-8C516CFAAB4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4B2DCFF-0A62-496D-B6E2-AED97550B29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Selecting columns: equipment_data["column"] returns one labelled column, a Series. equipment_data[["a", "b"]] returns a DataFrame containing those named columns in that order.</a:t>
            </a:r>
          </a:p>
        </p:txBody>
      </p:sp>
      <p:sp>
        <p:nvSpPr>
          <p:cNvPr id="8" name="">
            <a:extLst xmlns:a="http://schemas.openxmlformats.org/drawingml/2006/main">
              <a:ext uri="{FF2B5EF4-FFF2-40B4-BE49-F238E27FC236}">
                <a16:creationId xmlns:a16="http://schemas.microsoft.com/office/drawing/2014/main" id="{C4D7AFE7-8BE2-4CC6-BF8D-D097C78B093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EF6F001-1615-440B-877A-1F9D17FB0B9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Selecting rows with a mask: A column comparison produces one True or False per row. equipment_data[mask] keeps the True rows. &amp; combines masks: both conditions must hold. Parenthesise each comparison.</a:t>
            </a:r>
          </a:p>
        </p:txBody>
      </p:sp>
      <p:sp>
        <p:nvSpPr>
          <p:cNvPr id="10" name="">
            <a:extLst xmlns:a="http://schemas.openxmlformats.org/drawingml/2006/main">
              <a:ext uri="{FF2B5EF4-FFF2-40B4-BE49-F238E27FC236}">
                <a16:creationId xmlns:a16="http://schemas.microsoft.com/office/drawing/2014/main" id="{2C3DCB1C-386C-4B71-B370-4D2894EB532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10</a:t>
            </a:r>
          </a:p>
        </p:txBody>
      </p:sp>
    </p:spTree>
    <p:extLst>
      <p:ext uri="{BB962C8B-B14F-4D97-AF65-F5344CB8AC3E}">
        <p14:creationId xmlns:p14="http://schemas.microsoft.com/office/powerpoint/2010/main" val="100632343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B9B1CDE-A3B8-4B25-8338-91960F05B23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8D81C8E-DE6D-4BC3-A446-A56A800C7E3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7D57655-B0F3-49AA-80FD-8B7D2C69FF7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9198D4AC-8F40-4E54-9324-AEF72401887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48593D3-D1C1-407C-9D1B-45C167E9F3C9}"/>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49D33A0-8C81-46AB-9E61-890C3521A3D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Keeping the first observation: equipment_data.drop_duplicates("record_id") returns rows with the first occurrence of each ID, preserving their order. It does not overwrite the source unless you assign the result.</a:t>
            </a:r>
          </a:p>
        </p:txBody>
      </p:sp>
      <p:sp>
        <p:nvSpPr>
          <p:cNvPr id="7" name="">
            <a:extLst xmlns:a="http://schemas.openxmlformats.org/drawingml/2006/main">
              <a:ext uri="{FF2B5EF4-FFF2-40B4-BE49-F238E27FC236}">
                <a16:creationId xmlns:a16="http://schemas.microsoft.com/office/drawing/2014/main" id="{46A3348D-FD41-40AB-A724-034AB9AFA30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Membership in a group list: series.isin(["E1", "E2"]) returns True for entries matching either listed label. equipment_data[that_mask] keeps all observations belonging to those groups.</a:t>
            </a:r>
          </a:p>
        </p:txBody>
      </p:sp>
      <p:sp>
        <p:nvSpPr>
          <p:cNvPr id="8" name="">
            <a:extLst xmlns:a="http://schemas.openxmlformats.org/drawingml/2006/main">
              <a:ext uri="{FF2B5EF4-FFF2-40B4-BE49-F238E27FC236}">
                <a16:creationId xmlns:a16="http://schemas.microsoft.com/office/drawing/2014/main" id="{46741D2A-DF5B-454D-9C93-EB3C2EE773F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11</a:t>
            </a:r>
          </a:p>
        </p:txBody>
      </p:sp>
    </p:spTree>
    <p:extLst>
      <p:ext uri="{BB962C8B-B14F-4D97-AF65-F5344CB8AC3E}">
        <p14:creationId xmlns:p14="http://schemas.microsoft.com/office/powerpoint/2010/main" val="101390056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98AA272-0638-4D9F-9A12-56014A5ED9C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0CE3BF0-C7AF-46EF-9C63-A529736436A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ADA0476-6564-4378-82A9-12CDD676E15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Prepare valid observations</a:t>
            </a:r>
          </a:p>
        </p:txBody>
      </p:sp>
      <p:sp>
        <p:nvSpPr>
          <p:cNvPr id="4" name="">
            <a:extLst xmlns:a="http://schemas.openxmlformats.org/drawingml/2006/main">
              <a:ext uri="{FF2B5EF4-FFF2-40B4-BE49-F238E27FC236}">
                <a16:creationId xmlns:a16="http://schemas.microsoft.com/office/drawing/2014/main" id="{FFFD80F0-ABE4-4868-A1B4-5533E30F7082}"/>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3B2CB23-C7D5-4D46-80A9-E02687EED023}"/>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First keep the first record ID.</a:t>
            </a:r>
          </a:p>
        </p:txBody>
      </p:sp>
      <p:sp>
        <p:nvSpPr>
          <p:cNvPr id="6" name="">
            <a:extLst xmlns:a="http://schemas.openxmlformats.org/drawingml/2006/main">
              <a:ext uri="{FF2B5EF4-FFF2-40B4-BE49-F238E27FC236}">
                <a16:creationId xmlns:a16="http://schemas.microsoft.com/office/drawing/2014/main" id="{D668F2C4-3480-449A-886B-DE1A095DA8AF}"/>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Then ask two questions for each remaining row: is the target recorded, and is load between 0 and 100?</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a row passing both checks stays.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Missing inputs are handled later using training data only.</a:t>
            </a:r>
          </a:p>
        </p:txBody>
      </p:sp>
      <p:sp>
        <p:nvSpPr>
          <p:cNvPr id="7" name="">
            <a:extLst xmlns:a="http://schemas.openxmlformats.org/drawingml/2006/main">
              <a:ext uri="{FF2B5EF4-FFF2-40B4-BE49-F238E27FC236}">
                <a16:creationId xmlns:a16="http://schemas.microsoft.com/office/drawing/2014/main" id="{47D69B20-D8DF-4B19-8969-7AA11CD453D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12</a:t>
            </a:r>
          </a:p>
        </p:txBody>
      </p:sp>
    </p:spTree>
    <p:extLst>
      <p:ext uri="{BB962C8B-B14F-4D97-AF65-F5344CB8AC3E}">
        <p14:creationId xmlns:p14="http://schemas.microsoft.com/office/powerpoint/2010/main" val="200473212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3B32DAB-2A85-456F-B3D8-D240183E54C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CA2A4DC-7FAC-4082-8270-E00815E5016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5B917D7-39E5-4263-9870-CDB4A97EC17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 step 1</a:t>
            </a:r>
          </a:p>
        </p:txBody>
      </p:sp>
      <p:sp>
        <p:nvSpPr>
          <p:cNvPr id="4" name="">
            <a:extLst xmlns:a="http://schemas.openxmlformats.org/drawingml/2006/main">
              <a:ext uri="{FF2B5EF4-FFF2-40B4-BE49-F238E27FC236}">
                <a16:creationId xmlns:a16="http://schemas.microsoft.com/office/drawing/2014/main" id="{773679A8-8C77-4175-A07E-C174F636424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AF3360A-6F71-435D-A5BB-7752543B8F2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raw_data.drop_duplicates("record_id").copy()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target_is_recorded = modelling_data["target"].notna()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load_is_valid = modelling_data["load_pct"].between(0, 100)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rows_to_keep = target_is_recorded &amp; load_is_valid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print(target_is_recorded.head())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print(load_is_valid.head())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modelling_data[rows_to_keep].copy()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print(len(raw_data), len(modelling_data))</a:t>
            </a:r>
          </a:p>
        </p:txBody>
      </p:sp>
      <p:sp>
        <p:nvSpPr>
          <p:cNvPr id="6" name="">
            <a:extLst xmlns:a="http://schemas.openxmlformats.org/drawingml/2006/main">
              <a:ext uri="{FF2B5EF4-FFF2-40B4-BE49-F238E27FC236}">
                <a16:creationId xmlns:a16="http://schemas.microsoft.com/office/drawing/2014/main" id="{8A2D00EB-08F3-46B9-B3C3-45CC03E3C9D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B0315C2B-FF4E-40C7-8D33-592F8D72587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28F8931F-53BF-4D36-B974-DCB0C6CEF2D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13</a:t>
            </a:r>
          </a:p>
        </p:txBody>
      </p:sp>
    </p:spTree>
    <p:extLst>
      <p:ext uri="{BB962C8B-B14F-4D97-AF65-F5344CB8AC3E}">
        <p14:creationId xmlns:p14="http://schemas.microsoft.com/office/powerpoint/2010/main" val="5949275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16CD5D9-8472-487F-AE94-48FEEAF1360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D415985-CE27-4D5C-8709-35BCAB87C8F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ED46D86-792C-49AB-ACC4-ABFD36BC7E6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groups before choosing rows</a:t>
            </a:r>
          </a:p>
        </p:txBody>
      </p:sp>
      <p:sp>
        <p:nvSpPr>
          <p:cNvPr id="4" name="">
            <a:extLst xmlns:a="http://schemas.openxmlformats.org/drawingml/2006/main">
              <a:ext uri="{FF2B5EF4-FFF2-40B4-BE49-F238E27FC236}">
                <a16:creationId xmlns:a16="http://schemas.microsoft.com/office/drawing/2014/main" id="{C2500CB6-4DEC-4B69-8225-F2EF15C01BCB}"/>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3A73AA9-4EEA-4EEB-A966-D01613054F14}"/>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isin(list_of_labels) answers True when a row’s equipment ID appears in the list.</a:t>
            </a:r>
          </a:p>
        </p:txBody>
      </p:sp>
      <p:sp>
        <p:nvSpPr>
          <p:cNvPr id="6" name="">
            <a:extLst xmlns:a="http://schemas.openxmlformats.org/drawingml/2006/main">
              <a:ext uri="{FF2B5EF4-FFF2-40B4-BE49-F238E27FC236}">
                <a16:creationId xmlns:a16="http://schemas.microsoft.com/office/drawing/2014/main" id="{16C249B5-5151-457A-BA84-0C71DBDFB8F8}"/>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Here E1–E4 supply training rows, E5 validation rows and E6 test rows.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groups stay separate so one equipment group cannot appear on both sides.</a:t>
            </a:r>
          </a:p>
        </p:txBody>
      </p:sp>
      <p:sp>
        <p:nvSpPr>
          <p:cNvPr id="7" name="">
            <a:extLst xmlns:a="http://schemas.openxmlformats.org/drawingml/2006/main">
              <a:ext uri="{FF2B5EF4-FFF2-40B4-BE49-F238E27FC236}">
                <a16:creationId xmlns:a16="http://schemas.microsoft.com/office/drawing/2014/main" id="{ADF27543-5BBE-41AA-98B2-6A2370A5A98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14</a:t>
            </a:r>
          </a:p>
        </p:txBody>
      </p:sp>
    </p:spTree>
    <p:extLst>
      <p:ext uri="{BB962C8B-B14F-4D97-AF65-F5344CB8AC3E}">
        <p14:creationId xmlns:p14="http://schemas.microsoft.com/office/powerpoint/2010/main" val="50100885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86F90B4-F963-4D6E-B3C0-596C119F40B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0778E36-4125-4019-904C-EEC93AA3B7E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74AF987-4FEF-4D7F-B92D-094913BDB2A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 step 2</a:t>
            </a:r>
          </a:p>
        </p:txBody>
      </p:sp>
      <p:sp>
        <p:nvSpPr>
          <p:cNvPr id="4" name="">
            <a:extLst xmlns:a="http://schemas.openxmlformats.org/drawingml/2006/main">
              <a:ext uri="{FF2B5EF4-FFF2-40B4-BE49-F238E27FC236}">
                <a16:creationId xmlns:a16="http://schemas.microsoft.com/office/drawing/2014/main" id="{7974E5EB-0D3E-44FA-B0C0-0EFB00AA3AE0}"/>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27137EF-7F6A-4AC5-A718-9E0F4D13059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is_training_equipment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["E1", "E2", "E3", "E4"]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is_validation_equipment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["E5"]</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is_test_equipment = modelling_data["equipment_id"].isin(["E6"])</a:t>
            </a:r>
          </a:p>
        </p:txBody>
      </p:sp>
      <p:sp>
        <p:nvSpPr>
          <p:cNvPr id="6" name="">
            <a:extLst xmlns:a="http://schemas.openxmlformats.org/drawingml/2006/main">
              <a:ext uri="{FF2B5EF4-FFF2-40B4-BE49-F238E27FC236}">
                <a16:creationId xmlns:a16="http://schemas.microsoft.com/office/drawing/2014/main" id="{E18FD3E0-BC93-494E-854C-2F6AB63EF2B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DD8D8509-E9B4-4713-A042-B031858E62F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04874115-E2DB-4D77-86EB-54E49D68CE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15</a:t>
            </a:r>
          </a:p>
        </p:txBody>
      </p:sp>
    </p:spTree>
    <p:extLst>
      <p:ext uri="{BB962C8B-B14F-4D97-AF65-F5344CB8AC3E}">
        <p14:creationId xmlns:p14="http://schemas.microsoft.com/office/powerpoint/2010/main" val="1416576659"/>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6B2059F-099D-44E4-8566-8D27F659016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575C4A2-C628-4771-912B-15C1E72D9D2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7FCD615-27B7-439C-B0BB-6949340C2E7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 step 3</a:t>
            </a:r>
          </a:p>
        </p:txBody>
      </p:sp>
      <p:sp>
        <p:nvSpPr>
          <p:cNvPr id="4" name="">
            <a:extLst xmlns:a="http://schemas.openxmlformats.org/drawingml/2006/main">
              <a:ext uri="{FF2B5EF4-FFF2-40B4-BE49-F238E27FC236}">
                <a16:creationId xmlns:a16="http://schemas.microsoft.com/office/drawing/2014/main" id="{01B1266F-4C9E-4240-B228-6C766CEBABE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4275B61-5B6B-4FD8-AE5F-E9A8596C7AC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5E845E2-437C-4064-BB0E-B7B7EF6BAC5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training_data: rows used to learn model settings; only these rows may determine imputation values.</a:t>
            </a:r>
          </a:p>
        </p:txBody>
      </p:sp>
      <p:sp>
        <p:nvSpPr>
          <p:cNvPr id="7" name="">
            <a:extLst xmlns:a="http://schemas.openxmlformats.org/drawingml/2006/main">
              <a:ext uri="{FF2B5EF4-FFF2-40B4-BE49-F238E27FC236}">
                <a16:creationId xmlns:a16="http://schemas.microsoft.com/office/drawing/2014/main" id="{F030D9B7-C62F-4277-8DA2-BEC5CC7722E5}"/>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validation_data: separate rows used to compare models without fitting on them.</a:t>
            </a:r>
          </a:p>
        </p:txBody>
      </p:sp>
      <p:sp>
        <p:nvSpPr>
          <p:cNvPr id="8" name="">
            <a:extLst xmlns:a="http://schemas.openxmlformats.org/drawingml/2006/main">
              <a:ext uri="{FF2B5EF4-FFF2-40B4-BE49-F238E27FC236}">
                <a16:creationId xmlns:a16="http://schemas.microsoft.com/office/drawing/2014/main" id="{DD7F165E-D65A-4BEF-A7FD-074ED9BDE1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16</a:t>
            </a:r>
          </a:p>
        </p:txBody>
      </p:sp>
    </p:spTree>
    <p:extLst>
      <p:ext uri="{BB962C8B-B14F-4D97-AF65-F5344CB8AC3E}">
        <p14:creationId xmlns:p14="http://schemas.microsoft.com/office/powerpoint/2010/main" val="775501262"/>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755615D-306F-4A30-B1E4-2F3C0997C1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E666B6D-39AF-4909-AF48-85BA91FDDB9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05262F3-53BC-4A1D-A4BE-ABF15D72143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 step 3</a:t>
            </a:r>
          </a:p>
        </p:txBody>
      </p:sp>
      <p:sp>
        <p:nvSpPr>
          <p:cNvPr id="4" name="">
            <a:extLst xmlns:a="http://schemas.openxmlformats.org/drawingml/2006/main">
              <a:ext uri="{FF2B5EF4-FFF2-40B4-BE49-F238E27FC236}">
                <a16:creationId xmlns:a16="http://schemas.microsoft.com/office/drawing/2014/main" id="{3D62DF9B-237A-4E0C-8DB7-01163A9C4F9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3CA55DA-60AB-4519-B9DA-7E0419BD7C9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training_data = modelling_data[is_training_equipment].copy()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validation_data = modelling_data[is_validation_equipment].copy()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test_data = modelling_data[is_test_equipment].copy()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feature_columns = ["load_pct", "ambient_c"]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print(len(training_data), len(validation_data), len(test_data))</a:t>
            </a:r>
          </a:p>
        </p:txBody>
      </p:sp>
      <p:sp>
        <p:nvSpPr>
          <p:cNvPr id="6" name="">
            <a:extLst xmlns:a="http://schemas.openxmlformats.org/drawingml/2006/main">
              <a:ext uri="{FF2B5EF4-FFF2-40B4-BE49-F238E27FC236}">
                <a16:creationId xmlns:a16="http://schemas.microsoft.com/office/drawing/2014/main" id="{BCA1563A-72E3-451A-9293-A2D9611CE7B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7490A8DD-A6FC-43CF-BE65-5EF042E0B0B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45B5A7E3-084C-4A1C-93AB-70BCDAC03E2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17</a:t>
            </a:r>
          </a:p>
        </p:txBody>
      </p:sp>
    </p:spTree>
    <p:extLst>
      <p:ext uri="{BB962C8B-B14F-4D97-AF65-F5344CB8AC3E}">
        <p14:creationId xmlns:p14="http://schemas.microsoft.com/office/powerpoint/2010/main" val="97881945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620BF40-7876-4912-83BF-BA383767316C}"/>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B4D6F4F-F5FD-4FF4-AB7E-DABFF34EB496}"/>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Fitting a line to observations</a:t>
            </a:r>
          </a:p>
        </p:txBody>
      </p:sp>
      <p:pic>
        <p:nvPicPr>
          <p:cNvPr id="3" name="">
            <a:extLst xmlns:a="http://schemas.openxmlformats.org/drawingml/2006/main">
              <a:ext uri="{FF2B5EF4-FFF2-40B4-BE49-F238E27FC236}">
                <a16:creationId xmlns:a16="http://schemas.microsoft.com/office/drawing/2014/main" id="{B28E779B-A9CE-4DD2-9DAD-F2C46CACB5E2}"/>
              </a:ext>
            </a:extLst>
          </p:cNvPr>
          <p:cNvPicPr>
            <a:picLocks xmlns:a="http://schemas.openxmlformats.org/drawingml/2006/main" noChangeAspect="1"/>
          </p:cNvPicPr>
          <p:nvPr/>
        </p:nvPicPr>
        <p:blipFill>
          <a:blip xmlns:r="http://schemas.openxmlformats.org/officeDocument/2006/relationships" xmlns:a="http://schemas.openxmlformats.org/drawingml/2006/main" r:embed="Radc3c3e0346b43a8"/>
          <a:stretch xmlns:a="http://schemas.openxmlformats.org/drawingml/2006/main"/>
        </p:blipFill>
        <p:spPr>
          <a:xfrm xmlns:a="http://schemas.openxmlformats.org/drawingml/2006/main">
            <a:off x="333375" y="1631613"/>
            <a:ext cx="11525250" cy="34709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D8BAB7AF-0539-4058-BE0B-CEA9BF58046A}"/>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CC81291-0BE2-4A90-9CC8-489768F11886}"/>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fitted line minimises the sum of squared vertical baseline_errors.</a:t>
            </a:r>
          </a:p>
        </p:txBody>
      </p:sp>
      <p:sp>
        <p:nvSpPr>
          <p:cNvPr id="6" name="">
            <a:extLst xmlns:a="http://schemas.openxmlformats.org/drawingml/2006/main">
              <a:ext uri="{FF2B5EF4-FFF2-40B4-BE49-F238E27FC236}">
                <a16:creationId xmlns:a16="http://schemas.microsoft.com/office/drawing/2014/main" id="{922709FD-6216-4526-A752-F951EDC52D0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18</a:t>
            </a:r>
          </a:p>
        </p:txBody>
      </p:sp>
    </p:spTree>
    <p:extLst>
      <p:ext uri="{BB962C8B-B14F-4D97-AF65-F5344CB8AC3E}">
        <p14:creationId xmlns:p14="http://schemas.microsoft.com/office/powerpoint/2010/main" val="840401228"/>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A0A1B0B-2A94-4508-8280-60ED939FE99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E92E0A2-6E97-42B2-88DD-0B2530FFC8E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0C21BF8-1593-4EA0-BBD3-84F29A4FF29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 a model with missing inputs</a:t>
            </a:r>
          </a:p>
        </p:txBody>
      </p:sp>
      <p:sp>
        <p:nvSpPr>
          <p:cNvPr id="4" name="">
            <a:extLst xmlns:a="http://schemas.openxmlformats.org/drawingml/2006/main">
              <a:ext uri="{FF2B5EF4-FFF2-40B4-BE49-F238E27FC236}">
                <a16:creationId xmlns:a16="http://schemas.microsoft.com/office/drawing/2014/main" id="{93EC3FB3-7758-40E2-A9A5-61A16DA1932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1D34B3A-98C1-454E-862C-9D6219463F3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3C5A75A-E3B0-4E18-8CB2-501131FD23BC}"/>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training_data[features] selects the two input columns as a equipment_data. training_data["target"] selects the observed target as a Series.</a:t>
            </a:r>
          </a:p>
        </p:txBody>
      </p:sp>
      <p:sp>
        <p:nvSpPr>
          <p:cNvPr id="7" name="">
            <a:extLst xmlns:a="http://schemas.openxmlformats.org/drawingml/2006/main">
              <a:ext uri="{FF2B5EF4-FFF2-40B4-BE49-F238E27FC236}">
                <a16:creationId xmlns:a16="http://schemas.microsoft.com/office/drawing/2014/main" id="{DB1F6213-75D3-4014-8C04-0A6FBD74773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SimpleImputer(strategy="median") learns input fill values from training rows. make_pipeline links that operation to LinearRegression. fit learns the steps and predict reuses them.</a:t>
            </a:r>
          </a:p>
        </p:txBody>
      </p:sp>
      <p:sp>
        <p:nvSpPr>
          <p:cNvPr id="8" name="">
            <a:extLst xmlns:a="http://schemas.openxmlformats.org/drawingml/2006/main">
              <a:ext uri="{FF2B5EF4-FFF2-40B4-BE49-F238E27FC236}">
                <a16:creationId xmlns:a16="http://schemas.microsoft.com/office/drawing/2014/main" id="{50D14DD2-6ACB-43F7-ADDC-EC043BD2764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19</a:t>
            </a:r>
          </a:p>
        </p:txBody>
      </p:sp>
    </p:spTree>
    <p:extLst>
      <p:ext uri="{BB962C8B-B14F-4D97-AF65-F5344CB8AC3E}">
        <p14:creationId xmlns:p14="http://schemas.microsoft.com/office/powerpoint/2010/main" val="51026966"/>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10A67F1-AAC5-46FF-942C-45282931CC0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3DC202F-8455-40E1-B814-B0C992DCE45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C0E59AC-F884-4D36-A3F5-832C890B509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B65D265E-F820-4908-A431-3365B3764CC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38D7A8E-3C70-411F-BFF5-51D255DFADD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8271A31-F475-4C2E-9002-B41B0575B69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Returning plain values: series.tolist() or array.tolist() returns a Python list of values, without pandas row labels. Preserve their order when pairing actual values and validation_predictions.</a:t>
            </a:r>
          </a:p>
        </p:txBody>
      </p:sp>
      <p:sp>
        <p:nvSpPr>
          <p:cNvPr id="7" name="">
            <a:extLst xmlns:a="http://schemas.openxmlformats.org/drawingml/2006/main">
              <a:ext uri="{FF2B5EF4-FFF2-40B4-BE49-F238E27FC236}">
                <a16:creationId xmlns:a16="http://schemas.microsoft.com/office/drawing/2014/main" id="{F2D7406E-1AA1-4877-90D8-2BE66224116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Rounded display: series.round(3) returns values rounded to three decimal places. Python round(number, 3) rounds one number. Keep unrounded calculations for returned assessment answers.</a:t>
            </a:r>
          </a:p>
        </p:txBody>
      </p:sp>
      <p:sp>
        <p:nvSpPr>
          <p:cNvPr id="8" name="">
            <a:extLst xmlns:a="http://schemas.openxmlformats.org/drawingml/2006/main">
              <a:ext uri="{FF2B5EF4-FFF2-40B4-BE49-F238E27FC236}">
                <a16:creationId xmlns:a16="http://schemas.microsoft.com/office/drawing/2014/main" id="{54EDA324-775D-4A7E-BAB0-6A6E23FD2E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20</a:t>
            </a:r>
          </a:p>
        </p:txBody>
      </p:sp>
    </p:spTree>
    <p:extLst>
      <p:ext uri="{BB962C8B-B14F-4D97-AF65-F5344CB8AC3E}">
        <p14:creationId xmlns:p14="http://schemas.microsoft.com/office/powerpoint/2010/main" val="202802907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B2F2340-6513-44D0-BABF-9A177F0E33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0F3A64F-BB29-4D4B-9F75-E94B079425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67D7DF4-223D-423F-B50E-634810D7D6D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sequence of model steps / Filling model inputs</a:t>
            </a:r>
          </a:p>
        </p:txBody>
      </p:sp>
      <p:sp>
        <p:nvSpPr>
          <p:cNvPr id="4" name="">
            <a:extLst xmlns:a="http://schemas.openxmlformats.org/drawingml/2006/main">
              <a:ext uri="{FF2B5EF4-FFF2-40B4-BE49-F238E27FC236}">
                <a16:creationId xmlns:a16="http://schemas.microsoft.com/office/drawing/2014/main" id="{5C782EB6-A1DD-477F-A87D-21510152013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999A41E-C388-4BA5-BF61-61798EDFE4C2}"/>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B6E8ACA-254A-4041-B458-A39B54AA345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make_pipeline(imputer, estimator) links preprocessing and prediction. fit learns the imputer and estimator on training rows. predict applies the learned steps to new rows in the same order.</a:t>
            </a:r>
          </a:p>
        </p:txBody>
      </p:sp>
      <p:sp>
        <p:nvSpPr>
          <p:cNvPr id="7" name="">
            <a:extLst xmlns:a="http://schemas.openxmlformats.org/drawingml/2006/main">
              <a:ext uri="{FF2B5EF4-FFF2-40B4-BE49-F238E27FC236}">
                <a16:creationId xmlns:a16="http://schemas.microsoft.com/office/drawing/2014/main" id="{69C8CAFE-6A10-4802-BAA2-5C69B65202B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SimpleImputer(strategy="median") learns a median for each input column during fit. It uses those training medians to fill gaps later. Never learn replacement values from validation or test rows.</a:t>
            </a:r>
          </a:p>
        </p:txBody>
      </p:sp>
      <p:sp>
        <p:nvSpPr>
          <p:cNvPr id="8" name="">
            <a:extLst xmlns:a="http://schemas.openxmlformats.org/drawingml/2006/main">
              <a:ext uri="{FF2B5EF4-FFF2-40B4-BE49-F238E27FC236}">
                <a16:creationId xmlns:a16="http://schemas.microsoft.com/office/drawing/2014/main" id="{DD9BBB51-125A-4244-8F08-FDFBB3A54A5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21</a:t>
            </a:r>
          </a:p>
        </p:txBody>
      </p:sp>
    </p:spTree>
    <p:extLst>
      <p:ext uri="{BB962C8B-B14F-4D97-AF65-F5344CB8AC3E}">
        <p14:creationId xmlns:p14="http://schemas.microsoft.com/office/powerpoint/2010/main" val="16695088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928DEA5-3B02-41BC-AEB7-C679E1075C4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F2285CD-B8FC-4030-9B92-C8C64334636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1415052-2814-4D31-AD9C-3EADE7AE778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Creating linear regression / Learning from training examples</a:t>
            </a:r>
          </a:p>
        </p:txBody>
      </p:sp>
      <p:sp>
        <p:nvSpPr>
          <p:cNvPr id="4" name="">
            <a:extLst xmlns:a="http://schemas.openxmlformats.org/drawingml/2006/main">
              <a:ext uri="{FF2B5EF4-FFF2-40B4-BE49-F238E27FC236}">
                <a16:creationId xmlns:a16="http://schemas.microsoft.com/office/drawing/2014/main" id="{8E293B9F-7C09-4FD1-A589-160A2CEFEDE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DEB5A7D-43A4-4D51-900B-0C1B43E8E68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C1E6A8E-826D-4781-A3D7-5B3166A83F4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LinearRegression() creates an unfitted model. It will learn coefficients and an intercept from training examples. Creating it alone does not train it or make predictions.</a:t>
            </a:r>
          </a:p>
        </p:txBody>
      </p:sp>
      <p:sp>
        <p:nvSpPr>
          <p:cNvPr id="7" name="">
            <a:extLst xmlns:a="http://schemas.openxmlformats.org/drawingml/2006/main">
              <a:ext uri="{FF2B5EF4-FFF2-40B4-BE49-F238E27FC236}">
                <a16:creationId xmlns:a16="http://schemas.microsoft.com/office/drawing/2014/main" id="{6FB8EFD9-72BF-424F-A472-0BF5B2DB807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model.fit(input_table, observed_targets) learns model settings from paired rows. The two inputs must describe the same observations in the same order. Call fit before predict.</a:t>
            </a:r>
          </a:p>
        </p:txBody>
      </p:sp>
      <p:sp>
        <p:nvSpPr>
          <p:cNvPr id="8" name="">
            <a:extLst xmlns:a="http://schemas.openxmlformats.org/drawingml/2006/main">
              <a:ext uri="{FF2B5EF4-FFF2-40B4-BE49-F238E27FC236}">
                <a16:creationId xmlns:a16="http://schemas.microsoft.com/office/drawing/2014/main" id="{40426B6F-B341-4A1C-BB6E-6ABF03CB5B3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22</a:t>
            </a:r>
          </a:p>
        </p:txBody>
      </p:sp>
    </p:spTree>
    <p:extLst>
      <p:ext uri="{BB962C8B-B14F-4D97-AF65-F5344CB8AC3E}">
        <p14:creationId xmlns:p14="http://schemas.microsoft.com/office/powerpoint/2010/main" val="2917424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72EDF34-FB04-414A-B988-AF12A957F32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4965EE7-99AA-4968-BC1A-2221E7B6106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67D8BF5-45DE-4D27-B322-AF119432E2C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Predicting new targets / Selecting a short preview</a:t>
            </a:r>
          </a:p>
        </p:txBody>
      </p:sp>
      <p:sp>
        <p:nvSpPr>
          <p:cNvPr id="4" name="">
            <a:extLst xmlns:a="http://schemas.openxmlformats.org/drawingml/2006/main">
              <a:ext uri="{FF2B5EF4-FFF2-40B4-BE49-F238E27FC236}">
                <a16:creationId xmlns:a16="http://schemas.microsoft.com/office/drawing/2014/main" id="{ABF4E75E-71B6-4162-BBE0-BA0B66DD6EE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E7CD118-ECA0-41FD-AD54-FFA1D015498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321F89D-2C5F-42CB-AA5D-4A2C0AD6D88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model.predict(input_table) returns one prediction per input row. Use the same feature columns and order as during training. Prediction uses learned settings; it does not refit the model.</a:t>
            </a:r>
          </a:p>
        </p:txBody>
      </p:sp>
      <p:sp>
        <p:nvSpPr>
          <p:cNvPr id="7" name="">
            <a:extLst xmlns:a="http://schemas.openxmlformats.org/drawingml/2006/main">
              <a:ext uri="{FF2B5EF4-FFF2-40B4-BE49-F238E27FC236}">
                <a16:creationId xmlns:a16="http://schemas.microsoft.com/office/drawing/2014/main" id="{B9C07B50-7B3A-49BA-91BA-2B9D5086649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values[:5] selects positions 0 through 4, or fewer if the sequence is shorter. The stop position is excluded. This preview does not change the full array stored in the variable.</a:t>
            </a:r>
          </a:p>
        </p:txBody>
      </p:sp>
      <p:sp>
        <p:nvSpPr>
          <p:cNvPr id="8" name="">
            <a:extLst xmlns:a="http://schemas.openxmlformats.org/drawingml/2006/main">
              <a:ext uri="{FF2B5EF4-FFF2-40B4-BE49-F238E27FC236}">
                <a16:creationId xmlns:a16="http://schemas.microsoft.com/office/drawing/2014/main" id="{8E7F5441-CB9B-45AA-8290-6B21C786027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23</a:t>
            </a:r>
          </a:p>
        </p:txBody>
      </p:sp>
    </p:spTree>
    <p:extLst>
      <p:ext uri="{BB962C8B-B14F-4D97-AF65-F5344CB8AC3E}">
        <p14:creationId xmlns:p14="http://schemas.microsoft.com/office/powerpoint/2010/main" val="15664102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1733032-E31B-49D3-89AF-83AF6359BD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9548376-5B54-4658-AE36-2562CB41036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2DE4434-1418-4082-B691-556F1B04801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Standard names for model inputs</a:t>
            </a:r>
          </a:p>
        </p:txBody>
      </p:sp>
      <p:sp>
        <p:nvSpPr>
          <p:cNvPr id="4" name="">
            <a:extLst xmlns:a="http://schemas.openxmlformats.org/drawingml/2006/main">
              <a:ext uri="{FF2B5EF4-FFF2-40B4-BE49-F238E27FC236}">
                <a16:creationId xmlns:a16="http://schemas.microsoft.com/office/drawing/2014/main" id="{F2A9CEEA-C581-4E83-A53B-A1441092777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B49A664-9162-48BF-B45C-7942061D58D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X_train: training input columns. y_train: the matching observed targets.</a:t>
            </a:r>
          </a:p>
        </p:txBody>
      </p:sp>
      <p:sp>
        <p:nvSpPr>
          <p:cNvPr id="6" name="">
            <a:extLst xmlns:a="http://schemas.openxmlformats.org/drawingml/2006/main">
              <a:ext uri="{FF2B5EF4-FFF2-40B4-BE49-F238E27FC236}">
                <a16:creationId xmlns:a16="http://schemas.microsoft.com/office/drawing/2014/main" id="{1B2C03D9-B393-4EBC-86A9-2251BF32B2F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1865FBB-9839-4EAB-982A-B8DDC1A585D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X_valid: validation input columns. y_valid: their observed targets, kept for evaluation.</a:t>
            </a:r>
          </a:p>
        </p:txBody>
      </p:sp>
      <p:sp>
        <p:nvSpPr>
          <p:cNvPr id="8" name="">
            <a:extLst xmlns:a="http://schemas.openxmlformats.org/drawingml/2006/main">
              <a:ext uri="{FF2B5EF4-FFF2-40B4-BE49-F238E27FC236}">
                <a16:creationId xmlns:a16="http://schemas.microsoft.com/office/drawing/2014/main" id="{198DB4BE-3DC2-4DA5-AB03-AF00E899B00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7995397-51DE-4456-B54E-A6D13CDAF89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Capital X usually means a two-dimensional table; lowercase y usually means one target per row.</a:t>
            </a:r>
          </a:p>
        </p:txBody>
      </p:sp>
      <p:sp>
        <p:nvSpPr>
          <p:cNvPr id="10" name="">
            <a:extLst xmlns:a="http://schemas.openxmlformats.org/drawingml/2006/main">
              <a:ext uri="{FF2B5EF4-FFF2-40B4-BE49-F238E27FC236}">
                <a16:creationId xmlns:a16="http://schemas.microsoft.com/office/drawing/2014/main" id="{A10CEE9E-CCE9-4123-8854-89D030D3E58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24</a:t>
            </a:r>
          </a:p>
        </p:txBody>
      </p:sp>
    </p:spTree>
    <p:extLst>
      <p:ext uri="{BB962C8B-B14F-4D97-AF65-F5344CB8AC3E}">
        <p14:creationId xmlns:p14="http://schemas.microsoft.com/office/powerpoint/2010/main" val="1000412262"/>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6AA41ED-AF27-4B19-8DAA-11F666D66F3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1A9A6CB-D069-4344-82C0-B19BCA83EFF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C2BC7DC-3382-445B-8F77-1E2BEED9D14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Separate inputs from answers</a:t>
            </a:r>
          </a:p>
        </p:txBody>
      </p:sp>
      <p:sp>
        <p:nvSpPr>
          <p:cNvPr id="4" name="">
            <a:extLst xmlns:a="http://schemas.openxmlformats.org/drawingml/2006/main">
              <a:ext uri="{FF2B5EF4-FFF2-40B4-BE49-F238E27FC236}">
                <a16:creationId xmlns:a16="http://schemas.microsoft.com/office/drawing/2014/main" id="{6900C648-B9B9-4039-BE94-0261F8E6BB99}"/>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B9C3D9D-4004-4BBA-92DE-25EAECA6EB1C}"/>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X_train contains the input columns; y_train contains their observed targets.</a:t>
            </a:r>
          </a:p>
        </p:txBody>
      </p:sp>
      <p:sp>
        <p:nvSpPr>
          <p:cNvPr id="6" name="">
            <a:extLst xmlns:a="http://schemas.openxmlformats.org/drawingml/2006/main">
              <a:ext uri="{FF2B5EF4-FFF2-40B4-BE49-F238E27FC236}">
                <a16:creationId xmlns:a16="http://schemas.microsoft.com/office/drawing/2014/main" id="{DAC5ADC5-4265-49AB-9E70-7CCC7E34B574}"/>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X_valid contains the same input columns for validation; y_valid holds the answers for checking predictions.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Never include target among the inputs.</a:t>
            </a:r>
          </a:p>
        </p:txBody>
      </p:sp>
      <p:sp>
        <p:nvSpPr>
          <p:cNvPr id="7" name="">
            <a:extLst xmlns:a="http://schemas.openxmlformats.org/drawingml/2006/main">
              <a:ext uri="{FF2B5EF4-FFF2-40B4-BE49-F238E27FC236}">
                <a16:creationId xmlns:a16="http://schemas.microsoft.com/office/drawing/2014/main" id="{58891BDC-3DAF-4939-8FC3-6A5644D9F5E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25</a:t>
            </a:r>
          </a:p>
        </p:txBody>
      </p:sp>
    </p:spTree>
    <p:extLst>
      <p:ext uri="{BB962C8B-B14F-4D97-AF65-F5344CB8AC3E}">
        <p14:creationId xmlns:p14="http://schemas.microsoft.com/office/powerpoint/2010/main" val="777531193"/>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0621F89-1199-4CA7-AA06-A1555515B4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7B1C3F1-8437-47C7-AA36-EDFEDE33DFB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8D83E24-5E31-4D7F-ADBA-D758C6EE79D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Training and predicting on the supplied data — step 1</a:t>
            </a:r>
          </a:p>
        </p:txBody>
      </p:sp>
      <p:sp>
        <p:nvSpPr>
          <p:cNvPr id="4" name="">
            <a:extLst xmlns:a="http://schemas.openxmlformats.org/drawingml/2006/main">
              <a:ext uri="{FF2B5EF4-FFF2-40B4-BE49-F238E27FC236}">
                <a16:creationId xmlns:a16="http://schemas.microsoft.com/office/drawing/2014/main" id="{918555E4-0D9A-4CB0-8824-072AF724D93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6AE2D72-7AFF-4BC4-927C-43E5B676379A}"/>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X_train = training_data[feature_columns]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y_train = training_data["target"]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X_valid = validation_data[feature_columns]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y_valid = validation_data["target"]</a:t>
            </a:r>
          </a:p>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sklearn.impute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SimpleImputer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sklearn.pipeline import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sklearn.linear_model import LinearRegression</a:t>
            </a:r>
          </a:p>
        </p:txBody>
      </p:sp>
      <p:sp>
        <p:nvSpPr>
          <p:cNvPr id="6" name="">
            <a:extLst xmlns:a="http://schemas.openxmlformats.org/drawingml/2006/main">
              <a:ext uri="{FF2B5EF4-FFF2-40B4-BE49-F238E27FC236}">
                <a16:creationId xmlns:a16="http://schemas.microsoft.com/office/drawing/2014/main" id="{D3021846-1D0D-422D-9BF2-578F518207E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X_train: input columns used for training.</a:t>
            </a:r>
          </a:p>
        </p:txBody>
      </p:sp>
      <p:sp>
        <p:nvSpPr>
          <p:cNvPr id="7" name="">
            <a:extLst xmlns:a="http://schemas.openxmlformats.org/drawingml/2006/main">
              <a:ext uri="{FF2B5EF4-FFF2-40B4-BE49-F238E27FC236}">
                <a16:creationId xmlns:a16="http://schemas.microsoft.com/office/drawing/2014/main" id="{0EB320DE-DF36-495D-BBAA-E0852A8FD81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D445D4D3-4FD9-4B43-875D-69E28EF6FF4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26</a:t>
            </a:r>
          </a:p>
        </p:txBody>
      </p:sp>
    </p:spTree>
    <p:extLst>
      <p:ext uri="{BB962C8B-B14F-4D97-AF65-F5344CB8AC3E}">
        <p14:creationId xmlns:p14="http://schemas.microsoft.com/office/powerpoint/2010/main" val="1204110755"/>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24ADCF2-8A34-454C-BB42-1DE53429F9B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67C5789-5AFB-48A8-85ED-1DCCFC9AFED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2A05A8D-5524-4FF7-9C6D-6288DD8D981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Create, then train, then predict</a:t>
            </a:r>
          </a:p>
        </p:txBody>
      </p:sp>
      <p:sp>
        <p:nvSpPr>
          <p:cNvPr id="4" name="">
            <a:extLst xmlns:a="http://schemas.openxmlformats.org/drawingml/2006/main">
              <a:ext uri="{FF2B5EF4-FFF2-40B4-BE49-F238E27FC236}">
                <a16:creationId xmlns:a16="http://schemas.microsoft.com/office/drawing/2014/main" id="{2DECFBB3-C90C-43EE-A2D8-1D1F7F8F6D93}"/>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2061970-7E05-40BD-A372-52510FAB6024}"/>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Creating an estimator sets up an empty model. fit learns settings from training inputs and their targets. predict uses those learned settings on new inputs; it does not learn from the validation targets.</a:t>
            </a:r>
          </a:p>
        </p:txBody>
      </p:sp>
      <p:sp>
        <p:nvSpPr>
          <p:cNvPr id="6" name="">
            <a:extLst xmlns:a="http://schemas.openxmlformats.org/drawingml/2006/main">
              <a:ext uri="{FF2B5EF4-FFF2-40B4-BE49-F238E27FC236}">
                <a16:creationId xmlns:a16="http://schemas.microsoft.com/office/drawing/2014/main" id="{6D9512F4-A0E5-47AA-A187-515288D5FE9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27</a:t>
            </a:r>
          </a:p>
        </p:txBody>
      </p:sp>
    </p:spTree>
    <p:extLst>
      <p:ext uri="{BB962C8B-B14F-4D97-AF65-F5344CB8AC3E}">
        <p14:creationId xmlns:p14="http://schemas.microsoft.com/office/powerpoint/2010/main" val="1340675916"/>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B3879A6-BF43-4B6B-B3C5-B4A6F80B378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65F9DC3-41C6-45A4-872C-14F5D4742E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99D980E-D237-487D-91CF-B7A2AE76A5A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Training and predicting on the supplied data — step 2</a:t>
            </a:r>
          </a:p>
        </p:txBody>
      </p:sp>
      <p:sp>
        <p:nvSpPr>
          <p:cNvPr id="4" name="">
            <a:extLst xmlns:a="http://schemas.openxmlformats.org/drawingml/2006/main">
              <a:ext uri="{FF2B5EF4-FFF2-40B4-BE49-F238E27FC236}">
                <a16:creationId xmlns:a16="http://schemas.microsoft.com/office/drawing/2014/main" id="{A7842FD2-1BAA-4FE0-A860-EEC799B9386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DE4A1CF-7F0F-4C86-8BDE-EDB5EFC232D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linear_model =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SimpleImputer(strategy="median"), LinearRegression()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linear_model.fit(X_train, y_train)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validation_predictions = linear_model.predict(X_valid)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print(validation_predictions[:5].round(3).tolist())</a:t>
            </a:r>
          </a:p>
        </p:txBody>
      </p:sp>
      <p:sp>
        <p:nvSpPr>
          <p:cNvPr id="6" name="">
            <a:extLst xmlns:a="http://schemas.openxmlformats.org/drawingml/2006/main">
              <a:ext uri="{FF2B5EF4-FFF2-40B4-BE49-F238E27FC236}">
                <a16:creationId xmlns:a16="http://schemas.microsoft.com/office/drawing/2014/main" id="{C8365CF7-7B9D-461D-AAE0-5A21D318AE1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X_train: input columns used for training.</a:t>
            </a:r>
          </a:p>
        </p:txBody>
      </p:sp>
      <p:sp>
        <p:nvSpPr>
          <p:cNvPr id="7" name="">
            <a:extLst xmlns:a="http://schemas.openxmlformats.org/drawingml/2006/main">
              <a:ext uri="{FF2B5EF4-FFF2-40B4-BE49-F238E27FC236}">
                <a16:creationId xmlns:a16="http://schemas.microsoft.com/office/drawing/2014/main" id="{AA89A128-E9C6-4361-B6BA-CD8E9F88345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1BCD779C-DEC7-40E2-99D4-36E5F4D4A5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28</a:t>
            </a:r>
          </a:p>
        </p:txBody>
      </p:sp>
    </p:spTree>
    <p:extLst>
      <p:ext uri="{BB962C8B-B14F-4D97-AF65-F5344CB8AC3E}">
        <p14:creationId xmlns:p14="http://schemas.microsoft.com/office/powerpoint/2010/main" val="595415638"/>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4BEC060-519D-461E-AAEE-67B2277CE1A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09469F5-E262-4613-8ADB-07230360ED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EA3609C-AB6F-4F8B-A136-93C72128DF8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Baseline and tree comparisons</a:t>
            </a:r>
          </a:p>
        </p:txBody>
      </p:sp>
      <p:sp>
        <p:nvSpPr>
          <p:cNvPr id="4" name="">
            <a:extLst xmlns:a="http://schemas.openxmlformats.org/drawingml/2006/main">
              <a:ext uri="{FF2B5EF4-FFF2-40B4-BE49-F238E27FC236}">
                <a16:creationId xmlns:a16="http://schemas.microsoft.com/office/drawing/2014/main" id="{67CEE596-BB6C-4556-879F-B14FF807C57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8A693E9-9821-4122-8C82-7F4EB35EAF2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38F8275-8431-4A8A-A8B3-C5A21D3DFAB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mean baseline predicts the training target mean for every validation observation. A regression tree splits input space and predicts from training observations in each leaf.</a:t>
            </a:r>
          </a:p>
        </p:txBody>
      </p:sp>
      <p:sp>
        <p:nvSpPr>
          <p:cNvPr id="7" name="">
            <a:extLst xmlns:a="http://schemas.openxmlformats.org/drawingml/2006/main">
              <a:ext uri="{FF2B5EF4-FFF2-40B4-BE49-F238E27FC236}">
                <a16:creationId xmlns:a16="http://schemas.microsoft.com/office/drawing/2014/main" id="{A5212F90-99FF-4D54-A333-28C26F0B6CD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Use the same training rows and validation rows for both. max_depth=4 limits tree depth and random_state=17 makes the example reproducible.</a:t>
            </a:r>
          </a:p>
        </p:txBody>
      </p:sp>
      <p:sp>
        <p:nvSpPr>
          <p:cNvPr id="8" name="">
            <a:extLst xmlns:a="http://schemas.openxmlformats.org/drawingml/2006/main">
              <a:ext uri="{FF2B5EF4-FFF2-40B4-BE49-F238E27FC236}">
                <a16:creationId xmlns:a16="http://schemas.microsoft.com/office/drawing/2014/main" id="{AC4283B0-E28F-437B-AA4A-4CE78419A43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29</a:t>
            </a:r>
          </a:p>
        </p:txBody>
      </p:sp>
    </p:spTree>
    <p:extLst>
      <p:ext uri="{BB962C8B-B14F-4D97-AF65-F5344CB8AC3E}">
        <p14:creationId xmlns:p14="http://schemas.microsoft.com/office/powerpoint/2010/main" val="714973835"/>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A064FAB-98B5-46DC-93D5-EFC4F6F8238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448BBA0-0487-4A01-96CE-5D96CD366FC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260AD50-4345-467E-B93C-28D130F4706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training-mean baseline / Creating a regression tree</a:t>
            </a:r>
          </a:p>
        </p:txBody>
      </p:sp>
      <p:sp>
        <p:nvSpPr>
          <p:cNvPr id="4" name="">
            <a:extLst xmlns:a="http://schemas.openxmlformats.org/drawingml/2006/main">
              <a:ext uri="{FF2B5EF4-FFF2-40B4-BE49-F238E27FC236}">
                <a16:creationId xmlns:a16="http://schemas.microsoft.com/office/drawing/2014/main" id="{B78BF716-E140-4C4D-A8FA-E9CE6E3B9A4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C6BF6A3-7C9F-4F64-ACEA-7D4A37A7699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7142255-1C80-41EF-AE43-08B0EF94851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DummyRegressor(strategy="mean") learns the mean training target during fit. It predicts that same value for every new row. Compare a more complex model against this simple baseline.</a:t>
            </a:r>
          </a:p>
        </p:txBody>
      </p:sp>
      <p:sp>
        <p:nvSpPr>
          <p:cNvPr id="7" name="">
            <a:extLst xmlns:a="http://schemas.openxmlformats.org/drawingml/2006/main">
              <a:ext uri="{FF2B5EF4-FFF2-40B4-BE49-F238E27FC236}">
                <a16:creationId xmlns:a16="http://schemas.microsoft.com/office/drawing/2014/main" id="{6617BAFC-93E0-4369-941D-3F806FFD63F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DecisionTreeRegressor splits inputs into regions with different predicted values. max_depth limits the number of split levels. random_state fixes random choices so the example can be repeated.</a:t>
            </a:r>
          </a:p>
        </p:txBody>
      </p:sp>
      <p:sp>
        <p:nvSpPr>
          <p:cNvPr id="8" name="">
            <a:extLst xmlns:a="http://schemas.openxmlformats.org/drawingml/2006/main">
              <a:ext uri="{FF2B5EF4-FFF2-40B4-BE49-F238E27FC236}">
                <a16:creationId xmlns:a16="http://schemas.microsoft.com/office/drawing/2014/main" id="{11D39159-0B82-446F-8CEA-3E788F953D9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30</a:t>
            </a:r>
          </a:p>
        </p:txBody>
      </p:sp>
    </p:spTree>
    <p:extLst>
      <p:ext uri="{BB962C8B-B14F-4D97-AF65-F5344CB8AC3E}">
        <p14:creationId xmlns:p14="http://schemas.microsoft.com/office/powerpoint/2010/main" val="186891525"/>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9B11C03-927F-45D4-B3D7-1EC900D363B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CCF577F-28E4-432B-B915-5749232EB8D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1649DAC-7D8A-4E81-A19B-8904BA4F152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Start with a simple reference</a:t>
            </a:r>
          </a:p>
        </p:txBody>
      </p:sp>
      <p:sp>
        <p:nvSpPr>
          <p:cNvPr id="4" name="">
            <a:extLst xmlns:a="http://schemas.openxmlformats.org/drawingml/2006/main">
              <a:ext uri="{FF2B5EF4-FFF2-40B4-BE49-F238E27FC236}">
                <a16:creationId xmlns:a16="http://schemas.microsoft.com/office/drawing/2014/main" id="{58323408-FE81-417F-9AFE-ABEDAE041B2D}"/>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53BCD32-44D4-427D-B209-F6E7DF65606D}"/>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training-mean baseline predicts the same value for every validation row. fit calculates that value from y_train.</a:t>
            </a:r>
          </a:p>
        </p:txBody>
      </p:sp>
      <p:sp>
        <p:nvSpPr>
          <p:cNvPr id="6" name="">
            <a:extLst xmlns:a="http://schemas.openxmlformats.org/drawingml/2006/main">
              <a:ext uri="{FF2B5EF4-FFF2-40B4-BE49-F238E27FC236}">
                <a16:creationId xmlns:a16="http://schemas.microsoft.com/office/drawing/2014/main" id="{2C700CCE-FA60-45B3-A686-DEB1C006078F}"/>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its error with the more complex model on the same validation rows.</a:t>
            </a:r>
          </a:p>
        </p:txBody>
      </p:sp>
      <p:sp>
        <p:nvSpPr>
          <p:cNvPr id="7" name="">
            <a:extLst xmlns:a="http://schemas.openxmlformats.org/drawingml/2006/main">
              <a:ext uri="{FF2B5EF4-FFF2-40B4-BE49-F238E27FC236}">
                <a16:creationId xmlns:a16="http://schemas.microsoft.com/office/drawing/2014/main" id="{F1856D46-61FB-4026-9B9C-E3244769B80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31</a:t>
            </a:r>
          </a:p>
        </p:txBody>
      </p:sp>
    </p:spTree>
    <p:extLst>
      <p:ext uri="{BB962C8B-B14F-4D97-AF65-F5344CB8AC3E}">
        <p14:creationId xmlns:p14="http://schemas.microsoft.com/office/powerpoint/2010/main" val="674174226"/>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B238ACD-7942-4C07-9D4D-82E60245086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CEC3E5E-7E96-45AE-AE52-26C59F01C4B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ECBE16D-338D-47B1-B4BA-E74A98C16FD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Baseline and tree on the same CSV rows — step 1</a:t>
            </a:r>
          </a:p>
        </p:txBody>
      </p:sp>
      <p:sp>
        <p:nvSpPr>
          <p:cNvPr id="4" name="">
            <a:extLst xmlns:a="http://schemas.openxmlformats.org/drawingml/2006/main">
              <a:ext uri="{FF2B5EF4-FFF2-40B4-BE49-F238E27FC236}">
                <a16:creationId xmlns:a16="http://schemas.microsoft.com/office/drawing/2014/main" id="{AF5620EC-CBC6-4663-AA95-C05775A6CA0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71B0645-997F-431E-93D3-C467F6741A2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sklearn.dummy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DummyRegressor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sklearn.tree import DecisionTreeRegressor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baseline_model = DummyRegressor(strategy="mean")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baseline_model.fit(X_train, y_train)</a:t>
            </a:r>
          </a:p>
        </p:txBody>
      </p:sp>
      <p:sp>
        <p:nvSpPr>
          <p:cNvPr id="6" name="">
            <a:extLst xmlns:a="http://schemas.openxmlformats.org/drawingml/2006/main">
              <a:ext uri="{FF2B5EF4-FFF2-40B4-BE49-F238E27FC236}">
                <a16:creationId xmlns:a16="http://schemas.microsoft.com/office/drawing/2014/main" id="{908C65C5-FE26-4F8B-8DEF-EC773142D46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baseline_model: a simple reference predictor which always predicts the training target mean.</a:t>
            </a:r>
          </a:p>
        </p:txBody>
      </p:sp>
      <p:sp>
        <p:nvSpPr>
          <p:cNvPr id="7" name="">
            <a:extLst xmlns:a="http://schemas.openxmlformats.org/drawingml/2006/main">
              <a:ext uri="{FF2B5EF4-FFF2-40B4-BE49-F238E27FC236}">
                <a16:creationId xmlns:a16="http://schemas.microsoft.com/office/drawing/2014/main" id="{9513068B-50AC-4F3A-8A4C-E0A8BBBEE0C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DE0944CA-8141-420A-BF8B-C5E36F1B18A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32</a:t>
            </a:r>
          </a:p>
        </p:txBody>
      </p:sp>
    </p:spTree>
    <p:extLst>
      <p:ext uri="{BB962C8B-B14F-4D97-AF65-F5344CB8AC3E}">
        <p14:creationId xmlns:p14="http://schemas.microsoft.com/office/powerpoint/2010/main" val="1350274790"/>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AD3654F-A802-4A8A-91D6-9011DE18871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13AA236-FD1A-469C-B474-B536ABDD077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3F8A0D9-F8DD-4542-B47D-14024E05BE6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Compare a second kind of model</a:t>
            </a:r>
          </a:p>
        </p:txBody>
      </p:sp>
      <p:sp>
        <p:nvSpPr>
          <p:cNvPr id="4" name="">
            <a:extLst xmlns:a="http://schemas.openxmlformats.org/drawingml/2006/main">
              <a:ext uri="{FF2B5EF4-FFF2-40B4-BE49-F238E27FC236}">
                <a16:creationId xmlns:a16="http://schemas.microsoft.com/office/drawing/2014/main" id="{F00C960E-FA5C-4946-B1CC-0F80E9BE86F9}"/>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E297DF8-9F71-4E1A-8497-143D7574C16D}"/>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regression tree learns splits in the input columns. max_depth limits its split levels.</a:t>
            </a:r>
          </a:p>
        </p:txBody>
      </p:sp>
      <p:sp>
        <p:nvSpPr>
          <p:cNvPr id="6" name="">
            <a:extLst xmlns:a="http://schemas.openxmlformats.org/drawingml/2006/main">
              <a:ext uri="{FF2B5EF4-FFF2-40B4-BE49-F238E27FC236}">
                <a16:creationId xmlns:a16="http://schemas.microsoft.com/office/drawing/2014/main" id="{F4C15BBB-ADE0-4A39-8582-600C69C4A0F7}"/>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imputer fills missing inputs using training medians; the tree then learns from those filled inputs.</a:t>
            </a:r>
          </a:p>
        </p:txBody>
      </p:sp>
      <p:sp>
        <p:nvSpPr>
          <p:cNvPr id="7" name="">
            <a:extLst xmlns:a="http://schemas.openxmlformats.org/drawingml/2006/main">
              <a:ext uri="{FF2B5EF4-FFF2-40B4-BE49-F238E27FC236}">
                <a16:creationId xmlns:a16="http://schemas.microsoft.com/office/drawing/2014/main" id="{728CE3B3-ADD8-4D9A-B9CA-FB75CE28643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33</a:t>
            </a:r>
          </a:p>
        </p:txBody>
      </p:sp>
    </p:spTree>
    <p:extLst>
      <p:ext uri="{BB962C8B-B14F-4D97-AF65-F5344CB8AC3E}">
        <p14:creationId xmlns:p14="http://schemas.microsoft.com/office/powerpoint/2010/main" val="509848012"/>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F1EB415-0EA2-4CFA-BDE8-DE668C5301F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1D14DFA-9418-4893-89D3-2EFC4798BEE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106214D-A9DF-44A1-BE77-FA140E72D7B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Baseline and tree on the same CSV rows — step 2</a:t>
            </a:r>
          </a:p>
        </p:txBody>
      </p:sp>
      <p:sp>
        <p:nvSpPr>
          <p:cNvPr id="4" name="">
            <a:extLst xmlns:a="http://schemas.openxmlformats.org/drawingml/2006/main">
              <a:ext uri="{FF2B5EF4-FFF2-40B4-BE49-F238E27FC236}">
                <a16:creationId xmlns:a16="http://schemas.microsoft.com/office/drawing/2014/main" id="{BB6F31BD-3CDB-4B9E-A9C8-907F33D7791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FA8DC14-5DEE-4361-B318-4B371650379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tree_model =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SimpleImputer(strategy="median"),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DecisionTreeRegressor(max_depth=4, random_state=17),</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tree_model.fit(X_train, y_train)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print(baseline_model.predict(X_valid)[:5].round(3).tolist())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print(tree_model.predict(X_valid)[:5].round(3).tolist())</a:t>
            </a:r>
          </a:p>
        </p:txBody>
      </p:sp>
      <p:sp>
        <p:nvSpPr>
          <p:cNvPr id="6" name="">
            <a:extLst xmlns:a="http://schemas.openxmlformats.org/drawingml/2006/main">
              <a:ext uri="{FF2B5EF4-FFF2-40B4-BE49-F238E27FC236}">
                <a16:creationId xmlns:a16="http://schemas.microsoft.com/office/drawing/2014/main" id="{7A451AFE-851C-44B9-88CF-7FD713488FE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baseline_model: a simple reference predictor which always predicts the training target mean.</a:t>
            </a:r>
          </a:p>
        </p:txBody>
      </p:sp>
      <p:sp>
        <p:nvSpPr>
          <p:cNvPr id="7" name="">
            <a:extLst xmlns:a="http://schemas.openxmlformats.org/drawingml/2006/main">
              <a:ext uri="{FF2B5EF4-FFF2-40B4-BE49-F238E27FC236}">
                <a16:creationId xmlns:a16="http://schemas.microsoft.com/office/drawing/2014/main" id="{FDFF0FBE-C2DA-4EC0-AF3B-8F63E45825C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3DF663C5-1090-4BC5-8493-AF74BD39DA0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34</a:t>
            </a:r>
          </a:p>
        </p:txBody>
      </p:sp>
    </p:spTree>
    <p:extLst>
      <p:ext uri="{BB962C8B-B14F-4D97-AF65-F5344CB8AC3E}">
        <p14:creationId xmlns:p14="http://schemas.microsoft.com/office/powerpoint/2010/main" val="1555751972"/>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DC4016B-2D23-4086-A2F9-5406B880ADA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D34DCAA-3727-4F97-AF16-5C03CBEE874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54AFDAE-8B67-44FF-92CC-B45E6776B17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Matching actual values and predictions</a:t>
            </a:r>
          </a:p>
        </p:txBody>
      </p:sp>
      <p:sp>
        <p:nvSpPr>
          <p:cNvPr id="4" name="">
            <a:extLst xmlns:a="http://schemas.openxmlformats.org/drawingml/2006/main">
              <a:ext uri="{FF2B5EF4-FFF2-40B4-BE49-F238E27FC236}">
                <a16:creationId xmlns:a16="http://schemas.microsoft.com/office/drawing/2014/main" id="{001236DD-2547-4634-B5B3-13D7DE0CB68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8F4A5DF-C99E-4FB9-A657-5EC3E3F34B2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CA75753-D54C-44E5-AD40-AFBD8B52BD2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Every validation row has an actual target and its corresponding prediction. Subtract in the same order. abs() gives error magnitude.</a:t>
            </a:r>
          </a:p>
        </p:txBody>
      </p:sp>
      <p:sp>
        <p:nvSpPr>
          <p:cNvPr id="7" name="">
            <a:extLst xmlns:a="http://schemas.openxmlformats.org/drawingml/2006/main">
              <a:ext uri="{FF2B5EF4-FFF2-40B4-BE49-F238E27FC236}">
                <a16:creationId xmlns:a16="http://schemas.microsoft.com/office/drawing/2014/main" id="{D4E7E914-7691-4CB0-A1D1-AD828604BCA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MAE averages absolute baseline_errors. RMSE squares errors, averages them, then takes the square root. Both have the target’s unit.</a:t>
            </a:r>
          </a:p>
        </p:txBody>
      </p:sp>
      <p:sp>
        <p:nvSpPr>
          <p:cNvPr id="8" name="">
            <a:extLst xmlns:a="http://schemas.openxmlformats.org/drawingml/2006/main">
              <a:ext uri="{FF2B5EF4-FFF2-40B4-BE49-F238E27FC236}">
                <a16:creationId xmlns:a16="http://schemas.microsoft.com/office/drawing/2014/main" id="{5D87EA12-8674-4777-8518-27E6969B96D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35</a:t>
            </a:r>
          </a:p>
        </p:txBody>
      </p:sp>
    </p:spTree>
    <p:extLst>
      <p:ext uri="{BB962C8B-B14F-4D97-AF65-F5344CB8AC3E}">
        <p14:creationId xmlns:p14="http://schemas.microsoft.com/office/powerpoint/2010/main" val="1913189594"/>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7352BEA-2234-4432-82BE-DF506931169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DF186EF-6DB3-4FFE-A84B-AE0DC7DA2AB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1968009-DA33-417E-8976-DA5697BCB2F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D1649D02-A0A8-4C2B-9246-5A4A190B863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365EAED-82E8-4DAC-8286-B9FB6895B79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Adding or replacing a column: equipment_data["name"] = values assigns that column. An array follows row order. A Series aligns by row label, so keep labels paired with the intended observations.</a:t>
            </a:r>
          </a:p>
        </p:txBody>
      </p:sp>
      <p:sp>
        <p:nvSpPr>
          <p:cNvPr id="6" name="">
            <a:extLst xmlns:a="http://schemas.openxmlformats.org/drawingml/2006/main">
              <a:ext uri="{FF2B5EF4-FFF2-40B4-BE49-F238E27FC236}">
                <a16:creationId xmlns:a16="http://schemas.microsoft.com/office/drawing/2014/main" id="{7711360F-CB42-4654-89C9-065618D3BC0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145531C-FD12-4775-A6C4-EEA1B20C0BD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Column arithmetic: Arithmetic on columns calculates one result per row. Series align by row label. Divide only where the denominator is valid and keep actual and predicted observations paired.</a:t>
            </a:r>
          </a:p>
        </p:txBody>
      </p:sp>
      <p:sp>
        <p:nvSpPr>
          <p:cNvPr id="8" name="">
            <a:extLst xmlns:a="http://schemas.openxmlformats.org/drawingml/2006/main">
              <a:ext uri="{FF2B5EF4-FFF2-40B4-BE49-F238E27FC236}">
                <a16:creationId xmlns:a16="http://schemas.microsoft.com/office/drawing/2014/main" id="{A51F2450-C9DF-4BDB-9012-81F432A178A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510B427-2E23-4AEB-8819-193407C7384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Mean of recorded values: series.mean() adds known values and divides by their count. pandas skips missing values by default. The result has the same unit as the original column.</a:t>
            </a:r>
          </a:p>
        </p:txBody>
      </p:sp>
      <p:sp>
        <p:nvSpPr>
          <p:cNvPr id="10" name="">
            <a:extLst xmlns:a="http://schemas.openxmlformats.org/drawingml/2006/main">
              <a:ext uri="{FF2B5EF4-FFF2-40B4-BE49-F238E27FC236}">
                <a16:creationId xmlns:a16="http://schemas.microsoft.com/office/drawing/2014/main" id="{00CD1E6E-9AD3-4053-BCAA-0C2FD297B99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36</a:t>
            </a:r>
          </a:p>
        </p:txBody>
      </p:sp>
    </p:spTree>
    <p:extLst>
      <p:ext uri="{BB962C8B-B14F-4D97-AF65-F5344CB8AC3E}">
        <p14:creationId xmlns:p14="http://schemas.microsoft.com/office/powerpoint/2010/main" val="435195699"/>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BE7AB8C-C2D0-4C4B-BA12-BBD56B9014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542EDD1-CA06-4D58-BD17-95E015C12E3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F308700-537B-49A0-9F6C-29B3AFCA7DF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FD9B4356-AD75-4DAB-8679-3ABB2DF9B4A7}"/>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7B75050-285A-414E-A851-C559278E98AE}"/>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Magnitude of each error: series.abs() makes negative values positive while leaving nonnegative values unchanged. Averaging these magnitudes gives mean absolute error.</a:t>
            </a:r>
          </a:p>
        </p:txBody>
      </p:sp>
      <p:sp>
        <p:nvSpPr>
          <p:cNvPr id="6" name="">
            <a:extLst xmlns:a="http://schemas.openxmlformats.org/drawingml/2006/main">
              <a:ext uri="{FF2B5EF4-FFF2-40B4-BE49-F238E27FC236}">
                <a16:creationId xmlns:a16="http://schemas.microsoft.com/office/drawing/2014/main" id="{78EA2D0A-08CF-4A8E-AD91-F27A511164E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37</a:t>
            </a:r>
          </a:p>
        </p:txBody>
      </p:sp>
    </p:spTree>
    <p:extLst>
      <p:ext uri="{BB962C8B-B14F-4D97-AF65-F5344CB8AC3E}">
        <p14:creationId xmlns:p14="http://schemas.microsoft.com/office/powerpoint/2010/main" val="1222559557"/>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000E2F1-2978-4A72-BABA-57A8FA46CC7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8F36BFC-9C44-492F-9828-7CEE6B4814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B4EA31A-5842-40D1-B8E8-08746DC3690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Squared error and square root</a:t>
            </a:r>
          </a:p>
        </p:txBody>
      </p:sp>
      <p:sp>
        <p:nvSpPr>
          <p:cNvPr id="4" name="">
            <a:extLst xmlns:a="http://schemas.openxmlformats.org/drawingml/2006/main">
              <a:ext uri="{FF2B5EF4-FFF2-40B4-BE49-F238E27FC236}">
                <a16:creationId xmlns:a16="http://schemas.microsoft.com/office/drawing/2014/main" id="{DD9E6044-F434-4BC8-A194-D283990F2F4B}"/>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005BB50-9822-4BE6-B07C-54D187DBD398}"/>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error ** 2 squares each error. After averaging, ** 0.5 takes the square root. This gives root mean squared error, which penalises large errors more strongly than mean absolute error.</a:t>
            </a:r>
          </a:p>
        </p:txBody>
      </p:sp>
      <p:sp>
        <p:nvSpPr>
          <p:cNvPr id="6" name="">
            <a:extLst xmlns:a="http://schemas.openxmlformats.org/drawingml/2006/main">
              <a:ext uri="{FF2B5EF4-FFF2-40B4-BE49-F238E27FC236}">
                <a16:creationId xmlns:a16="http://schemas.microsoft.com/office/drawing/2014/main" id="{4131C85E-989B-41C9-9184-CE1543BE748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38</a:t>
            </a:r>
          </a:p>
        </p:txBody>
      </p:sp>
    </p:spTree>
    <p:extLst>
      <p:ext uri="{BB962C8B-B14F-4D97-AF65-F5344CB8AC3E}">
        <p14:creationId xmlns:p14="http://schemas.microsoft.com/office/powerpoint/2010/main" val="2081157977"/>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8F46537-5013-414A-B02F-101113A4616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03D1CA3-191B-4503-93B9-CEF3CCA52FA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BAE5D28-B001-4AE4-8888-85CF0E5C8CE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Line up observations and predictions</a:t>
            </a:r>
          </a:p>
        </p:txBody>
      </p:sp>
      <p:sp>
        <p:nvSpPr>
          <p:cNvPr id="4" name="">
            <a:extLst xmlns:a="http://schemas.openxmlformats.org/drawingml/2006/main">
              <a:ext uri="{FF2B5EF4-FFF2-40B4-BE49-F238E27FC236}">
                <a16:creationId xmlns:a16="http://schemas.microsoft.com/office/drawing/2014/main" id="{812F4140-CD86-46A0-9AAB-C5C272222824}"/>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A4FD634-5873-4229-934A-38BD8B83C1A7}"/>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Copy record IDs and observed targets from validation rows.</a:t>
            </a:r>
          </a:p>
        </p:txBody>
      </p:sp>
      <p:sp>
        <p:nvSpPr>
          <p:cNvPr id="6" name="">
            <a:extLst xmlns:a="http://schemas.openxmlformats.org/drawingml/2006/main">
              <a:ext uri="{FF2B5EF4-FFF2-40B4-BE49-F238E27FC236}">
                <a16:creationId xmlns:a16="http://schemas.microsoft.com/office/drawing/2014/main" id="{FAE332E1-27A8-48A3-9899-A71FF3DDA16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 predictions in that same order.</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row now pairs one observation with its own predicted value.</a:t>
            </a:r>
          </a:p>
        </p:txBody>
      </p:sp>
      <p:sp>
        <p:nvSpPr>
          <p:cNvPr id="7" name="">
            <a:extLst xmlns:a="http://schemas.openxmlformats.org/drawingml/2006/main">
              <a:ext uri="{FF2B5EF4-FFF2-40B4-BE49-F238E27FC236}">
                <a16:creationId xmlns:a16="http://schemas.microsoft.com/office/drawing/2014/main" id="{C02DABA5-BFE9-4D9D-91E7-1C7D646EC55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39</a:t>
            </a:r>
          </a:p>
        </p:txBody>
      </p:sp>
    </p:spTree>
    <p:extLst>
      <p:ext uri="{BB962C8B-B14F-4D97-AF65-F5344CB8AC3E}">
        <p14:creationId xmlns:p14="http://schemas.microsoft.com/office/powerpoint/2010/main" val="2027597975"/>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FB08D17-4CD1-42BC-9DFF-37111F9C37C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D2A9B72-E41B-4F5A-B6E1-37343709E7C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86215CA-43F5-441C-9A62-4537E444956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Errors from the supplied validation observations — step 1</a:t>
            </a:r>
          </a:p>
        </p:txBody>
      </p:sp>
      <p:sp>
        <p:nvSpPr>
          <p:cNvPr id="4" name="">
            <a:extLst xmlns:a="http://schemas.openxmlformats.org/drawingml/2006/main">
              <a:ext uri="{FF2B5EF4-FFF2-40B4-BE49-F238E27FC236}">
                <a16:creationId xmlns:a16="http://schemas.microsoft.com/office/drawing/2014/main" id="{E8ABB72F-3DC1-4E22-9240-A7C4A891006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5077A83-D76F-4315-ACBC-B5DD5C82955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validation_results = validation_data[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["record_id", "target"]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validation_results["predicted"] = validation_predictions</a:t>
            </a:r>
          </a:p>
        </p:txBody>
      </p:sp>
      <p:sp>
        <p:nvSpPr>
          <p:cNvPr id="6" name="">
            <a:extLst xmlns:a="http://schemas.openxmlformats.org/drawingml/2006/main">
              <a:ext uri="{FF2B5EF4-FFF2-40B4-BE49-F238E27FC236}">
                <a16:creationId xmlns:a16="http://schemas.microsoft.com/office/drawing/2014/main" id="{F3C6E55E-E5D8-4E29-B4A0-7746A757D930}"/>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validation_results: actual and predicted targets paired with each record ID.</a:t>
            </a:r>
          </a:p>
        </p:txBody>
      </p:sp>
      <p:sp>
        <p:nvSpPr>
          <p:cNvPr id="7" name="">
            <a:extLst xmlns:a="http://schemas.openxmlformats.org/drawingml/2006/main">
              <a:ext uri="{FF2B5EF4-FFF2-40B4-BE49-F238E27FC236}">
                <a16:creationId xmlns:a16="http://schemas.microsoft.com/office/drawing/2014/main" id="{3E29A0A1-2132-461F-BC53-28EE9740ABD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B19D2505-271B-44D8-8224-964123B365C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40</a:t>
            </a:r>
          </a:p>
        </p:txBody>
      </p:sp>
    </p:spTree>
    <p:extLst>
      <p:ext uri="{BB962C8B-B14F-4D97-AF65-F5344CB8AC3E}">
        <p14:creationId xmlns:p14="http://schemas.microsoft.com/office/powerpoint/2010/main" val="1655060428"/>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ABE228F-81AA-4E41-B0E5-CCD6B3BCDF1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FE3E4F0-5037-4DE9-85DD-6E59DF7F6C3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017C453-FE84-4FB7-B2BD-227EBB16C62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Measure how far predictions missed</a:t>
            </a:r>
          </a:p>
        </p:txBody>
      </p:sp>
      <p:sp>
        <p:nvSpPr>
          <p:cNvPr id="4" name="">
            <a:extLst xmlns:a="http://schemas.openxmlformats.org/drawingml/2006/main">
              <a:ext uri="{FF2B5EF4-FFF2-40B4-BE49-F238E27FC236}">
                <a16:creationId xmlns:a16="http://schemas.microsoft.com/office/drawing/2014/main" id="{7FB80915-6504-491A-9A32-D604EDD5ECF4}"/>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84D3BD2-EBA2-4466-8D09-66FAE5E21FB9}"/>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Subtract predicted from observed values.</a:t>
            </a:r>
          </a:p>
        </p:txBody>
      </p:sp>
      <p:sp>
        <p:nvSpPr>
          <p:cNvPr id="6" name="">
            <a:extLst xmlns:a="http://schemas.openxmlformats.org/drawingml/2006/main">
              <a:ext uri="{FF2B5EF4-FFF2-40B4-BE49-F238E27FC236}">
                <a16:creationId xmlns:a16="http://schemas.microsoft.com/office/drawing/2014/main" id="{DB1E0414-D810-4ECE-A9FB-C7AF584FF094}"/>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Positive errors mean underprediction; negative errors mean overprediction. abs removes signs for MAE.</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Squaring before averaging and taking a square root gives RMSE.</a:t>
            </a:r>
          </a:p>
        </p:txBody>
      </p:sp>
      <p:sp>
        <p:nvSpPr>
          <p:cNvPr id="7" name="">
            <a:extLst xmlns:a="http://schemas.openxmlformats.org/drawingml/2006/main">
              <a:ext uri="{FF2B5EF4-FFF2-40B4-BE49-F238E27FC236}">
                <a16:creationId xmlns:a16="http://schemas.microsoft.com/office/drawing/2014/main" id="{22718146-1455-4801-B671-B65FCA42008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41</a:t>
            </a:r>
          </a:p>
        </p:txBody>
      </p:sp>
    </p:spTree>
    <p:extLst>
      <p:ext uri="{BB962C8B-B14F-4D97-AF65-F5344CB8AC3E}">
        <p14:creationId xmlns:p14="http://schemas.microsoft.com/office/powerpoint/2010/main" val="1489000580"/>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A1E2A84-1F77-435F-BC66-FE359EA43E5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59F6A96-F75C-4E20-8EC8-918F4D33FA3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FBD2CFB-25D9-4DED-A1E4-718AF62DB32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Errors from the supplied validation observations — step 2</a:t>
            </a:r>
          </a:p>
        </p:txBody>
      </p:sp>
      <p:sp>
        <p:nvSpPr>
          <p:cNvPr id="4" name="">
            <a:extLst xmlns:a="http://schemas.openxmlformats.org/drawingml/2006/main">
              <a:ext uri="{FF2B5EF4-FFF2-40B4-BE49-F238E27FC236}">
                <a16:creationId xmlns:a16="http://schemas.microsoft.com/office/drawing/2014/main" id="{E3B27CAE-B37A-4496-83D6-95169E951C30}"/>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B2598EF-D54C-4787-86A3-5079A23E81E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prediction_errors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validation_results["target"] - validation_results["predicted"]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mae = prediction_errors.abs().mean()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rmse = (prediction_errors**2).mean() ** 0.5</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print(validation_results.head())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print(round(float(mae), 4), round(float(rmse), 4))</a:t>
            </a:r>
          </a:p>
        </p:txBody>
      </p:sp>
      <p:sp>
        <p:nvSpPr>
          <p:cNvPr id="6" name="">
            <a:extLst xmlns:a="http://schemas.openxmlformats.org/drawingml/2006/main">
              <a:ext uri="{FF2B5EF4-FFF2-40B4-BE49-F238E27FC236}">
                <a16:creationId xmlns:a16="http://schemas.microsoft.com/office/drawing/2014/main" id="{9B4247D4-F150-44DE-BC9A-7DD1F014125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validation_results: actual and predicted targets paired with each record ID.</a:t>
            </a:r>
          </a:p>
        </p:txBody>
      </p:sp>
      <p:sp>
        <p:nvSpPr>
          <p:cNvPr id="7" name="">
            <a:extLst xmlns:a="http://schemas.openxmlformats.org/drawingml/2006/main">
              <a:ext uri="{FF2B5EF4-FFF2-40B4-BE49-F238E27FC236}">
                <a16:creationId xmlns:a16="http://schemas.microsoft.com/office/drawing/2014/main" id="{4981A167-3360-4097-AD3D-D53E7513E05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3670AE03-88B3-4B19-A7E9-11B1B90B6E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42</a:t>
            </a:r>
          </a:p>
        </p:txBody>
      </p:sp>
    </p:spTree>
    <p:extLst>
      <p:ext uri="{BB962C8B-B14F-4D97-AF65-F5344CB8AC3E}">
        <p14:creationId xmlns:p14="http://schemas.microsoft.com/office/powerpoint/2010/main" val="1343735508"/>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5559FE2-60ED-469A-B104-4E19AE1EA86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16F18D9-9BB4-4415-A5CA-EB1893F3CDC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6B98F01-F1D0-4205-A1ED-5FF819BE19E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Pandas inside the required function</a:t>
            </a:r>
          </a:p>
        </p:txBody>
      </p:sp>
      <p:sp>
        <p:nvSpPr>
          <p:cNvPr id="4" name="">
            <a:extLst xmlns:a="http://schemas.openxmlformats.org/drawingml/2006/main">
              <a:ext uri="{FF2B5EF4-FFF2-40B4-BE49-F238E27FC236}">
                <a16:creationId xmlns:a16="http://schemas.microsoft.com/office/drawing/2014/main" id="{BACC1C63-E63B-4F8B-926F-F268E0B5952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3160FF5-19E6-4FD5-BA6D-FEE438B59B5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60A3604-B343-481D-A7DA-D6C49E42225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assignment caller supplies equipment_records. pd.DataFrame(records) gives those records named columns. Calculate with pandas, then return the published Python type.</a:t>
            </a:r>
          </a:p>
        </p:txBody>
      </p:sp>
      <p:sp>
        <p:nvSpPr>
          <p:cNvPr id="7" name="">
            <a:extLst xmlns:a="http://schemas.openxmlformats.org/drawingml/2006/main">
              <a:ext uri="{FF2B5EF4-FFF2-40B4-BE49-F238E27FC236}">
                <a16:creationId xmlns:a16="http://schemas.microsoft.com/office/drawing/2014/main" id="{B528C3BC-C26D-4EB5-BABD-EE5080B8F70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to_dict("records") makes a list of row dictionaries. Series.tolist() makes a list of values. A grouped Series.to_dict() maps group labels to validation_results.</a:t>
            </a:r>
          </a:p>
        </p:txBody>
      </p:sp>
      <p:sp>
        <p:nvSpPr>
          <p:cNvPr id="8" name="">
            <a:extLst xmlns:a="http://schemas.openxmlformats.org/drawingml/2006/main">
              <a:ext uri="{FF2B5EF4-FFF2-40B4-BE49-F238E27FC236}">
                <a16:creationId xmlns:a16="http://schemas.microsoft.com/office/drawing/2014/main" id="{76E060A0-02E2-484A-BFE0-F01E3E4B6A6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43</a:t>
            </a:r>
          </a:p>
        </p:txBody>
      </p:sp>
    </p:spTree>
    <p:extLst>
      <p:ext uri="{BB962C8B-B14F-4D97-AF65-F5344CB8AC3E}">
        <p14:creationId xmlns:p14="http://schemas.microsoft.com/office/powerpoint/2010/main" val="528027439"/>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A53FE0C-7878-4603-A56B-94CB881A2EF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2CAB16B-7A7E-4E15-86EB-4F4C62BE4A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2AC9BB7-16DD-4D50-8A60-0DE6BEF74EF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8D3F54C8-7BE1-4FD3-AD4E-586BEFE8947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9BAEA06-0C51-4484-8551-F731920852E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Returning a dictionary: series.to_dict() maps Series labels to values. equipment_data.to_dict("records") instead returns a list of row dictionaries. Choose the form required by the assignment.</a:t>
            </a:r>
          </a:p>
        </p:txBody>
      </p:sp>
      <p:sp>
        <p:nvSpPr>
          <p:cNvPr id="6" name="">
            <a:extLst xmlns:a="http://schemas.openxmlformats.org/drawingml/2006/main">
              <a:ext uri="{FF2B5EF4-FFF2-40B4-BE49-F238E27FC236}">
                <a16:creationId xmlns:a16="http://schemas.microsoft.com/office/drawing/2014/main" id="{7BC08294-1736-4703-B127-FF4E5B8AD7C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01B59CE-4A51-4973-B802-7D929252C4F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table from Python values: pd.DataFrame(records) builds a table from row dictionaries. With a dictionary of column lists, keys become column names and each list supplies that column’s values.</a:t>
            </a:r>
          </a:p>
        </p:txBody>
      </p:sp>
      <p:sp>
        <p:nvSpPr>
          <p:cNvPr id="8" name="">
            <a:extLst xmlns:a="http://schemas.openxmlformats.org/drawingml/2006/main">
              <a:ext uri="{FF2B5EF4-FFF2-40B4-BE49-F238E27FC236}">
                <a16:creationId xmlns:a16="http://schemas.microsoft.com/office/drawing/2014/main" id="{70B77DD8-2E29-4638-9A55-324A5BED16F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905FC14-33E4-4C37-9109-1C8CD85E686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Grouping rows: equipment_data.groupby("label")["value"] groups the value column by matching labels. Apply mean() or sum() to calculate one result per group. Missing group labels are excluded by default.</a:t>
            </a:r>
          </a:p>
        </p:txBody>
      </p:sp>
      <p:sp>
        <p:nvSpPr>
          <p:cNvPr id="10" name="">
            <a:extLst xmlns:a="http://schemas.openxmlformats.org/drawingml/2006/main">
              <a:ext uri="{FF2B5EF4-FFF2-40B4-BE49-F238E27FC236}">
                <a16:creationId xmlns:a16="http://schemas.microsoft.com/office/drawing/2014/main" id="{881EB957-9B12-4DB3-A955-67679222336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44</a:t>
            </a:r>
          </a:p>
        </p:txBody>
      </p:sp>
    </p:spTree>
    <p:extLst>
      <p:ext uri="{BB962C8B-B14F-4D97-AF65-F5344CB8AC3E}">
        <p14:creationId xmlns:p14="http://schemas.microsoft.com/office/powerpoint/2010/main" val="642587857"/>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5BC8E29-D760-423C-95B1-8306D0E8485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BD67F5F-C740-4E7B-8F78-C972573889A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C30C300-2592-48C1-946A-08C09A5B585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Defining and calling a function</a:t>
            </a:r>
          </a:p>
        </p:txBody>
      </p:sp>
      <p:sp>
        <p:nvSpPr>
          <p:cNvPr id="4" name="">
            <a:extLst xmlns:a="http://schemas.openxmlformats.org/drawingml/2006/main">
              <a:ext uri="{FF2B5EF4-FFF2-40B4-BE49-F238E27FC236}">
                <a16:creationId xmlns:a16="http://schemas.microsoft.com/office/drawing/2014/main" id="{6807C92B-027B-4F37-B20F-C16DFDD199AB}"/>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C97EC87-9F4F-4AAB-91A9-DD052CADDC96}"/>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def gives a reusable block a name and input parameters. The indented statements run when it is called. return sends a result back to the caller; print displays a result but does not return it.</a:t>
            </a:r>
          </a:p>
        </p:txBody>
      </p:sp>
      <p:sp>
        <p:nvSpPr>
          <p:cNvPr id="6" name="">
            <a:extLst xmlns:a="http://schemas.openxmlformats.org/drawingml/2006/main">
              <a:ext uri="{FF2B5EF4-FFF2-40B4-BE49-F238E27FC236}">
                <a16:creationId xmlns:a16="http://schemas.microsoft.com/office/drawing/2014/main" id="{2CA1DC0D-5086-4AA9-94AE-87609A1320A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45</a:t>
            </a:r>
          </a:p>
        </p:txBody>
      </p:sp>
    </p:spTree>
    <p:extLst>
      <p:ext uri="{BB962C8B-B14F-4D97-AF65-F5344CB8AC3E}">
        <p14:creationId xmlns:p14="http://schemas.microsoft.com/office/powerpoint/2010/main" val="1589604558"/>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BC72173-C924-493A-894B-35B6257C37B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1AAC766-CF79-4A50-88B9-51D6BE3B0E2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38C6F07-89B5-4AD3-95EF-0B477745816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called with the supplied records</a:t>
            </a:r>
          </a:p>
        </p:txBody>
      </p:sp>
      <p:sp>
        <p:nvSpPr>
          <p:cNvPr id="4" name="">
            <a:extLst xmlns:a="http://schemas.openxmlformats.org/drawingml/2006/main">
              <a:ext uri="{FF2B5EF4-FFF2-40B4-BE49-F238E27FC236}">
                <a16:creationId xmlns:a16="http://schemas.microsoft.com/office/drawing/2014/main" id="{E90F7E13-F4A5-4C53-B3F1-24541B683A8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4294967-BF7F-4D87-8835-47B2EC365650}"/>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mean_load_by_equipment(equipment_records):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equipment_data = pd.DataFrame(equipment_records)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mean_load_by_equipment_group = equipment_data.groupby(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"equipment_id"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)["load_pct"].mean()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mean_load_by_equipment_group.to_dict()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equipment_records = raw_data.to_dict("records")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print(mean_load_by_equipment(equipment_records))</a:t>
            </a:r>
          </a:p>
        </p:txBody>
      </p:sp>
      <p:sp>
        <p:nvSpPr>
          <p:cNvPr id="6" name="">
            <a:extLst xmlns:a="http://schemas.openxmlformats.org/drawingml/2006/main">
              <a:ext uri="{FF2B5EF4-FFF2-40B4-BE49-F238E27FC236}">
                <a16:creationId xmlns:a16="http://schemas.microsoft.com/office/drawing/2014/main" id="{0A4CEBE3-246A-416E-ABCA-EA0EF0069DC0}"/>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equipment_records: the input list of row dictionaries supplied to the function.</a:t>
            </a:r>
          </a:p>
        </p:txBody>
      </p:sp>
      <p:sp>
        <p:nvSpPr>
          <p:cNvPr id="7" name="">
            <a:extLst xmlns:a="http://schemas.openxmlformats.org/drawingml/2006/main">
              <a:ext uri="{FF2B5EF4-FFF2-40B4-BE49-F238E27FC236}">
                <a16:creationId xmlns:a16="http://schemas.microsoft.com/office/drawing/2014/main" id="{EA89E763-CF4D-4522-8C2D-A87B6937D81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C45A01EC-E46A-463D-B349-CE7521B08C0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46</a:t>
            </a:r>
          </a:p>
        </p:txBody>
      </p:sp>
    </p:spTree>
    <p:extLst>
      <p:ext uri="{BB962C8B-B14F-4D97-AF65-F5344CB8AC3E}">
        <p14:creationId xmlns:p14="http://schemas.microsoft.com/office/powerpoint/2010/main" val="726904742"/>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8C61C65-1523-48DD-AD5E-888EFA596FA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92479F1-17BB-487B-AC4A-FAD3928517B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C59B8FC-03DB-402A-9EE9-20DCED272A2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29607DBC-8D6D-495C-BD10-9D37F5EE940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48CFAB7-6CAD-449B-A6F9-B121CB89DEB2}"/>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crusher energy demand.</a:t>
            </a:r>
          </a:p>
        </p:txBody>
      </p:sp>
      <p:sp>
        <p:nvSpPr>
          <p:cNvPr id="6" name="">
            <a:extLst xmlns:a="http://schemas.openxmlformats.org/drawingml/2006/main">
              <a:ext uri="{FF2B5EF4-FFF2-40B4-BE49-F238E27FC236}">
                <a16:creationId xmlns:a16="http://schemas.microsoft.com/office/drawing/2014/main" id="{051DE1FB-D404-49C7-97EF-AD8D9D8FB7B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2F5C6BB-E6F4-4BD7-9F10-25E87F14FD2F}"/>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kWh/t.</a:t>
            </a:r>
          </a:p>
        </p:txBody>
      </p:sp>
      <p:sp>
        <p:nvSpPr>
          <p:cNvPr id="8" name="">
            <a:extLst xmlns:a="http://schemas.openxmlformats.org/drawingml/2006/main">
              <a:ext uri="{FF2B5EF4-FFF2-40B4-BE49-F238E27FC236}">
                <a16:creationId xmlns:a16="http://schemas.microsoft.com/office/drawing/2014/main" id="{F3DAE795-8BB8-4158-B8D6-DCD52D6F532A}"/>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063FBE2-62FD-4717-8D4B-A6DDF5C60D64}"/>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C9B484B9-BF6F-4DF6-B6F6-BF752D3C7A11}"/>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70CCF82-5334-4C8E-AB71-079F2B18EB0C}"/>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83ABEC63-C51D-4577-963F-997AF7099E8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47</a:t>
            </a:r>
          </a:p>
        </p:txBody>
      </p:sp>
    </p:spTree>
    <p:extLst>
      <p:ext uri="{BB962C8B-B14F-4D97-AF65-F5344CB8AC3E}">
        <p14:creationId xmlns:p14="http://schemas.microsoft.com/office/powerpoint/2010/main" val="1627624745"/>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27C4565-F7D9-4652-A9FE-7ED443A8F78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893C028-E9C0-4B92-ACC0-DE2995D982F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A71DAAE7-897F-49BC-BCF0-DEECED49C78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predict_regression(training_records, feature_records)</a:t>
            </a:r>
          </a:p>
        </p:txBody>
      </p:sp>
      <p:sp>
        <p:nvSpPr>
          <p:cNvPr id="4" name="">
            <a:extLst xmlns:a="http://schemas.openxmlformats.org/drawingml/2006/main">
              <a:ext uri="{FF2B5EF4-FFF2-40B4-BE49-F238E27FC236}">
                <a16:creationId xmlns:a16="http://schemas.microsoft.com/office/drawing/2014/main" id="{AEB12073-A37E-4856-8446-4C1CCF66E187}"/>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3E4C2A9-3F88-44FC-BB12-6F01030C9D5C}"/>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a training-mean baseline, linear regression and a decision tree (max_depth=4, random_state=17) using load_pct and ambient_c only.</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three prediction lists under baseline, linear and tree.</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Feature records have no target.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preprocessing only on training data.</a:t>
            </a:r>
          </a:p>
        </p:txBody>
      </p:sp>
      <p:sp>
        <p:nvSpPr>
          <p:cNvPr id="6" name="">
            <a:extLst xmlns:a="http://schemas.openxmlformats.org/drawingml/2006/main">
              <a:ext uri="{FF2B5EF4-FFF2-40B4-BE49-F238E27FC236}">
                <a16:creationId xmlns:a16="http://schemas.microsoft.com/office/drawing/2014/main" id="{F9589A5A-CA4F-438B-B483-20C43B31FD1D}"/>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368A74C-EA16-43ED-880A-145BA818F972}"/>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9F55D99F-2875-428D-9115-31F34DB395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48</a:t>
            </a:r>
          </a:p>
        </p:txBody>
      </p:sp>
    </p:spTree>
    <p:extLst>
      <p:ext uri="{BB962C8B-B14F-4D97-AF65-F5344CB8AC3E}">
        <p14:creationId xmlns:p14="http://schemas.microsoft.com/office/powerpoint/2010/main" val="691801542"/>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4D5EB62-BCD2-4514-9831-9C29A28C980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5E4D7F8-6CE3-41AA-A579-C75674FCA76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F70C1107-C7EF-431D-8313-CDAC743D6D9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regression_errors(actual, predicted)</a:t>
            </a:r>
          </a:p>
        </p:txBody>
      </p:sp>
      <p:sp>
        <p:nvSpPr>
          <p:cNvPr id="4" name="">
            <a:extLst xmlns:a="http://schemas.openxmlformats.org/drawingml/2006/main">
              <a:ext uri="{FF2B5EF4-FFF2-40B4-BE49-F238E27FC236}">
                <a16:creationId xmlns:a16="http://schemas.microsoft.com/office/drawing/2014/main" id="{F46B9EFE-DEC3-48CD-9E91-C1275FB519CC}"/>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4F946F7-37F0-4A4B-A462-3576179F63F8}"/>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mae and rmse, calculated over the same paired observations, with full precision.</a:t>
            </a:r>
          </a:p>
        </p:txBody>
      </p:sp>
      <p:sp>
        <p:nvSpPr>
          <p:cNvPr id="6" name="">
            <a:extLst xmlns:a="http://schemas.openxmlformats.org/drawingml/2006/main">
              <a:ext uri="{FF2B5EF4-FFF2-40B4-BE49-F238E27FC236}">
                <a16:creationId xmlns:a16="http://schemas.microsoft.com/office/drawing/2014/main" id="{BE27F1AF-932C-4AA3-B19A-50DCA0B92555}"/>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F1D6CA1-804B-4DF4-A3D1-8477B9B78CD6}"/>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57679315-8B3F-4CBC-AAE1-2AC0EAD6B94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49</a:t>
            </a:r>
          </a:p>
        </p:txBody>
      </p:sp>
    </p:spTree>
    <p:extLst>
      <p:ext uri="{BB962C8B-B14F-4D97-AF65-F5344CB8AC3E}">
        <p14:creationId xmlns:p14="http://schemas.microsoft.com/office/powerpoint/2010/main" val="1501389089"/>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30E018A-1992-484B-9B5F-892B9D4D965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2B1AA90-DE81-4D61-A933-28B70D513D5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BCC21AC-A736-457F-8A78-56B79E6FB7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5511838A-120E-40F6-AEF5-EB6CCDD301D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2CA8988-9DAC-4100-BFD8-0CA5267BBAA3}"/>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F1B85F44-087B-45AF-BF7D-8FB08A614EB5}"/>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A197BFC-EF7C-4B60-9233-FE64F7F06F33}"/>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89F412A2-05D2-4F0B-9EEE-E2E89F14CDC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016F2EC-B7C9-46F7-BB27-7A8A49BD72C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24FE1B87-9D15-422B-B5BE-275322AAFE1C}"/>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E23A023-D193-4387-8FD4-B3062DBCBFC9}"/>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5E17B3EE-D275-4662-A011-D5AED0366D1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50</a:t>
            </a:r>
          </a:p>
        </p:txBody>
      </p:sp>
    </p:spTree>
    <p:extLst>
      <p:ext uri="{BB962C8B-B14F-4D97-AF65-F5344CB8AC3E}">
        <p14:creationId xmlns:p14="http://schemas.microsoft.com/office/powerpoint/2010/main" val="237274108"/>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CD72E1E-30EA-4EDD-AE27-A2026DD572D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C8F633A-9ED5-469C-A55D-5804E573362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E433C18C-0CCF-4412-96FB-78001162B2C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 and baseline submission</a:t>
            </a:r>
          </a:p>
        </p:txBody>
      </p:sp>
      <p:sp>
        <p:nvSpPr>
          <p:cNvPr id="4" name="">
            <a:extLst xmlns:a="http://schemas.openxmlformats.org/drawingml/2006/main">
              <a:ext uri="{FF2B5EF4-FFF2-40B4-BE49-F238E27FC236}">
                <a16:creationId xmlns:a16="http://schemas.microsoft.com/office/drawing/2014/main" id="{C0B1A5CA-ABDB-41FE-95A8-B54938007C70}"/>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49848BD-60E8-46E3-9F3C-F6F7E3ECD719}"/>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30 Oct 2026, 08:00 Kampala</a:t>
            </a:r>
          </a:p>
        </p:txBody>
      </p:sp>
      <p:sp>
        <p:nvSpPr>
          <p:cNvPr id="6" name="">
            <a:extLst xmlns:a="http://schemas.openxmlformats.org/drawingml/2006/main">
              <a:ext uri="{FF2B5EF4-FFF2-40B4-BE49-F238E27FC236}">
                <a16:creationId xmlns:a16="http://schemas.microsoft.com/office/drawing/2014/main" id="{50DCE4A9-4386-4B53-B887-5F3215A7FE30}"/>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B5924DB-D260-485B-9E5E-9AD19752501C}"/>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06 Nov 2026, 08:00 Kampala</a:t>
            </a:r>
          </a:p>
        </p:txBody>
      </p:sp>
      <p:sp>
        <p:nvSpPr>
          <p:cNvPr id="8" name="">
            <a:extLst xmlns:a="http://schemas.openxmlformats.org/drawingml/2006/main">
              <a:ext uri="{FF2B5EF4-FFF2-40B4-BE49-F238E27FC236}">
                <a16:creationId xmlns:a16="http://schemas.microsoft.com/office/drawing/2014/main" id="{54588760-11D8-4984-8F1C-28742FC59E0A}"/>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E996764-CB4E-4840-B457-A09B9AA5DAD4}"/>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CFF4E639-4331-40F6-85DA-DAF92B1E1581}"/>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C2FA76C-93DB-4E5D-884D-9DA3CC683375}"/>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DA8625A0-39FA-4831-9C47-68E419C462DA}"/>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1000487-40B5-458B-B65D-E186C3A761B3}"/>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6c63f9e54d044ea8"/>
              </a:rPr>
              <a:t>Open W08 assignment form</a:t>
            </a:r>
          </a:p>
        </p:txBody>
      </p:sp>
      <p:sp>
        <p:nvSpPr>
          <p:cNvPr id="14" name="">
            <a:extLst xmlns:a="http://schemas.openxmlformats.org/drawingml/2006/main">
              <a:ext uri="{FF2B5EF4-FFF2-40B4-BE49-F238E27FC236}">
                <a16:creationId xmlns:a16="http://schemas.microsoft.com/office/drawing/2014/main" id="{826A498A-B9CE-4624-BFD8-FAE46566CCD9}"/>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https://docs.google.com/forms/d/e/1FAIpQLScEhukVhOy7mk4-sfmGMIBPDwAXlVTIZeAict3izXXZ1fvCFg/viewform</a:t>
            </a:r>
          </a:p>
        </p:txBody>
      </p:sp>
      <p:sp>
        <p:nvSpPr>
          <p:cNvPr id="15" name="">
            <a:extLst xmlns:a="http://schemas.openxmlformats.org/drawingml/2006/main">
              <a:ext uri="{FF2B5EF4-FFF2-40B4-BE49-F238E27FC236}">
                <a16:creationId xmlns:a16="http://schemas.microsoft.com/office/drawing/2014/main" id="{B029C8A8-5075-4406-ADA4-81F3DEB1099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51</a:t>
            </a:r>
          </a:p>
        </p:txBody>
      </p:sp>
    </p:spTree>
    <p:extLst>
      <p:ext uri="{BB962C8B-B14F-4D97-AF65-F5344CB8AC3E}">
        <p14:creationId xmlns:p14="http://schemas.microsoft.com/office/powerpoint/2010/main" val="256741296"/>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D4590CB-1EEB-4244-8D76-A0E8793A188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E83A303-ECA6-4227-A0A9-6A1C3061405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294CDFB-5FD7-4863-B727-4FA8A6A28FD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a:t>
            </a:r>
          </a:p>
        </p:txBody>
      </p:sp>
      <p:sp>
        <p:nvSpPr>
          <p:cNvPr id="4" name="">
            <a:extLst xmlns:a="http://schemas.openxmlformats.org/drawingml/2006/main">
              <a:ext uri="{FF2B5EF4-FFF2-40B4-BE49-F238E27FC236}">
                <a16:creationId xmlns:a16="http://schemas.microsoft.com/office/drawing/2014/main" id="{6973AA93-69A4-43DA-881B-06B97CABE7B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BEFBC35-4A13-4CD3-9462-96AC8DB8E395}"/>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your own explanation in the markdown cell headed `## My written evidence`.</a:t>
            </a:r>
          </a:p>
        </p:txBody>
      </p:sp>
      <p:sp>
        <p:nvSpPr>
          <p:cNvPr id="6" name="">
            <a:extLst xmlns:a="http://schemas.openxmlformats.org/drawingml/2006/main">
              <a:ext uri="{FF2B5EF4-FFF2-40B4-BE49-F238E27FC236}">
                <a16:creationId xmlns:a16="http://schemas.microsoft.com/office/drawing/2014/main" id="{7D171B96-99B5-4FC1-BA91-3A509E614971}"/>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3324CEF-5F30-48CB-9654-12DF0711F78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that heading.</a:t>
            </a:r>
          </a:p>
        </p:txBody>
      </p:sp>
      <p:sp>
        <p:nvSpPr>
          <p:cNvPr id="8" name="">
            <a:extLst xmlns:a="http://schemas.openxmlformats.org/drawingml/2006/main">
              <a:ext uri="{FF2B5EF4-FFF2-40B4-BE49-F238E27FC236}">
                <a16:creationId xmlns:a16="http://schemas.microsoft.com/office/drawing/2014/main" id="{3BD38438-B210-4C93-97B5-3EF3420EE848}"/>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53A5414-0058-4024-A0D8-71C9D809C50E}"/>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Task prompts and code comments are excluded from reasoning marks.</a:t>
            </a:r>
          </a:p>
        </p:txBody>
      </p:sp>
      <p:sp>
        <p:nvSpPr>
          <p:cNvPr id="10" name="">
            <a:extLst xmlns:a="http://schemas.openxmlformats.org/drawingml/2006/main">
              <a:ext uri="{FF2B5EF4-FFF2-40B4-BE49-F238E27FC236}">
                <a16:creationId xmlns:a16="http://schemas.microsoft.com/office/drawing/2014/main" id="{240A164B-2F42-4A8E-BC69-E18986B9AFB9}"/>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61120AE-0FAF-47E9-9D5C-3F35D4AF6461}"/>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every original rubric criterion below, not just the checked functions.</a:t>
            </a:r>
          </a:p>
        </p:txBody>
      </p:sp>
      <p:sp>
        <p:nvSpPr>
          <p:cNvPr id="12" name="">
            <a:extLst xmlns:a="http://schemas.openxmlformats.org/drawingml/2006/main">
              <a:ext uri="{FF2B5EF4-FFF2-40B4-BE49-F238E27FC236}">
                <a16:creationId xmlns:a16="http://schemas.microsoft.com/office/drawing/2014/main" id="{E85FDBDE-14E4-4D10-B03E-8AEC4FA937B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52</a:t>
            </a:r>
          </a:p>
        </p:txBody>
      </p:sp>
    </p:spTree>
    <p:extLst>
      <p:ext uri="{BB962C8B-B14F-4D97-AF65-F5344CB8AC3E}">
        <p14:creationId xmlns:p14="http://schemas.microsoft.com/office/powerpoint/2010/main" val="113455631"/>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AD86F88-69D2-403E-9B9F-59DCEC701FC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352C212-2981-43EB-950F-4D35871D18B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E3C9FD2-20B8-4FF1-B2B2-CCD678B557F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xmlns:a="http://schemas.openxmlformats.org/drawingml/2006/main">
              <a:ext uri="{FF2B5EF4-FFF2-40B4-BE49-F238E27FC236}">
                <a16:creationId xmlns:a16="http://schemas.microsoft.com/office/drawing/2014/main" id="{A54AF7EF-3533-4DB1-B5E0-B72511A0E45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C638A3F-61A7-4CA7-AD0B-F58516F04AE1}"/>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profiling, justified cleaning, question-led charts and your engineering recommendation where required.</a:t>
            </a:r>
          </a:p>
        </p:txBody>
      </p:sp>
      <p:sp>
        <p:nvSpPr>
          <p:cNvPr id="6" name="">
            <a:extLst xmlns:a="http://schemas.openxmlformats.org/drawingml/2006/main">
              <a:ext uri="{FF2B5EF4-FFF2-40B4-BE49-F238E27FC236}">
                <a16:creationId xmlns:a16="http://schemas.microsoft.com/office/drawing/2014/main" id="{FED13496-8704-415C-A807-53904C552FF1}"/>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2C3F319-A70C-4749-AEEA-703ED256710A}"/>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a:t>
            </a:r>
          </a:p>
        </p:txBody>
      </p:sp>
      <p:sp>
        <p:nvSpPr>
          <p:cNvPr id="8" name="">
            <a:extLst xmlns:a="http://schemas.openxmlformats.org/drawingml/2006/main">
              <a:ext uri="{FF2B5EF4-FFF2-40B4-BE49-F238E27FC236}">
                <a16:creationId xmlns:a16="http://schemas.microsoft.com/office/drawing/2014/main" id="{4A2BD72B-D79A-4D61-916E-23975D6328B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5C14DE0-810F-4F09-B3B6-E5920D7C80C2}"/>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units and distinguish correlation from causation.</a:t>
            </a:r>
          </a:p>
        </p:txBody>
      </p:sp>
      <p:sp>
        <p:nvSpPr>
          <p:cNvPr id="10" name="">
            <a:extLst xmlns:a="http://schemas.openxmlformats.org/drawingml/2006/main">
              <a:ext uri="{FF2B5EF4-FFF2-40B4-BE49-F238E27FC236}">
                <a16:creationId xmlns:a16="http://schemas.microsoft.com/office/drawing/2014/main" id="{7EAC45FC-0655-4625-AE1F-625888049BDE}"/>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BF4F5D1-18C2-410C-BDDB-B7EBBD962F53}"/>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must be actual labelled figures in the notebook, not claims that charts exist.</a:t>
            </a:r>
          </a:p>
        </p:txBody>
      </p:sp>
      <p:sp>
        <p:nvSpPr>
          <p:cNvPr id="12" name="">
            <a:extLst xmlns:a="http://schemas.openxmlformats.org/drawingml/2006/main">
              <a:ext uri="{FF2B5EF4-FFF2-40B4-BE49-F238E27FC236}">
                <a16:creationId xmlns:a16="http://schemas.microsoft.com/office/drawing/2014/main" id="{0226AFFB-408C-4DAC-BB97-A0DA056D565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53</a:t>
            </a:r>
          </a:p>
        </p:txBody>
      </p:sp>
    </p:spTree>
    <p:extLst>
      <p:ext uri="{BB962C8B-B14F-4D97-AF65-F5344CB8AC3E}">
        <p14:creationId xmlns:p14="http://schemas.microsoft.com/office/powerpoint/2010/main" val="1029118313"/>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482864B-C53B-4360-B7C0-51BBC84AA71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9C51ABC-B26E-48D2-BB27-F6908F5E874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A056E71-FF75-4883-BC98-26F74EA0E1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xmlns:a="http://schemas.openxmlformats.org/drawingml/2006/main">
              <a:ext uri="{FF2B5EF4-FFF2-40B4-BE49-F238E27FC236}">
                <a16:creationId xmlns:a16="http://schemas.microsoft.com/office/drawing/2014/main" id="{970DBB72-6076-46D9-B497-ED50C663576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0E4B4C2-F485-4722-BC4E-082AB5D965B4}"/>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captions and a separate readable DOCX/PDF report.</a:t>
            </a:r>
          </a:p>
        </p:txBody>
      </p:sp>
      <p:sp>
        <p:nvSpPr>
          <p:cNvPr id="6" name="">
            <a:extLst xmlns:a="http://schemas.openxmlformats.org/drawingml/2006/main">
              <a:ext uri="{FF2B5EF4-FFF2-40B4-BE49-F238E27FC236}">
                <a16:creationId xmlns:a16="http://schemas.microsoft.com/office/drawing/2014/main" id="{32201F9A-4569-4E83-A489-1A01A059D225}"/>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712DD0D-DC9D-4A88-9251-5BFC61C1A888}"/>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Question &amp; dataset fit (20.0 total): A real engineering question is stated, and the chosen dataset can actually answer it.</a:t>
            </a:r>
          </a:p>
        </p:txBody>
      </p:sp>
      <p:sp>
        <p:nvSpPr>
          <p:cNvPr id="8" name="">
            <a:extLst xmlns:a="http://schemas.openxmlformats.org/drawingml/2006/main">
              <a:ext uri="{FF2B5EF4-FFF2-40B4-BE49-F238E27FC236}">
                <a16:creationId xmlns:a16="http://schemas.microsoft.com/office/drawing/2014/main" id="{E51C0257-2498-4F12-9CF5-5FF0B80C53F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34EAEA9-0B7E-435B-8500-DD48E8E7D072}"/>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Provenance and licence stated.</a:t>
            </a:r>
          </a:p>
        </p:txBody>
      </p:sp>
      <p:sp>
        <p:nvSpPr>
          <p:cNvPr id="10" name="">
            <a:extLst xmlns:a="http://schemas.openxmlformats.org/drawingml/2006/main">
              <a:ext uri="{FF2B5EF4-FFF2-40B4-BE49-F238E27FC236}">
                <a16:creationId xmlns:a16="http://schemas.microsoft.com/office/drawing/2014/main" id="{62BCBE76-14F1-4FEB-9A30-4341E6B9C922}"/>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B1E787F-E379-47F0-92BF-00C37C377B1E}"/>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Data quality work (25.0 total): Defects found and handled with written justification.</a:t>
            </a:r>
          </a:p>
        </p:txBody>
      </p:sp>
      <p:sp>
        <p:nvSpPr>
          <p:cNvPr id="12" name="">
            <a:extLst xmlns:a="http://schemas.openxmlformats.org/drawingml/2006/main">
              <a:ext uri="{FF2B5EF4-FFF2-40B4-BE49-F238E27FC236}">
                <a16:creationId xmlns:a16="http://schemas.microsoft.com/office/drawing/2014/main" id="{74CF6DF5-1566-4C99-8C9C-CA4B69FFE5D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54</a:t>
            </a:r>
          </a:p>
        </p:txBody>
      </p:sp>
    </p:spTree>
    <p:extLst>
      <p:ext uri="{BB962C8B-B14F-4D97-AF65-F5344CB8AC3E}">
        <p14:creationId xmlns:p14="http://schemas.microsoft.com/office/powerpoint/2010/main" val="2072920959"/>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EC12696-90A5-4D5B-9AE5-C13C89117A2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CB046A7-5A93-4ECE-AF30-D5966D5EE87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05FAD64-0B87-48B4-BF62-6A43277A597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xmlns:a="http://schemas.openxmlformats.org/drawingml/2006/main">
              <a:ext uri="{FF2B5EF4-FFF2-40B4-BE49-F238E27FC236}">
                <a16:creationId xmlns:a16="http://schemas.microsoft.com/office/drawing/2014/main" id="{BB316931-A34B-4AD8-8AB9-1737E4FDBE5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04EF615-1E56-4ECB-940A-35F69D4F65E1}"/>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data quality statement is present.</a:t>
            </a:r>
          </a:p>
        </p:txBody>
      </p:sp>
      <p:sp>
        <p:nvSpPr>
          <p:cNvPr id="6" name="">
            <a:extLst xmlns:a="http://schemas.openxmlformats.org/drawingml/2006/main">
              <a:ext uri="{FF2B5EF4-FFF2-40B4-BE49-F238E27FC236}">
                <a16:creationId xmlns:a16="http://schemas.microsoft.com/office/drawing/2014/main" id="{8B29853E-E0FD-49C4-A147-38A2CC1EFC0A}"/>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AF659E8-6371-4AD5-A958-7BC9765BB73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Analysis &amp; visualisation (30.0 total): Four or more charts, each answering a stated question.</a:t>
            </a:r>
          </a:p>
        </p:txBody>
      </p:sp>
      <p:sp>
        <p:nvSpPr>
          <p:cNvPr id="8" name="">
            <a:extLst xmlns:a="http://schemas.openxmlformats.org/drawingml/2006/main">
              <a:ext uri="{FF2B5EF4-FFF2-40B4-BE49-F238E27FC236}">
                <a16:creationId xmlns:a16="http://schemas.microsoft.com/office/drawing/2014/main" id="{5D249E69-1F73-4E18-8D39-48C81AD5F462}"/>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D8426E7-9D50-4BA6-B275-D51F9EBE60F5}"/>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Correct chart types, labelled axes, findings in the captions.</a:t>
            </a:r>
          </a:p>
        </p:txBody>
      </p:sp>
      <p:sp>
        <p:nvSpPr>
          <p:cNvPr id="10" name="">
            <a:extLst xmlns:a="http://schemas.openxmlformats.org/drawingml/2006/main">
              <a:ext uri="{FF2B5EF4-FFF2-40B4-BE49-F238E27FC236}">
                <a16:creationId xmlns:a16="http://schemas.microsoft.com/office/drawing/2014/main" id="{B032CEA6-7B43-4B0F-941D-BFF5E617F1BF}"/>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D89381D-9E68-414F-A1DB-10558D30BF27}"/>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Findings &amp; interpretation (20.0 total): Conclusions supported by the analysis, stated in engineering terms, with limitations acknowledged.</a:t>
            </a:r>
          </a:p>
        </p:txBody>
      </p:sp>
      <p:sp>
        <p:nvSpPr>
          <p:cNvPr id="12" name="">
            <a:extLst xmlns:a="http://schemas.openxmlformats.org/drawingml/2006/main">
              <a:ext uri="{FF2B5EF4-FFF2-40B4-BE49-F238E27FC236}">
                <a16:creationId xmlns:a16="http://schemas.microsoft.com/office/drawing/2014/main" id="{2B76512A-2D69-4525-A4AD-490E0D4A4D3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55</a:t>
            </a:r>
          </a:p>
        </p:txBody>
      </p:sp>
    </p:spTree>
    <p:extLst>
      <p:ext uri="{BB962C8B-B14F-4D97-AF65-F5344CB8AC3E}">
        <p14:creationId xmlns:p14="http://schemas.microsoft.com/office/powerpoint/2010/main" val="1375199789"/>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72152EE-7022-4B42-9C8C-F5D36AA3995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A1DA689-BD29-4B2F-934C-FD007D8CC03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4264F9F-44A4-4A2D-BAF2-ED5052D2339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xmlns:a="http://schemas.openxmlformats.org/drawingml/2006/main">
              <a:ext uri="{FF2B5EF4-FFF2-40B4-BE49-F238E27FC236}">
                <a16:creationId xmlns:a16="http://schemas.microsoft.com/office/drawing/2014/main" id="{A52AD5E4-8DE7-41C7-8DA7-6E920C72A06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3CFDCD9-98D5-4A92-8053-F38860B182B9}"/>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Individual contribution log (5.0 total): Present, specific, and consistent with the repository's commit history.</a:t>
            </a:r>
          </a:p>
        </p:txBody>
      </p:sp>
      <p:sp>
        <p:nvSpPr>
          <p:cNvPr id="6" name="">
            <a:extLst xmlns:a="http://schemas.openxmlformats.org/drawingml/2006/main">
              <a:ext uri="{FF2B5EF4-FFF2-40B4-BE49-F238E27FC236}">
                <a16:creationId xmlns:a16="http://schemas.microsoft.com/office/drawing/2014/main" id="{C9D6A07B-C2E9-48AA-8EFB-C61D8221FB5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56</a:t>
            </a:r>
          </a:p>
        </p:txBody>
      </p:sp>
    </p:spTree>
    <p:extLst>
      <p:ext uri="{BB962C8B-B14F-4D97-AF65-F5344CB8AC3E}">
        <p14:creationId xmlns:p14="http://schemas.microsoft.com/office/powerpoint/2010/main" val="1497090021"/>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A1A558C-B259-42D6-B008-B0EA9E56438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B304308-E94F-4DAD-AD59-E8D1145F2D3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BFC919C4-D22C-4706-8D5F-E2CEF0573DA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submission</a:t>
            </a:r>
          </a:p>
        </p:txBody>
      </p:sp>
      <p:sp>
        <p:nvSpPr>
          <p:cNvPr id="4" name="">
            <a:extLst xmlns:a="http://schemas.openxmlformats.org/drawingml/2006/main">
              <a:ext uri="{FF2B5EF4-FFF2-40B4-BE49-F238E27FC236}">
                <a16:creationId xmlns:a16="http://schemas.microsoft.com/office/drawing/2014/main" id="{B2C73F7E-9F4D-4371-85F0-68253D9BB9B3}"/>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7853C3F-E10E-4C0E-ABB6-2DB441A9B39B}"/>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09 Oct 2026, 08:00 Kampala</a:t>
            </a:r>
          </a:p>
        </p:txBody>
      </p:sp>
      <p:sp>
        <p:nvSpPr>
          <p:cNvPr id="6" name="">
            <a:extLst xmlns:a="http://schemas.openxmlformats.org/drawingml/2006/main">
              <a:ext uri="{FF2B5EF4-FFF2-40B4-BE49-F238E27FC236}">
                <a16:creationId xmlns:a16="http://schemas.microsoft.com/office/drawing/2014/main" id="{940D87B1-1B70-4F5A-9294-C2D0B26D256F}"/>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CE6225A-D3FE-4AC9-A55F-366A15E1B193}"/>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30 Oct 2026, 08:00 Kampala</a:t>
            </a:r>
          </a:p>
        </p:txBody>
      </p:sp>
      <p:sp>
        <p:nvSpPr>
          <p:cNvPr id="8" name="">
            <a:extLst xmlns:a="http://schemas.openxmlformats.org/drawingml/2006/main">
              <a:ext uri="{FF2B5EF4-FFF2-40B4-BE49-F238E27FC236}">
                <a16:creationId xmlns:a16="http://schemas.microsoft.com/office/drawing/2014/main" id="{C60991B8-7966-48A5-BB2A-943E72807D0F}"/>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C1DE51E-565E-4676-9599-604C59C278AA}"/>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0B4E8466-A460-4E5C-937E-52A36CCEA388}"/>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7B5F9CF-9931-40A5-AE9B-37C9793B9AE2}"/>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41495457-603A-475E-8E60-87483A154BA9}"/>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3F638C0-08E2-4D30-84EB-CF6DC0E40898}"/>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61b775ef03e14574"/>
              </a:rPr>
              <a:t>Open DA_PROJECT assignment form</a:t>
            </a:r>
          </a:p>
        </p:txBody>
      </p:sp>
      <p:sp>
        <p:nvSpPr>
          <p:cNvPr id="14" name="">
            <a:extLst xmlns:a="http://schemas.openxmlformats.org/drawingml/2006/main">
              <a:ext uri="{FF2B5EF4-FFF2-40B4-BE49-F238E27FC236}">
                <a16:creationId xmlns:a16="http://schemas.microsoft.com/office/drawing/2014/main" id="{F90DE0D4-CF8A-48C2-9BA6-B8DE7BF375F0}"/>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https://docs.google.com/forms/d/e/1FAIpQLSf_avvvqyl5ZJ-6HU7n4zal9AQETYyJkykuDO5J5Au3dBA4vw/viewform</a:t>
            </a:r>
          </a:p>
        </p:txBody>
      </p:sp>
      <p:sp>
        <p:nvSpPr>
          <p:cNvPr id="15" name="">
            <a:extLst xmlns:a="http://schemas.openxmlformats.org/drawingml/2006/main">
              <a:ext uri="{FF2B5EF4-FFF2-40B4-BE49-F238E27FC236}">
                <a16:creationId xmlns:a16="http://schemas.microsoft.com/office/drawing/2014/main" id="{6E1C9DA9-1272-41E8-A966-5DB2A2CD3E6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57</a:t>
            </a:r>
          </a:p>
        </p:txBody>
      </p:sp>
    </p:spTree>
    <p:extLst>
      <p:ext uri="{BB962C8B-B14F-4D97-AF65-F5344CB8AC3E}">
        <p14:creationId xmlns:p14="http://schemas.microsoft.com/office/powerpoint/2010/main" val="1358938031"/>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9FA18A45-73DC-4699-8FCF-01E700CEBBD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3CAFCB4-6A81-492F-A3FB-B8424D5494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2E0F2035-3B91-4FB7-B1CE-4EF55B0F065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8 quiz</a:t>
            </a:r>
          </a:p>
        </p:txBody>
      </p:sp>
      <p:sp>
        <p:nvSpPr>
          <p:cNvPr id="4" name="">
            <a:extLst xmlns:a="http://schemas.openxmlformats.org/drawingml/2006/main">
              <a:ext uri="{FF2B5EF4-FFF2-40B4-BE49-F238E27FC236}">
                <a16:creationId xmlns:a16="http://schemas.microsoft.com/office/drawing/2014/main" id="{95AAA5DE-DEBE-4CB2-9C13-9EEFDDDB2C45}"/>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A10AE35-86A8-44F7-A3C0-C742F758614E}"/>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645D6A7B-712E-4C51-BA04-2B87F814E2FA}"/>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7DBDFD4-0995-4472-9ED3-F0307C368AAE}"/>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517478A3-8E10-4487-8D97-94A95B97820D}"/>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810F8F4-51AD-469B-9241-4AAAE792CE0C}"/>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A17C0438-6734-47E7-B832-610EB85D2E5F}"/>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CDECFA5-D2FF-43BE-B320-D67ECF921269}"/>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734B7AF6-76BB-44A1-BE25-79F463F60D48}"/>
              </a:ext>
            </a:extLst>
          </p:cNvPr>
          <p:cNvPicPr>
            <a:picLocks xmlns:a="http://schemas.openxmlformats.org/drawingml/2006/main" noChangeAspect="1"/>
          </p:cNvPicPr>
          <p:nvPr/>
        </p:nvPicPr>
        <p:blipFill>
          <a:blip xmlns:r="http://schemas.openxmlformats.org/officeDocument/2006/relationships" xmlns:a="http://schemas.openxmlformats.org/drawingml/2006/main" r:embed="Ra8cac7ba3dc644ea"/>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AD5EB34C-B448-42AB-92E5-64776D992138}"/>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0D4BC062-799C-423C-AD45-281F394A398C}"/>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D35A691-7553-49D7-AF69-243FA88999F9}"/>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d8b28f6af2a84cbe"/>
              </a:rPr>
              <a:t>Open this week’s quiz</a:t>
            </a:r>
          </a:p>
        </p:txBody>
      </p:sp>
      <p:sp>
        <p:nvSpPr>
          <p:cNvPr id="16" name="">
            <a:extLst xmlns:a="http://schemas.openxmlformats.org/drawingml/2006/main">
              <a:ext uri="{FF2B5EF4-FFF2-40B4-BE49-F238E27FC236}">
                <a16:creationId xmlns:a16="http://schemas.microsoft.com/office/drawing/2014/main" id="{BC2E0710-EAB9-4CDC-9129-3ACDDAFD0676}"/>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https://forms.gle/njADrQM1EKhyhRSA8</a:t>
            </a:r>
          </a:p>
        </p:txBody>
      </p:sp>
      <p:sp>
        <p:nvSpPr>
          <p:cNvPr id="17" name="">
            <a:extLst xmlns:a="http://schemas.openxmlformats.org/drawingml/2006/main">
              <a:ext uri="{FF2B5EF4-FFF2-40B4-BE49-F238E27FC236}">
                <a16:creationId xmlns:a16="http://schemas.microsoft.com/office/drawing/2014/main" id="{F5FCB9FB-9B52-46CD-B552-E7FD9136CB6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58</a:t>
            </a:r>
          </a:p>
        </p:txBody>
      </p:sp>
    </p:spTree>
    <p:extLst>
      <p:ext uri="{BB962C8B-B14F-4D97-AF65-F5344CB8AC3E}">
        <p14:creationId xmlns:p14="http://schemas.microsoft.com/office/powerpoint/2010/main" val="178957830"/>
      </p:ext>
    </p:extLst>
  </p:cSld>
</p:sld>
</file>

<file path=ppt/slides/slide59.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2F0C8E4-92EE-4D51-8D90-C6DBF2578B6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634DA049-DE61-4626-9FD8-1B91FF97865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2DB3CF0E-8065-4588-AE32-9F03539E932B}"/>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050B9A17-23F9-4212-A0B5-6817725D97D4}"/>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each cleaning or modelling decision using your pandas table and its outputs.</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Keep raw data unchanged. Restart and run all cells before submitting the required assignment notebook.</a:t>
            </a:r>
          </a:p>
        </p:txBody>
      </p:sp>
      <p:sp>
        <p:nvSpPr>
          <p:cNvPr id="5" name="">
            <a:extLst xmlns:a="http://schemas.openxmlformats.org/drawingml/2006/main">
              <a:ext uri="{FF2B5EF4-FFF2-40B4-BE49-F238E27FC236}">
                <a16:creationId xmlns:a16="http://schemas.microsoft.com/office/drawing/2014/main" id="{C0C5CA05-9EE6-41EB-97FC-331F49F4D72E}"/>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0255BEF4-51A5-4D73-AB27-E06EE31CF89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8   59</a:t>
            </a:r>
          </a:p>
        </p:txBody>
      </p:sp>
    </p:spTree>
    <p:extLst>
      <p:ext uri="{BB962C8B-B14F-4D97-AF65-F5344CB8AC3E}">
        <p14:creationId xmlns:p14="http://schemas.microsoft.com/office/powerpoint/2010/main" val="1944052306"/>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76F7915-64E4-4D6A-8A76-F95CB9EDB6F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D7FB8AB-0659-42B9-9FEB-79033AD764F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A0FB4950-8A1F-40C1-A7D4-D73487708C1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932D6263-2446-438A-B3D0-ACD798E4B759}"/>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1092E27-8DDF-487E-8A31-88C78237D114}"/>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FD5A0100-6708-41AE-BAD1-6DDD25A32491}"/>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16B7F2B-44E4-458F-AAE5-8482EB6C6EC3}"/>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Essence of Linear Regression!!!</a:t>
            </a:r>
          </a:p>
        </p:txBody>
      </p:sp>
      <p:sp>
        <p:nvSpPr>
          <p:cNvPr id="8" name="">
            <a:extLst xmlns:a="http://schemas.openxmlformats.org/drawingml/2006/main">
              <a:ext uri="{FF2B5EF4-FFF2-40B4-BE49-F238E27FC236}">
                <a16:creationId xmlns:a16="http://schemas.microsoft.com/office/drawing/2014/main" id="{1A8345CB-41D6-46AC-A218-E39E7E697585}"/>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9AFE0E5-A096-4D4D-AE7B-B748C678E22F}"/>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AE2DAD11-F8CB-417C-8FE6-02F6D763ECD1}"/>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14F6610-54D7-4961-A80F-94595D998DE3}"/>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How can a fitted line turn an input into a numerical prediction?</a:t>
            </a:r>
          </a:p>
        </p:txBody>
      </p:sp>
      <p:sp>
        <p:nvSpPr>
          <p:cNvPr id="12" name="">
            <a:extLst xmlns:a="http://schemas.openxmlformats.org/drawingml/2006/main">
              <a:ext uri="{FF2B5EF4-FFF2-40B4-BE49-F238E27FC236}">
                <a16:creationId xmlns:a16="http://schemas.microsoft.com/office/drawing/2014/main" id="{30C12DD9-F09A-4CE0-BDCF-4A768FB08C7E}"/>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DFBEBE0-015A-4817-8411-A08091B1B589}"/>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77e518dbe760496a"/>
              </a:rPr>
              <a:t>Open explainer video</a:t>
            </a:r>
          </a:p>
        </p:txBody>
      </p:sp>
      <p:sp>
        <p:nvSpPr>
          <p:cNvPr id="14" name="">
            <a:extLst xmlns:a="http://schemas.openxmlformats.org/drawingml/2006/main">
              <a:ext uri="{FF2B5EF4-FFF2-40B4-BE49-F238E27FC236}">
                <a16:creationId xmlns:a16="http://schemas.microsoft.com/office/drawing/2014/main" id="{4E4E9FFC-C18E-4175-94A7-0A7025B962FD}"/>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https://www.youtube.com/watch?v=aFDOzpTeg0s</a:t>
            </a:r>
          </a:p>
        </p:txBody>
      </p:sp>
      <p:sp>
        <p:nvSpPr>
          <p:cNvPr id="15" name="">
            <a:extLst xmlns:a="http://schemas.openxmlformats.org/drawingml/2006/main">
              <a:ext uri="{FF2B5EF4-FFF2-40B4-BE49-F238E27FC236}">
                <a16:creationId xmlns:a16="http://schemas.microsoft.com/office/drawing/2014/main" id="{A2847D10-4768-42A5-80E1-E957D6C7002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60</a:t>
            </a:r>
          </a:p>
        </p:txBody>
      </p:sp>
    </p:spTree>
    <p:extLst>
      <p:ext uri="{BB962C8B-B14F-4D97-AF65-F5344CB8AC3E}">
        <p14:creationId xmlns:p14="http://schemas.microsoft.com/office/powerpoint/2010/main" val="162154808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2026-10-20T18:01:01.5710000Z</dcterms:created>
  <dcterms:modified xsi:type="dcterms:W3CDTF">2026-10-20T18:01:01.5710000Z</dcterms:modified>
</coreProperties>
</file>