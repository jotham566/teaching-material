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7e78ac0446745de" /><Relationship Type="http://schemas.openxmlformats.org/officeDocument/2006/relationships/extended-properties" Target="/docProps/app.xml" Id="Rc6a790734a4c4b11" /><Relationship Type="http://schemas.openxmlformats.org/officeDocument/2006/relationships/officeDocument" Target="/ppt/presentation.xml" Id="R85fc583597524c76" /></Relationships>
</file>

<file path=ppt/presentation.xml><?xml version="1.0" encoding="utf-8"?>
<p:presentation xmlns:p="http://schemas.openxmlformats.org/presentationml/2006/main">
  <p:sldMasterIdLst>
    <p:sldMasterId xmlns:r="http://schemas.openxmlformats.org/officeDocument/2006/relationships" id="2147483648" r:id="R4d884d3a72fa4336"/>
  </p:sldMasterIdLst>
  <p:notesMasterIdLst>
    <p:notesMasterId xmlns:r="http://schemas.openxmlformats.org/officeDocument/2006/relationships" r:id="R0f2c108ec1d94987"/>
  </p:notesMasterIdLst>
  <p:sldIdLst>
    <p:sldId xmlns:r="http://schemas.openxmlformats.org/officeDocument/2006/relationships" id="256" r:id="R944443e064274ff8"/>
    <p:sldId xmlns:r="http://schemas.openxmlformats.org/officeDocument/2006/relationships" id="257" r:id="R418fd5cbd7484720"/>
    <p:sldId xmlns:r="http://schemas.openxmlformats.org/officeDocument/2006/relationships" id="258" r:id="R3acda0da43344246"/>
    <p:sldId xmlns:r="http://schemas.openxmlformats.org/officeDocument/2006/relationships" id="259" r:id="Rc56277c9e62d4782"/>
    <p:sldId xmlns:r="http://schemas.openxmlformats.org/officeDocument/2006/relationships" id="260" r:id="Rd85ecf0006b04db4"/>
    <p:sldId xmlns:r="http://schemas.openxmlformats.org/officeDocument/2006/relationships" id="261" r:id="Rf11d859c4365431b"/>
    <p:sldId xmlns:r="http://schemas.openxmlformats.org/officeDocument/2006/relationships" id="262" r:id="Ra1d7f708c3054fc0"/>
    <p:sldId xmlns:r="http://schemas.openxmlformats.org/officeDocument/2006/relationships" id="263" r:id="Rd788b6c20f8347aa"/>
    <p:sldId xmlns:r="http://schemas.openxmlformats.org/officeDocument/2006/relationships" id="264" r:id="R47d2464a2faa49d6"/>
    <p:sldId xmlns:r="http://schemas.openxmlformats.org/officeDocument/2006/relationships" id="265" r:id="R96db67ed70c24ef2"/>
    <p:sldId xmlns:r="http://schemas.openxmlformats.org/officeDocument/2006/relationships" id="266" r:id="R2e4587e57c5342cb"/>
    <p:sldId xmlns:r="http://schemas.openxmlformats.org/officeDocument/2006/relationships" id="267" r:id="R45e13f1e73ce4e20"/>
    <p:sldId xmlns:r="http://schemas.openxmlformats.org/officeDocument/2006/relationships" id="268" r:id="R31554a6bc79043b0"/>
    <p:sldId xmlns:r="http://schemas.openxmlformats.org/officeDocument/2006/relationships" id="269" r:id="R29078ca87c6b42a3"/>
    <p:sldId xmlns:r="http://schemas.openxmlformats.org/officeDocument/2006/relationships" id="270" r:id="R622e8bbc98ee44ac"/>
    <p:sldId xmlns:r="http://schemas.openxmlformats.org/officeDocument/2006/relationships" id="271" r:id="R3d6aa05f042747f3"/>
    <p:sldId xmlns:r="http://schemas.openxmlformats.org/officeDocument/2006/relationships" id="272" r:id="R4ae8ccc08f0f459a"/>
    <p:sldId xmlns:r="http://schemas.openxmlformats.org/officeDocument/2006/relationships" id="273" r:id="R11361817f31d476d"/>
    <p:sldId xmlns:r="http://schemas.openxmlformats.org/officeDocument/2006/relationships" id="274" r:id="R52441dc0e51c4e81"/>
    <p:sldId xmlns:r="http://schemas.openxmlformats.org/officeDocument/2006/relationships" id="275" r:id="R5e2894e49d854bd4"/>
    <p:sldId xmlns:r="http://schemas.openxmlformats.org/officeDocument/2006/relationships" id="276" r:id="R974abc3145734a87"/>
    <p:sldId xmlns:r="http://schemas.openxmlformats.org/officeDocument/2006/relationships" id="277" r:id="Rd240f43af7c94eca"/>
    <p:sldId xmlns:r="http://schemas.openxmlformats.org/officeDocument/2006/relationships" id="278" r:id="Rf06c6667516149e4"/>
    <p:sldId xmlns:r="http://schemas.openxmlformats.org/officeDocument/2006/relationships" id="279" r:id="R235d8ade19294534"/>
    <p:sldId xmlns:r="http://schemas.openxmlformats.org/officeDocument/2006/relationships" id="280" r:id="R163ba381dc1d4b03"/>
    <p:sldId xmlns:r="http://schemas.openxmlformats.org/officeDocument/2006/relationships" id="281" r:id="R18324f9ef94d4cae"/>
    <p:sldId xmlns:r="http://schemas.openxmlformats.org/officeDocument/2006/relationships" id="282" r:id="R9e642d7a10c743db"/>
    <p:sldId xmlns:r="http://schemas.openxmlformats.org/officeDocument/2006/relationships" id="283" r:id="Re60d2675784645b9"/>
    <p:sldId xmlns:r="http://schemas.openxmlformats.org/officeDocument/2006/relationships" id="284" r:id="Rcdf1a7769dd3435d"/>
    <p:sldId xmlns:r="http://schemas.openxmlformats.org/officeDocument/2006/relationships" id="285" r:id="R793fe223159d4d39"/>
    <p:sldId xmlns:r="http://schemas.openxmlformats.org/officeDocument/2006/relationships" id="286" r:id="R32196c27427f40f9"/>
    <p:sldId xmlns:r="http://schemas.openxmlformats.org/officeDocument/2006/relationships" id="287" r:id="R2182fc34f92e4e58"/>
    <p:sldId xmlns:r="http://schemas.openxmlformats.org/officeDocument/2006/relationships" id="288" r:id="R8a481d559849483c"/>
    <p:sldId xmlns:r="http://schemas.openxmlformats.org/officeDocument/2006/relationships" id="289" r:id="Ra042f17e6b214217"/>
    <p:sldId xmlns:r="http://schemas.openxmlformats.org/officeDocument/2006/relationships" id="290" r:id="R52f4fd2164884b30"/>
    <p:sldId xmlns:r="http://schemas.openxmlformats.org/officeDocument/2006/relationships" id="291" r:id="R1169fe2bfa174dc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dd7a27bd9bf4342" /><Relationship Type="http://schemas.openxmlformats.org/officeDocument/2006/relationships/slideMaster" Target="/ppt/slideMasters/slideMaster1.xml" Id="R4d884d3a72fa4336" /><Relationship Type="http://schemas.openxmlformats.org/officeDocument/2006/relationships/notesMaster" Target="/ppt/notesMasters/notesMaster1.xml" Id="R0f2c108ec1d94987" /><Relationship Type="http://schemas.openxmlformats.org/officeDocument/2006/relationships/presProps" Target="/ppt/presProps.xml" Id="R38ff0711938d4f00" /><Relationship Type="http://schemas.openxmlformats.org/officeDocument/2006/relationships/tableStyles" Target="/ppt/tableStyles.xml" Id="R779150666c92407e" /><Relationship Type="http://schemas.openxmlformats.org/officeDocument/2006/relationships/slide" Target="/ppt/slides/slide1.xml" Id="R944443e064274ff8" /><Relationship Type="http://schemas.openxmlformats.org/officeDocument/2006/relationships/slide" Target="/ppt/slides/slide2.xml" Id="R418fd5cbd7484720" /><Relationship Type="http://schemas.openxmlformats.org/officeDocument/2006/relationships/slide" Target="/ppt/slides/slide3.xml" Id="R3acda0da43344246" /><Relationship Type="http://schemas.openxmlformats.org/officeDocument/2006/relationships/slide" Target="/ppt/slides/slide4.xml" Id="Rc56277c9e62d4782" /><Relationship Type="http://schemas.openxmlformats.org/officeDocument/2006/relationships/slide" Target="/ppt/slides/slide5.xml" Id="Rd85ecf0006b04db4" /><Relationship Type="http://schemas.openxmlformats.org/officeDocument/2006/relationships/slide" Target="/ppt/slides/slide6.xml" Id="Rf11d859c4365431b" /><Relationship Type="http://schemas.openxmlformats.org/officeDocument/2006/relationships/slide" Target="/ppt/slides/slide7.xml" Id="Ra1d7f708c3054fc0" /><Relationship Type="http://schemas.openxmlformats.org/officeDocument/2006/relationships/slide" Target="/ppt/slides/slide8.xml" Id="Rd788b6c20f8347aa" /><Relationship Type="http://schemas.openxmlformats.org/officeDocument/2006/relationships/slide" Target="/ppt/slides/slide9.xml" Id="R47d2464a2faa49d6" /><Relationship Type="http://schemas.openxmlformats.org/officeDocument/2006/relationships/slide" Target="/ppt/slides/slide10.xml" Id="R96db67ed70c24ef2" /><Relationship Type="http://schemas.openxmlformats.org/officeDocument/2006/relationships/slide" Target="/ppt/slides/slide11.xml" Id="R2e4587e57c5342cb" /><Relationship Type="http://schemas.openxmlformats.org/officeDocument/2006/relationships/slide" Target="/ppt/slides/slide12.xml" Id="R45e13f1e73ce4e20" /><Relationship Type="http://schemas.openxmlformats.org/officeDocument/2006/relationships/slide" Target="/ppt/slides/slide13.xml" Id="R31554a6bc79043b0" /><Relationship Type="http://schemas.openxmlformats.org/officeDocument/2006/relationships/slide" Target="/ppt/slides/slide14.xml" Id="R29078ca87c6b42a3" /><Relationship Type="http://schemas.openxmlformats.org/officeDocument/2006/relationships/slide" Target="/ppt/slides/slide15.xml" Id="R622e8bbc98ee44ac" /><Relationship Type="http://schemas.openxmlformats.org/officeDocument/2006/relationships/slide" Target="/ppt/slides/slide16.xml" Id="R3d6aa05f042747f3" /><Relationship Type="http://schemas.openxmlformats.org/officeDocument/2006/relationships/slide" Target="/ppt/slides/slide17.xml" Id="R4ae8ccc08f0f459a" /><Relationship Type="http://schemas.openxmlformats.org/officeDocument/2006/relationships/slide" Target="/ppt/slides/slide18.xml" Id="R11361817f31d476d" /><Relationship Type="http://schemas.openxmlformats.org/officeDocument/2006/relationships/slide" Target="/ppt/slides/slide19.xml" Id="R52441dc0e51c4e81" /><Relationship Type="http://schemas.openxmlformats.org/officeDocument/2006/relationships/slide" Target="/ppt/slides/slide20.xml" Id="R5e2894e49d854bd4" /><Relationship Type="http://schemas.openxmlformats.org/officeDocument/2006/relationships/slide" Target="/ppt/slides/slide21.xml" Id="R974abc3145734a87" /><Relationship Type="http://schemas.openxmlformats.org/officeDocument/2006/relationships/slide" Target="/ppt/slides/slide22.xml" Id="Rd240f43af7c94eca" /><Relationship Type="http://schemas.openxmlformats.org/officeDocument/2006/relationships/slide" Target="/ppt/slides/slide23.xml" Id="Rf06c6667516149e4" /><Relationship Type="http://schemas.openxmlformats.org/officeDocument/2006/relationships/slide" Target="/ppt/slides/slide24.xml" Id="R235d8ade19294534" /><Relationship Type="http://schemas.openxmlformats.org/officeDocument/2006/relationships/slide" Target="/ppt/slides/slide25.xml" Id="R163ba381dc1d4b03" /><Relationship Type="http://schemas.openxmlformats.org/officeDocument/2006/relationships/slide" Target="/ppt/slides/slide26.xml" Id="R18324f9ef94d4cae" /><Relationship Type="http://schemas.openxmlformats.org/officeDocument/2006/relationships/slide" Target="/ppt/slides/slide27.xml" Id="R9e642d7a10c743db" /><Relationship Type="http://schemas.openxmlformats.org/officeDocument/2006/relationships/slide" Target="/ppt/slides/slide28.xml" Id="Re60d2675784645b9" /><Relationship Type="http://schemas.openxmlformats.org/officeDocument/2006/relationships/slide" Target="/ppt/slides/slide29.xml" Id="Rcdf1a7769dd3435d" /><Relationship Type="http://schemas.openxmlformats.org/officeDocument/2006/relationships/slide" Target="/ppt/slides/slide30.xml" Id="R793fe223159d4d39" /><Relationship Type="http://schemas.openxmlformats.org/officeDocument/2006/relationships/slide" Target="/ppt/slides/slide31.xml" Id="R32196c27427f40f9" /><Relationship Type="http://schemas.openxmlformats.org/officeDocument/2006/relationships/slide" Target="/ppt/slides/slide32.xml" Id="R2182fc34f92e4e58" /><Relationship Type="http://schemas.openxmlformats.org/officeDocument/2006/relationships/slide" Target="/ppt/slides/slide33.xml" Id="R8a481d559849483c" /><Relationship Type="http://schemas.openxmlformats.org/officeDocument/2006/relationships/slide" Target="/ppt/slides/slide34.xml" Id="Ra042f17e6b214217" /><Relationship Type="http://schemas.openxmlformats.org/officeDocument/2006/relationships/slide" Target="/ppt/slides/slide35.xml" Id="R52f4fd2164884b30" /><Relationship Type="http://schemas.openxmlformats.org/officeDocument/2006/relationships/slide" Target="/ppt/slides/slide36.xml" Id="R1169fe2bfa174dc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9e7402a5b2a471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a2cf498ddb54ffa" /><Relationship Type="http://schemas.openxmlformats.org/officeDocument/2006/relationships/notesMaster" Target="/ppt/notesMasters/notesMaster1.xml" Id="Rf75d1cd23381475c" /></Relationships>
</file>

<file path=ppt/notesSlides/_rels/notesSlide2.xml.rels>&#65279;<?xml version="1.0" encoding="utf-8"?><Relationships xmlns="http://schemas.openxmlformats.org/package/2006/relationships"><Relationship Type="http://schemas.openxmlformats.org/officeDocument/2006/relationships/slide" Target="/ppt/slides/slide2.xml" Id="R7d3a00ff7cd74793" /><Relationship Type="http://schemas.openxmlformats.org/officeDocument/2006/relationships/notesMaster" Target="/ppt/notesMasters/notesMaster1.xml" Id="R5f2486e650134d0c" /></Relationships>
</file>

<file path=ppt/notesSlides/_rels/notesSlide3.xml.rels>&#65279;<?xml version="1.0" encoding="utf-8"?><Relationships xmlns="http://schemas.openxmlformats.org/package/2006/relationships"><Relationship Type="http://schemas.openxmlformats.org/officeDocument/2006/relationships/slide" Target="/ppt/slides/slide3.xml" Id="Rbdb3709caa844b19" /><Relationship Type="http://schemas.openxmlformats.org/officeDocument/2006/relationships/notesMaster" Target="/ppt/notesMasters/notesMaster1.xml" Id="R6823fee5106c4c5f" /></Relationships>
</file>

<file path=ppt/notesSlides/_rels/notesSlide4.xml.rels>&#65279;<?xml version="1.0" encoding="utf-8"?><Relationships xmlns="http://schemas.openxmlformats.org/package/2006/relationships"><Relationship Type="http://schemas.openxmlformats.org/officeDocument/2006/relationships/slide" Target="/ppt/slides/slide4.xml" Id="R6f0f52146eec4e0c" /><Relationship Type="http://schemas.openxmlformats.org/officeDocument/2006/relationships/notesMaster" Target="/ppt/notesMasters/notesMaster1.xml" Id="Rb0b01f5837a146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43ddcef0a734dc9" /><Relationship Type="http://schemas.openxmlformats.org/officeDocument/2006/relationships/notesMaster" Target="/ppt/notesMasters/notesMaster1.xml" Id="R2f5b6a456c264c0e" /></Relationships>
</file>

<file path=ppt/notesSlides/_rels/notesSlide6.xml.rels>&#65279;<?xml version="1.0" encoding="utf-8"?><Relationships xmlns="http://schemas.openxmlformats.org/package/2006/relationships"><Relationship Type="http://schemas.openxmlformats.org/officeDocument/2006/relationships/slide" Target="/ppt/slides/slide6.xml" Id="R8033462298ed4cb0" /><Relationship Type="http://schemas.openxmlformats.org/officeDocument/2006/relationships/notesMaster" Target="/ppt/notesMasters/notesMaster1.xml" Id="Re2f903b0375b486b" /></Relationships>
</file>

<file path=ppt/notesSlides/_rels/notesSlide7.xml.rels>&#65279;<?xml version="1.0" encoding="utf-8"?><Relationships xmlns="http://schemas.openxmlformats.org/package/2006/relationships"><Relationship Type="http://schemas.openxmlformats.org/officeDocument/2006/relationships/slide" Target="/ppt/slides/slide7.xml" Id="R70a812db0cad4404" /><Relationship Type="http://schemas.openxmlformats.org/officeDocument/2006/relationships/notesMaster" Target="/ppt/notesMasters/notesMaster1.xml" Id="R26331a7f098e4edc" /></Relationships>
</file>

<file path=ppt/notesSlides/_rels/notesSlide8.xml.rels>&#65279;<?xml version="1.0" encoding="utf-8"?><Relationships xmlns="http://schemas.openxmlformats.org/package/2006/relationships"><Relationship Type="http://schemas.openxmlformats.org/officeDocument/2006/relationships/slide" Target="/ppt/slides/slide8.xml" Id="R9e987e6051ba4a9a" /><Relationship Type="http://schemas.openxmlformats.org/officeDocument/2006/relationships/notesMaster" Target="/ppt/notesMasters/notesMaster1.xml" Id="R95456c1b87b5421a" /></Relationships>
</file>

<file path=ppt/notesSlides/_rels/notesSlide9.xml.rels>&#65279;<?xml version="1.0" encoding="utf-8"?><Relationships xmlns="http://schemas.openxmlformats.org/package/2006/relationships"><Relationship Type="http://schemas.openxmlformats.org/officeDocument/2006/relationships/slide" Target="/ppt/slides/slide9.xml" Id="R1abef5de8e004df5" /><Relationship Type="http://schemas.openxmlformats.org/officeDocument/2006/relationships/notesMaster" Target="/ppt/notesMasters/notesMaster1.xml" Id="Rc0da3045f7fd44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41f9ed8fe3f4c48" /><Relationship Type="http://schemas.openxmlformats.org/officeDocument/2006/relationships/notesMaster" Target="/ppt/notesMasters/notesMaster1.xml" Id="R30a8da0703ea493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3b21655535e4767" /><Relationship Type="http://schemas.openxmlformats.org/officeDocument/2006/relationships/notesMaster" Target="/ppt/notesMasters/notesMaster1.xml" Id="R33fbf204b6f2494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c71469ea2354693" /><Relationship Type="http://schemas.openxmlformats.org/officeDocument/2006/relationships/notesMaster" Target="/ppt/notesMasters/notesMaster1.xml" Id="Rb8c6893885944b0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fa9eb8a3e6b44c8" /><Relationship Type="http://schemas.openxmlformats.org/officeDocument/2006/relationships/notesMaster" Target="/ppt/notesMasters/notesMaster1.xml" Id="R1ada8281198c493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78e8522d1d84b05" /><Relationship Type="http://schemas.openxmlformats.org/officeDocument/2006/relationships/notesMaster" Target="/ppt/notesMasters/notesMaster1.xml" Id="R1450f37109f9484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83b2f6cca344e6f" /><Relationship Type="http://schemas.openxmlformats.org/officeDocument/2006/relationships/notesMaster" Target="/ppt/notesMasters/notesMaster1.xml" Id="Rc90e46c851b3441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dd65a416d454903" /><Relationship Type="http://schemas.openxmlformats.org/officeDocument/2006/relationships/notesMaster" Target="/ppt/notesMasters/notesMaster1.xml" Id="R1ba87bf40d06496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b93ef5bfe644d3b" /><Relationship Type="http://schemas.openxmlformats.org/officeDocument/2006/relationships/notesMaster" Target="/ppt/notesMasters/notesMaster1.xml" Id="R8712bf801f9e42e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b09247d72ef407a" /><Relationship Type="http://schemas.openxmlformats.org/officeDocument/2006/relationships/notesMaster" Target="/ppt/notesMasters/notesMaster1.xml" Id="Re40b1273fd1043d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4d380577ce04451" /><Relationship Type="http://schemas.openxmlformats.org/officeDocument/2006/relationships/notesMaster" Target="/ppt/notesMasters/notesMaster1.xml" Id="R86f4b936e63f431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a840aa917164d14" /><Relationship Type="http://schemas.openxmlformats.org/officeDocument/2006/relationships/notesMaster" Target="/ppt/notesMasters/notesMaster1.xml" Id="Rd64610c574024c9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57dccbad67249fd" /><Relationship Type="http://schemas.openxmlformats.org/officeDocument/2006/relationships/notesMaster" Target="/ppt/notesMasters/notesMaster1.xml" Id="R84ae319b7d57419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577caf63c3744c9" /><Relationship Type="http://schemas.openxmlformats.org/officeDocument/2006/relationships/notesMaster" Target="/ppt/notesMasters/notesMaster1.xml" Id="R5888854b7292418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9b81609205749ba" /><Relationship Type="http://schemas.openxmlformats.org/officeDocument/2006/relationships/notesMaster" Target="/ppt/notesMasters/notesMaster1.xml" Id="Rbb9b3c297cfb414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6a4696b977a4aa8" /><Relationship Type="http://schemas.openxmlformats.org/officeDocument/2006/relationships/notesMaster" Target="/ppt/notesMasters/notesMaster1.xml" Id="Rd82ed0e1feba46b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13fd4f7576e4e9c" /><Relationship Type="http://schemas.openxmlformats.org/officeDocument/2006/relationships/notesMaster" Target="/ppt/notesMasters/notesMaster1.xml" Id="Re0dc66b8e0834ca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f40ea919f6d40f9" /><Relationship Type="http://schemas.openxmlformats.org/officeDocument/2006/relationships/notesMaster" Target="/ppt/notesMasters/notesMaster1.xml" Id="R70da975a947e4d1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0355f5cb7a54d87" /><Relationship Type="http://schemas.openxmlformats.org/officeDocument/2006/relationships/notesMaster" Target="/ppt/notesMasters/notesMaster1.xml" Id="R5e5b9f2c5b084cb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ad50f4233b54bd7" /><Relationship Type="http://schemas.openxmlformats.org/officeDocument/2006/relationships/notesMaster" Target="/ppt/notesMasters/notesMaster1.xml" Id="R850dbf62cb0b429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79885613b2b4b77" /><Relationship Type="http://schemas.openxmlformats.org/officeDocument/2006/relationships/notesMaster" Target="/ppt/notesMasters/notesMaster1.xml" Id="R3918f915f48748e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1771c05da6645be" /><Relationship Type="http://schemas.openxmlformats.org/officeDocument/2006/relationships/notesMaster" Target="/ppt/notesMasters/notesMaster1.xml" Id="R84fc34b4c70d4b2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64a8612e8864811" /><Relationship Type="http://schemas.openxmlformats.org/officeDocument/2006/relationships/notesMaster" Target="/ppt/notesMasters/notesMaster1.xml" Id="R603d39c973824a4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ecbd828e29a43ca" /><Relationship Type="http://schemas.openxmlformats.org/officeDocument/2006/relationships/notesMaster" Target="/ppt/notesMasters/notesMaster1.xml" Id="Rdcfcd59225174d8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f773b3154014042" /><Relationship Type="http://schemas.openxmlformats.org/officeDocument/2006/relationships/notesMaster" Target="/ppt/notesMasters/notesMaster1.xml" Id="R89352ee2e04d4f3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d658b0c670c401b" /><Relationship Type="http://schemas.openxmlformats.org/officeDocument/2006/relationships/notesMaster" Target="/ppt/notesMasters/notesMaster1.xml" Id="Rf8bb86f8e4c74cf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974b9bd63334ac3" /><Relationship Type="http://schemas.openxmlformats.org/officeDocument/2006/relationships/notesMaster" Target="/ppt/notesMasters/notesMaster1.xml" Id="R0ecc123335cd4b1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83a94fbbed5420a" /><Relationship Type="http://schemas.openxmlformats.org/officeDocument/2006/relationships/notesMaster" Target="/ppt/notesMasters/notesMaster1.xml" Id="R9b4a1fcdde624abd"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Choosing and explaining a model</a:t>
            </a:r>
          </a:p>
          <a:p>
            <a:r>
              <a:t>CML3112, Week 12, slide 1</a:t>
            </a:r>
          </a:p>
          <a:p>
            <a:r>
              <a:t/>
            </a:r>
          </a:p>
          <a:p>
            <a:r>
              <a:t>Explanation to give</a:t>
            </a:r>
          </a:p>
          <a:p>
            <a:r>
              <a:t>A recommendation must satisfy the practical limits before it wins on a ranking metric. Explain eligibility and tie-breaking separately.</a:t>
            </a:r>
          </a:p>
          <a:p>
            <a:r>
              <a:t/>
            </a:r>
          </a:p>
          <a:p>
            <a:r>
              <a:t>Worked illustration / lecturer answer</a:t>
            </a:r>
          </a:p>
          <a:p>
            <a:r>
              <a:t>A model at 4 error units and 12 ms fails a 10 ms limit even if its error is attractive. Test exact boundaries before ranking eligible candidates.</a:t>
            </a:r>
          </a:p>
          <a:p>
            <a:r>
              <a:t/>
            </a:r>
          </a:p>
          <a:p>
            <a:r>
              <a:t>Misconception to address</a:t>
            </a:r>
          </a:p>
          <a:p>
            <a:r>
              <a:t>Use this as an orientation to the lesson. Terms and syntax will be unpacked on their own slides; students do not need to know them in advance.</a:t>
            </a:r>
          </a:p>
          <a:p>
            <a:r>
              <a:t/>
            </a:r>
          </a:p>
          <a:p>
            <a:r>
              <a:t>On this slide</a:t>
            </a:r>
          </a:p>
          <a:p>
            <a:r>
              <a:t>Civil Engineering and Architecture</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CML3112, Week 12, slide 2</a:t>
            </a:r>
          </a:p>
          <a:p>
            <a:r>
              <a:t/>
            </a:r>
          </a:p>
          <a:p>
            <a:r>
              <a:t>Explanation to give</a:t>
            </a:r>
          </a:p>
          <a:p>
            <a:r>
              <a:t>A recommendation must satisfy the practical limits before it wins on a ranking metric. Explain eligibility and tie-breaking separately.</a:t>
            </a:r>
          </a:p>
          <a:p>
            <a:r>
              <a:t/>
            </a:r>
          </a:p>
          <a:p>
            <a:r>
              <a:t>Worked illustration / lecturer answer</a:t>
            </a:r>
          </a:p>
          <a:p>
            <a:r>
              <a:t>A model at 4 error units and 12 ms fails a 10 ms limit even if its error is attractive. Test exact boundaries before ranking eligible candidates.</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Check model requirements before ranking candidates.</a:t>
            </a:r>
          </a:p>
          <a:p>
            <a:r>
              <a:t/>
            </a:r>
          </a:p>
          <a:p>
            <a:r>
              <a:t>Apply the tie-break rule and explain the choice.</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CML3112, Week 12, slide 3</a:t>
            </a:r>
          </a:p>
          <a:p>
            <a:r>
              <a:t/>
            </a:r>
          </a:p>
          <a:p>
            <a:r>
              <a:t>Explanation to give</a:t>
            </a:r>
          </a:p>
          <a:p>
            <a:r>
              <a:t>A recommendation must satisfy the practical limits before it wins on a ranking metric. Explain eligibility and tie-breaking separately.</a:t>
            </a:r>
          </a:p>
          <a:p>
            <a:r>
              <a:t/>
            </a:r>
          </a:p>
          <a:p>
            <a:r>
              <a:t>Worked illustration / lecturer answer</a:t>
            </a:r>
          </a:p>
          <a:p>
            <a:r>
              <a:t>A model at 4 error units and 12 ms fails a 10 ms limit even if its error is attractive. Test exact boundaries before ranking eligible candidates.</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 already calculate validation errors. Now we combine those errors with a practical constraint and an explicit tie-break rule.</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CML3112, Week 12, slide 4</a:t>
            </a:r>
          </a:p>
          <a:p>
            <a:r>
              <a:t/>
            </a:r>
          </a:p>
          <a:p>
            <a:r>
              <a:t>Explanation to give</a:t>
            </a:r>
          </a:p>
          <a:p>
            <a:r>
              <a:t>A recommendation must satisfy the practical limits before it wins on a ranking metric. Explain eligibility and tie-breaking separately.</a:t>
            </a:r>
          </a:p>
          <a:p>
            <a:r>
              <a:t/>
            </a:r>
          </a:p>
          <a:p>
            <a:r>
              <a:t>Worked illustration / lecturer answer</a:t>
            </a:r>
          </a:p>
          <a:p>
            <a:r>
              <a:t>A model at 4 error units and 12 ms fails a 10 ms limit even if its error is attractive. Test exact boundaries before ranking eligible candidates.</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The lowest prediction error may come from a model that is too slow for the stated task. We apply the published constraints before ranking eligible models.</a:t>
            </a:r>
          </a:p>
          <a:p>
            <a:r>
              <a:t/>
            </a:r>
          </a:p>
          <a:p>
            <a:r>
              <a:t>Continue to</a:t>
            </a:r>
          </a:p>
          <a:p>
            <a:r>
              <a:t>Constraint and Latency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Constraint and Latency</a:t>
            </a:r>
          </a:p>
          <a:p>
            <a:r>
              <a:t>CML3112, Week 12, slide 5</a:t>
            </a:r>
          </a:p>
          <a:p>
            <a:r>
              <a:t/>
            </a:r>
          </a:p>
          <a:p>
            <a:r>
              <a:t>Explanation to give</a:t>
            </a:r>
          </a:p>
          <a:p>
            <a:r>
              <a:t>Separate eligibility from ranking. A model that violates a required error or latency limit cannot win merely because another score is attractive. Latency is time per prediction in the stated measurement setting.</a:t>
            </a:r>
          </a:p>
          <a:p>
            <a:r>
              <a:t/>
            </a:r>
          </a:p>
          <a:p>
            <a:r>
              <a:t>Worked illustration / lecturer answer</a:t>
            </a:r>
          </a:p>
          <a:p>
            <a:r>
              <a:t>With limits MAE &lt;= 5 and latency &lt;= 10 ms, a candidate at MAE 4 and 12 ms fails eligibility. A candidate at MAE 5 and 10 ms passes inclusive limits.</a:t>
            </a:r>
          </a:p>
          <a:p>
            <a:r>
              <a:t/>
            </a:r>
          </a:p>
          <a:p>
            <a:r>
              <a:t>Misconception to address</a:t>
            </a:r>
          </a:p>
          <a:p>
            <a:r>
              <a:t>Establish units and whether boundaries are inclusive. An error of 4 is not comparable across different target units or evaluation samples.</a:t>
            </a:r>
          </a:p>
          <a:p>
            <a:r>
              <a:t/>
            </a:r>
          </a:p>
          <a:p>
            <a:r>
              <a:t>On this slide</a:t>
            </a:r>
          </a:p>
          <a:p>
            <a:r>
              <a:t>Constraint: A condition a candidate must satisfy, such as MAE at most 3 and latency at most 10 ms.</a:t>
            </a:r>
          </a:p>
          <a:p>
            <a:r>
              <a:t>Latency: Time taken to produce a prediction under stated measurement conditions. Hardware and measurement method matter.</a:t>
            </a:r>
          </a:p>
          <a:p>
            <a:r>
              <a:t/>
            </a:r>
          </a:p>
          <a:p>
            <a:r>
              <a:t>Continue to</a:t>
            </a:r>
          </a:p>
          <a:p>
            <a:r>
              <a:t>Tie-break and Hyperparameter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Tie-break and Hyperparameter</a:t>
            </a:r>
          </a:p>
          <a:p>
            <a:r>
              <a:t>CML3112, Week 12, slide 6</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Tie-break: A published rule for choosing between candidates that tie on the main criterion.</a:t>
            </a:r>
          </a:p>
          <a:p>
            <a:r>
              <a:t>Hyperparameter: A setting chosen before fitting, such as tree depth. Tune using validation or cross-validation, not the final test.</a:t>
            </a:r>
          </a:p>
          <a:p>
            <a:r>
              <a:t/>
            </a:r>
          </a:p>
          <a:p>
            <a:r>
              <a:t>Continue to</a:t>
            </a:r>
          </a:p>
          <a:p>
            <a:r>
              <a:t>Error and practical constraints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Error and practical constraints</a:t>
            </a:r>
          </a:p>
          <a:p>
            <a:r>
              <a:t>CML3112, Week 12, slide 7</a:t>
            </a:r>
          </a:p>
          <a:p>
            <a:r>
              <a:t/>
            </a:r>
          </a:p>
          <a:p>
            <a:r>
              <a:t>Explanation to give</a:t>
            </a:r>
          </a:p>
          <a:p>
            <a:r>
              <a:t>Separate eligibility from ranking. A model that violates a required error or latency limit cannot win merely because another score is attractive. Latency is time per prediction in the stated measurement setting.</a:t>
            </a:r>
          </a:p>
          <a:p>
            <a:r>
              <a:t/>
            </a:r>
          </a:p>
          <a:p>
            <a:r>
              <a:t>Worked illustration / lecturer answer</a:t>
            </a:r>
          </a:p>
          <a:p>
            <a:r>
              <a:t>With limits MAE &lt;= 5 and latency &lt;= 10 ms, a candidate at MAE 4 and 12 ms fails eligibility. A candidate at MAE 5 and 10 ms passes inclusive limits.</a:t>
            </a:r>
          </a:p>
          <a:p>
            <a:r>
              <a:t/>
            </a:r>
          </a:p>
          <a:p>
            <a:r>
              <a:t>Misconception to address</a:t>
            </a:r>
          </a:p>
          <a:p>
            <a:r>
              <a:t>Establish units and whether boundaries are inclusive. An error of 4 is not comparable across different target units or evaluation samples.</a:t>
            </a:r>
          </a:p>
          <a:p>
            <a:r>
              <a:t/>
            </a:r>
          </a:p>
          <a:p>
            <a:r>
              <a:t>On this slide</a:t>
            </a:r>
          </a:p>
          <a:p>
            <a:r>
              <a:t>A smaller error can require more computation.</a:t>
            </a:r>
          </a:p>
          <a:p>
            <a:r>
              <a:t/>
            </a:r>
          </a:p>
          <a:p>
            <a:r>
              <a:t>A candidate must meet every stated requirement.</a:t>
            </a:r>
          </a:p>
          <a:p>
            <a:r>
              <a:t/>
            </a:r>
          </a:p>
          <a:p>
            <a:r>
              <a:t>Compare eligible models on the same validation observations.</a:t>
            </a:r>
          </a:p>
          <a:p>
            <a:r>
              <a:t/>
            </a:r>
          </a:p>
          <a:p>
            <a:r>
              <a:t>Follow the published tie-break rule when scores tie.</a:t>
            </a:r>
          </a:p>
          <a:p>
            <a:r>
              <a:t/>
            </a:r>
          </a:p>
          <a:p>
            <a:r>
              <a:t>Continue to</a:t>
            </a:r>
          </a:p>
          <a:p>
            <a:r>
              <a:t>A model comparison needs a fair test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model comparison needs a fair test</a:t>
            </a:r>
          </a:p>
          <a:p>
            <a:r>
              <a:t>CML3112, Week 12, slide 8</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Use the same validation observations for every candidate.</a:t>
            </a:r>
          </a:p>
          <a:p>
            <a:r>
              <a:t/>
            </a:r>
          </a:p>
          <a:p>
            <a:r>
              <a:t>Fit preprocessing on training data only.</a:t>
            </a:r>
          </a:p>
          <a:p>
            <a:r>
              <a:t/>
            </a:r>
          </a:p>
          <a:p>
            <a:r>
              <a:t>Choose the error measure and practical requirements before inspecting results.</a:t>
            </a:r>
          </a:p>
          <a:p>
            <a:r>
              <a:t/>
            </a:r>
          </a:p>
          <a:p>
            <a:r>
              <a:t>Continue to</a:t>
            </a:r>
          </a:p>
          <a:p>
            <a:r>
              <a:t>Eligibility comes before ranking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Eligibility comes before ranking</a:t>
            </a:r>
          </a:p>
          <a:p>
            <a:r>
              <a:t>CML3112, Week 12, slide 9</a:t>
            </a:r>
          </a:p>
          <a:p>
            <a:r>
              <a:t/>
            </a:r>
          </a:p>
          <a:p>
            <a:r>
              <a:t>Explanation to give</a:t>
            </a:r>
          </a:p>
          <a:p>
            <a:r>
              <a:t>Separate eligibility from ranking. A model that violates a required error or latency limit cannot win merely because another score is attractive. Latency is time per prediction in the stated measurement setting.</a:t>
            </a:r>
          </a:p>
          <a:p>
            <a:r>
              <a:t/>
            </a:r>
          </a:p>
          <a:p>
            <a:r>
              <a:t>Worked illustration / lecturer answer</a:t>
            </a:r>
          </a:p>
          <a:p>
            <a:r>
              <a:t>With limits MAE &lt;= 5 and latency &lt;= 10 ms, a candidate at MAE 4 and 12 ms fails eligibility. A candidate at MAE 5 and 10 ms passes inclusive limits.</a:t>
            </a:r>
          </a:p>
          <a:p>
            <a:r>
              <a:t/>
            </a:r>
          </a:p>
          <a:p>
            <a:r>
              <a:t>Misconception to address</a:t>
            </a:r>
          </a:p>
          <a:p>
            <a:r>
              <a:t>Establish units and whether boundaries are inclusive. An error of 4 is not comparable across different target units or evaluation samples.</a:t>
            </a:r>
          </a:p>
          <a:p>
            <a:r>
              <a:t/>
            </a:r>
          </a:p>
          <a:p>
            <a:r>
              <a:t>On this slide</a:t>
            </a:r>
          </a:p>
          <a:p>
            <a:r>
              <a:t>First check every stated requirement for each candidate.</a:t>
            </a:r>
          </a:p>
          <a:p>
            <a:r>
              <a:t/>
            </a:r>
          </a:p>
          <a:p>
            <a:r>
              <a:t>Reject a candidate that fails even one requirement.</a:t>
            </a:r>
          </a:p>
          <a:p>
            <a:r>
              <a:t/>
            </a:r>
          </a:p>
          <a:p>
            <a:r>
              <a:t>Rank the eligible candidates using the published tie-break rule.</a:t>
            </a:r>
          </a:p>
          <a:p>
            <a:r>
              <a:t/>
            </a:r>
          </a:p>
          <a:p>
            <a:r>
              <a:t>Continue to</a:t>
            </a:r>
          </a:p>
          <a:p>
            <a:r>
              <a:t>A constrained model choice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constrained model choice</a:t>
            </a:r>
          </a:p>
          <a:p>
            <a:r>
              <a:t>CML3112, Week 12, slide 10</a:t>
            </a:r>
          </a:p>
          <a:p>
            <a:r>
              <a:t/>
            </a:r>
          </a:p>
          <a:p>
            <a:r>
              <a:t>Explanation to give</a:t>
            </a:r>
          </a:p>
          <a:p>
            <a:r>
              <a:t>Separate eligibility from ranking. A model that violates a required error or latency limit cannot win merely because another score is attractive. Latency is time per prediction in the stated measurement setting.</a:t>
            </a:r>
          </a:p>
          <a:p>
            <a:r>
              <a:t/>
            </a:r>
          </a:p>
          <a:p>
            <a:r>
              <a:t>Worked illustration / lecturer answer</a:t>
            </a:r>
          </a:p>
          <a:p>
            <a:r>
              <a:t>With limits MAE &lt;= 5 and latency &lt;= 10 ms, a candidate at MAE 4 and 12 ms fails eligibility. A candidate at MAE 5 and 10 ms passes inclusive limits.</a:t>
            </a:r>
          </a:p>
          <a:p>
            <a:r>
              <a:t/>
            </a:r>
          </a:p>
          <a:p>
            <a:r>
              <a:t>Misconception to address</a:t>
            </a:r>
          </a:p>
          <a:p>
            <a:r>
              <a:t>Establish units and whether boundaries are inclusive. An error of 4 is not comparable across different target units or evaluation samples.</a:t>
            </a:r>
          </a:p>
          <a:p>
            <a:r>
              <a:t/>
            </a:r>
          </a:p>
          <a:p>
            <a:r>
              <a:t>On this slide</a:t>
            </a:r>
          </a:p>
          <a:p>
            <a:r>
              <a:t>Candidate | Validation error | Time (ms)</a:t>
            </a:r>
          </a:p>
          <a:p>
            <a:r>
              <a:t>simple | 3 | 2</a:t>
            </a:r>
          </a:p>
          <a:p>
            <a:r>
              <a:t>complex | 1 | 20</a:t>
            </a:r>
          </a:p>
          <a:p>
            <a:r>
              <a:t>Invented requirements: error at most 3 and time at most 10 ms.</a:t>
            </a:r>
          </a:p>
          <a:p>
            <a:r>
              <a:t/>
            </a:r>
          </a:p>
          <a:p>
            <a:r>
              <a:t>Continue to</a:t>
            </a:r>
          </a:p>
          <a:p>
            <a:r>
              <a:t>Candidate records and eligibility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Candidate records and eligibility</a:t>
            </a:r>
          </a:p>
          <a:p>
            <a:r>
              <a:t>CML3112, Week 12, slide 11</a:t>
            </a:r>
          </a:p>
          <a:p>
            <a:r>
              <a:t/>
            </a:r>
          </a:p>
          <a:p>
            <a:r>
              <a:t>Explanation to give</a:t>
            </a:r>
          </a:p>
          <a:p>
            <a:r>
              <a:t>Separate eligibility from ranking. A model that violates a required error or latency limit cannot win merely because another score is attractive. Latency is time per prediction in the stated measurement setting.</a:t>
            </a:r>
          </a:p>
          <a:p>
            <a:r>
              <a:t/>
            </a:r>
          </a:p>
          <a:p>
            <a:r>
              <a:t>Worked illustration / lecturer answer</a:t>
            </a:r>
          </a:p>
          <a:p>
            <a:r>
              <a:t>With limits MAE &lt;= 5 and latency &lt;= 10 ms, a candidate at MAE 4 and 12 ms fails eligibility. A candidate at MAE 5 and 10 ms passes inclusive limits.</a:t>
            </a:r>
          </a:p>
          <a:p>
            <a:r>
              <a:t/>
            </a:r>
          </a:p>
          <a:p>
            <a:r>
              <a:t>Misconception to address</a:t>
            </a:r>
          </a:p>
          <a:p>
            <a:r>
              <a:t>Establish units and whether boundaries are inclusive. An error of 4 is not comparable across different target units or evaluation samples.</a:t>
            </a:r>
          </a:p>
          <a:p>
            <a:r>
              <a:t/>
            </a:r>
          </a:p>
          <a:p>
            <a:r>
              <a:t>On this slide</a:t>
            </a:r>
          </a:p>
          <a:p>
            <a:r>
              <a:t>A candidate is one model under consideration. Its dictionary records a name, a validation error and measured run time.</a:t>
            </a:r>
          </a:p>
          <a:p>
            <a:r>
              <a:t/>
            </a:r>
          </a:p>
          <a:p>
            <a:r>
              <a:t>An eligible candidate meets every published constraint. Build a list of eligible records first. If the list is empty, use the task’s specified no-candidate result.</a:t>
            </a:r>
          </a:p>
          <a:p>
            <a:r>
              <a:t/>
            </a:r>
          </a:p>
          <a:p>
            <a:r>
              <a:t>Continue to</a:t>
            </a:r>
          </a:p>
          <a:p>
            <a:r>
              <a:t>Model selection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Model selection in Python (1/2)</a:t>
            </a:r>
          </a:p>
          <a:p>
            <a:r>
              <a:t>CML3112, Week 12, slide 12</a:t>
            </a:r>
          </a:p>
          <a:p>
            <a:r>
              <a:t/>
            </a:r>
          </a:p>
          <a:p>
            <a:r>
              <a:t>Explanation to give</a:t>
            </a:r>
          </a:p>
          <a:p>
            <a:r>
              <a:t>First filter candidates using the published eligibility limits. Rank the survivors with the stated error, speed and tie-break order. If none qualify, return the required no-selection result.</a:t>
            </a:r>
          </a:p>
          <a:p>
            <a:r>
              <a:t/>
            </a:r>
          </a:p>
          <a:p>
            <a:r>
              <a:t>Worked illustration / lecturer answer</a:t>
            </a:r>
          </a:p>
          <a:p>
            <a:r>
              <a:t>A model with lower MAE but excessive prediction time is ineligible when latency is a hard constraint. Test a candidate exactly on each limit to check inclusive comparisons.</a:t>
            </a:r>
          </a:p>
          <a:p>
            <a:r>
              <a:t/>
            </a:r>
          </a:p>
          <a:p>
            <a:r>
              <a:t>Misconception to address</a:t>
            </a:r>
          </a:p>
          <a:p>
            <a:r>
              <a:t>Do not rank before enforcing constraints or silently relax a limit to produce a winner.</a:t>
            </a:r>
          </a:p>
          <a:p>
            <a:r>
              <a:t/>
            </a:r>
          </a:p>
          <a:p>
            <a:r>
              <a:t>Read the displayed code line by line</a:t>
            </a:r>
          </a:p>
          <a:p>
            <a:r>
              <a:t>candidates = [{"name": "simple", "error": 3, "ms": 2},</a:t>
            </a:r>
          </a:p>
          <a:p>
            <a:r>
              <a:t>Evaluate the complete right-hand expression first, then assign its result to the name or selected field on the left.</a:t>
            </a:r>
          </a:p>
          <a:p>
            <a:r>
              <a:t/>
            </a:r>
          </a:p>
          <a:p>
            <a:r>
              <a:t>{"name": "complex", "error": 1, "ms": 20}]</a:t>
            </a:r>
          </a:p>
          <a:p>
            <a:r>
              <a:t>This line continues the surrounding expression or block; read it together with the preceding line rather than running it alone.</a:t>
            </a:r>
          </a:p>
          <a:p>
            <a:r>
              <a:t/>
            </a:r>
          </a:p>
          <a:p>
            <a:r>
              <a:t>eligible = []</a:t>
            </a:r>
          </a:p>
          <a:p>
            <a:r>
              <a:t>Evaluate the complete right-hand expression first, then assign its result to the name or selected field on the left.</a:t>
            </a:r>
          </a:p>
          <a:p>
            <a:r>
              <a:t/>
            </a:r>
          </a:p>
          <a:p>
            <a:r>
              <a:t>for item in candidates:</a:t>
            </a:r>
          </a:p>
          <a:p>
            <a:r>
              <a:t>Take each item or pair in turn, assign the loop name(s), and repeat the indented body.</a:t>
            </a:r>
          </a:p>
          <a:p>
            <a:r>
              <a:t/>
            </a:r>
          </a:p>
          <a:p>
            <a:r>
              <a:t>if item["error"] &lt;= 3 and item["ms"] &lt;= 10:</a:t>
            </a:r>
          </a:p>
          <a:p>
            <a:r>
              <a:t>Evaluate this yes/no condition. Execute its indented body only on the matching path.</a:t>
            </a:r>
          </a:p>
          <a:p>
            <a:r>
              <a:t/>
            </a:r>
          </a:p>
          <a:p>
            <a:r>
              <a:t>eligible.append(item)</a:t>
            </a:r>
          </a:p>
          <a:p>
            <a:r>
              <a:t>Evaluate the argument and add it as one new item at the end of this list.</a:t>
            </a:r>
          </a:p>
          <a:p>
            <a:r>
              <a:t/>
            </a:r>
          </a:p>
          <a:p>
            <a:r>
              <a:t>names = []</a:t>
            </a:r>
          </a:p>
          <a:p>
            <a:r>
              <a:t>Evaluate the complete right-hand expression first, then assign its result to the name or selected field on the left.</a:t>
            </a:r>
          </a:p>
          <a:p>
            <a:r>
              <a:t/>
            </a:r>
          </a:p>
          <a:p>
            <a:r>
              <a:t>for item in eligible:</a:t>
            </a:r>
          </a:p>
          <a:p>
            <a:r>
              <a:t>Take each item or pair in turn, assign the loop name(s), and repeat the indented body.</a:t>
            </a:r>
          </a:p>
          <a:p>
            <a:r>
              <a:t/>
            </a:r>
          </a:p>
          <a:p>
            <a:r>
              <a:t>names.append(item["name"])</a:t>
            </a:r>
          </a:p>
          <a:p>
            <a:r>
              <a:t>Evaluate the argument and add it as one new item at the end of this list.</a:t>
            </a:r>
          </a:p>
          <a:p>
            <a:r>
              <a:t/>
            </a:r>
          </a:p>
          <a:p>
            <a:r>
              <a:t>Result / continuity</a:t>
            </a:r>
          </a:p>
          <a:p>
            <a:r>
              <a:t>Read top to bottom. Run the complete example in the matching practice notebook.</a:t>
            </a:r>
          </a:p>
          <a:p>
            <a:r>
              <a:t/>
            </a:r>
          </a:p>
          <a:p>
            <a:r>
              <a:t>Continue to</a:t>
            </a:r>
          </a:p>
          <a:p>
            <a:r>
              <a:t>Model selection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Model selection in Python (2/2)</a:t>
            </a:r>
          </a:p>
          <a:p>
            <a:r>
              <a:t>CML3112, Week 12, slide 13</a:t>
            </a:r>
          </a:p>
          <a:p>
            <a:r>
              <a:t/>
            </a:r>
          </a:p>
          <a:p>
            <a:r>
              <a:t>Explanation to give</a:t>
            </a:r>
          </a:p>
          <a:p>
            <a:r>
              <a:t>First filter candidates using the published eligibility limits. Rank the survivors with the stated error, speed and tie-break order. If none qualify, return the required no-selection result.</a:t>
            </a:r>
          </a:p>
          <a:p>
            <a:r>
              <a:t/>
            </a:r>
          </a:p>
          <a:p>
            <a:r>
              <a:t>Worked illustration / lecturer answer</a:t>
            </a:r>
          </a:p>
          <a:p>
            <a:r>
              <a:t>A model with lower MAE but excessive prediction time is ineligible when latency is a hard constraint. Test a candidate exactly on each limit to check inclusive comparisons.</a:t>
            </a:r>
          </a:p>
          <a:p>
            <a:r>
              <a:t/>
            </a:r>
          </a:p>
          <a:p>
            <a:r>
              <a:t>Misconception to address</a:t>
            </a:r>
          </a:p>
          <a:p>
            <a:r>
              <a:t>Do not rank before enforcing constraints or silently relax a limit to produce a winner.</a:t>
            </a:r>
          </a:p>
          <a:p>
            <a:r>
              <a:t/>
            </a:r>
          </a:p>
          <a:p>
            <a:r>
              <a:t>Read the displayed code line by line</a:t>
            </a:r>
          </a:p>
          <a:p>
            <a:r>
              <a:t>print(names)</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Model selection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Model selection results</a:t>
            </a:r>
          </a:p>
          <a:p>
            <a:r>
              <a:t>CML3112, Week 12, slide 14</a:t>
            </a:r>
          </a:p>
          <a:p>
            <a:r>
              <a:t/>
            </a:r>
          </a:p>
          <a:p>
            <a:r>
              <a:t>Explanation to give</a:t>
            </a:r>
          </a:p>
          <a:p>
            <a:r>
              <a:t>First filter candidates using the published eligibility limits. Rank the survivors with the stated error, speed and tie-break order. If none qualify, return the required no-selection result.</a:t>
            </a:r>
          </a:p>
          <a:p>
            <a:r>
              <a:t/>
            </a:r>
          </a:p>
          <a:p>
            <a:r>
              <a:t>Worked illustration / lecturer answer</a:t>
            </a:r>
          </a:p>
          <a:p>
            <a:r>
              <a:t>A model with lower MAE but excessive prediction time is ineligible when latency is a hard constraint. Test a candidate exactly on each limit to check inclusive comparisons.</a:t>
            </a:r>
          </a:p>
          <a:p>
            <a:r>
              <a:t/>
            </a:r>
          </a:p>
          <a:p>
            <a:r>
              <a:t>Misconception to address</a:t>
            </a:r>
          </a:p>
          <a:p>
            <a:r>
              <a:t>Do not rank before enforcing constraints or silently relax a limit to produce a winner.</a:t>
            </a:r>
          </a:p>
          <a:p>
            <a:r>
              <a:t/>
            </a:r>
          </a:p>
          <a:p>
            <a:r>
              <a:t>On this slide</a:t>
            </a:r>
          </a:p>
          <a:p>
            <a:r>
              <a:t>['simple']</a:t>
            </a:r>
          </a:p>
          <a:p>
            <a:r>
              <a:t/>
            </a:r>
          </a:p>
          <a:p>
            <a:r>
              <a:t>Continue to</a:t>
            </a:r>
          </a:p>
          <a:p>
            <a:r>
              <a:t>A tuple supplies an ordered ranking key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tuple supplies an ordered ranking key</a:t>
            </a:r>
          </a:p>
          <a:p>
            <a:r>
              <a:t>CML3112, Week 12, slide 15</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A tuple holds several values in order, such as (error, time, name).</a:t>
            </a:r>
          </a:p>
          <a:p>
            <a:r>
              <a:t/>
            </a:r>
          </a:p>
          <a:p>
            <a:r>
              <a:t>Python compares the first values. A tie moves the comparison to the second.</a:t>
            </a:r>
          </a:p>
          <a:p>
            <a:r>
              <a:t/>
            </a:r>
          </a:p>
          <a:p>
            <a:r>
              <a:t>If those also tie, the third value decides.</a:t>
            </a:r>
          </a:p>
          <a:p>
            <a:r>
              <a:t/>
            </a:r>
          </a:p>
          <a:p>
            <a:r>
              <a:t>Continue to</a:t>
            </a:r>
          </a:p>
          <a:p>
            <a:r>
              <a:t>Trace a tuple ranking key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a tuple ranking key</a:t>
            </a:r>
          </a:p>
          <a:p>
            <a:r>
              <a:t>CML3112, Week 12, slide 16</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Candidate | Key: error, ms, name | Position</a:t>
            </a:r>
          </a:p>
          <a:p>
            <a:r>
              <a:t>beta | (2, 5, "beta") | 1: lower error</a:t>
            </a:r>
          </a:p>
          <a:p>
            <a:r>
              <a:t>alpha | (3, 1, "alpha") | 2: tie on error; faster</a:t>
            </a:r>
          </a:p>
          <a:p>
            <a:r>
              <a:t>gamma | (3, 2, "gamma") | 3: same error; slower</a:t>
            </a:r>
          </a:p>
          <a:p>
            <a:r>
              <a:t>Only eligible candidates reach ranking. If error and time tie, compare the names alphabetically.</a:t>
            </a:r>
          </a:p>
          <a:p>
            <a:r>
              <a:t/>
            </a:r>
          </a:p>
          <a:p>
            <a:r>
              <a:t>Reference / existing resource</a:t>
            </a:r>
          </a:p>
          <a:p>
            <a:r>
              <a:t>https://docs.python.org/3/tutorial/introduction.html</a:t>
            </a:r>
          </a:p>
          <a:p>
            <a:r>
              <a:t>https://docs.python.org/3/tutorial/controlflow.html;</a:t>
            </a:r>
          </a:p>
          <a:p>
            <a:r>
              <a:t/>
            </a:r>
          </a:p>
          <a:p>
            <a:r>
              <a:t>Continue to</a:t>
            </a:r>
          </a:p>
          <a:p>
            <a:r>
              <a:t>Pass a function as the sorting key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Pass a function as the sorting key</a:t>
            </a:r>
          </a:p>
          <a:p>
            <a:r>
              <a:t>CML3112, Week 12, slide 17</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sorted returns a new list in order. In sorted(eligible, key=rank), rank is the function itself, passed without calling it.</a:t>
            </a:r>
          </a:p>
          <a:p>
            <a:r>
              <a:t/>
            </a:r>
          </a:p>
          <a:p>
            <a:r>
              <a:t>sorted calls rank(item) for each candidate and compares the returned tuples. Writing rank() here would call it immediately without its required input.</a:t>
            </a:r>
          </a:p>
          <a:p>
            <a:r>
              <a:t/>
            </a:r>
          </a:p>
          <a:p>
            <a:r>
              <a:t>The original eligible list is unchanged. Check len(ordered) before using ordered[0], because an empty list has no first position.</a:t>
            </a:r>
          </a:p>
          <a:p>
            <a:r>
              <a:t/>
            </a:r>
          </a:p>
          <a:p>
            <a:r>
              <a:t>Reference / existing resource</a:t>
            </a:r>
          </a:p>
          <a:p>
            <a:r>
              <a:t>https://docs.python.org/3/tutorial/introduction.html</a:t>
            </a:r>
          </a:p>
          <a:p>
            <a:r>
              <a:t>https://docs.python.org/3/tutorial/controlflow.html;</a:t>
            </a:r>
          </a:p>
          <a:p>
            <a:r>
              <a:t/>
            </a:r>
          </a:p>
          <a:p>
            <a:r>
              <a:t>Continue to</a:t>
            </a:r>
          </a:p>
          <a:p>
            <a:r>
              <a:t>Sorting with a tie-break rule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Sorting with a tie-break rule</a:t>
            </a:r>
          </a:p>
          <a:p>
            <a:r>
              <a:t>CML3112, Week 12, slide 18</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A tuple is an ordered group of values.</a:t>
            </a:r>
          </a:p>
          <a:p>
            <a:r>
              <a:t/>
            </a:r>
          </a:p>
          <a:p>
            <a:r>
              <a:t>Python compares the first item, then the second when tied, then the third.</a:t>
            </a:r>
          </a:p>
          <a:p>
            <a:r>
              <a:t/>
            </a:r>
          </a:p>
          <a:p>
            <a:r>
              <a:t>The key function gives sorted the tuple for each candidate.</a:t>
            </a:r>
          </a:p>
          <a:p>
            <a:r>
              <a:t/>
            </a:r>
          </a:p>
          <a:p>
            <a:r>
              <a:t>Guard an empty list before selecting position zero.</a:t>
            </a:r>
          </a:p>
          <a:p>
            <a:r>
              <a:t/>
            </a:r>
          </a:p>
          <a:p>
            <a:r>
              <a:t>Continue to</a:t>
            </a:r>
          </a:p>
          <a:p>
            <a:r>
              <a:t>Sorting with a named function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Sorting with a named function</a:t>
            </a:r>
          </a:p>
          <a:p>
            <a:r>
              <a:t>CML3112, Week 12, slide 19</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Expression | Meaning</a:t>
            </a:r>
          </a:p>
          <a:p>
            <a:r>
              <a:t>key=rank | Use rank to build each comparison key</a:t>
            </a:r>
          </a:p>
          <a:p>
            <a:r>
              <a:t>sorted(eligible, key=rank) | Return a newly ordered list</a:t>
            </a:r>
          </a:p>
          <a:p>
            <a:r>
              <a:t>ordered[0] | Select its first item</a:t>
            </a:r>
          </a:p>
          <a:p>
            <a:r>
              <a:t>len(ordered) == 0 | Check for no eligible candidate</a:t>
            </a:r>
          </a:p>
          <a:p>
            <a:r>
              <a:t>Check for an empty list before accessing position zero.</a:t>
            </a:r>
          </a:p>
          <a:p>
            <a:r>
              <a:t/>
            </a:r>
          </a:p>
          <a:p>
            <a:r>
              <a:t>Continue to</a:t>
            </a:r>
          </a:p>
          <a:p>
            <a:r>
              <a:t>Sorting with a tie-break rule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Sorting with a tie-break rule in Python</a:t>
            </a:r>
          </a:p>
          <a:p>
            <a:r>
              <a:t>CML3112, Week 12, slide 20</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Read the displayed code line by line</a:t>
            </a:r>
          </a:p>
          <a:p>
            <a:r>
              <a:t>def rank(item):</a:t>
            </a:r>
          </a:p>
          <a:p>
            <a:r>
              <a:t>Store these instructions under this function name. Names in parentheses are its inputs; the body waits until a call.</a:t>
            </a:r>
          </a:p>
          <a:p>
            <a:r>
              <a:t/>
            </a:r>
          </a:p>
          <a:p>
            <a:r>
              <a:t>return (item["error"], item["ms"], item["name"])</a:t>
            </a:r>
          </a:p>
          <a:p>
            <a:r>
              <a:t>Evaluate this result and send it to the caller, ending this function call.</a:t>
            </a:r>
          </a:p>
          <a:p>
            <a:r>
              <a:t/>
            </a:r>
          </a:p>
          <a:p>
            <a:r>
              <a:t>ordered = sorted(eligible, key=rank)</a:t>
            </a:r>
          </a:p>
          <a:p>
            <a:r>
              <a:t>Evaluate the complete right-hand expression first, then assign its result to the name or selected field on the left.</a:t>
            </a:r>
          </a:p>
          <a:p>
            <a:r>
              <a:t/>
            </a:r>
          </a:p>
          <a:p>
            <a:r>
              <a:t>if len(ordered) == 0:</a:t>
            </a:r>
          </a:p>
          <a:p>
            <a:r>
              <a:t>Evaluate this yes/no condition. Execute its indented body only on the matching path.</a:t>
            </a:r>
          </a:p>
          <a:p>
            <a:r>
              <a:t/>
            </a:r>
          </a:p>
          <a:p>
            <a:r>
              <a:t>winner = None</a:t>
            </a:r>
          </a:p>
          <a:p>
            <a:r>
              <a:t>Evaluate the complete right-hand expression first, then assign its result to the name or selected field on the left.</a:t>
            </a:r>
          </a:p>
          <a:p>
            <a:r>
              <a:t/>
            </a:r>
          </a:p>
          <a:p>
            <a:r>
              <a:t>else:</a:t>
            </a:r>
          </a:p>
          <a:p>
            <a:r>
              <a:t>Use this remaining path when the matching earlier condition did not succeed.</a:t>
            </a:r>
          </a:p>
          <a:p>
            <a:r>
              <a:t/>
            </a:r>
          </a:p>
          <a:p>
            <a:r>
              <a:t>winner = ordered[0]["name"]</a:t>
            </a:r>
          </a:p>
          <a:p>
            <a:r>
              <a:t>Evaluate the complete right-hand expression first, then assign its result to the name or selected field on the left.</a:t>
            </a:r>
          </a:p>
          <a:p>
            <a:r>
              <a:t/>
            </a:r>
          </a:p>
          <a:p>
            <a:r>
              <a:t>print(winner)</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Local explanation and Conditions of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Local explanation and Conditions of use</a:t>
            </a:r>
          </a:p>
          <a:p>
            <a:r>
              <a:t>CML3112, Week 12, slide 21</a:t>
            </a:r>
          </a:p>
          <a:p>
            <a:r>
              <a:t/>
            </a:r>
          </a:p>
          <a:p>
            <a:r>
              <a:t>Explanation to give</a:t>
            </a:r>
          </a:p>
          <a:p>
            <a:r>
              <a:t>Connect a model recommendation to the observed evaluation and the intended operating conditions. A local explanation describes one prediction; it does not prove a universal causal rule.</a:t>
            </a:r>
          </a:p>
          <a:p>
            <a:r>
              <a:t/>
            </a:r>
          </a:p>
          <a:p>
            <a:r>
              <a:t>Worked illustration / lecturer answer</a:t>
            </a:r>
          </a:p>
          <a:p>
            <a:r>
              <a:t>A useful statement is “This model met the stated error and latency limits on held-out equipment; validate it on the intended site before operational use.” Point to the comparison table supporting each part.</a:t>
            </a:r>
          </a:p>
          <a:p>
            <a:r>
              <a:t/>
            </a:r>
          </a:p>
          <a:p>
            <a:r>
              <a:t>Misconception to address</a:t>
            </a:r>
          </a:p>
          <a:p>
            <a:r>
              <a:t>Feature importance or one prediction explanation cannot establish that changing the feature would cause the predicted effect.</a:t>
            </a:r>
          </a:p>
          <a:p>
            <a:r>
              <a:t/>
            </a:r>
          </a:p>
          <a:p>
            <a:r>
              <a:t>On this slide</a:t>
            </a:r>
          </a:p>
          <a:p>
            <a:r>
              <a:t>Local explanation: Why a model made one particular prediction. This is different from global importance, which summarises behaviour over many cases.</a:t>
            </a:r>
          </a:p>
          <a:p>
            <a:r>
              <a:t>Conditions of use: The cases and operating circumstances for which the available evidence supports considering the model.</a:t>
            </a:r>
          </a:p>
          <a:p>
            <a:r>
              <a:t/>
            </a:r>
          </a:p>
          <a:p>
            <a:r>
              <a:t>Continue to</a:t>
            </a:r>
          </a:p>
          <a:p>
            <a:r>
              <a:t>A recommendation needs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recommendation needs evidence</a:t>
            </a:r>
          </a:p>
          <a:p>
            <a:r>
              <a:t>CML3112, Week 12, slide 22</a:t>
            </a:r>
          </a:p>
          <a:p>
            <a:r>
              <a:t/>
            </a:r>
          </a:p>
          <a:p>
            <a:r>
              <a:t>Explanation to give</a:t>
            </a:r>
          </a:p>
          <a:p>
            <a:r>
              <a:t>Connect a model recommendation to the observed evaluation and the intended operating conditions. A local explanation describes one prediction; it does not prove a universal causal rule.</a:t>
            </a:r>
          </a:p>
          <a:p>
            <a:r>
              <a:t/>
            </a:r>
          </a:p>
          <a:p>
            <a:r>
              <a:t>Worked illustration / lecturer answer</a:t>
            </a:r>
          </a:p>
          <a:p>
            <a:r>
              <a:t>A useful statement is “This model met the stated error and latency limits on held-out equipment; validate it on the intended site before operational use.” Point to the comparison table supporting each part.</a:t>
            </a:r>
          </a:p>
          <a:p>
            <a:r>
              <a:t/>
            </a:r>
          </a:p>
          <a:p>
            <a:r>
              <a:t>Misconception to address</a:t>
            </a:r>
          </a:p>
          <a:p>
            <a:r>
              <a:t>Feature importance or one prediction explanation cannot establish that changing the feature would cause the predicted effect.</a:t>
            </a:r>
          </a:p>
          <a:p>
            <a:r>
              <a:t/>
            </a:r>
          </a:p>
          <a:p>
            <a:r>
              <a:t>On this slide</a:t>
            </a:r>
          </a:p>
          <a:p>
            <a:r>
              <a:t>State the question and the chosen candidate.</a:t>
            </a:r>
          </a:p>
          <a:p>
            <a:r>
              <a:t/>
            </a:r>
          </a:p>
          <a:p>
            <a:r>
              <a:t>Give the evaluation result and the constraint it satisfies.</a:t>
            </a:r>
          </a:p>
          <a:p>
            <a:r>
              <a:t/>
            </a:r>
          </a:p>
          <a:p>
            <a:r>
              <a:t>State a limitation and the evidence that could change the recommendation.</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CML3112, Week 12, slide 23</a:t>
            </a:r>
          </a:p>
          <a:p>
            <a:r>
              <a:t/>
            </a:r>
          </a:p>
          <a:p>
            <a:r>
              <a:t>Explanation to give</a:t>
            </a:r>
          </a:p>
          <a:p>
            <a:r>
              <a:t>Use the displayed example as a short individual revision question, then explain the reasoning behind its answer.</a:t>
            </a:r>
          </a:p>
          <a:p>
            <a:r>
              <a:t/>
            </a:r>
          </a:p>
          <a:p>
            <a:r>
              <a:t>Worked illustration / lecturer answer</a:t>
            </a:r>
          </a:p>
          <a:p>
            <a:r>
              <a:t>Example: A third model has error 3 and latency 1 ms. Under lowest error then lowest latency, which eligible model wins?</a:t>
            </a:r>
          </a:p>
          <a:p>
            <a:r>
              <a:t/>
            </a:r>
          </a:p>
          <a:p>
            <a:r>
              <a:t>Answer: The third model. Both eligible models have error 3, but 1 ms is faster than 2 ms.</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CML3112, Week 12, slide 24</a:t>
            </a:r>
          </a:p>
          <a:p>
            <a:r>
              <a:t/>
            </a:r>
          </a:p>
          <a:p>
            <a:r>
              <a:t>Explanation to give</a:t>
            </a:r>
          </a:p>
          <a:p>
            <a:r>
              <a:t>For W12, read the candidate fields exactly: name, validation_mae and latency_ms. Enforce both inclusive limits before ranking by error, latency and alphabetical name.</a:t>
            </a:r>
          </a:p>
          <a:p>
            <a:r>
              <a:t/>
            </a:r>
          </a:p>
          <a:p>
            <a:r>
              <a:t>Worked illustration / lecturer answer</a:t>
            </a:r>
          </a:p>
          <a:p>
            <a:r>
              <a:t>A candidate exactly at both limits is eligible. If the eligible list is empty, return None. The simpler error/ms names on practice slides must be adapted to the assignment’s published field names.</a:t>
            </a:r>
          </a:p>
          <a:p>
            <a:r>
              <a:t/>
            </a:r>
          </a:p>
          <a:p>
            <a:r>
              <a:t>Misconception to address</a:t>
            </a:r>
          </a:p>
          <a:p>
            <a:r>
              <a:t>A sensible general recommendation does not replace the exact graded return interface. Keep the function contract and the wider project discussion distinct.</a:t>
            </a:r>
          </a:p>
          <a:p>
            <a:r>
              <a:t/>
            </a:r>
          </a:p>
          <a:p>
            <a:r>
              <a:t>On this slide</a:t>
            </a:r>
          </a:p>
          <a:p>
            <a:r>
              <a:t>W12 uses fields name, validation_mae and latency_ms.</a:t>
            </a:r>
          </a:p>
          <a:p>
            <a:r>
              <a:t/>
            </a:r>
          </a:p>
          <a:p>
            <a:r>
              <a:t>Meet both inclusive constraints, then rank by error, latency and alphabetical name.</a:t>
            </a:r>
          </a:p>
          <a:p>
            <a:r>
              <a:t/>
            </a:r>
          </a:p>
          <a:p>
            <a:r>
              <a:t>Return None if no candidate qualifies.</a:t>
            </a:r>
          </a:p>
          <a:p>
            <a:r>
              <a:t/>
            </a:r>
          </a:p>
          <a:p>
            <a:r>
              <a:t>Complete the error function and interpret the separately supplied scenario.</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CML3112, Week 12, slide 25</a:t>
            </a:r>
          </a:p>
          <a:p>
            <a:r>
              <a:t/>
            </a:r>
          </a:p>
          <a:p>
            <a:r>
              <a:t>Explanation to give</a:t>
            </a:r>
          </a:p>
          <a:p>
            <a:r>
              <a:t>For W12, read the candidate fields exactly: name, validation_mae and latency_ms. Enforce both inclusive limits before ranking by error, latency and alphabetical name.</a:t>
            </a:r>
          </a:p>
          <a:p>
            <a:r>
              <a:t/>
            </a:r>
          </a:p>
          <a:p>
            <a:r>
              <a:t>Worked illustration / lecturer answer</a:t>
            </a:r>
          </a:p>
          <a:p>
            <a:r>
              <a:t>A candidate exactly at both limits is eligible. If the eligible list is empty, return None. The simpler error/ms names on practice slides must be adapted to the assignment’s published field names.</a:t>
            </a:r>
          </a:p>
          <a:p>
            <a:r>
              <a:t/>
            </a:r>
          </a:p>
          <a:p>
            <a:r>
              <a:t>Misconception to address</a:t>
            </a:r>
          </a:p>
          <a:p>
            <a:r>
              <a:t>A sensible general recommendation does not replace the exact graded return interface. Keep the function contract and the wider project discussion distinct.</a:t>
            </a:r>
          </a:p>
          <a:p>
            <a:r>
              <a:t/>
            </a:r>
          </a:p>
          <a:p>
            <a:r>
              <a:t>On this slide</a:t>
            </a:r>
          </a:p>
          <a:p>
            <a:r>
              <a:t>Keep project comparisons and graded interfaces distinct.</a:t>
            </a:r>
          </a:p>
          <a:p>
            <a:r>
              <a:t/>
            </a:r>
          </a:p>
          <a:p>
            <a:r>
              <a:t>Continue to</a:t>
            </a:r>
          </a:p>
          <a:p>
            <a:r>
              <a:t>Fair comparison and explanation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Fair comparison and explanation</a:t>
            </a:r>
          </a:p>
          <a:p>
            <a:r>
              <a:t>CML3112, Week 12, slide 26</a:t>
            </a:r>
          </a:p>
          <a:p>
            <a:r>
              <a:t/>
            </a:r>
          </a:p>
          <a:p>
            <a:r>
              <a:t>Explanation to give</a:t>
            </a:r>
          </a:p>
          <a:p>
            <a:r>
              <a:t>Connect a model recommendation to the observed evaluation and the intended operating conditions. A local explanation describes one prediction; it does not prove a universal causal rule.</a:t>
            </a:r>
          </a:p>
          <a:p>
            <a:r>
              <a:t/>
            </a:r>
          </a:p>
          <a:p>
            <a:r>
              <a:t>Worked illustration / lecturer answer</a:t>
            </a:r>
          </a:p>
          <a:p>
            <a:r>
              <a:t>A useful statement is “This model met the stated error and latency limits on held-out equipment; validate it on the intended site before operational use.” Point to the comparison table supporting each part.</a:t>
            </a:r>
          </a:p>
          <a:p>
            <a:r>
              <a:t/>
            </a:r>
          </a:p>
          <a:p>
            <a:r>
              <a:t>Misconception to address</a:t>
            </a:r>
          </a:p>
          <a:p>
            <a:r>
              <a:t>Feature importance or one prediction explanation cannot establish that changing the feature would cause the predicted effect.</a:t>
            </a:r>
          </a:p>
          <a:p>
            <a:r>
              <a:t/>
            </a:r>
          </a:p>
          <a:p>
            <a:r>
              <a:t>On this slide</a:t>
            </a:r>
          </a:p>
          <a:p>
            <a:r>
              <a:t>Compare the same metric on the same validation cases with the same preprocessing rules.</a:t>
            </a:r>
          </a:p>
          <a:p>
            <a:r>
              <a:t/>
            </a:r>
          </a:p>
          <a:p>
            <a:r>
              <a:t>A small difference needs context, including variation across splits.</a:t>
            </a:r>
          </a:p>
          <a:p>
            <a:r>
              <a:t/>
            </a:r>
          </a:p>
          <a:p>
            <a:r>
              <a:t>Code run out of order can overwrite the variable holding a model; restart and run from the top.</a:t>
            </a:r>
          </a:p>
          <a:p>
            <a:r>
              <a:t/>
            </a:r>
          </a:p>
          <a:p>
            <a:r>
              <a:t>A local explanation addresses one prediction; global importance summarises many.</a:t>
            </a:r>
          </a:p>
          <a:p>
            <a:r>
              <a:t/>
            </a:r>
          </a:p>
          <a:p>
            <a:r>
              <a:t>Continue to</a:t>
            </a:r>
          </a:p>
          <a:p>
            <a:r>
              <a:t>Fair comparison and explanation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Fair comparison and explanation continued</a:t>
            </a:r>
          </a:p>
          <a:p>
            <a:r>
              <a:t>CML3112, Week 12, slide 27</a:t>
            </a:r>
          </a:p>
          <a:p>
            <a:r>
              <a:t/>
            </a:r>
          </a:p>
          <a:p>
            <a:r>
              <a:t>Explanation to give</a:t>
            </a:r>
          </a:p>
          <a:p>
            <a:r>
              <a:t>Connect a model recommendation to the observed evaluation and the intended operating conditions. A local explanation describes one prediction; it does not prove a universal causal rule.</a:t>
            </a:r>
          </a:p>
          <a:p>
            <a:r>
              <a:t/>
            </a:r>
          </a:p>
          <a:p>
            <a:r>
              <a:t>Worked illustration / lecturer answer</a:t>
            </a:r>
          </a:p>
          <a:p>
            <a:r>
              <a:t>A useful statement is “This model met the stated error and latency limits on held-out equipment; validate it on the intended site before operational use.” Point to the comparison table supporting each part.</a:t>
            </a:r>
          </a:p>
          <a:p>
            <a:r>
              <a:t/>
            </a:r>
          </a:p>
          <a:p>
            <a:r>
              <a:t>Misconception to address</a:t>
            </a:r>
          </a:p>
          <a:p>
            <a:r>
              <a:t>Feature importance or one prediction explanation cannot establish that changing the feature would cause the predicted effect.</a:t>
            </a:r>
          </a:p>
          <a:p>
            <a:r>
              <a:t/>
            </a:r>
          </a:p>
          <a:p>
            <a:r>
              <a:t>On this slide</a:t>
            </a:r>
          </a:p>
          <a:p>
            <a:r>
              <a:t>A post-hoc explanation of a complex model is not its directly readable internal rule.</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CML3112, Week 12, slide 28</a:t>
            </a:r>
          </a:p>
          <a:p>
            <a:r>
              <a:t/>
            </a:r>
          </a:p>
          <a:p>
            <a:r>
              <a:t>Explanation to give</a:t>
            </a:r>
          </a:p>
          <a:p>
            <a:r>
              <a:t>Name this cohort’s target and its unit exactly as displayed. Each row is one operating observation, while equipment_id can repeat across several observations.</a:t>
            </a:r>
          </a:p>
          <a:p>
            <a:r>
              <a:t/>
            </a:r>
          </a:p>
          <a:p>
            <a:r>
              <a:t>Worked illustration / lecturer answer</a:t>
            </a:r>
          </a:p>
          <a:p>
            <a:r>
              <a:t>Explain record_id as the identifier of an observation, load_pct as load expressed in percent and ambient_c as temperature in degrees Celsius. The target records the known answer in training data.</a:t>
            </a:r>
          </a:p>
          <a:p>
            <a:r>
              <a:t/>
            </a:r>
          </a:p>
          <a:p>
            <a:r>
              <a:t>Misconception to address</a:t>
            </a:r>
          </a:p>
          <a:p>
            <a:r>
              <a:t>These are synthetic examples for learning. They do not establish a calibrated physical relationship or justify operation of real equipment.</a:t>
            </a:r>
          </a:p>
          <a:p>
            <a:r>
              <a:t/>
            </a:r>
          </a:p>
          <a:p>
            <a:r>
              <a:t>On this slide</a:t>
            </a:r>
          </a:p>
          <a:p>
            <a:r>
              <a:t>Investigate building cooling load.</a:t>
            </a:r>
          </a:p>
          <a:p>
            <a:r>
              <a:t/>
            </a:r>
          </a:p>
          <a:p>
            <a:r>
              <a:t>Target units: kW.</a:t>
            </a:r>
          </a:p>
          <a:p>
            <a:r>
              <a:t/>
            </a:r>
          </a:p>
          <a:p>
            <a:r>
              <a:t>These are synthetic teaching records, not measurements suitable for deployment.</a:t>
            </a:r>
          </a:p>
          <a:p>
            <a:r>
              <a:t/>
            </a:r>
          </a:p>
          <a:p>
            <a:r>
              <a:t>Each record is one operating observation; equipment_id repeats across observations.</a:t>
            </a:r>
          </a:p>
          <a:p>
            <a:r>
              <a:t/>
            </a:r>
          </a:p>
          <a:p>
            <a:r>
              <a:t>Continue to</a:t>
            </a:r>
          </a:p>
          <a:p>
            <a:r>
              <a:t>select_model(candidates, max_mae, max_ms)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select_model(candidates, max_mae, max_ms)</a:t>
            </a:r>
          </a:p>
          <a:p>
            <a:r>
              <a:t>CML3112, Week 12, slide 29</a:t>
            </a:r>
          </a:p>
          <a:p>
            <a:r>
              <a:t/>
            </a:r>
          </a:p>
          <a:p>
            <a:r>
              <a:t>Explanation to give</a:t>
            </a:r>
          </a:p>
          <a:p>
            <a:r>
              <a:t>Filter by both published limits, then apply the full tie-break rule. Return the requested model identifier or the specified no-candidate result.</a:t>
            </a:r>
          </a:p>
          <a:p>
            <a:r>
              <a:t/>
            </a:r>
          </a:p>
          <a:p>
            <a:r>
              <a:t>Worked illustration / lecturer answer</a:t>
            </a:r>
          </a:p>
          <a:p>
            <a:r>
              <a:t>Check an exactly-on-limit candidate, a tied pair and an empty eligible list. These are ordinary contract cases rather than optional extensions.</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Candidates have name, validation_mae and latency_ms.</a:t>
            </a:r>
          </a:p>
          <a:p>
            <a:r>
              <a:t/>
            </a:r>
          </a:p>
          <a:p>
            <a:r>
              <a:t>Keep those meeting both inclusive constraints; select smallest validation_mae, then latency_ms, then name alphabetically.</a:t>
            </a:r>
          </a:p>
          <a:p>
            <a:r>
              <a:t/>
            </a:r>
          </a:p>
          <a:p>
            <a:r>
              <a:t>Return the selected name or None.</a:t>
            </a:r>
          </a:p>
          <a:p>
            <a:r>
              <a:t/>
            </a:r>
          </a:p>
          <a:p>
            <a:r>
              <a:t>Never use test scores for selection.</a:t>
            </a:r>
          </a:p>
          <a:p>
            <a:r>
              <a:t/>
            </a:r>
          </a:p>
          <a:p>
            <a:r>
              <a:t>Continue to</a:t>
            </a:r>
          </a:p>
          <a:p>
            <a:r>
              <a:t>regression_errors(actual, predicted)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regression_errors(actual, predicted)</a:t>
            </a:r>
          </a:p>
          <a:p>
            <a:r>
              <a:t>CML3112, Week 12, slide 30</a:t>
            </a:r>
          </a:p>
          <a:p>
            <a:r>
              <a:t/>
            </a:r>
          </a:p>
          <a:p>
            <a:r>
              <a:t>Explanation to give</a:t>
            </a:r>
          </a:p>
          <a:p>
            <a:r>
              <a:t>Pair actual and predicted values by position. Return mae and rmse with full numerical precision.</a:t>
            </a:r>
          </a:p>
          <a:p>
            <a:r>
              <a:t/>
            </a:r>
          </a:p>
          <a:p>
            <a:r>
              <a:t>Worked illustration / lecturer answer</a:t>
            </a:r>
          </a:p>
          <a:p>
            <a:r>
              <a:t>On separate teaching pairs with errors 2 and 4, MAE is 3 and RMSE is sqrt(10). Rounding is for a labelled display, not for the returned metric.</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mae and rmse, calculated over the same paired observations, with full precision.</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CML3112, Week 12, slide 31</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Model recommendation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Model recommendation submission</a:t>
            </a:r>
          </a:p>
          <a:p>
            <a:r>
              <a:t>CML3112, Week 12, slide 32</a:t>
            </a:r>
          </a:p>
          <a:p>
            <a:r>
              <a:t/>
            </a:r>
          </a:p>
          <a:p>
            <a:r>
              <a:t>Explanation to give</a:t>
            </a:r>
          </a:p>
          <a:p>
            <a:r>
              <a:t>This slide hands over CML3112 W12. Show the exact form title before uploading. The required packet is one completed .ipynb notebook.</a:t>
            </a:r>
          </a:p>
          <a:p>
            <a:r>
              <a:t/>
            </a:r>
          </a:p>
          <a:p>
            <a:r>
              <a:t>Worked illustration / lecturer answer</a:t>
            </a:r>
          </a:p>
          <a:p>
            <a:r>
              <a:t>The recorded cutoff for this form is 2026-11-24T14:00:00+03:00.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24 Nov 2026, 11:00 Kampala</a:t>
            </a:r>
          </a:p>
          <a:p>
            <a:r>
              <a:t/>
            </a:r>
          </a:p>
          <a:p>
            <a:r>
              <a:t>Deadline: 24 Nov 2026, 14:00 Kampala</a:t>
            </a:r>
          </a:p>
          <a:p>
            <a:r>
              <a:t/>
            </a:r>
          </a:p>
          <a:p>
            <a:r>
              <a:t>Use your full Student Registration Number in the form.</a:t>
            </a:r>
          </a:p>
          <a:p>
            <a:r>
              <a:t/>
            </a:r>
          </a:p>
          <a:p>
            <a:r>
              <a:t>Keep the submitted files and confirmation.</a:t>
            </a:r>
          </a:p>
          <a:p>
            <a:r>
              <a:t/>
            </a:r>
          </a:p>
          <a:p>
            <a:r>
              <a:t>Continue to</a:t>
            </a:r>
          </a:p>
          <a:p>
            <a:r>
              <a:t>Project preparation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preparation</a:t>
            </a:r>
          </a:p>
          <a:p>
            <a:r>
              <a:t>CML3112, Week 12, slide 33</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Use the published machine learning project brief.</a:t>
            </a:r>
          </a:p>
          <a:p>
            <a:r>
              <a:t/>
            </a:r>
          </a:p>
          <a:p>
            <a:r>
              <a:t>Build the evidence gradually in your project notebook.</a:t>
            </a:r>
          </a:p>
          <a:p>
            <a:r>
              <a:t/>
            </a:r>
          </a:p>
          <a:p>
            <a:r>
              <a:t>Keep raw data, labelled charts, run instructions and individual contributions.</a:t>
            </a:r>
          </a:p>
          <a:p>
            <a:r>
              <a:t/>
            </a:r>
          </a:p>
          <a:p>
            <a:r>
              <a:t>Published deadline: 15 Dec 2026, 11:00 Kampala</a:t>
            </a:r>
          </a:p>
          <a:p>
            <a:r>
              <a:t/>
            </a:r>
          </a:p>
          <a:p>
            <a:r>
              <a:t>Continue to</a:t>
            </a:r>
          </a:p>
          <a:p>
            <a:r>
              <a:t>Week 12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12 quiz</a:t>
            </a:r>
          </a:p>
          <a:p>
            <a:r>
              <a:t>CML3112, Week 12, slide 34</a:t>
            </a:r>
          </a:p>
          <a:p>
            <a:r>
              <a:t/>
            </a:r>
          </a:p>
          <a:p>
            <a:r>
              <a:t>Explanation to give</a:t>
            </a:r>
          </a:p>
          <a:p>
            <a:r>
              <a:t>This is the CML3112 Week 1 quiz. The student link opens the response form; it does not activate its window. In Quiz Controls use open_W1_CML3112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CML3112, Week 12, slide 35</a:t>
            </a:r>
          </a:p>
          <a:p>
            <a:r>
              <a:t/>
            </a:r>
          </a:p>
          <a:p>
            <a:r>
              <a:t>Explanation to give</a:t>
            </a:r>
          </a:p>
          <a:p>
            <a:r>
              <a:t>A recommendation must satisfy the practical limits before it wins on a ranking metric. Explain eligibility and tie-breaking separately.</a:t>
            </a:r>
          </a:p>
          <a:p>
            <a:r>
              <a:t/>
            </a:r>
          </a:p>
          <a:p>
            <a:r>
              <a:t>Worked illustration / lecturer answer</a:t>
            </a:r>
          </a:p>
          <a:p>
            <a:r>
              <a:t>A model at 4 error units and 12 ms fails a 10 ms limit even if its error is attractive. Test exact boundaries before ranking eligible candidates.</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justify a valid candidate with evidence and a stated limitation.</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CML3112, Week 12, slide 36</a:t>
            </a:r>
          </a:p>
          <a:p>
            <a:r>
              <a:t/>
            </a:r>
          </a:p>
          <a:p>
            <a:r>
              <a:t>Explanation to give</a:t>
            </a:r>
          </a:p>
          <a:p>
            <a:r>
              <a:t>Give the viewing question before playing the excerpt: Why evaluate using observations not used to fit that particular model?</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StatQuest with Josh Starmer</a:t>
            </a:r>
          </a:p>
          <a:p>
            <a:r>
              <a:t>Machine Learning Fundamentals Cross Validation</a:t>
            </a:r>
          </a:p>
          <a:p>
            <a:r>
              <a:t/>
            </a:r>
          </a:p>
          <a:p>
            <a:r>
              <a:t>Opening up to 04:00, optional preview-selected excerpt</a:t>
            </a:r>
          </a:p>
          <a:p>
            <a:r>
              <a:t/>
            </a:r>
          </a:p>
          <a:p>
            <a:r>
              <a:t>Listening question: Why evaluate using observations not used to fit that particular model?</a:t>
            </a:r>
          </a:p>
          <a:p>
            <a:r>
              <a:t/>
            </a:r>
          </a:p>
          <a:p>
            <a:r>
              <a:t>Reference / existing resource</a:t>
            </a:r>
          </a:p>
          <a:p>
            <a:r>
              <a:t>https://www.youtube.com/watch?v=fSytzGwwBVw</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b8392575005467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2cdd7eefbde487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aeae6abd7034bf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96e6fa6c4aa461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16f8f2a5c7c4a3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b77464a62114e8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F165B10-2BDF-4925-8B4B-E31BD344625C}"/>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0685DE1-766F-4F84-ACE8-CC3AA5664D24}"/>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36D1DD70-7FDB-44E7-8491-E5C60494A532}"/>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8DAD0E10-BBFA-482C-886B-35A1AA4B6237}"/>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D0776057-799C-4A13-AD0F-9927B0B05BF1}"/>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965C2E2-28EC-4F12-BA99-0C19CFEDB026}"/>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173FB35-8CEC-46D1-ADF3-D3440AC17D4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E9C87AD4-D30E-44D1-B217-F273D193392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3373FECA-EFB9-4052-9792-44843D658D7A}"/>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0B387D5-D9FF-46E9-9E1B-31364AF6D55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785401B-423D-411F-A44C-5D8E42BC12C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A899718-9F45-4165-B4B6-71676DB81EE7}"/>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1AE3EB2-3F3B-4406-B655-D84D6AFBBBA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C13958F-357A-45AA-8F8F-A94C31E6D48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A469010-1491-4467-9E51-6DE2EBEC306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2797346d084db3" /><Relationship Type="http://schemas.openxmlformats.org/officeDocument/2006/relationships/slideLayout" Target="/ppt/slideLayouts/slideLayout1.xml" Id="R11d98507a2b34cfd" /><Relationship Type="http://schemas.openxmlformats.org/officeDocument/2006/relationships/slideLayout" Target="/ppt/slideLayouts/slideLayout2.xml" Id="R2f6d3fe6fed04e80" /><Relationship Type="http://schemas.openxmlformats.org/officeDocument/2006/relationships/slideLayout" Target="/ppt/slideLayouts/slideLayout3.xml" Id="R23860b79cda04f6b" /><Relationship Type="http://schemas.openxmlformats.org/officeDocument/2006/relationships/slideLayout" Target="/ppt/slideLayouts/slideLayout4.xml" Id="R61fed20be6b6429b" /><Relationship Type="http://schemas.openxmlformats.org/officeDocument/2006/relationships/slideLayout" Target="/ppt/slideLayouts/slideLayout5.xml" Id="Rf7ce993be00f4f94" /><Relationship Type="http://schemas.openxmlformats.org/officeDocument/2006/relationships/slideLayout" Target="/ppt/slideLayouts/slideLayout6.xml" Id="R589ce4cda5da476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1d98507a2b34cfd"/>
    <p:sldLayoutId xmlns:r="http://schemas.openxmlformats.org/officeDocument/2006/relationships" id="2147483650" r:id="R2f6d3fe6fed04e80"/>
    <p:sldLayoutId xmlns:r="http://schemas.openxmlformats.org/officeDocument/2006/relationships" id="2147483651" r:id="R23860b79cda04f6b"/>
    <p:sldLayoutId xmlns:r="http://schemas.openxmlformats.org/officeDocument/2006/relationships" id="2147483652" r:id="R61fed20be6b6429b"/>
    <p:sldLayoutId xmlns:r="http://schemas.openxmlformats.org/officeDocument/2006/relationships" id="2147483653" r:id="Rf7ce993be00f4f94"/>
    <p:sldLayoutId xmlns:r="http://schemas.openxmlformats.org/officeDocument/2006/relationships" id="2147483654" r:id="R589ce4cda5da476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9b046528a1f4d3e" /><Relationship Type="http://schemas.openxmlformats.org/officeDocument/2006/relationships/image" Target="/ppt/media/image.png" Id="R08ed4c8e5e524a7f" /><Relationship Type="http://schemas.openxmlformats.org/officeDocument/2006/relationships/notesSlide" Target="/ppt/notesSlides/notesSlide1.xml" Id="R9cc0512b972a47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f1268dce8e24a02" /><Relationship Type="http://schemas.openxmlformats.org/officeDocument/2006/relationships/notesSlide" Target="/ppt/notesSlides/notesSlide2.xml" Id="Rbdb44be17188474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fe4cfa16b324698" /><Relationship Type="http://schemas.openxmlformats.org/officeDocument/2006/relationships/notesSlide" Target="/ppt/notesSlides/notesSlide3.xml" Id="R9fbd86a0e5ca422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604b927bc3c487b" /><Relationship Type="http://schemas.openxmlformats.org/officeDocument/2006/relationships/notesSlide" Target="/ppt/notesSlides/notesSlide4.xml" Id="R255f9a8a9a88462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3bdac15de14d55" /><Relationship Type="http://schemas.openxmlformats.org/officeDocument/2006/relationships/notesSlide" Target="/ppt/notesSlides/notesSlide5.xml" Id="R1413ea4c72cd41b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0405e7e832e4637" /><Relationship Type="http://schemas.openxmlformats.org/officeDocument/2006/relationships/notesSlide" Target="/ppt/notesSlides/notesSlide6.xml" Id="R3a1d688a75b847a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bc86104690d4293" /><Relationship Type="http://schemas.openxmlformats.org/officeDocument/2006/relationships/notesSlide" Target="/ppt/notesSlides/notesSlide7.xml" Id="Rf145109a7a9b445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0c04d9b74c54e3e" /><Relationship Type="http://schemas.openxmlformats.org/officeDocument/2006/relationships/notesSlide" Target="/ppt/notesSlides/notesSlide8.xml" Id="Ra0d4e83709384ee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4454be4f585485d" /><Relationship Type="http://schemas.openxmlformats.org/officeDocument/2006/relationships/notesSlide" Target="/ppt/notesSlides/notesSlide9.xml" Id="Rc7c530cc0aef46c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511be6aa87d4b4f" /><Relationship Type="http://schemas.openxmlformats.org/officeDocument/2006/relationships/notesSlide" Target="/ppt/notesSlides/notesSlide10.xml" Id="R8fa6e81a652e426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d8be005a3b343d0" /><Relationship Type="http://schemas.openxmlformats.org/officeDocument/2006/relationships/notesSlide" Target="/ppt/notesSlides/notesSlide11.xml" Id="R3bcdfa99ad464b9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b96e61ca080436a" /><Relationship Type="http://schemas.openxmlformats.org/officeDocument/2006/relationships/notesSlide" Target="/ppt/notesSlides/notesSlide12.xml" Id="R91ea4a7b40c2456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708644e869847e6" /><Relationship Type="http://schemas.openxmlformats.org/officeDocument/2006/relationships/notesSlide" Target="/ppt/notesSlides/notesSlide13.xml" Id="Rb6ddd871685e4f8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3711776dafa4858" /><Relationship Type="http://schemas.openxmlformats.org/officeDocument/2006/relationships/notesSlide" Target="/ppt/notesSlides/notesSlide14.xml" Id="R10236026b4ee434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2acf924dfe94c3c" /><Relationship Type="http://schemas.openxmlformats.org/officeDocument/2006/relationships/notesSlide" Target="/ppt/notesSlides/notesSlide15.xml" Id="R6817d12ecb7a413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1d510d7a7e9451b" /><Relationship Type="http://schemas.openxmlformats.org/officeDocument/2006/relationships/notesSlide" Target="/ppt/notesSlides/notesSlide16.xml" Id="R0eb0f1ad85434f3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dd4123df74849c7" /><Relationship Type="http://schemas.openxmlformats.org/officeDocument/2006/relationships/notesSlide" Target="/ppt/notesSlides/notesSlide17.xml" Id="R9c6765e0f5304d9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fd144fd46984ae7" /><Relationship Type="http://schemas.openxmlformats.org/officeDocument/2006/relationships/notesSlide" Target="/ppt/notesSlides/notesSlide18.xml" Id="Rc970e1fa8ab84f1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f07827296fc4a1f" /><Relationship Type="http://schemas.openxmlformats.org/officeDocument/2006/relationships/notesSlide" Target="/ppt/notesSlides/notesSlide19.xml" Id="R222c89666d70435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b7a7078fb1947df" /><Relationship Type="http://schemas.openxmlformats.org/officeDocument/2006/relationships/notesSlide" Target="/ppt/notesSlides/notesSlide20.xml" Id="R0e69aa9250f74fa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7d7f961aa81404b" /><Relationship Type="http://schemas.openxmlformats.org/officeDocument/2006/relationships/notesSlide" Target="/ppt/notesSlides/notesSlide21.xml" Id="Rc5dac7dfa7be43b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336607dd1c64f17" /><Relationship Type="http://schemas.openxmlformats.org/officeDocument/2006/relationships/notesSlide" Target="/ppt/notesSlides/notesSlide22.xml" Id="Rf80d082f85c6499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73ad796c0e64d5c" /><Relationship Type="http://schemas.openxmlformats.org/officeDocument/2006/relationships/notesSlide" Target="/ppt/notesSlides/notesSlide23.xml" Id="R33145f1ca38044e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ea44c0cad3748e0" /><Relationship Type="http://schemas.openxmlformats.org/officeDocument/2006/relationships/notesSlide" Target="/ppt/notesSlides/notesSlide24.xml" Id="R91b47a6eb9ee40e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00cf89d7ff240f7" /><Relationship Type="http://schemas.openxmlformats.org/officeDocument/2006/relationships/notesSlide" Target="/ppt/notesSlides/notesSlide25.xml" Id="R21d8f5d83c794f4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8da58ca381444ae" /><Relationship Type="http://schemas.openxmlformats.org/officeDocument/2006/relationships/notesSlide" Target="/ppt/notesSlides/notesSlide26.xml" Id="R92cce4e1cc54482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13eebb1ccd145e0" /><Relationship Type="http://schemas.openxmlformats.org/officeDocument/2006/relationships/notesSlide" Target="/ppt/notesSlides/notesSlide27.xml" Id="R92d14ab31ad149f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b8cccaad4a84c8d" /><Relationship Type="http://schemas.openxmlformats.org/officeDocument/2006/relationships/notesSlide" Target="/ppt/notesSlides/notesSlide28.xml" Id="R9bc95b92a36e4f1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c4abf537e634074" /><Relationship Type="http://schemas.openxmlformats.org/officeDocument/2006/relationships/notesSlide" Target="/ppt/notesSlides/notesSlide29.xml" Id="R7d77f79c84a646a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72acbb273a54b8f" /><Relationship Type="http://schemas.openxmlformats.org/officeDocument/2006/relationships/notesSlide" Target="/ppt/notesSlides/notesSlide30.xml" Id="R45ce590b199d4a3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86314b0b6d974bd0" /><Relationship Type="http://schemas.openxmlformats.org/officeDocument/2006/relationships/notesSlide" Target="/ppt/notesSlides/notesSlide31.xml" Id="Rea0d8b03da00498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5f4287c7bac4ec7" /><Relationship Type="http://schemas.openxmlformats.org/officeDocument/2006/relationships/hyperlink" Target="https://docs.google.com/forms/d/e/1FAIpQLSd4Ltaw1RqRzbW7PoC4_Kh3PZHkElCKA9OY8F_xrJfLnpcbfA/viewform" TargetMode="External" Id="R742a74b7dbea4d72" /><Relationship Type="http://schemas.openxmlformats.org/officeDocument/2006/relationships/notesSlide" Target="/ppt/notesSlides/notesSlide32.xml" Id="Rcb83912a8559468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2efb037e0474eee" /><Relationship Type="http://schemas.openxmlformats.org/officeDocument/2006/relationships/notesSlide" Target="/ppt/notesSlides/notesSlide33.xml" Id="R0839381059ff4bc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b55ad9e536724ece" /><Relationship Type="http://schemas.openxmlformats.org/officeDocument/2006/relationships/image" Target="/ppt/media/image2.png" Id="R038fe1c925ad4155" /><Relationship Type="http://schemas.openxmlformats.org/officeDocument/2006/relationships/hyperlink" Target="https://forms.gle/MKfjP3UWDXAei6FK6" TargetMode="External" Id="Re133b1917d694f00" /><Relationship Type="http://schemas.openxmlformats.org/officeDocument/2006/relationships/notesSlide" Target="/ppt/notesSlides/notesSlide34.xml" Id="R270f634a18f74fc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f67a2ce077d46f6" /><Relationship Type="http://schemas.openxmlformats.org/officeDocument/2006/relationships/notesSlide" Target="/ppt/notesSlides/notesSlide35.xml" Id="R0a9c9dd6cc9b4b1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ce54f05565e4bc6" /><Relationship Type="http://schemas.openxmlformats.org/officeDocument/2006/relationships/hyperlink" Target="https://www.youtube.com/watch?v=fSytzGwwBVw" TargetMode="External" Id="Rb0acf262ea5f4724" /><Relationship Type="http://schemas.openxmlformats.org/officeDocument/2006/relationships/notesSlide" Target="/ppt/notesSlides/notesSlide36.xml" Id="R9f07fe73980f441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08ed4c8e5e524a7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6F9C8E4-B48A-47CA-8A46-5A8FC3032533}"/>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B7E7134-6C57-4390-9CBA-88867F4FF30D}"/>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12</a:t>
            </a:r>
          </a:p>
        </p:txBody>
      </p:sp>
      <p:sp>
        <p:nvSpPr>
          <p:cNvPr id="4" name="">
            <a:extLst xmlns:a="http://schemas.openxmlformats.org/drawingml/2006/main">
              <a:ext uri="{FF2B5EF4-FFF2-40B4-BE49-F238E27FC236}">
                <a16:creationId xmlns:a16="http://schemas.microsoft.com/office/drawing/2014/main" id="{5A7F804F-49CD-4F55-8B8B-3EF420AED9FC}"/>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EAC2D100-6342-4E62-8161-FD2046981DE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C291CFBA-3002-4EF0-906A-7D979F893FF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24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41082252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E5C7034-86B8-4BB6-B6F9-C67D46EA96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322387-AD90-478F-B8EF-C7B626BADD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1CD29533-04D2-4FAE-A590-52EF977AF7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0D9A959D-F5D5-4EC8-8D68-FD10BE5F4FDD}"/>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3D7D9F-0040-4392-BD45-DE755CAC2546}"/>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21DE4DD-04EB-430B-A5C0-89ABE9D49B5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model requirements before ranking candidates.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Apply the tie-break rule and explain the choice.</a:t>
            </a:r>
          </a:p>
        </p:txBody>
      </p:sp>
      <p:sp>
        <p:nvSpPr>
          <p:cNvPr id="7" name="">
            <a:extLst xmlns:a="http://schemas.openxmlformats.org/drawingml/2006/main">
              <a:ext uri="{FF2B5EF4-FFF2-40B4-BE49-F238E27FC236}">
                <a16:creationId xmlns:a16="http://schemas.microsoft.com/office/drawing/2014/main" id="{45AAB8C6-B874-4ABE-935E-721971118050}"/>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6F074347-6BB8-499E-B081-25326A1A1DC6}"/>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valid candidate with evidence and a stated limitation.</a:t>
            </a:r>
          </a:p>
        </p:txBody>
      </p:sp>
      <p:sp>
        <p:nvSpPr>
          <p:cNvPr id="9" name="">
            <a:extLst xmlns:a="http://schemas.openxmlformats.org/drawingml/2006/main">
              <a:ext uri="{FF2B5EF4-FFF2-40B4-BE49-F238E27FC236}">
                <a16:creationId xmlns:a16="http://schemas.microsoft.com/office/drawing/2014/main" id="{3B9A1873-CF20-46D1-B4D8-EFBC0BA35E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a:t>
            </a:r>
          </a:p>
        </p:txBody>
      </p:sp>
    </p:spTree>
    <p:extLst>
      <p:ext uri="{BB962C8B-B14F-4D97-AF65-F5344CB8AC3E}">
        <p14:creationId xmlns:p14="http://schemas.microsoft.com/office/powerpoint/2010/main" val="30873104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CEA6DB2-4388-4D7E-954F-C1F8EFF16A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FF2419-FD2D-4BAD-93E0-26E7E8D4BC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A5E7E06-AC93-4DEB-BF75-A9DAE6F1FD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18E14ABA-7A2D-4069-8D76-7F341393D86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C571AF-4C61-47C7-869D-0D43B115EE5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already calculate validation errors.</a:t>
            </a:r>
          </a:p>
        </p:txBody>
      </p:sp>
      <p:sp>
        <p:nvSpPr>
          <p:cNvPr id="6" name="">
            <a:extLst xmlns:a="http://schemas.openxmlformats.org/drawingml/2006/main">
              <a:ext uri="{FF2B5EF4-FFF2-40B4-BE49-F238E27FC236}">
                <a16:creationId xmlns:a16="http://schemas.microsoft.com/office/drawing/2014/main" id="{200980BA-2D9B-4423-9ED2-433F8A085E6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combine those errors with a practical constraint and an explicit tie-break rule.</a:t>
            </a:r>
          </a:p>
        </p:txBody>
      </p:sp>
      <p:sp>
        <p:nvSpPr>
          <p:cNvPr id="7" name="">
            <a:extLst xmlns:a="http://schemas.openxmlformats.org/drawingml/2006/main">
              <a:ext uri="{FF2B5EF4-FFF2-40B4-BE49-F238E27FC236}">
                <a16:creationId xmlns:a16="http://schemas.microsoft.com/office/drawing/2014/main" id="{758E4813-0C60-422C-AE39-D406120B2E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a:t>
            </a:r>
          </a:p>
        </p:txBody>
      </p:sp>
    </p:spTree>
    <p:extLst>
      <p:ext uri="{BB962C8B-B14F-4D97-AF65-F5344CB8AC3E}">
        <p14:creationId xmlns:p14="http://schemas.microsoft.com/office/powerpoint/2010/main" val="166503866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5896BE1-9D0A-4BC8-9018-1811C967D1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3BBA41-1B36-4ED9-9858-BAD875B76D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E2E61C7-E58F-4AE2-AF86-FF290A6835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C33A1675-A5BA-4DDE-9BA7-EEB0C863E1C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C046D9-EA6D-42A3-A31E-29309B8F4D1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lowest prediction error may come from a model that is too slow for the stated task.</a:t>
            </a:r>
          </a:p>
        </p:txBody>
      </p:sp>
      <p:sp>
        <p:nvSpPr>
          <p:cNvPr id="6" name="">
            <a:extLst xmlns:a="http://schemas.openxmlformats.org/drawingml/2006/main">
              <a:ext uri="{FF2B5EF4-FFF2-40B4-BE49-F238E27FC236}">
                <a16:creationId xmlns:a16="http://schemas.microsoft.com/office/drawing/2014/main" id="{87045713-03F0-42D4-94BC-0FFE0DB9C14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apply the published constraints before ranking eligible models.</a:t>
            </a:r>
          </a:p>
        </p:txBody>
      </p:sp>
      <p:sp>
        <p:nvSpPr>
          <p:cNvPr id="7" name="">
            <a:extLst xmlns:a="http://schemas.openxmlformats.org/drawingml/2006/main">
              <a:ext uri="{FF2B5EF4-FFF2-40B4-BE49-F238E27FC236}">
                <a16:creationId xmlns:a16="http://schemas.microsoft.com/office/drawing/2014/main" id="{106A12CB-C47E-4AFB-B893-D19AC4D117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a:t>
            </a:r>
          </a:p>
        </p:txBody>
      </p:sp>
    </p:spTree>
    <p:extLst>
      <p:ext uri="{BB962C8B-B14F-4D97-AF65-F5344CB8AC3E}">
        <p14:creationId xmlns:p14="http://schemas.microsoft.com/office/powerpoint/2010/main" val="54444406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619716B-1399-4658-8180-39E9A4C409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0F4463-8679-4040-96F2-3B5B656B96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660F823-A2A6-484C-9DC3-DB2AEF31A9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 and Latency</a:t>
            </a:r>
          </a:p>
        </p:txBody>
      </p:sp>
      <p:sp>
        <p:nvSpPr>
          <p:cNvPr id="4" name="">
            <a:extLst xmlns:a="http://schemas.openxmlformats.org/drawingml/2006/main">
              <a:ext uri="{FF2B5EF4-FFF2-40B4-BE49-F238E27FC236}">
                <a16:creationId xmlns:a16="http://schemas.microsoft.com/office/drawing/2014/main" id="{6C817A38-C4A5-45DA-BB9A-C94CBAA7A4E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CE5C035-21D9-448C-84AC-3185161D7F3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Constraint</a:t>
            </a:r>
          </a:p>
        </p:txBody>
      </p:sp>
      <p:sp>
        <p:nvSpPr>
          <p:cNvPr id="6" name="">
            <a:extLst xmlns:a="http://schemas.openxmlformats.org/drawingml/2006/main">
              <a:ext uri="{FF2B5EF4-FFF2-40B4-BE49-F238E27FC236}">
                <a16:creationId xmlns:a16="http://schemas.microsoft.com/office/drawing/2014/main" id="{A2965CF6-DEC8-424B-B9A9-6C58427BBDA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condition a candidate must satisfy, such as MAE at most 3 and latency at most 10 ms.</a:t>
            </a:r>
          </a:p>
        </p:txBody>
      </p:sp>
      <p:sp>
        <p:nvSpPr>
          <p:cNvPr id="7" name="">
            <a:extLst xmlns:a="http://schemas.openxmlformats.org/drawingml/2006/main">
              <a:ext uri="{FF2B5EF4-FFF2-40B4-BE49-F238E27FC236}">
                <a16:creationId xmlns:a16="http://schemas.microsoft.com/office/drawing/2014/main" id="{A4D985B9-7234-4014-BE3D-210F2AEBD11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378503D-E0AA-4135-9F75-2AF83186422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Latency</a:t>
            </a:r>
          </a:p>
        </p:txBody>
      </p:sp>
      <p:sp>
        <p:nvSpPr>
          <p:cNvPr id="9" name="">
            <a:extLst xmlns:a="http://schemas.openxmlformats.org/drawingml/2006/main">
              <a:ext uri="{FF2B5EF4-FFF2-40B4-BE49-F238E27FC236}">
                <a16:creationId xmlns:a16="http://schemas.microsoft.com/office/drawing/2014/main" id="{7D41304B-B667-4B02-B237-9966BD93A11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Time taken to produce a prediction under stated measurement conditions. Hardware and measurement method matter.</a:t>
            </a:r>
          </a:p>
        </p:txBody>
      </p:sp>
      <p:sp>
        <p:nvSpPr>
          <p:cNvPr id="10" name="">
            <a:extLst xmlns:a="http://schemas.openxmlformats.org/drawingml/2006/main">
              <a:ext uri="{FF2B5EF4-FFF2-40B4-BE49-F238E27FC236}">
                <a16:creationId xmlns:a16="http://schemas.microsoft.com/office/drawing/2014/main" id="{D3536D7D-6A85-4604-A2DE-3777C992A8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a:t>
            </a:r>
          </a:p>
        </p:txBody>
      </p:sp>
    </p:spTree>
    <p:extLst>
      <p:ext uri="{BB962C8B-B14F-4D97-AF65-F5344CB8AC3E}">
        <p14:creationId xmlns:p14="http://schemas.microsoft.com/office/powerpoint/2010/main" val="171309114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9803453-59C2-4086-A385-CBEEC61F03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1F174E-C898-4785-B1F0-E46C3D5150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AE87F43-82BC-462C-8A2A-AE18110133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Tie-break and Hyperparameter</a:t>
            </a:r>
          </a:p>
        </p:txBody>
      </p:sp>
      <p:sp>
        <p:nvSpPr>
          <p:cNvPr id="4" name="">
            <a:extLst xmlns:a="http://schemas.openxmlformats.org/drawingml/2006/main">
              <a:ext uri="{FF2B5EF4-FFF2-40B4-BE49-F238E27FC236}">
                <a16:creationId xmlns:a16="http://schemas.microsoft.com/office/drawing/2014/main" id="{410B443E-B11F-4F2F-9787-1524EA9DE03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570602-D781-4567-9717-B8A23009E67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Tie-break</a:t>
            </a:r>
          </a:p>
        </p:txBody>
      </p:sp>
      <p:sp>
        <p:nvSpPr>
          <p:cNvPr id="6" name="">
            <a:extLst xmlns:a="http://schemas.openxmlformats.org/drawingml/2006/main">
              <a:ext uri="{FF2B5EF4-FFF2-40B4-BE49-F238E27FC236}">
                <a16:creationId xmlns:a16="http://schemas.microsoft.com/office/drawing/2014/main" id="{B2970642-4813-4E33-AA1E-8BBE2BE3C71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published rule for choosing between candidates that tie on the main criterion.</a:t>
            </a:r>
          </a:p>
        </p:txBody>
      </p:sp>
      <p:sp>
        <p:nvSpPr>
          <p:cNvPr id="7" name="">
            <a:extLst xmlns:a="http://schemas.openxmlformats.org/drawingml/2006/main">
              <a:ext uri="{FF2B5EF4-FFF2-40B4-BE49-F238E27FC236}">
                <a16:creationId xmlns:a16="http://schemas.microsoft.com/office/drawing/2014/main" id="{2B012A67-1394-4935-A6BD-907AF34470D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3E22CDA-0B50-40C6-9557-8E5D8E2FA17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Hyperparameter</a:t>
            </a:r>
          </a:p>
        </p:txBody>
      </p:sp>
      <p:sp>
        <p:nvSpPr>
          <p:cNvPr id="9" name="">
            <a:extLst xmlns:a="http://schemas.openxmlformats.org/drawingml/2006/main">
              <a:ext uri="{FF2B5EF4-FFF2-40B4-BE49-F238E27FC236}">
                <a16:creationId xmlns:a16="http://schemas.microsoft.com/office/drawing/2014/main" id="{036190BB-7047-47D1-9989-F30D05B44CE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setting chosen before fitting, such as tree depth. Tune using validation or cross-validation, not the final test.</a:t>
            </a:r>
          </a:p>
        </p:txBody>
      </p:sp>
      <p:sp>
        <p:nvSpPr>
          <p:cNvPr id="10" name="">
            <a:extLst xmlns:a="http://schemas.openxmlformats.org/drawingml/2006/main">
              <a:ext uri="{FF2B5EF4-FFF2-40B4-BE49-F238E27FC236}">
                <a16:creationId xmlns:a16="http://schemas.microsoft.com/office/drawing/2014/main" id="{EEF807C5-5ACE-4C75-ABCA-32176BCA9B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6</a:t>
            </a:r>
          </a:p>
        </p:txBody>
      </p:sp>
    </p:spTree>
    <p:extLst>
      <p:ext uri="{BB962C8B-B14F-4D97-AF65-F5344CB8AC3E}">
        <p14:creationId xmlns:p14="http://schemas.microsoft.com/office/powerpoint/2010/main" val="143650384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D132471-E8C1-40DA-B5CC-CD97C9A30F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05E419-2E0C-449E-B30D-FE3A4BBD4E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DE097F5-FE02-470E-BDE0-CA5810DEC8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Error and practical constraints</a:t>
            </a:r>
          </a:p>
        </p:txBody>
      </p:sp>
      <p:sp>
        <p:nvSpPr>
          <p:cNvPr id="4" name="">
            <a:extLst xmlns:a="http://schemas.openxmlformats.org/drawingml/2006/main">
              <a:ext uri="{FF2B5EF4-FFF2-40B4-BE49-F238E27FC236}">
                <a16:creationId xmlns:a16="http://schemas.microsoft.com/office/drawing/2014/main" id="{E1D24F8A-866E-42E3-9F2F-77F39DA720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30F7C8-C042-40F0-A2CC-3F21EC9C299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smaller error can require more computation.</a:t>
            </a:r>
          </a:p>
        </p:txBody>
      </p:sp>
      <p:sp>
        <p:nvSpPr>
          <p:cNvPr id="6" name="">
            <a:extLst xmlns:a="http://schemas.openxmlformats.org/drawingml/2006/main">
              <a:ext uri="{FF2B5EF4-FFF2-40B4-BE49-F238E27FC236}">
                <a16:creationId xmlns:a16="http://schemas.microsoft.com/office/drawing/2014/main" id="{8D5386EA-43F3-48CA-8A18-063EEE35C3B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96912B-4758-44D5-BA81-64895791E27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candidate must meet every stated requirement.</a:t>
            </a:r>
          </a:p>
        </p:txBody>
      </p:sp>
      <p:sp>
        <p:nvSpPr>
          <p:cNvPr id="8" name="">
            <a:extLst xmlns:a="http://schemas.openxmlformats.org/drawingml/2006/main">
              <a:ext uri="{FF2B5EF4-FFF2-40B4-BE49-F238E27FC236}">
                <a16:creationId xmlns:a16="http://schemas.microsoft.com/office/drawing/2014/main" id="{550434FD-1A52-4726-BEF0-320384F9696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6759D1-0424-4BA5-AFEC-E5961F0DA8E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eligible models on the same validation observations.</a:t>
            </a:r>
          </a:p>
        </p:txBody>
      </p:sp>
      <p:sp>
        <p:nvSpPr>
          <p:cNvPr id="10" name="">
            <a:extLst xmlns:a="http://schemas.openxmlformats.org/drawingml/2006/main">
              <a:ext uri="{FF2B5EF4-FFF2-40B4-BE49-F238E27FC236}">
                <a16:creationId xmlns:a16="http://schemas.microsoft.com/office/drawing/2014/main" id="{6EE70A51-6D3F-4617-AE2F-4C51660B205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E98657B-7F15-460C-8168-F39E1E4BCFE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published tie-break rule when scores tie.</a:t>
            </a:r>
          </a:p>
        </p:txBody>
      </p:sp>
      <p:sp>
        <p:nvSpPr>
          <p:cNvPr id="12" name="">
            <a:extLst xmlns:a="http://schemas.openxmlformats.org/drawingml/2006/main">
              <a:ext uri="{FF2B5EF4-FFF2-40B4-BE49-F238E27FC236}">
                <a16:creationId xmlns:a16="http://schemas.microsoft.com/office/drawing/2014/main" id="{EE1F8F4E-A0B5-478A-A41C-7782884B1C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7</a:t>
            </a:r>
          </a:p>
        </p:txBody>
      </p:sp>
    </p:spTree>
    <p:extLst>
      <p:ext uri="{BB962C8B-B14F-4D97-AF65-F5344CB8AC3E}">
        <p14:creationId xmlns:p14="http://schemas.microsoft.com/office/powerpoint/2010/main" val="55645571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7233998-4A06-4E76-A8F7-8EA34E13C7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9AC58B-736C-47BB-A249-2079F3EF1B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170B5C-454C-43A3-8A46-3241BEAAB0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comparison needs a fair test</a:t>
            </a:r>
          </a:p>
        </p:txBody>
      </p:sp>
      <p:sp>
        <p:nvSpPr>
          <p:cNvPr id="4" name="">
            <a:extLst xmlns:a="http://schemas.openxmlformats.org/drawingml/2006/main">
              <a:ext uri="{FF2B5EF4-FFF2-40B4-BE49-F238E27FC236}">
                <a16:creationId xmlns:a16="http://schemas.microsoft.com/office/drawing/2014/main" id="{2F92811A-3EDE-4A37-948C-8A647150DD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6E20DE1-648D-4BE1-8E5B-7FC5648D719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validation observations for every candidate.</a:t>
            </a:r>
          </a:p>
        </p:txBody>
      </p:sp>
      <p:sp>
        <p:nvSpPr>
          <p:cNvPr id="6" name="">
            <a:extLst xmlns:a="http://schemas.openxmlformats.org/drawingml/2006/main">
              <a:ext uri="{FF2B5EF4-FFF2-40B4-BE49-F238E27FC236}">
                <a16:creationId xmlns:a16="http://schemas.microsoft.com/office/drawing/2014/main" id="{335F9A6F-B2D2-45D2-AA12-19E3AB14D02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DB466B1-AFA4-4EC7-83C3-6F026E57BD9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preprocessing on training data only.</a:t>
            </a:r>
          </a:p>
        </p:txBody>
      </p:sp>
      <p:sp>
        <p:nvSpPr>
          <p:cNvPr id="8" name="">
            <a:extLst xmlns:a="http://schemas.openxmlformats.org/drawingml/2006/main">
              <a:ext uri="{FF2B5EF4-FFF2-40B4-BE49-F238E27FC236}">
                <a16:creationId xmlns:a16="http://schemas.microsoft.com/office/drawing/2014/main" id="{D02B174C-5DD8-4B06-AB04-0E637AD6F74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2E6EC4-BFD1-4BCB-BD08-233C8586114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the error measure and practical requirements before inspecting results.</a:t>
            </a:r>
          </a:p>
        </p:txBody>
      </p:sp>
      <p:sp>
        <p:nvSpPr>
          <p:cNvPr id="10" name="">
            <a:extLst xmlns:a="http://schemas.openxmlformats.org/drawingml/2006/main">
              <a:ext uri="{FF2B5EF4-FFF2-40B4-BE49-F238E27FC236}">
                <a16:creationId xmlns:a16="http://schemas.microsoft.com/office/drawing/2014/main" id="{F79250F3-A297-4C56-8FB4-A5DB9DC451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8</a:t>
            </a:r>
          </a:p>
        </p:txBody>
      </p:sp>
    </p:spTree>
    <p:extLst>
      <p:ext uri="{BB962C8B-B14F-4D97-AF65-F5344CB8AC3E}">
        <p14:creationId xmlns:p14="http://schemas.microsoft.com/office/powerpoint/2010/main" val="35368544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3096FD-9C35-4426-9E10-D8409C44F0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50E50F-6DAA-4045-B8B7-660D35AF36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74C9775-BCA4-43F2-BF92-58DFF6314F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Eligibility comes before ranking</a:t>
            </a:r>
          </a:p>
        </p:txBody>
      </p:sp>
      <p:sp>
        <p:nvSpPr>
          <p:cNvPr id="4" name="">
            <a:extLst xmlns:a="http://schemas.openxmlformats.org/drawingml/2006/main">
              <a:ext uri="{FF2B5EF4-FFF2-40B4-BE49-F238E27FC236}">
                <a16:creationId xmlns:a16="http://schemas.microsoft.com/office/drawing/2014/main" id="{3DE41510-1632-4CFC-8A63-9FB202403F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A42773-E0AE-4E00-83F3-3375C88779A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check every stated requirement for each candidate.</a:t>
            </a:r>
          </a:p>
        </p:txBody>
      </p:sp>
      <p:sp>
        <p:nvSpPr>
          <p:cNvPr id="6" name="">
            <a:extLst xmlns:a="http://schemas.openxmlformats.org/drawingml/2006/main">
              <a:ext uri="{FF2B5EF4-FFF2-40B4-BE49-F238E27FC236}">
                <a16:creationId xmlns:a16="http://schemas.microsoft.com/office/drawing/2014/main" id="{079AC634-0F56-4DF4-BE20-E8B47AFA9F0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18C041E-4E78-4311-A1A4-D326D9A100A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Reject a candidate that fails even one requirement.</a:t>
            </a:r>
          </a:p>
        </p:txBody>
      </p:sp>
      <p:sp>
        <p:nvSpPr>
          <p:cNvPr id="8" name="">
            <a:extLst xmlns:a="http://schemas.openxmlformats.org/drawingml/2006/main">
              <a:ext uri="{FF2B5EF4-FFF2-40B4-BE49-F238E27FC236}">
                <a16:creationId xmlns:a16="http://schemas.microsoft.com/office/drawing/2014/main" id="{BD1C3CEE-3994-4727-8E46-D7AEB2BD99D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7A3A4A-9F67-468E-A4E3-AC994408B7B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Rank the eligible candidates using the published tie-break rule.</a:t>
            </a:r>
          </a:p>
        </p:txBody>
      </p:sp>
      <p:sp>
        <p:nvSpPr>
          <p:cNvPr id="10" name="">
            <a:extLst xmlns:a="http://schemas.openxmlformats.org/drawingml/2006/main">
              <a:ext uri="{FF2B5EF4-FFF2-40B4-BE49-F238E27FC236}">
                <a16:creationId xmlns:a16="http://schemas.microsoft.com/office/drawing/2014/main" id="{9F0FE5FA-708A-489C-8E24-4C39F8DFCB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9</a:t>
            </a:r>
          </a:p>
        </p:txBody>
      </p:sp>
    </p:spTree>
    <p:extLst>
      <p:ext uri="{BB962C8B-B14F-4D97-AF65-F5344CB8AC3E}">
        <p14:creationId xmlns:p14="http://schemas.microsoft.com/office/powerpoint/2010/main" val="99467113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0F9374-EFBB-4DA7-86B8-6824C38FD6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CE558A-ED65-4A5C-B9B6-5932F1F5C0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9EE3AB2-CB58-4F7A-BB85-5A0F0BFB96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constrained model choice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Validation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Time (ms)</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simple</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complex</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7596136-3D46-415D-9F76-81FCAC53CB70}"/>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requirements: error at most 3 and time at most 10 ms.</a:t>
            </a:r>
          </a:p>
        </p:txBody>
      </p:sp>
      <p:sp>
        <p:nvSpPr>
          <p:cNvPr id="6" name="">
            <a:extLst xmlns:a="http://schemas.openxmlformats.org/drawingml/2006/main">
              <a:ext uri="{FF2B5EF4-FFF2-40B4-BE49-F238E27FC236}">
                <a16:creationId xmlns:a16="http://schemas.microsoft.com/office/drawing/2014/main" id="{42D23B1F-0229-4B1D-B993-EC555CB0A3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10</a:t>
            </a:r>
          </a:p>
        </p:txBody>
      </p:sp>
    </p:spTree>
    <p:extLst>
      <p:ext uri="{BB962C8B-B14F-4D97-AF65-F5344CB8AC3E}">
        <p14:creationId xmlns:p14="http://schemas.microsoft.com/office/powerpoint/2010/main" val="208733993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F61E98B-6227-46C0-B4E1-7BE485CDA4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48247B-D23B-4F14-B5A1-D1D0BC1496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60B419-23A9-4C1B-8BAA-BC6ABE43F4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records and eligibility</a:t>
            </a:r>
          </a:p>
        </p:txBody>
      </p:sp>
      <p:sp>
        <p:nvSpPr>
          <p:cNvPr id="4" name="">
            <a:extLst xmlns:a="http://schemas.openxmlformats.org/drawingml/2006/main">
              <a:ext uri="{FF2B5EF4-FFF2-40B4-BE49-F238E27FC236}">
                <a16:creationId xmlns:a16="http://schemas.microsoft.com/office/drawing/2014/main" id="{04D7AB8C-DAE4-4E6C-A943-79AF27561B7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1C8C92-E1AB-4F9E-B156-977703E766C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E5DE517-3840-4E54-A34A-377D385AD12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candidate is one model under consideration. Its dictionary records a name, a validation error and measured run time.</a:t>
            </a:r>
          </a:p>
        </p:txBody>
      </p:sp>
      <p:sp>
        <p:nvSpPr>
          <p:cNvPr id="7" name="">
            <a:extLst xmlns:a="http://schemas.openxmlformats.org/drawingml/2006/main">
              <a:ext uri="{FF2B5EF4-FFF2-40B4-BE49-F238E27FC236}">
                <a16:creationId xmlns:a16="http://schemas.microsoft.com/office/drawing/2014/main" id="{EC0566D0-9043-4CF9-9778-025FAA7D71C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eligible candidate meets every published constraint. Build a list of eligible records first. If the list is empty, use the task’s specified no-candidate result.</a:t>
            </a:r>
          </a:p>
        </p:txBody>
      </p:sp>
      <p:sp>
        <p:nvSpPr>
          <p:cNvPr id="8" name="">
            <a:extLst xmlns:a="http://schemas.openxmlformats.org/drawingml/2006/main">
              <a:ext uri="{FF2B5EF4-FFF2-40B4-BE49-F238E27FC236}">
                <a16:creationId xmlns:a16="http://schemas.microsoft.com/office/drawing/2014/main" id="{E3BC96BF-8DA4-4F2C-A1AE-DF58ECE1A1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11</a:t>
            </a:r>
          </a:p>
        </p:txBody>
      </p:sp>
    </p:spTree>
    <p:extLst>
      <p:ext uri="{BB962C8B-B14F-4D97-AF65-F5344CB8AC3E}">
        <p14:creationId xmlns:p14="http://schemas.microsoft.com/office/powerpoint/2010/main" val="20177076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21A708-7ED0-4FA2-BC71-44D6006E37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BA4D84-2BEE-437E-8239-F42DB10C5F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42B581A-ABCA-4CC1-8B4F-9B4B88889D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(1/2)</a:t>
            </a:r>
          </a:p>
        </p:txBody>
      </p:sp>
      <p:sp>
        <p:nvSpPr>
          <p:cNvPr id="4" name="">
            <a:extLst xmlns:a="http://schemas.openxmlformats.org/drawingml/2006/main">
              <a:ext uri="{FF2B5EF4-FFF2-40B4-BE49-F238E27FC236}">
                <a16:creationId xmlns:a16="http://schemas.microsoft.com/office/drawing/2014/main" id="{D6B2862A-DD88-4F32-899E-2A3C7557A1C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BB1693-F708-4394-989E-FAD77FF0E2C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candidates = [{"name": "simple", "error": 3, "ms":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 "complex", "error": 1, "ms":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eligible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item in candidates: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item["error"] &lt;= 3 and item["ms"] &lt;=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eligible.append(item)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names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for item in eligible: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names.append(item["name"])</a:t>
            </a:r>
          </a:p>
        </p:txBody>
      </p:sp>
      <p:sp>
        <p:nvSpPr>
          <p:cNvPr id="6" name="">
            <a:extLst xmlns:a="http://schemas.openxmlformats.org/drawingml/2006/main">
              <a:ext uri="{FF2B5EF4-FFF2-40B4-BE49-F238E27FC236}">
                <a16:creationId xmlns:a16="http://schemas.microsoft.com/office/drawing/2014/main" id="{3975C886-BE82-47AC-AD41-9A2794837BE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E539FB9A-7319-4821-94FB-A6E62CEA13B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0B3E1BB4-2F36-4D74-8ADF-D4338D6E54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12</a:t>
            </a:r>
          </a:p>
        </p:txBody>
      </p:sp>
    </p:spTree>
    <p:extLst>
      <p:ext uri="{BB962C8B-B14F-4D97-AF65-F5344CB8AC3E}">
        <p14:creationId xmlns:p14="http://schemas.microsoft.com/office/powerpoint/2010/main" val="22837301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37D44EC-5D8E-4713-9203-62261603B4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AB413C-E62E-418D-B25D-6EF43EBC74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9CC8AA0-CB7D-42F1-A490-103128E87E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(2/2)</a:t>
            </a:r>
          </a:p>
        </p:txBody>
      </p:sp>
      <p:sp>
        <p:nvSpPr>
          <p:cNvPr id="4" name="">
            <a:extLst xmlns:a="http://schemas.openxmlformats.org/drawingml/2006/main">
              <a:ext uri="{FF2B5EF4-FFF2-40B4-BE49-F238E27FC236}">
                <a16:creationId xmlns:a16="http://schemas.microsoft.com/office/drawing/2014/main" id="{7A7BA1BC-5734-4F16-957C-290EDB1E47E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D7D6AB-8761-4505-89E8-B06D6DFE1F1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print(names)</a:t>
            </a:r>
          </a:p>
        </p:txBody>
      </p:sp>
      <p:sp>
        <p:nvSpPr>
          <p:cNvPr id="6" name="">
            <a:extLst xmlns:a="http://schemas.openxmlformats.org/drawingml/2006/main">
              <a:ext uri="{FF2B5EF4-FFF2-40B4-BE49-F238E27FC236}">
                <a16:creationId xmlns:a16="http://schemas.microsoft.com/office/drawing/2014/main" id="{D6D555FD-39AB-463F-BDD0-63EA7B70EBD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E95D790-8BC7-48CD-A3B4-D35CF63AA8F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59B8FBC5-D1A6-413B-A22B-2CB8A83C8B7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0A98CA8B-361E-4B69-9A92-53ADF5983D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13</a:t>
            </a:r>
          </a:p>
        </p:txBody>
      </p:sp>
    </p:spTree>
    <p:extLst>
      <p:ext uri="{BB962C8B-B14F-4D97-AF65-F5344CB8AC3E}">
        <p14:creationId xmlns:p14="http://schemas.microsoft.com/office/powerpoint/2010/main" val="211050932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D5EE25D-8CC2-47AF-92CB-14469ED810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4882EF-8AC4-4432-A8B0-DF8BE80EDD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AC73E5B1-93EA-4218-8D7A-6CD655B7CA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results</a:t>
            </a:r>
          </a:p>
        </p:txBody>
      </p:sp>
      <p:sp>
        <p:nvSpPr>
          <p:cNvPr id="4" name="">
            <a:extLst xmlns:a="http://schemas.openxmlformats.org/drawingml/2006/main">
              <a:ext uri="{FF2B5EF4-FFF2-40B4-BE49-F238E27FC236}">
                <a16:creationId xmlns:a16="http://schemas.microsoft.com/office/drawing/2014/main" id="{B52E213D-2C3E-4AB4-9E3E-67693B1146E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7F4587-A40D-44A4-95AD-CF50416D9E55}"/>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['simple']</a:t>
            </a:r>
          </a:p>
        </p:txBody>
      </p:sp>
      <p:sp>
        <p:nvSpPr>
          <p:cNvPr id="6" name="">
            <a:extLst xmlns:a="http://schemas.openxmlformats.org/drawingml/2006/main">
              <a:ext uri="{FF2B5EF4-FFF2-40B4-BE49-F238E27FC236}">
                <a16:creationId xmlns:a16="http://schemas.microsoft.com/office/drawing/2014/main" id="{BF276514-497C-40E9-9752-84CD63529C0C}"/>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2418E2B-9468-48CF-B656-A310376186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14</a:t>
            </a:r>
          </a:p>
        </p:txBody>
      </p:sp>
    </p:spTree>
    <p:extLst>
      <p:ext uri="{BB962C8B-B14F-4D97-AF65-F5344CB8AC3E}">
        <p14:creationId xmlns:p14="http://schemas.microsoft.com/office/powerpoint/2010/main" val="54043510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211828-B2AC-420F-99BC-990D9C89E2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739D8A-67BF-40FE-AD35-21B8A5E7C8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AAC22AA-D462-4455-9F09-559732B32B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tuple supplies an ordered ranking key</a:t>
            </a:r>
          </a:p>
        </p:txBody>
      </p:sp>
      <p:sp>
        <p:nvSpPr>
          <p:cNvPr id="4" name="">
            <a:extLst xmlns:a="http://schemas.openxmlformats.org/drawingml/2006/main">
              <a:ext uri="{FF2B5EF4-FFF2-40B4-BE49-F238E27FC236}">
                <a16:creationId xmlns:a16="http://schemas.microsoft.com/office/drawing/2014/main" id="{E33F4261-784C-4B37-8BAF-B56800FEC80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5CAC82A-4827-41C9-B2D0-BFE37C90E27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holds several values in order, such as (error, time, name).</a:t>
            </a:r>
          </a:p>
        </p:txBody>
      </p:sp>
      <p:sp>
        <p:nvSpPr>
          <p:cNvPr id="6" name="">
            <a:extLst xmlns:a="http://schemas.openxmlformats.org/drawingml/2006/main">
              <a:ext uri="{FF2B5EF4-FFF2-40B4-BE49-F238E27FC236}">
                <a16:creationId xmlns:a16="http://schemas.microsoft.com/office/drawing/2014/main" id="{9C8FC84D-BCB5-4971-A402-68110B0E741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C220E4-AD8B-4CB2-A2E3-FA6EEE97D64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values. A tie moves the comparison to the second.</a:t>
            </a:r>
          </a:p>
        </p:txBody>
      </p:sp>
      <p:sp>
        <p:nvSpPr>
          <p:cNvPr id="8" name="">
            <a:extLst xmlns:a="http://schemas.openxmlformats.org/drawingml/2006/main">
              <a:ext uri="{FF2B5EF4-FFF2-40B4-BE49-F238E27FC236}">
                <a16:creationId xmlns:a16="http://schemas.microsoft.com/office/drawing/2014/main" id="{413A5685-7529-466A-A9B5-6C183D7ED39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EC4C9E-B52B-45E6-8398-4F09FCB1903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those also tie, the third value decides.</a:t>
            </a:r>
          </a:p>
        </p:txBody>
      </p:sp>
      <p:sp>
        <p:nvSpPr>
          <p:cNvPr id="10" name="">
            <a:extLst xmlns:a="http://schemas.openxmlformats.org/drawingml/2006/main">
              <a:ext uri="{FF2B5EF4-FFF2-40B4-BE49-F238E27FC236}">
                <a16:creationId xmlns:a16="http://schemas.microsoft.com/office/drawing/2014/main" id="{96DC9191-6440-46E0-8329-D9A38FD35E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15</a:t>
            </a:r>
          </a:p>
        </p:txBody>
      </p:sp>
    </p:spTree>
    <p:extLst>
      <p:ext uri="{BB962C8B-B14F-4D97-AF65-F5344CB8AC3E}">
        <p14:creationId xmlns:p14="http://schemas.microsoft.com/office/powerpoint/2010/main" val="31699932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E2C3877-DD35-4AD4-BE9B-4FEFC2B02C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012316-E1B0-42C8-918C-E91FFD8DA8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F31E617-46FF-4EF9-8C3B-982F00668D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tuple ranking key</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Key: error, ms, name</a:t>
                      </a:r>
                    </a:p>
                  </a:txBody>
                  <a:tcPr marL="91440" marR="91440" marT="45720" marB="45720">
                    <a:solidFill>
                      <a:srgbClr val="2E7D6F"/>
                    </a:solidFill>
                  </a:tcPr>
                </a:tc>
                <a:tc>
                  <a:txBody>
                    <a:bodyPr/>
                    <a:lstStyle/>
                    <a:p>
                      <a:r>
                        <a:rPr sz="2025" b="1">
                          <a:solidFill>
                            <a:srgbClr val="FFFFFF"/>
                          </a:solidFill>
                          <a:latin typeface="Calibri"/>
                          <a:ea typeface="Calibri"/>
                          <a:cs typeface="Calibri"/>
                        </a:rPr>
                        <a:t>Position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beta</a:t>
                      </a:r>
                    </a:p>
                  </a:txBody>
                  <a:tcPr marL="91440" marR="91440" marT="45720" marB="45720">
                    <a:solidFill>
                      <a:srgbClr val="EEF3F6"/>
                    </a:solidFill>
                  </a:tcPr>
                </a:tc>
                <a:tc>
                  <a:txBody>
                    <a:bodyPr/>
                    <a:lstStyle/>
                    <a:p>
                      <a:r>
                        <a:rPr sz="2025" b="0">
                          <a:solidFill>
                            <a:srgbClr val="1C3144"/>
                          </a:solidFill>
                          <a:latin typeface="Calibri"/>
                          <a:ea typeface="Calibri"/>
                          <a:cs typeface="Calibri"/>
                        </a:rPr>
                        <a:t>(2, 5, "beta")</a:t>
                      </a:r>
                    </a:p>
                  </a:txBody>
                  <a:tcPr marL="91440" marR="91440" marT="45720" marB="45720">
                    <a:solidFill>
                      <a:srgbClr val="EEF3F6"/>
                    </a:solidFill>
                  </a:tcPr>
                </a:tc>
                <a:tc>
                  <a:txBody>
                    <a:bodyPr/>
                    <a:lstStyle/>
                    <a:p>
                      <a:r>
                        <a:rPr sz="2025" b="0">
                          <a:solidFill>
                            <a:srgbClr val="1C3144"/>
                          </a:solidFill>
                          <a:latin typeface="Calibri"/>
                          <a:ea typeface="Calibri"/>
                          <a:cs typeface="Calibri"/>
                        </a:rPr>
                        <a:t>1: lower error</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alpha</a:t>
                      </a:r>
                    </a:p>
                  </a:txBody>
                  <a:tcPr marL="91440" marR="91440" marT="45720" marB="45720">
                    <a:solidFill>
                      <a:srgbClr val="FFFFFF"/>
                    </a:solidFill>
                  </a:tcPr>
                </a:tc>
                <a:tc>
                  <a:txBody>
                    <a:bodyPr/>
                    <a:lstStyle/>
                    <a:p>
                      <a:r>
                        <a:rPr sz="2025" b="0">
                          <a:solidFill>
                            <a:srgbClr val="1C3144"/>
                          </a:solidFill>
                          <a:latin typeface="Calibri"/>
                          <a:ea typeface="Calibri"/>
                          <a:cs typeface="Calibri"/>
                        </a:rPr>
                        <a:t>(3, 1, "alpha")</a:t>
                      </a:r>
                    </a:p>
                  </a:txBody>
                  <a:tcPr marL="91440" marR="91440" marT="45720" marB="45720">
                    <a:solidFill>
                      <a:srgbClr val="FFFFFF"/>
                    </a:solidFill>
                  </a:tcPr>
                </a:tc>
                <a:tc>
                  <a:txBody>
                    <a:bodyPr/>
                    <a:lstStyle/>
                    <a:p>
                      <a:r>
                        <a:rPr sz="2025" b="0">
                          <a:solidFill>
                            <a:srgbClr val="1C3144"/>
                          </a:solidFill>
                          <a:latin typeface="Calibri"/>
                          <a:ea typeface="Calibri"/>
                          <a:cs typeface="Calibri"/>
                        </a:rPr>
                        <a:t>2: tie on error; faster</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gamma</a:t>
                      </a:r>
                    </a:p>
                  </a:txBody>
                  <a:tcPr marL="91440" marR="91440" marT="45720" marB="45720">
                    <a:solidFill>
                      <a:srgbClr val="EEF3F6"/>
                    </a:solidFill>
                  </a:tcPr>
                </a:tc>
                <a:tc>
                  <a:txBody>
                    <a:bodyPr/>
                    <a:lstStyle/>
                    <a:p>
                      <a:r>
                        <a:rPr sz="2025" b="0">
                          <a:solidFill>
                            <a:srgbClr val="1C3144"/>
                          </a:solidFill>
                          <a:latin typeface="Calibri"/>
                          <a:ea typeface="Calibri"/>
                          <a:cs typeface="Calibri"/>
                        </a:rPr>
                        <a:t>(3, 2, "gamma")</a:t>
                      </a:r>
                    </a:p>
                  </a:txBody>
                  <a:tcPr marL="91440" marR="91440" marT="45720" marB="45720">
                    <a:solidFill>
                      <a:srgbClr val="EEF3F6"/>
                    </a:solidFill>
                  </a:tcPr>
                </a:tc>
                <a:tc>
                  <a:txBody>
                    <a:bodyPr/>
                    <a:lstStyle/>
                    <a:p>
                      <a:r>
                        <a:rPr sz="2025" b="0">
                          <a:solidFill>
                            <a:srgbClr val="1C3144"/>
                          </a:solidFill>
                          <a:latin typeface="Calibri"/>
                          <a:ea typeface="Calibri"/>
                          <a:cs typeface="Calibri"/>
                        </a:rPr>
                        <a:t>3: same error; slower</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E825D70-9562-4B29-BBF9-B5EF48D5536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eligible candidates reach ranking. If error and time tie, compare the names alphabetically.</a:t>
            </a:r>
          </a:p>
        </p:txBody>
      </p:sp>
      <p:sp>
        <p:nvSpPr>
          <p:cNvPr id="6" name="">
            <a:extLst xmlns:a="http://schemas.openxmlformats.org/drawingml/2006/main">
              <a:ext uri="{FF2B5EF4-FFF2-40B4-BE49-F238E27FC236}">
                <a16:creationId xmlns:a16="http://schemas.microsoft.com/office/drawing/2014/main" id="{5452211A-9D8D-4F01-9CF3-57ED469004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16</a:t>
            </a:r>
          </a:p>
        </p:txBody>
      </p:sp>
    </p:spTree>
    <p:extLst>
      <p:ext uri="{BB962C8B-B14F-4D97-AF65-F5344CB8AC3E}">
        <p14:creationId xmlns:p14="http://schemas.microsoft.com/office/powerpoint/2010/main" val="73794641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906EDA7-283F-4EEB-8D6B-2E337D261B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2EF1D3-2C16-4A4F-8985-3C36E58476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604BF7-713F-4100-8C3A-2FCE94CDEE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 a function as the sorting key</a:t>
            </a:r>
          </a:p>
        </p:txBody>
      </p:sp>
      <p:sp>
        <p:nvSpPr>
          <p:cNvPr id="4" name="">
            <a:extLst xmlns:a="http://schemas.openxmlformats.org/drawingml/2006/main">
              <a:ext uri="{FF2B5EF4-FFF2-40B4-BE49-F238E27FC236}">
                <a16:creationId xmlns:a16="http://schemas.microsoft.com/office/drawing/2014/main" id="{87571A43-9471-49AC-BCB4-6EFC7F9070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F37069-464A-4CD6-B9BE-C4F1C37583F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sorted returns a new list in order. In sorted(eligible, key=rank), rank is the function itself, passed without calling it.</a:t>
            </a:r>
          </a:p>
        </p:txBody>
      </p:sp>
      <p:sp>
        <p:nvSpPr>
          <p:cNvPr id="6" name="">
            <a:extLst xmlns:a="http://schemas.openxmlformats.org/drawingml/2006/main">
              <a:ext uri="{FF2B5EF4-FFF2-40B4-BE49-F238E27FC236}">
                <a16:creationId xmlns:a16="http://schemas.microsoft.com/office/drawing/2014/main" id="{6F75333F-EF39-41FE-84B2-D70EF733227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BD7E2C-EAB4-4686-9E20-B6D62604BCA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sorted calls rank(item) for each candidate and compares the returned tuples. Writing rank() here would call it immediately without its required input.</a:t>
            </a:r>
          </a:p>
        </p:txBody>
      </p:sp>
      <p:sp>
        <p:nvSpPr>
          <p:cNvPr id="8" name="">
            <a:extLst xmlns:a="http://schemas.openxmlformats.org/drawingml/2006/main">
              <a:ext uri="{FF2B5EF4-FFF2-40B4-BE49-F238E27FC236}">
                <a16:creationId xmlns:a16="http://schemas.microsoft.com/office/drawing/2014/main" id="{3F84D71A-8105-4DB6-B63B-FB707448833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4B624ED-7DAF-4F09-9335-B14DCE30B31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original eligible list is unchanged. Check len(ordered) before using ordered[0], because an empty list has no first position.</a:t>
            </a:r>
          </a:p>
        </p:txBody>
      </p:sp>
      <p:sp>
        <p:nvSpPr>
          <p:cNvPr id="10" name="">
            <a:extLst xmlns:a="http://schemas.openxmlformats.org/drawingml/2006/main">
              <a:ext uri="{FF2B5EF4-FFF2-40B4-BE49-F238E27FC236}">
                <a16:creationId xmlns:a16="http://schemas.microsoft.com/office/drawing/2014/main" id="{5B6F35CB-0209-49C1-8E4C-2D30CB3E89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17</a:t>
            </a:r>
          </a:p>
        </p:txBody>
      </p:sp>
    </p:spTree>
    <p:extLst>
      <p:ext uri="{BB962C8B-B14F-4D97-AF65-F5344CB8AC3E}">
        <p14:creationId xmlns:p14="http://schemas.microsoft.com/office/powerpoint/2010/main" val="4836235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4CBB3A1-49D0-49D2-95FB-52A80E6426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5E864C-6431-4936-8868-E266C13504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26391F8-C3BE-49EC-A05A-3AE5CFFD98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a:t>
            </a:r>
          </a:p>
        </p:txBody>
      </p:sp>
      <p:sp>
        <p:nvSpPr>
          <p:cNvPr id="4" name="">
            <a:extLst xmlns:a="http://schemas.openxmlformats.org/drawingml/2006/main">
              <a:ext uri="{FF2B5EF4-FFF2-40B4-BE49-F238E27FC236}">
                <a16:creationId xmlns:a16="http://schemas.microsoft.com/office/drawing/2014/main" id="{52C7F44F-2767-43AC-998F-DD28CA9FF5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5B980BC-3A85-469F-843C-A9946AEEFDB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is an ordered group of values.</a:t>
            </a:r>
          </a:p>
        </p:txBody>
      </p:sp>
      <p:sp>
        <p:nvSpPr>
          <p:cNvPr id="6" name="">
            <a:extLst xmlns:a="http://schemas.openxmlformats.org/drawingml/2006/main">
              <a:ext uri="{FF2B5EF4-FFF2-40B4-BE49-F238E27FC236}">
                <a16:creationId xmlns:a16="http://schemas.microsoft.com/office/drawing/2014/main" id="{D863F8E7-E1D5-43C8-B2DC-AA01FC78BA4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22214C-5E49-45DD-BD25-3E24FFBC28A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item, then the second when tied, then the third.</a:t>
            </a:r>
          </a:p>
        </p:txBody>
      </p:sp>
      <p:sp>
        <p:nvSpPr>
          <p:cNvPr id="8" name="">
            <a:extLst xmlns:a="http://schemas.openxmlformats.org/drawingml/2006/main">
              <a:ext uri="{FF2B5EF4-FFF2-40B4-BE49-F238E27FC236}">
                <a16:creationId xmlns:a16="http://schemas.microsoft.com/office/drawing/2014/main" id="{836C8DF9-54E0-4450-B09F-72DE4894B35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F58F7D5-896D-48C6-A4E9-25337520D05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key function gives sorted the tuple for each candidate.</a:t>
            </a:r>
          </a:p>
        </p:txBody>
      </p:sp>
      <p:sp>
        <p:nvSpPr>
          <p:cNvPr id="10" name="">
            <a:extLst xmlns:a="http://schemas.openxmlformats.org/drawingml/2006/main">
              <a:ext uri="{FF2B5EF4-FFF2-40B4-BE49-F238E27FC236}">
                <a16:creationId xmlns:a16="http://schemas.microsoft.com/office/drawing/2014/main" id="{5CB53AA4-793D-43BF-A973-28A028987D9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F40FD1B-F297-4F6B-9922-EB0E455DAAE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Guard an empty list before selecting position zero.</a:t>
            </a:r>
          </a:p>
        </p:txBody>
      </p:sp>
      <p:sp>
        <p:nvSpPr>
          <p:cNvPr id="12" name="">
            <a:extLst xmlns:a="http://schemas.openxmlformats.org/drawingml/2006/main">
              <a:ext uri="{FF2B5EF4-FFF2-40B4-BE49-F238E27FC236}">
                <a16:creationId xmlns:a16="http://schemas.microsoft.com/office/drawing/2014/main" id="{ED84B3A4-8BC0-4EBF-BC65-75A9C650CC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18</a:t>
            </a:r>
          </a:p>
        </p:txBody>
      </p:sp>
    </p:spTree>
    <p:extLst>
      <p:ext uri="{BB962C8B-B14F-4D97-AF65-F5344CB8AC3E}">
        <p14:creationId xmlns:p14="http://schemas.microsoft.com/office/powerpoint/2010/main" val="46279587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4037AD5-EDBC-4EF6-B26C-CFDDB39493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DE4BBF-187B-4CF6-B2F7-A52B4874B5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C823225-AC39-469D-84B8-D05E2B3418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named function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key=rank</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rank to build each comparison key</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sorted(eligible, key=rank)</a:t>
                      </a:r>
                    </a:p>
                  </a:txBody>
                  <a:tcPr marL="91440" marR="91440" marT="45720" marB="45720">
                    <a:solidFill>
                      <a:srgbClr val="FFFFFF"/>
                    </a:solidFill>
                  </a:tcPr>
                </a:tc>
                <a:tc>
                  <a:txBody>
                    <a:bodyPr/>
                    <a:lstStyle/>
                    <a:p>
                      <a:r>
                        <a:rPr sz="2025" b="0">
                          <a:solidFill>
                            <a:srgbClr val="1C3144"/>
                          </a:solidFill>
                          <a:latin typeface="Calibri"/>
                          <a:ea typeface="Calibri"/>
                          <a:cs typeface="Calibri"/>
                        </a:rPr>
                        <a:t>Return a newly ordered list</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ordered[0]</a:t>
                      </a:r>
                    </a:p>
                  </a:txBody>
                  <a:tcPr marL="91440" marR="91440" marT="45720" marB="45720">
                    <a:solidFill>
                      <a:srgbClr val="EEF3F6"/>
                    </a:solidFill>
                  </a:tcPr>
                </a:tc>
                <a:tc>
                  <a:txBody>
                    <a:bodyPr/>
                    <a:lstStyle/>
                    <a:p>
                      <a:r>
                        <a:rPr sz="2025" b="0">
                          <a:solidFill>
                            <a:srgbClr val="1C3144"/>
                          </a:solidFill>
                          <a:latin typeface="Calibri"/>
                          <a:ea typeface="Calibri"/>
                          <a:cs typeface="Calibri"/>
                        </a:rPr>
                        <a:t>Select its first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len(ordered) == 0</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no eligible candidate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28C0FAD-7FC5-4486-B164-BF4ADCCAAEB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Check for an empty list before accessing position zero.</a:t>
            </a:r>
          </a:p>
        </p:txBody>
      </p:sp>
      <p:sp>
        <p:nvSpPr>
          <p:cNvPr id="6" name="">
            <a:extLst xmlns:a="http://schemas.openxmlformats.org/drawingml/2006/main">
              <a:ext uri="{FF2B5EF4-FFF2-40B4-BE49-F238E27FC236}">
                <a16:creationId xmlns:a16="http://schemas.microsoft.com/office/drawing/2014/main" id="{B658DCD6-8D25-47D2-8274-9D3419C099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19</a:t>
            </a:r>
          </a:p>
        </p:txBody>
      </p:sp>
    </p:spTree>
    <p:extLst>
      <p:ext uri="{BB962C8B-B14F-4D97-AF65-F5344CB8AC3E}">
        <p14:creationId xmlns:p14="http://schemas.microsoft.com/office/powerpoint/2010/main" val="89760879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52A465-8847-418E-AE56-D6076683DC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317FC3-50B5-4CBB-B7FE-D58C04FD47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55B7D5D-4D91-46F8-B1B2-8C08B98C77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 in Python</a:t>
            </a:r>
          </a:p>
        </p:txBody>
      </p:sp>
      <p:sp>
        <p:nvSpPr>
          <p:cNvPr id="4" name="">
            <a:extLst xmlns:a="http://schemas.openxmlformats.org/drawingml/2006/main">
              <a:ext uri="{FF2B5EF4-FFF2-40B4-BE49-F238E27FC236}">
                <a16:creationId xmlns:a16="http://schemas.microsoft.com/office/drawing/2014/main" id="{F9AE3694-D446-4FB0-AB3B-9D641EFDC5F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9EFDCA-DB66-4531-A4BD-52591D6F696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rank(item):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(item["error"], item["ms"], item["name"])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ordered = sorted(eligible, key=rank)</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len(ordered)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ordered[0]["name"]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print(winner)</a:t>
            </a:r>
          </a:p>
        </p:txBody>
      </p:sp>
      <p:sp>
        <p:nvSpPr>
          <p:cNvPr id="6" name="">
            <a:extLst xmlns:a="http://schemas.openxmlformats.org/drawingml/2006/main">
              <a:ext uri="{FF2B5EF4-FFF2-40B4-BE49-F238E27FC236}">
                <a16:creationId xmlns:a16="http://schemas.microsoft.com/office/drawing/2014/main" id="{0EE76EDF-3D2A-44C8-B5DC-9809176B4CA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62BB7383-FCC7-47FA-B6C3-96DD768057B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0D37FEA2-24B1-4039-8181-AF825FAF2B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20</a:t>
            </a:r>
          </a:p>
        </p:txBody>
      </p:sp>
    </p:spTree>
    <p:extLst>
      <p:ext uri="{BB962C8B-B14F-4D97-AF65-F5344CB8AC3E}">
        <p14:creationId xmlns:p14="http://schemas.microsoft.com/office/powerpoint/2010/main" val="89390776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8D58015-AD9E-4D04-A62D-D7C7693566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CC1B83-6913-4AF3-B1D2-86C6D207E6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305A21F-17B5-46F3-9BFC-A3DEB8BF71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Local explanation and Conditions of use</a:t>
            </a:r>
          </a:p>
        </p:txBody>
      </p:sp>
      <p:sp>
        <p:nvSpPr>
          <p:cNvPr id="4" name="">
            <a:extLst xmlns:a="http://schemas.openxmlformats.org/drawingml/2006/main">
              <a:ext uri="{FF2B5EF4-FFF2-40B4-BE49-F238E27FC236}">
                <a16:creationId xmlns:a16="http://schemas.microsoft.com/office/drawing/2014/main" id="{02BB6CCA-49B3-41A0-ABCF-AB871A52052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34AEE9-0850-4957-8D88-45FA9C2A3A5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Local explanation</a:t>
            </a:r>
          </a:p>
        </p:txBody>
      </p:sp>
      <p:sp>
        <p:nvSpPr>
          <p:cNvPr id="6" name="">
            <a:extLst xmlns:a="http://schemas.openxmlformats.org/drawingml/2006/main">
              <a:ext uri="{FF2B5EF4-FFF2-40B4-BE49-F238E27FC236}">
                <a16:creationId xmlns:a16="http://schemas.microsoft.com/office/drawing/2014/main" id="{A5314803-60BD-478E-8C8A-DFA04904EF4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Why a model made one particular prediction. This is different from global importance, which summarises behaviour over many cases.</a:t>
            </a:r>
          </a:p>
        </p:txBody>
      </p:sp>
      <p:sp>
        <p:nvSpPr>
          <p:cNvPr id="7" name="">
            <a:extLst xmlns:a="http://schemas.openxmlformats.org/drawingml/2006/main">
              <a:ext uri="{FF2B5EF4-FFF2-40B4-BE49-F238E27FC236}">
                <a16:creationId xmlns:a16="http://schemas.microsoft.com/office/drawing/2014/main" id="{49471960-6CBB-4989-8F3E-2B9B27643A22}"/>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3368259-E1C0-47CA-BBE1-B30498CF689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Conditions of use</a:t>
            </a:r>
          </a:p>
        </p:txBody>
      </p:sp>
      <p:sp>
        <p:nvSpPr>
          <p:cNvPr id="9" name="">
            <a:extLst xmlns:a="http://schemas.openxmlformats.org/drawingml/2006/main">
              <a:ext uri="{FF2B5EF4-FFF2-40B4-BE49-F238E27FC236}">
                <a16:creationId xmlns:a16="http://schemas.microsoft.com/office/drawing/2014/main" id="{7315F8EC-705E-4F70-8F35-129C01AE122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cases and operating circumstances for which the available evidence supports considering the model.</a:t>
            </a:r>
          </a:p>
        </p:txBody>
      </p:sp>
      <p:sp>
        <p:nvSpPr>
          <p:cNvPr id="10" name="">
            <a:extLst xmlns:a="http://schemas.openxmlformats.org/drawingml/2006/main">
              <a:ext uri="{FF2B5EF4-FFF2-40B4-BE49-F238E27FC236}">
                <a16:creationId xmlns:a16="http://schemas.microsoft.com/office/drawing/2014/main" id="{175A87C9-BAD3-4CA5-ACDA-0C5A03632B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21</a:t>
            </a:r>
          </a:p>
        </p:txBody>
      </p:sp>
    </p:spTree>
    <p:extLst>
      <p:ext uri="{BB962C8B-B14F-4D97-AF65-F5344CB8AC3E}">
        <p14:creationId xmlns:p14="http://schemas.microsoft.com/office/powerpoint/2010/main" val="194648343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06EA2D-8B4F-4D47-A686-5D446099F1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A176E4-FD8F-42A1-B8DE-E90A802749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47DFE75-B2DF-4918-819F-44DFFAE4D2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recommendation needs evidence</a:t>
            </a:r>
          </a:p>
        </p:txBody>
      </p:sp>
      <p:sp>
        <p:nvSpPr>
          <p:cNvPr id="4" name="">
            <a:extLst xmlns:a="http://schemas.openxmlformats.org/drawingml/2006/main">
              <a:ext uri="{FF2B5EF4-FFF2-40B4-BE49-F238E27FC236}">
                <a16:creationId xmlns:a16="http://schemas.microsoft.com/office/drawing/2014/main" id="{E8C58EEA-0ECB-4B20-99EE-8845EF96AB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6FD6BA-C5A0-41D0-A4DE-57EA423FD10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question and the chosen candidate.</a:t>
            </a:r>
          </a:p>
        </p:txBody>
      </p:sp>
      <p:sp>
        <p:nvSpPr>
          <p:cNvPr id="6" name="">
            <a:extLst xmlns:a="http://schemas.openxmlformats.org/drawingml/2006/main">
              <a:ext uri="{FF2B5EF4-FFF2-40B4-BE49-F238E27FC236}">
                <a16:creationId xmlns:a16="http://schemas.microsoft.com/office/drawing/2014/main" id="{9A128EB8-BA20-434A-B607-BDD05067BD6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653F4C-9191-45AA-B792-79398727678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evaluation result and the constraint it satisfies.</a:t>
            </a:r>
          </a:p>
        </p:txBody>
      </p:sp>
      <p:sp>
        <p:nvSpPr>
          <p:cNvPr id="8" name="">
            <a:extLst xmlns:a="http://schemas.openxmlformats.org/drawingml/2006/main">
              <a:ext uri="{FF2B5EF4-FFF2-40B4-BE49-F238E27FC236}">
                <a16:creationId xmlns:a16="http://schemas.microsoft.com/office/drawing/2014/main" id="{C3B9A787-810E-42F4-940D-693B71A8E8C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7927A5-8886-41F0-B711-ABFFC23EB7F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the evidence that could change the recommendation.</a:t>
            </a:r>
          </a:p>
        </p:txBody>
      </p:sp>
      <p:sp>
        <p:nvSpPr>
          <p:cNvPr id="10" name="">
            <a:extLst xmlns:a="http://schemas.openxmlformats.org/drawingml/2006/main">
              <a:ext uri="{FF2B5EF4-FFF2-40B4-BE49-F238E27FC236}">
                <a16:creationId xmlns:a16="http://schemas.microsoft.com/office/drawing/2014/main" id="{C1D5AD28-E11F-4C66-9E09-9029A43B18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22</a:t>
            </a:r>
          </a:p>
        </p:txBody>
      </p:sp>
    </p:spTree>
    <p:extLst>
      <p:ext uri="{BB962C8B-B14F-4D97-AF65-F5344CB8AC3E}">
        <p14:creationId xmlns:p14="http://schemas.microsoft.com/office/powerpoint/2010/main" val="151209349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37D0BBF-A5BF-4131-9B8A-B39ECC623D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2421A6-5943-487D-92DB-4D38F8AB4F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7F43917-58CE-4F2D-AB1A-8AA014A083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C33DE78D-C83D-4B7F-A83F-28DB913FABE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A8CCEF-D393-487B-9926-483152CEE75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9263C3B-CD77-4203-9018-4CA5500F851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third model has error 3 and latency 1 ms. Under lowest error then lowest latency, which eligible model wins?</a:t>
            </a:r>
          </a:p>
        </p:txBody>
      </p:sp>
      <p:sp>
        <p:nvSpPr>
          <p:cNvPr id="7" name="">
            <a:extLst xmlns:a="http://schemas.openxmlformats.org/drawingml/2006/main">
              <a:ext uri="{FF2B5EF4-FFF2-40B4-BE49-F238E27FC236}">
                <a16:creationId xmlns:a16="http://schemas.microsoft.com/office/drawing/2014/main" id="{CB2F315A-A5E2-4CF6-A3B8-6893FF5CE12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The third model. Both eligible models have error 3, but 1 ms is faster than 2 ms.</a:t>
            </a:r>
          </a:p>
        </p:txBody>
      </p:sp>
      <p:sp>
        <p:nvSpPr>
          <p:cNvPr id="8" name="">
            <a:extLst xmlns:a="http://schemas.openxmlformats.org/drawingml/2006/main">
              <a:ext uri="{FF2B5EF4-FFF2-40B4-BE49-F238E27FC236}">
                <a16:creationId xmlns:a16="http://schemas.microsoft.com/office/drawing/2014/main" id="{53E15E50-BBA8-42F1-A9EE-7609F74C97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23</a:t>
            </a:r>
          </a:p>
        </p:txBody>
      </p:sp>
    </p:spTree>
    <p:extLst>
      <p:ext uri="{BB962C8B-B14F-4D97-AF65-F5344CB8AC3E}">
        <p14:creationId xmlns:p14="http://schemas.microsoft.com/office/powerpoint/2010/main" val="31449125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0C5A86F-8755-445A-8C43-DEC089A466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4D53C0-46E3-4D5D-A8AA-46E784BD5A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266D71B-0800-49BC-B1B1-3AC6BCBA77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D0793D40-22FF-4AA0-8097-1E0672B3B5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BC48A46-FB05-4B84-809A-6500896E062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W12 uses fields name, validation_mae and latency_ms.</a:t>
            </a:r>
          </a:p>
        </p:txBody>
      </p:sp>
      <p:sp>
        <p:nvSpPr>
          <p:cNvPr id="6" name="">
            <a:extLst xmlns:a="http://schemas.openxmlformats.org/drawingml/2006/main">
              <a:ext uri="{FF2B5EF4-FFF2-40B4-BE49-F238E27FC236}">
                <a16:creationId xmlns:a16="http://schemas.microsoft.com/office/drawing/2014/main" id="{1E0E6CD7-7E49-4041-AE48-1BA7B7F261D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8C6E12-2958-4329-BB90-EED0EB8D3D2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Meet both inclusive constraints, then rank by error, latency and alphabetical name.</a:t>
            </a:r>
          </a:p>
        </p:txBody>
      </p:sp>
      <p:sp>
        <p:nvSpPr>
          <p:cNvPr id="8" name="">
            <a:extLst xmlns:a="http://schemas.openxmlformats.org/drawingml/2006/main">
              <a:ext uri="{FF2B5EF4-FFF2-40B4-BE49-F238E27FC236}">
                <a16:creationId xmlns:a16="http://schemas.microsoft.com/office/drawing/2014/main" id="{C67E366B-2DEF-4897-A6DE-1908FF939A8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FBD7AE2-C610-4CDA-9149-2EB1A073D27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if no candidate qualifies.</a:t>
            </a:r>
          </a:p>
        </p:txBody>
      </p:sp>
      <p:sp>
        <p:nvSpPr>
          <p:cNvPr id="10" name="">
            <a:extLst xmlns:a="http://schemas.openxmlformats.org/drawingml/2006/main">
              <a:ext uri="{FF2B5EF4-FFF2-40B4-BE49-F238E27FC236}">
                <a16:creationId xmlns:a16="http://schemas.microsoft.com/office/drawing/2014/main" id="{9896CF7D-3AD8-491D-B503-542125C33C1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39F2792-0FFE-49D6-893D-C3093504B2E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the error function and interpret the separately supplied scenario.</a:t>
            </a:r>
          </a:p>
        </p:txBody>
      </p:sp>
      <p:sp>
        <p:nvSpPr>
          <p:cNvPr id="12" name="">
            <a:extLst xmlns:a="http://schemas.openxmlformats.org/drawingml/2006/main">
              <a:ext uri="{FF2B5EF4-FFF2-40B4-BE49-F238E27FC236}">
                <a16:creationId xmlns:a16="http://schemas.microsoft.com/office/drawing/2014/main" id="{9FC5F261-B46A-4196-A3C2-5F5DDDDB04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24</a:t>
            </a:r>
          </a:p>
        </p:txBody>
      </p:sp>
    </p:spTree>
    <p:extLst>
      <p:ext uri="{BB962C8B-B14F-4D97-AF65-F5344CB8AC3E}">
        <p14:creationId xmlns:p14="http://schemas.microsoft.com/office/powerpoint/2010/main" val="67847340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A807C80-9837-4621-BE43-C7222B6BCD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2A5A7E-0B0E-495C-A0E2-7658F7742D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5CA9F4C-285D-44DA-852E-170EC91F67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9002C07C-E16E-498C-8787-E9144D69A44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97C372-243B-4EB2-8B2C-0FDADD1D6EBA}"/>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project comparisons and graded interfaces distinct.</a:t>
            </a:r>
          </a:p>
        </p:txBody>
      </p:sp>
      <p:sp>
        <p:nvSpPr>
          <p:cNvPr id="6" name="">
            <a:extLst xmlns:a="http://schemas.openxmlformats.org/drawingml/2006/main">
              <a:ext uri="{FF2B5EF4-FFF2-40B4-BE49-F238E27FC236}">
                <a16:creationId xmlns:a16="http://schemas.microsoft.com/office/drawing/2014/main" id="{2EFAA3C6-B782-47D0-9522-817A72A14D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25</a:t>
            </a:r>
          </a:p>
        </p:txBody>
      </p:sp>
    </p:spTree>
    <p:extLst>
      <p:ext uri="{BB962C8B-B14F-4D97-AF65-F5344CB8AC3E}">
        <p14:creationId xmlns:p14="http://schemas.microsoft.com/office/powerpoint/2010/main" val="90970242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CBFCB49-B59F-4216-A79B-DFF1558CBC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691FDD-3B0C-46C4-B339-6CF2818B11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B3FF0C-067F-4368-B7DD-AB2FF83B9A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a:t>
            </a:r>
          </a:p>
        </p:txBody>
      </p:sp>
      <p:sp>
        <p:nvSpPr>
          <p:cNvPr id="4" name="">
            <a:extLst xmlns:a="http://schemas.openxmlformats.org/drawingml/2006/main">
              <a:ext uri="{FF2B5EF4-FFF2-40B4-BE49-F238E27FC236}">
                <a16:creationId xmlns:a16="http://schemas.microsoft.com/office/drawing/2014/main" id="{9C8F43EF-5A89-4383-89AA-5F71B5BC67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08EC7B-8A0B-48BD-803C-89F3341007B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metric on the same validation cases with the same preprocessing rules.</a:t>
            </a:r>
          </a:p>
        </p:txBody>
      </p:sp>
      <p:sp>
        <p:nvSpPr>
          <p:cNvPr id="6" name="">
            <a:extLst xmlns:a="http://schemas.openxmlformats.org/drawingml/2006/main">
              <a:ext uri="{FF2B5EF4-FFF2-40B4-BE49-F238E27FC236}">
                <a16:creationId xmlns:a16="http://schemas.microsoft.com/office/drawing/2014/main" id="{A1CDBE54-D441-4FB3-A16B-D9D38F2CE88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9D7035D-0B42-46D6-BD84-E223815F33C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 difference needs context, including variation across splits.</a:t>
            </a:r>
          </a:p>
        </p:txBody>
      </p:sp>
      <p:sp>
        <p:nvSpPr>
          <p:cNvPr id="8" name="">
            <a:extLst xmlns:a="http://schemas.openxmlformats.org/drawingml/2006/main">
              <a:ext uri="{FF2B5EF4-FFF2-40B4-BE49-F238E27FC236}">
                <a16:creationId xmlns:a16="http://schemas.microsoft.com/office/drawing/2014/main" id="{A187F5C8-A151-4E97-9D9C-A325F347A68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18768F9-B49F-4A6E-924D-DCBC123A540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run out of order can overwrite the variable holding a model; restart and run from the top.</a:t>
            </a:r>
          </a:p>
        </p:txBody>
      </p:sp>
      <p:sp>
        <p:nvSpPr>
          <p:cNvPr id="10" name="">
            <a:extLst xmlns:a="http://schemas.openxmlformats.org/drawingml/2006/main">
              <a:ext uri="{FF2B5EF4-FFF2-40B4-BE49-F238E27FC236}">
                <a16:creationId xmlns:a16="http://schemas.microsoft.com/office/drawing/2014/main" id="{14CDEAAF-5AAB-490B-9FF4-E6464F1C8C8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C99DCEE-A09A-46FB-8883-5B365149180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local explanation addresses one prediction; global importance summarises many.</a:t>
            </a:r>
          </a:p>
        </p:txBody>
      </p:sp>
      <p:sp>
        <p:nvSpPr>
          <p:cNvPr id="12" name="">
            <a:extLst xmlns:a="http://schemas.openxmlformats.org/drawingml/2006/main">
              <a:ext uri="{FF2B5EF4-FFF2-40B4-BE49-F238E27FC236}">
                <a16:creationId xmlns:a16="http://schemas.microsoft.com/office/drawing/2014/main" id="{51F881CD-2DF8-4BA5-853F-65BF61D247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26</a:t>
            </a:r>
          </a:p>
        </p:txBody>
      </p:sp>
    </p:spTree>
    <p:extLst>
      <p:ext uri="{BB962C8B-B14F-4D97-AF65-F5344CB8AC3E}">
        <p14:creationId xmlns:p14="http://schemas.microsoft.com/office/powerpoint/2010/main" val="2190879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5BE8FA-CF29-4831-822B-6D176C7005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0AD06C-8B11-4C8A-87BF-C8F0E1A56E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9E46933-95F2-4699-A0BC-ADDAD7943E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 continued</a:t>
            </a:r>
          </a:p>
        </p:txBody>
      </p:sp>
      <p:sp>
        <p:nvSpPr>
          <p:cNvPr id="4" name="">
            <a:extLst xmlns:a="http://schemas.openxmlformats.org/drawingml/2006/main">
              <a:ext uri="{FF2B5EF4-FFF2-40B4-BE49-F238E27FC236}">
                <a16:creationId xmlns:a16="http://schemas.microsoft.com/office/drawing/2014/main" id="{CD41CD8E-D38F-4418-ADF0-157C348C38C6}"/>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69C926-291E-4BC7-91FE-C8A6BC4DE37B}"/>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post-hoc explanation of a complex model is not its directly readable internal rule.</a:t>
            </a:r>
          </a:p>
        </p:txBody>
      </p:sp>
      <p:sp>
        <p:nvSpPr>
          <p:cNvPr id="6" name="">
            <a:extLst xmlns:a="http://schemas.openxmlformats.org/drawingml/2006/main">
              <a:ext uri="{FF2B5EF4-FFF2-40B4-BE49-F238E27FC236}">
                <a16:creationId xmlns:a16="http://schemas.microsoft.com/office/drawing/2014/main" id="{B2BD64C5-389F-4D2D-9D1A-2F3C8395EF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27</a:t>
            </a:r>
          </a:p>
        </p:txBody>
      </p:sp>
    </p:spTree>
    <p:extLst>
      <p:ext uri="{BB962C8B-B14F-4D97-AF65-F5344CB8AC3E}">
        <p14:creationId xmlns:p14="http://schemas.microsoft.com/office/powerpoint/2010/main" val="92851071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EA33810-3442-4DCA-95F6-D80C85A9DD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5DF3FC-0B77-4812-AAA7-DF60294DC1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21470F0-DCF3-4AB5-A3D7-629418B058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C462ACAF-761F-457C-A2AD-358D53ED1D3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630B8A6-6A0A-4402-BCEE-AC29EA549C7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30189779-6DFD-4DD9-B829-F1BDE2DDB47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412337-A688-433A-BB2D-12B4043A429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3965AB6C-F63F-408F-9DAC-3EFA90730E8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DCC3ED-56F0-446E-B690-C7FFEE19FFF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4A2034E9-23BD-4CA3-B5E1-0F2DBCBC444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74F4D71-C321-4E14-8E11-57E47986A2A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FC29FE49-9B84-4032-BC07-81F3BC0DA9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28</a:t>
            </a:r>
          </a:p>
        </p:txBody>
      </p:sp>
    </p:spTree>
    <p:extLst>
      <p:ext uri="{BB962C8B-B14F-4D97-AF65-F5344CB8AC3E}">
        <p14:creationId xmlns:p14="http://schemas.microsoft.com/office/powerpoint/2010/main" val="149500668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8051834-B9BF-4B1A-92D0-F5BB398A13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B18440-7ED7-4A88-A9B4-64783FBCD8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C6C3E6A-6D1E-4CE2-B6BE-3A351C5B9F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796813D9-3718-43B6-9DF8-9BF91D5CFAA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11F468-185D-4D66-AE95-ED095183F94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25B7A749-15D4-4592-9098-81CB43787AD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F3921C4-3775-4F56-A0A7-9ACCE3BC8C2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C749C01-BC7C-47A2-9832-091FDED9A4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29</a:t>
            </a:r>
          </a:p>
        </p:txBody>
      </p:sp>
    </p:spTree>
    <p:extLst>
      <p:ext uri="{BB962C8B-B14F-4D97-AF65-F5344CB8AC3E}">
        <p14:creationId xmlns:p14="http://schemas.microsoft.com/office/powerpoint/2010/main" val="97040529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A46DDE7-3173-48D4-9C8F-77C6006EB2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D12C84-A9AE-41E7-926F-E1DFD0E33D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EDBE925-1BDE-4560-ABFA-2BB4F44B57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3D2A0EB9-0B28-4B01-999E-DA2E7EE2D89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E0B6BC-EA52-47A8-B655-C24F5C8F027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E588600B-3796-4894-AA1F-06104F5E286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671E412-4F94-4902-94D7-218C21941F4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3589573-04B6-43EB-97E3-0FA00C959D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30</a:t>
            </a:r>
          </a:p>
        </p:txBody>
      </p:sp>
    </p:spTree>
    <p:extLst>
      <p:ext uri="{BB962C8B-B14F-4D97-AF65-F5344CB8AC3E}">
        <p14:creationId xmlns:p14="http://schemas.microsoft.com/office/powerpoint/2010/main" val="110707001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41E5D98-C296-4E06-A9F4-46872F5EFB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FC5A5D-9CAF-4644-9F44-3BB71A7621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3B6E95E-18C6-4748-B68B-D583440164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4BB22E07-BC9B-4CA7-B6EF-8257C0F36E0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655766E-3BA3-4CE2-8F8E-A4E734694B6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17D49E84-4849-4DDB-9DF3-0F526E3382B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C765C5-1788-4743-A041-46B46284E75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1D7BB7EE-52C6-49BA-8BC7-5C55B44C28C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261D480-9B76-45C3-8FB6-AE1659CA02C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2B6D8490-4F07-449C-A106-E95A0CE7F4F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DA427B8-A9D8-4A99-9FBD-38865F81D15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738320CD-0C5A-402B-B2FD-C54675AE7D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31</a:t>
            </a:r>
          </a:p>
        </p:txBody>
      </p:sp>
    </p:spTree>
    <p:extLst>
      <p:ext uri="{BB962C8B-B14F-4D97-AF65-F5344CB8AC3E}">
        <p14:creationId xmlns:p14="http://schemas.microsoft.com/office/powerpoint/2010/main" val="147876819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327B736-72E3-41C5-9535-CCBB7EA5FA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793E16-0BDA-4FC3-9BD5-2D55422334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25236559-662D-4188-BCD8-0C35E18BFC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recommendation submission</a:t>
            </a:r>
          </a:p>
        </p:txBody>
      </p:sp>
      <p:sp>
        <p:nvSpPr>
          <p:cNvPr id="4" name="">
            <a:extLst xmlns:a="http://schemas.openxmlformats.org/drawingml/2006/main">
              <a:ext uri="{FF2B5EF4-FFF2-40B4-BE49-F238E27FC236}">
                <a16:creationId xmlns:a16="http://schemas.microsoft.com/office/drawing/2014/main" id="{406BE43F-2B9B-42F8-949C-E20C5CD9610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1CC200-BBB8-41E9-AE99-FB7C4099EA2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F06A2F45-017A-4F3D-82F1-D1F641116D5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FF73E8-E842-4DBD-9456-5A7358A9847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24 Nov 2026, 14:00 Kampala</a:t>
            </a:r>
          </a:p>
        </p:txBody>
      </p:sp>
      <p:sp>
        <p:nvSpPr>
          <p:cNvPr id="8" name="">
            <a:extLst xmlns:a="http://schemas.openxmlformats.org/drawingml/2006/main">
              <a:ext uri="{FF2B5EF4-FFF2-40B4-BE49-F238E27FC236}">
                <a16:creationId xmlns:a16="http://schemas.microsoft.com/office/drawing/2014/main" id="{4C2C7F35-7AC4-4AFD-909B-CB034DA82CB8}"/>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2D7CCD-9CA5-4D6E-8F95-226F4967B52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244C622-BB26-4CA2-BAEE-6B97BE16398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08DC001-64BA-41F1-88DD-9241CAC1767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63104E61-2E23-4022-BDE2-BE94EBCC9CA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88DF2EA-03DE-487C-AA1C-878D28B87FD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42a74b7dbea4d72"/>
              </a:rPr>
              <a:t>Open W12 assignment form</a:t>
            </a:r>
          </a:p>
        </p:txBody>
      </p:sp>
      <p:sp>
        <p:nvSpPr>
          <p:cNvPr id="14" name="">
            <a:extLst xmlns:a="http://schemas.openxmlformats.org/drawingml/2006/main">
              <a:ext uri="{FF2B5EF4-FFF2-40B4-BE49-F238E27FC236}">
                <a16:creationId xmlns:a16="http://schemas.microsoft.com/office/drawing/2014/main" id="{7BFBC3D6-BF9E-428D-A49F-CC7B2CA5C45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https://docs.google.com/forms/d/e/1FAIpQLSd4Ltaw1RqRzbW7PoC4_Kh3PZHkElCKA9OY8F_xrJfLnpcbfA/viewform</a:t>
            </a:r>
          </a:p>
        </p:txBody>
      </p:sp>
      <p:sp>
        <p:nvSpPr>
          <p:cNvPr id="15" name="">
            <a:extLst xmlns:a="http://schemas.openxmlformats.org/drawingml/2006/main">
              <a:ext uri="{FF2B5EF4-FFF2-40B4-BE49-F238E27FC236}">
                <a16:creationId xmlns:a16="http://schemas.microsoft.com/office/drawing/2014/main" id="{DB20BB6A-11C3-4832-816E-EC427CE5A7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32</a:t>
            </a:r>
          </a:p>
        </p:txBody>
      </p:sp>
    </p:spTree>
    <p:extLst>
      <p:ext uri="{BB962C8B-B14F-4D97-AF65-F5344CB8AC3E}">
        <p14:creationId xmlns:p14="http://schemas.microsoft.com/office/powerpoint/2010/main" val="210813178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D0C8AA3-867F-4B58-9B20-75BA8B8CAC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4E7264-AC4C-4644-83A7-B4513B90CD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1D10ABD-62A5-4FE0-A855-A0977E53C7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6DC3834-CB9B-416B-A35F-0CFEE0D144F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44A8D49-2A4C-46EF-82B4-8E6B1CA85B8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3589BEC2-8903-46AF-82DE-66C4250E8CC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465A6E-37DA-4E9B-90DB-11D9BB105C8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262B8FCA-EB8C-4D99-BD48-C5077A1C3A4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87D426-5A0B-457A-9329-B31BC885E73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7283DAF8-9B21-472B-94B9-F84995C1A59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38FB4ED-8EAA-4BF9-BAD6-8E27FD34972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6CBFE817-D36D-489D-9174-ACD2420F6A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33</a:t>
            </a:r>
          </a:p>
        </p:txBody>
      </p:sp>
    </p:spTree>
    <p:extLst>
      <p:ext uri="{BB962C8B-B14F-4D97-AF65-F5344CB8AC3E}">
        <p14:creationId xmlns:p14="http://schemas.microsoft.com/office/powerpoint/2010/main" val="368739680"/>
      </p:ext>
    </p:extLst>
  </p:cSld>
</p:sld>
</file>

<file path=ppt/slides/slide3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8121B8BC-DAB6-48E6-A948-6A3E8B786941}"/>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F75B9F5A-D44D-47FA-B245-74B9D7D5D261}"/>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FBE094CE-96E9-43AD-8194-3F37E2BAA50D}"/>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12 quiz</a:t>
            </a:r>
          </a:p>
        </p:txBody>
      </p:sp>
      <p:sp>
        <p:nvSpPr>
          <p:cNvPr id="4" name="">
            <a:extLst>
              <a:ext uri="{FF2B5EF4-FFF2-40B4-BE49-F238E27FC236}">
                <ns2:creationId id="{57D9385E-0518-44F2-92DA-3B01AC235E48}"/>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5B3E2666-8134-489A-BC70-069473F23F8A}"/>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FFDC0DB7-164E-42BB-96FC-8F93E94AE856}"/>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B79F643D-77D7-4778-9789-5928DEAC77D4}"/>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6652B728-1FEF-4F3F-9314-03A53CE647EC}"/>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2B0B5B46-E244-4710-ACDB-7FF60668227B}"/>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CFF067E1-F8DC-49B3-B110-32F55FC137A4}"/>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84AD5BD4-CBDE-4740-8FC9-C414F692343C}"/>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038fe1c925ad4155"/>
          <a:stretch/>
        </p:blipFill>
        <p:spPr>
          <a:xfrm>
            <a:off x="9134475" y="2095500"/>
            <a:ext cx="2190750" cy="2190750"/>
          </a:xfrm>
          <a:prstGeom prst="rect">
            <a:avLst/>
          </a:prstGeom>
        </p:spPr>
      </p:pic>
      <p:sp>
        <p:nvSpPr>
          <p:cNvPr id="13" name="">
            <a:extLst>
              <a:ext uri="{FF2B5EF4-FFF2-40B4-BE49-F238E27FC236}">
                <ns2:creationId id="{0DD9E000-1356-4390-BCA4-89823E104876}"/>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B45F3721-58D0-4EC4-810C-0E67B102060E}"/>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7A3A4147-00CB-4DD1-AD46-BF6EB05A60EC}"/>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e133b1917d694f00"/>
              </a:rPr>
              <a:t>Open this week’s quiz</a:t>
            </a:r>
          </a:p>
        </p:txBody>
      </p:sp>
      <p:sp>
        <p:nvSpPr>
          <p:cNvPr id="16" name="">
            <a:extLst>
              <a:ext uri="{FF2B5EF4-FFF2-40B4-BE49-F238E27FC236}">
                <ns2:creationId id="{F18B7757-D05B-4D10-8634-E2D3E2870385}"/>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https://forms.gle/MKfjP3UWDXAei6FK6</a:t>
            </a:r>
          </a:p>
        </p:txBody>
      </p:sp>
      <p:sp>
        <p:nvSpPr>
          <p:cNvPr id="17" name="">
            <a:extLst>
              <a:ext uri="{FF2B5EF4-FFF2-40B4-BE49-F238E27FC236}">
                <ns2:creationId id="{8D693327-8497-49A5-A3E3-AD9E67F2B9D8}"/>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34</a:t>
            </a:r>
          </a:p>
        </p:txBody>
      </p:sp>
    </p:spTree>
    <p:extLst>
      <p:ext uri="{BB962C8B-B14F-4D97-AF65-F5344CB8AC3E}">
        <ns4:creationId val="21200850"/>
      </p:ext>
    </p:extLst>
  </p:cSld>
</p:sld>
</file>

<file path=ppt/slides/slide3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BDC0255C-AD58-4E0F-8FF1-C983553AE135}"/>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FB0E4FE1-E84B-4D72-ACC3-40C121A0A378}"/>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4946F35D-BFD4-4E41-A6E0-2572BC150129}"/>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022A57FB-23F6-4E2E-BA1A-A036F55FA114}"/>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valid candidate with evidence and a stated limitation.</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420DBF68-DFC5-48BD-87C8-D751E9F38506}"/>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397EE695-EF0B-4C16-8B1E-40160969B03B}"/>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12   35</a:t>
            </a:r>
          </a:p>
        </p:txBody>
      </p:sp>
    </p:spTree>
    <p:extLst>
      <p:ext uri="{BB962C8B-B14F-4D97-AF65-F5344CB8AC3E}">
        <ns3:creationId val="164160612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4AC631F-60F9-47BA-91EC-B61D204E5E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DB724C-3430-4380-B42D-D14DF665F2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8B57DCB8-2252-4CB3-96CF-A2618F8C54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FFA88294-0160-49CD-85DF-AE9AC72AB0D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ED1AAE7-5A81-4143-94CB-958523EE8F8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C056FB6F-B1C7-4815-80C8-D69C5EBE282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8ADD83F-D84A-4552-968D-1C82824D0BB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225087E2-6A61-4BBE-B8BF-D5F6D187C33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7C900E9-E3EB-473E-876D-6A3689067E7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89BE0AED-2E25-49EC-B258-D17431DEE1A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EB8B623-E141-48F7-A9F7-979BF478281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CC803B1D-B5E1-4B5C-933A-E89DCEF7833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CD52CCD-C5C9-4476-9450-1FD02DED440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0acf262ea5f4724"/>
              </a:rPr>
              <a:t>Open explainer video</a:t>
            </a:r>
          </a:p>
        </p:txBody>
      </p:sp>
      <p:sp>
        <p:nvSpPr>
          <p:cNvPr id="14" name="">
            <a:extLst xmlns:a="http://schemas.openxmlformats.org/drawingml/2006/main">
              <a:ext uri="{FF2B5EF4-FFF2-40B4-BE49-F238E27FC236}">
                <a16:creationId xmlns:a16="http://schemas.microsoft.com/office/drawing/2014/main" id="{0C1390C2-C110-4507-ACB0-F92FD363A3C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A58CF084-D2E2-4BB0-942B-6771CA53D5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36</a:t>
            </a:r>
          </a:p>
        </p:txBody>
      </p:sp>
    </p:spTree>
    <p:extLst>
      <p:ext uri="{BB962C8B-B14F-4D97-AF65-F5344CB8AC3E}">
        <p14:creationId xmlns:p14="http://schemas.microsoft.com/office/powerpoint/2010/main" val="17694305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2026-09-28T21:43:10.2270000Z</dcterms:created>
  <dcterms:modified xsi:type="dcterms:W3CDTF">2026-09-28T21:43:10.2270000Z</dcterms:modified>
</coreProperties>
</file>