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6b39266cb5b4fff" /><Relationship Type="http://schemas.openxmlformats.org/officeDocument/2006/relationships/extended-properties" Target="/docProps/app.xml" Id="R578e3fa20f11406e" /><Relationship Type="http://schemas.openxmlformats.org/officeDocument/2006/relationships/officeDocument" Target="/ppt/presentation.xml" Id="R8a2c4f3559d146fe" /></Relationships>
</file>

<file path=ppt/presentation.xml><?xml version="1.0" encoding="utf-8"?>
<p:presentation xmlns:p="http://schemas.openxmlformats.org/presentationml/2006/main">
  <p:sldMasterIdLst>
    <p:sldMasterId xmlns:r="http://schemas.openxmlformats.org/officeDocument/2006/relationships" id="2147483648" r:id="R26668ae379944132"/>
  </p:sldMasterIdLst>
  <p:notesMasterIdLst>
    <p:notesMasterId xmlns:r="http://schemas.openxmlformats.org/officeDocument/2006/relationships" r:id="R8ab57e42a64841ed"/>
  </p:notesMasterIdLst>
  <p:sldIdLst>
    <p:sldId xmlns:r="http://schemas.openxmlformats.org/officeDocument/2006/relationships" id="256" r:id="R4fcc0c0098954c00"/>
    <p:sldId xmlns:r="http://schemas.openxmlformats.org/officeDocument/2006/relationships" id="257" r:id="Rc013073a135c48ec"/>
    <p:sldId xmlns:r="http://schemas.openxmlformats.org/officeDocument/2006/relationships" id="258" r:id="Reccb55e102b24f47"/>
    <p:sldId xmlns:r="http://schemas.openxmlformats.org/officeDocument/2006/relationships" id="259" r:id="R34fdedf10b6842f2"/>
    <p:sldId xmlns:r="http://schemas.openxmlformats.org/officeDocument/2006/relationships" id="260" r:id="R7f16491815034983"/>
    <p:sldId xmlns:r="http://schemas.openxmlformats.org/officeDocument/2006/relationships" id="261" r:id="R4d0d581fd3f1440f"/>
    <p:sldId xmlns:r="http://schemas.openxmlformats.org/officeDocument/2006/relationships" id="262" r:id="R54061218ee8d4b2a"/>
    <p:sldId xmlns:r="http://schemas.openxmlformats.org/officeDocument/2006/relationships" id="263" r:id="R2b17b0e0aabe45de"/>
    <p:sldId xmlns:r="http://schemas.openxmlformats.org/officeDocument/2006/relationships" id="264" r:id="R59c47773146e472b"/>
    <p:sldId xmlns:r="http://schemas.openxmlformats.org/officeDocument/2006/relationships" id="265" r:id="R887292b10e4e459d"/>
    <p:sldId xmlns:r="http://schemas.openxmlformats.org/officeDocument/2006/relationships" id="266" r:id="Re677f3b291304305"/>
    <p:sldId xmlns:r="http://schemas.openxmlformats.org/officeDocument/2006/relationships" id="267" r:id="R6f767daf2f614a64"/>
    <p:sldId xmlns:r="http://schemas.openxmlformats.org/officeDocument/2006/relationships" id="268" r:id="R6c65722735c74bba"/>
    <p:sldId xmlns:r="http://schemas.openxmlformats.org/officeDocument/2006/relationships" id="269" r:id="R983e236b33884b0d"/>
    <p:sldId xmlns:r="http://schemas.openxmlformats.org/officeDocument/2006/relationships" id="270" r:id="R50a067ac8537434b"/>
    <p:sldId xmlns:r="http://schemas.openxmlformats.org/officeDocument/2006/relationships" id="271" r:id="R8c3f68b4b46a4e0f"/>
    <p:sldId xmlns:r="http://schemas.openxmlformats.org/officeDocument/2006/relationships" id="272" r:id="Rfbb690f9cd394a25"/>
    <p:sldId xmlns:r="http://schemas.openxmlformats.org/officeDocument/2006/relationships" id="273" r:id="Rf3d5d05a86a4454c"/>
    <p:sldId xmlns:r="http://schemas.openxmlformats.org/officeDocument/2006/relationships" id="274" r:id="R9a9f7555984b49d6"/>
    <p:sldId xmlns:r="http://schemas.openxmlformats.org/officeDocument/2006/relationships" id="275" r:id="R0232137448a947bd"/>
    <p:sldId xmlns:r="http://schemas.openxmlformats.org/officeDocument/2006/relationships" id="276" r:id="Raa49ccce58e24072"/>
    <p:sldId xmlns:r="http://schemas.openxmlformats.org/officeDocument/2006/relationships" id="277" r:id="R3bf0ee9f7e254303"/>
    <p:sldId xmlns:r="http://schemas.openxmlformats.org/officeDocument/2006/relationships" id="278" r:id="R279178c72c9e47e5"/>
    <p:sldId xmlns:r="http://schemas.openxmlformats.org/officeDocument/2006/relationships" id="279" r:id="R2843cff6eb004c61"/>
    <p:sldId xmlns:r="http://schemas.openxmlformats.org/officeDocument/2006/relationships" id="280" r:id="Re38eb6544b704a1b"/>
    <p:sldId xmlns:r="http://schemas.openxmlformats.org/officeDocument/2006/relationships" id="281" r:id="R2bea6bf2384943b0"/>
    <p:sldId xmlns:r="http://schemas.openxmlformats.org/officeDocument/2006/relationships" id="282" r:id="R854222dff18a4e87"/>
    <p:sldId xmlns:r="http://schemas.openxmlformats.org/officeDocument/2006/relationships" id="283" r:id="R5d851e628205457c"/>
    <p:sldId xmlns:r="http://schemas.openxmlformats.org/officeDocument/2006/relationships" id="284" r:id="R68bccb079002438c"/>
    <p:sldId xmlns:r="http://schemas.openxmlformats.org/officeDocument/2006/relationships" id="285" r:id="Rdb99d8ebb2804715"/>
    <p:sldId xmlns:r="http://schemas.openxmlformats.org/officeDocument/2006/relationships" id="286" r:id="Rb192afdba93a4d34"/>
    <p:sldId xmlns:r="http://schemas.openxmlformats.org/officeDocument/2006/relationships" id="287" r:id="Rdbd1858d124f47f2"/>
    <p:sldId xmlns:r="http://schemas.openxmlformats.org/officeDocument/2006/relationships" id="288" r:id="R564f81fe91bb4755"/>
    <p:sldId xmlns:r="http://schemas.openxmlformats.org/officeDocument/2006/relationships" id="289" r:id="R4067ab44e76c4a3a"/>
    <p:sldId xmlns:r="http://schemas.openxmlformats.org/officeDocument/2006/relationships" id="290" r:id="Rf729cc00d73f41bd"/>
    <p:sldId xmlns:r="http://schemas.openxmlformats.org/officeDocument/2006/relationships" id="291" r:id="Rd5ec2cce860d4268"/>
    <p:sldId xmlns:r="http://schemas.openxmlformats.org/officeDocument/2006/relationships" id="292" r:id="R8e8fa907c8104b1f"/>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18879c4c1a949bc" /><Relationship Type="http://schemas.openxmlformats.org/officeDocument/2006/relationships/slideMaster" Target="/ppt/slideMasters/slideMaster1.xml" Id="R26668ae379944132" /><Relationship Type="http://schemas.openxmlformats.org/officeDocument/2006/relationships/notesMaster" Target="/ppt/notesMasters/notesMaster1.xml" Id="R8ab57e42a64841ed" /><Relationship Type="http://schemas.openxmlformats.org/officeDocument/2006/relationships/presProps" Target="/ppt/presProps.xml" Id="Rdbe7471c4c244544" /><Relationship Type="http://schemas.openxmlformats.org/officeDocument/2006/relationships/tableStyles" Target="/ppt/tableStyles.xml" Id="R7acf7b755bb04359" /><Relationship Type="http://schemas.openxmlformats.org/officeDocument/2006/relationships/slide" Target="/ppt/slides/slide1.xml" Id="R4fcc0c0098954c00" /><Relationship Type="http://schemas.openxmlformats.org/officeDocument/2006/relationships/slide" Target="/ppt/slides/slide2.xml" Id="Rc013073a135c48ec" /><Relationship Type="http://schemas.openxmlformats.org/officeDocument/2006/relationships/slide" Target="/ppt/slides/slide3.xml" Id="Reccb55e102b24f47" /><Relationship Type="http://schemas.openxmlformats.org/officeDocument/2006/relationships/slide" Target="/ppt/slides/slide4.xml" Id="R34fdedf10b6842f2" /><Relationship Type="http://schemas.openxmlformats.org/officeDocument/2006/relationships/slide" Target="/ppt/slides/slide5.xml" Id="R7f16491815034983" /><Relationship Type="http://schemas.openxmlformats.org/officeDocument/2006/relationships/slide" Target="/ppt/slides/slide6.xml" Id="R4d0d581fd3f1440f" /><Relationship Type="http://schemas.openxmlformats.org/officeDocument/2006/relationships/slide" Target="/ppt/slides/slide7.xml" Id="R54061218ee8d4b2a" /><Relationship Type="http://schemas.openxmlformats.org/officeDocument/2006/relationships/slide" Target="/ppt/slides/slide8.xml" Id="R2b17b0e0aabe45de" /><Relationship Type="http://schemas.openxmlformats.org/officeDocument/2006/relationships/slide" Target="/ppt/slides/slide9.xml" Id="R59c47773146e472b" /><Relationship Type="http://schemas.openxmlformats.org/officeDocument/2006/relationships/slide" Target="/ppt/slides/slide10.xml" Id="R887292b10e4e459d" /><Relationship Type="http://schemas.openxmlformats.org/officeDocument/2006/relationships/slide" Target="/ppt/slides/slide11.xml" Id="Re677f3b291304305" /><Relationship Type="http://schemas.openxmlformats.org/officeDocument/2006/relationships/slide" Target="/ppt/slides/slide12.xml" Id="R6f767daf2f614a64" /><Relationship Type="http://schemas.openxmlformats.org/officeDocument/2006/relationships/slide" Target="/ppt/slides/slide13.xml" Id="R6c65722735c74bba" /><Relationship Type="http://schemas.openxmlformats.org/officeDocument/2006/relationships/slide" Target="/ppt/slides/slide14.xml" Id="R983e236b33884b0d" /><Relationship Type="http://schemas.openxmlformats.org/officeDocument/2006/relationships/slide" Target="/ppt/slides/slide15.xml" Id="R50a067ac8537434b" /><Relationship Type="http://schemas.openxmlformats.org/officeDocument/2006/relationships/slide" Target="/ppt/slides/slide16.xml" Id="R8c3f68b4b46a4e0f" /><Relationship Type="http://schemas.openxmlformats.org/officeDocument/2006/relationships/slide" Target="/ppt/slides/slide17.xml" Id="Rfbb690f9cd394a25" /><Relationship Type="http://schemas.openxmlformats.org/officeDocument/2006/relationships/slide" Target="/ppt/slides/slide18.xml" Id="Rf3d5d05a86a4454c" /><Relationship Type="http://schemas.openxmlformats.org/officeDocument/2006/relationships/slide" Target="/ppt/slides/slide19.xml" Id="R9a9f7555984b49d6" /><Relationship Type="http://schemas.openxmlformats.org/officeDocument/2006/relationships/slide" Target="/ppt/slides/slide20.xml" Id="R0232137448a947bd" /><Relationship Type="http://schemas.openxmlformats.org/officeDocument/2006/relationships/slide" Target="/ppt/slides/slide21.xml" Id="Raa49ccce58e24072" /><Relationship Type="http://schemas.openxmlformats.org/officeDocument/2006/relationships/slide" Target="/ppt/slides/slide22.xml" Id="R3bf0ee9f7e254303" /><Relationship Type="http://schemas.openxmlformats.org/officeDocument/2006/relationships/slide" Target="/ppt/slides/slide23.xml" Id="R279178c72c9e47e5" /><Relationship Type="http://schemas.openxmlformats.org/officeDocument/2006/relationships/slide" Target="/ppt/slides/slide24.xml" Id="R2843cff6eb004c61" /><Relationship Type="http://schemas.openxmlformats.org/officeDocument/2006/relationships/slide" Target="/ppt/slides/slide25.xml" Id="Re38eb6544b704a1b" /><Relationship Type="http://schemas.openxmlformats.org/officeDocument/2006/relationships/slide" Target="/ppt/slides/slide26.xml" Id="R2bea6bf2384943b0" /><Relationship Type="http://schemas.openxmlformats.org/officeDocument/2006/relationships/slide" Target="/ppt/slides/slide27.xml" Id="R854222dff18a4e87" /><Relationship Type="http://schemas.openxmlformats.org/officeDocument/2006/relationships/slide" Target="/ppt/slides/slide28.xml" Id="R5d851e628205457c" /><Relationship Type="http://schemas.openxmlformats.org/officeDocument/2006/relationships/slide" Target="/ppt/slides/slide29.xml" Id="R68bccb079002438c" /><Relationship Type="http://schemas.openxmlformats.org/officeDocument/2006/relationships/slide" Target="/ppt/slides/slide30.xml" Id="Rdb99d8ebb2804715" /><Relationship Type="http://schemas.openxmlformats.org/officeDocument/2006/relationships/slide" Target="/ppt/slides/slide31.xml" Id="Rb192afdba93a4d34" /><Relationship Type="http://schemas.openxmlformats.org/officeDocument/2006/relationships/slide" Target="/ppt/slides/slide32.xml" Id="Rdbd1858d124f47f2" /><Relationship Type="http://schemas.openxmlformats.org/officeDocument/2006/relationships/slide" Target="/ppt/slides/slide33.xml" Id="R564f81fe91bb4755" /><Relationship Type="http://schemas.openxmlformats.org/officeDocument/2006/relationships/slide" Target="/ppt/slides/slide34.xml" Id="R4067ab44e76c4a3a" /><Relationship Type="http://schemas.openxmlformats.org/officeDocument/2006/relationships/slide" Target="/ppt/slides/slide35.xml" Id="Rf729cc00d73f41bd" /><Relationship Type="http://schemas.openxmlformats.org/officeDocument/2006/relationships/slide" Target="/ppt/slides/slide36.xml" Id="Rd5ec2cce860d4268" /><Relationship Type="http://schemas.openxmlformats.org/officeDocument/2006/relationships/slide" Target="/ppt/slides/slide37.xml" Id="R8e8fa907c8104b1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e847b91ec6444b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79739d45012442e" /><Relationship Type="http://schemas.openxmlformats.org/officeDocument/2006/relationships/notesMaster" Target="/ppt/notesMasters/notesMaster1.xml" Id="R86a441d371f742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607bb0162cba4b1a" /><Relationship Type="http://schemas.openxmlformats.org/officeDocument/2006/relationships/notesMaster" Target="/ppt/notesMasters/notesMaster1.xml" Id="R4ce3abd4468c4f3f" /></Relationships>
</file>

<file path=ppt/notesSlides/_rels/notesSlide3.xml.rels>&#65279;<?xml version="1.0" encoding="utf-8"?><Relationships xmlns="http://schemas.openxmlformats.org/package/2006/relationships"><Relationship Type="http://schemas.openxmlformats.org/officeDocument/2006/relationships/slide" Target="/ppt/slides/slide3.xml" Id="Rd6031e9b24744ba5" /><Relationship Type="http://schemas.openxmlformats.org/officeDocument/2006/relationships/notesMaster" Target="/ppt/notesMasters/notesMaster1.xml" Id="Re80ac206a99d4846"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0fc4b104f842f5" /><Relationship Type="http://schemas.openxmlformats.org/officeDocument/2006/relationships/notesMaster" Target="/ppt/notesMasters/notesMaster1.xml" Id="Radd2913fe70b422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415b85edf984c16" /><Relationship Type="http://schemas.openxmlformats.org/officeDocument/2006/relationships/notesMaster" Target="/ppt/notesMasters/notesMaster1.xml" Id="Rc37f612a69f04613" /></Relationships>
</file>

<file path=ppt/notesSlides/_rels/notesSlide6.xml.rels>&#65279;<?xml version="1.0" encoding="utf-8"?><Relationships xmlns="http://schemas.openxmlformats.org/package/2006/relationships"><Relationship Type="http://schemas.openxmlformats.org/officeDocument/2006/relationships/slide" Target="/ppt/slides/slide6.xml" Id="R4fdabb003e7644bf" /><Relationship Type="http://schemas.openxmlformats.org/officeDocument/2006/relationships/notesMaster" Target="/ppt/notesMasters/notesMaster1.xml" Id="R0b25ee2f320845b9" /></Relationships>
</file>

<file path=ppt/notesSlides/_rels/notesSlide7.xml.rels>&#65279;<?xml version="1.0" encoding="utf-8"?><Relationships xmlns="http://schemas.openxmlformats.org/package/2006/relationships"><Relationship Type="http://schemas.openxmlformats.org/officeDocument/2006/relationships/slide" Target="/ppt/slides/slide7.xml" Id="R6b36f401e2cc45e3" /><Relationship Type="http://schemas.openxmlformats.org/officeDocument/2006/relationships/notesMaster" Target="/ppt/notesMasters/notesMaster1.xml" Id="Re01c8628b5e443be" /></Relationships>
</file>

<file path=ppt/notesSlides/_rels/notesSlide8.xml.rels>&#65279;<?xml version="1.0" encoding="utf-8"?><Relationships xmlns="http://schemas.openxmlformats.org/package/2006/relationships"><Relationship Type="http://schemas.openxmlformats.org/officeDocument/2006/relationships/slide" Target="/ppt/slides/slide8.xml" Id="R35c1b3b3e06a4abc" /><Relationship Type="http://schemas.openxmlformats.org/officeDocument/2006/relationships/notesMaster" Target="/ppt/notesMasters/notesMaster1.xml" Id="R3478f62fe7854d53" /></Relationships>
</file>

<file path=ppt/notesSlides/_rels/notesSlide9.xml.rels>&#65279;<?xml version="1.0" encoding="utf-8"?><Relationships xmlns="http://schemas.openxmlformats.org/package/2006/relationships"><Relationship Type="http://schemas.openxmlformats.org/officeDocument/2006/relationships/slide" Target="/ppt/slides/slide9.xml" Id="Rb2e8521c60004808" /><Relationship Type="http://schemas.openxmlformats.org/officeDocument/2006/relationships/notesMaster" Target="/ppt/notesMasters/notesMaster1.xml" Id="R09c0b9d1825c46d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5f8705e7c53434f" /><Relationship Type="http://schemas.openxmlformats.org/officeDocument/2006/relationships/notesMaster" Target="/ppt/notesMasters/notesMaster1.xml" Id="Ree004c8cce604c4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3f472c74274a12" /><Relationship Type="http://schemas.openxmlformats.org/officeDocument/2006/relationships/notesMaster" Target="/ppt/notesMasters/notesMaster1.xml" Id="R9fcd03e563134a0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2fbcd89b8984635" /><Relationship Type="http://schemas.openxmlformats.org/officeDocument/2006/relationships/notesMaster" Target="/ppt/notesMasters/notesMaster1.xml" Id="R264d95d91ecb4b5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65925b3627541f6" /><Relationship Type="http://schemas.openxmlformats.org/officeDocument/2006/relationships/notesMaster" Target="/ppt/notesMasters/notesMaster1.xml" Id="Rf46cf86827f9497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7a3bf86d5cb49a7" /><Relationship Type="http://schemas.openxmlformats.org/officeDocument/2006/relationships/notesMaster" Target="/ppt/notesMasters/notesMaster1.xml" Id="Rd986a08ee008455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283005e75cd45de" /><Relationship Type="http://schemas.openxmlformats.org/officeDocument/2006/relationships/notesMaster" Target="/ppt/notesMasters/notesMaster1.xml" Id="R80b2fa8852bf456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719acbafbc94925" /><Relationship Type="http://schemas.openxmlformats.org/officeDocument/2006/relationships/notesMaster" Target="/ppt/notesMasters/notesMaster1.xml" Id="Rdf3e2a98b56743b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b769dcae63b49ca" /><Relationship Type="http://schemas.openxmlformats.org/officeDocument/2006/relationships/notesMaster" Target="/ppt/notesMasters/notesMaster1.xml" Id="R27b8cf215bec461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b6bfad51e5f4619" /><Relationship Type="http://schemas.openxmlformats.org/officeDocument/2006/relationships/notesMaster" Target="/ppt/notesMasters/notesMaster1.xml" Id="R8d544473b6fb4be5"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8dcc5b6ee374e58" /><Relationship Type="http://schemas.openxmlformats.org/officeDocument/2006/relationships/notesMaster" Target="/ppt/notesMasters/notesMaster1.xml" Id="R3a2957225a1e492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2476f606cd74602" /><Relationship Type="http://schemas.openxmlformats.org/officeDocument/2006/relationships/notesMaster" Target="/ppt/notesMasters/notesMaster1.xml" Id="Reb0bb968ca0542a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0b6892e82c64a4a" /><Relationship Type="http://schemas.openxmlformats.org/officeDocument/2006/relationships/notesMaster" Target="/ppt/notesMasters/notesMaster1.xml" Id="Reedbe5b997a0426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ec67038f2204f3e" /><Relationship Type="http://schemas.openxmlformats.org/officeDocument/2006/relationships/notesMaster" Target="/ppt/notesMasters/notesMaster1.xml" Id="R905a00aa0e2445b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5fbbf8b5dee4b3c" /><Relationship Type="http://schemas.openxmlformats.org/officeDocument/2006/relationships/notesMaster" Target="/ppt/notesMasters/notesMaster1.xml" Id="R184b5fe9899045f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a0c027a02354f89" /><Relationship Type="http://schemas.openxmlformats.org/officeDocument/2006/relationships/notesMaster" Target="/ppt/notesMasters/notesMaster1.xml" Id="Ref06cfa5e5b4437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fa7fc3845e541eb" /><Relationship Type="http://schemas.openxmlformats.org/officeDocument/2006/relationships/notesMaster" Target="/ppt/notesMasters/notesMaster1.xml" Id="R5168fe03cd504918"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82dd710bc854c5c" /><Relationship Type="http://schemas.openxmlformats.org/officeDocument/2006/relationships/notesMaster" Target="/ppt/notesMasters/notesMaster1.xml" Id="Rcef39a1e347e42d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165f358b380345d0" /><Relationship Type="http://schemas.openxmlformats.org/officeDocument/2006/relationships/notesMaster" Target="/ppt/notesMasters/notesMaster1.xml" Id="Rc1dd8df5a882437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09f7e06f46b4de5" /><Relationship Type="http://schemas.openxmlformats.org/officeDocument/2006/relationships/notesMaster" Target="/ppt/notesMasters/notesMaster1.xml" Id="R37b9fb9c6562452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d2ba74eefe44efa" /><Relationship Type="http://schemas.openxmlformats.org/officeDocument/2006/relationships/notesMaster" Target="/ppt/notesMasters/notesMaster1.xml" Id="R046e36c255d54109"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9981773e82e4afa" /><Relationship Type="http://schemas.openxmlformats.org/officeDocument/2006/relationships/notesMaster" Target="/ppt/notesMasters/notesMaster1.xml" Id="R36f8b478347c4e3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2ef3561bb2754899" /><Relationship Type="http://schemas.openxmlformats.org/officeDocument/2006/relationships/notesMaster" Target="/ppt/notesMasters/notesMaster1.xml" Id="R5d432fa7deee41d1"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ee96c1d19ab4e0b" /><Relationship Type="http://schemas.openxmlformats.org/officeDocument/2006/relationships/notesMaster" Target="/ppt/notesMasters/notesMaster1.xml" Id="Rf45ad53a2bbc467e"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b9266d6fcc5d42a4" /><Relationship Type="http://schemas.openxmlformats.org/officeDocument/2006/relationships/notesMaster" Target="/ppt/notesMasters/notesMaster1.xml" Id="Rf61b073ce158456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bd5e388969c4ccc" /><Relationship Type="http://schemas.openxmlformats.org/officeDocument/2006/relationships/notesMaster" Target="/ppt/notesMasters/notesMaster1.xml" Id="R58e742ea49e6421d"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0669c09a950f4126" /><Relationship Type="http://schemas.openxmlformats.org/officeDocument/2006/relationships/notesMaster" Target="/ppt/notesMasters/notesMaster1.xml" Id="R88862af0b8f84f13"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a84c70a27af4cab" /><Relationship Type="http://schemas.openxmlformats.org/officeDocument/2006/relationships/notesMaster" Target="/ppt/notesMasters/notesMaster1.xml" Id="Rc956c2b77f7f4f2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0a285c6224a145f4" /><Relationship Type="http://schemas.openxmlformats.org/officeDocument/2006/relationships/notesMaster" Target="/ppt/notesMasters/notesMaster1.xml" Id="R6104b81944e44536"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Choosing and explaining a model</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Choosing and explaining a model.</a:t>
            </a:r>
          </a:p>
          <a:p>
            <a:r>
              <a:t/>
            </a:r>
          </a:p>
          <a:p>
            <a:r>
              <a:t>LECTURER CUE</a:t>
            </a:r>
          </a:p>
          <a:p>
            <a:r>
              <a:t>Ask learners to explain this goal in ordinary language. The first successful attempt matters more than covering optional extensions. Defer: A large grid search, four new model implementations and an adversarial defence are optional practice. They must not crowd out the core decision process.</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Students justify a valid simple model over a more accurate but ineligible one, and distinguish local explanation from global importance.</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The engineering context.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The engineering context</a:t>
            </a:r>
          </a:p>
          <a:p>
            <a:r>
              <a:t/>
            </a:r>
          </a:p>
          <a:p>
            <a:r>
              <a:t>CONNECT</a:t>
            </a:r>
          </a:p>
          <a:p>
            <a:r>
              <a:t>Build on the preceding slide: Recall and a first attempt.</a:t>
            </a:r>
          </a:p>
          <a:p>
            <a:r>
              <a:t/>
            </a:r>
          </a:p>
          <a:p>
            <a:r>
              <a:t>LECTURER CUE</a:t>
            </a:r>
          </a:p>
          <a:p>
            <a:r>
              <a:t>A building team records indoor temperature to investigate comfort. Civil students can discuss construction and inspection; architecture students can discuss shading and ventilation. Explain the quantities before using them.</a:t>
            </a:r>
          </a:p>
          <a:p>
            <a:r>
              <a:t/>
            </a:r>
          </a:p>
          <a:p>
            <a:r>
              <a:t>EXPLAIN IN ORDINARY WORDS</a:t>
            </a:r>
          </a:p>
          <a:p>
            <a:r>
              <a:t>A calculated column stores a result for each row at refresh. A measure is evaluated under the filters of the current visual. SUMX evaluates an expression for each row before adding it.</a:t>
            </a:r>
          </a:p>
          <a:p>
            <a:r>
              <a:t/>
            </a:r>
          </a:p>
          <a:p>
            <a:r>
              <a:t>CHECK AND EXPECTED ANSWER</a:t>
            </a:r>
          </a:p>
          <a:p>
            <a:r>
              <a:t>Should revenue respond to a selected region? Yes; test the measure with that filter and reconcile it to known data.</a:t>
            </a:r>
          </a:p>
          <a:p>
            <a:r>
              <a:t/>
            </a:r>
          </a:p>
          <a:p>
            <a:r>
              <a:t>IF LEARNERS ARE STUCK</a:t>
            </a:r>
          </a:p>
          <a:p>
            <a:r>
              <a:t>Work one order line by hand, then two lines. Name the numerator and denominator populations before an average-order-value measure.</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The engineering context.</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POINT TO THE DEFINITION</a:t>
            </a:r>
          </a:p>
          <a:p>
            <a:r>
              <a:t>Constraint: A condition a candidate must satisfy, such as MAE at most 3 and latency at most 10 ms.</a:t>
            </a:r>
          </a:p>
          <a:p>
            <a:r>
              <a:t>Latency: Time taken to produce a prediction under stated measurement conditions. Hardware and measurement method matter.</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Words we will use.</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POINT TO THE DEFINITION</a:t>
            </a:r>
          </a:p>
          <a:p>
            <a:r>
              <a:t>Tie-break: A published rule for choosing between candidates that tie on the main criterion.</a:t>
            </a:r>
          </a:p>
          <a:p>
            <a:r>
              <a:t>Hyperparameter: A setting chosen before fitting, such as tree depth. Tune using validation or cross-validation, not the final test.</a:t>
            </a:r>
          </a:p>
          <a:p>
            <a:r>
              <a:t/>
            </a:r>
          </a:p>
          <a:p>
            <a:r>
              <a:t>NEXT</a:t>
            </a:r>
          </a:p>
          <a:p>
            <a:r>
              <a:t>Error and practical constraints.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Error and practical constraints</a:t>
            </a:r>
          </a:p>
          <a:p>
            <a:r>
              <a:t/>
            </a:r>
          </a:p>
          <a:p>
            <a:r>
              <a:t>CONNECT</a:t>
            </a:r>
          </a:p>
          <a:p>
            <a:r>
              <a:t>Build on the preceding slide: Words we will use.</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A model comparison needs a fair test.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model comparison needs a fair test</a:t>
            </a:r>
          </a:p>
          <a:p>
            <a:r>
              <a:t/>
            </a:r>
          </a:p>
          <a:p>
            <a:r>
              <a:t>CONNECT</a:t>
            </a:r>
          </a:p>
          <a:p>
            <a:r>
              <a:t>Build on the preceding slide: Error and practical constraints.</a:t>
            </a:r>
          </a:p>
          <a:p>
            <a:r>
              <a:t/>
            </a:r>
          </a:p>
          <a:p>
            <a:r>
              <a:t>LECTURER CUE</a:t>
            </a:r>
          </a:p>
          <a:p>
            <a:r>
              <a:t>A tree asks successive questions. A forest combines many trees. More complexity does not guarantee better validation performance. The task’s tie-break rule remains authoritative.</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Eligibility comes before ranking.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Eligibility comes before ranking</a:t>
            </a:r>
          </a:p>
          <a:p>
            <a:r>
              <a:t/>
            </a:r>
          </a:p>
          <a:p>
            <a:r>
              <a:t>CONNECT</a:t>
            </a:r>
          </a:p>
          <a:p>
            <a:r>
              <a:t>Build on the preceding slide: A model comparison needs a fair test.</a:t>
            </a:r>
          </a:p>
          <a:p>
            <a:r>
              <a:t/>
            </a:r>
          </a:p>
          <a:p>
            <a:r>
              <a:t>LECTURER CUE</a:t>
            </a:r>
          </a:p>
          <a:p>
            <a:r>
              <a:t>Cross out ineligible candidates before ranking errors. Then apply the tie-break rule, rather than choosing the most sophisticated model.</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A constrained model choice.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constrained model choice</a:t>
            </a:r>
          </a:p>
          <a:p>
            <a:r>
              <a:t/>
            </a:r>
          </a:p>
          <a:p>
            <a:r>
              <a:t>CONNECT</a:t>
            </a:r>
          </a:p>
          <a:p>
            <a:r>
              <a:t>Build on the preceding slide: Eligibility comes before ranking.</a:t>
            </a:r>
          </a:p>
          <a:p>
            <a:r>
              <a:t/>
            </a:r>
          </a:p>
          <a:p>
            <a:r>
              <a:t>LECTURER CUE</a:t>
            </a:r>
          </a:p>
          <a:p>
            <a:r>
              <a:t>Invented requirements: error at most 3 and time at most 10 ms. Only simple is eligible. No result here is a measured engineering benchmark.</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Worked example (1/2).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(1/2)</a:t>
            </a:r>
          </a:p>
          <a:p>
            <a:r>
              <a:t/>
            </a:r>
          </a:p>
          <a:p>
            <a:r>
              <a:t>CONNECT</a:t>
            </a:r>
          </a:p>
          <a:p>
            <a:r>
              <a:t>Build on the preceding slide: A constrained model choice.</a:t>
            </a:r>
          </a:p>
          <a:p>
            <a:r>
              <a:t/>
            </a:r>
          </a:p>
          <a:p>
            <a:r>
              <a:t>LECTURER CUE</a:t>
            </a:r>
          </a:p>
          <a:p>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a:r>
              <a:t/>
            </a:r>
          </a:p>
          <a:p>
            <a:r>
              <a:t>Complete practice code:</a:t>
            </a:r>
          </a:p>
          <a:p>
            <a:r>
              <a:t>candidates = [{"name": "simple", "error": 3, "ms": 2},</a:t>
            </a:r>
          </a:p>
          <a:p>
            <a:r>
              <a:t>              {"name": "complex", "error": 1, "ms": 20}]</a:t>
            </a:r>
          </a:p>
          <a:p>
            <a:r>
              <a:t>eligible = []</a:t>
            </a:r>
          </a:p>
          <a:p>
            <a:r>
              <a:t>for item in candidates:</a:t>
            </a:r>
          </a:p>
          <a:p>
            <a:r>
              <a:t>    if item["error"] &lt;= 3 and item["ms"] &lt;= 10:</a:t>
            </a:r>
          </a:p>
          <a:p>
            <a:r>
              <a:t>        eligible.append(item)</a:t>
            </a:r>
          </a:p>
          <a:p>
            <a:r>
              <a:t>print([item["name"] for item in eligible])</a:t>
            </a:r>
          </a:p>
          <a:p>
            <a:r>
              <a:t/>
            </a:r>
          </a:p>
          <a:p>
            <a:r>
              <a:t>WALK THROUGH THIS CODE</a:t>
            </a:r>
          </a:p>
          <a:p>
            <a:r>
              <a:t>for takes the next item. The indented block repeats.</a:t>
            </a:r>
          </a:p>
          <a:p>
            <a:r>
              <a:t>if tests a condition. The chosen indented block runs.</a:t>
            </a:r>
          </a:p>
          <a:p>
            <a:r>
              <a:t>append adds one item to the end of a list.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Worked example (2/2).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Worked example (2/2)</a:t>
            </a:r>
          </a:p>
          <a:p>
            <a:r>
              <a:t/>
            </a:r>
          </a:p>
          <a:p>
            <a:r>
              <a:t>CONNECT</a:t>
            </a:r>
          </a:p>
          <a:p>
            <a:r>
              <a:t>Build on the preceding slide: Worked example (1/2).</a:t>
            </a:r>
          </a:p>
          <a:p>
            <a:r>
              <a:t/>
            </a:r>
          </a:p>
          <a:p>
            <a:r>
              <a:t>LECTURER CUE</a:t>
            </a:r>
          </a:p>
          <a:p>
            <a:r>
              <a:t>Cross out ineligible candidates before ranking errors. Then apply the tie-break rule, rather than choosing the most sophisticated model. Demonstrate dictionary field access and ordered comparisons before asking learners to implement selection. A sorted list key can be a tuple: first metric, then speed, then name. Write a short recommendation: question, fair comparison, chosen candidate, reason, limitation and what new evidence could change the choice.</a:t>
            </a:r>
          </a:p>
          <a:p>
            <a:r>
              <a:t/>
            </a:r>
          </a:p>
          <a:p>
            <a:r>
              <a:t>Complete practice code:</a:t>
            </a:r>
          </a:p>
          <a:p>
            <a:r>
              <a:t>candidates = [{"name": "simple", "error": 3, "ms": 2},</a:t>
            </a:r>
          </a:p>
          <a:p>
            <a:r>
              <a:t>              {"name": "complex", "error": 1, "ms": 20}]</a:t>
            </a:r>
          </a:p>
          <a:p>
            <a:r>
              <a:t>eligible = []</a:t>
            </a:r>
          </a:p>
          <a:p>
            <a:r>
              <a:t>for item in candidates:</a:t>
            </a:r>
          </a:p>
          <a:p>
            <a:r>
              <a:t>    if item["error"] &lt;= 3 and item["ms"] &lt;= 10:</a:t>
            </a:r>
          </a:p>
          <a:p>
            <a:r>
              <a:t>        eligible.append(item)</a:t>
            </a:r>
          </a:p>
          <a:p>
            <a:r>
              <a:t>print([item["name"] for item in eligible])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WALK THROUGH THIS CODE</a:t>
            </a:r>
          </a:p>
          <a:p>
            <a:r>
              <a:t>print displays a value below the cell.</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Expected output.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Expected output</a:t>
            </a:r>
          </a:p>
          <a:p>
            <a:r>
              <a:t/>
            </a:r>
          </a:p>
          <a:p>
            <a:r>
              <a:t>CONNECT</a:t>
            </a:r>
          </a:p>
          <a:p>
            <a:r>
              <a:t>Build on the preceding slide: Worked example (2/2).</a:t>
            </a:r>
          </a:p>
          <a:p>
            <a:r>
              <a:t/>
            </a:r>
          </a:p>
          <a:p>
            <a:r>
              <a:t>LECTURER CUE</a:t>
            </a:r>
          </a:p>
          <a:p>
            <a:r>
              <a:t>Compare the actual output character by character with this practice result. If it differs, read the first error and check the input, units, names and execution order. Do not copy this practice output into a graded answer.</a:t>
            </a:r>
          </a:p>
          <a:p>
            <a:r>
              <a:t/>
            </a:r>
          </a:p>
          <a:p>
            <a:r>
              <a:t>NEXT</a:t>
            </a:r>
          </a:p>
          <a:p>
            <a:r>
              <a:t>A tuple supplies an ordered ranking key.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tuple supplies an ordered ranking key</a:t>
            </a:r>
          </a:p>
          <a:p>
            <a:r>
              <a:t/>
            </a:r>
          </a:p>
          <a:p>
            <a:r>
              <a:t>CONNECT</a:t>
            </a:r>
          </a:p>
          <a:p>
            <a:r>
              <a:t>Build on the preceding slide: Expected output.</a:t>
            </a:r>
          </a:p>
          <a:p>
            <a:r>
              <a:t/>
            </a:r>
          </a:p>
          <a:p>
            <a:r>
              <a:t>LECTURER CUE</a:t>
            </a:r>
          </a:p>
          <a:p>
            <a:r>
              <a:t>Demonstrate dictionary field access and ordered comparisons before asking learners to implement selection. A sorted list key can be a tuple: first metric, then speed, then name.</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Sorting with a tie-break rule.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Sorting with a tie-break rule</a:t>
            </a:r>
          </a:p>
          <a:p>
            <a:r>
              <a:t/>
            </a:r>
          </a:p>
          <a:p>
            <a:r>
              <a:t>CONNECT</a:t>
            </a:r>
          </a:p>
          <a:p>
            <a:r>
              <a:t>Build on the preceding slide: A tuple supplies an ordered ranking key.</a:t>
            </a:r>
          </a:p>
          <a:p>
            <a:r>
              <a:t/>
            </a:r>
          </a:p>
          <a:p>
            <a:r>
              <a:t>LECTURER CUE</a:t>
            </a:r>
          </a:p>
          <a:p>
            <a:r>
              <a:t>A tuple is an ordered group of values. Python compares the first item, then the second when tied, then the third. The key function gives sorted the tuple for each candidate. Guard an empty list before selecting position zero.</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Sorting with a named function.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Sorting with a named function</a:t>
            </a:r>
          </a:p>
          <a:p>
            <a:r>
              <a:t/>
            </a:r>
          </a:p>
          <a:p>
            <a:r>
              <a:t>CONNECT</a:t>
            </a:r>
          </a:p>
          <a:p>
            <a:r>
              <a:t>Build on the preceding slide: Sorting with a tie-break rule.</a:t>
            </a:r>
          </a:p>
          <a:p>
            <a:r>
              <a:t/>
            </a:r>
          </a:p>
          <a:p>
            <a:r>
              <a:t>LECTURER CUE</a:t>
            </a:r>
          </a:p>
          <a:p>
            <a:r>
              <a:t>Read one row at a time and use a changed value. This is a syntax reference for the worked examples.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READ THE VISUAL</a:t>
            </a:r>
          </a:p>
          <a:p>
            <a:r>
              <a:t>Start with the title and labels. Read one row or mark aloud, including its unit. Let a learner read a second one before discussing the pattern. Do not infer a numerical value from an unlabelled drawing.</a:t>
            </a:r>
          </a:p>
          <a:p>
            <a:r>
              <a:t/>
            </a:r>
          </a:p>
          <a:p>
            <a:r>
              <a:t>NEXT</a:t>
            </a:r>
          </a:p>
          <a:p>
            <a:r>
              <a:t>Sorting with a tie-break rule in Python.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Sorting with a tie-break rule in Python</a:t>
            </a:r>
          </a:p>
          <a:p>
            <a:r>
              <a:t/>
            </a:r>
          </a:p>
          <a:p>
            <a:r>
              <a:t>CONNECT</a:t>
            </a:r>
          </a:p>
          <a:p>
            <a:r>
              <a:t>Build on the preceding slide: Sorting with a named function.</a:t>
            </a:r>
          </a:p>
          <a:p>
            <a:r>
              <a:t/>
            </a:r>
          </a:p>
          <a:p>
            <a:r>
              <a:t>LECTURER CUE</a:t>
            </a:r>
          </a:p>
          <a:p>
            <a:r>
              <a:t>A tuple is an ordered group of values. Python compares the first item, then the second when tied, then the third. The key function gives sorted the tuple for each candidate. Guard an empty list before selecting position zero.</a:t>
            </a:r>
          </a:p>
          <a:p>
            <a:r>
              <a:t/>
            </a:r>
          </a:p>
          <a:p>
            <a:r>
              <a:t>Complete practice code:</a:t>
            </a:r>
          </a:p>
          <a:p>
            <a:r>
              <a:t>def rank(item):</a:t>
            </a:r>
          </a:p>
          <a:p>
            <a:r>
              <a:t>    return (item["error"], item["ms"], item["name"])</a:t>
            </a:r>
          </a:p>
          <a:p>
            <a:r>
              <a:t/>
            </a:r>
          </a:p>
          <a:p>
            <a:r>
              <a:t>ordered = sorted(eligible, key=rank)</a:t>
            </a:r>
          </a:p>
          <a:p>
            <a:r>
              <a:t>if len(ordered) == 0:</a:t>
            </a:r>
          </a:p>
          <a:p>
            <a:r>
              <a:t>    winner = None</a:t>
            </a:r>
          </a:p>
          <a:p>
            <a:r>
              <a:t>else:</a:t>
            </a:r>
          </a:p>
          <a:p>
            <a:r>
              <a:t>    winner = ordered[0]["name"]</a:t>
            </a:r>
          </a:p>
          <a:p>
            <a:r>
              <a:t>print(winner)</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WALK THROUGH THIS CODE</a:t>
            </a:r>
          </a:p>
          <a:p>
            <a:r>
              <a:t>def names the function. Inputs go inside parentheses.</a:t>
            </a:r>
          </a:p>
          <a:p>
            <a:r>
              <a:t>if tests a condition. The chosen indented block runs.</a:t>
            </a:r>
          </a:p>
          <a:p>
            <a:r>
              <a:t>return sends the result back to the caller.</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NEXT</a:t>
            </a:r>
          </a:p>
          <a:p>
            <a:r>
              <a:t>Words we will use.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Words we will use</a:t>
            </a:r>
          </a:p>
          <a:p>
            <a:r>
              <a:t/>
            </a:r>
          </a:p>
          <a:p>
            <a:r>
              <a:t>CONNECT</a:t>
            </a:r>
          </a:p>
          <a:p>
            <a:r>
              <a:t>Build on the preceding slide: Sorting with a tie-break rule in Python.</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POINT TO THE DEFINITION</a:t>
            </a:r>
          </a:p>
          <a:p>
            <a:r>
              <a:t>Local explanation: Why a model made one particular prediction. This is different from global importance, which summarises behaviour over many cases.</a:t>
            </a:r>
          </a:p>
          <a:p>
            <a:r>
              <a:t>Conditions of use: The cases and operating circumstances for which the available evidence supports considering the model.</a:t>
            </a:r>
          </a:p>
          <a:p>
            <a:r>
              <a:t/>
            </a:r>
          </a:p>
          <a:p>
            <a:r>
              <a:t>NEXT</a:t>
            </a:r>
          </a:p>
          <a:p>
            <a:r>
              <a:t>A recommendation needs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recommendation needs evidence</a:t>
            </a:r>
          </a:p>
          <a:p>
            <a:r>
              <a:t/>
            </a:r>
          </a:p>
          <a:p>
            <a:r>
              <a:t>CONNECT</a:t>
            </a:r>
          </a:p>
          <a:p>
            <a:r>
              <a:t>Build on the preceding slide: Words we will use.</a:t>
            </a:r>
          </a:p>
          <a:p>
            <a:r>
              <a:t/>
            </a:r>
          </a:p>
          <a:p>
            <a:r>
              <a:t>LECTURER CUE</a:t>
            </a:r>
          </a:p>
          <a:p>
            <a:r>
              <a:t>Write a short recommendation: question, fair comparison, chosen candidate, reason, limitation and what new evidence could change the choice.</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You are the model selector.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the model selector</a:t>
            </a:r>
          </a:p>
          <a:p>
            <a:r>
              <a:t/>
            </a:r>
          </a:p>
          <a:p>
            <a:r>
              <a:t>CONNECT</a:t>
            </a:r>
          </a:p>
          <a:p>
            <a:r>
              <a:t>Build on the preceding slide: A recommendation needs evidence.</a:t>
            </a:r>
          </a:p>
          <a:p>
            <a:r>
              <a:t/>
            </a:r>
          </a:p>
          <a:p>
            <a:r>
              <a:t>LECTURER CUE</a:t>
            </a:r>
          </a:p>
          <a:p>
            <a:r>
              <a:t>Do this before revealing the discussion slide. One learner moves or writes the items, the other checks. Swap roles. Every student explains one step. Expected: B fails the time limit. A and C tie on error. C wins because 1 ms is lower than 2 ms.</a:t>
            </a:r>
          </a:p>
          <a:p>
            <a:r>
              <a:t>Wait for an individual prediction before inviting pair discussion. Give a first-step hint if needed.</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the model selector.</a:t>
            </a:r>
          </a:p>
          <a:p>
            <a:r>
              <a:t/>
            </a:r>
          </a:p>
          <a:p>
            <a:r>
              <a:t>LECTURER CUE</a:t>
            </a:r>
          </a:p>
          <a:p>
            <a:r>
              <a:t>Ask which step produced this answer. Return to the concrete action if a learner cannot explain it. This is practice feedback, never a quiz key.</a:t>
            </a:r>
          </a:p>
          <a:p>
            <a:r>
              <a:t/>
            </a:r>
          </a:p>
          <a:p>
            <a:r>
              <a:t>NEXT</a:t>
            </a:r>
          </a:p>
          <a:p>
            <a:r>
              <a:t>Your turn.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turn</a:t>
            </a:r>
          </a:p>
          <a:p>
            <a:r>
              <a:t/>
            </a:r>
          </a:p>
          <a:p>
            <a:r>
              <a:t>CONNECT</a:t>
            </a:r>
          </a:p>
          <a:p>
            <a:r>
              <a:t>Build on the preceding slide: What the activity shows.</a:t>
            </a:r>
          </a:p>
          <a:p>
            <a:r>
              <a:t/>
            </a:r>
          </a:p>
          <a:p>
            <a:r>
              <a:t>LECTURER CUE</a:t>
            </a:r>
          </a:p>
          <a:p>
            <a:r>
              <a:t>Give silent thinking time, then let pairs discuss. Rotate who types. This is practice, not a graded quiz. Expected response: The third model. Both eligible models have error 3, but 1 ms is faster than 2 ms.</a:t>
            </a:r>
          </a:p>
          <a:p>
            <a:r>
              <a:t/>
            </a:r>
          </a:p>
          <a:p>
            <a:r>
              <a:t>DISCUSSION KEY FOR THIS SLIDE</a:t>
            </a:r>
          </a:p>
          <a:p>
            <a:r>
              <a:t>DISCUSS THE REASONING</a:t>
            </a:r>
          </a:p>
          <a:p>
            <a:r>
              <a:t>Practice discussion</a:t>
            </a:r>
          </a:p>
          <a:p>
            <a:r>
              <a:t>The third model. Both eligible models have error 3, but 1 ms is faster than 2 ms.</a:t>
            </a:r>
          </a:p>
          <a:p>
            <a:r>
              <a:t>Which step produced this result? What changes if one input changes?</a:t>
            </a:r>
          </a:p>
          <a:p>
            <a:r>
              <a:t>CML3112   Week 12   23</a:t>
            </a:r>
          </a:p>
          <a:p>
            <a:r>
              <a:t>Let learners attempt first; use this to explain the reasoning, not just reveal the answer.</a:t>
            </a:r>
          </a:p>
          <a:p>
            <a:r>
              <a:t/>
            </a:r>
          </a:p>
          <a:p>
            <a:r>
              <a:t>NEXT</a:t>
            </a:r>
          </a:p>
          <a:p>
            <a:r>
              <a:t>Practice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discussion</a:t>
            </a:r>
          </a:p>
          <a:p>
            <a:r>
              <a:t/>
            </a:r>
          </a:p>
          <a:p>
            <a:r>
              <a:t>CONNECT</a:t>
            </a:r>
          </a:p>
          <a:p>
            <a:r>
              <a:t>Build on the preceding slide: Your turn.</a:t>
            </a:r>
          </a:p>
          <a:p>
            <a:r>
              <a:t/>
            </a:r>
          </a:p>
          <a:p>
            <a:r>
              <a:t>LECTURER CUE</a:t>
            </a:r>
          </a:p>
          <a:p>
            <a:r>
              <a:t>Ask how the result was obtained. Reteach the smallest missing step instead of giving a longer lecture.</a:t>
            </a:r>
          </a:p>
          <a:p>
            <a:r>
              <a:t/>
            </a:r>
          </a:p>
          <a:p>
            <a:r>
              <a:t>NEXT</a:t>
            </a:r>
          </a:p>
          <a:p>
            <a:r>
              <a:t>Short explainer and discussion.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Short explainer and discussion</a:t>
            </a:r>
          </a:p>
          <a:p>
            <a:r>
              <a:t/>
            </a:r>
          </a:p>
          <a:p>
            <a:r>
              <a:t>CONNECT</a:t>
            </a:r>
          </a:p>
          <a:p>
            <a:r>
              <a:t>Build on the preceding slide: Practice discussion.</a:t>
            </a:r>
          </a:p>
          <a:p>
            <a:r>
              <a:t/>
            </a:r>
          </a:p>
          <a:p>
            <a:r>
              <a:t>LECTURER CUE</a:t>
            </a:r>
          </a:p>
          <a:p>
            <a:r>
              <a:t>Linked by the official StatQuest video index. Full audiovisual preview and excerpt timing still required.</a:t>
            </a:r>
          </a:p>
          <a:p>
            <a:r>
              <a:t>After viewing: Explain why our repeated equipment IDs require grouped partitions rather than ordinary random folds.</a:t>
            </a:r>
          </a:p>
          <a:p>
            <a:r>
              <a:t>Preview before class and stop after the selected short excerpt. If playback fails, teach the worked example. Video is optional. Source: https://www.youtube.com/watch?v=fSytzGwwBVw</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VIDEO ROUTINE</a:t>
            </a:r>
          </a:p>
          <a:p>
            <a:r>
              <a:t>Preview the exact link and stated excerpt before class. State the viewing question first, pause after the example, and ask a learner to explain it. If access fails, use the adjacent worked example and discussion rather than spend class time troubleshooting streaming.</a:t>
            </a:r>
          </a:p>
          <a:p>
            <a:r>
              <a:t/>
            </a:r>
          </a:p>
          <a:p>
            <a:r>
              <a:t>NEXT</a:t>
            </a:r>
          </a:p>
          <a:p>
            <a:r>
              <a:t>After the video.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After the video</a:t>
            </a:r>
          </a:p>
          <a:p>
            <a:r>
              <a:t/>
            </a:r>
          </a:p>
          <a:p>
            <a:r>
              <a:t>CONNECT</a:t>
            </a:r>
          </a:p>
          <a:p>
            <a:r>
              <a:t>Build on the preceding slide: Short explainer and discussion.</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NEXT</a:t>
            </a:r>
          </a:p>
          <a:p>
            <a:r>
              <a:t>Preparing for the assignment.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a:t>
            </a:r>
          </a:p>
          <a:p>
            <a:r>
              <a:t/>
            </a:r>
          </a:p>
          <a:p>
            <a:r>
              <a:t>CONNECT</a:t>
            </a:r>
          </a:p>
          <a:p>
            <a:r>
              <a:t>Build on the preceding slide: After the video.</a:t>
            </a:r>
          </a:p>
          <a:p>
            <a:r>
              <a:t/>
            </a:r>
          </a:p>
          <a:p>
            <a:r>
              <a:t>LECTURER CUE</a:t>
            </a:r>
          </a:p>
          <a:p>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Preparing for the assignment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the assignment continued</a:t>
            </a:r>
          </a:p>
          <a:p>
            <a:r>
              <a:t/>
            </a:r>
          </a:p>
          <a:p>
            <a:r>
              <a:t>CONNECT</a:t>
            </a:r>
          </a:p>
          <a:p>
            <a:r>
              <a:t>Build on the preceding slide: Preparing for the assignment.</a:t>
            </a:r>
          </a:p>
          <a:p>
            <a:r>
              <a:t/>
            </a:r>
          </a:p>
          <a:p>
            <a:r>
              <a:t>LECTURER CUE</a:t>
            </a:r>
          </a:p>
          <a:p>
            <a:r>
              <a:t>W12 uses fields name, validation_mae and latency_ms. Meet both inclusive constraints, then rank by error, latency and alphabetical name. Return None if no candidate qualifies. Complete the error function and interpret the separately supplied scenario. Keep project comparisons and graded interfaces distinct.</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Fair comparison and explanation.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Fair comparison and explanation</a:t>
            </a:r>
          </a:p>
          <a:p>
            <a:r>
              <a:t/>
            </a:r>
          </a:p>
          <a:p>
            <a:r>
              <a:t>CONNECT</a:t>
            </a:r>
          </a:p>
          <a:p>
            <a:r>
              <a:t>Build on the preceding slide: Preparing for the assignment continued.</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Fair comparison and explanation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Fair comparison and explanation continued</a:t>
            </a:r>
          </a:p>
          <a:p>
            <a:r>
              <a:t/>
            </a:r>
          </a:p>
          <a:p>
            <a:r>
              <a:t>CONNECT</a:t>
            </a:r>
          </a:p>
          <a:p>
            <a:r>
              <a:t>Build on the preceding slide: Fair comparison and explanation.</a:t>
            </a:r>
          </a:p>
          <a:p>
            <a:r>
              <a:t/>
            </a:r>
          </a:p>
          <a:p>
            <a:r>
              <a:t>LECTURER CUE</a:t>
            </a:r>
          </a:p>
          <a:p>
            <a:r>
              <a:t>Teach these concepts before the weekly quiz. Use changed numbers for practice. This slide supplies concepts, not the quiz key.</a:t>
            </a:r>
          </a:p>
          <a:p>
            <a:r>
              <a:t/>
            </a:r>
          </a:p>
          <a:p>
            <a:r>
              <a:t>EXPLAIN IN ORDINARY WORDS</a:t>
            </a:r>
          </a:p>
          <a:p>
            <a:r>
              <a:t>A condition is a True/False question. Python executes the matching indented branch. = assigns; == compares. &gt;= includes the boundary, while &gt; excludes it.</a:t>
            </a:r>
          </a:p>
          <a:p>
            <a:r>
              <a:t/>
            </a:r>
          </a:p>
          <a:p>
            <a:r>
              <a:t>CHECK AND EXPECTED ANSWER</a:t>
            </a:r>
          </a:p>
          <a:p>
            <a:r>
              <a:t>With value 30, is value &gt;= 30 true? Yes. Is value &gt; 30 true? No.</a:t>
            </a:r>
          </a:p>
          <a:p>
            <a:r>
              <a:t/>
            </a:r>
          </a:p>
          <a:p>
            <a:r>
              <a:t>IF LEARNERS ARE STUCK</a:t>
            </a:r>
          </a:p>
          <a:p>
            <a:r>
              <a:t>Try one value below, at and above the boundary before running the code.</a:t>
            </a:r>
          </a:p>
          <a:p>
            <a:r>
              <a:t/>
            </a:r>
          </a:p>
          <a:p>
            <a:r>
              <a:t>NEXT</a:t>
            </a:r>
          </a:p>
          <a:p>
            <a:r>
              <a:t>Your issued task.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issued task</a:t>
            </a:r>
          </a:p>
          <a:p>
            <a:r>
              <a:t/>
            </a:r>
          </a:p>
          <a:p>
            <a:r>
              <a:t>CONNECT</a:t>
            </a:r>
          </a:p>
          <a:p>
            <a:r>
              <a:t>Build on the preceding slide: Fair comparison and explanation continued.</a:t>
            </a:r>
          </a:p>
          <a:p>
            <a:r>
              <a:t/>
            </a:r>
          </a:p>
          <a:p>
            <a:r>
              <a:t>LECTURER CUE</a:t>
            </a:r>
          </a:p>
          <a:p>
            <a:r>
              <a:t>Investigate building cooling load. Target units: kW. These are synthetic teaching records, not measurements suitable for deployment. Each record is one operating observation; equipment_id repeats across observations.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select_model(candidates, max_mae, max_ms).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select_model(candidates, max_mae, max_ms)</a:t>
            </a:r>
          </a:p>
          <a:p>
            <a:r>
              <a:t/>
            </a:r>
          </a:p>
          <a:p>
            <a:r>
              <a:t>CONNECT</a:t>
            </a:r>
          </a:p>
          <a:p>
            <a:r>
              <a:t>Build on the preceding slide: Your issued task.</a:t>
            </a:r>
          </a:p>
          <a:p>
            <a:r>
              <a:t/>
            </a:r>
          </a:p>
          <a:p>
            <a:r>
              <a:t>LECTURER CUE</a:t>
            </a:r>
          </a:p>
          <a:p>
            <a:r>
              <a:t>Public task contract. Explain input and output types before independent work. Source: IUEA_Teaching_Plan/assessment_banks/W12/CML3112/A/TASKS.md</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NEXT</a:t>
            </a:r>
          </a:p>
          <a:p>
            <a:r>
              <a:t>regression_errors(actual, predicted).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regression_errors(actual, predicted)</a:t>
            </a:r>
          </a:p>
          <a:p>
            <a:r>
              <a:t/>
            </a:r>
          </a:p>
          <a:p>
            <a:r>
              <a:t>CONNECT</a:t>
            </a:r>
          </a:p>
          <a:p>
            <a:r>
              <a:t>Build on the preceding slide: select_model(candidates, max_mae, max_ms).</a:t>
            </a:r>
          </a:p>
          <a:p>
            <a:r>
              <a:t/>
            </a:r>
          </a:p>
          <a:p>
            <a:r>
              <a:t>LECTURER CUE</a:t>
            </a:r>
          </a:p>
          <a:p>
            <a:r>
              <a:t>Public task contract. Explain input and output types before independent work. Source: IUEA_Teaching_Plan/assessment_banks/W12/CML3112/A/TASKS.md</a:t>
            </a:r>
          </a:p>
          <a:p>
            <a:r>
              <a:t/>
            </a:r>
          </a:p>
          <a:p>
            <a:r>
              <a:t>EXPLAIN IN ORDINARY WORDS</a:t>
            </a:r>
          </a:p>
          <a:p>
            <a:r>
              <a:t>An error compares prediction with measured truth. Absolute error ignores direction. MAE averages absolute errors; RMSE squares, averages, then takes a square root. Both use the target unit.</a:t>
            </a:r>
          </a:p>
          <a:p>
            <a:r>
              <a:t/>
            </a:r>
          </a:p>
          <a:p>
            <a:r>
              <a:t>CHECK AND EXPECTED ANSWER</a:t>
            </a:r>
          </a:p>
          <a:p>
            <a:r>
              <a:t>Actual [4,8], predicted [5,6]: prediction-minus-actual errors [1,-2], MAE=1.5, RMSE=sqrt(2.5), about 1.58.</a:t>
            </a:r>
          </a:p>
          <a:p>
            <a:r>
              <a:t/>
            </a:r>
          </a:p>
          <a:p>
            <a:r>
              <a:t>IF LEARNERS ARE STUCK</a:t>
            </a:r>
          </a:p>
          <a:p>
            <a:r>
              <a:t>Calculate one pair by hand first. For signed percentage error follow the precise sign convention in the issued task.</a:t>
            </a:r>
          </a:p>
          <a:p>
            <a:r>
              <a:t/>
            </a:r>
          </a:p>
          <a:p>
            <a:r>
              <a:t>NEXT</a:t>
            </a:r>
          </a:p>
          <a:p>
            <a:r>
              <a:t>Written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Written evidence</a:t>
            </a:r>
          </a:p>
          <a:p>
            <a:r>
              <a:t/>
            </a:r>
          </a:p>
          <a:p>
            <a:r>
              <a:t>CONNECT</a:t>
            </a:r>
          </a:p>
          <a:p>
            <a:r>
              <a:t>Build on the preceding slide: regression_errors(actual, predicted).</a:t>
            </a:r>
          </a:p>
          <a:p>
            <a:r>
              <a:t/>
            </a:r>
          </a:p>
          <a:p>
            <a:r>
              <a:t>LECTURER CUE</a:t>
            </a:r>
          </a:p>
          <a:p>
            <a:r>
              <a:t>Published criterion weights and exact requirements remain in TASKS.md. Broader project exercises are formative and do not add weekly marks. Local automated reasoning assessment remains subject to its release checks.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Model recommendation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Model recommendation submission</a:t>
            </a:r>
          </a:p>
          <a:p>
            <a:r>
              <a:t/>
            </a:r>
          </a:p>
          <a:p>
            <a:r>
              <a:t>CONNECT</a:t>
            </a:r>
          </a:p>
          <a:p>
            <a:r>
              <a:t>Build on the preceding slide: Written evidence.</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Project preparation.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Project preparation</a:t>
            </a:r>
          </a:p>
          <a:p>
            <a:r>
              <a:t/>
            </a:r>
          </a:p>
          <a:p>
            <a:r>
              <a:t>CONNECT</a:t>
            </a:r>
          </a:p>
          <a:p>
            <a:r>
              <a:t>Build on the preceding slide: Model recommendation submission.</a:t>
            </a:r>
          </a:p>
          <a:p>
            <a:r>
              <a:t/>
            </a:r>
          </a:p>
          <a:p>
            <a:r>
              <a:t>LECTURER CUE</a:t>
            </a:r>
          </a:p>
          <a:p>
            <a:r>
              <a:t>Explain the released brief now. Confirm its grading-release checks before assigning it. Avoid treating weekly practice as a substitute for the project evidence. The project brief remains authoritative.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Week 12 quiz.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Week 12 quiz</a:t>
            </a:r>
          </a:p>
          <a:p>
            <a:r>
              <a:t/>
            </a:r>
          </a:p>
          <a:p>
            <a:r>
              <a:t>CONNECT</a:t>
            </a:r>
          </a:p>
          <a:p>
            <a:r>
              <a:t>Build on the preceding slide: Project preparation.</a:t>
            </a:r>
          </a:p>
          <a:p>
            <a:r>
              <a:t/>
            </a:r>
          </a:p>
          <a:p>
            <a:r>
              <a:t>LECTURER CUE</a:t>
            </a:r>
          </a:p>
          <a:p>
            <a:r>
              <a:t>Activate the matching open_W12_CML3112 function in Quiz Controls, then confirm the 24-hour close time. Opening this slide or clicking its link does not activate the form. The 24 hours is the availability window. Keep existing quiz scoring and form rules. Do not show private answer keys.</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Week 12 quiz.</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191db9516a149e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fe53eed4a8e4aa5" /><Relationship Type="http://schemas.openxmlformats.org/officeDocument/2006/relationships/slideLayout" Target="/ppt/slideLayouts/slideLayout1.xml" Id="R6d859011c4ff40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d859011c4ff40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b9d4aaadc4e4367" /><Relationship Type="http://schemas.openxmlformats.org/officeDocument/2006/relationships/image" Target="/ppt/media/image.png" Id="Rb3c20efa4fb84e41" /><Relationship Type="http://schemas.openxmlformats.org/officeDocument/2006/relationships/notesSlide" Target="/ppt/notesSlides/notesSlide1.xml" Id="Rafc11a3c06d1464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f7f787280d54897" /><Relationship Type="http://schemas.openxmlformats.org/officeDocument/2006/relationships/notesSlide" Target="/ppt/notesSlides/notesSlide2.xml" Id="Re3a2ca24b2594a4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e48a2854d28469c" /><Relationship Type="http://schemas.openxmlformats.org/officeDocument/2006/relationships/notesSlide" Target="/ppt/notesSlides/notesSlide3.xml" Id="Ra415bc28bb734eb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554c2e37fc4431e" /><Relationship Type="http://schemas.openxmlformats.org/officeDocument/2006/relationships/notesSlide" Target="/ppt/notesSlides/notesSlide4.xml" Id="R9e3b915e9c2a458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a0e6aae8de444d8" /><Relationship Type="http://schemas.openxmlformats.org/officeDocument/2006/relationships/notesSlide" Target="/ppt/notesSlides/notesSlide5.xml" Id="R17dd0bcc3bf5410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0c7a8e959774c39" /><Relationship Type="http://schemas.openxmlformats.org/officeDocument/2006/relationships/notesSlide" Target="/ppt/notesSlides/notesSlide6.xml" Id="Ra60dbfb32bd9465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27e5f8bd1e742fa" /><Relationship Type="http://schemas.openxmlformats.org/officeDocument/2006/relationships/notesSlide" Target="/ppt/notesSlides/notesSlide7.xml" Id="R4d41ff6b683b48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a1e5367a0b94aef" /><Relationship Type="http://schemas.openxmlformats.org/officeDocument/2006/relationships/notesSlide" Target="/ppt/notesSlides/notesSlide8.xml" Id="R42a8f8fc98004ee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1dcaf1d8a1c444d" /><Relationship Type="http://schemas.openxmlformats.org/officeDocument/2006/relationships/notesSlide" Target="/ppt/notesSlides/notesSlide9.xml" Id="R6b710f362d144ea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5e7704b60b44545" /><Relationship Type="http://schemas.openxmlformats.org/officeDocument/2006/relationships/notesSlide" Target="/ppt/notesSlides/notesSlide10.xml" Id="Rd06d72f300d348c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d379e3410704ab5" /><Relationship Type="http://schemas.openxmlformats.org/officeDocument/2006/relationships/notesSlide" Target="/ppt/notesSlides/notesSlide11.xml" Id="Rb845b4ff3fb7433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636e8794d22427e" /><Relationship Type="http://schemas.openxmlformats.org/officeDocument/2006/relationships/notesSlide" Target="/ppt/notesSlides/notesSlide12.xml" Id="Rd9832f6fd7a5476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7e1d48c0c2c4bd6" /><Relationship Type="http://schemas.openxmlformats.org/officeDocument/2006/relationships/notesSlide" Target="/ppt/notesSlides/notesSlide13.xml" Id="R8d9ff462d90f410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521f2c366934d29" /><Relationship Type="http://schemas.openxmlformats.org/officeDocument/2006/relationships/notesSlide" Target="/ppt/notesSlides/notesSlide14.xml" Id="R8b6975310dc643a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ece26a7ed214ac8" /><Relationship Type="http://schemas.openxmlformats.org/officeDocument/2006/relationships/notesSlide" Target="/ppt/notesSlides/notesSlide15.xml" Id="Rc45dea299b754f6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7530257a4b649bf" /><Relationship Type="http://schemas.openxmlformats.org/officeDocument/2006/relationships/notesSlide" Target="/ppt/notesSlides/notesSlide16.xml" Id="R977b30d52df34f4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ee953c2b991149e6" /><Relationship Type="http://schemas.openxmlformats.org/officeDocument/2006/relationships/notesSlide" Target="/ppt/notesSlides/notesSlide17.xml" Id="Rb8e95d2aa6b7466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6e9dee409da4170" /><Relationship Type="http://schemas.openxmlformats.org/officeDocument/2006/relationships/notesSlide" Target="/ppt/notesSlides/notesSlide18.xml" Id="R5377fcb31e5d482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f61692573e64f13" /><Relationship Type="http://schemas.openxmlformats.org/officeDocument/2006/relationships/notesSlide" Target="/ppt/notesSlides/notesSlide19.xml" Id="Re9d51824debd400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39f7c3b1c7647c6" /><Relationship Type="http://schemas.openxmlformats.org/officeDocument/2006/relationships/notesSlide" Target="/ppt/notesSlides/notesSlide20.xml" Id="Rb731d841fd9146f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4feeca26a3b34fdd" /><Relationship Type="http://schemas.openxmlformats.org/officeDocument/2006/relationships/notesSlide" Target="/ppt/notesSlides/notesSlide21.xml" Id="Rf23c4510d7e64b3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e25a477186948da" /><Relationship Type="http://schemas.openxmlformats.org/officeDocument/2006/relationships/notesSlide" Target="/ppt/notesSlides/notesSlide22.xml" Id="R80b402ddb7334db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7fa31c3963b48b9" /><Relationship Type="http://schemas.openxmlformats.org/officeDocument/2006/relationships/notesSlide" Target="/ppt/notesSlides/notesSlide23.xml" Id="R7510850d80704a3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6ece364d09a840df" /><Relationship Type="http://schemas.openxmlformats.org/officeDocument/2006/relationships/hyperlink" Target="https://www.youtube.com/watch?v=fSytzGwwBVw" TargetMode="External" Id="R5a648da238b54ff3" /><Relationship Type="http://schemas.openxmlformats.org/officeDocument/2006/relationships/notesSlide" Target="/ppt/notesSlides/notesSlide24.xml" Id="R18e78502a51843e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6796398ef9fd47df" /><Relationship Type="http://schemas.openxmlformats.org/officeDocument/2006/relationships/notesSlide" Target="/ppt/notesSlides/notesSlide25.xml" Id="R8ad84db2fea54ce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315870b316f74dd3" /><Relationship Type="http://schemas.openxmlformats.org/officeDocument/2006/relationships/notesSlide" Target="/ppt/notesSlides/notesSlide26.xml" Id="R1d4198f2bb2f404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adf161df8b104148" /><Relationship Type="http://schemas.openxmlformats.org/officeDocument/2006/relationships/notesSlide" Target="/ppt/notesSlides/notesSlide27.xml" Id="R8ae419b9b51947c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eee054d88374fde" /><Relationship Type="http://schemas.openxmlformats.org/officeDocument/2006/relationships/notesSlide" Target="/ppt/notesSlides/notesSlide28.xml" Id="R0e9b0d393d3e439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aed79b9abf6840bb" /><Relationship Type="http://schemas.openxmlformats.org/officeDocument/2006/relationships/notesSlide" Target="/ppt/notesSlides/notesSlide29.xml" Id="Rd97d9c812422449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4b36450aa6ca4708" /><Relationship Type="http://schemas.openxmlformats.org/officeDocument/2006/relationships/notesSlide" Target="/ppt/notesSlides/notesSlide30.xml" Id="R092ed617d3d1496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89fc630ea2dc430c" /><Relationship Type="http://schemas.openxmlformats.org/officeDocument/2006/relationships/notesSlide" Target="/ppt/notesSlides/notesSlide31.xml" Id="R09a1780eaea34d9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b0ba685b91424827" /><Relationship Type="http://schemas.openxmlformats.org/officeDocument/2006/relationships/notesSlide" Target="/ppt/notesSlides/notesSlide32.xml" Id="Rc1629111d25c4c95"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8c14f74765024eb0" /><Relationship Type="http://schemas.openxmlformats.org/officeDocument/2006/relationships/notesSlide" Target="/ppt/notesSlides/notesSlide33.xml" Id="R5fb742f02b5a41a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5f384a48b97141dd" /><Relationship Type="http://schemas.openxmlformats.org/officeDocument/2006/relationships/hyperlink" Target="https://docs.google.com/forms/d/e/1FAIpQLSd4Ltaw1RqRzbW7PoC4_Kh3PZHkElCKA9OY8F_xrJfLnpcbfA/viewform" TargetMode="External" Id="Rd87acaba939f4d1d" /><Relationship Type="http://schemas.openxmlformats.org/officeDocument/2006/relationships/notesSlide" Target="/ppt/notesSlides/notesSlide34.xml" Id="R3c2b63c9a504428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f6eadb8f1f3d4055" /><Relationship Type="http://schemas.openxmlformats.org/officeDocument/2006/relationships/notesSlide" Target="/ppt/notesSlides/notesSlide35.xml" Id="R8701349f19784ca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a1c1c55f428b4726" /><Relationship Type="http://schemas.openxmlformats.org/officeDocument/2006/relationships/image" Target="/ppt/media/image2.png" Id="R97635b21aeda4a23" /><Relationship Type="http://schemas.openxmlformats.org/officeDocument/2006/relationships/hyperlink" Target="https://forms.gle/MKfjP3UWDXAei6FK6" TargetMode="External" Id="R937302e636ee4138" /><Relationship Type="http://schemas.openxmlformats.org/officeDocument/2006/relationships/notesSlide" Target="/ppt/notesSlides/notesSlide36.xml" Id="R33042ebd702b4b0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85bba8d62f3d4760" /><Relationship Type="http://schemas.openxmlformats.org/officeDocument/2006/relationships/notesSlide" Target="/ppt/notesSlides/notesSlide37.xml" Id="R55a1d44f60af443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3c20efa4fb84e4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A6E1859-C85E-4231-81AA-BE9F7AD2463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77A4D48-5D3D-4719-9830-C8EE1B0B2070}"/>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12</a:t>
            </a:r>
          </a:p>
        </p:txBody>
      </p:sp>
      <p:sp>
        <p:nvSpPr>
          <p:cNvPr id="4" name="">
            <a:extLst xmlns:a="http://schemas.openxmlformats.org/drawingml/2006/main">
              <a:ext uri="{FF2B5EF4-FFF2-40B4-BE49-F238E27FC236}">
                <a16:creationId xmlns:a16="http://schemas.microsoft.com/office/drawing/2014/main" id="{86542B3B-86CA-4B67-A6C5-3D75DBDA04F2}"/>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767230FF-C9A8-4FAE-A68A-3F57EB41C18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1D1A399B-8E95-4A0A-9D84-D7FBB3B10B8B}"/>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24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94181095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FA2B5A2-DEF1-457D-8DF5-F67306274F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B85F79-5536-4F69-BB9E-2EFCBBADD4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3D3AC9E5-E6F0-42D0-9999-CB10D1EACA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07B3A18B-D750-4928-8E56-2BA554122838}"/>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E02388-EE04-40DB-A7C7-417F9EF7495B}"/>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06BC41E9-0F99-41CC-B782-6A04F3CFBF2C}"/>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model requirements before ranking candidates.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Apply the tie-break rule and explain the choice.</a:t>
            </a:r>
          </a:p>
        </p:txBody>
      </p:sp>
      <p:sp>
        <p:nvSpPr>
          <p:cNvPr id="7" name="">
            <a:extLst xmlns:a="http://schemas.openxmlformats.org/drawingml/2006/main">
              <a:ext uri="{FF2B5EF4-FFF2-40B4-BE49-F238E27FC236}">
                <a16:creationId xmlns:a16="http://schemas.microsoft.com/office/drawing/2014/main" id="{0B16E5AE-2A66-4139-92C7-DA3EF48E5E06}"/>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BB7EE270-2189-4E40-AEEB-EC762E7714C5}"/>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justify a valid candidate with evidence and a stated limitation.</a:t>
            </a:r>
          </a:p>
        </p:txBody>
      </p:sp>
      <p:sp>
        <p:nvSpPr>
          <p:cNvPr id="9" name="">
            <a:extLst xmlns:a="http://schemas.openxmlformats.org/drawingml/2006/main">
              <a:ext uri="{FF2B5EF4-FFF2-40B4-BE49-F238E27FC236}">
                <a16:creationId xmlns:a16="http://schemas.microsoft.com/office/drawing/2014/main" id="{DB7FA41E-DAA6-45F5-B6DE-CC588D3AE8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a:t>
            </a:r>
          </a:p>
        </p:txBody>
      </p:sp>
    </p:spTree>
    <p:extLst>
      <p:ext uri="{BB962C8B-B14F-4D97-AF65-F5344CB8AC3E}">
        <p14:creationId xmlns:p14="http://schemas.microsoft.com/office/powerpoint/2010/main" val="1009353736"/>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829A9C-BE0D-42B6-8CC0-CA21BA60D4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A561F856-4185-4557-B77B-94BD61939C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8319F51F-70EB-40A1-A4EA-BB40A9999D1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03BD3F45-EA26-44C7-9102-224367383C2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Which metric is smaller-is-better? Why compare on the same validation rows?</a:t>
            </a:r>
          </a:p>
        </p:txBody>
      </p:sp>
      <p:sp>
        <p:nvSpPr>
          <p:cNvPr id="5" name="">
            <a:extLst xmlns:a="http://schemas.openxmlformats.org/drawingml/2006/main">
              <a:ext uri="{FF2B5EF4-FFF2-40B4-BE49-F238E27FC236}">
                <a16:creationId xmlns:a16="http://schemas.microsoft.com/office/drawing/2014/main" id="{6DFA4D95-D519-4647-9882-D5FA11F010B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60D5225D-2E37-4AA5-B9E7-510A9E54C2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12   3</a:t>
            </a:r>
          </a:p>
        </p:txBody>
      </p:sp>
    </p:spTree>
    <p:extLst>
      <p:ext uri="{BB962C8B-B14F-4D97-AF65-F5344CB8AC3E}">
        <p14:creationId xmlns:p14="http://schemas.microsoft.com/office/powerpoint/2010/main" val="183005025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6ED9D86-D6C1-401E-9FD7-D5841DCF36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00FC57-AF9B-4A01-B62A-E99A45A415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A3559595-CE00-42AD-B3A3-A0F260C1DB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47861470-5CBF-490F-B0E6-A5F9794FF9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858387-AB17-438E-AEB1-ECA426523B2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building team records indoor temperature to investigate comfort.</a:t>
            </a:r>
          </a:p>
        </p:txBody>
      </p:sp>
      <p:sp>
        <p:nvSpPr>
          <p:cNvPr id="6" name="">
            <a:extLst xmlns:a="http://schemas.openxmlformats.org/drawingml/2006/main">
              <a:ext uri="{FF2B5EF4-FFF2-40B4-BE49-F238E27FC236}">
                <a16:creationId xmlns:a16="http://schemas.microsoft.com/office/drawing/2014/main" id="{2A9B5C67-6F77-44D4-99B5-6FEE2D439BF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9B32911-B3C8-49CC-8AD5-03B571D4197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Civil students can discuss construction and inspection; architecture students can discuss shading and ventilation.</a:t>
            </a:r>
          </a:p>
        </p:txBody>
      </p:sp>
      <p:sp>
        <p:nvSpPr>
          <p:cNvPr id="8" name="">
            <a:extLst xmlns:a="http://schemas.openxmlformats.org/drawingml/2006/main">
              <a:ext uri="{FF2B5EF4-FFF2-40B4-BE49-F238E27FC236}">
                <a16:creationId xmlns:a16="http://schemas.microsoft.com/office/drawing/2014/main" id="{4E6E97B3-EB4E-46CD-ACE6-BD26CA05A77B}"/>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C7BFA80-3493-4BE6-B2DF-36457C4082F2}"/>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measurement includes a number and its unit.</a:t>
            </a:r>
          </a:p>
        </p:txBody>
      </p:sp>
      <p:sp>
        <p:nvSpPr>
          <p:cNvPr id="10" name="">
            <a:extLst xmlns:a="http://schemas.openxmlformats.org/drawingml/2006/main">
              <a:ext uri="{FF2B5EF4-FFF2-40B4-BE49-F238E27FC236}">
                <a16:creationId xmlns:a16="http://schemas.microsoft.com/office/drawing/2014/main" id="{69BB587F-3A5F-4A7B-BA25-24855F4D9A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4</a:t>
            </a:r>
          </a:p>
        </p:txBody>
      </p:sp>
    </p:spTree>
    <p:extLst>
      <p:ext uri="{BB962C8B-B14F-4D97-AF65-F5344CB8AC3E}">
        <p14:creationId xmlns:p14="http://schemas.microsoft.com/office/powerpoint/2010/main" val="11657006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796C992-9EE6-477F-91CA-EADCEFB981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A53AF0D-47AB-4F26-9A67-86A20A2316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2DCB966-1367-4BA9-9FAD-E24972A342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C0EFD5BC-5878-4077-8B75-3A47D50675E0}"/>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DFF96D1-617C-4DC0-9B2B-9EFDCFDCA17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Constraint</a:t>
            </a:r>
          </a:p>
        </p:txBody>
      </p:sp>
      <p:sp>
        <p:nvSpPr>
          <p:cNvPr id="6" name="">
            <a:extLst xmlns:a="http://schemas.openxmlformats.org/drawingml/2006/main">
              <a:ext uri="{FF2B5EF4-FFF2-40B4-BE49-F238E27FC236}">
                <a16:creationId xmlns:a16="http://schemas.microsoft.com/office/drawing/2014/main" id="{E80883A9-DE4B-4F57-990A-4305E6F4741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condition a candidate must satisfy, such as MAE at most 3 and latency at most 10 ms.</a:t>
            </a:r>
          </a:p>
        </p:txBody>
      </p:sp>
      <p:sp>
        <p:nvSpPr>
          <p:cNvPr id="7" name="">
            <a:extLst xmlns:a="http://schemas.openxmlformats.org/drawingml/2006/main">
              <a:ext uri="{FF2B5EF4-FFF2-40B4-BE49-F238E27FC236}">
                <a16:creationId xmlns:a16="http://schemas.microsoft.com/office/drawing/2014/main" id="{72958FF0-292F-4578-BC9E-BC69E40A991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AA2B402-37F3-449B-AE09-9EF694BBEB1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Latency</a:t>
            </a:r>
          </a:p>
        </p:txBody>
      </p:sp>
      <p:sp>
        <p:nvSpPr>
          <p:cNvPr id="9" name="">
            <a:extLst xmlns:a="http://schemas.openxmlformats.org/drawingml/2006/main">
              <a:ext uri="{FF2B5EF4-FFF2-40B4-BE49-F238E27FC236}">
                <a16:creationId xmlns:a16="http://schemas.microsoft.com/office/drawing/2014/main" id="{54BE2A92-BCCB-4DAC-BD7E-14EA25179C1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Time taken to produce a prediction under stated measurement conditions. Hardware and measurement method matter.</a:t>
            </a:r>
          </a:p>
        </p:txBody>
      </p:sp>
      <p:sp>
        <p:nvSpPr>
          <p:cNvPr id="10" name="">
            <a:extLst xmlns:a="http://schemas.openxmlformats.org/drawingml/2006/main">
              <a:ext uri="{FF2B5EF4-FFF2-40B4-BE49-F238E27FC236}">
                <a16:creationId xmlns:a16="http://schemas.microsoft.com/office/drawing/2014/main" id="{94FED7CF-4AED-4485-81F0-3196EBBAC9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5</a:t>
            </a:r>
          </a:p>
        </p:txBody>
      </p:sp>
    </p:spTree>
    <p:extLst>
      <p:ext uri="{BB962C8B-B14F-4D97-AF65-F5344CB8AC3E}">
        <p14:creationId xmlns:p14="http://schemas.microsoft.com/office/powerpoint/2010/main" val="213187396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AF2B8B-9300-4951-9F50-7504D43948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84A3828-D53B-4C05-9C2F-1689744223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10C032D5-6E1D-4533-805F-7617F92328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4B611577-FD61-43E5-AC2F-9AC776366D4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0E349CF-1258-4B00-A561-73E441CF407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Tie-break</a:t>
            </a:r>
          </a:p>
        </p:txBody>
      </p:sp>
      <p:sp>
        <p:nvSpPr>
          <p:cNvPr id="6" name="">
            <a:extLst xmlns:a="http://schemas.openxmlformats.org/drawingml/2006/main">
              <a:ext uri="{FF2B5EF4-FFF2-40B4-BE49-F238E27FC236}">
                <a16:creationId xmlns:a16="http://schemas.microsoft.com/office/drawing/2014/main" id="{ADDD8B76-B24E-440E-9E84-0C965314109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published rule for choosing between candidates that tie on the main criterion.</a:t>
            </a:r>
          </a:p>
        </p:txBody>
      </p:sp>
      <p:sp>
        <p:nvSpPr>
          <p:cNvPr id="7" name="">
            <a:extLst xmlns:a="http://schemas.openxmlformats.org/drawingml/2006/main">
              <a:ext uri="{FF2B5EF4-FFF2-40B4-BE49-F238E27FC236}">
                <a16:creationId xmlns:a16="http://schemas.microsoft.com/office/drawing/2014/main" id="{5AB9A258-B684-41EA-813D-F2DE07237A4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20F5009-D557-4EC1-BA38-F96E276329F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Hyperparameter</a:t>
            </a:r>
          </a:p>
        </p:txBody>
      </p:sp>
      <p:sp>
        <p:nvSpPr>
          <p:cNvPr id="9" name="">
            <a:extLst xmlns:a="http://schemas.openxmlformats.org/drawingml/2006/main">
              <a:ext uri="{FF2B5EF4-FFF2-40B4-BE49-F238E27FC236}">
                <a16:creationId xmlns:a16="http://schemas.microsoft.com/office/drawing/2014/main" id="{24A1A9FC-FE4D-45B4-9EFA-5B78FB8A083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setting chosen before fitting, such as tree depth. Tune using validation or cross-validation, not the final test.</a:t>
            </a:r>
          </a:p>
        </p:txBody>
      </p:sp>
      <p:sp>
        <p:nvSpPr>
          <p:cNvPr id="10" name="">
            <a:extLst xmlns:a="http://schemas.openxmlformats.org/drawingml/2006/main">
              <a:ext uri="{FF2B5EF4-FFF2-40B4-BE49-F238E27FC236}">
                <a16:creationId xmlns:a16="http://schemas.microsoft.com/office/drawing/2014/main" id="{41AC7C80-90FC-4E9C-BFF5-09833A14EA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6</a:t>
            </a:r>
          </a:p>
        </p:txBody>
      </p:sp>
    </p:spTree>
    <p:extLst>
      <p:ext uri="{BB962C8B-B14F-4D97-AF65-F5344CB8AC3E}">
        <p14:creationId xmlns:p14="http://schemas.microsoft.com/office/powerpoint/2010/main" val="209111310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A0053F9-C48C-4567-A921-1CD76C94383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F031E70-C3CB-4B91-8CC3-B94A597897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637DB26-7959-434F-B4DA-CABAB74894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Error and practical constraints</a:t>
            </a:r>
          </a:p>
        </p:txBody>
      </p:sp>
      <p:sp>
        <p:nvSpPr>
          <p:cNvPr id="4" name="">
            <a:extLst xmlns:a="http://schemas.openxmlformats.org/drawingml/2006/main">
              <a:ext uri="{FF2B5EF4-FFF2-40B4-BE49-F238E27FC236}">
                <a16:creationId xmlns:a16="http://schemas.microsoft.com/office/drawing/2014/main" id="{AC70F67D-3F1F-4FAC-9B5E-9AD89AFC4E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6018564-A887-459A-BAB3-DFB7778DA0D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smaller error can require more computation.</a:t>
            </a:r>
          </a:p>
        </p:txBody>
      </p:sp>
      <p:sp>
        <p:nvSpPr>
          <p:cNvPr id="6" name="">
            <a:extLst xmlns:a="http://schemas.openxmlformats.org/drawingml/2006/main">
              <a:ext uri="{FF2B5EF4-FFF2-40B4-BE49-F238E27FC236}">
                <a16:creationId xmlns:a16="http://schemas.microsoft.com/office/drawing/2014/main" id="{6CA9D04B-1055-432B-A969-84047326D3A8}"/>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EA59E3-F996-42CE-A907-E9B394671A05}"/>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candidate must meet every stated requirement.</a:t>
            </a:r>
          </a:p>
        </p:txBody>
      </p:sp>
      <p:sp>
        <p:nvSpPr>
          <p:cNvPr id="8" name="">
            <a:extLst xmlns:a="http://schemas.openxmlformats.org/drawingml/2006/main">
              <a:ext uri="{FF2B5EF4-FFF2-40B4-BE49-F238E27FC236}">
                <a16:creationId xmlns:a16="http://schemas.microsoft.com/office/drawing/2014/main" id="{E7253E71-55DB-4801-9E9F-BFAF5F1BDC8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3ABBFC0-43D4-4323-899E-8B76FE3E34C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eligible models on the same validation observations.</a:t>
            </a:r>
          </a:p>
        </p:txBody>
      </p:sp>
      <p:sp>
        <p:nvSpPr>
          <p:cNvPr id="10" name="">
            <a:extLst xmlns:a="http://schemas.openxmlformats.org/drawingml/2006/main">
              <a:ext uri="{FF2B5EF4-FFF2-40B4-BE49-F238E27FC236}">
                <a16:creationId xmlns:a16="http://schemas.microsoft.com/office/drawing/2014/main" id="{E724FAF3-9769-4B42-9A82-068A71D15EF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312A881-83F5-48FF-A00B-1902B1120D1B}"/>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the published tie-break rule when scores tie.</a:t>
            </a:r>
          </a:p>
        </p:txBody>
      </p:sp>
      <p:sp>
        <p:nvSpPr>
          <p:cNvPr id="12" name="">
            <a:extLst xmlns:a="http://schemas.openxmlformats.org/drawingml/2006/main">
              <a:ext uri="{FF2B5EF4-FFF2-40B4-BE49-F238E27FC236}">
                <a16:creationId xmlns:a16="http://schemas.microsoft.com/office/drawing/2014/main" id="{004871E4-0DF1-49F1-8234-D1BEC53367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7</a:t>
            </a:r>
          </a:p>
        </p:txBody>
      </p:sp>
    </p:spTree>
    <p:extLst>
      <p:ext uri="{BB962C8B-B14F-4D97-AF65-F5344CB8AC3E}">
        <p14:creationId xmlns:p14="http://schemas.microsoft.com/office/powerpoint/2010/main" val="148395717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845F19-5C7A-4944-A975-63B97BC848F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BB8A23-2A79-4A2D-84EF-4F32CD7B41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9798081-8537-4009-A000-998E092441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model comparison needs a fair test</a:t>
            </a:r>
          </a:p>
        </p:txBody>
      </p:sp>
      <p:sp>
        <p:nvSpPr>
          <p:cNvPr id="4" name="">
            <a:extLst xmlns:a="http://schemas.openxmlformats.org/drawingml/2006/main">
              <a:ext uri="{FF2B5EF4-FFF2-40B4-BE49-F238E27FC236}">
                <a16:creationId xmlns:a16="http://schemas.microsoft.com/office/drawing/2014/main" id="{63829157-C479-4E7E-BE8F-395546912A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528D9B0-EBDA-49A6-9C8C-082BBBA424A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validation observations for every candidate.</a:t>
            </a:r>
          </a:p>
        </p:txBody>
      </p:sp>
      <p:sp>
        <p:nvSpPr>
          <p:cNvPr id="6" name="">
            <a:extLst xmlns:a="http://schemas.openxmlformats.org/drawingml/2006/main">
              <a:ext uri="{FF2B5EF4-FFF2-40B4-BE49-F238E27FC236}">
                <a16:creationId xmlns:a16="http://schemas.microsoft.com/office/drawing/2014/main" id="{69A782FC-269A-404E-A5E7-D3232A887BF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26A03D5-9F6F-4739-8FDC-67F76126331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preprocessing on training data only.</a:t>
            </a:r>
          </a:p>
        </p:txBody>
      </p:sp>
      <p:sp>
        <p:nvSpPr>
          <p:cNvPr id="8" name="">
            <a:extLst xmlns:a="http://schemas.openxmlformats.org/drawingml/2006/main">
              <a:ext uri="{FF2B5EF4-FFF2-40B4-BE49-F238E27FC236}">
                <a16:creationId xmlns:a16="http://schemas.microsoft.com/office/drawing/2014/main" id="{77D52DA5-A05D-4A4B-AAFB-1BFB6E128279}"/>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C8694F-EC7D-4640-AED0-3A765CA9D28C}"/>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the error measure and practical requirements before inspecting results.</a:t>
            </a:r>
          </a:p>
        </p:txBody>
      </p:sp>
      <p:sp>
        <p:nvSpPr>
          <p:cNvPr id="10" name="">
            <a:extLst xmlns:a="http://schemas.openxmlformats.org/drawingml/2006/main">
              <a:ext uri="{FF2B5EF4-FFF2-40B4-BE49-F238E27FC236}">
                <a16:creationId xmlns:a16="http://schemas.microsoft.com/office/drawing/2014/main" id="{E7C3E2A2-8EDA-4A46-AC11-CD02C45C50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8</a:t>
            </a:r>
          </a:p>
        </p:txBody>
      </p:sp>
    </p:spTree>
    <p:extLst>
      <p:ext uri="{BB962C8B-B14F-4D97-AF65-F5344CB8AC3E}">
        <p14:creationId xmlns:p14="http://schemas.microsoft.com/office/powerpoint/2010/main" val="25929506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1566A69-31C7-4A55-8994-AA148BCEB7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26CD866-C389-435A-A69E-3DFFA9D72F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59CCA8-BBC2-433F-B580-BACCB73089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Eligibility comes before ranking</a:t>
            </a:r>
          </a:p>
        </p:txBody>
      </p:sp>
      <p:sp>
        <p:nvSpPr>
          <p:cNvPr id="4" name="">
            <a:extLst xmlns:a="http://schemas.openxmlformats.org/drawingml/2006/main">
              <a:ext uri="{FF2B5EF4-FFF2-40B4-BE49-F238E27FC236}">
                <a16:creationId xmlns:a16="http://schemas.microsoft.com/office/drawing/2014/main" id="{6BF26CB9-14A3-46CB-8BFC-DB80884297B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8BD7FE5-4B94-4447-80F7-91084FE5F84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check every stated requirement for each candidate.</a:t>
            </a:r>
          </a:p>
        </p:txBody>
      </p:sp>
      <p:sp>
        <p:nvSpPr>
          <p:cNvPr id="6" name="">
            <a:extLst xmlns:a="http://schemas.openxmlformats.org/drawingml/2006/main">
              <a:ext uri="{FF2B5EF4-FFF2-40B4-BE49-F238E27FC236}">
                <a16:creationId xmlns:a16="http://schemas.microsoft.com/office/drawing/2014/main" id="{18B18611-86F7-4A8F-8AF2-6832A22A8D4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5BBA488-91D4-4991-BF49-73F5D7AC487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Reject a candidate that fails even one requirement.</a:t>
            </a:r>
          </a:p>
        </p:txBody>
      </p:sp>
      <p:sp>
        <p:nvSpPr>
          <p:cNvPr id="8" name="">
            <a:extLst xmlns:a="http://schemas.openxmlformats.org/drawingml/2006/main">
              <a:ext uri="{FF2B5EF4-FFF2-40B4-BE49-F238E27FC236}">
                <a16:creationId xmlns:a16="http://schemas.microsoft.com/office/drawing/2014/main" id="{B5DF871C-E5FE-4E4B-AEEA-CB2745858D7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B29EE1C-628F-4ABB-A541-20C7695531B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Rank the eligible candidates using the published tie-break rule.</a:t>
            </a:r>
          </a:p>
        </p:txBody>
      </p:sp>
      <p:sp>
        <p:nvSpPr>
          <p:cNvPr id="10" name="">
            <a:extLst xmlns:a="http://schemas.openxmlformats.org/drawingml/2006/main">
              <a:ext uri="{FF2B5EF4-FFF2-40B4-BE49-F238E27FC236}">
                <a16:creationId xmlns:a16="http://schemas.microsoft.com/office/drawing/2014/main" id="{176DCBE1-48A2-4298-9AE1-929044A750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9</a:t>
            </a:r>
          </a:p>
        </p:txBody>
      </p:sp>
    </p:spTree>
    <p:extLst>
      <p:ext uri="{BB962C8B-B14F-4D97-AF65-F5344CB8AC3E}">
        <p14:creationId xmlns:p14="http://schemas.microsoft.com/office/powerpoint/2010/main" val="75292773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4EFE65-7F5B-4FBC-8BD7-B403C9F85A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CA11BFF-0669-4BB0-A326-9229A77524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D99EDD66-501F-44B3-9181-CDB99D029E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constrained model choice</a:t>
            </a:r>
          </a:p>
        </p:txBody>
      </p:sp>
      <p:graphicFrame>
        <p:nvGraphicFramePr>
          <p:cNvPr id="10" name=""/>
          <p:cNvGraphicFramePr/>
          <p:nvPr/>
        </p:nvGraphicFramePr>
        <p:xfrm>
          <a:off xmlns:a="http://schemas.openxmlformats.org/drawingml/2006/main" x="590550" y="1733550"/>
          <a:ext xmlns:a="http://schemas.openxmlformats.org/drawingml/2006/main" cx="11010900" cy="2286000"/>
        </p:xfrm>
        <a:graphic xmlns:a="http://schemas.openxmlformats.org/drawingml/2006/main">
          <a:graphicData uri="http://schemas.openxmlformats.org/drawingml/2006/table">
            <a:tbl>
              <a:tblPr/>
              <a:tblGrid>
                <a:gridCol w="3670300"/>
                <a:gridCol w="3670300"/>
                <a:gridCol w="3670300"/>
              </a:tblGrid>
              <a:tr h="762000">
                <a:tc>
                  <a:txBody>
                    <a:bodyPr/>
                    <a:lstStyle/>
                    <a:p>
                      <a:r>
                        <a:rPr sz="2025" b="1">
                          <a:solidFill>
                            <a:srgbClr val="FFFFFF"/>
                          </a:solidFill>
                          <a:latin typeface="Calibri"/>
                          <a:ea typeface="Calibri"/>
                          <a:cs typeface="Calibri"/>
                        </a:rPr>
                        <a:t>Candidate</a:t>
                      </a:r>
                    </a:p>
                  </a:txBody>
                  <a:tcPr marL="91440" marR="91440" marT="45720" marB="45720">
                    <a:solidFill>
                      <a:srgbClr val="2E7D6F"/>
                    </a:solidFill>
                  </a:tcPr>
                </a:tc>
                <a:tc>
                  <a:txBody>
                    <a:bodyPr/>
                    <a:lstStyle/>
                    <a:p>
                      <a:r>
                        <a:rPr sz="2025" b="1">
                          <a:solidFill>
                            <a:srgbClr val="FFFFFF"/>
                          </a:solidFill>
                          <a:latin typeface="Calibri"/>
                          <a:ea typeface="Calibri"/>
                          <a:cs typeface="Calibri"/>
                        </a:rPr>
                        <a:t>Validation error</a:t>
                      </a:r>
                    </a:p>
                  </a:txBody>
                  <a:tcPr marL="91440" marR="91440" marT="45720" marB="45720">
                    <a:solidFill>
                      <a:srgbClr val="2E7D6F"/>
                    </a:solidFill>
                  </a:tcPr>
                </a:tc>
                <a:tc>
                  <a:txBody>
                    <a:bodyPr/>
                    <a:lstStyle/>
                    <a:p>
                      <a:r>
                        <a:rPr sz="2025" b="1">
                          <a:solidFill>
                            <a:srgbClr val="FFFFFF"/>
                          </a:solidFill>
                          <a:latin typeface="Calibri"/>
                          <a:ea typeface="Calibri"/>
                          <a:cs typeface="Calibri"/>
                        </a:rPr>
                        <a:t>Time (ms)</a:t>
                      </a:r>
                    </a:p>
                  </a:txBody>
                  <a:tcPr marL="91440" marR="91440" marT="45720" marB="45720">
                    <a:solidFill>
                      <a:srgbClr val="2E7D6F"/>
                    </a:solidFill>
                  </a:tcPr>
                </a:tc>
              </a:tr>
              <a:tr h="762000">
                <a:tc>
                  <a:txBody>
                    <a:bodyPr/>
                    <a:lstStyle/>
                    <a:p>
                      <a:r>
                        <a:rPr sz="2025" b="0">
                          <a:solidFill>
                            <a:srgbClr val="1C3144"/>
                          </a:solidFill>
                          <a:latin typeface="Calibri"/>
                          <a:ea typeface="Calibri"/>
                          <a:cs typeface="Calibri"/>
                        </a:rPr>
                        <a:t>simple</a:t>
                      </a:r>
                    </a:p>
                  </a:txBody>
                  <a:tcPr marL="91440" marR="91440" marT="45720" marB="45720">
                    <a:solidFill>
                      <a:srgbClr val="EEF3F6"/>
                    </a:solidFill>
                  </a:tcPr>
                </a:tc>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2</a:t>
                      </a:r>
                    </a:p>
                  </a:txBody>
                  <a:tcPr marL="91440" marR="91440" marT="45720" marB="45720">
                    <a:solidFill>
                      <a:srgbClr val="EEF3F6"/>
                    </a:solidFill>
                  </a:tcPr>
                </a:tc>
              </a:tr>
              <a:tr h="762000">
                <a:tc>
                  <a:txBody>
                    <a:bodyPr/>
                    <a:lstStyle/>
                    <a:p>
                      <a:r>
                        <a:rPr sz="2025" b="0">
                          <a:solidFill>
                            <a:srgbClr val="1C3144"/>
                          </a:solidFill>
                          <a:latin typeface="Calibri"/>
                          <a:ea typeface="Calibri"/>
                          <a:cs typeface="Calibri"/>
                        </a:rPr>
                        <a:t>complex</a:t>
                      </a:r>
                    </a:p>
                  </a:txBody>
                  <a:tcPr marL="91440" marR="91440" marT="45720" marB="45720">
                    <a:solidFill>
                      <a:srgbClr val="FFFFFF"/>
                    </a:solidFill>
                  </a:tcPr>
                </a:tc>
                <a:tc>
                  <a:txBody>
                    <a:bodyPr/>
                    <a:lstStyle/>
                    <a:p>
                      <a:r>
                        <a:rPr sz="2025" b="0">
                          <a:solidFill>
                            <a:srgbClr val="1C3144"/>
                          </a:solidFill>
                          <a:latin typeface="Calibri"/>
                          <a:ea typeface="Calibri"/>
                          <a:cs typeface="Calibri"/>
                        </a:rPr>
                        <a:t>1</a:t>
                      </a:r>
                    </a:p>
                  </a:txBody>
                  <a:tcPr marL="91440" marR="91440" marT="45720" marB="45720">
                    <a:solidFill>
                      <a:srgbClr val="FFFFFF"/>
                    </a:solidFill>
                  </a:tcPr>
                </a:tc>
                <a:tc>
                  <a:txBody>
                    <a:bodyPr/>
                    <a:lstStyle/>
                    <a:p>
                      <a:r>
                        <a:rPr sz="2025" b="0">
                          <a:solidFill>
                            <a:srgbClr val="1C3144"/>
                          </a:solidFill>
                          <a:latin typeface="Calibri"/>
                          <a:ea typeface="Calibri"/>
                          <a:cs typeface="Calibri"/>
                        </a:rPr>
                        <a:t>20</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6C458245-4843-461E-8846-2EC3A87F9472}"/>
              </a:ext>
            </a:extLst>
          </p:cNvPr>
          <p:cNvSpPr>
            <a:spLocks xmlns:a="http://schemas.openxmlformats.org/drawingml/2006/main" noGrp="1"/>
          </p:cNvSpPr>
          <p:nvPr/>
        </p:nvSpPr>
        <p:spPr>
          <a:xfrm xmlns:a="http://schemas.openxmlformats.org/drawingml/2006/main">
            <a:off x="685800" y="433387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Invented requirements: error at most 3 and time at most 10 ms.</a:t>
            </a:r>
          </a:p>
        </p:txBody>
      </p:sp>
      <p:sp>
        <p:nvSpPr>
          <p:cNvPr id="6" name="">
            <a:extLst xmlns:a="http://schemas.openxmlformats.org/drawingml/2006/main">
              <a:ext uri="{FF2B5EF4-FFF2-40B4-BE49-F238E27FC236}">
                <a16:creationId xmlns:a16="http://schemas.microsoft.com/office/drawing/2014/main" id="{5A3349FD-C5A0-422D-BA0D-C952CAB9E5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10</a:t>
            </a:r>
          </a:p>
        </p:txBody>
      </p:sp>
    </p:spTree>
    <p:extLst>
      <p:ext uri="{BB962C8B-B14F-4D97-AF65-F5344CB8AC3E}">
        <p14:creationId xmlns:p14="http://schemas.microsoft.com/office/powerpoint/2010/main" val="155485542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C85E219-8E31-479D-A277-FBD560C75F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4E981E-58C1-4439-944A-2C26C2DB87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3A9E685-AC85-48A6-BE22-E9256F0667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(1/2)</a:t>
            </a:r>
          </a:p>
        </p:txBody>
      </p:sp>
      <p:sp>
        <p:nvSpPr>
          <p:cNvPr id="4" name="">
            <a:extLst xmlns:a="http://schemas.openxmlformats.org/drawingml/2006/main">
              <a:ext uri="{FF2B5EF4-FFF2-40B4-BE49-F238E27FC236}">
                <a16:creationId xmlns:a16="http://schemas.microsoft.com/office/drawing/2014/main" id="{E2C68DA7-A709-4109-9A06-ED1ADEE7680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F76DB48-3AD8-41FF-B353-4966A88ED36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candidates = [{"name": "simple", "error": 3, "ms": 2},</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 "complex", "error": 1, "ms": 20}]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eligible = []</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item in candidates: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item["error"] &lt;= 3 and item["ms"] &lt;= 10: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eligible.append(item)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names =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for item in eligible: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names.append(item["name"])</a:t>
            </a:r>
          </a:p>
        </p:txBody>
      </p:sp>
      <p:sp>
        <p:nvSpPr>
          <p:cNvPr id="6" name="">
            <a:extLst xmlns:a="http://schemas.openxmlformats.org/drawingml/2006/main">
              <a:ext uri="{FF2B5EF4-FFF2-40B4-BE49-F238E27FC236}">
                <a16:creationId xmlns:a16="http://schemas.microsoft.com/office/drawing/2014/main" id="{0A189D26-1AD4-4941-B94C-3D75EABAF2A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BF5410EB-613B-4DF3-9B16-A616906C48E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803CAF06-5F21-4369-85F8-480300BFF7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11</a:t>
            </a:r>
          </a:p>
        </p:txBody>
      </p:sp>
    </p:spTree>
    <p:extLst>
      <p:ext uri="{BB962C8B-B14F-4D97-AF65-F5344CB8AC3E}">
        <p14:creationId xmlns:p14="http://schemas.microsoft.com/office/powerpoint/2010/main" val="97199989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ACAAB85-FF10-4BB7-9363-226460E7BBD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A8CE48-0E00-4D19-9B0A-D74D1674D8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838B770-B2FF-4465-89D6-426D5B5CC3D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 (2/2)</a:t>
            </a:r>
          </a:p>
        </p:txBody>
      </p:sp>
      <p:sp>
        <p:nvSpPr>
          <p:cNvPr id="4" name="">
            <a:extLst xmlns:a="http://schemas.openxmlformats.org/drawingml/2006/main">
              <a:ext uri="{FF2B5EF4-FFF2-40B4-BE49-F238E27FC236}">
                <a16:creationId xmlns:a16="http://schemas.microsoft.com/office/drawing/2014/main" id="{CF969900-899E-4412-9261-CA217A8FF9E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E82FFBE-B10B-4977-BBF7-F1A08EA1C80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print(names)</a:t>
            </a:r>
          </a:p>
        </p:txBody>
      </p:sp>
      <p:sp>
        <p:nvSpPr>
          <p:cNvPr id="6" name="">
            <a:extLst xmlns:a="http://schemas.openxmlformats.org/drawingml/2006/main">
              <a:ext uri="{FF2B5EF4-FFF2-40B4-BE49-F238E27FC236}">
                <a16:creationId xmlns:a16="http://schemas.microsoft.com/office/drawing/2014/main" id="{56704E7E-0C00-4E9E-94EE-A33953CCE7C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45404C2-0985-44D6-8A5D-446E543801E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B3E18E8-4932-4611-A700-308C3296CF6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9" name="">
            <a:extLst xmlns:a="http://schemas.openxmlformats.org/drawingml/2006/main">
              <a:ext uri="{FF2B5EF4-FFF2-40B4-BE49-F238E27FC236}">
                <a16:creationId xmlns:a16="http://schemas.microsoft.com/office/drawing/2014/main" id="{17BFE4C4-0118-43E0-9391-7F34F73916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12</a:t>
            </a:r>
          </a:p>
        </p:txBody>
      </p:sp>
    </p:spTree>
    <p:extLst>
      <p:ext uri="{BB962C8B-B14F-4D97-AF65-F5344CB8AC3E}">
        <p14:creationId xmlns:p14="http://schemas.microsoft.com/office/powerpoint/2010/main" val="198725021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9BAAF21-93A5-48C5-B339-CCBB82F828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A31735-DCF4-440C-AECD-068F55C800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E67F1069-0FAD-48EA-B585-E3A2C94DC2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9E951632-0394-48E4-8B4E-3399EE869FE8}"/>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A7B781-26FF-43B1-9624-917D9810C58C}"/>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['simple']</a:t>
            </a:r>
          </a:p>
        </p:txBody>
      </p:sp>
      <p:sp>
        <p:nvSpPr>
          <p:cNvPr id="6" name="">
            <a:extLst xmlns:a="http://schemas.openxmlformats.org/drawingml/2006/main">
              <a:ext uri="{FF2B5EF4-FFF2-40B4-BE49-F238E27FC236}">
                <a16:creationId xmlns:a16="http://schemas.microsoft.com/office/drawing/2014/main" id="{3A9B4589-6C55-43E4-B242-D65D423FCC3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845FDFE-7A2F-4FA2-93A6-3D476211C5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13</a:t>
            </a:r>
          </a:p>
        </p:txBody>
      </p:sp>
    </p:spTree>
    <p:extLst>
      <p:ext uri="{BB962C8B-B14F-4D97-AF65-F5344CB8AC3E}">
        <p14:creationId xmlns:p14="http://schemas.microsoft.com/office/powerpoint/2010/main" val="6909045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07D7774-69A7-4590-BF5E-97EB3E262B1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3688F99-08B3-4762-B633-5ECEE2D715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00A1C1-EC46-4FBC-BF80-B1195FF40C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tuple supplies an ordered ranking key</a:t>
            </a:r>
          </a:p>
        </p:txBody>
      </p:sp>
      <p:sp>
        <p:nvSpPr>
          <p:cNvPr id="4" name="">
            <a:extLst xmlns:a="http://schemas.openxmlformats.org/drawingml/2006/main">
              <a:ext uri="{FF2B5EF4-FFF2-40B4-BE49-F238E27FC236}">
                <a16:creationId xmlns:a16="http://schemas.microsoft.com/office/drawing/2014/main" id="{703743A4-FAB3-47AB-A7C7-31C41B7B51E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2E70A8-EA0E-421B-B3F4-9E511BFB732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holds several values in order, such as (error, time, name).</a:t>
            </a:r>
          </a:p>
        </p:txBody>
      </p:sp>
      <p:sp>
        <p:nvSpPr>
          <p:cNvPr id="6" name="">
            <a:extLst xmlns:a="http://schemas.openxmlformats.org/drawingml/2006/main">
              <a:ext uri="{FF2B5EF4-FFF2-40B4-BE49-F238E27FC236}">
                <a16:creationId xmlns:a16="http://schemas.microsoft.com/office/drawing/2014/main" id="{C006E9B6-22C6-421B-BF01-A5F6B52C0C5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FE8683-0CB2-4E51-A0B7-104D9625D78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values. A tie moves the comparison to the second.</a:t>
            </a:r>
          </a:p>
        </p:txBody>
      </p:sp>
      <p:sp>
        <p:nvSpPr>
          <p:cNvPr id="8" name="">
            <a:extLst xmlns:a="http://schemas.openxmlformats.org/drawingml/2006/main">
              <a:ext uri="{FF2B5EF4-FFF2-40B4-BE49-F238E27FC236}">
                <a16:creationId xmlns:a16="http://schemas.microsoft.com/office/drawing/2014/main" id="{0002261F-C1B5-403C-A507-FFA5EC65757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775487B-5989-4741-93DD-D7039344950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those also tie, the third value decides.</a:t>
            </a:r>
          </a:p>
        </p:txBody>
      </p:sp>
      <p:sp>
        <p:nvSpPr>
          <p:cNvPr id="10" name="">
            <a:extLst xmlns:a="http://schemas.openxmlformats.org/drawingml/2006/main">
              <a:ext uri="{FF2B5EF4-FFF2-40B4-BE49-F238E27FC236}">
                <a16:creationId xmlns:a16="http://schemas.microsoft.com/office/drawing/2014/main" id="{B24C0E2E-75CB-483F-B901-C7900E49BA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14</a:t>
            </a:r>
          </a:p>
        </p:txBody>
      </p:sp>
    </p:spTree>
    <p:extLst>
      <p:ext uri="{BB962C8B-B14F-4D97-AF65-F5344CB8AC3E}">
        <p14:creationId xmlns:p14="http://schemas.microsoft.com/office/powerpoint/2010/main" val="77609157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F6C241C-E5E4-4581-9C1B-5E984DAC8D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0418D1D-DA0C-4C70-9C07-758AAB2BA4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A5C79A-4F88-4577-A09D-028B5209A3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a:t>
            </a:r>
          </a:p>
        </p:txBody>
      </p:sp>
      <p:sp>
        <p:nvSpPr>
          <p:cNvPr id="4" name="">
            <a:extLst xmlns:a="http://schemas.openxmlformats.org/drawingml/2006/main">
              <a:ext uri="{FF2B5EF4-FFF2-40B4-BE49-F238E27FC236}">
                <a16:creationId xmlns:a16="http://schemas.microsoft.com/office/drawing/2014/main" id="{6BC62274-E635-4415-9D66-9E2DB54FE36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6E988CC-B51A-4313-A1EF-CA993ECE517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tuple is an ordered group of values.</a:t>
            </a:r>
          </a:p>
        </p:txBody>
      </p:sp>
      <p:sp>
        <p:nvSpPr>
          <p:cNvPr id="6" name="">
            <a:extLst xmlns:a="http://schemas.openxmlformats.org/drawingml/2006/main">
              <a:ext uri="{FF2B5EF4-FFF2-40B4-BE49-F238E27FC236}">
                <a16:creationId xmlns:a16="http://schemas.microsoft.com/office/drawing/2014/main" id="{75427F80-5E45-4817-8A87-A29BA4F16A6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DC249CD-42B1-4B8F-AD51-8974C35C482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Python compares the first item, then the second when tied, then the third.</a:t>
            </a:r>
          </a:p>
        </p:txBody>
      </p:sp>
      <p:sp>
        <p:nvSpPr>
          <p:cNvPr id="8" name="">
            <a:extLst xmlns:a="http://schemas.openxmlformats.org/drawingml/2006/main">
              <a:ext uri="{FF2B5EF4-FFF2-40B4-BE49-F238E27FC236}">
                <a16:creationId xmlns:a16="http://schemas.microsoft.com/office/drawing/2014/main" id="{EB744B8E-06BB-40AE-9DA0-9A2088FA21C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FA9A992-F3E8-4F9E-83DF-33AA882C1ED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key function gives sorted the tuple for each candidate.</a:t>
            </a:r>
          </a:p>
        </p:txBody>
      </p:sp>
      <p:sp>
        <p:nvSpPr>
          <p:cNvPr id="10" name="">
            <a:extLst xmlns:a="http://schemas.openxmlformats.org/drawingml/2006/main">
              <a:ext uri="{FF2B5EF4-FFF2-40B4-BE49-F238E27FC236}">
                <a16:creationId xmlns:a16="http://schemas.microsoft.com/office/drawing/2014/main" id="{27771F8D-B7C8-4B4C-BB5B-92845BBEE70D}"/>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A2957B1-E26D-4A3E-A240-337393F99872}"/>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Guard an empty list before selecting position zero.</a:t>
            </a:r>
          </a:p>
        </p:txBody>
      </p:sp>
      <p:sp>
        <p:nvSpPr>
          <p:cNvPr id="12" name="">
            <a:extLst xmlns:a="http://schemas.openxmlformats.org/drawingml/2006/main">
              <a:ext uri="{FF2B5EF4-FFF2-40B4-BE49-F238E27FC236}">
                <a16:creationId xmlns:a16="http://schemas.microsoft.com/office/drawing/2014/main" id="{BF5E01CC-8339-4ECA-A9DC-AE176CD400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15</a:t>
            </a:r>
          </a:p>
        </p:txBody>
      </p:sp>
    </p:spTree>
    <p:extLst>
      <p:ext uri="{BB962C8B-B14F-4D97-AF65-F5344CB8AC3E}">
        <p14:creationId xmlns:p14="http://schemas.microsoft.com/office/powerpoint/2010/main" val="180411430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1523107-CCE7-4AB7-9BAF-C52592D383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7A18246-1319-4F84-9B34-421619A918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BE7ACCC3-227C-4801-B627-590046D79F5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named function</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5505450"/>
                <a:gridCol w="5505450"/>
              </a:tblGrid>
              <a:tr h="666750">
                <a:tc>
                  <a:txBody>
                    <a:bodyPr/>
                    <a:lstStyle/>
                    <a:p>
                      <a:r>
                        <a:rPr sz="2025" b="1">
                          <a:solidFill>
                            <a:srgbClr val="FFFFFF"/>
                          </a:solidFill>
                          <a:latin typeface="Calibri"/>
                          <a:ea typeface="Calibri"/>
                          <a:cs typeface="Calibri"/>
                        </a:rPr>
                        <a:t>Expression</a:t>
                      </a:r>
                    </a:p>
                  </a:txBody>
                  <a:tcPr marL="91440" marR="91440" marT="45720" marB="45720">
                    <a:solidFill>
                      <a:srgbClr val="2E7D6F"/>
                    </a:solidFill>
                  </a:tcPr>
                </a:tc>
                <a:tc>
                  <a:txBody>
                    <a:bodyPr/>
                    <a:lstStyle/>
                    <a:p>
                      <a:r>
                        <a:rPr sz="2025" b="1">
                          <a:solidFill>
                            <a:srgbClr val="FFFFFF"/>
                          </a:solidFill>
                          <a:latin typeface="Calibri"/>
                          <a:ea typeface="Calibri"/>
                          <a:cs typeface="Calibri"/>
                        </a:rPr>
                        <a:t>Meaning</a:t>
                      </a:r>
                    </a:p>
                  </a:txBody>
                  <a:tcPr marL="91440" marR="91440" marT="45720" marB="45720">
                    <a:solidFill>
                      <a:srgbClr val="2E7D6F"/>
                    </a:solidFill>
                  </a:tcPr>
                </a:tc>
              </a:tr>
              <a:tr h="666750">
                <a:tc>
                  <a:txBody>
                    <a:bodyPr/>
                    <a:lstStyle/>
                    <a:p>
                      <a:r>
                        <a:rPr sz="2025" b="0">
                          <a:solidFill>
                            <a:srgbClr val="1C3144"/>
                          </a:solidFill>
                          <a:latin typeface="Calibri"/>
                          <a:ea typeface="Calibri"/>
                          <a:cs typeface="Calibri"/>
                        </a:rPr>
                        <a:t>key=rank</a:t>
                      </a:r>
                    </a:p>
                  </a:txBody>
                  <a:tcPr marL="91440" marR="91440" marT="45720" marB="45720">
                    <a:solidFill>
                      <a:srgbClr val="EEF3F6"/>
                    </a:solidFill>
                  </a:tcPr>
                </a:tc>
                <a:tc>
                  <a:txBody>
                    <a:bodyPr/>
                    <a:lstStyle/>
                    <a:p>
                      <a:r>
                        <a:rPr sz="2025" b="0">
                          <a:solidFill>
                            <a:srgbClr val="1C3144"/>
                          </a:solidFill>
                          <a:latin typeface="Calibri"/>
                          <a:ea typeface="Calibri"/>
                          <a:cs typeface="Calibri"/>
                        </a:rPr>
                        <a:t>Use rank to build each comparison key</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sorted(eligible, key=rank)</a:t>
                      </a:r>
                    </a:p>
                  </a:txBody>
                  <a:tcPr marL="91440" marR="91440" marT="45720" marB="45720">
                    <a:solidFill>
                      <a:srgbClr val="FFFFFF"/>
                    </a:solidFill>
                  </a:tcPr>
                </a:tc>
                <a:tc>
                  <a:txBody>
                    <a:bodyPr/>
                    <a:lstStyle/>
                    <a:p>
                      <a:r>
                        <a:rPr sz="2025" b="0">
                          <a:solidFill>
                            <a:srgbClr val="1C3144"/>
                          </a:solidFill>
                          <a:latin typeface="Calibri"/>
                          <a:ea typeface="Calibri"/>
                          <a:cs typeface="Calibri"/>
                        </a:rPr>
                        <a:t>Return a newly ordered list</a:t>
                      </a:r>
                    </a:p>
                  </a:txBody>
                  <a:tcPr marL="91440" marR="91440" marT="45720" marB="45720">
                    <a:solidFill>
                      <a:srgbClr val="FFFFFF"/>
                    </a:solidFill>
                  </a:tcPr>
                </a:tc>
              </a:tr>
              <a:tr h="666750">
                <a:tc>
                  <a:txBody>
                    <a:bodyPr/>
                    <a:lstStyle/>
                    <a:p>
                      <a:r>
                        <a:rPr sz="2025" b="0">
                          <a:solidFill>
                            <a:srgbClr val="1C3144"/>
                          </a:solidFill>
                          <a:latin typeface="Calibri"/>
                          <a:ea typeface="Calibri"/>
                          <a:cs typeface="Calibri"/>
                        </a:rPr>
                        <a:t>ordered[0]</a:t>
                      </a:r>
                    </a:p>
                  </a:txBody>
                  <a:tcPr marL="91440" marR="91440" marT="45720" marB="45720">
                    <a:solidFill>
                      <a:srgbClr val="EEF3F6"/>
                    </a:solidFill>
                  </a:tcPr>
                </a:tc>
                <a:tc>
                  <a:txBody>
                    <a:bodyPr/>
                    <a:lstStyle/>
                    <a:p>
                      <a:r>
                        <a:rPr sz="2025" b="0">
                          <a:solidFill>
                            <a:srgbClr val="1C3144"/>
                          </a:solidFill>
                          <a:latin typeface="Calibri"/>
                          <a:ea typeface="Calibri"/>
                          <a:cs typeface="Calibri"/>
                        </a:rPr>
                        <a:t>Select its first item</a:t>
                      </a:r>
                    </a:p>
                  </a:txBody>
                  <a:tcPr marL="91440" marR="91440" marT="45720" marB="45720">
                    <a:solidFill>
                      <a:srgbClr val="EEF3F6"/>
                    </a:solidFill>
                  </a:tcPr>
                </a:tc>
              </a:tr>
              <a:tr h="666750">
                <a:tc>
                  <a:txBody>
                    <a:bodyPr/>
                    <a:lstStyle/>
                    <a:p>
                      <a:r>
                        <a:rPr sz="2025" b="0">
                          <a:solidFill>
                            <a:srgbClr val="1C3144"/>
                          </a:solidFill>
                          <a:latin typeface="Calibri"/>
                          <a:ea typeface="Calibri"/>
                          <a:cs typeface="Calibri"/>
                        </a:rPr>
                        <a:t>len(ordered) == 0</a:t>
                      </a:r>
                    </a:p>
                  </a:txBody>
                  <a:tcPr marL="91440" marR="91440" marT="45720" marB="45720">
                    <a:solidFill>
                      <a:srgbClr val="FFFFFF"/>
                    </a:solidFill>
                  </a:tcPr>
                </a:tc>
                <a:tc>
                  <a:txBody>
                    <a:bodyPr/>
                    <a:lstStyle/>
                    <a:p>
                      <a:r>
                        <a:rPr sz="2025" b="0">
                          <a:solidFill>
                            <a:srgbClr val="1C3144"/>
                          </a:solidFill>
                          <a:latin typeface="Calibri"/>
                          <a:ea typeface="Calibri"/>
                          <a:cs typeface="Calibri"/>
                        </a:rPr>
                        <a:t>Check for no eligible candidate</a:t>
                      </a:r>
                    </a:p>
                  </a:txBody>
                  <a:tcPr marL="91440" marR="91440" marT="45720" marB="45720">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11435022-0CC1-4200-A693-249D9EBAB766}"/>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Check for an empty list before accessing position zero.</a:t>
            </a:r>
          </a:p>
        </p:txBody>
      </p:sp>
      <p:sp>
        <p:nvSpPr>
          <p:cNvPr id="6" name="">
            <a:extLst xmlns:a="http://schemas.openxmlformats.org/drawingml/2006/main">
              <a:ext uri="{FF2B5EF4-FFF2-40B4-BE49-F238E27FC236}">
                <a16:creationId xmlns:a16="http://schemas.microsoft.com/office/drawing/2014/main" id="{1CD10E52-1B15-4231-A2DD-55196F0B5B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16</a:t>
            </a:r>
          </a:p>
        </p:txBody>
      </p:sp>
    </p:spTree>
    <p:extLst>
      <p:ext uri="{BB962C8B-B14F-4D97-AF65-F5344CB8AC3E}">
        <p14:creationId xmlns:p14="http://schemas.microsoft.com/office/powerpoint/2010/main" val="185100373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B4F870-BBFF-48C9-BDF6-076CBDC99F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12662D-83E7-4CC9-8BBA-5C10B31BFE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8710A8F-631D-405C-927D-866968DEDF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Sorting with a tie-break rule in Python</a:t>
            </a:r>
          </a:p>
        </p:txBody>
      </p:sp>
      <p:sp>
        <p:nvSpPr>
          <p:cNvPr id="4" name="">
            <a:extLst xmlns:a="http://schemas.openxmlformats.org/drawingml/2006/main">
              <a:ext uri="{FF2B5EF4-FFF2-40B4-BE49-F238E27FC236}">
                <a16:creationId xmlns:a16="http://schemas.microsoft.com/office/drawing/2014/main" id="{77B7C339-270E-4688-97F9-0F5076F774C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2C2D0EF-6840-4876-A8CD-39AA1DD8A52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def</a:t>
            </a:r>
            <a:r>
              <a:rPr sz="2175" b="0">
                <a:solidFill>
                  <a:srgbClr val="F4F7FA"/>
                </a:solidFill>
                <a:latin typeface="Courier New"/>
                <a:ea typeface="Courier New"/>
                <a:cs typeface="Courier New"/>
              </a:rPr>
              <a:t> rank(item):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return</a:t>
            </a:r>
            <a:r>
              <a:rPr sz="2175" b="0">
                <a:solidFill>
                  <a:srgbClr val="F4F7FA"/>
                </a:solidFill>
                <a:latin typeface="Courier New"/>
                <a:ea typeface="Courier New"/>
                <a:cs typeface="Courier New"/>
              </a:rPr>
              <a:t> (item["error"], item["ms"], item["name"])</a:t>
            </a:r>
          </a:p>
          <a:p xmlns:a="http://schemas.openxmlformats.org/drawingml/2006/main">
            <a:r>
              <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ordered = sorted(eligible, key=rank)</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len(ordered) == 0:</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a:t>
            </a:r>
            <a:r>
              <a:rPr sz="2175" b="0">
                <a:solidFill>
                  <a:srgbClr val="FFB080"/>
                </a:solidFill>
                <a:latin typeface="Courier New"/>
                <a:ea typeface="Courier New"/>
                <a:cs typeface="Courier New"/>
              </a:rPr>
              <a:t>None</a:t>
            </a:r>
          </a:p>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winner = ordered[0]["name"]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print(winner)</a:t>
            </a:r>
          </a:p>
        </p:txBody>
      </p:sp>
      <p:sp>
        <p:nvSpPr>
          <p:cNvPr id="6" name="">
            <a:extLst xmlns:a="http://schemas.openxmlformats.org/drawingml/2006/main">
              <a:ext uri="{FF2B5EF4-FFF2-40B4-BE49-F238E27FC236}">
                <a16:creationId xmlns:a16="http://schemas.microsoft.com/office/drawing/2014/main" id="{72BC8160-12C7-4A82-AB58-CC1C8442BAE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def names the function. Inputs go inside parentheses.</a:t>
            </a:r>
          </a:p>
        </p:txBody>
      </p:sp>
      <p:sp>
        <p:nvSpPr>
          <p:cNvPr id="7" name="">
            <a:extLst xmlns:a="http://schemas.openxmlformats.org/drawingml/2006/main">
              <a:ext uri="{FF2B5EF4-FFF2-40B4-BE49-F238E27FC236}">
                <a16:creationId xmlns:a16="http://schemas.microsoft.com/office/drawing/2014/main" id="{4F696026-8754-4DE0-9ADD-FDDD3797B79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8" name="">
            <a:extLst xmlns:a="http://schemas.openxmlformats.org/drawingml/2006/main">
              <a:ext uri="{FF2B5EF4-FFF2-40B4-BE49-F238E27FC236}">
                <a16:creationId xmlns:a16="http://schemas.microsoft.com/office/drawing/2014/main" id="{EBD35994-B617-4711-BB94-F0184C9465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17</a:t>
            </a:r>
          </a:p>
        </p:txBody>
      </p:sp>
    </p:spTree>
    <p:extLst>
      <p:ext uri="{BB962C8B-B14F-4D97-AF65-F5344CB8AC3E}">
        <p14:creationId xmlns:p14="http://schemas.microsoft.com/office/powerpoint/2010/main" val="9494374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4813AE-96B5-4204-BB64-C0301BC50C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4B0CC6D-5A30-41AD-989D-6C606345B6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B0EFCB6-E767-4A82-8AC1-15F6515B9C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A0291BCA-6F9C-4483-9EFB-429AB30E9D4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6A4C056-AA6D-46C0-AF6A-1F5A7499C147}"/>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Local explanation</a:t>
            </a:r>
          </a:p>
        </p:txBody>
      </p:sp>
      <p:sp>
        <p:nvSpPr>
          <p:cNvPr id="6" name="">
            <a:extLst xmlns:a="http://schemas.openxmlformats.org/drawingml/2006/main">
              <a:ext uri="{FF2B5EF4-FFF2-40B4-BE49-F238E27FC236}">
                <a16:creationId xmlns:a16="http://schemas.microsoft.com/office/drawing/2014/main" id="{5C49843F-7B62-4C59-B079-6C6E9DA5DC30}"/>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Why a model made one particular prediction. This is different from global importance, which summarises behaviour over many cases.</a:t>
            </a:r>
          </a:p>
        </p:txBody>
      </p:sp>
      <p:sp>
        <p:nvSpPr>
          <p:cNvPr id="7" name="">
            <a:extLst xmlns:a="http://schemas.openxmlformats.org/drawingml/2006/main">
              <a:ext uri="{FF2B5EF4-FFF2-40B4-BE49-F238E27FC236}">
                <a16:creationId xmlns:a16="http://schemas.microsoft.com/office/drawing/2014/main" id="{8F532116-15D3-495E-A5BF-E4E681A010A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042C1C3-9C20-4D3B-862E-EF9878C3112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Conditions of use</a:t>
            </a:r>
          </a:p>
        </p:txBody>
      </p:sp>
      <p:sp>
        <p:nvSpPr>
          <p:cNvPr id="9" name="">
            <a:extLst xmlns:a="http://schemas.openxmlformats.org/drawingml/2006/main">
              <a:ext uri="{FF2B5EF4-FFF2-40B4-BE49-F238E27FC236}">
                <a16:creationId xmlns:a16="http://schemas.microsoft.com/office/drawing/2014/main" id="{9AB1DEC3-0BAA-42F7-8116-89615282BCD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cases and operating circumstances for which the available evidence supports considering the model.</a:t>
            </a:r>
          </a:p>
        </p:txBody>
      </p:sp>
      <p:sp>
        <p:nvSpPr>
          <p:cNvPr id="10" name="">
            <a:extLst xmlns:a="http://schemas.openxmlformats.org/drawingml/2006/main">
              <a:ext uri="{FF2B5EF4-FFF2-40B4-BE49-F238E27FC236}">
                <a16:creationId xmlns:a16="http://schemas.microsoft.com/office/drawing/2014/main" id="{320F9565-274A-4E53-84E0-4E25B1DB7D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18</a:t>
            </a:r>
          </a:p>
        </p:txBody>
      </p:sp>
    </p:spTree>
    <p:extLst>
      <p:ext uri="{BB962C8B-B14F-4D97-AF65-F5344CB8AC3E}">
        <p14:creationId xmlns:p14="http://schemas.microsoft.com/office/powerpoint/2010/main" val="148996413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D637D9-EBC3-46FB-A230-A22778712C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E56FB9-AFD4-40D6-879C-08DB179A09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AE5F278-3D79-44BF-8DA6-32F14D2EEC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recommendation needs evidence</a:t>
            </a:r>
          </a:p>
        </p:txBody>
      </p:sp>
      <p:sp>
        <p:nvSpPr>
          <p:cNvPr id="4" name="">
            <a:extLst xmlns:a="http://schemas.openxmlformats.org/drawingml/2006/main">
              <a:ext uri="{FF2B5EF4-FFF2-40B4-BE49-F238E27FC236}">
                <a16:creationId xmlns:a16="http://schemas.microsoft.com/office/drawing/2014/main" id="{FCD84B73-6E52-46DA-A228-256A4BC4E8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C69247-B0DF-4AED-85B7-9B2F4E82871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question and the chosen candidate.</a:t>
            </a:r>
          </a:p>
        </p:txBody>
      </p:sp>
      <p:sp>
        <p:nvSpPr>
          <p:cNvPr id="6" name="">
            <a:extLst xmlns:a="http://schemas.openxmlformats.org/drawingml/2006/main">
              <a:ext uri="{FF2B5EF4-FFF2-40B4-BE49-F238E27FC236}">
                <a16:creationId xmlns:a16="http://schemas.microsoft.com/office/drawing/2014/main" id="{8D725142-41C7-4F7C-85A3-3654E6F3E23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C03CAB8-E078-41C8-993C-F41A486F2EE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evaluation result and the constraint it satisfies.</a:t>
            </a:r>
          </a:p>
        </p:txBody>
      </p:sp>
      <p:sp>
        <p:nvSpPr>
          <p:cNvPr id="8" name="">
            <a:extLst xmlns:a="http://schemas.openxmlformats.org/drawingml/2006/main">
              <a:ext uri="{FF2B5EF4-FFF2-40B4-BE49-F238E27FC236}">
                <a16:creationId xmlns:a16="http://schemas.microsoft.com/office/drawing/2014/main" id="{5AAAF225-74A9-4CC3-8F95-B70DED63924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4AD1E9F-88F8-4073-B3B2-B245FDD8B28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the evidence that could change the recommendation.</a:t>
            </a:r>
          </a:p>
        </p:txBody>
      </p:sp>
      <p:sp>
        <p:nvSpPr>
          <p:cNvPr id="10" name="">
            <a:extLst xmlns:a="http://schemas.openxmlformats.org/drawingml/2006/main">
              <a:ext uri="{FF2B5EF4-FFF2-40B4-BE49-F238E27FC236}">
                <a16:creationId xmlns:a16="http://schemas.microsoft.com/office/drawing/2014/main" id="{04B4C772-F3F0-4F33-A687-FE44E66599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19</a:t>
            </a:r>
          </a:p>
        </p:txBody>
      </p:sp>
    </p:spTree>
    <p:extLst>
      <p:ext uri="{BB962C8B-B14F-4D97-AF65-F5344CB8AC3E}">
        <p14:creationId xmlns:p14="http://schemas.microsoft.com/office/powerpoint/2010/main" val="166466649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721F57-7EE8-4946-9A59-81EE0434958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142445E-36B2-4B5C-ACD2-FB30BEC617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2C72CF0E-AA2B-4F56-9738-98A85A8EC5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the model selector</a:t>
            </a:r>
          </a:p>
        </p:txBody>
      </p:sp>
      <p:sp>
        <p:nvSpPr>
          <p:cNvPr id="4" name="">
            <a:extLst xmlns:a="http://schemas.openxmlformats.org/drawingml/2006/main">
              <a:ext uri="{FF2B5EF4-FFF2-40B4-BE49-F238E27FC236}">
                <a16:creationId xmlns:a16="http://schemas.microsoft.com/office/drawing/2014/main" id="{2D5C0A6C-9EC3-495A-8AF0-7F2997D13B92}"/>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BC1FC9A-D122-4009-8C0C-7EAFEB99A585}"/>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Limits: error at most 3, time at most 10 ms. Candidates: A (3,2), B (1,20), C (3,1).</a:t>
            </a:r>
          </a:p>
        </p:txBody>
      </p:sp>
      <p:sp>
        <p:nvSpPr>
          <p:cNvPr id="6" name="">
            <a:extLst xmlns:a="http://schemas.openxmlformats.org/drawingml/2006/main">
              <a:ext uri="{FF2B5EF4-FFF2-40B4-BE49-F238E27FC236}">
                <a16:creationId xmlns:a16="http://schemas.microsoft.com/office/drawing/2014/main" id="{A00A5F64-3100-4377-9ED9-4B0563FB57D2}"/>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0E4B69F-B937-4BF0-8D87-B66ACF38A0C4}"/>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Cross out candidates that fail a limit.</a:t>
            </a:r>
          </a:p>
        </p:txBody>
      </p:sp>
      <p:sp>
        <p:nvSpPr>
          <p:cNvPr id="8" name="">
            <a:extLst xmlns:a="http://schemas.openxmlformats.org/drawingml/2006/main">
              <a:ext uri="{FF2B5EF4-FFF2-40B4-BE49-F238E27FC236}">
                <a16:creationId xmlns:a16="http://schemas.microsoft.com/office/drawing/2014/main" id="{0601519C-0FE4-4033-92BA-0F3E2A65E500}"/>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70C89A1-8078-429C-ACCD-E3F205828964}"/>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by lowest error, then lowest time among the remaining candidates.</a:t>
            </a:r>
          </a:p>
        </p:txBody>
      </p:sp>
      <p:sp>
        <p:nvSpPr>
          <p:cNvPr id="10" name="">
            <a:extLst xmlns:a="http://schemas.openxmlformats.org/drawingml/2006/main">
              <a:ext uri="{FF2B5EF4-FFF2-40B4-BE49-F238E27FC236}">
                <a16:creationId xmlns:a16="http://schemas.microsoft.com/office/drawing/2014/main" id="{19982D18-FBF7-45DA-9FDC-5913A9CFF70F}"/>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4891953-75E2-4564-ACBB-2917F9B08A6C}"/>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216A0081-A189-44F2-BFC8-5A8144E972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20</a:t>
            </a:r>
          </a:p>
        </p:txBody>
      </p:sp>
    </p:spTree>
    <p:extLst>
      <p:ext uri="{BB962C8B-B14F-4D97-AF65-F5344CB8AC3E}">
        <p14:creationId xmlns:p14="http://schemas.microsoft.com/office/powerpoint/2010/main" val="199992898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B9F98B2-CE3F-4841-AACE-DBAF5A4A4C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D12AD7-76B1-4AE3-B9D6-83BA4D538A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5CCDCD7D-CFB5-4854-B398-54CD755BEC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4EFC4829-F296-46DE-B7C7-BBD933EBE46F}"/>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38132E-1520-4F10-8168-66C56C7CDEB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B fails the time limit. A and C tie on error. C wins because 1 ms is lower than 2 ms.</a:t>
            </a:r>
          </a:p>
        </p:txBody>
      </p:sp>
      <p:sp>
        <p:nvSpPr>
          <p:cNvPr id="6" name="">
            <a:extLst xmlns:a="http://schemas.openxmlformats.org/drawingml/2006/main">
              <a:ext uri="{FF2B5EF4-FFF2-40B4-BE49-F238E27FC236}">
                <a16:creationId xmlns:a16="http://schemas.microsoft.com/office/drawing/2014/main" id="{10B335EC-D9DA-43DB-A945-5F81D26ECB1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9949098-413D-47BC-8518-C4DB3F5CB5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21</a:t>
            </a:r>
          </a:p>
        </p:txBody>
      </p:sp>
    </p:spTree>
    <p:extLst>
      <p:ext uri="{BB962C8B-B14F-4D97-AF65-F5344CB8AC3E}">
        <p14:creationId xmlns:p14="http://schemas.microsoft.com/office/powerpoint/2010/main" val="947476568"/>
      </p:ext>
    </p:extLst>
  </p:cSld>
</p:sld>
</file>

<file path=ppt/slides/slide22.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F0676A7-F48E-42D7-8E70-2E8F1949B2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966F2B67-B6B4-47B2-8CE6-261E4F3CE6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EA047F51-01CC-4645-A0BA-9ABBDCBCD23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F1C6A341-935B-4BAA-9853-0298673BE346}"/>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 third model has error 3 and latency 1 ms. Under lowest error then lowest latency, which eligible model wins?</a:t>
            </a:r>
          </a:p>
        </p:txBody>
      </p:sp>
      <p:sp>
        <p:nvSpPr>
          <p:cNvPr id="5" name="">
            <a:extLst xmlns:a="http://schemas.openxmlformats.org/drawingml/2006/main">
              <a:ext uri="{FF2B5EF4-FFF2-40B4-BE49-F238E27FC236}">
                <a16:creationId xmlns:a16="http://schemas.microsoft.com/office/drawing/2014/main" id="{74400080-31DF-4A1A-BDD5-5C682BF78F8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5F9A1C4B-06A8-446B-BA3C-F32E2040AE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12   22</a:t>
            </a:r>
          </a:p>
        </p:txBody>
      </p:sp>
    </p:spTree>
    <p:extLst>
      <p:ext uri="{BB962C8B-B14F-4D97-AF65-F5344CB8AC3E}">
        <p14:creationId xmlns:p14="http://schemas.microsoft.com/office/powerpoint/2010/main" val="59405615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70FEBDD-EC3B-4935-AC2D-75C3FC069A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D986A5-794C-4233-86CE-763CA5624A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B609E0F6-1501-4994-A718-13D040EA7C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92578E74-8B03-400E-B226-38A94A5780F6}"/>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F3534DC-6441-4D21-AA98-84092D9F9236}"/>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The third model. Both eligible models have error 3, but 1 ms is faster than 2 ms.</a:t>
            </a:r>
          </a:p>
        </p:txBody>
      </p:sp>
      <p:sp>
        <p:nvSpPr>
          <p:cNvPr id="6" name="">
            <a:extLst xmlns:a="http://schemas.openxmlformats.org/drawingml/2006/main">
              <a:ext uri="{FF2B5EF4-FFF2-40B4-BE49-F238E27FC236}">
                <a16:creationId xmlns:a16="http://schemas.microsoft.com/office/drawing/2014/main" id="{6C614B90-25A5-4938-9379-0F814C612E53}"/>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71027AC6-FD1F-4816-90F3-48E050FB41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23</a:t>
            </a:r>
          </a:p>
        </p:txBody>
      </p:sp>
    </p:spTree>
    <p:extLst>
      <p:ext uri="{BB962C8B-B14F-4D97-AF65-F5344CB8AC3E}">
        <p14:creationId xmlns:p14="http://schemas.microsoft.com/office/powerpoint/2010/main" val="104205549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F54CFA7-94A3-4F22-9AFE-EE35BDEECD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AA394B-46A6-4276-8F3F-1A45341FAE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0C4B9903-A333-4251-AF97-D68C6BEA22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FED11126-5BA3-404A-BAF4-AF11C77B608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B9BAB87-BAAB-434E-896E-696FADAD9516}"/>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6" name="">
            <a:extLst xmlns:a="http://schemas.openxmlformats.org/drawingml/2006/main">
              <a:ext uri="{FF2B5EF4-FFF2-40B4-BE49-F238E27FC236}">
                <a16:creationId xmlns:a16="http://schemas.microsoft.com/office/drawing/2014/main" id="{D9877433-C96B-4907-976D-14D169E62A1F}"/>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024AA7A-7458-4ADC-8D4D-C4F6E84E2B9A}"/>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8" name="">
            <a:extLst xmlns:a="http://schemas.openxmlformats.org/drawingml/2006/main">
              <a:ext uri="{FF2B5EF4-FFF2-40B4-BE49-F238E27FC236}">
                <a16:creationId xmlns:a16="http://schemas.microsoft.com/office/drawing/2014/main" id="{C5C1AFF3-79EE-424B-8FAE-54CF44668034}"/>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65B7FA7-FD3A-4731-A609-ACD97BB05D71}"/>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0" name="">
            <a:extLst xmlns:a="http://schemas.openxmlformats.org/drawingml/2006/main">
              <a:ext uri="{FF2B5EF4-FFF2-40B4-BE49-F238E27FC236}">
                <a16:creationId xmlns:a16="http://schemas.microsoft.com/office/drawing/2014/main" id="{87AC0906-227F-4B3E-AD03-C13BB990DD05}"/>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998FE8C-A119-4BE8-9D83-48B2AB1A136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a648da238b54ff3"/>
              </a:rPr>
              <a:t>Open explainer video</a:t>
            </a:r>
          </a:p>
        </p:txBody>
      </p:sp>
      <p:sp>
        <p:nvSpPr>
          <p:cNvPr id="12" name="">
            <a:extLst xmlns:a="http://schemas.openxmlformats.org/drawingml/2006/main">
              <a:ext uri="{FF2B5EF4-FFF2-40B4-BE49-F238E27FC236}">
                <a16:creationId xmlns:a16="http://schemas.microsoft.com/office/drawing/2014/main" id="{BDF5430C-C51D-474E-B76A-4960026A68A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3" name="">
            <a:extLst xmlns:a="http://schemas.openxmlformats.org/drawingml/2006/main">
              <a:ext uri="{FF2B5EF4-FFF2-40B4-BE49-F238E27FC236}">
                <a16:creationId xmlns:a16="http://schemas.microsoft.com/office/drawing/2014/main" id="{42770F19-0337-4BB1-B753-E371C03FFF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24</a:t>
            </a:r>
          </a:p>
        </p:txBody>
      </p:sp>
    </p:spTree>
    <p:extLst>
      <p:ext uri="{BB962C8B-B14F-4D97-AF65-F5344CB8AC3E}">
        <p14:creationId xmlns:p14="http://schemas.microsoft.com/office/powerpoint/2010/main" val="481816579"/>
      </p:ext>
    </p:extLst>
  </p:cSld>
</p:sld>
</file>

<file path=ppt/slides/slide2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CB7728F-E986-4531-8EEE-8DEB04E874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2FE4540C-1FF0-486A-9FC2-97E28C4754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20CB5A5B-0682-43A9-9651-479FD3B45221}"/>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F5168C81-0853-4460-AA1C-8939CDD39FA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why our repeated equipment IDs require grouped partitions rather than ordinary random folds.</a:t>
            </a:r>
          </a:p>
        </p:txBody>
      </p:sp>
      <p:sp>
        <p:nvSpPr>
          <p:cNvPr id="5" name="">
            <a:extLst xmlns:a="http://schemas.openxmlformats.org/drawingml/2006/main">
              <a:ext uri="{FF2B5EF4-FFF2-40B4-BE49-F238E27FC236}">
                <a16:creationId xmlns:a16="http://schemas.microsoft.com/office/drawing/2014/main" id="{36B62CFB-AC9C-4183-BE89-15C5E91D710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F0440C53-3BD6-409A-B65C-52320DC27C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12   25</a:t>
            </a:r>
          </a:p>
        </p:txBody>
      </p:sp>
    </p:spTree>
    <p:extLst>
      <p:ext uri="{BB962C8B-B14F-4D97-AF65-F5344CB8AC3E}">
        <p14:creationId xmlns:p14="http://schemas.microsoft.com/office/powerpoint/2010/main" val="2020193204"/>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BA3072C-A574-45D6-8AA6-86DD02527C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E9586D9-DDB9-4F4C-9A8B-7521C33EED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83DDFF6-1129-4FA6-9863-FD6DE8E1D3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4359CD5C-A9CA-4BC8-ACF0-E2F48626DFF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2562407-57E2-4292-BA4E-CDB49F584065}"/>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W12 uses fields name, validation_mae and latency_ms.</a:t>
            </a:r>
          </a:p>
        </p:txBody>
      </p:sp>
      <p:sp>
        <p:nvSpPr>
          <p:cNvPr id="6" name="">
            <a:extLst xmlns:a="http://schemas.openxmlformats.org/drawingml/2006/main">
              <a:ext uri="{FF2B5EF4-FFF2-40B4-BE49-F238E27FC236}">
                <a16:creationId xmlns:a16="http://schemas.microsoft.com/office/drawing/2014/main" id="{961CA13D-0205-43A3-97B5-1B769D86F55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BDFE0DB-01E4-409B-81E2-A0654D98AEB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Meet both inclusive constraints, then rank by error, latency and alphabetical name.</a:t>
            </a:r>
          </a:p>
        </p:txBody>
      </p:sp>
      <p:sp>
        <p:nvSpPr>
          <p:cNvPr id="8" name="">
            <a:extLst xmlns:a="http://schemas.openxmlformats.org/drawingml/2006/main">
              <a:ext uri="{FF2B5EF4-FFF2-40B4-BE49-F238E27FC236}">
                <a16:creationId xmlns:a16="http://schemas.microsoft.com/office/drawing/2014/main" id="{853950A4-4807-41D3-BD6C-7555CECA562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854E40D-6EF5-432D-840E-FC6B1DE5237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if no candidate qualifies.</a:t>
            </a:r>
          </a:p>
        </p:txBody>
      </p:sp>
      <p:sp>
        <p:nvSpPr>
          <p:cNvPr id="10" name="">
            <a:extLst xmlns:a="http://schemas.openxmlformats.org/drawingml/2006/main">
              <a:ext uri="{FF2B5EF4-FFF2-40B4-BE49-F238E27FC236}">
                <a16:creationId xmlns:a16="http://schemas.microsoft.com/office/drawing/2014/main" id="{B7F7E4EC-BD2B-4225-9F66-A4C287461DF6}"/>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15957E6-FE6E-4760-8CA5-B1B4377E564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the error function and interpret the separately supplied scenario.</a:t>
            </a:r>
          </a:p>
        </p:txBody>
      </p:sp>
      <p:sp>
        <p:nvSpPr>
          <p:cNvPr id="12" name="">
            <a:extLst xmlns:a="http://schemas.openxmlformats.org/drawingml/2006/main">
              <a:ext uri="{FF2B5EF4-FFF2-40B4-BE49-F238E27FC236}">
                <a16:creationId xmlns:a16="http://schemas.microsoft.com/office/drawing/2014/main" id="{B428083D-2C32-4CF1-B834-1061C04CF8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26</a:t>
            </a:r>
          </a:p>
        </p:txBody>
      </p:sp>
    </p:spTree>
    <p:extLst>
      <p:ext uri="{BB962C8B-B14F-4D97-AF65-F5344CB8AC3E}">
        <p14:creationId xmlns:p14="http://schemas.microsoft.com/office/powerpoint/2010/main" val="49318552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0AE5AAD-BE80-4FE8-A591-C6655BFBF5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0BF3E07-1BD0-4997-887D-242204DC2D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109BF45-42F7-452A-9BF2-C34FA42F9C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4229FDEA-A9AF-4E91-941A-6EAA8914085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20869EE-25FA-4807-9C4C-5404045E883F}"/>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project comparisons and graded interfaces distinct.</a:t>
            </a:r>
          </a:p>
        </p:txBody>
      </p:sp>
      <p:sp>
        <p:nvSpPr>
          <p:cNvPr id="6" name="">
            <a:extLst xmlns:a="http://schemas.openxmlformats.org/drawingml/2006/main">
              <a:ext uri="{FF2B5EF4-FFF2-40B4-BE49-F238E27FC236}">
                <a16:creationId xmlns:a16="http://schemas.microsoft.com/office/drawing/2014/main" id="{D252B99C-199C-40E4-9028-AC566EE5D5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27</a:t>
            </a:r>
          </a:p>
        </p:txBody>
      </p:sp>
    </p:spTree>
    <p:extLst>
      <p:ext uri="{BB962C8B-B14F-4D97-AF65-F5344CB8AC3E}">
        <p14:creationId xmlns:p14="http://schemas.microsoft.com/office/powerpoint/2010/main" val="79541032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1AACA98-947F-44A7-BFD0-04122539BD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3240704-827F-4D5C-B60A-3C722F96CC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41A9D14-1B75-4170-89BA-2277ED3618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a:t>
            </a:r>
          </a:p>
        </p:txBody>
      </p:sp>
      <p:sp>
        <p:nvSpPr>
          <p:cNvPr id="4" name="">
            <a:extLst xmlns:a="http://schemas.openxmlformats.org/drawingml/2006/main">
              <a:ext uri="{FF2B5EF4-FFF2-40B4-BE49-F238E27FC236}">
                <a16:creationId xmlns:a16="http://schemas.microsoft.com/office/drawing/2014/main" id="{51FAA6D5-C03F-4320-AB47-876F3D42781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9F15719-4B22-4E4E-AD93-A0C41258907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same metric on the same validation cases with the same preprocessing rules.</a:t>
            </a:r>
          </a:p>
        </p:txBody>
      </p:sp>
      <p:sp>
        <p:nvSpPr>
          <p:cNvPr id="6" name="">
            <a:extLst xmlns:a="http://schemas.openxmlformats.org/drawingml/2006/main">
              <a:ext uri="{FF2B5EF4-FFF2-40B4-BE49-F238E27FC236}">
                <a16:creationId xmlns:a16="http://schemas.microsoft.com/office/drawing/2014/main" id="{2AC1870C-51A5-4384-8985-132BE1DD6A7B}"/>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92DCDB5-62C6-43AC-A216-BF64628341B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small difference needs context, including variation across splits.</a:t>
            </a:r>
          </a:p>
        </p:txBody>
      </p:sp>
      <p:sp>
        <p:nvSpPr>
          <p:cNvPr id="8" name="">
            <a:extLst xmlns:a="http://schemas.openxmlformats.org/drawingml/2006/main">
              <a:ext uri="{FF2B5EF4-FFF2-40B4-BE49-F238E27FC236}">
                <a16:creationId xmlns:a16="http://schemas.microsoft.com/office/drawing/2014/main" id="{F79BAED4-DF60-437F-8127-413876BF6CA2}"/>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A6727F0-F4FD-44E3-9DA7-5782630CC02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 run out of order can overwrite the variable holding a model; restart and run from the top.</a:t>
            </a:r>
          </a:p>
        </p:txBody>
      </p:sp>
      <p:sp>
        <p:nvSpPr>
          <p:cNvPr id="10" name="">
            <a:extLst xmlns:a="http://schemas.openxmlformats.org/drawingml/2006/main">
              <a:ext uri="{FF2B5EF4-FFF2-40B4-BE49-F238E27FC236}">
                <a16:creationId xmlns:a16="http://schemas.microsoft.com/office/drawing/2014/main" id="{5E8C64E3-8002-4C1E-8EF7-4691416F99A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98BCC4D-C2A6-451D-85E0-7DEDAA7D40B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local explanation addresses one prediction; global importance summarises many.</a:t>
            </a:r>
          </a:p>
        </p:txBody>
      </p:sp>
      <p:sp>
        <p:nvSpPr>
          <p:cNvPr id="12" name="">
            <a:extLst xmlns:a="http://schemas.openxmlformats.org/drawingml/2006/main">
              <a:ext uri="{FF2B5EF4-FFF2-40B4-BE49-F238E27FC236}">
                <a16:creationId xmlns:a16="http://schemas.microsoft.com/office/drawing/2014/main" id="{665305BC-8898-4A92-80B2-2C2A37C8E5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28</a:t>
            </a:r>
          </a:p>
        </p:txBody>
      </p:sp>
    </p:spTree>
    <p:extLst>
      <p:ext uri="{BB962C8B-B14F-4D97-AF65-F5344CB8AC3E}">
        <p14:creationId xmlns:p14="http://schemas.microsoft.com/office/powerpoint/2010/main" val="43217032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9E6D682-A8DB-44D8-8D59-01A57639C9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46A746C-7F3D-4DD9-9233-CA6B09AD1E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15733A3-8D4A-4D87-BA99-92BA9E0A56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Fair comparison and explanation continued</a:t>
            </a:r>
          </a:p>
        </p:txBody>
      </p:sp>
      <p:sp>
        <p:nvSpPr>
          <p:cNvPr id="4" name="">
            <a:extLst xmlns:a="http://schemas.openxmlformats.org/drawingml/2006/main">
              <a:ext uri="{FF2B5EF4-FFF2-40B4-BE49-F238E27FC236}">
                <a16:creationId xmlns:a16="http://schemas.microsoft.com/office/drawing/2014/main" id="{E3F8A42A-39A6-49F4-8181-F391F334FBA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ECF1BDC-FFAD-447D-BE70-F5283B828994}"/>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A post-hoc explanation of a complex model is not its directly readable internal rule.</a:t>
            </a:r>
          </a:p>
        </p:txBody>
      </p:sp>
      <p:sp>
        <p:nvSpPr>
          <p:cNvPr id="6" name="">
            <a:extLst xmlns:a="http://schemas.openxmlformats.org/drawingml/2006/main">
              <a:ext uri="{FF2B5EF4-FFF2-40B4-BE49-F238E27FC236}">
                <a16:creationId xmlns:a16="http://schemas.microsoft.com/office/drawing/2014/main" id="{35302D26-1324-4548-91E9-CA801AACAC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29</a:t>
            </a:r>
          </a:p>
        </p:txBody>
      </p:sp>
    </p:spTree>
    <p:extLst>
      <p:ext uri="{BB962C8B-B14F-4D97-AF65-F5344CB8AC3E}">
        <p14:creationId xmlns:p14="http://schemas.microsoft.com/office/powerpoint/2010/main" val="26848161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5015FF5-1804-4023-8F2C-B28974D0E7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CA8FFDB-4E89-4B21-9842-9CFC86564E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795FA62-7054-47F9-80E7-93B6F1F580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E72B943F-325E-4431-B274-862A19A670B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0F478AA-FF2A-4288-8F63-B08B0968923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0C7C2D10-BCEA-4B37-9FEB-422D677FBA6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93298FE-21BA-4321-A8D8-1A5674CB30C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8AD76314-433E-4CD6-980F-0B382010ECB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F2B047-E167-4F76-9AEC-D4041A52E93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C017E8B1-3B16-416E-9FFC-BE80D6855B9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0473CBC-C9D8-4897-952D-A74391B77E5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9914BB82-CF55-49E5-9B65-D6C0C29B2B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30</a:t>
            </a:r>
          </a:p>
        </p:txBody>
      </p:sp>
    </p:spTree>
    <p:extLst>
      <p:ext uri="{BB962C8B-B14F-4D97-AF65-F5344CB8AC3E}">
        <p14:creationId xmlns:p14="http://schemas.microsoft.com/office/powerpoint/2010/main" val="921518973"/>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8D8D99B-309E-468F-9B9B-BC3AAD3C28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C0746AF-4275-4444-A51A-FEF6ECFEED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4A93207-3D1F-4115-9722-78A307FF5D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B4BFA8C7-D321-43B5-AA7A-A87AB650409C}"/>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B6A670-362C-41C8-A172-F3D47A8FDA2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7B311309-37A2-4CA7-9000-307F1C865E6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4304AF2-26E1-4634-93E4-0E720B72156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3A46182-8B42-4208-84AC-D4C07AF0EE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31</a:t>
            </a:r>
          </a:p>
        </p:txBody>
      </p:sp>
    </p:spTree>
    <p:extLst>
      <p:ext uri="{BB962C8B-B14F-4D97-AF65-F5344CB8AC3E}">
        <p14:creationId xmlns:p14="http://schemas.microsoft.com/office/powerpoint/2010/main" val="319397227"/>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191E3E-4102-4236-BAAB-D1BFAEBCF0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9FD6AF-AEF9-490B-B167-15608EA004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36931D1-8BC6-4243-AB16-9F1D0BE710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E1F2C0C6-1CC3-46F1-8205-10BE5E0F5FC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68A528-DC8E-444A-940D-C3854207D3A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F14D6F68-8902-4EA6-83FE-1C546AD2D15E}"/>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63DA97E-20FE-4CB6-ACA2-E13E0A578EF1}"/>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5DFD574E-5F9E-480E-935D-19A9D99A4B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32</a:t>
            </a:r>
          </a:p>
        </p:txBody>
      </p:sp>
    </p:spTree>
    <p:extLst>
      <p:ext uri="{BB962C8B-B14F-4D97-AF65-F5344CB8AC3E}">
        <p14:creationId xmlns:p14="http://schemas.microsoft.com/office/powerpoint/2010/main" val="897763360"/>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C145DE2-1361-4001-A369-020179167F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E2D945-7F10-4A73-9FC4-E5EEF00E8C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62EF2EA-5F7D-4D33-96E1-5D82BDB0AB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15DB7ADB-94CC-4714-8915-956789F24E8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4271F15-F6A1-454C-9068-CA97CF0B802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ABEF4247-327D-45B8-BB0B-D52BFE8694F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0A7B215-8450-4566-BA2B-D47DE523402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3BB848CF-63BD-49BE-A904-DDF2EC32512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CB5DBA-BE12-4EDD-85B5-7088EA4900C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2429CA1A-9D21-4096-A3AE-18E6F64D13C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DB81652-1CC0-4763-911E-112B745DC5B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705BF4E6-FC31-4606-88C3-89EE490D6C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33</a:t>
            </a:r>
          </a:p>
        </p:txBody>
      </p:sp>
    </p:spTree>
    <p:extLst>
      <p:ext uri="{BB962C8B-B14F-4D97-AF65-F5344CB8AC3E}">
        <p14:creationId xmlns:p14="http://schemas.microsoft.com/office/powerpoint/2010/main" val="76700930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AC32D7D-82B5-4E45-9D07-C32C7661DF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E8A367-8170-4833-BFCB-46BB1E5248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FF21AC58-EC70-4023-8544-1322C15A88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Model recommendation submission</a:t>
            </a:r>
          </a:p>
        </p:txBody>
      </p:sp>
      <p:sp>
        <p:nvSpPr>
          <p:cNvPr id="4" name="">
            <a:extLst xmlns:a="http://schemas.openxmlformats.org/drawingml/2006/main">
              <a:ext uri="{FF2B5EF4-FFF2-40B4-BE49-F238E27FC236}">
                <a16:creationId xmlns:a16="http://schemas.microsoft.com/office/drawing/2014/main" id="{7CEAF339-921B-4F99-B5C9-E8BFD012BB0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893A55-AA97-46D2-87A4-9499A16EAB8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24 Nov 2026, 11:00 Kampala</a:t>
            </a:r>
          </a:p>
        </p:txBody>
      </p:sp>
      <p:sp>
        <p:nvSpPr>
          <p:cNvPr id="6" name="">
            <a:extLst xmlns:a="http://schemas.openxmlformats.org/drawingml/2006/main">
              <a:ext uri="{FF2B5EF4-FFF2-40B4-BE49-F238E27FC236}">
                <a16:creationId xmlns:a16="http://schemas.microsoft.com/office/drawing/2014/main" id="{DCA46D21-A974-4A16-B7EB-6E5E9D10FEE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D51428-6BEC-4263-9CFC-4A57FB15279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24 Nov 2026, 14:00 Kampala</a:t>
            </a:r>
          </a:p>
        </p:txBody>
      </p:sp>
      <p:sp>
        <p:nvSpPr>
          <p:cNvPr id="8" name="">
            <a:extLst xmlns:a="http://schemas.openxmlformats.org/drawingml/2006/main">
              <a:ext uri="{FF2B5EF4-FFF2-40B4-BE49-F238E27FC236}">
                <a16:creationId xmlns:a16="http://schemas.microsoft.com/office/drawing/2014/main" id="{4CA8744E-DA0B-467E-BFA6-F5532F9FD17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5E7922F-FF1B-410F-96A6-09D180C469EB}"/>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541C9705-F278-480E-8301-6D1E0D217C5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F6F6C8F-8DA0-4FE8-80FC-47E649F537E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ED3A6E63-0E9D-489F-AE88-D788703B48B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16B376E-F1DA-476B-9CAA-1EE7E2F01F9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d87acaba939f4d1d"/>
              </a:rPr>
              <a:t>Open W12 assignment form</a:t>
            </a:r>
          </a:p>
        </p:txBody>
      </p:sp>
      <p:sp>
        <p:nvSpPr>
          <p:cNvPr id="14" name="">
            <a:extLst xmlns:a="http://schemas.openxmlformats.org/drawingml/2006/main">
              <a:ext uri="{FF2B5EF4-FFF2-40B4-BE49-F238E27FC236}">
                <a16:creationId xmlns:a16="http://schemas.microsoft.com/office/drawing/2014/main" id="{7D098BA7-86C8-4F6A-AC30-BE5339E40C9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https://docs.google.com/forms/d/e/1FAIpQLSd4Ltaw1RqRzbW7PoC4_Kh3PZHkElCKA9OY8F_xrJfLnpcbfA/viewform</a:t>
            </a:r>
          </a:p>
        </p:txBody>
      </p:sp>
      <p:sp>
        <p:nvSpPr>
          <p:cNvPr id="15" name="">
            <a:extLst xmlns:a="http://schemas.openxmlformats.org/drawingml/2006/main">
              <a:ext uri="{FF2B5EF4-FFF2-40B4-BE49-F238E27FC236}">
                <a16:creationId xmlns:a16="http://schemas.microsoft.com/office/drawing/2014/main" id="{62F254AE-FE6F-4F85-8C28-A4A8231428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34</a:t>
            </a:r>
          </a:p>
        </p:txBody>
      </p:sp>
    </p:spTree>
    <p:extLst>
      <p:ext uri="{BB962C8B-B14F-4D97-AF65-F5344CB8AC3E}">
        <p14:creationId xmlns:p14="http://schemas.microsoft.com/office/powerpoint/2010/main" val="748723048"/>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B0FFF7-AD3B-4C11-A6EF-D3920B09ABF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9472379-E875-47EE-BEBC-A99DEEDCA8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9326D49-0EE4-412C-AFF5-26C1D8A8D5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06D1A1D6-8430-4128-9368-BF97B908FA7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4788FD-7979-4AB8-9EF2-84F10598A909}"/>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8BC11D55-87DB-47C4-9295-EA9A6AECB78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E7FFAE-1450-474F-93D9-F264108CE837}"/>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B63442B4-52CB-4E0A-A6B7-F0E35CB8D93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53BCB9E-E007-48E3-9E48-10AD41E3666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C927E351-D70A-4592-994C-8826F49CC33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D730C58-6683-4B19-883A-13DCA84C9FC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15 Dec 2026, 11:00 Kampala</a:t>
            </a:r>
          </a:p>
        </p:txBody>
      </p:sp>
      <p:sp>
        <p:nvSpPr>
          <p:cNvPr id="12" name="">
            <a:extLst xmlns:a="http://schemas.openxmlformats.org/drawingml/2006/main">
              <a:ext uri="{FF2B5EF4-FFF2-40B4-BE49-F238E27FC236}">
                <a16:creationId xmlns:a16="http://schemas.microsoft.com/office/drawing/2014/main" id="{DACD5A81-3F8F-4CBC-89BC-4B76BE93EB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35</a:t>
            </a:r>
          </a:p>
        </p:txBody>
      </p:sp>
    </p:spTree>
    <p:extLst>
      <p:ext uri="{BB962C8B-B14F-4D97-AF65-F5344CB8AC3E}">
        <p14:creationId xmlns:p14="http://schemas.microsoft.com/office/powerpoint/2010/main" val="424979504"/>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40521776-0066-4AB0-9E08-E437486C0C8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3CC6841-4E4D-4EA9-A5A2-A88DBB25E4A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0B30759E-8961-49D1-8576-9F6F756C5C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12 quiz</a:t>
            </a:r>
          </a:p>
        </p:txBody>
      </p:sp>
      <p:sp>
        <p:nvSpPr>
          <p:cNvPr id="4" name="">
            <a:extLst xmlns:a="http://schemas.openxmlformats.org/drawingml/2006/main">
              <a:ext uri="{FF2B5EF4-FFF2-40B4-BE49-F238E27FC236}">
                <a16:creationId xmlns:a16="http://schemas.microsoft.com/office/drawing/2014/main" id="{57FBE2D0-7BA1-4684-86E7-17F0640809A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43B1FCD-A013-4BBE-86F0-0C7110681B80}"/>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2B295A0B-DC0E-4A6A-A76B-60E9B0871E3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D49FF0-F3D4-43E3-9F3C-296C95D88948}"/>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A0E016CC-3E42-4BC9-9664-CC6476DFF29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B239967-D31F-4E08-AFC9-88FF72C5DA9C}"/>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374119AB-4B7E-433D-A0E6-5605AD62156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1F7EBCC-044E-4E6E-80F5-E194EC9D583C}"/>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97635b21aeda4a23"/>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6C5EB82F-A23D-4A87-8454-6A884A69B38F}"/>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93899170-A233-4588-B86D-271826B9817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FDC9F87-AD37-4919-A8DB-FF639CB6CFE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37302e636ee4138"/>
              </a:rPr>
              <a:t>Open this week’s quiz</a:t>
            </a:r>
          </a:p>
        </p:txBody>
      </p:sp>
      <p:sp>
        <p:nvSpPr>
          <p:cNvPr id="16" name="">
            <a:extLst xmlns:a="http://schemas.openxmlformats.org/drawingml/2006/main">
              <a:ext uri="{FF2B5EF4-FFF2-40B4-BE49-F238E27FC236}">
                <a16:creationId xmlns:a16="http://schemas.microsoft.com/office/drawing/2014/main" id="{EDDF9845-4B8D-48A3-9AA4-B260DA06998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https://forms.gle/MKfjP3UWDXAei6FK6</a:t>
            </a:r>
          </a:p>
        </p:txBody>
      </p:sp>
      <p:sp>
        <p:nvSpPr>
          <p:cNvPr id="17" name="">
            <a:extLst xmlns:a="http://schemas.openxmlformats.org/drawingml/2006/main">
              <a:ext uri="{FF2B5EF4-FFF2-40B4-BE49-F238E27FC236}">
                <a16:creationId xmlns:a16="http://schemas.microsoft.com/office/drawing/2014/main" id="{6055C86B-6E9A-434B-9480-2BE22AB2F0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12   36</a:t>
            </a:r>
          </a:p>
        </p:txBody>
      </p:sp>
    </p:spTree>
    <p:extLst>
      <p:ext uri="{BB962C8B-B14F-4D97-AF65-F5344CB8AC3E}">
        <p14:creationId xmlns:p14="http://schemas.microsoft.com/office/powerpoint/2010/main" val="1462595034"/>
      </p:ext>
    </p:extLst>
  </p:cSld>
</p:sld>
</file>

<file path=ppt/slides/slide37.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7E6055A-A863-4CA2-8F83-C6D133B0C0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E6651A83-63B0-4AE3-AE31-19427E4CCE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9DD722C0-7A42-4B6E-A7BB-FCD3B2CB3FE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500E57A-407F-448B-A19B-4ACE02769DB2}"/>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justify a valid candidate with evidence and a stated limitation.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315D0A06-AF89-4C0F-8FF4-57EC6AB8A305}"/>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5AF27D0-AB5F-45D7-BB85-9C9ABA7040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12   37</a:t>
            </a:r>
          </a:p>
        </p:txBody>
      </p:sp>
    </p:spTree>
    <p:extLst>
      <p:ext uri="{BB962C8B-B14F-4D97-AF65-F5344CB8AC3E}">
        <p14:creationId xmlns:p14="http://schemas.microsoft.com/office/powerpoint/2010/main" val="10531779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2026-09-16T11:09:02.3480000Z</dcterms:created>
  <dcterms:modified xsi:type="dcterms:W3CDTF">2026-09-16T11:09:02.3480000Z</dcterms:modified>
</coreProperties>
</file>