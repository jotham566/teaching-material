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7e78ac0446745de" /><Relationship Type="http://schemas.openxmlformats.org/officeDocument/2006/relationships/extended-properties" Target="/docProps/app.xml" Id="Rc6a790734a4c4b11" /><Relationship Type="http://schemas.openxmlformats.org/officeDocument/2006/relationships/officeDocument" Target="/ppt/presentation.xml" Id="R85fc583597524c76" /></Relationships>
</file>

<file path=ppt/presentation.xml><?xml version="1.0" encoding="utf-8"?>
<p:presentation xmlns:p="http://schemas.openxmlformats.org/presentationml/2006/main">
  <p:sldMasterIdLst>
    <p:sldMasterId xmlns:r="http://schemas.openxmlformats.org/officeDocument/2006/relationships" id="2147483648" r:id="R4d884d3a72fa4336"/>
  </p:sldMasterIdLst>
  <p:notesMasterIdLst>
    <p:notesMasterId xmlns:r="http://schemas.openxmlformats.org/officeDocument/2006/relationships" r:id="R0f2c108ec1d94987"/>
  </p:notesMasterIdLst>
  <p:sldIdLst>
    <p:sldId xmlns:r="http://schemas.openxmlformats.org/officeDocument/2006/relationships" id="256" r:id="R944443e064274ff8"/>
    <p:sldId xmlns:r="http://schemas.openxmlformats.org/officeDocument/2006/relationships" id="257" r:id="R418fd5cbd7484720"/>
    <p:sldId xmlns:r="http://schemas.openxmlformats.org/officeDocument/2006/relationships" id="258" r:id="R3acda0da43344246"/>
    <p:sldId xmlns:r="http://schemas.openxmlformats.org/officeDocument/2006/relationships" id="259" r:id="Rc56277c9e62d4782"/>
    <p:sldId xmlns:r="http://schemas.openxmlformats.org/officeDocument/2006/relationships" id="260" r:id="Rd85ecf0006b04db4"/>
    <p:sldId xmlns:r="http://schemas.openxmlformats.org/officeDocument/2006/relationships" id="261" r:id="Rf11d859c4365431b"/>
    <p:sldId xmlns:r="http://schemas.openxmlformats.org/officeDocument/2006/relationships" id="262" r:id="Ra1d7f708c3054fc0"/>
    <p:sldId xmlns:r="http://schemas.openxmlformats.org/officeDocument/2006/relationships" id="263" r:id="Rd788b6c20f8347aa"/>
    <p:sldId xmlns:r="http://schemas.openxmlformats.org/officeDocument/2006/relationships" id="264" r:id="R47d2464a2faa49d6"/>
    <p:sldId xmlns:r="http://schemas.openxmlformats.org/officeDocument/2006/relationships" id="265" r:id="R96db67ed70c24ef2"/>
    <p:sldId xmlns:r="http://schemas.openxmlformats.org/officeDocument/2006/relationships" id="266" r:id="R2e4587e57c5342cb"/>
    <p:sldId xmlns:r="http://schemas.openxmlformats.org/officeDocument/2006/relationships" id="267" r:id="R45e13f1e73ce4e20"/>
    <p:sldId xmlns:r="http://schemas.openxmlformats.org/officeDocument/2006/relationships" id="268" r:id="R31554a6bc79043b0"/>
    <p:sldId xmlns:r="http://schemas.openxmlformats.org/officeDocument/2006/relationships" id="269" r:id="R29078ca87c6b42a3"/>
    <p:sldId xmlns:r="http://schemas.openxmlformats.org/officeDocument/2006/relationships" id="270" r:id="R622e8bbc98ee44ac"/>
    <p:sldId xmlns:r="http://schemas.openxmlformats.org/officeDocument/2006/relationships" id="271" r:id="R3d6aa05f042747f3"/>
    <p:sldId xmlns:r="http://schemas.openxmlformats.org/officeDocument/2006/relationships" id="272" r:id="R4ae8ccc08f0f459a"/>
    <p:sldId xmlns:r="http://schemas.openxmlformats.org/officeDocument/2006/relationships" id="273" r:id="R11361817f31d476d"/>
    <p:sldId xmlns:r="http://schemas.openxmlformats.org/officeDocument/2006/relationships" id="274" r:id="R52441dc0e51c4e81"/>
    <p:sldId xmlns:r="http://schemas.openxmlformats.org/officeDocument/2006/relationships" id="275" r:id="R5e2894e49d854bd4"/>
    <p:sldId xmlns:r="http://schemas.openxmlformats.org/officeDocument/2006/relationships" id="276" r:id="R974abc3145734a87"/>
    <p:sldId xmlns:r="http://schemas.openxmlformats.org/officeDocument/2006/relationships" id="277" r:id="Rd240f43af7c94eca"/>
    <p:sldId xmlns:r="http://schemas.openxmlformats.org/officeDocument/2006/relationships" id="278" r:id="Rf06c6667516149e4"/>
    <p:sldId xmlns:r="http://schemas.openxmlformats.org/officeDocument/2006/relationships" id="279" r:id="R235d8ade19294534"/>
    <p:sldId xmlns:r="http://schemas.openxmlformats.org/officeDocument/2006/relationships" id="280" r:id="R163ba381dc1d4b03"/>
    <p:sldId xmlns:r="http://schemas.openxmlformats.org/officeDocument/2006/relationships" id="281" r:id="R18324f9ef94d4cae"/>
    <p:sldId xmlns:r="http://schemas.openxmlformats.org/officeDocument/2006/relationships" id="282" r:id="R9e642d7a10c743db"/>
    <p:sldId xmlns:r="http://schemas.openxmlformats.org/officeDocument/2006/relationships" id="283" r:id="Re60d2675784645b9"/>
    <p:sldId xmlns:r="http://schemas.openxmlformats.org/officeDocument/2006/relationships" id="284" r:id="Rcdf1a7769dd3435d"/>
    <p:sldId xmlns:r="http://schemas.openxmlformats.org/officeDocument/2006/relationships" id="285" r:id="R793fe223159d4d39"/>
    <p:sldId xmlns:r="http://schemas.openxmlformats.org/officeDocument/2006/relationships" id="286" r:id="R32196c27427f40f9"/>
    <p:sldId xmlns:r="http://schemas.openxmlformats.org/officeDocument/2006/relationships" id="287" r:id="R2182fc34f92e4e58"/>
    <p:sldId xmlns:r="http://schemas.openxmlformats.org/officeDocument/2006/relationships" id="288" r:id="R8a481d559849483c"/>
    <p:sldId xmlns:r="http://schemas.openxmlformats.org/officeDocument/2006/relationships" id="289" r:id="Ra042f17e6b214217"/>
    <p:sldId xmlns:r="http://schemas.openxmlformats.org/officeDocument/2006/relationships" id="290" r:id="R52f4fd2164884b30"/>
    <p:sldId xmlns:r="http://schemas.openxmlformats.org/officeDocument/2006/relationships" id="291" r:id="R1169fe2bfa174dc5"/>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dd7a27bd9bf4342" /><Relationship Type="http://schemas.openxmlformats.org/officeDocument/2006/relationships/slideMaster" Target="/ppt/slideMasters/slideMaster1.xml" Id="R4d884d3a72fa4336" /><Relationship Type="http://schemas.openxmlformats.org/officeDocument/2006/relationships/notesMaster" Target="/ppt/notesMasters/notesMaster1.xml" Id="R0f2c108ec1d94987" /><Relationship Type="http://schemas.openxmlformats.org/officeDocument/2006/relationships/presProps" Target="/ppt/presProps.xml" Id="R38ff0711938d4f00" /><Relationship Type="http://schemas.openxmlformats.org/officeDocument/2006/relationships/tableStyles" Target="/ppt/tableStyles.xml" Id="R779150666c92407e" /><Relationship Type="http://schemas.openxmlformats.org/officeDocument/2006/relationships/slide" Target="/ppt/slides/slide1.xml" Id="R944443e064274ff8" /><Relationship Type="http://schemas.openxmlformats.org/officeDocument/2006/relationships/slide" Target="/ppt/slides/slide2.xml" Id="R418fd5cbd7484720" /><Relationship Type="http://schemas.openxmlformats.org/officeDocument/2006/relationships/slide" Target="/ppt/slides/slide3.xml" Id="R3acda0da43344246" /><Relationship Type="http://schemas.openxmlformats.org/officeDocument/2006/relationships/slide" Target="/ppt/slides/slide4.xml" Id="Rc56277c9e62d4782" /><Relationship Type="http://schemas.openxmlformats.org/officeDocument/2006/relationships/slide" Target="/ppt/slides/slide5.xml" Id="Rd85ecf0006b04db4" /><Relationship Type="http://schemas.openxmlformats.org/officeDocument/2006/relationships/slide" Target="/ppt/slides/slide6.xml" Id="Rf11d859c4365431b" /><Relationship Type="http://schemas.openxmlformats.org/officeDocument/2006/relationships/slide" Target="/ppt/slides/slide7.xml" Id="Ra1d7f708c3054fc0" /><Relationship Type="http://schemas.openxmlformats.org/officeDocument/2006/relationships/slide" Target="/ppt/slides/slide8.xml" Id="Rd788b6c20f8347aa" /><Relationship Type="http://schemas.openxmlformats.org/officeDocument/2006/relationships/slide" Target="/ppt/slides/slide9.xml" Id="R47d2464a2faa49d6" /><Relationship Type="http://schemas.openxmlformats.org/officeDocument/2006/relationships/slide" Target="/ppt/slides/slide10.xml" Id="R96db67ed70c24ef2" /><Relationship Type="http://schemas.openxmlformats.org/officeDocument/2006/relationships/slide" Target="/ppt/slides/slide11.xml" Id="R2e4587e57c5342cb" /><Relationship Type="http://schemas.openxmlformats.org/officeDocument/2006/relationships/slide" Target="/ppt/slides/slide12.xml" Id="R45e13f1e73ce4e20" /><Relationship Type="http://schemas.openxmlformats.org/officeDocument/2006/relationships/slide" Target="/ppt/slides/slide13.xml" Id="R31554a6bc79043b0" /><Relationship Type="http://schemas.openxmlformats.org/officeDocument/2006/relationships/slide" Target="/ppt/slides/slide14.xml" Id="R29078ca87c6b42a3" /><Relationship Type="http://schemas.openxmlformats.org/officeDocument/2006/relationships/slide" Target="/ppt/slides/slide15.xml" Id="R622e8bbc98ee44ac" /><Relationship Type="http://schemas.openxmlformats.org/officeDocument/2006/relationships/slide" Target="/ppt/slides/slide16.xml" Id="R3d6aa05f042747f3" /><Relationship Type="http://schemas.openxmlformats.org/officeDocument/2006/relationships/slide" Target="/ppt/slides/slide17.xml" Id="R4ae8ccc08f0f459a" /><Relationship Type="http://schemas.openxmlformats.org/officeDocument/2006/relationships/slide" Target="/ppt/slides/slide18.xml" Id="R11361817f31d476d" /><Relationship Type="http://schemas.openxmlformats.org/officeDocument/2006/relationships/slide" Target="/ppt/slides/slide19.xml" Id="R52441dc0e51c4e81" /><Relationship Type="http://schemas.openxmlformats.org/officeDocument/2006/relationships/slide" Target="/ppt/slides/slide20.xml" Id="R5e2894e49d854bd4" /><Relationship Type="http://schemas.openxmlformats.org/officeDocument/2006/relationships/slide" Target="/ppt/slides/slide21.xml" Id="R974abc3145734a87" /><Relationship Type="http://schemas.openxmlformats.org/officeDocument/2006/relationships/slide" Target="/ppt/slides/slide22.xml" Id="Rd240f43af7c94eca" /><Relationship Type="http://schemas.openxmlformats.org/officeDocument/2006/relationships/slide" Target="/ppt/slides/slide23.xml" Id="Rf06c6667516149e4" /><Relationship Type="http://schemas.openxmlformats.org/officeDocument/2006/relationships/slide" Target="/ppt/slides/slide24.xml" Id="R235d8ade19294534" /><Relationship Type="http://schemas.openxmlformats.org/officeDocument/2006/relationships/slide" Target="/ppt/slides/slide25.xml" Id="R163ba381dc1d4b03" /><Relationship Type="http://schemas.openxmlformats.org/officeDocument/2006/relationships/slide" Target="/ppt/slides/slide26.xml" Id="R18324f9ef94d4cae" /><Relationship Type="http://schemas.openxmlformats.org/officeDocument/2006/relationships/slide" Target="/ppt/slides/slide27.xml" Id="R9e642d7a10c743db" /><Relationship Type="http://schemas.openxmlformats.org/officeDocument/2006/relationships/slide" Target="/ppt/slides/slide28.xml" Id="Re60d2675784645b9" /><Relationship Type="http://schemas.openxmlformats.org/officeDocument/2006/relationships/slide" Target="/ppt/slides/slide29.xml" Id="Rcdf1a7769dd3435d" /><Relationship Type="http://schemas.openxmlformats.org/officeDocument/2006/relationships/slide" Target="/ppt/slides/slide30.xml" Id="R793fe223159d4d39" /><Relationship Type="http://schemas.openxmlformats.org/officeDocument/2006/relationships/slide" Target="/ppt/slides/slide31.xml" Id="R32196c27427f40f9" /><Relationship Type="http://schemas.openxmlformats.org/officeDocument/2006/relationships/slide" Target="/ppt/slides/slide32.xml" Id="R2182fc34f92e4e58" /><Relationship Type="http://schemas.openxmlformats.org/officeDocument/2006/relationships/slide" Target="/ppt/slides/slide33.xml" Id="R8a481d559849483c" /><Relationship Type="http://schemas.openxmlformats.org/officeDocument/2006/relationships/slide" Target="/ppt/slides/slide34.xml" Id="Ra042f17e6b214217" /><Relationship Type="http://schemas.openxmlformats.org/officeDocument/2006/relationships/slide" Target="/ppt/slides/slide35.xml" Id="R52f4fd2164884b30" /><Relationship Type="http://schemas.openxmlformats.org/officeDocument/2006/relationships/slide" Target="/ppt/slides/slide36.xml" Id="R1169fe2bfa174dc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9e7402a5b2a471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a2cf498ddb54ffa" /><Relationship Type="http://schemas.openxmlformats.org/officeDocument/2006/relationships/notesMaster" Target="/ppt/notesMasters/notesMaster1.xml" Id="Rf75d1cd23381475c" /></Relationships>
</file>

<file path=ppt/notesSlides/_rels/notesSlide2.xml.rels>&#65279;<?xml version="1.0" encoding="utf-8"?><Relationships xmlns="http://schemas.openxmlformats.org/package/2006/relationships"><Relationship Type="http://schemas.openxmlformats.org/officeDocument/2006/relationships/slide" Target="/ppt/slides/slide2.xml" Id="R7d3a00ff7cd74793" /><Relationship Type="http://schemas.openxmlformats.org/officeDocument/2006/relationships/notesMaster" Target="/ppt/notesMasters/notesMaster1.xml" Id="R5f2486e650134d0c" /></Relationships>
</file>

<file path=ppt/notesSlides/_rels/notesSlide3.xml.rels>&#65279;<?xml version="1.0" encoding="utf-8"?><Relationships xmlns="http://schemas.openxmlformats.org/package/2006/relationships"><Relationship Type="http://schemas.openxmlformats.org/officeDocument/2006/relationships/slide" Target="/ppt/slides/slide3.xml" Id="Rbdb3709caa844b19" /><Relationship Type="http://schemas.openxmlformats.org/officeDocument/2006/relationships/notesMaster" Target="/ppt/notesMasters/notesMaster1.xml" Id="R6823fee5106c4c5f" /></Relationships>
</file>

<file path=ppt/notesSlides/_rels/notesSlide4.xml.rels>&#65279;<?xml version="1.0" encoding="utf-8"?><Relationships xmlns="http://schemas.openxmlformats.org/package/2006/relationships"><Relationship Type="http://schemas.openxmlformats.org/officeDocument/2006/relationships/slide" Target="/ppt/slides/slide4.xml" Id="R6f0f52146eec4e0c" /><Relationship Type="http://schemas.openxmlformats.org/officeDocument/2006/relationships/notesMaster" Target="/ppt/notesMasters/notesMaster1.xml" Id="Rb0b01f5837a1469f" /></Relationships>
</file>

<file path=ppt/notesSlides/_rels/notesSlide5.xml.rels>&#65279;<?xml version="1.0" encoding="utf-8"?><Relationships xmlns="http://schemas.openxmlformats.org/package/2006/relationships"><Relationship Type="http://schemas.openxmlformats.org/officeDocument/2006/relationships/slide" Target="/ppt/slides/slide5.xml" Id="Rf43ddcef0a734dc9" /><Relationship Type="http://schemas.openxmlformats.org/officeDocument/2006/relationships/notesMaster" Target="/ppt/notesMasters/notesMaster1.xml" Id="R2f5b6a456c264c0e" /></Relationships>
</file>

<file path=ppt/notesSlides/_rels/notesSlide6.xml.rels>&#65279;<?xml version="1.0" encoding="utf-8"?><Relationships xmlns="http://schemas.openxmlformats.org/package/2006/relationships"><Relationship Type="http://schemas.openxmlformats.org/officeDocument/2006/relationships/slide" Target="/ppt/slides/slide6.xml" Id="R8033462298ed4cb0" /><Relationship Type="http://schemas.openxmlformats.org/officeDocument/2006/relationships/notesMaster" Target="/ppt/notesMasters/notesMaster1.xml" Id="Re2f903b0375b486b" /></Relationships>
</file>

<file path=ppt/notesSlides/_rels/notesSlide7.xml.rels>&#65279;<?xml version="1.0" encoding="utf-8"?><Relationships xmlns="http://schemas.openxmlformats.org/package/2006/relationships"><Relationship Type="http://schemas.openxmlformats.org/officeDocument/2006/relationships/slide" Target="/ppt/slides/slide7.xml" Id="R70a812db0cad4404" /><Relationship Type="http://schemas.openxmlformats.org/officeDocument/2006/relationships/notesMaster" Target="/ppt/notesMasters/notesMaster1.xml" Id="R26331a7f098e4edc" /></Relationships>
</file>

<file path=ppt/notesSlides/_rels/notesSlide8.xml.rels>&#65279;<?xml version="1.0" encoding="utf-8"?><Relationships xmlns="http://schemas.openxmlformats.org/package/2006/relationships"><Relationship Type="http://schemas.openxmlformats.org/officeDocument/2006/relationships/slide" Target="/ppt/slides/slide8.xml" Id="R9e987e6051ba4a9a" /><Relationship Type="http://schemas.openxmlformats.org/officeDocument/2006/relationships/notesMaster" Target="/ppt/notesMasters/notesMaster1.xml" Id="R95456c1b87b5421a" /></Relationships>
</file>

<file path=ppt/notesSlides/_rels/notesSlide9.xml.rels>&#65279;<?xml version="1.0" encoding="utf-8"?><Relationships xmlns="http://schemas.openxmlformats.org/package/2006/relationships"><Relationship Type="http://schemas.openxmlformats.org/officeDocument/2006/relationships/slide" Target="/ppt/slides/slide9.xml" Id="R1abef5de8e004df5" /><Relationship Type="http://schemas.openxmlformats.org/officeDocument/2006/relationships/notesMaster" Target="/ppt/notesMasters/notesMaster1.xml" Id="Rc0da3045f7fd446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41f9ed8fe3f4c48" /><Relationship Type="http://schemas.openxmlformats.org/officeDocument/2006/relationships/notesMaster" Target="/ppt/notesMasters/notesMaster1.xml" Id="R30a8da0703ea493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3b21655535e4767" /><Relationship Type="http://schemas.openxmlformats.org/officeDocument/2006/relationships/notesMaster" Target="/ppt/notesMasters/notesMaster1.xml" Id="R33fbf204b6f2494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c71469ea2354693" /><Relationship Type="http://schemas.openxmlformats.org/officeDocument/2006/relationships/notesMaster" Target="/ppt/notesMasters/notesMaster1.xml" Id="Rb8c6893885944b0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fa9eb8a3e6b44c8" /><Relationship Type="http://schemas.openxmlformats.org/officeDocument/2006/relationships/notesMaster" Target="/ppt/notesMasters/notesMaster1.xml" Id="R1ada8281198c493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78e8522d1d84b05" /><Relationship Type="http://schemas.openxmlformats.org/officeDocument/2006/relationships/notesMaster" Target="/ppt/notesMasters/notesMaster1.xml" Id="R1450f37109f9484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83b2f6cca344e6f" /><Relationship Type="http://schemas.openxmlformats.org/officeDocument/2006/relationships/notesMaster" Target="/ppt/notesMasters/notesMaster1.xml" Id="Rc90e46c851b3441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dd65a416d454903" /><Relationship Type="http://schemas.openxmlformats.org/officeDocument/2006/relationships/notesMaster" Target="/ppt/notesMasters/notesMaster1.xml" Id="R1ba87bf40d06496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b93ef5bfe644d3b" /><Relationship Type="http://schemas.openxmlformats.org/officeDocument/2006/relationships/notesMaster" Target="/ppt/notesMasters/notesMaster1.xml" Id="R8712bf801f9e42e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b09247d72ef407a" /><Relationship Type="http://schemas.openxmlformats.org/officeDocument/2006/relationships/notesMaster" Target="/ppt/notesMasters/notesMaster1.xml" Id="Re40b1273fd1043d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4d380577ce04451" /><Relationship Type="http://schemas.openxmlformats.org/officeDocument/2006/relationships/notesMaster" Target="/ppt/notesMasters/notesMaster1.xml" Id="R86f4b936e63f431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a840aa917164d14" /><Relationship Type="http://schemas.openxmlformats.org/officeDocument/2006/relationships/notesMaster" Target="/ppt/notesMasters/notesMaster1.xml" Id="Rd64610c574024c9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57dccbad67249fd" /><Relationship Type="http://schemas.openxmlformats.org/officeDocument/2006/relationships/notesMaster" Target="/ppt/notesMasters/notesMaster1.xml" Id="R84ae319b7d57419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577caf63c3744c9" /><Relationship Type="http://schemas.openxmlformats.org/officeDocument/2006/relationships/notesMaster" Target="/ppt/notesMasters/notesMaster1.xml" Id="R5888854b72924183"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9b81609205749ba" /><Relationship Type="http://schemas.openxmlformats.org/officeDocument/2006/relationships/notesMaster" Target="/ppt/notesMasters/notesMaster1.xml" Id="Rbb9b3c297cfb414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6a4696b977a4aa8" /><Relationship Type="http://schemas.openxmlformats.org/officeDocument/2006/relationships/notesMaster" Target="/ppt/notesMasters/notesMaster1.xml" Id="Rd82ed0e1feba46b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13fd4f7576e4e9c" /><Relationship Type="http://schemas.openxmlformats.org/officeDocument/2006/relationships/notesMaster" Target="/ppt/notesMasters/notesMaster1.xml" Id="Re0dc66b8e0834ca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f40ea919f6d40f9" /><Relationship Type="http://schemas.openxmlformats.org/officeDocument/2006/relationships/notesMaster" Target="/ppt/notesMasters/notesMaster1.xml" Id="R70da975a947e4d1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0355f5cb7a54d87" /><Relationship Type="http://schemas.openxmlformats.org/officeDocument/2006/relationships/notesMaster" Target="/ppt/notesMasters/notesMaster1.xml" Id="R5e5b9f2c5b084cb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ad50f4233b54bd7" /><Relationship Type="http://schemas.openxmlformats.org/officeDocument/2006/relationships/notesMaster" Target="/ppt/notesMasters/notesMaster1.xml" Id="R850dbf62cb0b429c"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479885613b2b4b77" /><Relationship Type="http://schemas.openxmlformats.org/officeDocument/2006/relationships/notesMaster" Target="/ppt/notesMasters/notesMaster1.xml" Id="R3918f915f48748ea"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1771c05da6645be" /><Relationship Type="http://schemas.openxmlformats.org/officeDocument/2006/relationships/notesMaster" Target="/ppt/notesMasters/notesMaster1.xml" Id="R84fc34b4c70d4b2f"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a64a8612e8864811" /><Relationship Type="http://schemas.openxmlformats.org/officeDocument/2006/relationships/notesMaster" Target="/ppt/notesMasters/notesMaster1.xml" Id="R603d39c973824a47"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4ecbd828e29a43ca" /><Relationship Type="http://schemas.openxmlformats.org/officeDocument/2006/relationships/notesMaster" Target="/ppt/notesMasters/notesMaster1.xml" Id="Rdcfcd59225174d86"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0f773b3154014042" /><Relationship Type="http://schemas.openxmlformats.org/officeDocument/2006/relationships/notesMaster" Target="/ppt/notesMasters/notesMaster1.xml" Id="R89352ee2e04d4f32"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dd658b0c670c401b" /><Relationship Type="http://schemas.openxmlformats.org/officeDocument/2006/relationships/notesMaster" Target="/ppt/notesMasters/notesMaster1.xml" Id="Rf8bb86f8e4c74cf3"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9974b9bd63334ac3" /><Relationship Type="http://schemas.openxmlformats.org/officeDocument/2006/relationships/notesMaster" Target="/ppt/notesMasters/notesMaster1.xml" Id="R0ecc123335cd4b18"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b83a94fbbed5420a" /><Relationship Type="http://schemas.openxmlformats.org/officeDocument/2006/relationships/notesMaster" Target="/ppt/notesMasters/notesMaster1.xml" Id="R9b4a1fcdde624ab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Choosing and explaining a model</a:t>
            </a:r>
          </a:p>
          <a:p xmlns:a="http://schemas.openxmlformats.org/drawingml/2006/main">
            <a:r>
              <a:t/>
            </a:r>
          </a:p>
          <a:p xmlns:a="http://schemas.openxmlformats.org/drawingml/2006/main">
            <a:r>
              <a:t>CONNECT</a:t>
            </a:r>
          </a:p>
          <a:p xmlns:a="http://schemas.openxmlformats.org/drawingml/2006/main">
            <a:r>
              <a:t>Previous slide: the preceding week.</a:t>
            </a:r>
          </a:p>
          <a:p xmlns:a="http://schemas.openxmlformats.org/drawingml/2006/main">
            <a:r>
              <a:t/>
            </a:r>
          </a:p>
          <a:p xmlns:a="http://schemas.openxmlformats.org/drawingml/2006/main">
            <a:r>
              <a:t>EXPLAIN</a:t>
            </a:r>
          </a:p>
          <a:p xmlns:a="http://schemas.openxmlformats.org/drawingml/2006/main">
            <a:r>
              <a:t>Civil Engineering and Architecture</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Today’s learning.</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Previous slide: Choosing and explaining a model.</a:t>
            </a:r>
          </a:p>
          <a:p xmlns:a="http://schemas.openxmlformats.org/drawingml/2006/main">
            <a:r>
              <a:t/>
            </a:r>
          </a:p>
          <a:p xmlns:a="http://schemas.openxmlformats.org/drawingml/2006/main">
            <a:r>
              <a:t>EXPLAIN</a:t>
            </a:r>
          </a:p>
          <a:p xmlns:a="http://schemas.openxmlformats.org/drawingml/2006/main">
            <a:r>
              <a:t>Check model requirements before ranking candidates.</a:t>
            </a:r>
          </a:p>
          <a:p xmlns:a="http://schemas.openxmlformats.org/drawingml/2006/main">
            <a:r>
              <a:t/>
            </a:r>
          </a:p>
          <a:p xmlns:a="http://schemas.openxmlformats.org/drawingml/2006/main">
            <a:r>
              <a:t>Apply the tie-break rule and explain the choice.</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A large grid search, four new model implementations and an adversarial defence are optional practice. They must not crowd out the core decision process.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Connection to the previous lesson.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Previous slide: Today’s learning.</a:t>
            </a:r>
          </a:p>
          <a:p xmlns:a="http://schemas.openxmlformats.org/drawingml/2006/main">
            <a:r>
              <a:t/>
            </a:r>
          </a:p>
          <a:p xmlns:a="http://schemas.openxmlformats.org/drawingml/2006/main">
            <a:r>
              <a:t>EXPLAIN</a:t>
            </a:r>
          </a:p>
          <a:p xmlns:a="http://schemas.openxmlformats.org/drawingml/2006/main">
            <a:r>
              <a:t>We already calculate validation errors. Now we combine those errors with a practical constraint and an explicit tie-break rule.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Why this week’s tools are needed.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Previous slide: Connection to the previous lesson.</a:t>
            </a:r>
          </a:p>
          <a:p xmlns:a="http://schemas.openxmlformats.org/drawingml/2006/main">
            <a:r>
              <a:t/>
            </a:r>
          </a:p>
          <a:p xmlns:a="http://schemas.openxmlformats.org/drawingml/2006/main">
            <a:r>
              <a:t>EXPLAIN</a:t>
            </a:r>
          </a:p>
          <a:p xmlns:a="http://schemas.openxmlformats.org/drawingml/2006/main">
            <a:r>
              <a:t>The lowest prediction error may come from a model that is too slow for the stated task. We apply the published constraints before ranking eligible models.</a:t>
            </a:r>
          </a:p>
          <a:p xmlns:a="http://schemas.openxmlformats.org/drawingml/2006/main">
            <a:r>
              <a:t/>
            </a:r>
          </a:p>
          <a:p xmlns:a="http://schemas.openxmlformats.org/drawingml/2006/main">
            <a:r>
              <a:t>LECTURER CUE</a:t>
            </a:r>
          </a:p>
          <a:p xmlns:a="http://schemas.openxmlformats.org/drawingml/2006/main">
            <a:r>
              <a:t>A building team records indoor temperature to investigate comfort. Civil students can discuss construction and inspection; architecture students can discuss shading and ventilation. Explain the quantities before using them.</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Constraint and Latency.</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Constraint and Latency</a:t>
            </a:r>
          </a:p>
          <a:p xmlns:a="http://schemas.openxmlformats.org/drawingml/2006/main">
            <a:r>
              <a:t/>
            </a:r>
          </a:p>
          <a:p xmlns:a="http://schemas.openxmlformats.org/drawingml/2006/main">
            <a:r>
              <a:t>CONNECT</a:t>
            </a:r>
          </a:p>
          <a:p xmlns:a="http://schemas.openxmlformats.org/drawingml/2006/main">
            <a:r>
              <a:t>Previous slide: Why this week’s tools are needed.</a:t>
            </a:r>
          </a:p>
          <a:p xmlns:a="http://schemas.openxmlformats.org/drawingml/2006/main">
            <a:r>
              <a:t/>
            </a:r>
          </a:p>
          <a:p xmlns:a="http://schemas.openxmlformats.org/drawingml/2006/main">
            <a:r>
              <a:t>EXPLAIN</a:t>
            </a:r>
          </a:p>
          <a:p xmlns:a="http://schemas.openxmlformats.org/drawingml/2006/main">
            <a:r>
              <a:t>Constraint: A condition a candidate must satisfy, such as MAE at most 3 and latency at most 10 ms.</a:t>
            </a:r>
          </a:p>
          <a:p xmlns:a="http://schemas.openxmlformats.org/drawingml/2006/main">
            <a:r>
              <a:t/>
            </a:r>
          </a:p>
          <a:p xmlns:a="http://schemas.openxmlformats.org/drawingml/2006/main">
            <a:r>
              <a:t>Latency: Time taken to produce a prediction under stated measurement conditions. Hardware and measurement method matter.</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Tie-break and Hyperparameter.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Tie-break and Hyperparameter</a:t>
            </a:r>
          </a:p>
          <a:p xmlns:a="http://schemas.openxmlformats.org/drawingml/2006/main">
            <a:r>
              <a:t/>
            </a:r>
          </a:p>
          <a:p xmlns:a="http://schemas.openxmlformats.org/drawingml/2006/main">
            <a:r>
              <a:t>CONNECT</a:t>
            </a:r>
          </a:p>
          <a:p xmlns:a="http://schemas.openxmlformats.org/drawingml/2006/main">
            <a:r>
              <a:t>Previous slide: Constraint and Latency.</a:t>
            </a:r>
          </a:p>
          <a:p xmlns:a="http://schemas.openxmlformats.org/drawingml/2006/main">
            <a:r>
              <a:t/>
            </a:r>
          </a:p>
          <a:p xmlns:a="http://schemas.openxmlformats.org/drawingml/2006/main">
            <a:r>
              <a:t>EXPLAIN</a:t>
            </a:r>
          </a:p>
          <a:p xmlns:a="http://schemas.openxmlformats.org/drawingml/2006/main">
            <a:r>
              <a:t>Tie-break: A published rule for choosing between candidates that tie on the main criterion.</a:t>
            </a:r>
          </a:p>
          <a:p xmlns:a="http://schemas.openxmlformats.org/drawingml/2006/main">
            <a:r>
              <a:t/>
            </a:r>
          </a:p>
          <a:p xmlns:a="http://schemas.openxmlformats.org/drawingml/2006/main">
            <a:r>
              <a:t>Hyperparameter: A setting chosen before fitting, such as tree depth. Tune using validation or cross-validation, not the final test.</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Error and practical constraints.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Error and practical constraints</a:t>
            </a:r>
          </a:p>
          <a:p xmlns:a="http://schemas.openxmlformats.org/drawingml/2006/main">
            <a:r>
              <a:t/>
            </a:r>
          </a:p>
          <a:p xmlns:a="http://schemas.openxmlformats.org/drawingml/2006/main">
            <a:r>
              <a:t>CONNECT</a:t>
            </a:r>
          </a:p>
          <a:p xmlns:a="http://schemas.openxmlformats.org/drawingml/2006/main">
            <a:r>
              <a:t>Previous slide: Tie-break and Hyperparameter.</a:t>
            </a:r>
          </a:p>
          <a:p xmlns:a="http://schemas.openxmlformats.org/drawingml/2006/main">
            <a:r>
              <a:t/>
            </a:r>
          </a:p>
          <a:p xmlns:a="http://schemas.openxmlformats.org/drawingml/2006/main">
            <a:r>
              <a:t>EXPLAIN</a:t>
            </a:r>
          </a:p>
          <a:p xmlns:a="http://schemas.openxmlformats.org/drawingml/2006/main">
            <a:r>
              <a:t>A smaller error can require more computation.</a:t>
            </a:r>
          </a:p>
          <a:p xmlns:a="http://schemas.openxmlformats.org/drawingml/2006/main">
            <a:r>
              <a:t/>
            </a:r>
          </a:p>
          <a:p xmlns:a="http://schemas.openxmlformats.org/drawingml/2006/main">
            <a:r>
              <a:t>A candidate must meet every stated requirement.</a:t>
            </a:r>
          </a:p>
          <a:p xmlns:a="http://schemas.openxmlformats.org/drawingml/2006/main">
            <a:r>
              <a:t/>
            </a:r>
          </a:p>
          <a:p xmlns:a="http://schemas.openxmlformats.org/drawingml/2006/main">
            <a:r>
              <a:t>Compare eligible models on the same validation observations.</a:t>
            </a:r>
          </a:p>
          <a:p xmlns:a="http://schemas.openxmlformats.org/drawingml/2006/main">
            <a:r>
              <a:t/>
            </a:r>
          </a:p>
          <a:p xmlns:a="http://schemas.openxmlformats.org/drawingml/2006/main">
            <a:r>
              <a:t>Follow the published tie-break rule when scores tie.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model comparison needs a fair test.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model comparison needs a fair test</a:t>
            </a:r>
          </a:p>
          <a:p xmlns:a="http://schemas.openxmlformats.org/drawingml/2006/main">
            <a:r>
              <a:t/>
            </a:r>
          </a:p>
          <a:p xmlns:a="http://schemas.openxmlformats.org/drawingml/2006/main">
            <a:r>
              <a:t>CONNECT</a:t>
            </a:r>
          </a:p>
          <a:p xmlns:a="http://schemas.openxmlformats.org/drawingml/2006/main">
            <a:r>
              <a:t>Previous slide: Error and practical constraints.</a:t>
            </a:r>
          </a:p>
          <a:p xmlns:a="http://schemas.openxmlformats.org/drawingml/2006/main">
            <a:r>
              <a:t/>
            </a:r>
          </a:p>
          <a:p xmlns:a="http://schemas.openxmlformats.org/drawingml/2006/main">
            <a:r>
              <a:t>EXPLAIN</a:t>
            </a:r>
          </a:p>
          <a:p xmlns:a="http://schemas.openxmlformats.org/drawingml/2006/main">
            <a:r>
              <a:t>Use the same validation observations for every candidate.</a:t>
            </a:r>
          </a:p>
          <a:p xmlns:a="http://schemas.openxmlformats.org/drawingml/2006/main">
            <a:r>
              <a:t/>
            </a:r>
          </a:p>
          <a:p xmlns:a="http://schemas.openxmlformats.org/drawingml/2006/main">
            <a:r>
              <a:t>Fit preprocessing on training data only.</a:t>
            </a:r>
          </a:p>
          <a:p xmlns:a="http://schemas.openxmlformats.org/drawingml/2006/main">
            <a:r>
              <a:t/>
            </a:r>
          </a:p>
          <a:p xmlns:a="http://schemas.openxmlformats.org/drawingml/2006/main">
            <a:r>
              <a:t>Choose the error measure and practical requirements before inspecting results.</a:t>
            </a:r>
          </a:p>
          <a:p xmlns:a="http://schemas.openxmlformats.org/drawingml/2006/main">
            <a:r>
              <a:t/>
            </a:r>
          </a:p>
          <a:p xmlns:a="http://schemas.openxmlformats.org/drawingml/2006/main">
            <a:r>
              <a:t>LECTURER CUE</a:t>
            </a:r>
          </a:p>
          <a:p xmlns:a="http://schemas.openxmlformats.org/drawingml/2006/main">
            <a:r>
              <a:t>A tree asks successive questions. A forest combines many trees. More complexity does not guarantee better validation performance. The task’s tie-break rule remains authoritative.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Eligibility comes before ranking.</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Eligibility comes before ranking</a:t>
            </a:r>
          </a:p>
          <a:p xmlns:a="http://schemas.openxmlformats.org/drawingml/2006/main">
            <a:r>
              <a:t/>
            </a:r>
          </a:p>
          <a:p xmlns:a="http://schemas.openxmlformats.org/drawingml/2006/main">
            <a:r>
              <a:t>CONNECT</a:t>
            </a:r>
          </a:p>
          <a:p xmlns:a="http://schemas.openxmlformats.org/drawingml/2006/main">
            <a:r>
              <a:t>Previous slide: A model comparison needs a fair test.</a:t>
            </a:r>
          </a:p>
          <a:p xmlns:a="http://schemas.openxmlformats.org/drawingml/2006/main">
            <a:r>
              <a:t/>
            </a:r>
          </a:p>
          <a:p xmlns:a="http://schemas.openxmlformats.org/drawingml/2006/main">
            <a:r>
              <a:t>EXPLAIN</a:t>
            </a:r>
          </a:p>
          <a:p xmlns:a="http://schemas.openxmlformats.org/drawingml/2006/main">
            <a:r>
              <a:t>First check every stated requirement for each candidate.</a:t>
            </a:r>
          </a:p>
          <a:p xmlns:a="http://schemas.openxmlformats.org/drawingml/2006/main">
            <a:r>
              <a:t/>
            </a:r>
          </a:p>
          <a:p xmlns:a="http://schemas.openxmlformats.org/drawingml/2006/main">
            <a:r>
              <a:t>Reject a candidate that fails even one requirement.</a:t>
            </a:r>
          </a:p>
          <a:p xmlns:a="http://schemas.openxmlformats.org/drawingml/2006/main">
            <a:r>
              <a:t/>
            </a:r>
          </a:p>
          <a:p xmlns:a="http://schemas.openxmlformats.org/drawingml/2006/main">
            <a:r>
              <a:t>Rank the eligible candidates using the published tie-break rule.</a:t>
            </a:r>
          </a:p>
          <a:p xmlns:a="http://schemas.openxmlformats.org/drawingml/2006/main">
            <a:r>
              <a:t/>
            </a:r>
          </a:p>
          <a:p xmlns:a="http://schemas.openxmlformats.org/drawingml/2006/main">
            <a:r>
              <a:t>LECTURER CUE</a:t>
            </a:r>
          </a:p>
          <a:p xmlns:a="http://schemas.openxmlformats.org/drawingml/2006/main">
            <a:r>
              <a:t>Cross out ineligible candidates before ranking errors. Then apply the tie-break rule, rather than choosing the most sophisticated model.</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constrained model choice.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constrained model choice</a:t>
            </a:r>
          </a:p>
          <a:p xmlns:a="http://schemas.openxmlformats.org/drawingml/2006/main">
            <a:r>
              <a:t/>
            </a:r>
          </a:p>
          <a:p xmlns:a="http://schemas.openxmlformats.org/drawingml/2006/main">
            <a:r>
              <a:t>CONNECT</a:t>
            </a:r>
          </a:p>
          <a:p xmlns:a="http://schemas.openxmlformats.org/drawingml/2006/main">
            <a:r>
              <a:t>Previous slide: Eligibility comes before ranking.</a:t>
            </a:r>
          </a:p>
          <a:p xmlns:a="http://schemas.openxmlformats.org/drawingml/2006/main">
            <a:r>
              <a:t/>
            </a:r>
          </a:p>
          <a:p xmlns:a="http://schemas.openxmlformats.org/drawingml/2006/main">
            <a:r>
              <a:t>EXPLAIN</a:t>
            </a:r>
          </a:p>
          <a:p xmlns:a="http://schemas.openxmlformats.org/drawingml/2006/main">
            <a:r>
              <a:t>Candidate | Validation error | Time (ms)</a:t>
            </a:r>
          </a:p>
          <a:p xmlns:a="http://schemas.openxmlformats.org/drawingml/2006/main">
            <a:r>
              <a:t/>
            </a:r>
          </a:p>
          <a:p xmlns:a="http://schemas.openxmlformats.org/drawingml/2006/main">
            <a:r>
              <a:t>simple | 3 | 2</a:t>
            </a:r>
          </a:p>
          <a:p xmlns:a="http://schemas.openxmlformats.org/drawingml/2006/main">
            <a:r>
              <a:t/>
            </a:r>
          </a:p>
          <a:p xmlns:a="http://schemas.openxmlformats.org/drawingml/2006/main">
            <a:r>
              <a:t>complex | 1 | 20</a:t>
            </a:r>
          </a:p>
          <a:p xmlns:a="http://schemas.openxmlformats.org/drawingml/2006/main">
            <a:r>
              <a:t/>
            </a:r>
          </a:p>
          <a:p xmlns:a="http://schemas.openxmlformats.org/drawingml/2006/main">
            <a:r>
              <a:t>Invented requirements: error at most 3 and time at most 10 ms.</a:t>
            </a:r>
          </a:p>
          <a:p xmlns:a="http://schemas.openxmlformats.org/drawingml/2006/main">
            <a:r>
              <a:t/>
            </a:r>
          </a:p>
          <a:p xmlns:a="http://schemas.openxmlformats.org/drawingml/2006/main">
            <a:r>
              <a:t>LECTURER CUE</a:t>
            </a:r>
          </a:p>
          <a:p xmlns:a="http://schemas.openxmlformats.org/drawingml/2006/main">
            <a:r>
              <a:t>Invented requirements: error at most 3 and time at most 10 ms. Only simple is eligible. No result here is a measured engineering benchmark.</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Candidate records and eligibility.</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Candidate records and eligibility</a:t>
            </a:r>
          </a:p>
          <a:p xmlns:a="http://schemas.openxmlformats.org/drawingml/2006/main">
            <a:r>
              <a:t/>
            </a:r>
          </a:p>
          <a:p xmlns:a="http://schemas.openxmlformats.org/drawingml/2006/main">
            <a:r>
              <a:t>CONNECT</a:t>
            </a:r>
          </a:p>
          <a:p xmlns:a="http://schemas.openxmlformats.org/drawingml/2006/main">
            <a:r>
              <a:t>Previous slide: A constrained model choice.</a:t>
            </a:r>
          </a:p>
          <a:p xmlns:a="http://schemas.openxmlformats.org/drawingml/2006/main">
            <a:r>
              <a:t/>
            </a:r>
          </a:p>
          <a:p xmlns:a="http://schemas.openxmlformats.org/drawingml/2006/main">
            <a:r>
              <a:t>EXPLAIN</a:t>
            </a:r>
          </a:p>
          <a:p xmlns:a="http://schemas.openxmlformats.org/drawingml/2006/main">
            <a:r>
              <a:t>A candidate is one model under consideration. Its dictionary records a name, a validation error and measured run time.</a:t>
            </a:r>
          </a:p>
          <a:p xmlns:a="http://schemas.openxmlformats.org/drawingml/2006/main">
            <a:r>
              <a:t/>
            </a:r>
          </a:p>
          <a:p xmlns:a="http://schemas.openxmlformats.org/drawingml/2006/main">
            <a:r>
              <a:t>An eligible candidate meets every published constraint. Build a list of eligible records first. If the list is empty, use the task’s specified no-candidate result.</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Worked example (1/2).</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Model selection in Python (1/2)</a:t>
            </a:r>
          </a:p>
          <a:p xmlns:a="http://schemas.openxmlformats.org/drawingml/2006/main">
            <a:r>
              <a:t/>
            </a:r>
          </a:p>
          <a:p xmlns:a="http://schemas.openxmlformats.org/drawingml/2006/main">
            <a:r>
              <a:t>CONNECT</a:t>
            </a:r>
          </a:p>
          <a:p xmlns:a="http://schemas.openxmlformats.org/drawingml/2006/main">
            <a:r>
              <a:t>Previous slide: Candidate records and eligibility.</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candidates = [{"name": "simple", "error": 3, "ms": 2},</a:t>
            </a:r>
          </a:p>
          <a:p xmlns:a="http://schemas.openxmlformats.org/drawingml/2006/main">
            <a:r>
              <a:t>              {"name": "complex", "error": 1, "ms": 20}]</a:t>
            </a:r>
          </a:p>
          <a:p xmlns:a="http://schemas.openxmlformats.org/drawingml/2006/main">
            <a:r>
              <a:t>eligible = []</a:t>
            </a:r>
          </a:p>
          <a:p xmlns:a="http://schemas.openxmlformats.org/drawingml/2006/main">
            <a:r>
              <a:t>for item in candidates:</a:t>
            </a:r>
          </a:p>
          <a:p xmlns:a="http://schemas.openxmlformats.org/drawingml/2006/main">
            <a:r>
              <a:t>    if item["error"] &lt;= 3 and item["ms"] &lt;= 10:</a:t>
            </a:r>
          </a:p>
          <a:p xmlns:a="http://schemas.openxmlformats.org/drawingml/2006/main">
            <a:r>
              <a:t>        eligible.append(item)</a:t>
            </a:r>
          </a:p>
          <a:p xmlns:a="http://schemas.openxmlformats.org/drawingml/2006/main">
            <a:r>
              <a:t>names = []</a:t>
            </a:r>
          </a:p>
          <a:p xmlns:a="http://schemas.openxmlformats.org/drawingml/2006/main">
            <a:r>
              <a:t>for item in eligible:</a:t>
            </a:r>
          </a:p>
          <a:p xmlns:a="http://schemas.openxmlformats.org/drawingml/2006/main">
            <a:r>
              <a:t>    names.append(item["name"])</a:t>
            </a:r>
          </a:p>
          <a:p xmlns:a="http://schemas.openxmlformats.org/drawingml/2006/main">
            <a:r>
              <a:t/>
            </a:r>
          </a:p>
          <a:p xmlns:a="http://schemas.openxmlformats.org/drawingml/2006/main">
            <a:r>
              <a:t>for takes the next item. The indented block repeats.</a:t>
            </a:r>
          </a:p>
          <a:p xmlns:a="http://schemas.openxmlformats.org/drawingml/2006/main">
            <a:r>
              <a:t/>
            </a:r>
          </a:p>
          <a:p xmlns:a="http://schemas.openxmlformats.org/drawingml/2006/main">
            <a:r>
              <a:t>if tests a condition. The chosen indented block runs.</a:t>
            </a:r>
          </a:p>
          <a:p xmlns:a="http://schemas.openxmlformats.org/drawingml/2006/main">
            <a:r>
              <a:t/>
            </a:r>
          </a:p>
          <a:p xmlns:a="http://schemas.openxmlformats.org/drawingml/2006/main">
            <a:r>
              <a:t>append adds one item to the end of a list.</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Cross out ineligible candidates before ranking errors. Then apply the tie-break rule, rather than choosing the most sophisticated model. Demonstrate dictionary field access and ordered comparisons before asking learners to implement selection. A sorted list key can be a tuple: first metric, then speed, then name. Write a short recommendation: question, fair comparison, chosen candidate, reason, limitation and what new evidence could change the choice.</a:t>
            </a:r>
          </a:p>
          <a:p xmlns:a="http://schemas.openxmlformats.org/drawingml/2006/main">
            <a:r>
              <a:t/>
            </a:r>
          </a:p>
          <a:p xmlns:a="http://schemas.openxmlformats.org/drawingml/2006/main">
            <a:r>
              <a:t>Complete practice code:</a:t>
            </a:r>
          </a:p>
          <a:p xmlns:a="http://schemas.openxmlformats.org/drawingml/2006/main">
            <a:r>
              <a:t>candidates = [{"name": "simple", "error": 3, "ms": 2},</a:t>
            </a:r>
          </a:p>
          <a:p xmlns:a="http://schemas.openxmlformats.org/drawingml/2006/main">
            <a:r>
              <a:t>              {"name": "complex", "error": 1, "ms": 20}]</a:t>
            </a:r>
          </a:p>
          <a:p xmlns:a="http://schemas.openxmlformats.org/drawingml/2006/main">
            <a:r>
              <a:t>eligible = []</a:t>
            </a:r>
          </a:p>
          <a:p xmlns:a="http://schemas.openxmlformats.org/drawingml/2006/main">
            <a:r>
              <a:t>for item in candidates:</a:t>
            </a:r>
          </a:p>
          <a:p xmlns:a="http://schemas.openxmlformats.org/drawingml/2006/main">
            <a:r>
              <a:t>    if item["error"] &lt;= 3 and item["ms"] &lt;= 10:</a:t>
            </a:r>
          </a:p>
          <a:p xmlns:a="http://schemas.openxmlformats.org/drawingml/2006/main">
            <a:r>
              <a:t>        eligible.append(item)</a:t>
            </a:r>
          </a:p>
          <a:p xmlns:a="http://schemas.openxmlformats.org/drawingml/2006/main">
            <a:r>
              <a:t>print([item["name"] for item in eligible])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Worked example (2/2).</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Model selection in Python (2/2)</a:t>
            </a:r>
          </a:p>
          <a:p xmlns:a="http://schemas.openxmlformats.org/drawingml/2006/main">
            <a:r>
              <a:t/>
            </a:r>
          </a:p>
          <a:p xmlns:a="http://schemas.openxmlformats.org/drawingml/2006/main">
            <a:r>
              <a:t>CONNECT</a:t>
            </a:r>
          </a:p>
          <a:p xmlns:a="http://schemas.openxmlformats.org/drawingml/2006/main">
            <a:r>
              <a:t>Previous slide: Model selection in Python (1/2).</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print(names)</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CUE</a:t>
            </a:r>
          </a:p>
          <a:p xmlns:a="http://schemas.openxmlformats.org/drawingml/2006/main">
            <a:r>
              <a:t>Cross out ineligible candidates before ranking errors. Then apply the tie-break rule, rather than choosing the most sophisticated model. Demonstrate dictionary field access and ordered comparisons before asking learners to implement selection. A sorted list key can be a tuple: first metric, then speed, then name. Write a short recommendation: question, fair comparison, chosen candidate, reason, limitation and what new evidence could change the choice.</a:t>
            </a:r>
          </a:p>
          <a:p xmlns:a="http://schemas.openxmlformats.org/drawingml/2006/main">
            <a:r>
              <a:t/>
            </a:r>
          </a:p>
          <a:p xmlns:a="http://schemas.openxmlformats.org/drawingml/2006/main">
            <a:r>
              <a:t>Complete practice code:</a:t>
            </a:r>
          </a:p>
          <a:p xmlns:a="http://schemas.openxmlformats.org/drawingml/2006/main">
            <a:r>
              <a:t>candidates = [{"name": "simple", "error": 3, "ms": 2},</a:t>
            </a:r>
          </a:p>
          <a:p xmlns:a="http://schemas.openxmlformats.org/drawingml/2006/main">
            <a:r>
              <a:t>              {"name": "complex", "error": 1, "ms": 20}]</a:t>
            </a:r>
          </a:p>
          <a:p xmlns:a="http://schemas.openxmlformats.org/drawingml/2006/main">
            <a:r>
              <a:t>eligible = []</a:t>
            </a:r>
          </a:p>
          <a:p xmlns:a="http://schemas.openxmlformats.org/drawingml/2006/main">
            <a:r>
              <a:t>for item in candidates:</a:t>
            </a:r>
          </a:p>
          <a:p xmlns:a="http://schemas.openxmlformats.org/drawingml/2006/main">
            <a:r>
              <a:t>    if item["error"] &lt;= 3 and item["ms"] &lt;= 10:</a:t>
            </a:r>
          </a:p>
          <a:p xmlns:a="http://schemas.openxmlformats.org/drawingml/2006/main">
            <a:r>
              <a:t>        eligible.append(item)</a:t>
            </a:r>
          </a:p>
          <a:p xmlns:a="http://schemas.openxmlformats.org/drawingml/2006/main">
            <a:r>
              <a:t>print([item["name"] for item in eligible])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Expected output.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Model selection results</a:t>
            </a:r>
          </a:p>
          <a:p xmlns:a="http://schemas.openxmlformats.org/drawingml/2006/main">
            <a:r>
              <a:t/>
            </a:r>
          </a:p>
          <a:p xmlns:a="http://schemas.openxmlformats.org/drawingml/2006/main">
            <a:r>
              <a:t>CONNECT</a:t>
            </a:r>
          </a:p>
          <a:p xmlns:a="http://schemas.openxmlformats.org/drawingml/2006/main">
            <a:r>
              <a:t>Previous slide: Model selection in Python (2/2).</a:t>
            </a:r>
          </a:p>
          <a:p xmlns:a="http://schemas.openxmlformats.org/drawingml/2006/main">
            <a:r>
              <a:t/>
            </a:r>
          </a:p>
          <a:p xmlns:a="http://schemas.openxmlformats.org/drawingml/2006/main">
            <a:r>
              <a:t>EXPLAIN</a:t>
            </a:r>
          </a:p>
          <a:p xmlns:a="http://schemas.openxmlformats.org/drawingml/2006/main">
            <a:r>
              <a:t>['simple']</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tuple supplies an ordered ranking key.</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tuple supplies an ordered ranking key</a:t>
            </a:r>
          </a:p>
          <a:p xmlns:a="http://schemas.openxmlformats.org/drawingml/2006/main">
            <a:r>
              <a:t/>
            </a:r>
          </a:p>
          <a:p xmlns:a="http://schemas.openxmlformats.org/drawingml/2006/main">
            <a:r>
              <a:t>CONNECT</a:t>
            </a:r>
          </a:p>
          <a:p xmlns:a="http://schemas.openxmlformats.org/drawingml/2006/main">
            <a:r>
              <a:t>Previous slide: Model selection results.</a:t>
            </a:r>
          </a:p>
          <a:p xmlns:a="http://schemas.openxmlformats.org/drawingml/2006/main">
            <a:r>
              <a:t/>
            </a:r>
          </a:p>
          <a:p xmlns:a="http://schemas.openxmlformats.org/drawingml/2006/main">
            <a:r>
              <a:t>EXPLAIN</a:t>
            </a:r>
          </a:p>
          <a:p xmlns:a="http://schemas.openxmlformats.org/drawingml/2006/main">
            <a:r>
              <a:t>A tuple holds several values in order, such as (error, time, name).</a:t>
            </a:r>
          </a:p>
          <a:p xmlns:a="http://schemas.openxmlformats.org/drawingml/2006/main">
            <a:r>
              <a:t/>
            </a:r>
          </a:p>
          <a:p xmlns:a="http://schemas.openxmlformats.org/drawingml/2006/main">
            <a:r>
              <a:t>Python compares the first values. A tie moves the comparison to the second.</a:t>
            </a:r>
          </a:p>
          <a:p xmlns:a="http://schemas.openxmlformats.org/drawingml/2006/main">
            <a:r>
              <a:t/>
            </a:r>
          </a:p>
          <a:p xmlns:a="http://schemas.openxmlformats.org/drawingml/2006/main">
            <a:r>
              <a:t>If those also tie, the third value decides.</a:t>
            </a:r>
          </a:p>
          <a:p xmlns:a="http://schemas.openxmlformats.org/drawingml/2006/main">
            <a:r>
              <a:t/>
            </a:r>
          </a:p>
          <a:p xmlns:a="http://schemas.openxmlformats.org/drawingml/2006/main">
            <a:r>
              <a:t>LECTURER CUE</a:t>
            </a:r>
          </a:p>
          <a:p xmlns:a="http://schemas.openxmlformats.org/drawingml/2006/main">
            <a:r>
              <a:t>Demonstrate dictionary field access and ordered comparisons before asking learners to implement selection. A sorted list key can be a tuple: first metric, then speed, then name.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a tuple ranking key.</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a tuple ranking key</a:t>
            </a:r>
          </a:p>
          <a:p xmlns:a="http://schemas.openxmlformats.org/drawingml/2006/main">
            <a:r>
              <a:t/>
            </a:r>
          </a:p>
          <a:p xmlns:a="http://schemas.openxmlformats.org/drawingml/2006/main">
            <a:r>
              <a:t>CONNECT</a:t>
            </a:r>
          </a:p>
          <a:p xmlns:a="http://schemas.openxmlformats.org/drawingml/2006/main">
            <a:r>
              <a:t>Previous slide: A tuple supplies an ordered ranking key.</a:t>
            </a:r>
          </a:p>
          <a:p xmlns:a="http://schemas.openxmlformats.org/drawingml/2006/main">
            <a:r>
              <a:t/>
            </a:r>
          </a:p>
          <a:p xmlns:a="http://schemas.openxmlformats.org/drawingml/2006/main">
            <a:r>
              <a:t>EXPLAIN</a:t>
            </a:r>
          </a:p>
          <a:p xmlns:a="http://schemas.openxmlformats.org/drawingml/2006/main">
            <a:r>
              <a:t>Candidate | Key: error, ms, name | Position</a:t>
            </a:r>
          </a:p>
          <a:p xmlns:a="http://schemas.openxmlformats.org/drawingml/2006/main">
            <a:r>
              <a:t/>
            </a:r>
          </a:p>
          <a:p xmlns:a="http://schemas.openxmlformats.org/drawingml/2006/main">
            <a:r>
              <a:t>beta | (2, 5, "beta") | 1: lower error</a:t>
            </a:r>
          </a:p>
          <a:p xmlns:a="http://schemas.openxmlformats.org/drawingml/2006/main">
            <a:r>
              <a:t/>
            </a:r>
          </a:p>
          <a:p xmlns:a="http://schemas.openxmlformats.org/drawingml/2006/main">
            <a:r>
              <a:t>alpha | (3, 1, "alpha") | 2: tie on error; faster</a:t>
            </a:r>
          </a:p>
          <a:p xmlns:a="http://schemas.openxmlformats.org/drawingml/2006/main">
            <a:r>
              <a:t/>
            </a:r>
          </a:p>
          <a:p xmlns:a="http://schemas.openxmlformats.org/drawingml/2006/main">
            <a:r>
              <a:t>gamma | (3, 2, "gamma") | 3: same error; slower</a:t>
            </a:r>
          </a:p>
          <a:p xmlns:a="http://schemas.openxmlformats.org/drawingml/2006/main">
            <a:r>
              <a:t/>
            </a:r>
          </a:p>
          <a:p xmlns:a="http://schemas.openxmlformats.org/drawingml/2006/main">
            <a:r>
              <a:t>Only eligible candidates reach ranking. If error and time tie, compare the names alphabetically.</a:t>
            </a:r>
          </a:p>
          <a:p xmlns:a="http://schemas.openxmlformats.org/drawingml/2006/main">
            <a:r>
              <a:t/>
            </a:r>
          </a:p>
          <a:p xmlns:a="http://schemas.openxmlformats.org/drawingml/2006/main">
            <a:r>
              <a:t>Read the rows in order. Only eligible candidates reach ranking. If error and time tie, compare the names alphabetically.</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Pass a function as the sorting key.</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Pass a function as the sorting key</a:t>
            </a:r>
          </a:p>
          <a:p xmlns:a="http://schemas.openxmlformats.org/drawingml/2006/main">
            <a:r>
              <a:t/>
            </a:r>
          </a:p>
          <a:p xmlns:a="http://schemas.openxmlformats.org/drawingml/2006/main">
            <a:r>
              <a:t>CONNECT</a:t>
            </a:r>
          </a:p>
          <a:p xmlns:a="http://schemas.openxmlformats.org/drawingml/2006/main">
            <a:r>
              <a:t>Previous slide: Trace a tuple ranking key.</a:t>
            </a:r>
          </a:p>
          <a:p xmlns:a="http://schemas.openxmlformats.org/drawingml/2006/main">
            <a:r>
              <a:t/>
            </a:r>
          </a:p>
          <a:p xmlns:a="http://schemas.openxmlformats.org/drawingml/2006/main">
            <a:r>
              <a:t>EXPLAIN</a:t>
            </a:r>
          </a:p>
          <a:p xmlns:a="http://schemas.openxmlformats.org/drawingml/2006/main">
            <a:r>
              <a:t>sorted returns a new list in order. In sorted(eligible, key=rank), rank is the function itself, passed without calling it.</a:t>
            </a:r>
          </a:p>
          <a:p xmlns:a="http://schemas.openxmlformats.org/drawingml/2006/main">
            <a:r>
              <a:t/>
            </a:r>
          </a:p>
          <a:p xmlns:a="http://schemas.openxmlformats.org/drawingml/2006/main">
            <a:r>
              <a:t>sorted calls rank(item) for each candidate and compares the returned tuples. Writing rank() here would call it immediately without its required input.</a:t>
            </a:r>
          </a:p>
          <a:p xmlns:a="http://schemas.openxmlformats.org/drawingml/2006/main">
            <a:r>
              <a:t/>
            </a:r>
          </a:p>
          <a:p xmlns:a="http://schemas.openxmlformats.org/drawingml/2006/main">
            <a:r>
              <a:t>The original eligible list is unchanged. Check len(ordered) before using ordered[0], because an empty list has no first position.</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Sorting with a tie-break rule.</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Sorting with a tie-break rule</a:t>
            </a:r>
          </a:p>
          <a:p xmlns:a="http://schemas.openxmlformats.org/drawingml/2006/main">
            <a:r>
              <a:t/>
            </a:r>
          </a:p>
          <a:p xmlns:a="http://schemas.openxmlformats.org/drawingml/2006/main">
            <a:r>
              <a:t>CONNECT</a:t>
            </a:r>
          </a:p>
          <a:p xmlns:a="http://schemas.openxmlformats.org/drawingml/2006/main">
            <a:r>
              <a:t>Previous slide: Pass a function as the sorting key.</a:t>
            </a:r>
          </a:p>
          <a:p xmlns:a="http://schemas.openxmlformats.org/drawingml/2006/main">
            <a:r>
              <a:t/>
            </a:r>
          </a:p>
          <a:p xmlns:a="http://schemas.openxmlformats.org/drawingml/2006/main">
            <a:r>
              <a:t>EXPLAIN</a:t>
            </a:r>
          </a:p>
          <a:p xmlns:a="http://schemas.openxmlformats.org/drawingml/2006/main">
            <a:r>
              <a:t>A tuple is an ordered group of values.</a:t>
            </a:r>
          </a:p>
          <a:p xmlns:a="http://schemas.openxmlformats.org/drawingml/2006/main">
            <a:r>
              <a:t/>
            </a:r>
          </a:p>
          <a:p xmlns:a="http://schemas.openxmlformats.org/drawingml/2006/main">
            <a:r>
              <a:t>Python compares the first item, then the second when tied, then the third.</a:t>
            </a:r>
          </a:p>
          <a:p xmlns:a="http://schemas.openxmlformats.org/drawingml/2006/main">
            <a:r>
              <a:t/>
            </a:r>
          </a:p>
          <a:p xmlns:a="http://schemas.openxmlformats.org/drawingml/2006/main">
            <a:r>
              <a:t>The key function gives sorted the tuple for each candidate.</a:t>
            </a:r>
          </a:p>
          <a:p xmlns:a="http://schemas.openxmlformats.org/drawingml/2006/main">
            <a:r>
              <a:t/>
            </a:r>
          </a:p>
          <a:p xmlns:a="http://schemas.openxmlformats.org/drawingml/2006/main">
            <a:r>
              <a:t>Guard an empty list before selecting position zero.</a:t>
            </a:r>
          </a:p>
          <a:p xmlns:a="http://schemas.openxmlformats.org/drawingml/2006/main">
            <a:r>
              <a:t/>
            </a:r>
          </a:p>
          <a:p xmlns:a="http://schemas.openxmlformats.org/drawingml/2006/main">
            <a:r>
              <a:t>LECTURER CUE</a:t>
            </a:r>
          </a:p>
          <a:p xmlns:a="http://schemas.openxmlformats.org/drawingml/2006/main">
            <a:r>
              <a:t>A tuple is an ordered group of values. Python compares the first item, then the second when tied, then the third. The key function gives sorted the tuple for each candidate. Guard an empty list before selecting position zero.</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Sorting with a named function.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Sorting with a named function</a:t>
            </a:r>
          </a:p>
          <a:p xmlns:a="http://schemas.openxmlformats.org/drawingml/2006/main">
            <a:r>
              <a:t/>
            </a:r>
          </a:p>
          <a:p xmlns:a="http://schemas.openxmlformats.org/drawingml/2006/main">
            <a:r>
              <a:t>CONNECT</a:t>
            </a:r>
          </a:p>
          <a:p xmlns:a="http://schemas.openxmlformats.org/drawingml/2006/main">
            <a:r>
              <a:t>Previous slide: Sorting with a tie-break rule.</a:t>
            </a:r>
          </a:p>
          <a:p xmlns:a="http://schemas.openxmlformats.org/drawingml/2006/main">
            <a:r>
              <a:t/>
            </a:r>
          </a:p>
          <a:p xmlns:a="http://schemas.openxmlformats.org/drawingml/2006/main">
            <a:r>
              <a:t>EXPLAIN</a:t>
            </a:r>
          </a:p>
          <a:p xmlns:a="http://schemas.openxmlformats.org/drawingml/2006/main">
            <a:r>
              <a:t>Expression | Meaning</a:t>
            </a:r>
          </a:p>
          <a:p xmlns:a="http://schemas.openxmlformats.org/drawingml/2006/main">
            <a:r>
              <a:t/>
            </a:r>
          </a:p>
          <a:p xmlns:a="http://schemas.openxmlformats.org/drawingml/2006/main">
            <a:r>
              <a:t>key=rank | Use rank to build each comparison key</a:t>
            </a:r>
          </a:p>
          <a:p xmlns:a="http://schemas.openxmlformats.org/drawingml/2006/main">
            <a:r>
              <a:t/>
            </a:r>
          </a:p>
          <a:p xmlns:a="http://schemas.openxmlformats.org/drawingml/2006/main">
            <a:r>
              <a:t>sorted(eligible, key=rank) | Return a newly ordered list</a:t>
            </a:r>
          </a:p>
          <a:p xmlns:a="http://schemas.openxmlformats.org/drawingml/2006/main">
            <a:r>
              <a:t/>
            </a:r>
          </a:p>
          <a:p xmlns:a="http://schemas.openxmlformats.org/drawingml/2006/main">
            <a:r>
              <a:t>ordered[0] | Select its first item</a:t>
            </a:r>
          </a:p>
          <a:p xmlns:a="http://schemas.openxmlformats.org/drawingml/2006/main">
            <a:r>
              <a:t/>
            </a:r>
          </a:p>
          <a:p xmlns:a="http://schemas.openxmlformats.org/drawingml/2006/main">
            <a:r>
              <a:t>len(ordered) == 0 | Check for no eligible candidate</a:t>
            </a:r>
          </a:p>
          <a:p xmlns:a="http://schemas.openxmlformats.org/drawingml/2006/main">
            <a:r>
              <a:t/>
            </a:r>
          </a:p>
          <a:p xmlns:a="http://schemas.openxmlformats.org/drawingml/2006/main">
            <a:r>
              <a:t>Check for an empty list before accessing position zero.</a:t>
            </a:r>
          </a:p>
          <a:p xmlns:a="http://schemas.openxmlformats.org/drawingml/2006/main">
            <a:r>
              <a:t/>
            </a:r>
          </a:p>
          <a:p xmlns:a="http://schemas.openxmlformats.org/drawingml/2006/main">
            <a:r>
              <a:t>LECTURER CUE</a:t>
            </a:r>
          </a:p>
          <a:p xmlns:a="http://schemas.openxmlformats.org/drawingml/2006/main">
            <a:r>
              <a:t>Read one row at a time and use a changed value. This is a syntax reference for the worked examples.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Sorting with a tie-break rule in Python.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Sorting with a tie-break rule in Python</a:t>
            </a:r>
          </a:p>
          <a:p xmlns:a="http://schemas.openxmlformats.org/drawingml/2006/main">
            <a:r>
              <a:t/>
            </a:r>
          </a:p>
          <a:p xmlns:a="http://schemas.openxmlformats.org/drawingml/2006/main">
            <a:r>
              <a:t>CONNECT</a:t>
            </a:r>
          </a:p>
          <a:p xmlns:a="http://schemas.openxmlformats.org/drawingml/2006/main">
            <a:r>
              <a:t>Previous slide: Sorting with a named function.</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def rank(item):</a:t>
            </a:r>
          </a:p>
          <a:p xmlns:a="http://schemas.openxmlformats.org/drawingml/2006/main">
            <a:r>
              <a:t>    return (item["error"], item["ms"], item["name"])</a:t>
            </a:r>
          </a:p>
          <a:p xmlns:a="http://schemas.openxmlformats.org/drawingml/2006/main">
            <a:r>
              <a:t/>
            </a:r>
          </a:p>
          <a:p xmlns:a="http://schemas.openxmlformats.org/drawingml/2006/main">
            <a:r>
              <a:t>ordered = sorted(eligible, key=rank)</a:t>
            </a:r>
          </a:p>
          <a:p xmlns:a="http://schemas.openxmlformats.org/drawingml/2006/main">
            <a:r>
              <a:t>if len(ordered) == 0:</a:t>
            </a:r>
          </a:p>
          <a:p xmlns:a="http://schemas.openxmlformats.org/drawingml/2006/main">
            <a:r>
              <a:t>    winner = None</a:t>
            </a:r>
          </a:p>
          <a:p xmlns:a="http://schemas.openxmlformats.org/drawingml/2006/main">
            <a:r>
              <a:t>else:</a:t>
            </a:r>
          </a:p>
          <a:p xmlns:a="http://schemas.openxmlformats.org/drawingml/2006/main">
            <a:r>
              <a:t>    winner = ordered[0]["name"]</a:t>
            </a:r>
          </a:p>
          <a:p xmlns:a="http://schemas.openxmlformats.org/drawingml/2006/main">
            <a:r>
              <a:t>print(winner)</a:t>
            </a:r>
          </a:p>
          <a:p xmlns:a="http://schemas.openxmlformats.org/drawingml/2006/main">
            <a:r>
              <a:t/>
            </a:r>
          </a:p>
          <a:p xmlns:a="http://schemas.openxmlformats.org/drawingml/2006/main">
            <a:r>
              <a:t>def names the function. Inputs go inside parentheses.</a:t>
            </a:r>
          </a:p>
          <a:p xmlns:a="http://schemas.openxmlformats.org/drawingml/2006/main">
            <a:r>
              <a:t/>
            </a:r>
          </a:p>
          <a:p xmlns:a="http://schemas.openxmlformats.org/drawingml/2006/main">
            <a:r>
              <a:t>if tests a condition. The chosen indented block runs.</a:t>
            </a:r>
          </a:p>
          <a:p xmlns:a="http://schemas.openxmlformats.org/drawingml/2006/main">
            <a:r>
              <a:t/>
            </a:r>
          </a:p>
          <a:p xmlns:a="http://schemas.openxmlformats.org/drawingml/2006/main">
            <a:r>
              <a:t>return sends the result back to the caller.</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A tuple is an ordered group of values. Python compares the first item, then the second when tied, then the third. The key function gives sorted the tuple for each candidate. Guard an empty list before selecting position zero.</a:t>
            </a:r>
          </a:p>
          <a:p xmlns:a="http://schemas.openxmlformats.org/drawingml/2006/main">
            <a:r>
              <a:t/>
            </a:r>
          </a:p>
          <a:p xmlns:a="http://schemas.openxmlformats.org/drawingml/2006/main">
            <a:r>
              <a:t>Complete practice code:</a:t>
            </a:r>
          </a:p>
          <a:p xmlns:a="http://schemas.openxmlformats.org/drawingml/2006/main">
            <a:r>
              <a:t>def rank(item):</a:t>
            </a:r>
          </a:p>
          <a:p xmlns:a="http://schemas.openxmlformats.org/drawingml/2006/main">
            <a:r>
              <a:t>    return (item["error"], item["ms"], item["name"])</a:t>
            </a:r>
          </a:p>
          <a:p xmlns:a="http://schemas.openxmlformats.org/drawingml/2006/main">
            <a:r>
              <a:t/>
            </a:r>
          </a:p>
          <a:p xmlns:a="http://schemas.openxmlformats.org/drawingml/2006/main">
            <a:r>
              <a:t>ordered = sorted(eligible, key=rank)</a:t>
            </a:r>
          </a:p>
          <a:p xmlns:a="http://schemas.openxmlformats.org/drawingml/2006/main">
            <a:r>
              <a:t>if len(ordered) == 0:</a:t>
            </a:r>
          </a:p>
          <a:p xmlns:a="http://schemas.openxmlformats.org/drawingml/2006/main">
            <a:r>
              <a:t>    winner = None</a:t>
            </a:r>
          </a:p>
          <a:p xmlns:a="http://schemas.openxmlformats.org/drawingml/2006/main">
            <a:r>
              <a:t>else:</a:t>
            </a:r>
          </a:p>
          <a:p xmlns:a="http://schemas.openxmlformats.org/drawingml/2006/main">
            <a:r>
              <a:t>    winner = ordered[0]["name"]</a:t>
            </a:r>
          </a:p>
          <a:p xmlns:a="http://schemas.openxmlformats.org/drawingml/2006/main">
            <a:r>
              <a:t>print(winner)</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Local explanation and Conditions of use.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Local explanation and Conditions of use</a:t>
            </a:r>
          </a:p>
          <a:p xmlns:a="http://schemas.openxmlformats.org/drawingml/2006/main">
            <a:r>
              <a:t/>
            </a:r>
          </a:p>
          <a:p xmlns:a="http://schemas.openxmlformats.org/drawingml/2006/main">
            <a:r>
              <a:t>CONNECT</a:t>
            </a:r>
          </a:p>
          <a:p xmlns:a="http://schemas.openxmlformats.org/drawingml/2006/main">
            <a:r>
              <a:t>Previous slide: Sorting with a tie-break rule in Python.</a:t>
            </a:r>
          </a:p>
          <a:p xmlns:a="http://schemas.openxmlformats.org/drawingml/2006/main">
            <a:r>
              <a:t/>
            </a:r>
          </a:p>
          <a:p xmlns:a="http://schemas.openxmlformats.org/drawingml/2006/main">
            <a:r>
              <a:t>EXPLAIN</a:t>
            </a:r>
          </a:p>
          <a:p xmlns:a="http://schemas.openxmlformats.org/drawingml/2006/main">
            <a:r>
              <a:t>Local explanation: Why a model made one particular prediction. This is different from global importance, which summarises behaviour over many cases.</a:t>
            </a:r>
          </a:p>
          <a:p xmlns:a="http://schemas.openxmlformats.org/drawingml/2006/main">
            <a:r>
              <a:t/>
            </a:r>
          </a:p>
          <a:p xmlns:a="http://schemas.openxmlformats.org/drawingml/2006/main">
            <a:r>
              <a:t>Conditions of use: The cases and operating circumstances for which the available evidence supports considering the model.</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recommendation needs evidence.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recommendation needs evidence</a:t>
            </a:r>
          </a:p>
          <a:p xmlns:a="http://schemas.openxmlformats.org/drawingml/2006/main">
            <a:r>
              <a:t/>
            </a:r>
          </a:p>
          <a:p xmlns:a="http://schemas.openxmlformats.org/drawingml/2006/main">
            <a:r>
              <a:t>CONNECT</a:t>
            </a:r>
          </a:p>
          <a:p xmlns:a="http://schemas.openxmlformats.org/drawingml/2006/main">
            <a:r>
              <a:t>Previous slide: Local explanation and Conditions of use.</a:t>
            </a:r>
          </a:p>
          <a:p xmlns:a="http://schemas.openxmlformats.org/drawingml/2006/main">
            <a:r>
              <a:t/>
            </a:r>
          </a:p>
          <a:p xmlns:a="http://schemas.openxmlformats.org/drawingml/2006/main">
            <a:r>
              <a:t>EXPLAIN</a:t>
            </a:r>
          </a:p>
          <a:p xmlns:a="http://schemas.openxmlformats.org/drawingml/2006/main">
            <a:r>
              <a:t>State the question and the chosen candidate.</a:t>
            </a:r>
          </a:p>
          <a:p xmlns:a="http://schemas.openxmlformats.org/drawingml/2006/main">
            <a:r>
              <a:t/>
            </a:r>
          </a:p>
          <a:p xmlns:a="http://schemas.openxmlformats.org/drawingml/2006/main">
            <a:r>
              <a:t>Give the evaluation result and the constraint it satisfies.</a:t>
            </a:r>
          </a:p>
          <a:p xmlns:a="http://schemas.openxmlformats.org/drawingml/2006/main">
            <a:r>
              <a:t/>
            </a:r>
          </a:p>
          <a:p xmlns:a="http://schemas.openxmlformats.org/drawingml/2006/main">
            <a:r>
              <a:t>State a limitation and the evidence that could change the recommendation.</a:t>
            </a:r>
          </a:p>
          <a:p xmlns:a="http://schemas.openxmlformats.org/drawingml/2006/main">
            <a:r>
              <a:t/>
            </a:r>
          </a:p>
          <a:p xmlns:a="http://schemas.openxmlformats.org/drawingml/2006/main">
            <a:r>
              <a:t>LECTURER CUE</a:t>
            </a:r>
          </a:p>
          <a:p xmlns:a="http://schemas.openxmlformats.org/drawingml/2006/main">
            <a:r>
              <a:t>Write a short recommendation: question, fair comparison, chosen candidate, reason, limitation and what new evidence could change the choice.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Revision example and answer.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Previous slide: A recommendation needs evidence.</a:t>
            </a:r>
          </a:p>
          <a:p xmlns:a="http://schemas.openxmlformats.org/drawingml/2006/main">
            <a:r>
              <a:t/>
            </a:r>
          </a:p>
          <a:p xmlns:a="http://schemas.openxmlformats.org/drawingml/2006/main">
            <a:r>
              <a:t>EXPLAIN</a:t>
            </a:r>
          </a:p>
          <a:p xmlns:a="http://schemas.openxmlformats.org/drawingml/2006/main">
            <a:r>
              <a:t>Example: A third model has error 3 and latency 1 ms. Under lowest error then lowest latency, which eligible model wins?</a:t>
            </a:r>
          </a:p>
          <a:p xmlns:a="http://schemas.openxmlformats.org/drawingml/2006/main">
            <a:r>
              <a:t/>
            </a:r>
          </a:p>
          <a:p xmlns:a="http://schemas.openxmlformats.org/drawingml/2006/main">
            <a:r>
              <a:t>Answer: The third model. Both eligible models have error 3, but 1 ms is faster than 2 ms.</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The third model. Both eligible models have error 3, but 1 ms is faster than 2 ms.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Preparing for the assignment.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Previous slide: Revision example and answer.</a:t>
            </a:r>
          </a:p>
          <a:p xmlns:a="http://schemas.openxmlformats.org/drawingml/2006/main">
            <a:r>
              <a:t/>
            </a:r>
          </a:p>
          <a:p xmlns:a="http://schemas.openxmlformats.org/drawingml/2006/main">
            <a:r>
              <a:t>EXPLAIN</a:t>
            </a:r>
          </a:p>
          <a:p xmlns:a="http://schemas.openxmlformats.org/drawingml/2006/main">
            <a:r>
              <a:t>W12 uses fields name, validation_mae and latency_ms.</a:t>
            </a:r>
          </a:p>
          <a:p xmlns:a="http://schemas.openxmlformats.org/drawingml/2006/main">
            <a:r>
              <a:t/>
            </a:r>
          </a:p>
          <a:p xmlns:a="http://schemas.openxmlformats.org/drawingml/2006/main">
            <a:r>
              <a:t>Meet both inclusive constraints, then rank by error, latency and alphabetical name.</a:t>
            </a:r>
          </a:p>
          <a:p xmlns:a="http://schemas.openxmlformats.org/drawingml/2006/main">
            <a:r>
              <a:t/>
            </a:r>
          </a:p>
          <a:p xmlns:a="http://schemas.openxmlformats.org/drawingml/2006/main">
            <a:r>
              <a:t>Return None if no candidate qualifies.</a:t>
            </a:r>
          </a:p>
          <a:p xmlns:a="http://schemas.openxmlformats.org/drawingml/2006/main">
            <a:r>
              <a:t/>
            </a:r>
          </a:p>
          <a:p xmlns:a="http://schemas.openxmlformats.org/drawingml/2006/main">
            <a:r>
              <a:t>Complete the error function and interpret the separately supplied scenario.</a:t>
            </a:r>
          </a:p>
          <a:p xmlns:a="http://schemas.openxmlformats.org/drawingml/2006/main">
            <a:r>
              <a:t/>
            </a:r>
          </a:p>
          <a:p xmlns:a="http://schemas.openxmlformats.org/drawingml/2006/main">
            <a:r>
              <a:t>LECTURER CUE</a:t>
            </a:r>
          </a:p>
          <a:p xmlns:a="http://schemas.openxmlformats.org/drawingml/2006/main">
            <a:r>
              <a:t>W12 uses fields name, validation_mae and latency_ms. Meet both inclusive constraints, then rank by error, latency and alphabetical name. Return None if no candidate qualifies. Complete the error function and interpret the separately supplied scenario. Keep project comparisons and graded interfaces distinct.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Preparing for the assignment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Previous slide: Preparing for the assignment.</a:t>
            </a:r>
          </a:p>
          <a:p xmlns:a="http://schemas.openxmlformats.org/drawingml/2006/main">
            <a:r>
              <a:t/>
            </a:r>
          </a:p>
          <a:p xmlns:a="http://schemas.openxmlformats.org/drawingml/2006/main">
            <a:r>
              <a:t>EXPLAIN</a:t>
            </a:r>
          </a:p>
          <a:p xmlns:a="http://schemas.openxmlformats.org/drawingml/2006/main">
            <a:r>
              <a:t>Keep project comparisons and graded interfaces distinct.</a:t>
            </a:r>
          </a:p>
          <a:p xmlns:a="http://schemas.openxmlformats.org/drawingml/2006/main">
            <a:r>
              <a:t/>
            </a:r>
          </a:p>
          <a:p xmlns:a="http://schemas.openxmlformats.org/drawingml/2006/main">
            <a:r>
              <a:t>LECTURER CUE</a:t>
            </a:r>
          </a:p>
          <a:p xmlns:a="http://schemas.openxmlformats.org/drawingml/2006/main">
            <a:r>
              <a:t>W12 uses fields name, validation_mae and latency_ms. Meet both inclusive constraints, then rank by error, latency and alphabetical name. Return None if no candidate qualifies. Complete the error function and interpret the separately supplied scenario. Keep project comparisons and graded interfaces distinct.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Fair comparison and explanation.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Fair comparison and explanation</a:t>
            </a:r>
          </a:p>
          <a:p xmlns:a="http://schemas.openxmlformats.org/drawingml/2006/main">
            <a:r>
              <a:t/>
            </a:r>
          </a:p>
          <a:p xmlns:a="http://schemas.openxmlformats.org/drawingml/2006/main">
            <a:r>
              <a:t>CONNECT</a:t>
            </a:r>
          </a:p>
          <a:p xmlns:a="http://schemas.openxmlformats.org/drawingml/2006/main">
            <a:r>
              <a:t>Previous slide: Preparing for the assignment continued.</a:t>
            </a:r>
          </a:p>
          <a:p xmlns:a="http://schemas.openxmlformats.org/drawingml/2006/main">
            <a:r>
              <a:t/>
            </a:r>
          </a:p>
          <a:p xmlns:a="http://schemas.openxmlformats.org/drawingml/2006/main">
            <a:r>
              <a:t>EXPLAIN</a:t>
            </a:r>
          </a:p>
          <a:p xmlns:a="http://schemas.openxmlformats.org/drawingml/2006/main">
            <a:r>
              <a:t>Compare the same metric on the same validation cases with the same preprocessing rules.</a:t>
            </a:r>
          </a:p>
          <a:p xmlns:a="http://schemas.openxmlformats.org/drawingml/2006/main">
            <a:r>
              <a:t/>
            </a:r>
          </a:p>
          <a:p xmlns:a="http://schemas.openxmlformats.org/drawingml/2006/main">
            <a:r>
              <a:t>A small difference needs context, including variation across splits.</a:t>
            </a:r>
          </a:p>
          <a:p xmlns:a="http://schemas.openxmlformats.org/drawingml/2006/main">
            <a:r>
              <a:t/>
            </a:r>
          </a:p>
          <a:p xmlns:a="http://schemas.openxmlformats.org/drawingml/2006/main">
            <a:r>
              <a:t>Code run out of order can overwrite the variable holding a model; restart and run from the top.</a:t>
            </a:r>
          </a:p>
          <a:p xmlns:a="http://schemas.openxmlformats.org/drawingml/2006/main">
            <a:r>
              <a:t/>
            </a:r>
          </a:p>
          <a:p xmlns:a="http://schemas.openxmlformats.org/drawingml/2006/main">
            <a:r>
              <a:t>A local explanation addresses one prediction; global importance summarises many.</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Fair comparison and explanation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Fair comparison and explanation continued</a:t>
            </a:r>
          </a:p>
          <a:p xmlns:a="http://schemas.openxmlformats.org/drawingml/2006/main">
            <a:r>
              <a:t/>
            </a:r>
          </a:p>
          <a:p xmlns:a="http://schemas.openxmlformats.org/drawingml/2006/main">
            <a:r>
              <a:t>CONNECT</a:t>
            </a:r>
          </a:p>
          <a:p xmlns:a="http://schemas.openxmlformats.org/drawingml/2006/main">
            <a:r>
              <a:t>Previous slide: Fair comparison and explanation.</a:t>
            </a:r>
          </a:p>
          <a:p xmlns:a="http://schemas.openxmlformats.org/drawingml/2006/main">
            <a:r>
              <a:t/>
            </a:r>
          </a:p>
          <a:p xmlns:a="http://schemas.openxmlformats.org/drawingml/2006/main">
            <a:r>
              <a:t>EXPLAIN</a:t>
            </a:r>
          </a:p>
          <a:p xmlns:a="http://schemas.openxmlformats.org/drawingml/2006/main">
            <a:r>
              <a:t>A post-hoc explanation of a complex model is not its directly readable internal rule.</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Your issued task.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Previous slide: Fair comparison and explanation continued.</a:t>
            </a:r>
          </a:p>
          <a:p xmlns:a="http://schemas.openxmlformats.org/drawingml/2006/main">
            <a:r>
              <a:t/>
            </a:r>
          </a:p>
          <a:p xmlns:a="http://schemas.openxmlformats.org/drawingml/2006/main">
            <a:r>
              <a:t>EXPLAIN</a:t>
            </a:r>
          </a:p>
          <a:p xmlns:a="http://schemas.openxmlformats.org/drawingml/2006/main">
            <a:r>
              <a:t>Investigate building cooling load.</a:t>
            </a:r>
          </a:p>
          <a:p xmlns:a="http://schemas.openxmlformats.org/drawingml/2006/main">
            <a:r>
              <a:t/>
            </a:r>
          </a:p>
          <a:p xmlns:a="http://schemas.openxmlformats.org/drawingml/2006/main">
            <a:r>
              <a:t>Target units: kW.</a:t>
            </a:r>
          </a:p>
          <a:p xmlns:a="http://schemas.openxmlformats.org/drawingml/2006/main">
            <a:r>
              <a:t/>
            </a:r>
          </a:p>
          <a:p xmlns:a="http://schemas.openxmlformats.org/drawingml/2006/main">
            <a:r>
              <a:t>These are synthetic teaching records, not measurements suitable for deployment.</a:t>
            </a:r>
          </a:p>
          <a:p xmlns:a="http://schemas.openxmlformats.org/drawingml/2006/main">
            <a:r>
              <a:t/>
            </a:r>
          </a:p>
          <a:p xmlns:a="http://schemas.openxmlformats.org/drawingml/2006/main">
            <a:r>
              <a:t>Each record is one operating observation; equipment_id repeats across observations.</a:t>
            </a:r>
          </a:p>
          <a:p xmlns:a="http://schemas.openxmlformats.org/drawingml/2006/main">
            <a:r>
              <a:t/>
            </a:r>
          </a:p>
          <a:p xmlns:a="http://schemas.openxmlformats.org/drawingml/2006/main">
            <a:r>
              <a:t>LECTURER CUE</a:t>
            </a:r>
          </a:p>
          <a:p xmlns:a="http://schemas.openxmlformats.org/drawingml/2006/main">
            <a:r>
              <a:t>Investigate building cooling load. Target units: kW. These are synthetic teaching records, not measurements suitable for deployment. Each record is one operating observation; equipment_id repeats across observations.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select_model(candidates, max_mae, max_ms).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select_model(candidates, max_mae, max_ms)</a:t>
            </a:r>
          </a:p>
          <a:p xmlns:a="http://schemas.openxmlformats.org/drawingml/2006/main">
            <a:r>
              <a:t/>
            </a:r>
          </a:p>
          <a:p xmlns:a="http://schemas.openxmlformats.org/drawingml/2006/main">
            <a:r>
              <a:t>CONNECT</a:t>
            </a:r>
          </a:p>
          <a:p xmlns:a="http://schemas.openxmlformats.org/drawingml/2006/main">
            <a:r>
              <a:t>Previous slide: Your issued task.</a:t>
            </a:r>
          </a:p>
          <a:p xmlns:a="http://schemas.openxmlformats.org/drawingml/2006/main">
            <a:r>
              <a:t/>
            </a:r>
          </a:p>
          <a:p xmlns:a="http://schemas.openxmlformats.org/drawingml/2006/main">
            <a:r>
              <a:t>EXPLAIN</a:t>
            </a:r>
          </a:p>
          <a:p xmlns:a="http://schemas.openxmlformats.org/drawingml/2006/main">
            <a:r>
              <a:t>Candidates have name, validation_mae and latency_ms.</a:t>
            </a:r>
          </a:p>
          <a:p xmlns:a="http://schemas.openxmlformats.org/drawingml/2006/main">
            <a:r>
              <a:t/>
            </a:r>
          </a:p>
          <a:p xmlns:a="http://schemas.openxmlformats.org/drawingml/2006/main">
            <a:r>
              <a:t>Keep those meeting both inclusive constraints; select smallest validation_mae, then latency_ms, then name alphabetically.</a:t>
            </a:r>
          </a:p>
          <a:p xmlns:a="http://schemas.openxmlformats.org/drawingml/2006/main">
            <a:r>
              <a:t/>
            </a:r>
          </a:p>
          <a:p xmlns:a="http://schemas.openxmlformats.org/drawingml/2006/main">
            <a:r>
              <a:t>Return the selected name or None.</a:t>
            </a:r>
          </a:p>
          <a:p xmlns:a="http://schemas.openxmlformats.org/drawingml/2006/main">
            <a:r>
              <a:t/>
            </a:r>
          </a:p>
          <a:p xmlns:a="http://schemas.openxmlformats.org/drawingml/2006/main">
            <a:r>
              <a:t>Never use test scores for selection.</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IUEA_Teaching_Plan/assessment_banks/W12/CML3112/A/TASKS.md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regression_errors(actual, predicted).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regression_errors(actual, predicted)</a:t>
            </a:r>
          </a:p>
          <a:p xmlns:a="http://schemas.openxmlformats.org/drawingml/2006/main">
            <a:r>
              <a:t/>
            </a:r>
          </a:p>
          <a:p xmlns:a="http://schemas.openxmlformats.org/drawingml/2006/main">
            <a:r>
              <a:t>CONNECT</a:t>
            </a:r>
          </a:p>
          <a:p xmlns:a="http://schemas.openxmlformats.org/drawingml/2006/main">
            <a:r>
              <a:t>Previous slide: select_model(candidates, max_mae, max_ms).</a:t>
            </a:r>
          </a:p>
          <a:p xmlns:a="http://schemas.openxmlformats.org/drawingml/2006/main">
            <a:r>
              <a:t/>
            </a:r>
          </a:p>
          <a:p xmlns:a="http://schemas.openxmlformats.org/drawingml/2006/main">
            <a:r>
              <a:t>EXPLAIN</a:t>
            </a:r>
          </a:p>
          <a:p xmlns:a="http://schemas.openxmlformats.org/drawingml/2006/main">
            <a:r>
              <a:t>Return mae and rmse, calculated over the same paired observations, with full precision.</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IUEA_Teaching_Plan/assessment_banks/W12/CML3112/A/TASKS.md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Written evidence.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Previous slide: regression_errors(actual, predicted).</a:t>
            </a:r>
          </a:p>
          <a:p xmlns:a="http://schemas.openxmlformats.org/drawingml/2006/main">
            <a:r>
              <a:t/>
            </a:r>
          </a:p>
          <a:p xmlns:a="http://schemas.openxmlformats.org/drawingml/2006/main">
            <a:r>
              <a:t>EXPLAIN</a:t>
            </a:r>
          </a:p>
          <a:p xmlns:a="http://schemas.openxmlformats.org/drawingml/2006/main">
            <a:r>
              <a:t>Use the cell headed “My written evidence”.</a:t>
            </a:r>
          </a:p>
          <a:p xmlns:a="http://schemas.openxmlformats.org/drawingml/2006/main">
            <a:r>
              <a:t/>
            </a:r>
          </a:p>
          <a:p xmlns:a="http://schemas.openxmlformats.org/drawingml/2006/main">
            <a:r>
              <a:t>Explain the supplied scenario in your own words.</a:t>
            </a:r>
          </a:p>
          <a:p xmlns:a="http://schemas.openxmlformats.org/drawingml/2006/main">
            <a:r>
              <a:t/>
            </a:r>
          </a:p>
          <a:p xmlns:a="http://schemas.openxmlformats.org/drawingml/2006/main">
            <a:r>
              <a:t>State target units, reasons and limitations.</a:t>
            </a:r>
          </a:p>
          <a:p xmlns:a="http://schemas.openxmlformats.org/drawingml/2006/main">
            <a:r>
              <a:t/>
            </a:r>
          </a:p>
          <a:p xmlns:a="http://schemas.openxmlformats.org/drawingml/2006/main">
            <a:r>
              <a:t>Submit one complete notebook containing code and written evidence.</a:t>
            </a:r>
          </a:p>
          <a:p xmlns:a="http://schemas.openxmlformats.org/drawingml/2006/main">
            <a:r>
              <a:t/>
            </a:r>
          </a:p>
          <a:p xmlns:a="http://schemas.openxmlformats.org/drawingml/2006/main">
            <a:r>
              <a:t>LECTURER CUE</a:t>
            </a:r>
          </a:p>
          <a:p xmlns:a="http://schemas.openxmlformats.org/drawingml/2006/main">
            <a:r>
              <a:t>Published criterion weights and exact requirements remain in TASKS.md. Broader project exercises are formative and do not add weekly marks. Local automated reasoning assessment remains subject to its release checks.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Model recommendation submission.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Model recommendation submission</a:t>
            </a:r>
          </a:p>
          <a:p xmlns:a="http://schemas.openxmlformats.org/drawingml/2006/main">
            <a:r>
              <a:t/>
            </a:r>
          </a:p>
          <a:p xmlns:a="http://schemas.openxmlformats.org/drawingml/2006/main">
            <a:r>
              <a:t>CONNECT</a:t>
            </a:r>
          </a:p>
          <a:p xmlns:a="http://schemas.openxmlformats.org/drawingml/2006/main">
            <a:r>
              <a:t>Previous slide: Written evidence.</a:t>
            </a:r>
          </a:p>
          <a:p xmlns:a="http://schemas.openxmlformats.org/drawingml/2006/main">
            <a:r>
              <a:t/>
            </a:r>
          </a:p>
          <a:p xmlns:a="http://schemas.openxmlformats.org/drawingml/2006/main">
            <a:r>
              <a:t>EXPLAIN</a:t>
            </a:r>
          </a:p>
          <a:p xmlns:a="http://schemas.openxmlformats.org/drawingml/2006/main">
            <a:r>
              <a:t>Opens: 24 Nov 2026, 11:00 Kampala</a:t>
            </a:r>
          </a:p>
          <a:p xmlns:a="http://schemas.openxmlformats.org/drawingml/2006/main">
            <a:r>
              <a:t/>
            </a:r>
          </a:p>
          <a:p xmlns:a="http://schemas.openxmlformats.org/drawingml/2006/main">
            <a:r>
              <a:t>Deadline: 24 Nov 2026, 14:00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Project preparation.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Project preparation</a:t>
            </a:r>
          </a:p>
          <a:p xmlns:a="http://schemas.openxmlformats.org/drawingml/2006/main">
            <a:r>
              <a:t/>
            </a:r>
          </a:p>
          <a:p xmlns:a="http://schemas.openxmlformats.org/drawingml/2006/main">
            <a:r>
              <a:t>CONNECT</a:t>
            </a:r>
          </a:p>
          <a:p xmlns:a="http://schemas.openxmlformats.org/drawingml/2006/main">
            <a:r>
              <a:t>Previous slide: Model recommendation submission.</a:t>
            </a:r>
          </a:p>
          <a:p xmlns:a="http://schemas.openxmlformats.org/drawingml/2006/main">
            <a:r>
              <a:t/>
            </a:r>
          </a:p>
          <a:p xmlns:a="http://schemas.openxmlformats.org/drawingml/2006/main">
            <a:r>
              <a:t>EXPLAIN</a:t>
            </a:r>
          </a:p>
          <a:p xmlns:a="http://schemas.openxmlformats.org/drawingml/2006/main">
            <a:r>
              <a:t>Use the published machine learning project brief.</a:t>
            </a:r>
          </a:p>
          <a:p xmlns:a="http://schemas.openxmlformats.org/drawingml/2006/main">
            <a:r>
              <a:t/>
            </a:r>
          </a:p>
          <a:p xmlns:a="http://schemas.openxmlformats.org/drawingml/2006/main">
            <a:r>
              <a:t>Build the evidence gradually in your project notebook.</a:t>
            </a:r>
          </a:p>
          <a:p xmlns:a="http://schemas.openxmlformats.org/drawingml/2006/main">
            <a:r>
              <a:t/>
            </a:r>
          </a:p>
          <a:p xmlns:a="http://schemas.openxmlformats.org/drawingml/2006/main">
            <a:r>
              <a:t>Keep raw data, labelled charts, run instructions and individual contributions.</a:t>
            </a:r>
          </a:p>
          <a:p xmlns:a="http://schemas.openxmlformats.org/drawingml/2006/main">
            <a:r>
              <a:t/>
            </a:r>
          </a:p>
          <a:p xmlns:a="http://schemas.openxmlformats.org/drawingml/2006/main">
            <a:r>
              <a:t>Published deadline: 15 Dec 2026, 11:00 Kampala</a:t>
            </a:r>
          </a:p>
          <a:p xmlns:a="http://schemas.openxmlformats.org/drawingml/2006/main">
            <a:r>
              <a:t/>
            </a:r>
          </a:p>
          <a:p xmlns:a="http://schemas.openxmlformats.org/drawingml/2006/main">
            <a:r>
              <a:t>LECTURER CUE</a:t>
            </a:r>
          </a:p>
          <a:p xmlns:a="http://schemas.openxmlformats.org/drawingml/2006/main">
            <a:r>
              <a:t>Explain the released brief now. Confirm its grading-release checks before assigning it. Avoid treating weekly practice as a substitute for the project evidence. The project brief remains authoritative.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Week 12 quiz.</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12 quiz</a:t>
            </a:r>
          </a:p>
          <a:p xmlns:a="http://schemas.openxmlformats.org/drawingml/2006/main">
            <a:r>
              <a:t/>
            </a:r>
          </a:p>
          <a:p xmlns:a="http://schemas.openxmlformats.org/drawingml/2006/main">
            <a:r>
              <a:t>CONNECT</a:t>
            </a:r>
          </a:p>
          <a:p xmlns:a="http://schemas.openxmlformats.org/drawingml/2006/main">
            <a:r>
              <a:t>Previous slide: Project preparation.</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CUE</a:t>
            </a:r>
          </a:p>
          <a:p xmlns:a="http://schemas.openxmlformats.org/drawingml/2006/main">
            <a:r>
              <a:t>Activate the matching open_W12_CML3112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Before you leave.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Previous slide: Week 12 quiz.</a:t>
            </a:r>
          </a:p>
          <a:p xmlns:a="http://schemas.openxmlformats.org/drawingml/2006/main">
            <a:r>
              <a:t/>
            </a:r>
          </a:p>
          <a:p xmlns:a="http://schemas.openxmlformats.org/drawingml/2006/main">
            <a:r>
              <a:t>EXPLAIN</a:t>
            </a:r>
          </a:p>
          <a:p xmlns:a="http://schemas.openxmlformats.org/drawingml/2006/main">
            <a:r>
              <a:t>You can justify a valid candidate with evidence and a stated limitation.</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Optional revision video.</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Optional revision video</a:t>
            </a:r>
          </a:p>
          <a:p xmlns:a="http://schemas.openxmlformats.org/drawingml/2006/main">
            <a:r>
              <a:t/>
            </a:r>
          </a:p>
          <a:p xmlns:a="http://schemas.openxmlformats.org/drawingml/2006/main">
            <a:r>
              <a:t>CONNECT</a:t>
            </a:r>
          </a:p>
          <a:p xmlns:a="http://schemas.openxmlformats.org/drawingml/2006/main">
            <a:r>
              <a:t>Previous slide: Revision and submission checklist.</a:t>
            </a:r>
          </a:p>
          <a:p xmlns:a="http://schemas.openxmlformats.org/drawingml/2006/main">
            <a:r>
              <a:t/>
            </a:r>
          </a:p>
          <a:p xmlns:a="http://schemas.openxmlformats.org/drawingml/2006/main">
            <a:r>
              <a:t>EXPLAIN</a:t>
            </a:r>
          </a:p>
          <a:p xmlns:a="http://schemas.openxmlformats.org/drawingml/2006/main">
            <a:r>
              <a:t>For revision after class.</a:t>
            </a:r>
          </a:p>
          <a:p xmlns:a="http://schemas.openxmlformats.org/drawingml/2006/main">
            <a:r>
              <a:t/>
            </a:r>
          </a:p>
          <a:p xmlns:a="http://schemas.openxmlformats.org/drawingml/2006/main">
            <a:r>
              <a:t>StatQuest with Josh Starmer</a:t>
            </a:r>
          </a:p>
          <a:p xmlns:a="http://schemas.openxmlformats.org/drawingml/2006/main">
            <a:r>
              <a:t>Machine Learning Fundamentals Cross Validation</a:t>
            </a:r>
          </a:p>
          <a:p xmlns:a="http://schemas.openxmlformats.org/drawingml/2006/main">
            <a:r>
              <a:t/>
            </a:r>
          </a:p>
          <a:p xmlns:a="http://schemas.openxmlformats.org/drawingml/2006/main">
            <a:r>
              <a:t>Opening up to 04:00, optional preview-selected excerpt</a:t>
            </a:r>
          </a:p>
          <a:p xmlns:a="http://schemas.openxmlformats.org/drawingml/2006/main">
            <a:r>
              <a:t/>
            </a:r>
          </a:p>
          <a:p xmlns:a="http://schemas.openxmlformats.org/drawingml/2006/main">
            <a:r>
              <a:t>Listening question: Why evaluate using observations not used to fit that particular model?</a:t>
            </a:r>
          </a:p>
          <a:p xmlns:a="http://schemas.openxmlformats.org/drawingml/2006/main">
            <a:r>
              <a:t/>
            </a:r>
          </a:p>
          <a:p xmlns:a="http://schemas.openxmlformats.org/drawingml/2006/main">
            <a:r>
              <a:t>LECTURER CUE</a:t>
            </a:r>
          </a:p>
          <a:p xmlns:a="http://schemas.openxmlformats.org/drawingml/2006/main">
            <a:r>
              <a:t>Linked by the official StatQuest video index. Full audiovisual preview and excerpt timing still required.</a:t>
            </a:r>
          </a:p>
          <a:p xmlns:a="http://schemas.openxmlformats.org/drawingml/2006/main">
            <a:r>
              <a:t>After viewing: Explain why our repeated equipment IDs require grouped partitions rather than ordinary random folds.</a:t>
            </a:r>
          </a:p>
          <a:p xmlns:a="http://schemas.openxmlformats.org/drawingml/2006/main">
            <a:r>
              <a:t>Preview before class and stop after the selected short excerpt. If playback fails, teach the worked example. Video is optional. Source: https://www.youtube.com/watch?v=fSytzGwwBVw</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independent revision and the issued task.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b8392575005467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2cdd7eefbde487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aeae6abd7034bf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96e6fa6c4aa461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16f8f2a5c7c4a3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b77464a62114e8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6F165B10-2BDF-4925-8B4B-E31BD344625C}"/>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00685DE1-766F-4F84-ACE8-CC3AA5664D24}"/>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36D1DD70-7FDB-44E7-8491-E5C60494A532}"/>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8DAD0E10-BBFA-482C-886B-35A1AA4B6237}"/>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D0776057-799C-4A13-AD0F-9927B0B05BF1}"/>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0965C2E2-28EC-4F12-BA99-0C19CFEDB026}"/>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D173FB35-8CEC-46D1-ADF3-D3440AC17D4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E9C87AD4-D30E-44D1-B217-F273D1933920}"/>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3373FECA-EFB9-4052-9792-44843D658D7A}"/>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C0B387D5-D9FF-46E9-9E1B-31364AF6D55C}"/>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0785401B-423D-411F-A44C-5D8E42BC12C4}"/>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7A899718-9F45-4165-B4B6-71676DB81EE7}"/>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61AE3EB2-3F3B-4406-B655-D84D6AFBBBAB}"/>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2C13958F-357A-45AA-8F8F-A94C31E6D48C}"/>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BA469010-1491-4467-9E51-6DE2EBEC3064}"/>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02797346d084db3" /><Relationship Type="http://schemas.openxmlformats.org/officeDocument/2006/relationships/slideLayout" Target="/ppt/slideLayouts/slideLayout1.xml" Id="R11d98507a2b34cfd" /><Relationship Type="http://schemas.openxmlformats.org/officeDocument/2006/relationships/slideLayout" Target="/ppt/slideLayouts/slideLayout2.xml" Id="R2f6d3fe6fed04e80" /><Relationship Type="http://schemas.openxmlformats.org/officeDocument/2006/relationships/slideLayout" Target="/ppt/slideLayouts/slideLayout3.xml" Id="R23860b79cda04f6b" /><Relationship Type="http://schemas.openxmlformats.org/officeDocument/2006/relationships/slideLayout" Target="/ppt/slideLayouts/slideLayout4.xml" Id="R61fed20be6b6429b" /><Relationship Type="http://schemas.openxmlformats.org/officeDocument/2006/relationships/slideLayout" Target="/ppt/slideLayouts/slideLayout5.xml" Id="Rf7ce993be00f4f94" /><Relationship Type="http://schemas.openxmlformats.org/officeDocument/2006/relationships/slideLayout" Target="/ppt/slideLayouts/slideLayout6.xml" Id="R589ce4cda5da476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1d98507a2b34cfd"/>
    <p:sldLayoutId xmlns:r="http://schemas.openxmlformats.org/officeDocument/2006/relationships" id="2147483650" r:id="R2f6d3fe6fed04e80"/>
    <p:sldLayoutId xmlns:r="http://schemas.openxmlformats.org/officeDocument/2006/relationships" id="2147483651" r:id="R23860b79cda04f6b"/>
    <p:sldLayoutId xmlns:r="http://schemas.openxmlformats.org/officeDocument/2006/relationships" id="2147483652" r:id="R61fed20be6b6429b"/>
    <p:sldLayoutId xmlns:r="http://schemas.openxmlformats.org/officeDocument/2006/relationships" id="2147483653" r:id="Rf7ce993be00f4f94"/>
    <p:sldLayoutId xmlns:r="http://schemas.openxmlformats.org/officeDocument/2006/relationships" id="2147483654" r:id="R589ce4cda5da476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9b046528a1f4d3e" /><Relationship Type="http://schemas.openxmlformats.org/officeDocument/2006/relationships/image" Target="/ppt/media/image.png" Id="R08ed4c8e5e524a7f" /><Relationship Type="http://schemas.openxmlformats.org/officeDocument/2006/relationships/notesSlide" Target="/ppt/notesSlides/notesSlide1.xml" Id="R9cc0512b972a47a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f1268dce8e24a02" /><Relationship Type="http://schemas.openxmlformats.org/officeDocument/2006/relationships/notesSlide" Target="/ppt/notesSlides/notesSlide2.xml" Id="Rbdb44be17188474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fe4cfa16b324698" /><Relationship Type="http://schemas.openxmlformats.org/officeDocument/2006/relationships/notesSlide" Target="/ppt/notesSlides/notesSlide3.xml" Id="R9fbd86a0e5ca422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604b927bc3c487b" /><Relationship Type="http://schemas.openxmlformats.org/officeDocument/2006/relationships/notesSlide" Target="/ppt/notesSlides/notesSlide4.xml" Id="R255f9a8a9a88462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23bdac15de14d55" /><Relationship Type="http://schemas.openxmlformats.org/officeDocument/2006/relationships/notesSlide" Target="/ppt/notesSlides/notesSlide5.xml" Id="R1413ea4c72cd41b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0405e7e832e4637" /><Relationship Type="http://schemas.openxmlformats.org/officeDocument/2006/relationships/notesSlide" Target="/ppt/notesSlides/notesSlide6.xml" Id="R3a1d688a75b847a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bc86104690d4293" /><Relationship Type="http://schemas.openxmlformats.org/officeDocument/2006/relationships/notesSlide" Target="/ppt/notesSlides/notesSlide7.xml" Id="Rf145109a7a9b445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0c04d9b74c54e3e" /><Relationship Type="http://schemas.openxmlformats.org/officeDocument/2006/relationships/notesSlide" Target="/ppt/notesSlides/notesSlide8.xml" Id="Ra0d4e83709384ee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4454be4f585485d" /><Relationship Type="http://schemas.openxmlformats.org/officeDocument/2006/relationships/notesSlide" Target="/ppt/notesSlides/notesSlide9.xml" Id="Rc7c530cc0aef46c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511be6aa87d4b4f" /><Relationship Type="http://schemas.openxmlformats.org/officeDocument/2006/relationships/notesSlide" Target="/ppt/notesSlides/notesSlide10.xml" Id="R8fa6e81a652e426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d8be005a3b343d0" /><Relationship Type="http://schemas.openxmlformats.org/officeDocument/2006/relationships/notesSlide" Target="/ppt/notesSlides/notesSlide11.xml" Id="R3bcdfa99ad464b9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b96e61ca080436a" /><Relationship Type="http://schemas.openxmlformats.org/officeDocument/2006/relationships/notesSlide" Target="/ppt/notesSlides/notesSlide12.xml" Id="R91ea4a7b40c2456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708644e869847e6" /><Relationship Type="http://schemas.openxmlformats.org/officeDocument/2006/relationships/notesSlide" Target="/ppt/notesSlides/notesSlide13.xml" Id="Rb6ddd871685e4f8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3711776dafa4858" /><Relationship Type="http://schemas.openxmlformats.org/officeDocument/2006/relationships/notesSlide" Target="/ppt/notesSlides/notesSlide14.xml" Id="R10236026b4ee434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c2acf924dfe94c3c" /><Relationship Type="http://schemas.openxmlformats.org/officeDocument/2006/relationships/notesSlide" Target="/ppt/notesSlides/notesSlide15.xml" Id="R6817d12ecb7a413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e1d510d7a7e9451b" /><Relationship Type="http://schemas.openxmlformats.org/officeDocument/2006/relationships/notesSlide" Target="/ppt/notesSlides/notesSlide16.xml" Id="R0eb0f1ad85434f3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dd4123df74849c7" /><Relationship Type="http://schemas.openxmlformats.org/officeDocument/2006/relationships/notesSlide" Target="/ppt/notesSlides/notesSlide17.xml" Id="R9c6765e0f5304d9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fd144fd46984ae7" /><Relationship Type="http://schemas.openxmlformats.org/officeDocument/2006/relationships/notesSlide" Target="/ppt/notesSlides/notesSlide18.xml" Id="Rc970e1fa8ab84f1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0f07827296fc4a1f" /><Relationship Type="http://schemas.openxmlformats.org/officeDocument/2006/relationships/notesSlide" Target="/ppt/notesSlides/notesSlide19.xml" Id="R222c89666d70435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2b7a7078fb1947df" /><Relationship Type="http://schemas.openxmlformats.org/officeDocument/2006/relationships/notesSlide" Target="/ppt/notesSlides/notesSlide20.xml" Id="R0e69aa9250f74fa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a7d7f961aa81404b" /><Relationship Type="http://schemas.openxmlformats.org/officeDocument/2006/relationships/notesSlide" Target="/ppt/notesSlides/notesSlide21.xml" Id="Rc5dac7dfa7be43b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8336607dd1c64f17" /><Relationship Type="http://schemas.openxmlformats.org/officeDocument/2006/relationships/notesSlide" Target="/ppt/notesSlides/notesSlide22.xml" Id="Rf80d082f85c6499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073ad796c0e64d5c" /><Relationship Type="http://schemas.openxmlformats.org/officeDocument/2006/relationships/notesSlide" Target="/ppt/notesSlides/notesSlide23.xml" Id="R33145f1ca38044e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eea44c0cad3748e0" /><Relationship Type="http://schemas.openxmlformats.org/officeDocument/2006/relationships/notesSlide" Target="/ppt/notesSlides/notesSlide24.xml" Id="R91b47a6eb9ee40e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e00cf89d7ff240f7" /><Relationship Type="http://schemas.openxmlformats.org/officeDocument/2006/relationships/notesSlide" Target="/ppt/notesSlides/notesSlide25.xml" Id="R21d8f5d83c794f4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98da58ca381444ae" /><Relationship Type="http://schemas.openxmlformats.org/officeDocument/2006/relationships/notesSlide" Target="/ppt/notesSlides/notesSlide26.xml" Id="R92cce4e1cc54482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e13eebb1ccd145e0" /><Relationship Type="http://schemas.openxmlformats.org/officeDocument/2006/relationships/notesSlide" Target="/ppt/notesSlides/notesSlide27.xml" Id="R92d14ab31ad149f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bb8cccaad4a84c8d" /><Relationship Type="http://schemas.openxmlformats.org/officeDocument/2006/relationships/notesSlide" Target="/ppt/notesSlides/notesSlide28.xml" Id="R9bc95b92a36e4f1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0c4abf537e634074" /><Relationship Type="http://schemas.openxmlformats.org/officeDocument/2006/relationships/notesSlide" Target="/ppt/notesSlides/notesSlide29.xml" Id="R7d77f79c84a646a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672acbb273a54b8f" /><Relationship Type="http://schemas.openxmlformats.org/officeDocument/2006/relationships/notesSlide" Target="/ppt/notesSlides/notesSlide30.xml" Id="R45ce590b199d4a3f"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86314b0b6d974bd0" /><Relationship Type="http://schemas.openxmlformats.org/officeDocument/2006/relationships/notesSlide" Target="/ppt/notesSlides/notesSlide31.xml" Id="Rea0d8b03da004981"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95f4287c7bac4ec7" /><Relationship Type="http://schemas.openxmlformats.org/officeDocument/2006/relationships/hyperlink" Target="https://docs.google.com/forms/d/e/1FAIpQLSd4Ltaw1RqRzbW7PoC4_Kh3PZHkElCKA9OY8F_xrJfLnpcbfA/viewform" TargetMode="External" Id="R742a74b7dbea4d72" /><Relationship Type="http://schemas.openxmlformats.org/officeDocument/2006/relationships/notesSlide" Target="/ppt/notesSlides/notesSlide32.xml" Id="Rcb83912a85594687"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02efb037e0474eee" /><Relationship Type="http://schemas.openxmlformats.org/officeDocument/2006/relationships/notesSlide" Target="/ppt/notesSlides/notesSlide33.xml" Id="R0839381059ff4bc0"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b55ad9e536724ece" /><Relationship Type="http://schemas.openxmlformats.org/officeDocument/2006/relationships/image" Target="/ppt/media/image2.png" Id="R038fe1c925ad4155" /><Relationship Type="http://schemas.openxmlformats.org/officeDocument/2006/relationships/hyperlink" Target="https://forms.gle/MKfjP3UWDXAei6FK6" TargetMode="External" Id="Re133b1917d694f00" /><Relationship Type="http://schemas.openxmlformats.org/officeDocument/2006/relationships/notesSlide" Target="/ppt/notesSlides/notesSlide34.xml" Id="R270f634a18f74fc2"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ff67a2ce077d46f6" /><Relationship Type="http://schemas.openxmlformats.org/officeDocument/2006/relationships/notesSlide" Target="/ppt/notesSlides/notesSlide35.xml" Id="R0a9c9dd6cc9b4b1c"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1ce54f05565e4bc6" /><Relationship Type="http://schemas.openxmlformats.org/officeDocument/2006/relationships/hyperlink" Target="https://www.youtube.com/watch?v=fSytzGwwBVw" TargetMode="External" Id="Rb0acf262ea5f4724" /><Relationship Type="http://schemas.openxmlformats.org/officeDocument/2006/relationships/notesSlide" Target="/ppt/notesSlides/notesSlide36.xml" Id="R9f07fe73980f441f"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08ed4c8e5e524a7f"/>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6F9C8E4-B48A-47CA-8A46-5A8FC3032533}"/>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B7E7134-6C57-4390-9CBA-88867F4FF30D}"/>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12</a:t>
            </a:r>
          </a:p>
        </p:txBody>
      </p:sp>
      <p:sp>
        <p:nvSpPr>
          <p:cNvPr id="4" name="">
            <a:extLst xmlns:a="http://schemas.openxmlformats.org/drawingml/2006/main">
              <a:ext uri="{FF2B5EF4-FFF2-40B4-BE49-F238E27FC236}">
                <a16:creationId xmlns:a16="http://schemas.microsoft.com/office/drawing/2014/main" id="{5A7F804F-49CD-4F55-8B8B-3EF420AED9FC}"/>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Choosing and explaining a model</a:t>
            </a:r>
          </a:p>
        </p:txBody>
      </p:sp>
      <p:sp>
        <p:nvSpPr>
          <p:cNvPr id="5" name="">
            <a:extLst xmlns:a="http://schemas.openxmlformats.org/drawingml/2006/main">
              <a:ext uri="{FF2B5EF4-FFF2-40B4-BE49-F238E27FC236}">
                <a16:creationId xmlns:a16="http://schemas.microsoft.com/office/drawing/2014/main" id="{EAC2D100-6342-4E62-8161-FD2046981DEA}"/>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C291CFBA-3002-4EF0-906A-7D979F893FF6}"/>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24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141082252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E5C7034-86B8-4BB6-B6F9-C67D46EA96E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5322387-AD90-478F-B8EF-C7B626BADD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1CD29533-04D2-4FAE-A590-52EF977AF7F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0D9A959D-F5D5-4EC8-8D68-FD10BE5F4FDD}"/>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23D7D9F-0040-4392-BD45-DE755CAC2546}"/>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321DE4DD-04EB-430B-A5C0-89ABE9D49B5D}"/>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model requirements before ranking candidates.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Apply the tie-break rule and explain the choice.</a:t>
            </a:r>
          </a:p>
        </p:txBody>
      </p:sp>
      <p:sp>
        <p:nvSpPr>
          <p:cNvPr id="7" name="">
            <a:extLst xmlns:a="http://schemas.openxmlformats.org/drawingml/2006/main">
              <a:ext uri="{FF2B5EF4-FFF2-40B4-BE49-F238E27FC236}">
                <a16:creationId xmlns:a16="http://schemas.microsoft.com/office/drawing/2014/main" id="{45AAB8C6-B874-4ABE-935E-721971118050}"/>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6F074347-6BB8-499E-B081-25326A1A1DC6}"/>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justify a valid candidate with evidence and a stated limitation.</a:t>
            </a:r>
          </a:p>
        </p:txBody>
      </p:sp>
      <p:sp>
        <p:nvSpPr>
          <p:cNvPr id="9" name="">
            <a:extLst xmlns:a="http://schemas.openxmlformats.org/drawingml/2006/main">
              <a:ext uri="{FF2B5EF4-FFF2-40B4-BE49-F238E27FC236}">
                <a16:creationId xmlns:a16="http://schemas.microsoft.com/office/drawing/2014/main" id="{3B9A1873-CF20-46D1-B4D8-EFBC0BA35EA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a:t>
            </a:r>
          </a:p>
        </p:txBody>
      </p:sp>
    </p:spTree>
    <p:extLst>
      <p:ext uri="{BB962C8B-B14F-4D97-AF65-F5344CB8AC3E}">
        <p14:creationId xmlns:p14="http://schemas.microsoft.com/office/powerpoint/2010/main" val="30873104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CEA6DB2-4388-4D7E-954F-C1F8EFF16A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8FF2419-FD2D-4BAD-93E0-26E7E8D4BC6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A5E7E06-AC93-4DEB-BF75-A9DAE6F1FD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18E14ABA-7A2D-4069-8D76-7F341393D86F}"/>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7C571AF-4C61-47C7-869D-0D43B115EE58}"/>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 already calculate validation errors.</a:t>
            </a:r>
          </a:p>
        </p:txBody>
      </p:sp>
      <p:sp>
        <p:nvSpPr>
          <p:cNvPr id="6" name="">
            <a:extLst xmlns:a="http://schemas.openxmlformats.org/drawingml/2006/main">
              <a:ext uri="{FF2B5EF4-FFF2-40B4-BE49-F238E27FC236}">
                <a16:creationId xmlns:a16="http://schemas.microsoft.com/office/drawing/2014/main" id="{200980BA-2D9B-4423-9ED2-433F8A085E6F}"/>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Now we combine those errors with a practical constraint and an explicit tie-break rule.</a:t>
            </a:r>
          </a:p>
        </p:txBody>
      </p:sp>
      <p:sp>
        <p:nvSpPr>
          <p:cNvPr id="7" name="">
            <a:extLst xmlns:a="http://schemas.openxmlformats.org/drawingml/2006/main">
              <a:ext uri="{FF2B5EF4-FFF2-40B4-BE49-F238E27FC236}">
                <a16:creationId xmlns:a16="http://schemas.microsoft.com/office/drawing/2014/main" id="{758E4813-0C60-422C-AE39-D406120B2E1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a:t>
            </a:r>
          </a:p>
        </p:txBody>
      </p:sp>
    </p:spTree>
    <p:extLst>
      <p:ext uri="{BB962C8B-B14F-4D97-AF65-F5344CB8AC3E}">
        <p14:creationId xmlns:p14="http://schemas.microsoft.com/office/powerpoint/2010/main" val="166503866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5896BE1-9D0A-4BC8-9018-1811C967D1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43BBA41-1B36-4ED9-9858-BAD875B76D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E2E61C7-E58F-4AE2-AF86-FF290A6835A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C33A1675-A5BA-4DDE-9BA7-EEB0C863E1C5}"/>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3C046D9-EA6D-42A3-A31E-29309B8F4D15}"/>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lowest prediction error may come from a model that is too slow for the stated task.</a:t>
            </a:r>
          </a:p>
        </p:txBody>
      </p:sp>
      <p:sp>
        <p:nvSpPr>
          <p:cNvPr id="6" name="">
            <a:extLst xmlns:a="http://schemas.openxmlformats.org/drawingml/2006/main">
              <a:ext uri="{FF2B5EF4-FFF2-40B4-BE49-F238E27FC236}">
                <a16:creationId xmlns:a16="http://schemas.microsoft.com/office/drawing/2014/main" id="{87045713-03F0-42D4-94BC-0FFE0DB9C143}"/>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apply the published constraints before ranking eligible models.</a:t>
            </a:r>
          </a:p>
        </p:txBody>
      </p:sp>
      <p:sp>
        <p:nvSpPr>
          <p:cNvPr id="7" name="">
            <a:extLst xmlns:a="http://schemas.openxmlformats.org/drawingml/2006/main">
              <a:ext uri="{FF2B5EF4-FFF2-40B4-BE49-F238E27FC236}">
                <a16:creationId xmlns:a16="http://schemas.microsoft.com/office/drawing/2014/main" id="{106A12CB-C47E-4AFB-B893-D19AC4D117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4</a:t>
            </a:r>
          </a:p>
        </p:txBody>
      </p:sp>
    </p:spTree>
    <p:extLst>
      <p:ext uri="{BB962C8B-B14F-4D97-AF65-F5344CB8AC3E}">
        <p14:creationId xmlns:p14="http://schemas.microsoft.com/office/powerpoint/2010/main" val="54444406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619716B-1399-4658-8180-39E9A4C409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40F4463-8679-4040-96F2-3B5B656B96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660F823-A2A6-484C-9DC3-DB2AEF31A9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Constraint and Latency</a:t>
            </a:r>
          </a:p>
        </p:txBody>
      </p:sp>
      <p:sp>
        <p:nvSpPr>
          <p:cNvPr id="4" name="">
            <a:extLst xmlns:a="http://schemas.openxmlformats.org/drawingml/2006/main">
              <a:ext uri="{FF2B5EF4-FFF2-40B4-BE49-F238E27FC236}">
                <a16:creationId xmlns:a16="http://schemas.microsoft.com/office/drawing/2014/main" id="{6C817A38-C4A5-45DA-BB9A-C94CBAA7A4E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CE5C035-21D9-448C-84AC-3185161D7F32}"/>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Constraint</a:t>
            </a:r>
          </a:p>
        </p:txBody>
      </p:sp>
      <p:sp>
        <p:nvSpPr>
          <p:cNvPr id="6" name="">
            <a:extLst xmlns:a="http://schemas.openxmlformats.org/drawingml/2006/main">
              <a:ext uri="{FF2B5EF4-FFF2-40B4-BE49-F238E27FC236}">
                <a16:creationId xmlns:a16="http://schemas.microsoft.com/office/drawing/2014/main" id="{A2965CF6-DEC8-424B-B9A9-6C58427BBDAB}"/>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condition a candidate must satisfy, such as MAE at most 3 and latency at most 10 ms.</a:t>
            </a:r>
          </a:p>
        </p:txBody>
      </p:sp>
      <p:sp>
        <p:nvSpPr>
          <p:cNvPr id="7" name="">
            <a:extLst xmlns:a="http://schemas.openxmlformats.org/drawingml/2006/main">
              <a:ext uri="{FF2B5EF4-FFF2-40B4-BE49-F238E27FC236}">
                <a16:creationId xmlns:a16="http://schemas.microsoft.com/office/drawing/2014/main" id="{A4D985B9-7234-4014-BE3D-210F2AEBD116}"/>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378503D-E0AA-4135-9F75-2AF83186422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Latency</a:t>
            </a:r>
          </a:p>
        </p:txBody>
      </p:sp>
      <p:sp>
        <p:nvSpPr>
          <p:cNvPr id="9" name="">
            <a:extLst xmlns:a="http://schemas.openxmlformats.org/drawingml/2006/main">
              <a:ext uri="{FF2B5EF4-FFF2-40B4-BE49-F238E27FC236}">
                <a16:creationId xmlns:a16="http://schemas.microsoft.com/office/drawing/2014/main" id="{7D41304B-B667-4B02-B237-9966BD93A111}"/>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Time taken to produce a prediction under stated measurement conditions. Hardware and measurement method matter.</a:t>
            </a:r>
          </a:p>
        </p:txBody>
      </p:sp>
      <p:sp>
        <p:nvSpPr>
          <p:cNvPr id="10" name="">
            <a:extLst xmlns:a="http://schemas.openxmlformats.org/drawingml/2006/main">
              <a:ext uri="{FF2B5EF4-FFF2-40B4-BE49-F238E27FC236}">
                <a16:creationId xmlns:a16="http://schemas.microsoft.com/office/drawing/2014/main" id="{D3536D7D-6A85-4604-A2DE-3777C992A85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5</a:t>
            </a:r>
          </a:p>
        </p:txBody>
      </p:sp>
    </p:spTree>
    <p:extLst>
      <p:ext uri="{BB962C8B-B14F-4D97-AF65-F5344CB8AC3E}">
        <p14:creationId xmlns:p14="http://schemas.microsoft.com/office/powerpoint/2010/main" val="171309114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9803453-59C2-4086-A385-CBEEC61F03F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71F174E-C898-4785-B1F0-E46C3D51508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AE87F43-82BC-462C-8A2A-AE18110133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Tie-break and Hyperparameter</a:t>
            </a:r>
          </a:p>
        </p:txBody>
      </p:sp>
      <p:sp>
        <p:nvSpPr>
          <p:cNvPr id="4" name="">
            <a:extLst xmlns:a="http://schemas.openxmlformats.org/drawingml/2006/main">
              <a:ext uri="{FF2B5EF4-FFF2-40B4-BE49-F238E27FC236}">
                <a16:creationId xmlns:a16="http://schemas.microsoft.com/office/drawing/2014/main" id="{410B443E-B11F-4F2F-9787-1524EA9DE030}"/>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8570602-D781-4567-9717-B8A23009E67F}"/>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Tie-break</a:t>
            </a:r>
          </a:p>
        </p:txBody>
      </p:sp>
      <p:sp>
        <p:nvSpPr>
          <p:cNvPr id="6" name="">
            <a:extLst xmlns:a="http://schemas.openxmlformats.org/drawingml/2006/main">
              <a:ext uri="{FF2B5EF4-FFF2-40B4-BE49-F238E27FC236}">
                <a16:creationId xmlns:a16="http://schemas.microsoft.com/office/drawing/2014/main" id="{B2970642-4813-4E33-AA1E-8BBE2BE3C713}"/>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published rule for choosing between candidates that tie on the main criterion.</a:t>
            </a:r>
          </a:p>
        </p:txBody>
      </p:sp>
      <p:sp>
        <p:nvSpPr>
          <p:cNvPr id="7" name="">
            <a:extLst xmlns:a="http://schemas.openxmlformats.org/drawingml/2006/main">
              <a:ext uri="{FF2B5EF4-FFF2-40B4-BE49-F238E27FC236}">
                <a16:creationId xmlns:a16="http://schemas.microsoft.com/office/drawing/2014/main" id="{2B012A67-1394-4935-A6BD-907AF34470D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3E22CDA-0B50-40C6-9557-8E5D8E2FA17C}"/>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Hyperparameter</a:t>
            </a:r>
          </a:p>
        </p:txBody>
      </p:sp>
      <p:sp>
        <p:nvSpPr>
          <p:cNvPr id="9" name="">
            <a:extLst xmlns:a="http://schemas.openxmlformats.org/drawingml/2006/main">
              <a:ext uri="{FF2B5EF4-FFF2-40B4-BE49-F238E27FC236}">
                <a16:creationId xmlns:a16="http://schemas.microsoft.com/office/drawing/2014/main" id="{036190BB-7047-47D1-9989-F30D05B44CE7}"/>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setting chosen before fitting, such as tree depth. Tune using validation or cross-validation, not the final test.</a:t>
            </a:r>
          </a:p>
        </p:txBody>
      </p:sp>
      <p:sp>
        <p:nvSpPr>
          <p:cNvPr id="10" name="">
            <a:extLst xmlns:a="http://schemas.openxmlformats.org/drawingml/2006/main">
              <a:ext uri="{FF2B5EF4-FFF2-40B4-BE49-F238E27FC236}">
                <a16:creationId xmlns:a16="http://schemas.microsoft.com/office/drawing/2014/main" id="{EEF807C5-5ACE-4C75-ABCA-32176BCA9BC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6</a:t>
            </a:r>
          </a:p>
        </p:txBody>
      </p:sp>
    </p:spTree>
    <p:extLst>
      <p:ext uri="{BB962C8B-B14F-4D97-AF65-F5344CB8AC3E}">
        <p14:creationId xmlns:p14="http://schemas.microsoft.com/office/powerpoint/2010/main" val="143650384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D132471-E8C1-40DA-B5CC-CD97C9A30F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405E419-2E0C-449E-B30D-FE3A4BBD4E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DE097F5-FE02-470E-BDE0-CA5810DEC8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Error and practical constraints</a:t>
            </a:r>
          </a:p>
        </p:txBody>
      </p:sp>
      <p:sp>
        <p:nvSpPr>
          <p:cNvPr id="4" name="">
            <a:extLst xmlns:a="http://schemas.openxmlformats.org/drawingml/2006/main">
              <a:ext uri="{FF2B5EF4-FFF2-40B4-BE49-F238E27FC236}">
                <a16:creationId xmlns:a16="http://schemas.microsoft.com/office/drawing/2014/main" id="{E1D24F8A-866E-42E3-9F2F-77F39DA720A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230F7C8-C042-40F0-A2CC-3F21EC9C299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smaller error can require more computation.</a:t>
            </a:r>
          </a:p>
        </p:txBody>
      </p:sp>
      <p:sp>
        <p:nvSpPr>
          <p:cNvPr id="6" name="">
            <a:extLst xmlns:a="http://schemas.openxmlformats.org/drawingml/2006/main">
              <a:ext uri="{FF2B5EF4-FFF2-40B4-BE49-F238E27FC236}">
                <a16:creationId xmlns:a16="http://schemas.microsoft.com/office/drawing/2014/main" id="{8D5386EA-43F3-48CA-8A18-063EEE35C3BF}"/>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D96912B-4758-44D5-BA81-64895791E27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candidate must meet every stated requirement.</a:t>
            </a:r>
          </a:p>
        </p:txBody>
      </p:sp>
      <p:sp>
        <p:nvSpPr>
          <p:cNvPr id="8" name="">
            <a:extLst xmlns:a="http://schemas.openxmlformats.org/drawingml/2006/main">
              <a:ext uri="{FF2B5EF4-FFF2-40B4-BE49-F238E27FC236}">
                <a16:creationId xmlns:a16="http://schemas.microsoft.com/office/drawing/2014/main" id="{550434FD-1A52-4726-BEF0-320384F96964}"/>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56759D1-0424-4BA5-AFEC-E5961F0DA8ED}"/>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eligible models on the same validation observations.</a:t>
            </a:r>
          </a:p>
        </p:txBody>
      </p:sp>
      <p:sp>
        <p:nvSpPr>
          <p:cNvPr id="10" name="">
            <a:extLst xmlns:a="http://schemas.openxmlformats.org/drawingml/2006/main">
              <a:ext uri="{FF2B5EF4-FFF2-40B4-BE49-F238E27FC236}">
                <a16:creationId xmlns:a16="http://schemas.microsoft.com/office/drawing/2014/main" id="{6EE70A51-6D3F-4617-AE2F-4C51660B205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E98657B-7F15-460C-8168-F39E1E4BCFE8}"/>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Follow the published tie-break rule when scores tie.</a:t>
            </a:r>
          </a:p>
        </p:txBody>
      </p:sp>
      <p:sp>
        <p:nvSpPr>
          <p:cNvPr id="12" name="">
            <a:extLst xmlns:a="http://schemas.openxmlformats.org/drawingml/2006/main">
              <a:ext uri="{FF2B5EF4-FFF2-40B4-BE49-F238E27FC236}">
                <a16:creationId xmlns:a16="http://schemas.microsoft.com/office/drawing/2014/main" id="{EE1F8F4E-A0B5-478A-A41C-7782884B1C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7</a:t>
            </a:r>
          </a:p>
        </p:txBody>
      </p:sp>
    </p:spTree>
    <p:extLst>
      <p:ext uri="{BB962C8B-B14F-4D97-AF65-F5344CB8AC3E}">
        <p14:creationId xmlns:p14="http://schemas.microsoft.com/office/powerpoint/2010/main" val="55645571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7233998-4A06-4E76-A8F7-8EA34E13C74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59AC58B-736C-47BB-A249-2079F3EF1B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3170B5C-454C-43A3-8A46-3241BEAAB0C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model comparison needs a fair test</a:t>
            </a:r>
          </a:p>
        </p:txBody>
      </p:sp>
      <p:sp>
        <p:nvSpPr>
          <p:cNvPr id="4" name="">
            <a:extLst xmlns:a="http://schemas.openxmlformats.org/drawingml/2006/main">
              <a:ext uri="{FF2B5EF4-FFF2-40B4-BE49-F238E27FC236}">
                <a16:creationId xmlns:a16="http://schemas.microsoft.com/office/drawing/2014/main" id="{2F92811A-3EDE-4A37-948C-8A647150DD8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6E20DE1-648D-4BE1-8E5B-7FC5648D719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validation observations for every candidate.</a:t>
            </a:r>
          </a:p>
        </p:txBody>
      </p:sp>
      <p:sp>
        <p:nvSpPr>
          <p:cNvPr id="6" name="">
            <a:extLst xmlns:a="http://schemas.openxmlformats.org/drawingml/2006/main">
              <a:ext uri="{FF2B5EF4-FFF2-40B4-BE49-F238E27FC236}">
                <a16:creationId xmlns:a16="http://schemas.microsoft.com/office/drawing/2014/main" id="{335F9A6F-B2D2-45D2-AA12-19E3AB14D02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DB466B1-AFA4-4EC7-83C3-6F026E57BD9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preprocessing on training data only.</a:t>
            </a:r>
          </a:p>
        </p:txBody>
      </p:sp>
      <p:sp>
        <p:nvSpPr>
          <p:cNvPr id="8" name="">
            <a:extLst xmlns:a="http://schemas.openxmlformats.org/drawingml/2006/main">
              <a:ext uri="{FF2B5EF4-FFF2-40B4-BE49-F238E27FC236}">
                <a16:creationId xmlns:a16="http://schemas.microsoft.com/office/drawing/2014/main" id="{D02B174C-5DD8-4B06-AB04-0E637AD6F74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82E6EC4-BFD1-4BCB-BD08-233C8586114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Choose the error measure and practical requirements before inspecting results.</a:t>
            </a:r>
          </a:p>
        </p:txBody>
      </p:sp>
      <p:sp>
        <p:nvSpPr>
          <p:cNvPr id="10" name="">
            <a:extLst xmlns:a="http://schemas.openxmlformats.org/drawingml/2006/main">
              <a:ext uri="{FF2B5EF4-FFF2-40B4-BE49-F238E27FC236}">
                <a16:creationId xmlns:a16="http://schemas.microsoft.com/office/drawing/2014/main" id="{F79250F3-A297-4C56-8FB4-A5DB9DC451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8</a:t>
            </a:r>
          </a:p>
        </p:txBody>
      </p:sp>
    </p:spTree>
    <p:extLst>
      <p:ext uri="{BB962C8B-B14F-4D97-AF65-F5344CB8AC3E}">
        <p14:creationId xmlns:p14="http://schemas.microsoft.com/office/powerpoint/2010/main" val="35368544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F3096FD-9C35-4426-9E10-D8409C44F0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E50E50F-6DAA-4045-B8B7-660D35AF366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74C9775-BCA4-43F2-BF92-58DFF6314F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Eligibility comes before ranking</a:t>
            </a:r>
          </a:p>
        </p:txBody>
      </p:sp>
      <p:sp>
        <p:nvSpPr>
          <p:cNvPr id="4" name="">
            <a:extLst xmlns:a="http://schemas.openxmlformats.org/drawingml/2006/main">
              <a:ext uri="{FF2B5EF4-FFF2-40B4-BE49-F238E27FC236}">
                <a16:creationId xmlns:a16="http://schemas.microsoft.com/office/drawing/2014/main" id="{3DE41510-1632-4CFC-8A63-9FB202403FD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FA42773-E0AE-4E00-83F3-3375C88779A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First check every stated requirement for each candidate.</a:t>
            </a:r>
          </a:p>
        </p:txBody>
      </p:sp>
      <p:sp>
        <p:nvSpPr>
          <p:cNvPr id="6" name="">
            <a:extLst xmlns:a="http://schemas.openxmlformats.org/drawingml/2006/main">
              <a:ext uri="{FF2B5EF4-FFF2-40B4-BE49-F238E27FC236}">
                <a16:creationId xmlns:a16="http://schemas.microsoft.com/office/drawing/2014/main" id="{079AC634-0F56-4DF4-BE20-E8B47AFA9F0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18C041E-4E78-4311-A1A4-D326D9A100A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Reject a candidate that fails even one requirement.</a:t>
            </a:r>
          </a:p>
        </p:txBody>
      </p:sp>
      <p:sp>
        <p:nvSpPr>
          <p:cNvPr id="8" name="">
            <a:extLst xmlns:a="http://schemas.openxmlformats.org/drawingml/2006/main">
              <a:ext uri="{FF2B5EF4-FFF2-40B4-BE49-F238E27FC236}">
                <a16:creationId xmlns:a16="http://schemas.microsoft.com/office/drawing/2014/main" id="{BD1C3CEE-3994-4727-8E46-D7AEB2BD99D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47A3A4A-9F67-468E-A4E3-AC994408B7B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Rank the eligible candidates using the published tie-break rule.</a:t>
            </a:r>
          </a:p>
        </p:txBody>
      </p:sp>
      <p:sp>
        <p:nvSpPr>
          <p:cNvPr id="10" name="">
            <a:extLst xmlns:a="http://schemas.openxmlformats.org/drawingml/2006/main">
              <a:ext uri="{FF2B5EF4-FFF2-40B4-BE49-F238E27FC236}">
                <a16:creationId xmlns:a16="http://schemas.microsoft.com/office/drawing/2014/main" id="{9F0FE5FA-708A-489C-8E24-4C39F8DFCB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9</a:t>
            </a:r>
          </a:p>
        </p:txBody>
      </p:sp>
    </p:spTree>
    <p:extLst>
      <p:ext uri="{BB962C8B-B14F-4D97-AF65-F5344CB8AC3E}">
        <p14:creationId xmlns:p14="http://schemas.microsoft.com/office/powerpoint/2010/main" val="99467113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80F9374-EFBB-4DA7-86B8-6824C38FD60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4CE558A-ED65-4A5C-B9B6-5932F1F5C01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79EE3AB2-CB58-4F7A-BB85-5A0F0BFB96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constrained model choice</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Candidate</a:t>
                      </a:r>
                    </a:p>
                  </a:txBody>
                  <a:tcPr marL="91440" marR="91440" marT="45720" marB="45720">
                    <a:solidFill>
                      <a:srgbClr val="2E7D6F"/>
                    </a:solidFill>
                  </a:tcPr>
                </a:tc>
                <a:tc>
                  <a:txBody>
                    <a:bodyPr/>
                    <a:lstStyle/>
                    <a:p>
                      <a:r>
                        <a:rPr sz="2025" b="1">
                          <a:solidFill>
                            <a:srgbClr val="FFFFFF"/>
                          </a:solidFill>
                          <a:latin typeface="Calibri"/>
                          <a:ea typeface="Calibri"/>
                          <a:cs typeface="Calibri"/>
                        </a:rPr>
                        <a:t>Validation error</a:t>
                      </a:r>
                    </a:p>
                  </a:txBody>
                  <a:tcPr marL="91440" marR="91440" marT="45720" marB="45720">
                    <a:solidFill>
                      <a:srgbClr val="2E7D6F"/>
                    </a:solidFill>
                  </a:tcPr>
                </a:tc>
                <a:tc>
                  <a:txBody>
                    <a:bodyPr/>
                    <a:lstStyle/>
                    <a:p>
                      <a:r>
                        <a:rPr sz="2025" b="1">
                          <a:solidFill>
                            <a:srgbClr val="FFFFFF"/>
                          </a:solidFill>
                          <a:latin typeface="Calibri"/>
                          <a:ea typeface="Calibri"/>
                          <a:cs typeface="Calibri"/>
                        </a:rPr>
                        <a:t>Time (ms)</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simple</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complex</a:t>
                      </a:r>
                    </a:p>
                  </a:txBody>
                  <a:tcPr marL="91440" marR="91440" marT="45720" marB="45720">
                    <a:solidFill>
                      <a:srgbClr val="FFFFFF"/>
                    </a:solidFill>
                  </a:tcPr>
                </a:tc>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c>
                  <a:txBody>
                    <a:bodyPr/>
                    <a:lstStyle/>
                    <a:p>
                      <a:r>
                        <a:rPr sz="2025" b="0">
                          <a:solidFill>
                            <a:srgbClr val="1C3144"/>
                          </a:solidFill>
                          <a:latin typeface="Calibri"/>
                          <a:ea typeface="Calibri"/>
                          <a:cs typeface="Calibri"/>
                        </a:rPr>
                        <a:t>20</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7596136-3D46-415D-9F76-81FCAC53CB70}"/>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Invented requirements: error at most 3 and time at most 10 ms.</a:t>
            </a:r>
          </a:p>
        </p:txBody>
      </p:sp>
      <p:sp>
        <p:nvSpPr>
          <p:cNvPr id="6" name="">
            <a:extLst xmlns:a="http://schemas.openxmlformats.org/drawingml/2006/main">
              <a:ext uri="{FF2B5EF4-FFF2-40B4-BE49-F238E27FC236}">
                <a16:creationId xmlns:a16="http://schemas.microsoft.com/office/drawing/2014/main" id="{42D23B1F-0229-4B1D-B993-EC555CB0A3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10</a:t>
            </a:r>
          </a:p>
        </p:txBody>
      </p:sp>
    </p:spTree>
    <p:extLst>
      <p:ext uri="{BB962C8B-B14F-4D97-AF65-F5344CB8AC3E}">
        <p14:creationId xmlns:p14="http://schemas.microsoft.com/office/powerpoint/2010/main" val="208733993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F61E98B-6227-46C0-B4E1-7BE485CDA4E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F48247B-D23B-4F14-B5A1-D1D0BC1496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760B419-23A9-4C1B-8BAA-BC6ABE43F4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Candidate records and eligibility</a:t>
            </a:r>
          </a:p>
        </p:txBody>
      </p:sp>
      <p:sp>
        <p:nvSpPr>
          <p:cNvPr id="4" name="">
            <a:extLst xmlns:a="http://schemas.openxmlformats.org/drawingml/2006/main">
              <a:ext uri="{FF2B5EF4-FFF2-40B4-BE49-F238E27FC236}">
                <a16:creationId xmlns:a16="http://schemas.microsoft.com/office/drawing/2014/main" id="{04D7AB8C-DAE4-4E6C-A943-79AF27561B7C}"/>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81C8C92-E1AB-4F9E-B156-977703E766C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E5DE517-3840-4E54-A34A-377D385AD12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candidate is one model under consideration. Its dictionary records a name, a validation error and measured run time.</a:t>
            </a:r>
          </a:p>
        </p:txBody>
      </p:sp>
      <p:sp>
        <p:nvSpPr>
          <p:cNvPr id="7" name="">
            <a:extLst xmlns:a="http://schemas.openxmlformats.org/drawingml/2006/main">
              <a:ext uri="{FF2B5EF4-FFF2-40B4-BE49-F238E27FC236}">
                <a16:creationId xmlns:a16="http://schemas.microsoft.com/office/drawing/2014/main" id="{EC0566D0-9043-4CF9-9778-025FAA7D71C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 eligible candidate meets every published constraint. Build a list of eligible records first. If the list is empty, use the task’s specified no-candidate result.</a:t>
            </a:r>
          </a:p>
        </p:txBody>
      </p:sp>
      <p:sp>
        <p:nvSpPr>
          <p:cNvPr id="8" name="">
            <a:extLst xmlns:a="http://schemas.openxmlformats.org/drawingml/2006/main">
              <a:ext uri="{FF2B5EF4-FFF2-40B4-BE49-F238E27FC236}">
                <a16:creationId xmlns:a16="http://schemas.microsoft.com/office/drawing/2014/main" id="{E3BC96BF-8DA4-4F2C-A1AE-DF58ECE1A1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11</a:t>
            </a:r>
          </a:p>
        </p:txBody>
      </p:sp>
    </p:spTree>
    <p:extLst>
      <p:ext uri="{BB962C8B-B14F-4D97-AF65-F5344CB8AC3E}">
        <p14:creationId xmlns:p14="http://schemas.microsoft.com/office/powerpoint/2010/main" val="201770764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B21A708-7ED0-4FA2-BC71-44D6006E37C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0BA4D84-2BEE-437E-8239-F42DB10C5F5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42B581A-ABCA-4CC1-8B4F-9B4B88889D3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Model selection in Python (1/2)</a:t>
            </a:r>
          </a:p>
        </p:txBody>
      </p:sp>
      <p:sp>
        <p:nvSpPr>
          <p:cNvPr id="4" name="">
            <a:extLst xmlns:a="http://schemas.openxmlformats.org/drawingml/2006/main">
              <a:ext uri="{FF2B5EF4-FFF2-40B4-BE49-F238E27FC236}">
                <a16:creationId xmlns:a16="http://schemas.microsoft.com/office/drawing/2014/main" id="{D6B2862A-DD88-4F32-899E-2A3C7557A1C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7BB1693-F708-4394-989E-FAD77FF0E2C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candidates = [{"name": "simple", "error": 3, "ms":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{"name": "complex", "error": 1, "ms": 20}]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eligible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item in candidates: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item["error"] &lt;= 3 and item["ms"] &lt;=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eligible.append(item)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names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for item in eligible: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names.append(item["name"])</a:t>
            </a:r>
          </a:p>
        </p:txBody>
      </p:sp>
      <p:sp>
        <p:nvSpPr>
          <p:cNvPr id="6" name="">
            <a:extLst xmlns:a="http://schemas.openxmlformats.org/drawingml/2006/main">
              <a:ext uri="{FF2B5EF4-FFF2-40B4-BE49-F238E27FC236}">
                <a16:creationId xmlns:a16="http://schemas.microsoft.com/office/drawing/2014/main" id="{3975C886-BE82-47AC-AD41-9A2794837BE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E539FB9A-7319-4821-94FB-A6E62CEA13B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0B3E1BB4-2F36-4D74-8ADF-D4338D6E546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12</a:t>
            </a:r>
          </a:p>
        </p:txBody>
      </p:sp>
    </p:spTree>
    <p:extLst>
      <p:ext uri="{BB962C8B-B14F-4D97-AF65-F5344CB8AC3E}">
        <p14:creationId xmlns:p14="http://schemas.microsoft.com/office/powerpoint/2010/main" val="22837301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37D44EC-5D8E-4713-9203-62261603B48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FAB413C-E62E-418D-B25D-6EF43EBC748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9CC8AA0-CB7D-42F1-A490-103128E87EC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Model selection in Python (2/2)</a:t>
            </a:r>
          </a:p>
        </p:txBody>
      </p:sp>
      <p:sp>
        <p:nvSpPr>
          <p:cNvPr id="4" name="">
            <a:extLst xmlns:a="http://schemas.openxmlformats.org/drawingml/2006/main">
              <a:ext uri="{FF2B5EF4-FFF2-40B4-BE49-F238E27FC236}">
                <a16:creationId xmlns:a16="http://schemas.microsoft.com/office/drawing/2014/main" id="{7A7BA1BC-5734-4F16-957C-290EDB1E47E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DD7D6AB-8761-4505-89E8-B06D6DFE1F1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print(names)</a:t>
            </a:r>
          </a:p>
        </p:txBody>
      </p:sp>
      <p:sp>
        <p:nvSpPr>
          <p:cNvPr id="6" name="">
            <a:extLst xmlns:a="http://schemas.openxmlformats.org/drawingml/2006/main">
              <a:ext uri="{FF2B5EF4-FFF2-40B4-BE49-F238E27FC236}">
                <a16:creationId xmlns:a16="http://schemas.microsoft.com/office/drawing/2014/main" id="{D6D555FD-39AB-463F-BDD0-63EA7B70EBD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E95D790-8BC7-48CD-A3B4-D35CF63AA8F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59B8FBC5-D1A6-413B-A22B-2CB8A83C8B7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0A98CA8B-361E-4B69-9A92-53ADF5983D9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13</a:t>
            </a:r>
          </a:p>
        </p:txBody>
      </p:sp>
    </p:spTree>
    <p:extLst>
      <p:ext uri="{BB962C8B-B14F-4D97-AF65-F5344CB8AC3E}">
        <p14:creationId xmlns:p14="http://schemas.microsoft.com/office/powerpoint/2010/main" val="211050932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D5EE25D-8CC2-47AF-92CB-14469ED810D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34882EF-8AC4-4432-A8B0-DF8BE80EDD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AC73E5B1-93EA-4218-8D7A-6CD655B7CA5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Model selection results</a:t>
            </a:r>
          </a:p>
        </p:txBody>
      </p:sp>
      <p:sp>
        <p:nvSpPr>
          <p:cNvPr id="4" name="">
            <a:extLst xmlns:a="http://schemas.openxmlformats.org/drawingml/2006/main">
              <a:ext uri="{FF2B5EF4-FFF2-40B4-BE49-F238E27FC236}">
                <a16:creationId xmlns:a16="http://schemas.microsoft.com/office/drawing/2014/main" id="{B52E213D-2C3E-4AB4-9E3E-67693B1146EE}"/>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A7F4587-A40D-44A4-95AD-CF50416D9E55}"/>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['simple']</a:t>
            </a:r>
          </a:p>
        </p:txBody>
      </p:sp>
      <p:sp>
        <p:nvSpPr>
          <p:cNvPr id="6" name="">
            <a:extLst xmlns:a="http://schemas.openxmlformats.org/drawingml/2006/main">
              <a:ext uri="{FF2B5EF4-FFF2-40B4-BE49-F238E27FC236}">
                <a16:creationId xmlns:a16="http://schemas.microsoft.com/office/drawing/2014/main" id="{BF276514-497C-40E9-9752-84CD63529C0C}"/>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92418E2B-9468-48CF-B656-A310376186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14</a:t>
            </a:r>
          </a:p>
        </p:txBody>
      </p:sp>
    </p:spTree>
    <p:extLst>
      <p:ext uri="{BB962C8B-B14F-4D97-AF65-F5344CB8AC3E}">
        <p14:creationId xmlns:p14="http://schemas.microsoft.com/office/powerpoint/2010/main" val="54043510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E211828-B2AC-420F-99BC-990D9C89E24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4739D8A-67BF-40FE-AD35-21B8A5E7C8F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AAC22AA-D462-4455-9F09-559732B32B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tuple supplies an ordered ranking key</a:t>
            </a:r>
          </a:p>
        </p:txBody>
      </p:sp>
      <p:sp>
        <p:nvSpPr>
          <p:cNvPr id="4" name="">
            <a:extLst xmlns:a="http://schemas.openxmlformats.org/drawingml/2006/main">
              <a:ext uri="{FF2B5EF4-FFF2-40B4-BE49-F238E27FC236}">
                <a16:creationId xmlns:a16="http://schemas.microsoft.com/office/drawing/2014/main" id="{E33F4261-784C-4B37-8BAF-B56800FEC80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5CAC82A-4827-41C9-B2D0-BFE37C90E27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holds several values in order, such as (error, time, name).</a:t>
            </a:r>
          </a:p>
        </p:txBody>
      </p:sp>
      <p:sp>
        <p:nvSpPr>
          <p:cNvPr id="6" name="">
            <a:extLst xmlns:a="http://schemas.openxmlformats.org/drawingml/2006/main">
              <a:ext uri="{FF2B5EF4-FFF2-40B4-BE49-F238E27FC236}">
                <a16:creationId xmlns:a16="http://schemas.microsoft.com/office/drawing/2014/main" id="{9C8FC84D-BCB5-4971-A402-68110B0E741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DC220E4-AD8B-4CB2-A2E3-FA6EEE97D64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compares the first values. A tie moves the comparison to the second.</a:t>
            </a:r>
          </a:p>
        </p:txBody>
      </p:sp>
      <p:sp>
        <p:nvSpPr>
          <p:cNvPr id="8" name="">
            <a:extLst xmlns:a="http://schemas.openxmlformats.org/drawingml/2006/main">
              <a:ext uri="{FF2B5EF4-FFF2-40B4-BE49-F238E27FC236}">
                <a16:creationId xmlns:a16="http://schemas.microsoft.com/office/drawing/2014/main" id="{413A5685-7529-466A-A9B5-6C183D7ED39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5EC4C9E-B52B-45E6-8398-4F09FCB1903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those also tie, the third value decides.</a:t>
            </a:r>
          </a:p>
        </p:txBody>
      </p:sp>
      <p:sp>
        <p:nvSpPr>
          <p:cNvPr id="10" name="">
            <a:extLst xmlns:a="http://schemas.openxmlformats.org/drawingml/2006/main">
              <a:ext uri="{FF2B5EF4-FFF2-40B4-BE49-F238E27FC236}">
                <a16:creationId xmlns:a16="http://schemas.microsoft.com/office/drawing/2014/main" id="{96DC9191-6440-46E0-8329-D9A38FD35EA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15</a:t>
            </a:r>
          </a:p>
        </p:txBody>
      </p:sp>
    </p:spTree>
    <p:extLst>
      <p:ext uri="{BB962C8B-B14F-4D97-AF65-F5344CB8AC3E}">
        <p14:creationId xmlns:p14="http://schemas.microsoft.com/office/powerpoint/2010/main" val="31699932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E2C3877-DD35-4AD4-BE9B-4FEFC2B02C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0012316-E1B0-42C8-918C-E91FFD8DA86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0F31E617-46FF-4EF9-8C3B-982F00668D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a tuple ranking key</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Candidate</a:t>
                      </a:r>
                    </a:p>
                  </a:txBody>
                  <a:tcPr marL="91440" marR="91440" marT="45720" marB="45720">
                    <a:solidFill>
                      <a:srgbClr val="2E7D6F"/>
                    </a:solidFill>
                  </a:tcPr>
                </a:tc>
                <a:tc>
                  <a:txBody>
                    <a:bodyPr/>
                    <a:lstStyle/>
                    <a:p>
                      <a:r>
                        <a:rPr sz="2025" b="1">
                          <a:solidFill>
                            <a:srgbClr val="FFFFFF"/>
                          </a:solidFill>
                          <a:latin typeface="Calibri"/>
                          <a:ea typeface="Calibri"/>
                          <a:cs typeface="Calibri"/>
                        </a:rPr>
                        <a:t>Key: error, ms, name</a:t>
                      </a:r>
                    </a:p>
                  </a:txBody>
                  <a:tcPr marL="91440" marR="91440" marT="45720" marB="45720">
                    <a:solidFill>
                      <a:srgbClr val="2E7D6F"/>
                    </a:solidFill>
                  </a:tcPr>
                </a:tc>
                <a:tc>
                  <a:txBody>
                    <a:bodyPr/>
                    <a:lstStyle/>
                    <a:p>
                      <a:r>
                        <a:rPr sz="2025" b="1">
                          <a:solidFill>
                            <a:srgbClr val="FFFFFF"/>
                          </a:solidFill>
                          <a:latin typeface="Calibri"/>
                          <a:ea typeface="Calibri"/>
                          <a:cs typeface="Calibri"/>
                        </a:rPr>
                        <a:t>Position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beta</a:t>
                      </a:r>
                    </a:p>
                  </a:txBody>
                  <a:tcPr marL="91440" marR="91440" marT="45720" marB="45720">
                    <a:solidFill>
                      <a:srgbClr val="EEF3F6"/>
                    </a:solidFill>
                  </a:tcPr>
                </a:tc>
                <a:tc>
                  <a:txBody>
                    <a:bodyPr/>
                    <a:lstStyle/>
                    <a:p>
                      <a:r>
                        <a:rPr sz="2025" b="0">
                          <a:solidFill>
                            <a:srgbClr val="1C3144"/>
                          </a:solidFill>
                          <a:latin typeface="Calibri"/>
                          <a:ea typeface="Calibri"/>
                          <a:cs typeface="Calibri"/>
                        </a:rPr>
                        <a:t>(2, 5, "beta")</a:t>
                      </a:r>
                    </a:p>
                  </a:txBody>
                  <a:tcPr marL="91440" marR="91440" marT="45720" marB="45720">
                    <a:solidFill>
                      <a:srgbClr val="EEF3F6"/>
                    </a:solidFill>
                  </a:tcPr>
                </a:tc>
                <a:tc>
                  <a:txBody>
                    <a:bodyPr/>
                    <a:lstStyle/>
                    <a:p>
                      <a:r>
                        <a:rPr sz="2025" b="0">
                          <a:solidFill>
                            <a:srgbClr val="1C3144"/>
                          </a:solidFill>
                          <a:latin typeface="Calibri"/>
                          <a:ea typeface="Calibri"/>
                          <a:cs typeface="Calibri"/>
                        </a:rPr>
                        <a:t>1: lower error</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alpha</a:t>
                      </a:r>
                    </a:p>
                  </a:txBody>
                  <a:tcPr marL="91440" marR="91440" marT="45720" marB="45720">
                    <a:solidFill>
                      <a:srgbClr val="FFFFFF"/>
                    </a:solidFill>
                  </a:tcPr>
                </a:tc>
                <a:tc>
                  <a:txBody>
                    <a:bodyPr/>
                    <a:lstStyle/>
                    <a:p>
                      <a:r>
                        <a:rPr sz="2025" b="0">
                          <a:solidFill>
                            <a:srgbClr val="1C3144"/>
                          </a:solidFill>
                          <a:latin typeface="Calibri"/>
                          <a:ea typeface="Calibri"/>
                          <a:cs typeface="Calibri"/>
                        </a:rPr>
                        <a:t>(3, 1, "alpha")</a:t>
                      </a:r>
                    </a:p>
                  </a:txBody>
                  <a:tcPr marL="91440" marR="91440" marT="45720" marB="45720">
                    <a:solidFill>
                      <a:srgbClr val="FFFFFF"/>
                    </a:solidFill>
                  </a:tcPr>
                </a:tc>
                <a:tc>
                  <a:txBody>
                    <a:bodyPr/>
                    <a:lstStyle/>
                    <a:p>
                      <a:r>
                        <a:rPr sz="2025" b="0">
                          <a:solidFill>
                            <a:srgbClr val="1C3144"/>
                          </a:solidFill>
                          <a:latin typeface="Calibri"/>
                          <a:ea typeface="Calibri"/>
                          <a:cs typeface="Calibri"/>
                        </a:rPr>
                        <a:t>2: tie on error; faster</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gamma</a:t>
                      </a:r>
                    </a:p>
                  </a:txBody>
                  <a:tcPr marL="91440" marR="91440" marT="45720" marB="45720">
                    <a:solidFill>
                      <a:srgbClr val="EEF3F6"/>
                    </a:solidFill>
                  </a:tcPr>
                </a:tc>
                <a:tc>
                  <a:txBody>
                    <a:bodyPr/>
                    <a:lstStyle/>
                    <a:p>
                      <a:r>
                        <a:rPr sz="2025" b="0">
                          <a:solidFill>
                            <a:srgbClr val="1C3144"/>
                          </a:solidFill>
                          <a:latin typeface="Calibri"/>
                          <a:ea typeface="Calibri"/>
                          <a:cs typeface="Calibri"/>
                        </a:rPr>
                        <a:t>(3, 2, "gamma")</a:t>
                      </a:r>
                    </a:p>
                  </a:txBody>
                  <a:tcPr marL="91440" marR="91440" marT="45720" marB="45720">
                    <a:solidFill>
                      <a:srgbClr val="EEF3F6"/>
                    </a:solidFill>
                  </a:tcPr>
                </a:tc>
                <a:tc>
                  <a:txBody>
                    <a:bodyPr/>
                    <a:lstStyle/>
                    <a:p>
                      <a:r>
                        <a:rPr sz="2025" b="0">
                          <a:solidFill>
                            <a:srgbClr val="1C3144"/>
                          </a:solidFill>
                          <a:latin typeface="Calibri"/>
                          <a:ea typeface="Calibri"/>
                          <a:cs typeface="Calibri"/>
                        </a:rPr>
                        <a:t>3: same error; slower</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FE825D70-9562-4B29-BBF9-B5EF48D55367}"/>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Only eligible candidates reach ranking. If error and time tie, compare the names alphabetically.</a:t>
            </a:r>
          </a:p>
        </p:txBody>
      </p:sp>
      <p:sp>
        <p:nvSpPr>
          <p:cNvPr id="6" name="">
            <a:extLst xmlns:a="http://schemas.openxmlformats.org/drawingml/2006/main">
              <a:ext uri="{FF2B5EF4-FFF2-40B4-BE49-F238E27FC236}">
                <a16:creationId xmlns:a16="http://schemas.microsoft.com/office/drawing/2014/main" id="{5452211A-9D8D-4F01-9CF3-57ED469004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16</a:t>
            </a:r>
          </a:p>
        </p:txBody>
      </p:sp>
    </p:spTree>
    <p:extLst>
      <p:ext uri="{BB962C8B-B14F-4D97-AF65-F5344CB8AC3E}">
        <p14:creationId xmlns:p14="http://schemas.microsoft.com/office/powerpoint/2010/main" val="73794641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906EDA7-283F-4EEB-8D6B-2E337D261BE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42EF1D3-2C16-4A4F-8985-3C36E58476A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7604BF7-713F-4100-8C3A-2FCE94CDEE6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Pass a function as the sorting key</a:t>
            </a:r>
          </a:p>
        </p:txBody>
      </p:sp>
      <p:sp>
        <p:nvSpPr>
          <p:cNvPr id="4" name="">
            <a:extLst xmlns:a="http://schemas.openxmlformats.org/drawingml/2006/main">
              <a:ext uri="{FF2B5EF4-FFF2-40B4-BE49-F238E27FC236}">
                <a16:creationId xmlns:a16="http://schemas.microsoft.com/office/drawing/2014/main" id="{87571A43-9471-49AC-BCB4-6EFC7F90704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8F37069-464A-4CD6-B9BE-C4F1C37583F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sorted returns a new list in order. In sorted(eligible, key=rank), rank is the function itself, passed without calling it.</a:t>
            </a:r>
          </a:p>
        </p:txBody>
      </p:sp>
      <p:sp>
        <p:nvSpPr>
          <p:cNvPr id="6" name="">
            <a:extLst xmlns:a="http://schemas.openxmlformats.org/drawingml/2006/main">
              <a:ext uri="{FF2B5EF4-FFF2-40B4-BE49-F238E27FC236}">
                <a16:creationId xmlns:a16="http://schemas.microsoft.com/office/drawing/2014/main" id="{6F75333F-EF39-41FE-84B2-D70EF733227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9BD7E2C-EAB4-4686-9E20-B6D62604BCA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sorted calls rank(item) for each candidate and compares the returned tuples. Writing rank() here would call it immediately without its required input.</a:t>
            </a:r>
          </a:p>
        </p:txBody>
      </p:sp>
      <p:sp>
        <p:nvSpPr>
          <p:cNvPr id="8" name="">
            <a:extLst xmlns:a="http://schemas.openxmlformats.org/drawingml/2006/main">
              <a:ext uri="{FF2B5EF4-FFF2-40B4-BE49-F238E27FC236}">
                <a16:creationId xmlns:a16="http://schemas.microsoft.com/office/drawing/2014/main" id="{3F84D71A-8105-4DB6-B63B-FB707448833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4B624ED-7DAF-4F09-9335-B14DCE30B31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original eligible list is unchanged. Check len(ordered) before using ordered[0], because an empty list has no first position.</a:t>
            </a:r>
          </a:p>
        </p:txBody>
      </p:sp>
      <p:sp>
        <p:nvSpPr>
          <p:cNvPr id="10" name="">
            <a:extLst xmlns:a="http://schemas.openxmlformats.org/drawingml/2006/main">
              <a:ext uri="{FF2B5EF4-FFF2-40B4-BE49-F238E27FC236}">
                <a16:creationId xmlns:a16="http://schemas.microsoft.com/office/drawing/2014/main" id="{5B6F35CB-0209-49C1-8E4C-2D30CB3E89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17</a:t>
            </a:r>
          </a:p>
        </p:txBody>
      </p:sp>
    </p:spTree>
    <p:extLst>
      <p:ext uri="{BB962C8B-B14F-4D97-AF65-F5344CB8AC3E}">
        <p14:creationId xmlns:p14="http://schemas.microsoft.com/office/powerpoint/2010/main" val="4836235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4CBB3A1-49D0-49D2-95FB-52A80E64266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E5E864C-6431-4936-8868-E266C13504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26391F8-C3BE-49EC-A05A-3AE5CFFD98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Sorting with a tie-break rule</a:t>
            </a:r>
          </a:p>
        </p:txBody>
      </p:sp>
      <p:sp>
        <p:nvSpPr>
          <p:cNvPr id="4" name="">
            <a:extLst xmlns:a="http://schemas.openxmlformats.org/drawingml/2006/main">
              <a:ext uri="{FF2B5EF4-FFF2-40B4-BE49-F238E27FC236}">
                <a16:creationId xmlns:a16="http://schemas.microsoft.com/office/drawing/2014/main" id="{52C7F44F-2767-43AC-998F-DD28CA9FF59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5B980BC-3A85-469F-843C-A9946AEEFDB2}"/>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is an ordered group of values.</a:t>
            </a:r>
          </a:p>
        </p:txBody>
      </p:sp>
      <p:sp>
        <p:nvSpPr>
          <p:cNvPr id="6" name="">
            <a:extLst xmlns:a="http://schemas.openxmlformats.org/drawingml/2006/main">
              <a:ext uri="{FF2B5EF4-FFF2-40B4-BE49-F238E27FC236}">
                <a16:creationId xmlns:a16="http://schemas.microsoft.com/office/drawing/2014/main" id="{D863F8E7-E1D5-43C8-B2DC-AA01FC78BA4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422214C-5E49-45DD-BD25-3E24FFBC28A6}"/>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compares the first item, then the second when tied, then the third.</a:t>
            </a:r>
          </a:p>
        </p:txBody>
      </p:sp>
      <p:sp>
        <p:nvSpPr>
          <p:cNvPr id="8" name="">
            <a:extLst xmlns:a="http://schemas.openxmlformats.org/drawingml/2006/main">
              <a:ext uri="{FF2B5EF4-FFF2-40B4-BE49-F238E27FC236}">
                <a16:creationId xmlns:a16="http://schemas.microsoft.com/office/drawing/2014/main" id="{836C8DF9-54E0-4450-B09F-72DE4894B35B}"/>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F58F7D5-896D-48C6-A4E9-25337520D053}"/>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key function gives sorted the tuple for each candidate.</a:t>
            </a:r>
          </a:p>
        </p:txBody>
      </p:sp>
      <p:sp>
        <p:nvSpPr>
          <p:cNvPr id="10" name="">
            <a:extLst xmlns:a="http://schemas.openxmlformats.org/drawingml/2006/main">
              <a:ext uri="{FF2B5EF4-FFF2-40B4-BE49-F238E27FC236}">
                <a16:creationId xmlns:a16="http://schemas.microsoft.com/office/drawing/2014/main" id="{5CB53AA4-793D-43BF-A973-28A028987D9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F40FD1B-F297-4F6B-9922-EB0E455DAAEF}"/>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Guard an empty list before selecting position zero.</a:t>
            </a:r>
          </a:p>
        </p:txBody>
      </p:sp>
      <p:sp>
        <p:nvSpPr>
          <p:cNvPr id="12" name="">
            <a:extLst xmlns:a="http://schemas.openxmlformats.org/drawingml/2006/main">
              <a:ext uri="{FF2B5EF4-FFF2-40B4-BE49-F238E27FC236}">
                <a16:creationId xmlns:a16="http://schemas.microsoft.com/office/drawing/2014/main" id="{ED84B3A4-8BC0-4EBF-BC65-75A9C650CC0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18</a:t>
            </a:r>
          </a:p>
        </p:txBody>
      </p:sp>
    </p:spTree>
    <p:extLst>
      <p:ext uri="{BB962C8B-B14F-4D97-AF65-F5344CB8AC3E}">
        <p14:creationId xmlns:p14="http://schemas.microsoft.com/office/powerpoint/2010/main" val="46279587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4037AD5-EDBC-4EF6-B26C-CFDDB39493A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5DE4BBF-187B-4CF6-B2F7-A52B4874B5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1C823225-AC39-469D-84B8-D05E2B3418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Sorting with a named function</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key=rank</a:t>
                      </a:r>
                    </a:p>
                  </a:txBody>
                  <a:tcPr marL="91440" marR="91440" marT="45720" marB="45720">
                    <a:solidFill>
                      <a:srgbClr val="EEF3F6"/>
                    </a:solidFill>
                  </a:tcPr>
                </a:tc>
                <a:tc>
                  <a:txBody>
                    <a:bodyPr/>
                    <a:lstStyle/>
                    <a:p>
                      <a:r>
                        <a:rPr sz="2025" b="0">
                          <a:solidFill>
                            <a:srgbClr val="1C3144"/>
                          </a:solidFill>
                          <a:latin typeface="Calibri"/>
                          <a:ea typeface="Calibri"/>
                          <a:cs typeface="Calibri"/>
                        </a:rPr>
                        <a:t>Use rank to build each comparison key</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sorted(eligible, key=rank)</a:t>
                      </a:r>
                    </a:p>
                  </a:txBody>
                  <a:tcPr marL="91440" marR="91440" marT="45720" marB="45720">
                    <a:solidFill>
                      <a:srgbClr val="FFFFFF"/>
                    </a:solidFill>
                  </a:tcPr>
                </a:tc>
                <a:tc>
                  <a:txBody>
                    <a:bodyPr/>
                    <a:lstStyle/>
                    <a:p>
                      <a:r>
                        <a:rPr sz="2025" b="0">
                          <a:solidFill>
                            <a:srgbClr val="1C3144"/>
                          </a:solidFill>
                          <a:latin typeface="Calibri"/>
                          <a:ea typeface="Calibri"/>
                          <a:cs typeface="Calibri"/>
                        </a:rPr>
                        <a:t>Return a newly ordered list</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ordered[0]</a:t>
                      </a:r>
                    </a:p>
                  </a:txBody>
                  <a:tcPr marL="91440" marR="91440" marT="45720" marB="45720">
                    <a:solidFill>
                      <a:srgbClr val="EEF3F6"/>
                    </a:solidFill>
                  </a:tcPr>
                </a:tc>
                <a:tc>
                  <a:txBody>
                    <a:bodyPr/>
                    <a:lstStyle/>
                    <a:p>
                      <a:r>
                        <a:rPr sz="2025" b="0">
                          <a:solidFill>
                            <a:srgbClr val="1C3144"/>
                          </a:solidFill>
                          <a:latin typeface="Calibri"/>
                          <a:ea typeface="Calibri"/>
                          <a:cs typeface="Calibri"/>
                        </a:rPr>
                        <a:t>Select its first item</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len(ordered) == 0</a:t>
                      </a:r>
                    </a:p>
                  </a:txBody>
                  <a:tcPr marL="91440" marR="91440" marT="45720" marB="45720">
                    <a:solidFill>
                      <a:srgbClr val="FFFFFF"/>
                    </a:solidFill>
                  </a:tcPr>
                </a:tc>
                <a:tc>
                  <a:txBody>
                    <a:bodyPr/>
                    <a:lstStyle/>
                    <a:p>
                      <a:r>
                        <a:rPr sz="2025" b="0">
                          <a:solidFill>
                            <a:srgbClr val="1C3144"/>
                          </a:solidFill>
                          <a:latin typeface="Calibri"/>
                          <a:ea typeface="Calibri"/>
                          <a:cs typeface="Calibri"/>
                        </a:rPr>
                        <a:t>Check for no eligible candidate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A28C0FAD-7FC5-4486-B164-BF4ADCCAAEB7}"/>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Check for an empty list before accessing position zero.</a:t>
            </a:r>
          </a:p>
        </p:txBody>
      </p:sp>
      <p:sp>
        <p:nvSpPr>
          <p:cNvPr id="6" name="">
            <a:extLst xmlns:a="http://schemas.openxmlformats.org/drawingml/2006/main">
              <a:ext uri="{FF2B5EF4-FFF2-40B4-BE49-F238E27FC236}">
                <a16:creationId xmlns:a16="http://schemas.microsoft.com/office/drawing/2014/main" id="{B658DCD6-8D25-47D2-8274-9D3419C099B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19</a:t>
            </a:r>
          </a:p>
        </p:txBody>
      </p:sp>
    </p:spTree>
    <p:extLst>
      <p:ext uri="{BB962C8B-B14F-4D97-AF65-F5344CB8AC3E}">
        <p14:creationId xmlns:p14="http://schemas.microsoft.com/office/powerpoint/2010/main" val="89760879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252A465-8847-418E-AE56-D6076683DC8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8317FC3-50B5-4CBB-B7FE-D58C04FD479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55B7D5D-4D91-46F8-B1B2-8C08B98C77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Sorting with a tie-break rule in Python</a:t>
            </a:r>
          </a:p>
        </p:txBody>
      </p:sp>
      <p:sp>
        <p:nvSpPr>
          <p:cNvPr id="4" name="">
            <a:extLst xmlns:a="http://schemas.openxmlformats.org/drawingml/2006/main">
              <a:ext uri="{FF2B5EF4-FFF2-40B4-BE49-F238E27FC236}">
                <a16:creationId xmlns:a16="http://schemas.microsoft.com/office/drawing/2014/main" id="{F9AE3694-D446-4FB0-AB3B-9D641EFDC5F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49EFDCA-DB66-4531-A4BD-52591D6F696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rank(item):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(item["error"], item["ms"], item["name"])</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ordered = sorted(eligible, key=rank)</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len(ordered)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winner = </a:t>
            </a:r>
            <a:r>
              <a:rPr sz="2175" b="0">
                <a:solidFill>
                  <a:srgbClr val="FFB080"/>
                </a:solidFill>
                <a:latin typeface="Courier New"/>
                <a:ea typeface="Courier New"/>
                <a:cs typeface="Courier New"/>
              </a:rPr>
              <a:t>None</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winner = ordered[0]["name"]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print(winner)</a:t>
            </a:r>
          </a:p>
        </p:txBody>
      </p:sp>
      <p:sp>
        <p:nvSpPr>
          <p:cNvPr id="6" name="">
            <a:extLst xmlns:a="http://schemas.openxmlformats.org/drawingml/2006/main">
              <a:ext uri="{FF2B5EF4-FFF2-40B4-BE49-F238E27FC236}">
                <a16:creationId xmlns:a16="http://schemas.microsoft.com/office/drawing/2014/main" id="{0EE76EDF-3D2A-44C8-B5DC-9809176B4CA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def names the function. Inputs go inside parentheses.</a:t>
            </a:r>
          </a:p>
        </p:txBody>
      </p:sp>
      <p:sp>
        <p:nvSpPr>
          <p:cNvPr id="7" name="">
            <a:extLst xmlns:a="http://schemas.openxmlformats.org/drawingml/2006/main">
              <a:ext uri="{FF2B5EF4-FFF2-40B4-BE49-F238E27FC236}">
                <a16:creationId xmlns:a16="http://schemas.microsoft.com/office/drawing/2014/main" id="{62BB7383-FCC7-47FA-B6C3-96DD768057B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0D37FEA2-24B1-4039-8181-AF825FAF2B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20</a:t>
            </a:r>
          </a:p>
        </p:txBody>
      </p:sp>
    </p:spTree>
    <p:extLst>
      <p:ext uri="{BB962C8B-B14F-4D97-AF65-F5344CB8AC3E}">
        <p14:creationId xmlns:p14="http://schemas.microsoft.com/office/powerpoint/2010/main" val="89390776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8D58015-AD9E-4D04-A62D-D7C7693566E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DCC1B83-6913-4AF3-B1D2-86C6D207E63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305A21F-17B5-46F3-9BFC-A3DEB8BF71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Local explanation and Conditions of use</a:t>
            </a:r>
          </a:p>
        </p:txBody>
      </p:sp>
      <p:sp>
        <p:nvSpPr>
          <p:cNvPr id="4" name="">
            <a:extLst xmlns:a="http://schemas.openxmlformats.org/drawingml/2006/main">
              <a:ext uri="{FF2B5EF4-FFF2-40B4-BE49-F238E27FC236}">
                <a16:creationId xmlns:a16="http://schemas.microsoft.com/office/drawing/2014/main" id="{02BB6CCA-49B3-41A0-ABCF-AB871A520522}"/>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634AEE9-0850-4957-8D88-45FA9C2A3A5F}"/>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Local explanation</a:t>
            </a:r>
          </a:p>
        </p:txBody>
      </p:sp>
      <p:sp>
        <p:nvSpPr>
          <p:cNvPr id="6" name="">
            <a:extLst xmlns:a="http://schemas.openxmlformats.org/drawingml/2006/main">
              <a:ext uri="{FF2B5EF4-FFF2-40B4-BE49-F238E27FC236}">
                <a16:creationId xmlns:a16="http://schemas.microsoft.com/office/drawing/2014/main" id="{A5314803-60BD-478E-8C8A-DFA04904EF4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Why a model made one particular prediction. This is different from global importance, which summarises behaviour over many cases.</a:t>
            </a:r>
          </a:p>
        </p:txBody>
      </p:sp>
      <p:sp>
        <p:nvSpPr>
          <p:cNvPr id="7" name="">
            <a:extLst xmlns:a="http://schemas.openxmlformats.org/drawingml/2006/main">
              <a:ext uri="{FF2B5EF4-FFF2-40B4-BE49-F238E27FC236}">
                <a16:creationId xmlns:a16="http://schemas.microsoft.com/office/drawing/2014/main" id="{49471960-6CBB-4989-8F3E-2B9B27643A22}"/>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3368259-E1C0-47CA-BBE1-B30498CF6894}"/>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Conditions of use</a:t>
            </a:r>
          </a:p>
        </p:txBody>
      </p:sp>
      <p:sp>
        <p:nvSpPr>
          <p:cNvPr id="9" name="">
            <a:extLst xmlns:a="http://schemas.openxmlformats.org/drawingml/2006/main">
              <a:ext uri="{FF2B5EF4-FFF2-40B4-BE49-F238E27FC236}">
                <a16:creationId xmlns:a16="http://schemas.microsoft.com/office/drawing/2014/main" id="{7315F8EC-705E-4F70-8F35-129C01AE1227}"/>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cases and operating circumstances for which the available evidence supports considering the model.</a:t>
            </a:r>
          </a:p>
        </p:txBody>
      </p:sp>
      <p:sp>
        <p:nvSpPr>
          <p:cNvPr id="10" name="">
            <a:extLst xmlns:a="http://schemas.openxmlformats.org/drawingml/2006/main">
              <a:ext uri="{FF2B5EF4-FFF2-40B4-BE49-F238E27FC236}">
                <a16:creationId xmlns:a16="http://schemas.microsoft.com/office/drawing/2014/main" id="{175A87C9-BAD3-4CA5-ACDA-0C5A03632B7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21</a:t>
            </a:r>
          </a:p>
        </p:txBody>
      </p:sp>
    </p:spTree>
    <p:extLst>
      <p:ext uri="{BB962C8B-B14F-4D97-AF65-F5344CB8AC3E}">
        <p14:creationId xmlns:p14="http://schemas.microsoft.com/office/powerpoint/2010/main" val="194648343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D06EA2D-8B4F-4D47-A686-5D446099F18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5A176E4-FD8F-42A1-B8DE-E90A8027499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47DFE75-B2DF-4918-819F-44DFFAE4D2C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recommendation needs evidence</a:t>
            </a:r>
          </a:p>
        </p:txBody>
      </p:sp>
      <p:sp>
        <p:nvSpPr>
          <p:cNvPr id="4" name="">
            <a:extLst xmlns:a="http://schemas.openxmlformats.org/drawingml/2006/main">
              <a:ext uri="{FF2B5EF4-FFF2-40B4-BE49-F238E27FC236}">
                <a16:creationId xmlns:a16="http://schemas.microsoft.com/office/drawing/2014/main" id="{E8C58EEA-0ECB-4B20-99EE-8845EF96ABB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A6FD6BA-C5A0-41D0-A4DE-57EA423FD10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question and the chosen candidate.</a:t>
            </a:r>
          </a:p>
        </p:txBody>
      </p:sp>
      <p:sp>
        <p:nvSpPr>
          <p:cNvPr id="6" name="">
            <a:extLst xmlns:a="http://schemas.openxmlformats.org/drawingml/2006/main">
              <a:ext uri="{FF2B5EF4-FFF2-40B4-BE49-F238E27FC236}">
                <a16:creationId xmlns:a16="http://schemas.microsoft.com/office/drawing/2014/main" id="{9A128EB8-BA20-434A-B607-BDD05067BD6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6653F4C-9191-45AA-B792-79398727678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Give the evaluation result and the constraint it satisfies.</a:t>
            </a:r>
          </a:p>
        </p:txBody>
      </p:sp>
      <p:sp>
        <p:nvSpPr>
          <p:cNvPr id="8" name="">
            <a:extLst xmlns:a="http://schemas.openxmlformats.org/drawingml/2006/main">
              <a:ext uri="{FF2B5EF4-FFF2-40B4-BE49-F238E27FC236}">
                <a16:creationId xmlns:a16="http://schemas.microsoft.com/office/drawing/2014/main" id="{C3B9A787-810E-42F4-940D-693B71A8E8C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37927A5-8886-41F0-B711-ABFFC23EB7F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a limitation and the evidence that could change the recommendation.</a:t>
            </a:r>
          </a:p>
        </p:txBody>
      </p:sp>
      <p:sp>
        <p:nvSpPr>
          <p:cNvPr id="10" name="">
            <a:extLst xmlns:a="http://schemas.openxmlformats.org/drawingml/2006/main">
              <a:ext uri="{FF2B5EF4-FFF2-40B4-BE49-F238E27FC236}">
                <a16:creationId xmlns:a16="http://schemas.microsoft.com/office/drawing/2014/main" id="{C1D5AD28-E11F-4C66-9E09-9029A43B18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22</a:t>
            </a:r>
          </a:p>
        </p:txBody>
      </p:sp>
    </p:spTree>
    <p:extLst>
      <p:ext uri="{BB962C8B-B14F-4D97-AF65-F5344CB8AC3E}">
        <p14:creationId xmlns:p14="http://schemas.microsoft.com/office/powerpoint/2010/main" val="151209349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37D0BBF-A5BF-4131-9B8A-B39ECC623D3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D2421A6-5943-487D-92DB-4D38F8AB4F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7F43917-58CE-4F2D-AB1A-8AA014A083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C33DE78D-C83D-4B7F-A83F-28DB913FABE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BA8CCEF-D393-487B-9926-483152CEE75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9263C3B-CD77-4203-9018-4CA5500F851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A third model has error 3 and latency 1 ms. Under lowest error then lowest latency, which eligible model wins?</a:t>
            </a:r>
          </a:p>
        </p:txBody>
      </p:sp>
      <p:sp>
        <p:nvSpPr>
          <p:cNvPr id="7" name="">
            <a:extLst xmlns:a="http://schemas.openxmlformats.org/drawingml/2006/main">
              <a:ext uri="{FF2B5EF4-FFF2-40B4-BE49-F238E27FC236}">
                <a16:creationId xmlns:a16="http://schemas.microsoft.com/office/drawing/2014/main" id="{CB2F315A-A5E2-4CF6-A3B8-6893FF5CE12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The third model. Both eligible models have error 3, but 1 ms is faster than 2 ms.</a:t>
            </a:r>
          </a:p>
        </p:txBody>
      </p:sp>
      <p:sp>
        <p:nvSpPr>
          <p:cNvPr id="8" name="">
            <a:extLst xmlns:a="http://schemas.openxmlformats.org/drawingml/2006/main">
              <a:ext uri="{FF2B5EF4-FFF2-40B4-BE49-F238E27FC236}">
                <a16:creationId xmlns:a16="http://schemas.microsoft.com/office/drawing/2014/main" id="{53E15E50-BBA8-42F1-A9EE-7609F74C979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23</a:t>
            </a:r>
          </a:p>
        </p:txBody>
      </p:sp>
    </p:spTree>
    <p:extLst>
      <p:ext uri="{BB962C8B-B14F-4D97-AF65-F5344CB8AC3E}">
        <p14:creationId xmlns:p14="http://schemas.microsoft.com/office/powerpoint/2010/main" val="314491257"/>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0C5A86F-8755-445A-8C43-DEC089A466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F4D53C0-46E3-4D5D-A8AA-46E784BD5A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266D71B-0800-49BC-B1B1-3AC6BCBA778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D0793D40-22FF-4AA0-8097-1E0672B3B51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BC48A46-FB05-4B84-809A-6500896E062C}"/>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W12 uses fields name, validation_mae and latency_ms.</a:t>
            </a:r>
          </a:p>
        </p:txBody>
      </p:sp>
      <p:sp>
        <p:nvSpPr>
          <p:cNvPr id="6" name="">
            <a:extLst xmlns:a="http://schemas.openxmlformats.org/drawingml/2006/main">
              <a:ext uri="{FF2B5EF4-FFF2-40B4-BE49-F238E27FC236}">
                <a16:creationId xmlns:a16="http://schemas.microsoft.com/office/drawing/2014/main" id="{1E0E6CD7-7E49-4041-AE48-1BA7B7F261D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08C6E12-2958-4329-BB90-EED0EB8D3D28}"/>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Meet both inclusive constraints, then rank by error, latency and alphabetical name.</a:t>
            </a:r>
          </a:p>
        </p:txBody>
      </p:sp>
      <p:sp>
        <p:nvSpPr>
          <p:cNvPr id="8" name="">
            <a:extLst xmlns:a="http://schemas.openxmlformats.org/drawingml/2006/main">
              <a:ext uri="{FF2B5EF4-FFF2-40B4-BE49-F238E27FC236}">
                <a16:creationId xmlns:a16="http://schemas.microsoft.com/office/drawing/2014/main" id="{C67E366B-2DEF-4897-A6DE-1908FF939A8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FBD7AE2-C610-4CDA-9149-2EB1A073D27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None if no candidate qualifies.</a:t>
            </a:r>
          </a:p>
        </p:txBody>
      </p:sp>
      <p:sp>
        <p:nvSpPr>
          <p:cNvPr id="10" name="">
            <a:extLst xmlns:a="http://schemas.openxmlformats.org/drawingml/2006/main">
              <a:ext uri="{FF2B5EF4-FFF2-40B4-BE49-F238E27FC236}">
                <a16:creationId xmlns:a16="http://schemas.microsoft.com/office/drawing/2014/main" id="{9896CF7D-3AD8-491D-B503-542125C33C12}"/>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39F2792-0FFE-49D6-893D-C3093504B2E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the error function and interpret the separately supplied scenario.</a:t>
            </a:r>
          </a:p>
        </p:txBody>
      </p:sp>
      <p:sp>
        <p:nvSpPr>
          <p:cNvPr id="12" name="">
            <a:extLst xmlns:a="http://schemas.openxmlformats.org/drawingml/2006/main">
              <a:ext uri="{FF2B5EF4-FFF2-40B4-BE49-F238E27FC236}">
                <a16:creationId xmlns:a16="http://schemas.microsoft.com/office/drawing/2014/main" id="{9FC5F261-B46A-4196-A3C2-5F5DDDDB04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24</a:t>
            </a:r>
          </a:p>
        </p:txBody>
      </p:sp>
    </p:spTree>
    <p:extLst>
      <p:ext uri="{BB962C8B-B14F-4D97-AF65-F5344CB8AC3E}">
        <p14:creationId xmlns:p14="http://schemas.microsoft.com/office/powerpoint/2010/main" val="678473409"/>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A807C80-9837-4621-BE43-C7222B6BCD1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42A5A7E-0B0E-495C-A0E2-7658F7742D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5CA9F4C-285D-44DA-852E-170EC91F677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9002C07C-E16E-498C-8787-E9144D69A44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997C372-243B-4EB2-8B2C-0FDADD1D6EBA}"/>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project comparisons and graded interfaces distinct.</a:t>
            </a:r>
          </a:p>
        </p:txBody>
      </p:sp>
      <p:sp>
        <p:nvSpPr>
          <p:cNvPr id="6" name="">
            <a:extLst xmlns:a="http://schemas.openxmlformats.org/drawingml/2006/main">
              <a:ext uri="{FF2B5EF4-FFF2-40B4-BE49-F238E27FC236}">
                <a16:creationId xmlns:a16="http://schemas.microsoft.com/office/drawing/2014/main" id="{2EFAA3C6-B782-47D0-9522-817A72A14D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25</a:t>
            </a:r>
          </a:p>
        </p:txBody>
      </p:sp>
    </p:spTree>
    <p:extLst>
      <p:ext uri="{BB962C8B-B14F-4D97-AF65-F5344CB8AC3E}">
        <p14:creationId xmlns:p14="http://schemas.microsoft.com/office/powerpoint/2010/main" val="90970242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CBFCB49-B59F-4216-A79B-DFF1558CBC9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9691FDD-3B0C-46C4-B339-6CF2818B113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3B3FF0C-067F-4368-B7DD-AB2FF83B9A6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Fair comparison and explanation</a:t>
            </a:r>
          </a:p>
        </p:txBody>
      </p:sp>
      <p:sp>
        <p:nvSpPr>
          <p:cNvPr id="4" name="">
            <a:extLst xmlns:a="http://schemas.openxmlformats.org/drawingml/2006/main">
              <a:ext uri="{FF2B5EF4-FFF2-40B4-BE49-F238E27FC236}">
                <a16:creationId xmlns:a16="http://schemas.microsoft.com/office/drawing/2014/main" id="{9C8F43EF-5A89-4383-89AA-5F71B5BC676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008EC7B-8A0B-48BD-803C-89F3341007B4}"/>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the same metric on the same validation cases with the same preprocessing rules.</a:t>
            </a:r>
          </a:p>
        </p:txBody>
      </p:sp>
      <p:sp>
        <p:nvSpPr>
          <p:cNvPr id="6" name="">
            <a:extLst xmlns:a="http://schemas.openxmlformats.org/drawingml/2006/main">
              <a:ext uri="{FF2B5EF4-FFF2-40B4-BE49-F238E27FC236}">
                <a16:creationId xmlns:a16="http://schemas.microsoft.com/office/drawing/2014/main" id="{A1CDBE54-D441-4FB3-A16B-D9D38F2CE883}"/>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9D7035D-0B42-46D6-BD84-E223815F33C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small difference needs context, including variation across splits.</a:t>
            </a:r>
          </a:p>
        </p:txBody>
      </p:sp>
      <p:sp>
        <p:nvSpPr>
          <p:cNvPr id="8" name="">
            <a:extLst xmlns:a="http://schemas.openxmlformats.org/drawingml/2006/main">
              <a:ext uri="{FF2B5EF4-FFF2-40B4-BE49-F238E27FC236}">
                <a16:creationId xmlns:a16="http://schemas.microsoft.com/office/drawing/2014/main" id="{A187F5C8-A151-4E97-9D9C-A325F347A68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18768F9-B49F-4A6E-924D-DCBC123A5405}"/>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 run out of order can overwrite the variable holding a model; restart and run from the top.</a:t>
            </a:r>
          </a:p>
        </p:txBody>
      </p:sp>
      <p:sp>
        <p:nvSpPr>
          <p:cNvPr id="10" name="">
            <a:extLst xmlns:a="http://schemas.openxmlformats.org/drawingml/2006/main">
              <a:ext uri="{FF2B5EF4-FFF2-40B4-BE49-F238E27FC236}">
                <a16:creationId xmlns:a16="http://schemas.microsoft.com/office/drawing/2014/main" id="{14CDEAAF-5AAB-490B-9FF4-E6464F1C8C81}"/>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C99DCEE-A09A-46FB-8883-5B3651491805}"/>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local explanation addresses one prediction; global importance summarises many.</a:t>
            </a:r>
          </a:p>
        </p:txBody>
      </p:sp>
      <p:sp>
        <p:nvSpPr>
          <p:cNvPr id="12" name="">
            <a:extLst xmlns:a="http://schemas.openxmlformats.org/drawingml/2006/main">
              <a:ext uri="{FF2B5EF4-FFF2-40B4-BE49-F238E27FC236}">
                <a16:creationId xmlns:a16="http://schemas.microsoft.com/office/drawing/2014/main" id="{51F881CD-2DF8-4BA5-853F-65BF61D2473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26</a:t>
            </a:r>
          </a:p>
        </p:txBody>
      </p:sp>
    </p:spTree>
    <p:extLst>
      <p:ext uri="{BB962C8B-B14F-4D97-AF65-F5344CB8AC3E}">
        <p14:creationId xmlns:p14="http://schemas.microsoft.com/office/powerpoint/2010/main" val="21908798"/>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85BE8FA-CF29-4831-822B-6D176C7005B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20AD06C-8B11-4C8A-87BF-C8F0E1A56E2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9E46933-95F2-4699-A0BC-ADDAD7943E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Fair comparison and explanation continued</a:t>
            </a:r>
          </a:p>
        </p:txBody>
      </p:sp>
      <p:sp>
        <p:nvSpPr>
          <p:cNvPr id="4" name="">
            <a:extLst xmlns:a="http://schemas.openxmlformats.org/drawingml/2006/main">
              <a:ext uri="{FF2B5EF4-FFF2-40B4-BE49-F238E27FC236}">
                <a16:creationId xmlns:a16="http://schemas.microsoft.com/office/drawing/2014/main" id="{CD41CD8E-D38F-4418-ADF0-157C348C38C6}"/>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969C926-291E-4BC7-91FE-C8A6BC4DE37B}"/>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A post-hoc explanation of a complex model is not its directly readable internal rule.</a:t>
            </a:r>
          </a:p>
        </p:txBody>
      </p:sp>
      <p:sp>
        <p:nvSpPr>
          <p:cNvPr id="6" name="">
            <a:extLst xmlns:a="http://schemas.openxmlformats.org/drawingml/2006/main">
              <a:ext uri="{FF2B5EF4-FFF2-40B4-BE49-F238E27FC236}">
                <a16:creationId xmlns:a16="http://schemas.microsoft.com/office/drawing/2014/main" id="{B2BD64C5-389F-4D2D-9D1A-2F3C8395EF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27</a:t>
            </a:r>
          </a:p>
        </p:txBody>
      </p:sp>
    </p:spTree>
    <p:extLst>
      <p:ext uri="{BB962C8B-B14F-4D97-AF65-F5344CB8AC3E}">
        <p14:creationId xmlns:p14="http://schemas.microsoft.com/office/powerpoint/2010/main" val="928510719"/>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EA33810-3442-4DCA-95F6-D80C85A9DD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95DF3FC-0B77-4812-AAA7-DF60294DC1A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21470F0-DCF3-4AB5-A3D7-629418B058B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C462ACAF-761F-457C-A2AD-358D53ED1D3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630B8A6-6A0A-4402-BCEE-AC29EA549C7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building cooling load.</a:t>
            </a:r>
          </a:p>
        </p:txBody>
      </p:sp>
      <p:sp>
        <p:nvSpPr>
          <p:cNvPr id="6" name="">
            <a:extLst xmlns:a="http://schemas.openxmlformats.org/drawingml/2006/main">
              <a:ext uri="{FF2B5EF4-FFF2-40B4-BE49-F238E27FC236}">
                <a16:creationId xmlns:a16="http://schemas.microsoft.com/office/drawing/2014/main" id="{30189779-6DFD-4DD9-B829-F1BDE2DDB472}"/>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5412337-A688-433A-BB2D-12B4043A429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a:t>
            </a:r>
          </a:p>
        </p:txBody>
      </p:sp>
      <p:sp>
        <p:nvSpPr>
          <p:cNvPr id="8" name="">
            <a:extLst xmlns:a="http://schemas.openxmlformats.org/drawingml/2006/main">
              <a:ext uri="{FF2B5EF4-FFF2-40B4-BE49-F238E27FC236}">
                <a16:creationId xmlns:a16="http://schemas.microsoft.com/office/drawing/2014/main" id="{3965AB6C-F63F-408F-9DAC-3EFA90730E8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CDCC3ED-56F0-446E-B690-C7FFEE19FFF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4A2034E9-23BD-4CA3-B5E1-0F2DBCBC4442}"/>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74F4D71-C321-4E14-8E11-57E47986A2A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FC29FE49-9B84-4032-BC07-81F3BC0DA9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28</a:t>
            </a:r>
          </a:p>
        </p:txBody>
      </p:sp>
    </p:spTree>
    <p:extLst>
      <p:ext uri="{BB962C8B-B14F-4D97-AF65-F5344CB8AC3E}">
        <p14:creationId xmlns:p14="http://schemas.microsoft.com/office/powerpoint/2010/main" val="1495006685"/>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8051834-B9BF-4B1A-92D0-F5BB398A130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4B18440-7ED7-4A88-A9B4-64783FBCD8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5C6C3E6A-6D1E-4CE2-B6BE-3A351C5B9F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select_model(candidates, max_mae, max_ms)</a:t>
            </a:r>
          </a:p>
        </p:txBody>
      </p:sp>
      <p:sp>
        <p:nvSpPr>
          <p:cNvPr id="4" name="">
            <a:extLst xmlns:a="http://schemas.openxmlformats.org/drawingml/2006/main">
              <a:ext uri="{FF2B5EF4-FFF2-40B4-BE49-F238E27FC236}">
                <a16:creationId xmlns:a16="http://schemas.microsoft.com/office/drawing/2014/main" id="{796813D9-3718-43B6-9DF8-9BF91D5CFAA0}"/>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C11F468-185D-4D66-AE95-ED095183F94B}"/>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Candidates have name, validation_mae and latency_ms.</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Keep those meeting both inclusive constraints; select smallest validation_mae, then latency_ms, then name alphabetically.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the selected name or None.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Never use test scores for selection.</a:t>
            </a:r>
          </a:p>
        </p:txBody>
      </p:sp>
      <p:sp>
        <p:nvSpPr>
          <p:cNvPr id="6" name="">
            <a:extLst xmlns:a="http://schemas.openxmlformats.org/drawingml/2006/main">
              <a:ext uri="{FF2B5EF4-FFF2-40B4-BE49-F238E27FC236}">
                <a16:creationId xmlns:a16="http://schemas.microsoft.com/office/drawing/2014/main" id="{25B7A749-15D4-4592-9098-81CB43787AD1}"/>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F3921C4-3775-4F56-A0A7-9ACCE3BC8C2E}"/>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BC749C01-BC7C-47A2-9832-091FDED9A4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29</a:t>
            </a:r>
          </a:p>
        </p:txBody>
      </p:sp>
    </p:spTree>
    <p:extLst>
      <p:ext uri="{BB962C8B-B14F-4D97-AF65-F5344CB8AC3E}">
        <p14:creationId xmlns:p14="http://schemas.microsoft.com/office/powerpoint/2010/main" val="970405294"/>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A46DDE7-3173-48D4-9C8F-77C6006EB2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9D12C84-A9AE-41E7-926F-E1DFD0E33D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EEDBE925-1BDE-4560-ABFA-2BB4F44B57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3D2A0EB9-0B28-4B01-999E-DA2E7EE2D89D}"/>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E0B6BC-EA52-47A8-B655-C24F5C8F0277}"/>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E588600B-3796-4894-AA1F-06104F5E286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671E412-4F94-4902-94D7-218C21941F42}"/>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C3589573-04B6-43EB-97E3-0FA00C959D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30</a:t>
            </a:r>
          </a:p>
        </p:txBody>
      </p:sp>
    </p:spTree>
    <p:extLst>
      <p:ext uri="{BB962C8B-B14F-4D97-AF65-F5344CB8AC3E}">
        <p14:creationId xmlns:p14="http://schemas.microsoft.com/office/powerpoint/2010/main" val="1107070017"/>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41E5D98-C296-4E06-A9F4-46872F5EFB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DFC5A5D-9CAF-4644-9F44-3BB71A7621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3B6E95E-18C6-4748-B68B-D5834401640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4BB22E07-BC9B-4CA7-B6EF-8257C0F36E0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655766E-3BA3-4CE2-8F8E-A4E734694B6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17D49E84-4849-4DDB-9DF3-0F526E3382B9}"/>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7C765C5-1788-4743-A041-46B46284E75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1D7BB7EE-52C6-49BA-8BC7-5C55B44C28C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261D480-9B76-45C3-8FB6-AE1659CA02C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2B6D8490-4F07-449C-A106-E95A0CE7F4F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DA427B8-A9D8-4A99-9FBD-38865F81D15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738320CD-0C5A-402B-B2FD-C54675AE7D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31</a:t>
            </a:r>
          </a:p>
        </p:txBody>
      </p:sp>
    </p:spTree>
    <p:extLst>
      <p:ext uri="{BB962C8B-B14F-4D97-AF65-F5344CB8AC3E}">
        <p14:creationId xmlns:p14="http://schemas.microsoft.com/office/powerpoint/2010/main" val="1478768191"/>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327B736-72E3-41C5-9535-CCBB7EA5FA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0793E16-0BDA-4FC3-9BD5-2D55422334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25236559-662D-4188-BCD8-0C35E18BFC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Model recommendation submission</a:t>
            </a:r>
          </a:p>
        </p:txBody>
      </p:sp>
      <p:sp>
        <p:nvSpPr>
          <p:cNvPr id="4" name="">
            <a:extLst xmlns:a="http://schemas.openxmlformats.org/drawingml/2006/main">
              <a:ext uri="{FF2B5EF4-FFF2-40B4-BE49-F238E27FC236}">
                <a16:creationId xmlns:a16="http://schemas.microsoft.com/office/drawing/2014/main" id="{406BE43F-2B9B-42F8-949C-E20C5CD96104}"/>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41CC200-BBB8-41E9-AE99-FB7C4099EA26}"/>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24 Nov 2026, 11:00 Kampala</a:t>
            </a:r>
          </a:p>
        </p:txBody>
      </p:sp>
      <p:sp>
        <p:nvSpPr>
          <p:cNvPr id="6" name="">
            <a:extLst xmlns:a="http://schemas.openxmlformats.org/drawingml/2006/main">
              <a:ext uri="{FF2B5EF4-FFF2-40B4-BE49-F238E27FC236}">
                <a16:creationId xmlns:a16="http://schemas.microsoft.com/office/drawing/2014/main" id="{F06A2F45-017A-4F3D-82F1-D1F641116D5D}"/>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8FF73E8-E842-4DBD-9456-5A7358A98476}"/>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24 Nov 2026, 14:00 Kampala</a:t>
            </a:r>
          </a:p>
        </p:txBody>
      </p:sp>
      <p:sp>
        <p:nvSpPr>
          <p:cNvPr id="8" name="">
            <a:extLst xmlns:a="http://schemas.openxmlformats.org/drawingml/2006/main">
              <a:ext uri="{FF2B5EF4-FFF2-40B4-BE49-F238E27FC236}">
                <a16:creationId xmlns:a16="http://schemas.microsoft.com/office/drawing/2014/main" id="{4C2C7F35-7AC4-4AFD-909B-CB034DA82CB8}"/>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D2D7CCD-9CA5-4D6E-8F95-226F4967B52F}"/>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F244C622-BB26-4CA2-BAEE-6B97BE163980}"/>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08DC001-64BA-41F1-88DD-9241CAC17677}"/>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63104E61-2E23-4022-BDE2-BE94EBCC9CAC}"/>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88DF2EA-03DE-487C-AA1C-878D28B87FD4}"/>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742a74b7dbea4d72"/>
              </a:rPr>
              <a:t>Open W12 assignment form</a:t>
            </a:r>
          </a:p>
        </p:txBody>
      </p:sp>
      <p:sp>
        <p:nvSpPr>
          <p:cNvPr id="14" name="">
            <a:extLst xmlns:a="http://schemas.openxmlformats.org/drawingml/2006/main">
              <a:ext uri="{FF2B5EF4-FFF2-40B4-BE49-F238E27FC236}">
                <a16:creationId xmlns:a16="http://schemas.microsoft.com/office/drawing/2014/main" id="{7BFBC3D6-BF9E-428D-A49F-CC7B2CA5C45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https://docs.google.com/forms/d/e/1FAIpQLSd4Ltaw1RqRzbW7PoC4_Kh3PZHkElCKA9OY8F_xrJfLnpcbfA/viewform</a:t>
            </a:r>
          </a:p>
        </p:txBody>
      </p:sp>
      <p:sp>
        <p:nvSpPr>
          <p:cNvPr id="15" name="">
            <a:extLst xmlns:a="http://schemas.openxmlformats.org/drawingml/2006/main">
              <a:ext uri="{FF2B5EF4-FFF2-40B4-BE49-F238E27FC236}">
                <a16:creationId xmlns:a16="http://schemas.microsoft.com/office/drawing/2014/main" id="{DB20BB6A-11C3-4832-816E-EC427CE5A72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32</a:t>
            </a:r>
          </a:p>
        </p:txBody>
      </p:sp>
    </p:spTree>
    <p:extLst>
      <p:ext uri="{BB962C8B-B14F-4D97-AF65-F5344CB8AC3E}">
        <p14:creationId xmlns:p14="http://schemas.microsoft.com/office/powerpoint/2010/main" val="2108131784"/>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D0C8AA3-867F-4B58-9B20-75BA8B8CACD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B4E7264-AC4C-4644-83A7-B4513B90CD9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1D10ABD-62A5-4FE0-A855-A0977E53C75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16DC3834-CB9B-416B-A35F-0CFEE0D144F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44A8D49-2A4C-46EF-82B4-8E6B1CA85B8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3589BEC2-8903-46AF-82DE-66C4250E8CC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7465A6E-37DA-4E9B-90DB-11D9BB105C8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262B8FCA-EB8C-4D99-BD48-C5077A1C3A42}"/>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E87D426-5A0B-457A-9329-B31BC885E73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7283DAF8-9B21-472B-94B9-F84995C1A595}"/>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38FB4ED-8EAA-4BF9-BAD6-8E27FD34972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15 Dec 2026, 11:00 Kampala</a:t>
            </a:r>
          </a:p>
        </p:txBody>
      </p:sp>
      <p:sp>
        <p:nvSpPr>
          <p:cNvPr id="12" name="">
            <a:extLst xmlns:a="http://schemas.openxmlformats.org/drawingml/2006/main">
              <a:ext uri="{FF2B5EF4-FFF2-40B4-BE49-F238E27FC236}">
                <a16:creationId xmlns:a16="http://schemas.microsoft.com/office/drawing/2014/main" id="{6CBFE817-D36D-489D-9174-ACD2420F6A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33</a:t>
            </a:r>
          </a:p>
        </p:txBody>
      </p:sp>
    </p:spTree>
    <p:extLst>
      <p:ext uri="{BB962C8B-B14F-4D97-AF65-F5344CB8AC3E}">
        <p14:creationId xmlns:p14="http://schemas.microsoft.com/office/powerpoint/2010/main" val="368739680"/>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121B8BC-DAB6-48E6-A948-6A3E8B7869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75B9F5A-D44D-47FA-B245-74B9D7D5D2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FBE094CE-96E9-43AD-8194-3F37E2BAA5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12 quiz</a:t>
            </a:r>
          </a:p>
        </p:txBody>
      </p:sp>
      <p:sp>
        <p:nvSpPr>
          <p:cNvPr id="4" name="">
            <a:extLst xmlns:a="http://schemas.openxmlformats.org/drawingml/2006/main">
              <a:ext uri="{FF2B5EF4-FFF2-40B4-BE49-F238E27FC236}">
                <a16:creationId xmlns:a16="http://schemas.microsoft.com/office/drawing/2014/main" id="{57D9385E-0518-44F2-92DA-3B01AC235E4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B3E2666-8134-489A-BC70-069473F23F8A}"/>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FFDC0DB7-164E-42BB-96FC-8F93E94AE856}"/>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79F643D-77D7-4778-9789-5928DEAC77D4}"/>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6652B728-1FEF-4F3F-9314-03A53CE647EC}"/>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B0B5B46-E244-4710-ACDB-7FF60668227B}"/>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CFF067E1-F8DC-49B3-B110-32F55FC137A4}"/>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4AD5BD4-CBDE-4740-8FC9-C414F692343C}"/>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038fe1c925ad4155"/>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0DD9E000-1356-4390-BCA4-89823E104876}"/>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B45F3721-58D0-4EC4-810C-0E67B102060E}"/>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A3A4147-00CB-4DD1-AD46-BF6EB05A60EC}"/>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e133b1917d694f00"/>
              </a:rPr>
              <a:t>Open this week’s quiz</a:t>
            </a:r>
          </a:p>
        </p:txBody>
      </p:sp>
      <p:sp>
        <p:nvSpPr>
          <p:cNvPr id="16" name="">
            <a:extLst xmlns:a="http://schemas.openxmlformats.org/drawingml/2006/main">
              <a:ext uri="{FF2B5EF4-FFF2-40B4-BE49-F238E27FC236}">
                <a16:creationId xmlns:a16="http://schemas.microsoft.com/office/drawing/2014/main" id="{F18B7757-D05B-4D10-8634-E2D3E2870385}"/>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https://forms.gle/MKfjP3UWDXAei6FK6</a:t>
            </a:r>
          </a:p>
        </p:txBody>
      </p:sp>
      <p:sp>
        <p:nvSpPr>
          <p:cNvPr id="17" name="">
            <a:extLst xmlns:a="http://schemas.openxmlformats.org/drawingml/2006/main">
              <a:ext uri="{FF2B5EF4-FFF2-40B4-BE49-F238E27FC236}">
                <a16:creationId xmlns:a16="http://schemas.microsoft.com/office/drawing/2014/main" id="{8D693327-8497-49A5-A3E3-AD9E67F2B9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34</a:t>
            </a:r>
          </a:p>
        </p:txBody>
      </p:sp>
    </p:spTree>
    <p:extLst>
      <p:ext uri="{BB962C8B-B14F-4D97-AF65-F5344CB8AC3E}">
        <p14:creationId xmlns:p14="http://schemas.microsoft.com/office/powerpoint/2010/main" val="21200850"/>
      </p:ext>
    </p:extLst>
  </p:cSld>
</p:sld>
</file>

<file path=ppt/slides/slide35.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DC0255C-AD58-4E0F-8FF1-C983553AE1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FB0E4FE1-E84B-4D72-ACC3-40C121A0A37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4946F35D-BFD4-4E41-A6E0-2572BC150129}"/>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022A57FB-23F6-4E2E-BA1A-A036F55FA114}"/>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justify a valid candidate with evidence and a stated limitation.</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420DBF68-DFC5-48BD-87C8-D751E9F38506}"/>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397EE695-EF0B-4C16-8B1E-40160969B03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12   35</a:t>
            </a:r>
          </a:p>
        </p:txBody>
      </p:sp>
    </p:spTree>
    <p:extLst>
      <p:ext uri="{BB962C8B-B14F-4D97-AF65-F5344CB8AC3E}">
        <p14:creationId xmlns:p14="http://schemas.microsoft.com/office/powerpoint/2010/main" val="1641606121"/>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4AC631F-60F9-47BA-91EC-B61D204E5E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CDB724C-3430-4380-B42D-D14DF665F2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8B57DCB8-2252-4CB3-96CF-A2618F8C54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FFA88294-0160-49CD-85DF-AE9AC72AB0DA}"/>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ED1AAE7-5A81-4143-94CB-958523EE8F85}"/>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C056FB6F-B1C7-4815-80C8-D69C5EBE2820}"/>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8ADD83F-D84A-4552-968D-1C82824D0BB1}"/>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Cross Validation</a:t>
            </a:r>
          </a:p>
        </p:txBody>
      </p:sp>
      <p:sp>
        <p:nvSpPr>
          <p:cNvPr id="8" name="">
            <a:extLst xmlns:a="http://schemas.openxmlformats.org/drawingml/2006/main">
              <a:ext uri="{FF2B5EF4-FFF2-40B4-BE49-F238E27FC236}">
                <a16:creationId xmlns:a16="http://schemas.microsoft.com/office/drawing/2014/main" id="{225087E2-6A61-4BBE-B8BF-D5F6D187C332}"/>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7C900E9-E3EB-473E-876D-6A3689067E75}"/>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89BE0AED-2E25-49EC-B258-D17431DEE1AB}"/>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EB8B623-E141-48F7-A9F7-979BF4782812}"/>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evaluate using observations not used to fit that particular model?</a:t>
            </a:r>
          </a:p>
        </p:txBody>
      </p:sp>
      <p:sp>
        <p:nvSpPr>
          <p:cNvPr id="12" name="">
            <a:extLst xmlns:a="http://schemas.openxmlformats.org/drawingml/2006/main">
              <a:ext uri="{FF2B5EF4-FFF2-40B4-BE49-F238E27FC236}">
                <a16:creationId xmlns:a16="http://schemas.microsoft.com/office/drawing/2014/main" id="{CC803B1D-B5E1-4B5C-933A-E89DCEF78331}"/>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CD52CCD-C5C9-4476-9450-1FD02DED4406}"/>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b0acf262ea5f4724"/>
              </a:rPr>
              <a:t>Open explainer video</a:t>
            </a:r>
          </a:p>
        </p:txBody>
      </p:sp>
      <p:sp>
        <p:nvSpPr>
          <p:cNvPr id="14" name="">
            <a:extLst xmlns:a="http://schemas.openxmlformats.org/drawingml/2006/main">
              <a:ext uri="{FF2B5EF4-FFF2-40B4-BE49-F238E27FC236}">
                <a16:creationId xmlns:a16="http://schemas.microsoft.com/office/drawing/2014/main" id="{0C1390C2-C110-4507-ACB0-F92FD363A3CE}"/>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https://www.youtube.com/watch?v=fSytzGwwBVw</a:t>
            </a:r>
          </a:p>
        </p:txBody>
      </p:sp>
      <p:sp>
        <p:nvSpPr>
          <p:cNvPr id="15" name="">
            <a:extLst xmlns:a="http://schemas.openxmlformats.org/drawingml/2006/main">
              <a:ext uri="{FF2B5EF4-FFF2-40B4-BE49-F238E27FC236}">
                <a16:creationId xmlns:a16="http://schemas.microsoft.com/office/drawing/2014/main" id="{A58CF084-D2E2-4BB0-942B-6771CA53D53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36</a:t>
            </a:r>
          </a:p>
        </p:txBody>
      </p:sp>
    </p:spTree>
    <p:extLst>
      <p:ext uri="{BB962C8B-B14F-4D97-AF65-F5344CB8AC3E}">
        <p14:creationId xmlns:p14="http://schemas.microsoft.com/office/powerpoint/2010/main" val="176943054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2026-09-28T21:43:10.2270000Z</dcterms:created>
  <dcterms:modified xsi:type="dcterms:W3CDTF">2026-09-28T21:43:10.2270000Z</dcterms:modified>
</coreProperties>
</file>