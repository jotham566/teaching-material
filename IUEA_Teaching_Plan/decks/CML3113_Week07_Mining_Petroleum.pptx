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4667a55bb714dfe" /><Relationship Type="http://schemas.openxmlformats.org/officeDocument/2006/relationships/extended-properties" Target="/docProps/app.xml" Id="R2565c1dba34d4fa6" /><Relationship Type="http://schemas.openxmlformats.org/officeDocument/2006/relationships/officeDocument" Target="/ppt/presentation.xml" Id="R83f3270460664ea3" /></Relationships>
</file>

<file path=ppt/presentation.xml><?xml version="1.0" encoding="utf-8"?>
<p:presentation xmlns:p="http://schemas.openxmlformats.org/presentationml/2006/main">
  <p:sldMasterIdLst>
    <p:sldMasterId xmlns:r="http://schemas.openxmlformats.org/officeDocument/2006/relationships" id="2147483648" r:id="R7e7386825dd0420f"/>
  </p:sldMasterIdLst>
  <p:notesMasterIdLst>
    <p:notesMasterId xmlns:r="http://schemas.openxmlformats.org/officeDocument/2006/relationships" r:id="R29e882f778234392"/>
  </p:notesMasterIdLst>
  <p:sldIdLst>
    <p:sldId xmlns:r="http://schemas.openxmlformats.org/officeDocument/2006/relationships" id="256" r:id="R58ab3a70245249c0"/>
    <p:sldId xmlns:r="http://schemas.openxmlformats.org/officeDocument/2006/relationships" id="257" r:id="Rfec8cf0df0734311"/>
    <p:sldId xmlns:r="http://schemas.openxmlformats.org/officeDocument/2006/relationships" id="258" r:id="Rb57317cc8e1b42fb"/>
    <p:sldId xmlns:r="http://schemas.openxmlformats.org/officeDocument/2006/relationships" id="259" r:id="R98b4a613d8b3422d"/>
    <p:sldId xmlns:r="http://schemas.openxmlformats.org/officeDocument/2006/relationships" id="260" r:id="Rb1d37550ea324b73"/>
    <p:sldId xmlns:r="http://schemas.openxmlformats.org/officeDocument/2006/relationships" id="261" r:id="Rf5ffc188e01c4dcb"/>
    <p:sldId xmlns:r="http://schemas.openxmlformats.org/officeDocument/2006/relationships" id="262" r:id="R4d4648c48e3c4bd9"/>
    <p:sldId xmlns:r="http://schemas.openxmlformats.org/officeDocument/2006/relationships" id="263" r:id="Rf77d8d022c8e44c9"/>
    <p:sldId xmlns:r="http://schemas.openxmlformats.org/officeDocument/2006/relationships" id="264" r:id="R1c09490ab1eb42eb"/>
    <p:sldId xmlns:r="http://schemas.openxmlformats.org/officeDocument/2006/relationships" id="265" r:id="R9caadd03fe0847b7"/>
    <p:sldId xmlns:r="http://schemas.openxmlformats.org/officeDocument/2006/relationships" id="266" r:id="R1dc27b28987f432b"/>
    <p:sldId xmlns:r="http://schemas.openxmlformats.org/officeDocument/2006/relationships" id="267" r:id="R849729c5aef34f79"/>
    <p:sldId xmlns:r="http://schemas.openxmlformats.org/officeDocument/2006/relationships" id="268" r:id="R6d2eb8d5ff5047fc"/>
    <p:sldId xmlns:r="http://schemas.openxmlformats.org/officeDocument/2006/relationships" id="269" r:id="R7a3078702a134043"/>
    <p:sldId xmlns:r="http://schemas.openxmlformats.org/officeDocument/2006/relationships" id="270" r:id="R205926c4516d4198"/>
    <p:sldId xmlns:r="http://schemas.openxmlformats.org/officeDocument/2006/relationships" id="271" r:id="Rf6699068423442d1"/>
    <p:sldId xmlns:r="http://schemas.openxmlformats.org/officeDocument/2006/relationships" id="272" r:id="R4cad843f7df4474e"/>
    <p:sldId xmlns:r="http://schemas.openxmlformats.org/officeDocument/2006/relationships" id="273" r:id="Reae2a7d2b34a46a0"/>
    <p:sldId xmlns:r="http://schemas.openxmlformats.org/officeDocument/2006/relationships" id="274" r:id="R76856af2015d4975"/>
    <p:sldId xmlns:r="http://schemas.openxmlformats.org/officeDocument/2006/relationships" id="275" r:id="R77d31db577cc442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69a682c134c427c" /><Relationship Type="http://schemas.openxmlformats.org/officeDocument/2006/relationships/slideMaster" Target="/ppt/slideMasters/slideMaster1.xml" Id="R7e7386825dd0420f" /><Relationship Type="http://schemas.openxmlformats.org/officeDocument/2006/relationships/notesMaster" Target="/ppt/notesMasters/notesMaster1.xml" Id="R29e882f778234392" /><Relationship Type="http://schemas.openxmlformats.org/officeDocument/2006/relationships/presProps" Target="/ppt/presProps.xml" Id="R1a1c7d4138b74420" /><Relationship Type="http://schemas.openxmlformats.org/officeDocument/2006/relationships/tableStyles" Target="/ppt/tableStyles.xml" Id="Rd08d233ff09345ae" /><Relationship Type="http://schemas.openxmlformats.org/officeDocument/2006/relationships/slide" Target="/ppt/slides/slide1.xml" Id="R58ab3a70245249c0" /><Relationship Type="http://schemas.openxmlformats.org/officeDocument/2006/relationships/slide" Target="/ppt/slides/slide2.xml" Id="Rfec8cf0df0734311" /><Relationship Type="http://schemas.openxmlformats.org/officeDocument/2006/relationships/slide" Target="/ppt/slides/slide3.xml" Id="Rb57317cc8e1b42fb" /><Relationship Type="http://schemas.openxmlformats.org/officeDocument/2006/relationships/slide" Target="/ppt/slides/slide4.xml" Id="R98b4a613d8b3422d" /><Relationship Type="http://schemas.openxmlformats.org/officeDocument/2006/relationships/slide" Target="/ppt/slides/slide5.xml" Id="Rb1d37550ea324b73" /><Relationship Type="http://schemas.openxmlformats.org/officeDocument/2006/relationships/slide" Target="/ppt/slides/slide6.xml" Id="Rf5ffc188e01c4dcb" /><Relationship Type="http://schemas.openxmlformats.org/officeDocument/2006/relationships/slide" Target="/ppt/slides/slide7.xml" Id="R4d4648c48e3c4bd9" /><Relationship Type="http://schemas.openxmlformats.org/officeDocument/2006/relationships/slide" Target="/ppt/slides/slide8.xml" Id="Rf77d8d022c8e44c9" /><Relationship Type="http://schemas.openxmlformats.org/officeDocument/2006/relationships/slide" Target="/ppt/slides/slide9.xml" Id="R1c09490ab1eb42eb" /><Relationship Type="http://schemas.openxmlformats.org/officeDocument/2006/relationships/slide" Target="/ppt/slides/slide10.xml" Id="R9caadd03fe0847b7" /><Relationship Type="http://schemas.openxmlformats.org/officeDocument/2006/relationships/slide" Target="/ppt/slides/slide11.xml" Id="R1dc27b28987f432b" /><Relationship Type="http://schemas.openxmlformats.org/officeDocument/2006/relationships/slide" Target="/ppt/slides/slide12.xml" Id="R849729c5aef34f79" /><Relationship Type="http://schemas.openxmlformats.org/officeDocument/2006/relationships/slide" Target="/ppt/slides/slide13.xml" Id="R6d2eb8d5ff5047fc" /><Relationship Type="http://schemas.openxmlformats.org/officeDocument/2006/relationships/slide" Target="/ppt/slides/slide14.xml" Id="R7a3078702a134043" /><Relationship Type="http://schemas.openxmlformats.org/officeDocument/2006/relationships/slide" Target="/ppt/slides/slide15.xml" Id="R205926c4516d4198" /><Relationship Type="http://schemas.openxmlformats.org/officeDocument/2006/relationships/slide" Target="/ppt/slides/slide16.xml" Id="Rf6699068423442d1" /><Relationship Type="http://schemas.openxmlformats.org/officeDocument/2006/relationships/slide" Target="/ppt/slides/slide17.xml" Id="R4cad843f7df4474e" /><Relationship Type="http://schemas.openxmlformats.org/officeDocument/2006/relationships/slide" Target="/ppt/slides/slide18.xml" Id="Reae2a7d2b34a46a0" /><Relationship Type="http://schemas.openxmlformats.org/officeDocument/2006/relationships/slide" Target="/ppt/slides/slide19.xml" Id="R76856af2015d4975" /><Relationship Type="http://schemas.openxmlformats.org/officeDocument/2006/relationships/slide" Target="/ppt/slides/slide20.xml" Id="R77d31db577cc442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d58455374514ec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29710d2e4eb42e3" /><Relationship Type="http://schemas.openxmlformats.org/officeDocument/2006/relationships/notesMaster" Target="/ppt/notesMasters/notesMaster1.xml" Id="Ra63ca6a59f2b4724" /></Relationships>
</file>

<file path=ppt/notesSlides/_rels/notesSlide2.xml.rels>&#65279;<?xml version="1.0" encoding="utf-8"?><Relationships xmlns="http://schemas.openxmlformats.org/package/2006/relationships"><Relationship Type="http://schemas.openxmlformats.org/officeDocument/2006/relationships/slide" Target="/ppt/slides/slide2.xml" Id="Rc026293d88c7473b" /><Relationship Type="http://schemas.openxmlformats.org/officeDocument/2006/relationships/notesMaster" Target="/ppt/notesMasters/notesMaster1.xml" Id="R96d660433fac46ff" /></Relationships>
</file>

<file path=ppt/notesSlides/_rels/notesSlide3.xml.rels>&#65279;<?xml version="1.0" encoding="utf-8"?><Relationships xmlns="http://schemas.openxmlformats.org/package/2006/relationships"><Relationship Type="http://schemas.openxmlformats.org/officeDocument/2006/relationships/slide" Target="/ppt/slides/slide3.xml" Id="Rf0c1e84bfd704d8c" /><Relationship Type="http://schemas.openxmlformats.org/officeDocument/2006/relationships/notesMaster" Target="/ppt/notesMasters/notesMaster1.xml" Id="R742ef9c36dbc4801" /></Relationships>
</file>

<file path=ppt/notesSlides/_rels/notesSlide4.xml.rels>&#65279;<?xml version="1.0" encoding="utf-8"?><Relationships xmlns="http://schemas.openxmlformats.org/package/2006/relationships"><Relationship Type="http://schemas.openxmlformats.org/officeDocument/2006/relationships/slide" Target="/ppt/slides/slide4.xml" Id="R5018823ea1e74d53" /><Relationship Type="http://schemas.openxmlformats.org/officeDocument/2006/relationships/notesMaster" Target="/ppt/notesMasters/notesMaster1.xml" Id="R835b104f666e47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ad7a42ac1ba94c73" /><Relationship Type="http://schemas.openxmlformats.org/officeDocument/2006/relationships/notesMaster" Target="/ppt/notesMasters/notesMaster1.xml" Id="Rf7547278bbd443f9" /></Relationships>
</file>

<file path=ppt/notesSlides/_rels/notesSlide6.xml.rels>&#65279;<?xml version="1.0" encoding="utf-8"?><Relationships xmlns="http://schemas.openxmlformats.org/package/2006/relationships"><Relationship Type="http://schemas.openxmlformats.org/officeDocument/2006/relationships/slide" Target="/ppt/slides/slide6.xml" Id="R12cd9f9dd4b041f3" /><Relationship Type="http://schemas.openxmlformats.org/officeDocument/2006/relationships/notesMaster" Target="/ppt/notesMasters/notesMaster1.xml" Id="Rf6aa8f7eafef4043" /></Relationships>
</file>

<file path=ppt/notesSlides/_rels/notesSlide7.xml.rels>&#65279;<?xml version="1.0" encoding="utf-8"?><Relationships xmlns="http://schemas.openxmlformats.org/package/2006/relationships"><Relationship Type="http://schemas.openxmlformats.org/officeDocument/2006/relationships/slide" Target="/ppt/slides/slide7.xml" Id="R80c2da2ea3f648d8" /><Relationship Type="http://schemas.openxmlformats.org/officeDocument/2006/relationships/notesMaster" Target="/ppt/notesMasters/notesMaster1.xml" Id="R6e1546b584ab4b6d" /></Relationships>
</file>

<file path=ppt/notesSlides/_rels/notesSlide8.xml.rels>&#65279;<?xml version="1.0" encoding="utf-8"?><Relationships xmlns="http://schemas.openxmlformats.org/package/2006/relationships"><Relationship Type="http://schemas.openxmlformats.org/officeDocument/2006/relationships/slide" Target="/ppt/slides/slide8.xml" Id="Rc30ee041c23a4e3c" /><Relationship Type="http://schemas.openxmlformats.org/officeDocument/2006/relationships/notesMaster" Target="/ppt/notesMasters/notesMaster1.xml" Id="R0df11a6a6a9645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3564f65166894a33" /><Relationship Type="http://schemas.openxmlformats.org/officeDocument/2006/relationships/notesMaster" Target="/ppt/notesMasters/notesMaster1.xml" Id="Rceaba7b5096a4e6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e868d0d3da64426" /><Relationship Type="http://schemas.openxmlformats.org/officeDocument/2006/relationships/notesMaster" Target="/ppt/notesMasters/notesMaster1.xml" Id="R28ae97d84fd0496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3f2fb578be74a36" /><Relationship Type="http://schemas.openxmlformats.org/officeDocument/2006/relationships/notesMaster" Target="/ppt/notesMasters/notesMaster1.xml" Id="R01c25427fb2d460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49504aa04fa4ea1" /><Relationship Type="http://schemas.openxmlformats.org/officeDocument/2006/relationships/notesMaster" Target="/ppt/notesMasters/notesMaster1.xml" Id="R926141f5163743d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eb6f864fc714549" /><Relationship Type="http://schemas.openxmlformats.org/officeDocument/2006/relationships/notesMaster" Target="/ppt/notesMasters/notesMaster1.xml" Id="R42233a321a3144d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64fdf99dd0e4c56" /><Relationship Type="http://schemas.openxmlformats.org/officeDocument/2006/relationships/notesMaster" Target="/ppt/notesMasters/notesMaster1.xml" Id="R4c58b9689e81494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96e14a20e5945b5" /><Relationship Type="http://schemas.openxmlformats.org/officeDocument/2006/relationships/notesMaster" Target="/ppt/notesMasters/notesMaster1.xml" Id="Re43c464606bb4c9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9ce793d49a6481f" /><Relationship Type="http://schemas.openxmlformats.org/officeDocument/2006/relationships/notesMaster" Target="/ppt/notesMasters/notesMaster1.xml" Id="R2943850036bd4c9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c8db5da172b4291" /><Relationship Type="http://schemas.openxmlformats.org/officeDocument/2006/relationships/notesMaster" Target="/ppt/notesMasters/notesMaster1.xml" Id="R071fd01cc75f452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67e6e9a6b8742c0" /><Relationship Type="http://schemas.openxmlformats.org/officeDocument/2006/relationships/notesMaster" Target="/ppt/notesMasters/notesMaster1.xml" Id="Rd601858d2d2f47a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7826a00b97542bc" /><Relationship Type="http://schemas.openxmlformats.org/officeDocument/2006/relationships/notesMaster" Target="/ppt/notesMasters/notesMaster1.xml" Id="R6e52055f30e741c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b638dab879740e8" /><Relationship Type="http://schemas.openxmlformats.org/officeDocument/2006/relationships/notesMaster" Target="/ppt/notesMasters/notesMaster1.xml" Id="Rff65d54cc1824195"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Practical Test 1</a:t>
            </a:r>
          </a:p>
          <a:p>
            <a:r>
              <a:t>CML3113, Week 7, slide 1</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Use this as an orientation to the lesson. Terms and syntax will be unpacked on their own slides; students do not need to know them in advance.</a:t>
            </a:r>
          </a:p>
          <a:p>
            <a:r>
              <a:t/>
            </a:r>
          </a:p>
          <a:p>
            <a:r>
              <a:t>On this slide</a:t>
            </a:r>
          </a:p>
          <a:p>
            <a:r>
              <a:t>Mining and Petroleum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CML3113, Week 7, slide 2</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Rehearse saving and reopening the required files.</a:t>
            </a:r>
          </a:p>
          <a:p>
            <a:r>
              <a:t/>
            </a:r>
          </a:p>
          <a:p>
            <a:r>
              <a:t>Check the published test rules before the session.</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CML3113, Week 7, slide 3</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Can you open the provided notebook and data on the prepared lab computer without internet?</a:t>
            </a:r>
          </a:p>
          <a:p>
            <a:r>
              <a:t/>
            </a:r>
          </a:p>
          <a:p>
            <a:r>
              <a:t>Continue to</a:t>
            </a:r>
          </a:p>
          <a:p>
            <a:r>
              <a:t>Rehearse before test day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Rehearse before test day</a:t>
            </a:r>
          </a:p>
          <a:p>
            <a:r>
              <a:t>CML3113, Week 7, slide 4</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Use the separate practice notebook before the timed session.</a:t>
            </a:r>
          </a:p>
          <a:p>
            <a:r>
              <a:t/>
            </a:r>
          </a:p>
          <a:p>
            <a:r>
              <a:t>Open the supplied data and run a familiar calculation.</a:t>
            </a:r>
          </a:p>
          <a:p>
            <a:r>
              <a:t/>
            </a:r>
          </a:p>
          <a:p>
            <a:r>
              <a:t>The test packet and permitted resources are issued by the lecturer.</a:t>
            </a:r>
          </a:p>
          <a:p>
            <a:r>
              <a:t/>
            </a:r>
          </a:p>
          <a:p>
            <a:r>
              <a:t>Continue to</a:t>
            </a:r>
          </a:p>
          <a:p>
            <a:r>
              <a:t>Save the complete notebook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Save the complete notebook</a:t>
            </a:r>
          </a:p>
          <a:p>
            <a:r>
              <a:t>CML3113, Week 7, slide 5</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Type Part B under My written evidence in the notebook.</a:t>
            </a:r>
          </a:p>
          <a:p>
            <a:r>
              <a:t/>
            </a:r>
          </a:p>
          <a:p>
            <a:r>
              <a:t>Locate the complete notebook in the designated local folder.</a:t>
            </a:r>
          </a:p>
          <a:p>
            <a:r>
              <a:t/>
            </a:r>
          </a:p>
          <a:p>
            <a:r>
              <a:t>Reopen it to check that code and written answers were saved.</a:t>
            </a:r>
          </a:p>
          <a:p>
            <a:r>
              <a:t/>
            </a:r>
          </a:p>
          <a:p>
            <a:r>
              <a:t>Continue to</a:t>
            </a:r>
          </a:p>
          <a:p>
            <a:r>
              <a:t>Follow the published test procedure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Follow the published test procedure</a:t>
            </a:r>
          </a:p>
          <a:p>
            <a:r>
              <a:t>CML3113, Week 7, slide 6</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Read the briefing before starting assessed work.</a:t>
            </a:r>
          </a:p>
          <a:p>
            <a:r>
              <a:t/>
            </a:r>
          </a:p>
          <a:p>
            <a:r>
              <a:t>Use only the resources permitted for that part of the test.</a:t>
            </a:r>
          </a:p>
          <a:p>
            <a:r>
              <a:t/>
            </a:r>
          </a:p>
          <a:p>
            <a:r>
              <a:t>Report a technical failure to the invigilator immediately.</a:t>
            </a:r>
          </a:p>
          <a:p>
            <a:r>
              <a:t/>
            </a:r>
          </a:p>
          <a:p>
            <a:r>
              <a:t>Continue to</a:t>
            </a:r>
          </a:p>
          <a:p>
            <a:r>
              <a:t>Practice before test day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Practice before test day</a:t>
            </a:r>
          </a:p>
          <a:p>
            <a:r>
              <a:t>CML3113, Week 7, slide 7</a:t>
            </a:r>
          </a:p>
          <a:p>
            <a:r>
              <a:t/>
            </a:r>
          </a:p>
          <a:p>
            <a:r>
              <a:t>Explanation to give</a:t>
            </a:r>
          </a:p>
          <a:p>
            <a:r>
              <a:t>Rehearse this small calculation before the assessed session. The list has three values, so len returns 3. Add 3+5+7 to obtain 15, then divide by 3.</a:t>
            </a:r>
          </a:p>
          <a:p>
            <a:r>
              <a:t/>
            </a:r>
          </a:p>
          <a:p>
            <a:r>
              <a:t>Worked illustration / lecturer answer</a:t>
            </a:r>
          </a:p>
          <a:p>
            <a:r>
              <a:t>The displayed output is 3 followed by 5.0. Explain why the mean is a floating-point result even though the inputs are integers.</a:t>
            </a:r>
          </a:p>
          <a:p>
            <a:r>
              <a:t/>
            </a:r>
          </a:p>
          <a:p>
            <a:r>
              <a:t>Misconception to address</a:t>
            </a:r>
          </a:p>
          <a:p>
            <a:r>
              <a:t>This is a preparation example, not a test answer. During Part B of the actual test, code execution is prohibited.</a:t>
            </a:r>
          </a:p>
          <a:p>
            <a:r>
              <a:t/>
            </a:r>
          </a:p>
          <a:p>
            <a:r>
              <a:t>Read the displayed code line by line</a:t>
            </a:r>
          </a:p>
          <a:p>
            <a:r>
              <a:t>values = [3, 5, 7]</a:t>
            </a:r>
          </a:p>
          <a:p>
            <a:r>
              <a:t>Evaluate the complete right-hand expression first, then assign its result to the name or selected field on the left.</a:t>
            </a:r>
          </a:p>
          <a:p>
            <a:r>
              <a:t/>
            </a:r>
          </a:p>
          <a:p>
            <a:r>
              <a:t>print(len(values))</a:t>
            </a:r>
          </a:p>
          <a:p>
            <a:r>
              <a:t>Evaluate the expression inside the parentheses and display it. Displaying is separate from returning a function result.</a:t>
            </a:r>
          </a:p>
          <a:p>
            <a:r>
              <a:t/>
            </a:r>
          </a:p>
          <a:p>
            <a:r>
              <a:t>print(sum(values) / len(values))</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Test session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Test session</a:t>
            </a:r>
          </a:p>
          <a:p>
            <a:r>
              <a:t>CML3113, Week 7, slide 8</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At the Part A boundary, follow the official snapshot procedure. During the 25-minute Part B period, students type reasoning but must not execute code. Do not change the published timing during an explanation.</a:t>
            </a:r>
          </a:p>
          <a:p>
            <a:r>
              <a:t/>
            </a:r>
          </a:p>
          <a:p>
            <a:r>
              <a:t>On this slide</a:t>
            </a:r>
          </a:p>
          <a:p>
            <a:r>
              <a:t>00–15 minutes: briefing and file check.</a:t>
            </a:r>
          </a:p>
          <a:p>
            <a:r>
              <a:t/>
            </a:r>
          </a:p>
          <a:p>
            <a:r>
              <a:t>15–135 minutes: individual practical work.</a:t>
            </a:r>
          </a:p>
          <a:p>
            <a:r>
              <a:t/>
            </a:r>
          </a:p>
          <a:p>
            <a:r>
              <a:t>135–160 minutes: typed offline reasoning, with code execution prohibited.</a:t>
            </a:r>
          </a:p>
          <a:p>
            <a:r>
              <a:t/>
            </a:r>
          </a:p>
          <a:p>
            <a:r>
              <a:t>160–180 minutes: save and hand in through invigilated offline collection.</a:t>
            </a:r>
          </a:p>
          <a:p>
            <a:r>
              <a:t/>
            </a:r>
          </a:p>
          <a:p>
            <a:r>
              <a:t>Continue to</a:t>
            </a:r>
          </a:p>
          <a:p>
            <a:r>
              <a:t>Preparation checkpoint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Preparation checkpoint</a:t>
            </a:r>
          </a:p>
          <a:p>
            <a:r>
              <a:t>CML3113, Week 7, slide 9</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Every learner completes the offline save-and-reopen rehearsal.</a:t>
            </a:r>
          </a:p>
          <a:p>
            <a:r>
              <a:t/>
            </a:r>
          </a:p>
          <a:p>
            <a:r>
              <a:t>Escalate lab-access failures before the test.</a:t>
            </a:r>
          </a:p>
          <a:p>
            <a:r>
              <a:t/>
            </a:r>
          </a:p>
          <a:p>
            <a:r>
              <a:t>Continue to</a:t>
            </a:r>
          </a:p>
          <a:p>
            <a:r>
              <a:t>Your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evidence</a:t>
            </a:r>
          </a:p>
          <a:p>
            <a:r>
              <a:t>CML3113, Week 7, slide 10</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Use the official TEST1 brief, interfaces and rubric.</a:t>
            </a:r>
          </a:p>
          <a:p>
            <a:r>
              <a:t/>
            </a:r>
          </a:p>
          <a:p>
            <a:r>
              <a:t>The assessed period has 120 practical minutes and 25 typed reasoning minutes.</a:t>
            </a:r>
          </a:p>
          <a:p>
            <a:r>
              <a:t/>
            </a:r>
          </a:p>
          <a:p>
            <a:r>
              <a:t>Your lecturer will issue the test packet and collection instructions.</a:t>
            </a:r>
          </a:p>
          <a:p>
            <a:r>
              <a:t/>
            </a:r>
          </a:p>
          <a:p>
            <a:r>
              <a:t>Continue to</a:t>
            </a:r>
          </a:p>
          <a:p>
            <a:r>
              <a:t>Practical Test 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a:t>
            </a:r>
          </a:p>
          <a:p>
            <a:r>
              <a:t>CML3113, Week 7, slide 11</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Write your own explanation in the markdown cell headed `## My written evidence`.</a:t>
            </a:r>
          </a:p>
          <a:p>
            <a:r>
              <a:t/>
            </a:r>
          </a:p>
          <a:p>
            <a:r>
              <a:t>Keep that heading.</a:t>
            </a:r>
          </a:p>
          <a:p>
            <a:r>
              <a:t/>
            </a:r>
          </a:p>
          <a:p>
            <a:r>
              <a:t>Task prompts and code comments are excluded from reasoning marks.</a:t>
            </a:r>
          </a:p>
          <a:p>
            <a:r>
              <a:t/>
            </a:r>
          </a:p>
          <a:p>
            <a:r>
              <a:t>Complete every original rubric criterion below, not just the checked functions.</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CML3113, Week 7, slide 12</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Include profiling, justified cleaning, question-led charts and your engineering recommendation where required.</a:t>
            </a:r>
          </a:p>
          <a:p>
            <a:r>
              <a:t/>
            </a:r>
          </a:p>
          <a:p>
            <a:r>
              <a:t>Keep raw data.</a:t>
            </a:r>
          </a:p>
          <a:p>
            <a:r>
              <a:t/>
            </a:r>
          </a:p>
          <a:p>
            <a:r>
              <a:t>State units and distinguish correlation from causation.</a:t>
            </a:r>
          </a:p>
          <a:p>
            <a:r>
              <a:t/>
            </a:r>
          </a:p>
          <a:p>
            <a:r>
              <a:t>Charts must be actual labelled figures in the notebook, not claims that charts exist.</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CML3113, Week 7, slide 13</a:t>
            </a:r>
          </a:p>
          <a:p>
            <a:r>
              <a:t/>
            </a:r>
          </a:p>
          <a:p>
            <a:r>
              <a:t>Explanation to give</a:t>
            </a:r>
          </a:p>
          <a:p>
            <a:r>
              <a:t>Describe the received table before changing it: its rows, columns, units and defects. Then explain each cleaning rule and preserve the original data.</a:t>
            </a:r>
          </a:p>
          <a:p>
            <a:r>
              <a:t/>
            </a:r>
          </a:p>
          <a:p>
            <a:r>
              <a:t>Worked illustration / lecturer answer</a:t>
            </a:r>
          </a:p>
          <a:p>
            <a:r>
              <a:t>A duplicate record ID and repeated equipment ID are different situations. Removing the former under a stated rule may be correct while removing the latter could discard legitimate observations.</a:t>
            </a:r>
          </a:p>
          <a:p>
            <a:r>
              <a:t/>
            </a:r>
          </a:p>
          <a:p>
            <a:r>
              <a:t>Misconception to address</a:t>
            </a:r>
          </a:p>
          <a:p>
            <a:r>
              <a:t>A correct output without a justification may not satisfy the reasoning criterion. Use the task’s exact rules rather than choosing whichever cleaning makes results look attractive.</a:t>
            </a:r>
          </a:p>
          <a:p>
            <a:r>
              <a:t/>
            </a:r>
          </a:p>
          <a:p>
            <a:r>
              <a:t>On this slide</a:t>
            </a:r>
          </a:p>
          <a:p>
            <a:r>
              <a:t>Include captions and readable written evidence in the notebook.</a:t>
            </a:r>
          </a:p>
          <a:p>
            <a:r>
              <a:t/>
            </a:r>
          </a:p>
          <a:p>
            <a:r>
              <a:t>Loading &amp; profiling (15.0 total): Data loaded correctly; shape, types and summary produced; the dataset is described accurately in the student's own words.</a:t>
            </a:r>
          </a:p>
          <a:p>
            <a:r>
              <a:t/>
            </a:r>
          </a:p>
          <a:p>
            <a:r>
              <a:t>Cleaning decisions &amp; justification (20.0 total): Defects found.</a:t>
            </a:r>
          </a:p>
          <a:p>
            <a:r>
              <a:t/>
            </a:r>
          </a:p>
          <a:p>
            <a:r>
              <a:t>Each handling decision stated AND justified.</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CML3113, Week 7, slide 14</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Marks are for the justification - an unjustified correct fix scores roughly half.</a:t>
            </a:r>
          </a:p>
          <a:p>
            <a:r>
              <a:t/>
            </a:r>
          </a:p>
          <a:p>
            <a:r>
              <a:t>Visualisation (20.0 total): Three charts, each captioned with the question it answers.</a:t>
            </a:r>
          </a:p>
          <a:p>
            <a:r>
              <a:t/>
            </a:r>
          </a:p>
          <a:p>
            <a:r>
              <a:t>Correct chart type.</a:t>
            </a:r>
          </a:p>
          <a:p>
            <a:r>
              <a:t/>
            </a:r>
          </a:p>
          <a:p>
            <a:r>
              <a:t>Axes labelled with units.</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CML3113, Week 7, slide 15</a:t>
            </a:r>
          </a:p>
          <a:p>
            <a:r>
              <a:t/>
            </a:r>
          </a:p>
          <a:p>
            <a:r>
              <a:t>Explanation to give</a:t>
            </a:r>
          </a:p>
          <a:p>
            <a:r>
              <a:t>Explain the decision, the evidence supporting it and what would change that decision. The reader should be able to find the result cited in the notebook.</a:t>
            </a:r>
          </a:p>
          <a:p>
            <a:r>
              <a:t/>
            </a:r>
          </a:p>
          <a:p>
            <a:r>
              <a:t>Worked illustration / lecturer answer</a:t>
            </a:r>
          </a:p>
          <a:p>
            <a:r>
              <a:t>For example, a model may justify further testing at a second site while not yet justifying deployment. Name the missing operating range or equipment group that the next data collection should cover.</a:t>
            </a:r>
          </a:p>
          <a:p>
            <a:r>
              <a:t/>
            </a:r>
          </a:p>
          <a:p>
            <a:r>
              <a:t>Misconception to address</a:t>
            </a:r>
          </a:p>
          <a:p>
            <a:r>
              <a:t>During test Part B, type the explanation offline without executing code. Save it in the collected notebook; later upload must not extend the assessed work period.</a:t>
            </a:r>
          </a:p>
          <a:p>
            <a:r>
              <a:t/>
            </a:r>
          </a:p>
          <a:p>
            <a:r>
              <a:t>On this slide</a:t>
            </a:r>
          </a:p>
          <a:p>
            <a:r>
              <a:t>No decoration without purpose.</a:t>
            </a:r>
          </a:p>
          <a:p>
            <a:r>
              <a:t/>
            </a:r>
          </a:p>
          <a:p>
            <a:r>
              <a:t>Findings (20.0 total): Five findings, supported by evidence from the data, stated with correct magnitudes and units.</a:t>
            </a:r>
          </a:p>
          <a:p>
            <a:r>
              <a:t/>
            </a:r>
          </a:p>
          <a:p>
            <a:r>
              <a:t>A wrong number loses the mark even if the method was right.</a:t>
            </a:r>
          </a:p>
          <a:p>
            <a:r>
              <a:t/>
            </a:r>
          </a:p>
          <a:p>
            <a:r>
              <a:t>Engineering interpretation (15.0 total): One recommendation that an engineer could act on, plus a clear statement of what further data would be needed.</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CML3113, Week 7, slide 16</a:t>
            </a:r>
          </a:p>
          <a:p>
            <a:r>
              <a:t/>
            </a:r>
          </a:p>
          <a:p>
            <a:r>
              <a:t>Explanation to give</a:t>
            </a:r>
          </a:p>
          <a:p>
            <a:r>
              <a:t>Reproducibility means a clean run using the delivered files, documented dependencies and stated instructions produces the reported results.</a:t>
            </a:r>
          </a:p>
          <a:p>
            <a:r>
              <a:t/>
            </a:r>
          </a:p>
          <a:p>
            <a:r>
              <a:t>Worked illustration / lecturer answer</a:t>
            </a:r>
          </a:p>
          <a:p>
            <a:r>
              <a:t>Use an actual fresh-runtime check. Correct a path or missing setup step that the check reveals, then save the successful notebook and instructions.</a:t>
            </a:r>
          </a:p>
          <a:p>
            <a:r>
              <a:t/>
            </a:r>
          </a:p>
          <a:p>
            <a:r>
              <a:t>Misconception to address</a:t>
            </a:r>
          </a:p>
          <a:p>
            <a:r>
              <a:t>Saved figures can remain visible after code breaks. Their presence alone is not a successful rerun.</a:t>
            </a:r>
          </a:p>
          <a:p>
            <a:r>
              <a:t/>
            </a:r>
          </a:p>
          <a:p>
            <a:r>
              <a:t>On this slide</a:t>
            </a:r>
          </a:p>
          <a:p>
            <a:r>
              <a:t>Clarity &amp; reproducibility (10.0 total): Notebook runs top to bottom.</a:t>
            </a:r>
          </a:p>
          <a:p>
            <a:r>
              <a:t/>
            </a:r>
          </a:p>
          <a:p>
            <a:r>
              <a:t>Logical order.</a:t>
            </a:r>
          </a:p>
          <a:p>
            <a:r>
              <a:t/>
            </a:r>
          </a:p>
          <a:p>
            <a:r>
              <a:t>Markdown explains intent.</a:t>
            </a:r>
          </a:p>
          <a:p>
            <a:r>
              <a:t/>
            </a:r>
          </a:p>
          <a:p>
            <a:r>
              <a:t>No dead code.</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CML3113, Week 7, slide 17</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At the Part A boundary, follow the official snapshot procedure. During the 25-minute Part B period, students type reasoning but must not execute code. Do not change the published timing during an explanation.</a:t>
            </a:r>
          </a:p>
          <a:p>
            <a:r>
              <a:t/>
            </a:r>
          </a:p>
          <a:p>
            <a:r>
              <a:t>On this slide</a:t>
            </a:r>
          </a:p>
          <a:p>
            <a:r>
              <a:t>Timing and Part B</a:t>
            </a:r>
          </a:p>
          <a:p>
            <a:r>
              <a:t/>
            </a:r>
          </a:p>
          <a:p>
            <a:r>
              <a:t>15 minutes setup, 120 minutes practical, 25 minutes typed offline reasoning with code execution prohibited, 20 minutes collection.</a:t>
            </a:r>
          </a:p>
          <a:p>
            <a:r>
              <a:t/>
            </a:r>
          </a:p>
          <a:p>
            <a:r>
              <a:t>No internet, messaging or AI.</a:t>
            </a:r>
          </a:p>
          <a:p>
            <a:r>
              <a:t/>
            </a:r>
          </a:p>
          <a:p>
            <a:r>
              <a:t>Answer: Why your main cleaning/model choice?</a:t>
            </a:r>
          </a:p>
          <a:p>
            <a:r>
              <a:t/>
            </a:r>
          </a:p>
          <a:p>
            <a:r>
              <a:t>Continue to</a:t>
            </a:r>
          </a:p>
          <a:p>
            <a:r>
              <a:t>Practical Test 1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continued</a:t>
            </a:r>
          </a:p>
          <a:p>
            <a:r>
              <a:t>CML3113, Week 7, slide 18</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What can your chart/metric not establish?</a:t>
            </a:r>
          </a:p>
          <a:p>
            <a:r>
              <a:t/>
            </a:r>
          </a:p>
          <a:p>
            <a:r>
              <a:t>What evidence would change your recommendation?</a:t>
            </a:r>
          </a:p>
          <a:p>
            <a:r>
              <a:t/>
            </a:r>
          </a:p>
          <a:p>
            <a:r>
              <a:t>What further data is required?</a:t>
            </a:r>
          </a:p>
          <a:p>
            <a:r>
              <a:t/>
            </a:r>
          </a:p>
          <a:p>
            <a:r>
              <a:t>Invigilated offline collection is authoritative; Google upload is a later transport step and must not impose an internet requirement during the test.</a:t>
            </a:r>
          </a:p>
          <a:p>
            <a:r>
              <a:t/>
            </a:r>
          </a:p>
          <a:p>
            <a:r>
              <a:t>Continue to</a:t>
            </a:r>
          </a:p>
          <a:p>
            <a:r>
              <a:t>Practical Test 1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1 submission</a:t>
            </a:r>
          </a:p>
          <a:p>
            <a:r>
              <a:t>CML3113, Week 7, slide 19</a:t>
            </a:r>
          </a:p>
          <a:p>
            <a:r>
              <a:t/>
            </a:r>
          </a:p>
          <a:p>
            <a:r>
              <a:t>Explanation to give</a:t>
            </a:r>
          </a:p>
          <a:p>
            <a:r>
              <a:t>This slide hands over CML3113 TEST1. Show the exact form title before uploading. The required packet is one completed .ipynb notebook.</a:t>
            </a:r>
          </a:p>
          <a:p>
            <a:r>
              <a:t/>
            </a:r>
          </a:p>
          <a:p>
            <a:r>
              <a:t>Worked illustration / lecturer answer</a:t>
            </a:r>
          </a:p>
          <a:p>
            <a:r>
              <a:t>For TEST1/TEST2, save Part B under My written evidence. Collect the complete notebook offline under invigilation; the later form upload only transports that collected version.</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Offline invigilated collection is authoritative.</a:t>
            </a:r>
          </a:p>
          <a:p>
            <a:r>
              <a:t/>
            </a:r>
          </a:p>
          <a:p>
            <a:r>
              <a:t>Google upload is a later transport step.</a:t>
            </a:r>
          </a:p>
          <a:p>
            <a:r>
              <a:t/>
            </a:r>
          </a:p>
          <a:p>
            <a:r>
              <a:t>Save one notebook with Part B under My written evidence.</a:t>
            </a:r>
          </a:p>
          <a:p>
            <a:r>
              <a:t/>
            </a:r>
          </a:p>
          <a:p>
            <a:r>
              <a:t>No internet, messaging or AI during the test.</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CML3113, Week 7, slide 20</a:t>
            </a:r>
          </a:p>
          <a:p>
            <a:r>
              <a:t/>
            </a:r>
          </a:p>
          <a:p>
            <a:r>
              <a:t>Explanation to give</a:t>
            </a:r>
          </a:p>
          <a:p>
            <a:r>
              <a:t>This is preparation for Test 1. Rehearse opening and saving offline before the assessed period. During the test, follow the issued invigilation rules.</a:t>
            </a:r>
          </a:p>
          <a:p>
            <a:r>
              <a:t/>
            </a:r>
          </a:p>
          <a:p>
            <a:r>
              <a:t>Worked illustration / lecturer answer</a:t>
            </a:r>
          </a:p>
          <a:p>
            <a:r>
              <a:t>The published schedule has 15 minutes of setup, 120 of practical work, 25 of typed reasoning without code execution and 20 of collection.</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reopen your notebook and find code and typed reasoning without help.</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ab4d4a94fa64ef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1845156d3984b3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633a9a6056f4a4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a0061fa5abd400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730488ebe44400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2f4464c296149a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B3BE7CB-43EF-4EE4-8F9E-B69B1D9424B5}"/>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2C0CD68-F216-4EEC-8FA5-E2F69A1ADBA5}"/>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0BCC77E2-0037-4BB4-A240-19542F1FB5D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CA021BC9-4530-4297-AC01-60059558F1CF}"/>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7A17C273-5862-4651-8575-6D8D56DA48A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B183BDB-4778-4BD4-A08E-99ECDA53F44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E1CAB77-39FA-4E3B-A13C-732495A4E22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E42DC637-FBF9-4799-B4E5-1BF54D567109}"/>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191EB64C-D19B-4D17-A97B-AE4696BBE5E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590D36D-BE4B-4989-87B0-CF5D2097A01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D3FA77C-FE21-4E15-B2FB-03C2037DB579}"/>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2B0C007-0400-49E1-BD22-7E5231EB9C86}"/>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3605B3BA-47F2-4F9C-8D08-8CC47F4208C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48DA42C-7612-4CBB-91F0-B7D4DC4F505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A7B4F18-F8A1-461D-92BB-B0C6A1ABD27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bd51b0352964d1a" /><Relationship Type="http://schemas.openxmlformats.org/officeDocument/2006/relationships/slideLayout" Target="/ppt/slideLayouts/slideLayout1.xml" Id="R9beb5d3c131447e1" /><Relationship Type="http://schemas.openxmlformats.org/officeDocument/2006/relationships/slideLayout" Target="/ppt/slideLayouts/slideLayout2.xml" Id="Rfc2daef2c5b0452f" /><Relationship Type="http://schemas.openxmlformats.org/officeDocument/2006/relationships/slideLayout" Target="/ppt/slideLayouts/slideLayout3.xml" Id="R4fc8032325614a0c" /><Relationship Type="http://schemas.openxmlformats.org/officeDocument/2006/relationships/slideLayout" Target="/ppt/slideLayouts/slideLayout4.xml" Id="Rd3b7e20068df42c2" /><Relationship Type="http://schemas.openxmlformats.org/officeDocument/2006/relationships/slideLayout" Target="/ppt/slideLayouts/slideLayout5.xml" Id="Ra7ed950dbc174760" /><Relationship Type="http://schemas.openxmlformats.org/officeDocument/2006/relationships/slideLayout" Target="/ppt/slideLayouts/slideLayout6.xml" Id="Rcd2b11cdf81348c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beb5d3c131447e1"/>
    <p:sldLayoutId xmlns:r="http://schemas.openxmlformats.org/officeDocument/2006/relationships" id="2147483650" r:id="Rfc2daef2c5b0452f"/>
    <p:sldLayoutId xmlns:r="http://schemas.openxmlformats.org/officeDocument/2006/relationships" id="2147483651" r:id="R4fc8032325614a0c"/>
    <p:sldLayoutId xmlns:r="http://schemas.openxmlformats.org/officeDocument/2006/relationships" id="2147483652" r:id="Rd3b7e20068df42c2"/>
    <p:sldLayoutId xmlns:r="http://schemas.openxmlformats.org/officeDocument/2006/relationships" id="2147483653" r:id="Ra7ed950dbc174760"/>
    <p:sldLayoutId xmlns:r="http://schemas.openxmlformats.org/officeDocument/2006/relationships" id="2147483654" r:id="Rcd2b11cdf81348c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819f377b157425c" /><Relationship Type="http://schemas.openxmlformats.org/officeDocument/2006/relationships/image" Target="/ppt/media/image.png" Id="R742dcb8350564ddc" /><Relationship Type="http://schemas.openxmlformats.org/officeDocument/2006/relationships/notesSlide" Target="/ppt/notesSlides/notesSlide1.xml" Id="R9eb997e21af347a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34925a49f1e4a64" /><Relationship Type="http://schemas.openxmlformats.org/officeDocument/2006/relationships/notesSlide" Target="/ppt/notesSlides/notesSlide2.xml" Id="R75049c05e6794bd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f393a20b98043a3" /><Relationship Type="http://schemas.openxmlformats.org/officeDocument/2006/relationships/notesSlide" Target="/ppt/notesSlides/notesSlide3.xml" Id="R1b28c120681148c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db42dc7d61f477e" /><Relationship Type="http://schemas.openxmlformats.org/officeDocument/2006/relationships/notesSlide" Target="/ppt/notesSlides/notesSlide4.xml" Id="R09756395ade749d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f1f448a8614da4" /><Relationship Type="http://schemas.openxmlformats.org/officeDocument/2006/relationships/notesSlide" Target="/ppt/notesSlides/notesSlide5.xml" Id="R3365af588aa5469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04bb150593f4a91" /><Relationship Type="http://schemas.openxmlformats.org/officeDocument/2006/relationships/notesSlide" Target="/ppt/notesSlides/notesSlide6.xml" Id="Rf14f73e056af4b0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f1441cab3fc472a" /><Relationship Type="http://schemas.openxmlformats.org/officeDocument/2006/relationships/notesSlide" Target="/ppt/notesSlides/notesSlide7.xml" Id="Rc4305e0bd6f542e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b753744c60d43de" /><Relationship Type="http://schemas.openxmlformats.org/officeDocument/2006/relationships/notesSlide" Target="/ppt/notesSlides/notesSlide8.xml" Id="Rc70746691e714e3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52678aaaa724f45" /><Relationship Type="http://schemas.openxmlformats.org/officeDocument/2006/relationships/notesSlide" Target="/ppt/notesSlides/notesSlide9.xml" Id="Rbdfe7df516ca488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c2e78414f73474f" /><Relationship Type="http://schemas.openxmlformats.org/officeDocument/2006/relationships/notesSlide" Target="/ppt/notesSlides/notesSlide10.xml" Id="R01993f878032407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9f0f532c8024c7b" /><Relationship Type="http://schemas.openxmlformats.org/officeDocument/2006/relationships/notesSlide" Target="/ppt/notesSlides/notesSlide11.xml" Id="R1983b01d12c94a1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15f35a3057c47ce" /><Relationship Type="http://schemas.openxmlformats.org/officeDocument/2006/relationships/notesSlide" Target="/ppt/notesSlides/notesSlide12.xml" Id="R067f6fb6e73a418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46b964d30c8458d" /><Relationship Type="http://schemas.openxmlformats.org/officeDocument/2006/relationships/notesSlide" Target="/ppt/notesSlides/notesSlide13.xml" Id="R7f0429cb804042c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26905a6157348f2" /><Relationship Type="http://schemas.openxmlformats.org/officeDocument/2006/relationships/notesSlide" Target="/ppt/notesSlides/notesSlide14.xml" Id="R36ec8b32bcd840c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81ceb144ae94eff" /><Relationship Type="http://schemas.openxmlformats.org/officeDocument/2006/relationships/notesSlide" Target="/ppt/notesSlides/notesSlide15.xml" Id="R26eace4eb53547b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5bf77c5536f416e" /><Relationship Type="http://schemas.openxmlformats.org/officeDocument/2006/relationships/notesSlide" Target="/ppt/notesSlides/notesSlide16.xml" Id="Rfdec26c2de11465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2bc696fe50e403e" /><Relationship Type="http://schemas.openxmlformats.org/officeDocument/2006/relationships/notesSlide" Target="/ppt/notesSlides/notesSlide17.xml" Id="R070efa04c78c459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26cd86b01b845c8" /><Relationship Type="http://schemas.openxmlformats.org/officeDocument/2006/relationships/notesSlide" Target="/ppt/notesSlides/notesSlide18.xml" Id="R917d44c3419d486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39087678db74a7a" /><Relationship Type="http://schemas.openxmlformats.org/officeDocument/2006/relationships/hyperlink" Target="https://docs.google.com/forms/d/e/1FAIpQLSeXXoklBxEruaJB_K0Ydf_N_YgW4KV44-PEBMDCSkhUHyBI4g/viewform" TargetMode="External" Id="Re2e080cc94b04bae" /><Relationship Type="http://schemas.openxmlformats.org/officeDocument/2006/relationships/notesSlide" Target="/ppt/notesSlides/notesSlide19.xml" Id="R93d7cd2d64e04cd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a8676ee5c0c455f" /><Relationship Type="http://schemas.openxmlformats.org/officeDocument/2006/relationships/notesSlide" Target="/ppt/notesSlides/notesSlide20.xml" Id="R6968b707c39e40e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742dcb8350564dd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19A5E6E-BE13-4B14-BAF9-8380ABE4B44D}"/>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732B8A8-3AF3-42F7-BCF4-272031CF0C9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7</a:t>
            </a:r>
          </a:p>
        </p:txBody>
      </p:sp>
      <p:sp>
        <p:nvSpPr>
          <p:cNvPr id="4" name="">
            <a:extLst xmlns:a="http://schemas.openxmlformats.org/drawingml/2006/main">
              <a:ext uri="{FF2B5EF4-FFF2-40B4-BE49-F238E27FC236}">
                <a16:creationId xmlns:a16="http://schemas.microsoft.com/office/drawing/2014/main" id="{787D0640-D9F0-494E-947A-F7C2F980444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1</a:t>
            </a:r>
          </a:p>
        </p:txBody>
      </p:sp>
      <p:sp>
        <p:nvSpPr>
          <p:cNvPr id="5" name="">
            <a:extLst xmlns:a="http://schemas.openxmlformats.org/drawingml/2006/main">
              <a:ext uri="{FF2B5EF4-FFF2-40B4-BE49-F238E27FC236}">
                <a16:creationId xmlns:a16="http://schemas.microsoft.com/office/drawing/2014/main" id="{B01AA19B-E28D-48AB-AE23-BD733CF6D87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DAB93E6B-3D1E-43A8-8736-9FC6841EC46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23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73174985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64E8AA9-C0F3-4025-BA00-394C3D2150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EFDD04-C899-4DF4-9F13-AEB6F55FF9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A7EDDE69-D4F2-4E34-AC7B-E9C53F980F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F9336E8D-26B2-4D9C-9F4C-0C8AE1B6F0D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CCCAD8-0EBC-495E-8071-1FBED5E8D8E5}"/>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09B023A9-8548-469F-8124-6F0C4405D8C2}"/>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saving and reopening the required files.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published test rules before the session.</a:t>
            </a:r>
          </a:p>
        </p:txBody>
      </p:sp>
      <p:sp>
        <p:nvSpPr>
          <p:cNvPr id="7" name="">
            <a:extLst xmlns:a="http://schemas.openxmlformats.org/drawingml/2006/main">
              <a:ext uri="{FF2B5EF4-FFF2-40B4-BE49-F238E27FC236}">
                <a16:creationId xmlns:a16="http://schemas.microsoft.com/office/drawing/2014/main" id="{B91C9CA3-3573-43ED-81B2-65A7CD414B4B}"/>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B2022B68-FAF4-46A3-A83C-40CC3819D8EC}"/>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reopen your notebook and find code and typed reasoning without help.</a:t>
            </a:r>
          </a:p>
        </p:txBody>
      </p:sp>
      <p:sp>
        <p:nvSpPr>
          <p:cNvPr id="9" name="">
            <a:extLst xmlns:a="http://schemas.openxmlformats.org/drawingml/2006/main">
              <a:ext uri="{FF2B5EF4-FFF2-40B4-BE49-F238E27FC236}">
                <a16:creationId xmlns:a16="http://schemas.microsoft.com/office/drawing/2014/main" id="{8FDF20EC-30AC-4DB4-B0FD-CEB1D76AF8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a:t>
            </a:r>
          </a:p>
        </p:txBody>
      </p:sp>
    </p:spTree>
    <p:extLst>
      <p:ext uri="{BB962C8B-B14F-4D97-AF65-F5344CB8AC3E}">
        <p14:creationId xmlns:p14="http://schemas.microsoft.com/office/powerpoint/2010/main" val="1068757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45D76CD-E54F-4A7A-99D0-CE1F769A49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F8F715-5AE3-4858-84CD-1E56E5410B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1FDAD2-BD82-4795-8F18-C2E8AC7889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0C688590-AB25-41EA-9D63-2904835BEE3A}"/>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99927CA-EFB8-4754-9C98-998A269FFAB0}"/>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 you open the provided notebook and data on the prepared lab computer without internet?</a:t>
            </a:r>
          </a:p>
        </p:txBody>
      </p:sp>
      <p:sp>
        <p:nvSpPr>
          <p:cNvPr id="6" name="">
            <a:extLst xmlns:a="http://schemas.openxmlformats.org/drawingml/2006/main">
              <a:ext uri="{FF2B5EF4-FFF2-40B4-BE49-F238E27FC236}">
                <a16:creationId xmlns:a16="http://schemas.microsoft.com/office/drawing/2014/main" id="{A5737A7C-2DCD-463B-A080-934F590924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3</a:t>
            </a:r>
          </a:p>
        </p:txBody>
      </p:sp>
    </p:spTree>
    <p:extLst>
      <p:ext uri="{BB962C8B-B14F-4D97-AF65-F5344CB8AC3E}">
        <p14:creationId xmlns:p14="http://schemas.microsoft.com/office/powerpoint/2010/main" val="108534381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81155D5-0B61-43ED-9255-5ABDEE2753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DBBC8F-9A85-446C-AD6F-EC6D10A205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B72AFDA-6C27-4727-AB76-958A1AB8BB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Rehearse before test day</a:t>
            </a:r>
          </a:p>
        </p:txBody>
      </p:sp>
      <p:sp>
        <p:nvSpPr>
          <p:cNvPr id="4" name="">
            <a:extLst xmlns:a="http://schemas.openxmlformats.org/drawingml/2006/main">
              <a:ext uri="{FF2B5EF4-FFF2-40B4-BE49-F238E27FC236}">
                <a16:creationId xmlns:a16="http://schemas.microsoft.com/office/drawing/2014/main" id="{C389A939-3DEC-499A-908F-85A0D86AABE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4B36935-6072-42D2-AF68-4202F723D7D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separate practice notebook before the timed session.</a:t>
            </a:r>
          </a:p>
        </p:txBody>
      </p:sp>
      <p:sp>
        <p:nvSpPr>
          <p:cNvPr id="6" name="">
            <a:extLst xmlns:a="http://schemas.openxmlformats.org/drawingml/2006/main">
              <a:ext uri="{FF2B5EF4-FFF2-40B4-BE49-F238E27FC236}">
                <a16:creationId xmlns:a16="http://schemas.microsoft.com/office/drawing/2014/main" id="{6DFC53F8-666C-46F1-903D-85BB7816121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0388FB4-9B4B-4D7A-8D38-5180875C06B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supplied data and run a familiar calculation.</a:t>
            </a:r>
          </a:p>
        </p:txBody>
      </p:sp>
      <p:sp>
        <p:nvSpPr>
          <p:cNvPr id="8" name="">
            <a:extLst xmlns:a="http://schemas.openxmlformats.org/drawingml/2006/main">
              <a:ext uri="{FF2B5EF4-FFF2-40B4-BE49-F238E27FC236}">
                <a16:creationId xmlns:a16="http://schemas.microsoft.com/office/drawing/2014/main" id="{0F6D09DF-9A4C-4BCE-8902-A8830DAE5BD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0BB99D5-A8F6-46EB-8D1C-2616146469D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packet and permitted resources are issued by the lecturer.</a:t>
            </a:r>
          </a:p>
        </p:txBody>
      </p:sp>
      <p:sp>
        <p:nvSpPr>
          <p:cNvPr id="10" name="">
            <a:extLst xmlns:a="http://schemas.openxmlformats.org/drawingml/2006/main">
              <a:ext uri="{FF2B5EF4-FFF2-40B4-BE49-F238E27FC236}">
                <a16:creationId xmlns:a16="http://schemas.microsoft.com/office/drawing/2014/main" id="{C02A5315-DE7B-4570-8455-7A5D3598BF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a:t>
            </a:r>
          </a:p>
        </p:txBody>
      </p:sp>
    </p:spTree>
    <p:extLst>
      <p:ext uri="{BB962C8B-B14F-4D97-AF65-F5344CB8AC3E}">
        <p14:creationId xmlns:p14="http://schemas.microsoft.com/office/powerpoint/2010/main" val="123668124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9A6877-8756-4AC4-98A1-D3A84355CE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2C18ED-3FFC-481D-A6AE-D6012696D9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1A2DF56-EB58-405E-8F72-0E372D2AEA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the complete notebook</a:t>
            </a:r>
          </a:p>
        </p:txBody>
      </p:sp>
      <p:sp>
        <p:nvSpPr>
          <p:cNvPr id="4" name="">
            <a:extLst xmlns:a="http://schemas.openxmlformats.org/drawingml/2006/main">
              <a:ext uri="{FF2B5EF4-FFF2-40B4-BE49-F238E27FC236}">
                <a16:creationId xmlns:a16="http://schemas.microsoft.com/office/drawing/2014/main" id="{76B6DDF2-866E-4C23-A899-B23710EF382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3C3A8C-6919-46E2-AFE5-FF3A498F21D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6" name="">
            <a:extLst xmlns:a="http://schemas.openxmlformats.org/drawingml/2006/main">
              <a:ext uri="{FF2B5EF4-FFF2-40B4-BE49-F238E27FC236}">
                <a16:creationId xmlns:a16="http://schemas.microsoft.com/office/drawing/2014/main" id="{1E28E258-3D4A-4FA6-AA8A-F6F68C81F42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609C0D-853F-47A5-BB42-0B7B21DB904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complete notebook in the designated local folder.</a:t>
            </a:r>
          </a:p>
        </p:txBody>
      </p:sp>
      <p:sp>
        <p:nvSpPr>
          <p:cNvPr id="8" name="">
            <a:extLst xmlns:a="http://schemas.openxmlformats.org/drawingml/2006/main">
              <a:ext uri="{FF2B5EF4-FFF2-40B4-BE49-F238E27FC236}">
                <a16:creationId xmlns:a16="http://schemas.microsoft.com/office/drawing/2014/main" id="{A8E603DB-1BA8-4AD1-965B-DC65260C063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291CC71-7AD3-45E0-AC24-CE59E727417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Reopen it to check that code and written answers were saved.</a:t>
            </a:r>
          </a:p>
        </p:txBody>
      </p:sp>
      <p:sp>
        <p:nvSpPr>
          <p:cNvPr id="10" name="">
            <a:extLst xmlns:a="http://schemas.openxmlformats.org/drawingml/2006/main">
              <a:ext uri="{FF2B5EF4-FFF2-40B4-BE49-F238E27FC236}">
                <a16:creationId xmlns:a16="http://schemas.microsoft.com/office/drawing/2014/main" id="{163FF9B4-B938-4470-BE9C-AC09B74E13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a:t>
            </a:r>
          </a:p>
        </p:txBody>
      </p:sp>
    </p:spTree>
    <p:extLst>
      <p:ext uri="{BB962C8B-B14F-4D97-AF65-F5344CB8AC3E}">
        <p14:creationId xmlns:p14="http://schemas.microsoft.com/office/powerpoint/2010/main" val="154942762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4CD572-DF37-4B96-ADBA-043107A49A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FB9001-7574-4153-922E-8F4BC880E2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5BB512-936A-4DC1-AC8A-DAEE142268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 the published test procedure</a:t>
            </a:r>
          </a:p>
        </p:txBody>
      </p:sp>
      <p:sp>
        <p:nvSpPr>
          <p:cNvPr id="4" name="">
            <a:extLst xmlns:a="http://schemas.openxmlformats.org/drawingml/2006/main">
              <a:ext uri="{FF2B5EF4-FFF2-40B4-BE49-F238E27FC236}">
                <a16:creationId xmlns:a16="http://schemas.microsoft.com/office/drawing/2014/main" id="{F65DA905-589B-4E12-BE33-B035118118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BE40B1A-EF9B-49D2-80E1-225B0878DAE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briefing before starting assessed work.</a:t>
            </a:r>
          </a:p>
        </p:txBody>
      </p:sp>
      <p:sp>
        <p:nvSpPr>
          <p:cNvPr id="6" name="">
            <a:extLst xmlns:a="http://schemas.openxmlformats.org/drawingml/2006/main">
              <a:ext uri="{FF2B5EF4-FFF2-40B4-BE49-F238E27FC236}">
                <a16:creationId xmlns:a16="http://schemas.microsoft.com/office/drawing/2014/main" id="{2E09A0FF-2D84-41F4-9B7A-B6BADE784EC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993F158-D333-4000-97B5-886E28FEED9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only the resources permitted for that part of the test.</a:t>
            </a:r>
          </a:p>
        </p:txBody>
      </p:sp>
      <p:sp>
        <p:nvSpPr>
          <p:cNvPr id="8" name="">
            <a:extLst xmlns:a="http://schemas.openxmlformats.org/drawingml/2006/main">
              <a:ext uri="{FF2B5EF4-FFF2-40B4-BE49-F238E27FC236}">
                <a16:creationId xmlns:a16="http://schemas.microsoft.com/office/drawing/2014/main" id="{C2CD03B1-8DD1-4249-8D50-FD81F35B5CA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DE66347-22A5-4389-9E80-64C14833B8D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a technical failure to the invigilator immediately.</a:t>
            </a:r>
          </a:p>
        </p:txBody>
      </p:sp>
      <p:sp>
        <p:nvSpPr>
          <p:cNvPr id="10" name="">
            <a:extLst xmlns:a="http://schemas.openxmlformats.org/drawingml/2006/main">
              <a:ext uri="{FF2B5EF4-FFF2-40B4-BE49-F238E27FC236}">
                <a16:creationId xmlns:a16="http://schemas.microsoft.com/office/drawing/2014/main" id="{DB1391B5-DDBA-4B41-8142-D95D9D662E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a:t>
            </a:r>
          </a:p>
        </p:txBody>
      </p:sp>
    </p:spTree>
    <p:extLst>
      <p:ext uri="{BB962C8B-B14F-4D97-AF65-F5344CB8AC3E}">
        <p14:creationId xmlns:p14="http://schemas.microsoft.com/office/powerpoint/2010/main" val="41805296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DEDA06E-A4A7-4846-BA03-A2960301E0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1ADC5FA-AFE4-48E6-B793-19F21BC475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B05F07C-A4F4-46BD-8E29-53A3E4F970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62A4A4B1-8A69-44C1-868C-3E3652E042A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FDE70F-7EC9-41C8-9EEC-7B9913833A0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[3,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print(sum(values) / len(values))</a:t>
            </a:r>
          </a:p>
        </p:txBody>
      </p:sp>
      <p:sp>
        <p:nvSpPr>
          <p:cNvPr id="6" name="">
            <a:extLst xmlns:a="http://schemas.openxmlformats.org/drawingml/2006/main">
              <a:ext uri="{FF2B5EF4-FFF2-40B4-BE49-F238E27FC236}">
                <a16:creationId xmlns:a16="http://schemas.microsoft.com/office/drawing/2014/main" id="{85D241E9-407A-43EC-8002-31B6F1C90CD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88EDECD-3256-4798-AC6B-9EDEEE01A06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14B23728-4D45-4221-BC2E-92DEA0B6C2D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E35037A0-3FC6-4EC7-A6DB-AF4990ED4599}"/>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635FD801-C42F-4D34-B742-E998B2805A8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37A24A2A-F451-4D1A-9C36-FA112A2123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7</a:t>
            </a:r>
          </a:p>
        </p:txBody>
      </p:sp>
    </p:spTree>
    <p:extLst>
      <p:ext uri="{BB962C8B-B14F-4D97-AF65-F5344CB8AC3E}">
        <p14:creationId xmlns:p14="http://schemas.microsoft.com/office/powerpoint/2010/main" val="140824917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E9DCCF7-7317-4296-A4A9-C998CF7521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CB151E-FCAC-48EA-84BC-8529B3881A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CF3C170-9870-4AB3-B7F8-36DA3B900B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52E3E859-454A-4476-B373-A1E4EC4C14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1579F0-6021-402B-8977-449F251B453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0D014450-4EC0-4DFE-9A97-126FF8E7807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D5009FF-466C-417D-B9F1-93990874339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11615EDA-EF52-43A2-923C-FACD1F1EDA9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663D420-02C3-41EF-B1AC-E00AC0A16E9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34F896CB-FC51-4A77-B6AF-71CA87240CD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FC86C89-0906-4181-B461-BFE109EAFD8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0749709D-0227-4BFE-AE6B-C4D3E161A32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8</a:t>
            </a:r>
          </a:p>
        </p:txBody>
      </p:sp>
    </p:spTree>
    <p:extLst>
      <p:ext uri="{BB962C8B-B14F-4D97-AF65-F5344CB8AC3E}">
        <p14:creationId xmlns:p14="http://schemas.microsoft.com/office/powerpoint/2010/main" val="154411422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44DD3BC-4102-4C84-983E-59BAE838F8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7283FE-3567-4FF3-ADCB-604ECD98FA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A6891E9-AC60-4A35-ABED-1F94D7D06D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7D2671EE-ECE6-4671-A368-C6C867F7998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3E218F-ADE6-4090-9D1C-801E0B3AC9F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8BE534B-50E7-4CF1-ABD2-BB1A5578E1C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learner completes the offline save-and-reopen rehearsal.</a:t>
            </a:r>
          </a:p>
        </p:txBody>
      </p:sp>
      <p:sp>
        <p:nvSpPr>
          <p:cNvPr id="7" name="">
            <a:extLst xmlns:a="http://schemas.openxmlformats.org/drawingml/2006/main">
              <a:ext uri="{FF2B5EF4-FFF2-40B4-BE49-F238E27FC236}">
                <a16:creationId xmlns:a16="http://schemas.microsoft.com/office/drawing/2014/main" id="{1CD87F29-94D9-4E32-80B4-C299E751AAD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Escalate lab-access failures before the test.</a:t>
            </a:r>
          </a:p>
        </p:txBody>
      </p:sp>
      <p:sp>
        <p:nvSpPr>
          <p:cNvPr id="8" name="">
            <a:extLst xmlns:a="http://schemas.openxmlformats.org/drawingml/2006/main">
              <a:ext uri="{FF2B5EF4-FFF2-40B4-BE49-F238E27FC236}">
                <a16:creationId xmlns:a16="http://schemas.microsoft.com/office/drawing/2014/main" id="{F0B81136-8912-493B-91DD-E7CC3F534D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9</a:t>
            </a:r>
          </a:p>
        </p:txBody>
      </p:sp>
    </p:spTree>
    <p:extLst>
      <p:ext uri="{BB962C8B-B14F-4D97-AF65-F5344CB8AC3E}">
        <p14:creationId xmlns:p14="http://schemas.microsoft.com/office/powerpoint/2010/main" val="170829921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E3A9482-4E82-4F90-8C39-E5EDC26030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D6BE69-1FF9-4235-86C7-CFC3B07C83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B2ECF43-9B96-4FFF-B572-FB981D512B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983DA6E7-0AE4-4537-84C1-58C62DEE51D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29E54C-7F1F-406F-B0CF-14510F88C4A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official TEST1 brief, interfaces and rubric.</a:t>
            </a:r>
          </a:p>
        </p:txBody>
      </p:sp>
      <p:sp>
        <p:nvSpPr>
          <p:cNvPr id="6" name="">
            <a:extLst xmlns:a="http://schemas.openxmlformats.org/drawingml/2006/main">
              <a:ext uri="{FF2B5EF4-FFF2-40B4-BE49-F238E27FC236}">
                <a16:creationId xmlns:a16="http://schemas.microsoft.com/office/drawing/2014/main" id="{105058B8-48ED-4C10-9A52-14ED8D8F45B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1D7BFE-8CB3-438C-8566-90235B6FD67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assessed period has 120 practical minutes and 25 typed reasoning minutes.</a:t>
            </a:r>
          </a:p>
        </p:txBody>
      </p:sp>
      <p:sp>
        <p:nvSpPr>
          <p:cNvPr id="8" name="">
            <a:extLst xmlns:a="http://schemas.openxmlformats.org/drawingml/2006/main">
              <a:ext uri="{FF2B5EF4-FFF2-40B4-BE49-F238E27FC236}">
                <a16:creationId xmlns:a16="http://schemas.microsoft.com/office/drawing/2014/main" id="{981ECA14-84FB-4138-9F55-C42FC95C964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AD2B0B-1D1B-474A-A58D-34E94A24F59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Your lecturer will issue the test packet and collection instructions.</a:t>
            </a:r>
          </a:p>
        </p:txBody>
      </p:sp>
      <p:sp>
        <p:nvSpPr>
          <p:cNvPr id="10" name="">
            <a:extLst xmlns:a="http://schemas.openxmlformats.org/drawingml/2006/main">
              <a:ext uri="{FF2B5EF4-FFF2-40B4-BE49-F238E27FC236}">
                <a16:creationId xmlns:a16="http://schemas.microsoft.com/office/drawing/2014/main" id="{7EAA47F5-E166-4F9D-9637-A2CEE35208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10</a:t>
            </a:r>
          </a:p>
        </p:txBody>
      </p:sp>
    </p:spTree>
    <p:extLst>
      <p:ext uri="{BB962C8B-B14F-4D97-AF65-F5344CB8AC3E}">
        <p14:creationId xmlns:p14="http://schemas.microsoft.com/office/powerpoint/2010/main" val="107062170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37F877A-EAE0-429B-A6BE-31C67A8DF8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3073A0-5E77-45A1-BCC6-C226B97B19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75CFEF-47D8-4FB7-8ADA-46FFD885F9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a:t>
            </a:r>
          </a:p>
        </p:txBody>
      </p:sp>
      <p:sp>
        <p:nvSpPr>
          <p:cNvPr id="4" name="">
            <a:extLst xmlns:a="http://schemas.openxmlformats.org/drawingml/2006/main">
              <a:ext uri="{FF2B5EF4-FFF2-40B4-BE49-F238E27FC236}">
                <a16:creationId xmlns:a16="http://schemas.microsoft.com/office/drawing/2014/main" id="{2E097BBC-A3C6-4831-9451-AF103087717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3DB752-9CF7-4641-932D-1E240780078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BC2D02E8-8C64-4B6A-8086-E5DD23C614C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43885DF-7FE2-4648-8885-E4EA24E097B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6F4017F3-3761-483D-A689-65EE6F4C55F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93C19B6-407E-4B31-A2A1-3A71568C3DD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86491E51-1F69-4626-9C1F-471C64101EB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96BB2D6-6DC8-4802-A3C5-CCB6D541D17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59A73C74-CCD0-4A7E-9A65-31257EC50C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11</a:t>
            </a:r>
          </a:p>
        </p:txBody>
      </p:sp>
    </p:spTree>
    <p:extLst>
      <p:ext uri="{BB962C8B-B14F-4D97-AF65-F5344CB8AC3E}">
        <p14:creationId xmlns:p14="http://schemas.microsoft.com/office/powerpoint/2010/main" val="15209719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1811603-4A51-4934-A2D0-D8C1830E28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6AEB7E-8BDA-402C-9B8C-2B70B139CC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35996A-895D-42C9-8AA6-942CE707EE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8EF9DCB1-45A3-4695-8E13-78680ED8CE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41074B-DC57-4385-A076-A6A2015B7AB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0C43D258-D931-474E-AD09-CFFDB7A7A26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0DA04E-32A8-4CC9-A241-9A45C9C1408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506BA73E-EC8F-4379-9EA5-1E7E4CC4219C}"/>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ECEFB1A-9EB2-4B84-B5FC-7BC8D6555B6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F851CA4D-2BEB-4CCA-AF75-ED6D47C03D0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AC6640F-5E3C-4DE8-B9F2-FB6BA86AAB2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257CB071-7B28-4702-B260-49D6C56683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12</a:t>
            </a:r>
          </a:p>
        </p:txBody>
      </p:sp>
    </p:spTree>
    <p:extLst>
      <p:ext uri="{BB962C8B-B14F-4D97-AF65-F5344CB8AC3E}">
        <p14:creationId xmlns:p14="http://schemas.microsoft.com/office/powerpoint/2010/main" val="197476109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57F1D5F-9188-4396-89BE-CA36AB7C5B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7F9A7D-A42E-4939-BFCC-6668D21241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154362-0575-4134-82F8-C93B47E234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6BDFC4CB-263B-4C35-8217-65259F1E10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B58927-252E-4621-BEA0-AADF092B9A6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xmlns:a="http://schemas.openxmlformats.org/drawingml/2006/main">
              <a:ext uri="{FF2B5EF4-FFF2-40B4-BE49-F238E27FC236}">
                <a16:creationId xmlns:a16="http://schemas.microsoft.com/office/drawing/2014/main" id="{34774F70-DBFE-4240-8B2F-EFDEC2D4984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DF27832-A56E-4741-81E2-3E9848D85A9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Loading &amp; profiling (15.0 total): Data loaded correctly; shape, types and summary produced; the dataset is described accurately in the student's own words.</a:t>
            </a:r>
          </a:p>
        </p:txBody>
      </p:sp>
      <p:sp>
        <p:nvSpPr>
          <p:cNvPr id="8" name="">
            <a:extLst xmlns:a="http://schemas.openxmlformats.org/drawingml/2006/main">
              <a:ext uri="{FF2B5EF4-FFF2-40B4-BE49-F238E27FC236}">
                <a16:creationId xmlns:a16="http://schemas.microsoft.com/office/drawing/2014/main" id="{C3EC5A7D-A02B-46EC-A47E-04F4CA0D723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13C46DC-2380-4B85-A95E-09BEC87C7B6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Cleaning decisions &amp; justification (20.0 total): Defects found.</a:t>
            </a:r>
          </a:p>
        </p:txBody>
      </p:sp>
      <p:sp>
        <p:nvSpPr>
          <p:cNvPr id="10" name="">
            <a:extLst xmlns:a="http://schemas.openxmlformats.org/drawingml/2006/main">
              <a:ext uri="{FF2B5EF4-FFF2-40B4-BE49-F238E27FC236}">
                <a16:creationId xmlns:a16="http://schemas.microsoft.com/office/drawing/2014/main" id="{7B0B0348-50EB-40C6-94F9-5A623C6AEE3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3B1D4F2-9585-4AD5-B9ED-F49E5CBA277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handling decision stated AND justified.</a:t>
            </a:r>
          </a:p>
        </p:txBody>
      </p:sp>
      <p:sp>
        <p:nvSpPr>
          <p:cNvPr id="12" name="">
            <a:extLst xmlns:a="http://schemas.openxmlformats.org/drawingml/2006/main">
              <a:ext uri="{FF2B5EF4-FFF2-40B4-BE49-F238E27FC236}">
                <a16:creationId xmlns:a16="http://schemas.microsoft.com/office/drawing/2014/main" id="{3E366F66-6B23-41BE-AB4E-D2A3CA525D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13</a:t>
            </a:r>
          </a:p>
        </p:txBody>
      </p:sp>
    </p:spTree>
    <p:extLst>
      <p:ext uri="{BB962C8B-B14F-4D97-AF65-F5344CB8AC3E}">
        <p14:creationId xmlns:p14="http://schemas.microsoft.com/office/powerpoint/2010/main" val="110151256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68EEA9E-E20F-46C0-BBE2-B150959F7C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63FA5B-1140-4D46-8B37-4B36D25706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25331C-C8D9-42D4-A049-A06DA67704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FE627C2E-3448-4303-AB4F-5FA9DE0AF8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9EE0806-3BB7-42B7-8635-AF8712C594C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Marks are for the justification - an unjustified correct fix scores roughly half.</a:t>
            </a:r>
          </a:p>
        </p:txBody>
      </p:sp>
      <p:sp>
        <p:nvSpPr>
          <p:cNvPr id="6" name="">
            <a:extLst xmlns:a="http://schemas.openxmlformats.org/drawingml/2006/main">
              <a:ext uri="{FF2B5EF4-FFF2-40B4-BE49-F238E27FC236}">
                <a16:creationId xmlns:a16="http://schemas.microsoft.com/office/drawing/2014/main" id="{45C67D54-4614-46F2-8429-6C89A5E5F70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B57338F-3BCD-43A3-B405-8A9EACAAFE9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Visualisation (20.0 total): Three charts, each captioned with the question it answers.</a:t>
            </a:r>
          </a:p>
        </p:txBody>
      </p:sp>
      <p:sp>
        <p:nvSpPr>
          <p:cNvPr id="8" name="">
            <a:extLst xmlns:a="http://schemas.openxmlformats.org/drawingml/2006/main">
              <a:ext uri="{FF2B5EF4-FFF2-40B4-BE49-F238E27FC236}">
                <a16:creationId xmlns:a16="http://schemas.microsoft.com/office/drawing/2014/main" id="{1225EA67-18A2-47D0-B338-99064F07DEA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6D48147-8330-433D-B216-4AC46D3B861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a:t>
            </a:r>
          </a:p>
        </p:txBody>
      </p:sp>
      <p:sp>
        <p:nvSpPr>
          <p:cNvPr id="10" name="">
            <a:extLst xmlns:a="http://schemas.openxmlformats.org/drawingml/2006/main">
              <a:ext uri="{FF2B5EF4-FFF2-40B4-BE49-F238E27FC236}">
                <a16:creationId xmlns:a16="http://schemas.microsoft.com/office/drawing/2014/main" id="{D0538980-29D8-40BB-9D96-7D4CE37642E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CA9C7C1-CFE5-4FBC-BADB-169F23AEAFD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Axes labelled with units.</a:t>
            </a:r>
          </a:p>
        </p:txBody>
      </p:sp>
      <p:sp>
        <p:nvSpPr>
          <p:cNvPr id="12" name="">
            <a:extLst xmlns:a="http://schemas.openxmlformats.org/drawingml/2006/main">
              <a:ext uri="{FF2B5EF4-FFF2-40B4-BE49-F238E27FC236}">
                <a16:creationId xmlns:a16="http://schemas.microsoft.com/office/drawing/2014/main" id="{F9301664-9D23-4BD9-875F-A3B340A524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14</a:t>
            </a:r>
          </a:p>
        </p:txBody>
      </p:sp>
    </p:spTree>
    <p:extLst>
      <p:ext uri="{BB962C8B-B14F-4D97-AF65-F5344CB8AC3E}">
        <p14:creationId xmlns:p14="http://schemas.microsoft.com/office/powerpoint/2010/main" val="82899841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B2984A3-BF24-46F5-A630-0F8EEDC17E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E43960-487A-4AC0-8538-70EBE7F238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A946C4-23E5-47C4-83C1-8EEC07C521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E2F34793-BECF-4037-98B8-7F047AB71B7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D1D893F-CD2E-4A8A-A37B-515C51A2AAC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decoration without purpose.</a:t>
            </a:r>
          </a:p>
        </p:txBody>
      </p:sp>
      <p:sp>
        <p:nvSpPr>
          <p:cNvPr id="6" name="">
            <a:extLst xmlns:a="http://schemas.openxmlformats.org/drawingml/2006/main">
              <a:ext uri="{FF2B5EF4-FFF2-40B4-BE49-F238E27FC236}">
                <a16:creationId xmlns:a16="http://schemas.microsoft.com/office/drawing/2014/main" id="{4D8DEFE7-D961-4839-A6A7-9BDD979FE70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C0A7D5-43D2-48A1-8A62-383B433A8E0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(20.0 total): Five findings, supported by evidence from the data, stated with correct magnitudes and units.</a:t>
            </a:r>
          </a:p>
        </p:txBody>
      </p:sp>
      <p:sp>
        <p:nvSpPr>
          <p:cNvPr id="8" name="">
            <a:extLst xmlns:a="http://schemas.openxmlformats.org/drawingml/2006/main">
              <a:ext uri="{FF2B5EF4-FFF2-40B4-BE49-F238E27FC236}">
                <a16:creationId xmlns:a16="http://schemas.microsoft.com/office/drawing/2014/main" id="{B5C3489B-78B5-42ED-8E8A-19E5D2055B8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0A9F347-F3EB-4775-B498-537FD88B5BD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wrong number loses the mark even if the method was right.</a:t>
            </a:r>
          </a:p>
        </p:txBody>
      </p:sp>
      <p:sp>
        <p:nvSpPr>
          <p:cNvPr id="10" name="">
            <a:extLst xmlns:a="http://schemas.openxmlformats.org/drawingml/2006/main">
              <a:ext uri="{FF2B5EF4-FFF2-40B4-BE49-F238E27FC236}">
                <a16:creationId xmlns:a16="http://schemas.microsoft.com/office/drawing/2014/main" id="{3B67CEE4-4029-4739-9061-80856CEBE52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B315239-AF0C-4E56-B73E-63F5ABCDFFC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(15.0 total): One recommendation that an engineer could act on, plus a clear statement of what further data would be needed.</a:t>
            </a:r>
          </a:p>
        </p:txBody>
      </p:sp>
      <p:sp>
        <p:nvSpPr>
          <p:cNvPr id="12" name="">
            <a:extLst xmlns:a="http://schemas.openxmlformats.org/drawingml/2006/main">
              <a:ext uri="{FF2B5EF4-FFF2-40B4-BE49-F238E27FC236}">
                <a16:creationId xmlns:a16="http://schemas.microsoft.com/office/drawing/2014/main" id="{3433B0DE-14BA-4625-9AF6-A02FA08D02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15</a:t>
            </a:r>
          </a:p>
        </p:txBody>
      </p:sp>
    </p:spTree>
    <p:extLst>
      <p:ext uri="{BB962C8B-B14F-4D97-AF65-F5344CB8AC3E}">
        <p14:creationId xmlns:p14="http://schemas.microsoft.com/office/powerpoint/2010/main" val="117207972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FDA7B7B-231D-4962-9707-1BC5D06100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5D01F6-73F7-449B-B487-276DDFC4EC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3F4951E-6DA6-4029-AA04-940056D74E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5C3C8FB3-4AA2-412C-9A38-6F836B9FDCA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93FD19-4B53-4E34-A242-88965728FA1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Clarity &amp; reproducibility (10.0 total): Notebook runs top to bottom.</a:t>
            </a:r>
          </a:p>
        </p:txBody>
      </p:sp>
      <p:sp>
        <p:nvSpPr>
          <p:cNvPr id="6" name="">
            <a:extLst xmlns:a="http://schemas.openxmlformats.org/drawingml/2006/main">
              <a:ext uri="{FF2B5EF4-FFF2-40B4-BE49-F238E27FC236}">
                <a16:creationId xmlns:a16="http://schemas.microsoft.com/office/drawing/2014/main" id="{053E284A-E37C-41F7-BB25-DA5EE7EE71C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1723338-BAF3-42D4-9E92-E712030D39A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Logical order.</a:t>
            </a:r>
          </a:p>
        </p:txBody>
      </p:sp>
      <p:sp>
        <p:nvSpPr>
          <p:cNvPr id="8" name="">
            <a:extLst xmlns:a="http://schemas.openxmlformats.org/drawingml/2006/main">
              <a:ext uri="{FF2B5EF4-FFF2-40B4-BE49-F238E27FC236}">
                <a16:creationId xmlns:a16="http://schemas.microsoft.com/office/drawing/2014/main" id="{5F3A8D6C-5B3D-4166-AD8F-AFC1BC2B140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AA4C441-D2A3-4FA9-9F78-1606BF97696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Markdown explains intent.</a:t>
            </a:r>
          </a:p>
        </p:txBody>
      </p:sp>
      <p:sp>
        <p:nvSpPr>
          <p:cNvPr id="10" name="">
            <a:extLst xmlns:a="http://schemas.openxmlformats.org/drawingml/2006/main">
              <a:ext uri="{FF2B5EF4-FFF2-40B4-BE49-F238E27FC236}">
                <a16:creationId xmlns:a16="http://schemas.microsoft.com/office/drawing/2014/main" id="{0E564744-486D-44E9-A77B-B4B1C6DA6D9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D4176F2-D2D0-46E8-AC50-D7006B61BF3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dead code.</a:t>
            </a:r>
          </a:p>
        </p:txBody>
      </p:sp>
      <p:sp>
        <p:nvSpPr>
          <p:cNvPr id="12" name="">
            <a:extLst xmlns:a="http://schemas.openxmlformats.org/drawingml/2006/main">
              <a:ext uri="{FF2B5EF4-FFF2-40B4-BE49-F238E27FC236}">
                <a16:creationId xmlns:a16="http://schemas.microsoft.com/office/drawing/2014/main" id="{B33D345F-8C53-443F-A6A7-BC9E88ECEA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16</a:t>
            </a:r>
          </a:p>
        </p:txBody>
      </p:sp>
    </p:spTree>
    <p:extLst>
      <p:ext uri="{BB962C8B-B14F-4D97-AF65-F5344CB8AC3E}">
        <p14:creationId xmlns:p14="http://schemas.microsoft.com/office/powerpoint/2010/main" val="26029055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AB8F3D6-1A99-4D78-AE4E-08C7221461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FE18BB-49D0-4230-8121-147D945F26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262B0A5-DDD7-4AB9-B532-1CD5B6352E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252A0B76-E557-4CBE-90EA-8669BAC37CA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F3A8A32-C0A6-4CD3-A027-EA6CF8B3B4A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39677937-A10F-4AE6-96D3-8536BE8F6E8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BBADFCC-F19A-4FD7-BC84-70982C013C5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FD03E4F0-A610-4199-A362-24EAE406747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06E1C91-AC0D-4BE6-927C-25E5BBF3EED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AD9F5077-CFDD-4422-9255-3F2B8B9E6B8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CAAD10E-8BB5-4630-9114-866B1C07B3E7}"/>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EAE8FA2C-1973-46DE-AB3D-C96093E87F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17</a:t>
            </a:r>
          </a:p>
        </p:txBody>
      </p:sp>
    </p:spTree>
    <p:extLst>
      <p:ext uri="{BB962C8B-B14F-4D97-AF65-F5344CB8AC3E}">
        <p14:creationId xmlns:p14="http://schemas.microsoft.com/office/powerpoint/2010/main" val="106019402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D0B5C65-697D-4EAC-ABA2-10089B5E65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85905B-B9A0-496B-8B65-1C740AAAE5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7B2D6B8-9369-4731-9CD2-255DF3A713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FF2A7258-8D17-41CF-890E-A46C839F429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A408BF-795B-43FC-88E4-82EB71CDE11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081509E3-996D-4D7F-810B-109F53B2155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BEA4F34-5B4F-4495-B039-7EA83D98B64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8E62114E-CFA6-4279-98EA-3A7F728A75E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5C60A0C-C123-4B6B-85E0-5939CF6DAFB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6EA5DA61-2934-4674-A972-78C4C873111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891A7DB-CEB8-4F28-8BEA-E6D8B6C967B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B794E443-33AA-4FF2-9BFC-DB0C98B4DE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18</a:t>
            </a:r>
          </a:p>
        </p:txBody>
      </p:sp>
    </p:spTree>
    <p:extLst>
      <p:ext uri="{BB962C8B-B14F-4D97-AF65-F5344CB8AC3E}">
        <p14:creationId xmlns:p14="http://schemas.microsoft.com/office/powerpoint/2010/main" val="204515982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82233A3-A963-4CDC-947F-604E8ECF02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9D14E9-0F70-4EA4-A415-22418AE32B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C11E84D-2099-45D7-8FB0-1B67C8D98A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submission</a:t>
            </a:r>
          </a:p>
        </p:txBody>
      </p:sp>
      <p:sp>
        <p:nvSpPr>
          <p:cNvPr id="4" name="">
            <a:extLst xmlns:a="http://schemas.openxmlformats.org/drawingml/2006/main">
              <a:ext uri="{FF2B5EF4-FFF2-40B4-BE49-F238E27FC236}">
                <a16:creationId xmlns:a16="http://schemas.microsoft.com/office/drawing/2014/main" id="{F475360B-D0DA-4E30-9518-51177244F62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9ABB0A-37B8-4A29-AFD8-B6657A6491E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xmlns:a="http://schemas.openxmlformats.org/drawingml/2006/main">
              <a:ext uri="{FF2B5EF4-FFF2-40B4-BE49-F238E27FC236}">
                <a16:creationId xmlns:a16="http://schemas.microsoft.com/office/drawing/2014/main" id="{43FD0DAC-CD9F-454B-9048-D94B0049871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D6C8A27-8EC2-445F-B7D3-87B7D0C8792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xmlns:a="http://schemas.openxmlformats.org/drawingml/2006/main">
              <a:ext uri="{FF2B5EF4-FFF2-40B4-BE49-F238E27FC236}">
                <a16:creationId xmlns:a16="http://schemas.microsoft.com/office/drawing/2014/main" id="{67E37214-A610-4CFF-B035-62317773FFF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26101CB-C28A-4EA8-9F53-D893037755A1}"/>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xmlns:a="http://schemas.openxmlformats.org/drawingml/2006/main">
              <a:ext uri="{FF2B5EF4-FFF2-40B4-BE49-F238E27FC236}">
                <a16:creationId xmlns:a16="http://schemas.microsoft.com/office/drawing/2014/main" id="{002B3782-BEA8-4DC6-8F17-0C4BFEBB8416}"/>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DE2D2FA-2033-450F-A2CE-86480FB2418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xmlns:a="http://schemas.openxmlformats.org/drawingml/2006/main">
              <a:ext uri="{FF2B5EF4-FFF2-40B4-BE49-F238E27FC236}">
                <a16:creationId xmlns:a16="http://schemas.microsoft.com/office/drawing/2014/main" id="{A122E267-F44A-4AD5-8598-999F097D27A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B781832-01C0-423E-AC38-81E020FFCC2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2e080cc94b04bae"/>
              </a:rPr>
              <a:t>Open TEST1 assignment form</a:t>
            </a:r>
          </a:p>
        </p:txBody>
      </p:sp>
      <p:sp>
        <p:nvSpPr>
          <p:cNvPr id="14" name="">
            <a:extLst xmlns:a="http://schemas.openxmlformats.org/drawingml/2006/main">
              <a:ext uri="{FF2B5EF4-FFF2-40B4-BE49-F238E27FC236}">
                <a16:creationId xmlns:a16="http://schemas.microsoft.com/office/drawing/2014/main" id="{B2D52BDF-4083-4210-AD07-593F0247308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https://docs.google.com/forms/d/e/1FAIpQLSeXXoklBxEruaJB_K0Ydf_N_YgW4KV44-PEBMDCSkhUHyBI4g/viewform</a:t>
            </a:r>
          </a:p>
        </p:txBody>
      </p:sp>
      <p:sp>
        <p:nvSpPr>
          <p:cNvPr id="15" name="">
            <a:extLst xmlns:a="http://schemas.openxmlformats.org/drawingml/2006/main">
              <a:ext uri="{FF2B5EF4-FFF2-40B4-BE49-F238E27FC236}">
                <a16:creationId xmlns:a16="http://schemas.microsoft.com/office/drawing/2014/main" id="{DBA1B981-2713-4996-A94D-E00B1BB6D4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19</a:t>
            </a:r>
          </a:p>
        </p:txBody>
      </p:sp>
    </p:spTree>
    <p:extLst>
      <p:ext uri="{BB962C8B-B14F-4D97-AF65-F5344CB8AC3E}">
        <p14:creationId xmlns:p14="http://schemas.microsoft.com/office/powerpoint/2010/main" val="626412230"/>
      </p:ext>
    </p:extLst>
  </p:cSld>
</p:sld>
</file>

<file path=ppt/slides/slide2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37E2563A-2976-4E4F-A621-F1A19FB1A533}"/>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35436F5E-AE75-477A-8F01-615BAB195E50}"/>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0B743223-F546-4D1D-B831-71CEF25D7334}"/>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3EBD26B2-72A8-4634-9BB9-D8EAEB398D93}"/>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reopen your notebook and find code and typed reasoning without help.</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A9A48E64-1467-4145-B0EC-706798BE82C4}"/>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A8468AA7-E6ED-43B8-86C9-F1AB50789D67}"/>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7   20</a:t>
            </a:r>
          </a:p>
        </p:txBody>
      </p:sp>
    </p:spTree>
    <p:extLst>
      <p:ext uri="{BB962C8B-B14F-4D97-AF65-F5344CB8AC3E}">
        <ns3:creationId val="17571193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2026-09-28T21:43:52.8240000Z</dcterms:created>
  <dcterms:modified xsi:type="dcterms:W3CDTF">2026-09-28T21:43:52.8240000Z</dcterms:modified>
</coreProperties>
</file>