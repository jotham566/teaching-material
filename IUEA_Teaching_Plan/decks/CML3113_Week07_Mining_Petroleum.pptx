
<file path=[Content_Types].xml><?xml version="1.0" encoding="utf-8"?>
<Types xmlns="http://schemas.openxmlformats.org/package/2006/content-types">
  <Default Extension="xml" ContentType="application/vnd.openxmlformats-package.core-properties+xml"/>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1ad17c5242664b3e" /><Relationship Type="http://schemas.openxmlformats.org/officeDocument/2006/relationships/extended-properties" Target="/docProps/app.xml" Id="R29282484829f4818" /><Relationship Type="http://schemas.openxmlformats.org/officeDocument/2006/relationships/officeDocument" Target="/ppt/presentation.xml" Id="Recd8240798ac4763" /></Relationships>
</file>

<file path=ppt/presentation.xml><?xml version="1.0" encoding="utf-8"?>
<p:presentation xmlns:p="http://schemas.openxmlformats.org/presentationml/2006/main">
  <p:sldMasterIdLst>
    <p:sldMasterId xmlns:r="http://schemas.openxmlformats.org/officeDocument/2006/relationships" id="2147483648" r:id="Rb1cc0f68bf654f42"/>
  </p:sldMasterIdLst>
  <p:notesMasterIdLst>
    <p:notesMasterId xmlns:r="http://schemas.openxmlformats.org/officeDocument/2006/relationships" r:id="Rff7dc451adf64cf8"/>
  </p:notesMasterIdLst>
  <p:sldIdLst>
    <p:sldId xmlns:r="http://schemas.openxmlformats.org/officeDocument/2006/relationships" id="256" r:id="R749921d3f0be4fd0"/>
    <p:sldId xmlns:r="http://schemas.openxmlformats.org/officeDocument/2006/relationships" id="257" r:id="Rba6a7f5a70224900"/>
    <p:sldId xmlns:r="http://schemas.openxmlformats.org/officeDocument/2006/relationships" id="258" r:id="R1db3203d8cf04f48"/>
    <p:sldId xmlns:r="http://schemas.openxmlformats.org/officeDocument/2006/relationships" id="259" r:id="Rcfcb4bb428804220"/>
    <p:sldId xmlns:r="http://schemas.openxmlformats.org/officeDocument/2006/relationships" id="260" r:id="R5f504585344f4513"/>
    <p:sldId xmlns:r="http://schemas.openxmlformats.org/officeDocument/2006/relationships" id="261" r:id="R50e070cef0a34635"/>
    <p:sldId xmlns:r="http://schemas.openxmlformats.org/officeDocument/2006/relationships" id="262" r:id="Rfc95eeb05f864e7b"/>
    <p:sldId xmlns:r="http://schemas.openxmlformats.org/officeDocument/2006/relationships" id="263" r:id="R6bc3c20a1b624aab"/>
    <p:sldId xmlns:r="http://schemas.openxmlformats.org/officeDocument/2006/relationships" id="264" r:id="R307df08bfa7c4b26"/>
    <p:sldId xmlns:r="http://schemas.openxmlformats.org/officeDocument/2006/relationships" id="265" r:id="R297af0b8019a4c41"/>
    <p:sldId xmlns:r="http://schemas.openxmlformats.org/officeDocument/2006/relationships" id="266" r:id="Rd3db44fc7e6d4f02"/>
    <p:sldId xmlns:r="http://schemas.openxmlformats.org/officeDocument/2006/relationships" id="267" r:id="Rd43a134051ec4817"/>
    <p:sldId xmlns:r="http://schemas.openxmlformats.org/officeDocument/2006/relationships" id="268" r:id="R144c33d090214a0f"/>
    <p:sldId xmlns:r="http://schemas.openxmlformats.org/officeDocument/2006/relationships" id="269" r:id="R75573fb2ac174523"/>
    <p:sldId xmlns:r="http://schemas.openxmlformats.org/officeDocument/2006/relationships" id="270" r:id="R3cde5942381e40d6"/>
    <p:sldId xmlns:r="http://schemas.openxmlformats.org/officeDocument/2006/relationships" id="271" r:id="Ra6dba4648e73458a"/>
    <p:sldId xmlns:r="http://schemas.openxmlformats.org/officeDocument/2006/relationships" id="272" r:id="R4a91cf2dd8da4880"/>
    <p:sldId xmlns:r="http://schemas.openxmlformats.org/officeDocument/2006/relationships" id="273" r:id="Rec9982a0197f41a9"/>
    <p:sldId xmlns:r="http://schemas.openxmlformats.org/officeDocument/2006/relationships" id="274" r:id="R3672e30f779e42d6"/>
    <p:sldId xmlns:r="http://schemas.openxmlformats.org/officeDocument/2006/relationships" id="275" r:id="R4e74fd2cb6814ed3"/>
    <p:sldId xmlns:r="http://schemas.openxmlformats.org/officeDocument/2006/relationships" id="276" r:id="Rd7de5f1571104b9d"/>
    <p:sldId xmlns:r="http://schemas.openxmlformats.org/officeDocument/2006/relationships" id="277" r:id="R2602eb5e1ab241e4"/>
  </p:sldIdLst>
  <p:sldSz cx="12191695"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_rels/presentation.xml.rels>&#65279;<?xml version="1.0" encoding="utf-8"?><Relationships xmlns="http://schemas.openxmlformats.org/package/2006/relationships"><Relationship Type="http://schemas.openxmlformats.org/officeDocument/2006/relationships/theme" Target="/ppt/theme/theme1.xml" Id="R09f8c144e0454155" /><Relationship Type="http://schemas.openxmlformats.org/officeDocument/2006/relationships/slideMaster" Target="/ppt/slideMasters/slideMaster1.xml" Id="Rb1cc0f68bf654f42" /><Relationship Type="http://schemas.openxmlformats.org/officeDocument/2006/relationships/notesMaster" Target="/ppt/notesMasters/notesMaster1.xml" Id="Rff7dc451adf64cf8" /><Relationship Type="http://schemas.openxmlformats.org/officeDocument/2006/relationships/presProps" Target="/ppt/presProps.xml" Id="Rb756eaa8d38e457a" /><Relationship Type="http://schemas.openxmlformats.org/officeDocument/2006/relationships/tableStyles" Target="/ppt/tableStyles.xml" Id="R15144bcae92949fe" /><Relationship Type="http://schemas.openxmlformats.org/officeDocument/2006/relationships/slide" Target="/ppt/slides/slide1.xml" Id="R749921d3f0be4fd0" /><Relationship Type="http://schemas.openxmlformats.org/officeDocument/2006/relationships/slide" Target="/ppt/slides/slide2.xml" Id="Rba6a7f5a70224900" /><Relationship Type="http://schemas.openxmlformats.org/officeDocument/2006/relationships/slide" Target="/ppt/slides/slide3.xml" Id="R1db3203d8cf04f48" /><Relationship Type="http://schemas.openxmlformats.org/officeDocument/2006/relationships/slide" Target="/ppt/slides/slide4.xml" Id="Rcfcb4bb428804220" /><Relationship Type="http://schemas.openxmlformats.org/officeDocument/2006/relationships/slide" Target="/ppt/slides/slide5.xml" Id="R5f504585344f4513" /><Relationship Type="http://schemas.openxmlformats.org/officeDocument/2006/relationships/slide" Target="/ppt/slides/slide6.xml" Id="R50e070cef0a34635" /><Relationship Type="http://schemas.openxmlformats.org/officeDocument/2006/relationships/slide" Target="/ppt/slides/slide7.xml" Id="Rfc95eeb05f864e7b" /><Relationship Type="http://schemas.openxmlformats.org/officeDocument/2006/relationships/slide" Target="/ppt/slides/slide8.xml" Id="R6bc3c20a1b624aab" /><Relationship Type="http://schemas.openxmlformats.org/officeDocument/2006/relationships/slide" Target="/ppt/slides/slide9.xml" Id="R307df08bfa7c4b26" /><Relationship Type="http://schemas.openxmlformats.org/officeDocument/2006/relationships/slide" Target="/ppt/slides/slide10.xml" Id="R297af0b8019a4c41" /><Relationship Type="http://schemas.openxmlformats.org/officeDocument/2006/relationships/slide" Target="/ppt/slides/slide11.xml" Id="Rd3db44fc7e6d4f02" /><Relationship Type="http://schemas.openxmlformats.org/officeDocument/2006/relationships/slide" Target="/ppt/slides/slide12.xml" Id="Rd43a134051ec4817" /><Relationship Type="http://schemas.openxmlformats.org/officeDocument/2006/relationships/slide" Target="/ppt/slides/slide13.xml" Id="R144c33d090214a0f" /><Relationship Type="http://schemas.openxmlformats.org/officeDocument/2006/relationships/slide" Target="/ppt/slides/slide14.xml" Id="R75573fb2ac174523" /><Relationship Type="http://schemas.openxmlformats.org/officeDocument/2006/relationships/slide" Target="/ppt/slides/slide15.xml" Id="R3cde5942381e40d6" /><Relationship Type="http://schemas.openxmlformats.org/officeDocument/2006/relationships/slide" Target="/ppt/slides/slide16.xml" Id="Ra6dba4648e73458a" /><Relationship Type="http://schemas.openxmlformats.org/officeDocument/2006/relationships/slide" Target="/ppt/slides/slide17.xml" Id="R4a91cf2dd8da4880" /><Relationship Type="http://schemas.openxmlformats.org/officeDocument/2006/relationships/slide" Target="/ppt/slides/slide18.xml" Id="Rec9982a0197f41a9" /><Relationship Type="http://schemas.openxmlformats.org/officeDocument/2006/relationships/slide" Target="/ppt/slides/slide19.xml" Id="R3672e30f779e42d6" /><Relationship Type="http://schemas.openxmlformats.org/officeDocument/2006/relationships/slide" Target="/ppt/slides/slide20.xml" Id="R4e74fd2cb6814ed3" /><Relationship Type="http://schemas.openxmlformats.org/officeDocument/2006/relationships/slide" Target="/ppt/slides/slide21.xml" Id="Rd7de5f1571104b9d" /><Relationship Type="http://schemas.openxmlformats.org/officeDocument/2006/relationships/slide" Target="/ppt/slides/slide22.xml" Id="R2602eb5e1ab241e4"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1588064052474b57"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d8d4b9d1147d43e3" /><Relationship Type="http://schemas.openxmlformats.org/officeDocument/2006/relationships/notesMaster" Target="/ppt/notesMasters/notesMaster1.xml" Id="Ra0ff9dfdd4dc4688" /></Relationships>
</file>

<file path=ppt/notesSlides/_rels/notesSlide2.xml.rels>&#65279;<?xml version="1.0" encoding="utf-8"?><Relationships xmlns="http://schemas.openxmlformats.org/package/2006/relationships"><Relationship Type="http://schemas.openxmlformats.org/officeDocument/2006/relationships/slide" Target="/ppt/slides/slide2.xml" Id="Ra4c37226ad8a4e36" /><Relationship Type="http://schemas.openxmlformats.org/officeDocument/2006/relationships/notesMaster" Target="/ppt/notesMasters/notesMaster1.xml" Id="Rc0f763ef923e4ce4" /></Relationships>
</file>

<file path=ppt/notesSlides/_rels/notesSlide3.xml.rels>&#65279;<?xml version="1.0" encoding="utf-8"?><Relationships xmlns="http://schemas.openxmlformats.org/package/2006/relationships"><Relationship Type="http://schemas.openxmlformats.org/officeDocument/2006/relationships/slide" Target="/ppt/slides/slide3.xml" Id="R783d28c2aa8a4152" /><Relationship Type="http://schemas.openxmlformats.org/officeDocument/2006/relationships/notesMaster" Target="/ppt/notesMasters/notesMaster1.xml" Id="R246f581a408e42d0" /></Relationships>
</file>

<file path=ppt/notesSlides/_rels/notesSlide4.xml.rels>&#65279;<?xml version="1.0" encoding="utf-8"?><Relationships xmlns="http://schemas.openxmlformats.org/package/2006/relationships"><Relationship Type="http://schemas.openxmlformats.org/officeDocument/2006/relationships/slide" Target="/ppt/slides/slide4.xml" Id="Rbb68eae1f5fc49dc" /><Relationship Type="http://schemas.openxmlformats.org/officeDocument/2006/relationships/notesMaster" Target="/ppt/notesMasters/notesMaster1.xml" Id="Rb8d54d161ea546d5" /></Relationships>
</file>

<file path=ppt/notesSlides/_rels/notesSlide5.xml.rels>&#65279;<?xml version="1.0" encoding="utf-8"?><Relationships xmlns="http://schemas.openxmlformats.org/package/2006/relationships"><Relationship Type="http://schemas.openxmlformats.org/officeDocument/2006/relationships/slide" Target="/ppt/slides/slide5.xml" Id="Re279a82b74a54858" /><Relationship Type="http://schemas.openxmlformats.org/officeDocument/2006/relationships/notesMaster" Target="/ppt/notesMasters/notesMaster1.xml" Id="R1196271ad9194ea1" /></Relationships>
</file>

<file path=ppt/notesSlides/_rels/notesSlide6.xml.rels>&#65279;<?xml version="1.0" encoding="utf-8"?><Relationships xmlns="http://schemas.openxmlformats.org/package/2006/relationships"><Relationship Type="http://schemas.openxmlformats.org/officeDocument/2006/relationships/slide" Target="/ppt/slides/slide6.xml" Id="R3078ded3d56046dd" /><Relationship Type="http://schemas.openxmlformats.org/officeDocument/2006/relationships/notesMaster" Target="/ppt/notesMasters/notesMaster1.xml" Id="R7cb3b7437a58447a" /></Relationships>
</file>

<file path=ppt/notesSlides/_rels/notesSlide7.xml.rels>&#65279;<?xml version="1.0" encoding="utf-8"?><Relationships xmlns="http://schemas.openxmlformats.org/package/2006/relationships"><Relationship Type="http://schemas.openxmlformats.org/officeDocument/2006/relationships/slide" Target="/ppt/slides/slide7.xml" Id="R50c580b349ae4f10" /><Relationship Type="http://schemas.openxmlformats.org/officeDocument/2006/relationships/notesMaster" Target="/ppt/notesMasters/notesMaster1.xml" Id="R4b21cb8fb7a94597" /></Relationships>
</file>

<file path=ppt/notesSlides/_rels/notesSlide8.xml.rels>&#65279;<?xml version="1.0" encoding="utf-8"?><Relationships xmlns="http://schemas.openxmlformats.org/package/2006/relationships"><Relationship Type="http://schemas.openxmlformats.org/officeDocument/2006/relationships/slide" Target="/ppt/slides/slide8.xml" Id="R4d782cb429ac47d7" /><Relationship Type="http://schemas.openxmlformats.org/officeDocument/2006/relationships/notesMaster" Target="/ppt/notesMasters/notesMaster1.xml" Id="R9e0e2d2e6ff34a98" /></Relationships>
</file>

<file path=ppt/notesSlides/_rels/notesSlide9.xml.rels>&#65279;<?xml version="1.0" encoding="utf-8"?><Relationships xmlns="http://schemas.openxmlformats.org/package/2006/relationships"><Relationship Type="http://schemas.openxmlformats.org/officeDocument/2006/relationships/slide" Target="/ppt/slides/slide9.xml" Id="R4cbe10c2885948dc" /><Relationship Type="http://schemas.openxmlformats.org/officeDocument/2006/relationships/notesMaster" Target="/ppt/notesMasters/notesMaster1.xml" Id="Ra71f548493044349"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f3da1db66ac4fae" /><Relationship Type="http://schemas.openxmlformats.org/officeDocument/2006/relationships/notesMaster" Target="/ppt/notesMasters/notesMaster1.xml" Id="R7f3f3dce0ed8401b"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44b32801bcdb441e" /><Relationship Type="http://schemas.openxmlformats.org/officeDocument/2006/relationships/notesMaster" Target="/ppt/notesMasters/notesMaster1.xml" Id="Rca5db5c9c3754d8a"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1b5b43489eb74cc7" /><Relationship Type="http://schemas.openxmlformats.org/officeDocument/2006/relationships/notesMaster" Target="/ppt/notesMasters/notesMaster1.xml" Id="R60e02cac8115483a"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c980854c689c4691" /><Relationship Type="http://schemas.openxmlformats.org/officeDocument/2006/relationships/notesMaster" Target="/ppt/notesMasters/notesMaster1.xml" Id="R8177d5a131bc4518"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a2a36d2ed0bf4407" /><Relationship Type="http://schemas.openxmlformats.org/officeDocument/2006/relationships/notesMaster" Target="/ppt/notesMasters/notesMaster1.xml" Id="R6d65c925680f42f0"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8de4fec5706a47f0" /><Relationship Type="http://schemas.openxmlformats.org/officeDocument/2006/relationships/notesMaster" Target="/ppt/notesMasters/notesMaster1.xml" Id="Rb63bcf03de0b4a5b"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316e566b426c4619" /><Relationship Type="http://schemas.openxmlformats.org/officeDocument/2006/relationships/notesMaster" Target="/ppt/notesMasters/notesMaster1.xml" Id="R9f0c44ea9b074933"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1eef80b0f0334070" /><Relationship Type="http://schemas.openxmlformats.org/officeDocument/2006/relationships/notesMaster" Target="/ppt/notesMasters/notesMaster1.xml" Id="Re1d2d998cfc244f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ae716c46eca64bc7" /><Relationship Type="http://schemas.openxmlformats.org/officeDocument/2006/relationships/notesMaster" Target="/ppt/notesMasters/notesMaster1.xml" Id="R68c41ede412d41f1"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7b24fddf41544af6" /><Relationship Type="http://schemas.openxmlformats.org/officeDocument/2006/relationships/notesMaster" Target="/ppt/notesMasters/notesMaster1.xml" Id="Rc3fdbd96fc6049e0"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d51f899ea3b4060" /><Relationship Type="http://schemas.openxmlformats.org/officeDocument/2006/relationships/notesMaster" Target="/ppt/notesMasters/notesMaster1.xml" Id="Rde9a1253a7f0402b"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9a9f987bc11d4b1c" /><Relationship Type="http://schemas.openxmlformats.org/officeDocument/2006/relationships/notesMaster" Target="/ppt/notesMasters/notesMaster1.xml" Id="R435fe447ac524d52"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37e5efbd70204d27" /><Relationship Type="http://schemas.openxmlformats.org/officeDocument/2006/relationships/notesMaster" Target="/ppt/notesMasters/notesMaster1.xml" Id="R64814b3d32554790" /></Relationships>
</file>

<file path=ppt/notesSlides/notesSlide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Preparing for Practical Test 1</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Today’s learning.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Today’s learning</a:t>
            </a:r>
          </a:p>
          <a:p>
            <a:r>
              <a:t/>
            </a:r>
          </a:p>
          <a:p>
            <a:r>
              <a:t>CONNECT</a:t>
            </a:r>
          </a:p>
          <a:p>
            <a:r>
              <a:t>Build on the preceding slide: Preparing for Practical Test 1.</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Recall and a first attempt.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Recall and a first attempt</a:t>
            </a:r>
          </a:p>
          <a:p>
            <a:r>
              <a:t/>
            </a:r>
          </a:p>
          <a:p>
            <a:r>
              <a:t>CONNECT</a:t>
            </a:r>
          </a:p>
          <a:p>
            <a:r>
              <a:t>Build on the preceding slide: Today’s learning.</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Name the positive class first. Actual is what happened; predicted is the model decision. Precision asks how many predicted positives were right. Recall asks how many actual positives were found.</a:t>
            </a:r>
          </a:p>
          <a:p>
            <a:r>
              <a:t/>
            </a:r>
          </a:p>
          <a:p>
            <a:r>
              <a:t>CHECK AND EXPECTED ANSWER</a:t>
            </a:r>
          </a:p>
          <a:p>
            <a:r>
              <a:t>With TP=2, FP=1, FN=2: precision=2/3 and recall=2/4. A missed actual positive is a false negative.</a:t>
            </a:r>
          </a:p>
          <a:p>
            <a:r>
              <a:t/>
            </a:r>
          </a:p>
          <a:p>
            <a:r>
              <a:t>IF LEARNERS ARE STUCK</a:t>
            </a:r>
          </a:p>
          <a:p>
            <a:r>
              <a:t>Draw actual/predicted headings. Place one case at a time before calculating a fraction. Explain the task rule for a zero denominator.</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Rehearse before test day.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Rehearse before test day</a:t>
            </a:r>
          </a:p>
          <a:p>
            <a:r>
              <a:t/>
            </a:r>
          </a:p>
          <a:p>
            <a:r>
              <a:t>CONNECT</a:t>
            </a:r>
          </a:p>
          <a:p>
            <a:r>
              <a:t>Build on the preceding slide: Recall and a first attempt.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Save the complete notebook.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Save the complete notebook</a:t>
            </a:r>
          </a:p>
          <a:p>
            <a:r>
              <a:t/>
            </a:r>
          </a:p>
          <a:p>
            <a:r>
              <a:t>CONNECT</a:t>
            </a:r>
          </a:p>
          <a:p>
            <a:r>
              <a:t>Build on the preceding slide: Rehearse before test day.</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Follow the published test procedure.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Follow the published test procedure</a:t>
            </a:r>
          </a:p>
          <a:p>
            <a:r>
              <a:t/>
            </a:r>
          </a:p>
          <a:p>
            <a:r>
              <a:t>CONNECT</a:t>
            </a:r>
          </a:p>
          <a:p>
            <a:r>
              <a:t>Build on the preceding slide: Save the complete notebook.</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Practice before test day.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Practice before test day</a:t>
            </a:r>
          </a:p>
          <a:p>
            <a:r>
              <a:t/>
            </a:r>
          </a:p>
          <a:p>
            <a:r>
              <a:t>CONNECT</a:t>
            </a:r>
          </a:p>
          <a:p>
            <a:r>
              <a:t>Build on the preceding slide: Follow the published test procedure.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WALK THROUGH THIS CODE</a:t>
            </a:r>
          </a:p>
          <a:p>
            <a:r>
              <a:t>print displays a value below the cell.</a:t>
            </a:r>
          </a:p>
          <a:p>
            <a:r>
              <a:t>Square brackets create a list or select an item.</a:t>
            </a:r>
          </a:p>
          <a:p>
            <a:r>
              <a:t>= assigns the value on the right to the name on the left.</a:t>
            </a:r>
          </a:p>
          <a:p>
            <a:r>
              <a:t>Read the displayed lines in order, with the preceding code block if this example continues. Ask for the next value before running. The complete matching example is in guided_practice.ipynb; do not type a fragment into a new empty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Before the timed test.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the timed test</a:t>
            </a:r>
          </a:p>
          <a:p>
            <a:r>
              <a:t/>
            </a:r>
          </a:p>
          <a:p>
            <a:r>
              <a:t>CONNECT</a:t>
            </a:r>
          </a:p>
          <a:p>
            <a:r>
              <a:t>Build on the preceding slide: Practice before test day.</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What the activity shows.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What the activity shows</a:t>
            </a:r>
          </a:p>
          <a:p>
            <a:r>
              <a:t/>
            </a:r>
          </a:p>
          <a:p>
            <a:r>
              <a:t>CONNECT</a:t>
            </a:r>
          </a:p>
          <a:p>
            <a:r>
              <a:t>Build on the preceding slide: Before the timed test.</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Test session.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Test session</a:t>
            </a:r>
          </a:p>
          <a:p>
            <a:r>
              <a:t/>
            </a:r>
          </a:p>
          <a:p>
            <a:r>
              <a:t>CONNECT</a:t>
            </a:r>
          </a:p>
          <a:p>
            <a:r>
              <a:t>Build on the preceding slide: What the activity shows.</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Preparation checkpoint.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Preparation checkpoint</a:t>
            </a:r>
          </a:p>
          <a:p>
            <a:r>
              <a:t/>
            </a:r>
          </a:p>
          <a:p>
            <a:r>
              <a:t>CONNECT</a:t>
            </a:r>
          </a:p>
          <a:p>
            <a:r>
              <a:t>Build on the preceding slide: Test session.</a:t>
            </a:r>
          </a:p>
          <a:p>
            <a:r>
              <a:t/>
            </a:r>
          </a:p>
          <a:p>
            <a:r>
              <a:t>LECTURER CUE</a:t>
            </a:r>
          </a:p>
          <a:p>
            <a:r>
              <a:t>Read the specific public requirement shown on this slide. Explain the input, output and evidence before independent work; do not work the assessed answer for the class.</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Your evidence.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Your evidence</a:t>
            </a:r>
          </a:p>
          <a:p>
            <a:r>
              <a:t/>
            </a:r>
          </a:p>
          <a:p>
            <a:r>
              <a:t>CONNECT</a:t>
            </a:r>
          </a:p>
          <a:p>
            <a:r>
              <a:t>Build on the preceding slide: Preparation checkpoint.</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An observation describes the data. A finding answers a defined question with evidence. A recommendation adds an action, its justification and limits.</a:t>
            </a:r>
          </a:p>
          <a:p>
            <a:r>
              <a:t/>
            </a:r>
          </a:p>
          <a:p>
            <a:r>
              <a:t>CHECK AND EXPECTED ANSWER</a:t>
            </a:r>
          </a:p>
          <a:p>
            <a:r>
              <a:t>Does a difference between two groups prove one caused the other? No. Other differences or selection may explain it.</a:t>
            </a:r>
          </a:p>
          <a:p>
            <a:r>
              <a:t/>
            </a:r>
          </a:p>
          <a:p>
            <a:r>
              <a:t>IF LEARNERS ARE STUCK</a:t>
            </a:r>
          </a:p>
          <a:p>
            <a:r>
              <a:t>Ask for the population, time period, number and comparison. Then ask what additional evidence could change the recommendation.</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3.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a:t>
            </a:r>
          </a:p>
          <a:p>
            <a:r>
              <a:t/>
            </a:r>
          </a:p>
          <a:p>
            <a:r>
              <a:t>CONNECT</a:t>
            </a:r>
          </a:p>
          <a:p>
            <a:r>
              <a:t>Build on the preceding slide: Your evidence.</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function is a named set of instructions. def defines it; a call runs it with inputs. Parameters are input names, arguments are supplied values, and return sends the result back.</a:t>
            </a:r>
          </a:p>
          <a:p>
            <a:r>
              <a:t/>
            </a:r>
          </a:p>
          <a:p>
            <a:r>
              <a:t>CHECK AND EXPECTED ANSWER</a:t>
            </a:r>
          </a:p>
          <a:p>
            <a:r>
              <a:t>Does print(8) return the number 8 to the caller? No; it displays 8 and returns None. A function needing a numeric result should return it.</a:t>
            </a:r>
          </a:p>
          <a:p>
            <a:r>
              <a:t/>
            </a:r>
          </a:p>
          <a:p>
            <a:r>
              <a:t>IF LEARNERS ARE STUCK</a:t>
            </a:r>
          </a:p>
          <a:p>
            <a:r>
              <a:t>Trace one call: bind input names, run the indented body, reach return, then put the returned result back into the calling expression.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4.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5.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cleaning decision needs evidence, a stated rule and a before/after check. Similar rows may be genuine repeated events. Reconciliation compares totals built under the same definitions.</a:t>
            </a:r>
          </a:p>
          <a:p>
            <a:r>
              <a:t/>
            </a:r>
          </a:p>
          <a:p>
            <a:r>
              <a:t>CHECK AND EXPECTED ANSWER</a:t>
            </a:r>
          </a:p>
          <a:p>
            <a:r>
              <a:t>May we delete every repeated amount? No. Check the row identifier and the table grain first.</a:t>
            </a:r>
          </a:p>
          <a:p>
            <a:r>
              <a:t/>
            </a:r>
          </a:p>
          <a:p>
            <a:r>
              <a:t>IF LEARNERS ARE STUCK</a:t>
            </a:r>
          </a:p>
          <a:p>
            <a:r>
              <a:t>Keep raw data, record counts before and after each action, then explain any remaining difference instead of forcing totals to agree.</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6.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7.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Read each quantity and unit before using a formula. Python calculates numbers but does not enforce physical units. Parentheses specify which operation happens first.</a:t>
            </a:r>
          </a:p>
          <a:p>
            <a:r>
              <a:t/>
            </a:r>
          </a:p>
          <a:p>
            <a:r>
              <a:t>CHECK AND EXPECTED ANSWER</a:t>
            </a:r>
          </a:p>
          <a:p>
            <a:r>
              <a:t>What is 5 m times 3 m? 15 square metres. What is 7/2 in Python? 3.5; 7//2 is 3.</a:t>
            </a:r>
          </a:p>
          <a:p>
            <a:r>
              <a:t/>
            </a:r>
          </a:p>
          <a:p>
            <a:r>
              <a:t>IF LEARNERS ARE STUCK</a:t>
            </a:r>
          </a:p>
          <a:p>
            <a:r>
              <a:t>Write the formula and units on paper, substitute small values, then translate it to Python. Check zero denominators and the issued sign convention.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8.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19.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First remove models that fail the stated error or speed limits. Then apply the stated ranking and tie-break rules to eligible models. The smallest error alone need not decide.</a:t>
            </a:r>
          </a:p>
          <a:p>
            <a:r>
              <a:t/>
            </a:r>
          </a:p>
          <a:p>
            <a:r>
              <a:t>CHECK AND EXPECTED ANSWER</a:t>
            </a:r>
          </a:p>
          <a:p>
            <a:r>
              <a:t>If a model has the lowest error but exceeds the maximum latency, is it eligible? No.</a:t>
            </a:r>
          </a:p>
          <a:p>
            <a:r>
              <a:t/>
            </a:r>
          </a:p>
          <a:p>
            <a:r>
              <a:t>IF LEARNERS ARE STUCK</a:t>
            </a:r>
          </a:p>
          <a:p>
            <a:r>
              <a:t>Write an eligibility column and a separate ranking column. Check the exact boundary rule before sorting.</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continued.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0.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continued</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Practical Test 1 submission.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1.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Practical Test 1 submission</a:t>
            </a:r>
          </a:p>
          <a:p>
            <a:r>
              <a:t/>
            </a:r>
          </a:p>
          <a:p>
            <a:r>
              <a:t>CONNECT</a:t>
            </a:r>
          </a:p>
          <a:p>
            <a:r>
              <a:t>Build on the preceding slide: Practical Test 1 continued.</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list keeps items in order. Python positions start at zero. In [2,4,6], position 0 contains 2 and position 2 contains 6. A slice excludes its stop position.</a:t>
            </a:r>
          </a:p>
          <a:p>
            <a:r>
              <a:t/>
            </a:r>
          </a:p>
          <a:p>
            <a:r>
              <a:t>CHECK AND EXPECTED ANSWER</a:t>
            </a:r>
          </a:p>
          <a:p>
            <a:r>
              <a:t>What is [2,4,6][1]? 4. Is there a position 3? No.</a:t>
            </a:r>
          </a:p>
          <a:p>
            <a:r>
              <a:t/>
            </a:r>
          </a:p>
          <a:p>
            <a:r>
              <a:t>IF LEARNERS ARE STUCK</a:t>
            </a:r>
          </a:p>
          <a:p>
            <a:r>
              <a:t>Draw three numbered boxes starting at zero. Keep the position separate from the value stored in it.</a:t>
            </a:r>
          </a:p>
          <a:p>
            <a:r>
              <a:t/>
            </a:r>
          </a:p>
          <a:p>
            <a:r>
              <a:t>ASSIGNMENT HANDOVER</a:t>
            </a:r>
          </a:p>
          <a:p>
            <a:r>
              <a:t>Open the matching public student guide and show the exact starter filename, required outputs and upload set. Ask one learner to repeat what to submit and where. IUEA Student Registration Number is required freeform text; learners enter their own number. A saved repository is not a submitted form. Read the live deadline and keep the submission confirmation. Do not release an assessment that is still awaiting grading validation.</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a:p>
            <a:r>
              <a:t/>
            </a:r>
          </a:p>
          <a:p>
            <a:r>
              <a:t>NEXT</a:t>
            </a:r>
          </a:p>
          <a:p>
            <a:r>
              <a:t>Before you leave. Move on after a learner can explain the current example or required action.</a:t>
            </a:r>
          </a:p>
        </p:txBody>
      </p:sp>
      <p:sp>
        <p:nvSpPr>
          <p:cNvPr id="4" name="Slide Number Placeholder 3"/>
          <p:cNvSpPr>
            <a:spLocks noGrp="1"/>
          </p:cNvSpPr>
          <p:nvPr>
            <p:ph type="sldNum" idx="5"/>
          </p:nvPr>
        </p:nvSpPr>
        <p:spPr/>
        <p:txBody>
          <a:bodyPr/>
          <a:lstStyle/>
          <a:p/>
        </p:txBody>
      </p:sp>
    </p:spTree>
  </p:cSld>
  <p:clrMapOvr>
    <a:masterClrMapping/>
  </p:clrMapOvr>
</p:notes>
</file>

<file path=ppt/notesSlides/notesSlide22.xml><?xml version="1.0" encoding="utf-8"?>
<p:notes xmlns:a="http://schemas.openxmlformats.org/drawingml/2006/main" xmlns:p="http://schemas.openxmlformats.org/presentationml/2006/main">
  <p:cSld>
    <p:spTree>
      <p:nvGrpSpPr>
        <p:cNvPr id="1" name=""/>
        <p:cNvGrpSpPr/>
        <p:nvPr/>
      </p:nvGrpSpPr>
      <p:grpSpPr>
        <a:xfrm/>
      </p:grpSpPr>
      <p:sp>
        <p:nvSpPr>
          <p:cNvPr id="2" name="Slide Image Placeholder 1"/>
          <p:cNvSpPr>
            <a:spLocks noGrp="1"/>
          </p:cNvSpPr>
          <p:nvPr>
            <p:ph type="sldImg" idx="0"/>
          </p:nvPr>
        </p:nvSpPr>
        <p:spPr/>
      </p:sp>
      <p:sp>
        <p:nvSpPr>
          <p:cNvPr id="3" name="Notes Placeholder 2"/>
          <p:cNvSpPr>
            <a:spLocks noGrp="1"/>
          </p:cNvSpPr>
          <p:nvPr>
            <p:ph type="body" idx="1"/>
          </p:nvPr>
        </p:nvSpPr>
        <p:spPr/>
        <p:txBody>
          <a:bodyPr/>
          <a:lstStyle/>
          <a:p>
            <a:r>
              <a:t>TEACHING PURPOSE</a:t>
            </a:r>
          </a:p>
          <a:p>
            <a:r>
              <a:t>Before you leave</a:t>
            </a:r>
          </a:p>
          <a:p>
            <a:r>
              <a:t/>
            </a:r>
          </a:p>
          <a:p>
            <a:r>
              <a:t>CONNECT</a:t>
            </a:r>
          </a:p>
          <a:p>
            <a:r>
              <a:t>Build on the preceding slide: Practical Test 1 submission.</a:t>
            </a:r>
          </a:p>
          <a:p>
            <a:r>
              <a:t/>
            </a:r>
          </a:p>
          <a:p>
            <a:r>
              <a:t>LECTURER CUE</a:t>
            </a:r>
          </a:p>
          <a:p>
            <a:r>
              <a:t>Read the specific public requirement shown on this slide. Explain the input, output and evidence before independent work; do not work the assessed answer for the class.</a:t>
            </a:r>
          </a:p>
          <a:p>
            <a:r>
              <a:t/>
            </a:r>
          </a:p>
          <a:p>
            <a:r>
              <a:t>EXPLAIN IN ORDINARY WORDS</a:t>
            </a:r>
          </a:p>
          <a:p>
            <a:r>
              <a:t>A notebook contains code cells and explanatory text cells. The runtime remembers values from cells that actually ran, which may differ from their visual order.</a:t>
            </a:r>
          </a:p>
          <a:p>
            <a:r>
              <a:t/>
            </a:r>
          </a:p>
          <a:p>
            <a:r>
              <a:t>CHECK AND EXPECTED ANSWER</a:t>
            </a:r>
          </a:p>
          <a:p>
            <a:r>
              <a:t>Does editing a cell update a value already stored in memory? No; the cell must run.</a:t>
            </a:r>
          </a:p>
          <a:p>
            <a:r>
              <a:t/>
            </a:r>
          </a:p>
          <a:p>
            <a:r>
              <a:t>IF LEARNERS ARE STUCK</a:t>
            </a:r>
          </a:p>
          <a:p>
            <a:r>
              <a:t>Outside an assessment restriction, restart and run from the top after loading data. Fix the first error before later cells; save the successful notebook.</a:t>
            </a:r>
          </a:p>
          <a:p>
            <a:r>
              <a:t/>
            </a:r>
          </a:p>
          <a:p>
            <a:r>
              <a:t>TEST COLLECTION RULE</a:t>
            </a:r>
          </a:p>
          <a:p>
            <a:r>
              <a:t>This deck is for rehearsal before the timed assessment. Preserve the invigilated timetable and Part A snapshot. During Part B, type answers in the notebook cell headed ## My written evidence without executing code. Collect one complete .ipynb offline; later Google upload only transports the collected work. Do not require internet or AI during the test.</a:t>
            </a:r>
          </a:p>
        </p:txBody>
      </p:sp>
      <p:sp>
        <p:nvSpPr>
          <p:cNvPr id="4" name="Slide Number Placeholder 3"/>
          <p:cNvSpPr>
            <a:spLocks noGrp="1"/>
          </p:cNvSpPr>
          <p:nvPr>
            <p:ph type="sldNum" idx="5"/>
          </p:nvPr>
        </p:nvSpPr>
        <p:spPr/>
        <p:txBody>
          <a:bodyPr/>
          <a:lstStyle/>
          <a:p/>
        </p:txBody>
      </p:sp>
    </p:spTree>
  </p:cSld>
  <p:clrMapOvr>
    <a:masterClrMapping/>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7a63022007684f27" /></Relationships>
</file>

<file path=ppt/slideLayouts/slideLayout1.xml><?xml version="1.0" encoding="utf-8"?>
<p:sldLayout xmlns:p="http://schemas.openxmlformats.org/presentationml/2006/main" type="title">
  <p:cSld name="Title Slide">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3feb024e8d7146c9" /><Relationship Type="http://schemas.openxmlformats.org/officeDocument/2006/relationships/slideLayout" Target="/ppt/slideLayouts/slideLayout1.xml" Id="R0550a0a8710f401d" /></Relationships>
</file>

<file path=ppt/slideMasters/slideMaster1.xml><?xml version="1.0" encoding="utf-8"?>
<p:sldMaster xmlns:p="http://schemas.openxmlformats.org/presentationml/2006/main">
  <p:cSld name="Master">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0550a0a8710f401d"/>
  </p:sldLayoutIdLst>
  <p:txStyles>
    <p:titleStyle>
      <a:lvl1pPr xmlns:a="http://schemas.openxmlformats.org/drawingml/2006/main" algn="l">
        <a:lnSpc>
          <a:spcPct val="90000"/>
        </a:lnSpc>
        <a:spcBef>
          <a:spcPts val="0"/>
        </a:spcBef>
        <a:buNone/>
        <a:defRPr sz="4400">
          <a:solidFill>
            <a:schemeClr val="tx1"/>
          </a:solidFill>
          <a:latin typeface="+mj-lt"/>
          <a:ea typeface="+mj-lt"/>
          <a:cs typeface="+mj-lt"/>
        </a:defRPr>
      </a:lvl1pPr>
    </p:titleStyle>
    <p:bodyStyle>
      <a:lvl1pPr xmlns:a="http://schemas.openxmlformats.org/drawingml/2006/main" marL="228600" indent="-228600" algn="l">
        <a:lnSpc>
          <a:spcPct val="90000"/>
        </a:lnSpc>
        <a:spcBef>
          <a:spcPts val="1000"/>
        </a:spcBef>
        <a:buChar char="•"/>
        <a:defRPr sz="2800">
          <a:solidFill>
            <a:schemeClr val="tx1"/>
          </a:solidFill>
          <a:latin typeface="+mn-lt"/>
          <a:ea typeface="+mn-lt"/>
          <a:cs typeface="+mn-lt"/>
        </a:defRPr>
      </a:lvl1pPr>
      <a:lvl2pPr xmlns:a="http://schemas.openxmlformats.org/drawingml/2006/main" marL="685800" indent="-228600" algn="l">
        <a:lnSpc>
          <a:spcPct val="90000"/>
        </a:lnSpc>
        <a:spcBef>
          <a:spcPts val="500"/>
        </a:spcBef>
        <a:buChar char="•"/>
        <a:defRPr sz="2400">
          <a:solidFill>
            <a:schemeClr val="tx1"/>
          </a:solidFill>
          <a:latin typeface="+mn-lt"/>
          <a:ea typeface="+mn-lt"/>
          <a:cs typeface="+mn-lt"/>
        </a:defRPr>
      </a:lvl2pPr>
      <a:lvl3pPr xmlns:a="http://schemas.openxmlformats.org/drawingml/2006/main" marL="1143000" indent="-228600" algn="l">
        <a:lnSpc>
          <a:spcPct val="90000"/>
        </a:lnSpc>
        <a:spcBef>
          <a:spcPts val="500"/>
        </a:spcBef>
        <a:buChar char="•"/>
        <a:defRPr sz="2000">
          <a:solidFill>
            <a:schemeClr val="tx1"/>
          </a:solidFill>
          <a:latin typeface="+mn-lt"/>
          <a:ea typeface="+mn-lt"/>
          <a:cs typeface="+mn-lt"/>
        </a:defRPr>
      </a:lvl3pPr>
      <a:lvl4pPr xmlns:a="http://schemas.openxmlformats.org/drawingml/2006/main" marL="1600200" indent="-228600" algn="l">
        <a:lnSpc>
          <a:spcPct val="90000"/>
        </a:lnSpc>
        <a:spcBef>
          <a:spcPts val="500"/>
        </a:spcBef>
        <a:buChar char="•"/>
        <a:defRPr sz="1800">
          <a:solidFill>
            <a:schemeClr val="tx1"/>
          </a:solidFill>
          <a:latin typeface="+mn-lt"/>
          <a:ea typeface="+mn-lt"/>
          <a:cs typeface="+mn-lt"/>
        </a:defRPr>
      </a:lvl4pPr>
      <a:lvl5pPr xmlns:a="http://schemas.openxmlformats.org/drawingml/2006/main" marL="2057400" indent="-228600" algn="l">
        <a:lnSpc>
          <a:spcPct val="90000"/>
        </a:lnSpc>
        <a:spcBef>
          <a:spcPts val="500"/>
        </a:spcBef>
        <a:buChar char="•"/>
        <a:defRPr sz="1800">
          <a:solidFill>
            <a:schemeClr val="tx1"/>
          </a:solidFill>
          <a:latin typeface="+mn-lt"/>
          <a:ea typeface="+mn-lt"/>
          <a:cs typeface="+mn-lt"/>
        </a:defRPr>
      </a:lvl5pPr>
      <a:lvl6pPr xmlns:a="http://schemas.openxmlformats.org/drawingml/2006/main" marL="2514600" indent="-228600" algn="l">
        <a:lnSpc>
          <a:spcPct val="90000"/>
        </a:lnSpc>
        <a:spcBef>
          <a:spcPts val="500"/>
        </a:spcBef>
        <a:buChar char="•"/>
        <a:defRPr sz="1800">
          <a:solidFill>
            <a:schemeClr val="tx1"/>
          </a:solidFill>
          <a:latin typeface="+mn-lt"/>
          <a:ea typeface="+mn-lt"/>
          <a:cs typeface="+mn-lt"/>
        </a:defRPr>
      </a:lvl6pPr>
      <a:lvl7pPr xmlns:a="http://schemas.openxmlformats.org/drawingml/2006/main" marL="2971800" indent="-228600" algn="l">
        <a:lnSpc>
          <a:spcPct val="90000"/>
        </a:lnSpc>
        <a:spcBef>
          <a:spcPts val="500"/>
        </a:spcBef>
        <a:buChar char="•"/>
        <a:defRPr sz="1800">
          <a:solidFill>
            <a:schemeClr val="tx1"/>
          </a:solidFill>
          <a:latin typeface="+mn-lt"/>
          <a:ea typeface="+mn-lt"/>
          <a:cs typeface="+mn-lt"/>
        </a:defRPr>
      </a:lvl7pPr>
      <a:lvl8pPr xmlns:a="http://schemas.openxmlformats.org/drawingml/2006/main" marL="3429000" indent="-228600" algn="l">
        <a:lnSpc>
          <a:spcPct val="90000"/>
        </a:lnSpc>
        <a:spcBef>
          <a:spcPts val="500"/>
        </a:spcBef>
        <a:buChar char="•"/>
        <a:defRPr sz="1800">
          <a:solidFill>
            <a:schemeClr val="tx1"/>
          </a:solidFill>
          <a:latin typeface="+mn-lt"/>
          <a:ea typeface="+mn-lt"/>
          <a:cs typeface="+mn-lt"/>
        </a:defRPr>
      </a:lvl8pPr>
      <a:lvl9pPr xmlns:a="http://schemas.openxmlformats.org/drawingml/2006/main" marL="3886200" indent="-228600" algn="l">
        <a:lnSpc>
          <a:spcPct val="90000"/>
        </a:lnSpc>
        <a:spcBef>
          <a:spcPts val="500"/>
        </a:spcBef>
        <a:buChar char="•"/>
        <a:defRPr sz="1800">
          <a:solidFill>
            <a:schemeClr val="tx1"/>
          </a:solidFill>
          <a:latin typeface="+mn-lt"/>
          <a:ea typeface="+mn-lt"/>
          <a:cs typeface="+mn-lt"/>
        </a:defRPr>
      </a:lvl9pPr>
    </p:bodyStyle>
    <p:otherStyle>
      <a:lvl1pPr xmlns:a="http://schemas.openxmlformats.org/drawingml/2006/main" marL="0" algn="l">
        <a:buNone/>
        <a:defRPr sz="1800">
          <a:solidFill>
            <a:schemeClr val="tx1"/>
          </a:solidFill>
          <a:latin typeface="+mn-lt"/>
          <a:ea typeface="+mn-lt"/>
          <a:cs typeface="+mn-lt"/>
        </a:defRPr>
      </a:lvl1pPr>
      <a:lvl2pPr xmlns:a="http://schemas.openxmlformats.org/drawingml/2006/main" marL="457200" algn="l">
        <a:buNone/>
        <a:defRPr sz="1800">
          <a:solidFill>
            <a:schemeClr val="tx1"/>
          </a:solidFill>
          <a:latin typeface="+mn-lt"/>
          <a:ea typeface="+mn-lt"/>
          <a:cs typeface="+mn-lt"/>
        </a:defRPr>
      </a:lvl2pPr>
      <a:lvl3pPr xmlns:a="http://schemas.openxmlformats.org/drawingml/2006/main" marL="914400" algn="l">
        <a:buNone/>
        <a:defRPr sz="1800">
          <a:solidFill>
            <a:schemeClr val="tx1"/>
          </a:solidFill>
          <a:latin typeface="+mn-lt"/>
          <a:ea typeface="+mn-lt"/>
          <a:cs typeface="+mn-lt"/>
        </a:defRPr>
      </a:lvl3pPr>
      <a:lvl4pPr xmlns:a="http://schemas.openxmlformats.org/drawingml/2006/main" marL="1371600" algn="l">
        <a:buNone/>
        <a:defRPr sz="1800">
          <a:solidFill>
            <a:schemeClr val="tx1"/>
          </a:solidFill>
          <a:latin typeface="+mn-lt"/>
          <a:ea typeface="+mn-lt"/>
          <a:cs typeface="+mn-lt"/>
        </a:defRPr>
      </a:lvl4pPr>
      <a:lvl5pPr xmlns:a="http://schemas.openxmlformats.org/drawingml/2006/main" marL="1828800" algn="l">
        <a:buNone/>
        <a:defRPr sz="1800">
          <a:solidFill>
            <a:schemeClr val="tx1"/>
          </a:solidFill>
          <a:latin typeface="+mn-lt"/>
          <a:ea typeface="+mn-lt"/>
          <a:cs typeface="+mn-lt"/>
        </a:defRPr>
      </a:lvl5pPr>
      <a:lvl6pPr xmlns:a="http://schemas.openxmlformats.org/drawingml/2006/main" marL="2286000" algn="l">
        <a:buNone/>
        <a:defRPr sz="1800">
          <a:solidFill>
            <a:schemeClr val="tx1"/>
          </a:solidFill>
          <a:latin typeface="+mn-lt"/>
          <a:ea typeface="+mn-lt"/>
          <a:cs typeface="+mn-lt"/>
        </a:defRPr>
      </a:lvl6pPr>
      <a:lvl7pPr xmlns:a="http://schemas.openxmlformats.org/drawingml/2006/main" marL="2743200" algn="l">
        <a:buNone/>
        <a:defRPr sz="1800">
          <a:solidFill>
            <a:schemeClr val="tx1"/>
          </a:solidFill>
          <a:latin typeface="+mn-lt"/>
          <a:ea typeface="+mn-lt"/>
          <a:cs typeface="+mn-lt"/>
        </a:defRPr>
      </a:lvl7pPr>
      <a:lvl8pPr xmlns:a="http://schemas.openxmlformats.org/drawingml/2006/main" marL="3200400" algn="l">
        <a:buNone/>
        <a:defRPr sz="1800">
          <a:solidFill>
            <a:schemeClr val="tx1"/>
          </a:solidFill>
          <a:latin typeface="+mn-lt"/>
          <a:ea typeface="+mn-lt"/>
          <a:cs typeface="+mn-lt"/>
        </a:defRPr>
      </a:lvl8pPr>
      <a:lvl9pPr xmlns:a="http://schemas.openxmlformats.org/drawingml/2006/main" marL="3657600" algn="l">
        <a:buNone/>
        <a:defRPr sz="18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da169f72e04645b3" /><Relationship Type="http://schemas.openxmlformats.org/officeDocument/2006/relationships/image" Target="/ppt/media/image.png" Id="R304239b03d2c4935" /><Relationship Type="http://schemas.openxmlformats.org/officeDocument/2006/relationships/notesSlide" Target="/ppt/notesSlides/notesSlide1.xml" Id="R62eef92c2a23487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01e848457db447cf" /><Relationship Type="http://schemas.openxmlformats.org/officeDocument/2006/relationships/notesSlide" Target="/ppt/notesSlides/notesSlide2.xml" Id="Re661d38ea6fc45f9"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8a5d8b76681e49ec" /><Relationship Type="http://schemas.openxmlformats.org/officeDocument/2006/relationships/notesSlide" Target="/ppt/notesSlides/notesSlide3.xml" Id="Rc8c2652e4ccd4c95"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f76a4c8a23974353" /><Relationship Type="http://schemas.openxmlformats.org/officeDocument/2006/relationships/notesSlide" Target="/ppt/notesSlides/notesSlide4.xml" Id="R3d342d43a6294dc1"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c622fcce3f7b44f2" /><Relationship Type="http://schemas.openxmlformats.org/officeDocument/2006/relationships/notesSlide" Target="/ppt/notesSlides/notesSlide5.xml" Id="R039c300fb81042db" /></Relationships>
</file>

<file path=ppt/slides/_rels/slide6.xml.rels>&#65279;<?xml version="1.0" encoding="utf-8"?><Relationships xmlns="http://schemas.openxmlformats.org/package/2006/relationships"><Relationship Type="http://schemas.openxmlformats.org/officeDocument/2006/relationships/slideLayout" Target="/ppt/slideLayouts/slideLayout1.xml" Id="R4aa58fac5f47488c" /><Relationship Type="http://schemas.openxmlformats.org/officeDocument/2006/relationships/notesSlide" Target="/ppt/notesSlides/notesSlide6.xml" Id="R0f244b89ebec40fb"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124d2927d7934ef2" /><Relationship Type="http://schemas.openxmlformats.org/officeDocument/2006/relationships/notesSlide" Target="/ppt/notesSlides/notesSlide7.xml" Id="R14f6b636dd674c96"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1f8a6ba1504f482e" /><Relationship Type="http://schemas.openxmlformats.org/officeDocument/2006/relationships/notesSlide" Target="/ppt/notesSlides/notesSlide8.xml" Id="R3893e9fed2244375"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d72f8d2941b54f71" /><Relationship Type="http://schemas.openxmlformats.org/officeDocument/2006/relationships/notesSlide" Target="/ppt/notesSlides/notesSlide9.xml" Id="Rd77498a91f794853"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820d63f255a84d1d" /><Relationship Type="http://schemas.openxmlformats.org/officeDocument/2006/relationships/notesSlide" Target="/ppt/notesSlides/notesSlide10.xml" Id="R088b0843ad664e3e"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c56e396636254e0d" /><Relationship Type="http://schemas.openxmlformats.org/officeDocument/2006/relationships/notesSlide" Target="/ppt/notesSlides/notesSlide11.xml" Id="Rf61438432e6e4983" /></Relationships>
</file>

<file path=ppt/slides/_rels/slide12.xml.rels>&#65279;<?xml version="1.0" encoding="utf-8"?><Relationships xmlns="http://schemas.openxmlformats.org/package/2006/relationships"><Relationship Type="http://schemas.openxmlformats.org/officeDocument/2006/relationships/slideLayout" Target="/ppt/slideLayouts/slideLayout1.xml" Id="R497d073249f24005" /><Relationship Type="http://schemas.openxmlformats.org/officeDocument/2006/relationships/notesSlide" Target="/ppt/notesSlides/notesSlide12.xml" Id="R4d7b80880c974817"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840d583b92254970" /><Relationship Type="http://schemas.openxmlformats.org/officeDocument/2006/relationships/notesSlide" Target="/ppt/notesSlides/notesSlide13.xml" Id="R036036fbc8c44264"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cf5eafd51ea444a3" /><Relationship Type="http://schemas.openxmlformats.org/officeDocument/2006/relationships/notesSlide" Target="/ppt/notesSlides/notesSlide14.xml" Id="Rdb4b2d257cd84751"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4026500a092d4e07" /><Relationship Type="http://schemas.openxmlformats.org/officeDocument/2006/relationships/notesSlide" Target="/ppt/notesSlides/notesSlide15.xml" Id="Re54409f7a32f4a57" /></Relationships>
</file>

<file path=ppt/slides/_rels/slide16.xml.rels>&#65279;<?xml version="1.0" encoding="utf-8"?><Relationships xmlns="http://schemas.openxmlformats.org/package/2006/relationships"><Relationship Type="http://schemas.openxmlformats.org/officeDocument/2006/relationships/slideLayout" Target="/ppt/slideLayouts/slideLayout1.xml" Id="Rcd4dc05747b146d2" /><Relationship Type="http://schemas.openxmlformats.org/officeDocument/2006/relationships/notesSlide" Target="/ppt/notesSlides/notesSlide16.xml" Id="R175f638b08944cc8"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6835a9195ff1404e" /><Relationship Type="http://schemas.openxmlformats.org/officeDocument/2006/relationships/notesSlide" Target="/ppt/notesSlides/notesSlide17.xml" Id="Rd5c9a8e8b3be4ca1"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6a09549ab5334484" /><Relationship Type="http://schemas.openxmlformats.org/officeDocument/2006/relationships/notesSlide" Target="/ppt/notesSlides/notesSlide18.xml" Id="Rc061c0e2629a444a"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e554eedc3258455c" /><Relationship Type="http://schemas.openxmlformats.org/officeDocument/2006/relationships/notesSlide" Target="/ppt/notesSlides/notesSlide19.xml" Id="Rb2d6f1a5d4214307" /></Relationships>
</file>

<file path=ppt/slides/_rels/slide20.xml.rels>&#65279;<?xml version="1.0" encoding="utf-8"?><Relationships xmlns="http://schemas.openxmlformats.org/package/2006/relationships"><Relationship Type="http://schemas.openxmlformats.org/officeDocument/2006/relationships/slideLayout" Target="/ppt/slideLayouts/slideLayout1.xml" Id="R97d72ca0b4d44ae8" /><Relationship Type="http://schemas.openxmlformats.org/officeDocument/2006/relationships/notesSlide" Target="/ppt/notesSlides/notesSlide20.xml" Id="Rad9d4ac02fd14bd9"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db2e9753f77c4002" /><Relationship Type="http://schemas.openxmlformats.org/officeDocument/2006/relationships/hyperlink" Target="https://docs.google.com/forms/d/e/1FAIpQLSeXXoklBxEruaJB_K0Ydf_N_YgW4KV44-PEBMDCSkhUHyBI4g/viewform" TargetMode="External" Id="R0c1514d222da4221" /><Relationship Type="http://schemas.openxmlformats.org/officeDocument/2006/relationships/notesSlide" Target="/ppt/notesSlides/notesSlide21.xml" Id="R613f97d20dc44b9d"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8dd6cc41f2da46cc" /><Relationship Type="http://schemas.openxmlformats.org/officeDocument/2006/relationships/notesSlide" Target="/ppt/notesSlides/notesSlide22.xml" Id="R9e77b2adde7749fc" /></Relationships>
</file>

<file path=ppt/slides/slide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7" name=""/>
          <p:cNvPicPr>
            <a:picLocks xmlns:a="http://schemas.openxmlformats.org/drawingml/2006/main" noChangeAspect="1"/>
          </p:cNvPicPr>
          <p:nvPr/>
        </p:nvPicPr>
        <p:blipFill>
          <a:blip xmlns:r="http://schemas.openxmlformats.org/officeDocument/2006/relationships" xmlns:a="http://schemas.openxmlformats.org/drawingml/2006/main" r:embed="R304239b03d2c4935"/>
          <a:stretch xmlns:a="http://schemas.openxmlformats.org/drawingml/2006/main"/>
        </p:blipFill>
        <p:spPr>
          <a:xfrm xmlns:a="http://schemas.openxmlformats.org/drawingml/2006/main">
            <a:off x="3087" y="0"/>
            <a:ext cx="12185522" cy="6858000"/>
          </a:xfrm>
          <a:prstGeom xmlns:a="http://schemas.openxmlformats.org/drawingml/2006/main" prst="rect">
            <a:avLst/>
          </a:prstGeom>
        </p:spPr>
      </p:pic>
      <p:sp>
        <p:nvSpPr>
          <p:cNvPr id="2" name="">
            <a:extLst xmlns:a="http://schemas.openxmlformats.org/drawingml/2006/main">
              <a:ext uri="{FF2B5EF4-FFF2-40B4-BE49-F238E27FC236}">
                <a16:creationId xmlns:a16="http://schemas.microsoft.com/office/drawing/2014/main" id="{94245F94-61C6-4BC2-9ABA-5D470333B0D2}"/>
              </a:ext>
            </a:extLst>
          </p:cNvPr>
          <p:cNvSpPr>
            <a:spLocks xmlns:a="http://schemas.openxmlformats.org/drawingml/2006/main" noGrp="1"/>
          </p:cNvSpPr>
          <p:nvPr/>
        </p:nvSpPr>
        <p:spPr>
          <a:xfrm xmlns:a="http://schemas.openxmlformats.org/drawingml/2006/main">
            <a:off x="0" y="0"/>
            <a:ext cx="5381625" cy="685800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3" name="">
            <a:extLst xmlns:a="http://schemas.openxmlformats.org/drawingml/2006/main">
              <a:ext uri="{FF2B5EF4-FFF2-40B4-BE49-F238E27FC236}">
                <a16:creationId xmlns:a16="http://schemas.microsoft.com/office/drawing/2014/main" id="{F307B52A-98EC-40D0-9793-2D1B6502F24D}"/>
              </a:ext>
            </a:extLst>
          </p:cNvPr>
          <p:cNvSpPr>
            <a:spLocks xmlns:a="http://schemas.openxmlformats.org/drawingml/2006/main" noGrp="1"/>
          </p:cNvSpPr>
          <p:nvPr/>
        </p:nvSpPr>
        <p:spPr>
          <a:xfrm xmlns:a="http://schemas.openxmlformats.org/drawingml/2006/main">
            <a:off x="552450" y="685800"/>
            <a:ext cx="4762500" cy="428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CML3113   WEEK 7</a:t>
            </a:r>
          </a:p>
        </p:txBody>
      </p:sp>
      <p:sp>
        <p:nvSpPr>
          <p:cNvPr id="4" name="">
            <a:extLst xmlns:a="http://schemas.openxmlformats.org/drawingml/2006/main">
              <a:ext uri="{FF2B5EF4-FFF2-40B4-BE49-F238E27FC236}">
                <a16:creationId xmlns:a16="http://schemas.microsoft.com/office/drawing/2014/main" id="{E597FFAE-84FB-4760-8079-C272C69530F0}"/>
              </a:ext>
            </a:extLst>
          </p:cNvPr>
          <p:cNvSpPr>
            <a:spLocks xmlns:a="http://schemas.openxmlformats.org/drawingml/2006/main" noGrp="1"/>
          </p:cNvSpPr>
          <p:nvPr/>
        </p:nvSpPr>
        <p:spPr>
          <a:xfrm xmlns:a="http://schemas.openxmlformats.org/drawingml/2006/main">
            <a:off x="552450" y="1619250"/>
            <a:ext cx="4619625" cy="2333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825" b="1">
                <a:solidFill>
                  <a:srgbClr val="FFFFFF"/>
                </a:solidFill>
                <a:latin typeface="Calibri"/>
                <a:ea typeface="Calibri"/>
                <a:cs typeface="Calibri"/>
              </a:defRPr>
            </a:pPr>
            <a:r>
              <a:rPr sz="3825" b="1">
                <a:solidFill>
                  <a:srgbClr val="FFFFFF"/>
                </a:solidFill>
                <a:latin typeface="Calibri"/>
                <a:ea typeface="Calibri"/>
                <a:cs typeface="Calibri"/>
              </a:rPr>
              <a:t>Preparing for Practical Test 1</a:t>
            </a:r>
          </a:p>
        </p:txBody>
      </p:sp>
      <p:sp>
        <p:nvSpPr>
          <p:cNvPr id="5" name="">
            <a:extLst xmlns:a="http://schemas.openxmlformats.org/drawingml/2006/main">
              <a:ext uri="{FF2B5EF4-FFF2-40B4-BE49-F238E27FC236}">
                <a16:creationId xmlns:a16="http://schemas.microsoft.com/office/drawing/2014/main" id="{E3B26E96-1E3B-4790-8374-C02144BDA4B2}"/>
              </a:ext>
            </a:extLst>
          </p:cNvPr>
          <p:cNvSpPr>
            <a:spLocks xmlns:a="http://schemas.openxmlformats.org/drawingml/2006/main" noGrp="1"/>
          </p:cNvSpPr>
          <p:nvPr/>
        </p:nvSpPr>
        <p:spPr>
          <a:xfrm xmlns:a="http://schemas.openxmlformats.org/drawingml/2006/main">
            <a:off x="552450" y="4048125"/>
            <a:ext cx="4619625" cy="1095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00" b="0">
                <a:solidFill>
                  <a:srgbClr val="D8E3EC"/>
                </a:solidFill>
                <a:latin typeface="Calibri"/>
                <a:ea typeface="Calibri"/>
                <a:cs typeface="Calibri"/>
              </a:defRPr>
            </a:pPr>
            <a:r>
              <a:rPr sz="2100" b="0">
                <a:solidFill>
                  <a:srgbClr val="D8E3EC"/>
                </a:solidFill>
                <a:latin typeface="Calibri"/>
                <a:ea typeface="Calibri"/>
                <a:cs typeface="Calibri"/>
              </a:rPr>
              <a:t>Mining and Petroleum Engineering</a:t>
            </a:r>
          </a:p>
        </p:txBody>
      </p:sp>
      <p:sp>
        <p:nvSpPr>
          <p:cNvPr id="6" name="">
            <a:extLst xmlns:a="http://schemas.openxmlformats.org/drawingml/2006/main">
              <a:ext uri="{FF2B5EF4-FFF2-40B4-BE49-F238E27FC236}">
                <a16:creationId xmlns:a16="http://schemas.microsoft.com/office/drawing/2014/main" id="{B403E999-2B80-44ED-9A16-8595F8C89BC1}"/>
              </a:ext>
            </a:extLst>
          </p:cNvPr>
          <p:cNvSpPr>
            <a:spLocks xmlns:a="http://schemas.openxmlformats.org/drawingml/2006/main" noGrp="1"/>
          </p:cNvSpPr>
          <p:nvPr/>
        </p:nvSpPr>
        <p:spPr>
          <a:xfrm xmlns:a="http://schemas.openxmlformats.org/drawingml/2006/main">
            <a:off x="552450" y="5467350"/>
            <a:ext cx="4667250" cy="8667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23 October 2026</a:t>
            </a:r>
          </a:p>
          <a:p xmlns:a="http://schemas.openxmlformats.org/drawingml/2006/main">
            <a:pPr>
              <a:defRPr sz="1725" b="0">
                <a:solidFill>
                  <a:srgbClr val="D8E3EC"/>
                </a:solidFill>
                <a:latin typeface="Calibri"/>
                <a:ea typeface="Calibri"/>
                <a:cs typeface="Calibri"/>
              </a:defRPr>
            </a:pPr>
            <a:r>
              <a:rPr sz="1725" b="0">
                <a:solidFill>
                  <a:srgbClr val="D8E3EC"/>
                </a:solidFill>
                <a:latin typeface="Calibri"/>
                <a:ea typeface="Calibri"/>
                <a:cs typeface="Calibri"/>
              </a:rPr>
              <a:t>Friday 08:00–11:00, Room 105</a:t>
            </a:r>
          </a:p>
        </p:txBody>
      </p:sp>
    </p:spTree>
    <p:extLst>
      <p:ext uri="{BB962C8B-B14F-4D97-AF65-F5344CB8AC3E}">
        <p14:creationId xmlns:p14="http://schemas.microsoft.com/office/powerpoint/2010/main" val="1632840003"/>
      </p:ext>
    </p:extLst>
  </p:cSld>
</p:sld>
</file>

<file path=ppt/slides/slide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0" name="">
            <a:extLst>
              <a:ext uri="{FF2B5EF4-FFF2-40B4-BE49-F238E27FC236}">
                <ns2:creationId id="{06B43036-41BC-4FCF-8C51-7389B875332C}"/>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B0352A70-984D-4486-B31F-D5EF7F124A28}"/>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TODAY’S DESTINATION</a:t>
            </a:r>
          </a:p>
        </p:txBody>
      </p:sp>
      <p:sp>
        <p:nvSpPr>
          <p:cNvPr id="3" name="">
            <a:extLst>
              <a:ext uri="{FF2B5EF4-FFF2-40B4-BE49-F238E27FC236}">
                <ns2:creationId id="{03344D46-0FB2-4176-B046-96B5EEF166B5}"/>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Today’s learning</a:t>
            </a:r>
          </a:p>
        </p:txBody>
      </p:sp>
      <p:sp>
        <p:nvSpPr>
          <p:cNvPr id="4" name="">
            <a:extLst>
              <a:ext uri="{FF2B5EF4-FFF2-40B4-BE49-F238E27FC236}">
                <ns2:creationId id="{B815FC37-EEA7-4602-9B8F-4244D20425F5}"/>
              </a:ext>
            </a:extLst>
          </p:cNvPr>
          <p:cNvSpPr>
            <a:spLocks noGrp="1"/>
          </p:cNvSpPr>
          <p:nvPr/>
        </p:nvSpPr>
        <p:spPr>
          <a:xfrm>
            <a:off x="590550" y="1733550"/>
            <a:ext cx="5238750" cy="4191000"/>
          </a:xfrm>
          <a:prstGeom prst="rect">
            <a:avLst/>
          </a:prstGeom>
          <a:solidFill>
            <a:srgbClr val="EEF3F6"/>
          </a:solidFill>
          <a:ln w="0">
            <a:noFill/>
          </a:ln>
        </p:spPr>
      </p:sp>
      <p:sp>
        <p:nvSpPr>
          <p:cNvPr id="5" name="">
            <a:extLst>
              <a:ext uri="{FF2B5EF4-FFF2-40B4-BE49-F238E27FC236}">
                <ns2:creationId id="{7ED93573-DCB4-46E5-8943-D980E2D5C0A8}"/>
              </a:ext>
            </a:extLst>
          </p:cNvPr>
          <p:cNvSpPr>
            <a:spLocks noGrp="1"/>
          </p:cNvSpPr>
          <p:nvPr/>
        </p:nvSpPr>
        <p:spPr>
          <a:xfrm>
            <a:off x="828675" y="2000250"/>
            <a:ext cx="4743450" cy="381000"/>
          </a:xfrm>
          <a:prstGeom prst="rect">
            <a:avLst/>
          </a:prstGeom>
          <a:noFill/>
          <a:ln w="0">
            <a:noFill/>
          </a:ln>
        </p:spPr>
        <p:txBody>
          <a:bodyPr>
            <a:noAutofit/>
          </a:bodyPr>
          <a:lstStyle/>
          <a:p>
            <a:pPr>
              <a:defRPr sz="1650" b="1">
                <a:solidFill>
                  <a:srgbClr val="E4572E"/>
                </a:solidFill>
                <a:latin typeface="Calibri"/>
                <a:ea typeface="Calibri"/>
                <a:cs typeface="Calibri"/>
              </a:defRPr>
            </a:pPr>
            <a:r>
              <a:rPr sz="1650" b="1">
                <a:solidFill>
                  <a:srgbClr val="E4572E"/>
                </a:solidFill>
                <a:latin typeface="Calibri"/>
                <a:ea typeface="Calibri"/>
                <a:cs typeface="Calibri"/>
              </a:rPr>
              <a:t>WHAT WE WILL DO</a:t>
            </a:r>
          </a:p>
        </p:txBody>
      </p:sp>
      <p:sp>
        <p:nvSpPr>
          <p:cNvPr id="6" name="">
            <a:extLst>
              <a:ext uri="{FF2B5EF4-FFF2-40B4-BE49-F238E27FC236}">
                <ns2:creationId id="{D72AEBD8-A2D4-41AC-B90B-A1ED6C2FEF02}"/>
              </a:ext>
            </a:extLst>
          </p:cNvPr>
          <p:cNvSpPr>
            <a:spLocks noGrp="1"/>
          </p:cNvSpPr>
          <p:nvPr/>
        </p:nvSpPr>
        <p:spPr>
          <a:xfrm>
            <a:off x="828675" y="2590800"/>
            <a:ext cx="4743450" cy="29527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Rehearse saving and reopening the required files.</a:t>
            </a:r>
          </a:p>
          <a:p>
            <a:r>
              <a:t/>
            </a:r>
          </a:p>
          <a:p>
            <a:pPr>
              <a:defRPr sz="2250" b="0">
                <a:solidFill>
                  <a:srgbClr val="1C3144"/>
                </a:solidFill>
                <a:latin typeface="Calibri"/>
                <a:ea typeface="Calibri"/>
                <a:cs typeface="Calibri"/>
              </a:defRPr>
            </a:pPr>
            <a:r>
              <a:rPr sz="2250" b="0">
                <a:solidFill>
                  <a:srgbClr val="1C3144"/>
                </a:solidFill>
                <a:latin typeface="Calibri"/>
                <a:ea typeface="Calibri"/>
                <a:cs typeface="Calibri"/>
              </a:rPr>
              <a:t>Check the published test rules before the session.</a:t>
            </a:r>
          </a:p>
        </p:txBody>
      </p:sp>
      <p:sp>
        <p:nvSpPr>
          <p:cNvPr id="7" name="">
            <a:extLst>
              <a:ext uri="{FF2B5EF4-FFF2-40B4-BE49-F238E27FC236}">
                <ns2:creationId id="{74CCBCCF-548E-478C-8534-84D1805F4C86}"/>
              </a:ext>
            </a:extLst>
          </p:cNvPr>
          <p:cNvSpPr>
            <a:spLocks noGrp="1"/>
          </p:cNvSpPr>
          <p:nvPr/>
        </p:nvSpPr>
        <p:spPr>
          <a:xfrm>
            <a:off x="6210300" y="2000250"/>
            <a:ext cx="5143500" cy="381000"/>
          </a:xfrm>
          <a:prstGeom prst="rect">
            <a:avLst/>
          </a:prstGeom>
          <a:noFill/>
          <a:ln w="0">
            <a:noFill/>
          </a:ln>
        </p:spPr>
        <p:txBody>
          <a:bodyPr>
            <a:noAutofit/>
          </a:bodyPr>
          <a:lstStyle/>
          <a:p>
            <a:pPr>
              <a:defRPr sz="1650" b="1">
                <a:solidFill>
                  <a:srgbClr val="2E7D6F"/>
                </a:solidFill>
                <a:latin typeface="Calibri"/>
                <a:ea typeface="Calibri"/>
                <a:cs typeface="Calibri"/>
              </a:defRPr>
            </a:pPr>
            <a:r>
              <a:rPr sz="1650" b="1">
                <a:solidFill>
                  <a:srgbClr val="2E7D6F"/>
                </a:solidFill>
                <a:latin typeface="Calibri"/>
                <a:ea typeface="Calibri"/>
                <a:cs typeface="Calibri"/>
              </a:rPr>
              <a:t>HOW YOU WILL SHOW IT</a:t>
            </a:r>
          </a:p>
        </p:txBody>
      </p:sp>
      <p:sp>
        <p:nvSpPr>
          <p:cNvPr id="8" name="">
            <a:extLst>
              <a:ext uri="{FF2B5EF4-FFF2-40B4-BE49-F238E27FC236}">
                <ns2:creationId id="{35C2E2C0-0475-4A26-AA7F-110618A341C0}"/>
              </a:ext>
            </a:extLst>
          </p:cNvPr>
          <p:cNvSpPr>
            <a:spLocks noGrp="1"/>
          </p:cNvSpPr>
          <p:nvPr/>
        </p:nvSpPr>
        <p:spPr>
          <a:xfrm>
            <a:off x="6210300" y="2590800"/>
            <a:ext cx="5095875" cy="29527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You can reopen your notebook and find code and typed reasoning without help.</a:t>
            </a:r>
          </a:p>
        </p:txBody>
      </p:sp>
      <p:sp>
        <p:nvSpPr>
          <p:cNvPr id="9" name="">
            <a:extLst>
              <a:ext uri="{FF2B5EF4-FFF2-40B4-BE49-F238E27FC236}">
                <ns2:creationId id="{DC4CBF5A-C331-44E9-85D2-61DFC7D0103F}"/>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a:t>
            </a:r>
          </a:p>
        </p:txBody>
      </p:sp>
    </p:spTree>
    <p:extLst>
      <p:ext uri="{BB962C8B-B14F-4D97-AF65-F5344CB8AC3E}">
        <ns3:creationId val="1308961011"/>
      </p:ext>
    </p:extLst>
  </p:cSld>
</p:sld>
</file>

<file path=ppt/slides/slide3.xml><?xml version="1.0" encoding="utf-8"?>
<p:sld xmlns:p="http://schemas.openxmlformats.org/presentationml/2006/main">
  <p:cSld>
    <p:bg>
      <p:bgPr>
        <a:solidFill xmlns:a="http://schemas.openxmlformats.org/drawingml/2006/main">
          <a:srgbClr val="1C3144"/>
        </a:solidFill>
      </p:bgPr>
    </p:bg>
    <p:spTree>
      <p:nvGrpSpPr>
        <p:cNvPr id="1" name=""/>
        <p:cNvGrpSpPr/>
        <p:nvPr/>
      </p:nvGrpSpPr>
      <p:grpSpPr>
        <a:xfrm xmlns:a="http://schemas.openxmlformats.org/drawingml/2006/main"/>
      </p:grpSpPr>
      <p:sp>
        <p:nvSpPr>
          <p:cNvPr id="7" name="">
            <a:extLst xmlns:a="http://schemas.openxmlformats.org/drawingml/2006/main">
              <a:ext uri="{FF2B5EF4-FFF2-40B4-BE49-F238E27FC236}">
                <a16:creationId xmlns:a16="http://schemas.microsoft.com/office/drawing/2014/main" id="{692866C6-5661-44C7-B60B-03C59103F11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PREDICT BEFORE RUNNING</a:t>
            </a:r>
          </a:p>
        </p:txBody>
      </p:sp>
      <p:sp>
        <p:nvSpPr>
          <p:cNvPr id="2" name="">
            <a:extLst xmlns:a="http://schemas.openxmlformats.org/drawingml/2006/main">
              <a:ext uri="{FF2B5EF4-FFF2-40B4-BE49-F238E27FC236}">
                <a16:creationId xmlns:a16="http://schemas.microsoft.com/office/drawing/2014/main" id="{2F8800D0-0A70-4FF3-95B4-2ED57C16588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Recall and a first attempt</a:t>
            </a:r>
          </a:p>
        </p:txBody>
      </p:sp>
      <p:sp>
        <p:nvSpPr>
          <p:cNvPr id="3" name="">
            <a:extLst xmlns:a="http://schemas.openxmlformats.org/drawingml/2006/main">
              <a:ext uri="{FF2B5EF4-FFF2-40B4-BE49-F238E27FC236}">
                <a16:creationId xmlns:a16="http://schemas.microsoft.com/office/drawing/2014/main" id="{C4E13F96-02BD-4415-8688-FA0D3F3A98E2}"/>
              </a:ext>
            </a:extLst>
          </p:cNvPr>
          <p:cNvSpPr>
            <a:spLocks xmlns:a="http://schemas.openxmlformats.org/drawingml/2006/main" noGrp="1"/>
          </p:cNvSpPr>
          <p:nvPr/>
        </p:nvSpPr>
        <p:spPr>
          <a:xfrm xmlns:a="http://schemas.openxmlformats.org/drawingml/2006/main">
            <a:off x="619125" y="1619250"/>
            <a:ext cx="2857500" cy="4953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950" b="1">
                <a:solidFill>
                  <a:srgbClr val="E4572E"/>
                </a:solidFill>
                <a:latin typeface="Calibri"/>
                <a:ea typeface="Calibri"/>
                <a:cs typeface="Calibri"/>
              </a:defRPr>
            </a:pPr>
            <a:r>
              <a:rPr sz="1950" b="1">
                <a:solidFill>
                  <a:srgbClr val="E4572E"/>
                </a:solidFill>
                <a:latin typeface="Calibri"/>
                <a:ea typeface="Calibri"/>
                <a:cs typeface="Calibri"/>
              </a:rPr>
              <a:t>YOUR TURN</a:t>
            </a:r>
          </a:p>
        </p:txBody>
      </p:sp>
      <p:sp>
        <p:nvSpPr>
          <p:cNvPr id="4" name="">
            <a:extLst xmlns:a="http://schemas.openxmlformats.org/drawingml/2006/main">
              <a:ext uri="{FF2B5EF4-FFF2-40B4-BE49-F238E27FC236}">
                <a16:creationId xmlns:a16="http://schemas.microsoft.com/office/drawing/2014/main" id="{B037640B-0FDD-41C5-859D-E0976E747BD9}"/>
              </a:ext>
            </a:extLst>
          </p:cNvPr>
          <p:cNvSpPr>
            <a:spLocks xmlns:a="http://schemas.openxmlformats.org/drawingml/2006/main" noGrp="1"/>
          </p:cNvSpPr>
          <p:nvPr/>
        </p:nvSpPr>
        <p:spPr>
          <a:xfrm xmlns:a="http://schemas.openxmlformats.org/drawingml/2006/main">
            <a:off x="619125" y="2295525"/>
            <a:ext cx="10810875" cy="3095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850" b="0">
                <a:solidFill>
                  <a:srgbClr val="FFFFFF"/>
                </a:solidFill>
                <a:latin typeface="Calibri"/>
                <a:ea typeface="Calibri"/>
                <a:cs typeface="Calibri"/>
              </a:defRPr>
            </a:pPr>
            <a:r>
              <a:rPr sz="2850" b="0">
                <a:solidFill>
                  <a:srgbClr val="FFFFFF"/>
                </a:solidFill>
                <a:latin typeface="Calibri"/>
                <a:ea typeface="Calibri"/>
                <a:cs typeface="Calibri"/>
              </a:rPr>
              <a:t>Can you open the provided notebook and data on the prepared lab computer without internet?</a:t>
            </a:r>
          </a:p>
        </p:txBody>
      </p:sp>
      <p:sp>
        <p:nvSpPr>
          <p:cNvPr id="5" name="">
            <a:extLst xmlns:a="http://schemas.openxmlformats.org/drawingml/2006/main">
              <a:ext uri="{FF2B5EF4-FFF2-40B4-BE49-F238E27FC236}">
                <a16:creationId xmlns:a16="http://schemas.microsoft.com/office/drawing/2014/main" id="{B4BFA2E3-1F65-48CE-9051-D131EF2ACCEF}"/>
              </a:ext>
            </a:extLst>
          </p:cNvPr>
          <p:cNvSpPr>
            <a:spLocks xmlns:a="http://schemas.openxmlformats.org/drawingml/2006/main" noGrp="1"/>
          </p:cNvSpPr>
          <p:nvPr/>
        </p:nvSpPr>
        <p:spPr>
          <a:xfrm xmlns:a="http://schemas.openxmlformats.org/drawingml/2006/main">
            <a:off x="619125" y="5791200"/>
            <a:ext cx="10810875" cy="5429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BBCDD9"/>
                </a:solidFill>
                <a:latin typeface="Calibri"/>
                <a:ea typeface="Calibri"/>
                <a:cs typeface="Calibri"/>
              </a:defRPr>
            </a:pPr>
            <a:r>
              <a:rPr sz="1800" b="0">
                <a:solidFill>
                  <a:srgbClr val="BBCDD9"/>
                </a:solidFill>
                <a:latin typeface="Calibri"/>
                <a:ea typeface="Calibri"/>
                <a:cs typeface="Calibri"/>
              </a:rPr>
              <a:t>Think alone first. Then compare your reasoning with a partner.</a:t>
            </a:r>
          </a:p>
        </p:txBody>
      </p:sp>
      <p:sp>
        <p:nvSpPr>
          <p:cNvPr id="6" name="">
            <a:extLst xmlns:a="http://schemas.openxmlformats.org/drawingml/2006/main">
              <a:ext uri="{FF2B5EF4-FFF2-40B4-BE49-F238E27FC236}">
                <a16:creationId xmlns:a16="http://schemas.microsoft.com/office/drawing/2014/main" id="{B8098C51-73A1-463B-B438-E70A0E93593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7   3</a:t>
            </a:r>
          </a:p>
        </p:txBody>
      </p:sp>
    </p:spTree>
    <p:extLst>
      <p:ext uri="{BB962C8B-B14F-4D97-AF65-F5344CB8AC3E}">
        <p14:creationId xmlns:p14="http://schemas.microsoft.com/office/powerpoint/2010/main" val="101224530"/>
      </p:ext>
    </p:extLst>
  </p:cSld>
</p:sld>
</file>

<file path=ppt/slides/slide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295E8564-B0C8-4648-9FC0-B6B839C9AA46}"/>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C202AB97-BB66-4A82-B903-AE3BF9578E50}"/>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42410F71-DA70-46FF-968D-2102EACE34F7}"/>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Rehearse before test day</a:t>
            </a:r>
          </a:p>
        </p:txBody>
      </p:sp>
      <p:sp>
        <p:nvSpPr>
          <p:cNvPr id="4" name="">
            <a:extLst xmlns:a="http://schemas.openxmlformats.org/drawingml/2006/main">
              <a:ext uri="{FF2B5EF4-FFF2-40B4-BE49-F238E27FC236}">
                <a16:creationId xmlns:a16="http://schemas.microsoft.com/office/drawing/2014/main" id="{42C6F5EB-F63A-4F2A-A401-78C107EE3E9E}"/>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52EFEF53-B250-4A2C-9B4C-9D36F10D4FDB}"/>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separate practice notebook before the timed session.</a:t>
            </a:r>
          </a:p>
        </p:txBody>
      </p:sp>
      <p:sp>
        <p:nvSpPr>
          <p:cNvPr id="6" name="">
            <a:extLst xmlns:a="http://schemas.openxmlformats.org/drawingml/2006/main">
              <a:ext uri="{FF2B5EF4-FFF2-40B4-BE49-F238E27FC236}">
                <a16:creationId xmlns:a16="http://schemas.microsoft.com/office/drawing/2014/main" id="{EB6D258E-E9CB-4928-8469-C782EB5E45D7}"/>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778F888-C023-4501-8438-D36D9B927E71}"/>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Open the supplied data and run a familiar calculation.</a:t>
            </a:r>
          </a:p>
        </p:txBody>
      </p:sp>
      <p:sp>
        <p:nvSpPr>
          <p:cNvPr id="8" name="">
            <a:extLst xmlns:a="http://schemas.openxmlformats.org/drawingml/2006/main">
              <a:ext uri="{FF2B5EF4-FFF2-40B4-BE49-F238E27FC236}">
                <a16:creationId xmlns:a16="http://schemas.microsoft.com/office/drawing/2014/main" id="{C0147C91-AF51-4C61-9D03-DA4AB98DE425}"/>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0D61185-6710-44D9-A667-8E0E62CCBB21}"/>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test packet and permitted resources are issued by the lecturer.</a:t>
            </a:r>
          </a:p>
        </p:txBody>
      </p:sp>
      <p:sp>
        <p:nvSpPr>
          <p:cNvPr id="10" name="">
            <a:extLst xmlns:a="http://schemas.openxmlformats.org/drawingml/2006/main">
              <a:ext uri="{FF2B5EF4-FFF2-40B4-BE49-F238E27FC236}">
                <a16:creationId xmlns:a16="http://schemas.microsoft.com/office/drawing/2014/main" id="{A380B925-81F9-4B5F-9DF0-508D092096FA}"/>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4</a:t>
            </a:r>
          </a:p>
        </p:txBody>
      </p:sp>
    </p:spTree>
    <p:extLst>
      <p:ext uri="{BB962C8B-B14F-4D97-AF65-F5344CB8AC3E}">
        <p14:creationId xmlns:p14="http://schemas.microsoft.com/office/powerpoint/2010/main" val="505491372"/>
      </p:ext>
    </p:extLst>
  </p:cSld>
</p:sld>
</file>

<file path=ppt/slides/slide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1" name="">
            <a:extLst>
              <a:ext uri="{FF2B5EF4-FFF2-40B4-BE49-F238E27FC236}">
                <ns2:creationId id="{D10BC3D6-5FF7-4C51-A9FB-E94B6FB57692}"/>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3A0B13CA-9E8B-4168-BB35-11FFC4D96FC0}"/>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27B4E67F-1B84-44B2-8FC3-DF805658855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Save the complete notebook</a:t>
            </a:r>
          </a:p>
        </p:txBody>
      </p:sp>
      <p:sp>
        <p:nvSpPr>
          <p:cNvPr id="4" name="">
            <a:extLst>
              <a:ext uri="{FF2B5EF4-FFF2-40B4-BE49-F238E27FC236}">
                <ns2:creationId id="{5B2BBB30-8663-4AD7-8526-D864EC6EF2B1}"/>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991811D2-AC6A-4352-9BAE-FC99C11115AE}"/>
              </a:ext>
            </a:extLst>
          </p:cNvPr>
          <p:cNvSpPr>
            <a:spLocks noGrp="1"/>
          </p:cNvSpPr>
          <p:nvPr/>
        </p:nvSpPr>
        <p:spPr>
          <a:xfrm>
            <a:off x="1381125" y="17811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Type Part B under My written evidence in the notebook.</a:t>
            </a:r>
          </a:p>
        </p:txBody>
      </p:sp>
      <p:sp>
        <p:nvSpPr>
          <p:cNvPr id="6" name="">
            <a:extLst>
              <a:ext uri="{FF2B5EF4-FFF2-40B4-BE49-F238E27FC236}">
                <ns2:creationId id="{614876A4-44C8-416D-80AE-781FBE7DC061}"/>
              </a:ext>
            </a:extLst>
          </p:cNvPr>
          <p:cNvSpPr>
            <a:spLocks noGrp="1"/>
          </p:cNvSpPr>
          <p:nvPr/>
        </p:nvSpPr>
        <p:spPr>
          <a:xfrm>
            <a:off x="590550" y="32099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EDBF89D2-7E0A-4936-99AF-552BB93B6D3C}"/>
              </a:ext>
            </a:extLst>
          </p:cNvPr>
          <p:cNvSpPr>
            <a:spLocks noGrp="1"/>
          </p:cNvSpPr>
          <p:nvPr/>
        </p:nvSpPr>
        <p:spPr>
          <a:xfrm>
            <a:off x="1381125" y="320992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Locate the complete notebook in the designated local folder.</a:t>
            </a:r>
          </a:p>
        </p:txBody>
      </p:sp>
      <p:sp>
        <p:nvSpPr>
          <p:cNvPr id="8" name="">
            <a:extLst>
              <a:ext uri="{FF2B5EF4-FFF2-40B4-BE49-F238E27FC236}">
                <ns2:creationId id="{169BD1E9-44C0-4F4A-A874-F5EE5DBEFE01}"/>
              </a:ext>
            </a:extLst>
          </p:cNvPr>
          <p:cNvSpPr>
            <a:spLocks noGrp="1"/>
          </p:cNvSpPr>
          <p:nvPr/>
        </p:nvSpPr>
        <p:spPr>
          <a:xfrm>
            <a:off x="590550" y="46386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413BA228-42BE-403C-AE75-317CB6DB97B5}"/>
              </a:ext>
            </a:extLst>
          </p:cNvPr>
          <p:cNvSpPr>
            <a:spLocks noGrp="1"/>
          </p:cNvSpPr>
          <p:nvPr/>
        </p:nvSpPr>
        <p:spPr>
          <a:xfrm>
            <a:off x="1381125" y="4638675"/>
            <a:ext cx="10096500" cy="135255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Reopen it to check that code and written answers were saved.</a:t>
            </a:r>
          </a:p>
        </p:txBody>
      </p:sp>
      <p:sp>
        <p:nvSpPr>
          <p:cNvPr id="10" name="">
            <a:extLst>
              <a:ext uri="{FF2B5EF4-FFF2-40B4-BE49-F238E27FC236}">
                <ns2:creationId id="{1D6364E6-6382-4BDC-950B-3795C7FEF9C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5</a:t>
            </a:r>
          </a:p>
        </p:txBody>
      </p:sp>
    </p:spTree>
    <p:extLst>
      <p:ext uri="{BB962C8B-B14F-4D97-AF65-F5344CB8AC3E}">
        <ns3:creationId val="152090658"/>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8E790227-4545-4711-8836-0F9D3F245931}"/>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25E2B21-0FFB-4795-BC7B-DA20715D306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945FCF8-324B-4DE8-B9A8-FB363AC2A61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Follow the published test procedure</a:t>
            </a:r>
          </a:p>
        </p:txBody>
      </p:sp>
      <p:sp>
        <p:nvSpPr>
          <p:cNvPr id="4" name="">
            <a:extLst xmlns:a="http://schemas.openxmlformats.org/drawingml/2006/main">
              <a:ext uri="{FF2B5EF4-FFF2-40B4-BE49-F238E27FC236}">
                <a16:creationId xmlns:a16="http://schemas.microsoft.com/office/drawing/2014/main" id="{6210F6BE-8C3F-45D2-ADEF-C7E32BFF71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7426448A-B54D-4677-A6E8-54BD0563F70C}"/>
              </a:ext>
            </a:extLst>
          </p:cNvPr>
          <p:cNvSpPr>
            <a:spLocks xmlns:a="http://schemas.openxmlformats.org/drawingml/2006/main" noGrp="1"/>
          </p:cNvSpPr>
          <p:nvPr/>
        </p:nvSpPr>
        <p:spPr>
          <a:xfrm xmlns:a="http://schemas.openxmlformats.org/drawingml/2006/main">
            <a:off x="1381125" y="17811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Read the briefing before starting assessed work.</a:t>
            </a:r>
          </a:p>
        </p:txBody>
      </p:sp>
      <p:sp>
        <p:nvSpPr>
          <p:cNvPr id="6" name="">
            <a:extLst xmlns:a="http://schemas.openxmlformats.org/drawingml/2006/main">
              <a:ext uri="{FF2B5EF4-FFF2-40B4-BE49-F238E27FC236}">
                <a16:creationId xmlns:a16="http://schemas.microsoft.com/office/drawing/2014/main" id="{D57A45D4-ECFF-4402-A04F-64CAF5B8543B}"/>
              </a:ext>
            </a:extLst>
          </p:cNvPr>
          <p:cNvSpPr>
            <a:spLocks xmlns:a="http://schemas.openxmlformats.org/drawingml/2006/main" noGrp="1"/>
          </p:cNvSpPr>
          <p:nvPr/>
        </p:nvSpPr>
        <p:spPr>
          <a:xfrm xmlns:a="http://schemas.openxmlformats.org/drawingml/2006/main">
            <a:off x="590550" y="32099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8557646-9DB6-4E79-821E-CD91C0D0E499}"/>
              </a:ext>
            </a:extLst>
          </p:cNvPr>
          <p:cNvSpPr>
            <a:spLocks xmlns:a="http://schemas.openxmlformats.org/drawingml/2006/main" noGrp="1"/>
          </p:cNvSpPr>
          <p:nvPr/>
        </p:nvSpPr>
        <p:spPr>
          <a:xfrm xmlns:a="http://schemas.openxmlformats.org/drawingml/2006/main">
            <a:off x="1381125" y="320992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only the resources permitted for that part of the test.</a:t>
            </a:r>
          </a:p>
        </p:txBody>
      </p:sp>
      <p:sp>
        <p:nvSpPr>
          <p:cNvPr id="8" name="">
            <a:extLst xmlns:a="http://schemas.openxmlformats.org/drawingml/2006/main">
              <a:ext uri="{FF2B5EF4-FFF2-40B4-BE49-F238E27FC236}">
                <a16:creationId xmlns:a16="http://schemas.microsoft.com/office/drawing/2014/main" id="{F13B8CB9-CC46-423D-8769-3B3611BA90AE}"/>
              </a:ext>
            </a:extLst>
          </p:cNvPr>
          <p:cNvSpPr>
            <a:spLocks xmlns:a="http://schemas.openxmlformats.org/drawingml/2006/main" noGrp="1"/>
          </p:cNvSpPr>
          <p:nvPr/>
        </p:nvSpPr>
        <p:spPr>
          <a:xfrm xmlns:a="http://schemas.openxmlformats.org/drawingml/2006/main">
            <a:off x="590550" y="46386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86DFF898-A481-40A7-94EF-B2D6B0409530}"/>
              </a:ext>
            </a:extLst>
          </p:cNvPr>
          <p:cNvSpPr>
            <a:spLocks xmlns:a="http://schemas.openxmlformats.org/drawingml/2006/main" noGrp="1"/>
          </p:cNvSpPr>
          <p:nvPr/>
        </p:nvSpPr>
        <p:spPr>
          <a:xfrm xmlns:a="http://schemas.openxmlformats.org/drawingml/2006/main">
            <a:off x="1381125" y="4638675"/>
            <a:ext cx="10096500" cy="1352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Report a technical failure to the invigilator immediately.</a:t>
            </a:r>
          </a:p>
        </p:txBody>
      </p:sp>
      <p:sp>
        <p:nvSpPr>
          <p:cNvPr id="10" name="">
            <a:extLst xmlns:a="http://schemas.openxmlformats.org/drawingml/2006/main">
              <a:ext uri="{FF2B5EF4-FFF2-40B4-BE49-F238E27FC236}">
                <a16:creationId xmlns:a16="http://schemas.microsoft.com/office/drawing/2014/main" id="{4EE93256-57D2-4734-B621-DC968E0BE430}"/>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6</a:t>
            </a:r>
          </a:p>
        </p:txBody>
      </p:sp>
    </p:spTree>
    <p:extLst>
      <p:ext uri="{BB962C8B-B14F-4D97-AF65-F5344CB8AC3E}">
        <p14:creationId xmlns:p14="http://schemas.microsoft.com/office/powerpoint/2010/main" val="1770288892"/>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2" name="">
            <a:extLst xmlns:a="http://schemas.openxmlformats.org/drawingml/2006/main">
              <a:ext uri="{FF2B5EF4-FFF2-40B4-BE49-F238E27FC236}">
                <a16:creationId xmlns:a16="http://schemas.microsoft.com/office/drawing/2014/main" id="{EC32F61D-4FAC-4310-A68F-BE0FDFA06B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B6E5E93-C8AA-4838-A34C-6A8CDF89D58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WORKED EXAMPLE</a:t>
            </a:r>
          </a:p>
        </p:txBody>
      </p:sp>
      <p:sp>
        <p:nvSpPr>
          <p:cNvPr id="3" name="">
            <a:extLst xmlns:a="http://schemas.openxmlformats.org/drawingml/2006/main">
              <a:ext uri="{FF2B5EF4-FFF2-40B4-BE49-F238E27FC236}">
                <a16:creationId xmlns:a16="http://schemas.microsoft.com/office/drawing/2014/main" id="{326EF3F7-C8A1-41A1-9357-E221D8848199}"/>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Practice before test day</a:t>
            </a:r>
          </a:p>
        </p:txBody>
      </p:sp>
      <p:sp>
        <p:nvSpPr>
          <p:cNvPr id="4" name="">
            <a:extLst xmlns:a="http://schemas.openxmlformats.org/drawingml/2006/main">
              <a:ext uri="{FF2B5EF4-FFF2-40B4-BE49-F238E27FC236}">
                <a16:creationId xmlns:a16="http://schemas.microsoft.com/office/drawing/2014/main" id="{51C18D06-7E15-4C76-B830-22DEFFBAEB24}"/>
              </a:ext>
            </a:extLst>
          </p:cNvPr>
          <p:cNvSpPr>
            <a:spLocks xmlns:a="http://schemas.openxmlformats.org/drawingml/2006/main" noGrp="1"/>
          </p:cNvSpPr>
          <p:nvPr/>
        </p:nvSpPr>
        <p:spPr>
          <a:xfrm xmlns:a="http://schemas.openxmlformats.org/drawingml/2006/main">
            <a:off x="523875" y="1695450"/>
            <a:ext cx="7296150" cy="34099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21BA372A-63F3-41FA-8589-885C60347827}"/>
              </a:ext>
            </a:extLst>
          </p:cNvPr>
          <p:cNvSpPr>
            <a:spLocks xmlns:a="http://schemas.openxmlformats.org/drawingml/2006/main" noGrp="1"/>
          </p:cNvSpPr>
          <p:nvPr/>
        </p:nvSpPr>
        <p:spPr>
          <a:xfrm xmlns:a="http://schemas.openxmlformats.org/drawingml/2006/main">
            <a:off x="685800" y="1866900"/>
            <a:ext cx="6991350" cy="3143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values = [3, 5, 7]</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print(len(values))</a:t>
            </a:r>
          </a:p>
          <a:p xmlns:a="http://schemas.openxmlformats.org/drawingml/2006/main">
            <a:pPr>
              <a:defRPr sz="2175" b="0">
                <a:solidFill>
                  <a:srgbClr val="F4F7FA"/>
                </a:solidFill>
                <a:latin typeface="Courier New"/>
                <a:ea typeface="Courier New"/>
                <a:cs typeface="Courier New"/>
              </a:defRPr>
            </a:pPr>
            <a:r>
              <a:rPr sz="2175" b="0">
                <a:solidFill>
                  <a:srgbClr val="F4F7FA"/>
                </a:solidFill>
                <a:latin typeface="Courier New"/>
                <a:ea typeface="Courier New"/>
                <a:cs typeface="Courier New"/>
              </a:rPr>
              <a:t>print(sum(values) / len(values))</a:t>
            </a:r>
          </a:p>
        </p:txBody>
      </p:sp>
      <p:sp>
        <p:nvSpPr>
          <p:cNvPr id="6" name="">
            <a:extLst xmlns:a="http://schemas.openxmlformats.org/drawingml/2006/main">
              <a:ext uri="{FF2B5EF4-FFF2-40B4-BE49-F238E27FC236}">
                <a16:creationId xmlns:a16="http://schemas.microsoft.com/office/drawing/2014/main" id="{18D5B072-C6CE-427F-AE8B-B1B5865DDD8E}"/>
              </a:ext>
            </a:extLst>
          </p:cNvPr>
          <p:cNvSpPr>
            <a:spLocks xmlns:a="http://schemas.openxmlformats.org/drawingml/2006/main" noGrp="1"/>
          </p:cNvSpPr>
          <p:nvPr/>
        </p:nvSpPr>
        <p:spPr>
          <a:xfrm xmlns:a="http://schemas.openxmlformats.org/drawingml/2006/main">
            <a:off x="8096250" y="1714500"/>
            <a:ext cx="3429000" cy="3429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2E7D6F"/>
                </a:solidFill>
                <a:latin typeface="Calibri"/>
                <a:ea typeface="Calibri"/>
                <a:cs typeface="Calibri"/>
              </a:defRPr>
            </a:pPr>
            <a:r>
              <a:rPr sz="1500" b="1">
                <a:solidFill>
                  <a:srgbClr val="2E7D6F"/>
                </a:solidFill>
                <a:latin typeface="Calibri"/>
                <a:ea typeface="Calibri"/>
                <a:cs typeface="Calibri"/>
              </a:rPr>
              <a:t>HOW TO READ IT</a:t>
            </a:r>
          </a:p>
        </p:txBody>
      </p:sp>
      <p:sp>
        <p:nvSpPr>
          <p:cNvPr id="7" name="">
            <a:extLst xmlns:a="http://schemas.openxmlformats.org/drawingml/2006/main">
              <a:ext uri="{FF2B5EF4-FFF2-40B4-BE49-F238E27FC236}">
                <a16:creationId xmlns:a16="http://schemas.microsoft.com/office/drawing/2014/main" id="{53CB0C8B-4F59-4A16-906D-3A9F9ECD74F4}"/>
              </a:ext>
            </a:extLst>
          </p:cNvPr>
          <p:cNvSpPr>
            <a:spLocks xmlns:a="http://schemas.openxmlformats.org/drawingml/2006/main" noGrp="1"/>
          </p:cNvSpPr>
          <p:nvPr/>
        </p:nvSpPr>
        <p:spPr>
          <a:xfrm xmlns:a="http://schemas.openxmlformats.org/drawingml/2006/main">
            <a:off x="8096250" y="22098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print displays a value below the cell.</a:t>
            </a:r>
          </a:p>
        </p:txBody>
      </p:sp>
      <p:sp>
        <p:nvSpPr>
          <p:cNvPr id="8" name="">
            <a:extLst xmlns:a="http://schemas.openxmlformats.org/drawingml/2006/main">
              <a:ext uri="{FF2B5EF4-FFF2-40B4-BE49-F238E27FC236}">
                <a16:creationId xmlns:a16="http://schemas.microsoft.com/office/drawing/2014/main" id="{96B6490A-012C-4F3E-BC5E-4C43545C877F}"/>
              </a:ext>
            </a:extLst>
          </p:cNvPr>
          <p:cNvSpPr>
            <a:spLocks xmlns:a="http://schemas.openxmlformats.org/drawingml/2006/main" noGrp="1"/>
          </p:cNvSpPr>
          <p:nvPr/>
        </p:nvSpPr>
        <p:spPr>
          <a:xfrm xmlns:a="http://schemas.openxmlformats.org/drawingml/2006/main">
            <a:off x="8096250" y="32766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Square brackets create a list or select an item.</a:t>
            </a:r>
          </a:p>
        </p:txBody>
      </p:sp>
      <p:sp>
        <p:nvSpPr>
          <p:cNvPr id="9" name="">
            <a:extLst xmlns:a="http://schemas.openxmlformats.org/drawingml/2006/main">
              <a:ext uri="{FF2B5EF4-FFF2-40B4-BE49-F238E27FC236}">
                <a16:creationId xmlns:a16="http://schemas.microsoft.com/office/drawing/2014/main" id="{73C15FB2-13D8-4B21-AD79-D19EE48A1106}"/>
              </a:ext>
            </a:extLst>
          </p:cNvPr>
          <p:cNvSpPr>
            <a:spLocks xmlns:a="http://schemas.openxmlformats.org/drawingml/2006/main" noGrp="1"/>
          </p:cNvSpPr>
          <p:nvPr/>
        </p:nvSpPr>
        <p:spPr>
          <a:xfrm xmlns:a="http://schemas.openxmlformats.org/drawingml/2006/main">
            <a:off x="8096250" y="4343400"/>
            <a:ext cx="3333750" cy="9429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1C3144"/>
                </a:solidFill>
                <a:latin typeface="Calibri"/>
                <a:ea typeface="Calibri"/>
                <a:cs typeface="Calibri"/>
              </a:defRPr>
            </a:pPr>
            <a:r>
              <a:rPr sz="1800" b="0">
                <a:solidFill>
                  <a:srgbClr val="1C3144"/>
                </a:solidFill>
                <a:latin typeface="Calibri"/>
                <a:ea typeface="Calibri"/>
                <a:cs typeface="Calibri"/>
              </a:rPr>
              <a:t>= assigns the value on the right to the name on the left.</a:t>
            </a:r>
          </a:p>
        </p:txBody>
      </p:sp>
      <p:sp>
        <p:nvSpPr>
          <p:cNvPr id="10" name="">
            <a:extLst xmlns:a="http://schemas.openxmlformats.org/drawingml/2006/main">
              <a:ext uri="{FF2B5EF4-FFF2-40B4-BE49-F238E27FC236}">
                <a16:creationId xmlns:a16="http://schemas.microsoft.com/office/drawing/2014/main" id="{032FA6F2-F95E-4931-8231-E9464991F8C6}"/>
              </a:ext>
            </a:extLst>
          </p:cNvPr>
          <p:cNvSpPr>
            <a:spLocks xmlns:a="http://schemas.openxmlformats.org/drawingml/2006/main" noGrp="1"/>
          </p:cNvSpPr>
          <p:nvPr/>
        </p:nvSpPr>
        <p:spPr>
          <a:xfrm xmlns:a="http://schemas.openxmlformats.org/drawingml/2006/main">
            <a:off x="685800" y="5829300"/>
            <a:ext cx="10668000" cy="4762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800" b="0">
                <a:solidFill>
                  <a:srgbClr val="6B7A8A"/>
                </a:solidFill>
                <a:latin typeface="Calibri"/>
                <a:ea typeface="Calibri"/>
                <a:cs typeface="Calibri"/>
              </a:defRPr>
            </a:pPr>
            <a:r>
              <a:rPr sz="1800" b="0">
                <a:solidFill>
                  <a:srgbClr val="6B7A8A"/>
                </a:solidFill>
                <a:latin typeface="Calibri"/>
                <a:ea typeface="Calibri"/>
                <a:cs typeface="Calibri"/>
              </a:rPr>
              <a:t>Read the code together. Predict the result before running.</a:t>
            </a:r>
          </a:p>
        </p:txBody>
      </p:sp>
      <p:sp>
        <p:nvSpPr>
          <p:cNvPr id="11" name="">
            <a:extLst xmlns:a="http://schemas.openxmlformats.org/drawingml/2006/main">
              <a:ext uri="{FF2B5EF4-FFF2-40B4-BE49-F238E27FC236}">
                <a16:creationId xmlns:a16="http://schemas.microsoft.com/office/drawing/2014/main" id="{3DA8758B-33C4-44D2-9133-82D60B4D899B}"/>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7</a:t>
            </a:r>
          </a:p>
        </p:txBody>
      </p:sp>
    </p:spTree>
    <p:extLst>
      <p:ext uri="{BB962C8B-B14F-4D97-AF65-F5344CB8AC3E}">
        <p14:creationId xmlns:p14="http://schemas.microsoft.com/office/powerpoint/2010/main" val="993276598"/>
      </p:ext>
    </p:extLst>
  </p:cSld>
</p:sld>
</file>

<file path=ppt/slides/slide8.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C8FAD8A7-4341-44E4-8193-4186F89E3E4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CFC298AC-9DFB-4669-ADD5-85DD7FCECBCD}"/>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TRY IT TOGETHER   5 MINUTES</a:t>
            </a:r>
          </a:p>
        </p:txBody>
      </p:sp>
      <p:sp>
        <p:nvSpPr>
          <p:cNvPr id="3" name="">
            <a:extLst>
              <a:ext uri="{FF2B5EF4-FFF2-40B4-BE49-F238E27FC236}">
                <ns2:creationId id="{8DBC1B10-D2DE-453B-AD05-1F461F79C783}"/>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Before the timed test</a:t>
            </a:r>
          </a:p>
        </p:txBody>
      </p:sp>
      <p:sp>
        <p:nvSpPr>
          <p:cNvPr id="4" name="">
            <a:extLst>
              <a:ext uri="{FF2B5EF4-FFF2-40B4-BE49-F238E27FC236}">
                <ns2:creationId id="{D85F2D1E-A200-4D0B-8305-CC873BC86CE3}"/>
              </a:ext>
            </a:extLst>
          </p:cNvPr>
          <p:cNvSpPr>
            <a:spLocks noGrp="1"/>
          </p:cNvSpPr>
          <p:nvPr/>
        </p:nvSpPr>
        <p:spPr>
          <a:xfrm>
            <a:off x="619125" y="1809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62DD3ADD-B9BF-468F-9909-8D153CA060F7}"/>
              </a:ext>
            </a:extLst>
          </p:cNvPr>
          <p:cNvSpPr>
            <a:spLocks noGrp="1"/>
          </p:cNvSpPr>
          <p:nvPr/>
        </p:nvSpPr>
        <p:spPr>
          <a:xfrm>
            <a:off x="1409700" y="1809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a practice notebook in the designated local folder.</a:t>
            </a:r>
          </a:p>
        </p:txBody>
      </p:sp>
      <p:sp>
        <p:nvSpPr>
          <p:cNvPr id="6" name="">
            <a:extLst>
              <a:ext uri="{FF2B5EF4-FFF2-40B4-BE49-F238E27FC236}">
                <ns2:creationId id="{7F9EEA21-81E5-4259-94EA-720F4FC82513}"/>
              </a:ext>
            </a:extLst>
          </p:cNvPr>
          <p:cNvSpPr>
            <a:spLocks noGrp="1"/>
          </p:cNvSpPr>
          <p:nvPr/>
        </p:nvSpPr>
        <p:spPr>
          <a:xfrm>
            <a:off x="619125" y="31432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A94EE47A-84B8-4F89-A08A-080C4CDE3988}"/>
              </a:ext>
            </a:extLst>
          </p:cNvPr>
          <p:cNvSpPr>
            <a:spLocks noGrp="1"/>
          </p:cNvSpPr>
          <p:nvPr/>
        </p:nvSpPr>
        <p:spPr>
          <a:xfrm>
            <a:off x="1409700" y="31432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Type a practice explanation in the notebook text cell.</a:t>
            </a:r>
          </a:p>
        </p:txBody>
      </p:sp>
      <p:sp>
        <p:nvSpPr>
          <p:cNvPr id="8" name="">
            <a:extLst>
              <a:ext uri="{FF2B5EF4-FFF2-40B4-BE49-F238E27FC236}">
                <ns2:creationId id="{D38CE2C5-6EBA-46AA-89A0-9E824C8309C3}"/>
              </a:ext>
            </a:extLst>
          </p:cNvPr>
          <p:cNvSpPr>
            <a:spLocks noGrp="1"/>
          </p:cNvSpPr>
          <p:nvPr/>
        </p:nvSpPr>
        <p:spPr>
          <a:xfrm>
            <a:off x="619125" y="447675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7CB8E75F-80A8-466F-92E9-6105942F1A3F}"/>
              </a:ext>
            </a:extLst>
          </p:cNvPr>
          <p:cNvSpPr>
            <a:spLocks noGrp="1"/>
          </p:cNvSpPr>
          <p:nvPr/>
        </p:nvSpPr>
        <p:spPr>
          <a:xfrm>
            <a:off x="1409700" y="4476750"/>
            <a:ext cx="10001250" cy="1257300"/>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Close the notebook and locate it again without help.</a:t>
            </a:r>
          </a:p>
        </p:txBody>
      </p:sp>
      <p:sp>
        <p:nvSpPr>
          <p:cNvPr id="10" name="">
            <a:extLst>
              <a:ext uri="{FF2B5EF4-FFF2-40B4-BE49-F238E27FC236}">
                <ns2:creationId id="{DD72B824-FFDB-4A76-86A1-D10791F26067}"/>
              </a:ext>
            </a:extLst>
          </p:cNvPr>
          <p:cNvSpPr>
            <a:spLocks noGrp="1"/>
          </p:cNvSpPr>
          <p:nvPr/>
        </p:nvSpPr>
        <p:spPr>
          <a:xfrm>
            <a:off x="0" y="5915025"/>
            <a:ext cx="12191695" cy="466725"/>
          </a:xfrm>
          <a:prstGeom prst="rect">
            <a:avLst/>
          </a:prstGeom>
          <a:solidFill>
            <a:srgbClr val="E5F1EE"/>
          </a:solidFill>
          <a:ln w="0">
            <a:noFill/>
          </a:ln>
        </p:spPr>
      </p:sp>
      <p:sp>
        <p:nvSpPr>
          <p:cNvPr id="11" name="">
            <a:extLst>
              <a:ext uri="{FF2B5EF4-FFF2-40B4-BE49-F238E27FC236}">
                <ns2:creationId id="{48F9CA23-48AD-4489-AEC9-DFE5E77AE7F3}"/>
              </a:ext>
            </a:extLst>
          </p:cNvPr>
          <p:cNvSpPr>
            <a:spLocks noGrp="1"/>
          </p:cNvSpPr>
          <p:nvPr/>
        </p:nvSpPr>
        <p:spPr>
          <a:xfrm>
            <a:off x="619125" y="5981700"/>
            <a:ext cx="10810875" cy="361950"/>
          </a:xfrm>
          <a:prstGeom prst="rect">
            <a:avLst/>
          </a:prstGeom>
          <a:noFill/>
          <a:ln w="0">
            <a:noFill/>
          </a:ln>
        </p:spPr>
        <p:txBody>
          <a:bodyPr>
            <a:noAutofit/>
          </a:bodyPr>
          <a:lstStyle/>
          <a:p>
            <a:pPr>
              <a:defRPr sz="1800" b="1">
                <a:solidFill>
                  <a:srgbClr val="2E7D6F"/>
                </a:solidFill>
                <a:latin typeface="Calibri"/>
                <a:ea typeface="Calibri"/>
                <a:cs typeface="Calibri"/>
              </a:defRPr>
            </a:pPr>
            <a:r>
              <a:rPr sz="1800" b="1">
                <a:solidFill>
                  <a:srgbClr val="2E7D6F"/>
                </a:solidFill>
                <a:latin typeface="Calibri"/>
                <a:ea typeface="Calibri"/>
                <a:cs typeface="Calibri"/>
              </a:rPr>
              <a:t>One partner acts. One partner checks. Then swap roles.</a:t>
            </a:r>
          </a:p>
        </p:txBody>
      </p:sp>
      <p:sp>
        <p:nvSpPr>
          <p:cNvPr id="12" name="">
            <a:extLst>
              <a:ext uri="{FF2B5EF4-FFF2-40B4-BE49-F238E27FC236}">
                <ns2:creationId id="{FEAC2A7E-EBF9-432E-BEBD-D898F1A46072}"/>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8</a:t>
            </a:r>
          </a:p>
        </p:txBody>
      </p:sp>
    </p:spTree>
    <p:extLst>
      <p:ext uri="{BB962C8B-B14F-4D97-AF65-F5344CB8AC3E}">
        <ns3:creationId val="89336495"/>
      </p:ext>
    </p:extLst>
  </p:cSld>
</p:sld>
</file>

<file path=ppt/slides/slide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7984F945-1290-4B69-AC77-B300002CAAC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8F6C3847-1E0E-4598-A317-EA22188A6E14}"/>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DISCUSS THE REASONING</a:t>
            </a:r>
          </a:p>
        </p:txBody>
      </p:sp>
      <p:sp>
        <p:nvSpPr>
          <p:cNvPr id="3" name="">
            <a:extLst xmlns:a="http://schemas.openxmlformats.org/drawingml/2006/main">
              <a:ext uri="{FF2B5EF4-FFF2-40B4-BE49-F238E27FC236}">
                <a16:creationId xmlns:a16="http://schemas.microsoft.com/office/drawing/2014/main" id="{0147860D-2656-4EA3-8078-B22765339926}"/>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What the activity shows</a:t>
            </a:r>
          </a:p>
        </p:txBody>
      </p:sp>
      <p:sp>
        <p:nvSpPr>
          <p:cNvPr id="4" name="">
            <a:extLst xmlns:a="http://schemas.openxmlformats.org/drawingml/2006/main">
              <a:ext uri="{FF2B5EF4-FFF2-40B4-BE49-F238E27FC236}">
                <a16:creationId xmlns:a16="http://schemas.microsoft.com/office/drawing/2014/main" id="{35AFA9C2-4232-4091-9A10-40A04DF99DF3}"/>
              </a:ext>
            </a:extLst>
          </p:cNvPr>
          <p:cNvSpPr>
            <a:spLocks xmlns:a="http://schemas.openxmlformats.org/drawingml/2006/main" noGrp="1"/>
          </p:cNvSpPr>
          <p:nvPr/>
        </p:nvSpPr>
        <p:spPr>
          <a:xfrm xmlns:a="http://schemas.openxmlformats.org/drawingml/2006/main">
            <a:off x="590550" y="1752600"/>
            <a:ext cx="11010900" cy="35242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1B376312-E009-4B69-83AB-34A0FA21F4DC}"/>
              </a:ext>
            </a:extLst>
          </p:cNvPr>
          <p:cNvSpPr>
            <a:spLocks xmlns:a="http://schemas.openxmlformats.org/drawingml/2006/main" noGrp="1"/>
          </p:cNvSpPr>
          <p:nvPr/>
        </p:nvSpPr>
        <p:spPr>
          <a:xfrm xmlns:a="http://schemas.openxmlformats.org/drawingml/2006/main">
            <a:off x="904875" y="2028825"/>
            <a:ext cx="10334625" cy="3048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2E7D6F"/>
                </a:solidFill>
                <a:latin typeface="Calibri"/>
                <a:ea typeface="Calibri"/>
                <a:cs typeface="Calibri"/>
              </a:defRPr>
            </a:pPr>
            <a:r>
              <a:rPr sz="3150" b="1">
                <a:solidFill>
                  <a:srgbClr val="2E7D6F"/>
                </a:solidFill>
                <a:latin typeface="Calibri"/>
                <a:ea typeface="Calibri"/>
                <a:cs typeface="Calibri"/>
              </a:rPr>
              <a:t>Both files reopen. Rehearse using practice material before the assessed period, never during its working time.</a:t>
            </a:r>
          </a:p>
        </p:txBody>
      </p:sp>
      <p:sp>
        <p:nvSpPr>
          <p:cNvPr id="6" name="">
            <a:extLst xmlns:a="http://schemas.openxmlformats.org/drawingml/2006/main">
              <a:ext uri="{FF2B5EF4-FFF2-40B4-BE49-F238E27FC236}">
                <a16:creationId xmlns:a16="http://schemas.microsoft.com/office/drawing/2014/main" id="{4DD20222-39CE-4333-BC12-4A7853C0D1F7}"/>
              </a:ext>
            </a:extLst>
          </p:cNvPr>
          <p:cNvSpPr>
            <a:spLocks xmlns:a="http://schemas.openxmlformats.org/drawingml/2006/main" noGrp="1"/>
          </p:cNvSpPr>
          <p:nvPr/>
        </p:nvSpPr>
        <p:spPr>
          <a:xfrm xmlns:a="http://schemas.openxmlformats.org/drawingml/2006/main">
            <a:off x="685800" y="5581650"/>
            <a:ext cx="10668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025" b="0">
                <a:solidFill>
                  <a:srgbClr val="1C3144"/>
                </a:solidFill>
                <a:latin typeface="Calibri"/>
                <a:ea typeface="Calibri"/>
                <a:cs typeface="Calibri"/>
              </a:defRPr>
            </a:pPr>
            <a:r>
              <a:rPr sz="2025" b="0">
                <a:solidFill>
                  <a:srgbClr val="1C3144"/>
                </a:solidFill>
                <a:latin typeface="Calibri"/>
                <a:ea typeface="Calibri"/>
                <a:cs typeface="Calibri"/>
              </a:rPr>
              <a:t>Which step produced this result? What changes if one input changes?</a:t>
            </a:r>
          </a:p>
        </p:txBody>
      </p:sp>
      <p:sp>
        <p:nvSpPr>
          <p:cNvPr id="7" name="">
            <a:extLst xmlns:a="http://schemas.openxmlformats.org/drawingml/2006/main">
              <a:ext uri="{FF2B5EF4-FFF2-40B4-BE49-F238E27FC236}">
                <a16:creationId xmlns:a16="http://schemas.microsoft.com/office/drawing/2014/main" id="{D6EA1282-0BE4-44B3-99BE-1C5294795F2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9</a:t>
            </a:r>
          </a:p>
        </p:txBody>
      </p:sp>
    </p:spTree>
    <p:extLst>
      <p:ext uri="{BB962C8B-B14F-4D97-AF65-F5344CB8AC3E}">
        <p14:creationId xmlns:p14="http://schemas.microsoft.com/office/powerpoint/2010/main" val="236118880"/>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63D9D3B-0510-4E45-AE17-82096ABA56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3CC200D-5FC4-481E-8E41-AC3C040A1A9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9823E842-5E28-40C1-B3A9-AE6B2A5CDEED}"/>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Test session</a:t>
            </a:r>
          </a:p>
        </p:txBody>
      </p:sp>
      <p:sp>
        <p:nvSpPr>
          <p:cNvPr id="4" name="">
            <a:extLst xmlns:a="http://schemas.openxmlformats.org/drawingml/2006/main">
              <a:ext uri="{FF2B5EF4-FFF2-40B4-BE49-F238E27FC236}">
                <a16:creationId xmlns:a16="http://schemas.microsoft.com/office/drawing/2014/main" id="{8EC9CB1C-692C-474E-9DB7-AE7F704BC21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EBFE20C-3CDD-4867-AEE5-539C5AF6747C}"/>
              </a:ext>
            </a:extLst>
          </p:cNvPr>
          <p:cNvSpPr>
            <a:spLocks xmlns:a="http://schemas.openxmlformats.org/drawingml/2006/main" noGrp="1"/>
          </p:cNvSpPr>
          <p:nvPr/>
        </p:nvSpPr>
        <p:spPr>
          <a:xfrm xmlns:a="http://schemas.openxmlformats.org/drawingml/2006/main">
            <a:off x="1381125" y="1781175"/>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00–15 minutes: briefing and file check.</a:t>
            </a:r>
          </a:p>
        </p:txBody>
      </p:sp>
      <p:sp>
        <p:nvSpPr>
          <p:cNvPr id="6" name="">
            <a:extLst xmlns:a="http://schemas.openxmlformats.org/drawingml/2006/main">
              <a:ext uri="{FF2B5EF4-FFF2-40B4-BE49-F238E27FC236}">
                <a16:creationId xmlns:a16="http://schemas.microsoft.com/office/drawing/2014/main" id="{5FBD5BFD-E96E-40B6-BD09-FA5186D12E1D}"/>
              </a:ext>
            </a:extLst>
          </p:cNvPr>
          <p:cNvSpPr>
            <a:spLocks xmlns:a="http://schemas.openxmlformats.org/drawingml/2006/main" noGrp="1"/>
          </p:cNvSpPr>
          <p:nvPr/>
        </p:nvSpPr>
        <p:spPr>
          <a:xfrm xmlns:a="http://schemas.openxmlformats.org/drawingml/2006/main">
            <a:off x="590550" y="2850356"/>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AB8E9AA2-08AA-4A50-9239-8769C5CEADA8}"/>
              </a:ext>
            </a:extLst>
          </p:cNvPr>
          <p:cNvSpPr>
            <a:spLocks xmlns:a="http://schemas.openxmlformats.org/drawingml/2006/main" noGrp="1"/>
          </p:cNvSpPr>
          <p:nvPr/>
        </p:nvSpPr>
        <p:spPr>
          <a:xfrm xmlns:a="http://schemas.openxmlformats.org/drawingml/2006/main">
            <a:off x="1381125" y="2850356"/>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15–135 minutes: individual practical work.</a:t>
            </a:r>
          </a:p>
        </p:txBody>
      </p:sp>
      <p:sp>
        <p:nvSpPr>
          <p:cNvPr id="8" name="">
            <a:extLst xmlns:a="http://schemas.openxmlformats.org/drawingml/2006/main">
              <a:ext uri="{FF2B5EF4-FFF2-40B4-BE49-F238E27FC236}">
                <a16:creationId xmlns:a16="http://schemas.microsoft.com/office/drawing/2014/main" id="{C27837EC-85C1-448A-9398-C1B1AE262452}"/>
              </a:ext>
            </a:extLst>
          </p:cNvPr>
          <p:cNvSpPr>
            <a:spLocks xmlns:a="http://schemas.openxmlformats.org/drawingml/2006/main" noGrp="1"/>
          </p:cNvSpPr>
          <p:nvPr/>
        </p:nvSpPr>
        <p:spPr>
          <a:xfrm xmlns:a="http://schemas.openxmlformats.org/drawingml/2006/main">
            <a:off x="590550" y="39195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417E8E1-47FA-4687-B507-81B6DA53E70E}"/>
              </a:ext>
            </a:extLst>
          </p:cNvPr>
          <p:cNvSpPr>
            <a:spLocks xmlns:a="http://schemas.openxmlformats.org/drawingml/2006/main" noGrp="1"/>
          </p:cNvSpPr>
          <p:nvPr/>
        </p:nvSpPr>
        <p:spPr>
          <a:xfrm xmlns:a="http://schemas.openxmlformats.org/drawingml/2006/main">
            <a:off x="1381125" y="3919538"/>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135–160 minutes: typed offline reasoning, with code execution prohibited.</a:t>
            </a:r>
          </a:p>
        </p:txBody>
      </p:sp>
      <p:sp>
        <p:nvSpPr>
          <p:cNvPr id="10" name="">
            <a:extLst xmlns:a="http://schemas.openxmlformats.org/drawingml/2006/main">
              <a:ext uri="{FF2B5EF4-FFF2-40B4-BE49-F238E27FC236}">
                <a16:creationId xmlns:a16="http://schemas.microsoft.com/office/drawing/2014/main" id="{F0574FF7-B112-4A5E-AA91-750F8742DF70}"/>
              </a:ext>
            </a:extLst>
          </p:cNvPr>
          <p:cNvSpPr>
            <a:spLocks xmlns:a="http://schemas.openxmlformats.org/drawingml/2006/main" noGrp="1"/>
          </p:cNvSpPr>
          <p:nvPr/>
        </p:nvSpPr>
        <p:spPr>
          <a:xfrm xmlns:a="http://schemas.openxmlformats.org/drawingml/2006/main">
            <a:off x="590550" y="4988719"/>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647BCFFC-BEF3-4AD1-AD24-E627BF3AC12F}"/>
              </a:ext>
            </a:extLst>
          </p:cNvPr>
          <p:cNvSpPr>
            <a:spLocks xmlns:a="http://schemas.openxmlformats.org/drawingml/2006/main" noGrp="1"/>
          </p:cNvSpPr>
          <p:nvPr/>
        </p:nvSpPr>
        <p:spPr>
          <a:xfrm xmlns:a="http://schemas.openxmlformats.org/drawingml/2006/main">
            <a:off x="1381125" y="4988719"/>
            <a:ext cx="10096500" cy="992981"/>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160–180 minutes: save and hand in through invigilated offline collection.</a:t>
            </a:r>
          </a:p>
        </p:txBody>
      </p:sp>
      <p:sp>
        <p:nvSpPr>
          <p:cNvPr id="12" name="">
            <a:extLst xmlns:a="http://schemas.openxmlformats.org/drawingml/2006/main">
              <a:ext uri="{FF2B5EF4-FFF2-40B4-BE49-F238E27FC236}">
                <a16:creationId xmlns:a16="http://schemas.microsoft.com/office/drawing/2014/main" id="{54DB0B1A-1814-444F-A3A8-702BE2CB6D08}"/>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10</a:t>
            </a:r>
          </a:p>
        </p:txBody>
      </p:sp>
    </p:spTree>
    <p:extLst>
      <p:ext uri="{BB962C8B-B14F-4D97-AF65-F5344CB8AC3E}">
        <p14:creationId xmlns:p14="http://schemas.microsoft.com/office/powerpoint/2010/main" val="2118633705"/>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9" name="">
            <a:extLst xmlns:a="http://schemas.openxmlformats.org/drawingml/2006/main">
              <a:ext uri="{FF2B5EF4-FFF2-40B4-BE49-F238E27FC236}">
                <a16:creationId xmlns:a16="http://schemas.microsoft.com/office/drawing/2014/main" id="{ED2774B7-BC39-4258-BE0B-73C5B931FD0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58159844-EEC2-4360-AEE4-34F7888D733D}"/>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23E804A-3958-4956-8469-4A83E04C0765}"/>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Preparation checkpoint</a:t>
            </a:r>
          </a:p>
        </p:txBody>
      </p:sp>
      <p:sp>
        <p:nvSpPr>
          <p:cNvPr id="4" name="">
            <a:extLst xmlns:a="http://schemas.openxmlformats.org/drawingml/2006/main">
              <a:ext uri="{FF2B5EF4-FFF2-40B4-BE49-F238E27FC236}">
                <a16:creationId xmlns:a16="http://schemas.microsoft.com/office/drawing/2014/main" id="{1D788095-1C56-4AE8-8FF0-ECD54F71FCA9}"/>
              </a:ext>
            </a:extLst>
          </p:cNvPr>
          <p:cNvSpPr>
            <a:spLocks xmlns:a="http://schemas.openxmlformats.org/drawingml/2006/main" noGrp="1"/>
          </p:cNvSpPr>
          <p:nvPr/>
        </p:nvSpPr>
        <p:spPr>
          <a:xfrm xmlns:a="http://schemas.openxmlformats.org/drawingml/2006/main">
            <a:off x="590550" y="1752600"/>
            <a:ext cx="5305425" cy="4171950"/>
          </a:xfrm>
          <a:prstGeom xmlns:a="http://schemas.openxmlformats.org/drawingml/2006/main" prst="rect">
            <a:avLst/>
          </a:prstGeom>
          <a:solidFill xmlns:a="http://schemas.openxmlformats.org/drawingml/2006/main">
            <a:srgbClr val="EEF3F6"/>
          </a:solidFill>
          <a:ln xmlns:a="http://schemas.openxmlformats.org/drawingml/2006/main" w="0">
            <a:noFill/>
          </a:ln>
        </p:spPr>
      </p:sp>
      <p:sp>
        <p:nvSpPr>
          <p:cNvPr id="5" name="">
            <a:extLst xmlns:a="http://schemas.openxmlformats.org/drawingml/2006/main">
              <a:ext uri="{FF2B5EF4-FFF2-40B4-BE49-F238E27FC236}">
                <a16:creationId xmlns:a16="http://schemas.microsoft.com/office/drawing/2014/main" id="{046DDCCE-FDF9-4DCF-92FE-C9AC4C9D8A58}"/>
              </a:ext>
            </a:extLst>
          </p:cNvPr>
          <p:cNvSpPr>
            <a:spLocks xmlns:a="http://schemas.openxmlformats.org/drawingml/2006/main" noGrp="1"/>
          </p:cNvSpPr>
          <p:nvPr/>
        </p:nvSpPr>
        <p:spPr>
          <a:xfrm xmlns:a="http://schemas.openxmlformats.org/drawingml/2006/main">
            <a:off x="6200775" y="1752600"/>
            <a:ext cx="5400675" cy="4171950"/>
          </a:xfrm>
          <a:prstGeom xmlns:a="http://schemas.openxmlformats.org/drawingml/2006/main" prst="rect">
            <a:avLst/>
          </a:prstGeom>
          <a:solidFill xmlns:a="http://schemas.openxmlformats.org/drawingml/2006/main">
            <a:srgbClr val="E5F1EE"/>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3C99486-9E51-427E-A9F3-9BEC05CADB35}"/>
              </a:ext>
            </a:extLst>
          </p:cNvPr>
          <p:cNvSpPr>
            <a:spLocks xmlns:a="http://schemas.openxmlformats.org/drawingml/2006/main" noGrp="1"/>
          </p:cNvSpPr>
          <p:nvPr/>
        </p:nvSpPr>
        <p:spPr>
          <a:xfrm xmlns:a="http://schemas.openxmlformats.org/drawingml/2006/main">
            <a:off x="847725" y="2114550"/>
            <a:ext cx="475297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Every learner completes the offline save-and-reopen rehearsal.</a:t>
            </a:r>
          </a:p>
        </p:txBody>
      </p:sp>
      <p:sp>
        <p:nvSpPr>
          <p:cNvPr id="7" name="">
            <a:extLst xmlns:a="http://schemas.openxmlformats.org/drawingml/2006/main">
              <a:ext uri="{FF2B5EF4-FFF2-40B4-BE49-F238E27FC236}">
                <a16:creationId xmlns:a16="http://schemas.microsoft.com/office/drawing/2014/main" id="{0E8919D7-7C84-4B56-B73D-D214C2325D1A}"/>
              </a:ext>
            </a:extLst>
          </p:cNvPr>
          <p:cNvSpPr>
            <a:spLocks xmlns:a="http://schemas.openxmlformats.org/drawingml/2006/main" noGrp="1"/>
          </p:cNvSpPr>
          <p:nvPr/>
        </p:nvSpPr>
        <p:spPr>
          <a:xfrm xmlns:a="http://schemas.openxmlformats.org/drawingml/2006/main">
            <a:off x="6457950" y="2114550"/>
            <a:ext cx="4848225" cy="3486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325" b="0">
                <a:solidFill>
                  <a:srgbClr val="1C3144"/>
                </a:solidFill>
                <a:latin typeface="Calibri"/>
                <a:ea typeface="Calibri"/>
                <a:cs typeface="Calibri"/>
              </a:defRPr>
            </a:pPr>
            <a:r>
              <a:rPr sz="2325" b="0">
                <a:solidFill>
                  <a:srgbClr val="1C3144"/>
                </a:solidFill>
                <a:latin typeface="Calibri"/>
                <a:ea typeface="Calibri"/>
                <a:cs typeface="Calibri"/>
              </a:rPr>
              <a:t>Escalate lab-access failures before the test.</a:t>
            </a:r>
          </a:p>
        </p:txBody>
      </p:sp>
      <p:sp>
        <p:nvSpPr>
          <p:cNvPr id="8" name="">
            <a:extLst xmlns:a="http://schemas.openxmlformats.org/drawingml/2006/main">
              <a:ext uri="{FF2B5EF4-FFF2-40B4-BE49-F238E27FC236}">
                <a16:creationId xmlns:a16="http://schemas.microsoft.com/office/drawing/2014/main" id="{1E28A488-69BA-41C3-8BC0-F1626C1D49B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11</a:t>
            </a:r>
          </a:p>
        </p:txBody>
      </p:sp>
    </p:spTree>
    <p:extLst>
      <p:ext uri="{BB962C8B-B14F-4D97-AF65-F5344CB8AC3E}">
        <p14:creationId xmlns:p14="http://schemas.microsoft.com/office/powerpoint/2010/main" val="94866779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CB5CD1CF-8836-468F-99D2-36C2A0B7938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52D5E8-F6F7-4BC0-9665-4F1BCE62C00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WHAT TO DO</a:t>
            </a:r>
          </a:p>
        </p:txBody>
      </p:sp>
      <p:sp>
        <p:nvSpPr>
          <p:cNvPr id="3" name="">
            <a:extLst xmlns:a="http://schemas.openxmlformats.org/drawingml/2006/main">
              <a:ext uri="{FF2B5EF4-FFF2-40B4-BE49-F238E27FC236}">
                <a16:creationId xmlns:a16="http://schemas.microsoft.com/office/drawing/2014/main" id="{1EAC9CB5-E8FC-401B-AAB9-EAABBCFF28CF}"/>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Your evidence</a:t>
            </a:r>
          </a:p>
        </p:txBody>
      </p:sp>
      <p:sp>
        <p:nvSpPr>
          <p:cNvPr id="4" name="">
            <a:extLst xmlns:a="http://schemas.openxmlformats.org/drawingml/2006/main">
              <a:ext uri="{FF2B5EF4-FFF2-40B4-BE49-F238E27FC236}">
                <a16:creationId xmlns:a16="http://schemas.microsoft.com/office/drawing/2014/main" id="{C1908D2D-E673-4AC6-A2EE-0FAB1DAFD03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E7878A2D-9306-4FB0-AC0F-F49ACCF1259D}"/>
              </a:ext>
            </a:extLst>
          </p:cNvPr>
          <p:cNvSpPr>
            <a:spLocks xmlns:a="http://schemas.openxmlformats.org/drawingml/2006/main" noGrp="1"/>
          </p:cNvSpPr>
          <p:nvPr/>
        </p:nvSpPr>
        <p:spPr>
          <a:xfrm xmlns:a="http://schemas.openxmlformats.org/drawingml/2006/main">
            <a:off x="1381125" y="178117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Use the official TEST1 brief, interfaces and rubric.</a:t>
            </a:r>
          </a:p>
        </p:txBody>
      </p:sp>
      <p:sp>
        <p:nvSpPr>
          <p:cNvPr id="6" name="">
            <a:extLst xmlns:a="http://schemas.openxmlformats.org/drawingml/2006/main">
              <a:ext uri="{FF2B5EF4-FFF2-40B4-BE49-F238E27FC236}">
                <a16:creationId xmlns:a16="http://schemas.microsoft.com/office/drawing/2014/main" id="{1F63A857-11A9-4E7A-9871-83AFD9AED63B}"/>
              </a:ext>
            </a:extLst>
          </p:cNvPr>
          <p:cNvSpPr>
            <a:spLocks xmlns:a="http://schemas.openxmlformats.org/drawingml/2006/main" noGrp="1"/>
          </p:cNvSpPr>
          <p:nvPr/>
        </p:nvSpPr>
        <p:spPr>
          <a:xfrm xmlns:a="http://schemas.openxmlformats.org/drawingml/2006/main">
            <a:off x="590550" y="320675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6DC806CC-B715-4339-AFB3-CE583588A76B}"/>
              </a:ext>
            </a:extLst>
          </p:cNvPr>
          <p:cNvSpPr>
            <a:spLocks xmlns:a="http://schemas.openxmlformats.org/drawingml/2006/main" noGrp="1"/>
          </p:cNvSpPr>
          <p:nvPr/>
        </p:nvSpPr>
        <p:spPr>
          <a:xfrm xmlns:a="http://schemas.openxmlformats.org/drawingml/2006/main">
            <a:off x="1381125" y="3206750"/>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The assessed period has 120 practical minutes and 25 typed reasoning minutes.</a:t>
            </a:r>
          </a:p>
        </p:txBody>
      </p:sp>
      <p:sp>
        <p:nvSpPr>
          <p:cNvPr id="8" name="">
            <a:extLst xmlns:a="http://schemas.openxmlformats.org/drawingml/2006/main">
              <a:ext uri="{FF2B5EF4-FFF2-40B4-BE49-F238E27FC236}">
                <a16:creationId xmlns:a16="http://schemas.microsoft.com/office/drawing/2014/main" id="{BDDDC435-FC99-413E-ACD6-2DD804CC4BC9}"/>
              </a:ext>
            </a:extLst>
          </p:cNvPr>
          <p:cNvSpPr>
            <a:spLocks xmlns:a="http://schemas.openxmlformats.org/drawingml/2006/main" noGrp="1"/>
          </p:cNvSpPr>
          <p:nvPr/>
        </p:nvSpPr>
        <p:spPr>
          <a:xfrm xmlns:a="http://schemas.openxmlformats.org/drawingml/2006/main">
            <a:off x="590550" y="463232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29CA835-7271-4B2A-BE69-F2FC5878006E}"/>
              </a:ext>
            </a:extLst>
          </p:cNvPr>
          <p:cNvSpPr>
            <a:spLocks xmlns:a="http://schemas.openxmlformats.org/drawingml/2006/main" noGrp="1"/>
          </p:cNvSpPr>
          <p:nvPr/>
        </p:nvSpPr>
        <p:spPr>
          <a:xfrm xmlns:a="http://schemas.openxmlformats.org/drawingml/2006/main">
            <a:off x="1381125" y="4632325"/>
            <a:ext cx="10096500" cy="13493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Your lecturer will issue the test packet and collection instructions.</a:t>
            </a:r>
          </a:p>
        </p:txBody>
      </p:sp>
      <p:sp>
        <p:nvSpPr>
          <p:cNvPr id="10" name="">
            <a:extLst xmlns:a="http://schemas.openxmlformats.org/drawingml/2006/main">
              <a:ext uri="{FF2B5EF4-FFF2-40B4-BE49-F238E27FC236}">
                <a16:creationId xmlns:a16="http://schemas.microsoft.com/office/drawing/2014/main" id="{745C6191-DC9E-44D7-A0CF-6C6CC07F92CC}"/>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12</a:t>
            </a:r>
          </a:p>
        </p:txBody>
      </p:sp>
    </p:spTree>
    <p:extLst>
      <p:ext uri="{BB962C8B-B14F-4D97-AF65-F5344CB8AC3E}">
        <p14:creationId xmlns:p14="http://schemas.microsoft.com/office/powerpoint/2010/main" val="916252896"/>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45A4CC8-7720-4E62-B7A8-4B476D220C63}"/>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D229DD6-EF55-4E93-8A84-B93E6659574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EED8377C-62BC-4C1E-B634-87B4F0F794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a:t>
            </a:r>
          </a:p>
        </p:txBody>
      </p:sp>
      <p:sp>
        <p:nvSpPr>
          <p:cNvPr id="4" name="">
            <a:extLst xmlns:a="http://schemas.openxmlformats.org/drawingml/2006/main">
              <a:ext uri="{FF2B5EF4-FFF2-40B4-BE49-F238E27FC236}">
                <a16:creationId xmlns:a16="http://schemas.microsoft.com/office/drawing/2014/main" id="{F8A64A7E-07A7-4C7B-B39B-0E0BEC005001}"/>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3351B92B-A2E7-46DA-9C9F-760AEDF5BE69}"/>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Write your own explanation in the markdown cell headed `## My written evidence`.</a:t>
            </a:r>
          </a:p>
        </p:txBody>
      </p:sp>
      <p:sp>
        <p:nvSpPr>
          <p:cNvPr id="6" name="">
            <a:extLst xmlns:a="http://schemas.openxmlformats.org/drawingml/2006/main">
              <a:ext uri="{FF2B5EF4-FFF2-40B4-BE49-F238E27FC236}">
                <a16:creationId xmlns:a16="http://schemas.microsoft.com/office/drawing/2014/main" id="{EBBAC4AD-7FB0-4DD3-81FD-3CBAF94B7C5A}"/>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B690F7E-9C43-4A91-AD4A-1E47981D9EC3}"/>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that heading.</a:t>
            </a:r>
          </a:p>
        </p:txBody>
      </p:sp>
      <p:sp>
        <p:nvSpPr>
          <p:cNvPr id="8" name="">
            <a:extLst xmlns:a="http://schemas.openxmlformats.org/drawingml/2006/main">
              <a:ext uri="{FF2B5EF4-FFF2-40B4-BE49-F238E27FC236}">
                <a16:creationId xmlns:a16="http://schemas.microsoft.com/office/drawing/2014/main" id="{889449F9-BBB7-4526-B9CD-0B59427F81E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E7FB832-CC53-4ABC-A7F4-A49CC3527CD3}"/>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Task prompts and code comments are excluded from reasoning marks.</a:t>
            </a:r>
          </a:p>
        </p:txBody>
      </p:sp>
      <p:sp>
        <p:nvSpPr>
          <p:cNvPr id="10" name="">
            <a:extLst xmlns:a="http://schemas.openxmlformats.org/drawingml/2006/main">
              <a:ext uri="{FF2B5EF4-FFF2-40B4-BE49-F238E27FC236}">
                <a16:creationId xmlns:a16="http://schemas.microsoft.com/office/drawing/2014/main" id="{685A35BD-F288-4667-A65D-29D6E3F15707}"/>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0819D768-2C44-4849-92F7-D93BB341C84F}"/>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Complete every original rubric criterion below, not just the checked functions.</a:t>
            </a:r>
          </a:p>
        </p:txBody>
      </p:sp>
      <p:sp>
        <p:nvSpPr>
          <p:cNvPr id="12" name="">
            <a:extLst xmlns:a="http://schemas.openxmlformats.org/drawingml/2006/main">
              <a:ext uri="{FF2B5EF4-FFF2-40B4-BE49-F238E27FC236}">
                <a16:creationId xmlns:a16="http://schemas.microsoft.com/office/drawing/2014/main" id="{1210AC12-0B4B-4D6C-BA18-3A922FDBD103}"/>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13</a:t>
            </a:r>
          </a:p>
        </p:txBody>
      </p:sp>
    </p:spTree>
    <p:extLst>
      <p:ext uri="{BB962C8B-B14F-4D97-AF65-F5344CB8AC3E}">
        <p14:creationId xmlns:p14="http://schemas.microsoft.com/office/powerpoint/2010/main" val="889059957"/>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531A9A0-222D-40A9-9F56-AF0B22B1983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9DCE2B42-A34F-414F-9594-4D81B56B7333}"/>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A0BD458D-3F29-412B-B708-36D766F197DE}"/>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C73D400-31FC-47E4-B47C-5358FFCCF0C7}"/>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5AF1537-62DE-410D-AA81-6974C629565D}"/>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Include profiling, justified cleaning, question-led charts and your engineering recommendation where required.</a:t>
            </a:r>
          </a:p>
        </p:txBody>
      </p:sp>
      <p:sp>
        <p:nvSpPr>
          <p:cNvPr id="6" name="">
            <a:extLst xmlns:a="http://schemas.openxmlformats.org/drawingml/2006/main">
              <a:ext uri="{FF2B5EF4-FFF2-40B4-BE49-F238E27FC236}">
                <a16:creationId xmlns:a16="http://schemas.microsoft.com/office/drawing/2014/main" id="{1815A835-F9BD-44B5-A5CC-9ED66FDBE7EE}"/>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08317885-AC6C-4D14-BDC9-F17182F694A2}"/>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Keep raw data.</a:t>
            </a:r>
          </a:p>
        </p:txBody>
      </p:sp>
      <p:sp>
        <p:nvSpPr>
          <p:cNvPr id="8" name="">
            <a:extLst xmlns:a="http://schemas.openxmlformats.org/drawingml/2006/main">
              <a:ext uri="{FF2B5EF4-FFF2-40B4-BE49-F238E27FC236}">
                <a16:creationId xmlns:a16="http://schemas.microsoft.com/office/drawing/2014/main" id="{2475CCD6-6369-48E7-A448-E3D1BC5AF9D4}"/>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9D7D6E19-94DA-4F14-9324-C35225027737}"/>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State units and distinguish correlation from causation.</a:t>
            </a:r>
          </a:p>
        </p:txBody>
      </p:sp>
      <p:sp>
        <p:nvSpPr>
          <p:cNvPr id="10" name="">
            <a:extLst xmlns:a="http://schemas.openxmlformats.org/drawingml/2006/main">
              <a:ext uri="{FF2B5EF4-FFF2-40B4-BE49-F238E27FC236}">
                <a16:creationId xmlns:a16="http://schemas.microsoft.com/office/drawing/2014/main" id="{CDDF17A4-804A-4A16-B028-89BC5F1F9A1E}"/>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2430E034-6680-4766-8B3F-FBF44E4DA1FA}"/>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Charts must be actual labelled figures in the notebook, not claims that charts exist.</a:t>
            </a:r>
          </a:p>
        </p:txBody>
      </p:sp>
      <p:sp>
        <p:nvSpPr>
          <p:cNvPr id="12" name="">
            <a:extLst xmlns:a="http://schemas.openxmlformats.org/drawingml/2006/main">
              <a:ext uri="{FF2B5EF4-FFF2-40B4-BE49-F238E27FC236}">
                <a16:creationId xmlns:a16="http://schemas.microsoft.com/office/drawing/2014/main" id="{4C06AA4E-997E-4B51-9AA5-0F3EB21A466F}"/>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14</a:t>
            </a:r>
          </a:p>
        </p:txBody>
      </p:sp>
    </p:spTree>
    <p:extLst>
      <p:ext uri="{BB962C8B-B14F-4D97-AF65-F5344CB8AC3E}">
        <p14:creationId xmlns:p14="http://schemas.microsoft.com/office/powerpoint/2010/main" val="300060710"/>
      </p:ext>
    </p:extLst>
  </p:cSld>
</p:sld>
</file>

<file path=ppt/slides/slide15.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FFFFFF"/>
        </a:solidFill>
      </p:bgPr>
    </p:bg>
    <p:spTree>
      <p:nvGrpSpPr>
        <p:cNvPr id="1" name=""/>
        <p:cNvGrpSpPr/>
        <p:nvPr/>
      </p:nvGrpSpPr>
      <p:grpSpPr>
        <a:xfrm/>
      </p:grpSpPr>
      <p:sp>
        <p:nvSpPr>
          <p:cNvPr id="13" name="">
            <a:extLst>
              <a:ext uri="{FF2B5EF4-FFF2-40B4-BE49-F238E27FC236}">
                <ns2:creationId id="{BFC4D26F-9E11-48F5-A996-B556B53CF1FE}"/>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5D0BF424-EEAB-433A-94CA-44C0DC666CAB}"/>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a:ext uri="{FF2B5EF4-FFF2-40B4-BE49-F238E27FC236}">
                <ns2:creationId id="{D2A4539F-6D44-464D-8A59-EC46A9DD2D8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a:ext uri="{FF2B5EF4-FFF2-40B4-BE49-F238E27FC236}">
                <ns2:creationId id="{A3FA0D79-0619-48DB-A2D2-7C2CC9E96738}"/>
              </a:ext>
            </a:extLst>
          </p:cNvPr>
          <p:cNvSpPr>
            <a:spLocks noGrp="1"/>
          </p:cNvSpPr>
          <p:nvPr/>
        </p:nvSpPr>
        <p:spPr>
          <a:xfrm>
            <a:off x="590550" y="178117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724E39CC-752D-456B-87B8-015E69B78DA4}"/>
              </a:ext>
            </a:extLst>
          </p:cNvPr>
          <p:cNvSpPr>
            <a:spLocks noGrp="1"/>
          </p:cNvSpPr>
          <p:nvPr/>
        </p:nvSpPr>
        <p:spPr>
          <a:xfrm>
            <a:off x="1381125" y="1781175"/>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Include captions and readable written evidence in the notebook.</a:t>
            </a:r>
          </a:p>
        </p:txBody>
      </p:sp>
      <p:sp>
        <p:nvSpPr>
          <p:cNvPr id="6" name="">
            <a:extLst>
              <a:ext uri="{FF2B5EF4-FFF2-40B4-BE49-F238E27FC236}">
                <ns2:creationId id="{AF3E81B6-9CA1-4946-88D0-3E55E3F4F414}"/>
              </a:ext>
            </a:extLst>
          </p:cNvPr>
          <p:cNvSpPr>
            <a:spLocks noGrp="1"/>
          </p:cNvSpPr>
          <p:nvPr/>
        </p:nvSpPr>
        <p:spPr>
          <a:xfrm>
            <a:off x="590550" y="2852738"/>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6FBE8C89-5D8B-4442-A065-4675164FA914}"/>
              </a:ext>
            </a:extLst>
          </p:cNvPr>
          <p:cNvSpPr>
            <a:spLocks noGrp="1"/>
          </p:cNvSpPr>
          <p:nvPr/>
        </p:nvSpPr>
        <p:spPr>
          <a:xfrm>
            <a:off x="1381125" y="2852738"/>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Loading &amp; profiling (15.0 total): Data loaded correctly; shape, types and summary produced; the dataset is described accurately in the student's own words.</a:t>
            </a:r>
          </a:p>
        </p:txBody>
      </p:sp>
      <p:sp>
        <p:nvSpPr>
          <p:cNvPr id="8" name="">
            <a:extLst>
              <a:ext uri="{FF2B5EF4-FFF2-40B4-BE49-F238E27FC236}">
                <ns2:creationId id="{91A6A01F-C676-44F3-BB2F-1784AEA478BC}"/>
              </a:ext>
            </a:extLst>
          </p:cNvPr>
          <p:cNvSpPr>
            <a:spLocks noGrp="1"/>
          </p:cNvSpPr>
          <p:nvPr/>
        </p:nvSpPr>
        <p:spPr>
          <a:xfrm>
            <a:off x="590550" y="3924300"/>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CCF8C40-6ECE-473F-B76A-161E6BD611F6}"/>
              </a:ext>
            </a:extLst>
          </p:cNvPr>
          <p:cNvSpPr>
            <a:spLocks noGrp="1"/>
          </p:cNvSpPr>
          <p:nvPr/>
        </p:nvSpPr>
        <p:spPr>
          <a:xfrm>
            <a:off x="1381125" y="3924300"/>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Cleaning decisions &amp; justification (20.0 total): Defects found.</a:t>
            </a:r>
          </a:p>
        </p:txBody>
      </p:sp>
      <p:sp>
        <p:nvSpPr>
          <p:cNvPr id="10" name="">
            <a:extLst>
              <a:ext uri="{FF2B5EF4-FFF2-40B4-BE49-F238E27FC236}">
                <ns2:creationId id="{7BE86004-6B45-4229-8193-66668CEDF17E}"/>
              </a:ext>
            </a:extLst>
          </p:cNvPr>
          <p:cNvSpPr>
            <a:spLocks noGrp="1"/>
          </p:cNvSpPr>
          <p:nvPr/>
        </p:nvSpPr>
        <p:spPr>
          <a:xfrm>
            <a:off x="590550" y="49958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5ECD64CC-8D64-4DBB-ACE7-6BE054DF314A}"/>
              </a:ext>
            </a:extLst>
          </p:cNvPr>
          <p:cNvSpPr>
            <a:spLocks noGrp="1"/>
          </p:cNvSpPr>
          <p:nvPr/>
        </p:nvSpPr>
        <p:spPr>
          <a:xfrm>
            <a:off x="1381125" y="4995863"/>
            <a:ext cx="10096500" cy="995363"/>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Each handling decision stated AND justified.</a:t>
            </a:r>
          </a:p>
        </p:txBody>
      </p:sp>
      <p:sp>
        <p:nvSpPr>
          <p:cNvPr id="12" name="">
            <a:extLst>
              <a:ext uri="{FF2B5EF4-FFF2-40B4-BE49-F238E27FC236}">
                <ns2:creationId id="{552CD8A6-4E72-46A3-80EA-DB4D383A302C}"/>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15</a:t>
            </a:r>
          </a:p>
        </p:txBody>
      </p:sp>
    </p:spTree>
    <p:extLst>
      <p:ext uri="{BB962C8B-B14F-4D97-AF65-F5344CB8AC3E}">
        <ns3:creationId val="800509716"/>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95578D85-A7F1-4A35-849B-CC4F03733EE9}"/>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D75EE907-224F-427C-89FE-71DC3EB6DB48}"/>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4A50D19-3ABC-413E-AD10-827C2B4A6940}"/>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2015928-D14C-4184-BA94-3B5185838414}"/>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226D331C-BB1B-41D9-8833-3D308A41EF8C}"/>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Marks are for the justification - an unjustified correct fix scores roughly half.</a:t>
            </a:r>
          </a:p>
        </p:txBody>
      </p:sp>
      <p:sp>
        <p:nvSpPr>
          <p:cNvPr id="6" name="">
            <a:extLst xmlns:a="http://schemas.openxmlformats.org/drawingml/2006/main">
              <a:ext uri="{FF2B5EF4-FFF2-40B4-BE49-F238E27FC236}">
                <a16:creationId xmlns:a16="http://schemas.microsoft.com/office/drawing/2014/main" id="{3AEA3407-E185-46E4-AD88-E1CEA18F0BF5}"/>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E4591D3B-1A30-4BFA-B4CD-8A647F10F561}"/>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Visualisation (20.0 total): Three charts, each captioned with the question it answers.</a:t>
            </a:r>
          </a:p>
        </p:txBody>
      </p:sp>
      <p:sp>
        <p:nvSpPr>
          <p:cNvPr id="8" name="">
            <a:extLst xmlns:a="http://schemas.openxmlformats.org/drawingml/2006/main">
              <a:ext uri="{FF2B5EF4-FFF2-40B4-BE49-F238E27FC236}">
                <a16:creationId xmlns:a16="http://schemas.microsoft.com/office/drawing/2014/main" id="{761D2EE1-0455-44B8-975B-FDD64A1ABC21}"/>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A55FF929-1E9B-44D8-929D-5DD5E7D067FB}"/>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Correct chart type.</a:t>
            </a:r>
          </a:p>
        </p:txBody>
      </p:sp>
      <p:sp>
        <p:nvSpPr>
          <p:cNvPr id="10" name="">
            <a:extLst xmlns:a="http://schemas.openxmlformats.org/drawingml/2006/main">
              <a:ext uri="{FF2B5EF4-FFF2-40B4-BE49-F238E27FC236}">
                <a16:creationId xmlns:a16="http://schemas.microsoft.com/office/drawing/2014/main" id="{B4D9FBA6-63EA-42AC-9A66-68C0D9E436AA}"/>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8F3D1FD5-BDE6-4214-9A50-2EBF0E17720E}"/>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Axes labelled with units.</a:t>
            </a:r>
          </a:p>
        </p:txBody>
      </p:sp>
      <p:sp>
        <p:nvSpPr>
          <p:cNvPr id="12" name="">
            <a:extLst xmlns:a="http://schemas.openxmlformats.org/drawingml/2006/main">
              <a:ext uri="{FF2B5EF4-FFF2-40B4-BE49-F238E27FC236}">
                <a16:creationId xmlns:a16="http://schemas.microsoft.com/office/drawing/2014/main" id="{CF585C58-1A68-494F-B31A-0B15A89E7C27}"/>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16</a:t>
            </a:r>
          </a:p>
        </p:txBody>
      </p:sp>
    </p:spTree>
    <p:extLst>
      <p:ext uri="{BB962C8B-B14F-4D97-AF65-F5344CB8AC3E}">
        <p14:creationId xmlns:p14="http://schemas.microsoft.com/office/powerpoint/2010/main" val="339200340"/>
      </p:ext>
    </p:extLst>
  </p:cSld>
</p:sld>
</file>

<file path=ppt/slides/slide1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3DF5E73A-8496-4DB2-A524-63AF9EC4E7B4}"/>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E5E282F1-4EB1-4751-91BE-38181F27DA02}"/>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6583FE9D-1542-4A0C-B566-FC071D306CDB}"/>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780646D6-1228-4100-A101-6B0E87209915}"/>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0380548C-F46C-4BA5-A088-8ED87BFE24E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decoration without purpose.</a:t>
            </a:r>
          </a:p>
        </p:txBody>
      </p:sp>
      <p:sp>
        <p:nvSpPr>
          <p:cNvPr id="6" name="">
            <a:extLst xmlns:a="http://schemas.openxmlformats.org/drawingml/2006/main">
              <a:ext uri="{FF2B5EF4-FFF2-40B4-BE49-F238E27FC236}">
                <a16:creationId xmlns:a16="http://schemas.microsoft.com/office/drawing/2014/main" id="{5F39A049-D80C-4893-A5E4-C62D9F1B5944}"/>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B0E05949-3EC3-473B-A6D3-432E9B9845A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Findings (20.0 total): Five findings, supported by evidence from the data, stated with correct magnitudes and units.</a:t>
            </a:r>
          </a:p>
        </p:txBody>
      </p:sp>
      <p:sp>
        <p:nvSpPr>
          <p:cNvPr id="8" name="">
            <a:extLst xmlns:a="http://schemas.openxmlformats.org/drawingml/2006/main">
              <a:ext uri="{FF2B5EF4-FFF2-40B4-BE49-F238E27FC236}">
                <a16:creationId xmlns:a16="http://schemas.microsoft.com/office/drawing/2014/main" id="{9647C450-36C2-4562-BCA7-722A07EB86B9}"/>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3001E77A-2045-45FE-83B2-B884011E558E}"/>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 wrong number loses the mark even if the method was right.</a:t>
            </a:r>
          </a:p>
        </p:txBody>
      </p:sp>
      <p:sp>
        <p:nvSpPr>
          <p:cNvPr id="10" name="">
            <a:extLst xmlns:a="http://schemas.openxmlformats.org/drawingml/2006/main">
              <a:ext uri="{FF2B5EF4-FFF2-40B4-BE49-F238E27FC236}">
                <a16:creationId xmlns:a16="http://schemas.microsoft.com/office/drawing/2014/main" id="{0F491CAD-3647-458D-BD50-34FF1F427B3C}"/>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F1FA5569-C744-4EF4-BB4F-70E0DA8356D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Engineering interpretation (15.0 total): One recommendation that an engineer could act on, plus a clear statement of what further data would be needed.</a:t>
            </a:r>
          </a:p>
        </p:txBody>
      </p:sp>
      <p:sp>
        <p:nvSpPr>
          <p:cNvPr id="12" name="">
            <a:extLst xmlns:a="http://schemas.openxmlformats.org/drawingml/2006/main">
              <a:ext uri="{FF2B5EF4-FFF2-40B4-BE49-F238E27FC236}">
                <a16:creationId xmlns:a16="http://schemas.microsoft.com/office/drawing/2014/main" id="{E8B29DDC-6FF3-4A13-B857-2AAC3739A77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17</a:t>
            </a:r>
          </a:p>
        </p:txBody>
      </p:sp>
    </p:spTree>
    <p:extLst>
      <p:ext uri="{BB962C8B-B14F-4D97-AF65-F5344CB8AC3E}">
        <p14:creationId xmlns:p14="http://schemas.microsoft.com/office/powerpoint/2010/main" val="734223648"/>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2101E241-52FD-4181-8A2F-5FC271306527}"/>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690C1860-E4C1-42A8-8176-EE852D33D7B9}"/>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9535EB4D-7E5C-485B-AB16-FCCCA80363D1}"/>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E6B385D2-6038-4709-A522-8EDB268FA566}"/>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BBAFE15F-6F81-4F4E-8EA8-51D7A23CDEF8}"/>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Clarity &amp; reproducibility (10.0 total): Notebook runs top to bottom.</a:t>
            </a:r>
          </a:p>
        </p:txBody>
      </p:sp>
      <p:sp>
        <p:nvSpPr>
          <p:cNvPr id="6" name="">
            <a:extLst xmlns:a="http://schemas.openxmlformats.org/drawingml/2006/main">
              <a:ext uri="{FF2B5EF4-FFF2-40B4-BE49-F238E27FC236}">
                <a16:creationId xmlns:a16="http://schemas.microsoft.com/office/drawing/2014/main" id="{C4E21FD2-EE39-40F4-B59C-7DA8178F74B9}"/>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7B6CD986-15B9-4403-A941-C32321AAAB96}"/>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Logical order.</a:t>
            </a:r>
          </a:p>
        </p:txBody>
      </p:sp>
      <p:sp>
        <p:nvSpPr>
          <p:cNvPr id="8" name="">
            <a:extLst xmlns:a="http://schemas.openxmlformats.org/drawingml/2006/main">
              <a:ext uri="{FF2B5EF4-FFF2-40B4-BE49-F238E27FC236}">
                <a16:creationId xmlns:a16="http://schemas.microsoft.com/office/drawing/2014/main" id="{6DF5C8B8-A3FE-4C0A-90A8-F2941C3312F3}"/>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770BE414-F294-4C2E-B047-4193EEA2E06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Markdown explains intent.</a:t>
            </a:r>
          </a:p>
        </p:txBody>
      </p:sp>
      <p:sp>
        <p:nvSpPr>
          <p:cNvPr id="10" name="">
            <a:extLst xmlns:a="http://schemas.openxmlformats.org/drawingml/2006/main">
              <a:ext uri="{FF2B5EF4-FFF2-40B4-BE49-F238E27FC236}">
                <a16:creationId xmlns:a16="http://schemas.microsoft.com/office/drawing/2014/main" id="{403E493D-7AA9-4E56-92B6-F0715E616446}"/>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5CB76744-4B10-4CFA-99F0-41FEFF39A9C6}"/>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dead code.</a:t>
            </a:r>
          </a:p>
        </p:txBody>
      </p:sp>
      <p:sp>
        <p:nvSpPr>
          <p:cNvPr id="12" name="">
            <a:extLst xmlns:a="http://schemas.openxmlformats.org/drawingml/2006/main">
              <a:ext uri="{FF2B5EF4-FFF2-40B4-BE49-F238E27FC236}">
                <a16:creationId xmlns:a16="http://schemas.microsoft.com/office/drawing/2014/main" id="{3D411AA7-2050-46D7-9219-4848576DD8ED}"/>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18</a:t>
            </a:r>
          </a:p>
        </p:txBody>
      </p:sp>
    </p:spTree>
    <p:extLst>
      <p:ext uri="{BB962C8B-B14F-4D97-AF65-F5344CB8AC3E}">
        <p14:creationId xmlns:p14="http://schemas.microsoft.com/office/powerpoint/2010/main" val="1085394686"/>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75B5E262-ED97-4DBA-8876-E067F194C30C}"/>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716F07EE-4DD6-4F76-AE97-CC2F2CB7AC15}"/>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2F8F8289-9A90-4E2E-A327-AE9831F5762A}"/>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0D9080E9-9AF6-4CCA-812C-27F2A2553373}"/>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12262A90-062E-4E94-892F-2EBF1473D4C0}"/>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Timing and Part B</a:t>
            </a:r>
          </a:p>
        </p:txBody>
      </p:sp>
      <p:sp>
        <p:nvSpPr>
          <p:cNvPr id="6" name="">
            <a:extLst xmlns:a="http://schemas.openxmlformats.org/drawingml/2006/main">
              <a:ext uri="{FF2B5EF4-FFF2-40B4-BE49-F238E27FC236}">
                <a16:creationId xmlns:a16="http://schemas.microsoft.com/office/drawing/2014/main" id="{17BA4F70-7657-43FF-89BE-92F8E62CF892}"/>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2151CAE7-BDBB-4172-9FAE-CE969A0EE2A7}"/>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15 minutes setup, 120 minutes practical, 25 minutes typed offline reasoning with code execution prohibited, 20 minutes collection.</a:t>
            </a:r>
          </a:p>
        </p:txBody>
      </p:sp>
      <p:sp>
        <p:nvSpPr>
          <p:cNvPr id="8" name="">
            <a:extLst xmlns:a="http://schemas.openxmlformats.org/drawingml/2006/main">
              <a:ext uri="{FF2B5EF4-FFF2-40B4-BE49-F238E27FC236}">
                <a16:creationId xmlns:a16="http://schemas.microsoft.com/office/drawing/2014/main" id="{68FBD92E-3F4F-436E-BE57-45A67C50E267}"/>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C4A758C6-549A-4367-8255-DDDF6F8BD238}"/>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a:t>
            </a:r>
          </a:p>
        </p:txBody>
      </p:sp>
      <p:sp>
        <p:nvSpPr>
          <p:cNvPr id="10" name="">
            <a:extLst xmlns:a="http://schemas.openxmlformats.org/drawingml/2006/main">
              <a:ext uri="{FF2B5EF4-FFF2-40B4-BE49-F238E27FC236}">
                <a16:creationId xmlns:a16="http://schemas.microsoft.com/office/drawing/2014/main" id="{0EA37D93-72FD-486A-B55E-599780DFF02F}"/>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D2E12EFE-7D7A-4D2E-9393-BC6FAE557898}"/>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Answer: Why your main cleaning/model choice?</a:t>
            </a:r>
          </a:p>
        </p:txBody>
      </p:sp>
      <p:sp>
        <p:nvSpPr>
          <p:cNvPr id="12" name="">
            <a:extLst xmlns:a="http://schemas.openxmlformats.org/drawingml/2006/main">
              <a:ext uri="{FF2B5EF4-FFF2-40B4-BE49-F238E27FC236}">
                <a16:creationId xmlns:a16="http://schemas.microsoft.com/office/drawing/2014/main" id="{DF21AC88-D7E8-4743-B45C-918438B138EE}"/>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19</a:t>
            </a:r>
          </a:p>
        </p:txBody>
      </p:sp>
    </p:spTree>
    <p:extLst>
      <p:ext uri="{BB962C8B-B14F-4D97-AF65-F5344CB8AC3E}">
        <p14:creationId xmlns:p14="http://schemas.microsoft.com/office/powerpoint/2010/main" val="1048388009"/>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3" name="">
            <a:extLst xmlns:a="http://schemas.openxmlformats.org/drawingml/2006/main">
              <a:ext uri="{FF2B5EF4-FFF2-40B4-BE49-F238E27FC236}">
                <a16:creationId xmlns:a16="http://schemas.microsoft.com/office/drawing/2014/main" id="{86FE93D1-9E44-4C4F-99BF-46E79F110EF8}"/>
              </a:ext>
            </a:extLst>
          </p:cNvPr>
          <p:cNvSpPr>
            <a:spLocks xmlns:a="http://schemas.openxmlformats.org/drawingml/2006/main" noGrp="1"/>
          </p:cNvSpPr>
          <p:nvPr/>
        </p:nvSpPr>
        <p:spPr>
          <a:xfrm xmlns:a="http://schemas.openxmlformats.org/drawingml/2006/main">
            <a:off x="0" y="0"/>
            <a:ext cx="12191695" cy="1390650"/>
          </a:xfrm>
          <a:prstGeom xmlns:a="http://schemas.openxmlformats.org/drawingml/2006/main" prst="rect">
            <a:avLst/>
          </a:prstGeom>
          <a:solidFill xmlns:a="http://schemas.openxmlformats.org/drawingml/2006/main">
            <a:srgbClr val="1C3144"/>
          </a:solidFill>
          <a:ln xmlns:a="http://schemas.openxmlformats.org/drawingml/2006/main" w="0">
            <a:noFill/>
          </a:ln>
        </p:spPr>
      </p:sp>
      <p:sp>
        <p:nvSpPr>
          <p:cNvPr id="2" name="">
            <a:extLst xmlns:a="http://schemas.openxmlformats.org/drawingml/2006/main">
              <a:ext uri="{FF2B5EF4-FFF2-40B4-BE49-F238E27FC236}">
                <a16:creationId xmlns:a16="http://schemas.microsoft.com/office/drawing/2014/main" id="{2C5DCF20-B7FC-4051-9DAD-27DD49831C41}"/>
              </a:ext>
            </a:extLst>
          </p:cNvPr>
          <p:cNvSpPr>
            <a:spLocks xmlns:a="http://schemas.openxmlformats.org/drawingml/2006/main" noGrp="1"/>
          </p:cNvSpPr>
          <p:nvPr/>
        </p:nvSpPr>
        <p:spPr>
          <a:xfrm xmlns:a="http://schemas.openxmlformats.org/drawingml/2006/main">
            <a:off x="590550" y="180975"/>
            <a:ext cx="110490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500" b="1">
                <a:solidFill>
                  <a:srgbClr val="E4572E"/>
                </a:solidFill>
                <a:latin typeface="Calibri"/>
                <a:ea typeface="Calibri"/>
                <a:cs typeface="Calibri"/>
              </a:defRPr>
            </a:pPr>
            <a:r>
              <a:rPr sz="1500" b="1">
                <a:solidFill>
                  <a:srgbClr val="E4572E"/>
                </a:solidFill>
                <a:latin typeface="Calibri"/>
                <a:ea typeface="Calibri"/>
                <a:cs typeface="Calibri"/>
              </a:rPr>
              <a:t>ONE IDEA AT A TIME</a:t>
            </a:r>
          </a:p>
        </p:txBody>
      </p:sp>
      <p:sp>
        <p:nvSpPr>
          <p:cNvPr id="3" name="">
            <a:extLst xmlns:a="http://schemas.openxmlformats.org/drawingml/2006/main">
              <a:ext uri="{FF2B5EF4-FFF2-40B4-BE49-F238E27FC236}">
                <a16:creationId xmlns:a16="http://schemas.microsoft.com/office/drawing/2014/main" id="{35171F03-15F9-4B83-9CFF-C661BE1066B3}"/>
              </a:ext>
            </a:extLst>
          </p:cNvPr>
          <p:cNvSpPr>
            <a:spLocks xmlns:a="http://schemas.openxmlformats.org/drawingml/2006/main" noGrp="1"/>
          </p:cNvSpPr>
          <p:nvPr/>
        </p:nvSpPr>
        <p:spPr>
          <a:xfrm xmlns:a="http://schemas.openxmlformats.org/drawingml/2006/main">
            <a:off x="590550" y="523875"/>
            <a:ext cx="11049000" cy="8096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continued</a:t>
            </a:r>
          </a:p>
        </p:txBody>
      </p:sp>
      <p:sp>
        <p:nvSpPr>
          <p:cNvPr id="4" name="">
            <a:extLst xmlns:a="http://schemas.openxmlformats.org/drawingml/2006/main">
              <a:ext uri="{FF2B5EF4-FFF2-40B4-BE49-F238E27FC236}">
                <a16:creationId xmlns:a16="http://schemas.microsoft.com/office/drawing/2014/main" id="{2B03F6A9-4FE3-49A9-94AC-0CA59819176F}"/>
              </a:ext>
            </a:extLst>
          </p:cNvPr>
          <p:cNvSpPr>
            <a:spLocks xmlns:a="http://schemas.openxmlformats.org/drawingml/2006/main" noGrp="1"/>
          </p:cNvSpPr>
          <p:nvPr/>
        </p:nvSpPr>
        <p:spPr>
          <a:xfrm xmlns:a="http://schemas.openxmlformats.org/drawingml/2006/main">
            <a:off x="590550" y="1781175"/>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xmlns:a="http://schemas.openxmlformats.org/drawingml/2006/main">
              <a:ext uri="{FF2B5EF4-FFF2-40B4-BE49-F238E27FC236}">
                <a16:creationId xmlns:a16="http://schemas.microsoft.com/office/drawing/2014/main" id="{48DB9430-90B9-44D4-AAC8-859C5ECE4ADE}"/>
              </a:ext>
            </a:extLst>
          </p:cNvPr>
          <p:cNvSpPr>
            <a:spLocks xmlns:a="http://schemas.openxmlformats.org/drawingml/2006/main" noGrp="1"/>
          </p:cNvSpPr>
          <p:nvPr/>
        </p:nvSpPr>
        <p:spPr>
          <a:xfrm xmlns:a="http://schemas.openxmlformats.org/drawingml/2006/main">
            <a:off x="1381125" y="1781175"/>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can your chart/metric not establish?</a:t>
            </a:r>
          </a:p>
        </p:txBody>
      </p:sp>
      <p:sp>
        <p:nvSpPr>
          <p:cNvPr id="6" name="">
            <a:extLst xmlns:a="http://schemas.openxmlformats.org/drawingml/2006/main">
              <a:ext uri="{FF2B5EF4-FFF2-40B4-BE49-F238E27FC236}">
                <a16:creationId xmlns:a16="http://schemas.microsoft.com/office/drawing/2014/main" id="{0C15E08D-F1A6-474B-BFB5-0E6C9DC74031}"/>
              </a:ext>
            </a:extLst>
          </p:cNvPr>
          <p:cNvSpPr>
            <a:spLocks xmlns:a="http://schemas.openxmlformats.org/drawingml/2006/main" noGrp="1"/>
          </p:cNvSpPr>
          <p:nvPr/>
        </p:nvSpPr>
        <p:spPr>
          <a:xfrm xmlns:a="http://schemas.openxmlformats.org/drawingml/2006/main">
            <a:off x="590550" y="2852738"/>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xmlns:a="http://schemas.openxmlformats.org/drawingml/2006/main">
              <a:ext uri="{FF2B5EF4-FFF2-40B4-BE49-F238E27FC236}">
                <a16:creationId xmlns:a16="http://schemas.microsoft.com/office/drawing/2014/main" id="{44DA8769-6BE9-4605-BB76-C160B560FDC8}"/>
              </a:ext>
            </a:extLst>
          </p:cNvPr>
          <p:cNvSpPr>
            <a:spLocks xmlns:a="http://schemas.openxmlformats.org/drawingml/2006/main" noGrp="1"/>
          </p:cNvSpPr>
          <p:nvPr/>
        </p:nvSpPr>
        <p:spPr>
          <a:xfrm xmlns:a="http://schemas.openxmlformats.org/drawingml/2006/main">
            <a:off x="1381125" y="2852738"/>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evidence would change your recommendation?</a:t>
            </a:r>
          </a:p>
        </p:txBody>
      </p:sp>
      <p:sp>
        <p:nvSpPr>
          <p:cNvPr id="8" name="">
            <a:extLst xmlns:a="http://schemas.openxmlformats.org/drawingml/2006/main">
              <a:ext uri="{FF2B5EF4-FFF2-40B4-BE49-F238E27FC236}">
                <a16:creationId xmlns:a16="http://schemas.microsoft.com/office/drawing/2014/main" id="{9D84B97F-C1BD-4339-9411-B9D1AE044245}"/>
              </a:ext>
            </a:extLst>
          </p:cNvPr>
          <p:cNvSpPr>
            <a:spLocks xmlns:a="http://schemas.openxmlformats.org/drawingml/2006/main" noGrp="1"/>
          </p:cNvSpPr>
          <p:nvPr/>
        </p:nvSpPr>
        <p:spPr>
          <a:xfrm xmlns:a="http://schemas.openxmlformats.org/drawingml/2006/main">
            <a:off x="590550" y="3924300"/>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xmlns:a="http://schemas.openxmlformats.org/drawingml/2006/main">
              <a:ext uri="{FF2B5EF4-FFF2-40B4-BE49-F238E27FC236}">
                <a16:creationId xmlns:a16="http://schemas.microsoft.com/office/drawing/2014/main" id="{16167F8E-C9F6-4721-ABE6-0641E38A9DB5}"/>
              </a:ext>
            </a:extLst>
          </p:cNvPr>
          <p:cNvSpPr>
            <a:spLocks xmlns:a="http://schemas.openxmlformats.org/drawingml/2006/main" noGrp="1"/>
          </p:cNvSpPr>
          <p:nvPr/>
        </p:nvSpPr>
        <p:spPr>
          <a:xfrm xmlns:a="http://schemas.openxmlformats.org/drawingml/2006/main">
            <a:off x="1381125" y="3924300"/>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What further data is required?</a:t>
            </a:r>
          </a:p>
        </p:txBody>
      </p:sp>
      <p:sp>
        <p:nvSpPr>
          <p:cNvPr id="10" name="">
            <a:extLst xmlns:a="http://schemas.openxmlformats.org/drawingml/2006/main">
              <a:ext uri="{FF2B5EF4-FFF2-40B4-BE49-F238E27FC236}">
                <a16:creationId xmlns:a16="http://schemas.microsoft.com/office/drawing/2014/main" id="{CD08680D-8448-4CCB-9B91-D02375F3D684}"/>
              </a:ext>
            </a:extLst>
          </p:cNvPr>
          <p:cNvSpPr>
            <a:spLocks xmlns:a="http://schemas.openxmlformats.org/drawingml/2006/main" noGrp="1"/>
          </p:cNvSpPr>
          <p:nvPr/>
        </p:nvSpPr>
        <p:spPr>
          <a:xfrm xmlns:a="http://schemas.openxmlformats.org/drawingml/2006/main">
            <a:off x="590550" y="4995863"/>
            <a:ext cx="619125"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xmlns:a="http://schemas.openxmlformats.org/drawingml/2006/main">
              <a:ext uri="{FF2B5EF4-FFF2-40B4-BE49-F238E27FC236}">
                <a16:creationId xmlns:a16="http://schemas.microsoft.com/office/drawing/2014/main" id="{455E4959-092D-4DC8-B950-8ADCB4341199}"/>
              </a:ext>
            </a:extLst>
          </p:cNvPr>
          <p:cNvSpPr>
            <a:spLocks xmlns:a="http://schemas.openxmlformats.org/drawingml/2006/main" noGrp="1"/>
          </p:cNvSpPr>
          <p:nvPr/>
        </p:nvSpPr>
        <p:spPr>
          <a:xfrm xmlns:a="http://schemas.openxmlformats.org/drawingml/2006/main">
            <a:off x="1381125" y="4995863"/>
            <a:ext cx="10096500" cy="995363"/>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2250" b="0">
                <a:solidFill>
                  <a:srgbClr val="1C3144"/>
                </a:solidFill>
                <a:latin typeface="Calibri"/>
                <a:ea typeface="Calibri"/>
                <a:cs typeface="Calibri"/>
              </a:defRPr>
            </a:pPr>
            <a:r>
              <a:rPr sz="2250" b="0">
                <a:solidFill>
                  <a:srgbClr val="1C3144"/>
                </a:solidFill>
                <a:latin typeface="Calibri"/>
                <a:ea typeface="Calibri"/>
                <a:cs typeface="Calibri"/>
              </a:rPr>
              <a:t>Invigilated offline collection is authoritative; Google upload is a later transport step and must not impose an internet requirement during the test.</a:t>
            </a:r>
          </a:p>
        </p:txBody>
      </p:sp>
      <p:sp>
        <p:nvSpPr>
          <p:cNvPr id="12" name="">
            <a:extLst xmlns:a="http://schemas.openxmlformats.org/drawingml/2006/main">
              <a:ext uri="{FF2B5EF4-FFF2-40B4-BE49-F238E27FC236}">
                <a16:creationId xmlns:a16="http://schemas.microsoft.com/office/drawing/2014/main" id="{ACD6D8A8-79A3-4690-B0E9-6E822191BAC2}"/>
              </a:ext>
            </a:extLst>
          </p:cNvPr>
          <p:cNvSpPr>
            <a:spLocks xmlns:a="http://schemas.openxmlformats.org/drawingml/2006/main" noGrp="1"/>
          </p:cNvSpPr>
          <p:nvPr/>
        </p:nvSpPr>
        <p:spPr>
          <a:xfrm xmlns:a="http://schemas.openxmlformats.org/drawingml/2006/main">
            <a:off x="590550" y="6524625"/>
            <a:ext cx="10810875" cy="2190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a:noAutofit/>
          </a:bodyPr>
          <a:lstStyle xmlns:a="http://schemas.openxmlformats.org/drawingml/2006/main"/>
          <a:p xmlns:a="http://schemas.openxmlformats.org/drawingml/2006/main">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20</a:t>
            </a:r>
          </a:p>
        </p:txBody>
      </p:sp>
    </p:spTree>
    <p:extLst>
      <p:ext uri="{BB962C8B-B14F-4D97-AF65-F5344CB8AC3E}">
        <p14:creationId xmlns:p14="http://schemas.microsoft.com/office/powerpoint/2010/main" val="84875767"/>
      </p:ext>
    </p:extLst>
  </p:cSld>
</p:sld>
</file>

<file path=ppt/slides/slide21.xml><?xml version="1.0" encoding="utf-8"?>
<p:sld xmlns:a="http://schemas.openxmlformats.org/drawingml/2006/main" xmlns:ns2="http://schemas.microsoft.com/office/drawing/2014/main" xmlns:ns4="http://schemas.microsoft.com/office/powerpoint/2010/main" xmlns:p="http://schemas.openxmlformats.org/presentationml/2006/main" xmlns:r="http://schemas.openxmlformats.org/officeDocument/2006/relationships">
  <p:cSld>
    <p:bg>
      <p:bgPr>
        <a:solidFill>
          <a:srgbClr val="FFFFFF"/>
        </a:solidFill>
      </p:bgPr>
    </p:bg>
    <p:spTree>
      <p:nvGrpSpPr>
        <p:cNvPr id="1" name=""/>
        <p:cNvGrpSpPr/>
        <p:nvPr/>
      </p:nvGrpSpPr>
      <p:grpSpPr>
        <a:xfrm/>
      </p:grpSpPr>
      <p:sp>
        <p:nvSpPr>
          <p:cNvPr id="16" name="">
            <a:extLst>
              <a:ext uri="{FF2B5EF4-FFF2-40B4-BE49-F238E27FC236}">
                <ns2:creationId id="{003E0BCA-42E2-4063-9E30-267DBD93171B}"/>
              </a:ext>
            </a:extLst>
          </p:cNvPr>
          <p:cNvSpPr>
            <a:spLocks noGrp="1"/>
          </p:cNvSpPr>
          <p:nvPr/>
        </p:nvSpPr>
        <p:spPr>
          <a:xfrm>
            <a:off x="0" y="0"/>
            <a:ext cx="12191695" cy="1390650"/>
          </a:xfrm>
          <a:prstGeom prst="rect">
            <a:avLst/>
          </a:prstGeom>
          <a:solidFill>
            <a:srgbClr val="1C3144"/>
          </a:solidFill>
          <a:ln w="0">
            <a:noFill/>
          </a:ln>
        </p:spPr>
      </p:sp>
      <p:sp>
        <p:nvSpPr>
          <p:cNvPr id="2" name="">
            <a:extLst>
              <a:ext uri="{FF2B5EF4-FFF2-40B4-BE49-F238E27FC236}">
                <ns2:creationId id="{8231ADD8-CF84-481A-876D-2917AABC84B6}"/>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ASSIGNMENT SUBMISSION</a:t>
            </a:r>
          </a:p>
        </p:txBody>
      </p:sp>
      <p:sp>
        <p:nvSpPr>
          <p:cNvPr id="3" name="">
            <a:extLst>
              <a:ext uri="{FF2B5EF4-FFF2-40B4-BE49-F238E27FC236}">
                <ns2:creationId id="{A43B08A9-D801-449D-9708-D87566AB36A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Practical Test 1 submission</a:t>
            </a:r>
          </a:p>
        </p:txBody>
      </p:sp>
      <p:sp>
        <p:nvSpPr>
          <p:cNvPr id="4" name="">
            <a:extLst>
              <a:ext uri="{FF2B5EF4-FFF2-40B4-BE49-F238E27FC236}">
                <ns2:creationId id="{D12FA208-7F1B-4020-A54C-234E55BFD9C8}"/>
              </a:ext>
            </a:extLst>
          </p:cNvPr>
          <p:cNvSpPr>
            <a:spLocks noGrp="1"/>
          </p:cNvSpPr>
          <p:nvPr/>
        </p:nvSpPr>
        <p:spPr>
          <a:xfrm>
            <a:off x="590550" y="1724025"/>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01</a:t>
            </a:r>
          </a:p>
        </p:txBody>
      </p:sp>
      <p:sp>
        <p:nvSpPr>
          <p:cNvPr id="5" name="">
            <a:extLst>
              <a:ext uri="{FF2B5EF4-FFF2-40B4-BE49-F238E27FC236}">
                <ns2:creationId id="{45D80CB2-AB86-483E-BADB-FF8CA4E47D5D}"/>
              </a:ext>
            </a:extLst>
          </p:cNvPr>
          <p:cNvSpPr>
            <a:spLocks noGrp="1"/>
          </p:cNvSpPr>
          <p:nvPr/>
        </p:nvSpPr>
        <p:spPr>
          <a:xfrm>
            <a:off x="1381125" y="1724025"/>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Offline invigilated collection is authoritative.</a:t>
            </a:r>
          </a:p>
        </p:txBody>
      </p:sp>
      <p:sp>
        <p:nvSpPr>
          <p:cNvPr id="6" name="">
            <a:extLst>
              <a:ext uri="{FF2B5EF4-FFF2-40B4-BE49-F238E27FC236}">
                <ns2:creationId id="{0DDB466B-3D7F-4E7A-8CF9-2EDF0FBDDCF1}"/>
              </a:ext>
            </a:extLst>
          </p:cNvPr>
          <p:cNvSpPr>
            <a:spLocks noGrp="1"/>
          </p:cNvSpPr>
          <p:nvPr/>
        </p:nvSpPr>
        <p:spPr>
          <a:xfrm>
            <a:off x="590550" y="2521744"/>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02</a:t>
            </a:r>
          </a:p>
        </p:txBody>
      </p:sp>
      <p:sp>
        <p:nvSpPr>
          <p:cNvPr id="7" name="">
            <a:extLst>
              <a:ext uri="{FF2B5EF4-FFF2-40B4-BE49-F238E27FC236}">
                <ns2:creationId id="{A5CA63EA-7255-4475-93E4-F5A3294B6343}"/>
              </a:ext>
            </a:extLst>
          </p:cNvPr>
          <p:cNvSpPr>
            <a:spLocks noGrp="1"/>
          </p:cNvSpPr>
          <p:nvPr/>
        </p:nvSpPr>
        <p:spPr>
          <a:xfrm>
            <a:off x="1381125" y="2521744"/>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Google upload is a later transport step.</a:t>
            </a:r>
          </a:p>
        </p:txBody>
      </p:sp>
      <p:sp>
        <p:nvSpPr>
          <p:cNvPr id="8" name="">
            <a:extLst>
              <a:ext uri="{FF2B5EF4-FFF2-40B4-BE49-F238E27FC236}">
                <ns2:creationId id="{EF50514D-DA82-4936-88B7-0D1A26E5A9BD}"/>
              </a:ext>
            </a:extLst>
          </p:cNvPr>
          <p:cNvSpPr>
            <a:spLocks noGrp="1"/>
          </p:cNvSpPr>
          <p:nvPr/>
        </p:nvSpPr>
        <p:spPr>
          <a:xfrm>
            <a:off x="590550" y="3319463"/>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03</a:t>
            </a:r>
          </a:p>
        </p:txBody>
      </p:sp>
      <p:sp>
        <p:nvSpPr>
          <p:cNvPr id="9" name="">
            <a:extLst>
              <a:ext uri="{FF2B5EF4-FFF2-40B4-BE49-F238E27FC236}">
                <ns2:creationId id="{B6B91D65-E7A4-45DD-906C-82FBC5955A0E}"/>
              </a:ext>
            </a:extLst>
          </p:cNvPr>
          <p:cNvSpPr>
            <a:spLocks noGrp="1"/>
          </p:cNvSpPr>
          <p:nvPr/>
        </p:nvSpPr>
        <p:spPr>
          <a:xfrm>
            <a:off x="1381125" y="3319463"/>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Save one notebook with Part B under My written evidence.</a:t>
            </a:r>
          </a:p>
        </p:txBody>
      </p:sp>
      <p:sp>
        <p:nvSpPr>
          <p:cNvPr id="10" name="">
            <a:extLst>
              <a:ext uri="{FF2B5EF4-FFF2-40B4-BE49-F238E27FC236}">
                <ns2:creationId id="{56911CDE-7411-4186-BFCF-F9E08C4AF5AD}"/>
              </a:ext>
            </a:extLst>
          </p:cNvPr>
          <p:cNvSpPr>
            <a:spLocks noGrp="1"/>
          </p:cNvSpPr>
          <p:nvPr/>
        </p:nvSpPr>
        <p:spPr>
          <a:xfrm>
            <a:off x="590550" y="4117181"/>
            <a:ext cx="619125" cy="571500"/>
          </a:xfrm>
          <a:prstGeom prst="rect">
            <a:avLst/>
          </a:prstGeom>
          <a:noFill/>
          <a:ln w="0">
            <a:noFill/>
          </a:ln>
        </p:spPr>
        <p:txBody>
          <a:bodyPr>
            <a:noAutofit/>
          </a:bodyPr>
          <a:lstStyle/>
          <a:p>
            <a:pPr>
              <a:defRPr sz="2550" b="1">
                <a:solidFill>
                  <a:srgbClr val="E4572E"/>
                </a:solidFill>
                <a:latin typeface="Calibri"/>
                <a:ea typeface="Calibri"/>
                <a:cs typeface="Calibri"/>
              </a:defRPr>
            </a:pPr>
            <a:r>
              <a:rPr sz="2550" b="1">
                <a:solidFill>
                  <a:srgbClr val="E4572E"/>
                </a:solidFill>
                <a:latin typeface="Calibri"/>
                <a:ea typeface="Calibri"/>
                <a:cs typeface="Calibri"/>
              </a:rPr>
              <a:t>04</a:t>
            </a:r>
          </a:p>
        </p:txBody>
      </p:sp>
      <p:sp>
        <p:nvSpPr>
          <p:cNvPr id="11" name="">
            <a:extLst>
              <a:ext uri="{FF2B5EF4-FFF2-40B4-BE49-F238E27FC236}">
                <ns2:creationId id="{DB35B513-D140-4EE9-B6D8-B2292FC116F5}"/>
              </a:ext>
            </a:extLst>
          </p:cNvPr>
          <p:cNvSpPr>
            <a:spLocks noGrp="1"/>
          </p:cNvSpPr>
          <p:nvPr/>
        </p:nvSpPr>
        <p:spPr>
          <a:xfrm>
            <a:off x="1381125" y="4117181"/>
            <a:ext cx="10096500" cy="721519"/>
          </a:xfrm>
          <a:prstGeom prst="rect">
            <a:avLst/>
          </a:prstGeom>
          <a:noFill/>
          <a:ln w="0">
            <a:noFill/>
          </a:ln>
        </p:spPr>
        <p:txBody>
          <a:bodyPr>
            <a:noAutofit/>
          </a:bodyPr>
          <a:lstStyle/>
          <a:p>
            <a:pPr>
              <a:defRPr sz="2250" b="0">
                <a:solidFill>
                  <a:srgbClr val="1C3144"/>
                </a:solidFill>
                <a:latin typeface="Calibri"/>
                <a:ea typeface="Calibri"/>
                <a:cs typeface="Calibri"/>
              </a:defRPr>
            </a:pPr>
            <a:r>
              <a:rPr sz="2250" b="0">
                <a:solidFill>
                  <a:srgbClr val="1C3144"/>
                </a:solidFill>
                <a:latin typeface="Calibri"/>
                <a:ea typeface="Calibri"/>
                <a:cs typeface="Calibri"/>
              </a:rPr>
              <a:t>No internet, messaging or AI during the test.</a:t>
            </a:r>
          </a:p>
        </p:txBody>
      </p:sp>
      <p:sp>
        <p:nvSpPr>
          <p:cNvPr id="12" name="">
            <a:extLst>
              <a:ext uri="{FF2B5EF4-FFF2-40B4-BE49-F238E27FC236}">
                <ns2:creationId id="{8B909992-1626-46EF-BEA1-E9EB19D9D898}"/>
              </a:ext>
            </a:extLst>
          </p:cNvPr>
          <p:cNvSpPr>
            <a:spLocks noGrp="1"/>
          </p:cNvSpPr>
          <p:nvPr/>
        </p:nvSpPr>
        <p:spPr>
          <a:xfrm>
            <a:off x="590550" y="5143500"/>
            <a:ext cx="11010900" cy="657225"/>
          </a:xfrm>
          <a:prstGeom prst="rect">
            <a:avLst/>
          </a:prstGeom>
          <a:solidFill>
            <a:srgbClr val="E5F1EE"/>
          </a:solidFill>
          <a:ln w="0">
            <a:noFill/>
          </a:ln>
        </p:spPr>
      </p:sp>
      <p:sp>
        <p:nvSpPr>
          <p:cNvPr id="13" name="">
            <a:extLst>
              <a:ext uri="{FF2B5EF4-FFF2-40B4-BE49-F238E27FC236}">
                <ns2:creationId id="{214FE02F-923E-43B6-9308-2C50697113A7}"/>
              </a:ext>
            </a:extLst>
          </p:cNvPr>
          <p:cNvSpPr>
            <a:spLocks noGrp="1"/>
          </p:cNvSpPr>
          <p:nvPr/>
        </p:nvSpPr>
        <p:spPr>
          <a:xfrm>
            <a:off x="800100" y="5267325"/>
            <a:ext cx="10572750" cy="457200"/>
          </a:xfrm>
          <a:prstGeom prst="rect">
            <a:avLst/>
          </a:prstGeom>
          <a:noFill/>
          <a:ln w="0">
            <a:noFill/>
          </a:ln>
        </p:spPr>
        <p:txBody>
          <a:bodyPr>
            <a:noAutofit/>
          </a:bodyPr>
          <a:lstStyle/>
          <a:p>
            <a:pPr>
              <a:defRPr sz="2250" b="1">
                <a:solidFill>
                  <a:srgbClr val="2E7D6F"/>
                </a:solidFill>
                <a:latin typeface="Calibri"/>
                <a:ea typeface="Calibri"/>
                <a:cs typeface="Calibri"/>
              </a:defRPr>
            </a:pPr>
            <a:r>
              <a:rPr sz="2250" b="1">
                <a:solidFill>
                  <a:srgbClr val="2E7D6F"/>
                </a:solidFill>
                <a:latin typeface="Calibri"/>
                <a:ea typeface="Calibri"/>
                <a:cs typeface="Calibri"/>
                <a:hlinkClick r:id="R0c1514d222da4221"/>
              </a:rPr>
              <a:t>Open TEST1 assignment form</a:t>
            </a:r>
          </a:p>
        </p:txBody>
      </p:sp>
      <p:sp>
        <p:nvSpPr>
          <p:cNvPr id="14" name="">
            <a:extLst>
              <a:ext uri="{FF2B5EF4-FFF2-40B4-BE49-F238E27FC236}">
                <ns2:creationId id="{14E4D033-AFFC-4BFD-B4E1-275576FF4DF5}"/>
              </a:ext>
            </a:extLst>
          </p:cNvPr>
          <p:cNvSpPr>
            <a:spLocks noGrp="1"/>
          </p:cNvSpPr>
          <p:nvPr/>
        </p:nvSpPr>
        <p:spPr>
          <a:xfrm>
            <a:off x="685800" y="5972175"/>
            <a:ext cx="10668000" cy="304800"/>
          </a:xfrm>
          <a:prstGeom prst="rect">
            <a:avLst/>
          </a:prstGeom>
          <a:noFill/>
          <a:ln w="0">
            <a:noFill/>
          </a:ln>
        </p:spPr>
        <p:txBody>
          <a:bodyPr>
            <a:noAutofit/>
          </a:bodyPr>
          <a:lstStyle/>
          <a:p>
            <a:pPr>
              <a:defRPr sz="1275" b="0">
                <a:solidFill>
                  <a:srgbClr val="6B7A8A"/>
                </a:solidFill>
                <a:latin typeface="Calibri"/>
                <a:ea typeface="Calibri"/>
                <a:cs typeface="Calibri"/>
              </a:defRPr>
            </a:pPr>
            <a:r>
              <a:rPr sz="1275" b="0">
                <a:solidFill>
                  <a:srgbClr val="6B7A8A"/>
                </a:solidFill>
                <a:latin typeface="Calibri"/>
                <a:ea typeface="Calibri"/>
                <a:cs typeface="Calibri"/>
              </a:rPr>
              <a:t>https://docs.google.com/forms/d/e/1FAIpQLSeXXoklBxEruaJB_K0Ydf_N_YgW4KV44-PEBMDCSkhUHyBI4g/viewform</a:t>
            </a:r>
          </a:p>
        </p:txBody>
      </p:sp>
      <p:sp>
        <p:nvSpPr>
          <p:cNvPr id="15" name="">
            <a:extLst>
              <a:ext uri="{FF2B5EF4-FFF2-40B4-BE49-F238E27FC236}">
                <ns2:creationId id="{A8FDE972-30ED-4289-AE05-B53075FE7280}"/>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6B7A8A"/>
                </a:solidFill>
                <a:latin typeface="Calibri"/>
                <a:ea typeface="Calibri"/>
                <a:cs typeface="Calibri"/>
              </a:defRPr>
            </a:pPr>
            <a:r>
              <a:rPr sz="1200" b="0">
                <a:solidFill>
                  <a:srgbClr val="6B7A8A"/>
                </a:solidFill>
                <a:latin typeface="Calibri"/>
                <a:ea typeface="Calibri"/>
                <a:cs typeface="Calibri"/>
              </a:rPr>
              <a:t>CML3113   Week 7   21</a:t>
            </a:r>
          </a:p>
        </p:txBody>
      </p:sp>
    </p:spTree>
    <p:extLst>
      <p:ext uri="{BB962C8B-B14F-4D97-AF65-F5344CB8AC3E}">
        <ns4:creationId val="1679692222"/>
      </p:ext>
    </p:extLst>
  </p:cSld>
</p:sld>
</file>

<file path=ppt/slides/slide22.xml><?xml version="1.0" encoding="utf-8"?>
<p:sld xmlns:a="http://schemas.openxmlformats.org/drawingml/2006/main" xmlns:ns2="http://schemas.microsoft.com/office/drawing/2014/main" xmlns:ns3="http://schemas.microsoft.com/office/powerpoint/2010/main" xmlns:p="http://schemas.openxmlformats.org/presentationml/2006/main">
  <p:cSld>
    <p:bg>
      <p:bgPr>
        <a:solidFill>
          <a:srgbClr val="1C3144"/>
        </a:solidFill>
      </p:bgPr>
    </p:bg>
    <p:spTree>
      <p:nvGrpSpPr>
        <p:cNvPr id="1" name=""/>
        <p:cNvGrpSpPr/>
        <p:nvPr/>
      </p:nvGrpSpPr>
      <p:grpSpPr>
        <a:xfrm/>
      </p:grpSpPr>
      <p:sp>
        <p:nvSpPr>
          <p:cNvPr id="7" name="">
            <a:extLst>
              <a:ext uri="{FF2B5EF4-FFF2-40B4-BE49-F238E27FC236}">
                <ns2:creationId id="{77733D5F-29AA-430D-AFF2-2C95A6B8CB2B}"/>
              </a:ext>
            </a:extLst>
          </p:cNvPr>
          <p:cNvSpPr>
            <a:spLocks noGrp="1"/>
          </p:cNvSpPr>
          <p:nvPr/>
        </p:nvSpPr>
        <p:spPr>
          <a:xfrm>
            <a:off x="590550" y="180975"/>
            <a:ext cx="11049000" cy="285750"/>
          </a:xfrm>
          <a:prstGeom prst="rect">
            <a:avLst/>
          </a:prstGeom>
          <a:noFill/>
          <a:ln w="0">
            <a:noFill/>
          </a:ln>
        </p:spPr>
        <p:txBody>
          <a:bodyPr>
            <a:noAutofit/>
          </a:bodyPr>
          <a:lstStyle/>
          <a:p>
            <a:pPr>
              <a:defRPr sz="1500" b="1">
                <a:solidFill>
                  <a:srgbClr val="E4572E"/>
                </a:solidFill>
                <a:latin typeface="Calibri"/>
                <a:ea typeface="Calibri"/>
                <a:cs typeface="Calibri"/>
              </a:defRPr>
            </a:pPr>
            <a:r>
              <a:rPr sz="1500" b="1">
                <a:solidFill>
                  <a:srgbClr val="E4572E"/>
                </a:solidFill>
                <a:latin typeface="Calibri"/>
                <a:ea typeface="Calibri"/>
                <a:cs typeface="Calibri"/>
              </a:rPr>
              <a:t>INDIVIDUAL EXIT CHECK</a:t>
            </a:r>
          </a:p>
        </p:txBody>
      </p:sp>
      <p:sp>
        <p:nvSpPr>
          <p:cNvPr id="2" name="">
            <a:extLst>
              <a:ext uri="{FF2B5EF4-FFF2-40B4-BE49-F238E27FC236}">
                <ns2:creationId id="{B471EB06-64CC-4553-819A-1FD93E212B98}"/>
              </a:ext>
            </a:extLst>
          </p:cNvPr>
          <p:cNvSpPr>
            <a:spLocks noGrp="1"/>
          </p:cNvSpPr>
          <p:nvPr/>
        </p:nvSpPr>
        <p:spPr>
          <a:xfrm>
            <a:off x="590550" y="523875"/>
            <a:ext cx="11049000" cy="809625"/>
          </a:xfrm>
          <a:prstGeom prst="rect">
            <a:avLst/>
          </a:prstGeom>
          <a:noFill/>
          <a:ln w="0">
            <a:noFill/>
          </a:ln>
        </p:spPr>
        <p:txBody>
          <a:bodyPr>
            <a:noAutofit/>
          </a:bodyPr>
          <a:lstStyle/>
          <a:p>
            <a:pPr>
              <a:defRPr sz="3150" b="1">
                <a:solidFill>
                  <a:srgbClr val="FFFFFF"/>
                </a:solidFill>
                <a:latin typeface="Calibri"/>
                <a:ea typeface="Calibri"/>
                <a:cs typeface="Calibri"/>
              </a:defRPr>
            </a:pPr>
            <a:r>
              <a:rPr sz="3150" b="1">
                <a:solidFill>
                  <a:srgbClr val="FFFFFF"/>
                </a:solidFill>
                <a:latin typeface="Calibri"/>
                <a:ea typeface="Calibri"/>
                <a:cs typeface="Calibri"/>
              </a:rPr>
              <a:t>Before you leave</a:t>
            </a:r>
          </a:p>
        </p:txBody>
      </p:sp>
      <p:sp>
        <p:nvSpPr>
          <p:cNvPr id="3" name="">
            <a:extLst>
              <a:ext uri="{FF2B5EF4-FFF2-40B4-BE49-F238E27FC236}">
                <ns2:creationId id="{F13F7B4B-909C-47A6-82E2-FD473FF2EA33}"/>
              </a:ext>
            </a:extLst>
          </p:cNvPr>
          <p:cNvSpPr>
            <a:spLocks noGrp="1"/>
          </p:cNvSpPr>
          <p:nvPr/>
        </p:nvSpPr>
        <p:spPr>
          <a:xfrm>
            <a:off x="619125" y="1619250"/>
            <a:ext cx="2857500" cy="495300"/>
          </a:xfrm>
          <a:prstGeom prst="rect">
            <a:avLst/>
          </a:prstGeom>
          <a:noFill/>
          <a:ln w="0">
            <a:noFill/>
          </a:ln>
        </p:spPr>
        <p:txBody>
          <a:bodyPr>
            <a:noAutofit/>
          </a:bodyPr>
          <a:lstStyle/>
          <a:p>
            <a:pPr>
              <a:defRPr sz="1950" b="1">
                <a:solidFill>
                  <a:srgbClr val="E4572E"/>
                </a:solidFill>
                <a:latin typeface="Calibri"/>
                <a:ea typeface="Calibri"/>
                <a:cs typeface="Calibri"/>
              </a:defRPr>
            </a:pPr>
            <a:r>
              <a:rPr sz="1950" b="1">
                <a:solidFill>
                  <a:srgbClr val="E4572E"/>
                </a:solidFill>
                <a:latin typeface="Calibri"/>
                <a:ea typeface="Calibri"/>
                <a:cs typeface="Calibri"/>
              </a:rPr>
              <a:t>EXPLAIN IT</a:t>
            </a:r>
          </a:p>
        </p:txBody>
      </p:sp>
      <p:sp>
        <p:nvSpPr>
          <p:cNvPr id="4" name="">
            <a:extLst>
              <a:ext uri="{FF2B5EF4-FFF2-40B4-BE49-F238E27FC236}">
                <ns2:creationId id="{C13E6389-1FB0-4C9D-8A16-D685955DF271}"/>
              </a:ext>
            </a:extLst>
          </p:cNvPr>
          <p:cNvSpPr>
            <a:spLocks noGrp="1"/>
          </p:cNvSpPr>
          <p:nvPr/>
        </p:nvSpPr>
        <p:spPr>
          <a:xfrm>
            <a:off x="619125" y="2295525"/>
            <a:ext cx="10810875" cy="3095625"/>
          </a:xfrm>
          <a:prstGeom prst="rect">
            <a:avLst/>
          </a:prstGeom>
          <a:noFill/>
          <a:ln w="0">
            <a:noFill/>
          </a:ln>
        </p:spPr>
        <p:txBody>
          <a:bodyPr>
            <a:noAutofit/>
          </a:bodyPr>
          <a:lstStyle/>
          <a:p>
            <a:pPr>
              <a:defRPr sz="2850" b="0">
                <a:solidFill>
                  <a:srgbClr val="FFFFFF"/>
                </a:solidFill>
                <a:latin typeface="Calibri"/>
                <a:ea typeface="Calibri"/>
                <a:cs typeface="Calibri"/>
              </a:defRPr>
            </a:pPr>
            <a:r>
              <a:rPr sz="2850" b="0">
                <a:solidFill>
                  <a:srgbClr val="FFFFFF"/>
                </a:solidFill>
                <a:latin typeface="Calibri"/>
                <a:ea typeface="Calibri"/>
                <a:cs typeface="Calibri"/>
              </a:rPr>
              <a:t>You can reopen your notebook and find code and typed reasoning without help.</a:t>
            </a:r>
          </a:p>
          <a:p>
            <a:r>
              <a:t/>
            </a:r>
          </a:p>
          <a:p>
            <a:pPr>
              <a:defRPr sz="2850" b="0">
                <a:solidFill>
                  <a:srgbClr val="FFFFFF"/>
                </a:solidFill>
                <a:latin typeface="Calibri"/>
                <a:ea typeface="Calibri"/>
                <a:cs typeface="Calibri"/>
              </a:defRPr>
            </a:pPr>
            <a:r>
              <a:rPr sz="2850" b="0">
                <a:solidFill>
                  <a:srgbClr val="FFFFFF"/>
                </a:solidFill>
                <a:latin typeface="Calibri"/>
                <a:ea typeface="Calibri"/>
                <a:cs typeface="Calibri"/>
              </a:rPr>
              <a:t>Save your work and check the required submission files.</a:t>
            </a:r>
          </a:p>
        </p:txBody>
      </p:sp>
      <p:sp>
        <p:nvSpPr>
          <p:cNvPr id="5" name="">
            <a:extLst>
              <a:ext uri="{FF2B5EF4-FFF2-40B4-BE49-F238E27FC236}">
                <ns2:creationId id="{03061B8B-4266-4D9F-B344-407CC64FFE83}"/>
              </a:ext>
            </a:extLst>
          </p:cNvPr>
          <p:cNvSpPr>
            <a:spLocks noGrp="1"/>
          </p:cNvSpPr>
          <p:nvPr/>
        </p:nvSpPr>
        <p:spPr>
          <a:xfrm>
            <a:off x="619125" y="5791200"/>
            <a:ext cx="10810875" cy="542925"/>
          </a:xfrm>
          <a:prstGeom prst="rect">
            <a:avLst/>
          </a:prstGeom>
          <a:noFill/>
          <a:ln w="0">
            <a:noFill/>
          </a:ln>
        </p:spPr>
        <p:txBody>
          <a:bodyPr>
            <a:noAutofit/>
          </a:bodyPr>
          <a:lstStyle/>
          <a:p>
            <a:pPr>
              <a:defRPr sz="1800" b="0">
                <a:solidFill>
                  <a:srgbClr val="BBCDD9"/>
                </a:solidFill>
                <a:latin typeface="Calibri"/>
                <a:ea typeface="Calibri"/>
                <a:cs typeface="Calibri"/>
              </a:defRPr>
            </a:pPr>
            <a:r>
              <a:rPr sz="1800" b="0">
                <a:solidFill>
                  <a:srgbClr val="BBCDD9"/>
                </a:solidFill>
                <a:latin typeface="Calibri"/>
                <a:ea typeface="Calibri"/>
                <a:cs typeface="Calibri"/>
              </a:rPr>
              <a:t>Point to your evidence. Save your work.</a:t>
            </a:r>
          </a:p>
        </p:txBody>
      </p:sp>
      <p:sp>
        <p:nvSpPr>
          <p:cNvPr id="6" name="">
            <a:extLst>
              <a:ext uri="{FF2B5EF4-FFF2-40B4-BE49-F238E27FC236}">
                <ns2:creationId id="{419B64BA-76C7-41E0-A0F2-D0E1CA9CF5B3}"/>
              </a:ext>
            </a:extLst>
          </p:cNvPr>
          <p:cNvSpPr>
            <a:spLocks noGrp="1"/>
          </p:cNvSpPr>
          <p:nvPr/>
        </p:nvSpPr>
        <p:spPr>
          <a:xfrm>
            <a:off x="590550" y="6524625"/>
            <a:ext cx="10810875" cy="219075"/>
          </a:xfrm>
          <a:prstGeom prst="rect">
            <a:avLst/>
          </a:prstGeom>
          <a:noFill/>
          <a:ln w="0">
            <a:noFill/>
          </a:ln>
        </p:spPr>
        <p:txBody>
          <a:bodyPr>
            <a:noAutofit/>
          </a:bodyPr>
          <a:lstStyle/>
          <a:p>
            <a:pPr>
              <a:defRPr sz="1200" b="0">
                <a:solidFill>
                  <a:srgbClr val="BBCDD9"/>
                </a:solidFill>
                <a:latin typeface="Calibri"/>
                <a:ea typeface="Calibri"/>
                <a:cs typeface="Calibri"/>
              </a:defRPr>
            </a:pPr>
            <a:r>
              <a:rPr sz="1200" b="0">
                <a:solidFill>
                  <a:srgbClr val="BBCDD9"/>
                </a:solidFill>
                <a:latin typeface="Calibri"/>
                <a:ea typeface="Calibri"/>
                <a:cs typeface="Calibri"/>
              </a:rPr>
              <a:t>CML3113   Week 7   22</a:t>
            </a:r>
          </a:p>
        </p:txBody>
      </p:sp>
    </p:spTree>
    <p:extLst>
      <p:ext uri="{BB962C8B-B14F-4D97-AF65-F5344CB8AC3E}">
        <ns3:creationId val="1189515599"/>
      </p:ext>
    </p:extLst>
  </p:cSld>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2026-09-16T11:09:46.4720000Z</dcterms:created>
  <dcterms:modified xsi:type="dcterms:W3CDTF">2026-09-16T11:09:46.4720000Z</dcterms:modified>
</coreProperties>
</file>