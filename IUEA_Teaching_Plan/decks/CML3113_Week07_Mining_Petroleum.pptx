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667a55bb714dfe" /><Relationship Type="http://schemas.openxmlformats.org/officeDocument/2006/relationships/extended-properties" Target="/docProps/app.xml" Id="R2565c1dba34d4fa6" /><Relationship Type="http://schemas.openxmlformats.org/officeDocument/2006/relationships/officeDocument" Target="/ppt/presentation.xml" Id="R83f3270460664e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7386825dd0420f"/>
  </p:sldMasterIdLst>
  <p:notesMasterIdLst>
    <p:notesMasterId xmlns:r="http://schemas.openxmlformats.org/officeDocument/2006/relationships" r:id="R29e882f778234392"/>
  </p:notesMasterIdLst>
  <p:sldIdLst>
    <p:sldId xmlns:r="http://schemas.openxmlformats.org/officeDocument/2006/relationships" id="256" r:id="R58ab3a70245249c0"/>
    <p:sldId xmlns:r="http://schemas.openxmlformats.org/officeDocument/2006/relationships" id="257" r:id="Rfec8cf0df0734311"/>
    <p:sldId xmlns:r="http://schemas.openxmlformats.org/officeDocument/2006/relationships" id="258" r:id="Rb57317cc8e1b42fb"/>
    <p:sldId xmlns:r="http://schemas.openxmlformats.org/officeDocument/2006/relationships" id="259" r:id="R98b4a613d8b3422d"/>
    <p:sldId xmlns:r="http://schemas.openxmlformats.org/officeDocument/2006/relationships" id="260" r:id="Rb1d37550ea324b73"/>
    <p:sldId xmlns:r="http://schemas.openxmlformats.org/officeDocument/2006/relationships" id="261" r:id="Rf5ffc188e01c4dcb"/>
    <p:sldId xmlns:r="http://schemas.openxmlformats.org/officeDocument/2006/relationships" id="262" r:id="R4d4648c48e3c4bd9"/>
    <p:sldId xmlns:r="http://schemas.openxmlformats.org/officeDocument/2006/relationships" id="263" r:id="Rf77d8d022c8e44c9"/>
    <p:sldId xmlns:r="http://schemas.openxmlformats.org/officeDocument/2006/relationships" id="264" r:id="R1c09490ab1eb42eb"/>
    <p:sldId xmlns:r="http://schemas.openxmlformats.org/officeDocument/2006/relationships" id="265" r:id="R9caadd03fe0847b7"/>
    <p:sldId xmlns:r="http://schemas.openxmlformats.org/officeDocument/2006/relationships" id="266" r:id="R1dc27b28987f432b"/>
    <p:sldId xmlns:r="http://schemas.openxmlformats.org/officeDocument/2006/relationships" id="267" r:id="R849729c5aef34f79"/>
    <p:sldId xmlns:r="http://schemas.openxmlformats.org/officeDocument/2006/relationships" id="268" r:id="R6d2eb8d5ff5047fc"/>
    <p:sldId xmlns:r="http://schemas.openxmlformats.org/officeDocument/2006/relationships" id="269" r:id="R7a3078702a134043"/>
    <p:sldId xmlns:r="http://schemas.openxmlformats.org/officeDocument/2006/relationships" id="270" r:id="R205926c4516d4198"/>
    <p:sldId xmlns:r="http://schemas.openxmlformats.org/officeDocument/2006/relationships" id="271" r:id="Rf6699068423442d1"/>
    <p:sldId xmlns:r="http://schemas.openxmlformats.org/officeDocument/2006/relationships" id="272" r:id="R4cad843f7df4474e"/>
    <p:sldId xmlns:r="http://schemas.openxmlformats.org/officeDocument/2006/relationships" id="273" r:id="Reae2a7d2b34a46a0"/>
    <p:sldId xmlns:r="http://schemas.openxmlformats.org/officeDocument/2006/relationships" id="274" r:id="R76856af2015d4975"/>
    <p:sldId xmlns:r="http://schemas.openxmlformats.org/officeDocument/2006/relationships" id="275" r:id="R77d31db577cc442e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9a682c134c427c" /><Relationship Type="http://schemas.openxmlformats.org/officeDocument/2006/relationships/slideMaster" Target="/ppt/slideMasters/slideMaster1.xml" Id="R7e7386825dd0420f" /><Relationship Type="http://schemas.openxmlformats.org/officeDocument/2006/relationships/notesMaster" Target="/ppt/notesMasters/notesMaster1.xml" Id="R29e882f778234392" /><Relationship Type="http://schemas.openxmlformats.org/officeDocument/2006/relationships/presProps" Target="/ppt/presProps.xml" Id="R1a1c7d4138b74420" /><Relationship Type="http://schemas.openxmlformats.org/officeDocument/2006/relationships/tableStyles" Target="/ppt/tableStyles.xml" Id="Rd08d233ff09345ae" /><Relationship Type="http://schemas.openxmlformats.org/officeDocument/2006/relationships/slide" Target="/ppt/slides/slide1.xml" Id="R58ab3a70245249c0" /><Relationship Type="http://schemas.openxmlformats.org/officeDocument/2006/relationships/slide" Target="/ppt/slides/slide2.xml" Id="Rfec8cf0df0734311" /><Relationship Type="http://schemas.openxmlformats.org/officeDocument/2006/relationships/slide" Target="/ppt/slides/slide3.xml" Id="Rb57317cc8e1b42fb" /><Relationship Type="http://schemas.openxmlformats.org/officeDocument/2006/relationships/slide" Target="/ppt/slides/slide4.xml" Id="R98b4a613d8b3422d" /><Relationship Type="http://schemas.openxmlformats.org/officeDocument/2006/relationships/slide" Target="/ppt/slides/slide5.xml" Id="Rb1d37550ea324b73" /><Relationship Type="http://schemas.openxmlformats.org/officeDocument/2006/relationships/slide" Target="/ppt/slides/slide6.xml" Id="Rf5ffc188e01c4dcb" /><Relationship Type="http://schemas.openxmlformats.org/officeDocument/2006/relationships/slide" Target="/ppt/slides/slide7.xml" Id="R4d4648c48e3c4bd9" /><Relationship Type="http://schemas.openxmlformats.org/officeDocument/2006/relationships/slide" Target="/ppt/slides/slide8.xml" Id="Rf77d8d022c8e44c9" /><Relationship Type="http://schemas.openxmlformats.org/officeDocument/2006/relationships/slide" Target="/ppt/slides/slide9.xml" Id="R1c09490ab1eb42eb" /><Relationship Type="http://schemas.openxmlformats.org/officeDocument/2006/relationships/slide" Target="/ppt/slides/slide10.xml" Id="R9caadd03fe0847b7" /><Relationship Type="http://schemas.openxmlformats.org/officeDocument/2006/relationships/slide" Target="/ppt/slides/slide11.xml" Id="R1dc27b28987f432b" /><Relationship Type="http://schemas.openxmlformats.org/officeDocument/2006/relationships/slide" Target="/ppt/slides/slide12.xml" Id="R849729c5aef34f79" /><Relationship Type="http://schemas.openxmlformats.org/officeDocument/2006/relationships/slide" Target="/ppt/slides/slide13.xml" Id="R6d2eb8d5ff5047fc" /><Relationship Type="http://schemas.openxmlformats.org/officeDocument/2006/relationships/slide" Target="/ppt/slides/slide14.xml" Id="R7a3078702a134043" /><Relationship Type="http://schemas.openxmlformats.org/officeDocument/2006/relationships/slide" Target="/ppt/slides/slide15.xml" Id="R205926c4516d4198" /><Relationship Type="http://schemas.openxmlformats.org/officeDocument/2006/relationships/slide" Target="/ppt/slides/slide16.xml" Id="Rf6699068423442d1" /><Relationship Type="http://schemas.openxmlformats.org/officeDocument/2006/relationships/slide" Target="/ppt/slides/slide17.xml" Id="R4cad843f7df4474e" /><Relationship Type="http://schemas.openxmlformats.org/officeDocument/2006/relationships/slide" Target="/ppt/slides/slide18.xml" Id="Reae2a7d2b34a46a0" /><Relationship Type="http://schemas.openxmlformats.org/officeDocument/2006/relationships/slide" Target="/ppt/slides/slide19.xml" Id="R76856af2015d4975" /><Relationship Type="http://schemas.openxmlformats.org/officeDocument/2006/relationships/slide" Target="/ppt/slides/slide20.xml" Id="R77d31db577cc44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58455374514e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9710d2e4eb42e3" /><Relationship Type="http://schemas.openxmlformats.org/officeDocument/2006/relationships/notesMaster" Target="/ppt/notesMasters/notesMaster1.xml" Id="Ra63ca6a59f2b47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26293d88c7473b" /><Relationship Type="http://schemas.openxmlformats.org/officeDocument/2006/relationships/notesMaster" Target="/ppt/notesMasters/notesMaster1.xml" Id="R96d660433fac46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c1e84bfd704d8c" /><Relationship Type="http://schemas.openxmlformats.org/officeDocument/2006/relationships/notesMaster" Target="/ppt/notesMasters/notesMaster1.xml" Id="R742ef9c36dbc48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18823ea1e74d53" /><Relationship Type="http://schemas.openxmlformats.org/officeDocument/2006/relationships/notesMaster" Target="/ppt/notesMasters/notesMaster1.xml" Id="R835b104f666e47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7a42ac1ba94c73" /><Relationship Type="http://schemas.openxmlformats.org/officeDocument/2006/relationships/notesMaster" Target="/ppt/notesMasters/notesMaster1.xml" Id="Rf7547278bbd443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cd9f9dd4b041f3" /><Relationship Type="http://schemas.openxmlformats.org/officeDocument/2006/relationships/notesMaster" Target="/ppt/notesMasters/notesMaster1.xml" Id="Rf6aa8f7eafef40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c2da2ea3f648d8" /><Relationship Type="http://schemas.openxmlformats.org/officeDocument/2006/relationships/notesMaster" Target="/ppt/notesMasters/notesMaster1.xml" Id="R6e1546b584ab4b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0ee041c23a4e3c" /><Relationship Type="http://schemas.openxmlformats.org/officeDocument/2006/relationships/notesMaster" Target="/ppt/notesMasters/notesMaster1.xml" Id="R0df11a6a6a9645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64f65166894a33" /><Relationship Type="http://schemas.openxmlformats.org/officeDocument/2006/relationships/notesMaster" Target="/ppt/notesMasters/notesMaster1.xml" Id="Rceaba7b5096a4e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868d0d3da64426" /><Relationship Type="http://schemas.openxmlformats.org/officeDocument/2006/relationships/notesMaster" Target="/ppt/notesMasters/notesMaster1.xml" Id="R28ae97d84fd049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f2fb578be74a36" /><Relationship Type="http://schemas.openxmlformats.org/officeDocument/2006/relationships/notesMaster" Target="/ppt/notesMasters/notesMaster1.xml" Id="R01c25427fb2d460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9504aa04fa4ea1" /><Relationship Type="http://schemas.openxmlformats.org/officeDocument/2006/relationships/notesMaster" Target="/ppt/notesMasters/notesMaster1.xml" Id="R926141f5163743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eb6f864fc714549" /><Relationship Type="http://schemas.openxmlformats.org/officeDocument/2006/relationships/notesMaster" Target="/ppt/notesMasters/notesMaster1.xml" Id="R42233a321a3144d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64fdf99dd0e4c56" /><Relationship Type="http://schemas.openxmlformats.org/officeDocument/2006/relationships/notesMaster" Target="/ppt/notesMasters/notesMaster1.xml" Id="R4c58b9689e81494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96e14a20e5945b5" /><Relationship Type="http://schemas.openxmlformats.org/officeDocument/2006/relationships/notesMaster" Target="/ppt/notesMasters/notesMaster1.xml" Id="Re43c464606bb4c9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9ce793d49a6481f" /><Relationship Type="http://schemas.openxmlformats.org/officeDocument/2006/relationships/notesMaster" Target="/ppt/notesMasters/notesMaster1.xml" Id="R2943850036bd4c9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8db5da172b4291" /><Relationship Type="http://schemas.openxmlformats.org/officeDocument/2006/relationships/notesMaster" Target="/ppt/notesMasters/notesMaster1.xml" Id="R071fd01cc75f45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67e6e9a6b8742c0" /><Relationship Type="http://schemas.openxmlformats.org/officeDocument/2006/relationships/notesMaster" Target="/ppt/notesMasters/notesMaster1.xml" Id="Rd601858d2d2f47a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7826a00b97542bc" /><Relationship Type="http://schemas.openxmlformats.org/officeDocument/2006/relationships/notesMaster" Target="/ppt/notesMasters/notesMaster1.xml" Id="R6e52055f30e741c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b638dab879740e8" /><Relationship Type="http://schemas.openxmlformats.org/officeDocument/2006/relationships/notesMaster" Target="/ppt/notesMasters/notesMaster1.xml" Id="Rff65d54cc18241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Preparing for Practical Test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the preceding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Mining and Petroleum Engineering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Today’s learning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Preparing for 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Rehearse saving and reopening the required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 the published test rules before the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Connection to the previous lesson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Can you open the provided notebook and data on the prepared lab computer without internet?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Rehearse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Rehearse before test day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Use the separate practice notebook before the timed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 the supplied data and run a familiar calculation.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test packet and permitted resources are issued by the lecturer.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Save the complete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Save the complete notebook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Rehearse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Type Part B under My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Locate the complete notebook in the designated local folder.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Reopen it to check that code and written answers were saved.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Follow the published test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Follow the published test procedure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Save the complete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 the briefing before starting assessed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only the resources permitted for that part of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Report a technical failure to the invigilator immediately.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Practice before test day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Follow the published test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 the code in this order:</a:t>
            </a:r>
          </a:p>
          <a:p xmlns:a="http://schemas.openxmlformats.org/drawingml/2006/main">
            <a:r>
              <a:t>values = [3, 5, 7]</a:t>
            </a:r>
          </a:p>
          <a:p xmlns:a="http://schemas.openxmlformats.org/drawingml/2006/main">
            <a:r>
              <a:t>print(len(values))</a:t>
            </a:r>
          </a:p>
          <a:p xmlns:a="http://schemas.openxmlformats.org/drawingml/2006/main">
            <a:r>
              <a:t>print(sum(values) / len(values))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print displays a value below the cell.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Square brackets create a list or select an item.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= assigns the value on the right to the name on the left.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 top to bottom. Run the complete example in the matching practice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Test 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00–15 minutes: briefing and file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15–135 minutes: individual practical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135–160 minutes: typed offline reasoning, with code execution prohibited.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160–180 minutes: save and hand in through invigilated offline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Preparation checkpoint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Every learner completes the offline save-and-reopen rehearsal.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Escalate lab-access failures before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Your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Use the official TEST1 brief, interfaces and rubric.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assessed period has 120 practical minutes and 25 typed reasoning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Your lecturer will issue the test packet and collection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Write your own explanation in the markdown cell headed `## My written evidence`.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that heading.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 prompts and code comments are excluded from reasoning marks.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Complete every original rubric criterion below, not just the checked functions.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profiling, justified cleaning, question-led charts and your engineering recommendation where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raw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State units and distinguish correlation from causation.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Charts must be actual labelled figures in the notebook, not claims that charts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captions and readable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Loading &amp; profiling (15.0 total): Data loaded correctly; shape, types and summary produced; the dataset is described accurately in the student's own words.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Cleaning decisions &amp; justification (20.0 total): Defects found.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handling decision stated AND justified.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Marks are for the justification - an unjustified correct fix scores roughly half.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Visualisation (20.0 total): Three charts, each captioned with the question it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Correct chart 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Axes labelled with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No decoration without purpose.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Findings (20.0 total): Five findings, supported by evidence from the data, stated with correct magnitudes and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wrong number loses the mark even if the method was right.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Engineering interpretation (15.0 total): One recommendation that an engineer could act on, plus a clear statement of what further data would be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Clarity &amp; reproducibility (10.0 total): Notebook runs top to bottom.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Logical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Markdown explains intent.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dead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Timing and Part 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 minutes setup, 120 minutes practical, 25 minutes typed offline reasoning with code execution prohibited, 20 minutes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Answer: Why your main cleaning/model choice?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What can your chart/metric not establish?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evidence would change your recommendation?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further data is required?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Invigilated offline collection is authoritative; Google upload is a later transport step and must not impose an internet requirement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submission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Offline invigilated collection is authoritative.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Google upload is a later transport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one notebook with Part B under My written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Before you leave.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Revision and submission checklist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You can reopen your notebook and find code and typed reasoning without help.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your work and check the required submission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independent revision and the issued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b4d4a94fa64e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845156d3984b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33a9a6056f4a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061fa5abd400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30488ebe44400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f4464c296149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B3BE7CB-43EF-4EE4-8F9E-B69B1D94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2098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2C0CD68-F216-4EEC-8FA5-E2F69A1ADB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590800"/>
            <a:ext cx="9753356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BCC77E2-0037-4BB4-A240-19542F1FB5D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754" y="3771900"/>
            <a:ext cx="8534187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A021BC9-4530-4297-AC01-60059558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4765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A17C273-5862-4651-8575-6D8D56DA48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857500"/>
            <a:ext cx="9753356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B183BDB-4778-4BD4-A08E-99ECDA53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E1CAB77-39FA-4E3B-A13C-732495A4E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E42DC637-FBF9-4799-B4E5-1BF54D567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10820129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91EB64C-D19B-4D17-A97B-AE4696BB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590D36D-BE4B-4989-87B0-CF5D2097A0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D3FA77C-FE21-4E15-B2FB-03C2037DB5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2B0C007-0400-49E1-BD22-7E5231EB9C8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6838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605B3BA-47F2-4F9C-8D08-8CC47F42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48DA42C-7612-4CBB-91F0-B7D4DC4F50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A7B4F18-F8A1-461D-92BB-B0C6A1ABD2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d51b0352964d1a" /><Relationship Type="http://schemas.openxmlformats.org/officeDocument/2006/relationships/slideLayout" Target="/ppt/slideLayouts/slideLayout1.xml" Id="R9beb5d3c131447e1" /><Relationship Type="http://schemas.openxmlformats.org/officeDocument/2006/relationships/slideLayout" Target="/ppt/slideLayouts/slideLayout2.xml" Id="Rfc2daef2c5b0452f" /><Relationship Type="http://schemas.openxmlformats.org/officeDocument/2006/relationships/slideLayout" Target="/ppt/slideLayouts/slideLayout3.xml" Id="R4fc8032325614a0c" /><Relationship Type="http://schemas.openxmlformats.org/officeDocument/2006/relationships/slideLayout" Target="/ppt/slideLayouts/slideLayout4.xml" Id="Rd3b7e20068df42c2" /><Relationship Type="http://schemas.openxmlformats.org/officeDocument/2006/relationships/slideLayout" Target="/ppt/slideLayouts/slideLayout5.xml" Id="Ra7ed950dbc174760" /><Relationship Type="http://schemas.openxmlformats.org/officeDocument/2006/relationships/slideLayout" Target="/ppt/slideLayouts/slideLayout6.xml" Id="Rcd2b11cdf81348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eb5d3c131447e1"/>
    <p:sldLayoutId xmlns:r="http://schemas.openxmlformats.org/officeDocument/2006/relationships" id="2147483650" r:id="Rfc2daef2c5b0452f"/>
    <p:sldLayoutId xmlns:r="http://schemas.openxmlformats.org/officeDocument/2006/relationships" id="2147483651" r:id="R4fc8032325614a0c"/>
    <p:sldLayoutId xmlns:r="http://schemas.openxmlformats.org/officeDocument/2006/relationships" id="2147483652" r:id="Rd3b7e20068df42c2"/>
    <p:sldLayoutId xmlns:r="http://schemas.openxmlformats.org/officeDocument/2006/relationships" id="2147483653" r:id="Ra7ed950dbc174760"/>
    <p:sldLayoutId xmlns:r="http://schemas.openxmlformats.org/officeDocument/2006/relationships" id="2147483654" r:id="Rcd2b11cdf81348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19f377b157425c" /><Relationship Type="http://schemas.openxmlformats.org/officeDocument/2006/relationships/image" Target="/ppt/media/image.png" Id="R742dcb8350564ddc" /><Relationship Type="http://schemas.openxmlformats.org/officeDocument/2006/relationships/notesSlide" Target="/ppt/notesSlides/notesSlide1.xml" Id="R9eb997e21af347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4925a49f1e4a64" /><Relationship Type="http://schemas.openxmlformats.org/officeDocument/2006/relationships/notesSlide" Target="/ppt/notesSlides/notesSlide2.xml" Id="R75049c05e6794b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393a20b98043a3" /><Relationship Type="http://schemas.openxmlformats.org/officeDocument/2006/relationships/notesSlide" Target="/ppt/notesSlides/notesSlide3.xml" Id="R1b28c120681148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b42dc7d61f477e" /><Relationship Type="http://schemas.openxmlformats.org/officeDocument/2006/relationships/notesSlide" Target="/ppt/notesSlides/notesSlide4.xml" Id="R09756395ade749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f1f448a8614da4" /><Relationship Type="http://schemas.openxmlformats.org/officeDocument/2006/relationships/notesSlide" Target="/ppt/notesSlides/notesSlide5.xml" Id="R3365af588aa546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4bb150593f4a91" /><Relationship Type="http://schemas.openxmlformats.org/officeDocument/2006/relationships/notesSlide" Target="/ppt/notesSlides/notesSlide6.xml" Id="Rf14f73e056af4b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441cab3fc472a" /><Relationship Type="http://schemas.openxmlformats.org/officeDocument/2006/relationships/notesSlide" Target="/ppt/notesSlides/notesSlide7.xml" Id="Rc4305e0bd6f542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753744c60d43de" /><Relationship Type="http://schemas.openxmlformats.org/officeDocument/2006/relationships/notesSlide" Target="/ppt/notesSlides/notesSlide8.xml" Id="Rc70746691e714e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2678aaaa724f45" /><Relationship Type="http://schemas.openxmlformats.org/officeDocument/2006/relationships/notesSlide" Target="/ppt/notesSlides/notesSlide9.xml" Id="Rbdfe7df516ca48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2e78414f73474f" /><Relationship Type="http://schemas.openxmlformats.org/officeDocument/2006/relationships/notesSlide" Target="/ppt/notesSlides/notesSlide10.xml" Id="R01993f878032407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f0f532c8024c7b" /><Relationship Type="http://schemas.openxmlformats.org/officeDocument/2006/relationships/notesSlide" Target="/ppt/notesSlides/notesSlide11.xml" Id="R1983b01d12c94a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5f35a3057c47ce" /><Relationship Type="http://schemas.openxmlformats.org/officeDocument/2006/relationships/notesSlide" Target="/ppt/notesSlides/notesSlide12.xml" Id="R067f6fb6e73a41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6b964d30c8458d" /><Relationship Type="http://schemas.openxmlformats.org/officeDocument/2006/relationships/notesSlide" Target="/ppt/notesSlides/notesSlide13.xml" Id="R7f0429cb804042c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6905a6157348f2" /><Relationship Type="http://schemas.openxmlformats.org/officeDocument/2006/relationships/notesSlide" Target="/ppt/notesSlides/notesSlide14.xml" Id="R36ec8b32bcd840c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1ceb144ae94eff" /><Relationship Type="http://schemas.openxmlformats.org/officeDocument/2006/relationships/notesSlide" Target="/ppt/notesSlides/notesSlide15.xml" Id="R26eace4eb53547b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bf77c5536f416e" /><Relationship Type="http://schemas.openxmlformats.org/officeDocument/2006/relationships/notesSlide" Target="/ppt/notesSlides/notesSlide16.xml" Id="Rfdec26c2de11465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bc696fe50e403e" /><Relationship Type="http://schemas.openxmlformats.org/officeDocument/2006/relationships/notesSlide" Target="/ppt/notesSlides/notesSlide17.xml" Id="R070efa04c78c459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6cd86b01b845c8" /><Relationship Type="http://schemas.openxmlformats.org/officeDocument/2006/relationships/notesSlide" Target="/ppt/notesSlides/notesSlide18.xml" Id="R917d44c3419d48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9087678db74a7a" /><Relationship Type="http://schemas.openxmlformats.org/officeDocument/2006/relationships/hyperlink" Target="https://docs.google.com/forms/d/e/1FAIpQLSeXXoklBxEruaJB_K0Ydf_N_YgW4KV44-PEBMDCSkhUHyBI4g/viewform" TargetMode="External" Id="Re2e080cc94b04bae" /><Relationship Type="http://schemas.openxmlformats.org/officeDocument/2006/relationships/notesSlide" Target="/ppt/notesSlides/notesSlide19.xml" Id="R93d7cd2d64e04cd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8676ee5c0c455f" /><Relationship Type="http://schemas.openxmlformats.org/officeDocument/2006/relationships/notesSlide" Target="/ppt/notesSlides/notesSlide20.xml" Id="R6968b707c39e40e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2dcb8350564ddc"/>
          <a:stretch xmlns:a="http://schemas.openxmlformats.org/drawingml/2006/main"/>
        </p:blipFill>
        <p:spPr>
          <a:xfrm xmlns:a="http://schemas.openxmlformats.org/drawingml/2006/main">
            <a:off x="3087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A5E6E-BE13-4B14-BAF9-8380ABE4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81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32B8A8-3AF3-42F7-BCF4-272031CF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CML3113   WEEK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7D0640-D9F0-494E-947A-F7C2F980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46196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8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Preparing for Practical Test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AA19B-E28D-48AB-AE23-BD733CF6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4619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Mining and Petroleum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B93E6B-3D1E-43A8-8736-9FC6841E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4667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Friday 23 October 2026</a:t>
            </a:r>
          </a:p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Friday 08:00–11:00, Room 105</a:t>
            </a:r>
          </a:p>
        </p:txBody>
      </p:sp>
    </p:spTree>
    <p:extLst>
      <p:ext uri="{BB962C8B-B14F-4D97-AF65-F5344CB8AC3E}">
        <p14:creationId xmlns:p14="http://schemas.microsoft.com/office/powerpoint/2010/main" val="17317498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4E8AA9-C0F3-4025-BA00-394C3D21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FDD04-C899-4DF4-9F13-AEB6F55F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TODAY’S DESTINATION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EDDE69-D4F2-4E34-AC7B-E9C53F98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Today’s 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36E8D-26B2-4D9C-9F4C-0C8AE1B6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33550"/>
            <a:ext cx="52387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CCAD8-0EBC-495E-8071-1FBED5E8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000250"/>
            <a:ext cx="4743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WE WILL 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023A9-8548-469F-8124-6F0C4405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90800"/>
            <a:ext cx="47434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Rehearse saving and reopening the required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Check the published test rules before the session.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C9CA3-3573-43ED-81B2-65A7CD41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YOU WILL SHOW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22B68-FAF4-46A3-A83C-40CC3819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You can reopen your notebook and find code and typed reasoning without help.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DF20EC-30AC-4DB4-B0FD-CEB1D76A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2</a:t>
            </a:r>
          </a:p>
        </p:txBody>
      </p:sp>
    </p:spTree>
    <p:extLst>
      <p:ext uri="{BB962C8B-B14F-4D97-AF65-F5344CB8AC3E}">
        <p14:creationId xmlns:p14="http://schemas.microsoft.com/office/powerpoint/2010/main" val="106875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D76CD-E54F-4A7A-99D0-CE1F769A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F8F715-5AE3-4858-84CD-1E56E541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FDAD2-BD82-4795-8F18-C2E8AC78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Connection to the previous lesson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688590-AB25-41EA-9D63-2904835B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11010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927CA-EFB8-4754-9C98-998A269F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34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Can you open the provided notebook and data on the prepared lab computer without internet?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37A7C-2DCD-463B-A080-934F5909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3</a:t>
            </a:r>
          </a:p>
        </p:txBody>
      </p:sp>
    </p:spTree>
    <p:extLst>
      <p:ext uri="{BB962C8B-B14F-4D97-AF65-F5344CB8AC3E}">
        <p14:creationId xmlns:p14="http://schemas.microsoft.com/office/powerpoint/2010/main" val="10853438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155D5-0B61-43ED-9255-5ABDEE27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BBC8F-9A85-446C-AD6F-EC6D10A2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2AFDA-6C27-4727-AB76-958A1AB8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Rehearse before test 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89A939-3DEC-499A-908F-85A0D86A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36935-6072-42D2-AF68-4202F723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the separate practice notebook before the timed session.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C53F8-666C-46F1-903D-85BB7816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388FB4-9B4B-4D7A-8D38-5180875C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Open the supplied data and run a familiar calculation.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D09DF-9A4C-4BCE-8902-A8830DAE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B99D5-A8F6-46EB-8D1C-26161464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The test packet and permitted resources are issued by the lecturer.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2A5315-DE7B-4570-8455-7A5D3598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4</a:t>
            </a:r>
          </a:p>
        </p:txBody>
      </p:sp>
    </p:spTree>
    <p:extLst>
      <p:ext uri="{BB962C8B-B14F-4D97-AF65-F5344CB8AC3E}">
        <p14:creationId xmlns:p14="http://schemas.microsoft.com/office/powerpoint/2010/main" val="12366812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9A6877-8756-4AC4-98A1-D3A84355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C18ED-3FFC-481D-A6AE-D6012696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A2DF56-EB58-405E-8F72-0E372D2A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Save the complete notebook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6DDF2-866E-4C23-A899-B23710EF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C3A8C-6919-46E2-AFE5-FF3A498F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Type Part B under My written evidence in the notebook.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8E258-3D4A-4FA6-AA8A-F6F68C81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609C0D-853F-47A5-BB42-0B7B21DB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Locate the complete notebook in the designated local folder.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603DB-1BA8-4AD1-965B-DC65260C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1CC71-7AD3-45E0-AC24-CE59E727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Reopen it to check that code and written answers were saved.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FF9B4-B938-4470-BE9C-AC09B74E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5</a:t>
            </a:r>
          </a:p>
        </p:txBody>
      </p:sp>
    </p:spTree>
    <p:extLst>
      <p:ext uri="{BB962C8B-B14F-4D97-AF65-F5344CB8AC3E}">
        <p14:creationId xmlns:p14="http://schemas.microsoft.com/office/powerpoint/2010/main" val="15494276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CD572-DF37-4B96-ADBA-043107A4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FB9001-7574-4153-922E-8F4BC880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5BB512-936A-4DC1-AC8A-DAEE1422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Follow the published test procedure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DA905-589B-4E12-BE33-B0351181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E40B1A-EF9B-49D2-80E1-225B0878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Read the briefing before starting assessed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9A0FF-2D84-41F4-9B7A-B6BADE78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3F158-D333-4000-97B5-886E28FE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only the resources permitted for that part of the test.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D03B1-8DD1-4249-8D50-FD81F35B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66347-22A5-4389-9E80-64C14833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Report a technical failure to the invigilator immediately.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1391B5-DDBA-4B41-8142-D95D9D66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6</a:t>
            </a:r>
          </a:p>
        </p:txBody>
      </p:sp>
    </p:spTree>
    <p:extLst>
      <p:ext uri="{BB962C8B-B14F-4D97-AF65-F5344CB8AC3E}">
        <p14:creationId xmlns:p14="http://schemas.microsoft.com/office/powerpoint/2010/main" val="4180529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DA06E-A4A7-4846-BA03-A2960301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DC5FA-AFE4-48E6-B793-19F21BC4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WORKED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5F07C-A4F4-46BD-8E29-53A3E4F9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Practice before test 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4A4B1-8A69-44C1-868C-3E3652E0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7296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DE70F-7EC9-41C8-9EEC-7B991383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69913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values = [3, 5, 7]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print(len(values))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print(sum(values) / len(values))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241E9-407A-43EC-8002-31B6F1C9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TO READ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8EDECD-3256-4798-AC6B-9EDEEE01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print displays a value below the cell.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23728-4D45-4221-BC2E-92DEA0B6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Square brackets create a list or select an item.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5037A0-3FC6-4EC7-A6DB-AF4990ED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434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= assigns the value on the right to the name on the left.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5FD801-C42F-4D34-B742-E998B280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Read top to bottom. Run the complete example in the matching practice notebook.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24A2A-F451-4D1A-9C36-FA112A21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7</a:t>
            </a:r>
          </a:p>
        </p:txBody>
      </p:sp>
    </p:spTree>
    <p:extLst>
      <p:ext uri="{BB962C8B-B14F-4D97-AF65-F5344CB8AC3E}">
        <p14:creationId xmlns:p14="http://schemas.microsoft.com/office/powerpoint/2010/main" val="14082491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9DCCF7-7317-4296-A4A9-C998CF75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B151E-FCAC-48EA-84BC-8529B388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F3C170-9870-4AB3-B7F8-36DA3B90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Test session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3E859-454A-4476-B373-A1E4EC4C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579F0-6021-402B-8977-449F251B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00–15 minutes: briefing and file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14450-4EC0-4DFE-9A97-126FF8E7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0356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009FF-466C-417D-B9F1-93990874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0356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15–135 minutes: individual practical 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615EDA-EF52-43A2-923C-FACD1F1E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195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3D420-02C3-41EF-B1AC-E00AC0A1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19538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135–160 minutes: typed offline reasoning, with code execution prohibited.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896CB-FC51-4A77-B6AF-71CA872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88719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C86C89-0906-4181-B461-BFE109EA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88719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160–180 minutes: save and hand in through invigilated offline collection.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9709D-0227-4BFE-AE6B-C4D3E161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8</a:t>
            </a:r>
          </a:p>
        </p:txBody>
      </p:sp>
    </p:spTree>
    <p:extLst>
      <p:ext uri="{BB962C8B-B14F-4D97-AF65-F5344CB8AC3E}">
        <p14:creationId xmlns:p14="http://schemas.microsoft.com/office/powerpoint/2010/main" val="15441142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4DD3BC-4102-4C84-983E-59BAE83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283FE-3567-4FF3-ADCB-604ECD98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891E9-AC60-4A35-ABED-1F94D7D0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Preparation checkpoint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671EE-ECE6-4671-A368-C6C867F7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530542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E218F-ADE6-4090-9D1C-801E0B3A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52600"/>
            <a:ext cx="54006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1E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E534B-50E7-4CF1-ABD2-BB1A5578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14550"/>
            <a:ext cx="4752975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Every learner completes the offline save-and-reopen rehearsal.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87F29-94D9-4E32-80B4-C299E751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14550"/>
            <a:ext cx="4848225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Escalate lab-access failures before the test.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81136-8912-493B-91DD-E7CC3F53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9</a:t>
            </a:r>
          </a:p>
        </p:txBody>
      </p:sp>
    </p:spTree>
    <p:extLst>
      <p:ext uri="{BB962C8B-B14F-4D97-AF65-F5344CB8AC3E}">
        <p14:creationId xmlns:p14="http://schemas.microsoft.com/office/powerpoint/2010/main" val="17082992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3A9482-4E82-4F90-8C39-E5EDC260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6BE69-1FF9-4235-86C7-CFC3B07C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ECF43-9B96-4FFF-B572-FB981D51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DA6E7-0AE4-4537-84C1-58C62DEE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9E54C-7F1F-406F-B0CF-14510F88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the official TEST1 brief, interfaces and rubric.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058B8-48ED-4C10-9A52-14ED8D8F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6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D7BFE-8CB3-438C-8566-90235B6F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6750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The assessed period has 120 practical minutes and 25 typed reasoning minutes.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1ECA14-84FB-4138-9F55-C42FC95C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23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D2B0B-1D1B-474A-A58D-34E94A24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2325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Your lecturer will issue the test packet and collection instructions.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A47F5-E166-4F9D-9637-A2CEE352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10</a:t>
            </a:r>
          </a:p>
        </p:txBody>
      </p:sp>
    </p:spTree>
    <p:extLst>
      <p:ext uri="{BB962C8B-B14F-4D97-AF65-F5344CB8AC3E}">
        <p14:creationId xmlns:p14="http://schemas.microsoft.com/office/powerpoint/2010/main" val="10706217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7F877A-EAE0-429B-A6BE-31C67A8D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073A0-5E77-45A1-BCC6-C226B97B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5CFEF-47D8-4FB7-8ADA-46FFD885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97BBC-A3C6-4831-9451-AF103087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DB752-9CF7-4641-932D-1E240780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Write your own explanation in the markdown cell headed `## My written evidence`.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D02E8-8C64-4B6A-8086-E5DD23C6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3885DF-7FE2-4648-8885-E4EA24E0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that heading.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4017F3-3761-483D-A689-65EE6F4C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C19B6-407E-4B31-A2A1-3A71568C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Task prompts and code comments are excluded from reasoning marks.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91E51-1F69-4626-9C1F-471C6410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6BB2D6-6DC8-4802-A3C5-CCB6D541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Complete every original rubric criterion below, not just the checked functions.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73C74-CCD0-4A7E-9A65-31257EC5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11</a:t>
            </a:r>
          </a:p>
        </p:txBody>
      </p:sp>
    </p:spTree>
    <p:extLst>
      <p:ext uri="{BB962C8B-B14F-4D97-AF65-F5344CB8AC3E}">
        <p14:creationId xmlns:p14="http://schemas.microsoft.com/office/powerpoint/2010/main" val="1520971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811603-4A51-4934-A2D0-D8C1830E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AEB7E-8BDA-402C-9B8C-2B70B139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5996A-895D-42C9-8AA6-942CE707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9DCB1-45A3-4695-8E13-78680ED8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1074B-DC57-4385-A076-A6A2015B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profiling, justified cleaning, question-led charts and your engineering recommendation where required.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3D258-D931-474E-AD09-CFFDB7A7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DA04E-32A8-4CC9-A241-9A45C9C1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raw 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BA73E-EC8F-4379-9EA5-1E7E4CC4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EFB1A-9EB2-4B84-B5FC-7BC8D655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State units and distinguish correlation from causation.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51CA4D-2BEB-4CCA-AF75-ED6D47C0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C6640F-5E3C-4DE8-B9F2-FB6BA86A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Charts must be actual labelled figures in the notebook, not claims that charts exist.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CB071-7B28-4702-B260-49D6C566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12</a:t>
            </a:r>
          </a:p>
        </p:txBody>
      </p:sp>
    </p:spTree>
    <p:extLst>
      <p:ext uri="{BB962C8B-B14F-4D97-AF65-F5344CB8AC3E}">
        <p14:creationId xmlns:p14="http://schemas.microsoft.com/office/powerpoint/2010/main" val="19747610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7F1D5F-9188-4396-89BE-CA36AB7C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7F9A7D-A42E-4939-BFCC-6668D212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154362-0575-4134-82F8-C93B47E2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FC4CB-263B-4C35-8217-65259F1E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58927-252E-4621-BEA0-AADF092B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captions and readable written evidence in the notebook.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774F70-DBFE-4240-8B2F-EFDEC2D4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27832-A56E-4741-81E2-3E9848D8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Loading &amp; profiling (15.0 total): Data loaded correctly; shape, types and summary produced; the dataset is described accurately in the student's own words.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EC5A7D-A02B-46EC-A47E-04F4CA0D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C46DC-2380-4B85-A95E-09BEC87C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Cleaning decisions &amp; justification (20.0 total): Defects found.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0B0348-50EB-40C6-94F9-5A623C6A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B1D4F2-9585-4AD5-B9ED-F49E5CBA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Each handling decision stated AND justified.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366F66-6B23-41BE-AB4E-D2A3CA52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13</a:t>
            </a:r>
          </a:p>
        </p:txBody>
      </p:sp>
    </p:spTree>
    <p:extLst>
      <p:ext uri="{BB962C8B-B14F-4D97-AF65-F5344CB8AC3E}">
        <p14:creationId xmlns:p14="http://schemas.microsoft.com/office/powerpoint/2010/main" val="11015125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EEA9E-E20F-46C0-BBE2-B150959F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3FA5B-1140-4D46-8B37-4B36D257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5331C-C8D9-42D4-A049-A06DA677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27C2E-3448-4303-AB4F-5FA9DE0A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E0806-3BB7-42B7-8635-AF8712C5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Marks are for the justification - an unjustified correct fix scores roughly half.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67D54-4614-46F2-8429-6C89A5E5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57338F-3BCD-43A3-B405-8A9EACAA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Visualisation (20.0 total): Three charts, each captioned with the question it answers.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5EA67-18A2-47D0-B338-99064F07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D48147-8330-433D-B216-4AC46D3B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Correct chart type.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38980-29D8-40BB-9D96-7D4CE376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A9C7C1-CFE5-4FBC-BADB-169F23AE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Axes labelled with units.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301664-9D23-4BD9-875F-A3B340A5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14</a:t>
            </a:r>
          </a:p>
        </p:txBody>
      </p:sp>
    </p:spTree>
    <p:extLst>
      <p:ext uri="{BB962C8B-B14F-4D97-AF65-F5344CB8AC3E}">
        <p14:creationId xmlns:p14="http://schemas.microsoft.com/office/powerpoint/2010/main" val="8289984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2984A3-BF24-46F5-A630-0F8EEDC1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43960-487A-4AC0-8538-70EBE7F2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A946C4-23E5-47C4-83C1-8EEC07C5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34793-BECF-4037-98B8-7F047AB7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D893F-CD2E-4A8A-A37B-515C51A2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decoration without purpose.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DEFE7-D961-4839-A6A7-9BDD979F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0A7D5-43D2-48A1-8A62-383B433A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Findings (20.0 total): Five findings, supported by evidence from the data, stated with correct magnitudes and units.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C3489B-78B5-42ED-8E8A-19E5D205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9F347-F3EB-4775-B498-537FD88B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 wrong number loses the mark even if the method was right.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67CEE4-4029-4739-9061-80856CEB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315239-AF0C-4E56-B73E-63F5ABCD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Engineering interpretation (15.0 total): One recommendation that an engineer could act on, plus a clear statement of what further data would be needed.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3B0DE-14BA-4625-9AF6-A02FA08D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15</a:t>
            </a:r>
          </a:p>
        </p:txBody>
      </p:sp>
    </p:spTree>
    <p:extLst>
      <p:ext uri="{BB962C8B-B14F-4D97-AF65-F5344CB8AC3E}">
        <p14:creationId xmlns:p14="http://schemas.microsoft.com/office/powerpoint/2010/main" val="11720797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A7B7B-231D-4962-9707-1BC5D061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D01F6-73F7-449B-B487-276DDFC4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F4951E-6DA6-4029-AA04-940056D7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C8FB3-4AA2-412C-9A38-6F836B9F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3FD19-4B53-4E34-A242-88965728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Clarity &amp; reproducibility (10.0 total): Notebook runs top to bottom.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E284A-E37C-41F7-BB25-DA5EE7EE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723338-BAF3-42D4-9E92-E712030D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Logical order.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3A8D6C-5B3D-4166-AD8F-AFC1BC2B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4C441-D2A3-4FA9-9F78-1606BF97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Markdown explains intent.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64744-486D-44E9-A77B-B4B1C6DA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176F2-D2D0-46E8-AC50-D7006B61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dead code.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D345F-8C53-443F-A6A7-BC9E88EC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16</a:t>
            </a:r>
          </a:p>
        </p:txBody>
      </p:sp>
    </p:spTree>
    <p:extLst>
      <p:ext uri="{BB962C8B-B14F-4D97-AF65-F5344CB8AC3E}">
        <p14:creationId xmlns:p14="http://schemas.microsoft.com/office/powerpoint/2010/main" val="2602905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B8F3D6-1A99-4D78-AE4E-08C72214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FE18BB-49D0-4230-8121-147D945F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62B0A5-DDD7-4AB9-B532-1CD5B635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A0B76-E557-4CBE-90EA-8669BAC3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3A8A32-C0A6-4CD3-A027-EA6CF8B3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Timing and Part 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77937-A10F-4AE6-96D3-8536BE8F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BADFCC-F19A-4FD7-BC84-70982C01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 minutes setup, 120 minutes practical, 25 minutes typed offline reasoning with code execution prohibited, 20 minutes collection.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3E4F0-A610-4199-A362-24EAE406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E1C91-AC0D-4BE6-927C-25E5BBF3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F5077-CFDD-4422-9255-3F2B8B9E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AAD10E-8BB5-4630-9114-866B1C07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Answer: Why your main cleaning/model choice?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8FA2C-1973-46DE-AB3D-C96093E8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17</a:t>
            </a:r>
          </a:p>
        </p:txBody>
      </p:sp>
    </p:spTree>
    <p:extLst>
      <p:ext uri="{BB962C8B-B14F-4D97-AF65-F5344CB8AC3E}">
        <p14:creationId xmlns:p14="http://schemas.microsoft.com/office/powerpoint/2010/main" val="10601940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0B5C65-697D-4EAC-ABA2-10089B5E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5905B-B9A0-496B-8B65-1C740AA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2D6B8-9369-4731-9CD2-255DF3A7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2A7258-8D17-41CF-890E-A46C839F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408BF-795B-43FC-88E4-82EB71CD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can your chart/metric not establish?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509E3-996D-4D7F-810B-109F53B2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A4F34-5B4F-4495-B039-7EA83D98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evidence would change your recommendation?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2114E-CFA6-4279-98EA-3A7F728A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60A0C-C123-4B6B-85E0-5939CF6D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further data is required?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5DA61-2934-4674-A972-78C4C873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91A7DB-CEB8-4F28-8BEA-E6D8B6C9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Invigilated offline collection is authoritative; Google upload is a later transport step and must not impose an internet requirement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4E443-33AA-4FF2-9BFC-DB0C98B4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18</a:t>
            </a:r>
          </a:p>
        </p:txBody>
      </p:sp>
    </p:spTree>
    <p:extLst>
      <p:ext uri="{BB962C8B-B14F-4D97-AF65-F5344CB8AC3E}">
        <p14:creationId xmlns:p14="http://schemas.microsoft.com/office/powerpoint/2010/main" val="20451598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2233A3-A963-4CDC-947F-604E8EC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9D14E9-0F70-4EA4-A415-22418AE3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ASSIGNMENT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1E84D-2099-45D7-8FB0-1B67C8D9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5360B-D0DA-4E30-9518-51177244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240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ABB0A-37B8-4A29-AFD8-B6657A64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24025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Offline invigilated collection is authoritative.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D0DAC-CD9F-454B-9048-D94B0049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1744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C8A27-8EC2-445F-B7D3-87B7D0C8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21744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Google upload is a later transport step.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37214-A610-4CFF-B035-62317773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94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6101CB-C28A-4EA8-9F53-D8930377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19463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Save one notebook with Part B under My written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B3782-BEA8-4DC6-8F17-0C4BFEBB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7181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2D2FA-2033-450F-A2CE-86480FB2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7181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22E267-F44A-4AD5-8598-999F097D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0"/>
            <a:ext cx="110109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1E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781832-01C0-423E-AC38-81E020FF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673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2E7D6F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e080cc94b04bae"/>
              </a:rPr>
              <a:t>Open TEST1 assignment form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52BDF-4083-4210-AD07-593F0247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https://docs.google.com/forms/d/e/1FAIpQLSeXXoklBxEruaJB_K0Ydf_N_YgW4KV44-PEBMDCSkhUHyBI4g/viewform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A1B981-2713-4996-A94D-E00B1BB6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7   19</a:t>
            </a:r>
          </a:p>
        </p:txBody>
      </p:sp>
    </p:spTree>
    <p:extLst>
      <p:ext uri="{BB962C8B-B14F-4D97-AF65-F5344CB8AC3E}">
        <p14:creationId xmlns:p14="http://schemas.microsoft.com/office/powerpoint/2010/main" val="62641223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C31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E2563A-2976-4E4F-A621-F1A19FB1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INDIVIDUAL EXIT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36F5E-AE75-477A-8F01-615BAB19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Revision and submission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743223-F546-4D1D-B831-71CEF25D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EXPLAIN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D26B2-72A8-4634-9BB9-D8EAEB39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95525"/>
            <a:ext cx="1081087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 can reopen your notebook and find code and typed reasoning without help.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Save your work and check the required submission files.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48E64-1467-4145-B0EC-706798BE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91200"/>
            <a:ext cx="10810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Point to your evidence. Save your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68AA7-E6ED-43B8-86C9-F1AB5078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CML3113   Week 7   20</a:t>
            </a:r>
          </a:p>
        </p:txBody>
      </p:sp>
    </p:spTree>
    <p:extLst>
      <p:ext uri="{BB962C8B-B14F-4D97-AF65-F5344CB8AC3E}">
        <p14:creationId xmlns:p14="http://schemas.microsoft.com/office/powerpoint/2010/main" val="17571193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2026-09-28T21:43:52.8240000Z</dcterms:created>
  <dcterms:modified xsi:type="dcterms:W3CDTF">2026-09-28T21:43:52.8240000Z</dcterms:modified>
</coreProperties>
</file>