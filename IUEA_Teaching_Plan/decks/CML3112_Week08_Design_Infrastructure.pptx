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43d4c0f6454a9a" /><Relationship Type="http://schemas.openxmlformats.org/officeDocument/2006/relationships/extended-properties" Target="/docProps/app.xml" Id="R714b78941297437e" /><Relationship Type="http://schemas.openxmlformats.org/officeDocument/2006/relationships/officeDocument" Target="/ppt/presentation.xml" Id="R2e94924187a54f0e" /></Relationships>
</file>

<file path=ppt/presentation.xml><?xml version="1.0" encoding="utf-8"?>
<p:presentation xmlns:p="http://schemas.openxmlformats.org/presentationml/2006/main">
  <p:sldMasterIdLst>
    <p:sldMasterId xmlns:r="http://schemas.openxmlformats.org/officeDocument/2006/relationships" id="2147483648" r:id="R5155a9225e754562"/>
  </p:sldMasterIdLst>
  <p:notesMasterIdLst>
    <p:notesMasterId xmlns:r="http://schemas.openxmlformats.org/officeDocument/2006/relationships" r:id="R017b290663454d67"/>
  </p:notesMasterIdLst>
  <p:sldIdLst>
    <p:sldId xmlns:r="http://schemas.openxmlformats.org/officeDocument/2006/relationships" id="256" r:id="Re72cc5b800674e85"/>
    <p:sldId xmlns:r="http://schemas.openxmlformats.org/officeDocument/2006/relationships" id="257" r:id="R7f7eb6b1e1ea4529"/>
    <p:sldId xmlns:r="http://schemas.openxmlformats.org/officeDocument/2006/relationships" id="258" r:id="Rd7e02be6a3fa44aa"/>
    <p:sldId xmlns:r="http://schemas.openxmlformats.org/officeDocument/2006/relationships" id="259" r:id="Rcec87d753f724730"/>
    <p:sldId xmlns:r="http://schemas.openxmlformats.org/officeDocument/2006/relationships" id="260" r:id="R5e14ac5bbeed4b64"/>
    <p:sldId xmlns:r="http://schemas.openxmlformats.org/officeDocument/2006/relationships" id="261" r:id="R42ee32a8d5634982"/>
    <p:sldId xmlns:r="http://schemas.openxmlformats.org/officeDocument/2006/relationships" id="262" r:id="Re9b9d59ac581405e"/>
    <p:sldId xmlns:r="http://schemas.openxmlformats.org/officeDocument/2006/relationships" id="263" r:id="R924d5ba932db4fe9"/>
    <p:sldId xmlns:r="http://schemas.openxmlformats.org/officeDocument/2006/relationships" id="264" r:id="R44d906e22ba34d83"/>
    <p:sldId xmlns:r="http://schemas.openxmlformats.org/officeDocument/2006/relationships" id="265" r:id="Rfeb4dd04d019455a"/>
    <p:sldId xmlns:r="http://schemas.openxmlformats.org/officeDocument/2006/relationships" id="266" r:id="R47fe1f73630c44b8"/>
    <p:sldId xmlns:r="http://schemas.openxmlformats.org/officeDocument/2006/relationships" id="267" r:id="R754bffc551f94052"/>
    <p:sldId xmlns:r="http://schemas.openxmlformats.org/officeDocument/2006/relationships" id="268" r:id="Rbb2f60d8fbc547ab"/>
    <p:sldId xmlns:r="http://schemas.openxmlformats.org/officeDocument/2006/relationships" id="269" r:id="R973abbf91b8d46f9"/>
    <p:sldId xmlns:r="http://schemas.openxmlformats.org/officeDocument/2006/relationships" id="270" r:id="R6d3ca2d14ca147e7"/>
    <p:sldId xmlns:r="http://schemas.openxmlformats.org/officeDocument/2006/relationships" id="271" r:id="Rfab3a460a53f4313"/>
    <p:sldId xmlns:r="http://schemas.openxmlformats.org/officeDocument/2006/relationships" id="272" r:id="R79311c91d1b14474"/>
    <p:sldId xmlns:r="http://schemas.openxmlformats.org/officeDocument/2006/relationships" id="273" r:id="Rbce92a05bfbb4f20"/>
    <p:sldId xmlns:r="http://schemas.openxmlformats.org/officeDocument/2006/relationships" id="274" r:id="Rff1e486e516d4933"/>
    <p:sldId xmlns:r="http://schemas.openxmlformats.org/officeDocument/2006/relationships" id="275" r:id="Rbf653958e95d4b62"/>
    <p:sldId xmlns:r="http://schemas.openxmlformats.org/officeDocument/2006/relationships" id="276" r:id="Rad68dde82c354b83"/>
    <p:sldId xmlns:r="http://schemas.openxmlformats.org/officeDocument/2006/relationships" id="277" r:id="R784540e994d84357"/>
    <p:sldId xmlns:r="http://schemas.openxmlformats.org/officeDocument/2006/relationships" id="278" r:id="R13b8a66556594c41"/>
    <p:sldId xmlns:r="http://schemas.openxmlformats.org/officeDocument/2006/relationships" id="279" r:id="R592575a172414d88"/>
    <p:sldId xmlns:r="http://schemas.openxmlformats.org/officeDocument/2006/relationships" id="280" r:id="R30757b70bb3b415c"/>
    <p:sldId xmlns:r="http://schemas.openxmlformats.org/officeDocument/2006/relationships" id="281" r:id="Ra805934e6d7a4e12"/>
    <p:sldId xmlns:r="http://schemas.openxmlformats.org/officeDocument/2006/relationships" id="282" r:id="R0090def2da1544f7"/>
    <p:sldId xmlns:r="http://schemas.openxmlformats.org/officeDocument/2006/relationships" id="283" r:id="Ra805b05748324878"/>
    <p:sldId xmlns:r="http://schemas.openxmlformats.org/officeDocument/2006/relationships" id="284" r:id="R1a7d933d40fb4d02"/>
    <p:sldId xmlns:r="http://schemas.openxmlformats.org/officeDocument/2006/relationships" id="285" r:id="Red77a9f1b9614526"/>
    <p:sldId xmlns:r="http://schemas.openxmlformats.org/officeDocument/2006/relationships" id="286" r:id="R027e71823c584190"/>
    <p:sldId xmlns:r="http://schemas.openxmlformats.org/officeDocument/2006/relationships" id="287" r:id="R6ab59ccea5e44e85"/>
    <p:sldId xmlns:r="http://schemas.openxmlformats.org/officeDocument/2006/relationships" id="288" r:id="R724bf7d007574283"/>
    <p:sldId xmlns:r="http://schemas.openxmlformats.org/officeDocument/2006/relationships" id="289" r:id="R25ccc339869443ea"/>
    <p:sldId xmlns:r="http://schemas.openxmlformats.org/officeDocument/2006/relationships" id="290" r:id="Rfac00561e6054f02"/>
    <p:sldId xmlns:r="http://schemas.openxmlformats.org/officeDocument/2006/relationships" id="291" r:id="R414bdac2bb0847e5"/>
    <p:sldId xmlns:r="http://schemas.openxmlformats.org/officeDocument/2006/relationships" id="292" r:id="R209a57e1de244abb"/>
    <p:sldId xmlns:r="http://schemas.openxmlformats.org/officeDocument/2006/relationships" id="293" r:id="Rc5698c4f73604c83"/>
    <p:sldId xmlns:r="http://schemas.openxmlformats.org/officeDocument/2006/relationships" id="294" r:id="R168f66f929214f65"/>
    <p:sldId xmlns:r="http://schemas.openxmlformats.org/officeDocument/2006/relationships" id="295" r:id="R6352c03839014bef"/>
    <p:sldId xmlns:r="http://schemas.openxmlformats.org/officeDocument/2006/relationships" id="296" r:id="Rff27134755b84b70"/>
    <p:sldId xmlns:r="http://schemas.openxmlformats.org/officeDocument/2006/relationships" id="297" r:id="R9dd28a716be741fd"/>
    <p:sldId xmlns:r="http://schemas.openxmlformats.org/officeDocument/2006/relationships" id="298" r:id="R3149937d17c84377"/>
    <p:sldId xmlns:r="http://schemas.openxmlformats.org/officeDocument/2006/relationships" id="299" r:id="Rb92121a26fb44824"/>
    <p:sldId xmlns:r="http://schemas.openxmlformats.org/officeDocument/2006/relationships" id="300" r:id="R84d23db2f5ed4044"/>
    <p:sldId xmlns:r="http://schemas.openxmlformats.org/officeDocument/2006/relationships" id="301" r:id="Re90a6b2be4b642ad"/>
    <p:sldId xmlns:r="http://schemas.openxmlformats.org/officeDocument/2006/relationships" id="302" r:id="R1683ece869e945b9"/>
    <p:sldId xmlns:r="http://schemas.openxmlformats.org/officeDocument/2006/relationships" id="303" r:id="R9b43a973557e43c6"/>
    <p:sldId xmlns:r="http://schemas.openxmlformats.org/officeDocument/2006/relationships" id="304" r:id="Ra9609d2424d24065"/>
    <p:sldId xmlns:r="http://schemas.openxmlformats.org/officeDocument/2006/relationships" id="305" r:id="R79bbeab3c2d54ef0"/>
    <p:sldId xmlns:r="http://schemas.openxmlformats.org/officeDocument/2006/relationships" id="306" r:id="R57a5615d29e54f0b"/>
    <p:sldId xmlns:r="http://schemas.openxmlformats.org/officeDocument/2006/relationships" id="307" r:id="R2aa984dbb0ef4ce4"/>
    <p:sldId xmlns:r="http://schemas.openxmlformats.org/officeDocument/2006/relationships" id="308" r:id="R2d480334317b4594"/>
    <p:sldId xmlns:r="http://schemas.openxmlformats.org/officeDocument/2006/relationships" id="309" r:id="R9f6e8c3a62de4882"/>
    <p:sldId xmlns:r="http://schemas.openxmlformats.org/officeDocument/2006/relationships" id="310" r:id="Rb83b46c07e184924"/>
    <p:sldId xmlns:r="http://schemas.openxmlformats.org/officeDocument/2006/relationships" id="311" r:id="R67395f35058b4083"/>
    <p:sldId xmlns:r="http://schemas.openxmlformats.org/officeDocument/2006/relationships" id="312" r:id="R586081ecbca547da"/>
    <p:sldId xmlns:r="http://schemas.openxmlformats.org/officeDocument/2006/relationships" id="313" r:id="R5fc33e5d5d274d54"/>
    <p:sldId xmlns:r="http://schemas.openxmlformats.org/officeDocument/2006/relationships" id="314" r:id="R39aa2227a3c94403"/>
    <p:sldId xmlns:r="http://schemas.openxmlformats.org/officeDocument/2006/relationships" id="315" r:id="R9d286423fd1a4f4a"/>
    <p:sldId xmlns:r="http://schemas.openxmlformats.org/officeDocument/2006/relationships" id="316" r:id="Rda8a21aa1257487b"/>
    <p:sldId xmlns:r="http://schemas.openxmlformats.org/officeDocument/2006/relationships" id="317" r:id="Rd9f0fdbac1ef4f05"/>
    <p:sldId xmlns:r="http://schemas.openxmlformats.org/officeDocument/2006/relationships" id="318" r:id="Rc146a4a8e05f4815"/>
    <p:sldId xmlns:r="http://schemas.openxmlformats.org/officeDocument/2006/relationships" id="319" r:id="Rd7ea08149659413c"/>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e3ed44961d42ab" /><Relationship Type="http://schemas.openxmlformats.org/officeDocument/2006/relationships/slideMaster" Target="/ppt/slideMasters/slideMaster1.xml" Id="R5155a9225e754562" /><Relationship Type="http://schemas.openxmlformats.org/officeDocument/2006/relationships/notesMaster" Target="/ppt/notesMasters/notesMaster1.xml" Id="R017b290663454d67" /><Relationship Type="http://schemas.openxmlformats.org/officeDocument/2006/relationships/presProps" Target="/ppt/presProps.xml" Id="R2be437aa9b23458a" /><Relationship Type="http://schemas.openxmlformats.org/officeDocument/2006/relationships/tableStyles" Target="/ppt/tableStyles.xml" Id="R23bc7b333da0491b" /><Relationship Type="http://schemas.openxmlformats.org/officeDocument/2006/relationships/slide" Target="/ppt/slides/slide1.xml" Id="Re72cc5b800674e85" /><Relationship Type="http://schemas.openxmlformats.org/officeDocument/2006/relationships/slide" Target="/ppt/slides/slide2.xml" Id="R7f7eb6b1e1ea4529" /><Relationship Type="http://schemas.openxmlformats.org/officeDocument/2006/relationships/slide" Target="/ppt/slides/slide3.xml" Id="Rd7e02be6a3fa44aa" /><Relationship Type="http://schemas.openxmlformats.org/officeDocument/2006/relationships/slide" Target="/ppt/slides/slide4.xml" Id="Rcec87d753f724730" /><Relationship Type="http://schemas.openxmlformats.org/officeDocument/2006/relationships/slide" Target="/ppt/slides/slide5.xml" Id="R5e14ac5bbeed4b64" /><Relationship Type="http://schemas.openxmlformats.org/officeDocument/2006/relationships/slide" Target="/ppt/slides/slide6.xml" Id="R42ee32a8d5634982" /><Relationship Type="http://schemas.openxmlformats.org/officeDocument/2006/relationships/slide" Target="/ppt/slides/slide7.xml" Id="Re9b9d59ac581405e" /><Relationship Type="http://schemas.openxmlformats.org/officeDocument/2006/relationships/slide" Target="/ppt/slides/slide8.xml" Id="R924d5ba932db4fe9" /><Relationship Type="http://schemas.openxmlformats.org/officeDocument/2006/relationships/slide" Target="/ppt/slides/slide9.xml" Id="R44d906e22ba34d83" /><Relationship Type="http://schemas.openxmlformats.org/officeDocument/2006/relationships/slide" Target="/ppt/slides/slide10.xml" Id="Rfeb4dd04d019455a" /><Relationship Type="http://schemas.openxmlformats.org/officeDocument/2006/relationships/slide" Target="/ppt/slides/slide11.xml" Id="R47fe1f73630c44b8" /><Relationship Type="http://schemas.openxmlformats.org/officeDocument/2006/relationships/slide" Target="/ppt/slides/slide12.xml" Id="R754bffc551f94052" /><Relationship Type="http://schemas.openxmlformats.org/officeDocument/2006/relationships/slide" Target="/ppt/slides/slide13.xml" Id="Rbb2f60d8fbc547ab" /><Relationship Type="http://schemas.openxmlformats.org/officeDocument/2006/relationships/slide" Target="/ppt/slides/slide14.xml" Id="R973abbf91b8d46f9" /><Relationship Type="http://schemas.openxmlformats.org/officeDocument/2006/relationships/slide" Target="/ppt/slides/slide15.xml" Id="R6d3ca2d14ca147e7" /><Relationship Type="http://schemas.openxmlformats.org/officeDocument/2006/relationships/slide" Target="/ppt/slides/slide16.xml" Id="Rfab3a460a53f4313" /><Relationship Type="http://schemas.openxmlformats.org/officeDocument/2006/relationships/slide" Target="/ppt/slides/slide17.xml" Id="R79311c91d1b14474" /><Relationship Type="http://schemas.openxmlformats.org/officeDocument/2006/relationships/slide" Target="/ppt/slides/slide18.xml" Id="Rbce92a05bfbb4f20" /><Relationship Type="http://schemas.openxmlformats.org/officeDocument/2006/relationships/slide" Target="/ppt/slides/slide19.xml" Id="Rff1e486e516d4933" /><Relationship Type="http://schemas.openxmlformats.org/officeDocument/2006/relationships/slide" Target="/ppt/slides/slide20.xml" Id="Rbf653958e95d4b62" /><Relationship Type="http://schemas.openxmlformats.org/officeDocument/2006/relationships/slide" Target="/ppt/slides/slide21.xml" Id="Rad68dde82c354b83" /><Relationship Type="http://schemas.openxmlformats.org/officeDocument/2006/relationships/slide" Target="/ppt/slides/slide22.xml" Id="R784540e994d84357" /><Relationship Type="http://schemas.openxmlformats.org/officeDocument/2006/relationships/slide" Target="/ppt/slides/slide23.xml" Id="R13b8a66556594c41" /><Relationship Type="http://schemas.openxmlformats.org/officeDocument/2006/relationships/slide" Target="/ppt/slides/slide24.xml" Id="R592575a172414d88" /><Relationship Type="http://schemas.openxmlformats.org/officeDocument/2006/relationships/slide" Target="/ppt/slides/slide25.xml" Id="R30757b70bb3b415c" /><Relationship Type="http://schemas.openxmlformats.org/officeDocument/2006/relationships/slide" Target="/ppt/slides/slide26.xml" Id="Ra805934e6d7a4e12" /><Relationship Type="http://schemas.openxmlformats.org/officeDocument/2006/relationships/slide" Target="/ppt/slides/slide27.xml" Id="R0090def2da1544f7" /><Relationship Type="http://schemas.openxmlformats.org/officeDocument/2006/relationships/slide" Target="/ppt/slides/slide28.xml" Id="Ra805b05748324878" /><Relationship Type="http://schemas.openxmlformats.org/officeDocument/2006/relationships/slide" Target="/ppt/slides/slide29.xml" Id="R1a7d933d40fb4d02" /><Relationship Type="http://schemas.openxmlformats.org/officeDocument/2006/relationships/slide" Target="/ppt/slides/slide30.xml" Id="Red77a9f1b9614526" /><Relationship Type="http://schemas.openxmlformats.org/officeDocument/2006/relationships/slide" Target="/ppt/slides/slide31.xml" Id="R027e71823c584190" /><Relationship Type="http://schemas.openxmlformats.org/officeDocument/2006/relationships/slide" Target="/ppt/slides/slide32.xml" Id="R6ab59ccea5e44e85" /><Relationship Type="http://schemas.openxmlformats.org/officeDocument/2006/relationships/slide" Target="/ppt/slides/slide33.xml" Id="R724bf7d007574283" /><Relationship Type="http://schemas.openxmlformats.org/officeDocument/2006/relationships/slide" Target="/ppt/slides/slide34.xml" Id="R25ccc339869443ea" /><Relationship Type="http://schemas.openxmlformats.org/officeDocument/2006/relationships/slide" Target="/ppt/slides/slide35.xml" Id="Rfac00561e6054f02" /><Relationship Type="http://schemas.openxmlformats.org/officeDocument/2006/relationships/slide" Target="/ppt/slides/slide36.xml" Id="R414bdac2bb0847e5" /><Relationship Type="http://schemas.openxmlformats.org/officeDocument/2006/relationships/slide" Target="/ppt/slides/slide37.xml" Id="R209a57e1de244abb" /><Relationship Type="http://schemas.openxmlformats.org/officeDocument/2006/relationships/slide" Target="/ppt/slides/slide38.xml" Id="Rc5698c4f73604c83" /><Relationship Type="http://schemas.openxmlformats.org/officeDocument/2006/relationships/slide" Target="/ppt/slides/slide39.xml" Id="R168f66f929214f65" /><Relationship Type="http://schemas.openxmlformats.org/officeDocument/2006/relationships/slide" Target="/ppt/slides/slide40.xml" Id="R6352c03839014bef" /><Relationship Type="http://schemas.openxmlformats.org/officeDocument/2006/relationships/slide" Target="/ppt/slides/slide41.xml" Id="Rff27134755b84b70" /><Relationship Type="http://schemas.openxmlformats.org/officeDocument/2006/relationships/slide" Target="/ppt/slides/slide42.xml" Id="R9dd28a716be741fd" /><Relationship Type="http://schemas.openxmlformats.org/officeDocument/2006/relationships/slide" Target="/ppt/slides/slide43.xml" Id="R3149937d17c84377" /><Relationship Type="http://schemas.openxmlformats.org/officeDocument/2006/relationships/slide" Target="/ppt/slides/slide44.xml" Id="Rb92121a26fb44824" /><Relationship Type="http://schemas.openxmlformats.org/officeDocument/2006/relationships/slide" Target="/ppt/slides/slide45.xml" Id="R84d23db2f5ed4044" /><Relationship Type="http://schemas.openxmlformats.org/officeDocument/2006/relationships/slide" Target="/ppt/slides/slide46.xml" Id="Re90a6b2be4b642ad" /><Relationship Type="http://schemas.openxmlformats.org/officeDocument/2006/relationships/slide" Target="/ppt/slides/slide47.xml" Id="R1683ece869e945b9" /><Relationship Type="http://schemas.openxmlformats.org/officeDocument/2006/relationships/slide" Target="/ppt/slides/slide48.xml" Id="R9b43a973557e43c6" /><Relationship Type="http://schemas.openxmlformats.org/officeDocument/2006/relationships/slide" Target="/ppt/slides/slide49.xml" Id="Ra9609d2424d24065" /><Relationship Type="http://schemas.openxmlformats.org/officeDocument/2006/relationships/slide" Target="/ppt/slides/slide50.xml" Id="R79bbeab3c2d54ef0" /><Relationship Type="http://schemas.openxmlformats.org/officeDocument/2006/relationships/slide" Target="/ppt/slides/slide51.xml" Id="R57a5615d29e54f0b" /><Relationship Type="http://schemas.openxmlformats.org/officeDocument/2006/relationships/slide" Target="/ppt/slides/slide52.xml" Id="R2aa984dbb0ef4ce4" /><Relationship Type="http://schemas.openxmlformats.org/officeDocument/2006/relationships/slide" Target="/ppt/slides/slide53.xml" Id="R2d480334317b4594" /><Relationship Type="http://schemas.openxmlformats.org/officeDocument/2006/relationships/slide" Target="/ppt/slides/slide54.xml" Id="R9f6e8c3a62de4882" /><Relationship Type="http://schemas.openxmlformats.org/officeDocument/2006/relationships/slide" Target="/ppt/slides/slide55.xml" Id="Rb83b46c07e184924" /><Relationship Type="http://schemas.openxmlformats.org/officeDocument/2006/relationships/slide" Target="/ppt/slides/slide56.xml" Id="R67395f35058b4083" /><Relationship Type="http://schemas.openxmlformats.org/officeDocument/2006/relationships/slide" Target="/ppt/slides/slide57.xml" Id="R586081ecbca547da" /><Relationship Type="http://schemas.openxmlformats.org/officeDocument/2006/relationships/slide" Target="/ppt/slides/slide58.xml" Id="R5fc33e5d5d274d54" /><Relationship Type="http://schemas.openxmlformats.org/officeDocument/2006/relationships/slide" Target="/ppt/slides/slide59.xml" Id="R39aa2227a3c94403" /><Relationship Type="http://schemas.openxmlformats.org/officeDocument/2006/relationships/slide" Target="/ppt/slides/slide60.xml" Id="R9d286423fd1a4f4a" /><Relationship Type="http://schemas.openxmlformats.org/officeDocument/2006/relationships/slide" Target="/ppt/slides/slide61.xml" Id="Rda8a21aa1257487b" /><Relationship Type="http://schemas.openxmlformats.org/officeDocument/2006/relationships/slide" Target="/ppt/slides/slide62.xml" Id="Rd9f0fdbac1ef4f05" /><Relationship Type="http://schemas.openxmlformats.org/officeDocument/2006/relationships/slide" Target="/ppt/slides/slide63.xml" Id="Rc146a4a8e05f4815" /><Relationship Type="http://schemas.openxmlformats.org/officeDocument/2006/relationships/slide" Target="/ppt/slides/slide64.xml" Id="Rd7ea0814965941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46b4dd6b0549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93bd1db3584d1a" /><Relationship Type="http://schemas.openxmlformats.org/officeDocument/2006/relationships/notesMaster" Target="/ppt/notesMasters/notesMaster1.xml" Id="R8f93f3376e9b45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07dc2ecead4055" /><Relationship Type="http://schemas.openxmlformats.org/officeDocument/2006/relationships/notesMaster" Target="/ppt/notesMasters/notesMaster1.xml" Id="R19b3df8c8dd046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4bb58397af453d" /><Relationship Type="http://schemas.openxmlformats.org/officeDocument/2006/relationships/notesMaster" Target="/ppt/notesMasters/notesMaster1.xml" Id="R4056a87f91da44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69c60900ef4640" /><Relationship Type="http://schemas.openxmlformats.org/officeDocument/2006/relationships/notesMaster" Target="/ppt/notesMasters/notesMaster1.xml" Id="R4178814ac26345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efe4d7c16d481b" /><Relationship Type="http://schemas.openxmlformats.org/officeDocument/2006/relationships/notesMaster" Target="/ppt/notesMasters/notesMaster1.xml" Id="R99f3e59e7eda47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851c3a098534b81" /><Relationship Type="http://schemas.openxmlformats.org/officeDocument/2006/relationships/notesMaster" Target="/ppt/notesMasters/notesMaster1.xml" Id="Rdee3d04b021a42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de8fcae63b4b55" /><Relationship Type="http://schemas.openxmlformats.org/officeDocument/2006/relationships/notesMaster" Target="/ppt/notesMasters/notesMaster1.xml" Id="R4a856d597e6848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f5fdd4ab7f4fc5" /><Relationship Type="http://schemas.openxmlformats.org/officeDocument/2006/relationships/notesMaster" Target="/ppt/notesMasters/notesMaster1.xml" Id="R486cc2dd7b8b4d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3269cdd52f44139" /><Relationship Type="http://schemas.openxmlformats.org/officeDocument/2006/relationships/notesMaster" Target="/ppt/notesMasters/notesMaster1.xml" Id="R89d206891d6841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de09bdf5744a13" /><Relationship Type="http://schemas.openxmlformats.org/officeDocument/2006/relationships/notesMaster" Target="/ppt/notesMasters/notesMaster1.xml" Id="R9c55603c7b2e4ee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ef050bdda144cb" /><Relationship Type="http://schemas.openxmlformats.org/officeDocument/2006/relationships/notesMaster" Target="/ppt/notesMasters/notesMaster1.xml" Id="Rdf51cc2ec22447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d140b5670c646bc" /><Relationship Type="http://schemas.openxmlformats.org/officeDocument/2006/relationships/notesMaster" Target="/ppt/notesMasters/notesMaster1.xml" Id="R0dc8166a160e411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e7e42ab28e14edf" /><Relationship Type="http://schemas.openxmlformats.org/officeDocument/2006/relationships/notesMaster" Target="/ppt/notesMasters/notesMaster1.xml" Id="Rcab97f5337164bd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13bed93875b42ef" /><Relationship Type="http://schemas.openxmlformats.org/officeDocument/2006/relationships/notesMaster" Target="/ppt/notesMasters/notesMaster1.xml" Id="Ra03dea8ae02b428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6309dd802044e9d" /><Relationship Type="http://schemas.openxmlformats.org/officeDocument/2006/relationships/notesMaster" Target="/ppt/notesMasters/notesMaster1.xml" Id="R921596a65ed8416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01934e151894824" /><Relationship Type="http://schemas.openxmlformats.org/officeDocument/2006/relationships/notesMaster" Target="/ppt/notesMasters/notesMaster1.xml" Id="R4e9b13e874014e5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557563f6f104f10" /><Relationship Type="http://schemas.openxmlformats.org/officeDocument/2006/relationships/notesMaster" Target="/ppt/notesMasters/notesMaster1.xml" Id="R548dca3212a240f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89ad35f0f4c4f3e" /><Relationship Type="http://schemas.openxmlformats.org/officeDocument/2006/relationships/notesMaster" Target="/ppt/notesMasters/notesMaster1.xml" Id="R9f3e1a14912745e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bbbbabe5b8e4084" /><Relationship Type="http://schemas.openxmlformats.org/officeDocument/2006/relationships/notesMaster" Target="/ppt/notesMasters/notesMaster1.xml" Id="Re3e601906ccf465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43f6e79a2444774" /><Relationship Type="http://schemas.openxmlformats.org/officeDocument/2006/relationships/notesMaster" Target="/ppt/notesMasters/notesMaster1.xml" Id="Rbcf14fcc067d4fe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cf2c7aa4fc3430e" /><Relationship Type="http://schemas.openxmlformats.org/officeDocument/2006/relationships/notesMaster" Target="/ppt/notesMasters/notesMaster1.xml" Id="Raecb616adbf240b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a2dde24b48940ec" /><Relationship Type="http://schemas.openxmlformats.org/officeDocument/2006/relationships/notesMaster" Target="/ppt/notesMasters/notesMaster1.xml" Id="R1531e72d8d41416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5b1f3abc44548d4" /><Relationship Type="http://schemas.openxmlformats.org/officeDocument/2006/relationships/notesMaster" Target="/ppt/notesMasters/notesMaster1.xml" Id="Rd5507232f18146f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4a447659baa4825" /><Relationship Type="http://schemas.openxmlformats.org/officeDocument/2006/relationships/notesMaster" Target="/ppt/notesMasters/notesMaster1.xml" Id="Raad9d8ad4e03423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25b4839ac694245" /><Relationship Type="http://schemas.openxmlformats.org/officeDocument/2006/relationships/notesMaster" Target="/ppt/notesMasters/notesMaster1.xml" Id="R346a19702519412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f50ff0a05894cd1" /><Relationship Type="http://schemas.openxmlformats.org/officeDocument/2006/relationships/notesMaster" Target="/ppt/notesMasters/notesMaster1.xml" Id="Rdd0f3260e11f460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74d25b694794ef7" /><Relationship Type="http://schemas.openxmlformats.org/officeDocument/2006/relationships/notesMaster" Target="/ppt/notesMasters/notesMaster1.xml" Id="R56a99f7ca03a4d1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27013f5668d498c" /><Relationship Type="http://schemas.openxmlformats.org/officeDocument/2006/relationships/notesMaster" Target="/ppt/notesMasters/notesMaster1.xml" Id="R523bfc8b3060497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fc83fca7da7405f" /><Relationship Type="http://schemas.openxmlformats.org/officeDocument/2006/relationships/notesMaster" Target="/ppt/notesMasters/notesMaster1.xml" Id="R3740ac17d348421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f98bb31fc8846e3" /><Relationship Type="http://schemas.openxmlformats.org/officeDocument/2006/relationships/notesMaster" Target="/ppt/notesMasters/notesMaster1.xml" Id="R0cda49ed474e4a9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8eb93bef9414dac" /><Relationship Type="http://schemas.openxmlformats.org/officeDocument/2006/relationships/notesMaster" Target="/ppt/notesMasters/notesMaster1.xml" Id="Rf40a22fbac7f461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136eef5dd994ff0" /><Relationship Type="http://schemas.openxmlformats.org/officeDocument/2006/relationships/notesMaster" Target="/ppt/notesMasters/notesMaster1.xml" Id="Rd0bd0a0c01a8486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20322e8a9654776" /><Relationship Type="http://schemas.openxmlformats.org/officeDocument/2006/relationships/notesMaster" Target="/ppt/notesMasters/notesMaster1.xml" Id="Rb57802d5a39143e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a7d1671cb024ed7" /><Relationship Type="http://schemas.openxmlformats.org/officeDocument/2006/relationships/notesMaster" Target="/ppt/notesMasters/notesMaster1.xml" Id="Rf159246fc5fc45f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8a8847c3d5642ea" /><Relationship Type="http://schemas.openxmlformats.org/officeDocument/2006/relationships/notesMaster" Target="/ppt/notesMasters/notesMaster1.xml" Id="R8c6b13b56d4f4c4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2480589096048c5" /><Relationship Type="http://schemas.openxmlformats.org/officeDocument/2006/relationships/notesMaster" Target="/ppt/notesMasters/notesMaster1.xml" Id="Rd0610893bf174b3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b1438ce12654304" /><Relationship Type="http://schemas.openxmlformats.org/officeDocument/2006/relationships/notesMaster" Target="/ppt/notesMasters/notesMaster1.xml" Id="R62a46a564f34494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f83529ca59245de" /><Relationship Type="http://schemas.openxmlformats.org/officeDocument/2006/relationships/notesMaster" Target="/ppt/notesMasters/notesMaster1.xml" Id="Rc55936dd57554a1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14419aec5364846" /><Relationship Type="http://schemas.openxmlformats.org/officeDocument/2006/relationships/notesMaster" Target="/ppt/notesMasters/notesMaster1.xml" Id="R9d4e6e52748c492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191c8b837744cde" /><Relationship Type="http://schemas.openxmlformats.org/officeDocument/2006/relationships/notesMaster" Target="/ppt/notesMasters/notesMaster1.xml" Id="R410295357eef478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032f3c75cde4207" /><Relationship Type="http://schemas.openxmlformats.org/officeDocument/2006/relationships/notesMaster" Target="/ppt/notesMasters/notesMaster1.xml" Id="Rb1210d585d9b43e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9461295dcf04f69" /><Relationship Type="http://schemas.openxmlformats.org/officeDocument/2006/relationships/notesMaster" Target="/ppt/notesMasters/notesMaster1.xml" Id="R3c6cbc146923452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56a6640da4a4798" /><Relationship Type="http://schemas.openxmlformats.org/officeDocument/2006/relationships/notesMaster" Target="/ppt/notesMasters/notesMaster1.xml" Id="R4d190c5107434c5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38fa9e6d0b54771" /><Relationship Type="http://schemas.openxmlformats.org/officeDocument/2006/relationships/notesMaster" Target="/ppt/notesMasters/notesMaster1.xml" Id="Rf23a90c4a302431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ec342bb3d8c4201" /><Relationship Type="http://schemas.openxmlformats.org/officeDocument/2006/relationships/notesMaster" Target="/ppt/notesMasters/notesMaster1.xml" Id="R998e2dd4fac14b4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de0b6e2bf094667" /><Relationship Type="http://schemas.openxmlformats.org/officeDocument/2006/relationships/notesMaster" Target="/ppt/notesMasters/notesMaster1.xml" Id="R951e913f8ce3473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da5c7c5d40a4a97" /><Relationship Type="http://schemas.openxmlformats.org/officeDocument/2006/relationships/notesMaster" Target="/ppt/notesMasters/notesMaster1.xml" Id="R8d7296dd2e944ad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aee2e71ae444c89" /><Relationship Type="http://schemas.openxmlformats.org/officeDocument/2006/relationships/notesMaster" Target="/ppt/notesMasters/notesMaster1.xml" Id="R2932094c51464fb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2bd1788b2064eca" /><Relationship Type="http://schemas.openxmlformats.org/officeDocument/2006/relationships/notesMaster" Target="/ppt/notesMasters/notesMaster1.xml" Id="Rc72338396374433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c67414407574ac8" /><Relationship Type="http://schemas.openxmlformats.org/officeDocument/2006/relationships/notesMaster" Target="/ppt/notesMasters/notesMaster1.xml" Id="R2644c1fa9925451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352b4a67cb14641" /><Relationship Type="http://schemas.openxmlformats.org/officeDocument/2006/relationships/notesMaster" Target="/ppt/notesMasters/notesMaster1.xml" Id="Re68b8f701eb84f0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bb2933248f64dd6" /><Relationship Type="http://schemas.openxmlformats.org/officeDocument/2006/relationships/notesMaster" Target="/ppt/notesMasters/notesMaster1.xml" Id="R13b8d8d7eba646ba"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d2eaa2558d64d8b" /><Relationship Type="http://schemas.openxmlformats.org/officeDocument/2006/relationships/notesMaster" Target="/ppt/notesMasters/notesMaster1.xml" Id="R8e9d5a4ecf674c67"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1a8bf7fd52c44870" /><Relationship Type="http://schemas.openxmlformats.org/officeDocument/2006/relationships/notesMaster" Target="/ppt/notesMasters/notesMaster1.xml" Id="R7907b67bf0184278"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d212cb7265d47e7" /><Relationship Type="http://schemas.openxmlformats.org/officeDocument/2006/relationships/notesMaster" Target="/ppt/notesMasters/notesMaster1.xml" Id="R965e15498c25410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12bd7ad154a24d56" /><Relationship Type="http://schemas.openxmlformats.org/officeDocument/2006/relationships/notesMaster" Target="/ppt/notesMasters/notesMaster1.xml" Id="R617924820e124cdb"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30b389af80b44580" /><Relationship Type="http://schemas.openxmlformats.org/officeDocument/2006/relationships/notesMaster" Target="/ppt/notesMasters/notesMaster1.xml" Id="R6610dc53569c400c"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17bdc44a74624279" /><Relationship Type="http://schemas.openxmlformats.org/officeDocument/2006/relationships/notesMaster" Target="/ppt/notesMasters/notesMaster1.xml" Id="Rcd62d0d2d6334ecc"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897209daf6b44fcd" /><Relationship Type="http://schemas.openxmlformats.org/officeDocument/2006/relationships/notesMaster" Target="/ppt/notesMasters/notesMaster1.xml" Id="R72d9737e74db41ab"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41161f9601a24be2" /><Relationship Type="http://schemas.openxmlformats.org/officeDocument/2006/relationships/notesMaster" Target="/ppt/notesMasters/notesMaster1.xml" Id="R26983911076a4888"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551044015d054a22" /><Relationship Type="http://schemas.openxmlformats.org/officeDocument/2006/relationships/notesMaster" Target="/ppt/notesMasters/notesMaster1.xml" Id="R39bd529448564d26"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c384cbdf84ad4d6e" /><Relationship Type="http://schemas.openxmlformats.org/officeDocument/2006/relationships/notesMaster" Target="/ppt/notesMasters/notesMaster1.xml" Id="R1f405a07ca47401d"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6ae80e2254f8467c" /><Relationship Type="http://schemas.openxmlformats.org/officeDocument/2006/relationships/notesMaster" Target="/ppt/notesMasters/notesMaster1.xml" Id="R4242743498f043e1"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c7f56f66b1014422" /><Relationship Type="http://schemas.openxmlformats.org/officeDocument/2006/relationships/notesMaster" Target="/ppt/notesMasters/notesMaster1.xml" Id="R72c8a7421c7d463e"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first prediction model</a:t>
            </a:r>
          </a:p>
          <a:p>
            <a:r>
              <a:t/>
            </a:r>
          </a:p>
          <a:p>
            <a:r>
              <a:t>LECTURER CUE</a:t>
            </a:r>
          </a:p>
          <a:p>
            <a:r>
              <a:t>Use PowerPoint Presenter View for these notes. Teach one example, pause for every learner to predict, then work an analogous example together. The practice notebook is a learning aid, not an extra graded upload.</a:t>
            </a:r>
          </a:p>
          <a:p>
            <a:r>
              <a:t/>
            </a:r>
          </a:p>
          <a:p>
            <a:r>
              <a:t>NEXT</a:t>
            </a:r>
          </a:p>
          <a:p>
            <a:r>
              <a:t>Today’s learning.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Today’s learning</a:t>
            </a:r>
          </a:p>
          <a:p>
            <a:r>
              <a:t/>
            </a:r>
          </a:p>
          <a:p>
            <a:r>
              <a:t>CONNECT</a:t>
            </a:r>
          </a:p>
          <a:p>
            <a:r>
              <a:t>Build on the preceding slide: A first prediction model.</a:t>
            </a:r>
          </a:p>
          <a:p>
            <a:r>
              <a:t/>
            </a:r>
          </a:p>
          <a:p>
            <a:r>
              <a:t>LECTURER CUE</a:t>
            </a:r>
          </a:p>
          <a:p>
            <a:r>
              <a:t>Ask learners to explain this goal in ordinary language. The first successful attempt matters more than covering optional extensions. Defer: Deriving least squares, leaderboard competition, many residual plots and coefficient inference are reference. R² may be negative and is not an accuracy percentage.</a:t>
            </a:r>
          </a:p>
          <a:p>
            <a:r>
              <a:t/>
            </a:r>
          </a:p>
          <a:p>
            <a:r>
              <a:t>EXPLAIN IN ORDINARY WORDS</a:t>
            </a:r>
          </a:p>
          <a:p>
            <a:r>
              <a:t>A calculated column stores a result for each row at refresh. A measure is evaluated under the filters of the current visual. SUMX evaluates an expression for each row before adding it.</a:t>
            </a:r>
          </a:p>
          <a:p>
            <a:r>
              <a:t/>
            </a:r>
          </a:p>
          <a:p>
            <a:r>
              <a:t>CHECK AND EXPECTED ANSWER</a:t>
            </a:r>
          </a:p>
          <a:p>
            <a:r>
              <a:t>Should revenue respond to a selected region? Yes; test the measure with that filter and reconcile it to known data.</a:t>
            </a:r>
          </a:p>
          <a:p>
            <a:r>
              <a:t/>
            </a:r>
          </a:p>
          <a:p>
            <a:r>
              <a:t>IF LEARNERS ARE STUCK</a:t>
            </a:r>
          </a:p>
          <a:p>
            <a:r>
              <a:t>Work one order line by hand, then two lines. Name the numerator and denominator populations before an average-order-value measure.</a:t>
            </a:r>
          </a:p>
          <a:p>
            <a:r>
              <a:t/>
            </a:r>
          </a:p>
          <a:p>
            <a:r>
              <a:t>NEXT</a:t>
            </a:r>
          </a:p>
          <a:p>
            <a:r>
              <a:t>Recall and a first attempt.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Recall and a first attempt</a:t>
            </a:r>
          </a:p>
          <a:p>
            <a:r>
              <a:t/>
            </a:r>
          </a:p>
          <a:p>
            <a:r>
              <a:t>CONNECT</a:t>
            </a:r>
          </a:p>
          <a:p>
            <a:r>
              <a:t>Build on the preceding slide: Today’s learning.</a:t>
            </a:r>
          </a:p>
          <a:p>
            <a:r>
              <a:t/>
            </a:r>
          </a:p>
          <a:p>
            <a:r>
              <a:t>LECTURER CUE</a:t>
            </a:r>
          </a:p>
          <a:p>
            <a:r>
              <a:t>Allow two minutes for everyone to try. Ask pairs to compare. If many cannot begin, show the first step and repeat with changed values. Checkpoint for today: Students identify the target, explain why it is absent from prediction inputs and calculate one absolute error.</a:t>
            </a:r>
          </a:p>
          <a:p>
            <a:r>
              <a:t/>
            </a:r>
          </a:p>
          <a:p>
            <a:r>
              <a:t>EXPLAIN IN ORDINARY WORDS</a:t>
            </a:r>
          </a:p>
          <a:p>
            <a:r>
              <a:t>Name the positive class first. Actual is what happened; predicted is the model decision. Precision asks how many predicted positives were right. Recall asks how many actual positives were found.</a:t>
            </a:r>
          </a:p>
          <a:p>
            <a:r>
              <a:t/>
            </a:r>
          </a:p>
          <a:p>
            <a:r>
              <a:t>CHECK AND EXPECTED ANSWER</a:t>
            </a:r>
          </a:p>
          <a:p>
            <a:r>
              <a:t>With TP=2, FP=1, FN=2: precision=2/3 and recall=2/4. A missed actual positive is a false negative.</a:t>
            </a:r>
          </a:p>
          <a:p>
            <a:r>
              <a:t/>
            </a:r>
          </a:p>
          <a:p>
            <a:r>
              <a:t>IF LEARNERS ARE STUCK</a:t>
            </a:r>
          </a:p>
          <a:p>
            <a:r>
              <a:t>Draw actual/predicted headings. Place one case at a time before calculating a fraction. Explain the task rule for a zero denominator.</a:t>
            </a:r>
          </a:p>
          <a:p>
            <a:r>
              <a:t/>
            </a:r>
          </a:p>
          <a:p>
            <a:r>
              <a:t>NEXT</a:t>
            </a:r>
          </a:p>
          <a:p>
            <a:r>
              <a:t>The engineering context.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The engineering context</a:t>
            </a:r>
          </a:p>
          <a:p>
            <a:r>
              <a:t/>
            </a:r>
          </a:p>
          <a:p>
            <a:r>
              <a:t>CONNECT</a:t>
            </a:r>
          </a:p>
          <a:p>
            <a:r>
              <a:t>Build on the preceding slide: Recall and a first attempt.</a:t>
            </a:r>
          </a:p>
          <a:p>
            <a:r>
              <a:t/>
            </a:r>
          </a:p>
          <a:p>
            <a:r>
              <a:t>LECTURER CUE</a:t>
            </a:r>
          </a:p>
          <a:p>
            <a:r>
              <a:t>A building team records indoor temperature to investigate comfort. Civil students can discuss construction and inspection; architecture students can discuss shading and ventilation. Explain the quantities before using them.</a:t>
            </a:r>
          </a:p>
          <a:p>
            <a:r>
              <a:t/>
            </a:r>
          </a:p>
          <a:p>
            <a:r>
              <a:t>EXPLAIN IN ORDINARY WORDS</a:t>
            </a:r>
          </a:p>
          <a:p>
            <a:r>
              <a:t>A calculated column stores a result for each row at refresh. A measure is evaluated under the filters of the current visual. SUMX evaluates an expression for each row before adding it.</a:t>
            </a:r>
          </a:p>
          <a:p>
            <a:r>
              <a:t/>
            </a:r>
          </a:p>
          <a:p>
            <a:r>
              <a:t>CHECK AND EXPECTED ANSWER</a:t>
            </a:r>
          </a:p>
          <a:p>
            <a:r>
              <a:t>Should revenue respond to a selected region? Yes; test the measure with that filter and reconcile it to known data.</a:t>
            </a:r>
          </a:p>
          <a:p>
            <a:r>
              <a:t/>
            </a:r>
          </a:p>
          <a:p>
            <a:r>
              <a:t>IF LEARNERS ARE STUCK</a:t>
            </a:r>
          </a:p>
          <a:p>
            <a:r>
              <a:t>Work one order line by hand, then two lines. Name the numerator and denominator populations before an average-order-value measure.</a:t>
            </a:r>
          </a:p>
          <a:p>
            <a:r>
              <a:t/>
            </a:r>
          </a:p>
          <a:p>
            <a:r>
              <a:t>NEXT</a:t>
            </a:r>
          </a:p>
          <a:p>
            <a:r>
              <a:t>A numerical prediction.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numerical prediction</a:t>
            </a:r>
          </a:p>
          <a:p>
            <a:r>
              <a:t/>
            </a:r>
          </a:p>
          <a:p>
            <a:r>
              <a:t>CONNECT</a:t>
            </a:r>
          </a:p>
          <a:p>
            <a:r>
              <a:t>Build on the preceding slide: The engineering context.</a:t>
            </a:r>
          </a:p>
          <a:p>
            <a:r>
              <a:t/>
            </a:r>
          </a:p>
          <a:p>
            <a:r>
              <a:t>EXPLAIN IN ORDINARY WORDS</a:t>
            </a:r>
          </a:p>
          <a:p>
            <a:r>
              <a:t>A feature is an input available when predicting. The target is the answer to learn from. Regression predicts a number; classification predicts a category. Learning patterns does not by itself establish cause.</a:t>
            </a:r>
          </a:p>
          <a:p>
            <a:r>
              <a:t/>
            </a:r>
          </a:p>
          <a:p>
            <a:r>
              <a:t>CHECK AND EXPECTED ANSWER</a:t>
            </a:r>
          </a:p>
          <a:p>
            <a:r>
              <a:t>Predicting concrete strength: regression. Predicting pass/fail: classification. Is a later test result available before that test? No.</a:t>
            </a:r>
          </a:p>
          <a:p>
            <a:r>
              <a:t/>
            </a:r>
          </a:p>
          <a:p>
            <a:r>
              <a:t>IF LEARNERS ARE STUCK</a:t>
            </a:r>
          </a:p>
          <a:p>
            <a:r>
              <a:t>Describe the engineering decision in everyday language, then label one row, an input and its answer. Compare with a rule you could write directly.</a:t>
            </a:r>
          </a:p>
          <a:p>
            <a:r>
              <a:t/>
            </a:r>
          </a:p>
          <a:p>
            <a:r>
              <a:t>NEXT</a:t>
            </a:r>
          </a:p>
          <a:p>
            <a:r>
              <a:t>Words we will use.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Words we will use</a:t>
            </a:r>
          </a:p>
          <a:p>
            <a:r>
              <a:t/>
            </a:r>
          </a:p>
          <a:p>
            <a:r>
              <a:t>CONNECT</a:t>
            </a:r>
          </a:p>
          <a:p>
            <a:r>
              <a:t>Build on the preceding slide: A numerical prediction.</a:t>
            </a:r>
          </a:p>
          <a:p>
            <a:r>
              <a:t/>
            </a:r>
          </a:p>
          <a:p>
            <a:r>
              <a:t>EXPLAIN IN ORDINARY WORDS</a:t>
            </a:r>
          </a:p>
          <a:p>
            <a:r>
              <a:t>Training fits rules. Validation helps choose among rules. The final test estimates performance after choices are fixed. Information that would be unavailable at the real prediction time must stay out of the inputs.</a:t>
            </a:r>
          </a:p>
          <a:p>
            <a:r>
              <a:t/>
            </a:r>
          </a:p>
          <a:p>
            <a:r>
              <a:t>CHECK AND EXPECTED ANSWER</a:t>
            </a:r>
          </a:p>
          <a:p>
            <a:r>
              <a:t>May two readings of the same machine appear on both sides when evaluating new machines? No; split by machine. For forecasting, train on the past and evaluate later time.</a:t>
            </a:r>
          </a:p>
          <a:p>
            <a:r>
              <a:t/>
            </a:r>
          </a:p>
          <a:p>
            <a:r>
              <a:t>IF LEARNERS ARE STUCK</a:t>
            </a:r>
          </a:p>
          <a:p>
            <a:r>
              <a:t>Use three envelopes. Keep the final-test envelope closed while selecting features or settings.</a:t>
            </a:r>
          </a:p>
          <a:p>
            <a:r>
              <a:t/>
            </a:r>
          </a:p>
          <a:p>
            <a:r>
              <a:t>POINT TO THE DEFINITION</a:t>
            </a:r>
          </a:p>
          <a:p>
            <a:r>
              <a:t>Feature and target: Features are inputs available when making a prediction. The target is the quantity we want to predict.</a:t>
            </a:r>
          </a:p>
          <a:p>
            <a:r>
              <a:t>Training validation and test: Training fits the model. Validation helps choose it. The final test estimates performance after choices are fixed. Repeated equipment must stay in the same partition when assessing unseen equipment.</a:t>
            </a:r>
          </a:p>
          <a:p>
            <a:r>
              <a:t/>
            </a:r>
          </a:p>
          <a:p>
            <a:r>
              <a:t>NEXT</a:t>
            </a:r>
          </a:p>
          <a:p>
            <a:r>
              <a:t>Baseline.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Baseline</a:t>
            </a:r>
          </a:p>
          <a:p>
            <a:r>
              <a:t/>
            </a:r>
          </a:p>
          <a:p>
            <a:r>
              <a:t>CONNECT</a:t>
            </a:r>
          </a:p>
          <a:p>
            <a:r>
              <a:t>Build on the preceding slide: Words we will use.</a:t>
            </a:r>
          </a:p>
          <a:p>
            <a:r>
              <a:t/>
            </a:r>
          </a:p>
          <a:p>
            <a:r>
              <a:t>EXPLAIN IN ORDINARY WORDS</a:t>
            </a:r>
          </a:p>
          <a:p>
            <a:r>
              <a:t>A baseline is a deliberately simple reference. For numeric prediction, one example always predicts the training target mean. A more complicated model must earn its complexity by improving a fair comparison.</a:t>
            </a:r>
          </a:p>
          <a:p>
            <a:r>
              <a:t/>
            </a:r>
          </a:p>
          <a:p>
            <a:r>
              <a:t>CHECK AND EXPECTED ANSWER</a:t>
            </a:r>
          </a:p>
          <a:p>
            <a:r>
              <a:t>Why compute the constant from training targets? Evaluation answers must not influence a deployed prediction rule.</a:t>
            </a:r>
          </a:p>
          <a:p>
            <a:r>
              <a:t/>
            </a:r>
          </a:p>
          <a:p>
            <a:r>
              <a:t>IF LEARNERS ARE STUCK</a:t>
            </a:r>
          </a:p>
          <a:p>
            <a:r>
              <a:t>Use training targets 2,4,6: the mean baseline predicts 4 for every new row, whatever its inputs.</a:t>
            </a:r>
          </a:p>
          <a:p>
            <a:r>
              <a:t/>
            </a:r>
          </a:p>
          <a:p>
            <a:r>
              <a:t>POINT TO THE DEFINITION</a:t>
            </a:r>
          </a:p>
          <a:p>
            <a:r>
              <a:t>Baseline: A simple reference prediction. A training-mean baseline predicts the same training mean for every new example.</a:t>
            </a:r>
          </a:p>
          <a:p>
            <a:r>
              <a:t/>
            </a:r>
          </a:p>
          <a:p>
            <a:r>
              <a:t>NEXT</a:t>
            </a:r>
          </a:p>
          <a:p>
            <a:r>
              <a:t>Linear model and tree.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Linear model and tree</a:t>
            </a:r>
          </a:p>
          <a:p>
            <a:r>
              <a:t/>
            </a:r>
          </a:p>
          <a:p>
            <a:r>
              <a:t>CONNECT</a:t>
            </a:r>
          </a:p>
          <a:p>
            <a:r>
              <a:t>Build on the preceding slide: Baseline.</a:t>
            </a:r>
          </a:p>
          <a:p>
            <a:r>
              <a:t/>
            </a:r>
          </a:p>
          <a:p>
            <a:r>
              <a:t>EXPLAIN IN ORDINARY WORDS</a:t>
            </a:r>
          </a:p>
          <a:p>
            <a:r>
              <a:t>Creating a model chooses the kind of rule. fit learns from training inputs and known answers. predict applies the fitted rule to new inputs without receiving their answers.</a:t>
            </a:r>
          </a:p>
          <a:p>
            <a:r>
              <a:t/>
            </a:r>
          </a:p>
          <a:p>
            <a:r>
              <a:t>CHECK AND EXPECTED ANSWER</a:t>
            </a:r>
          </a:p>
          <a:p>
            <a:r>
              <a:t>Does creating a model object train it? No. It must be fitted before prediction.</a:t>
            </a:r>
          </a:p>
          <a:p>
            <a:r>
              <a:t/>
            </a:r>
          </a:p>
          <a:p>
            <a:r>
              <a:t>IF LEARNERS ARE STUCK</a:t>
            </a:r>
          </a:p>
          <a:p>
            <a:r>
              <a:t>Point to inputs, training answers, fit, then new inputs. Keep each input row paired with its own target.</a:t>
            </a:r>
          </a:p>
          <a:p>
            <a:r>
              <a:t/>
            </a:r>
          </a:p>
          <a:p>
            <a:r>
              <a:t>POINT TO THE DEFINITION</a:t>
            </a:r>
          </a:p>
          <a:p>
            <a:r>
              <a:t>Linear model and tree: A linear model combines inputs with learned weights. A regression tree asks feature-threshold questions and predicts a value at each leaf.</a:t>
            </a:r>
          </a:p>
          <a:p>
            <a:r>
              <a:t/>
            </a:r>
          </a:p>
          <a:p>
            <a:r>
              <a:t>NEXT</a:t>
            </a:r>
          </a:p>
          <a:p>
            <a:r>
              <a:t>What learning means in this example.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What learning means in this example</a:t>
            </a:r>
          </a:p>
          <a:p>
            <a:r>
              <a:t/>
            </a:r>
          </a:p>
          <a:p>
            <a:r>
              <a:t>CONNECT</a:t>
            </a:r>
          </a:p>
          <a:p>
            <a:r>
              <a:t>Build on the preceding slide: Linear model and tree.</a:t>
            </a:r>
          </a:p>
          <a:p>
            <a:r>
              <a:t/>
            </a:r>
          </a:p>
          <a:p>
            <a:r>
              <a:t>LECTURER CUE</a:t>
            </a:r>
          </a:p>
          <a:p>
            <a:r>
              <a:t>Use the small invented table below solely to see fit and predict. Real training needs more data, representative evaluation and careful partitioning.</a:t>
            </a:r>
          </a:p>
          <a:p>
            <a:r>
              <a:t/>
            </a:r>
          </a:p>
          <a:p>
            <a:r>
              <a:t>NEXT</a:t>
            </a:r>
          </a:p>
          <a:p>
            <a:r>
              <a:t>Training observations.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Training observations</a:t>
            </a:r>
          </a:p>
          <a:p>
            <a:r>
              <a:t/>
            </a:r>
          </a:p>
          <a:p>
            <a:r>
              <a:t>CONNECT</a:t>
            </a:r>
          </a:p>
          <a:p>
            <a:r>
              <a:t>Build on the preceding slide: What learning means in this example.</a:t>
            </a:r>
          </a:p>
          <a:p>
            <a:r>
              <a:t/>
            </a:r>
          </a:p>
          <a:p>
            <a:r>
              <a:t>LECTURER CUE</a:t>
            </a:r>
          </a:p>
          <a:p>
            <a:r>
              <a:t>Invented numbers for learning. The fitted line predicts 15 at input 2.5. The training mean is also 15 at this one example, so it cannot establish superiority.</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READ THE VISUAL</a:t>
            </a:r>
          </a:p>
          <a:p>
            <a:r>
              <a:t>Start with the title and labels. Read one row or mark aloud, including its unit. Let a learner read a second one before discussing the pattern. Do not infer a numerical value from an unlabelled drawing.</a:t>
            </a:r>
          </a:p>
          <a:p>
            <a:r>
              <a:t/>
            </a:r>
          </a:p>
          <a:p>
            <a:r>
              <a:t>NEXT</a:t>
            </a:r>
          </a:p>
          <a:p>
            <a:r>
              <a:t>A fitted line is a numerical rule.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fitted line is a numerical rule</a:t>
            </a:r>
          </a:p>
          <a:p>
            <a:r>
              <a:t/>
            </a:r>
          </a:p>
          <a:p>
            <a:r>
              <a:t>CONNECT</a:t>
            </a:r>
          </a:p>
          <a:p>
            <a:r>
              <a:t>Build on the preceding slide: Training observations.</a:t>
            </a:r>
          </a:p>
          <a:p>
            <a:r>
              <a:t/>
            </a:r>
          </a:p>
          <a:p>
            <a:r>
              <a:t>EXPLAIN IN ORDINARY WORDS</a:t>
            </a:r>
          </a:p>
          <a:p>
            <a:r>
              <a:t>Creating a model chooses the kind of rule. fit learns from training inputs and known answers. predict applies the fitted rule to new inputs without receiving their answers.</a:t>
            </a:r>
          </a:p>
          <a:p>
            <a:r>
              <a:t/>
            </a:r>
          </a:p>
          <a:p>
            <a:r>
              <a:t>CHECK AND EXPECTED ANSWER</a:t>
            </a:r>
          </a:p>
          <a:p>
            <a:r>
              <a:t>Does creating a model object train it? No. It must be fitted before prediction.</a:t>
            </a:r>
          </a:p>
          <a:p>
            <a:r>
              <a:t/>
            </a:r>
          </a:p>
          <a:p>
            <a:r>
              <a:t>IF LEARNERS ARE STUCK</a:t>
            </a:r>
          </a:p>
          <a:p>
            <a:r>
              <a:t>Point to inputs, training answers, fit, then new inputs. Keep each input row paired with its own target.</a:t>
            </a:r>
          </a:p>
          <a:p>
            <a:r>
              <a:t/>
            </a:r>
          </a:p>
          <a:p>
            <a:r>
              <a:t>NEXT</a:t>
            </a:r>
          </a:p>
          <a:p>
            <a:r>
              <a:t>Fitting a line to observations.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Fitting a line to observations</a:t>
            </a:r>
          </a:p>
          <a:p>
            <a:r>
              <a:t/>
            </a:r>
          </a:p>
          <a:p>
            <a:r>
              <a:t>CONNECT</a:t>
            </a:r>
          </a:p>
          <a:p>
            <a:r>
              <a:t>Build on the preceding slide: A fitted line is a numerical rule.</a:t>
            </a:r>
          </a:p>
          <a:p>
            <a:r>
              <a:t/>
            </a:r>
          </a:p>
          <a:p>
            <a:r>
              <a:t>LECTURER CUE</a:t>
            </a:r>
          </a:p>
          <a:p>
            <a:r>
              <a:t>These are illustrative concrete observations. Point to x, y, one prediction and one residual. A unique slope requires variation in x. A low training error alone does not show generalisation.</a:t>
            </a:r>
          </a:p>
          <a:p>
            <a:r>
              <a:t>Source: existing course illustration figs/fit_by_eye.png. These are illustrative examples, not this cohort’s assessed results.</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NEXT</a:t>
            </a:r>
          </a:p>
          <a:p>
            <a:r>
              <a:t>Rows must stay paired with their answers.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Rows must stay paired with their answers</a:t>
            </a:r>
          </a:p>
          <a:p>
            <a:r>
              <a:t/>
            </a:r>
          </a:p>
          <a:p>
            <a:r>
              <a:t>CONNECT</a:t>
            </a:r>
          </a:p>
          <a:p>
            <a:r>
              <a:t>Build on the preceding slide: Fitting a line to observations.</a:t>
            </a:r>
          </a:p>
          <a:p>
            <a:r>
              <a:t/>
            </a:r>
          </a:p>
          <a:p>
            <a:r>
              <a:t>LECTURER CUE</a:t>
            </a:r>
          </a:p>
          <a:p>
            <a:r>
              <a:t>A list of lists is a table: each inner list holds the features of one observation. y_train holds one target per training row in the same order. Never reorder one without the other.</a:t>
            </a:r>
          </a:p>
          <a:p>
            <a:r>
              <a:t/>
            </a:r>
          </a:p>
          <a:p>
            <a:r>
              <a:t>EXPLAIN IN ORDINARY WORDS</a:t>
            </a:r>
          </a:p>
          <a:p>
            <a:r>
              <a:t>A list keeps items in order. Python positions start at zero. In [2,4,6], position 0 contains 2 and position 2 contains 6. A slice excludes its stop position.</a:t>
            </a:r>
          </a:p>
          <a:p>
            <a:r>
              <a:t/>
            </a:r>
          </a:p>
          <a:p>
            <a:r>
              <a:t>CHECK AND EXPECTED ANSWER</a:t>
            </a:r>
          </a:p>
          <a:p>
            <a:r>
              <a:t>What is [2,4,6][1]? 4. Is there a position 3? No.</a:t>
            </a:r>
          </a:p>
          <a:p>
            <a:r>
              <a:t/>
            </a:r>
          </a:p>
          <a:p>
            <a:r>
              <a:t>IF LEARNERS ARE STUCK</a:t>
            </a:r>
          </a:p>
          <a:p>
            <a:r>
              <a:t>Draw three numbered boxes starting at zero. Keep the position separate from the value stored in it.</a:t>
            </a:r>
          </a:p>
          <a:p>
            <a:r>
              <a:t/>
            </a:r>
          </a:p>
          <a:p>
            <a:r>
              <a:t>NEXT</a:t>
            </a:r>
          </a:p>
          <a:p>
            <a:r>
              <a:t>Rows and arrays before model code.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Rows and arrays before model code</a:t>
            </a:r>
          </a:p>
          <a:p>
            <a:r>
              <a:t/>
            </a:r>
          </a:p>
          <a:p>
            <a:r>
              <a:t>CONNECT</a:t>
            </a:r>
          </a:p>
          <a:p>
            <a:r>
              <a:t>Build on the preceding slide: Rows must stay paired with their answers.</a:t>
            </a:r>
          </a:p>
          <a:p>
            <a:r>
              <a:t/>
            </a:r>
          </a:p>
          <a:p>
            <a:r>
              <a:t>EXPLAIN IN ORDINARY WORDS</a:t>
            </a:r>
          </a:p>
          <a:p>
            <a:r>
              <a:t>Missing means not recorded, not automatically zero. Decide why it is missing and document the rule. Fitted fill values must come from training data when evaluating a model.</a:t>
            </a:r>
          </a:p>
          <a:p>
            <a:r>
              <a:t/>
            </a:r>
          </a:p>
          <a:p>
            <a:r>
              <a:t>CHECK AND EXPECTED ANSWER</a:t>
            </a:r>
          </a:p>
          <a:p>
            <a:r>
              <a:t>Is an unrecorded energy reading evidence of zero consumption? No.</a:t>
            </a:r>
          </a:p>
          <a:p>
            <a:r>
              <a:t/>
            </a:r>
          </a:p>
          <a:p>
            <a:r>
              <a:t>IF LEARNERS ARE STUCK</a:t>
            </a:r>
          </a:p>
          <a:p>
            <a:r>
              <a:t>Use three rows: a recorded zero, a recorded positive value and a blank. Explain their different meanings before cleaning.</a:t>
            </a:r>
          </a:p>
          <a:p>
            <a:r>
              <a:t/>
            </a:r>
          </a:p>
          <a:p>
            <a:r>
              <a:t>POINT TO THE DEFINITION</a:t>
            </a:r>
          </a:p>
          <a:p>
            <a:r>
              <a:t>Nested lists: [[1], [2], [3]] has three inner lists: three rows with one feature each. [12, 14, 16] has one target per row in the same order.</a:t>
            </a:r>
          </a:p>
          <a:p>
            <a:r>
              <a:t>NumPy and array: NumPy is a numerical library; np is its short imported name. np.array(...) builds an array. shape reports its dimensions. np.nan represents a missing numerical value.</a:t>
            </a:r>
          </a:p>
          <a:p>
            <a:r>
              <a:t/>
            </a:r>
          </a:p>
          <a:p>
            <a:r>
              <a:t>NEXT</a:t>
            </a:r>
          </a:p>
          <a:p>
            <a:r>
              <a:t>Reading NumPy results.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Reading NumPy results</a:t>
            </a:r>
          </a:p>
          <a:p>
            <a:r>
              <a:t/>
            </a:r>
          </a:p>
          <a:p>
            <a:r>
              <a:t>CONNECT</a:t>
            </a:r>
          </a:p>
          <a:p>
            <a:r>
              <a:t>Build on the preceding slide: Rows and arrays before model code.</a:t>
            </a:r>
          </a:p>
          <a:p>
            <a:r>
              <a:t/>
            </a:r>
          </a:p>
          <a:p>
            <a:r>
              <a:t>LECTURER CUE</a:t>
            </a:r>
          </a:p>
          <a:p>
            <a:r>
              <a:t>Read one row at a time and use a changed value. This is a syntax reference for the worked examples.</a:t>
            </a:r>
          </a:p>
          <a:p>
            <a:r>
              <a:t/>
            </a:r>
          </a:p>
          <a:p>
            <a:r>
              <a:t>EXPLAIN IN ORDINARY WORDS</a:t>
            </a:r>
          </a:p>
          <a:p>
            <a:r>
              <a:t>Name the positive class first. Actual is what happened; predicted is the model decision. Precision asks how many predicted positives were right. Recall asks how many actual positives were found.</a:t>
            </a:r>
          </a:p>
          <a:p>
            <a:r>
              <a:t/>
            </a:r>
          </a:p>
          <a:p>
            <a:r>
              <a:t>CHECK AND EXPECTED ANSWER</a:t>
            </a:r>
          </a:p>
          <a:p>
            <a:r>
              <a:t>With TP=2, FP=1, FN=2: precision=2/3 and recall=2/4. A missed actual positive is a false negative.</a:t>
            </a:r>
          </a:p>
          <a:p>
            <a:r>
              <a:t/>
            </a:r>
          </a:p>
          <a:p>
            <a:r>
              <a:t>IF LEARNERS ARE STUCK</a:t>
            </a:r>
          </a:p>
          <a:p>
            <a:r>
              <a:t>Draw actual/predicted headings. Place one case at a time before calculating a fraction. Explain the task rule for a zero denominator.</a:t>
            </a:r>
          </a:p>
          <a:p>
            <a:r>
              <a:t/>
            </a:r>
          </a:p>
          <a:p>
            <a:r>
              <a:t>READ THE VISUAL</a:t>
            </a:r>
          </a:p>
          <a:p>
            <a:r>
              <a:t>Start with the title and labels. Read one row or mark aloud, including its unit. Let a learner read a second one before discussing the pattern. Do not infer a numerical value from an unlabelled drawing.</a:t>
            </a:r>
          </a:p>
          <a:p>
            <a:r>
              <a:t/>
            </a:r>
          </a:p>
          <a:p>
            <a:r>
              <a:t>NEXT</a:t>
            </a:r>
          </a:p>
          <a:p>
            <a:r>
              <a:t>Rows, columns and named options.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Rows, columns and named options</a:t>
            </a:r>
          </a:p>
          <a:p>
            <a:r>
              <a:t/>
            </a:r>
          </a:p>
          <a:p>
            <a:r>
              <a:t>CONNECT</a:t>
            </a:r>
          </a:p>
          <a:p>
            <a:r>
              <a:t>Build on the preceding slide: Reading NumPy results.</a:t>
            </a:r>
          </a:p>
          <a:p>
            <a:r>
              <a:t/>
            </a:r>
          </a:p>
          <a:p>
            <a:r>
              <a:t>LECTURER CUE</a:t>
            </a:r>
          </a:p>
          <a:p>
            <a:r>
              <a:t>Read each symbol before running. Ask everyone to predict. Expected output: (3, 1) then (3,). Explain nested brackets before model.fit(X, y). Keyword arguments such as random_state=42 name an option.</a:t>
            </a:r>
          </a:p>
          <a:p>
            <a:r>
              <a:t/>
            </a:r>
          </a:p>
          <a:p>
            <a:r>
              <a:t>EXPLAIN IN ORDINARY WORDS</a:t>
            </a:r>
          </a:p>
          <a:p>
            <a:r>
              <a:t>A list keeps items in order. Python positions start at zero. In [2,4,6], position 0 contains 2 and position 2 contains 6. A slice excludes its stop position.</a:t>
            </a:r>
          </a:p>
          <a:p>
            <a:r>
              <a:t/>
            </a:r>
          </a:p>
          <a:p>
            <a:r>
              <a:t>CHECK AND EXPECTED ANSWER</a:t>
            </a:r>
          </a:p>
          <a:p>
            <a:r>
              <a:t>What is [2,4,6][1]? 4. Is there a position 3? No.</a:t>
            </a:r>
          </a:p>
          <a:p>
            <a:r>
              <a:t/>
            </a:r>
          </a:p>
          <a:p>
            <a:r>
              <a:t>IF LEARNERS ARE STUCK</a:t>
            </a:r>
          </a:p>
          <a:p>
            <a:r>
              <a:t>Draw three numbered boxes starting at zero. Keep the position separate from the value stored in it.</a:t>
            </a:r>
          </a:p>
          <a:p>
            <a:r>
              <a:t/>
            </a:r>
          </a:p>
          <a:p>
            <a:r>
              <a:t>WALK THROUGH THIS CODE</a:t>
            </a:r>
          </a:p>
          <a:p>
            <a:r>
              <a:t>import loads a library. from selects a tool from it.</a:t>
            </a:r>
          </a:p>
          <a:p>
            <a:r>
              <a:t>print displays a value below the cell.</a:t>
            </a:r>
          </a:p>
          <a:p>
            <a:r>
              <a:t>Square brackets create a list or select an item.</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fit and predict.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fit and predict</a:t>
            </a:r>
          </a:p>
          <a:p>
            <a:r>
              <a:t/>
            </a:r>
          </a:p>
          <a:p>
            <a:r>
              <a:t>CONNECT</a:t>
            </a:r>
          </a:p>
          <a:p>
            <a:r>
              <a:t>Build on the preceding slide: Rows, columns and named options.</a:t>
            </a:r>
          </a:p>
          <a:p>
            <a:r>
              <a:t/>
            </a:r>
          </a:p>
          <a:p>
            <a:r>
              <a:t>EXPLAIN IN ORDINARY WORDS</a:t>
            </a:r>
          </a:p>
          <a:p>
            <a:r>
              <a:t>Creating a model chooses the kind of rule. fit learns from training inputs and known answers. predict applies the fitted rule to new inputs without receiving their answers.</a:t>
            </a:r>
          </a:p>
          <a:p>
            <a:r>
              <a:t/>
            </a:r>
          </a:p>
          <a:p>
            <a:r>
              <a:t>CHECK AND EXPECTED ANSWER</a:t>
            </a:r>
          </a:p>
          <a:p>
            <a:r>
              <a:t>Does creating a model object train it? No. It must be fitted before prediction.</a:t>
            </a:r>
          </a:p>
          <a:p>
            <a:r>
              <a:t/>
            </a:r>
          </a:p>
          <a:p>
            <a:r>
              <a:t>IF LEARNERS ARE STUCK</a:t>
            </a:r>
          </a:p>
          <a:p>
            <a:r>
              <a:t>Point to inputs, training answers, fit, then new inputs. Keep each input row paired with its own target.</a:t>
            </a:r>
          </a:p>
          <a:p>
            <a:r>
              <a:t/>
            </a:r>
          </a:p>
          <a:p>
            <a:r>
              <a:t>POINT TO THE DEFINITION</a:t>
            </a:r>
          </a:p>
          <a:p>
            <a:r>
              <a:t>fit and predict: fit learns from training inputs and targets. predict uses the fitted rule on new inputs without receiving their true targets.</a:t>
            </a:r>
          </a:p>
          <a:p>
            <a:r>
              <a:t/>
            </a:r>
          </a:p>
          <a:p>
            <a:r>
              <a:t>NEXT</a:t>
            </a:r>
          </a:p>
          <a:p>
            <a:r>
              <a:t>A model object keeps learned information.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model object keeps learned information</a:t>
            </a:r>
          </a:p>
          <a:p>
            <a:r>
              <a:t/>
            </a:r>
          </a:p>
          <a:p>
            <a:r>
              <a:t>CONNECT</a:t>
            </a:r>
          </a:p>
          <a:p>
            <a:r>
              <a:t>Build on the preceding slide: fit and predict.</a:t>
            </a:r>
          </a:p>
          <a:p>
            <a:r>
              <a:t/>
            </a:r>
          </a:p>
          <a:p>
            <a:r>
              <a:t>EXPLAIN IN ORDINARY WORDS</a:t>
            </a:r>
          </a:p>
          <a:p>
            <a:r>
              <a:t>Creating a model chooses the kind of rule. fit learns from training inputs and known answers. predict applies the fitted rule to new inputs without receiving their answers.</a:t>
            </a:r>
          </a:p>
          <a:p>
            <a:r>
              <a:t/>
            </a:r>
          </a:p>
          <a:p>
            <a:r>
              <a:t>CHECK AND EXPECTED ANSWER</a:t>
            </a:r>
          </a:p>
          <a:p>
            <a:r>
              <a:t>Does creating a model object train it? No. It must be fitted before prediction.</a:t>
            </a:r>
          </a:p>
          <a:p>
            <a:r>
              <a:t/>
            </a:r>
          </a:p>
          <a:p>
            <a:r>
              <a:t>IF LEARNERS ARE STUCK</a:t>
            </a:r>
          </a:p>
          <a:p>
            <a:r>
              <a:t>Point to inputs, training answers, fit, then new inputs. Keep each input row paired with its own target.</a:t>
            </a:r>
          </a:p>
          <a:p>
            <a:r>
              <a:t/>
            </a:r>
          </a:p>
          <a:p>
            <a:r>
              <a:t>POINT TO THE DEFINITION</a:t>
            </a:r>
          </a:p>
          <a:p>
            <a:r>
              <a:t>Object and method: LinearRegression() creates a model object. A method is an operation on that object. model.fit(...) stores learned information; model.predict(...) uses it.</a:t>
            </a:r>
          </a:p>
          <a:p>
            <a:r>
              <a:t>Options: An argument such as strategy="mean" names an option. A random seed fixes the starting state of random choices; it does not prove that a model is accurate.</a:t>
            </a:r>
          </a:p>
          <a:p>
            <a:r>
              <a:t/>
            </a:r>
          </a:p>
          <a:p>
            <a:r>
              <a:t>NEXT</a:t>
            </a:r>
          </a:p>
          <a:p>
            <a:r>
              <a:t>An object remembers its fitted state.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An object remembers its fitted state</a:t>
            </a:r>
          </a:p>
          <a:p>
            <a:r>
              <a:t/>
            </a:r>
          </a:p>
          <a:p>
            <a:r>
              <a:t>CONNECT</a:t>
            </a:r>
          </a:p>
          <a:p>
            <a:r>
              <a:t>Build on the preceding slide: A model object keeps learned information.</a:t>
            </a:r>
          </a:p>
          <a:p>
            <a:r>
              <a:t/>
            </a:r>
          </a:p>
          <a:p>
            <a:r>
              <a:t>LECTURER CUE</a:t>
            </a:r>
          </a:p>
          <a:p>
            <a:r>
              <a:t>Read one row at a time and use a changed value. This is a syntax reference for the worked examples.</a:t>
            </a:r>
          </a:p>
          <a:p>
            <a:r>
              <a:t/>
            </a:r>
          </a:p>
          <a:p>
            <a:r>
              <a:t>EXPLAIN IN ORDINARY WORDS</a:t>
            </a:r>
          </a:p>
          <a:p>
            <a:r>
              <a:t>Creating a model chooses the kind of rule. fit learns from training inputs and known answers. predict applies the fitted rule to new inputs without receiving their answers.</a:t>
            </a:r>
          </a:p>
          <a:p>
            <a:r>
              <a:t/>
            </a:r>
          </a:p>
          <a:p>
            <a:r>
              <a:t>CHECK AND EXPECTED ANSWER</a:t>
            </a:r>
          </a:p>
          <a:p>
            <a:r>
              <a:t>Does creating a model object train it? No. It must be fitted before prediction.</a:t>
            </a:r>
          </a:p>
          <a:p>
            <a:r>
              <a:t/>
            </a:r>
          </a:p>
          <a:p>
            <a:r>
              <a:t>IF LEARNERS ARE STUCK</a:t>
            </a:r>
          </a:p>
          <a:p>
            <a:r>
              <a:t>Point to inputs, training answers, fit, then new inputs. Keep each input row paired with its own target.</a:t>
            </a:r>
          </a:p>
          <a:p>
            <a:r>
              <a:t/>
            </a:r>
          </a:p>
          <a:p>
            <a:r>
              <a:t>READ THE VISUAL</a:t>
            </a:r>
          </a:p>
          <a:p>
            <a:r>
              <a:t>Start with the title and labels. Read one row or mark aloud, including its unit. Let a learner read a second one before discussing the pattern. Do not infer a numerical value from an unlabelled drawing.</a:t>
            </a:r>
          </a:p>
          <a:p>
            <a:r>
              <a:t/>
            </a:r>
          </a:p>
          <a:p>
            <a:r>
              <a:t>NEXT</a:t>
            </a:r>
          </a:p>
          <a:p>
            <a:r>
              <a:t>Creating, fitting and predicting.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Creating, fitting and predicting</a:t>
            </a:r>
          </a:p>
          <a:p>
            <a:r>
              <a:t/>
            </a:r>
          </a:p>
          <a:p>
            <a:r>
              <a:t>CONNECT</a:t>
            </a:r>
          </a:p>
          <a:p>
            <a:r>
              <a:t>Build on the preceding slide: An object remembers its fitted state.</a:t>
            </a:r>
          </a:p>
          <a:p>
            <a:r>
              <a:t/>
            </a:r>
          </a:p>
          <a:p>
            <a:r>
              <a:t>LECTURER CUE</a:t>
            </a:r>
          </a:p>
          <a:p>
            <a:r>
              <a:t>Read imports and model creation separately. The model line creates an unfitted object. fit learns; predict applies. Explain the shallow tree now because the W08 assignment asks for it, then revisit classification trees in Week 9.</a:t>
            </a:r>
          </a:p>
          <a:p>
            <a:r>
              <a:t/>
            </a:r>
          </a:p>
          <a:p>
            <a:r>
              <a:t>EXPLAIN IN ORDINARY WORDS</a:t>
            </a:r>
          </a:p>
          <a:p>
            <a:r>
              <a:t>Creating a model chooses the kind of rule. fit learns from training inputs and known answers. predict applies the fitted rule to new inputs without receiving their answers.</a:t>
            </a:r>
          </a:p>
          <a:p>
            <a:r>
              <a:t/>
            </a:r>
          </a:p>
          <a:p>
            <a:r>
              <a:t>CHECK AND EXPECTED ANSWER</a:t>
            </a:r>
          </a:p>
          <a:p>
            <a:r>
              <a:t>Does creating a model object train it? No. It must be fitted before prediction.</a:t>
            </a:r>
          </a:p>
          <a:p>
            <a:r>
              <a:t/>
            </a:r>
          </a:p>
          <a:p>
            <a:r>
              <a:t>IF LEARNERS ARE STUCK</a:t>
            </a:r>
          </a:p>
          <a:p>
            <a:r>
              <a:t>Point to inputs, training answers, fit, then new inputs. Keep each input row paired with its own target.</a:t>
            </a:r>
          </a:p>
          <a:p>
            <a:r>
              <a:t/>
            </a:r>
          </a:p>
          <a:p>
            <a:r>
              <a:t>NEXT</a:t>
            </a:r>
          </a:p>
          <a:p>
            <a:r>
              <a:t>Worked example.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Worked example</a:t>
            </a:r>
          </a:p>
          <a:p>
            <a:r>
              <a:t/>
            </a:r>
          </a:p>
          <a:p>
            <a:r>
              <a:t>CONNECT</a:t>
            </a:r>
          </a:p>
          <a:p>
            <a:r>
              <a:t>Build on the preceding slide: Creating, fitting and predicting.</a:t>
            </a:r>
          </a:p>
          <a:p>
            <a:r>
              <a:t/>
            </a:r>
          </a:p>
          <a:p>
            <a:r>
              <a:t>LECTURER CUE</a:t>
            </a:r>
          </a:p>
          <a:p>
            <a:r>
              <a:t>Use the small invented table below solely to see fit and predict. Real training needs more data, representative evaluation and careful partitioning. A list of lists is a table: each inner list holds the features of one observation. y_train holds one target per training row in the same order. Never reorder one without the other. Read imports and model creation separately. The model line creates an unfitted object. fit learns; predict applies. Explain the shallow tree now because the W08 assignment asks for it, then revisit classification trees in Week 9.</a:t>
            </a:r>
          </a:p>
          <a:p>
            <a:r>
              <a:t/>
            </a:r>
          </a:p>
          <a:p>
            <a:r>
              <a:t>Complete practice code:</a:t>
            </a:r>
          </a:p>
          <a:p>
            <a:r>
              <a:t>from sklearn.linear_model import LinearRegression</a:t>
            </a:r>
          </a:p>
          <a:p>
            <a:r>
              <a:t>X_train = [[1], [2], [3], [4]]</a:t>
            </a:r>
          </a:p>
          <a:p>
            <a:r>
              <a:t>y_train = [12, 14, 16, 18]</a:t>
            </a:r>
          </a:p>
          <a:p>
            <a:r>
              <a:t>new_inputs = [[2.5]]</a:t>
            </a:r>
          </a:p>
          <a:p>
            <a:r>
              <a:t/>
            </a:r>
          </a:p>
          <a:p>
            <a:r>
              <a:t>EXPLAIN IN ORDINARY WORDS</a:t>
            </a:r>
          </a:p>
          <a:p>
            <a:r>
              <a:t>A feature is an input available when predicting. The target is the answer to learn from. Regression predicts a number; classification predicts a category. Learning patterns does not by itself establish cause.</a:t>
            </a:r>
          </a:p>
          <a:p>
            <a:r>
              <a:t/>
            </a:r>
          </a:p>
          <a:p>
            <a:r>
              <a:t>CHECK AND EXPECTED ANSWER</a:t>
            </a:r>
          </a:p>
          <a:p>
            <a:r>
              <a:t>Predicting concrete strength: regression. Predicting pass/fail: classification. Is a later test result available before that test? No.</a:t>
            </a:r>
          </a:p>
          <a:p>
            <a:r>
              <a:t/>
            </a:r>
          </a:p>
          <a:p>
            <a:r>
              <a:t>IF LEARNERS ARE STUCK</a:t>
            </a:r>
          </a:p>
          <a:p>
            <a:r>
              <a:t>Describe the engineering decision in everyday language, then label one row, an input and its answer. Compare with a rule you could write directly.</a:t>
            </a:r>
          </a:p>
          <a:p>
            <a:r>
              <a:t/>
            </a:r>
          </a:p>
          <a:p>
            <a:r>
              <a:t>WALK THROUGH THIS CODE</a:t>
            </a:r>
          </a:p>
          <a:p>
            <a:r>
              <a:t>import loads a library. from selects a tool from it.</a:t>
            </a:r>
          </a:p>
          <a:p>
            <a:r>
              <a:t>Square brackets create a list or select an item.</a:t>
            </a:r>
          </a:p>
          <a:p>
            <a:r>
              <a:t>= assigns the value on the right to the name on the left.</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Worked example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Worked example continued</a:t>
            </a:r>
          </a:p>
          <a:p>
            <a:r>
              <a:t/>
            </a:r>
          </a:p>
          <a:p>
            <a:r>
              <a:t>CONNECT</a:t>
            </a:r>
          </a:p>
          <a:p>
            <a:r>
              <a:t>Build on the preceding slide: Worked example.</a:t>
            </a:r>
          </a:p>
          <a:p>
            <a:r>
              <a:t/>
            </a:r>
          </a:p>
          <a:p>
            <a:r>
              <a:t>LECTURER CUE</a:t>
            </a:r>
          </a:p>
          <a:p>
            <a:r>
              <a:t>Use the small invented table below solely to see fit and predict. Real training needs more data, representative evaluation and careful partitioning. A list of lists is a table: each inner list holds the features of one observation. y_train holds one target per training row in the same order. Never reorder one without the other. Read imports and model creation separately. The model line creates an unfitted object. fit learns; predict applies. Explain the shallow tree now because the W08 assignment asks for it, then revisit classification trees in Week 9.</a:t>
            </a:r>
          </a:p>
          <a:p>
            <a:r>
              <a:t/>
            </a:r>
          </a:p>
          <a:p>
            <a:r>
              <a:t>Complete practice code:</a:t>
            </a:r>
          </a:p>
          <a:p>
            <a:r>
              <a:t>model = LinearRegression()</a:t>
            </a:r>
          </a:p>
          <a:p>
            <a:r>
              <a:t>model.fit(X_train, y_train)</a:t>
            </a:r>
          </a:p>
          <a:p>
            <a:r>
              <a:t/>
            </a:r>
          </a:p>
          <a:p>
            <a:r>
              <a:t>EXPLAIN IN ORDINARY WORDS</a:t>
            </a:r>
          </a:p>
          <a:p>
            <a:r>
              <a:t>A feature is an input available when predicting. The target is the answer to learn from. Regression predicts a number; classification predicts a category. Learning patterns does not by itself establish cause.</a:t>
            </a:r>
          </a:p>
          <a:p>
            <a:r>
              <a:t/>
            </a:r>
          </a:p>
          <a:p>
            <a:r>
              <a:t>CHECK AND EXPECTED ANSWER</a:t>
            </a:r>
          </a:p>
          <a:p>
            <a:r>
              <a:t>Predicting concrete strength: regression. Predicting pass/fail: classification. Is a later test result available before that test? No.</a:t>
            </a:r>
          </a:p>
          <a:p>
            <a:r>
              <a:t/>
            </a:r>
          </a:p>
          <a:p>
            <a:r>
              <a:t>IF LEARNERS ARE STUCK</a:t>
            </a:r>
          </a:p>
          <a:p>
            <a:r>
              <a:t>Describe the engineering decision in everyday language, then label one row, an input and its answer. Compare with a rule you could write directly.</a:t>
            </a:r>
          </a:p>
          <a:p>
            <a:r>
              <a:t/>
            </a:r>
          </a:p>
          <a:p>
            <a:r>
              <a:t>WALK THROUGH THIS CODE</a:t>
            </a:r>
          </a:p>
          <a:p>
            <a:r>
              <a:t>fit learns using the supplied training observations.</a:t>
            </a:r>
          </a:p>
          <a:p>
            <a:r>
              <a:t>= assigns the value on the right to the name on the left.</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Worked example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Worked example continued</a:t>
            </a:r>
          </a:p>
          <a:p>
            <a:r>
              <a:t/>
            </a:r>
          </a:p>
          <a:p>
            <a:r>
              <a:t>CONNECT</a:t>
            </a:r>
          </a:p>
          <a:p>
            <a:r>
              <a:t>Build on the preceding slide: Worked example continued.</a:t>
            </a:r>
          </a:p>
          <a:p>
            <a:r>
              <a:t/>
            </a:r>
          </a:p>
          <a:p>
            <a:r>
              <a:t>LECTURER CUE</a:t>
            </a:r>
          </a:p>
          <a:p>
            <a:r>
              <a:t>Use the small invented table below solely to see fit and predict. Real training needs more data, representative evaluation and careful partitioning. A list of lists is a table: each inner list holds the features of one observation. y_train holds one target per training row in the same order. Never reorder one without the other. Read imports and model creation separately. The model line creates an unfitted object. fit learns; predict applies. Explain the shallow tree now because the W08 assignment asks for it, then revisit classification trees in Week 9.</a:t>
            </a:r>
          </a:p>
          <a:p>
            <a:r>
              <a:t/>
            </a:r>
          </a:p>
          <a:p>
            <a:r>
              <a:t>Complete practice code:</a:t>
            </a:r>
          </a:p>
          <a:p>
            <a:r>
              <a:t>predictions = model.predict(new_inputs)</a:t>
            </a:r>
          </a:p>
          <a:p>
            <a:r>
              <a:t>print(predictions.round(2).tolist())</a:t>
            </a:r>
          </a:p>
          <a:p>
            <a:r>
              <a:t/>
            </a:r>
          </a:p>
          <a:p>
            <a:r>
              <a:t>EXPLAIN IN ORDINARY WORDS</a:t>
            </a:r>
          </a:p>
          <a:p>
            <a:r>
              <a:t>A list keeps items in order. Python positions start at zero. In [2,4,6], position 0 contains 2 and position 2 contains 6. A slice excludes its stop position.</a:t>
            </a:r>
          </a:p>
          <a:p>
            <a:r>
              <a:t/>
            </a:r>
          </a:p>
          <a:p>
            <a:r>
              <a:t>CHECK AND EXPECTED ANSWER</a:t>
            </a:r>
          </a:p>
          <a:p>
            <a:r>
              <a:t>What is [2,4,6][1]? 4. Is there a position 3? No.</a:t>
            </a:r>
          </a:p>
          <a:p>
            <a:r>
              <a:t/>
            </a:r>
          </a:p>
          <a:p>
            <a:r>
              <a:t>IF LEARNERS ARE STUCK</a:t>
            </a:r>
          </a:p>
          <a:p>
            <a:r>
              <a:t>Draw three numbered boxes starting at zero. Keep the position separate from the value stored in it.</a:t>
            </a:r>
          </a:p>
          <a:p>
            <a:r>
              <a:t/>
            </a:r>
          </a:p>
          <a:p>
            <a:r>
              <a:t>WALK THROUGH THIS CODE</a:t>
            </a:r>
          </a:p>
          <a:p>
            <a:r>
              <a:t>predict applies the fitted model to new inputs.</a:t>
            </a:r>
          </a:p>
          <a:p>
            <a:r>
              <a:t>print displays a value below the cell.</a:t>
            </a:r>
          </a:p>
          <a:p>
            <a:r>
              <a:t>= assigns the value on the right to the name on the left.</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Expected output.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Expected output</a:t>
            </a:r>
          </a:p>
          <a:p>
            <a:r>
              <a:t/>
            </a:r>
          </a:p>
          <a:p>
            <a:r>
              <a:t>CONNECT</a:t>
            </a:r>
          </a:p>
          <a:p>
            <a:r>
              <a:t>Build on the preceding slide: Worked example continued.</a:t>
            </a:r>
          </a:p>
          <a:p>
            <a:r>
              <a:t/>
            </a:r>
          </a:p>
          <a:p>
            <a:r>
              <a:t>LECTURER CUE</a:t>
            </a:r>
          </a:p>
          <a:p>
            <a:r>
              <a:t>Compare the actual output character by character with this practice result. If it differs, read the first error and check the input, units, names and execution order. Do not copy this practice output into a graded answer.</a:t>
            </a:r>
          </a:p>
          <a:p>
            <a:r>
              <a:t/>
            </a:r>
          </a:p>
          <a:p>
            <a:r>
              <a:t>NEXT</a:t>
            </a:r>
          </a:p>
          <a:p>
            <a:r>
              <a:t>The mean baseline.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The mean baseline</a:t>
            </a:r>
          </a:p>
          <a:p>
            <a:r>
              <a:t/>
            </a:r>
          </a:p>
          <a:p>
            <a:r>
              <a:t>CONNECT</a:t>
            </a:r>
          </a:p>
          <a:p>
            <a:r>
              <a:t>Build on the preceding slide: Expected output.</a:t>
            </a:r>
          </a:p>
          <a:p>
            <a:r>
              <a:t/>
            </a:r>
          </a:p>
          <a:p>
            <a:r>
              <a:t>LECTURER CUE</a:t>
            </a:r>
          </a:p>
          <a:p>
            <a:r>
              <a:t>Use the same training data. This baseline learns their mean, 15, and predicts it for every input. It gives a simple comparison before claiming the line helps.</a:t>
            </a:r>
          </a:p>
          <a:p>
            <a:r>
              <a:t/>
            </a:r>
          </a:p>
          <a:p>
            <a:r>
              <a:t>EXPLAIN IN ORDINARY WORDS</a:t>
            </a:r>
          </a:p>
          <a:p>
            <a:r>
              <a:t>A baseline is a deliberately simple reference. For numeric prediction, one example always predicts the training target mean. A more complicated model must earn its complexity by improving a fair comparison.</a:t>
            </a:r>
          </a:p>
          <a:p>
            <a:r>
              <a:t/>
            </a:r>
          </a:p>
          <a:p>
            <a:r>
              <a:t>CHECK AND EXPECTED ANSWER</a:t>
            </a:r>
          </a:p>
          <a:p>
            <a:r>
              <a:t>Why compute the constant from training targets? Evaluation answers must not influence a deployed prediction rule.</a:t>
            </a:r>
          </a:p>
          <a:p>
            <a:r>
              <a:t/>
            </a:r>
          </a:p>
          <a:p>
            <a:r>
              <a:t>IF LEARNERS ARE STUCK</a:t>
            </a:r>
          </a:p>
          <a:p>
            <a:r>
              <a:t>Use training targets 2,4,6: the mean baseline predicts 4 for every new row, whatever its inputs.</a:t>
            </a:r>
          </a:p>
          <a:p>
            <a:r>
              <a:t/>
            </a:r>
          </a:p>
          <a:p>
            <a:r>
              <a:t>NEXT</a:t>
            </a:r>
          </a:p>
          <a:p>
            <a:r>
              <a:t>The mean baseline in Python.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The mean baseline in Python</a:t>
            </a:r>
          </a:p>
          <a:p>
            <a:r>
              <a:t/>
            </a:r>
          </a:p>
          <a:p>
            <a:r>
              <a:t>CONNECT</a:t>
            </a:r>
          </a:p>
          <a:p>
            <a:r>
              <a:t>Build on the preceding slide: The mean baseline.</a:t>
            </a:r>
          </a:p>
          <a:p>
            <a:r>
              <a:t/>
            </a:r>
          </a:p>
          <a:p>
            <a:r>
              <a:t>LECTURER CUE</a:t>
            </a:r>
          </a:p>
          <a:p>
            <a:r>
              <a:t>Use the same training data. This baseline learns their mean, 15, and predicts it for every input. It gives a simple comparison before claiming the line helps.</a:t>
            </a:r>
          </a:p>
          <a:p>
            <a:r>
              <a:t/>
            </a:r>
          </a:p>
          <a:p>
            <a:r>
              <a:t>Complete practice code:</a:t>
            </a:r>
          </a:p>
          <a:p>
            <a:r>
              <a:t>from sklearn.dummy import DummyRegressor</a:t>
            </a:r>
          </a:p>
          <a:p>
            <a:r>
              <a:t>baseline = DummyRegressor(strategy="mean")</a:t>
            </a:r>
          </a:p>
          <a:p>
            <a:r>
              <a:t>baseline.fit(X_train, y_train)</a:t>
            </a:r>
          </a:p>
          <a:p>
            <a:r>
              <a:t>print(baseline.predict(new_inputs).tolist())</a:t>
            </a:r>
          </a:p>
          <a:p>
            <a:r>
              <a:t/>
            </a:r>
          </a:p>
          <a:p>
            <a:r>
              <a:t>EXPLAIN IN ORDINARY WORDS</a:t>
            </a:r>
          </a:p>
          <a:p>
            <a:r>
              <a:t>A baseline is a deliberately simple reference. For numeric prediction, one example always predicts the training target mean. A more complicated model must earn its complexity by improving a fair comparison.</a:t>
            </a:r>
          </a:p>
          <a:p>
            <a:r>
              <a:t/>
            </a:r>
          </a:p>
          <a:p>
            <a:r>
              <a:t>CHECK AND EXPECTED ANSWER</a:t>
            </a:r>
          </a:p>
          <a:p>
            <a:r>
              <a:t>Why compute the constant from training targets? Evaluation answers must not influence a deployed prediction rule.</a:t>
            </a:r>
          </a:p>
          <a:p>
            <a:r>
              <a:t/>
            </a:r>
          </a:p>
          <a:p>
            <a:r>
              <a:t>IF LEARNERS ARE STUCK</a:t>
            </a:r>
          </a:p>
          <a:p>
            <a:r>
              <a:t>Use training targets 2,4,6: the mean baseline predicts 4 for every new row, whatever its inputs.</a:t>
            </a:r>
          </a:p>
          <a:p>
            <a:r>
              <a:t/>
            </a:r>
          </a:p>
          <a:p>
            <a:r>
              <a:t>WALK THROUGH THIS CODE</a:t>
            </a:r>
          </a:p>
          <a:p>
            <a:r>
              <a:t>import loads a library. from selects a tool from it.</a:t>
            </a:r>
          </a:p>
          <a:p>
            <a:r>
              <a:t>fit learns using the supplied training observations.</a:t>
            </a:r>
          </a:p>
          <a:p>
            <a:r>
              <a:t>predict applies the fitted model to new inputs.</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A small regression tree.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small regression tree</a:t>
            </a:r>
          </a:p>
          <a:p>
            <a:r>
              <a:t/>
            </a:r>
          </a:p>
          <a:p>
            <a:r>
              <a:t>CONNECT</a:t>
            </a:r>
          </a:p>
          <a:p>
            <a:r>
              <a:t>Build on the preceding slide: The mean baseline in Python.</a:t>
            </a:r>
          </a:p>
          <a:p>
            <a:r>
              <a:t/>
            </a:r>
          </a:p>
          <a:p>
            <a:r>
              <a:t>LECTURER CUE</a:t>
            </a:r>
          </a:p>
          <a:p>
            <a:r>
              <a:t>A tree learns threshold questions from the training inputs. Each final group, or leaf, predicts a target value. This tree returns 14 for input 2.5 in this toy example. max_depth limits the number of successive decisions. random_state fixes the random seed.</a:t>
            </a:r>
          </a:p>
          <a:p>
            <a:r>
              <a:t/>
            </a:r>
          </a:p>
          <a:p>
            <a:r>
              <a:t>EXPLAIN IN ORDINARY WORDS</a:t>
            </a:r>
          </a:p>
          <a:p>
            <a:r>
              <a:t>Creating a model chooses the kind of rule. fit learns from training inputs and known answers. predict applies the fitted rule to new inputs without receiving their answers.</a:t>
            </a:r>
          </a:p>
          <a:p>
            <a:r>
              <a:t/>
            </a:r>
          </a:p>
          <a:p>
            <a:r>
              <a:t>CHECK AND EXPECTED ANSWER</a:t>
            </a:r>
          </a:p>
          <a:p>
            <a:r>
              <a:t>Does creating a model object train it? No. It must be fitted before prediction.</a:t>
            </a:r>
          </a:p>
          <a:p>
            <a:r>
              <a:t/>
            </a:r>
          </a:p>
          <a:p>
            <a:r>
              <a:t>IF LEARNERS ARE STUCK</a:t>
            </a:r>
          </a:p>
          <a:p>
            <a:r>
              <a:t>Point to inputs, training answers, fit, then new inputs. Keep each input row paired with its own target.</a:t>
            </a:r>
          </a:p>
          <a:p>
            <a:r>
              <a:t/>
            </a:r>
          </a:p>
          <a:p>
            <a:r>
              <a:t>NEXT</a:t>
            </a:r>
          </a:p>
          <a:p>
            <a:r>
              <a:t>A small regression tree in Python.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small regression tree in Python</a:t>
            </a:r>
          </a:p>
          <a:p>
            <a:r>
              <a:t/>
            </a:r>
          </a:p>
          <a:p>
            <a:r>
              <a:t>CONNECT</a:t>
            </a:r>
          </a:p>
          <a:p>
            <a:r>
              <a:t>Build on the preceding slide: A small regression tree.</a:t>
            </a:r>
          </a:p>
          <a:p>
            <a:r>
              <a:t/>
            </a:r>
          </a:p>
          <a:p>
            <a:r>
              <a:t>LECTURER CUE</a:t>
            </a:r>
          </a:p>
          <a:p>
            <a:r>
              <a:t>A tree learns threshold questions from the training inputs. Each final group, or leaf, predicts a target value. This tree returns 14 for input 2.5 in this toy example. max_depth limits the number of successive decisions. random_state fixes the random seed.</a:t>
            </a:r>
          </a:p>
          <a:p>
            <a:r>
              <a:t/>
            </a:r>
          </a:p>
          <a:p>
            <a:r>
              <a:t>Complete practice code:</a:t>
            </a:r>
          </a:p>
          <a:p>
            <a:r>
              <a:t>from sklearn.tree import DecisionTreeRegressor</a:t>
            </a:r>
          </a:p>
          <a:p>
            <a:r>
              <a:t>tree = DecisionTreeRegressor(max_depth=4, random_state=17)</a:t>
            </a:r>
          </a:p>
          <a:p>
            <a:r>
              <a:t>tree.fit(X_train, y_train)</a:t>
            </a:r>
          </a:p>
          <a:p>
            <a:r>
              <a:t>print(tree.predict(new_inputs).tolist())</a:t>
            </a:r>
          </a:p>
          <a:p>
            <a:r>
              <a:t/>
            </a:r>
          </a:p>
          <a:p>
            <a:r>
              <a:t>EXPLAIN IN ORDINARY WORDS</a:t>
            </a:r>
          </a:p>
          <a:p>
            <a:r>
              <a:t>Creating a model chooses the kind of rule. fit learns from training inputs and known answers. predict applies the fitted rule to new inputs without receiving their answers.</a:t>
            </a:r>
          </a:p>
          <a:p>
            <a:r>
              <a:t/>
            </a:r>
          </a:p>
          <a:p>
            <a:r>
              <a:t>CHECK AND EXPECTED ANSWER</a:t>
            </a:r>
          </a:p>
          <a:p>
            <a:r>
              <a:t>Does creating a model object train it? No. It must be fitted before prediction.</a:t>
            </a:r>
          </a:p>
          <a:p>
            <a:r>
              <a:t/>
            </a:r>
          </a:p>
          <a:p>
            <a:r>
              <a:t>IF LEARNERS ARE STUCK</a:t>
            </a:r>
          </a:p>
          <a:p>
            <a:r>
              <a:t>Point to inputs, training answers, fit, then new inputs. Keep each input row paired with its own target.</a:t>
            </a:r>
          </a:p>
          <a:p>
            <a:r>
              <a:t/>
            </a:r>
          </a:p>
          <a:p>
            <a:r>
              <a:t>WALK THROUGH THIS CODE</a:t>
            </a:r>
          </a:p>
          <a:p>
            <a:r>
              <a:t>import loads a library. from selects a tool from it.</a:t>
            </a:r>
          </a:p>
          <a:p>
            <a:r>
              <a:t>fit learns using the supplied training observations.</a:t>
            </a:r>
          </a:p>
          <a:p>
            <a:r>
              <a:t>predict applies the fitted model to new inputs.</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Reuse the same preparation on new inputs.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Reuse the same preparation on new inputs</a:t>
            </a:r>
          </a:p>
          <a:p>
            <a:r>
              <a:t/>
            </a:r>
          </a:p>
          <a:p>
            <a:r>
              <a:t>CONNECT</a:t>
            </a:r>
          </a:p>
          <a:p>
            <a:r>
              <a:t>Build on the preceding slide: A small regression tree in Python.</a:t>
            </a:r>
          </a:p>
          <a:p>
            <a:r>
              <a:t/>
            </a:r>
          </a:p>
          <a:p>
            <a:r>
              <a:t>EXPLAIN IN ORDINARY WORDS</a:t>
            </a:r>
          </a:p>
          <a:p>
            <a:r>
              <a:t>Missing means not recorded, not automatically zero. Decide why it is missing and document the rule. Fitted fill values must come from training data when evaluating a model.</a:t>
            </a:r>
          </a:p>
          <a:p>
            <a:r>
              <a:t/>
            </a:r>
          </a:p>
          <a:p>
            <a:r>
              <a:t>CHECK AND EXPECTED ANSWER</a:t>
            </a:r>
          </a:p>
          <a:p>
            <a:r>
              <a:t>Is an unrecorded energy reading evidence of zero consumption? No.</a:t>
            </a:r>
          </a:p>
          <a:p>
            <a:r>
              <a:t/>
            </a:r>
          </a:p>
          <a:p>
            <a:r>
              <a:t>IF LEARNERS ARE STUCK</a:t>
            </a:r>
          </a:p>
          <a:p>
            <a:r>
              <a:t>Use three rows: a recorded zero, a recorded positive value and a blank. Explain their different meanings before cleaning.</a:t>
            </a:r>
          </a:p>
          <a:p>
            <a:r>
              <a:t/>
            </a:r>
          </a:p>
          <a:p>
            <a:r>
              <a:t>POINT TO THE DEFINITION</a:t>
            </a:r>
          </a:p>
          <a:p>
            <a:r>
              <a:t>Imputer: An imputer fills missing feature values using a stated rule. Fit learns the replacement from training observations only. Prediction reuses that stored replacement.</a:t>
            </a:r>
          </a:p>
          <a:p>
            <a:r>
              <a:t>Pipeline: A pipeline connects preprocessing and a model. make_pipeline creates that connection. Its fit learns both stages on training data; predict applies them to new features.</a:t>
            </a:r>
          </a:p>
          <a:p>
            <a:r>
              <a:t/>
            </a:r>
          </a:p>
          <a:p>
            <a:r>
              <a:t>NEXT</a:t>
            </a:r>
          </a:p>
          <a:p>
            <a:r>
              <a:t>Preprocessing learned from training only.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Preprocessing learned from training only</a:t>
            </a:r>
          </a:p>
          <a:p>
            <a:r>
              <a:t/>
            </a:r>
          </a:p>
          <a:p>
            <a:r>
              <a:t>CONNECT</a:t>
            </a:r>
          </a:p>
          <a:p>
            <a:r>
              <a:t>Build on the preceding slide: Reuse the same preparation on new inputs.</a:t>
            </a:r>
          </a:p>
          <a:p>
            <a:r>
              <a:t/>
            </a:r>
          </a:p>
          <a:p>
            <a:r>
              <a:t>LECTURER CUE</a:t>
            </a:r>
          </a:p>
          <a:p>
            <a:r>
              <a:t>SimpleImputer learns one median for each training column. make_pipeline connects this step to the model. fit learns both steps using only the training examples. predict reuses them on new inputs. No target is supplied to predict. The two inputs here are invented practice measurements.</a:t>
            </a:r>
          </a:p>
          <a:p>
            <a:r>
              <a:t/>
            </a:r>
          </a:p>
          <a:p>
            <a:r>
              <a:t>EXPLAIN IN ORDINARY WORDS</a:t>
            </a:r>
          </a:p>
          <a:p>
            <a:r>
              <a:t>Training fits rules. Validation helps choose among rules. The final test estimates performance after choices are fixed. Information that would be unavailable at the real prediction time must stay out of the inputs.</a:t>
            </a:r>
          </a:p>
          <a:p>
            <a:r>
              <a:t/>
            </a:r>
          </a:p>
          <a:p>
            <a:r>
              <a:t>CHECK AND EXPECTED ANSWER</a:t>
            </a:r>
          </a:p>
          <a:p>
            <a:r>
              <a:t>May two readings of the same machine appear on both sides when evaluating new machines? No; split by machine. For forecasting, train on the past and evaluate later time.</a:t>
            </a:r>
          </a:p>
          <a:p>
            <a:r>
              <a:t/>
            </a:r>
          </a:p>
          <a:p>
            <a:r>
              <a:t>IF LEARNERS ARE STUCK</a:t>
            </a:r>
          </a:p>
          <a:p>
            <a:r>
              <a:t>Use three envelopes. Keep the final-test envelope closed while selecting features or settings.</a:t>
            </a:r>
          </a:p>
          <a:p>
            <a:r>
              <a:t/>
            </a:r>
          </a:p>
          <a:p>
            <a:r>
              <a:t>NEXT</a:t>
            </a:r>
          </a:p>
          <a:p>
            <a:r>
              <a:t>Preprocessing learned from training only in Python (1/2).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Preprocessing learned from training only in Python (1/2)</a:t>
            </a:r>
          </a:p>
          <a:p>
            <a:r>
              <a:t/>
            </a:r>
          </a:p>
          <a:p>
            <a:r>
              <a:t>CONNECT</a:t>
            </a:r>
          </a:p>
          <a:p>
            <a:r>
              <a:t>Build on the preceding slide: Preprocessing learned from training only.</a:t>
            </a:r>
          </a:p>
          <a:p>
            <a:r>
              <a:t/>
            </a:r>
          </a:p>
          <a:p>
            <a:r>
              <a:t>LECTURER CUE</a:t>
            </a:r>
          </a:p>
          <a:p>
            <a:r>
              <a:t>SimpleImputer learns one median for each training column. make_pipeline connects this step to the model. fit learns both steps using only the training examples. predict reuses them on new inputs. No target is supplied to predict. The two inputs here are invented practice measurements.</a:t>
            </a:r>
          </a:p>
          <a:p>
            <a:r>
              <a:t/>
            </a:r>
          </a:p>
          <a:p>
            <a:r>
              <a:t>Complete practice code:</a:t>
            </a:r>
          </a:p>
          <a:p>
            <a:r>
              <a:t>from sklearn.impute import SimpleImputer</a:t>
            </a:r>
          </a:p>
          <a:p>
            <a:r>
              <a:t>from sklearn.pipeline import make_pipeline</a:t>
            </a:r>
          </a:p>
          <a:p>
            <a:r>
              <a:t>import numpy as np</a:t>
            </a:r>
          </a:p>
          <a:p>
            <a:r>
              <a:t>train_inputs = [[1, 20], [2, 22], [3, np.nan], [4, 24]]</a:t>
            </a:r>
          </a:p>
          <a:p>
            <a:r>
              <a:t>train_targets = [12, 14, 16, 18]</a:t>
            </a:r>
          </a:p>
          <a:p>
            <a:r>
              <a:t>imputer = SimpleImputer(strategy="median")</a:t>
            </a:r>
          </a:p>
          <a:p>
            <a:r>
              <a:t>model = LinearRegression()</a:t>
            </a:r>
          </a:p>
          <a:p>
            <a:r>
              <a:t>pipeline = make_pipeline(imputer, model)</a:t>
            </a:r>
          </a:p>
          <a:p>
            <a:r>
              <a:t>pipeline.fit(train_inputs, train_targets)</a:t>
            </a:r>
          </a:p>
          <a:p>
            <a:r>
              <a:t>predictions = pipeline.predict([[2.5, np.nan]])</a:t>
            </a:r>
          </a:p>
          <a:p>
            <a:r>
              <a:t>print(predictions.round(2).tolist())</a:t>
            </a:r>
          </a:p>
          <a:p>
            <a:r>
              <a:t/>
            </a:r>
          </a:p>
          <a:p>
            <a:r>
              <a:t>EXPLAIN IN ORDINARY WORDS</a:t>
            </a:r>
          </a:p>
          <a:p>
            <a:r>
              <a:t>Training fits rules. Validation helps choose among rules. The final test estimates performance after choices are fixed. Information that would be unavailable at the real prediction time must stay out of the inputs.</a:t>
            </a:r>
          </a:p>
          <a:p>
            <a:r>
              <a:t/>
            </a:r>
          </a:p>
          <a:p>
            <a:r>
              <a:t>CHECK AND EXPECTED ANSWER</a:t>
            </a:r>
          </a:p>
          <a:p>
            <a:r>
              <a:t>May two readings of the same machine appear on both sides when evaluating new machines? No; split by machine. For forecasting, train on the past and evaluate later time.</a:t>
            </a:r>
          </a:p>
          <a:p>
            <a:r>
              <a:t/>
            </a:r>
          </a:p>
          <a:p>
            <a:r>
              <a:t>IF LEARNERS ARE STUCK</a:t>
            </a:r>
          </a:p>
          <a:p>
            <a:r>
              <a:t>Use three envelopes. Keep the final-test envelope closed while selecting features or settings.</a:t>
            </a:r>
          </a:p>
          <a:p>
            <a:r>
              <a:t/>
            </a:r>
          </a:p>
          <a:p>
            <a:r>
              <a:t>WALK THROUGH THIS CODE</a:t>
            </a:r>
          </a:p>
          <a:p>
            <a:r>
              <a:t>import loads a library. from selects a tool from it.</a:t>
            </a:r>
          </a:p>
          <a:p>
            <a:r>
              <a:t>fit learns using the supplied training observations.</a:t>
            </a:r>
          </a:p>
          <a:p>
            <a:r>
              <a:t>Square brackets create a list or select an item.</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Preprocessing learned from training only in Python (2/2).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Preprocessing learned from training only in Python (2/2)</a:t>
            </a:r>
          </a:p>
          <a:p>
            <a:r>
              <a:t/>
            </a:r>
          </a:p>
          <a:p>
            <a:r>
              <a:t>CONNECT</a:t>
            </a:r>
          </a:p>
          <a:p>
            <a:r>
              <a:t>Build on the preceding slide: Preprocessing learned from training only in Python (1/2).</a:t>
            </a:r>
          </a:p>
          <a:p>
            <a:r>
              <a:t/>
            </a:r>
          </a:p>
          <a:p>
            <a:r>
              <a:t>LECTURER CUE</a:t>
            </a:r>
          </a:p>
          <a:p>
            <a:r>
              <a:t>SimpleImputer learns one median for each training column. make_pipeline connects this step to the model. fit learns both steps using only the training examples. predict reuses them on new inputs. No target is supplied to predict. The two inputs here are invented practice measurements.</a:t>
            </a:r>
          </a:p>
          <a:p>
            <a:r>
              <a:t/>
            </a:r>
          </a:p>
          <a:p>
            <a:r>
              <a:t>Complete practice code:</a:t>
            </a:r>
          </a:p>
          <a:p>
            <a:r>
              <a:t>from sklearn.impute import SimpleImputer</a:t>
            </a:r>
          </a:p>
          <a:p>
            <a:r>
              <a:t>from sklearn.pipeline import make_pipeline</a:t>
            </a:r>
          </a:p>
          <a:p>
            <a:r>
              <a:t>import numpy as np</a:t>
            </a:r>
          </a:p>
          <a:p>
            <a:r>
              <a:t>train_inputs = [[1, 20], [2, 22], [3, np.nan], [4, 24]]</a:t>
            </a:r>
          </a:p>
          <a:p>
            <a:r>
              <a:t>train_targets = [12, 14, 16, 18]</a:t>
            </a:r>
          </a:p>
          <a:p>
            <a:r>
              <a:t>imputer = SimpleImputer(strategy="median")</a:t>
            </a:r>
          </a:p>
          <a:p>
            <a:r>
              <a:t>model = LinearRegression()</a:t>
            </a:r>
          </a:p>
          <a:p>
            <a:r>
              <a:t>pipeline = make_pipeline(imputer, model)</a:t>
            </a:r>
          </a:p>
          <a:p>
            <a:r>
              <a:t>pipeline.fit(train_inputs, train_targets)</a:t>
            </a:r>
          </a:p>
          <a:p>
            <a:r>
              <a:t>predictions = pipeline.predict([[2.5, np.nan]])</a:t>
            </a:r>
          </a:p>
          <a:p>
            <a:r>
              <a:t>print(predictions.round(2).tolist())</a:t>
            </a:r>
          </a:p>
          <a:p>
            <a:r>
              <a:t/>
            </a:r>
          </a:p>
          <a:p>
            <a:r>
              <a:t>EXPLAIN IN ORDINARY WORDS</a:t>
            </a:r>
          </a:p>
          <a:p>
            <a:r>
              <a:t>Training fits rules. Validation helps choose among rules. The final test estimates performance after choices are fixed. Information that would be unavailable at the real prediction time must stay out of the inputs.</a:t>
            </a:r>
          </a:p>
          <a:p>
            <a:r>
              <a:t/>
            </a:r>
          </a:p>
          <a:p>
            <a:r>
              <a:t>CHECK AND EXPECTED ANSWER</a:t>
            </a:r>
          </a:p>
          <a:p>
            <a:r>
              <a:t>May two readings of the same machine appear on both sides when evaluating new machines? No; split by machine. For forecasting, train on the past and evaluate later time.</a:t>
            </a:r>
          </a:p>
          <a:p>
            <a:r>
              <a:t/>
            </a:r>
          </a:p>
          <a:p>
            <a:r>
              <a:t>IF LEARNERS ARE STUCK</a:t>
            </a:r>
          </a:p>
          <a:p>
            <a:r>
              <a:t>Use three envelopes. Keep the final-test envelope closed while selecting features or settings.</a:t>
            </a:r>
          </a:p>
          <a:p>
            <a:r>
              <a:t/>
            </a:r>
          </a:p>
          <a:p>
            <a:r>
              <a:t>WALK THROUGH THIS CODE</a:t>
            </a:r>
          </a:p>
          <a:p>
            <a:r>
              <a:t>predict applies the fitted model to new inputs.</a:t>
            </a:r>
          </a:p>
          <a:p>
            <a:r>
              <a:t>print displays a value below the cell.</a:t>
            </a:r>
          </a:p>
          <a:p>
            <a:r>
              <a:t>Square brackets create a list or select an item.</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Reading records into a feature table.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Reading records into a feature table</a:t>
            </a:r>
          </a:p>
          <a:p>
            <a:r>
              <a:t/>
            </a:r>
          </a:p>
          <a:p>
            <a:r>
              <a:t>CONNECT</a:t>
            </a:r>
          </a:p>
          <a:p>
            <a:r>
              <a:t>Build on the preceding slide: Preprocessing learned from training only in Python (2/2).</a:t>
            </a:r>
          </a:p>
          <a:p>
            <a:r>
              <a:t/>
            </a:r>
          </a:p>
          <a:p>
            <a:r>
              <a:t>LECTURER CUE</a:t>
            </a:r>
          </a:p>
          <a:p>
            <a:r>
              <a:t>Each inner list is one row, in the same order as the input records. The target list uses that same row order. The feature table has no answer column.</a:t>
            </a:r>
          </a:p>
          <a:p>
            <a:r>
              <a:t/>
            </a:r>
          </a:p>
          <a:p>
            <a:r>
              <a:t>EXPLAIN IN ORDINARY WORDS</a:t>
            </a:r>
          </a:p>
          <a:p>
            <a:r>
              <a:t>A feature is an input available when predicting. The target is the answer to learn from. Regression predicts a number; classification predicts a category. Learning patterns does not by itself establish cause.</a:t>
            </a:r>
          </a:p>
          <a:p>
            <a:r>
              <a:t/>
            </a:r>
          </a:p>
          <a:p>
            <a:r>
              <a:t>CHECK AND EXPECTED ANSWER</a:t>
            </a:r>
          </a:p>
          <a:p>
            <a:r>
              <a:t>Predicting concrete strength: regression. Predicting pass/fail: classification. Is a later test result available before that test? No.</a:t>
            </a:r>
          </a:p>
          <a:p>
            <a:r>
              <a:t/>
            </a:r>
          </a:p>
          <a:p>
            <a:r>
              <a:t>IF LEARNERS ARE STUCK</a:t>
            </a:r>
          </a:p>
          <a:p>
            <a:r>
              <a:t>Describe the engineering decision in everyday language, then label one row, an input and its answer. Compare with a rule you could write directly.</a:t>
            </a:r>
          </a:p>
          <a:p>
            <a:r>
              <a:t/>
            </a:r>
          </a:p>
          <a:p>
            <a:r>
              <a:t>NEXT</a:t>
            </a:r>
          </a:p>
          <a:p>
            <a:r>
              <a:t>Reading records into a feature table in Python.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Reading records into a feature table in Python</a:t>
            </a:r>
          </a:p>
          <a:p>
            <a:r>
              <a:t/>
            </a:r>
          </a:p>
          <a:p>
            <a:r>
              <a:t>CONNECT</a:t>
            </a:r>
          </a:p>
          <a:p>
            <a:r>
              <a:t>Build on the preceding slide: Reading records into a feature table.</a:t>
            </a:r>
          </a:p>
          <a:p>
            <a:r>
              <a:t/>
            </a:r>
          </a:p>
          <a:p>
            <a:r>
              <a:t>LECTURER CUE</a:t>
            </a:r>
          </a:p>
          <a:p>
            <a:r>
              <a:t>Each inner list is one row, in the same order as the input records. The target list uses that same row order. The feature table has no answer column.</a:t>
            </a:r>
          </a:p>
          <a:p>
            <a:r>
              <a:t/>
            </a:r>
          </a:p>
          <a:p>
            <a:r>
              <a:t>Complete practice code:</a:t>
            </a:r>
          </a:p>
          <a:p>
            <a:r>
              <a:t>rows = [{"length": 2, "width": 3, "area": 6},</a:t>
            </a:r>
          </a:p>
          <a:p>
            <a:r>
              <a:t>        {"length": 4, "width": 5, "area": 20}]</a:t>
            </a:r>
          </a:p>
          <a:p>
            <a:r>
              <a:t>X = []</a:t>
            </a:r>
          </a:p>
          <a:p>
            <a:r>
              <a:t>y = []</a:t>
            </a:r>
          </a:p>
          <a:p>
            <a:r>
              <a:t>for row in rows:</a:t>
            </a:r>
          </a:p>
          <a:p>
            <a:r>
              <a:t>    X.append([row["length"], row["width"]])</a:t>
            </a:r>
          </a:p>
          <a:p>
            <a:r>
              <a:t>    y.append(row["area"])</a:t>
            </a:r>
          </a:p>
          <a:p>
            <a:r>
              <a:t>print(X)</a:t>
            </a:r>
          </a:p>
          <a:p>
            <a:r>
              <a:t>print(y)</a:t>
            </a:r>
          </a:p>
          <a:p>
            <a:r>
              <a:t/>
            </a:r>
          </a:p>
          <a:p>
            <a:r>
              <a:t>EXPLAIN IN ORDINARY WORDS</a:t>
            </a:r>
          </a:p>
          <a:p>
            <a:r>
              <a:t>A feature is an input available when predicting. The target is the answer to learn from. Regression predicts a number; classification predicts a category. Learning patterns does not by itself establish cause.</a:t>
            </a:r>
          </a:p>
          <a:p>
            <a:r>
              <a:t/>
            </a:r>
          </a:p>
          <a:p>
            <a:r>
              <a:t>CHECK AND EXPECTED ANSWER</a:t>
            </a:r>
          </a:p>
          <a:p>
            <a:r>
              <a:t>Predicting concrete strength: regression. Predicting pass/fail: classification. Is a later test result available before that test? No.</a:t>
            </a:r>
          </a:p>
          <a:p>
            <a:r>
              <a:t/>
            </a:r>
          </a:p>
          <a:p>
            <a:r>
              <a:t>IF LEARNERS ARE STUCK</a:t>
            </a:r>
          </a:p>
          <a:p>
            <a:r>
              <a:t>Describe the engineering decision in everyday language, then label one row, an input and its answer. Compare with a rule you could write directly.</a:t>
            </a:r>
          </a:p>
          <a:p>
            <a:r>
              <a:t/>
            </a:r>
          </a:p>
          <a:p>
            <a:r>
              <a:t>WALK THROUGH THIS CODE</a:t>
            </a:r>
          </a:p>
          <a:p>
            <a:r>
              <a:t>for takes the next item. The indented block repeats.</a:t>
            </a:r>
          </a:p>
          <a:p>
            <a:r>
              <a:t>print displays a value below the cell.</a:t>
            </a:r>
          </a:p>
          <a:p>
            <a:r>
              <a:t>append adds one item to the end of a list.</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MAE and RMSE.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MAE and RMSE</a:t>
            </a:r>
          </a:p>
          <a:p>
            <a:r>
              <a:t/>
            </a:r>
          </a:p>
          <a:p>
            <a:r>
              <a:t>CONNECT</a:t>
            </a:r>
          </a:p>
          <a:p>
            <a:r>
              <a:t>Build on the preceding slide: Reading records into a feature table in Python.</a:t>
            </a:r>
          </a:p>
          <a:p>
            <a:r>
              <a:t/>
            </a:r>
          </a:p>
          <a:p>
            <a:r>
              <a:t>EXPLAIN IN ORDINARY WORDS</a:t>
            </a:r>
          </a:p>
          <a:p>
            <a:r>
              <a:t>An error compares prediction with measured truth. Absolute error ignores direction. MAE averages absolute errors; RMSE squares, averages, then takes a square root. Both use the target unit.</a:t>
            </a:r>
          </a:p>
          <a:p>
            <a:r>
              <a:t/>
            </a:r>
          </a:p>
          <a:p>
            <a:r>
              <a:t>CHECK AND EXPECTED ANSWER</a:t>
            </a:r>
          </a:p>
          <a:p>
            <a:r>
              <a:t>Actual [4,8], predicted [5,6]: prediction-minus-actual errors [1,-2], MAE=1.5, RMSE=sqrt(2.5), about 1.58.</a:t>
            </a:r>
          </a:p>
          <a:p>
            <a:r>
              <a:t/>
            </a:r>
          </a:p>
          <a:p>
            <a:r>
              <a:t>IF LEARNERS ARE STUCK</a:t>
            </a:r>
          </a:p>
          <a:p>
            <a:r>
              <a:t>Calculate one pair by hand first. For signed percentage error follow the precise sign convention in the issued task.</a:t>
            </a:r>
          </a:p>
          <a:p>
            <a:r>
              <a:t/>
            </a:r>
          </a:p>
          <a:p>
            <a:r>
              <a:t>POINT TO THE DEFINITION</a:t>
            </a:r>
          </a:p>
          <a:p>
            <a:r>
              <a:t>MAE and RMSE: MAE averages absolute prediction errors. RMSE squares errors, averages them and takes the square root. Both use target units. RMSE is more sensitive to large errors.</a:t>
            </a:r>
          </a:p>
          <a:p>
            <a:r>
              <a:t/>
            </a:r>
          </a:p>
          <a:p>
            <a:r>
              <a:t>NEXT</a:t>
            </a:r>
          </a:p>
          <a:p>
            <a:r>
              <a:t>A prediction error in ordinary numbers.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prediction error in ordinary numbers</a:t>
            </a:r>
          </a:p>
          <a:p>
            <a:r>
              <a:t/>
            </a:r>
          </a:p>
          <a:p>
            <a:r>
              <a:t>CONNECT</a:t>
            </a:r>
          </a:p>
          <a:p>
            <a:r>
              <a:t>Build on the preceding slide: MAE and RMSE.</a:t>
            </a:r>
          </a:p>
          <a:p>
            <a:r>
              <a:t/>
            </a:r>
          </a:p>
          <a:p>
            <a:r>
              <a:t>LECTURER CUE</a:t>
            </a:r>
          </a:p>
          <a:p>
            <a:r>
              <a:t>MAE = (2 + 4) / 2 = 3, in the target’s unit. Compare a model against a training-only baseline.</a:t>
            </a:r>
          </a:p>
          <a:p>
            <a:r>
              <a:t/>
            </a:r>
          </a:p>
          <a:p>
            <a:r>
              <a:t>EXPLAIN IN ORDINARY WORDS</a:t>
            </a:r>
          </a:p>
          <a:p>
            <a:r>
              <a:t>Training fits rules. Validation helps choose among rules. The final test estimates performance after choices are fixed. Information that would be unavailable at the real prediction time must stay out of the inputs.</a:t>
            </a:r>
          </a:p>
          <a:p>
            <a:r>
              <a:t/>
            </a:r>
          </a:p>
          <a:p>
            <a:r>
              <a:t>CHECK AND EXPECTED ANSWER</a:t>
            </a:r>
          </a:p>
          <a:p>
            <a:r>
              <a:t>May two readings of the same machine appear on both sides when evaluating new machines? No; split by machine. For forecasting, train on the past and evaluate later time.</a:t>
            </a:r>
          </a:p>
          <a:p>
            <a:r>
              <a:t/>
            </a:r>
          </a:p>
          <a:p>
            <a:r>
              <a:t>IF LEARNERS ARE STUCK</a:t>
            </a:r>
          </a:p>
          <a:p>
            <a:r>
              <a:t>Use three envelopes. Keep the final-test envelope closed while selecting features or settings.</a:t>
            </a:r>
          </a:p>
          <a:p>
            <a:r>
              <a:t/>
            </a:r>
          </a:p>
          <a:p>
            <a:r>
              <a:t>READ THE VISUAL</a:t>
            </a:r>
          </a:p>
          <a:p>
            <a:r>
              <a:t>Start with the title and labels. Read one row or mark aloud, including its unit. Let a learner read a second one before discussing the pattern. Do not infer a numerical value from an unlabelled drawing.</a:t>
            </a:r>
          </a:p>
          <a:p>
            <a:r>
              <a:t/>
            </a:r>
          </a:p>
          <a:p>
            <a:r>
              <a:t>NEXT</a:t>
            </a:r>
          </a:p>
          <a:p>
            <a:r>
              <a:t>The operations in the error calculation.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The operations in the error calculation</a:t>
            </a:r>
          </a:p>
          <a:p>
            <a:r>
              <a:t/>
            </a:r>
          </a:p>
          <a:p>
            <a:r>
              <a:t>CONNECT</a:t>
            </a:r>
          </a:p>
          <a:p>
            <a:r>
              <a:t>Build on the preceding slide: A prediction error in ordinary numbers.</a:t>
            </a:r>
          </a:p>
          <a:p>
            <a:r>
              <a:t/>
            </a:r>
          </a:p>
          <a:p>
            <a:r>
              <a:t>EXPLAIN IN ORDINARY WORDS</a:t>
            </a:r>
          </a:p>
          <a:p>
            <a:r>
              <a:t>A list keeps items in order. Python positions start at zero. In [2,4,6], position 0 contains 2 and position 2 contains 6. A slice excludes its stop position.</a:t>
            </a:r>
          </a:p>
          <a:p>
            <a:r>
              <a:t/>
            </a:r>
          </a:p>
          <a:p>
            <a:r>
              <a:t>CHECK AND EXPECTED ANSWER</a:t>
            </a:r>
          </a:p>
          <a:p>
            <a:r>
              <a:t>What is [2,4,6][1]? 4. Is there a position 3? No.</a:t>
            </a:r>
          </a:p>
          <a:p>
            <a:r>
              <a:t/>
            </a:r>
          </a:p>
          <a:p>
            <a:r>
              <a:t>IF LEARNERS ARE STUCK</a:t>
            </a:r>
          </a:p>
          <a:p>
            <a:r>
              <a:t>Draw three numbered boxes starting at zero. Keep the position separate from the value stored in it.</a:t>
            </a:r>
          </a:p>
          <a:p>
            <a:r>
              <a:t/>
            </a:r>
          </a:p>
          <a:p>
            <a:r>
              <a:t>POINT TO THE DEFINITION</a:t>
            </a:r>
          </a:p>
          <a:p>
            <a:r>
              <a:t>zip and paired names: zip(actual, predicted) pairs values at matching positions. for truth, guess in ... assigns each pair to two names. Here both lists must have the same nonzero length.</a:t>
            </a:r>
          </a:p>
          <a:p>
            <a:r>
              <a:t>Square and square root: difference ** 2 squares an error. sqrt reverses a square for nonnegative numbers: sqrt(9) is 3. from math import sqrt makes this tool available.</a:t>
            </a:r>
          </a:p>
          <a:p>
            <a:r>
              <a:t/>
            </a:r>
          </a:p>
          <a:p>
            <a:r>
              <a:t>NEXT</a:t>
            </a:r>
          </a:p>
          <a:p>
            <a:r>
              <a:t>Two error measures.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Two error measures</a:t>
            </a:r>
          </a:p>
          <a:p>
            <a:r>
              <a:t/>
            </a:r>
          </a:p>
          <a:p>
            <a:r>
              <a:t>CONNECT</a:t>
            </a:r>
          </a:p>
          <a:p>
            <a:r>
              <a:t>Build on the preceding slide: The operations in the error calculation.</a:t>
            </a:r>
          </a:p>
          <a:p>
            <a:r>
              <a:t/>
            </a:r>
          </a:p>
          <a:p>
            <a:r>
              <a:t>LECTURER CUE</a:t>
            </a:r>
          </a:p>
          <a:p>
            <a:r>
              <a:t>zip pairs corresponding values. abs measures error size. Squaring emphasises large errors; taking the square root returns to the original unit. These functions assume equal-length, nonempty paired observations.</a:t>
            </a:r>
          </a:p>
          <a:p>
            <a:r>
              <a:t/>
            </a:r>
          </a:p>
          <a:p>
            <a:r>
              <a:t>EXPLAIN IN ORDINARY WORDS</a:t>
            </a:r>
          </a:p>
          <a:p>
            <a:r>
              <a:t>An error compares prediction with measured truth. Absolute error ignores direction. MAE averages absolute errors; RMSE squares, averages, then takes a square root. Both use the target unit.</a:t>
            </a:r>
          </a:p>
          <a:p>
            <a:r>
              <a:t/>
            </a:r>
          </a:p>
          <a:p>
            <a:r>
              <a:t>CHECK AND EXPECTED ANSWER</a:t>
            </a:r>
          </a:p>
          <a:p>
            <a:r>
              <a:t>Actual [4,8], predicted [5,6]: prediction-minus-actual errors [1,-2], MAE=1.5, RMSE=sqrt(2.5), about 1.58.</a:t>
            </a:r>
          </a:p>
          <a:p>
            <a:r>
              <a:t/>
            </a:r>
          </a:p>
          <a:p>
            <a:r>
              <a:t>IF LEARNERS ARE STUCK</a:t>
            </a:r>
          </a:p>
          <a:p>
            <a:r>
              <a:t>Calculate one pair by hand first. For signed percentage error follow the precise sign convention in the issued task.</a:t>
            </a:r>
          </a:p>
          <a:p>
            <a:r>
              <a:t/>
            </a:r>
          </a:p>
          <a:p>
            <a:r>
              <a:t>NEXT</a:t>
            </a:r>
          </a:p>
          <a:p>
            <a:r>
              <a:t>Two error measures in Python (1/2).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Two error measures in Python (1/2)</a:t>
            </a:r>
          </a:p>
          <a:p>
            <a:r>
              <a:t/>
            </a:r>
          </a:p>
          <a:p>
            <a:r>
              <a:t>CONNECT</a:t>
            </a:r>
          </a:p>
          <a:p>
            <a:r>
              <a:t>Build on the preceding slide: Two error measures.</a:t>
            </a:r>
          </a:p>
          <a:p>
            <a:r>
              <a:t/>
            </a:r>
          </a:p>
          <a:p>
            <a:r>
              <a:t>LECTURER CUE</a:t>
            </a:r>
          </a:p>
          <a:p>
            <a:r>
              <a:t>zip pairs corresponding values. abs measures error size. Squaring emphasises large errors; taking the square root returns to the original unit. These functions assume equal-length, nonempty paired observations.</a:t>
            </a:r>
          </a:p>
          <a:p>
            <a:r>
              <a:t/>
            </a:r>
          </a:p>
          <a:p>
            <a:r>
              <a:t>Complete practice code:</a:t>
            </a:r>
          </a:p>
          <a:p>
            <a:r>
              <a:t>from math import sqrt</a:t>
            </a:r>
          </a:p>
          <a:p>
            <a:r>
              <a:t>a = [10, 20]</a:t>
            </a:r>
          </a:p>
          <a:p>
            <a:r>
              <a:t>p = [12, 16]</a:t>
            </a:r>
          </a:p>
          <a:p>
            <a:r>
              <a:t>absolute = []</a:t>
            </a:r>
          </a:p>
          <a:p>
            <a:r>
              <a:t>squared = []</a:t>
            </a:r>
          </a:p>
          <a:p>
            <a:r>
              <a:t>for truth, guess in zip(a, p):</a:t>
            </a:r>
          </a:p>
          <a:p>
            <a:r>
              <a:t>    difference = truth - guess</a:t>
            </a:r>
          </a:p>
          <a:p>
            <a:r>
              <a:t>    absolute.append(abs(difference))</a:t>
            </a:r>
          </a:p>
          <a:p>
            <a:r>
              <a:t>    squared.append(difference ** 2)</a:t>
            </a:r>
          </a:p>
          <a:p>
            <a:r>
              <a:t>print(sum(absolute) / len(a))</a:t>
            </a:r>
          </a:p>
          <a:p>
            <a:r>
              <a:t>print(sqrt(sum(squared) / len(a)))</a:t>
            </a:r>
          </a:p>
          <a:p>
            <a:r>
              <a:t/>
            </a:r>
          </a:p>
          <a:p>
            <a:r>
              <a:t>EXPLAIN IN ORDINARY WORDS</a:t>
            </a:r>
          </a:p>
          <a:p>
            <a:r>
              <a:t>An error compares prediction with measured truth. Absolute error ignores direction. MAE averages absolute errors; RMSE squares, averages, then takes a square root. Both use the target unit.</a:t>
            </a:r>
          </a:p>
          <a:p>
            <a:r>
              <a:t/>
            </a:r>
          </a:p>
          <a:p>
            <a:r>
              <a:t>CHECK AND EXPECTED ANSWER</a:t>
            </a:r>
          </a:p>
          <a:p>
            <a:r>
              <a:t>Actual [4,8], predicted [5,6]: prediction-minus-actual errors [1,-2], MAE=1.5, RMSE=sqrt(2.5), about 1.58.</a:t>
            </a:r>
          </a:p>
          <a:p>
            <a:r>
              <a:t/>
            </a:r>
          </a:p>
          <a:p>
            <a:r>
              <a:t>IF LEARNERS ARE STUCK</a:t>
            </a:r>
          </a:p>
          <a:p>
            <a:r>
              <a:t>Calculate one pair by hand first. For signed percentage error follow the precise sign convention in the issued task.</a:t>
            </a:r>
          </a:p>
          <a:p>
            <a:r>
              <a:t/>
            </a:r>
          </a:p>
          <a:p>
            <a:r>
              <a:t>WALK THROUGH THIS CODE</a:t>
            </a:r>
          </a:p>
          <a:p>
            <a:r>
              <a:t>import loads a library. from selects a tool from it.</a:t>
            </a:r>
          </a:p>
          <a:p>
            <a:r>
              <a:t>for takes the next item. The indented block repeats.</a:t>
            </a:r>
          </a:p>
          <a:p>
            <a:r>
              <a:t>zip pairs items at matching positions in these equal-length lists.</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Two error measures in Python (2/2).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Two error measures in Python (2/2)</a:t>
            </a:r>
          </a:p>
          <a:p>
            <a:r>
              <a:t/>
            </a:r>
          </a:p>
          <a:p>
            <a:r>
              <a:t>CONNECT</a:t>
            </a:r>
          </a:p>
          <a:p>
            <a:r>
              <a:t>Build on the preceding slide: Two error measures in Python (1/2).</a:t>
            </a:r>
          </a:p>
          <a:p>
            <a:r>
              <a:t/>
            </a:r>
          </a:p>
          <a:p>
            <a:r>
              <a:t>LECTURER CUE</a:t>
            </a:r>
          </a:p>
          <a:p>
            <a:r>
              <a:t>zip pairs corresponding values. abs measures error size. Squaring emphasises large errors; taking the square root returns to the original unit. These functions assume equal-length, nonempty paired observations.</a:t>
            </a:r>
          </a:p>
          <a:p>
            <a:r>
              <a:t/>
            </a:r>
          </a:p>
          <a:p>
            <a:r>
              <a:t>Complete practice code:</a:t>
            </a:r>
          </a:p>
          <a:p>
            <a:r>
              <a:t>from math import sqrt</a:t>
            </a:r>
          </a:p>
          <a:p>
            <a:r>
              <a:t>a = [10, 20]</a:t>
            </a:r>
          </a:p>
          <a:p>
            <a:r>
              <a:t>p = [12, 16]</a:t>
            </a:r>
          </a:p>
          <a:p>
            <a:r>
              <a:t>absolute = []</a:t>
            </a:r>
          </a:p>
          <a:p>
            <a:r>
              <a:t>squared = []</a:t>
            </a:r>
          </a:p>
          <a:p>
            <a:r>
              <a:t>for truth, guess in zip(a, p):</a:t>
            </a:r>
          </a:p>
          <a:p>
            <a:r>
              <a:t>    difference = truth - guess</a:t>
            </a:r>
          </a:p>
          <a:p>
            <a:r>
              <a:t>    absolute.append(abs(difference))</a:t>
            </a:r>
          </a:p>
          <a:p>
            <a:r>
              <a:t>    squared.append(difference ** 2)</a:t>
            </a:r>
          </a:p>
          <a:p>
            <a:r>
              <a:t>print(sum(absolute) / len(a))</a:t>
            </a:r>
          </a:p>
          <a:p>
            <a:r>
              <a:t>print(sqrt(sum(squared) / len(a)))</a:t>
            </a:r>
          </a:p>
          <a:p>
            <a:r>
              <a:t/>
            </a:r>
          </a:p>
          <a:p>
            <a:r>
              <a:t>EXPLAIN IN ORDINARY WORDS</a:t>
            </a:r>
          </a:p>
          <a:p>
            <a:r>
              <a:t>An error compares prediction with measured truth. Absolute error ignores direction. MAE averages absolute errors; RMSE squares, averages, then takes a square root. Both use the target unit.</a:t>
            </a:r>
          </a:p>
          <a:p>
            <a:r>
              <a:t/>
            </a:r>
          </a:p>
          <a:p>
            <a:r>
              <a:t>CHECK AND EXPECTED ANSWER</a:t>
            </a:r>
          </a:p>
          <a:p>
            <a:r>
              <a:t>Actual [4,8], predicted [5,6]: prediction-minus-actual errors [1,-2], MAE=1.5, RMSE=sqrt(2.5), about 1.58.</a:t>
            </a:r>
          </a:p>
          <a:p>
            <a:r>
              <a:t/>
            </a:r>
          </a:p>
          <a:p>
            <a:r>
              <a:t>IF LEARNERS ARE STUCK</a:t>
            </a:r>
          </a:p>
          <a:p>
            <a:r>
              <a:t>Calculate one pair by hand first. For signed percentage error follow the precise sign convention in the issued task.</a:t>
            </a:r>
          </a:p>
          <a:p>
            <a:r>
              <a:t/>
            </a:r>
          </a:p>
          <a:p>
            <a:r>
              <a:t>WALK THROUGH THIS CODE</a:t>
            </a:r>
          </a:p>
          <a:p>
            <a:r>
              <a:t>print displays a value below the cell.</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R² compares against a mean prediction.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R² compares against a mean prediction</a:t>
            </a:r>
          </a:p>
          <a:p>
            <a:r>
              <a:t/>
            </a:r>
          </a:p>
          <a:p>
            <a:r>
              <a:t>CONNECT</a:t>
            </a:r>
          </a:p>
          <a:p>
            <a:r>
              <a:t>Build on the preceding slide: Two error measures in Python (2/2).</a:t>
            </a:r>
          </a:p>
          <a:p>
            <a:r>
              <a:t/>
            </a:r>
          </a:p>
          <a:p>
            <a:r>
              <a:t>EXPLAIN IN ORDINARY WORDS</a:t>
            </a:r>
          </a:p>
          <a:p>
            <a:r>
              <a:t>R-squared compares squared prediction errors with using the evaluation targets’ mean. One is perfect; zero matches that reference. A negative value is possible.</a:t>
            </a:r>
          </a:p>
          <a:p>
            <a:r>
              <a:t/>
            </a:r>
          </a:p>
          <a:p>
            <a:r>
              <a:t>CHECK AND EXPECTED ANSWER</a:t>
            </a:r>
          </a:p>
          <a:p>
            <a:r>
              <a:t>Does R-squared=0.8 mean 80% of predictions are correct? No; it concerns variation and squared errors, not a count of correct answers.</a:t>
            </a:r>
          </a:p>
          <a:p>
            <a:r>
              <a:t/>
            </a:r>
          </a:p>
          <a:p>
            <a:r>
              <a:t>IF LEARNERS ARE STUCK</a:t>
            </a:r>
          </a:p>
          <a:p>
            <a:r>
              <a:t>Compare errors against a mean predictor on the same evaluation rows. MAE remains useful for a result in physical units.</a:t>
            </a:r>
          </a:p>
          <a:p>
            <a:r>
              <a:t/>
            </a:r>
          </a:p>
          <a:p>
            <a:r>
              <a:t>NEXT</a:t>
            </a:r>
          </a:p>
          <a:p>
            <a:r>
              <a:t>You are a prediction rule.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You are a prediction rule</a:t>
            </a:r>
          </a:p>
          <a:p>
            <a:r>
              <a:t/>
            </a:r>
          </a:p>
          <a:p>
            <a:r>
              <a:t>CONNECT</a:t>
            </a:r>
          </a:p>
          <a:p>
            <a:r>
              <a:t>Build on the preceding slide: R² compares against a mean prediction.</a:t>
            </a:r>
          </a:p>
          <a:p>
            <a:r>
              <a:t/>
            </a:r>
          </a:p>
          <a:p>
            <a:r>
              <a:t>LECTURER CUE</a:t>
            </a:r>
          </a:p>
          <a:p>
            <a:r>
              <a:t>Do this before revealing the discussion slide. One learner moves or writes the items, the other checks. Swap roles. Every student explains one step. Expected: Prediction is 16. The absolute error is 2 target units. A single result does not show that the model is useful in general.</a:t>
            </a:r>
          </a:p>
          <a:p>
            <a:r>
              <a:t>Wait for an individual prediction before inviting pair discussion. Give a first-step hint if needed.</a:t>
            </a:r>
          </a:p>
          <a:p>
            <a:r>
              <a:t/>
            </a:r>
          </a:p>
          <a:p>
            <a:r>
              <a:t>NEXT</a:t>
            </a:r>
          </a:p>
          <a:p>
            <a:r>
              <a:t>What the activity shows.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What the activity shows</a:t>
            </a:r>
          </a:p>
          <a:p>
            <a:r>
              <a:t/>
            </a:r>
          </a:p>
          <a:p>
            <a:r>
              <a:t>CONNECT</a:t>
            </a:r>
          </a:p>
          <a:p>
            <a:r>
              <a:t>Build on the preceding slide: You are a prediction rule.</a:t>
            </a:r>
          </a:p>
          <a:p>
            <a:r>
              <a:t/>
            </a:r>
          </a:p>
          <a:p>
            <a:r>
              <a:t>LECTURER CUE</a:t>
            </a:r>
          </a:p>
          <a:p>
            <a:r>
              <a:t>Ask which step produced this answer. Return to the concrete action if a learner cannot explain it. This is practice feedback, never a quiz key.</a:t>
            </a:r>
          </a:p>
          <a:p>
            <a:r>
              <a:t/>
            </a:r>
          </a:p>
          <a:p>
            <a:r>
              <a:t>EXPLAIN IN ORDINARY WORDS</a:t>
            </a:r>
          </a:p>
          <a:p>
            <a:r>
              <a:t>Read each quantity and unit before using a formula. Python calculates numbers but does not enforce physical units. Parentheses specify which operation happens first.</a:t>
            </a:r>
          </a:p>
          <a:p>
            <a:r>
              <a:t/>
            </a:r>
          </a:p>
          <a:p>
            <a:r>
              <a:t>CHECK AND EXPECTED ANSWER</a:t>
            </a:r>
          </a:p>
          <a:p>
            <a:r>
              <a:t>What is 5 m times 3 m? 15 square metres. What is 7/2 in Python? 3.5; 7//2 is 3.</a:t>
            </a:r>
          </a:p>
          <a:p>
            <a:r>
              <a:t/>
            </a:r>
          </a:p>
          <a:p>
            <a:r>
              <a:t>IF LEARNERS ARE STUCK</a:t>
            </a:r>
          </a:p>
          <a:p>
            <a:r>
              <a:t>Write the formula and units on paper, substitute small values, then translate it to Python. Check zero denominators and the issued sign convention.</a:t>
            </a:r>
          </a:p>
          <a:p>
            <a:r>
              <a:t/>
            </a:r>
          </a:p>
          <a:p>
            <a:r>
              <a:t>NEXT</a:t>
            </a:r>
          </a:p>
          <a:p>
            <a:r>
              <a:t>Your turn.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Your turn</a:t>
            </a:r>
          </a:p>
          <a:p>
            <a:r>
              <a:t/>
            </a:r>
          </a:p>
          <a:p>
            <a:r>
              <a:t>CONNECT</a:t>
            </a:r>
          </a:p>
          <a:p>
            <a:r>
              <a:t>Build on the preceding slide: What the activity shows.</a:t>
            </a:r>
          </a:p>
          <a:p>
            <a:r>
              <a:t/>
            </a:r>
          </a:p>
          <a:p>
            <a:r>
              <a:t>LECTURER CUE</a:t>
            </a:r>
          </a:p>
          <a:p>
            <a:r>
              <a:t>Give silent thinking time, then let pairs discuss. Rotate who types. This is practice, not a graded quiz. Expected response: Absolute errors are 2 and 4: MAE 3. Squared errors 4 and 16: RMSE sqrt(10), about 3.162. MAE is an average, not an individual error bound.</a:t>
            </a:r>
          </a:p>
          <a:p>
            <a:r>
              <a:t/>
            </a:r>
          </a:p>
          <a:p>
            <a:r>
              <a:t>EXPLAIN IN ORDINARY WORDS</a:t>
            </a:r>
          </a:p>
          <a:p>
            <a:r>
              <a:t>An error compares prediction with measured truth. Absolute error ignores direction. MAE averages absolute errors; RMSE squares, averages, then takes a square root. Both use the target unit.</a:t>
            </a:r>
          </a:p>
          <a:p>
            <a:r>
              <a:t/>
            </a:r>
          </a:p>
          <a:p>
            <a:r>
              <a:t>CHECK AND EXPECTED ANSWER</a:t>
            </a:r>
          </a:p>
          <a:p>
            <a:r>
              <a:t>Actual [4,8], predicted [5,6]: prediction-minus-actual errors [1,-2], MAE=1.5, RMSE=sqrt(2.5), about 1.58.</a:t>
            </a:r>
          </a:p>
          <a:p>
            <a:r>
              <a:t/>
            </a:r>
          </a:p>
          <a:p>
            <a:r>
              <a:t>IF LEARNERS ARE STUCK</a:t>
            </a:r>
          </a:p>
          <a:p>
            <a:r>
              <a:t>Calculate one pair by hand first. For signed percentage error follow the precise sign convention in the issued task.</a:t>
            </a:r>
          </a:p>
          <a:p>
            <a:r>
              <a:t/>
            </a:r>
          </a:p>
          <a:p>
            <a:r>
              <a:t>DISCUSSION KEY FOR THIS SLIDE</a:t>
            </a:r>
          </a:p>
          <a:p>
            <a:r>
              <a:t>DISCUSS THE REASONING</a:t>
            </a:r>
          </a:p>
          <a:p>
            <a:r>
              <a:t>Practice discussion</a:t>
            </a:r>
          </a:p>
          <a:p>
            <a:r>
              <a:t>Absolute errors are 2 and 4: MAE 3. Squared errors 4 and 16: RMSE sqrt(10), about 3.162. MAE is an average, not an individual error bound.</a:t>
            </a:r>
          </a:p>
          <a:p>
            <a:r>
              <a:t>Which step produced this result? What changes if one input changes?</a:t>
            </a:r>
          </a:p>
          <a:p>
            <a:r>
              <a:t>CML3112   Week 8   45</a:t>
            </a:r>
          </a:p>
          <a:p>
            <a:r>
              <a:t>Let learners attempt first; use this to explain the reasoning, not just reveal the answer.</a:t>
            </a:r>
          </a:p>
          <a:p>
            <a:r>
              <a:t/>
            </a:r>
          </a:p>
          <a:p>
            <a:r>
              <a:t>NEXT</a:t>
            </a:r>
          </a:p>
          <a:p>
            <a:r>
              <a:t>Practice discussion.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Practice discussion</a:t>
            </a:r>
          </a:p>
          <a:p>
            <a:r>
              <a:t/>
            </a:r>
          </a:p>
          <a:p>
            <a:r>
              <a:t>CONNECT</a:t>
            </a:r>
          </a:p>
          <a:p>
            <a:r>
              <a:t>Build on the preceding slide: Your turn.</a:t>
            </a:r>
          </a:p>
          <a:p>
            <a:r>
              <a:t/>
            </a:r>
          </a:p>
          <a:p>
            <a:r>
              <a:t>LECTURER CUE</a:t>
            </a:r>
          </a:p>
          <a:p>
            <a:r>
              <a:t>Ask how the result was obtained. Reteach the smallest missing step instead of giving a longer lecture.</a:t>
            </a:r>
          </a:p>
          <a:p>
            <a:r>
              <a:t/>
            </a:r>
          </a:p>
          <a:p>
            <a:r>
              <a:t>EXPLAIN IN ORDINARY WORDS</a:t>
            </a:r>
          </a:p>
          <a:p>
            <a:r>
              <a:t>An error compares prediction with measured truth. Absolute error ignores direction. MAE averages absolute errors; RMSE squares, averages, then takes a square root. Both use the target unit.</a:t>
            </a:r>
          </a:p>
          <a:p>
            <a:r>
              <a:t/>
            </a:r>
          </a:p>
          <a:p>
            <a:r>
              <a:t>CHECK AND EXPECTED ANSWER</a:t>
            </a:r>
          </a:p>
          <a:p>
            <a:r>
              <a:t>Actual [4,8], predicted [5,6]: prediction-minus-actual errors [1,-2], MAE=1.5, RMSE=sqrt(2.5), about 1.58.</a:t>
            </a:r>
          </a:p>
          <a:p>
            <a:r>
              <a:t/>
            </a:r>
          </a:p>
          <a:p>
            <a:r>
              <a:t>IF LEARNERS ARE STUCK</a:t>
            </a:r>
          </a:p>
          <a:p>
            <a:r>
              <a:t>Calculate one pair by hand first. For signed percentage error follow the precise sign convention in the issued task.</a:t>
            </a:r>
          </a:p>
          <a:p>
            <a:r>
              <a:t/>
            </a:r>
          </a:p>
          <a:p>
            <a:r>
              <a:t>NEXT</a:t>
            </a:r>
          </a:p>
          <a:p>
            <a:r>
              <a:t>Short explainer and discussion.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Short explainer and discussion</a:t>
            </a:r>
          </a:p>
          <a:p>
            <a:r>
              <a:t/>
            </a:r>
          </a:p>
          <a:p>
            <a:r>
              <a:t>CONNECT</a:t>
            </a:r>
          </a:p>
          <a:p>
            <a:r>
              <a:t>Build on the preceding slide: Practice discussion.</a:t>
            </a:r>
          </a:p>
          <a:p>
            <a:r>
              <a:t/>
            </a:r>
          </a:p>
          <a:p>
            <a:r>
              <a:t>LECTURER CUE</a:t>
            </a:r>
          </a:p>
          <a:p>
            <a:r>
              <a:t>Linked by the official StatQuest video index. Full audiovisual preview and excerpt timing still required.</a:t>
            </a:r>
          </a:p>
          <a:p>
            <a:r>
              <a:t>After viewing: Draw an actual value and a prediction, then identify their difference.</a:t>
            </a:r>
          </a:p>
          <a:p>
            <a:r>
              <a:t>Preview before class and stop after the selected short excerpt. If playback fails, teach the worked example. Video is optional. Source: https://www.youtube.com/watch?v=aFDOzpTeg0s</a:t>
            </a:r>
          </a:p>
          <a:p>
            <a:r>
              <a:t/>
            </a:r>
          </a:p>
          <a:p>
            <a:r>
              <a:t>EXPLAIN IN ORDINARY WORDS</a:t>
            </a:r>
          </a:p>
          <a:p>
            <a:r>
              <a:t>Creating a model chooses the kind of rule. fit learns from training inputs and known answers. predict applies the fitted rule to new inputs without receiving their answers.</a:t>
            </a:r>
          </a:p>
          <a:p>
            <a:r>
              <a:t/>
            </a:r>
          </a:p>
          <a:p>
            <a:r>
              <a:t>CHECK AND EXPECTED ANSWER</a:t>
            </a:r>
          </a:p>
          <a:p>
            <a:r>
              <a:t>Does creating a model object train it? No. It must be fitted before prediction.</a:t>
            </a:r>
          </a:p>
          <a:p>
            <a:r>
              <a:t/>
            </a:r>
          </a:p>
          <a:p>
            <a:r>
              <a:t>IF LEARNERS ARE STUCK</a:t>
            </a:r>
          </a:p>
          <a:p>
            <a:r>
              <a:t>Point to inputs, training answers, fit, then new inputs. Keep each input row paired with its own target.</a:t>
            </a:r>
          </a:p>
          <a:p>
            <a:r>
              <a:t/>
            </a:r>
          </a:p>
          <a:p>
            <a:r>
              <a:t>VIDEO ROUTINE</a:t>
            </a:r>
          </a:p>
          <a:p>
            <a:r>
              <a:t>Preview the exact link and stated excerpt before class. State the viewing question first, pause after the example, and ask a learner to explain it. If access fails, use the adjacent worked example and discussion rather than spend class time troubleshooting streaming.</a:t>
            </a:r>
          </a:p>
          <a:p>
            <a:r>
              <a:t/>
            </a:r>
          </a:p>
          <a:p>
            <a:r>
              <a:t>NEXT</a:t>
            </a:r>
          </a:p>
          <a:p>
            <a:r>
              <a:t>After the video.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After the video</a:t>
            </a:r>
          </a:p>
          <a:p>
            <a:r>
              <a:t/>
            </a:r>
          </a:p>
          <a:p>
            <a:r>
              <a:t>CONNECT</a:t>
            </a:r>
          </a:p>
          <a:p>
            <a:r>
              <a:t>Build on the preceding slide: Short explainer and discussion.</a:t>
            </a:r>
          </a:p>
          <a:p>
            <a:r>
              <a:t/>
            </a:r>
          </a:p>
          <a:p>
            <a:r>
              <a:t>DELIVER THIS SLIDE</a:t>
            </a:r>
          </a:p>
          <a:p>
            <a:r>
              <a:t>Read the stated purpose, then point to the named example or action on the slide. Ask learners to describe what they will do before moving on. For a break slide, announce the return time; for a section divider, name the next concrete task.</a:t>
            </a:r>
          </a:p>
          <a:p>
            <a:r>
              <a:t/>
            </a:r>
          </a:p>
          <a:p>
            <a:r>
              <a:t>NEXT</a:t>
            </a:r>
          </a:p>
          <a:p>
            <a:r>
              <a:t>Preparing for the assignment.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Preparing for the assignment</a:t>
            </a:r>
          </a:p>
          <a:p>
            <a:r>
              <a:t/>
            </a:r>
          </a:p>
          <a:p>
            <a:r>
              <a:t>CONNECT</a:t>
            </a:r>
          </a:p>
          <a:p>
            <a:r>
              <a:t>Build on the preceding slide: After the video.</a:t>
            </a:r>
          </a:p>
          <a:p>
            <a:r>
              <a:t/>
            </a:r>
          </a:p>
          <a:p>
            <a:r>
              <a:t>LECTURER CUE</a:t>
            </a:r>
          </a:p>
          <a:p>
            <a:r>
              <a:t>W08 asks for baseline, linear and depth-4 tree prediction lists plus error metrics. Teach training-only median imputation, Pipeline, list-to-table conversion and dictionary return values before those interfaces. Only load_pct and ambient_c are predictors. Introduce grouped partitions now, not first in Week 10. The written comparison is a supplied scenario; do not pretend to have measured its numbers.</a:t>
            </a:r>
          </a:p>
          <a:p>
            <a:r>
              <a:t/>
            </a:r>
          </a:p>
          <a:p>
            <a:r>
              <a:t>EXPLAIN IN ORDINARY WORDS</a:t>
            </a:r>
          </a:p>
          <a:p>
            <a:r>
              <a:t>A baseline is a deliberately simple reference. For numeric prediction, one example always predicts the training target mean. A more complicated model must earn its complexity by improving a fair comparison.</a:t>
            </a:r>
          </a:p>
          <a:p>
            <a:r>
              <a:t/>
            </a:r>
          </a:p>
          <a:p>
            <a:r>
              <a:t>CHECK AND EXPECTED ANSWER</a:t>
            </a:r>
          </a:p>
          <a:p>
            <a:r>
              <a:t>Why compute the constant from training targets? Evaluation answers must not influence a deployed prediction rule.</a:t>
            </a:r>
          </a:p>
          <a:p>
            <a:r>
              <a:t/>
            </a:r>
          </a:p>
          <a:p>
            <a:r>
              <a:t>IF LEARNERS ARE STUCK</a:t>
            </a:r>
          </a:p>
          <a:p>
            <a:r>
              <a:t>Use training targets 2,4,6: the mean baseline predicts 4 for every new row, whatever its inputs.</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Preparing for the assignment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Preparing for the assignment continued</a:t>
            </a:r>
          </a:p>
          <a:p>
            <a:r>
              <a:t/>
            </a:r>
          </a:p>
          <a:p>
            <a:r>
              <a:t>CONNECT</a:t>
            </a:r>
          </a:p>
          <a:p>
            <a:r>
              <a:t>Build on the preceding slide: Preparing for the assignment.</a:t>
            </a:r>
          </a:p>
          <a:p>
            <a:r>
              <a:t/>
            </a:r>
          </a:p>
          <a:p>
            <a:r>
              <a:t>LECTURER CUE</a:t>
            </a:r>
          </a:p>
          <a:p>
            <a:r>
              <a:t>W08 asks for baseline, linear and depth-4 tree prediction lists plus error metrics. Teach training-only median imputation, Pipeline, list-to-table conversion and dictionary return values before those interfaces. Only load_pct and ambient_c are predictors. Introduce grouped partitions now, not first in Week 10. The written comparison is a supplied scenario; do not pretend to have measured its numbers.</a:t>
            </a:r>
          </a:p>
          <a:p>
            <a:r>
              <a:t/>
            </a:r>
          </a:p>
          <a:p>
            <a:r>
              <a:t>EXPLAIN IN ORDINARY WORDS</a:t>
            </a:r>
          </a:p>
          <a:p>
            <a:r>
              <a:t>A condition is a True/False question. Python executes the matching indented branch. = assigns; == compares. &gt;= includes the boundary, while &gt; excludes it.</a:t>
            </a:r>
          </a:p>
          <a:p>
            <a:r>
              <a:t/>
            </a:r>
          </a:p>
          <a:p>
            <a:r>
              <a:t>CHECK AND EXPECTED ANSWER</a:t>
            </a:r>
          </a:p>
          <a:p>
            <a:r>
              <a:t>With value 30, is value &gt;= 30 true? Yes. Is value &gt; 30 true? No.</a:t>
            </a:r>
          </a:p>
          <a:p>
            <a:r>
              <a:t/>
            </a:r>
          </a:p>
          <a:p>
            <a:r>
              <a:t>IF LEARNERS ARE STUCK</a:t>
            </a:r>
          </a:p>
          <a:p>
            <a:r>
              <a:t>Try one value below, at and above the boundary before running the code.</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Reading model outputs.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Reading model outputs</a:t>
            </a:r>
          </a:p>
          <a:p>
            <a:r>
              <a:t/>
            </a:r>
          </a:p>
          <a:p>
            <a:r>
              <a:t>CONNECT</a:t>
            </a:r>
          </a:p>
          <a:p>
            <a:r>
              <a:t>Build on the preceding slide: Preparing for the assignment continued.</a:t>
            </a:r>
          </a:p>
          <a:p>
            <a:r>
              <a:t/>
            </a:r>
          </a:p>
          <a:p>
            <a:r>
              <a:t>LECTURER CUE</a:t>
            </a:r>
          </a:p>
          <a:p>
            <a:r>
              <a:t>Teach these concepts before the weekly quiz. Use changed numbers for practice. This slide supplies concepts, not the quiz key.</a:t>
            </a:r>
          </a:p>
          <a:p>
            <a:r>
              <a:t/>
            </a:r>
          </a:p>
          <a:p>
            <a:r>
              <a:t>EXPLAIN IN ORDINARY WORDS</a:t>
            </a:r>
          </a:p>
          <a:p>
            <a:r>
              <a:t>A list keeps items in order. Python positions start at zero. In [2,4,6], position 0 contains 2 and position 2 contains 6. A slice excludes its stop position.</a:t>
            </a:r>
          </a:p>
          <a:p>
            <a:r>
              <a:t/>
            </a:r>
          </a:p>
          <a:p>
            <a:r>
              <a:t>CHECK AND EXPECTED ANSWER</a:t>
            </a:r>
          </a:p>
          <a:p>
            <a:r>
              <a:t>What is [2,4,6][1]? 4. Is there a position 3? No.</a:t>
            </a:r>
          </a:p>
          <a:p>
            <a:r>
              <a:t/>
            </a:r>
          </a:p>
          <a:p>
            <a:r>
              <a:t>IF LEARNERS ARE STUCK</a:t>
            </a:r>
          </a:p>
          <a:p>
            <a:r>
              <a:t>Draw three numbered boxes starting at zero. Keep the position separate from the value stored in it.</a:t>
            </a:r>
          </a:p>
          <a:p>
            <a:r>
              <a:t/>
            </a:r>
          </a:p>
          <a:p>
            <a:r>
              <a:t>NEXT</a:t>
            </a:r>
          </a:p>
          <a:p>
            <a:r>
              <a:t>Reading model outputs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Reading model outputs continued</a:t>
            </a:r>
          </a:p>
          <a:p>
            <a:r>
              <a:t/>
            </a:r>
          </a:p>
          <a:p>
            <a:r>
              <a:t>CONNECT</a:t>
            </a:r>
          </a:p>
          <a:p>
            <a:r>
              <a:t>Build on the preceding slide: Reading model outputs.</a:t>
            </a:r>
          </a:p>
          <a:p>
            <a:r>
              <a:t/>
            </a:r>
          </a:p>
          <a:p>
            <a:r>
              <a:t>LECTURER CUE</a:t>
            </a:r>
          </a:p>
          <a:p>
            <a:r>
              <a:t>Teach these concepts before the weekly quiz. Use changed numbers for practice. This slide supplies concepts, not the quiz key.</a:t>
            </a:r>
          </a:p>
          <a:p>
            <a:r>
              <a:t/>
            </a:r>
          </a:p>
          <a:p>
            <a:r>
              <a:t>EXPLAIN IN ORDINARY WORDS</a:t>
            </a:r>
          </a:p>
          <a:p>
            <a:r>
              <a:t>An error compares prediction with measured truth. Absolute error ignores direction. MAE averages absolute errors; RMSE squares, averages, then takes a square root. Both use the target unit.</a:t>
            </a:r>
          </a:p>
          <a:p>
            <a:r>
              <a:t/>
            </a:r>
          </a:p>
          <a:p>
            <a:r>
              <a:t>CHECK AND EXPECTED ANSWER</a:t>
            </a:r>
          </a:p>
          <a:p>
            <a:r>
              <a:t>Actual [4,8], predicted [5,6]: prediction-minus-actual errors [1,-2], MAE=1.5, RMSE=sqrt(2.5), about 1.58.</a:t>
            </a:r>
          </a:p>
          <a:p>
            <a:r>
              <a:t/>
            </a:r>
          </a:p>
          <a:p>
            <a:r>
              <a:t>IF LEARNERS ARE STUCK</a:t>
            </a:r>
          </a:p>
          <a:p>
            <a:r>
              <a:t>Calculate one pair by hand first. For signed percentage error follow the precise sign convention in the issued task.</a:t>
            </a:r>
          </a:p>
          <a:p>
            <a:r>
              <a:t/>
            </a:r>
          </a:p>
          <a:p>
            <a:r>
              <a:t>NEXT</a:t>
            </a:r>
          </a:p>
          <a:p>
            <a:r>
              <a:t>Your issued task.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Your issued task</a:t>
            </a:r>
          </a:p>
          <a:p>
            <a:r>
              <a:t/>
            </a:r>
          </a:p>
          <a:p>
            <a:r>
              <a:t>CONNECT</a:t>
            </a:r>
          </a:p>
          <a:p>
            <a:r>
              <a:t>Build on the preceding slide: Reading model outputs continued.</a:t>
            </a:r>
          </a:p>
          <a:p>
            <a:r>
              <a:t/>
            </a:r>
          </a:p>
          <a:p>
            <a:r>
              <a:t>LECTURER CUE</a:t>
            </a:r>
          </a:p>
          <a:p>
            <a:r>
              <a:t>Investigate building cooling load. Target units: kW. These are synthetic teaching records, not measurements suitable for deployment. Each record is one operating observation; equipment_id repeats across observations.</a:t>
            </a:r>
          </a:p>
          <a:p>
            <a:r>
              <a:t/>
            </a:r>
          </a:p>
          <a:p>
            <a:r>
              <a:t>EXPLAIN IN ORDINARY WORDS</a:t>
            </a:r>
          </a:p>
          <a:p>
            <a:r>
              <a:t>Read each quantity and unit before using a formula. Python calculates numbers but does not enforce physical units. Parentheses specify which operation happens first.</a:t>
            </a:r>
          </a:p>
          <a:p>
            <a:r>
              <a:t/>
            </a:r>
          </a:p>
          <a:p>
            <a:r>
              <a:t>CHECK AND EXPECTED ANSWER</a:t>
            </a:r>
          </a:p>
          <a:p>
            <a:r>
              <a:t>What is 5 m times 3 m? 15 square metres. What is 7/2 in Python? 3.5; 7//2 is 3.</a:t>
            </a:r>
          </a:p>
          <a:p>
            <a:r>
              <a:t/>
            </a:r>
          </a:p>
          <a:p>
            <a:r>
              <a:t>IF LEARNERS ARE STUCK</a:t>
            </a:r>
          </a:p>
          <a:p>
            <a:r>
              <a:t>Write the formula and units on paper, substitute small values, then translate it to Python. Check zero denominators and the issued sign convention.</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predict_regression(training_records, feature_records).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predict_regression(training_records, feature_records)</a:t>
            </a:r>
          </a:p>
          <a:p>
            <a:r>
              <a:t/>
            </a:r>
          </a:p>
          <a:p>
            <a:r>
              <a:t>CONNECT</a:t>
            </a:r>
          </a:p>
          <a:p>
            <a:r>
              <a:t>Build on the preceding slide: Your issued task.</a:t>
            </a:r>
          </a:p>
          <a:p>
            <a:r>
              <a:t/>
            </a:r>
          </a:p>
          <a:p>
            <a:r>
              <a:t>LECTURER CUE</a:t>
            </a:r>
          </a:p>
          <a:p>
            <a:r>
              <a:t>Public task contract. Explain input and output types before independent work. Source: IUEA_Teaching_Plan/assessment_banks/W08/CML3112/A/TASKS.md</a:t>
            </a:r>
          </a:p>
          <a:p>
            <a:r>
              <a:t/>
            </a:r>
          </a:p>
          <a:p>
            <a:r>
              <a:t>EXPLAIN IN ORDINARY WORDS</a:t>
            </a:r>
          </a:p>
          <a:p>
            <a:r>
              <a:t>A feature is an input available when predicting. The target is the answer to learn from. Regression predicts a number; classification predicts a category. Learning patterns does not by itself establish cause.</a:t>
            </a:r>
          </a:p>
          <a:p>
            <a:r>
              <a:t/>
            </a:r>
          </a:p>
          <a:p>
            <a:r>
              <a:t>CHECK AND EXPECTED ANSWER</a:t>
            </a:r>
          </a:p>
          <a:p>
            <a:r>
              <a:t>Predicting concrete strength: regression. Predicting pass/fail: classification. Is a later test result available before that test? No.</a:t>
            </a:r>
          </a:p>
          <a:p>
            <a:r>
              <a:t/>
            </a:r>
          </a:p>
          <a:p>
            <a:r>
              <a:t>IF LEARNERS ARE STUCK</a:t>
            </a:r>
          </a:p>
          <a:p>
            <a:r>
              <a:t>Describe the engineering decision in everyday language, then label one row, an input and its answer. Compare with a rule you could write directly.</a:t>
            </a:r>
          </a:p>
          <a:p>
            <a:r>
              <a:t/>
            </a:r>
          </a:p>
          <a:p>
            <a:r>
              <a:t>NEXT</a:t>
            </a:r>
          </a:p>
          <a:p>
            <a:r>
              <a:t>regression_errors(actual, predicted).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regression_errors(actual, predicted)</a:t>
            </a:r>
          </a:p>
          <a:p>
            <a:r>
              <a:t/>
            </a:r>
          </a:p>
          <a:p>
            <a:r>
              <a:t>CONNECT</a:t>
            </a:r>
          </a:p>
          <a:p>
            <a:r>
              <a:t>Build on the preceding slide: predict_regression(training_records, feature_records).</a:t>
            </a:r>
          </a:p>
          <a:p>
            <a:r>
              <a:t/>
            </a:r>
          </a:p>
          <a:p>
            <a:r>
              <a:t>LECTURER CUE</a:t>
            </a:r>
          </a:p>
          <a:p>
            <a:r>
              <a:t>Public task contract. Explain input and output types before independent work. Source: IUEA_Teaching_Plan/assessment_banks/W08/CML3112/A/TASKS.md</a:t>
            </a:r>
          </a:p>
          <a:p>
            <a:r>
              <a:t/>
            </a:r>
          </a:p>
          <a:p>
            <a:r>
              <a:t>EXPLAIN IN ORDINARY WORDS</a:t>
            </a:r>
          </a:p>
          <a:p>
            <a:r>
              <a:t>An error compares prediction with measured truth. Absolute error ignores direction. MAE averages absolute errors; RMSE squares, averages, then takes a square root. Both use the target unit.</a:t>
            </a:r>
          </a:p>
          <a:p>
            <a:r>
              <a:t/>
            </a:r>
          </a:p>
          <a:p>
            <a:r>
              <a:t>CHECK AND EXPECTED ANSWER</a:t>
            </a:r>
          </a:p>
          <a:p>
            <a:r>
              <a:t>Actual [4,8], predicted [5,6]: prediction-minus-actual errors [1,-2], MAE=1.5, RMSE=sqrt(2.5), about 1.58.</a:t>
            </a:r>
          </a:p>
          <a:p>
            <a:r>
              <a:t/>
            </a:r>
          </a:p>
          <a:p>
            <a:r>
              <a:t>IF LEARNERS ARE STUCK</a:t>
            </a:r>
          </a:p>
          <a:p>
            <a:r>
              <a:t>Calculate one pair by hand first. For signed percentage error follow the precise sign convention in the issued task.</a:t>
            </a:r>
          </a:p>
          <a:p>
            <a:r>
              <a:t/>
            </a:r>
          </a:p>
          <a:p>
            <a:r>
              <a:t>NEXT</a:t>
            </a:r>
          </a:p>
          <a:p>
            <a:r>
              <a:t>Written evidence.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Written evidence</a:t>
            </a:r>
          </a:p>
          <a:p>
            <a:r>
              <a:t/>
            </a:r>
          </a:p>
          <a:p>
            <a:r>
              <a:t>CONNECT</a:t>
            </a:r>
          </a:p>
          <a:p>
            <a:r>
              <a:t>Build on the preceding slide: regression_errors(actual, predicted).</a:t>
            </a:r>
          </a:p>
          <a:p>
            <a:r>
              <a:t/>
            </a:r>
          </a:p>
          <a:p>
            <a:r>
              <a:t>LECTURER CUE</a:t>
            </a:r>
          </a:p>
          <a:p>
            <a:r>
              <a:t>Published criterion weights and exact requirements remain in TASKS.md. Broader project exercises are formative and do not add weekly marks. Local automated reasoning assessment remains subject to its release checks.</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Regression and baseline submission.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Regression and baseline submission</a:t>
            </a:r>
          </a:p>
          <a:p>
            <a:r>
              <a:t/>
            </a:r>
          </a:p>
          <a:p>
            <a:r>
              <a:t>CONNECT</a:t>
            </a:r>
          </a:p>
          <a:p>
            <a:r>
              <a:t>Build on the preceding slide: Written evidence.</a:t>
            </a:r>
          </a:p>
          <a:p>
            <a:r>
              <a:t/>
            </a:r>
          </a:p>
          <a:p>
            <a:r>
              <a:t>LECTURER CUE</a:t>
            </a:r>
          </a:p>
          <a:p>
            <a:r>
              <a:t>The form link is cohort-specific. Recheck the live form and release status before class. These scheduled assignment dates are separate from the quiz activation window. The issued brief defines the required files, even if the form accepts additional formats. Source: data/submission_links.json</a:t>
            </a:r>
          </a:p>
          <a:p>
            <a:r>
              <a:t/>
            </a:r>
          </a:p>
          <a:p>
            <a:r>
              <a:t>EXPLAIN IN ORDINARY WORDS</a:t>
            </a:r>
          </a:p>
          <a:p>
            <a:r>
              <a:t>A baseline is a deliberately simple reference. For numeric prediction, one example always predicts the training target mean. A more complicated model must earn its complexity by improving a fair comparison.</a:t>
            </a:r>
          </a:p>
          <a:p>
            <a:r>
              <a:t/>
            </a:r>
          </a:p>
          <a:p>
            <a:r>
              <a:t>CHECK AND EXPECTED ANSWER</a:t>
            </a:r>
          </a:p>
          <a:p>
            <a:r>
              <a:t>Why compute the constant from training targets? Evaluation answers must not influence a deployed prediction rule.</a:t>
            </a:r>
          </a:p>
          <a:p>
            <a:r>
              <a:t/>
            </a:r>
          </a:p>
          <a:p>
            <a:r>
              <a:t>IF LEARNERS ARE STUCK</a:t>
            </a:r>
          </a:p>
          <a:p>
            <a:r>
              <a:t>Use training targets 2,4,6: the mean baseline predicts 4 for every new row, whatever its inputs.</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Data analysis project.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Data analysis project</a:t>
            </a:r>
          </a:p>
          <a:p>
            <a:r>
              <a:t/>
            </a:r>
          </a:p>
          <a:p>
            <a:r>
              <a:t>CONNECT</a:t>
            </a:r>
          </a:p>
          <a:p>
            <a:r>
              <a:t>Build on the preceding slide: Regression and baseline submission.</a:t>
            </a:r>
          </a:p>
          <a:p>
            <a:r>
              <a:t/>
            </a:r>
          </a:p>
          <a:p>
            <a:r>
              <a:t>LECTURER CUE</a:t>
            </a:r>
          </a:p>
          <a:p>
            <a:r>
              <a:t># CML3112 DA_PROJECT: Data analysis project — variant A</a:t>
            </a:r>
          </a:p>
          <a:p>
            <a:r>
              <a:t>Full assessment requirements belong in the current public task guide; explain only the criterion or task shown on this slide.</a:t>
            </a:r>
          </a:p>
          <a:p>
            <a:r>
              <a:t/>
            </a:r>
          </a:p>
          <a:p>
            <a:r>
              <a:t>EXPLAIN IN ORDINARY WORDS</a:t>
            </a:r>
          </a:p>
          <a:p>
            <a:r>
              <a:t>A function is a named set of instructions. def defines it; a call runs it with inputs. Parameters are input names, arguments are supplied values, and return sends the result back.</a:t>
            </a:r>
          </a:p>
          <a:p>
            <a:r>
              <a:t/>
            </a:r>
          </a:p>
          <a:p>
            <a:r>
              <a:t>CHECK AND EXPECTED ANSWER</a:t>
            </a:r>
          </a:p>
          <a:p>
            <a:r>
              <a:t>Does print(8) return the number 8 to the caller? No; it displays 8 and returns None. A function needing a numeric result should return it.</a:t>
            </a:r>
          </a:p>
          <a:p>
            <a:r>
              <a:t/>
            </a:r>
          </a:p>
          <a:p>
            <a:r>
              <a:t>IF LEARNERS ARE STUCK</a:t>
            </a:r>
          </a:p>
          <a:p>
            <a:r>
              <a:t>Trace one call: bind input names, run the indented body, reach return, then put the returned result back into the calling expression.</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PROJECT UPLOAD SET</a:t>
            </a:r>
          </a:p>
          <a:p>
            <a:r>
              <a:t>For the DA_PROJECT or ML_PROJECT, submit the completed project .ipynb together with one readable DOCX or selectable-text PDF report. This differs from the single-notebook test packet. The current public project guide defines the evidence and rubric; do not substitute weekly practice for the project.</a:t>
            </a:r>
          </a:p>
          <a:p>
            <a:r>
              <a:t/>
            </a:r>
          </a:p>
          <a:p>
            <a:r>
              <a:t>NEXT</a:t>
            </a:r>
          </a:p>
          <a:p>
            <a:r>
              <a:t>Data analysis project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Data analysis project continued</a:t>
            </a:r>
          </a:p>
          <a:p>
            <a:r>
              <a:t/>
            </a:r>
          </a:p>
          <a:p>
            <a:r>
              <a:t>CONNECT</a:t>
            </a:r>
          </a:p>
          <a:p>
            <a:r>
              <a:t>Build on the preceding slide: Data analysis project.</a:t>
            </a:r>
          </a:p>
          <a:p>
            <a:r>
              <a:t/>
            </a:r>
          </a:p>
          <a:p>
            <a:r>
              <a:t>LECTURER CUE</a:t>
            </a:r>
          </a:p>
          <a:p>
            <a:r>
              <a:t># CML3112 DA_PROJECT: Data analysis project — variant A</a:t>
            </a:r>
          </a:p>
          <a:p>
            <a:r>
              <a:t>Full assessment requirements belong in the current public task guide; explain only the criterion or task shown on this slide.</a:t>
            </a:r>
          </a:p>
          <a:p>
            <a:r>
              <a:t/>
            </a:r>
          </a:p>
          <a:p>
            <a:r>
              <a:t>EXPLAIN IN ORDINARY WORDS</a:t>
            </a:r>
          </a:p>
          <a:p>
            <a:r>
              <a:t>A cleaning decision needs evidence, a stated rule and a before/after check. Similar rows may be genuine repeated events. Reconciliation compares totals built under the same definitions.</a:t>
            </a:r>
          </a:p>
          <a:p>
            <a:r>
              <a:t/>
            </a:r>
          </a:p>
          <a:p>
            <a:r>
              <a:t>CHECK AND EXPECTED ANSWER</a:t>
            </a:r>
          </a:p>
          <a:p>
            <a:r>
              <a:t>May we delete every repeated amount? No. Check the row identifier and the table grain first.</a:t>
            </a:r>
          </a:p>
          <a:p>
            <a:r>
              <a:t/>
            </a:r>
          </a:p>
          <a:p>
            <a:r>
              <a:t>IF LEARNERS ARE STUCK</a:t>
            </a:r>
          </a:p>
          <a:p>
            <a:r>
              <a:t>Keep raw data, record counts before and after each action, then explain any remaining difference instead of forcing totals to agree.</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PROJECT UPLOAD SET</a:t>
            </a:r>
          </a:p>
          <a:p>
            <a:r>
              <a:t>For the DA_PROJECT or ML_PROJECT, submit the completed project .ipynb together with one readable DOCX or selectable-text PDF report. This differs from the single-notebook test packet. The current public project guide defines the evidence and rubric; do not substitute weekly practice for the project.</a:t>
            </a:r>
          </a:p>
          <a:p>
            <a:r>
              <a:t/>
            </a:r>
          </a:p>
          <a:p>
            <a:r>
              <a:t>NEXT</a:t>
            </a:r>
          </a:p>
          <a:p>
            <a:r>
              <a:t>Data analysis project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Data analysis project continued</a:t>
            </a:r>
          </a:p>
          <a:p>
            <a:r>
              <a:t/>
            </a:r>
          </a:p>
          <a:p>
            <a:r>
              <a:t>CONNECT</a:t>
            </a:r>
          </a:p>
          <a:p>
            <a:r>
              <a:t>Build on the preceding slide: Data analysis project continued.</a:t>
            </a:r>
          </a:p>
          <a:p>
            <a:r>
              <a:t/>
            </a:r>
          </a:p>
          <a:p>
            <a:r>
              <a:t>LECTURER CUE</a:t>
            </a:r>
          </a:p>
          <a:p>
            <a:r>
              <a:t># CML3112 DA_PROJECT: Data analysis project — variant A</a:t>
            </a:r>
          </a:p>
          <a:p>
            <a:r>
              <a:t>Full assessment requirements belong in the current public task guide; explain only the criterion or task shown on this slide.</a:t>
            </a:r>
          </a:p>
          <a:p>
            <a:r>
              <a:t/>
            </a:r>
          </a:p>
          <a:p>
            <a:r>
              <a:t>EXPLAIN IN ORDINARY WORDS</a:t>
            </a:r>
          </a:p>
          <a:p>
            <a:r>
              <a:t>Missing means not recorded, not automatically zero. Decide why it is missing and document the rule. Fitted fill values must come from training data when evaluating a model.</a:t>
            </a:r>
          </a:p>
          <a:p>
            <a:r>
              <a:t/>
            </a:r>
          </a:p>
          <a:p>
            <a:r>
              <a:t>CHECK AND EXPECTED ANSWER</a:t>
            </a:r>
          </a:p>
          <a:p>
            <a:r>
              <a:t>Is an unrecorded energy reading evidence of zero consumption? No.</a:t>
            </a:r>
          </a:p>
          <a:p>
            <a:r>
              <a:t/>
            </a:r>
          </a:p>
          <a:p>
            <a:r>
              <a:t>IF LEARNERS ARE STUCK</a:t>
            </a:r>
          </a:p>
          <a:p>
            <a:r>
              <a:t>Use three rows: a recorded zero, a recorded positive value and a blank. Explain their different meanings before cleaning.</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PROJECT UPLOAD SET</a:t>
            </a:r>
          </a:p>
          <a:p>
            <a:r>
              <a:t>For the DA_PROJECT or ML_PROJECT, submit the completed project .ipynb together with one readable DOCX or selectable-text PDF report. This differs from the single-notebook test packet. The current public project guide defines the evidence and rubric; do not substitute weekly practice for the project.</a:t>
            </a:r>
          </a:p>
          <a:p>
            <a:r>
              <a:t/>
            </a:r>
          </a:p>
          <a:p>
            <a:r>
              <a:t>NEXT</a:t>
            </a:r>
          </a:p>
          <a:p>
            <a:r>
              <a:t>Data analysis project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Data analysis project continued</a:t>
            </a:r>
          </a:p>
          <a:p>
            <a:r>
              <a:t/>
            </a:r>
          </a:p>
          <a:p>
            <a:r>
              <a:t>CONNECT</a:t>
            </a:r>
          </a:p>
          <a:p>
            <a:r>
              <a:t>Build on the preceding slide: Data analysis project continued.</a:t>
            </a:r>
          </a:p>
          <a:p>
            <a:r>
              <a:t/>
            </a:r>
          </a:p>
          <a:p>
            <a:r>
              <a:t>LECTURER CUE</a:t>
            </a:r>
          </a:p>
          <a:p>
            <a:r>
              <a:t># CML3112 DA_PROJECT: Data analysis project — variant A</a:t>
            </a:r>
          </a:p>
          <a:p>
            <a:r>
              <a:t>Full assessment requirements belong in the current public task guide; explain only the criterion or task shown on this slide.</a:t>
            </a:r>
          </a:p>
          <a:p>
            <a:r>
              <a:t/>
            </a:r>
          </a:p>
          <a:p>
            <a:r>
              <a:t>EXPLAIN IN ORDINARY WORDS</a:t>
            </a:r>
          </a:p>
          <a:p>
            <a:r>
              <a:t>Begin with the question and intended comparison. Identify what an axis, bar, point or colour represents, including its unit. A chart summarises data and may hide variation.</a:t>
            </a:r>
          </a:p>
          <a:p>
            <a:r>
              <a:t/>
            </a:r>
          </a:p>
          <a:p>
            <a:r>
              <a:t>CHECK AND EXPECTED ANSWER</a:t>
            </a:r>
          </a:p>
          <a:p>
            <a:r>
              <a:t>For a bar chart comparing amounts, why normally start the value axis at zero? Bar length encodes magnitude; truncation can exaggerate differences.</a:t>
            </a:r>
          </a:p>
          <a:p>
            <a:r>
              <a:t/>
            </a:r>
          </a:p>
          <a:p>
            <a:r>
              <a:t>IF LEARNERS ARE STUCK</a:t>
            </a:r>
          </a:p>
          <a:p>
            <a:r>
              <a:t>Read one mark aloud as a sentence. Check the population, period, filters and units before stating the finding.</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PROJECT UPLOAD SET</a:t>
            </a:r>
          </a:p>
          <a:p>
            <a:r>
              <a:t>For the DA_PROJECT or ML_PROJECT, submit the completed project .ipynb together with one readable DOCX or selectable-text PDF report. This differs from the single-notebook test packet. The current public project guide defines the evidence and rubric; do not substitute weekly practice for the project.</a:t>
            </a:r>
          </a:p>
          <a:p>
            <a:r>
              <a:t/>
            </a:r>
          </a:p>
          <a:p>
            <a:r>
              <a:t>NEXT</a:t>
            </a:r>
          </a:p>
          <a:p>
            <a:r>
              <a:t>Data analysis project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Data analysis project continued</a:t>
            </a:r>
          </a:p>
          <a:p>
            <a:r>
              <a:t/>
            </a:r>
          </a:p>
          <a:p>
            <a:r>
              <a:t>CONNECT</a:t>
            </a:r>
          </a:p>
          <a:p>
            <a:r>
              <a:t>Build on the preceding slide: Data analysis project continued.</a:t>
            </a:r>
          </a:p>
          <a:p>
            <a:r>
              <a:t/>
            </a:r>
          </a:p>
          <a:p>
            <a:r>
              <a:t>LECTURER CUE</a:t>
            </a:r>
          </a:p>
          <a:p>
            <a:r>
              <a:t># CML3112 DA_PROJECT: Data analysis project — variant A</a:t>
            </a:r>
          </a:p>
          <a:p>
            <a:r>
              <a:t>Full assessment requirements belong in the current public task guide; explain only the criterion or task shown on this slide.</a:t>
            </a:r>
          </a:p>
          <a:p>
            <a:r>
              <a:t/>
            </a:r>
          </a:p>
          <a:p>
            <a:r>
              <a:t>EXPLAIN IN ORDINARY WORDS</a:t>
            </a:r>
          </a:p>
          <a:p>
            <a:r>
              <a:t>A repository is the project folder and recorded history. A commit records a chosen change; uploading or pushing shares it. A README tells someone else how to run the work.</a:t>
            </a:r>
          </a:p>
          <a:p>
            <a:r>
              <a:t/>
            </a:r>
          </a:p>
          <a:p>
            <a:r>
              <a:t>CHECK AND EXPECTED ANSWER</a:t>
            </a:r>
          </a:p>
          <a:p>
            <a:r>
              <a:t>Does saving to GitHub hand in the assignment? No; submission requires the correct form and its confirmation.</a:t>
            </a:r>
          </a:p>
          <a:p>
            <a:r>
              <a:t/>
            </a:r>
          </a:p>
          <a:p>
            <a:r>
              <a:t>IF LEARNERS ARE STUCK</a:t>
            </a:r>
          </a:p>
          <a:p>
            <a:r>
              <a:t>Ask a partner to follow only the README. It should identify the data, files, run order and expected result. Keep secrets out of the repository.</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PROJECT UPLOAD SET</a:t>
            </a:r>
          </a:p>
          <a:p>
            <a:r>
              <a:t>For the DA_PROJECT or ML_PROJECT, submit the completed project .ipynb together with one readable DOCX or selectable-text PDF report. This differs from the single-notebook test packet. The current public project guide defines the evidence and rubric; do not substitute weekly practice for the project.</a:t>
            </a:r>
          </a:p>
          <a:p>
            <a:r>
              <a:t/>
            </a:r>
          </a:p>
          <a:p>
            <a:r>
              <a:t>NEXT</a:t>
            </a:r>
          </a:p>
          <a:p>
            <a:r>
              <a:t>Data analysis project submission.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Data analysis project submission</a:t>
            </a:r>
          </a:p>
          <a:p>
            <a:r>
              <a:t/>
            </a:r>
          </a:p>
          <a:p>
            <a:r>
              <a:t>CONNECT</a:t>
            </a:r>
          </a:p>
          <a:p>
            <a:r>
              <a:t>Build on the preceding slide: Data analysis project continued.</a:t>
            </a:r>
          </a:p>
          <a:p>
            <a:r>
              <a:t/>
            </a:r>
          </a:p>
          <a:p>
            <a:r>
              <a:t>LECTURER CUE</a:t>
            </a:r>
          </a:p>
          <a:p>
            <a:r>
              <a:t>The form link is cohort-specific. Recheck the live form and release status before class. These scheduled assignment dates are separate from the quiz activation window. The issued brief defines the required files, even if the form accepts additional formats. Source: data/submission_links.json</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PROJECT UPLOAD SET</a:t>
            </a:r>
          </a:p>
          <a:p>
            <a:r>
              <a:t>For the DA_PROJECT or ML_PROJECT, submit the completed project .ipynb together with one readable DOCX or selectable-text PDF report. This differs from the single-notebook test packet. The current public project guide defines the evidence and rubric; do not substitute weekly practice for the project.</a:t>
            </a:r>
          </a:p>
          <a:p>
            <a:r>
              <a:t/>
            </a:r>
          </a:p>
          <a:p>
            <a:r>
              <a:t>NEXT</a:t>
            </a:r>
          </a:p>
          <a:p>
            <a:r>
              <a:t>Week 8 quiz.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Week 8 quiz</a:t>
            </a:r>
          </a:p>
          <a:p>
            <a:r>
              <a:t/>
            </a:r>
          </a:p>
          <a:p>
            <a:r>
              <a:t>CONNECT</a:t>
            </a:r>
          </a:p>
          <a:p>
            <a:r>
              <a:t>Build on the preceding slide: Data analysis project submission.</a:t>
            </a:r>
          </a:p>
          <a:p>
            <a:r>
              <a:t/>
            </a:r>
          </a:p>
          <a:p>
            <a:r>
              <a:t>LECTURER CUE</a:t>
            </a:r>
          </a:p>
          <a:p>
            <a:r>
              <a:t>Activate the matching open_W8_CML3112 function in Quiz Controls, then confirm the 24-hour close time. Opening this slide or clicking its link does not activate the form. The 24 hours is the availability window. Keep existing quiz scoring and form rules. Do not show private answer keys.</a:t>
            </a:r>
          </a:p>
          <a:p>
            <a:r>
              <a:t/>
            </a:r>
          </a:p>
          <a:p>
            <a:r>
              <a:t>QUIZ OPERATION</a:t>
            </a:r>
          </a:p>
          <a:p>
            <a:r>
              <a:t>Opening the student link does not activate the quiz. In Quiz Controls run the matching open_W&lt;week&gt;_&lt;cohort&gt; function once when ready. Announce the logged closing time: 24 hours after activation. Five minutes describes expected answering time, not the availability window. Quiz 1 and Quiz 2 require separate activation when collecting catch-up work.</a:t>
            </a:r>
          </a:p>
          <a:p>
            <a:r>
              <a:t/>
            </a:r>
          </a:p>
          <a:p>
            <a:r>
              <a:t>NEXT</a:t>
            </a:r>
          </a:p>
          <a:p>
            <a:r>
              <a:t>Before you leave.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Before you leave</a:t>
            </a:r>
          </a:p>
          <a:p>
            <a:r>
              <a:t/>
            </a:r>
          </a:p>
          <a:p>
            <a:r>
              <a:t>CONNECT</a:t>
            </a:r>
          </a:p>
          <a:p>
            <a:r>
              <a:t>Build on the preceding slide: Week 8 quiz.</a:t>
            </a:r>
          </a:p>
          <a:p>
            <a:r>
              <a:t/>
            </a:r>
          </a:p>
          <a:p>
            <a:r>
              <a:t>LECTURER CUE</a:t>
            </a:r>
          </a:p>
          <a:p>
            <a:r>
              <a:t>Ask every learner for an individual response. Record one misconception to revisit at the start of the next class. If a deadline changed, announce the exact Kampala date and update the source registry before rebuilding slides.</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a70cf0f15e41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c6062a5f964905" /><Relationship Type="http://schemas.openxmlformats.org/officeDocument/2006/relationships/slideLayout" Target="/ppt/slideLayouts/slideLayout1.xml" Id="R3b00da90e9224a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00da90e9224a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301882e17134ab1" /><Relationship Type="http://schemas.openxmlformats.org/officeDocument/2006/relationships/image" Target="/ppt/media/image.png" Id="Ra094411c0ad84633" /><Relationship Type="http://schemas.openxmlformats.org/officeDocument/2006/relationships/notesSlide" Target="/ppt/notesSlides/notesSlide1.xml" Id="R1bfb82cb306b42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251614c97d64b1b" /><Relationship Type="http://schemas.openxmlformats.org/officeDocument/2006/relationships/notesSlide" Target="/ppt/notesSlides/notesSlide2.xml" Id="R0caad8e28a414e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9b887673cdf4097" /><Relationship Type="http://schemas.openxmlformats.org/officeDocument/2006/relationships/notesSlide" Target="/ppt/notesSlides/notesSlide3.xml" Id="Rb3cc25114c7c41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17c51914b794774" /><Relationship Type="http://schemas.openxmlformats.org/officeDocument/2006/relationships/notesSlide" Target="/ppt/notesSlides/notesSlide4.xml" Id="R18e9ec0038b543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e65c64f7ff645ed" /><Relationship Type="http://schemas.openxmlformats.org/officeDocument/2006/relationships/notesSlide" Target="/ppt/notesSlides/notesSlide5.xml" Id="R622cc453db5249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c93d58301814b52" /><Relationship Type="http://schemas.openxmlformats.org/officeDocument/2006/relationships/notesSlide" Target="/ppt/notesSlides/notesSlide6.xml" Id="R117608d7deec49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16045a29d284df1" /><Relationship Type="http://schemas.openxmlformats.org/officeDocument/2006/relationships/notesSlide" Target="/ppt/notesSlides/notesSlide7.xml" Id="Rd0c168ac6e034a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8eeeefb1724681" /><Relationship Type="http://schemas.openxmlformats.org/officeDocument/2006/relationships/notesSlide" Target="/ppt/notesSlides/notesSlide8.xml" Id="Rf53600c41ee341a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02fb23f4a2149fb" /><Relationship Type="http://schemas.openxmlformats.org/officeDocument/2006/relationships/notesSlide" Target="/ppt/notesSlides/notesSlide9.xml" Id="Re1d63a4ed13c474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25d896e859d4821" /><Relationship Type="http://schemas.openxmlformats.org/officeDocument/2006/relationships/notesSlide" Target="/ppt/notesSlides/notesSlide10.xml" Id="Rc67d9cc26e5c4f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e11ec9362be469f" /><Relationship Type="http://schemas.openxmlformats.org/officeDocument/2006/relationships/notesSlide" Target="/ppt/notesSlides/notesSlide11.xml" Id="R2fe27dae4891433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856d3e85f404daf" /><Relationship Type="http://schemas.openxmlformats.org/officeDocument/2006/relationships/image" Target="/ppt/media/image2.png" Id="Raca08f57eae34445" /><Relationship Type="http://schemas.openxmlformats.org/officeDocument/2006/relationships/notesSlide" Target="/ppt/notesSlides/notesSlide12.xml" Id="R6f791d2c14d242c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cfa407234b24832" /><Relationship Type="http://schemas.openxmlformats.org/officeDocument/2006/relationships/notesSlide" Target="/ppt/notesSlides/notesSlide13.xml" Id="R99a326ef11434cc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bbd56ce3a7d401a" /><Relationship Type="http://schemas.openxmlformats.org/officeDocument/2006/relationships/notesSlide" Target="/ppt/notesSlides/notesSlide14.xml" Id="R1ad99a32bacf47a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1c86b76223a4d32" /><Relationship Type="http://schemas.openxmlformats.org/officeDocument/2006/relationships/notesSlide" Target="/ppt/notesSlides/notesSlide15.xml" Id="R813055eb58c34e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6b6a67bc81f42ad" /><Relationship Type="http://schemas.openxmlformats.org/officeDocument/2006/relationships/notesSlide" Target="/ppt/notesSlides/notesSlide16.xml" Id="R3e6892d549014c2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b0afba54cc34cfe" /><Relationship Type="http://schemas.openxmlformats.org/officeDocument/2006/relationships/notesSlide" Target="/ppt/notesSlides/notesSlide17.xml" Id="R775b62aaf1944d3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3a4b42e73c2480e" /><Relationship Type="http://schemas.openxmlformats.org/officeDocument/2006/relationships/notesSlide" Target="/ppt/notesSlides/notesSlide18.xml" Id="Rcb42c7ad6ca140b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8ab690464b94601" /><Relationship Type="http://schemas.openxmlformats.org/officeDocument/2006/relationships/notesSlide" Target="/ppt/notesSlides/notesSlide19.xml" Id="R2e314929040d453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303fce5709846b6" /><Relationship Type="http://schemas.openxmlformats.org/officeDocument/2006/relationships/notesSlide" Target="/ppt/notesSlides/notesSlide20.xml" Id="R5eeb52bbddd7498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20baad80a744b03" /><Relationship Type="http://schemas.openxmlformats.org/officeDocument/2006/relationships/notesSlide" Target="/ppt/notesSlides/notesSlide21.xml" Id="R992b24337461452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e2dd277f1bb468f" /><Relationship Type="http://schemas.openxmlformats.org/officeDocument/2006/relationships/notesSlide" Target="/ppt/notesSlides/notesSlide22.xml" Id="Ra825beaec39744c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9343f0057644edf" /><Relationship Type="http://schemas.openxmlformats.org/officeDocument/2006/relationships/notesSlide" Target="/ppt/notesSlides/notesSlide23.xml" Id="R021085fdd66a424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26128f8f97d4da2" /><Relationship Type="http://schemas.openxmlformats.org/officeDocument/2006/relationships/notesSlide" Target="/ppt/notesSlides/notesSlide24.xml" Id="R71c1989e712845a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d132d39e59b4a37" /><Relationship Type="http://schemas.openxmlformats.org/officeDocument/2006/relationships/notesSlide" Target="/ppt/notesSlides/notesSlide25.xml" Id="R42cb09abb86d4f8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0acca5a4f9741b5" /><Relationship Type="http://schemas.openxmlformats.org/officeDocument/2006/relationships/notesSlide" Target="/ppt/notesSlides/notesSlide26.xml" Id="Rf21ca57b0463496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fe05ff52b3b45fb" /><Relationship Type="http://schemas.openxmlformats.org/officeDocument/2006/relationships/notesSlide" Target="/ppt/notesSlides/notesSlide27.xml" Id="Rd31a4cc4637548b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551b41e229245b0" /><Relationship Type="http://schemas.openxmlformats.org/officeDocument/2006/relationships/notesSlide" Target="/ppt/notesSlides/notesSlide28.xml" Id="R3f90f0b947a84a6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ce7dd05ff184794" /><Relationship Type="http://schemas.openxmlformats.org/officeDocument/2006/relationships/notesSlide" Target="/ppt/notesSlides/notesSlide29.xml" Id="R17695da8919d4e6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1b7a1f07cf44ba4" /><Relationship Type="http://schemas.openxmlformats.org/officeDocument/2006/relationships/notesSlide" Target="/ppt/notesSlides/notesSlide30.xml" Id="R65eb37e0453a4c5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887bc563e3342e9" /><Relationship Type="http://schemas.openxmlformats.org/officeDocument/2006/relationships/notesSlide" Target="/ppt/notesSlides/notesSlide31.xml" Id="Ree1cb2fa117a42b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973e46b9e1a46ca" /><Relationship Type="http://schemas.openxmlformats.org/officeDocument/2006/relationships/notesSlide" Target="/ppt/notesSlides/notesSlide32.xml" Id="Rd028474909fa475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cfaff0f4e4f448d" /><Relationship Type="http://schemas.openxmlformats.org/officeDocument/2006/relationships/notesSlide" Target="/ppt/notesSlides/notesSlide33.xml" Id="R902d93b5a8bd44d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114ef8bda0d4cda" /><Relationship Type="http://schemas.openxmlformats.org/officeDocument/2006/relationships/notesSlide" Target="/ppt/notesSlides/notesSlide34.xml" Id="R149066753cc64a4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a094c540dd7448b" /><Relationship Type="http://schemas.openxmlformats.org/officeDocument/2006/relationships/notesSlide" Target="/ppt/notesSlides/notesSlide35.xml" Id="R8fa65cad19824d6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956f476815b74192" /><Relationship Type="http://schemas.openxmlformats.org/officeDocument/2006/relationships/notesSlide" Target="/ppt/notesSlides/notesSlide36.xml" Id="R383025c618174b4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faa2cc8b8554b13" /><Relationship Type="http://schemas.openxmlformats.org/officeDocument/2006/relationships/notesSlide" Target="/ppt/notesSlides/notesSlide37.xml" Id="R2ce38e4e890c436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2c0691db384462a" /><Relationship Type="http://schemas.openxmlformats.org/officeDocument/2006/relationships/notesSlide" Target="/ppt/notesSlides/notesSlide38.xml" Id="R4f439c92168e4e5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7402817453b44343" /><Relationship Type="http://schemas.openxmlformats.org/officeDocument/2006/relationships/notesSlide" Target="/ppt/notesSlides/notesSlide39.xml" Id="Rbc79c0e7190d4f0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89296fe722184fbd" /><Relationship Type="http://schemas.openxmlformats.org/officeDocument/2006/relationships/notesSlide" Target="/ppt/notesSlides/notesSlide40.xml" Id="R0274103dee8e444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392ec5368e604e2a" /><Relationship Type="http://schemas.openxmlformats.org/officeDocument/2006/relationships/notesSlide" Target="/ppt/notesSlides/notesSlide41.xml" Id="R0838d2fa7faf47a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a18bf67f41864668" /><Relationship Type="http://schemas.openxmlformats.org/officeDocument/2006/relationships/notesSlide" Target="/ppt/notesSlides/notesSlide42.xml" Id="Rf2dce71e204a4ed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9f5dd60cb85a4b49" /><Relationship Type="http://schemas.openxmlformats.org/officeDocument/2006/relationships/notesSlide" Target="/ppt/notesSlides/notesSlide43.xml" Id="R503a3aa1b7ec468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80983d0beea548a5" /><Relationship Type="http://schemas.openxmlformats.org/officeDocument/2006/relationships/notesSlide" Target="/ppt/notesSlides/notesSlide44.xml" Id="R510a903d7bef4bd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bbc90a3258ef4005" /><Relationship Type="http://schemas.openxmlformats.org/officeDocument/2006/relationships/notesSlide" Target="/ppt/notesSlides/notesSlide45.xml" Id="Rd3a0d1e2f4a9406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3ce650da744d438c" /><Relationship Type="http://schemas.openxmlformats.org/officeDocument/2006/relationships/hyperlink" Target="https://www.youtube.com/watch?v=aFDOzpTeg0s" TargetMode="External" Id="R96f89051ed874872" /><Relationship Type="http://schemas.openxmlformats.org/officeDocument/2006/relationships/notesSlide" Target="/ppt/notesSlides/notesSlide46.xml" Id="R0ec2951e64fc4c4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50ea221d4c18432c" /><Relationship Type="http://schemas.openxmlformats.org/officeDocument/2006/relationships/notesSlide" Target="/ppt/notesSlides/notesSlide47.xml" Id="R67843bc35a91405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658edbf024754672" /><Relationship Type="http://schemas.openxmlformats.org/officeDocument/2006/relationships/notesSlide" Target="/ppt/notesSlides/notesSlide48.xml" Id="Ra03a74e497614dc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223ba8622f5c429e" /><Relationship Type="http://schemas.openxmlformats.org/officeDocument/2006/relationships/notesSlide" Target="/ppt/notesSlides/notesSlide49.xml" Id="Rf99a943034fe44d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ecea874b0d464c30" /><Relationship Type="http://schemas.openxmlformats.org/officeDocument/2006/relationships/notesSlide" Target="/ppt/notesSlides/notesSlide50.xml" Id="Re80303f18dd948e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c49345add2bc4a50" /><Relationship Type="http://schemas.openxmlformats.org/officeDocument/2006/relationships/notesSlide" Target="/ppt/notesSlides/notesSlide51.xml" Id="R9bccd13c21874f0c"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9ca40fa687014a35" /><Relationship Type="http://schemas.openxmlformats.org/officeDocument/2006/relationships/notesSlide" Target="/ppt/notesSlides/notesSlide52.xml" Id="R3d93e9833955441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5a19bb124feb48f9" /><Relationship Type="http://schemas.openxmlformats.org/officeDocument/2006/relationships/notesSlide" Target="/ppt/notesSlides/notesSlide53.xml" Id="R573f1fa3d37943a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e185390afc3f4061" /><Relationship Type="http://schemas.openxmlformats.org/officeDocument/2006/relationships/notesSlide" Target="/ppt/notesSlides/notesSlide54.xml" Id="R4ce93e761a254be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0040e79e6e844e55" /><Relationship Type="http://schemas.openxmlformats.org/officeDocument/2006/relationships/notesSlide" Target="/ppt/notesSlides/notesSlide55.xml" Id="Rd3569c070a434b64"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89e5402a625a4349" /><Relationship Type="http://schemas.openxmlformats.org/officeDocument/2006/relationships/hyperlink" Target="https://docs.google.com/forms/d/e/1FAIpQLSfOpt4U_rhJrjlYCp6pyzm9ygu2vN5EwO9yeAiJaUKy-kJKoA/viewform" TargetMode="External" Id="R7c17cd0dbb7c4e14" /><Relationship Type="http://schemas.openxmlformats.org/officeDocument/2006/relationships/notesSlide" Target="/ppt/notesSlides/notesSlide56.xml" Id="R2d4cea9ad4684fbe"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faa1b16a5015406b" /><Relationship Type="http://schemas.openxmlformats.org/officeDocument/2006/relationships/notesSlide" Target="/ppt/notesSlides/notesSlide57.xml" Id="Rea0666fd17c74f08"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781fceaabf0e4414" /><Relationship Type="http://schemas.openxmlformats.org/officeDocument/2006/relationships/notesSlide" Target="/ppt/notesSlides/notesSlide58.xml" Id="R8f5c275e1a784f0c"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9091c470439f4697" /><Relationship Type="http://schemas.openxmlformats.org/officeDocument/2006/relationships/notesSlide" Target="/ppt/notesSlides/notesSlide59.xml" Id="Rb007f9500d8b418a"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0d54452a5cb647a9" /><Relationship Type="http://schemas.openxmlformats.org/officeDocument/2006/relationships/notesSlide" Target="/ppt/notesSlides/notesSlide60.xml" Id="R29133bb202e940c2"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018a0757354c4d3d" /><Relationship Type="http://schemas.openxmlformats.org/officeDocument/2006/relationships/notesSlide" Target="/ppt/notesSlides/notesSlide61.xml" Id="Rc4de5868d8fb46af"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c1ff20e1885f4949" /><Relationship Type="http://schemas.openxmlformats.org/officeDocument/2006/relationships/hyperlink" Target="https://docs.google.com/forms/d/e/1FAIpQLScBWq6-FVmuDHGDXqQzURw8zP6C0I8H_GnhD7sinBspayooCA/viewform" TargetMode="External" Id="Rf8c63b2e7b4b4e65" /><Relationship Type="http://schemas.openxmlformats.org/officeDocument/2006/relationships/notesSlide" Target="/ppt/notesSlides/notesSlide62.xml" Id="R5462b4b79ac1426a"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2e27fb45f3124657" /><Relationship Type="http://schemas.openxmlformats.org/officeDocument/2006/relationships/image" Target="/ppt/media/image3.png" Id="R3e76028bb5054406" /><Relationship Type="http://schemas.openxmlformats.org/officeDocument/2006/relationships/hyperlink" Target="https://forms.gle/MKAfeSE9NfRziGebA" TargetMode="External" Id="R4f5e36d55831478d" /><Relationship Type="http://schemas.openxmlformats.org/officeDocument/2006/relationships/notesSlide" Target="/ppt/notesSlides/notesSlide63.xml" Id="Rf3b9fc8e43da42f1"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b9ab4516ea4f4ade" /><Relationship Type="http://schemas.openxmlformats.org/officeDocument/2006/relationships/notesSlide" Target="/ppt/notesSlides/notesSlide64.xml" Id="R75a16c5d76364ce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094411c0ad84633"/>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6D2262D-EFF9-4F89-9302-FCE587B8AA3F}"/>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2865629-7F36-48E6-8112-B9B524FC12C5}"/>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CML3112   WEEK 8</a:t>
            </a:r>
          </a:p>
        </p:txBody>
      </p:sp>
      <p:sp>
        <p:nvSpPr>
          <p:cNvPr id="4" name="">
            <a:extLst xmlns:a="http://schemas.openxmlformats.org/drawingml/2006/main">
              <a:ext uri="{FF2B5EF4-FFF2-40B4-BE49-F238E27FC236}">
                <a16:creationId xmlns:a16="http://schemas.microsoft.com/office/drawing/2014/main" id="{23FD4470-E0A7-4D35-B689-66081101AEBB}"/>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A first prediction model</a:t>
            </a:r>
          </a:p>
        </p:txBody>
      </p:sp>
      <p:sp>
        <p:nvSpPr>
          <p:cNvPr id="5" name="">
            <a:extLst xmlns:a="http://schemas.openxmlformats.org/drawingml/2006/main">
              <a:ext uri="{FF2B5EF4-FFF2-40B4-BE49-F238E27FC236}">
                <a16:creationId xmlns:a16="http://schemas.microsoft.com/office/drawing/2014/main" id="{C2F412ED-9EB0-46A9-A9E2-ADA17BC4927B}"/>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Civil Engineering and Architecture</a:t>
            </a:r>
          </a:p>
        </p:txBody>
      </p:sp>
      <p:sp>
        <p:nvSpPr>
          <p:cNvPr id="6" name="">
            <a:extLst xmlns:a="http://schemas.openxmlformats.org/drawingml/2006/main">
              <a:ext uri="{FF2B5EF4-FFF2-40B4-BE49-F238E27FC236}">
                <a16:creationId xmlns:a16="http://schemas.microsoft.com/office/drawing/2014/main" id="{80BD02ED-6C03-4D6E-9A5B-A5F1C07D8691}"/>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27 October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11:00–14:00, Room 106</a:t>
            </a:r>
          </a:p>
        </p:txBody>
      </p:sp>
    </p:spTree>
    <p:extLst>
      <p:ext uri="{BB962C8B-B14F-4D97-AF65-F5344CB8AC3E}">
        <p14:creationId xmlns:p14="http://schemas.microsoft.com/office/powerpoint/2010/main" val="13873293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642A345-466A-46D4-9D9B-938FA071791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823FCA-C0EB-40D9-AB50-7B616F9E0D9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93A0BCE2-F739-48F5-A965-ACE7270434F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D7A99370-F750-466F-B33C-DA5147CAC73C}"/>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B8681E5-5443-4710-9736-89079BC1E55F}"/>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F20F717C-8E2C-4B40-9692-695B586D0CC9}"/>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Identify prediction inputs and a measured target.</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Fit a simple model and compare prediction errors.</a:t>
            </a:r>
          </a:p>
        </p:txBody>
      </p:sp>
      <p:sp>
        <p:nvSpPr>
          <p:cNvPr id="7" name="">
            <a:extLst xmlns:a="http://schemas.openxmlformats.org/drawingml/2006/main">
              <a:ext uri="{FF2B5EF4-FFF2-40B4-BE49-F238E27FC236}">
                <a16:creationId xmlns:a16="http://schemas.microsoft.com/office/drawing/2014/main" id="{102B260A-DF67-4D1C-B663-848D33565149}"/>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B704145C-BE96-4A3D-89C0-7BB46A09A70F}"/>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calculate one error and explain why evaluation needs unseen observations.</a:t>
            </a:r>
          </a:p>
        </p:txBody>
      </p:sp>
      <p:sp>
        <p:nvSpPr>
          <p:cNvPr id="9" name="">
            <a:extLst xmlns:a="http://schemas.openxmlformats.org/drawingml/2006/main">
              <a:ext uri="{FF2B5EF4-FFF2-40B4-BE49-F238E27FC236}">
                <a16:creationId xmlns:a16="http://schemas.microsoft.com/office/drawing/2014/main" id="{A005F857-486E-49D9-ACFF-7B3B346AFB6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2</a:t>
            </a:r>
          </a:p>
        </p:txBody>
      </p:sp>
    </p:spTree>
    <p:extLst>
      <p:ext uri="{BB962C8B-B14F-4D97-AF65-F5344CB8AC3E}">
        <p14:creationId xmlns:p14="http://schemas.microsoft.com/office/powerpoint/2010/main" val="1466863737"/>
      </p:ext>
    </p:extLst>
  </p:cSld>
</p:sld>
</file>

<file path=ppt/slides/slide3.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AFBFF7-135E-432F-811E-3986956F2D2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PREDICT BEFORE RUNNING</a:t>
            </a:r>
          </a:p>
        </p:txBody>
      </p:sp>
      <p:sp>
        <p:nvSpPr>
          <p:cNvPr id="2" name="">
            <a:extLst xmlns:a="http://schemas.openxmlformats.org/drawingml/2006/main">
              <a:ext uri="{FF2B5EF4-FFF2-40B4-BE49-F238E27FC236}">
                <a16:creationId xmlns:a16="http://schemas.microsoft.com/office/drawing/2014/main" id="{A1B68090-C6E4-41FF-9B99-84B134DFC59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Recall and a first attempt</a:t>
            </a:r>
          </a:p>
        </p:txBody>
      </p:sp>
      <p:sp>
        <p:nvSpPr>
          <p:cNvPr id="3" name="">
            <a:extLst xmlns:a="http://schemas.openxmlformats.org/drawingml/2006/main">
              <a:ext uri="{FF2B5EF4-FFF2-40B4-BE49-F238E27FC236}">
                <a16:creationId xmlns:a16="http://schemas.microsoft.com/office/drawing/2014/main" id="{B22A39F0-C0E8-4A4F-8506-C0D44BB52E2D}"/>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YOUR TURN</a:t>
            </a:r>
          </a:p>
        </p:txBody>
      </p:sp>
      <p:sp>
        <p:nvSpPr>
          <p:cNvPr id="4" name="">
            <a:extLst xmlns:a="http://schemas.openxmlformats.org/drawingml/2006/main">
              <a:ext uri="{FF2B5EF4-FFF2-40B4-BE49-F238E27FC236}">
                <a16:creationId xmlns:a16="http://schemas.microsoft.com/office/drawing/2014/main" id="{1FCE5F58-A8FB-45A6-B9A8-B7BB41ED5CD6}"/>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Given three measured temperatures, calculate the mean. How would you predict a fourth temperature without any other information?</a:t>
            </a:r>
          </a:p>
        </p:txBody>
      </p:sp>
      <p:sp>
        <p:nvSpPr>
          <p:cNvPr id="5" name="">
            <a:extLst xmlns:a="http://schemas.openxmlformats.org/drawingml/2006/main">
              <a:ext uri="{FF2B5EF4-FFF2-40B4-BE49-F238E27FC236}">
                <a16:creationId xmlns:a16="http://schemas.microsoft.com/office/drawing/2014/main" id="{E41DA9F0-5805-4EBD-AA0C-65754A76168F}"/>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Think alone first. Then compare your reasoning with a partner.</a:t>
            </a:r>
          </a:p>
        </p:txBody>
      </p:sp>
      <p:sp>
        <p:nvSpPr>
          <p:cNvPr id="6" name="">
            <a:extLst xmlns:a="http://schemas.openxmlformats.org/drawingml/2006/main">
              <a:ext uri="{FF2B5EF4-FFF2-40B4-BE49-F238E27FC236}">
                <a16:creationId xmlns:a16="http://schemas.microsoft.com/office/drawing/2014/main" id="{7DD1C041-92ED-45FE-BA56-AD811961D7D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8   3</a:t>
            </a:r>
          </a:p>
        </p:txBody>
      </p:sp>
    </p:spTree>
    <p:extLst>
      <p:ext uri="{BB962C8B-B14F-4D97-AF65-F5344CB8AC3E}">
        <p14:creationId xmlns:p14="http://schemas.microsoft.com/office/powerpoint/2010/main" val="8554880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9153B6B-0CBF-42AB-A107-834E4D018DC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887061-B232-4899-BE0D-03CBBAE15DC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THE ENGINEERING QUESTION</a:t>
            </a:r>
          </a:p>
        </p:txBody>
      </p:sp>
      <p:sp>
        <p:nvSpPr>
          <p:cNvPr id="3" name="">
            <a:extLst xmlns:a="http://schemas.openxmlformats.org/drawingml/2006/main">
              <a:ext uri="{FF2B5EF4-FFF2-40B4-BE49-F238E27FC236}">
                <a16:creationId xmlns:a16="http://schemas.microsoft.com/office/drawing/2014/main" id="{19AFC577-5B7A-47AA-A791-CE517F28AF4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engineering context</a:t>
            </a:r>
          </a:p>
        </p:txBody>
      </p:sp>
      <p:sp>
        <p:nvSpPr>
          <p:cNvPr id="4" name="">
            <a:extLst xmlns:a="http://schemas.openxmlformats.org/drawingml/2006/main">
              <a:ext uri="{FF2B5EF4-FFF2-40B4-BE49-F238E27FC236}">
                <a16:creationId xmlns:a16="http://schemas.microsoft.com/office/drawing/2014/main" id="{CD543B0C-C9A3-419F-BCFC-BC254D88056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D5EFF95-BE77-4E8D-A41D-B3BE409A621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building team records indoor temperature to investigate comfort.</a:t>
            </a:r>
          </a:p>
        </p:txBody>
      </p:sp>
      <p:sp>
        <p:nvSpPr>
          <p:cNvPr id="6" name="">
            <a:extLst xmlns:a="http://schemas.openxmlformats.org/drawingml/2006/main">
              <a:ext uri="{FF2B5EF4-FFF2-40B4-BE49-F238E27FC236}">
                <a16:creationId xmlns:a16="http://schemas.microsoft.com/office/drawing/2014/main" id="{B7BB0C07-9D69-46D9-86D4-4468FB95B0D2}"/>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5645601-698F-4B11-856D-92A211585D4F}"/>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Civil students can discuss construction and inspection; architecture students can discuss shading and ventilation.</a:t>
            </a:r>
          </a:p>
        </p:txBody>
      </p:sp>
      <p:sp>
        <p:nvSpPr>
          <p:cNvPr id="8" name="">
            <a:extLst xmlns:a="http://schemas.openxmlformats.org/drawingml/2006/main">
              <a:ext uri="{FF2B5EF4-FFF2-40B4-BE49-F238E27FC236}">
                <a16:creationId xmlns:a16="http://schemas.microsoft.com/office/drawing/2014/main" id="{025ECBB6-D5B4-4657-A40A-E018AD9DCB4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ED3228C-B8D8-43F1-9248-57436F25D1D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measurement includes a number and its unit.</a:t>
            </a:r>
          </a:p>
        </p:txBody>
      </p:sp>
      <p:sp>
        <p:nvSpPr>
          <p:cNvPr id="10" name="">
            <a:extLst xmlns:a="http://schemas.openxmlformats.org/drawingml/2006/main">
              <a:ext uri="{FF2B5EF4-FFF2-40B4-BE49-F238E27FC236}">
                <a16:creationId xmlns:a16="http://schemas.microsoft.com/office/drawing/2014/main" id="{1546B20F-0D63-40DE-8DCB-C66B5DF5539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4</a:t>
            </a:r>
          </a:p>
        </p:txBody>
      </p:sp>
    </p:spTree>
    <p:extLst>
      <p:ext uri="{BB962C8B-B14F-4D97-AF65-F5344CB8AC3E}">
        <p14:creationId xmlns:p14="http://schemas.microsoft.com/office/powerpoint/2010/main" val="9987642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7B9A31B-9BAA-4CB9-A8B1-94963749BED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2297A0-F90B-4B6A-A355-82A5FD48B16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94D534E-AE9C-48A6-80DA-9776ADFA040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numerical prediction</a:t>
            </a:r>
          </a:p>
        </p:txBody>
      </p:sp>
      <p:sp>
        <p:nvSpPr>
          <p:cNvPr id="4" name="">
            <a:extLst xmlns:a="http://schemas.openxmlformats.org/drawingml/2006/main">
              <a:ext uri="{FF2B5EF4-FFF2-40B4-BE49-F238E27FC236}">
                <a16:creationId xmlns:a16="http://schemas.microsoft.com/office/drawing/2014/main" id="{051C4038-1C47-449E-9FC7-28EF2E3C394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5EBB93A-125E-447B-AEF8-81C23F7D7349}"/>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Regression predicts a number, such as cooling load in kW.</a:t>
            </a:r>
          </a:p>
        </p:txBody>
      </p:sp>
      <p:sp>
        <p:nvSpPr>
          <p:cNvPr id="6" name="">
            <a:extLst xmlns:a="http://schemas.openxmlformats.org/drawingml/2006/main">
              <a:ext uri="{FF2B5EF4-FFF2-40B4-BE49-F238E27FC236}">
                <a16:creationId xmlns:a16="http://schemas.microsoft.com/office/drawing/2014/main" id="{0130F35A-02C7-4986-910D-EB4F642F7AAA}"/>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C5CBB70-70EF-4624-9E8C-9E3E1446419C}"/>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feature is information available when predicting.</a:t>
            </a:r>
          </a:p>
        </p:txBody>
      </p:sp>
      <p:sp>
        <p:nvSpPr>
          <p:cNvPr id="8" name="">
            <a:extLst xmlns:a="http://schemas.openxmlformats.org/drawingml/2006/main">
              <a:ext uri="{FF2B5EF4-FFF2-40B4-BE49-F238E27FC236}">
                <a16:creationId xmlns:a16="http://schemas.microsoft.com/office/drawing/2014/main" id="{CADC9528-FADA-45DF-B792-3804B5D31DDE}"/>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DF44489-0D4B-42CE-97F1-249BEE9EF6F9}"/>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target is the measured answer used during training.</a:t>
            </a:r>
          </a:p>
        </p:txBody>
      </p:sp>
      <p:sp>
        <p:nvSpPr>
          <p:cNvPr id="10" name="">
            <a:extLst xmlns:a="http://schemas.openxmlformats.org/drawingml/2006/main">
              <a:ext uri="{FF2B5EF4-FFF2-40B4-BE49-F238E27FC236}">
                <a16:creationId xmlns:a16="http://schemas.microsoft.com/office/drawing/2014/main" id="{2D4C959D-2310-48A7-A5A4-8F463C8204C9}"/>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F861EE9A-D908-41D9-982E-0DC29A334477}"/>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Classification, next week, predicts a category.</a:t>
            </a:r>
          </a:p>
        </p:txBody>
      </p:sp>
      <p:sp>
        <p:nvSpPr>
          <p:cNvPr id="12" name="">
            <a:extLst xmlns:a="http://schemas.openxmlformats.org/drawingml/2006/main">
              <a:ext uri="{FF2B5EF4-FFF2-40B4-BE49-F238E27FC236}">
                <a16:creationId xmlns:a16="http://schemas.microsoft.com/office/drawing/2014/main" id="{4D810F0A-6082-4281-A444-EAFB511DBEE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5</a:t>
            </a:r>
          </a:p>
        </p:txBody>
      </p:sp>
    </p:spTree>
    <p:extLst>
      <p:ext uri="{BB962C8B-B14F-4D97-AF65-F5344CB8AC3E}">
        <p14:creationId xmlns:p14="http://schemas.microsoft.com/office/powerpoint/2010/main" val="198447246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C4A876-3134-4A70-9417-D2BBD5D506A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5EABB6-54A6-4643-A500-EA1EEDE1E02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E58EABAC-41B5-4D97-80F9-2DB93E45561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Words we will use</a:t>
            </a:r>
          </a:p>
        </p:txBody>
      </p:sp>
      <p:sp>
        <p:nvSpPr>
          <p:cNvPr id="4" name="">
            <a:extLst xmlns:a="http://schemas.openxmlformats.org/drawingml/2006/main">
              <a:ext uri="{FF2B5EF4-FFF2-40B4-BE49-F238E27FC236}">
                <a16:creationId xmlns:a16="http://schemas.microsoft.com/office/drawing/2014/main" id="{40CF600B-7041-426D-8E7D-C5636B1C708B}"/>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663E346-3599-489B-81E2-61A552EC8B88}"/>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Feature and target</a:t>
            </a:r>
          </a:p>
        </p:txBody>
      </p:sp>
      <p:sp>
        <p:nvSpPr>
          <p:cNvPr id="6" name="">
            <a:extLst xmlns:a="http://schemas.openxmlformats.org/drawingml/2006/main">
              <a:ext uri="{FF2B5EF4-FFF2-40B4-BE49-F238E27FC236}">
                <a16:creationId xmlns:a16="http://schemas.microsoft.com/office/drawing/2014/main" id="{5700BC2A-EDEB-40B7-931D-84D4319AC9FE}"/>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Features are inputs available when making a prediction. The target is the quantity we want to predict.</a:t>
            </a:r>
          </a:p>
        </p:txBody>
      </p:sp>
      <p:sp>
        <p:nvSpPr>
          <p:cNvPr id="7" name="">
            <a:extLst xmlns:a="http://schemas.openxmlformats.org/drawingml/2006/main">
              <a:ext uri="{FF2B5EF4-FFF2-40B4-BE49-F238E27FC236}">
                <a16:creationId xmlns:a16="http://schemas.microsoft.com/office/drawing/2014/main" id="{AB14FD14-DD95-487B-AEAD-E945465AA1F7}"/>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AE0D01D-5FBE-47EF-BB0A-1462C300648F}"/>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Training validation and test</a:t>
            </a:r>
          </a:p>
        </p:txBody>
      </p:sp>
      <p:sp>
        <p:nvSpPr>
          <p:cNvPr id="9" name="">
            <a:extLst xmlns:a="http://schemas.openxmlformats.org/drawingml/2006/main">
              <a:ext uri="{FF2B5EF4-FFF2-40B4-BE49-F238E27FC236}">
                <a16:creationId xmlns:a16="http://schemas.microsoft.com/office/drawing/2014/main" id="{DCB75BB6-353E-413B-A3AE-6E09A07869EF}"/>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Training fits the model. Validation helps choose it. The final test estimates performance after choices are fixed. Repeated equipment must stay in the same partition when assessing unseen equipment.</a:t>
            </a:r>
          </a:p>
        </p:txBody>
      </p:sp>
      <p:sp>
        <p:nvSpPr>
          <p:cNvPr id="10" name="">
            <a:extLst xmlns:a="http://schemas.openxmlformats.org/drawingml/2006/main">
              <a:ext uri="{FF2B5EF4-FFF2-40B4-BE49-F238E27FC236}">
                <a16:creationId xmlns:a16="http://schemas.microsoft.com/office/drawing/2014/main" id="{5A1A17E8-F490-468E-A8C2-FBAEA3CD355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6</a:t>
            </a:r>
          </a:p>
        </p:txBody>
      </p:sp>
    </p:spTree>
    <p:extLst>
      <p:ext uri="{BB962C8B-B14F-4D97-AF65-F5344CB8AC3E}">
        <p14:creationId xmlns:p14="http://schemas.microsoft.com/office/powerpoint/2010/main" val="2346896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1FF0BC-C816-42B0-9A88-347C3766775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9A179C-F26A-4101-A5C9-1FCAA8F3F3F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55D56043-0BB9-40B8-81B7-6F88E832E46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Baseline</a:t>
            </a:r>
          </a:p>
        </p:txBody>
      </p:sp>
      <p:sp>
        <p:nvSpPr>
          <p:cNvPr id="4" name="">
            <a:extLst xmlns:a="http://schemas.openxmlformats.org/drawingml/2006/main">
              <a:ext uri="{FF2B5EF4-FFF2-40B4-BE49-F238E27FC236}">
                <a16:creationId xmlns:a16="http://schemas.microsoft.com/office/drawing/2014/main" id="{BD296DED-3D4C-47BB-A541-8CCA951E53AA}"/>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CFB3A1E-072B-4C22-8CB7-A6142FBA850F}"/>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Baseline</a:t>
            </a:r>
          </a:p>
        </p:txBody>
      </p:sp>
      <p:sp>
        <p:nvSpPr>
          <p:cNvPr id="6" name="">
            <a:extLst xmlns:a="http://schemas.openxmlformats.org/drawingml/2006/main">
              <a:ext uri="{FF2B5EF4-FFF2-40B4-BE49-F238E27FC236}">
                <a16:creationId xmlns:a16="http://schemas.microsoft.com/office/drawing/2014/main" id="{58F7AE71-EE69-42CD-8C61-249FCB94FBE4}"/>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simple reference prediction. A training-mean baseline predicts the same training mean for every new example.</a:t>
            </a:r>
          </a:p>
        </p:txBody>
      </p:sp>
      <p:sp>
        <p:nvSpPr>
          <p:cNvPr id="7" name="">
            <a:extLst xmlns:a="http://schemas.openxmlformats.org/drawingml/2006/main">
              <a:ext uri="{FF2B5EF4-FFF2-40B4-BE49-F238E27FC236}">
                <a16:creationId xmlns:a16="http://schemas.microsoft.com/office/drawing/2014/main" id="{3DFD79E1-21DA-427B-8B21-140A1C8D77D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7</a:t>
            </a:r>
          </a:p>
        </p:txBody>
      </p:sp>
    </p:spTree>
    <p:extLst>
      <p:ext uri="{BB962C8B-B14F-4D97-AF65-F5344CB8AC3E}">
        <p14:creationId xmlns:p14="http://schemas.microsoft.com/office/powerpoint/2010/main" val="115028338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7EFFF0-E3D0-45A9-9E58-E658C2298F1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E6CB4B-EBDE-41F3-A19F-F251B0E29AD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66E4587A-66DB-4FE8-A207-D40DF32C135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Linear model and tree</a:t>
            </a:r>
          </a:p>
        </p:txBody>
      </p:sp>
      <p:sp>
        <p:nvSpPr>
          <p:cNvPr id="4" name="">
            <a:extLst xmlns:a="http://schemas.openxmlformats.org/drawingml/2006/main">
              <a:ext uri="{FF2B5EF4-FFF2-40B4-BE49-F238E27FC236}">
                <a16:creationId xmlns:a16="http://schemas.microsoft.com/office/drawing/2014/main" id="{C92174B1-562B-48AA-A105-B260E7858DBD}"/>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EAD6E0E-78BB-43E0-89D9-DE6517FF64D8}"/>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Linear model and tree</a:t>
            </a:r>
          </a:p>
        </p:txBody>
      </p:sp>
      <p:sp>
        <p:nvSpPr>
          <p:cNvPr id="6" name="">
            <a:extLst xmlns:a="http://schemas.openxmlformats.org/drawingml/2006/main">
              <a:ext uri="{FF2B5EF4-FFF2-40B4-BE49-F238E27FC236}">
                <a16:creationId xmlns:a16="http://schemas.microsoft.com/office/drawing/2014/main" id="{4519304F-78D9-4613-A2E9-4BD6D93F49E9}"/>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linear model combines inputs with learned weights. A regression tree asks feature-threshold questions and predicts a value at each leaf.</a:t>
            </a:r>
          </a:p>
        </p:txBody>
      </p:sp>
      <p:sp>
        <p:nvSpPr>
          <p:cNvPr id="7" name="">
            <a:extLst xmlns:a="http://schemas.openxmlformats.org/drawingml/2006/main">
              <a:ext uri="{FF2B5EF4-FFF2-40B4-BE49-F238E27FC236}">
                <a16:creationId xmlns:a16="http://schemas.microsoft.com/office/drawing/2014/main" id="{4751CE89-D4E1-4510-8896-F7A262312C7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8</a:t>
            </a:r>
          </a:p>
        </p:txBody>
      </p:sp>
    </p:spTree>
    <p:extLst>
      <p:ext uri="{BB962C8B-B14F-4D97-AF65-F5344CB8AC3E}">
        <p14:creationId xmlns:p14="http://schemas.microsoft.com/office/powerpoint/2010/main" val="1533249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C077B54-134B-4784-8B87-99A61C5BB6B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A3FD3B-9941-47FA-8C38-1BDF81D6A60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679F507-C544-4466-947F-9B4067BCB39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learning means in this example</a:t>
            </a:r>
          </a:p>
        </p:txBody>
      </p:sp>
      <p:sp>
        <p:nvSpPr>
          <p:cNvPr id="4" name="">
            <a:extLst xmlns:a="http://schemas.openxmlformats.org/drawingml/2006/main">
              <a:ext uri="{FF2B5EF4-FFF2-40B4-BE49-F238E27FC236}">
                <a16:creationId xmlns:a16="http://schemas.microsoft.com/office/drawing/2014/main" id="{752831BF-AC9A-4C05-B990-8CDD4CEF52F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6A13100-FF5D-4A75-96AE-951179A3D30E}"/>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Training supplies inputs and their known answers.</a:t>
            </a:r>
          </a:p>
        </p:txBody>
      </p:sp>
      <p:sp>
        <p:nvSpPr>
          <p:cNvPr id="6" name="">
            <a:extLst xmlns:a="http://schemas.openxmlformats.org/drawingml/2006/main">
              <a:ext uri="{FF2B5EF4-FFF2-40B4-BE49-F238E27FC236}">
                <a16:creationId xmlns:a16="http://schemas.microsoft.com/office/drawing/2014/main" id="{C976F408-FC25-49AE-AB5B-FEE201CC0FD6}"/>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1877047-C017-4AAD-A671-3529756E276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model uses those examples to choose its internal numbers.</a:t>
            </a:r>
          </a:p>
        </p:txBody>
      </p:sp>
      <p:sp>
        <p:nvSpPr>
          <p:cNvPr id="8" name="">
            <a:extLst xmlns:a="http://schemas.openxmlformats.org/drawingml/2006/main">
              <a:ext uri="{FF2B5EF4-FFF2-40B4-BE49-F238E27FC236}">
                <a16:creationId xmlns:a16="http://schemas.microsoft.com/office/drawing/2014/main" id="{61904DDA-21C7-40F5-A0CF-67196ACB258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E54C12C-4E1B-4FFE-AFEE-E4A31C93355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Prediction applies the fitted model to inputs whose answer we want to estimate.</a:t>
            </a:r>
          </a:p>
        </p:txBody>
      </p:sp>
      <p:sp>
        <p:nvSpPr>
          <p:cNvPr id="10" name="">
            <a:extLst xmlns:a="http://schemas.openxmlformats.org/drawingml/2006/main">
              <a:ext uri="{FF2B5EF4-FFF2-40B4-BE49-F238E27FC236}">
                <a16:creationId xmlns:a16="http://schemas.microsoft.com/office/drawing/2014/main" id="{5ECFD155-C4EA-4B10-88F5-F36191FA694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9</a:t>
            </a:r>
          </a:p>
        </p:txBody>
      </p:sp>
    </p:spTree>
    <p:extLst>
      <p:ext uri="{BB962C8B-B14F-4D97-AF65-F5344CB8AC3E}">
        <p14:creationId xmlns:p14="http://schemas.microsoft.com/office/powerpoint/2010/main" val="172853230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EA4BCD-3A47-45A0-A270-39081F5E744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9E1AF1-997E-4CB2-B0C7-AAA5152FBAA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4A5C47B4-B888-4E5D-868E-7D6D39319AC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Training observations</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5505450"/>
                <a:gridCol w="5505450"/>
              </a:tblGrid>
              <a:tr h="666750">
                <a:tc>
                  <a:txBody>
                    <a:bodyPr/>
                    <a:lstStyle/>
                    <a:p>
                      <a:r>
                        <a:rPr sz="2025" b="1">
                          <a:solidFill>
                            <a:srgbClr val="FFFFFF"/>
                          </a:solidFill>
                          <a:latin typeface="Calibri"/>
                          <a:ea typeface="Calibri"/>
                          <a:cs typeface="Calibri"/>
                        </a:rPr>
                        <a:t>Input</a:t>
                      </a:r>
                    </a:p>
                  </a:txBody>
                  <a:tcPr marL="91440" marR="91440" marT="45720" marB="45720">
                    <a:solidFill>
                      <a:srgbClr val="2E7D6F"/>
                    </a:solidFill>
                  </a:tcPr>
                </a:tc>
                <a:tc>
                  <a:txBody>
                    <a:bodyPr/>
                    <a:lstStyle/>
                    <a:p>
                      <a:r>
                        <a:rPr sz="2025" b="1">
                          <a:solidFill>
                            <a:srgbClr val="FFFFFF"/>
                          </a:solidFill>
                          <a:latin typeface="Calibri"/>
                          <a:ea typeface="Calibri"/>
                          <a:cs typeface="Calibri"/>
                        </a:rPr>
                        <a:t>Measured target</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1</a:t>
                      </a:r>
                    </a:p>
                  </a:txBody>
                  <a:tcPr marL="91440" marR="91440" marT="45720" marB="45720">
                    <a:solidFill>
                      <a:srgbClr val="EEF3F6"/>
                    </a:solidFill>
                  </a:tcPr>
                </a:tc>
                <a:tc>
                  <a:txBody>
                    <a:bodyPr/>
                    <a:lstStyle/>
                    <a:p>
                      <a:r>
                        <a:rPr sz="2025" b="0">
                          <a:solidFill>
                            <a:srgbClr val="1C3144"/>
                          </a:solidFill>
                          <a:latin typeface="Calibri"/>
                          <a:ea typeface="Calibri"/>
                          <a:cs typeface="Calibri"/>
                        </a:rPr>
                        <a:t>12</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2</a:t>
                      </a:r>
                    </a:p>
                  </a:txBody>
                  <a:tcPr marL="91440" marR="91440" marT="45720" marB="45720">
                    <a:solidFill>
                      <a:srgbClr val="FFFFFF"/>
                    </a:solidFill>
                  </a:tcPr>
                </a:tc>
                <a:tc>
                  <a:txBody>
                    <a:bodyPr/>
                    <a:lstStyle/>
                    <a:p>
                      <a:r>
                        <a:rPr sz="2025" b="0">
                          <a:solidFill>
                            <a:srgbClr val="1C3144"/>
                          </a:solidFill>
                          <a:latin typeface="Calibri"/>
                          <a:ea typeface="Calibri"/>
                          <a:cs typeface="Calibri"/>
                        </a:rPr>
                        <a:t>14</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3</a:t>
                      </a:r>
                    </a:p>
                  </a:txBody>
                  <a:tcPr marL="91440" marR="91440" marT="45720" marB="45720">
                    <a:solidFill>
                      <a:srgbClr val="EEF3F6"/>
                    </a:solidFill>
                  </a:tcPr>
                </a:tc>
                <a:tc>
                  <a:txBody>
                    <a:bodyPr/>
                    <a:lstStyle/>
                    <a:p>
                      <a:r>
                        <a:rPr sz="2025" b="0">
                          <a:solidFill>
                            <a:srgbClr val="1C3144"/>
                          </a:solidFill>
                          <a:latin typeface="Calibri"/>
                          <a:ea typeface="Calibri"/>
                          <a:cs typeface="Calibri"/>
                        </a:rPr>
                        <a:t>16</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4</a:t>
                      </a:r>
                    </a:p>
                  </a:txBody>
                  <a:tcPr marL="91440" marR="91440" marT="45720" marB="45720">
                    <a:solidFill>
                      <a:srgbClr val="FFFFFF"/>
                    </a:solidFill>
                  </a:tcPr>
                </a:tc>
                <a:tc>
                  <a:txBody>
                    <a:bodyPr/>
                    <a:lstStyle/>
                    <a:p>
                      <a:r>
                        <a:rPr sz="2025" b="0">
                          <a:solidFill>
                            <a:srgbClr val="1C3144"/>
                          </a:solidFill>
                          <a:latin typeface="Calibri"/>
                          <a:ea typeface="Calibri"/>
                          <a:cs typeface="Calibri"/>
                        </a:rPr>
                        <a:t>18</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8375BF2-157F-4F63-8774-703479A0DCAA}"/>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Invented numbers for learning.</a:t>
            </a:r>
          </a:p>
        </p:txBody>
      </p:sp>
      <p:sp>
        <p:nvSpPr>
          <p:cNvPr id="6" name="">
            <a:extLst xmlns:a="http://schemas.openxmlformats.org/drawingml/2006/main">
              <a:ext uri="{FF2B5EF4-FFF2-40B4-BE49-F238E27FC236}">
                <a16:creationId xmlns:a16="http://schemas.microsoft.com/office/drawing/2014/main" id="{86C57646-5FB4-45D2-BB25-CECA6629980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10</a:t>
            </a:r>
          </a:p>
        </p:txBody>
      </p:sp>
    </p:spTree>
    <p:extLst>
      <p:ext uri="{BB962C8B-B14F-4D97-AF65-F5344CB8AC3E}">
        <p14:creationId xmlns:p14="http://schemas.microsoft.com/office/powerpoint/2010/main" val="176459418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5C72E5-B35D-49A0-943A-6F3B9004074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D3F18F-D21D-492D-B12B-19C1B1AE127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52B757C-B958-42F9-BC2A-A78BE3DBF16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fitted line is a numerical rule</a:t>
            </a:r>
          </a:p>
        </p:txBody>
      </p:sp>
      <p:sp>
        <p:nvSpPr>
          <p:cNvPr id="4" name="">
            <a:extLst xmlns:a="http://schemas.openxmlformats.org/drawingml/2006/main">
              <a:ext uri="{FF2B5EF4-FFF2-40B4-BE49-F238E27FC236}">
                <a16:creationId xmlns:a16="http://schemas.microsoft.com/office/drawing/2014/main" id="{F469EC41-C44D-48B1-82C0-F7321861352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F1F5B12-DD5F-4140-8BCA-604B1C215AF1}"/>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these invented observations, target = 2 × input + 10 matches all four points. 2 is the slope; 10 is the intercept, the value at input zero.</a:t>
            </a:r>
          </a:p>
        </p:txBody>
      </p:sp>
      <p:sp>
        <p:nvSpPr>
          <p:cNvPr id="6" name="">
            <a:extLst xmlns:a="http://schemas.openxmlformats.org/drawingml/2006/main">
              <a:ext uri="{FF2B5EF4-FFF2-40B4-BE49-F238E27FC236}">
                <a16:creationId xmlns:a16="http://schemas.microsoft.com/office/drawing/2014/main" id="{E6E2C922-FBFF-43D3-A387-4B355436729C}"/>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08229BB-2757-4924-A1D0-A7FD25E6513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prediction error is the difference between a prediction and the measured answer. A vertical gap in the picture shows that error.</a:t>
            </a:r>
          </a:p>
        </p:txBody>
      </p:sp>
      <p:sp>
        <p:nvSpPr>
          <p:cNvPr id="8" name="">
            <a:extLst xmlns:a="http://schemas.openxmlformats.org/drawingml/2006/main">
              <a:ext uri="{FF2B5EF4-FFF2-40B4-BE49-F238E27FC236}">
                <a16:creationId xmlns:a16="http://schemas.microsoft.com/office/drawing/2014/main" id="{7E167B97-4FB9-473F-96D6-24F0EC3164A4}"/>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64D8E2F-14F7-4FD8-9CA5-6BC050A0E693}"/>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Fitting chooses the slope and intercept to minimise summed squared errors. Squaring means multiplying an error by itself; a small training error still needs an unseen-data check.</a:t>
            </a:r>
          </a:p>
        </p:txBody>
      </p:sp>
      <p:sp>
        <p:nvSpPr>
          <p:cNvPr id="10" name="">
            <a:extLst xmlns:a="http://schemas.openxmlformats.org/drawingml/2006/main">
              <a:ext uri="{FF2B5EF4-FFF2-40B4-BE49-F238E27FC236}">
                <a16:creationId xmlns:a16="http://schemas.microsoft.com/office/drawing/2014/main" id="{79925F54-40FC-4D39-A832-59DC42D6F44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11</a:t>
            </a:r>
          </a:p>
        </p:txBody>
      </p:sp>
    </p:spTree>
    <p:extLst>
      <p:ext uri="{BB962C8B-B14F-4D97-AF65-F5344CB8AC3E}">
        <p14:creationId xmlns:p14="http://schemas.microsoft.com/office/powerpoint/2010/main" val="160141737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7C22D4-BD99-4E0C-B1C6-ECFFEBAEA19F}"/>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A21ECB-E427-4453-85FC-7FA21C67E22A}"/>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Fitting a line to observations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ca08f57eae34445"/>
          <a:stretch xmlns:a="http://schemas.openxmlformats.org/drawingml/2006/main"/>
        </p:blipFill>
        <p:spPr>
          <a:xfrm xmlns:a="http://schemas.openxmlformats.org/drawingml/2006/main">
            <a:off x="333375" y="1631613"/>
            <a:ext cx="11525250" cy="3470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35EF36A-DA6E-44DF-A8D8-F9AB6D89D4DC}"/>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2B9CCD2-7407-4046-B0B5-BD41A921060A}"/>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The fitted line minimises the sum of squared vertical errors.</a:t>
            </a:r>
          </a:p>
        </p:txBody>
      </p:sp>
      <p:sp>
        <p:nvSpPr>
          <p:cNvPr id="6" name="">
            <a:extLst xmlns:a="http://schemas.openxmlformats.org/drawingml/2006/main">
              <a:ext uri="{FF2B5EF4-FFF2-40B4-BE49-F238E27FC236}">
                <a16:creationId xmlns:a16="http://schemas.microsoft.com/office/drawing/2014/main" id="{F2119142-0896-49C6-98F9-C24B7F55FF9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12</a:t>
            </a:r>
          </a:p>
        </p:txBody>
      </p:sp>
    </p:spTree>
    <p:extLst>
      <p:ext uri="{BB962C8B-B14F-4D97-AF65-F5344CB8AC3E}">
        <p14:creationId xmlns:p14="http://schemas.microsoft.com/office/powerpoint/2010/main" val="176187180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B6A5796-C854-41AF-AAEC-2EC4C027893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AD4972-1863-48B6-8634-49BF5205C9E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D6B67F4-F1F6-49A8-82D6-DB991C7EBE9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Rows must stay paired with their answers</a:t>
            </a:r>
          </a:p>
        </p:txBody>
      </p:sp>
      <p:sp>
        <p:nvSpPr>
          <p:cNvPr id="4" name="">
            <a:extLst xmlns:a="http://schemas.openxmlformats.org/drawingml/2006/main">
              <a:ext uri="{FF2B5EF4-FFF2-40B4-BE49-F238E27FC236}">
                <a16:creationId xmlns:a16="http://schemas.microsoft.com/office/drawing/2014/main" id="{B9CC3AEF-80A9-41A8-A650-ACC19104C26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3B8EA1A-A2C8-4908-8CB6-90EE547886B0}"/>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inner list in X_train is one observation.</a:t>
            </a:r>
          </a:p>
        </p:txBody>
      </p:sp>
      <p:sp>
        <p:nvSpPr>
          <p:cNvPr id="6" name="">
            <a:extLst xmlns:a="http://schemas.openxmlformats.org/drawingml/2006/main">
              <a:ext uri="{FF2B5EF4-FFF2-40B4-BE49-F238E27FC236}">
                <a16:creationId xmlns:a16="http://schemas.microsoft.com/office/drawing/2014/main" id="{D2404253-80DA-4872-8E36-E7E6E5DFC3D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6A5D44C-5CF2-4644-8AAE-4BF744E87A00}"/>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y_train contains one target value for each row, in the same order.</a:t>
            </a:r>
          </a:p>
        </p:txBody>
      </p:sp>
      <p:sp>
        <p:nvSpPr>
          <p:cNvPr id="8" name="">
            <a:extLst xmlns:a="http://schemas.openxmlformats.org/drawingml/2006/main">
              <a:ext uri="{FF2B5EF4-FFF2-40B4-BE49-F238E27FC236}">
                <a16:creationId xmlns:a16="http://schemas.microsoft.com/office/drawing/2014/main" id="{B13DF4D2-CEB3-4A80-9049-005E7860F65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D434848-CC06-420F-A846-7ACC7159E67B}"/>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Changing the order of only one list attaches answers to the wrong observations.</a:t>
            </a:r>
          </a:p>
        </p:txBody>
      </p:sp>
      <p:sp>
        <p:nvSpPr>
          <p:cNvPr id="10" name="">
            <a:extLst xmlns:a="http://schemas.openxmlformats.org/drawingml/2006/main">
              <a:ext uri="{FF2B5EF4-FFF2-40B4-BE49-F238E27FC236}">
                <a16:creationId xmlns:a16="http://schemas.microsoft.com/office/drawing/2014/main" id="{A0D7C001-5FF2-4AD4-8F3D-8D03C8FF9B2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13</a:t>
            </a:r>
          </a:p>
        </p:txBody>
      </p:sp>
    </p:spTree>
    <p:extLst>
      <p:ext uri="{BB962C8B-B14F-4D97-AF65-F5344CB8AC3E}">
        <p14:creationId xmlns:p14="http://schemas.microsoft.com/office/powerpoint/2010/main" val="25801304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EE92466-4153-477A-BD0E-7CFD59DD4FF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14714B-E056-4FE6-AC92-5A7954E49F3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454847D1-303D-4D20-985F-545C09B51DB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Rows and arrays before model code</a:t>
            </a:r>
          </a:p>
        </p:txBody>
      </p:sp>
      <p:sp>
        <p:nvSpPr>
          <p:cNvPr id="4" name="">
            <a:extLst xmlns:a="http://schemas.openxmlformats.org/drawingml/2006/main">
              <a:ext uri="{FF2B5EF4-FFF2-40B4-BE49-F238E27FC236}">
                <a16:creationId xmlns:a16="http://schemas.microsoft.com/office/drawing/2014/main" id="{E716C67C-7F64-4C07-90AF-F15D7CA26664}"/>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5D2CD50-63B4-48B0-9BFE-6E13D5992424}"/>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Nested lists</a:t>
            </a:r>
          </a:p>
        </p:txBody>
      </p:sp>
      <p:sp>
        <p:nvSpPr>
          <p:cNvPr id="6" name="">
            <a:extLst xmlns:a="http://schemas.openxmlformats.org/drawingml/2006/main">
              <a:ext uri="{FF2B5EF4-FFF2-40B4-BE49-F238E27FC236}">
                <a16:creationId xmlns:a16="http://schemas.microsoft.com/office/drawing/2014/main" id="{8A8C6916-8A9A-449D-9099-396F9F2B67BA}"/>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[[1], [2], [3]] has three inner lists: three rows with one feature each. [12, 14, 16] has one target per row in the same order.</a:t>
            </a:r>
          </a:p>
        </p:txBody>
      </p:sp>
      <p:sp>
        <p:nvSpPr>
          <p:cNvPr id="7" name="">
            <a:extLst xmlns:a="http://schemas.openxmlformats.org/drawingml/2006/main">
              <a:ext uri="{FF2B5EF4-FFF2-40B4-BE49-F238E27FC236}">
                <a16:creationId xmlns:a16="http://schemas.microsoft.com/office/drawing/2014/main" id="{5FFB5E48-08E9-44C7-A824-8254CBDA8DFE}"/>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61E21FB-BE8E-404D-B610-53B136FA504F}"/>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NumPy and array</a:t>
            </a:r>
          </a:p>
        </p:txBody>
      </p:sp>
      <p:sp>
        <p:nvSpPr>
          <p:cNvPr id="9" name="">
            <a:extLst xmlns:a="http://schemas.openxmlformats.org/drawingml/2006/main">
              <a:ext uri="{FF2B5EF4-FFF2-40B4-BE49-F238E27FC236}">
                <a16:creationId xmlns:a16="http://schemas.microsoft.com/office/drawing/2014/main" id="{0F8416E5-2D34-41BE-8666-1C48BEAF60BE}"/>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NumPy is a numerical library; np is its short imported name. np.array(...) builds an array. shape reports its dimensions. np.nan represents a missing numerical value.</a:t>
            </a:r>
          </a:p>
        </p:txBody>
      </p:sp>
      <p:sp>
        <p:nvSpPr>
          <p:cNvPr id="10" name="">
            <a:extLst xmlns:a="http://schemas.openxmlformats.org/drawingml/2006/main">
              <a:ext uri="{FF2B5EF4-FFF2-40B4-BE49-F238E27FC236}">
                <a16:creationId xmlns:a16="http://schemas.microsoft.com/office/drawing/2014/main" id="{A13BC823-1538-4C2F-AA78-093FF205F6B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14</a:t>
            </a:r>
          </a:p>
        </p:txBody>
      </p:sp>
    </p:spTree>
    <p:extLst>
      <p:ext uri="{BB962C8B-B14F-4D97-AF65-F5344CB8AC3E}">
        <p14:creationId xmlns:p14="http://schemas.microsoft.com/office/powerpoint/2010/main" val="203024978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2C18A8-4015-48F8-A8D4-A39951359D3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8BCE52-075D-4454-866A-2ED4D3F5B55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BE44291E-4ADF-4139-8EDF-BCF2B7E0E82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NumPy results</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5505450"/>
                <a:gridCol w="5505450"/>
              </a:tblGrid>
              <a:tr h="666750">
                <a:tc>
                  <a:txBody>
                    <a:bodyPr/>
                    <a:lstStyle/>
                    <a:p>
                      <a:r>
                        <a:rPr sz="1725" b="1">
                          <a:solidFill>
                            <a:srgbClr val="FFFFFF"/>
                          </a:solidFill>
                          <a:latin typeface="Calibri"/>
                          <a:ea typeface="Calibri"/>
                          <a:cs typeface="Calibri"/>
                        </a:rPr>
                        <a:t>Expression</a:t>
                      </a:r>
                    </a:p>
                  </a:txBody>
                  <a:tcPr marL="91440" marR="91440" marT="45720" marB="45720">
                    <a:solidFill>
                      <a:srgbClr val="2E7D6F"/>
                    </a:solidFill>
                  </a:tcPr>
                </a:tc>
                <a:tc>
                  <a:txBody>
                    <a:bodyPr/>
                    <a:lstStyle/>
                    <a:p>
                      <a:r>
                        <a:rPr sz="1725" b="1">
                          <a:solidFill>
                            <a:srgbClr val="FFFFFF"/>
                          </a:solidFill>
                          <a:latin typeface="Calibri"/>
                          <a:ea typeface="Calibri"/>
                          <a:cs typeface="Calibri"/>
                        </a:rPr>
                        <a:t>Meaning</a:t>
                      </a:r>
                    </a:p>
                  </a:txBody>
                  <a:tcPr marL="91440" marR="91440" marT="45720" marB="45720">
                    <a:solidFill>
                      <a:srgbClr val="2E7D6F"/>
                    </a:solidFill>
                  </a:tcPr>
                </a:tc>
              </a:tr>
              <a:tr h="666750">
                <a:tc>
                  <a:txBody>
                    <a:bodyPr/>
                    <a:lstStyle/>
                    <a:p>
                      <a:r>
                        <a:rPr sz="1725" b="0">
                          <a:solidFill>
                            <a:srgbClr val="1C3144"/>
                          </a:solidFill>
                          <a:latin typeface="Calibri"/>
                          <a:ea typeface="Calibri"/>
                          <a:cs typeface="Calibri"/>
                        </a:rPr>
                        <a:t>np.nan</a:t>
                      </a:r>
                    </a:p>
                  </a:txBody>
                  <a:tcPr marL="91440" marR="91440" marT="45720" marB="45720">
                    <a:solidFill>
                      <a:srgbClr val="EEF3F6"/>
                    </a:solidFill>
                  </a:tcPr>
                </a:tc>
                <a:tc>
                  <a:txBody>
                    <a:bodyPr/>
                    <a:lstStyle/>
                    <a:p>
                      <a:r>
                        <a:rPr sz="1725" b="0">
                          <a:solidFill>
                            <a:srgbClr val="1C3144"/>
                          </a:solidFill>
                          <a:latin typeface="Calibri"/>
                          <a:ea typeface="Calibri"/>
                          <a:cs typeface="Calibri"/>
                        </a:rPr>
                        <a:t>A missing numeric value marker</a:t>
                      </a:r>
                    </a:p>
                  </a:txBody>
                  <a:tcPr marL="91440" marR="91440" marT="45720" marB="45720">
                    <a:solidFill>
                      <a:srgbClr val="EEF3F6"/>
                    </a:solidFill>
                  </a:tcPr>
                </a:tc>
              </a:tr>
              <a:tr h="666750">
                <a:tc>
                  <a:txBody>
                    <a:bodyPr/>
                    <a:lstStyle/>
                    <a:p>
                      <a:r>
                        <a:rPr sz="1725" b="0">
                          <a:solidFill>
                            <a:srgbClr val="1C3144"/>
                          </a:solidFill>
                          <a:latin typeface="Calibri"/>
                          <a:ea typeface="Calibri"/>
                          <a:cs typeface="Calibri"/>
                        </a:rPr>
                        <a:t>X.shape</a:t>
                      </a:r>
                    </a:p>
                  </a:txBody>
                  <a:tcPr marL="91440" marR="91440" marT="45720" marB="45720">
                    <a:solidFill>
                      <a:srgbClr val="FFFFFF"/>
                    </a:solidFill>
                  </a:tcPr>
                </a:tc>
                <a:tc>
                  <a:txBody>
                    <a:bodyPr/>
                    <a:lstStyle/>
                    <a:p>
                      <a:r>
                        <a:rPr sz="1725" b="0">
                          <a:solidFill>
                            <a:srgbClr val="1C3144"/>
                          </a:solidFill>
                          <a:latin typeface="Calibri"/>
                          <a:ea typeface="Calibri"/>
                          <a:cs typeface="Calibri"/>
                        </a:rPr>
                        <a:t>The array dimensions: rows, columns</a:t>
                      </a:r>
                    </a:p>
                  </a:txBody>
                  <a:tcPr marL="91440" marR="91440" marT="45720" marB="45720">
                    <a:solidFill>
                      <a:srgbClr val="FFFFFF"/>
                    </a:solidFill>
                  </a:tcPr>
                </a:tc>
              </a:tr>
              <a:tr h="666750">
                <a:tc>
                  <a:txBody>
                    <a:bodyPr/>
                    <a:lstStyle/>
                    <a:p>
                      <a:r>
                        <a:rPr sz="1725" b="0">
                          <a:solidFill>
                            <a:srgbClr val="1C3144"/>
                          </a:solidFill>
                          <a:latin typeface="Calibri"/>
                          <a:ea typeface="Calibri"/>
                          <a:cs typeface="Calibri"/>
                        </a:rPr>
                        <a:t>predictions.round(2)</a:t>
                      </a:r>
                    </a:p>
                  </a:txBody>
                  <a:tcPr marL="91440" marR="91440" marT="45720" marB="45720">
                    <a:solidFill>
                      <a:srgbClr val="EEF3F6"/>
                    </a:solidFill>
                  </a:tcPr>
                </a:tc>
                <a:tc>
                  <a:txBody>
                    <a:bodyPr/>
                    <a:lstStyle/>
                    <a:p>
                      <a:r>
                        <a:rPr sz="1725" b="0">
                          <a:solidFill>
                            <a:srgbClr val="1C3144"/>
                          </a:solidFill>
                          <a:latin typeface="Calibri"/>
                          <a:ea typeface="Calibri"/>
                          <a:cs typeface="Calibri"/>
                        </a:rPr>
                        <a:t>Round a new array to two decimal places</a:t>
                      </a:r>
                    </a:p>
                  </a:txBody>
                  <a:tcPr marL="91440" marR="91440" marT="45720" marB="45720">
                    <a:solidFill>
                      <a:srgbClr val="EEF3F6"/>
                    </a:solidFill>
                  </a:tcPr>
                </a:tc>
              </a:tr>
              <a:tr h="666750">
                <a:tc>
                  <a:txBody>
                    <a:bodyPr/>
                    <a:lstStyle/>
                    <a:p>
                      <a:r>
                        <a:rPr sz="1725" b="0">
                          <a:solidFill>
                            <a:srgbClr val="1C3144"/>
                          </a:solidFill>
                          <a:latin typeface="Calibri"/>
                          <a:ea typeface="Calibri"/>
                          <a:cs typeface="Calibri"/>
                        </a:rPr>
                        <a:t>predictions.tolist()</a:t>
                      </a:r>
                    </a:p>
                  </a:txBody>
                  <a:tcPr marL="91440" marR="91440" marT="45720" marB="45720">
                    <a:solidFill>
                      <a:srgbClr val="FFFFFF"/>
                    </a:solidFill>
                  </a:tcPr>
                </a:tc>
                <a:tc>
                  <a:txBody>
                    <a:bodyPr/>
                    <a:lstStyle/>
                    <a:p>
                      <a:r>
                        <a:rPr sz="1725" b="0">
                          <a:solidFill>
                            <a:srgbClr val="1C3144"/>
                          </a:solidFill>
                          <a:latin typeface="Calibri"/>
                          <a:ea typeface="Calibri"/>
                          <a:cs typeface="Calibri"/>
                        </a:rPr>
                        <a:t>Convert the array into a Python list</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97006B0-077E-4E6A-B0FD-30CC0C29F9E8}"/>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Use rounded values only for a labelled display. Keep full precision when the assignment requires it.</a:t>
            </a:r>
          </a:p>
        </p:txBody>
      </p:sp>
      <p:sp>
        <p:nvSpPr>
          <p:cNvPr id="6" name="">
            <a:extLst xmlns:a="http://schemas.openxmlformats.org/drawingml/2006/main">
              <a:ext uri="{FF2B5EF4-FFF2-40B4-BE49-F238E27FC236}">
                <a16:creationId xmlns:a16="http://schemas.microsoft.com/office/drawing/2014/main" id="{718E1605-B65A-4B41-B095-F72835AE718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15</a:t>
            </a:r>
          </a:p>
        </p:txBody>
      </p:sp>
    </p:spTree>
    <p:extLst>
      <p:ext uri="{BB962C8B-B14F-4D97-AF65-F5344CB8AC3E}">
        <p14:creationId xmlns:p14="http://schemas.microsoft.com/office/powerpoint/2010/main" val="41183049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9CB83F6-B700-49F0-927B-A30392F9D9A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C2C2C5-C239-448E-950B-2AFD02B6D2E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B873270-3605-499B-BAE6-C00C8A0F3CC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Rows, columns and named options</a:t>
            </a:r>
          </a:p>
        </p:txBody>
      </p:sp>
      <p:sp>
        <p:nvSpPr>
          <p:cNvPr id="4" name="">
            <a:extLst xmlns:a="http://schemas.openxmlformats.org/drawingml/2006/main">
              <a:ext uri="{FF2B5EF4-FFF2-40B4-BE49-F238E27FC236}">
                <a16:creationId xmlns:a16="http://schemas.microsoft.com/office/drawing/2014/main" id="{87B9A9E9-18AD-4EE5-84C4-3D06508DF4E4}"/>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E77FCFE-BCD8-43E1-B269-BF1479C3270C}"/>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import</a:t>
            </a:r>
            <a:r>
              <a:rPr sz="2175" b="0">
                <a:solidFill>
                  <a:srgbClr val="F4F7FA"/>
                </a:solidFill>
                <a:latin typeface="Courier New"/>
                <a:ea typeface="Courier New"/>
                <a:cs typeface="Courier New"/>
              </a:rPr>
              <a:t> numpy as np</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X = np.array([[1], [2], [3]])</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y = np.array([12, 14, 16])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print(X.shape)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print(y.shape)</a:t>
            </a:r>
          </a:p>
        </p:txBody>
      </p:sp>
      <p:sp>
        <p:nvSpPr>
          <p:cNvPr id="6" name="">
            <a:extLst xmlns:a="http://schemas.openxmlformats.org/drawingml/2006/main">
              <a:ext uri="{FF2B5EF4-FFF2-40B4-BE49-F238E27FC236}">
                <a16:creationId xmlns:a16="http://schemas.microsoft.com/office/drawing/2014/main" id="{A6B30BDA-9727-409E-9F69-93D0BFA90E6D}"/>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C9A50657-07AC-454F-8138-99001A6470A2}"/>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import loads a library. from selects a tool from it.</a:t>
            </a:r>
          </a:p>
        </p:txBody>
      </p:sp>
      <p:sp>
        <p:nvSpPr>
          <p:cNvPr id="8" name="">
            <a:extLst xmlns:a="http://schemas.openxmlformats.org/drawingml/2006/main">
              <a:ext uri="{FF2B5EF4-FFF2-40B4-BE49-F238E27FC236}">
                <a16:creationId xmlns:a16="http://schemas.microsoft.com/office/drawing/2014/main" id="{1E22464C-768B-42B1-91B4-E6871CC51777}"/>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9" name="">
            <a:extLst xmlns:a="http://schemas.openxmlformats.org/drawingml/2006/main">
              <a:ext uri="{FF2B5EF4-FFF2-40B4-BE49-F238E27FC236}">
                <a16:creationId xmlns:a16="http://schemas.microsoft.com/office/drawing/2014/main" id="{E9DF2F39-CC52-4848-B83B-888A25157F4A}"/>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10" name="">
            <a:extLst xmlns:a="http://schemas.openxmlformats.org/drawingml/2006/main">
              <a:ext uri="{FF2B5EF4-FFF2-40B4-BE49-F238E27FC236}">
                <a16:creationId xmlns:a16="http://schemas.microsoft.com/office/drawing/2014/main" id="{45489A6A-15B4-488F-8852-2F93571FEE3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X has three rows and one feature column. y has three target values.</a:t>
            </a:r>
          </a:p>
        </p:txBody>
      </p:sp>
      <p:sp>
        <p:nvSpPr>
          <p:cNvPr id="11" name="">
            <a:extLst xmlns:a="http://schemas.openxmlformats.org/drawingml/2006/main">
              <a:ext uri="{FF2B5EF4-FFF2-40B4-BE49-F238E27FC236}">
                <a16:creationId xmlns:a16="http://schemas.microsoft.com/office/drawing/2014/main" id="{AE4ADA69-221D-43CC-9B48-C35ADF5BB59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16</a:t>
            </a:r>
          </a:p>
        </p:txBody>
      </p:sp>
    </p:spTree>
    <p:extLst>
      <p:ext uri="{BB962C8B-B14F-4D97-AF65-F5344CB8AC3E}">
        <p14:creationId xmlns:p14="http://schemas.microsoft.com/office/powerpoint/2010/main" val="33846525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A77FD6-87BF-49A7-9697-4A0E0C146B3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1C80A2-0E7C-4E9F-B7F0-C4863564649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C89E1ACF-AA1E-4427-9A13-3C925D73AFD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fit and predict</a:t>
            </a:r>
          </a:p>
        </p:txBody>
      </p:sp>
      <p:sp>
        <p:nvSpPr>
          <p:cNvPr id="4" name="">
            <a:extLst xmlns:a="http://schemas.openxmlformats.org/drawingml/2006/main">
              <a:ext uri="{FF2B5EF4-FFF2-40B4-BE49-F238E27FC236}">
                <a16:creationId xmlns:a16="http://schemas.microsoft.com/office/drawing/2014/main" id="{1A0F7479-1E9E-4075-8956-B4281FFC5C5B}"/>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591F2E3-AEB7-4AA2-9EF4-57A653BE005D}"/>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fit and predict</a:t>
            </a:r>
          </a:p>
        </p:txBody>
      </p:sp>
      <p:sp>
        <p:nvSpPr>
          <p:cNvPr id="6" name="">
            <a:extLst xmlns:a="http://schemas.openxmlformats.org/drawingml/2006/main">
              <a:ext uri="{FF2B5EF4-FFF2-40B4-BE49-F238E27FC236}">
                <a16:creationId xmlns:a16="http://schemas.microsoft.com/office/drawing/2014/main" id="{CD1361F5-0F98-4E3F-A927-7B002FEC725C}"/>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fit learns from training inputs and targets. predict uses the fitted rule on new inputs without receiving their true targets.</a:t>
            </a:r>
          </a:p>
        </p:txBody>
      </p:sp>
      <p:sp>
        <p:nvSpPr>
          <p:cNvPr id="7" name="">
            <a:extLst xmlns:a="http://schemas.openxmlformats.org/drawingml/2006/main">
              <a:ext uri="{FF2B5EF4-FFF2-40B4-BE49-F238E27FC236}">
                <a16:creationId xmlns:a16="http://schemas.microsoft.com/office/drawing/2014/main" id="{3A5044BA-988C-4D8A-86D9-1DCFD104B55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17</a:t>
            </a:r>
          </a:p>
        </p:txBody>
      </p:sp>
    </p:spTree>
    <p:extLst>
      <p:ext uri="{BB962C8B-B14F-4D97-AF65-F5344CB8AC3E}">
        <p14:creationId xmlns:p14="http://schemas.microsoft.com/office/powerpoint/2010/main" val="167425455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2AE7ED-C111-4504-864D-39263EED088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7BBA2B-74DC-4662-BAEC-920B7223682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160BDC82-E8CE-4437-A542-2DEDE6D83EB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model object keeps learned information</a:t>
            </a:r>
          </a:p>
        </p:txBody>
      </p:sp>
      <p:sp>
        <p:nvSpPr>
          <p:cNvPr id="4" name="">
            <a:extLst xmlns:a="http://schemas.openxmlformats.org/drawingml/2006/main">
              <a:ext uri="{FF2B5EF4-FFF2-40B4-BE49-F238E27FC236}">
                <a16:creationId xmlns:a16="http://schemas.microsoft.com/office/drawing/2014/main" id="{0D32A1DF-99CE-41D2-9267-F32129EA0F6B}"/>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4293C2B-4956-4C4F-B2D7-0EE8050019AD}"/>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Object and method</a:t>
            </a:r>
          </a:p>
        </p:txBody>
      </p:sp>
      <p:sp>
        <p:nvSpPr>
          <p:cNvPr id="6" name="">
            <a:extLst xmlns:a="http://schemas.openxmlformats.org/drawingml/2006/main">
              <a:ext uri="{FF2B5EF4-FFF2-40B4-BE49-F238E27FC236}">
                <a16:creationId xmlns:a16="http://schemas.microsoft.com/office/drawing/2014/main" id="{6B7D0D8B-9990-4FB4-9715-C2D23777EDBF}"/>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LinearRegression() creates a model object. A method is an operation on that object. model.fit(...) stores learned information; model.predict(...) uses it.</a:t>
            </a:r>
          </a:p>
        </p:txBody>
      </p:sp>
      <p:sp>
        <p:nvSpPr>
          <p:cNvPr id="7" name="">
            <a:extLst xmlns:a="http://schemas.openxmlformats.org/drawingml/2006/main">
              <a:ext uri="{FF2B5EF4-FFF2-40B4-BE49-F238E27FC236}">
                <a16:creationId xmlns:a16="http://schemas.microsoft.com/office/drawing/2014/main" id="{9F1AF97F-E850-4EFB-98BD-C6F99838050B}"/>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A1329BA-9B65-411C-B504-6B6A3721D5DD}"/>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Options</a:t>
            </a:r>
          </a:p>
        </p:txBody>
      </p:sp>
      <p:sp>
        <p:nvSpPr>
          <p:cNvPr id="9" name="">
            <a:extLst xmlns:a="http://schemas.openxmlformats.org/drawingml/2006/main">
              <a:ext uri="{FF2B5EF4-FFF2-40B4-BE49-F238E27FC236}">
                <a16:creationId xmlns:a16="http://schemas.microsoft.com/office/drawing/2014/main" id="{D7DE4FCA-E99E-4DCE-B935-4467979AE494}"/>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An argument such as strategy="mean" names an option. A random seed fixes the starting state of random choices; it does not prove that a model is accurate.</a:t>
            </a:r>
          </a:p>
        </p:txBody>
      </p:sp>
      <p:sp>
        <p:nvSpPr>
          <p:cNvPr id="10" name="">
            <a:extLst xmlns:a="http://schemas.openxmlformats.org/drawingml/2006/main">
              <a:ext uri="{FF2B5EF4-FFF2-40B4-BE49-F238E27FC236}">
                <a16:creationId xmlns:a16="http://schemas.microsoft.com/office/drawing/2014/main" id="{8ED772D7-B81F-4B02-9B28-7E1EF8178F9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18</a:t>
            </a:r>
          </a:p>
        </p:txBody>
      </p:sp>
    </p:spTree>
    <p:extLst>
      <p:ext uri="{BB962C8B-B14F-4D97-AF65-F5344CB8AC3E}">
        <p14:creationId xmlns:p14="http://schemas.microsoft.com/office/powerpoint/2010/main" val="201903695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7C3D43-A888-438F-8C7C-5B6FC4399B0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268973-7878-4FD2-B49C-AA9B084AE9C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7091763E-6557-433D-A5CD-7A73C893717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An object remembers its fitted state</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5505450"/>
                <a:gridCol w="5505450"/>
              </a:tblGrid>
              <a:tr h="666750">
                <a:tc>
                  <a:txBody>
                    <a:bodyPr/>
                    <a:lstStyle/>
                    <a:p>
                      <a:r>
                        <a:rPr sz="2025" b="1">
                          <a:solidFill>
                            <a:srgbClr val="FFFFFF"/>
                          </a:solidFill>
                          <a:latin typeface="Calibri"/>
                          <a:ea typeface="Calibri"/>
                          <a:cs typeface="Calibri"/>
                        </a:rPr>
                        <a:t>Python expression</a:t>
                      </a:r>
                    </a:p>
                  </a:txBody>
                  <a:tcPr marL="91440" marR="91440" marT="45720" marB="45720">
                    <a:solidFill>
                      <a:srgbClr val="2E7D6F"/>
                    </a:solidFill>
                  </a:tcPr>
                </a:tc>
                <a:tc>
                  <a:txBody>
                    <a:bodyPr/>
                    <a:lstStyle/>
                    <a:p>
                      <a:r>
                        <a:rPr sz="2025" b="1">
                          <a:solidFill>
                            <a:srgbClr val="FFFFFF"/>
                          </a:solidFill>
                          <a:latin typeface="Calibri"/>
                          <a:ea typeface="Calibri"/>
                          <a:cs typeface="Calibri"/>
                        </a:rPr>
                        <a:t>What it means</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model = LinearRegression()</a:t>
                      </a:r>
                    </a:p>
                  </a:txBody>
                  <a:tcPr marL="91440" marR="91440" marT="45720" marB="45720">
                    <a:solidFill>
                      <a:srgbClr val="EEF3F6"/>
                    </a:solidFill>
                  </a:tcPr>
                </a:tc>
                <a:tc>
                  <a:txBody>
                    <a:bodyPr/>
                    <a:lstStyle/>
                    <a:p>
                      <a:r>
                        <a:rPr sz="2025" b="0">
                          <a:solidFill>
                            <a:srgbClr val="1C3144"/>
                          </a:solidFill>
                          <a:latin typeface="Calibri"/>
                          <a:ea typeface="Calibri"/>
                          <a:cs typeface="Calibri"/>
                        </a:rPr>
                        <a:t>Create an unfitted model object</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model.fit(X_train, y_train)</a:t>
                      </a:r>
                    </a:p>
                  </a:txBody>
                  <a:tcPr marL="91440" marR="91440" marT="45720" marB="45720">
                    <a:solidFill>
                      <a:srgbClr val="FFFFFF"/>
                    </a:solidFill>
                  </a:tcPr>
                </a:tc>
                <a:tc>
                  <a:txBody>
                    <a:bodyPr/>
                    <a:lstStyle/>
                    <a:p>
                      <a:r>
                        <a:rPr sz="2025" b="0">
                          <a:solidFill>
                            <a:srgbClr val="1C3144"/>
                          </a:solidFill>
                          <a:latin typeface="Calibri"/>
                          <a:ea typeface="Calibri"/>
                          <a:cs typeface="Calibri"/>
                        </a:rPr>
                        <a:t>Learn from paired training data</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model.predict(X_new)</a:t>
                      </a:r>
                    </a:p>
                  </a:txBody>
                  <a:tcPr marL="91440" marR="91440" marT="45720" marB="45720">
                    <a:solidFill>
                      <a:srgbClr val="EEF3F6"/>
                    </a:solidFill>
                  </a:tcPr>
                </a:tc>
                <a:tc>
                  <a:txBody>
                    <a:bodyPr/>
                    <a:lstStyle/>
                    <a:p>
                      <a:r>
                        <a:rPr sz="2025" b="0">
                          <a:solidFill>
                            <a:srgbClr val="1C3144"/>
                          </a:solidFill>
                          <a:latin typeface="Calibri"/>
                          <a:ea typeface="Calibri"/>
                          <a:cs typeface="Calibri"/>
                        </a:rPr>
                        <a:t>Use that learned state</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random_state=17</a:t>
                      </a:r>
                    </a:p>
                  </a:txBody>
                  <a:tcPr marL="91440" marR="91440" marT="45720" marB="45720">
                    <a:solidFill>
                      <a:srgbClr val="FFFFFF"/>
                    </a:solidFill>
                  </a:tcPr>
                </a:tc>
                <a:tc>
                  <a:txBody>
                    <a:bodyPr/>
                    <a:lstStyle/>
                    <a:p>
                      <a:r>
                        <a:rPr sz="2025" b="0">
                          <a:solidFill>
                            <a:srgbClr val="1C3144"/>
                          </a:solidFill>
                          <a:latin typeface="Calibri"/>
                          <a:ea typeface="Calibri"/>
                          <a:cs typeface="Calibri"/>
                        </a:rPr>
                        <a:t>Name an option and set its value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D64DCBB-C7FA-45F4-A7E0-E91A55E5684A}"/>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An object holds state and has methods. A method is a function used through that object.</a:t>
            </a:r>
          </a:p>
        </p:txBody>
      </p:sp>
      <p:sp>
        <p:nvSpPr>
          <p:cNvPr id="6" name="">
            <a:extLst xmlns:a="http://schemas.openxmlformats.org/drawingml/2006/main">
              <a:ext uri="{FF2B5EF4-FFF2-40B4-BE49-F238E27FC236}">
                <a16:creationId xmlns:a16="http://schemas.microsoft.com/office/drawing/2014/main" id="{1F01CA37-0FBA-437D-B6F1-5CC66917674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19</a:t>
            </a:r>
          </a:p>
        </p:txBody>
      </p:sp>
    </p:spTree>
    <p:extLst>
      <p:ext uri="{BB962C8B-B14F-4D97-AF65-F5344CB8AC3E}">
        <p14:creationId xmlns:p14="http://schemas.microsoft.com/office/powerpoint/2010/main" val="42709914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1BF8750-B679-483D-9486-595EF62F9AD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658AB0-0241-4BF5-8449-9FC46D28B5C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55F7A5D-5B9D-4EE9-BD4E-B2FA68C140A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Creating, fitting and predicting</a:t>
            </a:r>
          </a:p>
        </p:txBody>
      </p:sp>
      <p:sp>
        <p:nvSpPr>
          <p:cNvPr id="4" name="">
            <a:extLst xmlns:a="http://schemas.openxmlformats.org/drawingml/2006/main">
              <a:ext uri="{FF2B5EF4-FFF2-40B4-BE49-F238E27FC236}">
                <a16:creationId xmlns:a16="http://schemas.microsoft.com/office/drawing/2014/main" id="{1251188A-1427-4E43-984E-F2E6EA3B592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B6C1FB3-BB2C-4D24-8FD1-2C71FD77DC7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LinearRegression() creates a model that has not learned yet.</a:t>
            </a:r>
          </a:p>
        </p:txBody>
      </p:sp>
      <p:sp>
        <p:nvSpPr>
          <p:cNvPr id="6" name="">
            <a:extLst xmlns:a="http://schemas.openxmlformats.org/drawingml/2006/main">
              <a:ext uri="{FF2B5EF4-FFF2-40B4-BE49-F238E27FC236}">
                <a16:creationId xmlns:a16="http://schemas.microsoft.com/office/drawing/2014/main" id="{87545BC2-C581-4C69-840D-4FD24AAD9A7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6F577DE-3952-4D97-8A78-AA21DC5E934A}"/>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fit(X_train, y_train) learns from paired training examples.</a:t>
            </a:r>
          </a:p>
        </p:txBody>
      </p:sp>
      <p:sp>
        <p:nvSpPr>
          <p:cNvPr id="8" name="">
            <a:extLst xmlns:a="http://schemas.openxmlformats.org/drawingml/2006/main">
              <a:ext uri="{FF2B5EF4-FFF2-40B4-BE49-F238E27FC236}">
                <a16:creationId xmlns:a16="http://schemas.microsoft.com/office/drawing/2014/main" id="{796D17EA-D556-439E-B40B-11AD9EBD937B}"/>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3D4A120-D098-4DEB-9929-4D210E5958D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predict(new_inputs) returns estimates. The actual targets are absent from new_inputs.</a:t>
            </a:r>
          </a:p>
        </p:txBody>
      </p:sp>
      <p:sp>
        <p:nvSpPr>
          <p:cNvPr id="10" name="">
            <a:extLst xmlns:a="http://schemas.openxmlformats.org/drawingml/2006/main">
              <a:ext uri="{FF2B5EF4-FFF2-40B4-BE49-F238E27FC236}">
                <a16:creationId xmlns:a16="http://schemas.microsoft.com/office/drawing/2014/main" id="{34E8555D-EAC3-41CF-80DA-7BCDF3EC3F6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20</a:t>
            </a:r>
          </a:p>
        </p:txBody>
      </p:sp>
    </p:spTree>
    <p:extLst>
      <p:ext uri="{BB962C8B-B14F-4D97-AF65-F5344CB8AC3E}">
        <p14:creationId xmlns:p14="http://schemas.microsoft.com/office/powerpoint/2010/main" val="112707027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93A3CD5-A27C-4287-B98F-CCF7C5BF2FA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73C34F-D121-4C62-A858-6417840FC8D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A2D0E0C-7392-48DC-94D6-2CFA22D4AD6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Worked example</a:t>
            </a:r>
          </a:p>
        </p:txBody>
      </p:sp>
      <p:sp>
        <p:nvSpPr>
          <p:cNvPr id="4" name="">
            <a:extLst xmlns:a="http://schemas.openxmlformats.org/drawingml/2006/main">
              <a:ext uri="{FF2B5EF4-FFF2-40B4-BE49-F238E27FC236}">
                <a16:creationId xmlns:a16="http://schemas.microsoft.com/office/drawing/2014/main" id="{73820BC8-9D48-438B-9772-A0432E433F9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33A8428-F294-4CFF-9CD1-C17DBE07C9C0}"/>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from</a:t>
            </a:r>
            <a:r>
              <a:rPr sz="2175" b="0">
                <a:solidFill>
                  <a:srgbClr val="F4F7FA"/>
                </a:solidFill>
                <a:latin typeface="Courier New"/>
                <a:ea typeface="Courier New"/>
                <a:cs typeface="Courier New"/>
              </a:rPr>
              <a:t> sklearn.linear_model </a:t>
            </a:r>
            <a:r>
              <a:rPr sz="2175" b="0">
                <a:solidFill>
                  <a:srgbClr val="FFB080"/>
                </a:solidFill>
                <a:latin typeface="Courier New"/>
                <a:ea typeface="Courier New"/>
                <a:cs typeface="Courier New"/>
              </a:rPr>
              <a:t>import</a:t>
            </a:r>
            <a:r>
              <a:rPr sz="2175" b="0">
                <a:solidFill>
                  <a:srgbClr val="F4F7FA"/>
                </a:solidFill>
                <a:latin typeface="Courier New"/>
                <a:ea typeface="Courier New"/>
                <a:cs typeface="Courier New"/>
              </a:rPr>
              <a:t> LinearRegression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X_train = [[1], [2], [3], [4]]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y_train = [12, 14, 16, 18]</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new_inputs = [[2.5]]</a:t>
            </a:r>
          </a:p>
        </p:txBody>
      </p:sp>
      <p:sp>
        <p:nvSpPr>
          <p:cNvPr id="6" name="">
            <a:extLst xmlns:a="http://schemas.openxmlformats.org/drawingml/2006/main">
              <a:ext uri="{FF2B5EF4-FFF2-40B4-BE49-F238E27FC236}">
                <a16:creationId xmlns:a16="http://schemas.microsoft.com/office/drawing/2014/main" id="{08A09455-C325-4FB0-961C-64396F900A4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import loads a library. from selects a tool from it.</a:t>
            </a:r>
          </a:p>
        </p:txBody>
      </p:sp>
      <p:sp>
        <p:nvSpPr>
          <p:cNvPr id="7" name="">
            <a:extLst xmlns:a="http://schemas.openxmlformats.org/drawingml/2006/main">
              <a:ext uri="{FF2B5EF4-FFF2-40B4-BE49-F238E27FC236}">
                <a16:creationId xmlns:a16="http://schemas.microsoft.com/office/drawing/2014/main" id="{F79AABAB-D87B-46F5-ABC9-64AE2F02F72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the code together. Predict the result before running.</a:t>
            </a:r>
          </a:p>
        </p:txBody>
      </p:sp>
      <p:sp>
        <p:nvSpPr>
          <p:cNvPr id="8" name="">
            <a:extLst xmlns:a="http://schemas.openxmlformats.org/drawingml/2006/main">
              <a:ext uri="{FF2B5EF4-FFF2-40B4-BE49-F238E27FC236}">
                <a16:creationId xmlns:a16="http://schemas.microsoft.com/office/drawing/2014/main" id="{FBA0745F-11B2-4B4E-8609-53FF345FEB1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21</a:t>
            </a:r>
          </a:p>
        </p:txBody>
      </p:sp>
    </p:spTree>
    <p:extLst>
      <p:ext uri="{BB962C8B-B14F-4D97-AF65-F5344CB8AC3E}">
        <p14:creationId xmlns:p14="http://schemas.microsoft.com/office/powerpoint/2010/main" val="12610885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87413C5-9F0D-4D11-BBB0-4416FB7DBB0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693AAB-8F0E-4F5C-BD51-226ECFF9E54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73F769C-22D6-4399-BDCD-4C382A44C3F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Worked example continued</a:t>
            </a:r>
          </a:p>
        </p:txBody>
      </p:sp>
      <p:sp>
        <p:nvSpPr>
          <p:cNvPr id="4" name="">
            <a:extLst xmlns:a="http://schemas.openxmlformats.org/drawingml/2006/main">
              <a:ext uri="{FF2B5EF4-FFF2-40B4-BE49-F238E27FC236}">
                <a16:creationId xmlns:a16="http://schemas.microsoft.com/office/drawing/2014/main" id="{3D039702-EE03-4D93-AB55-7DC9C8A1D318}"/>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5D8EFFD-A49E-4807-BA39-450F8CBC54D0}"/>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model = LinearRegression()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model.fit(X_train, y_train)</a:t>
            </a:r>
          </a:p>
        </p:txBody>
      </p:sp>
      <p:sp>
        <p:nvSpPr>
          <p:cNvPr id="6" name="">
            <a:extLst xmlns:a="http://schemas.openxmlformats.org/drawingml/2006/main">
              <a:ext uri="{FF2B5EF4-FFF2-40B4-BE49-F238E27FC236}">
                <a16:creationId xmlns:a16="http://schemas.microsoft.com/office/drawing/2014/main" id="{DC4A1284-113A-4286-8A7D-D11C1E9333AA}"/>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8E3058B5-FAED-4430-B930-5D2B4677E5AC}"/>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fit learns using the supplied training observations.</a:t>
            </a:r>
          </a:p>
        </p:txBody>
      </p:sp>
      <p:sp>
        <p:nvSpPr>
          <p:cNvPr id="8" name="">
            <a:extLst xmlns:a="http://schemas.openxmlformats.org/drawingml/2006/main">
              <a:ext uri="{FF2B5EF4-FFF2-40B4-BE49-F238E27FC236}">
                <a16:creationId xmlns:a16="http://schemas.microsoft.com/office/drawing/2014/main" id="{F87502F3-CC8D-4C51-9AE0-5838A842BFFE}"/>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9" name="">
            <a:extLst xmlns:a="http://schemas.openxmlformats.org/drawingml/2006/main">
              <a:ext uri="{FF2B5EF4-FFF2-40B4-BE49-F238E27FC236}">
                <a16:creationId xmlns:a16="http://schemas.microsoft.com/office/drawing/2014/main" id="{D6E08D09-7E52-4277-B666-3ADA13EDC13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the code together. Predict the result before running.</a:t>
            </a:r>
          </a:p>
        </p:txBody>
      </p:sp>
      <p:sp>
        <p:nvSpPr>
          <p:cNvPr id="10" name="">
            <a:extLst xmlns:a="http://schemas.openxmlformats.org/drawingml/2006/main">
              <a:ext uri="{FF2B5EF4-FFF2-40B4-BE49-F238E27FC236}">
                <a16:creationId xmlns:a16="http://schemas.microsoft.com/office/drawing/2014/main" id="{00E5FB8D-3E47-451C-9B6A-33CB21566CD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22</a:t>
            </a:r>
          </a:p>
        </p:txBody>
      </p:sp>
    </p:spTree>
    <p:extLst>
      <p:ext uri="{BB962C8B-B14F-4D97-AF65-F5344CB8AC3E}">
        <p14:creationId xmlns:p14="http://schemas.microsoft.com/office/powerpoint/2010/main" val="15039912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C4319EF-5274-4F57-B719-01DFD7FBDD3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BF0526-C51E-4A51-90B0-89D69FF7C03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8B0614C-FEA6-4CBC-A71E-F5054B41D83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Worked example continued</a:t>
            </a:r>
          </a:p>
        </p:txBody>
      </p:sp>
      <p:sp>
        <p:nvSpPr>
          <p:cNvPr id="4" name="">
            <a:extLst xmlns:a="http://schemas.openxmlformats.org/drawingml/2006/main">
              <a:ext uri="{FF2B5EF4-FFF2-40B4-BE49-F238E27FC236}">
                <a16:creationId xmlns:a16="http://schemas.microsoft.com/office/drawing/2014/main" id="{84B55FD0-8326-4964-81B8-865C437B05D8}"/>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B9C8E14-6F0E-4F93-8672-F38D5C1A9239}"/>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predictions = model.predict(new_inputs)</a:t>
            </a:r>
          </a:p>
          <a:p xmlns:a="http://schemas.openxmlformats.org/drawingml/2006/main">
            <a:pPr>
              <a:defRPr sz="2143" b="0">
                <a:solidFill>
                  <a:srgbClr val="F4F7FA"/>
                </a:solidFill>
                <a:latin typeface="Courier New"/>
                <a:ea typeface="Courier New"/>
                <a:cs typeface="Courier New"/>
              </a:defRPr>
            </a:pPr>
            <a:r>
              <a:rPr sz="2143" b="0">
                <a:solidFill>
                  <a:srgbClr val="F4F7FA"/>
                </a:solidFill>
                <a:latin typeface="Courier New"/>
                <a:ea typeface="Courier New"/>
                <a:cs typeface="Courier New"/>
              </a:rPr>
              <a:t>print(predictions.round(2).tolist())</a:t>
            </a:r>
          </a:p>
        </p:txBody>
      </p:sp>
      <p:sp>
        <p:nvSpPr>
          <p:cNvPr id="6" name="">
            <a:extLst xmlns:a="http://schemas.openxmlformats.org/drawingml/2006/main">
              <a:ext uri="{FF2B5EF4-FFF2-40B4-BE49-F238E27FC236}">
                <a16:creationId xmlns:a16="http://schemas.microsoft.com/office/drawing/2014/main" id="{4E8DC403-CACC-495F-8AE3-C214A83E1296}"/>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7B3E24C8-03D8-4EC4-A066-71FB827A8A52}"/>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predict applies the fitted model to new inputs.</a:t>
            </a:r>
          </a:p>
        </p:txBody>
      </p:sp>
      <p:sp>
        <p:nvSpPr>
          <p:cNvPr id="8" name="">
            <a:extLst xmlns:a="http://schemas.openxmlformats.org/drawingml/2006/main">
              <a:ext uri="{FF2B5EF4-FFF2-40B4-BE49-F238E27FC236}">
                <a16:creationId xmlns:a16="http://schemas.microsoft.com/office/drawing/2014/main" id="{D5212371-E707-4DEC-B02E-FB17BE56F7EA}"/>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9" name="">
            <a:extLst xmlns:a="http://schemas.openxmlformats.org/drawingml/2006/main">
              <a:ext uri="{FF2B5EF4-FFF2-40B4-BE49-F238E27FC236}">
                <a16:creationId xmlns:a16="http://schemas.microsoft.com/office/drawing/2014/main" id="{F83C376F-9698-4BCF-B00A-96C9FC6B5BB6}"/>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10" name="">
            <a:extLst xmlns:a="http://schemas.openxmlformats.org/drawingml/2006/main">
              <a:ext uri="{FF2B5EF4-FFF2-40B4-BE49-F238E27FC236}">
                <a16:creationId xmlns:a16="http://schemas.microsoft.com/office/drawing/2014/main" id="{88656FF3-5F71-408A-9D91-67A5EB990BC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the code together. Predict the result before running.</a:t>
            </a:r>
          </a:p>
        </p:txBody>
      </p:sp>
      <p:sp>
        <p:nvSpPr>
          <p:cNvPr id="11" name="">
            <a:extLst xmlns:a="http://schemas.openxmlformats.org/drawingml/2006/main">
              <a:ext uri="{FF2B5EF4-FFF2-40B4-BE49-F238E27FC236}">
                <a16:creationId xmlns:a16="http://schemas.microsoft.com/office/drawing/2014/main" id="{F9C3A576-EE3E-40C2-BB4D-2AA3876B4D6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23</a:t>
            </a:r>
          </a:p>
        </p:txBody>
      </p:sp>
    </p:spTree>
    <p:extLst>
      <p:ext uri="{BB962C8B-B14F-4D97-AF65-F5344CB8AC3E}">
        <p14:creationId xmlns:p14="http://schemas.microsoft.com/office/powerpoint/2010/main" val="102808457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8A3BC5-5EAA-44C1-9CC6-B1C9342BF71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2E95D0-1528-497B-9106-807DA201EEF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CHECK THE OUTPUT</a:t>
            </a:r>
          </a:p>
        </p:txBody>
      </p:sp>
      <p:sp>
        <p:nvSpPr>
          <p:cNvPr id="3" name="">
            <a:extLst xmlns:a="http://schemas.openxmlformats.org/drawingml/2006/main">
              <a:ext uri="{FF2B5EF4-FFF2-40B4-BE49-F238E27FC236}">
                <a16:creationId xmlns:a16="http://schemas.microsoft.com/office/drawing/2014/main" id="{A0FA4E79-8264-49ED-A0F0-4C300D8A642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Expected output</a:t>
            </a:r>
          </a:p>
        </p:txBody>
      </p:sp>
      <p:sp>
        <p:nvSpPr>
          <p:cNvPr id="4" name="">
            <a:extLst xmlns:a="http://schemas.openxmlformats.org/drawingml/2006/main">
              <a:ext uri="{FF2B5EF4-FFF2-40B4-BE49-F238E27FC236}">
                <a16:creationId xmlns:a16="http://schemas.microsoft.com/office/drawing/2014/main" id="{0A9760C3-7A05-4182-BF45-7FDC6FF52F25}"/>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7D21283-D4EB-44F3-AD58-576CEC07693B}"/>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2E7D6F"/>
                </a:solidFill>
                <a:latin typeface="Courier New"/>
                <a:ea typeface="Courier New"/>
                <a:cs typeface="Courier New"/>
              </a:defRPr>
            </a:pPr>
            <a:r>
              <a:rPr sz="3150" b="0">
                <a:solidFill>
                  <a:srgbClr val="2E7D6F"/>
                </a:solidFill>
                <a:latin typeface="Courier New"/>
                <a:ea typeface="Courier New"/>
                <a:cs typeface="Courier New"/>
              </a:rPr>
              <a:t>[15.0]</a:t>
            </a:r>
          </a:p>
        </p:txBody>
      </p:sp>
      <p:sp>
        <p:nvSpPr>
          <p:cNvPr id="6" name="">
            <a:extLst xmlns:a="http://schemas.openxmlformats.org/drawingml/2006/main">
              <a:ext uri="{FF2B5EF4-FFF2-40B4-BE49-F238E27FC236}">
                <a16:creationId xmlns:a16="http://schemas.microsoft.com/office/drawing/2014/main" id="{43CCD2DA-93F3-43A9-9F7E-78AC75B67E21}"/>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05A7F035-FB76-47CA-8E7A-D4A8E6D913C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24</a:t>
            </a:r>
          </a:p>
        </p:txBody>
      </p:sp>
    </p:spTree>
    <p:extLst>
      <p:ext uri="{BB962C8B-B14F-4D97-AF65-F5344CB8AC3E}">
        <p14:creationId xmlns:p14="http://schemas.microsoft.com/office/powerpoint/2010/main" val="46560393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EC22B16-F826-4E7C-BBF4-14AEBE0AB6C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DF8D0C-CDE1-4F8A-976A-4E5EFB3CEFB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15DB9DA-6E8F-43D0-A9C9-957D23BBCC4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mean baseline</a:t>
            </a:r>
          </a:p>
        </p:txBody>
      </p:sp>
      <p:sp>
        <p:nvSpPr>
          <p:cNvPr id="4" name="">
            <a:extLst xmlns:a="http://schemas.openxmlformats.org/drawingml/2006/main">
              <a:ext uri="{FF2B5EF4-FFF2-40B4-BE49-F238E27FC236}">
                <a16:creationId xmlns:a16="http://schemas.microsoft.com/office/drawing/2014/main" id="{13A3640C-E55C-462D-9A0C-E87BF6F465A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7C66FD7-71B5-4957-9F5D-57A30D4E0398}"/>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same training data.</a:t>
            </a:r>
          </a:p>
        </p:txBody>
      </p:sp>
      <p:sp>
        <p:nvSpPr>
          <p:cNvPr id="6" name="">
            <a:extLst xmlns:a="http://schemas.openxmlformats.org/drawingml/2006/main">
              <a:ext uri="{FF2B5EF4-FFF2-40B4-BE49-F238E27FC236}">
                <a16:creationId xmlns:a16="http://schemas.microsoft.com/office/drawing/2014/main" id="{45066177-A484-417E-8268-59C8E10AB99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6CEAFB4-FB70-4C92-8C88-6E41B7940682}"/>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baseline learns their mean, 15, and predicts it for every input.</a:t>
            </a:r>
          </a:p>
        </p:txBody>
      </p:sp>
      <p:sp>
        <p:nvSpPr>
          <p:cNvPr id="8" name="">
            <a:extLst xmlns:a="http://schemas.openxmlformats.org/drawingml/2006/main">
              <a:ext uri="{FF2B5EF4-FFF2-40B4-BE49-F238E27FC236}">
                <a16:creationId xmlns:a16="http://schemas.microsoft.com/office/drawing/2014/main" id="{C81E7421-9012-4407-8DE4-A7F24EA7EE2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3570661-6E51-4DFC-831F-B955AFA63060}"/>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It gives a simple comparison before claiming the line helps.</a:t>
            </a:r>
          </a:p>
        </p:txBody>
      </p:sp>
      <p:sp>
        <p:nvSpPr>
          <p:cNvPr id="10" name="">
            <a:extLst xmlns:a="http://schemas.openxmlformats.org/drawingml/2006/main">
              <a:ext uri="{FF2B5EF4-FFF2-40B4-BE49-F238E27FC236}">
                <a16:creationId xmlns:a16="http://schemas.microsoft.com/office/drawing/2014/main" id="{D083997C-1F1A-4719-8CD6-8A512A74EA0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25</a:t>
            </a:r>
          </a:p>
        </p:txBody>
      </p:sp>
    </p:spTree>
    <p:extLst>
      <p:ext uri="{BB962C8B-B14F-4D97-AF65-F5344CB8AC3E}">
        <p14:creationId xmlns:p14="http://schemas.microsoft.com/office/powerpoint/2010/main" val="100201861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85D7A27-EF98-4071-B97E-883C1FB0182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15791F-8D9D-41E5-8E58-27FAE8BFADF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04A9731-CF18-48E4-94AE-D22AF9840CA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mean baseline in Python</a:t>
            </a:r>
          </a:p>
        </p:txBody>
      </p:sp>
      <p:sp>
        <p:nvSpPr>
          <p:cNvPr id="4" name="">
            <a:extLst xmlns:a="http://schemas.openxmlformats.org/drawingml/2006/main">
              <a:ext uri="{FF2B5EF4-FFF2-40B4-BE49-F238E27FC236}">
                <a16:creationId xmlns:a16="http://schemas.microsoft.com/office/drawing/2014/main" id="{E11A99F1-338A-4FD7-ADBE-5A061003F255}"/>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A3018A3-1C7D-41DE-8240-7A9A8BCCECF8}"/>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00" b="0">
                <a:solidFill>
                  <a:srgbClr val="F4F7FA"/>
                </a:solidFill>
                <a:latin typeface="Courier New"/>
                <a:ea typeface="Courier New"/>
                <a:cs typeface="Courier New"/>
              </a:defRPr>
            </a:pPr>
            <a:r>
              <a:rPr sz="1900" b="0">
                <a:solidFill>
                  <a:srgbClr val="FFB080"/>
                </a:solidFill>
                <a:latin typeface="Courier New"/>
                <a:ea typeface="Courier New"/>
                <a:cs typeface="Courier New"/>
              </a:rPr>
              <a:t>from</a:t>
            </a:r>
            <a:r>
              <a:rPr sz="1900" b="0">
                <a:solidFill>
                  <a:srgbClr val="F4F7FA"/>
                </a:solidFill>
                <a:latin typeface="Courier New"/>
                <a:ea typeface="Courier New"/>
                <a:cs typeface="Courier New"/>
              </a:rPr>
              <a:t> sklearn.dummy </a:t>
            </a:r>
            <a:r>
              <a:rPr sz="1900" b="0">
                <a:solidFill>
                  <a:srgbClr val="FFB080"/>
                </a:solidFill>
                <a:latin typeface="Courier New"/>
                <a:ea typeface="Courier New"/>
                <a:cs typeface="Courier New"/>
              </a:rPr>
              <a:t>import</a:t>
            </a:r>
            <a:r>
              <a:rPr sz="1900" b="0">
                <a:solidFill>
                  <a:srgbClr val="F4F7FA"/>
                </a:solidFill>
                <a:latin typeface="Courier New"/>
                <a:ea typeface="Courier New"/>
                <a:cs typeface="Courier New"/>
              </a:rPr>
              <a:t> DummyRegressor</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baseline = DummyRegressor(strategy="mean")</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baseline.fit(X_train, y_train)</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print(baseline.predict(new_inputs).tolist())</a:t>
            </a:r>
          </a:p>
        </p:txBody>
      </p:sp>
      <p:sp>
        <p:nvSpPr>
          <p:cNvPr id="6" name="">
            <a:extLst xmlns:a="http://schemas.openxmlformats.org/drawingml/2006/main">
              <a:ext uri="{FF2B5EF4-FFF2-40B4-BE49-F238E27FC236}">
                <a16:creationId xmlns:a16="http://schemas.microsoft.com/office/drawing/2014/main" id="{7EDEAF94-CCAA-4669-9E98-5A9A255E4ACB}"/>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EF8E7F36-F3B0-438A-A7CA-1EAA4E987CAF}"/>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import loads a library. from selects a tool from it.</a:t>
            </a:r>
          </a:p>
        </p:txBody>
      </p:sp>
      <p:sp>
        <p:nvSpPr>
          <p:cNvPr id="8" name="">
            <a:extLst xmlns:a="http://schemas.openxmlformats.org/drawingml/2006/main">
              <a:ext uri="{FF2B5EF4-FFF2-40B4-BE49-F238E27FC236}">
                <a16:creationId xmlns:a16="http://schemas.microsoft.com/office/drawing/2014/main" id="{EB1C18DB-0C5B-4A92-AB0F-B0FF44718BC3}"/>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fit learns using the supplied training observations.</a:t>
            </a:r>
          </a:p>
        </p:txBody>
      </p:sp>
      <p:sp>
        <p:nvSpPr>
          <p:cNvPr id="9" name="">
            <a:extLst xmlns:a="http://schemas.openxmlformats.org/drawingml/2006/main">
              <a:ext uri="{FF2B5EF4-FFF2-40B4-BE49-F238E27FC236}">
                <a16:creationId xmlns:a16="http://schemas.microsoft.com/office/drawing/2014/main" id="{2D0C4229-848B-406D-87E3-F72AA8B055F1}"/>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predict applies the fitted model to new inputs.</a:t>
            </a:r>
          </a:p>
        </p:txBody>
      </p:sp>
      <p:sp>
        <p:nvSpPr>
          <p:cNvPr id="10" name="">
            <a:extLst xmlns:a="http://schemas.openxmlformats.org/drawingml/2006/main">
              <a:ext uri="{FF2B5EF4-FFF2-40B4-BE49-F238E27FC236}">
                <a16:creationId xmlns:a16="http://schemas.microsoft.com/office/drawing/2014/main" id="{D44440AD-D8CF-4746-9518-D2F3E20A590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the code together. Predict the result before running.</a:t>
            </a:r>
          </a:p>
        </p:txBody>
      </p:sp>
      <p:sp>
        <p:nvSpPr>
          <p:cNvPr id="11" name="">
            <a:extLst xmlns:a="http://schemas.openxmlformats.org/drawingml/2006/main">
              <a:ext uri="{FF2B5EF4-FFF2-40B4-BE49-F238E27FC236}">
                <a16:creationId xmlns:a16="http://schemas.microsoft.com/office/drawing/2014/main" id="{D61DE998-D048-4E8E-8862-5FD36EA27E2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26</a:t>
            </a:r>
          </a:p>
        </p:txBody>
      </p:sp>
    </p:spTree>
    <p:extLst>
      <p:ext uri="{BB962C8B-B14F-4D97-AF65-F5344CB8AC3E}">
        <p14:creationId xmlns:p14="http://schemas.microsoft.com/office/powerpoint/2010/main" val="213457196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ECE9DC6-8AF2-425D-9699-10913FD9D8F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93433E-ECA4-4D4E-B453-FBD2FE0B3F5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37FAA5D-BD1F-4452-8CB1-8580485434D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small regression tree</a:t>
            </a:r>
          </a:p>
        </p:txBody>
      </p:sp>
      <p:sp>
        <p:nvSpPr>
          <p:cNvPr id="4" name="">
            <a:extLst xmlns:a="http://schemas.openxmlformats.org/drawingml/2006/main">
              <a:ext uri="{FF2B5EF4-FFF2-40B4-BE49-F238E27FC236}">
                <a16:creationId xmlns:a16="http://schemas.microsoft.com/office/drawing/2014/main" id="{4F5246BD-C414-4DA4-9C7D-B2629BC5811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4238A57-09E4-4335-9C03-D68C6A57876B}"/>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tree learns threshold questions from the training inputs.</a:t>
            </a:r>
          </a:p>
        </p:txBody>
      </p:sp>
      <p:sp>
        <p:nvSpPr>
          <p:cNvPr id="6" name="">
            <a:extLst xmlns:a="http://schemas.openxmlformats.org/drawingml/2006/main">
              <a:ext uri="{FF2B5EF4-FFF2-40B4-BE49-F238E27FC236}">
                <a16:creationId xmlns:a16="http://schemas.microsoft.com/office/drawing/2014/main" id="{BE9C4284-C944-49FE-8821-FB0EBEAF91E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B966DDA-8B97-4102-B068-244DB7060E09}"/>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final group, or leaf, predicts a target value.</a:t>
            </a:r>
          </a:p>
        </p:txBody>
      </p:sp>
      <p:sp>
        <p:nvSpPr>
          <p:cNvPr id="8" name="">
            <a:extLst xmlns:a="http://schemas.openxmlformats.org/drawingml/2006/main">
              <a:ext uri="{FF2B5EF4-FFF2-40B4-BE49-F238E27FC236}">
                <a16:creationId xmlns:a16="http://schemas.microsoft.com/office/drawing/2014/main" id="{E27334C8-2506-4BDB-B493-EC70318D39D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BE194E2-F2C9-44FD-82A3-1EBED62CC850}"/>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tree returns 14 for input 2.5 in this toy example. max_depth limits the number of successive decisions. random_state fixes the random seed.</a:t>
            </a:r>
          </a:p>
        </p:txBody>
      </p:sp>
      <p:sp>
        <p:nvSpPr>
          <p:cNvPr id="10" name="">
            <a:extLst xmlns:a="http://schemas.openxmlformats.org/drawingml/2006/main">
              <a:ext uri="{FF2B5EF4-FFF2-40B4-BE49-F238E27FC236}">
                <a16:creationId xmlns:a16="http://schemas.microsoft.com/office/drawing/2014/main" id="{C4D86A16-D953-4A44-9477-F3EDB63E5CC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27</a:t>
            </a:r>
          </a:p>
        </p:txBody>
      </p:sp>
    </p:spTree>
    <p:extLst>
      <p:ext uri="{BB962C8B-B14F-4D97-AF65-F5344CB8AC3E}">
        <p14:creationId xmlns:p14="http://schemas.microsoft.com/office/powerpoint/2010/main" val="38129168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09D30DE-7CF6-423F-9116-80A093E6C24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5D0DB3-91F5-4B76-A3DD-505627F8B91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1411692-26CE-4F25-B59D-D5A9F1D45E8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small regression tree in Python</a:t>
            </a:r>
          </a:p>
        </p:txBody>
      </p:sp>
      <p:sp>
        <p:nvSpPr>
          <p:cNvPr id="4" name="">
            <a:extLst xmlns:a="http://schemas.openxmlformats.org/drawingml/2006/main">
              <a:ext uri="{FF2B5EF4-FFF2-40B4-BE49-F238E27FC236}">
                <a16:creationId xmlns:a16="http://schemas.microsoft.com/office/drawing/2014/main" id="{54E45168-0789-4B4A-BD57-9E0712514F6E}"/>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6C6848C-DE44-4070-BE0D-5E48660FCE8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from</a:t>
            </a:r>
            <a:r>
              <a:rPr sz="2175" b="0">
                <a:solidFill>
                  <a:srgbClr val="F4F7FA"/>
                </a:solidFill>
                <a:latin typeface="Courier New"/>
                <a:ea typeface="Courier New"/>
                <a:cs typeface="Courier New"/>
              </a:rPr>
              <a:t> sklearn.tree </a:t>
            </a:r>
            <a:r>
              <a:rPr sz="2175" b="0">
                <a:solidFill>
                  <a:srgbClr val="FFB080"/>
                </a:solidFill>
                <a:latin typeface="Courier New"/>
                <a:ea typeface="Courier New"/>
                <a:cs typeface="Courier New"/>
              </a:rPr>
              <a:t>import</a:t>
            </a:r>
            <a:r>
              <a:rPr sz="2175" b="0">
                <a:solidFill>
                  <a:srgbClr val="F4F7FA"/>
                </a:solidFill>
                <a:latin typeface="Courier New"/>
                <a:ea typeface="Courier New"/>
                <a:cs typeface="Courier New"/>
              </a:rPr>
              <a:t> DecisionTreeRegressor</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tree = DecisionTreeRegressor(max_depth=4, random_state=17)</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tree.fit(X_train, y_train)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print(tree.predict(new_inputs).tolist())</a:t>
            </a:r>
          </a:p>
        </p:txBody>
      </p:sp>
      <p:sp>
        <p:nvSpPr>
          <p:cNvPr id="6" name="">
            <a:extLst xmlns:a="http://schemas.openxmlformats.org/drawingml/2006/main">
              <a:ext uri="{FF2B5EF4-FFF2-40B4-BE49-F238E27FC236}">
                <a16:creationId xmlns:a16="http://schemas.microsoft.com/office/drawing/2014/main" id="{3718BF36-FC50-4D0D-A568-E148D866277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import loads a library. from selects a tool from it.</a:t>
            </a:r>
          </a:p>
        </p:txBody>
      </p:sp>
      <p:sp>
        <p:nvSpPr>
          <p:cNvPr id="7" name="">
            <a:extLst xmlns:a="http://schemas.openxmlformats.org/drawingml/2006/main">
              <a:ext uri="{FF2B5EF4-FFF2-40B4-BE49-F238E27FC236}">
                <a16:creationId xmlns:a16="http://schemas.microsoft.com/office/drawing/2014/main" id="{798D22C9-6E08-4BC1-9155-84B54E1856D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the code together. Predict the result before running.</a:t>
            </a:r>
          </a:p>
        </p:txBody>
      </p:sp>
      <p:sp>
        <p:nvSpPr>
          <p:cNvPr id="8" name="">
            <a:extLst xmlns:a="http://schemas.openxmlformats.org/drawingml/2006/main">
              <a:ext uri="{FF2B5EF4-FFF2-40B4-BE49-F238E27FC236}">
                <a16:creationId xmlns:a16="http://schemas.microsoft.com/office/drawing/2014/main" id="{42BB9945-C76C-4B2B-B183-E02D0A6DD66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28</a:t>
            </a:r>
          </a:p>
        </p:txBody>
      </p:sp>
    </p:spTree>
    <p:extLst>
      <p:ext uri="{BB962C8B-B14F-4D97-AF65-F5344CB8AC3E}">
        <p14:creationId xmlns:p14="http://schemas.microsoft.com/office/powerpoint/2010/main" val="44356163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9A082F0-86A9-4A07-91BD-CA48521F686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1C3D4E-DD7D-45D7-A74A-6DAE3CC7539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74E07F6C-D95E-4C63-A3A0-426F4E9B85A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Reuse the same preparation on new inputs</a:t>
            </a:r>
          </a:p>
        </p:txBody>
      </p:sp>
      <p:sp>
        <p:nvSpPr>
          <p:cNvPr id="4" name="">
            <a:extLst xmlns:a="http://schemas.openxmlformats.org/drawingml/2006/main">
              <a:ext uri="{FF2B5EF4-FFF2-40B4-BE49-F238E27FC236}">
                <a16:creationId xmlns:a16="http://schemas.microsoft.com/office/drawing/2014/main" id="{E08AE460-930C-45FF-8E17-583DF4C89E78}"/>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92BDDBB-ACB8-4F7C-BAF6-3E2B6F517B59}"/>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Imputer</a:t>
            </a:r>
          </a:p>
        </p:txBody>
      </p:sp>
      <p:sp>
        <p:nvSpPr>
          <p:cNvPr id="6" name="">
            <a:extLst xmlns:a="http://schemas.openxmlformats.org/drawingml/2006/main">
              <a:ext uri="{FF2B5EF4-FFF2-40B4-BE49-F238E27FC236}">
                <a16:creationId xmlns:a16="http://schemas.microsoft.com/office/drawing/2014/main" id="{E0387C11-ABF1-4CBC-B221-CC72211BEE3A}"/>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An imputer fills missing feature values using a stated rule. Fit learns the replacement from training observations only. Prediction reuses that stored replacement.</a:t>
            </a:r>
          </a:p>
        </p:txBody>
      </p:sp>
      <p:sp>
        <p:nvSpPr>
          <p:cNvPr id="7" name="">
            <a:extLst xmlns:a="http://schemas.openxmlformats.org/drawingml/2006/main">
              <a:ext uri="{FF2B5EF4-FFF2-40B4-BE49-F238E27FC236}">
                <a16:creationId xmlns:a16="http://schemas.microsoft.com/office/drawing/2014/main" id="{3CF2713C-6AD7-4437-B14D-8DCAF03414D7}"/>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557C36F-6015-44E6-A71B-A48988963D84}"/>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Pipeline</a:t>
            </a:r>
          </a:p>
        </p:txBody>
      </p:sp>
      <p:sp>
        <p:nvSpPr>
          <p:cNvPr id="9" name="">
            <a:extLst xmlns:a="http://schemas.openxmlformats.org/drawingml/2006/main">
              <a:ext uri="{FF2B5EF4-FFF2-40B4-BE49-F238E27FC236}">
                <a16:creationId xmlns:a16="http://schemas.microsoft.com/office/drawing/2014/main" id="{A8E2DC83-E2AC-4D95-B328-5F192E3E0A25}"/>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pipeline connects preprocessing and a model. make_pipeline creates that connection. Its fit learns both stages on training data; predict applies them to new features.</a:t>
            </a:r>
          </a:p>
        </p:txBody>
      </p:sp>
      <p:sp>
        <p:nvSpPr>
          <p:cNvPr id="10" name="">
            <a:extLst xmlns:a="http://schemas.openxmlformats.org/drawingml/2006/main">
              <a:ext uri="{FF2B5EF4-FFF2-40B4-BE49-F238E27FC236}">
                <a16:creationId xmlns:a16="http://schemas.microsoft.com/office/drawing/2014/main" id="{385FA878-99DA-42E4-BB8F-3C699FB74D5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29</a:t>
            </a:r>
          </a:p>
        </p:txBody>
      </p:sp>
    </p:spTree>
    <p:extLst>
      <p:ext uri="{BB962C8B-B14F-4D97-AF65-F5344CB8AC3E}">
        <p14:creationId xmlns:p14="http://schemas.microsoft.com/office/powerpoint/2010/main" val="6723389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7049C5C-85DE-4DE4-9066-538D54232F6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DE3564-67AA-4885-90F5-06286904535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B4A3B26-54D9-46F9-B4FF-93AC0805634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Preprocessing learned from training only</a:t>
            </a:r>
          </a:p>
        </p:txBody>
      </p:sp>
      <p:sp>
        <p:nvSpPr>
          <p:cNvPr id="4" name="">
            <a:extLst xmlns:a="http://schemas.openxmlformats.org/drawingml/2006/main">
              <a:ext uri="{FF2B5EF4-FFF2-40B4-BE49-F238E27FC236}">
                <a16:creationId xmlns:a16="http://schemas.microsoft.com/office/drawing/2014/main" id="{2E3C944F-8BCB-437E-8F18-F2E53FDE8C6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EA8A18C-00BC-4115-AEC9-7731522C413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SimpleImputer learns one median for each training column. make_pipeline connects this step to the model. fit learns both steps using only the training examples. predict reuses them on new inputs.</a:t>
            </a:r>
          </a:p>
        </p:txBody>
      </p:sp>
      <p:sp>
        <p:nvSpPr>
          <p:cNvPr id="6" name="">
            <a:extLst xmlns:a="http://schemas.openxmlformats.org/drawingml/2006/main">
              <a:ext uri="{FF2B5EF4-FFF2-40B4-BE49-F238E27FC236}">
                <a16:creationId xmlns:a16="http://schemas.microsoft.com/office/drawing/2014/main" id="{DC98D2EB-A641-42AA-8C5F-A9E296BCC44E}"/>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BCCB332-FB7D-4398-A0AC-84DC7AA90389}"/>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 target is supplied to predict.</a:t>
            </a:r>
          </a:p>
        </p:txBody>
      </p:sp>
      <p:sp>
        <p:nvSpPr>
          <p:cNvPr id="8" name="">
            <a:extLst xmlns:a="http://schemas.openxmlformats.org/drawingml/2006/main">
              <a:ext uri="{FF2B5EF4-FFF2-40B4-BE49-F238E27FC236}">
                <a16:creationId xmlns:a16="http://schemas.microsoft.com/office/drawing/2014/main" id="{89F6EACF-79F9-454C-9068-1639B5D5E8CB}"/>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5450EE0-5BAE-4804-8A18-1D25FD5F2986}"/>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two inputs here are invented practice measurements.</a:t>
            </a:r>
          </a:p>
        </p:txBody>
      </p:sp>
      <p:sp>
        <p:nvSpPr>
          <p:cNvPr id="10" name="">
            <a:extLst xmlns:a="http://schemas.openxmlformats.org/drawingml/2006/main">
              <a:ext uri="{FF2B5EF4-FFF2-40B4-BE49-F238E27FC236}">
                <a16:creationId xmlns:a16="http://schemas.microsoft.com/office/drawing/2014/main" id="{35EAF83B-4291-4045-BF3E-EBF2FB6B9B3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30</a:t>
            </a:r>
          </a:p>
        </p:txBody>
      </p:sp>
    </p:spTree>
    <p:extLst>
      <p:ext uri="{BB962C8B-B14F-4D97-AF65-F5344CB8AC3E}">
        <p14:creationId xmlns:p14="http://schemas.microsoft.com/office/powerpoint/2010/main" val="19904157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76C733-2803-42CD-880C-FCAFD4B260B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15E505-5D83-42B8-83FD-B285DA7293E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04F4DB5-565B-465A-AD91-562A678BDBC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Preprocessing learned from training only in Python (1/2)</a:t>
            </a:r>
          </a:p>
        </p:txBody>
      </p:sp>
      <p:sp>
        <p:nvSpPr>
          <p:cNvPr id="4" name="">
            <a:extLst xmlns:a="http://schemas.openxmlformats.org/drawingml/2006/main">
              <a:ext uri="{FF2B5EF4-FFF2-40B4-BE49-F238E27FC236}">
                <a16:creationId xmlns:a16="http://schemas.microsoft.com/office/drawing/2014/main" id="{9F5C4614-CD60-439E-91B0-C49F26087751}"/>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23588B7-978B-413E-9300-96141AEADD50}"/>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from</a:t>
            </a:r>
            <a:r>
              <a:rPr sz="2175" b="0">
                <a:solidFill>
                  <a:srgbClr val="F4F7FA"/>
                </a:solidFill>
                <a:latin typeface="Courier New"/>
                <a:ea typeface="Courier New"/>
                <a:cs typeface="Courier New"/>
              </a:rPr>
              <a:t> sklearn.impute </a:t>
            </a:r>
            <a:r>
              <a:rPr sz="2175" b="0">
                <a:solidFill>
                  <a:srgbClr val="FFB080"/>
                </a:solidFill>
                <a:latin typeface="Courier New"/>
                <a:ea typeface="Courier New"/>
                <a:cs typeface="Courier New"/>
              </a:rPr>
              <a:t>import</a:t>
            </a:r>
            <a:r>
              <a:rPr sz="2175" b="0">
                <a:solidFill>
                  <a:srgbClr val="F4F7FA"/>
                </a:solidFill>
                <a:latin typeface="Courier New"/>
                <a:ea typeface="Courier New"/>
                <a:cs typeface="Courier New"/>
              </a:rPr>
              <a:t> SimpleImputer</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from sklearn.pipeline import make_pipeline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import numpy as np</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train_inputs = [[1, 20], [2, 22], [3, np.nan], [4, 24]]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train_targets = [12, 14, 16, 18]</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imputer = SimpleImputer(strategy="median")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model = LinearRegression()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pipeline = make_pipeline(imputer, model)</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pipeline.fit(train_inputs, train_targets)</a:t>
            </a:r>
          </a:p>
        </p:txBody>
      </p:sp>
      <p:sp>
        <p:nvSpPr>
          <p:cNvPr id="6" name="">
            <a:extLst xmlns:a="http://schemas.openxmlformats.org/drawingml/2006/main">
              <a:ext uri="{FF2B5EF4-FFF2-40B4-BE49-F238E27FC236}">
                <a16:creationId xmlns:a16="http://schemas.microsoft.com/office/drawing/2014/main" id="{68FC4B58-E4E9-4076-9CAD-11901F38B953}"/>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import loads a library. from selects a tool from it.</a:t>
            </a:r>
          </a:p>
        </p:txBody>
      </p:sp>
      <p:sp>
        <p:nvSpPr>
          <p:cNvPr id="7" name="">
            <a:extLst xmlns:a="http://schemas.openxmlformats.org/drawingml/2006/main">
              <a:ext uri="{FF2B5EF4-FFF2-40B4-BE49-F238E27FC236}">
                <a16:creationId xmlns:a16="http://schemas.microsoft.com/office/drawing/2014/main" id="{BC87A912-189F-4930-9629-BF14D6FE800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the code together. Predict the result before running.</a:t>
            </a:r>
          </a:p>
        </p:txBody>
      </p:sp>
      <p:sp>
        <p:nvSpPr>
          <p:cNvPr id="8" name="">
            <a:extLst xmlns:a="http://schemas.openxmlformats.org/drawingml/2006/main">
              <a:ext uri="{FF2B5EF4-FFF2-40B4-BE49-F238E27FC236}">
                <a16:creationId xmlns:a16="http://schemas.microsoft.com/office/drawing/2014/main" id="{54DDD477-167F-4853-8AC5-BD340B27554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31</a:t>
            </a:r>
          </a:p>
        </p:txBody>
      </p:sp>
    </p:spTree>
    <p:extLst>
      <p:ext uri="{BB962C8B-B14F-4D97-AF65-F5344CB8AC3E}">
        <p14:creationId xmlns:p14="http://schemas.microsoft.com/office/powerpoint/2010/main" val="151307511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5BCD78-2B1D-4F67-87BE-0DE4C1589E7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8D8E4E-4DF4-49D2-B219-48D57F00CAD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3841C2D-7663-4074-8D69-FF16EFBBD8B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Preprocessing learned from training only in Python (2/2)</a:t>
            </a:r>
          </a:p>
        </p:txBody>
      </p:sp>
      <p:sp>
        <p:nvSpPr>
          <p:cNvPr id="4" name="">
            <a:extLst xmlns:a="http://schemas.openxmlformats.org/drawingml/2006/main">
              <a:ext uri="{FF2B5EF4-FFF2-40B4-BE49-F238E27FC236}">
                <a16:creationId xmlns:a16="http://schemas.microsoft.com/office/drawing/2014/main" id="{27C2E89C-53DD-42EA-BD21-504AB4549402}"/>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C2F668E-975C-453F-B31F-A101418D0698}"/>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predictions = pipeline.predict([[2.5, np.nan]])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print(predictions.round(2).tolist())</a:t>
            </a:r>
          </a:p>
        </p:txBody>
      </p:sp>
      <p:sp>
        <p:nvSpPr>
          <p:cNvPr id="6" name="">
            <a:extLst xmlns:a="http://schemas.openxmlformats.org/drawingml/2006/main">
              <a:ext uri="{FF2B5EF4-FFF2-40B4-BE49-F238E27FC236}">
                <a16:creationId xmlns:a16="http://schemas.microsoft.com/office/drawing/2014/main" id="{BD6DEFEC-D464-4F21-A592-32A129C70A15}"/>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predict applies the fitted model to new inputs.</a:t>
            </a:r>
          </a:p>
        </p:txBody>
      </p:sp>
      <p:sp>
        <p:nvSpPr>
          <p:cNvPr id="7" name="">
            <a:extLst xmlns:a="http://schemas.openxmlformats.org/drawingml/2006/main">
              <a:ext uri="{FF2B5EF4-FFF2-40B4-BE49-F238E27FC236}">
                <a16:creationId xmlns:a16="http://schemas.microsoft.com/office/drawing/2014/main" id="{4BC3F784-52E8-46EF-88E0-748725F4A17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the SAME cell; keep indentation. Run after all parts are entered.</a:t>
            </a:r>
          </a:p>
        </p:txBody>
      </p:sp>
      <p:sp>
        <p:nvSpPr>
          <p:cNvPr id="8" name="">
            <a:extLst xmlns:a="http://schemas.openxmlformats.org/drawingml/2006/main">
              <a:ext uri="{FF2B5EF4-FFF2-40B4-BE49-F238E27FC236}">
                <a16:creationId xmlns:a16="http://schemas.microsoft.com/office/drawing/2014/main" id="{8BA9B07E-69DE-4804-9268-5548949B9C2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32</a:t>
            </a:r>
          </a:p>
        </p:txBody>
      </p:sp>
    </p:spTree>
    <p:extLst>
      <p:ext uri="{BB962C8B-B14F-4D97-AF65-F5344CB8AC3E}">
        <p14:creationId xmlns:p14="http://schemas.microsoft.com/office/powerpoint/2010/main" val="213326063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58A68B6-F25E-47B6-91E8-7377E48754E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42B01EA-4807-436C-BEEF-FBB5FCFCE18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4574EEB-A5F9-4142-AA7D-326B99561D7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records into a feature table</a:t>
            </a:r>
          </a:p>
        </p:txBody>
      </p:sp>
      <p:sp>
        <p:nvSpPr>
          <p:cNvPr id="4" name="">
            <a:extLst xmlns:a="http://schemas.openxmlformats.org/drawingml/2006/main">
              <a:ext uri="{FF2B5EF4-FFF2-40B4-BE49-F238E27FC236}">
                <a16:creationId xmlns:a16="http://schemas.microsoft.com/office/drawing/2014/main" id="{D32CF647-3F6A-49AE-83DE-9E9E4429C6C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7832818-E317-4D0A-B608-0403A3580FB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inner list is one row, in the same order as the input records.</a:t>
            </a:r>
          </a:p>
        </p:txBody>
      </p:sp>
      <p:sp>
        <p:nvSpPr>
          <p:cNvPr id="6" name="">
            <a:extLst xmlns:a="http://schemas.openxmlformats.org/drawingml/2006/main">
              <a:ext uri="{FF2B5EF4-FFF2-40B4-BE49-F238E27FC236}">
                <a16:creationId xmlns:a16="http://schemas.microsoft.com/office/drawing/2014/main" id="{730B2CEC-2DBC-4192-B89F-024F92D2784F}"/>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1332EBF-FB3C-42F4-B121-78E6D6D75934}"/>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target list uses that same row order.</a:t>
            </a:r>
          </a:p>
        </p:txBody>
      </p:sp>
      <p:sp>
        <p:nvSpPr>
          <p:cNvPr id="8" name="">
            <a:extLst xmlns:a="http://schemas.openxmlformats.org/drawingml/2006/main">
              <a:ext uri="{FF2B5EF4-FFF2-40B4-BE49-F238E27FC236}">
                <a16:creationId xmlns:a16="http://schemas.microsoft.com/office/drawing/2014/main" id="{9AF0BD5C-C3F7-4BA2-82E6-E60BA867FE34}"/>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C10CE93-63DE-4F6A-BF40-AFC0287E0579}"/>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feature table has no answer column.</a:t>
            </a:r>
          </a:p>
        </p:txBody>
      </p:sp>
      <p:sp>
        <p:nvSpPr>
          <p:cNvPr id="10" name="">
            <a:extLst xmlns:a="http://schemas.openxmlformats.org/drawingml/2006/main">
              <a:ext uri="{FF2B5EF4-FFF2-40B4-BE49-F238E27FC236}">
                <a16:creationId xmlns:a16="http://schemas.microsoft.com/office/drawing/2014/main" id="{5B2036C7-A2FA-4B2B-813F-77ACF72BC3F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33</a:t>
            </a:r>
          </a:p>
        </p:txBody>
      </p:sp>
    </p:spTree>
    <p:extLst>
      <p:ext uri="{BB962C8B-B14F-4D97-AF65-F5344CB8AC3E}">
        <p14:creationId xmlns:p14="http://schemas.microsoft.com/office/powerpoint/2010/main" val="94419359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C7CA79-AAA9-4AE5-8930-49A3B7FABA9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3D931F-EC60-4F48-A734-8CCA04B174D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CC98286-9FC9-41E4-8BE3-E4BB651C702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records into a feature table in Python</a:t>
            </a:r>
          </a:p>
        </p:txBody>
      </p:sp>
      <p:sp>
        <p:nvSpPr>
          <p:cNvPr id="4" name="">
            <a:extLst xmlns:a="http://schemas.openxmlformats.org/drawingml/2006/main">
              <a:ext uri="{FF2B5EF4-FFF2-40B4-BE49-F238E27FC236}">
                <a16:creationId xmlns:a16="http://schemas.microsoft.com/office/drawing/2014/main" id="{9F260340-E187-4028-B813-3EBBF58142C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58EA102-DAF2-4753-AFAD-C6E3A3E06835}"/>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rows = [{"length": 2, "width": 3, "area":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{"length": 4, "width": 5, "area": 20}]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X =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y = []</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row in rows: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X.append([row["length"], row["width"]])</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y.append(row["area"])</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print(X)</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print(y)</a:t>
            </a:r>
          </a:p>
        </p:txBody>
      </p:sp>
      <p:sp>
        <p:nvSpPr>
          <p:cNvPr id="6" name="">
            <a:extLst xmlns:a="http://schemas.openxmlformats.org/drawingml/2006/main">
              <a:ext uri="{FF2B5EF4-FFF2-40B4-BE49-F238E27FC236}">
                <a16:creationId xmlns:a16="http://schemas.microsoft.com/office/drawing/2014/main" id="{BB74CA63-F3DA-4894-BF97-D5E5077E92E8}"/>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for takes the next item. The indented block repeats.</a:t>
            </a:r>
          </a:p>
        </p:txBody>
      </p:sp>
      <p:sp>
        <p:nvSpPr>
          <p:cNvPr id="7" name="">
            <a:extLst xmlns:a="http://schemas.openxmlformats.org/drawingml/2006/main">
              <a:ext uri="{FF2B5EF4-FFF2-40B4-BE49-F238E27FC236}">
                <a16:creationId xmlns:a16="http://schemas.microsoft.com/office/drawing/2014/main" id="{8C28FAF9-F53E-4E59-9412-20F8D5A6353E}"/>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the code together. Predict the result before running.</a:t>
            </a:r>
          </a:p>
        </p:txBody>
      </p:sp>
      <p:sp>
        <p:nvSpPr>
          <p:cNvPr id="8" name="">
            <a:extLst xmlns:a="http://schemas.openxmlformats.org/drawingml/2006/main">
              <a:ext uri="{FF2B5EF4-FFF2-40B4-BE49-F238E27FC236}">
                <a16:creationId xmlns:a16="http://schemas.microsoft.com/office/drawing/2014/main" id="{F5926CE9-98D5-48FC-88A9-6889F3FB096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34</a:t>
            </a:r>
          </a:p>
        </p:txBody>
      </p:sp>
    </p:spTree>
    <p:extLst>
      <p:ext uri="{BB962C8B-B14F-4D97-AF65-F5344CB8AC3E}">
        <p14:creationId xmlns:p14="http://schemas.microsoft.com/office/powerpoint/2010/main" val="66311699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CB57673-9ADA-4AD7-9B87-704A05C2844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05F9C1-6338-4490-ADF1-BE8B91304F5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BB2B7C75-6902-4A29-85AA-458D853CCBC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MAE and RMSE</a:t>
            </a:r>
          </a:p>
        </p:txBody>
      </p:sp>
      <p:sp>
        <p:nvSpPr>
          <p:cNvPr id="4" name="">
            <a:extLst xmlns:a="http://schemas.openxmlformats.org/drawingml/2006/main">
              <a:ext uri="{FF2B5EF4-FFF2-40B4-BE49-F238E27FC236}">
                <a16:creationId xmlns:a16="http://schemas.microsoft.com/office/drawing/2014/main" id="{3DA75BBD-A758-4B94-9CDA-95FECDEC7D1E}"/>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B37D339-7872-4A6B-B4CE-DF23F6E90095}"/>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MAE and RMSE</a:t>
            </a:r>
          </a:p>
        </p:txBody>
      </p:sp>
      <p:sp>
        <p:nvSpPr>
          <p:cNvPr id="6" name="">
            <a:extLst xmlns:a="http://schemas.openxmlformats.org/drawingml/2006/main">
              <a:ext uri="{FF2B5EF4-FFF2-40B4-BE49-F238E27FC236}">
                <a16:creationId xmlns:a16="http://schemas.microsoft.com/office/drawing/2014/main" id="{71C893AB-2AA0-49AE-A343-425567E42891}"/>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MAE averages absolute prediction errors. RMSE squares errors, averages them and takes the square root. Both use target units. RMSE is more sensitive to large errors.</a:t>
            </a:r>
          </a:p>
        </p:txBody>
      </p:sp>
      <p:sp>
        <p:nvSpPr>
          <p:cNvPr id="7" name="">
            <a:extLst xmlns:a="http://schemas.openxmlformats.org/drawingml/2006/main">
              <a:ext uri="{FF2B5EF4-FFF2-40B4-BE49-F238E27FC236}">
                <a16:creationId xmlns:a16="http://schemas.microsoft.com/office/drawing/2014/main" id="{5D8AC9B8-E42B-49AC-BC4B-AAA285A1888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35</a:t>
            </a:r>
          </a:p>
        </p:txBody>
      </p:sp>
    </p:spTree>
    <p:extLst>
      <p:ext uri="{BB962C8B-B14F-4D97-AF65-F5344CB8AC3E}">
        <p14:creationId xmlns:p14="http://schemas.microsoft.com/office/powerpoint/2010/main" val="98122145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DFC483-B051-4B05-905C-F57D218E115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D754C1-77C4-43C2-A8AD-2F77C5FDEB4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369C26BF-3CB3-498E-B334-C3F5B6DE79E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prediction error in ordinary numbers</a:t>
            </a:r>
          </a:p>
        </p:txBody>
      </p:sp>
      <p:graphicFrame>
        <p:nvGraphicFramePr>
          <p:cNvPr id="10" name=""/>
          <p:cNvGraphicFramePr/>
          <p:nvPr/>
        </p:nvGraphicFramePr>
        <p:xfrm>
          <a:off xmlns:a="http://schemas.openxmlformats.org/drawingml/2006/main" x="590550" y="1733550"/>
          <a:ext xmlns:a="http://schemas.openxmlformats.org/drawingml/2006/main" cx="11010900" cy="2286000"/>
        </p:xfrm>
        <a:graphic xmlns:a="http://schemas.openxmlformats.org/drawingml/2006/main">
          <a:graphicData uri="http://schemas.openxmlformats.org/drawingml/2006/table">
            <a:tbl>
              <a:tblPr/>
              <a:tblGrid>
                <a:gridCol w="3670300"/>
                <a:gridCol w="3670300"/>
                <a:gridCol w="3670300"/>
              </a:tblGrid>
              <a:tr h="762000">
                <a:tc>
                  <a:txBody>
                    <a:bodyPr/>
                    <a:lstStyle/>
                    <a:p>
                      <a:r>
                        <a:rPr sz="2025" b="1">
                          <a:solidFill>
                            <a:srgbClr val="FFFFFF"/>
                          </a:solidFill>
                          <a:latin typeface="Calibri"/>
                          <a:ea typeface="Calibri"/>
                          <a:cs typeface="Calibri"/>
                        </a:rPr>
                        <a:t>Actual</a:t>
                      </a:r>
                    </a:p>
                  </a:txBody>
                  <a:tcPr marL="91440" marR="91440" marT="45720" marB="45720">
                    <a:solidFill>
                      <a:srgbClr val="2E7D6F"/>
                    </a:solidFill>
                  </a:tcPr>
                </a:tc>
                <a:tc>
                  <a:txBody>
                    <a:bodyPr/>
                    <a:lstStyle/>
                    <a:p>
                      <a:r>
                        <a:rPr sz="2025" b="1">
                          <a:solidFill>
                            <a:srgbClr val="FFFFFF"/>
                          </a:solidFill>
                          <a:latin typeface="Calibri"/>
                          <a:ea typeface="Calibri"/>
                          <a:cs typeface="Calibri"/>
                        </a:rPr>
                        <a:t>Prediction</a:t>
                      </a:r>
                    </a:p>
                  </a:txBody>
                  <a:tcPr marL="91440" marR="91440" marT="45720" marB="45720">
                    <a:solidFill>
                      <a:srgbClr val="2E7D6F"/>
                    </a:solidFill>
                  </a:tcPr>
                </a:tc>
                <a:tc>
                  <a:txBody>
                    <a:bodyPr/>
                    <a:lstStyle/>
                    <a:p>
                      <a:r>
                        <a:rPr sz="2025" b="1">
                          <a:solidFill>
                            <a:srgbClr val="FFFFFF"/>
                          </a:solidFill>
                          <a:latin typeface="Calibri"/>
                          <a:ea typeface="Calibri"/>
                          <a:cs typeface="Calibri"/>
                        </a:rPr>
                        <a:t>Absolute error</a:t>
                      </a:r>
                    </a:p>
                  </a:txBody>
                  <a:tcPr marL="91440" marR="91440" marT="45720" marB="45720">
                    <a:solidFill>
                      <a:srgbClr val="2E7D6F"/>
                    </a:solidFill>
                  </a:tcPr>
                </a:tc>
              </a:tr>
              <a:tr h="762000">
                <a:tc>
                  <a:txBody>
                    <a:bodyPr/>
                    <a:lstStyle/>
                    <a:p>
                      <a:r>
                        <a:rPr sz="2025" b="0">
                          <a:solidFill>
                            <a:srgbClr val="1C3144"/>
                          </a:solidFill>
                          <a:latin typeface="Calibri"/>
                          <a:ea typeface="Calibri"/>
                          <a:cs typeface="Calibri"/>
                        </a:rPr>
                        <a:t>10</a:t>
                      </a:r>
                    </a:p>
                  </a:txBody>
                  <a:tcPr marL="91440" marR="91440" marT="45720" marB="45720">
                    <a:solidFill>
                      <a:srgbClr val="EEF3F6"/>
                    </a:solidFill>
                  </a:tcPr>
                </a:tc>
                <a:tc>
                  <a:txBody>
                    <a:bodyPr/>
                    <a:lstStyle/>
                    <a:p>
                      <a:r>
                        <a:rPr sz="2025" b="0">
                          <a:solidFill>
                            <a:srgbClr val="1C3144"/>
                          </a:solidFill>
                          <a:latin typeface="Calibri"/>
                          <a:ea typeface="Calibri"/>
                          <a:cs typeface="Calibri"/>
                        </a:rPr>
                        <a:t>8</a:t>
                      </a:r>
                    </a:p>
                  </a:txBody>
                  <a:tcPr marL="91440" marR="91440" marT="45720" marB="45720">
                    <a:solidFill>
                      <a:srgbClr val="EEF3F6"/>
                    </a:solidFill>
                  </a:tcPr>
                </a:tc>
                <a:tc>
                  <a:txBody>
                    <a:bodyPr/>
                    <a:lstStyle/>
                    <a:p>
                      <a:r>
                        <a:rPr sz="2025" b="0">
                          <a:solidFill>
                            <a:srgbClr val="1C3144"/>
                          </a:solidFill>
                          <a:latin typeface="Calibri"/>
                          <a:ea typeface="Calibri"/>
                          <a:cs typeface="Calibri"/>
                        </a:rPr>
                        <a:t>2</a:t>
                      </a:r>
                    </a:p>
                  </a:txBody>
                  <a:tcPr marL="91440" marR="91440" marT="45720" marB="45720">
                    <a:solidFill>
                      <a:srgbClr val="EEF3F6"/>
                    </a:solidFill>
                  </a:tcPr>
                </a:tc>
              </a:tr>
              <a:tr h="762000">
                <a:tc>
                  <a:txBody>
                    <a:bodyPr/>
                    <a:lstStyle/>
                    <a:p>
                      <a:r>
                        <a:rPr sz="2025" b="0">
                          <a:solidFill>
                            <a:srgbClr val="1C3144"/>
                          </a:solidFill>
                          <a:latin typeface="Calibri"/>
                          <a:ea typeface="Calibri"/>
                          <a:cs typeface="Calibri"/>
                        </a:rPr>
                        <a:t>20</a:t>
                      </a:r>
                    </a:p>
                  </a:txBody>
                  <a:tcPr marL="91440" marR="91440" marT="45720" marB="45720">
                    <a:solidFill>
                      <a:srgbClr val="FFFFFF"/>
                    </a:solidFill>
                  </a:tcPr>
                </a:tc>
                <a:tc>
                  <a:txBody>
                    <a:bodyPr/>
                    <a:lstStyle/>
                    <a:p>
                      <a:r>
                        <a:rPr sz="2025" b="0">
                          <a:solidFill>
                            <a:srgbClr val="1C3144"/>
                          </a:solidFill>
                          <a:latin typeface="Calibri"/>
                          <a:ea typeface="Calibri"/>
                          <a:cs typeface="Calibri"/>
                        </a:rPr>
                        <a:t>24</a:t>
                      </a:r>
                    </a:p>
                  </a:txBody>
                  <a:tcPr marL="91440" marR="91440" marT="45720" marB="45720">
                    <a:solidFill>
                      <a:srgbClr val="FFFFFF"/>
                    </a:solidFill>
                  </a:tcPr>
                </a:tc>
                <a:tc>
                  <a:txBody>
                    <a:bodyPr/>
                    <a:lstStyle/>
                    <a:p>
                      <a:r>
                        <a:rPr sz="2025" b="0">
                          <a:solidFill>
                            <a:srgbClr val="1C3144"/>
                          </a:solidFill>
                          <a:latin typeface="Calibri"/>
                          <a:ea typeface="Calibri"/>
                          <a:cs typeface="Calibri"/>
                        </a:rPr>
                        <a:t>4</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350E7FD-9954-45F9-A8C8-E5B63D74D4C1}"/>
              </a:ext>
            </a:extLst>
          </p:cNvPr>
          <p:cNvSpPr>
            <a:spLocks xmlns:a="http://schemas.openxmlformats.org/drawingml/2006/main" noGrp="1"/>
          </p:cNvSpPr>
          <p:nvPr/>
        </p:nvSpPr>
        <p:spPr>
          <a:xfrm xmlns:a="http://schemas.openxmlformats.org/drawingml/2006/main">
            <a:off x="685800" y="433387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MAE = (2 + 4) / 2 = 3, in the target’s unit. Compare a model against a training-only baseline.</a:t>
            </a:r>
          </a:p>
        </p:txBody>
      </p:sp>
      <p:sp>
        <p:nvSpPr>
          <p:cNvPr id="6" name="">
            <a:extLst xmlns:a="http://schemas.openxmlformats.org/drawingml/2006/main">
              <a:ext uri="{FF2B5EF4-FFF2-40B4-BE49-F238E27FC236}">
                <a16:creationId xmlns:a16="http://schemas.microsoft.com/office/drawing/2014/main" id="{0A5CD17C-E9FB-4196-8F2B-F0CB0520774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36</a:t>
            </a:r>
          </a:p>
        </p:txBody>
      </p:sp>
    </p:spTree>
    <p:extLst>
      <p:ext uri="{BB962C8B-B14F-4D97-AF65-F5344CB8AC3E}">
        <p14:creationId xmlns:p14="http://schemas.microsoft.com/office/powerpoint/2010/main" val="55467660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A270CF8-37FF-4577-A187-F598A8DBCCC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9FCDA3-2696-4B52-A520-A406C2E6709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F5BC9F32-AF70-4240-9C2E-D77D00F75D1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operations in the error calculation</a:t>
            </a:r>
          </a:p>
        </p:txBody>
      </p:sp>
      <p:sp>
        <p:nvSpPr>
          <p:cNvPr id="4" name="">
            <a:extLst xmlns:a="http://schemas.openxmlformats.org/drawingml/2006/main">
              <a:ext uri="{FF2B5EF4-FFF2-40B4-BE49-F238E27FC236}">
                <a16:creationId xmlns:a16="http://schemas.microsoft.com/office/drawing/2014/main" id="{E60C979E-46FA-4DF0-B571-A15B6788FACB}"/>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AB0BEA5-2369-4244-A884-523996822755}"/>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zip and paired names</a:t>
            </a:r>
          </a:p>
        </p:txBody>
      </p:sp>
      <p:sp>
        <p:nvSpPr>
          <p:cNvPr id="6" name="">
            <a:extLst xmlns:a="http://schemas.openxmlformats.org/drawingml/2006/main">
              <a:ext uri="{FF2B5EF4-FFF2-40B4-BE49-F238E27FC236}">
                <a16:creationId xmlns:a16="http://schemas.microsoft.com/office/drawing/2014/main" id="{EAAFE0F2-9F76-40DB-B791-DCE08A6B9691}"/>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zip(actual, predicted) pairs values at matching positions. for truth, guess in ... assigns each pair to two names. Here both lists must have the same nonzero length.</a:t>
            </a:r>
          </a:p>
        </p:txBody>
      </p:sp>
      <p:sp>
        <p:nvSpPr>
          <p:cNvPr id="7" name="">
            <a:extLst xmlns:a="http://schemas.openxmlformats.org/drawingml/2006/main">
              <a:ext uri="{FF2B5EF4-FFF2-40B4-BE49-F238E27FC236}">
                <a16:creationId xmlns:a16="http://schemas.microsoft.com/office/drawing/2014/main" id="{42DB2CBA-8A50-4BEE-B69A-5B77056269A5}"/>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AD2F574-6155-4CD6-B341-36AD182B4932}"/>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Square and square root</a:t>
            </a:r>
          </a:p>
        </p:txBody>
      </p:sp>
      <p:sp>
        <p:nvSpPr>
          <p:cNvPr id="9" name="">
            <a:extLst xmlns:a="http://schemas.openxmlformats.org/drawingml/2006/main">
              <a:ext uri="{FF2B5EF4-FFF2-40B4-BE49-F238E27FC236}">
                <a16:creationId xmlns:a16="http://schemas.microsoft.com/office/drawing/2014/main" id="{C1F95E87-F6D0-42B8-A993-8FD049CDADBD}"/>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difference ** 2 squares an error. sqrt reverses a square for nonnegative numbers: sqrt(9) is 3. from math import sqrt makes this tool available.</a:t>
            </a:r>
          </a:p>
        </p:txBody>
      </p:sp>
      <p:sp>
        <p:nvSpPr>
          <p:cNvPr id="10" name="">
            <a:extLst xmlns:a="http://schemas.openxmlformats.org/drawingml/2006/main">
              <a:ext uri="{FF2B5EF4-FFF2-40B4-BE49-F238E27FC236}">
                <a16:creationId xmlns:a16="http://schemas.microsoft.com/office/drawing/2014/main" id="{5E6286A8-3765-4C66-AE06-012419CCCCC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37</a:t>
            </a:r>
          </a:p>
        </p:txBody>
      </p:sp>
    </p:spTree>
    <p:extLst>
      <p:ext uri="{BB962C8B-B14F-4D97-AF65-F5344CB8AC3E}">
        <p14:creationId xmlns:p14="http://schemas.microsoft.com/office/powerpoint/2010/main" val="7067910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A0A1774-BA42-4D41-B766-A5E67024A52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337FCA-1F8C-4F9C-89EE-D3602774D4F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7636743-B9E2-4749-8686-7E496E2A46D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Two error measures</a:t>
            </a:r>
          </a:p>
        </p:txBody>
      </p:sp>
      <p:sp>
        <p:nvSpPr>
          <p:cNvPr id="4" name="">
            <a:extLst xmlns:a="http://schemas.openxmlformats.org/drawingml/2006/main">
              <a:ext uri="{FF2B5EF4-FFF2-40B4-BE49-F238E27FC236}">
                <a16:creationId xmlns:a16="http://schemas.microsoft.com/office/drawing/2014/main" id="{02D837D9-B91E-4D25-ACF7-8989F5D8D3A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CF2C72A-F91B-449C-966A-E38E95A23D0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zip pairs corresponding values. abs measures error size.</a:t>
            </a:r>
          </a:p>
        </p:txBody>
      </p:sp>
      <p:sp>
        <p:nvSpPr>
          <p:cNvPr id="6" name="">
            <a:extLst xmlns:a="http://schemas.openxmlformats.org/drawingml/2006/main">
              <a:ext uri="{FF2B5EF4-FFF2-40B4-BE49-F238E27FC236}">
                <a16:creationId xmlns:a16="http://schemas.microsoft.com/office/drawing/2014/main" id="{38CFDAA4-5DB5-46BE-B9F7-6F631A1129E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E263145-4432-4420-AC58-72728E27D1A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Squaring emphasises large errors; taking the square root returns to the original unit.</a:t>
            </a:r>
          </a:p>
        </p:txBody>
      </p:sp>
      <p:sp>
        <p:nvSpPr>
          <p:cNvPr id="8" name="">
            <a:extLst xmlns:a="http://schemas.openxmlformats.org/drawingml/2006/main">
              <a:ext uri="{FF2B5EF4-FFF2-40B4-BE49-F238E27FC236}">
                <a16:creationId xmlns:a16="http://schemas.microsoft.com/office/drawing/2014/main" id="{79D34AAD-635F-43F6-8477-0C3535662715}"/>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8FC9955-E9BB-4FDF-8848-12A7D6E49811}"/>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functions assume equal-length, nonempty paired observations.</a:t>
            </a:r>
          </a:p>
        </p:txBody>
      </p:sp>
      <p:sp>
        <p:nvSpPr>
          <p:cNvPr id="10" name="">
            <a:extLst xmlns:a="http://schemas.openxmlformats.org/drawingml/2006/main">
              <a:ext uri="{FF2B5EF4-FFF2-40B4-BE49-F238E27FC236}">
                <a16:creationId xmlns:a16="http://schemas.microsoft.com/office/drawing/2014/main" id="{E4FA4AB3-F3F0-43F6-923C-A351A095468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38</a:t>
            </a:r>
          </a:p>
        </p:txBody>
      </p:sp>
    </p:spTree>
    <p:extLst>
      <p:ext uri="{BB962C8B-B14F-4D97-AF65-F5344CB8AC3E}">
        <p14:creationId xmlns:p14="http://schemas.microsoft.com/office/powerpoint/2010/main" val="169459033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F63EE82-EA4A-4DAD-A2AB-16D51594E5C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65609E-5493-4B69-A133-7CA0E6A0D3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E8B1B57-9673-4D5C-9095-70F447FBFEF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Two error measures in Python (1/2)</a:t>
            </a:r>
          </a:p>
        </p:txBody>
      </p:sp>
      <p:sp>
        <p:nvSpPr>
          <p:cNvPr id="4" name="">
            <a:extLst xmlns:a="http://schemas.openxmlformats.org/drawingml/2006/main">
              <a:ext uri="{FF2B5EF4-FFF2-40B4-BE49-F238E27FC236}">
                <a16:creationId xmlns:a16="http://schemas.microsoft.com/office/drawing/2014/main" id="{F8AE7EC8-4BDB-4157-8007-30FAA6D21D7A}"/>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6F93A99-098D-4380-9059-F979BA19E3B4}"/>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from</a:t>
            </a:r>
            <a:r>
              <a:rPr sz="2175" b="0">
                <a:solidFill>
                  <a:srgbClr val="F4F7FA"/>
                </a:solidFill>
                <a:latin typeface="Courier New"/>
                <a:ea typeface="Courier New"/>
                <a:cs typeface="Courier New"/>
              </a:rPr>
              <a:t> math </a:t>
            </a:r>
            <a:r>
              <a:rPr sz="2175" b="0">
                <a:solidFill>
                  <a:srgbClr val="FFB080"/>
                </a:solidFill>
                <a:latin typeface="Courier New"/>
                <a:ea typeface="Courier New"/>
                <a:cs typeface="Courier New"/>
              </a:rPr>
              <a:t>import</a:t>
            </a:r>
            <a:r>
              <a:rPr sz="2175" b="0">
                <a:solidFill>
                  <a:srgbClr val="F4F7FA"/>
                </a:solidFill>
                <a:latin typeface="Courier New"/>
                <a:ea typeface="Courier New"/>
                <a:cs typeface="Courier New"/>
              </a:rPr>
              <a:t> sqrt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a = [10, 20]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 = [12, 16]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absolute =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squared = []</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truth, guess in zip(a, p):</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d</a:t>
            </a:r>
            <a:r>
              <a:rPr sz="2175" b="0">
                <a:solidFill>
                  <a:srgbClr val="FFB080"/>
                </a:solidFill>
                <a:latin typeface="Courier New"/>
                <a:ea typeface="Courier New"/>
                <a:cs typeface="Courier New"/>
              </a:rPr>
              <a:t>if</a:t>
            </a:r>
            <a:r>
              <a:rPr sz="2175" b="0">
                <a:solidFill>
                  <a:srgbClr val="F4F7FA"/>
                </a:solidFill>
                <a:latin typeface="Courier New"/>
                <a:ea typeface="Courier New"/>
                <a:cs typeface="Courier New"/>
              </a:rPr>
              <a:t>ference = truth - guess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absolute.append(abs(difference))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squared.append(difference ** 2)</a:t>
            </a:r>
          </a:p>
        </p:txBody>
      </p:sp>
      <p:sp>
        <p:nvSpPr>
          <p:cNvPr id="6" name="">
            <a:extLst xmlns:a="http://schemas.openxmlformats.org/drawingml/2006/main">
              <a:ext uri="{FF2B5EF4-FFF2-40B4-BE49-F238E27FC236}">
                <a16:creationId xmlns:a16="http://schemas.microsoft.com/office/drawing/2014/main" id="{826B5FE8-890E-497C-9041-98142F8134B6}"/>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AB91B46E-C8FC-4E76-AC4B-B48FA022173D}"/>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import loads a library. from selects a tool from it.</a:t>
            </a:r>
          </a:p>
        </p:txBody>
      </p:sp>
      <p:sp>
        <p:nvSpPr>
          <p:cNvPr id="8" name="">
            <a:extLst xmlns:a="http://schemas.openxmlformats.org/drawingml/2006/main">
              <a:ext uri="{FF2B5EF4-FFF2-40B4-BE49-F238E27FC236}">
                <a16:creationId xmlns:a16="http://schemas.microsoft.com/office/drawing/2014/main" id="{038B1A48-B00D-428F-875D-349CA6ED645C}"/>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for takes the next item. The indented block repeats.</a:t>
            </a:r>
          </a:p>
        </p:txBody>
      </p:sp>
      <p:sp>
        <p:nvSpPr>
          <p:cNvPr id="9" name="">
            <a:extLst xmlns:a="http://schemas.openxmlformats.org/drawingml/2006/main">
              <a:ext uri="{FF2B5EF4-FFF2-40B4-BE49-F238E27FC236}">
                <a16:creationId xmlns:a16="http://schemas.microsoft.com/office/drawing/2014/main" id="{E9F7C529-AD65-4244-AF32-4E9BC7929BB0}"/>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zip pairs items at matching positions in these equal-length lists.</a:t>
            </a:r>
          </a:p>
        </p:txBody>
      </p:sp>
      <p:sp>
        <p:nvSpPr>
          <p:cNvPr id="10" name="">
            <a:extLst xmlns:a="http://schemas.openxmlformats.org/drawingml/2006/main">
              <a:ext uri="{FF2B5EF4-FFF2-40B4-BE49-F238E27FC236}">
                <a16:creationId xmlns:a16="http://schemas.microsoft.com/office/drawing/2014/main" id="{773F5C3F-968D-4292-B511-10248BE0120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the code together. Predict the result before running.</a:t>
            </a:r>
          </a:p>
        </p:txBody>
      </p:sp>
      <p:sp>
        <p:nvSpPr>
          <p:cNvPr id="11" name="">
            <a:extLst xmlns:a="http://schemas.openxmlformats.org/drawingml/2006/main">
              <a:ext uri="{FF2B5EF4-FFF2-40B4-BE49-F238E27FC236}">
                <a16:creationId xmlns:a16="http://schemas.microsoft.com/office/drawing/2014/main" id="{C4B774C6-1372-47A5-A1F7-3C1E3F23C5E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39</a:t>
            </a:r>
          </a:p>
        </p:txBody>
      </p:sp>
    </p:spTree>
    <p:extLst>
      <p:ext uri="{BB962C8B-B14F-4D97-AF65-F5344CB8AC3E}">
        <p14:creationId xmlns:p14="http://schemas.microsoft.com/office/powerpoint/2010/main" val="136283503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0EF8041-6B57-47B1-A17D-EC339CC6155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BD4C2AB-1A20-4743-BA2F-CDA72235813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709671A-8EAB-401A-BDF8-2544A39B6FD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Two error measures in Python (2/2)</a:t>
            </a:r>
          </a:p>
        </p:txBody>
      </p:sp>
      <p:sp>
        <p:nvSpPr>
          <p:cNvPr id="4" name="">
            <a:extLst xmlns:a="http://schemas.openxmlformats.org/drawingml/2006/main">
              <a:ext uri="{FF2B5EF4-FFF2-40B4-BE49-F238E27FC236}">
                <a16:creationId xmlns:a16="http://schemas.microsoft.com/office/drawing/2014/main" id="{2C1CC439-7CE3-48A6-BB7B-0CF20696C2A0}"/>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A830262-8A35-42B5-B5EE-642E1BA27EFC}"/>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print(sum(absolute) / len(a))</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print(sqrt(sum(squared) / len(a)))</a:t>
            </a:r>
          </a:p>
        </p:txBody>
      </p:sp>
      <p:sp>
        <p:nvSpPr>
          <p:cNvPr id="6" name="">
            <a:extLst xmlns:a="http://schemas.openxmlformats.org/drawingml/2006/main">
              <a:ext uri="{FF2B5EF4-FFF2-40B4-BE49-F238E27FC236}">
                <a16:creationId xmlns:a16="http://schemas.microsoft.com/office/drawing/2014/main" id="{0569664E-F917-4525-9F99-631232153B50}"/>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7499C4C-768A-48C8-8C98-3C6E53180F7E}"/>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76EF4246-D90A-4D23-8152-67633AE44F9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the SAME cell; keep indentation. Run after all parts are entered.</a:t>
            </a:r>
          </a:p>
        </p:txBody>
      </p:sp>
      <p:sp>
        <p:nvSpPr>
          <p:cNvPr id="9" name="">
            <a:extLst xmlns:a="http://schemas.openxmlformats.org/drawingml/2006/main">
              <a:ext uri="{FF2B5EF4-FFF2-40B4-BE49-F238E27FC236}">
                <a16:creationId xmlns:a16="http://schemas.microsoft.com/office/drawing/2014/main" id="{882EAB43-716C-46E9-8505-5B9DDA490F2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40</a:t>
            </a:r>
          </a:p>
        </p:txBody>
      </p:sp>
    </p:spTree>
    <p:extLst>
      <p:ext uri="{BB962C8B-B14F-4D97-AF65-F5344CB8AC3E}">
        <p14:creationId xmlns:p14="http://schemas.microsoft.com/office/powerpoint/2010/main" val="95875171"/>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A4591FE-31B2-4304-B071-41EC534C07C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D3FBCA-D943-4DD7-ADC5-4143ED7E56A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326F393-2898-4CA8-9C63-071B290A853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R² compares against a mean prediction</a:t>
            </a:r>
          </a:p>
        </p:txBody>
      </p:sp>
      <p:sp>
        <p:nvSpPr>
          <p:cNvPr id="4" name="">
            <a:extLst xmlns:a="http://schemas.openxmlformats.org/drawingml/2006/main">
              <a:ext uri="{FF2B5EF4-FFF2-40B4-BE49-F238E27FC236}">
                <a16:creationId xmlns:a16="http://schemas.microsoft.com/office/drawing/2014/main" id="{622C163F-4CFF-4475-84CE-E841529597D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192DCA0-FF13-4F47-9B89-F699330CFA01}"/>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R² compares squared errors with predicting the mean of the evaluated targets. It is a score, not “percentage accuracy”.</a:t>
            </a:r>
          </a:p>
        </p:txBody>
      </p:sp>
      <p:sp>
        <p:nvSpPr>
          <p:cNvPr id="6" name="">
            <a:extLst xmlns:a="http://schemas.openxmlformats.org/drawingml/2006/main">
              <a:ext uri="{FF2B5EF4-FFF2-40B4-BE49-F238E27FC236}">
                <a16:creationId xmlns:a16="http://schemas.microsoft.com/office/drawing/2014/main" id="{F8E07D13-8F04-452D-B032-292439BFF05C}"/>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A926877-A423-40C4-8678-3B161C2CFBC0}"/>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1 means perfect predictions on those observations. 0 matches that mean-prediction reference; a negative score can be worse.</a:t>
            </a:r>
          </a:p>
        </p:txBody>
      </p:sp>
      <p:sp>
        <p:nvSpPr>
          <p:cNvPr id="8" name="">
            <a:extLst xmlns:a="http://schemas.openxmlformats.org/drawingml/2006/main">
              <a:ext uri="{FF2B5EF4-FFF2-40B4-BE49-F238E27FC236}">
                <a16:creationId xmlns:a16="http://schemas.microsoft.com/office/drawing/2014/main" id="{04503AE5-E072-4575-9D0A-F551E27C3F44}"/>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DB7D53B-B4A6-4163-BE18-53AAFFB31801}"/>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same evaluation observations and report the specified error metric with its units. Constant targets need special handling; this score alone does not prove usefulness.</a:t>
            </a:r>
          </a:p>
        </p:txBody>
      </p:sp>
      <p:sp>
        <p:nvSpPr>
          <p:cNvPr id="10" name="">
            <a:extLst xmlns:a="http://schemas.openxmlformats.org/drawingml/2006/main">
              <a:ext uri="{FF2B5EF4-FFF2-40B4-BE49-F238E27FC236}">
                <a16:creationId xmlns:a16="http://schemas.microsoft.com/office/drawing/2014/main" id="{550D044D-30FE-4375-9772-7D867994A8D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41</a:t>
            </a:r>
          </a:p>
        </p:txBody>
      </p:sp>
    </p:spTree>
    <p:extLst>
      <p:ext uri="{BB962C8B-B14F-4D97-AF65-F5344CB8AC3E}">
        <p14:creationId xmlns:p14="http://schemas.microsoft.com/office/powerpoint/2010/main" val="14661317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C495B75-B003-473F-A28E-23003B4249E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3406D8-B020-41E5-B84A-A50E186F590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TRY IT TOGETHER   5 MINUTES</a:t>
            </a:r>
          </a:p>
        </p:txBody>
      </p:sp>
      <p:sp>
        <p:nvSpPr>
          <p:cNvPr id="3" name="">
            <a:extLst xmlns:a="http://schemas.openxmlformats.org/drawingml/2006/main">
              <a:ext uri="{FF2B5EF4-FFF2-40B4-BE49-F238E27FC236}">
                <a16:creationId xmlns:a16="http://schemas.microsoft.com/office/drawing/2014/main" id="{67C65661-02A7-468C-8334-8CA9EC5CA5E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 are a prediction rule</a:t>
            </a:r>
          </a:p>
        </p:txBody>
      </p:sp>
      <p:sp>
        <p:nvSpPr>
          <p:cNvPr id="4" name="">
            <a:extLst xmlns:a="http://schemas.openxmlformats.org/drawingml/2006/main">
              <a:ext uri="{FF2B5EF4-FFF2-40B4-BE49-F238E27FC236}">
                <a16:creationId xmlns:a16="http://schemas.microsoft.com/office/drawing/2014/main" id="{CA6EE83A-E149-4C56-8A74-A276B550B24C}"/>
              </a:ext>
            </a:extLst>
          </p:cNvPr>
          <p:cNvSpPr>
            <a:spLocks xmlns:a="http://schemas.openxmlformats.org/drawingml/2006/main" noGrp="1"/>
          </p:cNvSpPr>
          <p:nvPr/>
        </p:nvSpPr>
        <p:spPr>
          <a:xfrm xmlns:a="http://schemas.openxmlformats.org/drawingml/2006/main">
            <a:off x="619125" y="1809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313C107-2E59-484E-A45A-72702DEE5BEC}"/>
              </a:ext>
            </a:extLst>
          </p:cNvPr>
          <p:cNvSpPr>
            <a:spLocks xmlns:a="http://schemas.openxmlformats.org/drawingml/2006/main" noGrp="1"/>
          </p:cNvSpPr>
          <p:nvPr/>
        </p:nvSpPr>
        <p:spPr>
          <a:xfrm xmlns:a="http://schemas.openxmlformats.org/drawingml/2006/main">
            <a:off x="1409700" y="18097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rule prediction = 10 + 2 × input.</a:t>
            </a:r>
          </a:p>
        </p:txBody>
      </p:sp>
      <p:sp>
        <p:nvSpPr>
          <p:cNvPr id="6" name="">
            <a:extLst xmlns:a="http://schemas.openxmlformats.org/drawingml/2006/main">
              <a:ext uri="{FF2B5EF4-FFF2-40B4-BE49-F238E27FC236}">
                <a16:creationId xmlns:a16="http://schemas.microsoft.com/office/drawing/2014/main" id="{0C2DE782-C5B2-4E76-AD25-48DD5EEAE222}"/>
              </a:ext>
            </a:extLst>
          </p:cNvPr>
          <p:cNvSpPr>
            <a:spLocks xmlns:a="http://schemas.openxmlformats.org/drawingml/2006/main" noGrp="1"/>
          </p:cNvSpPr>
          <p:nvPr/>
        </p:nvSpPr>
        <p:spPr>
          <a:xfrm xmlns:a="http://schemas.openxmlformats.org/drawingml/2006/main">
            <a:off x="619125" y="31432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423F536-6100-44AE-AAAE-4BF1E061EA8A}"/>
              </a:ext>
            </a:extLst>
          </p:cNvPr>
          <p:cNvSpPr>
            <a:spLocks xmlns:a="http://schemas.openxmlformats.org/drawingml/2006/main" noGrp="1"/>
          </p:cNvSpPr>
          <p:nvPr/>
        </p:nvSpPr>
        <p:spPr>
          <a:xfrm xmlns:a="http://schemas.openxmlformats.org/drawingml/2006/main">
            <a:off x="1409700" y="31432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input 3, calculate the prediction before using Python.</a:t>
            </a:r>
          </a:p>
        </p:txBody>
      </p:sp>
      <p:sp>
        <p:nvSpPr>
          <p:cNvPr id="8" name="">
            <a:extLst xmlns:a="http://schemas.openxmlformats.org/drawingml/2006/main">
              <a:ext uri="{FF2B5EF4-FFF2-40B4-BE49-F238E27FC236}">
                <a16:creationId xmlns:a16="http://schemas.microsoft.com/office/drawing/2014/main" id="{19FEC45A-76D8-4960-81DC-3E7088182585}"/>
              </a:ext>
            </a:extLst>
          </p:cNvPr>
          <p:cNvSpPr>
            <a:spLocks xmlns:a="http://schemas.openxmlformats.org/drawingml/2006/main" noGrp="1"/>
          </p:cNvSpPr>
          <p:nvPr/>
        </p:nvSpPr>
        <p:spPr>
          <a:xfrm xmlns:a="http://schemas.openxmlformats.org/drawingml/2006/main">
            <a:off x="619125" y="447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1110466-8173-4084-A69D-25E4427CED5D}"/>
              </a:ext>
            </a:extLst>
          </p:cNvPr>
          <p:cNvSpPr>
            <a:spLocks xmlns:a="http://schemas.openxmlformats.org/drawingml/2006/main" noGrp="1"/>
          </p:cNvSpPr>
          <p:nvPr/>
        </p:nvSpPr>
        <p:spPr>
          <a:xfrm xmlns:a="http://schemas.openxmlformats.org/drawingml/2006/main">
            <a:off x="1409700" y="44767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measured answer is 18. How large is the error?</a:t>
            </a:r>
          </a:p>
        </p:txBody>
      </p:sp>
      <p:sp>
        <p:nvSpPr>
          <p:cNvPr id="10" name="">
            <a:extLst xmlns:a="http://schemas.openxmlformats.org/drawingml/2006/main">
              <a:ext uri="{FF2B5EF4-FFF2-40B4-BE49-F238E27FC236}">
                <a16:creationId xmlns:a16="http://schemas.microsoft.com/office/drawing/2014/main" id="{DB454F37-7638-4955-A9EA-C9AD2AC7AAF8}"/>
              </a:ext>
            </a:extLst>
          </p:cNvPr>
          <p:cNvSpPr>
            <a:spLocks xmlns:a="http://schemas.openxmlformats.org/drawingml/2006/main" noGrp="1"/>
          </p:cNvSpPr>
          <p:nvPr/>
        </p:nvSpPr>
        <p:spPr>
          <a:xfrm xmlns:a="http://schemas.openxmlformats.org/drawingml/2006/main">
            <a:off x="0" y="5915025"/>
            <a:ext cx="12191695" cy="4667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1518335-737C-415A-A4D9-1A7D738CE230}"/>
              </a:ext>
            </a:extLst>
          </p:cNvPr>
          <p:cNvSpPr>
            <a:spLocks xmlns:a="http://schemas.openxmlformats.org/drawingml/2006/main" noGrp="1"/>
          </p:cNvSpPr>
          <p:nvPr/>
        </p:nvSpPr>
        <p:spPr>
          <a:xfrm xmlns:a="http://schemas.openxmlformats.org/drawingml/2006/main">
            <a:off x="619125" y="5981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One partner acts. One partner checks. Then swap roles.</a:t>
            </a:r>
          </a:p>
        </p:txBody>
      </p:sp>
      <p:sp>
        <p:nvSpPr>
          <p:cNvPr id="12" name="">
            <a:extLst xmlns:a="http://schemas.openxmlformats.org/drawingml/2006/main">
              <a:ext uri="{FF2B5EF4-FFF2-40B4-BE49-F238E27FC236}">
                <a16:creationId xmlns:a16="http://schemas.microsoft.com/office/drawing/2014/main" id="{0502F82C-3F7A-4489-9728-5D9A3E5607A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42</a:t>
            </a:r>
          </a:p>
        </p:txBody>
      </p:sp>
    </p:spTree>
    <p:extLst>
      <p:ext uri="{BB962C8B-B14F-4D97-AF65-F5344CB8AC3E}">
        <p14:creationId xmlns:p14="http://schemas.microsoft.com/office/powerpoint/2010/main" val="872591473"/>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A28B0F-36BC-40F6-99EB-24DEED9B1A5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EC50CB-004E-47F3-BA34-F81C259A146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DISCUSS THE REASONING</a:t>
            </a:r>
          </a:p>
        </p:txBody>
      </p:sp>
      <p:sp>
        <p:nvSpPr>
          <p:cNvPr id="3" name="">
            <a:extLst xmlns:a="http://schemas.openxmlformats.org/drawingml/2006/main">
              <a:ext uri="{FF2B5EF4-FFF2-40B4-BE49-F238E27FC236}">
                <a16:creationId xmlns:a16="http://schemas.microsoft.com/office/drawing/2014/main" id="{9A8498F7-B2AD-4252-9679-0B63A4B8DCF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the activity shows</a:t>
            </a:r>
          </a:p>
        </p:txBody>
      </p:sp>
      <p:sp>
        <p:nvSpPr>
          <p:cNvPr id="4" name="">
            <a:extLst xmlns:a="http://schemas.openxmlformats.org/drawingml/2006/main">
              <a:ext uri="{FF2B5EF4-FFF2-40B4-BE49-F238E27FC236}">
                <a16:creationId xmlns:a16="http://schemas.microsoft.com/office/drawing/2014/main" id="{104E3A4F-653C-4B5F-AC52-1DC757414454}"/>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ADD8588-8282-46B2-AEAD-8129521A2DDB}"/>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E7D6F"/>
                </a:solidFill>
                <a:latin typeface="Calibri"/>
                <a:ea typeface="Calibri"/>
                <a:cs typeface="Calibri"/>
              </a:defRPr>
            </a:pPr>
            <a:r>
              <a:rPr sz="3150" b="1">
                <a:solidFill>
                  <a:srgbClr val="2E7D6F"/>
                </a:solidFill>
                <a:latin typeface="Calibri"/>
                <a:ea typeface="Calibri"/>
                <a:cs typeface="Calibri"/>
              </a:rPr>
              <a:t>Prediction is 16. The absolute error is 2 target units. A single result does not show that the model is useful in general.</a:t>
            </a:r>
          </a:p>
        </p:txBody>
      </p:sp>
      <p:sp>
        <p:nvSpPr>
          <p:cNvPr id="6" name="">
            <a:extLst xmlns:a="http://schemas.openxmlformats.org/drawingml/2006/main">
              <a:ext uri="{FF2B5EF4-FFF2-40B4-BE49-F238E27FC236}">
                <a16:creationId xmlns:a16="http://schemas.microsoft.com/office/drawing/2014/main" id="{503A4A16-284A-427F-9548-410425886741}"/>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CEC4D86A-B098-4D17-B402-076A20E6FBC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43</a:t>
            </a:r>
          </a:p>
        </p:txBody>
      </p:sp>
    </p:spTree>
    <p:extLst>
      <p:ext uri="{BB962C8B-B14F-4D97-AF65-F5344CB8AC3E}">
        <p14:creationId xmlns:p14="http://schemas.microsoft.com/office/powerpoint/2010/main" val="138991465"/>
      </p:ext>
    </p:extLst>
  </p:cSld>
</p:sld>
</file>

<file path=ppt/slides/slide44.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60DF57-4312-4BC0-BB75-6143EFB3233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PREDICT BEFORE RUNNING</a:t>
            </a:r>
          </a:p>
        </p:txBody>
      </p:sp>
      <p:sp>
        <p:nvSpPr>
          <p:cNvPr id="2" name="">
            <a:extLst xmlns:a="http://schemas.openxmlformats.org/drawingml/2006/main">
              <a:ext uri="{FF2B5EF4-FFF2-40B4-BE49-F238E27FC236}">
                <a16:creationId xmlns:a16="http://schemas.microsoft.com/office/drawing/2014/main" id="{545A045C-B39C-453A-8157-FC9E83E9628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turn</a:t>
            </a:r>
          </a:p>
        </p:txBody>
      </p:sp>
      <p:sp>
        <p:nvSpPr>
          <p:cNvPr id="3" name="">
            <a:extLst xmlns:a="http://schemas.openxmlformats.org/drawingml/2006/main">
              <a:ext uri="{FF2B5EF4-FFF2-40B4-BE49-F238E27FC236}">
                <a16:creationId xmlns:a16="http://schemas.microsoft.com/office/drawing/2014/main" id="{9E68A602-F8EB-4A11-B1F0-81C3BB6DF796}"/>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YOUR TURN</a:t>
            </a:r>
          </a:p>
        </p:txBody>
      </p:sp>
      <p:sp>
        <p:nvSpPr>
          <p:cNvPr id="4" name="">
            <a:extLst xmlns:a="http://schemas.openxmlformats.org/drawingml/2006/main">
              <a:ext uri="{FF2B5EF4-FFF2-40B4-BE49-F238E27FC236}">
                <a16:creationId xmlns:a16="http://schemas.microsoft.com/office/drawing/2014/main" id="{FA0815C3-61F4-4954-A928-3B1E82BB891D}"/>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On paper compare actual [10, 20] with predictions [12, 16]. Find MAE and RMSE. Is MAE a plus/minus guarantee for each prediction?</a:t>
            </a:r>
          </a:p>
        </p:txBody>
      </p:sp>
      <p:sp>
        <p:nvSpPr>
          <p:cNvPr id="5" name="">
            <a:extLst xmlns:a="http://schemas.openxmlformats.org/drawingml/2006/main">
              <a:ext uri="{FF2B5EF4-FFF2-40B4-BE49-F238E27FC236}">
                <a16:creationId xmlns:a16="http://schemas.microsoft.com/office/drawing/2014/main" id="{152D4264-FF72-4C61-BB09-F63BB558584E}"/>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Think alone first. Then compare your reasoning with a partner.</a:t>
            </a:r>
          </a:p>
        </p:txBody>
      </p:sp>
      <p:sp>
        <p:nvSpPr>
          <p:cNvPr id="6" name="">
            <a:extLst xmlns:a="http://schemas.openxmlformats.org/drawingml/2006/main">
              <a:ext uri="{FF2B5EF4-FFF2-40B4-BE49-F238E27FC236}">
                <a16:creationId xmlns:a16="http://schemas.microsoft.com/office/drawing/2014/main" id="{281BCEE4-BB8D-4AA1-A831-A57A8943158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8   44</a:t>
            </a:r>
          </a:p>
        </p:txBody>
      </p:sp>
    </p:spTree>
    <p:extLst>
      <p:ext uri="{BB962C8B-B14F-4D97-AF65-F5344CB8AC3E}">
        <p14:creationId xmlns:p14="http://schemas.microsoft.com/office/powerpoint/2010/main" val="55556997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A0C9E30-6B49-4EED-8139-7F50D8FD6B2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B585BDB-D600-45B9-BA47-3426D9DF4E2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DISCUSS THE REASONING</a:t>
            </a:r>
          </a:p>
        </p:txBody>
      </p:sp>
      <p:sp>
        <p:nvSpPr>
          <p:cNvPr id="3" name="">
            <a:extLst xmlns:a="http://schemas.openxmlformats.org/drawingml/2006/main">
              <a:ext uri="{FF2B5EF4-FFF2-40B4-BE49-F238E27FC236}">
                <a16:creationId xmlns:a16="http://schemas.microsoft.com/office/drawing/2014/main" id="{8ABCA26F-0BD8-4E62-8D73-F04E8BD3094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discussion</a:t>
            </a:r>
          </a:p>
        </p:txBody>
      </p:sp>
      <p:sp>
        <p:nvSpPr>
          <p:cNvPr id="4" name="">
            <a:extLst xmlns:a="http://schemas.openxmlformats.org/drawingml/2006/main">
              <a:ext uri="{FF2B5EF4-FFF2-40B4-BE49-F238E27FC236}">
                <a16:creationId xmlns:a16="http://schemas.microsoft.com/office/drawing/2014/main" id="{DD7A75F1-2C4E-471B-B761-6B1DECA13BAE}"/>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BF0FB20-24A7-44AF-99BB-7FF8DEDB81E5}"/>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E7D6F"/>
                </a:solidFill>
                <a:latin typeface="Calibri"/>
                <a:ea typeface="Calibri"/>
                <a:cs typeface="Calibri"/>
              </a:defRPr>
            </a:pPr>
            <a:r>
              <a:rPr sz="3150" b="1">
                <a:solidFill>
                  <a:srgbClr val="2E7D6F"/>
                </a:solidFill>
                <a:latin typeface="Calibri"/>
                <a:ea typeface="Calibri"/>
                <a:cs typeface="Calibri"/>
              </a:rPr>
              <a:t>Absolute errors are 2 and 4: MAE 3. Squared errors 4 and 16: RMSE sqrt(10), about 3.162. MAE is an average, not an individual error bound.</a:t>
            </a:r>
          </a:p>
        </p:txBody>
      </p:sp>
      <p:sp>
        <p:nvSpPr>
          <p:cNvPr id="6" name="">
            <a:extLst xmlns:a="http://schemas.openxmlformats.org/drawingml/2006/main">
              <a:ext uri="{FF2B5EF4-FFF2-40B4-BE49-F238E27FC236}">
                <a16:creationId xmlns:a16="http://schemas.microsoft.com/office/drawing/2014/main" id="{4B016898-8EDF-40FC-8228-4D7E7D9450CC}"/>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09E171B6-BDE2-4683-B424-17359FE1595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45</a:t>
            </a:r>
          </a:p>
        </p:txBody>
      </p:sp>
    </p:spTree>
    <p:extLst>
      <p:ext uri="{BB962C8B-B14F-4D97-AF65-F5344CB8AC3E}">
        <p14:creationId xmlns:p14="http://schemas.microsoft.com/office/powerpoint/2010/main" val="54438862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61FFCA9-6EC2-4648-9FB3-EBCD6DB0B22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9FF547-2BD9-4B93-A4BD-9309720E3A3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45E2E874-0ECA-49F5-8FAC-CF5A352F9C3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Short explainer and discussion</a:t>
            </a:r>
          </a:p>
        </p:txBody>
      </p:sp>
      <p:sp>
        <p:nvSpPr>
          <p:cNvPr id="4" name="">
            <a:extLst xmlns:a="http://schemas.openxmlformats.org/drawingml/2006/main">
              <a:ext uri="{FF2B5EF4-FFF2-40B4-BE49-F238E27FC236}">
                <a16:creationId xmlns:a16="http://schemas.microsoft.com/office/drawing/2014/main" id="{34074C34-BD37-43FB-87F2-3395DE153426}"/>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CEC97C5-6062-43D9-AFD6-EFF020DDE41C}"/>
              </a:ext>
            </a:extLst>
          </p:cNvPr>
          <p:cNvSpPr>
            <a:spLocks xmlns:a="http://schemas.openxmlformats.org/drawingml/2006/main" noGrp="1"/>
          </p:cNvSpPr>
          <p:nvPr/>
        </p:nvSpPr>
        <p:spPr>
          <a:xfrm xmlns:a="http://schemas.openxmlformats.org/drawingml/2006/main">
            <a:off x="1381125" y="1724025"/>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StatQuest with Josh Starmer</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Essence of Linear Regression!!!</a:t>
            </a:r>
          </a:p>
        </p:txBody>
      </p:sp>
      <p:sp>
        <p:nvSpPr>
          <p:cNvPr id="6" name="">
            <a:extLst xmlns:a="http://schemas.openxmlformats.org/drawingml/2006/main">
              <a:ext uri="{FF2B5EF4-FFF2-40B4-BE49-F238E27FC236}">
                <a16:creationId xmlns:a16="http://schemas.microsoft.com/office/drawing/2014/main" id="{9AC01279-C268-4F79-8664-9F3CBFD3B85F}"/>
              </a:ext>
            </a:extLst>
          </p:cNvPr>
          <p:cNvSpPr>
            <a:spLocks xmlns:a="http://schemas.openxmlformats.org/drawingml/2006/main" noGrp="1"/>
          </p:cNvSpPr>
          <p:nvPr/>
        </p:nvSpPr>
        <p:spPr>
          <a:xfrm xmlns:a="http://schemas.openxmlformats.org/drawingml/2006/main">
            <a:off x="590550" y="27876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4196EC8-A196-4FB8-92B6-7AC63A147FDF}"/>
              </a:ext>
            </a:extLst>
          </p:cNvPr>
          <p:cNvSpPr>
            <a:spLocks xmlns:a="http://schemas.openxmlformats.org/drawingml/2006/main" noGrp="1"/>
          </p:cNvSpPr>
          <p:nvPr/>
        </p:nvSpPr>
        <p:spPr>
          <a:xfrm xmlns:a="http://schemas.openxmlformats.org/drawingml/2006/main">
            <a:off x="1381125" y="2787650"/>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Opening up to 04:00, optional preview-selected excerpt</a:t>
            </a:r>
          </a:p>
        </p:txBody>
      </p:sp>
      <p:sp>
        <p:nvSpPr>
          <p:cNvPr id="8" name="">
            <a:extLst xmlns:a="http://schemas.openxmlformats.org/drawingml/2006/main">
              <a:ext uri="{FF2B5EF4-FFF2-40B4-BE49-F238E27FC236}">
                <a16:creationId xmlns:a16="http://schemas.microsoft.com/office/drawing/2014/main" id="{E759C0F4-19F2-4A8C-B5F2-5BF8E996BD51}"/>
              </a:ext>
            </a:extLst>
          </p:cNvPr>
          <p:cNvSpPr>
            <a:spLocks xmlns:a="http://schemas.openxmlformats.org/drawingml/2006/main" noGrp="1"/>
          </p:cNvSpPr>
          <p:nvPr/>
        </p:nvSpPr>
        <p:spPr>
          <a:xfrm xmlns:a="http://schemas.openxmlformats.org/drawingml/2006/main">
            <a:off x="590550" y="38512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C8A059D-CB78-4F19-9F07-5DAFF565F02D}"/>
              </a:ext>
            </a:extLst>
          </p:cNvPr>
          <p:cNvSpPr>
            <a:spLocks xmlns:a="http://schemas.openxmlformats.org/drawingml/2006/main" noGrp="1"/>
          </p:cNvSpPr>
          <p:nvPr/>
        </p:nvSpPr>
        <p:spPr>
          <a:xfrm xmlns:a="http://schemas.openxmlformats.org/drawingml/2006/main">
            <a:off x="1381125" y="3851275"/>
            <a:ext cx="1009650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How can a fitted line turn an input into a numerical prediction?</a:t>
            </a:r>
          </a:p>
        </p:txBody>
      </p:sp>
      <p:sp>
        <p:nvSpPr>
          <p:cNvPr id="10" name="">
            <a:extLst xmlns:a="http://schemas.openxmlformats.org/drawingml/2006/main">
              <a:ext uri="{FF2B5EF4-FFF2-40B4-BE49-F238E27FC236}">
                <a16:creationId xmlns:a16="http://schemas.microsoft.com/office/drawing/2014/main" id="{EDB4804E-3B49-461A-9E32-8A6BADB49986}"/>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42C8974-25FF-4B71-B5C0-6503F088F769}"/>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96f89051ed874872"/>
              </a:rPr>
              <a:t>Open explainer video</a:t>
            </a:r>
          </a:p>
        </p:txBody>
      </p:sp>
      <p:sp>
        <p:nvSpPr>
          <p:cNvPr id="12" name="">
            <a:extLst xmlns:a="http://schemas.openxmlformats.org/drawingml/2006/main">
              <a:ext uri="{FF2B5EF4-FFF2-40B4-BE49-F238E27FC236}">
                <a16:creationId xmlns:a16="http://schemas.microsoft.com/office/drawing/2014/main" id="{4F9C3F80-08CA-4CA2-8C87-1D5255B8E8BA}"/>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https://www.youtube.com/watch?v=aFDOzpTeg0s</a:t>
            </a:r>
          </a:p>
        </p:txBody>
      </p:sp>
      <p:sp>
        <p:nvSpPr>
          <p:cNvPr id="13" name="">
            <a:extLst xmlns:a="http://schemas.openxmlformats.org/drawingml/2006/main">
              <a:ext uri="{FF2B5EF4-FFF2-40B4-BE49-F238E27FC236}">
                <a16:creationId xmlns:a16="http://schemas.microsoft.com/office/drawing/2014/main" id="{2FD187B2-673B-4503-9F10-C831CCCD3D6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46</a:t>
            </a:r>
          </a:p>
        </p:txBody>
      </p:sp>
    </p:spTree>
    <p:extLst>
      <p:ext uri="{BB962C8B-B14F-4D97-AF65-F5344CB8AC3E}">
        <p14:creationId xmlns:p14="http://schemas.microsoft.com/office/powerpoint/2010/main" val="956127858"/>
      </p:ext>
    </p:extLst>
  </p:cSld>
</p:sld>
</file>

<file path=ppt/slides/slide47.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C6798D-A520-44C1-86A5-3FE7CB5FDF7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PREDICT BEFORE RUNNING</a:t>
            </a:r>
          </a:p>
        </p:txBody>
      </p:sp>
      <p:sp>
        <p:nvSpPr>
          <p:cNvPr id="2" name="">
            <a:extLst xmlns:a="http://schemas.openxmlformats.org/drawingml/2006/main">
              <a:ext uri="{FF2B5EF4-FFF2-40B4-BE49-F238E27FC236}">
                <a16:creationId xmlns:a16="http://schemas.microsoft.com/office/drawing/2014/main" id="{4288C380-2DFC-4627-B513-D91659A81CE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After the video</a:t>
            </a:r>
          </a:p>
        </p:txBody>
      </p:sp>
      <p:sp>
        <p:nvSpPr>
          <p:cNvPr id="3" name="">
            <a:extLst xmlns:a="http://schemas.openxmlformats.org/drawingml/2006/main">
              <a:ext uri="{FF2B5EF4-FFF2-40B4-BE49-F238E27FC236}">
                <a16:creationId xmlns:a16="http://schemas.microsoft.com/office/drawing/2014/main" id="{3C0D0E74-1A15-4537-B188-91193D837310}"/>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YOUR TURN</a:t>
            </a:r>
          </a:p>
        </p:txBody>
      </p:sp>
      <p:sp>
        <p:nvSpPr>
          <p:cNvPr id="4" name="">
            <a:extLst xmlns:a="http://schemas.openxmlformats.org/drawingml/2006/main">
              <a:ext uri="{FF2B5EF4-FFF2-40B4-BE49-F238E27FC236}">
                <a16:creationId xmlns:a16="http://schemas.microsoft.com/office/drawing/2014/main" id="{A2C2A896-5D91-4192-9CA5-83AEFA82C2A2}"/>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Draw an actual value and a prediction, then identify their difference.</a:t>
            </a:r>
          </a:p>
        </p:txBody>
      </p:sp>
      <p:sp>
        <p:nvSpPr>
          <p:cNvPr id="5" name="">
            <a:extLst xmlns:a="http://schemas.openxmlformats.org/drawingml/2006/main">
              <a:ext uri="{FF2B5EF4-FFF2-40B4-BE49-F238E27FC236}">
                <a16:creationId xmlns:a16="http://schemas.microsoft.com/office/drawing/2014/main" id="{4D1ABEED-93F3-4C05-A009-C7BAEAA3758B}"/>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Think alone first. Then compare your reasoning with a partner.</a:t>
            </a:r>
          </a:p>
        </p:txBody>
      </p:sp>
      <p:sp>
        <p:nvSpPr>
          <p:cNvPr id="6" name="">
            <a:extLst xmlns:a="http://schemas.openxmlformats.org/drawingml/2006/main">
              <a:ext uri="{FF2B5EF4-FFF2-40B4-BE49-F238E27FC236}">
                <a16:creationId xmlns:a16="http://schemas.microsoft.com/office/drawing/2014/main" id="{29C64C33-6E72-4025-A75B-88792816B45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8   47</a:t>
            </a:r>
          </a:p>
        </p:txBody>
      </p:sp>
    </p:spTree>
    <p:extLst>
      <p:ext uri="{BB962C8B-B14F-4D97-AF65-F5344CB8AC3E}">
        <p14:creationId xmlns:p14="http://schemas.microsoft.com/office/powerpoint/2010/main" val="101848480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F7A442F-5510-4393-9F6C-40E4704D6FE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D408E2-C678-45E5-A94B-175301C24E4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35EDAB0F-177A-433A-8185-BB3D22D3C0E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xmlns:a="http://schemas.openxmlformats.org/drawingml/2006/main">
              <a:ext uri="{FF2B5EF4-FFF2-40B4-BE49-F238E27FC236}">
                <a16:creationId xmlns:a16="http://schemas.microsoft.com/office/drawing/2014/main" id="{FB4B624A-6C2D-4922-96CB-0A5573B3D5A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C2587BC-ACB0-4E7F-A397-97527543116F}"/>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W08 asks for baseline, linear and depth-4 tree prediction lists plus error metrics.</a:t>
            </a:r>
          </a:p>
        </p:txBody>
      </p:sp>
      <p:sp>
        <p:nvSpPr>
          <p:cNvPr id="6" name="">
            <a:extLst xmlns:a="http://schemas.openxmlformats.org/drawingml/2006/main">
              <a:ext uri="{FF2B5EF4-FFF2-40B4-BE49-F238E27FC236}">
                <a16:creationId xmlns:a16="http://schemas.microsoft.com/office/drawing/2014/main" id="{8DA858C9-7F33-40FF-A5E2-6074DE818EF3}"/>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38C2598-58BA-492E-8C1E-CD09344A7862}"/>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Fit missing-value replacement on training data.</a:t>
            </a:r>
          </a:p>
        </p:txBody>
      </p:sp>
      <p:sp>
        <p:nvSpPr>
          <p:cNvPr id="8" name="">
            <a:extLst xmlns:a="http://schemas.openxmlformats.org/drawingml/2006/main">
              <a:ext uri="{FF2B5EF4-FFF2-40B4-BE49-F238E27FC236}">
                <a16:creationId xmlns:a16="http://schemas.microsoft.com/office/drawing/2014/main" id="{D7A7ECD0-8191-4B7D-9C19-0B146324297A}"/>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1E612AB-99AE-4143-BC8F-77407466A682}"/>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Pipeline joins preprocessing to the model.</a:t>
            </a:r>
          </a:p>
        </p:txBody>
      </p:sp>
      <p:sp>
        <p:nvSpPr>
          <p:cNvPr id="10" name="">
            <a:extLst xmlns:a="http://schemas.openxmlformats.org/drawingml/2006/main">
              <a:ext uri="{FF2B5EF4-FFF2-40B4-BE49-F238E27FC236}">
                <a16:creationId xmlns:a16="http://schemas.microsoft.com/office/drawing/2014/main" id="{8D07DB5E-E7B9-4ACE-B87B-953B8BE874F2}"/>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23D52FAE-20F3-4BE0-A03E-4C8DCF948593}"/>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Only load_pct and ambient_c are predictors.</a:t>
            </a:r>
          </a:p>
        </p:txBody>
      </p:sp>
      <p:sp>
        <p:nvSpPr>
          <p:cNvPr id="12" name="">
            <a:extLst xmlns:a="http://schemas.openxmlformats.org/drawingml/2006/main">
              <a:ext uri="{FF2B5EF4-FFF2-40B4-BE49-F238E27FC236}">
                <a16:creationId xmlns:a16="http://schemas.microsoft.com/office/drawing/2014/main" id="{EC9A5840-9A08-46EA-B527-12F356993D7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48</a:t>
            </a:r>
          </a:p>
        </p:txBody>
      </p:sp>
    </p:spTree>
    <p:extLst>
      <p:ext uri="{BB962C8B-B14F-4D97-AF65-F5344CB8AC3E}">
        <p14:creationId xmlns:p14="http://schemas.microsoft.com/office/powerpoint/2010/main" val="1563121842"/>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46055D4-9B0C-4268-9A6A-EBED262735F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774748-D47A-42E4-9A61-9064818EC88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BE7ABFA-D7F2-4C6F-963D-2F083080480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 continued</a:t>
            </a:r>
          </a:p>
        </p:txBody>
      </p:sp>
      <p:sp>
        <p:nvSpPr>
          <p:cNvPr id="4" name="">
            <a:extLst xmlns:a="http://schemas.openxmlformats.org/drawingml/2006/main">
              <a:ext uri="{FF2B5EF4-FFF2-40B4-BE49-F238E27FC236}">
                <a16:creationId xmlns:a16="http://schemas.microsoft.com/office/drawing/2014/main" id="{8A6E9F2C-F2CD-44B5-A7C7-73E41BD8CC4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380116C-A8E8-4B37-9759-8F55F85F1E2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observations from the same equipment in one partition.</a:t>
            </a:r>
          </a:p>
        </p:txBody>
      </p:sp>
      <p:sp>
        <p:nvSpPr>
          <p:cNvPr id="6" name="">
            <a:extLst xmlns:a="http://schemas.openxmlformats.org/drawingml/2006/main">
              <a:ext uri="{FF2B5EF4-FFF2-40B4-BE49-F238E27FC236}">
                <a16:creationId xmlns:a16="http://schemas.microsoft.com/office/drawing/2014/main" id="{DC7E5993-5F51-42DD-B2E7-3E11AC8166E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0714546-EAA2-4BEE-9BF6-85A19F227E40}"/>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written comparison supplies scenario values.</a:t>
            </a:r>
          </a:p>
        </p:txBody>
      </p:sp>
      <p:sp>
        <p:nvSpPr>
          <p:cNvPr id="8" name="">
            <a:extLst xmlns:a="http://schemas.openxmlformats.org/drawingml/2006/main">
              <a:ext uri="{FF2B5EF4-FFF2-40B4-BE49-F238E27FC236}">
                <a16:creationId xmlns:a16="http://schemas.microsoft.com/office/drawing/2014/main" id="{0908FA09-C378-41AF-9AFE-3D8D3D3AC61D}"/>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82B61D5-0DC9-49EF-9D7A-D09915C68F06}"/>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Distinguish them from your own measured results.</a:t>
            </a:r>
          </a:p>
        </p:txBody>
      </p:sp>
      <p:sp>
        <p:nvSpPr>
          <p:cNvPr id="10" name="">
            <a:extLst xmlns:a="http://schemas.openxmlformats.org/drawingml/2006/main">
              <a:ext uri="{FF2B5EF4-FFF2-40B4-BE49-F238E27FC236}">
                <a16:creationId xmlns:a16="http://schemas.microsoft.com/office/drawing/2014/main" id="{066F5068-165D-471C-98F4-9F09D72DA6E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49</a:t>
            </a:r>
          </a:p>
        </p:txBody>
      </p:sp>
    </p:spTree>
    <p:extLst>
      <p:ext uri="{BB962C8B-B14F-4D97-AF65-F5344CB8AC3E}">
        <p14:creationId xmlns:p14="http://schemas.microsoft.com/office/powerpoint/2010/main" val="1591178109"/>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BD6636C-573C-47FD-B3B3-B7D6DE6FD14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16DA85-D934-43F6-8410-620CB89A7B7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BD73601-1BB8-4364-BE95-7A3A9A053A3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model outputs</a:t>
            </a:r>
          </a:p>
        </p:txBody>
      </p:sp>
      <p:sp>
        <p:nvSpPr>
          <p:cNvPr id="4" name="">
            <a:extLst xmlns:a="http://schemas.openxmlformats.org/drawingml/2006/main">
              <a:ext uri="{FF2B5EF4-FFF2-40B4-BE49-F238E27FC236}">
                <a16:creationId xmlns:a16="http://schemas.microsoft.com/office/drawing/2014/main" id="{367B7A0F-F91F-4D21-862D-C8F59C39796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8257363-891B-461B-9903-84AB13088265}"/>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score on training rows describes training fit.</a:t>
            </a:r>
          </a:p>
        </p:txBody>
      </p:sp>
      <p:sp>
        <p:nvSpPr>
          <p:cNvPr id="6" name="">
            <a:extLst xmlns:a="http://schemas.openxmlformats.org/drawingml/2006/main">
              <a:ext uri="{FF2B5EF4-FFF2-40B4-BE49-F238E27FC236}">
                <a16:creationId xmlns:a16="http://schemas.microsoft.com/office/drawing/2014/main" id="{1AF43279-17E4-41D1-A90F-E7AA692C9ACD}"/>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C5F9E03-F6DA-43C8-AC8C-BADBCFEDB159}"/>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feature table must preserve the training column names, order and units during prediction.</a:t>
            </a:r>
          </a:p>
        </p:txBody>
      </p:sp>
      <p:sp>
        <p:nvSpPr>
          <p:cNvPr id="8" name="">
            <a:extLst xmlns:a="http://schemas.openxmlformats.org/drawingml/2006/main">
              <a:ext uri="{FF2B5EF4-FFF2-40B4-BE49-F238E27FC236}">
                <a16:creationId xmlns:a16="http://schemas.microsoft.com/office/drawing/2014/main" id="{FD6098F8-3B11-4CBF-A74A-FCF52E3E0E5A}"/>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EDA359C-A601-4B55-8612-9D1601EAB8CF}"/>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one-dimensional list may have the wrong shape for a model expecting rows and columns.</a:t>
            </a:r>
          </a:p>
        </p:txBody>
      </p:sp>
      <p:sp>
        <p:nvSpPr>
          <p:cNvPr id="10" name="">
            <a:extLst xmlns:a="http://schemas.openxmlformats.org/drawingml/2006/main">
              <a:ext uri="{FF2B5EF4-FFF2-40B4-BE49-F238E27FC236}">
                <a16:creationId xmlns:a16="http://schemas.microsoft.com/office/drawing/2014/main" id="{733CAD66-FF25-40DA-A734-C18935EC4BDE}"/>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1EF4F55-1458-473C-A5EE-FB7A178E1DBE}"/>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predicted-versus-actual plot uses the diagonal as perfect agreement; a pattern is not proof of causation.</a:t>
            </a:r>
          </a:p>
        </p:txBody>
      </p:sp>
      <p:sp>
        <p:nvSpPr>
          <p:cNvPr id="12" name="">
            <a:extLst xmlns:a="http://schemas.openxmlformats.org/drawingml/2006/main">
              <a:ext uri="{FF2B5EF4-FFF2-40B4-BE49-F238E27FC236}">
                <a16:creationId xmlns:a16="http://schemas.microsoft.com/office/drawing/2014/main" id="{2E8C7337-8027-4C86-9145-943370D6B55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50</a:t>
            </a:r>
          </a:p>
        </p:txBody>
      </p:sp>
    </p:spTree>
    <p:extLst>
      <p:ext uri="{BB962C8B-B14F-4D97-AF65-F5344CB8AC3E}">
        <p14:creationId xmlns:p14="http://schemas.microsoft.com/office/powerpoint/2010/main" val="1729492681"/>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57471E-F14F-4AEA-B317-2B2A4F605FF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E2E723-4061-4E8B-98DE-B71FBFC282C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A4F0078-FC14-45E2-A890-8E483278B05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model outputs continued</a:t>
            </a:r>
          </a:p>
        </p:txBody>
      </p:sp>
      <p:sp>
        <p:nvSpPr>
          <p:cNvPr id="4" name="">
            <a:extLst xmlns:a="http://schemas.openxmlformats.org/drawingml/2006/main">
              <a:ext uri="{FF2B5EF4-FFF2-40B4-BE49-F238E27FC236}">
                <a16:creationId xmlns:a16="http://schemas.microsoft.com/office/drawing/2014/main" id="{2E0322EB-027D-44B3-BED1-C5C0AC6682AC}"/>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B1772B6-5C9D-448C-943B-A1AB4856C7D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1C5306A-4819-4431-B413-AA6BBCEDD4D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Judge MAE against the baseline and the decision’s acceptable error.</a:t>
            </a:r>
          </a:p>
        </p:txBody>
      </p:sp>
      <p:sp>
        <p:nvSpPr>
          <p:cNvPr id="7" name="">
            <a:extLst xmlns:a="http://schemas.openxmlformats.org/drawingml/2006/main">
              <a:ext uri="{FF2B5EF4-FFF2-40B4-BE49-F238E27FC236}">
                <a16:creationId xmlns:a16="http://schemas.microsoft.com/office/drawing/2014/main" id="{C62A4479-4E76-4E15-B847-07DCFA3371F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R² is not an accuracy percentage.</a:t>
            </a:r>
          </a:p>
        </p:txBody>
      </p:sp>
      <p:sp>
        <p:nvSpPr>
          <p:cNvPr id="8" name="">
            <a:extLst xmlns:a="http://schemas.openxmlformats.org/drawingml/2006/main">
              <a:ext uri="{FF2B5EF4-FFF2-40B4-BE49-F238E27FC236}">
                <a16:creationId xmlns:a16="http://schemas.microsoft.com/office/drawing/2014/main" id="{9A6E963B-508B-42B7-8C91-D9C4ED03756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51</a:t>
            </a:r>
          </a:p>
        </p:txBody>
      </p:sp>
    </p:spTree>
    <p:extLst>
      <p:ext uri="{BB962C8B-B14F-4D97-AF65-F5344CB8AC3E}">
        <p14:creationId xmlns:p14="http://schemas.microsoft.com/office/powerpoint/2010/main" val="1401752531"/>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C6B21C1-7E34-4E92-9E14-015A158C9DC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7DE4C2-7CFD-4DDC-8F0E-D835B353CF8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1EF68C2-F32A-4528-B2D5-44174C277C7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882CB02A-7DC7-410C-B951-84E51D0F632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9A72667-F9E6-4D33-BA6E-9D1C46B10C23}"/>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Investigate building cooling load.</a:t>
            </a:r>
          </a:p>
        </p:txBody>
      </p:sp>
      <p:sp>
        <p:nvSpPr>
          <p:cNvPr id="6" name="">
            <a:extLst xmlns:a="http://schemas.openxmlformats.org/drawingml/2006/main">
              <a:ext uri="{FF2B5EF4-FFF2-40B4-BE49-F238E27FC236}">
                <a16:creationId xmlns:a16="http://schemas.microsoft.com/office/drawing/2014/main" id="{77D82B6F-8F48-444D-AE24-A4BD45440F01}"/>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49362C3-4429-4102-9FB5-E3F39F64DB1A}"/>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Target units: kW.</a:t>
            </a:r>
          </a:p>
        </p:txBody>
      </p:sp>
      <p:sp>
        <p:nvSpPr>
          <p:cNvPr id="8" name="">
            <a:extLst xmlns:a="http://schemas.openxmlformats.org/drawingml/2006/main">
              <a:ext uri="{FF2B5EF4-FFF2-40B4-BE49-F238E27FC236}">
                <a16:creationId xmlns:a16="http://schemas.microsoft.com/office/drawing/2014/main" id="{8ADDB0A0-6284-4210-8909-C4CDAEFD822F}"/>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A6DC05B-9825-4089-B0CD-982C1645E577}"/>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synthetic teaching records, not measurements suitable for deployment.</a:t>
            </a:r>
          </a:p>
        </p:txBody>
      </p:sp>
      <p:sp>
        <p:nvSpPr>
          <p:cNvPr id="10" name="">
            <a:extLst xmlns:a="http://schemas.openxmlformats.org/drawingml/2006/main">
              <a:ext uri="{FF2B5EF4-FFF2-40B4-BE49-F238E27FC236}">
                <a16:creationId xmlns:a16="http://schemas.microsoft.com/office/drawing/2014/main" id="{505D3F4C-81A3-44A5-9663-109AF8AC0964}"/>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C33F3BF-7799-4B28-8972-C217777222EB}"/>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record is one operating observation; equipment_id repeats across observations.</a:t>
            </a:r>
          </a:p>
        </p:txBody>
      </p:sp>
      <p:sp>
        <p:nvSpPr>
          <p:cNvPr id="12" name="">
            <a:extLst xmlns:a="http://schemas.openxmlformats.org/drawingml/2006/main">
              <a:ext uri="{FF2B5EF4-FFF2-40B4-BE49-F238E27FC236}">
                <a16:creationId xmlns:a16="http://schemas.microsoft.com/office/drawing/2014/main" id="{6A253206-6EF3-445F-A7B8-C846C348194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52</a:t>
            </a:r>
          </a:p>
        </p:txBody>
      </p:sp>
    </p:spTree>
    <p:extLst>
      <p:ext uri="{BB962C8B-B14F-4D97-AF65-F5344CB8AC3E}">
        <p14:creationId xmlns:p14="http://schemas.microsoft.com/office/powerpoint/2010/main" val="722041150"/>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07BD9C9-254D-4F2D-8FE6-0929427C66D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621004-B90E-4202-83E7-A1FDA0C3122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1474D076-8309-4288-A195-3744040BD08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predict_regression(training_records, feature_records)</a:t>
            </a:r>
          </a:p>
        </p:txBody>
      </p:sp>
      <p:sp>
        <p:nvSpPr>
          <p:cNvPr id="4" name="">
            <a:extLst xmlns:a="http://schemas.openxmlformats.org/drawingml/2006/main">
              <a:ext uri="{FF2B5EF4-FFF2-40B4-BE49-F238E27FC236}">
                <a16:creationId xmlns:a16="http://schemas.microsoft.com/office/drawing/2014/main" id="{EC8087DE-5BD0-42B0-9A1E-942607E2BAFA}"/>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AC66331-C72F-452E-81FF-1C58476BBC61}"/>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Fit a training-mean baseline, linear regression and a decision tree (max_depth=4, random_state=17) using load_pct and ambient_c only.</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three prediction lists under baseline, linear and tree.</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Feature records have no target.</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Fit preprocessing only on training data.</a:t>
            </a:r>
          </a:p>
        </p:txBody>
      </p:sp>
      <p:sp>
        <p:nvSpPr>
          <p:cNvPr id="6" name="">
            <a:extLst xmlns:a="http://schemas.openxmlformats.org/drawingml/2006/main">
              <a:ext uri="{FF2B5EF4-FFF2-40B4-BE49-F238E27FC236}">
                <a16:creationId xmlns:a16="http://schemas.microsoft.com/office/drawing/2014/main" id="{C7F26873-4E2E-4C0B-8DCE-DB9AED56FF8E}"/>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CD9E880-EF10-4708-990A-D920DA63561C}"/>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CB648BCB-6641-4C7F-A064-17B6C478352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53</a:t>
            </a:r>
          </a:p>
        </p:txBody>
      </p:sp>
    </p:spTree>
    <p:extLst>
      <p:ext uri="{BB962C8B-B14F-4D97-AF65-F5344CB8AC3E}">
        <p14:creationId xmlns:p14="http://schemas.microsoft.com/office/powerpoint/2010/main" val="556656051"/>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D441C8D-E6B5-4C28-815E-AD415000E46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9E482D-07C9-44AA-A73F-D97522712EF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15B856A1-6F9C-4B85-894F-0819403B57E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regression_errors(actual, predicted)</a:t>
            </a:r>
          </a:p>
        </p:txBody>
      </p:sp>
      <p:sp>
        <p:nvSpPr>
          <p:cNvPr id="4" name="">
            <a:extLst xmlns:a="http://schemas.openxmlformats.org/drawingml/2006/main">
              <a:ext uri="{FF2B5EF4-FFF2-40B4-BE49-F238E27FC236}">
                <a16:creationId xmlns:a16="http://schemas.microsoft.com/office/drawing/2014/main" id="{2E2EC754-DEDA-472D-9119-EE193733BD5A}"/>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ED549A8-8565-4581-8FA0-C6B10A44B2D8}"/>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mae and rmse, calculated over the same paired observations, with full precision.</a:t>
            </a:r>
          </a:p>
        </p:txBody>
      </p:sp>
      <p:sp>
        <p:nvSpPr>
          <p:cNvPr id="6" name="">
            <a:extLst xmlns:a="http://schemas.openxmlformats.org/drawingml/2006/main">
              <a:ext uri="{FF2B5EF4-FFF2-40B4-BE49-F238E27FC236}">
                <a16:creationId xmlns:a16="http://schemas.microsoft.com/office/drawing/2014/main" id="{2CF1A178-56C2-468C-AB9B-524DFAF9300D}"/>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21777AD-2113-4E8F-8370-F5E5A5D4E738}"/>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AD2EE2E8-E600-4D59-8230-643ADD0C2AD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54</a:t>
            </a:r>
          </a:p>
        </p:txBody>
      </p:sp>
    </p:spTree>
    <p:extLst>
      <p:ext uri="{BB962C8B-B14F-4D97-AF65-F5344CB8AC3E}">
        <p14:creationId xmlns:p14="http://schemas.microsoft.com/office/powerpoint/2010/main" val="1638651350"/>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57CBF5B-5046-42DD-A683-FFCFDA1CC26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EE1E6F-C9B5-408C-B81D-4434F944615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96BE084-F0CA-4633-8BF0-ADCEB6E27A6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BBA2B515-633C-426E-9B58-1B412EB80DE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BB619C4-F018-448F-BDB6-7C0A028E4BDA}"/>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FFAE6133-8454-4D07-94B4-A2CEB6DC8F65}"/>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9704117-2A96-42C6-B660-42964F2AC410}"/>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9C640426-A2DB-4BF9-9D11-DF6A50970590}"/>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887733B-09B9-4B5B-9C9C-533D071C0448}"/>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781F575B-A1EE-4475-BF45-E0EFB1610E2A}"/>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4E58C0D-0085-4B95-93E2-ECF1A1868FB7}"/>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0982F0E7-7C8C-45EF-BA0F-FA5F35E77B3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55</a:t>
            </a:r>
          </a:p>
        </p:txBody>
      </p:sp>
    </p:spTree>
    <p:extLst>
      <p:ext uri="{BB962C8B-B14F-4D97-AF65-F5344CB8AC3E}">
        <p14:creationId xmlns:p14="http://schemas.microsoft.com/office/powerpoint/2010/main" val="1328898590"/>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ED7324C-D695-4A92-954A-21A83117F12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7B04C0-9FFD-492E-976A-DD272CF657A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C8BBF97C-733D-471C-BFD3-BBA866E08A3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Regression and baseline submission</a:t>
            </a:r>
          </a:p>
        </p:txBody>
      </p:sp>
      <p:sp>
        <p:nvSpPr>
          <p:cNvPr id="4" name="">
            <a:extLst xmlns:a="http://schemas.openxmlformats.org/drawingml/2006/main">
              <a:ext uri="{FF2B5EF4-FFF2-40B4-BE49-F238E27FC236}">
                <a16:creationId xmlns:a16="http://schemas.microsoft.com/office/drawing/2014/main" id="{F70CCDB1-738D-43FC-B237-208F7A9B62BB}"/>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B22CD8C-72C6-4ED0-A31A-79D6601F88BF}"/>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27 Oct 2026, 11:00 Kampala</a:t>
            </a:r>
          </a:p>
        </p:txBody>
      </p:sp>
      <p:sp>
        <p:nvSpPr>
          <p:cNvPr id="6" name="">
            <a:extLst xmlns:a="http://schemas.openxmlformats.org/drawingml/2006/main">
              <a:ext uri="{FF2B5EF4-FFF2-40B4-BE49-F238E27FC236}">
                <a16:creationId xmlns:a16="http://schemas.microsoft.com/office/drawing/2014/main" id="{498D2406-9F6F-4707-8F46-F6E5FC7D6674}"/>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83E8397-D0A7-41C8-B5FF-A2F396B7C8D8}"/>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03 Nov 2026, 11:00 Kampala</a:t>
            </a:r>
          </a:p>
        </p:txBody>
      </p:sp>
      <p:sp>
        <p:nvSpPr>
          <p:cNvPr id="8" name="">
            <a:extLst xmlns:a="http://schemas.openxmlformats.org/drawingml/2006/main">
              <a:ext uri="{FF2B5EF4-FFF2-40B4-BE49-F238E27FC236}">
                <a16:creationId xmlns:a16="http://schemas.microsoft.com/office/drawing/2014/main" id="{1F93E6CA-2F1C-45E7-B5B4-DF7A233620BC}"/>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81EB281-7B22-4E46-A2CE-430BF5FBA13E}"/>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47178CC2-FD46-4903-8B65-0E70E198AC45}"/>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03FDE114-DD6E-415A-B1E1-ACFA171FDB73}"/>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899D6A69-A4DA-4293-BC32-8253B1D9273C}"/>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41A68A0-93CD-44B5-AF8B-38254DE70B1D}"/>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7c17cd0dbb7c4e14"/>
              </a:rPr>
              <a:t>Open W08 assignment form</a:t>
            </a:r>
          </a:p>
        </p:txBody>
      </p:sp>
      <p:sp>
        <p:nvSpPr>
          <p:cNvPr id="14" name="">
            <a:extLst xmlns:a="http://schemas.openxmlformats.org/drawingml/2006/main">
              <a:ext uri="{FF2B5EF4-FFF2-40B4-BE49-F238E27FC236}">
                <a16:creationId xmlns:a16="http://schemas.microsoft.com/office/drawing/2014/main" id="{273978C7-B9A3-497B-9022-241A24608F8E}"/>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https://docs.google.com/forms/d/e/1FAIpQLSfOpt4U_rhJrjlYCp6pyzm9ygu2vN5EwO9yeAiJaUKy-kJKoA/viewform</a:t>
            </a:r>
          </a:p>
        </p:txBody>
      </p:sp>
      <p:sp>
        <p:nvSpPr>
          <p:cNvPr id="15" name="">
            <a:extLst xmlns:a="http://schemas.openxmlformats.org/drawingml/2006/main">
              <a:ext uri="{FF2B5EF4-FFF2-40B4-BE49-F238E27FC236}">
                <a16:creationId xmlns:a16="http://schemas.microsoft.com/office/drawing/2014/main" id="{A04ECB91-1D3A-400C-A4BF-25240C04022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56</a:t>
            </a:r>
          </a:p>
        </p:txBody>
      </p:sp>
    </p:spTree>
    <p:extLst>
      <p:ext uri="{BB962C8B-B14F-4D97-AF65-F5344CB8AC3E}">
        <p14:creationId xmlns:p14="http://schemas.microsoft.com/office/powerpoint/2010/main" val="1764226958"/>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9BC8A0A-4E1D-440F-A351-C0DD7480EFD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2E388A-ACED-4B0F-8183-78F4F4C2570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36F063D-FB2F-4FC4-BF7E-E24DC2044E3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Data analysis project</a:t>
            </a:r>
          </a:p>
        </p:txBody>
      </p:sp>
      <p:sp>
        <p:nvSpPr>
          <p:cNvPr id="4" name="">
            <a:extLst xmlns:a="http://schemas.openxmlformats.org/drawingml/2006/main">
              <a:ext uri="{FF2B5EF4-FFF2-40B4-BE49-F238E27FC236}">
                <a16:creationId xmlns:a16="http://schemas.microsoft.com/office/drawing/2014/main" id="{A69527BB-C38B-4454-BADE-723C3955D33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D779BC0-113B-4DF7-B0F1-44F14CA50761}"/>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Write your own explanation in the markdown cell headed `## My written evidence`.</a:t>
            </a:r>
          </a:p>
        </p:txBody>
      </p:sp>
      <p:sp>
        <p:nvSpPr>
          <p:cNvPr id="6" name="">
            <a:extLst xmlns:a="http://schemas.openxmlformats.org/drawingml/2006/main">
              <a:ext uri="{FF2B5EF4-FFF2-40B4-BE49-F238E27FC236}">
                <a16:creationId xmlns:a16="http://schemas.microsoft.com/office/drawing/2014/main" id="{E6352477-8239-41CF-B3E4-9D4E49C6CD56}"/>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9CE41CB-98C6-4CF4-A179-E28650EE482A}"/>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that heading.</a:t>
            </a:r>
          </a:p>
        </p:txBody>
      </p:sp>
      <p:sp>
        <p:nvSpPr>
          <p:cNvPr id="8" name="">
            <a:extLst xmlns:a="http://schemas.openxmlformats.org/drawingml/2006/main">
              <a:ext uri="{FF2B5EF4-FFF2-40B4-BE49-F238E27FC236}">
                <a16:creationId xmlns:a16="http://schemas.microsoft.com/office/drawing/2014/main" id="{BD72E90C-EADE-401C-8C99-53FBC543D7DF}"/>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365EC8E-F9BF-4D07-92B6-49D1F21A80C9}"/>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Task prompts and code comments are excluded from reasoning marks.</a:t>
            </a:r>
          </a:p>
        </p:txBody>
      </p:sp>
      <p:sp>
        <p:nvSpPr>
          <p:cNvPr id="10" name="">
            <a:extLst xmlns:a="http://schemas.openxmlformats.org/drawingml/2006/main">
              <a:ext uri="{FF2B5EF4-FFF2-40B4-BE49-F238E27FC236}">
                <a16:creationId xmlns:a16="http://schemas.microsoft.com/office/drawing/2014/main" id="{0FC3CC92-0D94-4E69-95D2-0270A7F20006}"/>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D51CF0D3-EAF1-4458-AEDB-A70EB21D9E8F}"/>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Complete every original rubric criterion below, not just the checked functions.</a:t>
            </a:r>
          </a:p>
        </p:txBody>
      </p:sp>
      <p:sp>
        <p:nvSpPr>
          <p:cNvPr id="12" name="">
            <a:extLst xmlns:a="http://schemas.openxmlformats.org/drawingml/2006/main">
              <a:ext uri="{FF2B5EF4-FFF2-40B4-BE49-F238E27FC236}">
                <a16:creationId xmlns:a16="http://schemas.microsoft.com/office/drawing/2014/main" id="{9477BFB1-C3A2-4E38-A40A-8348703125E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57</a:t>
            </a:r>
          </a:p>
        </p:txBody>
      </p:sp>
    </p:spTree>
    <p:extLst>
      <p:ext uri="{BB962C8B-B14F-4D97-AF65-F5344CB8AC3E}">
        <p14:creationId xmlns:p14="http://schemas.microsoft.com/office/powerpoint/2010/main" val="1633361293"/>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EFAB8CF-DACD-403D-B704-2E3055822B3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04C731-7DF6-48FE-BF62-834F79128C2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8BA87F4-53EE-4673-A3D1-3400EA6AB3A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Data analysis project continued</a:t>
            </a:r>
          </a:p>
        </p:txBody>
      </p:sp>
      <p:sp>
        <p:nvSpPr>
          <p:cNvPr id="4" name="">
            <a:extLst xmlns:a="http://schemas.openxmlformats.org/drawingml/2006/main">
              <a:ext uri="{FF2B5EF4-FFF2-40B4-BE49-F238E27FC236}">
                <a16:creationId xmlns:a16="http://schemas.microsoft.com/office/drawing/2014/main" id="{B60C6C41-D880-4759-9A01-44E769E6087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4945A01-4395-4B01-98A4-CEBB542F2895}"/>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Include profiling, justified cleaning, question-led charts and your engineering recommendation where required.</a:t>
            </a:r>
          </a:p>
        </p:txBody>
      </p:sp>
      <p:sp>
        <p:nvSpPr>
          <p:cNvPr id="6" name="">
            <a:extLst xmlns:a="http://schemas.openxmlformats.org/drawingml/2006/main">
              <a:ext uri="{FF2B5EF4-FFF2-40B4-BE49-F238E27FC236}">
                <a16:creationId xmlns:a16="http://schemas.microsoft.com/office/drawing/2014/main" id="{CDCE6649-0872-4EFA-9224-DB3CE29E4450}"/>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301DD53-CEAF-4F7F-A776-0783AA3E9A2C}"/>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a:t>
            </a:r>
          </a:p>
        </p:txBody>
      </p:sp>
      <p:sp>
        <p:nvSpPr>
          <p:cNvPr id="8" name="">
            <a:extLst xmlns:a="http://schemas.openxmlformats.org/drawingml/2006/main">
              <a:ext uri="{FF2B5EF4-FFF2-40B4-BE49-F238E27FC236}">
                <a16:creationId xmlns:a16="http://schemas.microsoft.com/office/drawing/2014/main" id="{685727B0-A71C-430D-98B4-B933A50BD5DC}"/>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4D37743-63DA-4F63-A0F9-23696CA4DC84}"/>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units and distinguish correlation from causation.</a:t>
            </a:r>
          </a:p>
        </p:txBody>
      </p:sp>
      <p:sp>
        <p:nvSpPr>
          <p:cNvPr id="10" name="">
            <a:extLst xmlns:a="http://schemas.openxmlformats.org/drawingml/2006/main">
              <a:ext uri="{FF2B5EF4-FFF2-40B4-BE49-F238E27FC236}">
                <a16:creationId xmlns:a16="http://schemas.microsoft.com/office/drawing/2014/main" id="{8447067D-B343-4B78-A7AF-B0DA9F005AE8}"/>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6A2F706-0364-41D4-8265-19EA6EFEA9D3}"/>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Charts must be actual labelled figures in the notebook, not claims that charts exist.</a:t>
            </a:r>
          </a:p>
        </p:txBody>
      </p:sp>
      <p:sp>
        <p:nvSpPr>
          <p:cNvPr id="12" name="">
            <a:extLst xmlns:a="http://schemas.openxmlformats.org/drawingml/2006/main">
              <a:ext uri="{FF2B5EF4-FFF2-40B4-BE49-F238E27FC236}">
                <a16:creationId xmlns:a16="http://schemas.microsoft.com/office/drawing/2014/main" id="{F1695350-87A5-49B3-B7B8-2B33615A8D3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58</a:t>
            </a:r>
          </a:p>
        </p:txBody>
      </p:sp>
    </p:spTree>
    <p:extLst>
      <p:ext uri="{BB962C8B-B14F-4D97-AF65-F5344CB8AC3E}">
        <p14:creationId xmlns:p14="http://schemas.microsoft.com/office/powerpoint/2010/main" val="812738671"/>
      </p:ext>
    </p:extLst>
  </p:cSld>
</p:sld>
</file>

<file path=ppt/slides/slide5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4FF32E77-93B0-4518-8507-42248ABDD8FC}"/>
              </a:ext>
            </a:extLst>
          </p:cNvPr>
          <p:cNvSpPr>
            <a:spLocks noGrp="1"/>
          </p:cNvSpPr>
          <p:nvPr/>
        </p:nvSpPr>
        <p:spPr>
          <a:xfrm>
            <a:off x="0" y="0"/>
            <a:ext cx="12191695" cy="1390650"/>
          </a:xfrm>
          <a:prstGeom prst="rect">
            <a:avLst/>
          </a:prstGeom>
          <a:solidFill>
            <a:srgbClr val="1C3144"/>
          </a:solidFill>
          <a:ln w="0">
            <a:noFill/>
          </a:ln>
        </p:spPr>
      </p:sp>
      <p:sp>
        <p:nvSpPr>
          <p:cNvPr id="2" name="">
            <a:extLst>
              <a:ext uri="{FF2B5EF4-FFF2-40B4-BE49-F238E27FC236}">
                <ns2:creationId id="{89A64409-8558-4116-AD11-0B1D9A8F1AE4}"/>
              </a:ext>
            </a:extLst>
          </p:cNvPr>
          <p:cNvSpPr>
            <a:spLocks noGrp="1"/>
          </p:cNvSpPr>
          <p:nvPr/>
        </p:nvSpPr>
        <p:spPr>
          <a:xfrm>
            <a:off x="590550" y="180975"/>
            <a:ext cx="11049000" cy="285750"/>
          </a:xfrm>
          <a:prstGeom prst="rect">
            <a:avLst/>
          </a:prstGeom>
          <a:noFill/>
          <a:ln w="0">
            <a:noFill/>
          </a:ln>
        </p:spPr>
        <p:txBody>
          <a:bodyPr>
            <a:noAutofit/>
          </a:bodyPr>
          <a:lstStyle/>
          <a:p>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a:ext uri="{FF2B5EF4-FFF2-40B4-BE49-F238E27FC236}">
                <ns2:creationId id="{1B23C13D-8DF4-4709-AF88-D0D101A78199}"/>
              </a:ext>
            </a:extLst>
          </p:cNvPr>
          <p:cNvSpPr>
            <a:spLocks noGrp="1"/>
          </p:cNvSpPr>
          <p:nvPr/>
        </p:nvSpPr>
        <p:spPr>
          <a:xfrm>
            <a:off x="590550" y="523875"/>
            <a:ext cx="11049000" cy="809625"/>
          </a:xfrm>
          <a:prstGeom prst="rect">
            <a:avLst/>
          </a:prstGeom>
          <a:noFill/>
          <a:ln w="0">
            <a:noFill/>
          </a:ln>
        </p:spPr>
        <p:txBody>
          <a:bodyPr>
            <a:noAutofit/>
          </a:bodyPr>
          <a:lstStyle/>
          <a:p>
            <a:pPr>
              <a:defRPr sz="3150" b="1">
                <a:solidFill>
                  <a:srgbClr val="FFFFFF"/>
                </a:solidFill>
                <a:latin typeface="Calibri"/>
                <a:ea typeface="Calibri"/>
                <a:cs typeface="Calibri"/>
              </a:defRPr>
            </a:pPr>
            <a:r>
              <a:rPr sz="3150" b="1">
                <a:solidFill>
                  <a:srgbClr val="FFFFFF"/>
                </a:solidFill>
                <a:latin typeface="Calibri"/>
                <a:ea typeface="Calibri"/>
                <a:cs typeface="Calibri"/>
              </a:rPr>
              <a:t>Data analysis project continued</a:t>
            </a:r>
          </a:p>
        </p:txBody>
      </p:sp>
      <p:sp>
        <p:nvSpPr>
          <p:cNvPr id="4" name="">
            <a:extLst>
              <a:ext uri="{FF2B5EF4-FFF2-40B4-BE49-F238E27FC236}">
                <ns2:creationId id="{7E676525-8FF5-4D0A-8E58-FB7181933AD3}"/>
              </a:ext>
            </a:extLst>
          </p:cNvPr>
          <p:cNvSpPr>
            <a:spLocks noGrp="1"/>
          </p:cNvSpPr>
          <p:nvPr/>
        </p:nvSpPr>
        <p:spPr>
          <a:xfrm>
            <a:off x="590550" y="1781175"/>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a:ext uri="{FF2B5EF4-FFF2-40B4-BE49-F238E27FC236}">
                <ns2:creationId id="{06575E3B-3710-4B24-9F62-044F5579DE85}"/>
              </a:ext>
            </a:extLst>
          </p:cNvPr>
          <p:cNvSpPr>
            <a:spLocks noGrp="1"/>
          </p:cNvSpPr>
          <p:nvPr/>
        </p:nvSpPr>
        <p:spPr>
          <a:xfrm>
            <a:off x="1381125" y="1781175"/>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Include captions and a separate readable DOCX/PDF report.</a:t>
            </a:r>
          </a:p>
        </p:txBody>
      </p:sp>
      <p:sp>
        <p:nvSpPr>
          <p:cNvPr id="6" name="">
            <a:extLst>
              <a:ext uri="{FF2B5EF4-FFF2-40B4-BE49-F238E27FC236}">
                <ns2:creationId id="{FF5169B6-0A25-46DB-B809-1ACEE58F6BFD}"/>
              </a:ext>
            </a:extLst>
          </p:cNvPr>
          <p:cNvSpPr>
            <a:spLocks noGrp="1"/>
          </p:cNvSpPr>
          <p:nvPr/>
        </p:nvSpPr>
        <p:spPr>
          <a:xfrm>
            <a:off x="590550" y="2850356"/>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a:ext uri="{FF2B5EF4-FFF2-40B4-BE49-F238E27FC236}">
                <ns2:creationId id="{B2F24E49-D83A-4BC9-A7E2-EAA2EB78A2ED}"/>
              </a:ext>
            </a:extLst>
          </p:cNvPr>
          <p:cNvSpPr>
            <a:spLocks noGrp="1"/>
          </p:cNvSpPr>
          <p:nvPr/>
        </p:nvSpPr>
        <p:spPr>
          <a:xfrm>
            <a:off x="1381125" y="2850356"/>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Question &amp; dataset fit (20.0 total): A real engineering question is stated, and the chosen dataset can actually answer it.</a:t>
            </a:r>
          </a:p>
        </p:txBody>
      </p:sp>
      <p:sp>
        <p:nvSpPr>
          <p:cNvPr id="8" name="">
            <a:extLst>
              <a:ext uri="{FF2B5EF4-FFF2-40B4-BE49-F238E27FC236}">
                <ns2:creationId id="{894AF24D-4571-43C4-AC77-6E531C491A35}"/>
              </a:ext>
            </a:extLst>
          </p:cNvPr>
          <p:cNvSpPr>
            <a:spLocks noGrp="1"/>
          </p:cNvSpPr>
          <p:nvPr/>
        </p:nvSpPr>
        <p:spPr>
          <a:xfrm>
            <a:off x="590550" y="3919538"/>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a:ext uri="{FF2B5EF4-FFF2-40B4-BE49-F238E27FC236}">
                <ns2:creationId id="{FB2BF7AF-53CC-45FE-A265-D50CD9C1CB8C}"/>
              </a:ext>
            </a:extLst>
          </p:cNvPr>
          <p:cNvSpPr>
            <a:spLocks noGrp="1"/>
          </p:cNvSpPr>
          <p:nvPr/>
        </p:nvSpPr>
        <p:spPr>
          <a:xfrm>
            <a:off x="1381125" y="3919538"/>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Provenance and licence stated.</a:t>
            </a:r>
          </a:p>
        </p:txBody>
      </p:sp>
      <p:sp>
        <p:nvSpPr>
          <p:cNvPr id="10" name="">
            <a:extLst>
              <a:ext uri="{FF2B5EF4-FFF2-40B4-BE49-F238E27FC236}">
                <ns2:creationId id="{58073B15-983F-47E6-B4D7-B10B269D9BDC}"/>
              </a:ext>
            </a:extLst>
          </p:cNvPr>
          <p:cNvSpPr>
            <a:spLocks noGrp="1"/>
          </p:cNvSpPr>
          <p:nvPr/>
        </p:nvSpPr>
        <p:spPr>
          <a:xfrm>
            <a:off x="590550" y="4988719"/>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a:ext uri="{FF2B5EF4-FFF2-40B4-BE49-F238E27FC236}">
                <ns2:creationId id="{5215DE69-04D6-4A88-915F-7ACDC5D3CD32}"/>
              </a:ext>
            </a:extLst>
          </p:cNvPr>
          <p:cNvSpPr>
            <a:spLocks noGrp="1"/>
          </p:cNvSpPr>
          <p:nvPr/>
        </p:nvSpPr>
        <p:spPr>
          <a:xfrm>
            <a:off x="1381125" y="4988719"/>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Data quality work (25.0 total): Defects found and handled with written justification.</a:t>
            </a:r>
          </a:p>
        </p:txBody>
      </p:sp>
      <p:sp>
        <p:nvSpPr>
          <p:cNvPr id="12" name="">
            <a:extLst>
              <a:ext uri="{FF2B5EF4-FFF2-40B4-BE49-F238E27FC236}">
                <ns2:creationId id="{7AEC4EFA-B097-418E-AF1C-4C5BB8AB7B7F}"/>
              </a:ext>
            </a:extLst>
          </p:cNvPr>
          <p:cNvSpPr>
            <a:spLocks noGrp="1"/>
          </p:cNvSpPr>
          <p:nvPr/>
        </p:nvSpPr>
        <p:spPr>
          <a:xfrm>
            <a:off x="590550" y="6524625"/>
            <a:ext cx="10810875" cy="219075"/>
          </a:xfrm>
          <a:prstGeom prst="rect">
            <a:avLst/>
          </a:prstGeom>
          <a:noFill/>
          <a:ln w="0">
            <a:noFill/>
          </a:ln>
        </p:spPr>
        <p:txBody>
          <a:bodyPr>
            <a:noAutofit/>
          </a:bodyPr>
          <a:lstStyle/>
          <a:p>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59</a:t>
            </a:r>
          </a:p>
        </p:txBody>
      </p:sp>
    </p:spTree>
    <p:extLst>
      <p:ext uri="{BB962C8B-B14F-4D97-AF65-F5344CB8AC3E}">
        <ns3:creationId val="1065858268"/>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7328329-C3FA-4D7F-9EB0-B87A15F9925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D35BBF-5150-47A7-8B85-638B0C9630A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E5DDF65-8CE1-42C4-873F-72CAD2AA5D1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Data analysis project continued</a:t>
            </a:r>
          </a:p>
        </p:txBody>
      </p:sp>
      <p:sp>
        <p:nvSpPr>
          <p:cNvPr id="4" name="">
            <a:extLst xmlns:a="http://schemas.openxmlformats.org/drawingml/2006/main">
              <a:ext uri="{FF2B5EF4-FFF2-40B4-BE49-F238E27FC236}">
                <a16:creationId xmlns:a16="http://schemas.microsoft.com/office/drawing/2014/main" id="{9509391B-6D69-474A-BECE-80B63DC8047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F1A3502-CBD3-45DE-BC0C-59DE18662964}"/>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data quality statement is present.</a:t>
            </a:r>
          </a:p>
        </p:txBody>
      </p:sp>
      <p:sp>
        <p:nvSpPr>
          <p:cNvPr id="6" name="">
            <a:extLst xmlns:a="http://schemas.openxmlformats.org/drawingml/2006/main">
              <a:ext uri="{FF2B5EF4-FFF2-40B4-BE49-F238E27FC236}">
                <a16:creationId xmlns:a16="http://schemas.microsoft.com/office/drawing/2014/main" id="{14410A97-D53B-4810-95E3-B608C579405F}"/>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B7D4487-4F44-4C79-99E3-5875A218952F}"/>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Analysis &amp; visualisation (30.0 total): Four or more charts, each answering a stated question.</a:t>
            </a:r>
          </a:p>
        </p:txBody>
      </p:sp>
      <p:sp>
        <p:nvSpPr>
          <p:cNvPr id="8" name="">
            <a:extLst xmlns:a="http://schemas.openxmlformats.org/drawingml/2006/main">
              <a:ext uri="{FF2B5EF4-FFF2-40B4-BE49-F238E27FC236}">
                <a16:creationId xmlns:a16="http://schemas.microsoft.com/office/drawing/2014/main" id="{C8174C2E-04AD-452D-B520-EA5ADD096C24}"/>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4DAB23C-01C4-42A4-BCCE-C59126BF2DA0}"/>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Correct chart types, labelled axes, findings in the captions.</a:t>
            </a:r>
          </a:p>
        </p:txBody>
      </p:sp>
      <p:sp>
        <p:nvSpPr>
          <p:cNvPr id="10" name="">
            <a:extLst xmlns:a="http://schemas.openxmlformats.org/drawingml/2006/main">
              <a:ext uri="{FF2B5EF4-FFF2-40B4-BE49-F238E27FC236}">
                <a16:creationId xmlns:a16="http://schemas.microsoft.com/office/drawing/2014/main" id="{DC7E9646-EF31-4121-A4AD-0CFF93DF04B8}"/>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EB384CC3-84BE-40B3-A97C-8414E9FF659C}"/>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Findings &amp; interpretation (20.0 total): Conclusions supported by the analysis, stated in engineering terms, with limitations acknowledged.</a:t>
            </a:r>
          </a:p>
        </p:txBody>
      </p:sp>
      <p:sp>
        <p:nvSpPr>
          <p:cNvPr id="12" name="">
            <a:extLst xmlns:a="http://schemas.openxmlformats.org/drawingml/2006/main">
              <a:ext uri="{FF2B5EF4-FFF2-40B4-BE49-F238E27FC236}">
                <a16:creationId xmlns:a16="http://schemas.microsoft.com/office/drawing/2014/main" id="{21722541-1484-4AAD-904A-1C1BFDF8B36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60</a:t>
            </a:r>
          </a:p>
        </p:txBody>
      </p:sp>
    </p:spTree>
    <p:extLst>
      <p:ext uri="{BB962C8B-B14F-4D97-AF65-F5344CB8AC3E}">
        <p14:creationId xmlns:p14="http://schemas.microsoft.com/office/powerpoint/2010/main" val="567006300"/>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A1EB29B-02B5-4602-95EC-8A256677D7C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DA06DB-2255-4CF4-9825-B6702806425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E94AFF0-B364-4C0B-BFE0-3C0EC7A5D7D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Data analysis project continued</a:t>
            </a:r>
          </a:p>
        </p:txBody>
      </p:sp>
      <p:sp>
        <p:nvSpPr>
          <p:cNvPr id="4" name="">
            <a:extLst xmlns:a="http://schemas.openxmlformats.org/drawingml/2006/main">
              <a:ext uri="{FF2B5EF4-FFF2-40B4-BE49-F238E27FC236}">
                <a16:creationId xmlns:a16="http://schemas.microsoft.com/office/drawing/2014/main" id="{7EE86F92-38F7-40C2-861E-B33548A3209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9A308D8-744F-4DEB-A002-B2F2E81B0E85}"/>
              </a:ext>
            </a:extLst>
          </p:cNvPr>
          <p:cNvSpPr>
            <a:spLocks xmlns:a="http://schemas.openxmlformats.org/drawingml/2006/main" noGrp="1"/>
          </p:cNvSpPr>
          <p:nvPr/>
        </p:nvSpPr>
        <p:spPr>
          <a:xfrm xmlns:a="http://schemas.openxmlformats.org/drawingml/2006/main">
            <a:off x="1381125" y="1781175"/>
            <a:ext cx="10096500" cy="420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Individual contribution log (5.0 total): Present, specific, and consistent with the repository's commit history.</a:t>
            </a:r>
          </a:p>
        </p:txBody>
      </p:sp>
      <p:sp>
        <p:nvSpPr>
          <p:cNvPr id="6" name="">
            <a:extLst xmlns:a="http://schemas.openxmlformats.org/drawingml/2006/main">
              <a:ext uri="{FF2B5EF4-FFF2-40B4-BE49-F238E27FC236}">
                <a16:creationId xmlns:a16="http://schemas.microsoft.com/office/drawing/2014/main" id="{5AEA4E76-ACBD-4FF6-B7D3-0BB1E630F33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61</a:t>
            </a:r>
          </a:p>
        </p:txBody>
      </p:sp>
    </p:spTree>
    <p:extLst>
      <p:ext uri="{BB962C8B-B14F-4D97-AF65-F5344CB8AC3E}">
        <p14:creationId xmlns:p14="http://schemas.microsoft.com/office/powerpoint/2010/main" val="1057986626"/>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5940352-5545-4A4A-B7D4-CB945C74EE7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8E099B-E251-4F10-AE5C-CAE82C32E68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B241209C-5739-4003-86E1-A2CC89AA169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Data analysis project submission</a:t>
            </a:r>
          </a:p>
        </p:txBody>
      </p:sp>
      <p:sp>
        <p:nvSpPr>
          <p:cNvPr id="4" name="">
            <a:extLst xmlns:a="http://schemas.openxmlformats.org/drawingml/2006/main">
              <a:ext uri="{FF2B5EF4-FFF2-40B4-BE49-F238E27FC236}">
                <a16:creationId xmlns:a16="http://schemas.microsoft.com/office/drawing/2014/main" id="{9DC7C82B-3BC3-4645-BAFF-5156CE08F4D0}"/>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A6FEA6B-4936-4886-A9F9-D916EE49DB47}"/>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06 Oct 2026, 11:00 Kampala</a:t>
            </a:r>
          </a:p>
        </p:txBody>
      </p:sp>
      <p:sp>
        <p:nvSpPr>
          <p:cNvPr id="6" name="">
            <a:extLst xmlns:a="http://schemas.openxmlformats.org/drawingml/2006/main">
              <a:ext uri="{FF2B5EF4-FFF2-40B4-BE49-F238E27FC236}">
                <a16:creationId xmlns:a16="http://schemas.microsoft.com/office/drawing/2014/main" id="{2084E0BD-B811-41E7-8321-C5E86B0AD05D}"/>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A34AE0A-172E-42D4-B014-A0DABE03F8C8}"/>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27 Oct 2026, 11:00 Kampala</a:t>
            </a:r>
          </a:p>
        </p:txBody>
      </p:sp>
      <p:sp>
        <p:nvSpPr>
          <p:cNvPr id="8" name="">
            <a:extLst xmlns:a="http://schemas.openxmlformats.org/drawingml/2006/main">
              <a:ext uri="{FF2B5EF4-FFF2-40B4-BE49-F238E27FC236}">
                <a16:creationId xmlns:a16="http://schemas.microsoft.com/office/drawing/2014/main" id="{DAFE468F-4A02-4EA7-922F-806071A3053C}"/>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9E31502-E675-4586-854A-B55339BBDFB3}"/>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87562661-C0C2-4ED6-8206-1224317C2FA6}"/>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D0A5EA0-8D00-4B5A-99E2-ECBABEBF80F0}"/>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C186A2B6-4945-4D02-8C68-53C4F51ED0EE}"/>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69A5713-EB73-4CD2-97F2-40196154B041}"/>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f8c63b2e7b4b4e65"/>
              </a:rPr>
              <a:t>Open DA_PROJECT assignment form</a:t>
            </a:r>
          </a:p>
        </p:txBody>
      </p:sp>
      <p:sp>
        <p:nvSpPr>
          <p:cNvPr id="14" name="">
            <a:extLst xmlns:a="http://schemas.openxmlformats.org/drawingml/2006/main">
              <a:ext uri="{FF2B5EF4-FFF2-40B4-BE49-F238E27FC236}">
                <a16:creationId xmlns:a16="http://schemas.microsoft.com/office/drawing/2014/main" id="{E772E90C-2595-4A08-8982-BCEF593873C2}"/>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https://docs.google.com/forms/d/e/1FAIpQLScBWq6-FVmuDHGDXqQzURw8zP6C0I8H_GnhD7sinBspayooCA/viewform</a:t>
            </a:r>
          </a:p>
        </p:txBody>
      </p:sp>
      <p:sp>
        <p:nvSpPr>
          <p:cNvPr id="15" name="">
            <a:extLst xmlns:a="http://schemas.openxmlformats.org/drawingml/2006/main">
              <a:ext uri="{FF2B5EF4-FFF2-40B4-BE49-F238E27FC236}">
                <a16:creationId xmlns:a16="http://schemas.microsoft.com/office/drawing/2014/main" id="{2A2BDF47-901F-4D69-AE7A-CDF69352F38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62</a:t>
            </a:r>
          </a:p>
        </p:txBody>
      </p:sp>
    </p:spTree>
    <p:extLst>
      <p:ext uri="{BB962C8B-B14F-4D97-AF65-F5344CB8AC3E}">
        <p14:creationId xmlns:p14="http://schemas.microsoft.com/office/powerpoint/2010/main" val="884798548"/>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336CD7E-5886-48E6-8FD0-19B0167271E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F5B090-513B-4163-976C-C846528FF39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9F65FB3A-6660-4E9F-A762-016AA15D40D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8 quiz</a:t>
            </a:r>
          </a:p>
        </p:txBody>
      </p:sp>
      <p:sp>
        <p:nvSpPr>
          <p:cNvPr id="4" name="">
            <a:extLst xmlns:a="http://schemas.openxmlformats.org/drawingml/2006/main">
              <a:ext uri="{FF2B5EF4-FFF2-40B4-BE49-F238E27FC236}">
                <a16:creationId xmlns:a16="http://schemas.microsoft.com/office/drawing/2014/main" id="{01A218CA-5E36-482C-A18B-CD6914A931E3}"/>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BDF96F1-FFBB-45FB-B445-870B448956B7}"/>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70FCB5F5-F888-4D2F-A040-34D9FC3F4F35}"/>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96B1308-2E89-4FA2-B58E-ACC922EBB481}"/>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04CD2CA3-F28B-43BA-836B-6960B0F64071}"/>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32856F1-A1FB-4C9B-856E-AF7690B94F1A}"/>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E8F53EFD-0500-49A9-B950-ABDFE9BA3AB4}"/>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7605CFC-7621-4B4E-A300-ED22B38E264D}"/>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 will confirm the exact closing time.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3e76028bb5054406"/>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7CF068BC-E257-49CE-8852-AC20CA593BAF}"/>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0EBB2EC3-A959-4B57-B1BA-19C8B4BE76DD}"/>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E98243A-19F2-4442-9D62-FB84318CE6C2}"/>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4f5e36d55831478d"/>
              </a:rPr>
              <a:t>Open this week’s quiz</a:t>
            </a:r>
          </a:p>
        </p:txBody>
      </p:sp>
      <p:sp>
        <p:nvSpPr>
          <p:cNvPr id="16" name="">
            <a:extLst xmlns:a="http://schemas.openxmlformats.org/drawingml/2006/main">
              <a:ext uri="{FF2B5EF4-FFF2-40B4-BE49-F238E27FC236}">
                <a16:creationId xmlns:a16="http://schemas.microsoft.com/office/drawing/2014/main" id="{9D4CC83A-FB1D-4245-9F3B-E4D7FB5D6543}"/>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https://forms.gle/MKAfeSE9NfRziGebA</a:t>
            </a:r>
          </a:p>
        </p:txBody>
      </p:sp>
      <p:sp>
        <p:nvSpPr>
          <p:cNvPr id="17" name="">
            <a:extLst xmlns:a="http://schemas.openxmlformats.org/drawingml/2006/main">
              <a:ext uri="{FF2B5EF4-FFF2-40B4-BE49-F238E27FC236}">
                <a16:creationId xmlns:a16="http://schemas.microsoft.com/office/drawing/2014/main" id="{02D1A5EA-DFB0-4D69-ABBF-A57ADC86FF0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8   63</a:t>
            </a:r>
          </a:p>
        </p:txBody>
      </p:sp>
    </p:spTree>
    <p:extLst>
      <p:ext uri="{BB962C8B-B14F-4D97-AF65-F5344CB8AC3E}">
        <p14:creationId xmlns:p14="http://schemas.microsoft.com/office/powerpoint/2010/main" val="388466488"/>
      </p:ext>
    </p:extLst>
  </p:cSld>
</p:sld>
</file>

<file path=ppt/slides/slide64.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381704F-7B17-427C-A01D-38F30C11E5F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E606596D-ADA0-415B-A3E8-842D0CDE7FB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Before you leave</a:t>
            </a:r>
          </a:p>
        </p:txBody>
      </p:sp>
      <p:sp>
        <p:nvSpPr>
          <p:cNvPr id="3" name="">
            <a:extLst xmlns:a="http://schemas.openxmlformats.org/drawingml/2006/main">
              <a:ext uri="{FF2B5EF4-FFF2-40B4-BE49-F238E27FC236}">
                <a16:creationId xmlns:a16="http://schemas.microsoft.com/office/drawing/2014/main" id="{7ABDEE15-4354-4E2B-8095-09372C54A63A}"/>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B15D1416-8A73-46D6-85AF-C7BB51BC3048}"/>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calculate one error and explain why evaluation needs unseen observations.</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F90B4AB1-1619-4341-A6C5-99C88FB33E2F}"/>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EF568A73-8452-4A60-AA3A-2211CD682F7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8   64</a:t>
            </a:r>
          </a:p>
        </p:txBody>
      </p:sp>
    </p:spTree>
    <p:extLst>
      <p:ext uri="{BB962C8B-B14F-4D97-AF65-F5344CB8AC3E}">
        <p14:creationId xmlns:p14="http://schemas.microsoft.com/office/powerpoint/2010/main" val="14898142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2026-09-16T11:08:41.1720000Z</dcterms:created>
  <dcterms:modified xsi:type="dcterms:W3CDTF">2026-09-16T11:08:41.1720000Z</dcterms:modified>
</coreProperties>
</file>