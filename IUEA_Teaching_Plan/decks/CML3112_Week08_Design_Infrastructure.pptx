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24b6d0eebbb4cda" /><Relationship Type="http://schemas.openxmlformats.org/officeDocument/2006/relationships/extended-properties" Target="/docProps/app.xml" Id="R4cf1e9843c2a457b" /><Relationship Type="http://schemas.openxmlformats.org/officeDocument/2006/relationships/officeDocument" Target="/ppt/presentation.xml" Id="Ref62ad191dcb4d97" /></Relationships>
</file>

<file path=ppt/presentation.xml><?xml version="1.0" encoding="utf-8"?>
<p:presentation xmlns:p="http://schemas.openxmlformats.org/presentationml/2006/main">
  <p:sldMasterIdLst>
    <p:sldMasterId xmlns:r="http://schemas.openxmlformats.org/officeDocument/2006/relationships" id="2147483648" r:id="Re9748bed0acd456f"/>
  </p:sldMasterIdLst>
  <p:notesMasterIdLst>
    <p:notesMasterId xmlns:r="http://schemas.openxmlformats.org/officeDocument/2006/relationships" r:id="R60fbd3d98ff647eb"/>
  </p:notesMasterIdLst>
  <p:sldIdLst>
    <p:sldId xmlns:r="http://schemas.openxmlformats.org/officeDocument/2006/relationships" id="256" r:id="R00c4892a055943e7"/>
    <p:sldId xmlns:r="http://schemas.openxmlformats.org/officeDocument/2006/relationships" id="257" r:id="R8a8125964b384fd3"/>
    <p:sldId xmlns:r="http://schemas.openxmlformats.org/officeDocument/2006/relationships" id="258" r:id="R55ca394657a248e9"/>
    <p:sldId xmlns:r="http://schemas.openxmlformats.org/officeDocument/2006/relationships" id="259" r:id="Rb18032d45213474a"/>
    <p:sldId xmlns:r="http://schemas.openxmlformats.org/officeDocument/2006/relationships" id="260" r:id="R268a95996a6f4d3b"/>
    <p:sldId xmlns:r="http://schemas.openxmlformats.org/officeDocument/2006/relationships" id="261" r:id="R2b37bd9448f24fcb"/>
    <p:sldId xmlns:r="http://schemas.openxmlformats.org/officeDocument/2006/relationships" id="262" r:id="R6777085b882f4233"/>
    <p:sldId xmlns:r="http://schemas.openxmlformats.org/officeDocument/2006/relationships" id="263" r:id="R84550e7eaa964ef2"/>
    <p:sldId xmlns:r="http://schemas.openxmlformats.org/officeDocument/2006/relationships" id="264" r:id="R8cf77d55ca2e4ae4"/>
    <p:sldId xmlns:r="http://schemas.openxmlformats.org/officeDocument/2006/relationships" id="265" r:id="Rdea4794a311f4f96"/>
    <p:sldId xmlns:r="http://schemas.openxmlformats.org/officeDocument/2006/relationships" id="266" r:id="Ra24b8d344be24d72"/>
    <p:sldId xmlns:r="http://schemas.openxmlformats.org/officeDocument/2006/relationships" id="267" r:id="R3b862c21c7d74a02"/>
    <p:sldId xmlns:r="http://schemas.openxmlformats.org/officeDocument/2006/relationships" id="268" r:id="R1769cc3f4f8e49bb"/>
    <p:sldId xmlns:r="http://schemas.openxmlformats.org/officeDocument/2006/relationships" id="269" r:id="Rb156e2e36ebc4c95"/>
    <p:sldId xmlns:r="http://schemas.openxmlformats.org/officeDocument/2006/relationships" id="270" r:id="R08d26a5806444df2"/>
    <p:sldId xmlns:r="http://schemas.openxmlformats.org/officeDocument/2006/relationships" id="271" r:id="Rbeb341cd11454717"/>
    <p:sldId xmlns:r="http://schemas.openxmlformats.org/officeDocument/2006/relationships" id="272" r:id="Re9fb4da3afa444b5"/>
    <p:sldId xmlns:r="http://schemas.openxmlformats.org/officeDocument/2006/relationships" id="273" r:id="Ra48a85f51d494092"/>
    <p:sldId xmlns:r="http://schemas.openxmlformats.org/officeDocument/2006/relationships" id="274" r:id="Ra4e4d0ff0c744dec"/>
    <p:sldId xmlns:r="http://schemas.openxmlformats.org/officeDocument/2006/relationships" id="275" r:id="R8776e939be25425a"/>
    <p:sldId xmlns:r="http://schemas.openxmlformats.org/officeDocument/2006/relationships" id="276" r:id="R0f0e86dacb864e52"/>
    <p:sldId xmlns:r="http://schemas.openxmlformats.org/officeDocument/2006/relationships" id="277" r:id="R718d3c68cea04b5e"/>
    <p:sldId xmlns:r="http://schemas.openxmlformats.org/officeDocument/2006/relationships" id="278" r:id="R2361b9934ea94848"/>
    <p:sldId xmlns:r="http://schemas.openxmlformats.org/officeDocument/2006/relationships" id="279" r:id="Rd13137ef920a4830"/>
    <p:sldId xmlns:r="http://schemas.openxmlformats.org/officeDocument/2006/relationships" id="280" r:id="R7ead157802b2401b"/>
    <p:sldId xmlns:r="http://schemas.openxmlformats.org/officeDocument/2006/relationships" id="281" r:id="Rd7e01af50f364f29"/>
    <p:sldId xmlns:r="http://schemas.openxmlformats.org/officeDocument/2006/relationships" id="282" r:id="Rdfde07b08bae412b"/>
    <p:sldId xmlns:r="http://schemas.openxmlformats.org/officeDocument/2006/relationships" id="283" r:id="Rbcbc574b10114b3f"/>
    <p:sldId xmlns:r="http://schemas.openxmlformats.org/officeDocument/2006/relationships" id="284" r:id="R9a7f9825abe84291"/>
    <p:sldId xmlns:r="http://schemas.openxmlformats.org/officeDocument/2006/relationships" id="285" r:id="Rba8fd1ba5ced497e"/>
    <p:sldId xmlns:r="http://schemas.openxmlformats.org/officeDocument/2006/relationships" id="286" r:id="Rcd3f34e3da894615"/>
    <p:sldId xmlns:r="http://schemas.openxmlformats.org/officeDocument/2006/relationships" id="287" r:id="Rf509309dae5c46b0"/>
    <p:sldId xmlns:r="http://schemas.openxmlformats.org/officeDocument/2006/relationships" id="288" r:id="R204bd94038d44e8f"/>
    <p:sldId xmlns:r="http://schemas.openxmlformats.org/officeDocument/2006/relationships" id="289" r:id="R0993dc8829944ea0"/>
    <p:sldId xmlns:r="http://schemas.openxmlformats.org/officeDocument/2006/relationships" id="290" r:id="R2db74d43c9304893"/>
    <p:sldId xmlns:r="http://schemas.openxmlformats.org/officeDocument/2006/relationships" id="291" r:id="R81210e99bca74d96"/>
    <p:sldId xmlns:r="http://schemas.openxmlformats.org/officeDocument/2006/relationships" id="292" r:id="R282c0d5ca4064c49"/>
    <p:sldId xmlns:r="http://schemas.openxmlformats.org/officeDocument/2006/relationships" id="293" r:id="R3c45e5cfcfa1448a"/>
    <p:sldId xmlns:r="http://schemas.openxmlformats.org/officeDocument/2006/relationships" id="294" r:id="Rce1b2602108f492d"/>
    <p:sldId xmlns:r="http://schemas.openxmlformats.org/officeDocument/2006/relationships" id="295" r:id="R2c20936aeefe4c98"/>
    <p:sldId xmlns:r="http://schemas.openxmlformats.org/officeDocument/2006/relationships" id="296" r:id="R7dcfda730e3e4c0d"/>
    <p:sldId xmlns:r="http://schemas.openxmlformats.org/officeDocument/2006/relationships" id="297" r:id="R3b17f0b561f748ba"/>
    <p:sldId xmlns:r="http://schemas.openxmlformats.org/officeDocument/2006/relationships" id="298" r:id="Ra6458e79cd7941a2"/>
    <p:sldId xmlns:r="http://schemas.openxmlformats.org/officeDocument/2006/relationships" id="299" r:id="R95c30d9a2c4f4c44"/>
    <p:sldId xmlns:r="http://schemas.openxmlformats.org/officeDocument/2006/relationships" id="300" r:id="R6a5a0100bfbe4cd6"/>
    <p:sldId xmlns:r="http://schemas.openxmlformats.org/officeDocument/2006/relationships" id="301" r:id="R5365380efb694f93"/>
    <p:sldId xmlns:r="http://schemas.openxmlformats.org/officeDocument/2006/relationships" id="302" r:id="Raa5fc77421ac4b55"/>
    <p:sldId xmlns:r="http://schemas.openxmlformats.org/officeDocument/2006/relationships" id="303" r:id="R629c2b309556438f"/>
    <p:sldId xmlns:r="http://schemas.openxmlformats.org/officeDocument/2006/relationships" id="304" r:id="Rd4e93a4a1b6b4193"/>
    <p:sldId xmlns:r="http://schemas.openxmlformats.org/officeDocument/2006/relationships" id="305" r:id="Rfaad4eb4bcde469a"/>
    <p:sldId xmlns:r="http://schemas.openxmlformats.org/officeDocument/2006/relationships" id="306" r:id="R307737808e804861"/>
    <p:sldId xmlns:r="http://schemas.openxmlformats.org/officeDocument/2006/relationships" id="307" r:id="Rb42b5e5138f34186"/>
    <p:sldId xmlns:r="http://schemas.openxmlformats.org/officeDocument/2006/relationships" id="308" r:id="Re1c9a267bd7548d7"/>
    <p:sldId xmlns:r="http://schemas.openxmlformats.org/officeDocument/2006/relationships" id="309" r:id="R45766b6a4ee84182"/>
    <p:sldId xmlns:r="http://schemas.openxmlformats.org/officeDocument/2006/relationships" id="310" r:id="Rf8f67922bcab4717"/>
    <p:sldId xmlns:r="http://schemas.openxmlformats.org/officeDocument/2006/relationships" id="311" r:id="Rdb0c2a098693492a"/>
    <p:sldId xmlns:r="http://schemas.openxmlformats.org/officeDocument/2006/relationships" id="312" r:id="R4b095b4d78d44958"/>
    <p:sldId xmlns:r="http://schemas.openxmlformats.org/officeDocument/2006/relationships" id="313" r:id="Rc47a4015ebc44c84"/>
    <p:sldId xmlns:r="http://schemas.openxmlformats.org/officeDocument/2006/relationships" id="314" r:id="Rca026084837d43c0"/>
    <p:sldId xmlns:r="http://schemas.openxmlformats.org/officeDocument/2006/relationships" id="315" r:id="R00dc7a885ec046c2"/>
    <p:sldId xmlns:r="http://schemas.openxmlformats.org/officeDocument/2006/relationships" id="316" r:id="R29529e4e42aa499e"/>
    <p:sldId xmlns:r="http://schemas.openxmlformats.org/officeDocument/2006/relationships" id="317" r:id="Rb805ac118c2743d0"/>
    <p:sldId xmlns:r="http://schemas.openxmlformats.org/officeDocument/2006/relationships" id="318" r:id="R14f7631001ac40a3"/>
    <p:sldId xmlns:r="http://schemas.openxmlformats.org/officeDocument/2006/relationships" id="319" r:id="R92184597e1124e8b"/>
    <p:sldId xmlns:r="http://schemas.openxmlformats.org/officeDocument/2006/relationships" id="320" r:id="Rb92702d6b7b84fbc"/>
    <p:sldId xmlns:r="http://schemas.openxmlformats.org/officeDocument/2006/relationships" id="321" r:id="R38b7b090e06340a7"/>
    <p:sldId xmlns:r="http://schemas.openxmlformats.org/officeDocument/2006/relationships" id="322" r:id="R80fd751f8f5b4ec1"/>
    <p:sldId xmlns:r="http://schemas.openxmlformats.org/officeDocument/2006/relationships" id="323" r:id="Rddcd96672e2b41fa"/>
    <p:sldId xmlns:r="http://schemas.openxmlformats.org/officeDocument/2006/relationships" id="324" r:id="Rb399b880e10a4a7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1467dc973a49bc" /><Relationship Type="http://schemas.openxmlformats.org/officeDocument/2006/relationships/slideMaster" Target="/ppt/slideMasters/slideMaster1.xml" Id="Re9748bed0acd456f" /><Relationship Type="http://schemas.openxmlformats.org/officeDocument/2006/relationships/notesMaster" Target="/ppt/notesMasters/notesMaster1.xml" Id="R60fbd3d98ff647eb" /><Relationship Type="http://schemas.openxmlformats.org/officeDocument/2006/relationships/presProps" Target="/ppt/presProps.xml" Id="R2af26e25ddf842a2" /><Relationship Type="http://schemas.openxmlformats.org/officeDocument/2006/relationships/tableStyles" Target="/ppt/tableStyles.xml" Id="R927994bb5ee34f0d" /><Relationship Type="http://schemas.openxmlformats.org/officeDocument/2006/relationships/slide" Target="/ppt/slides/slide1.xml" Id="R00c4892a055943e7" /><Relationship Type="http://schemas.openxmlformats.org/officeDocument/2006/relationships/slide" Target="/ppt/slides/slide2.xml" Id="R8a8125964b384fd3" /><Relationship Type="http://schemas.openxmlformats.org/officeDocument/2006/relationships/slide" Target="/ppt/slides/slide3.xml" Id="R55ca394657a248e9" /><Relationship Type="http://schemas.openxmlformats.org/officeDocument/2006/relationships/slide" Target="/ppt/slides/slide4.xml" Id="Rb18032d45213474a" /><Relationship Type="http://schemas.openxmlformats.org/officeDocument/2006/relationships/slide" Target="/ppt/slides/slide5.xml" Id="R268a95996a6f4d3b" /><Relationship Type="http://schemas.openxmlformats.org/officeDocument/2006/relationships/slide" Target="/ppt/slides/slide6.xml" Id="R2b37bd9448f24fcb" /><Relationship Type="http://schemas.openxmlformats.org/officeDocument/2006/relationships/slide" Target="/ppt/slides/slide7.xml" Id="R6777085b882f4233" /><Relationship Type="http://schemas.openxmlformats.org/officeDocument/2006/relationships/slide" Target="/ppt/slides/slide8.xml" Id="R84550e7eaa964ef2" /><Relationship Type="http://schemas.openxmlformats.org/officeDocument/2006/relationships/slide" Target="/ppt/slides/slide9.xml" Id="R8cf77d55ca2e4ae4" /><Relationship Type="http://schemas.openxmlformats.org/officeDocument/2006/relationships/slide" Target="/ppt/slides/slide10.xml" Id="Rdea4794a311f4f96" /><Relationship Type="http://schemas.openxmlformats.org/officeDocument/2006/relationships/slide" Target="/ppt/slides/slide11.xml" Id="Ra24b8d344be24d72" /><Relationship Type="http://schemas.openxmlformats.org/officeDocument/2006/relationships/slide" Target="/ppt/slides/slide12.xml" Id="R3b862c21c7d74a02" /><Relationship Type="http://schemas.openxmlformats.org/officeDocument/2006/relationships/slide" Target="/ppt/slides/slide13.xml" Id="R1769cc3f4f8e49bb" /><Relationship Type="http://schemas.openxmlformats.org/officeDocument/2006/relationships/slide" Target="/ppt/slides/slide14.xml" Id="Rb156e2e36ebc4c95" /><Relationship Type="http://schemas.openxmlformats.org/officeDocument/2006/relationships/slide" Target="/ppt/slides/slide15.xml" Id="R08d26a5806444df2" /><Relationship Type="http://schemas.openxmlformats.org/officeDocument/2006/relationships/slide" Target="/ppt/slides/slide16.xml" Id="Rbeb341cd11454717" /><Relationship Type="http://schemas.openxmlformats.org/officeDocument/2006/relationships/slide" Target="/ppt/slides/slide17.xml" Id="Re9fb4da3afa444b5" /><Relationship Type="http://schemas.openxmlformats.org/officeDocument/2006/relationships/slide" Target="/ppt/slides/slide18.xml" Id="Ra48a85f51d494092" /><Relationship Type="http://schemas.openxmlformats.org/officeDocument/2006/relationships/slide" Target="/ppt/slides/slide19.xml" Id="Ra4e4d0ff0c744dec" /><Relationship Type="http://schemas.openxmlformats.org/officeDocument/2006/relationships/slide" Target="/ppt/slides/slide20.xml" Id="R8776e939be25425a" /><Relationship Type="http://schemas.openxmlformats.org/officeDocument/2006/relationships/slide" Target="/ppt/slides/slide21.xml" Id="R0f0e86dacb864e52" /><Relationship Type="http://schemas.openxmlformats.org/officeDocument/2006/relationships/slide" Target="/ppt/slides/slide22.xml" Id="R718d3c68cea04b5e" /><Relationship Type="http://schemas.openxmlformats.org/officeDocument/2006/relationships/slide" Target="/ppt/slides/slide23.xml" Id="R2361b9934ea94848" /><Relationship Type="http://schemas.openxmlformats.org/officeDocument/2006/relationships/slide" Target="/ppt/slides/slide24.xml" Id="Rd13137ef920a4830" /><Relationship Type="http://schemas.openxmlformats.org/officeDocument/2006/relationships/slide" Target="/ppt/slides/slide25.xml" Id="R7ead157802b2401b" /><Relationship Type="http://schemas.openxmlformats.org/officeDocument/2006/relationships/slide" Target="/ppt/slides/slide26.xml" Id="Rd7e01af50f364f29" /><Relationship Type="http://schemas.openxmlformats.org/officeDocument/2006/relationships/slide" Target="/ppt/slides/slide27.xml" Id="Rdfde07b08bae412b" /><Relationship Type="http://schemas.openxmlformats.org/officeDocument/2006/relationships/slide" Target="/ppt/slides/slide28.xml" Id="Rbcbc574b10114b3f" /><Relationship Type="http://schemas.openxmlformats.org/officeDocument/2006/relationships/slide" Target="/ppt/slides/slide29.xml" Id="R9a7f9825abe84291" /><Relationship Type="http://schemas.openxmlformats.org/officeDocument/2006/relationships/slide" Target="/ppt/slides/slide30.xml" Id="Rba8fd1ba5ced497e" /><Relationship Type="http://schemas.openxmlformats.org/officeDocument/2006/relationships/slide" Target="/ppt/slides/slide31.xml" Id="Rcd3f34e3da894615" /><Relationship Type="http://schemas.openxmlformats.org/officeDocument/2006/relationships/slide" Target="/ppt/slides/slide32.xml" Id="Rf509309dae5c46b0" /><Relationship Type="http://schemas.openxmlformats.org/officeDocument/2006/relationships/slide" Target="/ppt/slides/slide33.xml" Id="R204bd94038d44e8f" /><Relationship Type="http://schemas.openxmlformats.org/officeDocument/2006/relationships/slide" Target="/ppt/slides/slide34.xml" Id="R0993dc8829944ea0" /><Relationship Type="http://schemas.openxmlformats.org/officeDocument/2006/relationships/slide" Target="/ppt/slides/slide35.xml" Id="R2db74d43c9304893" /><Relationship Type="http://schemas.openxmlformats.org/officeDocument/2006/relationships/slide" Target="/ppt/slides/slide36.xml" Id="R81210e99bca74d96" /><Relationship Type="http://schemas.openxmlformats.org/officeDocument/2006/relationships/slide" Target="/ppt/slides/slide37.xml" Id="R282c0d5ca4064c49" /><Relationship Type="http://schemas.openxmlformats.org/officeDocument/2006/relationships/slide" Target="/ppt/slides/slide38.xml" Id="R3c45e5cfcfa1448a" /><Relationship Type="http://schemas.openxmlformats.org/officeDocument/2006/relationships/slide" Target="/ppt/slides/slide39.xml" Id="Rce1b2602108f492d" /><Relationship Type="http://schemas.openxmlformats.org/officeDocument/2006/relationships/slide" Target="/ppt/slides/slide40.xml" Id="R2c20936aeefe4c98" /><Relationship Type="http://schemas.openxmlformats.org/officeDocument/2006/relationships/slide" Target="/ppt/slides/slide41.xml" Id="R7dcfda730e3e4c0d" /><Relationship Type="http://schemas.openxmlformats.org/officeDocument/2006/relationships/slide" Target="/ppt/slides/slide42.xml" Id="R3b17f0b561f748ba" /><Relationship Type="http://schemas.openxmlformats.org/officeDocument/2006/relationships/slide" Target="/ppt/slides/slide43.xml" Id="Ra6458e79cd7941a2" /><Relationship Type="http://schemas.openxmlformats.org/officeDocument/2006/relationships/slide" Target="/ppt/slides/slide44.xml" Id="R95c30d9a2c4f4c44" /><Relationship Type="http://schemas.openxmlformats.org/officeDocument/2006/relationships/slide" Target="/ppt/slides/slide45.xml" Id="R6a5a0100bfbe4cd6" /><Relationship Type="http://schemas.openxmlformats.org/officeDocument/2006/relationships/slide" Target="/ppt/slides/slide46.xml" Id="R5365380efb694f93" /><Relationship Type="http://schemas.openxmlformats.org/officeDocument/2006/relationships/slide" Target="/ppt/slides/slide47.xml" Id="Raa5fc77421ac4b55" /><Relationship Type="http://schemas.openxmlformats.org/officeDocument/2006/relationships/slide" Target="/ppt/slides/slide48.xml" Id="R629c2b309556438f" /><Relationship Type="http://schemas.openxmlformats.org/officeDocument/2006/relationships/slide" Target="/ppt/slides/slide49.xml" Id="Rd4e93a4a1b6b4193" /><Relationship Type="http://schemas.openxmlformats.org/officeDocument/2006/relationships/slide" Target="/ppt/slides/slide50.xml" Id="Rfaad4eb4bcde469a" /><Relationship Type="http://schemas.openxmlformats.org/officeDocument/2006/relationships/slide" Target="/ppt/slides/slide51.xml" Id="R307737808e804861" /><Relationship Type="http://schemas.openxmlformats.org/officeDocument/2006/relationships/slide" Target="/ppt/slides/slide52.xml" Id="Rb42b5e5138f34186" /><Relationship Type="http://schemas.openxmlformats.org/officeDocument/2006/relationships/slide" Target="/ppt/slides/slide53.xml" Id="Re1c9a267bd7548d7" /><Relationship Type="http://schemas.openxmlformats.org/officeDocument/2006/relationships/slide" Target="/ppt/slides/slide54.xml" Id="R45766b6a4ee84182" /><Relationship Type="http://schemas.openxmlformats.org/officeDocument/2006/relationships/slide" Target="/ppt/slides/slide55.xml" Id="Rf8f67922bcab4717" /><Relationship Type="http://schemas.openxmlformats.org/officeDocument/2006/relationships/slide" Target="/ppt/slides/slide56.xml" Id="Rdb0c2a098693492a" /><Relationship Type="http://schemas.openxmlformats.org/officeDocument/2006/relationships/slide" Target="/ppt/slides/slide57.xml" Id="R4b095b4d78d44958" /><Relationship Type="http://schemas.openxmlformats.org/officeDocument/2006/relationships/slide" Target="/ppt/slides/slide58.xml" Id="Rc47a4015ebc44c84" /><Relationship Type="http://schemas.openxmlformats.org/officeDocument/2006/relationships/slide" Target="/ppt/slides/slide59.xml" Id="Rca026084837d43c0" /><Relationship Type="http://schemas.openxmlformats.org/officeDocument/2006/relationships/slide" Target="/ppt/slides/slide60.xml" Id="R00dc7a885ec046c2" /><Relationship Type="http://schemas.openxmlformats.org/officeDocument/2006/relationships/slide" Target="/ppt/slides/slide61.xml" Id="R29529e4e42aa499e" /><Relationship Type="http://schemas.openxmlformats.org/officeDocument/2006/relationships/slide" Target="/ppt/slides/slide62.xml" Id="Rb805ac118c2743d0" /><Relationship Type="http://schemas.openxmlformats.org/officeDocument/2006/relationships/slide" Target="/ppt/slides/slide63.xml" Id="R14f7631001ac40a3" /><Relationship Type="http://schemas.openxmlformats.org/officeDocument/2006/relationships/slide" Target="/ppt/slides/slide64.xml" Id="R92184597e1124e8b" /><Relationship Type="http://schemas.openxmlformats.org/officeDocument/2006/relationships/slide" Target="/ppt/slides/slide65.xml" Id="Rb92702d6b7b84fbc" /><Relationship Type="http://schemas.openxmlformats.org/officeDocument/2006/relationships/slide" Target="/ppt/slides/slide66.xml" Id="R38b7b090e06340a7" /><Relationship Type="http://schemas.openxmlformats.org/officeDocument/2006/relationships/slide" Target="/ppt/slides/slide67.xml" Id="R80fd751f8f5b4ec1" /><Relationship Type="http://schemas.openxmlformats.org/officeDocument/2006/relationships/slide" Target="/ppt/slides/slide68.xml" Id="Rddcd96672e2b41fa" /><Relationship Type="http://schemas.openxmlformats.org/officeDocument/2006/relationships/slide" Target="/ppt/slides/slide69.xml" Id="Rb399b880e10a4a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76830ae78743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c6656f8927c42ea" /><Relationship Type="http://schemas.openxmlformats.org/officeDocument/2006/relationships/notesMaster" Target="/ppt/notesMasters/notesMaster1.xml" Id="Rcdecbd533e6c48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d1c9883e2a4b0d" /><Relationship Type="http://schemas.openxmlformats.org/officeDocument/2006/relationships/notesMaster" Target="/ppt/notesMasters/notesMaster1.xml" Id="Re10cfecce8f74f67"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3e9f4acd114852" /><Relationship Type="http://schemas.openxmlformats.org/officeDocument/2006/relationships/notesMaster" Target="/ppt/notesMasters/notesMaster1.xml" Id="R09b5ce35469540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f47b47a98847a1" /><Relationship Type="http://schemas.openxmlformats.org/officeDocument/2006/relationships/notesMaster" Target="/ppt/notesMasters/notesMaster1.xml" Id="Rb513c73d0a5245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a4b4802ef243b4" /><Relationship Type="http://schemas.openxmlformats.org/officeDocument/2006/relationships/notesMaster" Target="/ppt/notesMasters/notesMaster1.xml" Id="R0dcb7b03bad74ee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970eb887e184f56" /><Relationship Type="http://schemas.openxmlformats.org/officeDocument/2006/relationships/notesMaster" Target="/ppt/notesMasters/notesMaster1.xml" Id="Re88bf8b6e7f045a2"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da4557898d4c77" /><Relationship Type="http://schemas.openxmlformats.org/officeDocument/2006/relationships/notesMaster" Target="/ppt/notesMasters/notesMaster1.xml" Id="R80a80ae105794a1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0b0159a5944321" /><Relationship Type="http://schemas.openxmlformats.org/officeDocument/2006/relationships/notesMaster" Target="/ppt/notesMasters/notesMaster1.xml" Id="R6451780c4143434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0e2726efdd146dd" /><Relationship Type="http://schemas.openxmlformats.org/officeDocument/2006/relationships/notesMaster" Target="/ppt/notesMasters/notesMaster1.xml" Id="R1b45c113b09947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66eb1fb1b446d5" /><Relationship Type="http://schemas.openxmlformats.org/officeDocument/2006/relationships/notesMaster" Target="/ppt/notesMasters/notesMaster1.xml" Id="R4746b1731d6b43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3ffd3bc4cf7457c" /><Relationship Type="http://schemas.openxmlformats.org/officeDocument/2006/relationships/notesMaster" Target="/ppt/notesMasters/notesMaster1.xml" Id="R29e5db743ac0496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c6c0ccd1e746db" /><Relationship Type="http://schemas.openxmlformats.org/officeDocument/2006/relationships/notesMaster" Target="/ppt/notesMasters/notesMaster1.xml" Id="R54728a97abf54f2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95317b8332547f1" /><Relationship Type="http://schemas.openxmlformats.org/officeDocument/2006/relationships/notesMaster" Target="/ppt/notesMasters/notesMaster1.xml" Id="Rcf0fab85619845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31173a033dd4552" /><Relationship Type="http://schemas.openxmlformats.org/officeDocument/2006/relationships/notesMaster" Target="/ppt/notesMasters/notesMaster1.xml" Id="R5d6939086fdc487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43d3dea8c894c31" /><Relationship Type="http://schemas.openxmlformats.org/officeDocument/2006/relationships/notesMaster" Target="/ppt/notesMasters/notesMaster1.xml" Id="R23e1a1a805bb443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5fc3c69a07a4754" /><Relationship Type="http://schemas.openxmlformats.org/officeDocument/2006/relationships/notesMaster" Target="/ppt/notesMasters/notesMaster1.xml" Id="Rdd9e59a133064ee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f59e97f2d74261" /><Relationship Type="http://schemas.openxmlformats.org/officeDocument/2006/relationships/notesMaster" Target="/ppt/notesMasters/notesMaster1.xml" Id="R2dee90f30a8b4ad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42a138cda13497d" /><Relationship Type="http://schemas.openxmlformats.org/officeDocument/2006/relationships/notesMaster" Target="/ppt/notesMasters/notesMaster1.xml" Id="R8f781059fb9c404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03fc6e976ed4ae0" /><Relationship Type="http://schemas.openxmlformats.org/officeDocument/2006/relationships/notesMaster" Target="/ppt/notesMasters/notesMaster1.xml" Id="R6753460964e545d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5ce56fb82c847f8" /><Relationship Type="http://schemas.openxmlformats.org/officeDocument/2006/relationships/notesMaster" Target="/ppt/notesMasters/notesMaster1.xml" Id="R05a200c63b3a4bd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87c8db7c11840bc" /><Relationship Type="http://schemas.openxmlformats.org/officeDocument/2006/relationships/notesMaster" Target="/ppt/notesMasters/notesMaster1.xml" Id="R8a6974b061de40b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0f63d7a436345df" /><Relationship Type="http://schemas.openxmlformats.org/officeDocument/2006/relationships/notesMaster" Target="/ppt/notesMasters/notesMaster1.xml" Id="R98f4f99edd384f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4bb9dadeaf84dbd" /><Relationship Type="http://schemas.openxmlformats.org/officeDocument/2006/relationships/notesMaster" Target="/ppt/notesMasters/notesMaster1.xml" Id="Rbf6396009d2b485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40258013ca4680" /><Relationship Type="http://schemas.openxmlformats.org/officeDocument/2006/relationships/notesMaster" Target="/ppt/notesMasters/notesMaster1.xml" Id="Rf6805878df8d4bc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3a0b4604cdd4e4c" /><Relationship Type="http://schemas.openxmlformats.org/officeDocument/2006/relationships/notesMaster" Target="/ppt/notesMasters/notesMaster1.xml" Id="R07526c2371c24f4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16e4e148ac445d3" /><Relationship Type="http://schemas.openxmlformats.org/officeDocument/2006/relationships/notesMaster" Target="/ppt/notesMasters/notesMaster1.xml" Id="R575cfd3193a24a6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ed5febffcfb4ec8" /><Relationship Type="http://schemas.openxmlformats.org/officeDocument/2006/relationships/notesMaster" Target="/ppt/notesMasters/notesMaster1.xml" Id="R01bb804a288a4f9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54a757085174908" /><Relationship Type="http://schemas.openxmlformats.org/officeDocument/2006/relationships/notesMaster" Target="/ppt/notesMasters/notesMaster1.xml" Id="R71c4e849813e419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2f7bdf55fcc4512" /><Relationship Type="http://schemas.openxmlformats.org/officeDocument/2006/relationships/notesMaster" Target="/ppt/notesMasters/notesMaster1.xml" Id="R627e196880a4446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8225bcd58d24c1f" /><Relationship Type="http://schemas.openxmlformats.org/officeDocument/2006/relationships/notesMaster" Target="/ppt/notesMasters/notesMaster1.xml" Id="R257eff1844ce4cb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986be54278c4fd1" /><Relationship Type="http://schemas.openxmlformats.org/officeDocument/2006/relationships/notesMaster" Target="/ppt/notesMasters/notesMaster1.xml" Id="R1a7237f0bc2a4e6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1f249acf15b4beb" /><Relationship Type="http://schemas.openxmlformats.org/officeDocument/2006/relationships/notesMaster" Target="/ppt/notesMasters/notesMaster1.xml" Id="R7c7309d9dac64bc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bf1f8b4e14e4ab4" /><Relationship Type="http://schemas.openxmlformats.org/officeDocument/2006/relationships/notesMaster" Target="/ppt/notesMasters/notesMaster1.xml" Id="R8f647e5b40ae45f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bb888cf01c947bc" /><Relationship Type="http://schemas.openxmlformats.org/officeDocument/2006/relationships/notesMaster" Target="/ppt/notesMasters/notesMaster1.xml" Id="R68e8e8649ff44d7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102673279f04e1a" /><Relationship Type="http://schemas.openxmlformats.org/officeDocument/2006/relationships/notesMaster" Target="/ppt/notesMasters/notesMaster1.xml" Id="R0f8d5008478c47b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160e1ee2ef5421a" /><Relationship Type="http://schemas.openxmlformats.org/officeDocument/2006/relationships/notesMaster" Target="/ppt/notesMasters/notesMaster1.xml" Id="R53ad75cdb7a346d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fd47f81f2fe4671" /><Relationship Type="http://schemas.openxmlformats.org/officeDocument/2006/relationships/notesMaster" Target="/ppt/notesMasters/notesMaster1.xml" Id="Ref742d7dd34f494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6f02cac7e664889" /><Relationship Type="http://schemas.openxmlformats.org/officeDocument/2006/relationships/notesMaster" Target="/ppt/notesMasters/notesMaster1.xml" Id="R320a4d932068488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d1dcaa9cd314726" /><Relationship Type="http://schemas.openxmlformats.org/officeDocument/2006/relationships/notesMaster" Target="/ppt/notesMasters/notesMaster1.xml" Id="R88c6564e198c478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e03d11766934fe4" /><Relationship Type="http://schemas.openxmlformats.org/officeDocument/2006/relationships/notesMaster" Target="/ppt/notesMasters/notesMaster1.xml" Id="Rdf694f21ab69436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3766c5bc1b240d8" /><Relationship Type="http://schemas.openxmlformats.org/officeDocument/2006/relationships/notesMaster" Target="/ppt/notesMasters/notesMaster1.xml" Id="R105f0bc96987477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656cf2c6a614a3b" /><Relationship Type="http://schemas.openxmlformats.org/officeDocument/2006/relationships/notesMaster" Target="/ppt/notesMasters/notesMaster1.xml" Id="R55e1023b2fb9452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76ff1962bf04028" /><Relationship Type="http://schemas.openxmlformats.org/officeDocument/2006/relationships/notesMaster" Target="/ppt/notesMasters/notesMaster1.xml" Id="Rd73f862a6c09425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59a7515ab1c4e08" /><Relationship Type="http://schemas.openxmlformats.org/officeDocument/2006/relationships/notesMaster" Target="/ppt/notesMasters/notesMaster1.xml" Id="R73ba317c1cd446c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ceeff3895d74c32" /><Relationship Type="http://schemas.openxmlformats.org/officeDocument/2006/relationships/notesMaster" Target="/ppt/notesMasters/notesMaster1.xml" Id="Rf8a157437b7d423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604487e64ff4053" /><Relationship Type="http://schemas.openxmlformats.org/officeDocument/2006/relationships/notesMaster" Target="/ppt/notesMasters/notesMaster1.xml" Id="Raf11ff22c767481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0c319b93940f47e1" /><Relationship Type="http://schemas.openxmlformats.org/officeDocument/2006/relationships/notesMaster" Target="/ppt/notesMasters/notesMaster1.xml" Id="Ra819d2e4196c4a4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2cbcae721fb43a1" /><Relationship Type="http://schemas.openxmlformats.org/officeDocument/2006/relationships/notesMaster" Target="/ppt/notesMasters/notesMaster1.xml" Id="R2d1c4e7b750b453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5bd5e7bdcb54f92" /><Relationship Type="http://schemas.openxmlformats.org/officeDocument/2006/relationships/notesMaster" Target="/ppt/notesMasters/notesMaster1.xml" Id="R04ebb00ee52f418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21eee3ff681490d" /><Relationship Type="http://schemas.openxmlformats.org/officeDocument/2006/relationships/notesMaster" Target="/ppt/notesMasters/notesMaster1.xml" Id="Rc226607af0e9423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d9c551107794932" /><Relationship Type="http://schemas.openxmlformats.org/officeDocument/2006/relationships/notesMaster" Target="/ppt/notesMasters/notesMaster1.xml" Id="R79054862c03f4c7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cc5e54564e74cbd" /><Relationship Type="http://schemas.openxmlformats.org/officeDocument/2006/relationships/notesMaster" Target="/ppt/notesMasters/notesMaster1.xml" Id="Rf6ccfcb3db50486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f9aaaa6cdcc4946" /><Relationship Type="http://schemas.openxmlformats.org/officeDocument/2006/relationships/notesMaster" Target="/ppt/notesMasters/notesMaster1.xml" Id="R2990275f5e594f2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eb0d328addd4cdf" /><Relationship Type="http://schemas.openxmlformats.org/officeDocument/2006/relationships/notesMaster" Target="/ppt/notesMasters/notesMaster1.xml" Id="R608a7303b766442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3496731f2ad4433" /><Relationship Type="http://schemas.openxmlformats.org/officeDocument/2006/relationships/notesMaster" Target="/ppt/notesMasters/notesMaster1.xml" Id="R001a01b5374041a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0e07b93ae4b49f7" /><Relationship Type="http://schemas.openxmlformats.org/officeDocument/2006/relationships/notesMaster" Target="/ppt/notesMasters/notesMaster1.xml" Id="Rf653c16d3b6a4b6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48709408e964a0a" /><Relationship Type="http://schemas.openxmlformats.org/officeDocument/2006/relationships/notesMaster" Target="/ppt/notesMasters/notesMaster1.xml" Id="R4d90bb9ba318493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2580d69e59b46d5" /><Relationship Type="http://schemas.openxmlformats.org/officeDocument/2006/relationships/notesMaster" Target="/ppt/notesMasters/notesMaster1.xml" Id="Re6457823ba7f4c5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3a6bfff129942f8" /><Relationship Type="http://schemas.openxmlformats.org/officeDocument/2006/relationships/notesMaster" Target="/ppt/notesMasters/notesMaster1.xml" Id="R7773e483d1924d1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d8ec790878a4b0c" /><Relationship Type="http://schemas.openxmlformats.org/officeDocument/2006/relationships/notesMaster" Target="/ppt/notesMasters/notesMaster1.xml" Id="R90fde4bb80404e0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71bed6dbeb94cfb" /><Relationship Type="http://schemas.openxmlformats.org/officeDocument/2006/relationships/notesMaster" Target="/ppt/notesMasters/notesMaster1.xml" Id="Rdc76934ec2114a0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5933c308b274abb" /><Relationship Type="http://schemas.openxmlformats.org/officeDocument/2006/relationships/notesMaster" Target="/ppt/notesMasters/notesMaster1.xml" Id="R23c8a8a4710e4f9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229e016775c40b0" /><Relationship Type="http://schemas.openxmlformats.org/officeDocument/2006/relationships/notesMaster" Target="/ppt/notesMasters/notesMaster1.xml" Id="R1b9de7a233104bf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79e3b58183f4c4e" /><Relationship Type="http://schemas.openxmlformats.org/officeDocument/2006/relationships/notesMaster" Target="/ppt/notesMasters/notesMaster1.xml" Id="R5e6d7853627d435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b10b6183dd34a14" /><Relationship Type="http://schemas.openxmlformats.org/officeDocument/2006/relationships/notesMaster" Target="/ppt/notesMasters/notesMaster1.xml" Id="R53c142313534472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13f9ca4b6ac46a4" /><Relationship Type="http://schemas.openxmlformats.org/officeDocument/2006/relationships/notesMaster" Target="/ppt/notesMasters/notesMaster1.xml" Id="Re218e217b4e0471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2a6d4e30076489d" /><Relationship Type="http://schemas.openxmlformats.org/officeDocument/2006/relationships/notesMaster" Target="/ppt/notesMasters/notesMaster1.xml" Id="R10ecb58a248d47c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0a60e96d2724b52" /><Relationship Type="http://schemas.openxmlformats.org/officeDocument/2006/relationships/notesMaster" Target="/ppt/notesMasters/notesMaster1.xml" Id="R8929d3bf015e4abc"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c1226a914cd4d8e" /><Relationship Type="http://schemas.openxmlformats.org/officeDocument/2006/relationships/notesMaster" Target="/ppt/notesMasters/notesMaster1.xml" Id="Rf17ebf9de6ba45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first prediction model</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A first prediction model.</a:t>
            </a:r>
          </a:p>
          <a:p xmlns:a="http://schemas.openxmlformats.org/drawingml/2006/main">
            <a:r>
              <a:t/>
            </a:r>
          </a:p>
          <a:p xmlns:a="http://schemas.openxmlformats.org/drawingml/2006/main">
            <a:r>
              <a:t>EXPLAIN</a:t>
            </a:r>
          </a:p>
          <a:p xmlns:a="http://schemas.openxmlformats.org/drawingml/2006/main">
            <a:r>
              <a:t>Identify prediction inputs and a measured target.</a:t>
            </a:r>
          </a:p>
          <a:p xmlns:a="http://schemas.openxmlformats.org/drawingml/2006/main">
            <a:r>
              <a:t/>
            </a:r>
          </a:p>
          <a:p xmlns:a="http://schemas.openxmlformats.org/drawingml/2006/main">
            <a:r>
              <a:t>Fit a simple model and compare prediction errors.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Deriving least squares, leaderboard competition, many residual plots and coefficient inference are reference. R² may be negative and is not an accuracy percentage.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Weeks 3–6 supplied Python, tables, cleaning and charts. We now use paired inputs and known answers to fit a prediction rule.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regression model predicts a numerical engineering target from measurements available beforehand. The small invented data explain the code; they do not establish real-world accuracy.</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numerical prediction.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numerical prediction</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Regression predicts a number, such as cooling load in kW.</a:t>
            </a:r>
          </a:p>
          <a:p xmlns:a="http://schemas.openxmlformats.org/drawingml/2006/main">
            <a:r>
              <a:t/>
            </a:r>
          </a:p>
          <a:p xmlns:a="http://schemas.openxmlformats.org/drawingml/2006/main">
            <a:r>
              <a:t>A feature is information available when predicting.</a:t>
            </a:r>
          </a:p>
          <a:p xmlns:a="http://schemas.openxmlformats.org/drawingml/2006/main">
            <a:r>
              <a:t/>
            </a:r>
          </a:p>
          <a:p xmlns:a="http://schemas.openxmlformats.org/drawingml/2006/main">
            <a:r>
              <a:t>The target is the measured answer used during training.</a:t>
            </a:r>
          </a:p>
          <a:p xmlns:a="http://schemas.openxmlformats.org/drawingml/2006/main">
            <a:r>
              <a:t/>
            </a:r>
          </a:p>
          <a:p xmlns:a="http://schemas.openxmlformats.org/drawingml/2006/main">
            <a:r>
              <a:t>Classification, next week, predicts a category.</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Feature and target and Training validation and test.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and target and Training validation and test</a:t>
            </a:r>
          </a:p>
          <a:p xmlns:a="http://schemas.openxmlformats.org/drawingml/2006/main">
            <a:r>
              <a:t/>
            </a:r>
          </a:p>
          <a:p xmlns:a="http://schemas.openxmlformats.org/drawingml/2006/main">
            <a:r>
              <a:t>CONNECT</a:t>
            </a:r>
          </a:p>
          <a:p xmlns:a="http://schemas.openxmlformats.org/drawingml/2006/main">
            <a:r>
              <a:t>Previous slide: A numerical prediction.</a:t>
            </a:r>
          </a:p>
          <a:p xmlns:a="http://schemas.openxmlformats.org/drawingml/2006/main">
            <a:r>
              <a:t/>
            </a:r>
          </a:p>
          <a:p xmlns:a="http://schemas.openxmlformats.org/drawingml/2006/main">
            <a:r>
              <a:t>EXPLAIN</a:t>
            </a:r>
          </a:p>
          <a:p xmlns:a="http://schemas.openxmlformats.org/drawingml/2006/main">
            <a:r>
              <a:t>Feature and target: Features are inputs available when making a prediction. The target is the quantity we want to predict.</a:t>
            </a:r>
          </a:p>
          <a:p xmlns:a="http://schemas.openxmlformats.org/drawingml/2006/main">
            <a:r>
              <a:t/>
            </a:r>
          </a:p>
          <a:p xmlns:a="http://schemas.openxmlformats.org/drawingml/2006/main">
            <a:r>
              <a:t>Training validation and test: Training fits the model. Validation helps choose it. The final test estimates performance after choices are fixed. Repeated equipment must stay in the same partition when assessing unseen equipment.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Baseline.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Baseline</a:t>
            </a:r>
          </a:p>
          <a:p xmlns:a="http://schemas.openxmlformats.org/drawingml/2006/main">
            <a:r>
              <a:t/>
            </a:r>
          </a:p>
          <a:p xmlns:a="http://schemas.openxmlformats.org/drawingml/2006/main">
            <a:r>
              <a:t>CONNECT</a:t>
            </a:r>
          </a:p>
          <a:p xmlns:a="http://schemas.openxmlformats.org/drawingml/2006/main">
            <a:r>
              <a:t>Previous slide: Feature and target and Training validation and test.</a:t>
            </a:r>
          </a:p>
          <a:p xmlns:a="http://schemas.openxmlformats.org/drawingml/2006/main">
            <a:r>
              <a:t/>
            </a:r>
          </a:p>
          <a:p xmlns:a="http://schemas.openxmlformats.org/drawingml/2006/main">
            <a:r>
              <a:t>EXPLAIN</a:t>
            </a:r>
          </a:p>
          <a:p xmlns:a="http://schemas.openxmlformats.org/drawingml/2006/main">
            <a:r>
              <a:t>Baseline: A simple reference prediction. A training-mean baseline predicts the same training mean for every new example.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Linear model and tree.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Linear model and tree</a:t>
            </a:r>
          </a:p>
          <a:p xmlns:a="http://schemas.openxmlformats.org/drawingml/2006/main">
            <a:r>
              <a:t/>
            </a:r>
          </a:p>
          <a:p xmlns:a="http://schemas.openxmlformats.org/drawingml/2006/main">
            <a:r>
              <a:t>CONNECT</a:t>
            </a:r>
          </a:p>
          <a:p xmlns:a="http://schemas.openxmlformats.org/drawingml/2006/main">
            <a:r>
              <a:t>Previous slide: Baseline.</a:t>
            </a:r>
          </a:p>
          <a:p xmlns:a="http://schemas.openxmlformats.org/drawingml/2006/main">
            <a:r>
              <a:t/>
            </a:r>
          </a:p>
          <a:p xmlns:a="http://schemas.openxmlformats.org/drawingml/2006/main">
            <a:r>
              <a:t>EXPLAIN</a:t>
            </a:r>
          </a:p>
          <a:p xmlns:a="http://schemas.openxmlformats.org/drawingml/2006/main">
            <a:r>
              <a:t>Linear model and tree: A linear model combines inputs with learned weights. A regression tree asks feature-threshold questions and predicts a value at each leaf.</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What learning means in this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learning means in this example</a:t>
            </a:r>
          </a:p>
          <a:p xmlns:a="http://schemas.openxmlformats.org/drawingml/2006/main">
            <a:r>
              <a:t/>
            </a:r>
          </a:p>
          <a:p xmlns:a="http://schemas.openxmlformats.org/drawingml/2006/main">
            <a:r>
              <a:t>CONNECT</a:t>
            </a:r>
          </a:p>
          <a:p xmlns:a="http://schemas.openxmlformats.org/drawingml/2006/main">
            <a:r>
              <a:t>Previous slide: Linear model and tree.</a:t>
            </a:r>
          </a:p>
          <a:p xmlns:a="http://schemas.openxmlformats.org/drawingml/2006/main">
            <a:r>
              <a:t/>
            </a:r>
          </a:p>
          <a:p xmlns:a="http://schemas.openxmlformats.org/drawingml/2006/main">
            <a:r>
              <a:t>EXPLAIN</a:t>
            </a:r>
          </a:p>
          <a:p xmlns:a="http://schemas.openxmlformats.org/drawingml/2006/main">
            <a:r>
              <a:t>Training supplies inputs and their known answers.</a:t>
            </a:r>
          </a:p>
          <a:p xmlns:a="http://schemas.openxmlformats.org/drawingml/2006/main">
            <a:r>
              <a:t/>
            </a:r>
          </a:p>
          <a:p xmlns:a="http://schemas.openxmlformats.org/drawingml/2006/main">
            <a:r>
              <a:t>The model uses those examples to choose its internal numbers.</a:t>
            </a:r>
          </a:p>
          <a:p xmlns:a="http://schemas.openxmlformats.org/drawingml/2006/main">
            <a:r>
              <a:t/>
            </a:r>
          </a:p>
          <a:p xmlns:a="http://schemas.openxmlformats.org/drawingml/2006/main">
            <a:r>
              <a:t>Prediction applies the fitted model to inputs whose answer we want to estimate.</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Training observations.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observations</a:t>
            </a:r>
          </a:p>
          <a:p xmlns:a="http://schemas.openxmlformats.org/drawingml/2006/main">
            <a:r>
              <a:t/>
            </a:r>
          </a:p>
          <a:p xmlns:a="http://schemas.openxmlformats.org/drawingml/2006/main">
            <a:r>
              <a:t>CONNECT</a:t>
            </a:r>
          </a:p>
          <a:p xmlns:a="http://schemas.openxmlformats.org/drawingml/2006/main">
            <a:r>
              <a:t>Previous slide: What learning means in this example.</a:t>
            </a:r>
          </a:p>
          <a:p xmlns:a="http://schemas.openxmlformats.org/drawingml/2006/main">
            <a:r>
              <a:t/>
            </a:r>
          </a:p>
          <a:p xmlns:a="http://schemas.openxmlformats.org/drawingml/2006/main">
            <a:r>
              <a:t>EXPLAIN</a:t>
            </a:r>
          </a:p>
          <a:p xmlns:a="http://schemas.openxmlformats.org/drawingml/2006/main">
            <a:r>
              <a:t>Input | Measured target</a:t>
            </a:r>
          </a:p>
          <a:p xmlns:a="http://schemas.openxmlformats.org/drawingml/2006/main">
            <a:r>
              <a:t/>
            </a:r>
          </a:p>
          <a:p xmlns:a="http://schemas.openxmlformats.org/drawingml/2006/main">
            <a:r>
              <a:t>1 | 12</a:t>
            </a:r>
          </a:p>
          <a:p xmlns:a="http://schemas.openxmlformats.org/drawingml/2006/main">
            <a:r>
              <a:t/>
            </a:r>
          </a:p>
          <a:p xmlns:a="http://schemas.openxmlformats.org/drawingml/2006/main">
            <a:r>
              <a:t>2 | 14</a:t>
            </a:r>
          </a:p>
          <a:p xmlns:a="http://schemas.openxmlformats.org/drawingml/2006/main">
            <a:r>
              <a:t/>
            </a:r>
          </a:p>
          <a:p xmlns:a="http://schemas.openxmlformats.org/drawingml/2006/main">
            <a:r>
              <a:t>3 | 16</a:t>
            </a:r>
          </a:p>
          <a:p xmlns:a="http://schemas.openxmlformats.org/drawingml/2006/main">
            <a:r>
              <a:t/>
            </a:r>
          </a:p>
          <a:p xmlns:a="http://schemas.openxmlformats.org/drawingml/2006/main">
            <a:r>
              <a:t>4 | 18</a:t>
            </a:r>
          </a:p>
          <a:p xmlns:a="http://schemas.openxmlformats.org/drawingml/2006/main">
            <a:r>
              <a:t/>
            </a:r>
          </a:p>
          <a:p xmlns:a="http://schemas.openxmlformats.org/drawingml/2006/main">
            <a:r>
              <a:t>Invented numbers for learning.</a:t>
            </a:r>
          </a:p>
          <a:p xmlns:a="http://schemas.openxmlformats.org/drawingml/2006/main">
            <a:r>
              <a:t/>
            </a:r>
          </a:p>
          <a:p xmlns:a="http://schemas.openxmlformats.org/drawingml/2006/main">
            <a:r>
              <a:t>LECTURER CUE</a:t>
            </a:r>
          </a:p>
          <a:p xmlns:a="http://schemas.openxmlformats.org/drawingml/2006/main">
            <a:r>
              <a:t>Invented numbers for learning. The fitted line predicts 15 at input 2.5. The training mean is also 15 at this one example, so it cannot establish superiority.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fitted line is a numerical rule.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fitted line is a numerical rule</a:t>
            </a:r>
          </a:p>
          <a:p xmlns:a="http://schemas.openxmlformats.org/drawingml/2006/main">
            <a:r>
              <a:t/>
            </a:r>
          </a:p>
          <a:p xmlns:a="http://schemas.openxmlformats.org/drawingml/2006/main">
            <a:r>
              <a:t>CONNECT</a:t>
            </a:r>
          </a:p>
          <a:p xmlns:a="http://schemas.openxmlformats.org/drawingml/2006/main">
            <a:r>
              <a:t>Previous slide: Training observations.</a:t>
            </a:r>
          </a:p>
          <a:p xmlns:a="http://schemas.openxmlformats.org/drawingml/2006/main">
            <a:r>
              <a:t/>
            </a:r>
          </a:p>
          <a:p xmlns:a="http://schemas.openxmlformats.org/drawingml/2006/main">
            <a:r>
              <a:t>EXPLAIN</a:t>
            </a:r>
          </a:p>
          <a:p xmlns:a="http://schemas.openxmlformats.org/drawingml/2006/main">
            <a:r>
              <a:t>For these invented observations, target = 2 × input + 10 matches all four points. 2 is the slope; 10 is the intercept, the value at input zero.</a:t>
            </a:r>
          </a:p>
          <a:p xmlns:a="http://schemas.openxmlformats.org/drawingml/2006/main">
            <a:r>
              <a:t/>
            </a:r>
          </a:p>
          <a:p xmlns:a="http://schemas.openxmlformats.org/drawingml/2006/main">
            <a:r>
              <a:t>A prediction error is the difference between a prediction and the measured answer. A vertical gap in the picture shows that error.</a:t>
            </a:r>
          </a:p>
          <a:p xmlns:a="http://schemas.openxmlformats.org/drawingml/2006/main">
            <a:r>
              <a:t/>
            </a:r>
          </a:p>
          <a:p xmlns:a="http://schemas.openxmlformats.org/drawingml/2006/main">
            <a:r>
              <a:t>Fitting chooses the slope and intercept to minimise summed squared errors. Squaring means multiplying an error by itself; a small training error still needs an unseen-data check.</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Fitting a line to observations.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Fitting a line to observations</a:t>
            </a:r>
          </a:p>
          <a:p xmlns:a="http://schemas.openxmlformats.org/drawingml/2006/main">
            <a:r>
              <a:t/>
            </a:r>
          </a:p>
          <a:p xmlns:a="http://schemas.openxmlformats.org/drawingml/2006/main">
            <a:r>
              <a:t>CONNECT</a:t>
            </a:r>
          </a:p>
          <a:p xmlns:a="http://schemas.openxmlformats.org/drawingml/2006/main">
            <a:r>
              <a:t>Previous slide: A fitted line is a numerical rule.</a:t>
            </a:r>
          </a:p>
          <a:p xmlns:a="http://schemas.openxmlformats.org/drawingml/2006/main">
            <a:r>
              <a:t/>
            </a:r>
          </a:p>
          <a:p xmlns:a="http://schemas.openxmlformats.org/drawingml/2006/main">
            <a:r>
              <a:t>EXPLAIN</a:t>
            </a:r>
          </a:p>
          <a:p xmlns:a="http://schemas.openxmlformats.org/drawingml/2006/main">
            <a:r>
              <a:t>The fitted line minimises the sum of squared vertical errors.</a:t>
            </a:r>
          </a:p>
          <a:p xmlns:a="http://schemas.openxmlformats.org/drawingml/2006/main">
            <a:r>
              <a:t/>
            </a:r>
          </a:p>
          <a:p xmlns:a="http://schemas.openxmlformats.org/drawingml/2006/main">
            <a:r>
              <a:t>LECTURER CUE</a:t>
            </a:r>
          </a:p>
          <a:p xmlns:a="http://schemas.openxmlformats.org/drawingml/2006/main">
            <a:r>
              <a:t>These are illustrative concrete observations. Point to x, y, one prediction and one residual. A unique slope requires variation in x. A low training error alone does not show generalisation.</a:t>
            </a:r>
          </a:p>
          <a:p xmlns:a="http://schemas.openxmlformats.org/drawingml/2006/main">
            <a:r>
              <a:t>Source: existing course illustration figs/fit_by_eye.png.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must stay paired with their answers.</a:t>
            </a:r>
          </a:p>
          <a:p xmlns:a="http://schemas.openxmlformats.org/drawingml/2006/main">
            <a:r>
              <a:t/>
            </a:r>
          </a:p>
          <a:p xmlns:a="http://schemas.openxmlformats.org/drawingml/2006/main">
            <a:r>
              <a:t>REFERENCES</a:t>
            </a:r>
          </a:p>
          <a:p xmlns:a="http://schemas.openxmlformats.org/drawingml/2006/main">
            <a:r>
              <a:t>Source: existing course illustration figs/fit_by_eye.png.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must stay paired with their answers</a:t>
            </a:r>
          </a:p>
          <a:p xmlns:a="http://schemas.openxmlformats.org/drawingml/2006/main">
            <a:r>
              <a:t/>
            </a:r>
          </a:p>
          <a:p xmlns:a="http://schemas.openxmlformats.org/drawingml/2006/main">
            <a:r>
              <a:t>CONNECT</a:t>
            </a:r>
          </a:p>
          <a:p xmlns:a="http://schemas.openxmlformats.org/drawingml/2006/main">
            <a:r>
              <a:t>Previous slide: Fitting a line to observations.</a:t>
            </a:r>
          </a:p>
          <a:p xmlns:a="http://schemas.openxmlformats.org/drawingml/2006/main">
            <a:r>
              <a:t/>
            </a:r>
          </a:p>
          <a:p xmlns:a="http://schemas.openxmlformats.org/drawingml/2006/main">
            <a:r>
              <a:t>EXPLAIN</a:t>
            </a:r>
          </a:p>
          <a:p xmlns:a="http://schemas.openxmlformats.org/drawingml/2006/main">
            <a:r>
              <a:t>Each inner list in X_train is one observation.</a:t>
            </a:r>
          </a:p>
          <a:p xmlns:a="http://schemas.openxmlformats.org/drawingml/2006/main">
            <a:r>
              <a:t/>
            </a:r>
          </a:p>
          <a:p xmlns:a="http://schemas.openxmlformats.org/drawingml/2006/main">
            <a:r>
              <a:t>y_train contains one target value for each row, in the same order.</a:t>
            </a:r>
          </a:p>
          <a:p xmlns:a="http://schemas.openxmlformats.org/drawingml/2006/main">
            <a:r>
              <a:t/>
            </a:r>
          </a:p>
          <a:p xmlns:a="http://schemas.openxmlformats.org/drawingml/2006/main">
            <a:r>
              <a:t>Changing the order of only one list attaches answers to the wrong observations.</a:t>
            </a:r>
          </a:p>
          <a:p xmlns:a="http://schemas.openxmlformats.org/drawingml/2006/main">
            <a:r>
              <a:t/>
            </a:r>
          </a:p>
          <a:p xmlns:a="http://schemas.openxmlformats.org/drawingml/2006/main">
            <a:r>
              <a:t>LECTURER CUE</a:t>
            </a:r>
          </a:p>
          <a:p xmlns:a="http://schemas.openxmlformats.org/drawingml/2006/main">
            <a:r>
              <a:t>A list of lists is a table: each inner list holds the features of one observation. y_train holds one target per training row in the same order. Never reorder one without the other.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matrix is a rectangular table of numbers.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matrix is a rectangular table of numbers</a:t>
            </a:r>
          </a:p>
          <a:p xmlns:a="http://schemas.openxmlformats.org/drawingml/2006/main">
            <a:r>
              <a:t/>
            </a:r>
          </a:p>
          <a:p xmlns:a="http://schemas.openxmlformats.org/drawingml/2006/main">
            <a:r>
              <a:t>CONNECT</a:t>
            </a:r>
          </a:p>
          <a:p xmlns:a="http://schemas.openxmlformats.org/drawingml/2006/main">
            <a:r>
              <a:t>Previous slide: Rows must stay paired with their answers.</a:t>
            </a:r>
          </a:p>
          <a:p xmlns:a="http://schemas.openxmlformats.org/drawingml/2006/main">
            <a:r>
              <a:t/>
            </a:r>
          </a:p>
          <a:p xmlns:a="http://schemas.openxmlformats.org/drawingml/2006/main">
            <a:r>
              <a:t>EXPLAIN</a:t>
            </a:r>
          </a:p>
          <a:p xmlns:a="http://schemas.openxmlformats.org/drawingml/2006/main">
            <a:r>
              <a:t>A matrix has rows and columns. For modelling, one row is one observation and each column is one input feature.</a:t>
            </a:r>
          </a:p>
          <a:p xmlns:a="http://schemas.openxmlformats.org/drawingml/2006/main">
            <a:r>
              <a:t/>
            </a:r>
          </a:p>
          <a:p xmlns:a="http://schemas.openxmlformats.org/drawingml/2006/main">
            <a:r>
              <a:t>[[1, 20], [2, 22]] has two rows and two columns. The outer list contains rows; each inner list contains that row’s features.</a:t>
            </a:r>
          </a:p>
          <a:p xmlns:a="http://schemas.openxmlformats.org/drawingml/2006/main">
            <a:r>
              <a:t/>
            </a:r>
          </a:p>
          <a:p xmlns:a="http://schemas.openxmlformats.org/drawingml/2006/main">
            <a:r>
              <a:t>X is a conventional name for this input table. y holds one known target per row. These names have no special power in Python.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and arrays before model code.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and arrays before model code</a:t>
            </a:r>
          </a:p>
          <a:p xmlns:a="http://schemas.openxmlformats.org/drawingml/2006/main">
            <a:r>
              <a:t/>
            </a:r>
          </a:p>
          <a:p xmlns:a="http://schemas.openxmlformats.org/drawingml/2006/main">
            <a:r>
              <a:t>CONNECT</a:t>
            </a:r>
          </a:p>
          <a:p xmlns:a="http://schemas.openxmlformats.org/drawingml/2006/main">
            <a:r>
              <a:t>Previous slide: A matrix is a rectangular table of numbers.</a:t>
            </a:r>
          </a:p>
          <a:p xmlns:a="http://schemas.openxmlformats.org/drawingml/2006/main">
            <a:r>
              <a:t/>
            </a:r>
          </a:p>
          <a:p xmlns:a="http://schemas.openxmlformats.org/drawingml/2006/main">
            <a:r>
              <a:t>EXPLAIN</a:t>
            </a:r>
          </a:p>
          <a:p xmlns:a="http://schemas.openxmlformats.org/drawingml/2006/main">
            <a:r>
              <a:t>Nested lists: [[1], [2], [3]] has three inner lists: three rows with one feature each. [12, 14, 16] has one target per row in the same order.</a:t>
            </a:r>
          </a:p>
          <a:p xmlns:a="http://schemas.openxmlformats.org/drawingml/2006/main">
            <a:r>
              <a:t/>
            </a:r>
          </a:p>
          <a:p xmlns:a="http://schemas.openxmlformats.org/drawingml/2006/main">
            <a:r>
              <a:t>NumPy and array: NumPy is a numerical library; np is its short imported name. np.array(...) builds an array. shape reports its dimensions. np.nan represents a missing numerical value.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NumPy results.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NumPy results</a:t>
            </a:r>
          </a:p>
          <a:p xmlns:a="http://schemas.openxmlformats.org/drawingml/2006/main">
            <a:r>
              <a:t/>
            </a:r>
          </a:p>
          <a:p xmlns:a="http://schemas.openxmlformats.org/drawingml/2006/main">
            <a:r>
              <a:t>CONNECT</a:t>
            </a:r>
          </a:p>
          <a:p xmlns:a="http://schemas.openxmlformats.org/drawingml/2006/main">
            <a:r>
              <a:t>Previous slide: Rows and arrays before model code.</a:t>
            </a:r>
          </a:p>
          <a:p xmlns:a="http://schemas.openxmlformats.org/drawingml/2006/main">
            <a:r>
              <a:t/>
            </a:r>
          </a:p>
          <a:p xmlns:a="http://schemas.openxmlformats.org/drawingml/2006/main">
            <a:r>
              <a:t>EXPLAIN</a:t>
            </a:r>
          </a:p>
          <a:p xmlns:a="http://schemas.openxmlformats.org/drawingml/2006/main">
            <a:r>
              <a:t>Expression | Meaning</a:t>
            </a:r>
          </a:p>
          <a:p xmlns:a="http://schemas.openxmlformats.org/drawingml/2006/main">
            <a:r>
              <a:t/>
            </a:r>
          </a:p>
          <a:p xmlns:a="http://schemas.openxmlformats.org/drawingml/2006/main">
            <a:r>
              <a:t>np.nan | A missing numeric value marker</a:t>
            </a:r>
          </a:p>
          <a:p xmlns:a="http://schemas.openxmlformats.org/drawingml/2006/main">
            <a:r>
              <a:t/>
            </a:r>
          </a:p>
          <a:p xmlns:a="http://schemas.openxmlformats.org/drawingml/2006/main">
            <a:r>
              <a:t>X.shape | The array dimensions: rows, columns</a:t>
            </a:r>
          </a:p>
          <a:p xmlns:a="http://schemas.openxmlformats.org/drawingml/2006/main">
            <a:r>
              <a:t/>
            </a:r>
          </a:p>
          <a:p xmlns:a="http://schemas.openxmlformats.org/drawingml/2006/main">
            <a:r>
              <a:t>predictions.round(2) | Round a new array to two decimal places</a:t>
            </a:r>
          </a:p>
          <a:p xmlns:a="http://schemas.openxmlformats.org/drawingml/2006/main">
            <a:r>
              <a:t/>
            </a:r>
          </a:p>
          <a:p xmlns:a="http://schemas.openxmlformats.org/drawingml/2006/main">
            <a:r>
              <a:t>predictions.tolist() | Convert the array into a Python list</a:t>
            </a:r>
          </a:p>
          <a:p xmlns:a="http://schemas.openxmlformats.org/drawingml/2006/main">
            <a:r>
              <a:t/>
            </a:r>
          </a:p>
          <a:p xmlns:a="http://schemas.openxmlformats.org/drawingml/2006/main">
            <a:r>
              <a:t>Use rounded values only for a labelled display. Keep full precision when the assignment requires it.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Create an array before reading its shape.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Create an array before reading its shape</a:t>
            </a:r>
          </a:p>
          <a:p xmlns:a="http://schemas.openxmlformats.org/drawingml/2006/main">
            <a:r>
              <a:t/>
            </a:r>
          </a:p>
          <a:p xmlns:a="http://schemas.openxmlformats.org/drawingml/2006/main">
            <a:r>
              <a:t>CONNECT</a:t>
            </a:r>
          </a:p>
          <a:p xmlns:a="http://schemas.openxmlformats.org/drawingml/2006/main">
            <a:r>
              <a:t>Previous slide: Reading NumPy results.</a:t>
            </a:r>
          </a:p>
          <a:p xmlns:a="http://schemas.openxmlformats.org/drawingml/2006/main">
            <a:r>
              <a:t/>
            </a:r>
          </a:p>
          <a:p xmlns:a="http://schemas.openxmlformats.org/drawingml/2006/main">
            <a:r>
              <a:t>EXPLAIN</a:t>
            </a:r>
          </a:p>
          <a:p xmlns:a="http://schemas.openxmlformats.org/drawingml/2006/main">
            <a:r>
              <a:t>NumPy is a library for numerical arrays. import numpy as np makes its tools available through the name np.</a:t>
            </a:r>
          </a:p>
          <a:p xmlns:a="http://schemas.openxmlformats.org/drawingml/2006/main">
            <a:r>
              <a:t/>
            </a:r>
          </a:p>
          <a:p xmlns:a="http://schemas.openxmlformats.org/drawingml/2006/main">
            <a:r>
              <a:t>An array stores a regular arrangement of values. np.array([[1], [2], [3]]) creates three rows with one value in each.</a:t>
            </a:r>
          </a:p>
          <a:p xmlns:a="http://schemas.openxmlformats.org/drawingml/2006/main">
            <a:r>
              <a:t/>
            </a:r>
          </a:p>
          <a:p xmlns:a="http://schemas.openxmlformats.org/drawingml/2006/main">
            <a:r>
              <a:t>X.shape reports (3, 1): three rows, one column. np.array([12, 14, 16]) is one-dimensional; its shape is (3,). The comma marks a one-item tuple.</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columns and named options.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named options</a:t>
            </a:r>
          </a:p>
          <a:p xmlns:a="http://schemas.openxmlformats.org/drawingml/2006/main">
            <a:r>
              <a:t/>
            </a:r>
          </a:p>
          <a:p xmlns:a="http://schemas.openxmlformats.org/drawingml/2006/main">
            <a:r>
              <a:t>CONNECT</a:t>
            </a:r>
          </a:p>
          <a:p xmlns:a="http://schemas.openxmlformats.org/drawingml/2006/main">
            <a:r>
              <a:t>Previous slide: Create an array before reading its shape.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import numpy as np</a:t>
            </a:r>
          </a:p>
          <a:p xmlns:a="http://schemas.openxmlformats.org/drawingml/2006/main">
            <a:r>
              <a:t>X = np.array([[1], [2], [3]])</a:t>
            </a:r>
          </a:p>
          <a:p xmlns:a="http://schemas.openxmlformats.org/drawingml/2006/main">
            <a:r>
              <a:t>y = np.array([12, 14, 16])</a:t>
            </a:r>
          </a:p>
          <a:p xmlns:a="http://schemas.openxmlformats.org/drawingml/2006/main">
            <a:r>
              <a:t>print(X.shape)</a:t>
            </a:r>
          </a:p>
          <a:p xmlns:a="http://schemas.openxmlformats.org/drawingml/2006/main">
            <a:r>
              <a:t>print(y.shape)</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X has three rows and one feature column. y has three target values.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(3, 1) then (3,). Explain nested brackets before model.fit(X, y). Keyword arguments such as random_state=42 name an option.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fit and predict.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 and predict</a:t>
            </a:r>
          </a:p>
          <a:p xmlns:a="http://schemas.openxmlformats.org/drawingml/2006/main">
            <a:r>
              <a:t/>
            </a:r>
          </a:p>
          <a:p xmlns:a="http://schemas.openxmlformats.org/drawingml/2006/main">
            <a:r>
              <a:t>CONNECT</a:t>
            </a:r>
          </a:p>
          <a:p xmlns:a="http://schemas.openxmlformats.org/drawingml/2006/main">
            <a:r>
              <a:t>Previous slide: Rows, columns and named options.</a:t>
            </a:r>
          </a:p>
          <a:p xmlns:a="http://schemas.openxmlformats.org/drawingml/2006/main">
            <a:r>
              <a:t/>
            </a:r>
          </a:p>
          <a:p xmlns:a="http://schemas.openxmlformats.org/drawingml/2006/main">
            <a:r>
              <a:t>EXPLAIN</a:t>
            </a:r>
          </a:p>
          <a:p xmlns:a="http://schemas.openxmlformats.org/drawingml/2006/main">
            <a:r>
              <a:t>fit and predict: fit learns from training inputs and targets. predict uses the fitted rule on new inputs without receiving their true targets.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model object keeps learned information.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object keeps learned information</a:t>
            </a:r>
          </a:p>
          <a:p xmlns:a="http://schemas.openxmlformats.org/drawingml/2006/main">
            <a:r>
              <a:t/>
            </a:r>
          </a:p>
          <a:p xmlns:a="http://schemas.openxmlformats.org/drawingml/2006/main">
            <a:r>
              <a:t>CONNECT</a:t>
            </a:r>
          </a:p>
          <a:p xmlns:a="http://schemas.openxmlformats.org/drawingml/2006/main">
            <a:r>
              <a:t>Previous slide: fit and predict.</a:t>
            </a:r>
          </a:p>
          <a:p xmlns:a="http://schemas.openxmlformats.org/drawingml/2006/main">
            <a:r>
              <a:t/>
            </a:r>
          </a:p>
          <a:p xmlns:a="http://schemas.openxmlformats.org/drawingml/2006/main">
            <a:r>
              <a:t>EXPLAIN</a:t>
            </a:r>
          </a:p>
          <a:p xmlns:a="http://schemas.openxmlformats.org/drawingml/2006/main">
            <a:r>
              <a:t>Object and method: LinearRegression() creates a model object. A method is an operation on that object. model.fit(...) stores learned information; model.predict(...) uses it.</a:t>
            </a:r>
          </a:p>
          <a:p xmlns:a="http://schemas.openxmlformats.org/drawingml/2006/main">
            <a:r>
              <a:t/>
            </a:r>
          </a:p>
          <a:p xmlns:a="http://schemas.openxmlformats.org/drawingml/2006/main">
            <a:r>
              <a:t>Options: An argument such as strategy="mean" names an option. A random seed fixes the starting state of random choices; it does not prove that a model is accurate.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object remembers its fitted state.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object remembers its fitted state</a:t>
            </a:r>
          </a:p>
          <a:p xmlns:a="http://schemas.openxmlformats.org/drawingml/2006/main">
            <a:r>
              <a:t/>
            </a:r>
          </a:p>
          <a:p xmlns:a="http://schemas.openxmlformats.org/drawingml/2006/main">
            <a:r>
              <a:t>CONNECT</a:t>
            </a:r>
          </a:p>
          <a:p xmlns:a="http://schemas.openxmlformats.org/drawingml/2006/main">
            <a:r>
              <a:t>Previous slide: A model object keeps learned information.</a:t>
            </a:r>
          </a:p>
          <a:p xmlns:a="http://schemas.openxmlformats.org/drawingml/2006/main">
            <a:r>
              <a:t/>
            </a:r>
          </a:p>
          <a:p xmlns:a="http://schemas.openxmlformats.org/drawingml/2006/main">
            <a:r>
              <a:t>EXPLAIN</a:t>
            </a:r>
          </a:p>
          <a:p xmlns:a="http://schemas.openxmlformats.org/drawingml/2006/main">
            <a:r>
              <a:t>Python expression | What it means</a:t>
            </a:r>
          </a:p>
          <a:p xmlns:a="http://schemas.openxmlformats.org/drawingml/2006/main">
            <a:r>
              <a:t/>
            </a:r>
          </a:p>
          <a:p xmlns:a="http://schemas.openxmlformats.org/drawingml/2006/main">
            <a:r>
              <a:t>model = LinearRegression() | Create an unfitted model object</a:t>
            </a:r>
          </a:p>
          <a:p xmlns:a="http://schemas.openxmlformats.org/drawingml/2006/main">
            <a:r>
              <a:t/>
            </a:r>
          </a:p>
          <a:p xmlns:a="http://schemas.openxmlformats.org/drawingml/2006/main">
            <a:r>
              <a:t>model.fit(X_train, y_train) | Learn from paired training data</a:t>
            </a:r>
          </a:p>
          <a:p xmlns:a="http://schemas.openxmlformats.org/drawingml/2006/main">
            <a:r>
              <a:t/>
            </a:r>
          </a:p>
          <a:p xmlns:a="http://schemas.openxmlformats.org/drawingml/2006/main">
            <a:r>
              <a:t>model.predict(X_new) | Use that learned state</a:t>
            </a:r>
          </a:p>
          <a:p xmlns:a="http://schemas.openxmlformats.org/drawingml/2006/main">
            <a:r>
              <a:t/>
            </a:r>
          </a:p>
          <a:p xmlns:a="http://schemas.openxmlformats.org/drawingml/2006/main">
            <a:r>
              <a:t>random_state=17 | Name an option and set its value</a:t>
            </a:r>
          </a:p>
          <a:p xmlns:a="http://schemas.openxmlformats.org/drawingml/2006/main">
            <a:r>
              <a:t/>
            </a:r>
          </a:p>
          <a:p xmlns:a="http://schemas.openxmlformats.org/drawingml/2006/main">
            <a:r>
              <a:t>An object holds state and has methods. A method is a function used through that object.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Creating, fitting and predicting.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fitting and predicting</a:t>
            </a:r>
          </a:p>
          <a:p xmlns:a="http://schemas.openxmlformats.org/drawingml/2006/main">
            <a:r>
              <a:t/>
            </a:r>
          </a:p>
          <a:p xmlns:a="http://schemas.openxmlformats.org/drawingml/2006/main">
            <a:r>
              <a:t>CONNECT</a:t>
            </a:r>
          </a:p>
          <a:p xmlns:a="http://schemas.openxmlformats.org/drawingml/2006/main">
            <a:r>
              <a:t>Previous slide: An object remembers its fitted state.</a:t>
            </a:r>
          </a:p>
          <a:p xmlns:a="http://schemas.openxmlformats.org/drawingml/2006/main">
            <a:r>
              <a:t/>
            </a:r>
          </a:p>
          <a:p xmlns:a="http://schemas.openxmlformats.org/drawingml/2006/main">
            <a:r>
              <a:t>EXPLAIN</a:t>
            </a:r>
          </a:p>
          <a:p xmlns:a="http://schemas.openxmlformats.org/drawingml/2006/main">
            <a:r>
              <a:t>LinearRegression() creates a model that has not learned yet.</a:t>
            </a:r>
          </a:p>
          <a:p xmlns:a="http://schemas.openxmlformats.org/drawingml/2006/main">
            <a:r>
              <a:t/>
            </a:r>
          </a:p>
          <a:p xmlns:a="http://schemas.openxmlformats.org/drawingml/2006/main">
            <a:r>
              <a:t>fit(X_train, y_train) learns from paired training examples.</a:t>
            </a:r>
          </a:p>
          <a:p xmlns:a="http://schemas.openxmlformats.org/drawingml/2006/main">
            <a:r>
              <a:t/>
            </a:r>
          </a:p>
          <a:p xmlns:a="http://schemas.openxmlformats.org/drawingml/2006/main">
            <a:r>
              <a:t>predict(new_inputs) returns estimates. The actual targets are absent from new_inputs.</a:t>
            </a:r>
          </a:p>
          <a:p xmlns:a="http://schemas.openxmlformats.org/drawingml/2006/main">
            <a:r>
              <a:t/>
            </a:r>
          </a:p>
          <a:p xmlns:a="http://schemas.openxmlformats.org/drawingml/2006/main">
            <a:r>
              <a:t>LECTURER CUE</a:t>
            </a:r>
          </a:p>
          <a:p xmlns:a="http://schemas.openxmlformats.org/drawingml/2006/main">
            <a:r>
              <a:t>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Where the modelling tools come from.</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Where the modelling tools come from</a:t>
            </a:r>
          </a:p>
          <a:p xmlns:a="http://schemas.openxmlformats.org/drawingml/2006/main">
            <a:r>
              <a:t/>
            </a:r>
          </a:p>
          <a:p xmlns:a="http://schemas.openxmlformats.org/drawingml/2006/main">
            <a:r>
              <a:t>CONNECT</a:t>
            </a:r>
          </a:p>
          <a:p xmlns:a="http://schemas.openxmlformats.org/drawingml/2006/main">
            <a:r>
              <a:t>Previous slide: Creating, fitting and predicting.</a:t>
            </a:r>
          </a:p>
          <a:p xmlns:a="http://schemas.openxmlformats.org/drawingml/2006/main">
            <a:r>
              <a:t/>
            </a:r>
          </a:p>
          <a:p xmlns:a="http://schemas.openxmlformats.org/drawingml/2006/main">
            <a:r>
              <a:t>EXPLAIN</a:t>
            </a:r>
          </a:p>
          <a:p xmlns:a="http://schemas.openxmlformats.org/drawingml/2006/main">
            <a:r>
              <a:t>scikit-learn is an installed machine-learning library. Its Python import name is sklearn. linear_model is the part containing LinearRegression.</a:t>
            </a:r>
          </a:p>
          <a:p xmlns:a="http://schemas.openxmlformats.org/drawingml/2006/main">
            <a:r>
              <a:t/>
            </a:r>
          </a:p>
          <a:p xmlns:a="http://schemas.openxmlformats.org/drawingml/2006/main">
            <a:r>
              <a:t>from sklearn.linear_model import LinearRegression makes that model class available. LinearRegression() creates an individual model object.</a:t>
            </a:r>
          </a:p>
          <a:p xmlns:a="http://schemas.openxmlformats.org/drawingml/2006/main">
            <a:r>
              <a:t/>
            </a:r>
          </a:p>
          <a:p xmlns:a="http://schemas.openxmlformats.org/drawingml/2006/main">
            <a:r>
              <a:t>In Colab this library is normally available. If an import fails, use the course setup instructions and retry the import before running model code.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a:t>
            </a:r>
          </a:p>
          <a:p xmlns:a="http://schemas.openxmlformats.org/drawingml/2006/main">
            <a:r>
              <a:t/>
            </a:r>
          </a:p>
          <a:p xmlns:a="http://schemas.openxmlformats.org/drawingml/2006/main">
            <a:r>
              <a:t>CONNECT</a:t>
            </a:r>
          </a:p>
          <a:p xmlns:a="http://schemas.openxmlformats.org/drawingml/2006/main">
            <a:r>
              <a:t>Previous slide: Where the modelling tools come from.</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sklearn.linear_model import LinearRegression</a:t>
            </a:r>
          </a:p>
          <a:p xmlns:a="http://schemas.openxmlformats.org/drawingml/2006/main">
            <a:r>
              <a:t>X_train = [[1], [2], [3], [4]]</a:t>
            </a:r>
          </a:p>
          <a:p xmlns:a="http://schemas.openxmlformats.org/drawingml/2006/main">
            <a:r>
              <a:t>y_train = [12, 14, 16, 18]</a:t>
            </a:r>
          </a:p>
          <a:p xmlns:a="http://schemas.openxmlformats.org/drawingml/2006/main">
            <a:r>
              <a:t>new_inputs = [[2.5]]</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X_train = [[1], [2], [3], [4]]</a:t>
            </a:r>
          </a:p>
          <a:p xmlns:a="http://schemas.openxmlformats.org/drawingml/2006/main">
            <a:r>
              <a:t>y_train = [12, 14, 16, 18]</a:t>
            </a:r>
          </a:p>
          <a:p xmlns:a="http://schemas.openxmlformats.org/drawingml/2006/main">
            <a:r>
              <a:t>new_inputs = [[2.5]]</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Previous slide: Regression models and errors in Python.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model = LinearRegression()</a:t>
            </a:r>
          </a:p>
          <a:p xmlns:a="http://schemas.openxmlformats.org/drawingml/2006/main">
            <a:r>
              <a:t>model.fit(X_train, y_train)</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model = LinearRegression()</a:t>
            </a:r>
          </a:p>
          <a:p xmlns:a="http://schemas.openxmlformats.org/drawingml/2006/main">
            <a:r>
              <a:t>model.fit(X_train, y_train)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Previous slide: Regression models and errors in Python continued.</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predictions = model.predict(new_inputs)</a:t>
            </a:r>
          </a:p>
          <a:p xmlns:a="http://schemas.openxmlformats.org/drawingml/2006/main">
            <a:r>
              <a:t>print(predictions.round(2).tolist())</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predictions = model.predict(new_inputs)</a:t>
            </a:r>
          </a:p>
          <a:p xmlns:a="http://schemas.openxmlformats.org/drawingml/2006/main">
            <a:r>
              <a:t>print(predictions.round(2).tolist())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results</a:t>
            </a:r>
          </a:p>
          <a:p xmlns:a="http://schemas.openxmlformats.org/drawingml/2006/main">
            <a:r>
              <a:t/>
            </a:r>
          </a:p>
          <a:p xmlns:a="http://schemas.openxmlformats.org/drawingml/2006/main">
            <a:r>
              <a:t>CONNECT</a:t>
            </a:r>
          </a:p>
          <a:p xmlns:a="http://schemas.openxmlformats.org/drawingml/2006/main">
            <a:r>
              <a:t>Previous slide: Regression models and errors in Python continued.</a:t>
            </a:r>
          </a:p>
          <a:p xmlns:a="http://schemas.openxmlformats.org/drawingml/2006/main">
            <a:r>
              <a:t/>
            </a:r>
          </a:p>
          <a:p xmlns:a="http://schemas.openxmlformats.org/drawingml/2006/main">
            <a:r>
              <a:t>EXPLAIN</a:t>
            </a:r>
          </a:p>
          <a:p xmlns:a="http://schemas.openxmlformats.org/drawingml/2006/main">
            <a:r>
              <a:t>[15.0]</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mean baseline.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a:t>
            </a:r>
          </a:p>
          <a:p xmlns:a="http://schemas.openxmlformats.org/drawingml/2006/main">
            <a:r>
              <a:t/>
            </a:r>
          </a:p>
          <a:p xmlns:a="http://schemas.openxmlformats.org/drawingml/2006/main">
            <a:r>
              <a:t>CONNECT</a:t>
            </a:r>
          </a:p>
          <a:p xmlns:a="http://schemas.openxmlformats.org/drawingml/2006/main">
            <a:r>
              <a:t>Previous slide: Regression models and errors results.</a:t>
            </a:r>
          </a:p>
          <a:p xmlns:a="http://schemas.openxmlformats.org/drawingml/2006/main">
            <a:r>
              <a:t/>
            </a:r>
          </a:p>
          <a:p xmlns:a="http://schemas.openxmlformats.org/drawingml/2006/main">
            <a:r>
              <a:t>EXPLAIN</a:t>
            </a:r>
          </a:p>
          <a:p xmlns:a="http://schemas.openxmlformats.org/drawingml/2006/main">
            <a:r>
              <a:t>Use the same training data.</a:t>
            </a:r>
          </a:p>
          <a:p xmlns:a="http://schemas.openxmlformats.org/drawingml/2006/main">
            <a:r>
              <a:t/>
            </a:r>
          </a:p>
          <a:p xmlns:a="http://schemas.openxmlformats.org/drawingml/2006/main">
            <a:r>
              <a:t>This baseline learns their mean, 15, and predicts it for every input.</a:t>
            </a:r>
          </a:p>
          <a:p xmlns:a="http://schemas.openxmlformats.org/drawingml/2006/main">
            <a:r>
              <a:t/>
            </a:r>
          </a:p>
          <a:p xmlns:a="http://schemas.openxmlformats.org/drawingml/2006/main">
            <a:r>
              <a:t>It gives a simple comparison before claiming the line helps.</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mean baseline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 in Python</a:t>
            </a:r>
          </a:p>
          <a:p xmlns:a="http://schemas.openxmlformats.org/drawingml/2006/main">
            <a:r>
              <a:t/>
            </a:r>
          </a:p>
          <a:p xmlns:a="http://schemas.openxmlformats.org/drawingml/2006/main">
            <a:r>
              <a:t>CONNECT</a:t>
            </a:r>
          </a:p>
          <a:p xmlns:a="http://schemas.openxmlformats.org/drawingml/2006/main">
            <a:r>
              <a:t>Previous slide: The mean baseline.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sklearn.dummy import DummyRegressor</a:t>
            </a:r>
          </a:p>
          <a:p xmlns:a="http://schemas.openxmlformats.org/drawingml/2006/main">
            <a:r>
              <a:t>baseline = DummyRegressor(strategy="mean")</a:t>
            </a:r>
          </a:p>
          <a:p xmlns:a="http://schemas.openxmlformats.org/drawingml/2006/main">
            <a:r>
              <a:t>baseline.fit(X_train, y_train)</a:t>
            </a:r>
          </a:p>
          <a:p xmlns:a="http://schemas.openxmlformats.org/drawingml/2006/main">
            <a:r>
              <a:t>print(baseline.predict(new_inputs).tolist())</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Complete practice code:</a:t>
            </a:r>
          </a:p>
          <a:p xmlns:a="http://schemas.openxmlformats.org/drawingml/2006/main">
            <a:r>
              <a:t>from sklearn.dummy import DummyRegressor</a:t>
            </a:r>
          </a:p>
          <a:p xmlns:a="http://schemas.openxmlformats.org/drawingml/2006/main">
            <a:r>
              <a:t>baseline = DummyRegressor(strategy="mean")</a:t>
            </a:r>
          </a:p>
          <a:p xmlns:a="http://schemas.openxmlformats.org/drawingml/2006/main">
            <a:r>
              <a:t>baseline.fit(X_train, y_train)</a:t>
            </a:r>
          </a:p>
          <a:p xmlns:a="http://schemas.openxmlformats.org/drawingml/2006/main">
            <a:r>
              <a:t>print(baseline.predict(new_inputs).tolist())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small regression tree.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a:t>
            </a:r>
          </a:p>
          <a:p xmlns:a="http://schemas.openxmlformats.org/drawingml/2006/main">
            <a:r>
              <a:t/>
            </a:r>
          </a:p>
          <a:p xmlns:a="http://schemas.openxmlformats.org/drawingml/2006/main">
            <a:r>
              <a:t>CONNECT</a:t>
            </a:r>
          </a:p>
          <a:p xmlns:a="http://schemas.openxmlformats.org/drawingml/2006/main">
            <a:r>
              <a:t>Previous slide: The mean baseline in Python.</a:t>
            </a:r>
          </a:p>
          <a:p xmlns:a="http://schemas.openxmlformats.org/drawingml/2006/main">
            <a:r>
              <a:t/>
            </a:r>
          </a:p>
          <a:p xmlns:a="http://schemas.openxmlformats.org/drawingml/2006/main">
            <a:r>
              <a:t>EXPLAIN</a:t>
            </a:r>
          </a:p>
          <a:p xmlns:a="http://schemas.openxmlformats.org/drawingml/2006/main">
            <a:r>
              <a:t>A tree learns threshold questions from the training inputs.</a:t>
            </a:r>
          </a:p>
          <a:p xmlns:a="http://schemas.openxmlformats.org/drawingml/2006/main">
            <a:r>
              <a:t/>
            </a:r>
          </a:p>
          <a:p xmlns:a="http://schemas.openxmlformats.org/drawingml/2006/main">
            <a:r>
              <a:t>Each final group, or leaf, predicts a target value.</a:t>
            </a:r>
          </a:p>
          <a:p xmlns:a="http://schemas.openxmlformats.org/drawingml/2006/main">
            <a:r>
              <a:t/>
            </a:r>
          </a:p>
          <a:p xmlns:a="http://schemas.openxmlformats.org/drawingml/2006/main">
            <a:r>
              <a:t>This tree returns 14 for input 2.5 in this toy example. max_depth limits the number of successive decisions. random_state fixes the random seed.</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 regression-tree prediction.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 regression-tree prediction</a:t>
            </a:r>
          </a:p>
          <a:p xmlns:a="http://schemas.openxmlformats.org/drawingml/2006/main">
            <a:r>
              <a:t/>
            </a:r>
          </a:p>
          <a:p xmlns:a="http://schemas.openxmlformats.org/drawingml/2006/main">
            <a:r>
              <a:t>CONNECT</a:t>
            </a:r>
          </a:p>
          <a:p xmlns:a="http://schemas.openxmlformats.org/drawingml/2006/main">
            <a:r>
              <a:t>Previous slide: A small regression tree.</a:t>
            </a:r>
          </a:p>
          <a:p xmlns:a="http://schemas.openxmlformats.org/drawingml/2006/main">
            <a:r>
              <a:t/>
            </a:r>
          </a:p>
          <a:p xmlns:a="http://schemas.openxmlformats.org/drawingml/2006/main">
            <a:r>
              <a:t>EXPLAIN</a:t>
            </a:r>
          </a:p>
          <a:p xmlns:a="http://schemas.openxmlformats.org/drawingml/2006/main">
            <a:r>
              <a:t>Input or question | Path for input 2.5 | Result</a:t>
            </a:r>
          </a:p>
          <a:p xmlns:a="http://schemas.openxmlformats.org/drawingml/2006/main">
            <a:r>
              <a:t/>
            </a:r>
          </a:p>
          <a:p xmlns:a="http://schemas.openxmlformats.org/drawingml/2006/main">
            <a:r>
              <a:t>Is input at most 2.5? | Yes: use the lower group | Continue within that group</a:t>
            </a:r>
          </a:p>
          <a:p xmlns:a="http://schemas.openxmlformats.org/drawingml/2006/main">
            <a:r>
              <a:t/>
            </a:r>
          </a:p>
          <a:p xmlns:a="http://schemas.openxmlformats.org/drawingml/2006/main">
            <a:r>
              <a:t>Is input at most 1.5? | No: use its upper leaf | Training target 14</a:t>
            </a:r>
          </a:p>
          <a:p xmlns:a="http://schemas.openxmlformats.org/drawingml/2006/main">
            <a:r>
              <a:t/>
            </a:r>
          </a:p>
          <a:p xmlns:a="http://schemas.openxmlformats.org/drawingml/2006/main">
            <a:r>
              <a:t>Leaf prediction | Return the leaf value | 14</a:t>
            </a:r>
          </a:p>
          <a:p xmlns:a="http://schemas.openxmlformats.org/drawingml/2006/main">
            <a:r>
              <a:t/>
            </a:r>
          </a:p>
          <a:p xmlns:a="http://schemas.openxmlformats.org/drawingml/2006/main">
            <a:r>
              <a:t>This trace describes our fitted four-row teaching tree. A different training set can produce different questions.</a:t>
            </a:r>
          </a:p>
          <a:p xmlns:a="http://schemas.openxmlformats.org/drawingml/2006/main">
            <a:r>
              <a:t/>
            </a:r>
          </a:p>
          <a:p xmlns:a="http://schemas.openxmlformats.org/drawingml/2006/main">
            <a:r>
              <a:t>Read the rows in order. This trace describes our fitted four-row teaching tree. A different training set can produce different questions.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small regression tree in Python.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 in Python</a:t>
            </a:r>
          </a:p>
          <a:p xmlns:a="http://schemas.openxmlformats.org/drawingml/2006/main">
            <a:r>
              <a:t/>
            </a:r>
          </a:p>
          <a:p xmlns:a="http://schemas.openxmlformats.org/drawingml/2006/main">
            <a:r>
              <a:t>CONNECT</a:t>
            </a:r>
          </a:p>
          <a:p xmlns:a="http://schemas.openxmlformats.org/drawingml/2006/main">
            <a:r>
              <a:t>Previous slide: Trace a regression-tree prediction.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sklearn.tree import DecisionTreeRegressor</a:t>
            </a:r>
          </a:p>
          <a:p xmlns:a="http://schemas.openxmlformats.org/drawingml/2006/main">
            <a:r>
              <a:t>tree = DecisionTreeRegressor(max_depth=4, random_state=17)</a:t>
            </a:r>
          </a:p>
          <a:p xmlns:a="http://schemas.openxmlformats.org/drawingml/2006/main">
            <a:r>
              <a:t>tree.fit(X_train, y_train)</a:t>
            </a:r>
          </a:p>
          <a:p xmlns:a="http://schemas.openxmlformats.org/drawingml/2006/main">
            <a:r>
              <a:t>print(tree.predict(new_inputs).tolist())</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Complete practice code:</a:t>
            </a:r>
          </a:p>
          <a:p xmlns:a="http://schemas.openxmlformats.org/drawingml/2006/main">
            <a:r>
              <a:t>from sklearn.tree import DecisionTreeRegressor</a:t>
            </a:r>
          </a:p>
          <a:p xmlns:a="http://schemas.openxmlformats.org/drawingml/2006/main">
            <a:r>
              <a:t>tree = DecisionTreeRegressor(max_depth=4, random_state=17)</a:t>
            </a:r>
          </a:p>
          <a:p xmlns:a="http://schemas.openxmlformats.org/drawingml/2006/main">
            <a:r>
              <a:t>tree.fit(X_train, y_train)</a:t>
            </a:r>
          </a:p>
          <a:p xmlns:a="http://schemas.openxmlformats.org/drawingml/2006/main">
            <a:r>
              <a:t>print(tree.predict(new_inputs).tolist())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Reuse the same preparation on new inputs.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Reuse the same preparation on new inputs</a:t>
            </a:r>
          </a:p>
          <a:p xmlns:a="http://schemas.openxmlformats.org/drawingml/2006/main">
            <a:r>
              <a:t/>
            </a:r>
          </a:p>
          <a:p xmlns:a="http://schemas.openxmlformats.org/drawingml/2006/main">
            <a:r>
              <a:t>CONNECT</a:t>
            </a:r>
          </a:p>
          <a:p xmlns:a="http://schemas.openxmlformats.org/drawingml/2006/main">
            <a:r>
              <a:t>Previous slide: A small regression tree in Python.</a:t>
            </a:r>
          </a:p>
          <a:p xmlns:a="http://schemas.openxmlformats.org/drawingml/2006/main">
            <a:r>
              <a:t/>
            </a:r>
          </a:p>
          <a:p xmlns:a="http://schemas.openxmlformats.org/drawingml/2006/main">
            <a:r>
              <a:t>EXPLAIN</a:t>
            </a:r>
          </a:p>
          <a:p xmlns:a="http://schemas.openxmlformats.org/drawingml/2006/main">
            <a:r>
              <a:t>Imputer: An imputer fills missing feature values using a stated rule. Fit learns the replacement from training observations only. Prediction reuses that stored replacement.</a:t>
            </a:r>
          </a:p>
          <a:p xmlns:a="http://schemas.openxmlformats.org/drawingml/2006/main">
            <a:r>
              <a:t/>
            </a:r>
          </a:p>
          <a:p xmlns:a="http://schemas.openxmlformats.org/drawingml/2006/main">
            <a:r>
              <a:t>Pipeline: A pipeline connects preprocessing and a model. make_pipeline creates that connection. Its fit learns both stages on training data; predict applies them to new features.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pipeline tools before combining them.</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pipeline tools before combining them</a:t>
            </a:r>
          </a:p>
          <a:p xmlns:a="http://schemas.openxmlformats.org/drawingml/2006/main">
            <a:r>
              <a:t/>
            </a:r>
          </a:p>
          <a:p xmlns:a="http://schemas.openxmlformats.org/drawingml/2006/main">
            <a:r>
              <a:t>CONNECT</a:t>
            </a:r>
          </a:p>
          <a:p xmlns:a="http://schemas.openxmlformats.org/drawingml/2006/main">
            <a:r>
              <a:t>Previous slide: Reuse the same preparation on new inputs.</a:t>
            </a:r>
          </a:p>
          <a:p xmlns:a="http://schemas.openxmlformats.org/drawingml/2006/main">
            <a:r>
              <a:t/>
            </a:r>
          </a:p>
          <a:p xmlns:a="http://schemas.openxmlformats.org/drawingml/2006/main">
            <a:r>
              <a:t>EXPLAIN</a:t>
            </a:r>
          </a:p>
          <a:p xmlns:a="http://schemas.openxmlformats.org/drawingml/2006/main">
            <a:r>
              <a:t>np.nan is NumPy’s missing-number marker. SimpleImputer(strategy="median") creates a tool that will learn each column’s median from training data.</a:t>
            </a:r>
          </a:p>
          <a:p xmlns:a="http://schemas.openxmlformats.org/drawingml/2006/main">
            <a:r>
              <a:t/>
            </a:r>
          </a:p>
          <a:p xmlns:a="http://schemas.openxmlformats.org/drawingml/2006/main">
            <a:r>
              <a:t>make_pipeline(imputer, model) joins preparation to prediction in that order. pipeline.fit first learns and applies the imputer, then fits the model.</a:t>
            </a:r>
          </a:p>
          <a:p xmlns:a="http://schemas.openxmlformats.org/drawingml/2006/main">
            <a:r>
              <a:t/>
            </a:r>
          </a:p>
          <a:p xmlns:a="http://schemas.openxmlformats.org/drawingml/2006/main">
            <a:r>
              <a:t>pipeline.predict applies the already learned imputer to new inputs before predicting. It does not recalculate medians from the new inputs.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learned from training only.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a:t>
            </a:r>
          </a:p>
          <a:p xmlns:a="http://schemas.openxmlformats.org/drawingml/2006/main">
            <a:r>
              <a:t/>
            </a:r>
          </a:p>
          <a:p xmlns:a="http://schemas.openxmlformats.org/drawingml/2006/main">
            <a:r>
              <a:t>CONNECT</a:t>
            </a:r>
          </a:p>
          <a:p xmlns:a="http://schemas.openxmlformats.org/drawingml/2006/main">
            <a:r>
              <a:t>Previous slide: Read the pipeline tools before combining them.</a:t>
            </a:r>
          </a:p>
          <a:p xmlns:a="http://schemas.openxmlformats.org/drawingml/2006/main">
            <a:r>
              <a:t/>
            </a:r>
          </a:p>
          <a:p xmlns:a="http://schemas.openxmlformats.org/drawingml/2006/main">
            <a:r>
              <a:t>EXPLAIN</a:t>
            </a:r>
          </a:p>
          <a:p xmlns:a="http://schemas.openxmlformats.org/drawingml/2006/main">
            <a:r>
              <a:t>SimpleImputer learns one median for each training column. make_pipeline connects this step to the model. fit learns both steps using only the training examples. predict reuses them on new inputs.</a:t>
            </a:r>
          </a:p>
          <a:p xmlns:a="http://schemas.openxmlformats.org/drawingml/2006/main">
            <a:r>
              <a:t/>
            </a:r>
          </a:p>
          <a:p xmlns:a="http://schemas.openxmlformats.org/drawingml/2006/main">
            <a:r>
              <a:t>No target is supplied to predict.</a:t>
            </a:r>
          </a:p>
          <a:p xmlns:a="http://schemas.openxmlformats.org/drawingml/2006/main">
            <a:r>
              <a:t/>
            </a:r>
          </a:p>
          <a:p xmlns:a="http://schemas.openxmlformats.org/drawingml/2006/main">
            <a:r>
              <a:t>The two inputs here are invented practice measurements.</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training-only fill step.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training-only fill step</a:t>
            </a:r>
          </a:p>
          <a:p xmlns:a="http://schemas.openxmlformats.org/drawingml/2006/main">
            <a:r>
              <a:t/>
            </a:r>
          </a:p>
          <a:p xmlns:a="http://schemas.openxmlformats.org/drawingml/2006/main">
            <a:r>
              <a:t>CONNECT</a:t>
            </a:r>
          </a:p>
          <a:p xmlns:a="http://schemas.openxmlformats.org/drawingml/2006/main">
            <a:r>
              <a:t>Previous slide: Preprocessing learned from training only.</a:t>
            </a:r>
          </a:p>
          <a:p xmlns:a="http://schemas.openxmlformats.org/drawingml/2006/main">
            <a:r>
              <a:t/>
            </a:r>
          </a:p>
          <a:p xmlns:a="http://schemas.openxmlformats.org/drawingml/2006/main">
            <a:r>
              <a:t>EXPLAIN</a:t>
            </a:r>
          </a:p>
          <a:p xmlns:a="http://schemas.openxmlformats.org/drawingml/2006/main">
            <a:r>
              <a:t>Stage | Second feature values | Action</a:t>
            </a:r>
          </a:p>
          <a:p xmlns:a="http://schemas.openxmlformats.org/drawingml/2006/main">
            <a:r>
              <a:t/>
            </a:r>
          </a:p>
          <a:p xmlns:a="http://schemas.openxmlformats.org/drawingml/2006/main">
            <a:r>
              <a:t>Training input | 20, 22, missing, 24 | Learn median 22</a:t>
            </a:r>
          </a:p>
          <a:p xmlns:a="http://schemas.openxmlformats.org/drawingml/2006/main">
            <a:r>
              <a:t/>
            </a:r>
          </a:p>
          <a:p xmlns:a="http://schemas.openxmlformats.org/drawingml/2006/main">
            <a:r>
              <a:t>Training after filling | 20, 22, 22, 24 | Fit the model</a:t>
            </a:r>
          </a:p>
          <a:p xmlns:a="http://schemas.openxmlformats.org/drawingml/2006/main">
            <a:r>
              <a:t/>
            </a:r>
          </a:p>
          <a:p xmlns:a="http://schemas.openxmlformats.org/drawingml/2006/main">
            <a:r>
              <a:t>New input | Missing second value | Fill with saved 22</a:t>
            </a:r>
          </a:p>
          <a:p xmlns:a="http://schemas.openxmlformats.org/drawingml/2006/main">
            <a:r>
              <a:t/>
            </a:r>
          </a:p>
          <a:p xmlns:a="http://schemas.openxmlformats.org/drawingml/2006/main">
            <a:r>
              <a:t>No new median is learned during prediction. The model receives the prepared numeric row.</a:t>
            </a:r>
          </a:p>
          <a:p xmlns:a="http://schemas.openxmlformats.org/drawingml/2006/main">
            <a:r>
              <a:t/>
            </a:r>
          </a:p>
          <a:p xmlns:a="http://schemas.openxmlformats.org/drawingml/2006/main">
            <a:r>
              <a:t>Read the rows in order. No new median is learned during prediction. The model receives the prepared numeric row.</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learned from training only in Python (1/2).</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(1/2)</a:t>
            </a:r>
          </a:p>
          <a:p xmlns:a="http://schemas.openxmlformats.org/drawingml/2006/main">
            <a:r>
              <a:t/>
            </a:r>
          </a:p>
          <a:p xmlns:a="http://schemas.openxmlformats.org/drawingml/2006/main">
            <a:r>
              <a:t>CONNECT</a:t>
            </a:r>
          </a:p>
          <a:p xmlns:a="http://schemas.openxmlformats.org/drawingml/2006/main">
            <a:r>
              <a:t>Previous slide: Trace the training-only fill step.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fit learns using the supplied training observations.</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learned from training only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(2/2)</a:t>
            </a:r>
          </a:p>
          <a:p xmlns:a="http://schemas.openxmlformats.org/drawingml/2006/main">
            <a:r>
              <a:t/>
            </a:r>
          </a:p>
          <a:p xmlns:a="http://schemas.openxmlformats.org/drawingml/2006/main">
            <a:r>
              <a:t>CONNECT</a:t>
            </a:r>
          </a:p>
          <a:p xmlns:a="http://schemas.openxmlformats.org/drawingml/2006/main">
            <a:r>
              <a:t>Previous slide: Preprocessing learned from training only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records into a feature table.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a:t>
            </a:r>
          </a:p>
          <a:p xmlns:a="http://schemas.openxmlformats.org/drawingml/2006/main">
            <a:r>
              <a:t/>
            </a:r>
          </a:p>
          <a:p xmlns:a="http://schemas.openxmlformats.org/drawingml/2006/main">
            <a:r>
              <a:t>CONNECT</a:t>
            </a:r>
          </a:p>
          <a:p xmlns:a="http://schemas.openxmlformats.org/drawingml/2006/main">
            <a:r>
              <a:t>Previous slide: Preprocessing learned from training only in Python (2/2).</a:t>
            </a:r>
          </a:p>
          <a:p xmlns:a="http://schemas.openxmlformats.org/drawingml/2006/main">
            <a:r>
              <a:t/>
            </a:r>
          </a:p>
          <a:p xmlns:a="http://schemas.openxmlformats.org/drawingml/2006/main">
            <a:r>
              <a:t>EXPLAIN</a:t>
            </a:r>
          </a:p>
          <a:p xmlns:a="http://schemas.openxmlformats.org/drawingml/2006/main">
            <a:r>
              <a:t>Each inner list is one row, in the same order as the input records.</a:t>
            </a:r>
          </a:p>
          <a:p xmlns:a="http://schemas.openxmlformats.org/drawingml/2006/main">
            <a:r>
              <a:t/>
            </a:r>
          </a:p>
          <a:p xmlns:a="http://schemas.openxmlformats.org/drawingml/2006/main">
            <a:r>
              <a:t>The target list uses that same row order.</a:t>
            </a:r>
          </a:p>
          <a:p xmlns:a="http://schemas.openxmlformats.org/drawingml/2006/main">
            <a:r>
              <a:t/>
            </a:r>
          </a:p>
          <a:p xmlns:a="http://schemas.openxmlformats.org/drawingml/2006/main">
            <a:r>
              <a:t>The feature table has no answer column.</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records into a feature table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 in Python</a:t>
            </a:r>
          </a:p>
          <a:p xmlns:a="http://schemas.openxmlformats.org/drawingml/2006/main">
            <a:r>
              <a:t/>
            </a:r>
          </a:p>
          <a:p xmlns:a="http://schemas.openxmlformats.org/drawingml/2006/main">
            <a:r>
              <a:t>CONNECT</a:t>
            </a:r>
          </a:p>
          <a:p xmlns:a="http://schemas.openxmlformats.org/drawingml/2006/main">
            <a:r>
              <a:t>Previous slide: Reading records into a feature table.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rows = [{"length": 2, "width": 3, "area": 6},</a:t>
            </a:r>
          </a:p>
          <a:p xmlns:a="http://schemas.openxmlformats.org/drawingml/2006/main">
            <a:r>
              <a:t>        {"length": 4, "width": 5, "area": 20}]</a:t>
            </a:r>
          </a:p>
          <a:p xmlns:a="http://schemas.openxmlformats.org/drawingml/2006/main">
            <a:r>
              <a:t>X = []</a:t>
            </a:r>
          </a:p>
          <a:p xmlns:a="http://schemas.openxmlformats.org/drawingml/2006/main">
            <a:r>
              <a:t>y = []</a:t>
            </a:r>
          </a:p>
          <a:p xmlns:a="http://schemas.openxmlformats.org/drawingml/2006/main">
            <a:r>
              <a:t>for row in rows:</a:t>
            </a:r>
          </a:p>
          <a:p xmlns:a="http://schemas.openxmlformats.org/drawingml/2006/main">
            <a:r>
              <a:t>    X.append([row["length"], row["width"]])</a:t>
            </a:r>
          </a:p>
          <a:p xmlns:a="http://schemas.openxmlformats.org/drawingml/2006/main">
            <a:r>
              <a:t>    y.append(row["area"])</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append adds one item to the end of a list.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Complete practice code:</a:t>
            </a:r>
          </a:p>
          <a:p xmlns:a="http://schemas.openxmlformats.org/drawingml/2006/main">
            <a:r>
              <a:t>rows = [{"length": 2, "width": 3, "area": 6},</a:t>
            </a:r>
          </a:p>
          <a:p xmlns:a="http://schemas.openxmlformats.org/drawingml/2006/main">
            <a:r>
              <a:t>        {"length": 4, "width": 5, "area": 20}]</a:t>
            </a:r>
          </a:p>
          <a:p xmlns:a="http://schemas.openxmlformats.org/drawingml/2006/main">
            <a:r>
              <a:t>X = []</a:t>
            </a:r>
          </a:p>
          <a:p xmlns:a="http://schemas.openxmlformats.org/drawingml/2006/main">
            <a:r>
              <a:t>y = []</a:t>
            </a:r>
          </a:p>
          <a:p xmlns:a="http://schemas.openxmlformats.org/drawingml/2006/main">
            <a:r>
              <a:t>for row in rows:</a:t>
            </a:r>
          </a:p>
          <a:p xmlns:a="http://schemas.openxmlformats.org/drawingml/2006/main">
            <a:r>
              <a:t>    X.append([row["length"], row["width"]])</a:t>
            </a:r>
          </a:p>
          <a:p xmlns:a="http://schemas.openxmlformats.org/drawingml/2006/main">
            <a:r>
              <a:t>    y.append(row["area"])</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MAE and RMSE.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MAE and RMSE</a:t>
            </a:r>
          </a:p>
          <a:p xmlns:a="http://schemas.openxmlformats.org/drawingml/2006/main">
            <a:r>
              <a:t/>
            </a:r>
          </a:p>
          <a:p xmlns:a="http://schemas.openxmlformats.org/drawingml/2006/main">
            <a:r>
              <a:t>CONNECT</a:t>
            </a:r>
          </a:p>
          <a:p xmlns:a="http://schemas.openxmlformats.org/drawingml/2006/main">
            <a:r>
              <a:t>Previous slide: Reading records into a feature table in Python.</a:t>
            </a:r>
          </a:p>
          <a:p xmlns:a="http://schemas.openxmlformats.org/drawingml/2006/main">
            <a:r>
              <a:t/>
            </a:r>
          </a:p>
          <a:p xmlns:a="http://schemas.openxmlformats.org/drawingml/2006/main">
            <a:r>
              <a:t>EXPLAIN</a:t>
            </a:r>
          </a:p>
          <a:p xmlns:a="http://schemas.openxmlformats.org/drawingml/2006/main">
            <a:r>
              <a:t>MAE and RMSE: MAE averages absolute prediction errors. RMSE squares errors, averages them and takes the square root. Both use target units. RMSE is more sensitive to large errors.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prediction error in ordinary numbers.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prediction error in ordinary numbers</a:t>
            </a:r>
          </a:p>
          <a:p xmlns:a="http://schemas.openxmlformats.org/drawingml/2006/main">
            <a:r>
              <a:t/>
            </a:r>
          </a:p>
          <a:p xmlns:a="http://schemas.openxmlformats.org/drawingml/2006/main">
            <a:r>
              <a:t>CONNECT</a:t>
            </a:r>
          </a:p>
          <a:p xmlns:a="http://schemas.openxmlformats.org/drawingml/2006/main">
            <a:r>
              <a:t>Previous slide: MAE and RMSE.</a:t>
            </a:r>
          </a:p>
          <a:p xmlns:a="http://schemas.openxmlformats.org/drawingml/2006/main">
            <a:r>
              <a:t/>
            </a:r>
          </a:p>
          <a:p xmlns:a="http://schemas.openxmlformats.org/drawingml/2006/main">
            <a:r>
              <a:t>EXPLAIN</a:t>
            </a:r>
          </a:p>
          <a:p xmlns:a="http://schemas.openxmlformats.org/drawingml/2006/main">
            <a:r>
              <a:t>Actual | Prediction | Absolute error</a:t>
            </a:r>
          </a:p>
          <a:p xmlns:a="http://schemas.openxmlformats.org/drawingml/2006/main">
            <a:r>
              <a:t/>
            </a:r>
          </a:p>
          <a:p xmlns:a="http://schemas.openxmlformats.org/drawingml/2006/main">
            <a:r>
              <a:t>10 | 8 | 2</a:t>
            </a:r>
          </a:p>
          <a:p xmlns:a="http://schemas.openxmlformats.org/drawingml/2006/main">
            <a:r>
              <a:t/>
            </a:r>
          </a:p>
          <a:p xmlns:a="http://schemas.openxmlformats.org/drawingml/2006/main">
            <a:r>
              <a:t>20 | 24 | 4</a:t>
            </a:r>
          </a:p>
          <a:p xmlns:a="http://schemas.openxmlformats.org/drawingml/2006/main">
            <a:r>
              <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LECTURER CUE</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operations in the error calculation.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operations in the error calculation</a:t>
            </a:r>
          </a:p>
          <a:p xmlns:a="http://schemas.openxmlformats.org/drawingml/2006/main">
            <a:r>
              <a:t/>
            </a:r>
          </a:p>
          <a:p xmlns:a="http://schemas.openxmlformats.org/drawingml/2006/main">
            <a:r>
              <a:t>CONNECT</a:t>
            </a:r>
          </a:p>
          <a:p xmlns:a="http://schemas.openxmlformats.org/drawingml/2006/main">
            <a:r>
              <a:t>Previous slide: A prediction error in ordinary numbers.</a:t>
            </a:r>
          </a:p>
          <a:p xmlns:a="http://schemas.openxmlformats.org/drawingml/2006/main">
            <a:r>
              <a:t/>
            </a:r>
          </a:p>
          <a:p xmlns:a="http://schemas.openxmlformats.org/drawingml/2006/main">
            <a:r>
              <a:t>EXPLAIN</a:t>
            </a:r>
          </a:p>
          <a:p xmlns:a="http://schemas.openxmlformats.org/drawingml/2006/main">
            <a:r>
              <a:t>zip and paired names: zip(actual, predicted) pairs values at matching positions. for truth, guess in ... assigns each pair to two names. Here both lists must have the same nonzero length.</a:t>
            </a:r>
          </a:p>
          <a:p xmlns:a="http://schemas.openxmlformats.org/drawingml/2006/main">
            <a:r>
              <a:t/>
            </a:r>
          </a:p>
          <a:p xmlns:a="http://schemas.openxmlformats.org/drawingml/2006/main">
            <a:r>
              <a:t>Square and square root: difference ** 2 squares an error. sqrt reverses a square for nonnegative numbers: sqrt(9) is 3. from math import sqrt makes this tool available.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Pair two lists using zip.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Pair two lists using zip</a:t>
            </a:r>
          </a:p>
          <a:p xmlns:a="http://schemas.openxmlformats.org/drawingml/2006/main">
            <a:r>
              <a:t/>
            </a:r>
          </a:p>
          <a:p xmlns:a="http://schemas.openxmlformats.org/drawingml/2006/main">
            <a:r>
              <a:t>CONNECT</a:t>
            </a:r>
          </a:p>
          <a:p xmlns:a="http://schemas.openxmlformats.org/drawingml/2006/main">
            <a:r>
              <a:t>Previous slide: The operations in the error calculation.</a:t>
            </a:r>
          </a:p>
          <a:p xmlns:a="http://schemas.openxmlformats.org/drawingml/2006/main">
            <a:r>
              <a:t/>
            </a:r>
          </a:p>
          <a:p xmlns:a="http://schemas.openxmlformats.org/drawingml/2006/main">
            <a:r>
              <a:t>EXPLAIN</a:t>
            </a:r>
          </a:p>
          <a:p xmlns:a="http://schemas.openxmlformats.org/drawingml/2006/main">
            <a:r>
              <a:t>zip(actual, predicted) visits matching positions together. for truth, guess in zip(...): unpacks each pair into two names.</a:t>
            </a:r>
          </a:p>
          <a:p xmlns:a="http://schemas.openxmlformats.org/drawingml/2006/main">
            <a:r>
              <a:t/>
            </a:r>
          </a:p>
          <a:p xmlns:a="http://schemas.openxmlformats.org/drawingml/2006/main">
            <a:r>
              <a:t>For actual [10, 20] and predicted [12, 16], the pairs are (10, 12) and (20, 16). They describe the same observations in the same order.</a:t>
            </a:r>
          </a:p>
          <a:p xmlns:a="http://schemas.openxmlformats.org/drawingml/2006/main">
            <a:r>
              <a:t/>
            </a:r>
          </a:p>
          <a:p xmlns:a="http://schemas.openxmlformats.org/drawingml/2006/main">
            <a:r>
              <a:t>zip stops at the shorter input. Check equal, nonzero lengths for these error calculations; otherwise a result could ignore observations.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Inspect the pairs before measuring errors.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Inspect the pairs before measuring errors</a:t>
            </a:r>
          </a:p>
          <a:p xmlns:a="http://schemas.openxmlformats.org/drawingml/2006/main">
            <a:r>
              <a:t/>
            </a:r>
          </a:p>
          <a:p xmlns:a="http://schemas.openxmlformats.org/drawingml/2006/main">
            <a:r>
              <a:t>CONNECT</a:t>
            </a:r>
          </a:p>
          <a:p xmlns:a="http://schemas.openxmlformats.org/drawingml/2006/main">
            <a:r>
              <a:t>Previous slide: Pair two lists using zip.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actual = [10, 20]</a:t>
            </a:r>
          </a:p>
          <a:p xmlns:a="http://schemas.openxmlformats.org/drawingml/2006/main">
            <a:r>
              <a:t>predicted = [12, 16]</a:t>
            </a:r>
          </a:p>
          <a:p xmlns:a="http://schemas.openxmlformats.org/drawingml/2006/main">
            <a:r>
              <a:t>for truth, guess in zip(actual, predicted):</a:t>
            </a:r>
          </a:p>
          <a:p xmlns:a="http://schemas.openxmlformats.org/drawingml/2006/main">
            <a:r>
              <a:t>    print(truth, guess)</a:t>
            </a:r>
          </a:p>
          <a:p xmlns:a="http://schemas.openxmlformats.org/drawingml/2006/main">
            <a:r>
              <a:t/>
            </a:r>
          </a:p>
          <a:p xmlns:a="http://schemas.openxmlformats.org/drawingml/2006/main">
            <a:r>
              <a:t>The first names receive the first pair, then the second pair.</a:t>
            </a:r>
          </a:p>
          <a:p xmlns:a="http://schemas.openxmlformats.org/drawingml/2006/main">
            <a:r>
              <a:t/>
            </a:r>
          </a:p>
          <a:p xmlns:a="http://schemas.openxmlformats.org/drawingml/2006/main">
            <a:r>
              <a:t>Output: 10 12; 20 16</a:t>
            </a:r>
          </a:p>
          <a:p xmlns:a="http://schemas.openxmlformats.org/drawingml/2006/main">
            <a:r>
              <a:t/>
            </a:r>
          </a:p>
          <a:p xmlns:a="http://schemas.openxmlformats.org/drawingml/2006/main">
            <a:r>
              <a:t>Expected printed output:</a:t>
            </a:r>
          </a:p>
          <a:p xmlns:a="http://schemas.openxmlformats.org/drawingml/2006/main">
            <a:r>
              <a:t>10 12</a:t>
            </a:r>
          </a:p>
          <a:p xmlns:a="http://schemas.openxmlformats.org/drawingml/2006/main">
            <a:r>
              <a:t>20 16</a:t>
            </a:r>
          </a:p>
          <a:p xmlns:a="http://schemas.openxmlformats.org/drawingml/2006/main">
            <a:r>
              <a:t/>
            </a:r>
          </a:p>
          <a:p xmlns:a="http://schemas.openxmlformats.org/drawingml/2006/main">
            <a:r>
              <a:t>Run the complete cell, then trace each line. Expected output:</a:t>
            </a:r>
          </a:p>
          <a:p xmlns:a="http://schemas.openxmlformats.org/drawingml/2006/main">
            <a:r>
              <a:t>10 12</a:t>
            </a:r>
          </a:p>
          <a:p xmlns:a="http://schemas.openxmlformats.org/drawingml/2006/main">
            <a:r>
              <a:t>20 16</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absolute and squared errors.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absolute and squared errors</a:t>
            </a:r>
          </a:p>
          <a:p xmlns:a="http://schemas.openxmlformats.org/drawingml/2006/main">
            <a:r>
              <a:t/>
            </a:r>
          </a:p>
          <a:p xmlns:a="http://schemas.openxmlformats.org/drawingml/2006/main">
            <a:r>
              <a:t>CONNECT</a:t>
            </a:r>
          </a:p>
          <a:p xmlns:a="http://schemas.openxmlformats.org/drawingml/2006/main">
            <a:r>
              <a:t>Previous slide: Inspect the pairs before measuring errors.</a:t>
            </a:r>
          </a:p>
          <a:p xmlns:a="http://schemas.openxmlformats.org/drawingml/2006/main">
            <a:r>
              <a:t/>
            </a:r>
          </a:p>
          <a:p xmlns:a="http://schemas.openxmlformats.org/drawingml/2006/main">
            <a:r>
              <a:t>EXPLAIN</a:t>
            </a:r>
          </a:p>
          <a:p xmlns:a="http://schemas.openxmlformats.org/drawingml/2006/main">
            <a:r>
              <a:t>Actual and predicted | Absolute error | Squared error</a:t>
            </a:r>
          </a:p>
          <a:p xmlns:a="http://schemas.openxmlformats.org/drawingml/2006/main">
            <a:r>
              <a:t/>
            </a:r>
          </a:p>
          <a:p xmlns:a="http://schemas.openxmlformats.org/drawingml/2006/main">
            <a:r>
              <a:t>10 and 12 | abs(-2) = 2 | (-2) ** 2 = 4</a:t>
            </a:r>
          </a:p>
          <a:p xmlns:a="http://schemas.openxmlformats.org/drawingml/2006/main">
            <a:r>
              <a:t/>
            </a:r>
          </a:p>
          <a:p xmlns:a="http://schemas.openxmlformats.org/drawingml/2006/main">
            <a:r>
              <a:t>20 and 16 | abs(4) = 4 | 4 ** 2 = 16</a:t>
            </a:r>
          </a:p>
          <a:p xmlns:a="http://schemas.openxmlformats.org/drawingml/2006/main">
            <a:r>
              <a:t/>
            </a:r>
          </a:p>
          <a:p xmlns:a="http://schemas.openxmlformats.org/drawingml/2006/main">
            <a:r>
              <a:t>Average | (2 + 4) / 2 = 3 | (4 + 16) / 2 = 10</a:t>
            </a:r>
          </a:p>
          <a:p xmlns:a="http://schemas.openxmlformats.org/drawingml/2006/main">
            <a:r>
              <a:t/>
            </a:r>
          </a:p>
          <a:p xmlns:a="http://schemas.openxmlformats.org/drawingml/2006/main">
            <a:r>
              <a:t>MAE is 3. RMSE is sqrt(10), approximately 3.1623. sqrt means the nonnegative square root.</a:t>
            </a:r>
          </a:p>
          <a:p xmlns:a="http://schemas.openxmlformats.org/drawingml/2006/main">
            <a:r>
              <a:t/>
            </a:r>
          </a:p>
          <a:p xmlns:a="http://schemas.openxmlformats.org/drawingml/2006/main">
            <a:r>
              <a:t>Read the rows in order. MAE is 3. RMSE is sqrt(10), approximately 3.1623. sqrt means the nonnegative square root.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error measures.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a:t>
            </a:r>
          </a:p>
          <a:p xmlns:a="http://schemas.openxmlformats.org/drawingml/2006/main">
            <a:r>
              <a:t/>
            </a:r>
          </a:p>
          <a:p xmlns:a="http://schemas.openxmlformats.org/drawingml/2006/main">
            <a:r>
              <a:t>CONNECT</a:t>
            </a:r>
          </a:p>
          <a:p xmlns:a="http://schemas.openxmlformats.org/drawingml/2006/main">
            <a:r>
              <a:t>Previous slide: Trace absolute and squared errors.</a:t>
            </a:r>
          </a:p>
          <a:p xmlns:a="http://schemas.openxmlformats.org/drawingml/2006/main">
            <a:r>
              <a:t/>
            </a:r>
          </a:p>
          <a:p xmlns:a="http://schemas.openxmlformats.org/drawingml/2006/main">
            <a:r>
              <a:t>EXPLAIN</a:t>
            </a:r>
          </a:p>
          <a:p xmlns:a="http://schemas.openxmlformats.org/drawingml/2006/main">
            <a:r>
              <a:t>zip pairs corresponding values. abs measures error size.</a:t>
            </a:r>
          </a:p>
          <a:p xmlns:a="http://schemas.openxmlformats.org/drawingml/2006/main">
            <a:r>
              <a:t/>
            </a:r>
          </a:p>
          <a:p xmlns:a="http://schemas.openxmlformats.org/drawingml/2006/main">
            <a:r>
              <a:t>Squaring emphasises large errors; taking the square root returns to the original unit.</a:t>
            </a:r>
          </a:p>
          <a:p xmlns:a="http://schemas.openxmlformats.org/drawingml/2006/main">
            <a:r>
              <a:t/>
            </a:r>
          </a:p>
          <a:p xmlns:a="http://schemas.openxmlformats.org/drawingml/2006/main">
            <a:r>
              <a:t>These functions assume equal-length, nonempty paired observations.</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error measures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(1/2)</a:t>
            </a:r>
          </a:p>
          <a:p xmlns:a="http://schemas.openxmlformats.org/drawingml/2006/main">
            <a:r>
              <a:t/>
            </a:r>
          </a:p>
          <a:p xmlns:a="http://schemas.openxmlformats.org/drawingml/2006/main">
            <a:r>
              <a:t>CONNECT</a:t>
            </a:r>
          </a:p>
          <a:p xmlns:a="http://schemas.openxmlformats.org/drawingml/2006/main">
            <a:r>
              <a:t>Previous slide: Two error measures.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zip pairs items at matching positions in these equal-length lists.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error measures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(2/2)</a:t>
            </a:r>
          </a:p>
          <a:p xmlns:a="http://schemas.openxmlformats.org/drawingml/2006/main">
            <a:r>
              <a:t/>
            </a:r>
          </a:p>
          <a:p xmlns:a="http://schemas.openxmlformats.org/drawingml/2006/main">
            <a:r>
              <a:t>CONNECT</a:t>
            </a:r>
          </a:p>
          <a:p xmlns:a="http://schemas.openxmlformats.org/drawingml/2006/main">
            <a:r>
              <a:t>Previous slide: Two error measures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R² compares against a mean prediction.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R² compares against a mean prediction</a:t>
            </a:r>
          </a:p>
          <a:p xmlns:a="http://schemas.openxmlformats.org/drawingml/2006/main">
            <a:r>
              <a:t/>
            </a:r>
          </a:p>
          <a:p xmlns:a="http://schemas.openxmlformats.org/drawingml/2006/main">
            <a:r>
              <a:t>CONNECT</a:t>
            </a:r>
          </a:p>
          <a:p xmlns:a="http://schemas.openxmlformats.org/drawingml/2006/main">
            <a:r>
              <a:t>Previous slide: Two error measures in Python (2/2).</a:t>
            </a:r>
          </a:p>
          <a:p xmlns:a="http://schemas.openxmlformats.org/drawingml/2006/main">
            <a:r>
              <a:t/>
            </a:r>
          </a:p>
          <a:p xmlns:a="http://schemas.openxmlformats.org/drawingml/2006/main">
            <a:r>
              <a:t>EXPLAIN</a:t>
            </a:r>
          </a:p>
          <a:p xmlns:a="http://schemas.openxmlformats.org/drawingml/2006/main">
            <a:r>
              <a:t>R² compares squared errors with predicting the mean of the evaluated targets. It is a score, not “percentage accuracy”.</a:t>
            </a:r>
          </a:p>
          <a:p xmlns:a="http://schemas.openxmlformats.org/drawingml/2006/main">
            <a:r>
              <a:t/>
            </a:r>
          </a:p>
          <a:p xmlns:a="http://schemas.openxmlformats.org/drawingml/2006/main">
            <a:r>
              <a:t>1 means perfect predictions on those observations. 0 matches that mean-prediction reference; a negative score can be worse.</a:t>
            </a:r>
          </a:p>
          <a:p xmlns:a="http://schemas.openxmlformats.org/drawingml/2006/main">
            <a:r>
              <a:t/>
            </a:r>
          </a:p>
          <a:p xmlns:a="http://schemas.openxmlformats.org/drawingml/2006/main">
            <a:r>
              <a:t>Use the same evaluation observations and report the specified error metric with its units. Constant targets need special handling; this score alone does not prove usefulness.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R² compares against a mean prediction.</a:t>
            </a:r>
          </a:p>
          <a:p xmlns:a="http://schemas.openxmlformats.org/drawingml/2006/main">
            <a:r>
              <a:t/>
            </a:r>
          </a:p>
          <a:p xmlns:a="http://schemas.openxmlformats.org/drawingml/2006/main">
            <a:r>
              <a:t>EXPLAIN</a:t>
            </a:r>
          </a:p>
          <a:p xmlns:a="http://schemas.openxmlformats.org/drawingml/2006/main">
            <a:r>
              <a:t>Example: On paper compare actual [10, 20] with predictions [12, 16]. Find MAE and RMSE. Is MAE a plus/minus guarantee for each prediction?</a:t>
            </a:r>
          </a:p>
          <a:p xmlns:a="http://schemas.openxmlformats.org/drawingml/2006/main">
            <a:r>
              <a:t/>
            </a:r>
          </a:p>
          <a:p xmlns:a="http://schemas.openxmlformats.org/drawingml/2006/main">
            <a:r>
              <a:t>Answer: Absolute errors are 2 and 4: MAE 3. Squared errors 4 and 16: RMSE sqrt(10), about 3.162. MAE is an average, not an individual error bound.</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Absolute errors are 2 and 4: MAE 3. Squared errors 4 and 16: RMSE sqrt(10), about 3.162. MAE is an average, not an individual error bound.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W08 asks for baseline, linear and depth-4 tree prediction lists plus error metrics.</a:t>
            </a:r>
          </a:p>
          <a:p xmlns:a="http://schemas.openxmlformats.org/drawingml/2006/main">
            <a:r>
              <a:t/>
            </a:r>
          </a:p>
          <a:p xmlns:a="http://schemas.openxmlformats.org/drawingml/2006/main">
            <a:r>
              <a:t>Fit missing-value replacement on training data.</a:t>
            </a:r>
          </a:p>
          <a:p xmlns:a="http://schemas.openxmlformats.org/drawingml/2006/main">
            <a:r>
              <a:t/>
            </a:r>
          </a:p>
          <a:p xmlns:a="http://schemas.openxmlformats.org/drawingml/2006/main">
            <a:r>
              <a:t>A Pipeline joins preprocessing to the model.</a:t>
            </a:r>
          </a:p>
          <a:p xmlns:a="http://schemas.openxmlformats.org/drawingml/2006/main">
            <a:r>
              <a:t/>
            </a:r>
          </a:p>
          <a:p xmlns:a="http://schemas.openxmlformats.org/drawingml/2006/main">
            <a:r>
              <a:t>Only load_pct and ambient_c are predictors.</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Keep observations from the same equipment in one partition.</a:t>
            </a:r>
          </a:p>
          <a:p xmlns:a="http://schemas.openxmlformats.org/drawingml/2006/main">
            <a:r>
              <a:t/>
            </a:r>
          </a:p>
          <a:p xmlns:a="http://schemas.openxmlformats.org/drawingml/2006/main">
            <a:r>
              <a:t>The written comparison supplies scenario values.</a:t>
            </a:r>
          </a:p>
          <a:p xmlns:a="http://schemas.openxmlformats.org/drawingml/2006/main">
            <a:r>
              <a:t/>
            </a:r>
          </a:p>
          <a:p xmlns:a="http://schemas.openxmlformats.org/drawingml/2006/main">
            <a:r>
              <a:t>Distinguish them from your own measured results.</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model outputs.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A score on training rows describes training fit.</a:t>
            </a:r>
          </a:p>
          <a:p xmlns:a="http://schemas.openxmlformats.org/drawingml/2006/main">
            <a:r>
              <a:t/>
            </a:r>
          </a:p>
          <a:p xmlns:a="http://schemas.openxmlformats.org/drawingml/2006/main">
            <a:r>
              <a:t>A feature table must preserve the training column names, order and units during prediction.</a:t>
            </a:r>
          </a:p>
          <a:p xmlns:a="http://schemas.openxmlformats.org/drawingml/2006/main">
            <a:r>
              <a:t/>
            </a:r>
          </a:p>
          <a:p xmlns:a="http://schemas.openxmlformats.org/drawingml/2006/main">
            <a:r>
              <a:t>A one-dimensional list may have the wrong shape for a model expecting rows and columns.</a:t>
            </a:r>
          </a:p>
          <a:p xmlns:a="http://schemas.openxmlformats.org/drawingml/2006/main">
            <a:r>
              <a:t/>
            </a:r>
          </a:p>
          <a:p xmlns:a="http://schemas.openxmlformats.org/drawingml/2006/main">
            <a:r>
              <a:t>A predicted-versus-actual plot uses the diagonal as perfect agreement; a pattern is not proof of causation.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model outputs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 continued</a:t>
            </a:r>
          </a:p>
          <a:p xmlns:a="http://schemas.openxmlformats.org/drawingml/2006/main">
            <a:r>
              <a:t/>
            </a:r>
          </a:p>
          <a:p xmlns:a="http://schemas.openxmlformats.org/drawingml/2006/main">
            <a:r>
              <a:t>CONNECT</a:t>
            </a:r>
          </a:p>
          <a:p xmlns:a="http://schemas.openxmlformats.org/drawingml/2006/main">
            <a:r>
              <a:t>Previous slide: Reading model outputs.</a:t>
            </a:r>
          </a:p>
          <a:p xmlns:a="http://schemas.openxmlformats.org/drawingml/2006/main">
            <a:r>
              <a:t/>
            </a:r>
          </a:p>
          <a:p xmlns:a="http://schemas.openxmlformats.org/drawingml/2006/main">
            <a:r>
              <a:t>EXPLAIN</a:t>
            </a:r>
          </a:p>
          <a:p xmlns:a="http://schemas.openxmlformats.org/drawingml/2006/main">
            <a:r>
              <a:t>Judge MAE against the baseline and the decision’s acceptable error.</a:t>
            </a:r>
          </a:p>
          <a:p xmlns:a="http://schemas.openxmlformats.org/drawingml/2006/main">
            <a:r>
              <a:t/>
            </a:r>
          </a:p>
          <a:p xmlns:a="http://schemas.openxmlformats.org/drawingml/2006/main">
            <a:r>
              <a:t>R² is not an accuracy percentage.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Reading model outputs continued.</a:t>
            </a:r>
          </a:p>
          <a:p xmlns:a="http://schemas.openxmlformats.org/drawingml/2006/main">
            <a:r>
              <a:t/>
            </a:r>
          </a:p>
          <a:p xmlns:a="http://schemas.openxmlformats.org/drawingml/2006/main">
            <a:r>
              <a:t>EXPLAIN</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building cooling load. Target units: kW.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predict_regression(training_records, feature_records).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IUEA_Teaching_Plan/assessment_banks/W08/CML3112/A/TASKS.md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regression_errors(actual, predicted).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Previous slide: predict_regression(training_records, feature_records).</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IUEA_Teaching_Plan/assessment_banks/W08/CML3112/A/TASKS.md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regression_errors(actual, predicted).</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Regression and baseline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and baseline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27 Oct 2026, 11:00 Kampala</a:t>
            </a:r>
          </a:p>
          <a:p xmlns:a="http://schemas.openxmlformats.org/drawingml/2006/main">
            <a:r>
              <a:t/>
            </a:r>
          </a:p>
          <a:p xmlns:a="http://schemas.openxmlformats.org/drawingml/2006/main">
            <a:r>
              <a:t>Deadline: 03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a:t>
            </a:r>
          </a:p>
          <a:p xmlns:a="http://schemas.openxmlformats.org/drawingml/2006/main">
            <a:r>
              <a:t/>
            </a:r>
          </a:p>
          <a:p xmlns:a="http://schemas.openxmlformats.org/drawingml/2006/main">
            <a:r>
              <a:t>CONNECT</a:t>
            </a:r>
          </a:p>
          <a:p xmlns:a="http://schemas.openxmlformats.org/drawingml/2006/main">
            <a:r>
              <a:t>Previous slide: Regression and baseline submission.</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Question &amp; dataset fit (20.0 total): A real engineering question is stated, and the chosen dataset can actually answer it.</a:t>
            </a:r>
          </a:p>
          <a:p xmlns:a="http://schemas.openxmlformats.org/drawingml/2006/main">
            <a:r>
              <a:t/>
            </a:r>
          </a:p>
          <a:p xmlns:a="http://schemas.openxmlformats.org/drawingml/2006/main">
            <a:r>
              <a:t>Provenance and licence stated.</a:t>
            </a:r>
          </a:p>
          <a:p xmlns:a="http://schemas.openxmlformats.org/drawingml/2006/main">
            <a:r>
              <a:t/>
            </a:r>
          </a:p>
          <a:p xmlns:a="http://schemas.openxmlformats.org/drawingml/2006/main">
            <a:r>
              <a:t>Data quality work (25.0 total): Defects found and handled with written justification.</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A data quality statement is present.</a:t>
            </a:r>
          </a:p>
          <a:p xmlns:a="http://schemas.openxmlformats.org/drawingml/2006/main">
            <a:r>
              <a:t/>
            </a:r>
          </a:p>
          <a:p xmlns:a="http://schemas.openxmlformats.org/drawingml/2006/main">
            <a:r>
              <a:t>Analysis &amp; visualisation (30.0 total): Four or more charts, each answering a stated question.</a:t>
            </a:r>
          </a:p>
          <a:p xmlns:a="http://schemas.openxmlformats.org/drawingml/2006/main">
            <a:r>
              <a:t/>
            </a:r>
          </a:p>
          <a:p xmlns:a="http://schemas.openxmlformats.org/drawingml/2006/main">
            <a:r>
              <a:t>Correct chart types, labelled axes, findings in the captions.</a:t>
            </a:r>
          </a:p>
          <a:p xmlns:a="http://schemas.openxmlformats.org/drawingml/2006/main">
            <a:r>
              <a:t/>
            </a:r>
          </a:p>
          <a:p xmlns:a="http://schemas.openxmlformats.org/drawingml/2006/main">
            <a:r>
              <a:t>Findings &amp; interpretation (20.0 total): Conclusions supported by the analysis, stated in engineering terms, with limitations acknowledged.</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Individual contribution log (5.0 total): Present, specific, and consistent with the repository's commit history.</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analysis project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submission</a:t>
            </a:r>
          </a:p>
          <a:p xmlns:a="http://schemas.openxmlformats.org/drawingml/2006/main">
            <a:r>
              <a:t/>
            </a:r>
          </a:p>
          <a:p xmlns:a="http://schemas.openxmlformats.org/drawingml/2006/main">
            <a:r>
              <a:t>CONNECT</a:t>
            </a:r>
          </a:p>
          <a:p xmlns:a="http://schemas.openxmlformats.org/drawingml/2006/main">
            <a:r>
              <a:t>Previous slide: Data analysis project continued.</a:t>
            </a:r>
          </a:p>
          <a:p xmlns:a="http://schemas.openxmlformats.org/drawingml/2006/main">
            <a:r>
              <a:t/>
            </a:r>
          </a:p>
          <a:p xmlns:a="http://schemas.openxmlformats.org/drawingml/2006/main">
            <a:r>
              <a:t>EXPLAIN</a:t>
            </a:r>
          </a:p>
          <a:p xmlns:a="http://schemas.openxmlformats.org/drawingml/2006/main">
            <a:r>
              <a:t>Opens: 06 Oct 2026, 11:00 Kampala</a:t>
            </a:r>
          </a:p>
          <a:p xmlns:a="http://schemas.openxmlformats.org/drawingml/2006/main">
            <a:r>
              <a:t/>
            </a:r>
          </a:p>
          <a:p xmlns:a="http://schemas.openxmlformats.org/drawingml/2006/main">
            <a:r>
              <a:t>Deadline: 27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8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8 quiz</a:t>
            </a:r>
          </a:p>
          <a:p xmlns:a="http://schemas.openxmlformats.org/drawingml/2006/main">
            <a:r>
              <a:t/>
            </a:r>
          </a:p>
          <a:p xmlns:a="http://schemas.openxmlformats.org/drawingml/2006/main">
            <a:r>
              <a:t>CONNECT</a:t>
            </a:r>
          </a:p>
          <a:p xmlns:a="http://schemas.openxmlformats.org/drawingml/2006/main">
            <a:r>
              <a:t>Previous slide: Data analysis project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open_W8_CML3112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8 quiz.</a:t>
            </a:r>
          </a:p>
          <a:p xmlns:a="http://schemas.openxmlformats.org/drawingml/2006/main">
            <a:r>
              <a:t/>
            </a:r>
          </a:p>
          <a:p xmlns:a="http://schemas.openxmlformats.org/drawingml/2006/main">
            <a:r>
              <a:t>EXPLAIN</a:t>
            </a:r>
          </a:p>
          <a:p xmlns:a="http://schemas.openxmlformats.org/drawingml/2006/main">
            <a:r>
              <a:t>You can calculate one error and explain why evaluation needs unseen observations.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The Essence of Linear Regression!!!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How can a fitted line turn an input into a numerical prediction?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Draw an actual value and a prediction, then identify their difference.</a:t>
            </a:r>
          </a:p>
          <a:p xmlns:a="http://schemas.openxmlformats.org/drawingml/2006/main">
            <a:r>
              <a:t>Preview before class and stop after the selected short excerpt. If playback fails, teach the worked example. Video is optional. Source: https://www.youtube.com/watch?v=aFDOzpTeg0s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d57c9dcef14d5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96757a89556474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8dd0f99eac349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5aa0383d6a74b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7fca84fddcc488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5a2efa09dfc4c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12EAAD5-6FB8-4D8C-831D-72A7AAAAF25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BCE6D84-134A-4445-A61C-BA916163FC9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DBD506D-06F5-4EFC-920D-F2A413EA6F3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40795472-D921-449C-BD67-F3A30B1BE6F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F3567C21-B76F-4B81-A345-4EA45E24B66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59E13D8-08F7-4AF3-B7BE-883705BE115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E380257-0AAB-4C60-BC10-79B92D5A4F7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2DA91C3-8F41-4707-ADB2-55A30DA4A19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3B842B8A-D0A6-4709-AC27-CB297CBB23E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2D8E5A2-1549-4F88-BEB8-9350ABA568F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EE46ED0-E57A-4E29-905B-54269060A96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A2D5370-0211-4669-B8BC-841C5B3F5E7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144A3A9-8BB0-49D3-9811-ABB61052192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2954486-CD3E-42C3-8599-86441C53186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02FC78E-B9C1-43C4-8AE9-02586D1FF9B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b4329c9cbe4bdf" /><Relationship Type="http://schemas.openxmlformats.org/officeDocument/2006/relationships/slideLayout" Target="/ppt/slideLayouts/slideLayout1.xml" Id="R93dbfdbb3e05458b" /><Relationship Type="http://schemas.openxmlformats.org/officeDocument/2006/relationships/slideLayout" Target="/ppt/slideLayouts/slideLayout2.xml" Id="R30a0c62993a84903" /><Relationship Type="http://schemas.openxmlformats.org/officeDocument/2006/relationships/slideLayout" Target="/ppt/slideLayouts/slideLayout3.xml" Id="R1ab6e62f55954ad3" /><Relationship Type="http://schemas.openxmlformats.org/officeDocument/2006/relationships/slideLayout" Target="/ppt/slideLayouts/slideLayout4.xml" Id="R54858c5f9e754399" /><Relationship Type="http://schemas.openxmlformats.org/officeDocument/2006/relationships/slideLayout" Target="/ppt/slideLayouts/slideLayout5.xml" Id="R21bd786c88354958" /><Relationship Type="http://schemas.openxmlformats.org/officeDocument/2006/relationships/slideLayout" Target="/ppt/slideLayouts/slideLayout6.xml" Id="R049f84b658094f1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dbfdbb3e05458b"/>
    <p:sldLayoutId xmlns:r="http://schemas.openxmlformats.org/officeDocument/2006/relationships" id="2147483650" r:id="R30a0c62993a84903"/>
    <p:sldLayoutId xmlns:r="http://schemas.openxmlformats.org/officeDocument/2006/relationships" id="2147483651" r:id="R1ab6e62f55954ad3"/>
    <p:sldLayoutId xmlns:r="http://schemas.openxmlformats.org/officeDocument/2006/relationships" id="2147483652" r:id="R54858c5f9e754399"/>
    <p:sldLayoutId xmlns:r="http://schemas.openxmlformats.org/officeDocument/2006/relationships" id="2147483653" r:id="R21bd786c88354958"/>
    <p:sldLayoutId xmlns:r="http://schemas.openxmlformats.org/officeDocument/2006/relationships" id="2147483654" r:id="R049f84b658094f1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e4ee61825b4327" /><Relationship Type="http://schemas.openxmlformats.org/officeDocument/2006/relationships/image" Target="/ppt/media/image.png" Id="R7ca24abba5fa4016" /><Relationship Type="http://schemas.openxmlformats.org/officeDocument/2006/relationships/notesSlide" Target="/ppt/notesSlides/notesSlide1.xml" Id="R6aa2432bc37f4c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f370bedfe77490e" /><Relationship Type="http://schemas.openxmlformats.org/officeDocument/2006/relationships/notesSlide" Target="/ppt/notesSlides/notesSlide2.xml" Id="R5468a202a2ae49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3e894193346444a" /><Relationship Type="http://schemas.openxmlformats.org/officeDocument/2006/relationships/notesSlide" Target="/ppt/notesSlides/notesSlide3.xml" Id="R82d0a52da5ec42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bf8599fd8854adf" /><Relationship Type="http://schemas.openxmlformats.org/officeDocument/2006/relationships/notesSlide" Target="/ppt/notesSlides/notesSlide4.xml" Id="R780b1165e7fc4d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6eeba8bc5f94ce9" /><Relationship Type="http://schemas.openxmlformats.org/officeDocument/2006/relationships/notesSlide" Target="/ppt/notesSlides/notesSlide5.xml" Id="Rda156222a111436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a69d5998d8b49e0" /><Relationship Type="http://schemas.openxmlformats.org/officeDocument/2006/relationships/notesSlide" Target="/ppt/notesSlides/notesSlide6.xml" Id="R60096a8e14ce4a9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eb53787ca2d4faa" /><Relationship Type="http://schemas.openxmlformats.org/officeDocument/2006/relationships/notesSlide" Target="/ppt/notesSlides/notesSlide7.xml" Id="R4dfb4da996734f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792adb22b294a7f" /><Relationship Type="http://schemas.openxmlformats.org/officeDocument/2006/relationships/notesSlide" Target="/ppt/notesSlides/notesSlide8.xml" Id="Rb46885521cdf47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4f38218c7924a3b" /><Relationship Type="http://schemas.openxmlformats.org/officeDocument/2006/relationships/notesSlide" Target="/ppt/notesSlides/notesSlide9.xml" Id="Rd6201b8ab88e40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41837819efc4774" /><Relationship Type="http://schemas.openxmlformats.org/officeDocument/2006/relationships/notesSlide" Target="/ppt/notesSlides/notesSlide10.xml" Id="R1c002f06bd7447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fa26ebdc2d046bb" /><Relationship Type="http://schemas.openxmlformats.org/officeDocument/2006/relationships/notesSlide" Target="/ppt/notesSlides/notesSlide11.xml" Id="Rbda5a5768b474ec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9efa06139614244" /><Relationship Type="http://schemas.openxmlformats.org/officeDocument/2006/relationships/image" Target="/ppt/media/image2.png" Id="R5b72c7218b3c43dc" /><Relationship Type="http://schemas.openxmlformats.org/officeDocument/2006/relationships/notesSlide" Target="/ppt/notesSlides/notesSlide12.xml" Id="Rf04793cee5024af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58c48e10eb144b4" /><Relationship Type="http://schemas.openxmlformats.org/officeDocument/2006/relationships/notesSlide" Target="/ppt/notesSlides/notesSlide13.xml" Id="R2ce5b6a0b5f04d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c4d5200ce0e4c96" /><Relationship Type="http://schemas.openxmlformats.org/officeDocument/2006/relationships/notesSlide" Target="/ppt/notesSlides/notesSlide14.xml" Id="R2ad9778b8c194aa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f08796edc7f49ed" /><Relationship Type="http://schemas.openxmlformats.org/officeDocument/2006/relationships/notesSlide" Target="/ppt/notesSlides/notesSlide15.xml" Id="Rd4d1b08ec9734b1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d2ea4da737a4d2f" /><Relationship Type="http://schemas.openxmlformats.org/officeDocument/2006/relationships/notesSlide" Target="/ppt/notesSlides/notesSlide16.xml" Id="Rff0c1a66982e4f9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bcd740cf8d3495d" /><Relationship Type="http://schemas.openxmlformats.org/officeDocument/2006/relationships/notesSlide" Target="/ppt/notesSlides/notesSlide17.xml" Id="R449987328a614b3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f9afc88b17048a6" /><Relationship Type="http://schemas.openxmlformats.org/officeDocument/2006/relationships/notesSlide" Target="/ppt/notesSlides/notesSlide18.xml" Id="R8a708e33edc24ca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ebf26b552084ce8" /><Relationship Type="http://schemas.openxmlformats.org/officeDocument/2006/relationships/notesSlide" Target="/ppt/notesSlides/notesSlide19.xml" Id="R78b0ce5d2c764b6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c8d6a4005184111" /><Relationship Type="http://schemas.openxmlformats.org/officeDocument/2006/relationships/notesSlide" Target="/ppt/notesSlides/notesSlide20.xml" Id="R5cb255e0a49748d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2f2c25732674f84" /><Relationship Type="http://schemas.openxmlformats.org/officeDocument/2006/relationships/notesSlide" Target="/ppt/notesSlides/notesSlide21.xml" Id="R7549e99acd3744d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5cce0d128894d7a" /><Relationship Type="http://schemas.openxmlformats.org/officeDocument/2006/relationships/notesSlide" Target="/ppt/notesSlides/notesSlide22.xml" Id="R02dd8c5278d94e2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b9a0fd114334436" /><Relationship Type="http://schemas.openxmlformats.org/officeDocument/2006/relationships/notesSlide" Target="/ppt/notesSlides/notesSlide23.xml" Id="Rc29d76af0c3e44b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9f04844e9984704" /><Relationship Type="http://schemas.openxmlformats.org/officeDocument/2006/relationships/notesSlide" Target="/ppt/notesSlides/notesSlide24.xml" Id="R9aa12328260a469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d2cb73b4d3b4b3c" /><Relationship Type="http://schemas.openxmlformats.org/officeDocument/2006/relationships/notesSlide" Target="/ppt/notesSlides/notesSlide25.xml" Id="Rccc432e299254e4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20b3aa6d2c24cf4" /><Relationship Type="http://schemas.openxmlformats.org/officeDocument/2006/relationships/notesSlide" Target="/ppt/notesSlides/notesSlide26.xml" Id="R865da9357d694f0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5bd133d92d24a6e" /><Relationship Type="http://schemas.openxmlformats.org/officeDocument/2006/relationships/notesSlide" Target="/ppt/notesSlides/notesSlide27.xml" Id="Rb812cafa97c1404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1687b570c5a43a7" /><Relationship Type="http://schemas.openxmlformats.org/officeDocument/2006/relationships/notesSlide" Target="/ppt/notesSlides/notesSlide28.xml" Id="R9c18e12a44f841b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637453842174784" /><Relationship Type="http://schemas.openxmlformats.org/officeDocument/2006/relationships/notesSlide" Target="/ppt/notesSlides/notesSlide29.xml" Id="Rca83c863e5694ad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d2a5d8882b84711" /><Relationship Type="http://schemas.openxmlformats.org/officeDocument/2006/relationships/notesSlide" Target="/ppt/notesSlides/notesSlide30.xml" Id="Rbc3a20816fc1458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0b0a0102c344918" /><Relationship Type="http://schemas.openxmlformats.org/officeDocument/2006/relationships/notesSlide" Target="/ppt/notesSlides/notesSlide31.xml" Id="R6615e41f2f0a4ee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8883bdfacd645d8" /><Relationship Type="http://schemas.openxmlformats.org/officeDocument/2006/relationships/notesSlide" Target="/ppt/notesSlides/notesSlide32.xml" Id="R459a835a3d5942e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7b041cd486241d6" /><Relationship Type="http://schemas.openxmlformats.org/officeDocument/2006/relationships/notesSlide" Target="/ppt/notesSlides/notesSlide33.xml" Id="Rfb31d45ff422444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88f15054b544a0e" /><Relationship Type="http://schemas.openxmlformats.org/officeDocument/2006/relationships/notesSlide" Target="/ppt/notesSlides/notesSlide34.xml" Id="R563ad7f78a1647d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a6ddd2f4cfe4e13" /><Relationship Type="http://schemas.openxmlformats.org/officeDocument/2006/relationships/notesSlide" Target="/ppt/notesSlides/notesSlide35.xml" Id="R1c0033248775476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fdc3dacd0454c53" /><Relationship Type="http://schemas.openxmlformats.org/officeDocument/2006/relationships/notesSlide" Target="/ppt/notesSlides/notesSlide36.xml" Id="R5edc7a2c7c5d4c7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a7b2553a7594a17" /><Relationship Type="http://schemas.openxmlformats.org/officeDocument/2006/relationships/notesSlide" Target="/ppt/notesSlides/notesSlide37.xml" Id="R91dbe0eaf3204f7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abd3c3a9b9549fe" /><Relationship Type="http://schemas.openxmlformats.org/officeDocument/2006/relationships/notesSlide" Target="/ppt/notesSlides/notesSlide38.xml" Id="R0b876929b04c453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4bba09360bf4ce5" /><Relationship Type="http://schemas.openxmlformats.org/officeDocument/2006/relationships/notesSlide" Target="/ppt/notesSlides/notesSlide39.xml" Id="R00652c4f52a24b2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981012a16c0468a" /><Relationship Type="http://schemas.openxmlformats.org/officeDocument/2006/relationships/notesSlide" Target="/ppt/notesSlides/notesSlide40.xml" Id="Rf4edbaa64b4948b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77dbbcf597f4644" /><Relationship Type="http://schemas.openxmlformats.org/officeDocument/2006/relationships/notesSlide" Target="/ppt/notesSlides/notesSlide41.xml" Id="R7c6cde7423c7428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0c30a509de74a4b" /><Relationship Type="http://schemas.openxmlformats.org/officeDocument/2006/relationships/notesSlide" Target="/ppt/notesSlides/notesSlide42.xml" Id="Rf0e145ceea3c433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80583b7a8304b7d" /><Relationship Type="http://schemas.openxmlformats.org/officeDocument/2006/relationships/notesSlide" Target="/ppt/notesSlides/notesSlide43.xml" Id="Rcce4c4461a36431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26a7568b36f4409" /><Relationship Type="http://schemas.openxmlformats.org/officeDocument/2006/relationships/notesSlide" Target="/ppt/notesSlides/notesSlide44.xml" Id="Rca50ff190435486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b4ef1dcefef477b" /><Relationship Type="http://schemas.openxmlformats.org/officeDocument/2006/relationships/notesSlide" Target="/ppt/notesSlides/notesSlide45.xml" Id="R76bed463e2c64c3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dde1879f5c44365" /><Relationship Type="http://schemas.openxmlformats.org/officeDocument/2006/relationships/notesSlide" Target="/ppt/notesSlides/notesSlide46.xml" Id="R7a03c445de1f412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468d254c0ec427a" /><Relationship Type="http://schemas.openxmlformats.org/officeDocument/2006/relationships/notesSlide" Target="/ppt/notesSlides/notesSlide47.xml" Id="Rdaf62cb8c9ee45e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0a470dae76c4286" /><Relationship Type="http://schemas.openxmlformats.org/officeDocument/2006/relationships/notesSlide" Target="/ppt/notesSlides/notesSlide48.xml" Id="R118326cd6f6a4f4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3ce81f71330d447c" /><Relationship Type="http://schemas.openxmlformats.org/officeDocument/2006/relationships/notesSlide" Target="/ppt/notesSlides/notesSlide49.xml" Id="R39f234938e2c499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5d33288756d419f" /><Relationship Type="http://schemas.openxmlformats.org/officeDocument/2006/relationships/notesSlide" Target="/ppt/notesSlides/notesSlide50.xml" Id="Ra41920ae54cc4cc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449550f6efe4673" /><Relationship Type="http://schemas.openxmlformats.org/officeDocument/2006/relationships/notesSlide" Target="/ppt/notesSlides/notesSlide51.xml" Id="R6f695682fca84dc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67baee3e95447c2" /><Relationship Type="http://schemas.openxmlformats.org/officeDocument/2006/relationships/notesSlide" Target="/ppt/notesSlides/notesSlide52.xml" Id="Rf464964ad3a3431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000fde8b2a654218" /><Relationship Type="http://schemas.openxmlformats.org/officeDocument/2006/relationships/notesSlide" Target="/ppt/notesSlides/notesSlide53.xml" Id="Rfdc583f23c5e48b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3001c31940c04fdf" /><Relationship Type="http://schemas.openxmlformats.org/officeDocument/2006/relationships/notesSlide" Target="/ppt/notesSlides/notesSlide54.xml" Id="R11f835427023497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10bbfa6560514ff9" /><Relationship Type="http://schemas.openxmlformats.org/officeDocument/2006/relationships/notesSlide" Target="/ppt/notesSlides/notesSlide55.xml" Id="Rd0f2c24cfd51430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047c531a1ec4d49" /><Relationship Type="http://schemas.openxmlformats.org/officeDocument/2006/relationships/notesSlide" Target="/ppt/notesSlides/notesSlide56.xml" Id="Rff9bf4c632924d7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0e156e59b4d046a2" /><Relationship Type="http://schemas.openxmlformats.org/officeDocument/2006/relationships/notesSlide" Target="/ppt/notesSlides/notesSlide57.xml" Id="R03e0f6da50834b8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ecc3a792b33e4933" /><Relationship Type="http://schemas.openxmlformats.org/officeDocument/2006/relationships/notesSlide" Target="/ppt/notesSlides/notesSlide58.xml" Id="R4c3a4626840e424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a055ed60fab14303" /><Relationship Type="http://schemas.openxmlformats.org/officeDocument/2006/relationships/notesSlide" Target="/ppt/notesSlides/notesSlide59.xml" Id="R998e44c150784fe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8f06d6129ee745a6" /><Relationship Type="http://schemas.openxmlformats.org/officeDocument/2006/relationships/hyperlink" Target="https://docs.google.com/forms/d/e/1FAIpQLSfOpt4U_rhJrjlYCp6pyzm9ygu2vN5EwO9yeAiJaUKy-kJKoA/viewform" TargetMode="External" Id="R0f75a4cf3e92477b" /><Relationship Type="http://schemas.openxmlformats.org/officeDocument/2006/relationships/notesSlide" Target="/ppt/notesSlides/notesSlide60.xml" Id="R47c16beb219744e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e87ed34f894a4471" /><Relationship Type="http://schemas.openxmlformats.org/officeDocument/2006/relationships/notesSlide" Target="/ppt/notesSlides/notesSlide61.xml" Id="Refa9483aa3a64a2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704c1b55819340e8" /><Relationship Type="http://schemas.openxmlformats.org/officeDocument/2006/relationships/notesSlide" Target="/ppt/notesSlides/notesSlide62.xml" Id="R1d344440d09448e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4dcf0179de744ccf" /><Relationship Type="http://schemas.openxmlformats.org/officeDocument/2006/relationships/notesSlide" Target="/ppt/notesSlides/notesSlide63.xml" Id="R3e86737ccd9e4b8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f1a48490ea364fe5" /><Relationship Type="http://schemas.openxmlformats.org/officeDocument/2006/relationships/notesSlide" Target="/ppt/notesSlides/notesSlide64.xml" Id="R5589eebe99e7483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2cacce663314b59" /><Relationship Type="http://schemas.openxmlformats.org/officeDocument/2006/relationships/notesSlide" Target="/ppt/notesSlides/notesSlide65.xml" Id="Rb347025a1c69453e"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9f411cb977c4b97" /><Relationship Type="http://schemas.openxmlformats.org/officeDocument/2006/relationships/hyperlink" Target="https://docs.google.com/forms/d/e/1FAIpQLScBWq6-FVmuDHGDXqQzURw8zP6C0I8H_GnhD7sinBspayooCA/viewform" TargetMode="External" Id="Rba2422f1f3614b76" /><Relationship Type="http://schemas.openxmlformats.org/officeDocument/2006/relationships/notesSlide" Target="/ppt/notesSlides/notesSlide66.xml" Id="R00b1ae00f78e47f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f3598df1ecf44e84" /><Relationship Type="http://schemas.openxmlformats.org/officeDocument/2006/relationships/image" Target="/ppt/media/image3.png" Id="Rdf6d9ab8ee7741ff" /><Relationship Type="http://schemas.openxmlformats.org/officeDocument/2006/relationships/hyperlink" Target="https://forms.gle/MKAfeSE9NfRziGebA" TargetMode="External" Id="R3079a2112820483e" /><Relationship Type="http://schemas.openxmlformats.org/officeDocument/2006/relationships/notesSlide" Target="/ppt/notesSlides/notesSlide67.xml" Id="Rbf3df34c4b574cb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49b66dc941040f1" /><Relationship Type="http://schemas.openxmlformats.org/officeDocument/2006/relationships/notesSlide" Target="/ppt/notesSlides/notesSlide68.xml" Id="R816d635211a845d7"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e933906a9edc4311" /><Relationship Type="http://schemas.openxmlformats.org/officeDocument/2006/relationships/hyperlink" Target="https://www.youtube.com/watch?v=aFDOzpTeg0s" TargetMode="External" Id="R18e40bb690164e32" /><Relationship Type="http://schemas.openxmlformats.org/officeDocument/2006/relationships/notesSlide" Target="/ppt/notesSlides/notesSlide69.xml" Id="Ra6803f29c7f84c6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ca24abba5fa401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5EA12D5-C465-40EC-B69C-6157750AA03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6D30B47-C2E6-441C-A97C-FE495D9F9DE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8</a:t>
            </a:r>
          </a:p>
        </p:txBody>
      </p:sp>
      <p:sp>
        <p:nvSpPr>
          <p:cNvPr id="4" name="">
            <a:extLst xmlns:a="http://schemas.openxmlformats.org/drawingml/2006/main">
              <a:ext uri="{FF2B5EF4-FFF2-40B4-BE49-F238E27FC236}">
                <a16:creationId xmlns:a16="http://schemas.microsoft.com/office/drawing/2014/main" id="{D461C9A6-A111-456A-B9FB-2F490087D28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086EB902-CB01-4C7A-99FB-2A233054CC3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36A6EB88-5D87-450E-A121-AE5D092C068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27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3158701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44E403-1DDE-4B6E-88C8-85FAE23B02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717E31-21AF-43D0-82A2-5F97DB2973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A09EDE7-300B-4E9A-A786-7E2CEAFE50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F786869-FDB0-42B6-BCCB-C9614CBB06B3}"/>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64EF4B-F716-4ABA-9F69-3CA9D7C3D6A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A08AB82-1311-4248-B077-1F70BA9DB38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7BD89F15-FBE9-405D-87C9-BDE5B1BF21A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2E619ED-22C7-4AEE-86C9-3D50342E84D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2ECA3F2D-B435-4044-A143-528C00756D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a:t>
            </a:r>
          </a:p>
        </p:txBody>
      </p:sp>
    </p:spTree>
    <p:extLst>
      <p:ext uri="{BB962C8B-B14F-4D97-AF65-F5344CB8AC3E}">
        <p14:creationId xmlns:p14="http://schemas.microsoft.com/office/powerpoint/2010/main" val="8609787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982775-29B6-447E-8571-FD20B58059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819180-0BDF-4555-B6F4-9504158095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2704A5-E290-4A85-A75C-1DCA9D026A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A82E74F8-9369-45BE-891B-4A5217BA65D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FF64CA-288A-4710-A893-255C347F54A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Weeks 3–6 supplied Python, tables, cleaning and charts.</a:t>
            </a:r>
          </a:p>
        </p:txBody>
      </p:sp>
      <p:sp>
        <p:nvSpPr>
          <p:cNvPr id="6" name="">
            <a:extLst xmlns:a="http://schemas.openxmlformats.org/drawingml/2006/main">
              <a:ext uri="{FF2B5EF4-FFF2-40B4-BE49-F238E27FC236}">
                <a16:creationId xmlns:a16="http://schemas.microsoft.com/office/drawing/2014/main" id="{34DE1DE3-AFC6-4C79-A6CE-49EC6C91C64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now use paired inputs and known answers to fit a prediction rule.</a:t>
            </a:r>
          </a:p>
        </p:txBody>
      </p:sp>
      <p:sp>
        <p:nvSpPr>
          <p:cNvPr id="7" name="">
            <a:extLst xmlns:a="http://schemas.openxmlformats.org/drawingml/2006/main">
              <a:ext uri="{FF2B5EF4-FFF2-40B4-BE49-F238E27FC236}">
                <a16:creationId xmlns:a16="http://schemas.microsoft.com/office/drawing/2014/main" id="{7C672A5E-C524-48B8-8C8F-86D7D2F857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a:t>
            </a:r>
          </a:p>
        </p:txBody>
      </p:sp>
    </p:spTree>
    <p:extLst>
      <p:ext uri="{BB962C8B-B14F-4D97-AF65-F5344CB8AC3E}">
        <p14:creationId xmlns:p14="http://schemas.microsoft.com/office/powerpoint/2010/main" val="162555039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606D3DA-2D9B-4E79-A6D0-9E02209913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ED249E-7B44-4E84-9FDB-22A769499C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0B48FA-EA2E-4DF0-982A-F0940A52B6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EFB7222-2998-42E0-8D6B-11FD1E3D5F7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87C404-FACA-4CAB-8046-F8F328145CD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model predicts a numerical engineering target from measurements available beforehand.</a:t>
            </a:r>
          </a:p>
        </p:txBody>
      </p:sp>
      <p:sp>
        <p:nvSpPr>
          <p:cNvPr id="6" name="">
            <a:extLst xmlns:a="http://schemas.openxmlformats.org/drawingml/2006/main">
              <a:ext uri="{FF2B5EF4-FFF2-40B4-BE49-F238E27FC236}">
                <a16:creationId xmlns:a16="http://schemas.microsoft.com/office/drawing/2014/main" id="{E97F0476-9C50-49F7-9230-26E39FBDEA0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small invented data explain the code; they do not establish real-world accuracy.</a:t>
            </a:r>
          </a:p>
        </p:txBody>
      </p:sp>
      <p:sp>
        <p:nvSpPr>
          <p:cNvPr id="7" name="">
            <a:extLst xmlns:a="http://schemas.openxmlformats.org/drawingml/2006/main">
              <a:ext uri="{FF2B5EF4-FFF2-40B4-BE49-F238E27FC236}">
                <a16:creationId xmlns:a16="http://schemas.microsoft.com/office/drawing/2014/main" id="{C359831D-A725-463D-B744-1C23AD6C3B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a:t>
            </a:r>
          </a:p>
        </p:txBody>
      </p:sp>
    </p:spTree>
    <p:extLst>
      <p:ext uri="{BB962C8B-B14F-4D97-AF65-F5344CB8AC3E}">
        <p14:creationId xmlns:p14="http://schemas.microsoft.com/office/powerpoint/2010/main" val="56456240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E14A468-0EF1-49F6-A372-6EB5A4FA7F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2B96EA-8183-47BF-9475-A75186E7F0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73D678-0FEC-4CF1-8105-97F11382E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D43EBF0A-71F2-410F-8FC9-524277FFDB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5A2F96-9789-4BF4-87E5-A622DEA80B9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05C5FEA8-7D2B-4F63-B68C-0A9AF6E6472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AFC6E54-770A-41EF-8827-E2812DC5A24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A745C54D-1A4E-4E2D-A1F6-440F323B1A7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1DDE74-CB55-42A0-B364-C1E48D8BD31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3C658AA9-F5C5-455B-9302-9764579E763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378FF7D-14D2-4EF0-BC23-3D4DF070941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06F6A609-1C84-40C1-B0A1-421D29C5BC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a:t>
            </a:r>
          </a:p>
        </p:txBody>
      </p:sp>
    </p:spTree>
    <p:extLst>
      <p:ext uri="{BB962C8B-B14F-4D97-AF65-F5344CB8AC3E}">
        <p14:creationId xmlns:p14="http://schemas.microsoft.com/office/powerpoint/2010/main" val="15168225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3B7438-CC39-4945-B4F1-CAD7DFDF4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22B6C8-A560-4FDE-8D5E-80D1C7DC2F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9962C88-A2F0-42C7-A6BC-FA9060238E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 and target and Training validation and test</a:t>
            </a:r>
          </a:p>
        </p:txBody>
      </p:sp>
      <p:sp>
        <p:nvSpPr>
          <p:cNvPr id="4" name="">
            <a:extLst xmlns:a="http://schemas.openxmlformats.org/drawingml/2006/main">
              <a:ext uri="{FF2B5EF4-FFF2-40B4-BE49-F238E27FC236}">
                <a16:creationId xmlns:a16="http://schemas.microsoft.com/office/drawing/2014/main" id="{790F4830-C56C-43E4-82B1-DE90D36BFE2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20ED08-8148-4C8F-B7AC-2AE54A4F3DE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637BD966-6479-418C-81A2-B786BA6362E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63DD2F33-B564-40EC-91E2-5630F41F16F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CFF8A54-951A-435C-B655-4005C69C18A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EA4FFC38-7CA3-4129-9E15-DC4698105F4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C8FC70C8-E58D-493E-8474-95474F7ADE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a:t>
            </a:r>
          </a:p>
        </p:txBody>
      </p:sp>
    </p:spTree>
    <p:extLst>
      <p:ext uri="{BB962C8B-B14F-4D97-AF65-F5344CB8AC3E}">
        <p14:creationId xmlns:p14="http://schemas.microsoft.com/office/powerpoint/2010/main" val="88121129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8FFCE7B-4DEC-4E12-AA50-A7F1763A67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A5307A-0A96-42BF-AD3A-CE4C9C96BA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73DC301-0E71-48D9-A1DD-69107126ED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06BE1175-1717-4BFD-AFD9-E4F0A68320D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45D398-99BE-4320-B81E-76BDB91EBB9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EB8F7311-6466-487B-9B78-C96330FB57A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71FE5E4B-634F-4A6B-8974-20385933C8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a:t>
            </a:r>
          </a:p>
        </p:txBody>
      </p:sp>
    </p:spTree>
    <p:extLst>
      <p:ext uri="{BB962C8B-B14F-4D97-AF65-F5344CB8AC3E}">
        <p14:creationId xmlns:p14="http://schemas.microsoft.com/office/powerpoint/2010/main" val="137876031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CD5AAE-F5C4-438D-BBEA-8A8FFDE81D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38EF50-9DB0-4C6F-BF24-CF51FF13BD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1DBBF89-634B-4A5F-804F-735D7F2834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09685989-260F-4049-9A03-4212C462DCF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EDD604-953B-4BB2-A29C-EEF17C63471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69AD2F95-87DB-4AE4-A090-39EAAD3E06C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96455C91-7087-4CE6-87A7-DBA51AF2D0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8</a:t>
            </a:r>
          </a:p>
        </p:txBody>
      </p:sp>
    </p:spTree>
    <p:extLst>
      <p:ext uri="{BB962C8B-B14F-4D97-AF65-F5344CB8AC3E}">
        <p14:creationId xmlns:p14="http://schemas.microsoft.com/office/powerpoint/2010/main" val="69857500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5D52F6-DFAD-4E5A-96CA-8E5E2E3361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4875D9-781B-4230-B1E2-15D0F12EFA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20932A-2E40-4AEE-9103-19E16F464B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827F7D2D-0CFB-4A31-A80F-5D94A855E1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D6FE90-B8E7-4D6C-AC48-79700105B57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A2B8C0A3-6C22-4EF8-BCEC-605D3C9B39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CD0DAB-0794-4421-875E-E3C2C9839E0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16C2C3D5-EFBD-4993-AEF6-697F611FDE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D590F1-848D-4844-B095-E4FC416D9D0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E3ADB265-353A-440F-B8C6-A088A5D39D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9</a:t>
            </a:r>
          </a:p>
        </p:txBody>
      </p:sp>
    </p:spTree>
    <p:extLst>
      <p:ext uri="{BB962C8B-B14F-4D97-AF65-F5344CB8AC3E}">
        <p14:creationId xmlns:p14="http://schemas.microsoft.com/office/powerpoint/2010/main" val="11958047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4253FB-B983-49F4-A086-7509128396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B78B98-D932-420F-991E-DA48467332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6AE439D-F651-4454-9EAD-F9A5642DB5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91C651C-CEED-410C-98A1-1171EDA3424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FD41DD9D-2613-4B9C-904A-F3017EFA08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10</a:t>
            </a:r>
          </a:p>
        </p:txBody>
      </p:sp>
    </p:spTree>
    <p:extLst>
      <p:ext uri="{BB962C8B-B14F-4D97-AF65-F5344CB8AC3E}">
        <p14:creationId xmlns:p14="http://schemas.microsoft.com/office/powerpoint/2010/main" val="16614778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AA7979-9701-4953-B767-A9277FDE18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FB0A89-D33A-425F-80C2-2E157A877C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96CCFF8-37F8-4446-AC10-5C64514B48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94ABC16D-33B3-4F7C-BE78-74059EE4CB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1AE776-D49E-4D07-A7EE-41EE699A988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B064BA0A-0420-4169-91A4-1A0B811282D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018918-6249-4BB3-8B87-63C18C8ED0A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256B216D-1402-4AA6-889F-7974813C90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2321A4-6FD6-4DB1-AE1E-1CE0E72F2F2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BE680A06-5C75-4203-B2A9-F9180E897C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11</a:t>
            </a:r>
          </a:p>
        </p:txBody>
      </p:sp>
    </p:spTree>
    <p:extLst>
      <p:ext uri="{BB962C8B-B14F-4D97-AF65-F5344CB8AC3E}">
        <p14:creationId xmlns:p14="http://schemas.microsoft.com/office/powerpoint/2010/main" val="20135640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695ED1-F632-4E48-8441-8B2C8CE7EAE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0DA4C9-BAAF-45B7-94F3-0422269CD22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b72c7218b3c43dc"/>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F95354F-E409-4802-9D43-633700074D1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D3EEB8-B373-4561-8D5F-1A84928851A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D7051C68-12BC-46ED-8441-BD3F5BC573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12</a:t>
            </a:r>
          </a:p>
        </p:txBody>
      </p:sp>
    </p:spTree>
    <p:extLst>
      <p:ext uri="{BB962C8B-B14F-4D97-AF65-F5344CB8AC3E}">
        <p14:creationId xmlns:p14="http://schemas.microsoft.com/office/powerpoint/2010/main" val="16423782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D5B8C9-703D-4FF1-B51D-77A4F77156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65D280-187C-400A-8BC0-2722583145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EA5322-6DBA-474D-8B59-7F8A1523FD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AB32D14C-CAE9-4A98-8998-E89F19D11A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A7B505-6D23-4FB1-9B8A-B803675150A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ECADCED4-B9D3-4457-8E39-CC3A0C74003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540C92-3EFE-429B-9117-FE13406F1C6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75FD5D8F-601A-4CE8-AF1C-F9196DAFE4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ACCDEAF-DAE1-45BD-95A0-BD6AF7BA541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2BDA2A9F-CA56-4630-9B20-29507E9C3F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13</a:t>
            </a:r>
          </a:p>
        </p:txBody>
      </p:sp>
    </p:spTree>
    <p:extLst>
      <p:ext uri="{BB962C8B-B14F-4D97-AF65-F5344CB8AC3E}">
        <p14:creationId xmlns:p14="http://schemas.microsoft.com/office/powerpoint/2010/main" val="16086488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9DA473-4F21-4BFB-A1C4-3262F5D8AA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DB7BB7-1FEC-415A-8B15-92DED2826B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AB1FEE-1D9D-4E95-B494-AC89CFB2BE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matrix is a rectangular table of numbers</a:t>
            </a:r>
          </a:p>
        </p:txBody>
      </p:sp>
      <p:sp>
        <p:nvSpPr>
          <p:cNvPr id="4" name="">
            <a:extLst xmlns:a="http://schemas.openxmlformats.org/drawingml/2006/main">
              <a:ext uri="{FF2B5EF4-FFF2-40B4-BE49-F238E27FC236}">
                <a16:creationId xmlns:a16="http://schemas.microsoft.com/office/drawing/2014/main" id="{79B0C833-1919-45F0-84B3-E6447905CD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A5AFA0-6EEF-404F-803C-7E67D5D895D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matrix has rows and columns. For modelling, one row is one observation and each column is one input feature.</a:t>
            </a:r>
          </a:p>
        </p:txBody>
      </p:sp>
      <p:sp>
        <p:nvSpPr>
          <p:cNvPr id="6" name="">
            <a:extLst xmlns:a="http://schemas.openxmlformats.org/drawingml/2006/main">
              <a:ext uri="{FF2B5EF4-FFF2-40B4-BE49-F238E27FC236}">
                <a16:creationId xmlns:a16="http://schemas.microsoft.com/office/drawing/2014/main" id="{2F727515-DCD9-409D-BD0B-0575B4A5846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5DE4B8-1AC7-4735-9A8D-599D08F9EA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20], [2, 22]] has two rows and two columns. The outer list contains rows; each inner list contains that row’s features.</a:t>
            </a:r>
          </a:p>
        </p:txBody>
      </p:sp>
      <p:sp>
        <p:nvSpPr>
          <p:cNvPr id="8" name="">
            <a:extLst xmlns:a="http://schemas.openxmlformats.org/drawingml/2006/main">
              <a:ext uri="{FF2B5EF4-FFF2-40B4-BE49-F238E27FC236}">
                <a16:creationId xmlns:a16="http://schemas.microsoft.com/office/drawing/2014/main" id="{ED95F09C-3EBE-445E-83E0-5003CFD9E9D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AAAC5C-59FC-40AB-8C3A-4643B53403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is a conventional name for this input table. y holds one known target per row. These names have no special power in Python.</a:t>
            </a:r>
          </a:p>
        </p:txBody>
      </p:sp>
      <p:sp>
        <p:nvSpPr>
          <p:cNvPr id="10" name="">
            <a:extLst xmlns:a="http://schemas.openxmlformats.org/drawingml/2006/main">
              <a:ext uri="{FF2B5EF4-FFF2-40B4-BE49-F238E27FC236}">
                <a16:creationId xmlns:a16="http://schemas.microsoft.com/office/drawing/2014/main" id="{C5108CCA-8CB8-4A4C-AD68-E411BFC9E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14</a:t>
            </a:r>
          </a:p>
        </p:txBody>
      </p:sp>
    </p:spTree>
    <p:extLst>
      <p:ext uri="{BB962C8B-B14F-4D97-AF65-F5344CB8AC3E}">
        <p14:creationId xmlns:p14="http://schemas.microsoft.com/office/powerpoint/2010/main" val="154661037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6C736B-536E-4B24-BC3A-2AAB9EC4C0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78BE2A-E17F-4946-871A-684DB324BA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91C4DD6-0BDF-48F1-B9D6-630BF7C608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1B657645-6A5F-4C25-A65E-C376B844ADF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6DCCC0-6692-46A5-B257-6B82B9B9418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813CAE3D-986E-4D72-AB33-ACE5FAD5DA5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B321EAFA-6DAC-4373-8F59-A5808BF00E3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B0DE367-C2CB-47D4-8E0A-E7190CC8644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74CC9825-9AF5-45E6-BD59-C395D5DB4D4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01F3D3A9-69BF-4616-B402-D094C97779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15</a:t>
            </a:r>
          </a:p>
        </p:txBody>
      </p:sp>
    </p:spTree>
    <p:extLst>
      <p:ext uri="{BB962C8B-B14F-4D97-AF65-F5344CB8AC3E}">
        <p14:creationId xmlns:p14="http://schemas.microsoft.com/office/powerpoint/2010/main" val="61935316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1062311-3420-4BCF-929D-623683E0AC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40FA88-AD8E-48B1-A006-9A4D54BD1F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81EFAB5-4338-41FE-8AD2-0AA735847B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BFAAD0F-A125-4BD5-A14A-72FFE0F5DAB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BA31B03F-D9F3-4EBB-B712-A51D4C28F7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16</a:t>
            </a:r>
          </a:p>
        </p:txBody>
      </p:sp>
    </p:spTree>
    <p:extLst>
      <p:ext uri="{BB962C8B-B14F-4D97-AF65-F5344CB8AC3E}">
        <p14:creationId xmlns:p14="http://schemas.microsoft.com/office/powerpoint/2010/main" val="82828353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7F88F6-80F3-44DE-9F15-8F1B1783DE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B86043-BC48-4260-834A-01BF4BAF6C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AF9BD2-92CE-4568-A2D0-6F14F57BD0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an array before reading its shape</a:t>
            </a:r>
          </a:p>
        </p:txBody>
      </p:sp>
      <p:sp>
        <p:nvSpPr>
          <p:cNvPr id="4" name="">
            <a:extLst xmlns:a="http://schemas.openxmlformats.org/drawingml/2006/main">
              <a:ext uri="{FF2B5EF4-FFF2-40B4-BE49-F238E27FC236}">
                <a16:creationId xmlns:a16="http://schemas.microsoft.com/office/drawing/2014/main" id="{D807E240-ACAC-4E6E-89ED-274DF41338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2F892F-C64E-49DA-B8A2-BF6FD0D1E2E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NumPy is a library for numerical arrays. import numpy as np makes its tools available through the name np.</a:t>
            </a:r>
          </a:p>
        </p:txBody>
      </p:sp>
      <p:sp>
        <p:nvSpPr>
          <p:cNvPr id="6" name="">
            <a:extLst xmlns:a="http://schemas.openxmlformats.org/drawingml/2006/main">
              <a:ext uri="{FF2B5EF4-FFF2-40B4-BE49-F238E27FC236}">
                <a16:creationId xmlns:a16="http://schemas.microsoft.com/office/drawing/2014/main" id="{B13E039A-6448-4326-9D5C-5EE18974B6B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73FDA3-344E-418D-9158-F5BAE4381CE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array stores a regular arrangement of values. np.array([[1], [2], [3]]) creates three rows with one value in each.</a:t>
            </a:r>
          </a:p>
        </p:txBody>
      </p:sp>
      <p:sp>
        <p:nvSpPr>
          <p:cNvPr id="8" name="">
            <a:extLst xmlns:a="http://schemas.openxmlformats.org/drawingml/2006/main">
              <a:ext uri="{FF2B5EF4-FFF2-40B4-BE49-F238E27FC236}">
                <a16:creationId xmlns:a16="http://schemas.microsoft.com/office/drawing/2014/main" id="{72D7888C-4B84-438D-8EA5-AC7B984834F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9D4C08-FE21-4894-8CE4-D8F9CE71D27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X.shape reports (3, 1): three rows, one column. np.array([12, 14, 16]) is one-dimensional; its shape is (3,). The comma marks a one-item tuple.</a:t>
            </a:r>
          </a:p>
        </p:txBody>
      </p:sp>
      <p:sp>
        <p:nvSpPr>
          <p:cNvPr id="10" name="">
            <a:extLst xmlns:a="http://schemas.openxmlformats.org/drawingml/2006/main">
              <a:ext uri="{FF2B5EF4-FFF2-40B4-BE49-F238E27FC236}">
                <a16:creationId xmlns:a16="http://schemas.microsoft.com/office/drawing/2014/main" id="{EE7CBAC1-4CF6-4116-86DD-89AB269F20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17</a:t>
            </a:r>
          </a:p>
        </p:txBody>
      </p:sp>
    </p:spTree>
    <p:extLst>
      <p:ext uri="{BB962C8B-B14F-4D97-AF65-F5344CB8AC3E}">
        <p14:creationId xmlns:p14="http://schemas.microsoft.com/office/powerpoint/2010/main" val="50587906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F346230-C076-4A22-A231-376BAC9290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9C1D5D-C4E8-4148-802B-F074D7EF9A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2C8E6D5-DD85-4DB2-A029-0E3879A032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E7CB0DB5-6E37-494E-B643-C6A9A85D834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AA3CA1-CE1E-41CD-A59A-DD4FB777E89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99D9AA93-9CCC-455D-A343-51CDF369ADF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1A9C213-B2EF-420A-B25A-DBECE83445B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67DBC1E7-7519-4588-9525-8416E489791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82D27943-E42F-4175-9A2A-E56D4D71E1B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22466027-11ED-4078-9B45-E2B8FC2BA6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31B25EE1-4361-49BA-A589-39CDA996E1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18</a:t>
            </a:r>
          </a:p>
        </p:txBody>
      </p:sp>
    </p:spTree>
    <p:extLst>
      <p:ext uri="{BB962C8B-B14F-4D97-AF65-F5344CB8AC3E}">
        <p14:creationId xmlns:p14="http://schemas.microsoft.com/office/powerpoint/2010/main" val="12838384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8F4F52-C994-4563-9DEC-809AA12968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4B9DE1-D487-4F4F-94DF-8B453C70C0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C6D700D-E7F2-4911-8617-EFD8A9F9DB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8EF15EDB-E2AF-4579-BEAF-1037764CEB8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00FB96-28D4-4265-8F70-EB9C215899D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3F535F42-FCF5-4204-94BC-50DC280B593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470B6DB3-A449-4727-96A3-423BFB399F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19</a:t>
            </a:r>
          </a:p>
        </p:txBody>
      </p:sp>
    </p:spTree>
    <p:extLst>
      <p:ext uri="{BB962C8B-B14F-4D97-AF65-F5344CB8AC3E}">
        <p14:creationId xmlns:p14="http://schemas.microsoft.com/office/powerpoint/2010/main" val="60580785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4AFA2E-D4CA-43A2-BB5D-8EFA1D85B0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1BB74A-79F4-4980-84D1-E7AF477CD4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A1507D4-2EE2-49FF-A7E3-EE64333CFF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46F8C390-93E2-4B32-BD29-8D12F815B89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FB736F-CC17-45A4-8A17-D923225A28E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ED68D6D4-220B-4AD6-8555-F09663ECD4C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345E3C0D-5C77-4AC5-B17D-47CF0CEB673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C273ED7-C406-433F-A9EE-F52348C55CC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2AB4EDD5-9B88-4C50-95BC-82D83E47DA3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0DA9365B-945C-4381-BAB7-E3720A09DE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20</a:t>
            </a:r>
          </a:p>
        </p:txBody>
      </p:sp>
    </p:spTree>
    <p:extLst>
      <p:ext uri="{BB962C8B-B14F-4D97-AF65-F5344CB8AC3E}">
        <p14:creationId xmlns:p14="http://schemas.microsoft.com/office/powerpoint/2010/main" val="111135291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2030B6-6EBC-4BCC-9292-75C30AA2E2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CE67A6-85C0-4296-8A23-C6AA1754E3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9C608E4-77FE-4635-9CA2-5C918C4D1D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91F1545-066C-48D0-89E3-8C0541CA22C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CCB0FC5E-44A1-4BD9-82E1-F70D1F9CBC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21</a:t>
            </a:r>
          </a:p>
        </p:txBody>
      </p:sp>
    </p:spTree>
    <p:extLst>
      <p:ext uri="{BB962C8B-B14F-4D97-AF65-F5344CB8AC3E}">
        <p14:creationId xmlns:p14="http://schemas.microsoft.com/office/powerpoint/2010/main" val="16701103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36021D-651B-44BB-99F7-BC662FFB0D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2C2B09-BE81-4570-A281-D7654C0562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22AB40-EF49-4786-8A12-27861D0239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86C62260-5E95-4186-BD59-CA6F00200E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C5C87E-9F70-449F-B608-7CFA9ED5625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F886846D-51D4-4BD2-8D0F-490D31B658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CC2B98-8C76-4B7B-A8F9-A36A4343E5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BDBF8B18-F987-4731-A6CE-D00FFB85329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FC7072-FAA7-4384-9AAA-CB6027AD4BD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6A2CB20F-8D93-42C8-B51E-83842035E0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22</a:t>
            </a:r>
          </a:p>
        </p:txBody>
      </p:sp>
    </p:spTree>
    <p:extLst>
      <p:ext uri="{BB962C8B-B14F-4D97-AF65-F5344CB8AC3E}">
        <p14:creationId xmlns:p14="http://schemas.microsoft.com/office/powerpoint/2010/main" val="199928280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E573E7-2B63-4249-B64D-57848E4AF2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5E530E-F365-4AE6-BE4E-6AF7503067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9868E7-F865-47FB-826C-BD9382E3CA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Where the modelling tools come from</a:t>
            </a:r>
          </a:p>
        </p:txBody>
      </p:sp>
      <p:sp>
        <p:nvSpPr>
          <p:cNvPr id="4" name="">
            <a:extLst xmlns:a="http://schemas.openxmlformats.org/drawingml/2006/main">
              <a:ext uri="{FF2B5EF4-FFF2-40B4-BE49-F238E27FC236}">
                <a16:creationId xmlns:a16="http://schemas.microsoft.com/office/drawing/2014/main" id="{06F837B7-25BE-40A7-AF5D-C11A13B156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1956A2-47CF-441C-A561-446E499240F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scikit-learn is an installed machine-learning library. Its Python import name is sklearn. linear_model is the part containing LinearRegression.</a:t>
            </a:r>
          </a:p>
        </p:txBody>
      </p:sp>
      <p:sp>
        <p:nvSpPr>
          <p:cNvPr id="6" name="">
            <a:extLst xmlns:a="http://schemas.openxmlformats.org/drawingml/2006/main">
              <a:ext uri="{FF2B5EF4-FFF2-40B4-BE49-F238E27FC236}">
                <a16:creationId xmlns:a16="http://schemas.microsoft.com/office/drawing/2014/main" id="{E2B58FD8-EE10-4D8D-8AD3-6ED5ED56B4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3C511ED-9602-4287-B106-F6B7FB2A353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sklearn.linear_model import LinearRegression makes that model class available. LinearRegression() creates an individual model object.</a:t>
            </a:r>
          </a:p>
        </p:txBody>
      </p:sp>
      <p:sp>
        <p:nvSpPr>
          <p:cNvPr id="8" name="">
            <a:extLst xmlns:a="http://schemas.openxmlformats.org/drawingml/2006/main">
              <a:ext uri="{FF2B5EF4-FFF2-40B4-BE49-F238E27FC236}">
                <a16:creationId xmlns:a16="http://schemas.microsoft.com/office/drawing/2014/main" id="{6D2983AC-067B-4612-8E11-DA172AD23AC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0DA40D-4A32-4F97-A10B-B8E2D52752B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this library is normally available. If an import fails, use the course setup instructions and retry the import before running model code.</a:t>
            </a:r>
          </a:p>
        </p:txBody>
      </p:sp>
      <p:sp>
        <p:nvSpPr>
          <p:cNvPr id="10" name="">
            <a:extLst xmlns:a="http://schemas.openxmlformats.org/drawingml/2006/main">
              <a:ext uri="{FF2B5EF4-FFF2-40B4-BE49-F238E27FC236}">
                <a16:creationId xmlns:a16="http://schemas.microsoft.com/office/drawing/2014/main" id="{98B48F98-76B4-4886-99C0-C452EFBF3E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23</a:t>
            </a:r>
          </a:p>
        </p:txBody>
      </p:sp>
    </p:spTree>
    <p:extLst>
      <p:ext uri="{BB962C8B-B14F-4D97-AF65-F5344CB8AC3E}">
        <p14:creationId xmlns:p14="http://schemas.microsoft.com/office/powerpoint/2010/main" val="28640431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2F5217-13A8-4194-BB08-7FFF23F9D1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F16E38-533C-4ACF-8B1B-ADF1A55B48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1969D5-94C4-41FB-B0F3-F6A0DA8FE0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a:t>
            </a:r>
          </a:p>
        </p:txBody>
      </p:sp>
      <p:sp>
        <p:nvSpPr>
          <p:cNvPr id="4" name="">
            <a:extLst xmlns:a="http://schemas.openxmlformats.org/drawingml/2006/main">
              <a:ext uri="{FF2B5EF4-FFF2-40B4-BE49-F238E27FC236}">
                <a16:creationId xmlns:a16="http://schemas.microsoft.com/office/drawing/2014/main" id="{E87A833A-4A9F-4210-BC59-6D4F9AC94A9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628C54-DCA0-4899-9211-182DBED234D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38964D83-C71A-42A0-9D6D-B22EE8D7C3C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18222561-21C2-4BE2-91DC-5BE1D3F3520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EF63FF8B-E3FA-4369-B1F2-46389A4FD6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24</a:t>
            </a:r>
          </a:p>
        </p:txBody>
      </p:sp>
    </p:spTree>
    <p:extLst>
      <p:ext uri="{BB962C8B-B14F-4D97-AF65-F5344CB8AC3E}">
        <p14:creationId xmlns:p14="http://schemas.microsoft.com/office/powerpoint/2010/main" val="32073521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A32164-E6A7-4228-8341-1B14255CC5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E0AFD8-7921-457C-97A8-4B4D36A757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070BE1F-ABBC-41A8-96B9-A3819359B1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979CDF73-C1F6-4E91-8E4F-176328B97AB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0D08BA-B5E1-4243-93F3-23AAEB84E39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445BED54-F307-493A-B9E7-B85D0A3564A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20F12DC-2368-4BBD-BB58-F4959736FBE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C3C178E7-1824-400C-91C9-B5106D5DCD0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FC266C59-3F46-46E0-9DA1-4DCA662109C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C973069D-7C70-4F25-80DD-34F6BB0ECB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25</a:t>
            </a:r>
          </a:p>
        </p:txBody>
      </p:sp>
    </p:spTree>
    <p:extLst>
      <p:ext uri="{BB962C8B-B14F-4D97-AF65-F5344CB8AC3E}">
        <p14:creationId xmlns:p14="http://schemas.microsoft.com/office/powerpoint/2010/main" val="67748974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68DE5C1-B034-4553-9C9A-AE46AB9571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EF0CD2-27F6-47F3-B4F7-8EF1B80C1D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6A32B7-9E0A-4A94-BED5-55FE36CBE7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A4938A67-B641-4D67-97CA-7BF77A53F6F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6EEA05-96F9-4331-8235-7BE6F30218C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BEC4B1DE-C972-4811-A258-E604305A8CE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2BBB189-856F-4B94-9370-DF9B26E7558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E6AADAD9-4EF1-4540-864B-D3606CCDC7F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8BF46113-F545-4507-8C4F-AD017BA0C75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FE7BF442-E0C1-49C2-ACE0-EB3FCDFEB04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DB1D96F-9EE9-46D3-80F5-155F688DA2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26</a:t>
            </a:r>
          </a:p>
        </p:txBody>
      </p:sp>
    </p:spTree>
    <p:extLst>
      <p:ext uri="{BB962C8B-B14F-4D97-AF65-F5344CB8AC3E}">
        <p14:creationId xmlns:p14="http://schemas.microsoft.com/office/powerpoint/2010/main" val="18145213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6D2A14-BD1B-4707-8A14-C5CB3EDBB3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BBF700-45EA-412D-A3C0-38E4DE9A0A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C88B469-2989-4E3D-80CE-D4C36C6240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results</a:t>
            </a:r>
          </a:p>
        </p:txBody>
      </p:sp>
      <p:sp>
        <p:nvSpPr>
          <p:cNvPr id="4" name="">
            <a:extLst xmlns:a="http://schemas.openxmlformats.org/drawingml/2006/main">
              <a:ext uri="{FF2B5EF4-FFF2-40B4-BE49-F238E27FC236}">
                <a16:creationId xmlns:a16="http://schemas.microsoft.com/office/drawing/2014/main" id="{724A67DD-010F-4F6E-A770-E5A17A195C2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E4B137-E6FE-41C9-B642-4A884A0640B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8567EF65-363D-4DA1-8A19-48BC5B7A595D}"/>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7A86819-6B2E-460B-963D-3DAD0D7B21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27</a:t>
            </a:r>
          </a:p>
        </p:txBody>
      </p:sp>
    </p:spTree>
    <p:extLst>
      <p:ext uri="{BB962C8B-B14F-4D97-AF65-F5344CB8AC3E}">
        <p14:creationId xmlns:p14="http://schemas.microsoft.com/office/powerpoint/2010/main" val="190573046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755B0D-C507-4DC5-82EF-FE1FC98F6E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396A36-C792-42D4-A185-AA7EEC83F4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5F2A73-3EA1-4044-96C7-31B30713D3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A8AD0D2E-5D32-4563-8E12-6A204297FD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D57BD8-8704-4841-847C-0390BB4E163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6314B045-9C5D-4FFB-BA39-E87295A395D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64337B-134D-4DED-AF9D-4DE2D7D87A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30C96F90-BBE2-473A-81CC-9DAE2BBC61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8E63DA-8724-4EE6-BA7F-61344D6967F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C7E3ED8B-0560-48F2-94DF-1FE4B9E5E4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28</a:t>
            </a:r>
          </a:p>
        </p:txBody>
      </p:sp>
    </p:spTree>
    <p:extLst>
      <p:ext uri="{BB962C8B-B14F-4D97-AF65-F5344CB8AC3E}">
        <p14:creationId xmlns:p14="http://schemas.microsoft.com/office/powerpoint/2010/main" val="203527398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D5F3C92-3D2A-4DFC-B540-CC8A33A246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BD44A9-8943-46A2-B90B-5ED9B685B7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532B25-AED3-4165-B579-10BD96E3AE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FCF1EDA6-99E9-4B83-B525-1D877F921F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A2FCEA-AC26-494E-8556-0DEB96D3744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E3331893-2ACA-47D0-83EA-A432405B3ED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CA56099-15F1-438F-9CD5-9A3D7D6B71E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459FE057-FB4A-4DE1-A8AA-AC0B5312C9F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A32FC32F-EFE6-45C1-B486-E0BC8F1B0A4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BE6C2C50-C1AE-4DDE-B1B9-15C6EEBAA2B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0723ABE-2832-4DF5-8DD7-0D4ED1A542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29</a:t>
            </a:r>
          </a:p>
        </p:txBody>
      </p:sp>
    </p:spTree>
    <p:extLst>
      <p:ext uri="{BB962C8B-B14F-4D97-AF65-F5344CB8AC3E}">
        <p14:creationId xmlns:p14="http://schemas.microsoft.com/office/powerpoint/2010/main" val="61248546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A4B9FC-3EBF-448F-89FE-FFC890EA47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CCCF92-1A6C-4924-BC61-7CE552EE55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14F29C-5375-4370-9E99-A51616F0EB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1F3DD7D7-3B85-428C-85F9-70F53FE118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604B2F-E7B7-40F2-80F7-1D0442798B6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FC874141-2EDC-418D-A51F-213C068340A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F553C1-ED96-49E6-8E81-FD0488E4CDE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284D5DBC-8574-440D-8BF3-89855343103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D43684-EB6F-4C69-B862-58611D156B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8DE47CA0-5870-48FC-99E5-12A433B0D6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30</a:t>
            </a:r>
          </a:p>
        </p:txBody>
      </p:sp>
    </p:spTree>
    <p:extLst>
      <p:ext uri="{BB962C8B-B14F-4D97-AF65-F5344CB8AC3E}">
        <p14:creationId xmlns:p14="http://schemas.microsoft.com/office/powerpoint/2010/main" val="9567966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D45931-BF10-47FD-B693-BD2B9FD1B6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F82D13-1329-4126-B00B-BC2F96BB32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533FE1C-8ACF-4DF0-8025-3E98C24ED5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regression-tree prediction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 or 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Path for input 2.5</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Is input at most 2.5?</a:t>
                      </a:r>
                    </a:p>
                  </a:txBody>
                  <a:tcPr marL="91440" marR="91440" marT="45720" marB="45720">
                    <a:solidFill>
                      <a:srgbClr val="EEF3F6"/>
                    </a:solidFill>
                  </a:tcPr>
                </a:tc>
                <a:tc>
                  <a:txBody>
                    <a:bodyPr/>
                    <a:lstStyle/>
                    <a:p>
                      <a:r>
                        <a:rPr sz="2025" b="0">
                          <a:solidFill>
                            <a:srgbClr val="1C3144"/>
                          </a:solidFill>
                          <a:latin typeface="Calibri"/>
                          <a:ea typeface="Calibri"/>
                          <a:cs typeface="Calibri"/>
                        </a:rPr>
                        <a:t>Yes: use the lower group</a:t>
                      </a:r>
                    </a:p>
                  </a:txBody>
                  <a:tcPr marL="91440" marR="91440" marT="45720" marB="45720">
                    <a:solidFill>
                      <a:srgbClr val="EEF3F6"/>
                    </a:solidFill>
                  </a:tcPr>
                </a:tc>
                <a:tc>
                  <a:txBody>
                    <a:bodyPr/>
                    <a:lstStyle/>
                    <a:p>
                      <a:r>
                        <a:rPr sz="2025" b="0">
                          <a:solidFill>
                            <a:srgbClr val="1C3144"/>
                          </a:solidFill>
                          <a:latin typeface="Calibri"/>
                          <a:ea typeface="Calibri"/>
                          <a:cs typeface="Calibri"/>
                        </a:rPr>
                        <a:t>Continue within that group</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Is input at most 1.5?</a:t>
                      </a:r>
                    </a:p>
                  </a:txBody>
                  <a:tcPr marL="91440" marR="91440" marT="45720" marB="45720">
                    <a:solidFill>
                      <a:srgbClr val="FFFFFF"/>
                    </a:solidFill>
                  </a:tcPr>
                </a:tc>
                <a:tc>
                  <a:txBody>
                    <a:bodyPr/>
                    <a:lstStyle/>
                    <a:p>
                      <a:r>
                        <a:rPr sz="2025" b="0">
                          <a:solidFill>
                            <a:srgbClr val="1C3144"/>
                          </a:solidFill>
                          <a:latin typeface="Calibri"/>
                          <a:ea typeface="Calibri"/>
                          <a:cs typeface="Calibri"/>
                        </a:rPr>
                        <a:t>No: use its upper leaf</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 target 14</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Leaf prediction</a:t>
                      </a:r>
                    </a:p>
                  </a:txBody>
                  <a:tcPr marL="91440" marR="91440" marT="45720" marB="45720">
                    <a:solidFill>
                      <a:srgbClr val="EEF3F6"/>
                    </a:solidFill>
                  </a:tcPr>
                </a:tc>
                <a:tc>
                  <a:txBody>
                    <a:bodyPr/>
                    <a:lstStyle/>
                    <a:p>
                      <a:r>
                        <a:rPr sz="2025" b="0">
                          <a:solidFill>
                            <a:srgbClr val="1C3144"/>
                          </a:solidFill>
                          <a:latin typeface="Calibri"/>
                          <a:ea typeface="Calibri"/>
                          <a:cs typeface="Calibri"/>
                        </a:rPr>
                        <a:t>Return the leaf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14</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906D2DD-226C-4468-8270-8AF69E38DC5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trace describes our fitted four-row teaching tree. A different training set can produce different questions.</a:t>
            </a:r>
          </a:p>
        </p:txBody>
      </p:sp>
      <p:sp>
        <p:nvSpPr>
          <p:cNvPr id="6" name="">
            <a:extLst xmlns:a="http://schemas.openxmlformats.org/drawingml/2006/main">
              <a:ext uri="{FF2B5EF4-FFF2-40B4-BE49-F238E27FC236}">
                <a16:creationId xmlns:a16="http://schemas.microsoft.com/office/drawing/2014/main" id="{F2D64796-AD4A-463F-8DD4-67165275D2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31</a:t>
            </a:r>
          </a:p>
        </p:txBody>
      </p:sp>
    </p:spTree>
    <p:extLst>
      <p:ext uri="{BB962C8B-B14F-4D97-AF65-F5344CB8AC3E}">
        <p14:creationId xmlns:p14="http://schemas.microsoft.com/office/powerpoint/2010/main" val="77720995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F9851A-8ADA-4949-ABA4-08D1CFFF4B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9DBEB5-59FA-4EF5-A77D-7D869E9D05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414C8E-4002-485D-A7C0-F6B7F39347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BEB56318-943D-4177-AAFC-0CAD576C126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E354C7-1F28-47CD-9E82-5DF7859C34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12B9D804-56E3-422B-A7F6-9FF199520E6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F1CFA1A3-77D6-4D67-823E-56D576ECD4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5AD8B485-F8FB-4771-9B3E-59C0258ACE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32</a:t>
            </a:r>
          </a:p>
        </p:txBody>
      </p:sp>
    </p:spTree>
    <p:extLst>
      <p:ext uri="{BB962C8B-B14F-4D97-AF65-F5344CB8AC3E}">
        <p14:creationId xmlns:p14="http://schemas.microsoft.com/office/powerpoint/2010/main" val="133990776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F035CA-E98C-4693-8770-960A2843B6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14B641-9C16-4AB6-96DF-721E8FC918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5A5CEEF-2B91-4D6A-BF25-48BF292247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E0E44AC8-E672-40F8-9EA1-B05E805C6D4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8AA079-6FDA-43BD-8E76-5222B2934B2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53C2086C-A0E1-4EDF-AC1E-1BED1E0193C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4E4FAEB5-7042-4D93-B712-9F2CFC9FA2D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034012B-3F01-4DFE-911A-9E6D1E36207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68B7C6EB-42B4-4626-AAA2-E56F0E28504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AA59F308-72F2-4E1F-96FD-BE0EF4F375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33</a:t>
            </a:r>
          </a:p>
        </p:txBody>
      </p:sp>
    </p:spTree>
    <p:extLst>
      <p:ext uri="{BB962C8B-B14F-4D97-AF65-F5344CB8AC3E}">
        <p14:creationId xmlns:p14="http://schemas.microsoft.com/office/powerpoint/2010/main" val="4227066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56E8C1-FB0D-4C90-8ED8-4C47F46B12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076A4E-EB69-4985-8929-74D3142971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71E93A-0DBB-4A96-A310-8D4DED08B4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pipeline tools before combining them</a:t>
            </a:r>
          </a:p>
        </p:txBody>
      </p:sp>
      <p:sp>
        <p:nvSpPr>
          <p:cNvPr id="4" name="">
            <a:extLst xmlns:a="http://schemas.openxmlformats.org/drawingml/2006/main">
              <a:ext uri="{FF2B5EF4-FFF2-40B4-BE49-F238E27FC236}">
                <a16:creationId xmlns:a16="http://schemas.microsoft.com/office/drawing/2014/main" id="{F7E9288B-CF6F-4E54-BD2C-7EE07FCF4A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09AFB9-8248-4ED1-84B8-87C5F277F08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np.nan is NumPy’s missing-number marker. SimpleImputer(strategy="median") creates a tool that will learn each column’s median from training data.</a:t>
            </a:r>
          </a:p>
        </p:txBody>
      </p:sp>
      <p:sp>
        <p:nvSpPr>
          <p:cNvPr id="6" name="">
            <a:extLst xmlns:a="http://schemas.openxmlformats.org/drawingml/2006/main">
              <a:ext uri="{FF2B5EF4-FFF2-40B4-BE49-F238E27FC236}">
                <a16:creationId xmlns:a16="http://schemas.microsoft.com/office/drawing/2014/main" id="{FE414DCB-7A6C-4C06-B807-8410473C192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7D8BFF-18AA-4315-B39E-66AE9480185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joins preparation to prediction in that order. pipeline.fit first learns and applies the imputer, then fits the model.</a:t>
            </a:r>
          </a:p>
        </p:txBody>
      </p:sp>
      <p:sp>
        <p:nvSpPr>
          <p:cNvPr id="8" name="">
            <a:extLst xmlns:a="http://schemas.openxmlformats.org/drawingml/2006/main">
              <a:ext uri="{FF2B5EF4-FFF2-40B4-BE49-F238E27FC236}">
                <a16:creationId xmlns:a16="http://schemas.microsoft.com/office/drawing/2014/main" id="{D7037B48-DFAE-4CD6-BBF9-3F42C87D9E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CCF661-645E-41AE-A448-8FAABEDD32A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pipeline.predict applies the already learned imputer to new inputs before predicting. It does not recalculate medians from the new inputs.</a:t>
            </a:r>
          </a:p>
        </p:txBody>
      </p:sp>
      <p:sp>
        <p:nvSpPr>
          <p:cNvPr id="10" name="">
            <a:extLst xmlns:a="http://schemas.openxmlformats.org/drawingml/2006/main">
              <a:ext uri="{FF2B5EF4-FFF2-40B4-BE49-F238E27FC236}">
                <a16:creationId xmlns:a16="http://schemas.microsoft.com/office/drawing/2014/main" id="{79DE061E-AA0B-4FC8-8FA8-C0675E8F26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34</a:t>
            </a:r>
          </a:p>
        </p:txBody>
      </p:sp>
    </p:spTree>
    <p:extLst>
      <p:ext uri="{BB962C8B-B14F-4D97-AF65-F5344CB8AC3E}">
        <p14:creationId xmlns:p14="http://schemas.microsoft.com/office/powerpoint/2010/main" val="22297100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EA202F-43BE-4CAE-BECA-0F90A4DDCB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CF5A70-B5D8-45CA-AD01-34576CD82F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8A0E4C-7A31-4220-A5C2-B0A20DB998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B021454B-4AB9-400E-9E61-06C81E8411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20F168-C8BF-4130-94E7-A73436ADA32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4270966A-9F1F-43A7-9B5E-1B18C97D61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77183F-412F-4249-A671-4F0BE935F14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3722A3F4-6662-4744-BE8E-3E0306475CF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BE1350-9058-4855-9223-68CB9D4367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A7F4A95B-FDF1-4B16-A8DC-78F40E59B4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35</a:t>
            </a:r>
          </a:p>
        </p:txBody>
      </p:sp>
    </p:spTree>
    <p:extLst>
      <p:ext uri="{BB962C8B-B14F-4D97-AF65-F5344CB8AC3E}">
        <p14:creationId xmlns:p14="http://schemas.microsoft.com/office/powerpoint/2010/main" val="51226371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343566C-5571-45AE-BFB4-2569F260C4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5CE35C-997E-4653-88CE-579C754A74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0226981-BCE4-483D-B6B6-55A29C873F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training-only fill step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Stage</a:t>
                      </a:r>
                    </a:p>
                  </a:txBody>
                  <a:tcPr marL="91440" marR="91440" marT="45720" marB="45720">
                    <a:solidFill>
                      <a:srgbClr val="2E7D6F"/>
                    </a:solidFill>
                  </a:tcPr>
                </a:tc>
                <a:tc>
                  <a:txBody>
                    <a:bodyPr/>
                    <a:lstStyle/>
                    <a:p>
                      <a:r>
                        <a:rPr sz="2025" b="1">
                          <a:solidFill>
                            <a:srgbClr val="FFFFFF"/>
                          </a:solidFill>
                          <a:latin typeface="Calibri"/>
                          <a:ea typeface="Calibri"/>
                          <a:cs typeface="Calibri"/>
                        </a:rPr>
                        <a:t>Second feature values</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Training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20, 22, missing, 24</a:t>
                      </a:r>
                    </a:p>
                  </a:txBody>
                  <a:tcPr marL="91440" marR="91440" marT="45720" marB="45720">
                    <a:solidFill>
                      <a:srgbClr val="EEF3F6"/>
                    </a:solidFill>
                  </a:tcPr>
                </a:tc>
                <a:tc>
                  <a:txBody>
                    <a:bodyPr/>
                    <a:lstStyle/>
                    <a:p>
                      <a:r>
                        <a:rPr sz="2025" b="0">
                          <a:solidFill>
                            <a:srgbClr val="1C3144"/>
                          </a:solidFill>
                          <a:latin typeface="Calibri"/>
                          <a:ea typeface="Calibri"/>
                          <a:cs typeface="Calibri"/>
                        </a:rPr>
                        <a:t>Learn median 22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Training after filling</a:t>
                      </a:r>
                    </a:p>
                  </a:txBody>
                  <a:tcPr marL="91440" marR="91440" marT="45720" marB="45720">
                    <a:solidFill>
                      <a:srgbClr val="FFFFFF"/>
                    </a:solidFill>
                  </a:tcPr>
                </a:tc>
                <a:tc>
                  <a:txBody>
                    <a:bodyPr/>
                    <a:lstStyle/>
                    <a:p>
                      <a:r>
                        <a:rPr sz="2025" b="0">
                          <a:solidFill>
                            <a:srgbClr val="1C3144"/>
                          </a:solidFill>
                          <a:latin typeface="Calibri"/>
                          <a:ea typeface="Calibri"/>
                          <a:cs typeface="Calibri"/>
                        </a:rPr>
                        <a:t>20, 22, 22, 24</a:t>
                      </a:r>
                    </a:p>
                  </a:txBody>
                  <a:tcPr marL="91440" marR="91440" marT="45720" marB="45720">
                    <a:solidFill>
                      <a:srgbClr val="FFFFFF"/>
                    </a:solidFill>
                  </a:tcPr>
                </a:tc>
                <a:tc>
                  <a:txBody>
                    <a:bodyPr/>
                    <a:lstStyle/>
                    <a:p>
                      <a:r>
                        <a:rPr sz="2025" b="0">
                          <a:solidFill>
                            <a:srgbClr val="1C3144"/>
                          </a:solidFill>
                          <a:latin typeface="Calibri"/>
                          <a:ea typeface="Calibri"/>
                          <a:cs typeface="Calibri"/>
                        </a:rPr>
                        <a:t>Fit the model</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New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Missing second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Fill with saved 22</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9E902600-9BE3-4C42-86D4-6BC3E34A6DC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 new median is learned during prediction. The model receives the prepared numeric row.</a:t>
            </a:r>
          </a:p>
        </p:txBody>
      </p:sp>
      <p:sp>
        <p:nvSpPr>
          <p:cNvPr id="6" name="">
            <a:extLst xmlns:a="http://schemas.openxmlformats.org/drawingml/2006/main">
              <a:ext uri="{FF2B5EF4-FFF2-40B4-BE49-F238E27FC236}">
                <a16:creationId xmlns:a16="http://schemas.microsoft.com/office/drawing/2014/main" id="{498A8D5D-95C3-47C4-A67B-53833F2B9F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36</a:t>
            </a:r>
          </a:p>
        </p:txBody>
      </p:sp>
    </p:spTree>
    <p:extLst>
      <p:ext uri="{BB962C8B-B14F-4D97-AF65-F5344CB8AC3E}">
        <p14:creationId xmlns:p14="http://schemas.microsoft.com/office/powerpoint/2010/main" val="86681683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0B368C-2226-4991-A874-F378399BA3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397165-2C9C-4E2E-AE2A-8A57B92CF8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3F51B27-121D-450D-8198-1531CE991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2EC89CB3-5197-4794-966C-CA986846424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604D25-CCA4-4503-B1EE-70D1878E340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B53B8957-3128-4075-8C0B-D2B05BA3EC4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EF0BC629-99FC-4EAF-A1AD-B2CA48F5111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1D6F0FE4-9BC3-4022-B4E3-1EC8BA106A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37</a:t>
            </a:r>
          </a:p>
        </p:txBody>
      </p:sp>
    </p:spTree>
    <p:extLst>
      <p:ext uri="{BB962C8B-B14F-4D97-AF65-F5344CB8AC3E}">
        <p14:creationId xmlns:p14="http://schemas.microsoft.com/office/powerpoint/2010/main" val="137574322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A20694-AB84-4881-A6D3-BCED9652EE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57ED94-D9C9-42CB-B169-7624C786D0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2F72B3F-933A-4836-88A4-D9797EF3A6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E5667E05-DB75-400D-9864-E6BF0C5BF2A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47173E-7888-4F87-B4FC-960D2213037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014E06B9-9721-4E47-9F9F-B8D9EB4DCA0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499E0B61-4EE4-4FCE-A106-749B75420D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0E3A47B-C15F-42BE-919C-8A3643986B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38</a:t>
            </a:r>
          </a:p>
        </p:txBody>
      </p:sp>
    </p:spTree>
    <p:extLst>
      <p:ext uri="{BB962C8B-B14F-4D97-AF65-F5344CB8AC3E}">
        <p14:creationId xmlns:p14="http://schemas.microsoft.com/office/powerpoint/2010/main" val="2032902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4CEC71-E2EA-4CC9-B8D5-92509CC772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E27D2A-DCA1-4EF1-9846-4AFDFF0FDE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BE5864-4C42-467D-A5AE-9A784859D7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C5A205D7-7950-440E-8ECD-B7905CC7C1D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75A517-9ACF-4D81-9B40-2085FD77210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3FC2DFA3-F007-453A-BCC5-28A06585CBA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D80B1D-6FE7-4B73-8FAE-D7C60708ADA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88DFF665-4D46-4A87-9741-3637BF22E3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7EBCFD-DF3C-441B-8386-9194815BC2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D70A3CF7-B001-4B73-B768-6665EA212C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39</a:t>
            </a:r>
          </a:p>
        </p:txBody>
      </p:sp>
    </p:spTree>
    <p:extLst>
      <p:ext uri="{BB962C8B-B14F-4D97-AF65-F5344CB8AC3E}">
        <p14:creationId xmlns:p14="http://schemas.microsoft.com/office/powerpoint/2010/main" val="36305215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7CD356-FA80-4E47-93D3-4056ED9873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A4BEE3-35B2-4D58-8620-B0088A203A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EB93FB1-BEBA-4C61-8D3B-A0BB811AD6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F544E9BE-306A-4A60-A431-2B1F1A2D1C5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2ADA7E-B8B2-4310-BD04-3900453E3CE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CE90825B-6D96-47D6-9225-E16470A785F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2AA65814-3A72-4B04-B53F-5A6EEA18CE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19B3C7C-28B4-46AC-B3CC-5F4F7A71BB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40</a:t>
            </a:r>
          </a:p>
        </p:txBody>
      </p:sp>
    </p:spTree>
    <p:extLst>
      <p:ext uri="{BB962C8B-B14F-4D97-AF65-F5344CB8AC3E}">
        <p14:creationId xmlns:p14="http://schemas.microsoft.com/office/powerpoint/2010/main" val="100571307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983B75-370B-4BF8-B407-BD5E892D23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04D05D-AB6F-473A-AFBF-B0BEB73E47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AD80171-76FF-4FE3-8D1D-816C49E400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873C4C56-1D31-4A97-8122-6961C8801AA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5CC9C3-270B-4365-89F3-E27CFDFCD12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F6C86751-7134-415A-865C-F2A52379ED4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17A85A6F-1AA7-4A4E-A327-421768FE43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41</a:t>
            </a:r>
          </a:p>
        </p:txBody>
      </p:sp>
    </p:spTree>
    <p:extLst>
      <p:ext uri="{BB962C8B-B14F-4D97-AF65-F5344CB8AC3E}">
        <p14:creationId xmlns:p14="http://schemas.microsoft.com/office/powerpoint/2010/main" val="197429855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DB5916-B46F-48CE-A2BB-EE79E681E6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C9C44A-0489-40DB-9111-589EC2A220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D8CC5D6-F085-4E7F-BF13-1F0F17F9C9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0C4386D-A3E8-4D7A-B923-F0BD1B34ACF1}"/>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89380044-914D-4623-99A5-DEA3D6A891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42</a:t>
            </a:r>
          </a:p>
        </p:txBody>
      </p:sp>
    </p:spTree>
    <p:extLst>
      <p:ext uri="{BB962C8B-B14F-4D97-AF65-F5344CB8AC3E}">
        <p14:creationId xmlns:p14="http://schemas.microsoft.com/office/powerpoint/2010/main" val="39662917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E1A58D-A322-4AAC-82A0-06306CD83A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21EAD8-7307-4CF1-9F9A-911848AD80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450CE1D-3777-40A9-A434-46115A48C4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6F738032-0B26-4FAB-A9AF-BF77F60D119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E589DB-B686-4203-BA4C-DBA6D1BE082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5E490BCB-2470-4476-9934-4FB75C278D2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0853253F-7A53-42D8-866F-EA9E81B120D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637CBAE-B26C-4864-B64D-9399BB5A0D7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6F02E79A-CA0C-4FAD-95F9-652F90BED69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1F2197D5-B209-4F40-93C6-FAA3E74ED1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43</a:t>
            </a:r>
          </a:p>
        </p:txBody>
      </p:sp>
    </p:spTree>
    <p:extLst>
      <p:ext uri="{BB962C8B-B14F-4D97-AF65-F5344CB8AC3E}">
        <p14:creationId xmlns:p14="http://schemas.microsoft.com/office/powerpoint/2010/main" val="185302863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AB2E43-C12A-48C5-9B08-A3A0FA15F8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AC90C7-1E9A-4F10-BE18-EB08C6A60D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DD0CFD-3B7E-4AC1-838E-BD2BAE6F48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 two lists using zip</a:t>
            </a:r>
          </a:p>
        </p:txBody>
      </p:sp>
      <p:sp>
        <p:nvSpPr>
          <p:cNvPr id="4" name="">
            <a:extLst xmlns:a="http://schemas.openxmlformats.org/drawingml/2006/main">
              <a:ext uri="{FF2B5EF4-FFF2-40B4-BE49-F238E27FC236}">
                <a16:creationId xmlns:a16="http://schemas.microsoft.com/office/drawing/2014/main" id="{9AE4908D-C7A8-4DDB-91C1-040D981841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9AFC05-F476-43F3-B258-9F501762FE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zip(actual, predicted) visits matching positions together. for truth, guess in zip(...): unpacks each pair into two names.</a:t>
            </a:r>
          </a:p>
        </p:txBody>
      </p:sp>
      <p:sp>
        <p:nvSpPr>
          <p:cNvPr id="6" name="">
            <a:extLst xmlns:a="http://schemas.openxmlformats.org/drawingml/2006/main">
              <a:ext uri="{FF2B5EF4-FFF2-40B4-BE49-F238E27FC236}">
                <a16:creationId xmlns:a16="http://schemas.microsoft.com/office/drawing/2014/main" id="{40FE6822-FEBD-4828-B12F-95D83F864A5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260806-A292-447D-854F-53C086C1E4C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actual [10, 20] and predicted [12, 16], the pairs are (10, 12) and (20, 16). They describe the same observations in the same order.</a:t>
            </a:r>
          </a:p>
        </p:txBody>
      </p:sp>
      <p:sp>
        <p:nvSpPr>
          <p:cNvPr id="8" name="">
            <a:extLst xmlns:a="http://schemas.openxmlformats.org/drawingml/2006/main">
              <a:ext uri="{FF2B5EF4-FFF2-40B4-BE49-F238E27FC236}">
                <a16:creationId xmlns:a16="http://schemas.microsoft.com/office/drawing/2014/main" id="{74898415-7474-4781-AE08-EAA34842CAB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EC3481-A9E0-4DBB-A5AF-C92A552B21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stops at the shorter input. Check equal, nonzero lengths for these error calculations; otherwise a result could ignore observations.</a:t>
            </a:r>
          </a:p>
        </p:txBody>
      </p:sp>
      <p:sp>
        <p:nvSpPr>
          <p:cNvPr id="10" name="">
            <a:extLst xmlns:a="http://schemas.openxmlformats.org/drawingml/2006/main">
              <a:ext uri="{FF2B5EF4-FFF2-40B4-BE49-F238E27FC236}">
                <a16:creationId xmlns:a16="http://schemas.microsoft.com/office/drawing/2014/main" id="{75A02B6B-3000-4F31-95CC-923E593EF3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44</a:t>
            </a:r>
          </a:p>
        </p:txBody>
      </p:sp>
    </p:spTree>
    <p:extLst>
      <p:ext uri="{BB962C8B-B14F-4D97-AF65-F5344CB8AC3E}">
        <p14:creationId xmlns:p14="http://schemas.microsoft.com/office/powerpoint/2010/main" val="583429003"/>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685561-9B8C-4876-8819-0D12E2896F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B75982-CDE5-4C6C-A3D5-DB129F4B29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FDA4311-05C5-4907-9935-67AFA976E8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pairs before measuring errors</a:t>
            </a:r>
          </a:p>
        </p:txBody>
      </p:sp>
      <p:sp>
        <p:nvSpPr>
          <p:cNvPr id="4" name="">
            <a:extLst xmlns:a="http://schemas.openxmlformats.org/drawingml/2006/main">
              <a:ext uri="{FF2B5EF4-FFF2-40B4-BE49-F238E27FC236}">
                <a16:creationId xmlns:a16="http://schemas.microsoft.com/office/drawing/2014/main" id="{DEB5D0BB-BA76-44F2-950C-9ECE816DF6B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79725B-A7B6-436F-98A0-24AF8B6797F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actual = [10, 20]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predicted = [12, 16]</a:t>
            </a:r>
          </a:p>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print(truth, guess)</a:t>
            </a:r>
          </a:p>
        </p:txBody>
      </p:sp>
      <p:sp>
        <p:nvSpPr>
          <p:cNvPr id="6" name="">
            <a:extLst xmlns:a="http://schemas.openxmlformats.org/drawingml/2006/main">
              <a:ext uri="{FF2B5EF4-FFF2-40B4-BE49-F238E27FC236}">
                <a16:creationId xmlns:a16="http://schemas.microsoft.com/office/drawing/2014/main" id="{1BE47623-4049-4A26-ACD2-1B26AA6DE1B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BC1B4D-F155-4799-AAC2-0BFF2DC68B8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first names receive the first pair, then the second pair.</a:t>
            </a:r>
          </a:p>
        </p:txBody>
      </p:sp>
      <p:sp>
        <p:nvSpPr>
          <p:cNvPr id="8" name="">
            <a:extLst xmlns:a="http://schemas.openxmlformats.org/drawingml/2006/main">
              <a:ext uri="{FF2B5EF4-FFF2-40B4-BE49-F238E27FC236}">
                <a16:creationId xmlns:a16="http://schemas.microsoft.com/office/drawing/2014/main" id="{FBEC3406-38CA-4C76-AB7C-C8F9F1F99EE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10 12; 20 16</a:t>
            </a:r>
          </a:p>
        </p:txBody>
      </p:sp>
      <p:sp>
        <p:nvSpPr>
          <p:cNvPr id="9" name="">
            <a:extLst xmlns:a="http://schemas.openxmlformats.org/drawingml/2006/main">
              <a:ext uri="{FF2B5EF4-FFF2-40B4-BE49-F238E27FC236}">
                <a16:creationId xmlns:a16="http://schemas.microsoft.com/office/drawing/2014/main" id="{D3E255B0-6222-4287-A08B-4FA39A4970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45</a:t>
            </a:r>
          </a:p>
        </p:txBody>
      </p:sp>
    </p:spTree>
    <p:extLst>
      <p:ext uri="{BB962C8B-B14F-4D97-AF65-F5344CB8AC3E}">
        <p14:creationId xmlns:p14="http://schemas.microsoft.com/office/powerpoint/2010/main" val="1887702024"/>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8228BF-54AD-4445-9248-6F340E4886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5DE905-1A12-4DC3-B881-AEA6E368FB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420AF9B-B292-4E92-88A6-04FA83279B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absolute and squared errors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Actual and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Squared error</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10 and 12</a:t>
                      </a:r>
                    </a:p>
                  </a:txBody>
                  <a:tcPr marL="91440" marR="91440" marT="45720" marB="45720">
                    <a:solidFill>
                      <a:srgbClr val="EEF3F6"/>
                    </a:solidFill>
                  </a:tcPr>
                </a:tc>
                <a:tc>
                  <a:txBody>
                    <a:bodyPr/>
                    <a:lstStyle/>
                    <a:p>
                      <a:r>
                        <a:rPr sz="2025" b="0">
                          <a:solidFill>
                            <a:srgbClr val="1C3144"/>
                          </a:solidFill>
                          <a:latin typeface="Calibri"/>
                          <a:ea typeface="Calibri"/>
                          <a:cs typeface="Calibri"/>
                        </a:rPr>
                        <a:t>abs(-2) = 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2 = 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20 and 16</a:t>
                      </a:r>
                    </a:p>
                  </a:txBody>
                  <a:tcPr marL="91440" marR="91440" marT="45720" marB="45720">
                    <a:solidFill>
                      <a:srgbClr val="FFFFFF"/>
                    </a:solidFill>
                  </a:tcPr>
                </a:tc>
                <a:tc>
                  <a:txBody>
                    <a:bodyPr/>
                    <a:lstStyle/>
                    <a:p>
                      <a:r>
                        <a:rPr sz="2025" b="0">
                          <a:solidFill>
                            <a:srgbClr val="1C3144"/>
                          </a:solidFill>
                          <a:latin typeface="Calibri"/>
                          <a:ea typeface="Calibri"/>
                          <a:cs typeface="Calibri"/>
                        </a:rPr>
                        <a:t>abs(4) = 4</a:t>
                      </a:r>
                    </a:p>
                  </a:txBody>
                  <a:tcPr marL="91440" marR="91440" marT="45720" marB="45720">
                    <a:solidFill>
                      <a:srgbClr val="FFFFFF"/>
                    </a:solidFill>
                  </a:tcPr>
                </a:tc>
                <a:tc>
                  <a:txBody>
                    <a:bodyPr/>
                    <a:lstStyle/>
                    <a:p>
                      <a:r>
                        <a:rPr sz="2025" b="0">
                          <a:solidFill>
                            <a:srgbClr val="1C3144"/>
                          </a:solidFill>
                          <a:latin typeface="Calibri"/>
                          <a:ea typeface="Calibri"/>
                          <a:cs typeface="Calibri"/>
                        </a:rPr>
                        <a:t>4 ** 2 = 16</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Average</a:t>
                      </a:r>
                    </a:p>
                  </a:txBody>
                  <a:tcPr marL="91440" marR="91440" marT="45720" marB="45720">
                    <a:solidFill>
                      <a:srgbClr val="EEF3F6"/>
                    </a:solidFill>
                  </a:tcPr>
                </a:tc>
                <a:tc>
                  <a:txBody>
                    <a:bodyPr/>
                    <a:lstStyle/>
                    <a:p>
                      <a:r>
                        <a:rPr sz="2025" b="0">
                          <a:solidFill>
                            <a:srgbClr val="1C3144"/>
                          </a:solidFill>
                          <a:latin typeface="Calibri"/>
                          <a:ea typeface="Calibri"/>
                          <a:cs typeface="Calibri"/>
                        </a:rPr>
                        <a:t>(2 + 4) / 2 = 3</a:t>
                      </a:r>
                    </a:p>
                  </a:txBody>
                  <a:tcPr marL="91440" marR="91440" marT="45720" marB="45720">
                    <a:solidFill>
                      <a:srgbClr val="EEF3F6"/>
                    </a:solidFill>
                  </a:tcPr>
                </a:tc>
                <a:tc>
                  <a:txBody>
                    <a:bodyPr/>
                    <a:lstStyle/>
                    <a:p>
                      <a:r>
                        <a:rPr sz="2025" b="0">
                          <a:solidFill>
                            <a:srgbClr val="1C3144"/>
                          </a:solidFill>
                          <a:latin typeface="Calibri"/>
                          <a:ea typeface="Calibri"/>
                          <a:cs typeface="Calibri"/>
                        </a:rPr>
                        <a:t>(4 + 16) / 2 = 10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F688FC9-2B9D-4914-ABC0-D6846662C9C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is 3. RMSE is sqrt(10), approximately 3.1623. sqrt means the nonnegative square root.</a:t>
            </a:r>
          </a:p>
        </p:txBody>
      </p:sp>
      <p:sp>
        <p:nvSpPr>
          <p:cNvPr id="6" name="">
            <a:extLst xmlns:a="http://schemas.openxmlformats.org/drawingml/2006/main">
              <a:ext uri="{FF2B5EF4-FFF2-40B4-BE49-F238E27FC236}">
                <a16:creationId xmlns:a16="http://schemas.microsoft.com/office/drawing/2014/main" id="{20C3CC7A-F479-4DAB-BFD0-C8B3C39E19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46</a:t>
            </a:r>
          </a:p>
        </p:txBody>
      </p:sp>
    </p:spTree>
    <p:extLst>
      <p:ext uri="{BB962C8B-B14F-4D97-AF65-F5344CB8AC3E}">
        <p14:creationId xmlns:p14="http://schemas.microsoft.com/office/powerpoint/2010/main" val="98937032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0CE138-2954-422C-BDEB-8BCE0B39AF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5B434F-E08A-43E8-A562-DC28DAA4E1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C56BAE-6619-4878-9AFF-3E5F75C223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C2938C94-2AB6-4E3F-8D0C-DB1297763D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CAE979-7EA1-483F-9076-17D27EF7B29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9DE5F56F-EF70-4A69-9DF2-39607338B85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A55156-3665-4FB3-8EC2-189B9788F73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90A374C2-CAC9-4641-8C31-1FB3D23B666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AB090B-AAC3-45CA-BAC3-D106D612DD5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FCC8CD72-99F9-4396-BEB5-28A3FC341F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47</a:t>
            </a:r>
          </a:p>
        </p:txBody>
      </p:sp>
    </p:spTree>
    <p:extLst>
      <p:ext uri="{BB962C8B-B14F-4D97-AF65-F5344CB8AC3E}">
        <p14:creationId xmlns:p14="http://schemas.microsoft.com/office/powerpoint/2010/main" val="89326719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F184560-1130-400B-98F2-9A32375281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7E5BDE-7567-4D09-B7CB-58EE564970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1DBB1AD-E73A-4BBE-9A1B-2FF67AC0F9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DA0E5054-E76E-4292-A0F4-23F3A160CBF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36A8EE-A7E7-44C6-8870-62886402F8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2678A3E2-3774-4596-89B4-3C58A340863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BD73EFE-D0C7-481D-A0CB-7C30748F24F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9CA763CA-7881-41C9-B0B4-0183DE641D0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13BD788B-4DDB-44B9-B150-5BE40881F9F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74398B7C-F819-456F-9267-A379BB404C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1378875-59D8-4A57-94C3-0624E07834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48</a:t>
            </a:r>
          </a:p>
        </p:txBody>
      </p:sp>
    </p:spTree>
    <p:extLst>
      <p:ext uri="{BB962C8B-B14F-4D97-AF65-F5344CB8AC3E}">
        <p14:creationId xmlns:p14="http://schemas.microsoft.com/office/powerpoint/2010/main" val="54597283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F550869-FAC6-48B9-BA32-C2DF67A079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552BBD-B1AF-4CDD-A3B5-C45609C388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8186366-5A6C-4931-9A84-58CB8D0DC3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C71FF2B7-3E24-4EEB-8EC9-628DAD48EFA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39758A-4980-4999-93FE-489A7CDDAD9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89A026D6-9F1F-408F-B8E2-31FAE560FB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72BEB3E-A9C4-49D7-9B7A-A40FA42E298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783D21CB-5A8C-47D7-8F83-7C58E8F6244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70A77666-BA1D-4EA4-9714-4D1F0279D2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49</a:t>
            </a:r>
          </a:p>
        </p:txBody>
      </p:sp>
    </p:spTree>
    <p:extLst>
      <p:ext uri="{BB962C8B-B14F-4D97-AF65-F5344CB8AC3E}">
        <p14:creationId xmlns:p14="http://schemas.microsoft.com/office/powerpoint/2010/main" val="10499075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AC6B50-1676-43B8-B8F5-7F1131BEFD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B02ABE-CB8A-48FF-AD0B-61704168C9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0C5F5A-9CD1-48DA-AE9A-D3AAA3DD33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922408C4-B6CA-47DE-9F1C-CD53E5774CE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D74C54-95D6-4791-A329-85BBC92972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F0A8D020-BE55-46FA-BC11-83A1F9BAC80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918753-6C4D-4EF3-AC63-FB5E13BEACF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B52C336B-9603-4686-87E8-D935AE76EF0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D37F64-1FAD-4864-96A3-BD103132799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A93BED80-E661-40B5-ABFE-8417AD2188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50</a:t>
            </a:r>
          </a:p>
        </p:txBody>
      </p:sp>
    </p:spTree>
    <p:extLst>
      <p:ext uri="{BB962C8B-B14F-4D97-AF65-F5344CB8AC3E}">
        <p14:creationId xmlns:p14="http://schemas.microsoft.com/office/powerpoint/2010/main" val="155577086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959E8B-6C30-4F18-9EEC-BE4743A73A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49AFBE-CD8F-45E1-9693-B4B3230D27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8EC7D1-024E-4973-B912-A6CC5B14E9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99B0AF9D-A80E-41DC-808A-9DD361DB391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2448CC-2598-403C-8572-C5EAA87B44D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FFD63DA-BAC8-42F1-BCD4-5572AEB8EB5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On paper compare actual [10, 20] with predictions [12, 16]. Find MAE and RMSE. Is MAE a plus/minus guarantee for each prediction?</a:t>
            </a:r>
          </a:p>
        </p:txBody>
      </p:sp>
      <p:sp>
        <p:nvSpPr>
          <p:cNvPr id="7" name="">
            <a:extLst xmlns:a="http://schemas.openxmlformats.org/drawingml/2006/main">
              <a:ext uri="{FF2B5EF4-FFF2-40B4-BE49-F238E27FC236}">
                <a16:creationId xmlns:a16="http://schemas.microsoft.com/office/drawing/2014/main" id="{3A90DB40-26EE-47A2-96AE-075168A961D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Absolute errors are 2 and 4: MAE 3. Squared errors 4 and 16: RMSE sqrt(10), about 3.162. MAE is an average, not an individual error bound.</a:t>
            </a:r>
          </a:p>
        </p:txBody>
      </p:sp>
      <p:sp>
        <p:nvSpPr>
          <p:cNvPr id="8" name="">
            <a:extLst xmlns:a="http://schemas.openxmlformats.org/drawingml/2006/main">
              <a:ext uri="{FF2B5EF4-FFF2-40B4-BE49-F238E27FC236}">
                <a16:creationId xmlns:a16="http://schemas.microsoft.com/office/drawing/2014/main" id="{25251F63-7058-4FB6-AA94-49EA08996F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51</a:t>
            </a:r>
          </a:p>
        </p:txBody>
      </p:sp>
    </p:spTree>
    <p:extLst>
      <p:ext uri="{BB962C8B-B14F-4D97-AF65-F5344CB8AC3E}">
        <p14:creationId xmlns:p14="http://schemas.microsoft.com/office/powerpoint/2010/main" val="32014222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7A83F3D-7307-404A-8E14-1F3CDE32B3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D8A1CA-5E94-42E1-8F2C-DDF2029831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FE36F0-1228-4140-822C-6EC2325A36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A08D3171-CC13-4A2F-A2B5-C0170E7AB5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0484BE-B8D5-4846-8487-537AF998EE2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BDAAD28D-3194-47EA-807D-4574B6DBB45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C35C1A5-B54C-4FD3-9DD1-826044E55B7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B384B591-9F18-45FF-A5E3-9E457558A10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F0064B-561E-45BC-B093-19F0D80F36E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2A6F2127-708E-4ED4-8E9F-33FDA1E3CF6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3FFE76C-6EE9-4B62-98B5-736970BEDEC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A54033BD-31E7-4EBF-BA42-2E62CE2C59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52</a:t>
            </a:r>
          </a:p>
        </p:txBody>
      </p:sp>
    </p:spTree>
    <p:extLst>
      <p:ext uri="{BB962C8B-B14F-4D97-AF65-F5344CB8AC3E}">
        <p14:creationId xmlns:p14="http://schemas.microsoft.com/office/powerpoint/2010/main" val="129427149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B70936-A96E-41D8-9F39-AF91805AB5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58BD7D-5783-4085-BD05-B11DAD3EAB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ED494E-FE00-4DAD-8517-2A7A7456FF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907033E2-A0DA-4658-B5C6-8B0D8D049E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EACBCB-4426-4B1F-9002-54575A5EFAB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A5BD01F7-DA7A-4572-9B35-17D980E4C1F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A19659-3711-48AB-8A67-A98D472B514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2198B9A3-A861-4A57-B91F-796E76729B0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B31704-EBBF-476A-B0C0-5C06288F701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DD9EE921-10D4-4EC5-B094-043C4D2640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53</a:t>
            </a:r>
          </a:p>
        </p:txBody>
      </p:sp>
    </p:spTree>
    <p:extLst>
      <p:ext uri="{BB962C8B-B14F-4D97-AF65-F5344CB8AC3E}">
        <p14:creationId xmlns:p14="http://schemas.microsoft.com/office/powerpoint/2010/main" val="80536009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C019670-D619-40E4-B519-D02763EBC0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69D6F0-9661-443E-B335-4223E78444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EEBCA7-A53C-4A50-9E76-9720E54DAD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48E44699-2775-4EA6-9228-0ADE0C8C78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A6B086-0FCE-4D6D-9714-9E9FA733348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0F3AE7A5-0222-41FD-8CD2-0EAD356F97E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5AF622-644E-458A-95AC-B1A6BEFC65A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1AE00090-E73D-46E1-BAF0-A10C4575F24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5C058D-2343-465F-8818-AA6955D1A00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059C4814-8ABA-4606-8BA1-242B1DADEE2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43F6B71-2528-433B-83A1-99DBD8DB092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66A2D512-3E2E-4D5E-9EC6-749AAE488D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54</a:t>
            </a:r>
          </a:p>
        </p:txBody>
      </p:sp>
    </p:spTree>
    <p:extLst>
      <p:ext uri="{BB962C8B-B14F-4D97-AF65-F5344CB8AC3E}">
        <p14:creationId xmlns:p14="http://schemas.microsoft.com/office/powerpoint/2010/main" val="126468618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B68B74-CFD3-4DEF-8D73-610799B25B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D6E023-2A7C-4F2D-BD93-3D76E67F2D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916BE3-5F4C-49AC-B7DE-D9FE9B7744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DC0E9A84-AEA9-4A5A-A740-E159FFA18B1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294571-B87C-4D74-A757-3371164D9A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B47BAE-E5DA-47B3-AE2E-477C6C5AA90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D9F09247-7F1B-4140-A102-4345698D4EB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2EF2F35D-5125-400B-B0BE-0F15701268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55</a:t>
            </a:r>
          </a:p>
        </p:txBody>
      </p:sp>
    </p:spTree>
    <p:extLst>
      <p:ext uri="{BB962C8B-B14F-4D97-AF65-F5344CB8AC3E}">
        <p14:creationId xmlns:p14="http://schemas.microsoft.com/office/powerpoint/2010/main" val="134633480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9B094F7-D7D8-4383-921A-EC99C65AC0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3E54A9-F5E2-4CC4-A759-DB80FB3842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3D64EF-3182-4372-A5F0-3D357C8721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FCA63A5-01AA-42C7-AAB1-6106C5F546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D46C82-7A48-4F75-A49A-54328F8565E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1781FF75-86CE-4BE3-8D4B-77B258FADEB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C773F6-1533-4ABD-A8A3-BF9312D7D6B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1FF4342E-639C-4CD3-82BF-181124D50A2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9B7C93-1ACE-4F27-87CE-873C46287A2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6572BB1C-F0EF-4F45-A81D-D2C607E12E9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24E143C-4190-4D74-B9C8-95E66719532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F4A415E8-F5ED-441C-84AD-87FA6A7412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56</a:t>
            </a:r>
          </a:p>
        </p:txBody>
      </p:sp>
    </p:spTree>
    <p:extLst>
      <p:ext uri="{BB962C8B-B14F-4D97-AF65-F5344CB8AC3E}">
        <p14:creationId xmlns:p14="http://schemas.microsoft.com/office/powerpoint/2010/main" val="108950751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2F70D2-1218-4D19-B18F-7655B19574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77ACE2-6E41-46A3-815A-CBAB0F8B4D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62C93B2-F70A-4EF3-A6F7-8A4CB05C09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D63980C3-0175-41DA-BFB4-B468C52CD53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EDC4F5-4B28-424B-B8B5-7221871E035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D788CBA3-E726-4456-AC31-C281CA2FEAB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89D6020-E078-4E6A-BE30-98AD789FA85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C3F0CB6-5250-412B-BAB4-7B15099F4B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57</a:t>
            </a:r>
          </a:p>
        </p:txBody>
      </p:sp>
    </p:spTree>
    <p:extLst>
      <p:ext uri="{BB962C8B-B14F-4D97-AF65-F5344CB8AC3E}">
        <p14:creationId xmlns:p14="http://schemas.microsoft.com/office/powerpoint/2010/main" val="74967000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1646E4-FC72-41AB-A17C-6118B3FDE0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75FF01-08B5-4C1D-8A5D-7667E7DE55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684413F-977D-4F81-859B-2C8E0A04A2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24FDBA1E-DB4F-4A78-A046-D55D73CA80B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0075D1-FFB7-42A3-AB14-86A5983281D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C43705DD-6731-4F5F-96E7-256782A625F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0D344DD-03C0-41CA-B82A-B87F1502A6F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BBEEC43-5FC5-4F18-B673-91EFDC19AC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58</a:t>
            </a:r>
          </a:p>
        </p:txBody>
      </p:sp>
    </p:spTree>
    <p:extLst>
      <p:ext uri="{BB962C8B-B14F-4D97-AF65-F5344CB8AC3E}">
        <p14:creationId xmlns:p14="http://schemas.microsoft.com/office/powerpoint/2010/main" val="211910147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9D5B03-184F-4C92-A4E9-6A7C4173C9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D7E9D6-88E3-4A6E-8ED0-A3937276BF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2125CD7-DE5D-4ECF-8DAD-64D03D55C1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FA7CBF4-188F-4E92-AA66-D052D1BE42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1C78A5-28E7-48E8-8D58-61CB2F9270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8E95CF14-D6A6-46E9-9443-A196072F104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4408E1-A721-4642-99B4-CA1D0CD79EF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6C8DB96F-DAEC-4907-A648-D78555ABFC4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BDDB71-919A-4D46-B6AE-B6E12D5D0D9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04BB5CAD-E867-4821-BD61-5396C517C2C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6E9A95C-7467-482B-81A7-21241C66E50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BFD6038-09BE-4F6B-A402-8887393BE1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59</a:t>
            </a:r>
          </a:p>
        </p:txBody>
      </p:sp>
    </p:spTree>
    <p:extLst>
      <p:ext uri="{BB962C8B-B14F-4D97-AF65-F5344CB8AC3E}">
        <p14:creationId xmlns:p14="http://schemas.microsoft.com/office/powerpoint/2010/main" val="179629067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6DEA3F4-78A6-4C0D-9792-0B359E1E98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DF9F0A-0A28-4C95-8715-3450EB9EC6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97287C1-2CCC-429B-B440-6085589EC4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AF215ADE-8288-4EC8-AC01-F3EF46FC69C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851A4D-2462-4103-8562-B2278C73544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Oct 2026, 11:00 Kampala</a:t>
            </a:r>
          </a:p>
        </p:txBody>
      </p:sp>
      <p:sp>
        <p:nvSpPr>
          <p:cNvPr id="6" name="">
            <a:extLst xmlns:a="http://schemas.openxmlformats.org/drawingml/2006/main">
              <a:ext uri="{FF2B5EF4-FFF2-40B4-BE49-F238E27FC236}">
                <a16:creationId xmlns:a16="http://schemas.microsoft.com/office/drawing/2014/main" id="{D9C938C9-17F0-48BA-A1E2-8C0F7C5E11A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9728DE-4759-4E45-BAD0-D7294388D7B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03 Nov 2026, 11:00 Kampala</a:t>
            </a:r>
          </a:p>
        </p:txBody>
      </p:sp>
      <p:sp>
        <p:nvSpPr>
          <p:cNvPr id="8" name="">
            <a:extLst xmlns:a="http://schemas.openxmlformats.org/drawingml/2006/main">
              <a:ext uri="{FF2B5EF4-FFF2-40B4-BE49-F238E27FC236}">
                <a16:creationId xmlns:a16="http://schemas.microsoft.com/office/drawing/2014/main" id="{B0B10FFD-3CCB-4C55-9A12-483A3BF684A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0F814B-A79E-464E-A0E9-077B79D3CAD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7AC6006-7D9A-4904-A9CE-F8A0AF3254D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BFCA3E-41D8-4BEE-80C5-50CE73850C4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C97A762-A208-4BED-BA9B-6C1575ACC0F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DEB4DAE-869D-447D-A318-F982A1858AD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f75a4cf3e92477b"/>
              </a:rPr>
              <a:t>Open W08 assignment form</a:t>
            </a:r>
          </a:p>
        </p:txBody>
      </p:sp>
      <p:sp>
        <p:nvSpPr>
          <p:cNvPr id="14" name="">
            <a:extLst xmlns:a="http://schemas.openxmlformats.org/drawingml/2006/main">
              <a:ext uri="{FF2B5EF4-FFF2-40B4-BE49-F238E27FC236}">
                <a16:creationId xmlns:a16="http://schemas.microsoft.com/office/drawing/2014/main" id="{6042679E-F117-4DF3-8028-4BED5767AB7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https://docs.google.com/forms/d/e/1FAIpQLSfOpt4U_rhJrjlYCp6pyzm9ygu2vN5EwO9yeAiJaUKy-kJKoA/viewform</a:t>
            </a:r>
          </a:p>
        </p:txBody>
      </p:sp>
      <p:sp>
        <p:nvSpPr>
          <p:cNvPr id="15" name="">
            <a:extLst xmlns:a="http://schemas.openxmlformats.org/drawingml/2006/main">
              <a:ext uri="{FF2B5EF4-FFF2-40B4-BE49-F238E27FC236}">
                <a16:creationId xmlns:a16="http://schemas.microsoft.com/office/drawing/2014/main" id="{3E67669E-3625-4AE4-8C96-1A6B8A530C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60</a:t>
            </a:r>
          </a:p>
        </p:txBody>
      </p:sp>
    </p:spTree>
    <p:extLst>
      <p:ext uri="{BB962C8B-B14F-4D97-AF65-F5344CB8AC3E}">
        <p14:creationId xmlns:p14="http://schemas.microsoft.com/office/powerpoint/2010/main" val="2038806232"/>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A2FBA31-0FF7-4764-BFCE-E690351603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91B04A-05CB-4679-8537-34D1616BD8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533F0E0-FE40-4B71-93AB-AB9305FF8E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E4EB7A53-076F-4DDA-8824-37E561B69F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5F84E6-CBDB-4638-9A56-A65F823803C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445CAE48-CD82-4B77-AAE6-BBDF8FAF1E3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232623-5B75-4234-A9C7-44F5023C28E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6EFBEDC1-7FF7-4034-8933-1BD4130837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1921A0-6175-4857-8AAA-864CE05AAD8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85AF9BA8-C83F-4240-B9B1-0AD94086608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62B5678-886E-4042-B6E0-9C043D028EE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DCA3C0ED-BD71-40FE-AABA-5A9D2ADD86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61</a:t>
            </a:r>
          </a:p>
        </p:txBody>
      </p:sp>
    </p:spTree>
    <p:extLst>
      <p:ext uri="{BB962C8B-B14F-4D97-AF65-F5344CB8AC3E}">
        <p14:creationId xmlns:p14="http://schemas.microsoft.com/office/powerpoint/2010/main" val="193492320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202F6F1-384E-47D3-A8A5-E54D9870F4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01B1BE-A9B2-4DF2-BBFC-9680C10459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DD846E7-504A-4E15-A0D0-E406C71606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93F7206D-940B-4DA4-8DE3-CAAFD1A642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0064A5-124A-48CB-9140-3FEFFCDC554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223C0AE4-2F5B-426E-8E58-6E5DA7F2D8B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678A22-0762-4A67-8976-78FA2EE7720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BC177D6C-541C-46F3-A1AC-2885702644B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5F78FB-A703-45FD-A138-7612E85E2A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33A8476D-2308-4260-86F4-AC79F8EE67A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071C7CA-FC17-4FDB-9626-2ABE0BB77F6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34D22E21-9DA4-41DC-8E0A-777BE12423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62</a:t>
            </a:r>
          </a:p>
        </p:txBody>
      </p:sp>
    </p:spTree>
    <p:extLst>
      <p:ext uri="{BB962C8B-B14F-4D97-AF65-F5344CB8AC3E}">
        <p14:creationId xmlns:p14="http://schemas.microsoft.com/office/powerpoint/2010/main" val="75242426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B3911E5-4625-43FC-960C-DC175A9AEB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7880B3-D7E5-4C75-A6BA-38A62CA4CA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1D0452D-E157-47F8-9032-22FE1DAAF8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3E9C06DC-D4FD-4AA4-9075-470371E143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994A65-A8B3-40F0-9CD9-DF3DCF6D73C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48A9288C-7AB6-4041-A0D5-4A68A96726A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84EDFE0-979A-4305-88BE-6F81FF3A1F7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D7956C83-BF68-4F95-A7FA-F1DD59599BE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766501-BFA2-4E8B-8894-CD4218E6C9E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703E32FA-2AA9-4DB6-8C2B-FC87F0DD010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3DE750-A8EC-48D4-A7FB-DBCA009D60D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CD37E545-1372-4604-A26B-919146F8B6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63</a:t>
            </a:r>
          </a:p>
        </p:txBody>
      </p:sp>
    </p:spTree>
    <p:extLst>
      <p:ext uri="{BB962C8B-B14F-4D97-AF65-F5344CB8AC3E}">
        <p14:creationId xmlns:p14="http://schemas.microsoft.com/office/powerpoint/2010/main" val="180422154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B58E2B0-07FD-4D3C-8783-EC0B262774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A9A010-91B2-4EF7-BC4C-D1C8B5048D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26A86EA-8FC3-4605-9B15-E7F74E9B8E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5A98CFAC-4FA9-478D-A9BD-79FB60E077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8DA1D7-DDE1-4DBF-8FD1-CFC4AF5E37C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494A5117-1111-4194-8534-B0DE1DE4864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54AA7E-AE62-42D4-9F09-8DD1E9629E9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B24A365F-B0F5-4578-B120-2A22872F7B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7012BC-15C9-44AF-9E35-9B1546C2518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FF597B60-14E6-4B10-8102-DCA84B59DAB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ADDB66-FE99-4979-B517-8F93AEF6C4D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AD90DAE5-8631-4CFA-9408-EFF89AF11D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64</a:t>
            </a:r>
          </a:p>
        </p:txBody>
      </p:sp>
    </p:spTree>
    <p:extLst>
      <p:ext uri="{BB962C8B-B14F-4D97-AF65-F5344CB8AC3E}">
        <p14:creationId xmlns:p14="http://schemas.microsoft.com/office/powerpoint/2010/main" val="56106414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BCA848-44E4-481A-98E0-44DA274EEF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8F2644-2897-47A1-BA70-E651A16BE9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A36C986-5C3B-4497-A18F-459EC3E1E7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7FCED23C-8F8B-47D1-96F3-FD90D9730D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293F4B-9D1A-4433-9CF7-CDE250A1CF6F}"/>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FDC358F9-489B-4E53-B6A0-98D5C5E6DB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65</a:t>
            </a:r>
          </a:p>
        </p:txBody>
      </p:sp>
    </p:spTree>
    <p:extLst>
      <p:ext uri="{BB962C8B-B14F-4D97-AF65-F5344CB8AC3E}">
        <p14:creationId xmlns:p14="http://schemas.microsoft.com/office/powerpoint/2010/main" val="66490825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5075B07-27A1-4F74-932F-A76F0990BF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34AB3A-14D0-41E9-A7C2-2B2FBA5C9E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854F84A-F4EA-42FB-8C86-26BBF5502D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A79FB7B8-C660-4576-870A-E2CDD4FDC99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719FD8-8FCA-4970-BDE0-3EB05622B61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41F72EE8-C054-4E0E-A7C0-16EC564F4F7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F8AD0F-7D5E-4597-B98E-9BB3AA7F1CF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Oct 2026, 11:00 Kampala</a:t>
            </a:r>
          </a:p>
        </p:txBody>
      </p:sp>
      <p:sp>
        <p:nvSpPr>
          <p:cNvPr id="8" name="">
            <a:extLst xmlns:a="http://schemas.openxmlformats.org/drawingml/2006/main">
              <a:ext uri="{FF2B5EF4-FFF2-40B4-BE49-F238E27FC236}">
                <a16:creationId xmlns:a16="http://schemas.microsoft.com/office/drawing/2014/main" id="{504E78FF-14A1-4763-9459-773B6B7BAC7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A51928-F7DF-425D-B10A-C83F7AD16CE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A2CC174-FC7B-45A3-8DD1-CF100CA52DE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02761B2-B217-402F-AFBC-243CE9DC0A4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DB8D75B-F085-40EC-A4E2-209F76BA95A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2C4C736-D32B-4062-AD31-2040E3293FC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a2422f1f3614b76"/>
              </a:rPr>
              <a:t>Open DA_PROJECT assignment form</a:t>
            </a:r>
          </a:p>
        </p:txBody>
      </p:sp>
      <p:sp>
        <p:nvSpPr>
          <p:cNvPr id="14" name="">
            <a:extLst xmlns:a="http://schemas.openxmlformats.org/drawingml/2006/main">
              <a:ext uri="{FF2B5EF4-FFF2-40B4-BE49-F238E27FC236}">
                <a16:creationId xmlns:a16="http://schemas.microsoft.com/office/drawing/2014/main" id="{F37A2B50-3E3A-47ED-A491-9C5AB78BE4A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https://docs.google.com/forms/d/e/1FAIpQLScBWq6-FVmuDHGDXqQzURw8zP6C0I8H_GnhD7sinBspayooCA/viewform</a:t>
            </a:r>
          </a:p>
        </p:txBody>
      </p:sp>
      <p:sp>
        <p:nvSpPr>
          <p:cNvPr id="15" name="">
            <a:extLst xmlns:a="http://schemas.openxmlformats.org/drawingml/2006/main">
              <a:ext uri="{FF2B5EF4-FFF2-40B4-BE49-F238E27FC236}">
                <a16:creationId xmlns:a16="http://schemas.microsoft.com/office/drawing/2014/main" id="{1C197957-ACF8-40A9-826B-EB9485A9C1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66</a:t>
            </a:r>
          </a:p>
        </p:txBody>
      </p:sp>
    </p:spTree>
    <p:extLst>
      <p:ext uri="{BB962C8B-B14F-4D97-AF65-F5344CB8AC3E}">
        <p14:creationId xmlns:p14="http://schemas.microsoft.com/office/powerpoint/2010/main" val="1649456072"/>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79A2DBB-CCA0-424E-A5F1-9A7B72565E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C2F9D5-FF10-403D-ACAC-F594804909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6CFB76BC-2871-4E58-A320-42C67F45EF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DB665C12-DC5C-4B0A-A34D-9284C50D63C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999AF9-0433-4969-AE12-EBA78BDBF3D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8D5FE14-C3B0-42D4-B30A-130140D2FC9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6CFF03-86AF-42D8-9D21-F15DF4BD410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9F7FFB75-4241-4EA7-8079-A148B9424E6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8B81F9-5401-42E4-A30F-ACA343097FF2}"/>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B6F7F356-725A-4A10-A2F1-79BECF55A43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D701804-442B-4C70-B959-C521DAAAC868}"/>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f6d9ab8ee7741f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8902989-9779-40B1-B074-991D7608736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A5E79DB7-7C82-4114-8A9D-06FF6B861BA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B84127B-23C1-4A33-A2E8-F82E62C5D52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079a2112820483e"/>
              </a:rPr>
              <a:t>Open this week’s quiz</a:t>
            </a:r>
          </a:p>
        </p:txBody>
      </p:sp>
      <p:sp>
        <p:nvSpPr>
          <p:cNvPr id="16" name="">
            <a:extLst xmlns:a="http://schemas.openxmlformats.org/drawingml/2006/main">
              <a:ext uri="{FF2B5EF4-FFF2-40B4-BE49-F238E27FC236}">
                <a16:creationId xmlns:a16="http://schemas.microsoft.com/office/drawing/2014/main" id="{B4312009-A510-414B-842B-E10E7A5B346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https://forms.gle/MKAfeSE9NfRziGebA</a:t>
            </a:r>
          </a:p>
        </p:txBody>
      </p:sp>
      <p:sp>
        <p:nvSpPr>
          <p:cNvPr id="17" name="">
            <a:extLst xmlns:a="http://schemas.openxmlformats.org/drawingml/2006/main">
              <a:ext uri="{FF2B5EF4-FFF2-40B4-BE49-F238E27FC236}">
                <a16:creationId xmlns:a16="http://schemas.microsoft.com/office/drawing/2014/main" id="{4D09EBDA-C2BA-4E66-AA61-43607802CC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67</a:t>
            </a:r>
          </a:p>
        </p:txBody>
      </p:sp>
    </p:spTree>
    <p:extLst>
      <p:ext uri="{BB962C8B-B14F-4D97-AF65-F5344CB8AC3E}">
        <p14:creationId xmlns:p14="http://schemas.microsoft.com/office/powerpoint/2010/main" val="741221331"/>
      </p:ext>
    </p:extLst>
  </p:cSld>
</p:sld>
</file>

<file path=ppt/slides/slide6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8EC8EB-69A6-40C4-900D-41B534F669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F6486E5-7546-4DE4-B3D1-5B73DD2362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A76BF57-82CE-44D3-A9CD-A60CD7FE8E0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F61A8157-596D-4FB3-BC18-9A7068DE804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ED992C8-CFB1-443E-9C36-8F454600856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DC6CA4C0-4161-4C6E-BFC8-34D882EAB1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8   68</a:t>
            </a:r>
          </a:p>
        </p:txBody>
      </p:sp>
    </p:spTree>
    <p:extLst>
      <p:ext uri="{BB962C8B-B14F-4D97-AF65-F5344CB8AC3E}">
        <p14:creationId xmlns:p14="http://schemas.microsoft.com/office/powerpoint/2010/main" val="199377368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ECDFE8F-4FA8-46EA-B258-39C4D9FEC5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EDD689-AEC5-4760-B239-B54C94A7BB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618CF3E-BF51-4C34-AF43-4FA38A08DA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CED0FEF4-9E8B-426F-A57C-029F6853F7A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3A4387-14ED-4C77-BC34-ABA04B2B083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0A8B3272-1CD5-44FD-A51D-687D9BF6EFE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FC625E-5233-4FFF-A407-7B2EC30D573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0DC5F646-983D-4287-B55E-7C7A52BFF30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3286C3-A0CD-4508-A052-217C6A50E0E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44DE2B67-C495-42DF-B5B0-57AEE79B893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A516808-4161-41B3-97CA-749E555FC14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6AECB951-72BE-49E3-BAA6-8FB9E6F3293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224451D-1075-4FE3-91CB-4E967071A8E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8e40bb690164e32"/>
              </a:rPr>
              <a:t>Open explainer video</a:t>
            </a:r>
          </a:p>
        </p:txBody>
      </p:sp>
      <p:sp>
        <p:nvSpPr>
          <p:cNvPr id="14" name="">
            <a:extLst xmlns:a="http://schemas.openxmlformats.org/drawingml/2006/main">
              <a:ext uri="{FF2B5EF4-FFF2-40B4-BE49-F238E27FC236}">
                <a16:creationId xmlns:a16="http://schemas.microsoft.com/office/drawing/2014/main" id="{117D3630-1477-4857-AAE2-84B6756FAF5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10045DC4-4B43-4360-AA53-F2165093BB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69</a:t>
            </a:r>
          </a:p>
        </p:txBody>
      </p:sp>
    </p:spTree>
    <p:extLst>
      <p:ext uri="{BB962C8B-B14F-4D97-AF65-F5344CB8AC3E}">
        <p14:creationId xmlns:p14="http://schemas.microsoft.com/office/powerpoint/2010/main" val="1091500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2026-09-28T21:45:13.1440000Z</dcterms:created>
  <dcterms:modified xsi:type="dcterms:W3CDTF">2026-09-28T21:45:13.1440000Z</dcterms:modified>
</coreProperties>
</file>