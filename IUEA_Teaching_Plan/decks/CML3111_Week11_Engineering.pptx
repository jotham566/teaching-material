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bfb99c538d34ea5" Type="http://schemas.openxmlformats.org/package/2006/relationships/metadata/core-properties" Target="docProps/core.xml"/><Relationship Id="R3764fddcd10841b0" Type="http://schemas.openxmlformats.org/officeDocument/2006/relationships/extended-properties" Target="docProps/app.xml"/><Relationship Id="R44b8a43b32b84953"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4ff1b8b0af5941ee"/>
  </p:sldMasterIdLst>
  <p:notesMasterIdLst>
    <p:notesMasterId xmlns:r="http://schemas.openxmlformats.org/officeDocument/2006/relationships" r:id="R7fdcd78c6a5046a6"/>
  </p:notesMasterIdLst>
  <p:sldIdLst>
    <p:sldId xmlns:r="http://schemas.openxmlformats.org/officeDocument/2006/relationships" id="256" r:id="Rcf7f23de7c6744ba"/>
    <p:sldId xmlns:r="http://schemas.openxmlformats.org/officeDocument/2006/relationships" id="257" r:id="Rda9328a336864217"/>
    <p:sldId xmlns:ns0="http://schemas.openxmlformats.org/officeDocument/2006/relationships" id="306" ns0:id="rId56"/>
    <p:sldId xmlns:r="http://schemas.openxmlformats.org/officeDocument/2006/relationships" id="258" r:id="R96ba7e9102564dcc"/>
    <p:sldId xmlns:r="http://schemas.openxmlformats.org/officeDocument/2006/relationships" id="262" r:id="Rd707744e15c54ff7"/>
    <p:sldId xmlns:r="http://schemas.openxmlformats.org/officeDocument/2006/relationships" id="268" r:id="Rcb4d650be4bf49ee"/>
    <p:sldId xmlns:r="http://schemas.openxmlformats.org/officeDocument/2006/relationships" id="269" r:id="Rb25ec1cb5ee44f9a"/>
    <p:sldId xmlns:r="http://schemas.openxmlformats.org/officeDocument/2006/relationships" id="270" r:id="Rb1a9e39e708e48f3"/>
    <p:sldId xmlns:r="http://schemas.openxmlformats.org/officeDocument/2006/relationships" id="271" r:id="Rc99e780a874a46a3"/>
    <p:sldId xmlns:r="http://schemas.openxmlformats.org/officeDocument/2006/relationships" id="272" r:id="Rf3423ca29e6147c2"/>
    <p:sldId xmlns:r="http://schemas.openxmlformats.org/officeDocument/2006/relationships" id="273" r:id="R658815d243a1421c"/>
    <p:sldId xmlns:ns0="http://schemas.openxmlformats.org/officeDocument/2006/relationships" id="307" ns0:id="rId57"/>
    <p:sldId xmlns:r="http://schemas.openxmlformats.org/officeDocument/2006/relationships" id="274" r:id="R9ef40578c0f94ceb"/>
    <p:sldId xmlns:r="http://schemas.openxmlformats.org/officeDocument/2006/relationships" id="275" r:id="Rf4fb16ddd6214dca"/>
    <p:sldId xmlns:r="http://schemas.openxmlformats.org/officeDocument/2006/relationships" id="276" r:id="Re871523da7874b95"/>
    <p:sldId xmlns:r="http://schemas.openxmlformats.org/officeDocument/2006/relationships" id="277" r:id="R1837d18cabe74f2e"/>
    <p:sldId xmlns:r="http://schemas.openxmlformats.org/officeDocument/2006/relationships" id="278" r:id="Rc378dfe5ed2d4e65"/>
    <p:sldId xmlns:ns0="http://schemas.openxmlformats.org/officeDocument/2006/relationships" id="308" ns0:id="rId58"/>
    <p:sldId xmlns:r="http://schemas.openxmlformats.org/officeDocument/2006/relationships" id="279" r:id="Ra3ec3b1cfd63469e"/>
    <p:sldId xmlns:r="http://schemas.openxmlformats.org/officeDocument/2006/relationships" id="284" r:id="R18bcea3d8db64a29"/>
    <p:sldId xmlns:r="http://schemas.openxmlformats.org/officeDocument/2006/relationships" id="285" r:id="Rd963e6f1987c43d3"/>
    <p:sldId xmlns:r="http://schemas.openxmlformats.org/officeDocument/2006/relationships" id="286" r:id="Rb1c775afa3c744f7"/>
    <p:sldId xmlns:r="http://schemas.openxmlformats.org/officeDocument/2006/relationships" id="287" r:id="Rf3009cffd7c649b3"/>
    <p:sldId xmlns:r="http://schemas.openxmlformats.org/officeDocument/2006/relationships" id="288" r:id="R5fbc685594f44c4b"/>
    <p:sldId xmlns:r="http://schemas.openxmlformats.org/officeDocument/2006/relationships" id="289" r:id="R3ed615d16b7b4e4d"/>
    <p:sldId xmlns:r="http://schemas.openxmlformats.org/officeDocument/2006/relationships" id="290" r:id="R2df11a783a444c80"/>
    <p:sldId xmlns:r="http://schemas.openxmlformats.org/officeDocument/2006/relationships" id="291" r:id="Ra91b959b579942b1"/>
    <p:sldId xmlns:r="http://schemas.openxmlformats.org/officeDocument/2006/relationships" id="292" r:id="R1625e40a7b654495"/>
    <p:sldId xmlns:r="http://schemas.openxmlformats.org/officeDocument/2006/relationships" id="293" r:id="Rb9602ef0fd61472f"/>
    <p:sldId xmlns:ns0="http://schemas.openxmlformats.org/officeDocument/2006/relationships" id="309" ns0:id="rId59"/>
    <p:sldId xmlns:ns0="http://schemas.openxmlformats.org/officeDocument/2006/relationships" id="310" ns0:id="rId60"/>
    <p:sldId xmlns:ns0="http://schemas.openxmlformats.org/officeDocument/2006/relationships" id="312" ns0:id="rId46"/>
    <p:sldId xmlns:r="http://schemas.openxmlformats.org/officeDocument/2006/relationships" id="298" r:id="R9a55b1843e07436f"/>
    <p:sldId xmlns:r="http://schemas.openxmlformats.org/officeDocument/2006/relationships" id="299" r:id="R20dae676eb194717"/>
    <p:sldId xmlns:r="http://schemas.openxmlformats.org/officeDocument/2006/relationships" id="300" r:id="R1c5787958563453e"/>
    <p:sldId xmlns:r="http://schemas.openxmlformats.org/officeDocument/2006/relationships" id="301" r:id="R86908e2e202f4e08"/>
    <p:sldId xmlns:r="http://schemas.openxmlformats.org/officeDocument/2006/relationships" id="303" r:id="Rfc2c44586198438a"/>
    <p:sldId xmlns:ns0="http://schemas.openxmlformats.org/officeDocument/2006/relationships" id="311" ns0:id="rId61"/>
    <p:sldId xmlns:r="http://schemas.openxmlformats.org/officeDocument/2006/relationships" id="305" r:id="R823911cb26754962"/>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625e40a7b654495" Type="http://schemas.openxmlformats.org/officeDocument/2006/relationships/slide" Target="slides/slide28.xml"/><Relationship Id="R1837d18cabe74f2e" Type="http://schemas.openxmlformats.org/officeDocument/2006/relationships/slide" Target="slides/slide16.xml"/><Relationship Id="R18bcea3d8db64a29" Type="http://schemas.openxmlformats.org/officeDocument/2006/relationships/slide" Target="slides/slide20.xml"/><Relationship Id="R1c5787958563453e" Type="http://schemas.openxmlformats.org/officeDocument/2006/relationships/slide" Target="slides/slide35.xml"/><Relationship Id="R20dae676eb194717" Type="http://schemas.openxmlformats.org/officeDocument/2006/relationships/slide" Target="slides/slide34.xml"/><Relationship Id="R2df11a783a444c80" Type="http://schemas.openxmlformats.org/officeDocument/2006/relationships/slide" Target="slides/slide26.xml"/><Relationship Id="R3ed615d16b7b4e4d" Type="http://schemas.openxmlformats.org/officeDocument/2006/relationships/slide" Target="slides/slide25.xml"/><Relationship Id="R4ff1b8b0af5941ee" Type="http://schemas.openxmlformats.org/officeDocument/2006/relationships/slideMaster" Target="slideMasters/slideMaster1.xml"/><Relationship Id="R5fbc685594f44c4b" Type="http://schemas.openxmlformats.org/officeDocument/2006/relationships/slide" Target="slides/slide24.xml"/><Relationship Id="R658815d243a1421c" Type="http://schemas.openxmlformats.org/officeDocument/2006/relationships/slide" Target="slides/slide11.xml"/><Relationship Id="R6865c3e9d6cb4e12" Type="http://schemas.openxmlformats.org/officeDocument/2006/relationships/tableStyles" Target="tableStyles.xml"/><Relationship Id="R7fdcd78c6a5046a6" Type="http://schemas.openxmlformats.org/officeDocument/2006/relationships/notesMaster" Target="notesMasters/notesMaster1.xml"/><Relationship Id="R823911cb26754962" Type="http://schemas.openxmlformats.org/officeDocument/2006/relationships/slide" Target="slides/slide39.xml"/><Relationship Id="R86908e2e202f4e08" Type="http://schemas.openxmlformats.org/officeDocument/2006/relationships/slide" Target="slides/slide36.xml"/><Relationship Id="R96ba7e9102564dcc" Type="http://schemas.openxmlformats.org/officeDocument/2006/relationships/slide" Target="slides/slide4.xml"/><Relationship Id="R9a55b1843e07436f" Type="http://schemas.openxmlformats.org/officeDocument/2006/relationships/slide" Target="slides/slide33.xml"/><Relationship Id="R9ece203b573d4c25" Type="http://schemas.openxmlformats.org/officeDocument/2006/relationships/presProps" Target="presProps.xml"/><Relationship Id="R9ef40578c0f94ceb" Type="http://schemas.openxmlformats.org/officeDocument/2006/relationships/slide" Target="slides/slide13.xml"/><Relationship Id="Ra3ec3b1cfd63469e" Type="http://schemas.openxmlformats.org/officeDocument/2006/relationships/slide" Target="slides/slide19.xml"/><Relationship Id="Ra91b959b579942b1" Type="http://schemas.openxmlformats.org/officeDocument/2006/relationships/slide" Target="slides/slide27.xml"/><Relationship Id="Rb1a9e39e708e48f3" Type="http://schemas.openxmlformats.org/officeDocument/2006/relationships/slide" Target="slides/slide8.xml"/><Relationship Id="Rb1c775afa3c744f7" Type="http://schemas.openxmlformats.org/officeDocument/2006/relationships/slide" Target="slides/slide22.xml"/><Relationship Id="Rb25ec1cb5ee44f9a" Type="http://schemas.openxmlformats.org/officeDocument/2006/relationships/slide" Target="slides/slide7.xml"/><Relationship Id="Rb9602ef0fd61472f" Type="http://schemas.openxmlformats.org/officeDocument/2006/relationships/slide" Target="slides/slide29.xml"/><Relationship Id="Rc378dfe5ed2d4e65" Type="http://schemas.openxmlformats.org/officeDocument/2006/relationships/slide" Target="slides/slide17.xml"/><Relationship Id="Rc99e780a874a46a3" Type="http://schemas.openxmlformats.org/officeDocument/2006/relationships/slide" Target="slides/slide9.xml"/><Relationship Id="Rcb4d650be4bf49ee" Type="http://schemas.openxmlformats.org/officeDocument/2006/relationships/slide" Target="slides/slide6.xml"/><Relationship Id="Rcf7f23de7c6744ba" Type="http://schemas.openxmlformats.org/officeDocument/2006/relationships/slide" Target="slides/slide1.xml"/><Relationship Id="Rd707744e15c54ff7" Type="http://schemas.openxmlformats.org/officeDocument/2006/relationships/slide" Target="slides/slide5.xml"/><Relationship Id="Rd963e6f1987c43d3" Type="http://schemas.openxmlformats.org/officeDocument/2006/relationships/slide" Target="slides/slide21.xml"/><Relationship Id="Rda9328a336864217" Type="http://schemas.openxmlformats.org/officeDocument/2006/relationships/slide" Target="slides/slide2.xml"/><Relationship Id="Re871523da7874b95" Type="http://schemas.openxmlformats.org/officeDocument/2006/relationships/slide" Target="slides/slide15.xml"/><Relationship Id="Rf3009cffd7c649b3" Type="http://schemas.openxmlformats.org/officeDocument/2006/relationships/slide" Target="slides/slide23.xml"/><Relationship Id="Rf3423ca29e6147c2" Type="http://schemas.openxmlformats.org/officeDocument/2006/relationships/slide" Target="slides/slide10.xml"/><Relationship Id="Rf4fb16ddd6214dca" Type="http://schemas.openxmlformats.org/officeDocument/2006/relationships/slide" Target="slides/slide14.xml"/><Relationship Id="Rf5acf692101c4322" Type="http://schemas.openxmlformats.org/officeDocument/2006/relationships/theme" Target="theme/theme1.xml"/><Relationship Id="Rfc2c44586198438a" Type="http://schemas.openxmlformats.org/officeDocument/2006/relationships/slide" Target="slides/slide37.xml"/><Relationship Id="rId46" Type="http://schemas.openxmlformats.org/officeDocument/2006/relationships/slide" Target="slides/slide32.xml"/><Relationship Id="rId56" Type="http://schemas.openxmlformats.org/officeDocument/2006/relationships/slide" Target="slides/slide3.xml"/><Relationship Id="rId57" Type="http://schemas.openxmlformats.org/officeDocument/2006/relationships/slide" Target="slides/slide12.xml"/><Relationship Id="rId58" Type="http://schemas.openxmlformats.org/officeDocument/2006/relationships/slide" Target="slides/slide18.xml"/><Relationship Id="rId59" Type="http://schemas.openxmlformats.org/officeDocument/2006/relationships/slide" Target="slides/slide30.xml"/><Relationship Id="rId60" Type="http://schemas.openxmlformats.org/officeDocument/2006/relationships/slide" Target="slides/slide31.xml"/><Relationship Id="rId61"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95ec60a65336428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e1f45d8b9c742e5" Type="http://schemas.openxmlformats.org/officeDocument/2006/relationships/slide" Target="../slides/slide1.xml"/><Relationship Id="Rda6dc0c57e6143af"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2b6862727b7c42bc" Type="http://schemas.openxmlformats.org/officeDocument/2006/relationships/slide" Target="../slides/slide2.xml"/><Relationship Id="R40e87e840f1e4767"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170e800ad0a4472" Type="http://schemas.openxmlformats.org/officeDocument/2006/relationships/notesMaster" Target="../notesMasters/notesMaster1.xml"/><Relationship Id="Ra7c82cf0f945481d"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9ce6eb3b53d14188" Type="http://schemas.openxmlformats.org/officeDocument/2006/relationships/notesMaster" Target="../notesMasters/notesMaster1.xml"/><Relationship Id="Ra8446fd587c1453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97fc4337274f4877" Type="http://schemas.openxmlformats.org/officeDocument/2006/relationships/slide" Target="../slides/slide6.xml"/><Relationship Id="Rccd13fdaa056418a"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9861d0dcfda140e1" Type="http://schemas.openxmlformats.org/officeDocument/2006/relationships/notesMaster" Target="../notesMasters/notesMaster1.xml"/><Relationship Id="Rc623d1a8278c41cf"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4f1b35ee6d9c40ca" Type="http://schemas.openxmlformats.org/officeDocument/2006/relationships/notesMaster" Target="../notesMasters/notesMaster1.xml"/><Relationship Id="Rc2659d425741491e"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08a82c17cbc84e54" Type="http://schemas.openxmlformats.org/officeDocument/2006/relationships/notesMaster" Target="../notesMasters/notesMaster1.xml"/><Relationship Id="R91bbb814eb3a42fc"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111c87722d394115" Type="http://schemas.openxmlformats.org/officeDocument/2006/relationships/notesMaster" Target="../notesMasters/notesMaster1.xml"/><Relationship Id="Rd16928a69c804254"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9b677732eeb140f5" Type="http://schemas.openxmlformats.org/officeDocument/2006/relationships/slide" Target="../slides/slide11.xml"/><Relationship Id="Rc99433bbe61d47c7"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bbdb5278631e4427" Type="http://schemas.openxmlformats.org/officeDocument/2006/relationships/slide" Target="../slides/slide13.xml"/><Relationship Id="Rfaa4c719fb334dc7"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134202c02cd540c6" Type="http://schemas.openxmlformats.org/officeDocument/2006/relationships/notesMaster" Target="../notesMasters/notesMaster1.xml"/><Relationship Id="R8f8213b791b7412e"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493357c69f104156" Type="http://schemas.openxmlformats.org/officeDocument/2006/relationships/notesMaster" Target="../notesMasters/notesMaster1.xml"/><Relationship Id="Rff703ae553004675"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8757c2316d934764" Type="http://schemas.openxmlformats.org/officeDocument/2006/relationships/notesMaster" Target="../notesMasters/notesMaster1.xml"/><Relationship Id="Rdee1a54ea7c04cad"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2757c6413b4a406a" Type="http://schemas.openxmlformats.org/officeDocument/2006/relationships/slide" Target="../slides/slide17.xml"/><Relationship Id="R490ede49feb444e7"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2cdad63aa5914147" Type="http://schemas.openxmlformats.org/officeDocument/2006/relationships/notesMaster" Target="../notesMasters/notesMaster1.xml"/><Relationship Id="Red33d1e2926947ac"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91310e1662b74a1c" Type="http://schemas.openxmlformats.org/officeDocument/2006/relationships/slide" Target="../slides/slide20.xml"/><Relationship Id="Rc0e6681bc6a54eb9"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42c3965b38364dc5" Type="http://schemas.openxmlformats.org/officeDocument/2006/relationships/slide" Target="../slides/slide21.xml"/><Relationship Id="Rf067349076e146fe"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b464e652378b4626" Type="http://schemas.openxmlformats.org/officeDocument/2006/relationships/notesMaster" Target="../notesMasters/notesMaster1.xml"/><Relationship Id="Rf5e0b697cc3e4195"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0cc370b615544d70" Type="http://schemas.openxmlformats.org/officeDocument/2006/relationships/slide" Target="../slides/slide23.xml"/><Relationship Id="Re627d1bd57c14f3c"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11b361f620ce44fc" Type="http://schemas.openxmlformats.org/officeDocument/2006/relationships/slide" Target="../slides/slide24.xml"/><Relationship Id="R122a106b01564415"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03852d235b604da5" Type="http://schemas.openxmlformats.org/officeDocument/2006/relationships/slide" Target="../slides/slide25.xml"/><Relationship Id="R0d9a81bb5e414410"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6e7c530303194449" Type="http://schemas.openxmlformats.org/officeDocument/2006/relationships/slide" Target="../slides/slide26.xml"/><Relationship Id="R9c826a3f88c24740"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5ebadcc90284d23" Type="http://schemas.openxmlformats.org/officeDocument/2006/relationships/slide" Target="../slides/slide27.xml"/><Relationship Id="Red31b13e72a341e7"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451d61fcb79249b3" Type="http://schemas.openxmlformats.org/officeDocument/2006/relationships/slide" Target="../slides/slide28.xml"/><Relationship Id="Ra4ab3ddeafda43e0"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701ca6543a6c4f12" Type="http://schemas.openxmlformats.org/officeDocument/2006/relationships/notesMaster" Target="../notesMasters/notesMaster1.xml"/><Relationship Id="R9ad8d9accd6b4a9e"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5bab16ed54d24aba" Type="http://schemas.openxmlformats.org/officeDocument/2006/relationships/notesMaster" Target="../notesMasters/notesMaster1.xml"/><Relationship Id="R7d1d0eff726843c7"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8cd3620089ab4093" Type="http://schemas.openxmlformats.org/officeDocument/2006/relationships/notesMaster" Target="../notesMasters/notesMaster1.xml"/><Relationship Id="Rc7b6b9c4241649cf"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24a3c2a364be4c92" Type="http://schemas.openxmlformats.org/officeDocument/2006/relationships/slide" Target="../slides/slide35.xml"/><Relationship Id="Ra7813b59493143a7"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7b3f40b222a04484" Type="http://schemas.openxmlformats.org/officeDocument/2006/relationships/notesMaster" Target="../notesMasters/notesMaster1.xml"/><Relationship Id="R9d6590d752ed4c7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83d6ee09532b447e" Type="http://schemas.openxmlformats.org/officeDocument/2006/relationships/slide" Target="../slides/slide37.xml"/><Relationship Id="Re12df85c89474d8a"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8842c3da0f404b43" Type="http://schemas.openxmlformats.org/officeDocument/2006/relationships/slide" Target="../slides/slide39.xml"/><Relationship Id="Rdcdfee9b114c4a11"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11. This week we build new input columns from the columns we already have, and we test whether each new column makes our predictions better.</a:t>
            </a:r>
          </a:p>
          <a:p xmlns:a="http://schemas.openxmlformats.org/drawingml/2006/main"/>
          <a:p xmlns:a="http://schemas.openxmlformats.org/drawingml/2006/main">
            <a:r>
              <a:t>We also learn to read which input moves a prediction more. By the end of the session you will be able to add a column, compare two models fairly, and decide from the numbers whether the column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week we learned how to trust a score. This week we try to improve the model by giving it better inputs. We will build new columns from the ones we have, test whether each one really helps, and learn to read which input moves a prediction more. By the end you can build a derived feature, compare models with and without it on the same rows, and decide from the evidence whether to keep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for today. Feature engineering means building new input columns from the columns you already have. A derived feature is one column calculated from others, such as load divided by one hundred. An interaction multiplies two inputs together, for example load times ambient temperature. Scaling puts inputs on a common ruler, and you used it in Week 9. Ablation means adding or removing one piece and comparing the scores. Available at prediction time is the rule that every input must be something you will really have when the model is used.</a:t>
            </a:r>
          </a:p>
          <a:p/>
          <a:p>
            <a:r>
              <a:t>Today is where your engineering knowledge beats a better programmer. You know which combinations of measurements mean something physically.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example today reads one file called engineering_data dot csv. A CSV file is a table saved as plain text, one row per line, with commas between the columns.</a:t>
            </a:r>
          </a:p>
          <a:p xmlns:a="http://schemas.openxmlformats.org/drawingml/2006/main"/>
          <a:p xmlns:a="http://schemas.openxmlformats.org/drawingml/2006/main">
            <a:r>
              <a:t>Extract this week's student ZIP folder first. If you work in Colab, open the Files panel and upload engineering_data dot csv there. If you work on your own computer, keep the file in the same folder as your notebook.</a:t>
            </a:r>
          </a:p>
          <a:p xmlns:a="http://schemas.openxmlformats.org/drawingml/2006/main"/>
          <a:p xmlns:a="http://schemas.openxmlformats.org/drawingml/2006/main">
            <a:r>
              <a:t>The notebook and the data file travel separately, so uploading the notebook does not upload the data. Check that the filename and the column headings match what the code expects.</a:t>
            </a:r>
          </a:p>
          <a:p xmlns:a="http://schemas.openxmlformats.org/drawingml/2006/main"/>
          <a:p xmlns:a="http://schemas.openxmlformats.org/drawingml/2006/main">
            <a:r>
              <a:t>Run the cells in the order the slides show them, because each cell uses names created by the one before. We never edit the original CSV. It stays as the untouched record, and every change we make happens on copies inside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 by loading the data. The first line imports pandas and gives it the short name pd, as we did in earlier weeks.</a:t>
            </a:r>
          </a:p>
          <a:p xmlns:a="http://schemas.openxmlformats.org/drawingml/2006/main"/>
          <a:p xmlns:a="http://schemas.openxmlformats.org/drawingml/2006/main">
            <a:r>
              <a:t>The second line calls pd dot read_csv with the filename. It reads the file and returns a DataFrame, which is a table, and we store it under the name raw_data. This table is the original, so we keep it unchanged and can always return to it when we want to check our work.</a:t>
            </a:r>
          </a:p>
          <a:p xmlns:a="http://schemas.openxmlformats.org/drawingml/2006/main"/>
          <a:p xmlns:a="http://schemas.openxmlformats.org/drawingml/2006/main">
            <a:r>
              <a:t>The next three lines print things about the table. Dot head shows the first five rows, so we can see the column names and a few values. Dot shape gives two numbers, the count of rows and then the count of columns. Dot dtypes lists the type of each column, for example whole numbers, decimals or text.</a:t>
            </a:r>
          </a:p>
          <a:p xmlns:a="http://schemas.openxmlformats.org/drawingml/2006/main"/>
          <a:p xmlns:a="http://schemas.openxmlformats.org/drawingml/2006/main">
            <a:r>
              <a:t>Look for three things. The column names should match the brief. The row count should look reasonable. And the numeric columns should show as numbers and not as text, because text cannot go into 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clean the table before modelling. We keep only rows we can trust.</a:t>
            </a:r>
          </a:p>
          <a:p xmlns:a="http://schemas.openxmlformats.org/drawingml/2006/main"/>
          <a:p xmlns:a="http://schemas.openxmlformats.org/drawingml/2006/main">
            <a:r>
              <a:t>The first line calls drop_duplicates on record_id. If the same record appears twice, only the first copy is kept. Dot copy then makes an independent table called modelling_data, so changes to it never touch raw_data.</a:t>
            </a:r>
          </a:p>
          <a:p xmlns:a="http://schemas.openxmlformats.org/drawingml/2006/main"/>
          <a:p xmlns:a="http://schemas.openxmlformats.org/drawingml/2006/main">
            <a:r>
              <a:t>The next line asks of every row, is the target recorded. Dot notna gives True where a value is present and False where it is missing. A row with no known answer cannot teach or test a model.</a:t>
            </a:r>
          </a:p>
          <a:p xmlns:a="http://schemas.openxmlformats.org/drawingml/2006/main"/>
          <a:p xmlns:a="http://schemas.openxmlformats.org/drawingml/2006/main">
            <a:r>
              <a:t>The line after that uses dot between with zero and one hundred. It gives True when load_pct is a valid percentage between those limits.</a:t>
            </a:r>
          </a:p>
          <a:p xmlns:a="http://schemas.openxmlformats.org/drawingml/2006/main"/>
          <a:p xmlns:a="http://schemas.openxmlformats.org/drawingml/2006/main">
            <a:r>
              <a:t>The and symbol, the ampersand, combines the two checks. A row is kept only when both are True.</a:t>
            </a:r>
          </a:p>
          <a:p xmlns:a="http://schemas.openxmlformats.org/drawingml/2006/main"/>
          <a:p xmlns:a="http://schemas.openxmlformats.org/drawingml/2006/main">
            <a:r>
              <a:t>We print the first few True and False values to see the checks working, and look for any False. Then we keep the passing rows and print two lengths. The second length is the count after cleaning, and it can only be the same or smaller than the first. The gap shows how many rows we removed.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pick rows, we decide which equipment goes where. The method isin takes a list of labels and answers True for every row whose equipment ID appears in that list, and False for the others.</a:t>
            </a:r>
          </a:p>
          <a:p xmlns:a="http://schemas.openxmlformats.org/drawingml/2006/main"/>
          <a:p xmlns:a="http://schemas.openxmlformats.org/drawingml/2006/main">
            <a:r>
              <a:t>We use it to split by equipment. Equipment E1 to E4 supply the training rows, E5 supplies the validation rows, and E6 supplies the test rows.</a:t>
            </a:r>
          </a:p>
          <a:p xmlns:a="http://schemas.openxmlformats.org/drawingml/2006/main"/>
          <a:p xmlns:a="http://schemas.openxmlformats.org/drawingml/2006/main">
            <a:r>
              <a:t>The groups stay separate for a reason we met in Week 10. If one machine appeared on both sides, the model would be checked on a machine it had already studied, and the score would look better than it deserves. Keeping each machine on one side only means validation and test measure how the model copes with equipment it has never seen.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builds three True and False columns, one for each group of equipment.</a:t>
            </a:r>
          </a:p>
          <a:p xmlns:a="http://schemas.openxmlformats.org/drawingml/2006/main"/>
          <a:p xmlns:a="http://schemas.openxmlformats.org/drawingml/2006/main">
            <a:r>
              <a:t>The first line takes the equipment_id column of modelling_data and applies isin with the list E1, E2, E3 and E4. It stores the answers as is_training_equipment. A row is True when its machine is one of those four.</a:t>
            </a:r>
          </a:p>
          <a:p xmlns:a="http://schemas.openxmlformats.org/drawingml/2006/main"/>
          <a:p xmlns:a="http://schemas.openxmlformats.org/drawingml/2006/main">
            <a:r>
              <a:t>The second line does the same for the list holding only E5, and calls the result is_validation_equipment.</a:t>
            </a:r>
          </a:p>
          <a:p xmlns:a="http://schemas.openxmlformats.org/drawingml/2006/main"/>
          <a:p xmlns:a="http://schemas.openxmlformats.org/drawingml/2006/main">
            <a:r>
              <a:t>The third line does the same for E6 and calls the result is_test_equipment.</a:t>
            </a:r>
          </a:p>
          <a:p xmlns:a="http://schemas.openxmlformats.org/drawingml/2006/main"/>
          <a:p xmlns:a="http://schemas.openxmlformats.org/drawingml/2006/main">
            <a:r>
              <a:t>The lists are written over several lines only to make them easy to read. Python treats the brackets as one expression.</a:t>
            </a:r>
          </a:p>
          <a:p xmlns:a="http://schemas.openxmlformats.org/drawingml/2006/main"/>
          <a:p xmlns:a="http://schemas.openxmlformats.org/drawingml/2006/main">
            <a:r>
              <a:t>This cell prints nothing. It only stores three sets of answers, and the next cell uses them to pick the actual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of the tables we are about to create need a clear meaning before we build them.</a:t>
            </a:r>
          </a:p>
          <a:p xmlns:a="http://schemas.openxmlformats.org/drawingml/2006/main"/>
          <a:p xmlns:a="http://schemas.openxmlformats.org/drawingml/2006/main">
            <a:r>
              <a:t>training_data holds the rows the model learns from. Whatever the model learns, including the medians that the imputer uses to fill missing values, comes only from these rows.</a:t>
            </a:r>
          </a:p>
          <a:p xmlns:a="http://schemas.openxmlformats.org/drawingml/2006/main"/>
          <a:p xmlns:a="http://schemas.openxmlformats.org/drawingml/2006/main">
            <a:r>
              <a:t>validation_data holds separate rows. We use them to compare models, so they are never used for fitting. They act like an exam the model has not seen the questions for.</a:t>
            </a:r>
          </a:p>
          <a:p xmlns:a="http://schemas.openxmlformats.org/drawingml/2006/main"/>
          <a:p xmlns:a="http://schemas.openxmlformats.org/drawingml/2006/main">
            <a:r>
              <a:t>A third table, the test data, stays aside until the final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we turn the three True and False columns into three tables.</a:t>
            </a:r>
          </a:p>
          <a:p xmlns:a="http://schemas.openxmlformats.org/drawingml/2006/main"/>
          <a:p xmlns:a="http://schemas.openxmlformats.org/drawingml/2006/main">
            <a:r>
              <a:t>The first line puts the mask is_training_equipment inside square brackets after modelling_data. Python keeps the rows where the mask is True. Dot copy makes the result its own table, called training_data. The next two lines do the same for validation_data and test_data.</a:t>
            </a:r>
          </a:p>
          <a:p xmlns:a="http://schemas.openxmlformats.org/drawingml/2006/main"/>
          <a:p xmlns:a="http://schemas.openxmlformats.org/drawingml/2006/main">
            <a:r>
              <a:t>Then we write feature_columns, a list holding the two input names, load_pct and ambient_c. These are the inputs our model will use first.</a:t>
            </a:r>
          </a:p>
          <a:p xmlns:a="http://schemas.openxmlformats.org/drawingml/2006/main"/>
          <a:p xmlns:a="http://schemas.openxmlformats.org/drawingml/2006/main">
            <a:r>
              <a:t>The last line prints three lengths, the number of rows in training, in validation and in test. Check that none of them is zero, and that training has the most rows. If one is zero, the equipment labels or the masks above are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derived feature is a new input column that we calculate from inputs we already have. We build one when we have a reason to think it will help.</a:t>
            </a:r>
          </a:p>
          <a:p xmlns:a="http://schemas.openxmlformats.org/drawingml/2006/main"/>
          <a:p xmlns:a="http://schemas.openxmlformats.org/drawingml/2006/main">
            <a:r>
              <a:t>Take load_pct divided by 100. It turns a percentage into a fraction between zero and one. The information is the same, written in different units.</a:t>
            </a:r>
          </a:p>
          <a:p xmlns:a="http://schemas.openxmlformats.org/drawingml/2006/main"/>
          <a:p xmlns:a="http://schemas.openxmlformats.org/drawingml/2006/main">
            <a:r>
              <a:t>Take load_pct times ambient_c. This is an interaction, which means the effect of one input depends on the other. A hot room together with a heavy load may matter more than either one alone. The units of this new column are percent times degrees Celsius, so we always say what a derived column measures before we use it.</a:t>
            </a:r>
          </a:p>
          <a:p xmlns:a="http://schemas.openxmlformats.org/drawingml/2006/main"/>
          <a:p xmlns:a="http://schemas.openxmlformats.org/drawingml/2006/main">
            <a:r>
              <a:t>An interaction is an idea we test, and it is not a measured law. A sensible story does not guarantee an improvement.</a:t>
            </a:r>
          </a:p>
          <a:p xmlns:a="http://schemas.openxmlformats.org/drawingml/2006/main"/>
          <a:p xmlns:a="http://schemas.openxmlformats.org/drawingml/2006/main">
            <a:r>
              <a:t>And we only use values we would have at the moment we make a prediction. We never build a feature from the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build new features at all? Here is an invented example. The dots follow a curve. On the left, a straight line through x misses the curve at both ends, and its MAE on these points is 2.41. On the right we gave the same linear model one extra input, x squared. That column is a derived feature. Now the fitted line bends with the dots and the MAE on the same points drops to 0.77.</a:t>
            </a:r>
          </a:p>
          <a:p/>
          <a:p>
            <a:r>
              <a:t>The model type did not change. We changed what the model could see. That is feature engineering. In engineering data the useful new columns are often physical: a ratio, a product, a difference, a rate.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add two derived columns to our table.</a:t>
            </a:r>
          </a:p>
          <a:p xmlns:a="http://schemas.openxmlformats.org/drawingml/2006/main"/>
          <a:p xmlns:a="http://schemas.openxmlformats.org/drawingml/2006/main">
            <a:r>
              <a:t>The first is load_fraction. We take load_pct and divide it by 100, so a load of fifty percent becomes zero point five.</a:t>
            </a:r>
          </a:p>
          <a:p xmlns:a="http://schemas.openxmlformats.org/drawingml/2006/main"/>
          <a:p xmlns:a="http://schemas.openxmlformats.org/drawingml/2006/main">
            <a:r>
              <a:t>The second is load_ambient. We multiply load_pct by ambient_c. This is the interaction from the last slide.</a:t>
            </a:r>
          </a:p>
          <a:p xmlns:a="http://schemas.openxmlformats.org/drawingml/2006/main"/>
          <a:p xmlns:a="http://schemas.openxmlformats.org/drawingml/2006/main">
            <a:r>
              <a:t>In pandas we add a column by writing the table name, then the new column name in square brackets and quotes, then an equals sign, then the expression. If the name is new, pandas creates the column. If it exists, pandas replaces it.</a:t>
            </a:r>
          </a:p>
          <a:p xmlns:a="http://schemas.openxmlformats.org/drawingml/2006/main"/>
          <a:p xmlns:a="http://schemas.openxmlformats.org/drawingml/2006/main">
            <a:r>
              <a:t>Two rules matter here. We use the same formulas on the training rows and the validation rows, so the model sees the same kind of input in both. And we never change raw_data. We calculate on a copy.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small operations appear in the next example, and we check each one first.</a:t>
            </a:r>
          </a:p>
          <a:p xmlns:a="http://schemas.openxmlformats.org/drawingml/2006/main"/>
          <a:p xmlns:a="http://schemas.openxmlformats.org/drawingml/2006/main">
            <a:r>
              <a:t>The first is adding or replacing a column. Writing a table, a column name in brackets, an equals sign and some values stores those values as that column. If the values are a plain array, they go in row order. If they are a Series, pandas matches them to rows by the row label, so the labels must belong to the right observations.</a:t>
            </a:r>
          </a:p>
          <a:p xmlns:a="http://schemas.openxmlformats.org/drawingml/2006/main"/>
          <a:p xmlns:a="http://schemas.openxmlformats.org/drawingml/2006/main">
            <a:r>
              <a:t>The second is column arithmetic. When we divide or multiply columns, pandas does the calculation on every row and returns one result per row. When two Series are combined, pandas again lines them up by row label.</a:t>
            </a:r>
          </a:p>
          <a:p xmlns:a="http://schemas.openxmlformats.org/drawingml/2006/main"/>
          <a:p xmlns:a="http://schemas.openxmlformats.org/drawingml/2006/main">
            <a:r>
              <a:t>Divide only where the bottom number is valid. Dividing by one hundred is always fine, but dividing by a column that could hold zero would not be. And keep each actual value paired with its own predicted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is a block of code with a name that we can run again and again.</a:t>
            </a:r>
          </a:p>
          <a:p xmlns:a="http://schemas.openxmlformats.org/drawingml/2006/main"/>
          <a:p xmlns:a="http://schemas.openxmlformats.org/drawingml/2006/main">
            <a:r>
              <a:t>The word def starts the definition. After it comes the function name and, in brackets, the parameters. A parameter is a name for an input that the function will receive when someone calls it.</a:t>
            </a:r>
          </a:p>
          <a:p xmlns:a="http://schemas.openxmlformats.org/drawingml/2006/main"/>
          <a:p xmlns:a="http://schemas.openxmlformats.org/drawingml/2006/main">
            <a:r>
              <a:t>The indented lines below are the body. They do nothing when we define the function. They run each time we call it.</a:t>
            </a:r>
          </a:p>
          <a:p xmlns:a="http://schemas.openxmlformats.org/drawingml/2006/main"/>
          <a:p xmlns:a="http://schemas.openxmlformats.org/drawingml/2006/main">
            <a:r>
              <a:t>The word return sends a result back to whoever called the function. The word print is different. It only shows something on the screen, and the value is lost afterwards unless we return it too.</a:t>
            </a:r>
          </a:p>
          <a:p xmlns:a="http://schemas.openxmlformats.org/drawingml/2006/main"/>
          <a:p xmlns:a="http://schemas.openxmlformats.org/drawingml/2006/main">
            <a:r>
              <a:t>In the next example we write one function that adds our new columns. Then we call it once on the training table and once on the validation table, so both get exactly the same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define a function called add_features. It takes one input, a table, which we call equipment_data inside the function.</a:t>
            </a:r>
          </a:p>
          <a:p xmlns:a="http://schemas.openxmlformats.org/drawingml/2006/main"/>
          <a:p xmlns:a="http://schemas.openxmlformats.org/drawingml/2006/main">
            <a:r>
              <a:t>The first line of the body makes a copy of that table and names it extended_data. Everything we change happens on the copy, so the table that was passed in stays as it was.</a:t>
            </a:r>
          </a:p>
          <a:p xmlns:a="http://schemas.openxmlformats.org/drawingml/2006/main"/>
          <a:p xmlns:a="http://schemas.openxmlformats.org/drawingml/2006/main">
            <a:r>
              <a:t>The next statement creates a column called load_fraction. It takes the load_pct column and divides it by 100. Every row gets its own answer.</a:t>
            </a:r>
          </a:p>
          <a:p xmlns:a="http://schemas.openxmlformats.org/drawingml/2006/main"/>
          <a:p xmlns:a="http://schemas.openxmlformats.org/drawingml/2006/main">
            <a:r>
              <a:t>The statement after it creates a column called load_ambient. It multiplies the load_pct column by the ambient_c column, row by row. That is our interaction feature.</a:t>
            </a:r>
          </a:p>
          <a:p xmlns:a="http://schemas.openxmlformats.org/drawingml/2006/main"/>
          <a:p xmlns:a="http://schemas.openxmlformats.org/drawingml/2006/main">
            <a:r>
              <a:t>The long expressions are split over several lines with brackets just to fit the slide. The code continues in the same cell on the next slide, where we send the finished table 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cell continues with the last line of the function, return extended_data. This hands the table with the two new columns back to the caller.</a:t>
            </a:r>
          </a:p>
          <a:p xmlns:a="http://schemas.openxmlformats.org/drawingml/2006/main"/>
          <a:p xmlns:a="http://schemas.openxmlformats.org/drawingml/2006/main">
            <a:r>
              <a:t>Then we use the function. Calling add_features on training_data gives training_features. Calling it on validation_data gives validation_features. Both tables get the same two formulas, so the training and validation inputs are built the same way.</a:t>
            </a:r>
          </a:p>
          <a:p xmlns:a="http://schemas.openxmlformats.org/drawingml/2006/main"/>
          <a:p xmlns:a="http://schemas.openxmlformats.org/drawingml/2006/main">
            <a:r>
              <a:t>The final statement prints the first five rows of three columns, load_pct, load_fraction and load_ambient. We use it to check our work. Look at one row and test it in your head. The load_fraction value should equal the load percentage divided by one hundred. The load_ambient value should equal the load percentage multiplied by the ambient temperature. If either check fails, the formula has a mistake.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slopes in our model are in different units, so comparing them directly is unfair. A slope of 1.05 for ambient temperature looks bigger than 0.69 for load, yet the load swings over a far wider range.</a:t>
            </a:r>
          </a:p>
          <a:p/>
          <a:p>
            <a:r>
              <a:t>A fair comparison multiplies each slope by the typical spread of its input, the standard deviation. The result says how much the prediction changes when the input moves by one typical amount.</a:t>
            </a:r>
          </a:p>
          <a:p/>
          <a:p>
            <a:r>
              <a:t>Here, one typical swing of load changes the prediction by 15.8 deg C, and one typical swing of ambient temperature changes it by 4.8 deg C. Load matters more. This is how scaling helps us read a model, as well as train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Ablation is a fair test of one feature. We take a model, remove the feature we want to judge, and compare the two versions.</a:t>
            </a:r>
          </a:p>
          <a:p xmlns:a="http://schemas.openxmlformats.org/drawingml/2006/main"/>
          <a:p xmlns:a="http://schemas.openxmlformats.org/drawingml/2006/main">
            <a:r>
              <a:t>Our first model, the base model, is a linear regression using load_pct and ambient_c. The second model, the extended model, is a linear regression using those two columns plus load_ambient. Only one thing differs between them.</a:t>
            </a:r>
          </a:p>
          <a:p xmlns:a="http://schemas.openxmlformats.org/drawingml/2006/main"/>
          <a:p xmlns:a="http://schemas.openxmlformats.org/drawingml/2006/main">
            <a:r>
              <a:t>Both models are scored on the same validation targets. The score is the MAE we know from Week 8, the average size of the miss in deg C.</a:t>
            </a:r>
          </a:p>
          <a:p xmlns:a="http://schemas.openxmlformats.org/drawingml/2006/main"/>
          <a:p xmlns:a="http://schemas.openxmlformats.org/drawingml/2006/main">
            <a:r>
              <a:t>Improvement equals the base MAE minus the extended MAE. Lower error is better, so a positive improvement means the extra feature helped. A value near zero means it made almost no difference, and a negative value means the extra feature made predictions worse.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know what a feature does, we change one thing and keep everything else the same.</a:t>
            </a:r>
          </a:p>
          <a:p xmlns:a="http://schemas.openxmlformats.org/drawingml/2006/main"/>
          <a:p xmlns:a="http://schemas.openxmlformats.org/drawingml/2006/main">
            <a:r>
              <a:t>The base inputs are the load and the ambient temperature. The extended inputs are those same two plus their product.</a:t>
            </a:r>
          </a:p>
          <a:p xmlns:a="http://schemas.openxmlformats.org/drawingml/2006/main"/>
          <a:p xmlns:a="http://schemas.openxmlformats.org/drawingml/2006/main">
            <a:r>
              <a:t>We train two separate pipelines on exactly the same training rows. A pipeline is a chain of steps that run in order, here an imputer followed by a regression. Then we compare them on exactly the same validation rows.</a:t>
            </a:r>
          </a:p>
          <a:p xmlns:a="http://schemas.openxmlformats.org/drawingml/2006/main"/>
          <a:p xmlns:a="http://schemas.openxmlformats.org/drawingml/2006/main">
            <a:r>
              <a:t>Because the rows, the model type and the scoring are all identical, any change in the error can be traced to the extra feature. If we also changed the rows or the split, we could not say what caused the difference.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prepares the tools and the two lists of input columns. It prints nothing.</a:t>
            </a:r>
          </a:p>
          <a:p xmlns:a="http://schemas.openxmlformats.org/drawingml/2006/main"/>
          <a:p xmlns:a="http://schemas.openxmlformats.org/drawingml/2006/main">
            <a:r>
              <a:t>The first line imports SimpleImputer, which fills missing values using a rule we choose. The second imports make_pipeline, which chains steps together. The third imports LinearRegression, the straight-line model from Week 8. The fourth imports mean_absolute_error, the function that calculates MAE. Importing only makes these tools available. No model is trained yet.</a:t>
            </a:r>
          </a:p>
          <a:p xmlns:a="http://schemas.openxmlformats.org/drawingml/2006/main"/>
          <a:p xmlns:a="http://schemas.openxmlformats.org/drawingml/2006/main">
            <a:r>
              <a:t>Then we write base_feature_columns, a list with load_pct and ambient_c. These are the inputs of the simpler model.</a:t>
            </a:r>
          </a:p>
          <a:p xmlns:a="http://schemas.openxmlformats.org/drawingml/2006/main"/>
          <a:p xmlns:a="http://schemas.openxmlformats.org/drawingml/2006/main">
            <a:r>
              <a:t>The last line makes extended_feature_columns by taking the base list and adding a list that contains load_ambient. The plus sign joins the two lists into one longer list. So the extended list holds the base inputs and the feature we are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pipeline learns by itself. The imputer inside a pipeline works out its own medians from the training rows it receives, and the regression inside learns its own settings from the same rows.</a:t>
            </a:r>
          </a:p>
          <a:p xmlns:a="http://schemas.openxmlformats.org/drawingml/2006/main"/>
          <a:p xmlns:a="http://schemas.openxmlformats.org/drawingml/2006/main">
            <a:r>
              <a:t>The base pipeline is shown only the base columns. The extended pipeline is shown the extra feature as well.</a:t>
            </a:r>
          </a:p>
          <a:p xmlns:a="http://schemas.openxmlformats.org/drawingml/2006/main"/>
          <a:p xmlns:a="http://schemas.openxmlformats.org/drawingml/2006/main">
            <a:r>
              <a:t>Neither pipeline looks at the validation targets while it learns. Those answers are kept hidden until we score the predictions. If a model could see them in advance, we would have the leakage problem from Week 10, and the validation score would no longer tell us anything honest.</a:t>
            </a:r>
          </a:p>
          <a:p xmlns:a="http://schemas.openxmlformats.org/drawingml/2006/main"/>
          <a:p xmlns:a="http://schemas.openxmlformats.org/drawingml/2006/main">
            <a:r>
              <a:t>Fitting each model on the same training rows gives both of them the same starting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build the two pipelines. Building a pipeline does not train it. It only describes the steps.</a:t>
            </a:r>
          </a:p>
          <a:p xmlns:a="http://schemas.openxmlformats.org/drawingml/2006/main"/>
          <a:p xmlns:a="http://schemas.openxmlformats.org/drawingml/2006/main">
            <a:r>
              <a:t>The function make_pipeline takes the steps in order. The first step is SimpleImputer with strategy set to the word median. It fills any missing input with the median of its column, and the median is taken from the training rows when we fit. The second step is LinearRegression, which fits the straight-line model.</a:t>
            </a:r>
          </a:p>
          <a:p xmlns:a="http://schemas.openxmlformats.org/drawingml/2006/main"/>
          <a:p xmlns:a="http://schemas.openxmlformats.org/drawingml/2006/main">
            <a:r>
              <a:t>We save the first pipeline as base_pipeline. Then we write the same recipe again and save it as extended_pipeline.</a:t>
            </a:r>
          </a:p>
          <a:p xmlns:a="http://schemas.openxmlformats.org/drawingml/2006/main"/>
          <a:p xmlns:a="http://schemas.openxmlformats.org/drawingml/2006/main">
            <a:r>
              <a:t>We need two pipelines because they will learn different things. One will see two input columns and the other will see three. The code that makes them is identical, and the difference arrives when we give each one its columns to 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comes next. We train both pipelines. The method dot fit takes two inputs, a table of input columns and the matching known answers. It learns from them, and the rows of the two inputs must describe the same observations in the same order.</a:t>
            </a:r>
          </a:p>
          <a:p xmlns:a="http://schemas.openxmlformats.org/drawingml/2006/main"/>
          <a:p xmlns:a="http://schemas.openxmlformats.org/drawingml/2006/main">
            <a:r>
              <a:t>For the base pipeline we pass the training rows, restricted to base_feature_columns, and the training target column. For the extended pipeline we pass the training rows with extended_feature_columns, and the same target column.</a:t>
            </a:r>
          </a:p>
          <a:p xmlns:a="http://schemas.openxmlformats.org/drawingml/2006/main"/>
          <a:p xmlns:a="http://schemas.openxmlformats.org/drawingml/2006/main">
            <a:r>
              <a:t>So the only difference between the two calls is the list of columns. The answers are the same and the rows are the same.</a:t>
            </a:r>
          </a:p>
          <a:p xmlns:a="http://schemas.openxmlformats.org/drawingml/2006/main"/>
          <a:p xmlns:a="http://schemas.openxmlformats.org/drawingml/2006/main">
            <a:r>
              <a:t>The cell prints nothing. Each pipeline has now learned its medians and its line from training rows only. The validation rows have not been touched. We must call fit before predict, and the next cell uses predict.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test both pipelines on the validation rows.</a:t>
            </a:r>
          </a:p>
          <a:p xmlns:a="http://schemas.openxmlformats.org/drawingml/2006/main"/>
          <a:p xmlns:a="http://schemas.openxmlformats.org/drawingml/2006/main">
            <a:r>
              <a:t>The method dot predict takes input columns and returns one predicted value of motor temperature for every row, in deg C. We call it on each pipeline with its own columns, using the same validation rows for both.</a:t>
            </a:r>
          </a:p>
          <a:p xmlns:a="http://schemas.openxmlformats.org/drawingml/2006/main"/>
          <a:p xmlns:a="http://schemas.openxmlformats.org/drawingml/2006/main">
            <a:r>
              <a:t>Then mean_absolute_error compares each prediction with the observed target and averages the size of the misses. The answer is the MAE in deg C. Lower means the predictions are closer to the truth.</a:t>
            </a:r>
          </a:p>
          <a:p xmlns:a="http://schemas.openxmlformats.org/drawingml/2006/main"/>
          <a:p xmlns:a="http://schemas.openxmlformats.org/drawingml/2006/main">
            <a:r>
              <a:t>We get one MAE for the base pipeline and one for the extended pipeline. We subtract the extended MAE from the base MAE. If the result is positive, the extra feature helped on this validation set. If it is zero or negative, it did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scores the base pipeline.</a:t>
            </a:r>
          </a:p>
          <a:p xmlns:a="http://schemas.openxmlformats.org/drawingml/2006/main"/>
          <a:p xmlns:a="http://schemas.openxmlformats.org/drawingml/2006/main">
            <a:r>
              <a:t>The first statement calls base_pipeline dot predict on the validation rows. We select only the base_feature_columns from validation_features, because that pipeline was trained on those columns and needs the same ones. The result is a predicted value of motor temperature for each validation row, saved as base_predictions.</a:t>
            </a:r>
          </a:p>
          <a:p xmlns:a="http://schemas.openxmlformats.org/drawingml/2006/main"/>
          <a:p xmlns:a="http://schemas.openxmlformats.org/drawingml/2006/main">
            <a:r>
              <a:t>The second statement calls mean_absolute_error. We give it the true targets from validation_data first and our predictions second. It compares them row by row and averages the size of the differences. We save the answer as base_absolute_error.</a:t>
            </a:r>
          </a:p>
          <a:p xmlns:a="http://schemas.openxmlformats.org/drawingml/2006/main"/>
          <a:p xmlns:a="http://schemas.openxmlformats.org/drawingml/2006/main">
            <a:r>
              <a:t>Nothing prints here. The value waits for the comparison in the next cell, and it is measured in deg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new names appear in the next cell, and we should know what each one holds.</a:t>
            </a:r>
          </a:p>
          <a:p xmlns:a="http://schemas.openxmlformats.org/drawingml/2006/main"/>
          <a:p xmlns:a="http://schemas.openxmlformats.org/drawingml/2006/main">
            <a:r>
              <a:t>extended_predictions is the list of predicted values of motor temperature that the extended pipeline gives for the validation rows. It is the counterpart of base_predictions.</a:t>
            </a:r>
          </a:p>
          <a:p xmlns:a="http://schemas.openxmlformats.org/drawingml/2006/main"/>
          <a:p xmlns:a="http://schemas.openxmlformats.org/drawingml/2006/main">
            <a:r>
              <a:t>extended_absolute_error is the mean absolute error of those predictions, measured against the real validation targets. It is the counterpart of base_absolute_error.</a:t>
            </a:r>
          </a:p>
          <a:p xmlns:a="http://schemas.openxmlformats.org/drawingml/2006/main"/>
          <a:p xmlns:a="http://schemas.openxmlformats.org/drawingml/2006/main">
            <a:r>
              <a:t>With these two error values in hand we can compare the two models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repeats the scoring for the extended pipeline.</a:t>
            </a:r>
          </a:p>
          <a:p xmlns:a="http://schemas.openxmlformats.org/drawingml/2006/main"/>
          <a:p xmlns:a="http://schemas.openxmlformats.org/drawingml/2006/main">
            <a:r>
              <a:t>We call extended_pipeline dot predict on the validation rows. Here we select extended_feature_columns, the three inputs, because this pipeline learned from three. We save the answers as extended_predictions.</a:t>
            </a:r>
          </a:p>
          <a:p xmlns:a="http://schemas.openxmlformats.org/drawingml/2006/main"/>
          <a:p xmlns:a="http://schemas.openxmlformats.org/drawingml/2006/main">
            <a:r>
              <a:t>Then mean_absolute_error compares the real validation targets with extended_predictions, and the average miss is saved as extended_absolute_error.</a:t>
            </a:r>
          </a:p>
          <a:p xmlns:a="http://schemas.openxmlformats.org/drawingml/2006/main"/>
          <a:p xmlns:a="http://schemas.openxmlformats.org/drawingml/2006/main">
            <a:r>
              <a:t>The cell continues on the next slide with the lines that print. Both errors come from the same validation rows and the same scoring function, so the comparison is fair. The only difference is the extra column the extended pipeline was allowed to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last statements print the result.</a:t>
            </a:r>
          </a:p>
          <a:p xmlns:a="http://schemas.openxmlformats.org/drawingml/2006/main"/>
          <a:p xmlns:a="http://schemas.openxmlformats.org/drawingml/2006/main">
            <a:r>
              <a:t>The first print shows two numbers, the base error and then the extended error. Round with four decimal places keeps them short enough to read. Both numbers are in deg C, and the smaller one belongs to the better model.</a:t>
            </a:r>
          </a:p>
          <a:p xmlns:a="http://schemas.openxmlformats.org/drawingml/2006/main"/>
          <a:p xmlns:a="http://schemas.openxmlformats.org/drawingml/2006/main">
            <a:r>
              <a:t>The second print takes the base error minus the extended error. If this is positive, the extended model made smaller errors, so the feature helped on the validation rows. If it is negative, the feature made things worse. If it is close to zero, the two models are practically equal.</a:t>
            </a:r>
          </a:p>
          <a:p xmlns:a="http://schemas.openxmlformats.org/drawingml/2006/main"/>
          <a:p xmlns:a="http://schemas.openxmlformats.org/drawingml/2006/main">
            <a:r>
              <a:t>Before we decide to keep the feature, we ask how big the gain is compared with the size of the error, and whether it is large enough to matter in practice. Your own cohort's data produces its own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honest result of the ablation on our own data. The base model, using load and ambient temperature, has a validation error of 0.7775 deg C. Adding the interaction, load times ambient, gives 0.7992. The change is +0.0217. The error went up, so the extra feature did not help.</a:t>
            </a:r>
          </a:p>
          <a:p/>
          <a:p>
            <a:r>
              <a:t>Why might the new column struggle? A derived feature inherits the blanks of the columns it comes from. One training row has a blank ambient temperature, so its product is blank as well, and the imputer fills it with a typical product that has nothing to do with that row. We built the product before filling the blank, and the order matters.</a:t>
            </a:r>
          </a:p>
          <a:p/>
          <a:p>
            <a:r>
              <a:t>We have only fifteen validation rows, so the comparison is rough, and a new feature also adds a column to maintain and one more thing that can go wrong. Our rule is that a feature earns its place only when the improvement is clear. Here it is not, so we keep the simpler model. That is a real engineering judgement, and it is the kind of reasoning that earns marks in your written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rule applies to every feature you build. You must have it at the moment the prediction is requested. Load now and ambient temperature now are fine. A value calculated from those two, such as load divided by one hundred, is fine too.</a:t>
            </a:r>
          </a:p>
          <a:p/>
          <a:p>
            <a:r>
              <a:t>Be suspicious of anything that is known only afterwards: the measured target itself, a repair note written after a fault, or a monthly average that includes next week. These leak the answer. The model looks wonderful in training and fails in service. Last week's leakage guard number four is this rule.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week the weekly assignment and the weekly quiz stop. We now assess in blocks of three classes. Block 2 covers Weeks 11, 12 and 13: features and ablation; choosing a model; regularisation, nearest neighbours and reproducibility.</a:t>
            </a:r>
          </a:p>
          <a:p/>
          <a:p>
            <a:r>
              <a:t>Today's tasks are part A of the Block 2 assignment pack. It is worth 20 of the pack's 40 marks. The next part arrives in Week 12. Week 13 has no graded notebook, so its content is assessed in the Block 2 quiz and in your project.</a:t>
            </a:r>
          </a:p>
          <a:p/>
          <a:p>
            <a:r>
              <a:t>Nothing is submitted after today's class, and there is no quiz. We hand in all 2 parts together by Thursday 10 December at 23:59 Kampala time. The Block 2 quiz has fifteen questions, five from each week. It opens after the Week 13 class.</a:t>
            </a:r>
          </a:p>
          <a:p/>
          <a:p>
            <a:r>
              <a:t>Weeks 1 to 6 stay as they were. The two lowest weekly scores are dropped, and the block marks count in full, so the blocks carry about 60 percent of the quiz and assignment marks.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states your task for this week. You are investigating motor temperature, and its unit is deg C. Say the target and the unit exactly as they appear on the slide.</a:t>
            </a:r>
          </a:p>
          <a:p xmlns:a="http://schemas.openxmlformats.org/drawingml/2006/main"/>
          <a:p xmlns:a="http://schemas.openxmlformats.org/drawingml/2006/main">
            <a:r>
              <a:t>Each row of the data is one operating observation. The equipment_id column repeats, because the same machine is observed many times. The record_id column is the identifier of each observation. The load_pct column is the load in percent, and ambient_c is the surrounding temperature in degrees Celsius. In the training rows the target holds the known answer.</a:t>
            </a:r>
          </a:p>
          <a:p xmlns:a="http://schemas.openxmlformats.org/drawingml/2006/main"/>
          <a:p xmlns:a="http://schemas.openxmlformats.org/drawingml/2006/main">
            <a:r>
              <a:t>These are synthetic teaching records, made up for learning. They are not measurements that could be used to operate real equipment, and the relationships we find in them are not calibrated physical laws.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first required function is called make_features, and it takes one input, feature_records. Use the exact function name.</a:t>
            </a:r>
          </a:p>
          <a:p xmlns:a="http://schemas.openxmlformats.org/drawingml/2006/main"/>
          <a:p xmlns:a="http://schemas.openxmlformats.org/drawingml/2006/main">
            <a:r>
              <a:t>For each record it must return one row of four numbers, in this order. First comes load_pct itself. Second comes ambient_c itself. Third comes load_pct divided by 100. Fourth comes load_pct multiplied by ambient_c.</a:t>
            </a:r>
          </a:p>
          <a:p xmlns:a="http://schemas.openxmlformats.org/drawingml/2006/main"/>
          <a:p xmlns:a="http://schemas.openxmlformats.org/drawingml/2006/main">
            <a:r>
              <a:t>The result holds one such row per input record, and the rows stay in the same order as the input.</a:t>
            </a:r>
          </a:p>
          <a:p xmlns:a="http://schemas.openxmlformats.org/drawingml/2006/main"/>
          <a:p xmlns:a="http://schemas.openxmlformats.org/drawingml/2006/main">
            <a:r>
              <a:t>Use only values that are available at the moment a prediction is requested. That means load and ambient temperature, and anything calculated from them. The target never goes into a feature.</a:t>
            </a:r>
          </a:p>
          <a:p xmlns:a="http://schemas.openxmlformats.org/drawingml/2006/main"/>
          <a:p xmlns:a="http://schemas.openxmlformats.org/drawingml/2006/main">
            <a:r>
              <a:t>Keep the exact names and the exact output order. Check the types and units against the task brief on your own issued task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second required function is ablation_metrics. It receives training records and validation records.</a:t>
            </a:r>
          </a:p>
          <a:p xmlns:a="http://schemas.openxmlformats.org/drawingml/2006/main"/>
          <a:p xmlns:a="http://schemas.openxmlformats.org/drawingml/2006/main">
            <a:r>
              <a:t>Inside it you fit two scikit-learn LinearRegression models on the same training records. The base model uses load_pct and ambient_c. The extended model uses those two and also load_pct multiplied by ambient_c.</a:t>
            </a:r>
          </a:p>
          <a:p xmlns:a="http://schemas.openxmlformats.org/drawingml/2006/main"/>
          <a:p xmlns:a="http://schemas.openxmlformats.org/drawingml/2006/main">
            <a:r>
              <a:t>Then you evaluate both models on the same validation records, using mean absolute error.</a:t>
            </a:r>
          </a:p>
          <a:p xmlns:a="http://schemas.openxmlformats.org/drawingml/2006/main"/>
          <a:p xmlns:a="http://schemas.openxmlformats.org/drawingml/2006/main">
            <a:r>
              <a:t>The function returns three values, base_mae, extended_mae and improvement. The improvement is base_mae minus extended_mae. Do not round any of them, because the grader compares the exact values.</a:t>
            </a:r>
          </a:p>
          <a:p xmlns:a="http://schemas.openxmlformats.org/drawingml/2006/main"/>
          <a:p xmlns:a="http://schemas.openxmlformats.org/drawingml/2006/main">
            <a:r>
              <a:t>The inputs are complete, which means no values are missing, so you do not need an imputer here. And never fit on the validation targets. Validation rows are only for scoring the models.</a:t>
            </a:r>
          </a:p>
          <a:p xmlns:a="http://schemas.openxmlformats.org/drawingml/2006/main"/>
          <a:p xmlns:a="http://schemas.openxmlformats.org/drawingml/2006/main">
            <a:r>
              <a:t>Use the exact function name and the exact output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notebook needs words as well as code. Find the cell headed My written evidence and write your answer there.</a:t>
            </a:r>
          </a:p>
          <a:p xmlns:a="http://schemas.openxmlformats.org/drawingml/2006/main"/>
          <a:p xmlns:a="http://schemas.openxmlformats.org/drawingml/2006/main">
            <a:r>
              <a:t>Explain the scenario we supplied in your own words. Say what the target is and give its unit, which is deg C. Then give your reasons for the choices you made, and state the limitations of what you found.</a:t>
            </a:r>
          </a:p>
          <a:p xmlns:a="http://schemas.openxmlformats.org/drawingml/2006/main"/>
          <a:p xmlns:a="http://schemas.openxmlformats.org/drawingml/2006/main">
            <a:r>
              <a:t>A good explanation links a decision to a result. For example, you might say why the imputer takes its medians from the training rows only, and what that protects you from.</a:t>
            </a:r>
          </a:p>
          <a:p xmlns:a="http://schemas.openxmlformats.org/drawingml/2006/main"/>
          <a:p xmlns:a="http://schemas.openxmlformats.org/drawingml/2006/main">
            <a:r>
              <a:t>The figures in the scenario came with it, so describe them as supplied and not as measurements you made yourself.</a:t>
            </a:r>
          </a:p>
          <a:p xmlns:a="http://schemas.openxmlformats.org/drawingml/2006/main"/>
          <a:p xmlns:a="http://schemas.openxmlformats.org/drawingml/2006/main">
            <a:r>
              <a:t>The code and the written evidence for this part go in one complete notebook, and that notebook goes into the Block 2 pack. Copied prompts and code comments do not replace your own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machine learning project is built up gradually, and the work you do now goes into it.</a:t>
            </a:r>
          </a:p>
          <a:p xmlns:a="http://schemas.openxmlformats.org/drawingml/2006/main"/>
          <a:p xmlns:a="http://schemas.openxmlformats.org/drawingml/2006/main">
            <a:r>
              <a:t>Use the published project brief as your guide. Add evidence to your project notebook a little at a time, as you finish each part.</a:t>
            </a:r>
          </a:p>
          <a:p xmlns:a="http://schemas.openxmlformats.org/drawingml/2006/main"/>
          <a:p xmlns:a="http://schemas.openxmlformats.org/drawingml/2006/main">
            <a:r>
              <a:t>Keep four things. Keep the raw data, unchanged. Keep your charts, each with labels. Keep the run instructions, so someone else can run your notebook. And keep a record of each person's contribution, specific enough that it can be checked, such as a named file, function or chart and the decision behind it.</a:t>
            </a:r>
          </a:p>
          <a:p xmlns:a="http://schemas.openxmlformats.org/drawingml/2006/main"/>
          <a:p xmlns:a="http://schemas.openxmlformats.org/drawingml/2006/main">
            <a:r>
              <a:t>Check the project deadline on the slide. Working steadily now makes the final weeks much lighter.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 keep. Feature engineering builds new inputs from existing columns. A derived feature is one column calculated from others. An interaction multiplies two inputs. The effect of one spread, which is the slope times the standard deviation, lets us compare inputs fairly. Ablation compares scores with and without one piece. And the prediction time rule says to use only inputs you will have when you predict. In the assignment you build the features and run the ablation yourself.</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finish with a check you do on your own. Pick a classmate, or imagine one, and explain three things out loud.</a:t>
            </a:r>
          </a:p>
          <a:p xmlns:a="http://schemas.openxmlformats.org/drawingml/2006/main"/>
          <a:p xmlns:a="http://schemas.openxmlformats.org/drawingml/2006/main">
            <a:r>
              <a:t>First, why load divided by 100 is a derived feature. Second, how you decide whether to keep a new feature. Third, why a repair note written after a fault cannot be used as an input.</a:t>
            </a:r>
          </a:p>
          <a:p xmlns:a="http://schemas.openxmlformats.org/drawingml/2006/main"/>
          <a:p xmlns:a="http://schemas.openxmlformats.org/drawingml/2006/main">
            <a:r>
              <a:t>If you can explain these three clearly, you understood the lesson. If you get stuck, go back to the slide where that idea appeared.</a:t>
            </a:r>
          </a:p>
          <a:p xmlns:a="http://schemas.openxmlformats.org/drawingml/2006/main"/>
          <a:p xmlns:a="http://schemas.openxmlformats.org/drawingml/2006/main">
            <a:r>
              <a:t>Before you hand in your notebooks, keep the raw data unchanged, then restart your notebook and run all cells from the top. If the notebook runs cleanly to the end, it is ready.</a:t>
            </a:r>
          </a:p>
          <a:p xmlns:a="http://schemas.openxmlformats.org/drawingml/2006/main"/>
          <a:p xmlns:a="http://schemas.openxmlformats.org/drawingml/2006/main">
            <a:r>
              <a:t>Point to your evidence, and save your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ee1ca75124214bb9"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8a4d170b69d47d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987bb8307e7434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39af2187caeb422c"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58c9c021c3ae4ba5"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16f48fae659947d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1AC5A1-D2DF-4DC9-852E-6676A07160A7}"/>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359E3D9-B56F-4D4F-9C33-D2364BF4AE9F}"/>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01B2F78-3463-421A-8CB1-7F9AD0E1F9F5}"/>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E1C9DB-130B-4C0A-A686-F1764BB20A1D}"/>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840F86-6CAA-4ED0-BB5E-8BBFA5512B12}"/>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44C270C-33B9-479D-856D-C01182EAB676}"/>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A6CFA8-F161-4FB8-AA68-E4A5B55F0D46}"/>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190F270-8521-431B-8837-7A0D519AD8C5}"/>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2B2B41-D981-4DBD-BB5D-2FB15043E8CC}"/>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610F15-871C-43AE-8E0A-AA6D0D09229B}"/>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a1a8f7963f24f66" Type="http://schemas.openxmlformats.org/officeDocument/2006/relationships/slideLayout" Target="../slideLayouts/slideLayout4.xml"/><Relationship Id="R66747c48b05140e9" Type="http://schemas.openxmlformats.org/officeDocument/2006/relationships/slideLayout" Target="../slideLayouts/slideLayout1.xml"/><Relationship Id="R6a14a2f0a0eb4408" Type="http://schemas.openxmlformats.org/officeDocument/2006/relationships/slideLayout" Target="../slideLayouts/slideLayout2.xml"/><Relationship Id="R7d25c3dd08544ed6" Type="http://schemas.openxmlformats.org/officeDocument/2006/relationships/theme" Target="theme/theme2.xml"/><Relationship Id="R96da1e2cd0a349c0" Type="http://schemas.openxmlformats.org/officeDocument/2006/relationships/slideLayout" Target="../slideLayouts/slideLayout3.xml"/><Relationship Id="Rde32a8177c644807" Type="http://schemas.openxmlformats.org/officeDocument/2006/relationships/slideLayout" Target="../slideLayouts/slideLayout6.xml"/><Relationship Id="Rf7b095532548453d"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747c48b05140e9"/>
    <p:sldLayoutId xmlns:r="http://schemas.openxmlformats.org/officeDocument/2006/relationships" id="2147483650" r:id="R6a14a2f0a0eb4408"/>
    <p:sldLayoutId xmlns:r="http://schemas.openxmlformats.org/officeDocument/2006/relationships" id="2147483651" r:id="R96da1e2cd0a349c0"/>
    <p:sldLayoutId xmlns:r="http://schemas.openxmlformats.org/officeDocument/2006/relationships" id="2147483652" r:id="R2a1a8f7963f24f66"/>
    <p:sldLayoutId xmlns:r="http://schemas.openxmlformats.org/officeDocument/2006/relationships" id="2147483653" r:id="Rf7b095532548453d"/>
    <p:sldLayoutId xmlns:r="http://schemas.openxmlformats.org/officeDocument/2006/relationships" id="2147483654" r:id="Rde32a8177c6448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964846f77ed472c" Type="http://schemas.openxmlformats.org/officeDocument/2006/relationships/image" Target="../media/image.png"/><Relationship Id="R41451c38aa0840c8" Type="http://schemas.openxmlformats.org/officeDocument/2006/relationships/notesSlide" Target="../notesSlides/notesSlide1.xml"/><Relationship Id="Rcee68b991d654847"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765153963efb4d80" Type="http://schemas.openxmlformats.org/officeDocument/2006/relationships/notesSlide" Target="../notesSlides/notesSlide2.xml"/><Relationship Id="Re9dab788b25d4b8d"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c0cd99caec244146" Type="http://schemas.openxmlformats.org/officeDocument/2006/relationships/notesSlide" Target="../notesSlides/notesSlide4.xml"/><Relationship Id="Rf8979e9c5a364593"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0da4446e46944ae5" Type="http://schemas.openxmlformats.org/officeDocument/2006/relationships/slideLayout" Target="../slideLayouts/slideLayout6.xml"/><Relationship Id="R38daa60ea39c4e9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5ce5e98da3f4417e" Type="http://schemas.openxmlformats.org/officeDocument/2006/relationships/slideLayout" Target="../slideLayouts/slideLayout6.xml"/><Relationship Id="Raa5b45aff1564b6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7b03eb52622d44d4" Type="http://schemas.openxmlformats.org/officeDocument/2006/relationships/slideLayout" Target="../slideLayouts/slideLayout6.xml"/><Relationship Id="Rf1eb9cd2978e4a7a"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5c4b11c4b9a94ac8" Type="http://schemas.openxmlformats.org/officeDocument/2006/relationships/slideLayout" Target="../slideLayouts/slideLayout6.xml"/><Relationship Id="Ra3d384d293d949f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6a55ea5599194c5b" Type="http://schemas.openxmlformats.org/officeDocument/2006/relationships/slideLayout" Target="../slideLayouts/slideLayout6.xml"/><Relationship Id="Rb184fe604c4844bb"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a6a7eaa47865472f" Type="http://schemas.openxmlformats.org/officeDocument/2006/relationships/notesSlide" Target="../notesSlides/notesSlide10.xml"/><Relationship Id="Rcf461b0d3a084763"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56e9c54a4da24b8e" Type="http://schemas.openxmlformats.org/officeDocument/2006/relationships/slideLayout" Target="../slideLayouts/slideLayout6.xml"/><Relationship Id="Rb167cb4e73fb455b" Type="http://schemas.openxmlformats.org/officeDocument/2006/relationships/notesSlide" Target="../notesSlides/notesSlide11.xml"/><Relationship Id="Rd4ed300682a443c7"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658c8286653740d8" Type="http://schemas.openxmlformats.org/officeDocument/2006/relationships/notesSlide" Target="../notesSlides/notesSlide13.xml"/><Relationship Id="Rab32b2c4690a4570"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394b30116bfd47c4" Type="http://schemas.openxmlformats.org/officeDocument/2006/relationships/notesSlide" Target="../notesSlides/notesSlide14.xml"/><Relationship Id="Rb2396026692a4bfa"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39cd8d8108864c58" Type="http://schemas.openxmlformats.org/officeDocument/2006/relationships/slideLayout" Target="../slideLayouts/slideLayout6.xml"/><Relationship Id="R8af0a39ef48b458a"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c35002af79e4453e" Type="http://schemas.openxmlformats.org/officeDocument/2006/relationships/notesSlide" Target="../notesSlides/notesSlide16.xml"/><Relationship Id="Rf5ce58f7ee474835"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10457cd718a6459c" Type="http://schemas.openxmlformats.org/officeDocument/2006/relationships/notesSlide" Target="../notesSlides/notesSlide17.xml"/><Relationship Id="Rbd0fcb3f7f2e4e97"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7d2ea766e5024a16" Type="http://schemas.openxmlformats.org/officeDocument/2006/relationships/notesSlide" Target="../notesSlides/notesSlide19.xml"/><Relationship Id="Rf69c34a7dc644ede"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a0ddc4cc755e44fe" Type="http://schemas.openxmlformats.org/officeDocument/2006/relationships/slideLayout" Target="../slideLayouts/slideLayout6.xml"/><Relationship Id="Re44631c233ae4ace"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c0123ef4d98a4d26" Type="http://schemas.openxmlformats.org/officeDocument/2006/relationships/slideLayout" Target="../slideLayouts/slideLayout6.xml"/><Relationship Id="Rf60a61fdd2dc46e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76f9d7fc6da44964" Type="http://schemas.openxmlformats.org/officeDocument/2006/relationships/slideLayout" Target="../slideLayouts/slideLayout6.xml"/><Relationship Id="Ra22e320a572e41b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032815e1a999471d" Type="http://schemas.openxmlformats.org/officeDocument/2006/relationships/notesSlide" Target="../notesSlides/notesSlide23.xml"/><Relationship Id="R347a74ad2838495f"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50824de77052416d" Type="http://schemas.openxmlformats.org/officeDocument/2006/relationships/slideLayout" Target="../slideLayouts/slideLayout6.xml"/><Relationship Id="Rf96fd8f4145a43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98d255c75a384e78" Type="http://schemas.openxmlformats.org/officeDocument/2006/relationships/notesSlide" Target="../notesSlides/notesSlide25.xml"/><Relationship Id="Rb944bd870a8c44f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06391bdb072b4a9c" Type="http://schemas.openxmlformats.org/officeDocument/2006/relationships/slideLayout" Target="../slideLayouts/slideLayout6.xml"/><Relationship Id="R89134597a5ce492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0af0aefcaaf84e65" Type="http://schemas.openxmlformats.org/officeDocument/2006/relationships/notesSlide" Target="../notesSlides/notesSlide27.xml"/><Relationship Id="Rd6e2e8d073814fc5"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0889b5b3813a4464" Type="http://schemas.openxmlformats.org/officeDocument/2006/relationships/slideLayout" Target="../slideLayouts/slideLayout6.xml"/><Relationship Id="Rf491e77d1dd745f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373c6a360fa4435c" Type="http://schemas.openxmlformats.org/officeDocument/2006/relationships/notesSlide" Target="../notesSlides/notesSlide29.xml"/><Relationship Id="R554d0095221f471b"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a60cc60521504a23" Type="http://schemas.openxmlformats.org/officeDocument/2006/relationships/slideLayout" Target="../slideLayouts/slideLayout6.xml"/><Relationship Id="Rc6418f35d24a46fd"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00ac9f2916f94e9b" Type="http://schemas.openxmlformats.org/officeDocument/2006/relationships/slideLayout" Target="../slideLayouts/slideLayout6.xml"/><Relationship Id="Rea1f8e7130e646e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3ec99c39d8be4077" Type="http://schemas.openxmlformats.org/officeDocument/2006/relationships/notesSlide" Target="../notesSlides/notesSlide35.xml"/><Relationship Id="Rd84ef9bd5a6f4e5a"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b373a6f822f3402c" Type="http://schemas.openxmlformats.org/officeDocument/2006/relationships/slideLayout" Target="../slideLayouts/slideLayout6.xml"/><Relationship Id="Rf33e4d4f821a49b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28a4039f330340cb" Type="http://schemas.openxmlformats.org/officeDocument/2006/relationships/slideLayout" Target="../slideLayouts/slideLayout6.xml"/><Relationship Id="R2f2fba02aaed414f"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821038a9b86f44a3" Type="http://schemas.openxmlformats.org/officeDocument/2006/relationships/slideLayout" Target="../slideLayouts/slideLayout6.xml"/><Relationship Id="R9e845028c91f4c87" Type="http://schemas.openxmlformats.org/officeDocument/2006/relationships/notesSlide" Target="../notesSlides/notesSlide39.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AC31792-C4C8-49EE-9AB4-AC88C765CCA4}"/>
              </a:ext>
            </a:extLst>
          </p:cNvPr>
          <p:cNvPicPr>
            <a:picLocks xmlns:a="http://schemas.openxmlformats.org/drawingml/2006/main" noChangeAspect="1"/>
          </p:cNvPicPr>
          <p:nvPr/>
        </p:nvPicPr>
        <p:blipFill>
          <a:blip xmlns:r="http://schemas.openxmlformats.org/officeDocument/2006/relationships" xmlns:a="http://schemas.openxmlformats.org/drawingml/2006/main" r:embed="R0964846f77ed472c"/>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3EE9510-10BE-450A-BE61-94E70FF08A5C}"/>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0793144-192F-4200-B4FA-4A6EA2A0F07E}"/>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11</a:t>
            </a:r>
          </a:p>
        </p:txBody>
      </p:sp>
      <p:sp>
        <p:nvSpPr>
          <p:cNvPr id="4" name="">
            <a:extLst xmlns:a="http://schemas.openxmlformats.org/drawingml/2006/main">
              <a:ext uri="{FF2B5EF4-FFF2-40B4-BE49-F238E27FC236}">
                <a16:creationId xmlns:a16="http://schemas.microsoft.com/office/drawing/2014/main" id="{A6C00810-2D1D-4F53-A065-79078A9166E7}"/>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Creating and testing a useful feature</a:t>
            </a:r>
          </a:p>
        </p:txBody>
      </p:sp>
      <p:sp>
        <p:nvSpPr>
          <p:cNvPr id="5" name="">
            <a:extLst xmlns:a="http://schemas.openxmlformats.org/drawingml/2006/main">
              <a:ext uri="{FF2B5EF4-FFF2-40B4-BE49-F238E27FC236}">
                <a16:creationId xmlns:a16="http://schemas.microsoft.com/office/drawing/2014/main" id="{134DDEC9-1787-4C9B-9E7E-F00F88F5C55E}"/>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05CFB500-3167-4B96-A321-9CC11ECA3D0F}"/>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20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6791871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5C2FB4-92AA-4209-A540-62180379F24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4B85E4-CD47-44BE-BFBB-52F8C21A342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B5D1FE7-AFF6-4017-9414-DFE3BA76277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EC83918F-63F9-4C79-8637-1F22F2D9161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3FE67D3-F37B-433D-B862-89A25F51D84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8BABA5C-C1DD-4E26-B5ED-77BA026E704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WHAT WE WILL DO</a:t>
            </a:r>
          </a:p>
          <a:p xmlns:a="http://schemas.openxmlformats.org/drawingml/2006/main">
            <a:pPr>
              <a:spcBef>
                <a:spcPts val="800"/>
              </a:spcBef>
            </a:pPr>
            <a:r>
              <a:rPr sz="2200" b="0">
                <a:solidFill>
                  <a:srgbClr val="1C3144"/>
                </a:solidFill>
                <a:latin typeface="Calibri"/>
              </a:rPr>
              <a:t>Build new input columns from the ones we have, test whether each one helps, and read which input moves a prediction more. Learn the words feature engineering, interaction and ablation.</a:t>
            </a:r>
          </a:p>
        </p:txBody>
      </p:sp>
      <p:sp>
        <p:nvSpPr>
          <p:cNvPr id="7" name="">
            <a:extLst xmlns:a="http://schemas.openxmlformats.org/drawingml/2006/main">
              <a:ext uri="{FF2B5EF4-FFF2-40B4-BE49-F238E27FC236}">
                <a16:creationId xmlns:a16="http://schemas.microsoft.com/office/drawing/2014/main" id="{8B5F9CC5-9706-4105-9562-7C8B62AFBE7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HOW YOU WILL SHOW IT</a:t>
            </a:r>
          </a:p>
          <a:p xmlns:a="http://schemas.openxmlformats.org/drawingml/2006/main">
            <a:pPr>
              <a:spcBef>
                <a:spcPts val="800"/>
              </a:spcBef>
            </a:pPr>
            <a:r>
              <a:rPr sz="2200" b="0">
                <a:solidFill>
                  <a:srgbClr val="1C3144"/>
                </a:solidFill>
                <a:latin typeface="Calibri"/>
              </a:rPr>
              <a:t>You can build a derived feature, compare models with and without it on the same rows, and decide from the evidence whether to keep it.</a:t>
            </a:r>
          </a:p>
        </p:txBody>
      </p:sp>
      <p:sp>
        <p:nvSpPr>
          <p:cNvPr id="8" name="">
            <a:extLst xmlns:a="http://schemas.openxmlformats.org/drawingml/2006/main">
              <a:ext uri="{FF2B5EF4-FFF2-40B4-BE49-F238E27FC236}">
                <a16:creationId xmlns:a16="http://schemas.microsoft.com/office/drawing/2014/main" id="{6C57EAB7-2CAE-46CB-BDCD-90CA214E247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a:t>
            </a:r>
          </a:p>
        </p:txBody>
      </p:sp>
    </p:spTree>
    <p:extLst>
      <p:ext uri="{BB962C8B-B14F-4D97-AF65-F5344CB8AC3E}">
        <p14:creationId xmlns:p14="http://schemas.microsoft.com/office/powerpoint/2010/main" val="1078630173"/>
      </p:ext>
    </p:extLst>
  </p:cSld>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today: making inputs more useful</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3175000"/>
                <a:gridCol w="4826000"/>
                <a:gridCol w="3022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660400">
                <a:tc>
                  <a:txBody>
                    <a:bodyPr wrap="square"/>
                    <a:lstStyle/>
                    <a:p>
                      <a:r>
                        <a:rPr sz="1700" b="1">
                          <a:solidFill>
                            <a:srgbClr val="1C3144"/>
                          </a:solidFill>
                          <a:latin typeface="Calibri"/>
                        </a:rPr>
                        <a:t>Feature engineering</a:t>
                      </a:r>
                    </a:p>
                  </a:txBody>
                  <a:tcPr marL="101600" marR="101600" marT="38100" marB="38100" anchor="ctr">
                    <a:solidFill>
                      <a:srgbClr val="EEF3F6"/>
                    </a:solidFill>
                  </a:tcPr>
                </a:tc>
                <a:tc>
                  <a:txBody>
                    <a:bodyPr wrap="square"/>
                    <a:lstStyle/>
                    <a:p>
                      <a:r>
                        <a:rPr sz="1700" b="0">
                          <a:solidFill>
                            <a:srgbClr val="1C3144"/>
                          </a:solidFill>
                          <a:latin typeface="Calibri"/>
                        </a:rPr>
                        <a:t>Building new input columns from the columns you have.</a:t>
                      </a:r>
                    </a:p>
                  </a:txBody>
                  <a:tcPr marL="101600" marR="101600" marT="38100" marB="38100" anchor="ctr">
                    <a:solidFill>
                      <a:srgbClr val="EEF3F6"/>
                    </a:solidFill>
                  </a:tcPr>
                </a:tc>
                <a:tc>
                  <a:txBody>
                    <a:bodyPr wrap="square"/>
                    <a:lstStyle/>
                    <a:p>
                      <a:r>
                        <a:rPr sz="1700" b="0">
                          <a:solidFill>
                            <a:srgbClr val="1C3144"/>
                          </a:solidFill>
                          <a:latin typeface="Calibri"/>
                        </a:rPr>
                        <a:t>load_pct / 100</a:t>
                      </a:r>
                    </a:p>
                  </a:txBody>
                  <a:tcPr marL="101600" marR="101600" marT="38100" marB="38100" anchor="ctr">
                    <a:solidFill>
                      <a:srgbClr val="EEF3F6"/>
                    </a:solidFill>
                  </a:tcPr>
                </a:tc>
              </a:tr>
              <a:tr h="660400">
                <a:tc>
                  <a:txBody>
                    <a:bodyPr wrap="square"/>
                    <a:lstStyle/>
                    <a:p>
                      <a:r>
                        <a:rPr sz="1700" b="1">
                          <a:solidFill>
                            <a:srgbClr val="1C3144"/>
                          </a:solidFill>
                          <a:latin typeface="Calibri"/>
                        </a:rPr>
                        <a:t>Derived feature</a:t>
                      </a:r>
                    </a:p>
                  </a:txBody>
                  <a:tcPr marL="101600" marR="101600" marT="38100" marB="38100" anchor="ctr">
                    <a:solidFill>
                      <a:srgbClr val="FFFFFF"/>
                    </a:solidFill>
                  </a:tcPr>
                </a:tc>
                <a:tc>
                  <a:txBody>
                    <a:bodyPr wrap="square"/>
                    <a:lstStyle/>
                    <a:p>
                      <a:r>
                        <a:rPr sz="1700" b="0">
                          <a:solidFill>
                            <a:srgbClr val="1C3144"/>
                          </a:solidFill>
                          <a:latin typeface="Calibri"/>
                        </a:rPr>
                        <a:t>A column calculated from other columns.</a:t>
                      </a:r>
                    </a:p>
                  </a:txBody>
                  <a:tcPr marL="101600" marR="101600" marT="38100" marB="38100" anchor="ctr">
                    <a:solidFill>
                      <a:srgbClr val="FFFFFF"/>
                    </a:solidFill>
                  </a:tcPr>
                </a:tc>
                <a:tc>
                  <a:txBody>
                    <a:bodyPr wrap="square"/>
                    <a:lstStyle/>
                    <a:p>
                      <a:r>
                        <a:rPr sz="1700" b="0">
                          <a:solidFill>
                            <a:srgbClr val="1C3144"/>
                          </a:solidFill>
                          <a:latin typeface="Calibri"/>
                        </a:rPr>
                        <a:t>load_fraction</a:t>
                      </a:r>
                    </a:p>
                  </a:txBody>
                  <a:tcPr marL="101600" marR="101600" marT="38100" marB="38100" anchor="ctr">
                    <a:solidFill>
                      <a:srgbClr val="FFFFFF"/>
                    </a:solidFill>
                  </a:tcPr>
                </a:tc>
              </a:tr>
              <a:tr h="660400">
                <a:tc>
                  <a:txBody>
                    <a:bodyPr wrap="square"/>
                    <a:lstStyle/>
                    <a:p>
                      <a:r>
                        <a:rPr sz="1700" b="1">
                          <a:solidFill>
                            <a:srgbClr val="1C3144"/>
                          </a:solidFill>
                          <a:latin typeface="Calibri"/>
                        </a:rPr>
                        <a:t>Interaction</a:t>
                      </a:r>
                    </a:p>
                  </a:txBody>
                  <a:tcPr marL="101600" marR="101600" marT="38100" marB="38100" anchor="ctr">
                    <a:solidFill>
                      <a:srgbClr val="EEF3F6"/>
                    </a:solidFill>
                  </a:tcPr>
                </a:tc>
                <a:tc>
                  <a:txBody>
                    <a:bodyPr wrap="square"/>
                    <a:lstStyle/>
                    <a:p>
                      <a:r>
                        <a:rPr sz="1700" b="0">
                          <a:solidFill>
                            <a:srgbClr val="1C3144"/>
                          </a:solidFill>
                          <a:latin typeface="Calibri"/>
                        </a:rPr>
                        <a:t>A feature that multiplies two inputs.</a:t>
                      </a:r>
                    </a:p>
                  </a:txBody>
                  <a:tcPr marL="101600" marR="101600" marT="38100" marB="38100" anchor="ctr">
                    <a:solidFill>
                      <a:srgbClr val="EEF3F6"/>
                    </a:solidFill>
                  </a:tcPr>
                </a:tc>
                <a:tc>
                  <a:txBody>
                    <a:bodyPr wrap="square"/>
                    <a:lstStyle/>
                    <a:p>
                      <a:r>
                        <a:rPr sz="1700" b="0">
                          <a:solidFill>
                            <a:srgbClr val="1C3144"/>
                          </a:solidFill>
                          <a:latin typeface="Calibri"/>
                        </a:rPr>
                        <a:t>load_pct × ambient_c</a:t>
                      </a:r>
                    </a:p>
                  </a:txBody>
                  <a:tcPr marL="101600" marR="101600" marT="38100" marB="38100" anchor="ctr">
                    <a:solidFill>
                      <a:srgbClr val="EEF3F6"/>
                    </a:solidFill>
                  </a:tcPr>
                </a:tc>
              </a:tr>
              <a:tr h="660400">
                <a:tc>
                  <a:txBody>
                    <a:bodyPr wrap="square"/>
                    <a:lstStyle/>
                    <a:p>
                      <a:r>
                        <a:rPr sz="1700" b="1">
                          <a:solidFill>
                            <a:srgbClr val="1C3144"/>
                          </a:solidFill>
                          <a:latin typeface="Calibri"/>
                        </a:rPr>
                        <a:t>Scaling</a:t>
                      </a:r>
                    </a:p>
                  </a:txBody>
                  <a:tcPr marL="101600" marR="101600" marT="38100" marB="38100" anchor="ctr">
                    <a:solidFill>
                      <a:srgbClr val="FFFFFF"/>
                    </a:solidFill>
                  </a:tcPr>
                </a:tc>
                <a:tc>
                  <a:txBody>
                    <a:bodyPr wrap="square"/>
                    <a:lstStyle/>
                    <a:p>
                      <a:r>
                        <a:rPr sz="1700" b="0">
                          <a:solidFill>
                            <a:srgbClr val="1C3144"/>
                          </a:solidFill>
                          <a:latin typeface="Calibri"/>
                        </a:rPr>
                        <a:t>Putting inputs on a common ruler.</a:t>
                      </a:r>
                    </a:p>
                  </a:txBody>
                  <a:tcPr marL="101600" marR="101600" marT="38100" marB="38100" anchor="ctr">
                    <a:solidFill>
                      <a:srgbClr val="FFFFFF"/>
                    </a:solidFill>
                  </a:tcPr>
                </a:tc>
                <a:tc>
                  <a:txBody>
                    <a:bodyPr wrap="square"/>
                    <a:lstStyle/>
                    <a:p>
                      <a:r>
                        <a:rPr sz="1700" b="0">
                          <a:solidFill>
                            <a:srgbClr val="1C3144"/>
                          </a:solidFill>
                          <a:latin typeface="Calibri"/>
                        </a:rPr>
                        <a:t>StandardScaler (Week 9)</a:t>
                      </a:r>
                    </a:p>
                  </a:txBody>
                  <a:tcPr marL="101600" marR="101600" marT="38100" marB="38100" anchor="ctr">
                    <a:solidFill>
                      <a:srgbClr val="FFFFFF"/>
                    </a:solidFill>
                  </a:tcPr>
                </a:tc>
              </a:tr>
              <a:tr h="660400">
                <a:tc>
                  <a:txBody>
                    <a:bodyPr wrap="square"/>
                    <a:lstStyle/>
                    <a:p>
                      <a:r>
                        <a:rPr sz="1700" b="1">
                          <a:solidFill>
                            <a:srgbClr val="1C3144"/>
                          </a:solidFill>
                          <a:latin typeface="Calibri"/>
                        </a:rPr>
                        <a:t>Ablation</a:t>
                      </a:r>
                    </a:p>
                  </a:txBody>
                  <a:tcPr marL="101600" marR="101600" marT="38100" marB="38100" anchor="ctr">
                    <a:solidFill>
                      <a:srgbClr val="EEF3F6"/>
                    </a:solidFill>
                  </a:tcPr>
                </a:tc>
                <a:tc>
                  <a:txBody>
                    <a:bodyPr wrap="square"/>
                    <a:lstStyle/>
                    <a:p>
                      <a:r>
                        <a:rPr sz="1700" b="0">
                          <a:solidFill>
                            <a:srgbClr val="1C3144"/>
                          </a:solidFill>
                          <a:latin typeface="Calibri"/>
                        </a:rPr>
                        <a:t>Removing or adding one piece and comparing the scores.</a:t>
                      </a:r>
                    </a:p>
                  </a:txBody>
                  <a:tcPr marL="101600" marR="101600" marT="38100" marB="38100" anchor="ctr">
                    <a:solidFill>
                      <a:srgbClr val="EEF3F6"/>
                    </a:solidFill>
                  </a:tcPr>
                </a:tc>
                <a:tc>
                  <a:txBody>
                    <a:bodyPr wrap="square"/>
                    <a:lstStyle/>
                    <a:p>
                      <a:r>
                        <a:rPr sz="1700" b="0">
                          <a:solidFill>
                            <a:srgbClr val="1C3144"/>
                          </a:solidFill>
                          <a:latin typeface="Calibri"/>
                        </a:rPr>
                        <a:t>With and without load × ambient</a:t>
                      </a:r>
                    </a:p>
                  </a:txBody>
                  <a:tcPr marL="101600" marR="101600" marT="38100" marB="38100" anchor="ctr">
                    <a:solidFill>
                      <a:srgbClr val="EEF3F6"/>
                    </a:solidFill>
                  </a:tcPr>
                </a:tc>
              </a:tr>
              <a:tr h="660400">
                <a:tc>
                  <a:txBody>
                    <a:bodyPr wrap="square"/>
                    <a:lstStyle/>
                    <a:p>
                      <a:r>
                        <a:rPr sz="1700" b="1">
                          <a:solidFill>
                            <a:srgbClr val="1C3144"/>
                          </a:solidFill>
                          <a:latin typeface="Calibri"/>
                        </a:rPr>
                        <a:t>Available at prediction time</a:t>
                      </a:r>
                    </a:p>
                  </a:txBody>
                  <a:tcPr marL="101600" marR="101600" marT="38100" marB="38100" anchor="ctr">
                    <a:solidFill>
                      <a:srgbClr val="FFFFFF"/>
                    </a:solidFill>
                  </a:tcPr>
                </a:tc>
                <a:tc>
                  <a:txBody>
                    <a:bodyPr wrap="square"/>
                    <a:lstStyle/>
                    <a:p>
                      <a:r>
                        <a:rPr sz="1700" b="0">
                          <a:solidFill>
                            <a:srgbClr val="1C3144"/>
                          </a:solidFill>
                          <a:latin typeface="Calibri"/>
                        </a:rPr>
                        <a:t>An input you will really have when the model is used.</a:t>
                      </a:r>
                    </a:p>
                  </a:txBody>
                  <a:tcPr marL="101600" marR="101600" marT="38100" marB="38100" anchor="ctr">
                    <a:solidFill>
                      <a:srgbClr val="FFFFFF"/>
                    </a:solidFill>
                  </a:tcPr>
                </a:tc>
                <a:tc>
                  <a:txBody>
                    <a:bodyPr wrap="square"/>
                    <a:lstStyle/>
                    <a:p>
                      <a:r>
                        <a:rPr sz="1700" b="0">
                          <a:solidFill>
                            <a:srgbClr val="1C3144"/>
                          </a:solidFill>
                          <a:latin typeface="Calibri"/>
                        </a:rPr>
                        <a:t>Load now, not next month's repair log</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11   3</a:t>
            </a:r>
          </a:p>
        </p:txBody>
      </p:sp>
    </p:spTree>
  </p:cSld>
  <p:clrMapOvr>
    <a:masterClrMapping/>
  </p:clrMapOvr>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0E6769-B20B-4812-909E-91401EBC341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39EC503-9D18-4F43-A1F1-60E09EE2CB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BC135BA-EC0D-479E-B261-9106BD3B3A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1D2D31D0-6722-4F42-8F13-FC02B612547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3580153-2CC2-48EE-8764-15D1AB41AB4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61C2DA77-F7EF-4155-923F-FC6BDD31EB1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them beside the notebook locally.</a:t>
            </a:r>
          </a:p>
        </p:txBody>
      </p:sp>
      <p:sp>
        <p:nvSpPr>
          <p:cNvPr id="7" name="">
            <a:extLst xmlns:a="http://schemas.openxmlformats.org/drawingml/2006/main">
              <a:ext uri="{FF2B5EF4-FFF2-40B4-BE49-F238E27FC236}">
                <a16:creationId xmlns:a16="http://schemas.microsoft.com/office/drawing/2014/main" id="{A51D8F1A-5CBD-465A-A873-6CE62AE8228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34BC7DB4-FAB2-4D1F-9FDF-D61576981C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4</a:t>
            </a:r>
          </a:p>
        </p:txBody>
      </p:sp>
    </p:spTree>
    <p:extLst>
      <p:ext uri="{BB962C8B-B14F-4D97-AF65-F5344CB8AC3E}">
        <p14:creationId xmlns:p14="http://schemas.microsoft.com/office/powerpoint/2010/main" val="11625713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957837-8DD4-4167-8C9F-D98FD743846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9030A72-20B1-4116-AE62-38CD57C8D69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4DEE55C-8A2C-4F76-99B9-EDA608D2181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DA013910-72E6-4DEC-8664-44E94681880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F54E27A-25D4-4A65-9185-40A69CC28FD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20E94C4E-5B7A-4EFA-9C21-925C396822A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raw_data: original CSV table; keep it unchanged so the analysis can be checked.</a:t>
            </a:r>
          </a:p>
        </p:txBody>
      </p:sp>
      <p:sp>
        <p:nvSpPr>
          <p:cNvPr id="7" name="">
            <a:extLst xmlns:a="http://schemas.openxmlformats.org/drawingml/2006/main">
              <a:ext uri="{FF2B5EF4-FFF2-40B4-BE49-F238E27FC236}">
                <a16:creationId xmlns:a16="http://schemas.microsoft.com/office/drawing/2014/main" id="{C7866F0B-F95E-4B2C-9EEE-164D17F01CD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D5D93C22-C902-42F5-8CD7-4FCAF62677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5</a:t>
            </a:r>
          </a:p>
        </p:txBody>
      </p:sp>
    </p:spTree>
    <p:extLst>
      <p:ext uri="{BB962C8B-B14F-4D97-AF65-F5344CB8AC3E}">
        <p14:creationId xmlns:p14="http://schemas.microsoft.com/office/powerpoint/2010/main" val="4221418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1DBC6D-85F6-4872-8DAD-D431887674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6EEE792-D30E-4B41-B460-1B7EB906A5F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EA826A4-2A2C-4247-B419-9C2E37D5963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1</a:t>
            </a:r>
          </a:p>
        </p:txBody>
      </p:sp>
      <p:sp>
        <p:nvSpPr>
          <p:cNvPr id="4" name="">
            <a:extLst xmlns:a="http://schemas.openxmlformats.org/drawingml/2006/main">
              <a:ext uri="{FF2B5EF4-FFF2-40B4-BE49-F238E27FC236}">
                <a16:creationId xmlns:a16="http://schemas.microsoft.com/office/drawing/2014/main" id="{FFDD5687-1896-4E8E-A34B-887CFA84425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A442035-A290-4FAC-878E-5963E8ED267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modelling_data["target"].notna()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modelling_data["load_pct"].between(0,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modelling_data[rows_to_keep].copy()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 len(modelling_data))</a:t>
            </a:r>
          </a:p>
        </p:txBody>
      </p:sp>
      <p:sp>
        <p:nvSpPr>
          <p:cNvPr id="6" name="">
            <a:extLst xmlns:a="http://schemas.openxmlformats.org/drawingml/2006/main">
              <a:ext uri="{FF2B5EF4-FFF2-40B4-BE49-F238E27FC236}">
                <a16:creationId xmlns:a16="http://schemas.microsoft.com/office/drawing/2014/main" id="{1582CCFE-7DEC-4682-8245-A0A78CABFC1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5C319C98-1C8B-4144-B469-424C6A37E7E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0EA980F8-2A68-4B96-88AF-F65778AE993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6</a:t>
            </a:r>
          </a:p>
        </p:txBody>
      </p:sp>
    </p:spTree>
    <p:extLst>
      <p:ext uri="{BB962C8B-B14F-4D97-AF65-F5344CB8AC3E}">
        <p14:creationId xmlns:p14="http://schemas.microsoft.com/office/powerpoint/2010/main" val="9546935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B94A93-A7A9-471E-B5D4-F277083D129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92EE198-C493-405B-B17E-D4685820775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B723F35-AACC-41D5-9265-E15DF90283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groups before choosing rows</a:t>
            </a:r>
          </a:p>
        </p:txBody>
      </p:sp>
      <p:sp>
        <p:nvSpPr>
          <p:cNvPr id="4" name="">
            <a:extLst xmlns:a="http://schemas.openxmlformats.org/drawingml/2006/main">
              <a:ext uri="{FF2B5EF4-FFF2-40B4-BE49-F238E27FC236}">
                <a16:creationId xmlns:a16="http://schemas.microsoft.com/office/drawing/2014/main" id="{2879E75D-7999-4C82-B7D3-C0A09B4A0C8E}"/>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A80DE41-CF0D-4462-83B6-EDF51F5B8466}"/>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isin(list_of_labels) answers True when a row’s equipment ID appears in the list.</a:t>
            </a:r>
          </a:p>
        </p:txBody>
      </p:sp>
      <p:sp>
        <p:nvSpPr>
          <p:cNvPr id="6" name="">
            <a:extLst xmlns:a="http://schemas.openxmlformats.org/drawingml/2006/main">
              <a:ext uri="{FF2B5EF4-FFF2-40B4-BE49-F238E27FC236}">
                <a16:creationId xmlns:a16="http://schemas.microsoft.com/office/drawing/2014/main" id="{6FDD5B16-C23B-4DD1-AAB7-55DD4627E3AA}"/>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Here E1–E4 supply training rows, E5 validation rows and E6 test rows.</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groups stay separate so one equipment group cannot appear on both sides.</a:t>
            </a:r>
          </a:p>
        </p:txBody>
      </p:sp>
      <p:sp>
        <p:nvSpPr>
          <p:cNvPr id="7" name="">
            <a:extLst xmlns:a="http://schemas.openxmlformats.org/drawingml/2006/main">
              <a:ext uri="{FF2B5EF4-FFF2-40B4-BE49-F238E27FC236}">
                <a16:creationId xmlns:a16="http://schemas.microsoft.com/office/drawing/2014/main" id="{E62EADF6-5150-4475-9D5D-A600BA3011B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7</a:t>
            </a:r>
          </a:p>
        </p:txBody>
      </p:sp>
    </p:spTree>
    <p:extLst>
      <p:ext uri="{BB962C8B-B14F-4D97-AF65-F5344CB8AC3E}">
        <p14:creationId xmlns:p14="http://schemas.microsoft.com/office/powerpoint/2010/main" val="21248913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F11650-8ED8-43C1-8F2E-E98CEBFE7A1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52047C5-948F-4E57-9FE7-E84ADA69D38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DD1935F-9B21-4B10-A772-F4A85E8E5C6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2</a:t>
            </a:r>
          </a:p>
        </p:txBody>
      </p:sp>
      <p:sp>
        <p:nvSpPr>
          <p:cNvPr id="4" name="">
            <a:extLst xmlns:a="http://schemas.openxmlformats.org/drawingml/2006/main">
              <a:ext uri="{FF2B5EF4-FFF2-40B4-BE49-F238E27FC236}">
                <a16:creationId xmlns:a16="http://schemas.microsoft.com/office/drawing/2014/main" id="{0C761E5A-3C1F-41B3-B0BF-F85EAAB4E9F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D774174-5FA1-453A-B4BD-63065D23E28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is_training_equipment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["E1", "E2", "E3", "E4"]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is_validation_equipment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is_test_equipment = modelling_data["equipment_id"].isin(["E6"])</a:t>
            </a:r>
          </a:p>
        </p:txBody>
      </p:sp>
      <p:sp>
        <p:nvSpPr>
          <p:cNvPr id="6" name="">
            <a:extLst xmlns:a="http://schemas.openxmlformats.org/drawingml/2006/main">
              <a:ext uri="{FF2B5EF4-FFF2-40B4-BE49-F238E27FC236}">
                <a16:creationId xmlns:a16="http://schemas.microsoft.com/office/drawing/2014/main" id="{15714F92-5E45-4C10-A590-974E4B27839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E05C8A6D-8E1A-4D33-92A5-6C6717FBBFB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4B9883C0-5222-403B-84D1-7F9C7AF6EE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8</a:t>
            </a:r>
          </a:p>
        </p:txBody>
      </p:sp>
    </p:spTree>
    <p:extLst>
      <p:ext uri="{BB962C8B-B14F-4D97-AF65-F5344CB8AC3E}">
        <p14:creationId xmlns:p14="http://schemas.microsoft.com/office/powerpoint/2010/main" val="2216979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38426B-6ED5-422E-BC63-1DF62EDBE47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2F173D0-4A80-4120-994B-18FABB2CE29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DD0332C-2C50-45E4-A4B4-D6126576251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3</a:t>
            </a:r>
          </a:p>
        </p:txBody>
      </p:sp>
      <p:sp>
        <p:nvSpPr>
          <p:cNvPr id="4" name="">
            <a:extLst xmlns:a="http://schemas.openxmlformats.org/drawingml/2006/main">
              <a:ext uri="{FF2B5EF4-FFF2-40B4-BE49-F238E27FC236}">
                <a16:creationId xmlns:a16="http://schemas.microsoft.com/office/drawing/2014/main" id="{6B5215DF-8A32-480C-8812-05F9D50B050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40B3BD2-1DBA-4FA2-9F62-CB5067D2EF5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53325DAB-7085-48FA-98D7-E24B3BFF208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 rows used to learn model settings; only these rows may determine imputation values.</a:t>
            </a:r>
          </a:p>
        </p:txBody>
      </p:sp>
      <p:sp>
        <p:nvSpPr>
          <p:cNvPr id="7" name="">
            <a:extLst xmlns:a="http://schemas.openxmlformats.org/drawingml/2006/main">
              <a:ext uri="{FF2B5EF4-FFF2-40B4-BE49-F238E27FC236}">
                <a16:creationId xmlns:a16="http://schemas.microsoft.com/office/drawing/2014/main" id="{9F06B5A0-66F6-4BB5-A3BD-7D676A3652A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validation_data: separate rows used to compare models without fitting on them.</a:t>
            </a:r>
          </a:p>
        </p:txBody>
      </p:sp>
      <p:sp>
        <p:nvSpPr>
          <p:cNvPr id="8" name="">
            <a:extLst xmlns:a="http://schemas.openxmlformats.org/drawingml/2006/main">
              <a:ext uri="{FF2B5EF4-FFF2-40B4-BE49-F238E27FC236}">
                <a16:creationId xmlns:a16="http://schemas.microsoft.com/office/drawing/2014/main" id="{4187787C-954A-44AE-971B-A3E7E9AA6E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9</a:t>
            </a:r>
          </a:p>
        </p:txBody>
      </p:sp>
    </p:spTree>
    <p:extLst>
      <p:ext uri="{BB962C8B-B14F-4D97-AF65-F5344CB8AC3E}">
        <p14:creationId xmlns:p14="http://schemas.microsoft.com/office/powerpoint/2010/main" val="19553587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24E2AE-C534-4234-ABA8-A4D67FF23E5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74900D4-8BE3-4BB7-9176-561D0222017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E46CF1B-E5E2-4D7A-80F7-ECA25587C82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3</a:t>
            </a:r>
          </a:p>
        </p:txBody>
      </p:sp>
      <p:sp>
        <p:nvSpPr>
          <p:cNvPr id="4" name="">
            <a:extLst xmlns:a="http://schemas.openxmlformats.org/drawingml/2006/main">
              <a:ext uri="{FF2B5EF4-FFF2-40B4-BE49-F238E27FC236}">
                <a16:creationId xmlns:a16="http://schemas.microsoft.com/office/drawing/2014/main" id="{6EE990BA-9664-454A-99DC-2C2EB0E8B64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7E3F9A8-5710-41E2-AF64-09C1A9E6FCD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modelling_data[is_training_equipment].copy()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modelling_data[is_validation_equipment].copy()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test_data = modelling_data[is_test_equipment].copy()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print(len(training_data), len(validation_data), len(test_data))</a:t>
            </a:r>
          </a:p>
        </p:txBody>
      </p:sp>
      <p:sp>
        <p:nvSpPr>
          <p:cNvPr id="6" name="">
            <a:extLst xmlns:a="http://schemas.openxmlformats.org/drawingml/2006/main">
              <a:ext uri="{FF2B5EF4-FFF2-40B4-BE49-F238E27FC236}">
                <a16:creationId xmlns:a16="http://schemas.microsoft.com/office/drawing/2014/main" id="{B1408A24-D86D-4545-B53B-119B39D6EB5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44C20417-52FA-492C-9C73-C029077DDB3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541332CA-EAAD-4B22-B295-26D47718D4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10</a:t>
            </a:r>
          </a:p>
        </p:txBody>
      </p:sp>
    </p:spTree>
    <p:extLst>
      <p:ext uri="{BB962C8B-B14F-4D97-AF65-F5344CB8AC3E}">
        <p14:creationId xmlns:p14="http://schemas.microsoft.com/office/powerpoint/2010/main" val="18922775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0C2F31-0AC7-4B48-ABEA-C7C91BBC1C3D}"/>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0AAB0F4-B338-4E9A-B756-7E210D9286D1}"/>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physical relationship can form a feature</a:t>
            </a:r>
          </a:p>
        </p:txBody>
      </p:sp>
      <p:pic>
        <p:nvPicPr>
          <p:cNvPr id="3" name="">
            <a:extLst xmlns:a="http://schemas.openxmlformats.org/drawingml/2006/main">
              <a:ext uri="{FF2B5EF4-FFF2-40B4-BE49-F238E27FC236}">
                <a16:creationId xmlns:a16="http://schemas.microsoft.com/office/drawing/2014/main" id="{75CE23AC-3147-4A76-A463-2A6119B3A9A9}"/>
              </a:ext>
            </a:extLst>
          </p:cNvPr>
          <p:cNvPicPr>
            <a:picLocks xmlns:a="http://schemas.openxmlformats.org/drawingml/2006/main" noChangeAspect="1"/>
          </p:cNvPicPr>
          <p:nvPr/>
        </p:nvPicPr>
        <p:blipFill>
          <a:blip xmlns:r="http://schemas.openxmlformats.org/officeDocument/2006/relationships" xmlns:a="http://schemas.openxmlformats.org/drawingml/2006/main" r:embed="Rd4ed300682a443c7"/>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150556C-B9AA-4561-859B-7BC5ED518448}"/>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FF87F64-1936-4114-BCCA-FB6D6751F82C}"/>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Explain each quantity in the relationship and its unit before reading the pattern.</a:t>
            </a:r>
          </a:p>
        </p:txBody>
      </p:sp>
      <p:sp>
        <p:nvSpPr>
          <p:cNvPr id="6" name="">
            <a:extLst xmlns:a="http://schemas.openxmlformats.org/drawingml/2006/main">
              <a:ext uri="{FF2B5EF4-FFF2-40B4-BE49-F238E27FC236}">
                <a16:creationId xmlns:a16="http://schemas.microsoft.com/office/drawing/2014/main" id="{F22F8880-3076-48A4-A69D-CBEF48FF210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11</a:t>
            </a:r>
          </a:p>
        </p:txBody>
      </p:sp>
    </p:spTree>
    <p:extLst>
      <p:ext uri="{BB962C8B-B14F-4D97-AF65-F5344CB8AC3E}">
        <p14:creationId xmlns:p14="http://schemas.microsoft.com/office/powerpoint/2010/main" val="1669016597"/>
      </p:ext>
    </p:extLst>
  </p:cSld>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straight line misses a curve, and a new feature repairs it</a:t>
            </a:r>
          </a:p>
        </p:txBody>
      </p:sp>
      <p:pic>
        <p:nvPicPr>
          <p:cNvPr id="4" name="Picture 3" descr="curved_toy.png"/>
          <p:cNvPicPr>
            <a:picLocks noChangeAspect="1"/>
          </p:cNvPicPr>
          <p:nvPr/>
        </p:nvPicPr>
        <p:blipFill>
          <a:blip r:embed="rId2"/>
          <a:stretch>
            <a:fillRect/>
          </a:stretch>
        </p:blipFill>
        <p:spPr>
          <a:xfrm>
            <a:off x="381000" y="1453602"/>
            <a:ext cx="11430000" cy="3925395"/>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Invented data. Adding x squared as a feature lets the same linear model follow the curve.</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11   12</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86E73C-5CC1-44B8-B6DD-1E828A8B7C8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039A69E-FA5B-4EBF-BB56-E1D8B65962F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58C30D9-8D87-4A3B-940C-C506615341E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Derived features from existing inputs</a:t>
            </a:r>
          </a:p>
        </p:txBody>
      </p:sp>
      <p:sp>
        <p:nvSpPr>
          <p:cNvPr id="4" name="">
            <a:extLst xmlns:a="http://schemas.openxmlformats.org/drawingml/2006/main">
              <a:ext uri="{FF2B5EF4-FFF2-40B4-BE49-F238E27FC236}">
                <a16:creationId xmlns:a16="http://schemas.microsoft.com/office/drawing/2014/main" id="{EBEF9374-0A29-4DF6-B22C-060BBE144DF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96D7447-2804-42B5-A3F2-C525B607B26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1DFC7C3-3ECB-45E7-A6EC-24DF1A4B3CE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load_pct / 100 gives load_fraction. Multiplying load_pct by ambient_c gives the load_ambient interaction.</a:t>
            </a:r>
          </a:p>
        </p:txBody>
      </p:sp>
      <p:sp>
        <p:nvSpPr>
          <p:cNvPr id="7" name="">
            <a:extLst xmlns:a="http://schemas.openxmlformats.org/drawingml/2006/main">
              <a:ext uri="{FF2B5EF4-FFF2-40B4-BE49-F238E27FC236}">
                <a16:creationId xmlns:a16="http://schemas.microsoft.com/office/drawing/2014/main" id="{1AD19956-9F9D-43E7-AF22-09AB6D61DCA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equipment_data["new_name"] = expression adds a column. Apply the same formulas to training and validation rows, without changing raw data.</a:t>
            </a:r>
          </a:p>
        </p:txBody>
      </p:sp>
      <p:sp>
        <p:nvSpPr>
          <p:cNvPr id="8" name="">
            <a:extLst xmlns:a="http://schemas.openxmlformats.org/drawingml/2006/main">
              <a:ext uri="{FF2B5EF4-FFF2-40B4-BE49-F238E27FC236}">
                <a16:creationId xmlns:a16="http://schemas.microsoft.com/office/drawing/2014/main" id="{DAF8DA98-DAF5-48BB-96D1-AA8C02EB0D5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13</a:t>
            </a:r>
          </a:p>
        </p:txBody>
      </p:sp>
    </p:spTree>
    <p:extLst>
      <p:ext uri="{BB962C8B-B14F-4D97-AF65-F5344CB8AC3E}">
        <p14:creationId xmlns:p14="http://schemas.microsoft.com/office/powerpoint/2010/main" val="20333018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108C9B-67F7-46BB-BFF6-A7D5153D5C3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BD7A1BC-A45B-4575-A2B4-ECB6CCCEA85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52ECE4C-08D1-401F-9ECF-334A0DE53F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8B23CBE2-129D-4BD2-8862-3F414972C41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6A2CA6E-0939-4926-976A-DD054EFB47A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388A728C-CA04-400F-8292-A4E15173EAE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Adding or replacing a column: equipment_data["name"] = values assigns that column. An array follows row order. A Series aligns by row label, so keep labels paired with the intended observations.</a:t>
            </a:r>
          </a:p>
        </p:txBody>
      </p:sp>
      <p:sp>
        <p:nvSpPr>
          <p:cNvPr id="7" name="">
            <a:extLst xmlns:a="http://schemas.openxmlformats.org/drawingml/2006/main">
              <a:ext uri="{FF2B5EF4-FFF2-40B4-BE49-F238E27FC236}">
                <a16:creationId xmlns:a16="http://schemas.microsoft.com/office/drawing/2014/main" id="{0AD424C4-2CB7-4942-8D13-13DB341E489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arithmetic: Arithmetic on columns calculates one result per row. Series align by row label. Divide only where the denominator is valid and keep actual and predicted observations paired.</a:t>
            </a:r>
          </a:p>
        </p:txBody>
      </p:sp>
      <p:sp>
        <p:nvSpPr>
          <p:cNvPr id="8" name="">
            <a:extLst xmlns:a="http://schemas.openxmlformats.org/drawingml/2006/main">
              <a:ext uri="{FF2B5EF4-FFF2-40B4-BE49-F238E27FC236}">
                <a16:creationId xmlns:a16="http://schemas.microsoft.com/office/drawing/2014/main" id="{B6153461-EA61-470D-B36F-1764F96DFBF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14</a:t>
            </a:r>
          </a:p>
        </p:txBody>
      </p:sp>
    </p:spTree>
    <p:extLst>
      <p:ext uri="{BB962C8B-B14F-4D97-AF65-F5344CB8AC3E}">
        <p14:creationId xmlns:p14="http://schemas.microsoft.com/office/powerpoint/2010/main" val="20357598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12B92F-CE58-4075-B3C2-31933A2E43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63214D1-0505-4080-AA90-420A993F5FE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4EA08FD-5B77-4956-AEDD-866952B66EA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a function</a:t>
            </a:r>
          </a:p>
        </p:txBody>
      </p:sp>
      <p:sp>
        <p:nvSpPr>
          <p:cNvPr id="4" name="">
            <a:extLst xmlns:a="http://schemas.openxmlformats.org/drawingml/2006/main">
              <a:ext uri="{FF2B5EF4-FFF2-40B4-BE49-F238E27FC236}">
                <a16:creationId xmlns:a16="http://schemas.microsoft.com/office/drawing/2014/main" id="{4B421324-B264-4EB2-B1D4-B57DE5EA0E82}"/>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2CAA5E4-284F-4F1A-9B67-FD968324135A}"/>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def gives a reusable block a name and input parameters. The indented statements run when it is called. return sends a result back to the caller; print displays a result but does not return it.</a:t>
            </a:r>
          </a:p>
        </p:txBody>
      </p:sp>
      <p:sp>
        <p:nvSpPr>
          <p:cNvPr id="6" name="">
            <a:extLst xmlns:a="http://schemas.openxmlformats.org/drawingml/2006/main">
              <a:ext uri="{FF2B5EF4-FFF2-40B4-BE49-F238E27FC236}">
                <a16:creationId xmlns:a16="http://schemas.microsoft.com/office/drawing/2014/main" id="{44E257AA-E8B5-4B44-980E-A6957EA95F2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15</a:t>
            </a:r>
          </a:p>
        </p:txBody>
      </p:sp>
    </p:spTree>
    <p:extLst>
      <p:ext uri="{BB962C8B-B14F-4D97-AF65-F5344CB8AC3E}">
        <p14:creationId xmlns:p14="http://schemas.microsoft.com/office/powerpoint/2010/main" val="70243131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4AC281-A323-4917-8CF4-B6A669DEF4A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8BF211B-9298-4B55-9764-FDCA7FC12C4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6A65F94-3429-478F-9FAB-C48589B6E1E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Features from the supplied load and ambient columns (1/2)</a:t>
            </a:r>
          </a:p>
        </p:txBody>
      </p:sp>
      <p:sp>
        <p:nvSpPr>
          <p:cNvPr id="4" name="">
            <a:extLst xmlns:a="http://schemas.openxmlformats.org/drawingml/2006/main">
              <a:ext uri="{FF2B5EF4-FFF2-40B4-BE49-F238E27FC236}">
                <a16:creationId xmlns:a16="http://schemas.microsoft.com/office/drawing/2014/main" id="{3C33CC2B-61D7-40E2-B18D-DC49A198522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BDFC206-2C33-4143-8E6D-0AA21B0BC30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add_features(equipment_data):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 = equipment_data.copy()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extended_data["load_fraction"]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extended_data["load_pct"] /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extended_data["load_ambient"]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extended_data["load_pct"] * extended_data["ambient_c"]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p:txBody>
      </p:sp>
      <p:sp>
        <p:nvSpPr>
          <p:cNvPr id="6" name="">
            <a:extLst xmlns:a="http://schemas.openxmlformats.org/drawingml/2006/main">
              <a:ext uri="{FF2B5EF4-FFF2-40B4-BE49-F238E27FC236}">
                <a16:creationId xmlns:a16="http://schemas.microsoft.com/office/drawing/2014/main" id="{EDF9243A-13DE-45EF-B6AF-49D3D5540AB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Use the inputs and operations defined in the preceding slides.</a:t>
            </a:r>
          </a:p>
        </p:txBody>
      </p:sp>
      <p:sp>
        <p:nvSpPr>
          <p:cNvPr id="7" name="">
            <a:extLst xmlns:a="http://schemas.openxmlformats.org/drawingml/2006/main">
              <a:ext uri="{FF2B5EF4-FFF2-40B4-BE49-F238E27FC236}">
                <a16:creationId xmlns:a16="http://schemas.microsoft.com/office/drawing/2014/main" id="{33CF2A3F-66B8-4C1A-A365-A45C8D580B4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in the same code cell.</a:t>
            </a:r>
          </a:p>
        </p:txBody>
      </p:sp>
      <p:sp>
        <p:nvSpPr>
          <p:cNvPr id="8" name="">
            <a:extLst xmlns:a="http://schemas.openxmlformats.org/drawingml/2006/main">
              <a:ext uri="{FF2B5EF4-FFF2-40B4-BE49-F238E27FC236}">
                <a16:creationId xmlns:a16="http://schemas.microsoft.com/office/drawing/2014/main" id="{26DEB062-8E0B-48C1-A28A-49AE9DC7CD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16</a:t>
            </a:r>
          </a:p>
        </p:txBody>
      </p:sp>
    </p:spTree>
    <p:extLst>
      <p:ext uri="{BB962C8B-B14F-4D97-AF65-F5344CB8AC3E}">
        <p14:creationId xmlns:p14="http://schemas.microsoft.com/office/powerpoint/2010/main" val="16685254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F42380-9F39-439E-B787-B1FDBB90985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5743FD9-855D-450A-9652-D620625EF8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1E98722-E4D8-48AA-931F-E65F33CCAF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Features from the supplied load and ambient columns (2/2)</a:t>
            </a:r>
          </a:p>
        </p:txBody>
      </p:sp>
      <p:sp>
        <p:nvSpPr>
          <p:cNvPr id="4" name="">
            <a:extLst xmlns:a="http://schemas.openxmlformats.org/drawingml/2006/main">
              <a:ext uri="{FF2B5EF4-FFF2-40B4-BE49-F238E27FC236}">
                <a16:creationId xmlns:a16="http://schemas.microsoft.com/office/drawing/2014/main" id="{D859A59B-1DC7-4A5C-A001-FBEEE6424E8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D3E43C8-24EB-40AE-BE61-C1665060968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extended_data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training_features = add_features(training_data)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validation_features = add_features(validation_data)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training_features[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["load_pct", "load_fraction", "load_ambient"]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A1BB4E3B-C675-4817-86C5-70B3A94C4BD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Use the inputs and operations defined in the preceding slides.</a:t>
            </a:r>
          </a:p>
        </p:txBody>
      </p:sp>
      <p:sp>
        <p:nvSpPr>
          <p:cNvPr id="7" name="">
            <a:extLst xmlns:a="http://schemas.openxmlformats.org/drawingml/2006/main">
              <a:ext uri="{FF2B5EF4-FFF2-40B4-BE49-F238E27FC236}">
                <a16:creationId xmlns:a16="http://schemas.microsoft.com/office/drawing/2014/main" id="{45E2EE84-25F9-4E90-9A51-0EA60A8DC86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AF05FBD1-4450-43A3-A437-6BB63213AE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17</a:t>
            </a:r>
          </a:p>
        </p:txBody>
      </p:sp>
    </p:spTree>
    <p:extLst>
      <p:ext uri="{BB962C8B-B14F-4D97-AF65-F5344CB8AC3E}">
        <p14:creationId xmlns:p14="http://schemas.microsoft.com/office/powerpoint/2010/main" val="1584594729"/>
      </p:ext>
    </p:extLst>
  </p:cSld>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Which input moves the prediction more?</a:t>
            </a:r>
          </a:p>
        </p:txBody>
      </p:sp>
      <p:graphicFrame>
        <p:nvGraphicFramePr>
          <p:cNvPr id="5" name="Table 4"/>
          <p:cNvGraphicFramePr>
            <a:graphicFrameLocks noGrp="1"/>
          </p:cNvGraphicFramePr>
          <p:nvPr/>
        </p:nvGraphicFramePr>
        <p:xfrm>
          <a:off x="584200" y="1625600"/>
          <a:ext cx="11023600" cy="2209800"/>
        </p:xfrm>
        <a:graphic>
          <a:graphicData uri="http://schemas.openxmlformats.org/drawingml/2006/table">
            <a:tbl>
              <a:tblPr firstRow="0" bandRow="0">
                <a:tableStyleId>{5C22544A-7EE6-4342-B048-85BDC9FD1C3A}</a:tableStyleId>
              </a:tblPr>
              <a:tblGrid>
                <a:gridCol w="1905000"/>
                <a:gridCol w="2794000"/>
                <a:gridCol w="3683000"/>
                <a:gridCol w="2641600"/>
              </a:tblGrid>
              <a:tr h="736600">
                <a:tc>
                  <a:txBody>
                    <a:bodyPr wrap="square"/>
                    <a:lstStyle/>
                    <a:p>
                      <a:r>
                        <a:rPr sz="1900" b="1">
                          <a:solidFill>
                            <a:srgbClr val="FFFFFF"/>
                          </a:solidFill>
                          <a:latin typeface="Calibri"/>
                        </a:rPr>
                        <a:t>Input</a:t>
                      </a:r>
                    </a:p>
                  </a:txBody>
                  <a:tcPr marL="101600" marR="101600" marT="38100" marB="38100" anchor="ctr">
                    <a:solidFill>
                      <a:srgbClr val="2E7D6F"/>
                    </a:solidFill>
                  </a:tcPr>
                </a:tc>
                <a:tc>
                  <a:txBody>
                    <a:bodyPr wrap="square"/>
                    <a:lstStyle/>
                    <a:p>
                      <a:r>
                        <a:rPr sz="1900" b="1">
                          <a:solidFill>
                            <a:srgbClr val="FFFFFF"/>
                          </a:solidFill>
                          <a:latin typeface="Calibri"/>
                        </a:rPr>
                        <a:t>Slope (deg C per unit)</a:t>
                      </a:r>
                    </a:p>
                  </a:txBody>
                  <a:tcPr marL="101600" marR="101600" marT="38100" marB="38100" anchor="ctr">
                    <a:solidFill>
                      <a:srgbClr val="2E7D6F"/>
                    </a:solidFill>
                  </a:tcPr>
                </a:tc>
                <a:tc>
                  <a:txBody>
                    <a:bodyPr wrap="square"/>
                    <a:lstStyle/>
                    <a:p>
                      <a:r>
                        <a:rPr sz="1900" b="1">
                          <a:solidFill>
                            <a:srgbClr val="FFFFFF"/>
                          </a:solidFill>
                          <a:latin typeface="Calibri"/>
                        </a:rPr>
                        <a:t>Typical spread (standard deviation)</a:t>
                      </a:r>
                    </a:p>
                  </a:txBody>
                  <a:tcPr marL="101600" marR="101600" marT="38100" marB="38100" anchor="ctr">
                    <a:solidFill>
                      <a:srgbClr val="2E7D6F"/>
                    </a:solidFill>
                  </a:tcPr>
                </a:tc>
                <a:tc>
                  <a:txBody>
                    <a:bodyPr wrap="square"/>
                    <a:lstStyle/>
                    <a:p>
                      <a:r>
                        <a:rPr sz="1900" b="1">
                          <a:solidFill>
                            <a:srgbClr val="FFFFFF"/>
                          </a:solidFill>
                          <a:latin typeface="Calibri"/>
                        </a:rPr>
                        <a:t>Effect of one spread (deg C)</a:t>
                      </a:r>
                    </a:p>
                  </a:txBody>
                  <a:tcPr marL="101600" marR="101600" marT="38100" marB="38100" anchor="ctr">
                    <a:solidFill>
                      <a:srgbClr val="2E7D6F"/>
                    </a:solidFill>
                  </a:tcPr>
                </a:tc>
              </a:tr>
              <a:tr h="736600">
                <a:tc>
                  <a:txBody>
                    <a:bodyPr wrap="square"/>
                    <a:lstStyle/>
                    <a:p>
                      <a:r>
                        <a:rPr sz="1900" b="1">
                          <a:solidFill>
                            <a:srgbClr val="1C3144"/>
                          </a:solidFill>
                          <a:latin typeface="Calibri"/>
                        </a:rPr>
                        <a:t>load_pct</a:t>
                      </a:r>
                    </a:p>
                  </a:txBody>
                  <a:tcPr marL="101600" marR="101600" marT="38100" marB="38100" anchor="ctr">
                    <a:solidFill>
                      <a:srgbClr val="EEF3F6"/>
                    </a:solidFill>
                  </a:tcPr>
                </a:tc>
                <a:tc>
                  <a:txBody>
                    <a:bodyPr wrap="square"/>
                    <a:lstStyle/>
                    <a:p>
                      <a:r>
                        <a:rPr sz="1900" b="0">
                          <a:solidFill>
                            <a:srgbClr val="1C3144"/>
                          </a:solidFill>
                          <a:latin typeface="Calibri"/>
                        </a:rPr>
                        <a:t>0.695</a:t>
                      </a:r>
                    </a:p>
                  </a:txBody>
                  <a:tcPr marL="101600" marR="101600" marT="38100" marB="38100" anchor="ctr">
                    <a:solidFill>
                      <a:srgbClr val="EEF3F6"/>
                    </a:solidFill>
                  </a:tcPr>
                </a:tc>
                <a:tc>
                  <a:txBody>
                    <a:bodyPr wrap="square"/>
                    <a:lstStyle/>
                    <a:p>
                      <a:r>
                        <a:rPr sz="1900" b="0">
                          <a:solidFill>
                            <a:srgbClr val="1C3144"/>
                          </a:solidFill>
                          <a:latin typeface="Calibri"/>
                        </a:rPr>
                        <a:t>22.7</a:t>
                      </a:r>
                    </a:p>
                  </a:txBody>
                  <a:tcPr marL="101600" marR="101600" marT="38100" marB="38100" anchor="ctr">
                    <a:solidFill>
                      <a:srgbClr val="EEF3F6"/>
                    </a:solidFill>
                  </a:tcPr>
                </a:tc>
                <a:tc>
                  <a:txBody>
                    <a:bodyPr wrap="square"/>
                    <a:lstStyle/>
                    <a:p>
                      <a:r>
                        <a:rPr sz="1900" b="0">
                          <a:solidFill>
                            <a:srgbClr val="1C3144"/>
                          </a:solidFill>
                          <a:latin typeface="Calibri"/>
                        </a:rPr>
                        <a:t>15.8</a:t>
                      </a:r>
                    </a:p>
                  </a:txBody>
                  <a:tcPr marL="101600" marR="101600" marT="38100" marB="38100" anchor="ctr">
                    <a:solidFill>
                      <a:srgbClr val="EEF3F6"/>
                    </a:solidFill>
                  </a:tcPr>
                </a:tc>
              </a:tr>
              <a:tr h="736600">
                <a:tc>
                  <a:txBody>
                    <a:bodyPr wrap="square"/>
                    <a:lstStyle/>
                    <a:p>
                      <a:r>
                        <a:rPr sz="1900" b="1">
                          <a:solidFill>
                            <a:srgbClr val="1C3144"/>
                          </a:solidFill>
                          <a:latin typeface="Calibri"/>
                        </a:rPr>
                        <a:t>ambient_c</a:t>
                      </a:r>
                    </a:p>
                  </a:txBody>
                  <a:tcPr marL="101600" marR="101600" marT="38100" marB="38100" anchor="ctr">
                    <a:solidFill>
                      <a:srgbClr val="FFFFFF"/>
                    </a:solidFill>
                  </a:tcPr>
                </a:tc>
                <a:tc>
                  <a:txBody>
                    <a:bodyPr wrap="square"/>
                    <a:lstStyle/>
                    <a:p>
                      <a:r>
                        <a:rPr sz="1900" b="0">
                          <a:solidFill>
                            <a:srgbClr val="1C3144"/>
                          </a:solidFill>
                          <a:latin typeface="Calibri"/>
                        </a:rPr>
                        <a:t>1.054</a:t>
                      </a:r>
                    </a:p>
                  </a:txBody>
                  <a:tcPr marL="101600" marR="101600" marT="38100" marB="38100" anchor="ctr">
                    <a:solidFill>
                      <a:srgbClr val="FFFFFF"/>
                    </a:solidFill>
                  </a:tcPr>
                </a:tc>
                <a:tc>
                  <a:txBody>
                    <a:bodyPr wrap="square"/>
                    <a:lstStyle/>
                    <a:p>
                      <a:r>
                        <a:rPr sz="1900" b="0">
                          <a:solidFill>
                            <a:srgbClr val="1C3144"/>
                          </a:solidFill>
                          <a:latin typeface="Calibri"/>
                        </a:rPr>
                        <a:t>4.6</a:t>
                      </a:r>
                    </a:p>
                  </a:txBody>
                  <a:tcPr marL="101600" marR="101600" marT="38100" marB="38100" anchor="ctr">
                    <a:solidFill>
                      <a:srgbClr val="FFFFFF"/>
                    </a:solidFill>
                  </a:tcPr>
                </a:tc>
                <a:tc>
                  <a:txBody>
                    <a:bodyPr wrap="square"/>
                    <a:lstStyle/>
                    <a:p>
                      <a:r>
                        <a:rPr sz="1900" b="0">
                          <a:solidFill>
                            <a:srgbClr val="1C3144"/>
                          </a:solidFill>
                          <a:latin typeface="Calibri"/>
                        </a:rPr>
                        <a:t>4.8</a:t>
                      </a:r>
                    </a:p>
                  </a:txBody>
                  <a:tcPr marL="101600" marR="101600" marT="38100" marB="38100" anchor="ctr">
                    <a:solidFill>
                      <a:srgbClr val="FFFFFF"/>
                    </a:solidFill>
                  </a:tcPr>
                </a:tc>
              </a:tr>
            </a:tbl>
          </a:graphicData>
        </a:graphic>
      </p:graphicFrame>
      <p:sp>
        <p:nvSpPr>
          <p:cNvPr id="6" name="TextBox 5"/>
          <p:cNvSpPr txBox="1"/>
          <p:nvPr/>
        </p:nvSpPr>
        <p:spPr>
          <a:xfrm>
            <a:off x="584200" y="4013200"/>
            <a:ext cx="11023600" cy="2413000"/>
          </a:xfrm>
          <a:prstGeom prst="rect">
            <a:avLst/>
          </a:prstGeom>
          <a:noFill/>
        </p:spPr>
        <p:txBody>
          <a:bodyPr wrap="square">
            <a:spAutoFit/>
          </a:bodyPr>
          <a:lstStyle/>
          <a:p>
            <a:pPr>
              <a:spcAft>
                <a:spcPts val="400"/>
              </a:spcAft>
            </a:pPr>
            <a:r>
              <a:rPr sz="1900" b="0">
                <a:solidFill>
                  <a:srgbClr val="1C3144"/>
                </a:solidFill>
                <a:latin typeface="Calibri"/>
              </a:rPr>
              <a:t>effect of one spread = slope × standard deviation</a:t>
            </a:r>
          </a:p>
          <a:p>
            <a:pPr>
              <a:spcAft>
                <a:spcPts val="400"/>
              </a:spcAft>
            </a:pPr>
            <a:r>
              <a:rPr sz="1900" b="0">
                <a:solidFill>
                  <a:srgbClr val="1C3144"/>
                </a:solidFill>
                <a:latin typeface="Calibri"/>
              </a:rPr>
              <a:t>Slopes come from the linear model fitted on the training rows. Spreads are the population standard deviation of the same rows, as StandardScaler calculates it.</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11   18</a:t>
            </a:r>
          </a:p>
        </p:txBody>
      </p:sp>
    </p:spTree>
  </p:cSld>
  <p:clrMapOvr>
    <a:masterClrMapping/>
  </p:clrMapOvr>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A86F94-B3DE-484A-A75F-E64987B20FC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3C0D4D2-756D-45B7-ADD6-1B9377BAC5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A4FCACD-2AFA-4FEA-A8F7-FCC73BDA97B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Ablation compares the same observations</a:t>
            </a:r>
          </a:p>
        </p:txBody>
      </p:sp>
      <p:sp>
        <p:nvSpPr>
          <p:cNvPr id="4" name="">
            <a:extLst xmlns:a="http://schemas.openxmlformats.org/drawingml/2006/main">
              <a:ext uri="{FF2B5EF4-FFF2-40B4-BE49-F238E27FC236}">
                <a16:creationId xmlns:a16="http://schemas.microsoft.com/office/drawing/2014/main" id="{1294DF54-3B74-4CDC-BB91-5670F21E3AB1}"/>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5E59231-DA68-4647-B270-A1C8D1341D0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99AD1C5-7D26-46A2-918D-12710644E41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Fit one linear model using load_pct and ambient_c. Fit a second using those columns plus load_ambient.</a:t>
            </a:r>
          </a:p>
        </p:txBody>
      </p:sp>
      <p:sp>
        <p:nvSpPr>
          <p:cNvPr id="7" name="">
            <a:extLst xmlns:a="http://schemas.openxmlformats.org/drawingml/2006/main">
              <a:ext uri="{FF2B5EF4-FFF2-40B4-BE49-F238E27FC236}">
                <a16:creationId xmlns:a16="http://schemas.microsoft.com/office/drawing/2014/main" id="{5788E948-E46E-477F-989E-2EDD3530D1C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Compare both on the same validation targets. Improvement equals baseline MAE minus extended MAE.</a:t>
            </a:r>
          </a:p>
        </p:txBody>
      </p:sp>
      <p:sp>
        <p:nvSpPr>
          <p:cNvPr id="8" name="">
            <a:extLst xmlns:a="http://schemas.openxmlformats.org/drawingml/2006/main">
              <a:ext uri="{FF2B5EF4-FFF2-40B4-BE49-F238E27FC236}">
                <a16:creationId xmlns:a16="http://schemas.microsoft.com/office/drawing/2014/main" id="{0728CE11-C304-4D19-BE6B-90741EBD79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19</a:t>
            </a:r>
          </a:p>
        </p:txBody>
      </p:sp>
    </p:spTree>
    <p:extLst>
      <p:ext uri="{BB962C8B-B14F-4D97-AF65-F5344CB8AC3E}">
        <p14:creationId xmlns:p14="http://schemas.microsoft.com/office/powerpoint/2010/main" val="205912820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DCAA30-49D2-41C2-9A2F-71E59BEC08B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29331B5-BC82-41B6-94E9-4AD0588A2D6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3D323E7-6C30-4F1F-BC68-D889F0754A5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Change one feature set at a time</a:t>
            </a:r>
          </a:p>
        </p:txBody>
      </p:sp>
      <p:sp>
        <p:nvSpPr>
          <p:cNvPr id="4" name="">
            <a:extLst xmlns:a="http://schemas.openxmlformats.org/drawingml/2006/main">
              <a:ext uri="{FF2B5EF4-FFF2-40B4-BE49-F238E27FC236}">
                <a16:creationId xmlns:a16="http://schemas.microsoft.com/office/drawing/2014/main" id="{31CED9DB-1261-428B-A2D1-ED55BE39E906}"/>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C150507-57BE-4378-8D68-17524B1A9EFC}"/>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The base inputs are load and ambient temperature.</a:t>
            </a:r>
          </a:p>
        </p:txBody>
      </p:sp>
      <p:sp>
        <p:nvSpPr>
          <p:cNvPr id="6" name="">
            <a:extLst xmlns:a="http://schemas.openxmlformats.org/drawingml/2006/main">
              <a:ext uri="{FF2B5EF4-FFF2-40B4-BE49-F238E27FC236}">
                <a16:creationId xmlns:a16="http://schemas.microsoft.com/office/drawing/2014/main" id="{EF71B108-E8B4-45EB-BD29-7DD712113325}"/>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extended inputs also include their product.</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Train separate pipelines on the same rows and compare on the same validation rows.</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isolates the effect of adding the feature.</a:t>
            </a:r>
          </a:p>
        </p:txBody>
      </p:sp>
      <p:sp>
        <p:nvSpPr>
          <p:cNvPr id="7" name="">
            <a:extLst xmlns:a="http://schemas.openxmlformats.org/drawingml/2006/main">
              <a:ext uri="{FF2B5EF4-FFF2-40B4-BE49-F238E27FC236}">
                <a16:creationId xmlns:a16="http://schemas.microsoft.com/office/drawing/2014/main" id="{515DDB5F-0D08-47E2-9E65-3CFE7DCD317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20</a:t>
            </a:r>
          </a:p>
        </p:txBody>
      </p:sp>
    </p:spTree>
    <p:extLst>
      <p:ext uri="{BB962C8B-B14F-4D97-AF65-F5344CB8AC3E}">
        <p14:creationId xmlns:p14="http://schemas.microsoft.com/office/powerpoint/2010/main" val="214246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CC7CAF-4AC0-4384-B168-8C28A200916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9B37E97-85B9-45A5-8C72-31018A17CE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C40111C-4F4B-4232-A4BE-3F55AB6145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Paired ablation using the supplied CSV: step 1</a:t>
            </a:r>
          </a:p>
        </p:txBody>
      </p:sp>
      <p:sp>
        <p:nvSpPr>
          <p:cNvPr id="4" name="">
            <a:extLst xmlns:a="http://schemas.openxmlformats.org/drawingml/2006/main">
              <a:ext uri="{FF2B5EF4-FFF2-40B4-BE49-F238E27FC236}">
                <a16:creationId xmlns:a16="http://schemas.microsoft.com/office/drawing/2014/main" id="{FA086C27-B2E9-46FE-8143-D5384AEA7C7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4D54373-6F4D-48A7-B5DD-176531EE22F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sklearn.impute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SimpleImputer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sklearn.pipeline import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sklearn.linear_model import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sklearn.metrics import mean_absolute_error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extended_feature_columns = base_feature_columns + ["load_ambient"]</a:t>
            </a:r>
          </a:p>
        </p:txBody>
      </p:sp>
      <p:sp>
        <p:nvSpPr>
          <p:cNvPr id="6" name="">
            <a:extLst xmlns:a="http://schemas.openxmlformats.org/drawingml/2006/main">
              <a:ext uri="{FF2B5EF4-FFF2-40B4-BE49-F238E27FC236}">
                <a16:creationId xmlns:a16="http://schemas.microsoft.com/office/drawing/2014/main" id="{8247C292-349A-4B9E-9A6D-6C168B405AF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A8DDD7E5-230A-4427-9CF0-4C7038BCE4A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564CF3BE-2D65-4024-AB64-EBB03568F32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21</a:t>
            </a:r>
          </a:p>
        </p:txBody>
      </p:sp>
    </p:spTree>
    <p:extLst>
      <p:ext uri="{BB962C8B-B14F-4D97-AF65-F5344CB8AC3E}">
        <p14:creationId xmlns:p14="http://schemas.microsoft.com/office/powerpoint/2010/main" val="107845153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50A87D-ADF5-4F88-AFF8-2596E5B008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06EB266-FF84-4A39-92E6-2DDFEB863B5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2D387FB-1E50-43A5-88E1-5994BF320E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Fit both alternatives fairly</a:t>
            </a:r>
          </a:p>
        </p:txBody>
      </p:sp>
      <p:sp>
        <p:nvSpPr>
          <p:cNvPr id="4" name="">
            <a:extLst xmlns:a="http://schemas.openxmlformats.org/drawingml/2006/main">
              <a:ext uri="{FF2B5EF4-FFF2-40B4-BE49-F238E27FC236}">
                <a16:creationId xmlns:a16="http://schemas.microsoft.com/office/drawing/2014/main" id="{1DA196E2-9EFC-4C70-9AAD-5A8378D80B94}"/>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72EC6A3-1AE1-42E7-8D4C-8AB4A207FF8C}"/>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Each pipeline learns its own training medians and regression settings.</a:t>
            </a:r>
          </a:p>
        </p:txBody>
      </p:sp>
      <p:sp>
        <p:nvSpPr>
          <p:cNvPr id="6" name="">
            <a:extLst xmlns:a="http://schemas.openxmlformats.org/drawingml/2006/main">
              <a:ext uri="{FF2B5EF4-FFF2-40B4-BE49-F238E27FC236}">
                <a16:creationId xmlns:a16="http://schemas.microsoft.com/office/drawing/2014/main" id="{BE573B12-1842-47F6-9D5A-B21FC0D78FB9}"/>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base model sees only base columns; the extended model sees the additional feature.</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Neither uses validation targets while learning.</a:t>
            </a:r>
          </a:p>
        </p:txBody>
      </p:sp>
      <p:sp>
        <p:nvSpPr>
          <p:cNvPr id="7" name="">
            <a:extLst xmlns:a="http://schemas.openxmlformats.org/drawingml/2006/main">
              <a:ext uri="{FF2B5EF4-FFF2-40B4-BE49-F238E27FC236}">
                <a16:creationId xmlns:a16="http://schemas.microsoft.com/office/drawing/2014/main" id="{17AF4651-E01F-4E3F-A902-C168ABC1D9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22</a:t>
            </a:r>
          </a:p>
        </p:txBody>
      </p:sp>
    </p:spTree>
    <p:extLst>
      <p:ext uri="{BB962C8B-B14F-4D97-AF65-F5344CB8AC3E}">
        <p14:creationId xmlns:p14="http://schemas.microsoft.com/office/powerpoint/2010/main" val="154947103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4E97AF-F025-4BBF-BF96-9369F973B32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C72195E-AEF5-41C7-989E-19EBC505C6A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1DA61E9-8090-40ED-B2DF-B5EB39ECB3F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Paired ablation using the supplied CSV: step 2 (1/2)</a:t>
            </a:r>
          </a:p>
        </p:txBody>
      </p:sp>
      <p:sp>
        <p:nvSpPr>
          <p:cNvPr id="4" name="">
            <a:extLst xmlns:a="http://schemas.openxmlformats.org/drawingml/2006/main">
              <a:ext uri="{FF2B5EF4-FFF2-40B4-BE49-F238E27FC236}">
                <a16:creationId xmlns:a16="http://schemas.microsoft.com/office/drawing/2014/main" id="{68468203-7F12-40D8-9636-DC96C9D8B8F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FB8439A-897B-4CD2-B7BD-013DFE36114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base_pipeline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extended_pipeline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52450EFE-A0EE-46AE-8ABA-12F058102C3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Run the cell and read the output below it.</a:t>
            </a:r>
          </a:p>
        </p:txBody>
      </p:sp>
      <p:sp>
        <p:nvSpPr>
          <p:cNvPr id="7" name="">
            <a:extLst xmlns:a="http://schemas.openxmlformats.org/drawingml/2006/main">
              <a:ext uri="{FF2B5EF4-FFF2-40B4-BE49-F238E27FC236}">
                <a16:creationId xmlns:a16="http://schemas.microsoft.com/office/drawing/2014/main" id="{82A96AB9-B6C9-4248-9025-3690069B9DC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in the same code cell.</a:t>
            </a:r>
          </a:p>
        </p:txBody>
      </p:sp>
      <p:sp>
        <p:nvSpPr>
          <p:cNvPr id="8" name="">
            <a:extLst xmlns:a="http://schemas.openxmlformats.org/drawingml/2006/main">
              <a:ext uri="{FF2B5EF4-FFF2-40B4-BE49-F238E27FC236}">
                <a16:creationId xmlns:a16="http://schemas.microsoft.com/office/drawing/2014/main" id="{1C7A0852-6E0F-4DC9-BA56-F28819299D1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23</a:t>
            </a:r>
          </a:p>
        </p:txBody>
      </p:sp>
    </p:spTree>
    <p:extLst>
      <p:ext uri="{BB962C8B-B14F-4D97-AF65-F5344CB8AC3E}">
        <p14:creationId xmlns:p14="http://schemas.microsoft.com/office/powerpoint/2010/main" val="177005898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89E62B-0FE7-4912-88FF-364409E56D6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F6254CE-961D-4266-A1E1-4DD8127D95A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3612059-6B2D-4B4C-AEA7-84E0636053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Paired ablation using the supplied CSV: step 2 (2/2)</a:t>
            </a:r>
          </a:p>
        </p:txBody>
      </p:sp>
      <p:sp>
        <p:nvSpPr>
          <p:cNvPr id="4" name="">
            <a:extLst xmlns:a="http://schemas.openxmlformats.org/drawingml/2006/main">
              <a:ext uri="{FF2B5EF4-FFF2-40B4-BE49-F238E27FC236}">
                <a16:creationId xmlns:a16="http://schemas.microsoft.com/office/drawing/2014/main" id="{88B5DEFD-4F3B-4896-88A6-A7FB2E3B940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DDF68AC-635E-43F3-96C3-5CA6F674B92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base_pipeline.fit(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training_features[base_feature_columns],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extended_pipeline.fit(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training_features[extended_feature_columns],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46E198C7-CC54-421D-981C-08E14BD140B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EBC17868-B9C0-436E-8ADF-B83A227376B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D2BBD7FF-EFD9-4314-AD3B-CF6DDA968F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24</a:t>
            </a:r>
          </a:p>
        </p:txBody>
      </p:sp>
    </p:spTree>
    <p:extLst>
      <p:ext uri="{BB962C8B-B14F-4D97-AF65-F5344CB8AC3E}">
        <p14:creationId xmlns:p14="http://schemas.microsoft.com/office/powerpoint/2010/main" val="170661443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635B2F-64F0-44BA-ABA7-2BF23ECBE3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79063A4-6BF2-441D-9A21-4583720118A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460558D-0226-40C0-B837-9D8A9384D65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errors on the same rows</a:t>
            </a:r>
          </a:p>
        </p:txBody>
      </p:sp>
      <p:sp>
        <p:nvSpPr>
          <p:cNvPr id="4" name="">
            <a:extLst xmlns:a="http://schemas.openxmlformats.org/drawingml/2006/main">
              <a:ext uri="{FF2B5EF4-FFF2-40B4-BE49-F238E27FC236}">
                <a16:creationId xmlns:a16="http://schemas.microsoft.com/office/drawing/2014/main" id="{F9544474-B1F3-44D4-8016-CEDAF34C610B}"/>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B0959B9-D54C-4F07-B809-A6C52421ABA0}"/>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Predict both alternatives on matching validation rows. mean_absolute_error compares each prediction with its observed target.</a:t>
            </a:r>
          </a:p>
        </p:txBody>
      </p:sp>
      <p:sp>
        <p:nvSpPr>
          <p:cNvPr id="6" name="">
            <a:extLst xmlns:a="http://schemas.openxmlformats.org/drawingml/2006/main">
              <a:ext uri="{FF2B5EF4-FFF2-40B4-BE49-F238E27FC236}">
                <a16:creationId xmlns:a16="http://schemas.microsoft.com/office/drawing/2014/main" id="{A98552E4-7FF8-4530-BF4D-C6F632E48E6F}"/>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 MAE minus extended MAE is positive when the extra feature helped on this validation set.</a:t>
            </a:r>
          </a:p>
        </p:txBody>
      </p:sp>
      <p:sp>
        <p:nvSpPr>
          <p:cNvPr id="7" name="">
            <a:extLst xmlns:a="http://schemas.openxmlformats.org/drawingml/2006/main">
              <a:ext uri="{FF2B5EF4-FFF2-40B4-BE49-F238E27FC236}">
                <a16:creationId xmlns:a16="http://schemas.microsoft.com/office/drawing/2014/main" id="{C7608D22-630F-4D20-9FA7-76A76AF3C2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25</a:t>
            </a:r>
          </a:p>
        </p:txBody>
      </p:sp>
    </p:spTree>
    <p:extLst>
      <p:ext uri="{BB962C8B-B14F-4D97-AF65-F5344CB8AC3E}">
        <p14:creationId xmlns:p14="http://schemas.microsoft.com/office/powerpoint/2010/main" val="30111007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2BD111-652E-468F-AB2C-1704C9AEF8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5F99A67-C96E-4E5D-BD90-3E81597AF59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49E3893-FE94-4E5E-8331-CAE9BB9C32F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Paired ablation using the supplied CSV: step 3</a:t>
            </a:r>
          </a:p>
        </p:txBody>
      </p:sp>
      <p:sp>
        <p:nvSpPr>
          <p:cNvPr id="4" name="">
            <a:extLst xmlns:a="http://schemas.openxmlformats.org/drawingml/2006/main">
              <a:ext uri="{FF2B5EF4-FFF2-40B4-BE49-F238E27FC236}">
                <a16:creationId xmlns:a16="http://schemas.microsoft.com/office/drawing/2014/main" id="{76AD84C5-AF34-408D-9286-CE9261EDEDF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DDA8F8B-36AA-4C06-A8C5-8486D28D285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base_predictions = base_pipeline.predict(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validation_features[base_feature_columns]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base_absolute_error = mean_absolute_error(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validation_data["target"], base_predictions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C90F05FB-CA9A-4CEE-A469-5C4DFAB8F4A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0CD9538B-E12E-4854-B292-4ACF06AEFE6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595714EE-39A9-44D2-B191-9FC21957C12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26</a:t>
            </a:r>
          </a:p>
        </p:txBody>
      </p:sp>
    </p:spTree>
    <p:extLst>
      <p:ext uri="{BB962C8B-B14F-4D97-AF65-F5344CB8AC3E}">
        <p14:creationId xmlns:p14="http://schemas.microsoft.com/office/powerpoint/2010/main" val="55290512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F2CB14-B60D-4D77-A437-DE42A46136B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6D052E9-B36D-4CD3-980E-A060D27C960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917DC96-29AD-4123-A0C3-8540CE8370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Paired ablation using the supplied CSV: step 4</a:t>
            </a:r>
          </a:p>
        </p:txBody>
      </p:sp>
      <p:sp>
        <p:nvSpPr>
          <p:cNvPr id="4" name="">
            <a:extLst xmlns:a="http://schemas.openxmlformats.org/drawingml/2006/main">
              <a:ext uri="{FF2B5EF4-FFF2-40B4-BE49-F238E27FC236}">
                <a16:creationId xmlns:a16="http://schemas.microsoft.com/office/drawing/2014/main" id="{4898723C-6582-40D9-9539-7D21C21167C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703DA94-5A57-4D83-93EF-459704EA453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61E054E-3FE1-4056-91FA-3C082703477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extended_predictions: validation predictions from the extended pipeline.</a:t>
            </a:r>
          </a:p>
        </p:txBody>
      </p:sp>
      <p:sp>
        <p:nvSpPr>
          <p:cNvPr id="7" name="">
            <a:extLst xmlns:a="http://schemas.openxmlformats.org/drawingml/2006/main">
              <a:ext uri="{FF2B5EF4-FFF2-40B4-BE49-F238E27FC236}">
                <a16:creationId xmlns:a16="http://schemas.microsoft.com/office/drawing/2014/main" id="{53552A0E-AD2C-477A-9FBF-BC82061A803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extended_absolute_error: validation mean absolute error for the extended pipeline.</a:t>
            </a:r>
          </a:p>
        </p:txBody>
      </p:sp>
      <p:sp>
        <p:nvSpPr>
          <p:cNvPr id="8" name="">
            <a:extLst xmlns:a="http://schemas.openxmlformats.org/drawingml/2006/main">
              <a:ext uri="{FF2B5EF4-FFF2-40B4-BE49-F238E27FC236}">
                <a16:creationId xmlns:a16="http://schemas.microsoft.com/office/drawing/2014/main" id="{1A197173-B245-4C7E-8D31-988B5BF2664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27</a:t>
            </a:r>
          </a:p>
        </p:txBody>
      </p:sp>
    </p:spTree>
    <p:extLst>
      <p:ext uri="{BB962C8B-B14F-4D97-AF65-F5344CB8AC3E}">
        <p14:creationId xmlns:p14="http://schemas.microsoft.com/office/powerpoint/2010/main" val="75198060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E00957-3E34-47F0-8381-EE05900FFC0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911A752-5B7F-4180-9617-B8DDD3A7236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0C8A3A1-83EA-45BF-A2BC-87DC812A2A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Paired ablation using the supplied CSV: step 4 (1/2)</a:t>
            </a:r>
          </a:p>
        </p:txBody>
      </p:sp>
      <p:sp>
        <p:nvSpPr>
          <p:cNvPr id="4" name="">
            <a:extLst xmlns:a="http://schemas.openxmlformats.org/drawingml/2006/main">
              <a:ext uri="{FF2B5EF4-FFF2-40B4-BE49-F238E27FC236}">
                <a16:creationId xmlns:a16="http://schemas.microsoft.com/office/drawing/2014/main" id="{47613E0D-48BB-4AE7-A506-C9468DEE8E8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DCDC007-8557-40B6-9059-85F1D4053D2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extended_predictions = extended_pipeline.predict(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validation_features[extended_feature_columns]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extended_absolute_error = mean_absolute_error(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validation_data["target"], extended_predictions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A40E4E81-400C-405F-AE9B-D0A3EBA6370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Run the cell and read the output below it.</a:t>
            </a:r>
          </a:p>
        </p:txBody>
      </p:sp>
      <p:sp>
        <p:nvSpPr>
          <p:cNvPr id="7" name="">
            <a:extLst xmlns:a="http://schemas.openxmlformats.org/drawingml/2006/main">
              <a:ext uri="{FF2B5EF4-FFF2-40B4-BE49-F238E27FC236}">
                <a16:creationId xmlns:a16="http://schemas.microsoft.com/office/drawing/2014/main" id="{6E9789F1-EA75-492F-94EE-1E4FACF8368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in the same code cell.</a:t>
            </a:r>
          </a:p>
        </p:txBody>
      </p:sp>
      <p:sp>
        <p:nvSpPr>
          <p:cNvPr id="8" name="">
            <a:extLst xmlns:a="http://schemas.openxmlformats.org/drawingml/2006/main">
              <a:ext uri="{FF2B5EF4-FFF2-40B4-BE49-F238E27FC236}">
                <a16:creationId xmlns:a16="http://schemas.microsoft.com/office/drawing/2014/main" id="{8A3A7F1E-5CF0-488D-A0F2-B51B2A9AC61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28</a:t>
            </a:r>
          </a:p>
        </p:txBody>
      </p:sp>
    </p:spTree>
    <p:extLst>
      <p:ext uri="{BB962C8B-B14F-4D97-AF65-F5344CB8AC3E}">
        <p14:creationId xmlns:p14="http://schemas.microsoft.com/office/powerpoint/2010/main" val="2626229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DBE52A-A71B-4BA4-B6A3-CA8AA70A5EC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E1F0776-5A01-4944-925D-13D3DA2126E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9F2FFE7-ED33-4014-A9CD-3D7732277EB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Paired ablation using the supplied CSV: step 4 (2/2)</a:t>
            </a:r>
          </a:p>
        </p:txBody>
      </p:sp>
      <p:sp>
        <p:nvSpPr>
          <p:cNvPr id="4" name="">
            <a:extLst xmlns:a="http://schemas.openxmlformats.org/drawingml/2006/main">
              <a:ext uri="{FF2B5EF4-FFF2-40B4-BE49-F238E27FC236}">
                <a16:creationId xmlns:a16="http://schemas.microsoft.com/office/drawing/2014/main" id="{396175C6-D477-4A81-83FE-DD790C8D9C3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6503CF9-2EF6-47CD-9ED7-FF85C480E7F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round(base_absolute_error, 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round(extended_absolute_error, 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print(round(base_absolute_error - extended_absolute_error, 4))</a:t>
            </a:r>
          </a:p>
        </p:txBody>
      </p:sp>
      <p:sp>
        <p:nvSpPr>
          <p:cNvPr id="6" name="">
            <a:extLst xmlns:a="http://schemas.openxmlformats.org/drawingml/2006/main">
              <a:ext uri="{FF2B5EF4-FFF2-40B4-BE49-F238E27FC236}">
                <a16:creationId xmlns:a16="http://schemas.microsoft.com/office/drawing/2014/main" id="{7D367DA8-9211-46A8-A8D5-3B492E4BC1B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Run the cell and read the output below it.</a:t>
            </a:r>
          </a:p>
        </p:txBody>
      </p:sp>
      <p:sp>
        <p:nvSpPr>
          <p:cNvPr id="7" name="">
            <a:extLst xmlns:a="http://schemas.openxmlformats.org/drawingml/2006/main">
              <a:ext uri="{FF2B5EF4-FFF2-40B4-BE49-F238E27FC236}">
                <a16:creationId xmlns:a16="http://schemas.microsoft.com/office/drawing/2014/main" id="{028022B1-98FA-4709-B08A-81637F280B5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C221071B-90DB-4B52-9A8A-30A1B2A4F0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29</a:t>
            </a:r>
          </a:p>
        </p:txBody>
      </p:sp>
    </p:spTree>
    <p:extLst>
      <p:ext uri="{BB962C8B-B14F-4D97-AF65-F5344CB8AC3E}">
        <p14:creationId xmlns:p14="http://schemas.microsoft.com/office/powerpoint/2010/main" val="1040473126"/>
      </p:ext>
    </p:extLst>
  </p:cSld>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A feature earns its place only if it helps</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Base error 0.7775 deg C. With load × ambient 0.7992 deg C.</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The extra feature changed the validation error by +0.0217 deg C. The error went up.</a:t>
            </a:r>
          </a:p>
          <a:p>
            <a:pPr>
              <a:spcAft>
                <a:spcPts val="900"/>
              </a:spcAft>
            </a:pPr>
            <a:r>
              <a:rPr sz="2200" b="0">
                <a:solidFill>
                  <a:srgbClr val="1C3144"/>
                </a:solidFill>
                <a:latin typeface="Calibri"/>
              </a:rPr>
              <a:t>A derived feature inherits the blanks of the columns it is built from. One training row has a blank ambient temperature, so its product is blank and the imputer fills it with a typical value.</a:t>
            </a:r>
          </a:p>
          <a:p>
            <a:pPr>
              <a:spcAft>
                <a:spcPts val="900"/>
              </a:spcAft>
            </a:pPr>
            <a:r>
              <a:rPr sz="2200" b="0">
                <a:solidFill>
                  <a:srgbClr val="1C3144"/>
                </a:solidFill>
                <a:latin typeface="Calibri"/>
              </a:rPr>
              <a:t>With only 15 validation rows the comparison is rough. A feature that adds a column and gives no clear gain should be dropped. Keep the simpler model.</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11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Use only inputs you will have at prediction time</a:t>
            </a:r>
          </a:p>
        </p:txBody>
      </p:sp>
      <p:sp>
        <p:nvSpPr>
          <p:cNvPr id="5" name="Rectangle 4"/>
          <p:cNvSpPr/>
          <p:nvPr/>
        </p:nvSpPr>
        <p:spPr>
          <a:xfrm>
            <a:off x="584200" y="1752600"/>
            <a:ext cx="5308600" cy="416560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97600" y="1752600"/>
            <a:ext cx="5397500" cy="41656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900" y="1981200"/>
            <a:ext cx="4749800" cy="3810000"/>
          </a:xfrm>
          <a:prstGeom prst="rect">
            <a:avLst/>
          </a:prstGeom>
          <a:noFill/>
        </p:spPr>
        <p:txBody>
          <a:bodyPr wrap="square">
            <a:spAutoFit/>
          </a:bodyPr>
          <a:lstStyle/>
          <a:p>
            <a:pPr>
              <a:spcAft>
                <a:spcPts val="800"/>
              </a:spcAft>
            </a:pPr>
            <a:r>
              <a:rPr sz="2200" b="1">
                <a:solidFill>
                  <a:srgbClr val="1C3144"/>
                </a:solidFill>
                <a:latin typeface="Calibri"/>
              </a:rPr>
              <a:t>ALLOWED</a:t>
            </a:r>
          </a:p>
          <a:p>
            <a:pPr>
              <a:spcAft>
                <a:spcPts val="800"/>
              </a:spcAft>
            </a:pPr>
            <a:r>
              <a:rPr sz="2200" b="0">
                <a:solidFill>
                  <a:srgbClr val="1C3144"/>
                </a:solidFill>
                <a:latin typeface="Calibri"/>
              </a:rPr>
              <a:t>Load now. Ambient temperature now. A value calculated from those two, such as load divided by 100.</a:t>
            </a:r>
          </a:p>
          <a:p>
            <a:pPr>
              <a:spcAft>
                <a:spcPts val="800"/>
              </a:spcAft>
            </a:pPr>
            <a:r>
              <a:rPr sz="2200" b="0">
                <a:solidFill>
                  <a:srgbClr val="1C3144"/>
                </a:solidFill>
                <a:latin typeface="Calibri"/>
              </a:rPr>
              <a:t>Anything the sensor could report at the moment the prediction is requested.</a:t>
            </a:r>
          </a:p>
        </p:txBody>
      </p:sp>
      <p:sp>
        <p:nvSpPr>
          <p:cNvPr id="8" name="TextBox 7"/>
          <p:cNvSpPr txBox="1"/>
          <p:nvPr/>
        </p:nvSpPr>
        <p:spPr>
          <a:xfrm>
            <a:off x="6451600" y="1981200"/>
            <a:ext cx="4851400" cy="3810000"/>
          </a:xfrm>
          <a:prstGeom prst="rect">
            <a:avLst/>
          </a:prstGeom>
          <a:noFill/>
        </p:spPr>
        <p:txBody>
          <a:bodyPr wrap="square">
            <a:spAutoFit/>
          </a:bodyPr>
          <a:lstStyle/>
          <a:p>
            <a:pPr>
              <a:spcAft>
                <a:spcPts val="800"/>
              </a:spcAft>
            </a:pPr>
            <a:r>
              <a:rPr sz="2200" b="1">
                <a:solidFill>
                  <a:srgbClr val="1C3144"/>
                </a:solidFill>
                <a:latin typeface="Calibri"/>
              </a:rPr>
              <a:t>LEAKS THE ANSWER</a:t>
            </a:r>
          </a:p>
          <a:p>
            <a:pPr>
              <a:spcAft>
                <a:spcPts val="800"/>
              </a:spcAft>
            </a:pPr>
            <a:r>
              <a:rPr sz="2200" b="0">
                <a:solidFill>
                  <a:srgbClr val="1C3144"/>
                </a:solidFill>
                <a:latin typeface="Calibri"/>
              </a:rPr>
              <a:t>The measured target itself. A repair note written after the fault. A monthly average that includes next week.</a:t>
            </a:r>
          </a:p>
          <a:p>
            <a:pPr>
              <a:spcAft>
                <a:spcPts val="800"/>
              </a:spcAft>
            </a:pPr>
            <a:r>
              <a:rPr sz="2200" b="0">
                <a:solidFill>
                  <a:srgbClr val="1C3144"/>
                </a:solidFill>
                <a:latin typeface="Calibri"/>
              </a:rPr>
              <a:t>A feature like these makes training look wonderful and fails in service.</a:t>
            </a:r>
          </a:p>
        </p:txBody>
      </p:sp>
      <p:sp>
        <p:nvSpPr>
          <p:cNvPr id="9" name="TextBox 8"/>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11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ASSESSMENT</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Block 2: how Weeks 11, 12 and 13 are assessed</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One assignment pack and one quiz for every three classes.</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Today's tasks are part A of the Block 2 pack, worth 20 of its 40 marks. Week 13 has no graded notebook. It is assessed in the Block 2 quiz and in your project.</a:t>
            </a:r>
          </a:p>
          <a:p>
            <a:pPr>
              <a:spcAft>
                <a:spcPts val="900"/>
              </a:spcAft>
            </a:pPr>
            <a:r>
              <a:rPr sz="2200" b="0">
                <a:solidFill>
                  <a:srgbClr val="1C3144"/>
                </a:solidFill>
                <a:latin typeface="Calibri"/>
              </a:rPr>
              <a:t>Nothing is submitted and there is no quiz after today's class. You hand in all 2 parts together by Thursday 10 December 2026, 23:59 Kampala time.</a:t>
            </a:r>
          </a:p>
          <a:p>
            <a:pPr>
              <a:spcAft>
                <a:spcPts val="900"/>
              </a:spcAft>
            </a:pPr>
            <a:r>
              <a:rPr sz="2200" b="0">
                <a:solidFill>
                  <a:srgbClr val="1C3144"/>
                </a:solidFill>
                <a:latin typeface="Calibri"/>
              </a:rPr>
              <a:t>The Block 2 quiz has 15 questions, five from each of the three weeks. You sit it after the Week 13 class.</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11   32</a:t>
            </a:r>
          </a:p>
        </p:txBody>
      </p:sp>
    </p:spTree>
  </p:cSld>
  <p:clrMapOvr>
    <a:masterClrMapping/>
  </p:clrMapOvr>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19D9D87-2607-413C-9EC7-EA2A437AFC9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FD3F4F3-B25F-4BB2-A57A-58090AE074B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2, PART A</a:t>
            </a:r>
          </a:p>
        </p:txBody>
      </p:sp>
      <p:sp>
        <p:nvSpPr>
          <p:cNvPr id="3" name="">
            <a:extLst xmlns:a="http://schemas.openxmlformats.org/drawingml/2006/main">
              <a:ext uri="{FF2B5EF4-FFF2-40B4-BE49-F238E27FC236}">
                <a16:creationId xmlns:a16="http://schemas.microsoft.com/office/drawing/2014/main" id="{611C352D-5DA5-441B-893E-BF3A7DC9E1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200938D7-388D-4377-A07A-56B8753590F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FE5361A-F657-4E4B-B8C5-9DF32C5F17AB}"/>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motor winding temperature.</a:t>
            </a:r>
          </a:p>
        </p:txBody>
      </p:sp>
      <p:sp>
        <p:nvSpPr>
          <p:cNvPr id="6" name="">
            <a:extLst xmlns:a="http://schemas.openxmlformats.org/drawingml/2006/main">
              <a:ext uri="{FF2B5EF4-FFF2-40B4-BE49-F238E27FC236}">
                <a16:creationId xmlns:a16="http://schemas.microsoft.com/office/drawing/2014/main" id="{3799579D-B707-4410-8A40-4DE59C86E928}"/>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6D615BF-F6E3-4745-AAC2-F66A85E06274}"/>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deg C.</a:t>
            </a:r>
          </a:p>
        </p:txBody>
      </p:sp>
      <p:sp>
        <p:nvSpPr>
          <p:cNvPr id="8" name="">
            <a:extLst xmlns:a="http://schemas.openxmlformats.org/drawingml/2006/main">
              <a:ext uri="{FF2B5EF4-FFF2-40B4-BE49-F238E27FC236}">
                <a16:creationId xmlns:a16="http://schemas.microsoft.com/office/drawing/2014/main" id="{C8E95DE7-569B-4462-8BC6-36D51207B4DE}"/>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A2FEF36-0248-4FDB-98E4-D2A79DBD6B57}"/>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for practice.</a:t>
            </a:r>
          </a:p>
        </p:txBody>
      </p:sp>
      <p:sp>
        <p:nvSpPr>
          <p:cNvPr id="10" name="">
            <a:extLst xmlns:a="http://schemas.openxmlformats.org/drawingml/2006/main">
              <a:ext uri="{FF2B5EF4-FFF2-40B4-BE49-F238E27FC236}">
                <a16:creationId xmlns:a16="http://schemas.microsoft.com/office/drawing/2014/main" id="{013AE8AC-3994-4F00-9799-55E49C92D4EE}"/>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6069827-F275-4653-A614-5D3B5C9D812B}"/>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69E7D2A1-AD74-473E-8D74-49FD6DA57E2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33</a:t>
            </a:r>
          </a:p>
        </p:txBody>
      </p:sp>
    </p:spTree>
    <p:extLst>
      <p:ext uri="{BB962C8B-B14F-4D97-AF65-F5344CB8AC3E}">
        <p14:creationId xmlns:p14="http://schemas.microsoft.com/office/powerpoint/2010/main" val="150429315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7887FE-BDC8-462D-9447-16DE0FFB489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33F9ADF-A025-4F9E-946F-22C6D1BE38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2, PART A</a:t>
            </a:r>
          </a:p>
        </p:txBody>
      </p:sp>
      <p:sp>
        <p:nvSpPr>
          <p:cNvPr id="3" name="">
            <a:extLst xmlns:a="http://schemas.openxmlformats.org/drawingml/2006/main">
              <a:ext uri="{FF2B5EF4-FFF2-40B4-BE49-F238E27FC236}">
                <a16:creationId xmlns:a16="http://schemas.microsoft.com/office/drawing/2014/main" id="{EDDFA43D-8B6E-4CA5-827B-7123E469588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make_features(feature_records)</a:t>
            </a:r>
          </a:p>
        </p:txBody>
      </p:sp>
      <p:sp>
        <p:nvSpPr>
          <p:cNvPr id="4" name="">
            <a:extLst xmlns:a="http://schemas.openxmlformats.org/drawingml/2006/main">
              <a:ext uri="{FF2B5EF4-FFF2-40B4-BE49-F238E27FC236}">
                <a16:creationId xmlns:a16="http://schemas.microsoft.com/office/drawing/2014/main" id="{655838C8-F8F0-4DF5-9C37-103C3C5AB519}"/>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93F241D-884C-43E2-979C-BD17FBDC328A}"/>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one feature row per input, in order: [load_pct, ambient_c, load_pct/100, load_pct*ambient_c].</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Use inputs available at prediction time only.</a:t>
            </a:r>
          </a:p>
        </p:txBody>
      </p:sp>
      <p:sp>
        <p:nvSpPr>
          <p:cNvPr id="6" name="">
            <a:extLst xmlns:a="http://schemas.openxmlformats.org/drawingml/2006/main">
              <a:ext uri="{FF2B5EF4-FFF2-40B4-BE49-F238E27FC236}">
                <a16:creationId xmlns:a16="http://schemas.microsoft.com/office/drawing/2014/main" id="{BF09CBF8-F0CC-4821-8689-D9443F3C5FF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DF3C96F9-F088-483C-99A9-99F4E8761416}"/>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66F1FBAE-DA43-43BC-8573-95B70EFF32C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34</a:t>
            </a:r>
          </a:p>
        </p:txBody>
      </p:sp>
    </p:spTree>
    <p:extLst>
      <p:ext uri="{BB962C8B-B14F-4D97-AF65-F5344CB8AC3E}">
        <p14:creationId xmlns:p14="http://schemas.microsoft.com/office/powerpoint/2010/main" val="206922164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C8B5A2-DCD6-4435-A4B5-986FD438EB1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B9718A1-C548-4277-833E-485C3F22A8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2, PART A</a:t>
            </a:r>
          </a:p>
        </p:txBody>
      </p:sp>
      <p:sp>
        <p:nvSpPr>
          <p:cNvPr id="3" name="">
            <a:extLst xmlns:a="http://schemas.openxmlformats.org/drawingml/2006/main">
              <a:ext uri="{FF2B5EF4-FFF2-40B4-BE49-F238E27FC236}">
                <a16:creationId xmlns:a16="http://schemas.microsoft.com/office/drawing/2014/main" id="{0C123AA1-89B0-4124-870D-2959D922ED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ablation_metrics(training_records, validation_records)</a:t>
            </a:r>
          </a:p>
        </p:txBody>
      </p:sp>
      <p:sp>
        <p:nvSpPr>
          <p:cNvPr id="4" name="">
            <a:extLst xmlns:a="http://schemas.openxmlformats.org/drawingml/2006/main">
              <a:ext uri="{FF2B5EF4-FFF2-40B4-BE49-F238E27FC236}">
                <a16:creationId xmlns:a16="http://schemas.microsoft.com/office/drawing/2014/main" id="{51B0A4FC-A728-49C1-AC5D-201380A3C3EE}"/>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2659B0C-AF75-4463-B34D-B7F4B3B5BEF7}"/>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C3144"/>
                </a:solidFill>
                <a:latin typeface="Calibri"/>
                <a:ea typeface="Calibri"/>
                <a:cs typeface="Calibri"/>
              </a:defRPr>
            </a:defPPr>
            <a:lvl1pPr>
              <a:defRPr sz="2175" b="0">
                <a:solidFill>
                  <a:srgbClr val="1C3144"/>
                </a:solidFill>
                <a:latin typeface="Calibri"/>
                <a:ea typeface="Calibri"/>
                <a:cs typeface="Calibri"/>
              </a:defRPr>
            </a:lvl1pPr>
            <a:lvl2pPr>
              <a:defRPr sz="2175" b="0">
                <a:solidFill>
                  <a:srgbClr val="1C3144"/>
                </a:solidFill>
                <a:latin typeface="Calibri"/>
                <a:ea typeface="Calibri"/>
                <a:cs typeface="Calibri"/>
              </a:defRPr>
            </a:lvl2pPr>
            <a:lvl3pPr>
              <a:defRPr sz="2175" b="0">
                <a:solidFill>
                  <a:srgbClr val="1C3144"/>
                </a:solidFill>
                <a:latin typeface="Calibri"/>
                <a:ea typeface="Calibri"/>
                <a:cs typeface="Calibri"/>
              </a:defRPr>
            </a:lvl3pPr>
            <a:lvl4pPr>
              <a:defRPr sz="2175" b="0">
                <a:solidFill>
                  <a:srgbClr val="1C3144"/>
                </a:solidFill>
                <a:latin typeface="Calibri"/>
                <a:ea typeface="Calibri"/>
                <a:cs typeface="Calibri"/>
              </a:defRPr>
            </a:lvl4pPr>
            <a:lvl5pPr>
              <a:defRPr sz="2175" b="0">
                <a:solidFill>
                  <a:srgbClr val="1C3144"/>
                </a:solidFill>
                <a:latin typeface="Calibri"/>
                <a:ea typeface="Calibri"/>
                <a:cs typeface="Calibri"/>
              </a:defRPr>
            </a:lvl5pPr>
            <a:lvl6pPr>
              <a:defRPr sz="2175" b="0">
                <a:solidFill>
                  <a:srgbClr val="1C3144"/>
                </a:solidFill>
                <a:latin typeface="Calibri"/>
                <a:ea typeface="Calibri"/>
                <a:cs typeface="Calibri"/>
              </a:defRPr>
            </a:lvl6pPr>
            <a:lvl7pPr>
              <a:defRPr sz="2175" b="0">
                <a:solidFill>
                  <a:srgbClr val="1C3144"/>
                </a:solidFill>
                <a:latin typeface="Calibri"/>
                <a:ea typeface="Calibri"/>
                <a:cs typeface="Calibri"/>
              </a:defRPr>
            </a:lvl7pPr>
            <a:lvl8pPr>
              <a:defRPr sz="2175" b="0">
                <a:solidFill>
                  <a:srgbClr val="1C3144"/>
                </a:solidFill>
                <a:latin typeface="Calibri"/>
                <a:ea typeface="Calibri"/>
                <a:cs typeface="Calibri"/>
              </a:defRPr>
            </a:lvl8pPr>
            <a:lvl9pPr>
              <a:defRPr sz="2175" b="0">
                <a:solidFill>
                  <a:srgbClr val="1C3144"/>
                </a:solidFill>
                <a:latin typeface="Calibri"/>
                <a:ea typeface="Calibri"/>
                <a:cs typeface="Calibri"/>
              </a:defRPr>
            </a:lvl9pPr>
          </a:lstStyle>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Fit two sklearn LinearRegression models on the same training records: base features [load_pct, ambient_c] and extended features adding load_pct*ambient_c.</a:t>
            </a:r>
          </a:p>
          <a:p xmlns:a="http://schemas.openxmlformats.org/drawingml/2006/main">
            <a:r>
              <a:rP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Evaluate both on the same validation records.</a:t>
            </a:r>
          </a:p>
          <a:p xmlns:a="http://schemas.openxmlformats.org/drawingml/2006/main">
            <a:r>
              <a:rP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Return base_mae, extended_mae and improvement=base_mae-extended_mae, without rounding.</a:t>
            </a:r>
          </a:p>
          <a:p xmlns:a="http://schemas.openxmlformats.org/drawingml/2006/main">
            <a:r>
              <a:rP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Inputs are complete; never fit on validation targets.</a:t>
            </a:r>
          </a:p>
        </p:txBody>
      </p:sp>
      <p:sp>
        <p:nvSpPr>
          <p:cNvPr id="6" name="">
            <a:extLst xmlns:a="http://schemas.openxmlformats.org/drawingml/2006/main">
              <a:ext uri="{FF2B5EF4-FFF2-40B4-BE49-F238E27FC236}">
                <a16:creationId xmlns:a16="http://schemas.microsoft.com/office/drawing/2014/main" id="{6254CE99-1A4D-4E5D-86DE-3F6A7606DAA6}"/>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745801D-7CD0-48AF-9D4C-AC3859E2FB7A}"/>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AF7333A9-4F6E-4FD7-8E90-BD5E33935FD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35</a:t>
            </a:r>
          </a:p>
        </p:txBody>
      </p:sp>
    </p:spTree>
    <p:extLst>
      <p:ext uri="{BB962C8B-B14F-4D97-AF65-F5344CB8AC3E}">
        <p14:creationId xmlns:p14="http://schemas.microsoft.com/office/powerpoint/2010/main" val="2799955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AF914F0-FC69-42E7-AECB-ABA8A8C0B0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1ED026D-8C61-4C7A-8576-BDE68CC0885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2, PART A</a:t>
            </a:r>
          </a:p>
        </p:txBody>
      </p:sp>
      <p:sp>
        <p:nvSpPr>
          <p:cNvPr id="3" name="">
            <a:extLst xmlns:a="http://schemas.openxmlformats.org/drawingml/2006/main">
              <a:ext uri="{FF2B5EF4-FFF2-40B4-BE49-F238E27FC236}">
                <a16:creationId xmlns:a16="http://schemas.microsoft.com/office/drawing/2014/main" id="{7C14E977-19C4-4CE4-AF3D-CBA767805A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81BE0A62-D655-4D8F-BA28-02C5E7879A3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5AF6019-F033-474B-9FB7-90D4E5DD56BF}"/>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BC2FC608-F472-4CEF-8C50-CAC5A1FC0238}"/>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A52647E-C92B-4413-939B-F431F50E4ADE}"/>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A9A92F5D-1461-4080-ADEF-70F254CFB6DD}"/>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D3618EA-03B0-4178-8FCD-23077546C8DB}"/>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30F43339-7817-4A15-9EFA-C882BE7D6430}"/>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85DC2A6-14F2-4109-9B6D-3BE1D0F32B87}"/>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6368FF1B-5DF4-4C4B-8997-ECF80ABF6A8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36</a:t>
            </a:r>
          </a:p>
        </p:txBody>
      </p:sp>
    </p:spTree>
    <p:extLst>
      <p:ext uri="{BB962C8B-B14F-4D97-AF65-F5344CB8AC3E}">
        <p14:creationId xmlns:p14="http://schemas.microsoft.com/office/powerpoint/2010/main" val="128304215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A663F4-71E9-49A8-83E3-571D6D1AC2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5756236-63BE-44B1-A032-441F6D2ECB3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8E38007-3703-4901-A0DB-2807C20B88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2311D570-0292-4D74-ABC4-1A5D527D488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7724ECF-670A-40A6-A2F2-C715903652C9}"/>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machine learning project brief.</a:t>
            </a:r>
          </a:p>
        </p:txBody>
      </p:sp>
      <p:sp>
        <p:nvSpPr>
          <p:cNvPr id="6" name="">
            <a:extLst xmlns:a="http://schemas.openxmlformats.org/drawingml/2006/main">
              <a:ext uri="{FF2B5EF4-FFF2-40B4-BE49-F238E27FC236}">
                <a16:creationId xmlns:a16="http://schemas.microsoft.com/office/drawing/2014/main" id="{3A9EC3BB-CB74-4ED2-B03A-A2C9AB2C51AB}"/>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E498DB1-B625-4BAB-85DF-5586B040B21B}"/>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9B7E22AD-541E-43FF-A128-C08CABB31998}"/>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A866AE0-1357-45A2-A13B-5C6E72B7D64B}"/>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6400C9CD-55C8-4E9B-AE5B-4056B918FB47}"/>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3B06C7E-1FCB-4B2F-BECE-BF215B1E9257}"/>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18 Dec 2026, 11:00 Kampala</a:t>
            </a:r>
          </a:p>
        </p:txBody>
      </p:sp>
      <p:sp>
        <p:nvSpPr>
          <p:cNvPr id="12" name="">
            <a:extLst xmlns:a="http://schemas.openxmlformats.org/drawingml/2006/main">
              <a:ext uri="{FF2B5EF4-FFF2-40B4-BE49-F238E27FC236}">
                <a16:creationId xmlns:a16="http://schemas.microsoft.com/office/drawing/2014/main" id="{E9A87935-BBC9-4E76-B91D-4B3A7BBA6C5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37</a:t>
            </a:r>
          </a:p>
        </p:txBody>
      </p:sp>
    </p:spTree>
    <p:extLst>
      <p:ext uri="{BB962C8B-B14F-4D97-AF65-F5344CB8AC3E}">
        <p14:creationId xmlns:p14="http://schemas.microsoft.com/office/powerpoint/2010/main" val="1850999886"/>
      </p:ext>
    </p:extLst>
  </p:cSld>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USED</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from today</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3175000"/>
                <a:gridCol w="4826000"/>
                <a:gridCol w="3022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Where we met it</a:t>
                      </a:r>
                    </a:p>
                  </a:txBody>
                  <a:tcPr marL="101600" marR="101600" marT="38100" marB="38100" anchor="ctr">
                    <a:solidFill>
                      <a:srgbClr val="2E7D6F"/>
                    </a:solidFill>
                  </a:tcPr>
                </a:tc>
              </a:tr>
              <a:tr h="660400">
                <a:tc>
                  <a:txBody>
                    <a:bodyPr wrap="square"/>
                    <a:lstStyle/>
                    <a:p>
                      <a:r>
                        <a:rPr sz="1700" b="1">
                          <a:solidFill>
                            <a:srgbClr val="1C3144"/>
                          </a:solidFill>
                          <a:latin typeface="Calibri"/>
                        </a:rPr>
                        <a:t>Feature engineering</a:t>
                      </a:r>
                    </a:p>
                  </a:txBody>
                  <a:tcPr marL="101600" marR="101600" marT="38100" marB="38100" anchor="ctr">
                    <a:solidFill>
                      <a:srgbClr val="EEF3F6"/>
                    </a:solidFill>
                  </a:tcPr>
                </a:tc>
                <a:tc>
                  <a:txBody>
                    <a:bodyPr wrap="square"/>
                    <a:lstStyle/>
                    <a:p>
                      <a:r>
                        <a:rPr sz="1700" b="0">
                          <a:solidFill>
                            <a:srgbClr val="1C3144"/>
                          </a:solidFill>
                          <a:latin typeface="Calibri"/>
                        </a:rPr>
                        <a:t>Building new inputs from existing columns.</a:t>
                      </a:r>
                    </a:p>
                  </a:txBody>
                  <a:tcPr marL="101600" marR="101600" marT="38100" marB="38100" anchor="ctr">
                    <a:solidFill>
                      <a:srgbClr val="EEF3F6"/>
                    </a:solidFill>
                  </a:tcPr>
                </a:tc>
                <a:tc>
                  <a:txBody>
                    <a:bodyPr wrap="square"/>
                    <a:lstStyle/>
                    <a:p>
                      <a:r>
                        <a:rPr sz="1700" b="0">
                          <a:solidFill>
                            <a:srgbClr val="1C3144"/>
                          </a:solidFill>
                          <a:latin typeface="Calibri"/>
                        </a:rPr>
                        <a:t>load_fraction, load × ambient</a:t>
                      </a:r>
                    </a:p>
                  </a:txBody>
                  <a:tcPr marL="101600" marR="101600" marT="38100" marB="38100" anchor="ctr">
                    <a:solidFill>
                      <a:srgbClr val="EEF3F6"/>
                    </a:solidFill>
                  </a:tcPr>
                </a:tc>
              </a:tr>
              <a:tr h="660400">
                <a:tc>
                  <a:txBody>
                    <a:bodyPr wrap="square"/>
                    <a:lstStyle/>
                    <a:p>
                      <a:r>
                        <a:rPr sz="1700" b="1">
                          <a:solidFill>
                            <a:srgbClr val="1C3144"/>
                          </a:solidFill>
                          <a:latin typeface="Calibri"/>
                        </a:rPr>
                        <a:t>Derived feature</a:t>
                      </a:r>
                    </a:p>
                  </a:txBody>
                  <a:tcPr marL="101600" marR="101600" marT="38100" marB="38100" anchor="ctr">
                    <a:solidFill>
                      <a:srgbClr val="FFFFFF"/>
                    </a:solidFill>
                  </a:tcPr>
                </a:tc>
                <a:tc>
                  <a:txBody>
                    <a:bodyPr wrap="square"/>
                    <a:lstStyle/>
                    <a:p>
                      <a:r>
                        <a:rPr sz="1700" b="0">
                          <a:solidFill>
                            <a:srgbClr val="1C3144"/>
                          </a:solidFill>
                          <a:latin typeface="Calibri"/>
                        </a:rPr>
                        <a:t>A column calculated from other columns.</a:t>
                      </a:r>
                    </a:p>
                  </a:txBody>
                  <a:tcPr marL="101600" marR="101600" marT="38100" marB="38100" anchor="ctr">
                    <a:solidFill>
                      <a:srgbClr val="FFFFFF"/>
                    </a:solidFill>
                  </a:tcPr>
                </a:tc>
                <a:tc>
                  <a:txBody>
                    <a:bodyPr wrap="square"/>
                    <a:lstStyle/>
                    <a:p>
                      <a:r>
                        <a:rPr sz="1700" b="0">
                          <a:solidFill>
                            <a:srgbClr val="1C3144"/>
                          </a:solidFill>
                          <a:latin typeface="Calibri"/>
                        </a:rPr>
                        <a:t>x squared in the curved example</a:t>
                      </a:r>
                    </a:p>
                  </a:txBody>
                  <a:tcPr marL="101600" marR="101600" marT="38100" marB="38100" anchor="ctr">
                    <a:solidFill>
                      <a:srgbClr val="FFFFFF"/>
                    </a:solidFill>
                  </a:tcPr>
                </a:tc>
              </a:tr>
              <a:tr h="660400">
                <a:tc>
                  <a:txBody>
                    <a:bodyPr wrap="square"/>
                    <a:lstStyle/>
                    <a:p>
                      <a:r>
                        <a:rPr sz="1700" b="1">
                          <a:solidFill>
                            <a:srgbClr val="1C3144"/>
                          </a:solidFill>
                          <a:latin typeface="Calibri"/>
                        </a:rPr>
                        <a:t>Interaction</a:t>
                      </a:r>
                    </a:p>
                  </a:txBody>
                  <a:tcPr marL="101600" marR="101600" marT="38100" marB="38100" anchor="ctr">
                    <a:solidFill>
                      <a:srgbClr val="EEF3F6"/>
                    </a:solidFill>
                  </a:tcPr>
                </a:tc>
                <a:tc>
                  <a:txBody>
                    <a:bodyPr wrap="square"/>
                    <a:lstStyle/>
                    <a:p>
                      <a:r>
                        <a:rPr sz="1700" b="0">
                          <a:solidFill>
                            <a:srgbClr val="1C3144"/>
                          </a:solidFill>
                          <a:latin typeface="Calibri"/>
                        </a:rPr>
                        <a:t>Two inputs multiplied together.</a:t>
                      </a:r>
                    </a:p>
                  </a:txBody>
                  <a:tcPr marL="101600" marR="101600" marT="38100" marB="38100" anchor="ctr">
                    <a:solidFill>
                      <a:srgbClr val="EEF3F6"/>
                    </a:solidFill>
                  </a:tcPr>
                </a:tc>
                <a:tc>
                  <a:txBody>
                    <a:bodyPr wrap="square"/>
                    <a:lstStyle/>
                    <a:p>
                      <a:r>
                        <a:rPr sz="1700" b="0">
                          <a:solidFill>
                            <a:srgbClr val="1C3144"/>
                          </a:solidFill>
                          <a:latin typeface="Calibri"/>
                        </a:rPr>
                        <a:t>load_pct × ambient_c</a:t>
                      </a:r>
                    </a:p>
                  </a:txBody>
                  <a:tcPr marL="101600" marR="101600" marT="38100" marB="38100" anchor="ctr">
                    <a:solidFill>
                      <a:srgbClr val="EEF3F6"/>
                    </a:solidFill>
                  </a:tcPr>
                </a:tc>
              </a:tr>
              <a:tr h="660400">
                <a:tc>
                  <a:txBody>
                    <a:bodyPr wrap="square"/>
                    <a:lstStyle/>
                    <a:p>
                      <a:r>
                        <a:rPr sz="1700" b="1">
                          <a:solidFill>
                            <a:srgbClr val="1C3144"/>
                          </a:solidFill>
                          <a:latin typeface="Calibri"/>
                        </a:rPr>
                        <a:t>Effect of one spread</a:t>
                      </a:r>
                    </a:p>
                  </a:txBody>
                  <a:tcPr marL="101600" marR="101600" marT="38100" marB="38100" anchor="ctr">
                    <a:solidFill>
                      <a:srgbClr val="FFFFFF"/>
                    </a:solidFill>
                  </a:tcPr>
                </a:tc>
                <a:tc>
                  <a:txBody>
                    <a:bodyPr wrap="square"/>
                    <a:lstStyle/>
                    <a:p>
                      <a:r>
                        <a:rPr sz="1700" b="0">
                          <a:solidFill>
                            <a:srgbClr val="1C3144"/>
                          </a:solidFill>
                          <a:latin typeface="Calibri"/>
                        </a:rPr>
                        <a:t>Slope times standard deviation, for a fair comparison.</a:t>
                      </a:r>
                    </a:p>
                  </a:txBody>
                  <a:tcPr marL="101600" marR="101600" marT="38100" marB="38100" anchor="ctr">
                    <a:solidFill>
                      <a:srgbClr val="FFFFFF"/>
                    </a:solidFill>
                  </a:tcPr>
                </a:tc>
                <a:tc>
                  <a:txBody>
                    <a:bodyPr wrap="square"/>
                    <a:lstStyle/>
                    <a:p>
                      <a:r>
                        <a:rPr sz="1700" b="0">
                          <a:solidFill>
                            <a:srgbClr val="1C3144"/>
                          </a:solidFill>
                          <a:latin typeface="Calibri"/>
                        </a:rPr>
                        <a:t>load 15.8, ambient 4.8 deg C</a:t>
                      </a:r>
                    </a:p>
                  </a:txBody>
                  <a:tcPr marL="101600" marR="101600" marT="38100" marB="38100" anchor="ctr">
                    <a:solidFill>
                      <a:srgbClr val="FFFFFF"/>
                    </a:solidFill>
                  </a:tcPr>
                </a:tc>
              </a:tr>
              <a:tr h="660400">
                <a:tc>
                  <a:txBody>
                    <a:bodyPr wrap="square"/>
                    <a:lstStyle/>
                    <a:p>
                      <a:r>
                        <a:rPr sz="1700" b="1">
                          <a:solidFill>
                            <a:srgbClr val="1C3144"/>
                          </a:solidFill>
                          <a:latin typeface="Calibri"/>
                        </a:rPr>
                        <a:t>Ablation</a:t>
                      </a:r>
                    </a:p>
                  </a:txBody>
                  <a:tcPr marL="101600" marR="101600" marT="38100" marB="38100" anchor="ctr">
                    <a:solidFill>
                      <a:srgbClr val="EEF3F6"/>
                    </a:solidFill>
                  </a:tcPr>
                </a:tc>
                <a:tc>
                  <a:txBody>
                    <a:bodyPr wrap="square"/>
                    <a:lstStyle/>
                    <a:p>
                      <a:r>
                        <a:rPr sz="1700" b="0">
                          <a:solidFill>
                            <a:srgbClr val="1C3144"/>
                          </a:solidFill>
                          <a:latin typeface="Calibri"/>
                        </a:rPr>
                        <a:t>Compare scores with and without one piece.</a:t>
                      </a:r>
                    </a:p>
                  </a:txBody>
                  <a:tcPr marL="101600" marR="101600" marT="38100" marB="38100" anchor="ctr">
                    <a:solidFill>
                      <a:srgbClr val="EEF3F6"/>
                    </a:solidFill>
                  </a:tcPr>
                </a:tc>
                <a:tc>
                  <a:txBody>
                    <a:bodyPr wrap="square"/>
                    <a:lstStyle/>
                    <a:p>
                      <a:r>
                        <a:rPr sz="1700" b="0">
                          <a:solidFill>
                            <a:srgbClr val="1C3144"/>
                          </a:solidFill>
                          <a:latin typeface="Calibri"/>
                        </a:rPr>
                        <a:t>Error change +0.0217 deg C</a:t>
                      </a:r>
                    </a:p>
                  </a:txBody>
                  <a:tcPr marL="101600" marR="101600" marT="38100" marB="38100" anchor="ctr">
                    <a:solidFill>
                      <a:srgbClr val="EEF3F6"/>
                    </a:solidFill>
                  </a:tcPr>
                </a:tc>
              </a:tr>
              <a:tr h="660400">
                <a:tc>
                  <a:txBody>
                    <a:bodyPr wrap="square"/>
                    <a:lstStyle/>
                    <a:p>
                      <a:r>
                        <a:rPr sz="1700" b="1">
                          <a:solidFill>
                            <a:srgbClr val="1C3144"/>
                          </a:solidFill>
                          <a:latin typeface="Calibri"/>
                        </a:rPr>
                        <a:t>Prediction-time rule</a:t>
                      </a:r>
                    </a:p>
                  </a:txBody>
                  <a:tcPr marL="101600" marR="101600" marT="38100" marB="38100" anchor="ctr">
                    <a:solidFill>
                      <a:srgbClr val="FFFFFF"/>
                    </a:solidFill>
                  </a:tcPr>
                </a:tc>
                <a:tc>
                  <a:txBody>
                    <a:bodyPr wrap="square"/>
                    <a:lstStyle/>
                    <a:p>
                      <a:r>
                        <a:rPr sz="1700" b="0">
                          <a:solidFill>
                            <a:srgbClr val="1C3144"/>
                          </a:solidFill>
                          <a:latin typeface="Calibri"/>
                        </a:rPr>
                        <a:t>Use only inputs you will have when predicting.</a:t>
                      </a:r>
                    </a:p>
                  </a:txBody>
                  <a:tcPr marL="101600" marR="101600" marT="38100" marB="38100" anchor="ctr">
                    <a:solidFill>
                      <a:srgbClr val="FFFFFF"/>
                    </a:solidFill>
                  </a:tcPr>
                </a:tc>
                <a:tc>
                  <a:txBody>
                    <a:bodyPr wrap="square"/>
                    <a:lstStyle/>
                    <a:p>
                      <a:r>
                        <a:rPr sz="1700" b="0">
                          <a:solidFill>
                            <a:srgbClr val="1C3144"/>
                          </a:solidFill>
                          <a:latin typeface="Calibri"/>
                        </a:rPr>
                        <a:t>No repair notes written afterwards</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11   38</a:t>
            </a:r>
          </a:p>
        </p:txBody>
      </p:sp>
    </p:spTree>
  </p:cSld>
  <p:clrMapOvr>
    <a:masterClrMapping/>
  </p:clrMapOvr>
</p:sld>
</file>

<file path=ppt/slides/slide39.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E91886-BEBC-4C8A-9B53-B20FF923A4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53150502-F7CE-4BC9-87C8-E200B3EF53E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73ECFDAD-74BD-4B38-90FE-A9A16DD76CD8}"/>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C893E17A-38D9-4956-BB86-9C6B8EDD7997}"/>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to a classmate why load divided by 100 is a derived feature, how you would decide whether to keep a new feature, and why a repair note written after a fault cannot be an input.</a:t>
            </a:r>
          </a:p>
          <a:p xmlns:a="http://schemas.openxmlformats.org/drawingml/2006/main">
            <a:r>
              <a:rP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you hand in your Block 2 notebooks.</a:t>
            </a:r>
          </a:p>
        </p:txBody>
      </p:sp>
      <p:sp>
        <p:nvSpPr>
          <p:cNvPr id="5" name="">
            <a:extLst xmlns:a="http://schemas.openxmlformats.org/drawingml/2006/main">
              <a:ext uri="{FF2B5EF4-FFF2-40B4-BE49-F238E27FC236}">
                <a16:creationId xmlns:a16="http://schemas.microsoft.com/office/drawing/2014/main" id="{6D87BB01-7580-4AF3-B91E-CCB3987A28CE}"/>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0D9E57B8-8DAB-4AA0-B6BB-8920C6DB3C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11   39</a:t>
            </a:r>
          </a:p>
        </p:txBody>
      </p:sp>
    </p:spTree>
    <p:extLst>
      <p:ext uri="{BB962C8B-B14F-4D97-AF65-F5344CB8AC3E}">
        <p14:creationId xmlns:p14="http://schemas.microsoft.com/office/powerpoint/2010/main" val="1185571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2026-10-20T18:02:20.2170000Z</dcterms:created>
  <dcterms:modified xsi:type="dcterms:W3CDTF">2026-10-20T18:02:20.2170000Z</dcterms:modified>
  <keywords>BLOCK-PATCHED</keywords>
</coreProperties>
</file>