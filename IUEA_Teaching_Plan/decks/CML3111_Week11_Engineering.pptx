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dd553da1f4d4142" /><Relationship Type="http://schemas.openxmlformats.org/officeDocument/2006/relationships/extended-properties" Target="/docProps/app.xml" Id="R9297cbf3b13d44df" /><Relationship Type="http://schemas.openxmlformats.org/officeDocument/2006/relationships/officeDocument" Target="/ppt/presentation.xml" Id="R5f20f0670f8146c6" /></Relationships>
</file>

<file path=ppt/presentation.xml><?xml version="1.0" encoding="utf-8"?>
<p:presentation xmlns:p="http://schemas.openxmlformats.org/presentationml/2006/main">
  <p:sldMasterIdLst>
    <p:sldMasterId xmlns:r="http://schemas.openxmlformats.org/officeDocument/2006/relationships" id="2147483648" r:id="R35e75b619c2944ca"/>
  </p:sldMasterIdLst>
  <p:notesMasterIdLst>
    <p:notesMasterId xmlns:r="http://schemas.openxmlformats.org/officeDocument/2006/relationships" r:id="R1198b5a5874b4f78"/>
  </p:notesMasterIdLst>
  <p:sldIdLst>
    <p:sldId xmlns:r="http://schemas.openxmlformats.org/officeDocument/2006/relationships" id="256" r:id="R8445340c53e44536"/>
    <p:sldId xmlns:r="http://schemas.openxmlformats.org/officeDocument/2006/relationships" id="257" r:id="R1350725f9b0446e2"/>
    <p:sldId xmlns:r="http://schemas.openxmlformats.org/officeDocument/2006/relationships" id="258" r:id="R9179ee82ff1c4a87"/>
    <p:sldId xmlns:r="http://schemas.openxmlformats.org/officeDocument/2006/relationships" id="259" r:id="R697fb5816c1e4269"/>
    <p:sldId xmlns:r="http://schemas.openxmlformats.org/officeDocument/2006/relationships" id="260" r:id="R31f9b2e8d79b4f0a"/>
    <p:sldId xmlns:r="http://schemas.openxmlformats.org/officeDocument/2006/relationships" id="261" r:id="Rc6983b33dbf54061"/>
    <p:sldId xmlns:r="http://schemas.openxmlformats.org/officeDocument/2006/relationships" id="262" r:id="R8f7f6074676a4050"/>
    <p:sldId xmlns:r="http://schemas.openxmlformats.org/officeDocument/2006/relationships" id="263" r:id="R45c6958d8d5c43c7"/>
    <p:sldId xmlns:r="http://schemas.openxmlformats.org/officeDocument/2006/relationships" id="264" r:id="R0d2e671e21284dbd"/>
    <p:sldId xmlns:r="http://schemas.openxmlformats.org/officeDocument/2006/relationships" id="265" r:id="R418e29c6a6134b13"/>
    <p:sldId xmlns:r="http://schemas.openxmlformats.org/officeDocument/2006/relationships" id="266" r:id="Rd2a05a0a3aa04c1c"/>
    <p:sldId xmlns:r="http://schemas.openxmlformats.org/officeDocument/2006/relationships" id="267" r:id="Rca379c89c5a24702"/>
    <p:sldId xmlns:r="http://schemas.openxmlformats.org/officeDocument/2006/relationships" id="268" r:id="R63be8a2e7d56466c"/>
    <p:sldId xmlns:r="http://schemas.openxmlformats.org/officeDocument/2006/relationships" id="269" r:id="R76863ef363fc43fa"/>
    <p:sldId xmlns:r="http://schemas.openxmlformats.org/officeDocument/2006/relationships" id="270" r:id="R73ed67735efe4653"/>
    <p:sldId xmlns:r="http://schemas.openxmlformats.org/officeDocument/2006/relationships" id="271" r:id="R9eda85acc1df4ca2"/>
    <p:sldId xmlns:r="http://schemas.openxmlformats.org/officeDocument/2006/relationships" id="272" r:id="Rab04b67c3d384b63"/>
    <p:sldId xmlns:r="http://schemas.openxmlformats.org/officeDocument/2006/relationships" id="273" r:id="Rab8da5df9ff9422e"/>
    <p:sldId xmlns:r="http://schemas.openxmlformats.org/officeDocument/2006/relationships" id="274" r:id="R7da2009c1e054648"/>
    <p:sldId xmlns:r="http://schemas.openxmlformats.org/officeDocument/2006/relationships" id="275" r:id="R20233a53d1d34c5d"/>
    <p:sldId xmlns:r="http://schemas.openxmlformats.org/officeDocument/2006/relationships" id="276" r:id="R582dd81ab1b8430e"/>
    <p:sldId xmlns:r="http://schemas.openxmlformats.org/officeDocument/2006/relationships" id="277" r:id="R5d0389de687a45a0"/>
    <p:sldId xmlns:r="http://schemas.openxmlformats.org/officeDocument/2006/relationships" id="278" r:id="R84272596e5794f95"/>
    <p:sldId xmlns:r="http://schemas.openxmlformats.org/officeDocument/2006/relationships" id="279" r:id="R4a395227d6e04d70"/>
    <p:sldId xmlns:r="http://schemas.openxmlformats.org/officeDocument/2006/relationships" id="280" r:id="R711962e5fc344ede"/>
    <p:sldId xmlns:r="http://schemas.openxmlformats.org/officeDocument/2006/relationships" id="281" r:id="R847f544f726f4784"/>
    <p:sldId xmlns:r="http://schemas.openxmlformats.org/officeDocument/2006/relationships" id="282" r:id="Rae9917bf2e704287"/>
    <p:sldId xmlns:r="http://schemas.openxmlformats.org/officeDocument/2006/relationships" id="283" r:id="R9fd4e4e2a801485f"/>
    <p:sldId xmlns:r="http://schemas.openxmlformats.org/officeDocument/2006/relationships" id="284" r:id="R0d0c5a5ae0d54ee6"/>
    <p:sldId xmlns:r="http://schemas.openxmlformats.org/officeDocument/2006/relationships" id="285" r:id="R900ab57689e349ea"/>
    <p:sldId xmlns:r="http://schemas.openxmlformats.org/officeDocument/2006/relationships" id="286" r:id="Ref8bec5224874db2"/>
    <p:sldId xmlns:r="http://schemas.openxmlformats.org/officeDocument/2006/relationships" id="287" r:id="R67c4ca0021414ffc"/>
    <p:sldId xmlns:r="http://schemas.openxmlformats.org/officeDocument/2006/relationships" id="288" r:id="R2cffc89ca7e545e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4d997e583b48b1" /><Relationship Type="http://schemas.openxmlformats.org/officeDocument/2006/relationships/slideMaster" Target="/ppt/slideMasters/slideMaster1.xml" Id="R35e75b619c2944ca" /><Relationship Type="http://schemas.openxmlformats.org/officeDocument/2006/relationships/notesMaster" Target="/ppt/notesMasters/notesMaster1.xml" Id="R1198b5a5874b4f78" /><Relationship Type="http://schemas.openxmlformats.org/officeDocument/2006/relationships/presProps" Target="/ppt/presProps.xml" Id="R60a14ae0d9e9414e" /><Relationship Type="http://schemas.openxmlformats.org/officeDocument/2006/relationships/tableStyles" Target="/ppt/tableStyles.xml" Id="R0756540ddd3c4725" /><Relationship Type="http://schemas.openxmlformats.org/officeDocument/2006/relationships/slide" Target="/ppt/slides/slide1.xml" Id="R8445340c53e44536" /><Relationship Type="http://schemas.openxmlformats.org/officeDocument/2006/relationships/slide" Target="/ppt/slides/slide2.xml" Id="R1350725f9b0446e2" /><Relationship Type="http://schemas.openxmlformats.org/officeDocument/2006/relationships/slide" Target="/ppt/slides/slide3.xml" Id="R9179ee82ff1c4a87" /><Relationship Type="http://schemas.openxmlformats.org/officeDocument/2006/relationships/slide" Target="/ppt/slides/slide4.xml" Id="R697fb5816c1e4269" /><Relationship Type="http://schemas.openxmlformats.org/officeDocument/2006/relationships/slide" Target="/ppt/slides/slide5.xml" Id="R31f9b2e8d79b4f0a" /><Relationship Type="http://schemas.openxmlformats.org/officeDocument/2006/relationships/slide" Target="/ppt/slides/slide6.xml" Id="Rc6983b33dbf54061" /><Relationship Type="http://schemas.openxmlformats.org/officeDocument/2006/relationships/slide" Target="/ppt/slides/slide7.xml" Id="R8f7f6074676a4050" /><Relationship Type="http://schemas.openxmlformats.org/officeDocument/2006/relationships/slide" Target="/ppt/slides/slide8.xml" Id="R45c6958d8d5c43c7" /><Relationship Type="http://schemas.openxmlformats.org/officeDocument/2006/relationships/slide" Target="/ppt/slides/slide9.xml" Id="R0d2e671e21284dbd" /><Relationship Type="http://schemas.openxmlformats.org/officeDocument/2006/relationships/slide" Target="/ppt/slides/slide10.xml" Id="R418e29c6a6134b13" /><Relationship Type="http://schemas.openxmlformats.org/officeDocument/2006/relationships/slide" Target="/ppt/slides/slide11.xml" Id="Rd2a05a0a3aa04c1c" /><Relationship Type="http://schemas.openxmlformats.org/officeDocument/2006/relationships/slide" Target="/ppt/slides/slide12.xml" Id="Rca379c89c5a24702" /><Relationship Type="http://schemas.openxmlformats.org/officeDocument/2006/relationships/slide" Target="/ppt/slides/slide13.xml" Id="R63be8a2e7d56466c" /><Relationship Type="http://schemas.openxmlformats.org/officeDocument/2006/relationships/slide" Target="/ppt/slides/slide14.xml" Id="R76863ef363fc43fa" /><Relationship Type="http://schemas.openxmlformats.org/officeDocument/2006/relationships/slide" Target="/ppt/slides/slide15.xml" Id="R73ed67735efe4653" /><Relationship Type="http://schemas.openxmlformats.org/officeDocument/2006/relationships/slide" Target="/ppt/slides/slide16.xml" Id="R9eda85acc1df4ca2" /><Relationship Type="http://schemas.openxmlformats.org/officeDocument/2006/relationships/slide" Target="/ppt/slides/slide17.xml" Id="Rab04b67c3d384b63" /><Relationship Type="http://schemas.openxmlformats.org/officeDocument/2006/relationships/slide" Target="/ppt/slides/slide18.xml" Id="Rab8da5df9ff9422e" /><Relationship Type="http://schemas.openxmlformats.org/officeDocument/2006/relationships/slide" Target="/ppt/slides/slide19.xml" Id="R7da2009c1e054648" /><Relationship Type="http://schemas.openxmlformats.org/officeDocument/2006/relationships/slide" Target="/ppt/slides/slide20.xml" Id="R20233a53d1d34c5d" /><Relationship Type="http://schemas.openxmlformats.org/officeDocument/2006/relationships/slide" Target="/ppt/slides/slide21.xml" Id="R582dd81ab1b8430e" /><Relationship Type="http://schemas.openxmlformats.org/officeDocument/2006/relationships/slide" Target="/ppt/slides/slide22.xml" Id="R5d0389de687a45a0" /><Relationship Type="http://schemas.openxmlformats.org/officeDocument/2006/relationships/slide" Target="/ppt/slides/slide23.xml" Id="R84272596e5794f95" /><Relationship Type="http://schemas.openxmlformats.org/officeDocument/2006/relationships/slide" Target="/ppt/slides/slide24.xml" Id="R4a395227d6e04d70" /><Relationship Type="http://schemas.openxmlformats.org/officeDocument/2006/relationships/slide" Target="/ppt/slides/slide25.xml" Id="R711962e5fc344ede" /><Relationship Type="http://schemas.openxmlformats.org/officeDocument/2006/relationships/slide" Target="/ppt/slides/slide26.xml" Id="R847f544f726f4784" /><Relationship Type="http://schemas.openxmlformats.org/officeDocument/2006/relationships/slide" Target="/ppt/slides/slide27.xml" Id="Rae9917bf2e704287" /><Relationship Type="http://schemas.openxmlformats.org/officeDocument/2006/relationships/slide" Target="/ppt/slides/slide28.xml" Id="R9fd4e4e2a801485f" /><Relationship Type="http://schemas.openxmlformats.org/officeDocument/2006/relationships/slide" Target="/ppt/slides/slide29.xml" Id="R0d0c5a5ae0d54ee6" /><Relationship Type="http://schemas.openxmlformats.org/officeDocument/2006/relationships/slide" Target="/ppt/slides/slide30.xml" Id="R900ab57689e349ea" /><Relationship Type="http://schemas.openxmlformats.org/officeDocument/2006/relationships/slide" Target="/ppt/slides/slide31.xml" Id="Ref8bec5224874db2" /><Relationship Type="http://schemas.openxmlformats.org/officeDocument/2006/relationships/slide" Target="/ppt/slides/slide32.xml" Id="R67c4ca0021414ffc" /><Relationship Type="http://schemas.openxmlformats.org/officeDocument/2006/relationships/slide" Target="/ppt/slides/slide33.xml" Id="R2cffc89ca7e545e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920563db30e402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0b1889c292647a7" /><Relationship Type="http://schemas.openxmlformats.org/officeDocument/2006/relationships/notesMaster" Target="/ppt/notesMasters/notesMaster1.xml" Id="R57bca91219174cb0"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036a0ccbee4fdb" /><Relationship Type="http://schemas.openxmlformats.org/officeDocument/2006/relationships/notesMaster" Target="/ppt/notesMasters/notesMaster1.xml" Id="R6cc372ad0afc49f9"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c0b99938df4ca4" /><Relationship Type="http://schemas.openxmlformats.org/officeDocument/2006/relationships/notesMaster" Target="/ppt/notesMasters/notesMaster1.xml" Id="R5e92995034304534" /></Relationships>
</file>

<file path=ppt/notesSlides/_rels/notesSlide4.xml.rels>&#65279;<?xml version="1.0" encoding="utf-8"?><Relationships xmlns="http://schemas.openxmlformats.org/package/2006/relationships"><Relationship Type="http://schemas.openxmlformats.org/officeDocument/2006/relationships/slide" Target="/ppt/slides/slide4.xml" Id="R940f493c07df4679" /><Relationship Type="http://schemas.openxmlformats.org/officeDocument/2006/relationships/notesMaster" Target="/ppt/notesMasters/notesMaster1.xml" Id="Ra6fd69c9949b423c" /></Relationships>
</file>

<file path=ppt/notesSlides/_rels/notesSlide5.xml.rels>&#65279;<?xml version="1.0" encoding="utf-8"?><Relationships xmlns="http://schemas.openxmlformats.org/package/2006/relationships"><Relationship Type="http://schemas.openxmlformats.org/officeDocument/2006/relationships/slide" Target="/ppt/slides/slide5.xml" Id="Ra8fed1da2f0c483b" /><Relationship Type="http://schemas.openxmlformats.org/officeDocument/2006/relationships/notesMaster" Target="/ppt/notesMasters/notesMaster1.xml" Id="R27a27a9681de4a69" /></Relationships>
</file>

<file path=ppt/notesSlides/_rels/notesSlide6.xml.rels>&#65279;<?xml version="1.0" encoding="utf-8"?><Relationships xmlns="http://schemas.openxmlformats.org/package/2006/relationships"><Relationship Type="http://schemas.openxmlformats.org/officeDocument/2006/relationships/slide" Target="/ppt/slides/slide6.xml" Id="R9807c228860c4a52" /><Relationship Type="http://schemas.openxmlformats.org/officeDocument/2006/relationships/notesMaster" Target="/ppt/notesMasters/notesMaster1.xml" Id="Ra25045cc35cd4d9d" /></Relationships>
</file>

<file path=ppt/notesSlides/_rels/notesSlide7.xml.rels>&#65279;<?xml version="1.0" encoding="utf-8"?><Relationships xmlns="http://schemas.openxmlformats.org/package/2006/relationships"><Relationship Type="http://schemas.openxmlformats.org/officeDocument/2006/relationships/slide" Target="/ppt/slides/slide7.xml" Id="Re2e7a9be15224858" /><Relationship Type="http://schemas.openxmlformats.org/officeDocument/2006/relationships/notesMaster" Target="/ppt/notesMasters/notesMaster1.xml" Id="R5748c588ea254956" /></Relationships>
</file>

<file path=ppt/notesSlides/_rels/notesSlide8.xml.rels>&#65279;<?xml version="1.0" encoding="utf-8"?><Relationships xmlns="http://schemas.openxmlformats.org/package/2006/relationships"><Relationship Type="http://schemas.openxmlformats.org/officeDocument/2006/relationships/slide" Target="/ppt/slides/slide8.xml" Id="R576cefb468da4930" /><Relationship Type="http://schemas.openxmlformats.org/officeDocument/2006/relationships/notesMaster" Target="/ppt/notesMasters/notesMaster1.xml" Id="R8e08922027be4b37"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5dc03b19de4a9e" /><Relationship Type="http://schemas.openxmlformats.org/officeDocument/2006/relationships/notesMaster" Target="/ppt/notesMasters/notesMaster1.xml" Id="R3201bab56ade462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5f32cfc0eb94b49" /><Relationship Type="http://schemas.openxmlformats.org/officeDocument/2006/relationships/notesMaster" Target="/ppt/notesMasters/notesMaster1.xml" Id="R3b9961912cbd42e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1928f29044b48e3" /><Relationship Type="http://schemas.openxmlformats.org/officeDocument/2006/relationships/notesMaster" Target="/ppt/notesMasters/notesMaster1.xml" Id="Rfb4e5e35a618473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0fab25bd6764b6c" /><Relationship Type="http://schemas.openxmlformats.org/officeDocument/2006/relationships/notesMaster" Target="/ppt/notesMasters/notesMaster1.xml" Id="R421f11bcc1cc452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f7cf95593a64f68" /><Relationship Type="http://schemas.openxmlformats.org/officeDocument/2006/relationships/notesMaster" Target="/ppt/notesMasters/notesMaster1.xml" Id="Rfe528a2b5bdd41d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07e0723258b48b1" /><Relationship Type="http://schemas.openxmlformats.org/officeDocument/2006/relationships/notesMaster" Target="/ppt/notesMasters/notesMaster1.xml" Id="R91f92ec786464d2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34c36f138ab4134" /><Relationship Type="http://schemas.openxmlformats.org/officeDocument/2006/relationships/notesMaster" Target="/ppt/notesMasters/notesMaster1.xml" Id="R10f6053f07b642d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86cff3342954ca2" /><Relationship Type="http://schemas.openxmlformats.org/officeDocument/2006/relationships/notesMaster" Target="/ppt/notesMasters/notesMaster1.xml" Id="R31ede97145fd433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a397b6b68024864" /><Relationship Type="http://schemas.openxmlformats.org/officeDocument/2006/relationships/notesMaster" Target="/ppt/notesMasters/notesMaster1.xml" Id="Rcc350914996e4df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072cdc5ad9e4551" /><Relationship Type="http://schemas.openxmlformats.org/officeDocument/2006/relationships/notesMaster" Target="/ppt/notesMasters/notesMaster1.xml" Id="Rb226e282aa5c4a1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4c674c66af344ca" /><Relationship Type="http://schemas.openxmlformats.org/officeDocument/2006/relationships/notesMaster" Target="/ppt/notesMasters/notesMaster1.xml" Id="Rcf6568a7e9cb487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7e11af7b4994d02" /><Relationship Type="http://schemas.openxmlformats.org/officeDocument/2006/relationships/notesMaster" Target="/ppt/notesMasters/notesMaster1.xml" Id="R25d2282d79e7497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6fe0fc5f2864938" /><Relationship Type="http://schemas.openxmlformats.org/officeDocument/2006/relationships/notesMaster" Target="/ppt/notesMasters/notesMaster1.xml" Id="R263ba40c67264b2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e85c43728ca4b5f" /><Relationship Type="http://schemas.openxmlformats.org/officeDocument/2006/relationships/notesMaster" Target="/ppt/notesMasters/notesMaster1.xml" Id="R470bbe9f62b14ae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2cf8f5533054ab7" /><Relationship Type="http://schemas.openxmlformats.org/officeDocument/2006/relationships/notesMaster" Target="/ppt/notesMasters/notesMaster1.xml" Id="R8487ba062cd046b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2f76ddf4d044db7" /><Relationship Type="http://schemas.openxmlformats.org/officeDocument/2006/relationships/notesMaster" Target="/ppt/notesMasters/notesMaster1.xml" Id="Rd276084b71844ff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5a63372a43a4ee7" /><Relationship Type="http://schemas.openxmlformats.org/officeDocument/2006/relationships/notesMaster" Target="/ppt/notesMasters/notesMaster1.xml" Id="R0add4678d6fe43d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87f5e619e5241d4" /><Relationship Type="http://schemas.openxmlformats.org/officeDocument/2006/relationships/notesMaster" Target="/ppt/notesMasters/notesMaster1.xml" Id="Re84c3ae571ad41f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fa346d406bb4c35" /><Relationship Type="http://schemas.openxmlformats.org/officeDocument/2006/relationships/notesMaster" Target="/ppt/notesMasters/notesMaster1.xml" Id="Rf20674a74c494d9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5aded6c02c24696" /><Relationship Type="http://schemas.openxmlformats.org/officeDocument/2006/relationships/notesMaster" Target="/ppt/notesMasters/notesMaster1.xml" Id="R94feb5e6d3d8458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bc237cd6f994b22" /><Relationship Type="http://schemas.openxmlformats.org/officeDocument/2006/relationships/notesMaster" Target="/ppt/notesMasters/notesMaster1.xml" Id="R5b490efa181445e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cac8ddf556a4d01" /><Relationship Type="http://schemas.openxmlformats.org/officeDocument/2006/relationships/notesMaster" Target="/ppt/notesMasters/notesMaster1.xml" Id="R09a473381c3841f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f31680c91a1401b" /><Relationship Type="http://schemas.openxmlformats.org/officeDocument/2006/relationships/notesMaster" Target="/ppt/notesMasters/notesMaster1.xml" Id="R6bb7f74fd738404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f12367de26b24a29" /><Relationship Type="http://schemas.openxmlformats.org/officeDocument/2006/relationships/notesMaster" Target="/ppt/notesMasters/notesMaster1.xml" Id="R35cbbedb05d842e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3fedd1e8ba44e43" /><Relationship Type="http://schemas.openxmlformats.org/officeDocument/2006/relationships/notesMaster" Target="/ppt/notesMasters/notesMaster1.xml" Id="Rf0e73ee9ae484b2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and testing a useful feature</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Creating and testing a useful feature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Creating and testing a useful feature. Explain why this example is needed before running it.</a:t>
            </a:r>
          </a:p>
          <a:p xmlns:a="http://schemas.openxmlformats.org/drawingml/2006/main">
            <a:r>
              <a:t/>
            </a:r>
          </a:p>
          <a:p xmlns:a="http://schemas.openxmlformats.org/drawingml/2006/main">
            <a:r>
              <a:t>EXPLAIN</a:t>
            </a:r>
          </a:p>
          <a:p xmlns:a="http://schemas.openxmlformats.org/drawingml/2006/main">
            <a:r>
              <a:t>Create a feature from available measurements.</a:t>
            </a:r>
          </a:p>
          <a:p xmlns:a="http://schemas.openxmlformats.org/drawingml/2006/main">
            <a:r>
              <a:t/>
            </a:r>
          </a:p>
          <a:p xmlns:a="http://schemas.openxmlformats.org/drawingml/2006/main">
            <a:r>
              <a:t>Compare models with one controlled change.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Creating and testing a useful feature.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Five independent features, a full ColumnTransformer construction and domain-code features are extension. Never invent engineering limits.</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 already keep evaluation data separate. Now we change one input representation while keeping the comparison protocol fixed.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A calculated input may help a model. We compare the original and extended inputs on the same observations, then decide whether the evidence supports the extra feature.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A feature has a meaning.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feature has a meaning.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feature has a meaning</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A feature is an input available at prediction time.</a:t>
            </a:r>
          </a:p>
          <a:p xmlns:a="http://schemas.openxmlformats.org/drawingml/2006/main">
            <a:r>
              <a:t/>
            </a:r>
          </a:p>
          <a:p xmlns:a="http://schemas.openxmlformats.org/drawingml/2006/main">
            <a:r>
              <a:t>An interaction multiplies two inputs to express a joint pattern.</a:t>
            </a:r>
          </a:p>
          <a:p xmlns:a="http://schemas.openxmlformats.org/drawingml/2006/main">
            <a:r>
              <a:t/>
            </a:r>
          </a:p>
          <a:p xmlns:a="http://schemas.openxmlformats.org/drawingml/2006/main">
            <a:r>
              <a:t>A better validation score can still reflect leakage.</a:t>
            </a:r>
          </a:p>
          <a:p xmlns:a="http://schemas.openxmlformats.org/drawingml/2006/main">
            <a:r>
              <a:t/>
            </a:r>
          </a:p>
          <a:p xmlns:a="http://schemas.openxmlformats.org/drawingml/2006/main">
            <a:r>
              <a:t>Compare the same observations and explain the physical meaning.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feature has a meaning</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Derived feature and Ratio and interaction.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Derived feature and Ratio and interaction</a:t>
            </a:r>
          </a:p>
          <a:p xmlns:a="http://schemas.openxmlformats.org/drawingml/2006/main">
            <a:r>
              <a:t/>
            </a:r>
          </a:p>
          <a:p xmlns:a="http://schemas.openxmlformats.org/drawingml/2006/main">
            <a:r>
              <a:t>CONNECT</a:t>
            </a:r>
          </a:p>
          <a:p xmlns:a="http://schemas.openxmlformats.org/drawingml/2006/main">
            <a:r>
              <a:t>Build on A feature has a meaning. Explain why this example is needed before running it.</a:t>
            </a:r>
          </a:p>
          <a:p xmlns:a="http://schemas.openxmlformats.org/drawingml/2006/main">
            <a:r>
              <a:t/>
            </a:r>
          </a:p>
          <a:p xmlns:a="http://schemas.openxmlformats.org/drawingml/2006/main">
            <a:r>
              <a:t>EXPLAIN</a:t>
            </a:r>
          </a:p>
          <a:p xmlns:a="http://schemas.openxmlformats.org/drawingml/2006/main">
            <a:r>
              <a:t>Derived feature: A new input calculated from existing inputs. Its definition and unit must be stated.</a:t>
            </a:r>
          </a:p>
          <a:p xmlns:a="http://schemas.openxmlformats.org/drawingml/2006/main">
            <a:r>
              <a:t>Ratio and interaction: A ratio divides quantities; an interaction multiplies them. Both need a domain explanation and a unit check.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A feature has a meaning.</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POINT TO THE DEFINITION</a:t>
            </a:r>
          </a:p>
          <a:p xmlns:a="http://schemas.openxmlformats.org/drawingml/2006/main">
            <a:r>
              <a:t>Derived feature: A new input calculated from existing inputs. Its definition and unit must be stated.</a:t>
            </a:r>
          </a:p>
          <a:p xmlns:a="http://schemas.openxmlformats.org/drawingml/2006/main">
            <a:r>
              <a:t>Ratio and interaction: A ratio divides quantities; an interaction multiplies them. Both need a domain explanation and a unit check.</a:t>
            </a:r>
          </a:p>
          <a:p xmlns:a="http://schemas.openxmlformats.org/drawingml/2006/main">
            <a:r>
              <a:t/>
            </a:r>
          </a:p>
          <a:p xmlns:a="http://schemas.openxmlformats.org/drawingml/2006/main">
            <a:r>
              <a:t>NEXT</a:t>
            </a:r>
          </a:p>
          <a:p xmlns:a="http://schemas.openxmlformats.org/drawingml/2006/main">
            <a:r>
              <a:t>Read the physical example across programmes.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physical example across programmes.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physical example across programmes</a:t>
            </a:r>
          </a:p>
          <a:p xmlns:a="http://schemas.openxmlformats.org/drawingml/2006/main">
            <a:r>
              <a:t/>
            </a:r>
          </a:p>
          <a:p xmlns:a="http://schemas.openxmlformats.org/drawingml/2006/main">
            <a:r>
              <a:t>CONNECT</a:t>
            </a:r>
          </a:p>
          <a:p xmlns:a="http://schemas.openxmlformats.org/drawingml/2006/main">
            <a:r>
              <a:t>Build on Derived feature and Ratio and interaction. Explain why this example is needed before running it.</a:t>
            </a:r>
          </a:p>
          <a:p xmlns:a="http://schemas.openxmlformats.org/drawingml/2006/main">
            <a:r>
              <a:t/>
            </a:r>
          </a:p>
          <a:p xmlns:a="http://schemas.openxmlformats.org/drawingml/2006/main">
            <a:r>
              <a:t>EXPLAIN</a:t>
            </a:r>
          </a:p>
          <a:p xmlns:a="http://schemas.openxmlformats.org/drawingml/2006/main">
            <a:r>
              <a:t>Current I is the flow of electric charge, measured in amperes (A). Resistance R opposes that flow, measured in ohms.</a:t>
            </a:r>
          </a:p>
          <a:p xmlns:a="http://schemas.openxmlformats.org/drawingml/2006/main">
            <a:r>
              <a:t/>
            </a:r>
          </a:p>
          <a:p xmlns:a="http://schemas.openxmlformats.org/drawingml/2006/main">
            <a:r>
              <a:t>Power P is energy transferred per second, measured in watts (W). Resistive heating follows P = I²R in this example.</a:t>
            </a:r>
          </a:p>
          <a:p xmlns:a="http://schemas.openxmlformats.org/drawingml/2006/main">
            <a:r>
              <a:t/>
            </a:r>
          </a:p>
          <a:p xmlns:a="http://schemas.openxmlformats.org/drawingml/2006/main">
            <a:r>
              <a:t>I² means I × I. With I = 2 A and R = 3 ohms, P = 2 × 2 × 3 = 12 W. This relationship motivates a feature; evaluation still tests whether it helps.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physical example across programmes</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A physical relationship can form a feature.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physical relationship can form a feature.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physical relationship can form a feature</a:t>
            </a:r>
          </a:p>
          <a:p xmlns:a="http://schemas.openxmlformats.org/drawingml/2006/main">
            <a:r>
              <a:t/>
            </a:r>
          </a:p>
          <a:p xmlns:a="http://schemas.openxmlformats.org/drawingml/2006/main">
            <a:r>
              <a:t>CONNECT</a:t>
            </a:r>
          </a:p>
          <a:p xmlns:a="http://schemas.openxmlformats.org/drawingml/2006/main">
            <a:r>
              <a:t>Build on Read the physical example across programmes. Explain why this example is needed before running it.</a:t>
            </a:r>
          </a:p>
          <a:p xmlns:a="http://schemas.openxmlformats.org/drawingml/2006/main">
            <a:r>
              <a:t/>
            </a:r>
          </a:p>
          <a:p xmlns:a="http://schemas.openxmlformats.org/drawingml/2006/main">
            <a:r>
              <a:t>EXPLAIN</a:t>
            </a:r>
          </a:p>
          <a:p xmlns:a="http://schemas.openxmlformats.org/drawingml/2006/main">
            <a:r>
              <a:t>Explain each quantity and the unit of the result.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physical relationship can form a feature</a:t>
            </a:r>
          </a:p>
          <a:p xmlns:a="http://schemas.openxmlformats.org/drawingml/2006/main">
            <a:r>
              <a:t/>
            </a:r>
          </a:p>
          <a:p xmlns:a="http://schemas.openxmlformats.org/drawingml/2006/main">
            <a:r>
              <a:t>CONNECT</a:t>
            </a:r>
          </a:p>
          <a:p xmlns:a="http://schemas.openxmlformats.org/drawingml/2006/main">
            <a:r>
              <a:t>Build on the preceding slide: Read the physical example across programmes.</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An interaction uses two known inputs.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An interaction uses two known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interaction uses two known inputs</a:t>
            </a:r>
          </a:p>
          <a:p xmlns:a="http://schemas.openxmlformats.org/drawingml/2006/main">
            <a:r>
              <a:t/>
            </a:r>
          </a:p>
          <a:p xmlns:a="http://schemas.openxmlformats.org/drawingml/2006/main">
            <a:r>
              <a:t>CONNECT</a:t>
            </a:r>
          </a:p>
          <a:p xmlns:a="http://schemas.openxmlformats.org/drawingml/2006/main">
            <a:r>
              <a:t>Build on A physical relationship can form a feature. Explain why this example is needed before running it.</a:t>
            </a:r>
          </a:p>
          <a:p xmlns:a="http://schemas.openxmlformats.org/drawingml/2006/main">
            <a:r>
              <a:t/>
            </a:r>
          </a:p>
          <a:p xmlns:a="http://schemas.openxmlformats.org/drawingml/2006/main">
            <a:r>
              <a:t>EXPLAIN</a:t>
            </a:r>
          </a:p>
          <a:p xmlns:a="http://schemas.openxmlformats.org/drawingml/2006/main">
            <a:r>
              <a:t>A derived input must be available when predicting. A useful physical relationship still needs validation.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An interaction uses two known inputs</a:t>
            </a:r>
          </a:p>
          <a:p xmlns:a="http://schemas.openxmlformats.org/drawingml/2006/main">
            <a:r>
              <a:t/>
            </a:r>
          </a:p>
          <a:p xmlns:a="http://schemas.openxmlformats.org/drawingml/2006/main">
            <a:r>
              <a:t>CONNECT</a:t>
            </a:r>
          </a:p>
          <a:p xmlns:a="http://schemas.openxmlformats.org/drawingml/2006/main">
            <a:r>
              <a:t>Build on the preceding slide: A physical relationship can form a feature.</a:t>
            </a:r>
          </a:p>
          <a:p xmlns:a="http://schemas.openxmlformats.org/drawingml/2006/main">
            <a:r>
              <a:t/>
            </a:r>
          </a:p>
          <a:p xmlns:a="http://schemas.openxmlformats.org/drawingml/2006/main">
            <a:r>
              <a:t>LECTURER CUE</a:t>
            </a:r>
          </a:p>
          <a:p xmlns:a="http://schemas.openxmlformats.org/drawingml/2006/main">
            <a:r>
              <a:t>A derived input must be available when predicting. A useful physical relationship still needs validation.</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A percentage and its fraction.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percentage and its fraction.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percentage and its fraction</a:t>
            </a:r>
          </a:p>
          <a:p xmlns:a="http://schemas.openxmlformats.org/drawingml/2006/main">
            <a:r>
              <a:t/>
            </a:r>
          </a:p>
          <a:p xmlns:a="http://schemas.openxmlformats.org/drawingml/2006/main">
            <a:r>
              <a:t>CONNECT</a:t>
            </a:r>
          </a:p>
          <a:p xmlns:a="http://schemas.openxmlformats.org/drawingml/2006/main">
            <a:r>
              <a:t>Build on An interaction uses two known inputs. Explain why this example is needed before running it.</a:t>
            </a:r>
          </a:p>
          <a:p xmlns:a="http://schemas.openxmlformats.org/drawingml/2006/main">
            <a:r>
              <a:t/>
            </a:r>
          </a:p>
          <a:p xmlns:a="http://schemas.openxmlformats.org/drawingml/2006/main">
            <a:r>
              <a:t>EXPLAIN</a:t>
            </a:r>
          </a:p>
          <a:p xmlns:a="http://schemas.openxmlformats.org/drawingml/2006/main">
            <a:r>
              <a:t>40% means 40 out of 100.</a:t>
            </a:r>
          </a:p>
          <a:p xmlns:a="http://schemas.openxmlformats.org/drawingml/2006/main">
            <a:r>
              <a:t/>
            </a:r>
          </a:p>
          <a:p xmlns:a="http://schemas.openxmlformats.org/drawingml/2006/main">
            <a:r>
              <a:t>40 / 100 gives 0.4.</a:t>
            </a:r>
          </a:p>
          <a:p xmlns:a="http://schemas.openxmlformats.org/drawingml/2006/main">
            <a:r>
              <a:t/>
            </a:r>
          </a:p>
          <a:p xmlns:a="http://schemas.openxmlformats.org/drawingml/2006/main">
            <a:r>
              <a:t>This changes the representation. It adds no new observation.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percentage and its fraction</a:t>
            </a:r>
          </a:p>
          <a:p xmlns:a="http://schemas.openxmlformats.org/drawingml/2006/main">
            <a:r>
              <a:t/>
            </a:r>
          </a:p>
          <a:p xmlns:a="http://schemas.openxmlformats.org/drawingml/2006/main">
            <a:r>
              <a:t>CONNECT</a:t>
            </a:r>
          </a:p>
          <a:p xmlns:a="http://schemas.openxmlformats.org/drawingml/2006/main">
            <a:r>
              <a:t>Build on the preceding slide: An interaction uses two known inputs.</a:t>
            </a:r>
          </a:p>
          <a:p xmlns:a="http://schemas.openxmlformats.org/drawingml/2006/main">
            <a:r>
              <a:t/>
            </a:r>
          </a:p>
          <a:p xmlns:a="http://schemas.openxmlformats.org/drawingml/2006/main">
            <a:r>
              <a:t>LECTURER CUE</a:t>
            </a:r>
          </a:p>
          <a:p xmlns:a="http://schemas.openxmlformats.org/drawingml/2006/main">
            <a:r>
              <a:t>Begin with a percentage: 40% means 40 / 100 = 0.4. Converting percentage to fraction changes units but adds no new information.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A combined input needs a reason.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combined input needs a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combined input needs a reason</a:t>
            </a:r>
          </a:p>
          <a:p xmlns:a="http://schemas.openxmlformats.org/drawingml/2006/main">
            <a:r>
              <a:t/>
            </a:r>
          </a:p>
          <a:p xmlns:a="http://schemas.openxmlformats.org/drawingml/2006/main">
            <a:r>
              <a:t>CONNECT</a:t>
            </a:r>
          </a:p>
          <a:p xmlns:a="http://schemas.openxmlformats.org/drawingml/2006/main">
            <a:r>
              <a:t>Build on A percentage and its fraction. Explain why this example is needed before running it.</a:t>
            </a:r>
          </a:p>
          <a:p xmlns:a="http://schemas.openxmlformats.org/drawingml/2006/main">
            <a:r>
              <a:t/>
            </a:r>
          </a:p>
          <a:p xmlns:a="http://schemas.openxmlformats.org/drawingml/2006/main">
            <a:r>
              <a:t>EXPLAIN</a:t>
            </a:r>
          </a:p>
          <a:p xmlns:a="http://schemas.openxmlformats.org/drawingml/2006/main">
            <a:r>
              <a:t>An interaction multiplies two inputs.</a:t>
            </a:r>
          </a:p>
          <a:p xmlns:a="http://schemas.openxmlformats.org/drawingml/2006/main">
            <a:r>
              <a:t/>
            </a:r>
          </a:p>
          <a:p xmlns:a="http://schemas.openxmlformats.org/drawingml/2006/main">
            <a:r>
              <a:t>It may help a simple model represent a joint pattern.</a:t>
            </a:r>
          </a:p>
          <a:p xmlns:a="http://schemas.openxmlformats.org/drawingml/2006/main">
            <a:r>
              <a:t/>
            </a:r>
          </a:p>
          <a:p xmlns:a="http://schemas.openxmlformats.org/drawingml/2006/main">
            <a:r>
              <a:t>An interaction with degrees Celsius is an empirical feature, not automatically a physical law.</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combined input needs a reason</a:t>
            </a:r>
          </a:p>
          <a:p xmlns:a="http://schemas.openxmlformats.org/drawingml/2006/main">
            <a:r>
              <a:t/>
            </a:r>
          </a:p>
          <a:p xmlns:a="http://schemas.openxmlformats.org/drawingml/2006/main">
            <a:r>
              <a:t>CONNECT</a:t>
            </a:r>
          </a:p>
          <a:p xmlns:a="http://schemas.openxmlformats.org/drawingml/2006/main">
            <a:r>
              <a:t>Build on the preceding slide: A percentage and its fraction.</a:t>
            </a:r>
          </a:p>
          <a:p xmlns:a="http://schemas.openxmlformats.org/drawingml/2006/main">
            <a:r>
              <a:t/>
            </a:r>
          </a:p>
          <a:p xmlns:a="http://schemas.openxmlformats.org/drawingml/2006/main">
            <a:r>
              <a:t>LECTURER CUE</a:t>
            </a:r>
          </a:p>
          <a:p xmlns:a="http://schemas.openxmlformats.org/drawingml/2006/main">
            <a:r>
              <a:t>An interaction may help a simple model express a relationship, but usefulness is tested rather than assumed. An interaction involving Celsius is an empirical feature, not automatically a physical law.</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Ablation and Improvement.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Ablation and Improvement</a:t>
            </a:r>
          </a:p>
          <a:p xmlns:a="http://schemas.openxmlformats.org/drawingml/2006/main">
            <a:r>
              <a:t/>
            </a:r>
          </a:p>
          <a:p xmlns:a="http://schemas.openxmlformats.org/drawingml/2006/main">
            <a:r>
              <a:t>CONNECT</a:t>
            </a:r>
          </a:p>
          <a:p xmlns:a="http://schemas.openxmlformats.org/drawingml/2006/main">
            <a:r>
              <a:t>Build on A combined input needs a reason. Explain why this example is needed before running it.</a:t>
            </a:r>
          </a:p>
          <a:p xmlns:a="http://schemas.openxmlformats.org/drawingml/2006/main">
            <a:r>
              <a:t/>
            </a:r>
          </a:p>
          <a:p xmlns:a="http://schemas.openxmlformats.org/drawingml/2006/main">
            <a:r>
              <a:t>EXPLAIN</a:t>
            </a:r>
          </a:p>
          <a:p xmlns:a="http://schemas.openxmlformats.org/drawingml/2006/main">
            <a:r>
              <a:t>Ablation: Compare a model with and without a feature while keeping the data partitions, model family and metric fixed.</a:t>
            </a:r>
          </a:p>
          <a:p xmlns:a="http://schemas.openxmlformats.org/drawingml/2006/main">
            <a:r>
              <a:t>Improvement: For an error metric, baseline error minus new error. A negative result means the added feature worsened validation error in that comparison.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A combined input needs a reason.</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POINT TO THE DEFINITION</a:t>
            </a:r>
          </a:p>
          <a:p xmlns:a="http://schemas.openxmlformats.org/drawingml/2006/main">
            <a:r>
              <a:t>Ablation: Compare a model with and without a feature while keeping the data partitions, model family and metric fixed.</a:t>
            </a:r>
          </a:p>
          <a:p xmlns:a="http://schemas.openxmlformats.org/drawingml/2006/main">
            <a:r>
              <a:t>Improvement: For an error metric, baseline error minus new error. A negative result means the added feature worsened validation error in that comparison.</a:t>
            </a:r>
          </a:p>
          <a:p xmlns:a="http://schemas.openxmlformats.org/drawingml/2006/main">
            <a:r>
              <a:t/>
            </a:r>
          </a:p>
          <a:p xmlns:a="http://schemas.openxmlformats.org/drawingml/2006/main">
            <a:r>
              <a:t>NEXT</a:t>
            </a:r>
          </a:p>
          <a:p xmlns:a="http://schemas.openxmlformats.org/drawingml/2006/main">
            <a:r>
              <a:t>One change makes a comparison interpretable.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One change makes a comparison interpretable.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One change makes a comparison interpretable</a:t>
            </a:r>
          </a:p>
          <a:p xmlns:a="http://schemas.openxmlformats.org/drawingml/2006/main">
            <a:r>
              <a:t/>
            </a:r>
          </a:p>
          <a:p xmlns:a="http://schemas.openxmlformats.org/drawingml/2006/main">
            <a:r>
              <a:t>CONNECT</a:t>
            </a:r>
          </a:p>
          <a:p xmlns:a="http://schemas.openxmlformats.org/drawingml/2006/main">
            <a:r>
              <a:t>Build on Ablation and Improvement. Explain why this example is needed before running it.</a:t>
            </a:r>
          </a:p>
          <a:p xmlns:a="http://schemas.openxmlformats.org/drawingml/2006/main">
            <a:r>
              <a:t/>
            </a:r>
          </a:p>
          <a:p xmlns:a="http://schemas.openxmlformats.org/drawingml/2006/main">
            <a:r>
              <a:t>EXPLAIN</a:t>
            </a:r>
          </a:p>
          <a:p xmlns:a="http://schemas.openxmlformats.org/drawingml/2006/main">
            <a:r>
              <a:t>Base MAE is 3.0. Extended MAE is 2.5.</a:t>
            </a:r>
          </a:p>
          <a:p xmlns:a="http://schemas.openxmlformats.org/drawingml/2006/main">
            <a:r>
              <a:t/>
            </a:r>
          </a:p>
          <a:p xmlns:a="http://schemas.openxmlformats.org/drawingml/2006/main">
            <a:r>
              <a:t>Improvement = base error minus extended error = 0.5.</a:t>
            </a:r>
          </a:p>
          <a:p xmlns:a="http://schemas.openxmlformats.org/drawingml/2006/main">
            <a:r>
              <a:t/>
            </a:r>
          </a:p>
          <a:p xmlns:a="http://schemas.openxmlformats.org/drawingml/2006/main">
            <a:r>
              <a:t>Keep the training rows, validation rows, model family and metric fixed.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One change makes a comparison interpretable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Read a two-row results table: base MAE 3, extended MAE 2.5 gives improvement 0.5 target units. Ask which other experimental choices must stay fixed.</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Worked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comparisons in Python</a:t>
            </a:r>
          </a:p>
          <a:p xmlns:a="http://schemas.openxmlformats.org/drawingml/2006/main">
            <a:r>
              <a:t/>
            </a:r>
          </a:p>
          <a:p xmlns:a="http://schemas.openxmlformats.org/drawingml/2006/main">
            <a:r>
              <a:t>CONNECT</a:t>
            </a:r>
          </a:p>
          <a:p xmlns:a="http://schemas.openxmlformats.org/drawingml/2006/main">
            <a:r>
              <a:t>Build on One change makes a comparison interpretable.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One change makes a comparison interpretable.</a:t>
            </a:r>
          </a:p>
          <a:p xmlns:a="http://schemas.openxmlformats.org/drawingml/2006/main">
            <a:r>
              <a:t/>
            </a:r>
          </a:p>
          <a:p xmlns:a="http://schemas.openxmlformats.org/drawingml/2006/main">
            <a:r>
              <a:t>LECTURER CUE</a:t>
            </a:r>
          </a:p>
          <a:p xmlns:a="http://schemas.openxmlformats.org/drawingml/2006/main">
            <a:r>
              <a:t>Begin with a percentage: 40% means 40 / 100 = 0.4. Converting percentage to fraction changes units but adds no new information. An interaction may help a simple model express a relationship, but usefulness is tested rather than assumed. An interaction involving Celsius is an empirical feature, not automatically a physical law. Read a two-row results table: base MAE 3, extended MAE 2.5 gives improvement 0.5 target units. Ask which other experimental choices must stay fixed.</a:t>
            </a:r>
          </a:p>
          <a:p xmlns:a="http://schemas.openxmlformats.org/drawingml/2006/main">
            <a:r>
              <a:t/>
            </a:r>
          </a:p>
          <a:p xmlns:a="http://schemas.openxmlformats.org/drawingml/2006/main">
            <a:r>
              <a:t>Complete practice code:</a:t>
            </a:r>
          </a:p>
          <a:p xmlns:a="http://schemas.openxmlformats.org/drawingml/2006/main">
            <a:r>
              <a:t>load_pct = 40</a:t>
            </a:r>
          </a:p>
          <a:p xmlns:a="http://schemas.openxmlformats.org/drawingml/2006/main">
            <a:r>
              <a:t>ambient_c = 25</a:t>
            </a:r>
          </a:p>
          <a:p xmlns:a="http://schemas.openxmlformats.org/drawingml/2006/main">
            <a:r>
              <a:t>load_fraction = load_pct / 100</a:t>
            </a:r>
          </a:p>
          <a:p xmlns:a="http://schemas.openxmlformats.org/drawingml/2006/main">
            <a:r>
              <a:t>interaction = load_pct * ambient_c</a:t>
            </a:r>
          </a:p>
          <a:p xmlns:a="http://schemas.openxmlformats.org/drawingml/2006/main">
            <a:r>
              <a:t>print(load_fraction, interaction)</a:t>
            </a:r>
          </a:p>
          <a:p xmlns:a="http://schemas.openxmlformats.org/drawingml/2006/main">
            <a:r>
              <a:t>base_mae = 3.0</a:t>
            </a:r>
          </a:p>
          <a:p xmlns:a="http://schemas.openxmlformats.org/drawingml/2006/main">
            <a:r>
              <a:t>extended_mae = 2.5</a:t>
            </a:r>
          </a:p>
          <a:p xmlns:a="http://schemas.openxmlformats.org/drawingml/2006/main">
            <a:r>
              <a:t>print(base_mae - extended_mae)</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comparisons results</a:t>
            </a:r>
          </a:p>
          <a:p xmlns:a="http://schemas.openxmlformats.org/drawingml/2006/main">
            <a:r>
              <a:t/>
            </a:r>
          </a:p>
          <a:p xmlns:a="http://schemas.openxmlformats.org/drawingml/2006/main">
            <a:r>
              <a:t>CONNECT</a:t>
            </a:r>
          </a:p>
          <a:p xmlns:a="http://schemas.openxmlformats.org/drawingml/2006/main">
            <a:r>
              <a:t>Build on Feature comparisons in Python. Explain why this example is needed before running it.</a:t>
            </a:r>
          </a:p>
          <a:p xmlns:a="http://schemas.openxmlformats.org/drawingml/2006/main">
            <a:r>
              <a:t/>
            </a:r>
          </a:p>
          <a:p xmlns:a="http://schemas.openxmlformats.org/drawingml/2006/main">
            <a:r>
              <a:t>EXPLAIN</a:t>
            </a:r>
          </a:p>
          <a:p xmlns:a="http://schemas.openxmlformats.org/drawingml/2006/main">
            <a:r>
              <a:t>0.4 1000</a:t>
            </a:r>
          </a:p>
          <a:p xmlns:a="http://schemas.openxmlformats.org/drawingml/2006/main">
            <a:r>
              <a:t>0.5</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Read the two-model experiment.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two-model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two-model experiment</a:t>
            </a:r>
          </a:p>
          <a:p xmlns:a="http://schemas.openxmlformats.org/drawingml/2006/main">
            <a:r>
              <a:t/>
            </a:r>
          </a:p>
          <a:p xmlns:a="http://schemas.openxmlformats.org/drawingml/2006/main">
            <a:r>
              <a:t>CONNECT</a:t>
            </a:r>
          </a:p>
          <a:p xmlns:a="http://schemas.openxmlformats.org/drawingml/2006/main">
            <a:r>
              <a:t>Build on Feature comparisons results. Explain why this example is needed before running it.</a:t>
            </a:r>
          </a:p>
          <a:p xmlns:a="http://schemas.openxmlformats.org/drawingml/2006/main">
            <a:r>
              <a:t/>
            </a:r>
          </a:p>
          <a:p xmlns:a="http://schemas.openxmlformats.org/drawingml/2006/main">
            <a:r>
              <a:t>EXPLAIN</a:t>
            </a:r>
          </a:p>
          <a:p xmlns:a="http://schemas.openxmlformats.org/drawingml/2006/main">
            <a:r>
              <a:t>Each row contains a pair of inputs. for a, b in rows assigns the first entry to a and the second to b, then repeats the block.</a:t>
            </a:r>
          </a:p>
          <a:p xmlns:a="http://schemas.openxmlformats.org/drawingml/2006/main">
            <a:r>
              <a:t/>
            </a:r>
          </a:p>
          <a:p xmlns:a="http://schemas.openxmlformats.org/drawingml/2006/main">
            <a:r>
              <a:t>with_interaction returns a new table containing a, b and a × b. Both models keep the same training and validation rows.</a:t>
            </a:r>
          </a:p>
          <a:p xmlns:a="http://schemas.openxmlformats.org/drawingml/2006/main">
            <a:r>
              <a:t/>
            </a:r>
          </a:p>
          <a:p xmlns:a="http://schemas.openxmlformats.org/drawingml/2006/main">
            <a:r>
              <a:t>fit returns the fitted model object, so creating and fitting can appear in one expression. round(value, 6) rounds a displayed number to six decimal places.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two-model experiment</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NEXT</a:t>
            </a:r>
          </a:p>
          <a:p xmlns:a="http://schemas.openxmlformats.org/drawingml/2006/main">
            <a:r>
              <a:t>Two models under one protocol.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models under one protocol.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a:t>
            </a:r>
          </a:p>
          <a:p xmlns:a="http://schemas.openxmlformats.org/drawingml/2006/main">
            <a:r>
              <a:t/>
            </a:r>
          </a:p>
          <a:p xmlns:a="http://schemas.openxmlformats.org/drawingml/2006/main">
            <a:r>
              <a:t>CONNECT</a:t>
            </a:r>
          </a:p>
          <a:p xmlns:a="http://schemas.openxmlformats.org/drawingml/2006/main">
            <a:r>
              <a:t>Build on Read the two-model experiment. Explain why this example is needed before running it.</a:t>
            </a:r>
          </a:p>
          <a:p xmlns:a="http://schemas.openxmlformats.org/drawingml/2006/main">
            <a:r>
              <a:t/>
            </a:r>
          </a:p>
          <a:p xmlns:a="http://schemas.openxmlformats.org/drawingml/2006/main">
            <a:r>
              <a:t>EXPLAIN</a:t>
            </a:r>
          </a:p>
          <a:p xmlns:a="http://schemas.openxmlformats.org/drawingml/2006/main">
            <a:r>
              <a:t>Run this complete practice experiment in a fresh session.</a:t>
            </a:r>
          </a:p>
          <a:p xmlns:a="http://schemas.openxmlformats.org/drawingml/2006/main">
            <a:r>
              <a:t/>
            </a:r>
          </a:p>
          <a:p xmlns:a="http://schemas.openxmlformats.org/drawingml/2006/main">
            <a:r>
              <a:t>Both models use the same rows and targets; the second receives one additional input.</a:t>
            </a:r>
          </a:p>
          <a:p xmlns:a="http://schemas.openxmlformats.org/drawingml/2006/main">
            <a:r>
              <a:t/>
            </a:r>
          </a:p>
          <a:p xmlns:a="http://schemas.openxmlformats.org/drawingml/2006/main">
            <a:r>
              <a:t>Read every column before fitting.</a:t>
            </a:r>
          </a:p>
          <a:p xmlns:a="http://schemas.openxmlformats.org/drawingml/2006/main">
            <a:r>
              <a:t/>
            </a:r>
          </a:p>
          <a:p xmlns:a="http://schemas.openxmlformats.org/drawingml/2006/main">
            <a:r>
              <a:t>This invented experiment illustrates procedure, not a measured engineering benefit.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models under one protocol</a:t>
            </a:r>
          </a:p>
          <a:p xmlns:a="http://schemas.openxmlformats.org/drawingml/2006/main">
            <a:r>
              <a:t/>
            </a:r>
          </a:p>
          <a:p xmlns:a="http://schemas.openxmlformats.org/drawingml/2006/main">
            <a:r>
              <a:t>CONNECT</a:t>
            </a:r>
          </a:p>
          <a:p xmlns:a="http://schemas.openxmlformats.org/drawingml/2006/main">
            <a:r>
              <a:t>Build on the preceding slide: Read the two-model experiment.</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Two models under one protocol in Python (1/3).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models under one protocol in Python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 in Python (1/3)</a:t>
            </a:r>
          </a:p>
          <a:p xmlns:a="http://schemas.openxmlformats.org/drawingml/2006/main">
            <a:r>
              <a:t/>
            </a:r>
          </a:p>
          <a:p xmlns:a="http://schemas.openxmlformats.org/drawingml/2006/main">
            <a:r>
              <a:t>CONNECT</a:t>
            </a:r>
          </a:p>
          <a:p xmlns:a="http://schemas.openxmlformats.org/drawingml/2006/main">
            <a:r>
              <a:t>Build on Two models under one protocol.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models under one protocol in Python (1/3)</a:t>
            </a:r>
          </a:p>
          <a:p xmlns:a="http://schemas.openxmlformats.org/drawingml/2006/main">
            <a:r>
              <a:t/>
            </a:r>
          </a:p>
          <a:p xmlns:a="http://schemas.openxmlformats.org/drawingml/2006/main">
            <a:r>
              <a:t>CONNECT</a:t>
            </a:r>
          </a:p>
          <a:p xmlns:a="http://schemas.openxmlformats.org/drawingml/2006/main">
            <a:r>
              <a:t>Build on the preceding slide: Two models under one protocol.</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LinearRegression().fit(train, y)</a:t>
            </a:r>
          </a:p>
          <a:p xmlns:a="http://schemas.openxmlformats.org/drawingml/2006/main">
            <a:r>
              <a:t>extended = LinearRegression().fit(with_interaction(train),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Two models under one protocol in Python (2/3).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models under one protocol in Python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 in Python (2/3)</a:t>
            </a:r>
          </a:p>
          <a:p xmlns:a="http://schemas.openxmlformats.org/drawingml/2006/main">
            <a:r>
              <a:t/>
            </a:r>
          </a:p>
          <a:p xmlns:a="http://schemas.openxmlformats.org/drawingml/2006/main">
            <a:r>
              <a:t>CONNECT</a:t>
            </a:r>
          </a:p>
          <a:p xmlns:a="http://schemas.openxmlformats.org/drawingml/2006/main">
            <a:r>
              <a:t>Build on Two models under one protocol in Python (1/3).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models under one protocol in Python (2/3)</a:t>
            </a:r>
          </a:p>
          <a:p xmlns:a="http://schemas.openxmlformats.org/drawingml/2006/main">
            <a:r>
              <a:t/>
            </a:r>
          </a:p>
          <a:p xmlns:a="http://schemas.openxmlformats.org/drawingml/2006/main">
            <a:r>
              <a:t>CONNECT</a:t>
            </a:r>
          </a:p>
          <a:p xmlns:a="http://schemas.openxmlformats.org/drawingml/2006/main">
            <a:r>
              <a:t>Build on the preceding slide: Two models under one protocol in Python (1/3).</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LinearRegression().fit(train, y)</a:t>
            </a:r>
          </a:p>
          <a:p xmlns:a="http://schemas.openxmlformats.org/drawingml/2006/main">
            <a:r>
              <a:t>extended = LinearRegression().fit(with_interaction(train),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for takes the next item. The indented block repeats.</a:t>
            </a:r>
          </a:p>
          <a:p xmlns:a="http://schemas.openxmlformats.org/drawingml/2006/main">
            <a:r>
              <a:t>return sends the result back to the caller.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Two models under one protocol in Python (3/3).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models under one protocol in Python (3/3).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 in Python (3/3)</a:t>
            </a:r>
          </a:p>
          <a:p xmlns:a="http://schemas.openxmlformats.org/drawingml/2006/main">
            <a:r>
              <a:t/>
            </a:r>
          </a:p>
          <a:p xmlns:a="http://schemas.openxmlformats.org/drawingml/2006/main">
            <a:r>
              <a:t>CONNECT</a:t>
            </a:r>
          </a:p>
          <a:p xmlns:a="http://schemas.openxmlformats.org/drawingml/2006/main">
            <a:r>
              <a:t>Build on Two models under one protocol in Python (2/3).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models under one protocol in Python (3/3)</a:t>
            </a:r>
          </a:p>
          <a:p xmlns:a="http://schemas.openxmlformats.org/drawingml/2006/main">
            <a:r>
              <a:t/>
            </a:r>
          </a:p>
          <a:p xmlns:a="http://schemas.openxmlformats.org/drawingml/2006/main">
            <a:r>
              <a:t>CONNECT</a:t>
            </a:r>
          </a:p>
          <a:p xmlns:a="http://schemas.openxmlformats.org/drawingml/2006/main">
            <a:r>
              <a:t>Build on the preceding slide: Two models under one protocol in Python (2/3).</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LinearRegression().fit(train, y)</a:t>
            </a:r>
          </a:p>
          <a:p xmlns:a="http://schemas.openxmlformats.org/drawingml/2006/main">
            <a:r>
              <a:t>extended = LinearRegression().fit(with_interaction(train),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WALK THROUGH THIS CODE</a:t>
            </a:r>
          </a:p>
          <a:p xmlns:a="http://schemas.openxmlformats.org/drawingml/2006/main">
            <a:r>
              <a:t>predict applies the fitted model to new inputs.</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Encoding and Scaling.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Encoding and Scaling</a:t>
            </a:r>
          </a:p>
          <a:p xmlns:a="http://schemas.openxmlformats.org/drawingml/2006/main">
            <a:r>
              <a:t/>
            </a:r>
          </a:p>
          <a:p xmlns:a="http://schemas.openxmlformats.org/drawingml/2006/main">
            <a:r>
              <a:t>CONNECT</a:t>
            </a:r>
          </a:p>
          <a:p xmlns:a="http://schemas.openxmlformats.org/drawingml/2006/main">
            <a:r>
              <a:t>Build on Two models under one protocol in Python (3/3). Explain why this example is needed before running it.</a:t>
            </a:r>
          </a:p>
          <a:p xmlns:a="http://schemas.openxmlformats.org/drawingml/2006/main">
            <a:r>
              <a:t/>
            </a:r>
          </a:p>
          <a:p xmlns:a="http://schemas.openxmlformats.org/drawingml/2006/main">
            <a:r>
              <a:t>EXPLAIN</a:t>
            </a:r>
          </a:p>
          <a:p xmlns:a="http://schemas.openxmlformats.org/drawingml/2006/main">
            <a:r>
              <a:t>Encoding: Representing a category numerically. One-hot uses separate indicator columns. Arbitrary integer labels can falsely suggest an order.</a:t>
            </a:r>
          </a:p>
          <a:p xmlns:a="http://schemas.openxmlformats.org/drawingml/2006/main">
            <a:r>
              <a:t>Scaling: Changing the numerical scale of features. Fit learned scaling on training data only. It matters for distance-based models but is not required by ordinary decision trees.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Two models under one protocol in Python (3/3).</a:t>
            </a:r>
          </a:p>
          <a:p xmlns:a="http://schemas.openxmlformats.org/drawingml/2006/main">
            <a:r>
              <a:t/>
            </a:r>
          </a:p>
          <a:p xmlns:a="http://schemas.openxmlformats.org/drawingml/2006/main">
            <a:r>
              <a:t>EXPLAIN IN ORDINARY WORDS</a:t>
            </a:r>
          </a:p>
          <a:p xmlns:a="http://schemas.openxmlformats.org/drawingml/2006/main">
            <a:r>
              <a:t>A category is a label, not an amount. Indicator columns record whether a row belongs to each category, usually with 0 or 1. Fit the encoding on training data and reuse it.</a:t>
            </a:r>
          </a:p>
          <a:p xmlns:a="http://schemas.openxmlformats.org/drawingml/2006/main">
            <a:r>
              <a:t/>
            </a:r>
          </a:p>
          <a:p xmlns:a="http://schemas.openxmlformats.org/drawingml/2006/main">
            <a:r>
              <a:t>CHECK AND EXPECTED ANSWER</a:t>
            </a:r>
          </a:p>
          <a:p xmlns:a="http://schemas.openxmlformats.org/drawingml/2006/main">
            <a:r>
              <a:t>Does assigning red=1 and blue=2 mean blue is twice red? No, those are labels.</a:t>
            </a:r>
          </a:p>
          <a:p xmlns:a="http://schemas.openxmlformats.org/drawingml/2006/main">
            <a:r>
              <a:t/>
            </a:r>
          </a:p>
          <a:p xmlns:a="http://schemas.openxmlformats.org/drawingml/2006/main">
            <a:r>
              <a:t>IF LEARNERS ARE STUCK</a:t>
            </a:r>
          </a:p>
          <a:p xmlns:a="http://schemas.openxmlformats.org/drawingml/2006/main">
            <a:r>
              <a:t>Make two rows and two category columns by hand before showing the encoder.</a:t>
            </a:r>
          </a:p>
          <a:p xmlns:a="http://schemas.openxmlformats.org/drawingml/2006/main">
            <a:r>
              <a:t/>
            </a:r>
          </a:p>
          <a:p xmlns:a="http://schemas.openxmlformats.org/drawingml/2006/main">
            <a:r>
              <a:t>POINT TO THE DEFINITION</a:t>
            </a:r>
          </a:p>
          <a:p xmlns:a="http://schemas.openxmlformats.org/drawingml/2006/main">
            <a:r>
              <a:t>Encoding: Representing a category numerically. One-hot uses separate indicator columns. Arbitrary integer labels can falsely suggest an order.</a:t>
            </a:r>
          </a:p>
          <a:p xmlns:a="http://schemas.openxmlformats.org/drawingml/2006/main">
            <a:r>
              <a:t>Scaling: Changing the numerical scale of features. Fit learned scaling on training data only. It matters for distance-based models but is not required by ordinary decision trees.</a:t>
            </a:r>
          </a:p>
          <a:p xmlns:a="http://schemas.openxmlformats.org/drawingml/2006/main">
            <a:r>
              <a:t/>
            </a:r>
          </a:p>
          <a:p xmlns:a="http://schemas.openxmlformats.org/drawingml/2006/main">
            <a:r>
              <a:t>NEXT</a:t>
            </a:r>
          </a:p>
          <a:p xmlns:a="http://schemas.openxmlformats.org/drawingml/2006/main">
            <a:r>
              <a:t>You are the feature reviewer.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Encoding and Scaling. Explain why this example is needed before running it.</a:t>
            </a:r>
          </a:p>
          <a:p xmlns:a="http://schemas.openxmlformats.org/drawingml/2006/main">
            <a:r>
              <a:t/>
            </a:r>
          </a:p>
          <a:p xmlns:a="http://schemas.openxmlformats.org/drawingml/2006/main">
            <a:r>
              <a:t>EXPLAIN</a:t>
            </a:r>
          </a:p>
          <a:p xmlns:a="http://schemas.openxmlformats.org/drawingml/2006/main">
            <a:r>
              <a:t>Example: If the extended error becomes 3.4, calculate improvement and decide whether this evidence supports retaining the feature.</a:t>
            </a:r>
          </a:p>
          <a:p xmlns:a="http://schemas.openxmlformats.org/drawingml/2006/main">
            <a:r>
              <a:t/>
            </a:r>
          </a:p>
          <a:p xmlns:a="http://schemas.openxmlformats.org/drawingml/2006/main">
            <a:r>
              <a:t>Answer: Improvement is -0.4. This validation comparison does not support retaining it. One split is limited evidence; the final test remains untouched.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Improvement is -0.4. This validation comparison does not support retaining it. One split is limited evidence; the final test remains untouched.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Improvement is -0.4. This validation comparison does not support retaining it. One split is limited evidence; the final test remains untouched.</a:t>
            </a:r>
          </a:p>
          <a:p xmlns:a="http://schemas.openxmlformats.org/drawingml/2006/main">
            <a:r>
              <a:t>Which step produced this result? What changes if one input changes?</a:t>
            </a:r>
          </a:p>
          <a:p xmlns:a="http://schemas.openxmlformats.org/drawingml/2006/main">
            <a:r>
              <a:t>CML3111   Week 11   25</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W11 names four output features and a two-model ablation.</a:t>
            </a:r>
          </a:p>
          <a:p xmlns:a="http://schemas.openxmlformats.org/drawingml/2006/main">
            <a:r>
              <a:t/>
            </a:r>
          </a:p>
          <a:p xmlns:a="http://schemas.openxmlformats.org/drawingml/2006/main">
            <a:r>
              <a:t>Explain output order, preservation of input rows, full precision and training-only fitting.</a:t>
            </a:r>
          </a:p>
          <a:p xmlns:a="http://schemas.openxmlformats.org/drawingml/2006/main">
            <a:r>
              <a:t/>
            </a:r>
          </a:p>
          <a:p xmlns:a="http://schemas.openxmlformats.org/drawingml/2006/main">
            <a:r>
              <a:t>Use the supplied written scenario for the interpretation requested there.</a:t>
            </a:r>
          </a:p>
          <a:p xmlns:a="http://schemas.openxmlformats.org/drawingml/2006/main">
            <a:r>
              <a:t/>
            </a:r>
          </a:p>
          <a:p xmlns:a="http://schemas.openxmlformats.org/drawingml/2006/main">
            <a:r>
              <a:t>Do not substitute this practice example’s result.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W11 names four output features and a two-model ablation. Explain output order, preservation of input rows, full precision and training-only fitting. Use the supplied written scenario for the interpretation requested there. Do not substitute this practice example’s result.</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Features without misleading evaluation.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Features without misleading 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Features without misleading evaluation</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Rescaling an input usually does not change the partitions available to an ordinary decision tree.</a:t>
            </a:r>
          </a:p>
          <a:p xmlns:a="http://schemas.openxmlformats.org/drawingml/2006/main">
            <a:r>
              <a:t/>
            </a:r>
          </a:p>
          <a:p xmlns:a="http://schemas.openxmlformats.org/drawingml/2006/main">
            <a:r>
              <a:t>An identifier or a future-known field can create an apparent improvement without useful predictive information.</a:t>
            </a:r>
          </a:p>
          <a:p xmlns:a="http://schemas.openxmlformats.org/drawingml/2006/main">
            <a:r>
              <a:t/>
            </a:r>
          </a:p>
          <a:p xmlns:a="http://schemas.openxmlformats.org/drawingml/2006/main">
            <a:r>
              <a:t>Dividing by zero can produce infinity or an error; decide what the denominator means before replacing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Features without misleading evaluation</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Features without misleading evaluation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Features without misleading evaluation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Features without misleading evaluation continued</a:t>
            </a:r>
          </a:p>
          <a:p xmlns:a="http://schemas.openxmlformats.org/drawingml/2006/main">
            <a:r>
              <a:t/>
            </a:r>
          </a:p>
          <a:p xmlns:a="http://schemas.openxmlformats.org/drawingml/2006/main">
            <a:r>
              <a:t>CONNECT</a:t>
            </a:r>
          </a:p>
          <a:p xmlns:a="http://schemas.openxmlformats.org/drawingml/2006/main">
            <a:r>
              <a:t>Build on Features without misleading evaluation. Explain why this example is needed before running it.</a:t>
            </a:r>
          </a:p>
          <a:p xmlns:a="http://schemas.openxmlformats.org/drawingml/2006/main">
            <a:r>
              <a:t/>
            </a:r>
          </a:p>
          <a:p xmlns:a="http://schemas.openxmlformats.org/drawingml/2006/main">
            <a:r>
              <a:t>EXPLAIN</a:t>
            </a:r>
          </a:p>
          <a:p xmlns:a="http://schemas.openxmlformats.org/drawingml/2006/main">
            <a:r>
              <a:t>Read ablation differences using the same error definition, and explain features using domain knowledge.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Features without misleading evaluation continued</a:t>
            </a:r>
          </a:p>
          <a:p xmlns:a="http://schemas.openxmlformats.org/drawingml/2006/main">
            <a:r>
              <a:t/>
            </a:r>
          </a:p>
          <a:p xmlns:a="http://schemas.openxmlformats.org/drawingml/2006/main">
            <a:r>
              <a:t>CONNECT</a:t>
            </a:r>
          </a:p>
          <a:p xmlns:a="http://schemas.openxmlformats.org/drawingml/2006/main">
            <a:r>
              <a:t>Build on the preceding slide: Features without misleading evaluation.</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Features without misleading evaluation continued. Explain why this example is needed before running it.</a:t>
            </a:r>
          </a:p>
          <a:p xmlns:a="http://schemas.openxmlformats.org/drawingml/2006/main">
            <a:r>
              <a:t/>
            </a:r>
          </a:p>
          <a:p xmlns:a="http://schemas.openxmlformats.org/drawingml/2006/main">
            <a:r>
              <a:t>EXPLAIN</a:t>
            </a:r>
          </a:p>
          <a:p xmlns:a="http://schemas.openxmlformats.org/drawingml/2006/main">
            <a:r>
              <a:t>Investigate motor winding temperature.</a:t>
            </a:r>
          </a:p>
          <a:p xmlns:a="http://schemas.openxmlformats.org/drawingml/2006/main">
            <a:r>
              <a:t/>
            </a:r>
          </a:p>
          <a:p xmlns:a="http://schemas.openxmlformats.org/drawingml/2006/main">
            <a:r>
              <a:t>Target units: deg C.</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Features without misleading evaluation continued.</a:t>
            </a:r>
          </a:p>
          <a:p xmlns:a="http://schemas.openxmlformats.org/drawingml/2006/main">
            <a:r>
              <a:t/>
            </a:r>
          </a:p>
          <a:p xmlns:a="http://schemas.openxmlformats.org/drawingml/2006/main">
            <a:r>
              <a:t>LECTURER CUE</a:t>
            </a:r>
          </a:p>
          <a:p xmlns:a="http://schemas.openxmlformats.org/drawingml/2006/main">
            <a:r>
              <a:t>Investigate motor winding temperature. Target units: deg C.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make_features(feature_records).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make_features(feature_records).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make_features(feature_records)</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Return one feature row per input, in order: [load_pct, ambient_c, load_pct/100, load_pct*ambient_c].</a:t>
            </a:r>
          </a:p>
          <a:p xmlns:a="http://schemas.openxmlformats.org/drawingml/2006/main">
            <a:r>
              <a:t/>
            </a:r>
          </a:p>
          <a:p xmlns:a="http://schemas.openxmlformats.org/drawingml/2006/main">
            <a:r>
              <a:t>Use inputs available at prediction time only.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make_features(feature_records)</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IUEA_Teaching_Plan/assessment_banks/W11/CML3111/A/TASKS.md</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NEXT</a:t>
            </a:r>
          </a:p>
          <a:p xmlns:a="http://schemas.openxmlformats.org/drawingml/2006/main">
            <a:r>
              <a:t>ablation_metrics(training_records, validation_records).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ablation_metrics(training_records, validation_records).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ablation_metrics(training_records, validation_records)</a:t>
            </a:r>
          </a:p>
          <a:p xmlns:a="http://schemas.openxmlformats.org/drawingml/2006/main">
            <a:r>
              <a:t/>
            </a:r>
          </a:p>
          <a:p xmlns:a="http://schemas.openxmlformats.org/drawingml/2006/main">
            <a:r>
              <a:t>CONNECT</a:t>
            </a:r>
          </a:p>
          <a:p xmlns:a="http://schemas.openxmlformats.org/drawingml/2006/main">
            <a:r>
              <a:t>Build on make_features(feature_records). Explain why this example is needed before running it.</a:t>
            </a:r>
          </a:p>
          <a:p xmlns:a="http://schemas.openxmlformats.org/drawingml/2006/main">
            <a:r>
              <a:t/>
            </a:r>
          </a:p>
          <a:p xmlns:a="http://schemas.openxmlformats.org/drawingml/2006/main">
            <a:r>
              <a:t>EXPLAIN</a:t>
            </a:r>
          </a:p>
          <a:p xmlns:a="http://schemas.openxmlformats.org/drawingml/2006/main">
            <a: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r>
              <a:t>Evaluate both on the same validation records.</a:t>
            </a:r>
          </a:p>
          <a:p xmlns:a="http://schemas.openxmlformats.org/drawingml/2006/main">
            <a:r>
              <a:t/>
            </a:r>
          </a:p>
          <a:p xmlns:a="http://schemas.openxmlformats.org/drawingml/2006/main">
            <a:r>
              <a:t>Return base_mae, extended_mae and improvement=base_mae-extended_mae, without rounding.</a:t>
            </a:r>
          </a:p>
          <a:p xmlns:a="http://schemas.openxmlformats.org/drawingml/2006/main">
            <a:r>
              <a:t/>
            </a:r>
          </a:p>
          <a:p xmlns:a="http://schemas.openxmlformats.org/drawingml/2006/main">
            <a:r>
              <a:t>Inputs are complete; never fit on validation targets.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ablation_metrics(training_records, validation_records)</a:t>
            </a:r>
          </a:p>
          <a:p xmlns:a="http://schemas.openxmlformats.org/drawingml/2006/main">
            <a:r>
              <a:t/>
            </a:r>
          </a:p>
          <a:p xmlns:a="http://schemas.openxmlformats.org/drawingml/2006/main">
            <a:r>
              <a:t>CONNECT</a:t>
            </a:r>
          </a:p>
          <a:p xmlns:a="http://schemas.openxmlformats.org/drawingml/2006/main">
            <a:r>
              <a:t>Build on the preceding slide: make_features(feature_records).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IUEA_Teaching_Plan/assessment_banks/W11/CML3111/A/TASKS.md</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ablation_metrics(training_records, validation_records).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ablation_metrics(training_records, validation_records).</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Features and ablation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Features and ablation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Features and ablation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20 Nov 2026, 11:00 Kampala</a:t>
            </a:r>
          </a:p>
          <a:p xmlns:a="http://schemas.openxmlformats.org/drawingml/2006/main">
            <a:r>
              <a:t/>
            </a:r>
          </a:p>
          <a:p xmlns:a="http://schemas.openxmlformats.org/drawingml/2006/main">
            <a:r>
              <a:t>Deadline: 27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Features and ablation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Project preparation.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Project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Features and ablation submission.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18 Dec 2026, 11:00 Kampala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the preceding slide: Features and ablation submission.</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11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11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11 quiz</a:t>
            </a:r>
          </a:p>
          <a:p xmlns:a="http://schemas.openxmlformats.org/drawingml/2006/main">
            <a:r>
              <a:t/>
            </a:r>
          </a:p>
          <a:p xmlns:a="http://schemas.openxmlformats.org/drawingml/2006/main">
            <a:r>
              <a:t>CONNECT</a:t>
            </a:r>
          </a:p>
          <a:p xmlns:a="http://schemas.openxmlformats.org/drawingml/2006/main">
            <a:r>
              <a:t>Build on Project preparation.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11 quiz</a:t>
            </a:r>
          </a:p>
          <a:p xmlns:a="http://schemas.openxmlformats.org/drawingml/2006/main">
            <a:r>
              <a:t/>
            </a:r>
          </a:p>
          <a:p xmlns:a="http://schemas.openxmlformats.org/drawingml/2006/main">
            <a:r>
              <a:t>CONNECT</a:t>
            </a:r>
          </a:p>
          <a:p xmlns:a="http://schemas.openxmlformats.org/drawingml/2006/main">
            <a:r>
              <a:t>Build on the preceding slide: Project preparation.</a:t>
            </a:r>
          </a:p>
          <a:p xmlns:a="http://schemas.openxmlformats.org/drawingml/2006/main">
            <a:r>
              <a:t/>
            </a:r>
          </a:p>
          <a:p xmlns:a="http://schemas.openxmlformats.org/drawingml/2006/main">
            <a:r>
              <a:t>LECTURER CUE</a:t>
            </a:r>
          </a:p>
          <a:p xmlns:a="http://schemas.openxmlformats.org/drawingml/2006/main">
            <a:r>
              <a:t>Activate the matching open_W11_CML3111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11 quiz. Explain why this example is needed before running it.</a:t>
            </a:r>
          </a:p>
          <a:p xmlns:a="http://schemas.openxmlformats.org/drawingml/2006/main">
            <a:r>
              <a:t/>
            </a:r>
          </a:p>
          <a:p xmlns:a="http://schemas.openxmlformats.org/drawingml/2006/main">
            <a:r>
              <a:t>EXPLAIN</a:t>
            </a:r>
          </a:p>
          <a:p xmlns:a="http://schemas.openxmlformats.org/drawingml/2006/main">
            <a:r>
              <a:t>You can state the new feature’s meaning and calculate an improvement correctly.</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11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abb2eb693e8425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1d0704a19cd427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90868027f954f8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b6e0f2049f0412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88b459ba40d482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f50c76e3968419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D066B59-945C-4003-BA50-7E6CAE905535}"/>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E979593-171C-4CAB-8607-9BA75F7F95E0}"/>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15E3B5-BD07-4800-9035-98619B256171}"/>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38CCD63B-698B-40CB-973A-640CF541EC46}"/>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8096931B-FCD6-45AF-B243-27BD7FE204A8}"/>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32A272B-D2FA-464A-ACF4-1E6AA7432B2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6F94255-8D9B-41D6-BF1C-9BAEE59C051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F5CF1D76-6E3D-4596-A754-EBC1583B53B5}"/>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B4D2245-70EA-4FFE-B03C-43E0DC462AA6}"/>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C97832F-A3C1-400C-B885-0A9BB9DCA6D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9B61DC3-DBC8-48E9-B0A5-CB965453379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6102DAB-DF21-438A-A915-2FEE5DD19E19}"/>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8A94578-054E-4155-B979-FCFDD2F7A23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094D692-9B87-4B51-B585-7A5A6EADFBA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2CFBD5C-68E9-451C-A15A-01FF7D05364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a031200a6ab4ff1" /><Relationship Type="http://schemas.openxmlformats.org/officeDocument/2006/relationships/slideLayout" Target="/ppt/slideLayouts/slideLayout1.xml" Id="R541ea1de19764a0e" /><Relationship Type="http://schemas.openxmlformats.org/officeDocument/2006/relationships/slideLayout" Target="/ppt/slideLayouts/slideLayout2.xml" Id="Raba0703d9356481c" /><Relationship Type="http://schemas.openxmlformats.org/officeDocument/2006/relationships/slideLayout" Target="/ppt/slideLayouts/slideLayout3.xml" Id="Rbd650f924d214c30" /><Relationship Type="http://schemas.openxmlformats.org/officeDocument/2006/relationships/slideLayout" Target="/ppt/slideLayouts/slideLayout4.xml" Id="R4480e1b3308a4f0b" /><Relationship Type="http://schemas.openxmlformats.org/officeDocument/2006/relationships/slideLayout" Target="/ppt/slideLayouts/slideLayout5.xml" Id="R4a2583fda7a04d63" /><Relationship Type="http://schemas.openxmlformats.org/officeDocument/2006/relationships/slideLayout" Target="/ppt/slideLayouts/slideLayout6.xml" Id="Rbe8fa732838542e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41ea1de19764a0e"/>
    <p:sldLayoutId xmlns:r="http://schemas.openxmlformats.org/officeDocument/2006/relationships" id="2147483650" r:id="Raba0703d9356481c"/>
    <p:sldLayoutId xmlns:r="http://schemas.openxmlformats.org/officeDocument/2006/relationships" id="2147483651" r:id="Rbd650f924d214c30"/>
    <p:sldLayoutId xmlns:r="http://schemas.openxmlformats.org/officeDocument/2006/relationships" id="2147483652" r:id="R4480e1b3308a4f0b"/>
    <p:sldLayoutId xmlns:r="http://schemas.openxmlformats.org/officeDocument/2006/relationships" id="2147483653" r:id="R4a2583fda7a04d63"/>
    <p:sldLayoutId xmlns:r="http://schemas.openxmlformats.org/officeDocument/2006/relationships" id="2147483654" r:id="Rbe8fa732838542e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6cabeda40c6435a" /><Relationship Type="http://schemas.openxmlformats.org/officeDocument/2006/relationships/image" Target="/ppt/media/image.png" Id="Rfbc30870ab03496b" /><Relationship Type="http://schemas.openxmlformats.org/officeDocument/2006/relationships/notesSlide" Target="/ppt/notesSlides/notesSlide1.xml" Id="R197e474eb6d1445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7e8d33a99cf4b7b" /><Relationship Type="http://schemas.openxmlformats.org/officeDocument/2006/relationships/notesSlide" Target="/ppt/notesSlides/notesSlide2.xml" Id="Re4950003771a4e2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3e5e10bd8384106" /><Relationship Type="http://schemas.openxmlformats.org/officeDocument/2006/relationships/notesSlide" Target="/ppt/notesSlides/notesSlide3.xml" Id="Rfd189e3b9a5a42b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c3c12b8887d4a65" /><Relationship Type="http://schemas.openxmlformats.org/officeDocument/2006/relationships/notesSlide" Target="/ppt/notesSlides/notesSlide4.xml" Id="Re1a57d24b3d0498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460a0b4412c4610" /><Relationship Type="http://schemas.openxmlformats.org/officeDocument/2006/relationships/notesSlide" Target="/ppt/notesSlides/notesSlide5.xml" Id="R4e2fe919402048a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66176f1eb1944f7" /><Relationship Type="http://schemas.openxmlformats.org/officeDocument/2006/relationships/notesSlide" Target="/ppt/notesSlides/notesSlide6.xml" Id="Re5a735fd20b14c2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be768f7730745a9" /><Relationship Type="http://schemas.openxmlformats.org/officeDocument/2006/relationships/notesSlide" Target="/ppt/notesSlides/notesSlide7.xml" Id="R334189f7dc6342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f6e7c4213494c11" /><Relationship Type="http://schemas.openxmlformats.org/officeDocument/2006/relationships/image" Target="/ppt/media/image2.png" Id="Rd9ab7def874d453a" /><Relationship Type="http://schemas.openxmlformats.org/officeDocument/2006/relationships/notesSlide" Target="/ppt/notesSlides/notesSlide8.xml" Id="R6489acc1583e4f4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7e67e94537f46ec" /><Relationship Type="http://schemas.openxmlformats.org/officeDocument/2006/relationships/notesSlide" Target="/ppt/notesSlides/notesSlide9.xml" Id="R042ea0aef94e47e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aaae6a33c2247af" /><Relationship Type="http://schemas.openxmlformats.org/officeDocument/2006/relationships/notesSlide" Target="/ppt/notesSlides/notesSlide10.xml" Id="Rd6306c32b7a84f6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b7e6da0e1f1468e" /><Relationship Type="http://schemas.openxmlformats.org/officeDocument/2006/relationships/notesSlide" Target="/ppt/notesSlides/notesSlide11.xml" Id="R3e9a0a5c3bbe496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35695044b8f434d" /><Relationship Type="http://schemas.openxmlformats.org/officeDocument/2006/relationships/notesSlide" Target="/ppt/notesSlides/notesSlide12.xml" Id="R14df048a306a441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4003ce4f595491f" /><Relationship Type="http://schemas.openxmlformats.org/officeDocument/2006/relationships/notesSlide" Target="/ppt/notesSlides/notesSlide13.xml" Id="R485d28d133a94d2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024dde5db4b45bc" /><Relationship Type="http://schemas.openxmlformats.org/officeDocument/2006/relationships/notesSlide" Target="/ppt/notesSlides/notesSlide14.xml" Id="R0ba09036e0824bc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d100fa8799b4fc0" /><Relationship Type="http://schemas.openxmlformats.org/officeDocument/2006/relationships/notesSlide" Target="/ppt/notesSlides/notesSlide15.xml" Id="R16ca47ee935b4d2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b2bfa1afc494315" /><Relationship Type="http://schemas.openxmlformats.org/officeDocument/2006/relationships/notesSlide" Target="/ppt/notesSlides/notesSlide16.xml" Id="Rb727a24d212748b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90fd2d0ceca4186" /><Relationship Type="http://schemas.openxmlformats.org/officeDocument/2006/relationships/notesSlide" Target="/ppt/notesSlides/notesSlide17.xml" Id="R7249919a78114d8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0319d4df6a8475e" /><Relationship Type="http://schemas.openxmlformats.org/officeDocument/2006/relationships/notesSlide" Target="/ppt/notesSlides/notesSlide18.xml" Id="R52b194df459541b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6ba4b9744d04fb0" /><Relationship Type="http://schemas.openxmlformats.org/officeDocument/2006/relationships/notesSlide" Target="/ppt/notesSlides/notesSlide19.xml" Id="R4e7c90b52754442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921e20c0bbe46d3" /><Relationship Type="http://schemas.openxmlformats.org/officeDocument/2006/relationships/notesSlide" Target="/ppt/notesSlides/notesSlide20.xml" Id="Rf04e5558a9354cd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726f2393bdf4685" /><Relationship Type="http://schemas.openxmlformats.org/officeDocument/2006/relationships/notesSlide" Target="/ppt/notesSlides/notesSlide21.xml" Id="R0cc73e8030104bd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fc9c5cf558c4895" /><Relationship Type="http://schemas.openxmlformats.org/officeDocument/2006/relationships/notesSlide" Target="/ppt/notesSlides/notesSlide22.xml" Id="R08c992468c374a1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bd29a69596948b1" /><Relationship Type="http://schemas.openxmlformats.org/officeDocument/2006/relationships/notesSlide" Target="/ppt/notesSlides/notesSlide23.xml" Id="R02cb2ea76058469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8b8a4d2c78946ca" /><Relationship Type="http://schemas.openxmlformats.org/officeDocument/2006/relationships/notesSlide" Target="/ppt/notesSlides/notesSlide24.xml" Id="R32f04fdfdebc4ed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be64d33cf344803" /><Relationship Type="http://schemas.openxmlformats.org/officeDocument/2006/relationships/notesSlide" Target="/ppt/notesSlides/notesSlide25.xml" Id="R47ddabcd19ae467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83e88bc76ee48df" /><Relationship Type="http://schemas.openxmlformats.org/officeDocument/2006/relationships/notesSlide" Target="/ppt/notesSlides/notesSlide26.xml" Id="R6bac4620c1e2402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9bf1a5c1ead4a1d" /><Relationship Type="http://schemas.openxmlformats.org/officeDocument/2006/relationships/notesSlide" Target="/ppt/notesSlides/notesSlide27.xml" Id="R4e521ac539984be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c7adcff443345db" /><Relationship Type="http://schemas.openxmlformats.org/officeDocument/2006/relationships/notesSlide" Target="/ppt/notesSlides/notesSlide28.xml" Id="R5997662e243d481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d019bb291ba24447" /><Relationship Type="http://schemas.openxmlformats.org/officeDocument/2006/relationships/notesSlide" Target="/ppt/notesSlides/notesSlide29.xml" Id="Rb63ee09dbdf445c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e63bfb904dfb4a3f" /><Relationship Type="http://schemas.openxmlformats.org/officeDocument/2006/relationships/hyperlink" Target="https://docs.google.com/forms/d/e/1FAIpQLSeQJ_LsZgtIRbakN-KW4e4dx5rru2iqg6HwaaKoAQbKW7bh8Q/viewform" TargetMode="External" Id="R2a9ad8ca800b4a2e" /><Relationship Type="http://schemas.openxmlformats.org/officeDocument/2006/relationships/notesSlide" Target="/ppt/notesSlides/notesSlide30.xml" Id="Reb01d4869d6f480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6ccd763d4204774" /><Relationship Type="http://schemas.openxmlformats.org/officeDocument/2006/relationships/notesSlide" Target="/ppt/notesSlides/notesSlide31.xml" Id="Rb20ea027ea16497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738b0cace194c07" /><Relationship Type="http://schemas.openxmlformats.org/officeDocument/2006/relationships/image" Target="/ppt/media/image3.png" Id="Rdac29825c0224408" /><Relationship Type="http://schemas.openxmlformats.org/officeDocument/2006/relationships/hyperlink" Target="https://forms.gle/32Y9ttL1XWaqbGMNA" TargetMode="External" Id="R68d6af7552014dc2" /><Relationship Type="http://schemas.openxmlformats.org/officeDocument/2006/relationships/notesSlide" Target="/ppt/notesSlides/notesSlide32.xml" Id="R00b2840db33a4bb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53a64506708428b" /><Relationship Type="http://schemas.openxmlformats.org/officeDocument/2006/relationships/notesSlide" Target="/ppt/notesSlides/notesSlide33.xml" Id="Rbf8984cfe34d4af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bc30870ab03496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FC02599-A609-4457-8275-8E8E1FFFEE51}"/>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1E87714-8B47-480C-BF94-A99C10A85777}"/>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11</a:t>
            </a:r>
          </a:p>
        </p:txBody>
      </p:sp>
      <p:sp>
        <p:nvSpPr>
          <p:cNvPr id="4" name="">
            <a:extLst xmlns:a="http://schemas.openxmlformats.org/drawingml/2006/main">
              <a:ext uri="{FF2B5EF4-FFF2-40B4-BE49-F238E27FC236}">
                <a16:creationId xmlns:a16="http://schemas.microsoft.com/office/drawing/2014/main" id="{1042D634-8545-4DDA-9113-6AB8E89A176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D8ACE1BF-6DAE-4883-B206-1F400B54B34E}"/>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B2684614-1637-49DB-9FC2-C28A6077D004}"/>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28828173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D877FC1-A364-4341-B41A-FC115D1D95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036EA2-16B7-4A39-8D3F-FE29F97BFD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8645420A-9AE9-4E22-B2EF-099374D3CB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E585D8B-7C74-427C-A9C8-426DB852885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46F050-1E47-49DB-AC25-E2C48118BE48}"/>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E5855E65-3E8F-402A-949C-1B7D92CCF759}"/>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Create a feature from available measurements.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models with one controlled change.</a:t>
            </a:r>
          </a:p>
        </p:txBody>
      </p:sp>
      <p:sp>
        <p:nvSpPr>
          <p:cNvPr id="7" name="">
            <a:extLst xmlns:a="http://schemas.openxmlformats.org/drawingml/2006/main">
              <a:ext uri="{FF2B5EF4-FFF2-40B4-BE49-F238E27FC236}">
                <a16:creationId xmlns:a16="http://schemas.microsoft.com/office/drawing/2014/main" id="{4C2FBB7F-3AA4-4734-8FCE-884447F81D57}"/>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0CD04C94-918F-45BA-87F9-013343DA1C5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state the new feature’s meaning and calculate an improvement correctly.</a:t>
            </a:r>
          </a:p>
        </p:txBody>
      </p:sp>
      <p:sp>
        <p:nvSpPr>
          <p:cNvPr id="9" name="">
            <a:extLst xmlns:a="http://schemas.openxmlformats.org/drawingml/2006/main">
              <a:ext uri="{FF2B5EF4-FFF2-40B4-BE49-F238E27FC236}">
                <a16:creationId xmlns:a16="http://schemas.microsoft.com/office/drawing/2014/main" id="{B9F3507F-BD5D-4E72-AAC9-00C6AEAF10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a:t>
            </a:r>
          </a:p>
        </p:txBody>
      </p:sp>
    </p:spTree>
    <p:extLst>
      <p:ext uri="{BB962C8B-B14F-4D97-AF65-F5344CB8AC3E}">
        <p14:creationId xmlns:p14="http://schemas.microsoft.com/office/powerpoint/2010/main" val="47429752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74EBD70-D319-40E1-A6C9-7005143F91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B984DC-FC96-45F5-BA84-CEACC9EFA0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BFE3A2-D25E-4654-B86C-20BA833525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289DE647-C859-42B7-A4A6-414C2FDFA89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BF8DDD-9CC7-4F67-9B83-F5ACEC67EB5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already keep evaluation data separate.</a:t>
            </a:r>
          </a:p>
        </p:txBody>
      </p:sp>
      <p:sp>
        <p:nvSpPr>
          <p:cNvPr id="6" name="">
            <a:extLst xmlns:a="http://schemas.openxmlformats.org/drawingml/2006/main">
              <a:ext uri="{FF2B5EF4-FFF2-40B4-BE49-F238E27FC236}">
                <a16:creationId xmlns:a16="http://schemas.microsoft.com/office/drawing/2014/main" id="{DC0BD6C9-F41F-40C4-9DA4-079498A3CFA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change one input representation while keeping the comparison protocol fixed.</a:t>
            </a:r>
          </a:p>
        </p:txBody>
      </p:sp>
      <p:sp>
        <p:nvSpPr>
          <p:cNvPr id="7" name="">
            <a:extLst xmlns:a="http://schemas.openxmlformats.org/drawingml/2006/main">
              <a:ext uri="{FF2B5EF4-FFF2-40B4-BE49-F238E27FC236}">
                <a16:creationId xmlns:a16="http://schemas.microsoft.com/office/drawing/2014/main" id="{90890FDC-3FD0-41F5-8ED6-E28D00F7E5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a:t>
            </a:r>
          </a:p>
        </p:txBody>
      </p:sp>
    </p:spTree>
    <p:extLst>
      <p:ext uri="{BB962C8B-B14F-4D97-AF65-F5344CB8AC3E}">
        <p14:creationId xmlns:p14="http://schemas.microsoft.com/office/powerpoint/2010/main" val="62560740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90566E-AB7A-4FDC-B686-2B38F97F63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01CB24-6B4A-4F43-B3B6-654C84ADC7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48D7F6-5722-4EF3-879C-29D92CA8EE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0B65D833-3CEE-4CAF-A19A-7149BF797BE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1E351B-70C3-45E9-9FEE-480EAF0EF18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calculated input may help a model.</a:t>
            </a:r>
          </a:p>
        </p:txBody>
      </p:sp>
      <p:sp>
        <p:nvSpPr>
          <p:cNvPr id="6" name="">
            <a:extLst xmlns:a="http://schemas.openxmlformats.org/drawingml/2006/main">
              <a:ext uri="{FF2B5EF4-FFF2-40B4-BE49-F238E27FC236}">
                <a16:creationId xmlns:a16="http://schemas.microsoft.com/office/drawing/2014/main" id="{6C7C375C-4F1E-43D3-B3EB-1E10819B1AB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compare the original and extended inputs on the same observations, then decide whether the evidence supports the extra feature.</a:t>
            </a:r>
          </a:p>
        </p:txBody>
      </p:sp>
      <p:sp>
        <p:nvSpPr>
          <p:cNvPr id="7" name="">
            <a:extLst xmlns:a="http://schemas.openxmlformats.org/drawingml/2006/main">
              <a:ext uri="{FF2B5EF4-FFF2-40B4-BE49-F238E27FC236}">
                <a16:creationId xmlns:a16="http://schemas.microsoft.com/office/drawing/2014/main" id="{878B9AC3-E8F8-4F78-ACCC-CA2347AEB6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4</a:t>
            </a:r>
          </a:p>
        </p:txBody>
      </p:sp>
    </p:spTree>
    <p:extLst>
      <p:ext uri="{BB962C8B-B14F-4D97-AF65-F5344CB8AC3E}">
        <p14:creationId xmlns:p14="http://schemas.microsoft.com/office/powerpoint/2010/main" val="142905698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886C317-8DDD-4BA8-B264-CD72B22502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68056B-7AD7-460F-B104-6637D528AF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E86970-753C-4FFC-BBEB-B331FF3615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feature has a meaning</a:t>
            </a:r>
          </a:p>
        </p:txBody>
      </p:sp>
      <p:sp>
        <p:nvSpPr>
          <p:cNvPr id="4" name="">
            <a:extLst xmlns:a="http://schemas.openxmlformats.org/drawingml/2006/main">
              <a:ext uri="{FF2B5EF4-FFF2-40B4-BE49-F238E27FC236}">
                <a16:creationId xmlns:a16="http://schemas.microsoft.com/office/drawing/2014/main" id="{71238CCB-D27C-4670-9F65-CA7BBAB683B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422E99-9463-4674-B0BF-BF76DC07C04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an input available at prediction time.</a:t>
            </a:r>
          </a:p>
        </p:txBody>
      </p:sp>
      <p:sp>
        <p:nvSpPr>
          <p:cNvPr id="6" name="">
            <a:extLst xmlns:a="http://schemas.openxmlformats.org/drawingml/2006/main">
              <a:ext uri="{FF2B5EF4-FFF2-40B4-BE49-F238E27FC236}">
                <a16:creationId xmlns:a16="http://schemas.microsoft.com/office/drawing/2014/main" id="{BD31D2CE-A2DE-4A6C-8B5A-E86D3BED3B8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7CE618-CF7E-4C1E-8D35-8C0848A1757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 to express a joint pattern.</a:t>
            </a:r>
          </a:p>
        </p:txBody>
      </p:sp>
      <p:sp>
        <p:nvSpPr>
          <p:cNvPr id="8" name="">
            <a:extLst xmlns:a="http://schemas.openxmlformats.org/drawingml/2006/main">
              <a:ext uri="{FF2B5EF4-FFF2-40B4-BE49-F238E27FC236}">
                <a16:creationId xmlns:a16="http://schemas.microsoft.com/office/drawing/2014/main" id="{CED4F6FE-E492-4D30-9900-A092185C8C3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1E2106F-66FE-4B96-B22B-65D767785FC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better validation score can still reflect leakage.</a:t>
            </a:r>
          </a:p>
        </p:txBody>
      </p:sp>
      <p:sp>
        <p:nvSpPr>
          <p:cNvPr id="10" name="">
            <a:extLst xmlns:a="http://schemas.openxmlformats.org/drawingml/2006/main">
              <a:ext uri="{FF2B5EF4-FFF2-40B4-BE49-F238E27FC236}">
                <a16:creationId xmlns:a16="http://schemas.microsoft.com/office/drawing/2014/main" id="{A98CD20A-174D-4066-A346-652032AD900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48E9BB0-43F4-4247-B946-E5574E49EAA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observations and explain the physical meaning.</a:t>
            </a:r>
          </a:p>
        </p:txBody>
      </p:sp>
      <p:sp>
        <p:nvSpPr>
          <p:cNvPr id="12" name="">
            <a:extLst xmlns:a="http://schemas.openxmlformats.org/drawingml/2006/main">
              <a:ext uri="{FF2B5EF4-FFF2-40B4-BE49-F238E27FC236}">
                <a16:creationId xmlns:a16="http://schemas.microsoft.com/office/drawing/2014/main" id="{03E714D6-20DF-4B38-AE4D-C71332AE62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5</a:t>
            </a:r>
          </a:p>
        </p:txBody>
      </p:sp>
    </p:spTree>
    <p:extLst>
      <p:ext uri="{BB962C8B-B14F-4D97-AF65-F5344CB8AC3E}">
        <p14:creationId xmlns:p14="http://schemas.microsoft.com/office/powerpoint/2010/main" val="119165758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8675953-E2ED-4B79-93AB-D19DE8888F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6159C0-6AF8-4012-8DD6-F844A31F8B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E131289-52DC-4C85-87AF-DB0D82C751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Derived feature and Ratio and interaction</a:t>
            </a:r>
          </a:p>
        </p:txBody>
      </p:sp>
      <p:sp>
        <p:nvSpPr>
          <p:cNvPr id="4" name="">
            <a:extLst xmlns:a="http://schemas.openxmlformats.org/drawingml/2006/main">
              <a:ext uri="{FF2B5EF4-FFF2-40B4-BE49-F238E27FC236}">
                <a16:creationId xmlns:a16="http://schemas.microsoft.com/office/drawing/2014/main" id="{BE512BAA-6A4E-4060-A2E1-1BF0F901BCE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82F63A-0EB0-47E7-8882-033FB06D4B7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Derived feature</a:t>
            </a:r>
          </a:p>
        </p:txBody>
      </p:sp>
      <p:sp>
        <p:nvSpPr>
          <p:cNvPr id="6" name="">
            <a:extLst xmlns:a="http://schemas.openxmlformats.org/drawingml/2006/main">
              <a:ext uri="{FF2B5EF4-FFF2-40B4-BE49-F238E27FC236}">
                <a16:creationId xmlns:a16="http://schemas.microsoft.com/office/drawing/2014/main" id="{C055B217-E5D1-4782-8AA6-D77CA152CAD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new input calculated from existing inputs. Its definition and unit must be stated.</a:t>
            </a:r>
          </a:p>
        </p:txBody>
      </p:sp>
      <p:sp>
        <p:nvSpPr>
          <p:cNvPr id="7" name="">
            <a:extLst xmlns:a="http://schemas.openxmlformats.org/drawingml/2006/main">
              <a:ext uri="{FF2B5EF4-FFF2-40B4-BE49-F238E27FC236}">
                <a16:creationId xmlns:a16="http://schemas.microsoft.com/office/drawing/2014/main" id="{4BBC0AC0-355C-4307-B7C4-011605636E7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0F84768-453C-4225-B3E6-8D7C974E7CE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Ratio and interaction</a:t>
            </a:r>
          </a:p>
        </p:txBody>
      </p:sp>
      <p:sp>
        <p:nvSpPr>
          <p:cNvPr id="9" name="">
            <a:extLst xmlns:a="http://schemas.openxmlformats.org/drawingml/2006/main">
              <a:ext uri="{FF2B5EF4-FFF2-40B4-BE49-F238E27FC236}">
                <a16:creationId xmlns:a16="http://schemas.microsoft.com/office/drawing/2014/main" id="{45549EDD-FA6A-4B55-B2B6-0FD4974C9E1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ratio divides quantities; an interaction multiplies them. Both need a domain explanation and a unit check.</a:t>
            </a:r>
          </a:p>
        </p:txBody>
      </p:sp>
      <p:sp>
        <p:nvSpPr>
          <p:cNvPr id="10" name="">
            <a:extLst xmlns:a="http://schemas.openxmlformats.org/drawingml/2006/main">
              <a:ext uri="{FF2B5EF4-FFF2-40B4-BE49-F238E27FC236}">
                <a16:creationId xmlns:a16="http://schemas.microsoft.com/office/drawing/2014/main" id="{BF21C466-083F-483C-A849-36C575E7A7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6</a:t>
            </a:r>
          </a:p>
        </p:txBody>
      </p:sp>
    </p:spTree>
    <p:extLst>
      <p:ext uri="{BB962C8B-B14F-4D97-AF65-F5344CB8AC3E}">
        <p14:creationId xmlns:p14="http://schemas.microsoft.com/office/powerpoint/2010/main" val="81618131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69912C5-9219-48B6-99A4-14CEE3EC8E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10C0E6-9A9C-4158-89F9-8ADA27E6A2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D43BFC6-8758-477C-9D0A-890D64077C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physical example across programmes</a:t>
            </a:r>
          </a:p>
        </p:txBody>
      </p:sp>
      <p:sp>
        <p:nvSpPr>
          <p:cNvPr id="4" name="">
            <a:extLst xmlns:a="http://schemas.openxmlformats.org/drawingml/2006/main">
              <a:ext uri="{FF2B5EF4-FFF2-40B4-BE49-F238E27FC236}">
                <a16:creationId xmlns:a16="http://schemas.microsoft.com/office/drawing/2014/main" id="{1AD6BEBD-3890-405D-BA90-04D37601E7E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76F80FD-EAAA-4F08-8B0B-A4511E06569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Current I is the flow of electric charge, measured in amperes (A). Resistance R opposes that flow, measured in ohms.</a:t>
            </a:r>
          </a:p>
        </p:txBody>
      </p:sp>
      <p:sp>
        <p:nvSpPr>
          <p:cNvPr id="6" name="">
            <a:extLst xmlns:a="http://schemas.openxmlformats.org/drawingml/2006/main">
              <a:ext uri="{FF2B5EF4-FFF2-40B4-BE49-F238E27FC236}">
                <a16:creationId xmlns:a16="http://schemas.microsoft.com/office/drawing/2014/main" id="{A52F4D20-44EB-4C91-B31A-C5C40A28DA8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F667128-DC00-4A6E-8C5D-2188A5B8E86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P is energy transferred per second, measured in watts (W). Resistive heating follows P = I²R in this example.</a:t>
            </a:r>
          </a:p>
        </p:txBody>
      </p:sp>
      <p:sp>
        <p:nvSpPr>
          <p:cNvPr id="8" name="">
            <a:extLst xmlns:a="http://schemas.openxmlformats.org/drawingml/2006/main">
              <a:ext uri="{FF2B5EF4-FFF2-40B4-BE49-F238E27FC236}">
                <a16:creationId xmlns:a16="http://schemas.microsoft.com/office/drawing/2014/main" id="{830A1275-EAAD-4D29-A51C-A31E972F15B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324970D-51AB-4152-934D-538E9E89136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I² means I × I. With I = 2 A and R = 3 ohms, P = 2 × 2 × 3 = 12 W. This relationship motivates a feature; evaluation still tests whether it helps.</a:t>
            </a:r>
          </a:p>
        </p:txBody>
      </p:sp>
      <p:sp>
        <p:nvSpPr>
          <p:cNvPr id="10" name="">
            <a:extLst xmlns:a="http://schemas.openxmlformats.org/drawingml/2006/main">
              <a:ext uri="{FF2B5EF4-FFF2-40B4-BE49-F238E27FC236}">
                <a16:creationId xmlns:a16="http://schemas.microsoft.com/office/drawing/2014/main" id="{BCA6CB61-4E19-46F4-90A5-99FB086458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7</a:t>
            </a:r>
          </a:p>
        </p:txBody>
      </p:sp>
    </p:spTree>
    <p:extLst>
      <p:ext uri="{BB962C8B-B14F-4D97-AF65-F5344CB8AC3E}">
        <p14:creationId xmlns:p14="http://schemas.microsoft.com/office/powerpoint/2010/main" val="41279791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FD731E1-C8C7-4B47-932F-4838AA3EFD6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F50746-395C-42A8-9F80-CC155820D1EC}"/>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9ab7def874d453a"/>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FB26275-FFB5-4C88-A4D0-5155F834DC5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A61155-90FF-4207-86F4-F4CE2C9E1CD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and the unit of the result.</a:t>
            </a:r>
          </a:p>
        </p:txBody>
      </p:sp>
      <p:sp>
        <p:nvSpPr>
          <p:cNvPr id="6" name="">
            <a:extLst xmlns:a="http://schemas.openxmlformats.org/drawingml/2006/main">
              <a:ext uri="{FF2B5EF4-FFF2-40B4-BE49-F238E27FC236}">
                <a16:creationId xmlns:a16="http://schemas.microsoft.com/office/drawing/2014/main" id="{66B73FD8-66C1-42FB-A46B-CEFE7790FB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8</a:t>
            </a:r>
          </a:p>
        </p:txBody>
      </p:sp>
    </p:spTree>
    <p:extLst>
      <p:ext uri="{BB962C8B-B14F-4D97-AF65-F5344CB8AC3E}">
        <p14:creationId xmlns:p14="http://schemas.microsoft.com/office/powerpoint/2010/main" val="162278670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E0E16F2-3F44-471D-8F94-12B9B5AB98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00DF18-788B-4655-B735-EA4C093763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251A3A3-F309-45DE-B3D2-12543BBC17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interaction uses two known inputs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Current A</a:t>
                      </a:r>
                    </a:p>
                  </a:txBody>
                  <a:tcPr marL="91440" marR="91440" marT="45720" marB="45720">
                    <a:solidFill>
                      <a:srgbClr val="2E7D6F"/>
                    </a:solidFill>
                  </a:tcPr>
                </a:tc>
                <a:tc>
                  <a:txBody>
                    <a:bodyPr/>
                    <a:lstStyle/>
                    <a:p>
                      <a:r>
                        <a:rPr sz="2025" b="1">
                          <a:solidFill>
                            <a:srgbClr val="FFFFFF"/>
                          </a:solidFill>
                          <a:latin typeface="Calibri"/>
                          <a:ea typeface="Calibri"/>
                          <a:cs typeface="Calibri"/>
                        </a:rPr>
                        <a:t>Resistance ohm</a:t>
                      </a:r>
                    </a:p>
                  </a:txBody>
                  <a:tcPr marL="91440" marR="91440" marT="45720" marB="45720">
                    <a:solidFill>
                      <a:srgbClr val="2E7D6F"/>
                    </a:solidFill>
                  </a:tcPr>
                </a:tc>
                <a:tc>
                  <a:txBody>
                    <a:bodyPr/>
                    <a:lstStyle/>
                    <a:p>
                      <a:r>
                        <a:rPr sz="2025" b="1">
                          <a:solidFill>
                            <a:srgbClr val="FFFFFF"/>
                          </a:solidFill>
                          <a:latin typeface="Calibri"/>
                          <a:ea typeface="Calibri"/>
                          <a:cs typeface="Calibri"/>
                        </a:rPr>
                        <a:t>I squared × R W</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48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5D57B41-8805-4059-A576-2EA7DD362866}"/>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derived input must be available when predicting. A useful physical relationship still needs validation.</a:t>
            </a:r>
          </a:p>
        </p:txBody>
      </p:sp>
      <p:sp>
        <p:nvSpPr>
          <p:cNvPr id="6" name="">
            <a:extLst xmlns:a="http://schemas.openxmlformats.org/drawingml/2006/main">
              <a:ext uri="{FF2B5EF4-FFF2-40B4-BE49-F238E27FC236}">
                <a16:creationId xmlns:a16="http://schemas.microsoft.com/office/drawing/2014/main" id="{27C3F04F-03A7-412E-8108-9D554CF8C6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9</a:t>
            </a:r>
          </a:p>
        </p:txBody>
      </p:sp>
    </p:spTree>
    <p:extLst>
      <p:ext uri="{BB962C8B-B14F-4D97-AF65-F5344CB8AC3E}">
        <p14:creationId xmlns:p14="http://schemas.microsoft.com/office/powerpoint/2010/main" val="92162089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2EF70A-4444-4FBE-9D6E-88836C56D2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D774F8-3288-459E-82B4-B34222BD07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940E6F0-2F01-4A3D-8A77-48EA233F9A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percentage and its fraction</a:t>
            </a:r>
          </a:p>
        </p:txBody>
      </p:sp>
      <p:sp>
        <p:nvSpPr>
          <p:cNvPr id="4" name="">
            <a:extLst xmlns:a="http://schemas.openxmlformats.org/drawingml/2006/main">
              <a:ext uri="{FF2B5EF4-FFF2-40B4-BE49-F238E27FC236}">
                <a16:creationId xmlns:a16="http://schemas.microsoft.com/office/drawing/2014/main" id="{E8AD26FC-95FB-436E-A417-DE71845CDB3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F90AB7-0ED4-49B3-9D0D-89A45E2911C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means 40 out of 100.</a:t>
            </a:r>
          </a:p>
        </p:txBody>
      </p:sp>
      <p:sp>
        <p:nvSpPr>
          <p:cNvPr id="6" name="">
            <a:extLst xmlns:a="http://schemas.openxmlformats.org/drawingml/2006/main">
              <a:ext uri="{FF2B5EF4-FFF2-40B4-BE49-F238E27FC236}">
                <a16:creationId xmlns:a16="http://schemas.microsoft.com/office/drawing/2014/main" id="{EE0E3285-5DCA-45FD-B985-62DA3740A0B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59A2FB-E7DE-40B2-9266-D0E0A82B1E7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 100 gives 0.4.</a:t>
            </a:r>
          </a:p>
        </p:txBody>
      </p:sp>
      <p:sp>
        <p:nvSpPr>
          <p:cNvPr id="8" name="">
            <a:extLst xmlns:a="http://schemas.openxmlformats.org/drawingml/2006/main">
              <a:ext uri="{FF2B5EF4-FFF2-40B4-BE49-F238E27FC236}">
                <a16:creationId xmlns:a16="http://schemas.microsoft.com/office/drawing/2014/main" id="{72291B3F-F349-4122-9093-DAD9A9E4986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D141F8F-0692-495F-B3BD-B330D828CA5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changes the representation. It adds no new observation.</a:t>
            </a:r>
          </a:p>
        </p:txBody>
      </p:sp>
      <p:sp>
        <p:nvSpPr>
          <p:cNvPr id="10" name="">
            <a:extLst xmlns:a="http://schemas.openxmlformats.org/drawingml/2006/main">
              <a:ext uri="{FF2B5EF4-FFF2-40B4-BE49-F238E27FC236}">
                <a16:creationId xmlns:a16="http://schemas.microsoft.com/office/drawing/2014/main" id="{B926F266-7571-4DB5-A909-EE58723DB5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10</a:t>
            </a:r>
          </a:p>
        </p:txBody>
      </p:sp>
    </p:spTree>
    <p:extLst>
      <p:ext uri="{BB962C8B-B14F-4D97-AF65-F5344CB8AC3E}">
        <p14:creationId xmlns:p14="http://schemas.microsoft.com/office/powerpoint/2010/main" val="175532479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E151C9-4916-4C1E-842E-AB85AD0F05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0D2970-28B3-47E1-8C5A-E4B9AB9C35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835ACBF-5D3F-439C-A46A-6F32A45A8E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combined input needs a reason</a:t>
            </a:r>
          </a:p>
        </p:txBody>
      </p:sp>
      <p:sp>
        <p:nvSpPr>
          <p:cNvPr id="4" name="">
            <a:extLst xmlns:a="http://schemas.openxmlformats.org/drawingml/2006/main">
              <a:ext uri="{FF2B5EF4-FFF2-40B4-BE49-F238E27FC236}">
                <a16:creationId xmlns:a16="http://schemas.microsoft.com/office/drawing/2014/main" id="{6851144E-CB63-43A8-BA49-9618729183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38D6F8-029F-449E-B19E-BC59A8063F5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a:t>
            </a:r>
          </a:p>
        </p:txBody>
      </p:sp>
      <p:sp>
        <p:nvSpPr>
          <p:cNvPr id="6" name="">
            <a:extLst xmlns:a="http://schemas.openxmlformats.org/drawingml/2006/main">
              <a:ext uri="{FF2B5EF4-FFF2-40B4-BE49-F238E27FC236}">
                <a16:creationId xmlns:a16="http://schemas.microsoft.com/office/drawing/2014/main" id="{8D1006C5-010B-4D38-A40D-6FF997C1537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7039DC4-7B96-4309-BC71-CB08456DA83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may help a simple model represent a joint pattern.</a:t>
            </a:r>
          </a:p>
        </p:txBody>
      </p:sp>
      <p:sp>
        <p:nvSpPr>
          <p:cNvPr id="8" name="">
            <a:extLst xmlns:a="http://schemas.openxmlformats.org/drawingml/2006/main">
              <a:ext uri="{FF2B5EF4-FFF2-40B4-BE49-F238E27FC236}">
                <a16:creationId xmlns:a16="http://schemas.microsoft.com/office/drawing/2014/main" id="{898C355B-3305-4FFD-89A6-A71495C9781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5BDD68B-E99F-43ED-AB88-A9E4F5599E3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with degrees Celsius is an empirical feature, not automatically a physical law.</a:t>
            </a:r>
          </a:p>
        </p:txBody>
      </p:sp>
      <p:sp>
        <p:nvSpPr>
          <p:cNvPr id="10" name="">
            <a:extLst xmlns:a="http://schemas.openxmlformats.org/drawingml/2006/main">
              <a:ext uri="{FF2B5EF4-FFF2-40B4-BE49-F238E27FC236}">
                <a16:creationId xmlns:a16="http://schemas.microsoft.com/office/drawing/2014/main" id="{8FB3D10B-3D30-45D1-8D71-C54F3BF7B3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11</a:t>
            </a:r>
          </a:p>
        </p:txBody>
      </p:sp>
    </p:spTree>
    <p:extLst>
      <p:ext uri="{BB962C8B-B14F-4D97-AF65-F5344CB8AC3E}">
        <p14:creationId xmlns:p14="http://schemas.microsoft.com/office/powerpoint/2010/main" val="119619204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014153-E7F0-417E-BCE4-9278546748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6CAA16-F600-495D-AEDE-A6DFCE08E1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62C3A23-423C-4C3C-8CEA-C0318F051D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Ablation and Improvement</a:t>
            </a:r>
          </a:p>
        </p:txBody>
      </p:sp>
      <p:sp>
        <p:nvSpPr>
          <p:cNvPr id="4" name="">
            <a:extLst xmlns:a="http://schemas.openxmlformats.org/drawingml/2006/main">
              <a:ext uri="{FF2B5EF4-FFF2-40B4-BE49-F238E27FC236}">
                <a16:creationId xmlns:a16="http://schemas.microsoft.com/office/drawing/2014/main" id="{107DD7F8-EE22-4DE0-BC34-109C811E73E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1A804D-4E84-4AF2-81DA-AED92F94508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Ablation</a:t>
            </a:r>
          </a:p>
        </p:txBody>
      </p:sp>
      <p:sp>
        <p:nvSpPr>
          <p:cNvPr id="6" name="">
            <a:extLst xmlns:a="http://schemas.openxmlformats.org/drawingml/2006/main">
              <a:ext uri="{FF2B5EF4-FFF2-40B4-BE49-F238E27FC236}">
                <a16:creationId xmlns:a16="http://schemas.microsoft.com/office/drawing/2014/main" id="{B9F6603B-6AF1-4330-9486-1D592FDF03C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Compare a model with and without a feature while keeping the data partitions, model family and metric fixed.</a:t>
            </a:r>
          </a:p>
        </p:txBody>
      </p:sp>
      <p:sp>
        <p:nvSpPr>
          <p:cNvPr id="7" name="">
            <a:extLst xmlns:a="http://schemas.openxmlformats.org/drawingml/2006/main">
              <a:ext uri="{FF2B5EF4-FFF2-40B4-BE49-F238E27FC236}">
                <a16:creationId xmlns:a16="http://schemas.microsoft.com/office/drawing/2014/main" id="{92C39A85-0F4E-461E-86D5-421409BE6A1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1E60F39-3BD0-4A26-B238-716C234CBD5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Improvement</a:t>
            </a:r>
          </a:p>
        </p:txBody>
      </p:sp>
      <p:sp>
        <p:nvSpPr>
          <p:cNvPr id="9" name="">
            <a:extLst xmlns:a="http://schemas.openxmlformats.org/drawingml/2006/main">
              <a:ext uri="{FF2B5EF4-FFF2-40B4-BE49-F238E27FC236}">
                <a16:creationId xmlns:a16="http://schemas.microsoft.com/office/drawing/2014/main" id="{5830EFB5-2ED5-4393-9B3B-B876FA3FF89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an error metric, baseline error minus new error. A negative result means the added feature worsened validation error in that comparison.</a:t>
            </a:r>
          </a:p>
        </p:txBody>
      </p:sp>
      <p:sp>
        <p:nvSpPr>
          <p:cNvPr id="10" name="">
            <a:extLst xmlns:a="http://schemas.openxmlformats.org/drawingml/2006/main">
              <a:ext uri="{FF2B5EF4-FFF2-40B4-BE49-F238E27FC236}">
                <a16:creationId xmlns:a16="http://schemas.microsoft.com/office/drawing/2014/main" id="{80785C57-DF93-470B-89F1-D1C4ECB45F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12</a:t>
            </a:r>
          </a:p>
        </p:txBody>
      </p:sp>
    </p:spTree>
    <p:extLst>
      <p:ext uri="{BB962C8B-B14F-4D97-AF65-F5344CB8AC3E}">
        <p14:creationId xmlns:p14="http://schemas.microsoft.com/office/powerpoint/2010/main" val="93122257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35DE6E-973A-4869-AB45-EC9302C1B9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9C828D-577B-4774-82C5-1A308B5413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1F2FCCC-3D5F-4C33-ADAD-0EE3BCDF22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change makes a comparison interpretable</a:t>
            </a:r>
          </a:p>
        </p:txBody>
      </p:sp>
      <p:sp>
        <p:nvSpPr>
          <p:cNvPr id="4" name="">
            <a:extLst xmlns:a="http://schemas.openxmlformats.org/drawingml/2006/main">
              <a:ext uri="{FF2B5EF4-FFF2-40B4-BE49-F238E27FC236}">
                <a16:creationId xmlns:a16="http://schemas.microsoft.com/office/drawing/2014/main" id="{B7E512FD-8CB4-4C6B-ABAF-E005A3D2F97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397D508-B32F-492E-9DBC-994B20ED36D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is 3.0. Extended MAE is 2.5.</a:t>
            </a:r>
          </a:p>
        </p:txBody>
      </p:sp>
      <p:sp>
        <p:nvSpPr>
          <p:cNvPr id="6" name="">
            <a:extLst xmlns:a="http://schemas.openxmlformats.org/drawingml/2006/main">
              <a:ext uri="{FF2B5EF4-FFF2-40B4-BE49-F238E27FC236}">
                <a16:creationId xmlns:a16="http://schemas.microsoft.com/office/drawing/2014/main" id="{CB391AF0-09E1-4CA9-A9A5-EA3409D234A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03F9E74-C155-407B-B34C-243A496F7C0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Improvement = base error minus extended error = 0.5.</a:t>
            </a:r>
          </a:p>
        </p:txBody>
      </p:sp>
      <p:sp>
        <p:nvSpPr>
          <p:cNvPr id="8" name="">
            <a:extLst xmlns:a="http://schemas.openxmlformats.org/drawingml/2006/main">
              <a:ext uri="{FF2B5EF4-FFF2-40B4-BE49-F238E27FC236}">
                <a16:creationId xmlns:a16="http://schemas.microsoft.com/office/drawing/2014/main" id="{6ED91EB3-FFAB-4CA2-A4F3-B130B02C405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47D24C-81EF-4901-A4A0-FFBAEC93331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training rows, validation rows, model family and metric fixed.</a:t>
            </a:r>
          </a:p>
        </p:txBody>
      </p:sp>
      <p:sp>
        <p:nvSpPr>
          <p:cNvPr id="10" name="">
            <a:extLst xmlns:a="http://schemas.openxmlformats.org/drawingml/2006/main">
              <a:ext uri="{FF2B5EF4-FFF2-40B4-BE49-F238E27FC236}">
                <a16:creationId xmlns:a16="http://schemas.microsoft.com/office/drawing/2014/main" id="{BFD476CE-92EF-40FA-97BB-967EFC759B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13</a:t>
            </a:r>
          </a:p>
        </p:txBody>
      </p:sp>
    </p:spTree>
    <p:extLst>
      <p:ext uri="{BB962C8B-B14F-4D97-AF65-F5344CB8AC3E}">
        <p14:creationId xmlns:p14="http://schemas.microsoft.com/office/powerpoint/2010/main" val="18143256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884C2F-0DD2-4414-813A-1AC8FC45CA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8D7743-8290-4E11-807B-D43BE1D12D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1D02294-A50B-47D2-96E6-1AD6BFC3D5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 comparisons in Python</a:t>
            </a:r>
          </a:p>
        </p:txBody>
      </p:sp>
      <p:sp>
        <p:nvSpPr>
          <p:cNvPr id="4" name="">
            <a:extLst xmlns:a="http://schemas.openxmlformats.org/drawingml/2006/main">
              <a:ext uri="{FF2B5EF4-FFF2-40B4-BE49-F238E27FC236}">
                <a16:creationId xmlns:a16="http://schemas.microsoft.com/office/drawing/2014/main" id="{8B103EC1-B366-4322-B369-DD87982B7D5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B9286B-C9CD-4783-8B51-E670944FCD6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load_pct = 40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ambient_c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load_fraction = load_pct /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interaction = load_pct * ambient_c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print(load_fraction, interaction)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base_mae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extended_mae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print(base_mae - extended_mae)</a:t>
            </a:r>
          </a:p>
        </p:txBody>
      </p:sp>
      <p:sp>
        <p:nvSpPr>
          <p:cNvPr id="6" name="">
            <a:extLst xmlns:a="http://schemas.openxmlformats.org/drawingml/2006/main">
              <a:ext uri="{FF2B5EF4-FFF2-40B4-BE49-F238E27FC236}">
                <a16:creationId xmlns:a16="http://schemas.microsoft.com/office/drawing/2014/main" id="{20C3D79C-244B-4A25-924B-5712145E429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12A370E-17FA-4376-9B16-E772E1BA1EF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8B8BE883-B930-4CE5-BAD6-8E4B230DF0B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BF164F03-7524-4710-B806-E6D8BBE5B92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D61FD2EE-98DE-4DCA-BFDC-93539A8004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14</a:t>
            </a:r>
          </a:p>
        </p:txBody>
      </p:sp>
    </p:spTree>
    <p:extLst>
      <p:ext uri="{BB962C8B-B14F-4D97-AF65-F5344CB8AC3E}">
        <p14:creationId xmlns:p14="http://schemas.microsoft.com/office/powerpoint/2010/main" val="159239008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FEBFFF-A05A-458C-92E7-AFB64585A3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A70635-8638-483A-BFA3-97ABE8367A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37A8076F-4C64-485B-800C-3158F58089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 comparisons results</a:t>
            </a:r>
          </a:p>
        </p:txBody>
      </p:sp>
      <p:sp>
        <p:nvSpPr>
          <p:cNvPr id="4" name="">
            <a:extLst xmlns:a="http://schemas.openxmlformats.org/drawingml/2006/main">
              <a:ext uri="{FF2B5EF4-FFF2-40B4-BE49-F238E27FC236}">
                <a16:creationId xmlns:a16="http://schemas.microsoft.com/office/drawing/2014/main" id="{40248BFB-035E-4EF1-8FA0-37600578D037}"/>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7D6AAA-643A-4DC1-BA2F-5989AE80346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0.4 1000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0.5</a:t>
            </a:r>
          </a:p>
        </p:txBody>
      </p:sp>
      <p:sp>
        <p:nvSpPr>
          <p:cNvPr id="6" name="">
            <a:extLst xmlns:a="http://schemas.openxmlformats.org/drawingml/2006/main">
              <a:ext uri="{FF2B5EF4-FFF2-40B4-BE49-F238E27FC236}">
                <a16:creationId xmlns:a16="http://schemas.microsoft.com/office/drawing/2014/main" id="{B9E02C84-DAF6-4F34-8EFC-C9AF15C6C092}"/>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BFD9ACAE-ACD5-47A1-A46F-A7C5BE78BB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15</a:t>
            </a:r>
          </a:p>
        </p:txBody>
      </p:sp>
    </p:spTree>
    <p:extLst>
      <p:ext uri="{BB962C8B-B14F-4D97-AF65-F5344CB8AC3E}">
        <p14:creationId xmlns:p14="http://schemas.microsoft.com/office/powerpoint/2010/main" val="125521030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0C5303-765E-4BA1-BDEE-DA6C57C5BB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5DB861-BC18-47E9-B9DA-285C0E8CB9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70D17A-444E-411E-8C90-D8C966D732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two-model experiment</a:t>
            </a:r>
          </a:p>
        </p:txBody>
      </p:sp>
      <p:sp>
        <p:nvSpPr>
          <p:cNvPr id="4" name="">
            <a:extLst xmlns:a="http://schemas.openxmlformats.org/drawingml/2006/main">
              <a:ext uri="{FF2B5EF4-FFF2-40B4-BE49-F238E27FC236}">
                <a16:creationId xmlns:a16="http://schemas.microsoft.com/office/drawing/2014/main" id="{9E424004-6A17-4DD5-83A8-BB68840DBD2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934E17B-0E21-4BE0-B6CA-3EA4C4CFCBC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a pair of inputs. for a, b in rows assigns the first entry to a and the second to b, then repeats the block.</a:t>
            </a:r>
          </a:p>
        </p:txBody>
      </p:sp>
      <p:sp>
        <p:nvSpPr>
          <p:cNvPr id="6" name="">
            <a:extLst xmlns:a="http://schemas.openxmlformats.org/drawingml/2006/main">
              <a:ext uri="{FF2B5EF4-FFF2-40B4-BE49-F238E27FC236}">
                <a16:creationId xmlns:a16="http://schemas.microsoft.com/office/drawing/2014/main" id="{8F98B5EA-3DA0-433C-86C3-D3434BD2F6B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EA4363-4734-4BE1-A9AC-CF8474EF2E6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with_interaction returns a new table containing a, b and a × b. Both models keep the same training and validation rows.</a:t>
            </a:r>
          </a:p>
        </p:txBody>
      </p:sp>
      <p:sp>
        <p:nvSpPr>
          <p:cNvPr id="8" name="">
            <a:extLst xmlns:a="http://schemas.openxmlformats.org/drawingml/2006/main">
              <a:ext uri="{FF2B5EF4-FFF2-40B4-BE49-F238E27FC236}">
                <a16:creationId xmlns:a16="http://schemas.microsoft.com/office/drawing/2014/main" id="{EC2FDFE9-41F0-4D4C-BE66-D49C8ECFF12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B18D7E-85A9-425E-8A77-FDD2436822F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returns the fitted model object, so creating and fitting can appear in one expression. round(value, 6) rounds a displayed number to six decimal places.</a:t>
            </a:r>
          </a:p>
        </p:txBody>
      </p:sp>
      <p:sp>
        <p:nvSpPr>
          <p:cNvPr id="10" name="">
            <a:extLst xmlns:a="http://schemas.openxmlformats.org/drawingml/2006/main">
              <a:ext uri="{FF2B5EF4-FFF2-40B4-BE49-F238E27FC236}">
                <a16:creationId xmlns:a16="http://schemas.microsoft.com/office/drawing/2014/main" id="{5C2704C3-5B74-44CD-8727-C0FEFFA0F6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16</a:t>
            </a:r>
          </a:p>
        </p:txBody>
      </p:sp>
    </p:spTree>
    <p:extLst>
      <p:ext uri="{BB962C8B-B14F-4D97-AF65-F5344CB8AC3E}">
        <p14:creationId xmlns:p14="http://schemas.microsoft.com/office/powerpoint/2010/main" val="203050031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AC75390-6700-475A-9EBB-41936A951B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0D24A9-B0EB-4024-8583-110893C253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4BDB33-8AD5-4A0A-B1EC-7DAB262C8E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a:t>
            </a:r>
          </a:p>
        </p:txBody>
      </p:sp>
      <p:sp>
        <p:nvSpPr>
          <p:cNvPr id="4" name="">
            <a:extLst xmlns:a="http://schemas.openxmlformats.org/drawingml/2006/main">
              <a:ext uri="{FF2B5EF4-FFF2-40B4-BE49-F238E27FC236}">
                <a16:creationId xmlns:a16="http://schemas.microsoft.com/office/drawing/2014/main" id="{729AA58B-ABA1-4945-98D2-DB984695CD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58D7F9-B4D8-4837-A21B-2983FE142B1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this complete practice experiment in a fresh session.</a:t>
            </a:r>
          </a:p>
        </p:txBody>
      </p:sp>
      <p:sp>
        <p:nvSpPr>
          <p:cNvPr id="6" name="">
            <a:extLst xmlns:a="http://schemas.openxmlformats.org/drawingml/2006/main">
              <a:ext uri="{FF2B5EF4-FFF2-40B4-BE49-F238E27FC236}">
                <a16:creationId xmlns:a16="http://schemas.microsoft.com/office/drawing/2014/main" id="{7DC07231-4DFB-4C22-BE61-F7E3AB41DAD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1F5C2DB-F915-4B40-85CC-6C9C2AA54E0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models use the same rows and targets; the second receives one additional input.</a:t>
            </a:r>
          </a:p>
        </p:txBody>
      </p:sp>
      <p:sp>
        <p:nvSpPr>
          <p:cNvPr id="8" name="">
            <a:extLst xmlns:a="http://schemas.openxmlformats.org/drawingml/2006/main">
              <a:ext uri="{FF2B5EF4-FFF2-40B4-BE49-F238E27FC236}">
                <a16:creationId xmlns:a16="http://schemas.microsoft.com/office/drawing/2014/main" id="{9E5C8117-80B2-4B0E-A2A9-0FEF1227DCC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8A597F-7388-46DC-9ABE-0593A320585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column before fitting.</a:t>
            </a:r>
          </a:p>
        </p:txBody>
      </p:sp>
      <p:sp>
        <p:nvSpPr>
          <p:cNvPr id="10" name="">
            <a:extLst xmlns:a="http://schemas.openxmlformats.org/drawingml/2006/main">
              <a:ext uri="{FF2B5EF4-FFF2-40B4-BE49-F238E27FC236}">
                <a16:creationId xmlns:a16="http://schemas.microsoft.com/office/drawing/2014/main" id="{954E0B68-1B81-4835-BDD1-7EA521F93F2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AF4FF48-5A42-4E5C-84D6-61AA54754B1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invented experiment illustrates procedure, not a measured engineering benefit.</a:t>
            </a:r>
          </a:p>
        </p:txBody>
      </p:sp>
      <p:sp>
        <p:nvSpPr>
          <p:cNvPr id="12" name="">
            <a:extLst xmlns:a="http://schemas.openxmlformats.org/drawingml/2006/main">
              <a:ext uri="{FF2B5EF4-FFF2-40B4-BE49-F238E27FC236}">
                <a16:creationId xmlns:a16="http://schemas.microsoft.com/office/drawing/2014/main" id="{A4A2D5ED-AF38-4EA9-967E-2329DF5EAF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17</a:t>
            </a:r>
          </a:p>
        </p:txBody>
      </p:sp>
    </p:spTree>
    <p:extLst>
      <p:ext uri="{BB962C8B-B14F-4D97-AF65-F5344CB8AC3E}">
        <p14:creationId xmlns:p14="http://schemas.microsoft.com/office/powerpoint/2010/main" val="185825272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9123633-60F3-4F98-8083-6B3BA3E075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0AC30B-9123-4685-821E-F1F9EDECA1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FB5B73B-96BC-4489-91A1-298708633E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(1/3)</a:t>
            </a:r>
          </a:p>
        </p:txBody>
      </p:sp>
      <p:sp>
        <p:nvSpPr>
          <p:cNvPr id="4" name="">
            <a:extLst xmlns:a="http://schemas.openxmlformats.org/drawingml/2006/main">
              <a:ext uri="{FF2B5EF4-FFF2-40B4-BE49-F238E27FC236}">
                <a16:creationId xmlns:a16="http://schemas.microsoft.com/office/drawing/2014/main" id="{BFFB8C7A-B894-4D23-938D-C88E254F59A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CD6E1A-6F48-49C1-A699-FBC9CE18E90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sklearn.metrics import mean_absolute_error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 = [[1, 2], [2, 3], [3, 2], [4, 4], [5,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[3, 5, 5, 8,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validation = [[2, 2], [3,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truth = [4, 6]</a:t>
            </a:r>
          </a:p>
        </p:txBody>
      </p:sp>
      <p:sp>
        <p:nvSpPr>
          <p:cNvPr id="6" name="">
            <a:extLst xmlns:a="http://schemas.openxmlformats.org/drawingml/2006/main">
              <a:ext uri="{FF2B5EF4-FFF2-40B4-BE49-F238E27FC236}">
                <a16:creationId xmlns:a16="http://schemas.microsoft.com/office/drawing/2014/main" id="{C4A6E1E8-D735-49F9-ACF9-A4AB3D81BE3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1C3A6192-F829-4D41-89CC-D175FD4FA7F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2F7EFD78-B596-40B2-A229-B49ADA43A0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18</a:t>
            </a:r>
          </a:p>
        </p:txBody>
      </p:sp>
    </p:spTree>
    <p:extLst>
      <p:ext uri="{BB962C8B-B14F-4D97-AF65-F5344CB8AC3E}">
        <p14:creationId xmlns:p14="http://schemas.microsoft.com/office/powerpoint/2010/main" val="151921551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56BA820-EC38-4C61-AF04-882067216B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8DFFE7-BA1D-4387-A27E-22CEBE6DD5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E1FB774-8626-473C-B197-12D9E4810E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(2/3)</a:t>
            </a:r>
          </a:p>
        </p:txBody>
      </p:sp>
      <p:sp>
        <p:nvSpPr>
          <p:cNvPr id="4" name="">
            <a:extLst xmlns:a="http://schemas.openxmlformats.org/drawingml/2006/main">
              <a:ext uri="{FF2B5EF4-FFF2-40B4-BE49-F238E27FC236}">
                <a16:creationId xmlns:a16="http://schemas.microsoft.com/office/drawing/2014/main" id="{0AC97F51-EDE0-4894-A25C-A59138632A0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FFA354-DDC8-484D-A373-B5F41D5D74F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FB080"/>
                </a:solidFill>
                <a:latin typeface="Courier New"/>
                <a:ea typeface="Courier New"/>
                <a:cs typeface="Courier New"/>
              </a:rPr>
              <a:t>def</a:t>
            </a:r>
            <a:r>
              <a:rPr sz="2102" b="0">
                <a:solidFill>
                  <a:srgbClr val="F4F7FA"/>
                </a:solidFill>
                <a:latin typeface="Courier New"/>
                <a:ea typeface="Courier New"/>
                <a:cs typeface="Courier New"/>
              </a:rPr>
              <a:t> with_interaction(rows):</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result = []</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a:t>
            </a:r>
            <a:r>
              <a:rPr sz="2102" b="0">
                <a:solidFill>
                  <a:srgbClr val="FFB080"/>
                </a:solidFill>
                <a:latin typeface="Courier New"/>
                <a:ea typeface="Courier New"/>
                <a:cs typeface="Courier New"/>
              </a:rPr>
              <a:t>for</a:t>
            </a:r>
            <a:r>
              <a:rPr sz="2102" b="0">
                <a:solidFill>
                  <a:srgbClr val="F4F7FA"/>
                </a:solidFill>
                <a:latin typeface="Courier New"/>
                <a:ea typeface="Courier New"/>
                <a:cs typeface="Courier New"/>
              </a:rPr>
              <a:t> a, b in rows:</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result.append([a, b, a * b])</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a:t>
            </a:r>
            <a:r>
              <a:rPr sz="2102" b="0">
                <a:solidFill>
                  <a:srgbClr val="FFB080"/>
                </a:solidFill>
                <a:latin typeface="Courier New"/>
                <a:ea typeface="Courier New"/>
                <a:cs typeface="Courier New"/>
              </a:rPr>
              <a:t>return</a:t>
            </a:r>
            <a:r>
              <a:rPr sz="2102" b="0">
                <a:solidFill>
                  <a:srgbClr val="F4F7FA"/>
                </a:solidFill>
                <a:latin typeface="Courier New"/>
                <a:ea typeface="Courier New"/>
                <a:cs typeface="Courier New"/>
              </a:rPr>
              <a:t> result</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 = LinearRegression().fit(train, y)</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extended = LinearRegression().fit(with_interaction(train), y)</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base_predictions = base.predict(validation)</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base_error = mean_absolute_error(truth, base_predictions)</a:t>
            </a:r>
          </a:p>
        </p:txBody>
      </p:sp>
      <p:sp>
        <p:nvSpPr>
          <p:cNvPr id="6" name="">
            <a:extLst xmlns:a="http://schemas.openxmlformats.org/drawingml/2006/main">
              <a:ext uri="{FF2B5EF4-FFF2-40B4-BE49-F238E27FC236}">
                <a16:creationId xmlns:a16="http://schemas.microsoft.com/office/drawing/2014/main" id="{6B1FBD35-0637-4C54-929B-9591EAF8EB7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375B1059-D8B8-476E-A9A8-5C88965A330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CBC0ADCF-ED9A-4665-9C0F-6B195F168B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19</a:t>
            </a:r>
          </a:p>
        </p:txBody>
      </p:sp>
    </p:spTree>
    <p:extLst>
      <p:ext uri="{BB962C8B-B14F-4D97-AF65-F5344CB8AC3E}">
        <p14:creationId xmlns:p14="http://schemas.microsoft.com/office/powerpoint/2010/main" val="185799134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EE20084-6645-49B3-AA98-DC98D2B093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AB719D-1D8A-4524-AC2F-7637D7AEFE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473D7D9-E09E-4D5E-AD7B-1A04CBD20B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(3/3)</a:t>
            </a:r>
          </a:p>
        </p:txBody>
      </p:sp>
      <p:sp>
        <p:nvSpPr>
          <p:cNvPr id="4" name="">
            <a:extLst xmlns:a="http://schemas.openxmlformats.org/drawingml/2006/main">
              <a:ext uri="{FF2B5EF4-FFF2-40B4-BE49-F238E27FC236}">
                <a16:creationId xmlns:a16="http://schemas.microsoft.com/office/drawing/2014/main" id="{D85CAC5C-EEC2-4988-B91D-3F3A6D9B9ED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ED67F0-D299-4C2C-BE5D-F30779E3AD7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print(round(base_error, 6))</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validation_features = with_interaction(validation)</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extended_predictions = extended.predict(validation_features)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error = mean_absolute_error(truth, extended_predictions)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print(round(error, 6))</a:t>
            </a:r>
          </a:p>
        </p:txBody>
      </p:sp>
      <p:sp>
        <p:nvSpPr>
          <p:cNvPr id="6" name="">
            <a:extLst xmlns:a="http://schemas.openxmlformats.org/drawingml/2006/main">
              <a:ext uri="{FF2B5EF4-FFF2-40B4-BE49-F238E27FC236}">
                <a16:creationId xmlns:a16="http://schemas.microsoft.com/office/drawing/2014/main" id="{EC4F7B70-0AAB-45E1-AEC3-E38DCEE6285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D06AA3A0-F987-4E9F-B634-1D9092C2915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DEBBE32A-F1BE-41D3-A89D-D96E571325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20</a:t>
            </a:r>
          </a:p>
        </p:txBody>
      </p:sp>
    </p:spTree>
    <p:extLst>
      <p:ext uri="{BB962C8B-B14F-4D97-AF65-F5344CB8AC3E}">
        <p14:creationId xmlns:p14="http://schemas.microsoft.com/office/powerpoint/2010/main" val="209746651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57B602-EDC0-4EF9-A285-CACE29FD3F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5B60E5-005A-4F85-9A8E-25E1DD2F2E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9A52B7E-6FF8-4117-8539-C3D95FA40D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Encoding and Scaling</a:t>
            </a:r>
          </a:p>
        </p:txBody>
      </p:sp>
      <p:sp>
        <p:nvSpPr>
          <p:cNvPr id="4" name="">
            <a:extLst xmlns:a="http://schemas.openxmlformats.org/drawingml/2006/main">
              <a:ext uri="{FF2B5EF4-FFF2-40B4-BE49-F238E27FC236}">
                <a16:creationId xmlns:a16="http://schemas.microsoft.com/office/drawing/2014/main" id="{8DE48AC4-C691-4634-8DA6-8E9984992E4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4F1053-4389-45F6-B497-F061C68114C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Encoding</a:t>
            </a:r>
          </a:p>
        </p:txBody>
      </p:sp>
      <p:sp>
        <p:nvSpPr>
          <p:cNvPr id="6" name="">
            <a:extLst xmlns:a="http://schemas.openxmlformats.org/drawingml/2006/main">
              <a:ext uri="{FF2B5EF4-FFF2-40B4-BE49-F238E27FC236}">
                <a16:creationId xmlns:a16="http://schemas.microsoft.com/office/drawing/2014/main" id="{4FFCC72C-5973-4EAF-9020-9FCEEAE7D87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Representing a category numerically. One-hot uses separate indicator columns. Arbitrary integer labels can falsely suggest an order.</a:t>
            </a:r>
          </a:p>
        </p:txBody>
      </p:sp>
      <p:sp>
        <p:nvSpPr>
          <p:cNvPr id="7" name="">
            <a:extLst xmlns:a="http://schemas.openxmlformats.org/drawingml/2006/main">
              <a:ext uri="{FF2B5EF4-FFF2-40B4-BE49-F238E27FC236}">
                <a16:creationId xmlns:a16="http://schemas.microsoft.com/office/drawing/2014/main" id="{DAFB46F7-675D-49BA-B25E-49012D6EA49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FDC9A22-4767-4CDC-AC96-386F82D6BD6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Scaling</a:t>
            </a:r>
          </a:p>
        </p:txBody>
      </p:sp>
      <p:sp>
        <p:nvSpPr>
          <p:cNvPr id="9" name="">
            <a:extLst xmlns:a="http://schemas.openxmlformats.org/drawingml/2006/main">
              <a:ext uri="{FF2B5EF4-FFF2-40B4-BE49-F238E27FC236}">
                <a16:creationId xmlns:a16="http://schemas.microsoft.com/office/drawing/2014/main" id="{1949BF21-6ABB-41D8-B125-F1890079A1F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Changing the numerical scale of features. Fit learned scaling on training data only. It matters for distance-based models but is not required by ordinary decision trees.</a:t>
            </a:r>
          </a:p>
        </p:txBody>
      </p:sp>
      <p:sp>
        <p:nvSpPr>
          <p:cNvPr id="10" name="">
            <a:extLst xmlns:a="http://schemas.openxmlformats.org/drawingml/2006/main">
              <a:ext uri="{FF2B5EF4-FFF2-40B4-BE49-F238E27FC236}">
                <a16:creationId xmlns:a16="http://schemas.microsoft.com/office/drawing/2014/main" id="{B04ACB9F-299F-4AD1-B66B-5C60F611E7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21</a:t>
            </a:r>
          </a:p>
        </p:txBody>
      </p:sp>
    </p:spTree>
    <p:extLst>
      <p:ext uri="{BB962C8B-B14F-4D97-AF65-F5344CB8AC3E}">
        <p14:creationId xmlns:p14="http://schemas.microsoft.com/office/powerpoint/2010/main" val="45337499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9AB5EE-0FAF-4471-8307-615439F507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6A6DCD-9C63-4F67-AC64-DF2BA555EB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06F3D69-4665-4BED-941F-158EDB75AD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571D023C-1D9A-453E-8C3C-CBB60F08003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F80B1D-6A7B-4264-ACC7-44928FF2730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C92EB9F-37BB-412C-A155-53A03B9BC43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If the extended error becomes 3.4, calculate improvement and decide whether this evidence supports retaining the feature.</a:t>
            </a:r>
          </a:p>
        </p:txBody>
      </p:sp>
      <p:sp>
        <p:nvSpPr>
          <p:cNvPr id="7" name="">
            <a:extLst xmlns:a="http://schemas.openxmlformats.org/drawingml/2006/main">
              <a:ext uri="{FF2B5EF4-FFF2-40B4-BE49-F238E27FC236}">
                <a16:creationId xmlns:a16="http://schemas.microsoft.com/office/drawing/2014/main" id="{B23DD7A2-F99E-4675-9CBD-5FB5FDB3C94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Improvement is -0.4. This validation comparison does not support retaining it. One split is limited evidence; the final test remains untouched.</a:t>
            </a:r>
          </a:p>
        </p:txBody>
      </p:sp>
      <p:sp>
        <p:nvSpPr>
          <p:cNvPr id="8" name="">
            <a:extLst xmlns:a="http://schemas.openxmlformats.org/drawingml/2006/main">
              <a:ext uri="{FF2B5EF4-FFF2-40B4-BE49-F238E27FC236}">
                <a16:creationId xmlns:a16="http://schemas.microsoft.com/office/drawing/2014/main" id="{5BA5FBC4-C9F8-4746-979E-97D51BCD54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22</a:t>
            </a:r>
          </a:p>
        </p:txBody>
      </p:sp>
    </p:spTree>
    <p:extLst>
      <p:ext uri="{BB962C8B-B14F-4D97-AF65-F5344CB8AC3E}">
        <p14:creationId xmlns:p14="http://schemas.microsoft.com/office/powerpoint/2010/main" val="179333122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EC5CC39-E7A7-44B9-A7FE-2F5C9BEDEE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3DBF8F-AE36-49B0-8098-AA5B30A458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0D083F1-2BD2-4245-B028-8A5C7DB58A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A371EC68-ADBD-44B6-8966-2EB1F75D37C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E9E3734-DA72-4801-B8FF-8B973964F10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W11 names four output features and a two-model ablation.</a:t>
            </a:r>
          </a:p>
        </p:txBody>
      </p:sp>
      <p:sp>
        <p:nvSpPr>
          <p:cNvPr id="6" name="">
            <a:extLst xmlns:a="http://schemas.openxmlformats.org/drawingml/2006/main">
              <a:ext uri="{FF2B5EF4-FFF2-40B4-BE49-F238E27FC236}">
                <a16:creationId xmlns:a16="http://schemas.microsoft.com/office/drawing/2014/main" id="{008F11BD-739E-455E-B195-F786DA8EBC3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AAFE1EF-F2CC-4395-8965-3B3DC095B9A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output order, preservation of input rows, full precision and training-only fitting.</a:t>
            </a:r>
          </a:p>
        </p:txBody>
      </p:sp>
      <p:sp>
        <p:nvSpPr>
          <p:cNvPr id="8" name="">
            <a:extLst xmlns:a="http://schemas.openxmlformats.org/drawingml/2006/main">
              <a:ext uri="{FF2B5EF4-FFF2-40B4-BE49-F238E27FC236}">
                <a16:creationId xmlns:a16="http://schemas.microsoft.com/office/drawing/2014/main" id="{1440868C-8FCB-49A2-878C-C8AB25E31B2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79E5A45-EF8B-40C4-A194-B8932FB0262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supplied written scenario for the interpretation requested there.</a:t>
            </a:r>
          </a:p>
        </p:txBody>
      </p:sp>
      <p:sp>
        <p:nvSpPr>
          <p:cNvPr id="10" name="">
            <a:extLst xmlns:a="http://schemas.openxmlformats.org/drawingml/2006/main">
              <a:ext uri="{FF2B5EF4-FFF2-40B4-BE49-F238E27FC236}">
                <a16:creationId xmlns:a16="http://schemas.microsoft.com/office/drawing/2014/main" id="{744DEF91-74B8-4D2E-9B4D-FE149654F73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24F267E-2344-4532-8B74-EAE42057193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substitute this practice example’s result.</a:t>
            </a:r>
          </a:p>
        </p:txBody>
      </p:sp>
      <p:sp>
        <p:nvSpPr>
          <p:cNvPr id="12" name="">
            <a:extLst xmlns:a="http://schemas.openxmlformats.org/drawingml/2006/main">
              <a:ext uri="{FF2B5EF4-FFF2-40B4-BE49-F238E27FC236}">
                <a16:creationId xmlns:a16="http://schemas.microsoft.com/office/drawing/2014/main" id="{FF5B7E42-7C65-4FD0-BD1F-503555E132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23</a:t>
            </a:r>
          </a:p>
        </p:txBody>
      </p:sp>
    </p:spTree>
    <p:extLst>
      <p:ext uri="{BB962C8B-B14F-4D97-AF65-F5344CB8AC3E}">
        <p14:creationId xmlns:p14="http://schemas.microsoft.com/office/powerpoint/2010/main" val="176683371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2375E4-673A-4A22-9B8E-1D27A10A71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5B0FBF-140D-4E58-9534-FC6AFDF2AA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DBB99A-D5A1-48B5-80B3-72AB120F9C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a:t>
            </a:r>
          </a:p>
        </p:txBody>
      </p:sp>
      <p:sp>
        <p:nvSpPr>
          <p:cNvPr id="4" name="">
            <a:extLst xmlns:a="http://schemas.openxmlformats.org/drawingml/2006/main">
              <a:ext uri="{FF2B5EF4-FFF2-40B4-BE49-F238E27FC236}">
                <a16:creationId xmlns:a16="http://schemas.microsoft.com/office/drawing/2014/main" id="{974E3D81-482B-4CFB-BB4C-5BFB5E227E9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2528FFD-68AC-4A36-90D0-23AB5D2007A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Rescaling an input usually does not change the partitions available to an ordinary decision tree.</a:t>
            </a:r>
          </a:p>
        </p:txBody>
      </p:sp>
      <p:sp>
        <p:nvSpPr>
          <p:cNvPr id="6" name="">
            <a:extLst xmlns:a="http://schemas.openxmlformats.org/drawingml/2006/main">
              <a:ext uri="{FF2B5EF4-FFF2-40B4-BE49-F238E27FC236}">
                <a16:creationId xmlns:a16="http://schemas.microsoft.com/office/drawing/2014/main" id="{C9BC3CCD-916E-4ED6-85A8-469A421D7FB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95B60B-8FC6-41AC-A3BB-2171FFF4B19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identifier or a future-known field can create an apparent improvement without useful predictive information.</a:t>
            </a:r>
          </a:p>
        </p:txBody>
      </p:sp>
      <p:sp>
        <p:nvSpPr>
          <p:cNvPr id="8" name="">
            <a:extLst xmlns:a="http://schemas.openxmlformats.org/drawingml/2006/main">
              <a:ext uri="{FF2B5EF4-FFF2-40B4-BE49-F238E27FC236}">
                <a16:creationId xmlns:a16="http://schemas.microsoft.com/office/drawing/2014/main" id="{913C5A63-6AF9-4F45-AE10-42202C455DC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08C42A2-7B78-4FE1-86F4-66497AC890D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Dividing by zero can produce infinity or an error; decide what the denominator means before replacing it.</a:t>
            </a:r>
          </a:p>
        </p:txBody>
      </p:sp>
      <p:sp>
        <p:nvSpPr>
          <p:cNvPr id="10" name="">
            <a:extLst xmlns:a="http://schemas.openxmlformats.org/drawingml/2006/main">
              <a:ext uri="{FF2B5EF4-FFF2-40B4-BE49-F238E27FC236}">
                <a16:creationId xmlns:a16="http://schemas.microsoft.com/office/drawing/2014/main" id="{E4336EC5-59CD-4D3F-84E0-E3A2E92071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24</a:t>
            </a:r>
          </a:p>
        </p:txBody>
      </p:sp>
    </p:spTree>
    <p:extLst>
      <p:ext uri="{BB962C8B-B14F-4D97-AF65-F5344CB8AC3E}">
        <p14:creationId xmlns:p14="http://schemas.microsoft.com/office/powerpoint/2010/main" val="145924727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6597DC-B3A1-4FDB-89C9-D078545A44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968493-9840-4ECC-A6C4-C34FEE6106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222BFB0-0084-4CCF-B15A-121DD024A3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 continued</a:t>
            </a:r>
          </a:p>
        </p:txBody>
      </p:sp>
      <p:sp>
        <p:nvSpPr>
          <p:cNvPr id="4" name="">
            <a:extLst xmlns:a="http://schemas.openxmlformats.org/drawingml/2006/main">
              <a:ext uri="{FF2B5EF4-FFF2-40B4-BE49-F238E27FC236}">
                <a16:creationId xmlns:a16="http://schemas.microsoft.com/office/drawing/2014/main" id="{A9FA2657-E476-4D88-B2AF-249E682A840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60E563-CEE2-483A-9668-9E06EA182175}"/>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ablation differences using the same error definition, and explain features using domain knowledge.</a:t>
            </a:r>
          </a:p>
        </p:txBody>
      </p:sp>
      <p:sp>
        <p:nvSpPr>
          <p:cNvPr id="6" name="">
            <a:extLst xmlns:a="http://schemas.openxmlformats.org/drawingml/2006/main">
              <a:ext uri="{FF2B5EF4-FFF2-40B4-BE49-F238E27FC236}">
                <a16:creationId xmlns:a16="http://schemas.microsoft.com/office/drawing/2014/main" id="{C4FB5561-14C6-45C1-82F1-D6872440CE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25</a:t>
            </a:r>
          </a:p>
        </p:txBody>
      </p:sp>
    </p:spTree>
    <p:extLst>
      <p:ext uri="{BB962C8B-B14F-4D97-AF65-F5344CB8AC3E}">
        <p14:creationId xmlns:p14="http://schemas.microsoft.com/office/powerpoint/2010/main" val="120615396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787301E-66A9-45CC-8C57-ACEC498B86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7D8CEA-340D-4A17-9D97-F2C560F481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3BE4661-120C-4D0B-9AD3-D78F83109C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48989D44-2593-4A7E-BD07-6134A56879C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FA8ACA6-DC86-41F8-A50F-B6862E615F0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40586430-C493-46FC-A514-9608B9FF982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203795-274C-4AF0-87DB-33BE827A40D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DD5B4C64-16A4-4DB8-928E-A0A8160AF34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EB729B3-FC49-455F-BC2F-F70DA79BECC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C0682332-B943-4DB4-832B-95CE75FF3A1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8159473-D582-48FF-9CDE-94214B9624D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AF1D1599-C3CF-4647-BFB6-D081F609B1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26</a:t>
            </a:r>
          </a:p>
        </p:txBody>
      </p:sp>
    </p:spTree>
    <p:extLst>
      <p:ext uri="{BB962C8B-B14F-4D97-AF65-F5344CB8AC3E}">
        <p14:creationId xmlns:p14="http://schemas.microsoft.com/office/powerpoint/2010/main" val="90014548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7BBA571-5286-467A-8DAB-FC03D51AEE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18EEA8-93BD-4C9C-BB2C-451783C8BC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18DDF60-0CBE-44D3-837E-816944A12B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818F1BBD-D501-42DA-95F1-6C6DC1CDF48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477F55-959A-4975-B69F-B0F97E12C89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9D3F818D-B8CA-4235-91B3-D0A3112F5C2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B171535-2EA7-421B-BCF7-B874EA8B26B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BE1826C-AE6E-4914-82C7-4082D60D7B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27</a:t>
            </a:r>
          </a:p>
        </p:txBody>
      </p:sp>
    </p:spTree>
    <p:extLst>
      <p:ext uri="{BB962C8B-B14F-4D97-AF65-F5344CB8AC3E}">
        <p14:creationId xmlns:p14="http://schemas.microsoft.com/office/powerpoint/2010/main" val="42169237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D433EC-6088-4BAB-B9D2-701838A850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9C73A5-6F2A-4FE9-8FA2-14E5ED2177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6D22608-7A1D-48B4-A23A-8D7F70C26A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A3A3A01A-6541-41A0-98DD-77299DBB699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948770-9F6E-4B7C-A981-080E780CF36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3BB27FE2-CB61-4E0C-92CC-96555138F9B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081C794-E34B-4A14-A910-14BEC84E0E9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EE45A62-7328-4319-8CDD-25BEAB8A10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28</a:t>
            </a:r>
          </a:p>
        </p:txBody>
      </p:sp>
    </p:spTree>
    <p:extLst>
      <p:ext uri="{BB962C8B-B14F-4D97-AF65-F5344CB8AC3E}">
        <p14:creationId xmlns:p14="http://schemas.microsoft.com/office/powerpoint/2010/main" val="213394858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1B66C74-8241-4BD4-9999-5237678FAA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A9B0C9-2A8B-4EAE-9508-5AC40DB37E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EE92D5F-1BDA-47F9-AC8D-D9E10C6951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02BF220C-F4FB-486B-87C4-F0E37ABA23F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612BDFB-CF94-46BA-A3D6-D21EBE4C42F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BB2E3C5F-B888-4606-9DDA-1452EA5AE3E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34AD7C-F9C1-4180-B75C-1394329A9BF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B9CF8C32-0671-437E-B49E-22921B2D309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CA3BF3-12DD-40A3-B54B-0CE73BFDB59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E031B859-1040-4A55-B9FA-FFB6495E37C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E166DBB-E57B-4311-BE96-20EEFDB3A94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CF31F5F4-B3A0-4D4F-922C-1259683647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29</a:t>
            </a:r>
          </a:p>
        </p:txBody>
      </p:sp>
    </p:spTree>
    <p:extLst>
      <p:ext uri="{BB962C8B-B14F-4D97-AF65-F5344CB8AC3E}">
        <p14:creationId xmlns:p14="http://schemas.microsoft.com/office/powerpoint/2010/main" val="80759082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7ED5059-6E79-4493-961B-35CB2E64FE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6B30FD-42FF-4258-BED0-76670C5AA5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EC78398-18B1-4A0B-A9D2-E1EFB24FA7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and ablation submission</a:t>
            </a:r>
          </a:p>
        </p:txBody>
      </p:sp>
      <p:sp>
        <p:nvSpPr>
          <p:cNvPr id="4" name="">
            <a:extLst xmlns:a="http://schemas.openxmlformats.org/drawingml/2006/main">
              <a:ext uri="{FF2B5EF4-FFF2-40B4-BE49-F238E27FC236}">
                <a16:creationId xmlns:a16="http://schemas.microsoft.com/office/drawing/2014/main" id="{F65C05FB-7632-4F1C-A168-A251B1EB3EE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0F08DE4-1ECC-47DB-9641-C9D89B4AC04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20 Nov 2026, 11:00 Kampala</a:t>
            </a:r>
          </a:p>
        </p:txBody>
      </p:sp>
      <p:sp>
        <p:nvSpPr>
          <p:cNvPr id="6" name="">
            <a:extLst xmlns:a="http://schemas.openxmlformats.org/drawingml/2006/main">
              <a:ext uri="{FF2B5EF4-FFF2-40B4-BE49-F238E27FC236}">
                <a16:creationId xmlns:a16="http://schemas.microsoft.com/office/drawing/2014/main" id="{EC308CD6-1CC4-4971-8D88-C4C9F77DFAE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46E4CB-A26E-4ADC-8DB6-9259045BFC3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11:00 Kampala</a:t>
            </a:r>
          </a:p>
        </p:txBody>
      </p:sp>
      <p:sp>
        <p:nvSpPr>
          <p:cNvPr id="8" name="">
            <a:extLst xmlns:a="http://schemas.openxmlformats.org/drawingml/2006/main">
              <a:ext uri="{FF2B5EF4-FFF2-40B4-BE49-F238E27FC236}">
                <a16:creationId xmlns:a16="http://schemas.microsoft.com/office/drawing/2014/main" id="{E0F45ED0-8A6E-45A3-963D-8DB06C3AAE8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994D49F-9EA3-49A2-8561-5F612D44435B}"/>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91C25EAF-5828-4D5E-AAEC-5A28CABF72A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87D9CC1-4CD6-4F16-99B6-7778FDAC27D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4BCCE06-4904-45C7-93BB-578F9241D6C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182BB54-14A0-4900-B94C-323EAB51D3F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a9ad8ca800b4a2e"/>
              </a:rPr>
              <a:t>Open W11 assignment form</a:t>
            </a:r>
          </a:p>
        </p:txBody>
      </p:sp>
      <p:sp>
        <p:nvSpPr>
          <p:cNvPr id="14" name="">
            <a:extLst xmlns:a="http://schemas.openxmlformats.org/drawingml/2006/main">
              <a:ext uri="{FF2B5EF4-FFF2-40B4-BE49-F238E27FC236}">
                <a16:creationId xmlns:a16="http://schemas.microsoft.com/office/drawing/2014/main" id="{B9C17253-48F6-40B1-B644-D8301E950EF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https://docs.google.com/forms/d/e/1FAIpQLSeQJ_LsZgtIRbakN-KW4e4dx5rru2iqg6HwaaKoAQbKW7bh8Q/viewform</a:t>
            </a:r>
          </a:p>
        </p:txBody>
      </p:sp>
      <p:sp>
        <p:nvSpPr>
          <p:cNvPr id="15" name="">
            <a:extLst xmlns:a="http://schemas.openxmlformats.org/drawingml/2006/main">
              <a:ext uri="{FF2B5EF4-FFF2-40B4-BE49-F238E27FC236}">
                <a16:creationId xmlns:a16="http://schemas.microsoft.com/office/drawing/2014/main" id="{BF66F017-667B-440A-9B7F-C460B8C321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30</a:t>
            </a:r>
          </a:p>
        </p:txBody>
      </p:sp>
    </p:spTree>
    <p:extLst>
      <p:ext uri="{BB962C8B-B14F-4D97-AF65-F5344CB8AC3E}">
        <p14:creationId xmlns:p14="http://schemas.microsoft.com/office/powerpoint/2010/main" val="82690150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8C3B96D-764F-474D-906B-4A5CEB9969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F47130-6DE7-4505-AE0E-BB9AC30BFB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30D700E-92ED-49B5-B36D-19AD1C842D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9C3C1DCC-827C-4905-98F2-6C50B52C6C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BEF3BC-576C-4131-A473-D370AB07EAB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1899D30D-6836-46DA-B4EE-6D9CC776BE0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A6C2045-4488-4D3E-AF19-4A231FB545E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1EE1930E-D101-427C-87D8-1AB32E8294A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78AA2E5-C591-4866-849D-FC3D54E0B23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1409AA8A-768A-4A88-B7EF-F23BB73AC49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9F09B68-4F53-4B07-8120-AFCD909FC9D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D67656E0-BE5D-4673-B08C-3D09081085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31</a:t>
            </a:r>
          </a:p>
        </p:txBody>
      </p:sp>
    </p:spTree>
    <p:extLst>
      <p:ext uri="{BB962C8B-B14F-4D97-AF65-F5344CB8AC3E}">
        <p14:creationId xmlns:p14="http://schemas.microsoft.com/office/powerpoint/2010/main" val="203917535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3BC29B9-726B-4109-A66C-09F8FBE4C9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662110-9FB5-4744-8086-6A813DEE40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CBCA5F6-B7FA-48B9-94A3-225EC99D00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11 quiz</a:t>
            </a:r>
          </a:p>
        </p:txBody>
      </p:sp>
      <p:sp>
        <p:nvSpPr>
          <p:cNvPr id="4" name="">
            <a:extLst xmlns:a="http://schemas.openxmlformats.org/drawingml/2006/main">
              <a:ext uri="{FF2B5EF4-FFF2-40B4-BE49-F238E27FC236}">
                <a16:creationId xmlns:a16="http://schemas.microsoft.com/office/drawing/2014/main" id="{1F826C8D-7DF3-4DC5-A4B0-DFFEAE936BC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5ED31A-A81F-4221-B86B-109ED362B83A}"/>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2554A69D-DDAB-4E5F-8020-7DC0B94779F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A432342-BC5C-43DD-9875-DE5060DF6217}"/>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2DC9240A-5DBB-4C75-9F9A-63B606212EC8}"/>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4EF921C-C8DB-4981-A3E9-899D612406E3}"/>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3716D36B-9247-4BAE-8943-7006FD96D56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06EC1FD-6BC8-49BE-915B-C134E2746DEB}"/>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dac29825c0224408"/>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B76FCBC9-7D8D-4448-B2DE-72D0887E1CBE}"/>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F39DA61A-CFCD-4F24-ABCB-413B6D0C65F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419CF95-E7D3-4456-9A90-74F3841A260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8d6af7552014dc2"/>
              </a:rPr>
              <a:t>Open this week’s quiz</a:t>
            </a:r>
          </a:p>
        </p:txBody>
      </p:sp>
      <p:sp>
        <p:nvSpPr>
          <p:cNvPr id="16" name="">
            <a:extLst xmlns:a="http://schemas.openxmlformats.org/drawingml/2006/main">
              <a:ext uri="{FF2B5EF4-FFF2-40B4-BE49-F238E27FC236}">
                <a16:creationId xmlns:a16="http://schemas.microsoft.com/office/drawing/2014/main" id="{6926A14B-7080-4194-90A4-5612D1482D8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https://forms.gle/32Y9ttL1XWaqbGMNA</a:t>
            </a:r>
          </a:p>
        </p:txBody>
      </p:sp>
      <p:sp>
        <p:nvSpPr>
          <p:cNvPr id="17" name="">
            <a:extLst xmlns:a="http://schemas.openxmlformats.org/drawingml/2006/main">
              <a:ext uri="{FF2B5EF4-FFF2-40B4-BE49-F238E27FC236}">
                <a16:creationId xmlns:a16="http://schemas.microsoft.com/office/drawing/2014/main" id="{BB7109C0-BBCB-4F22-8824-4A6A2C3580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32</a:t>
            </a:r>
          </a:p>
        </p:txBody>
      </p:sp>
    </p:spTree>
    <p:extLst>
      <p:ext uri="{BB962C8B-B14F-4D97-AF65-F5344CB8AC3E}">
        <p14:creationId xmlns:p14="http://schemas.microsoft.com/office/powerpoint/2010/main" val="271871577"/>
      </p:ext>
    </p:extLst>
  </p:cSld>
</p:sld>
</file>

<file path=ppt/slides/slide3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21EEF3F-E05F-4921-8CA6-3298736DA1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AFE6BB9D-0D88-412F-B9A4-23D0660341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341A51CC-5FA3-404F-A5F7-E75F8A6FE85A}"/>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9D40D823-D2B0-4A4F-8B96-C567100A801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state the new feature’s meaning and calculate an improvement correctly.</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9AC59764-FC51-4CF9-9AC2-81F38A063CD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370E4751-0DEE-475D-9C88-BB12CA9E90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11   33</a:t>
            </a:r>
          </a:p>
        </p:txBody>
      </p:sp>
    </p:spTree>
    <p:extLst>
      <p:ext uri="{BB962C8B-B14F-4D97-AF65-F5344CB8AC3E}">
        <p14:creationId xmlns:p14="http://schemas.microsoft.com/office/powerpoint/2010/main" val="1056811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2026-09-28T21:15:24.3800000Z</dcterms:created>
  <dcterms:modified xsi:type="dcterms:W3CDTF">2026-09-28T21:15:24.3800000Z</dcterms:modified>
</coreProperties>
</file>