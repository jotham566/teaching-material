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session where your degree starts to pay. Everything in Weeks 8 to 10 was about measuring a model honestly; today you change what the model is fed, and a single column built from a relationship you learned in Year 2 will beat every raw column in the file put together. The Practical Test 2 specification and rubric are published this week, so you can prepare against them for three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4 is the one that separates this course from a tutorial. A feature you invented that turns out to be worthless goes in the table with its measured effect beside it. Deleting it quietly is the thing that costs marks.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long working blocks today: thirty minutes of Feature Workshop and thirty minutes of Domain Advantage. The teaching in the first half is what you need to get through both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can now measure whether a model generalises and you can find a leak. Today the model stays the same and the columns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from Week 10, and all three get used within the hour. Question C is the one today's Pipeline exists to prevent, so if it gives you trouble, go back to your Trust Lab notebook before the practical.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worth reading twice. A leak that inflates a score by fifty per cent gets caught in five minutes. A leak that inflates it by one per cent gets published, and the Pipeline you build today is the structural fix for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to establish the idea before any syntax. A model has no physics in it, no code of practice and no site experience; it has the columns you gave it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 with the question before the answer arrives. The quantity that governs whether the machine fails is already in your file, split across two columns. Heating follows mechanical power, and power is torque times angular velocity. The same 45 N·m at 1,300 rpm and at 2,800 rpm are two completely different duties for the motor.</a:t>
            </a:r>
          </a:p>
          <a:p/>
          <a:p>
            <a:r>
              <a:t>By the end of the domain-feature block you will have built that column and measured what it was worth.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point is the practical one for today. An encoding is a statement about your system: one-hot says only 'this row is H', while an ordered number says 'H is three times L and sits twice as far from L as M does'. Choose the one that is true.</a:t>
            </a:r>
          </a:p>
          <a:p/>
          <a:p>
            <a:r>
              <a:t>The last point matters for the project. A marker cannot see judgement in a score; they can see it in a feature you built with a stated physical reason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 not confuse with' line is the reason this session is worth three hours. Every one of the five features you build today costs nothing to collect, because the underlying numbers are already in the file.</a:t>
            </a:r>
          </a:p>
          <a:p/>
          <a:p>
            <a:r>
              <a:t>One warning that arrives properly in the ablation segment: a feature built from a column you would not have at prediction time is a leak wearing a new hat. Ask the Week 1 timing question of every feature you build — would I really have this before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two jobs you will do to almost every dataset for the rest of your career. Both look mechanical and both contain a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lower half of the figure is the part to study. Writing L = 1, M = 2, H = 3 forces a straight-line model to believe three separate things: that the levels have an order at all, that the step from L to M is the same size as the step from M to H, and that H is three times L in whatever the column is measuring. For a product grade none of those is true.</a:t>
            </a:r>
          </a:p>
          <a:p/>
          <a:p>
            <a:r>
              <a:t>Where an order really does exist and the spacing means something, one ordered column is the better feature and it costs you fewer columns. In your discipline the honest example is insulation classes A, E, B, F and H, which are ordered and carry a stated temperature limit each.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cardinality: one-hot encoding a column with eight values costs you eight columns, and one with four hundred values costs four hundred. Above about twenty distinct values one-hot encoding stops being sensible, and the usual moves are to group the rare values into 'other' or to replace the category with a number that means something physically.</a:t>
            </a:r>
          </a:p>
          <a:p/>
          <a:p>
            <a:r>
              <a:t>On the dummy variable trap: pass drop='first' to OneHotEncoder and it is handled. Tree models do not care about it at 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two points are the ones that cost marks in projects. An identifier column is the commonest accidental leak in student work: it correlates with the target because particular units happen to fail, and it generalises to nothing.</a:t>
            </a:r>
          </a:p>
          <a:p/>
          <a:p>
            <a:r>
              <a:t>On the last point: a category that appears only in your test rows will make a naively fitted encoder fail at prediction time. handle_unknown='ignore' inside the Pipeline is the practical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star's nearest neighbour changes when the columns are put on a common scale, and nothing about the machines changed. Only the units did.</a:t>
            </a:r>
          </a:p>
          <a:p/>
          <a:p>
            <a:r>
              <a:t>The list at the bottom of the figure is worth memorising. k-nearest neighbours, k-means, support vector machines, principal component analysis, neural networks and any regression with a ridge or lasso penalty all care about scale. Trees, forests and gradient boosting do not, because a tree splits one column at a time and 'torque_nm &lt;= 47' means the same thing whatever the other columns are doing.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rule: standardise by default, and use min-max only when something downstream needs a bounded range.</a:t>
            </a:r>
          </a:p>
          <a:p/>
          <a:p>
            <a:r>
              <a:t>The 'do not confuse with' line catches a real misunderstanding. Scaling is a change of units. If your column has a long tail, a logarithm is the transform that helps, and you can apply both.</a:t>
            </a:r>
          </a:p>
          <a:p/>
          <a:p>
            <a:r>
              <a:t>Both of these must be fitted on the training fold only, which is why they live inside a Pipeline rather than in a cell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ColumnTransformer routes each group of columns to its own treatment: numeric columns to the scaler, categorical columns to the encoder, all in one object. A Pipeline then chains that object to the model, so when you call fit, both steps are fitted on the training rows and nothing else.</a:t>
            </a:r>
          </a:p>
          <a:p/>
          <a:p>
            <a:r>
              <a:t>This is the structural fix for leakage rather than a tidiness habit. Once your preprocessing is inside the Pipeline, cross_val_score refits it inside every fold automatically, and there is no version of the code where you can forget.</a:t>
            </a:r>
          </a:p>
          <a:p/>
          <a:p>
            <a:r>
              <a:t>handle_unknown='ignore' matters in service: a category the encoder never saw during training returns all zeros instead of stopping with an error. Note what that costs you here. With drop='first' the dropped baseline category is also encoded as all zeros, so an unknown category is silently treated as the baseline instead of being flagged. If you need to know when an unseen category arrives, check the incoming values yourself before they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and the centre of the session. One column built from a physical relationship, against every raw column in the file.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Heating follows mechanical power, and power is torque times angular velocity. The same 45 N·m at 1,300 rpm and at 2,800 rpm are two completely different duties for the motor.</a:t>
            </a:r>
          </a:p>
          <a:p/>
          <a:p>
            <a:r>
              <a:t>That is why the right-hand panel fits better. The raw column carries part of the signal, because the other quantity in the expression is varying at the same time and blurring it. Combine the two and the relationship straightens out.</a:t>
            </a:r>
          </a:p>
          <a:p/>
          <a:p>
            <a:r>
              <a:t>The honest caveat, printed on the figure: this is illustrative data shaped like the real dataset, built so that the engineered column really is the stronger predictor. Both R² values are computed when the figure is drawn. You will do the same thing on the real file in the practical and get a smaller 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is the one people skip and it catches two real defects. A division that produces infinity means the denominator was zero in some rows, which pandas will hand you without complaint and scikit-learn will refuse to fit. An impossible range usually means two columns were recorded in different units, which is the Week 6 defect arriving in a new place.</a:t>
            </a:r>
          </a:p>
          <a:p/>
          <a:p>
            <a:r>
              <a:t>Step 6 is the deliverable. A feature with no stated physical reason is a guess that happened to work, and it will not survive a viva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core deliverable of the workshop. Each one needs a physical reason written beside it before you build it, because a reason invented afterwards is not a reason.</a:t>
            </a:r>
          </a:p>
          <a:p/>
          <a:p>
            <a:r>
              <a:t>The last entry is on the slide on purpose. You are expected to find features that do nothing, and reporting one with its measured effect beside it is worth more than five features that all happened to help.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Dimensionless groups are the most portable features you can build, and you already know several: Reynolds number, water/cement ratio, power factor, factor of safety. A dimensionless feature has a fair chance of holding on a plant the model has never seen, because it does not depend on the scale of that plant.</a:t>
            </a:r>
          </a:p>
          <a:p/>
          <a:p>
            <a:r>
              <a:t>Interactions are worth trying when you know that one variable's effect depends on another. A linear model cannot discover an interaction on its own; a tree can approximate one, which is part of why trees often do well on raw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Feature Workshop after the break runs for thirty minutes and the challenge follows it, so this is the last break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all hands on keyboards. Build the five features, then measure each one. The measuring is the part that carries the marks.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emphasis is deliberate. A feature that helped for a reason you can state is engineering; a feature that helped for no reason you can name is a coincidence you have not found yet. Write the reason down before you measure, so you cannot invent one afterwards.</a:t>
            </a:r>
          </a:p>
          <a:p/>
          <a:p>
            <a:r>
              <a:t>For the stretch tier: the 130 °C alarm and 155 °C trip limits that follow from the insulation class on the motor's datasheet are legitimate sources. Cite the clause.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honest method for feature selection. Correlation screening and importance rankings both mislead; taking a column away and refitting tells you what that column was worth to this model on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figure's own note carefully, because it contains the subtlety. In the civil-engineering worked example above, water and cement look useless only because the water/cement ratio is already in the model and has taken what both of them were carrying. A column can be essential to the physics and still be droppable from the model.</a:t>
            </a:r>
          </a:p>
          <a:p/>
          <a:p>
            <a:r>
              <a:t>That is why an ablation table is about this model with these other columns, rather than about the column in general. Say so when you report it.</a:t>
            </a:r>
          </a:p>
          <a:p/>
          <a:p>
            <a:r>
              <a:t>Batch number is on the chart as a reminder: an identifier is not a measurement and it never could have helped.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 of a null result matters. If your five folds give scores spread over 0.4 units and removing a feature moves the mean by 0.1, you have measured nothing, and the honest entry in the table is 'no measurable effect' with both numbers shown.</a:t>
            </a:r>
          </a:p>
          <a:p/>
          <a:p>
            <a:r>
              <a:t>Feature importance from a random forest is unstable: refit with a different seed and the ranking moves, and correlated columns split their importance between them so both look weak. Read importance as a hint and ablate what you intend to claim.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 functions, and they exist for one reason each.</a:t>
            </a:r>
          </a:p>
          <a:p/>
          <a:p>
            <a:r>
              <a:t>build() rebuilds the preprocessor for whichever columns you are keeping. A ColumnTransformer holds the names of the columns it was given, so handing it a table with one of those columns missing stops the run.</a:t>
            </a:r>
          </a:p>
          <a:p/>
          <a:p>
            <a:r>
              <a:t>score() puts the sign in one place. scikit-learn maximises whatever you give it, so an error metric arrives negated; flipping it once inside the helper means every number you read afterwards is the quantity you actually named.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details make this table trustworthy. The spread column is what tells you whether a change is real: a change smaller than the spread is a null result. cross_val_score refits the whole Pipeline inside every fold, so the encoder and the scaler are refitted too, and the ablation is not quietly leaking. And the preprocessor is rebuilt for each reduced column set, because a ColumnTransformer that names a column you have just dropped raises an error.</a:t>
            </a:r>
          </a:p>
          <a:p/>
          <a:p>
            <a:r>
              <a:t>The last column is signed so that positive always means worse. For an error metric that is a rise in the error; for recall it is a fall in recall. Reading a signed column correctly is worth doing deliberately, because a sign error here reverses your conclusion about every feature.</a:t>
            </a:r>
          </a:p>
          <a:p/>
          <a:p>
            <a:r>
              <a:t>One cost to know about: this loop fits the model once per feature per fold. Six features at 5 folds is 35 fits. On a large dataset, cut to cv=3 while you are developing and run cv=5 for the version you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and the design of the exercise is the lesson. Half the room may use only the raw columns and may use any model they like. The other half must invent features and may not change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of this challenge is what makes the point stick. One side may change the model and not the columns; the other may change the columns and not the model. Whichever side you are on, the number you report is evidence you generated yourselves.</a:t>
            </a:r>
          </a:p>
          <a:p/>
          <a:p>
            <a:r>
              <a:t>Question 6 is the one that keeps you honest. A win of less than your fold-to-fold spread is not a win, and saying so out loud when you are the winning team is worth more marks than the score.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on Project Milestone 2 and the Practical Test 2 specification, which is published this week.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Test 2 specification this week rather than in Week 13. The part worth noticing now is that 45 of the 100 marks come from a structured answers cell you fill in during the test, so the marks for framing, metric choice and limits are collected from a form rather than from your prose. Practise filling one in during the Week 13 studio.</a:t>
            </a:r>
          </a:p>
          <a:p/>
          <a:p>
            <a:r>
              <a:t>On A10: a feature dictionary is one row per column with its name, what it is made of, its unit, and the physical reason. Another engineer should be able to rebuild your feature set from it without asking you anything.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The fourth and the seventh carry the most weight in Practical Test 2: which models care about scale, and how to show that a feature earned its place.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the one Practical Test 2 will ask in some form. A change smaller than the spread is not a finding, and knowing that is what stops you defending a feature that did nothing.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Week 10 lesson arriving inside a feature. Feature engineering is the easiest place in a project to create a leak, because you are combining columns and it is easy to lose track of when each one becomes available. Ask the timing question of every feature you build.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the last two are the ones that appear in the project rubric. A feature dictionary is a required project artefact, and a null result honestly reported is evidence of engineering judgement.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The timing question at the bottom is the one that will save you most often, because feature engineering is the easiest place in a project to build a leak without noticing.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thing to take from today is that the largest single improvement available to you came from a relationship you learned in Year 2, applied to columns you already had. Next week you compare models under a fixed protocol and defend the choice to another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Features: where your</a:t>
            </a:r>
          </a:p>
          <a:p>
            <a:pPr algn="l">
              <a:lnSpc>
                <a:spcPct val="105000"/>
              </a:lnSpc>
              <a:spcAft>
                <a:spcPts val="600"/>
              </a:spcAft>
            </a:pPr>
            <a:r>
              <a:rPr sz="4400" b="1" i="0">
                <a:solidFill>
                  <a:srgbClr val="FFFFFF"/>
                </a:solidFill>
                <a:latin typeface="Cambria"/>
              </a:rPr>
              <a:t>engineering knowledge enters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Encoding, scaling, and building a column out of physics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11  ·  Fri 20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Encode a categorical column, and say what each encoding forces the model to believe.</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Scale features, and name which models are sensitive to scale and which ignore it entirely.</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Build a feature from a physical relationship in your own discipline.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Measure what a feature was worth by ablation, and report the ones that were worth nothing.</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Assemble a ColumnTransformer inside a Pipeline that handles mixed column types without leaking.</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feature dictionary another engineer could work from without asking you anything.</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Show, with your own evidence, where a domain engineer beats a better programmer.</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11 · Features and feature engineering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1.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Nine segments. The Feature Workshop and the Domain Advantage challenge take an hour between them, and both of them are you working.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tell an honest model from a flattering one. Today you change what it is fed.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10?</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training R² is 0.99 and your test R² is 0.61. What is that called, and what would you try first?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single train/test split a noisy measurement, and what replaces it?</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fitted the scaler on the whole table before splitting it. Which kind of leakage is that, and how much does it usually inflate the score?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Training 0.99, test 0.61?</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Overfitting. The model has memorised the training rows. First moves: reduce the model's freedom — a shallower tree, fewer features — and check with cross-validation that the gap is real rather than one unlucky split.</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is one split noisy?</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which rows landed in the test set is itself a random draw, and on a few hundred rows that draw moves the score by several per cent. k-fold cross-validation replaces it: every row gets a turn in the test fold, and you report a mean with a spread.</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Scaling before the split?</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Train-test contamination. The scaler's mean and standard deviation were computed using the test rows, so the model has seen a summary of data it was going to be judged on. It usually inflates the score by a small amount — one or two per cent — which is exactly why it survives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feature is knowledge encoded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model knows only what you put in front of it. Today you decide what that 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"Your model already has shaft torque in N·m. It is still wrong. What column is missing?"</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The quantity you actually need has already been measured. It is spread across two columns of the file you already have, and nobody has combined them yet.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model can and cannot work out for itself</a:t>
            </a:r>
          </a:p>
        </p:txBody>
      </p:sp>
      <p:sp>
        <p:nvSpPr>
          <p:cNvPr id="3" name="TextBox 2"/>
          <p:cNvSpPr txBox="1"/>
          <p:nvPr/>
        </p:nvSpPr>
        <p:spPr>
          <a:xfrm>
            <a:off x="685800" y="1527048"/>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can find a relationship between the columns you gave it</a:t>
            </a:r>
          </a:p>
        </p:txBody>
      </p:sp>
      <p:sp>
        <p:nvSpPr>
          <p:cNvPr id="4" name="TextBox 3"/>
          <p:cNvSpPr txBox="1"/>
          <p:nvPr/>
        </p:nvSpPr>
        <p:spPr>
          <a:xfrm>
            <a:off x="685800" y="232629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If the pattern is in the columns, a good model will find it. That is what fitting means.</a:t>
            </a:r>
          </a:p>
        </p:txBody>
      </p:sp>
      <p:sp>
        <p:nvSpPr>
          <p:cNvPr id="5" name="TextBox 4"/>
          <p:cNvSpPr txBox="1"/>
          <p:nvPr/>
        </p:nvSpPr>
        <p:spPr>
          <a:xfrm>
            <a:off x="685800" y="3257442"/>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cannot invent a column</a:t>
            </a:r>
          </a:p>
        </p:txBody>
      </p:sp>
      <p:sp>
        <p:nvSpPr>
          <p:cNvPr id="6" name="TextBox 5"/>
          <p:cNvSpPr txBox="1"/>
          <p:nvPr/>
        </p:nvSpPr>
        <p:spPr>
          <a:xfrm>
            <a:off x="685800" y="3689070"/>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model given the raw columns will never form mechanical power in kW on its own unless you ask it to. A linear model in particular can only add its columns up.</a:t>
            </a:r>
          </a:p>
        </p:txBody>
      </p:sp>
      <p:sp>
        <p:nvSpPr>
          <p:cNvPr id="7" name="TextBox 6"/>
          <p:cNvSpPr txBox="1"/>
          <p:nvPr/>
        </p:nvSpPr>
        <p:spPr>
          <a:xfrm>
            <a:off x="685800" y="4944058"/>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has no physics, no code of practice and no site experience</a:t>
            </a:r>
          </a:p>
        </p:txBody>
      </p:sp>
      <p:sp>
        <p:nvSpPr>
          <p:cNvPr id="8" name="TextBox 7"/>
          <p:cNvSpPr txBox="1"/>
          <p:nvPr/>
        </p:nvSpPr>
        <p:spPr>
          <a:xfrm>
            <a:off x="685800" y="574330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Every constraint you know from your degree has to arrive as a column, a threshold or a band.</a:t>
            </a:r>
          </a:p>
        </p:txBody>
      </p:sp>
      <p:sp>
        <p:nvSpPr>
          <p:cNvPr id="9" name="TextBox 8"/>
          <p:cNvSpPr txBox="1"/>
          <p:nvPr/>
        </p:nvSpPr>
        <p:spPr>
          <a:xfrm>
            <a:off x="6347307" y="152704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the encoding is a modelling decision</a:t>
            </a:r>
          </a:p>
        </p:txBody>
      </p:sp>
      <p:sp>
        <p:nvSpPr>
          <p:cNvPr id="10" name="TextBox 9"/>
          <p:cNvSpPr txBox="1"/>
          <p:nvPr/>
        </p:nvSpPr>
        <p:spPr>
          <a:xfrm>
            <a:off x="6347307" y="1958676"/>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Writing L = 1, M = 2, H = 3 tells the model that H is three times L. If that is untrue, you have just fed it a false statement about your own plant.</a:t>
            </a:r>
          </a:p>
        </p:txBody>
      </p:sp>
      <p:sp>
        <p:nvSpPr>
          <p:cNvPr id="11" name="TextBox 10"/>
          <p:cNvSpPr txBox="1"/>
          <p:nvPr/>
        </p:nvSpPr>
        <p:spPr>
          <a:xfrm>
            <a:off x="6347307" y="3213663"/>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why an engineer beats a better programmer here</a:t>
            </a:r>
          </a:p>
        </p:txBody>
      </p:sp>
      <p:sp>
        <p:nvSpPr>
          <p:cNvPr id="12" name="TextBox 11"/>
          <p:cNvSpPr txBox="1"/>
          <p:nvPr/>
        </p:nvSpPr>
        <p:spPr>
          <a:xfrm>
            <a:off x="6347307" y="3645291"/>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computer scientist can tune the model further. Only you know that mechanical power in kW is the quantity that matters.</a:t>
            </a:r>
          </a:p>
        </p:txBody>
      </p:sp>
      <p:sp>
        <p:nvSpPr>
          <p:cNvPr id="13" name="TextBox 12"/>
          <p:cNvSpPr txBox="1"/>
          <p:nvPr/>
        </p:nvSpPr>
        <p:spPr>
          <a:xfrm>
            <a:off x="6347307" y="490027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This is also where your marks are</a:t>
            </a:r>
          </a:p>
        </p:txBody>
      </p:sp>
      <p:sp>
        <p:nvSpPr>
          <p:cNvPr id="14" name="TextBox 13"/>
          <p:cNvSpPr txBox="1"/>
          <p:nvPr/>
        </p:nvSpPr>
        <p:spPr>
          <a:xfrm>
            <a:off x="6347307" y="5331907"/>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reasoning carries 20 of the 100 marks in the project rubric, and feature construction is where a marker can see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engineering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Building a new column out of the columns you already have, using something you know about the physical system, so that the relationship is in a form the model can use.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43885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From shaft torque in N·m and the other columns already in the file you build mechanical power in kW. Heating follows mechanical power, and power is torque times angular velocity. The same 45 N·m at 1,300 rpm and at 2,800 rpm are two completely different duties for the motor.</a:t>
            </a:r>
          </a:p>
        </p:txBody>
      </p:sp>
      <p:sp>
        <p:nvSpPr>
          <p:cNvPr id="8" name="Rounded Rectangle 7"/>
          <p:cNvSpPr/>
          <p:nvPr/>
        </p:nvSpPr>
        <p:spPr>
          <a:xfrm>
            <a:off x="685800" y="498273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96444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Collecting more data. Feature engineering takes no new measurements at all. It rearranges measurements you already have into the shape the physics is 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Encoding and scaling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Two mechanical jobs that both carry a modelling decision inside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ENCODING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Text into columns a model can use</a:t>
            </a:r>
          </a:p>
        </p:txBody>
      </p:sp>
      <p:pic>
        <p:nvPicPr>
          <p:cNvPr id="4" name="Picture 3" descr="onehot.png"/>
          <p:cNvPicPr>
            <a:picLocks noChangeAspect="1"/>
          </p:cNvPicPr>
          <p:nvPr/>
        </p:nvPicPr>
        <p:blipFill>
          <a:blip r:embed="rId2"/>
          <a:stretch>
            <a:fillRect/>
          </a:stretch>
        </p:blipFill>
        <p:spPr>
          <a:xfrm>
            <a:off x="1203403" y="1911095"/>
            <a:ext cx="978488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does arithmetic, and there is no arithmetic to do on the letter H. One-hot encoding gives every value its own column, with a 1 in the rows where it applies and a 0 everywhere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One-hot and ordinal encoding</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ONE-HOT ENCODING gives each value of a category its own 0/1 column. ORDINAL ENCODING replaces the category with a single number that carries an order. CARDINALITY is how many distinct values the column has.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Your product_type column holds L, M, H. These are quality grades and they are ordered by hardness, so one ordered column is defensible. Whether H sits as far above M as M sits above L is unknown, and one-hot encoding avoids having to claim it.</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dummy variable trap. With one column per value, the last column is fully determined by the others, which makes a linear model's coefficients unstable. Drop one column and the problem goes away.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Choosing the encoding for a column</a:t>
            </a:r>
          </a:p>
        </p:txBody>
      </p:sp>
      <p:sp>
        <p:nvSpPr>
          <p:cNvPr id="3" name="TextBox 2"/>
          <p:cNvSpPr txBox="1"/>
          <p:nvPr/>
        </p:nvSpPr>
        <p:spPr>
          <a:xfrm>
            <a:off x="685800" y="1527048"/>
            <a:ext cx="5158587" cy="76992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Ask first whether the spacing between the levels means anything</a:t>
            </a:r>
          </a:p>
        </p:txBody>
      </p:sp>
      <p:sp>
        <p:nvSpPr>
          <p:cNvPr id="4" name="TextBox 3"/>
          <p:cNvSpPr txBox="1"/>
          <p:nvPr/>
        </p:nvSpPr>
        <p:spPr>
          <a:xfrm>
            <a:off x="685800" y="2306115"/>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If the step from one level to the next is a measurable amount, an ordered number is the better feature. If it is not, use one-hot.</a:t>
            </a:r>
          </a:p>
        </p:txBody>
      </p:sp>
      <p:sp>
        <p:nvSpPr>
          <p:cNvPr id="5" name="TextBox 4"/>
          <p:cNvSpPr txBox="1"/>
          <p:nvPr/>
        </p:nvSpPr>
        <p:spPr>
          <a:xfrm>
            <a:off x="685800" y="3522241"/>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Genuinely ordered, in your discipline</a:t>
            </a:r>
          </a:p>
        </p:txBody>
      </p:sp>
      <p:sp>
        <p:nvSpPr>
          <p:cNvPr id="6" name="TextBox 5"/>
          <p:cNvSpPr txBox="1"/>
          <p:nvPr/>
        </p:nvSpPr>
        <p:spPr>
          <a:xfrm>
            <a:off x="685800" y="3943779"/>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insulation classes A, E, B, F and H, which are ordered and carry a stated temperature limit each. Here an ordered column is defensible and cheaper.</a:t>
            </a:r>
          </a:p>
        </p:txBody>
      </p:sp>
      <p:sp>
        <p:nvSpPr>
          <p:cNvPr id="7" name="TextBox 6"/>
          <p:cNvSpPr txBox="1"/>
          <p:nvPr/>
        </p:nvSpPr>
        <p:spPr>
          <a:xfrm>
            <a:off x="685800" y="5159906"/>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Genuinely unordered</a:t>
            </a:r>
          </a:p>
        </p:txBody>
      </p:sp>
      <p:sp>
        <p:nvSpPr>
          <p:cNvPr id="8" name="TextBox 7"/>
          <p:cNvSpPr txBox="1"/>
          <p:nvPr/>
        </p:nvSpPr>
        <p:spPr>
          <a:xfrm>
            <a:off x="685800" y="558144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Machine identifiers, pit names, supplier names, operator names. These get one-hot encoding, or they get replaced by something physical.</a:t>
            </a:r>
          </a:p>
        </p:txBody>
      </p:sp>
      <p:sp>
        <p:nvSpPr>
          <p:cNvPr id="9" name="TextBox 8"/>
          <p:cNvSpPr txBox="1"/>
          <p:nvPr/>
        </p:nvSpPr>
        <p:spPr>
          <a:xfrm>
            <a:off x="6347307" y="1527048"/>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Watch the cardinality</a:t>
            </a:r>
          </a:p>
        </p:txBody>
      </p:sp>
      <p:sp>
        <p:nvSpPr>
          <p:cNvPr id="10" name="TextBox 9"/>
          <p:cNvSpPr txBox="1"/>
          <p:nvPr/>
        </p:nvSpPr>
        <p:spPr>
          <a:xfrm>
            <a:off x="6347307" y="1948585"/>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One-hot encoding a column with 400 values gives you 400 columns, most of them almost all zeros. Group the rare values or find a physical replacement.</a:t>
            </a:r>
          </a:p>
        </p:txBody>
      </p:sp>
      <p:sp>
        <p:nvSpPr>
          <p:cNvPr id="11" name="TextBox 10"/>
          <p:cNvSpPr txBox="1"/>
          <p:nvPr/>
        </p:nvSpPr>
        <p:spPr>
          <a:xfrm>
            <a:off x="6347307" y="316471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And watch for identifiers pretending to be features</a:t>
            </a:r>
          </a:p>
        </p:txBody>
      </p:sp>
      <p:sp>
        <p:nvSpPr>
          <p:cNvPr id="12" name="TextBox 11"/>
          <p:cNvSpPr txBox="1"/>
          <p:nvPr/>
        </p:nvSpPr>
        <p:spPr>
          <a:xfrm>
            <a:off x="6347307" y="3586249"/>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machine ID or a batch number lets a model memorise individual units. It will look good in testing and tell you nothing about a unit it has never met.</a:t>
            </a:r>
          </a:p>
        </p:txBody>
      </p:sp>
      <p:sp>
        <p:nvSpPr>
          <p:cNvPr id="13" name="TextBox 12"/>
          <p:cNvSpPr txBox="1"/>
          <p:nvPr/>
        </p:nvSpPr>
        <p:spPr>
          <a:xfrm>
            <a:off x="6347307" y="4802376"/>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Encode inside the Pipeline, every time</a:t>
            </a:r>
          </a:p>
        </p:txBody>
      </p:sp>
      <p:sp>
        <p:nvSpPr>
          <p:cNvPr id="14" name="TextBox 13"/>
          <p:cNvSpPr txBox="1"/>
          <p:nvPr/>
        </p:nvSpPr>
        <p:spPr>
          <a:xfrm>
            <a:off x="6347307" y="5223914"/>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Fit the encoder on the training fold only. An encoder fitted on the whole table has already seen which categories appear in your test rows.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SCALING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Why the units of a column change the answer</a:t>
            </a:r>
          </a:p>
        </p:txBody>
      </p:sp>
      <p:pic>
        <p:nvPicPr>
          <p:cNvPr id="4" name="Picture 3" descr="scaling_effect.png"/>
          <p:cNvPicPr>
            <a:picLocks noChangeAspect="1"/>
          </p:cNvPicPr>
          <p:nvPr/>
        </p:nvPicPr>
        <p:blipFill>
          <a:blip r:embed="rId2"/>
          <a:stretch>
            <a:fillRect/>
          </a:stretch>
        </p:blipFill>
        <p:spPr>
          <a:xfrm>
            <a:off x="1408267" y="1911095"/>
            <a:ext cx="937516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sixty machine-hours on two axes. Distance-based methods measure straight-line distance in whatever units the columns arrived in, so a column that spans 1,700 units drowns out a column that spans 50. Standardisation gives both a vote.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Standardisation and min-max scaling</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STANDARDISATION subtracts each column's mean and divides by its standard deviation, so the column is centred on zero and measured in standard deviations. MIN-MAX SCALING maps the column onto 0 to 1 using its smallest and largest values.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StandardScaler is the default and it copes with extreme values. MinMaxScaler is the choice when a bounded range is required, and one extreme value squashes everything else into a narrow band.</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Normalisation of a distribution's shape. Neither of these changes the shape of anything. A skewed column is still skewed after scaling, and a logarithm is what changes shape.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Mixed column types, one Pipeline</a:t>
            </a:r>
          </a:p>
        </p:txBody>
      </p:sp>
      <p:sp>
        <p:nvSpPr>
          <p:cNvPr id="4" name="Rounded Rectangle 3"/>
          <p:cNvSpPr/>
          <p:nvPr/>
        </p:nvSpPr>
        <p:spPr>
          <a:xfrm>
            <a:off x="5925860" y="512064"/>
            <a:ext cx="558003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THEN CHANGE ONE THING</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sklearn.compose import ColumnTransformer</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sklearn.preprocessing import StandardScaler, OneHotEncoder</a:t>
            </a:r>
          </a:p>
          <a:p>
            <a:pPr algn="l">
              <a:lnSpc>
                <a:spcPts val="1795"/>
              </a:lnSpc>
              <a:spcAft>
                <a:spcPts val="0"/>
              </a:spcAft>
            </a:pPr>
            <a:r>
              <a:rPr sz="1320" b="0" i="0">
                <a:solidFill>
                  <a:srgbClr val="D8E3EC"/>
                </a:solidFill>
                <a:latin typeface="Courier New"/>
              </a:rPr>
              <a:t>from sklearn.linear_model import LogisticRegression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num = ["torque_nm", "rpm", "power_kw"]</a:t>
            </a:r>
          </a:p>
          <a:p>
            <a:pPr algn="l">
              <a:lnSpc>
                <a:spcPts val="1795"/>
              </a:lnSpc>
              <a:spcAft>
                <a:spcPts val="0"/>
              </a:spcAft>
            </a:pPr>
            <a:r>
              <a:rPr sz="1320" b="0" i="0">
                <a:solidFill>
                  <a:srgbClr val="D8E3EC"/>
                </a:solidFill>
                <a:latin typeface="Courier New"/>
              </a:rPr>
              <a:t>cat = ["product_type"]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prep = ColumnTransformer([</a:t>
            </a:r>
          </a:p>
          <a:p>
            <a:pPr algn="l">
              <a:lnSpc>
                <a:spcPts val="1795"/>
              </a:lnSpc>
              <a:spcAft>
                <a:spcPts val="0"/>
              </a:spcAft>
            </a:pPr>
            <a:r>
              <a:rPr sz="1320" b="0" i="0">
                <a:solidFill>
                  <a:srgbClr val="D8E3EC"/>
                </a:solidFill>
                <a:latin typeface="Courier New"/>
              </a:rPr>
              <a:t>    ("n", StandardScaler(), num),</a:t>
            </a:r>
          </a:p>
          <a:p>
            <a:pPr algn="l">
              <a:lnSpc>
                <a:spcPts val="1795"/>
              </a:lnSpc>
              <a:spcAft>
                <a:spcPts val="0"/>
              </a:spcAft>
            </a:pPr>
            <a:r>
              <a:rPr sz="1320" b="0" i="0">
                <a:solidFill>
                  <a:srgbClr val="D8E3EC"/>
                </a:solidFill>
                <a:latin typeface="Courier New"/>
              </a:rPr>
              <a:t>    ("c", OneHotEncoder(drop="first", handle_unknown="ignore"), cat),</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 = Pipeline([("prep", prep), ("fit", LogisticRegression(max_iter=1000))])</a:t>
            </a:r>
          </a:p>
          <a:p>
            <a:pPr algn="l">
              <a:lnSpc>
                <a:spcPts val="1795"/>
              </a:lnSpc>
              <a:spcAft>
                <a:spcPts val="0"/>
              </a:spcAft>
            </a:pPr>
            <a:r>
              <a:rPr sz="1320" b="0" i="0">
                <a:solidFill>
                  <a:srgbClr val="D8E3EC"/>
                </a:solidFill>
                <a:latin typeface="Courier New"/>
              </a:rPr>
              <a:t>model.fit(X_train, y_train)      # fitted on training rows ONLY</a:t>
            </a:r>
          </a:p>
          <a:p>
            <a:pPr algn="l">
              <a:lnSpc>
                <a:spcPts val="1795"/>
              </a:lnSpc>
              <a:spcAft>
                <a:spcPts val="0"/>
              </a:spcAft>
            </a:pPr>
            <a:r>
              <a:rPr sz="1320" b="0" i="0">
                <a:solidFill>
                  <a:srgbClr val="D8E3EC"/>
                </a:solidFill>
                <a:latin typeface="Courier New"/>
              </a:rPr>
              <a:t>model.score(X_test, y_test)</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Take the scaler out of the Pipeline, fit it on the whole table, and re-run. The score improves a little. That improvement is the test rows leaking into the scaler's mean, and it is the leak from Week 10 in a new place.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Building a domain feature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column, built out of a relationship you learned in Year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DOMAIN FEATURE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 column, built from the physics</a:t>
            </a:r>
          </a:p>
        </p:txBody>
      </p:sp>
      <p:pic>
        <p:nvPicPr>
          <p:cNvPr id="4" name="Picture 3" descr="domain_feature_CML3111.png"/>
          <p:cNvPicPr>
            <a:picLocks noChangeAspect="1"/>
          </p:cNvPicPr>
          <p:nvPr/>
        </p:nvPicPr>
        <p:blipFill>
          <a:blip r:embed="rId2"/>
          <a:stretch>
            <a:fillRect/>
          </a:stretch>
        </p:blipFill>
        <p:spPr>
          <a:xfrm>
            <a:off x="1541875" y="1911095"/>
            <a:ext cx="91079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rows, the same target and the same straight-line fit on both sides. The right-hand panel uses mechanical power in kW in place of the raw column, and no new measurement was taken to build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a physical relationship into a column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using mechanical power in kW as the example. It works for any relationship you can write down.</a:t>
            </a:r>
          </a:p>
        </p:txBody>
      </p:sp>
      <p:sp>
        <p:nvSpPr>
          <p:cNvPr id="5" name="Rounded Rectangle 4"/>
          <p:cNvSpPr/>
          <p:nvPr/>
        </p:nvSpPr>
        <p:spPr>
          <a:xfrm>
            <a:off x="685800" y="2732347"/>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Write it in symbols first, with units. Heating follows mechanical power, and power is torque times angular velocity. The same 45 N·m at 1,300 rpm and at 2,800 rpm are two completely different duties for the motor.</a:t>
            </a:r>
          </a:p>
        </p:txBody>
      </p:sp>
      <p:sp>
        <p:nvSpPr>
          <p:cNvPr id="8" name="Rounded Rectangle 7"/>
          <p:cNvSpPr/>
          <p:nvPr/>
        </p:nvSpPr>
        <p:spPr>
          <a:xfrm>
            <a:off x="685800" y="344246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49733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48818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Check every quantity is a column you already have BEFORE the outcome is known. Otherwise it is a leak.</a:t>
            </a:r>
          </a:p>
        </p:txBody>
      </p:sp>
      <p:sp>
        <p:nvSpPr>
          <p:cNvPr id="11" name="Rounded Rectangle 10"/>
          <p:cNvSpPr/>
          <p:nvPr/>
        </p:nvSpPr>
        <p:spPr>
          <a:xfrm>
            <a:off x="685800" y="3899667"/>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95453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945387"/>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Write the one line: df["power_kw"] = df["torque_nm"] * 2 * 3.14159 * df["rpm"] / 60.0 / 1000.0  Then name the column after its unit.</a:t>
            </a:r>
          </a:p>
        </p:txBody>
      </p:sp>
      <p:sp>
        <p:nvSpPr>
          <p:cNvPr id="14" name="Rounded Rectangle 13"/>
          <p:cNvSpPr/>
          <p:nvPr/>
        </p:nvSpPr>
        <p:spPr>
          <a:xfrm>
            <a:off x="685800" y="46097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646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555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Check describe(). An infinity means you divided by zero; an impossible range means mismatched units.</a:t>
            </a:r>
          </a:p>
        </p:txBody>
      </p:sp>
      <p:sp>
        <p:nvSpPr>
          <p:cNvPr id="17" name="Rounded Rectangle 16"/>
          <p:cNvSpPr/>
          <p:nvPr/>
        </p:nvSpPr>
        <p:spPr>
          <a:xfrm>
            <a:off x="685800" y="50669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1218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1127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Fit with the column and without it, on the same split. Record both numbers in recall on the failure class.</a:t>
            </a:r>
          </a:p>
        </p:txBody>
      </p:sp>
      <p:sp>
        <p:nvSpPr>
          <p:cNvPr id="20" name="Rounded Rectangle 19"/>
          <p:cNvSpPr/>
          <p:nvPr/>
        </p:nvSpPr>
        <p:spPr>
          <a:xfrm>
            <a:off x="685800" y="55241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5790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5699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Write one line in the feature dictionary: what it is, its unit, and why you expected it to help.</a:t>
            </a:r>
          </a:p>
        </p:txBody>
      </p:sp>
      <p:sp>
        <p:nvSpPr>
          <p:cNvPr id="23" name="Rounded Rectangle 22"/>
          <p:cNvSpPr/>
          <p:nvPr/>
        </p:nvSpPr>
        <p:spPr>
          <a:xfrm>
            <a:off x="685800" y="6036252"/>
            <a:ext cx="10820095" cy="640080"/>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6173412"/>
            <a:ext cx="10234879" cy="365759"/>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 6 is what turns a lucky column into engineering. Step 2 is what stops a leak.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features you could build from your own discipline</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Build these in the workshop, and measure each one</a:t>
            </a:r>
          </a:p>
        </p:txBody>
      </p:sp>
      <p:sp>
        <p:nvSpPr>
          <p:cNvPr id="5" name="TextBox 4"/>
          <p:cNvSpPr txBox="1"/>
          <p:nvPr/>
        </p:nvSpPr>
        <p:spPr>
          <a:xfrm>
            <a:off x="685800" y="2478937"/>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mechanical power, kW</a:t>
            </a:r>
          </a:p>
        </p:txBody>
      </p:sp>
      <p:sp>
        <p:nvSpPr>
          <p:cNvPr id="6" name="TextBox 5"/>
          <p:cNvSpPr txBox="1"/>
          <p:nvPr/>
        </p:nvSpPr>
        <p:spPr>
          <a:xfrm>
            <a:off x="685800" y="290047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torque times 2 pi times rpm, divided by 60, then by a thousand. The quantity that actually heats the machine.</a:t>
            </a:r>
          </a:p>
        </p:txBody>
      </p:sp>
      <p:sp>
        <p:nvSpPr>
          <p:cNvPr id="7" name="TextBox 6"/>
          <p:cNvSpPr txBox="1"/>
          <p:nvPr/>
        </p:nvSpPr>
        <p:spPr>
          <a:xfrm>
            <a:off x="685800" y="3805714"/>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temperature rise, K</a:t>
            </a:r>
          </a:p>
        </p:txBody>
      </p:sp>
      <p:sp>
        <p:nvSpPr>
          <p:cNvPr id="8" name="TextBox 7"/>
          <p:cNvSpPr txBox="1"/>
          <p:nvPr/>
        </p:nvSpPr>
        <p:spPr>
          <a:xfrm>
            <a:off x="685800" y="4227252"/>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process temperature minus air temperature. A rise is comparable between a cold morning and a hot afternoon; an absolute reading is not.</a:t>
            </a:r>
          </a:p>
        </p:txBody>
      </p:sp>
      <p:sp>
        <p:nvSpPr>
          <p:cNvPr id="9" name="TextBox 8"/>
          <p:cNvSpPr txBox="1"/>
          <p:nvPr/>
        </p:nvSpPr>
        <p:spPr>
          <a:xfrm>
            <a:off x="685800" y="5443378"/>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specific tool wear</a:t>
            </a:r>
          </a:p>
        </p:txBody>
      </p:sp>
      <p:sp>
        <p:nvSpPr>
          <p:cNvPr id="10" name="TextBox 9"/>
          <p:cNvSpPr txBox="1"/>
          <p:nvPr/>
        </p:nvSpPr>
        <p:spPr>
          <a:xfrm>
            <a:off x="685800" y="586491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tool wear divided by mechanical power. How much wear the tool carries for the duty it is being worked at.</a:t>
            </a:r>
          </a:p>
        </p:txBody>
      </p:sp>
      <p:sp>
        <p:nvSpPr>
          <p:cNvPr id="11" name="TextBox 10"/>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torque per unit speed</a:t>
            </a:r>
          </a:p>
        </p:txBody>
      </p:sp>
      <p:sp>
        <p:nvSpPr>
          <p:cNvPr id="12" name="TextBox 11"/>
          <p:cNvSpPr txBox="1"/>
          <p:nvPr/>
        </p:nvSpPr>
        <p:spPr>
          <a:xfrm>
            <a:off x="6347307"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loading ratio. High torque at low speed is the duty that kills gearboxes.</a:t>
            </a:r>
          </a:p>
        </p:txBody>
      </p:sp>
      <p:sp>
        <p:nvSpPr>
          <p:cNvPr id="13" name="TextBox 12"/>
          <p:cNvSpPr txBox="1"/>
          <p:nvPr/>
        </p:nvSpPr>
        <p:spPr>
          <a:xfrm>
            <a:off x="6347307"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power times tool wear</a:t>
            </a:r>
          </a:p>
        </p:txBody>
      </p:sp>
      <p:sp>
        <p:nvSpPr>
          <p:cNvPr id="14" name="TextBox 13"/>
          <p:cNvSpPr txBox="1"/>
          <p:nvPr/>
        </p:nvSpPr>
        <p:spPr>
          <a:xfrm>
            <a:off x="6347307" y="365941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an accumulated duty term. It rises when a hard-working machine also has a worn tool.</a:t>
            </a:r>
          </a:p>
        </p:txBody>
      </p:sp>
      <p:sp>
        <p:nvSpPr>
          <p:cNvPr id="15" name="TextBox 14"/>
          <p:cNvSpPr txBox="1"/>
          <p:nvPr/>
        </p:nvSpPr>
        <p:spPr>
          <a:xfrm>
            <a:off x="6347307" y="4564649"/>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And one that will not help</a:t>
            </a:r>
          </a:p>
        </p:txBody>
      </p:sp>
      <p:sp>
        <p:nvSpPr>
          <p:cNvPr id="16" name="TextBox 15"/>
          <p:cNvSpPr txBox="1"/>
          <p:nvPr/>
        </p:nvSpPr>
        <p:spPr>
          <a:xfrm>
            <a:off x="6347307" y="4986187"/>
            <a:ext cx="5158587" cy="1298413"/>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the machine identifier, one-hot encoded. It gives the model a way to memorise individual machines and tells you nothing about a machine you have not met. Recall on the failure class moves by about one percentage point when you drop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Ratio, interaction, and dimensionless group</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RATIO divides one column by another. An INTERACTION multiplies two columns, so the effect of one depends on the level of the other. A DIMENSIONLESS GROUP is a combination whose units cancel, which makes it comparable across different plants and scales.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mechanical power in kW is the example you will build today. Heating follows mechanical power, and power is torque times angular velocity. The same 45 N·m at 1,300 rpm and at 2,800 rpm are two completely different duties for the motor.</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column you built because it improved the score. If you cannot say why you expected it to help before you measured it, you have found a coincidence in your training rows.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Feature Workshop is next, so have Colab open when you come back.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Feature Workshop</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Five features, five stated reasons, and a measured effect for each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Feature Workshop</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build</a:t>
            </a:r>
          </a:p>
        </p:txBody>
      </p:sp>
      <p:sp>
        <p:nvSpPr>
          <p:cNvPr id="5" name="TextBox 4"/>
          <p:cNvSpPr txBox="1"/>
          <p:nvPr/>
        </p:nvSpPr>
        <p:spPr>
          <a:xfrm>
            <a:off x="685800" y="2409332"/>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Five features from your own discipline, each with a stated physical reason written BEFORE you build it.</a:t>
            </a:r>
          </a:p>
        </p:txBody>
      </p:sp>
      <p:sp>
        <p:nvSpPr>
          <p:cNvPr id="6" name="TextBox 5"/>
          <p:cNvSpPr txBox="1"/>
          <p:nvPr/>
        </p:nvSpPr>
        <p:spPr>
          <a:xfrm>
            <a:off x="685800" y="3090985"/>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All of it inside a ColumnTransformer in a Pipeline, so nothing is fitted outside the training fold.</a:t>
            </a:r>
          </a:p>
        </p:txBody>
      </p:sp>
      <p:sp>
        <p:nvSpPr>
          <p:cNvPr id="7" name="TextBox 6"/>
          <p:cNvSpPr txBox="1"/>
          <p:nvPr/>
        </p:nvSpPr>
        <p:spPr>
          <a:xfrm>
            <a:off x="685800" y="3772638"/>
            <a:ext cx="5204307" cy="985903"/>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Then an ablation table: refit the same model with each feature removed in turn, and record the change in recall on the failure class.</a:t>
            </a:r>
          </a:p>
        </p:txBody>
      </p:sp>
      <p:sp>
        <p:nvSpPr>
          <p:cNvPr id="8" name="TextBox 7"/>
          <p:cNvSpPr txBox="1"/>
          <p:nvPr/>
        </p:nvSpPr>
        <p:spPr>
          <a:xfrm>
            <a:off x="685800" y="4767686"/>
            <a:ext cx="5204307" cy="359114"/>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CORE: five features and a complete ablation table.</a:t>
            </a:r>
          </a:p>
        </p:txBody>
      </p:sp>
      <p:sp>
        <p:nvSpPr>
          <p:cNvPr id="9" name="TextBox 8"/>
          <p:cNvSpPr txBox="1"/>
          <p:nvPr/>
        </p:nvSpPr>
        <p:spPr>
          <a:xfrm>
            <a:off x="685800" y="5135944"/>
            <a:ext cx="5204307" cy="985903"/>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STRETCH: a feature that encodes a design code, standard or empirical relation from your own discipline, with the reference cited.</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marked</a:t>
            </a:r>
          </a:p>
        </p:txBody>
      </p:sp>
      <p:sp>
        <p:nvSpPr>
          <p:cNvPr id="12" name="TextBox 11"/>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reason carries the marks.</a:t>
            </a:r>
          </a:p>
        </p:txBody>
      </p:sp>
      <p:sp>
        <p:nvSpPr>
          <p:cNvPr id="13" name="TextBox 12"/>
          <p:cNvSpPr txBox="1"/>
          <p:nvPr/>
        </p:nvSpPr>
        <p:spPr>
          <a:xfrm>
            <a:off x="6575907" y="3025401"/>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 feature with a measured effect and no stated reason scores about half. A feature with a good reason that turned out to be worthless scores full marks when you report it.</a:t>
            </a:r>
          </a:p>
        </p:txBody>
      </p:sp>
      <p:sp>
        <p:nvSpPr>
          <p:cNvPr id="14" name="TextBox 13"/>
          <p:cNvSpPr txBox="1"/>
          <p:nvPr/>
        </p:nvSpPr>
        <p:spPr>
          <a:xfrm>
            <a:off x="6575907" y="4483393"/>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Deliverables: the Pipeline notebook a feature dictionary an ablation table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Measuring what helped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Take one column away at a time and watch what happens to the error.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ABLATION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Ablation: drop one column and refit</a:t>
            </a:r>
          </a:p>
        </p:txBody>
      </p:sp>
      <p:pic>
        <p:nvPicPr>
          <p:cNvPr id="4" name="Picture 3" descr="ablation.png"/>
          <p:cNvPicPr>
            <a:picLocks noChangeAspect="1"/>
          </p:cNvPicPr>
          <p:nvPr/>
        </p:nvPicPr>
        <p:blipFill>
          <a:blip r:embed="rId2"/>
          <a:stretch>
            <a:fillRect/>
          </a:stretch>
        </p:blipFill>
        <p:spPr>
          <a:xfrm>
            <a:off x="1174035" y="1911095"/>
            <a:ext cx="984362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One model per bar, all fitted on the same training rows and scored on the same test rows. The dashed line is the full model. A bar to the right of it means the error rose when that column was removed, so the column was carrying something.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Ablation, and a null result</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ABLATION means removing one feature, refitting the same model on the same split, and recording how much the chosen metric changed. A NULL RESULT is a feature whose removal changes the metric by less than the fold-to-fold spread.</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Drop mechanical power, kW from your model and the recall on the failure class gets clearly worse, so that column is carrying the model. Drop the machine identifier and nothing measurable happens.</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feature importance ranking. An importance number tells you how much one fitted model used a column. Ablation tells you what happens to the error when the column is gone, which is the question you actually asked.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helpers, so the loop stays short</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BOTH HELPERS</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cross_val_score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The preprocessor names its columns, so it has to be</a:t>
            </a:r>
          </a:p>
          <a:p>
            <a:pPr algn="l">
              <a:lnSpc>
                <a:spcPts val="1795"/>
              </a:lnSpc>
              <a:spcAft>
                <a:spcPts val="0"/>
              </a:spcAft>
            </a:pPr>
            <a:r>
              <a:rPr sz="1320" b="0" i="0">
                <a:solidFill>
                  <a:srgbClr val="D8E3EC"/>
                </a:solidFill>
                <a:latin typeface="Courier New"/>
              </a:rPr>
              <a:t># rebuilt for each reduced set of columns.</a:t>
            </a:r>
          </a:p>
          <a:p>
            <a:pPr algn="l">
              <a:lnSpc>
                <a:spcPts val="1795"/>
              </a:lnSpc>
              <a:spcAft>
                <a:spcPts val="0"/>
              </a:spcAft>
            </a:pPr>
            <a:r>
              <a:rPr sz="1320" b="0" i="0">
                <a:solidFill>
                  <a:srgbClr val="D8E3EC"/>
                </a:solidFill>
                <a:latin typeface="Courier New"/>
              </a:rPr>
              <a:t>def build(cols):</a:t>
            </a:r>
          </a:p>
          <a:p>
            <a:pPr algn="l">
              <a:lnSpc>
                <a:spcPts val="1795"/>
              </a:lnSpc>
              <a:spcAft>
                <a:spcPts val="0"/>
              </a:spcAft>
            </a:pPr>
            <a:r>
              <a:rPr sz="1320" b="0" i="0">
                <a:solidFill>
                  <a:srgbClr val="D8E3EC"/>
                </a:solidFill>
                <a:latin typeface="Courier New"/>
              </a:rPr>
              <a:t>    prep = ColumnTransformer([</a:t>
            </a:r>
          </a:p>
          <a:p>
            <a:pPr algn="l">
              <a:lnSpc>
                <a:spcPts val="1795"/>
              </a:lnSpc>
              <a:spcAft>
                <a:spcPts val="0"/>
              </a:spcAft>
            </a:pPr>
            <a:r>
              <a:rPr sz="1320" b="0" i="0">
                <a:solidFill>
                  <a:srgbClr val="D8E3EC"/>
                </a:solidFill>
                <a:latin typeface="Courier New"/>
              </a:rPr>
              <a:t>        ("n", StandardScaler(), [c for c in cols if c in num]),</a:t>
            </a:r>
          </a:p>
          <a:p>
            <a:pPr algn="l">
              <a:lnSpc>
                <a:spcPts val="1795"/>
              </a:lnSpc>
              <a:spcAft>
                <a:spcPts val="0"/>
              </a:spcAft>
            </a:pPr>
            <a:r>
              <a:rPr sz="1320" b="0" i="0">
                <a:solidFill>
                  <a:srgbClr val="D8E3EC"/>
                </a:solidFill>
                <a:latin typeface="Courier New"/>
              </a:rPr>
              <a:t>        ("c", OneHotEncoder(drop="first", handle_unknown="ignore"),</a:t>
            </a:r>
          </a:p>
          <a:p>
            <a:pPr algn="l">
              <a:lnSpc>
                <a:spcPts val="1795"/>
              </a:lnSpc>
              <a:spcAft>
                <a:spcPts val="0"/>
              </a:spcAft>
            </a:pPr>
            <a:r>
              <a:rPr sz="1320" b="0" i="0">
                <a:solidFill>
                  <a:srgbClr val="D8E3EC"/>
                </a:solidFill>
                <a:latin typeface="Courier New"/>
              </a:rPr>
              <a:t>              [c for c in cols if c in cat]),</a:t>
            </a:r>
          </a:p>
          <a:p>
            <a:pPr algn="l">
              <a:lnSpc>
                <a:spcPts val="1795"/>
              </a:lnSpc>
              <a:spcAft>
                <a:spcPts val="0"/>
              </a:spcAft>
            </a:pPr>
            <a:r>
              <a:rPr sz="1320" b="0" i="0">
                <a:solidFill>
                  <a:srgbClr val="D8E3EC"/>
                </a:solidFill>
                <a:latin typeface="Courier New"/>
              </a:rPr>
              <a:t>    ])</a:t>
            </a:r>
          </a:p>
          <a:p>
            <a:pPr algn="l">
              <a:lnSpc>
                <a:spcPts val="1795"/>
              </a:lnSpc>
              <a:spcAft>
                <a:spcPts val="0"/>
              </a:spcAft>
            </a:pPr>
            <a:r>
              <a:rPr sz="1320" b="0" i="0">
                <a:solidFill>
                  <a:srgbClr val="D8E3EC"/>
                </a:solidFill>
                <a:latin typeface="Courier New"/>
              </a:rPr>
              <a:t>    return Pipeline([("prep", prep), ("fit", LogisticRegression(max_iter=1000))])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def score(cols):</a:t>
            </a:r>
          </a:p>
          <a:p>
            <a:pPr algn="l">
              <a:lnSpc>
                <a:spcPts val="1795"/>
              </a:lnSpc>
              <a:spcAft>
                <a:spcPts val="0"/>
              </a:spcAft>
            </a:pPr>
            <a:r>
              <a:rPr sz="1320" b="0" i="0">
                <a:solidFill>
                  <a:srgbClr val="D8E3EC"/>
                </a:solidFill>
                <a:latin typeface="Courier New"/>
              </a:rPr>
              <a:t>    s = cross_val_score(build(cols), X[cols], y, cv=5,</a:t>
            </a:r>
          </a:p>
          <a:p>
            <a:pPr algn="l">
              <a:lnSpc>
                <a:spcPts val="1795"/>
              </a:lnSpc>
              <a:spcAft>
                <a:spcPts val="0"/>
              </a:spcAft>
            </a:pPr>
            <a:r>
              <a:rPr sz="1320" b="0" i="0">
                <a:solidFill>
                  <a:srgbClr val="D8E3EC"/>
                </a:solidFill>
                <a:latin typeface="Courier New"/>
              </a:rPr>
              <a:t>                        scoring="recall")</a:t>
            </a:r>
          </a:p>
          <a:p>
            <a:pPr algn="l">
              <a:lnSpc>
                <a:spcPts val="1795"/>
              </a:lnSpc>
              <a:spcAft>
                <a:spcPts val="0"/>
              </a:spcAft>
            </a:pPr>
            <a:r>
              <a:rPr sz="1320" b="0" i="0">
                <a:solidFill>
                  <a:srgbClr val="D8E3EC"/>
                </a:solidFill>
                <a:latin typeface="Courier New"/>
              </a:rPr>
              <a:t>    return s            # recall: higher is better</a:t>
            </a:r>
          </a:p>
          <a:p>
            <a:pPr algn="l">
              <a:lnSpc>
                <a:spcPts val="1795"/>
              </a:lnSpc>
              <a:spcAft>
                <a:spcPts val="0"/>
              </a:spcAft>
            </a:pPr>
            <a:r>
              <a:rPr sz="1320" b="0" i="0">
                <a:solidFill>
                  <a:srgbClr val="D8E3EC"/>
                </a:solidFill>
                <a:latin typeface="Courier New"/>
              </a:rPr>
              <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Call score() with one column left out, but pass the original model instead of build(cols). scikit-learn stops with "A given column is not a column of the dataframe", because the preprocessor is still asking for the column you removed. That error is the reason build() exists.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ablation loop</a:t>
            </a:r>
          </a:p>
        </p:txBody>
      </p:sp>
      <p:sp>
        <p:nvSpPr>
          <p:cNvPr id="4" name="Rounded Rectangle 3"/>
          <p:cNvSpPr/>
          <p:nvPr/>
        </p:nvSpPr>
        <p:spPr>
          <a:xfrm>
            <a:off x="7432206" y="512064"/>
            <a:ext cx="4073688"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ONE LOOP, ONE TABLE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pandas as pd</a:t>
            </a:r>
          </a:p>
          <a:p>
            <a:pPr algn="l">
              <a:lnSpc>
                <a:spcPts val="1795"/>
              </a:lnSpc>
              <a:spcAft>
                <a:spcPts val="0"/>
              </a:spcAft>
            </a:pPr>
            <a:r>
              <a:rPr sz="1320" b="0" i="0">
                <a:solidFill>
                  <a:srgbClr val="D8E3EC"/>
                </a:solidFill>
                <a:latin typeface="Courier New"/>
              </a:rPr>
              <a:t># build() and score() are the two helpers from the last slide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feats = list(X.columns)</a:t>
            </a:r>
          </a:p>
          <a:p>
            <a:pPr algn="l">
              <a:lnSpc>
                <a:spcPts val="1795"/>
              </a:lnSpc>
              <a:spcAft>
                <a:spcPts val="0"/>
              </a:spcAft>
            </a:pPr>
            <a:r>
              <a:rPr sz="1320" b="0" i="0">
                <a:solidFill>
                  <a:srgbClr val="D8E3EC"/>
                </a:solidFill>
                <a:latin typeface="Courier New"/>
              </a:rPr>
              <a:t>base = score(feats)</a:t>
            </a:r>
          </a:p>
          <a:p>
            <a:pPr algn="l">
              <a:lnSpc>
                <a:spcPts val="1795"/>
              </a:lnSpc>
              <a:spcAft>
                <a:spcPts val="0"/>
              </a:spcAft>
            </a:pPr>
            <a:r>
              <a:rPr sz="1320" b="0" i="0">
                <a:solidFill>
                  <a:srgbClr val="D8E3EC"/>
                </a:solidFill>
                <a:latin typeface="Courier New"/>
              </a:rPr>
              <a:t>rows = [("all features", base.mean(), base.std(), 0.0)]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for f in feats:</a:t>
            </a:r>
          </a:p>
          <a:p>
            <a:pPr algn="l">
              <a:lnSpc>
                <a:spcPts val="1795"/>
              </a:lnSpc>
              <a:spcAft>
                <a:spcPts val="0"/>
              </a:spcAft>
            </a:pPr>
            <a:r>
              <a:rPr sz="1320" b="0" i="0">
                <a:solidFill>
                  <a:srgbClr val="D8E3EC"/>
                </a:solidFill>
                <a:latin typeface="Courier New"/>
              </a:rPr>
              <a:t>    s = score([k for k in feats if k != f])</a:t>
            </a:r>
          </a:p>
          <a:p>
            <a:pPr algn="l">
              <a:lnSpc>
                <a:spcPts val="1795"/>
              </a:lnSpc>
              <a:spcAft>
                <a:spcPts val="0"/>
              </a:spcAft>
            </a:pPr>
            <a:r>
              <a:rPr sz="1320" b="0" i="0">
                <a:solidFill>
                  <a:srgbClr val="D8E3EC"/>
                </a:solidFill>
                <a:latin typeface="Courier New"/>
              </a:rPr>
              <a:t>    rows.append((f"drop {f}", s.mean(), s.std(),</a:t>
            </a:r>
          </a:p>
          <a:p>
            <a:pPr algn="l">
              <a:lnSpc>
                <a:spcPts val="1795"/>
              </a:lnSpc>
              <a:spcAft>
                <a:spcPts val="0"/>
              </a:spcAft>
            </a:pPr>
            <a:r>
              <a:rPr sz="1320" b="0" i="0">
                <a:solidFill>
                  <a:srgbClr val="D8E3EC"/>
                </a:solidFill>
                <a:latin typeface="Courier New"/>
              </a:rPr>
              <a:t>                 base.mean() - s.mean()))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"worse by" is positive when dropping that column lowered</a:t>
            </a:r>
          </a:p>
          <a:p>
            <a:pPr algn="l">
              <a:lnSpc>
                <a:spcPts val="1795"/>
              </a:lnSpc>
              <a:spcAft>
                <a:spcPts val="0"/>
              </a:spcAft>
            </a:pPr>
            <a:r>
              <a:rPr sz="1320" b="0" i="0">
                <a:solidFill>
                  <a:srgbClr val="D8E3EC"/>
                </a:solidFill>
                <a:latin typeface="Courier New"/>
              </a:rPr>
              <a:t># recall. Compare it against the spread column.</a:t>
            </a:r>
          </a:p>
          <a:p>
            <a:pPr algn="l">
              <a:lnSpc>
                <a:spcPts val="1795"/>
              </a:lnSpc>
              <a:spcAft>
                <a:spcPts val="0"/>
              </a:spcAft>
            </a:pPr>
            <a:r>
              <a:rPr sz="1320" b="0" i="0">
                <a:solidFill>
                  <a:srgbClr val="D8E3EC"/>
                </a:solidFill>
                <a:latin typeface="Courier New"/>
              </a:rPr>
              <a:t>pd.DataFrame(rows, columns=["run", "mean", "spread", "worse by"])</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cv=5 to a single train/test split and re-run twice with different seeds. The order of your table changes between runs, and you can no longer tell a real contribution from a reshuffle of the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Domain Advantage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controlled experiment, and you are both the experimenters and the subjects.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Domain Advantage</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Your team is assigned one of two conditions on the same dataset and the same metric.</a:t>
            </a:r>
          </a:p>
          <a:p>
            <a:pPr algn="l">
              <a:lnSpc>
                <a:spcPct val="125000"/>
              </a:lnSpc>
              <a:spcAft>
                <a:spcPts val="600"/>
              </a:spcAft>
            </a:pPr>
            <a:r>
              <a:rPr sz="1923" b="0" i="0">
                <a:solidFill>
                  <a:srgbClr val="1C3144"/>
                </a:solidFill>
                <a:latin typeface="Calibri"/>
              </a:rPr>
              <a:t>RAW COLUMNS: use the columns as they came, and any model you like.</a:t>
            </a:r>
          </a:p>
          <a:p>
            <a:pPr algn="l">
              <a:lnSpc>
                <a:spcPct val="125000"/>
              </a:lnSpc>
              <a:spcAft>
                <a:spcPts val="600"/>
              </a:spcAft>
            </a:pPr>
            <a:r>
              <a:rPr sz="1923" b="0" i="0">
                <a:solidFill>
                  <a:srgbClr val="1C3144"/>
                </a:solidFill>
                <a:latin typeface="Calibri"/>
              </a:rPr>
              <a:t>FEATURES: build features from your own discipline, and keep the simple model you were given.</a:t>
            </a:r>
          </a:p>
          <a:p>
            <a:pPr algn="l">
              <a:lnSpc>
                <a:spcPct val="125000"/>
              </a:lnSpc>
              <a:spcAft>
                <a:spcPts val="600"/>
              </a:spcAft>
            </a:pPr>
            <a:r>
              <a:rPr sz="1923" b="0" i="0">
                <a:solidFill>
                  <a:srgbClr val="1C3144"/>
                </a:solidFill>
                <a:latin typeface="Calibri"/>
              </a:rPr>
              <a:t>Thirty minutes. Then both teams report their score and explain the difference.</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physical quantity is missing from the raw columns?</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relationship from your degree connects two of them?</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are the units of your new column?</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Would you have that column before the outcome is known?</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much did it move recall on the failure class?</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that change bigger than your fold-to-fold spread?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Milestone 2, and what to do this week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is due, how it is marked, and the Test 2 specification.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ASSIGNMENT AND TEST 2</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5778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2 — due at the start of Week 12</a:t>
            </a:r>
          </a:p>
        </p:txBody>
      </p:sp>
      <p:sp>
        <p:nvSpPr>
          <p:cNvPr id="7" name="TextBox 6"/>
          <p:cNvSpPr txBox="1"/>
          <p:nvPr/>
        </p:nvSpPr>
        <p:spPr>
          <a:xfrm>
            <a:off x="1554480" y="2423159"/>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A cleaned dataset, a feature dictionary covering every column you built, and a first properly evaluated model inside a Pipeline. Graded milestone within the project's 25 per cent. Your individual contribution log has to be in the repository, and it is read against the commit history.</a:t>
            </a:r>
          </a:p>
        </p:txBody>
      </p:sp>
      <p:sp>
        <p:nvSpPr>
          <p:cNvPr id="8" name="Rounded Rectangle 7"/>
          <p:cNvSpPr/>
          <p:nvPr/>
        </p:nvSpPr>
        <p:spPr>
          <a:xfrm>
            <a:off x="685800" y="3482280"/>
            <a:ext cx="10820095" cy="1237607"/>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601152"/>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A10 — the feature dictionary and ablation table for your own project</a:t>
            </a:r>
          </a:p>
        </p:txBody>
      </p:sp>
      <p:sp>
        <p:nvSpPr>
          <p:cNvPr id="11" name="TextBox 10"/>
          <p:cNvSpPr txBox="1"/>
          <p:nvPr/>
        </p:nvSpPr>
        <p:spPr>
          <a:xfrm>
            <a:off x="1554480" y="3994344"/>
            <a:ext cx="9631375" cy="634103"/>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Five features minimum, each with a physical reason and a measured effect in your own metric. Include at least one feature that did not help, with the number that shows it.</a:t>
            </a:r>
          </a:p>
        </p:txBody>
      </p:sp>
      <p:sp>
        <p:nvSpPr>
          <p:cNvPr id="12" name="Rounded Rectangle 11"/>
          <p:cNvSpPr/>
          <p:nvPr/>
        </p:nvSpPr>
        <p:spPr>
          <a:xfrm>
            <a:off x="685800" y="4774751"/>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44147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893623"/>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2 specification is published today</a:t>
            </a:r>
          </a:p>
        </p:txBody>
      </p:sp>
      <p:sp>
        <p:nvSpPr>
          <p:cNvPr id="15" name="TextBox 14"/>
          <p:cNvSpPr txBox="1"/>
          <p:nvPr/>
        </p:nvSpPr>
        <p:spPr>
          <a:xfrm>
            <a:off x="1554480" y="5286815"/>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Individual, offline, on a laboratory machine with no internet and no AI assistants. Two hours of practical plus twenty-five minutes of written reasoning, worth 20 per cent. Week 14. The rubric is in the specification, and 45 of the 100 marks come from a structured answers cell.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knows only the columns you gave it. It has no physics, no code of practice and no site experience.</a:t>
            </a:r>
          </a:p>
        </p:txBody>
      </p:sp>
      <p:sp>
        <p:nvSpPr>
          <p:cNvPr id="6" name="Oval 5"/>
          <p:cNvSpPr/>
          <p:nvPr/>
        </p:nvSpPr>
        <p:spPr>
          <a:xfrm>
            <a:off x="685800" y="23880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33187"/>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One-hot encoding gives each category its own 0/1 column. An ordered number is defensible only when the spacing between the levels means something.</a:t>
            </a:r>
          </a:p>
        </p:txBody>
      </p:sp>
      <p:sp>
        <p:nvSpPr>
          <p:cNvPr id="8" name="Oval 7"/>
          <p:cNvSpPr/>
          <p:nvPr/>
        </p:nvSpPr>
        <p:spPr>
          <a:xfrm>
            <a:off x="685800" y="308592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3106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Identifier columns let a model memorise individual units. They look good in testing and generalise to nothing.</a:t>
            </a:r>
          </a:p>
        </p:txBody>
      </p:sp>
      <p:sp>
        <p:nvSpPr>
          <p:cNvPr id="10" name="Oval 9"/>
          <p:cNvSpPr/>
          <p:nvPr/>
        </p:nvSpPr>
        <p:spPr>
          <a:xfrm>
            <a:off x="685800" y="350802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53156"/>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Distance-based and penalised methods care about scale. Trees, forests and boosting do not, because a split on one column is unaffected by the units of another.</a:t>
            </a:r>
          </a:p>
        </p:txBody>
      </p:sp>
      <p:sp>
        <p:nvSpPr>
          <p:cNvPr id="12" name="Oval 11"/>
          <p:cNvSpPr/>
          <p:nvPr/>
        </p:nvSpPr>
        <p:spPr>
          <a:xfrm>
            <a:off x="685800" y="420589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15103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Every encoder and scaler belongs inside a Pipeline, so it is fitted on the training fold only.</a:t>
            </a:r>
          </a:p>
        </p:txBody>
      </p:sp>
      <p:sp>
        <p:nvSpPr>
          <p:cNvPr id="14" name="Oval 13"/>
          <p:cNvSpPr/>
          <p:nvPr/>
        </p:nvSpPr>
        <p:spPr>
          <a:xfrm>
            <a:off x="685800" y="462799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573126"/>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feature built from a physical relationship needs no new measurement, and mechanical power in kW is the example from your own discipline.</a:t>
            </a:r>
          </a:p>
        </p:txBody>
      </p:sp>
      <p:sp>
        <p:nvSpPr>
          <p:cNvPr id="16" name="Oval 15"/>
          <p:cNvSpPr/>
          <p:nvPr/>
        </p:nvSpPr>
        <p:spPr>
          <a:xfrm>
            <a:off x="685800" y="532586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71005"/>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Ablation is the honest measure of what a feature was worth: drop it, refit on the same split, and record the change with its spread.</a:t>
            </a:r>
          </a:p>
        </p:txBody>
      </p:sp>
      <p:sp>
        <p:nvSpPr>
          <p:cNvPr id="18" name="Oval 17"/>
          <p:cNvSpPr/>
          <p:nvPr/>
        </p:nvSpPr>
        <p:spPr>
          <a:xfrm>
            <a:off x="685800" y="602374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968883"/>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change smaller than the fold-to-fold spread is a null result, and reporting it is part of the work.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one-hot encode a supplier column with 340 distinct values. What have you just done to your model, and what would you do instead?</a:t>
            </a:r>
          </a:p>
        </p:txBody>
      </p:sp>
      <p:sp>
        <p:nvSpPr>
          <p:cNvPr id="6" name="Oval 5"/>
          <p:cNvSpPr/>
          <p:nvPr/>
        </p:nvSpPr>
        <p:spPr>
          <a:xfrm>
            <a:off x="685800" y="282254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85969"/>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add StandardScaler to a random forest and the score does not move. Explain why in one sentence.</a:t>
            </a:r>
          </a:p>
        </p:txBody>
      </p:sp>
      <p:sp>
        <p:nvSpPr>
          <p:cNvPr id="8" name="Oval 7"/>
          <p:cNvSpPr/>
          <p:nvPr/>
        </p:nvSpPr>
        <p:spPr>
          <a:xfrm>
            <a:off x="685800" y="335142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1484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ablation table says dropping the machine identifier, one-hot encoded changes recall on the failure classby 0.05, and your five folds are spread over 0.30. What do you report?</a:t>
            </a:r>
          </a:p>
        </p:txBody>
      </p:sp>
      <p:sp>
        <p:nvSpPr>
          <p:cNvPr id="10" name="Oval 9"/>
          <p:cNvSpPr/>
          <p:nvPr/>
        </p:nvSpPr>
        <p:spPr>
          <a:xfrm>
            <a:off x="685800" y="422629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89718"/>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team removes a feature because its importance score was low, without ablating. What could they have got wrong?</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build a feature from a column that is only filled in after the outcome is known. What is the name for that, and when will you find out?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One-hot on 340 suppliers?</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have added 340 columns, almost all of them zeros, and given the model a way to memorise individual suppliers. Group the rare ones into 'other', or replace the supplier with something physical — a delivery distance, a certified grade, a mean historical quality.</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Scaler makes no difference to a forest?</a:t>
            </a:r>
          </a:p>
        </p:txBody>
      </p:sp>
      <p:sp>
        <p:nvSpPr>
          <p:cNvPr id="9" name="TextBox 8"/>
          <p:cNvSpPr txBox="1"/>
          <p:nvPr/>
        </p:nvSpPr>
        <p:spPr>
          <a:xfrm>
            <a:off x="1216152" y="36136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tree splits one column at a time. The split 'torque_nm &lt;= 47' selects exactly the same rows whether torque_nm is in its own units or in standard deviations, so rescaling a column cannot change any split.</a:t>
            </a:r>
          </a:p>
        </p:txBody>
      </p:sp>
      <p:sp>
        <p:nvSpPr>
          <p:cNvPr id="10" name="Oval 9"/>
          <p:cNvSpPr/>
          <p:nvPr/>
        </p:nvSpPr>
        <p:spPr>
          <a:xfrm>
            <a:off x="685800" y="476751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73093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0.05 change against a 0.30 spread?</a:t>
            </a:r>
          </a:p>
        </p:txBody>
      </p:sp>
      <p:sp>
        <p:nvSpPr>
          <p:cNvPr id="12" name="TextBox 11"/>
          <p:cNvSpPr txBox="1"/>
          <p:nvPr/>
        </p:nvSpPr>
        <p:spPr>
          <a:xfrm>
            <a:off x="1216152" y="502354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null result. Report it as 'no measurable effect', with both the change and the spread shown. Then keep or drop the feature on other grounds — simplicity, cost of collecting it, or whether it is physically meaningful.</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Dropping a feature on importance alone?</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Two things. Importance is unstable, so a different seed gives a different ranking. And two correlated columns split their importance between them, so both can look weak while the pair is doing real work. Ablate before you drop.</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feature built from a column known only afterwards?</a:t>
            </a:r>
          </a:p>
        </p:txBody>
      </p:sp>
      <p:sp>
        <p:nvSpPr>
          <p:cNvPr id="18" name="TextBox 17"/>
          <p:cNvSpPr txBox="1"/>
          <p:nvPr/>
        </p:nvSpPr>
        <p:spPr>
          <a:xfrm>
            <a:off x="6854799" y="36136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Target leakage. Your cross-validated score will look excellent, because the answer is inside the feature. You will find out when the model reaches service and predicts nothing useful, unless someone asks the timing question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engineering</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Building a new column from existing ones using knowledge of the system.</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Categorical column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whose values are labels rather than quantities.</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Ordinal column</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categorical column whose values have a genuine order.</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Cardinality</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many distinct values a column has. High cardinality makes one-hot expensive.</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One-hot encoding</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0/1 column per category value.</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Ordinal encoding</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numeric column carrying the order of the categories.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Dummy variable trap</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With one column per value, the last is determined by the others. Drop one.</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Standardisation</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Subtract the mean, divide by the standard deviation. StandardScaler.</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Min-max scaling</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Map onto 0 to 1 using the smallest and largest values. MinMaxScaler.</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Scale sensitivity</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kNN, k-means, SVM, PCA, neural networks and penalised regression care. Trees do not.</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ColumnTransformer</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Routes each group of columns to its own preprocessing step.</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Pipeline</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Chains preprocessing to the model, so everything is fitted on the training fold only.</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handle_unknown</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Tells an encoder what to do with a category it never saw in training.</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Ratio feature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column divided by another. Often dimensionless and often portable.</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Interaction</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Two columns multiplied, so one's effect depends on the other's level.</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Dimensionless group</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combination whose units cancel. Comparable across plants and scales.</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Binning</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Turning a quantity into bands, usually at thresholds from a code or standard.</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Ablation</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Drop one feature, refit on the same split, record the change in the metric.</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Null result</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change smaller than the fold-to-fold spread. Report it.</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dictionary</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row per feature: name, inputs, unit, and the physical reason.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features</a:t>
            </a:r>
          </a:p>
        </p:txBody>
      </p:sp>
      <p:sp>
        <p:nvSpPr>
          <p:cNvPr id="4" name="TextBox 3"/>
          <p:cNvSpPr txBox="1"/>
          <p:nvPr/>
        </p:nvSpPr>
        <p:spPr>
          <a:xfrm>
            <a:off x="685800"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Encode</a:t>
            </a:r>
          </a:p>
        </p:txBody>
      </p:sp>
      <p:sp>
        <p:nvSpPr>
          <p:cNvPr id="5" name="TextBox 4"/>
          <p:cNvSpPr txBox="1"/>
          <p:nvPr/>
        </p:nvSpPr>
        <p:spPr>
          <a:xfrm>
            <a:off x="685800" y="2273037"/>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OneHotEncoder(drop="first", handle_unknown="ignore") for unordered categories · one ordered column where the spacing means something.</a:t>
            </a:r>
          </a:p>
        </p:txBody>
      </p:sp>
      <p:sp>
        <p:nvSpPr>
          <p:cNvPr id="6" name="TextBox 5"/>
          <p:cNvSpPr txBox="1"/>
          <p:nvPr/>
        </p:nvSpPr>
        <p:spPr>
          <a:xfrm>
            <a:off x="685800" y="3048740"/>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Scale</a:t>
            </a:r>
          </a:p>
        </p:txBody>
      </p:sp>
      <p:sp>
        <p:nvSpPr>
          <p:cNvPr id="7" name="TextBox 6"/>
          <p:cNvSpPr txBox="1"/>
          <p:nvPr/>
        </p:nvSpPr>
        <p:spPr>
          <a:xfrm>
            <a:off x="685800" y="341068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StandardScaler by default. Needed by kNN, k-means, SVM, PCA, neural networks and penalised regression. Ignored by trees, forests and boosting.</a:t>
            </a:r>
          </a:p>
        </p:txBody>
      </p:sp>
      <p:sp>
        <p:nvSpPr>
          <p:cNvPr id="8" name="TextBox 7"/>
          <p:cNvSpPr txBox="1"/>
          <p:nvPr/>
        </p:nvSpPr>
        <p:spPr>
          <a:xfrm>
            <a:off x="685800" y="4186384"/>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Route and chain</a:t>
            </a:r>
          </a:p>
        </p:txBody>
      </p:sp>
      <p:sp>
        <p:nvSpPr>
          <p:cNvPr id="9" name="TextBox 8"/>
          <p:cNvSpPr txBox="1"/>
          <p:nvPr/>
        </p:nvSpPr>
        <p:spPr>
          <a:xfrm>
            <a:off x="685800" y="4548326"/>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ColumnTransformer([("n", StandardScaler(), num), ("c", OneHotEncoder(), cat)]) inside Pipeline([("prep", prep), ("fit", model)]).</a:t>
            </a:r>
          </a:p>
        </p:txBody>
      </p:sp>
      <p:sp>
        <p:nvSpPr>
          <p:cNvPr id="10" name="TextBox 9"/>
          <p:cNvSpPr txBox="1"/>
          <p:nvPr/>
        </p:nvSpPr>
        <p:spPr>
          <a:xfrm>
            <a:off x="685800" y="532402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Build</a:t>
            </a:r>
          </a:p>
        </p:txBody>
      </p:sp>
      <p:sp>
        <p:nvSpPr>
          <p:cNvPr id="11" name="TextBox 10"/>
          <p:cNvSpPr txBox="1"/>
          <p:nvPr/>
        </p:nvSpPr>
        <p:spPr>
          <a:xfrm>
            <a:off x="685800" y="5685970"/>
            <a:ext cx="5158587" cy="793221"/>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df["power_kw"] = df["torque_nm"] * 2 * 3.14159 * df["rpm"] / 60.0 / 1000.0   mechanical power in kW, from Heating follows mechanical power, and power is torque times angular velocity.</a:t>
            </a:r>
          </a:p>
        </p:txBody>
      </p:sp>
      <p:sp>
        <p:nvSpPr>
          <p:cNvPr id="12" name="TextBox 11"/>
          <p:cNvSpPr txBox="1"/>
          <p:nvPr/>
        </p:nvSpPr>
        <p:spPr>
          <a:xfrm>
            <a:off x="6347307"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Check the new column</a:t>
            </a:r>
          </a:p>
        </p:txBody>
      </p:sp>
      <p:sp>
        <p:nvSpPr>
          <p:cNvPr id="13" name="TextBox 12"/>
          <p:cNvSpPr txBox="1"/>
          <p:nvPr/>
        </p:nvSpPr>
        <p:spPr>
          <a:xfrm>
            <a:off x="6347307" y="2273037"/>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describe() on it. An infinity means you divided by zero. An impossible range means two columns are in different units.</a:t>
            </a:r>
          </a:p>
        </p:txBody>
      </p:sp>
      <p:sp>
        <p:nvSpPr>
          <p:cNvPr id="14" name="TextBox 13"/>
          <p:cNvSpPr txBox="1"/>
          <p:nvPr/>
        </p:nvSpPr>
        <p:spPr>
          <a:xfrm>
            <a:off x="6347307" y="3048740"/>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Measure</a:t>
            </a:r>
          </a:p>
        </p:txBody>
      </p:sp>
      <p:sp>
        <p:nvSpPr>
          <p:cNvPr id="15" name="TextBox 14"/>
          <p:cNvSpPr txBox="1"/>
          <p:nvPr/>
        </p:nvSpPr>
        <p:spPr>
          <a:xfrm>
            <a:off x="6347307" y="341068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cross_val_score with the feature and without it, same split, and report the mean with its spread.</a:t>
            </a:r>
          </a:p>
        </p:txBody>
      </p:sp>
      <p:sp>
        <p:nvSpPr>
          <p:cNvPr id="16" name="TextBox 15"/>
          <p:cNvSpPr txBox="1"/>
          <p:nvPr/>
        </p:nvSpPr>
        <p:spPr>
          <a:xfrm>
            <a:off x="6347307" y="4186384"/>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Write it down</a:t>
            </a:r>
          </a:p>
        </p:txBody>
      </p:sp>
      <p:sp>
        <p:nvSpPr>
          <p:cNvPr id="17" name="TextBox 16"/>
          <p:cNvSpPr txBox="1"/>
          <p:nvPr/>
        </p:nvSpPr>
        <p:spPr>
          <a:xfrm>
            <a:off x="6347307" y="4548326"/>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One dictionary row per feature: name, inputs, unit, physical reason. Another engineer should be able to rebuild your feature set from it.</a:t>
            </a:r>
          </a:p>
        </p:txBody>
      </p:sp>
      <p:sp>
        <p:nvSpPr>
          <p:cNvPr id="18" name="TextBox 17"/>
          <p:cNvSpPr txBox="1"/>
          <p:nvPr/>
        </p:nvSpPr>
        <p:spPr>
          <a:xfrm>
            <a:off x="6347307" y="532402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Ask the timing question every time</a:t>
            </a:r>
          </a:p>
        </p:txBody>
      </p:sp>
      <p:sp>
        <p:nvSpPr>
          <p:cNvPr id="19" name="TextBox 18"/>
          <p:cNvSpPr txBox="1"/>
          <p:nvPr/>
        </p:nvSpPr>
        <p:spPr>
          <a:xfrm>
            <a:off x="6347307" y="5685970"/>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Would I really have this column before the outcome is known? If not, it is a leak.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An ablation table read for which feature earned its place, and a scaler that made no difference to a tree.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1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built a column out of physics</a:t>
            </a:r>
          </a:p>
          <a:p>
            <a:pPr algn="l">
              <a:lnSpc>
                <a:spcPct val="110000"/>
              </a:lnSpc>
              <a:spcAft>
                <a:spcPts val="600"/>
              </a:spcAft>
            </a:pPr>
            <a:r>
              <a:rPr sz="3400" b="1" i="0">
                <a:solidFill>
                  <a:srgbClr val="FFFFFF"/>
                </a:solidFill>
                <a:latin typeface="Cambria"/>
              </a:rPr>
              <a:t>and measured what it was worth.</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No new measurements were taken today. mechanical power in kW was already in your file, spread across two columns, and combining them moved the error more than any change of model would have. You also have a number for every feature that did nothing.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four models under one protocol, and a client who wants a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