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897ff2b6a5d4fc1" /><Relationship Type="http://schemas.openxmlformats.org/officeDocument/2006/relationships/extended-properties" Target="/docProps/app.xml" Id="Rd5bc7e57533a4dc1" /><Relationship Type="http://schemas.openxmlformats.org/officeDocument/2006/relationships/officeDocument" Target="/ppt/presentation.xml" Id="Rea614c5bf8774cda" /></Relationships>
</file>

<file path=ppt/presentation.xml><?xml version="1.0" encoding="utf-8"?>
<p:presentation xmlns:p="http://schemas.openxmlformats.org/presentationml/2006/main">
  <p:sldMasterIdLst>
    <p:sldMasterId xmlns:r="http://schemas.openxmlformats.org/officeDocument/2006/relationships" id="2147483648" r:id="R5581cf4824584c2f"/>
  </p:sldMasterIdLst>
  <p:notesMasterIdLst>
    <p:notesMasterId xmlns:r="http://schemas.openxmlformats.org/officeDocument/2006/relationships" r:id="R31c02cbf74f04eff"/>
  </p:notesMasterIdLst>
  <p:sldIdLst>
    <p:sldId xmlns:r="http://schemas.openxmlformats.org/officeDocument/2006/relationships" id="256" r:id="R9ddc7faf33e04dff"/>
    <p:sldId xmlns:r="http://schemas.openxmlformats.org/officeDocument/2006/relationships" id="257" r:id="Rb608ad82d9c14075"/>
    <p:sldId xmlns:r="http://schemas.openxmlformats.org/officeDocument/2006/relationships" id="258" r:id="R5367a0402e4e41ee"/>
    <p:sldId xmlns:r="http://schemas.openxmlformats.org/officeDocument/2006/relationships" id="259" r:id="R27842517f1dd40f2"/>
    <p:sldId xmlns:r="http://schemas.openxmlformats.org/officeDocument/2006/relationships" id="260" r:id="R1cc80f854a5e449a"/>
    <p:sldId xmlns:r="http://schemas.openxmlformats.org/officeDocument/2006/relationships" id="261" r:id="Reb38e3d1aee04b1d"/>
    <p:sldId xmlns:r="http://schemas.openxmlformats.org/officeDocument/2006/relationships" id="262" r:id="R2c4548b616754736"/>
    <p:sldId xmlns:r="http://schemas.openxmlformats.org/officeDocument/2006/relationships" id="263" r:id="Rdad2ab99b0b34807"/>
    <p:sldId xmlns:r="http://schemas.openxmlformats.org/officeDocument/2006/relationships" id="264" r:id="R6ba31cb39ffd4ff2"/>
    <p:sldId xmlns:r="http://schemas.openxmlformats.org/officeDocument/2006/relationships" id="265" r:id="Ra82173d41f63455c"/>
    <p:sldId xmlns:r="http://schemas.openxmlformats.org/officeDocument/2006/relationships" id="266" r:id="R557b138db1fc43a9"/>
    <p:sldId xmlns:r="http://schemas.openxmlformats.org/officeDocument/2006/relationships" id="267" r:id="R80770b120f1146bf"/>
    <p:sldId xmlns:r="http://schemas.openxmlformats.org/officeDocument/2006/relationships" id="268" r:id="R21d1fd2df2b7483c"/>
    <p:sldId xmlns:r="http://schemas.openxmlformats.org/officeDocument/2006/relationships" id="269" r:id="R067d9d0070cf49f6"/>
    <p:sldId xmlns:r="http://schemas.openxmlformats.org/officeDocument/2006/relationships" id="270" r:id="R229ae5ef09394784"/>
    <p:sldId xmlns:r="http://schemas.openxmlformats.org/officeDocument/2006/relationships" id="271" r:id="Rfdea9cdaf18241fb"/>
    <p:sldId xmlns:r="http://schemas.openxmlformats.org/officeDocument/2006/relationships" id="272" r:id="R5119002c32d843f3"/>
    <p:sldId xmlns:r="http://schemas.openxmlformats.org/officeDocument/2006/relationships" id="273" r:id="Rf77772fd330c41dd"/>
    <p:sldId xmlns:r="http://schemas.openxmlformats.org/officeDocument/2006/relationships" id="274" r:id="R3e03346cfdd84550"/>
    <p:sldId xmlns:r="http://schemas.openxmlformats.org/officeDocument/2006/relationships" id="275" r:id="R9b1bf960d61a4275"/>
    <p:sldId xmlns:r="http://schemas.openxmlformats.org/officeDocument/2006/relationships" id="276" r:id="R2ea17ed820de4068"/>
    <p:sldId xmlns:r="http://schemas.openxmlformats.org/officeDocument/2006/relationships" id="277" r:id="Rfd35c1387e3c469f"/>
    <p:sldId xmlns:r="http://schemas.openxmlformats.org/officeDocument/2006/relationships" id="278" r:id="Rbb9b9a5f9722436f"/>
    <p:sldId xmlns:r="http://schemas.openxmlformats.org/officeDocument/2006/relationships" id="279" r:id="R95d39837d19d437b"/>
    <p:sldId xmlns:r="http://schemas.openxmlformats.org/officeDocument/2006/relationships" id="280" r:id="R9ce652f756254489"/>
    <p:sldId xmlns:r="http://schemas.openxmlformats.org/officeDocument/2006/relationships" id="281" r:id="R68040329bdbb4e82"/>
    <p:sldId xmlns:r="http://schemas.openxmlformats.org/officeDocument/2006/relationships" id="282" r:id="R95482b54b5a54d6a"/>
    <p:sldId xmlns:r="http://schemas.openxmlformats.org/officeDocument/2006/relationships" id="283" r:id="Rf93be8f5a9f44915"/>
    <p:sldId xmlns:r="http://schemas.openxmlformats.org/officeDocument/2006/relationships" id="284" r:id="Rb2e71d78784342bd"/>
    <p:sldId xmlns:r="http://schemas.openxmlformats.org/officeDocument/2006/relationships" id="285" r:id="Rc72514beb6d24fd1"/>
    <p:sldId xmlns:r="http://schemas.openxmlformats.org/officeDocument/2006/relationships" id="286" r:id="R5c17d769c8a44dd4"/>
    <p:sldId xmlns:r="http://schemas.openxmlformats.org/officeDocument/2006/relationships" id="287" r:id="R8c4f39acb68948a6"/>
    <p:sldId xmlns:r="http://schemas.openxmlformats.org/officeDocument/2006/relationships" id="288" r:id="R427390e595fb4bd3"/>
    <p:sldId xmlns:r="http://schemas.openxmlformats.org/officeDocument/2006/relationships" id="289" r:id="R26ced6c84b494d42"/>
    <p:sldId xmlns:r="http://schemas.openxmlformats.org/officeDocument/2006/relationships" id="290" r:id="R7b82e6f51ede49d0"/>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2caa56a7e9d4715" /><Relationship Type="http://schemas.openxmlformats.org/officeDocument/2006/relationships/slideMaster" Target="/ppt/slideMasters/slideMaster1.xml" Id="R5581cf4824584c2f" /><Relationship Type="http://schemas.openxmlformats.org/officeDocument/2006/relationships/notesMaster" Target="/ppt/notesMasters/notesMaster1.xml" Id="R31c02cbf74f04eff" /><Relationship Type="http://schemas.openxmlformats.org/officeDocument/2006/relationships/presProps" Target="/ppt/presProps.xml" Id="R318bf6021a3d45bf" /><Relationship Type="http://schemas.openxmlformats.org/officeDocument/2006/relationships/tableStyles" Target="/ppt/tableStyles.xml" Id="R930da17093e94f4b" /><Relationship Type="http://schemas.openxmlformats.org/officeDocument/2006/relationships/slide" Target="/ppt/slides/slide1.xml" Id="R9ddc7faf33e04dff" /><Relationship Type="http://schemas.openxmlformats.org/officeDocument/2006/relationships/slide" Target="/ppt/slides/slide2.xml" Id="Rb608ad82d9c14075" /><Relationship Type="http://schemas.openxmlformats.org/officeDocument/2006/relationships/slide" Target="/ppt/slides/slide3.xml" Id="R5367a0402e4e41ee" /><Relationship Type="http://schemas.openxmlformats.org/officeDocument/2006/relationships/slide" Target="/ppt/slides/slide4.xml" Id="R27842517f1dd40f2" /><Relationship Type="http://schemas.openxmlformats.org/officeDocument/2006/relationships/slide" Target="/ppt/slides/slide5.xml" Id="R1cc80f854a5e449a" /><Relationship Type="http://schemas.openxmlformats.org/officeDocument/2006/relationships/slide" Target="/ppt/slides/slide6.xml" Id="Reb38e3d1aee04b1d" /><Relationship Type="http://schemas.openxmlformats.org/officeDocument/2006/relationships/slide" Target="/ppt/slides/slide7.xml" Id="R2c4548b616754736" /><Relationship Type="http://schemas.openxmlformats.org/officeDocument/2006/relationships/slide" Target="/ppt/slides/slide8.xml" Id="Rdad2ab99b0b34807" /><Relationship Type="http://schemas.openxmlformats.org/officeDocument/2006/relationships/slide" Target="/ppt/slides/slide9.xml" Id="R6ba31cb39ffd4ff2" /><Relationship Type="http://schemas.openxmlformats.org/officeDocument/2006/relationships/slide" Target="/ppt/slides/slide10.xml" Id="Ra82173d41f63455c" /><Relationship Type="http://schemas.openxmlformats.org/officeDocument/2006/relationships/slide" Target="/ppt/slides/slide11.xml" Id="R557b138db1fc43a9" /><Relationship Type="http://schemas.openxmlformats.org/officeDocument/2006/relationships/slide" Target="/ppt/slides/slide12.xml" Id="R80770b120f1146bf" /><Relationship Type="http://schemas.openxmlformats.org/officeDocument/2006/relationships/slide" Target="/ppt/slides/slide13.xml" Id="R21d1fd2df2b7483c" /><Relationship Type="http://schemas.openxmlformats.org/officeDocument/2006/relationships/slide" Target="/ppt/slides/slide14.xml" Id="R067d9d0070cf49f6" /><Relationship Type="http://schemas.openxmlformats.org/officeDocument/2006/relationships/slide" Target="/ppt/slides/slide15.xml" Id="R229ae5ef09394784" /><Relationship Type="http://schemas.openxmlformats.org/officeDocument/2006/relationships/slide" Target="/ppt/slides/slide16.xml" Id="Rfdea9cdaf18241fb" /><Relationship Type="http://schemas.openxmlformats.org/officeDocument/2006/relationships/slide" Target="/ppt/slides/slide17.xml" Id="R5119002c32d843f3" /><Relationship Type="http://schemas.openxmlformats.org/officeDocument/2006/relationships/slide" Target="/ppt/slides/slide18.xml" Id="Rf77772fd330c41dd" /><Relationship Type="http://schemas.openxmlformats.org/officeDocument/2006/relationships/slide" Target="/ppt/slides/slide19.xml" Id="R3e03346cfdd84550" /><Relationship Type="http://schemas.openxmlformats.org/officeDocument/2006/relationships/slide" Target="/ppt/slides/slide20.xml" Id="R9b1bf960d61a4275" /><Relationship Type="http://schemas.openxmlformats.org/officeDocument/2006/relationships/slide" Target="/ppt/slides/slide21.xml" Id="R2ea17ed820de4068" /><Relationship Type="http://schemas.openxmlformats.org/officeDocument/2006/relationships/slide" Target="/ppt/slides/slide22.xml" Id="Rfd35c1387e3c469f" /><Relationship Type="http://schemas.openxmlformats.org/officeDocument/2006/relationships/slide" Target="/ppt/slides/slide23.xml" Id="Rbb9b9a5f9722436f" /><Relationship Type="http://schemas.openxmlformats.org/officeDocument/2006/relationships/slide" Target="/ppt/slides/slide24.xml" Id="R95d39837d19d437b" /><Relationship Type="http://schemas.openxmlformats.org/officeDocument/2006/relationships/slide" Target="/ppt/slides/slide25.xml" Id="R9ce652f756254489" /><Relationship Type="http://schemas.openxmlformats.org/officeDocument/2006/relationships/slide" Target="/ppt/slides/slide26.xml" Id="R68040329bdbb4e82" /><Relationship Type="http://schemas.openxmlformats.org/officeDocument/2006/relationships/slide" Target="/ppt/slides/slide27.xml" Id="R95482b54b5a54d6a" /><Relationship Type="http://schemas.openxmlformats.org/officeDocument/2006/relationships/slide" Target="/ppt/slides/slide28.xml" Id="Rf93be8f5a9f44915" /><Relationship Type="http://schemas.openxmlformats.org/officeDocument/2006/relationships/slide" Target="/ppt/slides/slide29.xml" Id="Rb2e71d78784342bd" /><Relationship Type="http://schemas.openxmlformats.org/officeDocument/2006/relationships/slide" Target="/ppt/slides/slide30.xml" Id="Rc72514beb6d24fd1" /><Relationship Type="http://schemas.openxmlformats.org/officeDocument/2006/relationships/slide" Target="/ppt/slides/slide31.xml" Id="R5c17d769c8a44dd4" /><Relationship Type="http://schemas.openxmlformats.org/officeDocument/2006/relationships/slide" Target="/ppt/slides/slide32.xml" Id="R8c4f39acb68948a6" /><Relationship Type="http://schemas.openxmlformats.org/officeDocument/2006/relationships/slide" Target="/ppt/slides/slide33.xml" Id="R427390e595fb4bd3" /><Relationship Type="http://schemas.openxmlformats.org/officeDocument/2006/relationships/slide" Target="/ppt/slides/slide34.xml" Id="R26ced6c84b494d42" /><Relationship Type="http://schemas.openxmlformats.org/officeDocument/2006/relationships/slide" Target="/ppt/slides/slide35.xml" Id="R7b82e6f51ede49d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c0887db57d24fb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f6fdfc9c95e41fa" /><Relationship Type="http://schemas.openxmlformats.org/officeDocument/2006/relationships/notesMaster" Target="/ppt/notesMasters/notesMaster1.xml" Id="Ra159719896ba463b" /></Relationships>
</file>

<file path=ppt/notesSlides/_rels/notesSlide2.xml.rels>&#65279;<?xml version="1.0" encoding="utf-8"?><Relationships xmlns="http://schemas.openxmlformats.org/package/2006/relationships"><Relationship Type="http://schemas.openxmlformats.org/officeDocument/2006/relationships/slide" Target="/ppt/slides/slide2.xml" Id="Rc4e612a9e562457a" /><Relationship Type="http://schemas.openxmlformats.org/officeDocument/2006/relationships/notesMaster" Target="/ppt/notesMasters/notesMaster1.xml" Id="Re4da44fbe5c740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1aa1fc6d454107" /><Relationship Type="http://schemas.openxmlformats.org/officeDocument/2006/relationships/notesMaster" Target="/ppt/notesMasters/notesMaster1.xml" Id="R2c0f3b03a56a456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6d994ab645f4fcd" /><Relationship Type="http://schemas.openxmlformats.org/officeDocument/2006/relationships/notesMaster" Target="/ppt/notesMasters/notesMaster1.xml" Id="Re63d0bb2d79744f1" /></Relationships>
</file>

<file path=ppt/notesSlides/_rels/notesSlide5.xml.rels>&#65279;<?xml version="1.0" encoding="utf-8"?><Relationships xmlns="http://schemas.openxmlformats.org/package/2006/relationships"><Relationship Type="http://schemas.openxmlformats.org/officeDocument/2006/relationships/slide" Target="/ppt/slides/slide5.xml" Id="R5f4024b7dda1422b" /><Relationship Type="http://schemas.openxmlformats.org/officeDocument/2006/relationships/notesMaster" Target="/ppt/notesMasters/notesMaster1.xml" Id="R7f7dcdcbbd0747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5df2d0e531284047" /><Relationship Type="http://schemas.openxmlformats.org/officeDocument/2006/relationships/notesMaster" Target="/ppt/notesMasters/notesMaster1.xml" Id="R00fdf2210a8e40f1" /></Relationships>
</file>

<file path=ppt/notesSlides/_rels/notesSlide7.xml.rels>&#65279;<?xml version="1.0" encoding="utf-8"?><Relationships xmlns="http://schemas.openxmlformats.org/package/2006/relationships"><Relationship Type="http://schemas.openxmlformats.org/officeDocument/2006/relationships/slide" Target="/ppt/slides/slide7.xml" Id="Rd7e4ccb05cb6422c" /><Relationship Type="http://schemas.openxmlformats.org/officeDocument/2006/relationships/notesMaster" Target="/ppt/notesMasters/notesMaster1.xml" Id="Rc099e1626b534865" /></Relationships>
</file>

<file path=ppt/notesSlides/_rels/notesSlide8.xml.rels>&#65279;<?xml version="1.0" encoding="utf-8"?><Relationships xmlns="http://schemas.openxmlformats.org/package/2006/relationships"><Relationship Type="http://schemas.openxmlformats.org/officeDocument/2006/relationships/slide" Target="/ppt/slides/slide8.xml" Id="R1ac29389939a469e" /><Relationship Type="http://schemas.openxmlformats.org/officeDocument/2006/relationships/notesMaster" Target="/ppt/notesMasters/notesMaster1.xml" Id="Rbaa1d341d7234a5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e4fdbddea1a456a" /><Relationship Type="http://schemas.openxmlformats.org/officeDocument/2006/relationships/notesMaster" Target="/ppt/notesMasters/notesMaster1.xml" Id="Ra5e5b568d0d6474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340fb86abb34b6d" /><Relationship Type="http://schemas.openxmlformats.org/officeDocument/2006/relationships/notesMaster" Target="/ppt/notesMasters/notesMaster1.xml" Id="Rd295dfeb1c36426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9234da32c7a41ea" /><Relationship Type="http://schemas.openxmlformats.org/officeDocument/2006/relationships/notesMaster" Target="/ppt/notesMasters/notesMaster1.xml" Id="Rd897aa9f866047f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0f00541d2704a05" /><Relationship Type="http://schemas.openxmlformats.org/officeDocument/2006/relationships/notesMaster" Target="/ppt/notesMasters/notesMaster1.xml" Id="Rab47a6ce18194b1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9f36cd65a34475b" /><Relationship Type="http://schemas.openxmlformats.org/officeDocument/2006/relationships/notesMaster" Target="/ppt/notesMasters/notesMaster1.xml" Id="R1faf406b9e12413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23eaf8488f344a2" /><Relationship Type="http://schemas.openxmlformats.org/officeDocument/2006/relationships/notesMaster" Target="/ppt/notesMasters/notesMaster1.xml" Id="Rb06ebc6b73d048a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b5f605a2ebf4d4d" /><Relationship Type="http://schemas.openxmlformats.org/officeDocument/2006/relationships/notesMaster" Target="/ppt/notesMasters/notesMaster1.xml" Id="Rcb41e5eb3f28444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95fa813bb3148ab" /><Relationship Type="http://schemas.openxmlformats.org/officeDocument/2006/relationships/notesMaster" Target="/ppt/notesMasters/notesMaster1.xml" Id="Radc80cc6fc5a48d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809f200a12a4e69" /><Relationship Type="http://schemas.openxmlformats.org/officeDocument/2006/relationships/notesMaster" Target="/ppt/notesMasters/notesMaster1.xml" Id="Rf213cef5fad34f2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22bc7f2ef544b18" /><Relationship Type="http://schemas.openxmlformats.org/officeDocument/2006/relationships/notesMaster" Target="/ppt/notesMasters/notesMaster1.xml" Id="Rc4d8e36d278b4f8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8016125d5274b22" /><Relationship Type="http://schemas.openxmlformats.org/officeDocument/2006/relationships/notesMaster" Target="/ppt/notesMasters/notesMaster1.xml" Id="R26c971a5b4c8491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7710c4cace14f92" /><Relationship Type="http://schemas.openxmlformats.org/officeDocument/2006/relationships/notesMaster" Target="/ppt/notesMasters/notesMaster1.xml" Id="Ra0b409c9e8a7467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c4566df8daa4115" /><Relationship Type="http://schemas.openxmlformats.org/officeDocument/2006/relationships/notesMaster" Target="/ppt/notesMasters/notesMaster1.xml" Id="Rd72e53c9aa0d448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e9b75e0a5c04e21" /><Relationship Type="http://schemas.openxmlformats.org/officeDocument/2006/relationships/notesMaster" Target="/ppt/notesMasters/notesMaster1.xml" Id="R86cdad68c61a48d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093bdc45f1545c6" /><Relationship Type="http://schemas.openxmlformats.org/officeDocument/2006/relationships/notesMaster" Target="/ppt/notesMasters/notesMaster1.xml" Id="R84f6122c3ca8446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cda009aef444248" /><Relationship Type="http://schemas.openxmlformats.org/officeDocument/2006/relationships/notesMaster" Target="/ppt/notesMasters/notesMaster1.xml" Id="R56ea04afe1c344b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6a6d407fc1248a9" /><Relationship Type="http://schemas.openxmlformats.org/officeDocument/2006/relationships/notesMaster" Target="/ppt/notesMasters/notesMaster1.xml" Id="R5caee5ab3abd455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dc27d62b0d84d0b" /><Relationship Type="http://schemas.openxmlformats.org/officeDocument/2006/relationships/notesMaster" Target="/ppt/notesMasters/notesMaster1.xml" Id="R009608d3c25347f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c15e37ae3474987" /><Relationship Type="http://schemas.openxmlformats.org/officeDocument/2006/relationships/notesMaster" Target="/ppt/notesMasters/notesMaster1.xml" Id="Rcbbd2fc029834dd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f0685b4c8a94408" /><Relationship Type="http://schemas.openxmlformats.org/officeDocument/2006/relationships/notesMaster" Target="/ppt/notesMasters/notesMaster1.xml" Id="Rccb0101caad5497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4df8605da18407a" /><Relationship Type="http://schemas.openxmlformats.org/officeDocument/2006/relationships/notesMaster" Target="/ppt/notesMasters/notesMaster1.xml" Id="Ra616702f0f064e0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871722be4604021" /><Relationship Type="http://schemas.openxmlformats.org/officeDocument/2006/relationships/notesMaster" Target="/ppt/notesMasters/notesMaster1.xml" Id="Rfb22eafeb8ee49b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6522e4ca33a4974" /><Relationship Type="http://schemas.openxmlformats.org/officeDocument/2006/relationships/notesMaster" Target="/ppt/notesMasters/notesMaster1.xml" Id="R9d973a0825464eb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17c18c10e2a42b3" /><Relationship Type="http://schemas.openxmlformats.org/officeDocument/2006/relationships/notesMaster" Target="/ppt/notesMasters/notesMaster1.xml" Id="R01ca0effbb9c497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7b3952956654190" /><Relationship Type="http://schemas.openxmlformats.org/officeDocument/2006/relationships/notesMaster" Target="/ppt/notesMasters/notesMaster1.xml" Id="R757d21530bb44e2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76e5a27492c47e0" /><Relationship Type="http://schemas.openxmlformats.org/officeDocument/2006/relationships/notesMaster" Target="/ppt/notesMasters/notesMaster1.xml" Id="Rf2082c57a782455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418350700524952" /><Relationship Type="http://schemas.openxmlformats.org/officeDocument/2006/relationships/notesMaster" Target="/ppt/notesMasters/notesMaster1.xml" Id="Rda3e624f5ff74e49"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Creating and testing a useful feature</a:t>
            </a:r>
          </a:p>
          <a:p>
            <a:r>
              <a:t>CML3111, Week 11, slide 1</a:t>
            </a:r>
          </a:p>
          <a:p>
            <a:r>
              <a:t/>
            </a:r>
          </a:p>
          <a:p>
            <a:r>
              <a:t>Explanation to give</a:t>
            </a:r>
          </a:p>
          <a:p>
            <a:r>
              <a:t>Explain why a calculated input may help and test the idea under an unchanged validation protocol.</a:t>
            </a:r>
          </a:p>
          <a:p>
            <a:r>
              <a:t/>
            </a:r>
          </a:p>
          <a:p>
            <a:r>
              <a:t>Worked illustration / lecturer answer</a:t>
            </a:r>
          </a:p>
          <a:p>
            <a:r>
              <a:t>If validation MAE falls from 5 to 4 after adding one feature, the reduction is 1 target unit, or 20%. A comparison on a different split cannot isolate that change.</a:t>
            </a:r>
          </a:p>
          <a:p>
            <a:r>
              <a:t/>
            </a:r>
          </a:p>
          <a:p>
            <a:r>
              <a:t>Misconception to address</a:t>
            </a:r>
          </a:p>
          <a:p>
            <a:r>
              <a:t>Use this as an orientation to the lesson. Terms and syntax will be unpacked on their own slides; students do not need to know them in advance.</a:t>
            </a:r>
          </a:p>
          <a:p>
            <a:r>
              <a:t/>
            </a:r>
          </a:p>
          <a:p>
            <a:r>
              <a:t>On this slide</a:t>
            </a:r>
          </a:p>
          <a:p>
            <a:r>
              <a:t>Communications, Electrical, Mechatronics and Robotics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CML3111, Week 11, slide 2</a:t>
            </a:r>
          </a:p>
          <a:p>
            <a:r>
              <a:t/>
            </a:r>
          </a:p>
          <a:p>
            <a:r>
              <a:t>Explanation to give</a:t>
            </a:r>
          </a:p>
          <a:p>
            <a:r>
              <a:t>Explain why a calculated input may help and test the idea under an unchanged validation protocol.</a:t>
            </a:r>
          </a:p>
          <a:p>
            <a:r>
              <a:t/>
            </a:r>
          </a:p>
          <a:p>
            <a:r>
              <a:t>Worked illustration / lecturer answer</a:t>
            </a:r>
          </a:p>
          <a:p>
            <a:r>
              <a:t>If validation MAE falls from 5 to 4 after adding one feature, the reduction is 1 target unit, or 20%. A comparison on a different split cannot isolate that change.</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Create a feature from available measurements.</a:t>
            </a:r>
          </a:p>
          <a:p>
            <a:r>
              <a:t/>
            </a:r>
          </a:p>
          <a:p>
            <a:r>
              <a:t>Compare models with one controlled change.</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CML3111, Week 11, slide 3</a:t>
            </a:r>
          </a:p>
          <a:p>
            <a:r>
              <a:t/>
            </a:r>
          </a:p>
          <a:p>
            <a:r>
              <a:t>Explanation to give</a:t>
            </a:r>
          </a:p>
          <a:p>
            <a:r>
              <a:t>Explain why a calculated input may help and test the idea under an unchanged validation protocol.</a:t>
            </a:r>
          </a:p>
          <a:p>
            <a:r>
              <a:t/>
            </a:r>
          </a:p>
          <a:p>
            <a:r>
              <a:t>Worked illustration / lecturer answer</a:t>
            </a:r>
          </a:p>
          <a:p>
            <a:r>
              <a:t>If validation MAE falls from 5 to 4 after adding one feature, the reduction is 1 target unit, or 20%. A comparison on a different split cannot isolate that change.</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 already keep evaluation data separate. Now we change one input representation while keeping the comparison protocol fixed.</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CML3111, Week 11, slide 4</a:t>
            </a:r>
          </a:p>
          <a:p>
            <a:r>
              <a:t/>
            </a:r>
          </a:p>
          <a:p>
            <a:r>
              <a:t>Explanation to give</a:t>
            </a:r>
          </a:p>
          <a:p>
            <a:r>
              <a:t>Explain why a calculated input may help and test the idea under an unchanged validation protocol.</a:t>
            </a:r>
          </a:p>
          <a:p>
            <a:r>
              <a:t/>
            </a:r>
          </a:p>
          <a:p>
            <a:r>
              <a:t>Worked illustration / lecturer answer</a:t>
            </a:r>
          </a:p>
          <a:p>
            <a:r>
              <a:t>If validation MAE falls from 5 to 4 after adding one feature, the reduction is 1 target unit, or 20%. A comparison on a different split cannot isolate that change.</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calculated input may help a model. We compare the original and extended inputs on the same observations, then decide whether the evidence supports the extra feature.</a:t>
            </a:r>
          </a:p>
          <a:p>
            <a:r>
              <a:t/>
            </a:r>
          </a:p>
          <a:p>
            <a:r>
              <a:t>Continue to</a:t>
            </a:r>
          </a:p>
          <a:p>
            <a:r>
              <a:t>A feature has a meaning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feature has a meaning</a:t>
            </a:r>
          </a:p>
          <a:p>
            <a:r>
              <a:t>CML3111, Week 11, slide 5</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A feature is an input available at prediction time.</a:t>
            </a:r>
          </a:p>
          <a:p>
            <a:r>
              <a:t/>
            </a:r>
          </a:p>
          <a:p>
            <a:r>
              <a:t>An interaction multiplies two inputs to express a joint pattern.</a:t>
            </a:r>
          </a:p>
          <a:p>
            <a:r>
              <a:t/>
            </a:r>
          </a:p>
          <a:p>
            <a:r>
              <a:t>A better validation score can still reflect leakage.</a:t>
            </a:r>
          </a:p>
          <a:p>
            <a:r>
              <a:t/>
            </a:r>
          </a:p>
          <a:p>
            <a:r>
              <a:t>Compare the same observations and explain the physical meaning.</a:t>
            </a:r>
          </a:p>
          <a:p>
            <a:r>
              <a:t/>
            </a:r>
          </a:p>
          <a:p>
            <a:r>
              <a:t>Continue to</a:t>
            </a:r>
          </a:p>
          <a:p>
            <a:r>
              <a:t>Derived feature and Ratio and interaction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Derived feature and Ratio and interaction</a:t>
            </a:r>
          </a:p>
          <a:p>
            <a:r>
              <a:t>CML3111, Week 11, slide 6</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Derived feature: A new input calculated from existing inputs. Its definition and unit must be stated.</a:t>
            </a:r>
          </a:p>
          <a:p>
            <a:r>
              <a:t>Ratio and interaction: A ratio divides quantities; an interaction multiplies them. Both need a domain explanation and a unit check.</a:t>
            </a:r>
          </a:p>
          <a:p>
            <a:r>
              <a:t/>
            </a:r>
          </a:p>
          <a:p>
            <a:r>
              <a:t>Continue to</a:t>
            </a:r>
          </a:p>
          <a:p>
            <a:r>
              <a:t>Read the physical example across programmes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physical example across programmes</a:t>
            </a:r>
          </a:p>
          <a:p>
            <a:r>
              <a:t>CML3111, Week 11, slide 7</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Current I is the flow of electric charge, measured in amperes (A). Resistance R opposes that flow, measured in ohms.</a:t>
            </a:r>
          </a:p>
          <a:p>
            <a:r>
              <a:t/>
            </a:r>
          </a:p>
          <a:p>
            <a:r>
              <a:t>Power P is energy transferred per second, measured in watts (W). Resistive heating follows P = I²R in this example.</a:t>
            </a:r>
          </a:p>
          <a:p>
            <a:r>
              <a:t/>
            </a:r>
          </a:p>
          <a:p>
            <a:r>
              <a:t>I² means I × I. With I = 2 A and R = 3 ohms, P = 2 × 2 × 3 = 12 W. This relationship motivates a feature; evaluation still tests whether it helps.</a:t>
            </a:r>
          </a:p>
          <a:p>
            <a:r>
              <a:t/>
            </a:r>
          </a:p>
          <a:p>
            <a:r>
              <a:t>Continue to</a:t>
            </a:r>
          </a:p>
          <a:p>
            <a:r>
              <a:t>A physical relationship can form a feature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physical relationship can form a feature</a:t>
            </a:r>
          </a:p>
          <a:p>
            <a:r>
              <a:t>CML3111, Week 11, slide 8</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Explain each quantity and the unit of the result.</a:t>
            </a:r>
          </a:p>
          <a:p>
            <a:r>
              <a:t/>
            </a:r>
          </a:p>
          <a:p>
            <a:r>
              <a:t>Continue to</a:t>
            </a:r>
          </a:p>
          <a:p>
            <a:r>
              <a:t>An interaction uses two known inputs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 interaction uses two known inputs</a:t>
            </a:r>
          </a:p>
          <a:p>
            <a:r>
              <a:t>CML3111, Week 11, slide 9</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Current A | Resistance ohm | I squared × R W</a:t>
            </a:r>
          </a:p>
          <a:p>
            <a:r>
              <a:t>2 | 3 | 12</a:t>
            </a:r>
          </a:p>
          <a:p>
            <a:r>
              <a:t>4 | 3 | 48</a:t>
            </a:r>
          </a:p>
          <a:p>
            <a:r>
              <a:t>A derived input must be available when predicting. A useful physical relationship still needs validation.</a:t>
            </a:r>
          </a:p>
          <a:p>
            <a:r>
              <a:t/>
            </a:r>
          </a:p>
          <a:p>
            <a:r>
              <a:t>Continue to</a:t>
            </a:r>
          </a:p>
          <a:p>
            <a:r>
              <a:t>A percentage and its fraction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percentage and its fraction</a:t>
            </a:r>
          </a:p>
          <a:p>
            <a:r>
              <a:t>CML3111, Week 11, slide 10</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40% means 40 out of 100.</a:t>
            </a:r>
          </a:p>
          <a:p>
            <a:r>
              <a:t/>
            </a:r>
          </a:p>
          <a:p>
            <a:r>
              <a:t>40 / 100 gives 0.4.</a:t>
            </a:r>
          </a:p>
          <a:p>
            <a:r>
              <a:t/>
            </a:r>
          </a:p>
          <a:p>
            <a:r>
              <a:t>This changes the representation. It adds no new observation.</a:t>
            </a:r>
          </a:p>
          <a:p>
            <a:r>
              <a:t/>
            </a:r>
          </a:p>
          <a:p>
            <a:r>
              <a:t>Continue to</a:t>
            </a:r>
          </a:p>
          <a:p>
            <a:r>
              <a:t>A combined input needs a reason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combined input needs a reason</a:t>
            </a:r>
          </a:p>
          <a:p>
            <a:r>
              <a:t>CML3111, Week 11, slide 11</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An interaction multiplies two inputs.</a:t>
            </a:r>
          </a:p>
          <a:p>
            <a:r>
              <a:t/>
            </a:r>
          </a:p>
          <a:p>
            <a:r>
              <a:t>It may help a simple model represent a joint pattern.</a:t>
            </a:r>
          </a:p>
          <a:p>
            <a:r>
              <a:t/>
            </a:r>
          </a:p>
          <a:p>
            <a:r>
              <a:t>An interaction with degrees Celsius is an empirical feature, not automatically a physical law.</a:t>
            </a:r>
          </a:p>
          <a:p>
            <a:r>
              <a:t/>
            </a:r>
          </a:p>
          <a:p>
            <a:r>
              <a:t>Continue to</a:t>
            </a:r>
          </a:p>
          <a:p>
            <a:r>
              <a:t>Ablation and Improvement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Ablation and Improvement</a:t>
            </a:r>
          </a:p>
          <a:p>
            <a:r>
              <a:t>CML3111, Week 11, slide 12</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Ablation: Compare a model with and without a feature while keeping the data partitions, model family and metric fixed.</a:t>
            </a:r>
          </a:p>
          <a:p>
            <a:r>
              <a:t>Improvement: For an error metric, baseline error minus new error. A negative result means the added feature worsened validation error in that comparison.</a:t>
            </a:r>
          </a:p>
          <a:p>
            <a:r>
              <a:t/>
            </a:r>
          </a:p>
          <a:p>
            <a:r>
              <a:t>Continue to</a:t>
            </a:r>
          </a:p>
          <a:p>
            <a:r>
              <a:t>One change makes a comparison interpretable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One change makes a comparison interpretable</a:t>
            </a:r>
          </a:p>
          <a:p>
            <a:r>
              <a:t>CML3111, Week 11, slide 13</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Base MAE is 3.0. Extended MAE is 2.5.</a:t>
            </a:r>
          </a:p>
          <a:p>
            <a:r>
              <a:t/>
            </a:r>
          </a:p>
          <a:p>
            <a:r>
              <a:t>Improvement = base error minus extended error = 0.5.</a:t>
            </a:r>
          </a:p>
          <a:p>
            <a:r>
              <a:t/>
            </a:r>
          </a:p>
          <a:p>
            <a:r>
              <a:t>Keep the training rows, validation rows, model family and metric fixed.</a:t>
            </a:r>
          </a:p>
          <a:p>
            <a:r>
              <a:t/>
            </a:r>
          </a:p>
          <a:p>
            <a:r>
              <a:t>Continue to</a:t>
            </a:r>
          </a:p>
          <a:p>
            <a:r>
              <a:t>Feature comparisons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Feature comparisons in Python</a:t>
            </a:r>
          </a:p>
          <a:p>
            <a:r>
              <a:t>CML3111, Week 11, slide 14</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Read the displayed code line by line</a:t>
            </a:r>
          </a:p>
          <a:p>
            <a:r>
              <a:t>load_pct = 40</a:t>
            </a:r>
          </a:p>
          <a:p>
            <a:r>
              <a:t>Evaluate the complete right-hand expression first, then assign its result to the name or selected field on the left.</a:t>
            </a:r>
          </a:p>
          <a:p>
            <a:r>
              <a:t/>
            </a:r>
          </a:p>
          <a:p>
            <a:r>
              <a:t>ambient_c = 25</a:t>
            </a:r>
          </a:p>
          <a:p>
            <a:r>
              <a:t>Evaluate the complete right-hand expression first, then assign its result to the name or selected field on the left.</a:t>
            </a:r>
          </a:p>
          <a:p>
            <a:r>
              <a:t/>
            </a:r>
          </a:p>
          <a:p>
            <a:r>
              <a:t>load_fraction = load_pct / 100</a:t>
            </a:r>
          </a:p>
          <a:p>
            <a:r>
              <a:t>Evaluate the complete right-hand expression first, then assign its result to the name or selected field on the left.</a:t>
            </a:r>
          </a:p>
          <a:p>
            <a:r>
              <a:t/>
            </a:r>
          </a:p>
          <a:p>
            <a:r>
              <a:t>interaction = load_pct * ambient_c</a:t>
            </a:r>
          </a:p>
          <a:p>
            <a:r>
              <a:t>Evaluate the complete right-hand expression first, then assign its result to the name or selected field on the left.</a:t>
            </a:r>
          </a:p>
          <a:p>
            <a:r>
              <a:t/>
            </a:r>
          </a:p>
          <a:p>
            <a:r>
              <a:t>print(load_fraction, interaction)</a:t>
            </a:r>
          </a:p>
          <a:p>
            <a:r>
              <a:t>Evaluate the expression inside the parentheses and display it. Displaying is separate from returning a function result.</a:t>
            </a:r>
          </a:p>
          <a:p>
            <a:r>
              <a:t/>
            </a:r>
          </a:p>
          <a:p>
            <a:r>
              <a:t>base_mae = 3.0</a:t>
            </a:r>
          </a:p>
          <a:p>
            <a:r>
              <a:t>Evaluate the complete right-hand expression first, then assign its result to the name or selected field on the left.</a:t>
            </a:r>
          </a:p>
          <a:p>
            <a:r>
              <a:t/>
            </a:r>
          </a:p>
          <a:p>
            <a:r>
              <a:t>extended_mae = 2.5</a:t>
            </a:r>
          </a:p>
          <a:p>
            <a:r>
              <a:t>Evaluate the complete right-hand expression first, then assign its result to the name or selected field on the left.</a:t>
            </a:r>
          </a:p>
          <a:p>
            <a:r>
              <a:t/>
            </a:r>
          </a:p>
          <a:p>
            <a:r>
              <a:t>print(base_mae - extended_mae)</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Feature comparisons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Feature comparisons results</a:t>
            </a:r>
          </a:p>
          <a:p>
            <a:r>
              <a:t>CML3111, Week 11, slide 15</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0.4 1000</a:t>
            </a:r>
          </a:p>
          <a:p>
            <a:r>
              <a:t>0.5</a:t>
            </a:r>
          </a:p>
          <a:p>
            <a:r>
              <a:t/>
            </a:r>
          </a:p>
          <a:p>
            <a:r>
              <a:t>Continue to</a:t>
            </a:r>
          </a:p>
          <a:p>
            <a:r>
              <a:t>Read the two-model experiment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two-model experiment</a:t>
            </a:r>
          </a:p>
          <a:p>
            <a:r>
              <a:t>CML3111, Week 11, slide 16</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Each row contains a pair of inputs. for a, b in rows assigns the first entry to a and the second to b, then repeats the block.</a:t>
            </a:r>
          </a:p>
          <a:p>
            <a:r>
              <a:t/>
            </a:r>
          </a:p>
          <a:p>
            <a:r>
              <a:t>with_interaction returns a new table containing a, b and a × b. Both models keep the same training and validation rows.</a:t>
            </a:r>
          </a:p>
          <a:p>
            <a:r>
              <a:t/>
            </a:r>
          </a:p>
          <a:p>
            <a:r>
              <a:t>Create the model first, then call fit on the next line. round(value, 6) rounds a displayed number to six decimal places; retain full precision for calculations.</a:t>
            </a:r>
          </a:p>
          <a:p>
            <a:r>
              <a:t/>
            </a:r>
          </a:p>
          <a:p>
            <a:r>
              <a:t>Continue to</a:t>
            </a:r>
          </a:p>
          <a:p>
            <a:r>
              <a:t>Trace the interaction-building function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interaction-building function</a:t>
            </a:r>
          </a:p>
          <a:p>
            <a:r>
              <a:t>CML3111, Week 11, slide 17</a:t>
            </a:r>
          </a:p>
          <a:p>
            <a:r>
              <a:t/>
            </a:r>
          </a:p>
          <a:p>
            <a:r>
              <a:t>Explanation to give</a:t>
            </a:r>
          </a:p>
          <a:p>
            <a:r>
              <a:t>A derived feature is a new input calculated from known inputs. Explain its physical or operational reason and its units before presenting it to a model. An interaction allows one input's effect to depend on another.</a:t>
            </a:r>
          </a:p>
          <a:p>
            <a:r>
              <a:t/>
            </a:r>
          </a:p>
          <a:p>
            <a:r>
              <a:t>Worked illustration / lecturer answer</a:t>
            </a:r>
          </a:p>
          <a:p>
            <a:r>
              <a:t>For load_pct 50 and ambient_c 30, the course interaction load_pct * ambient_c is 1500. Separately, load_pct / 100 gives the fraction 0.5. These are different derived quantities. The interaction is a hypothesis to test, not a measured law.</a:t>
            </a:r>
          </a:p>
          <a:p>
            <a:r>
              <a:t/>
            </a:r>
          </a:p>
          <a:p>
            <a:r>
              <a:t>Misconception to address</a:t>
            </a:r>
          </a:p>
          <a:p>
            <a:r>
              <a:t>A plausible physical story does not guarantee an improvement. Do not use the target or information that would only become available after the prediction.</a:t>
            </a:r>
          </a:p>
          <a:p>
            <a:r>
              <a:t/>
            </a:r>
          </a:p>
          <a:p>
            <a:r>
              <a:t>On this slide</a:t>
            </a:r>
          </a:p>
          <a:p>
            <a:r>
              <a:t>Each row contains two inputs. for a, b in rows: assigns them to a and b. [a, b, a * b] builds a new row with their product as a third input.</a:t>
            </a:r>
          </a:p>
          <a:p>
            <a:r>
              <a:t/>
            </a:r>
          </a:p>
          <a:p>
            <a:r>
              <a:t>For row [2, 3], append [2, 3, 6]. For row [4, 5], append [4, 5, 20]. The function returns the newly built list of rows.</a:t>
            </a:r>
          </a:p>
          <a:p>
            <a:r>
              <a:t/>
            </a:r>
          </a:p>
          <a:p>
            <a:r>
              <a:t>The same function must transform both training and validation inputs. It uses no target values to construct the new feature.</a:t>
            </a:r>
          </a:p>
          <a:p>
            <a:r>
              <a:t/>
            </a:r>
          </a:p>
          <a:p>
            <a:r>
              <a:t>Reference / existing resource</a:t>
            </a:r>
          </a:p>
          <a:p>
            <a:r>
              <a:t>https://docs.python.org/3/tutorial/introduction.html</a:t>
            </a:r>
          </a:p>
          <a:p>
            <a:r>
              <a:t>https://docs.python.org/3/tutorial/controlflow.html;</a:t>
            </a:r>
          </a:p>
          <a:p>
            <a:r>
              <a:t/>
            </a:r>
          </a:p>
          <a:p>
            <a:r>
              <a:t>Continue to</a:t>
            </a:r>
          </a:p>
          <a:p>
            <a:r>
              <a:t>Two models under one protocol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models under one protocol</a:t>
            </a:r>
          </a:p>
          <a:p>
            <a:r>
              <a:t>CML3111, Week 11, slide 18</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Run this complete practice experiment in a fresh session.</a:t>
            </a:r>
          </a:p>
          <a:p>
            <a:r>
              <a:t/>
            </a:r>
          </a:p>
          <a:p>
            <a:r>
              <a:t>Both models use the same rows and targets; the second receives one additional input.</a:t>
            </a:r>
          </a:p>
          <a:p>
            <a:r>
              <a:t/>
            </a:r>
          </a:p>
          <a:p>
            <a:r>
              <a:t>Read every column before fitting.</a:t>
            </a:r>
          </a:p>
          <a:p>
            <a:r>
              <a:t/>
            </a:r>
          </a:p>
          <a:p>
            <a:r>
              <a:t>This invented experiment illustrates procedure, not a measured engineering benefit.</a:t>
            </a:r>
          </a:p>
          <a:p>
            <a:r>
              <a:t/>
            </a:r>
          </a:p>
          <a:p>
            <a:r>
              <a:t>Continue to</a:t>
            </a:r>
          </a:p>
          <a:p>
            <a:r>
              <a:t>Two models under one protocol in Python (1/3)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models under one protocol in Python (1/3)</a:t>
            </a:r>
          </a:p>
          <a:p>
            <a:r>
              <a:t>CML3111, Week 11, slide 19</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Read the displayed code line by line</a:t>
            </a:r>
          </a:p>
          <a:p>
            <a:r>
              <a:t>from sklearn.linear_model import LinearRegression</a:t>
            </a:r>
          </a:p>
          <a:p>
            <a:r>
              <a:t>Bring the named tool from this library into the current Python session.</a:t>
            </a:r>
          </a:p>
          <a:p>
            <a:r>
              <a:t/>
            </a:r>
          </a:p>
          <a:p>
            <a:r>
              <a:t>from sklearn.metrics import mean_absolute_error</a:t>
            </a:r>
          </a:p>
          <a:p>
            <a:r>
              <a:t>Bring the named tool from this library into the current Python session.</a:t>
            </a:r>
          </a:p>
          <a:p>
            <a:r>
              <a:t/>
            </a:r>
          </a:p>
          <a:p>
            <a:r>
              <a:t>train = [[1, 2], [2, 3], [3, 2], [4, 4], [5, 3]]</a:t>
            </a:r>
          </a:p>
          <a:p>
            <a:r>
              <a:t>Evaluate the complete right-hand expression first, then assign its result to the name or selected field on the left.</a:t>
            </a:r>
          </a:p>
          <a:p>
            <a:r>
              <a:t/>
            </a:r>
          </a:p>
          <a:p>
            <a:r>
              <a:t>y = [3, 5, 5, 8, 8]</a:t>
            </a:r>
          </a:p>
          <a:p>
            <a:r>
              <a:t>Evaluate the complete right-hand expression first, then assign its result to the name or selected field on the left.</a:t>
            </a:r>
          </a:p>
          <a:p>
            <a:r>
              <a:t/>
            </a:r>
          </a:p>
          <a:p>
            <a:r>
              <a:t>validation = [[2, 2], [3, 3]]</a:t>
            </a:r>
          </a:p>
          <a:p>
            <a:r>
              <a:t>Evaluate the complete right-hand expression first, then assign its result to the name or selected field on the left.</a:t>
            </a:r>
          </a:p>
          <a:p>
            <a:r>
              <a:t/>
            </a:r>
          </a:p>
          <a:p>
            <a:r>
              <a:t>truth = [4, 6]</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Two models under one protocol in Python (2/3)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models under one protocol in Python (2/3)</a:t>
            </a:r>
          </a:p>
          <a:p>
            <a:r>
              <a:t>CML3111, Week 11, slide 20</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Read the displayed code line by line</a:t>
            </a:r>
          </a:p>
          <a:p>
            <a:r>
              <a:t>def with_interaction(rows):</a:t>
            </a:r>
          </a:p>
          <a:p>
            <a:r>
              <a:t>Store these instructions under this function name. Names in parentheses are its inputs; the body waits until a call.</a:t>
            </a:r>
          </a:p>
          <a:p>
            <a:r>
              <a:t/>
            </a:r>
          </a:p>
          <a:p>
            <a:r>
              <a:t>result = []</a:t>
            </a:r>
          </a:p>
          <a:p>
            <a:r>
              <a:t>Evaluate the complete right-hand expression first, then assign its result to the name or selected field on the left.</a:t>
            </a:r>
          </a:p>
          <a:p>
            <a:r>
              <a:t/>
            </a:r>
          </a:p>
          <a:p>
            <a:r>
              <a:t>for a, b in rows:</a:t>
            </a:r>
          </a:p>
          <a:p>
            <a:r>
              <a:t>Take each item or pair in turn, assign the loop name(s), and repeat the indented body.</a:t>
            </a:r>
          </a:p>
          <a:p>
            <a:r>
              <a:t/>
            </a:r>
          </a:p>
          <a:p>
            <a:r>
              <a:t>result.append([a, b, a * b])</a:t>
            </a:r>
          </a:p>
          <a:p>
            <a:r>
              <a:t>Evaluate the argument and add it as one new item at the end of this list.</a:t>
            </a:r>
          </a:p>
          <a:p>
            <a:r>
              <a:t/>
            </a:r>
          </a:p>
          <a:p>
            <a:r>
              <a:t>return result</a:t>
            </a:r>
          </a:p>
          <a:p>
            <a:r>
              <a:t>Evaluate this result and send it to the caller, ending this function call.</a:t>
            </a:r>
          </a:p>
          <a:p>
            <a:r>
              <a:t/>
            </a:r>
          </a:p>
          <a:p>
            <a:r>
              <a:t>base = LinearRegression()</a:t>
            </a:r>
          </a:p>
          <a:p>
            <a:r>
              <a:t>Evaluate the complete right-hand expression first, then assign its result to the name or selected field on the left.</a:t>
            </a:r>
          </a:p>
          <a:p>
            <a:r>
              <a:t/>
            </a:r>
          </a:p>
          <a:p>
            <a:r>
              <a:t>base.fit(train, y)</a:t>
            </a:r>
          </a:p>
          <a:p>
            <a:r>
              <a:t>Learn from the supplied training rows and their aligned targets. This changes the fitted object’s state.</a:t>
            </a:r>
          </a:p>
          <a:p>
            <a:r>
              <a:t/>
            </a:r>
          </a:p>
          <a:p>
            <a:r>
              <a:t>extended = LinearRegression()</a:t>
            </a:r>
          </a:p>
          <a:p>
            <a:r>
              <a:t>Evaluate the complete right-hand expression first, then assign its result to the name or selected field on the left.</a:t>
            </a:r>
          </a:p>
          <a:p>
            <a:r>
              <a:t/>
            </a:r>
          </a:p>
          <a:p>
            <a:r>
              <a:t>extended.fit(with_interaction(train), y)</a:t>
            </a:r>
          </a:p>
          <a:p>
            <a:r>
              <a:t>Learn from the supplied training rows and their aligned targets. This changes the fitted object’s state.</a:t>
            </a:r>
          </a:p>
          <a:p>
            <a:r>
              <a:t/>
            </a:r>
          </a:p>
          <a:p>
            <a:r>
              <a:t>base_predictions = base.predict(validation)</a:t>
            </a:r>
          </a:p>
          <a:p>
            <a:r>
              <a:t>Apply the already fitted rule to these input rows without passing their true targets.</a:t>
            </a:r>
          </a:p>
          <a:p>
            <a:r>
              <a:t/>
            </a:r>
          </a:p>
          <a:p>
            <a:r>
              <a:t>base_error = mean_absolute_error(truth, base_predictions)</a:t>
            </a:r>
          </a:p>
          <a:p>
            <a:r>
              <a:t>Evaluate the complete right-hand expression first, then assign its result to the name or selected field on the left.</a:t>
            </a:r>
          </a:p>
          <a:p>
            <a:r>
              <a:t/>
            </a:r>
          </a:p>
          <a:p>
            <a:r>
              <a:t>Result / continuity</a:t>
            </a:r>
          </a:p>
          <a:p>
            <a:r>
              <a:t>Continue the SAME cell; keep indentation. Run after all parts are entered.</a:t>
            </a:r>
          </a:p>
          <a:p>
            <a:r>
              <a:t/>
            </a:r>
          </a:p>
          <a:p>
            <a:r>
              <a:t>Continue to</a:t>
            </a:r>
          </a:p>
          <a:p>
            <a:r>
              <a:t>Two models under one protocol in Python (3/3)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models under one protocol in Python (3/3)</a:t>
            </a:r>
          </a:p>
          <a:p>
            <a:r>
              <a:t>CML3111, Week 11, slide 21</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Read the displayed code line by line</a:t>
            </a:r>
          </a:p>
          <a:p>
            <a:r>
              <a:t>print(round(base_error, 6))</a:t>
            </a:r>
          </a:p>
          <a:p>
            <a:r>
              <a:t>Evaluate the expression inside the parentheses and display it. Displaying is separate from returning a function result.</a:t>
            </a:r>
          </a:p>
          <a:p>
            <a:r>
              <a:t/>
            </a:r>
          </a:p>
          <a:p>
            <a:r>
              <a:t>validation_features = with_interaction(validation)</a:t>
            </a:r>
          </a:p>
          <a:p>
            <a:r>
              <a:t>Evaluate the complete right-hand expression first, then assign its result to the name or selected field on the left.</a:t>
            </a:r>
          </a:p>
          <a:p>
            <a:r>
              <a:t/>
            </a:r>
          </a:p>
          <a:p>
            <a:r>
              <a:t>extended_predictions = extended.predict(validation_features)</a:t>
            </a:r>
          </a:p>
          <a:p>
            <a:r>
              <a:t>Apply the already fitted rule to these input rows without passing their true targets.</a:t>
            </a:r>
          </a:p>
          <a:p>
            <a:r>
              <a:t/>
            </a:r>
          </a:p>
          <a:p>
            <a:r>
              <a:t>error = mean_absolute_error(truth, extended_predictions)</a:t>
            </a:r>
          </a:p>
          <a:p>
            <a:r>
              <a:t>Evaluate the complete right-hand expression first, then assign its result to the name or selected field on the left.</a:t>
            </a:r>
          </a:p>
          <a:p>
            <a:r>
              <a:t/>
            </a:r>
          </a:p>
          <a:p>
            <a:r>
              <a:t>print(round(error, 6))</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Scaling changes units of comparison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Scaling changes units of comparison</a:t>
            </a:r>
          </a:p>
          <a:p>
            <a:r>
              <a:t>CML3111, Week 11, slide 22</a:t>
            </a:r>
          </a:p>
          <a:p>
            <a:r>
              <a:t/>
            </a:r>
          </a:p>
          <a:p>
            <a:r>
              <a:t>Explanation to give</a:t>
            </a:r>
          </a:p>
          <a:p>
            <a:r>
              <a:t>Scaling changes numerical ranges to make inputs comparable for algorithms that are sensitive to magnitude. Learn the scaling values from the training subset and apply the same transformation later.</a:t>
            </a:r>
          </a:p>
          <a:p>
            <a:r>
              <a:t/>
            </a:r>
          </a:p>
          <a:p>
            <a:r>
              <a:t>Worked illustration / lecturer answer</a:t>
            </a:r>
          </a:p>
          <a:p>
            <a:r>
              <a:t>Converting a length from metres to millimetres multiplies its numeric value by 1000 without changing the physical length. Standardisation uses training mean and standard deviation to express relative position.</a:t>
            </a:r>
          </a:p>
          <a:p>
            <a:r>
              <a:t/>
            </a:r>
          </a:p>
          <a:p>
            <a:r>
              <a:t>Misconception to address</a:t>
            </a:r>
          </a:p>
          <a:p>
            <a:r>
              <a:t>Scaling is not evidence that all features are equally useful. Never learn the scaler separately on validation or test observations.</a:t>
            </a:r>
          </a:p>
          <a:p>
            <a:r>
              <a:t/>
            </a:r>
          </a:p>
          <a:p>
            <a:r>
              <a:t>On this slide</a:t>
            </a:r>
          </a:p>
          <a:p>
            <a:r>
              <a:t>A distance calculation can be dominated by a feature with larger numerical values. Scaling puts feature values on a chosen numerical scale.</a:t>
            </a:r>
          </a:p>
          <a:p>
            <a:r>
              <a:t/>
            </a:r>
          </a:p>
          <a:p>
            <a:r>
              <a:t>One example is (value - training_min) / (training_max - training_min). With training limits 10 and 30, value 20 becomes 10 / 20 = 0.5.</a:t>
            </a:r>
          </a:p>
          <a:p>
            <a:r>
              <a:t/>
            </a:r>
          </a:p>
          <a:p>
            <a:r>
              <a:t>Use the same learned limits for new observations. A zero training range needs a defined handling rule. New values outside the training range may scale outside 0 to 1.</a:t>
            </a:r>
          </a:p>
          <a:p>
            <a:r>
              <a:t/>
            </a:r>
          </a:p>
          <a:p>
            <a:r>
              <a:t>Reference / existing resource</a:t>
            </a:r>
          </a:p>
          <a:p>
            <a:r>
              <a:t>https://docs.python.org/3/tutorial/introduction.html</a:t>
            </a:r>
          </a:p>
          <a:p>
            <a:r>
              <a:t>https://docs.python.org/3/tutorial/controlflow.html;</a:t>
            </a:r>
          </a:p>
          <a:p>
            <a:r>
              <a:t/>
            </a:r>
          </a:p>
          <a:p>
            <a:r>
              <a:t>Continue to</a:t>
            </a:r>
          </a:p>
          <a:p>
            <a:r>
              <a:t>Encoding and Scaling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Encoding and Scaling</a:t>
            </a:r>
          </a:p>
          <a:p>
            <a:r>
              <a:t>CML3111, Week 11, slide 23</a:t>
            </a:r>
          </a:p>
          <a:p>
            <a:r>
              <a:t/>
            </a:r>
          </a:p>
          <a:p>
            <a:r>
              <a:t>Explanation to give</a:t>
            </a:r>
          </a:p>
          <a:p>
            <a:r>
              <a:t>One-hot encoding gives each category its own indicator column. A row has a 1 in the column matching its category and 0 in the others.</a:t>
            </a:r>
          </a:p>
          <a:p>
            <a:r>
              <a:t/>
            </a:r>
          </a:p>
          <a:p>
            <a:r>
              <a:t>Worked illustration / lecturer answer</a:t>
            </a:r>
          </a:p>
          <a:p>
            <a:r>
              <a:t>For categories A and B, an A row becomes [1,0] and a B row becomes [0,1]. Assigning A=1 and B=2 could accidentally suggest a meaningful numerical distance or order.</a:t>
            </a:r>
          </a:p>
          <a:p>
            <a:r>
              <a:t/>
            </a:r>
          </a:p>
          <a:p>
            <a:r>
              <a:t>Misconception to address</a:t>
            </a:r>
          </a:p>
          <a:p>
            <a:r>
              <a:t>Fit the encoder on training data and define how to handle categories not seen during training. Do not invent an ordinal meaning for names.</a:t>
            </a:r>
          </a:p>
          <a:p>
            <a:r>
              <a:t/>
            </a:r>
          </a:p>
          <a:p>
            <a:r>
              <a:t>On this slide</a:t>
            </a:r>
          </a:p>
          <a:p>
            <a:r>
              <a:t>Encoding: Representing a category numerically. One-hot uses separate indicator columns. Arbitrary integer labels can falsely suggest an order.</a:t>
            </a:r>
          </a:p>
          <a:p>
            <a:r>
              <a:t>Scaling: Changing the numerical scale of features. Fit learned scaling on training data only. It matters for distance-based models but is not required by ordinary decision trees.</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CML3111, Week 11, slide 24</a:t>
            </a:r>
          </a:p>
          <a:p>
            <a:r>
              <a:t/>
            </a:r>
          </a:p>
          <a:p>
            <a:r>
              <a:t>Explanation to give</a:t>
            </a:r>
          </a:p>
          <a:p>
            <a:r>
              <a:t>Use the displayed example as a short individual revision question, then explain the reasoning behind its answer.</a:t>
            </a:r>
          </a:p>
          <a:p>
            <a:r>
              <a:t/>
            </a:r>
          </a:p>
          <a:p>
            <a:r>
              <a:t>Worked illustration / lecturer answer</a:t>
            </a:r>
          </a:p>
          <a:p>
            <a:r>
              <a:t>Example: If the extended error becomes 3.4, calculate improvement and decide whether this evidence supports retaining the feature.</a:t>
            </a:r>
          </a:p>
          <a:p>
            <a:r>
              <a:t/>
            </a:r>
          </a:p>
          <a:p>
            <a:r>
              <a:t>Answer: Improvement is -0.4. This validation comparison does not support retaining it. One split is limited evidence; the final test remains untouched.</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CML3111, Week 11, slide 25</a:t>
            </a:r>
          </a:p>
          <a:p>
            <a:r>
              <a:t/>
            </a:r>
          </a:p>
          <a:p>
            <a:r>
              <a:t>Explanation to give</a:t>
            </a:r>
          </a:p>
          <a:p>
            <a:r>
              <a:t>Read the metric with its unit and evaluation population. Explain why that error measure matches the cost of a wrong decision in the stated engineering setting.</a:t>
            </a:r>
          </a:p>
          <a:p>
            <a:r>
              <a:t/>
            </a:r>
          </a:p>
          <a:p>
            <a:r>
              <a:t>Worked illustration / lecturer answer</a:t>
            </a:r>
          </a:p>
          <a:p>
            <a:r>
              <a:t>MAE 3 kW describes an average absolute error on named observations; it does not guarantee every prediction lies within 3 kW. Report baseline comparison and the evaluation protocol.</a:t>
            </a:r>
          </a:p>
          <a:p>
            <a:r>
              <a:t/>
            </a:r>
          </a:p>
          <a:p>
            <a:r>
              <a:t>Misconception to address</a:t>
            </a:r>
          </a:p>
          <a:p>
            <a:r>
              <a:t>Avoid a deployment claim based only on a score. State genuine limitations involving data coverage, measurement quality or future operating conditions.</a:t>
            </a:r>
          </a:p>
          <a:p>
            <a:r>
              <a:t/>
            </a:r>
          </a:p>
          <a:p>
            <a:r>
              <a:t>On this slide</a:t>
            </a:r>
          </a:p>
          <a:p>
            <a:r>
              <a:t>W11 names four output features and a two-model ablation.</a:t>
            </a:r>
          </a:p>
          <a:p>
            <a:r>
              <a:t/>
            </a:r>
          </a:p>
          <a:p>
            <a:r>
              <a:t>Keep the original row order and full precision. Fit preprocessing on the training rows only.</a:t>
            </a:r>
          </a:p>
          <a:p>
            <a:r>
              <a:t/>
            </a:r>
          </a:p>
          <a:p>
            <a:r>
              <a:t>Use the supplied written scenario for the interpretation requested there.</a:t>
            </a:r>
          </a:p>
          <a:p>
            <a:r>
              <a:t/>
            </a:r>
          </a:p>
          <a:p>
            <a:r>
              <a:t>Do not substitute this practice example’s result.</a:t>
            </a:r>
          </a:p>
          <a:p>
            <a:r>
              <a:t/>
            </a:r>
          </a:p>
          <a:p>
            <a:r>
              <a:t>Continue to</a:t>
            </a:r>
          </a:p>
          <a:p>
            <a:r>
              <a:t>Features without misleading evaluation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Features without misleading evaluation</a:t>
            </a:r>
          </a:p>
          <a:p>
            <a:r>
              <a:t>CML3111, Week 11, slide 26</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Rescaling an input usually does not change the partitions available to an ordinary decision tree.</a:t>
            </a:r>
          </a:p>
          <a:p>
            <a:r>
              <a:t/>
            </a:r>
          </a:p>
          <a:p>
            <a:r>
              <a:t>An identifier or a future-known field can create an apparent improvement without useful predictive information.</a:t>
            </a:r>
          </a:p>
          <a:p>
            <a:r>
              <a:t/>
            </a:r>
          </a:p>
          <a:p>
            <a:r>
              <a:t>Dividing by zero can produce infinity or an error; decide what the denominator means before replacing it.</a:t>
            </a:r>
          </a:p>
          <a:p>
            <a:r>
              <a:t/>
            </a:r>
          </a:p>
          <a:p>
            <a:r>
              <a:t>Continue to</a:t>
            </a:r>
          </a:p>
          <a:p>
            <a:r>
              <a:t>Features without misleading evaluation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Features without misleading evaluation continued</a:t>
            </a:r>
          </a:p>
          <a:p>
            <a:r>
              <a:t>CML3111, Week 11, slide 27</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Read ablation differences using the same error definition, and explain features using domain knowledge.</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CML3111, Week 11, slide 28</a:t>
            </a:r>
          </a:p>
          <a:p>
            <a:r>
              <a:t/>
            </a:r>
          </a:p>
          <a:p>
            <a:r>
              <a:t>Explanation to give</a:t>
            </a:r>
          </a:p>
          <a:p>
            <a:r>
              <a:t>Name this cohort’s target and its unit exactly as displayed. Each row is one operating observation, while equipment_id can repeat across several observations.</a:t>
            </a:r>
          </a:p>
          <a:p>
            <a:r>
              <a:t/>
            </a:r>
          </a:p>
          <a:p>
            <a:r>
              <a:t>Worked illustration / lecturer answer</a:t>
            </a:r>
          </a:p>
          <a:p>
            <a:r>
              <a:t>Explain record_id as the identifier of an observation, load_pct as load expressed in percent and ambient_c as temperature in degrees Celsius. The target records the known answer in training data.</a:t>
            </a:r>
          </a:p>
          <a:p>
            <a:r>
              <a:t/>
            </a:r>
          </a:p>
          <a:p>
            <a:r>
              <a:t>Misconception to address</a:t>
            </a:r>
          </a:p>
          <a:p>
            <a:r>
              <a:t>These are synthetic examples for learning. They do not establish a calibrated physical relationship or justify operation of real equipment.</a:t>
            </a:r>
          </a:p>
          <a:p>
            <a:r>
              <a:t/>
            </a:r>
          </a:p>
          <a:p>
            <a:r>
              <a:t>On this slide</a:t>
            </a:r>
          </a:p>
          <a:p>
            <a:r>
              <a:t>Investigate motor winding temperature.</a:t>
            </a:r>
          </a:p>
          <a:p>
            <a:r>
              <a:t/>
            </a:r>
          </a:p>
          <a:p>
            <a:r>
              <a:t>Target units: deg C.</a:t>
            </a:r>
          </a:p>
          <a:p>
            <a:r>
              <a:t/>
            </a:r>
          </a:p>
          <a:p>
            <a:r>
              <a:t>These are synthetic teaching records, not measurements suitable for deployment.</a:t>
            </a:r>
          </a:p>
          <a:p>
            <a:r>
              <a:t/>
            </a:r>
          </a:p>
          <a:p>
            <a:r>
              <a:t>Each record is one operating observation; equipment_id repeats across observations.</a:t>
            </a:r>
          </a:p>
          <a:p>
            <a:r>
              <a:t/>
            </a:r>
          </a:p>
          <a:p>
            <a:r>
              <a:t>Continue to</a:t>
            </a:r>
          </a:p>
          <a:p>
            <a:r>
              <a:t>make_features(feature_records)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make_features(feature_records)</a:t>
            </a:r>
          </a:p>
          <a:p>
            <a:r>
              <a:t>CML3111, Week 11, slide 29</a:t>
            </a:r>
          </a:p>
          <a:p>
            <a:r>
              <a:t/>
            </a:r>
          </a:p>
          <a:p>
            <a:r>
              <a:t>Explanation to give</a:t>
            </a:r>
          </a:p>
          <a:p>
            <a:r>
              <a:t>Create the requested numeric feature rows in the same order as the input records. Use only information available at prediction time.</a:t>
            </a:r>
          </a:p>
          <a:p>
            <a:r>
              <a:t/>
            </a:r>
          </a:p>
          <a:p>
            <a:r>
              <a:t>Worked illustration / lecturer answer</a:t>
            </a:r>
          </a:p>
          <a:p>
            <a:r>
              <a:t>Distinguish load_pct from load_pct/100. The task’s named interaction uses its exact published formula; a mathematically related alternative would still violate the interface.</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one feature row per input, in order: [load_pct, ambient_c, load_pct/100, load_pct*ambient_c].</a:t>
            </a:r>
          </a:p>
          <a:p>
            <a:r>
              <a:t/>
            </a:r>
          </a:p>
          <a:p>
            <a:r>
              <a:t>Use inputs available at prediction time only.</a:t>
            </a:r>
          </a:p>
          <a:p>
            <a:r>
              <a:t/>
            </a:r>
          </a:p>
          <a:p>
            <a:r>
              <a:t>Continue to</a:t>
            </a:r>
          </a:p>
          <a:p>
            <a:r>
              <a:t>ablation_metrics(training_records, validation_records)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ablation_metrics(training_records, validation_records)</a:t>
            </a:r>
          </a:p>
          <a:p>
            <a:r>
              <a:t>CML3111, Week 11, slide 30</a:t>
            </a:r>
          </a:p>
          <a:p>
            <a:r>
              <a:t/>
            </a:r>
          </a:p>
          <a:p>
            <a:r>
              <a:t>Explanation to give</a:t>
            </a:r>
          </a:p>
          <a:p>
            <a:r>
              <a:t>Compare the original and extended feature sets with the same training and validation observations and the same model protocol.</a:t>
            </a:r>
          </a:p>
          <a:p>
            <a:r>
              <a:t/>
            </a:r>
          </a:p>
          <a:p>
            <a:r>
              <a:t>Worked illustration / lecturer answer</a:t>
            </a:r>
          </a:p>
          <a:p>
            <a:r>
              <a:t>Return the specified metrics and improvement calculation. A reduction from MAE 5 to 4 is improvement 1, not -1, when the contract defines before minus after.</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Fit two sklearn LinearRegression models on the same training records: base features [load_pct, ambient_c] and extended features adding load_pct*ambient_c.</a:t>
            </a:r>
          </a:p>
          <a:p>
            <a:r>
              <a:t/>
            </a:r>
          </a:p>
          <a:p>
            <a:r>
              <a:t>Evaluate both on the same validation records.</a:t>
            </a:r>
          </a:p>
          <a:p>
            <a:r>
              <a:t/>
            </a:r>
          </a:p>
          <a:p>
            <a:r>
              <a:t>Return base_mae, extended_mae and improvement=base_mae-extended_mae, without rounding.</a:t>
            </a:r>
          </a:p>
          <a:p>
            <a:r>
              <a:t/>
            </a:r>
          </a:p>
          <a:p>
            <a:r>
              <a:t>Inputs are complete; never fit on validation targets.</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CML3111, Week 11, slide 31</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Features and ablation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Features and ablation submission</a:t>
            </a:r>
          </a:p>
          <a:p>
            <a:r>
              <a:t>CML3111, Week 11, slide 32</a:t>
            </a:r>
          </a:p>
          <a:p>
            <a:r>
              <a:t/>
            </a:r>
          </a:p>
          <a:p>
            <a:r>
              <a:t>Explanation to give</a:t>
            </a:r>
          </a:p>
          <a:p>
            <a:r>
              <a:t>This slide hands over CML3111 W11. Show the exact form title before uploading. The required packet is one completed .ipynb notebook.</a:t>
            </a:r>
          </a:p>
          <a:p>
            <a:r>
              <a:t/>
            </a:r>
          </a:p>
          <a:p>
            <a:r>
              <a:t>Worked illustration / lecturer answer</a:t>
            </a:r>
          </a:p>
          <a:p>
            <a:r>
              <a:t>The recorded cutoff for this form is 2026-11-27T11:00:00+03:00.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20 Nov 2026, 11:00 Kampala</a:t>
            </a:r>
          </a:p>
          <a:p>
            <a:r>
              <a:t/>
            </a:r>
          </a:p>
          <a:p>
            <a:r>
              <a:t>Deadline: 27 Nov 2026, 11:00 Kampala</a:t>
            </a:r>
          </a:p>
          <a:p>
            <a:r>
              <a:t/>
            </a:r>
          </a:p>
          <a:p>
            <a:r>
              <a:t>Use your full Student Registration Number in the form.</a:t>
            </a:r>
          </a:p>
          <a:p>
            <a:r>
              <a:t/>
            </a:r>
          </a:p>
          <a:p>
            <a:r>
              <a:t>Keep the submitted files and confirmation.</a:t>
            </a:r>
          </a:p>
          <a:p>
            <a:r>
              <a:t/>
            </a:r>
          </a:p>
          <a:p>
            <a:r>
              <a:t>Continue to</a:t>
            </a:r>
          </a:p>
          <a:p>
            <a:r>
              <a:t>Project preparation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preparation</a:t>
            </a:r>
          </a:p>
          <a:p>
            <a:r>
              <a:t>CML3111, Week 11, slide 33</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Use the published machine learning project brief.</a:t>
            </a:r>
          </a:p>
          <a:p>
            <a:r>
              <a:t/>
            </a:r>
          </a:p>
          <a:p>
            <a:r>
              <a:t>Build the evidence gradually in your project notebook.</a:t>
            </a:r>
          </a:p>
          <a:p>
            <a:r>
              <a:t/>
            </a:r>
          </a:p>
          <a:p>
            <a:r>
              <a:t>Keep raw data, labelled charts, run instructions and individual contributions.</a:t>
            </a:r>
          </a:p>
          <a:p>
            <a:r>
              <a:t/>
            </a:r>
          </a:p>
          <a:p>
            <a:r>
              <a:t>Published deadline: 18 Dec 2026, 11:00 Kampala</a:t>
            </a:r>
          </a:p>
          <a:p>
            <a:r>
              <a:t/>
            </a:r>
          </a:p>
          <a:p>
            <a:r>
              <a:t>Continue to</a:t>
            </a:r>
          </a:p>
          <a:p>
            <a:r>
              <a:t>Week 11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11 quiz</a:t>
            </a:r>
          </a:p>
          <a:p>
            <a:r>
              <a:t>CML3111, Week 11, slide 34</a:t>
            </a:r>
          </a:p>
          <a:p>
            <a:r>
              <a:t/>
            </a:r>
          </a:p>
          <a:p>
            <a:r>
              <a:t>Explanation to give</a:t>
            </a:r>
          </a:p>
          <a:p>
            <a:r>
              <a:t>This is the CML3111 Week 1 quiz. The student link opens the response form; it does not activate its window. In Quiz Controls use open_W1_CML3111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CML3111, Week 11, slide 35</a:t>
            </a:r>
          </a:p>
          <a:p>
            <a:r>
              <a:t/>
            </a:r>
          </a:p>
          <a:p>
            <a:r>
              <a:t>Explanation to give</a:t>
            </a:r>
          </a:p>
          <a:p>
            <a:r>
              <a:t>Explain why a calculated input may help and test the idea under an unchanged validation protocol.</a:t>
            </a:r>
          </a:p>
          <a:p>
            <a:r>
              <a:t/>
            </a:r>
          </a:p>
          <a:p>
            <a:r>
              <a:t>Worked illustration / lecturer answer</a:t>
            </a:r>
          </a:p>
          <a:p>
            <a:r>
              <a:t>If validation MAE falls from 5 to 4 after adding one feature, the reduction is 1 target unit, or 20%. A comparison on a different split cannot isolate that change.</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state the new feature’s meaning and calculate an improvement correctly.</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e21996826745f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74c12123542403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d65f0bef06041b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5bdaab9c29d45f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43196dd55e348b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78791d17a904b9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9C7246C-BC6B-4861-B1F0-13ACA5B167F1}"/>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F78A4F5-5685-46F1-AAEA-62210F89F0BC}"/>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C7CA9C89-447C-401A-A485-AEDC3DCA2A90}"/>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64B717B3-BCEA-4DAF-8464-92FDBC3C3C01}"/>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27BAA99A-A92B-4C0D-A813-E567E5D7F70C}"/>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A3CAD57-61C1-406A-9613-30B5F80BB9D5}"/>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FD3959B-8F71-4741-9012-10E33875FCF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87BDA6F7-CECF-4FD3-A496-7A4DE235C78E}"/>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ABEE89E1-7AD6-4754-9B0A-A397EF1ADE6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4D2D1F9-0DD0-4859-81E4-57FF1DD17E3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CCA1F6F-88A0-4A12-ABEC-3A51419596E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824C4EB7-4AD7-4A65-A65D-E964D4ABA82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6D3DD00-A494-4DD2-B2C9-C7A8DB899E0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A0B52CD-AC87-45C0-85DA-35EA71E3858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5511004-1F69-491A-A76A-502E4B307E1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80541b48efb4bdd" /><Relationship Type="http://schemas.openxmlformats.org/officeDocument/2006/relationships/slideLayout" Target="/ppt/slideLayouts/slideLayout1.xml" Id="R68359ea165494739" /><Relationship Type="http://schemas.openxmlformats.org/officeDocument/2006/relationships/slideLayout" Target="/ppt/slideLayouts/slideLayout2.xml" Id="Re0a350de27ec4f63" /><Relationship Type="http://schemas.openxmlformats.org/officeDocument/2006/relationships/slideLayout" Target="/ppt/slideLayouts/slideLayout3.xml" Id="R1d518c8277a44e94" /><Relationship Type="http://schemas.openxmlformats.org/officeDocument/2006/relationships/slideLayout" Target="/ppt/slideLayouts/slideLayout4.xml" Id="R01f6007aaab144c1" /><Relationship Type="http://schemas.openxmlformats.org/officeDocument/2006/relationships/slideLayout" Target="/ppt/slideLayouts/slideLayout5.xml" Id="Rfba0a6c5b8ca41b1" /><Relationship Type="http://schemas.openxmlformats.org/officeDocument/2006/relationships/slideLayout" Target="/ppt/slideLayouts/slideLayout6.xml" Id="Ra6d401531e52489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8359ea165494739"/>
    <p:sldLayoutId xmlns:r="http://schemas.openxmlformats.org/officeDocument/2006/relationships" id="2147483650" r:id="Re0a350de27ec4f63"/>
    <p:sldLayoutId xmlns:r="http://schemas.openxmlformats.org/officeDocument/2006/relationships" id="2147483651" r:id="R1d518c8277a44e94"/>
    <p:sldLayoutId xmlns:r="http://schemas.openxmlformats.org/officeDocument/2006/relationships" id="2147483652" r:id="R01f6007aaab144c1"/>
    <p:sldLayoutId xmlns:r="http://schemas.openxmlformats.org/officeDocument/2006/relationships" id="2147483653" r:id="Rfba0a6c5b8ca41b1"/>
    <p:sldLayoutId xmlns:r="http://schemas.openxmlformats.org/officeDocument/2006/relationships" id="2147483654" r:id="Ra6d401531e52489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0f7a678f4814606" /><Relationship Type="http://schemas.openxmlformats.org/officeDocument/2006/relationships/image" Target="/ppt/media/image.png" Id="Rea25e4eace8045ae" /><Relationship Type="http://schemas.openxmlformats.org/officeDocument/2006/relationships/notesSlide" Target="/ppt/notesSlides/notesSlide1.xml" Id="Rcff90a79874e414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57b19d7496e4536" /><Relationship Type="http://schemas.openxmlformats.org/officeDocument/2006/relationships/notesSlide" Target="/ppt/notesSlides/notesSlide2.xml" Id="R1fb8bad78d23419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3be3c26be8e407d" /><Relationship Type="http://schemas.openxmlformats.org/officeDocument/2006/relationships/notesSlide" Target="/ppt/notesSlides/notesSlide3.xml" Id="R833a1c5c79b54f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3676b2db8ca4080" /><Relationship Type="http://schemas.openxmlformats.org/officeDocument/2006/relationships/notesSlide" Target="/ppt/notesSlides/notesSlide4.xml" Id="R59a54b7f3e3044a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3036612b37a447c" /><Relationship Type="http://schemas.openxmlformats.org/officeDocument/2006/relationships/notesSlide" Target="/ppt/notesSlides/notesSlide5.xml" Id="R30150b7d6321488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1a6e7b445fd4235" /><Relationship Type="http://schemas.openxmlformats.org/officeDocument/2006/relationships/notesSlide" Target="/ppt/notesSlides/notesSlide6.xml" Id="R815b9e49f81d4d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c30ab6ecd714c5f" /><Relationship Type="http://schemas.openxmlformats.org/officeDocument/2006/relationships/notesSlide" Target="/ppt/notesSlides/notesSlide7.xml" Id="Rc9f942aa73224ba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11f2ec40f3947a9" /><Relationship Type="http://schemas.openxmlformats.org/officeDocument/2006/relationships/image" Target="/ppt/media/image2.png" Id="R81358120f6bf49c3" /><Relationship Type="http://schemas.openxmlformats.org/officeDocument/2006/relationships/notesSlide" Target="/ppt/notesSlides/notesSlide8.xml" Id="Re48a775f4ad84d3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eeef7d96e4144cb" /><Relationship Type="http://schemas.openxmlformats.org/officeDocument/2006/relationships/notesSlide" Target="/ppt/notesSlides/notesSlide9.xml" Id="Ra6b95dd4649246c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d6e70bd4fb44d71" /><Relationship Type="http://schemas.openxmlformats.org/officeDocument/2006/relationships/notesSlide" Target="/ppt/notesSlides/notesSlide10.xml" Id="R0872d8048262444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a66361874b34faa" /><Relationship Type="http://schemas.openxmlformats.org/officeDocument/2006/relationships/notesSlide" Target="/ppt/notesSlides/notesSlide11.xml" Id="Rc492630f25fd4d2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941d9e39d5f45bb" /><Relationship Type="http://schemas.openxmlformats.org/officeDocument/2006/relationships/notesSlide" Target="/ppt/notesSlides/notesSlide12.xml" Id="Rcf37dd5d858f490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324365a5cbd4c74" /><Relationship Type="http://schemas.openxmlformats.org/officeDocument/2006/relationships/notesSlide" Target="/ppt/notesSlides/notesSlide13.xml" Id="R5c0d32963bb4467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f11ae15897b446f" /><Relationship Type="http://schemas.openxmlformats.org/officeDocument/2006/relationships/notesSlide" Target="/ppt/notesSlides/notesSlide14.xml" Id="Rf1ec24b065db47f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90f223c669a488d" /><Relationship Type="http://schemas.openxmlformats.org/officeDocument/2006/relationships/notesSlide" Target="/ppt/notesSlides/notesSlide15.xml" Id="R0394421810c34ab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7e96cd26512443a" /><Relationship Type="http://schemas.openxmlformats.org/officeDocument/2006/relationships/notesSlide" Target="/ppt/notesSlides/notesSlide16.xml" Id="R16c1595402034fa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bc7756cdb634ccc" /><Relationship Type="http://schemas.openxmlformats.org/officeDocument/2006/relationships/notesSlide" Target="/ppt/notesSlides/notesSlide17.xml" Id="R80e7d664006847b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6ddaa94041b481e" /><Relationship Type="http://schemas.openxmlformats.org/officeDocument/2006/relationships/notesSlide" Target="/ppt/notesSlides/notesSlide18.xml" Id="R45b010e5a8e14a5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570a46531eee4372" /><Relationship Type="http://schemas.openxmlformats.org/officeDocument/2006/relationships/notesSlide" Target="/ppt/notesSlides/notesSlide19.xml" Id="R8cadaee956e24e0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715fc7c7e0c491d" /><Relationship Type="http://schemas.openxmlformats.org/officeDocument/2006/relationships/notesSlide" Target="/ppt/notesSlides/notesSlide20.xml" Id="R35be62b1f75e41a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15b4f156e6f4854" /><Relationship Type="http://schemas.openxmlformats.org/officeDocument/2006/relationships/notesSlide" Target="/ppt/notesSlides/notesSlide21.xml" Id="R89d94c5cdebb4ae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0ed267736354d54" /><Relationship Type="http://schemas.openxmlformats.org/officeDocument/2006/relationships/notesSlide" Target="/ppt/notesSlides/notesSlide22.xml" Id="R061cc3301d42472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e5d72ad737d493b" /><Relationship Type="http://schemas.openxmlformats.org/officeDocument/2006/relationships/notesSlide" Target="/ppt/notesSlides/notesSlide23.xml" Id="Rf1d319a732e44a3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e4d85b562c145e2" /><Relationship Type="http://schemas.openxmlformats.org/officeDocument/2006/relationships/notesSlide" Target="/ppt/notesSlides/notesSlide24.xml" Id="Rbbe1e59b38b64b8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5f1af9b53c044b0" /><Relationship Type="http://schemas.openxmlformats.org/officeDocument/2006/relationships/notesSlide" Target="/ppt/notesSlides/notesSlide25.xml" Id="Rb430d64ee1b8449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013815e0a714745" /><Relationship Type="http://schemas.openxmlformats.org/officeDocument/2006/relationships/notesSlide" Target="/ppt/notesSlides/notesSlide26.xml" Id="R7b1a9681db464d3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50635819b704353" /><Relationship Type="http://schemas.openxmlformats.org/officeDocument/2006/relationships/notesSlide" Target="/ppt/notesSlides/notesSlide27.xml" Id="R4e890763a37542b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0ddd7f2dc974ead" /><Relationship Type="http://schemas.openxmlformats.org/officeDocument/2006/relationships/notesSlide" Target="/ppt/notesSlides/notesSlide28.xml" Id="R5489c617a31d483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2b89ebcc3134476" /><Relationship Type="http://schemas.openxmlformats.org/officeDocument/2006/relationships/notesSlide" Target="/ppt/notesSlides/notesSlide29.xml" Id="Rfcb065d74ef1471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30611d37ae64fc6" /><Relationship Type="http://schemas.openxmlformats.org/officeDocument/2006/relationships/notesSlide" Target="/ppt/notesSlides/notesSlide30.xml" Id="Rc555b02e8f2c4c2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25bede9396e48da" /><Relationship Type="http://schemas.openxmlformats.org/officeDocument/2006/relationships/notesSlide" Target="/ppt/notesSlides/notesSlide31.xml" Id="R353986e20f6d40c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29b83d422b74991" /><Relationship Type="http://schemas.openxmlformats.org/officeDocument/2006/relationships/hyperlink" Target="https://docs.google.com/forms/d/e/1FAIpQLSeQJ_LsZgtIRbakN-KW4e4dx5rru2iqg6HwaaKoAQbKW7bh8Q/viewform" TargetMode="External" Id="R6685837421f1439d" /><Relationship Type="http://schemas.openxmlformats.org/officeDocument/2006/relationships/notesSlide" Target="/ppt/notesSlides/notesSlide32.xml" Id="Rfe61fa627cf44d6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8d14d933ab14cfa" /><Relationship Type="http://schemas.openxmlformats.org/officeDocument/2006/relationships/notesSlide" Target="/ppt/notesSlides/notesSlide33.xml" Id="Rc8ff0d04970140e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593e8b0ed8224f4c" /><Relationship Type="http://schemas.openxmlformats.org/officeDocument/2006/relationships/image" Target="/ppt/media/image3.png" Id="R4ebfc14e14a14c86" /><Relationship Type="http://schemas.openxmlformats.org/officeDocument/2006/relationships/hyperlink" Target="https://forms.gle/32Y9ttL1XWaqbGMNA" TargetMode="External" Id="R89c72ec3e29545b4" /><Relationship Type="http://schemas.openxmlformats.org/officeDocument/2006/relationships/notesSlide" Target="/ppt/notesSlides/notesSlide34.xml" Id="R712a27a2715b467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557961f3ca4d41af" /><Relationship Type="http://schemas.openxmlformats.org/officeDocument/2006/relationships/notesSlide" Target="/ppt/notesSlides/notesSlide35.xml" Id="R491f8b825112478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ea25e4eace8045a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FCF8974-85CF-48E3-ADAB-65B4261218F3}"/>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D6FA11A-83B9-4D94-8C97-C3B972473D5B}"/>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11</a:t>
            </a:r>
          </a:p>
        </p:txBody>
      </p:sp>
      <p:sp>
        <p:nvSpPr>
          <p:cNvPr id="4" name="">
            <a:extLst xmlns:a="http://schemas.openxmlformats.org/drawingml/2006/main">
              <a:ext uri="{FF2B5EF4-FFF2-40B4-BE49-F238E27FC236}">
                <a16:creationId xmlns:a16="http://schemas.microsoft.com/office/drawing/2014/main" id="{8F28DE75-82AB-4655-8135-DF23240EEC10}"/>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3E7A77F8-F7C4-4B00-8070-8731A4E79646}"/>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5C21B726-0DDC-4B45-A3D2-31A2179405E2}"/>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214073880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6211978-3927-4C1C-B8B8-083694E798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62862E-0B31-490D-A60B-3372C5448B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E2F1F8EA-470E-4A04-8291-FD2B6DEC82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52F4A780-296B-4960-A5A6-B6826C309D94}"/>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57D9C9-B349-42B2-B087-D35A9A03716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2C54474-43C4-45B0-9B39-7C89800D30E4}"/>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Create a feature from available measurements.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models with one controlled change.</a:t>
            </a:r>
          </a:p>
        </p:txBody>
      </p:sp>
      <p:sp>
        <p:nvSpPr>
          <p:cNvPr id="7" name="">
            <a:extLst xmlns:a="http://schemas.openxmlformats.org/drawingml/2006/main">
              <a:ext uri="{FF2B5EF4-FFF2-40B4-BE49-F238E27FC236}">
                <a16:creationId xmlns:a16="http://schemas.microsoft.com/office/drawing/2014/main" id="{A81AED03-74C3-4132-B914-7192DFB89A59}"/>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2005F145-C404-4281-8552-3B8CE81CDE3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state the new feature’s meaning and calculate an improvement correctly.</a:t>
            </a:r>
          </a:p>
        </p:txBody>
      </p:sp>
      <p:sp>
        <p:nvSpPr>
          <p:cNvPr id="9" name="">
            <a:extLst xmlns:a="http://schemas.openxmlformats.org/drawingml/2006/main">
              <a:ext uri="{FF2B5EF4-FFF2-40B4-BE49-F238E27FC236}">
                <a16:creationId xmlns:a16="http://schemas.microsoft.com/office/drawing/2014/main" id="{78B78633-7A4D-4955-856E-A40F4F9F84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a:t>
            </a:r>
          </a:p>
        </p:txBody>
      </p:sp>
    </p:spTree>
    <p:extLst>
      <p:ext uri="{BB962C8B-B14F-4D97-AF65-F5344CB8AC3E}">
        <p14:creationId xmlns:p14="http://schemas.microsoft.com/office/powerpoint/2010/main" val="17417754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7A913C7-3E3C-4359-A078-7C0EA9E874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4821E1-5F06-409B-B093-32189CF976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1911D7-4159-4D87-9238-7185ABC13B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3741F3D5-5E1E-4AA0-9B96-0CA21A00F65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2D9154-05AC-4922-AB7B-B46A6300B47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already keep evaluation data separate.</a:t>
            </a:r>
          </a:p>
        </p:txBody>
      </p:sp>
      <p:sp>
        <p:nvSpPr>
          <p:cNvPr id="6" name="">
            <a:extLst xmlns:a="http://schemas.openxmlformats.org/drawingml/2006/main">
              <a:ext uri="{FF2B5EF4-FFF2-40B4-BE49-F238E27FC236}">
                <a16:creationId xmlns:a16="http://schemas.microsoft.com/office/drawing/2014/main" id="{279FB03F-E606-4603-94B7-8D1CA4C04FF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change one input representation while keeping the comparison protocol fixed.</a:t>
            </a:r>
          </a:p>
        </p:txBody>
      </p:sp>
      <p:sp>
        <p:nvSpPr>
          <p:cNvPr id="7" name="">
            <a:extLst xmlns:a="http://schemas.openxmlformats.org/drawingml/2006/main">
              <a:ext uri="{FF2B5EF4-FFF2-40B4-BE49-F238E27FC236}">
                <a16:creationId xmlns:a16="http://schemas.microsoft.com/office/drawing/2014/main" id="{ADD8AA4B-1A53-40B3-B96F-386F06DFC3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a:t>
            </a:r>
          </a:p>
        </p:txBody>
      </p:sp>
    </p:spTree>
    <p:extLst>
      <p:ext uri="{BB962C8B-B14F-4D97-AF65-F5344CB8AC3E}">
        <p14:creationId xmlns:p14="http://schemas.microsoft.com/office/powerpoint/2010/main" val="185027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1876AE4-9C86-45FA-B845-B7A8EFF2F9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CCE053-2A3D-4FC3-B50D-9BB5BB86AE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30A13EB-C714-4C5D-9F90-CD59668688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C391EFC3-9487-459E-8E47-BA8B5283068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90CD3E-E7D0-4753-82A1-BC564ABC4E5E}"/>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calculated input may help a model.</a:t>
            </a:r>
          </a:p>
        </p:txBody>
      </p:sp>
      <p:sp>
        <p:nvSpPr>
          <p:cNvPr id="6" name="">
            <a:extLst xmlns:a="http://schemas.openxmlformats.org/drawingml/2006/main">
              <a:ext uri="{FF2B5EF4-FFF2-40B4-BE49-F238E27FC236}">
                <a16:creationId xmlns:a16="http://schemas.microsoft.com/office/drawing/2014/main" id="{CFACDDE7-C65A-48D0-948B-ECE002FD2C1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compare the original and extended inputs on the same observations, then decide whether the evidence supports the extra feature.</a:t>
            </a:r>
          </a:p>
        </p:txBody>
      </p:sp>
      <p:sp>
        <p:nvSpPr>
          <p:cNvPr id="7" name="">
            <a:extLst xmlns:a="http://schemas.openxmlformats.org/drawingml/2006/main">
              <a:ext uri="{FF2B5EF4-FFF2-40B4-BE49-F238E27FC236}">
                <a16:creationId xmlns:a16="http://schemas.microsoft.com/office/drawing/2014/main" id="{40ECD260-16BF-4E5E-8D09-F8AEE65AFB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4</a:t>
            </a:r>
          </a:p>
        </p:txBody>
      </p:sp>
    </p:spTree>
    <p:extLst>
      <p:ext uri="{BB962C8B-B14F-4D97-AF65-F5344CB8AC3E}">
        <p14:creationId xmlns:p14="http://schemas.microsoft.com/office/powerpoint/2010/main" val="54610906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6934F36-123E-4708-824A-7313BF53C6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B80F90-6F69-48B7-A453-AB9DD060A3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4B0FF7C-BBC8-45A7-8BB2-1223014F13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feature has a meaning</a:t>
            </a:r>
          </a:p>
        </p:txBody>
      </p:sp>
      <p:sp>
        <p:nvSpPr>
          <p:cNvPr id="4" name="">
            <a:extLst xmlns:a="http://schemas.openxmlformats.org/drawingml/2006/main">
              <a:ext uri="{FF2B5EF4-FFF2-40B4-BE49-F238E27FC236}">
                <a16:creationId xmlns:a16="http://schemas.microsoft.com/office/drawing/2014/main" id="{0D81C68A-8BB9-45DA-BC25-614C09347B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A47618-64CE-46C2-A71C-DDAB5CF698D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an input available at prediction time.</a:t>
            </a:r>
          </a:p>
        </p:txBody>
      </p:sp>
      <p:sp>
        <p:nvSpPr>
          <p:cNvPr id="6" name="">
            <a:extLst xmlns:a="http://schemas.openxmlformats.org/drawingml/2006/main">
              <a:ext uri="{FF2B5EF4-FFF2-40B4-BE49-F238E27FC236}">
                <a16:creationId xmlns:a16="http://schemas.microsoft.com/office/drawing/2014/main" id="{DCD1348A-143C-47B6-AE65-5FF0CEBF869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1005F0-77FA-4558-803D-4E1978B19EB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 to express a joint pattern.</a:t>
            </a:r>
          </a:p>
        </p:txBody>
      </p:sp>
      <p:sp>
        <p:nvSpPr>
          <p:cNvPr id="8" name="">
            <a:extLst xmlns:a="http://schemas.openxmlformats.org/drawingml/2006/main">
              <a:ext uri="{FF2B5EF4-FFF2-40B4-BE49-F238E27FC236}">
                <a16:creationId xmlns:a16="http://schemas.microsoft.com/office/drawing/2014/main" id="{EAD59055-43F2-489D-B500-58D733C236F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D5834E3-2BE7-40DD-A144-E4F6F48142F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better validation score can still reflect leakage.</a:t>
            </a:r>
          </a:p>
        </p:txBody>
      </p:sp>
      <p:sp>
        <p:nvSpPr>
          <p:cNvPr id="10" name="">
            <a:extLst xmlns:a="http://schemas.openxmlformats.org/drawingml/2006/main">
              <a:ext uri="{FF2B5EF4-FFF2-40B4-BE49-F238E27FC236}">
                <a16:creationId xmlns:a16="http://schemas.microsoft.com/office/drawing/2014/main" id="{5CBED579-0494-4AE8-8F86-8506F894DEB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FF7D9E3-9B0B-4654-8D84-3970904E274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observations and explain the physical meaning.</a:t>
            </a:r>
          </a:p>
        </p:txBody>
      </p:sp>
      <p:sp>
        <p:nvSpPr>
          <p:cNvPr id="12" name="">
            <a:extLst xmlns:a="http://schemas.openxmlformats.org/drawingml/2006/main">
              <a:ext uri="{FF2B5EF4-FFF2-40B4-BE49-F238E27FC236}">
                <a16:creationId xmlns:a16="http://schemas.microsoft.com/office/drawing/2014/main" id="{7394F68E-6D25-4125-8ED6-6A066A76EE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5</a:t>
            </a:r>
          </a:p>
        </p:txBody>
      </p:sp>
    </p:spTree>
    <p:extLst>
      <p:ext uri="{BB962C8B-B14F-4D97-AF65-F5344CB8AC3E}">
        <p14:creationId xmlns:p14="http://schemas.microsoft.com/office/powerpoint/2010/main" val="131726921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532C92-1E50-43F7-BBD6-4BF16CDEC2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5CF524-5A90-4E91-AED8-9D576910C0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9EE263D-6F0F-49D6-9533-ED7406E4ED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Derived feature and Ratio and interaction</a:t>
            </a:r>
          </a:p>
        </p:txBody>
      </p:sp>
      <p:sp>
        <p:nvSpPr>
          <p:cNvPr id="4" name="">
            <a:extLst xmlns:a="http://schemas.openxmlformats.org/drawingml/2006/main">
              <a:ext uri="{FF2B5EF4-FFF2-40B4-BE49-F238E27FC236}">
                <a16:creationId xmlns:a16="http://schemas.microsoft.com/office/drawing/2014/main" id="{92D23899-F3F6-4CC9-9211-BB31C3F3F3D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384FBB-DFDA-40B4-AC52-90EE06752B2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Derived feature</a:t>
            </a:r>
          </a:p>
        </p:txBody>
      </p:sp>
      <p:sp>
        <p:nvSpPr>
          <p:cNvPr id="6" name="">
            <a:extLst xmlns:a="http://schemas.openxmlformats.org/drawingml/2006/main">
              <a:ext uri="{FF2B5EF4-FFF2-40B4-BE49-F238E27FC236}">
                <a16:creationId xmlns:a16="http://schemas.microsoft.com/office/drawing/2014/main" id="{C200EB36-5A04-460B-AFB6-55DC86C1949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new input calculated from existing inputs. Its definition and unit must be stated.</a:t>
            </a:r>
          </a:p>
        </p:txBody>
      </p:sp>
      <p:sp>
        <p:nvSpPr>
          <p:cNvPr id="7" name="">
            <a:extLst xmlns:a="http://schemas.openxmlformats.org/drawingml/2006/main">
              <a:ext uri="{FF2B5EF4-FFF2-40B4-BE49-F238E27FC236}">
                <a16:creationId xmlns:a16="http://schemas.microsoft.com/office/drawing/2014/main" id="{966CE93C-B99B-4FBA-91DC-FE4306BF1C1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C632F42-69F5-4127-92AE-C8FE1D1D1D6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Ratio and interaction</a:t>
            </a:r>
          </a:p>
        </p:txBody>
      </p:sp>
      <p:sp>
        <p:nvSpPr>
          <p:cNvPr id="9" name="">
            <a:extLst xmlns:a="http://schemas.openxmlformats.org/drawingml/2006/main">
              <a:ext uri="{FF2B5EF4-FFF2-40B4-BE49-F238E27FC236}">
                <a16:creationId xmlns:a16="http://schemas.microsoft.com/office/drawing/2014/main" id="{A2A837C5-2F16-4C05-A055-BA6DF8BF27B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ratio divides quantities; an interaction multiplies them. Both need a domain explanation and a unit check.</a:t>
            </a:r>
          </a:p>
        </p:txBody>
      </p:sp>
      <p:sp>
        <p:nvSpPr>
          <p:cNvPr id="10" name="">
            <a:extLst xmlns:a="http://schemas.openxmlformats.org/drawingml/2006/main">
              <a:ext uri="{FF2B5EF4-FFF2-40B4-BE49-F238E27FC236}">
                <a16:creationId xmlns:a16="http://schemas.microsoft.com/office/drawing/2014/main" id="{90CE3C5E-F281-429E-A0CD-49FDB48E09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6</a:t>
            </a:r>
          </a:p>
        </p:txBody>
      </p:sp>
    </p:spTree>
    <p:extLst>
      <p:ext uri="{BB962C8B-B14F-4D97-AF65-F5344CB8AC3E}">
        <p14:creationId xmlns:p14="http://schemas.microsoft.com/office/powerpoint/2010/main" val="187161293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E1839E-97D5-4F5D-B3F2-4C0EE989A3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477A90-3B33-4D6D-AF93-3B776A450F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5E5A140-972E-46F2-88D8-04C9B802BD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physical example across programmes</a:t>
            </a:r>
          </a:p>
        </p:txBody>
      </p:sp>
      <p:sp>
        <p:nvSpPr>
          <p:cNvPr id="4" name="">
            <a:extLst xmlns:a="http://schemas.openxmlformats.org/drawingml/2006/main">
              <a:ext uri="{FF2B5EF4-FFF2-40B4-BE49-F238E27FC236}">
                <a16:creationId xmlns:a16="http://schemas.microsoft.com/office/drawing/2014/main" id="{46F6A19C-D9D9-4B6E-81CA-2938BE95C43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7B6ECB-6281-48B4-81D3-6EE451CDBC8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Current I is the flow of electric charge, measured in amperes (A). Resistance R opposes that flow, measured in ohms.</a:t>
            </a:r>
          </a:p>
        </p:txBody>
      </p:sp>
      <p:sp>
        <p:nvSpPr>
          <p:cNvPr id="6" name="">
            <a:extLst xmlns:a="http://schemas.openxmlformats.org/drawingml/2006/main">
              <a:ext uri="{FF2B5EF4-FFF2-40B4-BE49-F238E27FC236}">
                <a16:creationId xmlns:a16="http://schemas.microsoft.com/office/drawing/2014/main" id="{3AE197DB-5732-4D29-856F-76B6F6292C3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AB89B8-B07E-4445-B944-9DB16E61FB4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P is energy transferred per second, measured in watts (W). Resistive heating follows P = I²R in this example.</a:t>
            </a:r>
          </a:p>
        </p:txBody>
      </p:sp>
      <p:sp>
        <p:nvSpPr>
          <p:cNvPr id="8" name="">
            <a:extLst xmlns:a="http://schemas.openxmlformats.org/drawingml/2006/main">
              <a:ext uri="{FF2B5EF4-FFF2-40B4-BE49-F238E27FC236}">
                <a16:creationId xmlns:a16="http://schemas.microsoft.com/office/drawing/2014/main" id="{55CD40FE-D197-4E30-9961-8F0F11C7E44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636840-8F2A-4813-96A5-9B882FB17A6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I² means I × I. With I = 2 A and R = 3 ohms, P = 2 × 2 × 3 = 12 W. This relationship motivates a feature; evaluation still tests whether it helps.</a:t>
            </a:r>
          </a:p>
        </p:txBody>
      </p:sp>
      <p:sp>
        <p:nvSpPr>
          <p:cNvPr id="10" name="">
            <a:extLst xmlns:a="http://schemas.openxmlformats.org/drawingml/2006/main">
              <a:ext uri="{FF2B5EF4-FFF2-40B4-BE49-F238E27FC236}">
                <a16:creationId xmlns:a16="http://schemas.microsoft.com/office/drawing/2014/main" id="{2387354E-3E17-45CF-8B2E-B4D93DAA58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7</a:t>
            </a:r>
          </a:p>
        </p:txBody>
      </p:sp>
    </p:spTree>
    <p:extLst>
      <p:ext uri="{BB962C8B-B14F-4D97-AF65-F5344CB8AC3E}">
        <p14:creationId xmlns:p14="http://schemas.microsoft.com/office/powerpoint/2010/main" val="100861855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D10B72E-D44A-4DA8-9B38-270306C6D878}"/>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1DE223-BEFA-49E3-BA1D-3D5C54643F3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1358120f6bf49c3"/>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44A331B-6C69-4EE0-A6EF-E9EB4DAAB78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3477B7-8C7F-44A6-936A-78BECAA712F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and the unit of the result.</a:t>
            </a:r>
          </a:p>
        </p:txBody>
      </p:sp>
      <p:sp>
        <p:nvSpPr>
          <p:cNvPr id="6" name="">
            <a:extLst xmlns:a="http://schemas.openxmlformats.org/drawingml/2006/main">
              <a:ext uri="{FF2B5EF4-FFF2-40B4-BE49-F238E27FC236}">
                <a16:creationId xmlns:a16="http://schemas.microsoft.com/office/drawing/2014/main" id="{EEC288CF-13B1-4F2D-9013-3B978BD13E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8</a:t>
            </a:r>
          </a:p>
        </p:txBody>
      </p:sp>
    </p:spTree>
    <p:extLst>
      <p:ext uri="{BB962C8B-B14F-4D97-AF65-F5344CB8AC3E}">
        <p14:creationId xmlns:p14="http://schemas.microsoft.com/office/powerpoint/2010/main" val="97630689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912EC6-46A3-4162-B36E-516DB6863B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FBBDFD-9E26-4A4A-A1A3-D259371B36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B1BE7F8-9A4E-4246-ADA7-C1387CE6F9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interaction uses two known inputs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Current A</a:t>
                      </a:r>
                    </a:p>
                  </a:txBody>
                  <a:tcPr marL="91440" marR="91440" marT="45720" marB="45720">
                    <a:solidFill>
                      <a:srgbClr val="2E7D6F"/>
                    </a:solidFill>
                  </a:tcPr>
                </a:tc>
                <a:tc>
                  <a:txBody>
                    <a:bodyPr/>
                    <a:lstStyle/>
                    <a:p>
                      <a:r>
                        <a:rPr sz="2025" b="1">
                          <a:solidFill>
                            <a:srgbClr val="FFFFFF"/>
                          </a:solidFill>
                          <a:latin typeface="Calibri"/>
                          <a:ea typeface="Calibri"/>
                          <a:cs typeface="Calibri"/>
                        </a:rPr>
                        <a:t>Resistance ohm</a:t>
                      </a:r>
                    </a:p>
                  </a:txBody>
                  <a:tcPr marL="91440" marR="91440" marT="45720" marB="45720">
                    <a:solidFill>
                      <a:srgbClr val="2E7D6F"/>
                    </a:solidFill>
                  </a:tcPr>
                </a:tc>
                <a:tc>
                  <a:txBody>
                    <a:bodyPr/>
                    <a:lstStyle/>
                    <a:p>
                      <a:r>
                        <a:rPr sz="2025" b="1">
                          <a:solidFill>
                            <a:srgbClr val="FFFFFF"/>
                          </a:solidFill>
                          <a:latin typeface="Calibri"/>
                          <a:ea typeface="Calibri"/>
                          <a:cs typeface="Calibri"/>
                        </a:rPr>
                        <a:t>I squared × R W</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48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0333172-B851-4083-ACDC-CA41E6140779}"/>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derived input must be available when predicting. A useful physical relationship still needs validation.</a:t>
            </a:r>
          </a:p>
        </p:txBody>
      </p:sp>
      <p:sp>
        <p:nvSpPr>
          <p:cNvPr id="6" name="">
            <a:extLst xmlns:a="http://schemas.openxmlformats.org/drawingml/2006/main">
              <a:ext uri="{FF2B5EF4-FFF2-40B4-BE49-F238E27FC236}">
                <a16:creationId xmlns:a16="http://schemas.microsoft.com/office/drawing/2014/main" id="{E8CE0039-C5F5-448D-B18B-AE66C340F5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9</a:t>
            </a:r>
          </a:p>
        </p:txBody>
      </p:sp>
    </p:spTree>
    <p:extLst>
      <p:ext uri="{BB962C8B-B14F-4D97-AF65-F5344CB8AC3E}">
        <p14:creationId xmlns:p14="http://schemas.microsoft.com/office/powerpoint/2010/main" val="197110499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A22AF1-013C-40C3-BC6F-CECAF8D2E5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C11A97-B4B5-407E-AC81-2EED3101A3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487D70-8585-4844-93FF-F864565677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percentage and its fraction</a:t>
            </a:r>
          </a:p>
        </p:txBody>
      </p:sp>
      <p:sp>
        <p:nvSpPr>
          <p:cNvPr id="4" name="">
            <a:extLst xmlns:a="http://schemas.openxmlformats.org/drawingml/2006/main">
              <a:ext uri="{FF2B5EF4-FFF2-40B4-BE49-F238E27FC236}">
                <a16:creationId xmlns:a16="http://schemas.microsoft.com/office/drawing/2014/main" id="{5C0F7A10-0AE0-49D1-8296-DE05FDA50D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6E36F9-3F1F-4D8C-BD2F-AC994C7A750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means 40 out of 100.</a:t>
            </a:r>
          </a:p>
        </p:txBody>
      </p:sp>
      <p:sp>
        <p:nvSpPr>
          <p:cNvPr id="6" name="">
            <a:extLst xmlns:a="http://schemas.openxmlformats.org/drawingml/2006/main">
              <a:ext uri="{FF2B5EF4-FFF2-40B4-BE49-F238E27FC236}">
                <a16:creationId xmlns:a16="http://schemas.microsoft.com/office/drawing/2014/main" id="{77682524-3B78-4268-8F90-0E522B8B67A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20B3F55-1299-47AB-AF11-8862E59C87D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 100 gives 0.4.</a:t>
            </a:r>
          </a:p>
        </p:txBody>
      </p:sp>
      <p:sp>
        <p:nvSpPr>
          <p:cNvPr id="8" name="">
            <a:extLst xmlns:a="http://schemas.openxmlformats.org/drawingml/2006/main">
              <a:ext uri="{FF2B5EF4-FFF2-40B4-BE49-F238E27FC236}">
                <a16:creationId xmlns:a16="http://schemas.microsoft.com/office/drawing/2014/main" id="{07881C57-FD3D-4F40-939C-645303C03CB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5CC0E4-BF74-41A4-B6DB-41F81DB7D30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changes the representation. It adds no new observation.</a:t>
            </a:r>
          </a:p>
        </p:txBody>
      </p:sp>
      <p:sp>
        <p:nvSpPr>
          <p:cNvPr id="10" name="">
            <a:extLst xmlns:a="http://schemas.openxmlformats.org/drawingml/2006/main">
              <a:ext uri="{FF2B5EF4-FFF2-40B4-BE49-F238E27FC236}">
                <a16:creationId xmlns:a16="http://schemas.microsoft.com/office/drawing/2014/main" id="{E26848F4-7A13-46DB-AD33-31292F98E3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10</a:t>
            </a:r>
          </a:p>
        </p:txBody>
      </p:sp>
    </p:spTree>
    <p:extLst>
      <p:ext uri="{BB962C8B-B14F-4D97-AF65-F5344CB8AC3E}">
        <p14:creationId xmlns:p14="http://schemas.microsoft.com/office/powerpoint/2010/main" val="27012038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9E47FB-F949-4F1C-AC8D-EA9B40A34F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36B023-C64D-4862-A046-77AD55D82C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FDD48D-3DB6-49A4-891B-C17FCC76D2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combined input needs a reason</a:t>
            </a:r>
          </a:p>
        </p:txBody>
      </p:sp>
      <p:sp>
        <p:nvSpPr>
          <p:cNvPr id="4" name="">
            <a:extLst xmlns:a="http://schemas.openxmlformats.org/drawingml/2006/main">
              <a:ext uri="{FF2B5EF4-FFF2-40B4-BE49-F238E27FC236}">
                <a16:creationId xmlns:a16="http://schemas.microsoft.com/office/drawing/2014/main" id="{FE0605C5-E1E2-4E2C-AD80-DD177F5CCA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29B7442-B79F-462C-A9A8-37259634C7A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a:t>
            </a:r>
          </a:p>
        </p:txBody>
      </p:sp>
      <p:sp>
        <p:nvSpPr>
          <p:cNvPr id="6" name="">
            <a:extLst xmlns:a="http://schemas.openxmlformats.org/drawingml/2006/main">
              <a:ext uri="{FF2B5EF4-FFF2-40B4-BE49-F238E27FC236}">
                <a16:creationId xmlns:a16="http://schemas.microsoft.com/office/drawing/2014/main" id="{84119425-B9B8-44CC-BF20-631CC4FE60E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6DB9CAF-DC16-41F4-BCF8-23DCAB09B40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may help a simple model represent a joint pattern.</a:t>
            </a:r>
          </a:p>
        </p:txBody>
      </p:sp>
      <p:sp>
        <p:nvSpPr>
          <p:cNvPr id="8" name="">
            <a:extLst xmlns:a="http://schemas.openxmlformats.org/drawingml/2006/main">
              <a:ext uri="{FF2B5EF4-FFF2-40B4-BE49-F238E27FC236}">
                <a16:creationId xmlns:a16="http://schemas.microsoft.com/office/drawing/2014/main" id="{8294C6FC-4F30-44D2-B7E0-EE303E45940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13847A-5196-4D6D-9C7B-B2B44F06E20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with degrees Celsius is an empirical feature, not automatically a physical law.</a:t>
            </a:r>
          </a:p>
        </p:txBody>
      </p:sp>
      <p:sp>
        <p:nvSpPr>
          <p:cNvPr id="10" name="">
            <a:extLst xmlns:a="http://schemas.openxmlformats.org/drawingml/2006/main">
              <a:ext uri="{FF2B5EF4-FFF2-40B4-BE49-F238E27FC236}">
                <a16:creationId xmlns:a16="http://schemas.microsoft.com/office/drawing/2014/main" id="{F71219AE-188D-4019-8091-8B1C70AE6F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11</a:t>
            </a:r>
          </a:p>
        </p:txBody>
      </p:sp>
    </p:spTree>
    <p:extLst>
      <p:ext uri="{BB962C8B-B14F-4D97-AF65-F5344CB8AC3E}">
        <p14:creationId xmlns:p14="http://schemas.microsoft.com/office/powerpoint/2010/main" val="15691669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68E8FE-653D-4316-B2F2-53451D88CF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3970383-5F20-4BD1-A00A-B85DCB3260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CCB78EB-E525-4DD9-AA87-E3F07F6461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Ablation and Improvement</a:t>
            </a:r>
          </a:p>
        </p:txBody>
      </p:sp>
      <p:sp>
        <p:nvSpPr>
          <p:cNvPr id="4" name="">
            <a:extLst xmlns:a="http://schemas.openxmlformats.org/drawingml/2006/main">
              <a:ext uri="{FF2B5EF4-FFF2-40B4-BE49-F238E27FC236}">
                <a16:creationId xmlns:a16="http://schemas.microsoft.com/office/drawing/2014/main" id="{644150BD-9808-4F50-A626-7DAF669BE93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401B57-EB74-452A-8F20-CA875FEA3C2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Ablation</a:t>
            </a:r>
          </a:p>
        </p:txBody>
      </p:sp>
      <p:sp>
        <p:nvSpPr>
          <p:cNvPr id="6" name="">
            <a:extLst xmlns:a="http://schemas.openxmlformats.org/drawingml/2006/main">
              <a:ext uri="{FF2B5EF4-FFF2-40B4-BE49-F238E27FC236}">
                <a16:creationId xmlns:a16="http://schemas.microsoft.com/office/drawing/2014/main" id="{3E32E58B-22DD-49B7-A50B-ABDB91D3AD3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Compare a model with and without a feature while keeping the data partitions, model family and metric fixed.</a:t>
            </a:r>
          </a:p>
        </p:txBody>
      </p:sp>
      <p:sp>
        <p:nvSpPr>
          <p:cNvPr id="7" name="">
            <a:extLst xmlns:a="http://schemas.openxmlformats.org/drawingml/2006/main">
              <a:ext uri="{FF2B5EF4-FFF2-40B4-BE49-F238E27FC236}">
                <a16:creationId xmlns:a16="http://schemas.microsoft.com/office/drawing/2014/main" id="{FEE449A1-ADC4-4217-80B7-FA1005E52E8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B3C4129-0427-4E58-BF08-BFEA8696259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Improvement</a:t>
            </a:r>
          </a:p>
        </p:txBody>
      </p:sp>
      <p:sp>
        <p:nvSpPr>
          <p:cNvPr id="9" name="">
            <a:extLst xmlns:a="http://schemas.openxmlformats.org/drawingml/2006/main">
              <a:ext uri="{FF2B5EF4-FFF2-40B4-BE49-F238E27FC236}">
                <a16:creationId xmlns:a16="http://schemas.microsoft.com/office/drawing/2014/main" id="{DF9944D7-81F7-4D38-AFCF-DE8FB7F0CC0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an error metric, baseline error minus new error. A negative result means the added feature worsened validation error in that comparison.</a:t>
            </a:r>
          </a:p>
        </p:txBody>
      </p:sp>
      <p:sp>
        <p:nvSpPr>
          <p:cNvPr id="10" name="">
            <a:extLst xmlns:a="http://schemas.openxmlformats.org/drawingml/2006/main">
              <a:ext uri="{FF2B5EF4-FFF2-40B4-BE49-F238E27FC236}">
                <a16:creationId xmlns:a16="http://schemas.microsoft.com/office/drawing/2014/main" id="{73011E3A-DCEC-46C8-A8A2-2E017DE6AC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12</a:t>
            </a:r>
          </a:p>
        </p:txBody>
      </p:sp>
    </p:spTree>
    <p:extLst>
      <p:ext uri="{BB962C8B-B14F-4D97-AF65-F5344CB8AC3E}">
        <p14:creationId xmlns:p14="http://schemas.microsoft.com/office/powerpoint/2010/main" val="180011542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5C3E20-02FF-41A0-ABDB-4C9550AFDD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51BF14-2AAE-4F49-8314-2F594F3D46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282D528-2B16-4CCB-AA56-3D2B32633C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change makes a comparison interpretable</a:t>
            </a:r>
          </a:p>
        </p:txBody>
      </p:sp>
      <p:sp>
        <p:nvSpPr>
          <p:cNvPr id="4" name="">
            <a:extLst xmlns:a="http://schemas.openxmlformats.org/drawingml/2006/main">
              <a:ext uri="{FF2B5EF4-FFF2-40B4-BE49-F238E27FC236}">
                <a16:creationId xmlns:a16="http://schemas.microsoft.com/office/drawing/2014/main" id="{1D0FC0B1-E19F-47E4-9C31-028A8B629C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AA83C8-46E0-480C-BEFD-3C184DBA436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is 3.0. Extended MAE is 2.5.</a:t>
            </a:r>
          </a:p>
        </p:txBody>
      </p:sp>
      <p:sp>
        <p:nvSpPr>
          <p:cNvPr id="6" name="">
            <a:extLst xmlns:a="http://schemas.openxmlformats.org/drawingml/2006/main">
              <a:ext uri="{FF2B5EF4-FFF2-40B4-BE49-F238E27FC236}">
                <a16:creationId xmlns:a16="http://schemas.microsoft.com/office/drawing/2014/main" id="{7408ECD3-B68F-455D-967E-811E9A6CA3B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3EB180-4F4E-419A-A594-54C78365F5E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Improvement = base error minus extended error = 0.5.</a:t>
            </a:r>
          </a:p>
        </p:txBody>
      </p:sp>
      <p:sp>
        <p:nvSpPr>
          <p:cNvPr id="8" name="">
            <a:extLst xmlns:a="http://schemas.openxmlformats.org/drawingml/2006/main">
              <a:ext uri="{FF2B5EF4-FFF2-40B4-BE49-F238E27FC236}">
                <a16:creationId xmlns:a16="http://schemas.microsoft.com/office/drawing/2014/main" id="{24A2CBAD-2623-47E3-9CCA-C5CCA56F426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6AF5F4-7492-4151-AD42-107D09691F7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training rows, validation rows, model family and metric fixed.</a:t>
            </a:r>
          </a:p>
        </p:txBody>
      </p:sp>
      <p:sp>
        <p:nvSpPr>
          <p:cNvPr id="10" name="">
            <a:extLst xmlns:a="http://schemas.openxmlformats.org/drawingml/2006/main">
              <a:ext uri="{FF2B5EF4-FFF2-40B4-BE49-F238E27FC236}">
                <a16:creationId xmlns:a16="http://schemas.microsoft.com/office/drawing/2014/main" id="{074F5805-4EDA-4B71-BE96-C478429A77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13</a:t>
            </a:r>
          </a:p>
        </p:txBody>
      </p:sp>
    </p:spTree>
    <p:extLst>
      <p:ext uri="{BB962C8B-B14F-4D97-AF65-F5344CB8AC3E}">
        <p14:creationId xmlns:p14="http://schemas.microsoft.com/office/powerpoint/2010/main" val="202684037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CD146F-6664-4C95-9D4C-FAA62EF1DA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8C1223-F633-4347-9078-A5714298F1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6194308-FEA7-434C-AD2B-DC2566826A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 comparisons in Python</a:t>
            </a:r>
          </a:p>
        </p:txBody>
      </p:sp>
      <p:sp>
        <p:nvSpPr>
          <p:cNvPr id="4" name="">
            <a:extLst xmlns:a="http://schemas.openxmlformats.org/drawingml/2006/main">
              <a:ext uri="{FF2B5EF4-FFF2-40B4-BE49-F238E27FC236}">
                <a16:creationId xmlns:a16="http://schemas.microsoft.com/office/drawing/2014/main" id="{8A5398C7-4B57-4FF1-9080-98324EB5672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8B8E32-7760-4B11-BB4D-A2281318AA6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load_pct = 40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ambient_c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load_fraction = load_pct /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interaction = load_pct * ambient_c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print(load_fraction, interaction)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base_mae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extended_mae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print(base_mae - extended_mae)</a:t>
            </a:r>
          </a:p>
        </p:txBody>
      </p:sp>
      <p:sp>
        <p:nvSpPr>
          <p:cNvPr id="6" name="">
            <a:extLst xmlns:a="http://schemas.openxmlformats.org/drawingml/2006/main">
              <a:ext uri="{FF2B5EF4-FFF2-40B4-BE49-F238E27FC236}">
                <a16:creationId xmlns:a16="http://schemas.microsoft.com/office/drawing/2014/main" id="{F2BE6CF9-04B1-45C9-AEEE-D5F1E1EE137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397AC6E-4655-4CDD-B5E1-ECEAC0154E2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A3D0859D-1C1A-45B5-9756-B1C8B4096D5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7E9F937E-CD56-4C0E-81AC-211DC3BFC2B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0CDFF924-941C-4B76-A9CF-8A17CA6536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14</a:t>
            </a:r>
          </a:p>
        </p:txBody>
      </p:sp>
    </p:spTree>
    <p:extLst>
      <p:ext uri="{BB962C8B-B14F-4D97-AF65-F5344CB8AC3E}">
        <p14:creationId xmlns:p14="http://schemas.microsoft.com/office/powerpoint/2010/main" val="59369532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BE6CB3D-E99B-4918-AD61-E08D634F8A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D2A73F-E020-44CC-85DE-91BE0307B4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80F1938F-2227-4818-A653-1C0FBFE43D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 comparisons results</a:t>
            </a:r>
          </a:p>
        </p:txBody>
      </p:sp>
      <p:sp>
        <p:nvSpPr>
          <p:cNvPr id="4" name="">
            <a:extLst xmlns:a="http://schemas.openxmlformats.org/drawingml/2006/main">
              <a:ext uri="{FF2B5EF4-FFF2-40B4-BE49-F238E27FC236}">
                <a16:creationId xmlns:a16="http://schemas.microsoft.com/office/drawing/2014/main" id="{9A949F67-B09A-4567-A652-78B85B5855E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FE3E1E-087B-4F03-AE9D-7FE6FEA769F0}"/>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0.4 1000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0.5</a:t>
            </a:r>
          </a:p>
        </p:txBody>
      </p:sp>
      <p:sp>
        <p:nvSpPr>
          <p:cNvPr id="6" name="">
            <a:extLst xmlns:a="http://schemas.openxmlformats.org/drawingml/2006/main">
              <a:ext uri="{FF2B5EF4-FFF2-40B4-BE49-F238E27FC236}">
                <a16:creationId xmlns:a16="http://schemas.microsoft.com/office/drawing/2014/main" id="{2A3D6676-EAED-4946-9619-268C79398F79}"/>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8436E815-9C89-40E7-ACA3-358A7FEA21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15</a:t>
            </a:r>
          </a:p>
        </p:txBody>
      </p:sp>
    </p:spTree>
    <p:extLst>
      <p:ext uri="{BB962C8B-B14F-4D97-AF65-F5344CB8AC3E}">
        <p14:creationId xmlns:p14="http://schemas.microsoft.com/office/powerpoint/2010/main" val="147160655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D4023F-0085-4A8E-BD45-6D78AAFCC8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3912B9-FBD0-441A-9C36-E5D026AFD6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D34C2B-ACCA-4778-AA42-D303C84B34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two-model experiment</a:t>
            </a:r>
          </a:p>
        </p:txBody>
      </p:sp>
      <p:sp>
        <p:nvSpPr>
          <p:cNvPr id="4" name="">
            <a:extLst xmlns:a="http://schemas.openxmlformats.org/drawingml/2006/main">
              <a:ext uri="{FF2B5EF4-FFF2-40B4-BE49-F238E27FC236}">
                <a16:creationId xmlns:a16="http://schemas.microsoft.com/office/drawing/2014/main" id="{3FAF31C2-FEDF-4D8F-8B96-28A1F377916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2D7B43-45DD-4DFB-8032-EB80AA47991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a pair of inputs. for a, b in rows assigns the first entry to a and the second to b, then repeats the block.</a:t>
            </a:r>
          </a:p>
        </p:txBody>
      </p:sp>
      <p:sp>
        <p:nvSpPr>
          <p:cNvPr id="6" name="">
            <a:extLst xmlns:a="http://schemas.openxmlformats.org/drawingml/2006/main">
              <a:ext uri="{FF2B5EF4-FFF2-40B4-BE49-F238E27FC236}">
                <a16:creationId xmlns:a16="http://schemas.microsoft.com/office/drawing/2014/main" id="{DD09B089-C2CB-4F6C-8C42-EF6917430E2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F283135-B755-4ED9-AD86-752A8A21FAD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with_interaction returns a new table containing a, b and a × b. Both models keep the same training and validation rows.</a:t>
            </a:r>
          </a:p>
        </p:txBody>
      </p:sp>
      <p:sp>
        <p:nvSpPr>
          <p:cNvPr id="8" name="">
            <a:extLst xmlns:a="http://schemas.openxmlformats.org/drawingml/2006/main">
              <a:ext uri="{FF2B5EF4-FFF2-40B4-BE49-F238E27FC236}">
                <a16:creationId xmlns:a16="http://schemas.microsoft.com/office/drawing/2014/main" id="{C735BA69-9CB1-4F3F-B90D-D7B7EF1F9FB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5189C9-457A-4CB9-A719-9895DBB64B7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Create the model first, then call fit on the next line. round(value, 6) rounds a displayed number to six decimal places; retain full precision for calculations.</a:t>
            </a:r>
          </a:p>
        </p:txBody>
      </p:sp>
      <p:sp>
        <p:nvSpPr>
          <p:cNvPr id="10" name="">
            <a:extLst xmlns:a="http://schemas.openxmlformats.org/drawingml/2006/main">
              <a:ext uri="{FF2B5EF4-FFF2-40B4-BE49-F238E27FC236}">
                <a16:creationId xmlns:a16="http://schemas.microsoft.com/office/drawing/2014/main" id="{E49FA15F-E5BE-4869-ACE5-71E684AF07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16</a:t>
            </a:r>
          </a:p>
        </p:txBody>
      </p:sp>
    </p:spTree>
    <p:extLst>
      <p:ext uri="{BB962C8B-B14F-4D97-AF65-F5344CB8AC3E}">
        <p14:creationId xmlns:p14="http://schemas.microsoft.com/office/powerpoint/2010/main" val="67027062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9950A91-8B02-4648-BCB6-2A2ACB1A20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171B8F-E67C-4DB0-8551-AAC5A69DD8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3556402-073D-422B-A7E5-DC0E8E83AB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interaction-building function</a:t>
            </a:r>
          </a:p>
        </p:txBody>
      </p:sp>
      <p:sp>
        <p:nvSpPr>
          <p:cNvPr id="4" name="">
            <a:extLst xmlns:a="http://schemas.openxmlformats.org/drawingml/2006/main">
              <a:ext uri="{FF2B5EF4-FFF2-40B4-BE49-F238E27FC236}">
                <a16:creationId xmlns:a16="http://schemas.microsoft.com/office/drawing/2014/main" id="{28539F9C-3EC5-4AC4-A16E-37BDB3ECE43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C53F3C-DDFB-41C3-8552-13509CAD446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two inputs. for a, b in rows: assigns them to a and b. [a, b, a * b] builds a new row with their product as a third input.</a:t>
            </a:r>
          </a:p>
        </p:txBody>
      </p:sp>
      <p:sp>
        <p:nvSpPr>
          <p:cNvPr id="6" name="">
            <a:extLst xmlns:a="http://schemas.openxmlformats.org/drawingml/2006/main">
              <a:ext uri="{FF2B5EF4-FFF2-40B4-BE49-F238E27FC236}">
                <a16:creationId xmlns:a16="http://schemas.microsoft.com/office/drawing/2014/main" id="{B95150AF-44F6-44A3-81E0-81D1A7422FA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321239-272D-4017-A75B-F792C487211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row [2, 3], append [2, 3, 6]. For row [4, 5], append [4, 5, 20]. The function returns the newly built list of rows.</a:t>
            </a:r>
          </a:p>
        </p:txBody>
      </p:sp>
      <p:sp>
        <p:nvSpPr>
          <p:cNvPr id="8" name="">
            <a:extLst xmlns:a="http://schemas.openxmlformats.org/drawingml/2006/main">
              <a:ext uri="{FF2B5EF4-FFF2-40B4-BE49-F238E27FC236}">
                <a16:creationId xmlns:a16="http://schemas.microsoft.com/office/drawing/2014/main" id="{1DAA9AD9-862B-4A29-BFDE-50508E6883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B7F848-9469-4E64-AF0B-FB8583984FF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same function must transform both training and validation inputs. It uses no target values to construct the new feature.</a:t>
            </a:r>
          </a:p>
        </p:txBody>
      </p:sp>
      <p:sp>
        <p:nvSpPr>
          <p:cNvPr id="10" name="">
            <a:extLst xmlns:a="http://schemas.openxmlformats.org/drawingml/2006/main">
              <a:ext uri="{FF2B5EF4-FFF2-40B4-BE49-F238E27FC236}">
                <a16:creationId xmlns:a16="http://schemas.microsoft.com/office/drawing/2014/main" id="{96CF1733-F871-40B6-AFE2-BF2E865B4F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17</a:t>
            </a:r>
          </a:p>
        </p:txBody>
      </p:sp>
    </p:spTree>
    <p:extLst>
      <p:ext uri="{BB962C8B-B14F-4D97-AF65-F5344CB8AC3E}">
        <p14:creationId xmlns:p14="http://schemas.microsoft.com/office/powerpoint/2010/main" val="127782616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C059E17-CB68-4D6F-9286-F553CB68E0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A7CC42-5E6E-4115-B788-DBB4F2B80A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DB4B96-025D-4604-892F-174F867AFE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a:t>
            </a:r>
          </a:p>
        </p:txBody>
      </p:sp>
      <p:sp>
        <p:nvSpPr>
          <p:cNvPr id="4" name="">
            <a:extLst xmlns:a="http://schemas.openxmlformats.org/drawingml/2006/main">
              <a:ext uri="{FF2B5EF4-FFF2-40B4-BE49-F238E27FC236}">
                <a16:creationId xmlns:a16="http://schemas.microsoft.com/office/drawing/2014/main" id="{C0EA6DBC-2C98-4774-A857-BDF6BE674B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D8BC87-431B-462A-9832-31E1E5AC1CE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this complete practice experiment in a fresh session.</a:t>
            </a:r>
          </a:p>
        </p:txBody>
      </p:sp>
      <p:sp>
        <p:nvSpPr>
          <p:cNvPr id="6" name="">
            <a:extLst xmlns:a="http://schemas.openxmlformats.org/drawingml/2006/main">
              <a:ext uri="{FF2B5EF4-FFF2-40B4-BE49-F238E27FC236}">
                <a16:creationId xmlns:a16="http://schemas.microsoft.com/office/drawing/2014/main" id="{C6FA8285-9B35-4011-8027-B8F68D6E761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EC5681B-7DAF-4A24-8201-0D2C0D8ECB5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models use the same rows and targets; the second receives one additional input.</a:t>
            </a:r>
          </a:p>
        </p:txBody>
      </p:sp>
      <p:sp>
        <p:nvSpPr>
          <p:cNvPr id="8" name="">
            <a:extLst xmlns:a="http://schemas.openxmlformats.org/drawingml/2006/main">
              <a:ext uri="{FF2B5EF4-FFF2-40B4-BE49-F238E27FC236}">
                <a16:creationId xmlns:a16="http://schemas.microsoft.com/office/drawing/2014/main" id="{CE972814-45BB-4083-BA65-C4E5B824DE7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AC2D4B-3FEF-4FCF-855E-BAA7F1DADC7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column before fitting.</a:t>
            </a:r>
          </a:p>
        </p:txBody>
      </p:sp>
      <p:sp>
        <p:nvSpPr>
          <p:cNvPr id="10" name="">
            <a:extLst xmlns:a="http://schemas.openxmlformats.org/drawingml/2006/main">
              <a:ext uri="{FF2B5EF4-FFF2-40B4-BE49-F238E27FC236}">
                <a16:creationId xmlns:a16="http://schemas.microsoft.com/office/drawing/2014/main" id="{98D53584-6FF7-4217-ABC3-141AE305D23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7F97C50-C360-42AB-8B95-C48D30CE73F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invented experiment illustrates procedure, not a measured engineering benefit.</a:t>
            </a:r>
          </a:p>
        </p:txBody>
      </p:sp>
      <p:sp>
        <p:nvSpPr>
          <p:cNvPr id="12" name="">
            <a:extLst xmlns:a="http://schemas.openxmlformats.org/drawingml/2006/main">
              <a:ext uri="{FF2B5EF4-FFF2-40B4-BE49-F238E27FC236}">
                <a16:creationId xmlns:a16="http://schemas.microsoft.com/office/drawing/2014/main" id="{7957E525-2544-4674-ABC3-70CA083F8A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18</a:t>
            </a:r>
          </a:p>
        </p:txBody>
      </p:sp>
    </p:spTree>
    <p:extLst>
      <p:ext uri="{BB962C8B-B14F-4D97-AF65-F5344CB8AC3E}">
        <p14:creationId xmlns:p14="http://schemas.microsoft.com/office/powerpoint/2010/main" val="85718110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2A5D52-700B-4286-A9FE-07D891D4B1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17F87D-F10B-4DFC-B660-B6A25B0BDF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71D0467-868B-4A69-9C7F-8AF2E4EEDC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(1/3)</a:t>
            </a:r>
          </a:p>
        </p:txBody>
      </p:sp>
      <p:sp>
        <p:nvSpPr>
          <p:cNvPr id="4" name="">
            <a:extLst xmlns:a="http://schemas.openxmlformats.org/drawingml/2006/main">
              <a:ext uri="{FF2B5EF4-FFF2-40B4-BE49-F238E27FC236}">
                <a16:creationId xmlns:a16="http://schemas.microsoft.com/office/drawing/2014/main" id="{B403F5EA-34EF-4E8F-8A06-713BEF13C50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6F4504-CAF9-4172-B71C-9A11A498F09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sklearn.metrics import mean_absolute_error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 = [[1, 2], [2, 3], [3, 2], [4, 4], [5,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[3, 5, 5, 8,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validation = [[2, 2], [3,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truth = [4, 6]</a:t>
            </a:r>
          </a:p>
        </p:txBody>
      </p:sp>
      <p:sp>
        <p:nvSpPr>
          <p:cNvPr id="6" name="">
            <a:extLst xmlns:a="http://schemas.openxmlformats.org/drawingml/2006/main">
              <a:ext uri="{FF2B5EF4-FFF2-40B4-BE49-F238E27FC236}">
                <a16:creationId xmlns:a16="http://schemas.microsoft.com/office/drawing/2014/main" id="{8DC02BCA-4918-4AD9-8AC5-452AA765AE6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0DA2D29C-7C8E-4223-80F4-C8209EAE32D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31136E8D-19C1-4D43-9C66-ED3C63D8AD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19</a:t>
            </a:r>
          </a:p>
        </p:txBody>
      </p:sp>
    </p:spTree>
    <p:extLst>
      <p:ext uri="{BB962C8B-B14F-4D97-AF65-F5344CB8AC3E}">
        <p14:creationId xmlns:p14="http://schemas.microsoft.com/office/powerpoint/2010/main" val="104006003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103BC41-81DF-4347-9BBF-B61E3355B9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8BEBE6-F17D-45AC-ABB2-EBF842E586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E798FAA-DAF4-497B-A8D6-25D4D72F46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(2/3)</a:t>
            </a:r>
          </a:p>
        </p:txBody>
      </p:sp>
      <p:sp>
        <p:nvSpPr>
          <p:cNvPr id="4" name="">
            <a:extLst xmlns:a="http://schemas.openxmlformats.org/drawingml/2006/main">
              <a:ext uri="{FF2B5EF4-FFF2-40B4-BE49-F238E27FC236}">
                <a16:creationId xmlns:a16="http://schemas.microsoft.com/office/drawing/2014/main" id="{CB064F28-FC8C-41EA-8DBD-725D615BFA2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22D4EB-71AB-458D-AFC3-8E3F3C21FC6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with_interaction(rows):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result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 b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result.append([a, b, a *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result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base.fit(train, 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extended.fit(with_interaction(train), 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base_predictions = base.predict(validation)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base_error = mean_absolute_error(truth, base_predictions)</a:t>
            </a:r>
          </a:p>
        </p:txBody>
      </p:sp>
      <p:sp>
        <p:nvSpPr>
          <p:cNvPr id="6" name="">
            <a:extLst xmlns:a="http://schemas.openxmlformats.org/drawingml/2006/main">
              <a:ext uri="{FF2B5EF4-FFF2-40B4-BE49-F238E27FC236}">
                <a16:creationId xmlns:a16="http://schemas.microsoft.com/office/drawing/2014/main" id="{4822D625-6534-4D6A-A1F5-CCEE0E30FAB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0800FDCE-6C1C-4B4D-8011-A32EAA01D51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6B87BE21-7349-4048-9C73-D8F2EC6036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20</a:t>
            </a:r>
          </a:p>
        </p:txBody>
      </p:sp>
    </p:spTree>
    <p:extLst>
      <p:ext uri="{BB962C8B-B14F-4D97-AF65-F5344CB8AC3E}">
        <p14:creationId xmlns:p14="http://schemas.microsoft.com/office/powerpoint/2010/main" val="65558478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8CD275B-5B2A-4DD5-92F6-01BDDAC070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94CBC2-4A46-44BF-A2A8-E704ADC379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89615F3-1B38-4787-A815-E7A478FDFC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(3/3)</a:t>
            </a:r>
          </a:p>
        </p:txBody>
      </p:sp>
      <p:sp>
        <p:nvSpPr>
          <p:cNvPr id="4" name="">
            <a:extLst xmlns:a="http://schemas.openxmlformats.org/drawingml/2006/main">
              <a:ext uri="{FF2B5EF4-FFF2-40B4-BE49-F238E27FC236}">
                <a16:creationId xmlns:a16="http://schemas.microsoft.com/office/drawing/2014/main" id="{3AF4CC73-E97E-4591-AF6C-CFAD4DADDF1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6D5BBE-6B11-4E0D-87DA-D3153AF9B89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print(round(base_error, 6))</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validation_features = with_interaction(validation)</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extended_predictions = extended.predict(validation_features)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error = mean_absolute_error(truth, extended_predictions)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print(round(error, 6))</a:t>
            </a:r>
          </a:p>
        </p:txBody>
      </p:sp>
      <p:sp>
        <p:nvSpPr>
          <p:cNvPr id="6" name="">
            <a:extLst xmlns:a="http://schemas.openxmlformats.org/drawingml/2006/main">
              <a:ext uri="{FF2B5EF4-FFF2-40B4-BE49-F238E27FC236}">
                <a16:creationId xmlns:a16="http://schemas.microsoft.com/office/drawing/2014/main" id="{CC921A2E-EEF5-4915-B121-11914B431B0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03A55741-7F37-4CD3-B481-A0E97ACAC16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DC9668E9-89D9-453D-A946-F68A1D6E4B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21</a:t>
            </a:r>
          </a:p>
        </p:txBody>
      </p:sp>
    </p:spTree>
    <p:extLst>
      <p:ext uri="{BB962C8B-B14F-4D97-AF65-F5344CB8AC3E}">
        <p14:creationId xmlns:p14="http://schemas.microsoft.com/office/powerpoint/2010/main" val="16176339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71374F-1CBF-4614-9D88-B5BBAF1947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CC2A16-4266-4E45-9E83-76CE15AD39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682E39-2648-4DC7-87D7-DAFF6A4E2D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Scaling changes units of comparison</a:t>
            </a:r>
          </a:p>
        </p:txBody>
      </p:sp>
      <p:sp>
        <p:nvSpPr>
          <p:cNvPr id="4" name="">
            <a:extLst xmlns:a="http://schemas.openxmlformats.org/drawingml/2006/main">
              <a:ext uri="{FF2B5EF4-FFF2-40B4-BE49-F238E27FC236}">
                <a16:creationId xmlns:a16="http://schemas.microsoft.com/office/drawing/2014/main" id="{C7C8525C-0EDB-410F-8AFC-49C87A749DD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310457-27D0-441D-ACB8-1F5D4B126DA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distance calculation can be dominated by a feature with larger numerical values. Scaling puts feature values on a chosen numerical scale.</a:t>
            </a:r>
          </a:p>
        </p:txBody>
      </p:sp>
      <p:sp>
        <p:nvSpPr>
          <p:cNvPr id="6" name="">
            <a:extLst xmlns:a="http://schemas.openxmlformats.org/drawingml/2006/main">
              <a:ext uri="{FF2B5EF4-FFF2-40B4-BE49-F238E27FC236}">
                <a16:creationId xmlns:a16="http://schemas.microsoft.com/office/drawing/2014/main" id="{7E59EBB4-A001-4E7D-A91E-1EDA936DA37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19D6CB-D46A-4456-BC9C-0CC2C3FF54D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example is (value - training_min) / (training_max - training_min). With training limits 10 and 30, value 20 becomes 10 / 20 = 0.5.</a:t>
            </a:r>
          </a:p>
        </p:txBody>
      </p:sp>
      <p:sp>
        <p:nvSpPr>
          <p:cNvPr id="8" name="">
            <a:extLst xmlns:a="http://schemas.openxmlformats.org/drawingml/2006/main">
              <a:ext uri="{FF2B5EF4-FFF2-40B4-BE49-F238E27FC236}">
                <a16:creationId xmlns:a16="http://schemas.microsoft.com/office/drawing/2014/main" id="{339FBA27-0E09-4FBB-BD28-BBAABD29639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848A44-AB87-4B81-B212-5E104F285A7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learned limits for new observations. A zero training range needs a defined handling rule. New values outside the training range may scale outside 0 to 1.</a:t>
            </a:r>
          </a:p>
        </p:txBody>
      </p:sp>
      <p:sp>
        <p:nvSpPr>
          <p:cNvPr id="10" name="">
            <a:extLst xmlns:a="http://schemas.openxmlformats.org/drawingml/2006/main">
              <a:ext uri="{FF2B5EF4-FFF2-40B4-BE49-F238E27FC236}">
                <a16:creationId xmlns:a16="http://schemas.microsoft.com/office/drawing/2014/main" id="{052B26CF-E3BE-45BF-AAAE-A4B621CEFE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22</a:t>
            </a:r>
          </a:p>
        </p:txBody>
      </p:sp>
    </p:spTree>
    <p:extLst>
      <p:ext uri="{BB962C8B-B14F-4D97-AF65-F5344CB8AC3E}">
        <p14:creationId xmlns:p14="http://schemas.microsoft.com/office/powerpoint/2010/main" val="166397455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48F4DB7-2C0E-422B-89CF-40E3F62506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24EAA3-619F-4BCA-9558-CB3671F576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D10C47A-B65C-4C13-B7E7-D1C8CC5E99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Encoding and Scaling</a:t>
            </a:r>
          </a:p>
        </p:txBody>
      </p:sp>
      <p:sp>
        <p:nvSpPr>
          <p:cNvPr id="4" name="">
            <a:extLst xmlns:a="http://schemas.openxmlformats.org/drawingml/2006/main">
              <a:ext uri="{FF2B5EF4-FFF2-40B4-BE49-F238E27FC236}">
                <a16:creationId xmlns:a16="http://schemas.microsoft.com/office/drawing/2014/main" id="{D97C4A5D-379D-464D-AF16-FD4D3C2C3F2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C6532A-86AC-4478-B7E9-AFDDE605CD4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Encoding</a:t>
            </a:r>
          </a:p>
        </p:txBody>
      </p:sp>
      <p:sp>
        <p:nvSpPr>
          <p:cNvPr id="6" name="">
            <a:extLst xmlns:a="http://schemas.openxmlformats.org/drawingml/2006/main">
              <a:ext uri="{FF2B5EF4-FFF2-40B4-BE49-F238E27FC236}">
                <a16:creationId xmlns:a16="http://schemas.microsoft.com/office/drawing/2014/main" id="{7BA573CD-E3B3-4C01-A225-DB8B76BC373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Representing a category numerically. One-hot uses separate indicator columns. Arbitrary integer labels can falsely suggest an order.</a:t>
            </a:r>
          </a:p>
        </p:txBody>
      </p:sp>
      <p:sp>
        <p:nvSpPr>
          <p:cNvPr id="7" name="">
            <a:extLst xmlns:a="http://schemas.openxmlformats.org/drawingml/2006/main">
              <a:ext uri="{FF2B5EF4-FFF2-40B4-BE49-F238E27FC236}">
                <a16:creationId xmlns:a16="http://schemas.microsoft.com/office/drawing/2014/main" id="{C7804C9E-FF05-4DB7-90DC-263E40244E4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7D431C1-AAE4-46B9-897A-735B37B623F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Scaling</a:t>
            </a:r>
          </a:p>
        </p:txBody>
      </p:sp>
      <p:sp>
        <p:nvSpPr>
          <p:cNvPr id="9" name="">
            <a:extLst xmlns:a="http://schemas.openxmlformats.org/drawingml/2006/main">
              <a:ext uri="{FF2B5EF4-FFF2-40B4-BE49-F238E27FC236}">
                <a16:creationId xmlns:a16="http://schemas.microsoft.com/office/drawing/2014/main" id="{56D6F305-3664-4758-9EB8-DCCA1094108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Changing the numerical scale of features. Fit learned scaling on training data only. It matters for distance-based models but is not required by ordinary decision trees.</a:t>
            </a:r>
          </a:p>
        </p:txBody>
      </p:sp>
      <p:sp>
        <p:nvSpPr>
          <p:cNvPr id="10" name="">
            <a:extLst xmlns:a="http://schemas.openxmlformats.org/drawingml/2006/main">
              <a:ext uri="{FF2B5EF4-FFF2-40B4-BE49-F238E27FC236}">
                <a16:creationId xmlns:a16="http://schemas.microsoft.com/office/drawing/2014/main" id="{24179166-DD1D-478B-B33E-57A8A78D30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23</a:t>
            </a:r>
          </a:p>
        </p:txBody>
      </p:sp>
    </p:spTree>
    <p:extLst>
      <p:ext uri="{BB962C8B-B14F-4D97-AF65-F5344CB8AC3E}">
        <p14:creationId xmlns:p14="http://schemas.microsoft.com/office/powerpoint/2010/main" val="107318801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6153A8-CD73-4F78-9C43-D61B0A9434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66A84E-51A5-44A6-AA32-3B8F431E16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D70EF5-15DF-4F15-899F-4CCD1794D5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104932CC-1CBB-4DE0-81D7-02645A76365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F06F68-750B-49DE-938D-9853C997E89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DF32EB2-1736-4C14-9B08-B8DD90349C9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If the extended error becomes 3.4, calculate improvement and decide whether this evidence supports retaining the feature.</a:t>
            </a:r>
          </a:p>
        </p:txBody>
      </p:sp>
      <p:sp>
        <p:nvSpPr>
          <p:cNvPr id="7" name="">
            <a:extLst xmlns:a="http://schemas.openxmlformats.org/drawingml/2006/main">
              <a:ext uri="{FF2B5EF4-FFF2-40B4-BE49-F238E27FC236}">
                <a16:creationId xmlns:a16="http://schemas.microsoft.com/office/drawing/2014/main" id="{3F6AF854-5662-4EE6-A1A6-F76AD5E9B8A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Improvement is -0.4. This validation comparison does not support retaining it. One split is limited evidence; the final test remains untouched.</a:t>
            </a:r>
          </a:p>
        </p:txBody>
      </p:sp>
      <p:sp>
        <p:nvSpPr>
          <p:cNvPr id="8" name="">
            <a:extLst xmlns:a="http://schemas.openxmlformats.org/drawingml/2006/main">
              <a:ext uri="{FF2B5EF4-FFF2-40B4-BE49-F238E27FC236}">
                <a16:creationId xmlns:a16="http://schemas.microsoft.com/office/drawing/2014/main" id="{0D5D26EF-561B-4F12-85B8-38B1EF86D1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24</a:t>
            </a:r>
          </a:p>
        </p:txBody>
      </p:sp>
    </p:spTree>
    <p:extLst>
      <p:ext uri="{BB962C8B-B14F-4D97-AF65-F5344CB8AC3E}">
        <p14:creationId xmlns:p14="http://schemas.microsoft.com/office/powerpoint/2010/main" val="1042054085"/>
      </p:ext>
    </p:extLst>
  </p:cSld>
</p:sld>
</file>

<file path=ppt/slides/slide2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A956662C-DA9F-46B8-93EC-9AA800062DB2}"/>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7E907A0E-2CCB-4B68-8578-0A6792493109}"/>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D4D11503-0ECA-4632-9BDA-1EB85444E158}"/>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a:ext uri="{FF2B5EF4-FFF2-40B4-BE49-F238E27FC236}">
                <ns2:creationId id="{DB0FF596-362C-4223-A893-2BEA52EF105D}"/>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3FAA346B-45D4-4FC9-BCE3-B3BC496DFA93}"/>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W11 names four output features and a two-model ablation.</a:t>
            </a:r>
          </a:p>
        </p:txBody>
      </p:sp>
      <p:sp>
        <p:nvSpPr>
          <p:cNvPr id="6" name="">
            <a:extLst>
              <a:ext uri="{FF2B5EF4-FFF2-40B4-BE49-F238E27FC236}">
                <ns2:creationId id="{7A43782D-86A1-4A38-9B2B-D53667F6DE3C}"/>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97DE16DB-E0DF-41EE-941C-9FB55E24F706}"/>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row order and full precision. Fit preprocessing on the training rows only.</a:t>
            </a:r>
          </a:p>
        </p:txBody>
      </p:sp>
      <p:sp>
        <p:nvSpPr>
          <p:cNvPr id="8" name="">
            <a:extLst>
              <a:ext uri="{FF2B5EF4-FFF2-40B4-BE49-F238E27FC236}">
                <ns2:creationId id="{DC437B20-0D17-414D-8F09-3F17DD5E6942}"/>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ADFC77AE-2334-46FD-86A1-6410A8E0EC6C}"/>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the supplied written scenario for the interpretation requested there.</a:t>
            </a:r>
          </a:p>
        </p:txBody>
      </p:sp>
      <p:sp>
        <p:nvSpPr>
          <p:cNvPr id="10" name="">
            <a:extLst>
              <a:ext uri="{FF2B5EF4-FFF2-40B4-BE49-F238E27FC236}">
                <ns2:creationId id="{8DA8AE73-B937-4280-8525-265C1825C7B9}"/>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F60645B8-3AA7-476C-B3F7-AD02DAB04070}"/>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Do not substitute this practice example’s result.</a:t>
            </a:r>
          </a:p>
        </p:txBody>
      </p:sp>
      <p:sp>
        <p:nvSpPr>
          <p:cNvPr id="12" name="">
            <a:extLst>
              <a:ext uri="{FF2B5EF4-FFF2-40B4-BE49-F238E27FC236}">
                <ns2:creationId id="{D36B4578-4C8C-4269-B4AB-41E044107800}"/>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25</a:t>
            </a:r>
          </a:p>
        </p:txBody>
      </p:sp>
    </p:spTree>
    <p:extLst>
      <p:ext uri="{BB962C8B-B14F-4D97-AF65-F5344CB8AC3E}">
        <ns3:creationId val="17172405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432D17-63BF-4264-9239-A64BC33FC5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44DB15-5E91-4A99-BBC3-A026BE71D7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A07ED5-668F-44DB-973F-7080BB6E55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a:t>
            </a:r>
          </a:p>
        </p:txBody>
      </p:sp>
      <p:sp>
        <p:nvSpPr>
          <p:cNvPr id="4" name="">
            <a:extLst xmlns:a="http://schemas.openxmlformats.org/drawingml/2006/main">
              <a:ext uri="{FF2B5EF4-FFF2-40B4-BE49-F238E27FC236}">
                <a16:creationId xmlns:a16="http://schemas.microsoft.com/office/drawing/2014/main" id="{FA5FD6A9-550F-404C-94A8-C9C02E27BA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9F69606-0AAF-4F30-B345-90421B81031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Rescaling an input usually does not change the partitions available to an ordinary decision tree.</a:t>
            </a:r>
          </a:p>
        </p:txBody>
      </p:sp>
      <p:sp>
        <p:nvSpPr>
          <p:cNvPr id="6" name="">
            <a:extLst xmlns:a="http://schemas.openxmlformats.org/drawingml/2006/main">
              <a:ext uri="{FF2B5EF4-FFF2-40B4-BE49-F238E27FC236}">
                <a16:creationId xmlns:a16="http://schemas.microsoft.com/office/drawing/2014/main" id="{0D7D9B74-6D74-46B8-B071-BA8686F8AD5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42BFFB4-FB9F-4489-BC24-B72BB9BAE23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identifier or a future-known field can create an apparent improvement without useful predictive information.</a:t>
            </a:r>
          </a:p>
        </p:txBody>
      </p:sp>
      <p:sp>
        <p:nvSpPr>
          <p:cNvPr id="8" name="">
            <a:extLst xmlns:a="http://schemas.openxmlformats.org/drawingml/2006/main">
              <a:ext uri="{FF2B5EF4-FFF2-40B4-BE49-F238E27FC236}">
                <a16:creationId xmlns:a16="http://schemas.microsoft.com/office/drawing/2014/main" id="{08E11037-B26B-466F-BDBB-1D769C119F7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A72D88-4486-4803-8F66-3CD6E363597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Dividing by zero can produce infinity or an error; decide what the denominator means before replacing it.</a:t>
            </a:r>
          </a:p>
        </p:txBody>
      </p:sp>
      <p:sp>
        <p:nvSpPr>
          <p:cNvPr id="10" name="">
            <a:extLst xmlns:a="http://schemas.openxmlformats.org/drawingml/2006/main">
              <a:ext uri="{FF2B5EF4-FFF2-40B4-BE49-F238E27FC236}">
                <a16:creationId xmlns:a16="http://schemas.microsoft.com/office/drawing/2014/main" id="{B83E28AF-06F1-467E-82F5-B567504AC1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26</a:t>
            </a:r>
          </a:p>
        </p:txBody>
      </p:sp>
    </p:spTree>
    <p:extLst>
      <p:ext uri="{BB962C8B-B14F-4D97-AF65-F5344CB8AC3E}">
        <p14:creationId xmlns:p14="http://schemas.microsoft.com/office/powerpoint/2010/main" val="40816904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7DA477-5A0E-406E-B58B-D8DC25F1C3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14C146-9F84-4F71-9225-308D8DA6A8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B0DC422-A942-402A-BD5B-D8028A94B8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 continued</a:t>
            </a:r>
          </a:p>
        </p:txBody>
      </p:sp>
      <p:sp>
        <p:nvSpPr>
          <p:cNvPr id="4" name="">
            <a:extLst xmlns:a="http://schemas.openxmlformats.org/drawingml/2006/main">
              <a:ext uri="{FF2B5EF4-FFF2-40B4-BE49-F238E27FC236}">
                <a16:creationId xmlns:a16="http://schemas.microsoft.com/office/drawing/2014/main" id="{8B4A8001-935B-409E-8CF9-F735D9F783A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E43091-4830-4EE6-9B8D-B22F8CCFEDF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ablation differences using the same error definition, and explain features using domain knowledge.</a:t>
            </a:r>
          </a:p>
        </p:txBody>
      </p:sp>
      <p:sp>
        <p:nvSpPr>
          <p:cNvPr id="6" name="">
            <a:extLst xmlns:a="http://schemas.openxmlformats.org/drawingml/2006/main">
              <a:ext uri="{FF2B5EF4-FFF2-40B4-BE49-F238E27FC236}">
                <a16:creationId xmlns:a16="http://schemas.microsoft.com/office/drawing/2014/main" id="{615A5000-A59D-4F94-BF1F-158C9B831B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27</a:t>
            </a:r>
          </a:p>
        </p:txBody>
      </p:sp>
    </p:spTree>
    <p:extLst>
      <p:ext uri="{BB962C8B-B14F-4D97-AF65-F5344CB8AC3E}">
        <p14:creationId xmlns:p14="http://schemas.microsoft.com/office/powerpoint/2010/main" val="67992178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C9F394B-FD43-4DCF-AEF8-E322D27F2C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3CEC61-27A2-4CF3-842C-EE48187349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A78A78D-6FAD-4220-8C3F-51A812BF26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4626352A-7818-4580-B333-B8BF5D92DF6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19106B-99E2-4DE2-AB34-EBA10580660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5AFE9307-1541-4373-95C1-7C0C3FDDFFB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C33146-70D3-4379-A971-451999A1EE7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58C30F6B-9088-487A-8FD6-73AB48FDE39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E938A1-C76A-4E22-B67C-1C81B9C8EEE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CE849CF9-B795-4734-B8DB-AFDDDE567B5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8ED4A37-C5AD-4823-B8DA-73EEA442E99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A6726188-E406-42F8-9AC4-6CF12644F8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28</a:t>
            </a:r>
          </a:p>
        </p:txBody>
      </p:sp>
    </p:spTree>
    <p:extLst>
      <p:ext uri="{BB962C8B-B14F-4D97-AF65-F5344CB8AC3E}">
        <p14:creationId xmlns:p14="http://schemas.microsoft.com/office/powerpoint/2010/main" val="36855405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0DDCE7-A500-4F28-9C8D-65C030DD75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06BFF2-7888-4106-B7BC-9584A76D5E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361F00C-6BCC-43F4-82B7-E6C2DFB7D4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E5DDB508-023C-4C2C-8557-F717E332147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80BFEF-D0C0-419D-9384-2BFE102F6D2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23AF1A57-2C51-47A3-BDED-C1E93B96AA9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12BB76F-7AEC-4165-8353-BC37FE3F83A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3DBF7AA-510E-4B9C-A59C-763ACB6616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29</a:t>
            </a:r>
          </a:p>
        </p:txBody>
      </p:sp>
    </p:spTree>
    <p:extLst>
      <p:ext uri="{BB962C8B-B14F-4D97-AF65-F5344CB8AC3E}">
        <p14:creationId xmlns:p14="http://schemas.microsoft.com/office/powerpoint/2010/main" val="89931675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7185AA0-7F70-467A-9186-A0AC8BB475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8491C4-5F55-4C97-B8F6-D95C83C005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756867F-1AF9-4DD9-AC1B-20A28FBF64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A10AABEC-A2FE-4E82-B4CF-A0242498F2E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CF00AB-7DF6-4C7D-8E57-D596DAECA7F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31A9ACB2-FB69-44B2-9900-C38C93467CD4}"/>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D181FF3-41FC-456C-9B26-6DB899E45E7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ABA6493-1EB3-4F3D-9332-7CFB062824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30</a:t>
            </a:r>
          </a:p>
        </p:txBody>
      </p:sp>
    </p:spTree>
    <p:extLst>
      <p:ext uri="{BB962C8B-B14F-4D97-AF65-F5344CB8AC3E}">
        <p14:creationId xmlns:p14="http://schemas.microsoft.com/office/powerpoint/2010/main" val="40563390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540D35A-E564-4716-A5CF-7931D64874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3A1EBD-24D4-4B32-813D-60380FAB61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89B6E80-E2FB-4762-BE94-237767EF01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B5B1889A-309A-4F65-9430-51DC8E760C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CE81B8-4635-4006-90DE-837006023A7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8A3214D6-9CEC-4E94-8401-8F86F95AEF7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E164851-EA15-4DDB-95ED-90D73C86F75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EDE2784A-47A4-42F7-AED6-FEA2C72FE3C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403CAAD-70A7-42C7-9758-56B01E009B8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94CD8EE2-7684-43A3-B053-FE298F84833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66F66D8-E7D8-4572-8C52-7FB81B3ED19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2E82F44F-8067-49C5-AD80-B8BB3E3936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31</a:t>
            </a:r>
          </a:p>
        </p:txBody>
      </p:sp>
    </p:spTree>
    <p:extLst>
      <p:ext uri="{BB962C8B-B14F-4D97-AF65-F5344CB8AC3E}">
        <p14:creationId xmlns:p14="http://schemas.microsoft.com/office/powerpoint/2010/main" val="53313853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E24C494-2409-4E08-A2D4-7120B002CF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E2385A-17DA-4636-A28B-D47AFB9AE3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F9E00670-EDAA-4FA7-9BA4-4C1DE63A00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and ablation submission</a:t>
            </a:r>
          </a:p>
        </p:txBody>
      </p:sp>
      <p:sp>
        <p:nvSpPr>
          <p:cNvPr id="4" name="">
            <a:extLst xmlns:a="http://schemas.openxmlformats.org/drawingml/2006/main">
              <a:ext uri="{FF2B5EF4-FFF2-40B4-BE49-F238E27FC236}">
                <a16:creationId xmlns:a16="http://schemas.microsoft.com/office/drawing/2014/main" id="{7C2B5EC4-ED0B-40FA-834A-2DA7541E457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34F6F44-ED30-4EA2-B44B-93CB32AA239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20 Nov 2026, 11:00 Kampala</a:t>
            </a:r>
          </a:p>
        </p:txBody>
      </p:sp>
      <p:sp>
        <p:nvSpPr>
          <p:cNvPr id="6" name="">
            <a:extLst xmlns:a="http://schemas.openxmlformats.org/drawingml/2006/main">
              <a:ext uri="{FF2B5EF4-FFF2-40B4-BE49-F238E27FC236}">
                <a16:creationId xmlns:a16="http://schemas.microsoft.com/office/drawing/2014/main" id="{17B80B23-FB26-4DF3-ACDB-4D0EC2FFC59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6701B2-4DE7-4518-9019-8BA28A36038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11:00 Kampala</a:t>
            </a:r>
          </a:p>
        </p:txBody>
      </p:sp>
      <p:sp>
        <p:nvSpPr>
          <p:cNvPr id="8" name="">
            <a:extLst xmlns:a="http://schemas.openxmlformats.org/drawingml/2006/main">
              <a:ext uri="{FF2B5EF4-FFF2-40B4-BE49-F238E27FC236}">
                <a16:creationId xmlns:a16="http://schemas.microsoft.com/office/drawing/2014/main" id="{ADAEAB0D-F5CC-4A97-B22F-331FAB34676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F235CA9-0309-400E-927C-60E77CC7AE6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290A004-D4A3-472A-B0B9-565C7BAC1FC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D28E89A-92B5-404D-8626-1D4D6CB6593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134FA988-7673-41F3-9889-5675AC4386D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F3CB07C-B84B-430C-8162-4AFA80E261C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685837421f1439d"/>
              </a:rPr>
              <a:t>Open W11 assignment form</a:t>
            </a:r>
          </a:p>
        </p:txBody>
      </p:sp>
      <p:sp>
        <p:nvSpPr>
          <p:cNvPr id="14" name="">
            <a:extLst xmlns:a="http://schemas.openxmlformats.org/drawingml/2006/main">
              <a:ext uri="{FF2B5EF4-FFF2-40B4-BE49-F238E27FC236}">
                <a16:creationId xmlns:a16="http://schemas.microsoft.com/office/drawing/2014/main" id="{E25204C5-2AD1-4D86-A0C3-C75396544F8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https://docs.google.com/forms/d/e/1FAIpQLSeQJ_LsZgtIRbakN-KW4e4dx5rru2iqg6HwaaKoAQbKW7bh8Q/viewform</a:t>
            </a:r>
          </a:p>
        </p:txBody>
      </p:sp>
      <p:sp>
        <p:nvSpPr>
          <p:cNvPr id="15" name="">
            <a:extLst xmlns:a="http://schemas.openxmlformats.org/drawingml/2006/main">
              <a:ext uri="{FF2B5EF4-FFF2-40B4-BE49-F238E27FC236}">
                <a16:creationId xmlns:a16="http://schemas.microsoft.com/office/drawing/2014/main" id="{AA182869-B590-4260-9809-7ABD28B00B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32</a:t>
            </a:r>
          </a:p>
        </p:txBody>
      </p:sp>
    </p:spTree>
    <p:extLst>
      <p:ext uri="{BB962C8B-B14F-4D97-AF65-F5344CB8AC3E}">
        <p14:creationId xmlns:p14="http://schemas.microsoft.com/office/powerpoint/2010/main" val="6668032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C47BFC-1DD1-4FF9-B798-76AE001DB9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9AE81D-5466-43DC-8FCB-3381F8735D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1073EEB-B593-41F3-8518-5FDE748345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7997DC2B-CA28-45EC-B57B-A948ED90799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0ABE25-C43E-4D68-B4E9-D2C53539A06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297A5A31-7085-4E2C-9E1B-6598CCEA224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B814D7A-C1A5-49E5-B9D3-2A972224CF2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6B0F9414-037D-4CDE-B9E7-6D97CA2E294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E15D657-542A-47E3-BDC8-738BDED05C4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B9190C5C-084A-407E-B0EE-B13955AF2F9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ACBECD8-4C62-4C08-8B8F-DA7C7AE3BD1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05148C1A-2B72-4986-AE10-4C3A34EE7E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33</a:t>
            </a:r>
          </a:p>
        </p:txBody>
      </p:sp>
    </p:spTree>
    <p:extLst>
      <p:ext uri="{BB962C8B-B14F-4D97-AF65-F5344CB8AC3E}">
        <p14:creationId xmlns:p14="http://schemas.microsoft.com/office/powerpoint/2010/main" val="1042970947"/>
      </p:ext>
    </p:extLst>
  </p:cSld>
</p:sld>
</file>

<file path=ppt/slides/slide3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AB7EA305-2082-4E61-B480-E10D51391171}"/>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175BD2CF-80BB-431B-A3B0-0D2855E2CAAC}"/>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397B3CF2-DF03-4BBA-B389-0FA5E98676DD}"/>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11 quiz</a:t>
            </a:r>
          </a:p>
        </p:txBody>
      </p:sp>
      <p:sp>
        <p:nvSpPr>
          <p:cNvPr id="4" name="">
            <a:extLst>
              <a:ext uri="{FF2B5EF4-FFF2-40B4-BE49-F238E27FC236}">
                <ns2:creationId id="{27E00F15-9153-40F2-B4FF-DD252ED19C0B}"/>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E3158E80-4FA8-44C9-9B5B-8FB83B302641}"/>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3FDAF057-E039-4E67-9996-3A410543A670}"/>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40081875-189E-4955-88D8-097F555BB143}"/>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B6DBF0AA-723D-4FF0-B84B-86781B22B7BC}"/>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6C8A16F3-82C1-43D1-826E-CFE913C5A805}"/>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92D51CC1-9D68-424F-9E3A-B03B7AA2E5E9}"/>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D2FDED94-AD62-4FBB-869A-F0A72F7C26CB}"/>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4ebfc14e14a14c86"/>
          <a:stretch/>
        </p:blipFill>
        <p:spPr>
          <a:xfrm>
            <a:off x="9134475" y="2095500"/>
            <a:ext cx="2190750" cy="2190750"/>
          </a:xfrm>
          <a:prstGeom prst="rect">
            <a:avLst/>
          </a:prstGeom>
        </p:spPr>
      </p:pic>
      <p:sp>
        <p:nvSpPr>
          <p:cNvPr id="13" name="">
            <a:extLst>
              <a:ext uri="{FF2B5EF4-FFF2-40B4-BE49-F238E27FC236}">
                <ns2:creationId id="{835E7782-BDFD-4AC7-897B-35DEACBDD9A9}"/>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CC606646-B21B-4EDE-B13D-5684007F2BFA}"/>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7C3E5571-E9CE-406A-8C41-6E50BB67BE0F}"/>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89c72ec3e29545b4"/>
              </a:rPr>
              <a:t>Open this week’s quiz</a:t>
            </a:r>
          </a:p>
        </p:txBody>
      </p:sp>
      <p:sp>
        <p:nvSpPr>
          <p:cNvPr id="16" name="">
            <a:extLst>
              <a:ext uri="{FF2B5EF4-FFF2-40B4-BE49-F238E27FC236}">
                <ns2:creationId id="{71BDF9C5-CDB6-4697-A645-7A0A0983D682}"/>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https://forms.gle/32Y9ttL1XWaqbGMNA</a:t>
            </a:r>
          </a:p>
        </p:txBody>
      </p:sp>
      <p:sp>
        <p:nvSpPr>
          <p:cNvPr id="17" name="">
            <a:extLst>
              <a:ext uri="{FF2B5EF4-FFF2-40B4-BE49-F238E27FC236}">
                <ns2:creationId id="{18E188C6-FB7A-484B-AED1-F35460F0AAD7}"/>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34</a:t>
            </a:r>
          </a:p>
        </p:txBody>
      </p:sp>
    </p:spTree>
    <p:extLst>
      <p:ext uri="{BB962C8B-B14F-4D97-AF65-F5344CB8AC3E}">
        <ns4:creationId val="1372486615"/>
      </p:ext>
    </p:extLst>
  </p:cSld>
</p:sld>
</file>

<file path=ppt/slides/slide3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9402BFF4-BA5C-4119-800D-A290729B13D7}"/>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FAB04185-7569-4EA9-A8BF-AB56EA596003}"/>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3CF090BD-EE1B-433E-865F-A7D42035FC04}"/>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59FE43B3-587E-4F91-B788-7B1B64D8A9DE}"/>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state the new feature’s meaning and calculate an improvement correctly.</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EA7476BB-3245-4172-9336-047768C065DE}"/>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F0F74521-D08D-4938-A2A4-0440498950F0}"/>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11   35</a:t>
            </a:r>
          </a:p>
        </p:txBody>
      </p:sp>
    </p:spTree>
    <p:extLst>
      <p:ext uri="{BB962C8B-B14F-4D97-AF65-F5344CB8AC3E}">
        <ns3:creationId val="446719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2026-09-28T21:46:46.3820000Z</dcterms:created>
  <dcterms:modified xsi:type="dcterms:W3CDTF">2026-09-28T21:46:46.3820000Z</dcterms:modified>
</coreProperties>
</file>