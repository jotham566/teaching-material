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6dbd96d49e4861" /><Relationship Type="http://schemas.openxmlformats.org/officeDocument/2006/relationships/extended-properties" Target="/docProps/app.xml" Id="R146bfc7733384ceb" /><Relationship Type="http://schemas.openxmlformats.org/officeDocument/2006/relationships/officeDocument" Target="/ppt/presentation.xml" Id="Rc6803b5070764656" /></Relationships>
</file>

<file path=ppt/presentation.xml><?xml version="1.0" encoding="utf-8"?>
<p:presentation xmlns:p="http://schemas.openxmlformats.org/presentationml/2006/main">
  <p:sldMasterIdLst>
    <p:sldMasterId xmlns:r="http://schemas.openxmlformats.org/officeDocument/2006/relationships" id="2147483648" r:id="R956483835f9f49ed"/>
  </p:sldMasterIdLst>
  <p:notesMasterIdLst>
    <p:notesMasterId xmlns:r="http://schemas.openxmlformats.org/officeDocument/2006/relationships" r:id="R494ebc5ca2994906"/>
  </p:notesMasterIdLst>
  <p:sldIdLst>
    <p:sldId xmlns:r="http://schemas.openxmlformats.org/officeDocument/2006/relationships" id="256" r:id="Rd3f4d693a9214a6f"/>
    <p:sldId xmlns:r="http://schemas.openxmlformats.org/officeDocument/2006/relationships" id="257" r:id="R898b001937d44fe6"/>
    <p:sldId xmlns:r="http://schemas.openxmlformats.org/officeDocument/2006/relationships" id="258" r:id="R674f7ef5fe4f4b42"/>
    <p:sldId xmlns:r="http://schemas.openxmlformats.org/officeDocument/2006/relationships" id="259" r:id="R0736bab74f0b4ca9"/>
    <p:sldId xmlns:r="http://schemas.openxmlformats.org/officeDocument/2006/relationships" id="260" r:id="R44799ac2113d4e6b"/>
    <p:sldId xmlns:r="http://schemas.openxmlformats.org/officeDocument/2006/relationships" id="261" r:id="Rf5df1f29ef3342c3"/>
    <p:sldId xmlns:r="http://schemas.openxmlformats.org/officeDocument/2006/relationships" id="262" r:id="R9cf8876eae064035"/>
    <p:sldId xmlns:r="http://schemas.openxmlformats.org/officeDocument/2006/relationships" id="263" r:id="R724ea550b96e4a0f"/>
    <p:sldId xmlns:r="http://schemas.openxmlformats.org/officeDocument/2006/relationships" id="264" r:id="R8ee1b38932474342"/>
    <p:sldId xmlns:r="http://schemas.openxmlformats.org/officeDocument/2006/relationships" id="265" r:id="R1481f2538edb4302"/>
    <p:sldId xmlns:r="http://schemas.openxmlformats.org/officeDocument/2006/relationships" id="266" r:id="Raecd880904264f8a"/>
    <p:sldId xmlns:r="http://schemas.openxmlformats.org/officeDocument/2006/relationships" id="267" r:id="R2d10503ab65e4c98"/>
    <p:sldId xmlns:r="http://schemas.openxmlformats.org/officeDocument/2006/relationships" id="268" r:id="Rb870fae033db47ab"/>
    <p:sldId xmlns:r="http://schemas.openxmlformats.org/officeDocument/2006/relationships" id="269" r:id="Rf0954756fe4f4f2b"/>
    <p:sldId xmlns:r="http://schemas.openxmlformats.org/officeDocument/2006/relationships" id="270" r:id="R92d30094775c4d45"/>
    <p:sldId xmlns:r="http://schemas.openxmlformats.org/officeDocument/2006/relationships" id="271" r:id="R3f4adc0b8b2b4745"/>
    <p:sldId xmlns:r="http://schemas.openxmlformats.org/officeDocument/2006/relationships" id="272" r:id="R4045a168bff74c1e"/>
    <p:sldId xmlns:r="http://schemas.openxmlformats.org/officeDocument/2006/relationships" id="273" r:id="Rc924b90da6be429b"/>
    <p:sldId xmlns:r="http://schemas.openxmlformats.org/officeDocument/2006/relationships" id="274" r:id="R5ce80e33dc7e4879"/>
    <p:sldId xmlns:r="http://schemas.openxmlformats.org/officeDocument/2006/relationships" id="275" r:id="R10371e85c37f4616"/>
    <p:sldId xmlns:r="http://schemas.openxmlformats.org/officeDocument/2006/relationships" id="276" r:id="R4a42b30a4ead4547"/>
    <p:sldId xmlns:r="http://schemas.openxmlformats.org/officeDocument/2006/relationships" id="277" r:id="R1ff3b915093045b2"/>
    <p:sldId xmlns:r="http://schemas.openxmlformats.org/officeDocument/2006/relationships" id="278" r:id="Rb17aaa1e9e7d47f1"/>
    <p:sldId xmlns:r="http://schemas.openxmlformats.org/officeDocument/2006/relationships" id="279" r:id="R585e57a8166744da"/>
    <p:sldId xmlns:r="http://schemas.openxmlformats.org/officeDocument/2006/relationships" id="280" r:id="Rd223508bc39c4dec"/>
    <p:sldId xmlns:r="http://schemas.openxmlformats.org/officeDocument/2006/relationships" id="281" r:id="Rda33d2519e904e29"/>
    <p:sldId xmlns:r="http://schemas.openxmlformats.org/officeDocument/2006/relationships" id="282" r:id="R5ae4ae88aa324df9"/>
    <p:sldId xmlns:r="http://schemas.openxmlformats.org/officeDocument/2006/relationships" id="283" r:id="Ra8b420966fdd4ac0"/>
    <p:sldId xmlns:r="http://schemas.openxmlformats.org/officeDocument/2006/relationships" id="284" r:id="R325736e953774cf5"/>
    <p:sldId xmlns:r="http://schemas.openxmlformats.org/officeDocument/2006/relationships" id="285" r:id="R0390bf97ccba4337"/>
    <p:sldId xmlns:r="http://schemas.openxmlformats.org/officeDocument/2006/relationships" id="286" r:id="Race65a3d6889470a"/>
    <p:sldId xmlns:r="http://schemas.openxmlformats.org/officeDocument/2006/relationships" id="287" r:id="R03aae033ac1b40eb"/>
    <p:sldId xmlns:r="http://schemas.openxmlformats.org/officeDocument/2006/relationships" id="288" r:id="Rf23cba96963b4553"/>
    <p:sldId xmlns:r="http://schemas.openxmlformats.org/officeDocument/2006/relationships" id="289" r:id="Rbcffd5f687774f0f"/>
    <p:sldId xmlns:r="http://schemas.openxmlformats.org/officeDocument/2006/relationships" id="290" r:id="R5ba77655268f413d"/>
    <p:sldId xmlns:r="http://schemas.openxmlformats.org/officeDocument/2006/relationships" id="291" r:id="R5316b6608e1b4f8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2c212c990d4a09" /><Relationship Type="http://schemas.openxmlformats.org/officeDocument/2006/relationships/slideMaster" Target="/ppt/slideMasters/slideMaster1.xml" Id="R956483835f9f49ed" /><Relationship Type="http://schemas.openxmlformats.org/officeDocument/2006/relationships/notesMaster" Target="/ppt/notesMasters/notesMaster1.xml" Id="R494ebc5ca2994906" /><Relationship Type="http://schemas.openxmlformats.org/officeDocument/2006/relationships/presProps" Target="/ppt/presProps.xml" Id="R291b17a1dd8e47a6" /><Relationship Type="http://schemas.openxmlformats.org/officeDocument/2006/relationships/tableStyles" Target="/ppt/tableStyles.xml" Id="R87e00e6083ce42f8" /><Relationship Type="http://schemas.openxmlformats.org/officeDocument/2006/relationships/slide" Target="/ppt/slides/slide1.xml" Id="Rd3f4d693a9214a6f" /><Relationship Type="http://schemas.openxmlformats.org/officeDocument/2006/relationships/slide" Target="/ppt/slides/slide2.xml" Id="R898b001937d44fe6" /><Relationship Type="http://schemas.openxmlformats.org/officeDocument/2006/relationships/slide" Target="/ppt/slides/slide3.xml" Id="R674f7ef5fe4f4b42" /><Relationship Type="http://schemas.openxmlformats.org/officeDocument/2006/relationships/slide" Target="/ppt/slides/slide4.xml" Id="R0736bab74f0b4ca9" /><Relationship Type="http://schemas.openxmlformats.org/officeDocument/2006/relationships/slide" Target="/ppt/slides/slide5.xml" Id="R44799ac2113d4e6b" /><Relationship Type="http://schemas.openxmlformats.org/officeDocument/2006/relationships/slide" Target="/ppt/slides/slide6.xml" Id="Rf5df1f29ef3342c3" /><Relationship Type="http://schemas.openxmlformats.org/officeDocument/2006/relationships/slide" Target="/ppt/slides/slide7.xml" Id="R9cf8876eae064035" /><Relationship Type="http://schemas.openxmlformats.org/officeDocument/2006/relationships/slide" Target="/ppt/slides/slide8.xml" Id="R724ea550b96e4a0f" /><Relationship Type="http://schemas.openxmlformats.org/officeDocument/2006/relationships/slide" Target="/ppt/slides/slide9.xml" Id="R8ee1b38932474342" /><Relationship Type="http://schemas.openxmlformats.org/officeDocument/2006/relationships/slide" Target="/ppt/slides/slide10.xml" Id="R1481f2538edb4302" /><Relationship Type="http://schemas.openxmlformats.org/officeDocument/2006/relationships/slide" Target="/ppt/slides/slide11.xml" Id="Raecd880904264f8a" /><Relationship Type="http://schemas.openxmlformats.org/officeDocument/2006/relationships/slide" Target="/ppt/slides/slide12.xml" Id="R2d10503ab65e4c98" /><Relationship Type="http://schemas.openxmlformats.org/officeDocument/2006/relationships/slide" Target="/ppt/slides/slide13.xml" Id="Rb870fae033db47ab" /><Relationship Type="http://schemas.openxmlformats.org/officeDocument/2006/relationships/slide" Target="/ppt/slides/slide14.xml" Id="Rf0954756fe4f4f2b" /><Relationship Type="http://schemas.openxmlformats.org/officeDocument/2006/relationships/slide" Target="/ppt/slides/slide15.xml" Id="R92d30094775c4d45" /><Relationship Type="http://schemas.openxmlformats.org/officeDocument/2006/relationships/slide" Target="/ppt/slides/slide16.xml" Id="R3f4adc0b8b2b4745" /><Relationship Type="http://schemas.openxmlformats.org/officeDocument/2006/relationships/slide" Target="/ppt/slides/slide17.xml" Id="R4045a168bff74c1e" /><Relationship Type="http://schemas.openxmlformats.org/officeDocument/2006/relationships/slide" Target="/ppt/slides/slide18.xml" Id="Rc924b90da6be429b" /><Relationship Type="http://schemas.openxmlformats.org/officeDocument/2006/relationships/slide" Target="/ppt/slides/slide19.xml" Id="R5ce80e33dc7e4879" /><Relationship Type="http://schemas.openxmlformats.org/officeDocument/2006/relationships/slide" Target="/ppt/slides/slide20.xml" Id="R10371e85c37f4616" /><Relationship Type="http://schemas.openxmlformats.org/officeDocument/2006/relationships/slide" Target="/ppt/slides/slide21.xml" Id="R4a42b30a4ead4547" /><Relationship Type="http://schemas.openxmlformats.org/officeDocument/2006/relationships/slide" Target="/ppt/slides/slide22.xml" Id="R1ff3b915093045b2" /><Relationship Type="http://schemas.openxmlformats.org/officeDocument/2006/relationships/slide" Target="/ppt/slides/slide23.xml" Id="Rb17aaa1e9e7d47f1" /><Relationship Type="http://schemas.openxmlformats.org/officeDocument/2006/relationships/slide" Target="/ppt/slides/slide24.xml" Id="R585e57a8166744da" /><Relationship Type="http://schemas.openxmlformats.org/officeDocument/2006/relationships/slide" Target="/ppt/slides/slide25.xml" Id="Rd223508bc39c4dec" /><Relationship Type="http://schemas.openxmlformats.org/officeDocument/2006/relationships/slide" Target="/ppt/slides/slide26.xml" Id="Rda33d2519e904e29" /><Relationship Type="http://schemas.openxmlformats.org/officeDocument/2006/relationships/slide" Target="/ppt/slides/slide27.xml" Id="R5ae4ae88aa324df9" /><Relationship Type="http://schemas.openxmlformats.org/officeDocument/2006/relationships/slide" Target="/ppt/slides/slide28.xml" Id="Ra8b420966fdd4ac0" /><Relationship Type="http://schemas.openxmlformats.org/officeDocument/2006/relationships/slide" Target="/ppt/slides/slide29.xml" Id="R325736e953774cf5" /><Relationship Type="http://schemas.openxmlformats.org/officeDocument/2006/relationships/slide" Target="/ppt/slides/slide30.xml" Id="R0390bf97ccba4337" /><Relationship Type="http://schemas.openxmlformats.org/officeDocument/2006/relationships/slide" Target="/ppt/slides/slide31.xml" Id="Race65a3d6889470a" /><Relationship Type="http://schemas.openxmlformats.org/officeDocument/2006/relationships/slide" Target="/ppt/slides/slide32.xml" Id="R03aae033ac1b40eb" /><Relationship Type="http://schemas.openxmlformats.org/officeDocument/2006/relationships/slide" Target="/ppt/slides/slide33.xml" Id="Rf23cba96963b4553" /><Relationship Type="http://schemas.openxmlformats.org/officeDocument/2006/relationships/slide" Target="/ppt/slides/slide34.xml" Id="Rbcffd5f687774f0f" /><Relationship Type="http://schemas.openxmlformats.org/officeDocument/2006/relationships/slide" Target="/ppt/slides/slide35.xml" Id="R5ba77655268f413d" /><Relationship Type="http://schemas.openxmlformats.org/officeDocument/2006/relationships/slide" Target="/ppt/slides/slide36.xml" Id="R5316b6608e1b4f8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de6bcd7f0bf404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3f6154fbf94b0e" /><Relationship Type="http://schemas.openxmlformats.org/officeDocument/2006/relationships/notesMaster" Target="/ppt/notesMasters/notesMaster1.xml" Id="R384157a1f24c4ff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6f95ef15db4df9" /><Relationship Type="http://schemas.openxmlformats.org/officeDocument/2006/relationships/notesMaster" Target="/ppt/notesMasters/notesMaster1.xml" Id="Rb62192f9236e49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301b3b0a5a41a6" /><Relationship Type="http://schemas.openxmlformats.org/officeDocument/2006/relationships/notesMaster" Target="/ppt/notesMasters/notesMaster1.xml" Id="Ra54ed90df7e348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7bbae8265c224de7" /><Relationship Type="http://schemas.openxmlformats.org/officeDocument/2006/relationships/notesMaster" Target="/ppt/notesMasters/notesMaster1.xml" Id="R389640b9df8c4d7d"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40e26838fe4ece" /><Relationship Type="http://schemas.openxmlformats.org/officeDocument/2006/relationships/notesMaster" Target="/ppt/notesMasters/notesMaster1.xml" Id="Rafe7fe69cc3e48d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49a94c66644110" /><Relationship Type="http://schemas.openxmlformats.org/officeDocument/2006/relationships/notesMaster" Target="/ppt/notesMasters/notesMaster1.xml" Id="R1e0b5380655b4a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7292f155a54d74" /><Relationship Type="http://schemas.openxmlformats.org/officeDocument/2006/relationships/notesMaster" Target="/ppt/notesMasters/notesMaster1.xml" Id="R9048b3c52595401b"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32db0652f14b15" /><Relationship Type="http://schemas.openxmlformats.org/officeDocument/2006/relationships/notesMaster" Target="/ppt/notesMasters/notesMaster1.xml" Id="Rfac6f42ea10c441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5c9018e7644fac" /><Relationship Type="http://schemas.openxmlformats.org/officeDocument/2006/relationships/notesMaster" Target="/ppt/notesMasters/notesMaster1.xml" Id="R88e9ebce4c1541e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88347014c61432e" /><Relationship Type="http://schemas.openxmlformats.org/officeDocument/2006/relationships/notesMaster" Target="/ppt/notesMasters/notesMaster1.xml" Id="R6aad8bebe16c4e9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1e09ae3f8674872" /><Relationship Type="http://schemas.openxmlformats.org/officeDocument/2006/relationships/notesMaster" Target="/ppt/notesMasters/notesMaster1.xml" Id="R9d396ed5c095488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e62f21171e94442" /><Relationship Type="http://schemas.openxmlformats.org/officeDocument/2006/relationships/notesMaster" Target="/ppt/notesMasters/notesMaster1.xml" Id="R1d6dd0b744f0479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a5c52328cc64b8d" /><Relationship Type="http://schemas.openxmlformats.org/officeDocument/2006/relationships/notesMaster" Target="/ppt/notesMasters/notesMaster1.xml" Id="R41dbcf0e45ef483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3b9f340a5c34a22" /><Relationship Type="http://schemas.openxmlformats.org/officeDocument/2006/relationships/notesMaster" Target="/ppt/notesMasters/notesMaster1.xml" Id="R8d5cacc3c5f4497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987626bb9954a6f" /><Relationship Type="http://schemas.openxmlformats.org/officeDocument/2006/relationships/notesMaster" Target="/ppt/notesMasters/notesMaster1.xml" Id="R02cbe01f26ef455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79f4d1b39674890" /><Relationship Type="http://schemas.openxmlformats.org/officeDocument/2006/relationships/notesMaster" Target="/ppt/notesMasters/notesMaster1.xml" Id="R6fcedacbbe1a4fc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165e63d8b794269" /><Relationship Type="http://schemas.openxmlformats.org/officeDocument/2006/relationships/notesMaster" Target="/ppt/notesMasters/notesMaster1.xml" Id="Rc90057e2ea0149b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971130eabe493a" /><Relationship Type="http://schemas.openxmlformats.org/officeDocument/2006/relationships/notesMaster" Target="/ppt/notesMasters/notesMaster1.xml" Id="R339a64ed501b49a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1039d1aa28f42dc" /><Relationship Type="http://schemas.openxmlformats.org/officeDocument/2006/relationships/notesMaster" Target="/ppt/notesMasters/notesMaster1.xml" Id="R7917b7a176eb4a2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dba7f36ba79414c" /><Relationship Type="http://schemas.openxmlformats.org/officeDocument/2006/relationships/notesMaster" Target="/ppt/notesMasters/notesMaster1.xml" Id="R77fb25926d7249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1db8d5396a94091" /><Relationship Type="http://schemas.openxmlformats.org/officeDocument/2006/relationships/notesMaster" Target="/ppt/notesMasters/notesMaster1.xml" Id="R0dce9468189a48b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5a8b254d0854f0a" /><Relationship Type="http://schemas.openxmlformats.org/officeDocument/2006/relationships/notesMaster" Target="/ppt/notesMasters/notesMaster1.xml" Id="R21da6a63c46f499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279ddca6e1d4302" /><Relationship Type="http://schemas.openxmlformats.org/officeDocument/2006/relationships/notesMaster" Target="/ppt/notesMasters/notesMaster1.xml" Id="R123400af810a45d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217d35f47864944" /><Relationship Type="http://schemas.openxmlformats.org/officeDocument/2006/relationships/notesMaster" Target="/ppt/notesMasters/notesMaster1.xml" Id="Radcf0089bbf7411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6ac2592484049f5" /><Relationship Type="http://schemas.openxmlformats.org/officeDocument/2006/relationships/notesMaster" Target="/ppt/notesMasters/notesMaster1.xml" Id="R92c676226bc84e1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2e08256d27b404a" /><Relationship Type="http://schemas.openxmlformats.org/officeDocument/2006/relationships/notesMaster" Target="/ppt/notesMasters/notesMaster1.xml" Id="R4b038b2febcb49d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c51c4e1bd684e9e" /><Relationship Type="http://schemas.openxmlformats.org/officeDocument/2006/relationships/notesMaster" Target="/ppt/notesMasters/notesMaster1.xml" Id="R301f521590a84df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249314cd416403d" /><Relationship Type="http://schemas.openxmlformats.org/officeDocument/2006/relationships/notesMaster" Target="/ppt/notesMasters/notesMaster1.xml" Id="R526c2432efae456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1e9e5eb922d485c" /><Relationship Type="http://schemas.openxmlformats.org/officeDocument/2006/relationships/notesMaster" Target="/ppt/notesMasters/notesMaster1.xml" Id="Rd67382f334f942d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31bc9e08edb4002" /><Relationship Type="http://schemas.openxmlformats.org/officeDocument/2006/relationships/notesMaster" Target="/ppt/notesMasters/notesMaster1.xml" Id="R6140a6f82d734ce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9455163df5d4b5e" /><Relationship Type="http://schemas.openxmlformats.org/officeDocument/2006/relationships/notesMaster" Target="/ppt/notesMasters/notesMaster1.xml" Id="R81f9d6b655004aa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9e2e6aa9cdb4160" /><Relationship Type="http://schemas.openxmlformats.org/officeDocument/2006/relationships/notesMaster" Target="/ppt/notesMasters/notesMaster1.xml" Id="R2d2ab9b435f34df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ecff33f6ad14164" /><Relationship Type="http://schemas.openxmlformats.org/officeDocument/2006/relationships/notesMaster" Target="/ppt/notesMasters/notesMaster1.xml" Id="R0a6fa2d9d9de40b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a864b56a904495f" /><Relationship Type="http://schemas.openxmlformats.org/officeDocument/2006/relationships/notesMaster" Target="/ppt/notesMasters/notesMaster1.xml" Id="Reb694aab35e745e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aec0946de7043dd" /><Relationship Type="http://schemas.openxmlformats.org/officeDocument/2006/relationships/notesMaster" Target="/ppt/notesMasters/notesMaster1.xml" Id="R29086cac05e14bc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51a1f06d9ca418b" /><Relationship Type="http://schemas.openxmlformats.org/officeDocument/2006/relationships/notesMaster" Target="/ppt/notesMasters/notesMaster1.xml" Id="Re55ff5dffeb0406b"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Creating and testing a useful feature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Creating and testing a useful feature.</a:t>
            </a:r>
          </a:p>
          <a:p>
            <a:r>
              <a:t/>
            </a:r>
          </a:p>
          <a:p>
            <a:r>
              <a:t>LECTURER CUE</a:t>
            </a:r>
          </a:p>
          <a:p>
            <a:r>
              <a:t>Ask learners to explain this goal in ordinary language. The first successful attempt matters more than covering optional extensions. Defer: Five independent features, a full ColumnTransformer construction and domain-code features are extension. Never invent engineering limits.</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explain why the largest-looking feature or the most complex model need not improve predictions.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team records device temperature to investigate cooling. Use a communications cabinet, an electrical enclosure or a robot controller as the physical example. No specialist hardware knowledge is assumed.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A feature has a meaning.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feature has a meaning</a:t>
            </a:r>
          </a:p>
          <a:p>
            <a:r>
              <a:t/>
            </a:r>
          </a:p>
          <a:p>
            <a:r>
              <a:t>CONNECT</a:t>
            </a:r>
          </a:p>
          <a:p>
            <a:r>
              <a:t>Build on the preceding slide: The engineering context.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A feature has a meaning.</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POINT TO THE DEFINITION</a:t>
            </a:r>
          </a:p>
          <a:p>
            <a:r>
              <a:t>Derived feature: A new input calculated from existing inputs. Its definition and unit must be stated.</a:t>
            </a:r>
          </a:p>
          <a:p>
            <a:r>
              <a:t>Ratio and interaction: A ratio divides quantities; an interaction multiplies them. Both need a domain explanation and a unit check.</a:t>
            </a:r>
          </a:p>
          <a:p>
            <a:r>
              <a:t/>
            </a:r>
          </a:p>
          <a:p>
            <a:r>
              <a:t>NEXT</a:t>
            </a:r>
          </a:p>
          <a:p>
            <a:r>
              <a:t>Read the physical example across programmes.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physical example across programmes</a:t>
            </a:r>
          </a:p>
          <a:p>
            <a:r>
              <a:t/>
            </a:r>
          </a:p>
          <a:p>
            <a:r>
              <a:t>CONNECT</a:t>
            </a:r>
          </a:p>
          <a:p>
            <a:r>
              <a:t>Build on the preceding slide: Words we will use.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A physical relationship can form a feature.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physical relationship can form a feature</a:t>
            </a:r>
          </a:p>
          <a:p>
            <a:r>
              <a:t/>
            </a:r>
          </a:p>
          <a:p>
            <a:r>
              <a:t>CONNECT</a:t>
            </a:r>
          </a:p>
          <a:p>
            <a:r>
              <a:t>Build on the preceding slide: Read the physical example across programmes.</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An interaction uses two known inputs.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An interaction uses two known inputs</a:t>
            </a:r>
          </a:p>
          <a:p>
            <a:r>
              <a:t/>
            </a:r>
          </a:p>
          <a:p>
            <a:r>
              <a:t>CONNECT</a:t>
            </a:r>
          </a:p>
          <a:p>
            <a:r>
              <a:t>Build on the preceding slide: A physical relationship can form a feature.</a:t>
            </a:r>
          </a:p>
          <a:p>
            <a:r>
              <a:t/>
            </a:r>
          </a:p>
          <a:p>
            <a:r>
              <a:t>LECTURER CUE</a:t>
            </a:r>
          </a:p>
          <a:p>
            <a:r>
              <a:t>A derived input must be available when predicting. A useful physical relationship still needs validation.</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percentage and its fraction.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percentage and its fraction</a:t>
            </a:r>
          </a:p>
          <a:p>
            <a:r>
              <a:t/>
            </a:r>
          </a:p>
          <a:p>
            <a:r>
              <a:t>CONNECT</a:t>
            </a:r>
          </a:p>
          <a:p>
            <a:r>
              <a:t>Build on the preceding slide: An interaction uses two known inputs.</a:t>
            </a:r>
          </a:p>
          <a:p>
            <a:r>
              <a:t/>
            </a:r>
          </a:p>
          <a:p>
            <a:r>
              <a:t>LECTURER CUE</a:t>
            </a:r>
          </a:p>
          <a:p>
            <a:r>
              <a:t>Begin with a percentage: 40% means 40 / 100 = 0.4. Converting percentage to fraction changes units but adds no new information.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 combined input needs a reason.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combined input needs a reason</a:t>
            </a:r>
          </a:p>
          <a:p>
            <a:r>
              <a:t/>
            </a:r>
          </a:p>
          <a:p>
            <a:r>
              <a:t>CONNECT</a:t>
            </a:r>
          </a:p>
          <a:p>
            <a:r>
              <a:t>Build on the preceding slide: A percentage and its fraction.</a:t>
            </a:r>
          </a:p>
          <a:p>
            <a:r>
              <a:t/>
            </a:r>
          </a:p>
          <a:p>
            <a:r>
              <a:t>LECTURER CUE</a:t>
            </a:r>
          </a:p>
          <a:p>
            <a:r>
              <a:t>An interaction may help a simple model express a relationship, but usefulness is tested rather than assumed. An interaction involving Celsius is an empirical feature, not automatically a physical law.</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A combined input needs a reason.</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POINT TO THE DEFINITION</a:t>
            </a:r>
          </a:p>
          <a:p>
            <a:r>
              <a:t>Ablation: Compare a model with and without a feature while keeping the data partitions, model family and metric fixed.</a:t>
            </a:r>
          </a:p>
          <a:p>
            <a:r>
              <a:t>Improvement: For an error metric, baseline error minus new error. A negative result means the added feature worsened validation error in that comparison.</a:t>
            </a:r>
          </a:p>
          <a:p>
            <a:r>
              <a:t/>
            </a:r>
          </a:p>
          <a:p>
            <a:r>
              <a:t>NEXT</a:t>
            </a:r>
          </a:p>
          <a:p>
            <a:r>
              <a:t>One change makes a comparison interpretable.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One change makes a comparison interpretable</a:t>
            </a:r>
          </a:p>
          <a:p>
            <a:r>
              <a:t/>
            </a:r>
          </a:p>
          <a:p>
            <a:r>
              <a:t>CONNECT</a:t>
            </a:r>
          </a:p>
          <a:p>
            <a:r>
              <a:t>Build on the preceding slide: Words we will use.</a:t>
            </a:r>
          </a:p>
          <a:p>
            <a:r>
              <a:t/>
            </a:r>
          </a:p>
          <a:p>
            <a:r>
              <a:t>LECTURER CUE</a:t>
            </a:r>
          </a:p>
          <a:p>
            <a:r>
              <a:t>Read a two-row results table: base MAE 3, extended MAE 2.5 gives improvement 0.5 target units. Ask which other experimental choices must stay fixed.</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One change makes a comparison interpretable.</a:t>
            </a:r>
          </a:p>
          <a:p>
            <a:r>
              <a:t/>
            </a:r>
          </a:p>
          <a:p>
            <a:r>
              <a:t>LECTURER CUE</a:t>
            </a:r>
          </a:p>
          <a:p>
            <a:r>
              <a:t>Begin with a percentage: 40% means 40 / 100 = 0.4. Converting percentage to fraction changes units but adds no new information. An interaction may help a simple model express a relationship, but usefulness is tested rather than assumed. An interaction involving Celsius is an empirical feature, not automatically a physical law. Read a two-row results table: base MAE 3, extended MAE 2.5 gives improvement 0.5 target units. Ask which other experimental choices must stay fixed.</a:t>
            </a:r>
          </a:p>
          <a:p>
            <a:r>
              <a:t/>
            </a:r>
          </a:p>
          <a:p>
            <a:r>
              <a:t>Complete practice code:</a:t>
            </a:r>
          </a:p>
          <a:p>
            <a:r>
              <a:t>load_pct = 40</a:t>
            </a:r>
          </a:p>
          <a:p>
            <a:r>
              <a:t>ambient_c = 25</a:t>
            </a:r>
          </a:p>
          <a:p>
            <a:r>
              <a:t>load_fraction = load_pct / 100</a:t>
            </a:r>
          </a:p>
          <a:p>
            <a:r>
              <a:t>interaction = load_pct * ambient_c</a:t>
            </a:r>
          </a:p>
          <a:p>
            <a:r>
              <a:t>print(load_fraction, interaction)</a:t>
            </a:r>
          </a:p>
          <a:p>
            <a:r>
              <a:t>base_mae = 3.0</a:t>
            </a:r>
          </a:p>
          <a:p>
            <a:r>
              <a:t>extended_mae = 2.5</a:t>
            </a:r>
          </a:p>
          <a:p>
            <a:r>
              <a:t>print(base_mae - extended_mae)</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WALK THROUGH THIS CODE</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Read the two-model experiment.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two-model experiment</a:t>
            </a:r>
          </a:p>
          <a:p>
            <a:r>
              <a:t/>
            </a:r>
          </a:p>
          <a:p>
            <a:r>
              <a:t>CONNECT</a:t>
            </a:r>
          </a:p>
          <a:p>
            <a:r>
              <a:t>Build on the preceding slide: Expected output.</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Two models under one protocol.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a:t>
            </a:r>
          </a:p>
          <a:p>
            <a:r>
              <a:t/>
            </a:r>
          </a:p>
          <a:p>
            <a:r>
              <a:t>CONNECT</a:t>
            </a:r>
          </a:p>
          <a:p>
            <a:r>
              <a:t>Build on the preceding slide: Read the two-model experiment.</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Two models under one protocol in Python (1/3).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 in Python (1/3)</a:t>
            </a:r>
          </a:p>
          <a:p>
            <a:r>
              <a:t/>
            </a:r>
          </a:p>
          <a:p>
            <a:r>
              <a:t>CONNECT</a:t>
            </a:r>
          </a:p>
          <a:p>
            <a:r>
              <a:t>Build on the preceding slide: Two models under one protocol.</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Complete practice code:</a:t>
            </a:r>
          </a:p>
          <a:p>
            <a:r>
              <a:t>from sklearn.linear_model import LinearRegression</a:t>
            </a:r>
          </a:p>
          <a:p>
            <a:r>
              <a:t>from sklearn.metrics import mean_absolute_error</a:t>
            </a:r>
          </a:p>
          <a:p>
            <a:r>
              <a:t>train = [[1, 2], [2, 3], [3, 2], [4, 4], [5, 3]]</a:t>
            </a:r>
          </a:p>
          <a:p>
            <a:r>
              <a:t>y = [3, 5, 5, 8, 8]</a:t>
            </a:r>
          </a:p>
          <a:p>
            <a:r>
              <a:t>validation = [[2, 2], [3, 3]]</a:t>
            </a:r>
          </a:p>
          <a:p>
            <a:r>
              <a:t>truth = [4, 6]</a:t>
            </a:r>
          </a:p>
          <a:p>
            <a:r>
              <a:t>def with_interaction(rows):</a:t>
            </a:r>
          </a:p>
          <a:p>
            <a:r>
              <a:t>    result = []</a:t>
            </a:r>
          </a:p>
          <a:p>
            <a:r>
              <a:t>    for a, b in rows:</a:t>
            </a:r>
          </a:p>
          <a:p>
            <a:r>
              <a:t>        result.append([a, b, a * b])</a:t>
            </a:r>
          </a:p>
          <a:p>
            <a:r>
              <a:t>    return result</a:t>
            </a:r>
          </a:p>
          <a:p>
            <a:r>
              <a:t>base = LinearRegression().fit(train, y)</a:t>
            </a:r>
          </a:p>
          <a:p>
            <a:r>
              <a:t>extended = LinearRegression().fit(with_interaction(train), y)</a:t>
            </a:r>
          </a:p>
          <a:p>
            <a:r>
              <a:t>base_predictions = base.predict(validation)</a:t>
            </a:r>
          </a:p>
          <a:p>
            <a:r>
              <a:t>base_error = mean_absolute_error(truth, base_predictions)</a:t>
            </a:r>
          </a:p>
          <a:p>
            <a:r>
              <a:t>print(round(base_error, 6))</a:t>
            </a:r>
          </a:p>
          <a:p>
            <a:r>
              <a:t>validation_features = with_interaction(validation)</a:t>
            </a:r>
          </a:p>
          <a:p>
            <a:r>
              <a:t>extended_predictions = extended.predict(validation_features)</a:t>
            </a:r>
          </a:p>
          <a:p>
            <a:r>
              <a:t>error = mean_absolute_error(truth, extended_predictions)</a:t>
            </a:r>
          </a:p>
          <a:p>
            <a:r>
              <a:t>print(round(error, 6))</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Two models under one protocol in Python (2/3).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 in Python (2/3)</a:t>
            </a:r>
          </a:p>
          <a:p>
            <a:r>
              <a:t/>
            </a:r>
          </a:p>
          <a:p>
            <a:r>
              <a:t>CONNECT</a:t>
            </a:r>
          </a:p>
          <a:p>
            <a:r>
              <a:t>Build on the preceding slide: Two models under one protocol in Python (1/3).</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Complete practice code:</a:t>
            </a:r>
          </a:p>
          <a:p>
            <a:r>
              <a:t>from sklearn.linear_model import LinearRegression</a:t>
            </a:r>
          </a:p>
          <a:p>
            <a:r>
              <a:t>from sklearn.metrics import mean_absolute_error</a:t>
            </a:r>
          </a:p>
          <a:p>
            <a:r>
              <a:t>train = [[1, 2], [2, 3], [3, 2], [4, 4], [5, 3]]</a:t>
            </a:r>
          </a:p>
          <a:p>
            <a:r>
              <a:t>y = [3, 5, 5, 8, 8]</a:t>
            </a:r>
          </a:p>
          <a:p>
            <a:r>
              <a:t>validation = [[2, 2], [3, 3]]</a:t>
            </a:r>
          </a:p>
          <a:p>
            <a:r>
              <a:t>truth = [4, 6]</a:t>
            </a:r>
          </a:p>
          <a:p>
            <a:r>
              <a:t>def with_interaction(rows):</a:t>
            </a:r>
          </a:p>
          <a:p>
            <a:r>
              <a:t>    result = []</a:t>
            </a:r>
          </a:p>
          <a:p>
            <a:r>
              <a:t>    for a, b in rows:</a:t>
            </a:r>
          </a:p>
          <a:p>
            <a:r>
              <a:t>        result.append([a, b, a * b])</a:t>
            </a:r>
          </a:p>
          <a:p>
            <a:r>
              <a:t>    return result</a:t>
            </a:r>
          </a:p>
          <a:p>
            <a:r>
              <a:t>base = LinearRegression().fit(train, y)</a:t>
            </a:r>
          </a:p>
          <a:p>
            <a:r>
              <a:t>extended = LinearRegression().fit(with_interaction(train), y)</a:t>
            </a:r>
          </a:p>
          <a:p>
            <a:r>
              <a:t>base_predictions = base.predict(validation)</a:t>
            </a:r>
          </a:p>
          <a:p>
            <a:r>
              <a:t>base_error = mean_absolute_error(truth, base_predictions)</a:t>
            </a:r>
          </a:p>
          <a:p>
            <a:r>
              <a:t>print(round(base_error, 6))</a:t>
            </a:r>
          </a:p>
          <a:p>
            <a:r>
              <a:t>validation_features = with_interaction(validation)</a:t>
            </a:r>
          </a:p>
          <a:p>
            <a:r>
              <a:t>extended_predictions = extended.predict(validation_features)</a:t>
            </a:r>
          </a:p>
          <a:p>
            <a:r>
              <a:t>error = mean_absolute_error(truth, extended_predictions)</a:t>
            </a:r>
          </a:p>
          <a:p>
            <a:r>
              <a:t>print(round(error, 6))</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WALK THROUGH THIS CODE</a:t>
            </a:r>
          </a:p>
          <a:p>
            <a:r>
              <a:t>def names the function. Inputs go inside parentheses.</a:t>
            </a:r>
          </a:p>
          <a:p>
            <a:r>
              <a:t>for takes the next item. The indented block repeats.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Two models under one protocol in Python (3/3).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 in Python (3/3)</a:t>
            </a:r>
          </a:p>
          <a:p>
            <a:r>
              <a:t/>
            </a:r>
          </a:p>
          <a:p>
            <a:r>
              <a:t>CONNECT</a:t>
            </a:r>
          </a:p>
          <a:p>
            <a:r>
              <a:t>Build on the preceding slide: Two models under one protocol in Python (2/3).</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Complete practice code:</a:t>
            </a:r>
          </a:p>
          <a:p>
            <a:r>
              <a:t>from sklearn.linear_model import LinearRegression</a:t>
            </a:r>
          </a:p>
          <a:p>
            <a:r>
              <a:t>from sklearn.metrics import mean_absolute_error</a:t>
            </a:r>
          </a:p>
          <a:p>
            <a:r>
              <a:t>train = [[1, 2], [2, 3], [3, 2], [4, 4], [5, 3]]</a:t>
            </a:r>
          </a:p>
          <a:p>
            <a:r>
              <a:t>y = [3, 5, 5, 8, 8]</a:t>
            </a:r>
          </a:p>
          <a:p>
            <a:r>
              <a:t>validation = [[2, 2], [3, 3]]</a:t>
            </a:r>
          </a:p>
          <a:p>
            <a:r>
              <a:t>truth = [4, 6]</a:t>
            </a:r>
          </a:p>
          <a:p>
            <a:r>
              <a:t>def with_interaction(rows):</a:t>
            </a:r>
          </a:p>
          <a:p>
            <a:r>
              <a:t>    result = []</a:t>
            </a:r>
          </a:p>
          <a:p>
            <a:r>
              <a:t>    for a, b in rows:</a:t>
            </a:r>
          </a:p>
          <a:p>
            <a:r>
              <a:t>        result.append([a, b, a * b])</a:t>
            </a:r>
          </a:p>
          <a:p>
            <a:r>
              <a:t>    return result</a:t>
            </a:r>
          </a:p>
          <a:p>
            <a:r>
              <a:t>base = LinearRegression().fit(train, y)</a:t>
            </a:r>
          </a:p>
          <a:p>
            <a:r>
              <a:t>extended = LinearRegression().fit(with_interaction(train), y)</a:t>
            </a:r>
          </a:p>
          <a:p>
            <a:r>
              <a:t>base_predictions = base.predict(validation)</a:t>
            </a:r>
          </a:p>
          <a:p>
            <a:r>
              <a:t>base_error = mean_absolute_error(truth, base_predictions)</a:t>
            </a:r>
          </a:p>
          <a:p>
            <a:r>
              <a:t>print(round(base_error, 6))</a:t>
            </a:r>
          </a:p>
          <a:p>
            <a:r>
              <a:t>validation_features = with_interaction(validation)</a:t>
            </a:r>
          </a:p>
          <a:p>
            <a:r>
              <a:t>extended_predictions = extended.predict(validation_features)</a:t>
            </a:r>
          </a:p>
          <a:p>
            <a:r>
              <a:t>error = mean_absolute_error(truth, extended_predictions)</a:t>
            </a:r>
          </a:p>
          <a:p>
            <a:r>
              <a:t>print(round(error, 6))</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WALK THROUGH THIS CODE</a:t>
            </a:r>
          </a:p>
          <a:p>
            <a:r>
              <a:t>predict applies the fitted model to new inputs.</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Two models under one protocol in Python (3/3).</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POINT TO THE DEFINITION</a:t>
            </a:r>
          </a:p>
          <a:p>
            <a:r>
              <a:t>Encoding: Representing a category numerically. One-hot uses separate indicator columns. Arbitrary integer labels can falsely suggest an order.</a:t>
            </a:r>
          </a:p>
          <a:p>
            <a:r>
              <a:t>Scaling: Changing the numerical scale of features. Fit learned scaling on training data only. It matters for distance-based models but is not required by ordinary decision trees.</a:t>
            </a:r>
          </a:p>
          <a:p>
            <a:r>
              <a:t/>
            </a:r>
          </a:p>
          <a:p>
            <a:r>
              <a:t>NEXT</a:t>
            </a:r>
          </a:p>
          <a:p>
            <a:r>
              <a:t>You are the feature reviewer.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feature reviewer</a:t>
            </a:r>
          </a:p>
          <a:p>
            <a:r>
              <a:t/>
            </a:r>
          </a:p>
          <a:p>
            <a:r>
              <a:t>CONNECT</a:t>
            </a:r>
          </a:p>
          <a:p>
            <a:r>
              <a:t>Build on the preceding slide: Words we will use.</a:t>
            </a:r>
          </a:p>
          <a:p>
            <a:r>
              <a:t/>
            </a:r>
          </a:p>
          <a:p>
            <a:r>
              <a:t>LECTURER CUE</a:t>
            </a:r>
          </a:p>
          <a:p>
            <a:r>
              <a:t>Do this before revealing the discussion slide. One learner moves or writes the items, the other checks. Swap roles. Every student explains one step. Expected: Improvement changes from +0.5 to -0.4. The second comparison does not support retaining the feature.</a:t>
            </a:r>
          </a:p>
          <a:p>
            <a:r>
              <a:t>Wait for an individual prediction before inviting pair discussion. Give a first-step hint if needed.</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feature reviewer.</a:t>
            </a:r>
          </a:p>
          <a:p>
            <a:r>
              <a:t/>
            </a:r>
          </a:p>
          <a:p>
            <a:r>
              <a:t>LECTURER CUE</a:t>
            </a:r>
          </a:p>
          <a:p>
            <a:r>
              <a:t>Ask which step produced this answer. Return to the concrete action if a learner cannot explain it. This is practice feedback, never a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Improvement is -0.4. This validation comparison does not support retaining it. One split is limited evidence; the final test remains untouched.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DISCUSS THE REASONING</a:t>
            </a:r>
          </a:p>
          <a:p>
            <a:r>
              <a:t>Practice discussion</a:t>
            </a:r>
          </a:p>
          <a:p>
            <a:r>
              <a:t>Improvement is -0.4. This validation comparison does not support retaining it. One split is limited evidence; the final test remains untouched.</a:t>
            </a:r>
          </a:p>
          <a:p>
            <a:r>
              <a:t>Which step produced this result? What changes if one input changes?</a:t>
            </a:r>
          </a:p>
          <a:p>
            <a:r>
              <a:t>CML3111   Week 11   25</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Practice discussion.</a:t>
            </a:r>
          </a:p>
          <a:p>
            <a:r>
              <a:t/>
            </a:r>
          </a:p>
          <a:p>
            <a:r>
              <a:t>LECTURER CUE</a:t>
            </a:r>
          </a:p>
          <a:p>
            <a:r>
              <a:t>W11 names four output features and a two-model ablation. Explain output order, preservation of input rows, full precision and training-only fitting. Use the supplied written scenario for the interpretation requested there. Do not substitute this practice example’s result.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Features without misleading evaluation.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Features without misleading evaluation</a:t>
            </a:r>
          </a:p>
          <a:p>
            <a:r>
              <a:t/>
            </a:r>
          </a:p>
          <a:p>
            <a:r>
              <a:t>CONNECT</a:t>
            </a:r>
          </a:p>
          <a:p>
            <a:r>
              <a:t>Build on the preceding slide: Preparing for the assignment.</a:t>
            </a:r>
          </a:p>
          <a:p>
            <a:r>
              <a:t/>
            </a:r>
          </a:p>
          <a:p>
            <a:r>
              <a:t>LECTURER CUE</a:t>
            </a:r>
          </a:p>
          <a:p>
            <a:r>
              <a:t>Teach these concepts before the weekly quiz. Use changed numbers for practice. This slide supplies concepts, not the quiz key.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Features without misleading evaluation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Features without misleading evaluation continued</a:t>
            </a:r>
          </a:p>
          <a:p>
            <a:r>
              <a:t/>
            </a:r>
          </a:p>
          <a:p>
            <a:r>
              <a:t>CONNECT</a:t>
            </a:r>
          </a:p>
          <a:p>
            <a:r>
              <a:t>Build on the preceding slide: Features without misleading evaluation.</a:t>
            </a:r>
          </a:p>
          <a:p>
            <a:r>
              <a:t/>
            </a:r>
          </a:p>
          <a:p>
            <a:r>
              <a:t>LECTURER CUE</a:t>
            </a:r>
          </a:p>
          <a:p>
            <a:r>
              <a:t>Teach these concepts before the weekly quiz. Use changed numbers for practice. This slide supplies concepts, not the quiz key.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Features without misleading evaluation continued.</a:t>
            </a:r>
          </a:p>
          <a:p>
            <a:r>
              <a:t/>
            </a:r>
          </a:p>
          <a:p>
            <a:r>
              <a:t>LECTURER CUE</a:t>
            </a:r>
          </a:p>
          <a:p>
            <a:r>
              <a:t>Investigate motor winding temperature. Target units: deg C.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make_features(feature_records).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make_features(feature_records)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IUEA_Teaching_Plan/assessment_banks/W11/CML3111/A/TASKS.md</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ablation_metrics(training_records, validation_records).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ablation_metrics(training_records, validation_records)</a:t>
            </a:r>
          </a:p>
          <a:p>
            <a:r>
              <a:t/>
            </a:r>
          </a:p>
          <a:p>
            <a:r>
              <a:t>CONNECT</a:t>
            </a:r>
          </a:p>
          <a:p>
            <a:r>
              <a:t>Build on the preceding slide: make_features(feature_records).</a:t>
            </a:r>
          </a:p>
          <a:p>
            <a:r>
              <a:t/>
            </a:r>
          </a:p>
          <a:p>
            <a:r>
              <a:t>LECTURER CUE</a:t>
            </a:r>
          </a:p>
          <a:p>
            <a:r>
              <a:t>Public task contract. Explain input and output types before independent work. Source: IUEA_Teaching_Plan/assessment_banks/W11/CML3111/A/TASKS.md</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ablation_metrics(training_records, validation_records).</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Features and ablation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Features and ablation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Features and ablation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11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11 quiz</a:t>
            </a:r>
          </a:p>
          <a:p>
            <a:r>
              <a:t/>
            </a:r>
          </a:p>
          <a:p>
            <a:r>
              <a:t>CONNECT</a:t>
            </a:r>
          </a:p>
          <a:p>
            <a:r>
              <a:t>Build on the preceding slide: Project preparation.</a:t>
            </a:r>
          </a:p>
          <a:p>
            <a:r>
              <a:t/>
            </a:r>
          </a:p>
          <a:p>
            <a:r>
              <a:t>LECTURER CUE</a:t>
            </a:r>
          </a:p>
          <a:p>
            <a:r>
              <a:t>Activate the matching open_W11_CML3111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11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ec4a2e535046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8aa292087a453b" /><Relationship Type="http://schemas.openxmlformats.org/officeDocument/2006/relationships/slideLayout" Target="/ppt/slideLayouts/slideLayout1.xml" Id="R482869dfb592495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2869dfb592495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028d877a0df4a2f" /><Relationship Type="http://schemas.openxmlformats.org/officeDocument/2006/relationships/image" Target="/ppt/media/image.png" Id="R23fea98182ca4efb" /><Relationship Type="http://schemas.openxmlformats.org/officeDocument/2006/relationships/notesSlide" Target="/ppt/notesSlides/notesSlide1.xml" Id="R2d48887da5c04e4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31dfae693c84a0d" /><Relationship Type="http://schemas.openxmlformats.org/officeDocument/2006/relationships/notesSlide" Target="/ppt/notesSlides/notesSlide2.xml" Id="Rac262d6b16ed40c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d7f79c07894300" /><Relationship Type="http://schemas.openxmlformats.org/officeDocument/2006/relationships/notesSlide" Target="/ppt/notesSlides/notesSlide3.xml" Id="Re9c17ccabd0745f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74ce36bd7814e39" /><Relationship Type="http://schemas.openxmlformats.org/officeDocument/2006/relationships/notesSlide" Target="/ppt/notesSlides/notesSlide4.xml" Id="R69a83a15af2c4b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0d03eb7403848ff" /><Relationship Type="http://schemas.openxmlformats.org/officeDocument/2006/relationships/notesSlide" Target="/ppt/notesSlides/notesSlide5.xml" Id="Rb19eedab15a848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212d0846b434f90" /><Relationship Type="http://schemas.openxmlformats.org/officeDocument/2006/relationships/notesSlide" Target="/ppt/notesSlides/notesSlide6.xml" Id="Ra7f6b60660d246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7dd57cc3d384318" /><Relationship Type="http://schemas.openxmlformats.org/officeDocument/2006/relationships/notesSlide" Target="/ppt/notesSlides/notesSlide7.xml" Id="R9e985875fce1455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8455aec597c4a6f" /><Relationship Type="http://schemas.openxmlformats.org/officeDocument/2006/relationships/image" Target="/ppt/media/image2.png" Id="R48bfc760da7a43d9" /><Relationship Type="http://schemas.openxmlformats.org/officeDocument/2006/relationships/notesSlide" Target="/ppt/notesSlides/notesSlide8.xml" Id="R2c48bdb139d0450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4259b48f326448f" /><Relationship Type="http://schemas.openxmlformats.org/officeDocument/2006/relationships/notesSlide" Target="/ppt/notesSlides/notesSlide9.xml" Id="R1e984e31757948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83ee4900f2f45fb" /><Relationship Type="http://schemas.openxmlformats.org/officeDocument/2006/relationships/notesSlide" Target="/ppt/notesSlides/notesSlide10.xml" Id="Ra9f6f40720994c8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5b73ad6c2e644c8" /><Relationship Type="http://schemas.openxmlformats.org/officeDocument/2006/relationships/notesSlide" Target="/ppt/notesSlides/notesSlide11.xml" Id="Ra84af06257c74db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7b708ed0d804d53" /><Relationship Type="http://schemas.openxmlformats.org/officeDocument/2006/relationships/notesSlide" Target="/ppt/notesSlides/notesSlide12.xml" Id="Raede7d4e0e9246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e57df639b394fe6" /><Relationship Type="http://schemas.openxmlformats.org/officeDocument/2006/relationships/notesSlide" Target="/ppt/notesSlides/notesSlide13.xml" Id="R1a64b738fc4c41f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a8696de6f0e4dc0" /><Relationship Type="http://schemas.openxmlformats.org/officeDocument/2006/relationships/notesSlide" Target="/ppt/notesSlides/notesSlide14.xml" Id="Ra3edd18654864a1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ef586df130a45a2" /><Relationship Type="http://schemas.openxmlformats.org/officeDocument/2006/relationships/notesSlide" Target="/ppt/notesSlides/notesSlide15.xml" Id="R0d2c4ca3f488407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4bfad8eb7ea4353" /><Relationship Type="http://schemas.openxmlformats.org/officeDocument/2006/relationships/notesSlide" Target="/ppt/notesSlides/notesSlide16.xml" Id="Rcc5162da1adc4e2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eb25e0a7b094fe4" /><Relationship Type="http://schemas.openxmlformats.org/officeDocument/2006/relationships/notesSlide" Target="/ppt/notesSlides/notesSlide17.xml" Id="R3d3574531d7542f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47cf1ed6b02482d" /><Relationship Type="http://schemas.openxmlformats.org/officeDocument/2006/relationships/notesSlide" Target="/ppt/notesSlides/notesSlide18.xml" Id="R04dda9658400412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ea3758eae2847aa" /><Relationship Type="http://schemas.openxmlformats.org/officeDocument/2006/relationships/notesSlide" Target="/ppt/notesSlides/notesSlide19.xml" Id="R31399fbd1ea040b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5510d3deb274d9d" /><Relationship Type="http://schemas.openxmlformats.org/officeDocument/2006/relationships/notesSlide" Target="/ppt/notesSlides/notesSlide20.xml" Id="R5e252d5d7b81400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b46de72dff24dd7" /><Relationship Type="http://schemas.openxmlformats.org/officeDocument/2006/relationships/notesSlide" Target="/ppt/notesSlides/notesSlide21.xml" Id="R97d4a8de9c964cc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9b0a965c5384e95" /><Relationship Type="http://schemas.openxmlformats.org/officeDocument/2006/relationships/notesSlide" Target="/ppt/notesSlides/notesSlide22.xml" Id="R38452f5e48ec452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cdc937cfe9f4e61" /><Relationship Type="http://schemas.openxmlformats.org/officeDocument/2006/relationships/notesSlide" Target="/ppt/notesSlides/notesSlide23.xml" Id="Re60cc99f5bcf4b6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c4f6b4515814cfa" /><Relationship Type="http://schemas.openxmlformats.org/officeDocument/2006/relationships/notesSlide" Target="/ppt/notesSlides/notesSlide24.xml" Id="R5688d6d9852d485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2b8760c606440a2" /><Relationship Type="http://schemas.openxmlformats.org/officeDocument/2006/relationships/notesSlide" Target="/ppt/notesSlides/notesSlide25.xml" Id="R07532f66ebdd473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bcced1939f7449f" /><Relationship Type="http://schemas.openxmlformats.org/officeDocument/2006/relationships/notesSlide" Target="/ppt/notesSlides/notesSlide26.xml" Id="Rc9dbbfaa90b74bb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c1d6df8e57645c6" /><Relationship Type="http://schemas.openxmlformats.org/officeDocument/2006/relationships/notesSlide" Target="/ppt/notesSlides/notesSlide27.xml" Id="Rba9a56da49ae495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6b1cb78f5064ee8" /><Relationship Type="http://schemas.openxmlformats.org/officeDocument/2006/relationships/notesSlide" Target="/ppt/notesSlides/notesSlide28.xml" Id="R977e4a4322fc4dd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5002d4e565648fe" /><Relationship Type="http://schemas.openxmlformats.org/officeDocument/2006/relationships/notesSlide" Target="/ppt/notesSlides/notesSlide29.xml" Id="R02126ac39d1c48d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b93a402792245d6" /><Relationship Type="http://schemas.openxmlformats.org/officeDocument/2006/relationships/notesSlide" Target="/ppt/notesSlides/notesSlide30.xml" Id="R81b1e2826ea14af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54b21141ed6e4004" /><Relationship Type="http://schemas.openxmlformats.org/officeDocument/2006/relationships/notesSlide" Target="/ppt/notesSlides/notesSlide31.xml" Id="Rdb58e9d3955d4b5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e2c33468d1f417d" /><Relationship Type="http://schemas.openxmlformats.org/officeDocument/2006/relationships/notesSlide" Target="/ppt/notesSlides/notesSlide32.xml" Id="Rf303d2d2f90a425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0a2d371857e403c" /><Relationship Type="http://schemas.openxmlformats.org/officeDocument/2006/relationships/hyperlink" Target="https://docs.google.com/forms/d/e/1FAIpQLSeQJ_LsZgtIRbakN-KW4e4dx5rru2iqg6HwaaKoAQbKW7bh8Q/viewform" TargetMode="External" Id="R9bc57170f6ee44d4" /><Relationship Type="http://schemas.openxmlformats.org/officeDocument/2006/relationships/notesSlide" Target="/ppt/notesSlides/notesSlide33.xml" Id="R48f810ff26c1484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fa7b8eca62b40fd" /><Relationship Type="http://schemas.openxmlformats.org/officeDocument/2006/relationships/notesSlide" Target="/ppt/notesSlides/notesSlide34.xml" Id="R9466ae604d694aa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3e356895caf4817" /><Relationship Type="http://schemas.openxmlformats.org/officeDocument/2006/relationships/image" Target="/ppt/media/image3.png" Id="R7c0c74776a3e44c3" /><Relationship Type="http://schemas.openxmlformats.org/officeDocument/2006/relationships/hyperlink" Target="https://forms.gle/32Y9ttL1XWaqbGMNA" TargetMode="External" Id="R637bde4b5d384395" /><Relationship Type="http://schemas.openxmlformats.org/officeDocument/2006/relationships/notesSlide" Target="/ppt/notesSlides/notesSlide35.xml" Id="Rc4762880c066425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f16338d1f134c0e" /><Relationship Type="http://schemas.openxmlformats.org/officeDocument/2006/relationships/notesSlide" Target="/ppt/notesSlides/notesSlide36.xml" Id="R9be59818e8dc4bc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3fea98182ca4ef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8FBEE4-753F-4592-8713-6730098D5DF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5F59031-2782-4A19-BC69-80F5AE29326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11</a:t>
            </a:r>
          </a:p>
        </p:txBody>
      </p:sp>
      <p:sp>
        <p:nvSpPr>
          <p:cNvPr id="4" name="">
            <a:extLst xmlns:a="http://schemas.openxmlformats.org/drawingml/2006/main">
              <a:ext uri="{FF2B5EF4-FFF2-40B4-BE49-F238E27FC236}">
                <a16:creationId xmlns:a16="http://schemas.microsoft.com/office/drawing/2014/main" id="{5F6E1029-9A89-49C3-BDB5-67A4FED5AB7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202F75C5-36EB-4385-9875-12E9CA2D6EC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9D6D5F0E-D41D-41BC-BBFB-8D2D64E19B6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7334120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E913FA1-5ABF-4010-AD07-F72AC12F4B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216FEE-E283-40CC-AF52-CDDD175157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3B8D278-CFA0-4DE7-9BA1-3C4F86E653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970F605E-5B57-4FA0-9606-9369A58F793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2D99F4-CDD3-49EE-A41A-071BEC21F9BC}"/>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E5B1EED-90FE-4B46-AC0B-B72C66C075A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E032540F-BAF0-4EEB-AD41-E13CD014B90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969E6D0-71B9-4435-8316-16180D614A8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23F664D7-66BD-475B-8160-66FE7C0A32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a:t>
            </a:r>
          </a:p>
        </p:txBody>
      </p:sp>
    </p:spTree>
    <p:extLst>
      <p:ext uri="{BB962C8B-B14F-4D97-AF65-F5344CB8AC3E}">
        <p14:creationId xmlns:p14="http://schemas.microsoft.com/office/powerpoint/2010/main" val="1703164131"/>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032C82-AB87-4DE9-8B3E-7AC86A3848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4D066A2B-72BB-40B5-B78A-C1218406B7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9492FA35-6E2F-4272-9C30-CA422E46593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A2BB4355-DD0B-43D1-9D1F-5EE22921422F}"/>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What makes an input available at prediction time? Why keep validation membership fixed?</a:t>
            </a:r>
          </a:p>
        </p:txBody>
      </p:sp>
      <p:sp>
        <p:nvSpPr>
          <p:cNvPr id="5" name="">
            <a:extLst xmlns:a="http://schemas.openxmlformats.org/drawingml/2006/main">
              <a:ext uri="{FF2B5EF4-FFF2-40B4-BE49-F238E27FC236}">
                <a16:creationId xmlns:a16="http://schemas.microsoft.com/office/drawing/2014/main" id="{A1078627-6420-4780-86C8-0A7B4C56D13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7C04A9CB-91F4-4156-AA00-5EB25ADFC6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11   3</a:t>
            </a:r>
          </a:p>
        </p:txBody>
      </p:sp>
    </p:spTree>
    <p:extLst>
      <p:ext uri="{BB962C8B-B14F-4D97-AF65-F5344CB8AC3E}">
        <p14:creationId xmlns:p14="http://schemas.microsoft.com/office/powerpoint/2010/main" val="173832531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FA497B-9AF0-46CF-8ECC-38E38100FA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79788E-0438-4844-8746-4FDE73462F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FFAD7936-2B6B-4984-9F33-02FDCFF713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E2B2FBD7-83DC-4F13-BDB8-2F545BDCE9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4318C0-1210-4591-8863-86AED5F41CE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CB730464-6082-4EEA-B598-66F6AC1C8F5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715D50-6555-4A93-9354-EEA699AEA93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5DDF38E6-25DB-4151-A6C4-45C5B7DCF2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985189-90CD-4AAF-87D1-1A73096804D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01A18A0C-DF62-4AC0-BB62-2BCB606F25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4</a:t>
            </a:r>
          </a:p>
        </p:txBody>
      </p:sp>
    </p:spTree>
    <p:extLst>
      <p:ext uri="{BB962C8B-B14F-4D97-AF65-F5344CB8AC3E}">
        <p14:creationId xmlns:p14="http://schemas.microsoft.com/office/powerpoint/2010/main" val="210666521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FCD975-337F-44B4-B580-982EB0B17C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2781D4-1DE8-4B18-9EE3-E60E68C7CE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7ACF3EB-CCF8-4129-B0F2-108FDCCF25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6DC9CC99-27CA-4909-BAF0-990C426450C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3595B3-EF81-4351-9AE8-04DA62E360B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367AB510-F080-423B-94E9-7825ACF04E6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2654EF-DD1B-4985-A439-0ACB7009BD2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2C474DE2-F6FD-45E1-86F7-F9B31A1A00A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311CB9-3B45-4DFC-B6B0-A57769199DB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ED2D69EC-8724-4C27-BDC5-5813F68E69E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ED1567A-D90B-4585-A3CF-E8511C05E81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7C1EDCC9-CEB8-456C-914E-3B00CC0C32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5</a:t>
            </a:r>
          </a:p>
        </p:txBody>
      </p:sp>
    </p:spTree>
    <p:extLst>
      <p:ext uri="{BB962C8B-B14F-4D97-AF65-F5344CB8AC3E}">
        <p14:creationId xmlns:p14="http://schemas.microsoft.com/office/powerpoint/2010/main" val="13088364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E56FAF-B7A8-4580-A205-4F987F0021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7B8D5B-FB94-4786-98FA-C9315C77F4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D63BCCB-4B0A-4058-A56A-B4D7921E38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3D9EE7B2-BE3B-418B-AF67-CC1BA0D99A5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3390AD-59EC-4E4F-A4BD-5D6CB9F4966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668980D1-D8AB-4A13-B8AC-3CC9432A110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F7C29BAF-0DA0-4F43-B76C-C3F2F44AECE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1085B9-4924-444E-B96B-506188710C0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946509C7-17BB-4061-B44D-BA66DB02EAC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ED773FA2-02D2-44FF-B3D9-490F5CE620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6</a:t>
            </a:r>
          </a:p>
        </p:txBody>
      </p:sp>
    </p:spTree>
    <p:extLst>
      <p:ext uri="{BB962C8B-B14F-4D97-AF65-F5344CB8AC3E}">
        <p14:creationId xmlns:p14="http://schemas.microsoft.com/office/powerpoint/2010/main" val="18292732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657BB4-9ED6-48BB-8274-BAA8D3B11D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C68861-1E03-4B4E-BBE2-971F6CCDF6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AF578B7-748B-4CD9-9EEB-6AE1C013D0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776A5256-AAE2-4D35-8878-3B9F54BBD6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9DAFDE-4476-400B-B905-DE0424E9528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48383275-0CBB-4F14-806E-869B38DA0F9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0E0CF7-4DDD-4C24-BEBC-5AB2F98367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E88BE426-905F-48E9-92C9-BBB9E51F7A4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6411DC-A43E-4A2E-AA27-9145B80DD8B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6A7E48D7-263B-4956-9152-FA677DB350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7</a:t>
            </a:r>
          </a:p>
        </p:txBody>
      </p:sp>
    </p:spTree>
    <p:extLst>
      <p:ext uri="{BB962C8B-B14F-4D97-AF65-F5344CB8AC3E}">
        <p14:creationId xmlns:p14="http://schemas.microsoft.com/office/powerpoint/2010/main" val="91350616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0E1EA9-1368-4592-8C4B-77B02447AE7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C7FE3C-3B34-4AF2-9D66-C4A967E228C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8bfc760da7a43d9"/>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27FB514-2F3E-4EE0-81FC-7CEC6880799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7ABE1D-AFB4-451F-B1A8-0C3B895057D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433D3919-6D57-402A-AEC5-B304B7695E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8</a:t>
            </a:r>
          </a:p>
        </p:txBody>
      </p:sp>
    </p:spTree>
    <p:extLst>
      <p:ext uri="{BB962C8B-B14F-4D97-AF65-F5344CB8AC3E}">
        <p14:creationId xmlns:p14="http://schemas.microsoft.com/office/powerpoint/2010/main" val="7692680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FD08B4-B08C-44A6-B138-C4E40032E2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E50A13-4E1E-4B01-AD0F-A3E44A7324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EB6E85D-CA50-40EA-9464-640B6FEDF3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5328E1E-E64F-443C-96E6-F98AA69212E7}"/>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91C40E9C-87B3-49FD-B5E3-35206CA546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9</a:t>
            </a:r>
          </a:p>
        </p:txBody>
      </p:sp>
    </p:spTree>
    <p:extLst>
      <p:ext uri="{BB962C8B-B14F-4D97-AF65-F5344CB8AC3E}">
        <p14:creationId xmlns:p14="http://schemas.microsoft.com/office/powerpoint/2010/main" val="129785335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CBBC7D-B41B-4573-9388-DF5D5E8EB5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CFCD29-A4B7-4E70-976F-67B378C242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977ACD-4120-40A8-9EF8-57551592E5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49AA6233-69F0-46AA-B08C-8ACAA8CD51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97579A-8962-4C41-A95E-D44F978DB35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EE867F94-5248-4AA0-BBDC-12B76DA630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B68679-6AA3-4FA8-9178-D7B195EBB4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5637C187-3B55-4BF4-8CF4-023FFC342DC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41F1AB-8A9E-4F8C-A023-7F13CB0CF85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4CEAFB7C-2F69-4785-A43F-8DE03DC852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10</a:t>
            </a:r>
          </a:p>
        </p:txBody>
      </p:sp>
    </p:spTree>
    <p:extLst>
      <p:ext uri="{BB962C8B-B14F-4D97-AF65-F5344CB8AC3E}">
        <p14:creationId xmlns:p14="http://schemas.microsoft.com/office/powerpoint/2010/main" val="113310291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A273D5-991D-4344-9EA2-20C03E516E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12999B-205C-4CED-BC77-85F148506B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B2B25A-507A-47BA-B744-E86FF40297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692122C5-5664-46F1-8A1A-E4CF4A424B9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A9D9E4-12BE-4C63-AE38-34000DA1954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DA7C079E-F003-46E7-99DA-F2DAF118F50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1F3D34-D3AD-4650-8CDA-D8B75A1D876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96F073CC-68CD-456E-B1C6-9651566F18E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57C4F5-A837-44FD-8C3E-BD2202E00BF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C367577A-0A11-4156-9589-314FC102C7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11</a:t>
            </a:r>
          </a:p>
        </p:txBody>
      </p:sp>
    </p:spTree>
    <p:extLst>
      <p:ext uri="{BB962C8B-B14F-4D97-AF65-F5344CB8AC3E}">
        <p14:creationId xmlns:p14="http://schemas.microsoft.com/office/powerpoint/2010/main" val="69724219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8B169E-2A72-4B66-A830-E40BA58FAE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62AD16-C072-4ACA-BF9F-B18F47B61C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B081D0E-0968-4A46-AA29-6CD45F4C25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558D2BB-06EA-4567-855D-A3961974E1F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354964-445B-40E8-874F-CDDE7360FE9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F4D9BA5C-5AAB-4A88-8A8F-125823CEC5B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C68C3094-96E2-43B4-B718-F2B891DC5D3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4EF6FBE-D8F6-4261-BDC6-32C56C6497D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CB7DBF27-B68D-4E6D-8390-DE3D5A1209D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BD031DAB-A0C6-48EB-AAC4-480FFED9C7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12</a:t>
            </a:r>
          </a:p>
        </p:txBody>
      </p:sp>
    </p:spTree>
    <p:extLst>
      <p:ext uri="{BB962C8B-B14F-4D97-AF65-F5344CB8AC3E}">
        <p14:creationId xmlns:p14="http://schemas.microsoft.com/office/powerpoint/2010/main" val="151340604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BCEDDE-BCC9-4FF0-8AF8-5EEAA40EE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172C97-A9E6-4BD5-AB2D-501C072E89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79801E-CB46-489B-A4AB-1AC4BDFDEB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C26CEDF4-D1B4-4F7A-A63B-35ADF51947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C94F2D-7537-4D6C-A62B-3C3B3A6204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83F266F6-B5F6-4026-8A40-025642FB651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609FBD-BF0D-4F12-949F-A3FBF7AFBE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F29C6731-A52F-4B54-83C0-08B12144FAF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61E28E3-7C7B-4581-9779-5C3C078D8B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450A5CE5-9F60-4417-A354-1FB3E8DC6A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13</a:t>
            </a:r>
          </a:p>
        </p:txBody>
      </p:sp>
    </p:spTree>
    <p:extLst>
      <p:ext uri="{BB962C8B-B14F-4D97-AF65-F5344CB8AC3E}">
        <p14:creationId xmlns:p14="http://schemas.microsoft.com/office/powerpoint/2010/main" val="18248421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3E2591-028D-46E8-AC3B-06CFEF7C02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68B565-CF65-4CC5-AEDE-6C43506D45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B31E46F-0710-4A7B-8A9C-3EC7B644CD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3B85DE14-8548-4723-97E4-2BDAE7E3DC3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E8E029-AAFE-4CFC-8D7A-73C5BEB24D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84888084-06A5-4D73-A42E-4E8C57C8F54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0FED73B-9AEA-4628-8ABF-9DED72ED2B2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7715E917-94C7-4D3B-B2BA-755A1451D37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D0F48321-DC4B-444B-ADB8-487521ABF9A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7F3C683A-1D97-4003-BED7-8855C676A1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14</a:t>
            </a:r>
          </a:p>
        </p:txBody>
      </p:sp>
    </p:spTree>
    <p:extLst>
      <p:ext uri="{BB962C8B-B14F-4D97-AF65-F5344CB8AC3E}">
        <p14:creationId xmlns:p14="http://schemas.microsoft.com/office/powerpoint/2010/main" val="44097038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E0053D-11E0-4063-99CC-98DB200983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2619ED-621A-4743-80C5-2C4162613E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77F6E0D2-C463-4742-93B6-E33ECC5131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9529B0CF-84CA-4400-88B0-01B7AA774311}"/>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7D5B65-2740-4954-9BB9-3670548DB63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13B95784-E528-488B-8394-2219D75AC5E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371463CA-D1A2-491B-9AD2-B6FC8F84E2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15</a:t>
            </a:r>
          </a:p>
        </p:txBody>
      </p:sp>
    </p:spTree>
    <p:extLst>
      <p:ext uri="{BB962C8B-B14F-4D97-AF65-F5344CB8AC3E}">
        <p14:creationId xmlns:p14="http://schemas.microsoft.com/office/powerpoint/2010/main" val="136592985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FD424A-33C8-444A-8884-ACFB35D312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B7FB99-F5EC-4670-B74D-580354DFA6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F8E9CC-A05A-4DCE-AB57-36D0330511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DA38B5EA-CF13-457A-8772-654AB7279F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FED73C-31CB-495B-8CE6-6AD0C3974D5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D4D0E491-3B90-4196-A499-58E3903715C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59704D-E8FA-48BB-8118-8066CB561E5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C79BC4F2-3BA9-4CE4-A147-8CFCE20019A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30A94B-F5AF-4142-B698-B5957C1E168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returns the fitted model object, so creating and fitting can appear in one expression. round(value, 6) rounds a displayed number to six decimal places.</a:t>
            </a:r>
          </a:p>
        </p:txBody>
      </p:sp>
      <p:sp>
        <p:nvSpPr>
          <p:cNvPr id="10" name="">
            <a:extLst xmlns:a="http://schemas.openxmlformats.org/drawingml/2006/main">
              <a:ext uri="{FF2B5EF4-FFF2-40B4-BE49-F238E27FC236}">
                <a16:creationId xmlns:a16="http://schemas.microsoft.com/office/drawing/2014/main" id="{292BF28B-190C-4DE9-B9C2-8DD74B3540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16</a:t>
            </a:r>
          </a:p>
        </p:txBody>
      </p:sp>
    </p:spTree>
    <p:extLst>
      <p:ext uri="{BB962C8B-B14F-4D97-AF65-F5344CB8AC3E}">
        <p14:creationId xmlns:p14="http://schemas.microsoft.com/office/powerpoint/2010/main" val="169029590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E2327B-83FE-4752-A463-71D470BF0D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86470A-5D98-4A83-9074-01FDA7540E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4E1BA2-9BB7-442B-A0EC-89AD279B6D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119BE8C8-AFED-4A68-A3B7-0202FE75B3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B369EC-F980-4093-BFF8-F008ED8710B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65A6CDD4-D06A-4BDA-8F37-BEEC0F2DD81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BFFF14-6122-46AB-8696-50DB8BE2C40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3735CAE2-F1F8-494E-8156-CF0F04263ED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99A3F9-49DC-4FD5-8574-913CEA01866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BD471262-3A85-4264-A883-E26E87DDF1D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D2CA7B6-18B8-4218-9551-95303736A64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FC804B00-16A4-45DA-A1C2-419232163C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17</a:t>
            </a:r>
          </a:p>
        </p:txBody>
      </p:sp>
    </p:spTree>
    <p:extLst>
      <p:ext uri="{BB962C8B-B14F-4D97-AF65-F5344CB8AC3E}">
        <p14:creationId xmlns:p14="http://schemas.microsoft.com/office/powerpoint/2010/main" val="30240468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94DEBC-E190-4E15-9503-E9BE9ADF99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E72157-6A01-4AF3-A716-7FCC233B81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EC941B1-8A58-4FA3-85C1-0801262B4D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650D79C9-CD9C-4E0E-A91E-2F7BBA27A89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AD45A3-877D-41BD-9616-ABEC8F7A9EA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F33C1D7B-B24B-4A80-8B4A-05456F99D13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489E5BD8-9DF7-45A5-9C58-E6DF0082884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48B1BD53-9FA5-4CC1-ABCB-AB2D51D1AC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18</a:t>
            </a:r>
          </a:p>
        </p:txBody>
      </p:sp>
    </p:spTree>
    <p:extLst>
      <p:ext uri="{BB962C8B-B14F-4D97-AF65-F5344CB8AC3E}">
        <p14:creationId xmlns:p14="http://schemas.microsoft.com/office/powerpoint/2010/main" val="14858440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229374-695D-419A-9BD5-3F032F77BF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D61246-37ED-4EDC-A910-F0300A0925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637D053-23B7-4353-9112-1A01FDF0E9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96CF9066-8DC2-46EF-9A88-336638F47BE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2AA22D-90EE-4A2A-91F0-5046532F4F1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FB080"/>
                </a:solidFill>
                <a:latin typeface="Courier New"/>
                <a:ea typeface="Courier New"/>
                <a:cs typeface="Courier New"/>
              </a:rPr>
              <a:t>def</a:t>
            </a:r>
            <a:r>
              <a:rPr sz="2102" b="0">
                <a:solidFill>
                  <a:srgbClr val="F4F7FA"/>
                </a:solidFill>
                <a:latin typeface="Courier New"/>
                <a:ea typeface="Courier New"/>
                <a:cs typeface="Courier New"/>
              </a:rPr>
              <a:t> with_interaction(rows):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 = []</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for</a:t>
            </a:r>
            <a:r>
              <a:rPr sz="2102" b="0">
                <a:solidFill>
                  <a:srgbClr val="F4F7FA"/>
                </a:solidFill>
                <a:latin typeface="Courier New"/>
                <a:ea typeface="Courier New"/>
                <a:cs typeface="Courier New"/>
              </a:rPr>
              <a:t> a, b in 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result.append([a, b, a * b])</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return</a:t>
            </a:r>
            <a:r>
              <a:rPr sz="2102" b="0">
                <a:solidFill>
                  <a:srgbClr val="F4F7FA"/>
                </a:solidFill>
                <a:latin typeface="Courier New"/>
                <a:ea typeface="Courier New"/>
                <a:cs typeface="Courier New"/>
              </a:rPr>
              <a:t> result</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 = LinearRegression().fit(train,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extended = LinearRegression().fit(with_interaction(train),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base_predictions = base.predict(validation)</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F8C2A12F-998F-4ED5-8ED0-649A2BE9E8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C83A4FB4-0913-4D34-A3E2-C623646FDBA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761426CC-C62C-48A4-A228-5574C66D4E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19</a:t>
            </a:r>
          </a:p>
        </p:txBody>
      </p:sp>
    </p:spTree>
    <p:extLst>
      <p:ext uri="{BB962C8B-B14F-4D97-AF65-F5344CB8AC3E}">
        <p14:creationId xmlns:p14="http://schemas.microsoft.com/office/powerpoint/2010/main" val="184521761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6BC2ECF-E459-4A5E-9EC4-0029FD8B9C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9BB651-5675-4AC8-A6AA-FACBFCD9B2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FD32E05-CAFD-4BD2-BC40-199CF2F174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F259AF8A-6733-4F17-A919-ADA28670338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15EB70-AC98-4097-91F6-E3D2DA12CF5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1736B72C-AA2F-4EA1-9646-7BC1EA8DE2F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8576D798-18AD-4A1D-8001-741CA95A46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07D43166-CF43-428E-B2C5-FB969EC63E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20</a:t>
            </a:r>
          </a:p>
        </p:txBody>
      </p:sp>
    </p:spTree>
    <p:extLst>
      <p:ext uri="{BB962C8B-B14F-4D97-AF65-F5344CB8AC3E}">
        <p14:creationId xmlns:p14="http://schemas.microsoft.com/office/powerpoint/2010/main" val="196060019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0462B7-70DF-4DF2-A942-25C701179C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410C4A-BA99-4599-9F51-8F8F3936F9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CCFBA40-6ABC-4958-BC3E-2CF6A37870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50FA9217-C4C3-49B1-9079-9B09D4C0181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046A33-D01E-475B-AAAE-CC0996365E3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9D93E6D8-934D-41BB-B12F-CAFCAC5715E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036C8007-CFC2-40C1-BA54-FBB588CAB6D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3A78032-F2D5-4ADC-80DD-74B167D134A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20B2B16C-0DCD-4768-A696-AF903441AE9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8128BCF4-62CF-49C7-9EBA-09911635BB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21</a:t>
            </a:r>
          </a:p>
        </p:txBody>
      </p:sp>
    </p:spTree>
    <p:extLst>
      <p:ext uri="{BB962C8B-B14F-4D97-AF65-F5344CB8AC3E}">
        <p14:creationId xmlns:p14="http://schemas.microsoft.com/office/powerpoint/2010/main" val="16954047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DFBFF6F-9CFC-46BE-A5E5-C5AF9B318B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0020C5-9400-4C9C-B22F-A679CC28D4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300782EA-B478-46A9-A263-5A9735CF41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feature reviewer</a:t>
            </a:r>
          </a:p>
        </p:txBody>
      </p:sp>
      <p:sp>
        <p:nvSpPr>
          <p:cNvPr id="4" name="">
            <a:extLst xmlns:a="http://schemas.openxmlformats.org/drawingml/2006/main">
              <a:ext uri="{FF2B5EF4-FFF2-40B4-BE49-F238E27FC236}">
                <a16:creationId xmlns:a16="http://schemas.microsoft.com/office/drawing/2014/main" id="{4B65DAB1-D522-4AD0-93CC-2A4D51223E85}"/>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F16E81-03C6-48D0-9867-C395837559BE}"/>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base error 3.0 and extended error 2.5.</a:t>
            </a:r>
          </a:p>
        </p:txBody>
      </p:sp>
      <p:sp>
        <p:nvSpPr>
          <p:cNvPr id="6" name="">
            <a:extLst xmlns:a="http://schemas.openxmlformats.org/drawingml/2006/main">
              <a:ext uri="{FF2B5EF4-FFF2-40B4-BE49-F238E27FC236}">
                <a16:creationId xmlns:a16="http://schemas.microsoft.com/office/drawing/2014/main" id="{5449D341-C641-42DE-B918-B00386B9F199}"/>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EDCD00-DF78-4CDC-8EF0-39098EBCDF97}"/>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base minus extended, using the same target unit.</a:t>
            </a:r>
          </a:p>
        </p:txBody>
      </p:sp>
      <p:sp>
        <p:nvSpPr>
          <p:cNvPr id="8" name="">
            <a:extLst xmlns:a="http://schemas.openxmlformats.org/drawingml/2006/main">
              <a:ext uri="{FF2B5EF4-FFF2-40B4-BE49-F238E27FC236}">
                <a16:creationId xmlns:a16="http://schemas.microsoft.com/office/drawing/2014/main" id="{693AEDFC-C478-4090-A55C-95E42AABCFC8}"/>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80AF59-FFDC-4512-A25E-6E2E16D7862B}"/>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Change only extended error to 3.4. Does the conclusion stay the same?</a:t>
            </a:r>
          </a:p>
        </p:txBody>
      </p:sp>
      <p:sp>
        <p:nvSpPr>
          <p:cNvPr id="10" name="">
            <a:extLst xmlns:a="http://schemas.openxmlformats.org/drawingml/2006/main">
              <a:ext uri="{FF2B5EF4-FFF2-40B4-BE49-F238E27FC236}">
                <a16:creationId xmlns:a16="http://schemas.microsoft.com/office/drawing/2014/main" id="{3E64792C-2CCB-4EC3-9395-48B264EC9B81}"/>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F6A4375-358A-43E6-94A9-99544C977F53}"/>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CFA58F5C-ACB8-4675-8841-ADB5A4DA29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22</a:t>
            </a:r>
          </a:p>
        </p:txBody>
      </p:sp>
    </p:spTree>
    <p:extLst>
      <p:ext uri="{BB962C8B-B14F-4D97-AF65-F5344CB8AC3E}">
        <p14:creationId xmlns:p14="http://schemas.microsoft.com/office/powerpoint/2010/main" val="183996696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47C8EB-2397-4AB0-8B89-1957C9B1ED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79382E-9D78-47EB-AE3C-A20C61CE23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CDBB3963-CC10-47A2-A25A-95121C5A13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B83F0336-9859-47E2-8EB1-20EF5B01171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938CCF-8EA6-4D0E-B535-84583A0D472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Improvement changes from +0.5 to -0.4. The second comparison does not support retaining the feature.</a:t>
            </a:r>
          </a:p>
        </p:txBody>
      </p:sp>
      <p:sp>
        <p:nvSpPr>
          <p:cNvPr id="6" name="">
            <a:extLst xmlns:a="http://schemas.openxmlformats.org/drawingml/2006/main">
              <a:ext uri="{FF2B5EF4-FFF2-40B4-BE49-F238E27FC236}">
                <a16:creationId xmlns:a16="http://schemas.microsoft.com/office/drawing/2014/main" id="{819E5572-9B02-4341-989C-F7670112A83B}"/>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8CB0E7D-3A32-48A3-B058-AD06E52CAC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23</a:t>
            </a:r>
          </a:p>
        </p:txBody>
      </p:sp>
    </p:spTree>
    <p:extLst>
      <p:ext uri="{BB962C8B-B14F-4D97-AF65-F5344CB8AC3E}">
        <p14:creationId xmlns:p14="http://schemas.microsoft.com/office/powerpoint/2010/main" val="2037996770"/>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E05C51-95DA-4243-A9BF-7FFFC3808D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9232BF48-04C7-4769-968A-F98CE492C7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257BB2FD-24B9-458A-83B5-EE1DDA6C63B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3B3DA3B6-C929-41C6-A795-1A70E132453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If the extended error becomes 3.4, calculate improvement and decide whether this evidence supports retaining the feature.</a:t>
            </a:r>
          </a:p>
        </p:txBody>
      </p:sp>
      <p:sp>
        <p:nvSpPr>
          <p:cNvPr id="5" name="">
            <a:extLst xmlns:a="http://schemas.openxmlformats.org/drawingml/2006/main">
              <a:ext uri="{FF2B5EF4-FFF2-40B4-BE49-F238E27FC236}">
                <a16:creationId xmlns:a16="http://schemas.microsoft.com/office/drawing/2014/main" id="{3B0AAEFD-8735-41FF-B112-F32477FD136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799CD526-4962-4742-841D-1F446A8B42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11   24</a:t>
            </a:r>
          </a:p>
        </p:txBody>
      </p:sp>
    </p:spTree>
    <p:extLst>
      <p:ext uri="{BB962C8B-B14F-4D97-AF65-F5344CB8AC3E}">
        <p14:creationId xmlns:p14="http://schemas.microsoft.com/office/powerpoint/2010/main" val="21927480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F22835-108C-4E11-9D3F-B5B158C88E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293CD2-5808-4016-BFB6-5BFF92F84C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14CC0A67-7D73-48AA-B250-96794B467D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D05BD3F4-F4EB-43BA-A59F-2A8E9FE874A1}"/>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2EFC2B-3D2D-43FC-96D5-580EFD32025D}"/>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7D6F"/>
                </a:solidFill>
                <a:latin typeface="Calibri"/>
                <a:ea typeface="Calibri"/>
                <a:cs typeface="Calibri"/>
              </a:defRPr>
            </a:pPr>
            <a:r>
              <a:rPr sz="2400" b="1">
                <a:solidFill>
                  <a:srgbClr val="2E7D6F"/>
                </a:solidFill>
                <a:latin typeface="Calibri"/>
                <a:ea typeface="Calibri"/>
                <a:cs typeface="Calibri"/>
              </a:rPr>
              <a:t>Improvement is -0.4. This validation comparison does not support retaining it. One split is limited evidence; the final test remains untouched.</a:t>
            </a:r>
          </a:p>
        </p:txBody>
      </p:sp>
      <p:sp>
        <p:nvSpPr>
          <p:cNvPr id="6" name="">
            <a:extLst xmlns:a="http://schemas.openxmlformats.org/drawingml/2006/main">
              <a:ext uri="{FF2B5EF4-FFF2-40B4-BE49-F238E27FC236}">
                <a16:creationId xmlns:a16="http://schemas.microsoft.com/office/drawing/2014/main" id="{DF88EA50-9BAE-4213-A749-72E61C006CD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54DBB568-40DC-4DF8-A383-990D078A45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25</a:t>
            </a:r>
          </a:p>
        </p:txBody>
      </p:sp>
    </p:spTree>
    <p:extLst>
      <p:ext uri="{BB962C8B-B14F-4D97-AF65-F5344CB8AC3E}">
        <p14:creationId xmlns:p14="http://schemas.microsoft.com/office/powerpoint/2010/main" val="205651766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42F1425-632D-465B-802F-F8FC454953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2A2DED-13BF-4151-8E64-82FA2900FF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4F16E5-37B3-4FF5-97D4-4826AB9F28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9462ABC1-3130-4559-9F8F-EAB06341AE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746DC3-E782-4D82-93FD-31E76349678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xmlns:a="http://schemas.openxmlformats.org/drawingml/2006/main">
              <a:ext uri="{FF2B5EF4-FFF2-40B4-BE49-F238E27FC236}">
                <a16:creationId xmlns:a16="http://schemas.microsoft.com/office/drawing/2014/main" id="{535A6C72-0F3D-48EF-9041-CBE421C7982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FA67E1-4A76-4C23-842D-21710C3A0EB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output order, preservation of input rows, full precision and training-only fitting.</a:t>
            </a:r>
          </a:p>
        </p:txBody>
      </p:sp>
      <p:sp>
        <p:nvSpPr>
          <p:cNvPr id="8" name="">
            <a:extLst xmlns:a="http://schemas.openxmlformats.org/drawingml/2006/main">
              <a:ext uri="{FF2B5EF4-FFF2-40B4-BE49-F238E27FC236}">
                <a16:creationId xmlns:a16="http://schemas.microsoft.com/office/drawing/2014/main" id="{DD43DB53-4477-4BCE-BA02-E2B54A88985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97FADD-EAC5-44D3-93B2-9241D9E805F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xmlns:a="http://schemas.openxmlformats.org/drawingml/2006/main">
              <a:ext uri="{FF2B5EF4-FFF2-40B4-BE49-F238E27FC236}">
                <a16:creationId xmlns:a16="http://schemas.microsoft.com/office/drawing/2014/main" id="{78F81349-6486-4BCE-A84A-D50A9AF77E5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63DC0A7-0BDB-45F2-8284-1DA1691E17D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xmlns:a="http://schemas.openxmlformats.org/drawingml/2006/main">
              <a:ext uri="{FF2B5EF4-FFF2-40B4-BE49-F238E27FC236}">
                <a16:creationId xmlns:a16="http://schemas.microsoft.com/office/drawing/2014/main" id="{F70DAB94-DC9E-4590-B050-956C244566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26</a:t>
            </a:r>
          </a:p>
        </p:txBody>
      </p:sp>
    </p:spTree>
    <p:extLst>
      <p:ext uri="{BB962C8B-B14F-4D97-AF65-F5344CB8AC3E}">
        <p14:creationId xmlns:p14="http://schemas.microsoft.com/office/powerpoint/2010/main" val="30991718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367DAA-87EB-456A-9633-D2DEE048E5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C26D15-0820-483C-9E77-72099C7939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39C7594-B014-456E-AD2D-C2D361B61B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8E12C221-EAB8-4301-9D54-228E2AA307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D19A61-8746-45C0-9CEA-E7C16333EA0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E57831EC-EF2A-4305-8F67-6BAE8EB0904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234C6D-B099-4319-9C16-7ACF15B462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813F1CD0-4BE3-4201-9B56-9301AD5E831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13AF71-B16B-43C7-975F-CC217EBFE6A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4874D691-8AC6-4EB3-9EAB-F53E3B6499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27</a:t>
            </a:r>
          </a:p>
        </p:txBody>
      </p:sp>
    </p:spTree>
    <p:extLst>
      <p:ext uri="{BB962C8B-B14F-4D97-AF65-F5344CB8AC3E}">
        <p14:creationId xmlns:p14="http://schemas.microsoft.com/office/powerpoint/2010/main" val="115222990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AE0C7E5-39EA-4B6F-962E-6932AB307B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9420F1-92CD-4816-8626-C2A35B852C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5C0CDD-5A8B-48C2-9A6D-3DC7C19955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C7880CB2-2E73-4655-9009-E14255FE15F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12693E-A6CA-4902-BE78-9CA5A9D88C68}"/>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64C23DE6-79B3-4DCE-86DC-9A6E9AD658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28</a:t>
            </a:r>
          </a:p>
        </p:txBody>
      </p:sp>
    </p:spTree>
    <p:extLst>
      <p:ext uri="{BB962C8B-B14F-4D97-AF65-F5344CB8AC3E}">
        <p14:creationId xmlns:p14="http://schemas.microsoft.com/office/powerpoint/2010/main" val="80103064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4B8628E-9077-4B49-B3E7-413197E08F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556A79-4D19-4CB8-AC51-07ACE56C1E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67E01D7-8F26-4A46-9E34-61861C24DC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3CD23AEF-7657-4856-A52A-4923663085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242AD5-41C2-465E-BA8F-2765241D48F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07A3578C-1A5E-4CEA-AC34-F9C1BCC84C9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352E02-B845-43A4-90C7-978D91EB2A4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AD6F1CC3-0A54-45C4-9A79-39A998DD748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AF545B-FC36-43B5-BC21-385C51D3A8B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893FC188-6FF4-47A7-9B83-2747989EFCF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425F5D-55AE-4E7A-91C5-4A5892598B2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2FDCAE0A-E439-4B34-9E05-8165328FA3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29</a:t>
            </a:r>
          </a:p>
        </p:txBody>
      </p:sp>
    </p:spTree>
    <p:extLst>
      <p:ext uri="{BB962C8B-B14F-4D97-AF65-F5344CB8AC3E}">
        <p14:creationId xmlns:p14="http://schemas.microsoft.com/office/powerpoint/2010/main" val="70280666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01CA51-9665-46DE-B204-40399929FF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962AD7-6FA9-49E9-898A-31790EC2A2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B0A8870-E747-4DBA-833E-AE10535111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34A6B87A-F04D-4A37-88AC-B2E806CA7EB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D55AD6-5FD6-4227-9C73-55548FE4FC4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303766C1-5C9C-4AB0-AF0B-DFB903D8B40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484C4FE-E0D2-48A9-AFF5-6B5DA532C39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7C28E7C-E0B6-4DD3-978B-B30AECCBC3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30</a:t>
            </a:r>
          </a:p>
        </p:txBody>
      </p:sp>
    </p:spTree>
    <p:extLst>
      <p:ext uri="{BB962C8B-B14F-4D97-AF65-F5344CB8AC3E}">
        <p14:creationId xmlns:p14="http://schemas.microsoft.com/office/powerpoint/2010/main" val="101584958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EEA39A-89F3-46CB-AE57-6DBC6121FC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DFE0E4-A43E-4AE6-836A-29693CC95F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0B8C6C0-3B9B-4DCA-9476-CA93105F7B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929A9B85-3699-4CA7-9FE7-F60A7D455E3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69BC8F-DBC6-4129-92ED-BDC68734A73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62787B0B-D307-4B62-8162-78F5D3E1F28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FE81BA3-7AC7-4223-9DD1-AFFE353AC65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F66789A-1D69-40D8-A9A4-1AFB67D789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31</a:t>
            </a:r>
          </a:p>
        </p:txBody>
      </p:sp>
    </p:spTree>
    <p:extLst>
      <p:ext uri="{BB962C8B-B14F-4D97-AF65-F5344CB8AC3E}">
        <p14:creationId xmlns:p14="http://schemas.microsoft.com/office/powerpoint/2010/main" val="186658072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97876FA-672B-4464-952C-57CB384B48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CCE2CA-7814-4339-89CD-090549198C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AB271F4-AB0F-42C2-AC95-9ACCDC3C07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26D71777-4A39-45BE-83C5-4F4209B0B1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B6E211-CA53-4788-BA41-69BE936F09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0EE9278C-BE78-4760-BD49-079A887CEDE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0641AF-7824-47D3-93C0-BE7327394A2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1902A7D0-3704-444D-B85D-BB3D69B715C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F4D757-464F-4FC2-8A7E-74075DAE900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6D9E999-B5D3-4A30-8464-F23FC00E31F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44AFEEA-EC73-48FF-B0CA-499523C70C8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EF1FFA7E-DC3E-44F1-8C73-CAAE7A88D4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32</a:t>
            </a:r>
          </a:p>
        </p:txBody>
      </p:sp>
    </p:spTree>
    <p:extLst>
      <p:ext uri="{BB962C8B-B14F-4D97-AF65-F5344CB8AC3E}">
        <p14:creationId xmlns:p14="http://schemas.microsoft.com/office/powerpoint/2010/main" val="51830901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120698B-AA61-4926-B6BA-2D32C2BBE7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ACA5F5-9772-495B-9B70-B3BD710953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5D5B37E-C36B-4978-A295-2EDE858595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16B3902A-C18D-419C-BE73-65531AEA07A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63552B-0A3A-4761-A463-7458D94255F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11:00 Kampala</a:t>
            </a:r>
          </a:p>
        </p:txBody>
      </p:sp>
      <p:sp>
        <p:nvSpPr>
          <p:cNvPr id="6" name="">
            <a:extLst xmlns:a="http://schemas.openxmlformats.org/drawingml/2006/main">
              <a:ext uri="{FF2B5EF4-FFF2-40B4-BE49-F238E27FC236}">
                <a16:creationId xmlns:a16="http://schemas.microsoft.com/office/drawing/2014/main" id="{142B0DD2-9B97-409D-8830-D942D24AA6A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F86AFF-12D8-4CD8-8E15-C7A90CBDF6F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11FDD740-B98F-4023-92E4-F57242A3A51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C1B1F5-0C28-42AC-8926-359EFD4C4AB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02A10F76-D7FA-43B7-A598-41A3D1FCA20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A240C09-9E2D-47BE-9621-6D8293B2277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E960CDD-3859-41F7-9B09-CAAC23D31D4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CFF3A62-4FB4-41A9-9B5A-72493275C31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bc57170f6ee44d4"/>
              </a:rPr>
              <a:t>Open W11 assignment form</a:t>
            </a:r>
          </a:p>
        </p:txBody>
      </p:sp>
      <p:sp>
        <p:nvSpPr>
          <p:cNvPr id="14" name="">
            <a:extLst xmlns:a="http://schemas.openxmlformats.org/drawingml/2006/main">
              <a:ext uri="{FF2B5EF4-FFF2-40B4-BE49-F238E27FC236}">
                <a16:creationId xmlns:a16="http://schemas.microsoft.com/office/drawing/2014/main" id="{75D3E1E6-8DBB-44BF-98C9-4774A5E0C50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https://docs.google.com/forms/d/e/1FAIpQLSeQJ_LsZgtIRbakN-KW4e4dx5rru2iqg6HwaaKoAQbKW7bh8Q/viewform</a:t>
            </a:r>
          </a:p>
        </p:txBody>
      </p:sp>
      <p:sp>
        <p:nvSpPr>
          <p:cNvPr id="15" name="">
            <a:extLst xmlns:a="http://schemas.openxmlformats.org/drawingml/2006/main">
              <a:ext uri="{FF2B5EF4-FFF2-40B4-BE49-F238E27FC236}">
                <a16:creationId xmlns:a16="http://schemas.microsoft.com/office/drawing/2014/main" id="{6BFFCED5-8E59-44E9-93AB-8EC16CB593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33</a:t>
            </a:r>
          </a:p>
        </p:txBody>
      </p:sp>
    </p:spTree>
    <p:extLst>
      <p:ext uri="{BB962C8B-B14F-4D97-AF65-F5344CB8AC3E}">
        <p14:creationId xmlns:p14="http://schemas.microsoft.com/office/powerpoint/2010/main" val="76707986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EEDEB9-871C-4F37-A95E-32592E5999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C00A7F-DA15-4183-B0F4-608D3BAB3B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704DE6A-23A1-4CA2-9724-E5F0210023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BC50909B-1A10-4172-9E1C-9B4B79839F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7351F0-3DF2-452E-9408-C2D093051FF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E314D586-8289-4979-90C6-CA7F3116345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56BAEC-992E-4045-B312-E3BB092DA13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664C6451-1036-4C16-818E-BAB91B8C59F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D5CE7E-0348-4E9E-A772-A124E5C3B56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AA5029E9-0EA8-4665-9CFB-DF923826870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AD90DC8-3BC9-4ED1-BD57-48C2CEE64D4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D58E5E00-A119-447B-9027-3C27BF4B3C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34</a:t>
            </a:r>
          </a:p>
        </p:txBody>
      </p:sp>
    </p:spTree>
    <p:extLst>
      <p:ext uri="{BB962C8B-B14F-4D97-AF65-F5344CB8AC3E}">
        <p14:creationId xmlns:p14="http://schemas.microsoft.com/office/powerpoint/2010/main" val="107268328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4A8C4D7-7D8F-4CE3-A1CB-23336B36F6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101872-5724-49A2-94A7-A25CE9A030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017AFE9-1355-4F80-9482-37E2C85EA0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0EDD0998-581A-488A-BB39-6F4D81EAB43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4B5E949-5E07-4C18-B312-C8BA27D9509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87D459B2-5BA5-4B2A-AE95-7F793DE7EC4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4AAD0A-02B0-40B2-ABF4-6563DDC6BA8F}"/>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FEE5D87-79D2-4BA9-BE9B-92F10EA07C8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55EA33-47D7-4D55-A470-4E4A4551F722}"/>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4F8BDE9F-EA37-4AE3-AADB-13C57F5874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40F9F1-29D2-4008-8A65-80841E281C42}"/>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c0c74776a3e44c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FACD8FD-339E-4C53-91C3-609370AAB1A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D350D64-2A03-4517-8AC3-634CBBCA147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7F5A099-F525-4262-9479-6AD6346C5E8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37bde4b5d384395"/>
              </a:rPr>
              <a:t>Open this week’s quiz</a:t>
            </a:r>
          </a:p>
        </p:txBody>
      </p:sp>
      <p:sp>
        <p:nvSpPr>
          <p:cNvPr id="16" name="">
            <a:extLst xmlns:a="http://schemas.openxmlformats.org/drawingml/2006/main">
              <a:ext uri="{FF2B5EF4-FFF2-40B4-BE49-F238E27FC236}">
                <a16:creationId xmlns:a16="http://schemas.microsoft.com/office/drawing/2014/main" id="{28807D08-957F-44C1-8208-B8468EBBD79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https://forms.gle/32Y9ttL1XWaqbGMNA</a:t>
            </a:r>
          </a:p>
        </p:txBody>
      </p:sp>
      <p:sp>
        <p:nvSpPr>
          <p:cNvPr id="17" name="">
            <a:extLst xmlns:a="http://schemas.openxmlformats.org/drawingml/2006/main">
              <a:ext uri="{FF2B5EF4-FFF2-40B4-BE49-F238E27FC236}">
                <a16:creationId xmlns:a16="http://schemas.microsoft.com/office/drawing/2014/main" id="{4483AC9B-9644-4DB0-8DA2-3AA4FA79DA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35</a:t>
            </a:r>
          </a:p>
        </p:txBody>
      </p:sp>
    </p:spTree>
    <p:extLst>
      <p:ext uri="{BB962C8B-B14F-4D97-AF65-F5344CB8AC3E}">
        <p14:creationId xmlns:p14="http://schemas.microsoft.com/office/powerpoint/2010/main" val="759211389"/>
      </p:ext>
    </p:extLst>
  </p:cSld>
</p:sld>
</file>

<file path=ppt/slides/slide36.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DA22093-6D55-4B8E-9DAB-E33EE069D3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54FB8A5-C375-42B2-B048-D2CF900112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CEC8C3F7-3557-42E6-B74E-4B113162D9D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0E68C33-36FB-4B4E-9808-F98EDB5CB05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F31DC34-10F9-4BC5-A352-E720C241E1D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062C2D8-AAFA-4ECC-9BA8-A97DC2347A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11   36</a:t>
            </a:r>
          </a:p>
        </p:txBody>
      </p:sp>
    </p:spTree>
    <p:extLst>
      <p:ext uri="{BB962C8B-B14F-4D97-AF65-F5344CB8AC3E}">
        <p14:creationId xmlns:p14="http://schemas.microsoft.com/office/powerpoint/2010/main" val="5097139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2026-09-16T11:10:57.7810000Z</dcterms:created>
  <dcterms:modified xsi:type="dcterms:W3CDTF">2026-09-16T11:10:57.7810000Z</dcterms:modified>
</coreProperties>
</file>