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613d0948a4110" /><Relationship Type="http://schemas.openxmlformats.org/officeDocument/2006/relationships/extended-properties" Target="/docProps/app.xml" Id="R94cc5e1d8dc94821" /><Relationship Type="http://schemas.openxmlformats.org/officeDocument/2006/relationships/officeDocument" Target="/ppt/presentation.xml" Id="Rea38ada75b8f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d6f60bb034a6d"/>
  </p:sldMasterIdLst>
  <p:notesMasterIdLst>
    <p:notesMasterId xmlns:r="http://schemas.openxmlformats.org/officeDocument/2006/relationships" r:id="R5ee5a37049a4458e"/>
  </p:notesMasterIdLst>
  <p:sldIdLst>
    <p:sldId xmlns:r="http://schemas.openxmlformats.org/officeDocument/2006/relationships" id="256" r:id="R743ba796ceef4d5d"/>
    <p:sldId xmlns:r="http://schemas.openxmlformats.org/officeDocument/2006/relationships" id="257" r:id="Rc00f01aaa7c7442f"/>
    <p:sldId xmlns:r="http://schemas.openxmlformats.org/officeDocument/2006/relationships" id="258" r:id="R513d309a97bc46f3"/>
    <p:sldId xmlns:r="http://schemas.openxmlformats.org/officeDocument/2006/relationships" id="259" r:id="R8db571db4ae24c8d"/>
    <p:sldId xmlns:r="http://schemas.openxmlformats.org/officeDocument/2006/relationships" id="260" r:id="R8615e651115d42f8"/>
    <p:sldId xmlns:r="http://schemas.openxmlformats.org/officeDocument/2006/relationships" id="261" r:id="Rebcea5f21df54f35"/>
    <p:sldId xmlns:r="http://schemas.openxmlformats.org/officeDocument/2006/relationships" id="262" r:id="R57e2fa0cf46f4faa"/>
    <p:sldId xmlns:r="http://schemas.openxmlformats.org/officeDocument/2006/relationships" id="263" r:id="Rd8cf1ec27e0e4ee9"/>
    <p:sldId xmlns:r="http://schemas.openxmlformats.org/officeDocument/2006/relationships" id="264" r:id="Rfa2cdd394b9f4b30"/>
    <p:sldId xmlns:r="http://schemas.openxmlformats.org/officeDocument/2006/relationships" id="265" r:id="Rbf6b9f0b17aa4905"/>
    <p:sldId xmlns:r="http://schemas.openxmlformats.org/officeDocument/2006/relationships" id="266" r:id="R2dfe20fced304208"/>
    <p:sldId xmlns:r="http://schemas.openxmlformats.org/officeDocument/2006/relationships" id="267" r:id="R3f0f68dd93ef461e"/>
    <p:sldId xmlns:r="http://schemas.openxmlformats.org/officeDocument/2006/relationships" id="268" r:id="Rdd081ec65a364b40"/>
    <p:sldId xmlns:r="http://schemas.openxmlformats.org/officeDocument/2006/relationships" id="269" r:id="Rb0193f09c59f4fe1"/>
    <p:sldId xmlns:r="http://schemas.openxmlformats.org/officeDocument/2006/relationships" id="270" r:id="R139b3519df7c425d"/>
    <p:sldId xmlns:r="http://schemas.openxmlformats.org/officeDocument/2006/relationships" id="271" r:id="Rc945c8110e22458a"/>
    <p:sldId xmlns:r="http://schemas.openxmlformats.org/officeDocument/2006/relationships" id="272" r:id="Raf84628634614586"/>
    <p:sldId xmlns:r="http://schemas.openxmlformats.org/officeDocument/2006/relationships" id="273" r:id="Ra18c76f7799844b6"/>
    <p:sldId xmlns:r="http://schemas.openxmlformats.org/officeDocument/2006/relationships" id="274" r:id="R8a257430e0dd4526"/>
    <p:sldId xmlns:r="http://schemas.openxmlformats.org/officeDocument/2006/relationships" id="275" r:id="R087d176bc2624cef"/>
    <p:sldId xmlns:r="http://schemas.openxmlformats.org/officeDocument/2006/relationships" id="276" r:id="R2b410f249a49400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c95d150f5c4c61" /><Relationship Type="http://schemas.openxmlformats.org/officeDocument/2006/relationships/slideMaster" Target="/ppt/slideMasters/slideMaster1.xml" Id="R38ed6f60bb034a6d" /><Relationship Type="http://schemas.openxmlformats.org/officeDocument/2006/relationships/notesMaster" Target="/ppt/notesMasters/notesMaster1.xml" Id="R5ee5a37049a4458e" /><Relationship Type="http://schemas.openxmlformats.org/officeDocument/2006/relationships/presProps" Target="/ppt/presProps.xml" Id="Ra0373e9edaae405d" /><Relationship Type="http://schemas.openxmlformats.org/officeDocument/2006/relationships/tableStyles" Target="/ppt/tableStyles.xml" Id="Rfe2f1026b43d48c0" /><Relationship Type="http://schemas.openxmlformats.org/officeDocument/2006/relationships/slide" Target="/ppt/slides/slide1.xml" Id="R743ba796ceef4d5d" /><Relationship Type="http://schemas.openxmlformats.org/officeDocument/2006/relationships/slide" Target="/ppt/slides/slide2.xml" Id="Rc00f01aaa7c7442f" /><Relationship Type="http://schemas.openxmlformats.org/officeDocument/2006/relationships/slide" Target="/ppt/slides/slide3.xml" Id="R513d309a97bc46f3" /><Relationship Type="http://schemas.openxmlformats.org/officeDocument/2006/relationships/slide" Target="/ppt/slides/slide4.xml" Id="R8db571db4ae24c8d" /><Relationship Type="http://schemas.openxmlformats.org/officeDocument/2006/relationships/slide" Target="/ppt/slides/slide5.xml" Id="R8615e651115d42f8" /><Relationship Type="http://schemas.openxmlformats.org/officeDocument/2006/relationships/slide" Target="/ppt/slides/slide6.xml" Id="Rebcea5f21df54f35" /><Relationship Type="http://schemas.openxmlformats.org/officeDocument/2006/relationships/slide" Target="/ppt/slides/slide7.xml" Id="R57e2fa0cf46f4faa" /><Relationship Type="http://schemas.openxmlformats.org/officeDocument/2006/relationships/slide" Target="/ppt/slides/slide8.xml" Id="Rd8cf1ec27e0e4ee9" /><Relationship Type="http://schemas.openxmlformats.org/officeDocument/2006/relationships/slide" Target="/ppt/slides/slide9.xml" Id="Rfa2cdd394b9f4b30" /><Relationship Type="http://schemas.openxmlformats.org/officeDocument/2006/relationships/slide" Target="/ppt/slides/slide10.xml" Id="Rbf6b9f0b17aa4905" /><Relationship Type="http://schemas.openxmlformats.org/officeDocument/2006/relationships/slide" Target="/ppt/slides/slide11.xml" Id="R2dfe20fced304208" /><Relationship Type="http://schemas.openxmlformats.org/officeDocument/2006/relationships/slide" Target="/ppt/slides/slide12.xml" Id="R3f0f68dd93ef461e" /><Relationship Type="http://schemas.openxmlformats.org/officeDocument/2006/relationships/slide" Target="/ppt/slides/slide13.xml" Id="Rdd081ec65a364b40" /><Relationship Type="http://schemas.openxmlformats.org/officeDocument/2006/relationships/slide" Target="/ppt/slides/slide14.xml" Id="Rb0193f09c59f4fe1" /><Relationship Type="http://schemas.openxmlformats.org/officeDocument/2006/relationships/slide" Target="/ppt/slides/slide15.xml" Id="R139b3519df7c425d" /><Relationship Type="http://schemas.openxmlformats.org/officeDocument/2006/relationships/slide" Target="/ppt/slides/slide16.xml" Id="Rc945c8110e22458a" /><Relationship Type="http://schemas.openxmlformats.org/officeDocument/2006/relationships/slide" Target="/ppt/slides/slide17.xml" Id="Raf84628634614586" /><Relationship Type="http://schemas.openxmlformats.org/officeDocument/2006/relationships/slide" Target="/ppt/slides/slide18.xml" Id="Ra18c76f7799844b6" /><Relationship Type="http://schemas.openxmlformats.org/officeDocument/2006/relationships/slide" Target="/ppt/slides/slide19.xml" Id="R8a257430e0dd4526" /><Relationship Type="http://schemas.openxmlformats.org/officeDocument/2006/relationships/slide" Target="/ppt/slides/slide20.xml" Id="R087d176bc2624cef" /><Relationship Type="http://schemas.openxmlformats.org/officeDocument/2006/relationships/slide" Target="/ppt/slides/slide21.xml" Id="R2b410f249a49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4e11686bec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2d98a55ca84d13" /><Relationship Type="http://schemas.openxmlformats.org/officeDocument/2006/relationships/notesMaster" Target="/ppt/notesMasters/notesMaster1.xml" Id="R89ee2f02079941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f932c6438492c" /><Relationship Type="http://schemas.openxmlformats.org/officeDocument/2006/relationships/notesMaster" Target="/ppt/notesMasters/notesMaster1.xml" Id="Rc2a146e0340a43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cc4712e7142d8" /><Relationship Type="http://schemas.openxmlformats.org/officeDocument/2006/relationships/notesMaster" Target="/ppt/notesMasters/notesMaster1.xml" Id="R9948d1fa523c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a27dfa7fa4983" /><Relationship Type="http://schemas.openxmlformats.org/officeDocument/2006/relationships/notesMaster" Target="/ppt/notesMasters/notesMaster1.xml" Id="R229bed40531d44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660dfd02f44480" /><Relationship Type="http://schemas.openxmlformats.org/officeDocument/2006/relationships/notesMaster" Target="/ppt/notesMasters/notesMaster1.xml" Id="R6cca928ec1e2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bcfe1ed34a4292" /><Relationship Type="http://schemas.openxmlformats.org/officeDocument/2006/relationships/notesMaster" Target="/ppt/notesMasters/notesMaster1.xml" Id="Rdd5a3ee0bb2c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aea37e9a774ad8" /><Relationship Type="http://schemas.openxmlformats.org/officeDocument/2006/relationships/notesMaster" Target="/ppt/notesMasters/notesMaster1.xml" Id="Rfa9edf16ff1d43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b8cab7f86e4da5" /><Relationship Type="http://schemas.openxmlformats.org/officeDocument/2006/relationships/notesMaster" Target="/ppt/notesMasters/notesMaster1.xml" Id="R1b746540067647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cea4b33c4e4ddd" /><Relationship Type="http://schemas.openxmlformats.org/officeDocument/2006/relationships/notesMaster" Target="/ppt/notesMasters/notesMaster1.xml" Id="Rc122b47725c549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581fe65bfd430f" /><Relationship Type="http://schemas.openxmlformats.org/officeDocument/2006/relationships/notesMaster" Target="/ppt/notesMasters/notesMaster1.xml" Id="Rca9a5555972749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761d1db8f64045" /><Relationship Type="http://schemas.openxmlformats.org/officeDocument/2006/relationships/notesMaster" Target="/ppt/notesMasters/notesMaster1.xml" Id="R32c4fef89cab40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35060691f8406b" /><Relationship Type="http://schemas.openxmlformats.org/officeDocument/2006/relationships/notesMaster" Target="/ppt/notesMasters/notesMaster1.xml" Id="Re21e2167892c48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6edb99fdd247b6" /><Relationship Type="http://schemas.openxmlformats.org/officeDocument/2006/relationships/notesMaster" Target="/ppt/notesMasters/notesMaster1.xml" Id="Rc0322ee1afc048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e9c561fe5545cd" /><Relationship Type="http://schemas.openxmlformats.org/officeDocument/2006/relationships/notesMaster" Target="/ppt/notesMasters/notesMaster1.xml" Id="R2977d30a87ed4c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e55a547686452b" /><Relationship Type="http://schemas.openxmlformats.org/officeDocument/2006/relationships/notesMaster" Target="/ppt/notesMasters/notesMaster1.xml" Id="Rf7d04e918a5b4a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3945e8af2a457d" /><Relationship Type="http://schemas.openxmlformats.org/officeDocument/2006/relationships/notesMaster" Target="/ppt/notesMasters/notesMaster1.xml" Id="R13c17585406a4b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ab065476a74143" /><Relationship Type="http://schemas.openxmlformats.org/officeDocument/2006/relationships/notesMaster" Target="/ppt/notesMasters/notesMaster1.xml" Id="Ree469470474444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393fe70714bbc" /><Relationship Type="http://schemas.openxmlformats.org/officeDocument/2006/relationships/notesMaster" Target="/ppt/notesMasters/notesMaster1.xml" Id="Rc6eb7d33fd2f47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f115a1736a42a0" /><Relationship Type="http://schemas.openxmlformats.org/officeDocument/2006/relationships/notesMaster" Target="/ppt/notesMasters/notesMaster1.xml" Id="R28497157bdf94a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8fbb3565c745ed" /><Relationship Type="http://schemas.openxmlformats.org/officeDocument/2006/relationships/notesMaster" Target="/ppt/notesMasters/notesMaster1.xml" Id="Rafc55939f57b46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b9c927ef3a4c3a" /><Relationship Type="http://schemas.openxmlformats.org/officeDocument/2006/relationships/notesMaster" Target="/ppt/notesMasters/notesMaster1.xml" Id="R658759f0151e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Preparing for Practical Test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the preceding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Communications, Electrical, Mechatronics and Robotics Engineering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Today’s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Today’s learning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Preparing for Practical Test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Rehearse previously taught modelling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Practise saving the complete test notebook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Connection to the previous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Connection to the previous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Today’s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Can you name the target, fit only on training records and explain how you would keep the test untouched?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Preparation happens before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Preparation happens before the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Connection to the previous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Practise the already taught error calculations and data-splitting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separate practice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timed session follows the issued test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Rehearse the offline save procedure.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Rehearse the offline save procedure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Preparation happens before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Save your notebook on the prepared lab computer.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Type Part B under My written evidence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Locate and reopen the complete notebook without internet.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A result needs an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A result needs an explanation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Rehearse the offline save procedure.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Name the target and its unit or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which data fitted preprocessing and which data evaluated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high score alone does not establish a useful engineering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Practice before test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Practice before test 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A result needs an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Read the code in this order:</a:t>
            </a:r>
          </a:p>
          <a:p xmlns:a="http://schemas.openxmlformats.org/drawingml/2006/main">
            <a:r>
              <a:t>actual = [4, 8]</a:t>
            </a:r>
          </a:p>
          <a:p xmlns:a="http://schemas.openxmlformats.org/drawingml/2006/main">
            <a:r>
              <a:t>predicted = [5, 6]</a:t>
            </a:r>
          </a:p>
          <a:p xmlns:a="http://schemas.openxmlformats.org/drawingml/2006/main">
            <a:r>
              <a:t>errors = []</a:t>
            </a:r>
          </a:p>
          <a:p xmlns:a="http://schemas.openxmlformats.org/drawingml/2006/main">
            <a:r>
              <a:t>for a, p in zip(actual, predicted):</a:t>
            </a:r>
          </a:p>
          <a:p xmlns:a="http://schemas.openxmlformats.org/drawingml/2006/main">
            <a:r>
              <a:t>    errors.append(abs(a - p))</a:t>
            </a:r>
          </a:p>
          <a:p xmlns:a="http://schemas.openxmlformats.org/drawingml/2006/main">
            <a:r>
              <a:t>print(sum(errors) / len(errors))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takes the next item. The indented block repeats.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zip pairs items at matching positions in these equal-length lists.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 displays a value below the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top to bottom. Run the complete example in the matching practice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Test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Test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Practice before test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00–15 minutes: briefing and file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15–135 minutes: individual practical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135–160 minutes: typed offline reasoning, with code execution prohibited.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160–180 minutes: save and hand in through invigilated offline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Preparation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Preparation checkpoint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Test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Each learner can save and reopen the complete notebook in the offline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Your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Your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Preparation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Use TEST2’s official brief, interfaces, time allocation, permitted resources and packet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Follow the test instructions issued by your lecturer.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Your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Write your own explanation in the markdown cell headed `## My written evidence`.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heading.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prompts and code comments are excluded from reasoning marks.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 every original rubric criterion below, not just the checked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Include profiling, justified cleaning, question-led charts and your engineering recommendation where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raw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units and distinguish correlation from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Charts must be actual labelled figures in the notebook, not claims that charts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Include captions and readable written evidence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framing (10.0 total): The ML task is correctly identified, the target named, and regression vs classification correctly chosen and justified.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preparation &amp; leakage control (20.0 total): Cleaning and encoding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Split made before any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Pipeline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leakage present - a leak found by the marker caps this criterion at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Modelling protocol (20.0 total): At least two models built and compared under identical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Hyperparameters handled sensibly.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 &amp; metric justification (20.0 total): Correct metrics computed.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Metric choice defended against the cost of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Cross-validation reported with a spread, not a single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Engineering interpretation &amp; limits (20.0 total): The result is stated in physical or operational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genuine limitations given.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clear position on whether it should be deployed.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clarity (10.0 total): Runs top to bottom.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Readable.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Commented where the intent is not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Execution requirement for c2: Data-preparation credit requires the published leakage-safe split check to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this check fails, written marks in that criterion are zero; other criteria remain independently scored.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Timing and Part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 minutes setup, 120 minutes practical, 25 minutes typed offline reasoning with code execution prohibited, 20 minutes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internet, messaging or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Answer: Why your main cleaning/model choice?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continued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What can your chart/metric not establish?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evidence would change your recommendation?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further data is required?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Invigilated offline collection is authoritative; Google upload is a later transport step and must not impose an internet requirement during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Practical Test 2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Practical Test 2 submission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continued.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Offline invigilated collection is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upload is a later transport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 one notebook with Part B under My written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internet, messaging or AI during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Before you leave.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Revision and submission checklist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</a:t>
            </a:r>
          </a:p>
          <a:p xmlns:a="http://schemas.openxmlformats.org/drawingml/2006/main">
            <a:r>
              <a:t>Previous slide: Practical Test 2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</a:t>
            </a:r>
          </a:p>
          <a:p xmlns:a="http://schemas.openxmlformats.org/drawingml/2006/main">
            <a:r>
              <a:t>You can explain training-only preprocessing and locate your saved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 your work and check the required submission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LECTURER CUE</a:t>
            </a:r>
          </a:p>
          <a:p xmlns:a="http://schemas.openxmlformats.org/drawingml/2006/main">
            <a:r>
              <a:t>Read the specific public requirement shown on this slide. Explain the input, output and evidence before independent work; do not work the assessed answer for the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MODE</a:t>
            </a:r>
          </a:p>
          <a:p xmlns:a="http://schemas.openxmlformats.org/drawingml/2006/main">
            <a:r>
              <a:t>Demonstrate first. Read each new symbol aloud, trace the values and compare the shown output. Learners repeat worked examples individually after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</a:t>
            </a:r>
          </a:p>
          <a:p xmlns:a="http://schemas.openxmlformats.org/drawingml/2006/main">
            <a:r>
              <a:t>independent revision and the issued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3282ed3304e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1de961d824c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12927567a45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2765fd31945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81e9ed16d49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ac7bea6d8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F5B5FF-D826-4A63-9245-8DB023B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55" y="2209800"/>
            <a:ext cx="6095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E430F6-C518-478B-B8AF-D55717A55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170" y="2590800"/>
            <a:ext cx="9753356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547CE03-40C4-498F-AB99-A5B3954EE9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754" y="3771900"/>
            <a:ext cx="853418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31D5C7-B420-4C0A-8185-1D3FB408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55" y="2476500"/>
            <a:ext cx="6095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018AF9-A2E1-4007-9C1A-6F8DFF0E5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170" y="2857500"/>
            <a:ext cx="9753356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77D8D8-107E-406D-9CDA-B916AC3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3" y="1524000"/>
            <a:ext cx="6095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5DC8C4-86FC-41EF-ADD2-195396EE3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83" y="533400"/>
            <a:ext cx="1082012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81D53BE-0A45-4455-87DE-928A16345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783" y="1905000"/>
            <a:ext cx="1082012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59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387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17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297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76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556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34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14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6933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6D2886-1D7C-4587-9D1A-DCC6D00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3" y="1524000"/>
            <a:ext cx="6095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A7BC96-0F41-468E-BB83-147F4D034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83" y="533400"/>
            <a:ext cx="1082012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057DF4-8E5E-4318-9029-44D4A0457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783" y="1905000"/>
            <a:ext cx="5029074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59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387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17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297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76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556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34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14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6933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374E98-E238-46AE-9C7F-F0EA86C5BC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838" y="1905000"/>
            <a:ext cx="5029074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59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387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17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297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76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556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34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14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6933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4532AA-2954-49CE-944C-54ECE30E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3" y="1524000"/>
            <a:ext cx="6095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0A32C8-F8D2-4CE9-ABEA-2D35E36F0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83" y="533400"/>
            <a:ext cx="1082012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21607D-6659-4660-8A3D-7049CEC35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783" y="1905000"/>
            <a:ext cx="5029074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59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387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17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297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764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556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349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141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6933" indent="-228594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aaaa13b324c2c" /><Relationship Type="http://schemas.openxmlformats.org/officeDocument/2006/relationships/slideLayout" Target="/ppt/slideLayouts/slideLayout1.xml" Id="Rd84a7b2a49094eeb" /><Relationship Type="http://schemas.openxmlformats.org/officeDocument/2006/relationships/slideLayout" Target="/ppt/slideLayouts/slideLayout2.xml" Id="R10111d9614b14cdf" /><Relationship Type="http://schemas.openxmlformats.org/officeDocument/2006/relationships/slideLayout" Target="/ppt/slideLayouts/slideLayout3.xml" Id="R5d047351fa0b47f9" /><Relationship Type="http://schemas.openxmlformats.org/officeDocument/2006/relationships/slideLayout" Target="/ppt/slideLayouts/slideLayout4.xml" Id="R74019cfe92694201" /><Relationship Type="http://schemas.openxmlformats.org/officeDocument/2006/relationships/slideLayout" Target="/ppt/slideLayouts/slideLayout5.xml" Id="R59deee019db04912" /><Relationship Type="http://schemas.openxmlformats.org/officeDocument/2006/relationships/slideLayout" Target="/ppt/slideLayouts/slideLayout6.xml" Id="R7253e8e8ea4a46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a7b2a49094eeb"/>
    <p:sldLayoutId xmlns:r="http://schemas.openxmlformats.org/officeDocument/2006/relationships" id="2147483650" r:id="R10111d9614b14cdf"/>
    <p:sldLayoutId xmlns:r="http://schemas.openxmlformats.org/officeDocument/2006/relationships" id="2147483651" r:id="R5d047351fa0b47f9"/>
    <p:sldLayoutId xmlns:r="http://schemas.openxmlformats.org/officeDocument/2006/relationships" id="2147483652" r:id="R74019cfe92694201"/>
    <p:sldLayoutId xmlns:r="http://schemas.openxmlformats.org/officeDocument/2006/relationships" id="2147483653" r:id="R59deee019db04912"/>
    <p:sldLayoutId xmlns:r="http://schemas.openxmlformats.org/officeDocument/2006/relationships" id="2147483654" r:id="R7253e8e8ea4a46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85577d6ac4596" /><Relationship Type="http://schemas.openxmlformats.org/officeDocument/2006/relationships/image" Target="/ppt/media/image.png" Id="R6b60a20086a64487" /><Relationship Type="http://schemas.openxmlformats.org/officeDocument/2006/relationships/notesSlide" Target="/ppt/notesSlides/notesSlide1.xml" Id="Reb3e0262c08a4d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bc4e6d1f74fb4" /><Relationship Type="http://schemas.openxmlformats.org/officeDocument/2006/relationships/notesSlide" Target="/ppt/notesSlides/notesSlide2.xml" Id="R80e06ec5ff04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d9c7078d54335" /><Relationship Type="http://schemas.openxmlformats.org/officeDocument/2006/relationships/notesSlide" Target="/ppt/notesSlides/notesSlide3.xml" Id="R4650fecafc3645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705544c364c3e" /><Relationship Type="http://schemas.openxmlformats.org/officeDocument/2006/relationships/notesSlide" Target="/ppt/notesSlides/notesSlide4.xml" Id="Rf0294c74706947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a4142cff74077" /><Relationship Type="http://schemas.openxmlformats.org/officeDocument/2006/relationships/notesSlide" Target="/ppt/notesSlides/notesSlide5.xml" Id="Rddb734909bdb4f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0585d1d744190" /><Relationship Type="http://schemas.openxmlformats.org/officeDocument/2006/relationships/notesSlide" Target="/ppt/notesSlides/notesSlide6.xml" Id="R8a63284d23be42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596baf5ee485b" /><Relationship Type="http://schemas.openxmlformats.org/officeDocument/2006/relationships/notesSlide" Target="/ppt/notesSlides/notesSlide7.xml" Id="R3e0bce37ae494c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07c7e88a349bb" /><Relationship Type="http://schemas.openxmlformats.org/officeDocument/2006/relationships/notesSlide" Target="/ppt/notesSlides/notesSlide8.xml" Id="Ra81ed83f273d41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96c02af6541c5" /><Relationship Type="http://schemas.openxmlformats.org/officeDocument/2006/relationships/notesSlide" Target="/ppt/notesSlides/notesSlide9.xml" Id="R6f8b8d630bb34e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623b3a8944ccd" /><Relationship Type="http://schemas.openxmlformats.org/officeDocument/2006/relationships/notesSlide" Target="/ppt/notesSlides/notesSlide10.xml" Id="Rf2d6528216b04a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3ace240864eec" /><Relationship Type="http://schemas.openxmlformats.org/officeDocument/2006/relationships/notesSlide" Target="/ppt/notesSlides/notesSlide11.xml" Id="R23c51bd0429748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dded5746f4da7" /><Relationship Type="http://schemas.openxmlformats.org/officeDocument/2006/relationships/notesSlide" Target="/ppt/notesSlides/notesSlide12.xml" Id="R1e5650d9eb0d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a9a3641ed42a1" /><Relationship Type="http://schemas.openxmlformats.org/officeDocument/2006/relationships/notesSlide" Target="/ppt/notesSlides/notesSlide13.xml" Id="R2f3c6d9fd39a4c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f0477aff34b55" /><Relationship Type="http://schemas.openxmlformats.org/officeDocument/2006/relationships/notesSlide" Target="/ppt/notesSlides/notesSlide14.xml" Id="Rf22f950135f049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9efe596f44d74" /><Relationship Type="http://schemas.openxmlformats.org/officeDocument/2006/relationships/notesSlide" Target="/ppt/notesSlides/notesSlide15.xml" Id="Re7f6e88bfa2540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4ca29b6e8438e" /><Relationship Type="http://schemas.openxmlformats.org/officeDocument/2006/relationships/notesSlide" Target="/ppt/notesSlides/notesSlide16.xml" Id="R7f4cd049e6764a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73c27f1814b79" /><Relationship Type="http://schemas.openxmlformats.org/officeDocument/2006/relationships/notesSlide" Target="/ppt/notesSlides/notesSlide17.xml" Id="R9f2031bad3c649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04688d3514b05" /><Relationship Type="http://schemas.openxmlformats.org/officeDocument/2006/relationships/notesSlide" Target="/ppt/notesSlides/notesSlide18.xml" Id="Rb2cbd4cf5a334e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5d1c07bef4479" /><Relationship Type="http://schemas.openxmlformats.org/officeDocument/2006/relationships/notesSlide" Target="/ppt/notesSlides/notesSlide19.xml" Id="R48e3a577ff4c4d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78f1bf3fb40ae" /><Relationship Type="http://schemas.openxmlformats.org/officeDocument/2006/relationships/hyperlink" Target="https://docs.google.com/forms/d/e/1FAIpQLSfOabwvSWjm6i8Hwl0WyoTKG0AtEsqrI4vqKuOoTWCw_DmcCQ/viewform" TargetMode="External" Id="R8a2e46e843504321" /><Relationship Type="http://schemas.openxmlformats.org/officeDocument/2006/relationships/notesSlide" Target="/ppt/notesSlides/notesSlide20.xml" Id="R3f7839d322a44d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5328cd4474814" /><Relationship Type="http://schemas.openxmlformats.org/officeDocument/2006/relationships/notesSlide" Target="/ppt/notesSlides/notesSlide21.xml" Id="Re25ddeebb9c4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0a20086a64487"/>
          <a:stretch xmlns:a="http://schemas.openxmlformats.org/drawingml/2006/main"/>
        </p:blipFill>
        <p:spPr>
          <a:xfrm xmlns:a="http://schemas.openxmlformats.org/drawingml/2006/main">
            <a:off x="3087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6A253-D7B7-4126-A91F-0A1AA4FD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8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1E92-A963-4C67-A156-3C46593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CML3111   WEEK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AB200-5BD8-46F4-89F2-29CA0E3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619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Preparing for Practical Test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B24EF-C694-43D4-8B32-4DDB3979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4619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E3E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8E3EC"/>
                </a:solidFill>
                <a:latin typeface="Calibri"/>
                <a:ea typeface="Calibri"/>
                <a:cs typeface="Calibri"/>
              </a:rPr>
              <a:t>Communications, Electrical, Mechatronics and Robotics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23FA4-6051-4A91-95D4-80D79AEA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4667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3E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D8E3EC"/>
                </a:solidFill>
                <a:latin typeface="Calibri"/>
                <a:ea typeface="Calibri"/>
                <a:cs typeface="Calibri"/>
              </a:rPr>
              <a:t>Friday 11 December 2026</a:t>
            </a:r>
          </a:p>
          <a:p xmlns:a="http://schemas.openxmlformats.org/drawingml/2006/main">
            <a:pPr>
              <a:defRPr sz="1725" b="0">
                <a:solidFill>
                  <a:srgbClr val="D8E3E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D8E3EC"/>
                </a:solidFill>
                <a:latin typeface="Calibri"/>
                <a:ea typeface="Calibri"/>
                <a:cs typeface="Calibri"/>
              </a:rPr>
              <a:t>Friday 11:00–14:00, Room 115</a:t>
            </a:r>
          </a:p>
        </p:txBody>
      </p:sp>
    </p:spTree>
    <p:extLst>
      <p:ext uri="{BB962C8B-B14F-4D97-AF65-F5344CB8AC3E}">
        <p14:creationId xmlns:p14="http://schemas.microsoft.com/office/powerpoint/2010/main" val="847729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8BA1E-D66A-4E92-AE34-16B04DF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C97CE-E589-4CD0-B7AD-CD3A022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TODAY’S DESTINATION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DBB08-919D-45B6-A6F1-8FFA0F8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Today’s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B6448-2B55-463A-918F-53267E1F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5238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663FB-DAB0-48E2-B6D0-1877DCFB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002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WHAT WE WILL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3B12-3015-418A-9E85-079BA326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4743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Rehearse previously taught modelling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Practise saving the complete test notebook offline.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EE83-A90D-4C44-9347-FF2F88E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D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E7D6F"/>
                </a:solidFill>
                <a:latin typeface="Calibri"/>
                <a:ea typeface="Calibri"/>
                <a:cs typeface="Calibri"/>
              </a:rPr>
              <a:t>HOW YOU WILL SHOW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6D239-889B-4283-8AEC-C264353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5095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You can explain training-only preprocessing and locate your saved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C0B12-2EDE-4257-B74A-2239662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2</a:t>
            </a:r>
          </a:p>
        </p:txBody>
      </p:sp>
    </p:spTree>
    <p:extLst>
      <p:ext uri="{BB962C8B-B14F-4D97-AF65-F5344CB8AC3E}">
        <p14:creationId xmlns:p14="http://schemas.microsoft.com/office/powerpoint/2010/main" val="1539640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4A34-0D44-4DBF-BAF9-BAD5C3B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CB1FD-2526-4E3F-A4E9-05EFBED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04E9E-FF93-47B6-9252-199FD5B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Connection to the previous lesson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41520-FA33-4F8F-A246-B2BCA08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1010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ED394-F766-4566-B430-FB8DEE2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0334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Can you name the target, fit only on training records and explain how you would keep the test untouched?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3F742-BA22-4DBE-909A-9C50CB3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3</a:t>
            </a:r>
          </a:p>
        </p:txBody>
      </p:sp>
    </p:spTree>
    <p:extLst>
      <p:ext uri="{BB962C8B-B14F-4D97-AF65-F5344CB8AC3E}">
        <p14:creationId xmlns:p14="http://schemas.microsoft.com/office/powerpoint/2010/main" val="1368781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FA8DC-D88F-4904-BE2D-97D98FD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E9555-C0CD-45E2-89EA-175B9E7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FC184-6D5B-4020-B7BF-B172F5A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Preparation happens before the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60280-938E-4A1E-82B1-D731D2F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E94D4-E762-40F9-B3F4-C84AB8EC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Practise the already taught error calculations and data-splitting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379EE-C13A-494C-BAB1-85ED8E44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B9142-7F5D-4021-A80D-6E2F7AAC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Use separate practice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DC24A-C138-497F-B089-D6E2370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3D698-80FE-45FA-BFC8-AC073F4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timed session follows the issued test instructions.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B40CF-7249-45FC-84CC-F50623D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4</a:t>
            </a:r>
          </a:p>
        </p:txBody>
      </p:sp>
    </p:spTree>
    <p:extLst>
      <p:ext uri="{BB962C8B-B14F-4D97-AF65-F5344CB8AC3E}">
        <p14:creationId xmlns:p14="http://schemas.microsoft.com/office/powerpoint/2010/main" val="967667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7A313-54C1-4697-9E8B-4040946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1F965-C70B-48A3-9B27-AEE2DAE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AF49C-32D9-4295-8574-D7D7D629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Rehearse the offline save procedure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D9919-FA33-4030-A547-444180A6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6301B-429A-47CF-B29E-B84ED13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Save your notebook on the prepared lab computer.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BB2EC-3AED-4162-A48A-9DCDC3F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A7C8B-3A67-48B9-85B6-C054144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Type Part B under My written evidence in the notebook.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66FC5-9250-4FC2-BF09-E5FEDC8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2415D-DF2A-4E72-8D68-AEA26B9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Locate and reopen the complete notebook without internet.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0935B-BF54-4E0F-BCB4-7343FAD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5</a:t>
            </a:r>
          </a:p>
        </p:txBody>
      </p:sp>
    </p:spTree>
    <p:extLst>
      <p:ext uri="{BB962C8B-B14F-4D97-AF65-F5344CB8AC3E}">
        <p14:creationId xmlns:p14="http://schemas.microsoft.com/office/powerpoint/2010/main" val="411241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B1CF7-AEBB-43F0-86EB-8D1FD9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D3998-D422-4B1C-A121-3160D0F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58810-82F4-4F25-98E8-A3BACB3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result needs an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72B7E-EB17-43BE-9152-723CE623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462FE-A2AB-4484-BB60-2A513EC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Name the target and its unit or class.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362C6-85A8-4899-8EC4-AE337E7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3506-9187-45A9-9575-1EF2C07A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Explain which data fitted preprocessing and which data evaluated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12B75-DE5F-4DC1-8199-BD5EE4C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CF821-0E69-4BB8-9C13-46C4949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09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high score alone does not establish a useful engineering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ADC8E-2A7F-4B67-A7B3-6A9BDA30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6</a:t>
            </a:r>
          </a:p>
        </p:txBody>
      </p:sp>
    </p:spTree>
    <p:extLst>
      <p:ext uri="{BB962C8B-B14F-4D97-AF65-F5344CB8AC3E}">
        <p14:creationId xmlns:p14="http://schemas.microsoft.com/office/powerpoint/2010/main" val="941898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42142-7620-415C-8EC9-3FBB68B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B274-02EE-4520-951B-F99005C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02446-E2CC-48EE-B785-F832611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Practice before test 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F2A22-5930-4677-9933-1ABF2C3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7296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1E1F6-35E7-4ADD-9365-2CA8750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991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actual = [4, 8]</a:t>
            </a:r>
          </a:p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predicted = [5, 6]</a:t>
            </a:r>
          </a:p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errors = []</a:t>
            </a:r>
          </a:p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FB080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 a, p in zip(actual, predicted):</a:t>
            </a:r>
          </a:p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    errors.append(abs(a - p))</a:t>
            </a:r>
          </a:p>
          <a:p xmlns:a="http://schemas.openxmlformats.org/drawingml/2006/main">
            <a:pPr>
              <a:def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F4F7FA"/>
                </a:solidFill>
                <a:latin typeface="Courier New"/>
                <a:ea typeface="Courier New"/>
                <a:cs typeface="Courier New"/>
              </a:rPr>
              <a:t>print(sum(errors) / len(errors))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4698E-EB6C-402C-AE74-718235C4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7D6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7D6F"/>
                </a:solidFill>
                <a:latin typeface="Calibri"/>
                <a:ea typeface="Calibri"/>
                <a:cs typeface="Calibri"/>
              </a:rPr>
              <a:t>HOW TO READ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E2724-2B15-4300-8F07-00207B59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for takes the next item. The indented block repeats.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E4C0B-2E90-48C1-B2E6-F521C6F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333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zip pairs items at matching positions in these equal-length lists.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4C953-A410-402F-9D85-B8D5D98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333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print displays a value below the cell.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79A74-C7D6-43AB-9898-6F5E41CF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Read top to bottom. Run the complete example in the matching practice notebook.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EE968-B1DA-43F0-8522-F2C20AA8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7</a:t>
            </a:r>
          </a:p>
        </p:txBody>
      </p:sp>
    </p:spTree>
    <p:extLst>
      <p:ext uri="{BB962C8B-B14F-4D97-AF65-F5344CB8AC3E}">
        <p14:creationId xmlns:p14="http://schemas.microsoft.com/office/powerpoint/2010/main" val="382233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22BDA-F203-433D-989D-F278A2A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5BD0-8C40-4011-90C9-8637A9C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WHAT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17676-5B31-4CC4-9D47-25EF457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1801-7FF1-4F84-8E16-1CCA473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136F3-BC36-4322-9233-E3394766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00–15 minutes: briefing and file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D1597-E9F1-4950-B871-CB935BC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0356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EB0AB-26C9-4334-AC46-61A7D3B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0356"/>
            <a:ext cx="100965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15–135 minutes: individual practical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26E92-1194-49D8-A62C-ED963110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95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33258-1833-4CB8-95AB-DC64D26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9538"/>
            <a:ext cx="100965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135–160 minutes: typed offline reasoning, with code execution prohibited.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6BA27-FDF1-4659-8C03-DA150BA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8719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7ADE3-9901-4425-A67C-A59ABA65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8719"/>
            <a:ext cx="100965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160–180 minutes: save and hand in through invigilated offline collection.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EF7CC-6446-4D80-B857-71CCD185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8</a:t>
            </a:r>
          </a:p>
        </p:txBody>
      </p:sp>
    </p:spTree>
    <p:extLst>
      <p:ext uri="{BB962C8B-B14F-4D97-AF65-F5344CB8AC3E}">
        <p14:creationId xmlns:p14="http://schemas.microsoft.com/office/powerpoint/2010/main" val="969995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91929-8B35-4BC5-947A-E2A122D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6F647-03EA-44FE-BF1C-FBE7D11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976C9-B5E3-42A1-9F13-38440DA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Preparation checkpoint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AB304-0B0F-4925-8545-7A96B45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1010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3E64C-9AF8-470A-826A-AE9C2123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0334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Each learner can save and reopen the complete notebook in the offline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510C8-D60D-4689-B117-3FA2209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9</a:t>
            </a:r>
          </a:p>
        </p:txBody>
      </p:sp>
    </p:spTree>
    <p:extLst>
      <p:ext uri="{BB962C8B-B14F-4D97-AF65-F5344CB8AC3E}">
        <p14:creationId xmlns:p14="http://schemas.microsoft.com/office/powerpoint/2010/main" val="724389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5B89B-162B-41D6-9066-19A03CFF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53686-CD16-4726-AE4B-72EE20E6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WHAT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A8E32-5233-4174-9BEA-F16139B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92BC4-75CB-475C-BB9B-AD2613D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1DE54-0093-4A99-ABA6-6E831E31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20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Use TEST2’s official brief, interfaces, time allocation, permitted resources and packet requirements.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9FEE8-E402-455D-8CB8-1968076F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95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A0C3-C152-4781-A427-8BA8B0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9538"/>
            <a:ext cx="10096500" cy="20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Follow the test instructions issued by your lecturer.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18181-DBB3-45DB-B178-46F6D9F4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10</a:t>
            </a:r>
          </a:p>
        </p:txBody>
      </p:sp>
    </p:spTree>
    <p:extLst>
      <p:ext uri="{BB962C8B-B14F-4D97-AF65-F5344CB8AC3E}">
        <p14:creationId xmlns:p14="http://schemas.microsoft.com/office/powerpoint/2010/main" val="93473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FEA3F-2D49-4DE8-B623-4610A62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12AF-647A-442F-9847-1FB2B21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FB522-B365-4437-8D07-DA3CC55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1FC28-20CA-47FC-832D-7AEFC1F2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1A044-B3FC-42AE-920D-3B892C45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Write your own explanation in the markdown cell headed `## My written evidence`.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DB980-5230-426F-AE0D-71D57AF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A16C-62D5-45B4-A6DB-1FBC1BC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Keep that heading.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C51C0-F37B-434D-859E-496C13B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5B1F1-8D57-4BDE-B0BD-2F90C19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Task prompts and code comments are excluded from reasoning marks.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79DF8-C207-4CFD-AA53-6DECF10B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0BC01-401D-4FFE-8567-241C12A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Complete every original rubric criterion below, not just the checked functions.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9372B-6B1F-4B5F-A097-B5FFA5D4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11</a:t>
            </a:r>
          </a:p>
        </p:txBody>
      </p:sp>
    </p:spTree>
    <p:extLst>
      <p:ext uri="{BB962C8B-B14F-4D97-AF65-F5344CB8AC3E}">
        <p14:creationId xmlns:p14="http://schemas.microsoft.com/office/powerpoint/2010/main" val="773816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3148F-197C-4105-9A66-07DE6AED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ADC0-7C14-44EC-8DB0-E37059D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7475-814D-4014-8487-BC7A666C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B1107-F85F-4D79-B5CE-2A963862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CD814-DFDC-40C3-AEEC-C06C3427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Include profiling, justified cleaning, question-led charts and your engineering recommendation where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17343-C7E8-482F-AECE-5217BFD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6DF-21F3-47AF-9A28-C4550FDA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Keep raw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2F534-99CD-4093-B2EA-C20E166C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DA1A2-2D19-4FC9-B60C-86FBB472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State units and distinguish correlation from causation.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77BFA-917A-4A79-8B63-726EC149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CDE5B-7F97-42C1-BF16-0D6A2404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Charts must be actual labelled figures in the notebook, not claims that charts exist.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6FB34-F5BD-4EF8-84A5-5DC38925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12</a:t>
            </a:r>
          </a:p>
        </p:txBody>
      </p:sp>
    </p:spTree>
    <p:extLst>
      <p:ext uri="{BB962C8B-B14F-4D97-AF65-F5344CB8AC3E}">
        <p14:creationId xmlns:p14="http://schemas.microsoft.com/office/powerpoint/2010/main" val="185214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F8F50-92EF-4E37-B7F5-376489D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17BEC-9138-4740-8FF2-B490119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3BE76-1110-4777-9739-4E74DE1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598F-606E-46F4-BF61-28AAD00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33A27-28BE-47F6-953E-5A76EFB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Include captions and readable written evidence in the notebook.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F0CDF-E136-4B33-8C7E-017A46CF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8F60-F06B-4332-800F-EA24ECA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Task framing (10.0 total): The ML task is correctly identified, the target named, and regression vs classification correctly chosen and justified.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7AF75-130F-4F96-BD0D-F6B25196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3DF89-305C-4E20-890C-A4FA67AA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Data preparation &amp; leakage control (20.0 total): Cleaning and encoding appropriate.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8AC93-D42F-4FA6-BD32-FA6AECAD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25EC2-2BAD-439F-BDEA-25B369B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Split made before any fitting.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E22F2-8F04-4166-99A6-60546AC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13</a:t>
            </a:r>
          </a:p>
        </p:txBody>
      </p:sp>
    </p:spTree>
    <p:extLst>
      <p:ext uri="{BB962C8B-B14F-4D97-AF65-F5344CB8AC3E}">
        <p14:creationId xmlns:p14="http://schemas.microsoft.com/office/powerpoint/2010/main" val="1298789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B336D-C57E-4B44-8240-C415EC6B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F2721-5817-4AAC-BD99-B5AA5B6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10FCB-C684-4041-97F6-5B05051D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BD250-F78F-4456-A47C-D7F436A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B53C5-3B97-426D-8374-F5D781EC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Pipeline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1F75F-FF0F-4141-88BB-51C8463E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DA1A7-292A-4D48-9963-9396BEF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No leakage present - a leak found by the marker caps this criterion at 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02FE3-72F3-4B28-9249-DEDB45DF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9F52B-2BDE-40B1-B456-493D2E66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Modelling protocol (20.0 total): At least two models built and compared under identical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98CE4-FBE7-4177-B0D3-25B9E1E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D65D8-6CAB-4205-9A52-738B72E0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Baseline included.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94022-820A-43F6-B518-416AE364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14</a:t>
            </a:r>
          </a:p>
        </p:txBody>
      </p:sp>
    </p:spTree>
    <p:extLst>
      <p:ext uri="{BB962C8B-B14F-4D97-AF65-F5344CB8AC3E}">
        <p14:creationId xmlns:p14="http://schemas.microsoft.com/office/powerpoint/2010/main" val="1708612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804C5-CBE5-4455-8709-E74C1DB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D6446-C00B-454A-9985-13F3D0DD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11CCB-E87E-49E4-929C-177EEDB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CD10F-C724-4E25-8BB4-E5B2FC0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E5720-BA46-4A70-8C22-2C2251F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Hyperparameters handled sensibly.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DC41B-09D7-49F3-9B91-09A37FAA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D54F8-8C13-4FC4-80B9-E95DD59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Evaluation &amp; metric justification (20.0 total): Correct metrics computed.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D6D69-B29C-4606-93E8-E96653A1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3C7EC-FBC9-4F38-A034-BE865CD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Metric choice defended against the cost of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BE343-F43E-45C4-BB02-7F7D79F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366BC-6873-404B-9C8D-CEA7762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Cross-validation reported with a spread, not a single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EA69C-E871-41E1-8F69-680AC8F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15</a:t>
            </a:r>
          </a:p>
        </p:txBody>
      </p:sp>
    </p:spTree>
    <p:extLst>
      <p:ext uri="{BB962C8B-B14F-4D97-AF65-F5344CB8AC3E}">
        <p14:creationId xmlns:p14="http://schemas.microsoft.com/office/powerpoint/2010/main" val="11587138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CAA11-B850-4372-9121-3F4CED2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B368C-B943-4749-B3B9-B08D757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D13F6-757A-4240-9BEB-2B8B00F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A30C2-C844-404F-8D71-298B3A3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383A6-B508-42AE-B20B-69153DE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Engineering interpretation &amp; limits (20.0 total): The result is stated in physical or operational units.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303BF-5503-484F-8AA2-622275F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4FC68-D262-4CAA-8DDC-9279F76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Three genuine limitations given.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19DCE-5FFB-478F-8831-07349841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7CEAE-67B9-4A9E-95A3-E0C4E6A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clear position on whether it should be deployed.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A224E-64EC-4E2F-9AC5-9BB665A4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7E78B-A933-46C6-AF06-760B923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Code clarity (10.0 total): Runs top to bottom.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10DFE-C4C4-4D5C-B09C-24402B6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16</a:t>
            </a:r>
          </a:p>
        </p:txBody>
      </p:sp>
    </p:spTree>
    <p:extLst>
      <p:ext uri="{BB962C8B-B14F-4D97-AF65-F5344CB8AC3E}">
        <p14:creationId xmlns:p14="http://schemas.microsoft.com/office/powerpoint/2010/main" val="17224224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F1F57-429E-41CB-8D1B-AA0153F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4859C-B05D-493B-9E74-BB33A23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B27B-1871-4400-A22F-27CDE35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DE684-9EC4-45B5-90E4-876205F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50BF7-8338-4FB3-8FD4-D5708D9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Readable.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7F83A-506F-4EA3-890C-1BBD984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640B3-6276-4AE2-9205-C69BF1D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Commented where the intent is not obvious.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C9BF1-3205-41CB-844B-209B1418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8EF4D-440C-4622-90EB-6D8B5A09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Execution requirement for c2: Data-preparation credit requires the published leakage-safe split check to pass.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04429-1322-41B5-9F66-1BE6C0B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37061-1003-4CD4-BA3D-82421DB2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If this check fails, written marks in that criterion are zero; other criteria remain independently scored.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51CEF-5A0C-4F16-A367-F363E0A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17</a:t>
            </a:r>
          </a:p>
        </p:txBody>
      </p:sp>
    </p:spTree>
    <p:extLst>
      <p:ext uri="{BB962C8B-B14F-4D97-AF65-F5344CB8AC3E}">
        <p14:creationId xmlns:p14="http://schemas.microsoft.com/office/powerpoint/2010/main" val="20545512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16CC9-81CD-4E5E-A136-D9A2C0F6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DD9AB-700D-40BF-9E43-9EF22D0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0CA4B-2149-4DFB-97E3-83EF0CC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A2C2-93EF-4CB1-8440-D2341D25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B3DFA-EDE4-41F4-AD3B-6934E87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Timing and Part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2F7D8-5F43-49D9-84DF-C003F0F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88EBA-7518-4F10-ADA0-06B44342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15 minutes setup, 120 minutes practical, 25 minutes typed offline reasoning with code execution prohibited, 20 minutes collection.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3D574-3E5A-4FFA-A352-202EA9F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DEAEE-69F9-4539-B642-45A6614A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No internet, messaging or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81972-D1CD-49A0-A4F7-CF17039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6F587-497F-4418-A81F-AC643D4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Answer: Why your main cleaning/model choice?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1815-FC5A-4B5E-8E66-68D23BE1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18</a:t>
            </a:r>
          </a:p>
        </p:txBody>
      </p:sp>
    </p:spTree>
    <p:extLst>
      <p:ext uri="{BB962C8B-B14F-4D97-AF65-F5344CB8AC3E}">
        <p14:creationId xmlns:p14="http://schemas.microsoft.com/office/powerpoint/2010/main" val="8796432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99927-069A-4964-83EA-D312A3E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FD43-A076-4D00-85FD-33F4FC14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ONE IDEA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26DA9-14D6-4306-8895-9802384A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757FF-BC03-47C3-ADC0-349D2F11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97F02-5402-412F-8E4E-63C0974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can your chart/metric not establish?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F3AA0-DAF4-468A-8AE6-4E0A501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2738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EF2A9-4FBC-436C-A267-6E087BF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2738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evidence would change your recommendation?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9C2A7-3A33-40E8-967E-7F1E968B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D8167-C941-4411-9C7A-0AF08337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further data is required?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9EC66-01DB-4956-B41E-0D9E9C1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58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18D98-F4DE-44CF-A510-A08071B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5863"/>
            <a:ext cx="100965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Invigilated offline collection is authoritative; Google upload is a later transport step and must not impose an internet requirement during the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1EA2B-CF3A-4847-A0A0-B9D930C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19</a:t>
            </a:r>
          </a:p>
        </p:txBody>
      </p:sp>
    </p:spTree>
    <p:extLst>
      <p:ext uri="{BB962C8B-B14F-4D97-AF65-F5344CB8AC3E}">
        <p14:creationId xmlns:p14="http://schemas.microsoft.com/office/powerpoint/2010/main" val="10862873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DE25C-6C6E-40D1-8992-443739EB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BEFC-4992-45D0-925F-E4010F7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ASSIGNMENT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D00DB-99B8-4BFA-B948-B1A8A2E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Test 2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644E-7CAB-4E60-AAAE-A0CFBEFA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E660-E334-4725-B87B-0E05470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24025"/>
            <a:ext cx="10096500" cy="7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Offline invigilated collection is authoritative.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95699-7201-463E-A1D5-9AF02AA4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1744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06D63-2882-4430-BBD3-925C887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21744"/>
            <a:ext cx="10096500" cy="7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Google upload is a later transport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08CC0-E199-47A0-8091-6325AEB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9463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3254B-E91B-43F2-97C9-6CD15239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19463"/>
            <a:ext cx="10096500" cy="7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Save one notebook with Part B under My written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54048-36F0-42FA-A137-8651C1D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7181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7BF9E-0D46-4176-B08A-B163CEE0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7181"/>
            <a:ext cx="10096500" cy="72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No internet, messaging or AI during the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C0284-1B51-4F0C-8812-634A2FD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1010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CA8A7-1AC4-476C-8200-4127E66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7D6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E7D6F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a2e46e843504321"/>
              </a:rPr>
              <a:t>Open TEST2 assignment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C7C14-CA2A-4D80-A986-7811D0AC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https://docs.google.com/forms/d/e/1FAIpQLSfOabwvSWjm6i8Hwl0WyoTKG0AtEsqrI4vqKuOoTWCw_DmcCQ/viewform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9CFD3-6DD5-4338-87F5-2FC67367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B7A8A"/>
                </a:solidFill>
                <a:latin typeface="Calibri"/>
                <a:ea typeface="Calibri"/>
                <a:cs typeface="Calibri"/>
              </a:rPr>
              <a:t>CML3111   Week 14   20</a:t>
            </a:r>
          </a:p>
        </p:txBody>
      </p:sp>
    </p:spTree>
    <p:extLst>
      <p:ext uri="{BB962C8B-B14F-4D97-AF65-F5344CB8AC3E}">
        <p14:creationId xmlns:p14="http://schemas.microsoft.com/office/powerpoint/2010/main" val="18473157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C31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8083-4B38-4756-B93A-21C833D6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INDIVIDUAL EXIT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C3264-D749-4488-86F8-B8C0577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Revision and submission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5A220-B481-4ECE-85C7-CD6302F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7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4572E"/>
                </a:solidFill>
                <a:latin typeface="Calibri"/>
                <a:ea typeface="Calibri"/>
                <a:cs typeface="Calibri"/>
              </a:rPr>
              <a:t>EXPLAIN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98669-5C78-478C-B612-5718FF61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"/>
            <a:ext cx="108108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 can explain training-only preprocessing and locate your saved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 your work and check the required submission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495EC-95C6-42CE-A667-3F4405E6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CDD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BCDD9"/>
                </a:solidFill>
                <a:latin typeface="Calibri"/>
                <a:ea typeface="Calibri"/>
                <a:cs typeface="Calibri"/>
              </a:rPr>
              <a:t>Point to your evidence. Save your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F8D4F-C317-4F36-9F5E-083635A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1081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BCDD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BBCDD9"/>
                </a:solidFill>
                <a:latin typeface="Calibri"/>
                <a:ea typeface="Calibri"/>
                <a:cs typeface="Calibri"/>
              </a:rPr>
              <a:t>CML3111   Week 14   21</a:t>
            </a:r>
          </a:p>
        </p:txBody>
      </p:sp>
    </p:spTree>
    <p:extLst>
      <p:ext uri="{BB962C8B-B14F-4D97-AF65-F5344CB8AC3E}">
        <p14:creationId xmlns:p14="http://schemas.microsoft.com/office/powerpoint/2010/main" val="307401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2026-09-28T21:45:38.6560000Z</dcterms:created>
  <dcterms:modified xsi:type="dcterms:W3CDTF">2026-09-28T21:45:38.6560000Z</dcterms:modified>
</coreProperties>
</file>