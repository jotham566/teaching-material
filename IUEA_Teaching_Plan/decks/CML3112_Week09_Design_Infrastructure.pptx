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d905822ba54807" /><Relationship Type="http://schemas.openxmlformats.org/officeDocument/2006/relationships/extended-properties" Target="/docProps/app.xml" Id="Rdecf3727396b4749" /><Relationship Type="http://schemas.openxmlformats.org/officeDocument/2006/relationships/officeDocument" Target="/ppt/presentation.xml" Id="Rc6c640bbb6034923" /></Relationships>
</file>

<file path=ppt/presentation.xml><?xml version="1.0" encoding="utf-8"?>
<p:presentation xmlns:p="http://schemas.openxmlformats.org/presentationml/2006/main">
  <p:sldMasterIdLst>
    <p:sldMasterId xmlns:r="http://schemas.openxmlformats.org/officeDocument/2006/relationships" id="2147483648" r:id="R235aa0713f884e01"/>
  </p:sldMasterIdLst>
  <p:notesMasterIdLst>
    <p:notesMasterId xmlns:r="http://schemas.openxmlformats.org/officeDocument/2006/relationships" r:id="Rd059f1cf7bf54906"/>
  </p:notesMasterIdLst>
  <p:sldIdLst>
    <p:sldId xmlns:r="http://schemas.openxmlformats.org/officeDocument/2006/relationships" id="256" r:id="R4eae345eeb47404f"/>
    <p:sldId xmlns:r="http://schemas.openxmlformats.org/officeDocument/2006/relationships" id="257" r:id="Rc2b0a5df5d1f4084"/>
    <p:sldId xmlns:r="http://schemas.openxmlformats.org/officeDocument/2006/relationships" id="258" r:id="Rbe7dd3ba5d7742a1"/>
    <p:sldId xmlns:r="http://schemas.openxmlformats.org/officeDocument/2006/relationships" id="259" r:id="Rb08a3067d2c6418c"/>
    <p:sldId xmlns:r="http://schemas.openxmlformats.org/officeDocument/2006/relationships" id="260" r:id="R6379e0582f494ebd"/>
    <p:sldId xmlns:r="http://schemas.openxmlformats.org/officeDocument/2006/relationships" id="261" r:id="R70710381e72542de"/>
    <p:sldId xmlns:r="http://schemas.openxmlformats.org/officeDocument/2006/relationships" id="262" r:id="Rbc79942550f34b21"/>
    <p:sldId xmlns:r="http://schemas.openxmlformats.org/officeDocument/2006/relationships" id="263" r:id="R4c1a0785d7bc4a16"/>
    <p:sldId xmlns:r="http://schemas.openxmlformats.org/officeDocument/2006/relationships" id="264" r:id="Reba3f652bfe64b63"/>
    <p:sldId xmlns:r="http://schemas.openxmlformats.org/officeDocument/2006/relationships" id="265" r:id="Ra0496cb2ac124a1f"/>
    <p:sldId xmlns:r="http://schemas.openxmlformats.org/officeDocument/2006/relationships" id="266" r:id="R34f6c4802838446b"/>
    <p:sldId xmlns:r="http://schemas.openxmlformats.org/officeDocument/2006/relationships" id="267" r:id="R3d70db75c3234c0d"/>
    <p:sldId xmlns:r="http://schemas.openxmlformats.org/officeDocument/2006/relationships" id="268" r:id="Rf8c3395378c7496c"/>
    <p:sldId xmlns:r="http://schemas.openxmlformats.org/officeDocument/2006/relationships" id="269" r:id="R36212b3b9f174447"/>
    <p:sldId xmlns:r="http://schemas.openxmlformats.org/officeDocument/2006/relationships" id="270" r:id="Rce7ed0329cdd41dc"/>
    <p:sldId xmlns:r="http://schemas.openxmlformats.org/officeDocument/2006/relationships" id="271" r:id="Raa63ca4cf8b649ce"/>
    <p:sldId xmlns:r="http://schemas.openxmlformats.org/officeDocument/2006/relationships" id="272" r:id="R46d75277eeeb46b4"/>
    <p:sldId xmlns:r="http://schemas.openxmlformats.org/officeDocument/2006/relationships" id="273" r:id="Rea41ac5d4fad4c09"/>
    <p:sldId xmlns:r="http://schemas.openxmlformats.org/officeDocument/2006/relationships" id="274" r:id="Rf029833e6bb24c5c"/>
    <p:sldId xmlns:r="http://schemas.openxmlformats.org/officeDocument/2006/relationships" id="275" r:id="R88f4650544f643e9"/>
    <p:sldId xmlns:r="http://schemas.openxmlformats.org/officeDocument/2006/relationships" id="276" r:id="R16dfc9b795c145d5"/>
    <p:sldId xmlns:r="http://schemas.openxmlformats.org/officeDocument/2006/relationships" id="277" r:id="R06c8f0128003476b"/>
    <p:sldId xmlns:r="http://schemas.openxmlformats.org/officeDocument/2006/relationships" id="278" r:id="Rbe57c7eeea6b43cf"/>
    <p:sldId xmlns:r="http://schemas.openxmlformats.org/officeDocument/2006/relationships" id="279" r:id="Ra55877078ad84ee6"/>
    <p:sldId xmlns:r="http://schemas.openxmlformats.org/officeDocument/2006/relationships" id="280" r:id="Rfae7ebe936e844a8"/>
    <p:sldId xmlns:r="http://schemas.openxmlformats.org/officeDocument/2006/relationships" id="281" r:id="Rd30d5b6eb98b4e66"/>
    <p:sldId xmlns:r="http://schemas.openxmlformats.org/officeDocument/2006/relationships" id="282" r:id="R73d0ccaa5276423f"/>
    <p:sldId xmlns:r="http://schemas.openxmlformats.org/officeDocument/2006/relationships" id="283" r:id="Re8e1cafeb4da4485"/>
    <p:sldId xmlns:r="http://schemas.openxmlformats.org/officeDocument/2006/relationships" id="284" r:id="R2429242cf42b4a17"/>
    <p:sldId xmlns:r="http://schemas.openxmlformats.org/officeDocument/2006/relationships" id="285" r:id="R8f0bd49ed5f44aab"/>
    <p:sldId xmlns:r="http://schemas.openxmlformats.org/officeDocument/2006/relationships" id="286" r:id="Re2b5b4cde3814732"/>
    <p:sldId xmlns:r="http://schemas.openxmlformats.org/officeDocument/2006/relationships" id="287" r:id="Rdeee88798f79495e"/>
    <p:sldId xmlns:r="http://schemas.openxmlformats.org/officeDocument/2006/relationships" id="288" r:id="Rb944d916f0fd40e8"/>
    <p:sldId xmlns:r="http://schemas.openxmlformats.org/officeDocument/2006/relationships" id="289" r:id="R77010b8aa2394af6"/>
    <p:sldId xmlns:r="http://schemas.openxmlformats.org/officeDocument/2006/relationships" id="290" r:id="Rc212c58df2014806"/>
    <p:sldId xmlns:r="http://schemas.openxmlformats.org/officeDocument/2006/relationships" id="291" r:id="Rc355997c126c44b1"/>
    <p:sldId xmlns:r="http://schemas.openxmlformats.org/officeDocument/2006/relationships" id="292" r:id="Rf6c137958ae84ac9"/>
    <p:sldId xmlns:r="http://schemas.openxmlformats.org/officeDocument/2006/relationships" id="293" r:id="Rb794699144114718"/>
    <p:sldId xmlns:r="http://schemas.openxmlformats.org/officeDocument/2006/relationships" id="294" r:id="R0ee37446f9734c02"/>
    <p:sldId xmlns:r="http://schemas.openxmlformats.org/officeDocument/2006/relationships" id="295" r:id="R466b622ba11740cf"/>
    <p:sldId xmlns:r="http://schemas.openxmlformats.org/officeDocument/2006/relationships" id="296" r:id="R1045c40b2af348e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7ca69cb8654d0f" /><Relationship Type="http://schemas.openxmlformats.org/officeDocument/2006/relationships/slideMaster" Target="/ppt/slideMasters/slideMaster1.xml" Id="R235aa0713f884e01" /><Relationship Type="http://schemas.openxmlformats.org/officeDocument/2006/relationships/notesMaster" Target="/ppt/notesMasters/notesMaster1.xml" Id="Rd059f1cf7bf54906" /><Relationship Type="http://schemas.openxmlformats.org/officeDocument/2006/relationships/presProps" Target="/ppt/presProps.xml" Id="Rfcbf8cbd974f4756" /><Relationship Type="http://schemas.openxmlformats.org/officeDocument/2006/relationships/tableStyles" Target="/ppt/tableStyles.xml" Id="Rc4044ab6600a4b75" /><Relationship Type="http://schemas.openxmlformats.org/officeDocument/2006/relationships/slide" Target="/ppt/slides/slide1.xml" Id="R4eae345eeb47404f" /><Relationship Type="http://schemas.openxmlformats.org/officeDocument/2006/relationships/slide" Target="/ppt/slides/slide2.xml" Id="Rc2b0a5df5d1f4084" /><Relationship Type="http://schemas.openxmlformats.org/officeDocument/2006/relationships/slide" Target="/ppt/slides/slide3.xml" Id="Rbe7dd3ba5d7742a1" /><Relationship Type="http://schemas.openxmlformats.org/officeDocument/2006/relationships/slide" Target="/ppt/slides/slide4.xml" Id="Rb08a3067d2c6418c" /><Relationship Type="http://schemas.openxmlformats.org/officeDocument/2006/relationships/slide" Target="/ppt/slides/slide5.xml" Id="R6379e0582f494ebd" /><Relationship Type="http://schemas.openxmlformats.org/officeDocument/2006/relationships/slide" Target="/ppt/slides/slide6.xml" Id="R70710381e72542de" /><Relationship Type="http://schemas.openxmlformats.org/officeDocument/2006/relationships/slide" Target="/ppt/slides/slide7.xml" Id="Rbc79942550f34b21" /><Relationship Type="http://schemas.openxmlformats.org/officeDocument/2006/relationships/slide" Target="/ppt/slides/slide8.xml" Id="R4c1a0785d7bc4a16" /><Relationship Type="http://schemas.openxmlformats.org/officeDocument/2006/relationships/slide" Target="/ppt/slides/slide9.xml" Id="Reba3f652bfe64b63" /><Relationship Type="http://schemas.openxmlformats.org/officeDocument/2006/relationships/slide" Target="/ppt/slides/slide10.xml" Id="Ra0496cb2ac124a1f" /><Relationship Type="http://schemas.openxmlformats.org/officeDocument/2006/relationships/slide" Target="/ppt/slides/slide11.xml" Id="R34f6c4802838446b" /><Relationship Type="http://schemas.openxmlformats.org/officeDocument/2006/relationships/slide" Target="/ppt/slides/slide12.xml" Id="R3d70db75c3234c0d" /><Relationship Type="http://schemas.openxmlformats.org/officeDocument/2006/relationships/slide" Target="/ppt/slides/slide13.xml" Id="Rf8c3395378c7496c" /><Relationship Type="http://schemas.openxmlformats.org/officeDocument/2006/relationships/slide" Target="/ppt/slides/slide14.xml" Id="R36212b3b9f174447" /><Relationship Type="http://schemas.openxmlformats.org/officeDocument/2006/relationships/slide" Target="/ppt/slides/slide15.xml" Id="Rce7ed0329cdd41dc" /><Relationship Type="http://schemas.openxmlformats.org/officeDocument/2006/relationships/slide" Target="/ppt/slides/slide16.xml" Id="Raa63ca4cf8b649ce" /><Relationship Type="http://schemas.openxmlformats.org/officeDocument/2006/relationships/slide" Target="/ppt/slides/slide17.xml" Id="R46d75277eeeb46b4" /><Relationship Type="http://schemas.openxmlformats.org/officeDocument/2006/relationships/slide" Target="/ppt/slides/slide18.xml" Id="Rea41ac5d4fad4c09" /><Relationship Type="http://schemas.openxmlformats.org/officeDocument/2006/relationships/slide" Target="/ppt/slides/slide19.xml" Id="Rf029833e6bb24c5c" /><Relationship Type="http://schemas.openxmlformats.org/officeDocument/2006/relationships/slide" Target="/ppt/slides/slide20.xml" Id="R88f4650544f643e9" /><Relationship Type="http://schemas.openxmlformats.org/officeDocument/2006/relationships/slide" Target="/ppt/slides/slide21.xml" Id="R16dfc9b795c145d5" /><Relationship Type="http://schemas.openxmlformats.org/officeDocument/2006/relationships/slide" Target="/ppt/slides/slide22.xml" Id="R06c8f0128003476b" /><Relationship Type="http://schemas.openxmlformats.org/officeDocument/2006/relationships/slide" Target="/ppt/slides/slide23.xml" Id="Rbe57c7eeea6b43cf" /><Relationship Type="http://schemas.openxmlformats.org/officeDocument/2006/relationships/slide" Target="/ppt/slides/slide24.xml" Id="Ra55877078ad84ee6" /><Relationship Type="http://schemas.openxmlformats.org/officeDocument/2006/relationships/slide" Target="/ppt/slides/slide25.xml" Id="Rfae7ebe936e844a8" /><Relationship Type="http://schemas.openxmlformats.org/officeDocument/2006/relationships/slide" Target="/ppt/slides/slide26.xml" Id="Rd30d5b6eb98b4e66" /><Relationship Type="http://schemas.openxmlformats.org/officeDocument/2006/relationships/slide" Target="/ppt/slides/slide27.xml" Id="R73d0ccaa5276423f" /><Relationship Type="http://schemas.openxmlformats.org/officeDocument/2006/relationships/slide" Target="/ppt/slides/slide28.xml" Id="Re8e1cafeb4da4485" /><Relationship Type="http://schemas.openxmlformats.org/officeDocument/2006/relationships/slide" Target="/ppt/slides/slide29.xml" Id="R2429242cf42b4a17" /><Relationship Type="http://schemas.openxmlformats.org/officeDocument/2006/relationships/slide" Target="/ppt/slides/slide30.xml" Id="R8f0bd49ed5f44aab" /><Relationship Type="http://schemas.openxmlformats.org/officeDocument/2006/relationships/slide" Target="/ppt/slides/slide31.xml" Id="Re2b5b4cde3814732" /><Relationship Type="http://schemas.openxmlformats.org/officeDocument/2006/relationships/slide" Target="/ppt/slides/slide32.xml" Id="Rdeee88798f79495e" /><Relationship Type="http://schemas.openxmlformats.org/officeDocument/2006/relationships/slide" Target="/ppt/slides/slide33.xml" Id="Rb944d916f0fd40e8" /><Relationship Type="http://schemas.openxmlformats.org/officeDocument/2006/relationships/slide" Target="/ppt/slides/slide34.xml" Id="R77010b8aa2394af6" /><Relationship Type="http://schemas.openxmlformats.org/officeDocument/2006/relationships/slide" Target="/ppt/slides/slide35.xml" Id="Rc212c58df2014806" /><Relationship Type="http://schemas.openxmlformats.org/officeDocument/2006/relationships/slide" Target="/ppt/slides/slide36.xml" Id="Rc355997c126c44b1" /><Relationship Type="http://schemas.openxmlformats.org/officeDocument/2006/relationships/slide" Target="/ppt/slides/slide37.xml" Id="Rf6c137958ae84ac9" /><Relationship Type="http://schemas.openxmlformats.org/officeDocument/2006/relationships/slide" Target="/ppt/slides/slide38.xml" Id="Rb794699144114718" /><Relationship Type="http://schemas.openxmlformats.org/officeDocument/2006/relationships/slide" Target="/ppt/slides/slide39.xml" Id="R0ee37446f9734c02" /><Relationship Type="http://schemas.openxmlformats.org/officeDocument/2006/relationships/slide" Target="/ppt/slides/slide40.xml" Id="R466b622ba11740cf" /><Relationship Type="http://schemas.openxmlformats.org/officeDocument/2006/relationships/slide" Target="/ppt/slides/slide41.xml" Id="R1045c40b2af348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8e7ea35fd346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78777137354395" /><Relationship Type="http://schemas.openxmlformats.org/officeDocument/2006/relationships/notesMaster" Target="/ppt/notesMasters/notesMaster1.xml" Id="Ra793ea6c72c94e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db650047344246" /><Relationship Type="http://schemas.openxmlformats.org/officeDocument/2006/relationships/notesMaster" Target="/ppt/notesMasters/notesMaster1.xml" Id="Red6b7a7d43584b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c1a386b1fa4abc" /><Relationship Type="http://schemas.openxmlformats.org/officeDocument/2006/relationships/notesMaster" Target="/ppt/notesMasters/notesMaster1.xml" Id="Rc3100de1bcf448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94d49e3ab3409e" /><Relationship Type="http://schemas.openxmlformats.org/officeDocument/2006/relationships/notesMaster" Target="/ppt/notesMasters/notesMaster1.xml" Id="Rc6a1aa35c8e548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7ad170ac2248a1" /><Relationship Type="http://schemas.openxmlformats.org/officeDocument/2006/relationships/notesMaster" Target="/ppt/notesMasters/notesMaster1.xml" Id="Rcb13114ac45e49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01dede0b674c6f" /><Relationship Type="http://schemas.openxmlformats.org/officeDocument/2006/relationships/notesMaster" Target="/ppt/notesMasters/notesMaster1.xml" Id="R1874243bbada4d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35572d33164d1a" /><Relationship Type="http://schemas.openxmlformats.org/officeDocument/2006/relationships/notesMaster" Target="/ppt/notesMasters/notesMaster1.xml" Id="R01179e5d379f42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6217c6289141cf" /><Relationship Type="http://schemas.openxmlformats.org/officeDocument/2006/relationships/notesMaster" Target="/ppt/notesMasters/notesMaster1.xml" Id="R724853b020ff4d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8e15f524124436" /><Relationship Type="http://schemas.openxmlformats.org/officeDocument/2006/relationships/notesMaster" Target="/ppt/notesMasters/notesMaster1.xml" Id="R42380f103d0242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136459a469461a" /><Relationship Type="http://schemas.openxmlformats.org/officeDocument/2006/relationships/notesMaster" Target="/ppt/notesMasters/notesMaster1.xml" Id="R509b5e4ce0e84d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49c0793bba48ef" /><Relationship Type="http://schemas.openxmlformats.org/officeDocument/2006/relationships/notesMaster" Target="/ppt/notesMasters/notesMaster1.xml" Id="R7a640683ce244c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af612cbb024e32" /><Relationship Type="http://schemas.openxmlformats.org/officeDocument/2006/relationships/notesMaster" Target="/ppt/notesMasters/notesMaster1.xml" Id="Ra9a655cfd41146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7e58585bad4e64" /><Relationship Type="http://schemas.openxmlformats.org/officeDocument/2006/relationships/notesMaster" Target="/ppt/notesMasters/notesMaster1.xml" Id="R42e8ac87fbbb4d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cb2d281c7f4b23" /><Relationship Type="http://schemas.openxmlformats.org/officeDocument/2006/relationships/notesMaster" Target="/ppt/notesMasters/notesMaster1.xml" Id="R92491b3c926648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366269f60e44d4" /><Relationship Type="http://schemas.openxmlformats.org/officeDocument/2006/relationships/notesMaster" Target="/ppt/notesMasters/notesMaster1.xml" Id="Ra773e418995044e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d70e9c230e4a8b" /><Relationship Type="http://schemas.openxmlformats.org/officeDocument/2006/relationships/notesMaster" Target="/ppt/notesMasters/notesMaster1.xml" Id="Rfc0aa9033ce245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b494fdab5b48ca" /><Relationship Type="http://schemas.openxmlformats.org/officeDocument/2006/relationships/notesMaster" Target="/ppt/notesMasters/notesMaster1.xml" Id="Rb58b0f9563564e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8e781b72254637" /><Relationship Type="http://schemas.openxmlformats.org/officeDocument/2006/relationships/notesMaster" Target="/ppt/notesMasters/notesMaster1.xml" Id="R09a17500648644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c6f96874654e41" /><Relationship Type="http://schemas.openxmlformats.org/officeDocument/2006/relationships/notesMaster" Target="/ppt/notesMasters/notesMaster1.xml" Id="R831120211faf46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fa98cf420849fb" /><Relationship Type="http://schemas.openxmlformats.org/officeDocument/2006/relationships/notesMaster" Target="/ppt/notesMasters/notesMaster1.xml" Id="R5dd3de46fb5547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a1e0b1d7304bb2" /><Relationship Type="http://schemas.openxmlformats.org/officeDocument/2006/relationships/notesMaster" Target="/ppt/notesMasters/notesMaster1.xml" Id="R1be37ef21db34b9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29072b8f784da4" /><Relationship Type="http://schemas.openxmlformats.org/officeDocument/2006/relationships/notesMaster" Target="/ppt/notesMasters/notesMaster1.xml" Id="Ra8ba5d562a1741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fd78203d26a4b32" /><Relationship Type="http://schemas.openxmlformats.org/officeDocument/2006/relationships/notesMaster" Target="/ppt/notesMasters/notesMaster1.xml" Id="R25044eb6b5fe4e7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2d8c203f56c4641" /><Relationship Type="http://schemas.openxmlformats.org/officeDocument/2006/relationships/notesMaster" Target="/ppt/notesMasters/notesMaster1.xml" Id="R83a673f002bc4e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c18db8ad7294d72" /><Relationship Type="http://schemas.openxmlformats.org/officeDocument/2006/relationships/notesMaster" Target="/ppt/notesMasters/notesMaster1.xml" Id="Rc00a3776611642b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f21baed76ec4e11" /><Relationship Type="http://schemas.openxmlformats.org/officeDocument/2006/relationships/notesMaster" Target="/ppt/notesMasters/notesMaster1.xml" Id="Re31cfbebbacd43b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16148aece3d4846" /><Relationship Type="http://schemas.openxmlformats.org/officeDocument/2006/relationships/notesMaster" Target="/ppt/notesMasters/notesMaster1.xml" Id="R723f90268046441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7b6543b5a74967" /><Relationship Type="http://schemas.openxmlformats.org/officeDocument/2006/relationships/notesMaster" Target="/ppt/notesMasters/notesMaster1.xml" Id="Rd1e0bdceb9e749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0bbf3338f54c0e" /><Relationship Type="http://schemas.openxmlformats.org/officeDocument/2006/relationships/notesMaster" Target="/ppt/notesMasters/notesMaster1.xml" Id="R731629b9356a42d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41578cad4be4968" /><Relationship Type="http://schemas.openxmlformats.org/officeDocument/2006/relationships/notesMaster" Target="/ppt/notesMasters/notesMaster1.xml" Id="R588ec682edee45e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9053fa26fb8464a" /><Relationship Type="http://schemas.openxmlformats.org/officeDocument/2006/relationships/notesMaster" Target="/ppt/notesMasters/notesMaster1.xml" Id="R052e464892bc438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86ee947cb174258" /><Relationship Type="http://schemas.openxmlformats.org/officeDocument/2006/relationships/notesMaster" Target="/ppt/notesMasters/notesMaster1.xml" Id="Re71a46061a9e459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5bd5145c35c4529" /><Relationship Type="http://schemas.openxmlformats.org/officeDocument/2006/relationships/notesMaster" Target="/ppt/notesMasters/notesMaster1.xml" Id="Rac96336ab911419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d837cd4c3b34ad4" /><Relationship Type="http://schemas.openxmlformats.org/officeDocument/2006/relationships/notesMaster" Target="/ppt/notesMasters/notesMaster1.xml" Id="R80082110f565439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889472288ee4458" /><Relationship Type="http://schemas.openxmlformats.org/officeDocument/2006/relationships/notesMaster" Target="/ppt/notesMasters/notesMaster1.xml" Id="R63f1a0c4d7e546e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372c42697e94583" /><Relationship Type="http://schemas.openxmlformats.org/officeDocument/2006/relationships/notesMaster" Target="/ppt/notesMasters/notesMaster1.xml" Id="R8cb39196ba4e46e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ed6be743adb46bf" /><Relationship Type="http://schemas.openxmlformats.org/officeDocument/2006/relationships/notesMaster" Target="/ppt/notesMasters/notesMaster1.xml" Id="Rf4fc453d1ce3407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78f91ab8aec42e9" /><Relationship Type="http://schemas.openxmlformats.org/officeDocument/2006/relationships/notesMaster" Target="/ppt/notesMasters/notesMaster1.xml" Id="R49da9b4a6bc240c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3280c1b8d294427" /><Relationship Type="http://schemas.openxmlformats.org/officeDocument/2006/relationships/notesMaster" Target="/ppt/notesMasters/notesMaster1.xml" Id="R14ac903cd58040e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b25e795585a46c3" /><Relationship Type="http://schemas.openxmlformats.org/officeDocument/2006/relationships/notesMaster" Target="/ppt/notesMasters/notesMaster1.xml" Id="R01361810396e476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4780981e26d4c76" /><Relationship Type="http://schemas.openxmlformats.org/officeDocument/2006/relationships/notesMaster" Target="/ppt/notesMasters/notesMaster1.xml" Id="Reea1b088b5514b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and the cost of mistakes</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Civil Engineering and Architecture</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Classification and the cost of mistakes.</a:t>
            </a:r>
          </a:p>
          <a:p xmlns:a="http://schemas.openxmlformats.org/drawingml/2006/main">
            <a:r>
              <a:t/>
            </a:r>
          </a:p>
          <a:p xmlns:a="http://schemas.openxmlformats.org/drawingml/2006/main">
            <a:r>
              <a:t>EXPLAIN</a:t>
            </a:r>
          </a:p>
          <a:p xmlns:a="http://schemas.openxmlformats.org/drawingml/2006/main">
            <a:r>
              <a:t>Distinguish an actual label from a predicted label.</a:t>
            </a:r>
          </a:p>
          <a:p xmlns:a="http://schemas.openxmlformats.org/drawingml/2006/main">
            <a:r>
              <a:t/>
            </a:r>
          </a:p>
          <a:p xmlns:a="http://schemas.openxmlformats.org/drawingml/2006/main">
            <a:r>
              <a:t>Count prediction outcomes and explain their costs.</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Three independently built classifiers, ROC/AUC and full threshold curves are extension after the basic matrix is secure.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Week 8 predicted a number. This week predicts a category and counts the different kinds of correct and incorrect result.</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Why this week’s tools are needed.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A warning system predicts a category. We compare each prediction with its recorded answer, then count false alarms and missed warnings using an explicit cost rule.</a:t>
            </a:r>
          </a:p>
          <a:p xmlns:a="http://schemas.openxmlformats.org/drawingml/2006/main">
            <a:r>
              <a:t/>
            </a:r>
          </a:p>
          <a:p xmlns:a="http://schemas.openxmlformats.org/drawingml/2006/main">
            <a:r>
              <a:t>LECTURER CUE</a:t>
            </a:r>
          </a:p>
          <a:p xmlns:a="http://schemas.openxmlformats.org/drawingml/2006/main">
            <a:r>
              <a:t>A building team records indoor temperature to investigate comfort. Civil students can discuss construction and inspection; architecture students can discuss shading and ventilation. Explain the quantities before using them.</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The positive class.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The positive class</a:t>
            </a:r>
          </a:p>
          <a:p xmlns:a="http://schemas.openxmlformats.org/drawingml/2006/main">
            <a:r>
              <a:t/>
            </a:r>
          </a:p>
          <a:p xmlns:a="http://schemas.openxmlformats.org/drawingml/2006/main">
            <a:r>
              <a:t>CONNECT</a:t>
            </a:r>
          </a:p>
          <a:p xmlns:a="http://schemas.openxmlformats.org/drawingml/2006/main">
            <a:r>
              <a:t>Previous slide: Why this week’s tools are needed.</a:t>
            </a:r>
          </a:p>
          <a:p xmlns:a="http://schemas.openxmlformats.org/drawingml/2006/main">
            <a:r>
              <a:t/>
            </a:r>
          </a:p>
          <a:p xmlns:a="http://schemas.openxmlformats.org/drawingml/2006/main">
            <a:r>
              <a:t>EXPLAIN</a:t>
            </a:r>
          </a:p>
          <a:p xmlns:a="http://schemas.openxmlformats.org/drawingml/2006/main">
            <a:r>
              <a:t>In this example, 1 means a warning is needed.</a:t>
            </a:r>
          </a:p>
          <a:p xmlns:a="http://schemas.openxmlformats.org/drawingml/2006/main">
            <a:r>
              <a:t/>
            </a:r>
          </a:p>
          <a:p xmlns:a="http://schemas.openxmlformats.org/drawingml/2006/main">
            <a:r>
              <a:t>0 means a warning is not needed.</a:t>
            </a:r>
          </a:p>
          <a:p xmlns:a="http://schemas.openxmlformats.org/drawingml/2006/main">
            <a:r>
              <a:t/>
            </a:r>
          </a:p>
          <a:p xmlns:a="http://schemas.openxmlformats.org/drawingml/2006/main">
            <a:r>
              <a:t>Actual is the reference label. Predicted is the model’s label.</a:t>
            </a:r>
          </a:p>
          <a:p xmlns:a="http://schemas.openxmlformats.org/drawingml/2006/main">
            <a:r>
              <a:t/>
            </a:r>
          </a:p>
          <a:p xmlns:a="http://schemas.openxmlformats.org/drawingml/2006/main">
            <a:r>
              <a:t>A false negative misses a real warning.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Class and positive label / TP and TN.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 and positive label / TP and TN</a:t>
            </a:r>
          </a:p>
          <a:p xmlns:a="http://schemas.openxmlformats.org/drawingml/2006/main">
            <a:r>
              <a:t/>
            </a:r>
          </a:p>
          <a:p xmlns:a="http://schemas.openxmlformats.org/drawingml/2006/main">
            <a:r>
              <a:t>CONNECT</a:t>
            </a:r>
          </a:p>
          <a:p xmlns:a="http://schemas.openxmlformats.org/drawingml/2006/main">
            <a:r>
              <a:t>Previous slide: The positive class.</a:t>
            </a:r>
          </a:p>
          <a:p xmlns:a="http://schemas.openxmlformats.org/drawingml/2006/main">
            <a:r>
              <a:t/>
            </a:r>
          </a:p>
          <a:p xmlns:a="http://schemas.openxmlformats.org/drawingml/2006/main">
            <a:r>
              <a:t>EXPLAIN</a:t>
            </a:r>
          </a:p>
          <a:p xmlns:a="http://schemas.openxmlformats.org/drawingml/2006/main">
            <a:r>
              <a:t>Class and positive label: A class is a category. Here 1 means warning and 0 means no warning. Positive means the named class, not good news.</a:t>
            </a:r>
          </a:p>
          <a:p xmlns:a="http://schemas.openxmlformats.org/drawingml/2006/main">
            <a:r>
              <a:t/>
            </a:r>
          </a:p>
          <a:p xmlns:a="http://schemas.openxmlformats.org/drawingml/2006/main">
            <a:r>
              <a:t>TP and TN: True positive is a correctly flagged warning. True negative is a correctly unflagged non-warning.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FP and FN.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FP and FN</a:t>
            </a:r>
          </a:p>
          <a:p xmlns:a="http://schemas.openxmlformats.org/drawingml/2006/main">
            <a:r>
              <a:t/>
            </a:r>
          </a:p>
          <a:p xmlns:a="http://schemas.openxmlformats.org/drawingml/2006/main">
            <a:r>
              <a:t>CONNECT</a:t>
            </a:r>
          </a:p>
          <a:p xmlns:a="http://schemas.openxmlformats.org/drawingml/2006/main">
            <a:r>
              <a:t>Previous slide: Class and positive label / TP and TN.</a:t>
            </a:r>
          </a:p>
          <a:p xmlns:a="http://schemas.openxmlformats.org/drawingml/2006/main">
            <a:r>
              <a:t/>
            </a:r>
          </a:p>
          <a:p xmlns:a="http://schemas.openxmlformats.org/drawingml/2006/main">
            <a:r>
              <a:t>EXPLAIN</a:t>
            </a:r>
          </a:p>
          <a:p xmlns:a="http://schemas.openxmlformats.org/drawingml/2006/main">
            <a:r>
              <a:t>FP and FN: False positive is a false alarm. False negative is a missed warning.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Actual and predicted describe different things.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Actual and predicted describe different things</a:t>
            </a:r>
          </a:p>
          <a:p xmlns:a="http://schemas.openxmlformats.org/drawingml/2006/main">
            <a:r>
              <a:t/>
            </a:r>
          </a:p>
          <a:p xmlns:a="http://schemas.openxmlformats.org/drawingml/2006/main">
            <a:r>
              <a:t>CONNECT</a:t>
            </a:r>
          </a:p>
          <a:p xmlns:a="http://schemas.openxmlformats.org/drawingml/2006/main">
            <a:r>
              <a:t>Previous slide: FP and FN.</a:t>
            </a:r>
          </a:p>
          <a:p xmlns:a="http://schemas.openxmlformats.org/drawingml/2006/main">
            <a:r>
              <a:t/>
            </a:r>
          </a:p>
          <a:p xmlns:a="http://schemas.openxmlformats.org/drawingml/2006/main">
            <a:r>
              <a:t>EXPLAIN</a:t>
            </a:r>
          </a:p>
          <a:p xmlns:a="http://schemas.openxmlformats.org/drawingml/2006/main">
            <a:r>
              <a:t>Actual is the recorded reference answer.</a:t>
            </a:r>
          </a:p>
          <a:p xmlns:a="http://schemas.openxmlformats.org/drawingml/2006/main">
            <a:r>
              <a:t/>
            </a:r>
          </a:p>
          <a:p xmlns:a="http://schemas.openxmlformats.org/drawingml/2006/main">
            <a:r>
              <a:t>Predicted is the answer produced by our model.</a:t>
            </a:r>
          </a:p>
          <a:p xmlns:a="http://schemas.openxmlformats.org/drawingml/2006/main">
            <a:r>
              <a:t/>
            </a:r>
          </a:p>
          <a:p xmlns:a="http://schemas.openxmlformats.org/drawingml/2006/main">
            <a:r>
              <a:t>A correct prediction matches the reference. Class 1 means warning in this example.</a:t>
            </a:r>
          </a:p>
          <a:p xmlns:a="http://schemas.openxmlformats.org/drawingml/2006/main">
            <a:r>
              <a:t/>
            </a:r>
          </a:p>
          <a:p xmlns:a="http://schemas.openxmlformats.org/drawingml/2006/main">
            <a:r>
              <a:t>LECTURER CUE</a:t>
            </a:r>
          </a:p>
          <a:p xmlns:a="http://schemas.openxmlformats.org/drawingml/2006/main">
            <a:r>
              <a:t>Place four paper observations in a table of actual label and predicted label. Classify each before showing the four-cell matrix. State which axis is actual and which is predicted.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Every paired result belongs in one cell.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Every paired result belongs in one cell</a:t>
            </a:r>
          </a:p>
          <a:p xmlns:a="http://schemas.openxmlformats.org/drawingml/2006/main">
            <a:r>
              <a:t/>
            </a:r>
          </a:p>
          <a:p xmlns:a="http://schemas.openxmlformats.org/drawingml/2006/main">
            <a:r>
              <a:t>CONNECT</a:t>
            </a:r>
          </a:p>
          <a:p xmlns:a="http://schemas.openxmlformats.org/drawingml/2006/main">
            <a:r>
              <a:t>Previous slide: Actual and predicted describe different things.</a:t>
            </a:r>
          </a:p>
          <a:p xmlns:a="http://schemas.openxmlformats.org/drawingml/2006/main">
            <a:r>
              <a:t/>
            </a:r>
          </a:p>
          <a:p xmlns:a="http://schemas.openxmlformats.org/drawingml/2006/main">
            <a:r>
              <a:t>EXPLAIN</a:t>
            </a:r>
          </a:p>
          <a:p xmlns:a="http://schemas.openxmlformats.org/drawingml/2006/main">
            <a:r>
              <a:t>Read actual first, then predicted. Explain the missed warning.</a:t>
            </a:r>
          </a:p>
          <a:p xmlns:a="http://schemas.openxmlformats.org/drawingml/2006/main">
            <a:r>
              <a:t/>
            </a:r>
          </a:p>
          <a:p xmlns:a="http://schemas.openxmlformats.org/drawingml/2006/main">
            <a:r>
              <a:t>LECTURER CUE</a:t>
            </a:r>
          </a:p>
          <a:p xmlns:a="http://schemas.openxmlformats.org/drawingml/2006/main">
            <a:r>
              <a:t>Ask students to describe what they see before introducing terminology. Generated conceptual teaching illustration.  Source: figs/experiential/ASSET_SOURCES.md.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The four kinds of result.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The four kinds of result</a:t>
            </a:r>
          </a:p>
          <a:p xmlns:a="http://schemas.openxmlformats.org/drawingml/2006/main">
            <a:r>
              <a:t/>
            </a:r>
          </a:p>
          <a:p xmlns:a="http://schemas.openxmlformats.org/drawingml/2006/main">
            <a:r>
              <a:t>CONNECT</a:t>
            </a:r>
          </a:p>
          <a:p xmlns:a="http://schemas.openxmlformats.org/drawingml/2006/main">
            <a:r>
              <a:t>Previous slide: Every paired result belongs in one cell.</a:t>
            </a:r>
          </a:p>
          <a:p xmlns:a="http://schemas.openxmlformats.org/drawingml/2006/main">
            <a:r>
              <a:t/>
            </a:r>
          </a:p>
          <a:p xmlns:a="http://schemas.openxmlformats.org/drawingml/2006/main">
            <a:r>
              <a:t>EXPLAIN</a:t>
            </a:r>
          </a:p>
          <a:p xmlns:a="http://schemas.openxmlformats.org/drawingml/2006/main">
            <a:r>
              <a:t>Actual / Predicted | Warning 1 | No warning 0</a:t>
            </a:r>
          </a:p>
          <a:p xmlns:a="http://schemas.openxmlformats.org/drawingml/2006/main">
            <a:r>
              <a:t/>
            </a:r>
          </a:p>
          <a:p xmlns:a="http://schemas.openxmlformats.org/drawingml/2006/main">
            <a:r>
              <a:t>Warning 1 | TP = 1 | FN = 1</a:t>
            </a:r>
          </a:p>
          <a:p xmlns:a="http://schemas.openxmlformats.org/drawingml/2006/main">
            <a:r>
              <a:t/>
            </a:r>
          </a:p>
          <a:p xmlns:a="http://schemas.openxmlformats.org/drawingml/2006/main">
            <a:r>
              <a:t>No warning 0 | FP = 1 | TN = 1</a:t>
            </a:r>
          </a:p>
          <a:p xmlns:a="http://schemas.openxmlformats.org/drawingml/2006/main">
            <a:r>
              <a:t/>
            </a:r>
          </a:p>
          <a:p xmlns:a="http://schemas.openxmlformats.org/drawingml/2006/main">
            <a:r>
              <a:t>Rows are actual and columns are predicted.</a:t>
            </a:r>
          </a:p>
          <a:p xmlns:a="http://schemas.openxmlformats.org/drawingml/2006/main">
            <a:r>
              <a:t/>
            </a:r>
          </a:p>
          <a:p xmlns:a="http://schemas.openxmlformats.org/drawingml/2006/main">
            <a:r>
              <a:t>LECTURER CUE</a:t>
            </a:r>
          </a:p>
          <a:p xmlns:a="http://schemas.openxmlformats.org/drawingml/2006/main">
            <a:r>
              <a:t>Rows are actual and columns are predicted. Read each paired observation into exactly one cell. Precision = 1/2. Recall = 1/2. Cost = 5 × FN + FP = 6 under this invented cost rule.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Precision / Recall.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Precision / Recall</a:t>
            </a:r>
          </a:p>
          <a:p xmlns:a="http://schemas.openxmlformats.org/drawingml/2006/main">
            <a:r>
              <a:t/>
            </a:r>
          </a:p>
          <a:p xmlns:a="http://schemas.openxmlformats.org/drawingml/2006/main">
            <a:r>
              <a:t>CONNECT</a:t>
            </a:r>
          </a:p>
          <a:p xmlns:a="http://schemas.openxmlformats.org/drawingml/2006/main">
            <a:r>
              <a:t>Previous slide: The four kinds of result.</a:t>
            </a:r>
          </a:p>
          <a:p xmlns:a="http://schemas.openxmlformats.org/drawingml/2006/main">
            <a:r>
              <a:t/>
            </a:r>
          </a:p>
          <a:p xmlns:a="http://schemas.openxmlformats.org/drawingml/2006/main">
            <a:r>
              <a:t>EXPLAIN</a:t>
            </a:r>
          </a:p>
          <a:p xmlns:a="http://schemas.openxmlformats.org/drawingml/2006/main">
            <a:r>
              <a:t>Precision: Of all predicted warnings, the fraction that were actual warnings: TP / (TP + FP).</a:t>
            </a:r>
          </a:p>
          <a:p xmlns:a="http://schemas.openxmlformats.org/drawingml/2006/main">
            <a:r>
              <a:t/>
            </a:r>
          </a:p>
          <a:p xmlns:a="http://schemas.openxmlformats.org/drawingml/2006/main">
            <a:r>
              <a:t>Recall: Of all actual warnings, the fraction detected: TP / (TP + FN).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Precision and recall.</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Precision and recall</a:t>
            </a:r>
          </a:p>
          <a:p xmlns:a="http://schemas.openxmlformats.org/drawingml/2006/main">
            <a:r>
              <a:t/>
            </a:r>
          </a:p>
          <a:p xmlns:a="http://schemas.openxmlformats.org/drawingml/2006/main">
            <a:r>
              <a:t>CONNECT</a:t>
            </a:r>
          </a:p>
          <a:p xmlns:a="http://schemas.openxmlformats.org/drawingml/2006/main">
            <a:r>
              <a:t>Previous slide: Precision / Recall.</a:t>
            </a:r>
          </a:p>
          <a:p xmlns:a="http://schemas.openxmlformats.org/drawingml/2006/main">
            <a:r>
              <a:t/>
            </a:r>
          </a:p>
          <a:p xmlns:a="http://schemas.openxmlformats.org/drawingml/2006/main">
            <a:r>
              <a:t>EXPLAIN</a:t>
            </a:r>
          </a:p>
          <a:p xmlns:a="http://schemas.openxmlformats.org/drawingml/2006/main">
            <a:r>
              <a:t>Precision asks: of the warnings raised, how many were correct?</a:t>
            </a:r>
          </a:p>
          <a:p xmlns:a="http://schemas.openxmlformats.org/drawingml/2006/main">
            <a:r>
              <a:t/>
            </a:r>
          </a:p>
          <a:p xmlns:a="http://schemas.openxmlformats.org/drawingml/2006/main">
            <a:r>
              <a:t>Recall asks: of the real warnings, how many did we detect?</a:t>
            </a:r>
          </a:p>
          <a:p xmlns:a="http://schemas.openxmlformats.org/drawingml/2006/main">
            <a:r>
              <a:t/>
            </a:r>
          </a:p>
          <a:p xmlns:a="http://schemas.openxmlformats.org/drawingml/2006/main">
            <a:r>
              <a:t>A zero denominator needs an explicit rule.</a:t>
            </a:r>
          </a:p>
          <a:p xmlns:a="http://schemas.openxmlformats.org/drawingml/2006/main">
            <a:r>
              <a:t/>
            </a:r>
          </a:p>
          <a:p xmlns:a="http://schemas.openxmlformats.org/drawingml/2006/main">
            <a:r>
              <a:t>Use the rule in your task brief when implementing the function.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Probability and a decision threshold.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Probability and a decision threshold</a:t>
            </a:r>
          </a:p>
          <a:p xmlns:a="http://schemas.openxmlformats.org/drawingml/2006/main">
            <a:r>
              <a:t/>
            </a:r>
          </a:p>
          <a:p xmlns:a="http://schemas.openxmlformats.org/drawingml/2006/main">
            <a:r>
              <a:t>CONNECT</a:t>
            </a:r>
          </a:p>
          <a:p xmlns:a="http://schemas.openxmlformats.org/drawingml/2006/main">
            <a:r>
              <a:t>Previous slide: Precision and recall.</a:t>
            </a:r>
          </a:p>
          <a:p xmlns:a="http://schemas.openxmlformats.org/drawingml/2006/main">
            <a:r>
              <a:t/>
            </a:r>
          </a:p>
          <a:p xmlns:a="http://schemas.openxmlformats.org/drawingml/2006/main">
            <a:r>
              <a:t>EXPLAIN</a:t>
            </a:r>
          </a:p>
          <a:p xmlns:a="http://schemas.openxmlformats.org/drawingml/2006/main">
            <a:r>
              <a:t>Probability: A probability is between 0 and 1. Multiply by 100 for percent: 0.7 is 70%. A model’s probability is an estimate that needs checking.</a:t>
            </a:r>
          </a:p>
          <a:p xmlns:a="http://schemas.openxmlformats.org/drawingml/2006/main">
            <a:r>
              <a:t/>
            </a:r>
          </a:p>
          <a:p xmlns:a="http://schemas.openxmlformats.org/drawingml/2006/main">
            <a:r>
              <a:t>Threshold: A threshold turns a score into a decision. For a rule score &gt;= 0.5, a score of 0.7 gives class 1. Use validation data to choose the threshold.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Apply one stated decision threshold.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Apply one stated decision threshold</a:t>
            </a:r>
          </a:p>
          <a:p xmlns:a="http://schemas.openxmlformats.org/drawingml/2006/main">
            <a:r>
              <a:t/>
            </a:r>
          </a:p>
          <a:p xmlns:a="http://schemas.openxmlformats.org/drawingml/2006/main">
            <a:r>
              <a:t>CONNECT</a:t>
            </a:r>
          </a:p>
          <a:p xmlns:a="http://schemas.openxmlformats.org/drawingml/2006/main">
            <a:r>
              <a:t>Previous slide: Probability and a decision threshold.</a:t>
            </a:r>
          </a:p>
          <a:p xmlns:a="http://schemas.openxmlformats.org/drawingml/2006/main">
            <a:r>
              <a:t/>
            </a:r>
          </a:p>
          <a:p xmlns:a="http://schemas.openxmlformats.org/drawingml/2006/main">
            <a:r>
              <a:t>EXPLAIN</a:t>
            </a:r>
          </a:p>
          <a:p xmlns:a="http://schemas.openxmlformats.org/drawingml/2006/main">
            <a:r>
              <a:t>Estimated positive probability | At least 0.5? | Decision</a:t>
            </a:r>
          </a:p>
          <a:p xmlns:a="http://schemas.openxmlformats.org/drawingml/2006/main">
            <a:r>
              <a:t/>
            </a:r>
          </a:p>
          <a:p xmlns:a="http://schemas.openxmlformats.org/drawingml/2006/main">
            <a:r>
              <a:t>0.20 | No | Class 0</a:t>
            </a:r>
          </a:p>
          <a:p xmlns:a="http://schemas.openxmlformats.org/drawingml/2006/main">
            <a:r>
              <a:t/>
            </a:r>
          </a:p>
          <a:p xmlns:a="http://schemas.openxmlformats.org/drawingml/2006/main">
            <a:r>
              <a:t>0.50 | Yes | Class 1</a:t>
            </a:r>
          </a:p>
          <a:p xmlns:a="http://schemas.openxmlformats.org/drawingml/2006/main">
            <a:r>
              <a:t/>
            </a:r>
          </a:p>
          <a:p xmlns:a="http://schemas.openxmlformats.org/drawingml/2006/main">
            <a:r>
              <a:t>0.80 | Yes | Class 1</a:t>
            </a:r>
          </a:p>
          <a:p xmlns:a="http://schemas.openxmlformats.org/drawingml/2006/main">
            <a:r>
              <a:t/>
            </a:r>
          </a:p>
          <a:p xmlns:a="http://schemas.openxmlformats.org/drawingml/2006/main">
            <a:r>
              <a:t>0.5 means 50%. This rule includes equality. A probability is an estimate, not a promise that one case is correct.</a:t>
            </a:r>
          </a:p>
          <a:p xmlns:a="http://schemas.openxmlformats.org/drawingml/2006/main">
            <a:r>
              <a:t/>
            </a:r>
          </a:p>
          <a:p xmlns:a="http://schemas.openxmlformats.org/drawingml/2006/main">
            <a:r>
              <a:t>Read the rows in order. 0.5 means 50%. This rule includes equality. A probability is an estimate, not a promise that one case is correct.</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category decision can use a probability.</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category decision can use a probability</a:t>
            </a:r>
          </a:p>
          <a:p xmlns:a="http://schemas.openxmlformats.org/drawingml/2006/main">
            <a:r>
              <a:t/>
            </a:r>
          </a:p>
          <a:p xmlns:a="http://schemas.openxmlformats.org/drawingml/2006/main">
            <a:r>
              <a:t>CONNECT</a:t>
            </a:r>
          </a:p>
          <a:p xmlns:a="http://schemas.openxmlformats.org/drawingml/2006/main">
            <a:r>
              <a:t>Previous slide: Apply one stated decision threshold.</a:t>
            </a:r>
          </a:p>
          <a:p xmlns:a="http://schemas.openxmlformats.org/drawingml/2006/main">
            <a:r>
              <a:t/>
            </a:r>
          </a:p>
          <a:p xmlns:a="http://schemas.openxmlformats.org/drawingml/2006/main">
            <a:r>
              <a:t>EXPLAIN</a:t>
            </a:r>
          </a:p>
          <a:p xmlns:a="http://schemas.openxmlformats.org/drawingml/2006/main">
            <a:r>
              <a:t>A classifier may estimate the probability of class 1.</a:t>
            </a:r>
          </a:p>
          <a:p xmlns:a="http://schemas.openxmlformats.org/drawingml/2006/main">
            <a:r>
              <a:t/>
            </a:r>
          </a:p>
          <a:p xmlns:a="http://schemas.openxmlformats.org/drawingml/2006/main">
            <a:r>
              <a:t>A threshold converts that estimate into warning or no warning.</a:t>
            </a:r>
          </a:p>
          <a:p xmlns:a="http://schemas.openxmlformats.org/drawingml/2006/main">
            <a:r>
              <a:t/>
            </a:r>
          </a:p>
          <a:p xmlns:a="http://schemas.openxmlformats.org/drawingml/2006/main">
            <a:r>
              <a:t>Logistic regression is a classification model. Its probability estimates still need evaluation.</a:t>
            </a:r>
          </a:p>
          <a:p xmlns:a="http://schemas.openxmlformats.org/drawingml/2006/main">
            <a:r>
              <a:t/>
            </a:r>
          </a:p>
          <a:p xmlns:a="http://schemas.openxmlformats.org/drawingml/2006/main">
            <a:r>
              <a:t>LECTURER CUE</a:t>
            </a:r>
          </a:p>
          <a:p xmlns:a="http://schemas.openxmlformats.org/drawingml/2006/main">
            <a:r>
              <a:t>Only after the count exercise, show a classifier fit/predict demonstration. Logistic regression predicts a category despite its name. Probability estimates need not be well calibrated.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Threshold and cost.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Threshold and cost</a:t>
            </a:r>
          </a:p>
          <a:p xmlns:a="http://schemas.openxmlformats.org/drawingml/2006/main">
            <a:r>
              <a:t/>
            </a:r>
          </a:p>
          <a:p xmlns:a="http://schemas.openxmlformats.org/drawingml/2006/main">
            <a:r>
              <a:t>CONNECT</a:t>
            </a:r>
          </a:p>
          <a:p xmlns:a="http://schemas.openxmlformats.org/drawingml/2006/main">
            <a:r>
              <a:t>Previous slide: A category decision can use a probability.</a:t>
            </a:r>
          </a:p>
          <a:p xmlns:a="http://schemas.openxmlformats.org/drawingml/2006/main">
            <a:r>
              <a:t/>
            </a:r>
          </a:p>
          <a:p xmlns:a="http://schemas.openxmlformats.org/drawingml/2006/main">
            <a:r>
              <a:t>EXPLAIN</a:t>
            </a:r>
          </a:p>
          <a:p xmlns:a="http://schemas.openxmlformats.org/drawingml/2006/main">
            <a:r>
              <a:t>Threshold and cost: A threshold converts a score to a decision. A cost rule states how much each type of mistake matters. Lower thresholds usually increase recall; precision need not decrease at every step.</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State the cost rule before calculating.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State the cost rule before calculating</a:t>
            </a:r>
          </a:p>
          <a:p xmlns:a="http://schemas.openxmlformats.org/drawingml/2006/main">
            <a:r>
              <a:t/>
            </a:r>
          </a:p>
          <a:p xmlns:a="http://schemas.openxmlformats.org/drawingml/2006/main">
            <a:r>
              <a:t>CONNECT</a:t>
            </a:r>
          </a:p>
          <a:p xmlns:a="http://schemas.openxmlformats.org/drawingml/2006/main">
            <a:r>
              <a:t>Previous slide: Threshold and cost.</a:t>
            </a:r>
          </a:p>
          <a:p xmlns:a="http://schemas.openxmlformats.org/drawingml/2006/main">
            <a:r>
              <a:t/>
            </a:r>
          </a:p>
          <a:p xmlns:a="http://schemas.openxmlformats.org/drawingml/2006/main">
            <a:r>
              <a:t>EXPLAIN</a:t>
            </a:r>
          </a:p>
          <a:p xmlns:a="http://schemas.openxmlformats.org/drawingml/2006/main">
            <a:r>
              <a:t>A cost rule assigns a penalty to each kind of mistake. In this teaching example, a missed warning costs 5 units and a false alarm costs 1 unit.</a:t>
            </a:r>
          </a:p>
          <a:p xmlns:a="http://schemas.openxmlformats.org/drawingml/2006/main">
            <a:r>
              <a:t/>
            </a:r>
          </a:p>
          <a:p xmlns:a="http://schemas.openxmlformats.org/drawingml/2006/main">
            <a:r>
              <a:t>Total cost = 5 × FN + FP. One missed warning and one false alarm therefore cost 6 units.</a:t>
            </a:r>
          </a:p>
          <a:p xmlns:a="http://schemas.openxmlformats.org/drawingml/2006/main">
            <a:r>
              <a:t/>
            </a:r>
          </a:p>
          <a:p xmlns:a="http://schemas.openxmlformats.org/drawingml/2006/main">
            <a:r>
              <a:t>These are invented teaching penalties. Use the published assignment cost rule and explain whose consequences it represents.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syntax in the example.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syntax in the example</a:t>
            </a:r>
          </a:p>
          <a:p xmlns:a="http://schemas.openxmlformats.org/drawingml/2006/main">
            <a:r>
              <a:t/>
            </a:r>
          </a:p>
          <a:p xmlns:a="http://schemas.openxmlformats.org/drawingml/2006/main">
            <a:r>
              <a:t>CONNECT</a:t>
            </a:r>
          </a:p>
          <a:p xmlns:a="http://schemas.openxmlformats.org/drawingml/2006/main">
            <a:r>
              <a:t>Previous slide: State the cost rule before calculating.</a:t>
            </a:r>
          </a:p>
          <a:p xmlns:a="http://schemas.openxmlformats.org/drawingml/2006/main">
            <a:r>
              <a:t/>
            </a:r>
          </a:p>
          <a:p xmlns:a="http://schemas.openxmlformats.org/drawingml/2006/main">
            <a:r>
              <a:t>EXPLAIN</a:t>
            </a:r>
          </a:p>
          <a:p xmlns:a="http://schemas.openxmlformats.org/drawingml/2006/main">
            <a:r>
              <a:t>Code | Equivalent idea</a:t>
            </a:r>
          </a:p>
          <a:p xmlns:a="http://schemas.openxmlformats.org/drawingml/2006/main">
            <a:r>
              <a:t/>
            </a:r>
          </a:p>
          <a:p xmlns:a="http://schemas.openxmlformats.org/drawingml/2006/main">
            <a:r>
              <a:t>tp = tn = fp = fn = 0 | Set each of four counts to zero</a:t>
            </a:r>
          </a:p>
          <a:p xmlns:a="http://schemas.openxmlformats.org/drawingml/2006/main">
            <a:r>
              <a:t/>
            </a:r>
          </a:p>
          <a:p xmlns:a="http://schemas.openxmlformats.org/drawingml/2006/main">
            <a:r>
              <a:t>tp += 1 | tp = tp + 1</a:t>
            </a:r>
          </a:p>
          <a:p xmlns:a="http://schemas.openxmlformats.org/drawingml/2006/main">
            <a:r>
              <a:t/>
            </a:r>
          </a:p>
          <a:p xmlns:a="http://schemas.openxmlformats.org/drawingml/2006/main">
            <a:r>
              <a:t>zip(actual, predicted) | Pair items in the same positions</a:t>
            </a:r>
          </a:p>
          <a:p xmlns:a="http://schemas.openxmlformats.org/drawingml/2006/main">
            <a:r>
              <a:t/>
            </a:r>
          </a:p>
          <a:p xmlns:a="http://schemas.openxmlformats.org/drawingml/2006/main">
            <a:r>
              <a:t>elif condition: | Try this branch if earlier ones failed</a:t>
            </a:r>
          </a:p>
          <a:p xmlns:a="http://schemas.openxmlformats.org/drawingml/2006/main">
            <a:r>
              <a:t/>
            </a:r>
          </a:p>
          <a:p xmlns:a="http://schemas.openxmlformats.org/drawingml/2006/main">
            <a:r>
              <a:t>Our paired lists must have matching lengths. zip alone stops at the shorter list.</a:t>
            </a:r>
          </a:p>
          <a:p xmlns:a="http://schemas.openxmlformats.org/drawingml/2006/main">
            <a:r>
              <a:t/>
            </a:r>
          </a:p>
          <a:p xmlns:a="http://schemas.openxmlformats.org/drawingml/2006/main">
            <a:r>
              <a:t>LECTURER CUE</a:t>
            </a:r>
          </a:p>
          <a:p xmlns:a="http://schemas.openxmlformats.org/drawingml/2006/main">
            <a:r>
              <a:t>Read one row at a time and use a changed value. This is a syntax reference for the worked examples.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outcomes in Python</a:t>
            </a:r>
          </a:p>
          <a:p xmlns:a="http://schemas.openxmlformats.org/drawingml/2006/main">
            <a:r>
              <a:t/>
            </a:r>
          </a:p>
          <a:p xmlns:a="http://schemas.openxmlformats.org/drawingml/2006/main">
            <a:r>
              <a:t>CONNECT</a:t>
            </a:r>
          </a:p>
          <a:p xmlns:a="http://schemas.openxmlformats.org/drawingml/2006/main">
            <a:r>
              <a:t>Previous slide: Counting syntax in the example.</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actual = [1, 1, 0, 0]</a:t>
            </a:r>
          </a:p>
          <a:p xmlns:a="http://schemas.openxmlformats.org/drawingml/2006/main">
            <a:r>
              <a:t>predicted = [1, 0, 1, 0]</a:t>
            </a:r>
          </a:p>
          <a:p xmlns:a="http://schemas.openxmlformats.org/drawingml/2006/main">
            <a:r>
              <a:t>for truth, guess in zip(actual, predicted):</a:t>
            </a:r>
          </a:p>
          <a:p xmlns:a="http://schemas.openxmlformats.org/drawingml/2006/main">
            <a:r>
              <a:t>    print(truth, guess)</a:t>
            </a:r>
          </a:p>
          <a:p xmlns:a="http://schemas.openxmlformats.org/drawingml/2006/main">
            <a:r>
              <a:t># Count the four categories on paper before calculating.</a:t>
            </a:r>
          </a:p>
          <a:p xmlns:a="http://schemas.openxmlformats.org/drawingml/2006/main">
            <a:r>
              <a:t>tp, fn, fp, tn = 1, 1, 1, 1</a:t>
            </a:r>
          </a:p>
          <a:p xmlns:a="http://schemas.openxmlformats.org/drawingml/2006/main">
            <a:r>
              <a:t>print(tp / (tp + fp))</a:t>
            </a:r>
          </a:p>
          <a:p xmlns:a="http://schemas.openxmlformats.org/drawingml/2006/main">
            <a:r>
              <a:t>print(tp / (tp + fn))</a:t>
            </a:r>
          </a:p>
          <a:p xmlns:a="http://schemas.openxmlformats.org/drawingml/2006/main">
            <a:r>
              <a:t>print(5 * fn + fp)</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zip pairs items at matching positions in these equal-length lists.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Place four paper observations in a table of actual label and predicted label. Classify each before showing the four-cell matrix. State which axis is actual and which is predicted. Use counts before fractions. The denominator of precision is predicted positives; the denominator of recall is actual positives. Explain what happens if either denominator is zero. Only after the count exercise, show a classifier fit/predict demonstration. Logistic regression predicts a category despite its name. Probability estimates need not be well calibrated.</a:t>
            </a:r>
          </a:p>
          <a:p xmlns:a="http://schemas.openxmlformats.org/drawingml/2006/main">
            <a:r>
              <a:t/>
            </a:r>
          </a:p>
          <a:p xmlns:a="http://schemas.openxmlformats.org/drawingml/2006/main">
            <a:r>
              <a:t>Complete practice code:</a:t>
            </a:r>
          </a:p>
          <a:p xmlns:a="http://schemas.openxmlformats.org/drawingml/2006/main">
            <a:r>
              <a:t>actual = [1, 1, 0, 0]</a:t>
            </a:r>
          </a:p>
          <a:p xmlns:a="http://schemas.openxmlformats.org/drawingml/2006/main">
            <a:r>
              <a:t>predicted = [1, 0, 1, 0]</a:t>
            </a:r>
          </a:p>
          <a:p xmlns:a="http://schemas.openxmlformats.org/drawingml/2006/main">
            <a:r>
              <a:t>for truth, guess in zip(actual, predicted):</a:t>
            </a:r>
          </a:p>
          <a:p xmlns:a="http://schemas.openxmlformats.org/drawingml/2006/main">
            <a:r>
              <a:t>    print(truth, guess)</a:t>
            </a:r>
          </a:p>
          <a:p xmlns:a="http://schemas.openxmlformats.org/drawingml/2006/main">
            <a:r>
              <a:t># Count the four categories on paper before calculating.</a:t>
            </a:r>
          </a:p>
          <a:p xmlns:a="http://schemas.openxmlformats.org/drawingml/2006/main">
            <a:r>
              <a:t>tp, fn, fp, tn = 1, 1, 1, 1</a:t>
            </a:r>
          </a:p>
          <a:p xmlns:a="http://schemas.openxmlformats.org/drawingml/2006/main">
            <a:r>
              <a:t>print(tp / (tp + fp))</a:t>
            </a:r>
          </a:p>
          <a:p xmlns:a="http://schemas.openxmlformats.org/drawingml/2006/main">
            <a:r>
              <a:t>print(tp / (tp + fn))</a:t>
            </a:r>
          </a:p>
          <a:p xmlns:a="http://schemas.openxmlformats.org/drawingml/2006/main">
            <a:r>
              <a:t>print(5 * fn + fp)</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Expected output.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outcomes results</a:t>
            </a:r>
          </a:p>
          <a:p xmlns:a="http://schemas.openxmlformats.org/drawingml/2006/main">
            <a:r>
              <a:t/>
            </a:r>
          </a:p>
          <a:p xmlns:a="http://schemas.openxmlformats.org/drawingml/2006/main">
            <a:r>
              <a:t>CONNECT</a:t>
            </a:r>
          </a:p>
          <a:p xmlns:a="http://schemas.openxmlformats.org/drawingml/2006/main">
            <a:r>
              <a:t>Previous slide: Classification outcomes in Python.</a:t>
            </a:r>
          </a:p>
          <a:p xmlns:a="http://schemas.openxmlformats.org/drawingml/2006/main">
            <a:r>
              <a:t/>
            </a:r>
          </a:p>
          <a:p xmlns:a="http://schemas.openxmlformats.org/drawingml/2006/main">
            <a:r>
              <a:t>EXPLAIN</a:t>
            </a:r>
          </a:p>
          <a:p xmlns:a="http://schemas.openxmlformats.org/drawingml/2006/main">
            <a:r>
              <a:t>Four paired rows, then precision 0.5, recall 0.5 and teaching cost 6.</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four counters.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four counters</a:t>
            </a:r>
          </a:p>
          <a:p xmlns:a="http://schemas.openxmlformats.org/drawingml/2006/main">
            <a:r>
              <a:t/>
            </a:r>
          </a:p>
          <a:p xmlns:a="http://schemas.openxmlformats.org/drawingml/2006/main">
            <a:r>
              <a:t>CONNECT</a:t>
            </a:r>
          </a:p>
          <a:p xmlns:a="http://schemas.openxmlformats.org/drawingml/2006/main">
            <a:r>
              <a:t>Previous slide: Classification outcomes results.</a:t>
            </a:r>
          </a:p>
          <a:p xmlns:a="http://schemas.openxmlformats.org/drawingml/2006/main">
            <a:r>
              <a:t/>
            </a:r>
          </a:p>
          <a:p xmlns:a="http://schemas.openxmlformats.org/drawingml/2006/main">
            <a:r>
              <a:t>EXPLAIN</a:t>
            </a:r>
          </a:p>
          <a:p xmlns:a="http://schemas.openxmlformats.org/drawingml/2006/main">
            <a:r>
              <a:t>Actual, predicted | Chosen counter | Counts: TP TN FP FN</a:t>
            </a:r>
          </a:p>
          <a:p xmlns:a="http://schemas.openxmlformats.org/drawingml/2006/main">
            <a:r>
              <a:t/>
            </a:r>
          </a:p>
          <a:p xmlns:a="http://schemas.openxmlformats.org/drawingml/2006/main">
            <a:r>
              <a:t>1, 1 | TP increases | 1 0 0 0</a:t>
            </a:r>
          </a:p>
          <a:p xmlns:a="http://schemas.openxmlformats.org/drawingml/2006/main">
            <a:r>
              <a:t/>
            </a:r>
          </a:p>
          <a:p xmlns:a="http://schemas.openxmlformats.org/drawingml/2006/main">
            <a:r>
              <a:t>1, 0 | FN increases | 1 0 0 1</a:t>
            </a:r>
          </a:p>
          <a:p xmlns:a="http://schemas.openxmlformats.org/drawingml/2006/main">
            <a:r>
              <a:t/>
            </a:r>
          </a:p>
          <a:p xmlns:a="http://schemas.openxmlformats.org/drawingml/2006/main">
            <a:r>
              <a:t>0, 1 | FP increases | 1 0 1 1</a:t>
            </a:r>
          </a:p>
          <a:p xmlns:a="http://schemas.openxmlformats.org/drawingml/2006/main">
            <a:r>
              <a:t/>
            </a:r>
          </a:p>
          <a:p xmlns:a="http://schemas.openxmlformats.org/drawingml/2006/main">
            <a:r>
              <a:t>0, 0 | TN increases | 1 1 1 1</a:t>
            </a:r>
          </a:p>
          <a:p xmlns:a="http://schemas.openxmlformats.org/drawingml/2006/main">
            <a:r>
              <a:t/>
            </a:r>
          </a:p>
          <a:p xmlns:a="http://schemas.openxmlformats.org/drawingml/2006/main">
            <a:r>
              <a:t>All counts start at zero. Each observation follows exactly one if/elif/else branch.</a:t>
            </a:r>
          </a:p>
          <a:p xmlns:a="http://schemas.openxmlformats.org/drawingml/2006/main">
            <a:r>
              <a:t/>
            </a:r>
          </a:p>
          <a:p xmlns:a="http://schemas.openxmlformats.org/drawingml/2006/main">
            <a:r>
              <a:t>Read the rows in order. All counts start at zero. Each observation follows exactly one if/elif/else branch.</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a:t>
            </a:r>
          </a:p>
          <a:p xmlns:a="http://schemas.openxmlformats.org/drawingml/2006/main">
            <a:r>
              <a:t/>
            </a:r>
          </a:p>
          <a:p xmlns:a="http://schemas.openxmlformats.org/drawingml/2006/main">
            <a:r>
              <a:t>CONNECT</a:t>
            </a:r>
          </a:p>
          <a:p xmlns:a="http://schemas.openxmlformats.org/drawingml/2006/main">
            <a:r>
              <a:t>Previous slide: Trace the four counters.</a:t>
            </a:r>
          </a:p>
          <a:p xmlns:a="http://schemas.openxmlformats.org/drawingml/2006/main">
            <a:r>
              <a:t/>
            </a:r>
          </a:p>
          <a:p xmlns:a="http://schemas.openxmlformats.org/drawingml/2006/main">
            <a:r>
              <a:t>EXPLAIN</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tp = tn = fp = fn = 0 sets all four counters to zero. tp += 1 is shorthand for tp = tp + 1.</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 in Python (1/3).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 in Python (1/3)</a:t>
            </a:r>
          </a:p>
          <a:p xmlns:a="http://schemas.openxmlformats.org/drawingml/2006/main">
            <a:r>
              <a:t/>
            </a:r>
          </a:p>
          <a:p xmlns:a="http://schemas.openxmlformats.org/drawingml/2006/main">
            <a:r>
              <a:t>CONNECT</a:t>
            </a:r>
          </a:p>
          <a:p xmlns:a="http://schemas.openxmlformats.org/drawingml/2006/main">
            <a:r>
              <a:t>Previous slide: Counting arbitrary paired observations.</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tp = tn = fp = fn = 0</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Complete practice code:</a:t>
            </a:r>
          </a:p>
          <a:p xmlns:a="http://schemas.openxmlformats.org/drawingml/2006/main">
            <a:r>
              <a:t>tp = tn = fp = fn = 0</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print(tp, tn, fp, fn)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 in Python (2/3).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 in Python (2/3)</a:t>
            </a:r>
          </a:p>
          <a:p xmlns:a="http://schemas.openxmlformats.org/drawingml/2006/main">
            <a:r>
              <a:t/>
            </a:r>
          </a:p>
          <a:p xmlns:a="http://schemas.openxmlformats.org/drawingml/2006/main">
            <a:r>
              <a:t>CONNECT</a:t>
            </a:r>
          </a:p>
          <a:p xmlns:a="http://schemas.openxmlformats.org/drawingml/2006/main">
            <a:r>
              <a:t>Previous slide: Counting arbitrary paired observations in Python (1/3).</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if tests a condition. The chosen indented block runs.</a:t>
            </a:r>
          </a:p>
          <a:p xmlns:a="http://schemas.openxmlformats.org/drawingml/2006/main">
            <a:r>
              <a:t/>
            </a:r>
          </a:p>
          <a:p xmlns:a="http://schemas.openxmlformats.org/drawingml/2006/main">
            <a:r>
              <a:t>zip pairs items at matching positions in these equal-length lists.</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Complete practice code:</a:t>
            </a:r>
          </a:p>
          <a:p xmlns:a="http://schemas.openxmlformats.org/drawingml/2006/main">
            <a:r>
              <a:t>tp = tn = fp = fn = 0</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print(tp, tn, fp, fn)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Counting arbitrary paired observations in Python (3/3).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Counting arbitrary paired observations in Python (3/3)</a:t>
            </a:r>
          </a:p>
          <a:p xmlns:a="http://schemas.openxmlformats.org/drawingml/2006/main">
            <a:r>
              <a:t/>
            </a:r>
          </a:p>
          <a:p xmlns:a="http://schemas.openxmlformats.org/drawingml/2006/main">
            <a:r>
              <a:t>CONNECT</a:t>
            </a:r>
          </a:p>
          <a:p xmlns:a="http://schemas.openxmlformats.org/drawingml/2006/main">
            <a:r>
              <a:t>Previous slide: Counting arbitrary paired observations in Python (2/3).</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print(tp, tn, fp, fn)</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Start every counter at zero before the loop. == compares labels. and means both comparisons must be true. elif checks another condition only when earlier ones were false.</a:t>
            </a:r>
          </a:p>
          <a:p xmlns:a="http://schemas.openxmlformats.org/drawingml/2006/main">
            <a:r>
              <a:t/>
            </a:r>
          </a:p>
          <a:p xmlns:a="http://schemas.openxmlformats.org/drawingml/2006/main">
            <a:r>
              <a:t>Complete practice code:</a:t>
            </a:r>
          </a:p>
          <a:p xmlns:a="http://schemas.openxmlformats.org/drawingml/2006/main">
            <a:r>
              <a:t>tp = tn = fp = fn = 0</a:t>
            </a:r>
          </a:p>
          <a:p xmlns:a="http://schemas.openxmlformats.org/drawingml/2006/main">
            <a:r>
              <a:t>for truth, guess in zip(actual, predicted):</a:t>
            </a:r>
          </a:p>
          <a:p xmlns:a="http://schemas.openxmlformats.org/drawingml/2006/main">
            <a:r>
              <a:t>    if truth == 1 and guess == 1:</a:t>
            </a:r>
          </a:p>
          <a:p xmlns:a="http://schemas.openxmlformats.org/drawingml/2006/main">
            <a:r>
              <a:t>        tp += 1</a:t>
            </a:r>
          </a:p>
          <a:p xmlns:a="http://schemas.openxmlformats.org/drawingml/2006/main">
            <a:r>
              <a:t>    elif truth == 0 and guess == 0:</a:t>
            </a:r>
          </a:p>
          <a:p xmlns:a="http://schemas.openxmlformats.org/drawingml/2006/main">
            <a:r>
              <a:t>        tn += 1</a:t>
            </a:r>
          </a:p>
          <a:p xmlns:a="http://schemas.openxmlformats.org/drawingml/2006/main">
            <a:r>
              <a:t>    elif truth == 0 and guess == 1:</a:t>
            </a:r>
          </a:p>
          <a:p xmlns:a="http://schemas.openxmlformats.org/drawingml/2006/main">
            <a:r>
              <a:t>        fp += 1</a:t>
            </a:r>
          </a:p>
          <a:p xmlns:a="http://schemas.openxmlformats.org/drawingml/2006/main">
            <a:r>
              <a:t>    else:</a:t>
            </a:r>
          </a:p>
          <a:p xmlns:a="http://schemas.openxmlformats.org/drawingml/2006/main">
            <a:r>
              <a:t>        fn += 1</a:t>
            </a:r>
          </a:p>
          <a:p xmlns:a="http://schemas.openxmlformats.org/drawingml/2006/main">
            <a:r>
              <a:t>print(tp, tn, fp, fn)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Represent a category with indicators.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Represent a category with indicators</a:t>
            </a:r>
          </a:p>
          <a:p xmlns:a="http://schemas.openxmlformats.org/drawingml/2006/main">
            <a:r>
              <a:t/>
            </a:r>
          </a:p>
          <a:p xmlns:a="http://schemas.openxmlformats.org/drawingml/2006/main">
            <a:r>
              <a:t>CONNECT</a:t>
            </a:r>
          </a:p>
          <a:p xmlns:a="http://schemas.openxmlformats.org/drawingml/2006/main">
            <a:r>
              <a:t>Previous slide: Counting arbitrary paired observations in Python (3/3).</a:t>
            </a:r>
          </a:p>
          <a:p xmlns:a="http://schemas.openxmlformats.org/drawingml/2006/main">
            <a:r>
              <a:t/>
            </a:r>
          </a:p>
          <a:p xmlns:a="http://schemas.openxmlformats.org/drawingml/2006/main">
            <a:r>
              <a:t>EXPLAIN</a:t>
            </a:r>
          </a:p>
          <a:p xmlns:a="http://schemas.openxmlformats.org/drawingml/2006/main">
            <a:r>
              <a:t>Category: A category is a label such as steel or timber. Its name does not imply a numerical size or rank.</a:t>
            </a:r>
          </a:p>
          <a:p xmlns:a="http://schemas.openxmlformats.org/drawingml/2006/main">
            <a:r>
              <a:t/>
            </a:r>
          </a:p>
          <a:p xmlns:a="http://schemas.openxmlformats.org/drawingml/2006/main">
            <a:r>
              <a:t>One-hot indicator: Create a column for each category. Its entry is 1 when the row has that category and 0 otherwise. Learn the allowed categories from training data.</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category can become indicator columns.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category can become indicator columns</a:t>
            </a:r>
          </a:p>
          <a:p xmlns:a="http://schemas.openxmlformats.org/drawingml/2006/main">
            <a:r>
              <a:t/>
            </a:r>
          </a:p>
          <a:p xmlns:a="http://schemas.openxmlformats.org/drawingml/2006/main">
            <a:r>
              <a:t>CONNECT</a:t>
            </a:r>
          </a:p>
          <a:p xmlns:a="http://schemas.openxmlformats.org/drawingml/2006/main">
            <a:r>
              <a:t>Previous slide: Represent a category with indicators.</a:t>
            </a:r>
          </a:p>
          <a:p xmlns:a="http://schemas.openxmlformats.org/drawingml/2006/main">
            <a:r>
              <a:t/>
            </a:r>
          </a:p>
          <a:p xmlns:a="http://schemas.openxmlformats.org/drawingml/2006/main">
            <a:r>
              <a:t>EXPLAIN</a:t>
            </a:r>
          </a:p>
          <a:p xmlns:a="http://schemas.openxmlformats.org/drawingml/2006/main">
            <a:r>
              <a:t>Material | is_steel | is_timber</a:t>
            </a:r>
          </a:p>
          <a:p xmlns:a="http://schemas.openxmlformats.org/drawingml/2006/main">
            <a:r>
              <a:t/>
            </a:r>
          </a:p>
          <a:p xmlns:a="http://schemas.openxmlformats.org/drawingml/2006/main">
            <a:r>
              <a:t>steel | 1 | 0</a:t>
            </a:r>
          </a:p>
          <a:p xmlns:a="http://schemas.openxmlformats.org/drawingml/2006/main">
            <a:r>
              <a:t/>
            </a:r>
          </a:p>
          <a:p xmlns:a="http://schemas.openxmlformats.org/drawingml/2006/main">
            <a:r>
              <a:t>timber | 0 | 1</a:t>
            </a:r>
          </a:p>
          <a:p xmlns:a="http://schemas.openxmlformats.org/drawingml/2006/main">
            <a:r>
              <a:t/>
            </a:r>
          </a:p>
          <a:p xmlns:a="http://schemas.openxmlformats.org/drawingml/2006/main">
            <a:r>
              <a:t>An encoder converts category labels to numeric columns. Fit it on training data. Each indicator is 1 when that category applies, otherwise 0.</a:t>
            </a:r>
          </a:p>
          <a:p xmlns:a="http://schemas.openxmlformats.org/drawingml/2006/main">
            <a:r>
              <a:t/>
            </a:r>
          </a:p>
          <a:p xmlns:a="http://schemas.openxmlformats.org/drawingml/2006/main">
            <a:r>
              <a:t>LECTURER CUE</a:t>
            </a:r>
          </a:p>
          <a:p xmlns:a="http://schemas.openxmlformats.org/drawingml/2006/main">
            <a:r>
              <a:t>An indicator is 1 when its category applies and 0 otherwise. Fit the encoder on training data.</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Accuracy can hide missed warnings.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Accuracy can hide missed warnings</a:t>
            </a:r>
          </a:p>
          <a:p xmlns:a="http://schemas.openxmlformats.org/drawingml/2006/main">
            <a:r>
              <a:t/>
            </a:r>
          </a:p>
          <a:p xmlns:a="http://schemas.openxmlformats.org/drawingml/2006/main">
            <a:r>
              <a:t>CONNECT</a:t>
            </a:r>
          </a:p>
          <a:p xmlns:a="http://schemas.openxmlformats.org/drawingml/2006/main">
            <a:r>
              <a:t>Previous slide: A category can become indicator columns.</a:t>
            </a:r>
          </a:p>
          <a:p xmlns:a="http://schemas.openxmlformats.org/drawingml/2006/main">
            <a:r>
              <a:t/>
            </a:r>
          </a:p>
          <a:p xmlns:a="http://schemas.openxmlformats.org/drawingml/2006/main">
            <a:r>
              <a:t>EXPLAIN</a:t>
            </a:r>
          </a:p>
          <a:p xmlns:a="http://schemas.openxmlformats.org/drawingml/2006/main">
            <a:r>
              <a:t>Accuracy = number of correct labels / number of labels. It counts correct warnings and correct non-warnings together.</a:t>
            </a:r>
          </a:p>
          <a:p xmlns:a="http://schemas.openxmlformats.org/drawingml/2006/main">
            <a:r>
              <a:t/>
            </a:r>
          </a:p>
          <a:p xmlns:a="http://schemas.openxmlformats.org/drawingml/2006/main">
            <a:r>
              <a:t>If 90 of 100 cases need no warning, predicting no warning every time gives 90% accuracy. It detects none of the 10 real warnings: recall is 0.</a:t>
            </a:r>
          </a:p>
          <a:p xmlns:a="http://schemas.openxmlformats.org/drawingml/2006/main">
            <a:r>
              <a:t/>
            </a:r>
          </a:p>
          <a:p xmlns:a="http://schemas.openxmlformats.org/drawingml/2006/main">
            <a:r>
              <a:t>Always inspect the actual/predicted counts and relevant costs before calling a classifier useful.</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Revision example and answer.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Previous slide: Accuracy can hide missed warnings.</a:t>
            </a:r>
          </a:p>
          <a:p xmlns:a="http://schemas.openxmlformats.org/drawingml/2006/main">
            <a:r>
              <a:t/>
            </a:r>
          </a:p>
          <a:p xmlns:a="http://schemas.openxmlformats.org/drawingml/2006/main">
            <a:r>
              <a:t>EXPLAIN</a:t>
            </a:r>
          </a:p>
          <a:p xmlns:a="http://schemas.openxmlformats.org/drawingml/2006/main">
            <a:r>
              <a:t>Example: Change the second prediction to 1. Count again. Does this improve both recall and the assumed cost?</a:t>
            </a:r>
          </a:p>
          <a:p xmlns:a="http://schemas.openxmlformats.org/drawingml/2006/main">
            <a:r>
              <a:t/>
            </a:r>
          </a:p>
          <a:p xmlns:a="http://schemas.openxmlformats.org/drawingml/2006/main">
            <a:r>
              <a:t>Answer: TP=2, FN=0, FP=1, TN=1. Precision 2/3, recall 1, cost 1. This particular change improves recall and cost.</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TP=2, FN=0, FP=1, TN=1. Precision 2/3, recall 1, cost 1. This particular change improves recall and cost.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Previous slide: Revision example and answer.</a:t>
            </a:r>
          </a:p>
          <a:p xmlns:a="http://schemas.openxmlformats.org/drawingml/2006/main">
            <a:r>
              <a:t/>
            </a:r>
          </a:p>
          <a:p xmlns:a="http://schemas.openxmlformats.org/drawingml/2006/main">
            <a:r>
              <a:t>EXPLAIN</a:t>
            </a:r>
          </a:p>
          <a:p xmlns:a="http://schemas.openxmlformats.org/drawingml/2006/main">
            <a:r>
              <a:t>Implement classification_metrics on arbitrary paired binary labels, not only the example.</a:t>
            </a:r>
          </a:p>
          <a:p xmlns:a="http://schemas.openxmlformats.org/drawingml/2006/main">
            <a:r>
              <a:t/>
            </a:r>
          </a:p>
          <a:p xmlns:a="http://schemas.openxmlformats.org/drawingml/2006/main">
            <a:r>
              <a:t>Use the published zero-denominator convention.</a:t>
            </a:r>
          </a:p>
          <a:p xmlns:a="http://schemas.openxmlformats.org/drawingml/2006/main">
            <a:r>
              <a:t/>
            </a:r>
          </a:p>
          <a:p xmlns:a="http://schemas.openxmlformats.org/drawingml/2006/main">
            <a:r>
              <a:t>Read the supplied W09 comparison separately.</a:t>
            </a:r>
          </a:p>
          <a:p xmlns:a="http://schemas.openxmlformats.org/drawingml/2006/main">
            <a:r>
              <a:t/>
            </a:r>
          </a:p>
          <a:p xmlns:a="http://schemas.openxmlformats.org/drawingml/2006/main">
            <a:r>
              <a:t>Teacher-written cost assumptions are not approved operating limits.</a:t>
            </a:r>
          </a:p>
          <a:p xmlns:a="http://schemas.openxmlformats.org/drawingml/2006/main">
            <a:r>
              <a:t/>
            </a:r>
          </a:p>
          <a:p xmlns:a="http://schemas.openxmlformats.org/drawingml/2006/main">
            <a:r>
              <a:t>LECTURER CUE</a:t>
            </a:r>
          </a:p>
          <a:p xmlns:a="http://schemas.openxmlformats.org/drawingml/2006/main">
            <a:r>
              <a:t>Implement classification_metrics on arbitrary paired binary labels, not only the example. Use the published zero-denominator convention. Read the supplied W09 comparison separately. Teacher-written cost assumptions are not approved operating limits. All claimed benefits require real-world evaluation.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 continued</a:t>
            </a:r>
          </a:p>
          <a:p xmlns:a="http://schemas.openxmlformats.org/drawingml/2006/main">
            <a:r>
              <a:t/>
            </a:r>
          </a:p>
          <a:p xmlns:a="http://schemas.openxmlformats.org/drawingml/2006/main">
            <a:r>
              <a:t>CONNECT</a:t>
            </a:r>
          </a:p>
          <a:p xmlns:a="http://schemas.openxmlformats.org/drawingml/2006/main">
            <a:r>
              <a:t>Previous slide: Preparing for the assignment.</a:t>
            </a:r>
          </a:p>
          <a:p xmlns:a="http://schemas.openxmlformats.org/drawingml/2006/main">
            <a:r>
              <a:t/>
            </a:r>
          </a:p>
          <a:p xmlns:a="http://schemas.openxmlformats.org/drawingml/2006/main">
            <a:r>
              <a:t>EXPLAIN</a:t>
            </a:r>
          </a:p>
          <a:p xmlns:a="http://schemas.openxmlformats.org/drawingml/2006/main">
            <a:r>
              <a:t>All claimed benefits require real-world evaluation.</a:t>
            </a:r>
          </a:p>
          <a:p xmlns:a="http://schemas.openxmlformats.org/drawingml/2006/main">
            <a:r>
              <a:t/>
            </a:r>
          </a:p>
          <a:p xmlns:a="http://schemas.openxmlformats.org/drawingml/2006/main">
            <a:r>
              <a:t>LECTURER CUE</a:t>
            </a:r>
          </a:p>
          <a:p xmlns:a="http://schemas.openxmlformats.org/drawingml/2006/main">
            <a:r>
              <a:t>Implement classification_metrics on arbitrary paired binary labels, not only the example. Use the published zero-denominator convention. Read the supplied W09 comparison separately. Teacher-written cost assumptions are not approved operating limits. All claimed benefits require real-world evaluation.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Category predictions and operating thresholds.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Category predictions and operating thresholds</a:t>
            </a:r>
          </a:p>
          <a:p xmlns:a="http://schemas.openxmlformats.org/drawingml/2006/main">
            <a:r>
              <a:t/>
            </a:r>
          </a:p>
          <a:p xmlns:a="http://schemas.openxmlformats.org/drawingml/2006/main">
            <a:r>
              <a:t>CONNECT</a:t>
            </a:r>
          </a:p>
          <a:p xmlns:a="http://schemas.openxmlformats.org/drawingml/2006/main">
            <a:r>
              <a:t>Previous slide: Preparing for the assignment continued.</a:t>
            </a:r>
          </a:p>
          <a:p xmlns:a="http://schemas.openxmlformats.org/drawingml/2006/main">
            <a:r>
              <a:t/>
            </a:r>
          </a:p>
          <a:p xmlns:a="http://schemas.openxmlformats.org/drawingml/2006/main">
            <a:r>
              <a:t>EXPLAIN</a:t>
            </a:r>
          </a:p>
          <a:p xmlns:a="http://schemas.openxmlformats.org/drawingml/2006/main">
            <a:r>
              <a:t>A majority-only classifier can achieve high accuracy while missing the rare class.</a:t>
            </a:r>
          </a:p>
          <a:p xmlns:a="http://schemas.openxmlformats.org/drawingml/2006/main">
            <a:r>
              <a:t/>
            </a:r>
          </a:p>
          <a:p xmlns:a="http://schemas.openxmlformats.org/drawingml/2006/main">
            <a:r>
              <a:t>Name the positive class and both confusion-matrix axes.</a:t>
            </a:r>
          </a:p>
          <a:p xmlns:a="http://schemas.openxmlformats.org/drawingml/2006/main">
            <a:r>
              <a:t/>
            </a:r>
          </a:p>
          <a:p xmlns:a="http://schemas.openxmlformats.org/drawingml/2006/main">
            <a:r>
              <a:t>A model expecting numeric features cannot directly use raw category strings; use numeric indicator columns for categories.</a:t>
            </a:r>
          </a:p>
          <a:p xmlns:a="http://schemas.openxmlformats.org/drawingml/2006/main">
            <a:r>
              <a:t/>
            </a:r>
          </a:p>
          <a:p xmlns:a="http://schemas.openxmlformats.org/drawingml/2006/main">
            <a:r>
              <a:t>Compare threshold choices on validation data.</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Category predictions and operating thresholds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Category predictions and operating thresholds continued</a:t>
            </a:r>
          </a:p>
          <a:p xmlns:a="http://schemas.openxmlformats.org/drawingml/2006/main">
            <a:r>
              <a:t/>
            </a:r>
          </a:p>
          <a:p xmlns:a="http://schemas.openxmlformats.org/drawingml/2006/main">
            <a:r>
              <a:t>CONNECT</a:t>
            </a:r>
          </a:p>
          <a:p xmlns:a="http://schemas.openxmlformats.org/drawingml/2006/main">
            <a:r>
              <a:t>Previous slide: Category predictions and operating thresholds.</a:t>
            </a:r>
          </a:p>
          <a:p xmlns:a="http://schemas.openxmlformats.org/drawingml/2006/main">
            <a:r>
              <a:t/>
            </a:r>
          </a:p>
          <a:p xmlns:a="http://schemas.openxmlformats.org/drawingml/2006/main">
            <a:r>
              <a:t>EXPLAIN</a:t>
            </a:r>
          </a:p>
          <a:p xmlns:a="http://schemas.openxmlformats.org/drawingml/2006/main">
            <a:r>
              <a:t>Reducing the threshold adds flagged cases and cannot reduce recall on fixed scored observations, but precision can move either way.</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a:t>
            </a:r>
          </a:p>
          <a:p xmlns:a="http://schemas.openxmlformats.org/drawingml/2006/main">
            <a:r>
              <a:t/>
            </a:r>
          </a:p>
          <a:p xmlns:a="http://schemas.openxmlformats.org/drawingml/2006/main">
            <a:r>
              <a:t>CONNECT</a:t>
            </a:r>
          </a:p>
          <a:p xmlns:a="http://schemas.openxmlformats.org/drawingml/2006/main">
            <a:r>
              <a:t>Previous slide: Category predictions and operating thresholds continued.</a:t>
            </a:r>
          </a:p>
          <a:p xmlns:a="http://schemas.openxmlformats.org/drawingml/2006/main">
            <a:r>
              <a:t/>
            </a:r>
          </a:p>
          <a:p xmlns:a="http://schemas.openxmlformats.org/drawingml/2006/main">
            <a:r>
              <a:t>EXPLAIN</a:t>
            </a:r>
          </a:p>
          <a:p xmlns:a="http://schemas.openxmlformats.org/drawingml/2006/main">
            <a:r>
              <a:t>Use classification_case.csv.</a:t>
            </a:r>
          </a:p>
          <a:p xmlns:a="http://schemas.openxmlformats.org/drawingml/2006/main">
            <a:r>
              <a:t/>
            </a:r>
          </a:p>
          <a:p xmlns:a="http://schemas.openxmlformats.org/drawingml/2006/main">
            <a:r>
              <a:t>Positive means a synthetic warning condition.</a:t>
            </a:r>
          </a:p>
          <a:p xmlns:a="http://schemas.openxmlformats.org/drawingml/2006/main">
            <a:r>
              <a:t/>
            </a:r>
          </a:p>
          <a:p xmlns:a="http://schemas.openxmlformats.org/drawingml/2006/main">
            <a:r>
              <a:t>Compute the confusion matrix, precision, recall and cost.</a:t>
            </a:r>
          </a:p>
          <a:p xmlns:a="http://schemas.openxmlformats.org/drawingml/2006/main">
            <a:r>
              <a:t/>
            </a:r>
          </a:p>
          <a:p xmlns:a="http://schemas.openxmlformats.org/drawingml/2006/main">
            <a:r>
              <a:t>Explain the 5:1 missed-warning/false-alarm cost assumption and why accuracy alone is insufficient.</a:t>
            </a:r>
          </a:p>
          <a:p xmlns:a="http://schemas.openxmlformats.org/drawingml/2006/main">
            <a:r>
              <a:t/>
            </a:r>
          </a:p>
          <a:p xmlns:a="http://schemas.openxmlformats.org/drawingml/2006/main">
            <a:r>
              <a:t>LECTURER CUE</a:t>
            </a:r>
          </a:p>
          <a:p xmlns:a="http://schemas.openxmlformats.org/drawingml/2006/main">
            <a:r>
              <a:t>Use classification_case.csv. Positive means a synthetic warning condition. Compute the confusion matrix, precision, recall and cost. Explain the 5:1 missed-warning/false-alarm cost assumption and why accuracy alone is insufficient. These costs are teaching assumptions, not approved operating limits.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task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 continued</a:t>
            </a:r>
          </a:p>
          <a:p xmlns:a="http://schemas.openxmlformats.org/drawingml/2006/main">
            <a:r>
              <a:t/>
            </a:r>
          </a:p>
          <a:p xmlns:a="http://schemas.openxmlformats.org/drawingml/2006/main">
            <a:r>
              <a:t>CONNECT</a:t>
            </a:r>
          </a:p>
          <a:p xmlns:a="http://schemas.openxmlformats.org/drawingml/2006/main">
            <a:r>
              <a:t>Previous slide: Your issued task.</a:t>
            </a:r>
          </a:p>
          <a:p xmlns:a="http://schemas.openxmlformats.org/drawingml/2006/main">
            <a:r>
              <a:t/>
            </a:r>
          </a:p>
          <a:p xmlns:a="http://schemas.openxmlformats.org/drawingml/2006/main">
            <a:r>
              <a:t>EXPLAIN</a:t>
            </a:r>
          </a:p>
          <a:p xmlns:a="http://schemas.openxmlformats.org/drawingml/2006/main">
            <a:r>
              <a:t>These costs are teaching assumptions, not approved operating limits.</a:t>
            </a:r>
          </a:p>
          <a:p xmlns:a="http://schemas.openxmlformats.org/drawingml/2006/main">
            <a:r>
              <a:t/>
            </a:r>
          </a:p>
          <a:p xmlns:a="http://schemas.openxmlformats.org/drawingml/2006/main">
            <a:r>
              <a:t>LECTURER CUE</a:t>
            </a:r>
          </a:p>
          <a:p xmlns:a="http://schemas.openxmlformats.org/drawingml/2006/main">
            <a:r>
              <a:t>Use classification_case.csv. Positive means a synthetic warning condition. Compute the confusion matrix, precision, recall and cost. Explain the 5:1 missed-warning/false-alarm cost assumption and why accuracy alone is insufficient. These costs are teaching assumptions, not approved operating limits.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classification_metrics(actual, predicted).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classification_metrics(actual, predicted)</a:t>
            </a:r>
          </a:p>
          <a:p xmlns:a="http://schemas.openxmlformats.org/drawingml/2006/main">
            <a:r>
              <a:t/>
            </a:r>
          </a:p>
          <a:p xmlns:a="http://schemas.openxmlformats.org/drawingml/2006/main">
            <a:r>
              <a:t>CONNECT</a:t>
            </a:r>
          </a:p>
          <a:p xmlns:a="http://schemas.openxmlformats.org/drawingml/2006/main">
            <a:r>
              <a:t>Previous slide: Your issued task continued.</a:t>
            </a:r>
          </a:p>
          <a:p xmlns:a="http://schemas.openxmlformats.org/drawingml/2006/main">
            <a:r>
              <a:t/>
            </a:r>
          </a:p>
          <a:p xmlns:a="http://schemas.openxmlformats.org/drawingml/2006/main">
            <a:r>
              <a:t>EXPLAIN</a:t>
            </a:r>
          </a:p>
          <a:p xmlns:a="http://schemas.openxmlformats.org/drawingml/2006/main">
            <a:r>
              <a:t>For binary labels return tp, tn, fp, fn, precision, recall and cost=5*fn+fp; use zero for an undefined precision/recall denominator.</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IUEA_Teaching_Plan/assessment_banks/W09/CML3112/A/TASKS.md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Written evidence.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Written evidence</a:t>
            </a:r>
          </a:p>
          <a:p xmlns:a="http://schemas.openxmlformats.org/drawingml/2006/main">
            <a:r>
              <a:t/>
            </a:r>
          </a:p>
          <a:p xmlns:a="http://schemas.openxmlformats.org/drawingml/2006/main">
            <a:r>
              <a:t>CONNECT</a:t>
            </a:r>
          </a:p>
          <a:p xmlns:a="http://schemas.openxmlformats.org/drawingml/2006/main">
            <a:r>
              <a:t>Previous slide: classification_metrics(actual, predicted).</a:t>
            </a:r>
          </a:p>
          <a:p xmlns:a="http://schemas.openxmlformats.org/drawingml/2006/main">
            <a:r>
              <a:t/>
            </a:r>
          </a:p>
          <a:p xmlns:a="http://schemas.openxmlformats.org/drawingml/2006/main">
            <a:r>
              <a:t>EXPLAIN</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a:p xmlns:a="http://schemas.openxmlformats.org/drawingml/2006/main">
            <a:r>
              <a:t/>
            </a:r>
          </a:p>
          <a:p xmlns:a="http://schemas.openxmlformats.org/drawingml/2006/main">
            <a:r>
              <a:t>LECTURER CUE</a:t>
            </a:r>
          </a:p>
          <a:p xmlns:a="http://schemas.openxmlformats.org/drawingml/2006/main">
            <a:r>
              <a:t>Published criterion weights and exact requirements remain in TASKS.md. Broader project exercises are formative and do not add weekly marks. Local automated reasoning assessment remains subject to its release checks.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Classification and cost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Classification and cost submission</a:t>
            </a:r>
          </a:p>
          <a:p xmlns:a="http://schemas.openxmlformats.org/drawingml/2006/main">
            <a:r>
              <a:t/>
            </a:r>
          </a:p>
          <a:p xmlns:a="http://schemas.openxmlformats.org/drawingml/2006/main">
            <a:r>
              <a:t>CONNECT</a:t>
            </a:r>
          </a:p>
          <a:p xmlns:a="http://schemas.openxmlformats.org/drawingml/2006/main">
            <a:r>
              <a:t>Previous slide: Written evidence.</a:t>
            </a:r>
          </a:p>
          <a:p xmlns:a="http://schemas.openxmlformats.org/drawingml/2006/main">
            <a:r>
              <a:t/>
            </a:r>
          </a:p>
          <a:p xmlns:a="http://schemas.openxmlformats.org/drawingml/2006/main">
            <a:r>
              <a:t>EXPLAIN</a:t>
            </a:r>
          </a:p>
          <a:p xmlns:a="http://schemas.openxmlformats.org/drawingml/2006/main">
            <a:r>
              <a:t>Opens: 03 Nov 2026, 11:00 Kampala</a:t>
            </a:r>
          </a:p>
          <a:p xmlns:a="http://schemas.openxmlformats.org/drawingml/2006/main">
            <a:r>
              <a:t/>
            </a:r>
          </a:p>
          <a:p xmlns:a="http://schemas.openxmlformats.org/drawingml/2006/main">
            <a:r>
              <a:t>Deadline: 10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9 quiz.</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9 quiz</a:t>
            </a:r>
          </a:p>
          <a:p xmlns:a="http://schemas.openxmlformats.org/drawingml/2006/main">
            <a:r>
              <a:t/>
            </a:r>
          </a:p>
          <a:p xmlns:a="http://schemas.openxmlformats.org/drawingml/2006/main">
            <a:r>
              <a:t>CONNECT</a:t>
            </a:r>
          </a:p>
          <a:p xmlns:a="http://schemas.openxmlformats.org/drawingml/2006/main">
            <a:r>
              <a:t>Previous slide: Classification and cost submission.</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CUE</a:t>
            </a:r>
          </a:p>
          <a:p xmlns:a="http://schemas.openxmlformats.org/drawingml/2006/main">
            <a:r>
              <a:t>Activate the matching open_W9_CML3112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Week 9 quiz.</a:t>
            </a:r>
          </a:p>
          <a:p xmlns:a="http://schemas.openxmlformats.org/drawingml/2006/main">
            <a:r>
              <a:t/>
            </a:r>
          </a:p>
          <a:p xmlns:a="http://schemas.openxmlformats.org/drawingml/2006/main">
            <a:r>
              <a:t>EXPLAIN</a:t>
            </a:r>
          </a:p>
          <a:p xmlns:a="http://schemas.openxmlformats.org/drawingml/2006/main">
            <a:r>
              <a:t>You can identify a false negative and explain precision and recall with counts.</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Optional revision video.</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Optional revision video</a:t>
            </a:r>
          </a:p>
          <a:p xmlns:a="http://schemas.openxmlformats.org/drawingml/2006/main">
            <a:r>
              <a:t/>
            </a:r>
          </a:p>
          <a:p xmlns:a="http://schemas.openxmlformats.org/drawingml/2006/main">
            <a:r>
              <a:t>CONNECT</a:t>
            </a:r>
          </a:p>
          <a:p xmlns:a="http://schemas.openxmlformats.org/drawingml/2006/main">
            <a:r>
              <a:t>Previous slide: Revision and submission checklist.</a:t>
            </a:r>
          </a:p>
          <a:p xmlns:a="http://schemas.openxmlformats.org/drawingml/2006/main">
            <a:r>
              <a:t/>
            </a:r>
          </a:p>
          <a:p xmlns:a="http://schemas.openxmlformats.org/drawingml/2006/main">
            <a:r>
              <a:t>EXPLAIN</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The Confusion Matrix</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Which observations are correctly or incorrectly classified?</a:t>
            </a:r>
          </a:p>
          <a:p xmlns:a="http://schemas.openxmlformats.org/drawingml/2006/main">
            <a:r>
              <a:t/>
            </a:r>
          </a:p>
          <a:p xmlns:a="http://schemas.openxmlformats.org/drawingml/2006/main">
            <a:r>
              <a:t>LECTURER CUE</a:t>
            </a:r>
          </a:p>
          <a:p xmlns:a="http://schemas.openxmlformats.org/drawingml/2006/main">
            <a:r>
              <a:t>Linked by the official StatQuest video index. Full audiovisual preview and excerpt timing still required.</a:t>
            </a:r>
          </a:p>
          <a:p xmlns:a="http://schemas.openxmlformats.org/drawingml/2006/main">
            <a:r>
              <a:t>After viewing: Translate the medical example to warning/no-warning and label the axes.</a:t>
            </a:r>
          </a:p>
          <a:p xmlns:a="http://schemas.openxmlformats.org/drawingml/2006/main">
            <a:r>
              <a:t>Preview before class and stop after the selected short excerpt. If playback fails, teach the worked example. Video is optional. Source: https://www.youtube.com/watch?v=Kdsp6soqA7o</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d6a19be5d247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7d6d64ae6e45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6b8767caed49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5064de2c824e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1a4f0ea2364c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c74dd8eccf43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31F1DEF-956B-4A14-9B2D-1556DAC19DFF}"/>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A67A67C-F011-4645-A744-21F528D1DF65}"/>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852042C-4745-41F2-A903-B97F53689728}"/>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D03AD89E-4A62-4CC5-9045-F31A78ECE6B8}"/>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85321A6-521F-4999-8275-D1B4B0B86C82}"/>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9223585-3F02-4335-A97F-5FA75EFFF8EF}"/>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EBE6A35-B530-4AA9-BE0B-5B32AC988A2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14AA3F6-ADB6-4031-95EC-1C584CEC0559}"/>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EAC2B15-0470-4A15-9160-19F7445B8A65}"/>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62C9645-26FD-43D7-A58F-3B912ABA1CA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32F890F-5C20-405F-B866-1C9DDD5AC678}"/>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3F5F7D4-D1C3-4831-9EC3-9A12D093C307}"/>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16F978B-8B5E-4AB1-B2A0-2538427BA524}"/>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C157E8A-2FE5-41A1-B4F1-98E6B347433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99F5567-55A1-457D-9820-E8D5FB350909}"/>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fdde4a94f54a11" /><Relationship Type="http://schemas.openxmlformats.org/officeDocument/2006/relationships/slideLayout" Target="/ppt/slideLayouts/slideLayout1.xml" Id="R4d298ff41fe448a2" /><Relationship Type="http://schemas.openxmlformats.org/officeDocument/2006/relationships/slideLayout" Target="/ppt/slideLayouts/slideLayout2.xml" Id="R1239b4fa6fb14755" /><Relationship Type="http://schemas.openxmlformats.org/officeDocument/2006/relationships/slideLayout" Target="/ppt/slideLayouts/slideLayout3.xml" Id="Rba7ffc9e1ff14786" /><Relationship Type="http://schemas.openxmlformats.org/officeDocument/2006/relationships/slideLayout" Target="/ppt/slideLayouts/slideLayout4.xml" Id="R66d82fe981004f80" /><Relationship Type="http://schemas.openxmlformats.org/officeDocument/2006/relationships/slideLayout" Target="/ppt/slideLayouts/slideLayout5.xml" Id="R53fcd68a3e9a4e99" /><Relationship Type="http://schemas.openxmlformats.org/officeDocument/2006/relationships/slideLayout" Target="/ppt/slideLayouts/slideLayout6.xml" Id="Rcdcdd1c8047046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298ff41fe448a2"/>
    <p:sldLayoutId xmlns:r="http://schemas.openxmlformats.org/officeDocument/2006/relationships" id="2147483650" r:id="R1239b4fa6fb14755"/>
    <p:sldLayoutId xmlns:r="http://schemas.openxmlformats.org/officeDocument/2006/relationships" id="2147483651" r:id="Rba7ffc9e1ff14786"/>
    <p:sldLayoutId xmlns:r="http://schemas.openxmlformats.org/officeDocument/2006/relationships" id="2147483652" r:id="R66d82fe981004f80"/>
    <p:sldLayoutId xmlns:r="http://schemas.openxmlformats.org/officeDocument/2006/relationships" id="2147483653" r:id="R53fcd68a3e9a4e99"/>
    <p:sldLayoutId xmlns:r="http://schemas.openxmlformats.org/officeDocument/2006/relationships" id="2147483654" r:id="Rcdcdd1c8047046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38b564bf6440c0" /><Relationship Type="http://schemas.openxmlformats.org/officeDocument/2006/relationships/image" Target="/ppt/media/image.png" Id="R7c4bcbe417644e02" /><Relationship Type="http://schemas.openxmlformats.org/officeDocument/2006/relationships/notesSlide" Target="/ppt/notesSlides/notesSlide1.xml" Id="R12e0779bac014d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2f18f8593e4498" /><Relationship Type="http://schemas.openxmlformats.org/officeDocument/2006/relationships/notesSlide" Target="/ppt/notesSlides/notesSlide2.xml" Id="R9b9b4849467b47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255fc3fa4141c1" /><Relationship Type="http://schemas.openxmlformats.org/officeDocument/2006/relationships/notesSlide" Target="/ppt/notesSlides/notesSlide3.xml" Id="R50f95d0e307745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bde7b0c1a249ce" /><Relationship Type="http://schemas.openxmlformats.org/officeDocument/2006/relationships/notesSlide" Target="/ppt/notesSlides/notesSlide4.xml" Id="Rf31296d18db14e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8e6a2287e046d5" /><Relationship Type="http://schemas.openxmlformats.org/officeDocument/2006/relationships/notesSlide" Target="/ppt/notesSlides/notesSlide5.xml" Id="Red6cdf07ed474c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8ff01d4d5f445c8" /><Relationship Type="http://schemas.openxmlformats.org/officeDocument/2006/relationships/notesSlide" Target="/ppt/notesSlides/notesSlide6.xml" Id="R02d79efc92d240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564895e5324c39" /><Relationship Type="http://schemas.openxmlformats.org/officeDocument/2006/relationships/notesSlide" Target="/ppt/notesSlides/notesSlide7.xml" Id="R99c2cb809b7247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9e262048ea441c" /><Relationship Type="http://schemas.openxmlformats.org/officeDocument/2006/relationships/notesSlide" Target="/ppt/notesSlides/notesSlide8.xml" Id="R3fe603f84cab45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6c97518a034d8f" /><Relationship Type="http://schemas.openxmlformats.org/officeDocument/2006/relationships/image" Target="/ppt/media/image2.png" Id="R65990d4fb7564c2d" /><Relationship Type="http://schemas.openxmlformats.org/officeDocument/2006/relationships/notesSlide" Target="/ppt/notesSlides/notesSlide9.xml" Id="R815518e71bbf4f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dc1042826440a7" /><Relationship Type="http://schemas.openxmlformats.org/officeDocument/2006/relationships/notesSlide" Target="/ppt/notesSlides/notesSlide10.xml" Id="Rf622151129b945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63a6022aaa24e73" /><Relationship Type="http://schemas.openxmlformats.org/officeDocument/2006/relationships/notesSlide" Target="/ppt/notesSlides/notesSlide11.xml" Id="Rf8f6b118571248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23d009144b84ba3" /><Relationship Type="http://schemas.openxmlformats.org/officeDocument/2006/relationships/notesSlide" Target="/ppt/notesSlides/notesSlide12.xml" Id="Rd5b69dcfd1ac47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6fb5c1c7fe4629" /><Relationship Type="http://schemas.openxmlformats.org/officeDocument/2006/relationships/notesSlide" Target="/ppt/notesSlides/notesSlide13.xml" Id="Rf4d2af8d29554f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a444950cdd346eb" /><Relationship Type="http://schemas.openxmlformats.org/officeDocument/2006/relationships/notesSlide" Target="/ppt/notesSlides/notesSlide14.xml" Id="R21d8b52e938244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21626d5e134ea5" /><Relationship Type="http://schemas.openxmlformats.org/officeDocument/2006/relationships/notesSlide" Target="/ppt/notesSlides/notesSlide15.xml" Id="R967a13fed65846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156007b52849af" /><Relationship Type="http://schemas.openxmlformats.org/officeDocument/2006/relationships/notesSlide" Target="/ppt/notesSlides/notesSlide16.xml" Id="R68416219384940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9d8eca54ba34ee3" /><Relationship Type="http://schemas.openxmlformats.org/officeDocument/2006/relationships/notesSlide" Target="/ppt/notesSlides/notesSlide17.xml" Id="Rc21329066c184a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53d0257de05423d" /><Relationship Type="http://schemas.openxmlformats.org/officeDocument/2006/relationships/notesSlide" Target="/ppt/notesSlides/notesSlide18.xml" Id="R4f86c8d331b3452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f2ea31fdaa48f1" /><Relationship Type="http://schemas.openxmlformats.org/officeDocument/2006/relationships/notesSlide" Target="/ppt/notesSlides/notesSlide19.xml" Id="Re646e1692dbe415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ae103eee8d94daa" /><Relationship Type="http://schemas.openxmlformats.org/officeDocument/2006/relationships/notesSlide" Target="/ppt/notesSlides/notesSlide20.xml" Id="Rd588305ecceb48e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70555c3f8744aae" /><Relationship Type="http://schemas.openxmlformats.org/officeDocument/2006/relationships/notesSlide" Target="/ppt/notesSlides/notesSlide21.xml" Id="Rec4ddf7572d245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92cdaa4bba54986" /><Relationship Type="http://schemas.openxmlformats.org/officeDocument/2006/relationships/notesSlide" Target="/ppt/notesSlides/notesSlide22.xml" Id="Rb04e35606c494c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65d6983e66a424f" /><Relationship Type="http://schemas.openxmlformats.org/officeDocument/2006/relationships/notesSlide" Target="/ppt/notesSlides/notesSlide23.xml" Id="R93eda89e236543e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3e9daa8d49f40f9" /><Relationship Type="http://schemas.openxmlformats.org/officeDocument/2006/relationships/notesSlide" Target="/ppt/notesSlides/notesSlide24.xml" Id="R8c4691bb17cc418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d0c3985684b463d" /><Relationship Type="http://schemas.openxmlformats.org/officeDocument/2006/relationships/notesSlide" Target="/ppt/notesSlides/notesSlide25.xml" Id="R10d98cf44e674a3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0d1cc34e8db4c9f" /><Relationship Type="http://schemas.openxmlformats.org/officeDocument/2006/relationships/notesSlide" Target="/ppt/notesSlides/notesSlide26.xml" Id="Re8ee218438ca470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8cf363e698e43a7" /><Relationship Type="http://schemas.openxmlformats.org/officeDocument/2006/relationships/notesSlide" Target="/ppt/notesSlides/notesSlide27.xml" Id="R12761b69720e48b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7466ddf3fe54976" /><Relationship Type="http://schemas.openxmlformats.org/officeDocument/2006/relationships/notesSlide" Target="/ppt/notesSlides/notesSlide28.xml" Id="R50a2b6043ed5428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187e118df1446cd" /><Relationship Type="http://schemas.openxmlformats.org/officeDocument/2006/relationships/notesSlide" Target="/ppt/notesSlides/notesSlide29.xml" Id="Rfdde31632d1d4c4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0fd217401ee405b" /><Relationship Type="http://schemas.openxmlformats.org/officeDocument/2006/relationships/notesSlide" Target="/ppt/notesSlides/notesSlide30.xml" Id="R9056c3b4b48249c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f6186f2753f4b1a" /><Relationship Type="http://schemas.openxmlformats.org/officeDocument/2006/relationships/notesSlide" Target="/ppt/notesSlides/notesSlide31.xml" Id="R93972e6ec79f486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4e0f1fe9dbb4fa7" /><Relationship Type="http://schemas.openxmlformats.org/officeDocument/2006/relationships/notesSlide" Target="/ppt/notesSlides/notesSlide32.xml" Id="Rd846752e94824fe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2446119f1d492d" /><Relationship Type="http://schemas.openxmlformats.org/officeDocument/2006/relationships/notesSlide" Target="/ppt/notesSlides/notesSlide33.xml" Id="R78ec23116a4045f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ad78fb6643e44a3" /><Relationship Type="http://schemas.openxmlformats.org/officeDocument/2006/relationships/notesSlide" Target="/ppt/notesSlides/notesSlide34.xml" Id="Red6332441eea497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31235d766d14ad0" /><Relationship Type="http://schemas.openxmlformats.org/officeDocument/2006/relationships/notesSlide" Target="/ppt/notesSlides/notesSlide35.xml" Id="Rb71edf9124bd4c5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766bd7194b04209" /><Relationship Type="http://schemas.openxmlformats.org/officeDocument/2006/relationships/notesSlide" Target="/ppt/notesSlides/notesSlide36.xml" Id="R93ea859462a44e6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0f50532ae2c4e84" /><Relationship Type="http://schemas.openxmlformats.org/officeDocument/2006/relationships/notesSlide" Target="/ppt/notesSlides/notesSlide37.xml" Id="Re0ea151d7ee3405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87cb7c5ad52483c" /><Relationship Type="http://schemas.openxmlformats.org/officeDocument/2006/relationships/hyperlink" Target="https://docs.google.com/forms/d/e/1FAIpQLSfTe7OkZ7tZEVzG-mup0-8liXg1jKy_KmsDWZiPK9EWMJ9InA/viewform" TargetMode="External" Id="R1b7ac90e4a7745c5" /><Relationship Type="http://schemas.openxmlformats.org/officeDocument/2006/relationships/notesSlide" Target="/ppt/notesSlides/notesSlide38.xml" Id="R59429dc354024e2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6de8d05a55846a6" /><Relationship Type="http://schemas.openxmlformats.org/officeDocument/2006/relationships/image" Target="/ppt/media/image3.png" Id="Rdcdf9a0e9f8b4e25" /><Relationship Type="http://schemas.openxmlformats.org/officeDocument/2006/relationships/hyperlink" Target="https://forms.gle/6XBHNCQXESUyQ6G86" TargetMode="External" Id="R1b28c079aeb7429a" /><Relationship Type="http://schemas.openxmlformats.org/officeDocument/2006/relationships/notesSlide" Target="/ppt/notesSlides/notesSlide39.xml" Id="Ref75583c66034d7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3066e710a3b4ae5" /><Relationship Type="http://schemas.openxmlformats.org/officeDocument/2006/relationships/notesSlide" Target="/ppt/notesSlides/notesSlide40.xml" Id="Reebb88b17fa646d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8383062aec04ffa" /><Relationship Type="http://schemas.openxmlformats.org/officeDocument/2006/relationships/hyperlink" Target="https://www.youtube.com/watch?v=Kdsp6soqA7o" TargetMode="External" Id="R0afa2c7cbc964bf1" /><Relationship Type="http://schemas.openxmlformats.org/officeDocument/2006/relationships/notesSlide" Target="/ppt/notesSlides/notesSlide41.xml" Id="Rfbc347cdc9d74b5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4bcbe417644e02"/>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A8730C-4035-45B0-A3BF-CBF1AC1A8133}"/>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043F22-CA49-4B4B-9FA9-51656DB6FE94}"/>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9</a:t>
            </a:r>
          </a:p>
        </p:txBody>
      </p:sp>
      <p:sp>
        <p:nvSpPr>
          <p:cNvPr id="4" name="">
            <a:extLst xmlns:a="http://schemas.openxmlformats.org/drawingml/2006/main">
              <a:ext uri="{FF2B5EF4-FFF2-40B4-BE49-F238E27FC236}">
                <a16:creationId xmlns:a16="http://schemas.microsoft.com/office/drawing/2014/main" id="{BAA8C9B7-99A6-4990-94AD-CCC4FA391DFF}"/>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Classification and the cost of mistakes</a:t>
            </a:r>
          </a:p>
        </p:txBody>
      </p:sp>
      <p:sp>
        <p:nvSpPr>
          <p:cNvPr id="5" name="">
            <a:extLst xmlns:a="http://schemas.openxmlformats.org/drawingml/2006/main">
              <a:ext uri="{FF2B5EF4-FFF2-40B4-BE49-F238E27FC236}">
                <a16:creationId xmlns:a16="http://schemas.microsoft.com/office/drawing/2014/main" id="{5B05832B-0DF6-4C1D-8EE7-96742EC5D5B2}"/>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7E437FD6-52D1-4049-82A0-F99AC6E94997}"/>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03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16878719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3A6AD4-3E2B-4093-B92B-1F2D835D88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552176-A65F-408E-993A-159B4EB7C4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E481B33D-13C3-44CB-B261-EBEE6AF969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3430ACB4-4047-4B8C-965A-CF3DEC7E8DDE}"/>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C4F31A-B10F-4364-A60E-7FBB5B157885}"/>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CB7234B0-2FCF-4745-B79D-C278CAF231A7}"/>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Distinguish an actual label from a predicted label.</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prediction outcomes and explain their costs.</a:t>
            </a:r>
          </a:p>
        </p:txBody>
      </p:sp>
      <p:sp>
        <p:nvSpPr>
          <p:cNvPr id="7" name="">
            <a:extLst xmlns:a="http://schemas.openxmlformats.org/drawingml/2006/main">
              <a:ext uri="{FF2B5EF4-FFF2-40B4-BE49-F238E27FC236}">
                <a16:creationId xmlns:a16="http://schemas.microsoft.com/office/drawing/2014/main" id="{30EAD6DC-31EC-4747-8360-92FB061EBF4D}"/>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91A1D589-953D-4782-A613-42D179D369B2}"/>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identify a false negative and explain precision and recall with counts.</a:t>
            </a:r>
          </a:p>
        </p:txBody>
      </p:sp>
      <p:sp>
        <p:nvSpPr>
          <p:cNvPr id="9" name="">
            <a:extLst xmlns:a="http://schemas.openxmlformats.org/drawingml/2006/main">
              <a:ext uri="{FF2B5EF4-FFF2-40B4-BE49-F238E27FC236}">
                <a16:creationId xmlns:a16="http://schemas.microsoft.com/office/drawing/2014/main" id="{0E1B8889-B784-4182-B695-C042A77DBD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a:t>
            </a:r>
          </a:p>
        </p:txBody>
      </p:sp>
    </p:spTree>
    <p:extLst>
      <p:ext uri="{BB962C8B-B14F-4D97-AF65-F5344CB8AC3E}">
        <p14:creationId xmlns:p14="http://schemas.microsoft.com/office/powerpoint/2010/main" val="6015516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C36887-9411-418E-B0EC-9F7F2FCFD5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2BC6AE-C001-4607-8106-3B595A9B42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2E04E92-E4E9-4B47-80CF-3C047CCC0D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319A5105-7E83-408C-8853-3B2718B2BB8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7A31E7B-7542-4FA4-85F9-0B0E033856F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Week 8 predicted a number.</a:t>
            </a:r>
          </a:p>
        </p:txBody>
      </p:sp>
      <p:sp>
        <p:nvSpPr>
          <p:cNvPr id="6" name="">
            <a:extLst xmlns:a="http://schemas.openxmlformats.org/drawingml/2006/main">
              <a:ext uri="{FF2B5EF4-FFF2-40B4-BE49-F238E27FC236}">
                <a16:creationId xmlns:a16="http://schemas.microsoft.com/office/drawing/2014/main" id="{93D8537E-80F9-4A7A-A66F-252775BAACB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week predicts a category and counts the different kinds of correct and incorrect result.</a:t>
            </a:r>
          </a:p>
        </p:txBody>
      </p:sp>
      <p:sp>
        <p:nvSpPr>
          <p:cNvPr id="7" name="">
            <a:extLst xmlns:a="http://schemas.openxmlformats.org/drawingml/2006/main">
              <a:ext uri="{FF2B5EF4-FFF2-40B4-BE49-F238E27FC236}">
                <a16:creationId xmlns:a16="http://schemas.microsoft.com/office/drawing/2014/main" id="{648852C0-0E49-48D4-8BFD-B9AA80BB9A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a:t>
            </a:r>
          </a:p>
        </p:txBody>
      </p:sp>
    </p:spTree>
    <p:extLst>
      <p:ext uri="{BB962C8B-B14F-4D97-AF65-F5344CB8AC3E}">
        <p14:creationId xmlns:p14="http://schemas.microsoft.com/office/powerpoint/2010/main" val="234474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0AD694-EBBA-4A68-BB06-1C44EF7CED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C5A716-A369-43B1-B7BC-EB820CFA88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B08D25-4A00-46FE-B312-67E85F2A36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2F7FBEB9-3279-4285-940B-5F8204B8A73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736982-7F9F-4D75-8A59-520467DF1F22}"/>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warning system predicts a category.</a:t>
            </a:r>
          </a:p>
        </p:txBody>
      </p:sp>
      <p:sp>
        <p:nvSpPr>
          <p:cNvPr id="6" name="">
            <a:extLst xmlns:a="http://schemas.openxmlformats.org/drawingml/2006/main">
              <a:ext uri="{FF2B5EF4-FFF2-40B4-BE49-F238E27FC236}">
                <a16:creationId xmlns:a16="http://schemas.microsoft.com/office/drawing/2014/main" id="{80ED22C0-7BE0-402A-B676-346E5119AB4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compare each prediction with its recorded answer, then count false alarms and missed warnings using an explicit cost rule.</a:t>
            </a:r>
          </a:p>
        </p:txBody>
      </p:sp>
      <p:sp>
        <p:nvSpPr>
          <p:cNvPr id="7" name="">
            <a:extLst xmlns:a="http://schemas.openxmlformats.org/drawingml/2006/main">
              <a:ext uri="{FF2B5EF4-FFF2-40B4-BE49-F238E27FC236}">
                <a16:creationId xmlns:a16="http://schemas.microsoft.com/office/drawing/2014/main" id="{F71D391E-CDF4-4110-A67E-004AB80911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4</a:t>
            </a:r>
          </a:p>
        </p:txBody>
      </p:sp>
    </p:spTree>
    <p:extLst>
      <p:ext uri="{BB962C8B-B14F-4D97-AF65-F5344CB8AC3E}">
        <p14:creationId xmlns:p14="http://schemas.microsoft.com/office/powerpoint/2010/main" val="9133189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8E45D8F-0D67-4C12-95A5-4AF59715B7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0443E9-998A-4CFE-85C8-86E847777B9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D91BC0E-BD29-44CC-B311-6551A6F601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positive class</a:t>
            </a:r>
          </a:p>
        </p:txBody>
      </p:sp>
      <p:sp>
        <p:nvSpPr>
          <p:cNvPr id="4" name="">
            <a:extLst xmlns:a="http://schemas.openxmlformats.org/drawingml/2006/main">
              <a:ext uri="{FF2B5EF4-FFF2-40B4-BE49-F238E27FC236}">
                <a16:creationId xmlns:a16="http://schemas.microsoft.com/office/drawing/2014/main" id="{0106F0B6-3476-4EDD-8BB8-FB1A076F2EF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4690457-2AE8-467F-A0FE-DAB4EC196FC9}"/>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this example, 1 means a warning is needed.</a:t>
            </a:r>
          </a:p>
        </p:txBody>
      </p:sp>
      <p:sp>
        <p:nvSpPr>
          <p:cNvPr id="6" name="">
            <a:extLst xmlns:a="http://schemas.openxmlformats.org/drawingml/2006/main">
              <a:ext uri="{FF2B5EF4-FFF2-40B4-BE49-F238E27FC236}">
                <a16:creationId xmlns:a16="http://schemas.microsoft.com/office/drawing/2014/main" id="{6FC3998A-86F5-4A86-B154-416C6B7BABB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526964-368A-4F53-8DD2-D6469D9C517C}"/>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 means a warning is not needed.</a:t>
            </a:r>
          </a:p>
        </p:txBody>
      </p:sp>
      <p:sp>
        <p:nvSpPr>
          <p:cNvPr id="8" name="">
            <a:extLst xmlns:a="http://schemas.openxmlformats.org/drawingml/2006/main">
              <a:ext uri="{FF2B5EF4-FFF2-40B4-BE49-F238E27FC236}">
                <a16:creationId xmlns:a16="http://schemas.microsoft.com/office/drawing/2014/main" id="{C4DCC9EC-12C0-4377-B70C-A346FED23FF9}"/>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5F8318E-A96E-487F-AA14-68A013A0550F}"/>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Actual is the reference label. Predicted is the model’s label.</a:t>
            </a:r>
          </a:p>
        </p:txBody>
      </p:sp>
      <p:sp>
        <p:nvSpPr>
          <p:cNvPr id="10" name="">
            <a:extLst xmlns:a="http://schemas.openxmlformats.org/drawingml/2006/main">
              <a:ext uri="{FF2B5EF4-FFF2-40B4-BE49-F238E27FC236}">
                <a16:creationId xmlns:a16="http://schemas.microsoft.com/office/drawing/2014/main" id="{7F7F4972-2A73-4F90-9E59-99555CD3177A}"/>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EF355CA-4E65-4375-8073-175D134C381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false negative misses a real warning.</a:t>
            </a:r>
          </a:p>
        </p:txBody>
      </p:sp>
      <p:sp>
        <p:nvSpPr>
          <p:cNvPr id="12" name="">
            <a:extLst xmlns:a="http://schemas.openxmlformats.org/drawingml/2006/main">
              <a:ext uri="{FF2B5EF4-FFF2-40B4-BE49-F238E27FC236}">
                <a16:creationId xmlns:a16="http://schemas.microsoft.com/office/drawing/2014/main" id="{7A66E329-9A94-4436-A276-32126E9C8C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5</a:t>
            </a:r>
          </a:p>
        </p:txBody>
      </p:sp>
    </p:spTree>
    <p:extLst>
      <p:ext uri="{BB962C8B-B14F-4D97-AF65-F5344CB8AC3E}">
        <p14:creationId xmlns:p14="http://schemas.microsoft.com/office/powerpoint/2010/main" val="2427052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631EA9-DF19-4880-82F6-0EA37985E2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A44B40-ED8E-4CDD-85DE-DE301818E4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998BD8C-4F92-4C56-845B-E10618A3AB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 and positive label / TP and TN</a:t>
            </a:r>
          </a:p>
        </p:txBody>
      </p:sp>
      <p:sp>
        <p:nvSpPr>
          <p:cNvPr id="4" name="">
            <a:extLst xmlns:a="http://schemas.openxmlformats.org/drawingml/2006/main">
              <a:ext uri="{FF2B5EF4-FFF2-40B4-BE49-F238E27FC236}">
                <a16:creationId xmlns:a16="http://schemas.microsoft.com/office/drawing/2014/main" id="{53DEC4EA-2917-4239-A533-4F60153525B1}"/>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711C11-078A-4B16-B03B-C6200EE62C87}"/>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Class and positive label</a:t>
            </a:r>
          </a:p>
        </p:txBody>
      </p:sp>
      <p:sp>
        <p:nvSpPr>
          <p:cNvPr id="6" name="">
            <a:extLst xmlns:a="http://schemas.openxmlformats.org/drawingml/2006/main">
              <a:ext uri="{FF2B5EF4-FFF2-40B4-BE49-F238E27FC236}">
                <a16:creationId xmlns:a16="http://schemas.microsoft.com/office/drawing/2014/main" id="{A8B8A364-FCFD-4F8D-ADD5-40AC6837194E}"/>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class is a category. Here 1 means warning and 0 means no warning. Positive means the named class, not good news.</a:t>
            </a:r>
          </a:p>
        </p:txBody>
      </p:sp>
      <p:sp>
        <p:nvSpPr>
          <p:cNvPr id="7" name="">
            <a:extLst xmlns:a="http://schemas.openxmlformats.org/drawingml/2006/main">
              <a:ext uri="{FF2B5EF4-FFF2-40B4-BE49-F238E27FC236}">
                <a16:creationId xmlns:a16="http://schemas.microsoft.com/office/drawing/2014/main" id="{3C7029FD-C887-44C4-8844-0E4ED99E5690}"/>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EE18FB-D597-4D11-83BD-C825A0B6B65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TP and TN</a:t>
            </a:r>
          </a:p>
        </p:txBody>
      </p:sp>
      <p:sp>
        <p:nvSpPr>
          <p:cNvPr id="9" name="">
            <a:extLst xmlns:a="http://schemas.openxmlformats.org/drawingml/2006/main">
              <a:ext uri="{FF2B5EF4-FFF2-40B4-BE49-F238E27FC236}">
                <a16:creationId xmlns:a16="http://schemas.microsoft.com/office/drawing/2014/main" id="{ECA23B02-4175-4BD0-AEAA-797C263D32CD}"/>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True positive is a correctly flagged warning. True negative is a correctly unflagged non-warning.</a:t>
            </a:r>
          </a:p>
        </p:txBody>
      </p:sp>
      <p:sp>
        <p:nvSpPr>
          <p:cNvPr id="10" name="">
            <a:extLst xmlns:a="http://schemas.openxmlformats.org/drawingml/2006/main">
              <a:ext uri="{FF2B5EF4-FFF2-40B4-BE49-F238E27FC236}">
                <a16:creationId xmlns:a16="http://schemas.microsoft.com/office/drawing/2014/main" id="{A3270CBE-4E20-4507-B17E-8468ADC01F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6</a:t>
            </a:r>
          </a:p>
        </p:txBody>
      </p:sp>
    </p:spTree>
    <p:extLst>
      <p:ext uri="{BB962C8B-B14F-4D97-AF65-F5344CB8AC3E}">
        <p14:creationId xmlns:p14="http://schemas.microsoft.com/office/powerpoint/2010/main" val="4791406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0803B9-8DED-4329-8943-7238A22DA7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120A72-48F8-47AB-BA8D-49BC74218C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EB4F19EB-6162-4528-99FF-C912E48F3E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FP and FN</a:t>
            </a:r>
          </a:p>
        </p:txBody>
      </p:sp>
      <p:sp>
        <p:nvSpPr>
          <p:cNvPr id="4" name="">
            <a:extLst xmlns:a="http://schemas.openxmlformats.org/drawingml/2006/main">
              <a:ext uri="{FF2B5EF4-FFF2-40B4-BE49-F238E27FC236}">
                <a16:creationId xmlns:a16="http://schemas.microsoft.com/office/drawing/2014/main" id="{18D4A185-C642-40B6-B138-E8846589E2B7}"/>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AAE6EC-3E71-4A74-8FE1-04251F6B4C86}"/>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FP and FN</a:t>
            </a:r>
          </a:p>
        </p:txBody>
      </p:sp>
      <p:sp>
        <p:nvSpPr>
          <p:cNvPr id="6" name="">
            <a:extLst xmlns:a="http://schemas.openxmlformats.org/drawingml/2006/main">
              <a:ext uri="{FF2B5EF4-FFF2-40B4-BE49-F238E27FC236}">
                <a16:creationId xmlns:a16="http://schemas.microsoft.com/office/drawing/2014/main" id="{B27636D0-48E0-4BD4-B5C4-7A340E733B6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False positive is a false alarm. False negative is a missed warning.</a:t>
            </a:r>
          </a:p>
        </p:txBody>
      </p:sp>
      <p:sp>
        <p:nvSpPr>
          <p:cNvPr id="7" name="">
            <a:extLst xmlns:a="http://schemas.openxmlformats.org/drawingml/2006/main">
              <a:ext uri="{FF2B5EF4-FFF2-40B4-BE49-F238E27FC236}">
                <a16:creationId xmlns:a16="http://schemas.microsoft.com/office/drawing/2014/main" id="{95335988-1572-4246-BDEB-ED4B684360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7</a:t>
            </a:r>
          </a:p>
        </p:txBody>
      </p:sp>
    </p:spTree>
    <p:extLst>
      <p:ext uri="{BB962C8B-B14F-4D97-AF65-F5344CB8AC3E}">
        <p14:creationId xmlns:p14="http://schemas.microsoft.com/office/powerpoint/2010/main" val="10539236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E68C47-2A19-4183-AFDC-79179B4E99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10B6FB-B119-4DAE-AB80-A30FB1BB5F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231C4D8-9118-47FE-9AC0-F71C0AB679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Actual and predicted describe different things</a:t>
            </a:r>
          </a:p>
        </p:txBody>
      </p:sp>
      <p:sp>
        <p:nvSpPr>
          <p:cNvPr id="4" name="">
            <a:extLst xmlns:a="http://schemas.openxmlformats.org/drawingml/2006/main">
              <a:ext uri="{FF2B5EF4-FFF2-40B4-BE49-F238E27FC236}">
                <a16:creationId xmlns:a16="http://schemas.microsoft.com/office/drawing/2014/main" id="{18F0ED1E-B140-4FDA-9D3A-87B49DEE16C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C1340FC-CBF5-4FA0-814C-E9D770AB796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Actual is the recorded reference answer.</a:t>
            </a:r>
          </a:p>
        </p:txBody>
      </p:sp>
      <p:sp>
        <p:nvSpPr>
          <p:cNvPr id="6" name="">
            <a:extLst xmlns:a="http://schemas.openxmlformats.org/drawingml/2006/main">
              <a:ext uri="{FF2B5EF4-FFF2-40B4-BE49-F238E27FC236}">
                <a16:creationId xmlns:a16="http://schemas.microsoft.com/office/drawing/2014/main" id="{CFE01999-E0C5-4A6F-8839-7AB82543B2E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60C6758-7479-4C72-8B33-6C83AE87FBC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Predicted is the answer produced by our model.</a:t>
            </a:r>
          </a:p>
        </p:txBody>
      </p:sp>
      <p:sp>
        <p:nvSpPr>
          <p:cNvPr id="8" name="">
            <a:extLst xmlns:a="http://schemas.openxmlformats.org/drawingml/2006/main">
              <a:ext uri="{FF2B5EF4-FFF2-40B4-BE49-F238E27FC236}">
                <a16:creationId xmlns:a16="http://schemas.microsoft.com/office/drawing/2014/main" id="{26E9C837-1839-403D-881B-F8DE16866A8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BA524A-96FE-4AAC-8546-53A85D310D5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correct prediction matches the reference. Class 1 means warning in this example.</a:t>
            </a:r>
          </a:p>
        </p:txBody>
      </p:sp>
      <p:sp>
        <p:nvSpPr>
          <p:cNvPr id="10" name="">
            <a:extLst xmlns:a="http://schemas.openxmlformats.org/drawingml/2006/main">
              <a:ext uri="{FF2B5EF4-FFF2-40B4-BE49-F238E27FC236}">
                <a16:creationId xmlns:a16="http://schemas.microsoft.com/office/drawing/2014/main" id="{1A83CD7F-729A-4611-AE70-B0CF97E563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8</a:t>
            </a:r>
          </a:p>
        </p:txBody>
      </p:sp>
    </p:spTree>
    <p:extLst>
      <p:ext uri="{BB962C8B-B14F-4D97-AF65-F5344CB8AC3E}">
        <p14:creationId xmlns:p14="http://schemas.microsoft.com/office/powerpoint/2010/main" val="4971736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6E6FBE-1109-4550-92B7-18A0ABC1001D}"/>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500B1B-325C-4681-B579-616872612F05}"/>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Every paired result belongs in one cell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5990d4fb7564c2d"/>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FC5D3E-D886-4360-8240-E74AF0451925}"/>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4CC492-C200-4222-B067-7D95E3448901}"/>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Read actual first, then predicted. Explain the missed warning.</a:t>
            </a:r>
          </a:p>
        </p:txBody>
      </p:sp>
      <p:sp>
        <p:nvSpPr>
          <p:cNvPr id="6" name="">
            <a:extLst xmlns:a="http://schemas.openxmlformats.org/drawingml/2006/main">
              <a:ext uri="{FF2B5EF4-FFF2-40B4-BE49-F238E27FC236}">
                <a16:creationId xmlns:a16="http://schemas.microsoft.com/office/drawing/2014/main" id="{4E2954A5-318E-407B-9DD3-DB86023BEE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9</a:t>
            </a:r>
          </a:p>
        </p:txBody>
      </p:sp>
    </p:spTree>
    <p:extLst>
      <p:ext uri="{BB962C8B-B14F-4D97-AF65-F5344CB8AC3E}">
        <p14:creationId xmlns:p14="http://schemas.microsoft.com/office/powerpoint/2010/main" val="669482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DCC898-4C31-4F83-A4A9-C591462AA34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3CADAA-4F9E-4A09-8C5A-CF20A4C7E9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E229EE3-80A5-483A-BD61-121CEF7CA6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four kinds of result</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Actual / Predicted</a:t>
                      </a:r>
                    </a:p>
                  </a:txBody>
                  <a:tcPr marL="91440" marR="91440" marT="45720" marB="45720">
                    <a:solidFill>
                      <a:srgbClr val="2E7D6F"/>
                    </a:solidFill>
                  </a:tcPr>
                </a:tc>
                <a:tc>
                  <a:txBody>
                    <a:bodyPr/>
                    <a:lstStyle/>
                    <a:p>
                      <a:r>
                        <a:rPr sz="2025" b="1">
                          <a:solidFill>
                            <a:srgbClr val="FFFFFF"/>
                          </a:solidFill>
                          <a:latin typeface="Calibri"/>
                          <a:ea typeface="Calibri"/>
                          <a:cs typeface="Calibri"/>
                        </a:rPr>
                        <a:t>Warning 1</a:t>
                      </a:r>
                    </a:p>
                  </a:txBody>
                  <a:tcPr marL="91440" marR="91440" marT="45720" marB="45720">
                    <a:solidFill>
                      <a:srgbClr val="2E7D6F"/>
                    </a:solidFill>
                  </a:tcPr>
                </a:tc>
                <a:tc>
                  <a:txBody>
                    <a:bodyPr/>
                    <a:lstStyle/>
                    <a:p>
                      <a:r>
                        <a:rPr sz="2025" b="1">
                          <a:solidFill>
                            <a:srgbClr val="FFFFFF"/>
                          </a:solidFill>
                          <a:latin typeface="Calibri"/>
                          <a:ea typeface="Calibri"/>
                          <a:cs typeface="Calibri"/>
                        </a:rPr>
                        <a:t>No warning 0</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Warning 1</a:t>
                      </a:r>
                    </a:p>
                  </a:txBody>
                  <a:tcPr marL="91440" marR="91440" marT="45720" marB="45720">
                    <a:solidFill>
                      <a:srgbClr val="EEF3F6"/>
                    </a:solidFill>
                  </a:tcPr>
                </a:tc>
                <a:tc>
                  <a:txBody>
                    <a:bodyPr/>
                    <a:lstStyle/>
                    <a:p>
                      <a:r>
                        <a:rPr sz="2025" b="0">
                          <a:solidFill>
                            <a:srgbClr val="1C3144"/>
                          </a:solidFill>
                          <a:latin typeface="Calibri"/>
                          <a:ea typeface="Calibri"/>
                          <a:cs typeface="Calibri"/>
                        </a:rPr>
                        <a:t>TP = 1</a:t>
                      </a:r>
                    </a:p>
                  </a:txBody>
                  <a:tcPr marL="91440" marR="91440" marT="45720" marB="45720">
                    <a:solidFill>
                      <a:srgbClr val="EEF3F6"/>
                    </a:solidFill>
                  </a:tcPr>
                </a:tc>
                <a:tc>
                  <a:txBody>
                    <a:bodyPr/>
                    <a:lstStyle/>
                    <a:p>
                      <a:r>
                        <a:rPr sz="2025" b="0">
                          <a:solidFill>
                            <a:srgbClr val="1C3144"/>
                          </a:solidFill>
                          <a:latin typeface="Calibri"/>
                          <a:ea typeface="Calibri"/>
                          <a:cs typeface="Calibri"/>
                        </a:rPr>
                        <a:t>FN = 1</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No warning 0</a:t>
                      </a:r>
                    </a:p>
                  </a:txBody>
                  <a:tcPr marL="91440" marR="91440" marT="45720" marB="45720">
                    <a:solidFill>
                      <a:srgbClr val="FFFFFF"/>
                    </a:solidFill>
                  </a:tcPr>
                </a:tc>
                <a:tc>
                  <a:txBody>
                    <a:bodyPr/>
                    <a:lstStyle/>
                    <a:p>
                      <a:r>
                        <a:rPr sz="2025" b="0">
                          <a:solidFill>
                            <a:srgbClr val="1C3144"/>
                          </a:solidFill>
                          <a:latin typeface="Calibri"/>
                          <a:ea typeface="Calibri"/>
                          <a:cs typeface="Calibri"/>
                        </a:rPr>
                        <a:t>FP = 1</a:t>
                      </a:r>
                    </a:p>
                  </a:txBody>
                  <a:tcPr marL="91440" marR="91440" marT="45720" marB="45720">
                    <a:solidFill>
                      <a:srgbClr val="FFFFFF"/>
                    </a:solidFill>
                  </a:tcPr>
                </a:tc>
                <a:tc>
                  <a:txBody>
                    <a:bodyPr/>
                    <a:lstStyle/>
                    <a:p>
                      <a:r>
                        <a:rPr sz="2025" b="0">
                          <a:solidFill>
                            <a:srgbClr val="1C3144"/>
                          </a:solidFill>
                          <a:latin typeface="Calibri"/>
                          <a:ea typeface="Calibri"/>
                          <a:cs typeface="Calibri"/>
                        </a:rPr>
                        <a:t>TN = 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D3C1514-8D05-4DB6-A5F8-A37634902FD5}"/>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Rows are actual and columns are predicted.</a:t>
            </a:r>
          </a:p>
        </p:txBody>
      </p:sp>
      <p:sp>
        <p:nvSpPr>
          <p:cNvPr id="6" name="">
            <a:extLst xmlns:a="http://schemas.openxmlformats.org/drawingml/2006/main">
              <a:ext uri="{FF2B5EF4-FFF2-40B4-BE49-F238E27FC236}">
                <a16:creationId xmlns:a16="http://schemas.microsoft.com/office/drawing/2014/main" id="{8665E2DD-19BB-4335-A0AC-7D48F0AE7F9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10</a:t>
            </a:r>
          </a:p>
        </p:txBody>
      </p:sp>
    </p:spTree>
    <p:extLst>
      <p:ext uri="{BB962C8B-B14F-4D97-AF65-F5344CB8AC3E}">
        <p14:creationId xmlns:p14="http://schemas.microsoft.com/office/powerpoint/2010/main" val="4745365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49FA29-4FE8-41A2-A2C5-35806E689E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B47C60-00A0-4D0F-9E96-45E2BA441E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D840B71-C9FA-453F-9E1C-5995BCD890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Precision / Recall</a:t>
            </a:r>
          </a:p>
        </p:txBody>
      </p:sp>
      <p:sp>
        <p:nvSpPr>
          <p:cNvPr id="4" name="">
            <a:extLst xmlns:a="http://schemas.openxmlformats.org/drawingml/2006/main">
              <a:ext uri="{FF2B5EF4-FFF2-40B4-BE49-F238E27FC236}">
                <a16:creationId xmlns:a16="http://schemas.microsoft.com/office/drawing/2014/main" id="{57EC00A6-D30A-42F1-B104-A8B3BF99043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FF2592-4D23-45A0-9A0F-D1435645DC2C}"/>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Precision</a:t>
            </a:r>
          </a:p>
        </p:txBody>
      </p:sp>
      <p:sp>
        <p:nvSpPr>
          <p:cNvPr id="6" name="">
            <a:extLst xmlns:a="http://schemas.openxmlformats.org/drawingml/2006/main">
              <a:ext uri="{FF2B5EF4-FFF2-40B4-BE49-F238E27FC236}">
                <a16:creationId xmlns:a16="http://schemas.microsoft.com/office/drawing/2014/main" id="{86CB412E-F2D1-4963-B79D-0789613C01CB}"/>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Of all predicted warnings, the fraction that were actual warnings: TP / (TP + FP).</a:t>
            </a:r>
          </a:p>
        </p:txBody>
      </p:sp>
      <p:sp>
        <p:nvSpPr>
          <p:cNvPr id="7" name="">
            <a:extLst xmlns:a="http://schemas.openxmlformats.org/drawingml/2006/main">
              <a:ext uri="{FF2B5EF4-FFF2-40B4-BE49-F238E27FC236}">
                <a16:creationId xmlns:a16="http://schemas.microsoft.com/office/drawing/2014/main" id="{352BE1CE-A949-457C-922D-78C2FB337F17}"/>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AAD02F-3DAF-4FA7-88E7-6317A871D71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Recall</a:t>
            </a:r>
          </a:p>
        </p:txBody>
      </p:sp>
      <p:sp>
        <p:nvSpPr>
          <p:cNvPr id="9" name="">
            <a:extLst xmlns:a="http://schemas.openxmlformats.org/drawingml/2006/main">
              <a:ext uri="{FF2B5EF4-FFF2-40B4-BE49-F238E27FC236}">
                <a16:creationId xmlns:a16="http://schemas.microsoft.com/office/drawing/2014/main" id="{675A2D0C-6AFD-4AB1-A695-DB45AD687E57}"/>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Of all actual warnings, the fraction detected: TP / (TP + FN).</a:t>
            </a:r>
          </a:p>
        </p:txBody>
      </p:sp>
      <p:sp>
        <p:nvSpPr>
          <p:cNvPr id="10" name="">
            <a:extLst xmlns:a="http://schemas.openxmlformats.org/drawingml/2006/main">
              <a:ext uri="{FF2B5EF4-FFF2-40B4-BE49-F238E27FC236}">
                <a16:creationId xmlns:a16="http://schemas.microsoft.com/office/drawing/2014/main" id="{A2E7E122-3976-428F-A939-2A5639A734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11</a:t>
            </a:r>
          </a:p>
        </p:txBody>
      </p:sp>
    </p:spTree>
    <p:extLst>
      <p:ext uri="{BB962C8B-B14F-4D97-AF65-F5344CB8AC3E}">
        <p14:creationId xmlns:p14="http://schemas.microsoft.com/office/powerpoint/2010/main" val="7210299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436432-72C0-47D2-99FA-65AB8E3F88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73B53E-4990-4973-8575-3F47131069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EF473A7-2F50-41B1-9170-30137960E7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Precision and recall</a:t>
            </a:r>
          </a:p>
        </p:txBody>
      </p:sp>
      <p:sp>
        <p:nvSpPr>
          <p:cNvPr id="4" name="">
            <a:extLst xmlns:a="http://schemas.openxmlformats.org/drawingml/2006/main">
              <a:ext uri="{FF2B5EF4-FFF2-40B4-BE49-F238E27FC236}">
                <a16:creationId xmlns:a16="http://schemas.microsoft.com/office/drawing/2014/main" id="{1912DF85-9DFD-4C04-85A8-BA3812FFE40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D9828FF-2414-4376-84DB-6E4E691D6FBC}"/>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Precision asks: of the warnings raised, how many were correct?</a:t>
            </a:r>
          </a:p>
        </p:txBody>
      </p:sp>
      <p:sp>
        <p:nvSpPr>
          <p:cNvPr id="6" name="">
            <a:extLst xmlns:a="http://schemas.openxmlformats.org/drawingml/2006/main">
              <a:ext uri="{FF2B5EF4-FFF2-40B4-BE49-F238E27FC236}">
                <a16:creationId xmlns:a16="http://schemas.microsoft.com/office/drawing/2014/main" id="{E96844A9-536B-44F0-AC4E-308E01ECD20D}"/>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5995CC8-023E-4398-924D-50EBF2A94F6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Recall asks: of the real warnings, how many did we detect?</a:t>
            </a:r>
          </a:p>
        </p:txBody>
      </p:sp>
      <p:sp>
        <p:nvSpPr>
          <p:cNvPr id="8" name="">
            <a:extLst xmlns:a="http://schemas.openxmlformats.org/drawingml/2006/main">
              <a:ext uri="{FF2B5EF4-FFF2-40B4-BE49-F238E27FC236}">
                <a16:creationId xmlns:a16="http://schemas.microsoft.com/office/drawing/2014/main" id="{F935C764-BF68-4CFB-B924-0B131C249140}"/>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49EFD85-628C-4B1E-BCCA-290EC9187D14}"/>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zero denominator needs an explicit rule.</a:t>
            </a:r>
          </a:p>
        </p:txBody>
      </p:sp>
      <p:sp>
        <p:nvSpPr>
          <p:cNvPr id="10" name="">
            <a:extLst xmlns:a="http://schemas.openxmlformats.org/drawingml/2006/main">
              <a:ext uri="{FF2B5EF4-FFF2-40B4-BE49-F238E27FC236}">
                <a16:creationId xmlns:a16="http://schemas.microsoft.com/office/drawing/2014/main" id="{3C6C3425-7B87-49B7-8E79-B5AEE70CEC03}"/>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1368D7C-A99E-455D-892A-BCB95FB18319}"/>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rule in your task brief when implementing the function.</a:t>
            </a:r>
          </a:p>
        </p:txBody>
      </p:sp>
      <p:sp>
        <p:nvSpPr>
          <p:cNvPr id="12" name="">
            <a:extLst xmlns:a="http://schemas.openxmlformats.org/drawingml/2006/main">
              <a:ext uri="{FF2B5EF4-FFF2-40B4-BE49-F238E27FC236}">
                <a16:creationId xmlns:a16="http://schemas.microsoft.com/office/drawing/2014/main" id="{46CEB73A-671B-4846-A91B-D21C901733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12</a:t>
            </a:r>
          </a:p>
        </p:txBody>
      </p:sp>
    </p:spTree>
    <p:extLst>
      <p:ext uri="{BB962C8B-B14F-4D97-AF65-F5344CB8AC3E}">
        <p14:creationId xmlns:p14="http://schemas.microsoft.com/office/powerpoint/2010/main" val="16813044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D7AA3B-7CEC-4355-8065-B69C2817A3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9DA0B9-40ED-43AB-8DD6-E959B9734F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2C893851-357D-46D0-ADD7-F0932A6965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Probability and a decision threshold</a:t>
            </a:r>
          </a:p>
        </p:txBody>
      </p:sp>
      <p:sp>
        <p:nvSpPr>
          <p:cNvPr id="4" name="">
            <a:extLst xmlns:a="http://schemas.openxmlformats.org/drawingml/2006/main">
              <a:ext uri="{FF2B5EF4-FFF2-40B4-BE49-F238E27FC236}">
                <a16:creationId xmlns:a16="http://schemas.microsoft.com/office/drawing/2014/main" id="{9C464795-54DD-4EF0-A2BE-2E413D249038}"/>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E375F2-7FDE-45CB-A624-71A252DD9DF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Probability</a:t>
            </a:r>
          </a:p>
        </p:txBody>
      </p:sp>
      <p:sp>
        <p:nvSpPr>
          <p:cNvPr id="6" name="">
            <a:extLst xmlns:a="http://schemas.openxmlformats.org/drawingml/2006/main">
              <a:ext uri="{FF2B5EF4-FFF2-40B4-BE49-F238E27FC236}">
                <a16:creationId xmlns:a16="http://schemas.microsoft.com/office/drawing/2014/main" id="{80B6629E-A133-4DE3-AF68-040FB0D16F39}"/>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probability is between 0 and 1. Multiply by 100 for percent: 0.7 is 70%. A model’s probability is an estimate that needs checking.</a:t>
            </a:r>
          </a:p>
        </p:txBody>
      </p:sp>
      <p:sp>
        <p:nvSpPr>
          <p:cNvPr id="7" name="">
            <a:extLst xmlns:a="http://schemas.openxmlformats.org/drawingml/2006/main">
              <a:ext uri="{FF2B5EF4-FFF2-40B4-BE49-F238E27FC236}">
                <a16:creationId xmlns:a16="http://schemas.microsoft.com/office/drawing/2014/main" id="{2C780D23-CBFA-472C-957F-9B4216F1457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AA6E643-AC33-4AC6-83CC-431B556CE463}"/>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Threshold</a:t>
            </a:r>
          </a:p>
        </p:txBody>
      </p:sp>
      <p:sp>
        <p:nvSpPr>
          <p:cNvPr id="9" name="">
            <a:extLst xmlns:a="http://schemas.openxmlformats.org/drawingml/2006/main">
              <a:ext uri="{FF2B5EF4-FFF2-40B4-BE49-F238E27FC236}">
                <a16:creationId xmlns:a16="http://schemas.microsoft.com/office/drawing/2014/main" id="{9E2E1403-5DEB-4F81-B4CB-5781EA265090}"/>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threshold turns a score into a decision. For a rule score &gt;= 0.5, a score of 0.7 gives class 1. Use validation data to choose the threshold.</a:t>
            </a:r>
          </a:p>
        </p:txBody>
      </p:sp>
      <p:sp>
        <p:nvSpPr>
          <p:cNvPr id="10" name="">
            <a:extLst xmlns:a="http://schemas.openxmlformats.org/drawingml/2006/main">
              <a:ext uri="{FF2B5EF4-FFF2-40B4-BE49-F238E27FC236}">
                <a16:creationId xmlns:a16="http://schemas.microsoft.com/office/drawing/2014/main" id="{D5870B88-7574-45BC-BB9C-7EBEB9811E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13</a:t>
            </a:r>
          </a:p>
        </p:txBody>
      </p:sp>
    </p:spTree>
    <p:extLst>
      <p:ext uri="{BB962C8B-B14F-4D97-AF65-F5344CB8AC3E}">
        <p14:creationId xmlns:p14="http://schemas.microsoft.com/office/powerpoint/2010/main" val="470949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843FE7-427C-467D-B85D-FEBDDECBA2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9A6451-0305-4504-99A2-626963FDFDE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1F501FAB-2259-4FDD-97C6-011D3E5BF3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Apply one stated decision threshold</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Estimated positive probability</a:t>
                      </a:r>
                    </a:p>
                  </a:txBody>
                  <a:tcPr marL="91440" marR="91440" marT="45720" marB="45720">
                    <a:solidFill>
                      <a:srgbClr val="2E7D6F"/>
                    </a:solidFill>
                  </a:tcPr>
                </a:tc>
                <a:tc>
                  <a:txBody>
                    <a:bodyPr/>
                    <a:lstStyle/>
                    <a:p>
                      <a:r>
                        <a:rPr sz="2025" b="1">
                          <a:solidFill>
                            <a:srgbClr val="FFFFFF"/>
                          </a:solidFill>
                          <a:latin typeface="Calibri"/>
                          <a:ea typeface="Calibri"/>
                          <a:cs typeface="Calibri"/>
                        </a:rPr>
                        <a:t>At least 0.5?</a:t>
                      </a:r>
                    </a:p>
                  </a:txBody>
                  <a:tcPr marL="91440" marR="91440" marT="45720" marB="45720">
                    <a:solidFill>
                      <a:srgbClr val="2E7D6F"/>
                    </a:solidFill>
                  </a:tcPr>
                </a:tc>
                <a:tc>
                  <a:txBody>
                    <a:bodyPr/>
                    <a:lstStyle/>
                    <a:p>
                      <a:r>
                        <a:rPr sz="2025" b="1">
                          <a:solidFill>
                            <a:srgbClr val="FFFFFF"/>
                          </a:solidFill>
                          <a:latin typeface="Calibri"/>
                          <a:ea typeface="Calibri"/>
                          <a:cs typeface="Calibri"/>
                        </a:rPr>
                        <a:t>Decision</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0.20</a:t>
                      </a:r>
                    </a:p>
                  </a:txBody>
                  <a:tcPr marL="91440" marR="91440" marT="45720" marB="45720">
                    <a:solidFill>
                      <a:srgbClr val="EEF3F6"/>
                    </a:solidFill>
                  </a:tcPr>
                </a:tc>
                <a:tc>
                  <a:txBody>
                    <a:bodyPr/>
                    <a:lstStyle/>
                    <a:p>
                      <a:r>
                        <a:rPr sz="2025" b="0">
                          <a:solidFill>
                            <a:srgbClr val="1C3144"/>
                          </a:solidFill>
                          <a:latin typeface="Calibri"/>
                          <a:ea typeface="Calibri"/>
                          <a:cs typeface="Calibri"/>
                        </a:rPr>
                        <a:t>No</a:t>
                      </a:r>
                    </a:p>
                  </a:txBody>
                  <a:tcPr marL="91440" marR="91440" marT="45720" marB="45720">
                    <a:solidFill>
                      <a:srgbClr val="EEF3F6"/>
                    </a:solidFill>
                  </a:tcPr>
                </a:tc>
                <a:tc>
                  <a:txBody>
                    <a:bodyPr/>
                    <a:lstStyle/>
                    <a:p>
                      <a:r>
                        <a:rPr sz="2025" b="0">
                          <a:solidFill>
                            <a:srgbClr val="1C3144"/>
                          </a:solidFill>
                          <a:latin typeface="Calibri"/>
                          <a:ea typeface="Calibri"/>
                          <a:cs typeface="Calibri"/>
                        </a:rPr>
                        <a:t>Class 0</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0.50</a:t>
                      </a:r>
                    </a:p>
                  </a:txBody>
                  <a:tcPr marL="91440" marR="91440" marT="45720" marB="45720">
                    <a:solidFill>
                      <a:srgbClr val="FFFFFF"/>
                    </a:solidFill>
                  </a:tcPr>
                </a:tc>
                <a:tc>
                  <a:txBody>
                    <a:bodyPr/>
                    <a:lstStyle/>
                    <a:p>
                      <a:r>
                        <a:rPr sz="2025" b="0">
                          <a:solidFill>
                            <a:srgbClr val="1C3144"/>
                          </a:solidFill>
                          <a:latin typeface="Calibri"/>
                          <a:ea typeface="Calibri"/>
                          <a:cs typeface="Calibri"/>
                        </a:rPr>
                        <a:t>Yes</a:t>
                      </a:r>
                    </a:p>
                  </a:txBody>
                  <a:tcPr marL="91440" marR="91440" marT="45720" marB="45720">
                    <a:solidFill>
                      <a:srgbClr val="FFFFFF"/>
                    </a:solidFill>
                  </a:tcPr>
                </a:tc>
                <a:tc>
                  <a:txBody>
                    <a:bodyPr/>
                    <a:lstStyle/>
                    <a:p>
                      <a:r>
                        <a:rPr sz="2025" b="0">
                          <a:solidFill>
                            <a:srgbClr val="1C3144"/>
                          </a:solidFill>
                          <a:latin typeface="Calibri"/>
                          <a:ea typeface="Calibri"/>
                          <a:cs typeface="Calibri"/>
                        </a:rPr>
                        <a:t>Class 1</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0.80</a:t>
                      </a:r>
                    </a:p>
                  </a:txBody>
                  <a:tcPr marL="91440" marR="91440" marT="45720" marB="45720">
                    <a:solidFill>
                      <a:srgbClr val="EEF3F6"/>
                    </a:solidFill>
                  </a:tcPr>
                </a:tc>
                <a:tc>
                  <a:txBody>
                    <a:bodyPr/>
                    <a:lstStyle/>
                    <a:p>
                      <a:r>
                        <a:rPr sz="2025" b="0">
                          <a:solidFill>
                            <a:srgbClr val="1C3144"/>
                          </a:solidFill>
                          <a:latin typeface="Calibri"/>
                          <a:ea typeface="Calibri"/>
                          <a:cs typeface="Calibri"/>
                        </a:rPr>
                        <a:t>Yes</a:t>
                      </a:r>
                    </a:p>
                  </a:txBody>
                  <a:tcPr marL="91440" marR="91440" marT="45720" marB="45720">
                    <a:solidFill>
                      <a:srgbClr val="EEF3F6"/>
                    </a:solidFill>
                  </a:tcPr>
                </a:tc>
                <a:tc>
                  <a:txBody>
                    <a:bodyPr/>
                    <a:lstStyle/>
                    <a:p>
                      <a:r>
                        <a:rPr sz="2025" b="0">
                          <a:solidFill>
                            <a:srgbClr val="1C3144"/>
                          </a:solidFill>
                          <a:latin typeface="Calibri"/>
                          <a:ea typeface="Calibri"/>
                          <a:cs typeface="Calibri"/>
                        </a:rPr>
                        <a:t>Class 1</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110FBAC1-7521-4FA5-A1C3-42FB76FF106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0.5 means 50%. This rule includes equality. A probability is an estimate, not a promise that one case is correct.</a:t>
            </a:r>
          </a:p>
        </p:txBody>
      </p:sp>
      <p:sp>
        <p:nvSpPr>
          <p:cNvPr id="6" name="">
            <a:extLst xmlns:a="http://schemas.openxmlformats.org/drawingml/2006/main">
              <a:ext uri="{FF2B5EF4-FFF2-40B4-BE49-F238E27FC236}">
                <a16:creationId xmlns:a16="http://schemas.microsoft.com/office/drawing/2014/main" id="{605820BD-CE12-43A3-89AB-66742AD0E8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14</a:t>
            </a:r>
          </a:p>
        </p:txBody>
      </p:sp>
    </p:spTree>
    <p:extLst>
      <p:ext uri="{BB962C8B-B14F-4D97-AF65-F5344CB8AC3E}">
        <p14:creationId xmlns:p14="http://schemas.microsoft.com/office/powerpoint/2010/main" val="11459454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34BE05-CE04-4933-A5F3-4F99C2A4C1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405375-3A13-46A8-A8E3-B516055847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2C92AB1-2CC7-4CE6-AA42-047F0E692D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category decision can use a probability</a:t>
            </a:r>
          </a:p>
        </p:txBody>
      </p:sp>
      <p:sp>
        <p:nvSpPr>
          <p:cNvPr id="4" name="">
            <a:extLst xmlns:a="http://schemas.openxmlformats.org/drawingml/2006/main">
              <a:ext uri="{FF2B5EF4-FFF2-40B4-BE49-F238E27FC236}">
                <a16:creationId xmlns:a16="http://schemas.microsoft.com/office/drawing/2014/main" id="{2657E42B-447A-44C0-AD2B-C332AD4BB30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C32280B-2A4D-43E0-AF04-9EE703A8BAB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classifier may estimate the probability of class 1.</a:t>
            </a:r>
          </a:p>
        </p:txBody>
      </p:sp>
      <p:sp>
        <p:nvSpPr>
          <p:cNvPr id="6" name="">
            <a:extLst xmlns:a="http://schemas.openxmlformats.org/drawingml/2006/main">
              <a:ext uri="{FF2B5EF4-FFF2-40B4-BE49-F238E27FC236}">
                <a16:creationId xmlns:a16="http://schemas.microsoft.com/office/drawing/2014/main" id="{AF540749-7D1D-4739-9A91-11CB28E08A2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F0E5E26-11B3-422C-A088-9342E8D756C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threshold converts that estimate into warning or no warning.</a:t>
            </a:r>
          </a:p>
        </p:txBody>
      </p:sp>
      <p:sp>
        <p:nvSpPr>
          <p:cNvPr id="8" name="">
            <a:extLst xmlns:a="http://schemas.openxmlformats.org/drawingml/2006/main">
              <a:ext uri="{FF2B5EF4-FFF2-40B4-BE49-F238E27FC236}">
                <a16:creationId xmlns:a16="http://schemas.microsoft.com/office/drawing/2014/main" id="{F8FD3C40-1229-411B-B363-59B2DE5D154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B674146-2B5F-477A-ABDB-1590718E22A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Logistic regression is a classification model. Its probability estimates still need evaluation.</a:t>
            </a:r>
          </a:p>
        </p:txBody>
      </p:sp>
      <p:sp>
        <p:nvSpPr>
          <p:cNvPr id="10" name="">
            <a:extLst xmlns:a="http://schemas.openxmlformats.org/drawingml/2006/main">
              <a:ext uri="{FF2B5EF4-FFF2-40B4-BE49-F238E27FC236}">
                <a16:creationId xmlns:a16="http://schemas.microsoft.com/office/drawing/2014/main" id="{9632025B-A2C5-4777-B066-0BBE552FE8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15</a:t>
            </a:r>
          </a:p>
        </p:txBody>
      </p:sp>
    </p:spTree>
    <p:extLst>
      <p:ext uri="{BB962C8B-B14F-4D97-AF65-F5344CB8AC3E}">
        <p14:creationId xmlns:p14="http://schemas.microsoft.com/office/powerpoint/2010/main" val="1503220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1B4C67-90F7-4923-9C41-6D731150B89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BAD7D4-32EA-45F8-8A09-582FA7E7AE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ED5F4411-00A6-4873-AF41-719913C445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Threshold and cost</a:t>
            </a:r>
          </a:p>
        </p:txBody>
      </p:sp>
      <p:sp>
        <p:nvSpPr>
          <p:cNvPr id="4" name="">
            <a:extLst xmlns:a="http://schemas.openxmlformats.org/drawingml/2006/main">
              <a:ext uri="{FF2B5EF4-FFF2-40B4-BE49-F238E27FC236}">
                <a16:creationId xmlns:a16="http://schemas.microsoft.com/office/drawing/2014/main" id="{775001A3-413A-44A2-BC3D-541521DC24EB}"/>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A48CD3-5582-4BD2-AD0D-D6D7EE1B76D1}"/>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Threshold and cost</a:t>
            </a:r>
          </a:p>
        </p:txBody>
      </p:sp>
      <p:sp>
        <p:nvSpPr>
          <p:cNvPr id="6" name="">
            <a:extLst xmlns:a="http://schemas.openxmlformats.org/drawingml/2006/main">
              <a:ext uri="{FF2B5EF4-FFF2-40B4-BE49-F238E27FC236}">
                <a16:creationId xmlns:a16="http://schemas.microsoft.com/office/drawing/2014/main" id="{2724E9D9-F07A-402C-B271-EC6249B6887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threshold converts a score to a decision. A cost rule states how much each type of mistake matters. Lower thresholds usually increase recall; precision need not decrease at every step.</a:t>
            </a:r>
          </a:p>
        </p:txBody>
      </p:sp>
      <p:sp>
        <p:nvSpPr>
          <p:cNvPr id="7" name="">
            <a:extLst xmlns:a="http://schemas.openxmlformats.org/drawingml/2006/main">
              <a:ext uri="{FF2B5EF4-FFF2-40B4-BE49-F238E27FC236}">
                <a16:creationId xmlns:a16="http://schemas.microsoft.com/office/drawing/2014/main" id="{49FCCBC4-8C02-41B3-AA07-4CFB0CB695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16</a:t>
            </a:r>
          </a:p>
        </p:txBody>
      </p:sp>
    </p:spTree>
    <p:extLst>
      <p:ext uri="{BB962C8B-B14F-4D97-AF65-F5344CB8AC3E}">
        <p14:creationId xmlns:p14="http://schemas.microsoft.com/office/powerpoint/2010/main" val="7940514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00A456-40EB-4E3B-A9D5-1AE30EF164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93DDD7-6947-4601-BB20-8020F686A4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4B45DC8-D2FF-4C64-8507-320CF3EEA2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State the cost rule before calculating</a:t>
            </a:r>
          </a:p>
        </p:txBody>
      </p:sp>
      <p:sp>
        <p:nvSpPr>
          <p:cNvPr id="4" name="">
            <a:extLst xmlns:a="http://schemas.openxmlformats.org/drawingml/2006/main">
              <a:ext uri="{FF2B5EF4-FFF2-40B4-BE49-F238E27FC236}">
                <a16:creationId xmlns:a16="http://schemas.microsoft.com/office/drawing/2014/main" id="{070DF388-1479-4C38-9461-F68E26D462F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07D279F-C460-4D59-B39E-A389188D808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cost rule assigns a penalty to each kind of mistake. In this teaching example, a missed warning costs 5 units and a false alarm costs 1 unit.</a:t>
            </a:r>
          </a:p>
        </p:txBody>
      </p:sp>
      <p:sp>
        <p:nvSpPr>
          <p:cNvPr id="6" name="">
            <a:extLst xmlns:a="http://schemas.openxmlformats.org/drawingml/2006/main">
              <a:ext uri="{FF2B5EF4-FFF2-40B4-BE49-F238E27FC236}">
                <a16:creationId xmlns:a16="http://schemas.microsoft.com/office/drawing/2014/main" id="{D6CFA143-42E5-4B18-813D-8C4ADBEA044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6A9DEA8-9409-4BAF-8176-D90FC07948B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Total cost = 5 × FN + FP. One missed warning and one false alarm therefore cost 6 units.</a:t>
            </a:r>
          </a:p>
        </p:txBody>
      </p:sp>
      <p:sp>
        <p:nvSpPr>
          <p:cNvPr id="8" name="">
            <a:extLst xmlns:a="http://schemas.openxmlformats.org/drawingml/2006/main">
              <a:ext uri="{FF2B5EF4-FFF2-40B4-BE49-F238E27FC236}">
                <a16:creationId xmlns:a16="http://schemas.microsoft.com/office/drawing/2014/main" id="{E26D0ECC-7862-4233-A4E5-DE8105135EA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A5A5E2F-5FD0-4715-AA3F-6DCAF162A19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invented teaching penalties. Use the published assignment cost rule and explain whose consequences it represents.</a:t>
            </a:r>
          </a:p>
        </p:txBody>
      </p:sp>
      <p:sp>
        <p:nvSpPr>
          <p:cNvPr id="10" name="">
            <a:extLst xmlns:a="http://schemas.openxmlformats.org/drawingml/2006/main">
              <a:ext uri="{FF2B5EF4-FFF2-40B4-BE49-F238E27FC236}">
                <a16:creationId xmlns:a16="http://schemas.microsoft.com/office/drawing/2014/main" id="{50D13E96-BFFE-4BC0-801D-561E437288E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17</a:t>
            </a:r>
          </a:p>
        </p:txBody>
      </p:sp>
    </p:spTree>
    <p:extLst>
      <p:ext uri="{BB962C8B-B14F-4D97-AF65-F5344CB8AC3E}">
        <p14:creationId xmlns:p14="http://schemas.microsoft.com/office/powerpoint/2010/main" val="10356560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C736CE-7882-44B7-B9F0-8342FB3EB27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18C3B2-7502-48FA-B1F8-29E70B0AC0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91E93BE0-61A2-4596-AB5F-1374813979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syntax in the example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Code</a:t>
                      </a:r>
                    </a:p>
                  </a:txBody>
                  <a:tcPr marL="91440" marR="91440" marT="45720" marB="45720">
                    <a:solidFill>
                      <a:srgbClr val="2E7D6F"/>
                    </a:solidFill>
                  </a:tcPr>
                </a:tc>
                <a:tc>
                  <a:txBody>
                    <a:bodyPr/>
                    <a:lstStyle/>
                    <a:p>
                      <a:r>
                        <a:rPr sz="2025" b="1">
                          <a:solidFill>
                            <a:srgbClr val="FFFFFF"/>
                          </a:solidFill>
                          <a:latin typeface="Calibri"/>
                          <a:ea typeface="Calibri"/>
                          <a:cs typeface="Calibri"/>
                        </a:rPr>
                        <a:t>Equivalent idea</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tp = tn = fp = fn = 0</a:t>
                      </a:r>
                    </a:p>
                  </a:txBody>
                  <a:tcPr marL="91440" marR="91440" marT="45720" marB="45720">
                    <a:solidFill>
                      <a:srgbClr val="EEF3F6"/>
                    </a:solidFill>
                  </a:tcPr>
                </a:tc>
                <a:tc>
                  <a:txBody>
                    <a:bodyPr/>
                    <a:lstStyle/>
                    <a:p>
                      <a:r>
                        <a:rPr sz="2025" b="0">
                          <a:solidFill>
                            <a:srgbClr val="1C3144"/>
                          </a:solidFill>
                          <a:latin typeface="Calibri"/>
                          <a:ea typeface="Calibri"/>
                          <a:cs typeface="Calibri"/>
                        </a:rPr>
                        <a:t>Set each of four counts to zero</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tp += 1</a:t>
                      </a:r>
                    </a:p>
                  </a:txBody>
                  <a:tcPr marL="91440" marR="91440" marT="45720" marB="45720">
                    <a:solidFill>
                      <a:srgbClr val="FFFFFF"/>
                    </a:solidFill>
                  </a:tcPr>
                </a:tc>
                <a:tc>
                  <a:txBody>
                    <a:bodyPr/>
                    <a:lstStyle/>
                    <a:p>
                      <a:r>
                        <a:rPr sz="2025" b="0">
                          <a:solidFill>
                            <a:srgbClr val="1C3144"/>
                          </a:solidFill>
                          <a:latin typeface="Calibri"/>
                          <a:ea typeface="Calibri"/>
                          <a:cs typeface="Calibri"/>
                        </a:rPr>
                        <a:t>tp = tp + 1</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zip(actual, predicted)</a:t>
                      </a:r>
                    </a:p>
                  </a:txBody>
                  <a:tcPr marL="91440" marR="91440" marT="45720" marB="45720">
                    <a:solidFill>
                      <a:srgbClr val="EEF3F6"/>
                    </a:solidFill>
                  </a:tcPr>
                </a:tc>
                <a:tc>
                  <a:txBody>
                    <a:bodyPr/>
                    <a:lstStyle/>
                    <a:p>
                      <a:r>
                        <a:rPr sz="2025" b="0">
                          <a:solidFill>
                            <a:srgbClr val="1C3144"/>
                          </a:solidFill>
                          <a:latin typeface="Calibri"/>
                          <a:ea typeface="Calibri"/>
                          <a:cs typeface="Calibri"/>
                        </a:rPr>
                        <a:t>Pair items in the same positions</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elif condition:</a:t>
                      </a:r>
                    </a:p>
                  </a:txBody>
                  <a:tcPr marL="91440" marR="91440" marT="45720" marB="45720">
                    <a:solidFill>
                      <a:srgbClr val="FFFFFF"/>
                    </a:solidFill>
                  </a:tcPr>
                </a:tc>
                <a:tc>
                  <a:txBody>
                    <a:bodyPr/>
                    <a:lstStyle/>
                    <a:p>
                      <a:r>
                        <a:rPr sz="2025" b="0">
                          <a:solidFill>
                            <a:srgbClr val="1C3144"/>
                          </a:solidFill>
                          <a:latin typeface="Calibri"/>
                          <a:ea typeface="Calibri"/>
                          <a:cs typeface="Calibri"/>
                        </a:rPr>
                        <a:t>Try this branch if earlier ones failed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1EF6B9F-B7C6-407C-AFB0-6CDA8FC5534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Our paired lists must have matching lengths. zip alone stops at the shorter list.</a:t>
            </a:r>
          </a:p>
        </p:txBody>
      </p:sp>
      <p:sp>
        <p:nvSpPr>
          <p:cNvPr id="6" name="">
            <a:extLst xmlns:a="http://schemas.openxmlformats.org/drawingml/2006/main">
              <a:ext uri="{FF2B5EF4-FFF2-40B4-BE49-F238E27FC236}">
                <a16:creationId xmlns:a16="http://schemas.microsoft.com/office/drawing/2014/main" id="{841736E6-75CC-4243-8BA1-00EC59714F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18</a:t>
            </a:r>
          </a:p>
        </p:txBody>
      </p:sp>
    </p:spTree>
    <p:extLst>
      <p:ext uri="{BB962C8B-B14F-4D97-AF65-F5344CB8AC3E}">
        <p14:creationId xmlns:p14="http://schemas.microsoft.com/office/powerpoint/2010/main" val="9075249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6CD5C6-2269-4F17-958A-6C6BE6FED4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B4E8EC-4099-421C-8E3F-B2549034B0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20FDE10-09CF-4431-A928-C24E2EE343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 outcomes in Python</a:t>
            </a:r>
          </a:p>
        </p:txBody>
      </p:sp>
      <p:sp>
        <p:nvSpPr>
          <p:cNvPr id="4" name="">
            <a:extLst xmlns:a="http://schemas.openxmlformats.org/drawingml/2006/main">
              <a:ext uri="{FF2B5EF4-FFF2-40B4-BE49-F238E27FC236}">
                <a16:creationId xmlns:a16="http://schemas.microsoft.com/office/drawing/2014/main" id="{DC076A80-7CAA-4070-8C2E-1A9E5C4E6C4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709859-5883-4DCE-A25C-859B1569F1F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actual = [1, 1, 0,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predicted = [1, 0, 1, 0]</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truth, guess in zip(actual, predicted):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print(truth, guess)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Count the four categories on paper before calculating.</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tp, fn, fp, tn = 1, 1, 1,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print(tp / (tp + fp))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print(tp / (tp + fn))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print(5 * fn + fp)</a:t>
            </a:r>
          </a:p>
        </p:txBody>
      </p:sp>
      <p:sp>
        <p:nvSpPr>
          <p:cNvPr id="6" name="">
            <a:extLst xmlns:a="http://schemas.openxmlformats.org/drawingml/2006/main">
              <a:ext uri="{FF2B5EF4-FFF2-40B4-BE49-F238E27FC236}">
                <a16:creationId xmlns:a16="http://schemas.microsoft.com/office/drawing/2014/main" id="{672F7766-E47E-418D-A5D5-4D913C45B3A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BC908911-2BB7-44DB-9302-F71A1BC5060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568AD285-96AD-4493-8200-CA44194C68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19</a:t>
            </a:r>
          </a:p>
        </p:txBody>
      </p:sp>
    </p:spTree>
    <p:extLst>
      <p:ext uri="{BB962C8B-B14F-4D97-AF65-F5344CB8AC3E}">
        <p14:creationId xmlns:p14="http://schemas.microsoft.com/office/powerpoint/2010/main" val="15389030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B32B26-975C-42A1-8B9F-6A02308D23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281636-0B8E-43C5-A6F9-3CEB272276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99AFAAAA-88B7-49C9-8FB5-260B309CF4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 outcomes results</a:t>
            </a:r>
          </a:p>
        </p:txBody>
      </p:sp>
      <p:sp>
        <p:nvSpPr>
          <p:cNvPr id="4" name="">
            <a:extLst xmlns:a="http://schemas.openxmlformats.org/drawingml/2006/main">
              <a:ext uri="{FF2B5EF4-FFF2-40B4-BE49-F238E27FC236}">
                <a16:creationId xmlns:a16="http://schemas.microsoft.com/office/drawing/2014/main" id="{5F113D32-6AF6-4C6C-87CC-B290552F6F64}"/>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1A845A-E22C-4A93-9AE5-B957A0E633EC}"/>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Four paired rows, then precision 0.5, recall 0.5 and teaching cost 6.</a:t>
            </a:r>
          </a:p>
        </p:txBody>
      </p:sp>
      <p:sp>
        <p:nvSpPr>
          <p:cNvPr id="6" name="">
            <a:extLst xmlns:a="http://schemas.openxmlformats.org/drawingml/2006/main">
              <a:ext uri="{FF2B5EF4-FFF2-40B4-BE49-F238E27FC236}">
                <a16:creationId xmlns:a16="http://schemas.microsoft.com/office/drawing/2014/main" id="{F157717E-6634-4BA3-9EEC-2D7A11AAA4AD}"/>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BF086808-F905-41FB-8712-A8DAAE10CFF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20</a:t>
            </a:r>
          </a:p>
        </p:txBody>
      </p:sp>
    </p:spTree>
    <p:extLst>
      <p:ext uri="{BB962C8B-B14F-4D97-AF65-F5344CB8AC3E}">
        <p14:creationId xmlns:p14="http://schemas.microsoft.com/office/powerpoint/2010/main" val="9485501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338B97-3EF1-433B-9951-561C2CC89A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880E30-1171-43CE-BECE-6863AABE82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1A00A55-55E6-4D72-89C5-7C2F202AB4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four counters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Actual, predicted</a:t>
                      </a:r>
                    </a:p>
                  </a:txBody>
                  <a:tcPr marL="91440" marR="91440" marT="45720" marB="45720">
                    <a:solidFill>
                      <a:srgbClr val="2E7D6F"/>
                    </a:solidFill>
                  </a:tcPr>
                </a:tc>
                <a:tc>
                  <a:txBody>
                    <a:bodyPr/>
                    <a:lstStyle/>
                    <a:p>
                      <a:r>
                        <a:rPr sz="2025" b="1">
                          <a:solidFill>
                            <a:srgbClr val="FFFFFF"/>
                          </a:solidFill>
                          <a:latin typeface="Calibri"/>
                          <a:ea typeface="Calibri"/>
                          <a:cs typeface="Calibri"/>
                        </a:rPr>
                        <a:t>Chosen counter</a:t>
                      </a:r>
                    </a:p>
                  </a:txBody>
                  <a:tcPr marL="91440" marR="91440" marT="45720" marB="45720">
                    <a:solidFill>
                      <a:srgbClr val="2E7D6F"/>
                    </a:solidFill>
                  </a:tcPr>
                </a:tc>
                <a:tc>
                  <a:txBody>
                    <a:bodyPr/>
                    <a:lstStyle/>
                    <a:p>
                      <a:r>
                        <a:rPr sz="2025" b="1">
                          <a:solidFill>
                            <a:srgbClr val="FFFFFF"/>
                          </a:solidFill>
                          <a:latin typeface="Calibri"/>
                          <a:ea typeface="Calibri"/>
                          <a:cs typeface="Calibri"/>
                        </a:rPr>
                        <a:t>Counts: TP TN FP FN</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1, 1</a:t>
                      </a:r>
                    </a:p>
                  </a:txBody>
                  <a:tcPr marL="91440" marR="91440" marT="45720" marB="45720">
                    <a:solidFill>
                      <a:srgbClr val="EEF3F6"/>
                    </a:solidFill>
                  </a:tcPr>
                </a:tc>
                <a:tc>
                  <a:txBody>
                    <a:bodyPr/>
                    <a:lstStyle/>
                    <a:p>
                      <a:r>
                        <a:rPr sz="2025" b="0">
                          <a:solidFill>
                            <a:srgbClr val="1C3144"/>
                          </a:solidFill>
                          <a:latin typeface="Calibri"/>
                          <a:ea typeface="Calibri"/>
                          <a:cs typeface="Calibri"/>
                        </a:rPr>
                        <a:t>TP increases</a:t>
                      </a:r>
                    </a:p>
                  </a:txBody>
                  <a:tcPr marL="91440" marR="91440" marT="45720" marB="45720">
                    <a:solidFill>
                      <a:srgbClr val="EEF3F6"/>
                    </a:solidFill>
                  </a:tcPr>
                </a:tc>
                <a:tc>
                  <a:txBody>
                    <a:bodyPr/>
                    <a:lstStyle/>
                    <a:p>
                      <a:r>
                        <a:rPr sz="2025" b="0">
                          <a:solidFill>
                            <a:srgbClr val="1C3144"/>
                          </a:solidFill>
                          <a:latin typeface="Calibri"/>
                          <a:ea typeface="Calibri"/>
                          <a:cs typeface="Calibri"/>
                        </a:rPr>
                        <a:t>1 0 0 0</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1, 0</a:t>
                      </a:r>
                    </a:p>
                  </a:txBody>
                  <a:tcPr marL="91440" marR="91440" marT="45720" marB="45720">
                    <a:solidFill>
                      <a:srgbClr val="FFFFFF"/>
                    </a:solidFill>
                  </a:tcPr>
                </a:tc>
                <a:tc>
                  <a:txBody>
                    <a:bodyPr/>
                    <a:lstStyle/>
                    <a:p>
                      <a:r>
                        <a:rPr sz="2025" b="0">
                          <a:solidFill>
                            <a:srgbClr val="1C3144"/>
                          </a:solidFill>
                          <a:latin typeface="Calibri"/>
                          <a:ea typeface="Calibri"/>
                          <a:cs typeface="Calibri"/>
                        </a:rPr>
                        <a:t>FN increases</a:t>
                      </a:r>
                    </a:p>
                  </a:txBody>
                  <a:tcPr marL="91440" marR="91440" marT="45720" marB="45720">
                    <a:solidFill>
                      <a:srgbClr val="FFFFFF"/>
                    </a:solidFill>
                  </a:tcPr>
                </a:tc>
                <a:tc>
                  <a:txBody>
                    <a:bodyPr/>
                    <a:lstStyle/>
                    <a:p>
                      <a:r>
                        <a:rPr sz="2025" b="0">
                          <a:solidFill>
                            <a:srgbClr val="1C3144"/>
                          </a:solidFill>
                          <a:latin typeface="Calibri"/>
                          <a:ea typeface="Calibri"/>
                          <a:cs typeface="Calibri"/>
                        </a:rPr>
                        <a:t>1 0 0 1</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0, 1</a:t>
                      </a:r>
                    </a:p>
                  </a:txBody>
                  <a:tcPr marL="91440" marR="91440" marT="45720" marB="45720">
                    <a:solidFill>
                      <a:srgbClr val="EEF3F6"/>
                    </a:solidFill>
                  </a:tcPr>
                </a:tc>
                <a:tc>
                  <a:txBody>
                    <a:bodyPr/>
                    <a:lstStyle/>
                    <a:p>
                      <a:r>
                        <a:rPr sz="2025" b="0">
                          <a:solidFill>
                            <a:srgbClr val="1C3144"/>
                          </a:solidFill>
                          <a:latin typeface="Calibri"/>
                          <a:ea typeface="Calibri"/>
                          <a:cs typeface="Calibri"/>
                        </a:rPr>
                        <a:t>FP increases</a:t>
                      </a:r>
                    </a:p>
                  </a:txBody>
                  <a:tcPr marL="91440" marR="91440" marT="45720" marB="45720">
                    <a:solidFill>
                      <a:srgbClr val="EEF3F6"/>
                    </a:solidFill>
                  </a:tcPr>
                </a:tc>
                <a:tc>
                  <a:txBody>
                    <a:bodyPr/>
                    <a:lstStyle/>
                    <a:p>
                      <a:r>
                        <a:rPr sz="2025" b="0">
                          <a:solidFill>
                            <a:srgbClr val="1C3144"/>
                          </a:solidFill>
                          <a:latin typeface="Calibri"/>
                          <a:ea typeface="Calibri"/>
                          <a:cs typeface="Calibri"/>
                        </a:rPr>
                        <a:t>1 0 1 1</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0, 0</a:t>
                      </a:r>
                    </a:p>
                  </a:txBody>
                  <a:tcPr marL="91440" marR="91440" marT="45720" marB="45720">
                    <a:solidFill>
                      <a:srgbClr val="FFFFFF"/>
                    </a:solidFill>
                  </a:tcPr>
                </a:tc>
                <a:tc>
                  <a:txBody>
                    <a:bodyPr/>
                    <a:lstStyle/>
                    <a:p>
                      <a:r>
                        <a:rPr sz="2025" b="0">
                          <a:solidFill>
                            <a:srgbClr val="1C3144"/>
                          </a:solidFill>
                          <a:latin typeface="Calibri"/>
                          <a:ea typeface="Calibri"/>
                          <a:cs typeface="Calibri"/>
                        </a:rPr>
                        <a:t>TN increases</a:t>
                      </a:r>
                    </a:p>
                  </a:txBody>
                  <a:tcPr marL="91440" marR="91440" marT="45720" marB="45720">
                    <a:solidFill>
                      <a:srgbClr val="FFFFFF"/>
                    </a:solidFill>
                  </a:tcPr>
                </a:tc>
                <a:tc>
                  <a:txBody>
                    <a:bodyPr/>
                    <a:lstStyle/>
                    <a:p>
                      <a:r>
                        <a:rPr sz="2025" b="0">
                          <a:solidFill>
                            <a:srgbClr val="1C3144"/>
                          </a:solidFill>
                          <a:latin typeface="Calibri"/>
                          <a:ea typeface="Calibri"/>
                          <a:cs typeface="Calibri"/>
                        </a:rPr>
                        <a:t>1 1 1 1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BD5C3B4-F145-48C4-8612-BF80D4B39A4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All counts start at zero. Each observation follows exactly one if/elif/else branch.</a:t>
            </a:r>
          </a:p>
        </p:txBody>
      </p:sp>
      <p:sp>
        <p:nvSpPr>
          <p:cNvPr id="6" name="">
            <a:extLst xmlns:a="http://schemas.openxmlformats.org/drawingml/2006/main">
              <a:ext uri="{FF2B5EF4-FFF2-40B4-BE49-F238E27FC236}">
                <a16:creationId xmlns:a16="http://schemas.microsoft.com/office/drawing/2014/main" id="{BFDC76B6-0813-4A51-8646-79F59217A80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21</a:t>
            </a:r>
          </a:p>
        </p:txBody>
      </p:sp>
    </p:spTree>
    <p:extLst>
      <p:ext uri="{BB962C8B-B14F-4D97-AF65-F5344CB8AC3E}">
        <p14:creationId xmlns:p14="http://schemas.microsoft.com/office/powerpoint/2010/main" val="11548564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824FF9-5D55-4262-8EFB-B30CC5A5C6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3C59D4-4545-49EB-8DF1-95933A6326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F6C3AF9-7549-42C9-B413-44491E8966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arbitrary paired observations</a:t>
            </a:r>
          </a:p>
        </p:txBody>
      </p:sp>
      <p:sp>
        <p:nvSpPr>
          <p:cNvPr id="4" name="">
            <a:extLst xmlns:a="http://schemas.openxmlformats.org/drawingml/2006/main">
              <a:ext uri="{FF2B5EF4-FFF2-40B4-BE49-F238E27FC236}">
                <a16:creationId xmlns:a16="http://schemas.microsoft.com/office/drawing/2014/main" id="{E327E576-D8F7-4B10-A3D4-90E0F19C877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30E4C9-19D9-4107-87C1-B4751F4D3CF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A486F1-CDD3-43F9-95D0-137ED87574E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Start every counter at zero before the loop. == compares labels. and means both comparisons must be true. elif checks another condition only when earlier ones were false.</a:t>
            </a:r>
          </a:p>
        </p:txBody>
      </p:sp>
      <p:sp>
        <p:nvSpPr>
          <p:cNvPr id="7" name="">
            <a:extLst xmlns:a="http://schemas.openxmlformats.org/drawingml/2006/main">
              <a:ext uri="{FF2B5EF4-FFF2-40B4-BE49-F238E27FC236}">
                <a16:creationId xmlns:a16="http://schemas.microsoft.com/office/drawing/2014/main" id="{6336F2F6-4D75-40CB-918C-021E3911C6A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tp = tn = fp = fn = 0 sets all four counters to zero. tp += 1 is shorthand for tp = tp + 1.</a:t>
            </a:r>
          </a:p>
        </p:txBody>
      </p:sp>
      <p:sp>
        <p:nvSpPr>
          <p:cNvPr id="8" name="">
            <a:extLst xmlns:a="http://schemas.openxmlformats.org/drawingml/2006/main">
              <a:ext uri="{FF2B5EF4-FFF2-40B4-BE49-F238E27FC236}">
                <a16:creationId xmlns:a16="http://schemas.microsoft.com/office/drawing/2014/main" id="{CB657A2F-44D4-4C46-87E8-132443FBB6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22</a:t>
            </a:r>
          </a:p>
        </p:txBody>
      </p:sp>
    </p:spTree>
    <p:extLst>
      <p:ext uri="{BB962C8B-B14F-4D97-AF65-F5344CB8AC3E}">
        <p14:creationId xmlns:p14="http://schemas.microsoft.com/office/powerpoint/2010/main" val="17894420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9A0921-D76F-4B83-A26F-E3155DEA92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BDC004-16FB-4977-8CDA-F9A1246C9F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147A178-6985-4211-A05E-D71F8AAE9F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Counting arbitrary paired observations in Python (1/3)</a:t>
            </a:r>
          </a:p>
        </p:txBody>
      </p:sp>
      <p:sp>
        <p:nvSpPr>
          <p:cNvPr id="4" name="">
            <a:extLst xmlns:a="http://schemas.openxmlformats.org/drawingml/2006/main">
              <a:ext uri="{FF2B5EF4-FFF2-40B4-BE49-F238E27FC236}">
                <a16:creationId xmlns:a16="http://schemas.microsoft.com/office/drawing/2014/main" id="{D95DA257-5B4A-4DF6-9565-00CC215EBCD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FEBFBF-0D7D-4F9B-87CB-1D9E6AA09F0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tp = tn = fp = fn = 0</a:t>
            </a:r>
          </a:p>
        </p:txBody>
      </p:sp>
      <p:sp>
        <p:nvSpPr>
          <p:cNvPr id="6" name="">
            <a:extLst xmlns:a="http://schemas.openxmlformats.org/drawingml/2006/main">
              <a:ext uri="{FF2B5EF4-FFF2-40B4-BE49-F238E27FC236}">
                <a16:creationId xmlns:a16="http://schemas.microsoft.com/office/drawing/2014/main" id="{902446E6-936A-4DD9-9ADA-CF681FE7A3A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95D9102-0FC7-4E74-A694-1A5BA396BDB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8" name="">
            <a:extLst xmlns:a="http://schemas.openxmlformats.org/drawingml/2006/main">
              <a:ext uri="{FF2B5EF4-FFF2-40B4-BE49-F238E27FC236}">
                <a16:creationId xmlns:a16="http://schemas.microsoft.com/office/drawing/2014/main" id="{30FF1BE7-86E1-4E81-93D3-95F5E9BF648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9" name="">
            <a:extLst xmlns:a="http://schemas.openxmlformats.org/drawingml/2006/main">
              <a:ext uri="{FF2B5EF4-FFF2-40B4-BE49-F238E27FC236}">
                <a16:creationId xmlns:a16="http://schemas.microsoft.com/office/drawing/2014/main" id="{2ED49DFA-683A-4AE6-A132-3D81322B7A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23</a:t>
            </a:r>
          </a:p>
        </p:txBody>
      </p:sp>
    </p:spTree>
    <p:extLst>
      <p:ext uri="{BB962C8B-B14F-4D97-AF65-F5344CB8AC3E}">
        <p14:creationId xmlns:p14="http://schemas.microsoft.com/office/powerpoint/2010/main" val="15667215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0025D2-A8F3-48EA-B7E2-EB649119A2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CC51A1-CD2F-4E35-830E-CC71E568BB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BCBE1E9-DBA2-480D-A7C2-F55CA2E8892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Counting arbitrary paired observations in Python (2/3)</a:t>
            </a:r>
          </a:p>
        </p:txBody>
      </p:sp>
      <p:sp>
        <p:nvSpPr>
          <p:cNvPr id="4" name="">
            <a:extLst xmlns:a="http://schemas.openxmlformats.org/drawingml/2006/main">
              <a:ext uri="{FF2B5EF4-FFF2-40B4-BE49-F238E27FC236}">
                <a16:creationId xmlns:a16="http://schemas.microsoft.com/office/drawing/2014/main" id="{10055C9C-1968-4F76-A019-A5AC8395F19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6BA707-4D12-48C4-9735-382760A1EDC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44" b="0">
                <a:solidFill>
                  <a:srgbClr val="F4F7FA"/>
                </a:solidFill>
                <a:latin typeface="Courier New"/>
                <a:ea typeface="Courier New"/>
                <a:cs typeface="Courier New"/>
              </a:defRPr>
            </a:pPr>
            <a:r>
              <a:rPr sz="1944" b="0">
                <a:solidFill>
                  <a:srgbClr val="FFB080"/>
                </a:solidFill>
                <a:latin typeface="Courier New"/>
                <a:ea typeface="Courier New"/>
                <a:cs typeface="Courier New"/>
              </a:rPr>
              <a:t>for</a:t>
            </a:r>
            <a:r>
              <a:rPr sz="1944" b="0">
                <a:solidFill>
                  <a:srgbClr val="F4F7FA"/>
                </a:solidFill>
                <a:latin typeface="Courier New"/>
                <a:ea typeface="Courier New"/>
                <a:cs typeface="Courier New"/>
              </a:rPr>
              <a:t> truth, guess in zip(actual, predicted):</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a:t>
            </a:r>
            <a:r>
              <a:rPr sz="1944" b="0">
                <a:solidFill>
                  <a:srgbClr val="FFB080"/>
                </a:solidFill>
                <a:latin typeface="Courier New"/>
                <a:ea typeface="Courier New"/>
                <a:cs typeface="Courier New"/>
              </a:rPr>
              <a:t>if</a:t>
            </a:r>
            <a:r>
              <a:rPr sz="1944" b="0">
                <a:solidFill>
                  <a:srgbClr val="F4F7FA"/>
                </a:solidFill>
                <a:latin typeface="Courier New"/>
                <a:ea typeface="Courier New"/>
                <a:cs typeface="Courier New"/>
              </a:rPr>
              <a:t> truth == 1 and guess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tp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a:t>
            </a:r>
            <a:r>
              <a:rPr sz="1944" b="0">
                <a:solidFill>
                  <a:srgbClr val="FFB080"/>
                </a:solidFill>
                <a:latin typeface="Courier New"/>
                <a:ea typeface="Courier New"/>
                <a:cs typeface="Courier New"/>
              </a:rPr>
              <a:t>elif</a:t>
            </a:r>
            <a:r>
              <a:rPr sz="1944" b="0">
                <a:solidFill>
                  <a:srgbClr val="F4F7FA"/>
                </a:solidFill>
                <a:latin typeface="Courier New"/>
                <a:ea typeface="Courier New"/>
                <a:cs typeface="Courier New"/>
              </a:rPr>
              <a:t> truth == 0 and guess == 0:</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tn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elif truth == 0 and guess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fp += 1</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a:t>
            </a:r>
            <a:r>
              <a:rPr sz="1944" b="0">
                <a:solidFill>
                  <a:srgbClr val="FFB080"/>
                </a:solidFill>
                <a:latin typeface="Courier New"/>
                <a:ea typeface="Courier New"/>
                <a:cs typeface="Courier New"/>
              </a:rPr>
              <a:t>else</a:t>
            </a:r>
            <a:r>
              <a:rPr sz="1944" b="0">
                <a:solidFill>
                  <a:srgbClr val="F4F7FA"/>
                </a:solidFill>
                <a:latin typeface="Courier New"/>
                <a:ea typeface="Courier New"/>
                <a:cs typeface="Courier New"/>
              </a:rPr>
              <a:t>:</a:t>
            </a:r>
          </a:p>
          <a:p xmlns:a="http://schemas.openxmlformats.org/drawingml/2006/main">
            <a:pPr>
              <a:defRPr sz="1944" b="0">
                <a:solidFill>
                  <a:srgbClr val="F4F7FA"/>
                </a:solidFill>
                <a:latin typeface="Courier New"/>
                <a:ea typeface="Courier New"/>
                <a:cs typeface="Courier New"/>
              </a:defRPr>
            </a:pPr>
            <a:r>
              <a:rPr sz="1944" b="0">
                <a:solidFill>
                  <a:srgbClr val="F4F7FA"/>
                </a:solidFill>
                <a:latin typeface="Courier New"/>
                <a:ea typeface="Courier New"/>
                <a:cs typeface="Courier New"/>
              </a:rPr>
              <a:t>        fn += 1</a:t>
            </a:r>
          </a:p>
        </p:txBody>
      </p:sp>
      <p:sp>
        <p:nvSpPr>
          <p:cNvPr id="6" name="">
            <a:extLst xmlns:a="http://schemas.openxmlformats.org/drawingml/2006/main">
              <a:ext uri="{FF2B5EF4-FFF2-40B4-BE49-F238E27FC236}">
                <a16:creationId xmlns:a16="http://schemas.microsoft.com/office/drawing/2014/main" id="{DD146580-13E7-496D-AF6D-804E1CA44F9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D8669D0-187A-41B4-BF4B-F24436C4B3C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8DE785DE-DBA2-437A-970F-D22C1E8AABC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5EECF9FD-DBC6-43FB-AC84-D2DE305DE0E7}"/>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zip pairs items at matching positions in these equal-length lists.</a:t>
            </a:r>
          </a:p>
        </p:txBody>
      </p:sp>
      <p:sp>
        <p:nvSpPr>
          <p:cNvPr id="10" name="">
            <a:extLst xmlns:a="http://schemas.openxmlformats.org/drawingml/2006/main">
              <a:ext uri="{FF2B5EF4-FFF2-40B4-BE49-F238E27FC236}">
                <a16:creationId xmlns:a16="http://schemas.microsoft.com/office/drawing/2014/main" id="{DC028C1D-E2EB-4208-8CC2-50889BE1F78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11" name="">
            <a:extLst xmlns:a="http://schemas.openxmlformats.org/drawingml/2006/main">
              <a:ext uri="{FF2B5EF4-FFF2-40B4-BE49-F238E27FC236}">
                <a16:creationId xmlns:a16="http://schemas.microsoft.com/office/drawing/2014/main" id="{4C79F00D-3B14-4CFF-89C5-F5BA59776B9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24</a:t>
            </a:r>
          </a:p>
        </p:txBody>
      </p:sp>
    </p:spTree>
    <p:extLst>
      <p:ext uri="{BB962C8B-B14F-4D97-AF65-F5344CB8AC3E}">
        <p14:creationId xmlns:p14="http://schemas.microsoft.com/office/powerpoint/2010/main" val="87209319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CB53F8-DC56-4D43-BABF-9E0CECD604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B53DF5-8031-4F5E-840F-D80DFAF3CA9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6646914-87D3-4353-86B2-A3D682AEE9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Counting arbitrary paired observations in Python (3/3)</a:t>
            </a:r>
          </a:p>
        </p:txBody>
      </p:sp>
      <p:sp>
        <p:nvSpPr>
          <p:cNvPr id="4" name="">
            <a:extLst xmlns:a="http://schemas.openxmlformats.org/drawingml/2006/main">
              <a:ext uri="{FF2B5EF4-FFF2-40B4-BE49-F238E27FC236}">
                <a16:creationId xmlns:a16="http://schemas.microsoft.com/office/drawing/2014/main" id="{75A5D9B0-FCDB-443D-BC2E-374F86A16CB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0EBB21-16ED-4277-8ADA-6332962B676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print(tp, tn, fp, fn)</a:t>
            </a:r>
          </a:p>
        </p:txBody>
      </p:sp>
      <p:sp>
        <p:nvSpPr>
          <p:cNvPr id="6" name="">
            <a:extLst xmlns:a="http://schemas.openxmlformats.org/drawingml/2006/main">
              <a:ext uri="{FF2B5EF4-FFF2-40B4-BE49-F238E27FC236}">
                <a16:creationId xmlns:a16="http://schemas.microsoft.com/office/drawing/2014/main" id="{914C86D2-3FD6-4FDB-8C7D-B5CF45FE30B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BC216FB-C980-4187-99C2-AEDABF4A221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C8C4A28F-8D22-4514-8D28-5EB13356665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9" name="">
            <a:extLst xmlns:a="http://schemas.openxmlformats.org/drawingml/2006/main">
              <a:ext uri="{FF2B5EF4-FFF2-40B4-BE49-F238E27FC236}">
                <a16:creationId xmlns:a16="http://schemas.microsoft.com/office/drawing/2014/main" id="{7506A6FA-87DB-4845-8860-0C243448FF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25</a:t>
            </a:r>
          </a:p>
        </p:txBody>
      </p:sp>
    </p:spTree>
    <p:extLst>
      <p:ext uri="{BB962C8B-B14F-4D97-AF65-F5344CB8AC3E}">
        <p14:creationId xmlns:p14="http://schemas.microsoft.com/office/powerpoint/2010/main" val="2369199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8C6434-C6C4-4298-AD8A-81B9F0E469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5C3943-28A1-45B7-BE77-8C3C013383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5EDF0F6-1814-476B-BA21-DEF735F8E1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Represent a category with indicators</a:t>
            </a:r>
          </a:p>
        </p:txBody>
      </p:sp>
      <p:sp>
        <p:nvSpPr>
          <p:cNvPr id="4" name="">
            <a:extLst xmlns:a="http://schemas.openxmlformats.org/drawingml/2006/main">
              <a:ext uri="{FF2B5EF4-FFF2-40B4-BE49-F238E27FC236}">
                <a16:creationId xmlns:a16="http://schemas.microsoft.com/office/drawing/2014/main" id="{E5605812-EFDA-4E35-8B76-CA7DA9469CE5}"/>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F28E55-1632-4A4A-A3D9-03E9EC62534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Category</a:t>
            </a:r>
          </a:p>
        </p:txBody>
      </p:sp>
      <p:sp>
        <p:nvSpPr>
          <p:cNvPr id="6" name="">
            <a:extLst xmlns:a="http://schemas.openxmlformats.org/drawingml/2006/main">
              <a:ext uri="{FF2B5EF4-FFF2-40B4-BE49-F238E27FC236}">
                <a16:creationId xmlns:a16="http://schemas.microsoft.com/office/drawing/2014/main" id="{96080F7F-A0BC-4402-97A1-6BAD12A06527}"/>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category is a label such as steel or timber. Its name does not imply a numerical size or rank.</a:t>
            </a:r>
          </a:p>
        </p:txBody>
      </p:sp>
      <p:sp>
        <p:nvSpPr>
          <p:cNvPr id="7" name="">
            <a:extLst xmlns:a="http://schemas.openxmlformats.org/drawingml/2006/main">
              <a:ext uri="{FF2B5EF4-FFF2-40B4-BE49-F238E27FC236}">
                <a16:creationId xmlns:a16="http://schemas.microsoft.com/office/drawing/2014/main" id="{597F14A8-B867-4A11-BA82-813ABA877E72}"/>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2BB876-B52C-4CBD-9FBF-11B8864C521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One-hot indicator</a:t>
            </a:r>
          </a:p>
        </p:txBody>
      </p:sp>
      <p:sp>
        <p:nvSpPr>
          <p:cNvPr id="9" name="">
            <a:extLst xmlns:a="http://schemas.openxmlformats.org/drawingml/2006/main">
              <a:ext uri="{FF2B5EF4-FFF2-40B4-BE49-F238E27FC236}">
                <a16:creationId xmlns:a16="http://schemas.microsoft.com/office/drawing/2014/main" id="{9F7D70F3-35BF-418E-B680-BD5AE1E81611}"/>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Create a column for each category. Its entry is 1 when the row has that category and 0 otherwise. Learn the allowed categories from training data.</a:t>
            </a:r>
          </a:p>
        </p:txBody>
      </p:sp>
      <p:sp>
        <p:nvSpPr>
          <p:cNvPr id="10" name="">
            <a:extLst xmlns:a="http://schemas.openxmlformats.org/drawingml/2006/main">
              <a:ext uri="{FF2B5EF4-FFF2-40B4-BE49-F238E27FC236}">
                <a16:creationId xmlns:a16="http://schemas.microsoft.com/office/drawing/2014/main" id="{20BBD187-8772-4F5B-BB04-59939F35BC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26</a:t>
            </a:r>
          </a:p>
        </p:txBody>
      </p:sp>
    </p:spTree>
    <p:extLst>
      <p:ext uri="{BB962C8B-B14F-4D97-AF65-F5344CB8AC3E}">
        <p14:creationId xmlns:p14="http://schemas.microsoft.com/office/powerpoint/2010/main" val="6000671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D844D8-36D8-4C7E-991C-6129CAB7A26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AA5C0A-E402-4767-AAED-CCF5013394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DA65A4A4-C31B-4C06-B5B2-2FB6B68DE7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category can become indicator columns</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Material</a:t>
                      </a:r>
                    </a:p>
                  </a:txBody>
                  <a:tcPr marL="91440" marR="91440" marT="45720" marB="45720">
                    <a:solidFill>
                      <a:srgbClr val="2E7D6F"/>
                    </a:solidFill>
                  </a:tcPr>
                </a:tc>
                <a:tc>
                  <a:txBody>
                    <a:bodyPr/>
                    <a:lstStyle/>
                    <a:p>
                      <a:r>
                        <a:rPr sz="2025" b="1">
                          <a:solidFill>
                            <a:srgbClr val="FFFFFF"/>
                          </a:solidFill>
                          <a:latin typeface="Calibri"/>
                          <a:ea typeface="Calibri"/>
                          <a:cs typeface="Calibri"/>
                        </a:rPr>
                        <a:t>is_steel</a:t>
                      </a:r>
                    </a:p>
                  </a:txBody>
                  <a:tcPr marL="91440" marR="91440" marT="45720" marB="45720">
                    <a:solidFill>
                      <a:srgbClr val="2E7D6F"/>
                    </a:solidFill>
                  </a:tcPr>
                </a:tc>
                <a:tc>
                  <a:txBody>
                    <a:bodyPr/>
                    <a:lstStyle/>
                    <a:p>
                      <a:r>
                        <a:rPr sz="2025" b="1">
                          <a:solidFill>
                            <a:srgbClr val="FFFFFF"/>
                          </a:solidFill>
                          <a:latin typeface="Calibri"/>
                          <a:ea typeface="Calibri"/>
                          <a:cs typeface="Calibri"/>
                        </a:rPr>
                        <a:t>is_timber</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steel</a:t>
                      </a:r>
                    </a:p>
                  </a:txBody>
                  <a:tcPr marL="91440" marR="91440" marT="45720" marB="45720">
                    <a:solidFill>
                      <a:srgbClr val="EEF3F6"/>
                    </a:solidFill>
                  </a:tcPr>
                </a:tc>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0</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timber</a:t>
                      </a:r>
                    </a:p>
                  </a:txBody>
                  <a:tcPr marL="91440" marR="91440" marT="45720" marB="45720">
                    <a:solidFill>
                      <a:srgbClr val="FFFFFF"/>
                    </a:solidFill>
                  </a:tcPr>
                </a:tc>
                <a:tc>
                  <a:txBody>
                    <a:bodyPr/>
                    <a:lstStyle/>
                    <a:p>
                      <a:r>
                        <a:rPr sz="2025" b="0">
                          <a:solidFill>
                            <a:srgbClr val="1C3144"/>
                          </a:solidFill>
                          <a:latin typeface="Calibri"/>
                          <a:ea typeface="Calibri"/>
                          <a:cs typeface="Calibri"/>
                        </a:rPr>
                        <a:t>0</a:t>
                      </a:r>
                    </a:p>
                  </a:txBody>
                  <a:tcPr marL="91440" marR="91440" marT="45720" marB="45720">
                    <a:solidFill>
                      <a:srgbClr val="FFFFFF"/>
                    </a:solidFill>
                  </a:tcPr>
                </a:tc>
                <a:tc>
                  <a:txBody>
                    <a:bodyPr/>
                    <a:lstStyle/>
                    <a:p>
                      <a:r>
                        <a:rPr sz="2025" b="0">
                          <a:solidFill>
                            <a:srgbClr val="1C3144"/>
                          </a:solidFill>
                          <a:latin typeface="Calibri"/>
                          <a:ea typeface="Calibri"/>
                          <a:cs typeface="Calibri"/>
                        </a:rPr>
                        <a:t>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73A061B-ACEC-4975-90FD-B3255ADE4140}"/>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encoder converts category labels to numeric columns. Fit it on training data. Each indicator is 1 when that category applies, otherwise 0.</a:t>
            </a:r>
          </a:p>
        </p:txBody>
      </p:sp>
      <p:sp>
        <p:nvSpPr>
          <p:cNvPr id="6" name="">
            <a:extLst xmlns:a="http://schemas.openxmlformats.org/drawingml/2006/main">
              <a:ext uri="{FF2B5EF4-FFF2-40B4-BE49-F238E27FC236}">
                <a16:creationId xmlns:a16="http://schemas.microsoft.com/office/drawing/2014/main" id="{2B555E2F-8BC0-434D-90A1-A731CEC158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27</a:t>
            </a:r>
          </a:p>
        </p:txBody>
      </p:sp>
    </p:spTree>
    <p:extLst>
      <p:ext uri="{BB962C8B-B14F-4D97-AF65-F5344CB8AC3E}">
        <p14:creationId xmlns:p14="http://schemas.microsoft.com/office/powerpoint/2010/main" val="10337959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74CFB8-DAEA-4649-B548-C286C736ED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F80B6D-BF9A-4FC3-9C4F-444FEFD4B8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321E8D4-CF16-4796-A79A-742DF392A0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Accuracy can hide missed warnings</a:t>
            </a:r>
          </a:p>
        </p:txBody>
      </p:sp>
      <p:sp>
        <p:nvSpPr>
          <p:cNvPr id="4" name="">
            <a:extLst xmlns:a="http://schemas.openxmlformats.org/drawingml/2006/main">
              <a:ext uri="{FF2B5EF4-FFF2-40B4-BE49-F238E27FC236}">
                <a16:creationId xmlns:a16="http://schemas.microsoft.com/office/drawing/2014/main" id="{3A0F705F-7DCF-4085-A902-70CB7D8DACF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370E960-1DCD-49ED-B153-13F8434E7D2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Accuracy = number of correct labels / number of labels. It counts correct warnings and correct non-warnings together.</a:t>
            </a:r>
          </a:p>
        </p:txBody>
      </p:sp>
      <p:sp>
        <p:nvSpPr>
          <p:cNvPr id="6" name="">
            <a:extLst xmlns:a="http://schemas.openxmlformats.org/drawingml/2006/main">
              <a:ext uri="{FF2B5EF4-FFF2-40B4-BE49-F238E27FC236}">
                <a16:creationId xmlns:a16="http://schemas.microsoft.com/office/drawing/2014/main" id="{3BE1C391-4EBF-487C-A83D-957A2511F3C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F0BF144-3E07-4FA8-88E4-8AD8592037B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90 of 100 cases need no warning, predicting no warning every time gives 90% accuracy. It detects none of the 10 real warnings: recall is 0.</a:t>
            </a:r>
          </a:p>
        </p:txBody>
      </p:sp>
      <p:sp>
        <p:nvSpPr>
          <p:cNvPr id="8" name="">
            <a:extLst xmlns:a="http://schemas.openxmlformats.org/drawingml/2006/main">
              <a:ext uri="{FF2B5EF4-FFF2-40B4-BE49-F238E27FC236}">
                <a16:creationId xmlns:a16="http://schemas.microsoft.com/office/drawing/2014/main" id="{137486E2-591B-4F9A-96F3-6306572A5F0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AB02195-9113-4CFD-9B1F-1893437B1A8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Always inspect the actual/predicted counts and relevant costs before calling a classifier useful.</a:t>
            </a:r>
          </a:p>
        </p:txBody>
      </p:sp>
      <p:sp>
        <p:nvSpPr>
          <p:cNvPr id="10" name="">
            <a:extLst xmlns:a="http://schemas.openxmlformats.org/drawingml/2006/main">
              <a:ext uri="{FF2B5EF4-FFF2-40B4-BE49-F238E27FC236}">
                <a16:creationId xmlns:a16="http://schemas.microsoft.com/office/drawing/2014/main" id="{469F91F3-8AEF-4A71-8096-0EF379E4398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28</a:t>
            </a:r>
          </a:p>
        </p:txBody>
      </p:sp>
    </p:spTree>
    <p:extLst>
      <p:ext uri="{BB962C8B-B14F-4D97-AF65-F5344CB8AC3E}">
        <p14:creationId xmlns:p14="http://schemas.microsoft.com/office/powerpoint/2010/main" val="141656001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EC0D65-1F93-49E3-9C3E-D89E38BFE5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C4003B-BB7B-43FB-B4CF-4CFFBCE8F6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68ECBE3-CD32-4D36-AE20-894D0C426E2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8AF92B63-D1CA-4969-AF1D-445900CCC67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C9D34A-C435-4C33-9C7D-CB5D7C036C4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D6AF26-C491-4253-9DFE-ED5DFD48BE8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Change the second prediction to 1. Count again. Does this improve both recall and the assumed cost?</a:t>
            </a:r>
          </a:p>
        </p:txBody>
      </p:sp>
      <p:sp>
        <p:nvSpPr>
          <p:cNvPr id="7" name="">
            <a:extLst xmlns:a="http://schemas.openxmlformats.org/drawingml/2006/main">
              <a:ext uri="{FF2B5EF4-FFF2-40B4-BE49-F238E27FC236}">
                <a16:creationId xmlns:a16="http://schemas.microsoft.com/office/drawing/2014/main" id="{71358ED1-A903-4B19-B214-8B905944839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TP=2, FN=0, FP=1, TN=1. Precision 2/3, recall 1, cost 1. This particular change improves recall and cost.</a:t>
            </a:r>
          </a:p>
        </p:txBody>
      </p:sp>
      <p:sp>
        <p:nvSpPr>
          <p:cNvPr id="8" name="">
            <a:extLst xmlns:a="http://schemas.openxmlformats.org/drawingml/2006/main">
              <a:ext uri="{FF2B5EF4-FFF2-40B4-BE49-F238E27FC236}">
                <a16:creationId xmlns:a16="http://schemas.microsoft.com/office/drawing/2014/main" id="{8477BDAA-412F-4159-8737-77A867EB5E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29</a:t>
            </a:r>
          </a:p>
        </p:txBody>
      </p:sp>
    </p:spTree>
    <p:extLst>
      <p:ext uri="{BB962C8B-B14F-4D97-AF65-F5344CB8AC3E}">
        <p14:creationId xmlns:p14="http://schemas.microsoft.com/office/powerpoint/2010/main" val="163246056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EA7EA6-D20B-45BC-82C2-0D10F8A650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CBAE91-C442-47BA-8F8B-35E2559F69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7720AC1-A4EF-44F7-B2A2-221AE0217F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4FA200A0-96D6-4D50-8AFA-EB1A5E5372A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3030A19-724C-4659-A057-BC6DB9B4086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Implement classification_metrics on arbitrary paired binary labels, not only the example.</a:t>
            </a:r>
          </a:p>
        </p:txBody>
      </p:sp>
      <p:sp>
        <p:nvSpPr>
          <p:cNvPr id="6" name="">
            <a:extLst xmlns:a="http://schemas.openxmlformats.org/drawingml/2006/main">
              <a:ext uri="{FF2B5EF4-FFF2-40B4-BE49-F238E27FC236}">
                <a16:creationId xmlns:a16="http://schemas.microsoft.com/office/drawing/2014/main" id="{0028A72E-5C51-4BAD-8C1B-F9E7E22D4EA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5B0FFA0-ADFA-4D06-AA4E-E7B05BFA0278}"/>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zero-denominator convention.</a:t>
            </a:r>
          </a:p>
        </p:txBody>
      </p:sp>
      <p:sp>
        <p:nvSpPr>
          <p:cNvPr id="8" name="">
            <a:extLst xmlns:a="http://schemas.openxmlformats.org/drawingml/2006/main">
              <a:ext uri="{FF2B5EF4-FFF2-40B4-BE49-F238E27FC236}">
                <a16:creationId xmlns:a16="http://schemas.microsoft.com/office/drawing/2014/main" id="{02963898-EF4C-4DA3-93D8-322F370BF13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3AD32CA-506A-4B6B-ACE4-5DCE307C0A7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the supplied W09 comparison separately.</a:t>
            </a:r>
          </a:p>
        </p:txBody>
      </p:sp>
      <p:sp>
        <p:nvSpPr>
          <p:cNvPr id="10" name="">
            <a:extLst xmlns:a="http://schemas.openxmlformats.org/drawingml/2006/main">
              <a:ext uri="{FF2B5EF4-FFF2-40B4-BE49-F238E27FC236}">
                <a16:creationId xmlns:a16="http://schemas.microsoft.com/office/drawing/2014/main" id="{A745B3D4-2AFC-4B51-94EA-64C62982A10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9D138F6-9A13-473B-BC37-B9A08B7471F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Teacher-written cost assumptions are not approved operating limits.</a:t>
            </a:r>
          </a:p>
        </p:txBody>
      </p:sp>
      <p:sp>
        <p:nvSpPr>
          <p:cNvPr id="12" name="">
            <a:extLst xmlns:a="http://schemas.openxmlformats.org/drawingml/2006/main">
              <a:ext uri="{FF2B5EF4-FFF2-40B4-BE49-F238E27FC236}">
                <a16:creationId xmlns:a16="http://schemas.microsoft.com/office/drawing/2014/main" id="{A8FF2BEE-CB9C-4ECB-A1AE-9FE517FCA3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30</a:t>
            </a:r>
          </a:p>
        </p:txBody>
      </p:sp>
    </p:spTree>
    <p:extLst>
      <p:ext uri="{BB962C8B-B14F-4D97-AF65-F5344CB8AC3E}">
        <p14:creationId xmlns:p14="http://schemas.microsoft.com/office/powerpoint/2010/main" val="79988126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DCB85D-ECBC-47C2-AA41-BA02333213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01F5B-C3FD-410B-A175-D1803D37BC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339F67C-BBDE-432A-8E8B-6CB2121DA1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9EDF02B9-B870-4B5D-B6E9-0454518862B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C2AADF4-20E9-4A95-83F1-C2511126EAB1}"/>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All claimed benefits require real-world evaluation.</a:t>
            </a:r>
          </a:p>
        </p:txBody>
      </p:sp>
      <p:sp>
        <p:nvSpPr>
          <p:cNvPr id="6" name="">
            <a:extLst xmlns:a="http://schemas.openxmlformats.org/drawingml/2006/main">
              <a:ext uri="{FF2B5EF4-FFF2-40B4-BE49-F238E27FC236}">
                <a16:creationId xmlns:a16="http://schemas.microsoft.com/office/drawing/2014/main" id="{ED8C2123-4EAC-4606-894D-6B0699C1AA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31</a:t>
            </a:r>
          </a:p>
        </p:txBody>
      </p:sp>
    </p:spTree>
    <p:extLst>
      <p:ext uri="{BB962C8B-B14F-4D97-AF65-F5344CB8AC3E}">
        <p14:creationId xmlns:p14="http://schemas.microsoft.com/office/powerpoint/2010/main" val="5376573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E6C0713-4004-4236-A64C-24EA4B5BF2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B4D9A8-D5FE-46C5-821B-65F97BA039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7627799-8A44-4A73-902E-0A005956FF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Category predictions and operating thresholds</a:t>
            </a:r>
          </a:p>
        </p:txBody>
      </p:sp>
      <p:sp>
        <p:nvSpPr>
          <p:cNvPr id="4" name="">
            <a:extLst xmlns:a="http://schemas.openxmlformats.org/drawingml/2006/main">
              <a:ext uri="{FF2B5EF4-FFF2-40B4-BE49-F238E27FC236}">
                <a16:creationId xmlns:a16="http://schemas.microsoft.com/office/drawing/2014/main" id="{00254FFE-E62E-440F-845C-8A6794BF4E1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543E589-8295-4169-8119-03B1266838E2}"/>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majority-only classifier can achieve high accuracy while missing the rare class.</a:t>
            </a:r>
          </a:p>
        </p:txBody>
      </p:sp>
      <p:sp>
        <p:nvSpPr>
          <p:cNvPr id="6" name="">
            <a:extLst xmlns:a="http://schemas.openxmlformats.org/drawingml/2006/main">
              <a:ext uri="{FF2B5EF4-FFF2-40B4-BE49-F238E27FC236}">
                <a16:creationId xmlns:a16="http://schemas.microsoft.com/office/drawing/2014/main" id="{4FF7012B-D3C7-4279-98B7-A78059E1B24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D5B0780-0B0F-493A-8BFC-503F9376B1D7}"/>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positive class and both confusion-matrix axes.</a:t>
            </a:r>
          </a:p>
        </p:txBody>
      </p:sp>
      <p:sp>
        <p:nvSpPr>
          <p:cNvPr id="8" name="">
            <a:extLst xmlns:a="http://schemas.openxmlformats.org/drawingml/2006/main">
              <a:ext uri="{FF2B5EF4-FFF2-40B4-BE49-F238E27FC236}">
                <a16:creationId xmlns:a16="http://schemas.microsoft.com/office/drawing/2014/main" id="{20E615CB-A667-48BC-B984-5F272CE525B8}"/>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6C94CC0-11B8-46AA-8069-E4CA91C22BAB}"/>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model expecting numeric features cannot directly use raw category strings; use numeric indicator columns for categories.</a:t>
            </a:r>
          </a:p>
        </p:txBody>
      </p:sp>
      <p:sp>
        <p:nvSpPr>
          <p:cNvPr id="10" name="">
            <a:extLst xmlns:a="http://schemas.openxmlformats.org/drawingml/2006/main">
              <a:ext uri="{FF2B5EF4-FFF2-40B4-BE49-F238E27FC236}">
                <a16:creationId xmlns:a16="http://schemas.microsoft.com/office/drawing/2014/main" id="{0A748975-7573-4BC9-BF85-67A86EEAAB41}"/>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77E5AAD-2C0E-4B5D-981B-53E5776304E4}"/>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threshold choices on validation data.</a:t>
            </a:r>
          </a:p>
        </p:txBody>
      </p:sp>
      <p:sp>
        <p:nvSpPr>
          <p:cNvPr id="12" name="">
            <a:extLst xmlns:a="http://schemas.openxmlformats.org/drawingml/2006/main">
              <a:ext uri="{FF2B5EF4-FFF2-40B4-BE49-F238E27FC236}">
                <a16:creationId xmlns:a16="http://schemas.microsoft.com/office/drawing/2014/main" id="{3C54FFD1-A939-4386-8D0E-94ED1403FB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32</a:t>
            </a:r>
          </a:p>
        </p:txBody>
      </p:sp>
    </p:spTree>
    <p:extLst>
      <p:ext uri="{BB962C8B-B14F-4D97-AF65-F5344CB8AC3E}">
        <p14:creationId xmlns:p14="http://schemas.microsoft.com/office/powerpoint/2010/main" val="112837749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FB2F95-0F9C-4172-8848-39A3A705F4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014729-CC7A-4325-9205-466D688D06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3B123E3-49A6-47F8-B49D-67B5C3FC9C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Category predictions and operating thresholds continued</a:t>
            </a:r>
          </a:p>
        </p:txBody>
      </p:sp>
      <p:sp>
        <p:nvSpPr>
          <p:cNvPr id="4" name="">
            <a:extLst xmlns:a="http://schemas.openxmlformats.org/drawingml/2006/main">
              <a:ext uri="{FF2B5EF4-FFF2-40B4-BE49-F238E27FC236}">
                <a16:creationId xmlns:a16="http://schemas.microsoft.com/office/drawing/2014/main" id="{FD225263-77CE-4CBC-9B88-7BB69AB8733A}"/>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D855F9-2630-4E84-90FE-B33181EE14A4}"/>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Reducing the threshold adds flagged cases and cannot reduce recall on fixed scored observations, but precision can move either way.</a:t>
            </a:r>
          </a:p>
        </p:txBody>
      </p:sp>
      <p:sp>
        <p:nvSpPr>
          <p:cNvPr id="6" name="">
            <a:extLst xmlns:a="http://schemas.openxmlformats.org/drawingml/2006/main">
              <a:ext uri="{FF2B5EF4-FFF2-40B4-BE49-F238E27FC236}">
                <a16:creationId xmlns:a16="http://schemas.microsoft.com/office/drawing/2014/main" id="{774609BD-9896-4C2E-A6D6-4D6C50EAFA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33</a:t>
            </a:r>
          </a:p>
        </p:txBody>
      </p:sp>
    </p:spTree>
    <p:extLst>
      <p:ext uri="{BB962C8B-B14F-4D97-AF65-F5344CB8AC3E}">
        <p14:creationId xmlns:p14="http://schemas.microsoft.com/office/powerpoint/2010/main" val="203333432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D7EBB31-1DB2-4AA3-8704-CB39921012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891CD8-E244-4DC9-B66D-3EB3CB010B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A5C281F-1AB7-4E14-84AE-C66AADA296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C5E7F53B-69A2-4359-85EC-CBF3D67E004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00343BB-F06D-474E-BC49-F30F31EEF83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classification_case.csv.</a:t>
            </a:r>
          </a:p>
        </p:txBody>
      </p:sp>
      <p:sp>
        <p:nvSpPr>
          <p:cNvPr id="6" name="">
            <a:extLst xmlns:a="http://schemas.openxmlformats.org/drawingml/2006/main">
              <a:ext uri="{FF2B5EF4-FFF2-40B4-BE49-F238E27FC236}">
                <a16:creationId xmlns:a16="http://schemas.microsoft.com/office/drawing/2014/main" id="{CD51B26D-02EB-4498-8B81-FB984AF2408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E599AA0-C652-4313-BD24-AA8C1D42A24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means a synthetic warning condition.</a:t>
            </a:r>
          </a:p>
        </p:txBody>
      </p:sp>
      <p:sp>
        <p:nvSpPr>
          <p:cNvPr id="8" name="">
            <a:extLst xmlns:a="http://schemas.openxmlformats.org/drawingml/2006/main">
              <a:ext uri="{FF2B5EF4-FFF2-40B4-BE49-F238E27FC236}">
                <a16:creationId xmlns:a16="http://schemas.microsoft.com/office/drawing/2014/main" id="{4B919207-C0A5-40C8-9599-FF69F6E2AB1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C70A138-B30C-4D14-9A6B-3967A348D7E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the confusion matrix, precision, recall and cost.</a:t>
            </a:r>
          </a:p>
        </p:txBody>
      </p:sp>
      <p:sp>
        <p:nvSpPr>
          <p:cNvPr id="10" name="">
            <a:extLst xmlns:a="http://schemas.openxmlformats.org/drawingml/2006/main">
              <a:ext uri="{FF2B5EF4-FFF2-40B4-BE49-F238E27FC236}">
                <a16:creationId xmlns:a16="http://schemas.microsoft.com/office/drawing/2014/main" id="{81AE5DD1-7ABA-49C6-A6DF-F60A9AE1E6C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39140AE-C392-4152-AD97-E51FAB1E11A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5:1 missed-warning/false-alarm cost assumption and why accuracy alone is insufficient.</a:t>
            </a:r>
          </a:p>
        </p:txBody>
      </p:sp>
      <p:sp>
        <p:nvSpPr>
          <p:cNvPr id="12" name="">
            <a:extLst xmlns:a="http://schemas.openxmlformats.org/drawingml/2006/main">
              <a:ext uri="{FF2B5EF4-FFF2-40B4-BE49-F238E27FC236}">
                <a16:creationId xmlns:a16="http://schemas.microsoft.com/office/drawing/2014/main" id="{C5EEA344-7917-4B18-818A-63FBFB3A15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34</a:t>
            </a:r>
          </a:p>
        </p:txBody>
      </p:sp>
    </p:spTree>
    <p:extLst>
      <p:ext uri="{BB962C8B-B14F-4D97-AF65-F5344CB8AC3E}">
        <p14:creationId xmlns:p14="http://schemas.microsoft.com/office/powerpoint/2010/main" val="48787310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244AFC-4C46-4B43-A3C3-30C6DD1076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F867A3-5ED3-400F-9E81-0ABC82FD6D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B495725-178D-4327-AC3C-973F8D1305F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 continued</a:t>
            </a:r>
          </a:p>
        </p:txBody>
      </p:sp>
      <p:sp>
        <p:nvSpPr>
          <p:cNvPr id="4" name="">
            <a:extLst xmlns:a="http://schemas.openxmlformats.org/drawingml/2006/main">
              <a:ext uri="{FF2B5EF4-FFF2-40B4-BE49-F238E27FC236}">
                <a16:creationId xmlns:a16="http://schemas.microsoft.com/office/drawing/2014/main" id="{221230CF-D7E0-48E2-A310-D5C0583F74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F1DA67D-2ADA-404A-8718-6419780DBFC0}"/>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costs are teaching assumptions, not approved operating limits.</a:t>
            </a:r>
          </a:p>
        </p:txBody>
      </p:sp>
      <p:sp>
        <p:nvSpPr>
          <p:cNvPr id="6" name="">
            <a:extLst xmlns:a="http://schemas.openxmlformats.org/drawingml/2006/main">
              <a:ext uri="{FF2B5EF4-FFF2-40B4-BE49-F238E27FC236}">
                <a16:creationId xmlns:a16="http://schemas.microsoft.com/office/drawing/2014/main" id="{658EFCCD-2C2D-4D79-A727-4B9B6B8EF5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35</a:t>
            </a:r>
          </a:p>
        </p:txBody>
      </p:sp>
    </p:spTree>
    <p:extLst>
      <p:ext uri="{BB962C8B-B14F-4D97-AF65-F5344CB8AC3E}">
        <p14:creationId xmlns:p14="http://schemas.microsoft.com/office/powerpoint/2010/main" val="102531320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E57DE9-C6DD-4856-9506-701FB1ADAB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55A5E7-9CCD-457D-8086-F396053278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6E958150-4053-4DF9-9F48-17B64CF656F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classification_metrics(actual, predicted)</a:t>
            </a:r>
          </a:p>
        </p:txBody>
      </p:sp>
      <p:sp>
        <p:nvSpPr>
          <p:cNvPr id="4" name="">
            <a:extLst xmlns:a="http://schemas.openxmlformats.org/drawingml/2006/main">
              <a:ext uri="{FF2B5EF4-FFF2-40B4-BE49-F238E27FC236}">
                <a16:creationId xmlns:a16="http://schemas.microsoft.com/office/drawing/2014/main" id="{20E4F97C-EFA5-4A5D-A5F2-60DE91E612A6}"/>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FC8EC7-A201-4F74-B0DC-0BF902E4581F}"/>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For binary labels return tp, tn, fp, fn, precision, recall and cost=5*fn+fp; use zero for an undefined precision/recall denominator.</a:t>
            </a:r>
          </a:p>
        </p:txBody>
      </p:sp>
      <p:sp>
        <p:nvSpPr>
          <p:cNvPr id="6" name="">
            <a:extLst xmlns:a="http://schemas.openxmlformats.org/drawingml/2006/main">
              <a:ext uri="{FF2B5EF4-FFF2-40B4-BE49-F238E27FC236}">
                <a16:creationId xmlns:a16="http://schemas.microsoft.com/office/drawing/2014/main" id="{062DCC4D-C34A-401E-8B03-827CF85A4B3F}"/>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BE715C-A9FE-418B-827E-AD841F716B59}"/>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10D723C1-EBDF-460F-8FFC-68C9358377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36</a:t>
            </a:r>
          </a:p>
        </p:txBody>
      </p:sp>
    </p:spTree>
    <p:extLst>
      <p:ext uri="{BB962C8B-B14F-4D97-AF65-F5344CB8AC3E}">
        <p14:creationId xmlns:p14="http://schemas.microsoft.com/office/powerpoint/2010/main" val="66026420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6C4B46-017E-4F21-B598-9CC992145D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7B751F-F7AD-420E-9FFD-62DFE8A937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7FC3A2B-8C15-4002-819D-6357991C51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AF363EE4-C86F-4D01-B6A5-155D9F17E1C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DA2864C-D4E2-4FC1-ACE5-E8E30191E1E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27F13162-7370-462C-AAD6-61BE3266CA9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CC81E2B-7AE4-42B9-B76E-7A9F87519B0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55CED34B-C667-4B69-B822-8030A6FEF0F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27B8B2D-D8C6-460B-947A-2E74C9A2202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450D4E11-EDE6-4293-A83C-679D4150A00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EA8575E-8D79-4F70-8E08-AE4A511D0AA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49383D82-6277-4BC4-8C1C-CBDC8CC07B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37</a:t>
            </a:r>
          </a:p>
        </p:txBody>
      </p:sp>
    </p:spTree>
    <p:extLst>
      <p:ext uri="{BB962C8B-B14F-4D97-AF65-F5344CB8AC3E}">
        <p14:creationId xmlns:p14="http://schemas.microsoft.com/office/powerpoint/2010/main" val="132174685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308683-78DD-4AEA-80A8-A5C3CB2A18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A16005-6478-4175-9387-03BF312F2C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88DAA2F2-D425-443F-A1F8-8C6FE8EFA5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 and cost submission</a:t>
            </a:r>
          </a:p>
        </p:txBody>
      </p:sp>
      <p:sp>
        <p:nvSpPr>
          <p:cNvPr id="4" name="">
            <a:extLst xmlns:a="http://schemas.openxmlformats.org/drawingml/2006/main">
              <a:ext uri="{FF2B5EF4-FFF2-40B4-BE49-F238E27FC236}">
                <a16:creationId xmlns:a16="http://schemas.microsoft.com/office/drawing/2014/main" id="{B01DAFFC-15A3-4F1A-A842-EF58509A2097}"/>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D817331-B813-4088-918C-C8C265A3CA1B}"/>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03 Nov 2026, 11:00 Kampala</a:t>
            </a:r>
          </a:p>
        </p:txBody>
      </p:sp>
      <p:sp>
        <p:nvSpPr>
          <p:cNvPr id="6" name="">
            <a:extLst xmlns:a="http://schemas.openxmlformats.org/drawingml/2006/main">
              <a:ext uri="{FF2B5EF4-FFF2-40B4-BE49-F238E27FC236}">
                <a16:creationId xmlns:a16="http://schemas.microsoft.com/office/drawing/2014/main" id="{8F9DA4CF-D5A3-42C2-8FBD-72B410D9249F}"/>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C8B2C4B-451F-4351-9EC8-CD55A435BC04}"/>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10 Nov 2026, 11:00 Kampala</a:t>
            </a:r>
          </a:p>
        </p:txBody>
      </p:sp>
      <p:sp>
        <p:nvSpPr>
          <p:cNvPr id="8" name="">
            <a:extLst xmlns:a="http://schemas.openxmlformats.org/drawingml/2006/main">
              <a:ext uri="{FF2B5EF4-FFF2-40B4-BE49-F238E27FC236}">
                <a16:creationId xmlns:a16="http://schemas.microsoft.com/office/drawing/2014/main" id="{47857E37-A765-46F2-9E7B-B21A650FCB7C}"/>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3DF607C-1326-4A37-A5F8-CAA44B19078D}"/>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DA499729-4E69-407B-BF9E-628526E1654A}"/>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2C731B6-4EA8-43F5-A4BB-1886093C98B2}"/>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343886C2-2A4B-4165-BECB-8B01E05870F5}"/>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57B927-21C5-48CB-8ED8-CE34A4DCABB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1b7ac90e4a7745c5"/>
              </a:rPr>
              <a:t>Open W09 assignment form</a:t>
            </a:r>
          </a:p>
        </p:txBody>
      </p:sp>
      <p:sp>
        <p:nvSpPr>
          <p:cNvPr id="14" name="">
            <a:extLst xmlns:a="http://schemas.openxmlformats.org/drawingml/2006/main">
              <a:ext uri="{FF2B5EF4-FFF2-40B4-BE49-F238E27FC236}">
                <a16:creationId xmlns:a16="http://schemas.microsoft.com/office/drawing/2014/main" id="{56EDE503-E8FA-4498-9199-DA9B9FAFB07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https://docs.google.com/forms/d/e/1FAIpQLSfTe7OkZ7tZEVzG-mup0-8liXg1jKy_KmsDWZiPK9EWMJ9InA/viewform</a:t>
            </a:r>
          </a:p>
        </p:txBody>
      </p:sp>
      <p:sp>
        <p:nvSpPr>
          <p:cNvPr id="15" name="">
            <a:extLst xmlns:a="http://schemas.openxmlformats.org/drawingml/2006/main">
              <a:ext uri="{FF2B5EF4-FFF2-40B4-BE49-F238E27FC236}">
                <a16:creationId xmlns:a16="http://schemas.microsoft.com/office/drawing/2014/main" id="{59902FFC-3A4F-4321-BD52-4744819399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38</a:t>
            </a:r>
          </a:p>
        </p:txBody>
      </p:sp>
    </p:spTree>
    <p:extLst>
      <p:ext uri="{BB962C8B-B14F-4D97-AF65-F5344CB8AC3E}">
        <p14:creationId xmlns:p14="http://schemas.microsoft.com/office/powerpoint/2010/main" val="9948821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598045-068A-4AC0-AE29-A8FA5B81355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4BBB47-97B0-4D6A-8B1F-383F9EB12C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B0C3FEEA-74A0-4383-8D2E-6F324AA3540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9 quiz</a:t>
            </a:r>
          </a:p>
        </p:txBody>
      </p:sp>
      <p:sp>
        <p:nvSpPr>
          <p:cNvPr id="4" name="">
            <a:extLst xmlns:a="http://schemas.openxmlformats.org/drawingml/2006/main">
              <a:ext uri="{FF2B5EF4-FFF2-40B4-BE49-F238E27FC236}">
                <a16:creationId xmlns:a16="http://schemas.microsoft.com/office/drawing/2014/main" id="{06B3A85C-A853-4DFD-AA1C-EB7EE5F45D4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BA98A2A-5005-46E6-969F-D99AECA6A699}"/>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89BD724D-A22C-45F0-8F30-E050B05FD0AA}"/>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8168354-E63C-43EE-8E5F-ABF12236DA2B}"/>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DEFAC5AE-BB09-48AC-872C-6E82D162459E}"/>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355EAA6-7213-4EF7-854D-228CB1358303}"/>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5FCA1AB3-8770-44EA-B18C-A02FD84D8BC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5F5E707-E739-45B0-BAB0-C6F3464EE4C2}"/>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cdf9a0e9f8b4e25"/>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6774C2D-FED0-4353-9F26-234F08E797EE}"/>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6FBCB961-CB75-47BA-8214-2A6D5A661DC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EBE774F-C1E2-4C77-B0C0-3D917B8EA3F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1b28c079aeb7429a"/>
              </a:rPr>
              <a:t>Open this week’s quiz</a:t>
            </a:r>
          </a:p>
        </p:txBody>
      </p:sp>
      <p:sp>
        <p:nvSpPr>
          <p:cNvPr id="16" name="">
            <a:extLst xmlns:a="http://schemas.openxmlformats.org/drawingml/2006/main">
              <a:ext uri="{FF2B5EF4-FFF2-40B4-BE49-F238E27FC236}">
                <a16:creationId xmlns:a16="http://schemas.microsoft.com/office/drawing/2014/main" id="{90519658-62A0-47B5-AC68-F640847ED387}"/>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https://forms.gle/6XBHNCQXESUyQ6G86</a:t>
            </a:r>
          </a:p>
        </p:txBody>
      </p:sp>
      <p:sp>
        <p:nvSpPr>
          <p:cNvPr id="17" name="">
            <a:extLst xmlns:a="http://schemas.openxmlformats.org/drawingml/2006/main">
              <a:ext uri="{FF2B5EF4-FFF2-40B4-BE49-F238E27FC236}">
                <a16:creationId xmlns:a16="http://schemas.microsoft.com/office/drawing/2014/main" id="{2E11252D-42D2-43AF-99AC-C57F86300F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39</a:t>
            </a:r>
          </a:p>
        </p:txBody>
      </p:sp>
    </p:spTree>
    <p:extLst>
      <p:ext uri="{BB962C8B-B14F-4D97-AF65-F5344CB8AC3E}">
        <p14:creationId xmlns:p14="http://schemas.microsoft.com/office/powerpoint/2010/main" val="866830624"/>
      </p:ext>
    </p:extLst>
  </p:cSld>
</p:sld>
</file>

<file path=ppt/slides/slide4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B4B0D5-E0E8-4DE4-B41C-E2F56E0390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BCC18491-5648-478B-BD73-420B11C7B0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290F9048-868A-44F8-916A-F24EF0BD96B7}"/>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83170DA6-DBBC-4882-9E95-BDFFEA03A06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identify a false negative and explain precision and recall with counts.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3AB0F5F2-DE0C-4E66-BEFF-1FBC32D3A51D}"/>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232F46AA-E665-4950-8D6D-0D7CC2F948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9   40</a:t>
            </a:r>
          </a:p>
        </p:txBody>
      </p:sp>
    </p:spTree>
    <p:extLst>
      <p:ext uri="{BB962C8B-B14F-4D97-AF65-F5344CB8AC3E}">
        <p14:creationId xmlns:p14="http://schemas.microsoft.com/office/powerpoint/2010/main" val="199398610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2632C2C-9A35-429F-872B-62E537B84D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CB5D97-38DC-41BD-8718-188FD53CD6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16AAE234-E083-4B28-B936-9F0323385C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487B4DA6-BD75-4195-9A05-3F8C02AB6BE6}"/>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C982EF2-4B9F-4A3B-AC51-5A84171FEF08}"/>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989DC39F-B77D-46E4-BAD5-65E502A1512D}"/>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D556AB0-38C5-48B2-B8CD-BC8E913AAC2A}"/>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The Confusion Matrix</a:t>
            </a:r>
          </a:p>
        </p:txBody>
      </p:sp>
      <p:sp>
        <p:nvSpPr>
          <p:cNvPr id="8" name="">
            <a:extLst xmlns:a="http://schemas.openxmlformats.org/drawingml/2006/main">
              <a:ext uri="{FF2B5EF4-FFF2-40B4-BE49-F238E27FC236}">
                <a16:creationId xmlns:a16="http://schemas.microsoft.com/office/drawing/2014/main" id="{053D2847-A785-4650-BA82-23ED1D9CA840}"/>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41B432B-E990-4605-A1A5-CBF71FE14C29}"/>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F929CEAD-417B-4B31-935D-42D0BE4901DC}"/>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027BD8D-5F19-4AB7-8FC0-F7BEFF8EBDDF}"/>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Which observations are correctly or incorrectly classified?</a:t>
            </a:r>
          </a:p>
        </p:txBody>
      </p:sp>
      <p:sp>
        <p:nvSpPr>
          <p:cNvPr id="12" name="">
            <a:extLst xmlns:a="http://schemas.openxmlformats.org/drawingml/2006/main">
              <a:ext uri="{FF2B5EF4-FFF2-40B4-BE49-F238E27FC236}">
                <a16:creationId xmlns:a16="http://schemas.microsoft.com/office/drawing/2014/main" id="{7B80A7B2-4CC2-4DFD-A457-20292D7CFBC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C094CC-93AD-437A-A2B5-02E5893B0EDF}"/>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afa2c7cbc964bf1"/>
              </a:rPr>
              <a:t>Open explainer video</a:t>
            </a:r>
          </a:p>
        </p:txBody>
      </p:sp>
      <p:sp>
        <p:nvSpPr>
          <p:cNvPr id="14" name="">
            <a:extLst xmlns:a="http://schemas.openxmlformats.org/drawingml/2006/main">
              <a:ext uri="{FF2B5EF4-FFF2-40B4-BE49-F238E27FC236}">
                <a16:creationId xmlns:a16="http://schemas.microsoft.com/office/drawing/2014/main" id="{33262905-4F1F-41C5-8120-E821E4BD9AF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https://www.youtube.com/watch?v=Kdsp6soqA7o</a:t>
            </a:r>
          </a:p>
        </p:txBody>
      </p:sp>
      <p:sp>
        <p:nvSpPr>
          <p:cNvPr id="15" name="">
            <a:extLst xmlns:a="http://schemas.openxmlformats.org/drawingml/2006/main">
              <a:ext uri="{FF2B5EF4-FFF2-40B4-BE49-F238E27FC236}">
                <a16:creationId xmlns:a16="http://schemas.microsoft.com/office/drawing/2014/main" id="{F898D867-36F6-4BE0-81A6-057083313F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41</a:t>
            </a:r>
          </a:p>
        </p:txBody>
      </p:sp>
    </p:spTree>
    <p:extLst>
      <p:ext uri="{BB962C8B-B14F-4D97-AF65-F5344CB8AC3E}">
        <p14:creationId xmlns:p14="http://schemas.microsoft.com/office/powerpoint/2010/main" val="14993183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2026-09-28T21:45:20.4940000Z</dcterms:created>
  <dcterms:modified xsi:type="dcterms:W3CDTF">2026-09-28T21:45:20.4940000Z</dcterms:modified>
</coreProperties>
</file>