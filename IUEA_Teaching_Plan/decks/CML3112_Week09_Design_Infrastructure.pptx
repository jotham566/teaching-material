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5aa7bc461c74981" /><Relationship Type="http://schemas.openxmlformats.org/officeDocument/2006/relationships/extended-properties" Target="/docProps/app.xml" Id="R18bc74fdf622486a" /><Relationship Type="http://schemas.openxmlformats.org/officeDocument/2006/relationships/officeDocument" Target="/ppt/presentation.xml" Id="R77212804794f4422" /></Relationships>
</file>

<file path=ppt/presentation.xml><?xml version="1.0" encoding="utf-8"?>
<p:presentation xmlns:p="http://schemas.openxmlformats.org/presentationml/2006/main">
  <p:sldMasterIdLst>
    <p:sldMasterId xmlns:r="http://schemas.openxmlformats.org/officeDocument/2006/relationships" id="2147483648" r:id="R02aa233195c74b3e"/>
  </p:sldMasterIdLst>
  <p:notesMasterIdLst>
    <p:notesMasterId xmlns:r="http://schemas.openxmlformats.org/officeDocument/2006/relationships" r:id="Rf40f0c3ee50c48e0"/>
  </p:notesMasterIdLst>
  <p:sldIdLst>
    <p:sldId xmlns:r="http://schemas.openxmlformats.org/officeDocument/2006/relationships" id="256" r:id="Rbb20f0cf0fea4af3"/>
    <p:sldId xmlns:r="http://schemas.openxmlformats.org/officeDocument/2006/relationships" id="257" r:id="R0bb282f434614c35"/>
    <p:sldId xmlns:r="http://schemas.openxmlformats.org/officeDocument/2006/relationships" id="258" r:id="Rd7933798fec0403f"/>
    <p:sldId xmlns:r="http://schemas.openxmlformats.org/officeDocument/2006/relationships" id="259" r:id="Rd8e5b1e9eab64d80"/>
    <p:sldId xmlns:r="http://schemas.openxmlformats.org/officeDocument/2006/relationships" id="260" r:id="R24b79bdb78cc40e6"/>
    <p:sldId xmlns:r="http://schemas.openxmlformats.org/officeDocument/2006/relationships" id="261" r:id="Rf071019de7ba403f"/>
    <p:sldId xmlns:r="http://schemas.openxmlformats.org/officeDocument/2006/relationships" id="262" r:id="Re0dd070df6434e1a"/>
    <p:sldId xmlns:r="http://schemas.openxmlformats.org/officeDocument/2006/relationships" id="263" r:id="R572604d76fb64c15"/>
    <p:sldId xmlns:r="http://schemas.openxmlformats.org/officeDocument/2006/relationships" id="264" r:id="R89a86ad0cacc49a9"/>
    <p:sldId xmlns:r="http://schemas.openxmlformats.org/officeDocument/2006/relationships" id="265" r:id="R7b743de5e51d4658"/>
    <p:sldId xmlns:r="http://schemas.openxmlformats.org/officeDocument/2006/relationships" id="266" r:id="Rc19b752ae4b34251"/>
    <p:sldId xmlns:r="http://schemas.openxmlformats.org/officeDocument/2006/relationships" id="267" r:id="R3efa97ddc2ad46d1"/>
    <p:sldId xmlns:r="http://schemas.openxmlformats.org/officeDocument/2006/relationships" id="268" r:id="R81ff6d70ed3f45e3"/>
    <p:sldId xmlns:r="http://schemas.openxmlformats.org/officeDocument/2006/relationships" id="269" r:id="R94788fe9706c469b"/>
    <p:sldId xmlns:r="http://schemas.openxmlformats.org/officeDocument/2006/relationships" id="270" r:id="R6807211bad4e4e91"/>
    <p:sldId xmlns:r="http://schemas.openxmlformats.org/officeDocument/2006/relationships" id="271" r:id="Rd2752a00aea34613"/>
    <p:sldId xmlns:r="http://schemas.openxmlformats.org/officeDocument/2006/relationships" id="272" r:id="R7ea24898c5dd4815"/>
    <p:sldId xmlns:r="http://schemas.openxmlformats.org/officeDocument/2006/relationships" id="273" r:id="Rb3c5cc66586d42b4"/>
    <p:sldId xmlns:r="http://schemas.openxmlformats.org/officeDocument/2006/relationships" id="274" r:id="R6931a41138644b5f"/>
    <p:sldId xmlns:r="http://schemas.openxmlformats.org/officeDocument/2006/relationships" id="275" r:id="R3a25c4a8c7ce43b4"/>
    <p:sldId xmlns:r="http://schemas.openxmlformats.org/officeDocument/2006/relationships" id="276" r:id="R1f08113754db459b"/>
    <p:sldId xmlns:r="http://schemas.openxmlformats.org/officeDocument/2006/relationships" id="277" r:id="R38cc8a7dc49541b8"/>
    <p:sldId xmlns:r="http://schemas.openxmlformats.org/officeDocument/2006/relationships" id="278" r:id="Rec951495edeb41b2"/>
    <p:sldId xmlns:r="http://schemas.openxmlformats.org/officeDocument/2006/relationships" id="279" r:id="Rd255e473b3ac49d7"/>
    <p:sldId xmlns:r="http://schemas.openxmlformats.org/officeDocument/2006/relationships" id="280" r:id="R3bdb7ce7582a466e"/>
    <p:sldId xmlns:r="http://schemas.openxmlformats.org/officeDocument/2006/relationships" id="281" r:id="Rc7c78c51f0c0485f"/>
    <p:sldId xmlns:r="http://schemas.openxmlformats.org/officeDocument/2006/relationships" id="282" r:id="R0f3c4cf279bd4f95"/>
    <p:sldId xmlns:r="http://schemas.openxmlformats.org/officeDocument/2006/relationships" id="283" r:id="R9c4e7ded67cc4690"/>
    <p:sldId xmlns:r="http://schemas.openxmlformats.org/officeDocument/2006/relationships" id="284" r:id="R324ba457f70b4888"/>
    <p:sldId xmlns:r="http://schemas.openxmlformats.org/officeDocument/2006/relationships" id="285" r:id="R78369e1a735f4f57"/>
    <p:sldId xmlns:r="http://schemas.openxmlformats.org/officeDocument/2006/relationships" id="286" r:id="Rd4d54756b81c4a0a"/>
    <p:sldId xmlns:r="http://schemas.openxmlformats.org/officeDocument/2006/relationships" id="287" r:id="R5b3eecd382004195"/>
    <p:sldId xmlns:r="http://schemas.openxmlformats.org/officeDocument/2006/relationships" id="288" r:id="Rb91a800fdad44b19"/>
    <p:sldId xmlns:r="http://schemas.openxmlformats.org/officeDocument/2006/relationships" id="289" r:id="R00965e9cd6b34355"/>
    <p:sldId xmlns:r="http://schemas.openxmlformats.org/officeDocument/2006/relationships" id="290" r:id="R1d9cb289e85f4a4f"/>
    <p:sldId xmlns:r="http://schemas.openxmlformats.org/officeDocument/2006/relationships" id="291" r:id="R5443cb0c8f4749bd"/>
    <p:sldId xmlns:r="http://schemas.openxmlformats.org/officeDocument/2006/relationships" id="292" r:id="Rd9181ba121a8478c"/>
    <p:sldId xmlns:r="http://schemas.openxmlformats.org/officeDocument/2006/relationships" id="293" r:id="Ra6a6938e4bde4085"/>
    <p:sldId xmlns:r="http://schemas.openxmlformats.org/officeDocument/2006/relationships" id="294" r:id="R6a9ce9ab603c4b31"/>
    <p:sldId xmlns:r="http://schemas.openxmlformats.org/officeDocument/2006/relationships" id="295" r:id="R01c702bd8a1a492c"/>
    <p:sldId xmlns:r="http://schemas.openxmlformats.org/officeDocument/2006/relationships" id="296" r:id="R36e6d01d73034637"/>
    <p:sldId xmlns:r="http://schemas.openxmlformats.org/officeDocument/2006/relationships" id="297" r:id="R7a6ceaf6ed344782"/>
    <p:sldId xmlns:r="http://schemas.openxmlformats.org/officeDocument/2006/relationships" id="298" r:id="Rec90a97549554ee5"/>
    <p:sldId xmlns:r="http://schemas.openxmlformats.org/officeDocument/2006/relationships" id="299" r:id="R5127cd2b9a16403e"/>
    <p:sldId xmlns:r="http://schemas.openxmlformats.org/officeDocument/2006/relationships" id="300" r:id="Rc06a70e5cccf469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2124679371c42c1" /><Relationship Type="http://schemas.openxmlformats.org/officeDocument/2006/relationships/slideMaster" Target="/ppt/slideMasters/slideMaster1.xml" Id="R02aa233195c74b3e" /><Relationship Type="http://schemas.openxmlformats.org/officeDocument/2006/relationships/notesMaster" Target="/ppt/notesMasters/notesMaster1.xml" Id="Rf40f0c3ee50c48e0" /><Relationship Type="http://schemas.openxmlformats.org/officeDocument/2006/relationships/presProps" Target="/ppt/presProps.xml" Id="R0c372a254aa84232" /><Relationship Type="http://schemas.openxmlformats.org/officeDocument/2006/relationships/tableStyles" Target="/ppt/tableStyles.xml" Id="R140712ac1f234be5" /><Relationship Type="http://schemas.openxmlformats.org/officeDocument/2006/relationships/slide" Target="/ppt/slides/slide1.xml" Id="Rbb20f0cf0fea4af3" /><Relationship Type="http://schemas.openxmlformats.org/officeDocument/2006/relationships/slide" Target="/ppt/slides/slide2.xml" Id="R0bb282f434614c35" /><Relationship Type="http://schemas.openxmlformats.org/officeDocument/2006/relationships/slide" Target="/ppt/slides/slide3.xml" Id="Rd7933798fec0403f" /><Relationship Type="http://schemas.openxmlformats.org/officeDocument/2006/relationships/slide" Target="/ppt/slides/slide4.xml" Id="Rd8e5b1e9eab64d80" /><Relationship Type="http://schemas.openxmlformats.org/officeDocument/2006/relationships/slide" Target="/ppt/slides/slide5.xml" Id="R24b79bdb78cc40e6" /><Relationship Type="http://schemas.openxmlformats.org/officeDocument/2006/relationships/slide" Target="/ppt/slides/slide6.xml" Id="Rf071019de7ba403f" /><Relationship Type="http://schemas.openxmlformats.org/officeDocument/2006/relationships/slide" Target="/ppt/slides/slide7.xml" Id="Re0dd070df6434e1a" /><Relationship Type="http://schemas.openxmlformats.org/officeDocument/2006/relationships/slide" Target="/ppt/slides/slide8.xml" Id="R572604d76fb64c15" /><Relationship Type="http://schemas.openxmlformats.org/officeDocument/2006/relationships/slide" Target="/ppt/slides/slide9.xml" Id="R89a86ad0cacc49a9" /><Relationship Type="http://schemas.openxmlformats.org/officeDocument/2006/relationships/slide" Target="/ppt/slides/slide10.xml" Id="R7b743de5e51d4658" /><Relationship Type="http://schemas.openxmlformats.org/officeDocument/2006/relationships/slide" Target="/ppt/slides/slide11.xml" Id="Rc19b752ae4b34251" /><Relationship Type="http://schemas.openxmlformats.org/officeDocument/2006/relationships/slide" Target="/ppt/slides/slide12.xml" Id="R3efa97ddc2ad46d1" /><Relationship Type="http://schemas.openxmlformats.org/officeDocument/2006/relationships/slide" Target="/ppt/slides/slide13.xml" Id="R81ff6d70ed3f45e3" /><Relationship Type="http://schemas.openxmlformats.org/officeDocument/2006/relationships/slide" Target="/ppt/slides/slide14.xml" Id="R94788fe9706c469b" /><Relationship Type="http://schemas.openxmlformats.org/officeDocument/2006/relationships/slide" Target="/ppt/slides/slide15.xml" Id="R6807211bad4e4e91" /><Relationship Type="http://schemas.openxmlformats.org/officeDocument/2006/relationships/slide" Target="/ppt/slides/slide16.xml" Id="Rd2752a00aea34613" /><Relationship Type="http://schemas.openxmlformats.org/officeDocument/2006/relationships/slide" Target="/ppt/slides/slide17.xml" Id="R7ea24898c5dd4815" /><Relationship Type="http://schemas.openxmlformats.org/officeDocument/2006/relationships/slide" Target="/ppt/slides/slide18.xml" Id="Rb3c5cc66586d42b4" /><Relationship Type="http://schemas.openxmlformats.org/officeDocument/2006/relationships/slide" Target="/ppt/slides/slide19.xml" Id="R6931a41138644b5f" /><Relationship Type="http://schemas.openxmlformats.org/officeDocument/2006/relationships/slide" Target="/ppt/slides/slide20.xml" Id="R3a25c4a8c7ce43b4" /><Relationship Type="http://schemas.openxmlformats.org/officeDocument/2006/relationships/slide" Target="/ppt/slides/slide21.xml" Id="R1f08113754db459b" /><Relationship Type="http://schemas.openxmlformats.org/officeDocument/2006/relationships/slide" Target="/ppt/slides/slide22.xml" Id="R38cc8a7dc49541b8" /><Relationship Type="http://schemas.openxmlformats.org/officeDocument/2006/relationships/slide" Target="/ppt/slides/slide23.xml" Id="Rec951495edeb41b2" /><Relationship Type="http://schemas.openxmlformats.org/officeDocument/2006/relationships/slide" Target="/ppt/slides/slide24.xml" Id="Rd255e473b3ac49d7" /><Relationship Type="http://schemas.openxmlformats.org/officeDocument/2006/relationships/slide" Target="/ppt/slides/slide25.xml" Id="R3bdb7ce7582a466e" /><Relationship Type="http://schemas.openxmlformats.org/officeDocument/2006/relationships/slide" Target="/ppt/slides/slide26.xml" Id="Rc7c78c51f0c0485f" /><Relationship Type="http://schemas.openxmlformats.org/officeDocument/2006/relationships/slide" Target="/ppt/slides/slide27.xml" Id="R0f3c4cf279bd4f95" /><Relationship Type="http://schemas.openxmlformats.org/officeDocument/2006/relationships/slide" Target="/ppt/slides/slide28.xml" Id="R9c4e7ded67cc4690" /><Relationship Type="http://schemas.openxmlformats.org/officeDocument/2006/relationships/slide" Target="/ppt/slides/slide29.xml" Id="R324ba457f70b4888" /><Relationship Type="http://schemas.openxmlformats.org/officeDocument/2006/relationships/slide" Target="/ppt/slides/slide30.xml" Id="R78369e1a735f4f57" /><Relationship Type="http://schemas.openxmlformats.org/officeDocument/2006/relationships/slide" Target="/ppt/slides/slide31.xml" Id="Rd4d54756b81c4a0a" /><Relationship Type="http://schemas.openxmlformats.org/officeDocument/2006/relationships/slide" Target="/ppt/slides/slide32.xml" Id="R5b3eecd382004195" /><Relationship Type="http://schemas.openxmlformats.org/officeDocument/2006/relationships/slide" Target="/ppt/slides/slide33.xml" Id="Rb91a800fdad44b19" /><Relationship Type="http://schemas.openxmlformats.org/officeDocument/2006/relationships/slide" Target="/ppt/slides/slide34.xml" Id="R00965e9cd6b34355" /><Relationship Type="http://schemas.openxmlformats.org/officeDocument/2006/relationships/slide" Target="/ppt/slides/slide35.xml" Id="R1d9cb289e85f4a4f" /><Relationship Type="http://schemas.openxmlformats.org/officeDocument/2006/relationships/slide" Target="/ppt/slides/slide36.xml" Id="R5443cb0c8f4749bd" /><Relationship Type="http://schemas.openxmlformats.org/officeDocument/2006/relationships/slide" Target="/ppt/slides/slide37.xml" Id="Rd9181ba121a8478c" /><Relationship Type="http://schemas.openxmlformats.org/officeDocument/2006/relationships/slide" Target="/ppt/slides/slide38.xml" Id="Ra6a6938e4bde4085" /><Relationship Type="http://schemas.openxmlformats.org/officeDocument/2006/relationships/slide" Target="/ppt/slides/slide39.xml" Id="R6a9ce9ab603c4b31" /><Relationship Type="http://schemas.openxmlformats.org/officeDocument/2006/relationships/slide" Target="/ppt/slides/slide40.xml" Id="R01c702bd8a1a492c" /><Relationship Type="http://schemas.openxmlformats.org/officeDocument/2006/relationships/slide" Target="/ppt/slides/slide41.xml" Id="R36e6d01d73034637" /><Relationship Type="http://schemas.openxmlformats.org/officeDocument/2006/relationships/slide" Target="/ppt/slides/slide42.xml" Id="R7a6ceaf6ed344782" /><Relationship Type="http://schemas.openxmlformats.org/officeDocument/2006/relationships/slide" Target="/ppt/slides/slide43.xml" Id="Rec90a97549554ee5" /><Relationship Type="http://schemas.openxmlformats.org/officeDocument/2006/relationships/slide" Target="/ppt/slides/slide44.xml" Id="R5127cd2b9a16403e" /><Relationship Type="http://schemas.openxmlformats.org/officeDocument/2006/relationships/slide" Target="/ppt/slides/slide45.xml" Id="Rc06a70e5cccf469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4c60e31847f44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b37241262c475f" /><Relationship Type="http://schemas.openxmlformats.org/officeDocument/2006/relationships/notesMaster" Target="/ppt/notesMasters/notesMaster1.xml" Id="R6a9ba6fdfa7b4f4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74aa35007a4df6" /><Relationship Type="http://schemas.openxmlformats.org/officeDocument/2006/relationships/notesMaster" Target="/ppt/notesMasters/notesMaster1.xml" Id="R6d794f7985b34d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13c16f7ddc04417" /><Relationship Type="http://schemas.openxmlformats.org/officeDocument/2006/relationships/notesMaster" Target="/ppt/notesMasters/notesMaster1.xml" Id="R879479892a3e4410"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f542413cd74cf7" /><Relationship Type="http://schemas.openxmlformats.org/officeDocument/2006/relationships/notesMaster" Target="/ppt/notesMasters/notesMaster1.xml" Id="Rfeab71b75a264c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109b2591ae4f7b" /><Relationship Type="http://schemas.openxmlformats.org/officeDocument/2006/relationships/notesMaster" Target="/ppt/notesMasters/notesMaster1.xml" Id="R777bf66b851f45b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47936df1d0449d1" /><Relationship Type="http://schemas.openxmlformats.org/officeDocument/2006/relationships/notesMaster" Target="/ppt/notesMasters/notesMaster1.xml" Id="R6a4c82cfd5c145a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7481f835b854fce" /><Relationship Type="http://schemas.openxmlformats.org/officeDocument/2006/relationships/notesMaster" Target="/ppt/notesMasters/notesMaster1.xml" Id="R7e82bca2076241c3" /></Relationships>
</file>

<file path=ppt/notesSlides/_rels/notesSlide8.xml.rels>&#65279;<?xml version="1.0" encoding="utf-8"?><Relationships xmlns="http://schemas.openxmlformats.org/package/2006/relationships"><Relationship Type="http://schemas.openxmlformats.org/officeDocument/2006/relationships/slide" Target="/ppt/slides/slide8.xml" Id="Rb7e7443717d245a0" /><Relationship Type="http://schemas.openxmlformats.org/officeDocument/2006/relationships/notesMaster" Target="/ppt/notesMasters/notesMaster1.xml" Id="Rbb3a8ddd37784acb"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18dc5ce4b14223" /><Relationship Type="http://schemas.openxmlformats.org/officeDocument/2006/relationships/notesMaster" Target="/ppt/notesMasters/notesMaster1.xml" Id="R6090b6c6968d46b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e9c7b583b96448d" /><Relationship Type="http://schemas.openxmlformats.org/officeDocument/2006/relationships/notesMaster" Target="/ppt/notesMasters/notesMaster1.xml" Id="R8050273e07a2430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34f74b484e403e" /><Relationship Type="http://schemas.openxmlformats.org/officeDocument/2006/relationships/notesMaster" Target="/ppt/notesMasters/notesMaster1.xml" Id="R8ef24f0963be4ad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f74d2eaf6904b53" /><Relationship Type="http://schemas.openxmlformats.org/officeDocument/2006/relationships/notesMaster" Target="/ppt/notesMasters/notesMaster1.xml" Id="R9799662980fa428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30def3931b54d63" /><Relationship Type="http://schemas.openxmlformats.org/officeDocument/2006/relationships/notesMaster" Target="/ppt/notesMasters/notesMaster1.xml" Id="Recd773c69c2a472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56fd5bcb4a94ceb" /><Relationship Type="http://schemas.openxmlformats.org/officeDocument/2006/relationships/notesMaster" Target="/ppt/notesMasters/notesMaster1.xml" Id="Ra5af2ef6c6ed43b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da0181221834222" /><Relationship Type="http://schemas.openxmlformats.org/officeDocument/2006/relationships/notesMaster" Target="/ppt/notesMasters/notesMaster1.xml" Id="Rf21e2bdc0aef41d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c604dc314b244c8" /><Relationship Type="http://schemas.openxmlformats.org/officeDocument/2006/relationships/notesMaster" Target="/ppt/notesMasters/notesMaster1.xml" Id="Rc3b407432b7c4b2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b867e83eb784ec3" /><Relationship Type="http://schemas.openxmlformats.org/officeDocument/2006/relationships/notesMaster" Target="/ppt/notesMasters/notesMaster1.xml" Id="R0a1445c19f0a462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b780ae93e5f4fd7" /><Relationship Type="http://schemas.openxmlformats.org/officeDocument/2006/relationships/notesMaster" Target="/ppt/notesMasters/notesMaster1.xml" Id="Rbba86ce63d6c4b6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56d4b2e89d54346" /><Relationship Type="http://schemas.openxmlformats.org/officeDocument/2006/relationships/notesMaster" Target="/ppt/notesMasters/notesMaster1.xml" Id="R371df83a20824ad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ca6989d06c74e5e" /><Relationship Type="http://schemas.openxmlformats.org/officeDocument/2006/relationships/notesMaster" Target="/ppt/notesMasters/notesMaster1.xml" Id="R3268645604fc4d9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6fde4361e294096" /><Relationship Type="http://schemas.openxmlformats.org/officeDocument/2006/relationships/notesMaster" Target="/ppt/notesMasters/notesMaster1.xml" Id="R89a5ca0741f345c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be1275a3bda4bdf" /><Relationship Type="http://schemas.openxmlformats.org/officeDocument/2006/relationships/notesMaster" Target="/ppt/notesMasters/notesMaster1.xml" Id="R8ae60a5a71a0438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5c456b8d26b4bbd" /><Relationship Type="http://schemas.openxmlformats.org/officeDocument/2006/relationships/notesMaster" Target="/ppt/notesMasters/notesMaster1.xml" Id="Rba2d7ca99c944f6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017ff1de2664992" /><Relationship Type="http://schemas.openxmlformats.org/officeDocument/2006/relationships/notesMaster" Target="/ppt/notesMasters/notesMaster1.xml" Id="R99316485d7ff416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3a4592b2507458b" /><Relationship Type="http://schemas.openxmlformats.org/officeDocument/2006/relationships/notesMaster" Target="/ppt/notesMasters/notesMaster1.xml" Id="Rb4abd3f77280440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8a9e299ca584f18" /><Relationship Type="http://schemas.openxmlformats.org/officeDocument/2006/relationships/notesMaster" Target="/ppt/notesMasters/notesMaster1.xml" Id="R5d8a2a445a194e8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be1563387374e3d" /><Relationship Type="http://schemas.openxmlformats.org/officeDocument/2006/relationships/notesMaster" Target="/ppt/notesMasters/notesMaster1.xml" Id="Rf0f4f558e36240c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6310e9330f44105" /><Relationship Type="http://schemas.openxmlformats.org/officeDocument/2006/relationships/notesMaster" Target="/ppt/notesMasters/notesMaster1.xml" Id="R9a279ea52c974f8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964d7a1cf474864" /><Relationship Type="http://schemas.openxmlformats.org/officeDocument/2006/relationships/notesMaster" Target="/ppt/notesMasters/notesMaster1.xml" Id="R8a7e54c0bce3492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034f1141ddb4949" /><Relationship Type="http://schemas.openxmlformats.org/officeDocument/2006/relationships/notesMaster" Target="/ppt/notesMasters/notesMaster1.xml" Id="R90c07a51885a405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d6101c2a7e442c0" /><Relationship Type="http://schemas.openxmlformats.org/officeDocument/2006/relationships/notesMaster" Target="/ppt/notesMasters/notesMaster1.xml" Id="R5f3524781f25469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79f2949bd724cfd" /><Relationship Type="http://schemas.openxmlformats.org/officeDocument/2006/relationships/notesMaster" Target="/ppt/notesMasters/notesMaster1.xml" Id="R4b44d3c6541a4e5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9866d6822354d5d" /><Relationship Type="http://schemas.openxmlformats.org/officeDocument/2006/relationships/notesMaster" Target="/ppt/notesMasters/notesMaster1.xml" Id="Rbda38e78510a416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24bd1a69cfb4d1b" /><Relationship Type="http://schemas.openxmlformats.org/officeDocument/2006/relationships/notesMaster" Target="/ppt/notesMasters/notesMaster1.xml" Id="R0b1bfb8233df41e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bc8f67d692743a6" /><Relationship Type="http://schemas.openxmlformats.org/officeDocument/2006/relationships/notesMaster" Target="/ppt/notesMasters/notesMaster1.xml" Id="R9e120b2fb2114d9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78cdc44750c4aa9" /><Relationship Type="http://schemas.openxmlformats.org/officeDocument/2006/relationships/notesMaster" Target="/ppt/notesMasters/notesMaster1.xml" Id="R0ba216f6519241e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569ba1db10744a2" /><Relationship Type="http://schemas.openxmlformats.org/officeDocument/2006/relationships/notesMaster" Target="/ppt/notesMasters/notesMaster1.xml" Id="Re1271294f868437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e8ff2e1852f42b9" /><Relationship Type="http://schemas.openxmlformats.org/officeDocument/2006/relationships/notesMaster" Target="/ppt/notesMasters/notesMaster1.xml" Id="Rd32d6cf5bdb9465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917d8a10ecf437b" /><Relationship Type="http://schemas.openxmlformats.org/officeDocument/2006/relationships/notesMaster" Target="/ppt/notesMasters/notesMaster1.xml" Id="Rb91269e8ef1d46d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0ba08dba4504fa5" /><Relationship Type="http://schemas.openxmlformats.org/officeDocument/2006/relationships/notesMaster" Target="/ppt/notesMasters/notesMaster1.xml" Id="R3c9fbaec58ba43f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ff0a96c80c84302" /><Relationship Type="http://schemas.openxmlformats.org/officeDocument/2006/relationships/notesMaster" Target="/ppt/notesMasters/notesMaster1.xml" Id="Rb9c11aeda2a8437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cbc686bc6c44b5d" /><Relationship Type="http://schemas.openxmlformats.org/officeDocument/2006/relationships/notesMaster" Target="/ppt/notesMasters/notesMaster1.xml" Id="R2fd39440dbc9473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639b5a133b14a61" /><Relationship Type="http://schemas.openxmlformats.org/officeDocument/2006/relationships/notesMaster" Target="/ppt/notesMasters/notesMaster1.xml" Id="R722cbb38f16c45c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5dde2ea109f4cca" /><Relationship Type="http://schemas.openxmlformats.org/officeDocument/2006/relationships/notesMaster" Target="/ppt/notesMasters/notesMaster1.xml" Id="Re0a707449cc2440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5a670c0ec004791" /><Relationship Type="http://schemas.openxmlformats.org/officeDocument/2006/relationships/notesMaster" Target="/ppt/notesMasters/notesMaster1.xml" Id="Rbcf28ded1405474c"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Classification and the cost of mistakes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Classification and the cost of mistakes.</a:t>
            </a:r>
          </a:p>
          <a:p>
            <a:r>
              <a:t/>
            </a:r>
          </a:p>
          <a:p>
            <a:r>
              <a:t>LECTURER CUE</a:t>
            </a:r>
          </a:p>
          <a:p>
            <a:r>
              <a:t>Ask learners to explain this goal in ordinary language. The first successful attempt matters more than covering optional extensions. Defer: Three independently built classifiers, ROC/AUC and full threshold curves are extension after the basic matrix is secure.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Ask students to explain a false negative in their own programme and identify the denominator of recall.</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building team records indoor temperature to investigate comfort. Civil students can discuss construction and inspection; architecture students can discuss shading and ventilation. Explain the quantities before using them.</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The positive class.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positive class</a:t>
            </a:r>
          </a:p>
          <a:p>
            <a:r>
              <a:t/>
            </a:r>
          </a:p>
          <a:p>
            <a:r>
              <a:t>CONNECT</a:t>
            </a:r>
          </a:p>
          <a:p>
            <a:r>
              <a:t>Build on the preceding slide: The engineering context.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Class and positive label / TP and TN.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 and positive label / TP and TN</a:t>
            </a:r>
          </a:p>
          <a:p>
            <a:r>
              <a:t/>
            </a:r>
          </a:p>
          <a:p>
            <a:r>
              <a:t>CONNECT</a:t>
            </a:r>
          </a:p>
          <a:p>
            <a:r>
              <a:t>Build on the preceding slide: The positive class.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POINT TO THE DEFINITION</a:t>
            </a:r>
          </a:p>
          <a:p>
            <a:r>
              <a:t>Class and positive label: A class is a category. Here 1 means warning and 0 means no warning. Positive means the named class, not good news.</a:t>
            </a:r>
          </a:p>
          <a:p>
            <a:r>
              <a:t>TP and TN: True positive is a correctly flagged warning. True negative is a correctly unflagged non-warning.</a:t>
            </a:r>
          </a:p>
          <a:p>
            <a:r>
              <a:t/>
            </a:r>
          </a:p>
          <a:p>
            <a:r>
              <a:t>NEXT</a:t>
            </a:r>
          </a:p>
          <a:p>
            <a:r>
              <a:t>FP and FN.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FP and FN</a:t>
            </a:r>
          </a:p>
          <a:p>
            <a:r>
              <a:t/>
            </a:r>
          </a:p>
          <a:p>
            <a:r>
              <a:t>CONNECT</a:t>
            </a:r>
          </a:p>
          <a:p>
            <a:r>
              <a:t>Build on the preceding slide: Class and positive label / TP and TN.</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POINT TO THE DEFINITION</a:t>
            </a:r>
          </a:p>
          <a:p>
            <a:r>
              <a:t>FP and FN: False positive is a false alarm. False negative is a missed warning.</a:t>
            </a:r>
          </a:p>
          <a:p>
            <a:r>
              <a:t/>
            </a:r>
          </a:p>
          <a:p>
            <a:r>
              <a:t>NEXT</a:t>
            </a:r>
          </a:p>
          <a:p>
            <a:r>
              <a:t>Actual and predicted describe different things.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Actual and predicted describe different things</a:t>
            </a:r>
          </a:p>
          <a:p>
            <a:r>
              <a:t/>
            </a:r>
          </a:p>
          <a:p>
            <a:r>
              <a:t>CONNECT</a:t>
            </a:r>
          </a:p>
          <a:p>
            <a:r>
              <a:t>Build on the preceding slide: FP and FN.</a:t>
            </a:r>
          </a:p>
          <a:p>
            <a:r>
              <a:t/>
            </a:r>
          </a:p>
          <a:p>
            <a:r>
              <a:t>LECTURER CUE</a:t>
            </a:r>
          </a:p>
          <a:p>
            <a:r>
              <a:t>Place four paper observations in a table of actual label and predicted label. Classify each before showing the four-cell matrix. State which axis is actual and which is predicted.</a:t>
            </a:r>
          </a:p>
          <a:p>
            <a:r>
              <a:t/>
            </a:r>
          </a:p>
          <a:p>
            <a:r>
              <a:t>NEXT</a:t>
            </a:r>
          </a:p>
          <a:p>
            <a:r>
              <a:t>Every paired result belongs in one cell.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Every paired result belongs in one cell</a:t>
            </a:r>
          </a:p>
          <a:p>
            <a:r>
              <a:t/>
            </a:r>
          </a:p>
          <a:p>
            <a:r>
              <a:t>CONNECT</a:t>
            </a:r>
          </a:p>
          <a:p>
            <a:r>
              <a:t>Build on the preceding slide: Actual and predicted describe different things.</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The four kinds of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four kinds of result</a:t>
            </a:r>
          </a:p>
          <a:p>
            <a:r>
              <a:t/>
            </a:r>
          </a:p>
          <a:p>
            <a:r>
              <a:t>CONNECT</a:t>
            </a:r>
          </a:p>
          <a:p>
            <a:r>
              <a:t>Build on the preceding slide: Every paired result belongs in one cell.</a:t>
            </a:r>
          </a:p>
          <a:p>
            <a:r>
              <a:t/>
            </a:r>
          </a:p>
          <a:p>
            <a:r>
              <a:t>LECTURER CUE</a:t>
            </a:r>
          </a:p>
          <a:p>
            <a:r>
              <a:t>Rows are actual and columns are predicted. Read each paired observation into exactly one cell. Precision = 1/2. Recall = 1/2. Cost = 5 × FN + FP = 6 under this invented cost rule.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Precision / Recall.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Precision / Recall</a:t>
            </a:r>
          </a:p>
          <a:p>
            <a:r>
              <a:t/>
            </a:r>
          </a:p>
          <a:p>
            <a:r>
              <a:t>CONNECT</a:t>
            </a:r>
          </a:p>
          <a:p>
            <a:r>
              <a:t>Build on the preceding slide: The four kinds of result.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POINT TO THE DEFINITION</a:t>
            </a:r>
          </a:p>
          <a:p>
            <a:r>
              <a:t>Precision: Of all predicted warnings, the fraction that were actual warnings: TP / (TP + FP).</a:t>
            </a:r>
          </a:p>
          <a:p>
            <a:r>
              <a:t>Recall: Of all actual warnings, the fraction detected: TP / (TP + FN).</a:t>
            </a:r>
          </a:p>
          <a:p>
            <a:r>
              <a:t/>
            </a:r>
          </a:p>
          <a:p>
            <a:r>
              <a:t>NEXT</a:t>
            </a:r>
          </a:p>
          <a:p>
            <a:r>
              <a:t>Precision and recall.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Precision and recall</a:t>
            </a:r>
          </a:p>
          <a:p>
            <a:r>
              <a:t/>
            </a:r>
          </a:p>
          <a:p>
            <a:r>
              <a:t>CONNECT</a:t>
            </a:r>
          </a:p>
          <a:p>
            <a:r>
              <a:t>Build on the preceding slide: Precision / Recall.</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Two fractions ask different questions.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fractions ask different questions</a:t>
            </a:r>
          </a:p>
          <a:p>
            <a:r>
              <a:t/>
            </a:r>
          </a:p>
          <a:p>
            <a:r>
              <a:t>CONNECT</a:t>
            </a:r>
          </a:p>
          <a:p>
            <a:r>
              <a:t>Build on the preceding slide: Precision and recall.</a:t>
            </a:r>
          </a:p>
          <a:p>
            <a:r>
              <a:t/>
            </a:r>
          </a:p>
          <a:p>
            <a:r>
              <a:t>LECTURER CUE</a:t>
            </a:r>
          </a:p>
          <a:p>
            <a:r>
              <a:t>Use counts before fractions. The denominator of precision is predicted positives; the denominator of recall is actual positives. Explain what happens if either denominator is zero.</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Threshold and cost.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Threshold and cost</a:t>
            </a:r>
          </a:p>
          <a:p>
            <a:r>
              <a:t/>
            </a:r>
          </a:p>
          <a:p>
            <a:r>
              <a:t>CONNECT</a:t>
            </a:r>
          </a:p>
          <a:p>
            <a:r>
              <a:t>Build on the preceding slide: Two fractions ask different questions.</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POINT TO THE DEFINITION</a:t>
            </a:r>
          </a:p>
          <a:p>
            <a:r>
              <a:t>Threshold and cost: A threshold converts a score to a decision. A cost rule states how much each type of mistake matters. Lower thresholds usually increase recall; precision need not decrease at every step.</a:t>
            </a:r>
          </a:p>
          <a:p>
            <a:r>
              <a:t/>
            </a:r>
          </a:p>
          <a:p>
            <a:r>
              <a:t>NEXT</a:t>
            </a:r>
          </a:p>
          <a:p>
            <a:r>
              <a:t>State the cost rule before calculating.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State the cost rule before calculating</a:t>
            </a:r>
          </a:p>
          <a:p>
            <a:r>
              <a:t/>
            </a:r>
          </a:p>
          <a:p>
            <a:r>
              <a:t>CONNECT</a:t>
            </a:r>
          </a:p>
          <a:p>
            <a:r>
              <a:t>Build on the preceding slide: Threshold and cost.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Counting syntax in the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syntax in the example</a:t>
            </a:r>
          </a:p>
          <a:p>
            <a:r>
              <a:t/>
            </a:r>
          </a:p>
          <a:p>
            <a:r>
              <a:t>CONNECT</a:t>
            </a:r>
          </a:p>
          <a:p>
            <a:r>
              <a:t>Build on the preceding slide: State the cost rule before calculating.</a:t>
            </a:r>
          </a:p>
          <a:p>
            <a:r>
              <a:t/>
            </a:r>
          </a:p>
          <a:p>
            <a:r>
              <a:t>LECTURER CUE</a:t>
            </a:r>
          </a:p>
          <a:p>
            <a:r>
              <a:t>Read one row at a time and use a changed value. This is a syntax reference for the worked examples.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Counting syntax in the example.</a:t>
            </a:r>
          </a:p>
          <a:p>
            <a:r>
              <a:t/>
            </a:r>
          </a:p>
          <a:p>
            <a:r>
              <a:t>LECTURER CUE</a:t>
            </a:r>
          </a:p>
          <a:p>
            <a:r>
              <a:t>Place four paper observations in a table of actual label and predicted label. Classify each before showing the four-cell matrix. State which axis is actual and which is predicted. Use counts before fractions. The denominator of precision is predicted positives; the denominator of recall is actual positives. Explain what happens if either denominator is zero. Only after the count exercise, show a classifier fit/predict demonstration. Logistic regression predicts a category despite its name. Probability estimates need not be well calibrated.</a:t>
            </a:r>
          </a:p>
          <a:p>
            <a:r>
              <a:t/>
            </a:r>
          </a:p>
          <a:p>
            <a:r>
              <a:t>Complete practice code:</a:t>
            </a:r>
          </a:p>
          <a:p>
            <a:r>
              <a:t>actual = [1, 1, 0, 0]</a:t>
            </a:r>
          </a:p>
          <a:p>
            <a:r>
              <a:t>predicted = [1, 0, 1, 0]</a:t>
            </a:r>
          </a:p>
          <a:p>
            <a:r>
              <a:t>for truth, guess in zip(actual, predicted):</a:t>
            </a:r>
          </a:p>
          <a:p>
            <a:r>
              <a:t>    print(truth, guess)</a:t>
            </a:r>
          </a:p>
          <a:p>
            <a:r>
              <a:t># Count the four categories on paper before calculating.</a:t>
            </a:r>
          </a:p>
          <a:p>
            <a:r>
              <a:t>tp, fn, fp, tn = 1, 1, 1, 1</a:t>
            </a:r>
          </a:p>
          <a:p>
            <a:r>
              <a:t>print(tp / (tp + fp))</a:t>
            </a:r>
          </a:p>
          <a:p>
            <a:r>
              <a:t>print(tp / (tp + fn))</a:t>
            </a:r>
          </a:p>
          <a:p>
            <a:r>
              <a:t>print(5 * fn + fp)</a:t>
            </a:r>
          </a:p>
          <a:p>
            <a:r>
              <a:t/>
            </a:r>
          </a:p>
          <a:p>
            <a:r>
              <a:t>WALK THROUGH THIS CODE</a:t>
            </a:r>
          </a:p>
          <a:p>
            <a:r>
              <a:t>for takes the next item. The indented block repeats.</a:t>
            </a:r>
          </a:p>
          <a:p>
            <a:r>
              <a:t>zip pairs items at matching positions in these equal-length lists.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Counting arbitrary paired observations.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a:t>
            </a:r>
          </a:p>
          <a:p>
            <a:r>
              <a:t/>
            </a:r>
          </a:p>
          <a:p>
            <a:r>
              <a:t>CONNECT</a:t>
            </a:r>
          </a:p>
          <a:p>
            <a:r>
              <a:t>Build on the preceding slide: Expected output.</a:t>
            </a:r>
          </a:p>
          <a:p>
            <a:r>
              <a:t/>
            </a:r>
          </a:p>
          <a:p>
            <a:r>
              <a:t>LECTURER CUE</a:t>
            </a:r>
          </a:p>
          <a:p>
            <a:r>
              <a:t>Start every counter at zero before the loop. == compares labels. and means both comparisons must be true. elif checks another condition only when earlier ones were false.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Counting arbitrary paired observations in Python (1/3).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 in Python (1/3)</a:t>
            </a:r>
          </a:p>
          <a:p>
            <a:r>
              <a:t/>
            </a:r>
          </a:p>
          <a:p>
            <a:r>
              <a:t>CONNECT</a:t>
            </a:r>
          </a:p>
          <a:p>
            <a:r>
              <a:t>Build on the preceding slide: Counting arbitrary paired observations.</a:t>
            </a:r>
          </a:p>
          <a:p>
            <a:r>
              <a:t/>
            </a:r>
          </a:p>
          <a:p>
            <a:r>
              <a:t>LECTURER CUE</a:t>
            </a:r>
          </a:p>
          <a:p>
            <a:r>
              <a:t>Start every counter at zero before the loop. == compares labels. and means both comparisons must be true. elif checks another condition only when earlier ones were false.</a:t>
            </a:r>
          </a:p>
          <a:p>
            <a:r>
              <a:t/>
            </a:r>
          </a:p>
          <a:p>
            <a:r>
              <a:t>Complete practice code:</a:t>
            </a:r>
          </a:p>
          <a:p>
            <a:r>
              <a:t>tp = tn = fp = fn = 0</a:t>
            </a:r>
          </a:p>
          <a:p>
            <a:r>
              <a:t>for truth, guess in zip(actual, predicted):</a:t>
            </a:r>
          </a:p>
          <a:p>
            <a:r>
              <a:t>    if truth == 1 and guess == 1:</a:t>
            </a:r>
          </a:p>
          <a:p>
            <a:r>
              <a:t>        tp += 1</a:t>
            </a:r>
          </a:p>
          <a:p>
            <a:r>
              <a:t>    elif truth == 0 and guess == 0:</a:t>
            </a:r>
          </a:p>
          <a:p>
            <a:r>
              <a:t>        tn += 1</a:t>
            </a:r>
          </a:p>
          <a:p>
            <a:r>
              <a:t>    elif truth == 0 and guess == 1:</a:t>
            </a:r>
          </a:p>
          <a:p>
            <a:r>
              <a:t>        fp += 1</a:t>
            </a:r>
          </a:p>
          <a:p>
            <a:r>
              <a:t>    else:</a:t>
            </a:r>
          </a:p>
          <a:p>
            <a:r>
              <a:t>        fn += 1</a:t>
            </a:r>
          </a:p>
          <a:p>
            <a:r>
              <a:t>print(tp, tn, fp, fn)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Counting arbitrary paired observations in Python (2/3).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 in Python (2/3)</a:t>
            </a:r>
          </a:p>
          <a:p>
            <a:r>
              <a:t/>
            </a:r>
          </a:p>
          <a:p>
            <a:r>
              <a:t>CONNECT</a:t>
            </a:r>
          </a:p>
          <a:p>
            <a:r>
              <a:t>Build on the preceding slide: Counting arbitrary paired observations in Python (1/3).</a:t>
            </a:r>
          </a:p>
          <a:p>
            <a:r>
              <a:t/>
            </a:r>
          </a:p>
          <a:p>
            <a:r>
              <a:t>LECTURER CUE</a:t>
            </a:r>
          </a:p>
          <a:p>
            <a:r>
              <a:t>Start every counter at zero before the loop. == compares labels. and means both comparisons must be true. elif checks another condition only when earlier ones were false.</a:t>
            </a:r>
          </a:p>
          <a:p>
            <a:r>
              <a:t/>
            </a:r>
          </a:p>
          <a:p>
            <a:r>
              <a:t>Complete practice code:</a:t>
            </a:r>
          </a:p>
          <a:p>
            <a:r>
              <a:t>tp = tn = fp = fn = 0</a:t>
            </a:r>
          </a:p>
          <a:p>
            <a:r>
              <a:t>for truth, guess in zip(actual, predicted):</a:t>
            </a:r>
          </a:p>
          <a:p>
            <a:r>
              <a:t>    if truth == 1 and guess == 1:</a:t>
            </a:r>
          </a:p>
          <a:p>
            <a:r>
              <a:t>        tp += 1</a:t>
            </a:r>
          </a:p>
          <a:p>
            <a:r>
              <a:t>    elif truth == 0 and guess == 0:</a:t>
            </a:r>
          </a:p>
          <a:p>
            <a:r>
              <a:t>        tn += 1</a:t>
            </a:r>
          </a:p>
          <a:p>
            <a:r>
              <a:t>    elif truth == 0 and guess == 1:</a:t>
            </a:r>
          </a:p>
          <a:p>
            <a:r>
              <a:t>        fp += 1</a:t>
            </a:r>
          </a:p>
          <a:p>
            <a:r>
              <a:t>    else:</a:t>
            </a:r>
          </a:p>
          <a:p>
            <a:r>
              <a:t>        fn += 1</a:t>
            </a:r>
          </a:p>
          <a:p>
            <a:r>
              <a:t>print(tp, tn, fp, fn)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for takes the next item. The indented block repeats.</a:t>
            </a:r>
          </a:p>
          <a:p>
            <a:r>
              <a:t>if tests a condition. The chosen indented block runs.</a:t>
            </a:r>
          </a:p>
          <a:p>
            <a:r>
              <a:t>zip pairs items at matching positions in these equal-length lists.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Counting arbitrary paired observations in Python (3/3).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arbitrary paired observations in Python (3/3)</a:t>
            </a:r>
          </a:p>
          <a:p>
            <a:r>
              <a:t/>
            </a:r>
          </a:p>
          <a:p>
            <a:r>
              <a:t>CONNECT</a:t>
            </a:r>
          </a:p>
          <a:p>
            <a:r>
              <a:t>Build on the preceding slide: Counting arbitrary paired observations in Python (2/3).</a:t>
            </a:r>
          </a:p>
          <a:p>
            <a:r>
              <a:t/>
            </a:r>
          </a:p>
          <a:p>
            <a:r>
              <a:t>LECTURER CUE</a:t>
            </a:r>
          </a:p>
          <a:p>
            <a:r>
              <a:t>Start every counter at zero before the loop. == compares labels. and means both comparisons must be true. elif checks another condition only when earlier ones were false.</a:t>
            </a:r>
          </a:p>
          <a:p>
            <a:r>
              <a:t/>
            </a:r>
          </a:p>
          <a:p>
            <a:r>
              <a:t>Complete practice code:</a:t>
            </a:r>
          </a:p>
          <a:p>
            <a:r>
              <a:t>tp = tn = fp = fn = 0</a:t>
            </a:r>
          </a:p>
          <a:p>
            <a:r>
              <a:t>for truth, guess in zip(actual, predicted):</a:t>
            </a:r>
          </a:p>
          <a:p>
            <a:r>
              <a:t>    if truth == 1 and guess == 1:</a:t>
            </a:r>
          </a:p>
          <a:p>
            <a:r>
              <a:t>        tp += 1</a:t>
            </a:r>
          </a:p>
          <a:p>
            <a:r>
              <a:t>    elif truth == 0 and guess == 0:</a:t>
            </a:r>
          </a:p>
          <a:p>
            <a:r>
              <a:t>        tn += 1</a:t>
            </a:r>
          </a:p>
          <a:p>
            <a:r>
              <a:t>    elif truth == 0 and guess == 1:</a:t>
            </a:r>
          </a:p>
          <a:p>
            <a:r>
              <a:t>        fp += 1</a:t>
            </a:r>
          </a:p>
          <a:p>
            <a:r>
              <a:t>    else:</a:t>
            </a:r>
          </a:p>
          <a:p>
            <a:r>
              <a:t>        fn += 1</a:t>
            </a:r>
          </a:p>
          <a:p>
            <a:r>
              <a:t>print(tp, tn, fp, fn)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 are the confusion matrix.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confusion matrix</a:t>
            </a:r>
          </a:p>
          <a:p>
            <a:r>
              <a:t/>
            </a:r>
          </a:p>
          <a:p>
            <a:r>
              <a:t>CONNECT</a:t>
            </a:r>
          </a:p>
          <a:p>
            <a:r>
              <a:t>Build on the preceding slide: Counting arbitrary paired observations in Python (3/3).</a:t>
            </a:r>
          </a:p>
          <a:p>
            <a:r>
              <a:t/>
            </a:r>
          </a:p>
          <a:p>
            <a:r>
              <a:t>LECTURER CUE</a:t>
            </a:r>
          </a:p>
          <a:p>
            <a:r>
              <a:t>Do this before revealing the discussion slide. One learner moves or writes the items, the other checks. Swap roles. Every student explains one step. Expected: Each cell contains one card. Precision = 1 / 2 and recall = 1 / 2. The denominators count different sets of warnings.</a:t>
            </a:r>
          </a:p>
          <a:p>
            <a:r>
              <a:t>Wait for an individual prediction before inviting pair discussion. Give a first-step hint if needed.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confusion matrix.</a:t>
            </a:r>
          </a:p>
          <a:p>
            <a:r>
              <a:t/>
            </a:r>
          </a:p>
          <a:p>
            <a:r>
              <a:t>LECTURER CUE</a:t>
            </a:r>
          </a:p>
          <a:p>
            <a:r>
              <a:t>Ask which step produced this answer. Return to the concrete action if a learner cannot explain it. This is practice feedback, never a quiz key.</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Probability and a decision threshold.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Probability and a decision threshold</a:t>
            </a:r>
          </a:p>
          <a:p>
            <a:r>
              <a:t/>
            </a:r>
          </a:p>
          <a:p>
            <a:r>
              <a:t>CONNECT</a:t>
            </a:r>
          </a:p>
          <a:p>
            <a:r>
              <a:t>Build on the preceding slide: What the activity shows.</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POINT TO THE DEFINITION</a:t>
            </a:r>
          </a:p>
          <a:p>
            <a:r>
              <a:t>Probability: A probability is between 0 and 1. Multiply by 100 for percent: 0.7 is 70%. A model’s probability is an estimate that needs checking.</a:t>
            </a:r>
          </a:p>
          <a:p>
            <a:r>
              <a:t>Threshold: A threshold turns a score into a decision. For a rule score &gt;= 0.5, a score of 0.7 gives class 1. Use validation data to choose the threshold.</a:t>
            </a:r>
          </a:p>
          <a:p>
            <a:r>
              <a:t/>
            </a:r>
          </a:p>
          <a:p>
            <a:r>
              <a:t>NEXT</a:t>
            </a:r>
          </a:p>
          <a:p>
            <a:r>
              <a:t>A category decision can use a probability.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category decision can use a probability</a:t>
            </a:r>
          </a:p>
          <a:p>
            <a:r>
              <a:t/>
            </a:r>
          </a:p>
          <a:p>
            <a:r>
              <a:t>CONNECT</a:t>
            </a:r>
          </a:p>
          <a:p>
            <a:r>
              <a:t>Build on the preceding slide: Probability and a decision threshold.</a:t>
            </a:r>
          </a:p>
          <a:p>
            <a:r>
              <a:t/>
            </a:r>
          </a:p>
          <a:p>
            <a:r>
              <a:t>LECTURER CUE</a:t>
            </a:r>
          </a:p>
          <a:p>
            <a:r>
              <a:t>Only after the count exercise, show a classifier fit/predict demonstration. Logistic regression predicts a category despite its name. Probability estimates need not be well calibrated.</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Probability and a warning decision.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Probability and a warning decision</a:t>
            </a:r>
          </a:p>
          <a:p>
            <a:r>
              <a:t/>
            </a:r>
          </a:p>
          <a:p>
            <a:r>
              <a:t>CONNECT</a:t>
            </a:r>
          </a:p>
          <a:p>
            <a:r>
              <a:t>Build on the preceding slide: A category decision can use a probability.</a:t>
            </a:r>
          </a:p>
          <a:p>
            <a:r>
              <a:t/>
            </a:r>
          </a:p>
          <a:p>
            <a:r>
              <a:t>LECTURER CUE</a:t>
            </a:r>
          </a:p>
          <a:p>
            <a:r>
              <a:t>Lowering a threshold on fixed predictions cannot reduce the number flagged. Precision may rise or fall. Evaluate costs using validation data.</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Represent a category with indicators.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Represent a category with indicators</a:t>
            </a:r>
          </a:p>
          <a:p>
            <a:r>
              <a:t/>
            </a:r>
          </a:p>
          <a:p>
            <a:r>
              <a:t>CONNECT</a:t>
            </a:r>
          </a:p>
          <a:p>
            <a:r>
              <a:t>Build on the preceding slide: Probability and a warning decision.</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POINT TO THE DEFINITION</a:t>
            </a:r>
          </a:p>
          <a:p>
            <a:r>
              <a:t>Category: A category is a label such as steel or timber. Its name does not imply a numerical size or rank.</a:t>
            </a:r>
          </a:p>
          <a:p>
            <a:r>
              <a:t>One-hot indicator: Create a column for each category. Its entry is 1 when the row has that category and 0 otherwise. Learn the allowed categories from training data.</a:t>
            </a:r>
          </a:p>
          <a:p>
            <a:r>
              <a:t/>
            </a:r>
          </a:p>
          <a:p>
            <a:r>
              <a:t>NEXT</a:t>
            </a:r>
          </a:p>
          <a:p>
            <a:r>
              <a:t>A category can become indicator columns.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category can become indicator columns</a:t>
            </a:r>
          </a:p>
          <a:p>
            <a:r>
              <a:t/>
            </a:r>
          </a:p>
          <a:p>
            <a:r>
              <a:t>CONNECT</a:t>
            </a:r>
          </a:p>
          <a:p>
            <a:r>
              <a:t>Build on the preceding slide: Represent a category with indicators.</a:t>
            </a:r>
          </a:p>
          <a:p>
            <a:r>
              <a:t/>
            </a:r>
          </a:p>
          <a:p>
            <a:r>
              <a:t>LECTURER CUE</a:t>
            </a:r>
          </a:p>
          <a:p>
            <a:r>
              <a:t>An indicator is 1 when its category applies and 0 otherwise. Fit the encoder on training data.</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Accuracy can hide missed warnings.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Accuracy can hide missed warnings</a:t>
            </a:r>
          </a:p>
          <a:p>
            <a:r>
              <a:t/>
            </a:r>
          </a:p>
          <a:p>
            <a:r>
              <a:t>CONNECT</a:t>
            </a:r>
          </a:p>
          <a:p>
            <a:r>
              <a:t>Build on the preceding slide: A category can become indicator columns.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Accuracy can hide missed warnings.</a:t>
            </a:r>
          </a:p>
          <a:p>
            <a:r>
              <a:t/>
            </a:r>
          </a:p>
          <a:p>
            <a:r>
              <a:t>LECTURER CUE</a:t>
            </a:r>
          </a:p>
          <a:p>
            <a:r>
              <a:t>Give silent thinking time, then let pairs discuss. Rotate who types. This is practice, not a graded quiz. Expected response: TP=2, FN=0, FP=1, TN=1. Precision 2/3, recall 1, cost 1. This particular change improves recall and cost.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DISCUSSION KEY FOR THIS SLIDE</a:t>
            </a:r>
          </a:p>
          <a:p>
            <a:r>
              <a:t>DISCUSS THE REASONING</a:t>
            </a:r>
          </a:p>
          <a:p>
            <a:r>
              <a:t>Practice discussion</a:t>
            </a:r>
          </a:p>
          <a:p>
            <a:r>
              <a:t>TP=2, FN=0, FP=1, TN=1. Precision 2/3, recall 1, cost 1. This particular change improves recall and cost.</a:t>
            </a:r>
          </a:p>
          <a:p>
            <a:r>
              <a:t>Which step produced this result? What changes if one input changes?</a:t>
            </a:r>
          </a:p>
          <a:p>
            <a:r>
              <a:t>CML3112   Week 9   32</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Translate the medical example to warning/no-warning and label the axes.</a:t>
            </a:r>
          </a:p>
          <a:p>
            <a:r>
              <a:t>Preview before class and stop after the selected short excerpt. If playback fails, teach the worked example. Video is optional. Source: https://www.youtube.com/watch?v=Kdsp6soqA7o</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Category predictions and operating thresholds.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Category predictions and operating thresholds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Category predictions and operating thresholds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Category predictions and operating thresholds continued</a:t>
            </a:r>
          </a:p>
          <a:p>
            <a:r>
              <a:t/>
            </a:r>
          </a:p>
          <a:p>
            <a:r>
              <a:t>CONNECT</a:t>
            </a:r>
          </a:p>
          <a:p>
            <a:r>
              <a:t>Build on the preceding slide: Category predictions and operating thresholds.</a:t>
            </a:r>
          </a:p>
          <a:p>
            <a:r>
              <a:t/>
            </a:r>
          </a:p>
          <a:p>
            <a:r>
              <a:t>LECTURER CUE</a:t>
            </a:r>
          </a:p>
          <a:p>
            <a:r>
              <a:t>Teach these concepts before the weekly quiz. Use changed numbers for practice. This slide supplies concepts, not the quiz key.</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Category predictions and operating thresholds continued.</a:t>
            </a:r>
          </a:p>
          <a:p>
            <a:r>
              <a:t/>
            </a:r>
          </a:p>
          <a:p>
            <a:r>
              <a:t>LECTURER CUE</a:t>
            </a:r>
          </a:p>
          <a:p>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Your issued task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 continued</a:t>
            </a:r>
          </a:p>
          <a:p>
            <a:r>
              <a:t/>
            </a:r>
          </a:p>
          <a:p>
            <a:r>
              <a:t>CONNECT</a:t>
            </a:r>
          </a:p>
          <a:p>
            <a:r>
              <a:t>Build on the preceding slide: Your issued task.</a:t>
            </a:r>
          </a:p>
          <a:p>
            <a:r>
              <a:t/>
            </a:r>
          </a:p>
          <a:p>
            <a:r>
              <a:t>LECTURER CUE</a:t>
            </a:r>
          </a:p>
          <a:p>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classification_metrics(actual, predicted).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classification_metrics(actual, predicted)</a:t>
            </a:r>
          </a:p>
          <a:p>
            <a:r>
              <a:t/>
            </a:r>
          </a:p>
          <a:p>
            <a:r>
              <a:t>CONNECT</a:t>
            </a:r>
          </a:p>
          <a:p>
            <a:r>
              <a:t>Build on the preceding slide: Your issued task continued.</a:t>
            </a:r>
          </a:p>
          <a:p>
            <a:r>
              <a:t/>
            </a:r>
          </a:p>
          <a:p>
            <a:r>
              <a:t>LECTURER CUE</a:t>
            </a:r>
          </a:p>
          <a:p>
            <a:r>
              <a:t>Public task contract. Explain input and output types before independent work. Source: IUEA_Teaching_Plan/assessment_banks/W09/CML3112/A/TASKS.md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classification_metrics(actual, predicted).</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Classification and cost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Classification and cost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9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9 quiz</a:t>
            </a:r>
          </a:p>
          <a:p>
            <a:r>
              <a:t/>
            </a:r>
          </a:p>
          <a:p>
            <a:r>
              <a:t>CONNECT</a:t>
            </a:r>
          </a:p>
          <a:p>
            <a:r>
              <a:t>Build on the preceding slide: Classification and cost submission.</a:t>
            </a:r>
          </a:p>
          <a:p>
            <a:r>
              <a:t/>
            </a:r>
          </a:p>
          <a:p>
            <a:r>
              <a:t>LECTURER CUE</a:t>
            </a:r>
          </a:p>
          <a:p>
            <a:r>
              <a:t>Activate the matching open_W9_CML3112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9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52e4b4653224ef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3834c179e14fdd" /><Relationship Type="http://schemas.openxmlformats.org/officeDocument/2006/relationships/slideLayout" Target="/ppt/slideLayouts/slideLayout1.xml" Id="R6b2ff2184e1f4de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2ff2184e1f4d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ab136d4c5084d0a" /><Relationship Type="http://schemas.openxmlformats.org/officeDocument/2006/relationships/image" Target="/ppt/media/image.png" Id="Ra699829a0a534484" /><Relationship Type="http://schemas.openxmlformats.org/officeDocument/2006/relationships/notesSlide" Target="/ppt/notesSlides/notesSlide1.xml" Id="R39fd4712042c453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140cce49f7f4769" /><Relationship Type="http://schemas.openxmlformats.org/officeDocument/2006/relationships/notesSlide" Target="/ppt/notesSlides/notesSlide2.xml" Id="R6418d73dced544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c5eebf0d5c04df1" /><Relationship Type="http://schemas.openxmlformats.org/officeDocument/2006/relationships/notesSlide" Target="/ppt/notesSlides/notesSlide3.xml" Id="R0f1c9d9dc98143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c1ec2c2e7824a2b" /><Relationship Type="http://schemas.openxmlformats.org/officeDocument/2006/relationships/notesSlide" Target="/ppt/notesSlides/notesSlide4.xml" Id="Rf57a3a893ee140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3bc21df9e7a42ce" /><Relationship Type="http://schemas.openxmlformats.org/officeDocument/2006/relationships/notesSlide" Target="/ppt/notesSlides/notesSlide5.xml" Id="R9347b005fc1f4e1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da55949f00b4d51" /><Relationship Type="http://schemas.openxmlformats.org/officeDocument/2006/relationships/notesSlide" Target="/ppt/notesSlides/notesSlide6.xml" Id="R49de13971102490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20a941a0e75416f" /><Relationship Type="http://schemas.openxmlformats.org/officeDocument/2006/relationships/notesSlide" Target="/ppt/notesSlides/notesSlide7.xml" Id="Ra6e09d7ebb1d44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5f57461d8b94b91" /><Relationship Type="http://schemas.openxmlformats.org/officeDocument/2006/relationships/notesSlide" Target="/ppt/notesSlides/notesSlide8.xml" Id="R07efa473993a413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5014e54e09b4e78" /><Relationship Type="http://schemas.openxmlformats.org/officeDocument/2006/relationships/image" Target="/ppt/media/image2.png" Id="R217b34dc360b4831" /><Relationship Type="http://schemas.openxmlformats.org/officeDocument/2006/relationships/notesSlide" Target="/ppt/notesSlides/notesSlide9.xml" Id="R162f3c78332d451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983852538b2488d" /><Relationship Type="http://schemas.openxmlformats.org/officeDocument/2006/relationships/notesSlide" Target="/ppt/notesSlides/notesSlide10.xml" Id="R09e94fae4a654dc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4e6acfef5dd43d9" /><Relationship Type="http://schemas.openxmlformats.org/officeDocument/2006/relationships/notesSlide" Target="/ppt/notesSlides/notesSlide11.xml" Id="Rc482aeec65e04d8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04cb82becd34ec9" /><Relationship Type="http://schemas.openxmlformats.org/officeDocument/2006/relationships/notesSlide" Target="/ppt/notesSlides/notesSlide12.xml" Id="Ra4abe943e33f45f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9ab70b9f9544619" /><Relationship Type="http://schemas.openxmlformats.org/officeDocument/2006/relationships/notesSlide" Target="/ppt/notesSlides/notesSlide13.xml" Id="R6c27d2b78b6743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309e49711c441f2" /><Relationship Type="http://schemas.openxmlformats.org/officeDocument/2006/relationships/notesSlide" Target="/ppt/notesSlides/notesSlide14.xml" Id="R04de01eff5084e3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21dffcf9d9c4aab" /><Relationship Type="http://schemas.openxmlformats.org/officeDocument/2006/relationships/notesSlide" Target="/ppt/notesSlides/notesSlide15.xml" Id="R554cb9b2f161479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10592b7220a4c85" /><Relationship Type="http://schemas.openxmlformats.org/officeDocument/2006/relationships/notesSlide" Target="/ppt/notesSlides/notesSlide16.xml" Id="Rd29b548c8a7b422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780f7b1c8304371" /><Relationship Type="http://schemas.openxmlformats.org/officeDocument/2006/relationships/notesSlide" Target="/ppt/notesSlides/notesSlide17.xml" Id="R04e921139937478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f68570074644088" /><Relationship Type="http://schemas.openxmlformats.org/officeDocument/2006/relationships/notesSlide" Target="/ppt/notesSlides/notesSlide18.xml" Id="R47f2b996c635415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198b2e0973a4523" /><Relationship Type="http://schemas.openxmlformats.org/officeDocument/2006/relationships/notesSlide" Target="/ppt/notesSlides/notesSlide19.xml" Id="Rc94d0999e9264eb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a4404cf5ffa4f36" /><Relationship Type="http://schemas.openxmlformats.org/officeDocument/2006/relationships/notesSlide" Target="/ppt/notesSlides/notesSlide20.xml" Id="Rbeb8001ac60c46a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d985403d7334f6d" /><Relationship Type="http://schemas.openxmlformats.org/officeDocument/2006/relationships/notesSlide" Target="/ppt/notesSlides/notesSlide21.xml" Id="R646304c0a058444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dcca6e858664e34" /><Relationship Type="http://schemas.openxmlformats.org/officeDocument/2006/relationships/notesSlide" Target="/ppt/notesSlides/notesSlide22.xml" Id="R2cc396ce5c17434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37b6f14940744a4" /><Relationship Type="http://schemas.openxmlformats.org/officeDocument/2006/relationships/notesSlide" Target="/ppt/notesSlides/notesSlide23.xml" Id="Ra251585cced3476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cbe10dd96c44f2d" /><Relationship Type="http://schemas.openxmlformats.org/officeDocument/2006/relationships/notesSlide" Target="/ppt/notesSlides/notesSlide24.xml" Id="R9582af80e650492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176fd1323e94600" /><Relationship Type="http://schemas.openxmlformats.org/officeDocument/2006/relationships/notesSlide" Target="/ppt/notesSlides/notesSlide25.xml" Id="Rce0a6f225d3e45d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b66fbbd7545440e" /><Relationship Type="http://schemas.openxmlformats.org/officeDocument/2006/relationships/notesSlide" Target="/ppt/notesSlides/notesSlide26.xml" Id="Rfc4fd165f8834e0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a50b1af8a2e4ad0" /><Relationship Type="http://schemas.openxmlformats.org/officeDocument/2006/relationships/notesSlide" Target="/ppt/notesSlides/notesSlide27.xml" Id="R45ead90fddc64dc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17935fdafad4920" /><Relationship Type="http://schemas.openxmlformats.org/officeDocument/2006/relationships/notesSlide" Target="/ppt/notesSlides/notesSlide28.xml" Id="Raf59910b252e4ea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464fa5bfba14081" /><Relationship Type="http://schemas.openxmlformats.org/officeDocument/2006/relationships/notesSlide" Target="/ppt/notesSlides/notesSlide29.xml" Id="R69266e0348704e8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82332ba5fe347c9" /><Relationship Type="http://schemas.openxmlformats.org/officeDocument/2006/relationships/notesSlide" Target="/ppt/notesSlides/notesSlide30.xml" Id="Rddf4ce79a4b840d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12335c9ff86439f" /><Relationship Type="http://schemas.openxmlformats.org/officeDocument/2006/relationships/notesSlide" Target="/ppt/notesSlides/notesSlide31.xml" Id="R38814333018b4cf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fed7649ef9e4a7f" /><Relationship Type="http://schemas.openxmlformats.org/officeDocument/2006/relationships/notesSlide" Target="/ppt/notesSlides/notesSlide32.xml" Id="R76416cdef82944e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1afb24bc10f4e7b" /><Relationship Type="http://schemas.openxmlformats.org/officeDocument/2006/relationships/hyperlink" Target="https://www.youtube.com/watch?v=Kdsp6soqA7o" TargetMode="External" Id="Rafd5f3e30ebe43b1" /><Relationship Type="http://schemas.openxmlformats.org/officeDocument/2006/relationships/notesSlide" Target="/ppt/notesSlides/notesSlide33.xml" Id="R0e0a73f093664b6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d9014c757f44502" /><Relationship Type="http://schemas.openxmlformats.org/officeDocument/2006/relationships/notesSlide" Target="/ppt/notesSlides/notesSlide34.xml" Id="R67827d08fc9a4c1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e805594218f4014" /><Relationship Type="http://schemas.openxmlformats.org/officeDocument/2006/relationships/notesSlide" Target="/ppt/notesSlides/notesSlide35.xml" Id="Ra232c436416443a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bfbd2a350b243ea" /><Relationship Type="http://schemas.openxmlformats.org/officeDocument/2006/relationships/notesSlide" Target="/ppt/notesSlides/notesSlide36.xml" Id="R51c37faf5703440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dfba989b43547c9" /><Relationship Type="http://schemas.openxmlformats.org/officeDocument/2006/relationships/notesSlide" Target="/ppt/notesSlides/notesSlide37.xml" Id="Refae07eea04b492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47349d45b5564255" /><Relationship Type="http://schemas.openxmlformats.org/officeDocument/2006/relationships/notesSlide" Target="/ppt/notesSlides/notesSlide38.xml" Id="Rfac5cedfb1cd468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8cc9f0b1914411e" /><Relationship Type="http://schemas.openxmlformats.org/officeDocument/2006/relationships/notesSlide" Target="/ppt/notesSlides/notesSlide39.xml" Id="Rdcf3e5ff22844f0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4ed8f298d9e4faf" /><Relationship Type="http://schemas.openxmlformats.org/officeDocument/2006/relationships/notesSlide" Target="/ppt/notesSlides/notesSlide40.xml" Id="Ra7a0a287b0df4ca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a6253495b4c4423c" /><Relationship Type="http://schemas.openxmlformats.org/officeDocument/2006/relationships/notesSlide" Target="/ppt/notesSlides/notesSlide41.xml" Id="R5b65aca2b00249b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c148dca27b8c4dd1" /><Relationship Type="http://schemas.openxmlformats.org/officeDocument/2006/relationships/notesSlide" Target="/ppt/notesSlides/notesSlide42.xml" Id="R5d278670f07a4b4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35fd2028f4584a50" /><Relationship Type="http://schemas.openxmlformats.org/officeDocument/2006/relationships/hyperlink" Target="https://docs.google.com/forms/d/e/1FAIpQLSfTe7OkZ7tZEVzG-mup0-8liXg1jKy_KmsDWZiPK9EWMJ9InA/viewform" TargetMode="External" Id="Re07c4ae06b794ed2" /><Relationship Type="http://schemas.openxmlformats.org/officeDocument/2006/relationships/notesSlide" Target="/ppt/notesSlides/notesSlide43.xml" Id="Rfa18e16620d7421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1867b336b759453b" /><Relationship Type="http://schemas.openxmlformats.org/officeDocument/2006/relationships/image" Target="/ppt/media/image3.png" Id="R7f4e7b54ca3d4a38" /><Relationship Type="http://schemas.openxmlformats.org/officeDocument/2006/relationships/hyperlink" Target="https://forms.gle/6XBHNCQXESUyQ6G86" TargetMode="External" Id="R97afcbf831da4bc0" /><Relationship Type="http://schemas.openxmlformats.org/officeDocument/2006/relationships/notesSlide" Target="/ppt/notesSlides/notesSlide44.xml" Id="Rdb7b1784e7e9488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788e4f917c64ad7" /><Relationship Type="http://schemas.openxmlformats.org/officeDocument/2006/relationships/notesSlide" Target="/ppt/notesSlides/notesSlide45.xml" Id="R28b20ffa8a6c409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699829a0a53448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F3C7D1D-3C36-4B36-B8AC-765D784470E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224BAB9-9A9A-42B4-A33C-6EE567BEEF6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9</a:t>
            </a:r>
          </a:p>
        </p:txBody>
      </p:sp>
      <p:sp>
        <p:nvSpPr>
          <p:cNvPr id="4" name="">
            <a:extLst xmlns:a="http://schemas.openxmlformats.org/drawingml/2006/main">
              <a:ext uri="{FF2B5EF4-FFF2-40B4-BE49-F238E27FC236}">
                <a16:creationId xmlns:a16="http://schemas.microsoft.com/office/drawing/2014/main" id="{976E1D7A-E627-42B2-938B-3ECBF2567BE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51A65979-597A-440E-9BAA-151DAE7ED39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EB20BF44-2D00-44E6-9C6B-39BFDC3229FB}"/>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5778554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66D1F48-BA35-4114-8531-D9A3A8F0A4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782345-EE51-4AB9-B9FA-FFDEC68E1B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D85357E-2388-4C42-971F-6CD18FCCF3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ACCA15D-4EFC-4441-BA44-2A22C43C79E4}"/>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8C1DC2-9A99-4983-BDA8-9EEB3CA5FBBE}"/>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CEB2520-06D9-4E34-8826-8A0FB0127B7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717E7FEC-8B92-488F-8C64-F566FA1EC9B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C581D5F-237B-4E8B-8C16-0D8B5E54E6A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6B8BE4B9-48D0-4E22-9150-E161E6EC5B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a:t>
            </a:r>
          </a:p>
        </p:txBody>
      </p:sp>
    </p:spTree>
    <p:extLst>
      <p:ext uri="{BB962C8B-B14F-4D97-AF65-F5344CB8AC3E}">
        <p14:creationId xmlns:p14="http://schemas.microsoft.com/office/powerpoint/2010/main" val="303081681"/>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756E844-4A88-4FFF-8A5E-B0B6C2EDE3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9224BD5-EE92-4A99-A92C-F2299640D3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04683557-4DA2-4412-97EB-30A31808675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A4DB0F8E-7B5E-42BB-926E-995CA53F011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What distinguishes predicting a temperature from predicting warning or no warning?</a:t>
            </a:r>
          </a:p>
        </p:txBody>
      </p:sp>
      <p:sp>
        <p:nvSpPr>
          <p:cNvPr id="5" name="">
            <a:extLst xmlns:a="http://schemas.openxmlformats.org/drawingml/2006/main">
              <a:ext uri="{FF2B5EF4-FFF2-40B4-BE49-F238E27FC236}">
                <a16:creationId xmlns:a16="http://schemas.microsoft.com/office/drawing/2014/main" id="{2091E2A1-9E3B-4554-A7DF-6D826C2D4CC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582D08AF-405C-444F-9FB9-B321434287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9   3</a:t>
            </a:r>
          </a:p>
        </p:txBody>
      </p:sp>
    </p:spTree>
    <p:extLst>
      <p:ext uri="{BB962C8B-B14F-4D97-AF65-F5344CB8AC3E}">
        <p14:creationId xmlns:p14="http://schemas.microsoft.com/office/powerpoint/2010/main" val="132746470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3BD580-0CAF-493B-9DFA-BC0A1DECFE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08A8B6-9099-485A-837F-DCEE26FA77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F8765595-4EAD-448D-8D71-E6B9975FF6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879798ED-9777-457B-9C48-756FAF1B88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E97EFE-4C28-42C3-B449-320D180B859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A37B095B-BEEB-434B-9073-420BC2C244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5E63FA-9E8F-4756-9966-EFCF4C31D04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A0B4C5A9-45C4-479B-B0A6-3732AC2CFE4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00CE9F-2B5E-4D05-A344-E272BDF64D3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46F867EC-C4DA-4DD6-B7E8-9C7135FAA3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a:t>
            </a:r>
          </a:p>
        </p:txBody>
      </p:sp>
    </p:spTree>
    <p:extLst>
      <p:ext uri="{BB962C8B-B14F-4D97-AF65-F5344CB8AC3E}">
        <p14:creationId xmlns:p14="http://schemas.microsoft.com/office/powerpoint/2010/main" val="118133535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9578CB3-01C6-418B-8881-68260AF8E3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5108EA-8128-481D-BB28-5C277081F8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EA1902-B327-4B04-AADB-F08ACEBD0B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E11342F9-E06B-448C-A4B0-16F5D79E1D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085D37-9810-4ED3-A679-DD439355A66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A7C3A0E3-2245-4F95-BAD1-5D06579700A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3D17FF-BFF4-4725-B3EE-EC01A286166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78CD4D1B-7E81-470D-92FC-C9D99B431A1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35E3B3-6233-479D-B368-5E246A6BC13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A04A4FB7-5403-4DD7-AF97-529FC29B75D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A85B5D0-837B-4189-94A3-10051E345B3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7C03AAB1-CA5A-453A-BEC8-FE0FC12A3A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5</a:t>
            </a:r>
          </a:p>
        </p:txBody>
      </p:sp>
    </p:spTree>
    <p:extLst>
      <p:ext uri="{BB962C8B-B14F-4D97-AF65-F5344CB8AC3E}">
        <p14:creationId xmlns:p14="http://schemas.microsoft.com/office/powerpoint/2010/main" val="9967048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041D6B-0AF7-4BC4-8EEB-8B056717EA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1CDDC1-CC65-4AE3-A493-3E5E265DA6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AA5B937-5F84-4598-B4D2-5772874739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A0DFF92A-4B8A-4B80-9639-455F881DA4C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C9B1A9-8F38-49EA-BA7B-6091EB9CCE2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1F6B7F03-4C91-4478-95B5-EC0BE26D716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E24D0CC7-EEDE-4C07-B5E0-7CDA9DBD9A5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4130E07-3C99-4F7C-8366-0F483DACF6C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DC155E90-495E-47FA-842B-AE1382DA1E6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01E4C45E-B9CB-4939-AC66-20B5F9EBDC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6</a:t>
            </a:r>
          </a:p>
        </p:txBody>
      </p:sp>
    </p:spTree>
    <p:extLst>
      <p:ext uri="{BB962C8B-B14F-4D97-AF65-F5344CB8AC3E}">
        <p14:creationId xmlns:p14="http://schemas.microsoft.com/office/powerpoint/2010/main" val="170686980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536C82-65CB-45C5-AF19-06ADCF299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26CF00-A926-4668-A7AE-938DDB822A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C168963-AA15-4F6F-BB06-1E90E42A29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962EB7D4-0611-4D87-9937-C7E26AB6890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5D5B8D-39BF-4282-9AC4-9E143A282C4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7B5C3725-D9C0-49B1-A6F8-A16EB4F369A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4894D1E1-AE06-4054-950A-F09DF427EF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7</a:t>
            </a:r>
          </a:p>
        </p:txBody>
      </p:sp>
    </p:spTree>
    <p:extLst>
      <p:ext uri="{BB962C8B-B14F-4D97-AF65-F5344CB8AC3E}">
        <p14:creationId xmlns:p14="http://schemas.microsoft.com/office/powerpoint/2010/main" val="9528378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6923D0-0EC8-4723-A666-1A5BB53D2F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C1E9A0-0F4E-4D81-B9EB-E09440A284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6571AF-5F5B-4758-803F-EFF567882D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498A82FC-6117-46CB-AF43-F559DD5E24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995091-72FF-48FC-A5F1-E85A16CFE23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50EF936B-98F5-41FF-84ED-F8C572F73AB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A2A1DD-27A5-4719-8431-888B899535B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067AE6F0-E42E-4C02-80E4-D451A13570D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3809B2-59B9-4DDB-861E-58F4492C024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37D34A54-2D8C-4681-90FE-A840C8FD4F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8</a:t>
            </a:r>
          </a:p>
        </p:txBody>
      </p:sp>
    </p:spTree>
    <p:extLst>
      <p:ext uri="{BB962C8B-B14F-4D97-AF65-F5344CB8AC3E}">
        <p14:creationId xmlns:p14="http://schemas.microsoft.com/office/powerpoint/2010/main" val="7095569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9040BE-A34B-4523-8C85-3EB65D407FA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816F19-97F4-4BD9-9BF1-72DF9235AD0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17b34dc360b4831"/>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D8CB697-65E8-46E1-B5A2-D82097398F8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99D8E9-E1F8-421F-B3B7-92F17020155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73AB9486-1E02-4E18-9079-EC5554DC5A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9</a:t>
            </a:r>
          </a:p>
        </p:txBody>
      </p:sp>
    </p:spTree>
    <p:extLst>
      <p:ext uri="{BB962C8B-B14F-4D97-AF65-F5344CB8AC3E}">
        <p14:creationId xmlns:p14="http://schemas.microsoft.com/office/powerpoint/2010/main" val="190434831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6BF62C-C00C-4666-A2BC-602D047583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4995C4-B61F-4A23-B5C2-D8DA8B63C8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FCCA143-2BEF-4553-A4CC-B73B2FAF46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243320B-DAAB-49C9-96C2-7FA0FE858F52}"/>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B02349BC-6088-447F-9A92-0002A99E86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10</a:t>
            </a:r>
          </a:p>
        </p:txBody>
      </p:sp>
    </p:spTree>
    <p:extLst>
      <p:ext uri="{BB962C8B-B14F-4D97-AF65-F5344CB8AC3E}">
        <p14:creationId xmlns:p14="http://schemas.microsoft.com/office/powerpoint/2010/main" val="188064743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94BA1E-E52D-4409-8B31-C1FB22290C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867C6A-AC43-490C-A263-B351D9845A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2F23E53-20EB-4902-8B4A-E3326394C0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5C6AA78C-7932-4E81-AA50-071DF8B8CCE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BBC461-A98C-4CC7-8ABF-0DABB3652B5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FE9F076C-75F2-4294-906A-AD10F7B9E09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57DE5BFA-252A-42DC-ABC6-8487F1C632F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2DDDA92-110D-4282-8028-45CFFB7DFFE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8AC97BE4-AC63-4A94-A33D-DB81B0F16FE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3D17CF06-E3A2-45EA-914C-B32924BFF4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11</a:t>
            </a:r>
          </a:p>
        </p:txBody>
      </p:sp>
    </p:spTree>
    <p:extLst>
      <p:ext uri="{BB962C8B-B14F-4D97-AF65-F5344CB8AC3E}">
        <p14:creationId xmlns:p14="http://schemas.microsoft.com/office/powerpoint/2010/main" val="20888747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F12E3D-1F5D-4430-91D9-05A99EE460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E670F5-294E-416C-8927-DB3BF1A511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1FE3B4-8854-42C2-8CFC-40D265BEBB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60834685-1C06-478B-8169-20182FC80D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229FF3-8CBC-4B07-811D-0A5742E3C94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28BF7288-B37B-45F9-B60F-DCB8B99323A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C232DE4-7E28-4CD0-8296-0E8BEDAEA01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5E6942F8-AD5F-4957-B0B1-DA2C4BFC81C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8C7724-9EF3-416B-893F-D037DC768CC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81C1BE8D-4515-4EBC-B78B-E69522177B8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99E3935-D179-4348-B181-8B1278F949E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D8A4F573-2CE2-46B9-B981-EB4274D66B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12</a:t>
            </a:r>
          </a:p>
        </p:txBody>
      </p:sp>
    </p:spTree>
    <p:extLst>
      <p:ext uri="{BB962C8B-B14F-4D97-AF65-F5344CB8AC3E}">
        <p14:creationId xmlns:p14="http://schemas.microsoft.com/office/powerpoint/2010/main" val="15535079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E0D611E-D014-4D52-8A37-496EABC12A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EF74BC-0642-487B-8301-5F82B3C2BC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D42CA1-FC0B-46E7-B2EE-4F29321FD4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fractions ask different questions</a:t>
            </a:r>
          </a:p>
        </p:txBody>
      </p:sp>
      <p:sp>
        <p:nvSpPr>
          <p:cNvPr id="4" name="">
            <a:extLst xmlns:a="http://schemas.openxmlformats.org/drawingml/2006/main">
              <a:ext uri="{FF2B5EF4-FFF2-40B4-BE49-F238E27FC236}">
                <a16:creationId xmlns:a16="http://schemas.microsoft.com/office/drawing/2014/main" id="{1F8E2533-AE7F-4189-865E-E5B55129C7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116090-9768-4A77-92C7-85DD1294092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divides correct warnings by all predicted warnings.</a:t>
            </a:r>
          </a:p>
        </p:txBody>
      </p:sp>
      <p:sp>
        <p:nvSpPr>
          <p:cNvPr id="6" name="">
            <a:extLst xmlns:a="http://schemas.openxmlformats.org/drawingml/2006/main">
              <a:ext uri="{FF2B5EF4-FFF2-40B4-BE49-F238E27FC236}">
                <a16:creationId xmlns:a16="http://schemas.microsoft.com/office/drawing/2014/main" id="{F0BBB749-6888-4DDD-B252-C048B99FF13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B941A1-60BA-4B22-9221-0D5DD945A6F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divides correct warnings by all actual warnings.</a:t>
            </a:r>
          </a:p>
        </p:txBody>
      </p:sp>
      <p:sp>
        <p:nvSpPr>
          <p:cNvPr id="8" name="">
            <a:extLst xmlns:a="http://schemas.openxmlformats.org/drawingml/2006/main">
              <a:ext uri="{FF2B5EF4-FFF2-40B4-BE49-F238E27FC236}">
                <a16:creationId xmlns:a16="http://schemas.microsoft.com/office/drawing/2014/main" id="{AB96760A-3D5C-489D-8014-0507113EF3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BAD9FC-A7EF-4743-9194-586BEDA4B7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denominator is zero, apply the explicit convention in the issued brief.</a:t>
            </a:r>
          </a:p>
        </p:txBody>
      </p:sp>
      <p:sp>
        <p:nvSpPr>
          <p:cNvPr id="10" name="">
            <a:extLst xmlns:a="http://schemas.openxmlformats.org/drawingml/2006/main">
              <a:ext uri="{FF2B5EF4-FFF2-40B4-BE49-F238E27FC236}">
                <a16:creationId xmlns:a16="http://schemas.microsoft.com/office/drawing/2014/main" id="{4C50CFC5-AA70-494D-8CA5-299052B733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13</a:t>
            </a:r>
          </a:p>
        </p:txBody>
      </p:sp>
    </p:spTree>
    <p:extLst>
      <p:ext uri="{BB962C8B-B14F-4D97-AF65-F5344CB8AC3E}">
        <p14:creationId xmlns:p14="http://schemas.microsoft.com/office/powerpoint/2010/main" val="107842980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EAE73F4-4A8C-4ED2-8E30-6C869FEF55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9EF0A0-5556-40B1-9675-870FA32CBF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9A65371-A429-4D65-8CD6-C155F1CDE7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DC4F61D9-5C83-40FB-8F50-A1A22D24B37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443052-C054-40DB-AB58-073E07190A8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B57DBD7E-0668-4F54-A405-5EF57ADC103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0CF5D700-040A-463B-BCAE-0557D124D8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14</a:t>
            </a:r>
          </a:p>
        </p:txBody>
      </p:sp>
    </p:spTree>
    <p:extLst>
      <p:ext uri="{BB962C8B-B14F-4D97-AF65-F5344CB8AC3E}">
        <p14:creationId xmlns:p14="http://schemas.microsoft.com/office/powerpoint/2010/main" val="38514015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CB014E-3855-4E15-88CC-666CA7E8D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EA2473-5509-466A-A0E2-D114D6CF15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D4778E-323D-4AED-9A1E-CBA0CDC772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09F60B6D-CC82-47BB-8326-3821154671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B481E5-4852-4317-9BAE-F2B305502B2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B563AF81-2E5A-48C4-A156-571A09CFE5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A5F600-0C3B-4620-A97A-832C263849F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9CC7D23F-A6C5-4F93-BBFD-39F40CEDD08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0F4611-178B-41E0-A0A1-D82785D0B31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B0F19A41-89E1-48EE-8D13-FCF5950E5A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15</a:t>
            </a:r>
          </a:p>
        </p:txBody>
      </p:sp>
    </p:spTree>
    <p:extLst>
      <p:ext uri="{BB962C8B-B14F-4D97-AF65-F5344CB8AC3E}">
        <p14:creationId xmlns:p14="http://schemas.microsoft.com/office/powerpoint/2010/main" val="134065080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E310C0A-5403-48F1-A38F-5F39E28FF2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FAF0E1-5741-408A-82B7-D02D4604FE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A905967-DA53-4FE7-92E9-26366A1ADD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A71FCA3-14D8-4807-948B-C82779567A2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FA2E6D9F-A4FD-4A3A-BD3C-9F907E552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16</a:t>
            </a:r>
          </a:p>
        </p:txBody>
      </p:sp>
    </p:spTree>
    <p:extLst>
      <p:ext uri="{BB962C8B-B14F-4D97-AF65-F5344CB8AC3E}">
        <p14:creationId xmlns:p14="http://schemas.microsoft.com/office/powerpoint/2010/main" val="177375728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A74B66-A8EC-423A-9EBB-63E1B007E6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EBEBBC-D043-4AB3-B2D8-4571E9E459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1585231-009B-4368-A036-881B75C57F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E8F6016B-9D72-447F-BFEE-29045B42110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FD1A1A-4BE0-4A8D-83AD-9C661EFCFC8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02A7C197-5B67-4945-B95D-600C7EFF8BF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91718D85-8491-46D0-855E-6483215BE5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6D9E4A19-3338-43FC-B5D5-A55779233C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17</a:t>
            </a:r>
          </a:p>
        </p:txBody>
      </p:sp>
    </p:spTree>
    <p:extLst>
      <p:ext uri="{BB962C8B-B14F-4D97-AF65-F5344CB8AC3E}">
        <p14:creationId xmlns:p14="http://schemas.microsoft.com/office/powerpoint/2010/main" val="179671797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A0678E-6206-4A29-A85A-BD39851B03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ECF8CE-916C-450D-B504-63FBF67631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C4EA8DA-D1A0-400C-A9A1-FB637BD8DC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C07F47FD-193D-421C-ABEB-81A774550F16}"/>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32DA1A-AB71-4307-9987-6A3EC7CABD92}"/>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AD713D6F-9E28-4457-A383-2012E1E9782D}"/>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3736D781-427C-4AAB-9FFE-9CB108A2BE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18</a:t>
            </a:r>
          </a:p>
        </p:txBody>
      </p:sp>
    </p:spTree>
    <p:extLst>
      <p:ext uri="{BB962C8B-B14F-4D97-AF65-F5344CB8AC3E}">
        <p14:creationId xmlns:p14="http://schemas.microsoft.com/office/powerpoint/2010/main" val="14654722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537C424-6508-4D40-8EDE-374F9C82B5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421F2F-F16B-4483-A024-87BEB59753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2CC5BC-B81D-4829-99A7-667B75BBE0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6A973F70-E2E0-41E4-ABD0-0EF0A111938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D076F7-E063-431A-ACAD-B2AFBD7857B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6" name="">
            <a:extLst xmlns:a="http://schemas.openxmlformats.org/drawingml/2006/main">
              <a:ext uri="{FF2B5EF4-FFF2-40B4-BE49-F238E27FC236}">
                <a16:creationId xmlns:a16="http://schemas.microsoft.com/office/drawing/2014/main" id="{7A62993F-867F-459B-9812-EBF92EBCDF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19</a:t>
            </a:r>
          </a:p>
        </p:txBody>
      </p:sp>
    </p:spTree>
    <p:extLst>
      <p:ext uri="{BB962C8B-B14F-4D97-AF65-F5344CB8AC3E}">
        <p14:creationId xmlns:p14="http://schemas.microsoft.com/office/powerpoint/2010/main" val="17573460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1D1B5FD-B26E-4F53-8558-7E8A7696EC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2DF2C7-6E4D-4A10-B883-AE8732C98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69AB357-B4DE-4727-847E-9DA0D7DE2D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ED5B4155-182F-4B14-BE2A-21D4EAFD308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1AB204-D3E7-42A5-9EA1-4B0F9DBE993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EF9415A8-153A-4939-9CCC-956FA00D7DB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A5B235A-DFAD-422F-84FA-2A8C2CB5F35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1B74F488-21CC-4314-AB5A-8801426392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9" name="">
            <a:extLst xmlns:a="http://schemas.openxmlformats.org/drawingml/2006/main">
              <a:ext uri="{FF2B5EF4-FFF2-40B4-BE49-F238E27FC236}">
                <a16:creationId xmlns:a16="http://schemas.microsoft.com/office/drawing/2014/main" id="{EE68B1E6-B93B-48AD-9D66-4183B8B850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20</a:t>
            </a:r>
          </a:p>
        </p:txBody>
      </p:sp>
    </p:spTree>
    <p:extLst>
      <p:ext uri="{BB962C8B-B14F-4D97-AF65-F5344CB8AC3E}">
        <p14:creationId xmlns:p14="http://schemas.microsoft.com/office/powerpoint/2010/main" val="57039065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05CBC3C-60E0-4341-A894-813E49FA41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374E26-E0D0-4AA7-9A7B-D7EEF6103E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67EAF82-65FC-4C6B-8E9C-D16F91DD28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E1DC5BF8-E375-494C-809E-713A6E6D46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8BCB17-9682-405A-A044-B8907C4CF65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23136604-9755-40FA-94B0-95BC5F64195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CFD8102-EEE9-4EC3-9438-45595581EA6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75FFCD43-E8AB-4CEF-94FD-BC7380FCF75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8940801F-D1EF-4AE9-8C78-67664ECD315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DC45A305-8777-4FBD-8648-350DE999CD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FB116E5A-FDB5-4E35-A3A2-A3A0ED83F9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21</a:t>
            </a:r>
          </a:p>
        </p:txBody>
      </p:sp>
    </p:spTree>
    <p:extLst>
      <p:ext uri="{BB962C8B-B14F-4D97-AF65-F5344CB8AC3E}">
        <p14:creationId xmlns:p14="http://schemas.microsoft.com/office/powerpoint/2010/main" val="44797994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0E21A2C-AE75-4197-B2CF-434F291C8E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F57C9A-194D-4DA2-8BC8-E40204C285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A62967-259A-478F-AF86-5B030DA653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81BA5C15-64D9-4625-99C9-395834E09D7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353628-4F5C-4EAA-BB6D-941A118ADE9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EAA1105F-28D5-4FEA-B6F7-CF57104AB25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693958F-D0F0-4D66-A784-FCDA92F1801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BE3BEB0-8282-4138-9B9E-305FF7DDC46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071A68CC-81BC-4122-BC67-A8B18FE195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22</a:t>
            </a:r>
          </a:p>
        </p:txBody>
      </p:sp>
    </p:spTree>
    <p:extLst>
      <p:ext uri="{BB962C8B-B14F-4D97-AF65-F5344CB8AC3E}">
        <p14:creationId xmlns:p14="http://schemas.microsoft.com/office/powerpoint/2010/main" val="203748313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C99DEE2-E1D3-402E-B860-9A8D270AC3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F75F7F-D739-46A2-A372-C1F847E696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1072F285-41F1-45C2-81D8-E7BBB4A5C9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confusion matrix</a:t>
            </a:r>
          </a:p>
        </p:txBody>
      </p:sp>
      <p:sp>
        <p:nvSpPr>
          <p:cNvPr id="4" name="">
            <a:extLst xmlns:a="http://schemas.openxmlformats.org/drawingml/2006/main">
              <a:ext uri="{FF2B5EF4-FFF2-40B4-BE49-F238E27FC236}">
                <a16:creationId xmlns:a16="http://schemas.microsoft.com/office/drawing/2014/main" id="{4849A9B1-BF55-4BA3-89BC-012F413375C6}"/>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90D34E-6DE0-4347-B0C4-EB21D83E05C3}"/>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four paired cards: (actual 1, predicted 1), (1,0), (0,1), (0,0).</a:t>
            </a:r>
          </a:p>
        </p:txBody>
      </p:sp>
      <p:sp>
        <p:nvSpPr>
          <p:cNvPr id="6" name="">
            <a:extLst xmlns:a="http://schemas.openxmlformats.org/drawingml/2006/main">
              <a:ext uri="{FF2B5EF4-FFF2-40B4-BE49-F238E27FC236}">
                <a16:creationId xmlns:a16="http://schemas.microsoft.com/office/drawing/2014/main" id="{EC23A64D-0CEC-41E3-96F0-2FE1919792C6}"/>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26DF31-8CD2-4474-B953-830BB04918F4}"/>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each into TP, FN, FP or TN. Read the actual label first.</a:t>
            </a:r>
          </a:p>
        </p:txBody>
      </p:sp>
      <p:sp>
        <p:nvSpPr>
          <p:cNvPr id="8" name="">
            <a:extLst xmlns:a="http://schemas.openxmlformats.org/drawingml/2006/main">
              <a:ext uri="{FF2B5EF4-FFF2-40B4-BE49-F238E27FC236}">
                <a16:creationId xmlns:a16="http://schemas.microsoft.com/office/drawing/2014/main" id="{0F371ED9-0AB1-457A-B124-C43852D2D96D}"/>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024C30-E516-43C8-A8B4-47AD29A8D42E}"/>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the four cells. Then calculate precision and recall.</a:t>
            </a:r>
          </a:p>
        </p:txBody>
      </p:sp>
      <p:sp>
        <p:nvSpPr>
          <p:cNvPr id="10" name="">
            <a:extLst xmlns:a="http://schemas.openxmlformats.org/drawingml/2006/main">
              <a:ext uri="{FF2B5EF4-FFF2-40B4-BE49-F238E27FC236}">
                <a16:creationId xmlns:a16="http://schemas.microsoft.com/office/drawing/2014/main" id="{9656D784-7540-4937-B985-2F4D07C5B32C}"/>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9A1B72A-75BE-4693-A05C-0E584CE40675}"/>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D813F2E5-6983-46B4-A3CA-5885A1C19A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23</a:t>
            </a:r>
          </a:p>
        </p:txBody>
      </p:sp>
    </p:spTree>
    <p:extLst>
      <p:ext uri="{BB962C8B-B14F-4D97-AF65-F5344CB8AC3E}">
        <p14:creationId xmlns:p14="http://schemas.microsoft.com/office/powerpoint/2010/main" val="83524598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4538E74-55F5-4F1D-9D6F-D07DC6BB56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EAF322-411D-4EDF-8B25-9B7DA6DCE9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09101CD4-CE97-4412-A95D-84F1946287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E36D367D-C224-427B-A975-7A610718E5A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996B5E-1C81-4A45-828E-F2D34841F1B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Each cell contains one card. Precision = 1 / 2 and recall = 1 / 2. The denominators count different sets of warnings.</a:t>
            </a:r>
          </a:p>
        </p:txBody>
      </p:sp>
      <p:sp>
        <p:nvSpPr>
          <p:cNvPr id="6" name="">
            <a:extLst xmlns:a="http://schemas.openxmlformats.org/drawingml/2006/main">
              <a:ext uri="{FF2B5EF4-FFF2-40B4-BE49-F238E27FC236}">
                <a16:creationId xmlns:a16="http://schemas.microsoft.com/office/drawing/2014/main" id="{FDFC47AA-9065-41E9-9ACD-6B381246CF6D}"/>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7C60B85-DBC3-4650-BF07-0C33998291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24</a:t>
            </a:r>
          </a:p>
        </p:txBody>
      </p:sp>
    </p:spTree>
    <p:extLst>
      <p:ext uri="{BB962C8B-B14F-4D97-AF65-F5344CB8AC3E}">
        <p14:creationId xmlns:p14="http://schemas.microsoft.com/office/powerpoint/2010/main" val="5767866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CDAE4C-622D-4D6E-BDB0-8AD6D61EEA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084337-0C53-444E-A3FE-E7E0299A12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EAB20A6-D88C-4C87-8CEC-837FF6A2ED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420ABAD7-13DE-4E82-85C7-291D83EF82C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BA2B6D-CE59-4D17-B4D6-313AC9C77BE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9DF39483-8F5E-40DF-ADE5-6ABF94450D1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05133081-2D3C-4718-A073-97F68DCD5A2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0995BEF-834C-45A3-B415-0250BAF85C0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115C841B-67C7-47A3-9540-766B12BA1B3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BCA9105E-C5FB-452E-AFD8-AE1D794E56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25</a:t>
            </a:r>
          </a:p>
        </p:txBody>
      </p:sp>
    </p:spTree>
    <p:extLst>
      <p:ext uri="{BB962C8B-B14F-4D97-AF65-F5344CB8AC3E}">
        <p14:creationId xmlns:p14="http://schemas.microsoft.com/office/powerpoint/2010/main" val="49814812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84CA47-010D-444F-91B3-611541C5C5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ED0232-3F57-4678-99AF-18891E0C75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249B6C-F8C4-4CF3-BA17-5321C399B5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45455838-AAFF-4054-8E9D-E92CB4B620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BF2052-E96F-411E-8461-483D700ED77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23B29A1C-7C81-434D-993E-9627BC0B88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D246E6-56C0-405A-92B6-71FE50C4CA0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9FCA1FF0-E339-4C79-8A70-75AEFB87D7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98D6DB-8AF9-41E8-85CA-787D0131132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B6983089-955B-48E3-9B30-57FCE27A45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26</a:t>
            </a:r>
          </a:p>
        </p:txBody>
      </p:sp>
    </p:spTree>
    <p:extLst>
      <p:ext uri="{BB962C8B-B14F-4D97-AF65-F5344CB8AC3E}">
        <p14:creationId xmlns:p14="http://schemas.microsoft.com/office/powerpoint/2010/main" val="121592471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E02EEA-EE90-40F0-AEAF-F4DB39D117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6EBF3E-C086-4944-B4FC-A3020C023C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D7590B-8A1F-4F2D-A43D-DAE331B147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warning decision</a:t>
            </a:r>
          </a:p>
        </p:txBody>
      </p:sp>
      <p:sp>
        <p:nvSpPr>
          <p:cNvPr id="4" name="">
            <a:extLst xmlns:a="http://schemas.openxmlformats.org/drawingml/2006/main">
              <a:ext uri="{FF2B5EF4-FFF2-40B4-BE49-F238E27FC236}">
                <a16:creationId xmlns:a16="http://schemas.microsoft.com/office/drawing/2014/main" id="{84F75FAD-11FB-464B-82E7-E92F2F35FA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521779-4570-455A-BBF0-C006D5D095B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 probability of 0.7 means an estimated 70% chance of class 1.</a:t>
            </a:r>
          </a:p>
        </p:txBody>
      </p:sp>
      <p:sp>
        <p:nvSpPr>
          <p:cNvPr id="6" name="">
            <a:extLst xmlns:a="http://schemas.openxmlformats.org/drawingml/2006/main">
              <a:ext uri="{FF2B5EF4-FFF2-40B4-BE49-F238E27FC236}">
                <a16:creationId xmlns:a16="http://schemas.microsoft.com/office/drawing/2014/main" id="{661E4267-095F-4C00-B9E2-FB5BA0095D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84E223E-2B1B-4E11-838F-889D84A58B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a threshold of 0.5, 0.7 produces warning 1.</a:t>
            </a:r>
          </a:p>
        </p:txBody>
      </p:sp>
      <p:sp>
        <p:nvSpPr>
          <p:cNvPr id="8" name="">
            <a:extLst xmlns:a="http://schemas.openxmlformats.org/drawingml/2006/main">
              <a:ext uri="{FF2B5EF4-FFF2-40B4-BE49-F238E27FC236}">
                <a16:creationId xmlns:a16="http://schemas.microsoft.com/office/drawing/2014/main" id="{6CAF717A-C3D3-4DD3-9C60-57F126FF38C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278CFDE-24F1-4BEC-B3E9-B2997DCBDD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probability is an estimate. It needs evaluation and may be poorly calibrated.</a:t>
            </a:r>
          </a:p>
        </p:txBody>
      </p:sp>
      <p:sp>
        <p:nvSpPr>
          <p:cNvPr id="10" name="">
            <a:extLst xmlns:a="http://schemas.openxmlformats.org/drawingml/2006/main">
              <a:ext uri="{FF2B5EF4-FFF2-40B4-BE49-F238E27FC236}">
                <a16:creationId xmlns:a16="http://schemas.microsoft.com/office/drawing/2014/main" id="{669E1E1B-BF5B-4E69-BD4D-D7BF7F93D0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27</a:t>
            </a:r>
          </a:p>
        </p:txBody>
      </p:sp>
    </p:spTree>
    <p:extLst>
      <p:ext uri="{BB962C8B-B14F-4D97-AF65-F5344CB8AC3E}">
        <p14:creationId xmlns:p14="http://schemas.microsoft.com/office/powerpoint/2010/main" val="137757287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9390F2-7F40-43F0-90D1-E1574B4D91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0CE0E3-8371-419E-BBF4-2BB3A69FFA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791876F-3700-4A40-A5BA-27B0DF5D5B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02C1299C-42BF-4F5C-B820-97E8585241B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61F8CB-09C8-4EE6-BC46-0A251C8EB77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EBDE6C49-B8AC-4467-87F9-F2953CA843E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619A06E6-E954-4173-92DE-37AE676D751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55DF231-4C51-460F-877E-D328A5DBA5E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697BC5A2-43A8-42DD-BF13-0C9BC7760D5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50E55DA7-992D-4F08-9C7A-E3E0C997D9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28</a:t>
            </a:r>
          </a:p>
        </p:txBody>
      </p:sp>
    </p:spTree>
    <p:extLst>
      <p:ext uri="{BB962C8B-B14F-4D97-AF65-F5344CB8AC3E}">
        <p14:creationId xmlns:p14="http://schemas.microsoft.com/office/powerpoint/2010/main" val="150145276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244A99-50D2-40AA-BB00-7EE38F6A6D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8F6002-FB48-4D9B-9BA6-FB24391325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5067567-90AF-4908-9A2B-4B11B738B0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675EAB6-E3FD-41D7-80A4-EC37362EBF4F}"/>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indicator is 1 when its category applies and 0 otherwise. Fit the encoder on training data.</a:t>
            </a:r>
          </a:p>
        </p:txBody>
      </p:sp>
      <p:sp>
        <p:nvSpPr>
          <p:cNvPr id="6" name="">
            <a:extLst xmlns:a="http://schemas.openxmlformats.org/drawingml/2006/main">
              <a:ext uri="{FF2B5EF4-FFF2-40B4-BE49-F238E27FC236}">
                <a16:creationId xmlns:a16="http://schemas.microsoft.com/office/drawing/2014/main" id="{A8E77B23-291D-464E-BC4E-D48B84E5E8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29</a:t>
            </a:r>
          </a:p>
        </p:txBody>
      </p:sp>
    </p:spTree>
    <p:extLst>
      <p:ext uri="{BB962C8B-B14F-4D97-AF65-F5344CB8AC3E}">
        <p14:creationId xmlns:p14="http://schemas.microsoft.com/office/powerpoint/2010/main" val="63660180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4B22D6-7EB5-4678-8DA9-D1F26347B4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403DBD-B44D-46C0-91D7-335BD291F9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97164C-9DFB-4CEA-BD2E-BB7CD501C4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97BD6F1F-8645-4C74-9873-4EB9E6604C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54FDFE-67B0-4A06-B8AC-474FAFA6B04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70050051-4455-4D53-AD1F-B8F0C55FBA2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4BDA54-7505-4961-ADED-65CC69D2B5A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943E6FDA-6422-45E2-9FA9-DDCEFEDCA0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BD33F4-57F7-4169-A15A-8F9A1AD00A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EE7068C0-5BEA-4392-8921-0808F19DA7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30</a:t>
            </a:r>
          </a:p>
        </p:txBody>
      </p:sp>
    </p:spTree>
    <p:extLst>
      <p:ext uri="{BB962C8B-B14F-4D97-AF65-F5344CB8AC3E}">
        <p14:creationId xmlns:p14="http://schemas.microsoft.com/office/powerpoint/2010/main" val="557074875"/>
      </p:ext>
    </p:extLst>
  </p:cSld>
</p:sld>
</file>

<file path=ppt/slides/slide3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FAEBFC-07D8-43D6-9541-EBC2514BFC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B96DF067-20DE-4E44-A350-7D251887EA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A241195C-BC15-4B92-8BC5-865FFEB2196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7C7105B-2A64-4F19-8F4F-F1544E8C361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Change the second prediction to 1. Count again. Does this improve both recall and the assumed cost?</a:t>
            </a:r>
          </a:p>
        </p:txBody>
      </p:sp>
      <p:sp>
        <p:nvSpPr>
          <p:cNvPr id="5" name="">
            <a:extLst xmlns:a="http://schemas.openxmlformats.org/drawingml/2006/main">
              <a:ext uri="{FF2B5EF4-FFF2-40B4-BE49-F238E27FC236}">
                <a16:creationId xmlns:a16="http://schemas.microsoft.com/office/drawing/2014/main" id="{9FD944F9-1161-451E-8948-A522241621D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B70184B9-269A-412A-8E26-5EF5AA4CBA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9   31</a:t>
            </a:r>
          </a:p>
        </p:txBody>
      </p:sp>
    </p:spTree>
    <p:extLst>
      <p:ext uri="{BB962C8B-B14F-4D97-AF65-F5344CB8AC3E}">
        <p14:creationId xmlns:p14="http://schemas.microsoft.com/office/powerpoint/2010/main" val="94152152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E9E896C-250A-43E4-8D2C-7DA4AF77D9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345508-551C-4397-AE97-584F4828A3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F9D41359-DEA7-4F34-B53E-D2ACBD64B5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54499D3D-F6D4-423E-A951-DBBF4609C70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255411-1395-44C8-A0D4-40032299812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TP=2, FN=0, FP=1, TN=1. Precision 2/3, recall 1, cost 1. This particular change improves recall and cost.</a:t>
            </a:r>
          </a:p>
        </p:txBody>
      </p:sp>
      <p:sp>
        <p:nvSpPr>
          <p:cNvPr id="6" name="">
            <a:extLst xmlns:a="http://schemas.openxmlformats.org/drawingml/2006/main">
              <a:ext uri="{FF2B5EF4-FFF2-40B4-BE49-F238E27FC236}">
                <a16:creationId xmlns:a16="http://schemas.microsoft.com/office/drawing/2014/main" id="{32CD4E11-F9DC-4BAD-B888-EA935F22005B}"/>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3315FAA-0B1E-428C-B8AD-52692C8AB4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32</a:t>
            </a:r>
          </a:p>
        </p:txBody>
      </p:sp>
    </p:spTree>
    <p:extLst>
      <p:ext uri="{BB962C8B-B14F-4D97-AF65-F5344CB8AC3E}">
        <p14:creationId xmlns:p14="http://schemas.microsoft.com/office/powerpoint/2010/main" val="179718397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31E59F4-A462-4283-B983-F9800EF501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986CC7-6716-4642-8D13-4CD9943663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80C1272-3F37-484C-965E-861374A513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7DEECED3-C1AD-40DD-A457-4110B3604AF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1ECFA4-D9B4-4AB1-A1B4-D7B085E433EA}"/>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6" name="">
            <a:extLst xmlns:a="http://schemas.openxmlformats.org/drawingml/2006/main">
              <a:ext uri="{FF2B5EF4-FFF2-40B4-BE49-F238E27FC236}">
                <a16:creationId xmlns:a16="http://schemas.microsoft.com/office/drawing/2014/main" id="{AFB79DBF-E56E-4B58-81B6-938A287F5D77}"/>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C3A60A-3665-4141-B331-66158752E77A}"/>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A1EB936E-6746-4234-A833-841C7071EBD6}"/>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8E0A7D-50E3-44EC-A708-170498D48A8E}"/>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0" name="">
            <a:extLst xmlns:a="http://schemas.openxmlformats.org/drawingml/2006/main">
              <a:ext uri="{FF2B5EF4-FFF2-40B4-BE49-F238E27FC236}">
                <a16:creationId xmlns:a16="http://schemas.microsoft.com/office/drawing/2014/main" id="{608AD27F-E921-4E71-91FE-05800A22C14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2105AA5-2D91-4B71-87BD-9F3AA534EE9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fd5f3e30ebe43b1"/>
              </a:rPr>
              <a:t>Open explainer video</a:t>
            </a:r>
          </a:p>
        </p:txBody>
      </p:sp>
      <p:sp>
        <p:nvSpPr>
          <p:cNvPr id="12" name="">
            <a:extLst xmlns:a="http://schemas.openxmlformats.org/drawingml/2006/main">
              <a:ext uri="{FF2B5EF4-FFF2-40B4-BE49-F238E27FC236}">
                <a16:creationId xmlns:a16="http://schemas.microsoft.com/office/drawing/2014/main" id="{2539B2E7-023E-44A8-8BEE-A192B0EFF88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3" name="">
            <a:extLst xmlns:a="http://schemas.openxmlformats.org/drawingml/2006/main">
              <a:ext uri="{FF2B5EF4-FFF2-40B4-BE49-F238E27FC236}">
                <a16:creationId xmlns:a16="http://schemas.microsoft.com/office/drawing/2014/main" id="{09E14500-E62B-49EF-B049-92748263AE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33</a:t>
            </a:r>
          </a:p>
        </p:txBody>
      </p:sp>
    </p:spTree>
    <p:extLst>
      <p:ext uri="{BB962C8B-B14F-4D97-AF65-F5344CB8AC3E}">
        <p14:creationId xmlns:p14="http://schemas.microsoft.com/office/powerpoint/2010/main" val="1247584818"/>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14135E1-1F7A-4CAD-9A1D-83653CF8F7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66FA764-2B90-4DEE-B612-07688CF852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3C0DBB83-DB76-4C7A-BE43-C92CCD8E4AE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FF212CD-23E9-47C3-A35F-C1ED3F3C724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Translate the medical example to warning/no-warning and label the axes.</a:t>
            </a:r>
          </a:p>
        </p:txBody>
      </p:sp>
      <p:sp>
        <p:nvSpPr>
          <p:cNvPr id="5" name="">
            <a:extLst xmlns:a="http://schemas.openxmlformats.org/drawingml/2006/main">
              <a:ext uri="{FF2B5EF4-FFF2-40B4-BE49-F238E27FC236}">
                <a16:creationId xmlns:a16="http://schemas.microsoft.com/office/drawing/2014/main" id="{BAC70C8C-56FA-4E48-A7FF-92A188462F3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DF623A92-41D4-4168-86F5-1A79544D2F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9   34</a:t>
            </a:r>
          </a:p>
        </p:txBody>
      </p:sp>
    </p:spTree>
    <p:extLst>
      <p:ext uri="{BB962C8B-B14F-4D97-AF65-F5344CB8AC3E}">
        <p14:creationId xmlns:p14="http://schemas.microsoft.com/office/powerpoint/2010/main" val="152004427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C865E3-C53D-4A20-8DEF-29CDACB879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ABF6D0-560F-45C3-AB4B-1DD1AB391B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19FA26A-7D90-4EF3-A1D7-98D0AFDAE5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FB873A19-E45E-47FD-BFFC-06D83E18D2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1D2769-291C-423D-954D-D6B86FEE088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6F5E0C10-123C-4A37-BF98-29DA217293D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8B88848-CC19-4E2F-8CCA-6B611181137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E7A57596-8C5F-4A51-899C-AD151A929F8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BBF5F4-D7DF-4D79-AB22-663544F89B6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EEB031BD-13BC-4D49-9ED3-B23C13CCEC5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3C7E18C-01EE-466A-9FBE-17B1C926EBE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1ADA7D14-23C2-4F64-8C60-EDBCB09E63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35</a:t>
            </a:r>
          </a:p>
        </p:txBody>
      </p:sp>
    </p:spTree>
    <p:extLst>
      <p:ext uri="{BB962C8B-B14F-4D97-AF65-F5344CB8AC3E}">
        <p14:creationId xmlns:p14="http://schemas.microsoft.com/office/powerpoint/2010/main" val="19661727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34C8B9-06CB-42B2-84FD-DE41FD1856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EA6BAB-A354-4532-BE3B-5FF090F4E3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D9624B5-6073-4C3E-8EF0-7F83C9BC98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2C0969E9-E8DD-448C-8070-EE0A5F49E04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614AD8A-4C5C-4C7D-B7F9-14BE94BACEB2}"/>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26274DF0-53CD-454F-AC87-201A2597C6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36</a:t>
            </a:r>
          </a:p>
        </p:txBody>
      </p:sp>
    </p:spTree>
    <p:extLst>
      <p:ext uri="{BB962C8B-B14F-4D97-AF65-F5344CB8AC3E}">
        <p14:creationId xmlns:p14="http://schemas.microsoft.com/office/powerpoint/2010/main" val="169873853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6E4300-4B35-43C1-8C6C-8120613728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2EC652-B5EF-470C-A3D9-3603A4A2E8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C1FF79-80DF-4661-9ECF-9169DD7F33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AB149B09-F778-45DA-821F-9C72874AD6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8026DC-6FBA-4284-8DA1-BE96EC123FB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A3FEA61E-0726-4866-B9A0-727C4955CF5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C555D7-0483-48EC-A322-77D88D0E1D1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7E277D91-ABB9-478A-987E-C5D9D68B3E2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5E0648-DB24-4495-BB98-5F230B25EF2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5A175928-7EDB-422C-800C-0A9B076C41B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6ECFA0A-CC7E-4DE0-A43F-AF855650276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CB70EE51-A587-4AB6-B80B-6A6B4DADD0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37</a:t>
            </a:r>
          </a:p>
        </p:txBody>
      </p:sp>
    </p:spTree>
    <p:extLst>
      <p:ext uri="{BB962C8B-B14F-4D97-AF65-F5344CB8AC3E}">
        <p14:creationId xmlns:p14="http://schemas.microsoft.com/office/powerpoint/2010/main" val="155935779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DE7909-C4B5-45B3-9893-39EADFA927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196A2F-83F2-433B-8DB4-8F127A6A09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2BABDD-4F0D-4636-BA67-2E81044AD5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C49C8444-52A6-45DA-8F77-E9C24E10856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B05F28-6503-4277-8FB8-5AAE37A0A901}"/>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6EAB26F3-17EB-453D-9A35-75C0C6984A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38</a:t>
            </a:r>
          </a:p>
        </p:txBody>
      </p:sp>
    </p:spTree>
    <p:extLst>
      <p:ext uri="{BB962C8B-B14F-4D97-AF65-F5344CB8AC3E}">
        <p14:creationId xmlns:p14="http://schemas.microsoft.com/office/powerpoint/2010/main" val="36594261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D2BB968-D929-4D18-9389-CFADE68F70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58472B-98CD-4530-8905-2AF032BC5A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3647D41-47D1-4214-B9B2-B6AA639CB7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D53F2D61-4718-4963-BF34-4C8F9E757B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666BA9-CC35-4E69-A7E1-91E77D1DCB3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ED45607E-F293-42E3-ABCC-1A2C0B2FC37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C78310-0516-4750-8FFA-295CCE59F57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5EA399E0-AEA7-40B7-B93F-4FBB9086B64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C784DB-D3DB-4179-A668-A797106C41B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58CE2CBB-4F8B-42E6-A1AD-0DF8D00B6A7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68686A0-2CA0-4A17-8BA5-EAC2CB0CD1E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1AC7FF24-B75D-43D2-A35B-216EC1F086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39</a:t>
            </a:r>
          </a:p>
        </p:txBody>
      </p:sp>
    </p:spTree>
    <p:extLst>
      <p:ext uri="{BB962C8B-B14F-4D97-AF65-F5344CB8AC3E}">
        <p14:creationId xmlns:p14="http://schemas.microsoft.com/office/powerpoint/2010/main" val="160354743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9A610D-E94A-46E2-BEB7-6161E639DA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C5FF0C-9220-4931-94CC-255C37EA2C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446C16F-DE09-422E-B60E-AE2CA3F33E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CDCC933A-7757-4448-9D57-FE2DC06E68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7A1EDB-9BC1-4583-81E5-339B51ED60E7}"/>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ACAD59A3-CDB1-4A3E-8AB5-31DA8FF187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40</a:t>
            </a:r>
          </a:p>
        </p:txBody>
      </p:sp>
    </p:spTree>
    <p:extLst>
      <p:ext uri="{BB962C8B-B14F-4D97-AF65-F5344CB8AC3E}">
        <p14:creationId xmlns:p14="http://schemas.microsoft.com/office/powerpoint/2010/main" val="4795969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993C6B-F3E6-4298-B018-D4B8AB3672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DCC6D4-1F27-4B3A-B873-5DB73A3B56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59CC10F-D8C9-47AC-847B-0A7E1D3A8F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A09F7E7F-A292-4E9F-8367-B3F40ABCF20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21650A-1179-4515-83F4-D6D132CB4EF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B241A684-3A13-4ECB-89B2-3355D1C604E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BDCE826-49BD-4544-BEEC-28B2C6131C8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92E6EB1-F796-4E00-804A-2ADCFF41CD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41</a:t>
            </a:r>
          </a:p>
        </p:txBody>
      </p:sp>
    </p:spTree>
    <p:extLst>
      <p:ext uri="{BB962C8B-B14F-4D97-AF65-F5344CB8AC3E}">
        <p14:creationId xmlns:p14="http://schemas.microsoft.com/office/powerpoint/2010/main" val="191527535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CE2DE6-D348-4F4B-9A2E-B9E3B98CE0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73992C-8A58-41A2-A638-8858774F7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BC89862-1ED4-4C50-8986-E7F79EFB1B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1AE90903-68F5-4ACF-A5D9-3689F3617F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D819E5-CBBF-4CCD-9544-F48F493CB3D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B17CBED8-6D90-4FD1-B74D-BC6C9939EA9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A14025-2C44-427F-9ACB-6F4FE14CD96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7CC2E8E2-FE3F-48D6-810A-F40E795F9FA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08306A-63C8-4B2B-A452-07611A0B9AD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54C1D9F-DA3A-4043-B52C-4A5AFF8D0D2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85F413B-3B08-48D8-8A53-7D76716CCD4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DF408B97-CAAE-43AF-B5AE-ECE82A4789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42</a:t>
            </a:r>
          </a:p>
        </p:txBody>
      </p:sp>
    </p:spTree>
    <p:extLst>
      <p:ext uri="{BB962C8B-B14F-4D97-AF65-F5344CB8AC3E}">
        <p14:creationId xmlns:p14="http://schemas.microsoft.com/office/powerpoint/2010/main" val="91746138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962240F-9ED1-4575-BF0B-03FB0B8032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5570D3-134A-4F12-B68B-FBA5027B6F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A7E7260-FE21-472B-8894-2C49BB02E3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CF3E29DE-C553-4FD6-9F6C-AC3A1B7DB21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37847E7-B292-4C50-9567-C035F9011DC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03 Nov 2026, 11:00 Kampala</a:t>
            </a:r>
          </a:p>
        </p:txBody>
      </p:sp>
      <p:sp>
        <p:nvSpPr>
          <p:cNvPr id="6" name="">
            <a:extLst xmlns:a="http://schemas.openxmlformats.org/drawingml/2006/main">
              <a:ext uri="{FF2B5EF4-FFF2-40B4-BE49-F238E27FC236}">
                <a16:creationId xmlns:a16="http://schemas.microsoft.com/office/drawing/2014/main" id="{FF79F192-2DB9-4F83-8379-F5BE3FC7113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41021B-4F58-46F2-A31C-7EDB611F118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10 Nov 2026, 11:00 Kampala</a:t>
            </a:r>
          </a:p>
        </p:txBody>
      </p:sp>
      <p:sp>
        <p:nvSpPr>
          <p:cNvPr id="8" name="">
            <a:extLst xmlns:a="http://schemas.openxmlformats.org/drawingml/2006/main">
              <a:ext uri="{FF2B5EF4-FFF2-40B4-BE49-F238E27FC236}">
                <a16:creationId xmlns:a16="http://schemas.microsoft.com/office/drawing/2014/main" id="{1883D76A-F96D-4776-881D-DFB664CFE39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A4A010-1AC1-4A5D-B988-7A9F697A08E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B5EDBC1-E722-46BD-9672-773EC156C49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0926840-022C-4363-AC26-FB0D485AAC4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D42BF58-DC9A-46BE-8B28-014754C28D1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618A95C-8058-45D0-8984-935D3FC6EB9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07c4ae06b794ed2"/>
              </a:rPr>
              <a:t>Open W09 assignment form</a:t>
            </a:r>
          </a:p>
        </p:txBody>
      </p:sp>
      <p:sp>
        <p:nvSpPr>
          <p:cNvPr id="14" name="">
            <a:extLst xmlns:a="http://schemas.openxmlformats.org/drawingml/2006/main">
              <a:ext uri="{FF2B5EF4-FFF2-40B4-BE49-F238E27FC236}">
                <a16:creationId xmlns:a16="http://schemas.microsoft.com/office/drawing/2014/main" id="{05B34A3F-C354-4822-B7D9-A8FACBEFF7A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https://docs.google.com/forms/d/e/1FAIpQLSfTe7OkZ7tZEVzG-mup0-8liXg1jKy_KmsDWZiPK9EWMJ9InA/viewform</a:t>
            </a:r>
          </a:p>
        </p:txBody>
      </p:sp>
      <p:sp>
        <p:nvSpPr>
          <p:cNvPr id="15" name="">
            <a:extLst xmlns:a="http://schemas.openxmlformats.org/drawingml/2006/main">
              <a:ext uri="{FF2B5EF4-FFF2-40B4-BE49-F238E27FC236}">
                <a16:creationId xmlns:a16="http://schemas.microsoft.com/office/drawing/2014/main" id="{1F63723F-6AAB-4874-B079-F15AB6EBFC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43</a:t>
            </a:r>
          </a:p>
        </p:txBody>
      </p:sp>
    </p:spTree>
    <p:extLst>
      <p:ext uri="{BB962C8B-B14F-4D97-AF65-F5344CB8AC3E}">
        <p14:creationId xmlns:p14="http://schemas.microsoft.com/office/powerpoint/2010/main" val="58726855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F9F05AD-7EFF-4EB8-B541-F3D36BB328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884887-044C-4BDD-AD43-FDEDA18D73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F702DAFB-84A4-476E-898D-30E54A56E1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EA9CC5C7-254B-441C-A71B-765DD633084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C44AFB-81C9-4A62-A4E3-5825C95993E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0C07E28-E0A6-4DC9-A3EE-4A57E3E895E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C6B7BB-8FE6-422A-95B6-661AED79981C}"/>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128DF35A-42EC-4B4A-9C12-CD0AB24CC5B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58C89E-EC09-4EA1-B788-9813EE16D01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2A641C4B-9E58-4C21-B59B-EE99F493650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D091D5E-60A2-442D-88E5-E9ECD1121414}"/>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f4e7b54ca3d4a3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FB596C9-06B3-4495-B989-8965672388D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479D6897-6F0D-42F2-BD66-45761917C48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DDF49DD-DB7D-4AF3-BCDF-182AFA7DC01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7afcbf831da4bc0"/>
              </a:rPr>
              <a:t>Open this week’s quiz</a:t>
            </a:r>
          </a:p>
        </p:txBody>
      </p:sp>
      <p:sp>
        <p:nvSpPr>
          <p:cNvPr id="16" name="">
            <a:extLst xmlns:a="http://schemas.openxmlformats.org/drawingml/2006/main">
              <a:ext uri="{FF2B5EF4-FFF2-40B4-BE49-F238E27FC236}">
                <a16:creationId xmlns:a16="http://schemas.microsoft.com/office/drawing/2014/main" id="{377491A4-B92B-47FB-A11D-A5D8E851C0A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https://forms.gle/6XBHNCQXESUyQ6G86</a:t>
            </a:r>
          </a:p>
        </p:txBody>
      </p:sp>
      <p:sp>
        <p:nvSpPr>
          <p:cNvPr id="17" name="">
            <a:extLst xmlns:a="http://schemas.openxmlformats.org/drawingml/2006/main">
              <a:ext uri="{FF2B5EF4-FFF2-40B4-BE49-F238E27FC236}">
                <a16:creationId xmlns:a16="http://schemas.microsoft.com/office/drawing/2014/main" id="{9BDF75AF-91B5-4A43-AA3E-34C37F557E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44</a:t>
            </a:r>
          </a:p>
        </p:txBody>
      </p:sp>
    </p:spTree>
    <p:extLst>
      <p:ext uri="{BB962C8B-B14F-4D97-AF65-F5344CB8AC3E}">
        <p14:creationId xmlns:p14="http://schemas.microsoft.com/office/powerpoint/2010/main" val="1985036487"/>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EFCE7B-39E6-4656-8D3F-A5E2773AD2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96AE2E6-F1BF-4363-AF79-A5C8CF266B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9782ED93-0CEB-4991-B080-D96178B2799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5B1BE5B-F41F-4057-80B4-CC8EB537654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0987781F-71C1-4DD2-8ACA-44061C6C157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F4C03E1-20C3-4B5C-A6ED-432B01A8F1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9   45</a:t>
            </a:r>
          </a:p>
        </p:txBody>
      </p:sp>
    </p:spTree>
    <p:extLst>
      <p:ext uri="{BB962C8B-B14F-4D97-AF65-F5344CB8AC3E}">
        <p14:creationId xmlns:p14="http://schemas.microsoft.com/office/powerpoint/2010/main" val="6969541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2026-09-16T11:08:47.6170000Z</dcterms:created>
  <dcterms:modified xsi:type="dcterms:W3CDTF">2026-09-16T11:08:47.6170000Z</dcterms:modified>
</coreProperties>
</file>