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0d905822ba54807" /><Relationship Type="http://schemas.openxmlformats.org/officeDocument/2006/relationships/extended-properties" Target="/docProps/app.xml" Id="Rdecf3727396b4749" /><Relationship Type="http://schemas.openxmlformats.org/officeDocument/2006/relationships/officeDocument" Target="/ppt/presentation.xml" Id="Rc6c640bbb6034923" /></Relationships>
</file>

<file path=ppt/presentation.xml><?xml version="1.0" encoding="utf-8"?>
<p:presentation xmlns:p="http://schemas.openxmlformats.org/presentationml/2006/main">
  <p:sldMasterIdLst>
    <p:sldMasterId xmlns:r="http://schemas.openxmlformats.org/officeDocument/2006/relationships" id="2147483648" r:id="R235aa0713f884e01"/>
  </p:sldMasterIdLst>
  <p:notesMasterIdLst>
    <p:notesMasterId xmlns:r="http://schemas.openxmlformats.org/officeDocument/2006/relationships" r:id="Rd059f1cf7bf54906"/>
  </p:notesMasterIdLst>
  <p:sldIdLst>
    <p:sldId xmlns:r="http://schemas.openxmlformats.org/officeDocument/2006/relationships" id="256" r:id="R4eae345eeb47404f"/>
    <p:sldId xmlns:r="http://schemas.openxmlformats.org/officeDocument/2006/relationships" id="257" r:id="Rc2b0a5df5d1f4084"/>
    <p:sldId xmlns:r="http://schemas.openxmlformats.org/officeDocument/2006/relationships" id="258" r:id="Rbe7dd3ba5d7742a1"/>
    <p:sldId xmlns:r="http://schemas.openxmlformats.org/officeDocument/2006/relationships" id="259" r:id="Rb08a3067d2c6418c"/>
    <p:sldId xmlns:r="http://schemas.openxmlformats.org/officeDocument/2006/relationships" id="260" r:id="R6379e0582f494ebd"/>
    <p:sldId xmlns:r="http://schemas.openxmlformats.org/officeDocument/2006/relationships" id="261" r:id="R70710381e72542de"/>
    <p:sldId xmlns:r="http://schemas.openxmlformats.org/officeDocument/2006/relationships" id="262" r:id="Rbc79942550f34b21"/>
    <p:sldId xmlns:r="http://schemas.openxmlformats.org/officeDocument/2006/relationships" id="263" r:id="R4c1a0785d7bc4a16"/>
    <p:sldId xmlns:r="http://schemas.openxmlformats.org/officeDocument/2006/relationships" id="264" r:id="Reba3f652bfe64b63"/>
    <p:sldId xmlns:r="http://schemas.openxmlformats.org/officeDocument/2006/relationships" id="265" r:id="Ra0496cb2ac124a1f"/>
    <p:sldId xmlns:r="http://schemas.openxmlformats.org/officeDocument/2006/relationships" id="266" r:id="R34f6c4802838446b"/>
    <p:sldId xmlns:r="http://schemas.openxmlformats.org/officeDocument/2006/relationships" id="267" r:id="R3d70db75c3234c0d"/>
    <p:sldId xmlns:r="http://schemas.openxmlformats.org/officeDocument/2006/relationships" id="268" r:id="Rf8c3395378c7496c"/>
    <p:sldId xmlns:r="http://schemas.openxmlformats.org/officeDocument/2006/relationships" id="269" r:id="R36212b3b9f174447"/>
    <p:sldId xmlns:r="http://schemas.openxmlformats.org/officeDocument/2006/relationships" id="270" r:id="Rce7ed0329cdd41dc"/>
    <p:sldId xmlns:r="http://schemas.openxmlformats.org/officeDocument/2006/relationships" id="271" r:id="Raa63ca4cf8b649ce"/>
    <p:sldId xmlns:r="http://schemas.openxmlformats.org/officeDocument/2006/relationships" id="272" r:id="R46d75277eeeb46b4"/>
    <p:sldId xmlns:r="http://schemas.openxmlformats.org/officeDocument/2006/relationships" id="273" r:id="Rea41ac5d4fad4c09"/>
    <p:sldId xmlns:r="http://schemas.openxmlformats.org/officeDocument/2006/relationships" id="274" r:id="Rf029833e6bb24c5c"/>
    <p:sldId xmlns:r="http://schemas.openxmlformats.org/officeDocument/2006/relationships" id="275" r:id="R88f4650544f643e9"/>
    <p:sldId xmlns:r="http://schemas.openxmlformats.org/officeDocument/2006/relationships" id="276" r:id="R16dfc9b795c145d5"/>
    <p:sldId xmlns:r="http://schemas.openxmlformats.org/officeDocument/2006/relationships" id="277" r:id="R06c8f0128003476b"/>
    <p:sldId xmlns:r="http://schemas.openxmlformats.org/officeDocument/2006/relationships" id="278" r:id="Rbe57c7eeea6b43cf"/>
    <p:sldId xmlns:r="http://schemas.openxmlformats.org/officeDocument/2006/relationships" id="279" r:id="Ra55877078ad84ee6"/>
    <p:sldId xmlns:r="http://schemas.openxmlformats.org/officeDocument/2006/relationships" id="280" r:id="Rfae7ebe936e844a8"/>
    <p:sldId xmlns:r="http://schemas.openxmlformats.org/officeDocument/2006/relationships" id="281" r:id="Rd30d5b6eb98b4e66"/>
    <p:sldId xmlns:r="http://schemas.openxmlformats.org/officeDocument/2006/relationships" id="282" r:id="R73d0ccaa5276423f"/>
    <p:sldId xmlns:r="http://schemas.openxmlformats.org/officeDocument/2006/relationships" id="283" r:id="Re8e1cafeb4da4485"/>
    <p:sldId xmlns:r="http://schemas.openxmlformats.org/officeDocument/2006/relationships" id="284" r:id="R2429242cf42b4a17"/>
    <p:sldId xmlns:r="http://schemas.openxmlformats.org/officeDocument/2006/relationships" id="285" r:id="R8f0bd49ed5f44aab"/>
    <p:sldId xmlns:r="http://schemas.openxmlformats.org/officeDocument/2006/relationships" id="286" r:id="Re2b5b4cde3814732"/>
    <p:sldId xmlns:r="http://schemas.openxmlformats.org/officeDocument/2006/relationships" id="287" r:id="Rdeee88798f79495e"/>
    <p:sldId xmlns:r="http://schemas.openxmlformats.org/officeDocument/2006/relationships" id="288" r:id="Rb944d916f0fd40e8"/>
    <p:sldId xmlns:r="http://schemas.openxmlformats.org/officeDocument/2006/relationships" id="289" r:id="R77010b8aa2394af6"/>
    <p:sldId xmlns:r="http://schemas.openxmlformats.org/officeDocument/2006/relationships" id="290" r:id="Rc212c58df2014806"/>
    <p:sldId xmlns:r="http://schemas.openxmlformats.org/officeDocument/2006/relationships" id="291" r:id="Rc355997c126c44b1"/>
    <p:sldId xmlns:r="http://schemas.openxmlformats.org/officeDocument/2006/relationships" id="292" r:id="Rf6c137958ae84ac9"/>
    <p:sldId xmlns:r="http://schemas.openxmlformats.org/officeDocument/2006/relationships" id="293" r:id="Rb794699144114718"/>
    <p:sldId xmlns:r="http://schemas.openxmlformats.org/officeDocument/2006/relationships" id="294" r:id="R0ee37446f9734c02"/>
    <p:sldId xmlns:r="http://schemas.openxmlformats.org/officeDocument/2006/relationships" id="295" r:id="R466b622ba11740cf"/>
    <p:sldId xmlns:r="http://schemas.openxmlformats.org/officeDocument/2006/relationships" id="296" r:id="R1045c40b2af348e9"/>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67ca69cb8654d0f" /><Relationship Type="http://schemas.openxmlformats.org/officeDocument/2006/relationships/slideMaster" Target="/ppt/slideMasters/slideMaster1.xml" Id="R235aa0713f884e01" /><Relationship Type="http://schemas.openxmlformats.org/officeDocument/2006/relationships/notesMaster" Target="/ppt/notesMasters/notesMaster1.xml" Id="Rd059f1cf7bf54906" /><Relationship Type="http://schemas.openxmlformats.org/officeDocument/2006/relationships/presProps" Target="/ppt/presProps.xml" Id="Rfcbf8cbd974f4756" /><Relationship Type="http://schemas.openxmlformats.org/officeDocument/2006/relationships/tableStyles" Target="/ppt/tableStyles.xml" Id="Rc4044ab6600a4b75" /><Relationship Type="http://schemas.openxmlformats.org/officeDocument/2006/relationships/slide" Target="/ppt/slides/slide1.xml" Id="R4eae345eeb47404f" /><Relationship Type="http://schemas.openxmlformats.org/officeDocument/2006/relationships/slide" Target="/ppt/slides/slide2.xml" Id="Rc2b0a5df5d1f4084" /><Relationship Type="http://schemas.openxmlformats.org/officeDocument/2006/relationships/slide" Target="/ppt/slides/slide3.xml" Id="Rbe7dd3ba5d7742a1" /><Relationship Type="http://schemas.openxmlformats.org/officeDocument/2006/relationships/slide" Target="/ppt/slides/slide4.xml" Id="Rb08a3067d2c6418c" /><Relationship Type="http://schemas.openxmlformats.org/officeDocument/2006/relationships/slide" Target="/ppt/slides/slide5.xml" Id="R6379e0582f494ebd" /><Relationship Type="http://schemas.openxmlformats.org/officeDocument/2006/relationships/slide" Target="/ppt/slides/slide6.xml" Id="R70710381e72542de" /><Relationship Type="http://schemas.openxmlformats.org/officeDocument/2006/relationships/slide" Target="/ppt/slides/slide7.xml" Id="Rbc79942550f34b21" /><Relationship Type="http://schemas.openxmlformats.org/officeDocument/2006/relationships/slide" Target="/ppt/slides/slide8.xml" Id="R4c1a0785d7bc4a16" /><Relationship Type="http://schemas.openxmlformats.org/officeDocument/2006/relationships/slide" Target="/ppt/slides/slide9.xml" Id="Reba3f652bfe64b63" /><Relationship Type="http://schemas.openxmlformats.org/officeDocument/2006/relationships/slide" Target="/ppt/slides/slide10.xml" Id="Ra0496cb2ac124a1f" /><Relationship Type="http://schemas.openxmlformats.org/officeDocument/2006/relationships/slide" Target="/ppt/slides/slide11.xml" Id="R34f6c4802838446b" /><Relationship Type="http://schemas.openxmlformats.org/officeDocument/2006/relationships/slide" Target="/ppt/slides/slide12.xml" Id="R3d70db75c3234c0d" /><Relationship Type="http://schemas.openxmlformats.org/officeDocument/2006/relationships/slide" Target="/ppt/slides/slide13.xml" Id="Rf8c3395378c7496c" /><Relationship Type="http://schemas.openxmlformats.org/officeDocument/2006/relationships/slide" Target="/ppt/slides/slide14.xml" Id="R36212b3b9f174447" /><Relationship Type="http://schemas.openxmlformats.org/officeDocument/2006/relationships/slide" Target="/ppt/slides/slide15.xml" Id="Rce7ed0329cdd41dc" /><Relationship Type="http://schemas.openxmlformats.org/officeDocument/2006/relationships/slide" Target="/ppt/slides/slide16.xml" Id="Raa63ca4cf8b649ce" /><Relationship Type="http://schemas.openxmlformats.org/officeDocument/2006/relationships/slide" Target="/ppt/slides/slide17.xml" Id="R46d75277eeeb46b4" /><Relationship Type="http://schemas.openxmlformats.org/officeDocument/2006/relationships/slide" Target="/ppt/slides/slide18.xml" Id="Rea41ac5d4fad4c09" /><Relationship Type="http://schemas.openxmlformats.org/officeDocument/2006/relationships/slide" Target="/ppt/slides/slide19.xml" Id="Rf029833e6bb24c5c" /><Relationship Type="http://schemas.openxmlformats.org/officeDocument/2006/relationships/slide" Target="/ppt/slides/slide20.xml" Id="R88f4650544f643e9" /><Relationship Type="http://schemas.openxmlformats.org/officeDocument/2006/relationships/slide" Target="/ppt/slides/slide21.xml" Id="R16dfc9b795c145d5" /><Relationship Type="http://schemas.openxmlformats.org/officeDocument/2006/relationships/slide" Target="/ppt/slides/slide22.xml" Id="R06c8f0128003476b" /><Relationship Type="http://schemas.openxmlformats.org/officeDocument/2006/relationships/slide" Target="/ppt/slides/slide23.xml" Id="Rbe57c7eeea6b43cf" /><Relationship Type="http://schemas.openxmlformats.org/officeDocument/2006/relationships/slide" Target="/ppt/slides/slide24.xml" Id="Ra55877078ad84ee6" /><Relationship Type="http://schemas.openxmlformats.org/officeDocument/2006/relationships/slide" Target="/ppt/slides/slide25.xml" Id="Rfae7ebe936e844a8" /><Relationship Type="http://schemas.openxmlformats.org/officeDocument/2006/relationships/slide" Target="/ppt/slides/slide26.xml" Id="Rd30d5b6eb98b4e66" /><Relationship Type="http://schemas.openxmlformats.org/officeDocument/2006/relationships/slide" Target="/ppt/slides/slide27.xml" Id="R73d0ccaa5276423f" /><Relationship Type="http://schemas.openxmlformats.org/officeDocument/2006/relationships/slide" Target="/ppt/slides/slide28.xml" Id="Re8e1cafeb4da4485" /><Relationship Type="http://schemas.openxmlformats.org/officeDocument/2006/relationships/slide" Target="/ppt/slides/slide29.xml" Id="R2429242cf42b4a17" /><Relationship Type="http://schemas.openxmlformats.org/officeDocument/2006/relationships/slide" Target="/ppt/slides/slide30.xml" Id="R8f0bd49ed5f44aab" /><Relationship Type="http://schemas.openxmlformats.org/officeDocument/2006/relationships/slide" Target="/ppt/slides/slide31.xml" Id="Re2b5b4cde3814732" /><Relationship Type="http://schemas.openxmlformats.org/officeDocument/2006/relationships/slide" Target="/ppt/slides/slide32.xml" Id="Rdeee88798f79495e" /><Relationship Type="http://schemas.openxmlformats.org/officeDocument/2006/relationships/slide" Target="/ppt/slides/slide33.xml" Id="Rb944d916f0fd40e8" /><Relationship Type="http://schemas.openxmlformats.org/officeDocument/2006/relationships/slide" Target="/ppt/slides/slide34.xml" Id="R77010b8aa2394af6" /><Relationship Type="http://schemas.openxmlformats.org/officeDocument/2006/relationships/slide" Target="/ppt/slides/slide35.xml" Id="Rc212c58df2014806" /><Relationship Type="http://schemas.openxmlformats.org/officeDocument/2006/relationships/slide" Target="/ppt/slides/slide36.xml" Id="Rc355997c126c44b1" /><Relationship Type="http://schemas.openxmlformats.org/officeDocument/2006/relationships/slide" Target="/ppt/slides/slide37.xml" Id="Rf6c137958ae84ac9" /><Relationship Type="http://schemas.openxmlformats.org/officeDocument/2006/relationships/slide" Target="/ppt/slides/slide38.xml" Id="Rb794699144114718" /><Relationship Type="http://schemas.openxmlformats.org/officeDocument/2006/relationships/slide" Target="/ppt/slides/slide39.xml" Id="R0ee37446f9734c02" /><Relationship Type="http://schemas.openxmlformats.org/officeDocument/2006/relationships/slide" Target="/ppt/slides/slide40.xml" Id="R466b622ba11740cf" /><Relationship Type="http://schemas.openxmlformats.org/officeDocument/2006/relationships/slide" Target="/ppt/slides/slide41.xml" Id="R1045c40b2af348e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b8e7ea35fd346d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378777137354395" /><Relationship Type="http://schemas.openxmlformats.org/officeDocument/2006/relationships/notesMaster" Target="/ppt/notesMasters/notesMaster1.xml" Id="Ra793ea6c72c94e78" /></Relationships>
</file>

<file path=ppt/notesSlides/_rels/notesSlide2.xml.rels>&#65279;<?xml version="1.0" encoding="utf-8"?><Relationships xmlns="http://schemas.openxmlformats.org/package/2006/relationships"><Relationship Type="http://schemas.openxmlformats.org/officeDocument/2006/relationships/slide" Target="/ppt/slides/slide2.xml" Id="Raddb650047344246" /><Relationship Type="http://schemas.openxmlformats.org/officeDocument/2006/relationships/notesMaster" Target="/ppt/notesMasters/notesMaster1.xml" Id="Red6b7a7d43584b4b" /></Relationships>
</file>

<file path=ppt/notesSlides/_rels/notesSlide3.xml.rels>&#65279;<?xml version="1.0" encoding="utf-8"?><Relationships xmlns="http://schemas.openxmlformats.org/package/2006/relationships"><Relationship Type="http://schemas.openxmlformats.org/officeDocument/2006/relationships/slide" Target="/ppt/slides/slide3.xml" Id="R4dc1a386b1fa4abc" /><Relationship Type="http://schemas.openxmlformats.org/officeDocument/2006/relationships/notesMaster" Target="/ppt/notesMasters/notesMaster1.xml" Id="Rc3100de1bcf4488c" /></Relationships>
</file>

<file path=ppt/notesSlides/_rels/notesSlide4.xml.rels>&#65279;<?xml version="1.0" encoding="utf-8"?><Relationships xmlns="http://schemas.openxmlformats.org/package/2006/relationships"><Relationship Type="http://schemas.openxmlformats.org/officeDocument/2006/relationships/slide" Target="/ppt/slides/slide4.xml" Id="Rbb94d49e3ab3409e" /><Relationship Type="http://schemas.openxmlformats.org/officeDocument/2006/relationships/notesMaster" Target="/ppt/notesMasters/notesMaster1.xml" Id="Rc6a1aa35c8e54859" /></Relationships>
</file>

<file path=ppt/notesSlides/_rels/notesSlide5.xml.rels>&#65279;<?xml version="1.0" encoding="utf-8"?><Relationships xmlns="http://schemas.openxmlformats.org/package/2006/relationships"><Relationship Type="http://schemas.openxmlformats.org/officeDocument/2006/relationships/slide" Target="/ppt/slides/slide5.xml" Id="Rba7ad170ac2248a1" /><Relationship Type="http://schemas.openxmlformats.org/officeDocument/2006/relationships/notesMaster" Target="/ppt/notesMasters/notesMaster1.xml" Id="Rcb13114ac45e498c" /></Relationships>
</file>

<file path=ppt/notesSlides/_rels/notesSlide6.xml.rels>&#65279;<?xml version="1.0" encoding="utf-8"?><Relationships xmlns="http://schemas.openxmlformats.org/package/2006/relationships"><Relationship Type="http://schemas.openxmlformats.org/officeDocument/2006/relationships/slide" Target="/ppt/slides/slide6.xml" Id="R4901dede0b674c6f" /><Relationship Type="http://schemas.openxmlformats.org/officeDocument/2006/relationships/notesMaster" Target="/ppt/notesMasters/notesMaster1.xml" Id="R1874243bbada4d5b" /></Relationships>
</file>

<file path=ppt/notesSlides/_rels/notesSlide7.xml.rels>&#65279;<?xml version="1.0" encoding="utf-8"?><Relationships xmlns="http://schemas.openxmlformats.org/package/2006/relationships"><Relationship Type="http://schemas.openxmlformats.org/officeDocument/2006/relationships/slide" Target="/ppt/slides/slide7.xml" Id="Re835572d33164d1a" /><Relationship Type="http://schemas.openxmlformats.org/officeDocument/2006/relationships/notesMaster" Target="/ppt/notesMasters/notesMaster1.xml" Id="R01179e5d379f42f6" /></Relationships>
</file>

<file path=ppt/notesSlides/_rels/notesSlide8.xml.rels>&#65279;<?xml version="1.0" encoding="utf-8"?><Relationships xmlns="http://schemas.openxmlformats.org/package/2006/relationships"><Relationship Type="http://schemas.openxmlformats.org/officeDocument/2006/relationships/slide" Target="/ppt/slides/slide8.xml" Id="R6d6217c6289141cf" /><Relationship Type="http://schemas.openxmlformats.org/officeDocument/2006/relationships/notesMaster" Target="/ppt/notesMasters/notesMaster1.xml" Id="R724853b020ff4db2" /></Relationships>
</file>

<file path=ppt/notesSlides/_rels/notesSlide9.xml.rels>&#65279;<?xml version="1.0" encoding="utf-8"?><Relationships xmlns="http://schemas.openxmlformats.org/package/2006/relationships"><Relationship Type="http://schemas.openxmlformats.org/officeDocument/2006/relationships/slide" Target="/ppt/slides/slide9.xml" Id="R378e15f524124436" /><Relationship Type="http://schemas.openxmlformats.org/officeDocument/2006/relationships/notesMaster" Target="/ppt/notesMasters/notesMaster1.xml" Id="R42380f103d02422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1136459a469461a" /><Relationship Type="http://schemas.openxmlformats.org/officeDocument/2006/relationships/notesMaster" Target="/ppt/notesMasters/notesMaster1.xml" Id="R509b5e4ce0e84d5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5d49c0793bba48ef" /><Relationship Type="http://schemas.openxmlformats.org/officeDocument/2006/relationships/notesMaster" Target="/ppt/notesMasters/notesMaster1.xml" Id="R7a640683ce244c80"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d7af612cbb024e32" /><Relationship Type="http://schemas.openxmlformats.org/officeDocument/2006/relationships/notesMaster" Target="/ppt/notesMasters/notesMaster1.xml" Id="Ra9a655cfd411461c"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6a7e58585bad4e64" /><Relationship Type="http://schemas.openxmlformats.org/officeDocument/2006/relationships/notesMaster" Target="/ppt/notesMasters/notesMaster1.xml" Id="R42e8ac87fbbb4db9"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55cb2d281c7f4b23" /><Relationship Type="http://schemas.openxmlformats.org/officeDocument/2006/relationships/notesMaster" Target="/ppt/notesMasters/notesMaster1.xml" Id="R92491b3c9266489a"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da366269f60e44d4" /><Relationship Type="http://schemas.openxmlformats.org/officeDocument/2006/relationships/notesMaster" Target="/ppt/notesMasters/notesMaster1.xml" Id="Ra773e418995044e0"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c6d70e9c230e4a8b" /><Relationship Type="http://schemas.openxmlformats.org/officeDocument/2006/relationships/notesMaster" Target="/ppt/notesMasters/notesMaster1.xml" Id="Rfc0aa9033ce2455e"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ecb494fdab5b48ca" /><Relationship Type="http://schemas.openxmlformats.org/officeDocument/2006/relationships/notesMaster" Target="/ppt/notesMasters/notesMaster1.xml" Id="Rb58b0f9563564e46"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578e781b72254637" /><Relationship Type="http://schemas.openxmlformats.org/officeDocument/2006/relationships/notesMaster" Target="/ppt/notesMasters/notesMaster1.xml" Id="R09a17500648644a4"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6bc6f96874654e41" /><Relationship Type="http://schemas.openxmlformats.org/officeDocument/2006/relationships/notesMaster" Target="/ppt/notesMasters/notesMaster1.xml" Id="R831120211faf4657"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c9fa98cf420849fb" /><Relationship Type="http://schemas.openxmlformats.org/officeDocument/2006/relationships/notesMaster" Target="/ppt/notesMasters/notesMaster1.xml" Id="R5dd3de46fb5547b3"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56a1e0b1d7304bb2" /><Relationship Type="http://schemas.openxmlformats.org/officeDocument/2006/relationships/notesMaster" Target="/ppt/notesMasters/notesMaster1.xml" Id="R1be37ef21db34b98"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3d29072b8f784da4" /><Relationship Type="http://schemas.openxmlformats.org/officeDocument/2006/relationships/notesMaster" Target="/ppt/notesMasters/notesMaster1.xml" Id="Ra8ba5d562a17414e"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bfd78203d26a4b32" /><Relationship Type="http://schemas.openxmlformats.org/officeDocument/2006/relationships/notesMaster" Target="/ppt/notesMasters/notesMaster1.xml" Id="R25044eb6b5fe4e73"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22d8c203f56c4641" /><Relationship Type="http://schemas.openxmlformats.org/officeDocument/2006/relationships/notesMaster" Target="/ppt/notesMasters/notesMaster1.xml" Id="R83a673f002bc4e5f"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2c18db8ad7294d72" /><Relationship Type="http://schemas.openxmlformats.org/officeDocument/2006/relationships/notesMaster" Target="/ppt/notesMasters/notesMaster1.xml" Id="Rc00a3776611642b3"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2f21baed76ec4e11" /><Relationship Type="http://schemas.openxmlformats.org/officeDocument/2006/relationships/notesMaster" Target="/ppt/notesMasters/notesMaster1.xml" Id="Re31cfbebbacd43b9"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216148aece3d4846" /><Relationship Type="http://schemas.openxmlformats.org/officeDocument/2006/relationships/notesMaster" Target="/ppt/notesMasters/notesMaster1.xml" Id="R723f902680464417"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317b6543b5a74967" /><Relationship Type="http://schemas.openxmlformats.org/officeDocument/2006/relationships/notesMaster" Target="/ppt/notesMasters/notesMaster1.xml" Id="Rd1e0bdceb9e74941"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070bbf3338f54c0e" /><Relationship Type="http://schemas.openxmlformats.org/officeDocument/2006/relationships/notesMaster" Target="/ppt/notesMasters/notesMaster1.xml" Id="R731629b9356a42db"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941578cad4be4968" /><Relationship Type="http://schemas.openxmlformats.org/officeDocument/2006/relationships/notesMaster" Target="/ppt/notesMasters/notesMaster1.xml" Id="R588ec682edee45e3"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e9053fa26fb8464a" /><Relationship Type="http://schemas.openxmlformats.org/officeDocument/2006/relationships/notesMaster" Target="/ppt/notesMasters/notesMaster1.xml" Id="R052e464892bc438f"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786ee947cb174258" /><Relationship Type="http://schemas.openxmlformats.org/officeDocument/2006/relationships/notesMaster" Target="/ppt/notesMasters/notesMaster1.xml" Id="Re71a46061a9e4598"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25bd5145c35c4529" /><Relationship Type="http://schemas.openxmlformats.org/officeDocument/2006/relationships/notesMaster" Target="/ppt/notesMasters/notesMaster1.xml" Id="Rac96336ab911419b"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0d837cd4c3b34ad4" /><Relationship Type="http://schemas.openxmlformats.org/officeDocument/2006/relationships/notesMaster" Target="/ppt/notesMasters/notesMaster1.xml" Id="R80082110f565439d"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a889472288ee4458" /><Relationship Type="http://schemas.openxmlformats.org/officeDocument/2006/relationships/notesMaster" Target="/ppt/notesMasters/notesMaster1.xml" Id="R63f1a0c4d7e546e3"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5372c42697e94583" /><Relationship Type="http://schemas.openxmlformats.org/officeDocument/2006/relationships/notesMaster" Target="/ppt/notesMasters/notesMaster1.xml" Id="R8cb39196ba4e46e0"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ded6be743adb46bf" /><Relationship Type="http://schemas.openxmlformats.org/officeDocument/2006/relationships/notesMaster" Target="/ppt/notesMasters/notesMaster1.xml" Id="Rf4fc453d1ce34073"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a78f91ab8aec42e9" /><Relationship Type="http://schemas.openxmlformats.org/officeDocument/2006/relationships/notesMaster" Target="/ppt/notesMasters/notesMaster1.xml" Id="R49da9b4a6bc240c6"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d3280c1b8d294427" /><Relationship Type="http://schemas.openxmlformats.org/officeDocument/2006/relationships/notesMaster" Target="/ppt/notesMasters/notesMaster1.xml" Id="R14ac903cd58040e4"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8b25e795585a46c3" /><Relationship Type="http://schemas.openxmlformats.org/officeDocument/2006/relationships/notesMaster" Target="/ppt/notesMasters/notesMaster1.xml" Id="R01361810396e4764"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e4780981e26d4c76" /><Relationship Type="http://schemas.openxmlformats.org/officeDocument/2006/relationships/notesMaster" Target="/ppt/notesMasters/notesMaster1.xml" Id="Reea1b088b5514b8d"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Classification and the cost of mistakes</a:t>
            </a:r>
          </a:p>
          <a:p>
            <a:r>
              <a:t>CML3112, Week 9, slide 1</a:t>
            </a:r>
          </a:p>
          <a:p>
            <a:r>
              <a:t/>
            </a:r>
          </a:p>
          <a:p>
            <a:r>
              <a:t>Explanation to give</a:t>
            </a:r>
          </a:p>
          <a:p>
            <a:r>
              <a:t>Move from a numerical prediction to a category decision. Name the positive class before counting correct warnings, false alarms and missed warnings.</a:t>
            </a:r>
          </a:p>
          <a:p>
            <a:r>
              <a:t/>
            </a:r>
          </a:p>
          <a:p>
            <a:r>
              <a:t>Worked illustration / lecturer answer</a:t>
            </a:r>
          </a:p>
          <a:p>
            <a:r>
              <a:t>Actual 1 with predicted 0 is a false negative. If 1 means warning, this is a missed warning, not merely a wrong number.</a:t>
            </a:r>
          </a:p>
          <a:p>
            <a:r>
              <a:t/>
            </a:r>
          </a:p>
          <a:p>
            <a:r>
              <a:t>Misconception to address</a:t>
            </a:r>
          </a:p>
          <a:p>
            <a:r>
              <a:t>Use this as an orientation to the lesson. Terms and syntax will be unpacked on their own slides; students do not need to know them in advance.</a:t>
            </a:r>
          </a:p>
          <a:p>
            <a:r>
              <a:t/>
            </a:r>
          </a:p>
          <a:p>
            <a:r>
              <a:t>On this slide</a:t>
            </a:r>
          </a:p>
          <a:p>
            <a:r>
              <a:t>Civil Engineering and Architecture</a:t>
            </a:r>
          </a:p>
          <a:p>
            <a:r>
              <a:t/>
            </a:r>
          </a:p>
          <a:p>
            <a:r>
              <a:t>Continue to</a:t>
            </a:r>
          </a:p>
          <a:p>
            <a:r>
              <a:t>Today’s learning</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Today’s learning</a:t>
            </a:r>
          </a:p>
          <a:p>
            <a:r>
              <a:t>CML3112, Week 9, slide 2</a:t>
            </a:r>
          </a:p>
          <a:p>
            <a:r>
              <a:t/>
            </a:r>
          </a:p>
          <a:p>
            <a:r>
              <a:t>Explanation to give</a:t>
            </a:r>
          </a:p>
          <a:p>
            <a:r>
              <a:t>Move from a numerical prediction to a category decision. Name the positive class before counting correct warnings, false alarms and missed warnings.</a:t>
            </a:r>
          </a:p>
          <a:p>
            <a:r>
              <a:t/>
            </a:r>
          </a:p>
          <a:p>
            <a:r>
              <a:t>Worked illustration / lecturer answer</a:t>
            </a:r>
          </a:p>
          <a:p>
            <a:r>
              <a:t>Actual 1 with predicted 0 is a false negative. If 1 means warning, this is a missed warning, not merely a wrong number.</a:t>
            </a:r>
          </a:p>
          <a:p>
            <a:r>
              <a:t/>
            </a:r>
          </a:p>
          <a:p>
            <a:r>
              <a:t>Misconception to address</a:t>
            </a:r>
          </a:p>
          <a:p>
            <a:r>
              <a:t>At the end, check the specific outcome shown here using a small previously demonstrated example. A completed file without an explanation is not evidence of understanding.</a:t>
            </a:r>
          </a:p>
          <a:p>
            <a:r>
              <a:t/>
            </a:r>
          </a:p>
          <a:p>
            <a:r>
              <a:t>On this slide</a:t>
            </a:r>
          </a:p>
          <a:p>
            <a:r>
              <a:t>Distinguish an actual label from a predicted label.</a:t>
            </a:r>
          </a:p>
          <a:p>
            <a:r>
              <a:t/>
            </a:r>
          </a:p>
          <a:p>
            <a:r>
              <a:t>Count prediction outcomes and explain their costs.</a:t>
            </a:r>
          </a:p>
          <a:p>
            <a:r>
              <a:t/>
            </a:r>
          </a:p>
          <a:p>
            <a:r>
              <a:t>Continue to</a:t>
            </a:r>
          </a:p>
          <a:p>
            <a:r>
              <a:t>Connection to the previous lesson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Connection to the previous lesson</a:t>
            </a:r>
          </a:p>
          <a:p>
            <a:r>
              <a:t>CML3112, Week 9, slide 3</a:t>
            </a:r>
          </a:p>
          <a:p>
            <a:r>
              <a:t/>
            </a:r>
          </a:p>
          <a:p>
            <a:r>
              <a:t>Explanation to give</a:t>
            </a:r>
          </a:p>
          <a:p>
            <a:r>
              <a:t>Move from a numerical prediction to a category decision. Name the positive class before counting correct warnings, false alarms and missed warnings.</a:t>
            </a:r>
          </a:p>
          <a:p>
            <a:r>
              <a:t/>
            </a:r>
          </a:p>
          <a:p>
            <a:r>
              <a:t>Worked illustration / lecturer answer</a:t>
            </a:r>
          </a:p>
          <a:p>
            <a:r>
              <a:t>Actual 1 with predicted 0 is a false negative. If 1 means warning, this is a missed warning, not merely a wrong number.</a:t>
            </a:r>
          </a:p>
          <a:p>
            <a:r>
              <a:t/>
            </a:r>
          </a:p>
          <a:p>
            <a:r>
              <a:t>Misconception to address</a:t>
            </a:r>
          </a:p>
          <a:p>
            <a:r>
              <a:t>Connect this to the previous result named on this slide. Demonstrate the first step again if necessary; there is no requirement for partner work before the explanation.</a:t>
            </a:r>
          </a:p>
          <a:p>
            <a:r>
              <a:t/>
            </a:r>
          </a:p>
          <a:p>
            <a:r>
              <a:t>On this slide</a:t>
            </a:r>
          </a:p>
          <a:p>
            <a:r>
              <a:t>Week 8 predicted a number. This week predicts a category and counts the different kinds of correct and incorrect result.</a:t>
            </a:r>
          </a:p>
          <a:p>
            <a:r>
              <a:t/>
            </a:r>
          </a:p>
          <a:p>
            <a:r>
              <a:t>Continue to</a:t>
            </a:r>
          </a:p>
          <a:p>
            <a:r>
              <a:t>Why this week’s tools are needed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Why this week’s tools are needed</a:t>
            </a:r>
          </a:p>
          <a:p>
            <a:r>
              <a:t>CML3112, Week 9, slide 4</a:t>
            </a:r>
          </a:p>
          <a:p>
            <a:r>
              <a:t/>
            </a:r>
          </a:p>
          <a:p>
            <a:r>
              <a:t>Explanation to give</a:t>
            </a:r>
          </a:p>
          <a:p>
            <a:r>
              <a:t>Move from a numerical prediction to a category decision. Name the positive class before counting correct warnings, false alarms and missed warnings.</a:t>
            </a:r>
          </a:p>
          <a:p>
            <a:r>
              <a:t/>
            </a:r>
          </a:p>
          <a:p>
            <a:r>
              <a:t>Worked illustration / lecturer answer</a:t>
            </a:r>
          </a:p>
          <a:p>
            <a:r>
              <a:t>Actual 1 with predicted 0 is a false negative. If 1 means warning, this is a missed warning, not merely a wrong number.</a:t>
            </a:r>
          </a:p>
          <a:p>
            <a:r>
              <a:t/>
            </a:r>
          </a:p>
          <a:p>
            <a:r>
              <a:t>Misconception to address</a:t>
            </a:r>
          </a:p>
          <a:p>
            <a:r>
              <a:t>Connect this to the previous result named on this slide. Demonstrate the first step again if necessary; there is no requirement for partner work before the explanation.</a:t>
            </a:r>
          </a:p>
          <a:p>
            <a:r>
              <a:t/>
            </a:r>
          </a:p>
          <a:p>
            <a:r>
              <a:t>On this slide</a:t>
            </a:r>
          </a:p>
          <a:p>
            <a:r>
              <a:t>A warning system predicts a category. We compare each prediction with its recorded answer, then count false alarms and missed warnings using an explicit cost rule.</a:t>
            </a:r>
          </a:p>
          <a:p>
            <a:r>
              <a:t/>
            </a:r>
          </a:p>
          <a:p>
            <a:r>
              <a:t>Continue to</a:t>
            </a:r>
          </a:p>
          <a:p>
            <a:r>
              <a:t>The positive class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The positive class</a:t>
            </a:r>
          </a:p>
          <a:p>
            <a:r>
              <a:t>CML3112, Week 9, slide 5</a:t>
            </a:r>
          </a:p>
          <a:p>
            <a:r>
              <a:t/>
            </a:r>
          </a:p>
          <a:p>
            <a:r>
              <a:t>Explanation to give</a:t>
            </a:r>
          </a:p>
          <a:p>
            <a:r>
              <a:t>First name what 1 means. Read the actual label before the prediction. True/false refers to whether the prediction is correct; positive/negative refers to the predicted class.</a:t>
            </a:r>
          </a:p>
          <a:p>
            <a:r>
              <a:t/>
            </a:r>
          </a:p>
          <a:p>
            <a:r>
              <a:t>Worked illustration / lecturer answer</a:t>
            </a:r>
          </a:p>
          <a:p>
            <a:r>
              <a:t>With 1 meaning warning: actual 1, predicted 0 is a false negative, a missed warning. Actual 0, predicted 1 is a false positive, an unnecessary warning.</a:t>
            </a:r>
          </a:p>
          <a:p>
            <a:r>
              <a:t/>
            </a:r>
          </a:p>
          <a:p>
            <a:r>
              <a:t>Misconception to address</a:t>
            </a:r>
          </a:p>
          <a:p>
            <a:r>
              <a:t>Positive does not mean good. A high count of correct normal cases can hide a dangerous number of missed warnings.</a:t>
            </a:r>
          </a:p>
          <a:p>
            <a:r>
              <a:t/>
            </a:r>
          </a:p>
          <a:p>
            <a:r>
              <a:t>On this slide</a:t>
            </a:r>
          </a:p>
          <a:p>
            <a:r>
              <a:t>In this example, 1 means a warning is needed.</a:t>
            </a:r>
          </a:p>
          <a:p>
            <a:r>
              <a:t/>
            </a:r>
          </a:p>
          <a:p>
            <a:r>
              <a:t>0 means a warning is not needed.</a:t>
            </a:r>
          </a:p>
          <a:p>
            <a:r>
              <a:t/>
            </a:r>
          </a:p>
          <a:p>
            <a:r>
              <a:t>Actual is the reference label. Predicted is the model’s label.</a:t>
            </a:r>
          </a:p>
          <a:p>
            <a:r>
              <a:t/>
            </a:r>
          </a:p>
          <a:p>
            <a:r>
              <a:t>A false negative misses a real warning.</a:t>
            </a:r>
          </a:p>
          <a:p>
            <a:r>
              <a:t/>
            </a:r>
          </a:p>
          <a:p>
            <a:r>
              <a:t>Continue to</a:t>
            </a:r>
          </a:p>
          <a:p>
            <a:r>
              <a:t>Class and positive label / TP and TN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Class and positive label / TP and TN</a:t>
            </a:r>
          </a:p>
          <a:p>
            <a:r>
              <a:t>CML3112, Week 9, slide 6</a:t>
            </a:r>
          </a:p>
          <a:p>
            <a:r>
              <a:t/>
            </a:r>
          </a:p>
          <a:p>
            <a:r>
              <a:t>Explanation to give</a:t>
            </a:r>
          </a:p>
          <a:p>
            <a:r>
              <a:t>First name what 1 means. Read the actual label before the prediction. True/false refers to whether the prediction is correct; positive/negative refers to the predicted class.</a:t>
            </a:r>
          </a:p>
          <a:p>
            <a:r>
              <a:t/>
            </a:r>
          </a:p>
          <a:p>
            <a:r>
              <a:t>Worked illustration / lecturer answer</a:t>
            </a:r>
          </a:p>
          <a:p>
            <a:r>
              <a:t>With 1 meaning warning: actual 1, predicted 0 is a false negative, a missed warning. Actual 0, predicted 1 is a false positive, an unnecessary warning.</a:t>
            </a:r>
          </a:p>
          <a:p>
            <a:r>
              <a:t/>
            </a:r>
          </a:p>
          <a:p>
            <a:r>
              <a:t>Misconception to address</a:t>
            </a:r>
          </a:p>
          <a:p>
            <a:r>
              <a:t>Positive does not mean good. A high count of correct normal cases can hide a dangerous number of missed warnings.</a:t>
            </a:r>
          </a:p>
          <a:p>
            <a:r>
              <a:t/>
            </a:r>
          </a:p>
          <a:p>
            <a:r>
              <a:t>On this slide</a:t>
            </a:r>
          </a:p>
          <a:p>
            <a:r>
              <a:t>Class and positive label: A class is a category. Here 1 means warning and 0 means no warning. Positive means the named class, not good news.</a:t>
            </a:r>
          </a:p>
          <a:p>
            <a:r>
              <a:t>TP and TN: True positive is a correctly flagged warning. True negative is a correctly unflagged non-warning.</a:t>
            </a:r>
          </a:p>
          <a:p>
            <a:r>
              <a:t/>
            </a:r>
          </a:p>
          <a:p>
            <a:r>
              <a:t>Continue to</a:t>
            </a:r>
          </a:p>
          <a:p>
            <a:r>
              <a:t>FP and FN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FP and FN</a:t>
            </a:r>
          </a:p>
          <a:p>
            <a:r>
              <a:t>CML3112, Week 9, slide 7</a:t>
            </a:r>
          </a:p>
          <a:p>
            <a:r>
              <a:t/>
            </a:r>
          </a:p>
          <a:p>
            <a:r>
              <a:t>Explanation to give</a:t>
            </a:r>
          </a:p>
          <a:p>
            <a:r>
              <a:t>First name what 1 means. Read the actual label before the prediction. True/false refers to whether the prediction is correct; positive/negative refers to the predicted class.</a:t>
            </a:r>
          </a:p>
          <a:p>
            <a:r>
              <a:t/>
            </a:r>
          </a:p>
          <a:p>
            <a:r>
              <a:t>Worked illustration / lecturer answer</a:t>
            </a:r>
          </a:p>
          <a:p>
            <a:r>
              <a:t>With 1 meaning warning: actual 1, predicted 0 is a false negative, a missed warning. Actual 0, predicted 1 is a false positive, an unnecessary warning.</a:t>
            </a:r>
          </a:p>
          <a:p>
            <a:r>
              <a:t/>
            </a:r>
          </a:p>
          <a:p>
            <a:r>
              <a:t>Misconception to address</a:t>
            </a:r>
          </a:p>
          <a:p>
            <a:r>
              <a:t>Positive does not mean good. A high count of correct normal cases can hide a dangerous number of missed warnings.</a:t>
            </a:r>
          </a:p>
          <a:p>
            <a:r>
              <a:t/>
            </a:r>
          </a:p>
          <a:p>
            <a:r>
              <a:t>On this slide</a:t>
            </a:r>
          </a:p>
          <a:p>
            <a:r>
              <a:t>FP and FN: False positive is a false alarm. False negative is a missed warning.</a:t>
            </a:r>
          </a:p>
          <a:p>
            <a:r>
              <a:t/>
            </a:r>
          </a:p>
          <a:p>
            <a:r>
              <a:t>Continue to</a:t>
            </a:r>
          </a:p>
          <a:p>
            <a:r>
              <a:t>Actual and predicted describe different things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Actual and predicted describe different things</a:t>
            </a:r>
          </a:p>
          <a:p>
            <a:r>
              <a:t>CML3112, Week 9, slide 8</a:t>
            </a:r>
          </a:p>
          <a:p>
            <a:r>
              <a:t/>
            </a:r>
          </a:p>
          <a:p>
            <a:r>
              <a:t>Explanation to give</a:t>
            </a:r>
          </a:p>
          <a:p>
            <a:r>
              <a:t>First name what 1 means. Read the actual label before the prediction. True/false refers to whether the prediction is correct; positive/negative refers to the predicted class.</a:t>
            </a:r>
          </a:p>
          <a:p>
            <a:r>
              <a:t/>
            </a:r>
          </a:p>
          <a:p>
            <a:r>
              <a:t>Worked illustration / lecturer answer</a:t>
            </a:r>
          </a:p>
          <a:p>
            <a:r>
              <a:t>With 1 meaning warning: actual 1, predicted 0 is a false negative, a missed warning. Actual 0, predicted 1 is a false positive, an unnecessary warning.</a:t>
            </a:r>
          </a:p>
          <a:p>
            <a:r>
              <a:t/>
            </a:r>
          </a:p>
          <a:p>
            <a:r>
              <a:t>Misconception to address</a:t>
            </a:r>
          </a:p>
          <a:p>
            <a:r>
              <a:t>Positive does not mean good. A high count of correct normal cases can hide a dangerous number of missed warnings.</a:t>
            </a:r>
          </a:p>
          <a:p>
            <a:r>
              <a:t/>
            </a:r>
          </a:p>
          <a:p>
            <a:r>
              <a:t>On this slide</a:t>
            </a:r>
          </a:p>
          <a:p>
            <a:r>
              <a:t>Actual is the recorded reference answer.</a:t>
            </a:r>
          </a:p>
          <a:p>
            <a:r>
              <a:t/>
            </a:r>
          </a:p>
          <a:p>
            <a:r>
              <a:t>Predicted is the answer produced by our model.</a:t>
            </a:r>
          </a:p>
          <a:p>
            <a:r>
              <a:t/>
            </a:r>
          </a:p>
          <a:p>
            <a:r>
              <a:t>A correct prediction matches the reference. Class 1 means warning in this example.</a:t>
            </a:r>
          </a:p>
          <a:p>
            <a:r>
              <a:t/>
            </a:r>
          </a:p>
          <a:p>
            <a:r>
              <a:t>Continue to</a:t>
            </a:r>
          </a:p>
          <a:p>
            <a:r>
              <a:t>Every paired result belongs in one cell</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Every paired result belongs in one cell</a:t>
            </a:r>
          </a:p>
          <a:p>
            <a:r>
              <a:t>CML3112, Week 9, slide 9</a:t>
            </a:r>
          </a:p>
          <a:p>
            <a:r>
              <a:t/>
            </a:r>
          </a:p>
          <a:p>
            <a:r>
              <a:t>Explanation to give</a:t>
            </a:r>
          </a:p>
          <a:p>
            <a:r>
              <a:t>First name what 1 means. Read the actual label before the prediction. True/false refers to whether the prediction is correct; positive/negative refers to the predicted class.</a:t>
            </a:r>
          </a:p>
          <a:p>
            <a:r>
              <a:t/>
            </a:r>
          </a:p>
          <a:p>
            <a:r>
              <a:t>Worked illustration / lecturer answer</a:t>
            </a:r>
          </a:p>
          <a:p>
            <a:r>
              <a:t>With 1 meaning warning: actual 1, predicted 0 is a false negative, a missed warning. Actual 0, predicted 1 is a false positive, an unnecessary warning.</a:t>
            </a:r>
          </a:p>
          <a:p>
            <a:r>
              <a:t/>
            </a:r>
          </a:p>
          <a:p>
            <a:r>
              <a:t>Misconception to address</a:t>
            </a:r>
          </a:p>
          <a:p>
            <a:r>
              <a:t>Positive does not mean good. A high count of correct normal cases can hide a dangerous number of missed warnings.</a:t>
            </a:r>
          </a:p>
          <a:p>
            <a:r>
              <a:t/>
            </a:r>
          </a:p>
          <a:p>
            <a:r>
              <a:t>On this slide</a:t>
            </a:r>
          </a:p>
          <a:p>
            <a:r>
              <a:t>Read actual first, then predicted. Explain the missed warning.</a:t>
            </a:r>
          </a:p>
          <a:p>
            <a:r>
              <a:t/>
            </a:r>
          </a:p>
          <a:p>
            <a:r>
              <a:t>Continue to</a:t>
            </a:r>
          </a:p>
          <a:p>
            <a:r>
              <a:t>The four kinds of result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The four kinds of result</a:t>
            </a:r>
          </a:p>
          <a:p>
            <a:r>
              <a:t>CML3112, Week 9, slide 10</a:t>
            </a:r>
          </a:p>
          <a:p>
            <a:r>
              <a:t/>
            </a:r>
          </a:p>
          <a:p>
            <a:r>
              <a:t>Explanation to give</a:t>
            </a:r>
          </a:p>
          <a:p>
            <a:r>
              <a:t>First name what 1 means. Read the actual label before the prediction. True/false refers to whether the prediction is correct; positive/negative refers to the predicted class.</a:t>
            </a:r>
          </a:p>
          <a:p>
            <a:r>
              <a:t/>
            </a:r>
          </a:p>
          <a:p>
            <a:r>
              <a:t>Worked illustration / lecturer answer</a:t>
            </a:r>
          </a:p>
          <a:p>
            <a:r>
              <a:t>With 1 meaning warning: actual 1, predicted 0 is a false negative, a missed warning. Actual 0, predicted 1 is a false positive, an unnecessary warning.</a:t>
            </a:r>
          </a:p>
          <a:p>
            <a:r>
              <a:t/>
            </a:r>
          </a:p>
          <a:p>
            <a:r>
              <a:t>Misconception to address</a:t>
            </a:r>
          </a:p>
          <a:p>
            <a:r>
              <a:t>Positive does not mean good. A high count of correct normal cases can hide a dangerous number of missed warnings.</a:t>
            </a:r>
          </a:p>
          <a:p>
            <a:r>
              <a:t/>
            </a:r>
          </a:p>
          <a:p>
            <a:r>
              <a:t>On this slide</a:t>
            </a:r>
          </a:p>
          <a:p>
            <a:r>
              <a:t>Actual / Predicted | Warning 1 | No warning 0</a:t>
            </a:r>
          </a:p>
          <a:p>
            <a:r>
              <a:t>Warning 1 | TP = 1 | FN = 1</a:t>
            </a:r>
          </a:p>
          <a:p>
            <a:r>
              <a:t>No warning 0 | FP = 1 | TN = 1</a:t>
            </a:r>
          </a:p>
          <a:p>
            <a:r>
              <a:t>Rows are actual and columns are predicted.</a:t>
            </a:r>
          </a:p>
          <a:p>
            <a:r>
              <a:t/>
            </a:r>
          </a:p>
          <a:p>
            <a:r>
              <a:t>Continue to</a:t>
            </a:r>
          </a:p>
          <a:p>
            <a:r>
              <a:t>Precision / Recall</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Precision / Recall</a:t>
            </a:r>
          </a:p>
          <a:p>
            <a:r>
              <a:t>CML3112, Week 9, slide 11</a:t>
            </a:r>
          </a:p>
          <a:p>
            <a:r>
              <a:t/>
            </a:r>
          </a:p>
          <a:p>
            <a:r>
              <a:t>Explanation to give</a:t>
            </a:r>
          </a:p>
          <a:p>
            <a:r>
              <a:t>Use two different denominators. Precision looks only at issued warnings. Recall looks only at real cases that needed a warning. Say the population in the denominator before calculating.</a:t>
            </a:r>
          </a:p>
          <a:p>
            <a:r>
              <a:t/>
            </a:r>
          </a:p>
          <a:p>
            <a:r>
              <a:t>Worked illustration / lecturer answer</a:t>
            </a:r>
          </a:p>
          <a:p>
            <a:r>
              <a:t>If TP=3, FP=1 and FN=2, precision is 3/(3+1)=0.75 and recall is 3/(3+2)=0.60. One asks whether warnings are reliable; the other asks whether true problems were found.</a:t>
            </a:r>
          </a:p>
          <a:p>
            <a:r>
              <a:t/>
            </a:r>
          </a:p>
          <a:p>
            <a:r>
              <a:t>Misconception to address</a:t>
            </a:r>
          </a:p>
          <a:p>
            <a:r>
              <a:t>The denominators are not interchangeable. Follow the published convention when a denominator is zero and explain why that case arises.</a:t>
            </a:r>
          </a:p>
          <a:p>
            <a:r>
              <a:t/>
            </a:r>
          </a:p>
          <a:p>
            <a:r>
              <a:t>On this slide</a:t>
            </a:r>
          </a:p>
          <a:p>
            <a:r>
              <a:t>Precision: Of all predicted warnings, the fraction that were actual warnings: TP / (TP + FP).</a:t>
            </a:r>
          </a:p>
          <a:p>
            <a:r>
              <a:t>Recall: Of all actual warnings, the fraction detected: TP / (TP + FN).</a:t>
            </a:r>
          </a:p>
          <a:p>
            <a:r>
              <a:t/>
            </a:r>
          </a:p>
          <a:p>
            <a:r>
              <a:t>Continue to</a:t>
            </a:r>
          </a:p>
          <a:p>
            <a:r>
              <a:t>Precision and recall</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Precision and recall</a:t>
            </a:r>
          </a:p>
          <a:p>
            <a:r>
              <a:t>CML3112, Week 9, slide 12</a:t>
            </a:r>
          </a:p>
          <a:p>
            <a:r>
              <a:t/>
            </a:r>
          </a:p>
          <a:p>
            <a:r>
              <a:t>Explanation to give</a:t>
            </a:r>
          </a:p>
          <a:p>
            <a:r>
              <a:t>Use two different denominators. Precision looks only at issued warnings. Recall looks only at real cases that needed a warning. Say the population in the denominator before calculating.</a:t>
            </a:r>
          </a:p>
          <a:p>
            <a:r>
              <a:t/>
            </a:r>
          </a:p>
          <a:p>
            <a:r>
              <a:t>Worked illustration / lecturer answer</a:t>
            </a:r>
          </a:p>
          <a:p>
            <a:r>
              <a:t>If TP=3, FP=1 and FN=2, precision is 3/(3+1)=0.75 and recall is 3/(3+2)=0.60. One asks whether warnings are reliable; the other asks whether true problems were found.</a:t>
            </a:r>
          </a:p>
          <a:p>
            <a:r>
              <a:t/>
            </a:r>
          </a:p>
          <a:p>
            <a:r>
              <a:t>Misconception to address</a:t>
            </a:r>
          </a:p>
          <a:p>
            <a:r>
              <a:t>The denominators are not interchangeable. Follow the published convention when a denominator is zero and explain why that case arises.</a:t>
            </a:r>
          </a:p>
          <a:p>
            <a:r>
              <a:t/>
            </a:r>
          </a:p>
          <a:p>
            <a:r>
              <a:t>On this slide</a:t>
            </a:r>
          </a:p>
          <a:p>
            <a:r>
              <a:t>Precision asks: of the warnings raised, how many were correct?</a:t>
            </a:r>
          </a:p>
          <a:p>
            <a:r>
              <a:t/>
            </a:r>
          </a:p>
          <a:p>
            <a:r>
              <a:t>Recall asks: of the real warnings, how many did we detect?</a:t>
            </a:r>
          </a:p>
          <a:p>
            <a:r>
              <a:t/>
            </a:r>
          </a:p>
          <a:p>
            <a:r>
              <a:t>A zero denominator needs an explicit rule.</a:t>
            </a:r>
          </a:p>
          <a:p>
            <a:r>
              <a:t/>
            </a:r>
          </a:p>
          <a:p>
            <a:r>
              <a:t>Use the rule in your task brief when implementing the function.</a:t>
            </a:r>
          </a:p>
          <a:p>
            <a:r>
              <a:t/>
            </a:r>
          </a:p>
          <a:p>
            <a:r>
              <a:t>Continue to</a:t>
            </a:r>
          </a:p>
          <a:p>
            <a:r>
              <a:t>Probability and a decision threshold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Probability and a decision threshold</a:t>
            </a:r>
          </a:p>
          <a:p>
            <a:r>
              <a:t>CML3112, Week 9, slide 13</a:t>
            </a:r>
          </a:p>
          <a:p>
            <a:r>
              <a:t/>
            </a:r>
          </a:p>
          <a:p>
            <a:r>
              <a:t>Explanation to give</a:t>
            </a:r>
          </a:p>
          <a:p>
            <a:r>
              <a:t>A probability-like score becomes a class decision only after choosing a threshold. The threshold expresses an operating trade-off; an error-cost rule states which mistakes matter more for this task.</a:t>
            </a:r>
          </a:p>
          <a:p>
            <a:r>
              <a:t/>
            </a:r>
          </a:p>
          <a:p>
            <a:r>
              <a:t>Worked illustration / lecturer answer</a:t>
            </a:r>
          </a:p>
          <a:p>
            <a:r>
              <a:t>At threshold &gt;= 0.6, scores 0.59 and 0.60 give 0 and 1. Lowering the threshold usually raises more warnings, potentially reducing misses while increasing false alarms.</a:t>
            </a:r>
          </a:p>
          <a:p>
            <a:r>
              <a:t/>
            </a:r>
          </a:p>
          <a:p>
            <a:r>
              <a:t>Misconception to address</a:t>
            </a:r>
          </a:p>
          <a:p>
            <a:r>
              <a:t>A score of 0.8 is not a guarantee that this particular prediction is right. Evaluate calibration if probabilities will be interpreted literally. Costs must come from the stated scenario.</a:t>
            </a:r>
          </a:p>
          <a:p>
            <a:r>
              <a:t/>
            </a:r>
          </a:p>
          <a:p>
            <a:r>
              <a:t>On this slide</a:t>
            </a:r>
          </a:p>
          <a:p>
            <a:r>
              <a:t>Probability: A probability is between 0 and 1. Multiply by 100 for percent: 0.7 is 70%. A model’s probability is an estimate that needs checking.</a:t>
            </a:r>
          </a:p>
          <a:p>
            <a:r>
              <a:t>Threshold: A threshold turns a score into a decision. For a rule score &gt;= 0.5, a score of 0.7 gives class 1. Use validation data to choose the threshold.</a:t>
            </a:r>
          </a:p>
          <a:p>
            <a:r>
              <a:t/>
            </a:r>
          </a:p>
          <a:p>
            <a:r>
              <a:t>Continue to</a:t>
            </a:r>
          </a:p>
          <a:p>
            <a:r>
              <a:t>Apply one stated decision threshold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Apply one stated decision threshold</a:t>
            </a:r>
          </a:p>
          <a:p>
            <a:r>
              <a:t>CML3112, Week 9, slide 14</a:t>
            </a:r>
          </a:p>
          <a:p>
            <a:r>
              <a:t/>
            </a:r>
          </a:p>
          <a:p>
            <a:r>
              <a:t>Explanation to give</a:t>
            </a:r>
          </a:p>
          <a:p>
            <a:r>
              <a:t>A probability-like score becomes a class decision only after choosing a threshold. The threshold expresses an operating trade-off; an error-cost rule states which mistakes matter more for this task.</a:t>
            </a:r>
          </a:p>
          <a:p>
            <a:r>
              <a:t/>
            </a:r>
          </a:p>
          <a:p>
            <a:r>
              <a:t>Worked illustration / lecturer answer</a:t>
            </a:r>
          </a:p>
          <a:p>
            <a:r>
              <a:t>At threshold &gt;= 0.6, scores 0.59 and 0.60 give 0 and 1. Lowering the threshold usually raises more warnings, potentially reducing misses while increasing false alarms.</a:t>
            </a:r>
          </a:p>
          <a:p>
            <a:r>
              <a:t/>
            </a:r>
          </a:p>
          <a:p>
            <a:r>
              <a:t>Misconception to address</a:t>
            </a:r>
          </a:p>
          <a:p>
            <a:r>
              <a:t>A score of 0.8 is not a guarantee that this particular prediction is right. Evaluate calibration if probabilities will be interpreted literally. Costs must come from the stated scenario.</a:t>
            </a:r>
          </a:p>
          <a:p>
            <a:r>
              <a:t/>
            </a:r>
          </a:p>
          <a:p>
            <a:r>
              <a:t>On this slide</a:t>
            </a:r>
          </a:p>
          <a:p>
            <a:r>
              <a:t>Estimated positive probability | At least 0.5? | Decision</a:t>
            </a:r>
          </a:p>
          <a:p>
            <a:r>
              <a:t>0.20 | No | Class 0</a:t>
            </a:r>
          </a:p>
          <a:p>
            <a:r>
              <a:t>0.50 | Yes | Class 1</a:t>
            </a:r>
          </a:p>
          <a:p>
            <a:r>
              <a:t>0.80 | Yes | Class 1</a:t>
            </a:r>
          </a:p>
          <a:p>
            <a:r>
              <a:t>0.5 means 50%. This rule includes equality. A probability is an estimate, not a promise that one case is correct.</a:t>
            </a:r>
          </a:p>
          <a:p>
            <a:r>
              <a:t/>
            </a:r>
          </a:p>
          <a:p>
            <a:r>
              <a:t>Reference / existing resource</a:t>
            </a:r>
          </a:p>
          <a:p>
            <a:r>
              <a:t>https://docs.python.org/3/tutorial/introduction.html</a:t>
            </a:r>
          </a:p>
          <a:p>
            <a:r>
              <a:t>https://docs.python.org/3/tutorial/controlflow.html;</a:t>
            </a:r>
          </a:p>
          <a:p>
            <a:r>
              <a:t/>
            </a:r>
          </a:p>
          <a:p>
            <a:r>
              <a:t>Continue to</a:t>
            </a:r>
          </a:p>
          <a:p>
            <a:r>
              <a:t>A category decision can use a probability</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category decision can use a probability</a:t>
            </a:r>
          </a:p>
          <a:p>
            <a:r>
              <a:t>CML3112, Week 9, slide 15</a:t>
            </a:r>
          </a:p>
          <a:p>
            <a:r>
              <a:t/>
            </a:r>
          </a:p>
          <a:p>
            <a:r>
              <a:t>Explanation to give</a:t>
            </a:r>
          </a:p>
          <a:p>
            <a:r>
              <a:t>A probability-like score becomes a class decision only after choosing a threshold. The threshold expresses an operating trade-off; an error-cost rule states which mistakes matter more for this task.</a:t>
            </a:r>
          </a:p>
          <a:p>
            <a:r>
              <a:t/>
            </a:r>
          </a:p>
          <a:p>
            <a:r>
              <a:t>Worked illustration / lecturer answer</a:t>
            </a:r>
          </a:p>
          <a:p>
            <a:r>
              <a:t>At threshold &gt;= 0.6, scores 0.59 and 0.60 give 0 and 1. Lowering the threshold usually raises more warnings, potentially reducing misses while increasing false alarms.</a:t>
            </a:r>
          </a:p>
          <a:p>
            <a:r>
              <a:t/>
            </a:r>
          </a:p>
          <a:p>
            <a:r>
              <a:t>Misconception to address</a:t>
            </a:r>
          </a:p>
          <a:p>
            <a:r>
              <a:t>A score of 0.8 is not a guarantee that this particular prediction is right. Evaluate calibration if probabilities will be interpreted literally. Costs must come from the stated scenario.</a:t>
            </a:r>
          </a:p>
          <a:p>
            <a:r>
              <a:t/>
            </a:r>
          </a:p>
          <a:p>
            <a:r>
              <a:t>On this slide</a:t>
            </a:r>
          </a:p>
          <a:p>
            <a:r>
              <a:t>A classifier may estimate the probability of class 1.</a:t>
            </a:r>
          </a:p>
          <a:p>
            <a:r>
              <a:t/>
            </a:r>
          </a:p>
          <a:p>
            <a:r>
              <a:t>A threshold converts that estimate into warning or no warning.</a:t>
            </a:r>
          </a:p>
          <a:p>
            <a:r>
              <a:t/>
            </a:r>
          </a:p>
          <a:p>
            <a:r>
              <a:t>Logistic regression is a classification model. Its probability estimates still need evaluation.</a:t>
            </a:r>
          </a:p>
          <a:p>
            <a:r>
              <a:t/>
            </a:r>
          </a:p>
          <a:p>
            <a:r>
              <a:t>Continue to</a:t>
            </a:r>
          </a:p>
          <a:p>
            <a:r>
              <a:t>Threshold and cost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Threshold and cost</a:t>
            </a:r>
          </a:p>
          <a:p>
            <a:r>
              <a:t>CML3112, Week 9, slide 16</a:t>
            </a:r>
          </a:p>
          <a:p>
            <a:r>
              <a:t/>
            </a:r>
          </a:p>
          <a:p>
            <a:r>
              <a:t>Explanation to give</a:t>
            </a:r>
          </a:p>
          <a:p>
            <a:r>
              <a:t>A probability-like score becomes a class decision only after choosing a threshold. The threshold expresses an operating trade-off; an error-cost rule states which mistakes matter more for this task.</a:t>
            </a:r>
          </a:p>
          <a:p>
            <a:r>
              <a:t/>
            </a:r>
          </a:p>
          <a:p>
            <a:r>
              <a:t>Worked illustration / lecturer answer</a:t>
            </a:r>
          </a:p>
          <a:p>
            <a:r>
              <a:t>At threshold &gt;= 0.6, scores 0.59 and 0.60 give 0 and 1. Lowering the threshold usually raises more warnings, potentially reducing misses while increasing false alarms.</a:t>
            </a:r>
          </a:p>
          <a:p>
            <a:r>
              <a:t/>
            </a:r>
          </a:p>
          <a:p>
            <a:r>
              <a:t>Misconception to address</a:t>
            </a:r>
          </a:p>
          <a:p>
            <a:r>
              <a:t>A score of 0.8 is not a guarantee that this particular prediction is right. Evaluate calibration if probabilities will be interpreted literally. Costs must come from the stated scenario.</a:t>
            </a:r>
          </a:p>
          <a:p>
            <a:r>
              <a:t/>
            </a:r>
          </a:p>
          <a:p>
            <a:r>
              <a:t>On this slide</a:t>
            </a:r>
          </a:p>
          <a:p>
            <a:r>
              <a:t>Threshold and cost: A threshold converts a score to a decision. A cost rule states how much each type of mistake matters. Lower thresholds usually increase recall; precision need not decrease at every step.</a:t>
            </a:r>
          </a:p>
          <a:p>
            <a:r>
              <a:t/>
            </a:r>
          </a:p>
          <a:p>
            <a:r>
              <a:t>Continue to</a:t>
            </a:r>
          </a:p>
          <a:p>
            <a:r>
              <a:t>State the cost rule before calculating</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State the cost rule before calculating</a:t>
            </a:r>
          </a:p>
          <a:p>
            <a:r>
              <a:t>CML3112, Week 9, slide 17</a:t>
            </a:r>
          </a:p>
          <a:p>
            <a:r>
              <a:t/>
            </a:r>
          </a:p>
          <a:p>
            <a:r>
              <a:t>Explanation to give</a:t>
            </a:r>
          </a:p>
          <a:p>
            <a:r>
              <a:t>A probability-like score becomes a class decision only after choosing a threshold. The threshold expresses an operating trade-off; an error-cost rule states which mistakes matter more for this task.</a:t>
            </a:r>
          </a:p>
          <a:p>
            <a:r>
              <a:t/>
            </a:r>
          </a:p>
          <a:p>
            <a:r>
              <a:t>Worked illustration / lecturer answer</a:t>
            </a:r>
          </a:p>
          <a:p>
            <a:r>
              <a:t>At threshold &gt;= 0.6, scores 0.59 and 0.60 give 0 and 1. Lowering the threshold usually raises more warnings, potentially reducing misses while increasing false alarms.</a:t>
            </a:r>
          </a:p>
          <a:p>
            <a:r>
              <a:t/>
            </a:r>
          </a:p>
          <a:p>
            <a:r>
              <a:t>Misconception to address</a:t>
            </a:r>
          </a:p>
          <a:p>
            <a:r>
              <a:t>A score of 0.8 is not a guarantee that this particular prediction is right. Evaluate calibration if probabilities will be interpreted literally. Costs must come from the stated scenario.</a:t>
            </a:r>
          </a:p>
          <a:p>
            <a:r>
              <a:t/>
            </a:r>
          </a:p>
          <a:p>
            <a:r>
              <a:t>On this slide</a:t>
            </a:r>
          </a:p>
          <a:p>
            <a:r>
              <a:t>A cost rule assigns a penalty to each kind of mistake. In this teaching example, a missed warning costs 5 units and a false alarm costs 1 unit.</a:t>
            </a:r>
          </a:p>
          <a:p>
            <a:r>
              <a:t/>
            </a:r>
          </a:p>
          <a:p>
            <a:r>
              <a:t>Total cost = 5 × FN + FP. One missed warning and one false alarm therefore cost 6 units.</a:t>
            </a:r>
          </a:p>
          <a:p>
            <a:r>
              <a:t/>
            </a:r>
          </a:p>
          <a:p>
            <a:r>
              <a:t>These are invented teaching penalties. Use the published assignment cost rule and explain whose consequences it represents.</a:t>
            </a:r>
          </a:p>
          <a:p>
            <a:r>
              <a:t/>
            </a:r>
          </a:p>
          <a:p>
            <a:r>
              <a:t>Continue to</a:t>
            </a:r>
          </a:p>
          <a:p>
            <a:r>
              <a:t>Counting syntax in the example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Counting syntax in the example</a:t>
            </a:r>
          </a:p>
          <a:p>
            <a:r>
              <a:t>CML3112, Week 9, slide 18</a:t>
            </a:r>
          </a:p>
          <a:p>
            <a:r>
              <a:t/>
            </a:r>
          </a:p>
          <a:p>
            <a:r>
              <a:t>Explanation to give</a:t>
            </a:r>
          </a:p>
          <a:p>
            <a:r>
              <a:t>Work through each actual/predicted pair once and increment exactly one counter. Initialising all four counters to zero makes the later counts auditable.</a:t>
            </a:r>
          </a:p>
          <a:p>
            <a:r>
              <a:t/>
            </a:r>
          </a:p>
          <a:p>
            <a:r>
              <a:t>Worked illustration / lecturer answer</a:t>
            </a:r>
          </a:p>
          <a:p>
            <a:r>
              <a:t>A pair (1,0) adds one to FN. A pair (0,1) adds one to FP. After processing n pairs, TP + TN + FP + FN must equal n.</a:t>
            </a:r>
          </a:p>
          <a:p>
            <a:r>
              <a:t/>
            </a:r>
          </a:p>
          <a:p>
            <a:r>
              <a:t>Misconception to address</a:t>
            </a:r>
          </a:p>
          <a:p>
            <a:r>
              <a:t>If separate overlapping conditions increment two counters for one observation, the total exceeds n. Use mutually exclusive cases and verify the total.</a:t>
            </a:r>
          </a:p>
          <a:p>
            <a:r>
              <a:t/>
            </a:r>
          </a:p>
          <a:p>
            <a:r>
              <a:t>On this slide</a:t>
            </a:r>
          </a:p>
          <a:p>
            <a:r>
              <a:t>Code | Equivalent idea</a:t>
            </a:r>
          </a:p>
          <a:p>
            <a:r>
              <a:t>tp = tn = fp = fn = 0 | Set each of four counts to zero</a:t>
            </a:r>
          </a:p>
          <a:p>
            <a:r>
              <a:t>tp += 1 | tp = tp + 1</a:t>
            </a:r>
          </a:p>
          <a:p>
            <a:r>
              <a:t>zip(actual, predicted) | Pair items in the same positions</a:t>
            </a:r>
          </a:p>
          <a:p>
            <a:r>
              <a:t>elif condition: | Try this branch if earlier ones failed</a:t>
            </a:r>
          </a:p>
          <a:p>
            <a:r>
              <a:t>Our paired lists must have matching lengths. zip alone stops at the shorter list.</a:t>
            </a:r>
          </a:p>
          <a:p>
            <a:r>
              <a:t/>
            </a:r>
          </a:p>
          <a:p>
            <a:r>
              <a:t>Continue to</a:t>
            </a:r>
          </a:p>
          <a:p>
            <a:r>
              <a:t>Classification outcomes in Python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Classification outcomes in Python</a:t>
            </a:r>
          </a:p>
          <a:p>
            <a:r>
              <a:t>CML3112, Week 9, slide 19</a:t>
            </a:r>
          </a:p>
          <a:p>
            <a:r>
              <a:t/>
            </a:r>
          </a:p>
          <a:p>
            <a:r>
              <a:t>Explanation to give</a:t>
            </a:r>
          </a:p>
          <a:p>
            <a:r>
              <a:t>Work through each actual/predicted pair once and increment exactly one counter. Initialising all four counters to zero makes the later counts auditable.</a:t>
            </a:r>
          </a:p>
          <a:p>
            <a:r>
              <a:t/>
            </a:r>
          </a:p>
          <a:p>
            <a:r>
              <a:t>Worked illustration / lecturer answer</a:t>
            </a:r>
          </a:p>
          <a:p>
            <a:r>
              <a:t>A pair (1,0) adds one to FN. A pair (0,1) adds one to FP. After processing n pairs, TP + TN + FP + FN must equal n.</a:t>
            </a:r>
          </a:p>
          <a:p>
            <a:r>
              <a:t/>
            </a:r>
          </a:p>
          <a:p>
            <a:r>
              <a:t>Misconception to address</a:t>
            </a:r>
          </a:p>
          <a:p>
            <a:r>
              <a:t>If separate overlapping conditions increment two counters for one observation, the total exceeds n. Use mutually exclusive cases and verify the total.</a:t>
            </a:r>
          </a:p>
          <a:p>
            <a:r>
              <a:t/>
            </a:r>
          </a:p>
          <a:p>
            <a:r>
              <a:t>Read the displayed code line by line</a:t>
            </a:r>
          </a:p>
          <a:p>
            <a:r>
              <a:t>actual = [1, 1, 0, 0]</a:t>
            </a:r>
          </a:p>
          <a:p>
            <a:r>
              <a:t>Evaluate the complete right-hand expression first, then assign its result to the name or selected field on the left.</a:t>
            </a:r>
          </a:p>
          <a:p>
            <a:r>
              <a:t/>
            </a:r>
          </a:p>
          <a:p>
            <a:r>
              <a:t>predicted = [1, 0, 1, 0]</a:t>
            </a:r>
          </a:p>
          <a:p>
            <a:r>
              <a:t>Evaluate the complete right-hand expression first, then assign its result to the name or selected field on the left.</a:t>
            </a:r>
          </a:p>
          <a:p>
            <a:r>
              <a:t/>
            </a:r>
          </a:p>
          <a:p>
            <a:r>
              <a:t>for truth, guess in zip(actual, predicted):</a:t>
            </a:r>
          </a:p>
          <a:p>
            <a:r>
              <a:t>Take each item or pair in turn, assign the loop name(s), and repeat the indented body.</a:t>
            </a:r>
          </a:p>
          <a:p>
            <a:r>
              <a:t/>
            </a:r>
          </a:p>
          <a:p>
            <a:r>
              <a:t>print(truth, guess)</a:t>
            </a:r>
          </a:p>
          <a:p>
            <a:r>
              <a:t>Evaluate the expression inside the parentheses and display it. Displaying is separate from returning a function result.</a:t>
            </a:r>
          </a:p>
          <a:p>
            <a:r>
              <a:t/>
            </a:r>
          </a:p>
          <a:p>
            <a:r>
              <a:t>tp, fn, fp, tn = 1, 1, 1, 1</a:t>
            </a:r>
          </a:p>
          <a:p>
            <a:r>
              <a:t>Evaluate the complete right-hand expression first, then assign its result to the name or selected field on the left.</a:t>
            </a:r>
          </a:p>
          <a:p>
            <a:r>
              <a:t/>
            </a:r>
          </a:p>
          <a:p>
            <a:r>
              <a:t>print(tp / (tp + fp))</a:t>
            </a:r>
          </a:p>
          <a:p>
            <a:r>
              <a:t>Evaluate the expression inside the parentheses and display it. Displaying is separate from returning a function result.</a:t>
            </a:r>
          </a:p>
          <a:p>
            <a:r>
              <a:t/>
            </a:r>
          </a:p>
          <a:p>
            <a:r>
              <a:t>print(tp / (tp + fn))</a:t>
            </a:r>
          </a:p>
          <a:p>
            <a:r>
              <a:t>Evaluate the expression inside the parentheses and display it. Displaying is separate from returning a function result.</a:t>
            </a:r>
          </a:p>
          <a:p>
            <a:r>
              <a:t/>
            </a:r>
          </a:p>
          <a:p>
            <a:r>
              <a:t>print(5 * fn + fp)</a:t>
            </a:r>
          </a:p>
          <a:p>
            <a:r>
              <a:t>Evaluate the expression inside the parentheses and display it. Displaying is separate from returning a function result.</a:t>
            </a:r>
          </a:p>
          <a:p>
            <a:r>
              <a:t/>
            </a:r>
          </a:p>
          <a:p>
            <a:r>
              <a:t>Result / continuity</a:t>
            </a:r>
          </a:p>
          <a:p>
            <a:r>
              <a:t>Read top to bottom. Run the complete example in the matching practice notebook.</a:t>
            </a:r>
          </a:p>
          <a:p>
            <a:r>
              <a:t/>
            </a:r>
          </a:p>
          <a:p>
            <a:r>
              <a:t>Continue to</a:t>
            </a:r>
          </a:p>
          <a:p>
            <a:r>
              <a:t>Classification outcomes results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Classification outcomes results</a:t>
            </a:r>
          </a:p>
          <a:p>
            <a:r>
              <a:t>CML3112, Week 9, slide 20</a:t>
            </a:r>
          </a:p>
          <a:p>
            <a:r>
              <a:t/>
            </a:r>
          </a:p>
          <a:p>
            <a:r>
              <a:t>Explanation to give</a:t>
            </a:r>
          </a:p>
          <a:p>
            <a:r>
              <a:t>Work through each actual/predicted pair once and increment exactly one counter. Initialising all four counters to zero makes the later counts auditable.</a:t>
            </a:r>
          </a:p>
          <a:p>
            <a:r>
              <a:t/>
            </a:r>
          </a:p>
          <a:p>
            <a:r>
              <a:t>Worked illustration / lecturer answer</a:t>
            </a:r>
          </a:p>
          <a:p>
            <a:r>
              <a:t>A pair (1,0) adds one to FN. A pair (0,1) adds one to FP. After processing n pairs, TP + TN + FP + FN must equal n.</a:t>
            </a:r>
          </a:p>
          <a:p>
            <a:r>
              <a:t/>
            </a:r>
          </a:p>
          <a:p>
            <a:r>
              <a:t>Misconception to address</a:t>
            </a:r>
          </a:p>
          <a:p>
            <a:r>
              <a:t>If separate overlapping conditions increment two counters for one observation, the total exceeds n. Use mutually exclusive cases and verify the total.</a:t>
            </a:r>
          </a:p>
          <a:p>
            <a:r>
              <a:t/>
            </a:r>
          </a:p>
          <a:p>
            <a:r>
              <a:t>On this slide</a:t>
            </a:r>
          </a:p>
          <a:p>
            <a:r>
              <a:t>Four paired rows, then precision 0.5, recall 0.5 and teaching cost 6.</a:t>
            </a:r>
          </a:p>
          <a:p>
            <a:r>
              <a:t/>
            </a:r>
          </a:p>
          <a:p>
            <a:r>
              <a:t>Continue to</a:t>
            </a:r>
          </a:p>
          <a:p>
            <a:r>
              <a:t>Trace the four counters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Trace the four counters</a:t>
            </a:r>
          </a:p>
          <a:p>
            <a:r>
              <a:t>CML3112, Week 9, slide 21</a:t>
            </a:r>
          </a:p>
          <a:p>
            <a:r>
              <a:t/>
            </a:r>
          </a:p>
          <a:p>
            <a:r>
              <a:t>Explanation to give</a:t>
            </a:r>
          </a:p>
          <a:p>
            <a:r>
              <a:t>Work through each actual/predicted pair once and increment exactly one counter. Initialising all four counters to zero makes the later counts auditable.</a:t>
            </a:r>
          </a:p>
          <a:p>
            <a:r>
              <a:t/>
            </a:r>
          </a:p>
          <a:p>
            <a:r>
              <a:t>Worked illustration / lecturer answer</a:t>
            </a:r>
          </a:p>
          <a:p>
            <a:r>
              <a:t>A pair (1,0) adds one to FN. A pair (0,1) adds one to FP. After processing n pairs, TP + TN + FP + FN must equal n.</a:t>
            </a:r>
          </a:p>
          <a:p>
            <a:r>
              <a:t/>
            </a:r>
          </a:p>
          <a:p>
            <a:r>
              <a:t>Misconception to address</a:t>
            </a:r>
          </a:p>
          <a:p>
            <a:r>
              <a:t>If separate overlapping conditions increment two counters for one observation, the total exceeds n. Use mutually exclusive cases and verify the total.</a:t>
            </a:r>
          </a:p>
          <a:p>
            <a:r>
              <a:t/>
            </a:r>
          </a:p>
          <a:p>
            <a:r>
              <a:t>On this slide</a:t>
            </a:r>
          </a:p>
          <a:p>
            <a:r>
              <a:t>Actual, predicted | Chosen counter | Counts: TP TN FP FN</a:t>
            </a:r>
          </a:p>
          <a:p>
            <a:r>
              <a:t>1, 1 | TP increases | 1 0 0 0</a:t>
            </a:r>
          </a:p>
          <a:p>
            <a:r>
              <a:t>1, 0 | FN increases | 1 0 0 1</a:t>
            </a:r>
          </a:p>
          <a:p>
            <a:r>
              <a:t>0, 1 | FP increases | 1 0 1 1</a:t>
            </a:r>
          </a:p>
          <a:p>
            <a:r>
              <a:t>0, 0 | TN increases | 1 1 1 1</a:t>
            </a:r>
          </a:p>
          <a:p>
            <a:r>
              <a:t>All counts start at zero. Each observation follows exactly one if/elif/else branch.</a:t>
            </a:r>
          </a:p>
          <a:p>
            <a:r>
              <a:t/>
            </a:r>
          </a:p>
          <a:p>
            <a:r>
              <a:t>Reference / existing resource</a:t>
            </a:r>
          </a:p>
          <a:p>
            <a:r>
              <a:t>https://docs.python.org/3/tutorial/introduction.html</a:t>
            </a:r>
          </a:p>
          <a:p>
            <a:r>
              <a:t>https://docs.python.org/3/tutorial/controlflow.html;</a:t>
            </a:r>
          </a:p>
          <a:p>
            <a:r>
              <a:t/>
            </a:r>
          </a:p>
          <a:p>
            <a:r>
              <a:t>Continue to</a:t>
            </a:r>
          </a:p>
          <a:p>
            <a:r>
              <a:t>Counting arbitrary paired observations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Counting arbitrary paired observations</a:t>
            </a:r>
          </a:p>
          <a:p>
            <a:r>
              <a:t>CML3112, Week 9, slide 22</a:t>
            </a:r>
          </a:p>
          <a:p>
            <a:r>
              <a:t/>
            </a:r>
          </a:p>
          <a:p>
            <a:r>
              <a:t>Explanation to give</a:t>
            </a:r>
          </a:p>
          <a:p>
            <a:r>
              <a:t>Work through each actual/predicted pair once and increment exactly one counter. Initialising all four counters to zero makes the later counts auditable.</a:t>
            </a:r>
          </a:p>
          <a:p>
            <a:r>
              <a:t/>
            </a:r>
          </a:p>
          <a:p>
            <a:r>
              <a:t>Worked illustration / lecturer answer</a:t>
            </a:r>
          </a:p>
          <a:p>
            <a:r>
              <a:t>A pair (1,0) adds one to FN. A pair (0,1) adds one to FP. After processing n pairs, TP + TN + FP + FN must equal n.</a:t>
            </a:r>
          </a:p>
          <a:p>
            <a:r>
              <a:t/>
            </a:r>
          </a:p>
          <a:p>
            <a:r>
              <a:t>Misconception to address</a:t>
            </a:r>
          </a:p>
          <a:p>
            <a:r>
              <a:t>If separate overlapping conditions increment two counters for one observation, the total exceeds n. Use mutually exclusive cases and verify the total.</a:t>
            </a:r>
          </a:p>
          <a:p>
            <a:r>
              <a:t/>
            </a:r>
          </a:p>
          <a:p>
            <a:r>
              <a:t>On this slide</a:t>
            </a:r>
          </a:p>
          <a:p>
            <a:r>
              <a:t>Start every counter at zero before the loop. == compares labels. and means both comparisons must be true. elif checks another condition only when earlier ones were false.</a:t>
            </a:r>
          </a:p>
          <a:p>
            <a:r>
              <a:t/>
            </a:r>
          </a:p>
          <a:p>
            <a:r>
              <a:t>tp = tn = fp = fn = 0 sets all four counters to zero. tp += 1 is shorthand for tp = tp + 1.</a:t>
            </a:r>
          </a:p>
          <a:p>
            <a:r>
              <a:t/>
            </a:r>
          </a:p>
          <a:p>
            <a:r>
              <a:t>Continue to</a:t>
            </a:r>
          </a:p>
          <a:p>
            <a:r>
              <a:t>Counting arbitrary paired observations in Python (1/3)</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Counting arbitrary paired observations in Python (1/3)</a:t>
            </a:r>
          </a:p>
          <a:p>
            <a:r>
              <a:t>CML3112, Week 9, slide 23</a:t>
            </a:r>
          </a:p>
          <a:p>
            <a:r>
              <a:t/>
            </a:r>
          </a:p>
          <a:p>
            <a:r>
              <a:t>Explanation to give</a:t>
            </a:r>
          </a:p>
          <a:p>
            <a:r>
              <a:t>Work through each actual/predicted pair once and increment exactly one counter. Initialising all four counters to zero makes the later counts auditable.</a:t>
            </a:r>
          </a:p>
          <a:p>
            <a:r>
              <a:t/>
            </a:r>
          </a:p>
          <a:p>
            <a:r>
              <a:t>Worked illustration / lecturer answer</a:t>
            </a:r>
          </a:p>
          <a:p>
            <a:r>
              <a:t>A pair (1,0) adds one to FN. A pair (0,1) adds one to FP. After processing n pairs, TP + TN + FP + FN must equal n.</a:t>
            </a:r>
          </a:p>
          <a:p>
            <a:r>
              <a:t/>
            </a:r>
          </a:p>
          <a:p>
            <a:r>
              <a:t>Misconception to address</a:t>
            </a:r>
          </a:p>
          <a:p>
            <a:r>
              <a:t>If separate overlapping conditions increment two counters for one observation, the total exceeds n. Use mutually exclusive cases and verify the total.</a:t>
            </a:r>
          </a:p>
          <a:p>
            <a:r>
              <a:t/>
            </a:r>
          </a:p>
          <a:p>
            <a:r>
              <a:t>Read the displayed code line by line</a:t>
            </a:r>
          </a:p>
          <a:p>
            <a:r>
              <a:t>tp = tn = fp = fn = 0</a:t>
            </a:r>
          </a:p>
          <a:p>
            <a:r>
              <a:t>Evaluate the complete right-hand expression first, then assign its result to the name or selected field on the left.</a:t>
            </a:r>
          </a:p>
          <a:p>
            <a:r>
              <a:t/>
            </a:r>
          </a:p>
          <a:p>
            <a:r>
              <a:t>Result / continuity</a:t>
            </a:r>
          </a:p>
          <a:p>
            <a:r>
              <a:t>Read top to bottom. Run the complete example in the matching practice notebook.</a:t>
            </a:r>
          </a:p>
          <a:p>
            <a:r>
              <a:t/>
            </a:r>
          </a:p>
          <a:p>
            <a:r>
              <a:t>Continue to</a:t>
            </a:r>
          </a:p>
          <a:p>
            <a:r>
              <a:t>Counting arbitrary paired observations in Python (2/3)</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Counting arbitrary paired observations in Python (2/3)</a:t>
            </a:r>
          </a:p>
          <a:p>
            <a:r>
              <a:t>CML3112, Week 9, slide 24</a:t>
            </a:r>
          </a:p>
          <a:p>
            <a:r>
              <a:t/>
            </a:r>
          </a:p>
          <a:p>
            <a:r>
              <a:t>Explanation to give</a:t>
            </a:r>
          </a:p>
          <a:p>
            <a:r>
              <a:t>Work through each actual/predicted pair once and increment exactly one counter. Initialising all four counters to zero makes the later counts auditable.</a:t>
            </a:r>
          </a:p>
          <a:p>
            <a:r>
              <a:t/>
            </a:r>
          </a:p>
          <a:p>
            <a:r>
              <a:t>Worked illustration / lecturer answer</a:t>
            </a:r>
          </a:p>
          <a:p>
            <a:r>
              <a:t>A pair (1,0) adds one to FN. A pair (0,1) adds one to FP. After processing n pairs, TP + TN + FP + FN must equal n.</a:t>
            </a:r>
          </a:p>
          <a:p>
            <a:r>
              <a:t/>
            </a:r>
          </a:p>
          <a:p>
            <a:r>
              <a:t>Misconception to address</a:t>
            </a:r>
          </a:p>
          <a:p>
            <a:r>
              <a:t>If separate overlapping conditions increment two counters for one observation, the total exceeds n. Use mutually exclusive cases and verify the total.</a:t>
            </a:r>
          </a:p>
          <a:p>
            <a:r>
              <a:t/>
            </a:r>
          </a:p>
          <a:p>
            <a:r>
              <a:t>Read the displayed code line by line</a:t>
            </a:r>
          </a:p>
          <a:p>
            <a:r>
              <a:t>for truth, guess in zip(actual, predicted):</a:t>
            </a:r>
          </a:p>
          <a:p>
            <a:r>
              <a:t>Take each item or pair in turn, assign the loop name(s), and repeat the indented body.</a:t>
            </a:r>
          </a:p>
          <a:p>
            <a:r>
              <a:t/>
            </a:r>
          </a:p>
          <a:p>
            <a:r>
              <a:t>if truth == 1 and guess == 1:</a:t>
            </a:r>
          </a:p>
          <a:p>
            <a:r>
              <a:t>Evaluate this yes/no condition. Execute its indented body only on the matching path.</a:t>
            </a:r>
          </a:p>
          <a:p>
            <a:r>
              <a:t/>
            </a:r>
          </a:p>
          <a:p>
            <a:r>
              <a:t>tp += 1</a:t>
            </a:r>
          </a:p>
          <a:p>
            <a:r>
              <a:t>Add the right-hand amount to the current stored value, then keep the updated value.</a:t>
            </a:r>
          </a:p>
          <a:p>
            <a:r>
              <a:t/>
            </a:r>
          </a:p>
          <a:p>
            <a:r>
              <a:t>elif truth == 0 and guess == 0:</a:t>
            </a:r>
          </a:p>
          <a:p>
            <a:r>
              <a:t>Evaluate this yes/no condition. Execute its indented body only on the matching path.</a:t>
            </a:r>
          </a:p>
          <a:p>
            <a:r>
              <a:t/>
            </a:r>
          </a:p>
          <a:p>
            <a:r>
              <a:t>tn += 1</a:t>
            </a:r>
          </a:p>
          <a:p>
            <a:r>
              <a:t>Add the right-hand amount to the current stored value, then keep the updated value.</a:t>
            </a:r>
          </a:p>
          <a:p>
            <a:r>
              <a:t/>
            </a:r>
          </a:p>
          <a:p>
            <a:r>
              <a:t>elif truth == 0 and guess == 1:</a:t>
            </a:r>
          </a:p>
          <a:p>
            <a:r>
              <a:t>Evaluate this yes/no condition. Execute its indented body only on the matching path.</a:t>
            </a:r>
          </a:p>
          <a:p>
            <a:r>
              <a:t/>
            </a:r>
          </a:p>
          <a:p>
            <a:r>
              <a:t>fp += 1</a:t>
            </a:r>
          </a:p>
          <a:p>
            <a:r>
              <a:t>Add the right-hand amount to the current stored value, then keep the updated value.</a:t>
            </a:r>
          </a:p>
          <a:p>
            <a:r>
              <a:t/>
            </a:r>
          </a:p>
          <a:p>
            <a:r>
              <a:t>else:</a:t>
            </a:r>
          </a:p>
          <a:p>
            <a:r>
              <a:t>Use this remaining path when the matching earlier condition did not succeed.</a:t>
            </a:r>
          </a:p>
          <a:p>
            <a:r>
              <a:t/>
            </a:r>
          </a:p>
          <a:p>
            <a:r>
              <a:t>fn += 1</a:t>
            </a:r>
          </a:p>
          <a:p>
            <a:r>
              <a:t>Add the right-hand amount to the current stored value, then keep the updated value.</a:t>
            </a:r>
          </a:p>
          <a:p>
            <a:r>
              <a:t/>
            </a:r>
          </a:p>
          <a:p>
            <a:r>
              <a:t>Result / continuity</a:t>
            </a:r>
          </a:p>
          <a:p>
            <a:r>
              <a:t>Continue the SAME cell; keep indentation. Run after all parts are entered.</a:t>
            </a:r>
          </a:p>
          <a:p>
            <a:r>
              <a:t/>
            </a:r>
          </a:p>
          <a:p>
            <a:r>
              <a:t>Continue to</a:t>
            </a:r>
          </a:p>
          <a:p>
            <a:r>
              <a:t>Counting arbitrary paired observations in Python (3/3)</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Counting arbitrary paired observations in Python (3/3)</a:t>
            </a:r>
          </a:p>
          <a:p>
            <a:r>
              <a:t>CML3112, Week 9, slide 25</a:t>
            </a:r>
          </a:p>
          <a:p>
            <a:r>
              <a:t/>
            </a:r>
          </a:p>
          <a:p>
            <a:r>
              <a:t>Explanation to give</a:t>
            </a:r>
          </a:p>
          <a:p>
            <a:r>
              <a:t>Work through each actual/predicted pair once and increment exactly one counter. Initialising all four counters to zero makes the later counts auditable.</a:t>
            </a:r>
          </a:p>
          <a:p>
            <a:r>
              <a:t/>
            </a:r>
          </a:p>
          <a:p>
            <a:r>
              <a:t>Worked illustration / lecturer answer</a:t>
            </a:r>
          </a:p>
          <a:p>
            <a:r>
              <a:t>A pair (1,0) adds one to FN. A pair (0,1) adds one to FP. After processing n pairs, TP + TN + FP + FN must equal n.</a:t>
            </a:r>
          </a:p>
          <a:p>
            <a:r>
              <a:t/>
            </a:r>
          </a:p>
          <a:p>
            <a:r>
              <a:t>Misconception to address</a:t>
            </a:r>
          </a:p>
          <a:p>
            <a:r>
              <a:t>If separate overlapping conditions increment two counters for one observation, the total exceeds n. Use mutually exclusive cases and verify the total.</a:t>
            </a:r>
          </a:p>
          <a:p>
            <a:r>
              <a:t/>
            </a:r>
          </a:p>
          <a:p>
            <a:r>
              <a:t>Read the displayed code line by line</a:t>
            </a:r>
          </a:p>
          <a:p>
            <a:r>
              <a:t>print(tp, tn, fp, fn)</a:t>
            </a:r>
          </a:p>
          <a:p>
            <a:r>
              <a:t>Evaluate the expression inside the parentheses and display it. Displaying is separate from returning a function result.</a:t>
            </a:r>
          </a:p>
          <a:p>
            <a:r>
              <a:t/>
            </a:r>
          </a:p>
          <a:p>
            <a:r>
              <a:t>Result / continuity</a:t>
            </a:r>
          </a:p>
          <a:p>
            <a:r>
              <a:t>Continue the SAME cell; keep indentation. Run after all parts are entered.</a:t>
            </a:r>
          </a:p>
          <a:p>
            <a:r>
              <a:t/>
            </a:r>
          </a:p>
          <a:p>
            <a:r>
              <a:t>Continue to</a:t>
            </a:r>
          </a:p>
          <a:p>
            <a:r>
              <a:t>Represent a category with indicators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Represent a category with indicators</a:t>
            </a:r>
          </a:p>
          <a:p>
            <a:r>
              <a:t>CML3112, Week 9, slide 26</a:t>
            </a:r>
          </a:p>
          <a:p>
            <a:r>
              <a:t/>
            </a:r>
          </a:p>
          <a:p>
            <a:r>
              <a:t>Explanation to give</a:t>
            </a:r>
          </a:p>
          <a:p>
            <a:r>
              <a:t>One-hot encoding gives each category its own indicator column. A row has a 1 in the column matching its category and 0 in the others.</a:t>
            </a:r>
          </a:p>
          <a:p>
            <a:r>
              <a:t/>
            </a:r>
          </a:p>
          <a:p>
            <a:r>
              <a:t>Worked illustration / lecturer answer</a:t>
            </a:r>
          </a:p>
          <a:p>
            <a:r>
              <a:t>For categories A and B, an A row becomes [1,0] and a B row becomes [0,1]. Assigning A=1 and B=2 could accidentally suggest a meaningful numerical distance or order.</a:t>
            </a:r>
          </a:p>
          <a:p>
            <a:r>
              <a:t/>
            </a:r>
          </a:p>
          <a:p>
            <a:r>
              <a:t>Misconception to address</a:t>
            </a:r>
          </a:p>
          <a:p>
            <a:r>
              <a:t>Fit the encoder on training data and define how to handle categories not seen during training. Do not invent an ordinal meaning for names.</a:t>
            </a:r>
          </a:p>
          <a:p>
            <a:r>
              <a:t/>
            </a:r>
          </a:p>
          <a:p>
            <a:r>
              <a:t>On this slide</a:t>
            </a:r>
          </a:p>
          <a:p>
            <a:r>
              <a:t>Category: A category is a label such as steel or timber. Its name does not imply a numerical size or rank.</a:t>
            </a:r>
          </a:p>
          <a:p>
            <a:r>
              <a:t>One-hot indicator: Create a column for each category. Its entry is 1 when the row has that category and 0 otherwise. Learn the allowed categories from training data.</a:t>
            </a:r>
          </a:p>
          <a:p>
            <a:r>
              <a:t/>
            </a:r>
          </a:p>
          <a:p>
            <a:r>
              <a:t>Continue to</a:t>
            </a:r>
          </a:p>
          <a:p>
            <a:r>
              <a:t>A category can become indicator columns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category can become indicator columns</a:t>
            </a:r>
          </a:p>
          <a:p>
            <a:r>
              <a:t>CML3112, Week 9, slide 27</a:t>
            </a:r>
          </a:p>
          <a:p>
            <a:r>
              <a:t/>
            </a:r>
          </a:p>
          <a:p>
            <a:r>
              <a:t>Explanation to give</a:t>
            </a:r>
          </a:p>
          <a:p>
            <a:r>
              <a:t>One-hot encoding gives each category its own indicator column. A row has a 1 in the column matching its category and 0 in the others.</a:t>
            </a:r>
          </a:p>
          <a:p>
            <a:r>
              <a:t/>
            </a:r>
          </a:p>
          <a:p>
            <a:r>
              <a:t>Worked illustration / lecturer answer</a:t>
            </a:r>
          </a:p>
          <a:p>
            <a:r>
              <a:t>For categories A and B, an A row becomes [1,0] and a B row becomes [0,1]. Assigning A=1 and B=2 could accidentally suggest a meaningful numerical distance or order.</a:t>
            </a:r>
          </a:p>
          <a:p>
            <a:r>
              <a:t/>
            </a:r>
          </a:p>
          <a:p>
            <a:r>
              <a:t>Misconception to address</a:t>
            </a:r>
          </a:p>
          <a:p>
            <a:r>
              <a:t>Fit the encoder on training data and define how to handle categories not seen during training. Do not invent an ordinal meaning for names.</a:t>
            </a:r>
          </a:p>
          <a:p>
            <a:r>
              <a:t/>
            </a:r>
          </a:p>
          <a:p>
            <a:r>
              <a:t>On this slide</a:t>
            </a:r>
          </a:p>
          <a:p>
            <a:r>
              <a:t>Material | is_steel | is_timber</a:t>
            </a:r>
          </a:p>
          <a:p>
            <a:r>
              <a:t>steel | 1 | 0</a:t>
            </a:r>
          </a:p>
          <a:p>
            <a:r>
              <a:t>timber | 0 | 1</a:t>
            </a:r>
          </a:p>
          <a:p>
            <a:r>
              <a:t>An encoder converts category labels to numeric columns. Fit it on training data. Each indicator is 1 when that category applies, otherwise 0.</a:t>
            </a:r>
          </a:p>
          <a:p>
            <a:r>
              <a:t/>
            </a:r>
          </a:p>
          <a:p>
            <a:r>
              <a:t>Continue to</a:t>
            </a:r>
          </a:p>
          <a:p>
            <a:r>
              <a:t>Accuracy can hide missed warnings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Accuracy can hide missed warnings</a:t>
            </a:r>
          </a:p>
          <a:p>
            <a:r>
              <a:t>CML3112, Week 9, slide 28</a:t>
            </a:r>
          </a:p>
          <a:p>
            <a:r>
              <a:t/>
            </a:r>
          </a:p>
          <a:p>
            <a:r>
              <a:t>Explanation to give</a:t>
            </a:r>
          </a:p>
          <a:p>
            <a:r>
              <a:t>Accuracy counts all correct classifications together. In an imbalanced dataset, correct majority-class answers can dominate the score while the minority class is consistently missed.</a:t>
            </a:r>
          </a:p>
          <a:p>
            <a:r>
              <a:t/>
            </a:r>
          </a:p>
          <a:p>
            <a:r>
              <a:t>Worked illustration / lecturer answer</a:t>
            </a:r>
          </a:p>
          <a:p>
            <a:r>
              <a:t>With 95 normal cases and 5 genuine faults, always predicting normal gives 95% accuracy but detects zero faults. Fault recall is zero.</a:t>
            </a:r>
          </a:p>
          <a:p>
            <a:r>
              <a:t/>
            </a:r>
          </a:p>
          <a:p>
            <a:r>
              <a:t>Misconception to address</a:t>
            </a:r>
          </a:p>
          <a:p>
            <a:r>
              <a:t>A high headline accuracy alone is insufficient for a warning system. Report the confusion counts and the relevant costs.</a:t>
            </a:r>
          </a:p>
          <a:p>
            <a:r>
              <a:t/>
            </a:r>
          </a:p>
          <a:p>
            <a:r>
              <a:t>On this slide</a:t>
            </a:r>
          </a:p>
          <a:p>
            <a:r>
              <a:t>Accuracy = number of correct labels / number of labels. It counts correct warnings and correct non-warnings together.</a:t>
            </a:r>
          </a:p>
          <a:p>
            <a:r>
              <a:t/>
            </a:r>
          </a:p>
          <a:p>
            <a:r>
              <a:t>If 90 of 100 cases need no warning, predicting no warning every time gives 90% accuracy. It detects none of the 10 real warnings: recall is 0.</a:t>
            </a:r>
          </a:p>
          <a:p>
            <a:r>
              <a:t/>
            </a:r>
          </a:p>
          <a:p>
            <a:r>
              <a:t>Always inspect the actual/predicted counts and relevant costs before calling a classifier useful.</a:t>
            </a:r>
          </a:p>
          <a:p>
            <a:r>
              <a:t/>
            </a:r>
          </a:p>
          <a:p>
            <a:r>
              <a:t>Continue to</a:t>
            </a:r>
          </a:p>
          <a:p>
            <a:r>
              <a:t>Revision example and answer</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Revision example and answer</a:t>
            </a:r>
          </a:p>
          <a:p>
            <a:r>
              <a:t>CML3112, Week 9, slide 29</a:t>
            </a:r>
          </a:p>
          <a:p>
            <a:r>
              <a:t/>
            </a:r>
          </a:p>
          <a:p>
            <a:r>
              <a:t>Explanation to give</a:t>
            </a:r>
          </a:p>
          <a:p>
            <a:r>
              <a:t>Use the displayed example as a short individual revision question, then explain the reasoning behind its answer.</a:t>
            </a:r>
          </a:p>
          <a:p>
            <a:r>
              <a:t/>
            </a:r>
          </a:p>
          <a:p>
            <a:r>
              <a:t>Worked illustration / lecturer answer</a:t>
            </a:r>
          </a:p>
          <a:p>
            <a:r>
              <a:t>Example: Change the second prediction to 1. Count again. Does this improve both recall and the assumed cost?</a:t>
            </a:r>
          </a:p>
          <a:p>
            <a:r>
              <a:t/>
            </a:r>
          </a:p>
          <a:p>
            <a:r>
              <a:t>Answer: TP=2, FN=0, FP=1, TN=1. Precision 2/3, recall 1, cost 1. This particular change improves recall and cost.</a:t>
            </a:r>
          </a:p>
          <a:p>
            <a:r>
              <a:t/>
            </a:r>
          </a:p>
          <a:p>
            <a:r>
              <a:t>Misconception to address</a:t>
            </a:r>
          </a:p>
          <a:p>
            <a:r>
              <a:t>Trace the operation that changes the value rather than accepting a memorised output. For notebook-state examples, specify which cell is repeated and whether the initialisation ran again.</a:t>
            </a:r>
          </a:p>
          <a:p>
            <a:r>
              <a:t/>
            </a:r>
          </a:p>
          <a:p>
            <a:r>
              <a:t>Continue to</a:t>
            </a:r>
          </a:p>
          <a:p>
            <a:r>
              <a:t>Preparing for the assignment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Preparing for the assignment</a:t>
            </a:r>
          </a:p>
          <a:p>
            <a:r>
              <a:t>CML3112, Week 9, slide 30</a:t>
            </a:r>
          </a:p>
          <a:p>
            <a:r>
              <a:t/>
            </a:r>
          </a:p>
          <a:p>
            <a:r>
              <a:t>Explanation to give</a:t>
            </a:r>
          </a:p>
          <a:p>
            <a:r>
              <a:t>Read the metric with its unit and evaluation population. Explain why that error measure matches the cost of a wrong decision in the stated engineering setting.</a:t>
            </a:r>
          </a:p>
          <a:p>
            <a:r>
              <a:t/>
            </a:r>
          </a:p>
          <a:p>
            <a:r>
              <a:t>Worked illustration / lecturer answer</a:t>
            </a:r>
          </a:p>
          <a:p>
            <a:r>
              <a:t>MAE 3 kW describes an average absolute error on named observations; it does not guarantee every prediction lies within 3 kW. Report baseline comparison and the evaluation protocol.</a:t>
            </a:r>
          </a:p>
          <a:p>
            <a:r>
              <a:t/>
            </a:r>
          </a:p>
          <a:p>
            <a:r>
              <a:t>Misconception to address</a:t>
            </a:r>
          </a:p>
          <a:p>
            <a:r>
              <a:t>Avoid a deployment claim based only on a score. State genuine limitations involving data coverage, measurement quality or future operating conditions.</a:t>
            </a:r>
          </a:p>
          <a:p>
            <a:r>
              <a:t/>
            </a:r>
          </a:p>
          <a:p>
            <a:r>
              <a:t>On this slide</a:t>
            </a:r>
          </a:p>
          <a:p>
            <a:r>
              <a:t>Implement classification_metrics on arbitrary paired binary labels, not only the example.</a:t>
            </a:r>
          </a:p>
          <a:p>
            <a:r>
              <a:t/>
            </a:r>
          </a:p>
          <a:p>
            <a:r>
              <a:t>Use the published zero-denominator convention.</a:t>
            </a:r>
          </a:p>
          <a:p>
            <a:r>
              <a:t/>
            </a:r>
          </a:p>
          <a:p>
            <a:r>
              <a:t>Read the supplied W09 comparison separately.</a:t>
            </a:r>
          </a:p>
          <a:p>
            <a:r>
              <a:t/>
            </a:r>
          </a:p>
          <a:p>
            <a:r>
              <a:t>Teacher-written cost assumptions are not approved operating limits.</a:t>
            </a:r>
          </a:p>
          <a:p>
            <a:r>
              <a:t/>
            </a:r>
          </a:p>
          <a:p>
            <a:r>
              <a:t>Continue to</a:t>
            </a:r>
          </a:p>
          <a:p>
            <a:r>
              <a:t>Preparing for the assignment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Preparing for the assignment continued</a:t>
            </a:r>
          </a:p>
          <a:p>
            <a:r>
              <a:t>CML3112, Week 9, slide 31</a:t>
            </a:r>
          </a:p>
          <a:p>
            <a:r>
              <a:t/>
            </a:r>
          </a:p>
          <a:p>
            <a:r>
              <a:t>Explanation to give</a:t>
            </a:r>
          </a:p>
          <a:p>
            <a:r>
              <a:t>The warning labels and costs belong to this teaching scenario. Name what positive means before discussing benefit or harm.</a:t>
            </a:r>
          </a:p>
          <a:p>
            <a:r>
              <a:t/>
            </a:r>
          </a:p>
          <a:p>
            <a:r>
              <a:t>Worked illustration / lecturer answer</a:t>
            </a:r>
          </a:p>
          <a:p>
            <a:r>
              <a:t>Compute the confusion counts from aligned actual/predicted labels, then apply the published cost weights. A false alarm and a missed warning can have different costs.</a:t>
            </a:r>
          </a:p>
          <a:p>
            <a:r>
              <a:t/>
            </a:r>
          </a:p>
          <a:p>
            <a:r>
              <a:t>Misconception to address</a:t>
            </a:r>
          </a:p>
          <a:p>
            <a:r>
              <a:t>These illustrative costs are not approved operational thresholds. Claimed benefits need evaluation on relevant real observations before use in engineering decisions.</a:t>
            </a:r>
          </a:p>
          <a:p>
            <a:r>
              <a:t/>
            </a:r>
          </a:p>
          <a:p>
            <a:r>
              <a:t>On this slide</a:t>
            </a:r>
          </a:p>
          <a:p>
            <a:r>
              <a:t>All claimed benefits require real-world evaluation.</a:t>
            </a:r>
          </a:p>
          <a:p>
            <a:r>
              <a:t/>
            </a:r>
          </a:p>
          <a:p>
            <a:r>
              <a:t>Continue to</a:t>
            </a:r>
          </a:p>
          <a:p>
            <a:r>
              <a:t>Category predictions and operating thresholds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Category predictions and operating thresholds</a:t>
            </a:r>
          </a:p>
          <a:p>
            <a:r>
              <a:t>CML3112, Week 9, slide 32</a:t>
            </a:r>
          </a:p>
          <a:p>
            <a:r>
              <a:t/>
            </a:r>
          </a:p>
          <a:p>
            <a:r>
              <a:t>Explanation to give</a:t>
            </a:r>
          </a:p>
          <a:p>
            <a:r>
              <a:t>A probability-like score becomes a class decision only after choosing a threshold. The threshold expresses an operating trade-off; an error-cost rule states which mistakes matter more for this task.</a:t>
            </a:r>
          </a:p>
          <a:p>
            <a:r>
              <a:t/>
            </a:r>
          </a:p>
          <a:p>
            <a:r>
              <a:t>Worked illustration / lecturer answer</a:t>
            </a:r>
          </a:p>
          <a:p>
            <a:r>
              <a:t>At threshold &gt;= 0.6, scores 0.59 and 0.60 give 0 and 1. Lowering the threshold usually raises more warnings, potentially reducing misses while increasing false alarms.</a:t>
            </a:r>
          </a:p>
          <a:p>
            <a:r>
              <a:t/>
            </a:r>
          </a:p>
          <a:p>
            <a:r>
              <a:t>Misconception to address</a:t>
            </a:r>
          </a:p>
          <a:p>
            <a:r>
              <a:t>A score of 0.8 is not a guarantee that this particular prediction is right. Evaluate calibration if probabilities will be interpreted literally. Costs must come from the stated scenario.</a:t>
            </a:r>
          </a:p>
          <a:p>
            <a:r>
              <a:t/>
            </a:r>
          </a:p>
          <a:p>
            <a:r>
              <a:t>On this slide</a:t>
            </a:r>
          </a:p>
          <a:p>
            <a:r>
              <a:t>A majority-only classifier can achieve high accuracy while missing the rare class.</a:t>
            </a:r>
          </a:p>
          <a:p>
            <a:r>
              <a:t/>
            </a:r>
          </a:p>
          <a:p>
            <a:r>
              <a:t>Name the positive class and both confusion-matrix axes.</a:t>
            </a:r>
          </a:p>
          <a:p>
            <a:r>
              <a:t/>
            </a:r>
          </a:p>
          <a:p>
            <a:r>
              <a:t>A model expecting numeric features cannot directly use raw category strings; use numeric indicator columns for categories.</a:t>
            </a:r>
          </a:p>
          <a:p>
            <a:r>
              <a:t/>
            </a:r>
          </a:p>
          <a:p>
            <a:r>
              <a:t>Compare threshold choices on validation data.</a:t>
            </a:r>
          </a:p>
          <a:p>
            <a:r>
              <a:t/>
            </a:r>
          </a:p>
          <a:p>
            <a:r>
              <a:t>Continue to</a:t>
            </a:r>
          </a:p>
          <a:p>
            <a:r>
              <a:t>Category predictions and operating thresholds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Category predictions and operating thresholds continued</a:t>
            </a:r>
          </a:p>
          <a:p>
            <a:r>
              <a:t>CML3112, Week 9, slide 33</a:t>
            </a:r>
          </a:p>
          <a:p>
            <a:r>
              <a:t/>
            </a:r>
          </a:p>
          <a:p>
            <a:r>
              <a:t>Explanation to give</a:t>
            </a:r>
          </a:p>
          <a:p>
            <a:r>
              <a:t>A probability-like score becomes a class decision only after choosing a threshold. The threshold expresses an operating trade-off; an error-cost rule states which mistakes matter more for this task.</a:t>
            </a:r>
          </a:p>
          <a:p>
            <a:r>
              <a:t/>
            </a:r>
          </a:p>
          <a:p>
            <a:r>
              <a:t>Worked illustration / lecturer answer</a:t>
            </a:r>
          </a:p>
          <a:p>
            <a:r>
              <a:t>At threshold &gt;= 0.6, scores 0.59 and 0.60 give 0 and 1. Lowering the threshold usually raises more warnings, potentially reducing misses while increasing false alarms.</a:t>
            </a:r>
          </a:p>
          <a:p>
            <a:r>
              <a:t/>
            </a:r>
          </a:p>
          <a:p>
            <a:r>
              <a:t>Misconception to address</a:t>
            </a:r>
          </a:p>
          <a:p>
            <a:r>
              <a:t>A score of 0.8 is not a guarantee that this particular prediction is right. Evaluate calibration if probabilities will be interpreted literally. Costs must come from the stated scenario.</a:t>
            </a:r>
          </a:p>
          <a:p>
            <a:r>
              <a:t/>
            </a:r>
          </a:p>
          <a:p>
            <a:r>
              <a:t>On this slide</a:t>
            </a:r>
          </a:p>
          <a:p>
            <a:r>
              <a:t>Reducing the threshold adds flagged cases and cannot reduce recall on fixed scored observations, but precision can move either way.</a:t>
            </a:r>
          </a:p>
          <a:p>
            <a:r>
              <a:t/>
            </a:r>
          </a:p>
          <a:p>
            <a:r>
              <a:t>Continue to</a:t>
            </a:r>
          </a:p>
          <a:p>
            <a:r>
              <a:t>Your issued task</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Your issued task</a:t>
            </a:r>
          </a:p>
          <a:p>
            <a:r>
              <a:t>CML3112, Week 9, slide 34</a:t>
            </a:r>
          </a:p>
          <a:p>
            <a:r>
              <a:t/>
            </a:r>
          </a:p>
          <a:p>
            <a:r>
              <a:t>Explanation to give</a:t>
            </a:r>
          </a:p>
          <a:p>
            <a:r>
              <a:t>The warning labels and costs belong to this teaching scenario. Name what positive means before discussing benefit or harm.</a:t>
            </a:r>
          </a:p>
          <a:p>
            <a:r>
              <a:t/>
            </a:r>
          </a:p>
          <a:p>
            <a:r>
              <a:t>Worked illustration / lecturer answer</a:t>
            </a:r>
          </a:p>
          <a:p>
            <a:r>
              <a:t>Compute the confusion counts from aligned actual/predicted labels, then apply the published cost weights. A false alarm and a missed warning can have different costs.</a:t>
            </a:r>
          </a:p>
          <a:p>
            <a:r>
              <a:t/>
            </a:r>
          </a:p>
          <a:p>
            <a:r>
              <a:t>Misconception to address</a:t>
            </a:r>
          </a:p>
          <a:p>
            <a:r>
              <a:t>These illustrative costs are not approved operational thresholds. Claimed benefits need evaluation on relevant real observations before use in engineering decisions.</a:t>
            </a:r>
          </a:p>
          <a:p>
            <a:r>
              <a:t/>
            </a:r>
          </a:p>
          <a:p>
            <a:r>
              <a:t>On this slide</a:t>
            </a:r>
          </a:p>
          <a:p>
            <a:r>
              <a:t>Use classification_case.csv.</a:t>
            </a:r>
          </a:p>
          <a:p>
            <a:r>
              <a:t/>
            </a:r>
          </a:p>
          <a:p>
            <a:r>
              <a:t>Positive means a synthetic warning condition.</a:t>
            </a:r>
          </a:p>
          <a:p>
            <a:r>
              <a:t/>
            </a:r>
          </a:p>
          <a:p>
            <a:r>
              <a:t>Compute the confusion matrix, precision, recall and cost.</a:t>
            </a:r>
          </a:p>
          <a:p>
            <a:r>
              <a:t/>
            </a:r>
          </a:p>
          <a:p>
            <a:r>
              <a:t>Explain the 5:1 missed-warning/false-alarm cost assumption and why accuracy alone is insufficient.</a:t>
            </a:r>
          </a:p>
          <a:p>
            <a:r>
              <a:t/>
            </a:r>
          </a:p>
          <a:p>
            <a:r>
              <a:t>Continue to</a:t>
            </a:r>
          </a:p>
          <a:p>
            <a:r>
              <a:t>Your issued task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Your issued task continued</a:t>
            </a:r>
          </a:p>
          <a:p>
            <a:r>
              <a:t>CML3112, Week 9, slide 35</a:t>
            </a:r>
          </a:p>
          <a:p>
            <a:r>
              <a:t/>
            </a:r>
          </a:p>
          <a:p>
            <a:r>
              <a:t>Explanation to give</a:t>
            </a:r>
          </a:p>
          <a:p>
            <a:r>
              <a:t>The warning labels and costs belong to this teaching scenario. Name what positive means before discussing benefit or harm.</a:t>
            </a:r>
          </a:p>
          <a:p>
            <a:r>
              <a:t/>
            </a:r>
          </a:p>
          <a:p>
            <a:r>
              <a:t>Worked illustration / lecturer answer</a:t>
            </a:r>
          </a:p>
          <a:p>
            <a:r>
              <a:t>Compute the confusion counts from aligned actual/predicted labels, then apply the published cost weights. A false alarm and a missed warning can have different costs.</a:t>
            </a:r>
          </a:p>
          <a:p>
            <a:r>
              <a:t/>
            </a:r>
          </a:p>
          <a:p>
            <a:r>
              <a:t>Misconception to address</a:t>
            </a:r>
          </a:p>
          <a:p>
            <a:r>
              <a:t>These illustrative costs are not approved operational thresholds. Claimed benefits need evaluation on relevant real observations before use in engineering decisions.</a:t>
            </a:r>
          </a:p>
          <a:p>
            <a:r>
              <a:t/>
            </a:r>
          </a:p>
          <a:p>
            <a:r>
              <a:t>On this slide</a:t>
            </a:r>
          </a:p>
          <a:p>
            <a:r>
              <a:t>These costs are teaching assumptions, not approved operating limits.</a:t>
            </a:r>
          </a:p>
          <a:p>
            <a:r>
              <a:t/>
            </a:r>
          </a:p>
          <a:p>
            <a:r>
              <a:t>Continue to</a:t>
            </a:r>
          </a:p>
          <a:p>
            <a:r>
              <a:t>classification_metrics(actual, predicted)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classification_metrics(actual, predicted)</a:t>
            </a:r>
          </a:p>
          <a:p>
            <a:r>
              <a:t>CML3112, Week 9, slide 36</a:t>
            </a:r>
          </a:p>
          <a:p>
            <a:r>
              <a:t/>
            </a:r>
          </a:p>
          <a:p>
            <a:r>
              <a:t>Explanation to give</a:t>
            </a:r>
          </a:p>
          <a:p>
            <a:r>
              <a:t>Count the four mutually exclusive actual/predicted cases, then calculate the specified fractions and cost from those counts.</a:t>
            </a:r>
          </a:p>
          <a:p>
            <a:r>
              <a:t/>
            </a:r>
          </a:p>
          <a:p>
            <a:r>
              <a:t>Worked illustration / lecturer answer</a:t>
            </a:r>
          </a:p>
          <a:p>
            <a:r>
              <a:t>Verify TP+TN+FP+FN equals the number of paired observations. Read the cost weights and zero-denominator convention from the issued brief.</a:t>
            </a:r>
          </a:p>
          <a:p>
            <a:r>
              <a:t/>
            </a:r>
          </a:p>
          <a:p>
            <a:r>
              <a:t>Misconception to address</a:t>
            </a:r>
          </a:p>
          <a:p>
            <a:r>
              <a:t>Keep the exact output names and required types. Use the task text for the learner’s own assessed answer; the alternate example explains the method without replacing their work.</a:t>
            </a:r>
          </a:p>
          <a:p>
            <a:r>
              <a:t/>
            </a:r>
          </a:p>
          <a:p>
            <a:r>
              <a:t>On this slide</a:t>
            </a:r>
          </a:p>
          <a:p>
            <a:r>
              <a:t>For binary labels return tp, tn, fp, fn, precision, recall and cost=5*fn+fp; use zero for an undefined precision/recall denominator.</a:t>
            </a:r>
          </a:p>
          <a:p>
            <a:r>
              <a:t/>
            </a:r>
          </a:p>
          <a:p>
            <a:r>
              <a:t>Continue to</a:t>
            </a:r>
          </a:p>
          <a:p>
            <a:r>
              <a:t>Written evidence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Written evidence</a:t>
            </a:r>
          </a:p>
          <a:p>
            <a:r>
              <a:t>CML3112, Week 9, slide 37</a:t>
            </a:r>
          </a:p>
          <a:p>
            <a:r>
              <a:t/>
            </a:r>
          </a:p>
          <a:p>
            <a:r>
              <a:t>Explanation to give</a:t>
            </a:r>
          </a:p>
          <a:p>
            <a:r>
              <a:t>Show the actual markdown answer cell headed My written evidence. This is where the learner explains the choices and the supplied scenario in their own words.</a:t>
            </a:r>
          </a:p>
          <a:p>
            <a:r>
              <a:t/>
            </a:r>
          </a:p>
          <a:p>
            <a:r>
              <a:t>Worked illustration / lecturer answer</a:t>
            </a:r>
          </a:p>
          <a:p>
            <a:r>
              <a:t>A useful explanation connects a decision to a named result and its limitation: for example, why a training-only median avoids using evaluation information. Describe supplied scenario figures as supplied, not as measurements the learner produced.</a:t>
            </a:r>
          </a:p>
          <a:p>
            <a:r>
              <a:t/>
            </a:r>
          </a:p>
          <a:p>
            <a:r>
              <a:t>Misconception to address</a:t>
            </a:r>
          </a:p>
          <a:p>
            <a:r>
              <a:t>Prompts and copied code comments do not substitute for the learner’s reasoning. Weekly work and tests use the notebook; projects also require their separate readable report.</a:t>
            </a:r>
          </a:p>
          <a:p>
            <a:r>
              <a:t/>
            </a:r>
          </a:p>
          <a:p>
            <a:r>
              <a:t>On this slide</a:t>
            </a:r>
          </a:p>
          <a:p>
            <a:r>
              <a:t>Use the cell headed “My written evidence”.</a:t>
            </a:r>
          </a:p>
          <a:p>
            <a:r>
              <a:t/>
            </a:r>
          </a:p>
          <a:p>
            <a:r>
              <a:t>Explain the supplied scenario in your own words.</a:t>
            </a:r>
          </a:p>
          <a:p>
            <a:r>
              <a:t/>
            </a:r>
          </a:p>
          <a:p>
            <a:r>
              <a:t>State target units, reasons and limitations.</a:t>
            </a:r>
          </a:p>
          <a:p>
            <a:r>
              <a:t/>
            </a:r>
          </a:p>
          <a:p>
            <a:r>
              <a:t>Submit one complete notebook containing code and written evidence.</a:t>
            </a:r>
          </a:p>
          <a:p>
            <a:r>
              <a:t/>
            </a:r>
          </a:p>
          <a:p>
            <a:r>
              <a:t>Continue to</a:t>
            </a:r>
          </a:p>
          <a:p>
            <a:r>
              <a:t>Classification and cost submission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Classification and cost submission</a:t>
            </a:r>
          </a:p>
          <a:p>
            <a:r>
              <a:t>CML3112, Week 9, slide 38</a:t>
            </a:r>
          </a:p>
          <a:p>
            <a:r>
              <a:t/>
            </a:r>
          </a:p>
          <a:p>
            <a:r>
              <a:t>Explanation to give</a:t>
            </a:r>
          </a:p>
          <a:p>
            <a:r>
              <a:t>This slide hands over CML3112 W09. Show the exact form title before uploading. The required packet is one completed .ipynb notebook.</a:t>
            </a:r>
          </a:p>
          <a:p>
            <a:r>
              <a:t/>
            </a:r>
          </a:p>
          <a:p>
            <a:r>
              <a:t>Worked illustration / lecturer answer</a:t>
            </a:r>
          </a:p>
          <a:p>
            <a:r>
              <a:t>The recorded cutoff for this form is 2026-11-10T11:00:00+03:00. Check the live form for later changes. A replacement must contain the complete required file set, not just the changed file.</a:t>
            </a:r>
          </a:p>
          <a:p>
            <a:r>
              <a:t/>
            </a:r>
          </a:p>
          <a:p>
            <a:r>
              <a:t>Misconception to address</a:t>
            </a:r>
          </a:p>
          <a:p>
            <a:r>
              <a:t>Students enter their own Student Registration Number as required freeform text. They wait for filenames to appear, press Submit and keep the confirmation. A file saved in Drive or GitHub is not itself a form submission.</a:t>
            </a:r>
          </a:p>
          <a:p>
            <a:r>
              <a:t/>
            </a:r>
          </a:p>
          <a:p>
            <a:r>
              <a:t>On this slide</a:t>
            </a:r>
          </a:p>
          <a:p>
            <a:r>
              <a:t>Opens: 03 Nov 2026, 11:00 Kampala</a:t>
            </a:r>
          </a:p>
          <a:p>
            <a:r>
              <a:t/>
            </a:r>
          </a:p>
          <a:p>
            <a:r>
              <a:t>Deadline: 10 Nov 2026, 11:00 Kampala</a:t>
            </a:r>
          </a:p>
          <a:p>
            <a:r>
              <a:t/>
            </a:r>
          </a:p>
          <a:p>
            <a:r>
              <a:t>Use your full Student Registration Number in the form.</a:t>
            </a:r>
          </a:p>
          <a:p>
            <a:r>
              <a:t/>
            </a:r>
          </a:p>
          <a:p>
            <a:r>
              <a:t>Keep the submitted files and confirmation.</a:t>
            </a:r>
          </a:p>
          <a:p>
            <a:r>
              <a:t/>
            </a:r>
          </a:p>
          <a:p>
            <a:r>
              <a:t>Continue to</a:t>
            </a:r>
          </a:p>
          <a:p>
            <a:r>
              <a:t>Week 9 quiz</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Week 9 quiz</a:t>
            </a:r>
          </a:p>
          <a:p>
            <a:r>
              <a:t>CML3112, Week 9, slide 39</a:t>
            </a:r>
          </a:p>
          <a:p>
            <a:r>
              <a:t/>
            </a:r>
          </a:p>
          <a:p>
            <a:r>
              <a:t>Explanation to give</a:t>
            </a:r>
          </a:p>
          <a:p>
            <a:r>
              <a:t>This is the CML3112 Week 9 quiz. The student link opens the response form; it does not activate its window. In Quiz Controls use open_W9_CML3112 when ready and read the logged closing time.</a:t>
            </a:r>
          </a:p>
          <a:p>
            <a:r>
              <a:t/>
            </a:r>
          </a:p>
          <a:p>
            <a:r>
              <a:t>Worked illustration / lecturer answer</a:t>
            </a:r>
          </a:p>
          <a:p>
            <a:r>
              <a:t>Explain the distinction between the expected answering time and availability: five minutes of questions can still be available for 24 hours after activation. Enter the learner’s own Student Registration Number and use the registered Google account.</a:t>
            </a:r>
          </a:p>
          <a:p>
            <a:r>
              <a:t/>
            </a:r>
          </a:p>
          <a:p>
            <a:r>
              <a:t>Misconception to address</a:t>
            </a:r>
          </a:p>
          <a:p>
            <a:r>
              <a:t>Read the exact live cutoff before announcing it. Do not promise a new attempt to somebody who already submitted. Quiz catch-up and assignment uploads are separate forms.</a:t>
            </a:r>
          </a:p>
          <a:p>
            <a:r>
              <a:t/>
            </a:r>
          </a:p>
          <a:p>
            <a:r>
              <a:t>On this slide</a:t>
            </a:r>
          </a:p>
          <a:p>
            <a:r>
              <a:t>Answer individually after the lecturer activates the quiz.</a:t>
            </a:r>
          </a:p>
          <a:p>
            <a:r>
              <a:t/>
            </a:r>
          </a:p>
          <a:p>
            <a:r>
              <a:t>Available for 24 hours from activation.</a:t>
            </a:r>
          </a:p>
          <a:p>
            <a:r>
              <a:t/>
            </a:r>
          </a:p>
          <a:p>
            <a:r>
              <a:t>Use your Student Registration Number and registered account.</a:t>
            </a:r>
          </a:p>
          <a:p>
            <a:r>
              <a:t/>
            </a:r>
          </a:p>
          <a:p>
            <a:r>
              <a:t>Check the announced quiz closing time.</a:t>
            </a:r>
          </a:p>
          <a:p>
            <a:r>
              <a:t/>
            </a:r>
          </a:p>
          <a:p>
            <a:r>
              <a:t>Continue to</a:t>
            </a:r>
          </a:p>
          <a:p>
            <a:r>
              <a:t>Revision and submission checklist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Revision and submission checklist</a:t>
            </a:r>
          </a:p>
          <a:p>
            <a:r>
              <a:t>CML3112, Week 9, slide 40</a:t>
            </a:r>
          </a:p>
          <a:p>
            <a:r>
              <a:t/>
            </a:r>
          </a:p>
          <a:p>
            <a:r>
              <a:t>Explanation to give</a:t>
            </a:r>
          </a:p>
          <a:p>
            <a:r>
              <a:t>Move from a numerical prediction to a category decision. Name the positive class before counting correct warnings, false alarms and missed warnings.</a:t>
            </a:r>
          </a:p>
          <a:p>
            <a:r>
              <a:t/>
            </a:r>
          </a:p>
          <a:p>
            <a:r>
              <a:t>Worked illustration / lecturer answer</a:t>
            </a:r>
          </a:p>
          <a:p>
            <a:r>
              <a:t>Actual 1 with predicted 0 is a false negative. If 1 means warning, this is a missed warning, not merely a wrong number.</a:t>
            </a:r>
          </a:p>
          <a:p>
            <a:r>
              <a:t/>
            </a:r>
          </a:p>
          <a:p>
            <a:r>
              <a:t>Misconception to address</a:t>
            </a:r>
          </a:p>
          <a:p>
            <a:r>
              <a:t>Close by identifying the actual saved file and its correct submission route. Read the live deadline. For current weekly notebook tasks, students upload their own work, not the practice notebook, ZIP or grading files.</a:t>
            </a:r>
          </a:p>
          <a:p>
            <a:r>
              <a:t/>
            </a:r>
          </a:p>
          <a:p>
            <a:r>
              <a:t>On this slide</a:t>
            </a:r>
          </a:p>
          <a:p>
            <a:r>
              <a:t>You can identify a false negative and explain precision and recall with counts.</a:t>
            </a:r>
          </a:p>
          <a:p>
            <a:r>
              <a:t/>
            </a:r>
          </a:p>
          <a:p>
            <a:r>
              <a:t>Save your work and check the required submission files.</a:t>
            </a:r>
          </a:p>
          <a:p>
            <a:r>
              <a:t/>
            </a:r>
          </a:p>
          <a:p>
            <a:r>
              <a:t>Continue to</a:t>
            </a:r>
          </a:p>
          <a:p>
            <a:r>
              <a:t>Optional revision video</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Optional revision video</a:t>
            </a:r>
          </a:p>
          <a:p>
            <a:r>
              <a:t>CML3112, Week 9, slide 41</a:t>
            </a:r>
          </a:p>
          <a:p>
            <a:r>
              <a:t/>
            </a:r>
          </a:p>
          <a:p>
            <a:r>
              <a:t>Explanation to give</a:t>
            </a:r>
          </a:p>
          <a:p>
            <a:r>
              <a:t>Give the viewing question before playing the excerpt: Which observations are correctly or incorrectly classified?</a:t>
            </a:r>
          </a:p>
          <a:p>
            <a:r>
              <a:t/>
            </a:r>
          </a:p>
          <a:p>
            <a:r>
              <a:t>Worked illustration / lecturer answer</a:t>
            </a:r>
          </a:p>
          <a:p>
            <a:r>
              <a:t>Use the adjacent worked example as the explanation if the video cannot load. Pause after the relevant example and connect its terms to the names and units already used in this lesson. Preview the displayed link and excerpt before class.</a:t>
            </a:r>
          </a:p>
          <a:p>
            <a:r>
              <a:t/>
            </a:r>
          </a:p>
          <a:p>
            <a:r>
              <a:t>Misconception to address</a:t>
            </a:r>
          </a:p>
          <a:p>
            <a:r>
              <a:t>The video is supporting revision, not a replacement for defining the symbols or a requirement to watch a full tutorial during limited class time.</a:t>
            </a:r>
          </a:p>
          <a:p>
            <a:r>
              <a:t/>
            </a:r>
          </a:p>
          <a:p>
            <a:r>
              <a:t>On this slide</a:t>
            </a:r>
          </a:p>
          <a:p>
            <a:r>
              <a:t>For revision after class.</a:t>
            </a:r>
          </a:p>
          <a:p>
            <a:r>
              <a:t/>
            </a:r>
          </a:p>
          <a:p>
            <a:r>
              <a:t>StatQuest with Josh Starmer</a:t>
            </a:r>
          </a:p>
          <a:p>
            <a:r>
              <a:t>Machine Learning Fundamentals The Confusion Matrix</a:t>
            </a:r>
          </a:p>
          <a:p>
            <a:r>
              <a:t/>
            </a:r>
          </a:p>
          <a:p>
            <a:r>
              <a:t>Opening up to 04:00, optional preview-selected excerpt</a:t>
            </a:r>
          </a:p>
          <a:p>
            <a:r>
              <a:t/>
            </a:r>
          </a:p>
          <a:p>
            <a:r>
              <a:t>Listening question: Which observations are correctly or incorrectly classified?</a:t>
            </a:r>
          </a:p>
          <a:p>
            <a:r>
              <a:t/>
            </a:r>
          </a:p>
          <a:p>
            <a:r>
              <a:t>Reference / existing resource</a:t>
            </a:r>
          </a:p>
          <a:p>
            <a:r>
              <a:t>https://www.youtube.com/watch?v=Kdsp6soqA7o</a:t>
            </a:r>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3d6a19be5d24769"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017d6d64ae6e458c"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c16b8767caed4908"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e75064de2c824e1d"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181a4f0ea2364cf9"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a3c74dd8eccf431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531F1DEF-956B-4A14-9B2D-1556DAC19DFF}"/>
              </a:ext>
            </a:extLst>
          </p:cNvPr>
          <p:cNvSpPr>
            <a:spLocks xmlns:a="http://schemas.openxmlformats.org/drawingml/2006/main" noGrp="1"/>
          </p:cNvSpPr>
          <p:nvPr/>
        </p:nvSpPr>
        <p:spPr>
          <a:xfrm xmlns:a="http://schemas.openxmlformats.org/drawingml/2006/main">
            <a:off x="5791055" y="22098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9A67A67C-F011-4645-A744-21F528D1DF65}"/>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7852042C-4745-41F2-A903-B97F53689728}"/>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D03AD89E-4A62-4CC5-9045-F31A78ECE6B8}"/>
              </a:ext>
            </a:extLst>
          </p:cNvPr>
          <p:cNvSpPr>
            <a:spLocks xmlns:a="http://schemas.openxmlformats.org/drawingml/2006/main" noGrp="1"/>
          </p:cNvSpPr>
          <p:nvPr/>
        </p:nvSpPr>
        <p:spPr>
          <a:xfrm xmlns:a="http://schemas.openxmlformats.org/drawingml/2006/main">
            <a:off x="5791055" y="24765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C85321A6-521F-4999-8275-D1B4B0B86C82}"/>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99223585-3F02-4335-A97F-5FA75EFFF8EF}"/>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8EBE6A35-B530-4AA9-BE0B-5B32AC988A22}"/>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B14AA3F6-ADB6-4031-95EC-1C584CEC0559}"/>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8EAC2B15-0470-4A15-9160-19F7445B8A65}"/>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162C9645-26FD-43D7-A58F-3B912ABA1CA2}"/>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932F890F-5C20-405F-B866-1C9DDD5AC678}"/>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43F5F7D4-D1C3-4831-9EC3-9A12D093C307}"/>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216F978B-8B5E-4AB1-B2A0-2538427BA524}"/>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FC157E8A-2FE5-41A1-B4F1-98E6B3474333}"/>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299F5567-55A1-457D-9820-E8D5FB350909}"/>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2fdde4a94f54a11" /><Relationship Type="http://schemas.openxmlformats.org/officeDocument/2006/relationships/slideLayout" Target="/ppt/slideLayouts/slideLayout1.xml" Id="R4d298ff41fe448a2" /><Relationship Type="http://schemas.openxmlformats.org/officeDocument/2006/relationships/slideLayout" Target="/ppt/slideLayouts/slideLayout2.xml" Id="R1239b4fa6fb14755" /><Relationship Type="http://schemas.openxmlformats.org/officeDocument/2006/relationships/slideLayout" Target="/ppt/slideLayouts/slideLayout3.xml" Id="Rba7ffc9e1ff14786" /><Relationship Type="http://schemas.openxmlformats.org/officeDocument/2006/relationships/slideLayout" Target="/ppt/slideLayouts/slideLayout4.xml" Id="R66d82fe981004f80" /><Relationship Type="http://schemas.openxmlformats.org/officeDocument/2006/relationships/slideLayout" Target="/ppt/slideLayouts/slideLayout5.xml" Id="R53fcd68a3e9a4e99" /><Relationship Type="http://schemas.openxmlformats.org/officeDocument/2006/relationships/slideLayout" Target="/ppt/slideLayouts/slideLayout6.xml" Id="Rcdcdd1c80470469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d298ff41fe448a2"/>
    <p:sldLayoutId xmlns:r="http://schemas.openxmlformats.org/officeDocument/2006/relationships" id="2147483650" r:id="R1239b4fa6fb14755"/>
    <p:sldLayoutId xmlns:r="http://schemas.openxmlformats.org/officeDocument/2006/relationships" id="2147483651" r:id="Rba7ffc9e1ff14786"/>
    <p:sldLayoutId xmlns:r="http://schemas.openxmlformats.org/officeDocument/2006/relationships" id="2147483652" r:id="R66d82fe981004f80"/>
    <p:sldLayoutId xmlns:r="http://schemas.openxmlformats.org/officeDocument/2006/relationships" id="2147483653" r:id="R53fcd68a3e9a4e99"/>
    <p:sldLayoutId xmlns:r="http://schemas.openxmlformats.org/officeDocument/2006/relationships" id="2147483654" r:id="Rcdcdd1c80470469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4038b564bf6440c0" /><Relationship Type="http://schemas.openxmlformats.org/officeDocument/2006/relationships/image" Target="/ppt/media/image.png" Id="R7c4bcbe417644e02" /><Relationship Type="http://schemas.openxmlformats.org/officeDocument/2006/relationships/notesSlide" Target="/ppt/notesSlides/notesSlide1.xml" Id="R12e0779bac014dba"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352f18f8593e4498" /><Relationship Type="http://schemas.openxmlformats.org/officeDocument/2006/relationships/notesSlide" Target="/ppt/notesSlides/notesSlide2.xml" Id="R9b9b4849467b47ea"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2b255fc3fa4141c1" /><Relationship Type="http://schemas.openxmlformats.org/officeDocument/2006/relationships/notesSlide" Target="/ppt/notesSlides/notesSlide3.xml" Id="R50f95d0e30774506"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4fbde7b0c1a249ce" /><Relationship Type="http://schemas.openxmlformats.org/officeDocument/2006/relationships/notesSlide" Target="/ppt/notesSlides/notesSlide4.xml" Id="Rf31296d18db14e5d"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3a8e6a2287e046d5" /><Relationship Type="http://schemas.openxmlformats.org/officeDocument/2006/relationships/notesSlide" Target="/ppt/notesSlides/notesSlide5.xml" Id="Red6cdf07ed474c9f"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18ff01d4d5f445c8" /><Relationship Type="http://schemas.openxmlformats.org/officeDocument/2006/relationships/notesSlide" Target="/ppt/notesSlides/notesSlide6.xml" Id="R02d79efc92d2402d"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f7564895e5324c39" /><Relationship Type="http://schemas.openxmlformats.org/officeDocument/2006/relationships/notesSlide" Target="/ppt/notesSlides/notesSlide7.xml" Id="R99c2cb809b724710"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4e9e262048ea441c" /><Relationship Type="http://schemas.openxmlformats.org/officeDocument/2006/relationships/notesSlide" Target="/ppt/notesSlides/notesSlide8.xml" Id="R3fe603f84cab45ba"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d56c97518a034d8f" /><Relationship Type="http://schemas.openxmlformats.org/officeDocument/2006/relationships/image" Target="/ppt/media/image2.png" Id="R65990d4fb7564c2d" /><Relationship Type="http://schemas.openxmlformats.org/officeDocument/2006/relationships/notesSlide" Target="/ppt/notesSlides/notesSlide9.xml" Id="R815518e71bbf4f9f"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10dc1042826440a7" /><Relationship Type="http://schemas.openxmlformats.org/officeDocument/2006/relationships/notesSlide" Target="/ppt/notesSlides/notesSlide10.xml" Id="Rf622151129b945a4"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163a6022aaa24e73" /><Relationship Type="http://schemas.openxmlformats.org/officeDocument/2006/relationships/notesSlide" Target="/ppt/notesSlides/notesSlide11.xml" Id="Rf8f6b11857124815"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923d009144b84ba3" /><Relationship Type="http://schemas.openxmlformats.org/officeDocument/2006/relationships/notesSlide" Target="/ppt/notesSlides/notesSlide12.xml" Id="Rd5b69dcfd1ac47b6"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9e6fb5c1c7fe4629" /><Relationship Type="http://schemas.openxmlformats.org/officeDocument/2006/relationships/notesSlide" Target="/ppt/notesSlides/notesSlide13.xml" Id="Rf4d2af8d29554fd1"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5a444950cdd346eb" /><Relationship Type="http://schemas.openxmlformats.org/officeDocument/2006/relationships/notesSlide" Target="/ppt/notesSlides/notesSlide14.xml" Id="R21d8b52e938244b0"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4021626d5e134ea5" /><Relationship Type="http://schemas.openxmlformats.org/officeDocument/2006/relationships/notesSlide" Target="/ppt/notesSlides/notesSlide15.xml" Id="R967a13fed658468c"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a2156007b52849af" /><Relationship Type="http://schemas.openxmlformats.org/officeDocument/2006/relationships/notesSlide" Target="/ppt/notesSlides/notesSlide16.xml" Id="R68416219384940a2"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f9d8eca54ba34ee3" /><Relationship Type="http://schemas.openxmlformats.org/officeDocument/2006/relationships/notesSlide" Target="/ppt/notesSlides/notesSlide17.xml" Id="Rc21329066c184a75"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453d0257de05423d" /><Relationship Type="http://schemas.openxmlformats.org/officeDocument/2006/relationships/notesSlide" Target="/ppt/notesSlides/notesSlide18.xml" Id="R4f86c8d331b34521"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78f2ea31fdaa48f1" /><Relationship Type="http://schemas.openxmlformats.org/officeDocument/2006/relationships/notesSlide" Target="/ppt/notesSlides/notesSlide19.xml" Id="Re646e1692dbe4153"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6ae103eee8d94daa" /><Relationship Type="http://schemas.openxmlformats.org/officeDocument/2006/relationships/notesSlide" Target="/ppt/notesSlides/notesSlide20.xml" Id="Rd588305ecceb48ef"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070555c3f8744aae" /><Relationship Type="http://schemas.openxmlformats.org/officeDocument/2006/relationships/notesSlide" Target="/ppt/notesSlides/notesSlide21.xml" Id="Rec4ddf7572d2454e"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d92cdaa4bba54986" /><Relationship Type="http://schemas.openxmlformats.org/officeDocument/2006/relationships/notesSlide" Target="/ppt/notesSlides/notesSlide22.xml" Id="Rb04e35606c494c9b"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a65d6983e66a424f" /><Relationship Type="http://schemas.openxmlformats.org/officeDocument/2006/relationships/notesSlide" Target="/ppt/notesSlides/notesSlide23.xml" Id="R93eda89e236543e2"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03e9daa8d49f40f9" /><Relationship Type="http://schemas.openxmlformats.org/officeDocument/2006/relationships/notesSlide" Target="/ppt/notesSlides/notesSlide24.xml" Id="R8c4691bb17cc4188"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4d0c3985684b463d" /><Relationship Type="http://schemas.openxmlformats.org/officeDocument/2006/relationships/notesSlide" Target="/ppt/notesSlides/notesSlide25.xml" Id="R10d98cf44e674a3b"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c0d1cc34e8db4c9f" /><Relationship Type="http://schemas.openxmlformats.org/officeDocument/2006/relationships/notesSlide" Target="/ppt/notesSlides/notesSlide26.xml" Id="Re8ee218438ca470e"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08cf363e698e43a7" /><Relationship Type="http://schemas.openxmlformats.org/officeDocument/2006/relationships/notesSlide" Target="/ppt/notesSlides/notesSlide27.xml" Id="R12761b69720e48b7"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27466ddf3fe54976" /><Relationship Type="http://schemas.openxmlformats.org/officeDocument/2006/relationships/notesSlide" Target="/ppt/notesSlides/notesSlide28.xml" Id="R50a2b6043ed54282"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b187e118df1446cd" /><Relationship Type="http://schemas.openxmlformats.org/officeDocument/2006/relationships/notesSlide" Target="/ppt/notesSlides/notesSlide29.xml" Id="Rfdde31632d1d4c4a"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d0fd217401ee405b" /><Relationship Type="http://schemas.openxmlformats.org/officeDocument/2006/relationships/notesSlide" Target="/ppt/notesSlides/notesSlide30.xml" Id="R9056c3b4b48249c4"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df6186f2753f4b1a" /><Relationship Type="http://schemas.openxmlformats.org/officeDocument/2006/relationships/notesSlide" Target="/ppt/notesSlides/notesSlide31.xml" Id="R93972e6ec79f4863"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54e0f1fe9dbb4fa7" /><Relationship Type="http://schemas.openxmlformats.org/officeDocument/2006/relationships/notesSlide" Target="/ppt/notesSlides/notesSlide32.xml" Id="Rd846752e94824fe6"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fd2446119f1d492d" /><Relationship Type="http://schemas.openxmlformats.org/officeDocument/2006/relationships/notesSlide" Target="/ppt/notesSlides/notesSlide33.xml" Id="R78ec23116a4045f9"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ead78fb6643e44a3" /><Relationship Type="http://schemas.openxmlformats.org/officeDocument/2006/relationships/notesSlide" Target="/ppt/notesSlides/notesSlide34.xml" Id="Red6332441eea497e"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131235d766d14ad0" /><Relationship Type="http://schemas.openxmlformats.org/officeDocument/2006/relationships/notesSlide" Target="/ppt/notesSlides/notesSlide35.xml" Id="Rb71edf9124bd4c54"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b766bd7194b04209" /><Relationship Type="http://schemas.openxmlformats.org/officeDocument/2006/relationships/notesSlide" Target="/ppt/notesSlides/notesSlide36.xml" Id="R93ea859462a44e6c"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60f50532ae2c4e84" /><Relationship Type="http://schemas.openxmlformats.org/officeDocument/2006/relationships/notesSlide" Target="/ppt/notesSlides/notesSlide37.xml" Id="Re0ea151d7ee3405b"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187cb7c5ad52483c" /><Relationship Type="http://schemas.openxmlformats.org/officeDocument/2006/relationships/hyperlink" Target="https://docs.google.com/forms/d/e/1FAIpQLSfTe7OkZ7tZEVzG-mup0-8liXg1jKy_KmsDWZiPK9EWMJ9InA/viewform" TargetMode="External" Id="R1b7ac90e4a7745c5" /><Relationship Type="http://schemas.openxmlformats.org/officeDocument/2006/relationships/notesSlide" Target="/ppt/notesSlides/notesSlide38.xml" Id="R59429dc354024e2f"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06de8d05a55846a6" /><Relationship Type="http://schemas.openxmlformats.org/officeDocument/2006/relationships/image" Target="/ppt/media/image3.png" Id="Rdcdf9a0e9f8b4e25" /><Relationship Type="http://schemas.openxmlformats.org/officeDocument/2006/relationships/hyperlink" Target="https://forms.gle/6XBHNCQXESUyQ6G86" TargetMode="External" Id="R1b28c079aeb7429a" /><Relationship Type="http://schemas.openxmlformats.org/officeDocument/2006/relationships/notesSlide" Target="/ppt/notesSlides/notesSlide39.xml" Id="Ref75583c66034d79"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43066e710a3b4ae5" /><Relationship Type="http://schemas.openxmlformats.org/officeDocument/2006/relationships/notesSlide" Target="/ppt/notesSlides/notesSlide40.xml" Id="Reebb88b17fa646dd"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f8383062aec04ffa" /><Relationship Type="http://schemas.openxmlformats.org/officeDocument/2006/relationships/hyperlink" Target="https://www.youtube.com/watch?v=Kdsp6soqA7o" TargetMode="External" Id="R0afa2c7cbc964bf1" /><Relationship Type="http://schemas.openxmlformats.org/officeDocument/2006/relationships/notesSlide" Target="/ppt/notesSlides/notesSlide41.xml" Id="Rfbc347cdc9d74b54"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7c4bcbe417644e02"/>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5FA8730C-4035-45B0-A3BF-CBF1AC1A8133}"/>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5043F22-CA49-4B4B-9FA9-51656DB6FE94}"/>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CML3112   WEEK 9</a:t>
            </a:r>
          </a:p>
        </p:txBody>
      </p:sp>
      <p:sp>
        <p:nvSpPr>
          <p:cNvPr id="4" name="">
            <a:extLst xmlns:a="http://schemas.openxmlformats.org/drawingml/2006/main">
              <a:ext uri="{FF2B5EF4-FFF2-40B4-BE49-F238E27FC236}">
                <a16:creationId xmlns:a16="http://schemas.microsoft.com/office/drawing/2014/main" id="{BAA8C9B7-99A6-4990-94AD-CCC4FA391DFF}"/>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Classification and the cost of mistakes</a:t>
            </a:r>
          </a:p>
        </p:txBody>
      </p:sp>
      <p:sp>
        <p:nvSpPr>
          <p:cNvPr id="5" name="">
            <a:extLst xmlns:a="http://schemas.openxmlformats.org/drawingml/2006/main">
              <a:ext uri="{FF2B5EF4-FFF2-40B4-BE49-F238E27FC236}">
                <a16:creationId xmlns:a16="http://schemas.microsoft.com/office/drawing/2014/main" id="{5B05832B-0DF6-4C1D-8EE7-96742EC5D5B2}"/>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Civil Engineering and Architecture</a:t>
            </a:r>
          </a:p>
        </p:txBody>
      </p:sp>
      <p:sp>
        <p:nvSpPr>
          <p:cNvPr id="6" name="">
            <a:extLst xmlns:a="http://schemas.openxmlformats.org/drawingml/2006/main">
              <a:ext uri="{FF2B5EF4-FFF2-40B4-BE49-F238E27FC236}">
                <a16:creationId xmlns:a16="http://schemas.microsoft.com/office/drawing/2014/main" id="{7E437FD6-52D1-4049-82A0-F99AC6E94997}"/>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03 November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11:00–14:00, Room 106</a:t>
            </a:r>
          </a:p>
        </p:txBody>
      </p:sp>
    </p:spTree>
    <p:extLst>
      <p:ext uri="{BB962C8B-B14F-4D97-AF65-F5344CB8AC3E}">
        <p14:creationId xmlns:p14="http://schemas.microsoft.com/office/powerpoint/2010/main" val="168787190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913A6AD4-3E2B-4093-B92B-1F2D835D883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0552176-A65F-408E-993A-159B4EB7C4B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E481B33D-13C3-44CB-B261-EBEE6AF969B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3430ACB4-4047-4B8C-965A-CF3DEC7E8DDE}"/>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4C4F31A-B10F-4364-A60E-7FBB5B157885}"/>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CB7234B0-2FCF-4745-B79D-C278CAF231A7}"/>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Distinguish an actual label from a predicted label.</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Count prediction outcomes and explain their costs.</a:t>
            </a:r>
          </a:p>
        </p:txBody>
      </p:sp>
      <p:sp>
        <p:nvSpPr>
          <p:cNvPr id="7" name="">
            <a:extLst xmlns:a="http://schemas.openxmlformats.org/drawingml/2006/main">
              <a:ext uri="{FF2B5EF4-FFF2-40B4-BE49-F238E27FC236}">
                <a16:creationId xmlns:a16="http://schemas.microsoft.com/office/drawing/2014/main" id="{30EAD6DC-31EC-4747-8360-92FB061EBF4D}"/>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91A1D589-953D-4782-A613-42D179D369B2}"/>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identify a false negative and explain precision and recall with counts.</a:t>
            </a:r>
          </a:p>
        </p:txBody>
      </p:sp>
      <p:sp>
        <p:nvSpPr>
          <p:cNvPr id="9" name="">
            <a:extLst xmlns:a="http://schemas.openxmlformats.org/drawingml/2006/main">
              <a:ext uri="{FF2B5EF4-FFF2-40B4-BE49-F238E27FC236}">
                <a16:creationId xmlns:a16="http://schemas.microsoft.com/office/drawing/2014/main" id="{0E1B8889-B784-4182-B695-C042A77DBD9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2</a:t>
            </a:r>
          </a:p>
        </p:txBody>
      </p:sp>
    </p:spTree>
    <p:extLst>
      <p:ext uri="{BB962C8B-B14F-4D97-AF65-F5344CB8AC3E}">
        <p14:creationId xmlns:p14="http://schemas.microsoft.com/office/powerpoint/2010/main" val="601551628"/>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BC36887-9411-418E-B0EC-9F7F2FCFD53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42BC6AE-C001-4607-8106-3B595A9B42D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2E04E92-E4E9-4B47-80CF-3C047CCC0D0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319A5105-7E83-408C-8853-3B2718B2BB8D}"/>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7A31E7B-7542-4FA4-85F9-0B0E033856F0}"/>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Week 8 predicted a number.</a:t>
            </a:r>
          </a:p>
        </p:txBody>
      </p:sp>
      <p:sp>
        <p:nvSpPr>
          <p:cNvPr id="6" name="">
            <a:extLst xmlns:a="http://schemas.openxmlformats.org/drawingml/2006/main">
              <a:ext uri="{FF2B5EF4-FFF2-40B4-BE49-F238E27FC236}">
                <a16:creationId xmlns:a16="http://schemas.microsoft.com/office/drawing/2014/main" id="{93D8537E-80F9-4A7A-A66F-252775BAACB5}"/>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week predicts a category and counts the different kinds of correct and incorrect result.</a:t>
            </a:r>
          </a:p>
        </p:txBody>
      </p:sp>
      <p:sp>
        <p:nvSpPr>
          <p:cNvPr id="7" name="">
            <a:extLst xmlns:a="http://schemas.openxmlformats.org/drawingml/2006/main">
              <a:ext uri="{FF2B5EF4-FFF2-40B4-BE49-F238E27FC236}">
                <a16:creationId xmlns:a16="http://schemas.microsoft.com/office/drawing/2014/main" id="{648852C0-0E49-48D4-8BFD-B9AA80BB9A4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3</a:t>
            </a:r>
          </a:p>
        </p:txBody>
      </p:sp>
    </p:spTree>
    <p:extLst>
      <p:ext uri="{BB962C8B-B14F-4D97-AF65-F5344CB8AC3E}">
        <p14:creationId xmlns:p14="http://schemas.microsoft.com/office/powerpoint/2010/main" val="23447436"/>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30AD694-EBBA-4A68-BB06-1C44EF7CED1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7C5A716-A369-43B1-B7BC-EB820CFA886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AB08D25-4A00-46FE-B312-67E85F2A366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Why this week’s tools are needed</a:t>
            </a:r>
          </a:p>
        </p:txBody>
      </p:sp>
      <p:sp>
        <p:nvSpPr>
          <p:cNvPr id="4" name="">
            <a:extLst xmlns:a="http://schemas.openxmlformats.org/drawingml/2006/main">
              <a:ext uri="{FF2B5EF4-FFF2-40B4-BE49-F238E27FC236}">
                <a16:creationId xmlns:a16="http://schemas.microsoft.com/office/drawing/2014/main" id="{2F7FBEB9-3279-4285-940B-5F8204B8A73D}"/>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E736982-7F9F-4D75-8A59-520467DF1F22}"/>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warning system predicts a category.</a:t>
            </a:r>
          </a:p>
        </p:txBody>
      </p:sp>
      <p:sp>
        <p:nvSpPr>
          <p:cNvPr id="6" name="">
            <a:extLst xmlns:a="http://schemas.openxmlformats.org/drawingml/2006/main">
              <a:ext uri="{FF2B5EF4-FFF2-40B4-BE49-F238E27FC236}">
                <a16:creationId xmlns:a16="http://schemas.microsoft.com/office/drawing/2014/main" id="{80ED22C0-7BE0-402A-B676-346E5119AB45}"/>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 compare each prediction with its recorded answer, then count false alarms and missed warnings using an explicit cost rule.</a:t>
            </a:r>
          </a:p>
        </p:txBody>
      </p:sp>
      <p:sp>
        <p:nvSpPr>
          <p:cNvPr id="7" name="">
            <a:extLst xmlns:a="http://schemas.openxmlformats.org/drawingml/2006/main">
              <a:ext uri="{FF2B5EF4-FFF2-40B4-BE49-F238E27FC236}">
                <a16:creationId xmlns:a16="http://schemas.microsoft.com/office/drawing/2014/main" id="{F71D391E-CDF4-4110-A67E-004AB809113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4</a:t>
            </a:r>
          </a:p>
        </p:txBody>
      </p:sp>
    </p:spTree>
    <p:extLst>
      <p:ext uri="{BB962C8B-B14F-4D97-AF65-F5344CB8AC3E}">
        <p14:creationId xmlns:p14="http://schemas.microsoft.com/office/powerpoint/2010/main" val="913318953"/>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8E45D8F-0D67-4C12-95A5-4AF59715B7B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60443E9-998A-4CFE-85C8-86E847777B9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D91BC0E-BD29-44CC-B311-6551A6F6017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positive class</a:t>
            </a:r>
          </a:p>
        </p:txBody>
      </p:sp>
      <p:sp>
        <p:nvSpPr>
          <p:cNvPr id="4" name="">
            <a:extLst xmlns:a="http://schemas.openxmlformats.org/drawingml/2006/main">
              <a:ext uri="{FF2B5EF4-FFF2-40B4-BE49-F238E27FC236}">
                <a16:creationId xmlns:a16="http://schemas.microsoft.com/office/drawing/2014/main" id="{0106F0B6-3476-4EDD-8BB8-FB1A076F2EF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4690457-2AE8-467F-A0FE-DAB4EC196FC9}"/>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this example, 1 means a warning is needed.</a:t>
            </a:r>
          </a:p>
        </p:txBody>
      </p:sp>
      <p:sp>
        <p:nvSpPr>
          <p:cNvPr id="6" name="">
            <a:extLst xmlns:a="http://schemas.openxmlformats.org/drawingml/2006/main">
              <a:ext uri="{FF2B5EF4-FFF2-40B4-BE49-F238E27FC236}">
                <a16:creationId xmlns:a16="http://schemas.microsoft.com/office/drawing/2014/main" id="{6FC3998A-86F5-4A86-B154-416C6B7BABB1}"/>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4526964-368A-4F53-8DD2-D6469D9C517C}"/>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0 means a warning is not needed.</a:t>
            </a:r>
          </a:p>
        </p:txBody>
      </p:sp>
      <p:sp>
        <p:nvSpPr>
          <p:cNvPr id="8" name="">
            <a:extLst xmlns:a="http://schemas.openxmlformats.org/drawingml/2006/main">
              <a:ext uri="{FF2B5EF4-FFF2-40B4-BE49-F238E27FC236}">
                <a16:creationId xmlns:a16="http://schemas.microsoft.com/office/drawing/2014/main" id="{C4DCC9EC-12C0-4377-B70C-A346FED23FF9}"/>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5F8318E-A96E-487F-AA14-68A013A0550F}"/>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Actual is the reference label. Predicted is the model’s label.</a:t>
            </a:r>
          </a:p>
        </p:txBody>
      </p:sp>
      <p:sp>
        <p:nvSpPr>
          <p:cNvPr id="10" name="">
            <a:extLst xmlns:a="http://schemas.openxmlformats.org/drawingml/2006/main">
              <a:ext uri="{FF2B5EF4-FFF2-40B4-BE49-F238E27FC236}">
                <a16:creationId xmlns:a16="http://schemas.microsoft.com/office/drawing/2014/main" id="{7F7F4972-2A73-4F90-9E59-99555CD3177A}"/>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EF355CA-4E65-4375-8073-175D134C381B}"/>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false negative misses a real warning.</a:t>
            </a:r>
          </a:p>
        </p:txBody>
      </p:sp>
      <p:sp>
        <p:nvSpPr>
          <p:cNvPr id="12" name="">
            <a:extLst xmlns:a="http://schemas.openxmlformats.org/drawingml/2006/main">
              <a:ext uri="{FF2B5EF4-FFF2-40B4-BE49-F238E27FC236}">
                <a16:creationId xmlns:a16="http://schemas.microsoft.com/office/drawing/2014/main" id="{7A66E329-9A94-4436-A276-32126E9C8C9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5</a:t>
            </a:r>
          </a:p>
        </p:txBody>
      </p:sp>
    </p:spTree>
    <p:extLst>
      <p:ext uri="{BB962C8B-B14F-4D97-AF65-F5344CB8AC3E}">
        <p14:creationId xmlns:p14="http://schemas.microsoft.com/office/powerpoint/2010/main" val="242705266"/>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E631EA9-DF19-4880-82F6-0EA37985E2C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8A44B40-ED8E-4CDD-85DE-DE301818E41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A998BD8C-4F92-4C56-845B-E10618A3AB3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Class and positive label / TP and TN</a:t>
            </a:r>
          </a:p>
        </p:txBody>
      </p:sp>
      <p:sp>
        <p:nvSpPr>
          <p:cNvPr id="4" name="">
            <a:extLst xmlns:a="http://schemas.openxmlformats.org/drawingml/2006/main">
              <a:ext uri="{FF2B5EF4-FFF2-40B4-BE49-F238E27FC236}">
                <a16:creationId xmlns:a16="http://schemas.microsoft.com/office/drawing/2014/main" id="{53DEC4EA-2917-4239-A533-4F60153525B1}"/>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9711C11-078A-4B16-B03B-C6200EE62C87}"/>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Class and positive label</a:t>
            </a:r>
          </a:p>
        </p:txBody>
      </p:sp>
      <p:sp>
        <p:nvSpPr>
          <p:cNvPr id="6" name="">
            <a:extLst xmlns:a="http://schemas.openxmlformats.org/drawingml/2006/main">
              <a:ext uri="{FF2B5EF4-FFF2-40B4-BE49-F238E27FC236}">
                <a16:creationId xmlns:a16="http://schemas.microsoft.com/office/drawing/2014/main" id="{A8B8A364-FCFD-4F8D-ADD5-40AC6837194E}"/>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class is a category. Here 1 means warning and 0 means no warning. Positive means the named class, not good news.</a:t>
            </a:r>
          </a:p>
        </p:txBody>
      </p:sp>
      <p:sp>
        <p:nvSpPr>
          <p:cNvPr id="7" name="">
            <a:extLst xmlns:a="http://schemas.openxmlformats.org/drawingml/2006/main">
              <a:ext uri="{FF2B5EF4-FFF2-40B4-BE49-F238E27FC236}">
                <a16:creationId xmlns:a16="http://schemas.microsoft.com/office/drawing/2014/main" id="{3C7029FD-C887-44C4-8844-0E4ED99E5690}"/>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AEEE18FB-D597-4D11-83BD-C825A0B6B659}"/>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TP and TN</a:t>
            </a:r>
          </a:p>
        </p:txBody>
      </p:sp>
      <p:sp>
        <p:nvSpPr>
          <p:cNvPr id="9" name="">
            <a:extLst xmlns:a="http://schemas.openxmlformats.org/drawingml/2006/main">
              <a:ext uri="{FF2B5EF4-FFF2-40B4-BE49-F238E27FC236}">
                <a16:creationId xmlns:a16="http://schemas.microsoft.com/office/drawing/2014/main" id="{ECA23B02-4175-4BD0-AEAA-797C263D32CD}"/>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True positive is a correctly flagged warning. True negative is a correctly unflagged non-warning.</a:t>
            </a:r>
          </a:p>
        </p:txBody>
      </p:sp>
      <p:sp>
        <p:nvSpPr>
          <p:cNvPr id="10" name="">
            <a:extLst xmlns:a="http://schemas.openxmlformats.org/drawingml/2006/main">
              <a:ext uri="{FF2B5EF4-FFF2-40B4-BE49-F238E27FC236}">
                <a16:creationId xmlns:a16="http://schemas.microsoft.com/office/drawing/2014/main" id="{A3270CBE-4E20-4507-B17E-8468ADC01FD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6</a:t>
            </a:r>
          </a:p>
        </p:txBody>
      </p:sp>
    </p:spTree>
    <p:extLst>
      <p:ext uri="{BB962C8B-B14F-4D97-AF65-F5344CB8AC3E}">
        <p14:creationId xmlns:p14="http://schemas.microsoft.com/office/powerpoint/2010/main" val="479140680"/>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80803B9-8DED-4329-8943-7238A22DA70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8120A72-48F8-47AB-BA8D-49BC74218CF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EB4F19EB-6162-4528-99FF-C912E48F3E3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FP and FN</a:t>
            </a:r>
          </a:p>
        </p:txBody>
      </p:sp>
      <p:sp>
        <p:nvSpPr>
          <p:cNvPr id="4" name="">
            <a:extLst xmlns:a="http://schemas.openxmlformats.org/drawingml/2006/main">
              <a:ext uri="{FF2B5EF4-FFF2-40B4-BE49-F238E27FC236}">
                <a16:creationId xmlns:a16="http://schemas.microsoft.com/office/drawing/2014/main" id="{18D4A185-C642-40B6-B138-E8846589E2B7}"/>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FAAE6EC-3E71-4A74-8FE1-04251F6B4C86}"/>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FP and FN</a:t>
            </a:r>
          </a:p>
        </p:txBody>
      </p:sp>
      <p:sp>
        <p:nvSpPr>
          <p:cNvPr id="6" name="">
            <a:extLst xmlns:a="http://schemas.openxmlformats.org/drawingml/2006/main">
              <a:ext uri="{FF2B5EF4-FFF2-40B4-BE49-F238E27FC236}">
                <a16:creationId xmlns:a16="http://schemas.microsoft.com/office/drawing/2014/main" id="{B27636D0-48E0-4BD4-B5C4-7A340E733B6C}"/>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False positive is a false alarm. False negative is a missed warning.</a:t>
            </a:r>
          </a:p>
        </p:txBody>
      </p:sp>
      <p:sp>
        <p:nvSpPr>
          <p:cNvPr id="7" name="">
            <a:extLst xmlns:a="http://schemas.openxmlformats.org/drawingml/2006/main">
              <a:ext uri="{FF2B5EF4-FFF2-40B4-BE49-F238E27FC236}">
                <a16:creationId xmlns:a16="http://schemas.microsoft.com/office/drawing/2014/main" id="{95335988-1572-4246-BDEB-ED4B6843603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7</a:t>
            </a:r>
          </a:p>
        </p:txBody>
      </p:sp>
    </p:spTree>
    <p:extLst>
      <p:ext uri="{BB962C8B-B14F-4D97-AF65-F5344CB8AC3E}">
        <p14:creationId xmlns:p14="http://schemas.microsoft.com/office/powerpoint/2010/main" val="1053923671"/>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CE68C47-2A19-4183-AFDC-79179B4E992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710B6FB-B119-4DAE-AB80-A30FB1BB5F9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231C4D8-9118-47FE-9AC0-F71C0AB679D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Actual and predicted describe different things</a:t>
            </a:r>
          </a:p>
        </p:txBody>
      </p:sp>
      <p:sp>
        <p:nvSpPr>
          <p:cNvPr id="4" name="">
            <a:extLst xmlns:a="http://schemas.openxmlformats.org/drawingml/2006/main">
              <a:ext uri="{FF2B5EF4-FFF2-40B4-BE49-F238E27FC236}">
                <a16:creationId xmlns:a16="http://schemas.microsoft.com/office/drawing/2014/main" id="{18F0ED1E-B140-4FDA-9D3A-87B49DEE16C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C1340FC-CBF5-4FA0-814C-E9D770AB7962}"/>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Actual is the recorded reference answer.</a:t>
            </a:r>
          </a:p>
        </p:txBody>
      </p:sp>
      <p:sp>
        <p:nvSpPr>
          <p:cNvPr id="6" name="">
            <a:extLst xmlns:a="http://schemas.openxmlformats.org/drawingml/2006/main">
              <a:ext uri="{FF2B5EF4-FFF2-40B4-BE49-F238E27FC236}">
                <a16:creationId xmlns:a16="http://schemas.microsoft.com/office/drawing/2014/main" id="{CFE01999-E0C5-4A6F-8839-7AB82543B2E5}"/>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60C6758-7479-4C72-8B33-6C83AE87FBC8}"/>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Predicted is the answer produced by our model.</a:t>
            </a:r>
          </a:p>
        </p:txBody>
      </p:sp>
      <p:sp>
        <p:nvSpPr>
          <p:cNvPr id="8" name="">
            <a:extLst xmlns:a="http://schemas.openxmlformats.org/drawingml/2006/main">
              <a:ext uri="{FF2B5EF4-FFF2-40B4-BE49-F238E27FC236}">
                <a16:creationId xmlns:a16="http://schemas.microsoft.com/office/drawing/2014/main" id="{26E9C837-1839-403D-881B-F8DE16866A8A}"/>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6BA524A-96FE-4AAC-8546-53A85D310D5E}"/>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correct prediction matches the reference. Class 1 means warning in this example.</a:t>
            </a:r>
          </a:p>
        </p:txBody>
      </p:sp>
      <p:sp>
        <p:nvSpPr>
          <p:cNvPr id="10" name="">
            <a:extLst xmlns:a="http://schemas.openxmlformats.org/drawingml/2006/main">
              <a:ext uri="{FF2B5EF4-FFF2-40B4-BE49-F238E27FC236}">
                <a16:creationId xmlns:a16="http://schemas.microsoft.com/office/drawing/2014/main" id="{1A83CD7F-729A-4611-AE70-B0CF97E5632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8</a:t>
            </a:r>
          </a:p>
        </p:txBody>
      </p:sp>
    </p:spTree>
    <p:extLst>
      <p:ext uri="{BB962C8B-B14F-4D97-AF65-F5344CB8AC3E}">
        <p14:creationId xmlns:p14="http://schemas.microsoft.com/office/powerpoint/2010/main" val="497173631"/>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36E6FBE-1109-4550-92B7-18A0ABC1001D}"/>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4500B1B-325C-4681-B579-616872612F05}"/>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Every paired result belongs in one cell</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65990d4fb7564c2d"/>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28FC5D3E-D886-4360-8240-E74AF0451925}"/>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F4CC492-C200-4222-B067-7D95E3448901}"/>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Read actual first, then predicted. Explain the missed warning.</a:t>
            </a:r>
          </a:p>
        </p:txBody>
      </p:sp>
      <p:sp>
        <p:nvSpPr>
          <p:cNvPr id="6" name="">
            <a:extLst xmlns:a="http://schemas.openxmlformats.org/drawingml/2006/main">
              <a:ext uri="{FF2B5EF4-FFF2-40B4-BE49-F238E27FC236}">
                <a16:creationId xmlns:a16="http://schemas.microsoft.com/office/drawing/2014/main" id="{4E2954A5-318E-407B-9DD3-DB86023BEEC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9</a:t>
            </a:r>
          </a:p>
        </p:txBody>
      </p:sp>
    </p:spTree>
    <p:extLst>
      <p:ext uri="{BB962C8B-B14F-4D97-AF65-F5344CB8AC3E}">
        <p14:creationId xmlns:p14="http://schemas.microsoft.com/office/powerpoint/2010/main" val="669482248"/>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8DCC898-4C31-4F83-A4A9-C591462AA34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43CADAA-4F9E-4A09-8C5A-CF20A4C7E9C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6E229EE3-80A5-483A-BD61-121CEF7CA61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four kinds of result</a:t>
            </a:r>
          </a:p>
        </p:txBody>
      </p:sp>
      <p:graphicFrame>
        <p:nvGraphicFramePr>
          <p:cNvPr id="10" name=""/>
          <p:cNvGraphicFramePr/>
          <p:nvPr/>
        </p:nvGraphicFramePr>
        <p:xfrm>
          <a:off xmlns:a="http://schemas.openxmlformats.org/drawingml/2006/main" x="590550" y="1733550"/>
          <a:ext xmlns:a="http://schemas.openxmlformats.org/drawingml/2006/main" cx="11010900" cy="2286000"/>
        </p:xfrm>
        <a:graphic xmlns:a="http://schemas.openxmlformats.org/drawingml/2006/main">
          <a:graphicData uri="http://schemas.openxmlformats.org/drawingml/2006/table">
            <a:tbl>
              <a:tblPr/>
              <a:tblGrid>
                <a:gridCol w="3670300"/>
                <a:gridCol w="3670300"/>
                <a:gridCol w="3670300"/>
              </a:tblGrid>
              <a:tr h="762000">
                <a:tc>
                  <a:txBody>
                    <a:bodyPr/>
                    <a:lstStyle/>
                    <a:p>
                      <a:r>
                        <a:rPr sz="2025" b="1">
                          <a:solidFill>
                            <a:srgbClr val="FFFFFF"/>
                          </a:solidFill>
                          <a:latin typeface="Calibri"/>
                          <a:ea typeface="Calibri"/>
                          <a:cs typeface="Calibri"/>
                        </a:rPr>
                        <a:t>Actual / Predicted</a:t>
                      </a:r>
                    </a:p>
                  </a:txBody>
                  <a:tcPr marL="91440" marR="91440" marT="45720" marB="45720">
                    <a:solidFill>
                      <a:srgbClr val="2E7D6F"/>
                    </a:solidFill>
                  </a:tcPr>
                </a:tc>
                <a:tc>
                  <a:txBody>
                    <a:bodyPr/>
                    <a:lstStyle/>
                    <a:p>
                      <a:r>
                        <a:rPr sz="2025" b="1">
                          <a:solidFill>
                            <a:srgbClr val="FFFFFF"/>
                          </a:solidFill>
                          <a:latin typeface="Calibri"/>
                          <a:ea typeface="Calibri"/>
                          <a:cs typeface="Calibri"/>
                        </a:rPr>
                        <a:t>Warning 1</a:t>
                      </a:r>
                    </a:p>
                  </a:txBody>
                  <a:tcPr marL="91440" marR="91440" marT="45720" marB="45720">
                    <a:solidFill>
                      <a:srgbClr val="2E7D6F"/>
                    </a:solidFill>
                  </a:tcPr>
                </a:tc>
                <a:tc>
                  <a:txBody>
                    <a:bodyPr/>
                    <a:lstStyle/>
                    <a:p>
                      <a:r>
                        <a:rPr sz="2025" b="1">
                          <a:solidFill>
                            <a:srgbClr val="FFFFFF"/>
                          </a:solidFill>
                          <a:latin typeface="Calibri"/>
                          <a:ea typeface="Calibri"/>
                          <a:cs typeface="Calibri"/>
                        </a:rPr>
                        <a:t>No warning 0</a:t>
                      </a:r>
                    </a:p>
                  </a:txBody>
                  <a:tcPr marL="91440" marR="91440" marT="45720" marB="45720">
                    <a:solidFill>
                      <a:srgbClr val="2E7D6F"/>
                    </a:solidFill>
                  </a:tcPr>
                </a:tc>
              </a:tr>
              <a:tr h="762000">
                <a:tc>
                  <a:txBody>
                    <a:bodyPr/>
                    <a:lstStyle/>
                    <a:p>
                      <a:r>
                        <a:rPr sz="2025" b="0">
                          <a:solidFill>
                            <a:srgbClr val="1C3144"/>
                          </a:solidFill>
                          <a:latin typeface="Calibri"/>
                          <a:ea typeface="Calibri"/>
                          <a:cs typeface="Calibri"/>
                        </a:rPr>
                        <a:t>Warning 1</a:t>
                      </a:r>
                    </a:p>
                  </a:txBody>
                  <a:tcPr marL="91440" marR="91440" marT="45720" marB="45720">
                    <a:solidFill>
                      <a:srgbClr val="EEF3F6"/>
                    </a:solidFill>
                  </a:tcPr>
                </a:tc>
                <a:tc>
                  <a:txBody>
                    <a:bodyPr/>
                    <a:lstStyle/>
                    <a:p>
                      <a:r>
                        <a:rPr sz="2025" b="0">
                          <a:solidFill>
                            <a:srgbClr val="1C3144"/>
                          </a:solidFill>
                          <a:latin typeface="Calibri"/>
                          <a:ea typeface="Calibri"/>
                          <a:cs typeface="Calibri"/>
                        </a:rPr>
                        <a:t>TP = 1</a:t>
                      </a:r>
                    </a:p>
                  </a:txBody>
                  <a:tcPr marL="91440" marR="91440" marT="45720" marB="45720">
                    <a:solidFill>
                      <a:srgbClr val="EEF3F6"/>
                    </a:solidFill>
                  </a:tcPr>
                </a:tc>
                <a:tc>
                  <a:txBody>
                    <a:bodyPr/>
                    <a:lstStyle/>
                    <a:p>
                      <a:r>
                        <a:rPr sz="2025" b="0">
                          <a:solidFill>
                            <a:srgbClr val="1C3144"/>
                          </a:solidFill>
                          <a:latin typeface="Calibri"/>
                          <a:ea typeface="Calibri"/>
                          <a:cs typeface="Calibri"/>
                        </a:rPr>
                        <a:t>FN = 1</a:t>
                      </a:r>
                    </a:p>
                  </a:txBody>
                  <a:tcPr marL="91440" marR="91440" marT="45720" marB="45720">
                    <a:solidFill>
                      <a:srgbClr val="EEF3F6"/>
                    </a:solidFill>
                  </a:tcPr>
                </a:tc>
              </a:tr>
              <a:tr h="762000">
                <a:tc>
                  <a:txBody>
                    <a:bodyPr/>
                    <a:lstStyle/>
                    <a:p>
                      <a:r>
                        <a:rPr sz="2025" b="0">
                          <a:solidFill>
                            <a:srgbClr val="1C3144"/>
                          </a:solidFill>
                          <a:latin typeface="Calibri"/>
                          <a:ea typeface="Calibri"/>
                          <a:cs typeface="Calibri"/>
                        </a:rPr>
                        <a:t>No warning 0</a:t>
                      </a:r>
                    </a:p>
                  </a:txBody>
                  <a:tcPr marL="91440" marR="91440" marT="45720" marB="45720">
                    <a:solidFill>
                      <a:srgbClr val="FFFFFF"/>
                    </a:solidFill>
                  </a:tcPr>
                </a:tc>
                <a:tc>
                  <a:txBody>
                    <a:bodyPr/>
                    <a:lstStyle/>
                    <a:p>
                      <a:r>
                        <a:rPr sz="2025" b="0">
                          <a:solidFill>
                            <a:srgbClr val="1C3144"/>
                          </a:solidFill>
                          <a:latin typeface="Calibri"/>
                          <a:ea typeface="Calibri"/>
                          <a:cs typeface="Calibri"/>
                        </a:rPr>
                        <a:t>FP = 1</a:t>
                      </a:r>
                    </a:p>
                  </a:txBody>
                  <a:tcPr marL="91440" marR="91440" marT="45720" marB="45720">
                    <a:solidFill>
                      <a:srgbClr val="FFFFFF"/>
                    </a:solidFill>
                  </a:tcPr>
                </a:tc>
                <a:tc>
                  <a:txBody>
                    <a:bodyPr/>
                    <a:lstStyle/>
                    <a:p>
                      <a:r>
                        <a:rPr sz="2025" b="0">
                          <a:solidFill>
                            <a:srgbClr val="1C3144"/>
                          </a:solidFill>
                          <a:latin typeface="Calibri"/>
                          <a:ea typeface="Calibri"/>
                          <a:cs typeface="Calibri"/>
                        </a:rPr>
                        <a:t>TN = 1</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0D3C1514-8D05-4DB6-A5F8-A37634902FD5}"/>
              </a:ext>
            </a:extLst>
          </p:cNvPr>
          <p:cNvSpPr>
            <a:spLocks xmlns:a="http://schemas.openxmlformats.org/drawingml/2006/main" noGrp="1"/>
          </p:cNvSpPr>
          <p:nvPr/>
        </p:nvSpPr>
        <p:spPr>
          <a:xfrm xmlns:a="http://schemas.openxmlformats.org/drawingml/2006/main">
            <a:off x="685800" y="433387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Rows are actual and columns are predicted.</a:t>
            </a:r>
          </a:p>
        </p:txBody>
      </p:sp>
      <p:sp>
        <p:nvSpPr>
          <p:cNvPr id="6" name="">
            <a:extLst xmlns:a="http://schemas.openxmlformats.org/drawingml/2006/main">
              <a:ext uri="{FF2B5EF4-FFF2-40B4-BE49-F238E27FC236}">
                <a16:creationId xmlns:a16="http://schemas.microsoft.com/office/drawing/2014/main" id="{8665E2DD-19BB-4335-A0AC-7D48F0AE7F9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10</a:t>
            </a:r>
          </a:p>
        </p:txBody>
      </p:sp>
    </p:spTree>
    <p:extLst>
      <p:ext uri="{BB962C8B-B14F-4D97-AF65-F5344CB8AC3E}">
        <p14:creationId xmlns:p14="http://schemas.microsoft.com/office/powerpoint/2010/main" val="474536523"/>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649FA29-4FE8-41A2-A2C5-35806E689E8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3B47C60-00A0-4D0F-9E96-45E2BA441E7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1D840B71-C9FA-453F-9E1C-5995BCD8907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Precision / Recall</a:t>
            </a:r>
          </a:p>
        </p:txBody>
      </p:sp>
      <p:sp>
        <p:nvSpPr>
          <p:cNvPr id="4" name="">
            <a:extLst xmlns:a="http://schemas.openxmlformats.org/drawingml/2006/main">
              <a:ext uri="{FF2B5EF4-FFF2-40B4-BE49-F238E27FC236}">
                <a16:creationId xmlns:a16="http://schemas.microsoft.com/office/drawing/2014/main" id="{57EC00A6-D30A-42F1-B104-A8B3BF990434}"/>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CFF2592-4D23-45A0-9A0F-D1435645DC2C}"/>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Precision</a:t>
            </a:r>
          </a:p>
        </p:txBody>
      </p:sp>
      <p:sp>
        <p:nvSpPr>
          <p:cNvPr id="6" name="">
            <a:extLst xmlns:a="http://schemas.openxmlformats.org/drawingml/2006/main">
              <a:ext uri="{FF2B5EF4-FFF2-40B4-BE49-F238E27FC236}">
                <a16:creationId xmlns:a16="http://schemas.microsoft.com/office/drawing/2014/main" id="{86CB412E-F2D1-4963-B79D-0789613C01CB}"/>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Of all predicted warnings, the fraction that were actual warnings: TP / (TP + FP).</a:t>
            </a:r>
          </a:p>
        </p:txBody>
      </p:sp>
      <p:sp>
        <p:nvSpPr>
          <p:cNvPr id="7" name="">
            <a:extLst xmlns:a="http://schemas.openxmlformats.org/drawingml/2006/main">
              <a:ext uri="{FF2B5EF4-FFF2-40B4-BE49-F238E27FC236}">
                <a16:creationId xmlns:a16="http://schemas.microsoft.com/office/drawing/2014/main" id="{352BE1CE-A949-457C-922D-78C2FB337F17}"/>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5BAAD02F-3DAF-4FA7-88E7-6317A871D718}"/>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Recall</a:t>
            </a:r>
          </a:p>
        </p:txBody>
      </p:sp>
      <p:sp>
        <p:nvSpPr>
          <p:cNvPr id="9" name="">
            <a:extLst xmlns:a="http://schemas.openxmlformats.org/drawingml/2006/main">
              <a:ext uri="{FF2B5EF4-FFF2-40B4-BE49-F238E27FC236}">
                <a16:creationId xmlns:a16="http://schemas.microsoft.com/office/drawing/2014/main" id="{675A2D0C-6AFD-4AB1-A695-DB45AD687E57}"/>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Of all actual warnings, the fraction detected: TP / (TP + FN).</a:t>
            </a:r>
          </a:p>
        </p:txBody>
      </p:sp>
      <p:sp>
        <p:nvSpPr>
          <p:cNvPr id="10" name="">
            <a:extLst xmlns:a="http://schemas.openxmlformats.org/drawingml/2006/main">
              <a:ext uri="{FF2B5EF4-FFF2-40B4-BE49-F238E27FC236}">
                <a16:creationId xmlns:a16="http://schemas.microsoft.com/office/drawing/2014/main" id="{A2E7E122-3976-428F-A939-2A5639A7341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11</a:t>
            </a:r>
          </a:p>
        </p:txBody>
      </p:sp>
    </p:spTree>
    <p:extLst>
      <p:ext uri="{BB962C8B-B14F-4D97-AF65-F5344CB8AC3E}">
        <p14:creationId xmlns:p14="http://schemas.microsoft.com/office/powerpoint/2010/main" val="721029922"/>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D436432-72C0-47D2-99FA-65AB8E3F885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573B53E-4990-4973-8575-3F47131069B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EF473A7-2F50-41B1-9170-30137960E78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Precision and recall</a:t>
            </a:r>
          </a:p>
        </p:txBody>
      </p:sp>
      <p:sp>
        <p:nvSpPr>
          <p:cNvPr id="4" name="">
            <a:extLst xmlns:a="http://schemas.openxmlformats.org/drawingml/2006/main">
              <a:ext uri="{FF2B5EF4-FFF2-40B4-BE49-F238E27FC236}">
                <a16:creationId xmlns:a16="http://schemas.microsoft.com/office/drawing/2014/main" id="{1912DF85-9DFD-4C04-85A8-BA3812FFE40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D9828FF-2414-4376-84DB-6E4E691D6FBC}"/>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Precision asks: of the warnings raised, how many were correct?</a:t>
            </a:r>
          </a:p>
        </p:txBody>
      </p:sp>
      <p:sp>
        <p:nvSpPr>
          <p:cNvPr id="6" name="">
            <a:extLst xmlns:a="http://schemas.openxmlformats.org/drawingml/2006/main">
              <a:ext uri="{FF2B5EF4-FFF2-40B4-BE49-F238E27FC236}">
                <a16:creationId xmlns:a16="http://schemas.microsoft.com/office/drawing/2014/main" id="{E96844A9-536B-44F0-AC4E-308E01ECD20D}"/>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5995CC8-023E-4398-924D-50EBF2A94F6A}"/>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Recall asks: of the real warnings, how many did we detect?</a:t>
            </a:r>
          </a:p>
        </p:txBody>
      </p:sp>
      <p:sp>
        <p:nvSpPr>
          <p:cNvPr id="8" name="">
            <a:extLst xmlns:a="http://schemas.openxmlformats.org/drawingml/2006/main">
              <a:ext uri="{FF2B5EF4-FFF2-40B4-BE49-F238E27FC236}">
                <a16:creationId xmlns:a16="http://schemas.microsoft.com/office/drawing/2014/main" id="{F935C764-BF68-4CFB-B924-0B131C249140}"/>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49EFD85-628C-4B1E-BCCA-290EC9187D14}"/>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zero denominator needs an explicit rule.</a:t>
            </a:r>
          </a:p>
        </p:txBody>
      </p:sp>
      <p:sp>
        <p:nvSpPr>
          <p:cNvPr id="10" name="">
            <a:extLst xmlns:a="http://schemas.openxmlformats.org/drawingml/2006/main">
              <a:ext uri="{FF2B5EF4-FFF2-40B4-BE49-F238E27FC236}">
                <a16:creationId xmlns:a16="http://schemas.microsoft.com/office/drawing/2014/main" id="{3C6C3425-7B87-49B7-8E79-B5AEE70CEC03}"/>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71368D7C-A99E-455D-892A-BCB95FB18319}"/>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rule in your task brief when implementing the function.</a:t>
            </a:r>
          </a:p>
        </p:txBody>
      </p:sp>
      <p:sp>
        <p:nvSpPr>
          <p:cNvPr id="12" name="">
            <a:extLst xmlns:a="http://schemas.openxmlformats.org/drawingml/2006/main">
              <a:ext uri="{FF2B5EF4-FFF2-40B4-BE49-F238E27FC236}">
                <a16:creationId xmlns:a16="http://schemas.microsoft.com/office/drawing/2014/main" id="{46CEB73A-671B-4846-A91B-D21C901733B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12</a:t>
            </a:r>
          </a:p>
        </p:txBody>
      </p:sp>
    </p:spTree>
    <p:extLst>
      <p:ext uri="{BB962C8B-B14F-4D97-AF65-F5344CB8AC3E}">
        <p14:creationId xmlns:p14="http://schemas.microsoft.com/office/powerpoint/2010/main" val="1681304484"/>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5D7AA3B-7CEC-4355-8065-B69C2817A30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A9DA0B9-40ED-43AB-8DD6-E959B9734F7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2C893851-357D-46D0-ADD7-F0932A69651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Probability and a decision threshold</a:t>
            </a:r>
          </a:p>
        </p:txBody>
      </p:sp>
      <p:sp>
        <p:nvSpPr>
          <p:cNvPr id="4" name="">
            <a:extLst xmlns:a="http://schemas.openxmlformats.org/drawingml/2006/main">
              <a:ext uri="{FF2B5EF4-FFF2-40B4-BE49-F238E27FC236}">
                <a16:creationId xmlns:a16="http://schemas.microsoft.com/office/drawing/2014/main" id="{9C464795-54DD-4EF0-A2BE-2E413D249038}"/>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4E375F2-7FDE-45CB-A624-71A252DD9DF2}"/>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Probability</a:t>
            </a:r>
          </a:p>
        </p:txBody>
      </p:sp>
      <p:sp>
        <p:nvSpPr>
          <p:cNvPr id="6" name="">
            <a:extLst xmlns:a="http://schemas.openxmlformats.org/drawingml/2006/main">
              <a:ext uri="{FF2B5EF4-FFF2-40B4-BE49-F238E27FC236}">
                <a16:creationId xmlns:a16="http://schemas.microsoft.com/office/drawing/2014/main" id="{80B6629E-A133-4DE3-AF68-040FB0D16F39}"/>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probability is between 0 and 1. Multiply by 100 for percent: 0.7 is 70%. A model’s probability is an estimate that needs checking.</a:t>
            </a:r>
          </a:p>
        </p:txBody>
      </p:sp>
      <p:sp>
        <p:nvSpPr>
          <p:cNvPr id="7" name="">
            <a:extLst xmlns:a="http://schemas.openxmlformats.org/drawingml/2006/main">
              <a:ext uri="{FF2B5EF4-FFF2-40B4-BE49-F238E27FC236}">
                <a16:creationId xmlns:a16="http://schemas.microsoft.com/office/drawing/2014/main" id="{2C780D23-CBFA-472C-957F-9B4216F14576}"/>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CAA6E643-AC33-4AC6-83CC-431B556CE463}"/>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Threshold</a:t>
            </a:r>
          </a:p>
        </p:txBody>
      </p:sp>
      <p:sp>
        <p:nvSpPr>
          <p:cNvPr id="9" name="">
            <a:extLst xmlns:a="http://schemas.openxmlformats.org/drawingml/2006/main">
              <a:ext uri="{FF2B5EF4-FFF2-40B4-BE49-F238E27FC236}">
                <a16:creationId xmlns:a16="http://schemas.microsoft.com/office/drawing/2014/main" id="{9E2E1403-5DEB-4F81-B4CB-5781EA265090}"/>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threshold turns a score into a decision. For a rule score &gt;= 0.5, a score of 0.7 gives class 1. Use validation data to choose the threshold.</a:t>
            </a:r>
          </a:p>
        </p:txBody>
      </p:sp>
      <p:sp>
        <p:nvSpPr>
          <p:cNvPr id="10" name="">
            <a:extLst xmlns:a="http://schemas.openxmlformats.org/drawingml/2006/main">
              <a:ext uri="{FF2B5EF4-FFF2-40B4-BE49-F238E27FC236}">
                <a16:creationId xmlns:a16="http://schemas.microsoft.com/office/drawing/2014/main" id="{D5870B88-7574-45BC-BB9C-7EBEB9811EE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13</a:t>
            </a:r>
          </a:p>
        </p:txBody>
      </p:sp>
    </p:spTree>
    <p:extLst>
      <p:ext uri="{BB962C8B-B14F-4D97-AF65-F5344CB8AC3E}">
        <p14:creationId xmlns:p14="http://schemas.microsoft.com/office/powerpoint/2010/main" val="47094935"/>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B843FE7-427C-467D-B85D-FEBDDECBA2B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09A6451-0305-4504-99A2-626963FDFDE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1F501FAB-2259-4FDD-97C6-011D3E5BF31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Apply one stated decision threshold</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Estimated positive probability</a:t>
                      </a:r>
                    </a:p>
                  </a:txBody>
                  <a:tcPr marL="91440" marR="91440" marT="45720" marB="45720">
                    <a:solidFill>
                      <a:srgbClr val="2E7D6F"/>
                    </a:solidFill>
                  </a:tcPr>
                </a:tc>
                <a:tc>
                  <a:txBody>
                    <a:bodyPr/>
                    <a:lstStyle/>
                    <a:p>
                      <a:r>
                        <a:rPr sz="2025" b="1">
                          <a:solidFill>
                            <a:srgbClr val="FFFFFF"/>
                          </a:solidFill>
                          <a:latin typeface="Calibri"/>
                          <a:ea typeface="Calibri"/>
                          <a:cs typeface="Calibri"/>
                        </a:rPr>
                        <a:t>At least 0.5?</a:t>
                      </a:r>
                    </a:p>
                  </a:txBody>
                  <a:tcPr marL="91440" marR="91440" marT="45720" marB="45720">
                    <a:solidFill>
                      <a:srgbClr val="2E7D6F"/>
                    </a:solidFill>
                  </a:tcPr>
                </a:tc>
                <a:tc>
                  <a:txBody>
                    <a:bodyPr/>
                    <a:lstStyle/>
                    <a:p>
                      <a:r>
                        <a:rPr sz="2025" b="1">
                          <a:solidFill>
                            <a:srgbClr val="FFFFFF"/>
                          </a:solidFill>
                          <a:latin typeface="Calibri"/>
                          <a:ea typeface="Calibri"/>
                          <a:cs typeface="Calibri"/>
                        </a:rPr>
                        <a:t>Decision</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0.20</a:t>
                      </a:r>
                    </a:p>
                  </a:txBody>
                  <a:tcPr marL="91440" marR="91440" marT="45720" marB="45720">
                    <a:solidFill>
                      <a:srgbClr val="EEF3F6"/>
                    </a:solidFill>
                  </a:tcPr>
                </a:tc>
                <a:tc>
                  <a:txBody>
                    <a:bodyPr/>
                    <a:lstStyle/>
                    <a:p>
                      <a:r>
                        <a:rPr sz="2025" b="0">
                          <a:solidFill>
                            <a:srgbClr val="1C3144"/>
                          </a:solidFill>
                          <a:latin typeface="Calibri"/>
                          <a:ea typeface="Calibri"/>
                          <a:cs typeface="Calibri"/>
                        </a:rPr>
                        <a:t>No</a:t>
                      </a:r>
                    </a:p>
                  </a:txBody>
                  <a:tcPr marL="91440" marR="91440" marT="45720" marB="45720">
                    <a:solidFill>
                      <a:srgbClr val="EEF3F6"/>
                    </a:solidFill>
                  </a:tcPr>
                </a:tc>
                <a:tc>
                  <a:txBody>
                    <a:bodyPr/>
                    <a:lstStyle/>
                    <a:p>
                      <a:r>
                        <a:rPr sz="2025" b="0">
                          <a:solidFill>
                            <a:srgbClr val="1C3144"/>
                          </a:solidFill>
                          <a:latin typeface="Calibri"/>
                          <a:ea typeface="Calibri"/>
                          <a:cs typeface="Calibri"/>
                        </a:rPr>
                        <a:t>Class 0</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0.50</a:t>
                      </a:r>
                    </a:p>
                  </a:txBody>
                  <a:tcPr marL="91440" marR="91440" marT="45720" marB="45720">
                    <a:solidFill>
                      <a:srgbClr val="FFFFFF"/>
                    </a:solidFill>
                  </a:tcPr>
                </a:tc>
                <a:tc>
                  <a:txBody>
                    <a:bodyPr/>
                    <a:lstStyle/>
                    <a:p>
                      <a:r>
                        <a:rPr sz="2025" b="0">
                          <a:solidFill>
                            <a:srgbClr val="1C3144"/>
                          </a:solidFill>
                          <a:latin typeface="Calibri"/>
                          <a:ea typeface="Calibri"/>
                          <a:cs typeface="Calibri"/>
                        </a:rPr>
                        <a:t>Yes</a:t>
                      </a:r>
                    </a:p>
                  </a:txBody>
                  <a:tcPr marL="91440" marR="91440" marT="45720" marB="45720">
                    <a:solidFill>
                      <a:srgbClr val="FFFFFF"/>
                    </a:solidFill>
                  </a:tcPr>
                </a:tc>
                <a:tc>
                  <a:txBody>
                    <a:bodyPr/>
                    <a:lstStyle/>
                    <a:p>
                      <a:r>
                        <a:rPr sz="2025" b="0">
                          <a:solidFill>
                            <a:srgbClr val="1C3144"/>
                          </a:solidFill>
                          <a:latin typeface="Calibri"/>
                          <a:ea typeface="Calibri"/>
                          <a:cs typeface="Calibri"/>
                        </a:rPr>
                        <a:t>Class 1</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0.80</a:t>
                      </a:r>
                    </a:p>
                  </a:txBody>
                  <a:tcPr marL="91440" marR="91440" marT="45720" marB="45720">
                    <a:solidFill>
                      <a:srgbClr val="EEF3F6"/>
                    </a:solidFill>
                  </a:tcPr>
                </a:tc>
                <a:tc>
                  <a:txBody>
                    <a:bodyPr/>
                    <a:lstStyle/>
                    <a:p>
                      <a:r>
                        <a:rPr sz="2025" b="0">
                          <a:solidFill>
                            <a:srgbClr val="1C3144"/>
                          </a:solidFill>
                          <a:latin typeface="Calibri"/>
                          <a:ea typeface="Calibri"/>
                          <a:cs typeface="Calibri"/>
                        </a:rPr>
                        <a:t>Yes</a:t>
                      </a:r>
                    </a:p>
                  </a:txBody>
                  <a:tcPr marL="91440" marR="91440" marT="45720" marB="45720">
                    <a:solidFill>
                      <a:srgbClr val="EEF3F6"/>
                    </a:solidFill>
                  </a:tcPr>
                </a:tc>
                <a:tc>
                  <a:txBody>
                    <a:bodyPr/>
                    <a:lstStyle/>
                    <a:p>
                      <a:r>
                        <a:rPr sz="2025" b="0">
                          <a:solidFill>
                            <a:srgbClr val="1C3144"/>
                          </a:solidFill>
                          <a:latin typeface="Calibri"/>
                          <a:ea typeface="Calibri"/>
                          <a:cs typeface="Calibri"/>
                        </a:rPr>
                        <a:t>Class 1</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110FBAC1-7521-4FA5-A1C3-42FB76FF106D}"/>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0.5 means 50%. This rule includes equality. A probability is an estimate, not a promise that one case is correct.</a:t>
            </a:r>
          </a:p>
        </p:txBody>
      </p:sp>
      <p:sp>
        <p:nvSpPr>
          <p:cNvPr id="6" name="">
            <a:extLst xmlns:a="http://schemas.openxmlformats.org/drawingml/2006/main">
              <a:ext uri="{FF2B5EF4-FFF2-40B4-BE49-F238E27FC236}">
                <a16:creationId xmlns:a16="http://schemas.microsoft.com/office/drawing/2014/main" id="{605820BD-CE12-43A3-89AB-66742AD0E87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14</a:t>
            </a:r>
          </a:p>
        </p:txBody>
      </p:sp>
    </p:spTree>
    <p:extLst>
      <p:ext uri="{BB962C8B-B14F-4D97-AF65-F5344CB8AC3E}">
        <p14:creationId xmlns:p14="http://schemas.microsoft.com/office/powerpoint/2010/main" val="1145945412"/>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134BE05-CE04-4933-A5F3-4F99C2A4C1E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E405375-3A13-46A8-A8E3-B5160558473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2C92AB1-2CC7-4CE6-AA42-047F0E692D5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category decision can use a probability</a:t>
            </a:r>
          </a:p>
        </p:txBody>
      </p:sp>
      <p:sp>
        <p:nvSpPr>
          <p:cNvPr id="4" name="">
            <a:extLst xmlns:a="http://schemas.openxmlformats.org/drawingml/2006/main">
              <a:ext uri="{FF2B5EF4-FFF2-40B4-BE49-F238E27FC236}">
                <a16:creationId xmlns:a16="http://schemas.microsoft.com/office/drawing/2014/main" id="{2657E42B-447A-44C0-AD2B-C332AD4BB30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C32280B-2A4D-43E0-AF04-9EE703A8BAB9}"/>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classifier may estimate the probability of class 1.</a:t>
            </a:r>
          </a:p>
        </p:txBody>
      </p:sp>
      <p:sp>
        <p:nvSpPr>
          <p:cNvPr id="6" name="">
            <a:extLst xmlns:a="http://schemas.openxmlformats.org/drawingml/2006/main">
              <a:ext uri="{FF2B5EF4-FFF2-40B4-BE49-F238E27FC236}">
                <a16:creationId xmlns:a16="http://schemas.microsoft.com/office/drawing/2014/main" id="{AF540749-7D1D-4739-9A91-11CB28E08A22}"/>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F0E5E26-11B3-422C-A088-9342E8D756CE}"/>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threshold converts that estimate into warning or no warning.</a:t>
            </a:r>
          </a:p>
        </p:txBody>
      </p:sp>
      <p:sp>
        <p:nvSpPr>
          <p:cNvPr id="8" name="">
            <a:extLst xmlns:a="http://schemas.openxmlformats.org/drawingml/2006/main">
              <a:ext uri="{FF2B5EF4-FFF2-40B4-BE49-F238E27FC236}">
                <a16:creationId xmlns:a16="http://schemas.microsoft.com/office/drawing/2014/main" id="{F8FD3C40-1229-411B-B363-59B2DE5D154D}"/>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B674146-2B5F-477A-ABDB-1590718E22AF}"/>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Logistic regression is a classification model. Its probability estimates still need evaluation.</a:t>
            </a:r>
          </a:p>
        </p:txBody>
      </p:sp>
      <p:sp>
        <p:nvSpPr>
          <p:cNvPr id="10" name="">
            <a:extLst xmlns:a="http://schemas.openxmlformats.org/drawingml/2006/main">
              <a:ext uri="{FF2B5EF4-FFF2-40B4-BE49-F238E27FC236}">
                <a16:creationId xmlns:a16="http://schemas.microsoft.com/office/drawing/2014/main" id="{9632025B-A2C5-4777-B066-0BBE552FE8A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15</a:t>
            </a:r>
          </a:p>
        </p:txBody>
      </p:sp>
    </p:spTree>
    <p:extLst>
      <p:ext uri="{BB962C8B-B14F-4D97-AF65-F5344CB8AC3E}">
        <p14:creationId xmlns:p14="http://schemas.microsoft.com/office/powerpoint/2010/main" val="1503220797"/>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51B4C67-90F7-4923-9C41-6D731150B89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2BAD7D4-32EA-45F8-8A09-582FA7E7AEE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ED5F4411-00A6-4873-AF41-719913C4451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Threshold and cost</a:t>
            </a:r>
          </a:p>
        </p:txBody>
      </p:sp>
      <p:sp>
        <p:nvSpPr>
          <p:cNvPr id="4" name="">
            <a:extLst xmlns:a="http://schemas.openxmlformats.org/drawingml/2006/main">
              <a:ext uri="{FF2B5EF4-FFF2-40B4-BE49-F238E27FC236}">
                <a16:creationId xmlns:a16="http://schemas.microsoft.com/office/drawing/2014/main" id="{775001A3-413A-44A2-BC3D-541521DC24EB}"/>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EA48CD3-5582-4BD2-AD0D-D6D7EE1B76D1}"/>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Threshold and cost</a:t>
            </a:r>
          </a:p>
        </p:txBody>
      </p:sp>
      <p:sp>
        <p:nvSpPr>
          <p:cNvPr id="6" name="">
            <a:extLst xmlns:a="http://schemas.openxmlformats.org/drawingml/2006/main">
              <a:ext uri="{FF2B5EF4-FFF2-40B4-BE49-F238E27FC236}">
                <a16:creationId xmlns:a16="http://schemas.microsoft.com/office/drawing/2014/main" id="{2724E9D9-F07A-402C-B271-EC6249B68876}"/>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threshold converts a score to a decision. A cost rule states how much each type of mistake matters. Lower thresholds usually increase recall; precision need not decrease at every step.</a:t>
            </a:r>
          </a:p>
        </p:txBody>
      </p:sp>
      <p:sp>
        <p:nvSpPr>
          <p:cNvPr id="7" name="">
            <a:extLst xmlns:a="http://schemas.openxmlformats.org/drawingml/2006/main">
              <a:ext uri="{FF2B5EF4-FFF2-40B4-BE49-F238E27FC236}">
                <a16:creationId xmlns:a16="http://schemas.microsoft.com/office/drawing/2014/main" id="{49FCCBC4-8C02-41B3-AA07-4CFB0CB6950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16</a:t>
            </a:r>
          </a:p>
        </p:txBody>
      </p:sp>
    </p:spTree>
    <p:extLst>
      <p:ext uri="{BB962C8B-B14F-4D97-AF65-F5344CB8AC3E}">
        <p14:creationId xmlns:p14="http://schemas.microsoft.com/office/powerpoint/2010/main" val="794051428"/>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300A456-40EB-4E3B-A9D5-1AE30EF164E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B93DDD7-6947-4601-BB20-8020F686A40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4B45DC8-D2FF-4C64-8507-320CF3EEA2E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State the cost rule before calculating</a:t>
            </a:r>
          </a:p>
        </p:txBody>
      </p:sp>
      <p:sp>
        <p:nvSpPr>
          <p:cNvPr id="4" name="">
            <a:extLst xmlns:a="http://schemas.openxmlformats.org/drawingml/2006/main">
              <a:ext uri="{FF2B5EF4-FFF2-40B4-BE49-F238E27FC236}">
                <a16:creationId xmlns:a16="http://schemas.microsoft.com/office/drawing/2014/main" id="{070DF388-1479-4C38-9461-F68E26D462F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07D279F-C460-4D59-B39E-A389188D808D}"/>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cost rule assigns a penalty to each kind of mistake. In this teaching example, a missed warning costs 5 units and a false alarm costs 1 unit.</a:t>
            </a:r>
          </a:p>
        </p:txBody>
      </p:sp>
      <p:sp>
        <p:nvSpPr>
          <p:cNvPr id="6" name="">
            <a:extLst xmlns:a="http://schemas.openxmlformats.org/drawingml/2006/main">
              <a:ext uri="{FF2B5EF4-FFF2-40B4-BE49-F238E27FC236}">
                <a16:creationId xmlns:a16="http://schemas.microsoft.com/office/drawing/2014/main" id="{D6CFA143-42E5-4B18-813D-8C4ADBEA044F}"/>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6A9DEA8-9409-4BAF-8176-D90FC07948B6}"/>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Total cost = 5 × FN + FP. One missed warning and one false alarm therefore cost 6 units.</a:t>
            </a:r>
          </a:p>
        </p:txBody>
      </p:sp>
      <p:sp>
        <p:nvSpPr>
          <p:cNvPr id="8" name="">
            <a:extLst xmlns:a="http://schemas.openxmlformats.org/drawingml/2006/main">
              <a:ext uri="{FF2B5EF4-FFF2-40B4-BE49-F238E27FC236}">
                <a16:creationId xmlns:a16="http://schemas.microsoft.com/office/drawing/2014/main" id="{E26D0ECC-7862-4233-A4E5-DE8105135EA3}"/>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A5A5E2F-5FD0-4715-AA3F-6DCAF162A19C}"/>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invented teaching penalties. Use the published assignment cost rule and explain whose consequences it represents.</a:t>
            </a:r>
          </a:p>
        </p:txBody>
      </p:sp>
      <p:sp>
        <p:nvSpPr>
          <p:cNvPr id="10" name="">
            <a:extLst xmlns:a="http://schemas.openxmlformats.org/drawingml/2006/main">
              <a:ext uri="{FF2B5EF4-FFF2-40B4-BE49-F238E27FC236}">
                <a16:creationId xmlns:a16="http://schemas.microsoft.com/office/drawing/2014/main" id="{50D13E96-BFFE-4BC0-801D-561E437288E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17</a:t>
            </a:r>
          </a:p>
        </p:txBody>
      </p:sp>
    </p:spTree>
    <p:extLst>
      <p:ext uri="{BB962C8B-B14F-4D97-AF65-F5344CB8AC3E}">
        <p14:creationId xmlns:p14="http://schemas.microsoft.com/office/powerpoint/2010/main" val="1035656086"/>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FC736CE-7882-44B7-B9F0-8342FB3EB27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D18C3B2-7502-48FA-B1F8-29E70B0AC06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91E93BE0-61A2-4596-AB5F-13748139799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Counting syntax in the example</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5505450"/>
                <a:gridCol w="5505450"/>
              </a:tblGrid>
              <a:tr h="666750">
                <a:tc>
                  <a:txBody>
                    <a:bodyPr/>
                    <a:lstStyle/>
                    <a:p>
                      <a:r>
                        <a:rPr sz="2025" b="1">
                          <a:solidFill>
                            <a:srgbClr val="FFFFFF"/>
                          </a:solidFill>
                          <a:latin typeface="Calibri"/>
                          <a:ea typeface="Calibri"/>
                          <a:cs typeface="Calibri"/>
                        </a:rPr>
                        <a:t>Code</a:t>
                      </a:r>
                    </a:p>
                  </a:txBody>
                  <a:tcPr marL="91440" marR="91440" marT="45720" marB="45720">
                    <a:solidFill>
                      <a:srgbClr val="2E7D6F"/>
                    </a:solidFill>
                  </a:tcPr>
                </a:tc>
                <a:tc>
                  <a:txBody>
                    <a:bodyPr/>
                    <a:lstStyle/>
                    <a:p>
                      <a:r>
                        <a:rPr sz="2025" b="1">
                          <a:solidFill>
                            <a:srgbClr val="FFFFFF"/>
                          </a:solidFill>
                          <a:latin typeface="Calibri"/>
                          <a:ea typeface="Calibri"/>
                          <a:cs typeface="Calibri"/>
                        </a:rPr>
                        <a:t>Equivalent idea</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tp = tn = fp = fn = 0</a:t>
                      </a:r>
                    </a:p>
                  </a:txBody>
                  <a:tcPr marL="91440" marR="91440" marT="45720" marB="45720">
                    <a:solidFill>
                      <a:srgbClr val="EEF3F6"/>
                    </a:solidFill>
                  </a:tcPr>
                </a:tc>
                <a:tc>
                  <a:txBody>
                    <a:bodyPr/>
                    <a:lstStyle/>
                    <a:p>
                      <a:r>
                        <a:rPr sz="2025" b="0">
                          <a:solidFill>
                            <a:srgbClr val="1C3144"/>
                          </a:solidFill>
                          <a:latin typeface="Calibri"/>
                          <a:ea typeface="Calibri"/>
                          <a:cs typeface="Calibri"/>
                        </a:rPr>
                        <a:t>Set each of four counts to zero</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tp += 1</a:t>
                      </a:r>
                    </a:p>
                  </a:txBody>
                  <a:tcPr marL="91440" marR="91440" marT="45720" marB="45720">
                    <a:solidFill>
                      <a:srgbClr val="FFFFFF"/>
                    </a:solidFill>
                  </a:tcPr>
                </a:tc>
                <a:tc>
                  <a:txBody>
                    <a:bodyPr/>
                    <a:lstStyle/>
                    <a:p>
                      <a:r>
                        <a:rPr sz="2025" b="0">
                          <a:solidFill>
                            <a:srgbClr val="1C3144"/>
                          </a:solidFill>
                          <a:latin typeface="Calibri"/>
                          <a:ea typeface="Calibri"/>
                          <a:cs typeface="Calibri"/>
                        </a:rPr>
                        <a:t>tp = tp + 1</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zip(actual, predicted)</a:t>
                      </a:r>
                    </a:p>
                  </a:txBody>
                  <a:tcPr marL="91440" marR="91440" marT="45720" marB="45720">
                    <a:solidFill>
                      <a:srgbClr val="EEF3F6"/>
                    </a:solidFill>
                  </a:tcPr>
                </a:tc>
                <a:tc>
                  <a:txBody>
                    <a:bodyPr/>
                    <a:lstStyle/>
                    <a:p>
                      <a:r>
                        <a:rPr sz="2025" b="0">
                          <a:solidFill>
                            <a:srgbClr val="1C3144"/>
                          </a:solidFill>
                          <a:latin typeface="Calibri"/>
                          <a:ea typeface="Calibri"/>
                          <a:cs typeface="Calibri"/>
                        </a:rPr>
                        <a:t>Pair items in the same positions</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elif condition:</a:t>
                      </a:r>
                    </a:p>
                  </a:txBody>
                  <a:tcPr marL="91440" marR="91440" marT="45720" marB="45720">
                    <a:solidFill>
                      <a:srgbClr val="FFFFFF"/>
                    </a:solidFill>
                  </a:tcPr>
                </a:tc>
                <a:tc>
                  <a:txBody>
                    <a:bodyPr/>
                    <a:lstStyle/>
                    <a:p>
                      <a:r>
                        <a:rPr sz="2025" b="0">
                          <a:solidFill>
                            <a:srgbClr val="1C3144"/>
                          </a:solidFill>
                          <a:latin typeface="Calibri"/>
                          <a:ea typeface="Calibri"/>
                          <a:cs typeface="Calibri"/>
                        </a:rPr>
                        <a:t>Try this branch if earlier ones failed</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81EF6B9F-B7C6-407C-AFB0-6CDA8FC5534D}"/>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Our paired lists must have matching lengths. zip alone stops at the shorter list.</a:t>
            </a:r>
          </a:p>
        </p:txBody>
      </p:sp>
      <p:sp>
        <p:nvSpPr>
          <p:cNvPr id="6" name="">
            <a:extLst xmlns:a="http://schemas.openxmlformats.org/drawingml/2006/main">
              <a:ext uri="{FF2B5EF4-FFF2-40B4-BE49-F238E27FC236}">
                <a16:creationId xmlns:a16="http://schemas.microsoft.com/office/drawing/2014/main" id="{841736E6-75CC-4243-8BA1-00EC59714F4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18</a:t>
            </a:r>
          </a:p>
        </p:txBody>
      </p:sp>
    </p:spTree>
    <p:extLst>
      <p:ext uri="{BB962C8B-B14F-4D97-AF65-F5344CB8AC3E}">
        <p14:creationId xmlns:p14="http://schemas.microsoft.com/office/powerpoint/2010/main" val="907524937"/>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06CD5C6-2269-4F17-958A-6C6BE6FED45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7B4E8EC-4099-421C-8E3F-B2549034B08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C20FDE10-09CF-4431-A928-C24E2EE343A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Classification outcomes in Python</a:t>
            </a:r>
          </a:p>
        </p:txBody>
      </p:sp>
      <p:sp>
        <p:nvSpPr>
          <p:cNvPr id="4" name="">
            <a:extLst xmlns:a="http://schemas.openxmlformats.org/drawingml/2006/main">
              <a:ext uri="{FF2B5EF4-FFF2-40B4-BE49-F238E27FC236}">
                <a16:creationId xmlns:a16="http://schemas.microsoft.com/office/drawing/2014/main" id="{DC076A80-7CAA-4070-8C2E-1A9E5C4E6C4C}"/>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4709859-5883-4DCE-A25C-859B1569F1F0}"/>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actual = [1, 1, 0, 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predicted = [1, 0, 1, 0]</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truth, guess in zip(actual, predicted):</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print(truth, guess)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Count the four categories on paper before calculating.</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tp, fn, fp, tn = 1, 1, 1, 1</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print(tp / (tp + fp))</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print(tp / (tp + fn))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print(5 * fn + fp)</a:t>
            </a:r>
          </a:p>
        </p:txBody>
      </p:sp>
      <p:sp>
        <p:nvSpPr>
          <p:cNvPr id="6" name="">
            <a:extLst xmlns:a="http://schemas.openxmlformats.org/drawingml/2006/main">
              <a:ext uri="{FF2B5EF4-FFF2-40B4-BE49-F238E27FC236}">
                <a16:creationId xmlns:a16="http://schemas.microsoft.com/office/drawing/2014/main" id="{672F7766-E47E-418D-A5D5-4D913C45B3A5}"/>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for takes the next item. The indented block repeats.</a:t>
            </a:r>
          </a:p>
        </p:txBody>
      </p:sp>
      <p:sp>
        <p:nvSpPr>
          <p:cNvPr id="7" name="">
            <a:extLst xmlns:a="http://schemas.openxmlformats.org/drawingml/2006/main">
              <a:ext uri="{FF2B5EF4-FFF2-40B4-BE49-F238E27FC236}">
                <a16:creationId xmlns:a16="http://schemas.microsoft.com/office/drawing/2014/main" id="{BC908911-2BB7-44DB-9302-F71A1BC5060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568AD285-96AD-4493-8200-CA44194C689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19</a:t>
            </a:r>
          </a:p>
        </p:txBody>
      </p:sp>
    </p:spTree>
    <p:extLst>
      <p:ext uri="{BB962C8B-B14F-4D97-AF65-F5344CB8AC3E}">
        <p14:creationId xmlns:p14="http://schemas.microsoft.com/office/powerpoint/2010/main" val="153890308"/>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DB32B26-975C-42A1-8B9F-6A02308D23A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C281636-0B8E-43C5-A6F9-3CEB2722761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99AFAAAA-88B7-49C9-8FB5-260B309CF41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Classification outcomes results</a:t>
            </a:r>
          </a:p>
        </p:txBody>
      </p:sp>
      <p:sp>
        <p:nvSpPr>
          <p:cNvPr id="4" name="">
            <a:extLst xmlns:a="http://schemas.openxmlformats.org/drawingml/2006/main">
              <a:ext uri="{FF2B5EF4-FFF2-40B4-BE49-F238E27FC236}">
                <a16:creationId xmlns:a16="http://schemas.microsoft.com/office/drawing/2014/main" id="{5F113D32-6AF6-4C6C-87CC-B290552F6F64}"/>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D1A845A-E22C-4A93-9AE5-B957A0E633EC}"/>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Four paired rows, then precision 0.5, recall 0.5 and teaching cost 6.</a:t>
            </a:r>
          </a:p>
        </p:txBody>
      </p:sp>
      <p:sp>
        <p:nvSpPr>
          <p:cNvPr id="6" name="">
            <a:extLst xmlns:a="http://schemas.openxmlformats.org/drawingml/2006/main">
              <a:ext uri="{FF2B5EF4-FFF2-40B4-BE49-F238E27FC236}">
                <a16:creationId xmlns:a16="http://schemas.microsoft.com/office/drawing/2014/main" id="{F157717E-6634-4BA3-9EEC-2D7A11AAA4AD}"/>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BF086808-F905-41FB-8712-A8DAAE10CFF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20</a:t>
            </a:r>
          </a:p>
        </p:txBody>
      </p:sp>
    </p:spTree>
    <p:extLst>
      <p:ext uri="{BB962C8B-B14F-4D97-AF65-F5344CB8AC3E}">
        <p14:creationId xmlns:p14="http://schemas.microsoft.com/office/powerpoint/2010/main" val="948550158"/>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6338B97-3EF1-433B-9951-561C2CC89A1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C880E30-1171-43CE-BECE-6863AABE824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71A00A55-55E6-4D72-89C5-7C2F202AB4A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the four counters</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Actual, predicted</a:t>
                      </a:r>
                    </a:p>
                  </a:txBody>
                  <a:tcPr marL="91440" marR="91440" marT="45720" marB="45720">
                    <a:solidFill>
                      <a:srgbClr val="2E7D6F"/>
                    </a:solidFill>
                  </a:tcPr>
                </a:tc>
                <a:tc>
                  <a:txBody>
                    <a:bodyPr/>
                    <a:lstStyle/>
                    <a:p>
                      <a:r>
                        <a:rPr sz="2025" b="1">
                          <a:solidFill>
                            <a:srgbClr val="FFFFFF"/>
                          </a:solidFill>
                          <a:latin typeface="Calibri"/>
                          <a:ea typeface="Calibri"/>
                          <a:cs typeface="Calibri"/>
                        </a:rPr>
                        <a:t>Chosen counter</a:t>
                      </a:r>
                    </a:p>
                  </a:txBody>
                  <a:tcPr marL="91440" marR="91440" marT="45720" marB="45720">
                    <a:solidFill>
                      <a:srgbClr val="2E7D6F"/>
                    </a:solidFill>
                  </a:tcPr>
                </a:tc>
                <a:tc>
                  <a:txBody>
                    <a:bodyPr/>
                    <a:lstStyle/>
                    <a:p>
                      <a:r>
                        <a:rPr sz="2025" b="1">
                          <a:solidFill>
                            <a:srgbClr val="FFFFFF"/>
                          </a:solidFill>
                          <a:latin typeface="Calibri"/>
                          <a:ea typeface="Calibri"/>
                          <a:cs typeface="Calibri"/>
                        </a:rPr>
                        <a:t>Counts: TP TN FP FN</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1, 1</a:t>
                      </a:r>
                    </a:p>
                  </a:txBody>
                  <a:tcPr marL="91440" marR="91440" marT="45720" marB="45720">
                    <a:solidFill>
                      <a:srgbClr val="EEF3F6"/>
                    </a:solidFill>
                  </a:tcPr>
                </a:tc>
                <a:tc>
                  <a:txBody>
                    <a:bodyPr/>
                    <a:lstStyle/>
                    <a:p>
                      <a:r>
                        <a:rPr sz="2025" b="0">
                          <a:solidFill>
                            <a:srgbClr val="1C3144"/>
                          </a:solidFill>
                          <a:latin typeface="Calibri"/>
                          <a:ea typeface="Calibri"/>
                          <a:cs typeface="Calibri"/>
                        </a:rPr>
                        <a:t>TP increases</a:t>
                      </a:r>
                    </a:p>
                  </a:txBody>
                  <a:tcPr marL="91440" marR="91440" marT="45720" marB="45720">
                    <a:solidFill>
                      <a:srgbClr val="EEF3F6"/>
                    </a:solidFill>
                  </a:tcPr>
                </a:tc>
                <a:tc>
                  <a:txBody>
                    <a:bodyPr/>
                    <a:lstStyle/>
                    <a:p>
                      <a:r>
                        <a:rPr sz="2025" b="0">
                          <a:solidFill>
                            <a:srgbClr val="1C3144"/>
                          </a:solidFill>
                          <a:latin typeface="Calibri"/>
                          <a:ea typeface="Calibri"/>
                          <a:cs typeface="Calibri"/>
                        </a:rPr>
                        <a:t>1 0 0 0</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1, 0</a:t>
                      </a:r>
                    </a:p>
                  </a:txBody>
                  <a:tcPr marL="91440" marR="91440" marT="45720" marB="45720">
                    <a:solidFill>
                      <a:srgbClr val="FFFFFF"/>
                    </a:solidFill>
                  </a:tcPr>
                </a:tc>
                <a:tc>
                  <a:txBody>
                    <a:bodyPr/>
                    <a:lstStyle/>
                    <a:p>
                      <a:r>
                        <a:rPr sz="2025" b="0">
                          <a:solidFill>
                            <a:srgbClr val="1C3144"/>
                          </a:solidFill>
                          <a:latin typeface="Calibri"/>
                          <a:ea typeface="Calibri"/>
                          <a:cs typeface="Calibri"/>
                        </a:rPr>
                        <a:t>FN increases</a:t>
                      </a:r>
                    </a:p>
                  </a:txBody>
                  <a:tcPr marL="91440" marR="91440" marT="45720" marB="45720">
                    <a:solidFill>
                      <a:srgbClr val="FFFFFF"/>
                    </a:solidFill>
                  </a:tcPr>
                </a:tc>
                <a:tc>
                  <a:txBody>
                    <a:bodyPr/>
                    <a:lstStyle/>
                    <a:p>
                      <a:r>
                        <a:rPr sz="2025" b="0">
                          <a:solidFill>
                            <a:srgbClr val="1C3144"/>
                          </a:solidFill>
                          <a:latin typeface="Calibri"/>
                          <a:ea typeface="Calibri"/>
                          <a:cs typeface="Calibri"/>
                        </a:rPr>
                        <a:t>1 0 0 1</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0, 1</a:t>
                      </a:r>
                    </a:p>
                  </a:txBody>
                  <a:tcPr marL="91440" marR="91440" marT="45720" marB="45720">
                    <a:solidFill>
                      <a:srgbClr val="EEF3F6"/>
                    </a:solidFill>
                  </a:tcPr>
                </a:tc>
                <a:tc>
                  <a:txBody>
                    <a:bodyPr/>
                    <a:lstStyle/>
                    <a:p>
                      <a:r>
                        <a:rPr sz="2025" b="0">
                          <a:solidFill>
                            <a:srgbClr val="1C3144"/>
                          </a:solidFill>
                          <a:latin typeface="Calibri"/>
                          <a:ea typeface="Calibri"/>
                          <a:cs typeface="Calibri"/>
                        </a:rPr>
                        <a:t>FP increases</a:t>
                      </a:r>
                    </a:p>
                  </a:txBody>
                  <a:tcPr marL="91440" marR="91440" marT="45720" marB="45720">
                    <a:solidFill>
                      <a:srgbClr val="EEF3F6"/>
                    </a:solidFill>
                  </a:tcPr>
                </a:tc>
                <a:tc>
                  <a:txBody>
                    <a:bodyPr/>
                    <a:lstStyle/>
                    <a:p>
                      <a:r>
                        <a:rPr sz="2025" b="0">
                          <a:solidFill>
                            <a:srgbClr val="1C3144"/>
                          </a:solidFill>
                          <a:latin typeface="Calibri"/>
                          <a:ea typeface="Calibri"/>
                          <a:cs typeface="Calibri"/>
                        </a:rPr>
                        <a:t>1 0 1 1</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0, 0</a:t>
                      </a:r>
                    </a:p>
                  </a:txBody>
                  <a:tcPr marL="91440" marR="91440" marT="45720" marB="45720">
                    <a:solidFill>
                      <a:srgbClr val="FFFFFF"/>
                    </a:solidFill>
                  </a:tcPr>
                </a:tc>
                <a:tc>
                  <a:txBody>
                    <a:bodyPr/>
                    <a:lstStyle/>
                    <a:p>
                      <a:r>
                        <a:rPr sz="2025" b="0">
                          <a:solidFill>
                            <a:srgbClr val="1C3144"/>
                          </a:solidFill>
                          <a:latin typeface="Calibri"/>
                          <a:ea typeface="Calibri"/>
                          <a:cs typeface="Calibri"/>
                        </a:rPr>
                        <a:t>TN increases</a:t>
                      </a:r>
                    </a:p>
                  </a:txBody>
                  <a:tcPr marL="91440" marR="91440" marT="45720" marB="45720">
                    <a:solidFill>
                      <a:srgbClr val="FFFFFF"/>
                    </a:solidFill>
                  </a:tcPr>
                </a:tc>
                <a:tc>
                  <a:txBody>
                    <a:bodyPr/>
                    <a:lstStyle/>
                    <a:p>
                      <a:r>
                        <a:rPr sz="2025" b="0">
                          <a:solidFill>
                            <a:srgbClr val="1C3144"/>
                          </a:solidFill>
                          <a:latin typeface="Calibri"/>
                          <a:ea typeface="Calibri"/>
                          <a:cs typeface="Calibri"/>
                        </a:rPr>
                        <a:t>1 1 1 1</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BBD5C3B4-F145-48C4-8612-BF80D4B39A44}"/>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All counts start at zero. Each observation follows exactly one if/elif/else branch.</a:t>
            </a:r>
          </a:p>
        </p:txBody>
      </p:sp>
      <p:sp>
        <p:nvSpPr>
          <p:cNvPr id="6" name="">
            <a:extLst xmlns:a="http://schemas.openxmlformats.org/drawingml/2006/main">
              <a:ext uri="{FF2B5EF4-FFF2-40B4-BE49-F238E27FC236}">
                <a16:creationId xmlns:a16="http://schemas.microsoft.com/office/drawing/2014/main" id="{BFDC76B6-0813-4A51-8646-79F59217A80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21</a:t>
            </a:r>
          </a:p>
        </p:txBody>
      </p:sp>
    </p:spTree>
    <p:extLst>
      <p:ext uri="{BB962C8B-B14F-4D97-AF65-F5344CB8AC3E}">
        <p14:creationId xmlns:p14="http://schemas.microsoft.com/office/powerpoint/2010/main" val="1154856426"/>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9824FF9-5D55-4262-8EFB-B30CC5A5C64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53C59D4-4545-49EB-8DF1-95933A6326F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F6C3AF9-7549-42C9-B413-44491E89667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Counting arbitrary paired observations</a:t>
            </a:r>
          </a:p>
        </p:txBody>
      </p:sp>
      <p:sp>
        <p:nvSpPr>
          <p:cNvPr id="4" name="">
            <a:extLst xmlns:a="http://schemas.openxmlformats.org/drawingml/2006/main">
              <a:ext uri="{FF2B5EF4-FFF2-40B4-BE49-F238E27FC236}">
                <a16:creationId xmlns:a16="http://schemas.microsoft.com/office/drawing/2014/main" id="{E327E576-D8F7-4B10-A3D4-90E0F19C8775}"/>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D30E4C9-19D9-4107-87C1-B4751F4D3CFD}"/>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2A486F1-CDD3-43F9-95D0-137ED87574EE}"/>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Start every counter at zero before the loop. == compares labels. and means both comparisons must be true. elif checks another condition only when earlier ones were false.</a:t>
            </a:r>
          </a:p>
        </p:txBody>
      </p:sp>
      <p:sp>
        <p:nvSpPr>
          <p:cNvPr id="7" name="">
            <a:extLst xmlns:a="http://schemas.openxmlformats.org/drawingml/2006/main">
              <a:ext uri="{FF2B5EF4-FFF2-40B4-BE49-F238E27FC236}">
                <a16:creationId xmlns:a16="http://schemas.microsoft.com/office/drawing/2014/main" id="{6336F2F6-4D75-40CB-918C-021E3911C6A9}"/>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tp = tn = fp = fn = 0 sets all four counters to zero. tp += 1 is shorthand for tp = tp + 1.</a:t>
            </a:r>
          </a:p>
        </p:txBody>
      </p:sp>
      <p:sp>
        <p:nvSpPr>
          <p:cNvPr id="8" name="">
            <a:extLst xmlns:a="http://schemas.openxmlformats.org/drawingml/2006/main">
              <a:ext uri="{FF2B5EF4-FFF2-40B4-BE49-F238E27FC236}">
                <a16:creationId xmlns:a16="http://schemas.microsoft.com/office/drawing/2014/main" id="{CB657A2F-44D4-4C46-87E8-132443FBB6F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22</a:t>
            </a:r>
          </a:p>
        </p:txBody>
      </p:sp>
    </p:spTree>
    <p:extLst>
      <p:ext uri="{BB962C8B-B14F-4D97-AF65-F5344CB8AC3E}">
        <p14:creationId xmlns:p14="http://schemas.microsoft.com/office/powerpoint/2010/main" val="1789442093"/>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A59A0921-D76F-4B83-A26F-E3155DEA92A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FBDC004-16FB-4977-8CDA-F9A1246C9F1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147A178-6985-4211-A05E-D71F8AAE9FD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Counting arbitrary paired observations in Python (1/3)</a:t>
            </a:r>
          </a:p>
        </p:txBody>
      </p:sp>
      <p:sp>
        <p:nvSpPr>
          <p:cNvPr id="4" name="">
            <a:extLst xmlns:a="http://schemas.openxmlformats.org/drawingml/2006/main">
              <a:ext uri="{FF2B5EF4-FFF2-40B4-BE49-F238E27FC236}">
                <a16:creationId xmlns:a16="http://schemas.microsoft.com/office/drawing/2014/main" id="{D95DA257-5B4A-4DF6-9565-00CC215EBCDA}"/>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5FEBFBF-0D7D-4F9B-87CB-1D9E6AA09F02}"/>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tp = tn = fp = fn = 0</a:t>
            </a:r>
          </a:p>
        </p:txBody>
      </p:sp>
      <p:sp>
        <p:nvSpPr>
          <p:cNvPr id="6" name="">
            <a:extLst xmlns:a="http://schemas.openxmlformats.org/drawingml/2006/main">
              <a:ext uri="{FF2B5EF4-FFF2-40B4-BE49-F238E27FC236}">
                <a16:creationId xmlns:a16="http://schemas.microsoft.com/office/drawing/2014/main" id="{902446E6-936A-4DD9-9ADA-CF681FE7A3A7}"/>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095D9102-0FC7-4E74-A694-1A5BA396BDB5}"/>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8" name="">
            <a:extLst xmlns:a="http://schemas.openxmlformats.org/drawingml/2006/main">
              <a:ext uri="{FF2B5EF4-FFF2-40B4-BE49-F238E27FC236}">
                <a16:creationId xmlns:a16="http://schemas.microsoft.com/office/drawing/2014/main" id="{30FF1BE7-86E1-4E81-93D3-95F5E9BF648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9" name="">
            <a:extLst xmlns:a="http://schemas.openxmlformats.org/drawingml/2006/main">
              <a:ext uri="{FF2B5EF4-FFF2-40B4-BE49-F238E27FC236}">
                <a16:creationId xmlns:a16="http://schemas.microsoft.com/office/drawing/2014/main" id="{2ED49DFA-683A-4AE6-A132-3D81322B7AA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23</a:t>
            </a:r>
          </a:p>
        </p:txBody>
      </p:sp>
    </p:spTree>
    <p:extLst>
      <p:ext uri="{BB962C8B-B14F-4D97-AF65-F5344CB8AC3E}">
        <p14:creationId xmlns:p14="http://schemas.microsoft.com/office/powerpoint/2010/main" val="1566721509"/>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D50025D2-A8F3-48EA-B7E2-EB649119A25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CCC51A1-CD2F-4E35-830E-CC71E568BB2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BCBE1E9-DBA2-480D-A7C2-F55CA2E8892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Counting arbitrary paired observations in Python (2/3)</a:t>
            </a:r>
          </a:p>
        </p:txBody>
      </p:sp>
      <p:sp>
        <p:nvSpPr>
          <p:cNvPr id="4" name="">
            <a:extLst xmlns:a="http://schemas.openxmlformats.org/drawingml/2006/main">
              <a:ext uri="{FF2B5EF4-FFF2-40B4-BE49-F238E27FC236}">
                <a16:creationId xmlns:a16="http://schemas.microsoft.com/office/drawing/2014/main" id="{10055C9C-1968-4F76-A019-A5AC8395F194}"/>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06BA707-4D12-48C4-9735-382760A1EDC4}"/>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44" b="0">
                <a:solidFill>
                  <a:srgbClr val="F4F7FA"/>
                </a:solidFill>
                <a:latin typeface="Courier New"/>
                <a:ea typeface="Courier New"/>
                <a:cs typeface="Courier New"/>
              </a:defRPr>
            </a:pPr>
            <a:r>
              <a:rPr sz="1944" b="0">
                <a:solidFill>
                  <a:srgbClr val="FFB080"/>
                </a:solidFill>
                <a:latin typeface="Courier New"/>
                <a:ea typeface="Courier New"/>
                <a:cs typeface="Courier New"/>
              </a:rPr>
              <a:t>for</a:t>
            </a:r>
            <a:r>
              <a:rPr sz="1944" b="0">
                <a:solidFill>
                  <a:srgbClr val="F4F7FA"/>
                </a:solidFill>
                <a:latin typeface="Courier New"/>
                <a:ea typeface="Courier New"/>
                <a:cs typeface="Courier New"/>
              </a:rPr>
              <a:t> truth, guess in zip(actual, predicted):</a:t>
            </a:r>
          </a:p>
          <a:p xmlns:a="http://schemas.openxmlformats.org/drawingml/2006/main">
            <a:pPr>
              <a:defRPr sz="1944" b="0">
                <a:solidFill>
                  <a:srgbClr val="F4F7FA"/>
                </a:solidFill>
                <a:latin typeface="Courier New"/>
                <a:ea typeface="Courier New"/>
                <a:cs typeface="Courier New"/>
              </a:defRPr>
            </a:pPr>
            <a:r>
              <a:rPr sz="1944" b="0">
                <a:solidFill>
                  <a:srgbClr val="F4F7FA"/>
                </a:solidFill>
                <a:latin typeface="Courier New"/>
                <a:ea typeface="Courier New"/>
                <a:cs typeface="Courier New"/>
              </a:rPr>
              <a:t>    </a:t>
            </a:r>
            <a:r>
              <a:rPr sz="1944" b="0">
                <a:solidFill>
                  <a:srgbClr val="FFB080"/>
                </a:solidFill>
                <a:latin typeface="Courier New"/>
                <a:ea typeface="Courier New"/>
                <a:cs typeface="Courier New"/>
              </a:rPr>
              <a:t>if</a:t>
            </a:r>
            <a:r>
              <a:rPr sz="1944" b="0">
                <a:solidFill>
                  <a:srgbClr val="F4F7FA"/>
                </a:solidFill>
                <a:latin typeface="Courier New"/>
                <a:ea typeface="Courier New"/>
                <a:cs typeface="Courier New"/>
              </a:rPr>
              <a:t> truth == 1 and guess == 1:</a:t>
            </a:r>
          </a:p>
          <a:p xmlns:a="http://schemas.openxmlformats.org/drawingml/2006/main">
            <a:pPr>
              <a:defRPr sz="1944" b="0">
                <a:solidFill>
                  <a:srgbClr val="F4F7FA"/>
                </a:solidFill>
                <a:latin typeface="Courier New"/>
                <a:ea typeface="Courier New"/>
                <a:cs typeface="Courier New"/>
              </a:defRPr>
            </a:pPr>
            <a:r>
              <a:rPr sz="1944" b="0">
                <a:solidFill>
                  <a:srgbClr val="F4F7FA"/>
                </a:solidFill>
                <a:latin typeface="Courier New"/>
                <a:ea typeface="Courier New"/>
                <a:cs typeface="Courier New"/>
              </a:rPr>
              <a:t>        tp += 1</a:t>
            </a:r>
          </a:p>
          <a:p xmlns:a="http://schemas.openxmlformats.org/drawingml/2006/main">
            <a:pPr>
              <a:defRPr sz="1944" b="0">
                <a:solidFill>
                  <a:srgbClr val="F4F7FA"/>
                </a:solidFill>
                <a:latin typeface="Courier New"/>
                <a:ea typeface="Courier New"/>
                <a:cs typeface="Courier New"/>
              </a:defRPr>
            </a:pPr>
            <a:r>
              <a:rPr sz="1944" b="0">
                <a:solidFill>
                  <a:srgbClr val="F4F7FA"/>
                </a:solidFill>
                <a:latin typeface="Courier New"/>
                <a:ea typeface="Courier New"/>
                <a:cs typeface="Courier New"/>
              </a:rPr>
              <a:t>    </a:t>
            </a:r>
            <a:r>
              <a:rPr sz="1944" b="0">
                <a:solidFill>
                  <a:srgbClr val="FFB080"/>
                </a:solidFill>
                <a:latin typeface="Courier New"/>
                <a:ea typeface="Courier New"/>
                <a:cs typeface="Courier New"/>
              </a:rPr>
              <a:t>elif</a:t>
            </a:r>
            <a:r>
              <a:rPr sz="1944" b="0">
                <a:solidFill>
                  <a:srgbClr val="F4F7FA"/>
                </a:solidFill>
                <a:latin typeface="Courier New"/>
                <a:ea typeface="Courier New"/>
                <a:cs typeface="Courier New"/>
              </a:rPr>
              <a:t> truth == 0 and guess == 0:</a:t>
            </a:r>
          </a:p>
          <a:p xmlns:a="http://schemas.openxmlformats.org/drawingml/2006/main">
            <a:pPr>
              <a:defRPr sz="1944" b="0">
                <a:solidFill>
                  <a:srgbClr val="F4F7FA"/>
                </a:solidFill>
                <a:latin typeface="Courier New"/>
                <a:ea typeface="Courier New"/>
                <a:cs typeface="Courier New"/>
              </a:defRPr>
            </a:pPr>
            <a:r>
              <a:rPr sz="1944" b="0">
                <a:solidFill>
                  <a:srgbClr val="F4F7FA"/>
                </a:solidFill>
                <a:latin typeface="Courier New"/>
                <a:ea typeface="Courier New"/>
                <a:cs typeface="Courier New"/>
              </a:rPr>
              <a:t>        tn += 1</a:t>
            </a:r>
          </a:p>
          <a:p xmlns:a="http://schemas.openxmlformats.org/drawingml/2006/main">
            <a:pPr>
              <a:defRPr sz="1944" b="0">
                <a:solidFill>
                  <a:srgbClr val="F4F7FA"/>
                </a:solidFill>
                <a:latin typeface="Courier New"/>
                <a:ea typeface="Courier New"/>
                <a:cs typeface="Courier New"/>
              </a:defRPr>
            </a:pPr>
            <a:r>
              <a:rPr sz="1944" b="0">
                <a:solidFill>
                  <a:srgbClr val="F4F7FA"/>
                </a:solidFill>
                <a:latin typeface="Courier New"/>
                <a:ea typeface="Courier New"/>
                <a:cs typeface="Courier New"/>
              </a:rPr>
              <a:t>    elif truth == 0 and guess == 1:</a:t>
            </a:r>
          </a:p>
          <a:p xmlns:a="http://schemas.openxmlformats.org/drawingml/2006/main">
            <a:pPr>
              <a:defRPr sz="1944" b="0">
                <a:solidFill>
                  <a:srgbClr val="F4F7FA"/>
                </a:solidFill>
                <a:latin typeface="Courier New"/>
                <a:ea typeface="Courier New"/>
                <a:cs typeface="Courier New"/>
              </a:defRPr>
            </a:pPr>
            <a:r>
              <a:rPr sz="1944" b="0">
                <a:solidFill>
                  <a:srgbClr val="F4F7FA"/>
                </a:solidFill>
                <a:latin typeface="Courier New"/>
                <a:ea typeface="Courier New"/>
                <a:cs typeface="Courier New"/>
              </a:rPr>
              <a:t>        fp += 1</a:t>
            </a:r>
          </a:p>
          <a:p xmlns:a="http://schemas.openxmlformats.org/drawingml/2006/main">
            <a:pPr>
              <a:defRPr sz="1944" b="0">
                <a:solidFill>
                  <a:srgbClr val="F4F7FA"/>
                </a:solidFill>
                <a:latin typeface="Courier New"/>
                <a:ea typeface="Courier New"/>
                <a:cs typeface="Courier New"/>
              </a:defRPr>
            </a:pPr>
            <a:r>
              <a:rPr sz="1944" b="0">
                <a:solidFill>
                  <a:srgbClr val="F4F7FA"/>
                </a:solidFill>
                <a:latin typeface="Courier New"/>
                <a:ea typeface="Courier New"/>
                <a:cs typeface="Courier New"/>
              </a:rPr>
              <a:t>    </a:t>
            </a:r>
            <a:r>
              <a:rPr sz="1944" b="0">
                <a:solidFill>
                  <a:srgbClr val="FFB080"/>
                </a:solidFill>
                <a:latin typeface="Courier New"/>
                <a:ea typeface="Courier New"/>
                <a:cs typeface="Courier New"/>
              </a:rPr>
              <a:t>else</a:t>
            </a:r>
            <a:r>
              <a:rPr sz="1944" b="0">
                <a:solidFill>
                  <a:srgbClr val="F4F7FA"/>
                </a:solidFill>
                <a:latin typeface="Courier New"/>
                <a:ea typeface="Courier New"/>
                <a:cs typeface="Courier New"/>
              </a:rPr>
              <a:t>:</a:t>
            </a:r>
          </a:p>
          <a:p xmlns:a="http://schemas.openxmlformats.org/drawingml/2006/main">
            <a:pPr>
              <a:defRPr sz="1944" b="0">
                <a:solidFill>
                  <a:srgbClr val="F4F7FA"/>
                </a:solidFill>
                <a:latin typeface="Courier New"/>
                <a:ea typeface="Courier New"/>
                <a:cs typeface="Courier New"/>
              </a:defRPr>
            </a:pPr>
            <a:r>
              <a:rPr sz="1944" b="0">
                <a:solidFill>
                  <a:srgbClr val="F4F7FA"/>
                </a:solidFill>
                <a:latin typeface="Courier New"/>
                <a:ea typeface="Courier New"/>
                <a:cs typeface="Courier New"/>
              </a:rPr>
              <a:t>        fn += 1</a:t>
            </a:r>
          </a:p>
        </p:txBody>
      </p:sp>
      <p:sp>
        <p:nvSpPr>
          <p:cNvPr id="6" name="">
            <a:extLst xmlns:a="http://schemas.openxmlformats.org/drawingml/2006/main">
              <a:ext uri="{FF2B5EF4-FFF2-40B4-BE49-F238E27FC236}">
                <a16:creationId xmlns:a16="http://schemas.microsoft.com/office/drawing/2014/main" id="{DD146580-13E7-496D-AF6D-804E1CA44F9F}"/>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8D8669D0-187A-41B4-BF4B-F24436C4B3C1}"/>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8DE785DE-DBA2-437A-970F-D22C1E8AABCB}"/>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9" name="">
            <a:extLst xmlns:a="http://schemas.openxmlformats.org/drawingml/2006/main">
              <a:ext uri="{FF2B5EF4-FFF2-40B4-BE49-F238E27FC236}">
                <a16:creationId xmlns:a16="http://schemas.microsoft.com/office/drawing/2014/main" id="{5EECF9FD-DBC6-43FB-AC84-D2DE305DE0E7}"/>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zip pairs items at matching positions in these equal-length lists.</a:t>
            </a:r>
          </a:p>
        </p:txBody>
      </p:sp>
      <p:sp>
        <p:nvSpPr>
          <p:cNvPr id="10" name="">
            <a:extLst xmlns:a="http://schemas.openxmlformats.org/drawingml/2006/main">
              <a:ext uri="{FF2B5EF4-FFF2-40B4-BE49-F238E27FC236}">
                <a16:creationId xmlns:a16="http://schemas.microsoft.com/office/drawing/2014/main" id="{DC028C1D-E2EB-4208-8CC2-50889BE1F78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11" name="">
            <a:extLst xmlns:a="http://schemas.openxmlformats.org/drawingml/2006/main">
              <a:ext uri="{FF2B5EF4-FFF2-40B4-BE49-F238E27FC236}">
                <a16:creationId xmlns:a16="http://schemas.microsoft.com/office/drawing/2014/main" id="{4C79F00D-3B14-4CFF-89C5-F5BA59776B9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24</a:t>
            </a:r>
          </a:p>
        </p:txBody>
      </p:sp>
    </p:spTree>
    <p:extLst>
      <p:ext uri="{BB962C8B-B14F-4D97-AF65-F5344CB8AC3E}">
        <p14:creationId xmlns:p14="http://schemas.microsoft.com/office/powerpoint/2010/main" val="872093191"/>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2DCB53F8-DC56-4D43-BABF-9E0CECD604B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EB53DF5-8031-4F5E-840F-D80DFAF3CA9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A6646914-87D3-4353-86B2-A3D682AEE9A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Counting arbitrary paired observations in Python (3/3)</a:t>
            </a:r>
          </a:p>
        </p:txBody>
      </p:sp>
      <p:sp>
        <p:nvSpPr>
          <p:cNvPr id="4" name="">
            <a:extLst xmlns:a="http://schemas.openxmlformats.org/drawingml/2006/main">
              <a:ext uri="{FF2B5EF4-FFF2-40B4-BE49-F238E27FC236}">
                <a16:creationId xmlns:a16="http://schemas.microsoft.com/office/drawing/2014/main" id="{75A5D9B0-FCDB-443D-BC2E-374F86A16CB9}"/>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90EBB21-16ED-4277-8ADA-6332962B6765}"/>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print(tp, tn, fp, fn)</a:t>
            </a:r>
          </a:p>
        </p:txBody>
      </p:sp>
      <p:sp>
        <p:nvSpPr>
          <p:cNvPr id="6" name="">
            <a:extLst xmlns:a="http://schemas.openxmlformats.org/drawingml/2006/main">
              <a:ext uri="{FF2B5EF4-FFF2-40B4-BE49-F238E27FC236}">
                <a16:creationId xmlns:a16="http://schemas.microsoft.com/office/drawing/2014/main" id="{914C86D2-3FD6-4FDB-8C7D-B5CF45FE30B3}"/>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3BC216FB-C980-4187-99C2-AEDABF4A2214}"/>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C8C4A28F-8D22-4514-8D28-5EB13356665A}"/>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9" name="">
            <a:extLst xmlns:a="http://schemas.openxmlformats.org/drawingml/2006/main">
              <a:ext uri="{FF2B5EF4-FFF2-40B4-BE49-F238E27FC236}">
                <a16:creationId xmlns:a16="http://schemas.microsoft.com/office/drawing/2014/main" id="{7506A6FA-87DB-4845-8860-0C243448FF8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25</a:t>
            </a:r>
          </a:p>
        </p:txBody>
      </p:sp>
    </p:spTree>
    <p:extLst>
      <p:ext uri="{BB962C8B-B14F-4D97-AF65-F5344CB8AC3E}">
        <p14:creationId xmlns:p14="http://schemas.microsoft.com/office/powerpoint/2010/main" val="23691999"/>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28C6434-C6C4-4298-AD8A-81B9F0E4693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25C3943-28A1-45B7-BE77-8C3C013383C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75EDF0F6-1814-476B-BA21-DEF735F8E19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Represent a category with indicators</a:t>
            </a:r>
          </a:p>
        </p:txBody>
      </p:sp>
      <p:sp>
        <p:nvSpPr>
          <p:cNvPr id="4" name="">
            <a:extLst xmlns:a="http://schemas.openxmlformats.org/drawingml/2006/main">
              <a:ext uri="{FF2B5EF4-FFF2-40B4-BE49-F238E27FC236}">
                <a16:creationId xmlns:a16="http://schemas.microsoft.com/office/drawing/2014/main" id="{E5605812-EFDA-4E35-8B76-CA7DA9469CE5}"/>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9F28E55-1632-4A4A-A3D9-03E9EC625342}"/>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Category</a:t>
            </a:r>
          </a:p>
        </p:txBody>
      </p:sp>
      <p:sp>
        <p:nvSpPr>
          <p:cNvPr id="6" name="">
            <a:extLst xmlns:a="http://schemas.openxmlformats.org/drawingml/2006/main">
              <a:ext uri="{FF2B5EF4-FFF2-40B4-BE49-F238E27FC236}">
                <a16:creationId xmlns:a16="http://schemas.microsoft.com/office/drawing/2014/main" id="{96080F7F-A0BC-4402-97A1-6BAD12A06527}"/>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category is a label such as steel or timber. Its name does not imply a numerical size or rank.</a:t>
            </a:r>
          </a:p>
        </p:txBody>
      </p:sp>
      <p:sp>
        <p:nvSpPr>
          <p:cNvPr id="7" name="">
            <a:extLst xmlns:a="http://schemas.openxmlformats.org/drawingml/2006/main">
              <a:ext uri="{FF2B5EF4-FFF2-40B4-BE49-F238E27FC236}">
                <a16:creationId xmlns:a16="http://schemas.microsoft.com/office/drawing/2014/main" id="{597F14A8-B867-4A11-BA82-813ABA877E72}"/>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DF2BB876-B52C-4CBD-9FBF-11B8864C5212}"/>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One-hot indicator</a:t>
            </a:r>
          </a:p>
        </p:txBody>
      </p:sp>
      <p:sp>
        <p:nvSpPr>
          <p:cNvPr id="9" name="">
            <a:extLst xmlns:a="http://schemas.openxmlformats.org/drawingml/2006/main">
              <a:ext uri="{FF2B5EF4-FFF2-40B4-BE49-F238E27FC236}">
                <a16:creationId xmlns:a16="http://schemas.microsoft.com/office/drawing/2014/main" id="{9F7D70F3-35BF-418E-B680-BD5AE1E81611}"/>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Create a column for each category. Its entry is 1 when the row has that category and 0 otherwise. Learn the allowed categories from training data.</a:t>
            </a:r>
          </a:p>
        </p:txBody>
      </p:sp>
      <p:sp>
        <p:nvSpPr>
          <p:cNvPr id="10" name="">
            <a:extLst xmlns:a="http://schemas.openxmlformats.org/drawingml/2006/main">
              <a:ext uri="{FF2B5EF4-FFF2-40B4-BE49-F238E27FC236}">
                <a16:creationId xmlns:a16="http://schemas.microsoft.com/office/drawing/2014/main" id="{20BBD187-8772-4F5B-BB04-59939F35BC8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26</a:t>
            </a:r>
          </a:p>
        </p:txBody>
      </p:sp>
    </p:spTree>
    <p:extLst>
      <p:ext uri="{BB962C8B-B14F-4D97-AF65-F5344CB8AC3E}">
        <p14:creationId xmlns:p14="http://schemas.microsoft.com/office/powerpoint/2010/main" val="600067106"/>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4D844D8-36D8-4C7E-991C-6129CAB7A26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FAA5C0A-E402-4767-AAED-CCF5013394B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DA65A4A4-C31B-4C06-B5B2-2FB6B68DE70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category can become indicator columns</a:t>
            </a:r>
          </a:p>
        </p:txBody>
      </p:sp>
      <p:graphicFrame>
        <p:nvGraphicFramePr>
          <p:cNvPr id="10" name=""/>
          <p:cNvGraphicFramePr/>
          <p:nvPr/>
        </p:nvGraphicFramePr>
        <p:xfrm>
          <a:off xmlns:a="http://schemas.openxmlformats.org/drawingml/2006/main" x="590550" y="1733550"/>
          <a:ext xmlns:a="http://schemas.openxmlformats.org/drawingml/2006/main" cx="11010900" cy="2286000"/>
        </p:xfrm>
        <a:graphic xmlns:a="http://schemas.openxmlformats.org/drawingml/2006/main">
          <a:graphicData uri="http://schemas.openxmlformats.org/drawingml/2006/table">
            <a:tbl>
              <a:tblPr/>
              <a:tblGrid>
                <a:gridCol w="3670300"/>
                <a:gridCol w="3670300"/>
                <a:gridCol w="3670300"/>
              </a:tblGrid>
              <a:tr h="762000">
                <a:tc>
                  <a:txBody>
                    <a:bodyPr/>
                    <a:lstStyle/>
                    <a:p>
                      <a:r>
                        <a:rPr sz="2025" b="1">
                          <a:solidFill>
                            <a:srgbClr val="FFFFFF"/>
                          </a:solidFill>
                          <a:latin typeface="Calibri"/>
                          <a:ea typeface="Calibri"/>
                          <a:cs typeface="Calibri"/>
                        </a:rPr>
                        <a:t>Material</a:t>
                      </a:r>
                    </a:p>
                  </a:txBody>
                  <a:tcPr marL="91440" marR="91440" marT="45720" marB="45720">
                    <a:solidFill>
                      <a:srgbClr val="2E7D6F"/>
                    </a:solidFill>
                  </a:tcPr>
                </a:tc>
                <a:tc>
                  <a:txBody>
                    <a:bodyPr/>
                    <a:lstStyle/>
                    <a:p>
                      <a:r>
                        <a:rPr sz="2025" b="1">
                          <a:solidFill>
                            <a:srgbClr val="FFFFFF"/>
                          </a:solidFill>
                          <a:latin typeface="Calibri"/>
                          <a:ea typeface="Calibri"/>
                          <a:cs typeface="Calibri"/>
                        </a:rPr>
                        <a:t>is_steel</a:t>
                      </a:r>
                    </a:p>
                  </a:txBody>
                  <a:tcPr marL="91440" marR="91440" marT="45720" marB="45720">
                    <a:solidFill>
                      <a:srgbClr val="2E7D6F"/>
                    </a:solidFill>
                  </a:tcPr>
                </a:tc>
                <a:tc>
                  <a:txBody>
                    <a:bodyPr/>
                    <a:lstStyle/>
                    <a:p>
                      <a:r>
                        <a:rPr sz="2025" b="1">
                          <a:solidFill>
                            <a:srgbClr val="FFFFFF"/>
                          </a:solidFill>
                          <a:latin typeface="Calibri"/>
                          <a:ea typeface="Calibri"/>
                          <a:cs typeface="Calibri"/>
                        </a:rPr>
                        <a:t>is_timber</a:t>
                      </a:r>
                    </a:p>
                  </a:txBody>
                  <a:tcPr marL="91440" marR="91440" marT="45720" marB="45720">
                    <a:solidFill>
                      <a:srgbClr val="2E7D6F"/>
                    </a:solidFill>
                  </a:tcPr>
                </a:tc>
              </a:tr>
              <a:tr h="762000">
                <a:tc>
                  <a:txBody>
                    <a:bodyPr/>
                    <a:lstStyle/>
                    <a:p>
                      <a:r>
                        <a:rPr sz="2025" b="0">
                          <a:solidFill>
                            <a:srgbClr val="1C3144"/>
                          </a:solidFill>
                          <a:latin typeface="Calibri"/>
                          <a:ea typeface="Calibri"/>
                          <a:cs typeface="Calibri"/>
                        </a:rPr>
                        <a:t>steel</a:t>
                      </a:r>
                    </a:p>
                  </a:txBody>
                  <a:tcPr marL="91440" marR="91440" marT="45720" marB="45720">
                    <a:solidFill>
                      <a:srgbClr val="EEF3F6"/>
                    </a:solidFill>
                  </a:tcPr>
                </a:tc>
                <a:tc>
                  <a:txBody>
                    <a:bodyPr/>
                    <a:lstStyle/>
                    <a:p>
                      <a:r>
                        <a:rPr sz="2025" b="0">
                          <a:solidFill>
                            <a:srgbClr val="1C3144"/>
                          </a:solidFill>
                          <a:latin typeface="Calibri"/>
                          <a:ea typeface="Calibri"/>
                          <a:cs typeface="Calibri"/>
                        </a:rPr>
                        <a:t>1</a:t>
                      </a:r>
                    </a:p>
                  </a:txBody>
                  <a:tcPr marL="91440" marR="91440" marT="45720" marB="45720">
                    <a:solidFill>
                      <a:srgbClr val="EEF3F6"/>
                    </a:solidFill>
                  </a:tcPr>
                </a:tc>
                <a:tc>
                  <a:txBody>
                    <a:bodyPr/>
                    <a:lstStyle/>
                    <a:p>
                      <a:r>
                        <a:rPr sz="2025" b="0">
                          <a:solidFill>
                            <a:srgbClr val="1C3144"/>
                          </a:solidFill>
                          <a:latin typeface="Calibri"/>
                          <a:ea typeface="Calibri"/>
                          <a:cs typeface="Calibri"/>
                        </a:rPr>
                        <a:t>0</a:t>
                      </a:r>
                    </a:p>
                  </a:txBody>
                  <a:tcPr marL="91440" marR="91440" marT="45720" marB="45720">
                    <a:solidFill>
                      <a:srgbClr val="EEF3F6"/>
                    </a:solidFill>
                  </a:tcPr>
                </a:tc>
              </a:tr>
              <a:tr h="762000">
                <a:tc>
                  <a:txBody>
                    <a:bodyPr/>
                    <a:lstStyle/>
                    <a:p>
                      <a:r>
                        <a:rPr sz="2025" b="0">
                          <a:solidFill>
                            <a:srgbClr val="1C3144"/>
                          </a:solidFill>
                          <a:latin typeface="Calibri"/>
                          <a:ea typeface="Calibri"/>
                          <a:cs typeface="Calibri"/>
                        </a:rPr>
                        <a:t>timber</a:t>
                      </a:r>
                    </a:p>
                  </a:txBody>
                  <a:tcPr marL="91440" marR="91440" marT="45720" marB="45720">
                    <a:solidFill>
                      <a:srgbClr val="FFFFFF"/>
                    </a:solidFill>
                  </a:tcPr>
                </a:tc>
                <a:tc>
                  <a:txBody>
                    <a:bodyPr/>
                    <a:lstStyle/>
                    <a:p>
                      <a:r>
                        <a:rPr sz="2025" b="0">
                          <a:solidFill>
                            <a:srgbClr val="1C3144"/>
                          </a:solidFill>
                          <a:latin typeface="Calibri"/>
                          <a:ea typeface="Calibri"/>
                          <a:cs typeface="Calibri"/>
                        </a:rPr>
                        <a:t>0</a:t>
                      </a:r>
                    </a:p>
                  </a:txBody>
                  <a:tcPr marL="91440" marR="91440" marT="45720" marB="45720">
                    <a:solidFill>
                      <a:srgbClr val="FFFFFF"/>
                    </a:solidFill>
                  </a:tcPr>
                </a:tc>
                <a:tc>
                  <a:txBody>
                    <a:bodyPr/>
                    <a:lstStyle/>
                    <a:p>
                      <a:r>
                        <a:rPr sz="2025" b="0">
                          <a:solidFill>
                            <a:srgbClr val="1C3144"/>
                          </a:solidFill>
                          <a:latin typeface="Calibri"/>
                          <a:ea typeface="Calibri"/>
                          <a:cs typeface="Calibri"/>
                        </a:rPr>
                        <a:t>1</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673A061B-ACEC-4975-90FD-B3255ADE4140}"/>
              </a:ext>
            </a:extLst>
          </p:cNvPr>
          <p:cNvSpPr>
            <a:spLocks xmlns:a="http://schemas.openxmlformats.org/drawingml/2006/main" noGrp="1"/>
          </p:cNvSpPr>
          <p:nvPr/>
        </p:nvSpPr>
        <p:spPr>
          <a:xfrm xmlns:a="http://schemas.openxmlformats.org/drawingml/2006/main">
            <a:off x="685800" y="433387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An encoder converts category labels to numeric columns. Fit it on training data. Each indicator is 1 when that category applies, otherwise 0.</a:t>
            </a:r>
          </a:p>
        </p:txBody>
      </p:sp>
      <p:sp>
        <p:nvSpPr>
          <p:cNvPr id="6" name="">
            <a:extLst xmlns:a="http://schemas.openxmlformats.org/drawingml/2006/main">
              <a:ext uri="{FF2B5EF4-FFF2-40B4-BE49-F238E27FC236}">
                <a16:creationId xmlns:a16="http://schemas.microsoft.com/office/drawing/2014/main" id="{2B555E2F-8BC0-434D-90A1-A731CEC1586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27</a:t>
            </a:r>
          </a:p>
        </p:txBody>
      </p:sp>
    </p:spTree>
    <p:extLst>
      <p:ext uri="{BB962C8B-B14F-4D97-AF65-F5344CB8AC3E}">
        <p14:creationId xmlns:p14="http://schemas.microsoft.com/office/powerpoint/2010/main" val="1033795901"/>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274CFB8-DAEA-4649-B548-C286C736EDF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4F80B6D-BF9A-4FC3-9C4F-444FEFD4B88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321E8D4-CF16-4796-A79A-742DF392A0F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Accuracy can hide missed warnings</a:t>
            </a:r>
          </a:p>
        </p:txBody>
      </p:sp>
      <p:sp>
        <p:nvSpPr>
          <p:cNvPr id="4" name="">
            <a:extLst xmlns:a="http://schemas.openxmlformats.org/drawingml/2006/main">
              <a:ext uri="{FF2B5EF4-FFF2-40B4-BE49-F238E27FC236}">
                <a16:creationId xmlns:a16="http://schemas.microsoft.com/office/drawing/2014/main" id="{3A0F705F-7DCF-4085-A902-70CB7D8DACF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370E960-1DCD-49ED-B153-13F8434E7D25}"/>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Accuracy = number of correct labels / number of labels. It counts correct warnings and correct non-warnings together.</a:t>
            </a:r>
          </a:p>
        </p:txBody>
      </p:sp>
      <p:sp>
        <p:nvSpPr>
          <p:cNvPr id="6" name="">
            <a:extLst xmlns:a="http://schemas.openxmlformats.org/drawingml/2006/main">
              <a:ext uri="{FF2B5EF4-FFF2-40B4-BE49-F238E27FC236}">
                <a16:creationId xmlns:a16="http://schemas.microsoft.com/office/drawing/2014/main" id="{3BE1C391-4EBF-487C-A83D-957A2511F3C1}"/>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F0BF144-3E07-4FA8-88E4-8AD8592037B1}"/>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If 90 of 100 cases need no warning, predicting no warning every time gives 90% accuracy. It detects none of the 10 real warnings: recall is 0.</a:t>
            </a:r>
          </a:p>
        </p:txBody>
      </p:sp>
      <p:sp>
        <p:nvSpPr>
          <p:cNvPr id="8" name="">
            <a:extLst xmlns:a="http://schemas.openxmlformats.org/drawingml/2006/main">
              <a:ext uri="{FF2B5EF4-FFF2-40B4-BE49-F238E27FC236}">
                <a16:creationId xmlns:a16="http://schemas.microsoft.com/office/drawing/2014/main" id="{137486E2-591B-4F9A-96F3-6306572A5F04}"/>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AB02195-9113-4CFD-9B1F-1893437B1A80}"/>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Always inspect the actual/predicted counts and relevant costs before calling a classifier useful.</a:t>
            </a:r>
          </a:p>
        </p:txBody>
      </p:sp>
      <p:sp>
        <p:nvSpPr>
          <p:cNvPr id="10" name="">
            <a:extLst xmlns:a="http://schemas.openxmlformats.org/drawingml/2006/main">
              <a:ext uri="{FF2B5EF4-FFF2-40B4-BE49-F238E27FC236}">
                <a16:creationId xmlns:a16="http://schemas.microsoft.com/office/drawing/2014/main" id="{469F91F3-8AEF-4A71-8096-0EF379E4398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28</a:t>
            </a:r>
          </a:p>
        </p:txBody>
      </p:sp>
    </p:spTree>
    <p:extLst>
      <p:ext uri="{BB962C8B-B14F-4D97-AF65-F5344CB8AC3E}">
        <p14:creationId xmlns:p14="http://schemas.microsoft.com/office/powerpoint/2010/main" val="1416560019"/>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5EC0D65-1F93-49E3-9C3E-D89E38BFE55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AC4003B-BB7B-43FB-B4CF-4CFFBCE8F67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68ECBE3-CD32-4D36-AE20-894D0C426E2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example and answer</a:t>
            </a:r>
          </a:p>
        </p:txBody>
      </p:sp>
      <p:sp>
        <p:nvSpPr>
          <p:cNvPr id="4" name="">
            <a:extLst xmlns:a="http://schemas.openxmlformats.org/drawingml/2006/main">
              <a:ext uri="{FF2B5EF4-FFF2-40B4-BE49-F238E27FC236}">
                <a16:creationId xmlns:a16="http://schemas.microsoft.com/office/drawing/2014/main" id="{8AF92B63-D1CA-4969-AF1D-445900CCC672}"/>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DC9D34A-C435-4C33-9C7D-CB5D7C036C43}"/>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4AD6AF26-C491-4253-9DFE-ED5DFD48BE81}"/>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Example: Change the second prediction to 1. Count again. Does this improve both recall and the assumed cost?</a:t>
            </a:r>
          </a:p>
        </p:txBody>
      </p:sp>
      <p:sp>
        <p:nvSpPr>
          <p:cNvPr id="7" name="">
            <a:extLst xmlns:a="http://schemas.openxmlformats.org/drawingml/2006/main">
              <a:ext uri="{FF2B5EF4-FFF2-40B4-BE49-F238E27FC236}">
                <a16:creationId xmlns:a16="http://schemas.microsoft.com/office/drawing/2014/main" id="{71358ED1-A903-4B19-B214-8B905944839F}"/>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Answer: TP=2, FN=0, FP=1, TN=1. Precision 2/3, recall 1, cost 1. This particular change improves recall and cost.</a:t>
            </a:r>
          </a:p>
        </p:txBody>
      </p:sp>
      <p:sp>
        <p:nvSpPr>
          <p:cNvPr id="8" name="">
            <a:extLst xmlns:a="http://schemas.openxmlformats.org/drawingml/2006/main">
              <a:ext uri="{FF2B5EF4-FFF2-40B4-BE49-F238E27FC236}">
                <a16:creationId xmlns:a16="http://schemas.microsoft.com/office/drawing/2014/main" id="{8477BDAA-412F-4159-8737-77A867EB5E9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29</a:t>
            </a:r>
          </a:p>
        </p:txBody>
      </p:sp>
    </p:spTree>
    <p:extLst>
      <p:ext uri="{BB962C8B-B14F-4D97-AF65-F5344CB8AC3E}">
        <p14:creationId xmlns:p14="http://schemas.microsoft.com/office/powerpoint/2010/main" val="1632460560"/>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FEA7EA6-D20B-45BC-82C2-0D10F8A6500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6CBAE91-C442-47BA-8F8B-35E2559F69D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B7720AC1-A4EF-44F7-B2A2-221AE0217F8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4FA200A0-96D6-4D50-8AFA-EB1A5E5372A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3030A19-724C-4659-A057-BC6DB9B40865}"/>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Implement classification_metrics on arbitrary paired binary labels, not only the example.</a:t>
            </a:r>
          </a:p>
        </p:txBody>
      </p:sp>
      <p:sp>
        <p:nvSpPr>
          <p:cNvPr id="6" name="">
            <a:extLst xmlns:a="http://schemas.openxmlformats.org/drawingml/2006/main">
              <a:ext uri="{FF2B5EF4-FFF2-40B4-BE49-F238E27FC236}">
                <a16:creationId xmlns:a16="http://schemas.microsoft.com/office/drawing/2014/main" id="{0028A72E-5C51-4BAD-8C1B-F9E7E22D4EA7}"/>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5B0FFA0-ADFA-4D06-AA4E-E7B05BFA0278}"/>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published zero-denominator convention.</a:t>
            </a:r>
          </a:p>
        </p:txBody>
      </p:sp>
      <p:sp>
        <p:nvSpPr>
          <p:cNvPr id="8" name="">
            <a:extLst xmlns:a="http://schemas.openxmlformats.org/drawingml/2006/main">
              <a:ext uri="{FF2B5EF4-FFF2-40B4-BE49-F238E27FC236}">
                <a16:creationId xmlns:a16="http://schemas.microsoft.com/office/drawing/2014/main" id="{02963898-EF4C-4DA3-93D8-322F370BF136}"/>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3AD32CA-506A-4B6B-ACE4-5DCE307C0A7A}"/>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the supplied W09 comparison separately.</a:t>
            </a:r>
          </a:p>
        </p:txBody>
      </p:sp>
      <p:sp>
        <p:nvSpPr>
          <p:cNvPr id="10" name="">
            <a:extLst xmlns:a="http://schemas.openxmlformats.org/drawingml/2006/main">
              <a:ext uri="{FF2B5EF4-FFF2-40B4-BE49-F238E27FC236}">
                <a16:creationId xmlns:a16="http://schemas.microsoft.com/office/drawing/2014/main" id="{A745B3D4-2AFC-4B51-94EA-64C62982A10A}"/>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19D138F6-9A13-473B-BC37-B9A08B7471F1}"/>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Teacher-written cost assumptions are not approved operating limits.</a:t>
            </a:r>
          </a:p>
        </p:txBody>
      </p:sp>
      <p:sp>
        <p:nvSpPr>
          <p:cNvPr id="12" name="">
            <a:extLst xmlns:a="http://schemas.openxmlformats.org/drawingml/2006/main">
              <a:ext uri="{FF2B5EF4-FFF2-40B4-BE49-F238E27FC236}">
                <a16:creationId xmlns:a16="http://schemas.microsoft.com/office/drawing/2014/main" id="{A8FF2BEE-CB9C-4ECB-A1AE-9FE517FCA36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30</a:t>
            </a:r>
          </a:p>
        </p:txBody>
      </p:sp>
    </p:spTree>
    <p:extLst>
      <p:ext uri="{BB962C8B-B14F-4D97-AF65-F5344CB8AC3E}">
        <p14:creationId xmlns:p14="http://schemas.microsoft.com/office/powerpoint/2010/main" val="799881268"/>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DDCB85D-ECBC-47C2-AA41-BA023332135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CD01F5B-C3FD-410B-A175-D1803D37BC9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7339F67C-BBDE-432A-8E8B-6CB2121DA1C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 continued</a:t>
            </a:r>
          </a:p>
        </p:txBody>
      </p:sp>
      <p:sp>
        <p:nvSpPr>
          <p:cNvPr id="4" name="">
            <a:extLst xmlns:a="http://schemas.openxmlformats.org/drawingml/2006/main">
              <a:ext uri="{FF2B5EF4-FFF2-40B4-BE49-F238E27FC236}">
                <a16:creationId xmlns:a16="http://schemas.microsoft.com/office/drawing/2014/main" id="{9EDF02B9-B870-4B5D-B6E9-0454518862B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C2AADF4-20E9-4A95-83F1-C2511126EAB1}"/>
              </a:ext>
            </a:extLst>
          </p:cNvPr>
          <p:cNvSpPr>
            <a:spLocks xmlns:a="http://schemas.openxmlformats.org/drawingml/2006/main" noGrp="1"/>
          </p:cNvSpPr>
          <p:nvPr/>
        </p:nvSpPr>
        <p:spPr>
          <a:xfrm xmlns:a="http://schemas.openxmlformats.org/drawingml/2006/main">
            <a:off x="1381125" y="1781175"/>
            <a:ext cx="10096500" cy="420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All claimed benefits require real-world evaluation.</a:t>
            </a:r>
          </a:p>
        </p:txBody>
      </p:sp>
      <p:sp>
        <p:nvSpPr>
          <p:cNvPr id="6" name="">
            <a:extLst xmlns:a="http://schemas.openxmlformats.org/drawingml/2006/main">
              <a:ext uri="{FF2B5EF4-FFF2-40B4-BE49-F238E27FC236}">
                <a16:creationId xmlns:a16="http://schemas.microsoft.com/office/drawing/2014/main" id="{ED8C2123-4EAC-4606-894D-6B0699C1AAB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31</a:t>
            </a:r>
          </a:p>
        </p:txBody>
      </p:sp>
    </p:spTree>
    <p:extLst>
      <p:ext uri="{BB962C8B-B14F-4D97-AF65-F5344CB8AC3E}">
        <p14:creationId xmlns:p14="http://schemas.microsoft.com/office/powerpoint/2010/main" val="537657309"/>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E6C0713-4004-4236-A64C-24EA4B5BF27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CB4D9A8-D5FE-46C5-821B-65F97BA0392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7627799-8A44-4A73-902E-0A005956FFD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Category predictions and operating thresholds</a:t>
            </a:r>
          </a:p>
        </p:txBody>
      </p:sp>
      <p:sp>
        <p:nvSpPr>
          <p:cNvPr id="4" name="">
            <a:extLst xmlns:a="http://schemas.openxmlformats.org/drawingml/2006/main">
              <a:ext uri="{FF2B5EF4-FFF2-40B4-BE49-F238E27FC236}">
                <a16:creationId xmlns:a16="http://schemas.microsoft.com/office/drawing/2014/main" id="{00254FFE-E62E-440F-845C-8A6794BF4E1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543E589-8295-4169-8119-03B1266838E2}"/>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majority-only classifier can achieve high accuracy while missing the rare class.</a:t>
            </a:r>
          </a:p>
        </p:txBody>
      </p:sp>
      <p:sp>
        <p:nvSpPr>
          <p:cNvPr id="6" name="">
            <a:extLst xmlns:a="http://schemas.openxmlformats.org/drawingml/2006/main">
              <a:ext uri="{FF2B5EF4-FFF2-40B4-BE49-F238E27FC236}">
                <a16:creationId xmlns:a16="http://schemas.microsoft.com/office/drawing/2014/main" id="{4FF7012B-D3C7-4279-98B7-A78059E1B241}"/>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D5B0780-0B0F-493A-8BFC-503F9376B1D7}"/>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Name the positive class and both confusion-matrix axes.</a:t>
            </a:r>
          </a:p>
        </p:txBody>
      </p:sp>
      <p:sp>
        <p:nvSpPr>
          <p:cNvPr id="8" name="">
            <a:extLst xmlns:a="http://schemas.openxmlformats.org/drawingml/2006/main">
              <a:ext uri="{FF2B5EF4-FFF2-40B4-BE49-F238E27FC236}">
                <a16:creationId xmlns:a16="http://schemas.microsoft.com/office/drawing/2014/main" id="{20E615CB-A667-48BC-B984-5F272CE525B8}"/>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6C94CC0-11B8-46AA-8069-E4CA91C22BAB}"/>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model expecting numeric features cannot directly use raw category strings; use numeric indicator columns for categories.</a:t>
            </a:r>
          </a:p>
        </p:txBody>
      </p:sp>
      <p:sp>
        <p:nvSpPr>
          <p:cNvPr id="10" name="">
            <a:extLst xmlns:a="http://schemas.openxmlformats.org/drawingml/2006/main">
              <a:ext uri="{FF2B5EF4-FFF2-40B4-BE49-F238E27FC236}">
                <a16:creationId xmlns:a16="http://schemas.microsoft.com/office/drawing/2014/main" id="{0A748975-7573-4BC9-BF85-67A86EEAAB41}"/>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77E5AAD-2C0E-4B5D-981B-53E5776304E4}"/>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Compare threshold choices on validation data.</a:t>
            </a:r>
          </a:p>
        </p:txBody>
      </p:sp>
      <p:sp>
        <p:nvSpPr>
          <p:cNvPr id="12" name="">
            <a:extLst xmlns:a="http://schemas.openxmlformats.org/drawingml/2006/main">
              <a:ext uri="{FF2B5EF4-FFF2-40B4-BE49-F238E27FC236}">
                <a16:creationId xmlns:a16="http://schemas.microsoft.com/office/drawing/2014/main" id="{3C54FFD1-A939-4386-8D0E-94ED1403FBB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32</a:t>
            </a:r>
          </a:p>
        </p:txBody>
      </p:sp>
    </p:spTree>
    <p:extLst>
      <p:ext uri="{BB962C8B-B14F-4D97-AF65-F5344CB8AC3E}">
        <p14:creationId xmlns:p14="http://schemas.microsoft.com/office/powerpoint/2010/main" val="1128377497"/>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8FB2F95-0F9C-4172-8848-39A3A705F4B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6014729-CC7A-4325-9205-466D688D062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3B123E3-49A6-47F8-B49D-67B5C3FC9C9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Category predictions and operating thresholds continued</a:t>
            </a:r>
          </a:p>
        </p:txBody>
      </p:sp>
      <p:sp>
        <p:nvSpPr>
          <p:cNvPr id="4" name="">
            <a:extLst xmlns:a="http://schemas.openxmlformats.org/drawingml/2006/main">
              <a:ext uri="{FF2B5EF4-FFF2-40B4-BE49-F238E27FC236}">
                <a16:creationId xmlns:a16="http://schemas.microsoft.com/office/drawing/2014/main" id="{FD225263-77CE-4CBC-9B88-7BB69AB8733A}"/>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AD855F9-2630-4E84-90FE-B33181EE14A4}"/>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Reducing the threshold adds flagged cases and cannot reduce recall on fixed scored observations, but precision can move either way.</a:t>
            </a:r>
          </a:p>
        </p:txBody>
      </p:sp>
      <p:sp>
        <p:nvSpPr>
          <p:cNvPr id="6" name="">
            <a:extLst xmlns:a="http://schemas.openxmlformats.org/drawingml/2006/main">
              <a:ext uri="{FF2B5EF4-FFF2-40B4-BE49-F238E27FC236}">
                <a16:creationId xmlns:a16="http://schemas.microsoft.com/office/drawing/2014/main" id="{774609BD-9896-4C2E-A6D6-4D6C50EAFA4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33</a:t>
            </a:r>
          </a:p>
        </p:txBody>
      </p:sp>
    </p:spTree>
    <p:extLst>
      <p:ext uri="{BB962C8B-B14F-4D97-AF65-F5344CB8AC3E}">
        <p14:creationId xmlns:p14="http://schemas.microsoft.com/office/powerpoint/2010/main" val="2033334323"/>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D7EBB31-1DB2-4AA3-8704-CB399210123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B891CD8-E244-4DC9-B66D-3EB3CB010BB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6A5C281F-1AB7-4E14-84AE-C66AADA2960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a:t>
            </a:r>
          </a:p>
        </p:txBody>
      </p:sp>
      <p:sp>
        <p:nvSpPr>
          <p:cNvPr id="4" name="">
            <a:extLst xmlns:a="http://schemas.openxmlformats.org/drawingml/2006/main">
              <a:ext uri="{FF2B5EF4-FFF2-40B4-BE49-F238E27FC236}">
                <a16:creationId xmlns:a16="http://schemas.microsoft.com/office/drawing/2014/main" id="{C5E7F53B-69A2-4359-85EC-CBF3D67E004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00343BB-F06D-474E-BC49-F30F31EEF838}"/>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classification_case.csv.</a:t>
            </a:r>
          </a:p>
        </p:txBody>
      </p:sp>
      <p:sp>
        <p:nvSpPr>
          <p:cNvPr id="6" name="">
            <a:extLst xmlns:a="http://schemas.openxmlformats.org/drawingml/2006/main">
              <a:ext uri="{FF2B5EF4-FFF2-40B4-BE49-F238E27FC236}">
                <a16:creationId xmlns:a16="http://schemas.microsoft.com/office/drawing/2014/main" id="{CD51B26D-02EB-4498-8B81-FB984AF24089}"/>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E599AA0-C652-4313-BD24-AA8C1D42A24F}"/>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Positive means a synthetic warning condition.</a:t>
            </a:r>
          </a:p>
        </p:txBody>
      </p:sp>
      <p:sp>
        <p:nvSpPr>
          <p:cNvPr id="8" name="">
            <a:extLst xmlns:a="http://schemas.openxmlformats.org/drawingml/2006/main">
              <a:ext uri="{FF2B5EF4-FFF2-40B4-BE49-F238E27FC236}">
                <a16:creationId xmlns:a16="http://schemas.microsoft.com/office/drawing/2014/main" id="{4B919207-C0A5-40C8-9599-FF69F6E2AB14}"/>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C70A138-B30C-4D14-9A6B-3967A348D7ED}"/>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Compute the confusion matrix, precision, recall and cost.</a:t>
            </a:r>
          </a:p>
        </p:txBody>
      </p:sp>
      <p:sp>
        <p:nvSpPr>
          <p:cNvPr id="10" name="">
            <a:extLst xmlns:a="http://schemas.openxmlformats.org/drawingml/2006/main">
              <a:ext uri="{FF2B5EF4-FFF2-40B4-BE49-F238E27FC236}">
                <a16:creationId xmlns:a16="http://schemas.microsoft.com/office/drawing/2014/main" id="{81AE5DD1-7ABA-49C6-A6DF-F60A9AE1E6C7}"/>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339140AE-C392-4152-AD97-E51FAB1E11AD}"/>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5:1 missed-warning/false-alarm cost assumption and why accuracy alone is insufficient.</a:t>
            </a:r>
          </a:p>
        </p:txBody>
      </p:sp>
      <p:sp>
        <p:nvSpPr>
          <p:cNvPr id="12" name="">
            <a:extLst xmlns:a="http://schemas.openxmlformats.org/drawingml/2006/main">
              <a:ext uri="{FF2B5EF4-FFF2-40B4-BE49-F238E27FC236}">
                <a16:creationId xmlns:a16="http://schemas.microsoft.com/office/drawing/2014/main" id="{C5EEA344-7917-4B18-818A-63FBFB3A150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34</a:t>
            </a:r>
          </a:p>
        </p:txBody>
      </p:sp>
    </p:spTree>
    <p:extLst>
      <p:ext uri="{BB962C8B-B14F-4D97-AF65-F5344CB8AC3E}">
        <p14:creationId xmlns:p14="http://schemas.microsoft.com/office/powerpoint/2010/main" val="487873102"/>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D244AFC-4C46-4B43-A3C3-30C6DD10762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6F867A3-5ED3-400F-9E81-0ABC82FD6D9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AB495725-178D-4327-AC3C-973F8D1305F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 continued</a:t>
            </a:r>
          </a:p>
        </p:txBody>
      </p:sp>
      <p:sp>
        <p:nvSpPr>
          <p:cNvPr id="4" name="">
            <a:extLst xmlns:a="http://schemas.openxmlformats.org/drawingml/2006/main">
              <a:ext uri="{FF2B5EF4-FFF2-40B4-BE49-F238E27FC236}">
                <a16:creationId xmlns:a16="http://schemas.microsoft.com/office/drawing/2014/main" id="{221230CF-D7E0-48E2-A310-D5C0583F74D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F1DA67D-2ADA-404A-8718-6419780DBFC0}"/>
              </a:ext>
            </a:extLst>
          </p:cNvPr>
          <p:cNvSpPr>
            <a:spLocks xmlns:a="http://schemas.openxmlformats.org/drawingml/2006/main" noGrp="1"/>
          </p:cNvSpPr>
          <p:nvPr/>
        </p:nvSpPr>
        <p:spPr>
          <a:xfrm xmlns:a="http://schemas.openxmlformats.org/drawingml/2006/main">
            <a:off x="1381125" y="1781175"/>
            <a:ext cx="10096500" cy="420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costs are teaching assumptions, not approved operating limits.</a:t>
            </a:r>
          </a:p>
        </p:txBody>
      </p:sp>
      <p:sp>
        <p:nvSpPr>
          <p:cNvPr id="6" name="">
            <a:extLst xmlns:a="http://schemas.openxmlformats.org/drawingml/2006/main">
              <a:ext uri="{FF2B5EF4-FFF2-40B4-BE49-F238E27FC236}">
                <a16:creationId xmlns:a16="http://schemas.microsoft.com/office/drawing/2014/main" id="{658EFCCD-2C2D-4D79-A727-4B9B6B8EF5F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35</a:t>
            </a:r>
          </a:p>
        </p:txBody>
      </p:sp>
    </p:spTree>
    <p:extLst>
      <p:ext uri="{BB962C8B-B14F-4D97-AF65-F5344CB8AC3E}">
        <p14:creationId xmlns:p14="http://schemas.microsoft.com/office/powerpoint/2010/main" val="1025313201"/>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AE57DE9-C6DD-4856-9506-701FB1ADAB6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A55A5E7-9CCD-457D-8086-F3960532783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6E958150-4053-4DF9-9F48-17B64CF656F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classification_metrics(actual, predicted)</a:t>
            </a:r>
          </a:p>
        </p:txBody>
      </p:sp>
      <p:sp>
        <p:nvSpPr>
          <p:cNvPr id="4" name="">
            <a:extLst xmlns:a="http://schemas.openxmlformats.org/drawingml/2006/main">
              <a:ext uri="{FF2B5EF4-FFF2-40B4-BE49-F238E27FC236}">
                <a16:creationId xmlns:a16="http://schemas.microsoft.com/office/drawing/2014/main" id="{20E4F97C-EFA5-4A5D-A5F2-60DE91E612A6}"/>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FFC8EC7-A201-4F74-B0DC-0BF902E4581F}"/>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For binary labels return tp, tn, fp, fn, precision, recall and cost=5*fn+fp; use zero for an undefined precision/recall denominator.</a:t>
            </a:r>
          </a:p>
        </p:txBody>
      </p:sp>
      <p:sp>
        <p:nvSpPr>
          <p:cNvPr id="6" name="">
            <a:extLst xmlns:a="http://schemas.openxmlformats.org/drawingml/2006/main">
              <a:ext uri="{FF2B5EF4-FFF2-40B4-BE49-F238E27FC236}">
                <a16:creationId xmlns:a16="http://schemas.microsoft.com/office/drawing/2014/main" id="{062DCC4D-C34A-401E-8B03-827CF85A4B3F}"/>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A6BE715C-A9FE-418B-827E-AD841F716B59}"/>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10D723C1-EBDF-460F-8FFC-68C9358377A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36</a:t>
            </a:r>
          </a:p>
        </p:txBody>
      </p:sp>
    </p:spTree>
    <p:extLst>
      <p:ext uri="{BB962C8B-B14F-4D97-AF65-F5344CB8AC3E}">
        <p14:creationId xmlns:p14="http://schemas.microsoft.com/office/powerpoint/2010/main" val="660264206"/>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F6C4B46-017E-4F21-B598-9CC992145D9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27B751F-F7AD-420E-9FFD-62DFE8A9379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77FC3A2B-8C15-4002-819D-6357991C51D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Written evidence</a:t>
            </a:r>
          </a:p>
        </p:txBody>
      </p:sp>
      <p:sp>
        <p:nvSpPr>
          <p:cNvPr id="4" name="">
            <a:extLst xmlns:a="http://schemas.openxmlformats.org/drawingml/2006/main">
              <a:ext uri="{FF2B5EF4-FFF2-40B4-BE49-F238E27FC236}">
                <a16:creationId xmlns:a16="http://schemas.microsoft.com/office/drawing/2014/main" id="{AF363EE4-C86F-4D01-B6A5-155D9F17E1C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DA2864C-D4E2-4FC1-ACE5-E8E30191E1EF}"/>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cell headed “My written evidence”.</a:t>
            </a:r>
          </a:p>
        </p:txBody>
      </p:sp>
      <p:sp>
        <p:nvSpPr>
          <p:cNvPr id="6" name="">
            <a:extLst xmlns:a="http://schemas.openxmlformats.org/drawingml/2006/main">
              <a:ext uri="{FF2B5EF4-FFF2-40B4-BE49-F238E27FC236}">
                <a16:creationId xmlns:a16="http://schemas.microsoft.com/office/drawing/2014/main" id="{27F13162-7370-462C-AAD6-61BE3266CA9A}"/>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CC81E2B-7AE4-42B9-B76E-7A9F87519B01}"/>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supplied scenario in your own words.</a:t>
            </a:r>
          </a:p>
        </p:txBody>
      </p:sp>
      <p:sp>
        <p:nvSpPr>
          <p:cNvPr id="8" name="">
            <a:extLst xmlns:a="http://schemas.openxmlformats.org/drawingml/2006/main">
              <a:ext uri="{FF2B5EF4-FFF2-40B4-BE49-F238E27FC236}">
                <a16:creationId xmlns:a16="http://schemas.microsoft.com/office/drawing/2014/main" id="{55CED34B-C667-4B69-B822-8030A6FEF0FA}"/>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27B8B2D-D8C6-460B-947A-2E74C9A22022}"/>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target units, reasons and limitations.</a:t>
            </a:r>
          </a:p>
        </p:txBody>
      </p:sp>
      <p:sp>
        <p:nvSpPr>
          <p:cNvPr id="10" name="">
            <a:extLst xmlns:a="http://schemas.openxmlformats.org/drawingml/2006/main">
              <a:ext uri="{FF2B5EF4-FFF2-40B4-BE49-F238E27FC236}">
                <a16:creationId xmlns:a16="http://schemas.microsoft.com/office/drawing/2014/main" id="{450D4E11-EDE6-4293-A83C-679D4150A000}"/>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EA8575E-8D79-4F70-8E08-AE4A511D0AA9}"/>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complete notebook containing code and written evidence.</a:t>
            </a:r>
          </a:p>
        </p:txBody>
      </p:sp>
      <p:sp>
        <p:nvSpPr>
          <p:cNvPr id="12" name="">
            <a:extLst xmlns:a="http://schemas.openxmlformats.org/drawingml/2006/main">
              <a:ext uri="{FF2B5EF4-FFF2-40B4-BE49-F238E27FC236}">
                <a16:creationId xmlns:a16="http://schemas.microsoft.com/office/drawing/2014/main" id="{49383D82-6277-4BC4-8C1C-CBDC8CC07BC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37</a:t>
            </a:r>
          </a:p>
        </p:txBody>
      </p:sp>
    </p:spTree>
    <p:extLst>
      <p:ext uri="{BB962C8B-B14F-4D97-AF65-F5344CB8AC3E}">
        <p14:creationId xmlns:p14="http://schemas.microsoft.com/office/powerpoint/2010/main" val="1321746856"/>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CB308683-78DD-4AEA-80A8-A5C3CB2A18E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FA16005-6478-4175-9387-03BF312F2C0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88DAA2F2-D425-443F-A1F8-8C6FE8EFA5B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Classification and cost submission</a:t>
            </a:r>
          </a:p>
        </p:txBody>
      </p:sp>
      <p:sp>
        <p:nvSpPr>
          <p:cNvPr id="4" name="">
            <a:extLst xmlns:a="http://schemas.openxmlformats.org/drawingml/2006/main">
              <a:ext uri="{FF2B5EF4-FFF2-40B4-BE49-F238E27FC236}">
                <a16:creationId xmlns:a16="http://schemas.microsoft.com/office/drawing/2014/main" id="{B01DAFFC-15A3-4F1A-A842-EF58509A2097}"/>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D817331-B813-4088-918C-C8C265A3CA1B}"/>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03 Nov 2026, 11:00 Kampala</a:t>
            </a:r>
          </a:p>
        </p:txBody>
      </p:sp>
      <p:sp>
        <p:nvSpPr>
          <p:cNvPr id="6" name="">
            <a:extLst xmlns:a="http://schemas.openxmlformats.org/drawingml/2006/main">
              <a:ext uri="{FF2B5EF4-FFF2-40B4-BE49-F238E27FC236}">
                <a16:creationId xmlns:a16="http://schemas.microsoft.com/office/drawing/2014/main" id="{8F9DA4CF-D5A3-42C2-8FBD-72B410D9249F}"/>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C8B2C4B-451F-4351-9EC8-CD55A435BC04}"/>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10 Nov 2026, 11:00 Kampala</a:t>
            </a:r>
          </a:p>
        </p:txBody>
      </p:sp>
      <p:sp>
        <p:nvSpPr>
          <p:cNvPr id="8" name="">
            <a:extLst xmlns:a="http://schemas.openxmlformats.org/drawingml/2006/main">
              <a:ext uri="{FF2B5EF4-FFF2-40B4-BE49-F238E27FC236}">
                <a16:creationId xmlns:a16="http://schemas.microsoft.com/office/drawing/2014/main" id="{47857E37-A765-46F2-9E7B-B21A650FCB7C}"/>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3DF607C-1326-4A37-A5F8-CAA44B19078D}"/>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DA499729-4E69-407B-BF9E-628526E1654A}"/>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C2C731B6-4EA8-43F5-A4BB-1886093C98B2}"/>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343886C2-2A4B-4165-BECB-8B01E05870F5}"/>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3B57B927-21C5-48CB-8ED8-CE34A4DCABB4}"/>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1b7ac90e4a7745c5"/>
              </a:rPr>
              <a:t>Open W09 assignment form</a:t>
            </a:r>
          </a:p>
        </p:txBody>
      </p:sp>
      <p:sp>
        <p:nvSpPr>
          <p:cNvPr id="14" name="">
            <a:extLst xmlns:a="http://schemas.openxmlformats.org/drawingml/2006/main">
              <a:ext uri="{FF2B5EF4-FFF2-40B4-BE49-F238E27FC236}">
                <a16:creationId xmlns:a16="http://schemas.microsoft.com/office/drawing/2014/main" id="{56EDE503-E8FA-4498-9199-DA9B9FAFB071}"/>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https://docs.google.com/forms/d/e/1FAIpQLSfTe7OkZ7tZEVzG-mup0-8liXg1jKy_KmsDWZiPK9EWMJ9InA/viewform</a:t>
            </a:r>
          </a:p>
        </p:txBody>
      </p:sp>
      <p:sp>
        <p:nvSpPr>
          <p:cNvPr id="15" name="">
            <a:extLst xmlns:a="http://schemas.openxmlformats.org/drawingml/2006/main">
              <a:ext uri="{FF2B5EF4-FFF2-40B4-BE49-F238E27FC236}">
                <a16:creationId xmlns:a16="http://schemas.microsoft.com/office/drawing/2014/main" id="{59902FFC-3A4F-4321-BD52-47448193993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38</a:t>
            </a:r>
          </a:p>
        </p:txBody>
      </p:sp>
    </p:spTree>
    <p:extLst>
      <p:ext uri="{BB962C8B-B14F-4D97-AF65-F5344CB8AC3E}">
        <p14:creationId xmlns:p14="http://schemas.microsoft.com/office/powerpoint/2010/main" val="99488216"/>
      </p:ext>
    </p:extLst>
  </p:cSld>
</p:sld>
</file>

<file path=ppt/slides/slide39.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8" name="">
            <a:extLst>
              <a:ext uri="{FF2B5EF4-FFF2-40B4-BE49-F238E27FC236}">
                <ns2:creationId id="{B9598045-068A-4AC0-AE29-A8FA5B81355A}"/>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B34BBB47-97B0-4D6A-8B1F-383F9EB12C6F}"/>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a:ext uri="{FF2B5EF4-FFF2-40B4-BE49-F238E27FC236}">
                <ns2:creationId id="{B0C3FEEA-74A0-4383-8D2E-6F324AA35401}"/>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Week 9 quiz</a:t>
            </a:r>
          </a:p>
        </p:txBody>
      </p:sp>
      <p:sp>
        <p:nvSpPr>
          <p:cNvPr id="4" name="">
            <a:extLst>
              <a:ext uri="{FF2B5EF4-FFF2-40B4-BE49-F238E27FC236}">
                <ns2:creationId id="{06B3A85C-A853-4DFD-AA1C-EB7EE5F45D40}"/>
              </a:ext>
            </a:extLst>
          </p:cNvPr>
          <p:cNvSpPr>
            <a:spLocks noGrp="1"/>
          </p:cNvSpPr>
          <p:nvPr/>
        </p:nvSpPr>
        <p:spPr>
          <a:xfrm>
            <a:off x="590550" y="172402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a:ext uri="{FF2B5EF4-FFF2-40B4-BE49-F238E27FC236}">
                <ns2:creationId id="{6BA98A2A-5005-46E6-969F-D99AECA6A699}"/>
              </a:ext>
            </a:extLst>
          </p:cNvPr>
          <p:cNvSpPr>
            <a:spLocks noGrp="1"/>
          </p:cNvSpPr>
          <p:nvPr/>
        </p:nvSpPr>
        <p:spPr>
          <a:xfrm>
            <a:off x="1381125" y="1724025"/>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a:ext uri="{FF2B5EF4-FFF2-40B4-BE49-F238E27FC236}">
                <ns2:creationId id="{89BD724D-A22C-45F0-8F30-E050B05FD0AA}"/>
              </a:ext>
            </a:extLst>
          </p:cNvPr>
          <p:cNvSpPr>
            <a:spLocks noGrp="1"/>
          </p:cNvSpPr>
          <p:nvPr/>
        </p:nvSpPr>
        <p:spPr>
          <a:xfrm>
            <a:off x="590550" y="2521744"/>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a:ext uri="{FF2B5EF4-FFF2-40B4-BE49-F238E27FC236}">
                <ns2:creationId id="{B8168354-E63C-43EE-8E5F-ABF12236DA2B}"/>
              </a:ext>
            </a:extLst>
          </p:cNvPr>
          <p:cNvSpPr>
            <a:spLocks noGrp="1"/>
          </p:cNvSpPr>
          <p:nvPr/>
        </p:nvSpPr>
        <p:spPr>
          <a:xfrm>
            <a:off x="1381125" y="2521744"/>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a:ext uri="{FF2B5EF4-FFF2-40B4-BE49-F238E27FC236}">
                <ns2:creationId id="{DEFAC5AE-BB09-48AC-872C-6E82D162459E}"/>
              </a:ext>
            </a:extLst>
          </p:cNvPr>
          <p:cNvSpPr>
            <a:spLocks noGrp="1"/>
          </p:cNvSpPr>
          <p:nvPr/>
        </p:nvSpPr>
        <p:spPr>
          <a:xfrm>
            <a:off x="590550" y="3319463"/>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a:ext uri="{FF2B5EF4-FFF2-40B4-BE49-F238E27FC236}">
                <ns2:creationId id="{5355EAA6-7213-4EF7-854D-228CB1358303}"/>
              </a:ext>
            </a:extLst>
          </p:cNvPr>
          <p:cNvSpPr>
            <a:spLocks noGrp="1"/>
          </p:cNvSpPr>
          <p:nvPr/>
        </p:nvSpPr>
        <p:spPr>
          <a:xfrm>
            <a:off x="1381125" y="3319463"/>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a:ext uri="{FF2B5EF4-FFF2-40B4-BE49-F238E27FC236}">
                <ns2:creationId id="{5FCA1AB3-8770-44EA-B18C-A02FD84D8BC0}"/>
              </a:ext>
            </a:extLst>
          </p:cNvPr>
          <p:cNvSpPr>
            <a:spLocks noGrp="1"/>
          </p:cNvSpPr>
          <p:nvPr/>
        </p:nvSpPr>
        <p:spPr>
          <a:xfrm>
            <a:off x="590550" y="4117181"/>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a:ext uri="{FF2B5EF4-FFF2-40B4-BE49-F238E27FC236}">
                <ns2:creationId id="{C5F5E707-E739-45B0-BAB0-C6F3464EE4C2}"/>
              </a:ext>
            </a:extLst>
          </p:cNvPr>
          <p:cNvSpPr>
            <a:spLocks noGrp="1"/>
          </p:cNvSpPr>
          <p:nvPr/>
        </p:nvSpPr>
        <p:spPr>
          <a:xfrm>
            <a:off x="1381125" y="4117181"/>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Check the announced quiz closing time.</a:t>
            </a:r>
          </a:p>
        </p:txBody>
      </p:sp>
      <p:pic>
        <p:nvPicPr>
          <p:cNvPr id="29" name=""/>
          <p:cNvPicPr>
            <a:picLocks noChangeAspect="1"/>
          </p:cNvPicPr>
          <p:nvPr/>
        </p:nvPicPr>
        <p:blipFill>
          <a:blip r:embed="Rdcdf9a0e9f8b4e25"/>
          <a:stretch/>
        </p:blipFill>
        <p:spPr>
          <a:xfrm>
            <a:off x="9134475" y="2095500"/>
            <a:ext cx="2190750" cy="2190750"/>
          </a:xfrm>
          <a:prstGeom prst="rect">
            <a:avLst/>
          </a:prstGeom>
        </p:spPr>
      </p:pic>
      <p:sp>
        <p:nvSpPr>
          <p:cNvPr id="13" name="">
            <a:extLst>
              <a:ext uri="{FF2B5EF4-FFF2-40B4-BE49-F238E27FC236}">
                <ns2:creationId id="{E6774C2D-FED0-4353-9F26-234F08E797EE}"/>
              </a:ext>
            </a:extLst>
          </p:cNvPr>
          <p:cNvSpPr>
            <a:spLocks noGrp="1"/>
          </p:cNvSpPr>
          <p:nvPr/>
        </p:nvSpPr>
        <p:spPr>
          <a:xfrm>
            <a:off x="9239250" y="4400550"/>
            <a:ext cx="2190750" cy="381000"/>
          </a:xfrm>
          <a:prstGeom prst="rect">
            <a:avLst/>
          </a:prstGeom>
          <a:noFill/>
          <a:ln w="0">
            <a:noFill/>
          </a:ln>
        </p:spPr>
        <p:txBody>
          <a:bodyPr>
            <a:noAutofit/>
          </a:bodyPr>
          <a:lstStyle/>
          <a:p>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a:ext uri="{FF2B5EF4-FFF2-40B4-BE49-F238E27FC236}">
                <ns2:creationId id="{6FBCB961-CB75-47BA-8214-2A6D5A661DC7}"/>
              </a:ext>
            </a:extLst>
          </p:cNvPr>
          <p:cNvSpPr>
            <a:spLocks noGrp="1"/>
          </p:cNvSpPr>
          <p:nvPr/>
        </p:nvSpPr>
        <p:spPr>
          <a:xfrm>
            <a:off x="590550" y="5143500"/>
            <a:ext cx="11010900" cy="657225"/>
          </a:xfrm>
          <a:prstGeom prst="rect">
            <a:avLst/>
          </a:prstGeom>
          <a:solidFill>
            <a:srgbClr val="E5F1EE"/>
          </a:solidFill>
          <a:ln w="0">
            <a:noFill/>
          </a:ln>
        </p:spPr>
      </p:sp>
      <p:sp>
        <p:nvSpPr>
          <p:cNvPr id="15" name="">
            <a:extLst>
              <a:ext uri="{FF2B5EF4-FFF2-40B4-BE49-F238E27FC236}">
                <ns2:creationId id="{3EBE774F-C1E2-4C77-B0C0-3D917B8EA3F4}"/>
              </a:ext>
            </a:extLst>
          </p:cNvPr>
          <p:cNvSpPr>
            <a:spLocks noGrp="1"/>
          </p:cNvSpPr>
          <p:nvPr/>
        </p:nvSpPr>
        <p:spPr>
          <a:xfrm>
            <a:off x="800100" y="5267325"/>
            <a:ext cx="10572750" cy="457200"/>
          </a:xfrm>
          <a:prstGeom prst="rect">
            <a:avLst/>
          </a:prstGeom>
          <a:noFill/>
          <a:ln w="0">
            <a:noFill/>
          </a:ln>
        </p:spPr>
        <p:txBody>
          <a:bodyPr>
            <a:noAutofit/>
          </a:bodyPr>
          <a:lstStyle/>
          <a:p>
            <a:pPr>
              <a:defRPr sz="2250" b="1">
                <a:solidFill>
                  <a:srgbClr val="2E7D6F"/>
                </a:solidFill>
                <a:latin typeface="Calibri"/>
                <a:ea typeface="Calibri"/>
                <a:cs typeface="Calibri"/>
              </a:defRPr>
            </a:pPr>
            <a:r>
              <a:rPr sz="2250" b="1">
                <a:solidFill>
                  <a:srgbClr val="2E7D6F"/>
                </a:solidFill>
                <a:latin typeface="Calibri"/>
                <a:ea typeface="Calibri"/>
                <a:cs typeface="Calibri"/>
                <a:hlinkClick r:id="R1b28c079aeb7429a"/>
              </a:rPr>
              <a:t>Open this week’s quiz</a:t>
            </a:r>
          </a:p>
        </p:txBody>
      </p:sp>
      <p:sp>
        <p:nvSpPr>
          <p:cNvPr id="16" name="">
            <a:extLst>
              <a:ext uri="{FF2B5EF4-FFF2-40B4-BE49-F238E27FC236}">
                <ns2:creationId id="{90519658-62A0-47B5-AC68-F640847ED387}"/>
              </a:ext>
            </a:extLst>
          </p:cNvPr>
          <p:cNvSpPr>
            <a:spLocks noGrp="1"/>
          </p:cNvSpPr>
          <p:nvPr/>
        </p:nvSpPr>
        <p:spPr>
          <a:xfrm>
            <a:off x="685800" y="5972175"/>
            <a:ext cx="10668000" cy="304800"/>
          </a:xfrm>
          <a:prstGeom prst="rect">
            <a:avLst/>
          </a:prstGeom>
          <a:noFill/>
          <a:ln w="0">
            <a:noFill/>
          </a:ln>
        </p:spPr>
        <p:txBody>
          <a:bodyPr>
            <a:noAutofit/>
          </a:bodyPr>
          <a:lstStyle/>
          <a:p>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https://forms.gle/6XBHNCQXESUyQ6G86</a:t>
            </a:r>
          </a:p>
        </p:txBody>
      </p:sp>
      <p:sp>
        <p:nvSpPr>
          <p:cNvPr id="17" name="">
            <a:extLst>
              <a:ext uri="{FF2B5EF4-FFF2-40B4-BE49-F238E27FC236}">
                <ns2:creationId id="{2E11252D-42D2-43AF-99AC-C57F86300FF5}"/>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39</a:t>
            </a:r>
          </a:p>
        </p:txBody>
      </p:sp>
    </p:spTree>
    <p:extLst>
      <p:ext uri="{BB962C8B-B14F-4D97-AF65-F5344CB8AC3E}">
        <ns4:creationId val="866830624"/>
      </p:ext>
    </p:extLst>
  </p:cSld>
</p:sld>
</file>

<file path=ppt/slides/slide40.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1C3144"/>
        </a:solidFill>
      </p:bgPr>
    </p:bg>
    <p:spTree>
      <p:nvGrpSpPr>
        <p:cNvPr id="1" name=""/>
        <p:cNvGrpSpPr/>
        <p:nvPr/>
      </p:nvGrpSpPr>
      <p:grpSpPr>
        <a:xfrm/>
      </p:grpSpPr>
      <p:sp>
        <p:nvSpPr>
          <p:cNvPr id="7" name="">
            <a:extLst>
              <a:ext uri="{FF2B5EF4-FFF2-40B4-BE49-F238E27FC236}">
                <ns2:creationId id="{E8B4B0D5-E0E8-4DE4-B41C-E2F56E039005}"/>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a:ext uri="{FF2B5EF4-FFF2-40B4-BE49-F238E27FC236}">
                <ns2:creationId id="{BCC18491-5648-478B-BD73-420B11C7B07E}"/>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a:ext uri="{FF2B5EF4-FFF2-40B4-BE49-F238E27FC236}">
                <ns2:creationId id="{290F9048-868A-44F8-916A-F24EF0BD96B7}"/>
              </a:ext>
            </a:extLst>
          </p:cNvPr>
          <p:cNvSpPr>
            <a:spLocks noGrp="1"/>
          </p:cNvSpPr>
          <p:nvPr/>
        </p:nvSpPr>
        <p:spPr>
          <a:xfrm>
            <a:off x="619125" y="1619250"/>
            <a:ext cx="2857500" cy="495300"/>
          </a:xfrm>
          <a:prstGeom prst="rect">
            <a:avLst/>
          </a:prstGeom>
          <a:noFill/>
          <a:ln w="0">
            <a:noFill/>
          </a:ln>
        </p:spPr>
        <p:txBody>
          <a:bodyPr>
            <a:noAutofit/>
          </a:bodyPr>
          <a:lstStyle/>
          <a:p>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a:ext uri="{FF2B5EF4-FFF2-40B4-BE49-F238E27FC236}">
                <ns2:creationId id="{83170DA6-DBBC-4882-9E95-BDFFEA03A061}"/>
              </a:ext>
            </a:extLst>
          </p:cNvPr>
          <p:cNvSpPr>
            <a:spLocks noGrp="1"/>
          </p:cNvSpPr>
          <p:nvPr/>
        </p:nvSpPr>
        <p:spPr>
          <a:xfrm>
            <a:off x="619125" y="2295525"/>
            <a:ext cx="10810875" cy="3095625"/>
          </a:xfrm>
          <a:prstGeom prst="rect">
            <a:avLst/>
          </a:prstGeom>
          <a:noFill/>
          <a:ln w="0">
            <a:noFill/>
          </a:ln>
        </p:spPr>
        <p:txBody>
          <a:bodyPr>
            <a:noAutofit/>
          </a:bodyPr>
          <a:lstStyle/>
          <a:p>
            <a:pPr>
              <a:defRPr sz="2850" b="0">
                <a:solidFill>
                  <a:srgbClr val="FFFFFF"/>
                </a:solidFill>
                <a:latin typeface="Calibri"/>
                <a:ea typeface="Calibri"/>
                <a:cs typeface="Calibri"/>
              </a:defRPr>
            </a:pPr>
            <a:r>
              <a:rPr sz="2850" b="0">
                <a:solidFill>
                  <a:srgbClr val="FFFFFF"/>
                </a:solidFill>
                <a:latin typeface="Calibri"/>
                <a:ea typeface="Calibri"/>
                <a:cs typeface="Calibri"/>
              </a:rPr>
              <a:t>You can identify a false negative and explain precision and recall with counts.</a:t>
            </a:r>
          </a:p>
          <a:p>
            <a:r>
              <a:t/>
            </a:r>
          </a:p>
          <a:p>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a:ext uri="{FF2B5EF4-FFF2-40B4-BE49-F238E27FC236}">
                <ns2:creationId id="{3AB0F5F2-DE0C-4E66-BEFF-1FBC32D3A51D}"/>
              </a:ext>
            </a:extLst>
          </p:cNvPr>
          <p:cNvSpPr>
            <a:spLocks noGrp="1"/>
          </p:cNvSpPr>
          <p:nvPr/>
        </p:nvSpPr>
        <p:spPr>
          <a:xfrm>
            <a:off x="619125" y="5791200"/>
            <a:ext cx="10810875" cy="542925"/>
          </a:xfrm>
          <a:prstGeom prst="rect">
            <a:avLst/>
          </a:prstGeom>
          <a:noFill/>
          <a:ln w="0">
            <a:noFill/>
          </a:ln>
        </p:spPr>
        <p:txBody>
          <a:bodyPr>
            <a:noAutofit/>
          </a:bodyPr>
          <a:lstStyle/>
          <a:p>
            <a:pPr>
              <a:defRPr sz="1800" b="0">
                <a:solidFill>
                  <a:srgbClr val="BBCDD9"/>
                </a:solidFill>
                <a:latin typeface="Calibri"/>
                <a:ea typeface="Calibri"/>
                <a:cs typeface="Calibri"/>
              </a:defRPr>
            </a:pPr>
            <a:r>
              <a:rPr sz="1800" b="0">
                <a:solidFill>
                  <a:srgbClr val="BBCDD9"/>
                </a:solidFill>
                <a:latin typeface="Calibri"/>
                <a:ea typeface="Calibri"/>
                <a:cs typeface="Calibri"/>
              </a:rPr>
              <a:t>Check your answers against the example, then save your work.</a:t>
            </a:r>
          </a:p>
        </p:txBody>
      </p:sp>
      <p:sp>
        <p:nvSpPr>
          <p:cNvPr id="6" name="">
            <a:extLst>
              <a:ext uri="{FF2B5EF4-FFF2-40B4-BE49-F238E27FC236}">
                <ns2:creationId id="{232F46AA-E665-4950-8D6D-0D7CC2F948F5}"/>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BBCDD9"/>
                </a:solidFill>
                <a:latin typeface="Calibri"/>
                <a:ea typeface="Calibri"/>
                <a:cs typeface="Calibri"/>
              </a:defRPr>
            </a:pPr>
            <a:r>
              <a:rPr sz="1200" b="0">
                <a:solidFill>
                  <a:srgbClr val="BBCDD9"/>
                </a:solidFill>
                <a:latin typeface="Calibri"/>
                <a:ea typeface="Calibri"/>
                <a:cs typeface="Calibri"/>
              </a:rPr>
              <a:t>CML3112   Week 9   40</a:t>
            </a:r>
          </a:p>
        </p:txBody>
      </p:sp>
    </p:spTree>
    <p:extLst>
      <p:ext uri="{BB962C8B-B14F-4D97-AF65-F5344CB8AC3E}">
        <ns3:creationId val="1993986103"/>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72632C2C-9A35-429F-872B-62E537B84D1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4CB5D97-38DC-41BD-8718-188FD53CD68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16AAE234-E083-4B28-B936-9F0323385C7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revision video</a:t>
            </a:r>
          </a:p>
        </p:txBody>
      </p:sp>
      <p:sp>
        <p:nvSpPr>
          <p:cNvPr id="4" name="">
            <a:extLst xmlns:a="http://schemas.openxmlformats.org/drawingml/2006/main">
              <a:ext uri="{FF2B5EF4-FFF2-40B4-BE49-F238E27FC236}">
                <a16:creationId xmlns:a16="http://schemas.microsoft.com/office/drawing/2014/main" id="{487B4DA6-BD75-4195-9A05-3F8C02AB6BE6}"/>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C982EF2-4B9F-4A3B-AC51-5A84171FEF08}"/>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revision after class.</a:t>
            </a:r>
          </a:p>
        </p:txBody>
      </p:sp>
      <p:sp>
        <p:nvSpPr>
          <p:cNvPr id="6" name="">
            <a:extLst xmlns:a="http://schemas.openxmlformats.org/drawingml/2006/main">
              <a:ext uri="{FF2B5EF4-FFF2-40B4-BE49-F238E27FC236}">
                <a16:creationId xmlns:a16="http://schemas.microsoft.com/office/drawing/2014/main" id="{989DC39F-B77D-46E4-BAD5-65E502A1512D}"/>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D556AB0-38C5-48B2-B8CD-BC8E913AAC2A}"/>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StatQuest with Josh Starmer</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Machine Learning Fundamentals The Confusion Matrix</a:t>
            </a:r>
          </a:p>
        </p:txBody>
      </p:sp>
      <p:sp>
        <p:nvSpPr>
          <p:cNvPr id="8" name="">
            <a:extLst xmlns:a="http://schemas.openxmlformats.org/drawingml/2006/main">
              <a:ext uri="{FF2B5EF4-FFF2-40B4-BE49-F238E27FC236}">
                <a16:creationId xmlns:a16="http://schemas.microsoft.com/office/drawing/2014/main" id="{053D2847-A785-4650-BA82-23ED1D9CA840}"/>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41B432B-E990-4605-A1A5-CBF71FE14C29}"/>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Opening up to 04:00, optional preview-selected excerpt</a:t>
            </a:r>
          </a:p>
        </p:txBody>
      </p:sp>
      <p:sp>
        <p:nvSpPr>
          <p:cNvPr id="10" name="">
            <a:extLst xmlns:a="http://schemas.openxmlformats.org/drawingml/2006/main">
              <a:ext uri="{FF2B5EF4-FFF2-40B4-BE49-F238E27FC236}">
                <a16:creationId xmlns:a16="http://schemas.microsoft.com/office/drawing/2014/main" id="{F929CEAD-417B-4B31-935D-42D0BE4901DC}"/>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027BD8D-5F19-4AB7-8FC0-F7BEFF8EBDDF}"/>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Which observations are correctly or incorrectly classified?</a:t>
            </a:r>
          </a:p>
        </p:txBody>
      </p:sp>
      <p:sp>
        <p:nvSpPr>
          <p:cNvPr id="12" name="">
            <a:extLst xmlns:a="http://schemas.openxmlformats.org/drawingml/2006/main">
              <a:ext uri="{FF2B5EF4-FFF2-40B4-BE49-F238E27FC236}">
                <a16:creationId xmlns:a16="http://schemas.microsoft.com/office/drawing/2014/main" id="{7B80A7B2-4CC2-4DFD-A457-20292D7CFBCD}"/>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95C094CC-93AD-437A-A2B5-02E5893B0EDF}"/>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0afa2c7cbc964bf1"/>
              </a:rPr>
              <a:t>Open explainer video</a:t>
            </a:r>
          </a:p>
        </p:txBody>
      </p:sp>
      <p:sp>
        <p:nvSpPr>
          <p:cNvPr id="14" name="">
            <a:extLst xmlns:a="http://schemas.openxmlformats.org/drawingml/2006/main">
              <a:ext uri="{FF2B5EF4-FFF2-40B4-BE49-F238E27FC236}">
                <a16:creationId xmlns:a16="http://schemas.microsoft.com/office/drawing/2014/main" id="{33262905-4F1F-41C5-8120-E821E4BD9AF8}"/>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https://www.youtube.com/watch?v=Kdsp6soqA7o</a:t>
            </a:r>
          </a:p>
        </p:txBody>
      </p:sp>
      <p:sp>
        <p:nvSpPr>
          <p:cNvPr id="15" name="">
            <a:extLst xmlns:a="http://schemas.openxmlformats.org/drawingml/2006/main">
              <a:ext uri="{FF2B5EF4-FFF2-40B4-BE49-F238E27FC236}">
                <a16:creationId xmlns:a16="http://schemas.microsoft.com/office/drawing/2014/main" id="{F898D867-36F6-4BE0-81A6-057083313F1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41</a:t>
            </a:r>
          </a:p>
        </p:txBody>
      </p:sp>
    </p:spTree>
    <p:extLst>
      <p:ext uri="{BB962C8B-B14F-4D97-AF65-F5344CB8AC3E}">
        <p14:creationId xmlns:p14="http://schemas.microsoft.com/office/powerpoint/2010/main" val="149931832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2026-09-28T21:45:20.4940000Z</dcterms:created>
  <dcterms:modified xsi:type="dcterms:W3CDTF">2026-09-28T21:45:20.4940000Z</dcterms:modified>
</coreProperties>
</file>