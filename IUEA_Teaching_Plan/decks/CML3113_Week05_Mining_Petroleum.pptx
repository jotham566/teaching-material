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COHORT DOES NOT MEET IN WEEK 5 — Friday 9 October is Uganda Independence Day.</a:t>
            </a:r>
          </a:p>
          <a:p/>
          <a:p>
            <a:r>
              <a:t>This deck is issued as an asynchronous package alongside a recording of the Tuesday session and the Twelve Questions notebook, by Wednesday 7 October. Work through it, attempt the practical, and bring your questions to the 45-minute online clinic. Week 6 opens with a 30-minute consolidation of this material.</a:t>
            </a:r>
          </a:p>
          <a:p/>
          <a:p>
            <a:r>
              <a:t>Do not skip it. Everything from Week 6 onwards assumes it, and it is the single most load-bearing session of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the one nobody expects and the one that separates a useful analysis from a wasted fortnight.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Last week's sixty lines of loop become three lines this week, and you now know what those three lines do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making the case for the tool before any of its syntax appears. The comparison on the next slide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points about the speed. pandas is faster because the loop happens in compiled code rather than in Python, and the algorithm is the same one you wrote last week. The stronger reason to use it is that three lines leave far less room for the accumulator bug than sixty lines do.</a:t>
            </a:r>
          </a:p>
          <a:p/>
          <a:p>
            <a:r>
              <a:t>The two answers differ in the last few bits because the additions happen in a different order. That is floating-point arithmetic, exactly as in Week 3, and it is why you compare with a tolerance.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one idea: do the operation to the whole column at once. Arrays and elementwise arithmetic are all you need from NumPy this semester.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idea the rest of the course rests on. Every pandas operation you meet is really 'do this to the whole column'.</a:t>
            </a:r>
          </a:p>
          <a:p/>
          <a:p>
            <a:r>
              <a:t>Why it matters practically: a loop with an accumulator has three places to go wrong. temps - 25 has none.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DataFrame, and it is the most load-bearing block of the semester. Every week from here to the end of the year keeps its data in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this directly with the Week 1 data-table figure: the same picture, now with the names pandas uses. Features are columns, the target is a column, one row is one example.</a:t>
            </a:r>
          </a:p>
          <a:p/>
          <a:p>
            <a:r>
              <a:t>The dtype row is the one to watch. A column that should be numbers but shows 'object' contains text somewhere — usually one row with a stray unit in it — and that is a Week 6 defect you can now diagnose.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commands to run on every dataset you ever open, in this order: shape, head, info, describe. They answer how big, what does it look like, what types are there, and what are the ranges.</a:t>
            </a:r>
          </a:p>
          <a:p/>
          <a:p>
            <a:r>
              <a:t>describe() is where you first see something wrong. A minimum of -999 in a column that cannot be negative is a sentinel value standing in for missing data, and it will destroy every mean you compute. That is Week 6.</a:t>
            </a:r>
          </a:p>
          <a:p/>
          <a:p>
            <a:r>
              <a:t>Note that shape has no brackets and head() does. Attributes describe the object; methods do something to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explains an error message that otherwise looks like nonsense. 'Not callable' means you put brackets after something that is not a function.</a:t>
            </a:r>
          </a:p>
          <a:p/>
          <a:p>
            <a:r>
              <a:t>There is no rule you can derive — you learn which is which by use. The four you need constantly: shape and dtypes have no brackets; head() and describe()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is to start typing at step 3. Doing steps 1 and 2 first is faster overall, because it stops you computing a mean of a column that is secretly text.</a:t>
            </a:r>
          </a:p>
          <a:p/>
          <a:p>
            <a:r>
              <a:t>Step 6 is what distinguishes a pass from a merit in the Data Analysis Project. 'The mean 28-day strength is 35.8 MPa — but that is across all mixes and all ages, so it does not tell us anything about any particular mix design' is a far better answer than the number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segment after the break is dense — selecting, filtering and grouping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all hands on keyboards. Three operations, select, filter and group, answer most engineering questions you will ask of a table, and the twelve questions on the practical slide are how to practise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intermediate step is the part worth seeing. df["strength"] &gt; 40 gives you a column of True and False the same length as the data, and wrapping it as df[that] is what selects the rows. Print the condition on its own once and the two steps will stay separate in your head afterwards.</a:t>
            </a:r>
          </a:p>
          <a:p/>
          <a:p>
            <a:r>
              <a:t>Once you see it as two steps, combining conditions makes sense: &amp; for and, | for or, with brackets round each condition, because &amp; binds more tightly than &gt; does.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operation that answers most comparison questions: does this differ between groups? df.groupby("pulp pH band")["target"].mean() gives you mean concentrate silica for each group.</a:t>
            </a:r>
          </a:p>
          <a:p/>
          <a:p>
            <a:r>
              <a:t>The result is a smaller table. Your original is unchanged. pandas almost never changes your data in place, which is deliberate — it means you cannot accidentally destroy the thing you loaded.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words cover most of what you will read in pandas documentation and in Kaggle notebooks. Having the vocabulary is what makes other people's work readable, which is the point of the second half of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to confirm you can drive the tool. Question B catches the commonest confusion: a condition on a column is the question you are asking, and the filter is what you get after putting it inside df[...].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question C gave you trouble, go back to the split-apply-combine figure before you go on. groupby appears in every week from here to the end of the year, and it answers most comparison questions you will be asked.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Kaggle notebooks are the best free resource available on these datasets, and they carry no quality guarantee whatsoever, so read them the way you would read a colleague's rough working. The popularity of a notebook tracks how well it is presented. The leakage warning is the part to hold onto: a notebook reporting near-perfect accuracy has almost always been given information it should not have had, and Week 10 shows you exactly how that happens. Until then, treat a suspiciously good result as a reason for suspicion.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judging a dataset before you commit to it. Finding data is easy; deciding whether it can answer your question is the part that saves you a fortnight, and it is the gate the Week 9 projects have to pass.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5 is the one that wastes fortnights. Ask it while walking away is still cheap, before you download anything and long before you start cleaning.</a:t>
            </a:r>
          </a:p>
          <a:p/>
          <a:p>
            <a:r>
              <a:t>Question 6 takes some getting used to if you were trained to treat a negative result as a failure. 'This data cannot answer the question, and here is what would' is often the most useful thing an analyst produces, and it is an acceptable conclusion for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every question in physical units. A printed Series is not an answer. '38.4 MPa' is an answer; a Series printed to the screen is not.</a:t>
            </a:r>
          </a:p>
          <a:p/>
          <a:p>
            <a:r>
              <a:t>The dataset: 20,000 rows x 24 columns after subsetting. Source: Kaggle, edumagalhaes — subset to 20,000 rows for teaching. Columns: iron and silica feed grades, starch and amina flow, ore pulp flow, pH and density, air flow and level for seven flotation columns, and the iron and silica concentrate assays.</a:t>
            </a:r>
          </a:p>
          <a:p/>
          <a:p>
            <a:r>
              <a:t>CORE: answer all twelve. STRETCH: add two questions of your own and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challenge uses the same format as Practical Test 1 in two weeks, so treat it as a calibration. Part of what you are finding out is whether you can work at this pace on a dataset you have never seen. Answer in physical units, and say plainly what you could not determine from the 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judging questions from earlier in the session are the gate for a proposed dataset. If your team wants to bring its own, answer all six before you register your question, because a dataset that cannot answer it will cost you the whole of Weeks 6 to 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session. The second one — shape, head, info, describe, in that order — is the habit to build first, because it is the fastest way to find out whether a dataset is usable at all.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B is the sentinel-value trap and it is the most destructive defect in Week 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describes the defect most likely to turn up in your own Data Analysis Project. A sentinel value such as -999 looks like a measurement to pandas, so it is included in every mean you compute and drags all of them down. describe() exposes it in one second.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and every one of them appears in a weekly quiz or in Practical Test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commands cover the great majority of what Weeks 6 to 15 require, which is why the list is deliberately short. Keep it to hand during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the last two weeks was deliberate. Sixty lines of loop first and three lines of pandas second means you can tell when pandas gets something wrong, and it will — usually on a column where one row has a stray unit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pandas: the engineer's</a:t>
            </a:r>
          </a:p>
          <a:p>
            <a:pPr algn="l">
              <a:lnSpc>
                <a:spcPct val="105000"/>
              </a:lnSpc>
              <a:spcAft>
                <a:spcPts val="600"/>
              </a:spcAft>
            </a:pPr>
            <a:r>
              <a:rPr sz="4400" b="1" i="0">
                <a:solidFill>
                  <a:srgbClr val="FFFFFF"/>
                </a:solidFill>
                <a:latin typeface="Cambria"/>
              </a:rPr>
              <a:t>data table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And how to find data you can actually trust</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5  ·  Fri 9 October — PUBLIC HOLIDAY</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NO CLASS — issued as a recording plus notebook by Wed 7 Oct, with an online clinic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Load a CSV into a DataFrame and describe what you have: rows, columns, types and missing values.</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Select a column, select rows, and filter with a condition.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Group by a category and compute a summary for each group.</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Create a new column that encodes something you know as an engineer.</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one line of pandas replaces the sixty lines you wrote last week.</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Find a dataset on Kaggle or the UCI repository and state its provenance, licence and limitations.</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Judge whether a dataset can actually answer a stated engineering question — before using it.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5 · NumPy, pandas, and finding data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Sixty lines of loop last week. Three lines this week — and now you know what they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Sixty lines becomes three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case for the tool, made by the tool.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WHY PANDAS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job, two ways</a:t>
            </a:r>
          </a:p>
        </p:txBody>
      </p:sp>
      <p:pic>
        <p:nvPicPr>
          <p:cNvPr id="4" name="Picture 3" descr="loops_vs_vectorised.png"/>
          <p:cNvPicPr>
            <a:picLocks noChangeAspect="1"/>
          </p:cNvPicPr>
          <p:nvPr/>
        </p:nvPicPr>
        <p:blipFill>
          <a:blip r:embed="rId2"/>
          <a:stretch>
            <a:fillRect/>
          </a:stretch>
        </p:blipFill>
        <p:spPr>
          <a:xfrm>
            <a:off x="1512239" y="1911095"/>
            <a:ext cx="916721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answer, agreeing to nine decimal places. Ten statements of standard Python against three of pandas. The timings shown were measured on this machine on a million rows — yours will differ, but the direction will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NumPy: arithmetic on many numbers at once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idea: do the operation to the whole column at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Array, and vectorisation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ARRAY is a column of numbers of the same type. VECTORISATION means writing the operation once for the whole array instead of looping over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If readings is an array of assay grades, readings - 25 gives you a whole new array of temperature rises. No loop, one line.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list. A list can hold anything and has no arithmetic; an array holds one type and arithmetic applies to all of it at once.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DataFrame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table with named columns and a numbered index. From here to the end of the year, this is where your data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DataFrame</a:t>
            </a:r>
          </a:p>
        </p:txBody>
      </p:sp>
      <p:pic>
        <p:nvPicPr>
          <p:cNvPr id="4" name="Picture 3" descr="dataframe_anatomy.png"/>
          <p:cNvPicPr>
            <a:picLocks noChangeAspect="1"/>
          </p:cNvPicPr>
          <p:nvPr/>
        </p:nvPicPr>
        <p:blipFill>
          <a:blip r:embed="rId2"/>
          <a:stretch>
            <a:fillRect/>
          </a:stretch>
        </p:blipFill>
        <p:spPr>
          <a:xfrm>
            <a:off x="1241096" y="1911095"/>
            <a:ext cx="970950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Rows down the side with an index, columns across the top with names, and every column has a type. One column on its own is called a Series. The shape tells you how many rows and columns you have.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Loading and describing Quality Prediction in a Mining Process (froth flotation)</a:t>
            </a:r>
          </a:p>
        </p:txBody>
      </p:sp>
      <p:sp>
        <p:nvSpPr>
          <p:cNvPr id="4" name="Rounded Rectangle 3"/>
          <p:cNvSpPr/>
          <p:nvPr/>
        </p:nvSpPr>
        <p:spPr>
          <a:xfrm>
            <a:off x="6852842" y="512064"/>
            <a:ext cx="4653052"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RUN EACH LINE SEPARATELY</a:t>
            </a:r>
          </a:p>
        </p:txBody>
      </p:sp>
      <p:sp>
        <p:nvSpPr>
          <p:cNvPr id="5" name="Rectangle 4"/>
          <p:cNvSpPr/>
          <p:nvPr/>
        </p:nvSpPr>
        <p:spPr>
          <a:xfrm>
            <a:off x="685800" y="2395728"/>
            <a:ext cx="10820095" cy="275965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42032"/>
            <a:ext cx="10234879" cy="246704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pandas as pd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df = pd.read_csv("flotation_subset.csv")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df.shape          # (rows, columns)</a:t>
            </a:r>
          </a:p>
          <a:p>
            <a:pPr algn="l">
              <a:lnSpc>
                <a:spcPts val="1795"/>
              </a:lnSpc>
              <a:spcAft>
                <a:spcPts val="0"/>
              </a:spcAft>
            </a:pPr>
            <a:r>
              <a:rPr sz="1320" b="0" i="0">
                <a:solidFill>
                  <a:srgbClr val="D8E3EC"/>
                </a:solidFill>
                <a:latin typeface="Courier New"/>
              </a:rPr>
              <a:t>df.head()         # the first five rows</a:t>
            </a:r>
          </a:p>
          <a:p>
            <a:pPr algn="l">
              <a:lnSpc>
                <a:spcPts val="1795"/>
              </a:lnSpc>
              <a:spcAft>
                <a:spcPts val="0"/>
              </a:spcAft>
            </a:pPr>
            <a:r>
              <a:rPr sz="1320" b="0" i="0">
                <a:solidFill>
                  <a:srgbClr val="D8E3EC"/>
                </a:solidFill>
                <a:latin typeface="Courier New"/>
              </a:rPr>
              <a:t>df.info()         # column names, types, non-null counts</a:t>
            </a:r>
          </a:p>
          <a:p>
            <a:pPr algn="l">
              <a:lnSpc>
                <a:spcPts val="1795"/>
              </a:lnSpc>
              <a:spcAft>
                <a:spcPts val="0"/>
              </a:spcAft>
            </a:pPr>
            <a:r>
              <a:rPr sz="1320" b="0" i="0">
                <a:solidFill>
                  <a:srgbClr val="D8E3EC"/>
                </a:solidFill>
                <a:latin typeface="Courier New"/>
              </a:rPr>
              <a:t>df.describe()     # count, mean, std, min, quartiles, max</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df["reagent_ratio"] = df["starch_flow"] / df["ore_pulp_flow"]</a:t>
            </a:r>
          </a:p>
          <a:p>
            <a:pPr algn="l">
              <a:lnSpc>
                <a:spcPts val="1795"/>
              </a:lnSpc>
              <a:spcAft>
                <a:spcPts val="0"/>
              </a:spcAft>
            </a:pPr>
            <a:r>
              <a:rPr sz="1320" b="0" i="0">
                <a:solidFill>
                  <a:srgbClr val="D8E3EC"/>
                </a:solidFill>
                <a:latin typeface="Courier New"/>
              </a:rPr>
              <a:t>df.head()</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Type df.shape without the brackets and run it. You get something about a 'bound method' instead of the numbers — because you asked for the function itself rather than calling it. It is the Week 3 define-versus-call distinction, in a new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Attribute and method</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ATTRIBUTE is a fact about the object, written without brackets. A METHOD does something to the object and is written with brackets, even when they are empty.</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df.shape is an attribute — it just is (rows, columns). df.head() is a method — it goes and gets the first rows for you. df.dtypes attribute; df.describe() method.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and getting it wrong is a confusing error rather than a helpful one. Ask for df.shape() and you get 'tuple object is not callable'; ask for df.head and you get a description of the method instead of your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Answering one of the twelve questions, properly</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Question: How does mean concentrate silica differ between high and low iron feed?  Here is the whole routine, including the part that is not code.</a:t>
            </a:r>
          </a:p>
        </p:txBody>
      </p:sp>
      <p:sp>
        <p:nvSpPr>
          <p:cNvPr id="5" name="Rounded Rectangle 4"/>
          <p:cNvSpPr/>
          <p:nvPr/>
        </p:nvSpPr>
        <p:spPr>
          <a:xfrm>
            <a:off x="685800" y="273234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Decide what the answer will look like before you write anything. A single number with a unit? A small table? That tells you which operation you need.</a:t>
            </a:r>
          </a:p>
        </p:txBody>
      </p:sp>
      <p:sp>
        <p:nvSpPr>
          <p:cNvPr id="8" name="Rounded Rectangle 7"/>
          <p:cNvSpPr/>
          <p:nvPr/>
        </p:nvSpPr>
        <p:spPr>
          <a:xfrm>
            <a:off x="685800" y="344246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49733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48818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Check the column exists and is numeric. df.info() — if the dtype is 'object' you must fix that first, because no arithmetic will work.</a:t>
            </a:r>
          </a:p>
        </p:txBody>
      </p:sp>
      <p:sp>
        <p:nvSpPr>
          <p:cNvPr id="11" name="Rounded Rectangle 10"/>
          <p:cNvSpPr/>
          <p:nvPr/>
        </p:nvSpPr>
        <p:spPr>
          <a:xfrm>
            <a:off x="685800" y="41525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2074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1983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Write the smallest expression that answers it. One line if possible.</a:t>
            </a:r>
          </a:p>
        </p:txBody>
      </p:sp>
      <p:sp>
        <p:nvSpPr>
          <p:cNvPr id="14" name="Rounded Rectangle 13"/>
          <p:cNvSpPr/>
          <p:nvPr/>
        </p:nvSpPr>
        <p:spPr>
          <a:xfrm>
            <a:off x="685800" y="46097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646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555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Look at the answer and ask whether the magnitude is plausible for this quantity. This is the Week 3 habit, applied to a table.</a:t>
            </a:r>
          </a:p>
        </p:txBody>
      </p:sp>
      <p:sp>
        <p:nvSpPr>
          <p:cNvPr id="17" name="Rounded Rectangle 16"/>
          <p:cNvSpPr/>
          <p:nvPr/>
        </p:nvSpPr>
        <p:spPr>
          <a:xfrm>
            <a:off x="685800" y="50669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1218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1127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State it as a sentence with its unit. Not a printed Series — a sentence an engineer could put in a report.</a:t>
            </a:r>
          </a:p>
        </p:txBody>
      </p:sp>
      <p:sp>
        <p:nvSpPr>
          <p:cNvPr id="20" name="Rounded Rectangle 19"/>
          <p:cNvSpPr/>
          <p:nvPr/>
        </p:nvSpPr>
        <p:spPr>
          <a:xfrm>
            <a:off x="685800" y="55241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5790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5699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Say what it does NOT tell you. One clause is enough, and it is what turns an answer into an analysis.</a:t>
            </a:r>
          </a:p>
        </p:txBody>
      </p:sp>
      <p:sp>
        <p:nvSpPr>
          <p:cNvPr id="23" name="Rounded Rectangle 22"/>
          <p:cNvSpPr/>
          <p:nvPr/>
        </p:nvSpPr>
        <p:spPr>
          <a:xfrm>
            <a:off x="685800" y="6036252"/>
            <a:ext cx="10820095" cy="640080"/>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6173412"/>
            <a:ext cx="10234879" cy="365759"/>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4 and 6 involve no code at all, and they are where the marks are in this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Selecting, filtering, grouping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operations that answer most engineering questions you will ask of a 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FILTERING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Filtering with a condition</a:t>
            </a:r>
          </a:p>
        </p:txBody>
      </p:sp>
      <p:pic>
        <p:nvPicPr>
          <p:cNvPr id="4" name="Picture 3" descr="boolean_mask.png"/>
          <p:cNvPicPr>
            <a:picLocks noChangeAspect="1"/>
          </p:cNvPicPr>
          <p:nvPr/>
        </p:nvPicPr>
        <p:blipFill>
          <a:blip r:embed="rId2"/>
          <a:stretch>
            <a:fillRect/>
          </a:stretch>
        </p:blipFill>
        <p:spPr>
          <a:xfrm>
            <a:off x="1421811" y="1911095"/>
            <a:ext cx="934807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condition applied to a column gives you a column of True and False. Put that inside square brackets and you get only the rows where it was True. This is how every filter in pandas works.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GROUPING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Grouping: split, apply, combine</a:t>
            </a:r>
          </a:p>
        </p:txBody>
      </p:sp>
      <p:pic>
        <p:nvPicPr>
          <p:cNvPr id="4" name="Picture 3" descr="split_apply_combine.png"/>
          <p:cNvPicPr>
            <a:picLocks noChangeAspect="1"/>
          </p:cNvPicPr>
          <p:nvPr/>
        </p:nvPicPr>
        <p:blipFill>
          <a:blip r:embed="rId2"/>
          <a:stretch>
            <a:fillRect/>
          </a:stretch>
        </p:blipFill>
        <p:spPr>
          <a:xfrm>
            <a:off x="1627192" y="1911095"/>
            <a:ext cx="893731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Split the table into groups by a category column, apply a summary to each group, and combine the answers into a smaller table. One line of pandas does all three.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Series, mask, and groupby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SERIES is one column. A MASK is a column of True and False produced by a condition. GROUPBY splits the table by a category, applies a summary to each part, and combines the results.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df["silica_concentrate"] is a Series. df["silica_concentrate"] &gt; 3 is a mask. df.groupby("ph_band")["silica_concentrate"].mean() is split-apply-combine.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filtered DataFrame. The mask is the True/False column; the filtered DataFrame is what you get after applying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you can drive it</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df.shape gives (20000, 24). How many records and how many columns, and which number is which?</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write df['silica_concentrate'] &gt; 3 and print it. Describe what you see, rather than what you wanted.</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the mean of silica_concentrate for each pulp pH band. Write the line.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(1030, 9)?</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1,030 rows and 9 columns — rows first, always. So 1,030 mixes, each described by 9 columns.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Printing the condition?</a:t>
            </a:r>
          </a:p>
        </p:txBody>
      </p:sp>
      <p:sp>
        <p:nvSpPr>
          <p:cNvPr id="9" name="TextBox 8"/>
          <p:cNvSpPr txBox="1"/>
          <p:nvPr/>
        </p:nvSpPr>
        <p:spPr>
          <a:xfrm>
            <a:off x="1216152" y="300690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column of True and False, 1,030 entries long, with the same index as the data. It is not the rows you wanted — it is the question. Put it inside df[...] to get the rows.</a:t>
            </a:r>
          </a:p>
        </p:txBody>
      </p:sp>
      <p:sp>
        <p:nvSpPr>
          <p:cNvPr id="10" name="Oval 9"/>
          <p:cNvSpPr/>
          <p:nvPr/>
        </p:nvSpPr>
        <p:spPr>
          <a:xfrm>
            <a:off x="685800" y="39000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8634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Mean per age band?</a:t>
            </a:r>
          </a:p>
        </p:txBody>
      </p:sp>
      <p:sp>
        <p:nvSpPr>
          <p:cNvPr id="12" name="TextBox 11"/>
          <p:cNvSpPr txBox="1"/>
          <p:nvPr/>
        </p:nvSpPr>
        <p:spPr>
          <a:xfrm>
            <a:off x="1216152" y="415609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df.groupby("ph_band")["silica_concentrate"].mean() — group by the category, pick the column, apply the summary. The result is one row per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USING PUBLIC WORK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somebody else's notebook without being misled</a:t>
            </a:r>
          </a:p>
        </p:txBody>
      </p:sp>
      <p:sp>
        <p:nvSpPr>
          <p:cNvPr id="4" name="TextBox 3"/>
          <p:cNvSpPr txBox="1"/>
          <p:nvPr/>
        </p:nvSpPr>
        <p:spPr>
          <a:xfrm>
            <a:off x="685800"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Kaggle notebooks are the best free resource you have</a:t>
            </a:r>
          </a:p>
        </p:txBody>
      </p:sp>
      <p:sp>
        <p:nvSpPr>
          <p:cNvPr id="5" name="TextBox 4"/>
          <p:cNvSpPr txBox="1"/>
          <p:nvPr/>
        </p:nvSpPr>
        <p:spPr>
          <a:xfrm>
            <a:off x="685800" y="2285991"/>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Thousands of people have analysed these exact datasets and published their working. Reading them is how you learn what is possible.</a:t>
            </a:r>
          </a:p>
        </p:txBody>
      </p:sp>
      <p:sp>
        <p:nvSpPr>
          <p:cNvPr id="6" name="TextBox 5"/>
          <p:cNvSpPr txBox="1"/>
          <p:nvPr/>
        </p:nvSpPr>
        <p:spPr>
          <a:xfrm>
            <a:off x="685800" y="3087601"/>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And they are not peer reviewed</a:t>
            </a:r>
          </a:p>
        </p:txBody>
      </p:sp>
      <p:sp>
        <p:nvSpPr>
          <p:cNvPr id="7" name="TextBox 6"/>
          <p:cNvSpPr txBox="1"/>
          <p:nvPr/>
        </p:nvSpPr>
        <p:spPr>
          <a:xfrm>
            <a:off x="685800" y="3462496"/>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Many are wrong, and the popular ones are not the correct ones — they are the well-presented ones. Treat them as a colleague's rough working.</a:t>
            </a:r>
          </a:p>
        </p:txBody>
      </p:sp>
      <p:sp>
        <p:nvSpPr>
          <p:cNvPr id="8" name="TextBox 7"/>
          <p:cNvSpPr txBox="1"/>
          <p:nvPr/>
        </p:nvSpPr>
        <p:spPr>
          <a:xfrm>
            <a:off x="6347307"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Three things to check before you copy an idea</a:t>
            </a:r>
          </a:p>
        </p:txBody>
      </p:sp>
      <p:sp>
        <p:nvSpPr>
          <p:cNvPr id="9" name="TextBox 8"/>
          <p:cNvSpPr txBox="1"/>
          <p:nvPr/>
        </p:nvSpPr>
        <p:spPr>
          <a:xfrm>
            <a:off x="6347307" y="2285991"/>
            <a:ext cx="5158587" cy="832082"/>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Did they look at the data before modelling it, or dive straight in? Did they hold anything back to test on? Do the numbers in the conclusion actually follow from the output shown?</a:t>
            </a:r>
          </a:p>
        </p:txBody>
      </p:sp>
      <p:sp>
        <p:nvSpPr>
          <p:cNvPr id="10" name="TextBox 9"/>
          <p:cNvSpPr txBox="1"/>
          <p:nvPr/>
        </p:nvSpPr>
        <p:spPr>
          <a:xfrm>
            <a:off x="6347307" y="3346674"/>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The specific thing to watch for</a:t>
            </a:r>
          </a:p>
        </p:txBody>
      </p:sp>
      <p:sp>
        <p:nvSpPr>
          <p:cNvPr id="11" name="TextBox 10"/>
          <p:cNvSpPr txBox="1"/>
          <p:nvPr/>
        </p:nvSpPr>
        <p:spPr>
          <a:xfrm>
            <a:off x="6347307" y="3721569"/>
            <a:ext cx="5158587" cy="1091155"/>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A notebook reporting near-perfect accuracy has almost always leaked information it should not have had. You will learn to spot exactly how in Week 10 — for now, treat a suspiciously good result as a reason for suspicion.</a:t>
            </a:r>
          </a:p>
        </p:txBody>
      </p:sp>
      <p:sp>
        <p:nvSpPr>
          <p:cNvPr id="12" name="TextBox 11"/>
          <p:cNvSpPr txBox="1"/>
          <p:nvPr/>
        </p:nvSpPr>
        <p:spPr>
          <a:xfrm>
            <a:off x="6347307" y="5041324"/>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How to use them honestly in this course</a:t>
            </a:r>
          </a:p>
        </p:txBody>
      </p:sp>
      <p:sp>
        <p:nvSpPr>
          <p:cNvPr id="13" name="TextBox 12"/>
          <p:cNvSpPr txBox="1"/>
          <p:nvPr/>
        </p:nvSpPr>
        <p:spPr>
          <a:xfrm>
            <a:off x="6347307" y="5416220"/>
            <a:ext cx="5158587" cy="1091155"/>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Read them, learn from them, then write your own and say in your README what you learned from where. Citing a notebook you learned from is good practice. Copying one and presenting it as yours is plagiarism, and the Week 15 viva will find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data comes from, and whether to trust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Finding a dataset is easy. Judging whether it can answer your question is the skill.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JUDGING A DATASET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questions to ask before you use anyone's data</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Who measured it, and how?</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An instrument reading, a laboratory analysis and somebody's estimate are not the same kind of number, and the dataset card should say which you have.</a:t>
            </a:r>
          </a:p>
        </p:txBody>
      </p:sp>
      <p:sp>
        <p:nvSpPr>
          <p:cNvPr id="6" name="TextBox 5"/>
          <p:cNvSpPr txBox="1"/>
          <p:nvPr/>
        </p:nvSpPr>
        <p:spPr>
          <a:xfrm>
            <a:off x="685800" y="349962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Over what period, and is that period still relevant?</a:t>
            </a:r>
          </a:p>
        </p:txBody>
      </p:sp>
      <p:sp>
        <p:nvSpPr>
          <p:cNvPr id="7" name="TextBox 6"/>
          <p:cNvSpPr txBox="1"/>
          <p:nvPr/>
        </p:nvSpPr>
        <p:spPr>
          <a:xfrm>
            <a:off x="685800" y="4258141"/>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Process data from before a plant upgrade may describe a plant that no longer exists.</a:t>
            </a:r>
          </a:p>
        </p:txBody>
      </p:sp>
      <p:sp>
        <p:nvSpPr>
          <p:cNvPr id="8" name="TextBox 7"/>
          <p:cNvSpPr txBox="1"/>
          <p:nvPr/>
        </p:nvSpPr>
        <p:spPr>
          <a:xfrm>
            <a:off x="685800"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is the licence?</a:t>
            </a:r>
          </a:p>
        </p:txBody>
      </p:sp>
      <p:sp>
        <p:nvSpPr>
          <p:cNvPr id="9" name="TextBox 8"/>
          <p:cNvSpPr txBox="1"/>
          <p:nvPr/>
        </p:nvSpPr>
        <p:spPr>
          <a:xfrm>
            <a:off x="685800"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must be allowed to use it, and you must attribute it. CC BY 4.0 means use it and cite it. No stated licence means assume you may not.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What is missing, and is it missing at random?</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column that is blank for the first two years because the sensor was installed later is not missing at random, and averaging it will mislead you.</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Can it actually answer my question?</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question nobody asks. If you want to predict failures and the file contains no failures, no amount of technique will help.</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6 · What would I need that is not here?</a:t>
            </a:r>
          </a:p>
        </p:txBody>
      </p:sp>
      <p:sp>
        <p:nvSpPr>
          <p:cNvPr id="15" name="TextBox 14"/>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Saying this clearly is a real result. 'This data cannot answer the question, and here is what would' is a legitimate and often valuable conclusion.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Twelve Questions</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Work through these on Quality Prediction in a Mining Process (froth flotation)</a:t>
            </a:r>
          </a:p>
        </p:txBody>
      </p:sp>
      <p:sp>
        <p:nvSpPr>
          <p:cNvPr id="5" name="TextBox 4"/>
          <p:cNvSpPr txBox="1"/>
          <p:nvPr/>
        </p:nvSpPr>
        <p:spPr>
          <a:xfrm>
            <a:off x="685800" y="2797840"/>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1. How many records are in the subset, and how many columns?</a:t>
            </a:r>
          </a:p>
        </p:txBody>
      </p:sp>
      <p:sp>
        <p:nvSpPr>
          <p:cNvPr id="6" name="TextBox 5"/>
          <p:cNvSpPr txBox="1"/>
          <p:nvPr/>
        </p:nvSpPr>
        <p:spPr>
          <a:xfrm>
            <a:off x="685800" y="3479493"/>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2. What is the mean silica in the concentrate, and the range?</a:t>
            </a:r>
          </a:p>
        </p:txBody>
      </p:sp>
      <p:sp>
        <p:nvSpPr>
          <p:cNvPr id="7" name="TextBox 6"/>
          <p:cNvSpPr txBox="1"/>
          <p:nvPr/>
        </p:nvSpPr>
        <p:spPr>
          <a:xfrm>
            <a:off x="685800" y="4161146"/>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3. What is the distribution of iron feed grade?</a:t>
            </a:r>
          </a:p>
        </p:txBody>
      </p:sp>
      <p:sp>
        <p:nvSpPr>
          <p:cNvPr id="8" name="TextBox 7"/>
          <p:cNvSpPr txBox="1"/>
          <p:nvPr/>
        </p:nvSpPr>
        <p:spPr>
          <a:xfrm>
            <a:off x="685800" y="4529404"/>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4. How does mean concentrate silica differ between high and low iron feed?</a:t>
            </a:r>
          </a:p>
        </p:txBody>
      </p:sp>
      <p:sp>
        <p:nvSpPr>
          <p:cNvPr id="9" name="TextBox 8"/>
          <p:cNvSpPr txBox="1"/>
          <p:nvPr/>
        </p:nvSpPr>
        <p:spPr>
          <a:xfrm>
            <a:off x="685800" y="5211058"/>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5. Which record has the worst concentrate silica, and what was the feed like?</a:t>
            </a:r>
          </a:p>
        </p:txBody>
      </p:sp>
      <p:sp>
        <p:nvSpPr>
          <p:cNvPr id="10" name="TextBox 9"/>
          <p:cNvSpPr txBox="1"/>
          <p:nvPr/>
        </p:nvSpPr>
        <p:spPr>
          <a:xfrm>
            <a:off x="685800" y="5892711"/>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6. What is the mean starch flow, and how much does it vary?</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Continued</a:t>
            </a:r>
          </a:p>
        </p:txBody>
      </p:sp>
      <p:sp>
        <p:nvSpPr>
          <p:cNvPr id="13" name="TextBox 12"/>
          <p:cNvSpPr txBox="1"/>
          <p:nvPr/>
        </p:nvSpPr>
        <p:spPr>
          <a:xfrm>
            <a:off x="6575907" y="2496312"/>
            <a:ext cx="4655667" cy="307717"/>
          </a:xfrm>
          <a:prstGeom prst="rect">
            <a:avLst/>
          </a:prstGeom>
          <a:noFill/>
        </p:spPr>
        <p:txBody>
          <a:bodyPr wrap="square" lIns="0" rIns="0" tIns="0" bIns="0" anchor="t">
            <a:spAutoFit/>
          </a:bodyPr>
          <a:lstStyle/>
          <a:p>
            <a:pPr algn="l">
              <a:lnSpc>
                <a:spcPct val="114000"/>
              </a:lnSpc>
              <a:spcAft>
                <a:spcPts val="600"/>
              </a:spcAft>
            </a:pPr>
            <a:r>
              <a:rPr sz="1452" b="0" i="0">
                <a:solidFill>
                  <a:srgbClr val="334657"/>
                </a:solidFill>
                <a:latin typeface="Calibri"/>
              </a:rPr>
              <a:t>7. Add a reagent-to-feed ratio column. What is its range?</a:t>
            </a:r>
          </a:p>
        </p:txBody>
      </p:sp>
      <p:sp>
        <p:nvSpPr>
          <p:cNvPr id="14" name="TextBox 13"/>
          <p:cNvSpPr txBox="1"/>
          <p:nvPr/>
        </p:nvSpPr>
        <p:spPr>
          <a:xfrm>
            <a:off x="6575907" y="2804029"/>
            <a:ext cx="4655667" cy="569715"/>
          </a:xfrm>
          <a:prstGeom prst="rect">
            <a:avLst/>
          </a:prstGeom>
          <a:noFill/>
        </p:spPr>
        <p:txBody>
          <a:bodyPr wrap="square" lIns="0" rIns="0" tIns="0" bIns="0" anchor="t">
            <a:spAutoFit/>
          </a:bodyPr>
          <a:lstStyle/>
          <a:p>
            <a:pPr algn="l">
              <a:lnSpc>
                <a:spcPct val="114000"/>
              </a:lnSpc>
              <a:spcAft>
                <a:spcPts val="600"/>
              </a:spcAft>
            </a:pPr>
            <a:r>
              <a:rPr sz="1452" b="0" i="0">
                <a:solidFill>
                  <a:srgbClr val="334657"/>
                </a:solidFill>
                <a:latin typeface="Calibri"/>
              </a:rPr>
              <a:t>8. Group by pulp pH band and report mean concentrate silica for each.</a:t>
            </a:r>
          </a:p>
        </p:txBody>
      </p:sp>
      <p:sp>
        <p:nvSpPr>
          <p:cNvPr id="15" name="TextBox 14"/>
          <p:cNvSpPr txBox="1"/>
          <p:nvPr/>
        </p:nvSpPr>
        <p:spPr>
          <a:xfrm>
            <a:off x="6575907" y="3373745"/>
            <a:ext cx="4655667" cy="569715"/>
          </a:xfrm>
          <a:prstGeom prst="rect">
            <a:avLst/>
          </a:prstGeom>
          <a:noFill/>
        </p:spPr>
        <p:txBody>
          <a:bodyPr wrap="square" lIns="0" rIns="0" tIns="0" bIns="0" anchor="t">
            <a:spAutoFit/>
          </a:bodyPr>
          <a:lstStyle/>
          <a:p>
            <a:pPr algn="l">
              <a:lnSpc>
                <a:spcPct val="114000"/>
              </a:lnSpc>
              <a:spcAft>
                <a:spcPts val="600"/>
              </a:spcAft>
            </a:pPr>
            <a:r>
              <a:rPr sz="1452" b="0" i="0">
                <a:solidFill>
                  <a:srgbClr val="334657"/>
                </a:solidFill>
                <a:latin typeface="Calibri"/>
              </a:rPr>
              <a:t>9. How many records would fail a 3 per cent silica specification?</a:t>
            </a:r>
          </a:p>
        </p:txBody>
      </p:sp>
      <p:sp>
        <p:nvSpPr>
          <p:cNvPr id="16" name="TextBox 15"/>
          <p:cNvSpPr txBox="1"/>
          <p:nvPr/>
        </p:nvSpPr>
        <p:spPr>
          <a:xfrm>
            <a:off x="6575907" y="3943461"/>
            <a:ext cx="4655667" cy="569715"/>
          </a:xfrm>
          <a:prstGeom prst="rect">
            <a:avLst/>
          </a:prstGeom>
          <a:noFill/>
        </p:spPr>
        <p:txBody>
          <a:bodyPr wrap="square" lIns="0" rIns="0" tIns="0" bIns="0" anchor="t">
            <a:spAutoFit/>
          </a:bodyPr>
          <a:lstStyle/>
          <a:p>
            <a:pPr algn="l">
              <a:lnSpc>
                <a:spcPct val="114000"/>
              </a:lnSpc>
              <a:spcAft>
                <a:spcPts val="600"/>
              </a:spcAft>
            </a:pPr>
            <a:r>
              <a:rPr sz="1452" b="0" i="0">
                <a:solidFill>
                  <a:srgbClr val="334657"/>
                </a:solidFill>
                <a:latin typeface="Calibri"/>
              </a:rPr>
              <a:t>10. Which flotation column shows the widest variation in air flow?</a:t>
            </a:r>
          </a:p>
        </p:txBody>
      </p:sp>
      <p:sp>
        <p:nvSpPr>
          <p:cNvPr id="17" name="TextBox 16"/>
          <p:cNvSpPr txBox="1"/>
          <p:nvPr/>
        </p:nvSpPr>
        <p:spPr>
          <a:xfrm>
            <a:off x="6575907" y="4513177"/>
            <a:ext cx="4655667" cy="569715"/>
          </a:xfrm>
          <a:prstGeom prst="rect">
            <a:avLst/>
          </a:prstGeom>
          <a:noFill/>
        </p:spPr>
        <p:txBody>
          <a:bodyPr wrap="square" lIns="0" rIns="0" tIns="0" bIns="0" anchor="t">
            <a:spAutoFit/>
          </a:bodyPr>
          <a:lstStyle/>
          <a:p>
            <a:pPr algn="l">
              <a:lnSpc>
                <a:spcPct val="114000"/>
              </a:lnSpc>
              <a:spcAft>
                <a:spcPts val="600"/>
              </a:spcAft>
            </a:pPr>
            <a:r>
              <a:rPr sz="1452" b="0" i="0">
                <a:solidFill>
                  <a:srgbClr val="334657"/>
                </a:solidFill>
                <a:latin typeface="Calibri"/>
              </a:rPr>
              <a:t>11. Which two process columns are most strongly associated with concentrate silica?</a:t>
            </a:r>
          </a:p>
        </p:txBody>
      </p:sp>
      <p:sp>
        <p:nvSpPr>
          <p:cNvPr id="18" name="TextBox 17"/>
          <p:cNvSpPr txBox="1"/>
          <p:nvPr/>
        </p:nvSpPr>
        <p:spPr>
          <a:xfrm>
            <a:off x="6575907" y="5082892"/>
            <a:ext cx="4655667" cy="569715"/>
          </a:xfrm>
          <a:prstGeom prst="rect">
            <a:avLst/>
          </a:prstGeom>
          <a:noFill/>
        </p:spPr>
        <p:txBody>
          <a:bodyPr wrap="square" lIns="0" rIns="0" tIns="0" bIns="0" anchor="t">
            <a:spAutoFit/>
          </a:bodyPr>
          <a:lstStyle/>
          <a:p>
            <a:pPr algn="l">
              <a:lnSpc>
                <a:spcPct val="114000"/>
              </a:lnSpc>
              <a:spcAft>
                <a:spcPts val="600"/>
              </a:spcAft>
            </a:pPr>
            <a:r>
              <a:rPr sz="1452" b="0" i="0">
                <a:solidFill>
                  <a:srgbClr val="334657"/>
                </a:solidFill>
                <a:latin typeface="Calibri"/>
              </a:rPr>
              <a:t>12. Save the records that failed specification, with the ratio column, to a new 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Ten Questions, No Help</a:t>
            </a:r>
          </a:p>
        </p:txBody>
      </p:sp>
      <p:sp>
        <p:nvSpPr>
          <p:cNvPr id="4" name="Rounded Rectangle 3"/>
          <p:cNvSpPr/>
          <p:nvPr/>
        </p:nvSpPr>
        <p:spPr>
          <a:xfrm>
            <a:off x="685800" y="1911095"/>
            <a:ext cx="10820095" cy="124358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782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A different dataset you have not seen, and ten questions about it.</a:t>
            </a:r>
          </a:p>
          <a:p>
            <a:pPr algn="l">
              <a:lnSpc>
                <a:spcPct val="125000"/>
              </a:lnSpc>
              <a:spcAft>
                <a:spcPts val="600"/>
              </a:spcAft>
            </a:pPr>
            <a:r>
              <a:rPr sz="1923" b="0" i="0">
                <a:solidFill>
                  <a:srgbClr val="1C3144"/>
                </a:solidFill>
                <a:latin typeface="Calibri"/>
              </a:rPr>
              <a:t>Twenty-five minutes. No help from me, and no searching for the answers.</a:t>
            </a:r>
          </a:p>
          <a:p>
            <a:pPr algn="l">
              <a:lnSpc>
                <a:spcPct val="125000"/>
              </a:lnSpc>
              <a:spcAft>
                <a:spcPts val="600"/>
              </a:spcAft>
            </a:pPr>
            <a:r>
              <a:rPr sz="1923" b="0" i="0">
                <a:solidFill>
                  <a:srgbClr val="1C3144"/>
                </a:solidFill>
                <a:latin typeface="Calibri"/>
              </a:rPr>
              <a:t>This is deliberately the same format as Practical Test 1 in two weeks — treat it as a calibration.</a:t>
            </a:r>
          </a:p>
        </p:txBody>
      </p:sp>
      <p:sp>
        <p:nvSpPr>
          <p:cNvPr id="6" name="TextBox 5"/>
          <p:cNvSpPr txBox="1"/>
          <p:nvPr/>
        </p:nvSpPr>
        <p:spPr>
          <a:xfrm>
            <a:off x="685800" y="346557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shape, and what are the types?</a:t>
            </a:r>
          </a:p>
        </p:txBody>
      </p:sp>
      <p:sp>
        <p:nvSpPr>
          <p:cNvPr id="8" name="TextBox 7"/>
          <p:cNvSpPr txBox="1"/>
          <p:nvPr/>
        </p:nvSpPr>
        <p:spPr>
          <a:xfrm>
            <a:off x="685800"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describe() tell you that head() does not?</a:t>
            </a:r>
          </a:p>
        </p:txBody>
      </p:sp>
      <p:sp>
        <p:nvSpPr>
          <p:cNvPr id="9" name="TextBox 8"/>
          <p:cNvSpPr txBox="1"/>
          <p:nvPr/>
        </p:nvSpPr>
        <p:spPr>
          <a:xfrm>
            <a:off x="685800" y="472744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column is the one you would predict?</a:t>
            </a:r>
          </a:p>
        </p:txBody>
      </p:sp>
      <p:sp>
        <p:nvSpPr>
          <p:cNvPr id="10" name="TextBox 9"/>
          <p:cNvSpPr txBox="1"/>
          <p:nvPr/>
        </p:nvSpPr>
        <p:spPr>
          <a:xfrm>
            <a:off x="6278727"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anything obviously wrong with this data?</a:t>
            </a:r>
          </a:p>
        </p:txBody>
      </p:sp>
      <p:sp>
        <p:nvSpPr>
          <p:cNvPr id="11" name="TextBox 10"/>
          <p:cNvSpPr txBox="1"/>
          <p:nvPr/>
        </p:nvSpPr>
        <p:spPr>
          <a:xfrm>
            <a:off x="6278727"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that number mean in engineering terms?</a:t>
            </a:r>
          </a:p>
        </p:txBody>
      </p:sp>
      <p:sp>
        <p:nvSpPr>
          <p:cNvPr id="12" name="TextBox 11"/>
          <p:cNvSpPr txBox="1"/>
          <p:nvPr/>
        </p:nvSpPr>
        <p:spPr>
          <a:xfrm>
            <a:off x="6278727" y="472744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that is not in this file?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PROJECT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6</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Data Analysis Project — set today, due Week 8</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In your team: choose a dataset from the approved list, or propose one for approval.</a:t>
            </a:r>
          </a:p>
        </p:txBody>
      </p:sp>
      <p:sp>
        <p:nvSpPr>
          <p:cNvPr id="6" name="TextBox 5"/>
          <p:cNvSpPr txBox="1"/>
          <p:nvPr/>
        </p:nvSpPr>
        <p:spPr>
          <a:xfrm>
            <a:off x="685800" y="3598534"/>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Register the engineering question you will answer with it.</a:t>
            </a:r>
          </a:p>
        </p:txBody>
      </p:sp>
      <p:sp>
        <p:nvSpPr>
          <p:cNvPr id="7" name="TextBox 6"/>
          <p:cNvSpPr txBox="1"/>
          <p:nvPr/>
        </p:nvSpPr>
        <p:spPr>
          <a:xfrm>
            <a:off x="685800" y="4399228"/>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Deliverable in Week 8: a cleaned dataset, a question-driven analysis notebook, four or more charts each answering a stated question, and one page of findings.</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Worth 10 per cent. An individual contribution log is required.</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Assignment A5 — due Week 6</a:t>
            </a:r>
          </a:p>
        </p:txBody>
      </p:sp>
      <p:sp>
        <p:nvSpPr>
          <p:cNvPr id="11" name="TextBox 10"/>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Your Twelve Questions notebook, with every answer stated in physical units.</a:t>
            </a:r>
          </a:p>
        </p:txBody>
      </p:sp>
      <p:sp>
        <p:nvSpPr>
          <p:cNvPr id="12" name="TextBox 11"/>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Plus a README section giving the dataset's source and licence.</a:t>
            </a:r>
          </a:p>
        </p:txBody>
      </p:sp>
      <p:sp>
        <p:nvSpPr>
          <p:cNvPr id="13" name="TextBox 12"/>
          <p:cNvSpPr txBox="1"/>
          <p:nvPr/>
        </p:nvSpPr>
        <p:spPr>
          <a:xfrm>
            <a:off x="6575907" y="417375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 before you submit.</a:t>
            </a:r>
          </a:p>
        </p:txBody>
      </p:sp>
      <p:sp>
        <p:nvSpPr>
          <p:cNvPr id="14" name="TextBox 13"/>
          <p:cNvSpPr txBox="1"/>
          <p:nvPr/>
        </p:nvSpPr>
        <p:spPr>
          <a:xfrm>
            <a:off x="6575907" y="470284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why real data is broken, and how to see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DataFrame is a table: rows with an index, columns with names, and a type per column.</a:t>
            </a:r>
          </a:p>
        </p:txBody>
      </p:sp>
      <p:sp>
        <p:nvSpPr>
          <p:cNvPr id="6" name="Oval 5"/>
          <p:cNvSpPr/>
          <p:nvPr/>
        </p:nvSpPr>
        <p:spPr>
          <a:xfrm>
            <a:off x="685800" y="24256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70794"/>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Four commands on every new dataset, in this order: shape, head, info, describe. They tell you how big, what it looks like, what types, and what ranges.</a:t>
            </a:r>
          </a:p>
        </p:txBody>
      </p:sp>
      <p:sp>
        <p:nvSpPr>
          <p:cNvPr id="8" name="Oval 7"/>
          <p:cNvSpPr/>
          <p:nvPr/>
        </p:nvSpPr>
        <p:spPr>
          <a:xfrm>
            <a:off x="685800" y="31987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43887"/>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column that should be numeric but shows dtype 'object' contains text somewhere. That is a defect, and Week 6 is about finding it.</a:t>
            </a:r>
          </a:p>
        </p:txBody>
      </p:sp>
      <p:sp>
        <p:nvSpPr>
          <p:cNvPr id="10" name="Oval 9"/>
          <p:cNvSpPr/>
          <p:nvPr/>
        </p:nvSpPr>
        <p:spPr>
          <a:xfrm>
            <a:off x="685800" y="39718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916980"/>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condition on a column gives a mask of True and False. The mask inside square brackets is the filter.</a:t>
            </a:r>
          </a:p>
        </p:txBody>
      </p:sp>
      <p:sp>
        <p:nvSpPr>
          <p:cNvPr id="12" name="Oval 11"/>
          <p:cNvSpPr/>
          <p:nvPr/>
        </p:nvSpPr>
        <p:spPr>
          <a:xfrm>
            <a:off x="685800" y="443154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76679"/>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groupby splits by a category, applies a summary, and combines the results into a smaller table.</a:t>
            </a:r>
          </a:p>
        </p:txBody>
      </p:sp>
      <p:sp>
        <p:nvSpPr>
          <p:cNvPr id="14" name="Oval 13"/>
          <p:cNvSpPr/>
          <p:nvPr/>
        </p:nvSpPr>
        <p:spPr>
          <a:xfrm>
            <a:off x="685800" y="48912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36378"/>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Vectorisation means writing the operation once for the whole column. It is not just faster — it has far less room for the accumulator bug.</a:t>
            </a:r>
          </a:p>
        </p:txBody>
      </p:sp>
      <p:sp>
        <p:nvSpPr>
          <p:cNvPr id="16" name="Oval 15"/>
          <p:cNvSpPr/>
          <p:nvPr/>
        </p:nvSpPr>
        <p:spPr>
          <a:xfrm>
            <a:off x="685800" y="566433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09471"/>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Before using anyone's data, ask six questions. The one people skip is whether it can answer the question at 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df.info() shows a column called silica_concentrate with dtype 'object'. What does that mean and what caused it?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df.describe() shows a minimum of -999 in a column that cannot be negative. What is going on?</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is the difference between df["x"] &gt; 40 and df[df["x"] &gt; 40]?</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the mean target for each category. Which operation, and what shape is the result?</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find a dataset that perfectly matches your question but has no stated licence. What do you do?</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dtype 'object' on a numeric column?</a:t>
            </a:r>
          </a:p>
        </p:txBody>
      </p:sp>
      <p:sp>
        <p:nvSpPr>
          <p:cNvPr id="6" name="TextBox 5"/>
          <p:cNvSpPr txBox="1"/>
          <p:nvPr/>
        </p:nvSpPr>
        <p:spPr>
          <a:xfrm>
            <a:off x="1216152" y="2203703"/>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At least one value in it is text. Usually a stray unit ('32.5 MPa'), a comma as a decimal separator, or a note typed into a data cell. Until it is fixed, no arithmetic on that column will work.</a:t>
            </a:r>
          </a:p>
        </p:txBody>
      </p:sp>
      <p:sp>
        <p:nvSpPr>
          <p:cNvPr id="7" name="Oval 6"/>
          <p:cNvSpPr/>
          <p:nvPr/>
        </p:nvSpPr>
        <p:spPr>
          <a:xfrm>
            <a:off x="685800" y="345787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21301"/>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A minimum of -999?</a:t>
            </a:r>
          </a:p>
        </p:txBody>
      </p:sp>
      <p:sp>
        <p:nvSpPr>
          <p:cNvPr id="9" name="TextBox 8"/>
          <p:cNvSpPr txBox="1"/>
          <p:nvPr/>
        </p:nvSpPr>
        <p:spPr>
          <a:xfrm>
            <a:off x="1216152" y="3713909"/>
            <a:ext cx="4614519" cy="1444273"/>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It is a sentinel value standing in for 'missing' — someone chose an impossible number instead of leaving the cell blank. It looks like data to pandas, so it will be included in every mean and will drag them all down. Find it with describe(), then convert it to a proper missing value.</a:t>
            </a:r>
          </a:p>
        </p:txBody>
      </p:sp>
      <p:sp>
        <p:nvSpPr>
          <p:cNvPr id="10" name="Oval 9"/>
          <p:cNvSpPr/>
          <p:nvPr/>
        </p:nvSpPr>
        <p:spPr>
          <a:xfrm>
            <a:off x="685800" y="523133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194759"/>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The mask versus the filtered frame?</a:t>
            </a:r>
          </a:p>
        </p:txBody>
      </p:sp>
      <p:sp>
        <p:nvSpPr>
          <p:cNvPr id="12" name="TextBox 11"/>
          <p:cNvSpPr txBox="1"/>
          <p:nvPr/>
        </p:nvSpPr>
        <p:spPr>
          <a:xfrm>
            <a:off x="1216152" y="5487367"/>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df["x"] &gt; 40 is a column of True and False, the same length as the data. df[df["x"] &gt; 40] is the rows where that was True. The first is the question, the second is the answer.</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Mean target per category?</a:t>
            </a:r>
          </a:p>
        </p:txBody>
      </p:sp>
      <p:sp>
        <p:nvSpPr>
          <p:cNvPr id="15" name="TextBox 14"/>
          <p:cNvSpPr txBox="1"/>
          <p:nvPr/>
        </p:nvSpPr>
        <p:spPr>
          <a:xfrm>
            <a:off x="6854799" y="2203703"/>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df.groupby("category")["target"].mean(). The result is a smaller table — one row per category — not a modified version of the original.</a:t>
            </a:r>
          </a:p>
        </p:txBody>
      </p:sp>
      <p:sp>
        <p:nvSpPr>
          <p:cNvPr id="16" name="Oval 15"/>
          <p:cNvSpPr/>
          <p:nvPr/>
        </p:nvSpPr>
        <p:spPr>
          <a:xfrm>
            <a:off x="6324447" y="3194626"/>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158050"/>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No stated licence?</a:t>
            </a:r>
          </a:p>
        </p:txBody>
      </p:sp>
      <p:sp>
        <p:nvSpPr>
          <p:cNvPr id="18" name="TextBox 17"/>
          <p:cNvSpPr txBox="1"/>
          <p:nvPr/>
        </p:nvSpPr>
        <p:spPr>
          <a:xfrm>
            <a:off x="6854799" y="3450658"/>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Assume you may not use it. Look for the same data from a source that does state a licence, or contact the publisher. For assessed work in this course, an unlicensed dataset is not acceptable — and being able to say why is part of the mark.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pandas</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library for working with tables of data. Imported as pd by convention.</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NumPy</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library underneath pandas, providing arrays and fast elementwise arithmetic.</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DataFrame</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indexed rows, named columns, one type per column.</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Series</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column of a DataFrame.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Index</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row labels down the side of a DataFrame.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dtype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type of a column. 'object' on a numeric column means text has got in.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shape</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columns). An attribute, so no brackets.</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head() / tail()</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first or last few rows.</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info()</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Column names, types and non-null counts. Run it on everything.</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describe()</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Count, mean, standard deviation, min, quartiles and max per numeric column.</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Vectorisation</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Applying an operation to a whole column at once instead of looping.</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Mask</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of True and False produced by a condition.</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Filtering</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Selecting rows using a mask: df[mask].</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groupby</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Split by a category, apply a summary, combine the results.</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Derived column</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new column computed from existing ones — where your engineering knowledge enters.</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Sentinel value</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impossible number used to mean 'missing', such as -999. Destroys means silently.</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Provenance</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measured the data, how, and when.</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Licence</a:t>
            </a:r>
          </a:p>
        </p:txBody>
      </p:sp>
      <p:sp>
        <p:nvSpPr>
          <p:cNvPr id="39" name="TextBox 38"/>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you are permitted to do with someone else's data. No licence means assume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the pandas you need this semester</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Open and describe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pd.read_csv(path) · df.shape · df.head() · df.info() · df.describe()</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One column, and a new column</a:t>
            </a:r>
          </a:p>
        </p:txBody>
      </p:sp>
      <p:sp>
        <p:nvSpPr>
          <p:cNvPr id="7" name="TextBox 6"/>
          <p:cNvSpPr txBox="1"/>
          <p:nvPr/>
        </p:nvSpPr>
        <p:spPr>
          <a:xfrm>
            <a:off x="685800" y="3514311"/>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df["name"] · df["new"] = df["a"] / df["b"]</a:t>
            </a:r>
          </a:p>
        </p:txBody>
      </p:sp>
      <p:sp>
        <p:nvSpPr>
          <p:cNvPr id="8" name="TextBox 7"/>
          <p:cNvSpPr txBox="1"/>
          <p:nvPr/>
        </p:nvSpPr>
        <p:spPr>
          <a:xfrm>
            <a:off x="685800"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Filter</a:t>
            </a:r>
          </a:p>
        </p:txBody>
      </p:sp>
      <p:sp>
        <p:nvSpPr>
          <p:cNvPr id="9" name="TextBox 8"/>
          <p:cNvSpPr txBox="1"/>
          <p:nvPr/>
        </p:nvSpPr>
        <p:spPr>
          <a:xfrm>
            <a:off x="685800" y="4457650"/>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df[df["silica_concentrate"] &gt; 3]  ·  combine with &amp; and | and brackets round each condition</a:t>
            </a:r>
          </a:p>
        </p:txBody>
      </p:sp>
      <p:sp>
        <p:nvSpPr>
          <p:cNvPr id="10" name="TextBox 9"/>
          <p:cNvSpPr txBox="1"/>
          <p:nvPr/>
        </p:nvSpPr>
        <p:spPr>
          <a:xfrm>
            <a:off x="685800"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Summarise</a:t>
            </a:r>
          </a:p>
        </p:txBody>
      </p:sp>
      <p:sp>
        <p:nvSpPr>
          <p:cNvPr id="11" name="TextBox 10"/>
          <p:cNvSpPr txBox="1"/>
          <p:nvPr/>
        </p:nvSpPr>
        <p:spPr>
          <a:xfrm>
            <a:off x="685800"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df["x"].mean() · .min() · .max() · .std() · .count() · df["cat"].value_counts()</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Group</a:t>
            </a:r>
          </a:p>
        </p:txBody>
      </p:sp>
      <p:sp>
        <p:nvSpPr>
          <p:cNvPr id="13" name="TextBox 12"/>
          <p:cNvSpPr txBox="1"/>
          <p:nvPr/>
        </p:nvSpPr>
        <p:spPr>
          <a:xfrm>
            <a:off x="6347307" y="2298945"/>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df.groupby("cat")["x"].mean()</a:t>
            </a:r>
          </a:p>
        </p:txBody>
      </p:sp>
      <p:sp>
        <p:nvSpPr>
          <p:cNvPr id="14" name="TextBox 13"/>
          <p:cNvSpPr txBox="1"/>
          <p:nvPr/>
        </p:nvSpPr>
        <p:spPr>
          <a:xfrm>
            <a:off x="6347307" y="285443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Sort and save</a:t>
            </a:r>
          </a:p>
        </p:txBody>
      </p:sp>
      <p:sp>
        <p:nvSpPr>
          <p:cNvPr id="15" name="TextBox 14"/>
          <p:cNvSpPr txBox="1"/>
          <p:nvPr/>
        </p:nvSpPr>
        <p:spPr>
          <a:xfrm>
            <a:off x="6347307" y="3242284"/>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df.sort_values("x", ascending=False) · df.to_csv("out.csv", index=False)</a:t>
            </a:r>
          </a:p>
        </p:txBody>
      </p:sp>
      <p:sp>
        <p:nvSpPr>
          <p:cNvPr id="16" name="TextBox 15"/>
          <p:cNvSpPr txBox="1"/>
          <p:nvPr/>
        </p:nvSpPr>
        <p:spPr>
          <a:xfrm>
            <a:off x="6347307"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Before you trust anything</a:t>
            </a:r>
          </a:p>
        </p:txBody>
      </p:sp>
      <p:sp>
        <p:nvSpPr>
          <p:cNvPr id="17" name="TextBox 16"/>
          <p:cNvSpPr txBox="1"/>
          <p:nvPr/>
        </p:nvSpPr>
        <p:spPr>
          <a:xfrm>
            <a:off x="6347307" y="4457650"/>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info() for dtypes and describe() for impossible minimums and maximums. Both take one second and both catch defects that would otherwise survive into your conclusions.</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Answer in units</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Never hand in a printed Series. State the number, its unit, and what it means.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5</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mask confused with a filtered frame, a groupby result misread, and a numeric column with dtype 'object'.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5.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Three lines, and you know</a:t>
            </a:r>
          </a:p>
          <a:p>
            <a:pPr algn="l">
              <a:lnSpc>
                <a:spcPct val="110000"/>
              </a:lnSpc>
              <a:spcAft>
                <a:spcPts val="600"/>
              </a:spcAft>
            </a:pPr>
            <a:r>
              <a:rPr sz="3400" b="1" i="0">
                <a:solidFill>
                  <a:srgbClr val="FFFFFF"/>
                </a:solidFill>
                <a:latin typeface="Cambria"/>
              </a:rPr>
              <a:t>what all three of them do.</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Last week you wrote sixty lines to answer one question. The reason this week feels easy is that you did it the hard way first — and when pandas gets something wrong, which it will, you will be able to tell.</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why real data is broken, and how to see it before it misleads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