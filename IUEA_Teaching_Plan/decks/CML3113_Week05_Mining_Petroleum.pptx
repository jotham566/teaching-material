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ac219033cc343a7" /><Relationship Type="http://schemas.openxmlformats.org/officeDocument/2006/relationships/extended-properties" Target="/docProps/app.xml" Id="Rd98166b89cee46a6" /><Relationship Type="http://schemas.openxmlformats.org/officeDocument/2006/relationships/officeDocument" Target="/ppt/presentation.xml" Id="R4c5055d56b324d8b" /></Relationships>
</file>

<file path=ppt/presentation.xml><?xml version="1.0" encoding="utf-8"?>
<p:presentation xmlns:p="http://schemas.openxmlformats.org/presentationml/2006/main">
  <p:sldMasterIdLst>
    <p:sldMasterId xmlns:r="http://schemas.openxmlformats.org/officeDocument/2006/relationships" id="2147483648" r:id="Rc4eabd052ab140cb"/>
  </p:sldMasterIdLst>
  <p:notesMasterIdLst>
    <p:notesMasterId xmlns:r="http://schemas.openxmlformats.org/officeDocument/2006/relationships" r:id="R5bddaf94c0754e4a"/>
  </p:notesMasterIdLst>
  <p:sldIdLst>
    <p:sldId xmlns:r="http://schemas.openxmlformats.org/officeDocument/2006/relationships" id="256" r:id="R47a67838f79348f5"/>
    <p:sldId xmlns:r="http://schemas.openxmlformats.org/officeDocument/2006/relationships" id="257" r:id="Rfba9e537dc2b4852"/>
    <p:sldId xmlns:r="http://schemas.openxmlformats.org/officeDocument/2006/relationships" id="258" r:id="Rf1436fd46ff04019"/>
    <p:sldId xmlns:r="http://schemas.openxmlformats.org/officeDocument/2006/relationships" id="259" r:id="Rac926da97872417e"/>
    <p:sldId xmlns:r="http://schemas.openxmlformats.org/officeDocument/2006/relationships" id="260" r:id="Rfce03f83de0246c0"/>
    <p:sldId xmlns:r="http://schemas.openxmlformats.org/officeDocument/2006/relationships" id="261" r:id="Rad1414a6f6574c9c"/>
    <p:sldId xmlns:r="http://schemas.openxmlformats.org/officeDocument/2006/relationships" id="262" r:id="Rfe952d62f9f84225"/>
    <p:sldId xmlns:r="http://schemas.openxmlformats.org/officeDocument/2006/relationships" id="263" r:id="R40d39cf4651e4272"/>
    <p:sldId xmlns:r="http://schemas.openxmlformats.org/officeDocument/2006/relationships" id="264" r:id="R5565cb84eec744f0"/>
    <p:sldId xmlns:r="http://schemas.openxmlformats.org/officeDocument/2006/relationships" id="265" r:id="Rf96ba49a400b448e"/>
    <p:sldId xmlns:r="http://schemas.openxmlformats.org/officeDocument/2006/relationships" id="266" r:id="R816a7dd032074278"/>
    <p:sldId xmlns:r="http://schemas.openxmlformats.org/officeDocument/2006/relationships" id="267" r:id="R79ad4c56bce54a7a"/>
    <p:sldId xmlns:r="http://schemas.openxmlformats.org/officeDocument/2006/relationships" id="268" r:id="R0cddd6c2dc944ac0"/>
    <p:sldId xmlns:r="http://schemas.openxmlformats.org/officeDocument/2006/relationships" id="269" r:id="R93260eae47ee4eda"/>
    <p:sldId xmlns:r="http://schemas.openxmlformats.org/officeDocument/2006/relationships" id="270" r:id="R352ebcd653ff4a09"/>
    <p:sldId xmlns:r="http://schemas.openxmlformats.org/officeDocument/2006/relationships" id="271" r:id="R25c3058e6b2a4446"/>
    <p:sldId xmlns:r="http://schemas.openxmlformats.org/officeDocument/2006/relationships" id="272" r:id="Re11deecd46f54933"/>
    <p:sldId xmlns:r="http://schemas.openxmlformats.org/officeDocument/2006/relationships" id="273" r:id="R3354b8e69bc04108"/>
    <p:sldId xmlns:r="http://schemas.openxmlformats.org/officeDocument/2006/relationships" id="274" r:id="R447cb3becf4e446a"/>
    <p:sldId xmlns:r="http://schemas.openxmlformats.org/officeDocument/2006/relationships" id="275" r:id="Rb561696625f245fb"/>
    <p:sldId xmlns:r="http://schemas.openxmlformats.org/officeDocument/2006/relationships" id="276" r:id="Rbcaa224d260241a3"/>
    <p:sldId xmlns:r="http://schemas.openxmlformats.org/officeDocument/2006/relationships" id="277" r:id="R93923f9eebbc44b7"/>
    <p:sldId xmlns:r="http://schemas.openxmlformats.org/officeDocument/2006/relationships" id="278" r:id="Rc34ae775e23044b8"/>
    <p:sldId xmlns:r="http://schemas.openxmlformats.org/officeDocument/2006/relationships" id="279" r:id="R203095f27e2f4231"/>
    <p:sldId xmlns:r="http://schemas.openxmlformats.org/officeDocument/2006/relationships" id="280" r:id="R97a55b880dc641ec"/>
    <p:sldId xmlns:r="http://schemas.openxmlformats.org/officeDocument/2006/relationships" id="281" r:id="R8adb162b083243df"/>
    <p:sldId xmlns:r="http://schemas.openxmlformats.org/officeDocument/2006/relationships" id="282" r:id="R65af3b236dcf44f2"/>
    <p:sldId xmlns:r="http://schemas.openxmlformats.org/officeDocument/2006/relationships" id="283" r:id="R9efdd679a1f7439e"/>
    <p:sldId xmlns:r="http://schemas.openxmlformats.org/officeDocument/2006/relationships" id="284" r:id="R38ae78ed631043fa"/>
    <p:sldId xmlns:r="http://schemas.openxmlformats.org/officeDocument/2006/relationships" id="285" r:id="R8c81b4ac89e843f2"/>
    <p:sldId xmlns:r="http://schemas.openxmlformats.org/officeDocument/2006/relationships" id="286" r:id="R8a88672d7f714d94"/>
    <p:sldId xmlns:r="http://schemas.openxmlformats.org/officeDocument/2006/relationships" id="287" r:id="R170992dd67d94f62"/>
    <p:sldId xmlns:r="http://schemas.openxmlformats.org/officeDocument/2006/relationships" id="288" r:id="R2e7cb15b74aa49b3"/>
    <p:sldId xmlns:r="http://schemas.openxmlformats.org/officeDocument/2006/relationships" id="289" r:id="R06b2f477b59549d0"/>
    <p:sldId xmlns:r="http://schemas.openxmlformats.org/officeDocument/2006/relationships" id="290" r:id="R39a5d9fddcd24e4b"/>
    <p:sldId xmlns:r="http://schemas.openxmlformats.org/officeDocument/2006/relationships" id="291" r:id="R1dde999957d64082"/>
    <p:sldId xmlns:r="http://schemas.openxmlformats.org/officeDocument/2006/relationships" id="292" r:id="Rb00e4d1e3d1e4a65"/>
    <p:sldId xmlns:r="http://schemas.openxmlformats.org/officeDocument/2006/relationships" id="293" r:id="R2e3659205b4c41a1"/>
    <p:sldId xmlns:r="http://schemas.openxmlformats.org/officeDocument/2006/relationships" id="294" r:id="Ra74951d94cd04b07"/>
    <p:sldId xmlns:r="http://schemas.openxmlformats.org/officeDocument/2006/relationships" id="295" r:id="R6b35c2304fac4eee"/>
    <p:sldId xmlns:r="http://schemas.openxmlformats.org/officeDocument/2006/relationships" id="296" r:id="Rd7a9a9461cd44ab7"/>
    <p:sldId xmlns:r="http://schemas.openxmlformats.org/officeDocument/2006/relationships" id="297" r:id="Rea2624ec9e8b4838"/>
    <p:sldId xmlns:r="http://schemas.openxmlformats.org/officeDocument/2006/relationships" id="298" r:id="R84b08282b01842fb"/>
    <p:sldId xmlns:r="http://schemas.openxmlformats.org/officeDocument/2006/relationships" id="299" r:id="Ra13392d18d064a43"/>
    <p:sldId xmlns:r="http://schemas.openxmlformats.org/officeDocument/2006/relationships" id="300" r:id="R21f8522572b84b88"/>
    <p:sldId xmlns:r="http://schemas.openxmlformats.org/officeDocument/2006/relationships" id="301" r:id="R9da9cd269b3f494a"/>
    <p:sldId xmlns:r="http://schemas.openxmlformats.org/officeDocument/2006/relationships" id="302" r:id="Rc0111d0a76914fc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a69e64390e44af4" /><Relationship Type="http://schemas.openxmlformats.org/officeDocument/2006/relationships/slideMaster" Target="/ppt/slideMasters/slideMaster1.xml" Id="Rc4eabd052ab140cb" /><Relationship Type="http://schemas.openxmlformats.org/officeDocument/2006/relationships/notesMaster" Target="/ppt/notesMasters/notesMaster1.xml" Id="R5bddaf94c0754e4a" /><Relationship Type="http://schemas.openxmlformats.org/officeDocument/2006/relationships/presProps" Target="/ppt/presProps.xml" Id="R545fa3d65656480e" /><Relationship Type="http://schemas.openxmlformats.org/officeDocument/2006/relationships/tableStyles" Target="/ppt/tableStyles.xml" Id="Rb4531cd2684d4ac9" /><Relationship Type="http://schemas.openxmlformats.org/officeDocument/2006/relationships/slide" Target="/ppt/slides/slide1.xml" Id="R47a67838f79348f5" /><Relationship Type="http://schemas.openxmlformats.org/officeDocument/2006/relationships/slide" Target="/ppt/slides/slide2.xml" Id="Rfba9e537dc2b4852" /><Relationship Type="http://schemas.openxmlformats.org/officeDocument/2006/relationships/slide" Target="/ppt/slides/slide3.xml" Id="Rf1436fd46ff04019" /><Relationship Type="http://schemas.openxmlformats.org/officeDocument/2006/relationships/slide" Target="/ppt/slides/slide4.xml" Id="Rac926da97872417e" /><Relationship Type="http://schemas.openxmlformats.org/officeDocument/2006/relationships/slide" Target="/ppt/slides/slide5.xml" Id="Rfce03f83de0246c0" /><Relationship Type="http://schemas.openxmlformats.org/officeDocument/2006/relationships/slide" Target="/ppt/slides/slide6.xml" Id="Rad1414a6f6574c9c" /><Relationship Type="http://schemas.openxmlformats.org/officeDocument/2006/relationships/slide" Target="/ppt/slides/slide7.xml" Id="Rfe952d62f9f84225" /><Relationship Type="http://schemas.openxmlformats.org/officeDocument/2006/relationships/slide" Target="/ppt/slides/slide8.xml" Id="R40d39cf4651e4272" /><Relationship Type="http://schemas.openxmlformats.org/officeDocument/2006/relationships/slide" Target="/ppt/slides/slide9.xml" Id="R5565cb84eec744f0" /><Relationship Type="http://schemas.openxmlformats.org/officeDocument/2006/relationships/slide" Target="/ppt/slides/slide10.xml" Id="Rf96ba49a400b448e" /><Relationship Type="http://schemas.openxmlformats.org/officeDocument/2006/relationships/slide" Target="/ppt/slides/slide11.xml" Id="R816a7dd032074278" /><Relationship Type="http://schemas.openxmlformats.org/officeDocument/2006/relationships/slide" Target="/ppt/slides/slide12.xml" Id="R79ad4c56bce54a7a" /><Relationship Type="http://schemas.openxmlformats.org/officeDocument/2006/relationships/slide" Target="/ppt/slides/slide13.xml" Id="R0cddd6c2dc944ac0" /><Relationship Type="http://schemas.openxmlformats.org/officeDocument/2006/relationships/slide" Target="/ppt/slides/slide14.xml" Id="R93260eae47ee4eda" /><Relationship Type="http://schemas.openxmlformats.org/officeDocument/2006/relationships/slide" Target="/ppt/slides/slide15.xml" Id="R352ebcd653ff4a09" /><Relationship Type="http://schemas.openxmlformats.org/officeDocument/2006/relationships/slide" Target="/ppt/slides/slide16.xml" Id="R25c3058e6b2a4446" /><Relationship Type="http://schemas.openxmlformats.org/officeDocument/2006/relationships/slide" Target="/ppt/slides/slide17.xml" Id="Re11deecd46f54933" /><Relationship Type="http://schemas.openxmlformats.org/officeDocument/2006/relationships/slide" Target="/ppt/slides/slide18.xml" Id="R3354b8e69bc04108" /><Relationship Type="http://schemas.openxmlformats.org/officeDocument/2006/relationships/slide" Target="/ppt/slides/slide19.xml" Id="R447cb3becf4e446a" /><Relationship Type="http://schemas.openxmlformats.org/officeDocument/2006/relationships/slide" Target="/ppt/slides/slide20.xml" Id="Rb561696625f245fb" /><Relationship Type="http://schemas.openxmlformats.org/officeDocument/2006/relationships/slide" Target="/ppt/slides/slide21.xml" Id="Rbcaa224d260241a3" /><Relationship Type="http://schemas.openxmlformats.org/officeDocument/2006/relationships/slide" Target="/ppt/slides/slide22.xml" Id="R93923f9eebbc44b7" /><Relationship Type="http://schemas.openxmlformats.org/officeDocument/2006/relationships/slide" Target="/ppt/slides/slide23.xml" Id="Rc34ae775e23044b8" /><Relationship Type="http://schemas.openxmlformats.org/officeDocument/2006/relationships/slide" Target="/ppt/slides/slide24.xml" Id="R203095f27e2f4231" /><Relationship Type="http://schemas.openxmlformats.org/officeDocument/2006/relationships/slide" Target="/ppt/slides/slide25.xml" Id="R97a55b880dc641ec" /><Relationship Type="http://schemas.openxmlformats.org/officeDocument/2006/relationships/slide" Target="/ppt/slides/slide26.xml" Id="R8adb162b083243df" /><Relationship Type="http://schemas.openxmlformats.org/officeDocument/2006/relationships/slide" Target="/ppt/slides/slide27.xml" Id="R65af3b236dcf44f2" /><Relationship Type="http://schemas.openxmlformats.org/officeDocument/2006/relationships/slide" Target="/ppt/slides/slide28.xml" Id="R9efdd679a1f7439e" /><Relationship Type="http://schemas.openxmlformats.org/officeDocument/2006/relationships/slide" Target="/ppt/slides/slide29.xml" Id="R38ae78ed631043fa" /><Relationship Type="http://schemas.openxmlformats.org/officeDocument/2006/relationships/slide" Target="/ppt/slides/slide30.xml" Id="R8c81b4ac89e843f2" /><Relationship Type="http://schemas.openxmlformats.org/officeDocument/2006/relationships/slide" Target="/ppt/slides/slide31.xml" Id="R8a88672d7f714d94" /><Relationship Type="http://schemas.openxmlformats.org/officeDocument/2006/relationships/slide" Target="/ppt/slides/slide32.xml" Id="R170992dd67d94f62" /><Relationship Type="http://schemas.openxmlformats.org/officeDocument/2006/relationships/slide" Target="/ppt/slides/slide33.xml" Id="R2e7cb15b74aa49b3" /><Relationship Type="http://schemas.openxmlformats.org/officeDocument/2006/relationships/slide" Target="/ppt/slides/slide34.xml" Id="R06b2f477b59549d0" /><Relationship Type="http://schemas.openxmlformats.org/officeDocument/2006/relationships/slide" Target="/ppt/slides/slide35.xml" Id="R39a5d9fddcd24e4b" /><Relationship Type="http://schemas.openxmlformats.org/officeDocument/2006/relationships/slide" Target="/ppt/slides/slide36.xml" Id="R1dde999957d64082" /><Relationship Type="http://schemas.openxmlformats.org/officeDocument/2006/relationships/slide" Target="/ppt/slides/slide37.xml" Id="Rb00e4d1e3d1e4a65" /><Relationship Type="http://schemas.openxmlformats.org/officeDocument/2006/relationships/slide" Target="/ppt/slides/slide38.xml" Id="R2e3659205b4c41a1" /><Relationship Type="http://schemas.openxmlformats.org/officeDocument/2006/relationships/slide" Target="/ppt/slides/slide39.xml" Id="Ra74951d94cd04b07" /><Relationship Type="http://schemas.openxmlformats.org/officeDocument/2006/relationships/slide" Target="/ppt/slides/slide40.xml" Id="R6b35c2304fac4eee" /><Relationship Type="http://schemas.openxmlformats.org/officeDocument/2006/relationships/slide" Target="/ppt/slides/slide41.xml" Id="Rd7a9a9461cd44ab7" /><Relationship Type="http://schemas.openxmlformats.org/officeDocument/2006/relationships/slide" Target="/ppt/slides/slide42.xml" Id="Rea2624ec9e8b4838" /><Relationship Type="http://schemas.openxmlformats.org/officeDocument/2006/relationships/slide" Target="/ppt/slides/slide43.xml" Id="R84b08282b01842fb" /><Relationship Type="http://schemas.openxmlformats.org/officeDocument/2006/relationships/slide" Target="/ppt/slides/slide44.xml" Id="Ra13392d18d064a43" /><Relationship Type="http://schemas.openxmlformats.org/officeDocument/2006/relationships/slide" Target="/ppt/slides/slide45.xml" Id="R21f8522572b84b88" /><Relationship Type="http://schemas.openxmlformats.org/officeDocument/2006/relationships/slide" Target="/ppt/slides/slide46.xml" Id="R9da9cd269b3f494a" /><Relationship Type="http://schemas.openxmlformats.org/officeDocument/2006/relationships/slide" Target="/ppt/slides/slide47.xml" Id="Rc0111d0a76914f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0b3d59dd1ea41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b3352982b14b30" /><Relationship Type="http://schemas.openxmlformats.org/officeDocument/2006/relationships/notesMaster" Target="/ppt/notesMasters/notesMaster1.xml" Id="R5328ffbcde694b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d2dba9922684ed2" /><Relationship Type="http://schemas.openxmlformats.org/officeDocument/2006/relationships/notesMaster" Target="/ppt/notesMasters/notesMaster1.xml" Id="R7d1b24e1a1df4dc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c99da286894772" /><Relationship Type="http://schemas.openxmlformats.org/officeDocument/2006/relationships/notesMaster" Target="/ppt/notesMasters/notesMaster1.xml" Id="Rd06d7fd33aad47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3be8fc050b4f25" /><Relationship Type="http://schemas.openxmlformats.org/officeDocument/2006/relationships/notesMaster" Target="/ppt/notesMasters/notesMaster1.xml" Id="Rf3067a1bd45a40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c7bf3c638a433c" /><Relationship Type="http://schemas.openxmlformats.org/officeDocument/2006/relationships/notesMaster" Target="/ppt/notesMasters/notesMaster1.xml" Id="R38018655931e47d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00168030dc2486f" /><Relationship Type="http://schemas.openxmlformats.org/officeDocument/2006/relationships/notesMaster" Target="/ppt/notesMasters/notesMaster1.xml" Id="R83ffb0ee87974c6e" /></Relationships>
</file>

<file path=ppt/notesSlides/_rels/notesSlide7.xml.rels>&#65279;<?xml version="1.0" encoding="utf-8"?><Relationships xmlns="http://schemas.openxmlformats.org/package/2006/relationships"><Relationship Type="http://schemas.openxmlformats.org/officeDocument/2006/relationships/slide" Target="/ppt/slides/slide7.xml" Id="R0048833ba9104ab3" /><Relationship Type="http://schemas.openxmlformats.org/officeDocument/2006/relationships/notesMaster" Target="/ppt/notesMasters/notesMaster1.xml" Id="Re1dc05239a594ad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a54e92c29964147" /><Relationship Type="http://schemas.openxmlformats.org/officeDocument/2006/relationships/notesMaster" Target="/ppt/notesMasters/notesMaster1.xml" Id="Rc00f9775b11d4b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a4dc9cdf43456b" /><Relationship Type="http://schemas.openxmlformats.org/officeDocument/2006/relationships/notesMaster" Target="/ppt/notesMasters/notesMaster1.xml" Id="R9e19dc992a154e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2108b676f2b4b46" /><Relationship Type="http://schemas.openxmlformats.org/officeDocument/2006/relationships/notesMaster" Target="/ppt/notesMasters/notesMaster1.xml" Id="R2db4078e2fe0482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e54b0b62104102" /><Relationship Type="http://schemas.openxmlformats.org/officeDocument/2006/relationships/notesMaster" Target="/ppt/notesMasters/notesMaster1.xml" Id="R50d40de8a3d54f8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c2365d8848476d" /><Relationship Type="http://schemas.openxmlformats.org/officeDocument/2006/relationships/notesMaster" Target="/ppt/notesMasters/notesMaster1.xml" Id="Rd9996e058d95491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987c064aa8240e9" /><Relationship Type="http://schemas.openxmlformats.org/officeDocument/2006/relationships/notesMaster" Target="/ppt/notesMasters/notesMaster1.xml" Id="R2fcffda3867d45f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39e71a31ef54c87" /><Relationship Type="http://schemas.openxmlformats.org/officeDocument/2006/relationships/notesMaster" Target="/ppt/notesMasters/notesMaster1.xml" Id="Rbe91939e091e461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e31d3a5f97d4f39" /><Relationship Type="http://schemas.openxmlformats.org/officeDocument/2006/relationships/notesMaster" Target="/ppt/notesMasters/notesMaster1.xml" Id="R1c22ff2bcfe149d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b835d4655b43d9" /><Relationship Type="http://schemas.openxmlformats.org/officeDocument/2006/relationships/notesMaster" Target="/ppt/notesMasters/notesMaster1.xml" Id="R627b475f061b418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928109278664838" /><Relationship Type="http://schemas.openxmlformats.org/officeDocument/2006/relationships/notesMaster" Target="/ppt/notesMasters/notesMaster1.xml" Id="R450559c85f9645f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84d9cba80b8427b" /><Relationship Type="http://schemas.openxmlformats.org/officeDocument/2006/relationships/notesMaster" Target="/ppt/notesMasters/notesMaster1.xml" Id="R3b34705755d24ee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7c6686cd9c04791" /><Relationship Type="http://schemas.openxmlformats.org/officeDocument/2006/relationships/notesMaster" Target="/ppt/notesMasters/notesMaster1.xml" Id="R3427a1c4f2b04cd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cc07686bfd04a9e" /><Relationship Type="http://schemas.openxmlformats.org/officeDocument/2006/relationships/notesMaster" Target="/ppt/notesMasters/notesMaster1.xml" Id="Rca892c74a12b47f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dc58f942c354ee3" /><Relationship Type="http://schemas.openxmlformats.org/officeDocument/2006/relationships/notesMaster" Target="/ppt/notesMasters/notesMaster1.xml" Id="Rf45008a64d5f4cf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c25eea8781c4816" /><Relationship Type="http://schemas.openxmlformats.org/officeDocument/2006/relationships/notesMaster" Target="/ppt/notesMasters/notesMaster1.xml" Id="R1f6c1824418d4e7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424ae355fdc46dd" /><Relationship Type="http://schemas.openxmlformats.org/officeDocument/2006/relationships/notesMaster" Target="/ppt/notesMasters/notesMaster1.xml" Id="Rb253e7ec7554401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a306356d270477b" /><Relationship Type="http://schemas.openxmlformats.org/officeDocument/2006/relationships/notesMaster" Target="/ppt/notesMasters/notesMaster1.xml" Id="R873bea10993f4fc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c288d5fd8ec4cdf" /><Relationship Type="http://schemas.openxmlformats.org/officeDocument/2006/relationships/notesMaster" Target="/ppt/notesMasters/notesMaster1.xml" Id="R8fe0b745a4dd4bb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ba27bf50af84f99" /><Relationship Type="http://schemas.openxmlformats.org/officeDocument/2006/relationships/notesMaster" Target="/ppt/notesMasters/notesMaster1.xml" Id="R5a86d74eb559459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17792251e274ee3" /><Relationship Type="http://schemas.openxmlformats.org/officeDocument/2006/relationships/notesMaster" Target="/ppt/notesMasters/notesMaster1.xml" Id="Rc678f8feda2f4db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364fdd1a4614133" /><Relationship Type="http://schemas.openxmlformats.org/officeDocument/2006/relationships/notesMaster" Target="/ppt/notesMasters/notesMaster1.xml" Id="R7584ff8437d54cb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ebee8d987de477f" /><Relationship Type="http://schemas.openxmlformats.org/officeDocument/2006/relationships/notesMaster" Target="/ppt/notesMasters/notesMaster1.xml" Id="Re10b41b4ac70418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2cb2518fb5d460c" /><Relationship Type="http://schemas.openxmlformats.org/officeDocument/2006/relationships/notesMaster" Target="/ppt/notesMasters/notesMaster1.xml" Id="Rf39dddc7166e4e0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b2d74d6780b4c32" /><Relationship Type="http://schemas.openxmlformats.org/officeDocument/2006/relationships/notesMaster" Target="/ppt/notesMasters/notesMaster1.xml" Id="R689217e6498b41f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dcd0f6fe09747f6" /><Relationship Type="http://schemas.openxmlformats.org/officeDocument/2006/relationships/notesMaster" Target="/ppt/notesMasters/notesMaster1.xml" Id="Rc8227350c094442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d9d91986d924905" /><Relationship Type="http://schemas.openxmlformats.org/officeDocument/2006/relationships/notesMaster" Target="/ppt/notesMasters/notesMaster1.xml" Id="R4a1b1c7107654b0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90ba9e6d61d497f" /><Relationship Type="http://schemas.openxmlformats.org/officeDocument/2006/relationships/notesMaster" Target="/ppt/notesMasters/notesMaster1.xml" Id="R08cc8f1ff5ef46e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c1cb44a03c0495e" /><Relationship Type="http://schemas.openxmlformats.org/officeDocument/2006/relationships/notesMaster" Target="/ppt/notesMasters/notesMaster1.xml" Id="Rf9a0fad39cac42b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31f3d5853b44bd6" /><Relationship Type="http://schemas.openxmlformats.org/officeDocument/2006/relationships/notesMaster" Target="/ppt/notesMasters/notesMaster1.xml" Id="R3b0c185362f8430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4864ebbabee492f" /><Relationship Type="http://schemas.openxmlformats.org/officeDocument/2006/relationships/notesMaster" Target="/ppt/notesMasters/notesMaster1.xml" Id="R2a985d9d238f44b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c96d8173e474f3c" /><Relationship Type="http://schemas.openxmlformats.org/officeDocument/2006/relationships/notesMaster" Target="/ppt/notesMasters/notesMaster1.xml" Id="Rd68d82f46456498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727cf2b149f419e" /><Relationship Type="http://schemas.openxmlformats.org/officeDocument/2006/relationships/notesMaster" Target="/ppt/notesMasters/notesMaster1.xml" Id="Rfb456fd62f684e6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5d0ce5a556a462a" /><Relationship Type="http://schemas.openxmlformats.org/officeDocument/2006/relationships/notesMaster" Target="/ppt/notesMasters/notesMaster1.xml" Id="R93bae66bd53a4ef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4f7b80f25604082" /><Relationship Type="http://schemas.openxmlformats.org/officeDocument/2006/relationships/notesMaster" Target="/ppt/notesMasters/notesMaster1.xml" Id="R7c0966c2c7514c2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4a4092b9b2c4921" /><Relationship Type="http://schemas.openxmlformats.org/officeDocument/2006/relationships/notesMaster" Target="/ppt/notesMasters/notesMaster1.xml" Id="R4998a5ad53144bd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6fe7fd64f6a4f33" /><Relationship Type="http://schemas.openxmlformats.org/officeDocument/2006/relationships/notesMaster" Target="/ppt/notesMasters/notesMaster1.xml" Id="R9bf2ef706ae94fd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b98de4bd4d946ff" /><Relationship Type="http://schemas.openxmlformats.org/officeDocument/2006/relationships/notesMaster" Target="/ppt/notesMasters/notesMaster1.xml" Id="R643dbc41cba0405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6d7eb31927a454b" /><Relationship Type="http://schemas.openxmlformats.org/officeDocument/2006/relationships/notesMaster" Target="/ppt/notesMasters/notesMaster1.xml" Id="R88dfa52ff4cd440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bd4d29514f1443c" /><Relationship Type="http://schemas.openxmlformats.org/officeDocument/2006/relationships/notesMaster" Target="/ppt/notesMasters/notesMaster1.xml" Id="R5144bf1c365f4e7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93bab45579f44e2" /><Relationship Type="http://schemas.openxmlformats.org/officeDocument/2006/relationships/notesMaster" Target="/ppt/notesMasters/notesMaster1.xml" Id="R61b3d6e95f5a4c8c"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Using pandas to answer table questions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Using pandas to answer table questions.</a:t>
            </a:r>
          </a:p>
          <a:p>
            <a:r>
              <a:t/>
            </a:r>
          </a:p>
          <a:p>
            <a:r>
              <a:t>LECTURER CUE</a:t>
            </a:r>
          </a:p>
          <a:p>
            <a:r>
              <a:t>Ask learners to explain this goal in ordinary language. The first successful attempt matters more than covering optional extensions. Defer: NumPy broadcasting, broad Kaggle searches and twelve-plus-ten independent questions are optional extension. No change of editor is needed.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Each student predicts a filter and explains what one group total means before running it.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Rows columns and units.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Rows columns and units</a:t>
            </a:r>
          </a:p>
          <a:p>
            <a:r>
              <a:t/>
            </a:r>
          </a:p>
          <a:p>
            <a:r>
              <a:t>CONNECT</a:t>
            </a:r>
          </a:p>
          <a:p>
            <a:r>
              <a:t>Build on the preceding slide: The engineering context.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TYPE NUANCE</a:t>
            </a:r>
          </a:p>
          <a:p>
            <a:r>
              <a:t>An object dtype alone does not prove that a column contains bad numeric values; it can hold Python objects, including numbers. Inspect values and conversion results. Missing values may display as NaN, None, NaT or pandas NA depending on dtype.</a:t>
            </a:r>
          </a:p>
          <a:p>
            <a:r>
              <a:t/>
            </a:r>
          </a:p>
          <a:p>
            <a:r>
              <a:t>NEXT</a:t>
            </a:r>
          </a:p>
          <a:p>
            <a:r>
              <a:t>A table keeps related observations together.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table keeps related observations together</a:t>
            </a:r>
          </a:p>
          <a:p>
            <a:r>
              <a:t/>
            </a:r>
          </a:p>
          <a:p>
            <a:r>
              <a:t>CONNECT</a:t>
            </a:r>
          </a:p>
          <a:p>
            <a:r>
              <a:t>Build on the preceding slide: Rows columns and units.</a:t>
            </a:r>
          </a:p>
          <a:p>
            <a:r>
              <a:t/>
            </a:r>
          </a:p>
          <a:p>
            <a:r>
              <a:t>LECTURER CUE</a:t>
            </a:r>
          </a:p>
          <a:p>
            <a:r>
              <a:t>Draw a four-row table before running the example. Describe a reading of kWh as energy, and kW as power; the units are different.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Our small energy table.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Our small energy table</a:t>
            </a:r>
          </a:p>
          <a:p>
            <a:r>
              <a:t/>
            </a:r>
          </a:p>
          <a:p>
            <a:r>
              <a:t>CONNECT</a:t>
            </a:r>
          </a:p>
          <a:p>
            <a:r>
              <a:t>Build on the preceding slide: A table keeps related observations together.</a:t>
            </a:r>
          </a:p>
          <a:p>
            <a:r>
              <a:t/>
            </a:r>
          </a:p>
          <a:p>
            <a:r>
              <a:t>LECTURER CUE</a:t>
            </a:r>
          </a:p>
          <a:p>
            <a:r>
              <a:t>The four observations total 18 kWh. Their mean is 4.5 kWh. Building totals are A: 6 and B: 12.</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Our small energy table.</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POINT TO THE DEFINITION</a:t>
            </a:r>
          </a:p>
          <a:p>
            <a:r>
              <a:t>Library and pandas: A library is reusable code. pandas provides tools for data tables. import pandas as pd makes pd a short name for that library.</a:t>
            </a:r>
          </a:p>
          <a:p>
            <a:r>
              <a:t>DataFrame: A table with named columns and indexed rows. df is just the variable name we choose for this table.</a:t>
            </a:r>
          </a:p>
          <a:p>
            <a:r>
              <a:t/>
            </a:r>
          </a:p>
          <a:p>
            <a:r>
              <a:t>NEXT</a:t>
            </a:r>
          </a:p>
          <a:p>
            <a:r>
              <a:t>A DataFrame is a labelled table.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DataFrame is a labelled table</a:t>
            </a:r>
          </a:p>
          <a:p>
            <a:r>
              <a:t/>
            </a:r>
          </a:p>
          <a:p>
            <a:r>
              <a:t>CONNECT</a:t>
            </a:r>
          </a:p>
          <a:p>
            <a:r>
              <a:t>Build on the preceding slide: Words we will use.</a:t>
            </a:r>
          </a:p>
          <a:p>
            <a:r>
              <a:t/>
            </a:r>
          </a:p>
          <a:p>
            <a:r>
              <a:t>LECTURER CUE</a:t>
            </a:r>
          </a:p>
          <a:p>
            <a:r>
              <a:t>Explain dictionary braces, column labels in quotes and lists of values before constructing the DataFrame. In class, read the issued campus_energy.csv with pd.read_csv after this tiny example.</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NEXT</a:t>
            </a:r>
          </a:p>
          <a:p>
            <a:r>
              <a:t>A labelled table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labelled table in Python</a:t>
            </a:r>
          </a:p>
          <a:p>
            <a:r>
              <a:t/>
            </a:r>
          </a:p>
          <a:p>
            <a:r>
              <a:t>CONNECT</a:t>
            </a:r>
          </a:p>
          <a:p>
            <a:r>
              <a:t>Build on the preceding slide: A DataFrame is a labelled table.</a:t>
            </a:r>
          </a:p>
          <a:p>
            <a:r>
              <a:t/>
            </a:r>
          </a:p>
          <a:p>
            <a:r>
              <a:t>LECTURER CUE</a:t>
            </a:r>
          </a:p>
          <a:p>
            <a:r>
              <a:t>Point to one row, column, index and dtype. This maintenance table is illustrative. Work with the issued cohort table next.</a:t>
            </a:r>
          </a:p>
          <a:p>
            <a:r>
              <a:t>Source: existing course illustration figs/dataframe_anatomy.png. These are illustrative examples, not this cohort’s assessed results.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A labelled table in Python.</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POINT TO THE DEFINITION</a:t>
            </a:r>
          </a:p>
          <a:p>
            <a:r>
              <a:t>Series: One labelled column. df["kwh"] selects the column named kwh.</a:t>
            </a:r>
          </a:p>
          <a:p>
            <a:r>
              <a:t>Method and attribute: A method performs an operation, as in df.head(). An attribute provides a stored property, as in df.shape. Parentheses call an operation.</a:t>
            </a:r>
          </a:p>
          <a:p>
            <a:r>
              <a:t/>
            </a:r>
          </a:p>
          <a:p>
            <a:r>
              <a:t>NEXT</a:t>
            </a:r>
          </a:p>
          <a:p>
            <a:r>
              <a:t>Reading pandas syntax.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pandas syntax</a:t>
            </a:r>
          </a:p>
          <a:p>
            <a:r>
              <a:t/>
            </a:r>
          </a:p>
          <a:p>
            <a:r>
              <a:t>CONNECT</a:t>
            </a:r>
          </a:p>
          <a:p>
            <a:r>
              <a:t>Build on the preceding slide: Words we will use.</a:t>
            </a:r>
          </a:p>
          <a:p>
            <a:r>
              <a:t/>
            </a:r>
          </a:p>
          <a:p>
            <a:r>
              <a:t>LECTURER CUE</a:t>
            </a:r>
          </a:p>
          <a:p>
            <a:r>
              <a:t>Replace file.csv with the actual issued filename. Explain library, alias, function and method before running the worked example.</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NEXT</a:t>
            </a:r>
          </a:p>
          <a:p>
            <a:r>
              <a:t>Build the table before asking questions.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Build the table before asking questions</a:t>
            </a:r>
          </a:p>
          <a:p>
            <a:r>
              <a:t/>
            </a:r>
          </a:p>
          <a:p>
            <a:r>
              <a:t>CONNECT</a:t>
            </a:r>
          </a:p>
          <a:p>
            <a:r>
              <a:t>Build on the preceding slide: Reading pandas syntax.</a:t>
            </a:r>
          </a:p>
          <a:p>
            <a:r>
              <a:t/>
            </a:r>
          </a:p>
          <a:p>
            <a:r>
              <a:t>LECTURER CUE</a:t>
            </a:r>
          </a:p>
          <a:p>
            <a:r>
              <a:t>Each dictionary key becomes a column name. Equal-length lists supply its rows.</a:t>
            </a:r>
          </a:p>
          <a:p>
            <a:r>
              <a:t/>
            </a:r>
          </a:p>
          <a:p>
            <a:r>
              <a:t>Complete practice code:</a:t>
            </a:r>
          </a:p>
          <a:p>
            <a:r>
              <a:t>import pandas as pd</a:t>
            </a:r>
          </a:p>
          <a:p>
            <a:r>
              <a:t>df = pd.DataFrame({"building": ["A", "A", "B", "B"],</a:t>
            </a:r>
          </a:p>
          <a:p>
            <a:r>
              <a:t>                   "kwh": [2, 4, 5, 7]})</a:t>
            </a:r>
          </a:p>
          <a:p>
            <a:r>
              <a:t>print(df)</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WALK THROUGH THIS CODE</a:t>
            </a:r>
          </a:p>
          <a:p>
            <a:r>
              <a:t>import loads a library. from selects a tool from it.</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Select a column and calculate its mean.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 a column and calculate its mean</a:t>
            </a:r>
          </a:p>
          <a:p>
            <a:r>
              <a:t/>
            </a:r>
          </a:p>
          <a:p>
            <a:r>
              <a:t>CONNECT</a:t>
            </a:r>
          </a:p>
          <a:p>
            <a:r>
              <a:t>Build on the preceding slide: Build the table before asking questions.</a:t>
            </a:r>
          </a:p>
          <a:p>
            <a:r>
              <a:t/>
            </a:r>
          </a:p>
          <a:p>
            <a:r>
              <a:t>LECTURER CUE</a:t>
            </a:r>
          </a:p>
          <a:p>
            <a:r>
              <a:t>The four numbers are 2, 4, 5 and 7. Their mean is 18 / 4 = 4.5 kWh.</a:t>
            </a:r>
          </a:p>
          <a:p>
            <a:r>
              <a:t/>
            </a:r>
          </a:p>
          <a:p>
            <a:r>
              <a:t>Complete practice code:</a:t>
            </a:r>
          </a:p>
          <a:p>
            <a:r>
              <a:t>print(df["kwh"])</a:t>
            </a:r>
          </a:p>
          <a:p>
            <a:r>
              <a:t>print(df["kwh"].mean())</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Mask and filter.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Mask and filter</a:t>
            </a:r>
          </a:p>
          <a:p>
            <a:r>
              <a:t/>
            </a:r>
          </a:p>
          <a:p>
            <a:r>
              <a:t>CONNECT</a:t>
            </a:r>
          </a:p>
          <a:p>
            <a:r>
              <a:t>Build on the preceding slide: Select a column and calculate its mean.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POINT TO THE DEFINITION</a:t>
            </a:r>
          </a:p>
          <a:p>
            <a:r>
              <a:t>Mask and filter: A comparison produces True/False for each row. df[mask] keeps the True rows.</a:t>
            </a:r>
          </a:p>
          <a:p>
            <a:r>
              <a:t/>
            </a:r>
          </a:p>
          <a:p>
            <a:r>
              <a:t>NEXT</a:t>
            </a:r>
          </a:p>
          <a:p>
            <a:r>
              <a:t>A comparison creates a Boolean mask.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comparison creates a Boolean mask</a:t>
            </a:r>
          </a:p>
          <a:p>
            <a:r>
              <a:t/>
            </a:r>
          </a:p>
          <a:p>
            <a:r>
              <a:t>CONNECT</a:t>
            </a:r>
          </a:p>
          <a:p>
            <a:r>
              <a:t>Build on the preceding slide: Mask and filter.</a:t>
            </a:r>
          </a:p>
          <a:p>
            <a:r>
              <a:t/>
            </a:r>
          </a:p>
          <a:p>
            <a:r>
              <a:t>LECTURER CUE</a:t>
            </a:r>
          </a:p>
          <a:p>
            <a:r>
              <a:t>Read &gt; as greater than, then trace one row through the mask. Selection does not delete the source rows. 40 is a practice threshold, not a safety standard.</a:t>
            </a:r>
          </a:p>
          <a:p>
            <a:r>
              <a:t>Source: existing course illustration figs/boolean_mask.png. These are illustrative examples, not this cohort’s assessed results.</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Keep rows where the comparison is true.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Keep rows where the comparison is true</a:t>
            </a:r>
          </a:p>
          <a:p>
            <a:r>
              <a:t/>
            </a:r>
          </a:p>
          <a:p>
            <a:r>
              <a:t>CONNECT</a:t>
            </a:r>
          </a:p>
          <a:p>
            <a:r>
              <a:t>Build on the preceding slide: A comparison creates a Boolean mask.</a:t>
            </a:r>
          </a:p>
          <a:p>
            <a:r>
              <a:t/>
            </a:r>
          </a:p>
          <a:p>
            <a:r>
              <a:t>LECTURER CUE</a:t>
            </a:r>
          </a:p>
          <a:p>
            <a:r>
              <a:t>The mask is False, False, True, True. The selected rows contain 5 and 7 kWh.</a:t>
            </a:r>
          </a:p>
          <a:p>
            <a:r>
              <a:t/>
            </a:r>
          </a:p>
          <a:p>
            <a:r>
              <a:t>Complete practice code:</a:t>
            </a:r>
          </a:p>
          <a:p>
            <a:r>
              <a:t>mask = df["kwh"] &gt; 4</a:t>
            </a:r>
          </a:p>
          <a:p>
            <a:r>
              <a:t>print(mask)</a:t>
            </a:r>
          </a:p>
          <a:p>
            <a:r>
              <a:t>print(df[mask])</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groupby and aggregation.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groupby and aggregation</a:t>
            </a:r>
          </a:p>
          <a:p>
            <a:r>
              <a:t/>
            </a:r>
          </a:p>
          <a:p>
            <a:r>
              <a:t>CONNECT</a:t>
            </a:r>
          </a:p>
          <a:p>
            <a:r>
              <a:t>Build on the preceding slide: Keep rows where the comparison is true.</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POINT TO THE DEFINITION</a:t>
            </a:r>
          </a:p>
          <a:p>
            <a:r>
              <a:t>groupby and aggregation: groupby collects rows with the same label. An aggregation such as sum or mean returns a summary for each group.</a:t>
            </a:r>
          </a:p>
          <a:p>
            <a:r>
              <a:t/>
            </a:r>
          </a:p>
          <a:p>
            <a:r>
              <a:t>NEXT</a:t>
            </a:r>
          </a:p>
          <a:p>
            <a:r>
              <a:t>Selection and grouping answer different questions.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Selection and grouping answer different questions</a:t>
            </a:r>
          </a:p>
          <a:p>
            <a:r>
              <a:t/>
            </a:r>
          </a:p>
          <a:p>
            <a:r>
              <a:t>CONNECT</a:t>
            </a:r>
          </a:p>
          <a:p>
            <a:r>
              <a:t>Build on the preceding slide: groupby and aggregation.</a:t>
            </a:r>
          </a:p>
          <a:p>
            <a:r>
              <a:t/>
            </a:r>
          </a:p>
          <a:p>
            <a:r>
              <a:t>LECTURER CUE</a:t>
            </a:r>
          </a:p>
          <a:p>
            <a:r>
              <a:t>Run the column selection, comparison and filtered table in separate cells. Then group rows by building and add energy within each group.</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 chained expression is several small steps.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chained expression is several small steps</a:t>
            </a:r>
          </a:p>
          <a:p>
            <a:r>
              <a:t/>
            </a:r>
          </a:p>
          <a:p>
            <a:r>
              <a:t>CONNECT</a:t>
            </a:r>
          </a:p>
          <a:p>
            <a:r>
              <a:t>Build on the preceding slide: Selection and grouping answer different questions.</a:t>
            </a:r>
          </a:p>
          <a:p>
            <a:r>
              <a:t/>
            </a:r>
          </a:p>
          <a:p>
            <a:r>
              <a:t>LECTURER CUE</a:t>
            </a:r>
          </a:p>
          <a:p>
            <a:r>
              <a:t>Read one row at a time and use a changed value. This is a syntax reference for the worked examples.</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Calculate one total for each building.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Calculate one total for each building</a:t>
            </a:r>
          </a:p>
          <a:p>
            <a:r>
              <a:t/>
            </a:r>
          </a:p>
          <a:p>
            <a:r>
              <a:t>CONNECT</a:t>
            </a:r>
          </a:p>
          <a:p>
            <a:r>
              <a:t>Build on the preceding slide: A chained expression is several small steps.</a:t>
            </a:r>
          </a:p>
          <a:p>
            <a:r>
              <a:t/>
            </a:r>
          </a:p>
          <a:p>
            <a:r>
              <a:t>LECTURER CUE</a:t>
            </a:r>
          </a:p>
          <a:p>
            <a:r>
              <a:t>Expected: A totals 6 kWh; B totals 12 kWh.</a:t>
            </a:r>
          </a:p>
          <a:p>
            <a:r>
              <a:t/>
            </a:r>
          </a:p>
          <a:p>
            <a:r>
              <a:t>Complete practice code:</a:t>
            </a:r>
          </a:p>
          <a:p>
            <a:r>
              <a:t>print(df.groupby("building")["kwh"].sum())</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WALK THROUGH THIS CODE</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Calculate one total for each building.</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Unique labels and the largest group.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Unique labels and the largest group</a:t>
            </a:r>
          </a:p>
          <a:p>
            <a:r>
              <a:t/>
            </a:r>
          </a:p>
          <a:p>
            <a:r>
              <a:t>CONNECT</a:t>
            </a:r>
          </a:p>
          <a:p>
            <a:r>
              <a:t>Build on the preceding slide: Expected output.</a:t>
            </a:r>
          </a:p>
          <a:p>
            <a:r>
              <a:t/>
            </a:r>
          </a:p>
          <a:p>
            <a:r>
              <a:t>LECTURER CUE</a:t>
            </a:r>
          </a:p>
          <a:p>
            <a:r>
              <a:t>nunique counts distinct labels, not rows. idxmax returns the label of the largest total. Here there is no tie.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Unique labels and the largest group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Unique labels and the largest group in Python</a:t>
            </a:r>
          </a:p>
          <a:p>
            <a:r>
              <a:t/>
            </a:r>
          </a:p>
          <a:p>
            <a:r>
              <a:t>CONNECT</a:t>
            </a:r>
          </a:p>
          <a:p>
            <a:r>
              <a:t>Build on the preceding slide: Unique labels and the largest group.</a:t>
            </a:r>
          </a:p>
          <a:p>
            <a:r>
              <a:t/>
            </a:r>
          </a:p>
          <a:p>
            <a:r>
              <a:t>LECTURER CUE</a:t>
            </a:r>
          </a:p>
          <a:p>
            <a:r>
              <a:t>nunique counts distinct labels, not rows. idxmax returns the label of the largest total. Here there is no tie.</a:t>
            </a:r>
          </a:p>
          <a:p>
            <a:r>
              <a:t/>
            </a:r>
          </a:p>
          <a:p>
            <a:r>
              <a:t>Complete practice code:</a:t>
            </a:r>
          </a:p>
          <a:p>
            <a:r>
              <a:t>print(df["building"].nunique())</a:t>
            </a:r>
          </a:p>
          <a:p>
            <a:r>
              <a:t>totals = df.groupby("building")["kwh"].sum()</a:t>
            </a:r>
          </a:p>
          <a:p>
            <a:r>
              <a:t>print(totals.idxmax())</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Create a column from two existing columns.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Create a column from two existing columns</a:t>
            </a:r>
          </a:p>
          <a:p>
            <a:r>
              <a:t/>
            </a:r>
          </a:p>
          <a:p>
            <a:r>
              <a:t>CONNECT</a:t>
            </a:r>
          </a:p>
          <a:p>
            <a:r>
              <a:t>Build on the preceding slide: Unique labels and the largest group in Python.</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An energy rate is cost divided by energy.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An energy rate is cost divided by energy</a:t>
            </a:r>
          </a:p>
          <a:p>
            <a:r>
              <a:t/>
            </a:r>
          </a:p>
          <a:p>
            <a:r>
              <a:t>CONNECT</a:t>
            </a:r>
          </a:p>
          <a:p>
            <a:r>
              <a:t>Build on the preceding slide: Create a column from two existing columns.</a:t>
            </a:r>
          </a:p>
          <a:p>
            <a:r>
              <a:t/>
            </a:r>
          </a:p>
          <a:p>
            <a:r>
              <a:t>LECTURER CUE</a:t>
            </a:r>
          </a:p>
          <a:p>
            <a:r>
              <a:t>Expected rates: 500, 600, 700 and 800 UGX/kWh. Keep units in column names.</a:t>
            </a:r>
          </a:p>
          <a:p>
            <a:r>
              <a:t/>
            </a:r>
          </a:p>
          <a:p>
            <a:r>
              <a:t>Complete practice code:</a:t>
            </a:r>
          </a:p>
          <a:p>
            <a:r>
              <a:t>df["cost_ugx"] = [1000, 2400, 3500, 5600]</a:t>
            </a:r>
          </a:p>
          <a:p>
            <a:r>
              <a:t>df["rate_ugx_per_kwh"] = df["cost_ugx"] / df["kwh"]</a:t>
            </a:r>
          </a:p>
          <a:p>
            <a:r>
              <a:t>print(df["rate_ugx_per_kwh"])</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Load the assignment table before analysing 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Load the assignment table before analysing it</a:t>
            </a:r>
          </a:p>
          <a:p>
            <a:r>
              <a:t/>
            </a:r>
          </a:p>
          <a:p>
            <a:r>
              <a:t>CONNECT</a:t>
            </a:r>
          </a:p>
          <a:p>
            <a:r>
              <a:t>Build on the preceding slide: An energy rate is cost divided by energy.</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TYPE NUANCE</a:t>
            </a:r>
          </a:p>
          <a:p>
            <a:r>
              <a:t>An object dtype alone does not prove that a column contains bad numeric values; it can hold Python objects, including numbers. Inspect values and conversion results. Missing values may display as NaN, None, NaT or pandas NA depending on dtype.</a:t>
            </a:r>
          </a:p>
          <a:p>
            <a:r>
              <a:t/>
            </a:r>
          </a:p>
          <a:p>
            <a:r>
              <a:t>NEXT</a:t>
            </a:r>
          </a:p>
          <a:p>
            <a:r>
              <a:t>Inspect the supplied energy file.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Inspect the supplied energy file</a:t>
            </a:r>
          </a:p>
          <a:p>
            <a:r>
              <a:t/>
            </a:r>
          </a:p>
          <a:p>
            <a:r>
              <a:t>CONNECT</a:t>
            </a:r>
          </a:p>
          <a:p>
            <a:r>
              <a:t>Build on the preceding slide: Load the assignment table before analysing it.</a:t>
            </a:r>
          </a:p>
          <a:p>
            <a:r>
              <a:t/>
            </a:r>
          </a:p>
          <a:p>
            <a:r>
              <a:t>LECTURER CUE</a:t>
            </a:r>
          </a:p>
          <a:p>
            <a:r>
              <a:t>Check column names, data types and units before attempting the six issued tasks.</a:t>
            </a:r>
          </a:p>
          <a:p>
            <a:r>
              <a:t/>
            </a:r>
          </a:p>
          <a:p>
            <a:r>
              <a:t>Complete practice code:</a:t>
            </a:r>
          </a:p>
          <a:p>
            <a:r>
              <a:t>issued_table = pd.read_csv("campus_energy.csv")</a:t>
            </a:r>
          </a:p>
          <a:p>
            <a:r>
              <a:t>print(issued_table.head())</a:t>
            </a:r>
          </a:p>
          <a:p>
            <a:r>
              <a:t>print(issued_table.shape)</a:t>
            </a:r>
          </a:p>
          <a:p>
            <a:r>
              <a:t>print(issued_table.dtypes)</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WALK THROUGH THIS CODE</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TYPE NUANCE</a:t>
            </a:r>
          </a:p>
          <a:p>
            <a:r>
              <a:t>An object dtype alone does not prove that a column contains bad numeric values; it can hold Python objects, including numbers. Inspect values and conversion results. Missing values may display as NaN, None, NaT or pandas NA depending on dtype.</a:t>
            </a:r>
          </a:p>
          <a:p>
            <a:r>
              <a:t/>
            </a:r>
          </a:p>
          <a:p>
            <a:r>
              <a:t>NEXT</a:t>
            </a:r>
          </a:p>
          <a:p>
            <a:r>
              <a:t>You are groupby.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groupby</a:t>
            </a:r>
          </a:p>
          <a:p>
            <a:r>
              <a:t/>
            </a:r>
          </a:p>
          <a:p>
            <a:r>
              <a:t>CONNECT</a:t>
            </a:r>
          </a:p>
          <a:p>
            <a:r>
              <a:t>Build on the preceding slide: Inspect the supplied energy file.</a:t>
            </a:r>
          </a:p>
          <a:p>
            <a:r>
              <a:t/>
            </a:r>
          </a:p>
          <a:p>
            <a:r>
              <a:t>LECTURER CUE</a:t>
            </a:r>
          </a:p>
          <a:p>
            <a:r>
              <a:t>Do this before revealing the discussion slide. One learner moves or writes the items, the other checks. Swap roles. Every student explains one step. Expected: A totals 6 kWh. B totals 12 kWh. B is largest and there are 2 distinct buildings.</a:t>
            </a:r>
          </a:p>
          <a:p>
            <a:r>
              <a:t>Wait for an individual prediction before inviting pair discussion. Give a first-step hint if needed.</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groupby.</a:t>
            </a:r>
          </a:p>
          <a:p>
            <a:r>
              <a:t/>
            </a:r>
          </a:p>
          <a:p>
            <a:r>
              <a:t>LECTURER CUE</a:t>
            </a:r>
          </a:p>
          <a:p>
            <a:r>
              <a:t>Ask which step produced this answer. Return to the concrete action if a learner cannot explain it. This is practice feedback, never a quiz key.</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Only the row with 7 survives. Building B has the larger total, 12 kWh.</a:t>
            </a:r>
          </a:p>
          <a:p>
            <a:r>
              <a:t/>
            </a:r>
          </a:p>
          <a:p>
            <a:r>
              <a:t>DISCUSSION KEY FOR THIS SLIDE</a:t>
            </a:r>
          </a:p>
          <a:p>
            <a:r>
              <a:t>DISCUSS THE REASONING</a:t>
            </a:r>
          </a:p>
          <a:p>
            <a:r>
              <a:t>Practice discussion</a:t>
            </a:r>
          </a:p>
          <a:p>
            <a:r>
              <a:t>Only the row with 7 survives. Building B has the larger total, 12 kWh.</a:t>
            </a:r>
          </a:p>
          <a:p>
            <a:r>
              <a:t>Which step produced this result? What changes if one input changes?</a:t>
            </a:r>
          </a:p>
          <a:p>
            <a:r>
              <a:t>CML3113   Week 5   32</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Practice discussion.</a:t>
            </a:r>
          </a:p>
          <a:p>
            <a:r>
              <a:t/>
            </a:r>
          </a:p>
          <a:p>
            <a:r>
              <a:t>LECTURER CUE</a:t>
            </a:r>
          </a:p>
          <a:p>
            <a:r>
              <a:t>A5 uses the supplied fictional campus_energy.csv, not a live Kaggle download. Teach read_csv, nunique, division of columns, &gt; filtering, mean and groupby(...).sum().idxmax() before the six public tasks. idxmax returns the label of the largest value. Explain how a rate differs from a total and how a mean of rates differs from a total-cost/total-energy ratio.</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Data types and filters.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types and filters</a:t>
            </a:r>
          </a:p>
          <a:p>
            <a:r>
              <a:t/>
            </a:r>
          </a:p>
          <a:p>
            <a:r>
              <a:t>CONNECT</a:t>
            </a:r>
          </a:p>
          <a:p>
            <a:r>
              <a:t>Build on the preceding slide: Preparing for the assignment.</a:t>
            </a:r>
          </a:p>
          <a:p>
            <a:r>
              <a:t/>
            </a:r>
          </a:p>
          <a:p>
            <a:r>
              <a:t>LECTURER CUE</a:t>
            </a:r>
          </a:p>
          <a:p>
            <a:r>
              <a:t>Teach these concepts before the weekly quiz. Use changed numbers for practice. This slide supplies concepts, not the quiz key.</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Data types and filters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types and filters continued</a:t>
            </a:r>
          </a:p>
          <a:p>
            <a:r>
              <a:t/>
            </a:r>
          </a:p>
          <a:p>
            <a:r>
              <a:t>CONNECT</a:t>
            </a:r>
          </a:p>
          <a:p>
            <a:r>
              <a:t>Build on the preceding slide: Data types and filters.</a:t>
            </a:r>
          </a:p>
          <a:p>
            <a:r>
              <a:t/>
            </a:r>
          </a:p>
          <a:p>
            <a:r>
              <a:t>LECTURER CUE</a:t>
            </a:r>
          </a:p>
          <a:p>
            <a:r>
              <a:t>Teach these concepts before the weekly quiz. Use changed numbers for practice. This slide supplies concepts, not the quiz key.</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Your issued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assignment</a:t>
            </a:r>
          </a:p>
          <a:p>
            <a:r>
              <a:t/>
            </a:r>
          </a:p>
          <a:p>
            <a:r>
              <a:t>CONNECT</a:t>
            </a:r>
          </a:p>
          <a:p>
            <a:r>
              <a:t>Build on the preceding slide: Data types and filters continued.</a:t>
            </a:r>
          </a:p>
          <a:p>
            <a:r>
              <a:t/>
            </a:r>
          </a:p>
          <a:p>
            <a:r>
              <a:t>LECTURER CUE</a:t>
            </a:r>
          </a:p>
          <a:p>
            <a:r>
              <a:t># W05: pandas: load, filter, group</a:t>
            </a:r>
          </a:p>
          <a:p>
            <a:r>
              <a:t>CML3113. Complete each named output. Save as STUDENT_ID_W05.ipynb.</a:t>
            </a:r>
          </a:p>
          <a:p>
            <a:r>
              <a:t>## q1: 3 marks</a:t>
            </a:r>
          </a:p>
          <a:p>
            <a:r>
              <a:t>Load campus_energy.csv into a DataFrame called df.</a:t>
            </a:r>
          </a:p>
          <a:p>
            <a:r>
              <a:t>## q2: 3 marks</a:t>
            </a:r>
          </a:p>
          <a:p>
            <a:r>
              <a:t>Set n_meters to the number of distinct meters in the file.</a:t>
            </a:r>
          </a:p>
          <a:p>
            <a:r>
              <a:t>## q3: 4 marks</a:t>
            </a:r>
          </a:p>
          <a:p>
            <a:r>
              <a:t>Add a column cost_per_kwh to df, equal to cost_ugx / kwh.</a:t>
            </a:r>
          </a:p>
          <a:p>
            <a:r>
              <a:t>## q4: 4 marks</a:t>
            </a:r>
          </a:p>
          <a:p>
            <a:r>
              <a:t>Set high_use to the rows of df where kwh is greater than 5000. Do this after q3 so the derived column comes along.</a:t>
            </a:r>
          </a:p>
          <a:p>
            <a:r>
              <a:t>## q5: 3 marks</a:t>
            </a:r>
          </a:p>
          <a:p>
            <a:r>
              <a:t>Set mean_cost_per_kwh to the mean of the cost_per_kwh column.</a:t>
            </a:r>
          </a:p>
          <a:p>
            <a:r>
              <a:t>## q6: 3 marks</a:t>
            </a:r>
          </a:p>
          <a:p>
            <a:r>
              <a:t>Set peak_building to the name of the building with the highest total kwh.</a:t>
            </a:r>
          </a:p>
          <a:p>
            <a:r>
              <a:t>Restart and Run All, then save your named notebook. Practice check results are feedback; the submitted notebook is graded independently.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q1: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q1: 3 marks</a:t>
            </a:r>
          </a:p>
          <a:p>
            <a:r>
              <a:t/>
            </a:r>
          </a:p>
          <a:p>
            <a:r>
              <a:t>CONNECT</a:t>
            </a:r>
          </a:p>
          <a:p>
            <a:r>
              <a:t>Build on the preceding slide: Your issued assignment.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NEXT</a:t>
            </a:r>
          </a:p>
          <a:p>
            <a:r>
              <a:t>q2: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q2: 3 marks</a:t>
            </a:r>
          </a:p>
          <a:p>
            <a:r>
              <a:t/>
            </a:r>
          </a:p>
          <a:p>
            <a:r>
              <a:t>CONNECT</a:t>
            </a:r>
          </a:p>
          <a:p>
            <a:r>
              <a:t>Build on the preceding slide: q1: 3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q3: 4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q3: 4 marks</a:t>
            </a:r>
          </a:p>
          <a:p>
            <a:r>
              <a:t/>
            </a:r>
          </a:p>
          <a:p>
            <a:r>
              <a:t>CONNECT</a:t>
            </a:r>
          </a:p>
          <a:p>
            <a:r>
              <a:t>Build on the preceding slide: q2: 3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q4: 4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q4: 4 marks</a:t>
            </a:r>
          </a:p>
          <a:p>
            <a:r>
              <a:t/>
            </a:r>
          </a:p>
          <a:p>
            <a:r>
              <a:t>CONNECT</a:t>
            </a:r>
          </a:p>
          <a:p>
            <a:r>
              <a:t>Build on the preceding slide: q3: 4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q5: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q5: 3 marks</a:t>
            </a:r>
          </a:p>
          <a:p>
            <a:r>
              <a:t/>
            </a:r>
          </a:p>
          <a:p>
            <a:r>
              <a:t>CONNECT</a:t>
            </a:r>
          </a:p>
          <a:p>
            <a:r>
              <a:t>Build on the preceding slide: q4: 4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q6: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q6: 3 marks</a:t>
            </a:r>
          </a:p>
          <a:p>
            <a:r>
              <a:t/>
            </a:r>
          </a:p>
          <a:p>
            <a:r>
              <a:t>CONNECT</a:t>
            </a:r>
          </a:p>
          <a:p>
            <a:r>
              <a:t>Build on the preceding slide: q5: 3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Pandas investigation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Pandas investigation submission</a:t>
            </a:r>
          </a:p>
          <a:p>
            <a:r>
              <a:t/>
            </a:r>
          </a:p>
          <a:p>
            <a:r>
              <a:t>CONNECT</a:t>
            </a:r>
          </a:p>
          <a:p>
            <a:r>
              <a:t>Build on the preceding slide: q6: 3 marks.</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DataFrame is a labelled table. A Series is a single labelled sequence, often one column. A dtype describes stored values, but the import may infer something unsuitable.</a:t>
            </a:r>
          </a:p>
          <a:p>
            <a:r>
              <a:t/>
            </a:r>
          </a:p>
          <a:p>
            <a:r>
              <a:t>CHECK AND EXPECTED ANSWER</a:t>
            </a:r>
          </a:p>
          <a:p>
            <a:r>
              <a:t>Does a price that looks numeric prove the column is numeric? No. Inspect its dtype and troublesome values before conversion.</a:t>
            </a:r>
          </a:p>
          <a:p>
            <a:r>
              <a:t/>
            </a:r>
          </a:p>
          <a:p>
            <a:r>
              <a:t>IF LEARNERS ARE STUCK</a:t>
            </a:r>
          </a:p>
          <a:p>
            <a:r>
              <a:t>Use head, shape and dtypes to locate the table, count rows/columns and inspect storage. Check units and missing values before calculating.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Pandas investigation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5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5 quiz</a:t>
            </a:r>
          </a:p>
          <a:p>
            <a:r>
              <a:t/>
            </a:r>
          </a:p>
          <a:p>
            <a:r>
              <a:t>CONNECT</a:t>
            </a:r>
          </a:p>
          <a:p>
            <a:r>
              <a:t>Build on the preceding slide: Project preparation.</a:t>
            </a:r>
          </a:p>
          <a:p>
            <a:r>
              <a:t/>
            </a:r>
          </a:p>
          <a:p>
            <a:r>
              <a:t>LECTURER CUE</a:t>
            </a:r>
          </a:p>
          <a:p>
            <a:r>
              <a:t>Activate the matching open_W5_CML3113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Week 5 support.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5 support</a:t>
            </a:r>
          </a:p>
          <a:p>
            <a:r>
              <a:t/>
            </a:r>
          </a:p>
          <a:p>
            <a:r>
              <a:t>CONNECT</a:t>
            </a:r>
          </a:p>
          <a:p>
            <a:r>
              <a:t>Build on the preceding slide: Week 5 quiz.</a:t>
            </a:r>
          </a:p>
          <a:p>
            <a:r>
              <a:t/>
            </a:r>
          </a:p>
          <a:p>
            <a:r>
              <a:t>LECTURER CUE</a:t>
            </a:r>
          </a:p>
          <a:p>
            <a:r>
              <a:t>Confirm the actual Faculty-approved make-up or clinic arrangement. Do not assume a time or make video-only homework the replacement.</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5 support.</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eda7fb16a894c9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8454718ee904ed0" /><Relationship Type="http://schemas.openxmlformats.org/officeDocument/2006/relationships/slideLayout" Target="/ppt/slideLayouts/slideLayout1.xml" Id="Rff92ce5c83e246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92ce5c83e246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7719380e0e941d9" /><Relationship Type="http://schemas.openxmlformats.org/officeDocument/2006/relationships/image" Target="/ppt/media/image.png" Id="Rbe0470bdef064b32" /><Relationship Type="http://schemas.openxmlformats.org/officeDocument/2006/relationships/notesSlide" Target="/ppt/notesSlides/notesSlide1.xml" Id="R1707ff44b4c24e8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068241fa5764fe5" /><Relationship Type="http://schemas.openxmlformats.org/officeDocument/2006/relationships/notesSlide" Target="/ppt/notesSlides/notesSlide2.xml" Id="R588a6a81ff474b1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aac18d7d9074864" /><Relationship Type="http://schemas.openxmlformats.org/officeDocument/2006/relationships/notesSlide" Target="/ppt/notesSlides/notesSlide3.xml" Id="R75983562e021406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93be3f285142d4" /><Relationship Type="http://schemas.openxmlformats.org/officeDocument/2006/relationships/notesSlide" Target="/ppt/notesSlides/notesSlide4.xml" Id="R15b63ed71be647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4e77225e9b34561" /><Relationship Type="http://schemas.openxmlformats.org/officeDocument/2006/relationships/notesSlide" Target="/ppt/notesSlides/notesSlide5.xml" Id="R34f584770ca343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b2e04aab6a94cb5" /><Relationship Type="http://schemas.openxmlformats.org/officeDocument/2006/relationships/notesSlide" Target="/ppt/notesSlides/notesSlide6.xml" Id="R5c188bd4ff7b416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495ab72494d4c0e" /><Relationship Type="http://schemas.openxmlformats.org/officeDocument/2006/relationships/notesSlide" Target="/ppt/notesSlides/notesSlide7.xml" Id="Rca51d9bd183941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147659917404f87" /><Relationship Type="http://schemas.openxmlformats.org/officeDocument/2006/relationships/notesSlide" Target="/ppt/notesSlides/notesSlide8.xml" Id="R1f6ca1d61b8649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5b274c9af2947f8" /><Relationship Type="http://schemas.openxmlformats.org/officeDocument/2006/relationships/notesSlide" Target="/ppt/notesSlides/notesSlide9.xml" Id="R1ca1b63a8bad4f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5e4bcb1929743c6" /><Relationship Type="http://schemas.openxmlformats.org/officeDocument/2006/relationships/image" Target="/ppt/media/image2.png" Id="R48bcc56ac8034639" /><Relationship Type="http://schemas.openxmlformats.org/officeDocument/2006/relationships/notesSlide" Target="/ppt/notesSlides/notesSlide10.xml" Id="R45d6fecf0d59401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33b8449f03243cd" /><Relationship Type="http://schemas.openxmlformats.org/officeDocument/2006/relationships/notesSlide" Target="/ppt/notesSlides/notesSlide11.xml" Id="Rcc6c2001724e43b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16b680236a04484" /><Relationship Type="http://schemas.openxmlformats.org/officeDocument/2006/relationships/notesSlide" Target="/ppt/notesSlides/notesSlide12.xml" Id="R2b35a82882b34ba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24de7fe3ad7401a" /><Relationship Type="http://schemas.openxmlformats.org/officeDocument/2006/relationships/notesSlide" Target="/ppt/notesSlides/notesSlide13.xml" Id="R49bcb852144c4d6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af62f02c3b14cef" /><Relationship Type="http://schemas.openxmlformats.org/officeDocument/2006/relationships/notesSlide" Target="/ppt/notesSlides/notesSlide14.xml" Id="R2b8ca745ad884b3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f2f352203bc4ed9" /><Relationship Type="http://schemas.openxmlformats.org/officeDocument/2006/relationships/notesSlide" Target="/ppt/notesSlides/notesSlide15.xml" Id="R7f91e924aad64ba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98325602efe40e4" /><Relationship Type="http://schemas.openxmlformats.org/officeDocument/2006/relationships/image" Target="/ppt/media/image3.png" Id="Re2e7f94e003b44ed" /><Relationship Type="http://schemas.openxmlformats.org/officeDocument/2006/relationships/notesSlide" Target="/ppt/notesSlides/notesSlide16.xml" Id="R761f63c6ac1c470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76ccc50376b4907" /><Relationship Type="http://schemas.openxmlformats.org/officeDocument/2006/relationships/notesSlide" Target="/ppt/notesSlides/notesSlide17.xml" Id="Ra2d94ef45d0a458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4f0501f77d04a27" /><Relationship Type="http://schemas.openxmlformats.org/officeDocument/2006/relationships/notesSlide" Target="/ppt/notesSlides/notesSlide18.xml" Id="Ra80352918e6c432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a27e1f0a51646a0" /><Relationship Type="http://schemas.openxmlformats.org/officeDocument/2006/relationships/notesSlide" Target="/ppt/notesSlides/notesSlide19.xml" Id="Rc0c760254bb84c1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5a32a1c58524a2b" /><Relationship Type="http://schemas.openxmlformats.org/officeDocument/2006/relationships/notesSlide" Target="/ppt/notesSlides/notesSlide20.xml" Id="R2965334b1900482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eb2023b5fa545e9" /><Relationship Type="http://schemas.openxmlformats.org/officeDocument/2006/relationships/notesSlide" Target="/ppt/notesSlides/notesSlide21.xml" Id="R9a75d13de6cf468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92ede1b5d9e4d83" /><Relationship Type="http://schemas.openxmlformats.org/officeDocument/2006/relationships/notesSlide" Target="/ppt/notesSlides/notesSlide22.xml" Id="Reee1c7bfcce4462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bdab175e3d54324" /><Relationship Type="http://schemas.openxmlformats.org/officeDocument/2006/relationships/notesSlide" Target="/ppt/notesSlides/notesSlide23.xml" Id="R5ec6c1427681457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f03b160a3d24443" /><Relationship Type="http://schemas.openxmlformats.org/officeDocument/2006/relationships/notesSlide" Target="/ppt/notesSlides/notesSlide24.xml" Id="Rb3fb3344df7c4f4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2490eba68c34e49" /><Relationship Type="http://schemas.openxmlformats.org/officeDocument/2006/relationships/notesSlide" Target="/ppt/notesSlides/notesSlide25.xml" Id="Rd5579d1c223a44d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9b509fbc2c24474" /><Relationship Type="http://schemas.openxmlformats.org/officeDocument/2006/relationships/notesSlide" Target="/ppt/notesSlides/notesSlide26.xml" Id="Rf9bd2dbb716343f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cccc79a8811468b" /><Relationship Type="http://schemas.openxmlformats.org/officeDocument/2006/relationships/notesSlide" Target="/ppt/notesSlides/notesSlide27.xml" Id="Rd41de5bfda9344f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190627441ed42e4" /><Relationship Type="http://schemas.openxmlformats.org/officeDocument/2006/relationships/notesSlide" Target="/ppt/notesSlides/notesSlide28.xml" Id="Ra466dd2dbd0241f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4ae5a7c4f70491f" /><Relationship Type="http://schemas.openxmlformats.org/officeDocument/2006/relationships/notesSlide" Target="/ppt/notesSlides/notesSlide29.xml" Id="Ra0e25baf567b4b2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db8d25b091c4e63" /><Relationship Type="http://schemas.openxmlformats.org/officeDocument/2006/relationships/notesSlide" Target="/ppt/notesSlides/notesSlide30.xml" Id="R325bd2a7f82b4fe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2484920b55e4431" /><Relationship Type="http://schemas.openxmlformats.org/officeDocument/2006/relationships/notesSlide" Target="/ppt/notesSlides/notesSlide31.xml" Id="Ra0ed8db037dd4e0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131c3a67aca4a07" /><Relationship Type="http://schemas.openxmlformats.org/officeDocument/2006/relationships/notesSlide" Target="/ppt/notesSlides/notesSlide32.xml" Id="Ra77c016a46494f3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971272bf0944ead" /><Relationship Type="http://schemas.openxmlformats.org/officeDocument/2006/relationships/notesSlide" Target="/ppt/notesSlides/notesSlide33.xml" Id="R3fb73263948f4ba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d7c05358c424271" /><Relationship Type="http://schemas.openxmlformats.org/officeDocument/2006/relationships/notesSlide" Target="/ppt/notesSlides/notesSlide34.xml" Id="R2a5c936819384b3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c39e7464cf34420" /><Relationship Type="http://schemas.openxmlformats.org/officeDocument/2006/relationships/notesSlide" Target="/ppt/notesSlides/notesSlide35.xml" Id="R9bc5f4176e04438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d9de635d93a4588" /><Relationship Type="http://schemas.openxmlformats.org/officeDocument/2006/relationships/notesSlide" Target="/ppt/notesSlides/notesSlide36.xml" Id="R544c57a5c6a042c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35343e50397a4703" /><Relationship Type="http://schemas.openxmlformats.org/officeDocument/2006/relationships/notesSlide" Target="/ppt/notesSlides/notesSlide37.xml" Id="Ra63a102114d2458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cc42fe18ba54aa5" /><Relationship Type="http://schemas.openxmlformats.org/officeDocument/2006/relationships/notesSlide" Target="/ppt/notesSlides/notesSlide38.xml" Id="R60aa76dbc22b454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5a2740319a5d4893" /><Relationship Type="http://schemas.openxmlformats.org/officeDocument/2006/relationships/notesSlide" Target="/ppt/notesSlides/notesSlide39.xml" Id="Rfbaad8383619402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e746325206824ed5" /><Relationship Type="http://schemas.openxmlformats.org/officeDocument/2006/relationships/notesSlide" Target="/ppt/notesSlides/notesSlide40.xml" Id="R23ed60863a7c4a5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f6a68a87f58f402f" /><Relationship Type="http://schemas.openxmlformats.org/officeDocument/2006/relationships/notesSlide" Target="/ppt/notesSlides/notesSlide41.xml" Id="Rc7feb00e705a498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744ad95de0bc462b" /><Relationship Type="http://schemas.openxmlformats.org/officeDocument/2006/relationships/notesSlide" Target="/ppt/notesSlides/notesSlide42.xml" Id="R03a6fa5bda30410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ae0d55a82eb943ec" /><Relationship Type="http://schemas.openxmlformats.org/officeDocument/2006/relationships/hyperlink" Target="https://docs.google.com/forms/d/e/1FAIpQLSehGqFG7PZ1wfoBRTaooiO6bw5XPXrKkDJ6kWCXi-YmEx69Eg/viewform" TargetMode="External" Id="Ra2da59ae83194299" /><Relationship Type="http://schemas.openxmlformats.org/officeDocument/2006/relationships/notesSlide" Target="/ppt/notesSlides/notesSlide43.xml" Id="R8803c409a4bc42f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efebe78fef5f4ebb" /><Relationship Type="http://schemas.openxmlformats.org/officeDocument/2006/relationships/notesSlide" Target="/ppt/notesSlides/notesSlide44.xml" Id="R69e3767720ef4c7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5c0ceac41f94bb9" /><Relationship Type="http://schemas.openxmlformats.org/officeDocument/2006/relationships/image" Target="/ppt/media/image4.png" Id="Rc86d142f02a842ad" /><Relationship Type="http://schemas.openxmlformats.org/officeDocument/2006/relationships/hyperlink" Target="https://forms.gle/2bRrHnq3mUEN84k19" TargetMode="External" Id="R6f739a47db814205" /><Relationship Type="http://schemas.openxmlformats.org/officeDocument/2006/relationships/notesSlide" Target="/ppt/notesSlides/notesSlide45.xml" Id="R2b6b68646d8847c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5356905a281b4a2c" /><Relationship Type="http://schemas.openxmlformats.org/officeDocument/2006/relationships/notesSlide" Target="/ppt/notesSlides/notesSlide46.xml" Id="R6e1c831c7875474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74760539d3a403e" /><Relationship Type="http://schemas.openxmlformats.org/officeDocument/2006/relationships/notesSlide" Target="/ppt/notesSlides/notesSlide47.xml" Id="R22637739dadb4af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e0470bdef064b3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9E14D22-372F-4D46-949B-303C928000E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209F77A-759A-437D-9B59-CA561A53DF5B}"/>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5</a:t>
            </a:r>
          </a:p>
        </p:txBody>
      </p:sp>
      <p:sp>
        <p:nvSpPr>
          <p:cNvPr id="4" name="">
            <a:extLst xmlns:a="http://schemas.openxmlformats.org/drawingml/2006/main">
              <a:ext uri="{FF2B5EF4-FFF2-40B4-BE49-F238E27FC236}">
                <a16:creationId xmlns:a16="http://schemas.microsoft.com/office/drawing/2014/main" id="{15EB0B56-1388-4FB3-8B2A-2467344B7B6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84619989-31B7-49BB-A6C2-7BB111241AD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E76632D0-BB09-4B53-8143-DED6442AAB1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42292999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A84C6C-E590-4934-9364-6AFF0E7BAE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78EFFB-BFA5-413B-A90E-7EE6D744D2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9CF9135-0B30-48FA-9AA8-2F0267E31D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55ABF9C-5491-4DCB-8D4E-5EBEBD01F25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F30911-3D65-4739-B1A1-C41F8EE2029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F7813B9F-FE54-434A-A256-5203E762B73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8E942F9D-379A-4862-B466-2960B92B3E9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5868657-D820-4711-8339-49EADD7F819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3F5193D0-09CA-49D1-A24F-5B6B931160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a:t>
            </a:r>
          </a:p>
        </p:txBody>
      </p:sp>
    </p:spTree>
    <p:extLst>
      <p:ext uri="{BB962C8B-B14F-4D97-AF65-F5344CB8AC3E}">
        <p14:creationId xmlns:p14="http://schemas.microsoft.com/office/powerpoint/2010/main" val="2060233596"/>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D56977-E0F5-4E08-8BBC-91D09E76F1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27A1F61-1233-4AB5-93B5-22CB04DB89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E6661A27-DD50-4117-800F-F78511099AD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E6120E6-0F90-4992-8F81-7E51976B590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Identify one row, one column, and the mean of three readings. Explain the running-total loop.</a:t>
            </a:r>
          </a:p>
        </p:txBody>
      </p:sp>
      <p:sp>
        <p:nvSpPr>
          <p:cNvPr id="5" name="">
            <a:extLst xmlns:a="http://schemas.openxmlformats.org/drawingml/2006/main">
              <a:ext uri="{FF2B5EF4-FFF2-40B4-BE49-F238E27FC236}">
                <a16:creationId xmlns:a16="http://schemas.microsoft.com/office/drawing/2014/main" id="{B982F4C1-6B0A-428B-91EE-3A1823D838E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6469959E-08C5-46CB-A117-44D4D0BA2A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5   3</a:t>
            </a:r>
          </a:p>
        </p:txBody>
      </p:sp>
    </p:spTree>
    <p:extLst>
      <p:ext uri="{BB962C8B-B14F-4D97-AF65-F5344CB8AC3E}">
        <p14:creationId xmlns:p14="http://schemas.microsoft.com/office/powerpoint/2010/main" val="20136691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31AC98-B47F-4DAF-8BDD-3C0727ABE7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2FA063-0D75-4557-B141-8ED20B774A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B73C0A20-B66C-4B42-963F-B73FD5186F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A584945B-A706-4D78-B6B9-3FE25CE161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FF0238-A5C9-4909-BD3A-FDF87E2F7D7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1094FC22-8A93-489C-BCE8-D4DF1826547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A75236-9628-429F-BE51-EAC3BBDEA55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818B2613-B82B-4169-B8A7-87CA6EF0949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C2649F-C6D1-4E46-BFF4-219123E75A2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3DFBB28F-AE07-41CF-8A14-A0837B3170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a:t>
            </a:r>
          </a:p>
        </p:txBody>
      </p:sp>
    </p:spTree>
    <p:extLst>
      <p:ext uri="{BB962C8B-B14F-4D97-AF65-F5344CB8AC3E}">
        <p14:creationId xmlns:p14="http://schemas.microsoft.com/office/powerpoint/2010/main" val="13643112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9B090B0-9A3B-4438-9743-D17427315D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B3F79C-CF83-4F5C-862D-30523CB89B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2F84B8-611D-4CA3-B185-EDA2732D1C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units</a:t>
            </a:r>
          </a:p>
        </p:txBody>
      </p:sp>
      <p:sp>
        <p:nvSpPr>
          <p:cNvPr id="4" name="">
            <a:extLst xmlns:a="http://schemas.openxmlformats.org/drawingml/2006/main">
              <a:ext uri="{FF2B5EF4-FFF2-40B4-BE49-F238E27FC236}">
                <a16:creationId xmlns:a16="http://schemas.microsoft.com/office/drawing/2014/main" id="{B44D4B67-0DEE-4F1E-8D0A-04EAA84615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043FB9-B71A-434B-90E8-F583B37F545F}"/>
              </a:ext>
            </a:extLst>
          </p:cNvPr>
          <p:cNvSpPr>
            <a:spLocks xmlns:a="http://schemas.openxmlformats.org/drawingml/2006/main" noGrp="1"/>
          </p:cNvSpPr>
          <p:nvPr/>
        </p:nvSpPr>
        <p:spPr>
          <a:xfrm xmlns:a="http://schemas.openxmlformats.org/drawingml/2006/main">
            <a:off x="1381125" y="1781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row describes one observation. A column describes one field.</a:t>
            </a:r>
          </a:p>
        </p:txBody>
      </p:sp>
      <p:sp>
        <p:nvSpPr>
          <p:cNvPr id="6" name="">
            <a:extLst xmlns:a="http://schemas.openxmlformats.org/drawingml/2006/main">
              <a:ext uri="{FF2B5EF4-FFF2-40B4-BE49-F238E27FC236}">
                <a16:creationId xmlns:a16="http://schemas.microsoft.com/office/drawing/2014/main" id="{6F27A9E8-7B5E-46E4-9CF2-2CCF3FB7B40E}"/>
              </a:ext>
            </a:extLst>
          </p:cNvPr>
          <p:cNvSpPr>
            <a:spLocks xmlns:a="http://schemas.openxmlformats.org/drawingml/2006/main" noGrp="1"/>
          </p:cNvSpPr>
          <p:nvPr/>
        </p:nvSpPr>
        <p:spPr>
          <a:xfrm xmlns:a="http://schemas.openxmlformats.org/drawingml/2006/main">
            <a:off x="590550" y="26384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16F73D-993F-45F9-B923-D0A8E931A789}"/>
              </a:ext>
            </a:extLst>
          </p:cNvPr>
          <p:cNvSpPr>
            <a:spLocks xmlns:a="http://schemas.openxmlformats.org/drawingml/2006/main" noGrp="1"/>
          </p:cNvSpPr>
          <p:nvPr/>
        </p:nvSpPr>
        <p:spPr>
          <a:xfrm xmlns:a="http://schemas.openxmlformats.org/drawingml/2006/main">
            <a:off x="1381125" y="26384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pandas’ labelled table.</a:t>
            </a:r>
          </a:p>
        </p:txBody>
      </p:sp>
      <p:sp>
        <p:nvSpPr>
          <p:cNvPr id="8" name="">
            <a:extLst xmlns:a="http://schemas.openxmlformats.org/drawingml/2006/main">
              <a:ext uri="{FF2B5EF4-FFF2-40B4-BE49-F238E27FC236}">
                <a16:creationId xmlns:a16="http://schemas.microsoft.com/office/drawing/2014/main" id="{9C91B57E-3221-45A5-96DA-1AD66256C9DE}"/>
              </a:ext>
            </a:extLst>
          </p:cNvPr>
          <p:cNvSpPr>
            <a:spLocks xmlns:a="http://schemas.openxmlformats.org/drawingml/2006/main" noGrp="1"/>
          </p:cNvSpPr>
          <p:nvPr/>
        </p:nvSpPr>
        <p:spPr>
          <a:xfrm xmlns:a="http://schemas.openxmlformats.org/drawingml/2006/main">
            <a:off x="590550" y="3495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36B8E5-9088-417E-9207-8349DA6552D4}"/>
              </a:ext>
            </a:extLst>
          </p:cNvPr>
          <p:cNvSpPr>
            <a:spLocks xmlns:a="http://schemas.openxmlformats.org/drawingml/2006/main" noGrp="1"/>
          </p:cNvSpPr>
          <p:nvPr/>
        </p:nvSpPr>
        <p:spPr>
          <a:xfrm xmlns:a="http://schemas.openxmlformats.org/drawingml/2006/main">
            <a:off x="1381125" y="34956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Series is one labelled column.</a:t>
            </a:r>
          </a:p>
        </p:txBody>
      </p:sp>
      <p:sp>
        <p:nvSpPr>
          <p:cNvPr id="10" name="">
            <a:extLst xmlns:a="http://schemas.openxmlformats.org/drawingml/2006/main">
              <a:ext uri="{FF2B5EF4-FFF2-40B4-BE49-F238E27FC236}">
                <a16:creationId xmlns:a16="http://schemas.microsoft.com/office/drawing/2014/main" id="{B3FC2077-D561-4276-87EC-FFC0CC8DF7BC}"/>
              </a:ext>
            </a:extLst>
          </p:cNvPr>
          <p:cNvSpPr>
            <a:spLocks xmlns:a="http://schemas.openxmlformats.org/drawingml/2006/main" noGrp="1"/>
          </p:cNvSpPr>
          <p:nvPr/>
        </p:nvSpPr>
        <p:spPr>
          <a:xfrm xmlns:a="http://schemas.openxmlformats.org/drawingml/2006/main">
            <a:off x="590550"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791EB0B-A0E1-4B61-987A-4F0CCE5DE0A7}"/>
              </a:ext>
            </a:extLst>
          </p:cNvPr>
          <p:cNvSpPr>
            <a:spLocks xmlns:a="http://schemas.openxmlformats.org/drawingml/2006/main" noGrp="1"/>
          </p:cNvSpPr>
          <p:nvPr/>
        </p:nvSpPr>
        <p:spPr>
          <a:xfrm xmlns:a="http://schemas.openxmlformats.org/drawingml/2006/main">
            <a:off x="1381125" y="43529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measures energy. kW measures power.</a:t>
            </a:r>
          </a:p>
        </p:txBody>
      </p:sp>
      <p:sp>
        <p:nvSpPr>
          <p:cNvPr id="12" name="">
            <a:extLst xmlns:a="http://schemas.openxmlformats.org/drawingml/2006/main">
              <a:ext uri="{FF2B5EF4-FFF2-40B4-BE49-F238E27FC236}">
                <a16:creationId xmlns:a16="http://schemas.microsoft.com/office/drawing/2014/main" id="{EFDF2F02-F24C-4077-9F2D-9E3DE21A8E91}"/>
              </a:ext>
            </a:extLst>
          </p:cNvPr>
          <p:cNvSpPr>
            <a:spLocks xmlns:a="http://schemas.openxmlformats.org/drawingml/2006/main" noGrp="1"/>
          </p:cNvSpPr>
          <p:nvPr/>
        </p:nvSpPr>
        <p:spPr>
          <a:xfrm xmlns:a="http://schemas.openxmlformats.org/drawingml/2006/main">
            <a:off x="590550" y="5210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05</a:t>
            </a:r>
          </a:p>
        </p:txBody>
      </p:sp>
      <p:sp>
        <p:nvSpPr>
          <p:cNvPr id="13" name="">
            <a:extLst xmlns:a="http://schemas.openxmlformats.org/drawingml/2006/main">
              <a:ext uri="{FF2B5EF4-FFF2-40B4-BE49-F238E27FC236}">
                <a16:creationId xmlns:a16="http://schemas.microsoft.com/office/drawing/2014/main" id="{D05D2ED2-AA76-4067-9137-05C0752D8C25}"/>
              </a:ext>
            </a:extLst>
          </p:cNvPr>
          <p:cNvSpPr>
            <a:spLocks xmlns:a="http://schemas.openxmlformats.org/drawingml/2006/main" noGrp="1"/>
          </p:cNvSpPr>
          <p:nvPr/>
        </p:nvSpPr>
        <p:spPr>
          <a:xfrm xmlns:a="http://schemas.openxmlformats.org/drawingml/2006/main">
            <a:off x="1381125" y="5210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type (dtype) describes the kind of values in a column, such as whole numbers, decimals or text.</a:t>
            </a:r>
          </a:p>
        </p:txBody>
      </p:sp>
      <p:sp>
        <p:nvSpPr>
          <p:cNvPr id="14" name="">
            <a:extLst xmlns:a="http://schemas.openxmlformats.org/drawingml/2006/main">
              <a:ext uri="{FF2B5EF4-FFF2-40B4-BE49-F238E27FC236}">
                <a16:creationId xmlns:a16="http://schemas.microsoft.com/office/drawing/2014/main" id="{58455215-D526-4275-AEB6-8606B30264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5</a:t>
            </a:r>
          </a:p>
        </p:txBody>
      </p:sp>
    </p:spTree>
    <p:extLst>
      <p:ext uri="{BB962C8B-B14F-4D97-AF65-F5344CB8AC3E}">
        <p14:creationId xmlns:p14="http://schemas.microsoft.com/office/powerpoint/2010/main" val="29580435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8D68AC-27CF-4BC2-9351-64AFE2B927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B36DE0-54CD-4625-9C10-4DA579C2D0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15EE0DE-5743-4A82-8D28-6D90DF3D4F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table keeps related observations together</a:t>
            </a:r>
          </a:p>
        </p:txBody>
      </p:sp>
      <p:sp>
        <p:nvSpPr>
          <p:cNvPr id="4" name="">
            <a:extLst xmlns:a="http://schemas.openxmlformats.org/drawingml/2006/main">
              <a:ext uri="{FF2B5EF4-FFF2-40B4-BE49-F238E27FC236}">
                <a16:creationId xmlns:a16="http://schemas.microsoft.com/office/drawing/2014/main" id="{74A388F8-87DF-4C91-BF82-3E8320CDF0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134F3C-EEE7-4DAC-A8D6-0DB4EA94D6A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four rows record building A twice and building B twice.</a:t>
            </a:r>
          </a:p>
        </p:txBody>
      </p:sp>
      <p:sp>
        <p:nvSpPr>
          <p:cNvPr id="6" name="">
            <a:extLst xmlns:a="http://schemas.openxmlformats.org/drawingml/2006/main">
              <a:ext uri="{FF2B5EF4-FFF2-40B4-BE49-F238E27FC236}">
                <a16:creationId xmlns:a16="http://schemas.microsoft.com/office/drawing/2014/main" id="{314D839F-2162-4CE8-9DC4-F96B6E276F1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8591316-2630-46D0-97A0-ED32B33EFD1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the building label and an energy reading.</a:t>
            </a:r>
          </a:p>
        </p:txBody>
      </p:sp>
      <p:sp>
        <p:nvSpPr>
          <p:cNvPr id="8" name="">
            <a:extLst xmlns:a="http://schemas.openxmlformats.org/drawingml/2006/main">
              <a:ext uri="{FF2B5EF4-FFF2-40B4-BE49-F238E27FC236}">
                <a16:creationId xmlns:a16="http://schemas.microsoft.com/office/drawing/2014/main" id="{094F5562-CE47-438F-8193-42C2FF6278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5B300B3-3341-47C0-AA12-509F13DAED7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is energy. kW is power. The units describe different quantities.</a:t>
            </a:r>
          </a:p>
        </p:txBody>
      </p:sp>
      <p:sp>
        <p:nvSpPr>
          <p:cNvPr id="10" name="">
            <a:extLst xmlns:a="http://schemas.openxmlformats.org/drawingml/2006/main">
              <a:ext uri="{FF2B5EF4-FFF2-40B4-BE49-F238E27FC236}">
                <a16:creationId xmlns:a16="http://schemas.microsoft.com/office/drawing/2014/main" id="{5937B5FC-3FDA-4E00-9FA1-DFBEF15538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6</a:t>
            </a:r>
          </a:p>
        </p:txBody>
      </p:sp>
    </p:spTree>
    <p:extLst>
      <p:ext uri="{BB962C8B-B14F-4D97-AF65-F5344CB8AC3E}">
        <p14:creationId xmlns:p14="http://schemas.microsoft.com/office/powerpoint/2010/main" val="19739565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509134-9472-4837-8E6A-59D4C87AB4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130EA2-5F96-4EA6-AD31-281EF3C1B7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9A7CFB9-31C5-4597-93AC-9EEF25CB38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Our small energy table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building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kwh</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5</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D8CD6B9-0925-4712-8E92-630B22782DB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four observations total 18 kWh.</a:t>
            </a:r>
          </a:p>
        </p:txBody>
      </p:sp>
      <p:sp>
        <p:nvSpPr>
          <p:cNvPr id="6" name="">
            <a:extLst xmlns:a="http://schemas.openxmlformats.org/drawingml/2006/main">
              <a:ext uri="{FF2B5EF4-FFF2-40B4-BE49-F238E27FC236}">
                <a16:creationId xmlns:a16="http://schemas.microsoft.com/office/drawing/2014/main" id="{8721352B-5BF8-4A46-AA6D-5B279C09E2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7</a:t>
            </a:r>
          </a:p>
        </p:txBody>
      </p:sp>
    </p:spTree>
    <p:extLst>
      <p:ext uri="{BB962C8B-B14F-4D97-AF65-F5344CB8AC3E}">
        <p14:creationId xmlns:p14="http://schemas.microsoft.com/office/powerpoint/2010/main" val="153078002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18495A-E641-49E6-93C8-26A5AC4AD1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61217F-DD75-4630-8A4E-D94230320B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A617109-309E-4CD8-80D6-D26FAB9958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31287C1F-29F8-466F-AE86-A25D0076A29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41ACB6-9E09-445F-8961-E4AAAC1F656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Library and pandas</a:t>
            </a:r>
          </a:p>
        </p:txBody>
      </p:sp>
      <p:sp>
        <p:nvSpPr>
          <p:cNvPr id="6" name="">
            <a:extLst xmlns:a="http://schemas.openxmlformats.org/drawingml/2006/main">
              <a:ext uri="{FF2B5EF4-FFF2-40B4-BE49-F238E27FC236}">
                <a16:creationId xmlns:a16="http://schemas.microsoft.com/office/drawing/2014/main" id="{822C042B-15EB-4566-BB40-7FA96B2A0E4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library is reusable code. pandas provides tools for data tables. import pandas as pd makes pd a short name for that library.</a:t>
            </a:r>
          </a:p>
        </p:txBody>
      </p:sp>
      <p:sp>
        <p:nvSpPr>
          <p:cNvPr id="7" name="">
            <a:extLst xmlns:a="http://schemas.openxmlformats.org/drawingml/2006/main">
              <a:ext uri="{FF2B5EF4-FFF2-40B4-BE49-F238E27FC236}">
                <a16:creationId xmlns:a16="http://schemas.microsoft.com/office/drawing/2014/main" id="{949F588C-6A73-455A-8A8A-02131353595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3839487-6EDF-4D95-8010-C04759CDE41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DataFrame</a:t>
            </a:r>
          </a:p>
        </p:txBody>
      </p:sp>
      <p:sp>
        <p:nvSpPr>
          <p:cNvPr id="9" name="">
            <a:extLst xmlns:a="http://schemas.openxmlformats.org/drawingml/2006/main">
              <a:ext uri="{FF2B5EF4-FFF2-40B4-BE49-F238E27FC236}">
                <a16:creationId xmlns:a16="http://schemas.microsoft.com/office/drawing/2014/main" id="{95FC11E8-A8E7-4A1E-B5E5-1C39E3464F3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table with named columns and indexed rows. df is just the variable name we choose for this table.</a:t>
            </a:r>
          </a:p>
        </p:txBody>
      </p:sp>
      <p:sp>
        <p:nvSpPr>
          <p:cNvPr id="10" name="">
            <a:extLst xmlns:a="http://schemas.openxmlformats.org/drawingml/2006/main">
              <a:ext uri="{FF2B5EF4-FFF2-40B4-BE49-F238E27FC236}">
                <a16:creationId xmlns:a16="http://schemas.microsoft.com/office/drawing/2014/main" id="{D78ECAAB-6424-4BDA-B7C3-35A59BCE7A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8</a:t>
            </a:r>
          </a:p>
        </p:txBody>
      </p:sp>
    </p:spTree>
    <p:extLst>
      <p:ext uri="{BB962C8B-B14F-4D97-AF65-F5344CB8AC3E}">
        <p14:creationId xmlns:p14="http://schemas.microsoft.com/office/powerpoint/2010/main" val="160447843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9BA34F-9461-49C3-B793-F7CDB5D154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29E84C-C347-47DF-9680-6F0329B2E1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EB9924-33C5-4025-B225-ACA5ADA003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DataFrame is a labelled table</a:t>
            </a:r>
          </a:p>
        </p:txBody>
      </p:sp>
      <p:sp>
        <p:nvSpPr>
          <p:cNvPr id="4" name="">
            <a:extLst xmlns:a="http://schemas.openxmlformats.org/drawingml/2006/main">
              <a:ext uri="{FF2B5EF4-FFF2-40B4-BE49-F238E27FC236}">
                <a16:creationId xmlns:a16="http://schemas.microsoft.com/office/drawing/2014/main" id="{541E2D6B-882B-4201-8018-A317654D1D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C86144-3002-4F8E-A283-C444E976879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pandas is a library: a collection of reusable Python tools.</a:t>
            </a:r>
          </a:p>
        </p:txBody>
      </p:sp>
      <p:sp>
        <p:nvSpPr>
          <p:cNvPr id="6" name="">
            <a:extLst xmlns:a="http://schemas.openxmlformats.org/drawingml/2006/main">
              <a:ext uri="{FF2B5EF4-FFF2-40B4-BE49-F238E27FC236}">
                <a16:creationId xmlns:a16="http://schemas.microsoft.com/office/drawing/2014/main" id="{3C6C3881-6846-4525-8387-DB4029EDA89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2839C8-4A94-4BFC-8050-2CAB2E586EB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 is the short name used after import pandas as pd.</a:t>
            </a:r>
          </a:p>
        </p:txBody>
      </p:sp>
      <p:sp>
        <p:nvSpPr>
          <p:cNvPr id="8" name="">
            <a:extLst xmlns:a="http://schemas.openxmlformats.org/drawingml/2006/main">
              <a:ext uri="{FF2B5EF4-FFF2-40B4-BE49-F238E27FC236}">
                <a16:creationId xmlns:a16="http://schemas.microsoft.com/office/drawing/2014/main" id="{396B553D-3662-4866-AE4B-330E36B7D93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21EC4C-FC2E-4E5A-AF6A-928594FE09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pd.DataFrame(...) builds a table. pd.read_csv(...) loads one from a CSV file.</a:t>
            </a:r>
          </a:p>
        </p:txBody>
      </p:sp>
      <p:sp>
        <p:nvSpPr>
          <p:cNvPr id="10" name="">
            <a:extLst xmlns:a="http://schemas.openxmlformats.org/drawingml/2006/main">
              <a:ext uri="{FF2B5EF4-FFF2-40B4-BE49-F238E27FC236}">
                <a16:creationId xmlns:a16="http://schemas.microsoft.com/office/drawing/2014/main" id="{D67C5C6B-A34C-49B4-BFE4-CD9EEB7EC5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9</a:t>
            </a:r>
          </a:p>
        </p:txBody>
      </p:sp>
    </p:spTree>
    <p:extLst>
      <p:ext uri="{BB962C8B-B14F-4D97-AF65-F5344CB8AC3E}">
        <p14:creationId xmlns:p14="http://schemas.microsoft.com/office/powerpoint/2010/main" val="21511323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720F7F-9EAA-4439-8307-BAB8AD4617E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C40517-9D35-4FFC-8FBA-85C0A48CF4A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labelled table in Python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8bcc56ac8034639"/>
          <a:stretch xmlns:a="http://schemas.openxmlformats.org/drawingml/2006/main"/>
        </p:blipFill>
        <p:spPr>
          <a:xfrm xmlns:a="http://schemas.openxmlformats.org/drawingml/2006/main">
            <a:off x="509073" y="1057275"/>
            <a:ext cx="1117385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3A09365-33E6-46C9-9C8E-320D2FD88A9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866450-95CA-4504-B300-174EBA89DB0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row is an observation. A column is a named field.</a:t>
            </a:r>
          </a:p>
        </p:txBody>
      </p:sp>
      <p:sp>
        <p:nvSpPr>
          <p:cNvPr id="6" name="">
            <a:extLst xmlns:a="http://schemas.openxmlformats.org/drawingml/2006/main">
              <a:ext uri="{FF2B5EF4-FFF2-40B4-BE49-F238E27FC236}">
                <a16:creationId xmlns:a16="http://schemas.microsoft.com/office/drawing/2014/main" id="{47733590-F94C-40A5-BFD6-5939B19B5C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10</a:t>
            </a:r>
          </a:p>
        </p:txBody>
      </p:sp>
    </p:spTree>
    <p:extLst>
      <p:ext uri="{BB962C8B-B14F-4D97-AF65-F5344CB8AC3E}">
        <p14:creationId xmlns:p14="http://schemas.microsoft.com/office/powerpoint/2010/main" val="123862610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315904-F0EA-45BD-9315-2DD656C169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8A646F-3250-4E5A-97B1-7048DA2D53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1195276-BF35-44DF-BB5D-2C35893151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25130581-74E9-4AE5-9290-88E30003C01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064B3C-D6D4-4141-A829-ED94BE05A86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Series</a:t>
            </a:r>
          </a:p>
        </p:txBody>
      </p:sp>
      <p:sp>
        <p:nvSpPr>
          <p:cNvPr id="6" name="">
            <a:extLst xmlns:a="http://schemas.openxmlformats.org/drawingml/2006/main">
              <a:ext uri="{FF2B5EF4-FFF2-40B4-BE49-F238E27FC236}">
                <a16:creationId xmlns:a16="http://schemas.microsoft.com/office/drawing/2014/main" id="{DAB33FDB-5C3B-46E0-9D4D-4430E3DB67D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One labelled column. df["kwh"] selects the column named kwh.</a:t>
            </a:r>
          </a:p>
        </p:txBody>
      </p:sp>
      <p:sp>
        <p:nvSpPr>
          <p:cNvPr id="7" name="">
            <a:extLst xmlns:a="http://schemas.openxmlformats.org/drawingml/2006/main">
              <a:ext uri="{FF2B5EF4-FFF2-40B4-BE49-F238E27FC236}">
                <a16:creationId xmlns:a16="http://schemas.microsoft.com/office/drawing/2014/main" id="{73B637B7-E153-48EA-BE3E-AF1BA28FBE0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16C2903-6BE9-454C-94DF-AA0FCE78267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Method and attribute</a:t>
            </a:r>
          </a:p>
        </p:txBody>
      </p:sp>
      <p:sp>
        <p:nvSpPr>
          <p:cNvPr id="9" name="">
            <a:extLst xmlns:a="http://schemas.openxmlformats.org/drawingml/2006/main">
              <a:ext uri="{FF2B5EF4-FFF2-40B4-BE49-F238E27FC236}">
                <a16:creationId xmlns:a16="http://schemas.microsoft.com/office/drawing/2014/main" id="{6144097B-8377-4621-B72B-79E53F60335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method performs an operation, as in df.head(). An attribute provides a stored property, as in df.shape. Parentheses call an operation.</a:t>
            </a:r>
          </a:p>
        </p:txBody>
      </p:sp>
      <p:sp>
        <p:nvSpPr>
          <p:cNvPr id="10" name="">
            <a:extLst xmlns:a="http://schemas.openxmlformats.org/drawingml/2006/main">
              <a:ext uri="{FF2B5EF4-FFF2-40B4-BE49-F238E27FC236}">
                <a16:creationId xmlns:a16="http://schemas.microsoft.com/office/drawing/2014/main" id="{7AC27DF3-2724-4078-978A-686985AF51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11</a:t>
            </a:r>
          </a:p>
        </p:txBody>
      </p:sp>
    </p:spTree>
    <p:extLst>
      <p:ext uri="{BB962C8B-B14F-4D97-AF65-F5344CB8AC3E}">
        <p14:creationId xmlns:p14="http://schemas.microsoft.com/office/powerpoint/2010/main" val="14399974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ED0296-E1A3-4842-9893-E6AF6D05F7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AF86EA-505D-4D47-B6B0-64D4F561F0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94C6561-6675-4370-9D49-CFDA6C9136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pandas syntax</a:t>
            </a:r>
          </a:p>
        </p:txBody>
      </p:sp>
      <p:sp>
        <p:nvSpPr>
          <p:cNvPr id="4" name="">
            <a:extLst xmlns:a="http://schemas.openxmlformats.org/drawingml/2006/main">
              <a:ext uri="{FF2B5EF4-FFF2-40B4-BE49-F238E27FC236}">
                <a16:creationId xmlns:a16="http://schemas.microsoft.com/office/drawing/2014/main" id="{79890092-1A9C-424B-B19B-FA234209041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2A507E-2108-4010-BEAB-85B85EFC1B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the library and gives it a short name.</a:t>
            </a:r>
          </a:p>
        </p:txBody>
      </p:sp>
      <p:sp>
        <p:nvSpPr>
          <p:cNvPr id="6" name="">
            <a:extLst xmlns:a="http://schemas.openxmlformats.org/drawingml/2006/main">
              <a:ext uri="{FF2B5EF4-FFF2-40B4-BE49-F238E27FC236}">
                <a16:creationId xmlns:a16="http://schemas.microsoft.com/office/drawing/2014/main" id="{E274F0C7-CB59-4904-9F79-C8422DBCA93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49D7F4C-5690-4667-B31C-032A40DB0B9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pd.read_csv("file.csv") calls a function. The quoted text is the file path.</a:t>
            </a:r>
          </a:p>
        </p:txBody>
      </p:sp>
      <p:sp>
        <p:nvSpPr>
          <p:cNvPr id="8" name="">
            <a:extLst xmlns:a="http://schemas.openxmlformats.org/drawingml/2006/main">
              <a:ext uri="{FF2B5EF4-FFF2-40B4-BE49-F238E27FC236}">
                <a16:creationId xmlns:a16="http://schemas.microsoft.com/office/drawing/2014/main" id="{0559D4B9-ED61-4604-B22D-C50EA94AA9A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85AD06-3A76-461C-92DD-2AECF65E9D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a column. df["kwh"].mean() calls a method on that column.</a:t>
            </a:r>
          </a:p>
        </p:txBody>
      </p:sp>
      <p:sp>
        <p:nvSpPr>
          <p:cNvPr id="10" name="">
            <a:extLst xmlns:a="http://schemas.openxmlformats.org/drawingml/2006/main">
              <a:ext uri="{FF2B5EF4-FFF2-40B4-BE49-F238E27FC236}">
                <a16:creationId xmlns:a16="http://schemas.microsoft.com/office/drawing/2014/main" id="{C06DF555-C6F5-4F92-A826-DCDEE4206C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12</a:t>
            </a:r>
          </a:p>
        </p:txBody>
      </p:sp>
    </p:spTree>
    <p:extLst>
      <p:ext uri="{BB962C8B-B14F-4D97-AF65-F5344CB8AC3E}">
        <p14:creationId xmlns:p14="http://schemas.microsoft.com/office/powerpoint/2010/main" val="132149162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801922-8DBD-4F61-BB48-4E5CD47CF9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046809-1DE5-4DF3-A369-EF37B8A22E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B9A3A07-4AE5-42F7-B778-FA6FD03552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 the table before asking questions</a:t>
            </a:r>
          </a:p>
        </p:txBody>
      </p:sp>
      <p:sp>
        <p:nvSpPr>
          <p:cNvPr id="4" name="">
            <a:extLst xmlns:a="http://schemas.openxmlformats.org/drawingml/2006/main">
              <a:ext uri="{FF2B5EF4-FFF2-40B4-BE49-F238E27FC236}">
                <a16:creationId xmlns:a16="http://schemas.microsoft.com/office/drawing/2014/main" id="{19CAEA3B-CDD2-455B-BFBA-49E0BE37910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17CFA9-9A7F-427A-AED6-8D8DE1C316E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 = pd.DataFrame({"building": ["A", "A", "B",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"kwh": [2, 4,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a:t>
            </a:r>
          </a:p>
        </p:txBody>
      </p:sp>
      <p:sp>
        <p:nvSpPr>
          <p:cNvPr id="6" name="">
            <a:extLst xmlns:a="http://schemas.openxmlformats.org/drawingml/2006/main">
              <a:ext uri="{FF2B5EF4-FFF2-40B4-BE49-F238E27FC236}">
                <a16:creationId xmlns:a16="http://schemas.microsoft.com/office/drawing/2014/main" id="{928CC933-A41D-4BFA-846F-AA4C8C296FE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ECD4BF80-2027-4EB2-A484-4F68AF5611B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Each dictionary key becomes a column name. Equal-length lists supply its rows.</a:t>
            </a:r>
          </a:p>
        </p:txBody>
      </p:sp>
      <p:sp>
        <p:nvSpPr>
          <p:cNvPr id="8" name="">
            <a:extLst xmlns:a="http://schemas.openxmlformats.org/drawingml/2006/main">
              <a:ext uri="{FF2B5EF4-FFF2-40B4-BE49-F238E27FC236}">
                <a16:creationId xmlns:a16="http://schemas.microsoft.com/office/drawing/2014/main" id="{CBD265EC-A82C-44C8-9F17-DDEED004F0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13</a:t>
            </a:r>
          </a:p>
        </p:txBody>
      </p:sp>
    </p:spTree>
    <p:extLst>
      <p:ext uri="{BB962C8B-B14F-4D97-AF65-F5344CB8AC3E}">
        <p14:creationId xmlns:p14="http://schemas.microsoft.com/office/powerpoint/2010/main" val="9620882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4491A1-BCCE-4946-AC39-6ADA2C2525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FCF420-5807-4823-AB42-C1025B16A4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3976BC-442A-430D-9503-E8BCBF6945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a column and calculate its mean</a:t>
            </a:r>
          </a:p>
        </p:txBody>
      </p:sp>
      <p:sp>
        <p:nvSpPr>
          <p:cNvPr id="4" name="">
            <a:extLst xmlns:a="http://schemas.openxmlformats.org/drawingml/2006/main">
              <a:ext uri="{FF2B5EF4-FFF2-40B4-BE49-F238E27FC236}">
                <a16:creationId xmlns:a16="http://schemas.microsoft.com/office/drawing/2014/main" id="{BF7D76FA-305D-499E-87A9-E8078278A09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0448A1-F9C8-48BF-A2A1-A9D1409BAF1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print(df["kwh"].mean())</a:t>
            </a:r>
          </a:p>
        </p:txBody>
      </p:sp>
      <p:sp>
        <p:nvSpPr>
          <p:cNvPr id="6" name="">
            <a:extLst xmlns:a="http://schemas.openxmlformats.org/drawingml/2006/main">
              <a:ext uri="{FF2B5EF4-FFF2-40B4-BE49-F238E27FC236}">
                <a16:creationId xmlns:a16="http://schemas.microsoft.com/office/drawing/2014/main" id="{9DAE06F0-F62C-453C-A8BC-125F0A5C6CE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A510566-E16D-4060-9361-B7D59AEC211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7D66347-A266-48AB-8015-4FE1C653344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CDEDB16C-0C46-4A5B-B20E-3CB1CA4F3BA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four numbers are 2, 4, 5 and 7. Their mean is 18 / 4 = 4.5 kWh.</a:t>
            </a:r>
          </a:p>
        </p:txBody>
      </p:sp>
      <p:sp>
        <p:nvSpPr>
          <p:cNvPr id="10" name="">
            <a:extLst xmlns:a="http://schemas.openxmlformats.org/drawingml/2006/main">
              <a:ext uri="{FF2B5EF4-FFF2-40B4-BE49-F238E27FC236}">
                <a16:creationId xmlns:a16="http://schemas.microsoft.com/office/drawing/2014/main" id="{1FD9C886-070A-43AD-B11F-1FE5857B9E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14</a:t>
            </a:r>
          </a:p>
        </p:txBody>
      </p:sp>
    </p:spTree>
    <p:extLst>
      <p:ext uri="{BB962C8B-B14F-4D97-AF65-F5344CB8AC3E}">
        <p14:creationId xmlns:p14="http://schemas.microsoft.com/office/powerpoint/2010/main" val="173764867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F22F8C-CF65-438F-8B06-4C6D10199F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928E76-9C55-4DDB-868C-D213B7080E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A03E89C-0BF9-466D-9147-A423D59124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Mask and filter</a:t>
            </a:r>
          </a:p>
        </p:txBody>
      </p:sp>
      <p:sp>
        <p:nvSpPr>
          <p:cNvPr id="4" name="">
            <a:extLst xmlns:a="http://schemas.openxmlformats.org/drawingml/2006/main">
              <a:ext uri="{FF2B5EF4-FFF2-40B4-BE49-F238E27FC236}">
                <a16:creationId xmlns:a16="http://schemas.microsoft.com/office/drawing/2014/main" id="{EF73D157-C9FF-4523-A9E4-7D0E4113040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C20AB7-7F13-48A8-A097-FF62B18DD83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Mask and filter</a:t>
            </a:r>
          </a:p>
        </p:txBody>
      </p:sp>
      <p:sp>
        <p:nvSpPr>
          <p:cNvPr id="6" name="">
            <a:extLst xmlns:a="http://schemas.openxmlformats.org/drawingml/2006/main">
              <a:ext uri="{FF2B5EF4-FFF2-40B4-BE49-F238E27FC236}">
                <a16:creationId xmlns:a16="http://schemas.microsoft.com/office/drawing/2014/main" id="{3F76C534-E6EB-4E3B-8F07-7E21B681F37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comparison produces True/False for each row. df[mask] keeps the True rows.</a:t>
            </a:r>
          </a:p>
        </p:txBody>
      </p:sp>
      <p:sp>
        <p:nvSpPr>
          <p:cNvPr id="7" name="">
            <a:extLst xmlns:a="http://schemas.openxmlformats.org/drawingml/2006/main">
              <a:ext uri="{FF2B5EF4-FFF2-40B4-BE49-F238E27FC236}">
                <a16:creationId xmlns:a16="http://schemas.microsoft.com/office/drawing/2014/main" id="{B0D6B9C4-3BA9-46F6-86BB-B8455B80DC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15</a:t>
            </a:r>
          </a:p>
        </p:txBody>
      </p:sp>
    </p:spTree>
    <p:extLst>
      <p:ext uri="{BB962C8B-B14F-4D97-AF65-F5344CB8AC3E}">
        <p14:creationId xmlns:p14="http://schemas.microsoft.com/office/powerpoint/2010/main" val="184907146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75AFCD-1436-4C18-A620-146ADEC3C3B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8FBD63-93E8-473E-A98B-7FC6DCB8C41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comparison creates a Boolean mask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2e7f94e003b44ed"/>
          <a:stretch xmlns:a="http://schemas.openxmlformats.org/drawingml/2006/main"/>
        </p:blipFill>
        <p:spPr>
          <a:xfrm xmlns:a="http://schemas.openxmlformats.org/drawingml/2006/main">
            <a:off x="717043" y="1057275"/>
            <a:ext cx="1075791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AABB941-32A8-4AB5-8913-DD0373A63D7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790DCD-EE10-47CB-B25A-D65A8E566EC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True keeps a row. False excludes it from this selection.</a:t>
            </a:r>
          </a:p>
        </p:txBody>
      </p:sp>
      <p:sp>
        <p:nvSpPr>
          <p:cNvPr id="6" name="">
            <a:extLst xmlns:a="http://schemas.openxmlformats.org/drawingml/2006/main">
              <a:ext uri="{FF2B5EF4-FFF2-40B4-BE49-F238E27FC236}">
                <a16:creationId xmlns:a16="http://schemas.microsoft.com/office/drawing/2014/main" id="{FCEF1654-0CC1-4F37-A79D-046D76F81D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16</a:t>
            </a:r>
          </a:p>
        </p:txBody>
      </p:sp>
    </p:spTree>
    <p:extLst>
      <p:ext uri="{BB962C8B-B14F-4D97-AF65-F5344CB8AC3E}">
        <p14:creationId xmlns:p14="http://schemas.microsoft.com/office/powerpoint/2010/main" val="9422996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0A29D9F-7EB9-4583-BDED-CC1E84E1BE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067EB3-4C73-43CD-8F90-CA2544E123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37F09D2-4947-45AF-903D-9A0FC48237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rows where the comparison is true</a:t>
            </a:r>
          </a:p>
        </p:txBody>
      </p:sp>
      <p:sp>
        <p:nvSpPr>
          <p:cNvPr id="4" name="">
            <a:extLst xmlns:a="http://schemas.openxmlformats.org/drawingml/2006/main">
              <a:ext uri="{FF2B5EF4-FFF2-40B4-BE49-F238E27FC236}">
                <a16:creationId xmlns:a16="http://schemas.microsoft.com/office/drawing/2014/main" id="{1E2B3360-FA03-4DA6-8F87-F1072AEEBCE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A78CEE-A164-4F03-A967-810366FFBA6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df["kwh"] &gt;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print(mask)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print(df[mask])</a:t>
            </a:r>
          </a:p>
        </p:txBody>
      </p:sp>
      <p:sp>
        <p:nvSpPr>
          <p:cNvPr id="6" name="">
            <a:extLst xmlns:a="http://schemas.openxmlformats.org/drawingml/2006/main">
              <a:ext uri="{FF2B5EF4-FFF2-40B4-BE49-F238E27FC236}">
                <a16:creationId xmlns:a16="http://schemas.microsoft.com/office/drawing/2014/main" id="{C083E6E8-1ADF-4BF2-94E5-5D2663B7803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344C1A0-D0D1-47CB-BEE4-DCEDA32B64D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DD4FEF0-343E-47D3-8BCF-16BA0A1E31D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474C85BD-2BD2-481C-B583-F1888442D3B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D87174B-E846-466A-8251-AE7714B696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mask is False, False, True, True. The selected rows contain 5 and 7 kWh.</a:t>
            </a:r>
          </a:p>
        </p:txBody>
      </p:sp>
      <p:sp>
        <p:nvSpPr>
          <p:cNvPr id="11" name="">
            <a:extLst xmlns:a="http://schemas.openxmlformats.org/drawingml/2006/main">
              <a:ext uri="{FF2B5EF4-FFF2-40B4-BE49-F238E27FC236}">
                <a16:creationId xmlns:a16="http://schemas.microsoft.com/office/drawing/2014/main" id="{87C661B8-CCFD-4369-8826-EC3ABD1BE7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17</a:t>
            </a:r>
          </a:p>
        </p:txBody>
      </p:sp>
    </p:spTree>
    <p:extLst>
      <p:ext uri="{BB962C8B-B14F-4D97-AF65-F5344CB8AC3E}">
        <p14:creationId xmlns:p14="http://schemas.microsoft.com/office/powerpoint/2010/main" val="180071756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5D8316-0F87-422B-A845-FEF5324CCD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C2EE61-A05F-4C30-9B74-A78C60EE78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7A099B8-D4E1-44B8-AC8A-E556E835AD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groupby and aggregation</a:t>
            </a:r>
          </a:p>
        </p:txBody>
      </p:sp>
      <p:sp>
        <p:nvSpPr>
          <p:cNvPr id="4" name="">
            <a:extLst xmlns:a="http://schemas.openxmlformats.org/drawingml/2006/main">
              <a:ext uri="{FF2B5EF4-FFF2-40B4-BE49-F238E27FC236}">
                <a16:creationId xmlns:a16="http://schemas.microsoft.com/office/drawing/2014/main" id="{0456CA8B-15E6-475F-83E7-80D7E41551A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3579B3-1DD8-4CF7-A1DE-9FDDFB2871C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groupby and aggregation</a:t>
            </a:r>
          </a:p>
        </p:txBody>
      </p:sp>
      <p:sp>
        <p:nvSpPr>
          <p:cNvPr id="6" name="">
            <a:extLst xmlns:a="http://schemas.openxmlformats.org/drawingml/2006/main">
              <a:ext uri="{FF2B5EF4-FFF2-40B4-BE49-F238E27FC236}">
                <a16:creationId xmlns:a16="http://schemas.microsoft.com/office/drawing/2014/main" id="{7C854CFE-ED6C-4E5D-8DD9-3372B86D833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groupby collects rows with the same label. An aggregation such as sum or mean returns a summary for each group.</a:t>
            </a:r>
          </a:p>
        </p:txBody>
      </p:sp>
      <p:sp>
        <p:nvSpPr>
          <p:cNvPr id="7" name="">
            <a:extLst xmlns:a="http://schemas.openxmlformats.org/drawingml/2006/main">
              <a:ext uri="{FF2B5EF4-FFF2-40B4-BE49-F238E27FC236}">
                <a16:creationId xmlns:a16="http://schemas.microsoft.com/office/drawing/2014/main" id="{F827DD80-23DF-4157-BC92-8BF065776C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18</a:t>
            </a:r>
          </a:p>
        </p:txBody>
      </p:sp>
    </p:spTree>
    <p:extLst>
      <p:ext uri="{BB962C8B-B14F-4D97-AF65-F5344CB8AC3E}">
        <p14:creationId xmlns:p14="http://schemas.microsoft.com/office/powerpoint/2010/main" val="43585457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82B206-E1A7-4AB2-964E-C9D7855C38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6F79CF-4371-45E8-99D5-2D76763D49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EE6163-F60B-4467-B696-0DB9FFAD25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Selection and grouping answer different questions</a:t>
            </a:r>
          </a:p>
        </p:txBody>
      </p:sp>
      <p:sp>
        <p:nvSpPr>
          <p:cNvPr id="4" name="">
            <a:extLst xmlns:a="http://schemas.openxmlformats.org/drawingml/2006/main">
              <a:ext uri="{FF2B5EF4-FFF2-40B4-BE49-F238E27FC236}">
                <a16:creationId xmlns:a16="http://schemas.microsoft.com/office/drawing/2014/main" id="{DE6C3BE9-6B2D-4979-B258-7802C6241F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08BF61-B584-473E-A45B-75473AB9865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produces True or False for every row.</a:t>
            </a:r>
          </a:p>
        </p:txBody>
      </p:sp>
      <p:sp>
        <p:nvSpPr>
          <p:cNvPr id="6" name="">
            <a:extLst xmlns:a="http://schemas.openxmlformats.org/drawingml/2006/main">
              <a:ext uri="{FF2B5EF4-FFF2-40B4-BE49-F238E27FC236}">
                <a16:creationId xmlns:a16="http://schemas.microsoft.com/office/drawing/2014/main" id="{9DB10714-ABD4-4777-8E47-55F72A039CD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955DD50-F358-400C-8DF7-41FEDEA4C68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Filtering keeps rows whose comparison is True.</a:t>
            </a:r>
          </a:p>
        </p:txBody>
      </p:sp>
      <p:sp>
        <p:nvSpPr>
          <p:cNvPr id="8" name="">
            <a:extLst xmlns:a="http://schemas.openxmlformats.org/drawingml/2006/main">
              <a:ext uri="{FF2B5EF4-FFF2-40B4-BE49-F238E27FC236}">
                <a16:creationId xmlns:a16="http://schemas.microsoft.com/office/drawing/2014/main" id="{362FC1C8-D10A-48A1-A768-71D6E04D6E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840D6C-0070-4F2D-AD22-4E2F637A448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collects rows with the same label before calculating a total or mean.</a:t>
            </a:r>
          </a:p>
        </p:txBody>
      </p:sp>
      <p:sp>
        <p:nvSpPr>
          <p:cNvPr id="10" name="">
            <a:extLst xmlns:a="http://schemas.openxmlformats.org/drawingml/2006/main">
              <a:ext uri="{FF2B5EF4-FFF2-40B4-BE49-F238E27FC236}">
                <a16:creationId xmlns:a16="http://schemas.microsoft.com/office/drawing/2014/main" id="{71A277FB-50D4-4571-8030-F659F650FD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19</a:t>
            </a:r>
          </a:p>
        </p:txBody>
      </p:sp>
    </p:spTree>
    <p:extLst>
      <p:ext uri="{BB962C8B-B14F-4D97-AF65-F5344CB8AC3E}">
        <p14:creationId xmlns:p14="http://schemas.microsoft.com/office/powerpoint/2010/main" val="67224107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95A6F8-4C1E-451F-95CC-693124D201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CEA34F-AEB2-45D2-959C-B4B0FAB645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C6D6644-4976-4E67-850E-C312339C82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chained expression is several small steps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 type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Group</a:t>
                      </a:r>
                    </a:p>
                  </a:txBody>
                  <a:tcPr marL="91440" marR="91440" marT="45720" marB="45720">
                    <a:solidFill>
                      <a:srgbClr val="EEF3F6"/>
                    </a:solidFill>
                  </a:tcPr>
                </a:tc>
                <a:tc>
                  <a:txBody>
                    <a:bodyPr/>
                    <a:lstStyle/>
                    <a:p>
                      <a:r>
                        <a:rPr sz="2025" b="0">
                          <a:solidFill>
                            <a:srgbClr val="1C3144"/>
                          </a:solidFill>
                          <a:latin typeface="Calibri"/>
                          <a:ea typeface="Calibri"/>
                          <a:cs typeface="Calibri"/>
                        </a:rPr>
                        <a:t>df.groupby("building")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Grouped rows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Select</a:t>
                      </a:r>
                    </a:p>
                  </a:txBody>
                  <a:tcPr marL="91440" marR="91440" marT="45720" marB="45720">
                    <a:solidFill>
                      <a:srgbClr val="FFFFFF"/>
                    </a:solidFill>
                  </a:tcPr>
                </a:tc>
                <a:tc>
                  <a:txBody>
                    <a:bodyPr/>
                    <a:lstStyle/>
                    <a:p>
                      <a:r>
                        <a:rPr sz="2025" b="0">
                          <a:solidFill>
                            <a:srgbClr val="1C3144"/>
                          </a:solidFill>
                          <a:latin typeface="Calibri"/>
                          <a:ea typeface="Calibri"/>
                          <a:cs typeface="Calibri"/>
                        </a:rPr>
                        <a:t>["kwh"]</a:t>
                      </a:r>
                    </a:p>
                  </a:txBody>
                  <a:tcPr marL="91440" marR="91440" marT="45720" marB="45720">
                    <a:solidFill>
                      <a:srgbClr val="FFFFFF"/>
                    </a:solidFill>
                  </a:tcPr>
                </a:tc>
                <a:tc>
                  <a:txBody>
                    <a:bodyPr/>
                    <a:lstStyle/>
                    <a:p>
                      <a:r>
                        <a:rPr sz="2025" b="0">
                          <a:solidFill>
                            <a:srgbClr val="1C3144"/>
                          </a:solidFill>
                          <a:latin typeface="Calibri"/>
                          <a:ea typeface="Calibri"/>
                          <a:cs typeface="Calibri"/>
                        </a:rPr>
                        <a:t>One measurement per row</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.sum()</a:t>
                      </a:r>
                    </a:p>
                  </a:txBody>
                  <a:tcPr marL="91440" marR="91440" marT="45720" marB="45720">
                    <a:solidFill>
                      <a:srgbClr val="EEF3F6"/>
                    </a:solidFill>
                  </a:tcPr>
                </a:tc>
                <a:tc>
                  <a:txBody>
                    <a:bodyPr/>
                    <a:lstStyle/>
                    <a:p>
                      <a:r>
                        <a:rPr sz="2025" b="0">
                          <a:solidFill>
                            <a:srgbClr val="1C3144"/>
                          </a:solidFill>
                          <a:latin typeface="Calibri"/>
                          <a:ea typeface="Calibri"/>
                          <a:cs typeface="Calibri"/>
                        </a:rPr>
                        <a:t>A total for each group</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Find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.idxmax()</a:t>
                      </a:r>
                    </a:p>
                  </a:txBody>
                  <a:tcPr marL="91440" marR="91440" marT="45720" marB="45720">
                    <a:solidFill>
                      <a:srgbClr val="FFFFFF"/>
                    </a:solidFill>
                  </a:tcPr>
                </a:tc>
                <a:tc>
                  <a:txBody>
                    <a:bodyPr/>
                    <a:lstStyle/>
                    <a:p>
                      <a:r>
                        <a:rPr sz="2025" b="0">
                          <a:solidFill>
                            <a:srgbClr val="1C3144"/>
                          </a:solidFill>
                          <a:latin typeface="Calibri"/>
                          <a:ea typeface="Calibri"/>
                          <a:cs typeface="Calibri"/>
                        </a:rPr>
                        <a:t>Label of a largest total</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E81EB34-DB50-49E3-BDF8-053A717FE28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Read the chain from left to right. State how a tie should be handled before relying on one label.</a:t>
            </a:r>
          </a:p>
        </p:txBody>
      </p:sp>
      <p:sp>
        <p:nvSpPr>
          <p:cNvPr id="6" name="">
            <a:extLst xmlns:a="http://schemas.openxmlformats.org/drawingml/2006/main">
              <a:ext uri="{FF2B5EF4-FFF2-40B4-BE49-F238E27FC236}">
                <a16:creationId xmlns:a16="http://schemas.microsoft.com/office/drawing/2014/main" id="{3564D571-ABE3-4213-A63B-EFE488099A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20</a:t>
            </a:r>
          </a:p>
        </p:txBody>
      </p:sp>
    </p:spTree>
    <p:extLst>
      <p:ext uri="{BB962C8B-B14F-4D97-AF65-F5344CB8AC3E}">
        <p14:creationId xmlns:p14="http://schemas.microsoft.com/office/powerpoint/2010/main" val="5675530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803FD5-6597-4C5D-91D8-ACF0DCE20E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CEA053-E29F-456F-B0CA-EF53926231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A4CD35-2824-42F5-8D01-F39501CE9D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Calculate one total for each building</a:t>
            </a:r>
          </a:p>
        </p:txBody>
      </p:sp>
      <p:sp>
        <p:nvSpPr>
          <p:cNvPr id="4" name="">
            <a:extLst xmlns:a="http://schemas.openxmlformats.org/drawingml/2006/main">
              <a:ext uri="{FF2B5EF4-FFF2-40B4-BE49-F238E27FC236}">
                <a16:creationId xmlns:a16="http://schemas.microsoft.com/office/drawing/2014/main" id="{B8199459-C9D8-4EF2-9BA6-60B663D6C47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33DA45-2C62-41C6-9BAE-E89EE76539A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print(df.groupby("building")["kwh"].sum())</a:t>
            </a:r>
          </a:p>
        </p:txBody>
      </p:sp>
      <p:sp>
        <p:nvSpPr>
          <p:cNvPr id="6" name="">
            <a:extLst xmlns:a="http://schemas.openxmlformats.org/drawingml/2006/main">
              <a:ext uri="{FF2B5EF4-FFF2-40B4-BE49-F238E27FC236}">
                <a16:creationId xmlns:a16="http://schemas.microsoft.com/office/drawing/2014/main" id="{53B456CC-D881-4906-986C-1A1F6433201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D86F193-44A6-41E6-A5E6-FA5FE85EED3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E308802-D40D-43B9-8135-80212367BC9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6F838029-1706-499E-BF4F-A74FE6998FA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totals 6 kWh; B totals 12 kWh.</a:t>
            </a:r>
          </a:p>
        </p:txBody>
      </p:sp>
      <p:sp>
        <p:nvSpPr>
          <p:cNvPr id="10" name="">
            <a:extLst xmlns:a="http://schemas.openxmlformats.org/drawingml/2006/main">
              <a:ext uri="{FF2B5EF4-FFF2-40B4-BE49-F238E27FC236}">
                <a16:creationId xmlns:a16="http://schemas.microsoft.com/office/drawing/2014/main" id="{DEA81F29-00E1-49F4-A393-73D8365C30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21</a:t>
            </a:r>
          </a:p>
        </p:txBody>
      </p:sp>
    </p:spTree>
    <p:extLst>
      <p:ext uri="{BB962C8B-B14F-4D97-AF65-F5344CB8AC3E}">
        <p14:creationId xmlns:p14="http://schemas.microsoft.com/office/powerpoint/2010/main" val="30828913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C8173B5-1B55-41BF-8ADC-D1F764EE53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F6329D-95B6-45E2-9E59-85B0DD0774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56FC3B42-F52F-48B3-A23D-A2B6A42EE7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994A8C66-0D3F-42EC-898C-11F49E0C692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A1E8CB-DF73-42D4-8905-BD38B5E29E9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Mean 4.5. The filter keeps B rows with 5 and 7. Group totals: A = 6, B = 12 kWh.</a:t>
            </a:r>
          </a:p>
        </p:txBody>
      </p:sp>
      <p:sp>
        <p:nvSpPr>
          <p:cNvPr id="6" name="">
            <a:extLst xmlns:a="http://schemas.openxmlformats.org/drawingml/2006/main">
              <a:ext uri="{FF2B5EF4-FFF2-40B4-BE49-F238E27FC236}">
                <a16:creationId xmlns:a16="http://schemas.microsoft.com/office/drawing/2014/main" id="{F8FF43FE-63A8-4D5D-AA2D-4DE6752FDA9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B3467AD-DA05-4434-85CF-72A2891C28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22</a:t>
            </a:r>
          </a:p>
        </p:txBody>
      </p:sp>
    </p:spTree>
    <p:extLst>
      <p:ext uri="{BB962C8B-B14F-4D97-AF65-F5344CB8AC3E}">
        <p14:creationId xmlns:p14="http://schemas.microsoft.com/office/powerpoint/2010/main" val="11032017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0B9AB9-D6A6-44D2-B8BE-BD3B85BE38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B3FE99-617B-4750-8D93-52C9B1A96C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0102EC-231E-4516-B321-A2A6823546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a:t>
            </a:r>
          </a:p>
        </p:txBody>
      </p:sp>
      <p:sp>
        <p:nvSpPr>
          <p:cNvPr id="4" name="">
            <a:extLst xmlns:a="http://schemas.openxmlformats.org/drawingml/2006/main">
              <a:ext uri="{FF2B5EF4-FFF2-40B4-BE49-F238E27FC236}">
                <a16:creationId xmlns:a16="http://schemas.microsoft.com/office/drawing/2014/main" id="{CB2BD3C7-8E25-4ACD-BB0A-47D7AA9C024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7A8F0C-88E2-4526-9353-7664F073099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AFEA18-920F-4D3B-9A91-AA351467E0B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labels, not rows. idxmax returns the label of the largest total.</a:t>
            </a:r>
          </a:p>
        </p:txBody>
      </p:sp>
      <p:sp>
        <p:nvSpPr>
          <p:cNvPr id="7" name="">
            <a:extLst xmlns:a="http://schemas.openxmlformats.org/drawingml/2006/main">
              <a:ext uri="{FF2B5EF4-FFF2-40B4-BE49-F238E27FC236}">
                <a16:creationId xmlns:a16="http://schemas.microsoft.com/office/drawing/2014/main" id="{B640557F-94A2-409D-93EE-411C3817F1A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there is no tie.</a:t>
            </a:r>
          </a:p>
        </p:txBody>
      </p:sp>
      <p:sp>
        <p:nvSpPr>
          <p:cNvPr id="8" name="">
            <a:extLst xmlns:a="http://schemas.openxmlformats.org/drawingml/2006/main">
              <a:ext uri="{FF2B5EF4-FFF2-40B4-BE49-F238E27FC236}">
                <a16:creationId xmlns:a16="http://schemas.microsoft.com/office/drawing/2014/main" id="{C1C97031-39C3-45D8-91B3-172E1B9398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23</a:t>
            </a:r>
          </a:p>
        </p:txBody>
      </p:sp>
    </p:spTree>
    <p:extLst>
      <p:ext uri="{BB962C8B-B14F-4D97-AF65-F5344CB8AC3E}">
        <p14:creationId xmlns:p14="http://schemas.microsoft.com/office/powerpoint/2010/main" val="146205863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81A50C0-1408-47C7-8A99-D0A5C8DB14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9CEFCC-C003-4A3D-B48C-E99CE39BA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0D96F80-23BD-446B-AEBA-8615078EE8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 in Python</a:t>
            </a:r>
          </a:p>
        </p:txBody>
      </p:sp>
      <p:sp>
        <p:nvSpPr>
          <p:cNvPr id="4" name="">
            <a:extLst xmlns:a="http://schemas.openxmlformats.org/drawingml/2006/main">
              <a:ext uri="{FF2B5EF4-FFF2-40B4-BE49-F238E27FC236}">
                <a16:creationId xmlns:a16="http://schemas.microsoft.com/office/drawing/2014/main" id="{06D962F4-9586-4FA4-960D-029F76825B3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31281E-4B41-465F-9981-D216A6480C0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print(df["building"].nunique())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totals = df.groupby("building")["kwh"].sum()</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7918218D-20EF-42B1-A133-CE5A76ECEE6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7C8D9A0-167A-476C-B7DD-7189A3AFE36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CF64FC3-32D7-4328-826C-3E09A9A1BB7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B3DA13C9-B039-42BD-9DC9-489393ECA44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8427B30C-BA2A-4CB4-A0C6-EB0E42EA4AC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5445C72E-853A-48D0-BCFD-5FF000AF9B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24</a:t>
            </a:r>
          </a:p>
        </p:txBody>
      </p:sp>
    </p:spTree>
    <p:extLst>
      <p:ext uri="{BB962C8B-B14F-4D97-AF65-F5344CB8AC3E}">
        <p14:creationId xmlns:p14="http://schemas.microsoft.com/office/powerpoint/2010/main" val="122969553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19B62C-9294-41E8-B806-D94D0CF0BA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1D802E-784E-416C-9CE8-B0D4462F16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E43CAE-B995-46BD-A5EC-272C1C8740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 column from two existing columns</a:t>
            </a:r>
          </a:p>
        </p:txBody>
      </p:sp>
      <p:sp>
        <p:nvSpPr>
          <p:cNvPr id="4" name="">
            <a:extLst xmlns:a="http://schemas.openxmlformats.org/drawingml/2006/main">
              <a:ext uri="{FF2B5EF4-FFF2-40B4-BE49-F238E27FC236}">
                <a16:creationId xmlns:a16="http://schemas.microsoft.com/office/drawing/2014/main" id="{C596E71E-D865-4B8F-A083-993BED286EB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911204-63E7-4BD7-A411-A11966AF003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69B096A-212A-42A0-AE72-D25C20E12BE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new column can store a calculation for every row. Division pairs the values in matching rows.</a:t>
            </a:r>
          </a:p>
        </p:txBody>
      </p:sp>
      <p:sp>
        <p:nvSpPr>
          <p:cNvPr id="7" name="">
            <a:extLst xmlns:a="http://schemas.openxmlformats.org/drawingml/2006/main">
              <a:ext uri="{FF2B5EF4-FFF2-40B4-BE49-F238E27FC236}">
                <a16:creationId xmlns:a16="http://schemas.microsoft.com/office/drawing/2014/main" id="{F051F339-E79B-4B25-8F3E-C03BA2296F9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invented table all energy values are positive. UGX is Uganda shillings. Cost divided by energy has units UGX/kWh.</a:t>
            </a:r>
          </a:p>
        </p:txBody>
      </p:sp>
      <p:sp>
        <p:nvSpPr>
          <p:cNvPr id="8" name="">
            <a:extLst xmlns:a="http://schemas.openxmlformats.org/drawingml/2006/main">
              <a:ext uri="{FF2B5EF4-FFF2-40B4-BE49-F238E27FC236}">
                <a16:creationId xmlns:a16="http://schemas.microsoft.com/office/drawing/2014/main" id="{FFDE9EEF-5718-432F-BC1D-E74DAD89D3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25</a:t>
            </a:r>
          </a:p>
        </p:txBody>
      </p:sp>
    </p:spTree>
    <p:extLst>
      <p:ext uri="{BB962C8B-B14F-4D97-AF65-F5344CB8AC3E}">
        <p14:creationId xmlns:p14="http://schemas.microsoft.com/office/powerpoint/2010/main" val="173309054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37C82B-7910-4DB5-9403-8E5A94A483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1ADE99-B87D-4AF4-9A43-7644F80C06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DAFC65-BC7B-4F2B-8015-0975774A41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energy rate is cost divided by energy</a:t>
            </a:r>
          </a:p>
        </p:txBody>
      </p:sp>
      <p:sp>
        <p:nvSpPr>
          <p:cNvPr id="4" name="">
            <a:extLst xmlns:a="http://schemas.openxmlformats.org/drawingml/2006/main">
              <a:ext uri="{FF2B5EF4-FFF2-40B4-BE49-F238E27FC236}">
                <a16:creationId xmlns:a16="http://schemas.microsoft.com/office/drawing/2014/main" id="{DD0FC5CC-A362-4F06-8FB9-3D0605D0334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2C0DC3-695E-485D-AD6D-C9C88C45B29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df["cost_ugx"] = [1000, 2400, 3500, 5600]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df["rate_ugx_per_kwh"] = df["cost_ugx"] / 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print(df["rate_ugx_per_kwh"])</a:t>
            </a:r>
          </a:p>
        </p:txBody>
      </p:sp>
      <p:sp>
        <p:nvSpPr>
          <p:cNvPr id="6" name="">
            <a:extLst xmlns:a="http://schemas.openxmlformats.org/drawingml/2006/main">
              <a:ext uri="{FF2B5EF4-FFF2-40B4-BE49-F238E27FC236}">
                <a16:creationId xmlns:a16="http://schemas.microsoft.com/office/drawing/2014/main" id="{AA53A923-7B12-4817-85BC-FB1947E5B97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A2D27736-2EF4-4C92-B7F2-5BBAF5D683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rates: 500, 600, 700 and 800 UGX/kWh. Keep units in column names.</a:t>
            </a:r>
          </a:p>
        </p:txBody>
      </p:sp>
      <p:sp>
        <p:nvSpPr>
          <p:cNvPr id="8" name="">
            <a:extLst xmlns:a="http://schemas.openxmlformats.org/drawingml/2006/main">
              <a:ext uri="{FF2B5EF4-FFF2-40B4-BE49-F238E27FC236}">
                <a16:creationId xmlns:a16="http://schemas.microsoft.com/office/drawing/2014/main" id="{9D2A009F-6632-4EE4-AEE9-1D1F6C342C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26</a:t>
            </a:r>
          </a:p>
        </p:txBody>
      </p:sp>
    </p:spTree>
    <p:extLst>
      <p:ext uri="{BB962C8B-B14F-4D97-AF65-F5344CB8AC3E}">
        <p14:creationId xmlns:p14="http://schemas.microsoft.com/office/powerpoint/2010/main" val="75637888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F19E39-608C-4196-A102-7FD21F1A94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8D11B0-2D96-418A-9852-D39B5C502B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AE37FB-5FD3-45DE-9FB3-B4F5F31E62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the assignment table before analysing it</a:t>
            </a:r>
          </a:p>
        </p:txBody>
      </p:sp>
      <p:sp>
        <p:nvSpPr>
          <p:cNvPr id="4" name="">
            <a:extLst xmlns:a="http://schemas.openxmlformats.org/drawingml/2006/main">
              <a:ext uri="{FF2B5EF4-FFF2-40B4-BE49-F238E27FC236}">
                <a16:creationId xmlns:a16="http://schemas.microsoft.com/office/drawing/2014/main" id="{0F51280B-E30E-4262-9484-8C38FA82D7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F65801-808F-4078-84B4-68A1BFF4E2B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campus_energy.csv to the current runtime first. read_csv reads it into a new DataFrame.</a:t>
            </a:r>
          </a:p>
        </p:txBody>
      </p:sp>
      <p:sp>
        <p:nvSpPr>
          <p:cNvPr id="6" name="">
            <a:extLst xmlns:a="http://schemas.openxmlformats.org/drawingml/2006/main">
              <a:ext uri="{FF2B5EF4-FFF2-40B4-BE49-F238E27FC236}">
                <a16:creationId xmlns:a16="http://schemas.microsoft.com/office/drawing/2014/main" id="{B929BDD7-FB5A-4C2F-8281-4632DCE4D17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86F1EC-F656-49A2-B98C-2B4960F1BC2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head() displays the first five rows; shape gives row and column counts; dtypes shows column data types.</a:t>
            </a:r>
          </a:p>
        </p:txBody>
      </p:sp>
      <p:sp>
        <p:nvSpPr>
          <p:cNvPr id="8" name="">
            <a:extLst xmlns:a="http://schemas.openxmlformats.org/drawingml/2006/main">
              <a:ext uri="{FF2B5EF4-FFF2-40B4-BE49-F238E27FC236}">
                <a16:creationId xmlns:a16="http://schemas.microsoft.com/office/drawing/2014/main" id="{3CB65B19-AAFD-4313-82CC-8C748CB7608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B826B1-86AC-4BAE-A5F4-450B463B69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call this issued_table to keep it separate from the invented four-row df used above.</a:t>
            </a:r>
          </a:p>
        </p:txBody>
      </p:sp>
      <p:sp>
        <p:nvSpPr>
          <p:cNvPr id="10" name="">
            <a:extLst xmlns:a="http://schemas.openxmlformats.org/drawingml/2006/main">
              <a:ext uri="{FF2B5EF4-FFF2-40B4-BE49-F238E27FC236}">
                <a16:creationId xmlns:a16="http://schemas.microsoft.com/office/drawing/2014/main" id="{FEA3A1FD-1549-4553-80E3-5F139ADAB3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27</a:t>
            </a:r>
          </a:p>
        </p:txBody>
      </p:sp>
    </p:spTree>
    <p:extLst>
      <p:ext uri="{BB962C8B-B14F-4D97-AF65-F5344CB8AC3E}">
        <p14:creationId xmlns:p14="http://schemas.microsoft.com/office/powerpoint/2010/main" val="136332242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F84E23-3DB2-4A33-B90A-E23258FA45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69CD33-532A-4D81-A7E4-0F964CC0AB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72C9EBD-5BE2-46FB-B5A8-D0029F8FC3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supplied energy file</a:t>
            </a:r>
          </a:p>
        </p:txBody>
      </p:sp>
      <p:sp>
        <p:nvSpPr>
          <p:cNvPr id="4" name="">
            <a:extLst xmlns:a="http://schemas.openxmlformats.org/drawingml/2006/main">
              <a:ext uri="{FF2B5EF4-FFF2-40B4-BE49-F238E27FC236}">
                <a16:creationId xmlns:a16="http://schemas.microsoft.com/office/drawing/2014/main" id="{40EDE63F-D66C-42B2-BA48-33B6A0AC8C4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0AE8AA-8AA4-4DE0-9B70-5E57CF53169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issued_table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print(issued_table.dtypes)</a:t>
            </a:r>
          </a:p>
        </p:txBody>
      </p:sp>
      <p:sp>
        <p:nvSpPr>
          <p:cNvPr id="6" name="">
            <a:extLst xmlns:a="http://schemas.openxmlformats.org/drawingml/2006/main">
              <a:ext uri="{FF2B5EF4-FFF2-40B4-BE49-F238E27FC236}">
                <a16:creationId xmlns:a16="http://schemas.microsoft.com/office/drawing/2014/main" id="{E9C67B06-6155-428F-9D0D-8035EB71D7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AE9CC32D-23BA-4862-8882-1ECD4CC889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Check column names, data types and units before attempting the six issued tasks.</a:t>
            </a:r>
          </a:p>
        </p:txBody>
      </p:sp>
      <p:sp>
        <p:nvSpPr>
          <p:cNvPr id="8" name="">
            <a:extLst xmlns:a="http://schemas.openxmlformats.org/drawingml/2006/main">
              <a:ext uri="{FF2B5EF4-FFF2-40B4-BE49-F238E27FC236}">
                <a16:creationId xmlns:a16="http://schemas.microsoft.com/office/drawing/2014/main" id="{4A79131F-8EA6-4A8A-947D-B4782ADFB8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28</a:t>
            </a:r>
          </a:p>
        </p:txBody>
      </p:sp>
    </p:spTree>
    <p:extLst>
      <p:ext uri="{BB962C8B-B14F-4D97-AF65-F5344CB8AC3E}">
        <p14:creationId xmlns:p14="http://schemas.microsoft.com/office/powerpoint/2010/main" val="192848591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2E13DBD-4E29-4335-9D10-5A8104AEBA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54720A-CCF4-4253-BBC0-52B358EFD7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E7254BF1-3789-4ADD-BEE3-FF0749D129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groupby</a:t>
            </a:r>
          </a:p>
        </p:txBody>
      </p:sp>
      <p:sp>
        <p:nvSpPr>
          <p:cNvPr id="4" name="">
            <a:extLst xmlns:a="http://schemas.openxmlformats.org/drawingml/2006/main">
              <a:ext uri="{FF2B5EF4-FFF2-40B4-BE49-F238E27FC236}">
                <a16:creationId xmlns:a16="http://schemas.microsoft.com/office/drawing/2014/main" id="{83AFBC96-1FA9-46EC-BD51-96204B6FA45B}"/>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B164C2-78E6-4974-B022-58B406E431B7}"/>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four cards: A:2, A:4, B:5, B:7. Values are kWh.</a:t>
            </a:r>
          </a:p>
        </p:txBody>
      </p:sp>
      <p:sp>
        <p:nvSpPr>
          <p:cNvPr id="6" name="">
            <a:extLst xmlns:a="http://schemas.openxmlformats.org/drawingml/2006/main">
              <a:ext uri="{FF2B5EF4-FFF2-40B4-BE49-F238E27FC236}">
                <a16:creationId xmlns:a16="http://schemas.microsoft.com/office/drawing/2014/main" id="{55D0ABE8-17ED-497E-82A5-9CCF66044BFF}"/>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DF2540-4711-4E9E-B317-05751DF51DCB}"/>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matching building labels together and add each pile.</a:t>
            </a:r>
          </a:p>
        </p:txBody>
      </p:sp>
      <p:sp>
        <p:nvSpPr>
          <p:cNvPr id="8" name="">
            <a:extLst xmlns:a="http://schemas.openxmlformats.org/drawingml/2006/main">
              <a:ext uri="{FF2B5EF4-FFF2-40B4-BE49-F238E27FC236}">
                <a16:creationId xmlns:a16="http://schemas.microsoft.com/office/drawing/2014/main" id="{D62A47BA-842F-4B2F-9762-875D43ABC2BA}"/>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10A113-7E69-401F-A406-D3C64AB45987}"/>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Which pile has the greatest total? How many distinct buildings?</a:t>
            </a:r>
          </a:p>
        </p:txBody>
      </p:sp>
      <p:sp>
        <p:nvSpPr>
          <p:cNvPr id="10" name="">
            <a:extLst xmlns:a="http://schemas.openxmlformats.org/drawingml/2006/main">
              <a:ext uri="{FF2B5EF4-FFF2-40B4-BE49-F238E27FC236}">
                <a16:creationId xmlns:a16="http://schemas.microsoft.com/office/drawing/2014/main" id="{7ACD1AA4-973D-4E2D-9B8B-9A5E2C2AC31A}"/>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760BF8A-63F4-48E8-A77D-D2241A5C6766}"/>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0A3CAB55-DE71-46D1-AB7A-3811CFD78D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29</a:t>
            </a:r>
          </a:p>
        </p:txBody>
      </p:sp>
    </p:spTree>
    <p:extLst>
      <p:ext uri="{BB962C8B-B14F-4D97-AF65-F5344CB8AC3E}">
        <p14:creationId xmlns:p14="http://schemas.microsoft.com/office/powerpoint/2010/main" val="41326194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07CFE39-4984-4882-A452-5539B9AE25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89BC6A-13AC-49A2-AB9F-8F498FBBCF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796D0B44-52A1-4531-A256-4429135DBD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F79D1288-B037-4310-A72A-BA2C0630C5C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937F7F-087B-4700-9082-3E06CAC14EC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A totals 6 kWh. B totals 12 kWh. B is largest and there are 2 distinct buildings.</a:t>
            </a:r>
          </a:p>
        </p:txBody>
      </p:sp>
      <p:sp>
        <p:nvSpPr>
          <p:cNvPr id="6" name="">
            <a:extLst xmlns:a="http://schemas.openxmlformats.org/drawingml/2006/main">
              <a:ext uri="{FF2B5EF4-FFF2-40B4-BE49-F238E27FC236}">
                <a16:creationId xmlns:a16="http://schemas.microsoft.com/office/drawing/2014/main" id="{83DA0506-8160-4A86-B54D-74BC50265DB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39DBB7D-4702-49DF-8499-5D5DCE491D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30</a:t>
            </a:r>
          </a:p>
        </p:txBody>
      </p:sp>
    </p:spTree>
    <p:extLst>
      <p:ext uri="{BB962C8B-B14F-4D97-AF65-F5344CB8AC3E}">
        <p14:creationId xmlns:p14="http://schemas.microsoft.com/office/powerpoint/2010/main" val="443688672"/>
      </p:ext>
    </p:extLst>
  </p:cSld>
</p:sld>
</file>

<file path=ppt/slides/slide3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18B310-2502-4FB5-A81C-AFC8C2E964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3F23D6B5-AB31-4354-9364-C1973569FB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0016B10D-A5EF-4F60-B3FF-6ED75364DB1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62A1FB26-74CF-4741-915B-A4F52D2553B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Use &gt; 5 instead. Predict the surviving rows. Which building has the largest total?</a:t>
            </a:r>
          </a:p>
        </p:txBody>
      </p:sp>
      <p:sp>
        <p:nvSpPr>
          <p:cNvPr id="5" name="">
            <a:extLst xmlns:a="http://schemas.openxmlformats.org/drawingml/2006/main">
              <a:ext uri="{FF2B5EF4-FFF2-40B4-BE49-F238E27FC236}">
                <a16:creationId xmlns:a16="http://schemas.microsoft.com/office/drawing/2014/main" id="{CCADB12F-30CC-4957-AE68-DDCAA6101C9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99BF2EFC-13C2-4D61-863F-0541908392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5   31</a:t>
            </a:r>
          </a:p>
        </p:txBody>
      </p:sp>
    </p:spTree>
    <p:extLst>
      <p:ext uri="{BB962C8B-B14F-4D97-AF65-F5344CB8AC3E}">
        <p14:creationId xmlns:p14="http://schemas.microsoft.com/office/powerpoint/2010/main" val="75858569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A14375-9808-4267-9231-377F7E8A9B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668E71-2F00-495F-9CBF-FD91677ACC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3D495FD7-CE81-4FBD-A98B-9FAA84AFEE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4BAE840A-344C-4B8A-AF93-86D84E02108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275E48-5C8D-4B45-9A13-97ECEEBBA61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Only the row with 7 survives. Building B has the larger total, 12 kWh.</a:t>
            </a:r>
          </a:p>
        </p:txBody>
      </p:sp>
      <p:sp>
        <p:nvSpPr>
          <p:cNvPr id="6" name="">
            <a:extLst xmlns:a="http://schemas.openxmlformats.org/drawingml/2006/main">
              <a:ext uri="{FF2B5EF4-FFF2-40B4-BE49-F238E27FC236}">
                <a16:creationId xmlns:a16="http://schemas.microsoft.com/office/drawing/2014/main" id="{0394932C-13AD-4387-BE11-8C339943856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7234705-ADBA-4A74-840C-C2532316C3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32</a:t>
            </a:r>
          </a:p>
        </p:txBody>
      </p:sp>
    </p:spTree>
    <p:extLst>
      <p:ext uri="{BB962C8B-B14F-4D97-AF65-F5344CB8AC3E}">
        <p14:creationId xmlns:p14="http://schemas.microsoft.com/office/powerpoint/2010/main" val="164826001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96E136-7AC5-4107-99A7-9AAD4B2D22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0A8672-9F26-4851-9968-494E453C6E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E122AAC-61C2-42CD-8C69-328C71E4B9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4B68C41-0C54-4D27-8223-97735FDF7D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3D4CC8-7C6C-4688-933F-27497F77B7C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A5 uses the supplied fictional campus_energy.csv, not a live Kaggle download.</a:t>
            </a:r>
          </a:p>
        </p:txBody>
      </p:sp>
      <p:sp>
        <p:nvSpPr>
          <p:cNvPr id="6" name="">
            <a:extLst xmlns:a="http://schemas.openxmlformats.org/drawingml/2006/main">
              <a:ext uri="{FF2B5EF4-FFF2-40B4-BE49-F238E27FC236}">
                <a16:creationId xmlns:a16="http://schemas.microsoft.com/office/drawing/2014/main" id="{6E68EC2E-F229-468C-8A76-B12F73BA662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0071D2-0057-45EA-B62B-401A9C38A03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six tasks use read_csv, nunique, division of columns, a &gt; filter, mean and grouped totals. idxmax returns the label of the largest value.</a:t>
            </a:r>
          </a:p>
        </p:txBody>
      </p:sp>
      <p:sp>
        <p:nvSpPr>
          <p:cNvPr id="8" name="">
            <a:extLst xmlns:a="http://schemas.openxmlformats.org/drawingml/2006/main">
              <a:ext uri="{FF2B5EF4-FFF2-40B4-BE49-F238E27FC236}">
                <a16:creationId xmlns:a16="http://schemas.microsoft.com/office/drawing/2014/main" id="{3CCB152B-360B-4FF1-8BFF-F37A0422EBF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0C738F-1596-4CC4-9856-2F135490DE7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of individual rates gives each observation equal weight.</a:t>
            </a:r>
          </a:p>
        </p:txBody>
      </p:sp>
      <p:sp>
        <p:nvSpPr>
          <p:cNvPr id="10" name="">
            <a:extLst xmlns:a="http://schemas.openxmlformats.org/drawingml/2006/main">
              <a:ext uri="{FF2B5EF4-FFF2-40B4-BE49-F238E27FC236}">
                <a16:creationId xmlns:a16="http://schemas.microsoft.com/office/drawing/2014/main" id="{F5A451F9-EA18-4EFE-8F5A-D9E8E4A3458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68FFB4E-A565-45EE-8545-3ADE4CF4241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divided by total energy weights by energy.</a:t>
            </a:r>
          </a:p>
        </p:txBody>
      </p:sp>
      <p:sp>
        <p:nvSpPr>
          <p:cNvPr id="12" name="">
            <a:extLst xmlns:a="http://schemas.openxmlformats.org/drawingml/2006/main">
              <a:ext uri="{FF2B5EF4-FFF2-40B4-BE49-F238E27FC236}">
                <a16:creationId xmlns:a16="http://schemas.microsoft.com/office/drawing/2014/main" id="{C5689B7E-73FA-4926-9CA3-5F84150689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33</a:t>
            </a:r>
          </a:p>
        </p:txBody>
      </p:sp>
    </p:spTree>
    <p:extLst>
      <p:ext uri="{BB962C8B-B14F-4D97-AF65-F5344CB8AC3E}">
        <p14:creationId xmlns:p14="http://schemas.microsoft.com/office/powerpoint/2010/main" val="185915398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1295E0-756C-4E0E-8D92-07A7A7D838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7BB137-F276-482E-8EE1-3A808280D8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C34658-DA5A-425C-9F67-D223AA4451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a:t>
            </a:r>
          </a:p>
        </p:txBody>
      </p:sp>
      <p:sp>
        <p:nvSpPr>
          <p:cNvPr id="4" name="">
            <a:extLst xmlns:a="http://schemas.openxmlformats.org/drawingml/2006/main">
              <a:ext uri="{FF2B5EF4-FFF2-40B4-BE49-F238E27FC236}">
                <a16:creationId xmlns:a16="http://schemas.microsoft.com/office/drawing/2014/main" id="{86643FD7-4EB2-476B-9EA5-E23A314068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90613C-8B8F-419F-9EF0-C6C20B3139D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Boolean mask is a list-like column of True/False values. len(mask) counts all rows; mask.sum() counts True entries.</a:t>
            </a:r>
          </a:p>
        </p:txBody>
      </p:sp>
      <p:sp>
        <p:nvSpPr>
          <p:cNvPr id="6" name="">
            <a:extLst xmlns:a="http://schemas.openxmlformats.org/drawingml/2006/main">
              <a:ext uri="{FF2B5EF4-FFF2-40B4-BE49-F238E27FC236}">
                <a16:creationId xmlns:a16="http://schemas.microsoft.com/office/drawing/2014/main" id="{F1AC202E-91B6-4537-90C2-1AB8D5971B6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F52B11-B31A-431C-A005-F86A7FFBE10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Strings sort as text, so "9" can rank above "100".</a:t>
            </a:r>
          </a:p>
        </p:txBody>
      </p:sp>
      <p:sp>
        <p:nvSpPr>
          <p:cNvPr id="8" name="">
            <a:extLst xmlns:a="http://schemas.openxmlformats.org/drawingml/2006/main">
              <a:ext uri="{FF2B5EF4-FFF2-40B4-BE49-F238E27FC236}">
                <a16:creationId xmlns:a16="http://schemas.microsoft.com/office/drawing/2014/main" id="{8AF6500E-4AEC-4648-9070-3DA4A96E1FB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BC59C1-368A-4F23-8878-32B7B791A85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numeric types before taking maxima.</a:t>
            </a:r>
          </a:p>
        </p:txBody>
      </p:sp>
      <p:sp>
        <p:nvSpPr>
          <p:cNvPr id="10" name="">
            <a:extLst xmlns:a="http://schemas.openxmlformats.org/drawingml/2006/main">
              <a:ext uri="{FF2B5EF4-FFF2-40B4-BE49-F238E27FC236}">
                <a16:creationId xmlns:a16="http://schemas.microsoft.com/office/drawing/2014/main" id="{2D4F2C7B-745C-4EA8-BCD6-8667B91B151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587E5F1-EFA9-40DA-A574-B3044D3420B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KeyError often means the column name does not match; check spelling, case and spaces. shape is (rows, columns).</a:t>
            </a:r>
          </a:p>
        </p:txBody>
      </p:sp>
      <p:sp>
        <p:nvSpPr>
          <p:cNvPr id="12" name="">
            <a:extLst xmlns:a="http://schemas.openxmlformats.org/drawingml/2006/main">
              <a:ext uri="{FF2B5EF4-FFF2-40B4-BE49-F238E27FC236}">
                <a16:creationId xmlns:a16="http://schemas.microsoft.com/office/drawing/2014/main" id="{D3675227-5C0A-468B-97F4-4DAB59647D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34</a:t>
            </a:r>
          </a:p>
        </p:txBody>
      </p:sp>
    </p:spTree>
    <p:extLst>
      <p:ext uri="{BB962C8B-B14F-4D97-AF65-F5344CB8AC3E}">
        <p14:creationId xmlns:p14="http://schemas.microsoft.com/office/powerpoint/2010/main" val="106421463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0F2FA6-B8A8-48F4-94A1-8F12953793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A34ED4-FA35-44D4-8135-F93FC19B52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A1C490-BD10-4304-ADF4-7072C03722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 continued</a:t>
            </a:r>
          </a:p>
        </p:txBody>
      </p:sp>
      <p:sp>
        <p:nvSpPr>
          <p:cNvPr id="4" name="">
            <a:extLst xmlns:a="http://schemas.openxmlformats.org/drawingml/2006/main">
              <a:ext uri="{FF2B5EF4-FFF2-40B4-BE49-F238E27FC236}">
                <a16:creationId xmlns:a16="http://schemas.microsoft.com/office/drawing/2014/main" id="{88DEBDCF-F20B-401C-A6BE-2A02DA5BAAF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3F1A41-1D23-4FB1-B7CF-FD1692462AF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provenance and units before trusting a dataset.</a:t>
            </a:r>
          </a:p>
        </p:txBody>
      </p:sp>
      <p:sp>
        <p:nvSpPr>
          <p:cNvPr id="6" name="">
            <a:extLst xmlns:a="http://schemas.openxmlformats.org/drawingml/2006/main">
              <a:ext uri="{FF2B5EF4-FFF2-40B4-BE49-F238E27FC236}">
                <a16:creationId xmlns:a16="http://schemas.microsoft.com/office/drawing/2014/main" id="{9A282432-9805-4E83-8B31-00C6C620AF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35</a:t>
            </a:r>
          </a:p>
        </p:txBody>
      </p:sp>
    </p:spTree>
    <p:extLst>
      <p:ext uri="{BB962C8B-B14F-4D97-AF65-F5344CB8AC3E}">
        <p14:creationId xmlns:p14="http://schemas.microsoft.com/office/powerpoint/2010/main" val="126585477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AF6BBD1-964B-4F0F-AF7C-54C3FD9593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6498FF-5DFA-48B3-8D0C-C801DA99B2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F52EF14-1E89-45E3-979A-76BE3F3927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CB083D61-03E9-457A-9869-90A57ECCA7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4FA7B1-CFD3-4A87-9EF5-2FC5F32EE29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0B295A84-58A5-428B-A312-A9766E41E6D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2AADFF-104E-4104-98CD-05E328B1951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6287232D-6B8A-4819-9115-095267002A6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ABA0E87-77FA-476A-B37A-C5CDB5C65EE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17BC6828-27B0-4681-B132-85EAAEF4304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9B1D5B-58DD-4376-AE3D-2B07FD80995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8262FE53-CF40-4814-A98C-5C32BFA457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36</a:t>
            </a:r>
          </a:p>
        </p:txBody>
      </p:sp>
    </p:spTree>
    <p:extLst>
      <p:ext uri="{BB962C8B-B14F-4D97-AF65-F5344CB8AC3E}">
        <p14:creationId xmlns:p14="http://schemas.microsoft.com/office/powerpoint/2010/main" val="1053311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0F5798-1C8B-4E33-8527-0497DE18E0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58E746-4726-4A30-85CB-BA92058E5B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13472B3-974C-4AAB-95EF-68B1958103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CB5E0CC2-6319-4EDB-B67B-DDD3860C1F3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5AD743-7AE7-451A-BB40-995777AC620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FBB1C152-4BB6-4105-8E20-12270F1BC2E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BBB5113-DB7C-4034-9F7E-AB2D5C323EC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E2CE919-5DA3-47A7-9286-4B87C77E02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37</a:t>
            </a:r>
          </a:p>
        </p:txBody>
      </p:sp>
    </p:spTree>
    <p:extLst>
      <p:ext uri="{BB962C8B-B14F-4D97-AF65-F5344CB8AC3E}">
        <p14:creationId xmlns:p14="http://schemas.microsoft.com/office/powerpoint/2010/main" val="32637561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46B808-2481-4356-8A7D-005965223F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CC9039-B9DF-42F7-8827-2FAC073C60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9951274-4800-43A7-BFB2-390F110B79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56D58D3C-EA4B-42A5-A476-A96D7DCE871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69BE44-3DBF-4541-A9FD-D01A8054764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33DF304A-8785-47E5-A572-3F763497945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C841EDF-AFD9-4FD8-8531-42E344BF3B0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3BC3512-0B07-4289-9B27-235975CBB3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38</a:t>
            </a:r>
          </a:p>
        </p:txBody>
      </p:sp>
    </p:spTree>
    <p:extLst>
      <p:ext uri="{BB962C8B-B14F-4D97-AF65-F5344CB8AC3E}">
        <p14:creationId xmlns:p14="http://schemas.microsoft.com/office/powerpoint/2010/main" val="211337160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A4D1F7-CF3D-47F6-B0D1-B2ECDE4CDD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405BA2-2E93-4D04-9872-1368F857DC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A0DFB7E-09B9-4B4B-A718-69F455CFC8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10736409-91BD-4032-802C-BC114E4D65D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CAF15B-EE64-4524-970E-404F171F232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126751D2-F69A-40ED-9AB6-F15F5B9495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77EFFD9-FEF0-4293-8A87-D13ECAA1F61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B30C23E-639F-4101-9758-37DDA86313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39</a:t>
            </a:r>
          </a:p>
        </p:txBody>
      </p:sp>
    </p:spTree>
    <p:extLst>
      <p:ext uri="{BB962C8B-B14F-4D97-AF65-F5344CB8AC3E}">
        <p14:creationId xmlns:p14="http://schemas.microsoft.com/office/powerpoint/2010/main" val="54707241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86A90E-03E6-42A4-AB8C-7A55FFB9C9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31737F-78DB-4C0E-9B43-924DECE6FC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8172055-5F90-4ABC-A113-7C157F5DEC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C5DDD1EA-AFCE-42FC-B7FC-B14F061451E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FE4C8C-942E-45BB-A643-140FC66C13C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A6850C58-AEFE-4A90-BE05-A4E2F273B57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AB50E07-7601-4AF5-976C-8492B9C7236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AA0EE21-CCAB-4EE2-9EE9-1A599DC5C8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40</a:t>
            </a:r>
          </a:p>
        </p:txBody>
      </p:sp>
    </p:spTree>
    <p:extLst>
      <p:ext uri="{BB962C8B-B14F-4D97-AF65-F5344CB8AC3E}">
        <p14:creationId xmlns:p14="http://schemas.microsoft.com/office/powerpoint/2010/main" val="47892032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9E94F4-CB8D-4CA0-AAF8-A43B65D7A2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E3F823-ADEB-4AAB-AC75-0824AF953D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4013E78-CE29-4C3A-AE40-021F563B75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3DBAA986-4C3D-41EF-A333-4534118DCAA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2513CC-1BE1-4763-91CD-84C70258259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0FE5A644-FBE1-4695-B3C0-161AD8D6F8B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870376D-6CFD-42AD-AEF4-84744BD3B80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CA610BE-2A70-44D1-BA5B-F8A4A697CA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41</a:t>
            </a:r>
          </a:p>
        </p:txBody>
      </p:sp>
    </p:spTree>
    <p:extLst>
      <p:ext uri="{BB962C8B-B14F-4D97-AF65-F5344CB8AC3E}">
        <p14:creationId xmlns:p14="http://schemas.microsoft.com/office/powerpoint/2010/main" val="67973252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5EDE82-86B4-4BA8-8F35-F4996480E8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BF7A2F-A06A-40A6-B541-8A718C1F1C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252FA03-757A-4B72-AD43-19685766B3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E06AA244-20C9-41A1-803C-F6872415A472}"/>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EA9459-A77E-45E0-B05E-12D51B63896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1ABAC8D4-F1D3-4FBB-BCC9-9F8F123500A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D0CC178-02AC-4208-8B5A-8288EE77A79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511521B-7272-4356-919F-08DDBC511B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42</a:t>
            </a:r>
          </a:p>
        </p:txBody>
      </p:sp>
    </p:spTree>
    <p:extLst>
      <p:ext uri="{BB962C8B-B14F-4D97-AF65-F5344CB8AC3E}">
        <p14:creationId xmlns:p14="http://schemas.microsoft.com/office/powerpoint/2010/main" val="22077349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8C1B6EE-5CD4-42CA-98C8-55CCC9421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F2B80B-C00C-4A29-83A6-77CD99B74F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54DED15-5725-4E7F-B4B4-104A092FDD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902B3CF3-D557-40F8-970E-49E678E907A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29049D-7EB5-48AC-B409-6ECD72E8C79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08:00 Kampala</a:t>
            </a:r>
          </a:p>
        </p:txBody>
      </p:sp>
      <p:sp>
        <p:nvSpPr>
          <p:cNvPr id="6" name="">
            <a:extLst xmlns:a="http://schemas.openxmlformats.org/drawingml/2006/main">
              <a:ext uri="{FF2B5EF4-FFF2-40B4-BE49-F238E27FC236}">
                <a16:creationId xmlns:a16="http://schemas.microsoft.com/office/drawing/2014/main" id="{262D0279-54D2-48AD-B21E-CF9388AE56D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42FF8E-5A7F-4D79-8570-54C93F33D00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08:00 Kampala</a:t>
            </a:r>
          </a:p>
        </p:txBody>
      </p:sp>
      <p:sp>
        <p:nvSpPr>
          <p:cNvPr id="8" name="">
            <a:extLst xmlns:a="http://schemas.openxmlformats.org/drawingml/2006/main">
              <a:ext uri="{FF2B5EF4-FFF2-40B4-BE49-F238E27FC236}">
                <a16:creationId xmlns:a16="http://schemas.microsoft.com/office/drawing/2014/main" id="{5159ADDB-A103-4655-9DE7-D4B16C2637A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1F20A5-4A43-4429-AFA2-59DF14FF02A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57E9049-84DC-4049-8E65-45B1FCFD102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B4FA54-8920-480D-A717-78445320A5E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C291F6C-0321-4C67-B73A-A3A5B7A6DE1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DF7867E-27C4-4EBC-B231-A8240DB8FC1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2da59ae83194299"/>
              </a:rPr>
              <a:t>Open W05 assignment form</a:t>
            </a:r>
          </a:p>
        </p:txBody>
      </p:sp>
      <p:sp>
        <p:nvSpPr>
          <p:cNvPr id="14" name="">
            <a:extLst xmlns:a="http://schemas.openxmlformats.org/drawingml/2006/main">
              <a:ext uri="{FF2B5EF4-FFF2-40B4-BE49-F238E27FC236}">
                <a16:creationId xmlns:a16="http://schemas.microsoft.com/office/drawing/2014/main" id="{DA40BFD2-0AC9-422C-B0C7-17323D5344A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https://docs.google.com/forms/d/e/1FAIpQLSehGqFG7PZ1wfoBRTaooiO6bw5XPXrKkDJ6kWCXi-YmEx69Eg/viewform</a:t>
            </a:r>
          </a:p>
        </p:txBody>
      </p:sp>
      <p:sp>
        <p:nvSpPr>
          <p:cNvPr id="15" name="">
            <a:extLst xmlns:a="http://schemas.openxmlformats.org/drawingml/2006/main">
              <a:ext uri="{FF2B5EF4-FFF2-40B4-BE49-F238E27FC236}">
                <a16:creationId xmlns:a16="http://schemas.microsoft.com/office/drawing/2014/main" id="{8E31FFD4-2AA4-42BC-898A-93FD7DD30E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43</a:t>
            </a:r>
          </a:p>
        </p:txBody>
      </p:sp>
    </p:spTree>
    <p:extLst>
      <p:ext uri="{BB962C8B-B14F-4D97-AF65-F5344CB8AC3E}">
        <p14:creationId xmlns:p14="http://schemas.microsoft.com/office/powerpoint/2010/main" val="165844135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FFBFA2-9F8A-449A-B5F6-56E449D5A3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5C16E1-C3DD-44C3-AE6F-FE9DEF9167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4B2B34B-EE98-4B83-97E4-334A676661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43CFFB80-339D-4218-BFD5-5C5A1F8944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704010-C451-497C-ABBA-A7FE1CE168D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F0A80D93-1AB1-4C19-BCAB-DFA4C06F1E4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BDF342-6A24-4DAE-9816-BFF8D2CEC11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EB6AE487-18B8-4EA3-B2BD-89EE0F2DAF9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D61BCB-E07C-4566-A145-9E761EDE5DC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A74D5F1E-A138-4795-89FC-4242F0C43E4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2985B37-4E42-4C24-AA56-577C7EA17EF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08:00 Kampala</a:t>
            </a:r>
          </a:p>
        </p:txBody>
      </p:sp>
      <p:sp>
        <p:nvSpPr>
          <p:cNvPr id="12" name="">
            <a:extLst xmlns:a="http://schemas.openxmlformats.org/drawingml/2006/main">
              <a:ext uri="{FF2B5EF4-FFF2-40B4-BE49-F238E27FC236}">
                <a16:creationId xmlns:a16="http://schemas.microsoft.com/office/drawing/2014/main" id="{101531C7-C152-4D15-A057-DA562DECE4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44</a:t>
            </a:r>
          </a:p>
        </p:txBody>
      </p:sp>
    </p:spTree>
    <p:extLst>
      <p:ext uri="{BB962C8B-B14F-4D97-AF65-F5344CB8AC3E}">
        <p14:creationId xmlns:p14="http://schemas.microsoft.com/office/powerpoint/2010/main" val="197372395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01BB698-ADBF-471B-AD7E-9BCCDE57C3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32703A-C339-4157-A4C7-F9EC038B4F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0527F73A-EE50-4B38-95CF-6D7037405C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28C6769F-B674-490A-8469-76B1430B9D3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18C4CE-F21F-4AA2-8A25-106C86A26D3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8A02D9FA-8EA5-4258-A8A5-6D73C561F80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B6D4C0-A541-423A-BF5E-8CE5B6068F6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996FF4FF-8AF6-41DF-8204-4458C6F7189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E87D8D-2D2F-4417-912C-AB966B0CA227}"/>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77C1641-262B-42F5-A934-F7807FB6F85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B9230F-530F-43CA-A00E-FBA458C1875A}"/>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86d142f02a842a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C32A2C8F-D009-4821-8C9E-E826261A2D5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0A57D56-CA2E-4836-A4F3-E1EAEAE6E14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88323B0-7C34-4E2B-9D66-285FB8D2067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f739a47db814205"/>
              </a:rPr>
              <a:t>Open this week’s quiz</a:t>
            </a:r>
          </a:p>
        </p:txBody>
      </p:sp>
      <p:sp>
        <p:nvSpPr>
          <p:cNvPr id="16" name="">
            <a:extLst xmlns:a="http://schemas.openxmlformats.org/drawingml/2006/main">
              <a:ext uri="{FF2B5EF4-FFF2-40B4-BE49-F238E27FC236}">
                <a16:creationId xmlns:a16="http://schemas.microsoft.com/office/drawing/2014/main" id="{508F5689-9921-4D81-B9B1-7BC081B9B7E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https://forms.gle/2bRrHnq3mUEN84k19</a:t>
            </a:r>
          </a:p>
        </p:txBody>
      </p:sp>
      <p:sp>
        <p:nvSpPr>
          <p:cNvPr id="17" name="">
            <a:extLst xmlns:a="http://schemas.openxmlformats.org/drawingml/2006/main">
              <a:ext uri="{FF2B5EF4-FFF2-40B4-BE49-F238E27FC236}">
                <a16:creationId xmlns:a16="http://schemas.microsoft.com/office/drawing/2014/main" id="{4E31151B-76D7-4FE3-9D78-698288BF43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45</a:t>
            </a:r>
          </a:p>
        </p:txBody>
      </p:sp>
    </p:spTree>
    <p:extLst>
      <p:ext uri="{BB962C8B-B14F-4D97-AF65-F5344CB8AC3E}">
        <p14:creationId xmlns:p14="http://schemas.microsoft.com/office/powerpoint/2010/main" val="26597560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6C9AF8-0CEF-43F3-9040-A8DB807AC6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4CCFCA-AF6D-4DD7-A37D-24A37F3E70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341FFE-2C6E-4794-8DC9-A20554FA9D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FFD4DC46-3EFC-4660-BA67-DB167DAF0F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025BC1-FD05-40E6-A600-A3C655AA740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ECAC7379-91AA-4C2B-A04F-C5DCAF70606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481B63-9A54-46A2-882B-E5A98EC6DC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5A11D73F-70AF-4A06-91DE-BCD771F6AE8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1CB3C5-5B59-4D69-AF48-9C8F54C2B2A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4EECAC11-58AB-4F58-8DB7-ECAE66C983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46</a:t>
            </a:r>
          </a:p>
        </p:txBody>
      </p:sp>
    </p:spTree>
    <p:extLst>
      <p:ext uri="{BB962C8B-B14F-4D97-AF65-F5344CB8AC3E}">
        <p14:creationId xmlns:p14="http://schemas.microsoft.com/office/powerpoint/2010/main" val="960798342"/>
      </p:ext>
    </p:extLst>
  </p:cSld>
</p:sld>
</file>

<file path=ppt/slides/slide4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4434EF-0848-4581-B7E7-62FBFCD5EB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3D04170-8F40-4E5C-A7D3-C36A4E9604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67865A7F-1A74-4B8F-B074-021E15C1431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0010D5A-CC94-4453-98CF-0BBE6230FCC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B3B7F22B-FEEA-4BE1-814A-421CED50068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1992E52-9D58-4196-8D02-5EFC8ADAC9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5   47</a:t>
            </a:r>
          </a:p>
        </p:txBody>
      </p:sp>
    </p:spTree>
    <p:extLst>
      <p:ext uri="{BB962C8B-B14F-4D97-AF65-F5344CB8AC3E}">
        <p14:creationId xmlns:p14="http://schemas.microsoft.com/office/powerpoint/2010/main" val="7427999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2026-09-16T11:09:35.3580000Z</dcterms:created>
  <dcterms:modified xsi:type="dcterms:W3CDTF">2026-09-16T11:09:35.3580000Z</dcterms:modified>
</coreProperties>
</file>