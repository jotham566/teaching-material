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dd1688457e045c8" /><Relationship Type="http://schemas.openxmlformats.org/officeDocument/2006/relationships/extended-properties" Target="/docProps/app.xml" Id="Rb9b70cffed4349cc" /><Relationship Type="http://schemas.openxmlformats.org/officeDocument/2006/relationships/officeDocument" Target="/ppt/presentation.xml" Id="R0a74835696be4b7c" /></Relationships>
</file>

<file path=ppt/presentation.xml><?xml version="1.0" encoding="utf-8"?>
<p:presentation xmlns:p="http://schemas.openxmlformats.org/presentationml/2006/main">
  <p:sldMasterIdLst>
    <p:sldMasterId xmlns:r="http://schemas.openxmlformats.org/officeDocument/2006/relationships" id="2147483648" r:id="Rcdebfde692cb4a4f"/>
  </p:sldMasterIdLst>
  <p:notesMasterIdLst>
    <p:notesMasterId xmlns:r="http://schemas.openxmlformats.org/officeDocument/2006/relationships" r:id="R5aa9479a13e24a4f"/>
  </p:notesMasterIdLst>
  <p:sldIdLst>
    <p:sldId xmlns:r="http://schemas.openxmlformats.org/officeDocument/2006/relationships" id="256" r:id="R166017b75c7749ef"/>
    <p:sldId xmlns:r="http://schemas.openxmlformats.org/officeDocument/2006/relationships" id="257" r:id="Rb1aa342ce7684d5f"/>
    <p:sldId xmlns:r="http://schemas.openxmlformats.org/officeDocument/2006/relationships" id="258" r:id="Rc62a109047114aca"/>
    <p:sldId xmlns:r="http://schemas.openxmlformats.org/officeDocument/2006/relationships" id="259" r:id="R3f184592e8a4495e"/>
    <p:sldId xmlns:r="http://schemas.openxmlformats.org/officeDocument/2006/relationships" id="260" r:id="Rb6919ecacc154e22"/>
    <p:sldId xmlns:r="http://schemas.openxmlformats.org/officeDocument/2006/relationships" id="261" r:id="R01b615ff873c4760"/>
    <p:sldId xmlns:r="http://schemas.openxmlformats.org/officeDocument/2006/relationships" id="262" r:id="R4aae5bece3dd44ab"/>
    <p:sldId xmlns:r="http://schemas.openxmlformats.org/officeDocument/2006/relationships" id="263" r:id="Rd3e763d631e84c66"/>
    <p:sldId xmlns:r="http://schemas.openxmlformats.org/officeDocument/2006/relationships" id="264" r:id="Reeb746903be04312"/>
    <p:sldId xmlns:r="http://schemas.openxmlformats.org/officeDocument/2006/relationships" id="265" r:id="R2d2b0d7d1f044328"/>
    <p:sldId xmlns:r="http://schemas.openxmlformats.org/officeDocument/2006/relationships" id="266" r:id="R302df1bd6dfc4e03"/>
    <p:sldId xmlns:r="http://schemas.openxmlformats.org/officeDocument/2006/relationships" id="267" r:id="Rd354ed3d0cd542b0"/>
    <p:sldId xmlns:r="http://schemas.openxmlformats.org/officeDocument/2006/relationships" id="268" r:id="R3b82d8d6e440464c"/>
    <p:sldId xmlns:r="http://schemas.openxmlformats.org/officeDocument/2006/relationships" id="269" r:id="R506f61467505436c"/>
    <p:sldId xmlns:r="http://schemas.openxmlformats.org/officeDocument/2006/relationships" id="270" r:id="Rec0324e046b54b78"/>
    <p:sldId xmlns:r="http://schemas.openxmlformats.org/officeDocument/2006/relationships" id="271" r:id="R788b73cdc95b49a1"/>
    <p:sldId xmlns:r="http://schemas.openxmlformats.org/officeDocument/2006/relationships" id="272" r:id="Rdaf937e5d3cb4e81"/>
    <p:sldId xmlns:r="http://schemas.openxmlformats.org/officeDocument/2006/relationships" id="273" r:id="R1f3a1f1a7f0a43ba"/>
    <p:sldId xmlns:r="http://schemas.openxmlformats.org/officeDocument/2006/relationships" id="274" r:id="R9a5a0ada00754f03"/>
    <p:sldId xmlns:r="http://schemas.openxmlformats.org/officeDocument/2006/relationships" id="275" r:id="Rad02e10daaf84828"/>
    <p:sldId xmlns:r="http://schemas.openxmlformats.org/officeDocument/2006/relationships" id="276" r:id="R924abca7b9ae4195"/>
    <p:sldId xmlns:r="http://schemas.openxmlformats.org/officeDocument/2006/relationships" id="277" r:id="R68dc5e3985a249f0"/>
    <p:sldId xmlns:r="http://schemas.openxmlformats.org/officeDocument/2006/relationships" id="278" r:id="R2dd5f8f717244645"/>
    <p:sldId xmlns:r="http://schemas.openxmlformats.org/officeDocument/2006/relationships" id="279" r:id="Rbb67c3932d1b49bc"/>
    <p:sldId xmlns:r="http://schemas.openxmlformats.org/officeDocument/2006/relationships" id="280" r:id="R382bdc5646bf42aa"/>
    <p:sldId xmlns:r="http://schemas.openxmlformats.org/officeDocument/2006/relationships" id="281" r:id="R1e9005f451054c98"/>
    <p:sldId xmlns:r="http://schemas.openxmlformats.org/officeDocument/2006/relationships" id="282" r:id="R9feb318d88874126"/>
    <p:sldId xmlns:r="http://schemas.openxmlformats.org/officeDocument/2006/relationships" id="283" r:id="R0530f12ffc0a454e"/>
    <p:sldId xmlns:r="http://schemas.openxmlformats.org/officeDocument/2006/relationships" id="284" r:id="R383a4e8dbd044ced"/>
    <p:sldId xmlns:r="http://schemas.openxmlformats.org/officeDocument/2006/relationships" id="285" r:id="Rcfab707b39934426"/>
    <p:sldId xmlns:r="http://schemas.openxmlformats.org/officeDocument/2006/relationships" id="286" r:id="R7494c5435f0c40ef"/>
    <p:sldId xmlns:r="http://schemas.openxmlformats.org/officeDocument/2006/relationships" id="287" r:id="R75f0cbd014ca4778"/>
    <p:sldId xmlns:r="http://schemas.openxmlformats.org/officeDocument/2006/relationships" id="288" r:id="Re8288557505d426f"/>
    <p:sldId xmlns:r="http://schemas.openxmlformats.org/officeDocument/2006/relationships" id="289" r:id="R12fcf608b01d49e8"/>
    <p:sldId xmlns:r="http://schemas.openxmlformats.org/officeDocument/2006/relationships" id="290" r:id="Ra1d3c722610141f3"/>
    <p:sldId xmlns:r="http://schemas.openxmlformats.org/officeDocument/2006/relationships" id="291" r:id="R8e7c0eebb8514695"/>
    <p:sldId xmlns:r="http://schemas.openxmlformats.org/officeDocument/2006/relationships" id="292" r:id="Rd13785de09ef428f"/>
    <p:sldId xmlns:r="http://schemas.openxmlformats.org/officeDocument/2006/relationships" id="293" r:id="Rcbdd7ba45dcd42c2"/>
    <p:sldId xmlns:r="http://schemas.openxmlformats.org/officeDocument/2006/relationships" id="294" r:id="Rd6679778362547dd"/>
    <p:sldId xmlns:r="http://schemas.openxmlformats.org/officeDocument/2006/relationships" id="295" r:id="R1edae58665cc4b7f"/>
    <p:sldId xmlns:r="http://schemas.openxmlformats.org/officeDocument/2006/relationships" id="296" r:id="R5a228ff2210a4708"/>
    <p:sldId xmlns:r="http://schemas.openxmlformats.org/officeDocument/2006/relationships" id="297" r:id="R13a2f2e48d564f4a"/>
    <p:sldId xmlns:r="http://schemas.openxmlformats.org/officeDocument/2006/relationships" id="298" r:id="R3bb6afec532a4d95"/>
    <p:sldId xmlns:r="http://schemas.openxmlformats.org/officeDocument/2006/relationships" id="299" r:id="R3017a5bb788949e4"/>
    <p:sldId xmlns:r="http://schemas.openxmlformats.org/officeDocument/2006/relationships" id="300" r:id="R252501726ded4b10"/>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163e7bfaa94c3e" /><Relationship Type="http://schemas.openxmlformats.org/officeDocument/2006/relationships/slideMaster" Target="/ppt/slideMasters/slideMaster1.xml" Id="Rcdebfde692cb4a4f" /><Relationship Type="http://schemas.openxmlformats.org/officeDocument/2006/relationships/notesMaster" Target="/ppt/notesMasters/notesMaster1.xml" Id="R5aa9479a13e24a4f" /><Relationship Type="http://schemas.openxmlformats.org/officeDocument/2006/relationships/presProps" Target="/ppt/presProps.xml" Id="Rf346891215b24bd2" /><Relationship Type="http://schemas.openxmlformats.org/officeDocument/2006/relationships/tableStyles" Target="/ppt/tableStyles.xml" Id="Ra5f619dd207f4d00" /><Relationship Type="http://schemas.openxmlformats.org/officeDocument/2006/relationships/slide" Target="/ppt/slides/slide1.xml" Id="R166017b75c7749ef" /><Relationship Type="http://schemas.openxmlformats.org/officeDocument/2006/relationships/slide" Target="/ppt/slides/slide2.xml" Id="Rb1aa342ce7684d5f" /><Relationship Type="http://schemas.openxmlformats.org/officeDocument/2006/relationships/slide" Target="/ppt/slides/slide3.xml" Id="Rc62a109047114aca" /><Relationship Type="http://schemas.openxmlformats.org/officeDocument/2006/relationships/slide" Target="/ppt/slides/slide4.xml" Id="R3f184592e8a4495e" /><Relationship Type="http://schemas.openxmlformats.org/officeDocument/2006/relationships/slide" Target="/ppt/slides/slide5.xml" Id="Rb6919ecacc154e22" /><Relationship Type="http://schemas.openxmlformats.org/officeDocument/2006/relationships/slide" Target="/ppt/slides/slide6.xml" Id="R01b615ff873c4760" /><Relationship Type="http://schemas.openxmlformats.org/officeDocument/2006/relationships/slide" Target="/ppt/slides/slide7.xml" Id="R4aae5bece3dd44ab" /><Relationship Type="http://schemas.openxmlformats.org/officeDocument/2006/relationships/slide" Target="/ppt/slides/slide8.xml" Id="Rd3e763d631e84c66" /><Relationship Type="http://schemas.openxmlformats.org/officeDocument/2006/relationships/slide" Target="/ppt/slides/slide9.xml" Id="Reeb746903be04312" /><Relationship Type="http://schemas.openxmlformats.org/officeDocument/2006/relationships/slide" Target="/ppt/slides/slide10.xml" Id="R2d2b0d7d1f044328" /><Relationship Type="http://schemas.openxmlformats.org/officeDocument/2006/relationships/slide" Target="/ppt/slides/slide11.xml" Id="R302df1bd6dfc4e03" /><Relationship Type="http://schemas.openxmlformats.org/officeDocument/2006/relationships/slide" Target="/ppt/slides/slide12.xml" Id="Rd354ed3d0cd542b0" /><Relationship Type="http://schemas.openxmlformats.org/officeDocument/2006/relationships/slide" Target="/ppt/slides/slide13.xml" Id="R3b82d8d6e440464c" /><Relationship Type="http://schemas.openxmlformats.org/officeDocument/2006/relationships/slide" Target="/ppt/slides/slide14.xml" Id="R506f61467505436c" /><Relationship Type="http://schemas.openxmlformats.org/officeDocument/2006/relationships/slide" Target="/ppt/slides/slide15.xml" Id="Rec0324e046b54b78" /><Relationship Type="http://schemas.openxmlformats.org/officeDocument/2006/relationships/slide" Target="/ppt/slides/slide16.xml" Id="R788b73cdc95b49a1" /><Relationship Type="http://schemas.openxmlformats.org/officeDocument/2006/relationships/slide" Target="/ppt/slides/slide17.xml" Id="Rdaf937e5d3cb4e81" /><Relationship Type="http://schemas.openxmlformats.org/officeDocument/2006/relationships/slide" Target="/ppt/slides/slide18.xml" Id="R1f3a1f1a7f0a43ba" /><Relationship Type="http://schemas.openxmlformats.org/officeDocument/2006/relationships/slide" Target="/ppt/slides/slide19.xml" Id="R9a5a0ada00754f03" /><Relationship Type="http://schemas.openxmlformats.org/officeDocument/2006/relationships/slide" Target="/ppt/slides/slide20.xml" Id="Rad02e10daaf84828" /><Relationship Type="http://schemas.openxmlformats.org/officeDocument/2006/relationships/slide" Target="/ppt/slides/slide21.xml" Id="R924abca7b9ae4195" /><Relationship Type="http://schemas.openxmlformats.org/officeDocument/2006/relationships/slide" Target="/ppt/slides/slide22.xml" Id="R68dc5e3985a249f0" /><Relationship Type="http://schemas.openxmlformats.org/officeDocument/2006/relationships/slide" Target="/ppt/slides/slide23.xml" Id="R2dd5f8f717244645" /><Relationship Type="http://schemas.openxmlformats.org/officeDocument/2006/relationships/slide" Target="/ppt/slides/slide24.xml" Id="Rbb67c3932d1b49bc" /><Relationship Type="http://schemas.openxmlformats.org/officeDocument/2006/relationships/slide" Target="/ppt/slides/slide25.xml" Id="R382bdc5646bf42aa" /><Relationship Type="http://schemas.openxmlformats.org/officeDocument/2006/relationships/slide" Target="/ppt/slides/slide26.xml" Id="R1e9005f451054c98" /><Relationship Type="http://schemas.openxmlformats.org/officeDocument/2006/relationships/slide" Target="/ppt/slides/slide27.xml" Id="R9feb318d88874126" /><Relationship Type="http://schemas.openxmlformats.org/officeDocument/2006/relationships/slide" Target="/ppt/slides/slide28.xml" Id="R0530f12ffc0a454e" /><Relationship Type="http://schemas.openxmlformats.org/officeDocument/2006/relationships/slide" Target="/ppt/slides/slide29.xml" Id="R383a4e8dbd044ced" /><Relationship Type="http://schemas.openxmlformats.org/officeDocument/2006/relationships/slide" Target="/ppt/slides/slide30.xml" Id="Rcfab707b39934426" /><Relationship Type="http://schemas.openxmlformats.org/officeDocument/2006/relationships/slide" Target="/ppt/slides/slide31.xml" Id="R7494c5435f0c40ef" /><Relationship Type="http://schemas.openxmlformats.org/officeDocument/2006/relationships/slide" Target="/ppt/slides/slide32.xml" Id="R75f0cbd014ca4778" /><Relationship Type="http://schemas.openxmlformats.org/officeDocument/2006/relationships/slide" Target="/ppt/slides/slide33.xml" Id="Re8288557505d426f" /><Relationship Type="http://schemas.openxmlformats.org/officeDocument/2006/relationships/slide" Target="/ppt/slides/slide34.xml" Id="R12fcf608b01d49e8" /><Relationship Type="http://schemas.openxmlformats.org/officeDocument/2006/relationships/slide" Target="/ppt/slides/slide35.xml" Id="Ra1d3c722610141f3" /><Relationship Type="http://schemas.openxmlformats.org/officeDocument/2006/relationships/slide" Target="/ppt/slides/slide36.xml" Id="R8e7c0eebb8514695" /><Relationship Type="http://schemas.openxmlformats.org/officeDocument/2006/relationships/slide" Target="/ppt/slides/slide37.xml" Id="Rd13785de09ef428f" /><Relationship Type="http://schemas.openxmlformats.org/officeDocument/2006/relationships/slide" Target="/ppt/slides/slide38.xml" Id="Rcbdd7ba45dcd42c2" /><Relationship Type="http://schemas.openxmlformats.org/officeDocument/2006/relationships/slide" Target="/ppt/slides/slide39.xml" Id="Rd6679778362547dd" /><Relationship Type="http://schemas.openxmlformats.org/officeDocument/2006/relationships/slide" Target="/ppt/slides/slide40.xml" Id="R1edae58665cc4b7f" /><Relationship Type="http://schemas.openxmlformats.org/officeDocument/2006/relationships/slide" Target="/ppt/slides/slide41.xml" Id="R5a228ff2210a4708" /><Relationship Type="http://schemas.openxmlformats.org/officeDocument/2006/relationships/slide" Target="/ppt/slides/slide42.xml" Id="R13a2f2e48d564f4a" /><Relationship Type="http://schemas.openxmlformats.org/officeDocument/2006/relationships/slide" Target="/ppt/slides/slide43.xml" Id="R3bb6afec532a4d95" /><Relationship Type="http://schemas.openxmlformats.org/officeDocument/2006/relationships/slide" Target="/ppt/slides/slide44.xml" Id="R3017a5bb788949e4" /><Relationship Type="http://schemas.openxmlformats.org/officeDocument/2006/relationships/slide" Target="/ppt/slides/slide45.xml" Id="R252501726ded4b1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374cc953e8645e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bfae51bba744a92" /><Relationship Type="http://schemas.openxmlformats.org/officeDocument/2006/relationships/notesMaster" Target="/ppt/notesMasters/notesMaster1.xml" Id="R525b1d051e754a17"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b9b07ad78e4a4a" /><Relationship Type="http://schemas.openxmlformats.org/officeDocument/2006/relationships/notesMaster" Target="/ppt/notesMasters/notesMaster1.xml" Id="Ra8e0b4cb03334b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6f6d9239f3d04580" /><Relationship Type="http://schemas.openxmlformats.org/officeDocument/2006/relationships/notesMaster" Target="/ppt/notesMasters/notesMaster1.xml" Id="R2c210bbb2aad4464" /></Relationships>
</file>

<file path=ppt/notesSlides/_rels/notesSlide4.xml.rels>&#65279;<?xml version="1.0" encoding="utf-8"?><Relationships xmlns="http://schemas.openxmlformats.org/package/2006/relationships"><Relationship Type="http://schemas.openxmlformats.org/officeDocument/2006/relationships/slide" Target="/ppt/slides/slide4.xml" Id="R36134784db4943db" /><Relationship Type="http://schemas.openxmlformats.org/officeDocument/2006/relationships/notesMaster" Target="/ppt/notesMasters/notesMaster1.xml" Id="Rd4bc9d48892d4a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f08eab4ad014f6d" /><Relationship Type="http://schemas.openxmlformats.org/officeDocument/2006/relationships/notesMaster" Target="/ppt/notesMasters/notesMaster1.xml" Id="R9d3472298a7a44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5ded77b126246c6" /><Relationship Type="http://schemas.openxmlformats.org/officeDocument/2006/relationships/notesMaster" Target="/ppt/notesMasters/notesMaster1.xml" Id="R24541222a4b34b3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275d993a0f5444d" /><Relationship Type="http://schemas.openxmlformats.org/officeDocument/2006/relationships/notesMaster" Target="/ppt/notesMasters/notesMaster1.xml" Id="R2f83277f34a746e6" /></Relationships>
</file>

<file path=ppt/notesSlides/_rels/notesSlide8.xml.rels>&#65279;<?xml version="1.0" encoding="utf-8"?><Relationships xmlns="http://schemas.openxmlformats.org/package/2006/relationships"><Relationship Type="http://schemas.openxmlformats.org/officeDocument/2006/relationships/slide" Target="/ppt/slides/slide8.xml" Id="Re3fbd321c8344453" /><Relationship Type="http://schemas.openxmlformats.org/officeDocument/2006/relationships/notesMaster" Target="/ppt/notesMasters/notesMaster1.xml" Id="Rf0e5111439bb4435" /></Relationships>
</file>

<file path=ppt/notesSlides/_rels/notesSlide9.xml.rels>&#65279;<?xml version="1.0" encoding="utf-8"?><Relationships xmlns="http://schemas.openxmlformats.org/package/2006/relationships"><Relationship Type="http://schemas.openxmlformats.org/officeDocument/2006/relationships/slide" Target="/ppt/slides/slide9.xml" Id="R6681111bb51d46ba" /><Relationship Type="http://schemas.openxmlformats.org/officeDocument/2006/relationships/notesMaster" Target="/ppt/notesMasters/notesMaster1.xml" Id="R3a84583193294fb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10d624cf9ee42e5" /><Relationship Type="http://schemas.openxmlformats.org/officeDocument/2006/relationships/notesMaster" Target="/ppt/notesMasters/notesMaster1.xml" Id="R17dfea042d3a452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1faf781e9d34151" /><Relationship Type="http://schemas.openxmlformats.org/officeDocument/2006/relationships/notesMaster" Target="/ppt/notesMasters/notesMaster1.xml" Id="R3eb9a808083745a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54025ef20294e14" /><Relationship Type="http://schemas.openxmlformats.org/officeDocument/2006/relationships/notesMaster" Target="/ppt/notesMasters/notesMaster1.xml" Id="R3aa8beb414cd4b5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03f240ef75e4554" /><Relationship Type="http://schemas.openxmlformats.org/officeDocument/2006/relationships/notesMaster" Target="/ppt/notesMasters/notesMaster1.xml" Id="R14dd144e3d2e480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4a780983fba471e" /><Relationship Type="http://schemas.openxmlformats.org/officeDocument/2006/relationships/notesMaster" Target="/ppt/notesMasters/notesMaster1.xml" Id="Refb2eb83bb61476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3640e021e7e4f79" /><Relationship Type="http://schemas.openxmlformats.org/officeDocument/2006/relationships/notesMaster" Target="/ppt/notesMasters/notesMaster1.xml" Id="R10bf200748ee434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765644d6a2a4234" /><Relationship Type="http://schemas.openxmlformats.org/officeDocument/2006/relationships/notesMaster" Target="/ppt/notesMasters/notesMaster1.xml" Id="R0529fd1f37c047b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7ffd3f1d49449f6" /><Relationship Type="http://schemas.openxmlformats.org/officeDocument/2006/relationships/notesMaster" Target="/ppt/notesMasters/notesMaster1.xml" Id="R190cc80cb01e422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9e25316cb244140" /><Relationship Type="http://schemas.openxmlformats.org/officeDocument/2006/relationships/notesMaster" Target="/ppt/notesMasters/notesMaster1.xml" Id="R201d2e96ecdd48f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c04b2bd92354c8d" /><Relationship Type="http://schemas.openxmlformats.org/officeDocument/2006/relationships/notesMaster" Target="/ppt/notesMasters/notesMaster1.xml" Id="Reed9f277ce1a4b7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a4f1eff78074a3c" /><Relationship Type="http://schemas.openxmlformats.org/officeDocument/2006/relationships/notesMaster" Target="/ppt/notesMasters/notesMaster1.xml" Id="R93231029361f44a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fdb8cdc48b74454" /><Relationship Type="http://schemas.openxmlformats.org/officeDocument/2006/relationships/notesMaster" Target="/ppt/notesMasters/notesMaster1.xml" Id="R631aca81c9c34f1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e1c32e19266446b" /><Relationship Type="http://schemas.openxmlformats.org/officeDocument/2006/relationships/notesMaster" Target="/ppt/notesMasters/notesMaster1.xml" Id="R9a492c7efbb44ec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7423e5977c54a6e" /><Relationship Type="http://schemas.openxmlformats.org/officeDocument/2006/relationships/notesMaster" Target="/ppt/notesMasters/notesMaster1.xml" Id="R2e305406979c4e3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8dc83fac552477e" /><Relationship Type="http://schemas.openxmlformats.org/officeDocument/2006/relationships/notesMaster" Target="/ppt/notesMasters/notesMaster1.xml" Id="Rb76182efe0d2476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628b0e35761421e" /><Relationship Type="http://schemas.openxmlformats.org/officeDocument/2006/relationships/notesMaster" Target="/ppt/notesMasters/notesMaster1.xml" Id="R80d42241bc05405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1d43f8ce440407a" /><Relationship Type="http://schemas.openxmlformats.org/officeDocument/2006/relationships/notesMaster" Target="/ppt/notesMasters/notesMaster1.xml" Id="R1faac137dd7f4d3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3358c83aef44ad1" /><Relationship Type="http://schemas.openxmlformats.org/officeDocument/2006/relationships/notesMaster" Target="/ppt/notesMasters/notesMaster1.xml" Id="R2267ee48599c4c6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5b7e10ae215482c" /><Relationship Type="http://schemas.openxmlformats.org/officeDocument/2006/relationships/notesMaster" Target="/ppt/notesMasters/notesMaster1.xml" Id="R251b50ebc39a4b1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918c54b0bd5419d" /><Relationship Type="http://schemas.openxmlformats.org/officeDocument/2006/relationships/notesMaster" Target="/ppt/notesMasters/notesMaster1.xml" Id="R232854ff52924fe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c12fbf1032947c7" /><Relationship Type="http://schemas.openxmlformats.org/officeDocument/2006/relationships/notesMaster" Target="/ppt/notesMasters/notesMaster1.xml" Id="Rc95ba8220ac94cf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2b6633176754a9b" /><Relationship Type="http://schemas.openxmlformats.org/officeDocument/2006/relationships/notesMaster" Target="/ppt/notesMasters/notesMaster1.xml" Id="Re9e53acda534471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8d5e6eabf7a422d" /><Relationship Type="http://schemas.openxmlformats.org/officeDocument/2006/relationships/notesMaster" Target="/ppt/notesMasters/notesMaster1.xml" Id="Raaede08e265748e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70c52d0544644a2" /><Relationship Type="http://schemas.openxmlformats.org/officeDocument/2006/relationships/notesMaster" Target="/ppt/notesMasters/notesMaster1.xml" Id="Rc44cc951c598462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ffde95acfa74aea" /><Relationship Type="http://schemas.openxmlformats.org/officeDocument/2006/relationships/notesMaster" Target="/ppt/notesMasters/notesMaster1.xml" Id="R15029bb2da0f4a9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5ac659830414454" /><Relationship Type="http://schemas.openxmlformats.org/officeDocument/2006/relationships/notesMaster" Target="/ppt/notesMasters/notesMaster1.xml" Id="R7fabf74de8ba452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c1b05e2ed034ac0" /><Relationship Type="http://schemas.openxmlformats.org/officeDocument/2006/relationships/notesMaster" Target="/ppt/notesMasters/notesMaster1.xml" Id="R9993e983165440f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abb1f6d80574bf9" /><Relationship Type="http://schemas.openxmlformats.org/officeDocument/2006/relationships/notesMaster" Target="/ppt/notesMasters/notesMaster1.xml" Id="Rc1e08b232c20449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fd05a00237e478d" /><Relationship Type="http://schemas.openxmlformats.org/officeDocument/2006/relationships/notesMaster" Target="/ppt/notesMasters/notesMaster1.xml" Id="Rb254eb1f42f44cc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66d5218b50c4c93" /><Relationship Type="http://schemas.openxmlformats.org/officeDocument/2006/relationships/notesMaster" Target="/ppt/notesMasters/notesMaster1.xml" Id="R2b1922654221411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cdf4ba0ab4344e1" /><Relationship Type="http://schemas.openxmlformats.org/officeDocument/2006/relationships/notesMaster" Target="/ppt/notesMasters/notesMaster1.xml" Id="R6ffb03b40d63408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a7ed19b6d1f4374" /><Relationship Type="http://schemas.openxmlformats.org/officeDocument/2006/relationships/notesMaster" Target="/ppt/notesMasters/notesMaster1.xml" Id="R7ececcea2a28447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0aab072bb2641f6" /><Relationship Type="http://schemas.openxmlformats.org/officeDocument/2006/relationships/notesMaster" Target="/ppt/notesMasters/notesMaster1.xml" Id="R42b7c0d5c15342f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239969e3ab34743" /><Relationship Type="http://schemas.openxmlformats.org/officeDocument/2006/relationships/notesMaster" Target="/ppt/notesMasters/notesMaster1.xml" Id="R271a8a0d4bca420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dbbbb1f118348d4" /><Relationship Type="http://schemas.openxmlformats.org/officeDocument/2006/relationships/notesMaster" Target="/ppt/notesMasters/notesMaster1.xml" Id="Raec12df634f741c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06fc3a712cd4fc8" /><Relationship Type="http://schemas.openxmlformats.org/officeDocument/2006/relationships/notesMaster" Target="/ppt/notesMasters/notesMaster1.xml" Id="R8d59c741d7d040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Using pandas to answer table questions</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Using pandas to answer table questions.</a:t>
            </a:r>
          </a:p>
          <a:p xmlns:a="http://schemas.openxmlformats.org/drawingml/2006/main">
            <a:r>
              <a:t/>
            </a:r>
          </a:p>
          <a:p xmlns:a="http://schemas.openxmlformats.org/drawingml/2006/main">
            <a:r>
              <a:t>EXPLAIN</a:t>
            </a:r>
          </a:p>
          <a:p xmlns:a="http://schemas.openxmlformats.org/drawingml/2006/main">
            <a:r>
              <a:t>Read a labelled table and select rows.</a:t>
            </a:r>
          </a:p>
          <a:p xmlns:a="http://schemas.openxmlformats.org/drawingml/2006/main">
            <a:r>
              <a:t/>
            </a:r>
          </a:p>
          <a:p xmlns:a="http://schemas.openxmlformats.org/drawingml/2006/main">
            <a:r>
              <a:t>Calculate column summaries and grouped totals.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NumPy broadcasting, broad Kaggle searches and twelve-plus-ten independent questions are optional extension. No change of editor is needed.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Week 4 used lists, dictionaries, loops and CSV rows. pandas keeps these same records in a labelled table and provides operations that work across its columns.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The supplied campus_energy.csv records campus electricity use. We practise pandas on four invented rows first, then inspect the supplied file and its units.</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Rows columns and units.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columns and units</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A row describes one observation. A column describes one field.</a:t>
            </a:r>
          </a:p>
          <a:p xmlns:a="http://schemas.openxmlformats.org/drawingml/2006/main">
            <a:r>
              <a:t/>
            </a:r>
          </a:p>
          <a:p xmlns:a="http://schemas.openxmlformats.org/drawingml/2006/main">
            <a:r>
              <a:t>A DataFrame is pandas’ labelled table.</a:t>
            </a:r>
          </a:p>
          <a:p xmlns:a="http://schemas.openxmlformats.org/drawingml/2006/main">
            <a:r>
              <a:t/>
            </a:r>
          </a:p>
          <a:p xmlns:a="http://schemas.openxmlformats.org/drawingml/2006/main">
            <a:r>
              <a:t>A Series is one labelled column.</a:t>
            </a:r>
          </a:p>
          <a:p xmlns:a="http://schemas.openxmlformats.org/drawingml/2006/main">
            <a:r>
              <a:t/>
            </a:r>
          </a:p>
          <a:p xmlns:a="http://schemas.openxmlformats.org/drawingml/2006/main">
            <a:r>
              <a:t>kWh measures energy. kW measures power.</a:t>
            </a:r>
          </a:p>
          <a:p xmlns:a="http://schemas.openxmlformats.org/drawingml/2006/main">
            <a:r>
              <a:t/>
            </a:r>
          </a:p>
          <a:p xmlns:a="http://schemas.openxmlformats.org/drawingml/2006/main">
            <a:r>
              <a:t>A data type (dtype) describes the kind of values in a column, such as whole numbers, decimals or text.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table keeps related observations together.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table keeps related observations together</a:t>
            </a:r>
          </a:p>
          <a:p xmlns:a="http://schemas.openxmlformats.org/drawingml/2006/main">
            <a:r>
              <a:t/>
            </a:r>
          </a:p>
          <a:p xmlns:a="http://schemas.openxmlformats.org/drawingml/2006/main">
            <a:r>
              <a:t>CONNECT</a:t>
            </a:r>
          </a:p>
          <a:p xmlns:a="http://schemas.openxmlformats.org/drawingml/2006/main">
            <a:r>
              <a:t>Previous slide: Rows columns and units.</a:t>
            </a:r>
          </a:p>
          <a:p xmlns:a="http://schemas.openxmlformats.org/drawingml/2006/main">
            <a:r>
              <a:t/>
            </a:r>
          </a:p>
          <a:p xmlns:a="http://schemas.openxmlformats.org/drawingml/2006/main">
            <a:r>
              <a:t>EXPLAIN</a:t>
            </a:r>
          </a:p>
          <a:p xmlns:a="http://schemas.openxmlformats.org/drawingml/2006/main">
            <a:r>
              <a:t>Our four rows record building A twice and building B twice.</a:t>
            </a:r>
          </a:p>
          <a:p xmlns:a="http://schemas.openxmlformats.org/drawingml/2006/main">
            <a:r>
              <a:t/>
            </a:r>
          </a:p>
          <a:p xmlns:a="http://schemas.openxmlformats.org/drawingml/2006/main">
            <a:r>
              <a:t>Each row contains the building label and an energy reading.</a:t>
            </a:r>
          </a:p>
          <a:p xmlns:a="http://schemas.openxmlformats.org/drawingml/2006/main">
            <a:r>
              <a:t/>
            </a:r>
          </a:p>
          <a:p xmlns:a="http://schemas.openxmlformats.org/drawingml/2006/main">
            <a:r>
              <a:t>kWh is energy. kW is power. The units describe different quantities.</a:t>
            </a:r>
          </a:p>
          <a:p xmlns:a="http://schemas.openxmlformats.org/drawingml/2006/main">
            <a:r>
              <a:t/>
            </a:r>
          </a:p>
          <a:p xmlns:a="http://schemas.openxmlformats.org/drawingml/2006/main">
            <a:r>
              <a:t>LECTURER CUE</a:t>
            </a:r>
          </a:p>
          <a:p xmlns:a="http://schemas.openxmlformats.org/drawingml/2006/main">
            <a:r>
              <a:t>Draw a four-row table before running the example. Describe a reading of kWh as energy, and kW as power; the units are different.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Our small energy table.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Our small energy table</a:t>
            </a:r>
          </a:p>
          <a:p xmlns:a="http://schemas.openxmlformats.org/drawingml/2006/main">
            <a:r>
              <a:t/>
            </a:r>
          </a:p>
          <a:p xmlns:a="http://schemas.openxmlformats.org/drawingml/2006/main">
            <a:r>
              <a:t>CONNECT</a:t>
            </a:r>
          </a:p>
          <a:p xmlns:a="http://schemas.openxmlformats.org/drawingml/2006/main">
            <a:r>
              <a:t>Previous slide: A table keeps related observations together.</a:t>
            </a:r>
          </a:p>
          <a:p xmlns:a="http://schemas.openxmlformats.org/drawingml/2006/main">
            <a:r>
              <a:t/>
            </a:r>
          </a:p>
          <a:p xmlns:a="http://schemas.openxmlformats.org/drawingml/2006/main">
            <a:r>
              <a:t>EXPLAIN</a:t>
            </a:r>
          </a:p>
          <a:p xmlns:a="http://schemas.openxmlformats.org/drawingml/2006/main">
            <a:r>
              <a:t>building | kwh</a:t>
            </a:r>
          </a:p>
          <a:p xmlns:a="http://schemas.openxmlformats.org/drawingml/2006/main">
            <a:r>
              <a:t/>
            </a:r>
          </a:p>
          <a:p xmlns:a="http://schemas.openxmlformats.org/drawingml/2006/main">
            <a:r>
              <a:t>A | 2</a:t>
            </a:r>
          </a:p>
          <a:p xmlns:a="http://schemas.openxmlformats.org/drawingml/2006/main">
            <a:r>
              <a:t/>
            </a:r>
          </a:p>
          <a:p xmlns:a="http://schemas.openxmlformats.org/drawingml/2006/main">
            <a:r>
              <a:t>A | 4</a:t>
            </a:r>
          </a:p>
          <a:p xmlns:a="http://schemas.openxmlformats.org/drawingml/2006/main">
            <a:r>
              <a:t/>
            </a:r>
          </a:p>
          <a:p xmlns:a="http://schemas.openxmlformats.org/drawingml/2006/main">
            <a:r>
              <a:t>B | 5</a:t>
            </a:r>
          </a:p>
          <a:p xmlns:a="http://schemas.openxmlformats.org/drawingml/2006/main">
            <a:r>
              <a:t/>
            </a:r>
          </a:p>
          <a:p xmlns:a="http://schemas.openxmlformats.org/drawingml/2006/main">
            <a:r>
              <a:t>B | 7</a:t>
            </a:r>
          </a:p>
          <a:p xmlns:a="http://schemas.openxmlformats.org/drawingml/2006/main">
            <a:r>
              <a:t/>
            </a:r>
          </a:p>
          <a:p xmlns:a="http://schemas.openxmlformats.org/drawingml/2006/main">
            <a:r>
              <a:t>The four observations total 18 kWh.</a:t>
            </a:r>
          </a:p>
          <a:p xmlns:a="http://schemas.openxmlformats.org/drawingml/2006/main">
            <a:r>
              <a:t/>
            </a:r>
          </a:p>
          <a:p xmlns:a="http://schemas.openxmlformats.org/drawingml/2006/main">
            <a:r>
              <a:t>LECTURER CUE</a:t>
            </a:r>
          </a:p>
          <a:p xmlns:a="http://schemas.openxmlformats.org/drawingml/2006/main">
            <a:r>
              <a:t>The four observations total 18 kWh. Their mean is 4.5 kWh. Building totals are A: 6 and B: 12.</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Library and pandas and DataFrame.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Library and pandas and DataFrame</a:t>
            </a:r>
          </a:p>
          <a:p xmlns:a="http://schemas.openxmlformats.org/drawingml/2006/main">
            <a:r>
              <a:t/>
            </a:r>
          </a:p>
          <a:p xmlns:a="http://schemas.openxmlformats.org/drawingml/2006/main">
            <a:r>
              <a:t>CONNECT</a:t>
            </a:r>
          </a:p>
          <a:p xmlns:a="http://schemas.openxmlformats.org/drawingml/2006/main">
            <a:r>
              <a:t>Previous slide: Our small energy table.</a:t>
            </a:r>
          </a:p>
          <a:p xmlns:a="http://schemas.openxmlformats.org/drawingml/2006/main">
            <a:r>
              <a:t/>
            </a:r>
          </a:p>
          <a:p xmlns:a="http://schemas.openxmlformats.org/drawingml/2006/main">
            <a:r>
              <a:t>EXPLAIN</a:t>
            </a:r>
          </a:p>
          <a:p xmlns:a="http://schemas.openxmlformats.org/drawingml/2006/main">
            <a:r>
              <a:t>Library and pandas: A library is reusable code. pandas provides tools for data tables. import pandas as pd makes pd a short name for that library.</a:t>
            </a:r>
          </a:p>
          <a:p xmlns:a="http://schemas.openxmlformats.org/drawingml/2006/main">
            <a:r>
              <a:t/>
            </a:r>
          </a:p>
          <a:p xmlns:a="http://schemas.openxmlformats.org/drawingml/2006/main">
            <a:r>
              <a:t>DataFrame: A table with named columns and indexed rows. df is just the variable name we choose for this table.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labelled table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labelled table in Python</a:t>
            </a:r>
          </a:p>
          <a:p xmlns:a="http://schemas.openxmlformats.org/drawingml/2006/main">
            <a:r>
              <a:t/>
            </a:r>
          </a:p>
          <a:p xmlns:a="http://schemas.openxmlformats.org/drawingml/2006/main">
            <a:r>
              <a:t>CONNECT</a:t>
            </a:r>
          </a:p>
          <a:p xmlns:a="http://schemas.openxmlformats.org/drawingml/2006/main">
            <a:r>
              <a:t>Previous slide: Library and pandas and DataFrame.</a:t>
            </a:r>
          </a:p>
          <a:p xmlns:a="http://schemas.openxmlformats.org/drawingml/2006/main">
            <a:r>
              <a:t/>
            </a:r>
          </a:p>
          <a:p xmlns:a="http://schemas.openxmlformats.org/drawingml/2006/main">
            <a:r>
              <a:t>EXPLAIN</a:t>
            </a:r>
          </a:p>
          <a:p xmlns:a="http://schemas.openxmlformats.org/drawingml/2006/main">
            <a:r>
              <a:t>The illustration uses machinery records. The same row, column and index structure applies to our building-energy table.</a:t>
            </a:r>
          </a:p>
          <a:p xmlns:a="http://schemas.openxmlformats.org/drawingml/2006/main">
            <a:r>
              <a:t/>
            </a:r>
          </a:p>
          <a:p xmlns:a="http://schemas.openxmlformats.org/drawingml/2006/main">
            <a:r>
              <a:t>LECTURER CUE</a:t>
            </a:r>
          </a:p>
          <a:p xmlns:a="http://schemas.openxmlformats.org/drawingml/2006/main">
            <a:r>
              <a:t>Point to one row, column, index and dtype. This maintenance table is illustrative. Work with the issued cohort table next.</a:t>
            </a:r>
          </a:p>
          <a:p xmlns:a="http://schemas.openxmlformats.org/drawingml/2006/main">
            <a:r>
              <a:t>Source: existing course illustration figs/dataframe_anatomy.png.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Series and Method and attribute.</a:t>
            </a:r>
          </a:p>
          <a:p xmlns:a="http://schemas.openxmlformats.org/drawingml/2006/main">
            <a:r>
              <a:t/>
            </a:r>
          </a:p>
          <a:p xmlns:a="http://schemas.openxmlformats.org/drawingml/2006/main">
            <a:r>
              <a:t>REFERENCES</a:t>
            </a:r>
          </a:p>
          <a:p xmlns:a="http://schemas.openxmlformats.org/drawingml/2006/main">
            <a:r>
              <a:t>Source: existing course illustration figs/dataframe_anatomy.png.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Series and Method and attribute</a:t>
            </a:r>
          </a:p>
          <a:p xmlns:a="http://schemas.openxmlformats.org/drawingml/2006/main">
            <a:r>
              <a:t/>
            </a:r>
          </a:p>
          <a:p xmlns:a="http://schemas.openxmlformats.org/drawingml/2006/main">
            <a:r>
              <a:t>CONNECT</a:t>
            </a:r>
          </a:p>
          <a:p xmlns:a="http://schemas.openxmlformats.org/drawingml/2006/main">
            <a:r>
              <a:t>Previous slide: A labelled table in Python.</a:t>
            </a:r>
          </a:p>
          <a:p xmlns:a="http://schemas.openxmlformats.org/drawingml/2006/main">
            <a:r>
              <a:t/>
            </a:r>
          </a:p>
          <a:p xmlns:a="http://schemas.openxmlformats.org/drawingml/2006/main">
            <a:r>
              <a:t>EXPLAIN</a:t>
            </a:r>
          </a:p>
          <a:p xmlns:a="http://schemas.openxmlformats.org/drawingml/2006/main">
            <a:r>
              <a:t>Series: One labelled column. df["kwh"] selects the column named kwh.</a:t>
            </a:r>
          </a:p>
          <a:p xmlns:a="http://schemas.openxmlformats.org/drawingml/2006/main">
            <a:r>
              <a:t/>
            </a:r>
          </a:p>
          <a:p xmlns:a="http://schemas.openxmlformats.org/drawingml/2006/main">
            <a:r>
              <a:t>Method and attribute: A method performs an operation, as in df.head(). An attribute provides a stored property, as in df.shape. Parentheses call an operation.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pandas syntax.</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pandas syntax</a:t>
            </a:r>
          </a:p>
          <a:p xmlns:a="http://schemas.openxmlformats.org/drawingml/2006/main">
            <a:r>
              <a:t/>
            </a:r>
          </a:p>
          <a:p xmlns:a="http://schemas.openxmlformats.org/drawingml/2006/main">
            <a:r>
              <a:t>CONNECT</a:t>
            </a:r>
          </a:p>
          <a:p xmlns:a="http://schemas.openxmlformats.org/drawingml/2006/main">
            <a:r>
              <a:t>Previous slide: Series and Method and attribute.</a:t>
            </a:r>
          </a:p>
          <a:p xmlns:a="http://schemas.openxmlformats.org/drawingml/2006/main">
            <a:r>
              <a:t/>
            </a:r>
          </a:p>
          <a:p xmlns:a="http://schemas.openxmlformats.org/drawingml/2006/main">
            <a:r>
              <a:t>EXPLAIN</a:t>
            </a:r>
          </a:p>
          <a:p xmlns:a="http://schemas.openxmlformats.org/drawingml/2006/main">
            <a:r>
              <a:t>import pandas as pd loads the library and gives it a short name.</a:t>
            </a:r>
          </a:p>
          <a:p xmlns:a="http://schemas.openxmlformats.org/drawingml/2006/main">
            <a:r>
              <a:t/>
            </a:r>
          </a:p>
          <a:p xmlns:a="http://schemas.openxmlformats.org/drawingml/2006/main">
            <a:r>
              <a:t>pd.read_csv("file.csv") calls a function. The quoted text is the file path.</a:t>
            </a:r>
          </a:p>
          <a:p xmlns:a="http://schemas.openxmlformats.org/drawingml/2006/main">
            <a:r>
              <a:t/>
            </a:r>
          </a:p>
          <a:p xmlns:a="http://schemas.openxmlformats.org/drawingml/2006/main">
            <a:r>
              <a:t>df["kwh"] selects a column. df["kwh"].mean() calls a method on that column.</a:t>
            </a:r>
          </a:p>
          <a:p xmlns:a="http://schemas.openxmlformats.org/drawingml/2006/main">
            <a:r>
              <a:t/>
            </a:r>
          </a:p>
          <a:p xmlns:a="http://schemas.openxmlformats.org/drawingml/2006/main">
            <a:r>
              <a:t>LECTURER CUE</a:t>
            </a:r>
          </a:p>
          <a:p xmlns:a="http://schemas.openxmlformats.org/drawingml/2006/main">
            <a:r>
              <a:t>Replace file.csv with the actual issued filename. Explain library, alias, function and method before running the worked example.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table constructor in stages.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table constructor in stages</a:t>
            </a:r>
          </a:p>
          <a:p xmlns:a="http://schemas.openxmlformats.org/drawingml/2006/main">
            <a:r>
              <a:t/>
            </a:r>
          </a:p>
          <a:p xmlns:a="http://schemas.openxmlformats.org/drawingml/2006/main">
            <a:r>
              <a:t>CONNECT</a:t>
            </a:r>
          </a:p>
          <a:p xmlns:a="http://schemas.openxmlformats.org/drawingml/2006/main">
            <a:r>
              <a:t>Previous slide: Reading pandas syntax.</a:t>
            </a:r>
          </a:p>
          <a:p xmlns:a="http://schemas.openxmlformats.org/drawingml/2006/main">
            <a:r>
              <a:t/>
            </a:r>
          </a:p>
          <a:p xmlns:a="http://schemas.openxmlformats.org/drawingml/2006/main">
            <a:r>
              <a:t>EXPLAIN</a:t>
            </a:r>
          </a:p>
          <a:p xmlns:a="http://schemas.openxmlformats.org/drawingml/2006/main">
            <a:r>
              <a:t>import pandas as pd loads pandas and gives it the shorter name pd. This is an alias; you could use another name consistently.</a:t>
            </a:r>
          </a:p>
          <a:p xmlns:a="http://schemas.openxmlformats.org/drawingml/2006/main">
            <a:r>
              <a:t/>
            </a:r>
          </a:p>
          <a:p xmlns:a="http://schemas.openxmlformats.org/drawingml/2006/main">
            <a:r>
              <a:t>Inside pd.DataFrame(...), the dictionary keys become column names. Each list supplies that column’s values in row order.</a:t>
            </a:r>
          </a:p>
          <a:p xmlns:a="http://schemas.openxmlformats.org/drawingml/2006/main">
            <a:r>
              <a:t/>
            </a:r>
          </a:p>
          <a:p xmlns:a="http://schemas.openxmlformats.org/drawingml/2006/main">
            <a:r>
              <a:t>All these column lists have the same length. At position 0, building is "A" and kwh is 2; together they form the first row.</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Build the table before asking questions.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Build the table before asking questions</a:t>
            </a:r>
          </a:p>
          <a:p xmlns:a="http://schemas.openxmlformats.org/drawingml/2006/main">
            <a:r>
              <a:t/>
            </a:r>
          </a:p>
          <a:p xmlns:a="http://schemas.openxmlformats.org/drawingml/2006/main">
            <a:r>
              <a:t>CONNECT</a:t>
            </a:r>
          </a:p>
          <a:p xmlns:a="http://schemas.openxmlformats.org/drawingml/2006/main">
            <a:r>
              <a:t>Previous slide: Read the table constructor in stages.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import pandas as pd</a:t>
            </a:r>
          </a:p>
          <a:p xmlns:a="http://schemas.openxmlformats.org/drawingml/2006/main">
            <a:r>
              <a:t>df = pd.DataFrame({"building": ["A", "A", "B", "B"],</a:t>
            </a:r>
          </a:p>
          <a:p xmlns:a="http://schemas.openxmlformats.org/drawingml/2006/main">
            <a:r>
              <a:t>                   "kwh": [2, 4, 5, 7]})</a:t>
            </a:r>
          </a:p>
          <a:p xmlns:a="http://schemas.openxmlformats.org/drawingml/2006/main">
            <a:r>
              <a:t>print(df)</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Each dictionary key becomes a column name. Equal-length lists supply its rows.</a:t>
            </a:r>
          </a:p>
          <a:p xmlns:a="http://schemas.openxmlformats.org/drawingml/2006/main">
            <a:r>
              <a:t/>
            </a:r>
          </a:p>
          <a:p xmlns:a="http://schemas.openxmlformats.org/drawingml/2006/main">
            <a:r>
              <a:t>LECTURER CUE</a:t>
            </a:r>
          </a:p>
          <a:p xmlns:a="http://schemas.openxmlformats.org/drawingml/2006/main">
            <a:r>
              <a:t>Each dictionary key becomes a column name. Equal-length lists supply its rows.</a:t>
            </a:r>
          </a:p>
          <a:p xmlns:a="http://schemas.openxmlformats.org/drawingml/2006/main">
            <a:r>
              <a:t/>
            </a:r>
          </a:p>
          <a:p xmlns:a="http://schemas.openxmlformats.org/drawingml/2006/main">
            <a:r>
              <a:t>Complete practice code:</a:t>
            </a:r>
          </a:p>
          <a:p xmlns:a="http://schemas.openxmlformats.org/drawingml/2006/main">
            <a:r>
              <a:t>import pandas as pd</a:t>
            </a:r>
          </a:p>
          <a:p xmlns:a="http://schemas.openxmlformats.org/drawingml/2006/main">
            <a:r>
              <a:t>df = pd.DataFrame({"building": ["A", "A", "B", "B"],</a:t>
            </a:r>
          </a:p>
          <a:p xmlns:a="http://schemas.openxmlformats.org/drawingml/2006/main">
            <a:r>
              <a:t>                   "kwh": [2, 4, 5, 7]})</a:t>
            </a:r>
          </a:p>
          <a:p xmlns:a="http://schemas.openxmlformats.org/drawingml/2006/main">
            <a:r>
              <a:t>print(df)</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 first then summarise.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 first then summarise</a:t>
            </a:r>
          </a:p>
          <a:p xmlns:a="http://schemas.openxmlformats.org/drawingml/2006/main">
            <a:r>
              <a:t/>
            </a:r>
          </a:p>
          <a:p xmlns:a="http://schemas.openxmlformats.org/drawingml/2006/main">
            <a:r>
              <a:t>CONNECT</a:t>
            </a:r>
          </a:p>
          <a:p xmlns:a="http://schemas.openxmlformats.org/drawingml/2006/main">
            <a:r>
              <a:t>Previous slide: Build the table before asking questions.</a:t>
            </a:r>
          </a:p>
          <a:p xmlns:a="http://schemas.openxmlformats.org/drawingml/2006/main">
            <a:r>
              <a:t/>
            </a:r>
          </a:p>
          <a:p xmlns:a="http://schemas.openxmlformats.org/drawingml/2006/main">
            <a:r>
              <a:t>EXPLAIN</a:t>
            </a:r>
          </a:p>
          <a:p xmlns:a="http://schemas.openxmlformats.org/drawingml/2006/main">
            <a:r>
              <a:t>df["kwh"] selects the energy column as a Series, which is a labelled sequence of values. Its entries are 2, 4, 5 and 7.</a:t>
            </a:r>
          </a:p>
          <a:p xmlns:a="http://schemas.openxmlformats.org/drawingml/2006/main">
            <a:r>
              <a:t/>
            </a:r>
          </a:p>
          <a:p xmlns:a="http://schemas.openxmlformats.org/drawingml/2006/main">
            <a:r>
              <a:t>Store it as energy = df["kwh"]. energy.mean() adds those four values and divides by four: 18 / 4 = 4.5.</a:t>
            </a:r>
          </a:p>
          <a:p xmlns:a="http://schemas.openxmlformats.org/drawingml/2006/main">
            <a:r>
              <a:t/>
            </a:r>
          </a:p>
          <a:p xmlns:a="http://schemas.openxmlformats.org/drawingml/2006/main">
            <a:r>
              <a:t>df["kwh"].mean() combines those same two steps. A dot chooses a method; parentheses call it.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 a column and calculate its mean.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 a column and calculate its mean</a:t>
            </a:r>
          </a:p>
          <a:p xmlns:a="http://schemas.openxmlformats.org/drawingml/2006/main">
            <a:r>
              <a:t/>
            </a:r>
          </a:p>
          <a:p xmlns:a="http://schemas.openxmlformats.org/drawingml/2006/main">
            <a:r>
              <a:t>CONNECT</a:t>
            </a:r>
          </a:p>
          <a:p xmlns:a="http://schemas.openxmlformats.org/drawingml/2006/main">
            <a:r>
              <a:t>Previous slide: Select first then summarise.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print(df["kwh"])</a:t>
            </a:r>
          </a:p>
          <a:p xmlns:a="http://schemas.openxmlformats.org/drawingml/2006/main">
            <a:r>
              <a:t>print(df["kwh"].mean())</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The four numbers are 2, 4, 5 and 7. Their mean is 18 / 4 = 4.5 kWh.</a:t>
            </a:r>
          </a:p>
          <a:p xmlns:a="http://schemas.openxmlformats.org/drawingml/2006/main">
            <a:r>
              <a:t/>
            </a:r>
          </a:p>
          <a:p xmlns:a="http://schemas.openxmlformats.org/drawingml/2006/main">
            <a:r>
              <a:t>LECTURER CUE</a:t>
            </a:r>
          </a:p>
          <a:p xmlns:a="http://schemas.openxmlformats.org/drawingml/2006/main">
            <a:r>
              <a:t>The four numbers are 2, 4, 5 and 7. Their mean is 18 / 4 = 4.5 kWh.</a:t>
            </a:r>
          </a:p>
          <a:p xmlns:a="http://schemas.openxmlformats.org/drawingml/2006/main">
            <a:r>
              <a:t/>
            </a:r>
          </a:p>
          <a:p xmlns:a="http://schemas.openxmlformats.org/drawingml/2006/main">
            <a:r>
              <a:t>Complete practice code:</a:t>
            </a:r>
          </a:p>
          <a:p xmlns:a="http://schemas.openxmlformats.org/drawingml/2006/main">
            <a:r>
              <a:t>print(df["kwh"])</a:t>
            </a:r>
          </a:p>
          <a:p xmlns:a="http://schemas.openxmlformats.org/drawingml/2006/main">
            <a:r>
              <a:t>print(df["kwh"].mean())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Mask and filter.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Mask and filter</a:t>
            </a:r>
          </a:p>
          <a:p xmlns:a="http://schemas.openxmlformats.org/drawingml/2006/main">
            <a:r>
              <a:t/>
            </a:r>
          </a:p>
          <a:p xmlns:a="http://schemas.openxmlformats.org/drawingml/2006/main">
            <a:r>
              <a:t>CONNECT</a:t>
            </a:r>
          </a:p>
          <a:p xmlns:a="http://schemas.openxmlformats.org/drawingml/2006/main">
            <a:r>
              <a:t>Previous slide: Select a column and calculate its mean.</a:t>
            </a:r>
          </a:p>
          <a:p xmlns:a="http://schemas.openxmlformats.org/drawingml/2006/main">
            <a:r>
              <a:t/>
            </a:r>
          </a:p>
          <a:p xmlns:a="http://schemas.openxmlformats.org/drawingml/2006/main">
            <a:r>
              <a:t>EXPLAIN</a:t>
            </a:r>
          </a:p>
          <a:p xmlns:a="http://schemas.openxmlformats.org/drawingml/2006/main">
            <a:r>
              <a:t>Mask and filter: A comparison produces True/False for each row. df[mask] keeps the True rows.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comparison creates a Boolean mask.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comparison creates a Boolean mask</a:t>
            </a:r>
          </a:p>
          <a:p xmlns:a="http://schemas.openxmlformats.org/drawingml/2006/main">
            <a:r>
              <a:t/>
            </a:r>
          </a:p>
          <a:p xmlns:a="http://schemas.openxmlformats.org/drawingml/2006/main">
            <a:r>
              <a:t>CONNECT</a:t>
            </a:r>
          </a:p>
          <a:p xmlns:a="http://schemas.openxmlformats.org/drawingml/2006/main">
            <a:r>
              <a:t>Previous slide: Mask and filter.</a:t>
            </a:r>
          </a:p>
          <a:p xmlns:a="http://schemas.openxmlformats.org/drawingml/2006/main">
            <a:r>
              <a:t/>
            </a:r>
          </a:p>
          <a:p xmlns:a="http://schemas.openxmlformats.org/drawingml/2006/main">
            <a:r>
              <a:t>EXPLAIN</a:t>
            </a:r>
          </a:p>
          <a:p xmlns:a="http://schemas.openxmlformats.org/drawingml/2006/main">
            <a:r>
              <a:t>The illustration filters torque readings. Our next example applies the same True/False selection to kWh values.</a:t>
            </a:r>
          </a:p>
          <a:p xmlns:a="http://schemas.openxmlformats.org/drawingml/2006/main">
            <a:r>
              <a:t/>
            </a:r>
          </a:p>
          <a:p xmlns:a="http://schemas.openxmlformats.org/drawingml/2006/main">
            <a:r>
              <a:t>LECTURER CUE</a:t>
            </a:r>
          </a:p>
          <a:p xmlns:a="http://schemas.openxmlformats.org/drawingml/2006/main">
            <a:r>
              <a:t>Read &gt; as greater than, then trace one row through the mask. Selection does not delete the source rows. 40 is a practice threshold, not a safety standard.</a:t>
            </a:r>
          </a:p>
          <a:p xmlns:a="http://schemas.openxmlformats.org/drawingml/2006/main">
            <a:r>
              <a:t>Source: existing course illustration figs/boolean_mask.png.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Keep rows where the comparison is true.</a:t>
            </a:r>
          </a:p>
          <a:p xmlns:a="http://schemas.openxmlformats.org/drawingml/2006/main">
            <a:r>
              <a:t/>
            </a:r>
          </a:p>
          <a:p xmlns:a="http://schemas.openxmlformats.org/drawingml/2006/main">
            <a:r>
              <a:t>REFERENCES</a:t>
            </a:r>
          </a:p>
          <a:p xmlns:a="http://schemas.openxmlformats.org/drawingml/2006/main">
            <a:r>
              <a:t>Source: existing course illustration figs/boolean_mask.png.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 rows where the comparison is true</a:t>
            </a:r>
          </a:p>
          <a:p xmlns:a="http://schemas.openxmlformats.org/drawingml/2006/main">
            <a:r>
              <a:t/>
            </a:r>
          </a:p>
          <a:p xmlns:a="http://schemas.openxmlformats.org/drawingml/2006/main">
            <a:r>
              <a:t>CONNECT</a:t>
            </a:r>
          </a:p>
          <a:p xmlns:a="http://schemas.openxmlformats.org/drawingml/2006/main">
            <a:r>
              <a:t>Previous slide: A comparison creates a Boolean mask.</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mask = df["kwh"] &gt; 4</a:t>
            </a:r>
          </a:p>
          <a:p xmlns:a="http://schemas.openxmlformats.org/drawingml/2006/main">
            <a:r>
              <a:t>print(mask)</a:t>
            </a:r>
          </a:p>
          <a:p xmlns:a="http://schemas.openxmlformats.org/drawingml/2006/main">
            <a:r>
              <a:t>print(df[mask])</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The mask is False, False, True, True. The selected rows contain 5 and 7 kWh.</a:t>
            </a:r>
          </a:p>
          <a:p xmlns:a="http://schemas.openxmlformats.org/drawingml/2006/main">
            <a:r>
              <a:t/>
            </a:r>
          </a:p>
          <a:p xmlns:a="http://schemas.openxmlformats.org/drawingml/2006/main">
            <a:r>
              <a:t>LECTURER CUE</a:t>
            </a:r>
          </a:p>
          <a:p xmlns:a="http://schemas.openxmlformats.org/drawingml/2006/main">
            <a:r>
              <a:t>The mask is False, False, True, True. The selected rows contain 5 and 7 kWh.</a:t>
            </a:r>
          </a:p>
          <a:p xmlns:a="http://schemas.openxmlformats.org/drawingml/2006/main">
            <a:r>
              <a:t/>
            </a:r>
          </a:p>
          <a:p xmlns:a="http://schemas.openxmlformats.org/drawingml/2006/main">
            <a:r>
              <a:t>Complete practice code:</a:t>
            </a:r>
          </a:p>
          <a:p xmlns:a="http://schemas.openxmlformats.org/drawingml/2006/main">
            <a:r>
              <a:t>mask = df["kwh"] &gt; 4</a:t>
            </a:r>
          </a:p>
          <a:p xmlns:a="http://schemas.openxmlformats.org/drawingml/2006/main">
            <a:r>
              <a:t>print(mask)</a:t>
            </a:r>
          </a:p>
          <a:p xmlns:a="http://schemas.openxmlformats.org/drawingml/2006/main">
            <a:r>
              <a:t>print(df[mask])</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groupby and aggregation.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groupby and aggregation</a:t>
            </a:r>
          </a:p>
          <a:p xmlns:a="http://schemas.openxmlformats.org/drawingml/2006/main">
            <a:r>
              <a:t/>
            </a:r>
          </a:p>
          <a:p xmlns:a="http://schemas.openxmlformats.org/drawingml/2006/main">
            <a:r>
              <a:t>CONNECT</a:t>
            </a:r>
          </a:p>
          <a:p xmlns:a="http://schemas.openxmlformats.org/drawingml/2006/main">
            <a:r>
              <a:t>Previous slide: Keep rows where the comparison is true.</a:t>
            </a:r>
          </a:p>
          <a:p xmlns:a="http://schemas.openxmlformats.org/drawingml/2006/main">
            <a:r>
              <a:t/>
            </a:r>
          </a:p>
          <a:p xmlns:a="http://schemas.openxmlformats.org/drawingml/2006/main">
            <a:r>
              <a:t>EXPLAIN</a:t>
            </a:r>
          </a:p>
          <a:p xmlns:a="http://schemas.openxmlformats.org/drawingml/2006/main">
            <a:r>
              <a:t>groupby and aggregation: groupby collects rows with the same label. An aggregation such as sum or mean returns a summary for each group.</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 group total before using groupby.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 group total before using groupby</a:t>
            </a:r>
          </a:p>
          <a:p xmlns:a="http://schemas.openxmlformats.org/drawingml/2006/main">
            <a:r>
              <a:t/>
            </a:r>
          </a:p>
          <a:p xmlns:a="http://schemas.openxmlformats.org/drawingml/2006/main">
            <a:r>
              <a:t>CONNECT</a:t>
            </a:r>
          </a:p>
          <a:p xmlns:a="http://schemas.openxmlformats.org/drawingml/2006/main">
            <a:r>
              <a:t>Previous slide: groupby and aggregation.</a:t>
            </a:r>
          </a:p>
          <a:p xmlns:a="http://schemas.openxmlformats.org/drawingml/2006/main">
            <a:r>
              <a:t/>
            </a:r>
          </a:p>
          <a:p xmlns:a="http://schemas.openxmlformats.org/drawingml/2006/main">
            <a:r>
              <a:t>EXPLAIN</a:t>
            </a:r>
          </a:p>
          <a:p xmlns:a="http://schemas.openxmlformats.org/drawingml/2006/main">
            <a:r>
              <a:t>Group | Values assigned to it | Total</a:t>
            </a:r>
          </a:p>
          <a:p xmlns:a="http://schemas.openxmlformats.org/drawingml/2006/main">
            <a:r>
              <a:t/>
            </a:r>
          </a:p>
          <a:p xmlns:a="http://schemas.openxmlformats.org/drawingml/2006/main">
            <a:r>
              <a:t>A | 2 and 4 | 6</a:t>
            </a:r>
          </a:p>
          <a:p xmlns:a="http://schemas.openxmlformats.org/drawingml/2006/main">
            <a:r>
              <a:t/>
            </a:r>
          </a:p>
          <a:p xmlns:a="http://schemas.openxmlformats.org/drawingml/2006/main">
            <a:r>
              <a:t>B | 5 and 7 | 12</a:t>
            </a:r>
          </a:p>
          <a:p xmlns:a="http://schemas.openxmlformats.org/drawingml/2006/main">
            <a:r>
              <a:t/>
            </a:r>
          </a:p>
          <a:p xmlns:a="http://schemas.openxmlformats.org/drawingml/2006/main">
            <a:r>
              <a:t>groupby separates rows by the building label. sum adds the kWh values inside each group.</a:t>
            </a:r>
          </a:p>
          <a:p xmlns:a="http://schemas.openxmlformats.org/drawingml/2006/main">
            <a:r>
              <a:t/>
            </a:r>
          </a:p>
          <a:p xmlns:a="http://schemas.openxmlformats.org/drawingml/2006/main">
            <a:r>
              <a:t>Read the rows in order. groupby separates rows by the building label. sum adds the kWh values inside each group.</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each step of a pandas chain.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each step of a pandas chain</a:t>
            </a:r>
          </a:p>
          <a:p xmlns:a="http://schemas.openxmlformats.org/drawingml/2006/main">
            <a:r>
              <a:t/>
            </a:r>
          </a:p>
          <a:p xmlns:a="http://schemas.openxmlformats.org/drawingml/2006/main">
            <a:r>
              <a:t>CONNECT</a:t>
            </a:r>
          </a:p>
          <a:p xmlns:a="http://schemas.openxmlformats.org/drawingml/2006/main">
            <a:r>
              <a:t>Previous slide: Trace a group total before using groupby.</a:t>
            </a:r>
          </a:p>
          <a:p xmlns:a="http://schemas.openxmlformats.org/drawingml/2006/main">
            <a:r>
              <a:t/>
            </a:r>
          </a:p>
          <a:p xmlns:a="http://schemas.openxmlformats.org/drawingml/2006/main">
            <a:r>
              <a:t>EXPLAIN</a:t>
            </a:r>
          </a:p>
          <a:p xmlns:a="http://schemas.openxmlformats.org/drawingml/2006/main">
            <a:r>
              <a:t>groups = df.groupby("building") describes groups of rows with matching building labels.</a:t>
            </a:r>
          </a:p>
          <a:p xmlns:a="http://schemas.openxmlformats.org/drawingml/2006/main">
            <a:r>
              <a:t/>
            </a:r>
          </a:p>
          <a:p xmlns:a="http://schemas.openxmlformats.org/drawingml/2006/main">
            <a:r>
              <a:t>energy_groups = groups["kwh"] selects the energy values within those groups. totals = energy_groups.sum() calculates one total per group.</a:t>
            </a:r>
          </a:p>
          <a:p xmlns:a="http://schemas.openxmlformats.org/drawingml/2006/main">
            <a:r>
              <a:t/>
            </a:r>
          </a:p>
          <a:p xmlns:a="http://schemas.openxmlformats.org/drawingml/2006/main">
            <a:r>
              <a:t>df.groupby("building")["kwh"].sum() is the same sequence written on one line. Read it from left to right.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Calculate one total for each building.</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Calculate one total for each building</a:t>
            </a:r>
          </a:p>
          <a:p xmlns:a="http://schemas.openxmlformats.org/drawingml/2006/main">
            <a:r>
              <a:t/>
            </a:r>
          </a:p>
          <a:p xmlns:a="http://schemas.openxmlformats.org/drawingml/2006/main">
            <a:r>
              <a:t>CONNECT</a:t>
            </a:r>
          </a:p>
          <a:p xmlns:a="http://schemas.openxmlformats.org/drawingml/2006/main">
            <a:r>
              <a:t>Previous slide: Read each step of a pandas chain.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print(df.groupby("building")["kwh"].sum())</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Expected: A totals 6 kWh; B totals 12 kWh.</a:t>
            </a:r>
          </a:p>
          <a:p xmlns:a="http://schemas.openxmlformats.org/drawingml/2006/main">
            <a:r>
              <a:t/>
            </a:r>
          </a:p>
          <a:p xmlns:a="http://schemas.openxmlformats.org/drawingml/2006/main">
            <a:r>
              <a:t>LECTURER CUE</a:t>
            </a:r>
          </a:p>
          <a:p xmlns:a="http://schemas.openxmlformats.org/drawingml/2006/main">
            <a:r>
              <a:t>Expected: A totals 6 kWh; B totals 12 kWh.</a:t>
            </a:r>
          </a:p>
          <a:p xmlns:a="http://schemas.openxmlformats.org/drawingml/2006/main">
            <a:r>
              <a:t/>
            </a:r>
          </a:p>
          <a:p xmlns:a="http://schemas.openxmlformats.org/drawingml/2006/main">
            <a:r>
              <a:t>Complete practice code:</a:t>
            </a:r>
          </a:p>
          <a:p xmlns:a="http://schemas.openxmlformats.org/drawingml/2006/main">
            <a:r>
              <a:t>print(df.groupby("building")["kwh"].sum())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pandas tables and summaries results</a:t>
            </a:r>
          </a:p>
          <a:p xmlns:a="http://schemas.openxmlformats.org/drawingml/2006/main">
            <a:r>
              <a:t/>
            </a:r>
          </a:p>
          <a:p xmlns:a="http://schemas.openxmlformats.org/drawingml/2006/main">
            <a:r>
              <a:t>CONNECT</a:t>
            </a:r>
          </a:p>
          <a:p xmlns:a="http://schemas.openxmlformats.org/drawingml/2006/main">
            <a:r>
              <a:t>Previous slide: Calculate one total for each building.</a:t>
            </a:r>
          </a:p>
          <a:p xmlns:a="http://schemas.openxmlformats.org/drawingml/2006/main">
            <a:r>
              <a:t/>
            </a:r>
          </a:p>
          <a:p xmlns:a="http://schemas.openxmlformats.org/drawingml/2006/main">
            <a:r>
              <a:t>EXPLAIN</a:t>
            </a:r>
          </a:p>
          <a:p xmlns:a="http://schemas.openxmlformats.org/drawingml/2006/main">
            <a:r>
              <a:t>Mean 4.5. The filter keeps B rows with 5 and 7. Group totals: A = 6, B = 12 kWh.</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Unique labels and the largest group.</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Unique labels and the largest group</a:t>
            </a:r>
          </a:p>
          <a:p xmlns:a="http://schemas.openxmlformats.org/drawingml/2006/main">
            <a:r>
              <a:t/>
            </a:r>
          </a:p>
          <a:p xmlns:a="http://schemas.openxmlformats.org/drawingml/2006/main">
            <a:r>
              <a:t>CONNECT</a:t>
            </a:r>
          </a:p>
          <a:p xmlns:a="http://schemas.openxmlformats.org/drawingml/2006/main">
            <a:r>
              <a:t>Previous slide: pandas tables and summaries results.</a:t>
            </a:r>
          </a:p>
          <a:p xmlns:a="http://schemas.openxmlformats.org/drawingml/2006/main">
            <a:r>
              <a:t/>
            </a:r>
          </a:p>
          <a:p xmlns:a="http://schemas.openxmlformats.org/drawingml/2006/main">
            <a:r>
              <a:t>EXPLAIN</a:t>
            </a:r>
          </a:p>
          <a:p xmlns:a="http://schemas.openxmlformats.org/drawingml/2006/main">
            <a:r>
              <a:t>nunique counts distinct labels, not rows. idxmax returns the label of the largest total.</a:t>
            </a:r>
          </a:p>
          <a:p xmlns:a="http://schemas.openxmlformats.org/drawingml/2006/main">
            <a:r>
              <a:t/>
            </a:r>
          </a:p>
          <a:p xmlns:a="http://schemas.openxmlformats.org/drawingml/2006/main">
            <a:r>
              <a:t>Here there is no tie.</a:t>
            </a:r>
          </a:p>
          <a:p xmlns:a="http://schemas.openxmlformats.org/drawingml/2006/main">
            <a:r>
              <a:t/>
            </a:r>
          </a:p>
          <a:p xmlns:a="http://schemas.openxmlformats.org/drawingml/2006/main">
            <a:r>
              <a:t>LECTURER CUE</a:t>
            </a:r>
          </a:p>
          <a:p xmlns:a="http://schemas.openxmlformats.org/drawingml/2006/main">
            <a:r>
              <a:t>nunique counts distinct labels, not rows. idxmax returns the label of the largest total. Here there is no tie.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Unique labels and the largest group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Unique labels and the largest group in Python</a:t>
            </a:r>
          </a:p>
          <a:p xmlns:a="http://schemas.openxmlformats.org/drawingml/2006/main">
            <a:r>
              <a:t/>
            </a:r>
          </a:p>
          <a:p xmlns:a="http://schemas.openxmlformats.org/drawingml/2006/main">
            <a:r>
              <a:t>CONNECT</a:t>
            </a:r>
          </a:p>
          <a:p xmlns:a="http://schemas.openxmlformats.org/drawingml/2006/main">
            <a:r>
              <a:t>Previous slide: Unique labels and the largest group.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print(df["building"].nunique())</a:t>
            </a:r>
          </a:p>
          <a:p xmlns:a="http://schemas.openxmlformats.org/drawingml/2006/main">
            <a:r>
              <a:t>totals = df.groupby("building")["kwh"].sum()</a:t>
            </a:r>
          </a:p>
          <a:p xmlns:a="http://schemas.openxmlformats.org/drawingml/2006/main">
            <a:r>
              <a:t>print(totals.idxmax())</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nunique counts distinct labels, not rows. idxmax returns the label of the largest total. Here there is no tie.</a:t>
            </a:r>
          </a:p>
          <a:p xmlns:a="http://schemas.openxmlformats.org/drawingml/2006/main">
            <a:r>
              <a:t/>
            </a:r>
          </a:p>
          <a:p xmlns:a="http://schemas.openxmlformats.org/drawingml/2006/main">
            <a:r>
              <a:t>Complete practice code:</a:t>
            </a:r>
          </a:p>
          <a:p xmlns:a="http://schemas.openxmlformats.org/drawingml/2006/main">
            <a:r>
              <a:t>print(df["building"].nunique())</a:t>
            </a:r>
          </a:p>
          <a:p xmlns:a="http://schemas.openxmlformats.org/drawingml/2006/main">
            <a:r>
              <a:t>totals = df.groupby("building")["kwh"].sum()</a:t>
            </a:r>
          </a:p>
          <a:p xmlns:a="http://schemas.openxmlformats.org/drawingml/2006/main">
            <a:r>
              <a:t>print(totals.idxmax())</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Create a column from two existing columns.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Create a column from two existing columns</a:t>
            </a:r>
          </a:p>
          <a:p xmlns:a="http://schemas.openxmlformats.org/drawingml/2006/main">
            <a:r>
              <a:t/>
            </a:r>
          </a:p>
          <a:p xmlns:a="http://schemas.openxmlformats.org/drawingml/2006/main">
            <a:r>
              <a:t>CONNECT</a:t>
            </a:r>
          </a:p>
          <a:p xmlns:a="http://schemas.openxmlformats.org/drawingml/2006/main">
            <a:r>
              <a:t>Previous slide: Unique labels and the largest group in Python.</a:t>
            </a:r>
          </a:p>
          <a:p xmlns:a="http://schemas.openxmlformats.org/drawingml/2006/main">
            <a:r>
              <a:t/>
            </a:r>
          </a:p>
          <a:p xmlns:a="http://schemas.openxmlformats.org/drawingml/2006/main">
            <a:r>
              <a:t>EXPLAIN</a:t>
            </a:r>
          </a:p>
          <a:p xmlns:a="http://schemas.openxmlformats.org/drawingml/2006/main">
            <a:r>
              <a:t>A new column can store a calculation for every row. Division pairs the values in matching rows.</a:t>
            </a:r>
          </a:p>
          <a:p xmlns:a="http://schemas.openxmlformats.org/drawingml/2006/main">
            <a:r>
              <a:t/>
            </a:r>
          </a:p>
          <a:p xmlns:a="http://schemas.openxmlformats.org/drawingml/2006/main">
            <a:r>
              <a:t>For this invented table all energy values are positive. UGX is Uganda shillings. Cost divided by energy has units UGX/kWh.</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energy rate is cost divided by energy.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energy rate is cost divided by energy</a:t>
            </a:r>
          </a:p>
          <a:p xmlns:a="http://schemas.openxmlformats.org/drawingml/2006/main">
            <a:r>
              <a:t/>
            </a:r>
          </a:p>
          <a:p xmlns:a="http://schemas.openxmlformats.org/drawingml/2006/main">
            <a:r>
              <a:t>CONNECT</a:t>
            </a:r>
          </a:p>
          <a:p xmlns:a="http://schemas.openxmlformats.org/drawingml/2006/main">
            <a:r>
              <a:t>Previous slide: Create a column from two existing columns.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df["cost_ugx"] = [1000, 2400, 3500, 5600]</a:t>
            </a:r>
          </a:p>
          <a:p xmlns:a="http://schemas.openxmlformats.org/drawingml/2006/main">
            <a:r>
              <a:t>df["rate_ugx_per_kwh"] = df["cost_ugx"] / df["kwh"]</a:t>
            </a:r>
          </a:p>
          <a:p xmlns:a="http://schemas.openxmlformats.org/drawingml/2006/main">
            <a:r>
              <a:t>print(df["rate_ugx_per_kwh"])</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Expected rates: 500, 600, 700 and 800 UGX/kWh. Keep units in column names.</a:t>
            </a:r>
          </a:p>
          <a:p xmlns:a="http://schemas.openxmlformats.org/drawingml/2006/main">
            <a:r>
              <a:t/>
            </a:r>
          </a:p>
          <a:p xmlns:a="http://schemas.openxmlformats.org/drawingml/2006/main">
            <a:r>
              <a:t>LECTURER CUE</a:t>
            </a:r>
          </a:p>
          <a:p xmlns:a="http://schemas.openxmlformats.org/drawingml/2006/main">
            <a:r>
              <a:t>Expected rates: 500, 600, 700 and 800 UGX/kWh. Keep units in column names.</a:t>
            </a:r>
          </a:p>
          <a:p xmlns:a="http://schemas.openxmlformats.org/drawingml/2006/main">
            <a:r>
              <a:t/>
            </a:r>
          </a:p>
          <a:p xmlns:a="http://schemas.openxmlformats.org/drawingml/2006/main">
            <a:r>
              <a:t>Complete practice code:</a:t>
            </a:r>
          </a:p>
          <a:p xmlns:a="http://schemas.openxmlformats.org/drawingml/2006/main">
            <a:r>
              <a:t>df["cost_ugx"] = [1000, 2400, 3500, 5600]</a:t>
            </a:r>
          </a:p>
          <a:p xmlns:a="http://schemas.openxmlformats.org/drawingml/2006/main">
            <a:r>
              <a:t>df["rate_ugx_per_kwh"] = df["cost_ugx"] / df["kwh"]</a:t>
            </a:r>
          </a:p>
          <a:p xmlns:a="http://schemas.openxmlformats.org/drawingml/2006/main">
            <a:r>
              <a:t>print(df["rate_ugx_per_kwh"])</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Load the assignment table before analysing it.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Load the assignment table before analysing it</a:t>
            </a:r>
          </a:p>
          <a:p xmlns:a="http://schemas.openxmlformats.org/drawingml/2006/main">
            <a:r>
              <a:t/>
            </a:r>
          </a:p>
          <a:p xmlns:a="http://schemas.openxmlformats.org/drawingml/2006/main">
            <a:r>
              <a:t>CONNECT</a:t>
            </a:r>
          </a:p>
          <a:p xmlns:a="http://schemas.openxmlformats.org/drawingml/2006/main">
            <a:r>
              <a:t>Previous slide: An energy rate is cost divided by energy.</a:t>
            </a:r>
          </a:p>
          <a:p xmlns:a="http://schemas.openxmlformats.org/drawingml/2006/main">
            <a:r>
              <a:t/>
            </a:r>
          </a:p>
          <a:p xmlns:a="http://schemas.openxmlformats.org/drawingml/2006/main">
            <a:r>
              <a:t>EXPLAIN</a:t>
            </a:r>
          </a:p>
          <a:p xmlns:a="http://schemas.openxmlformats.org/drawingml/2006/main">
            <a:r>
              <a:t>Upload campus_energy.csv to the current runtime first. read_csv reads it into a new DataFrame.</a:t>
            </a:r>
          </a:p>
          <a:p xmlns:a="http://schemas.openxmlformats.org/drawingml/2006/main">
            <a:r>
              <a:t/>
            </a:r>
          </a:p>
          <a:p xmlns:a="http://schemas.openxmlformats.org/drawingml/2006/main">
            <a:r>
              <a:t>head() displays the first five rows; shape gives row and column counts; dtypes shows column data types.</a:t>
            </a:r>
          </a:p>
          <a:p xmlns:a="http://schemas.openxmlformats.org/drawingml/2006/main">
            <a:r>
              <a:t/>
            </a:r>
          </a:p>
          <a:p xmlns:a="http://schemas.openxmlformats.org/drawingml/2006/main">
            <a:r>
              <a:t>We call this issued_table to keep it separate from the invented four-row df used above.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Inspect the supplied energy file.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Inspect the supplied energy file</a:t>
            </a:r>
          </a:p>
          <a:p xmlns:a="http://schemas.openxmlformats.org/drawingml/2006/main">
            <a:r>
              <a:t/>
            </a:r>
          </a:p>
          <a:p xmlns:a="http://schemas.openxmlformats.org/drawingml/2006/main">
            <a:r>
              <a:t>CONNECT</a:t>
            </a:r>
          </a:p>
          <a:p xmlns:a="http://schemas.openxmlformats.org/drawingml/2006/main">
            <a:r>
              <a:t>Previous slide: Load the assignment table before analysing it.</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issued_table = pd.read_csv("campus_energy.csv")</a:t>
            </a:r>
          </a:p>
          <a:p xmlns:a="http://schemas.openxmlformats.org/drawingml/2006/main">
            <a:r>
              <a:t>print(issued_table.head())</a:t>
            </a:r>
          </a:p>
          <a:p xmlns:a="http://schemas.openxmlformats.org/drawingml/2006/main">
            <a:r>
              <a:t>print(issued_table.shape)</a:t>
            </a:r>
          </a:p>
          <a:p xmlns:a="http://schemas.openxmlformats.org/drawingml/2006/main">
            <a:r>
              <a:t>print(issued_table.dtypes)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Check column names, data types and units before attempting the six issued tasks.</a:t>
            </a:r>
          </a:p>
          <a:p xmlns:a="http://schemas.openxmlformats.org/drawingml/2006/main">
            <a:r>
              <a:t/>
            </a:r>
          </a:p>
          <a:p xmlns:a="http://schemas.openxmlformats.org/drawingml/2006/main">
            <a:r>
              <a:t>LECTURER CUE</a:t>
            </a:r>
          </a:p>
          <a:p xmlns:a="http://schemas.openxmlformats.org/drawingml/2006/main">
            <a:r>
              <a:t>Check column names, data types and units before attempting the six issued tasks.</a:t>
            </a:r>
          </a:p>
          <a:p xmlns:a="http://schemas.openxmlformats.org/drawingml/2006/main">
            <a:r>
              <a:t/>
            </a:r>
          </a:p>
          <a:p xmlns:a="http://schemas.openxmlformats.org/drawingml/2006/main">
            <a:r>
              <a:t>Complete practice code:</a:t>
            </a:r>
          </a:p>
          <a:p xmlns:a="http://schemas.openxmlformats.org/drawingml/2006/main">
            <a:r>
              <a:t>issued_table = pd.read_csv("campus_energy.csv")</a:t>
            </a:r>
          </a:p>
          <a:p xmlns:a="http://schemas.openxmlformats.org/drawingml/2006/main">
            <a:r>
              <a:t>print(issued_table.head())</a:t>
            </a:r>
          </a:p>
          <a:p xmlns:a="http://schemas.openxmlformats.org/drawingml/2006/main">
            <a:r>
              <a:t>print(issued_table.shape)</a:t>
            </a:r>
          </a:p>
          <a:p xmlns:a="http://schemas.openxmlformats.org/drawingml/2006/main">
            <a:r>
              <a:t>print(issued_table.dtypes)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Inspect the supplied energy file.</a:t>
            </a:r>
          </a:p>
          <a:p xmlns:a="http://schemas.openxmlformats.org/drawingml/2006/main">
            <a:r>
              <a:t/>
            </a:r>
          </a:p>
          <a:p xmlns:a="http://schemas.openxmlformats.org/drawingml/2006/main">
            <a:r>
              <a:t>EXPLAIN</a:t>
            </a:r>
          </a:p>
          <a:p xmlns:a="http://schemas.openxmlformats.org/drawingml/2006/main">
            <a:r>
              <a:t>Example: Use &gt; 5 instead. Predict the surviving rows. Which building has the largest total?</a:t>
            </a:r>
          </a:p>
          <a:p xmlns:a="http://schemas.openxmlformats.org/drawingml/2006/main">
            <a:r>
              <a:t/>
            </a:r>
          </a:p>
          <a:p xmlns:a="http://schemas.openxmlformats.org/drawingml/2006/main">
            <a:r>
              <a:t>Answer: Only the row with 7 survives. Building B has the larger total, 12 kWh.</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Only the row with 7 survives. Building B has the larger total, 12 kWh.</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A5 uses the supplied fictional campus_energy.csv, not a live Kaggle download.</a:t>
            </a:r>
          </a:p>
          <a:p xmlns:a="http://schemas.openxmlformats.org/drawingml/2006/main">
            <a:r>
              <a:t/>
            </a:r>
          </a:p>
          <a:p xmlns:a="http://schemas.openxmlformats.org/drawingml/2006/main">
            <a:r>
              <a:t>The six tasks use read_csv, nunique, division of columns, a &gt; filter, mean and grouped totals. idxmax returns the label of the largest value.</a:t>
            </a:r>
          </a:p>
          <a:p xmlns:a="http://schemas.openxmlformats.org/drawingml/2006/main">
            <a:r>
              <a:t/>
            </a:r>
          </a:p>
          <a:p xmlns:a="http://schemas.openxmlformats.org/drawingml/2006/main">
            <a:r>
              <a:t>A mean of individual rates gives each observation equal weight.</a:t>
            </a:r>
          </a:p>
          <a:p xmlns:a="http://schemas.openxmlformats.org/drawingml/2006/main">
            <a:r>
              <a:t/>
            </a:r>
          </a:p>
          <a:p xmlns:a="http://schemas.openxmlformats.org/drawingml/2006/main">
            <a:r>
              <a:t>Total cost divided by total energy weights by energy.</a:t>
            </a:r>
          </a:p>
          <a:p xmlns:a="http://schemas.openxmlformats.org/drawingml/2006/main">
            <a:r>
              <a:t/>
            </a:r>
          </a:p>
          <a:p xmlns:a="http://schemas.openxmlformats.org/drawingml/2006/main">
            <a:r>
              <a:t>LECTURER CUE</a:t>
            </a:r>
          </a:p>
          <a:p xmlns:a="http://schemas.openxmlformats.org/drawingml/2006/main">
            <a:r>
              <a:t>A5 uses the supplied fictional campus_energy.csv, not a live Kaggle download. Teach read_csv, nunique, division of columns, &gt; filtering, mean and groupby(...).sum().idxmax() before the six public tasks. idxmax returns the label of the largest value. Explain how a rate differs from a total and how a mean of rates differs from a total-cost/total-energy ratio.</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types and filters.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types and filters</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A Boolean mask is a list-like column of True/False values. len(mask) counts all rows; mask.sum() counts True entries.</a:t>
            </a:r>
          </a:p>
          <a:p xmlns:a="http://schemas.openxmlformats.org/drawingml/2006/main">
            <a:r>
              <a:t/>
            </a:r>
          </a:p>
          <a:p xmlns:a="http://schemas.openxmlformats.org/drawingml/2006/main">
            <a:r>
              <a:t>Strings sort as text, so "9" can rank above "100".</a:t>
            </a:r>
          </a:p>
          <a:p xmlns:a="http://schemas.openxmlformats.org/drawingml/2006/main">
            <a:r>
              <a:t/>
            </a:r>
          </a:p>
          <a:p xmlns:a="http://schemas.openxmlformats.org/drawingml/2006/main">
            <a:r>
              <a:t>Inspect numeric types before taking maxima.</a:t>
            </a:r>
          </a:p>
          <a:p xmlns:a="http://schemas.openxmlformats.org/drawingml/2006/main">
            <a:r>
              <a:t/>
            </a:r>
          </a:p>
          <a:p xmlns:a="http://schemas.openxmlformats.org/drawingml/2006/main">
            <a:r>
              <a:t>KeyError often means the column name does not match; check spelling, case and spaces. shape is (rows, columns).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types and filters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types and filters continued</a:t>
            </a:r>
          </a:p>
          <a:p xmlns:a="http://schemas.openxmlformats.org/drawingml/2006/main">
            <a:r>
              <a:t/>
            </a:r>
          </a:p>
          <a:p xmlns:a="http://schemas.openxmlformats.org/drawingml/2006/main">
            <a:r>
              <a:t>CONNECT</a:t>
            </a:r>
          </a:p>
          <a:p xmlns:a="http://schemas.openxmlformats.org/drawingml/2006/main">
            <a:r>
              <a:t>Previous slide: Data types and filters.</a:t>
            </a:r>
          </a:p>
          <a:p xmlns:a="http://schemas.openxmlformats.org/drawingml/2006/main">
            <a:r>
              <a:t/>
            </a:r>
          </a:p>
          <a:p xmlns:a="http://schemas.openxmlformats.org/drawingml/2006/main">
            <a:r>
              <a:t>EXPLAIN</a:t>
            </a:r>
          </a:p>
          <a:p xmlns:a="http://schemas.openxmlformats.org/drawingml/2006/main">
            <a:r>
              <a:t>Read provenance and units before trusting a dataset.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Previous slide: Data types and filters continued.</a:t>
            </a:r>
          </a:p>
          <a:p xmlns:a="http://schemas.openxmlformats.org/drawingml/2006/main">
            <a:r>
              <a:t/>
            </a:r>
          </a:p>
          <a:p xmlns:a="http://schemas.openxmlformats.org/drawingml/2006/main">
            <a:r>
              <a:t>EXPLAIN</a:t>
            </a:r>
          </a:p>
          <a:p xmlns:a="http://schemas.openxmlformats.org/drawingml/2006/main">
            <a:r>
              <a:t>Open W05_student.ipynb.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CUE</a:t>
            </a:r>
          </a:p>
          <a:p xmlns:a="http://schemas.openxmlformats.org/drawingml/2006/main">
            <a:r>
              <a:t># W05: pandas: load, filter, group</a:t>
            </a:r>
          </a:p>
          <a:p xmlns:a="http://schemas.openxmlformats.org/drawingml/2006/main">
            <a:r>
              <a:t>CML3113. Complete each named output. Save as STUDENT_ID_W05.ipynb.</a:t>
            </a:r>
          </a:p>
          <a:p xmlns:a="http://schemas.openxmlformats.org/drawingml/2006/main">
            <a:r>
              <a:t>## q1: 3 marks</a:t>
            </a:r>
          </a:p>
          <a:p xmlns:a="http://schemas.openxmlformats.org/drawingml/2006/main">
            <a:r>
              <a:t>Load campus_energy.csv into a DataFrame called df.</a:t>
            </a:r>
          </a:p>
          <a:p xmlns:a="http://schemas.openxmlformats.org/drawingml/2006/main">
            <a:r>
              <a:t>## q2: 3 marks</a:t>
            </a:r>
          </a:p>
          <a:p xmlns:a="http://schemas.openxmlformats.org/drawingml/2006/main">
            <a:r>
              <a:t>Set n_meters to the number of distinct meters in the file.</a:t>
            </a:r>
          </a:p>
          <a:p xmlns:a="http://schemas.openxmlformats.org/drawingml/2006/main">
            <a:r>
              <a:t>## q3: 4 marks</a:t>
            </a:r>
          </a:p>
          <a:p xmlns:a="http://schemas.openxmlformats.org/drawingml/2006/main">
            <a:r>
              <a:t>Add a column cost_per_kwh to df, equal to cost_ugx / kwh.</a:t>
            </a:r>
          </a:p>
          <a:p xmlns:a="http://schemas.openxmlformats.org/drawingml/2006/main">
            <a:r>
              <a:t>## q4: 4 marks</a:t>
            </a:r>
          </a:p>
          <a:p xmlns:a="http://schemas.openxmlformats.org/drawingml/2006/main">
            <a:r>
              <a:t>Set high_use to the rows of df where kwh is greater than 5000. Do this after q3 so the derived column comes along.</a:t>
            </a:r>
          </a:p>
          <a:p xmlns:a="http://schemas.openxmlformats.org/drawingml/2006/main">
            <a:r>
              <a:t>## q5: 3 marks</a:t>
            </a:r>
          </a:p>
          <a:p xmlns:a="http://schemas.openxmlformats.org/drawingml/2006/main">
            <a:r>
              <a:t>Set mean_cost_per_kwh to the mean of the cost_per_kwh column.</a:t>
            </a:r>
          </a:p>
          <a:p xmlns:a="http://schemas.openxmlformats.org/drawingml/2006/main">
            <a:r>
              <a:t>## q6: 3 marks</a:t>
            </a:r>
          </a:p>
          <a:p xmlns:a="http://schemas.openxmlformats.org/drawingml/2006/main">
            <a:r>
              <a:t>Set peak_building to the name of the building with the highest total kwh.</a:t>
            </a:r>
          </a:p>
          <a:p xmlns:a="http://schemas.openxmlformats.org/drawingml/2006/main">
            <a:r>
              <a:t>Restart and Run All, then save your named notebook. Practice check results are feedback; the submitted notebook is graded independently.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q1: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Previous slide: Your issued assignment.</a:t>
            </a:r>
          </a:p>
          <a:p xmlns:a="http://schemas.openxmlformats.org/drawingml/2006/main">
            <a:r>
              <a:t/>
            </a:r>
          </a:p>
          <a:p xmlns:a="http://schemas.openxmlformats.org/drawingml/2006/main">
            <a:r>
              <a:t>EXPLAIN</a:t>
            </a:r>
          </a:p>
          <a:p xmlns:a="http://schemas.openxmlformats.org/drawingml/2006/main">
            <a:r>
              <a:t>Load campus_energy.csv into a DataFrame called df.</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q2: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q2: 3 marks</a:t>
            </a:r>
          </a:p>
          <a:p xmlns:a="http://schemas.openxmlformats.org/drawingml/2006/main">
            <a:r>
              <a:t/>
            </a:r>
          </a:p>
          <a:p xmlns:a="http://schemas.openxmlformats.org/drawingml/2006/main">
            <a:r>
              <a:t>CONNECT</a:t>
            </a:r>
          </a:p>
          <a:p xmlns:a="http://schemas.openxmlformats.org/drawingml/2006/main">
            <a:r>
              <a:t>Previous slide: q1: 3 marks.</a:t>
            </a:r>
          </a:p>
          <a:p xmlns:a="http://schemas.openxmlformats.org/drawingml/2006/main">
            <a:r>
              <a:t/>
            </a:r>
          </a:p>
          <a:p xmlns:a="http://schemas.openxmlformats.org/drawingml/2006/main">
            <a:r>
              <a:t>EXPLAIN</a:t>
            </a:r>
          </a:p>
          <a:p xmlns:a="http://schemas.openxmlformats.org/drawingml/2006/main">
            <a:r>
              <a:t>Set n_meters to the number of distinct meters in the file.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q3: 4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q3: 4 marks</a:t>
            </a:r>
          </a:p>
          <a:p xmlns:a="http://schemas.openxmlformats.org/drawingml/2006/main">
            <a:r>
              <a:t/>
            </a:r>
          </a:p>
          <a:p xmlns:a="http://schemas.openxmlformats.org/drawingml/2006/main">
            <a:r>
              <a:t>CONNECT</a:t>
            </a:r>
          </a:p>
          <a:p xmlns:a="http://schemas.openxmlformats.org/drawingml/2006/main">
            <a:r>
              <a:t>Previous slide: q2: 3 marks.</a:t>
            </a:r>
          </a:p>
          <a:p xmlns:a="http://schemas.openxmlformats.org/drawingml/2006/main">
            <a:r>
              <a:t/>
            </a:r>
          </a:p>
          <a:p xmlns:a="http://schemas.openxmlformats.org/drawingml/2006/main">
            <a:r>
              <a:t>EXPLAIN</a:t>
            </a:r>
          </a:p>
          <a:p xmlns:a="http://schemas.openxmlformats.org/drawingml/2006/main">
            <a:r>
              <a:t>Add a column cost_per_kwh to df, equal to cost_ugx / kwh.</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q4: 4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q4: 4 marks</a:t>
            </a:r>
          </a:p>
          <a:p xmlns:a="http://schemas.openxmlformats.org/drawingml/2006/main">
            <a:r>
              <a:t/>
            </a:r>
          </a:p>
          <a:p xmlns:a="http://schemas.openxmlformats.org/drawingml/2006/main">
            <a:r>
              <a:t>CONNECT</a:t>
            </a:r>
          </a:p>
          <a:p xmlns:a="http://schemas.openxmlformats.org/drawingml/2006/main">
            <a:r>
              <a:t>Previous slide: q3: 4 marks.</a:t>
            </a:r>
          </a:p>
          <a:p xmlns:a="http://schemas.openxmlformats.org/drawingml/2006/main">
            <a:r>
              <a:t/>
            </a:r>
          </a:p>
          <a:p xmlns:a="http://schemas.openxmlformats.org/drawingml/2006/main">
            <a:r>
              <a:t>EXPLAIN</a:t>
            </a:r>
          </a:p>
          <a:p xmlns:a="http://schemas.openxmlformats.org/drawingml/2006/main">
            <a:r>
              <a:t>Set high_use to the rows of df where kwh is greater than 5000.</a:t>
            </a:r>
          </a:p>
          <a:p xmlns:a="http://schemas.openxmlformats.org/drawingml/2006/main">
            <a:r>
              <a:t/>
            </a:r>
          </a:p>
          <a:p xmlns:a="http://schemas.openxmlformats.org/drawingml/2006/main">
            <a:r>
              <a:t>Do this after q3 so the derived column comes along.</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q5: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q5: 3 marks</a:t>
            </a:r>
          </a:p>
          <a:p xmlns:a="http://schemas.openxmlformats.org/drawingml/2006/main">
            <a:r>
              <a:t/>
            </a:r>
          </a:p>
          <a:p xmlns:a="http://schemas.openxmlformats.org/drawingml/2006/main">
            <a:r>
              <a:t>CONNECT</a:t>
            </a:r>
          </a:p>
          <a:p xmlns:a="http://schemas.openxmlformats.org/drawingml/2006/main">
            <a:r>
              <a:t>Previous slide: q4: 4 marks.</a:t>
            </a:r>
          </a:p>
          <a:p xmlns:a="http://schemas.openxmlformats.org/drawingml/2006/main">
            <a:r>
              <a:t/>
            </a:r>
          </a:p>
          <a:p xmlns:a="http://schemas.openxmlformats.org/drawingml/2006/main">
            <a:r>
              <a:t>EXPLAIN</a:t>
            </a:r>
          </a:p>
          <a:p xmlns:a="http://schemas.openxmlformats.org/drawingml/2006/main">
            <a:r>
              <a:t>Set mean_cost_per_kwh to the mean of the cost_per_kwh column.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q6: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q6: 3 marks</a:t>
            </a:r>
          </a:p>
          <a:p xmlns:a="http://schemas.openxmlformats.org/drawingml/2006/main">
            <a:r>
              <a:t/>
            </a:r>
          </a:p>
          <a:p xmlns:a="http://schemas.openxmlformats.org/drawingml/2006/main">
            <a:r>
              <a:t>CONNECT</a:t>
            </a:r>
          </a:p>
          <a:p xmlns:a="http://schemas.openxmlformats.org/drawingml/2006/main">
            <a:r>
              <a:t>Previous slide: q5: 3 marks.</a:t>
            </a:r>
          </a:p>
          <a:p xmlns:a="http://schemas.openxmlformats.org/drawingml/2006/main">
            <a:r>
              <a:t/>
            </a:r>
          </a:p>
          <a:p xmlns:a="http://schemas.openxmlformats.org/drawingml/2006/main">
            <a:r>
              <a:t>EXPLAIN</a:t>
            </a:r>
          </a:p>
          <a:p xmlns:a="http://schemas.openxmlformats.org/drawingml/2006/main">
            <a:r>
              <a:t>Set peak_building to the name of the building with the highest total kwh.</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Pandas investigation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Pandas investigation submission</a:t>
            </a:r>
          </a:p>
          <a:p xmlns:a="http://schemas.openxmlformats.org/drawingml/2006/main">
            <a:r>
              <a:t/>
            </a:r>
          </a:p>
          <a:p xmlns:a="http://schemas.openxmlformats.org/drawingml/2006/main">
            <a:r>
              <a:t>CONNECT</a:t>
            </a:r>
          </a:p>
          <a:p xmlns:a="http://schemas.openxmlformats.org/drawingml/2006/main">
            <a:r>
              <a:t>Previous slide: q6: 3 marks.</a:t>
            </a:r>
          </a:p>
          <a:p xmlns:a="http://schemas.openxmlformats.org/drawingml/2006/main">
            <a:r>
              <a:t/>
            </a:r>
          </a:p>
          <a:p xmlns:a="http://schemas.openxmlformats.org/drawingml/2006/main">
            <a:r>
              <a:t>EXPLAIN</a:t>
            </a:r>
          </a:p>
          <a:p xmlns:a="http://schemas.openxmlformats.org/drawingml/2006/main">
            <a:r>
              <a:t>Opens: 07 Oct 2026, 08:00 Kampala</a:t>
            </a:r>
          </a:p>
          <a:p xmlns:a="http://schemas.openxmlformats.org/drawingml/2006/main">
            <a:r>
              <a:t/>
            </a:r>
          </a:p>
          <a:p xmlns:a="http://schemas.openxmlformats.org/drawingml/2006/main">
            <a:r>
              <a:t>Deadline: 16 Oct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Project preparation.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Previous slide: Pandas investigation submission.</a:t>
            </a:r>
          </a:p>
          <a:p xmlns:a="http://schemas.openxmlformats.org/drawingml/2006/main">
            <a:r>
              <a:t/>
            </a:r>
          </a:p>
          <a:p xmlns:a="http://schemas.openxmlformats.org/drawingml/2006/main">
            <a:r>
              <a:t>EXPLAIN</a:t>
            </a:r>
          </a:p>
          <a:p xmlns:a="http://schemas.openxmlformats.org/drawingml/2006/main">
            <a:r>
              <a:t>Use the published data analysis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30 Oct 2026, 08:00 Kampala</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5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5 quiz</a:t>
            </a:r>
          </a:p>
          <a:p xmlns:a="http://schemas.openxmlformats.org/drawingml/2006/main">
            <a:r>
              <a:t/>
            </a:r>
          </a:p>
          <a:p xmlns:a="http://schemas.openxmlformats.org/drawingml/2006/main">
            <a:r>
              <a:t>CONNECT</a:t>
            </a:r>
          </a:p>
          <a:p xmlns:a="http://schemas.openxmlformats.org/drawingml/2006/main">
            <a:r>
              <a:t>Previous slide: Project preparation.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open_W5_CML3113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5 support.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5 support</a:t>
            </a:r>
          </a:p>
          <a:p xmlns:a="http://schemas.openxmlformats.org/drawingml/2006/main">
            <a:r>
              <a:t/>
            </a:r>
          </a:p>
          <a:p xmlns:a="http://schemas.openxmlformats.org/drawingml/2006/main">
            <a:r>
              <a:t>CONNECT</a:t>
            </a:r>
          </a:p>
          <a:p xmlns:a="http://schemas.openxmlformats.org/drawingml/2006/main">
            <a:r>
              <a:t>Previous slide: Week 5 quiz.</a:t>
            </a:r>
          </a:p>
          <a:p xmlns:a="http://schemas.openxmlformats.org/drawingml/2006/main">
            <a:r>
              <a:t/>
            </a:r>
          </a:p>
          <a:p xmlns:a="http://schemas.openxmlformats.org/drawingml/2006/main">
            <a:r>
              <a:t>EXPLAIN</a:t>
            </a:r>
          </a:p>
          <a:p xmlns:a="http://schemas.openxmlformats.org/drawingml/2006/main">
            <a:r>
              <a:t>Friday 9 October has no normal class.</a:t>
            </a:r>
          </a:p>
          <a:p xmlns:a="http://schemas.openxmlformats.org/drawingml/2006/main">
            <a:r>
              <a:t/>
            </a:r>
          </a:p>
          <a:p xmlns:a="http://schemas.openxmlformats.org/drawingml/2006/main">
            <a:r>
              <a:t>The lecturer will announce a supported replacement session or recording with a clinic.</a:t>
            </a:r>
          </a:p>
          <a:p xmlns:a="http://schemas.openxmlformats.org/drawingml/2006/main">
            <a:r>
              <a:t/>
            </a:r>
          </a:p>
          <a:p xmlns:a="http://schemas.openxmlformats.org/drawingml/2006/main">
            <a:r>
              <a:t>Week 6 starts with 30 minutes of consolidation.</a:t>
            </a:r>
          </a:p>
          <a:p xmlns:a="http://schemas.openxmlformats.org/drawingml/2006/main">
            <a:r>
              <a:t/>
            </a:r>
          </a:p>
          <a:p xmlns:a="http://schemas.openxmlformats.org/drawingml/2006/main">
            <a:r>
              <a:t>LECTURER CUE</a:t>
            </a:r>
          </a:p>
          <a:p xmlns:a="http://schemas.openxmlformats.org/drawingml/2006/main">
            <a:r>
              <a:t>Confirm the actual Faculty-approved make-up or clinic arrangement. Do not assume a time or make video-only homework the replacement.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5 support.</a:t>
            </a:r>
          </a:p>
          <a:p xmlns:a="http://schemas.openxmlformats.org/drawingml/2006/main">
            <a:r>
              <a:t/>
            </a:r>
          </a:p>
          <a:p xmlns:a="http://schemas.openxmlformats.org/drawingml/2006/main">
            <a:r>
              <a:t>EXPLAIN</a:t>
            </a:r>
          </a:p>
          <a:p xmlns:a="http://schemas.openxmlformats.org/drawingml/2006/main">
            <a:r>
              <a:t>You can explain which observations a filter keeps and what a grouped total means.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f1bc6811b164ea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202df0d23494df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be896775af64b0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0ead4b0452f4aa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c5418fed359471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18be2231e5142a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5A1CC78D-4FE8-492E-B029-F249D2B9F3DA}"/>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3EB2C10-CF20-4F20-B443-DDE5D8E1D66A}"/>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0B5F092-3C94-415D-A952-C5ED25B95EC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00685808-39DB-410A-8C8A-F7525A0EDE4D}"/>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0AD6F1FC-684E-414D-B9D0-EA7E153EB31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84D9FC7-BD4B-488C-A396-6F4D885B53E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3D685E2-7970-455D-9ABC-633E77DAA6D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BCCA9283-FC3B-479C-8B28-B971A2631B5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E2C3BC83-83DD-4BCC-B8EF-9C99F42B06E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E108201-E987-4B59-A730-A8E2DED393B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BAA93DE-8B82-4D65-8118-B81359B35E9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56B0812-FE80-4468-A6BE-0A4B007E8FDC}"/>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1F3AE05-E228-42F6-AF10-8D68F8499B35}"/>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2CF9BB4-5D75-4E8A-B5AF-30C0E346B93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AF35AA9-708E-49B1-B01A-4893D0260A0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cc4c8f4f61d4210" /><Relationship Type="http://schemas.openxmlformats.org/officeDocument/2006/relationships/slideLayout" Target="/ppt/slideLayouts/slideLayout1.xml" Id="R6bfe477b07754cda" /><Relationship Type="http://schemas.openxmlformats.org/officeDocument/2006/relationships/slideLayout" Target="/ppt/slideLayouts/slideLayout2.xml" Id="Rf7c36720259e4748" /><Relationship Type="http://schemas.openxmlformats.org/officeDocument/2006/relationships/slideLayout" Target="/ppt/slideLayouts/slideLayout3.xml" Id="Rcb0fa06ab1214de3" /><Relationship Type="http://schemas.openxmlformats.org/officeDocument/2006/relationships/slideLayout" Target="/ppt/slideLayouts/slideLayout4.xml" Id="R2801cb7213ee4ef6" /><Relationship Type="http://schemas.openxmlformats.org/officeDocument/2006/relationships/slideLayout" Target="/ppt/slideLayouts/slideLayout5.xml" Id="R0855ddaa823842d1" /><Relationship Type="http://schemas.openxmlformats.org/officeDocument/2006/relationships/slideLayout" Target="/ppt/slideLayouts/slideLayout6.xml" Id="R2f54227591ad461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bfe477b07754cda"/>
    <p:sldLayoutId xmlns:r="http://schemas.openxmlformats.org/officeDocument/2006/relationships" id="2147483650" r:id="Rf7c36720259e4748"/>
    <p:sldLayoutId xmlns:r="http://schemas.openxmlformats.org/officeDocument/2006/relationships" id="2147483651" r:id="Rcb0fa06ab1214de3"/>
    <p:sldLayoutId xmlns:r="http://schemas.openxmlformats.org/officeDocument/2006/relationships" id="2147483652" r:id="R2801cb7213ee4ef6"/>
    <p:sldLayoutId xmlns:r="http://schemas.openxmlformats.org/officeDocument/2006/relationships" id="2147483653" r:id="R0855ddaa823842d1"/>
    <p:sldLayoutId xmlns:r="http://schemas.openxmlformats.org/officeDocument/2006/relationships" id="2147483654" r:id="R2f54227591ad461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dc1e0693aed42a5" /><Relationship Type="http://schemas.openxmlformats.org/officeDocument/2006/relationships/image" Target="/ppt/media/image.png" Id="Ra703a3511c9c4124" /><Relationship Type="http://schemas.openxmlformats.org/officeDocument/2006/relationships/notesSlide" Target="/ppt/notesSlides/notesSlide1.xml" Id="Rbdccf4a1e8854a8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3c78bbc33ad49b2" /><Relationship Type="http://schemas.openxmlformats.org/officeDocument/2006/relationships/notesSlide" Target="/ppt/notesSlides/notesSlide2.xml" Id="Raff807a10f13405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a9ebd54ed0349f1" /><Relationship Type="http://schemas.openxmlformats.org/officeDocument/2006/relationships/notesSlide" Target="/ppt/notesSlides/notesSlide3.xml" Id="R646f77e742c241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1541eb12d204bea" /><Relationship Type="http://schemas.openxmlformats.org/officeDocument/2006/relationships/notesSlide" Target="/ppt/notesSlides/notesSlide4.xml" Id="Re24a8350d4ca480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5e545063dd14394" /><Relationship Type="http://schemas.openxmlformats.org/officeDocument/2006/relationships/notesSlide" Target="/ppt/notesSlides/notesSlide5.xml" Id="R0cfe9565dab846b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3b965d3ee1b4ea2" /><Relationship Type="http://schemas.openxmlformats.org/officeDocument/2006/relationships/notesSlide" Target="/ppt/notesSlides/notesSlide6.xml" Id="R1853009c39dd47d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9b50aa501d0436e" /><Relationship Type="http://schemas.openxmlformats.org/officeDocument/2006/relationships/notesSlide" Target="/ppt/notesSlides/notesSlide7.xml" Id="R47a6ab0a8f244fb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00602c954ce4102" /><Relationship Type="http://schemas.openxmlformats.org/officeDocument/2006/relationships/notesSlide" Target="/ppt/notesSlides/notesSlide8.xml" Id="R5c93ceef939a4b7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661e80595cb4f82" /><Relationship Type="http://schemas.openxmlformats.org/officeDocument/2006/relationships/image" Target="/ppt/media/image2.png" Id="Rd03b97f14c1e4bde" /><Relationship Type="http://schemas.openxmlformats.org/officeDocument/2006/relationships/notesSlide" Target="/ppt/notesSlides/notesSlide9.xml" Id="Rb9960dd000cf4a1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f3001665c4041b4" /><Relationship Type="http://schemas.openxmlformats.org/officeDocument/2006/relationships/notesSlide" Target="/ppt/notesSlides/notesSlide10.xml" Id="Rc315e701165545c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13665c5815540af" /><Relationship Type="http://schemas.openxmlformats.org/officeDocument/2006/relationships/notesSlide" Target="/ppt/notesSlides/notesSlide11.xml" Id="R7e2dc9f504b549a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6e572a739a44882" /><Relationship Type="http://schemas.openxmlformats.org/officeDocument/2006/relationships/notesSlide" Target="/ppt/notesSlides/notesSlide12.xml" Id="R76986c9fe8ff421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c0b5908d54a4742" /><Relationship Type="http://schemas.openxmlformats.org/officeDocument/2006/relationships/notesSlide" Target="/ppt/notesSlides/notesSlide13.xml" Id="Rb179faae99ad4ea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a9387cf63fb47be" /><Relationship Type="http://schemas.openxmlformats.org/officeDocument/2006/relationships/notesSlide" Target="/ppt/notesSlides/notesSlide14.xml" Id="Rc56b7a7473ba40a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9812ffb91784a46" /><Relationship Type="http://schemas.openxmlformats.org/officeDocument/2006/relationships/notesSlide" Target="/ppt/notesSlides/notesSlide15.xml" Id="Rce244b87abcf41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7376026bb804607" /><Relationship Type="http://schemas.openxmlformats.org/officeDocument/2006/relationships/notesSlide" Target="/ppt/notesSlides/notesSlide16.xml" Id="R91f2aa6a076e44b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f6a239b917b4322" /><Relationship Type="http://schemas.openxmlformats.org/officeDocument/2006/relationships/image" Target="/ppt/media/image3.png" Id="Ra8c681ebef6041d1" /><Relationship Type="http://schemas.openxmlformats.org/officeDocument/2006/relationships/notesSlide" Target="/ppt/notesSlides/notesSlide17.xml" Id="R849681d6186c41b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0f0f8d94e7a4136" /><Relationship Type="http://schemas.openxmlformats.org/officeDocument/2006/relationships/notesSlide" Target="/ppt/notesSlides/notesSlide18.xml" Id="Rb41770563e724b9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16f2c653b89489f" /><Relationship Type="http://schemas.openxmlformats.org/officeDocument/2006/relationships/notesSlide" Target="/ppt/notesSlides/notesSlide19.xml" Id="Rccb5b6a7c250492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23dddd6dba740af" /><Relationship Type="http://schemas.openxmlformats.org/officeDocument/2006/relationships/notesSlide" Target="/ppt/notesSlides/notesSlide20.xml" Id="R9ede975de4ba46d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38f48b9c69a488e" /><Relationship Type="http://schemas.openxmlformats.org/officeDocument/2006/relationships/notesSlide" Target="/ppt/notesSlides/notesSlide21.xml" Id="Rd59150cc566c4b0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01fc1aa9a7e4a9f" /><Relationship Type="http://schemas.openxmlformats.org/officeDocument/2006/relationships/notesSlide" Target="/ppt/notesSlides/notesSlide22.xml" Id="Rbd8dcebc946d4ae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4cebc2847934cdc" /><Relationship Type="http://schemas.openxmlformats.org/officeDocument/2006/relationships/notesSlide" Target="/ppt/notesSlides/notesSlide23.xml" Id="Re627628b26ba489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cc8e1c620714ebe" /><Relationship Type="http://schemas.openxmlformats.org/officeDocument/2006/relationships/notesSlide" Target="/ppt/notesSlides/notesSlide24.xml" Id="Rb37baab35f0f4ed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01a590e6f0a4ac8" /><Relationship Type="http://schemas.openxmlformats.org/officeDocument/2006/relationships/notesSlide" Target="/ppt/notesSlides/notesSlide25.xml" Id="Rc68f16d5d9fb404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6f2805235bd42ae" /><Relationship Type="http://schemas.openxmlformats.org/officeDocument/2006/relationships/notesSlide" Target="/ppt/notesSlides/notesSlide26.xml" Id="Ra7b538c6ffd0443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f51b34e6a4c4a7f" /><Relationship Type="http://schemas.openxmlformats.org/officeDocument/2006/relationships/notesSlide" Target="/ppt/notesSlides/notesSlide27.xml" Id="R00a58be5706c47b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726a45a5efd4500" /><Relationship Type="http://schemas.openxmlformats.org/officeDocument/2006/relationships/notesSlide" Target="/ppt/notesSlides/notesSlide28.xml" Id="R601ba2610d674f0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97f512df2344f2b" /><Relationship Type="http://schemas.openxmlformats.org/officeDocument/2006/relationships/notesSlide" Target="/ppt/notesSlides/notesSlide29.xml" Id="R17c85a9bcf1f499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8ceb27d65af74fe0" /><Relationship Type="http://schemas.openxmlformats.org/officeDocument/2006/relationships/notesSlide" Target="/ppt/notesSlides/notesSlide30.xml" Id="R4839321c18764ce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521ac011aae40e3" /><Relationship Type="http://schemas.openxmlformats.org/officeDocument/2006/relationships/notesSlide" Target="/ppt/notesSlides/notesSlide31.xml" Id="Re726a69a4b074de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1392dacf601490e" /><Relationship Type="http://schemas.openxmlformats.org/officeDocument/2006/relationships/notesSlide" Target="/ppt/notesSlides/notesSlide32.xml" Id="R6de81626fb664a4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53a23224b542405a" /><Relationship Type="http://schemas.openxmlformats.org/officeDocument/2006/relationships/notesSlide" Target="/ppt/notesSlides/notesSlide33.xml" Id="Raa6b6f7e1e9041b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cc489b41fbd4749" /><Relationship Type="http://schemas.openxmlformats.org/officeDocument/2006/relationships/notesSlide" Target="/ppt/notesSlides/notesSlide34.xml" Id="R8f0556acd838493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8963e0b9e03424c" /><Relationship Type="http://schemas.openxmlformats.org/officeDocument/2006/relationships/notesSlide" Target="/ppt/notesSlides/notesSlide35.xml" Id="Ra997b23531364c9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7848251f7654bce" /><Relationship Type="http://schemas.openxmlformats.org/officeDocument/2006/relationships/notesSlide" Target="/ppt/notesSlides/notesSlide36.xml" Id="R082fd0df7bb9473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125011607ec24abd" /><Relationship Type="http://schemas.openxmlformats.org/officeDocument/2006/relationships/notesSlide" Target="/ppt/notesSlides/notesSlide37.xml" Id="R3adc382daff9426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1e163f47ebf44af" /><Relationship Type="http://schemas.openxmlformats.org/officeDocument/2006/relationships/notesSlide" Target="/ppt/notesSlides/notesSlide38.xml" Id="R5b8df39003e94f1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0533b5a885f74c4a" /><Relationship Type="http://schemas.openxmlformats.org/officeDocument/2006/relationships/notesSlide" Target="/ppt/notesSlides/notesSlide39.xml" Id="Rbc14d16b53bf4c1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cb03eae973704b41" /><Relationship Type="http://schemas.openxmlformats.org/officeDocument/2006/relationships/notesSlide" Target="/ppt/notesSlides/notesSlide40.xml" Id="R5a8f365d17044ef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fcc0eedfffc24b96" /><Relationship Type="http://schemas.openxmlformats.org/officeDocument/2006/relationships/hyperlink" Target="https://docs.google.com/forms/d/e/1FAIpQLSehGqFG7PZ1wfoBRTaooiO6bw5XPXrKkDJ6kWCXi-YmEx69Eg/viewform" TargetMode="External" Id="Rc432780c2ee04529" /><Relationship Type="http://schemas.openxmlformats.org/officeDocument/2006/relationships/notesSlide" Target="/ppt/notesSlides/notesSlide41.xml" Id="R409c5b6d653e469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7e5ac0b61c5c4b01" /><Relationship Type="http://schemas.openxmlformats.org/officeDocument/2006/relationships/notesSlide" Target="/ppt/notesSlides/notesSlide42.xml" Id="R7d2499a0ac8449c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4cb873119da4833" /><Relationship Type="http://schemas.openxmlformats.org/officeDocument/2006/relationships/image" Target="/ppt/media/image4.png" Id="Re506d56308f049da" /><Relationship Type="http://schemas.openxmlformats.org/officeDocument/2006/relationships/hyperlink" Target="https://forms.gle/2bRrHnq3mUEN84k19" TargetMode="External" Id="R2358b1014f7a4da7" /><Relationship Type="http://schemas.openxmlformats.org/officeDocument/2006/relationships/notesSlide" Target="/ppt/notesSlides/notesSlide43.xml" Id="Rcd294b9cea7744a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3527256b26be494d" /><Relationship Type="http://schemas.openxmlformats.org/officeDocument/2006/relationships/notesSlide" Target="/ppt/notesSlides/notesSlide44.xml" Id="R8abd17c72c89428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8a5ea995fed4219" /><Relationship Type="http://schemas.openxmlformats.org/officeDocument/2006/relationships/notesSlide" Target="/ppt/notesSlides/notesSlide45.xml" Id="Rbea3433272b74fe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703a3511c9c4124"/>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91A79AC-FA48-46B2-AFD2-95006D861757}"/>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ECE96EF-F4FA-4E9A-A1CA-55EA98EF9563}"/>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5</a:t>
            </a:r>
          </a:p>
        </p:txBody>
      </p:sp>
      <p:sp>
        <p:nvSpPr>
          <p:cNvPr id="4" name="">
            <a:extLst xmlns:a="http://schemas.openxmlformats.org/drawingml/2006/main">
              <a:ext uri="{FF2B5EF4-FFF2-40B4-BE49-F238E27FC236}">
                <a16:creationId xmlns:a16="http://schemas.microsoft.com/office/drawing/2014/main" id="{BBEDA2B4-AEC2-4B1E-A4CF-0B5909BDDC9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D6A1439B-F7F7-4D5E-9534-71147576653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8017459D-0F14-46B7-BB01-95EA8E67F7A2}"/>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09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213037606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1964CAF-25D5-422C-A7DB-B546E4B8C4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2FB2B2-9ABC-4B3E-8733-5C1A0B1F94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4325C04-B86C-4D1E-82CC-74B74B67D9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C55E5AA-4EC6-4AF6-8156-E164476E1B48}"/>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176C19-FE23-4874-8A33-E41F887AC00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68BD6CDF-9881-47B1-B20B-527770711F9E}"/>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239BADB9-BAE7-4F88-864F-CB729608DA8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F7E82CB3-C466-4786-A713-F41884BF55D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96DA56D9-BE48-4716-8BF3-F0F16A6D69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a:t>
            </a:r>
          </a:p>
        </p:txBody>
      </p:sp>
    </p:spTree>
    <p:extLst>
      <p:ext uri="{BB962C8B-B14F-4D97-AF65-F5344CB8AC3E}">
        <p14:creationId xmlns:p14="http://schemas.microsoft.com/office/powerpoint/2010/main" val="42646468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9410E0-248A-4306-8667-2E30CECAC9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E96968-33E5-46C8-AA6E-9EE1E8860D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663D88-827D-4894-8C66-FF83383219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B682B1B1-FF58-4477-BCFE-5ACB0A8B098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7B8E24-D8C6-48B4-AB8C-8AAE447C2A1C}"/>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Week 4 used lists, dictionaries, loops and CSV rows. pandas keeps these same records in a labelled table and provides operations that work across its columns.</a:t>
            </a:r>
          </a:p>
        </p:txBody>
      </p:sp>
      <p:sp>
        <p:nvSpPr>
          <p:cNvPr id="6" name="">
            <a:extLst xmlns:a="http://schemas.openxmlformats.org/drawingml/2006/main">
              <a:ext uri="{FF2B5EF4-FFF2-40B4-BE49-F238E27FC236}">
                <a16:creationId xmlns:a16="http://schemas.microsoft.com/office/drawing/2014/main" id="{C9D5B9BA-0317-44E7-994B-459F417C5D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a:t>
            </a:r>
          </a:p>
        </p:txBody>
      </p:sp>
    </p:spTree>
    <p:extLst>
      <p:ext uri="{BB962C8B-B14F-4D97-AF65-F5344CB8AC3E}">
        <p14:creationId xmlns:p14="http://schemas.microsoft.com/office/powerpoint/2010/main" val="107451681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D5A3417-9AD9-4228-AE01-C24A0D122F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BDB122-B0B0-4D1D-9FED-4290164112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C374B70-D997-4677-A021-53C993CE84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1BED7806-C754-429C-9A52-69332290E9C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F9ED92-11F3-4E0E-B982-C004B753A6D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supplied campus_energy.csv records campus electricity use.</a:t>
            </a:r>
          </a:p>
        </p:txBody>
      </p:sp>
      <p:sp>
        <p:nvSpPr>
          <p:cNvPr id="6" name="">
            <a:extLst xmlns:a="http://schemas.openxmlformats.org/drawingml/2006/main">
              <a:ext uri="{FF2B5EF4-FFF2-40B4-BE49-F238E27FC236}">
                <a16:creationId xmlns:a16="http://schemas.microsoft.com/office/drawing/2014/main" id="{04D1D1A4-4DB2-416A-B722-05A35D00C4F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practise pandas on four invented rows first, then inspect the supplied file and its units.</a:t>
            </a:r>
          </a:p>
        </p:txBody>
      </p:sp>
      <p:sp>
        <p:nvSpPr>
          <p:cNvPr id="7" name="">
            <a:extLst xmlns:a="http://schemas.openxmlformats.org/drawingml/2006/main">
              <a:ext uri="{FF2B5EF4-FFF2-40B4-BE49-F238E27FC236}">
                <a16:creationId xmlns:a16="http://schemas.microsoft.com/office/drawing/2014/main" id="{997B81E0-40BF-483D-AB90-FCDADD9F3E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a:t>
            </a:r>
          </a:p>
        </p:txBody>
      </p:sp>
    </p:spTree>
    <p:extLst>
      <p:ext uri="{BB962C8B-B14F-4D97-AF65-F5344CB8AC3E}">
        <p14:creationId xmlns:p14="http://schemas.microsoft.com/office/powerpoint/2010/main" val="49288051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2386817-62BC-4803-B53B-429BCD89F2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3A7062-7A76-474B-B4FB-44A06F3A73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3F071C-0DF6-4868-8EF9-7BBA1608CC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units</a:t>
            </a:r>
          </a:p>
        </p:txBody>
      </p:sp>
      <p:sp>
        <p:nvSpPr>
          <p:cNvPr id="4" name="">
            <a:extLst xmlns:a="http://schemas.openxmlformats.org/drawingml/2006/main">
              <a:ext uri="{FF2B5EF4-FFF2-40B4-BE49-F238E27FC236}">
                <a16:creationId xmlns:a16="http://schemas.microsoft.com/office/drawing/2014/main" id="{87CAD5E1-B283-4DBF-AF17-6979F920B4F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398C69-AAD1-4493-BFD1-9E79BFC98CD7}"/>
              </a:ext>
            </a:extLst>
          </p:cNvPr>
          <p:cNvSpPr>
            <a:spLocks xmlns:a="http://schemas.openxmlformats.org/drawingml/2006/main" noGrp="1"/>
          </p:cNvSpPr>
          <p:nvPr/>
        </p:nvSpPr>
        <p:spPr>
          <a:xfrm xmlns:a="http://schemas.openxmlformats.org/drawingml/2006/main">
            <a:off x="1381125" y="1781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row describes one observation. A column describes one field.</a:t>
            </a:r>
          </a:p>
        </p:txBody>
      </p:sp>
      <p:sp>
        <p:nvSpPr>
          <p:cNvPr id="6" name="">
            <a:extLst xmlns:a="http://schemas.openxmlformats.org/drawingml/2006/main">
              <a:ext uri="{FF2B5EF4-FFF2-40B4-BE49-F238E27FC236}">
                <a16:creationId xmlns:a16="http://schemas.microsoft.com/office/drawing/2014/main" id="{133CE79B-CA5F-4950-B4DB-49FBBB0D8003}"/>
              </a:ext>
            </a:extLst>
          </p:cNvPr>
          <p:cNvSpPr>
            <a:spLocks xmlns:a="http://schemas.openxmlformats.org/drawingml/2006/main" noGrp="1"/>
          </p:cNvSpPr>
          <p:nvPr/>
        </p:nvSpPr>
        <p:spPr>
          <a:xfrm xmlns:a="http://schemas.openxmlformats.org/drawingml/2006/main">
            <a:off x="590550" y="26384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552805-223B-48AF-9711-15E323F0E32A}"/>
              </a:ext>
            </a:extLst>
          </p:cNvPr>
          <p:cNvSpPr>
            <a:spLocks xmlns:a="http://schemas.openxmlformats.org/drawingml/2006/main" noGrp="1"/>
          </p:cNvSpPr>
          <p:nvPr/>
        </p:nvSpPr>
        <p:spPr>
          <a:xfrm xmlns:a="http://schemas.openxmlformats.org/drawingml/2006/main">
            <a:off x="1381125" y="26384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pandas’ labelled table.</a:t>
            </a:r>
          </a:p>
        </p:txBody>
      </p:sp>
      <p:sp>
        <p:nvSpPr>
          <p:cNvPr id="8" name="">
            <a:extLst xmlns:a="http://schemas.openxmlformats.org/drawingml/2006/main">
              <a:ext uri="{FF2B5EF4-FFF2-40B4-BE49-F238E27FC236}">
                <a16:creationId xmlns:a16="http://schemas.microsoft.com/office/drawing/2014/main" id="{86C679FF-742A-4A2C-A39F-9AD86277902E}"/>
              </a:ext>
            </a:extLst>
          </p:cNvPr>
          <p:cNvSpPr>
            <a:spLocks xmlns:a="http://schemas.openxmlformats.org/drawingml/2006/main" noGrp="1"/>
          </p:cNvSpPr>
          <p:nvPr/>
        </p:nvSpPr>
        <p:spPr>
          <a:xfrm xmlns:a="http://schemas.openxmlformats.org/drawingml/2006/main">
            <a:off x="590550" y="3495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22237D-1EC9-4C07-8095-0F69A74407F3}"/>
              </a:ext>
            </a:extLst>
          </p:cNvPr>
          <p:cNvSpPr>
            <a:spLocks xmlns:a="http://schemas.openxmlformats.org/drawingml/2006/main" noGrp="1"/>
          </p:cNvSpPr>
          <p:nvPr/>
        </p:nvSpPr>
        <p:spPr>
          <a:xfrm xmlns:a="http://schemas.openxmlformats.org/drawingml/2006/main">
            <a:off x="1381125" y="34956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Series is one labelled column.</a:t>
            </a:r>
          </a:p>
        </p:txBody>
      </p:sp>
      <p:sp>
        <p:nvSpPr>
          <p:cNvPr id="10" name="">
            <a:extLst xmlns:a="http://schemas.openxmlformats.org/drawingml/2006/main">
              <a:ext uri="{FF2B5EF4-FFF2-40B4-BE49-F238E27FC236}">
                <a16:creationId xmlns:a16="http://schemas.microsoft.com/office/drawing/2014/main" id="{CD95F150-F1BD-4142-B554-BB66B3B68445}"/>
              </a:ext>
            </a:extLst>
          </p:cNvPr>
          <p:cNvSpPr>
            <a:spLocks xmlns:a="http://schemas.openxmlformats.org/drawingml/2006/main" noGrp="1"/>
          </p:cNvSpPr>
          <p:nvPr/>
        </p:nvSpPr>
        <p:spPr>
          <a:xfrm xmlns:a="http://schemas.openxmlformats.org/drawingml/2006/main">
            <a:off x="590550"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008E1EF-9C97-4AD9-918C-0DB5C91DB8F8}"/>
              </a:ext>
            </a:extLst>
          </p:cNvPr>
          <p:cNvSpPr>
            <a:spLocks xmlns:a="http://schemas.openxmlformats.org/drawingml/2006/main" noGrp="1"/>
          </p:cNvSpPr>
          <p:nvPr/>
        </p:nvSpPr>
        <p:spPr>
          <a:xfrm xmlns:a="http://schemas.openxmlformats.org/drawingml/2006/main">
            <a:off x="1381125" y="43529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measures energy. kW measures power.</a:t>
            </a:r>
          </a:p>
        </p:txBody>
      </p:sp>
      <p:sp>
        <p:nvSpPr>
          <p:cNvPr id="12" name="">
            <a:extLst xmlns:a="http://schemas.openxmlformats.org/drawingml/2006/main">
              <a:ext uri="{FF2B5EF4-FFF2-40B4-BE49-F238E27FC236}">
                <a16:creationId xmlns:a16="http://schemas.microsoft.com/office/drawing/2014/main" id="{234B8792-E03E-4459-8AF1-BA79A0C98ACD}"/>
              </a:ext>
            </a:extLst>
          </p:cNvPr>
          <p:cNvSpPr>
            <a:spLocks xmlns:a="http://schemas.openxmlformats.org/drawingml/2006/main" noGrp="1"/>
          </p:cNvSpPr>
          <p:nvPr/>
        </p:nvSpPr>
        <p:spPr>
          <a:xfrm xmlns:a="http://schemas.openxmlformats.org/drawingml/2006/main">
            <a:off x="590550" y="5210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05</a:t>
            </a:r>
          </a:p>
        </p:txBody>
      </p:sp>
      <p:sp>
        <p:nvSpPr>
          <p:cNvPr id="13" name="">
            <a:extLst xmlns:a="http://schemas.openxmlformats.org/drawingml/2006/main">
              <a:ext uri="{FF2B5EF4-FFF2-40B4-BE49-F238E27FC236}">
                <a16:creationId xmlns:a16="http://schemas.microsoft.com/office/drawing/2014/main" id="{6616B4AC-FBC6-4A33-95D1-1AA6B15E561F}"/>
              </a:ext>
            </a:extLst>
          </p:cNvPr>
          <p:cNvSpPr>
            <a:spLocks xmlns:a="http://schemas.openxmlformats.org/drawingml/2006/main" noGrp="1"/>
          </p:cNvSpPr>
          <p:nvPr/>
        </p:nvSpPr>
        <p:spPr>
          <a:xfrm xmlns:a="http://schemas.openxmlformats.org/drawingml/2006/main">
            <a:off x="1381125" y="5210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type (dtype) describes the kind of values in a column, such as whole numbers, decimals or text.</a:t>
            </a:r>
          </a:p>
        </p:txBody>
      </p:sp>
      <p:sp>
        <p:nvSpPr>
          <p:cNvPr id="14" name="">
            <a:extLst xmlns:a="http://schemas.openxmlformats.org/drawingml/2006/main">
              <a:ext uri="{FF2B5EF4-FFF2-40B4-BE49-F238E27FC236}">
                <a16:creationId xmlns:a16="http://schemas.microsoft.com/office/drawing/2014/main" id="{69E193C8-C19D-4460-8DB0-A8AA096252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5</a:t>
            </a:r>
          </a:p>
        </p:txBody>
      </p:sp>
    </p:spTree>
    <p:extLst>
      <p:ext uri="{BB962C8B-B14F-4D97-AF65-F5344CB8AC3E}">
        <p14:creationId xmlns:p14="http://schemas.microsoft.com/office/powerpoint/2010/main" val="11370706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38E2ED-39B4-4881-B392-A1BF98F316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85C786-DA21-479A-A02C-1D62C9B854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10359F-E7C2-40C5-BD0A-C305F4C31C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table keeps related observations together</a:t>
            </a:r>
          </a:p>
        </p:txBody>
      </p:sp>
      <p:sp>
        <p:nvSpPr>
          <p:cNvPr id="4" name="">
            <a:extLst xmlns:a="http://schemas.openxmlformats.org/drawingml/2006/main">
              <a:ext uri="{FF2B5EF4-FFF2-40B4-BE49-F238E27FC236}">
                <a16:creationId xmlns:a16="http://schemas.microsoft.com/office/drawing/2014/main" id="{F8DE788D-B527-4583-8BE0-EFA33D63C5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ABAA9E-72D1-4062-A3D6-96D03F5477E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four rows record building A twice and building B twice.</a:t>
            </a:r>
          </a:p>
        </p:txBody>
      </p:sp>
      <p:sp>
        <p:nvSpPr>
          <p:cNvPr id="6" name="">
            <a:extLst xmlns:a="http://schemas.openxmlformats.org/drawingml/2006/main">
              <a:ext uri="{FF2B5EF4-FFF2-40B4-BE49-F238E27FC236}">
                <a16:creationId xmlns:a16="http://schemas.microsoft.com/office/drawing/2014/main" id="{C6A5A872-D4D0-4CC2-AA30-B32CE60328F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F0F4C8-AF41-49DB-BAE9-8FE0B349DC6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the building label and an energy reading.</a:t>
            </a:r>
          </a:p>
        </p:txBody>
      </p:sp>
      <p:sp>
        <p:nvSpPr>
          <p:cNvPr id="8" name="">
            <a:extLst xmlns:a="http://schemas.openxmlformats.org/drawingml/2006/main">
              <a:ext uri="{FF2B5EF4-FFF2-40B4-BE49-F238E27FC236}">
                <a16:creationId xmlns:a16="http://schemas.microsoft.com/office/drawing/2014/main" id="{530A3185-C9DB-4696-86C2-666BFEDB660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D72B2F-2A34-4D10-BCB6-5B0EFF7EF2C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is energy. kW is power. The units describe different quantities.</a:t>
            </a:r>
          </a:p>
        </p:txBody>
      </p:sp>
      <p:sp>
        <p:nvSpPr>
          <p:cNvPr id="10" name="">
            <a:extLst xmlns:a="http://schemas.openxmlformats.org/drawingml/2006/main">
              <a:ext uri="{FF2B5EF4-FFF2-40B4-BE49-F238E27FC236}">
                <a16:creationId xmlns:a16="http://schemas.microsoft.com/office/drawing/2014/main" id="{187F56A3-A557-488E-A786-1BB4663AEF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6</a:t>
            </a:r>
          </a:p>
        </p:txBody>
      </p:sp>
    </p:spTree>
    <p:extLst>
      <p:ext uri="{BB962C8B-B14F-4D97-AF65-F5344CB8AC3E}">
        <p14:creationId xmlns:p14="http://schemas.microsoft.com/office/powerpoint/2010/main" val="43107470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8273922-C08B-417F-99CB-26B7781C54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9D5EA1-DFAC-4AF6-8FBD-88F5723B78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D8FF823-964F-421F-9315-11A8CB738E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Our small energy table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building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kwh</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5</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7</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1776CEF-0009-427D-BD15-1A55B47C2FA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four observations total 18 kWh.</a:t>
            </a:r>
          </a:p>
        </p:txBody>
      </p:sp>
      <p:sp>
        <p:nvSpPr>
          <p:cNvPr id="6" name="">
            <a:extLst xmlns:a="http://schemas.openxmlformats.org/drawingml/2006/main">
              <a:ext uri="{FF2B5EF4-FFF2-40B4-BE49-F238E27FC236}">
                <a16:creationId xmlns:a16="http://schemas.microsoft.com/office/drawing/2014/main" id="{860B793F-6E08-47E7-9213-69953C431B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7</a:t>
            </a:r>
          </a:p>
        </p:txBody>
      </p:sp>
    </p:spTree>
    <p:extLst>
      <p:ext uri="{BB962C8B-B14F-4D97-AF65-F5344CB8AC3E}">
        <p14:creationId xmlns:p14="http://schemas.microsoft.com/office/powerpoint/2010/main" val="6594449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130D54-B644-47C7-BCBC-0263DCC500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0533B2-477D-4933-A7E1-E32CF3F72E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DB45798-B1D5-4C0C-8390-859720C19A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Library and pandas and DataFrame</a:t>
            </a:r>
          </a:p>
        </p:txBody>
      </p:sp>
      <p:sp>
        <p:nvSpPr>
          <p:cNvPr id="4" name="">
            <a:extLst xmlns:a="http://schemas.openxmlformats.org/drawingml/2006/main">
              <a:ext uri="{FF2B5EF4-FFF2-40B4-BE49-F238E27FC236}">
                <a16:creationId xmlns:a16="http://schemas.microsoft.com/office/drawing/2014/main" id="{5A495F8A-9A0E-4B2C-AD27-E1629BD892A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31B915-E764-48B7-8C65-B74DC204D3B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Library and pandas</a:t>
            </a:r>
          </a:p>
        </p:txBody>
      </p:sp>
      <p:sp>
        <p:nvSpPr>
          <p:cNvPr id="6" name="">
            <a:extLst xmlns:a="http://schemas.openxmlformats.org/drawingml/2006/main">
              <a:ext uri="{FF2B5EF4-FFF2-40B4-BE49-F238E27FC236}">
                <a16:creationId xmlns:a16="http://schemas.microsoft.com/office/drawing/2014/main" id="{F892FBD5-087A-4B98-83E5-D675058CE86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library is reusable code. pandas provides tools for data tables. import pandas as pd makes pd a short name for that library.</a:t>
            </a:r>
          </a:p>
        </p:txBody>
      </p:sp>
      <p:sp>
        <p:nvSpPr>
          <p:cNvPr id="7" name="">
            <a:extLst xmlns:a="http://schemas.openxmlformats.org/drawingml/2006/main">
              <a:ext uri="{FF2B5EF4-FFF2-40B4-BE49-F238E27FC236}">
                <a16:creationId xmlns:a16="http://schemas.microsoft.com/office/drawing/2014/main" id="{5251D885-D32C-42C3-BE27-FCA39529F9C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36A3C69-AB80-4AA4-9BB4-B1D13476BDD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DataFrame</a:t>
            </a:r>
          </a:p>
        </p:txBody>
      </p:sp>
      <p:sp>
        <p:nvSpPr>
          <p:cNvPr id="9" name="">
            <a:extLst xmlns:a="http://schemas.openxmlformats.org/drawingml/2006/main">
              <a:ext uri="{FF2B5EF4-FFF2-40B4-BE49-F238E27FC236}">
                <a16:creationId xmlns:a16="http://schemas.microsoft.com/office/drawing/2014/main" id="{1F0D5221-89A2-4FD9-A1AC-2FB0ED3EADA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table with named columns and indexed rows. df is just the variable name we choose for this table.</a:t>
            </a:r>
          </a:p>
        </p:txBody>
      </p:sp>
      <p:sp>
        <p:nvSpPr>
          <p:cNvPr id="10" name="">
            <a:extLst xmlns:a="http://schemas.openxmlformats.org/drawingml/2006/main">
              <a:ext uri="{FF2B5EF4-FFF2-40B4-BE49-F238E27FC236}">
                <a16:creationId xmlns:a16="http://schemas.microsoft.com/office/drawing/2014/main" id="{933955DB-2C0D-4D3D-917A-8FACBF6DFD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8</a:t>
            </a:r>
          </a:p>
        </p:txBody>
      </p:sp>
    </p:spTree>
    <p:extLst>
      <p:ext uri="{BB962C8B-B14F-4D97-AF65-F5344CB8AC3E}">
        <p14:creationId xmlns:p14="http://schemas.microsoft.com/office/powerpoint/2010/main" val="133452689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12ED312-C8AD-48A9-AB94-4E1249253DC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91C2F6-C864-449D-8927-3BDFA22077F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labelled table in Python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03b97f14c1e4bde"/>
          <a:stretch xmlns:a="http://schemas.openxmlformats.org/drawingml/2006/main"/>
        </p:blipFill>
        <p:spPr>
          <a:xfrm xmlns:a="http://schemas.openxmlformats.org/drawingml/2006/main">
            <a:off x="509073" y="1057275"/>
            <a:ext cx="1117385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44DD71D-D637-4718-B9FC-D4D4FDDF3E0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81A708-6C32-4DC6-B187-BD23B0D9F68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machinery records. The same row, column and index structure applies to our building-energy table.</a:t>
            </a:r>
          </a:p>
        </p:txBody>
      </p:sp>
      <p:sp>
        <p:nvSpPr>
          <p:cNvPr id="6" name="">
            <a:extLst xmlns:a="http://schemas.openxmlformats.org/drawingml/2006/main">
              <a:ext uri="{FF2B5EF4-FFF2-40B4-BE49-F238E27FC236}">
                <a16:creationId xmlns:a16="http://schemas.microsoft.com/office/drawing/2014/main" id="{1FA2D19F-CE6F-45A7-A9F9-5E8D42E92B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9</a:t>
            </a:r>
          </a:p>
        </p:txBody>
      </p:sp>
    </p:spTree>
    <p:extLst>
      <p:ext uri="{BB962C8B-B14F-4D97-AF65-F5344CB8AC3E}">
        <p14:creationId xmlns:p14="http://schemas.microsoft.com/office/powerpoint/2010/main" val="31678713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C9037F-AD84-41BF-8F42-C387E986CA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8F1AB9-4C1B-4945-86DE-87330EE707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05C8A6C-51F2-48D3-9575-12736D9B77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Series and Method and attribute</a:t>
            </a:r>
          </a:p>
        </p:txBody>
      </p:sp>
      <p:sp>
        <p:nvSpPr>
          <p:cNvPr id="4" name="">
            <a:extLst xmlns:a="http://schemas.openxmlformats.org/drawingml/2006/main">
              <a:ext uri="{FF2B5EF4-FFF2-40B4-BE49-F238E27FC236}">
                <a16:creationId xmlns:a16="http://schemas.microsoft.com/office/drawing/2014/main" id="{CED76E07-9DCD-4D22-816F-6E3B6390CCC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770C8F-8688-4F71-BFB1-B3BD43CB09E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Series</a:t>
            </a:r>
          </a:p>
        </p:txBody>
      </p:sp>
      <p:sp>
        <p:nvSpPr>
          <p:cNvPr id="6" name="">
            <a:extLst xmlns:a="http://schemas.openxmlformats.org/drawingml/2006/main">
              <a:ext uri="{FF2B5EF4-FFF2-40B4-BE49-F238E27FC236}">
                <a16:creationId xmlns:a16="http://schemas.microsoft.com/office/drawing/2014/main" id="{B4771725-A2DA-4C62-AAAC-D1C8315870F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One labelled column. df["kwh"] selects the column named kwh.</a:t>
            </a:r>
          </a:p>
        </p:txBody>
      </p:sp>
      <p:sp>
        <p:nvSpPr>
          <p:cNvPr id="7" name="">
            <a:extLst xmlns:a="http://schemas.openxmlformats.org/drawingml/2006/main">
              <a:ext uri="{FF2B5EF4-FFF2-40B4-BE49-F238E27FC236}">
                <a16:creationId xmlns:a16="http://schemas.microsoft.com/office/drawing/2014/main" id="{EB205E67-86F0-4D33-84A1-080ADDA84DF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5BDE467-1AA8-4CDE-9D98-D8D59C820FD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Method and attribute</a:t>
            </a:r>
          </a:p>
        </p:txBody>
      </p:sp>
      <p:sp>
        <p:nvSpPr>
          <p:cNvPr id="9" name="">
            <a:extLst xmlns:a="http://schemas.openxmlformats.org/drawingml/2006/main">
              <a:ext uri="{FF2B5EF4-FFF2-40B4-BE49-F238E27FC236}">
                <a16:creationId xmlns:a16="http://schemas.microsoft.com/office/drawing/2014/main" id="{68803FAC-A229-4145-96F5-1AE14DB18DC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method performs an operation, as in df.head(). An attribute provides a stored property, as in df.shape. Parentheses call an operation.</a:t>
            </a:r>
          </a:p>
        </p:txBody>
      </p:sp>
      <p:sp>
        <p:nvSpPr>
          <p:cNvPr id="10" name="">
            <a:extLst xmlns:a="http://schemas.openxmlformats.org/drawingml/2006/main">
              <a:ext uri="{FF2B5EF4-FFF2-40B4-BE49-F238E27FC236}">
                <a16:creationId xmlns:a16="http://schemas.microsoft.com/office/drawing/2014/main" id="{08273ACF-58B9-4972-814F-B87D608956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10</a:t>
            </a:r>
          </a:p>
        </p:txBody>
      </p:sp>
    </p:spTree>
    <p:extLst>
      <p:ext uri="{BB962C8B-B14F-4D97-AF65-F5344CB8AC3E}">
        <p14:creationId xmlns:p14="http://schemas.microsoft.com/office/powerpoint/2010/main" val="165930483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B3A328-E4F0-483A-BA23-64B281B0B4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6C9CE1-8C7F-42C8-835F-1100682F13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EBDA72-4904-482B-B33E-194EA6B09C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pandas syntax</a:t>
            </a:r>
          </a:p>
        </p:txBody>
      </p:sp>
      <p:sp>
        <p:nvSpPr>
          <p:cNvPr id="4" name="">
            <a:extLst xmlns:a="http://schemas.openxmlformats.org/drawingml/2006/main">
              <a:ext uri="{FF2B5EF4-FFF2-40B4-BE49-F238E27FC236}">
                <a16:creationId xmlns:a16="http://schemas.microsoft.com/office/drawing/2014/main" id="{B488F774-A12E-41A7-8634-69CA9CCE4C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B8EF2A-128C-4F6C-93D6-D6A256A6B21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the library and gives it a short name.</a:t>
            </a:r>
          </a:p>
        </p:txBody>
      </p:sp>
      <p:sp>
        <p:nvSpPr>
          <p:cNvPr id="6" name="">
            <a:extLst xmlns:a="http://schemas.openxmlformats.org/drawingml/2006/main">
              <a:ext uri="{FF2B5EF4-FFF2-40B4-BE49-F238E27FC236}">
                <a16:creationId xmlns:a16="http://schemas.microsoft.com/office/drawing/2014/main" id="{2464FC3A-8F69-456F-B38B-1C79D1ABD14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DFCA1C-F8A7-478C-98D9-889CE59DA8A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pd.read_csv("file.csv") calls a function. The quoted text is the file path.</a:t>
            </a:r>
          </a:p>
        </p:txBody>
      </p:sp>
      <p:sp>
        <p:nvSpPr>
          <p:cNvPr id="8" name="">
            <a:extLst xmlns:a="http://schemas.openxmlformats.org/drawingml/2006/main">
              <a:ext uri="{FF2B5EF4-FFF2-40B4-BE49-F238E27FC236}">
                <a16:creationId xmlns:a16="http://schemas.microsoft.com/office/drawing/2014/main" id="{7F11A99B-73A6-42C2-9AFE-2089795BE8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CAEDBC-0CB8-468D-8C28-6FEE6AB5B25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a column. df["kwh"].mean() calls a method on that column.</a:t>
            </a:r>
          </a:p>
        </p:txBody>
      </p:sp>
      <p:sp>
        <p:nvSpPr>
          <p:cNvPr id="10" name="">
            <a:extLst xmlns:a="http://schemas.openxmlformats.org/drawingml/2006/main">
              <a:ext uri="{FF2B5EF4-FFF2-40B4-BE49-F238E27FC236}">
                <a16:creationId xmlns:a16="http://schemas.microsoft.com/office/drawing/2014/main" id="{824F1A63-341D-4F68-AE95-024B369C90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11</a:t>
            </a:r>
          </a:p>
        </p:txBody>
      </p:sp>
    </p:spTree>
    <p:extLst>
      <p:ext uri="{BB962C8B-B14F-4D97-AF65-F5344CB8AC3E}">
        <p14:creationId xmlns:p14="http://schemas.microsoft.com/office/powerpoint/2010/main" val="54618819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2A6AD58-384F-43FC-B9A9-C560276C2C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A3FCEA-089A-49F3-A11D-97795EE90B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9285E7-5AA0-4C00-BC3A-87D9106A98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table constructor in stages</a:t>
            </a:r>
          </a:p>
        </p:txBody>
      </p:sp>
      <p:sp>
        <p:nvSpPr>
          <p:cNvPr id="4" name="">
            <a:extLst xmlns:a="http://schemas.openxmlformats.org/drawingml/2006/main">
              <a:ext uri="{FF2B5EF4-FFF2-40B4-BE49-F238E27FC236}">
                <a16:creationId xmlns:a16="http://schemas.microsoft.com/office/drawing/2014/main" id="{3C237A3A-5D13-4302-A8AB-F778135DCA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3A1D86E-D4BF-44A7-87B0-C704E1F05F0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shorter name pd. This is an alias; you could use another name consistently.</a:t>
            </a:r>
          </a:p>
        </p:txBody>
      </p:sp>
      <p:sp>
        <p:nvSpPr>
          <p:cNvPr id="6" name="">
            <a:extLst xmlns:a="http://schemas.openxmlformats.org/drawingml/2006/main">
              <a:ext uri="{FF2B5EF4-FFF2-40B4-BE49-F238E27FC236}">
                <a16:creationId xmlns:a16="http://schemas.microsoft.com/office/drawing/2014/main" id="{E1DCF4AC-1953-42F7-8121-47C0112A99F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D5316D-2A50-40A7-856C-66D0568EAF6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Inside pd.DataFrame(...), the dictionary keys become column names. Each list supplies that column’s values in row order.</a:t>
            </a:r>
          </a:p>
        </p:txBody>
      </p:sp>
      <p:sp>
        <p:nvSpPr>
          <p:cNvPr id="8" name="">
            <a:extLst xmlns:a="http://schemas.openxmlformats.org/drawingml/2006/main">
              <a:ext uri="{FF2B5EF4-FFF2-40B4-BE49-F238E27FC236}">
                <a16:creationId xmlns:a16="http://schemas.microsoft.com/office/drawing/2014/main" id="{3305E734-227C-4079-8694-D91BD971D52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6F9B5E-B7EF-4AD5-ADBA-C65A2BBC5F3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these column lists have the same length. At position 0, building is "A" and kwh is 2; together they form the first row.</a:t>
            </a:r>
          </a:p>
        </p:txBody>
      </p:sp>
      <p:sp>
        <p:nvSpPr>
          <p:cNvPr id="10" name="">
            <a:extLst xmlns:a="http://schemas.openxmlformats.org/drawingml/2006/main">
              <a:ext uri="{FF2B5EF4-FFF2-40B4-BE49-F238E27FC236}">
                <a16:creationId xmlns:a16="http://schemas.microsoft.com/office/drawing/2014/main" id="{5564E1AB-7113-4E03-A2E3-E76BEB187F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12</a:t>
            </a:r>
          </a:p>
        </p:txBody>
      </p:sp>
    </p:spTree>
    <p:extLst>
      <p:ext uri="{BB962C8B-B14F-4D97-AF65-F5344CB8AC3E}">
        <p14:creationId xmlns:p14="http://schemas.microsoft.com/office/powerpoint/2010/main" val="32448989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9C85BB-89E3-406E-BA92-827D3DB8E2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E6DB4E-3444-49DB-9C21-912B3FB341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64F446D-8339-490F-99BE-7D988591A4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 the table before asking questions</a:t>
            </a:r>
          </a:p>
        </p:txBody>
      </p:sp>
      <p:sp>
        <p:nvSpPr>
          <p:cNvPr id="4" name="">
            <a:extLst xmlns:a="http://schemas.openxmlformats.org/drawingml/2006/main">
              <a:ext uri="{FF2B5EF4-FFF2-40B4-BE49-F238E27FC236}">
                <a16:creationId xmlns:a16="http://schemas.microsoft.com/office/drawing/2014/main" id="{5AFD2060-5457-4E20-B38A-EABFA840738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149B5A-BEC5-44A5-9820-A02132F9A2F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 = pd.DataFrame({"building": ["A", "A", "B",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"kwh": [2, 4,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a:t>
            </a:r>
          </a:p>
        </p:txBody>
      </p:sp>
      <p:sp>
        <p:nvSpPr>
          <p:cNvPr id="6" name="">
            <a:extLst xmlns:a="http://schemas.openxmlformats.org/drawingml/2006/main">
              <a:ext uri="{FF2B5EF4-FFF2-40B4-BE49-F238E27FC236}">
                <a16:creationId xmlns:a16="http://schemas.microsoft.com/office/drawing/2014/main" id="{5F607BC9-3676-49E2-9F40-420A7CA37E7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834AF134-F494-4987-9F33-A13DC50A595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Each dictionary key becomes a column name. Equal-length lists supply its rows.</a:t>
            </a:r>
          </a:p>
        </p:txBody>
      </p:sp>
      <p:sp>
        <p:nvSpPr>
          <p:cNvPr id="8" name="">
            <a:extLst xmlns:a="http://schemas.openxmlformats.org/drawingml/2006/main">
              <a:ext uri="{FF2B5EF4-FFF2-40B4-BE49-F238E27FC236}">
                <a16:creationId xmlns:a16="http://schemas.microsoft.com/office/drawing/2014/main" id="{D2BBB202-0BEA-41F4-8DB2-C4619E4F5A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13</a:t>
            </a:r>
          </a:p>
        </p:txBody>
      </p:sp>
    </p:spTree>
    <p:extLst>
      <p:ext uri="{BB962C8B-B14F-4D97-AF65-F5344CB8AC3E}">
        <p14:creationId xmlns:p14="http://schemas.microsoft.com/office/powerpoint/2010/main" val="29193478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A40EDF-66C1-41FE-8B83-4A54BD8D53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765CCC-89CC-46BF-A0F3-FF05DB6B2D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79D550-3D0E-4E54-BFFB-889A2DB330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first then summarise</a:t>
            </a:r>
          </a:p>
        </p:txBody>
      </p:sp>
      <p:sp>
        <p:nvSpPr>
          <p:cNvPr id="4" name="">
            <a:extLst xmlns:a="http://schemas.openxmlformats.org/drawingml/2006/main">
              <a:ext uri="{FF2B5EF4-FFF2-40B4-BE49-F238E27FC236}">
                <a16:creationId xmlns:a16="http://schemas.microsoft.com/office/drawing/2014/main" id="{BD212165-956E-44F4-B8F1-9133D10DEF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E625A3-A0D0-4F11-B3AD-A427152D318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the energy column as a Series, which is a labelled sequence of values. Its entries are 2, 4, 5 and 7.</a:t>
            </a:r>
          </a:p>
        </p:txBody>
      </p:sp>
      <p:sp>
        <p:nvSpPr>
          <p:cNvPr id="6" name="">
            <a:extLst xmlns:a="http://schemas.openxmlformats.org/drawingml/2006/main">
              <a:ext uri="{FF2B5EF4-FFF2-40B4-BE49-F238E27FC236}">
                <a16:creationId xmlns:a16="http://schemas.microsoft.com/office/drawing/2014/main" id="{14A5075E-FB05-46B5-AB56-CBB8C905696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2F2ABB-2C4D-46FA-AD93-1C08F157BEC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it as energy = df["kwh"]. energy.mean() adds those four values and divides by four: 18 / 4 = 4.5.</a:t>
            </a:r>
          </a:p>
        </p:txBody>
      </p:sp>
      <p:sp>
        <p:nvSpPr>
          <p:cNvPr id="8" name="">
            <a:extLst xmlns:a="http://schemas.openxmlformats.org/drawingml/2006/main">
              <a:ext uri="{FF2B5EF4-FFF2-40B4-BE49-F238E27FC236}">
                <a16:creationId xmlns:a16="http://schemas.microsoft.com/office/drawing/2014/main" id="{6A97A225-082A-4807-83D6-425015C62AF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2422F0-539D-4151-BF6A-57C211739C8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df["kwh"].mean() combines those same two steps. A dot chooses a method; parentheses call it.</a:t>
            </a:r>
          </a:p>
        </p:txBody>
      </p:sp>
      <p:sp>
        <p:nvSpPr>
          <p:cNvPr id="10" name="">
            <a:extLst xmlns:a="http://schemas.openxmlformats.org/drawingml/2006/main">
              <a:ext uri="{FF2B5EF4-FFF2-40B4-BE49-F238E27FC236}">
                <a16:creationId xmlns:a16="http://schemas.microsoft.com/office/drawing/2014/main" id="{E80F5853-DCCA-42E6-9D1A-96A052B777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14</a:t>
            </a:r>
          </a:p>
        </p:txBody>
      </p:sp>
    </p:spTree>
    <p:extLst>
      <p:ext uri="{BB962C8B-B14F-4D97-AF65-F5344CB8AC3E}">
        <p14:creationId xmlns:p14="http://schemas.microsoft.com/office/powerpoint/2010/main" val="153782597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5179E2-72D5-442C-9855-5C2AA745F8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F63D42-45EE-4AC4-9EE5-A2304A5AC7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C53C942-E23B-411E-B86E-9AFB410E76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a column and calculate its mean</a:t>
            </a:r>
          </a:p>
        </p:txBody>
      </p:sp>
      <p:sp>
        <p:nvSpPr>
          <p:cNvPr id="4" name="">
            <a:extLst xmlns:a="http://schemas.openxmlformats.org/drawingml/2006/main">
              <a:ext uri="{FF2B5EF4-FFF2-40B4-BE49-F238E27FC236}">
                <a16:creationId xmlns:a16="http://schemas.microsoft.com/office/drawing/2014/main" id="{BDA45922-3EF0-4A11-9659-1EE1E8C8AE9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4CC8B9-C7FC-489A-80DB-2E107977E9F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print(df["kwh"].mean())</a:t>
            </a:r>
          </a:p>
        </p:txBody>
      </p:sp>
      <p:sp>
        <p:nvSpPr>
          <p:cNvPr id="6" name="">
            <a:extLst xmlns:a="http://schemas.openxmlformats.org/drawingml/2006/main">
              <a:ext uri="{FF2B5EF4-FFF2-40B4-BE49-F238E27FC236}">
                <a16:creationId xmlns:a16="http://schemas.microsoft.com/office/drawing/2014/main" id="{1AA1B13F-2C4F-4382-8BCB-8FFD084C9AF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028CA86-6FEE-4BDD-98AD-447D7503BDD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120FF8EB-706A-423D-BB6D-3A25EC50D87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3D75804D-91CC-45EF-BB95-B746DE84DD7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four numbers are 2, 4, 5 and 7. Their mean is 18 / 4 = 4.5 kWh.</a:t>
            </a:r>
          </a:p>
        </p:txBody>
      </p:sp>
      <p:sp>
        <p:nvSpPr>
          <p:cNvPr id="10" name="">
            <a:extLst xmlns:a="http://schemas.openxmlformats.org/drawingml/2006/main">
              <a:ext uri="{FF2B5EF4-FFF2-40B4-BE49-F238E27FC236}">
                <a16:creationId xmlns:a16="http://schemas.microsoft.com/office/drawing/2014/main" id="{2F11FBA9-D443-4BD4-B09E-90BAEA0020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15</a:t>
            </a:r>
          </a:p>
        </p:txBody>
      </p:sp>
    </p:spTree>
    <p:extLst>
      <p:ext uri="{BB962C8B-B14F-4D97-AF65-F5344CB8AC3E}">
        <p14:creationId xmlns:p14="http://schemas.microsoft.com/office/powerpoint/2010/main" val="152691869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8F4560D-33A0-459C-BF03-BE750C87A9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918172-F6AD-446E-8807-1CF4A6CA61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6A7B02A-2230-480F-9495-B48C6D52FB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Mask and filter</a:t>
            </a:r>
          </a:p>
        </p:txBody>
      </p:sp>
      <p:sp>
        <p:nvSpPr>
          <p:cNvPr id="4" name="">
            <a:extLst xmlns:a="http://schemas.openxmlformats.org/drawingml/2006/main">
              <a:ext uri="{FF2B5EF4-FFF2-40B4-BE49-F238E27FC236}">
                <a16:creationId xmlns:a16="http://schemas.microsoft.com/office/drawing/2014/main" id="{EEBF56A3-D12D-4B2F-8329-2F6874ADDF1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03E127-22A3-4989-AF5A-F21C2319197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Mask and filter</a:t>
            </a:r>
          </a:p>
        </p:txBody>
      </p:sp>
      <p:sp>
        <p:nvSpPr>
          <p:cNvPr id="6" name="">
            <a:extLst xmlns:a="http://schemas.openxmlformats.org/drawingml/2006/main">
              <a:ext uri="{FF2B5EF4-FFF2-40B4-BE49-F238E27FC236}">
                <a16:creationId xmlns:a16="http://schemas.microsoft.com/office/drawing/2014/main" id="{45181A27-915E-4CC5-B9E6-E242383602E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comparison produces True/False for each row. df[mask] keeps the True rows.</a:t>
            </a:r>
          </a:p>
        </p:txBody>
      </p:sp>
      <p:sp>
        <p:nvSpPr>
          <p:cNvPr id="7" name="">
            <a:extLst xmlns:a="http://schemas.openxmlformats.org/drawingml/2006/main">
              <a:ext uri="{FF2B5EF4-FFF2-40B4-BE49-F238E27FC236}">
                <a16:creationId xmlns:a16="http://schemas.microsoft.com/office/drawing/2014/main" id="{69BA90D3-7F2F-4F8D-BCF1-5C960986F0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16</a:t>
            </a:r>
          </a:p>
        </p:txBody>
      </p:sp>
    </p:spTree>
    <p:extLst>
      <p:ext uri="{BB962C8B-B14F-4D97-AF65-F5344CB8AC3E}">
        <p14:creationId xmlns:p14="http://schemas.microsoft.com/office/powerpoint/2010/main" val="18813826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AEF3FE-5D6E-4F64-BE2F-B9285914EEA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82CA23-A4DC-46F9-B148-23DAD723888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comparison creates a Boolean mask</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8c681ebef6041d1"/>
          <a:stretch xmlns:a="http://schemas.openxmlformats.org/drawingml/2006/main"/>
        </p:blipFill>
        <p:spPr>
          <a:xfrm xmlns:a="http://schemas.openxmlformats.org/drawingml/2006/main">
            <a:off x="717043" y="1057275"/>
            <a:ext cx="1075791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1852D5C-A9F1-4DFE-9297-96D85B62821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727508-301F-46A2-98E4-18115C35FAA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filters torque readings. Our next example applies the same True/False selection to kWh values.</a:t>
            </a:r>
          </a:p>
        </p:txBody>
      </p:sp>
      <p:sp>
        <p:nvSpPr>
          <p:cNvPr id="6" name="">
            <a:extLst xmlns:a="http://schemas.openxmlformats.org/drawingml/2006/main">
              <a:ext uri="{FF2B5EF4-FFF2-40B4-BE49-F238E27FC236}">
                <a16:creationId xmlns:a16="http://schemas.microsoft.com/office/drawing/2014/main" id="{61F39F52-A3CE-4A11-A830-4ACBE236B6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17</a:t>
            </a:r>
          </a:p>
        </p:txBody>
      </p:sp>
    </p:spTree>
    <p:extLst>
      <p:ext uri="{BB962C8B-B14F-4D97-AF65-F5344CB8AC3E}">
        <p14:creationId xmlns:p14="http://schemas.microsoft.com/office/powerpoint/2010/main" val="125253278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CB408B7-357E-4B7D-B9E7-041C35A913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380C7F-509A-4CF5-8802-7C98D54B74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7DEC592-8FAD-427C-9C28-4FDD8E04BB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rows where the comparison is true</a:t>
            </a:r>
          </a:p>
        </p:txBody>
      </p:sp>
      <p:sp>
        <p:nvSpPr>
          <p:cNvPr id="4" name="">
            <a:extLst xmlns:a="http://schemas.openxmlformats.org/drawingml/2006/main">
              <a:ext uri="{FF2B5EF4-FFF2-40B4-BE49-F238E27FC236}">
                <a16:creationId xmlns:a16="http://schemas.microsoft.com/office/drawing/2014/main" id="{E4DEC315-8E7C-4AD2-A7CB-78C76FD718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4F8E41-36BC-4464-9641-763B82839D4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df["kwh"] &gt;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print(mask)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print(df[mask])</a:t>
            </a:r>
          </a:p>
        </p:txBody>
      </p:sp>
      <p:sp>
        <p:nvSpPr>
          <p:cNvPr id="6" name="">
            <a:extLst xmlns:a="http://schemas.openxmlformats.org/drawingml/2006/main">
              <a:ext uri="{FF2B5EF4-FFF2-40B4-BE49-F238E27FC236}">
                <a16:creationId xmlns:a16="http://schemas.microsoft.com/office/drawing/2014/main" id="{CF72D6FA-F1EB-4234-A4B2-A7C008F389D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225609F-E083-419B-8EBB-B88622B899D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C9A30C5-C0A8-4243-A844-5CB3F2091A1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BC728AED-3676-4A0C-8DB5-66810F93C44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C9825990-33AE-4080-85C7-4883DC60A05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mask is False, False, True, True. The selected rows contain 5 and 7 kWh.</a:t>
            </a:r>
          </a:p>
        </p:txBody>
      </p:sp>
      <p:sp>
        <p:nvSpPr>
          <p:cNvPr id="11" name="">
            <a:extLst xmlns:a="http://schemas.openxmlformats.org/drawingml/2006/main">
              <a:ext uri="{FF2B5EF4-FFF2-40B4-BE49-F238E27FC236}">
                <a16:creationId xmlns:a16="http://schemas.microsoft.com/office/drawing/2014/main" id="{964ED5F0-2A03-40C1-A32A-BB2882F30B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18</a:t>
            </a:r>
          </a:p>
        </p:txBody>
      </p:sp>
    </p:spTree>
    <p:extLst>
      <p:ext uri="{BB962C8B-B14F-4D97-AF65-F5344CB8AC3E}">
        <p14:creationId xmlns:p14="http://schemas.microsoft.com/office/powerpoint/2010/main" val="18126760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B052BED-6527-4AC6-9ABF-61C22A732D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FC4E9F-D9E9-488A-89D4-BE683E7B79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F29CAC9-2A07-494E-A8B0-17BDE9D2E0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groupby and aggregation</a:t>
            </a:r>
          </a:p>
        </p:txBody>
      </p:sp>
      <p:sp>
        <p:nvSpPr>
          <p:cNvPr id="4" name="">
            <a:extLst xmlns:a="http://schemas.openxmlformats.org/drawingml/2006/main">
              <a:ext uri="{FF2B5EF4-FFF2-40B4-BE49-F238E27FC236}">
                <a16:creationId xmlns:a16="http://schemas.microsoft.com/office/drawing/2014/main" id="{8338B063-6DE3-4818-896A-A5AB91F8D7B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EE4890-5114-4B32-AF80-7B52560C02C4}"/>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groupby and aggregation</a:t>
            </a:r>
          </a:p>
        </p:txBody>
      </p:sp>
      <p:sp>
        <p:nvSpPr>
          <p:cNvPr id="6" name="">
            <a:extLst xmlns:a="http://schemas.openxmlformats.org/drawingml/2006/main">
              <a:ext uri="{FF2B5EF4-FFF2-40B4-BE49-F238E27FC236}">
                <a16:creationId xmlns:a16="http://schemas.microsoft.com/office/drawing/2014/main" id="{878A232A-8033-40E1-B7F2-2F3A7880D23B}"/>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groupby collects rows with the same label. An aggregation such as sum or mean returns a summary for each group.</a:t>
            </a:r>
          </a:p>
        </p:txBody>
      </p:sp>
      <p:sp>
        <p:nvSpPr>
          <p:cNvPr id="7" name="">
            <a:extLst xmlns:a="http://schemas.openxmlformats.org/drawingml/2006/main">
              <a:ext uri="{FF2B5EF4-FFF2-40B4-BE49-F238E27FC236}">
                <a16:creationId xmlns:a16="http://schemas.microsoft.com/office/drawing/2014/main" id="{ABB21064-45B5-4701-83A1-0E5348392A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19</a:t>
            </a:r>
          </a:p>
        </p:txBody>
      </p:sp>
    </p:spTree>
    <p:extLst>
      <p:ext uri="{BB962C8B-B14F-4D97-AF65-F5344CB8AC3E}">
        <p14:creationId xmlns:p14="http://schemas.microsoft.com/office/powerpoint/2010/main" val="6256167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2158C65-DDC2-4189-9740-D037B82700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4F5B64-C50E-46D9-A70B-DC387DF62C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8FFA95F-B52F-464B-B127-DD837E52AD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group total before using groupby</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Group</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Values assigned to it</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 and 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5 and 7</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A5FB703-FD69-41B0-85B9-00E9DF961A14}"/>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groupby separates rows by the building label. sum adds the kWh values inside each group.</a:t>
            </a:r>
          </a:p>
        </p:txBody>
      </p:sp>
      <p:sp>
        <p:nvSpPr>
          <p:cNvPr id="6" name="">
            <a:extLst xmlns:a="http://schemas.openxmlformats.org/drawingml/2006/main">
              <a:ext uri="{FF2B5EF4-FFF2-40B4-BE49-F238E27FC236}">
                <a16:creationId xmlns:a16="http://schemas.microsoft.com/office/drawing/2014/main" id="{E07A209D-1F0B-4C0B-8EDB-6A34906341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20</a:t>
            </a:r>
          </a:p>
        </p:txBody>
      </p:sp>
    </p:spTree>
    <p:extLst>
      <p:ext uri="{BB962C8B-B14F-4D97-AF65-F5344CB8AC3E}">
        <p14:creationId xmlns:p14="http://schemas.microsoft.com/office/powerpoint/2010/main" val="193294001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07E0F5-9A26-4F8E-A0CD-ADF44C575A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D1349E-60C6-4E34-86DC-1F31D36B8D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036ACD-4114-4977-B4BC-D3ECB0F353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each step of a pandas chain</a:t>
            </a:r>
          </a:p>
        </p:txBody>
      </p:sp>
      <p:sp>
        <p:nvSpPr>
          <p:cNvPr id="4" name="">
            <a:extLst xmlns:a="http://schemas.openxmlformats.org/drawingml/2006/main">
              <a:ext uri="{FF2B5EF4-FFF2-40B4-BE49-F238E27FC236}">
                <a16:creationId xmlns:a16="http://schemas.microsoft.com/office/drawing/2014/main" id="{74309F46-E816-492E-808E-80A795DAFB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364B02-9FE3-42F9-ABCF-1D94AAEFF00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 = df.groupby("building") describes groups of rows with matching building labels.</a:t>
            </a:r>
          </a:p>
        </p:txBody>
      </p:sp>
      <p:sp>
        <p:nvSpPr>
          <p:cNvPr id="6" name="">
            <a:extLst xmlns:a="http://schemas.openxmlformats.org/drawingml/2006/main">
              <a:ext uri="{FF2B5EF4-FFF2-40B4-BE49-F238E27FC236}">
                <a16:creationId xmlns:a16="http://schemas.microsoft.com/office/drawing/2014/main" id="{E9A399BB-787E-4F9D-AD46-09B83636EE1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2332D9-FF25-4253-9219-A8649EF1235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energy_groups = groups["kwh"] selects the energy values within those groups. totals = energy_groups.sum() calculates one total per group.</a:t>
            </a:r>
          </a:p>
        </p:txBody>
      </p:sp>
      <p:sp>
        <p:nvSpPr>
          <p:cNvPr id="8" name="">
            <a:extLst xmlns:a="http://schemas.openxmlformats.org/drawingml/2006/main">
              <a:ext uri="{FF2B5EF4-FFF2-40B4-BE49-F238E27FC236}">
                <a16:creationId xmlns:a16="http://schemas.microsoft.com/office/drawing/2014/main" id="{DF982343-209F-4B3B-9862-2289427F87E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E8C4E3-09CB-4620-8244-EDA5D3206D2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df.groupby("building")["kwh"].sum() is the same sequence written on one line. Read it from left to right.</a:t>
            </a:r>
          </a:p>
        </p:txBody>
      </p:sp>
      <p:sp>
        <p:nvSpPr>
          <p:cNvPr id="10" name="">
            <a:extLst xmlns:a="http://schemas.openxmlformats.org/drawingml/2006/main">
              <a:ext uri="{FF2B5EF4-FFF2-40B4-BE49-F238E27FC236}">
                <a16:creationId xmlns:a16="http://schemas.microsoft.com/office/drawing/2014/main" id="{682FB471-C329-454A-B76A-EA4F618007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21</a:t>
            </a:r>
          </a:p>
        </p:txBody>
      </p:sp>
    </p:spTree>
    <p:extLst>
      <p:ext uri="{BB962C8B-B14F-4D97-AF65-F5344CB8AC3E}">
        <p14:creationId xmlns:p14="http://schemas.microsoft.com/office/powerpoint/2010/main" val="159394287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3EAC1DA-1BD6-46AE-8876-6F3E127452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5306B0-9D4C-461E-BE8B-77674A5491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9227F7-50DE-473F-A191-9A14AF2F2A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Calculate one total for each building</a:t>
            </a:r>
          </a:p>
        </p:txBody>
      </p:sp>
      <p:sp>
        <p:nvSpPr>
          <p:cNvPr id="4" name="">
            <a:extLst xmlns:a="http://schemas.openxmlformats.org/drawingml/2006/main">
              <a:ext uri="{FF2B5EF4-FFF2-40B4-BE49-F238E27FC236}">
                <a16:creationId xmlns:a16="http://schemas.microsoft.com/office/drawing/2014/main" id="{44B0B1DA-5463-416E-93E0-1D2548916C2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4ED8F5-7343-435C-96CD-DD5C972711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print(df.groupby("building")["kwh"].sum())</a:t>
            </a:r>
          </a:p>
        </p:txBody>
      </p:sp>
      <p:sp>
        <p:nvSpPr>
          <p:cNvPr id="6" name="">
            <a:extLst xmlns:a="http://schemas.openxmlformats.org/drawingml/2006/main">
              <a:ext uri="{FF2B5EF4-FFF2-40B4-BE49-F238E27FC236}">
                <a16:creationId xmlns:a16="http://schemas.microsoft.com/office/drawing/2014/main" id="{CF1108FE-38BB-46FE-AFAA-B637EBCD3DA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B1E6569-F18A-4177-B90B-6EEEF71DD2C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B1B5F6D4-AA94-4F34-8867-7E0C2ECF3FF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3C16381F-ED60-4899-9F9F-6DD815DF189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totals 6 kWh; B totals 12 kWh.</a:t>
            </a:r>
          </a:p>
        </p:txBody>
      </p:sp>
      <p:sp>
        <p:nvSpPr>
          <p:cNvPr id="10" name="">
            <a:extLst xmlns:a="http://schemas.openxmlformats.org/drawingml/2006/main">
              <a:ext uri="{FF2B5EF4-FFF2-40B4-BE49-F238E27FC236}">
                <a16:creationId xmlns:a16="http://schemas.microsoft.com/office/drawing/2014/main" id="{64017086-4BF9-44ED-B6C5-CEB92F22B5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22</a:t>
            </a:r>
          </a:p>
        </p:txBody>
      </p:sp>
    </p:spTree>
    <p:extLst>
      <p:ext uri="{BB962C8B-B14F-4D97-AF65-F5344CB8AC3E}">
        <p14:creationId xmlns:p14="http://schemas.microsoft.com/office/powerpoint/2010/main" val="72712423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A5A522-7C1E-4C46-8982-D4B83244A6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F67790-259A-4AF4-AF63-1F08D945E3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FC07BD64-B357-47AF-9A77-1CBA52E031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tables and summaries results</a:t>
            </a:r>
          </a:p>
        </p:txBody>
      </p:sp>
      <p:sp>
        <p:nvSpPr>
          <p:cNvPr id="4" name="">
            <a:extLst xmlns:a="http://schemas.openxmlformats.org/drawingml/2006/main">
              <a:ext uri="{FF2B5EF4-FFF2-40B4-BE49-F238E27FC236}">
                <a16:creationId xmlns:a16="http://schemas.microsoft.com/office/drawing/2014/main" id="{767F1557-51FC-4BF4-84A6-DE58A875FAD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22D202-5828-45FF-921F-ECEF1665128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Mean 4.5. The filter keeps B rows with 5 and 7. Group totals: A = 6, B = 12 kWh.</a:t>
            </a:r>
          </a:p>
        </p:txBody>
      </p:sp>
      <p:sp>
        <p:nvSpPr>
          <p:cNvPr id="6" name="">
            <a:extLst xmlns:a="http://schemas.openxmlformats.org/drawingml/2006/main">
              <a:ext uri="{FF2B5EF4-FFF2-40B4-BE49-F238E27FC236}">
                <a16:creationId xmlns:a16="http://schemas.microsoft.com/office/drawing/2014/main" id="{B144132A-7C83-4739-A12F-B7F4FB3A6D7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F5E5EA6F-96EB-4585-8521-7A173047FA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23</a:t>
            </a:r>
          </a:p>
        </p:txBody>
      </p:sp>
    </p:spTree>
    <p:extLst>
      <p:ext uri="{BB962C8B-B14F-4D97-AF65-F5344CB8AC3E}">
        <p14:creationId xmlns:p14="http://schemas.microsoft.com/office/powerpoint/2010/main" val="100174838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B3F9DE-FFF3-4F5E-8DD4-ED591FF50C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3AFFFD-6E97-4C1C-AFB8-093B5A1248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83ABE55-7D06-45BC-B89F-6863897EC0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a:t>
            </a:r>
          </a:p>
        </p:txBody>
      </p:sp>
      <p:sp>
        <p:nvSpPr>
          <p:cNvPr id="4" name="">
            <a:extLst xmlns:a="http://schemas.openxmlformats.org/drawingml/2006/main">
              <a:ext uri="{FF2B5EF4-FFF2-40B4-BE49-F238E27FC236}">
                <a16:creationId xmlns:a16="http://schemas.microsoft.com/office/drawing/2014/main" id="{CC91D394-3AE7-4D8B-8EEE-4368C050C06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51C150-E46D-43BB-9CC3-C4A1836E45C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738C09B-C0FB-40B8-86F8-1041317A942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labels, not rows. idxmax returns the label of the largest total.</a:t>
            </a:r>
          </a:p>
        </p:txBody>
      </p:sp>
      <p:sp>
        <p:nvSpPr>
          <p:cNvPr id="7" name="">
            <a:extLst xmlns:a="http://schemas.openxmlformats.org/drawingml/2006/main">
              <a:ext uri="{FF2B5EF4-FFF2-40B4-BE49-F238E27FC236}">
                <a16:creationId xmlns:a16="http://schemas.microsoft.com/office/drawing/2014/main" id="{8429F432-C83A-45C8-83CB-1CB5C10F2C9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Here there is no tie.</a:t>
            </a:r>
          </a:p>
        </p:txBody>
      </p:sp>
      <p:sp>
        <p:nvSpPr>
          <p:cNvPr id="8" name="">
            <a:extLst xmlns:a="http://schemas.openxmlformats.org/drawingml/2006/main">
              <a:ext uri="{FF2B5EF4-FFF2-40B4-BE49-F238E27FC236}">
                <a16:creationId xmlns:a16="http://schemas.microsoft.com/office/drawing/2014/main" id="{24199067-7DB8-4F54-804A-C59F37DB47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24</a:t>
            </a:r>
          </a:p>
        </p:txBody>
      </p:sp>
    </p:spTree>
    <p:extLst>
      <p:ext uri="{BB962C8B-B14F-4D97-AF65-F5344CB8AC3E}">
        <p14:creationId xmlns:p14="http://schemas.microsoft.com/office/powerpoint/2010/main" val="172837553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3A93A23-358B-4352-A18D-5C74370F65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FDC1EB-71E6-4B02-8665-B501AB9722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B7E5408-7B71-498C-8036-3E40D8EADB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 in Python</a:t>
            </a:r>
          </a:p>
        </p:txBody>
      </p:sp>
      <p:sp>
        <p:nvSpPr>
          <p:cNvPr id="4" name="">
            <a:extLst xmlns:a="http://schemas.openxmlformats.org/drawingml/2006/main">
              <a:ext uri="{FF2B5EF4-FFF2-40B4-BE49-F238E27FC236}">
                <a16:creationId xmlns:a16="http://schemas.microsoft.com/office/drawing/2014/main" id="{0FB4D73B-B62F-48CE-9D1E-60A8E7D4C3B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0CF8B0-F510-4700-BDF5-2EACAE4B874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print(df["building"].nunique())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totals = df.groupby("building")["kwh"].sum()</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DC3BAA2B-ACFE-4EB1-AECB-E4C24BF60A9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91DFED4-657F-4E8B-B75C-11F6F9C4016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1009605-2AE6-4869-B11E-B4BBDAEE584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F0F9F7EE-CE37-4F32-ADCF-E748D8F9919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6B0182F7-5EC7-4789-B105-813022E6175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AB6BD08A-BC57-4312-9CD3-0FD93C445E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25</a:t>
            </a:r>
          </a:p>
        </p:txBody>
      </p:sp>
    </p:spTree>
    <p:extLst>
      <p:ext uri="{BB962C8B-B14F-4D97-AF65-F5344CB8AC3E}">
        <p14:creationId xmlns:p14="http://schemas.microsoft.com/office/powerpoint/2010/main" val="106960327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B54041-91B9-4DAA-A7CB-8DF4578B18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73F606-60C8-4F1B-B6C3-2D028583E1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C9A97C-61C1-4318-8F93-D75D18FD90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 column from two existing columns</a:t>
            </a:r>
          </a:p>
        </p:txBody>
      </p:sp>
      <p:sp>
        <p:nvSpPr>
          <p:cNvPr id="4" name="">
            <a:extLst xmlns:a="http://schemas.openxmlformats.org/drawingml/2006/main">
              <a:ext uri="{FF2B5EF4-FFF2-40B4-BE49-F238E27FC236}">
                <a16:creationId xmlns:a16="http://schemas.microsoft.com/office/drawing/2014/main" id="{A8ADBA98-CB3D-4CFB-B81D-8E111E1C6D7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D551F3-DEA5-4F32-A7D5-F3E615B76FB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BF16755-00F8-489C-8919-EC9437A8B33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new column can store a calculation for every row. Division pairs the values in matching rows.</a:t>
            </a:r>
          </a:p>
        </p:txBody>
      </p:sp>
      <p:sp>
        <p:nvSpPr>
          <p:cNvPr id="7" name="">
            <a:extLst xmlns:a="http://schemas.openxmlformats.org/drawingml/2006/main">
              <a:ext uri="{FF2B5EF4-FFF2-40B4-BE49-F238E27FC236}">
                <a16:creationId xmlns:a16="http://schemas.microsoft.com/office/drawing/2014/main" id="{0465DC0E-0254-46B8-808C-E856C99F699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invented table all energy values are positive. UGX is Uganda shillings. Cost divided by energy has units UGX/kWh.</a:t>
            </a:r>
          </a:p>
        </p:txBody>
      </p:sp>
      <p:sp>
        <p:nvSpPr>
          <p:cNvPr id="8" name="">
            <a:extLst xmlns:a="http://schemas.openxmlformats.org/drawingml/2006/main">
              <a:ext uri="{FF2B5EF4-FFF2-40B4-BE49-F238E27FC236}">
                <a16:creationId xmlns:a16="http://schemas.microsoft.com/office/drawing/2014/main" id="{451D7FA3-FC7D-45C6-B8BB-CCF55E2B65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26</a:t>
            </a:r>
          </a:p>
        </p:txBody>
      </p:sp>
    </p:spTree>
    <p:extLst>
      <p:ext uri="{BB962C8B-B14F-4D97-AF65-F5344CB8AC3E}">
        <p14:creationId xmlns:p14="http://schemas.microsoft.com/office/powerpoint/2010/main" val="12975404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3E14B7-3B0B-4CE2-AD22-B51F122E7C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2BECF1-E96C-401C-8D4C-A738E40AF3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6640F6-7F68-46F9-8412-AD278EC4D8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energy rate is cost divided by energy</a:t>
            </a:r>
          </a:p>
        </p:txBody>
      </p:sp>
      <p:sp>
        <p:nvSpPr>
          <p:cNvPr id="4" name="">
            <a:extLst xmlns:a="http://schemas.openxmlformats.org/drawingml/2006/main">
              <a:ext uri="{FF2B5EF4-FFF2-40B4-BE49-F238E27FC236}">
                <a16:creationId xmlns:a16="http://schemas.microsoft.com/office/drawing/2014/main" id="{12A834B7-717C-4DF7-BD15-8A466D99B0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51844D-6E97-4554-BD7A-B35F1D1345D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df["cost_ugx"] = [1000, 2400, 3500, 5600]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df["rate_ugx_per_kwh"] = df["cost_ugx"] / 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print(df["rate_ugx_per_kwh"])</a:t>
            </a:r>
          </a:p>
        </p:txBody>
      </p:sp>
      <p:sp>
        <p:nvSpPr>
          <p:cNvPr id="6" name="">
            <a:extLst xmlns:a="http://schemas.openxmlformats.org/drawingml/2006/main">
              <a:ext uri="{FF2B5EF4-FFF2-40B4-BE49-F238E27FC236}">
                <a16:creationId xmlns:a16="http://schemas.microsoft.com/office/drawing/2014/main" id="{B4135D98-378E-49FD-AAA3-AEC18959831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8BFD0059-4A63-4633-96B0-1C44746918B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rates: 500, 600, 700 and 800 UGX/kWh. Keep units in column names.</a:t>
            </a:r>
          </a:p>
        </p:txBody>
      </p:sp>
      <p:sp>
        <p:nvSpPr>
          <p:cNvPr id="8" name="">
            <a:extLst xmlns:a="http://schemas.openxmlformats.org/drawingml/2006/main">
              <a:ext uri="{FF2B5EF4-FFF2-40B4-BE49-F238E27FC236}">
                <a16:creationId xmlns:a16="http://schemas.microsoft.com/office/drawing/2014/main" id="{1885C706-B685-420B-8447-D4CD2F5874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27</a:t>
            </a:r>
          </a:p>
        </p:txBody>
      </p:sp>
    </p:spTree>
    <p:extLst>
      <p:ext uri="{BB962C8B-B14F-4D97-AF65-F5344CB8AC3E}">
        <p14:creationId xmlns:p14="http://schemas.microsoft.com/office/powerpoint/2010/main" val="72705565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C50964-17BB-4188-A438-A2E5EC6826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EB2628-A1E0-4FAD-A109-45440EC1DE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FC3A0A7-1957-4090-9CFE-D879BAE46C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the assignment table before analysing it</a:t>
            </a:r>
          </a:p>
        </p:txBody>
      </p:sp>
      <p:sp>
        <p:nvSpPr>
          <p:cNvPr id="4" name="">
            <a:extLst xmlns:a="http://schemas.openxmlformats.org/drawingml/2006/main">
              <a:ext uri="{FF2B5EF4-FFF2-40B4-BE49-F238E27FC236}">
                <a16:creationId xmlns:a16="http://schemas.microsoft.com/office/drawing/2014/main" id="{E342917F-CF55-4153-994F-8723FFA913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AD0206B-3C13-4016-A4A2-9AED73166C0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campus_energy.csv to the current runtime first. read_csv reads it into a new DataFrame.</a:t>
            </a:r>
          </a:p>
        </p:txBody>
      </p:sp>
      <p:sp>
        <p:nvSpPr>
          <p:cNvPr id="6" name="">
            <a:extLst xmlns:a="http://schemas.openxmlformats.org/drawingml/2006/main">
              <a:ext uri="{FF2B5EF4-FFF2-40B4-BE49-F238E27FC236}">
                <a16:creationId xmlns:a16="http://schemas.microsoft.com/office/drawing/2014/main" id="{C9E83904-4E31-4D81-A288-A53EE3E0EE1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0F8E0B-BFC4-4DD0-B97A-11CD64BDBF9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head() displays the first five rows; shape gives row and column counts; dtypes shows column data types.</a:t>
            </a:r>
          </a:p>
        </p:txBody>
      </p:sp>
      <p:sp>
        <p:nvSpPr>
          <p:cNvPr id="8" name="">
            <a:extLst xmlns:a="http://schemas.openxmlformats.org/drawingml/2006/main">
              <a:ext uri="{FF2B5EF4-FFF2-40B4-BE49-F238E27FC236}">
                <a16:creationId xmlns:a16="http://schemas.microsoft.com/office/drawing/2014/main" id="{89D52E4C-8691-422D-86BE-429B4B8AD1A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193CE91-D619-4EB3-AF4A-3D3F7B05989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call this issued_table to keep it separate from the invented four-row df used above.</a:t>
            </a:r>
          </a:p>
        </p:txBody>
      </p:sp>
      <p:sp>
        <p:nvSpPr>
          <p:cNvPr id="10" name="">
            <a:extLst xmlns:a="http://schemas.openxmlformats.org/drawingml/2006/main">
              <a:ext uri="{FF2B5EF4-FFF2-40B4-BE49-F238E27FC236}">
                <a16:creationId xmlns:a16="http://schemas.microsoft.com/office/drawing/2014/main" id="{6E216D08-35E8-4A0A-A787-A58D1A1A74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28</a:t>
            </a:r>
          </a:p>
        </p:txBody>
      </p:sp>
    </p:spTree>
    <p:extLst>
      <p:ext uri="{BB962C8B-B14F-4D97-AF65-F5344CB8AC3E}">
        <p14:creationId xmlns:p14="http://schemas.microsoft.com/office/powerpoint/2010/main" val="185095206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192CB9-17E3-4400-A354-F8C04DCE72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65C150-0193-4C38-8722-142027799F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9EBE6EA-D1E7-4129-842A-F168B9E03C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supplied energy file</a:t>
            </a:r>
          </a:p>
        </p:txBody>
      </p:sp>
      <p:sp>
        <p:nvSpPr>
          <p:cNvPr id="4" name="">
            <a:extLst xmlns:a="http://schemas.openxmlformats.org/drawingml/2006/main">
              <a:ext uri="{FF2B5EF4-FFF2-40B4-BE49-F238E27FC236}">
                <a16:creationId xmlns:a16="http://schemas.microsoft.com/office/drawing/2014/main" id="{1ED95DA2-3968-4ABB-8E69-56EF9618BA5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47867B-B92D-4BD4-BCF9-41302D61D8A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issued_table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print(issued_table.dtypes)</a:t>
            </a:r>
          </a:p>
        </p:txBody>
      </p:sp>
      <p:sp>
        <p:nvSpPr>
          <p:cNvPr id="6" name="">
            <a:extLst xmlns:a="http://schemas.openxmlformats.org/drawingml/2006/main">
              <a:ext uri="{FF2B5EF4-FFF2-40B4-BE49-F238E27FC236}">
                <a16:creationId xmlns:a16="http://schemas.microsoft.com/office/drawing/2014/main" id="{8AA50C7A-5FC7-4F8E-97C2-163DBA7FFE4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735CFFF2-AF2F-4607-B707-4D9A84C88CB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Check column names, data types and units before attempting the six issued tasks.</a:t>
            </a:r>
          </a:p>
        </p:txBody>
      </p:sp>
      <p:sp>
        <p:nvSpPr>
          <p:cNvPr id="8" name="">
            <a:extLst xmlns:a="http://schemas.openxmlformats.org/drawingml/2006/main">
              <a:ext uri="{FF2B5EF4-FFF2-40B4-BE49-F238E27FC236}">
                <a16:creationId xmlns:a16="http://schemas.microsoft.com/office/drawing/2014/main" id="{53DE463A-CFEC-4B4C-ABD2-0FC524A363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29</a:t>
            </a:r>
          </a:p>
        </p:txBody>
      </p:sp>
    </p:spTree>
    <p:extLst>
      <p:ext uri="{BB962C8B-B14F-4D97-AF65-F5344CB8AC3E}">
        <p14:creationId xmlns:p14="http://schemas.microsoft.com/office/powerpoint/2010/main" val="105122507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03DA64-87CC-4D49-9262-9DDE9743FD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6AC139-697E-478E-8AFD-5E1D722E5D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514A8EF-C52B-488A-B512-6DC2DDEB8A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6B576CD5-D93F-4D28-80E2-E1BE83650BF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8CBE97-F730-47BF-8BCA-01AB4F45BF5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2FBC81D-56B4-4219-A70A-6D026D847B1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Use &gt; 5 instead. Predict the surviving rows. Which building has the largest total?</a:t>
            </a:r>
          </a:p>
        </p:txBody>
      </p:sp>
      <p:sp>
        <p:nvSpPr>
          <p:cNvPr id="7" name="">
            <a:extLst xmlns:a="http://schemas.openxmlformats.org/drawingml/2006/main">
              <a:ext uri="{FF2B5EF4-FFF2-40B4-BE49-F238E27FC236}">
                <a16:creationId xmlns:a16="http://schemas.microsoft.com/office/drawing/2014/main" id="{EE2183F9-88EA-4B70-BECA-7F62AAFF49F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Only the row with 7 survives. Building B has the larger total, 12 kWh.</a:t>
            </a:r>
          </a:p>
        </p:txBody>
      </p:sp>
      <p:sp>
        <p:nvSpPr>
          <p:cNvPr id="8" name="">
            <a:extLst xmlns:a="http://schemas.openxmlformats.org/drawingml/2006/main">
              <a:ext uri="{FF2B5EF4-FFF2-40B4-BE49-F238E27FC236}">
                <a16:creationId xmlns:a16="http://schemas.microsoft.com/office/drawing/2014/main" id="{6538FB45-986A-41D4-9D3A-03D30AF3C8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30</a:t>
            </a:r>
          </a:p>
        </p:txBody>
      </p:sp>
    </p:spTree>
    <p:extLst>
      <p:ext uri="{BB962C8B-B14F-4D97-AF65-F5344CB8AC3E}">
        <p14:creationId xmlns:p14="http://schemas.microsoft.com/office/powerpoint/2010/main" val="95322004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109C39F-F5C9-42E7-8DA3-FF65DFA337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573028-302E-4946-A026-7FF807F0C7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7C1DABB-359D-4312-920A-48945B12D3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A8BDCE76-912F-4907-A2FD-9012163CC7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CD93F0-68AC-4A0C-8D23-4F6C8CB2937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A5 uses the supplied fictional campus_energy.csv, not a live Kaggle download.</a:t>
            </a:r>
          </a:p>
        </p:txBody>
      </p:sp>
      <p:sp>
        <p:nvSpPr>
          <p:cNvPr id="6" name="">
            <a:extLst xmlns:a="http://schemas.openxmlformats.org/drawingml/2006/main">
              <a:ext uri="{FF2B5EF4-FFF2-40B4-BE49-F238E27FC236}">
                <a16:creationId xmlns:a16="http://schemas.microsoft.com/office/drawing/2014/main" id="{45E3B438-89CE-4D3B-97D3-B4B80F42EF3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FCCF991-FF4F-496F-A905-4005E02BC9C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six tasks use read_csv, nunique, division of columns, a &gt; filter, mean and grouped totals. idxmax returns the label of the largest value.</a:t>
            </a:r>
          </a:p>
        </p:txBody>
      </p:sp>
      <p:sp>
        <p:nvSpPr>
          <p:cNvPr id="8" name="">
            <a:extLst xmlns:a="http://schemas.openxmlformats.org/drawingml/2006/main">
              <a:ext uri="{FF2B5EF4-FFF2-40B4-BE49-F238E27FC236}">
                <a16:creationId xmlns:a16="http://schemas.microsoft.com/office/drawing/2014/main" id="{FDE71661-F1D0-42DD-84A8-FDF52C1115F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4C75CF-6504-4CD5-8106-A33FDE82886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of individual rates gives each observation equal weight.</a:t>
            </a:r>
          </a:p>
        </p:txBody>
      </p:sp>
      <p:sp>
        <p:nvSpPr>
          <p:cNvPr id="10" name="">
            <a:extLst xmlns:a="http://schemas.openxmlformats.org/drawingml/2006/main">
              <a:ext uri="{FF2B5EF4-FFF2-40B4-BE49-F238E27FC236}">
                <a16:creationId xmlns:a16="http://schemas.microsoft.com/office/drawing/2014/main" id="{4672A673-2D9F-40DA-B73B-4CA1F77C6A0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9B67AD3-AD7F-47DD-BCEE-7A4363C191B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divided by total energy weights by energy.</a:t>
            </a:r>
          </a:p>
        </p:txBody>
      </p:sp>
      <p:sp>
        <p:nvSpPr>
          <p:cNvPr id="12" name="">
            <a:extLst xmlns:a="http://schemas.openxmlformats.org/drawingml/2006/main">
              <a:ext uri="{FF2B5EF4-FFF2-40B4-BE49-F238E27FC236}">
                <a16:creationId xmlns:a16="http://schemas.microsoft.com/office/drawing/2014/main" id="{106042B1-70AD-4CEB-B89B-3E33848ABD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31</a:t>
            </a:r>
          </a:p>
        </p:txBody>
      </p:sp>
    </p:spTree>
    <p:extLst>
      <p:ext uri="{BB962C8B-B14F-4D97-AF65-F5344CB8AC3E}">
        <p14:creationId xmlns:p14="http://schemas.microsoft.com/office/powerpoint/2010/main" val="29038315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94BC7B6-E7DF-4FE3-87B1-104E8D095E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AA20A8-42EF-4E46-86E8-C6509B4AE7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4EDD08-1379-415D-9CB0-4E23587D28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a:t>
            </a:r>
          </a:p>
        </p:txBody>
      </p:sp>
      <p:sp>
        <p:nvSpPr>
          <p:cNvPr id="4" name="">
            <a:extLst xmlns:a="http://schemas.openxmlformats.org/drawingml/2006/main">
              <a:ext uri="{FF2B5EF4-FFF2-40B4-BE49-F238E27FC236}">
                <a16:creationId xmlns:a16="http://schemas.microsoft.com/office/drawing/2014/main" id="{7C5CA207-3E21-462E-A8E1-2C178839A1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2E92FD-6B27-4EBB-B6DF-25B6ADCDAE4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Boolean mask is a list-like column of True/False values. len(mask) counts all rows; mask.sum() counts True entries.</a:t>
            </a:r>
          </a:p>
        </p:txBody>
      </p:sp>
      <p:sp>
        <p:nvSpPr>
          <p:cNvPr id="6" name="">
            <a:extLst xmlns:a="http://schemas.openxmlformats.org/drawingml/2006/main">
              <a:ext uri="{FF2B5EF4-FFF2-40B4-BE49-F238E27FC236}">
                <a16:creationId xmlns:a16="http://schemas.microsoft.com/office/drawing/2014/main" id="{36C187D3-11EB-40A0-B1E4-9955FCBE89E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1E4C69-8326-46DB-A2F8-43B5B81B442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Strings sort as text, so "9" can rank above "100".</a:t>
            </a:r>
          </a:p>
        </p:txBody>
      </p:sp>
      <p:sp>
        <p:nvSpPr>
          <p:cNvPr id="8" name="">
            <a:extLst xmlns:a="http://schemas.openxmlformats.org/drawingml/2006/main">
              <a:ext uri="{FF2B5EF4-FFF2-40B4-BE49-F238E27FC236}">
                <a16:creationId xmlns:a16="http://schemas.microsoft.com/office/drawing/2014/main" id="{0AE29DFB-C1E4-469C-8E12-E64769DC992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198374-8D66-43F5-8457-E38E178B18E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numeric types before taking maxima.</a:t>
            </a:r>
          </a:p>
        </p:txBody>
      </p:sp>
      <p:sp>
        <p:nvSpPr>
          <p:cNvPr id="10" name="">
            <a:extLst xmlns:a="http://schemas.openxmlformats.org/drawingml/2006/main">
              <a:ext uri="{FF2B5EF4-FFF2-40B4-BE49-F238E27FC236}">
                <a16:creationId xmlns:a16="http://schemas.microsoft.com/office/drawing/2014/main" id="{56A3E8D8-6F42-4822-9007-FD3643B3268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34D1892-5342-4A75-BBF4-D78A2E75448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KeyError often means the column name does not match; check spelling, case and spaces. shape is (rows, columns).</a:t>
            </a:r>
          </a:p>
        </p:txBody>
      </p:sp>
      <p:sp>
        <p:nvSpPr>
          <p:cNvPr id="12" name="">
            <a:extLst xmlns:a="http://schemas.openxmlformats.org/drawingml/2006/main">
              <a:ext uri="{FF2B5EF4-FFF2-40B4-BE49-F238E27FC236}">
                <a16:creationId xmlns:a16="http://schemas.microsoft.com/office/drawing/2014/main" id="{FE89F9C3-236E-4814-A21C-7A42E7ED04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32</a:t>
            </a:r>
          </a:p>
        </p:txBody>
      </p:sp>
    </p:spTree>
    <p:extLst>
      <p:ext uri="{BB962C8B-B14F-4D97-AF65-F5344CB8AC3E}">
        <p14:creationId xmlns:p14="http://schemas.microsoft.com/office/powerpoint/2010/main" val="97058716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5264D6-3C16-42EB-A6C7-23F90720AD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60F414-9728-439C-92D2-5A6EBF1C1E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496FA8-493F-4B82-B247-6741FC559E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 continued</a:t>
            </a:r>
          </a:p>
        </p:txBody>
      </p:sp>
      <p:sp>
        <p:nvSpPr>
          <p:cNvPr id="4" name="">
            <a:extLst xmlns:a="http://schemas.openxmlformats.org/drawingml/2006/main">
              <a:ext uri="{FF2B5EF4-FFF2-40B4-BE49-F238E27FC236}">
                <a16:creationId xmlns:a16="http://schemas.microsoft.com/office/drawing/2014/main" id="{24CE591E-8BDF-4408-AB97-A954A1BB116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A3E152-76A1-492E-82E9-D52699B8BF51}"/>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provenance and units before trusting a dataset.</a:t>
            </a:r>
          </a:p>
        </p:txBody>
      </p:sp>
      <p:sp>
        <p:nvSpPr>
          <p:cNvPr id="6" name="">
            <a:extLst xmlns:a="http://schemas.openxmlformats.org/drawingml/2006/main">
              <a:ext uri="{FF2B5EF4-FFF2-40B4-BE49-F238E27FC236}">
                <a16:creationId xmlns:a16="http://schemas.microsoft.com/office/drawing/2014/main" id="{826F1AA6-1526-4F83-89CC-2DE2A2AF74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33</a:t>
            </a:r>
          </a:p>
        </p:txBody>
      </p:sp>
    </p:spTree>
    <p:extLst>
      <p:ext uri="{BB962C8B-B14F-4D97-AF65-F5344CB8AC3E}">
        <p14:creationId xmlns:p14="http://schemas.microsoft.com/office/powerpoint/2010/main" val="97424182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527DDE2-6DA7-4EF9-A737-8F58E03E7D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0F9621-5CED-48B1-A720-47B6FA08FD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146B8E3-1D85-4F30-AF6E-E7E9B18E91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EEFB680A-3D0F-49B3-AAC5-74C7DBE6D18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4CFDBE-1180-490C-9EA2-430652F729D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xmlns:a="http://schemas.openxmlformats.org/drawingml/2006/main">
              <a:ext uri="{FF2B5EF4-FFF2-40B4-BE49-F238E27FC236}">
                <a16:creationId xmlns:a16="http://schemas.microsoft.com/office/drawing/2014/main" id="{348D1F08-2603-482B-B3F8-2CBB7B33E38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B7C8E46-A164-41E6-B5E6-84FC035A216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E21C3C7F-8C57-496F-A649-686C1CAE548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04938B-4594-459E-ADCE-F09570A550C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938025C1-11CC-48E5-A348-A09D9A1B4AE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591B4F3-48E7-437C-B584-12D784339A0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9967DD64-5929-474A-B5C1-D5E0528101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34</a:t>
            </a:r>
          </a:p>
        </p:txBody>
      </p:sp>
    </p:spTree>
    <p:extLst>
      <p:ext uri="{BB962C8B-B14F-4D97-AF65-F5344CB8AC3E}">
        <p14:creationId xmlns:p14="http://schemas.microsoft.com/office/powerpoint/2010/main" val="68712175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D89960-324E-4D01-AE66-EBD3758569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54FC3E-EB18-45A4-95C6-E492C52B21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41F9EAF-347D-41F6-A4A3-D0F7C8C5FF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53CB33C9-AA2C-44B5-85F0-17D66911256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A670BF-711E-4DD0-9AAE-0771DD4ED04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0790661D-EC1C-410B-B7AB-5B1AE5849BB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0E6562F-E56C-4CBC-BB6D-284825FCC12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601DE2A-E4C9-4E74-90B0-EF251D6581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35</a:t>
            </a:r>
          </a:p>
        </p:txBody>
      </p:sp>
    </p:spTree>
    <p:extLst>
      <p:ext uri="{BB962C8B-B14F-4D97-AF65-F5344CB8AC3E}">
        <p14:creationId xmlns:p14="http://schemas.microsoft.com/office/powerpoint/2010/main" val="144612135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E84691-92AB-468B-B418-F7CBA20C0C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B73C5F-FF71-46AB-B0FF-93C3D78FF0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05FC18D-A742-45A3-BB13-D53ACDC943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83554894-360C-4105-8B8E-A8FE956EE46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71E937-A7CD-49EF-8511-FFD0C00DB78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4F3DC505-A9DE-4CAE-AFAF-726D0371ED2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0B64F8F-4386-40D5-9720-4BB3D9081E9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8A77768-9E71-4824-B605-69EF2F46EC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36</a:t>
            </a:r>
          </a:p>
        </p:txBody>
      </p:sp>
    </p:spTree>
    <p:extLst>
      <p:ext uri="{BB962C8B-B14F-4D97-AF65-F5344CB8AC3E}">
        <p14:creationId xmlns:p14="http://schemas.microsoft.com/office/powerpoint/2010/main" val="183663133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410DDBB-9414-4EDF-BCC5-2DC694D03D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02BCE6-1482-44D8-8BBF-4AD0E226CF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A4E72EB-2816-41BB-9CAC-9678EAB916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4FB202B7-A04F-4C0C-B9C5-67055BE668D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6EA989-D708-4AAB-A3DE-217C0ED9BF3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A55BCF01-6B46-43EC-BAEB-64F2E5195D8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B3F8702-1BA6-4ABC-857E-96AFC38FC19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0B4A4B1-1CF4-4903-8654-8C9998182E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37</a:t>
            </a:r>
          </a:p>
        </p:txBody>
      </p:sp>
    </p:spTree>
    <p:extLst>
      <p:ext uri="{BB962C8B-B14F-4D97-AF65-F5344CB8AC3E}">
        <p14:creationId xmlns:p14="http://schemas.microsoft.com/office/powerpoint/2010/main" val="207481868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B25FEFB-3171-4EBB-BA26-3EC21644A2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04920B-92D3-4AD2-99D9-4478BFB55B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92D366FD-0A53-4E58-B0DE-F0D74363BD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C5E1ED70-7C81-4A17-BCAA-6540BA15736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DC2C20-A4F0-40B7-8E86-321EC40E0A7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873AC359-4918-4711-AE6F-0845CC81436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BCB9CD1-88E0-466F-A917-E1049F492D59}"/>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4DA7FC6-CBE5-49D6-AA80-DBFF459A99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38</a:t>
            </a:r>
          </a:p>
        </p:txBody>
      </p:sp>
    </p:spTree>
    <p:extLst>
      <p:ext uri="{BB962C8B-B14F-4D97-AF65-F5344CB8AC3E}">
        <p14:creationId xmlns:p14="http://schemas.microsoft.com/office/powerpoint/2010/main" val="128183365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40C7A5-7A60-4DF2-AF81-D7959A157E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16C13E-69A3-4112-8000-C29C943B88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60DCFAD-6D16-42C9-B6B0-3F5F6E1A86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25C48AB8-1FCE-4847-8A26-AB4D91E3B4E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193394-9B47-4903-8B68-4E4980095E1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9CB5BA64-4F7C-4D87-B891-8D56C0FB7DA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182985D-6F71-42C7-A69C-DB0BA70F3F2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C78C6C4-8CFA-4C9F-AAA4-698D6AEB37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39</a:t>
            </a:r>
          </a:p>
        </p:txBody>
      </p:sp>
    </p:spTree>
    <p:extLst>
      <p:ext uri="{BB962C8B-B14F-4D97-AF65-F5344CB8AC3E}">
        <p14:creationId xmlns:p14="http://schemas.microsoft.com/office/powerpoint/2010/main" val="82796058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5FAE107-9661-4C39-8DA1-23E69BF4DB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4B2284-9C19-4D43-8438-B08D0316A7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F5CD00E-A2C8-41A7-927C-B9A98C0F2F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D04D3BEF-2871-4E64-9B41-B452C387F3F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98B4FD-980C-43A5-8CB2-8DD2F2659B6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2B9332F6-E384-40AC-8E1C-8438AF6A4CF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7169E5D-9E21-44B5-A2B7-189BC362881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704E02A-F32C-4C27-988C-C5A6B61DE9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40</a:t>
            </a:r>
          </a:p>
        </p:txBody>
      </p:sp>
    </p:spTree>
    <p:extLst>
      <p:ext uri="{BB962C8B-B14F-4D97-AF65-F5344CB8AC3E}">
        <p14:creationId xmlns:p14="http://schemas.microsoft.com/office/powerpoint/2010/main" val="69537360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78F19B1-5FEF-4ACA-A821-FEA9FEDB81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38D91A-C78E-48BD-A724-13EE64DF93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5D69F5A-AAAB-4846-AD96-4F83E75FAF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CB75B4A5-9127-440D-B6D6-F6D06BC3BEA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BAED6D-D143-4082-9F7C-5E361C24062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07 Oct 2026, 08:00 Kampala</a:t>
            </a:r>
          </a:p>
        </p:txBody>
      </p:sp>
      <p:sp>
        <p:nvSpPr>
          <p:cNvPr id="6" name="">
            <a:extLst xmlns:a="http://schemas.openxmlformats.org/drawingml/2006/main">
              <a:ext uri="{FF2B5EF4-FFF2-40B4-BE49-F238E27FC236}">
                <a16:creationId xmlns:a16="http://schemas.microsoft.com/office/drawing/2014/main" id="{B4980B1A-A2B2-424E-A07C-11394C5F9F2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DD0DE0-F256-4D55-A74F-79B139E9D60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16 Oct 2026, 08:00 Kampala</a:t>
            </a:r>
          </a:p>
        </p:txBody>
      </p:sp>
      <p:sp>
        <p:nvSpPr>
          <p:cNvPr id="8" name="">
            <a:extLst xmlns:a="http://schemas.openxmlformats.org/drawingml/2006/main">
              <a:ext uri="{FF2B5EF4-FFF2-40B4-BE49-F238E27FC236}">
                <a16:creationId xmlns:a16="http://schemas.microsoft.com/office/drawing/2014/main" id="{C260AACA-8824-493C-8EA8-493CE6B7A06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1B51D5-9F43-43D8-8EC8-49A5C70B1BD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657BAC08-6BAA-4458-B6A3-98284A0995F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6A8313C-E8CA-4A8A-B62A-240B37A9E5C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DE2820F-E015-4617-BBE2-7B8EAF4EDEE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5526EFD-A2DD-4FDA-A550-A5A6224C38F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432780c2ee04529"/>
              </a:rPr>
              <a:t>Open W05 assignment form</a:t>
            </a:r>
          </a:p>
        </p:txBody>
      </p:sp>
      <p:sp>
        <p:nvSpPr>
          <p:cNvPr id="14" name="">
            <a:extLst xmlns:a="http://schemas.openxmlformats.org/drawingml/2006/main">
              <a:ext uri="{FF2B5EF4-FFF2-40B4-BE49-F238E27FC236}">
                <a16:creationId xmlns:a16="http://schemas.microsoft.com/office/drawing/2014/main" id="{1B29BCB0-1F31-4DE2-B0DD-49385861D62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https://docs.google.com/forms/d/e/1FAIpQLSehGqFG7PZ1wfoBRTaooiO6bw5XPXrKkDJ6kWCXi-YmEx69Eg/viewform</a:t>
            </a:r>
          </a:p>
        </p:txBody>
      </p:sp>
      <p:sp>
        <p:nvSpPr>
          <p:cNvPr id="15" name="">
            <a:extLst xmlns:a="http://schemas.openxmlformats.org/drawingml/2006/main">
              <a:ext uri="{FF2B5EF4-FFF2-40B4-BE49-F238E27FC236}">
                <a16:creationId xmlns:a16="http://schemas.microsoft.com/office/drawing/2014/main" id="{E6DEB981-A726-4AF2-BDD2-3393075F04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41</a:t>
            </a:r>
          </a:p>
        </p:txBody>
      </p:sp>
    </p:spTree>
    <p:extLst>
      <p:ext uri="{BB962C8B-B14F-4D97-AF65-F5344CB8AC3E}">
        <p14:creationId xmlns:p14="http://schemas.microsoft.com/office/powerpoint/2010/main" val="120341732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03300B-3790-4351-B8A8-3D1C75B7D2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ED1623-A93A-424B-BEF4-93802E0187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0A35097-9969-417F-B98D-9EBD3E2BE0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673F3B46-198C-4A7B-A35D-989F3540656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CF5FB5-BAD2-40BD-83B6-0185461A516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57BB8F77-66D0-43E1-8E56-C1023C34A2A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753B0D-D0F5-4BD3-BBCE-668BCABA5C2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F7B0E088-8B03-4BCF-BA43-8929C1CB330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AC3D2C-19DC-43F3-AB9F-BF8C8FC3243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9D7451D1-2467-4C09-87FE-996C9753D2B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4ED539F-9A8A-48A1-B6A1-D7DD206150A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08:00 Kampala</a:t>
            </a:r>
          </a:p>
        </p:txBody>
      </p:sp>
      <p:sp>
        <p:nvSpPr>
          <p:cNvPr id="12" name="">
            <a:extLst xmlns:a="http://schemas.openxmlformats.org/drawingml/2006/main">
              <a:ext uri="{FF2B5EF4-FFF2-40B4-BE49-F238E27FC236}">
                <a16:creationId xmlns:a16="http://schemas.microsoft.com/office/drawing/2014/main" id="{906822C2-DABE-41DC-8282-3B5B21B635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42</a:t>
            </a:r>
          </a:p>
        </p:txBody>
      </p:sp>
    </p:spTree>
    <p:extLst>
      <p:ext uri="{BB962C8B-B14F-4D97-AF65-F5344CB8AC3E}">
        <p14:creationId xmlns:p14="http://schemas.microsoft.com/office/powerpoint/2010/main" val="1809298185"/>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DD867AB-1D90-46B0-A976-52454003C9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FD9785-0FE0-4ADF-AA24-050B098300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369DE53D-46DA-4C16-97DF-B0F3F548D4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xmlns:a="http://schemas.openxmlformats.org/drawingml/2006/main">
              <a:ext uri="{FF2B5EF4-FFF2-40B4-BE49-F238E27FC236}">
                <a16:creationId xmlns:a16="http://schemas.microsoft.com/office/drawing/2014/main" id="{CFADD20A-4A8C-4855-8AEC-5EA3358DF11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535233-92CC-4E29-80C7-6B0F8F54F7D7}"/>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50821178-B70B-4F50-B65B-47EE4B8D4A9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529B4B-5C7A-42C7-8D03-879710001E48}"/>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E7845BDC-9801-4B67-9107-EA9B652675D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425AA37-46F1-405A-97A5-B59E1144B466}"/>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33DE27D0-5872-45CB-B5DB-F8765A396AC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1E20B96-E342-4868-B4D8-D3312A0A9598}"/>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e506d56308f049d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4B523F28-903A-4D91-8C33-83C7C7227A0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3B29D5D7-3BD6-4E06-95EA-AAD785120BE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AFA1D26-F7DD-4554-AB4E-DCF69E75001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358b1014f7a4da7"/>
              </a:rPr>
              <a:t>Open this week’s quiz</a:t>
            </a:r>
          </a:p>
        </p:txBody>
      </p:sp>
      <p:sp>
        <p:nvSpPr>
          <p:cNvPr id="16" name="">
            <a:extLst xmlns:a="http://schemas.openxmlformats.org/drawingml/2006/main">
              <a:ext uri="{FF2B5EF4-FFF2-40B4-BE49-F238E27FC236}">
                <a16:creationId xmlns:a16="http://schemas.microsoft.com/office/drawing/2014/main" id="{D23CD90D-930F-4745-B51F-D48670F629D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https://forms.gle/2bRrHnq3mUEN84k19</a:t>
            </a:r>
          </a:p>
        </p:txBody>
      </p:sp>
      <p:sp>
        <p:nvSpPr>
          <p:cNvPr id="17" name="">
            <a:extLst xmlns:a="http://schemas.openxmlformats.org/drawingml/2006/main">
              <a:ext uri="{FF2B5EF4-FFF2-40B4-BE49-F238E27FC236}">
                <a16:creationId xmlns:a16="http://schemas.microsoft.com/office/drawing/2014/main" id="{94838204-A409-4D68-BB55-24EE785FA0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43</a:t>
            </a:r>
          </a:p>
        </p:txBody>
      </p:sp>
    </p:spTree>
    <p:extLst>
      <p:ext uri="{BB962C8B-B14F-4D97-AF65-F5344CB8AC3E}">
        <p14:creationId xmlns:p14="http://schemas.microsoft.com/office/powerpoint/2010/main" val="202742980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1E1D8E-F870-4C4D-B04D-6D0D5455EF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A1CF1E-2DCF-406F-B84D-2598C6DF7A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1839373-381A-40F6-B592-EC11BA161B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support</a:t>
            </a:r>
          </a:p>
        </p:txBody>
      </p:sp>
      <p:sp>
        <p:nvSpPr>
          <p:cNvPr id="4" name="">
            <a:extLst xmlns:a="http://schemas.openxmlformats.org/drawingml/2006/main">
              <a:ext uri="{FF2B5EF4-FFF2-40B4-BE49-F238E27FC236}">
                <a16:creationId xmlns:a16="http://schemas.microsoft.com/office/drawing/2014/main" id="{2654F82D-A3FA-430C-93B9-3A7834EFEB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6FB330-9EDA-4DD5-8556-5F18D362C12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Friday 9 October has no normal class.</a:t>
            </a:r>
          </a:p>
        </p:txBody>
      </p:sp>
      <p:sp>
        <p:nvSpPr>
          <p:cNvPr id="6" name="">
            <a:extLst xmlns:a="http://schemas.openxmlformats.org/drawingml/2006/main">
              <a:ext uri="{FF2B5EF4-FFF2-40B4-BE49-F238E27FC236}">
                <a16:creationId xmlns:a16="http://schemas.microsoft.com/office/drawing/2014/main" id="{CA8ABE93-E70F-4506-BB35-21B33018D26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21CE406-40CF-4F24-9633-C8D6159A83D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announce a supported replacement session or recording with a clinic.</a:t>
            </a:r>
          </a:p>
        </p:txBody>
      </p:sp>
      <p:sp>
        <p:nvSpPr>
          <p:cNvPr id="8" name="">
            <a:extLst xmlns:a="http://schemas.openxmlformats.org/drawingml/2006/main">
              <a:ext uri="{FF2B5EF4-FFF2-40B4-BE49-F238E27FC236}">
                <a16:creationId xmlns:a16="http://schemas.microsoft.com/office/drawing/2014/main" id="{E29EBEE2-A8D3-4DF5-B02E-3DD1D332D82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A1809E-F773-4B0F-AE1D-B87408A9AE2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 6 starts with 30 minutes of consolidation.</a:t>
            </a:r>
          </a:p>
        </p:txBody>
      </p:sp>
      <p:sp>
        <p:nvSpPr>
          <p:cNvPr id="10" name="">
            <a:extLst xmlns:a="http://schemas.openxmlformats.org/drawingml/2006/main">
              <a:ext uri="{FF2B5EF4-FFF2-40B4-BE49-F238E27FC236}">
                <a16:creationId xmlns:a16="http://schemas.microsoft.com/office/drawing/2014/main" id="{BE8E1546-6C7D-4BAD-9CE8-C148A0A62B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44</a:t>
            </a:r>
          </a:p>
        </p:txBody>
      </p:sp>
    </p:spTree>
    <p:extLst>
      <p:ext uri="{BB962C8B-B14F-4D97-AF65-F5344CB8AC3E}">
        <p14:creationId xmlns:p14="http://schemas.microsoft.com/office/powerpoint/2010/main" val="1212864949"/>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298F9F-D85B-4545-903C-0848E4BDC5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6DAA65D3-DBEE-4A8D-A7A3-85B21CF3C3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4026DD81-3506-4441-81D9-3A327AD06F6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ECD102BA-357C-47D5-B5C4-B9A94BBA731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BC5F0C01-B3DD-49BC-BAC7-1082230370E2}"/>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5613849-623C-4C9B-A191-65CE06F146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5   45</a:t>
            </a:r>
          </a:p>
        </p:txBody>
      </p:sp>
    </p:spTree>
    <p:extLst>
      <p:ext uri="{BB962C8B-B14F-4D97-AF65-F5344CB8AC3E}">
        <p14:creationId xmlns:p14="http://schemas.microsoft.com/office/powerpoint/2010/main" val="18616572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2026-09-28T21:43:41.3910000Z</dcterms:created>
  <dcterms:modified xsi:type="dcterms:W3CDTF">2026-09-28T21:43:41.3910000Z</dcterms:modified>
</coreProperties>
</file>