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bb368fb0d549de" /><Relationship Type="http://schemas.openxmlformats.org/officeDocument/2006/relationships/extended-properties" Target="/docProps/app.xml" Id="R23dcb24e0d2f4c77" /><Relationship Type="http://schemas.openxmlformats.org/officeDocument/2006/relationships/officeDocument" Target="/ppt/presentation.xml" Id="R103a7e0c2f294623" /></Relationships>
</file>

<file path=ppt/presentation.xml><?xml version="1.0" encoding="utf-8"?>
<p:presentation xmlns:p="http://schemas.openxmlformats.org/presentationml/2006/main">
  <p:sldMasterIdLst>
    <p:sldMasterId xmlns:r="http://schemas.openxmlformats.org/officeDocument/2006/relationships" id="2147483648" r:id="R8b74d58b596d4923"/>
  </p:sldMasterIdLst>
  <p:notesMasterIdLst>
    <p:notesMasterId xmlns:r="http://schemas.openxmlformats.org/officeDocument/2006/relationships" r:id="R87403e4d0b874d0f"/>
  </p:notesMasterIdLst>
  <p:sldIdLst>
    <p:sldId xmlns:r="http://schemas.openxmlformats.org/officeDocument/2006/relationships" id="256" r:id="R3551bcfe26d04314"/>
    <p:sldId xmlns:r="http://schemas.openxmlformats.org/officeDocument/2006/relationships" id="257" r:id="R39ea8a7c3a744e72"/>
    <p:sldId xmlns:r="http://schemas.openxmlformats.org/officeDocument/2006/relationships" id="258" r:id="R2756a535d1ff4b66"/>
    <p:sldId xmlns:r="http://schemas.openxmlformats.org/officeDocument/2006/relationships" id="259" r:id="Re8eec720c916450d"/>
    <p:sldId xmlns:r="http://schemas.openxmlformats.org/officeDocument/2006/relationships" id="260" r:id="R1dc8dd7aa91a4260"/>
    <p:sldId xmlns:r="http://schemas.openxmlformats.org/officeDocument/2006/relationships" id="261" r:id="Rcafa9a9878434744"/>
    <p:sldId xmlns:r="http://schemas.openxmlformats.org/officeDocument/2006/relationships" id="262" r:id="R7021d30f08164951"/>
    <p:sldId xmlns:r="http://schemas.openxmlformats.org/officeDocument/2006/relationships" id="263" r:id="Raedb81ef132544ae"/>
    <p:sldId xmlns:r="http://schemas.openxmlformats.org/officeDocument/2006/relationships" id="264" r:id="Rbd200e7bdc074e6f"/>
    <p:sldId xmlns:r="http://schemas.openxmlformats.org/officeDocument/2006/relationships" id="265" r:id="Rbe919c8229ec4291"/>
    <p:sldId xmlns:r="http://schemas.openxmlformats.org/officeDocument/2006/relationships" id="266" r:id="Rbf8e5763ce66449a"/>
    <p:sldId xmlns:r="http://schemas.openxmlformats.org/officeDocument/2006/relationships" id="267" r:id="R1ceba34871e04918"/>
    <p:sldId xmlns:r="http://schemas.openxmlformats.org/officeDocument/2006/relationships" id="268" r:id="R01fbe8052fcd4cda"/>
    <p:sldId xmlns:r="http://schemas.openxmlformats.org/officeDocument/2006/relationships" id="269" r:id="Rf24490275551454d"/>
    <p:sldId xmlns:r="http://schemas.openxmlformats.org/officeDocument/2006/relationships" id="270" r:id="R30cdf680ed6f438b"/>
    <p:sldId xmlns:r="http://schemas.openxmlformats.org/officeDocument/2006/relationships" id="271" r:id="R9dc66999aa3444a5"/>
    <p:sldId xmlns:r="http://schemas.openxmlformats.org/officeDocument/2006/relationships" id="272" r:id="Re21a8a1574c84b6d"/>
    <p:sldId xmlns:r="http://schemas.openxmlformats.org/officeDocument/2006/relationships" id="273" r:id="Re33c8e5ca2ca422b"/>
    <p:sldId xmlns:r="http://schemas.openxmlformats.org/officeDocument/2006/relationships" id="274" r:id="R588f067953a842d1"/>
    <p:sldId xmlns:r="http://schemas.openxmlformats.org/officeDocument/2006/relationships" id="275" r:id="R2827ca12f14a43e6"/>
    <p:sldId xmlns:r="http://schemas.openxmlformats.org/officeDocument/2006/relationships" id="276" r:id="R505a01042ac147c1"/>
    <p:sldId xmlns:r="http://schemas.openxmlformats.org/officeDocument/2006/relationships" id="277" r:id="R9fb24328f51e4867"/>
    <p:sldId xmlns:r="http://schemas.openxmlformats.org/officeDocument/2006/relationships" id="278" r:id="Rca6bea2a9e024374"/>
    <p:sldId xmlns:r="http://schemas.openxmlformats.org/officeDocument/2006/relationships" id="279" r:id="R619860bebec0419c"/>
    <p:sldId xmlns:r="http://schemas.openxmlformats.org/officeDocument/2006/relationships" id="280" r:id="R84b2e9a8a2ff4492"/>
    <p:sldId xmlns:r="http://schemas.openxmlformats.org/officeDocument/2006/relationships" id="281" r:id="Ref6e2c587d6241ac"/>
    <p:sldId xmlns:r="http://schemas.openxmlformats.org/officeDocument/2006/relationships" id="282" r:id="R07ec73b3b6304e79"/>
    <p:sldId xmlns:r="http://schemas.openxmlformats.org/officeDocument/2006/relationships" id="283" r:id="R5a3b5b135e4c48b3"/>
    <p:sldId xmlns:r="http://schemas.openxmlformats.org/officeDocument/2006/relationships" id="284" r:id="R7bd840aadf864f11"/>
    <p:sldId xmlns:r="http://schemas.openxmlformats.org/officeDocument/2006/relationships" id="285" r:id="R947697f500d643a0"/>
    <p:sldId xmlns:r="http://schemas.openxmlformats.org/officeDocument/2006/relationships" id="286" r:id="R299cc73d737348e1"/>
    <p:sldId xmlns:r="http://schemas.openxmlformats.org/officeDocument/2006/relationships" id="287" r:id="Ra80501fe0c1748d5"/>
    <p:sldId xmlns:r="http://schemas.openxmlformats.org/officeDocument/2006/relationships" id="288" r:id="R5e886f09f5654576"/>
    <p:sldId xmlns:r="http://schemas.openxmlformats.org/officeDocument/2006/relationships" id="289" r:id="Rf43cd0f8838e46f1"/>
    <p:sldId xmlns:r="http://schemas.openxmlformats.org/officeDocument/2006/relationships" id="290" r:id="Rd904541c6d314451"/>
    <p:sldId xmlns:r="http://schemas.openxmlformats.org/officeDocument/2006/relationships" id="291" r:id="Rc861832787524422"/>
    <p:sldId xmlns:r="http://schemas.openxmlformats.org/officeDocument/2006/relationships" id="292" r:id="Rc414bb8507fe424a"/>
    <p:sldId xmlns:r="http://schemas.openxmlformats.org/officeDocument/2006/relationships" id="293" r:id="R180ff9679d624e57"/>
    <p:sldId xmlns:r="http://schemas.openxmlformats.org/officeDocument/2006/relationships" id="294" r:id="Re529dfe464c54d72"/>
    <p:sldId xmlns:r="http://schemas.openxmlformats.org/officeDocument/2006/relationships" id="295" r:id="R919259dc607a465b"/>
    <p:sldId xmlns:r="http://schemas.openxmlformats.org/officeDocument/2006/relationships" id="296" r:id="Rdc40770724e04233"/>
    <p:sldId xmlns:r="http://schemas.openxmlformats.org/officeDocument/2006/relationships" id="297" r:id="Rd969791ede034ae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7543a28f1c4438" /><Relationship Type="http://schemas.openxmlformats.org/officeDocument/2006/relationships/slideMaster" Target="/ppt/slideMasters/slideMaster1.xml" Id="R8b74d58b596d4923" /><Relationship Type="http://schemas.openxmlformats.org/officeDocument/2006/relationships/notesMaster" Target="/ppt/notesMasters/notesMaster1.xml" Id="R87403e4d0b874d0f" /><Relationship Type="http://schemas.openxmlformats.org/officeDocument/2006/relationships/presProps" Target="/ppt/presProps.xml" Id="R0286db751fbf4841" /><Relationship Type="http://schemas.openxmlformats.org/officeDocument/2006/relationships/tableStyles" Target="/ppt/tableStyles.xml" Id="R96c26940ca6142e7" /><Relationship Type="http://schemas.openxmlformats.org/officeDocument/2006/relationships/slide" Target="/ppt/slides/slide1.xml" Id="R3551bcfe26d04314" /><Relationship Type="http://schemas.openxmlformats.org/officeDocument/2006/relationships/slide" Target="/ppt/slides/slide2.xml" Id="R39ea8a7c3a744e72" /><Relationship Type="http://schemas.openxmlformats.org/officeDocument/2006/relationships/slide" Target="/ppt/slides/slide3.xml" Id="R2756a535d1ff4b66" /><Relationship Type="http://schemas.openxmlformats.org/officeDocument/2006/relationships/slide" Target="/ppt/slides/slide4.xml" Id="Re8eec720c916450d" /><Relationship Type="http://schemas.openxmlformats.org/officeDocument/2006/relationships/slide" Target="/ppt/slides/slide5.xml" Id="R1dc8dd7aa91a4260" /><Relationship Type="http://schemas.openxmlformats.org/officeDocument/2006/relationships/slide" Target="/ppt/slides/slide6.xml" Id="Rcafa9a9878434744" /><Relationship Type="http://schemas.openxmlformats.org/officeDocument/2006/relationships/slide" Target="/ppt/slides/slide7.xml" Id="R7021d30f08164951" /><Relationship Type="http://schemas.openxmlformats.org/officeDocument/2006/relationships/slide" Target="/ppt/slides/slide8.xml" Id="Raedb81ef132544ae" /><Relationship Type="http://schemas.openxmlformats.org/officeDocument/2006/relationships/slide" Target="/ppt/slides/slide9.xml" Id="Rbd200e7bdc074e6f" /><Relationship Type="http://schemas.openxmlformats.org/officeDocument/2006/relationships/slide" Target="/ppt/slides/slide10.xml" Id="Rbe919c8229ec4291" /><Relationship Type="http://schemas.openxmlformats.org/officeDocument/2006/relationships/slide" Target="/ppt/slides/slide11.xml" Id="Rbf8e5763ce66449a" /><Relationship Type="http://schemas.openxmlformats.org/officeDocument/2006/relationships/slide" Target="/ppt/slides/slide12.xml" Id="R1ceba34871e04918" /><Relationship Type="http://schemas.openxmlformats.org/officeDocument/2006/relationships/slide" Target="/ppt/slides/slide13.xml" Id="R01fbe8052fcd4cda" /><Relationship Type="http://schemas.openxmlformats.org/officeDocument/2006/relationships/slide" Target="/ppt/slides/slide14.xml" Id="Rf24490275551454d" /><Relationship Type="http://schemas.openxmlformats.org/officeDocument/2006/relationships/slide" Target="/ppt/slides/slide15.xml" Id="R30cdf680ed6f438b" /><Relationship Type="http://schemas.openxmlformats.org/officeDocument/2006/relationships/slide" Target="/ppt/slides/slide16.xml" Id="R9dc66999aa3444a5" /><Relationship Type="http://schemas.openxmlformats.org/officeDocument/2006/relationships/slide" Target="/ppt/slides/slide17.xml" Id="Re21a8a1574c84b6d" /><Relationship Type="http://schemas.openxmlformats.org/officeDocument/2006/relationships/slide" Target="/ppt/slides/slide18.xml" Id="Re33c8e5ca2ca422b" /><Relationship Type="http://schemas.openxmlformats.org/officeDocument/2006/relationships/slide" Target="/ppt/slides/slide19.xml" Id="R588f067953a842d1" /><Relationship Type="http://schemas.openxmlformats.org/officeDocument/2006/relationships/slide" Target="/ppt/slides/slide20.xml" Id="R2827ca12f14a43e6" /><Relationship Type="http://schemas.openxmlformats.org/officeDocument/2006/relationships/slide" Target="/ppt/slides/slide21.xml" Id="R505a01042ac147c1" /><Relationship Type="http://schemas.openxmlformats.org/officeDocument/2006/relationships/slide" Target="/ppt/slides/slide22.xml" Id="R9fb24328f51e4867" /><Relationship Type="http://schemas.openxmlformats.org/officeDocument/2006/relationships/slide" Target="/ppt/slides/slide23.xml" Id="Rca6bea2a9e024374" /><Relationship Type="http://schemas.openxmlformats.org/officeDocument/2006/relationships/slide" Target="/ppt/slides/slide24.xml" Id="R619860bebec0419c" /><Relationship Type="http://schemas.openxmlformats.org/officeDocument/2006/relationships/slide" Target="/ppt/slides/slide25.xml" Id="R84b2e9a8a2ff4492" /><Relationship Type="http://schemas.openxmlformats.org/officeDocument/2006/relationships/slide" Target="/ppt/slides/slide26.xml" Id="Ref6e2c587d6241ac" /><Relationship Type="http://schemas.openxmlformats.org/officeDocument/2006/relationships/slide" Target="/ppt/slides/slide27.xml" Id="R07ec73b3b6304e79" /><Relationship Type="http://schemas.openxmlformats.org/officeDocument/2006/relationships/slide" Target="/ppt/slides/slide28.xml" Id="R5a3b5b135e4c48b3" /><Relationship Type="http://schemas.openxmlformats.org/officeDocument/2006/relationships/slide" Target="/ppt/slides/slide29.xml" Id="R7bd840aadf864f11" /><Relationship Type="http://schemas.openxmlformats.org/officeDocument/2006/relationships/slide" Target="/ppt/slides/slide30.xml" Id="R947697f500d643a0" /><Relationship Type="http://schemas.openxmlformats.org/officeDocument/2006/relationships/slide" Target="/ppt/slides/slide31.xml" Id="R299cc73d737348e1" /><Relationship Type="http://schemas.openxmlformats.org/officeDocument/2006/relationships/slide" Target="/ppt/slides/slide32.xml" Id="Ra80501fe0c1748d5" /><Relationship Type="http://schemas.openxmlformats.org/officeDocument/2006/relationships/slide" Target="/ppt/slides/slide33.xml" Id="R5e886f09f5654576" /><Relationship Type="http://schemas.openxmlformats.org/officeDocument/2006/relationships/slide" Target="/ppt/slides/slide34.xml" Id="Rf43cd0f8838e46f1" /><Relationship Type="http://schemas.openxmlformats.org/officeDocument/2006/relationships/slide" Target="/ppt/slides/slide35.xml" Id="Rd904541c6d314451" /><Relationship Type="http://schemas.openxmlformats.org/officeDocument/2006/relationships/slide" Target="/ppt/slides/slide36.xml" Id="Rc861832787524422" /><Relationship Type="http://schemas.openxmlformats.org/officeDocument/2006/relationships/slide" Target="/ppt/slides/slide37.xml" Id="Rc414bb8507fe424a" /><Relationship Type="http://schemas.openxmlformats.org/officeDocument/2006/relationships/slide" Target="/ppt/slides/slide38.xml" Id="R180ff9679d624e57" /><Relationship Type="http://schemas.openxmlformats.org/officeDocument/2006/relationships/slide" Target="/ppt/slides/slide39.xml" Id="Re529dfe464c54d72" /><Relationship Type="http://schemas.openxmlformats.org/officeDocument/2006/relationships/slide" Target="/ppt/slides/slide40.xml" Id="R919259dc607a465b" /><Relationship Type="http://schemas.openxmlformats.org/officeDocument/2006/relationships/slide" Target="/ppt/slides/slide41.xml" Id="Rdc40770724e04233" /><Relationship Type="http://schemas.openxmlformats.org/officeDocument/2006/relationships/slide" Target="/ppt/slides/slide42.xml" Id="Rd969791ede034a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051afe24cd4a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c69066c2924a9a" /><Relationship Type="http://schemas.openxmlformats.org/officeDocument/2006/relationships/notesMaster" Target="/ppt/notesMasters/notesMaster1.xml" Id="R0a666417014346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67741226a44ecd" /><Relationship Type="http://schemas.openxmlformats.org/officeDocument/2006/relationships/notesMaster" Target="/ppt/notesMasters/notesMaster1.xml" Id="R4445188c60e049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0db04e74ed450b" /><Relationship Type="http://schemas.openxmlformats.org/officeDocument/2006/relationships/notesMaster" Target="/ppt/notesMasters/notesMaster1.xml" Id="Rd5d9552acd6e41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53161e17c84f94" /><Relationship Type="http://schemas.openxmlformats.org/officeDocument/2006/relationships/notesMaster" Target="/ppt/notesMasters/notesMaster1.xml" Id="Rab52e584119542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2959594fc74199" /><Relationship Type="http://schemas.openxmlformats.org/officeDocument/2006/relationships/notesMaster" Target="/ppt/notesMasters/notesMaster1.xml" Id="R77e8f676aacc41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c01b31042d4737" /><Relationship Type="http://schemas.openxmlformats.org/officeDocument/2006/relationships/notesMaster" Target="/ppt/notesMasters/notesMaster1.xml" Id="Rdafb410d4d1e4c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ac8c4f17974b58" /><Relationship Type="http://schemas.openxmlformats.org/officeDocument/2006/relationships/notesMaster" Target="/ppt/notesMasters/notesMaster1.xml" Id="Rd1393a6082304e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95f29c68d9463f" /><Relationship Type="http://schemas.openxmlformats.org/officeDocument/2006/relationships/notesMaster" Target="/ppt/notesMasters/notesMaster1.xml" Id="R8ee1cd4d1f8342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4c0de752ac4b8b" /><Relationship Type="http://schemas.openxmlformats.org/officeDocument/2006/relationships/notesMaster" Target="/ppt/notesMasters/notesMaster1.xml" Id="Rd33784052a5d4e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990cdfdce74f89" /><Relationship Type="http://schemas.openxmlformats.org/officeDocument/2006/relationships/notesMaster" Target="/ppt/notesMasters/notesMaster1.xml" Id="Radacfb893b0c46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ab232ba233460b" /><Relationship Type="http://schemas.openxmlformats.org/officeDocument/2006/relationships/notesMaster" Target="/ppt/notesMasters/notesMaster1.xml" Id="R3f7eecd174ac4c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dbaed110bf4a16" /><Relationship Type="http://schemas.openxmlformats.org/officeDocument/2006/relationships/notesMaster" Target="/ppt/notesMasters/notesMaster1.xml" Id="Re83013eff1264e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ae20bab1594081" /><Relationship Type="http://schemas.openxmlformats.org/officeDocument/2006/relationships/notesMaster" Target="/ppt/notesMasters/notesMaster1.xml" Id="R13aaf3bf00b841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f476c283b44cfa" /><Relationship Type="http://schemas.openxmlformats.org/officeDocument/2006/relationships/notesMaster" Target="/ppt/notesMasters/notesMaster1.xml" Id="Rf7ba60778e2e46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9e6f65d929466a" /><Relationship Type="http://schemas.openxmlformats.org/officeDocument/2006/relationships/notesMaster" Target="/ppt/notesMasters/notesMaster1.xml" Id="R193a87a82caf43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7870eac74c44e2" /><Relationship Type="http://schemas.openxmlformats.org/officeDocument/2006/relationships/notesMaster" Target="/ppt/notesMasters/notesMaster1.xml" Id="R835167f89c8244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92520ed6ce45b6" /><Relationship Type="http://schemas.openxmlformats.org/officeDocument/2006/relationships/notesMaster" Target="/ppt/notesMasters/notesMaster1.xml" Id="R4f95e0647daf47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a95c8da17b40e1" /><Relationship Type="http://schemas.openxmlformats.org/officeDocument/2006/relationships/notesMaster" Target="/ppt/notesMasters/notesMaster1.xml" Id="Rfee837d0d76f40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fc9811dfd054f70" /><Relationship Type="http://schemas.openxmlformats.org/officeDocument/2006/relationships/notesMaster" Target="/ppt/notesMasters/notesMaster1.xml" Id="R09e20f146b074b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4df044803924e19" /><Relationship Type="http://schemas.openxmlformats.org/officeDocument/2006/relationships/notesMaster" Target="/ppt/notesMasters/notesMaster1.xml" Id="R7903175d8edc41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1e8ae215064084" /><Relationship Type="http://schemas.openxmlformats.org/officeDocument/2006/relationships/notesMaster" Target="/ppt/notesMasters/notesMaster1.xml" Id="R8e41c8fcd68449d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f876eb6e64418d" /><Relationship Type="http://schemas.openxmlformats.org/officeDocument/2006/relationships/notesMaster" Target="/ppt/notesMasters/notesMaster1.xml" Id="R4aba96c271a541c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1112d458f044714" /><Relationship Type="http://schemas.openxmlformats.org/officeDocument/2006/relationships/notesMaster" Target="/ppt/notesMasters/notesMaster1.xml" Id="R942cac9a0bce47e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9ab3c707ae42a0" /><Relationship Type="http://schemas.openxmlformats.org/officeDocument/2006/relationships/notesMaster" Target="/ppt/notesMasters/notesMaster1.xml" Id="Rd3d68ab18b8049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6bb70b827e4f07" /><Relationship Type="http://schemas.openxmlformats.org/officeDocument/2006/relationships/notesMaster" Target="/ppt/notesMasters/notesMaster1.xml" Id="R035e6be5306349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047ebed74c440d" /><Relationship Type="http://schemas.openxmlformats.org/officeDocument/2006/relationships/notesMaster" Target="/ppt/notesMasters/notesMaster1.xml" Id="Ra838ce1709434fa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f07522ba5144f0e" /><Relationship Type="http://schemas.openxmlformats.org/officeDocument/2006/relationships/notesMaster" Target="/ppt/notesMasters/notesMaster1.xml" Id="R77fe599a2a4a4de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a430eb90d341d0" /><Relationship Type="http://schemas.openxmlformats.org/officeDocument/2006/relationships/notesMaster" Target="/ppt/notesMasters/notesMaster1.xml" Id="Rad0e5c50851144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f709f86b2114558" /><Relationship Type="http://schemas.openxmlformats.org/officeDocument/2006/relationships/notesMaster" Target="/ppt/notesMasters/notesMaster1.xml" Id="R8fa277c455a54f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e76c48a9ee4585" /><Relationship Type="http://schemas.openxmlformats.org/officeDocument/2006/relationships/notesMaster" Target="/ppt/notesMasters/notesMaster1.xml" Id="R574b41d9efda4ea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d7eb2678491404d" /><Relationship Type="http://schemas.openxmlformats.org/officeDocument/2006/relationships/notesMaster" Target="/ppt/notesMasters/notesMaster1.xml" Id="R76d9729025254fd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07bfcd930c4d4e" /><Relationship Type="http://schemas.openxmlformats.org/officeDocument/2006/relationships/notesMaster" Target="/ppt/notesMasters/notesMaster1.xml" Id="R24861a951c2c46b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2c0222a496f44fe" /><Relationship Type="http://schemas.openxmlformats.org/officeDocument/2006/relationships/notesMaster" Target="/ppt/notesMasters/notesMaster1.xml" Id="Recd76963a8494e3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d52ed822f404dca" /><Relationship Type="http://schemas.openxmlformats.org/officeDocument/2006/relationships/notesMaster" Target="/ppt/notesMasters/notesMaster1.xml" Id="R8911c7feff7a4b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869a8b3e41f4c62" /><Relationship Type="http://schemas.openxmlformats.org/officeDocument/2006/relationships/notesMaster" Target="/ppt/notesMasters/notesMaster1.xml" Id="R169be8545ef2467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92a0543461b4cfb" /><Relationship Type="http://schemas.openxmlformats.org/officeDocument/2006/relationships/notesMaster" Target="/ppt/notesMasters/notesMaster1.xml" Id="Rd8b49e376af345d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3165b5819b54e97" /><Relationship Type="http://schemas.openxmlformats.org/officeDocument/2006/relationships/notesMaster" Target="/ppt/notesMasters/notesMaster1.xml" Id="R9e2ef067b07c415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dbb57412ece449e" /><Relationship Type="http://schemas.openxmlformats.org/officeDocument/2006/relationships/notesMaster" Target="/ppt/notesMasters/notesMaster1.xml" Id="R71877f136f104c7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bc441845f1e4779" /><Relationship Type="http://schemas.openxmlformats.org/officeDocument/2006/relationships/notesMaster" Target="/ppt/notesMasters/notesMaster1.xml" Id="R7872fe73759448d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398c90081454584" /><Relationship Type="http://schemas.openxmlformats.org/officeDocument/2006/relationships/notesMaster" Target="/ppt/notesMasters/notesMaster1.xml" Id="R071ae18a214342a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0708df634404d95" /><Relationship Type="http://schemas.openxmlformats.org/officeDocument/2006/relationships/notesMaster" Target="/ppt/notesMasters/notesMaster1.xml" Id="R1e6e950c245742a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09f7fe5381941f7" /><Relationship Type="http://schemas.openxmlformats.org/officeDocument/2006/relationships/notesMaster" Target="/ppt/notesMasters/notesMaster1.xml" Id="Rd43a9892d44146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Using pandas to answer table questions</a:t>
            </a:r>
          </a:p>
          <a:p xmlns:a="http://schemas.openxmlformats.org/drawingml/2006/main">
            <a:r>
              <a:t/>
            </a:r>
          </a:p>
          <a:p xmlns:a="http://schemas.openxmlformats.org/drawingml/2006/main">
            <a:r>
              <a:t>CONNECT</a:t>
            </a:r>
          </a:p>
          <a:p xmlns:a="http://schemas.openxmlformats.org/drawingml/2006/main">
            <a:r>
              <a:t>Build on the preceding week. Explain why this example is needed before running it.</a:t>
            </a:r>
          </a:p>
          <a:p xmlns:a="http://schemas.openxmlformats.org/drawingml/2006/main">
            <a:r>
              <a:t/>
            </a:r>
          </a:p>
          <a:p xmlns:a="http://schemas.openxmlformats.org/drawingml/2006/main">
            <a:r>
              <a:t>EXPLAIN</a:t>
            </a:r>
          </a:p>
          <a:p xmlns:a="http://schemas.openxmlformats.org/drawingml/2006/main">
            <a:r>
              <a:t>Mining and Petroleum Engineering</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Using pandas to answer table questions</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NEXT</a:t>
            </a:r>
          </a:p>
          <a:p xmlns:a="http://schemas.openxmlformats.org/drawingml/2006/main">
            <a:r>
              <a:t>Today’s learning.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Build on Using pandas to answer table questions. Explain why this example is needed before running it.</a:t>
            </a:r>
          </a:p>
          <a:p xmlns:a="http://schemas.openxmlformats.org/drawingml/2006/main">
            <a:r>
              <a:t/>
            </a:r>
          </a:p>
          <a:p xmlns:a="http://schemas.openxmlformats.org/drawingml/2006/main">
            <a:r>
              <a:t>EXPLAIN</a:t>
            </a:r>
          </a:p>
          <a:p xmlns:a="http://schemas.openxmlformats.org/drawingml/2006/main">
            <a:r>
              <a:t>Read a labelled table and select rows.</a:t>
            </a:r>
          </a:p>
          <a:p xmlns:a="http://schemas.openxmlformats.org/drawingml/2006/main">
            <a:r>
              <a:t/>
            </a:r>
          </a:p>
          <a:p xmlns:a="http://schemas.openxmlformats.org/drawingml/2006/main">
            <a:r>
              <a:t>Calculate column summaries and grouped totals.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Build on the preceding slide: Using pandas to answer table questions.</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NumPy broadcasting, broad Kaggle searches and twelve-plus-ten independent questions are optional extension. No change of editor is needed.</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NEXT</a:t>
            </a:r>
          </a:p>
          <a:p xmlns:a="http://schemas.openxmlformats.org/drawingml/2006/main">
            <a:r>
              <a:t>Recall and a first attempt.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Connection to the previous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Build on Today’s learning. Explain why this example is needed before running it.</a:t>
            </a:r>
          </a:p>
          <a:p xmlns:a="http://schemas.openxmlformats.org/drawingml/2006/main">
            <a:r>
              <a:t/>
            </a:r>
          </a:p>
          <a:p xmlns:a="http://schemas.openxmlformats.org/drawingml/2006/main">
            <a:r>
              <a:t>EXPLAIN</a:t>
            </a:r>
          </a:p>
          <a:p xmlns:a="http://schemas.openxmlformats.org/drawingml/2006/main">
            <a:r>
              <a:t>Week 4 used lists, dictionaries, loops and CSV rows. pandas keeps these same records in a labelled table and provides operations that work across its columns.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Recall and a first attempt</a:t>
            </a:r>
          </a:p>
          <a:p xmlns:a="http://schemas.openxmlformats.org/drawingml/2006/main">
            <a:r>
              <a:t/>
            </a:r>
          </a:p>
          <a:p xmlns:a="http://schemas.openxmlformats.org/drawingml/2006/main">
            <a:r>
              <a:t>CONNECT</a:t>
            </a:r>
          </a:p>
          <a:p xmlns:a="http://schemas.openxmlformats.org/drawingml/2006/main">
            <a:r>
              <a:t>Build on the preceding slide: Today’s learning.</a:t>
            </a:r>
          </a:p>
          <a:p xmlns:a="http://schemas.openxmlformats.org/drawingml/2006/main">
            <a:r>
              <a:t/>
            </a:r>
          </a:p>
          <a:p xmlns:a="http://schemas.openxmlformats.org/drawingml/2006/main">
            <a:r>
              <a:t>LECTURER CUE</a:t>
            </a:r>
          </a:p>
          <a:p xmlns:a="http://schemas.openxmlformats.org/drawingml/2006/main">
            <a:r>
              <a:t/>
            </a:r>
          </a:p>
          <a:p xmlns:a="http://schemas.openxmlformats.org/drawingml/2006/main">
            <a:r>
              <a:t>EXPLAIN IN ORDINARY WORDS</a:t>
            </a:r>
          </a:p>
          <a:p xmlns:a="http://schemas.openxmlformats.org/drawingml/2006/main">
            <a:r>
              <a:t>Name the positive class first. Actual is what happened; predicted is the model decision. Precision asks how many predicted positives were right. Recall asks how many actual positives were found.</a:t>
            </a:r>
          </a:p>
          <a:p xmlns:a="http://schemas.openxmlformats.org/drawingml/2006/main">
            <a:r>
              <a:t/>
            </a:r>
          </a:p>
          <a:p xmlns:a="http://schemas.openxmlformats.org/drawingml/2006/main">
            <a:r>
              <a:t>CHECK AND EXPECTED ANSWER</a:t>
            </a:r>
          </a:p>
          <a:p xmlns:a="http://schemas.openxmlformats.org/drawingml/2006/main">
            <a:r>
              <a:t>With TP=2, FP=1, FN=2: precision=2/3 and recall=2/4. A missed actual positive is a false negative.</a:t>
            </a:r>
          </a:p>
          <a:p xmlns:a="http://schemas.openxmlformats.org/drawingml/2006/main">
            <a:r>
              <a:t/>
            </a:r>
          </a:p>
          <a:p xmlns:a="http://schemas.openxmlformats.org/drawingml/2006/main">
            <a:r>
              <a:t>IF LEARNERS ARE STUCK</a:t>
            </a:r>
          </a:p>
          <a:p xmlns:a="http://schemas.openxmlformats.org/drawingml/2006/main">
            <a:r>
              <a:t>Draw actual/predicted headings. Place one case at a time before calculating a fraction. Explain the task rule for a zero denominator.</a:t>
            </a:r>
          </a:p>
          <a:p xmlns:a="http://schemas.openxmlformats.org/drawingml/2006/main">
            <a:r>
              <a:t/>
            </a:r>
          </a:p>
          <a:p xmlns:a="http://schemas.openxmlformats.org/drawingml/2006/main">
            <a:r>
              <a:t>NEXT</a:t>
            </a:r>
          </a:p>
          <a:p xmlns:a="http://schemas.openxmlformats.org/drawingml/2006/main">
            <a:r>
              <a:t>The engineering context.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Why this week’s tools are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Build on Connection to the previous lesson. Explain why this example is needed before running it.</a:t>
            </a:r>
          </a:p>
          <a:p xmlns:a="http://schemas.openxmlformats.org/drawingml/2006/main">
            <a:r>
              <a:t/>
            </a:r>
          </a:p>
          <a:p xmlns:a="http://schemas.openxmlformats.org/drawingml/2006/main">
            <a:r>
              <a:t>EXPLAIN</a:t>
            </a:r>
          </a:p>
          <a:p xmlns:a="http://schemas.openxmlformats.org/drawingml/2006/main">
            <a:r>
              <a:t>The supplied campus_energy.csv records campus electricity use. We practise pandas on four invented rows first, then inspect the supplied file and its units.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The engineering context</a:t>
            </a:r>
          </a:p>
          <a:p xmlns:a="http://schemas.openxmlformats.org/drawingml/2006/main">
            <a:r>
              <a:t/>
            </a:r>
          </a:p>
          <a:p xmlns:a="http://schemas.openxmlformats.org/drawingml/2006/main">
            <a:r>
              <a:t>CONNECT</a:t>
            </a:r>
          </a:p>
          <a:p xmlns:a="http://schemas.openxmlformats.org/drawingml/2006/main">
            <a:r>
              <a:t>Build on the preceding slide: Recall and a first attempt.</a:t>
            </a:r>
          </a:p>
          <a:p xmlns:a="http://schemas.openxmlformats.org/drawingml/2006/main">
            <a:r>
              <a:t/>
            </a:r>
          </a:p>
          <a:p xmlns:a="http://schemas.openxmlformats.org/drawingml/2006/main">
            <a:r>
              <a:t>LECTURER CUE</a:t>
            </a:r>
          </a:p>
          <a:p xmlns:a="http://schemas.openxmlformats.org/drawingml/2006/main">
            <a:r>
              <a:t>A pump team records temperature to investigate operation. Mining students can relate this to a dewatering pump; petroleum students to a transfer pump. These are teaching examples, not operating limits.</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NEXT</a:t>
            </a:r>
          </a:p>
          <a:p xmlns:a="http://schemas.openxmlformats.org/drawingml/2006/main">
            <a:r>
              <a:t>Rows columns and units.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Rows columns and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Rows columns and units</a:t>
            </a:r>
          </a:p>
          <a:p xmlns:a="http://schemas.openxmlformats.org/drawingml/2006/main">
            <a:r>
              <a:t/>
            </a:r>
          </a:p>
          <a:p xmlns:a="http://schemas.openxmlformats.org/drawingml/2006/main">
            <a:r>
              <a:t>CONNECT</a:t>
            </a:r>
          </a:p>
          <a:p xmlns:a="http://schemas.openxmlformats.org/drawingml/2006/main">
            <a:r>
              <a:t>Build on Why this week’s tools are needed. Explain why this example is needed before running it.</a:t>
            </a:r>
          </a:p>
          <a:p xmlns:a="http://schemas.openxmlformats.org/drawingml/2006/main">
            <a:r>
              <a:t/>
            </a:r>
          </a:p>
          <a:p xmlns:a="http://schemas.openxmlformats.org/drawingml/2006/main">
            <a:r>
              <a:t>EXPLAIN</a:t>
            </a:r>
          </a:p>
          <a:p xmlns:a="http://schemas.openxmlformats.org/drawingml/2006/main">
            <a:r>
              <a:t>A row describes one observation. A column describes one field.</a:t>
            </a:r>
          </a:p>
          <a:p xmlns:a="http://schemas.openxmlformats.org/drawingml/2006/main">
            <a:r>
              <a:t/>
            </a:r>
          </a:p>
          <a:p xmlns:a="http://schemas.openxmlformats.org/drawingml/2006/main">
            <a:r>
              <a:t>A DataFrame is pandas’ labelled table.</a:t>
            </a:r>
          </a:p>
          <a:p xmlns:a="http://schemas.openxmlformats.org/drawingml/2006/main">
            <a:r>
              <a:t/>
            </a:r>
          </a:p>
          <a:p xmlns:a="http://schemas.openxmlformats.org/drawingml/2006/main">
            <a:r>
              <a:t>A Series is one labelled column.</a:t>
            </a:r>
          </a:p>
          <a:p xmlns:a="http://schemas.openxmlformats.org/drawingml/2006/main">
            <a:r>
              <a:t/>
            </a:r>
          </a:p>
          <a:p xmlns:a="http://schemas.openxmlformats.org/drawingml/2006/main">
            <a:r>
              <a:t>kWh measures energy. kW measures power.</a:t>
            </a:r>
          </a:p>
          <a:p xmlns:a="http://schemas.openxmlformats.org/drawingml/2006/main">
            <a:r>
              <a:t/>
            </a:r>
          </a:p>
          <a:p xmlns:a="http://schemas.openxmlformats.org/drawingml/2006/main">
            <a:r>
              <a:t>A data type (dtype) describes the kind of values in a column, such as whole numbers, decimals or text.</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Rows columns and units</a:t>
            </a:r>
          </a:p>
          <a:p xmlns:a="http://schemas.openxmlformats.org/drawingml/2006/main">
            <a:r>
              <a:t/>
            </a:r>
          </a:p>
          <a:p xmlns:a="http://schemas.openxmlformats.org/drawingml/2006/main">
            <a:r>
              <a:t>CONNECT</a:t>
            </a:r>
          </a:p>
          <a:p xmlns:a="http://schemas.openxmlformats.org/drawingml/2006/main">
            <a:r>
              <a:t>Build on the preceding slide: The engineering context.</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TYPE NUANCE</a:t>
            </a:r>
          </a:p>
          <a:p xmlns:a="http://schemas.openxmlformats.org/drawingml/2006/main">
            <a:r>
              <a:t>An object dtype alone does not prove that a column contains bad numeric values; it can hold Python objects, including numbers. Inspect values and conversion results. Missing values may display as NaN, None, NaT or pandas NA depending on dtype.</a:t>
            </a:r>
          </a:p>
          <a:p xmlns:a="http://schemas.openxmlformats.org/drawingml/2006/main">
            <a:r>
              <a:t/>
            </a:r>
          </a:p>
          <a:p xmlns:a="http://schemas.openxmlformats.org/drawingml/2006/main">
            <a:r>
              <a:t>NEXT</a:t>
            </a:r>
          </a:p>
          <a:p xmlns:a="http://schemas.openxmlformats.org/drawingml/2006/main">
            <a:r>
              <a:t>A table keeps related observations together.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table keeps related observations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table keeps related observations together</a:t>
            </a:r>
          </a:p>
          <a:p xmlns:a="http://schemas.openxmlformats.org/drawingml/2006/main">
            <a:r>
              <a:t/>
            </a:r>
          </a:p>
          <a:p xmlns:a="http://schemas.openxmlformats.org/drawingml/2006/main">
            <a:r>
              <a:t>CONNECT</a:t>
            </a:r>
          </a:p>
          <a:p xmlns:a="http://schemas.openxmlformats.org/drawingml/2006/main">
            <a:r>
              <a:t>Build on Rows columns and units. Explain why this example is needed before running it.</a:t>
            </a:r>
          </a:p>
          <a:p xmlns:a="http://schemas.openxmlformats.org/drawingml/2006/main">
            <a:r>
              <a:t/>
            </a:r>
          </a:p>
          <a:p xmlns:a="http://schemas.openxmlformats.org/drawingml/2006/main">
            <a:r>
              <a:t>EXPLAIN</a:t>
            </a:r>
          </a:p>
          <a:p xmlns:a="http://schemas.openxmlformats.org/drawingml/2006/main">
            <a:r>
              <a:t>Our four rows record building A twice and building B twice.</a:t>
            </a:r>
          </a:p>
          <a:p xmlns:a="http://schemas.openxmlformats.org/drawingml/2006/main">
            <a:r>
              <a:t/>
            </a:r>
          </a:p>
          <a:p xmlns:a="http://schemas.openxmlformats.org/drawingml/2006/main">
            <a:r>
              <a:t>Each row contains the building label and an energy reading.</a:t>
            </a:r>
          </a:p>
          <a:p xmlns:a="http://schemas.openxmlformats.org/drawingml/2006/main">
            <a:r>
              <a:t/>
            </a:r>
          </a:p>
          <a:p xmlns:a="http://schemas.openxmlformats.org/drawingml/2006/main">
            <a:r>
              <a:t>kWh is energy. kW is power. The units describe different quantities.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table keeps related observations together</a:t>
            </a:r>
          </a:p>
          <a:p xmlns:a="http://schemas.openxmlformats.org/drawingml/2006/main">
            <a:r>
              <a:t/>
            </a:r>
          </a:p>
          <a:p xmlns:a="http://schemas.openxmlformats.org/drawingml/2006/main">
            <a:r>
              <a:t>CONNECT</a:t>
            </a:r>
          </a:p>
          <a:p xmlns:a="http://schemas.openxmlformats.org/drawingml/2006/main">
            <a:r>
              <a:t>Build on the preceding slide: Rows columns and units.</a:t>
            </a:r>
          </a:p>
          <a:p xmlns:a="http://schemas.openxmlformats.org/drawingml/2006/main">
            <a:r>
              <a:t/>
            </a:r>
          </a:p>
          <a:p xmlns:a="http://schemas.openxmlformats.org/drawingml/2006/main">
            <a:r>
              <a:t>LECTURER CUE</a:t>
            </a:r>
          </a:p>
          <a:p xmlns:a="http://schemas.openxmlformats.org/drawingml/2006/main">
            <a:r>
              <a:t>Draw a four-row table before running the example. Describe a reading of kWh as energy, and kW as power; the units are different.</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NEXT</a:t>
            </a:r>
          </a:p>
          <a:p xmlns:a="http://schemas.openxmlformats.org/drawingml/2006/main">
            <a:r>
              <a:t>Our small energy table.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Our small energy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Our small energy table</a:t>
            </a:r>
          </a:p>
          <a:p xmlns:a="http://schemas.openxmlformats.org/drawingml/2006/main">
            <a:r>
              <a:t/>
            </a:r>
          </a:p>
          <a:p xmlns:a="http://schemas.openxmlformats.org/drawingml/2006/main">
            <a:r>
              <a:t>CONNECT</a:t>
            </a:r>
          </a:p>
          <a:p xmlns:a="http://schemas.openxmlformats.org/drawingml/2006/main">
            <a:r>
              <a:t>Build on A table keeps related observations together. Explain why this example is needed before running it.</a:t>
            </a:r>
          </a:p>
          <a:p xmlns:a="http://schemas.openxmlformats.org/drawingml/2006/main">
            <a:r>
              <a:t/>
            </a:r>
          </a:p>
          <a:p xmlns:a="http://schemas.openxmlformats.org/drawingml/2006/main">
            <a:r>
              <a:t>EXPLAIN</a:t>
            </a:r>
          </a:p>
          <a:p xmlns:a="http://schemas.openxmlformats.org/drawingml/2006/main">
            <a:r>
              <a:t>The four observations total 18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Our small energy table</a:t>
            </a:r>
          </a:p>
          <a:p xmlns:a="http://schemas.openxmlformats.org/drawingml/2006/main">
            <a:r>
              <a:t/>
            </a:r>
          </a:p>
          <a:p xmlns:a="http://schemas.openxmlformats.org/drawingml/2006/main">
            <a:r>
              <a:t>CONNECT</a:t>
            </a:r>
          </a:p>
          <a:p xmlns:a="http://schemas.openxmlformats.org/drawingml/2006/main">
            <a:r>
              <a:t>Build on the preceding slide: A table keeps related observations together.</a:t>
            </a:r>
          </a:p>
          <a:p xmlns:a="http://schemas.openxmlformats.org/drawingml/2006/main">
            <a:r>
              <a:t/>
            </a:r>
          </a:p>
          <a:p xmlns:a="http://schemas.openxmlformats.org/drawingml/2006/main">
            <a:r>
              <a:t>LECTURER CUE</a:t>
            </a:r>
          </a:p>
          <a:p xmlns:a="http://schemas.openxmlformats.org/drawingml/2006/main">
            <a:r>
              <a:t>The four observations total 18 kWh. Their mean is 4.5 kWh. Building totals are A: 6 and B: 12.</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READ THE VISUAL</a:t>
            </a:r>
          </a:p>
          <a:p xmlns:a="http://schemas.openxmlformats.org/drawingml/2006/main">
            <a:r>
              <a:t>Start with the title and labels. Read one row or mark aloud, including its unit. Let a learner read a second one before discussing the pattern. Do not infer a numerical value from an unlabelled drawing.</a:t>
            </a:r>
          </a:p>
          <a:p xmlns:a="http://schemas.openxmlformats.org/drawingml/2006/main">
            <a:r>
              <a:t/>
            </a:r>
          </a:p>
          <a:p xmlns:a="http://schemas.openxmlformats.org/drawingml/2006/main">
            <a:r>
              <a:t>NEXT</a:t>
            </a:r>
          </a:p>
          <a:p xmlns:a="http://schemas.openxmlformats.org/drawingml/2006/main">
            <a:r>
              <a:t>Words we will use.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Library and pandas and DataFrame.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Library and pandas and DataFrame</a:t>
            </a:r>
          </a:p>
          <a:p xmlns:a="http://schemas.openxmlformats.org/drawingml/2006/main">
            <a:r>
              <a:t/>
            </a:r>
          </a:p>
          <a:p xmlns:a="http://schemas.openxmlformats.org/drawingml/2006/main">
            <a:r>
              <a:t>CONNECT</a:t>
            </a:r>
          </a:p>
          <a:p xmlns:a="http://schemas.openxmlformats.org/drawingml/2006/main">
            <a:r>
              <a:t>Build on Our small energy table. Explain why this example is needed before running it.</a:t>
            </a:r>
          </a:p>
          <a:p xmlns:a="http://schemas.openxmlformats.org/drawingml/2006/main">
            <a:r>
              <a:t/>
            </a:r>
          </a:p>
          <a:p xmlns:a="http://schemas.openxmlformats.org/drawingml/2006/main">
            <a:r>
              <a:t>EXPLAIN</a:t>
            </a:r>
          </a:p>
          <a:p xmlns:a="http://schemas.openxmlformats.org/drawingml/2006/main">
            <a:r>
              <a:t>Library and pandas: A library is reusable code. pandas provides tools for data tables. import pandas as pd makes pd a short name for that library.</a:t>
            </a:r>
          </a:p>
          <a:p xmlns:a="http://schemas.openxmlformats.org/drawingml/2006/main">
            <a:r>
              <a:t>DataFrame: A table with named columns and indexed rows. df is just the variable name we choose for this table.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Words we will use</a:t>
            </a:r>
          </a:p>
          <a:p xmlns:a="http://schemas.openxmlformats.org/drawingml/2006/main">
            <a:r>
              <a:t/>
            </a:r>
          </a:p>
          <a:p xmlns:a="http://schemas.openxmlformats.org/drawingml/2006/main">
            <a:r>
              <a:t>CONNECT</a:t>
            </a:r>
          </a:p>
          <a:p xmlns:a="http://schemas.openxmlformats.org/drawingml/2006/main">
            <a:r>
              <a:t>Build on the preceding slide: Our small energy table.</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POINT TO THE DEFINITION</a:t>
            </a:r>
          </a:p>
          <a:p xmlns:a="http://schemas.openxmlformats.org/drawingml/2006/main">
            <a:r>
              <a:t>Library and pandas: A library is reusable code. pandas provides tools for data tables. import pandas as pd makes pd a short name for that library.</a:t>
            </a:r>
          </a:p>
          <a:p xmlns:a="http://schemas.openxmlformats.org/drawingml/2006/main">
            <a:r>
              <a:t>DataFrame: A table with named columns and indexed rows. df is just the variable name we choose for this table.</a:t>
            </a:r>
          </a:p>
          <a:p xmlns:a="http://schemas.openxmlformats.org/drawingml/2006/main">
            <a:r>
              <a:t/>
            </a:r>
          </a:p>
          <a:p xmlns:a="http://schemas.openxmlformats.org/drawingml/2006/main">
            <a:r>
              <a:t>NEXT</a:t>
            </a:r>
          </a:p>
          <a:p xmlns:a="http://schemas.openxmlformats.org/drawingml/2006/main">
            <a:r>
              <a:t>A DataFrame is a labelled table.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labelled table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labelled table in Python</a:t>
            </a:r>
          </a:p>
          <a:p xmlns:a="http://schemas.openxmlformats.org/drawingml/2006/main">
            <a:r>
              <a:t/>
            </a:r>
          </a:p>
          <a:p xmlns:a="http://schemas.openxmlformats.org/drawingml/2006/main">
            <a:r>
              <a:t>CONNECT</a:t>
            </a:r>
          </a:p>
          <a:p xmlns:a="http://schemas.openxmlformats.org/drawingml/2006/main">
            <a:r>
              <a:t>Build on Library and pandas and DataFrame. Explain why this example is needed before running it.</a:t>
            </a:r>
          </a:p>
          <a:p xmlns:a="http://schemas.openxmlformats.org/drawingml/2006/main">
            <a:r>
              <a:t/>
            </a:r>
          </a:p>
          <a:p xmlns:a="http://schemas.openxmlformats.org/drawingml/2006/main">
            <a:r>
              <a:t>EXPLAIN</a:t>
            </a:r>
          </a:p>
          <a:p xmlns:a="http://schemas.openxmlformats.org/drawingml/2006/main">
            <a:r>
              <a:t>The illustration uses machinery records. The same row, column and index structure applies to our building-energy table.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labelled table in Python</a:t>
            </a:r>
          </a:p>
          <a:p xmlns:a="http://schemas.openxmlformats.org/drawingml/2006/main">
            <a:r>
              <a:t/>
            </a:r>
          </a:p>
          <a:p xmlns:a="http://schemas.openxmlformats.org/drawingml/2006/main">
            <a:r>
              <a:t>CONNECT</a:t>
            </a:r>
          </a:p>
          <a:p xmlns:a="http://schemas.openxmlformats.org/drawingml/2006/main">
            <a:r>
              <a:t>Build on the preceding slide: A DataFrame is a labelled table.</a:t>
            </a:r>
          </a:p>
          <a:p xmlns:a="http://schemas.openxmlformats.org/drawingml/2006/main">
            <a:r>
              <a:t/>
            </a:r>
          </a:p>
          <a:p xmlns:a="http://schemas.openxmlformats.org/drawingml/2006/main">
            <a:r>
              <a:t>LECTURER CUE</a:t>
            </a:r>
          </a:p>
          <a:p xmlns:a="http://schemas.openxmlformats.org/drawingml/2006/main">
            <a:r>
              <a:t>Point to one row, column, index and dtype. This maintenance table is illustrative. Work with the issued cohort table next.</a:t>
            </a:r>
          </a:p>
          <a:p xmlns:a="http://schemas.openxmlformats.org/drawingml/2006/main">
            <a:r>
              <a:t>Source: existing course illustration figs/dataframe_anatomy.png. These are illustrative examples, not this cohort’s assessed results.</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NEXT</a:t>
            </a:r>
          </a:p>
          <a:p xmlns:a="http://schemas.openxmlformats.org/drawingml/2006/main">
            <a:r>
              <a:t>Words we will use.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Series and Method and attribute.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Series and Method and attribute</a:t>
            </a:r>
          </a:p>
          <a:p xmlns:a="http://schemas.openxmlformats.org/drawingml/2006/main">
            <a:r>
              <a:t/>
            </a:r>
          </a:p>
          <a:p xmlns:a="http://schemas.openxmlformats.org/drawingml/2006/main">
            <a:r>
              <a:t>CONNECT</a:t>
            </a:r>
          </a:p>
          <a:p xmlns:a="http://schemas.openxmlformats.org/drawingml/2006/main">
            <a:r>
              <a:t>Build on A labelled table in Python. Explain why this example is needed before running it.</a:t>
            </a:r>
          </a:p>
          <a:p xmlns:a="http://schemas.openxmlformats.org/drawingml/2006/main">
            <a:r>
              <a:t/>
            </a:r>
          </a:p>
          <a:p xmlns:a="http://schemas.openxmlformats.org/drawingml/2006/main">
            <a:r>
              <a:t>EXPLAIN</a:t>
            </a:r>
          </a:p>
          <a:p xmlns:a="http://schemas.openxmlformats.org/drawingml/2006/main">
            <a:r>
              <a:t>Series: One labelled column. df["kwh"] selects the column named kwh.</a:t>
            </a:r>
          </a:p>
          <a:p xmlns:a="http://schemas.openxmlformats.org/drawingml/2006/main">
            <a:r>
              <a:t>Method and attribute: A method performs an operation, as in df.head(). An attribute provides a stored property, as in df.shape. Parentheses call an operation.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Words we will use</a:t>
            </a:r>
          </a:p>
          <a:p xmlns:a="http://schemas.openxmlformats.org/drawingml/2006/main">
            <a:r>
              <a:t/>
            </a:r>
          </a:p>
          <a:p xmlns:a="http://schemas.openxmlformats.org/drawingml/2006/main">
            <a:r>
              <a:t>CONNECT</a:t>
            </a:r>
          </a:p>
          <a:p xmlns:a="http://schemas.openxmlformats.org/drawingml/2006/main">
            <a:r>
              <a:t>Build on the preceding slide: A labelled table in Python.</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POINT TO THE DEFINITION</a:t>
            </a:r>
          </a:p>
          <a:p xmlns:a="http://schemas.openxmlformats.org/drawingml/2006/main">
            <a:r>
              <a:t>Series: One labelled column. df["kwh"] selects the column named kwh.</a:t>
            </a:r>
          </a:p>
          <a:p xmlns:a="http://schemas.openxmlformats.org/drawingml/2006/main">
            <a:r>
              <a:t>Method and attribute: A method performs an operation, as in df.head(). An attribute provides a stored property, as in df.shape. Parentheses call an operation.</a:t>
            </a:r>
          </a:p>
          <a:p xmlns:a="http://schemas.openxmlformats.org/drawingml/2006/main">
            <a:r>
              <a:t/>
            </a:r>
          </a:p>
          <a:p xmlns:a="http://schemas.openxmlformats.org/drawingml/2006/main">
            <a:r>
              <a:t>NEXT</a:t>
            </a:r>
          </a:p>
          <a:p xmlns:a="http://schemas.openxmlformats.org/drawingml/2006/main">
            <a:r>
              <a:t>Reading pandas syntax.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Reading pandas syntax.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pandas syntax</a:t>
            </a:r>
          </a:p>
          <a:p xmlns:a="http://schemas.openxmlformats.org/drawingml/2006/main">
            <a:r>
              <a:t/>
            </a:r>
          </a:p>
          <a:p xmlns:a="http://schemas.openxmlformats.org/drawingml/2006/main">
            <a:r>
              <a:t>CONNECT</a:t>
            </a:r>
          </a:p>
          <a:p xmlns:a="http://schemas.openxmlformats.org/drawingml/2006/main">
            <a:r>
              <a:t>Build on Series and Method and attribute. Explain why this example is needed before running it.</a:t>
            </a:r>
          </a:p>
          <a:p xmlns:a="http://schemas.openxmlformats.org/drawingml/2006/main">
            <a:r>
              <a:t/>
            </a:r>
          </a:p>
          <a:p xmlns:a="http://schemas.openxmlformats.org/drawingml/2006/main">
            <a:r>
              <a:t>EXPLAIN</a:t>
            </a:r>
          </a:p>
          <a:p xmlns:a="http://schemas.openxmlformats.org/drawingml/2006/main">
            <a:r>
              <a:t>import pandas as pd loads the library and gives it a short name.</a:t>
            </a:r>
          </a:p>
          <a:p xmlns:a="http://schemas.openxmlformats.org/drawingml/2006/main">
            <a:r>
              <a:t/>
            </a:r>
          </a:p>
          <a:p xmlns:a="http://schemas.openxmlformats.org/drawingml/2006/main">
            <a:r>
              <a:t>pd.read_csv("file.csv") calls a function. The quoted text is the file path.</a:t>
            </a:r>
          </a:p>
          <a:p xmlns:a="http://schemas.openxmlformats.org/drawingml/2006/main">
            <a:r>
              <a:t/>
            </a:r>
          </a:p>
          <a:p xmlns:a="http://schemas.openxmlformats.org/drawingml/2006/main">
            <a:r>
              <a:t>df["kwh"] selects a column. df["kwh"].mean() calls a method on that column.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Reading pandas syntax</a:t>
            </a:r>
          </a:p>
          <a:p xmlns:a="http://schemas.openxmlformats.org/drawingml/2006/main">
            <a:r>
              <a:t/>
            </a:r>
          </a:p>
          <a:p xmlns:a="http://schemas.openxmlformats.org/drawingml/2006/main">
            <a:r>
              <a:t>CONNECT</a:t>
            </a:r>
          </a:p>
          <a:p xmlns:a="http://schemas.openxmlformats.org/drawingml/2006/main">
            <a:r>
              <a:t>Build on the preceding slide: Words we will use.</a:t>
            </a:r>
          </a:p>
          <a:p xmlns:a="http://schemas.openxmlformats.org/drawingml/2006/main">
            <a:r>
              <a:t/>
            </a:r>
          </a:p>
          <a:p xmlns:a="http://schemas.openxmlformats.org/drawingml/2006/main">
            <a:r>
              <a:t>LECTURER CUE</a:t>
            </a:r>
          </a:p>
          <a:p xmlns:a="http://schemas.openxmlformats.org/drawingml/2006/main">
            <a:r>
              <a:t>Replace file.csv with the actual issued filename. Explain library, alias, function and method before running the worked example.</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NEXT</a:t>
            </a:r>
          </a:p>
          <a:p xmlns:a="http://schemas.openxmlformats.org/drawingml/2006/main">
            <a:r>
              <a:t>Build the table before asking questions.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Build the table before asking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Build the table before asking questions</a:t>
            </a:r>
          </a:p>
          <a:p xmlns:a="http://schemas.openxmlformats.org/drawingml/2006/main">
            <a:r>
              <a:t/>
            </a:r>
          </a:p>
          <a:p xmlns:a="http://schemas.openxmlformats.org/drawingml/2006/main">
            <a:r>
              <a:t>CONNECT</a:t>
            </a:r>
          </a:p>
          <a:p xmlns:a="http://schemas.openxmlformats.org/drawingml/2006/main">
            <a:r>
              <a:t>Build on Reading pandas syntax. Explain why this example is needed before running it.</a:t>
            </a:r>
          </a:p>
          <a:p xmlns:a="http://schemas.openxmlformats.org/drawingml/2006/main">
            <a:r>
              <a:t/>
            </a:r>
          </a:p>
          <a:p xmlns:a="http://schemas.openxmlformats.org/drawingml/2006/main">
            <a:r>
              <a:t>EXPLAIN</a:t>
            </a:r>
          </a:p>
          <a:p xmlns:a="http://schemas.openxmlformats.org/drawingml/2006/main">
            <a:r>
              <a:t>Each dictionary key becomes a column name. Equal-length lists supply its rows.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Build the table before asking questions</a:t>
            </a:r>
          </a:p>
          <a:p xmlns:a="http://schemas.openxmlformats.org/drawingml/2006/main">
            <a:r>
              <a:t/>
            </a:r>
          </a:p>
          <a:p xmlns:a="http://schemas.openxmlformats.org/drawingml/2006/main">
            <a:r>
              <a:t>CONNECT</a:t>
            </a:r>
          </a:p>
          <a:p xmlns:a="http://schemas.openxmlformats.org/drawingml/2006/main">
            <a:r>
              <a:t>Build on the preceding slide: Reading pandas syntax.</a:t>
            </a:r>
          </a:p>
          <a:p xmlns:a="http://schemas.openxmlformats.org/drawingml/2006/main">
            <a:r>
              <a:t/>
            </a:r>
          </a:p>
          <a:p xmlns:a="http://schemas.openxmlformats.org/drawingml/2006/main">
            <a:r>
              <a:t>LECTURER CUE</a:t>
            </a:r>
          </a:p>
          <a:p xmlns:a="http://schemas.openxmlformats.org/drawingml/2006/main">
            <a:r>
              <a:t>Each dictionary key becomes a column name. Equal-length lists supply its rows.</a:t>
            </a:r>
          </a:p>
          <a:p xmlns:a="http://schemas.openxmlformats.org/drawingml/2006/main">
            <a:r>
              <a:t/>
            </a:r>
          </a:p>
          <a:p xmlns:a="http://schemas.openxmlformats.org/drawingml/2006/main">
            <a:r>
              <a:t>Complete practice code:</a:t>
            </a:r>
          </a:p>
          <a:p xmlns:a="http://schemas.openxmlformats.org/drawingml/2006/main">
            <a:r>
              <a:t>import pandas as pd</a:t>
            </a:r>
          </a:p>
          <a:p xmlns:a="http://schemas.openxmlformats.org/drawingml/2006/main">
            <a:r>
              <a:t>df = pd.DataFrame({"building": ["A", "A", "B", "B"],</a:t>
            </a:r>
          </a:p>
          <a:p xmlns:a="http://schemas.openxmlformats.org/drawingml/2006/main">
            <a:r>
              <a:t>                   "kwh": [2, 4, 5, 7]})</a:t>
            </a:r>
          </a:p>
          <a:p xmlns:a="http://schemas.openxmlformats.org/drawingml/2006/main">
            <a:r>
              <a:t>print(df)</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WALK THROUGH THIS CODE</a:t>
            </a:r>
          </a:p>
          <a:p xmlns:a="http://schemas.openxmlformats.org/drawingml/2006/main">
            <a:r>
              <a:t>import loads a library. from selects a tool from it.</a:t>
            </a:r>
          </a:p>
          <a:p xmlns:a="http://schemas.openxmlformats.org/drawingml/2006/main">
            <a:r>
              <a:t>print displays a value below the cell.</a:t>
            </a:r>
          </a:p>
          <a:p xmlns:a="http://schemas.openxmlformats.org/drawingml/2006/main">
            <a:r>
              <a:t>Square brackets create a list or select an item.</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Select a column and calculate its mean.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Select a column and calculate its mean.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Select a column and calculate its mean</a:t>
            </a:r>
          </a:p>
          <a:p xmlns:a="http://schemas.openxmlformats.org/drawingml/2006/main">
            <a:r>
              <a:t/>
            </a:r>
          </a:p>
          <a:p xmlns:a="http://schemas.openxmlformats.org/drawingml/2006/main">
            <a:r>
              <a:t>CONNECT</a:t>
            </a:r>
          </a:p>
          <a:p xmlns:a="http://schemas.openxmlformats.org/drawingml/2006/main">
            <a:r>
              <a:t>Build on Build the table before asking questions. Explain why this example is needed before running it.</a:t>
            </a:r>
          </a:p>
          <a:p xmlns:a="http://schemas.openxmlformats.org/drawingml/2006/main">
            <a:r>
              <a:t/>
            </a:r>
          </a:p>
          <a:p xmlns:a="http://schemas.openxmlformats.org/drawingml/2006/main">
            <a:r>
              <a:t>EXPLAIN</a:t>
            </a:r>
          </a:p>
          <a:p xmlns:a="http://schemas.openxmlformats.org/drawingml/2006/main">
            <a:r>
              <a:t>The four numbers are 2, 4, 5 and 7. Their mean is 18 / 4 = 4.5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Select a column and calculate its mean</a:t>
            </a:r>
          </a:p>
          <a:p xmlns:a="http://schemas.openxmlformats.org/drawingml/2006/main">
            <a:r>
              <a:t/>
            </a:r>
          </a:p>
          <a:p xmlns:a="http://schemas.openxmlformats.org/drawingml/2006/main">
            <a:r>
              <a:t>CONNECT</a:t>
            </a:r>
          </a:p>
          <a:p xmlns:a="http://schemas.openxmlformats.org/drawingml/2006/main">
            <a:r>
              <a:t>Build on the preceding slide: Build the table before asking questions.</a:t>
            </a:r>
          </a:p>
          <a:p xmlns:a="http://schemas.openxmlformats.org/drawingml/2006/main">
            <a:r>
              <a:t/>
            </a:r>
          </a:p>
          <a:p xmlns:a="http://schemas.openxmlformats.org/drawingml/2006/main">
            <a:r>
              <a:t>LECTURER CUE</a:t>
            </a:r>
          </a:p>
          <a:p xmlns:a="http://schemas.openxmlformats.org/drawingml/2006/main">
            <a:r>
              <a:t>The four numbers are 2, 4, 5 and 7. Their mean is 18 / 4 = 4.5 kWh.</a:t>
            </a:r>
          </a:p>
          <a:p xmlns:a="http://schemas.openxmlformats.org/drawingml/2006/main">
            <a:r>
              <a:t/>
            </a:r>
          </a:p>
          <a:p xmlns:a="http://schemas.openxmlformats.org/drawingml/2006/main">
            <a:r>
              <a:t>Complete practice code:</a:t>
            </a:r>
          </a:p>
          <a:p xmlns:a="http://schemas.openxmlformats.org/drawingml/2006/main">
            <a:r>
              <a:t>print(df["kwh"])</a:t>
            </a:r>
          </a:p>
          <a:p xmlns:a="http://schemas.openxmlformats.org/drawingml/2006/main">
            <a:r>
              <a:t>print(df["kwh"].mean())</a:t>
            </a:r>
          </a:p>
          <a:p xmlns:a="http://schemas.openxmlformats.org/drawingml/2006/main">
            <a:r>
              <a:t/>
            </a:r>
          </a:p>
          <a:p xmlns:a="http://schemas.openxmlformats.org/drawingml/2006/main">
            <a:r>
              <a:t>EXPLAIN IN ORDINARY WORDS</a:t>
            </a:r>
          </a:p>
          <a:p xmlns:a="http://schemas.openxmlformats.org/drawingml/2006/main">
            <a:r>
              <a:t>A list keeps items in order. Python positions start at zero. In [2,4,6], position 0 contains 2 and position 2 contains 6. A slice excludes its stop position.</a:t>
            </a:r>
          </a:p>
          <a:p xmlns:a="http://schemas.openxmlformats.org/drawingml/2006/main">
            <a:r>
              <a:t/>
            </a:r>
          </a:p>
          <a:p xmlns:a="http://schemas.openxmlformats.org/drawingml/2006/main">
            <a:r>
              <a:t>CHECK AND EXPECTED ANSWER</a:t>
            </a:r>
          </a:p>
          <a:p xmlns:a="http://schemas.openxmlformats.org/drawingml/2006/main">
            <a:r>
              <a:t>What is [2,4,6][1]? 4. Is there a position 3? No.</a:t>
            </a:r>
          </a:p>
          <a:p xmlns:a="http://schemas.openxmlformats.org/drawingml/2006/main">
            <a:r>
              <a:t/>
            </a:r>
          </a:p>
          <a:p xmlns:a="http://schemas.openxmlformats.org/drawingml/2006/main">
            <a:r>
              <a:t>IF LEARNERS ARE STUCK</a:t>
            </a:r>
          </a:p>
          <a:p xmlns:a="http://schemas.openxmlformats.org/drawingml/2006/main">
            <a:r>
              <a:t>Draw three numbered boxes starting at zero. Keep the position separate from the value stored in it.</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Square brackets create a list or select an item.</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Mask and filter.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Mask and filter.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Mask and filter</a:t>
            </a:r>
          </a:p>
          <a:p xmlns:a="http://schemas.openxmlformats.org/drawingml/2006/main">
            <a:r>
              <a:t/>
            </a:r>
          </a:p>
          <a:p xmlns:a="http://schemas.openxmlformats.org/drawingml/2006/main">
            <a:r>
              <a:t>CONNECT</a:t>
            </a:r>
          </a:p>
          <a:p xmlns:a="http://schemas.openxmlformats.org/drawingml/2006/main">
            <a:r>
              <a:t>Build on Select a column and calculate its mean. Explain why this example is needed before running it.</a:t>
            </a:r>
          </a:p>
          <a:p xmlns:a="http://schemas.openxmlformats.org/drawingml/2006/main">
            <a:r>
              <a:t/>
            </a:r>
          </a:p>
          <a:p xmlns:a="http://schemas.openxmlformats.org/drawingml/2006/main">
            <a:r>
              <a:t>EXPLAIN</a:t>
            </a:r>
          </a:p>
          <a:p xmlns:a="http://schemas.openxmlformats.org/drawingml/2006/main">
            <a:r>
              <a:t>Mask and filter: A comparison produces True/False for each row. df[mask] keeps the True rows.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Mask and filter</a:t>
            </a:r>
          </a:p>
          <a:p xmlns:a="http://schemas.openxmlformats.org/drawingml/2006/main">
            <a:r>
              <a:t/>
            </a:r>
          </a:p>
          <a:p xmlns:a="http://schemas.openxmlformats.org/drawingml/2006/main">
            <a:r>
              <a:t>CONNECT</a:t>
            </a:r>
          </a:p>
          <a:p xmlns:a="http://schemas.openxmlformats.org/drawingml/2006/main">
            <a:r>
              <a:t>Build on the preceding slide: Select a column and calculate its mean.</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POINT TO THE DEFINITION</a:t>
            </a:r>
          </a:p>
          <a:p xmlns:a="http://schemas.openxmlformats.org/drawingml/2006/main">
            <a:r>
              <a:t>Mask and filter: A comparison produces True/False for each row. df[mask] keeps the True rows.</a:t>
            </a:r>
          </a:p>
          <a:p xmlns:a="http://schemas.openxmlformats.org/drawingml/2006/main">
            <a:r>
              <a:t/>
            </a:r>
          </a:p>
          <a:p xmlns:a="http://schemas.openxmlformats.org/drawingml/2006/main">
            <a:r>
              <a:t>NEXT</a:t>
            </a:r>
          </a:p>
          <a:p xmlns:a="http://schemas.openxmlformats.org/drawingml/2006/main">
            <a:r>
              <a:t>A comparison creates a Boolean mask.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 comparison creates a Boolean mask.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comparison creates a Boolean mask</a:t>
            </a:r>
          </a:p>
          <a:p xmlns:a="http://schemas.openxmlformats.org/drawingml/2006/main">
            <a:r>
              <a:t/>
            </a:r>
          </a:p>
          <a:p xmlns:a="http://schemas.openxmlformats.org/drawingml/2006/main">
            <a:r>
              <a:t>CONNECT</a:t>
            </a:r>
          </a:p>
          <a:p xmlns:a="http://schemas.openxmlformats.org/drawingml/2006/main">
            <a:r>
              <a:t>Build on Mask and filter. Explain why this example is needed before running it.</a:t>
            </a:r>
          </a:p>
          <a:p xmlns:a="http://schemas.openxmlformats.org/drawingml/2006/main">
            <a:r>
              <a:t/>
            </a:r>
          </a:p>
          <a:p xmlns:a="http://schemas.openxmlformats.org/drawingml/2006/main">
            <a:r>
              <a:t>EXPLAIN</a:t>
            </a:r>
          </a:p>
          <a:p xmlns:a="http://schemas.openxmlformats.org/drawingml/2006/main">
            <a:r>
              <a:t>The illustration filters torque readings. Our next example applies the same True/False selection to kWh values.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 comparison creates a Boolean mask</a:t>
            </a:r>
          </a:p>
          <a:p xmlns:a="http://schemas.openxmlformats.org/drawingml/2006/main">
            <a:r>
              <a:t/>
            </a:r>
          </a:p>
          <a:p xmlns:a="http://schemas.openxmlformats.org/drawingml/2006/main">
            <a:r>
              <a:t>CONNECT</a:t>
            </a:r>
          </a:p>
          <a:p xmlns:a="http://schemas.openxmlformats.org/drawingml/2006/main">
            <a:r>
              <a:t>Build on the preceding slide: Mask and filter.</a:t>
            </a:r>
          </a:p>
          <a:p xmlns:a="http://schemas.openxmlformats.org/drawingml/2006/main">
            <a:r>
              <a:t/>
            </a:r>
          </a:p>
          <a:p xmlns:a="http://schemas.openxmlformats.org/drawingml/2006/main">
            <a:r>
              <a:t>LECTURER CUE</a:t>
            </a:r>
          </a:p>
          <a:p xmlns:a="http://schemas.openxmlformats.org/drawingml/2006/main">
            <a:r>
              <a:t>Read &gt; as greater than, then trace one row through the mask. Selection does not delete the source rows. 40 is a practice threshold, not a safety standard.</a:t>
            </a:r>
          </a:p>
          <a:p xmlns:a="http://schemas.openxmlformats.org/drawingml/2006/main">
            <a:r>
              <a:t>Source: existing course illustration figs/boolean_mask.png. These are illustrative examples, not this cohort’s assessed results.</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NEXT</a:t>
            </a:r>
          </a:p>
          <a:p xmlns:a="http://schemas.openxmlformats.org/drawingml/2006/main">
            <a:r>
              <a:t>Keep rows where the comparison is true.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Keep rows where the comparison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Keep rows where the comparison is true</a:t>
            </a:r>
          </a:p>
          <a:p xmlns:a="http://schemas.openxmlformats.org/drawingml/2006/main">
            <a:r>
              <a:t/>
            </a:r>
          </a:p>
          <a:p xmlns:a="http://schemas.openxmlformats.org/drawingml/2006/main">
            <a:r>
              <a:t>CONNECT</a:t>
            </a:r>
          </a:p>
          <a:p xmlns:a="http://schemas.openxmlformats.org/drawingml/2006/main">
            <a:r>
              <a:t>Build on A comparison creates a Boolean mask. Explain why this example is needed before running it.</a:t>
            </a:r>
          </a:p>
          <a:p xmlns:a="http://schemas.openxmlformats.org/drawingml/2006/main">
            <a:r>
              <a:t/>
            </a:r>
          </a:p>
          <a:p xmlns:a="http://schemas.openxmlformats.org/drawingml/2006/main">
            <a:r>
              <a:t>EXPLAIN</a:t>
            </a:r>
          </a:p>
          <a:p xmlns:a="http://schemas.openxmlformats.org/drawingml/2006/main">
            <a:r>
              <a:t>The mask is False, False, True, True. The selected rows contain 5 and 7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Keep rows where the comparison is true</a:t>
            </a:r>
          </a:p>
          <a:p xmlns:a="http://schemas.openxmlformats.org/drawingml/2006/main">
            <a:r>
              <a:t/>
            </a:r>
          </a:p>
          <a:p xmlns:a="http://schemas.openxmlformats.org/drawingml/2006/main">
            <a:r>
              <a:t>CONNECT</a:t>
            </a:r>
          </a:p>
          <a:p xmlns:a="http://schemas.openxmlformats.org/drawingml/2006/main">
            <a:r>
              <a:t>Build on the preceding slide: A comparison creates a Boolean mask.</a:t>
            </a:r>
          </a:p>
          <a:p xmlns:a="http://schemas.openxmlformats.org/drawingml/2006/main">
            <a:r>
              <a:t/>
            </a:r>
          </a:p>
          <a:p xmlns:a="http://schemas.openxmlformats.org/drawingml/2006/main">
            <a:r>
              <a:t>LECTURER CUE</a:t>
            </a:r>
          </a:p>
          <a:p xmlns:a="http://schemas.openxmlformats.org/drawingml/2006/main">
            <a:r>
              <a:t>The mask is False, False, True, True. The selected rows contain 5 and 7 kWh.</a:t>
            </a:r>
          </a:p>
          <a:p xmlns:a="http://schemas.openxmlformats.org/drawingml/2006/main">
            <a:r>
              <a:t/>
            </a:r>
          </a:p>
          <a:p xmlns:a="http://schemas.openxmlformats.org/drawingml/2006/main">
            <a:r>
              <a:t>Complete practice code:</a:t>
            </a:r>
          </a:p>
          <a:p xmlns:a="http://schemas.openxmlformats.org/drawingml/2006/main">
            <a:r>
              <a:t>mask = df["kwh"] &gt; 4</a:t>
            </a:r>
          </a:p>
          <a:p xmlns:a="http://schemas.openxmlformats.org/drawingml/2006/main">
            <a:r>
              <a:t>print(mask)</a:t>
            </a:r>
          </a:p>
          <a:p xmlns:a="http://schemas.openxmlformats.org/drawingml/2006/main">
            <a:r>
              <a:t>print(df[mask])</a:t>
            </a:r>
          </a:p>
          <a:p xmlns:a="http://schemas.openxmlformats.org/drawingml/2006/main">
            <a:r>
              <a:t/>
            </a:r>
          </a:p>
          <a:p xmlns:a="http://schemas.openxmlformats.org/drawingml/2006/main">
            <a:r>
              <a:t>EXPLAIN IN ORDINARY WORDS</a:t>
            </a:r>
          </a:p>
          <a:p xmlns:a="http://schemas.openxmlformats.org/drawingml/2006/main">
            <a:r>
              <a:t>A condition is a True/False question. Python executes the matching indented branch. = assigns; == compares. &gt;= includes the boundary, while &gt; excludes it.</a:t>
            </a:r>
          </a:p>
          <a:p xmlns:a="http://schemas.openxmlformats.org/drawingml/2006/main">
            <a:r>
              <a:t/>
            </a:r>
          </a:p>
          <a:p xmlns:a="http://schemas.openxmlformats.org/drawingml/2006/main">
            <a:r>
              <a:t>CHECK AND EXPECTED ANSWER</a:t>
            </a:r>
          </a:p>
          <a:p xmlns:a="http://schemas.openxmlformats.org/drawingml/2006/main">
            <a:r>
              <a:t>With value 30, is value &gt;= 30 true? Yes. Is value &gt; 30 true? No.</a:t>
            </a:r>
          </a:p>
          <a:p xmlns:a="http://schemas.openxmlformats.org/drawingml/2006/main">
            <a:r>
              <a:t/>
            </a:r>
          </a:p>
          <a:p xmlns:a="http://schemas.openxmlformats.org/drawingml/2006/main">
            <a:r>
              <a:t>IF LEARNERS ARE STUCK</a:t>
            </a:r>
          </a:p>
          <a:p xmlns:a="http://schemas.openxmlformats.org/drawingml/2006/main">
            <a:r>
              <a:t>Try one value below, at and above the boundary before running the code.</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Square brackets create a list or select an item.</a:t>
            </a:r>
          </a:p>
          <a:p xmlns:a="http://schemas.openxmlformats.org/drawingml/2006/main">
            <a:r>
              <a:t>= assigns the value on the right to the name on the left.</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groupby and aggregation.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groupby and aggregation.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groupby and aggregation</a:t>
            </a:r>
          </a:p>
          <a:p xmlns:a="http://schemas.openxmlformats.org/drawingml/2006/main">
            <a:r>
              <a:t/>
            </a:r>
          </a:p>
          <a:p xmlns:a="http://schemas.openxmlformats.org/drawingml/2006/main">
            <a:r>
              <a:t>CONNECT</a:t>
            </a:r>
          </a:p>
          <a:p xmlns:a="http://schemas.openxmlformats.org/drawingml/2006/main">
            <a:r>
              <a:t>Build on Keep rows where the comparison is true. Explain why this example is needed before running it.</a:t>
            </a:r>
          </a:p>
          <a:p xmlns:a="http://schemas.openxmlformats.org/drawingml/2006/main">
            <a:r>
              <a:t/>
            </a:r>
          </a:p>
          <a:p xmlns:a="http://schemas.openxmlformats.org/drawingml/2006/main">
            <a:r>
              <a:t>EXPLAIN</a:t>
            </a:r>
          </a:p>
          <a:p xmlns:a="http://schemas.openxmlformats.org/drawingml/2006/main">
            <a:r>
              <a:t>groupby and aggregation: groupby collects rows with the same label. An aggregation such as sum or mean returns a summary for each group.</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groupby and aggregation</a:t>
            </a:r>
          </a:p>
          <a:p xmlns:a="http://schemas.openxmlformats.org/drawingml/2006/main">
            <a:r>
              <a:t/>
            </a:r>
          </a:p>
          <a:p xmlns:a="http://schemas.openxmlformats.org/drawingml/2006/main">
            <a:r>
              <a:t>CONNECT</a:t>
            </a:r>
          </a:p>
          <a:p xmlns:a="http://schemas.openxmlformats.org/drawingml/2006/main">
            <a:r>
              <a:t>Build on the preceding slide: Keep rows where the comparison is true.</a:t>
            </a:r>
          </a:p>
          <a:p xmlns:a="http://schemas.openxmlformats.org/drawingml/2006/main">
            <a:r>
              <a:t/>
            </a:r>
          </a:p>
          <a:p xmlns:a="http://schemas.openxmlformats.org/drawingml/2006/main">
            <a:r>
              <a:t>EXPLAIN IN ORDINARY WORDS</a:t>
            </a:r>
          </a:p>
          <a:p xmlns:a="http://schemas.openxmlformats.org/drawingml/2006/main">
            <a:r>
              <a:t>Grouping puts rows sharing a key into buckets, then computes a result for each bucket. WHERE filters rows before SQL grouping; HAVING filters grouped results.</a:t>
            </a:r>
          </a:p>
          <a:p xmlns:a="http://schemas.openxmlformats.org/drawingml/2006/main">
            <a:r>
              <a:t/>
            </a:r>
          </a:p>
          <a:p xmlns:a="http://schemas.openxmlformats.org/drawingml/2006/main">
            <a:r>
              <a:t>CHECK AND EXPECTED ANSWER</a:t>
            </a:r>
          </a:p>
          <a:p xmlns:a="http://schemas.openxmlformats.org/drawingml/2006/main">
            <a:r>
              <a:t>Which condition keeps only groups with more than five rows? HAVING COUNT(*) &gt; 5.</a:t>
            </a:r>
          </a:p>
          <a:p xmlns:a="http://schemas.openxmlformats.org/drawingml/2006/main">
            <a:r>
              <a:t/>
            </a:r>
          </a:p>
          <a:p xmlns:a="http://schemas.openxmlformats.org/drawingml/2006/main">
            <a:r>
              <a:t>IF LEARNERS ARE STUCK</a:t>
            </a:r>
          </a:p>
          <a:p xmlns:a="http://schemas.openxmlformats.org/drawingml/2006/main">
            <a:r>
              <a:t>Draw two buckets and count by hand. Name the intended output grain before writing the aggregation.</a:t>
            </a:r>
          </a:p>
          <a:p xmlns:a="http://schemas.openxmlformats.org/drawingml/2006/main">
            <a:r>
              <a:t/>
            </a:r>
          </a:p>
          <a:p xmlns:a="http://schemas.openxmlformats.org/drawingml/2006/main">
            <a:r>
              <a:t>POINT TO THE DEFINITION</a:t>
            </a:r>
          </a:p>
          <a:p xmlns:a="http://schemas.openxmlformats.org/drawingml/2006/main">
            <a:r>
              <a:t>groupby and aggregation: groupby collects rows with the same label. An aggregation such as sum or mean returns a summary for each group.</a:t>
            </a:r>
          </a:p>
          <a:p xmlns:a="http://schemas.openxmlformats.org/drawingml/2006/main">
            <a:r>
              <a:t/>
            </a:r>
          </a:p>
          <a:p xmlns:a="http://schemas.openxmlformats.org/drawingml/2006/main">
            <a:r>
              <a:t>NEXT</a:t>
            </a:r>
          </a:p>
          <a:p xmlns:a="http://schemas.openxmlformats.org/drawingml/2006/main">
            <a:r>
              <a:t>Selection and grouping answer different questions.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Calculate one total for each building.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Calculate one total for each building</a:t>
            </a:r>
          </a:p>
          <a:p xmlns:a="http://schemas.openxmlformats.org/drawingml/2006/main">
            <a:r>
              <a:t/>
            </a:r>
          </a:p>
          <a:p xmlns:a="http://schemas.openxmlformats.org/drawingml/2006/main">
            <a:r>
              <a:t>CONNECT</a:t>
            </a:r>
          </a:p>
          <a:p xmlns:a="http://schemas.openxmlformats.org/drawingml/2006/main">
            <a:r>
              <a:t>Build on groupby and aggregation. Explain why this example is needed before running it.</a:t>
            </a:r>
          </a:p>
          <a:p xmlns:a="http://schemas.openxmlformats.org/drawingml/2006/main">
            <a:r>
              <a:t/>
            </a:r>
          </a:p>
          <a:p xmlns:a="http://schemas.openxmlformats.org/drawingml/2006/main">
            <a:r>
              <a:t>EXPLAIN</a:t>
            </a:r>
          </a:p>
          <a:p xmlns:a="http://schemas.openxmlformats.org/drawingml/2006/main">
            <a:r>
              <a:t>Expected: A totals 6 kWh; B totals 12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Calculate one total for each building</a:t>
            </a:r>
          </a:p>
          <a:p xmlns:a="http://schemas.openxmlformats.org/drawingml/2006/main">
            <a:r>
              <a:t/>
            </a:r>
          </a:p>
          <a:p xmlns:a="http://schemas.openxmlformats.org/drawingml/2006/main">
            <a:r>
              <a:t>CONNECT</a:t>
            </a:r>
          </a:p>
          <a:p xmlns:a="http://schemas.openxmlformats.org/drawingml/2006/main">
            <a:r>
              <a:t>Build on the preceding slide: A chained expression is several small steps.</a:t>
            </a:r>
          </a:p>
          <a:p xmlns:a="http://schemas.openxmlformats.org/drawingml/2006/main">
            <a:r>
              <a:t/>
            </a:r>
          </a:p>
          <a:p xmlns:a="http://schemas.openxmlformats.org/drawingml/2006/main">
            <a:r>
              <a:t>LECTURER CUE</a:t>
            </a:r>
          </a:p>
          <a:p xmlns:a="http://schemas.openxmlformats.org/drawingml/2006/main">
            <a:r>
              <a:t>Expected: A totals 6 kWh; B totals 12 kWh.</a:t>
            </a:r>
          </a:p>
          <a:p xmlns:a="http://schemas.openxmlformats.org/drawingml/2006/main">
            <a:r>
              <a:t/>
            </a:r>
          </a:p>
          <a:p xmlns:a="http://schemas.openxmlformats.org/drawingml/2006/main">
            <a:r>
              <a:t>Complete practice code:</a:t>
            </a:r>
          </a:p>
          <a:p xmlns:a="http://schemas.openxmlformats.org/drawingml/2006/main">
            <a:r>
              <a:t>print(df.groupby("building")["kwh"].sum())</a:t>
            </a:r>
          </a:p>
          <a:p xmlns:a="http://schemas.openxmlformats.org/drawingml/2006/main">
            <a:r>
              <a:t/>
            </a:r>
          </a:p>
          <a:p xmlns:a="http://schemas.openxmlformats.org/drawingml/2006/main">
            <a:r>
              <a:t>EXPLAIN IN ORDINARY WORDS</a:t>
            </a:r>
          </a:p>
          <a:p xmlns:a="http://schemas.openxmlformats.org/drawingml/2006/main">
            <a:r>
              <a:t>Grouping puts rows sharing a key into buckets, then computes a result for each bucket. WHERE filters rows before SQL grouping; HAVING filters grouped results.</a:t>
            </a:r>
          </a:p>
          <a:p xmlns:a="http://schemas.openxmlformats.org/drawingml/2006/main">
            <a:r>
              <a:t/>
            </a:r>
          </a:p>
          <a:p xmlns:a="http://schemas.openxmlformats.org/drawingml/2006/main">
            <a:r>
              <a:t>CHECK AND EXPECTED ANSWER</a:t>
            </a:r>
          </a:p>
          <a:p xmlns:a="http://schemas.openxmlformats.org/drawingml/2006/main">
            <a:r>
              <a:t>Which condition keeps only groups with more than five rows? HAVING COUNT(*) &gt; 5.</a:t>
            </a:r>
          </a:p>
          <a:p xmlns:a="http://schemas.openxmlformats.org/drawingml/2006/main">
            <a:r>
              <a:t/>
            </a:r>
          </a:p>
          <a:p xmlns:a="http://schemas.openxmlformats.org/drawingml/2006/main">
            <a:r>
              <a:t>IF LEARNERS ARE STUCK</a:t>
            </a:r>
          </a:p>
          <a:p xmlns:a="http://schemas.openxmlformats.org/drawingml/2006/main">
            <a:r>
              <a:t>Draw two buckets and count by hand. Name the intended output grain before writing the aggregation.</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Square brackets create a list or select an item.</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Expected output.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Expected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pandas tables and summaries results</a:t>
            </a:r>
          </a:p>
          <a:p xmlns:a="http://schemas.openxmlformats.org/drawingml/2006/main">
            <a:r>
              <a:t/>
            </a:r>
          </a:p>
          <a:p xmlns:a="http://schemas.openxmlformats.org/drawingml/2006/main">
            <a:r>
              <a:t>CONNECT</a:t>
            </a:r>
          </a:p>
          <a:p xmlns:a="http://schemas.openxmlformats.org/drawingml/2006/main">
            <a:r>
              <a:t>Build on Calculate one total for each building. Explain why this example is needed before running it.</a:t>
            </a:r>
          </a:p>
          <a:p xmlns:a="http://schemas.openxmlformats.org/drawingml/2006/main">
            <a:r>
              <a:t/>
            </a:r>
          </a:p>
          <a:p xmlns:a="http://schemas.openxmlformats.org/drawingml/2006/main">
            <a:r>
              <a:t>EXPLAIN</a:t>
            </a:r>
          </a:p>
          <a:p xmlns:a="http://schemas.openxmlformats.org/drawingml/2006/main">
            <a:r>
              <a:t>Mean 4.5. The filter keeps B rows with 5 and 7. Group totals: A = 6, B = 12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Expected output</a:t>
            </a:r>
          </a:p>
          <a:p xmlns:a="http://schemas.openxmlformats.org/drawingml/2006/main">
            <a:r>
              <a:t/>
            </a:r>
          </a:p>
          <a:p xmlns:a="http://schemas.openxmlformats.org/drawingml/2006/main">
            <a:r>
              <a:t>CONNECT</a:t>
            </a:r>
          </a:p>
          <a:p xmlns:a="http://schemas.openxmlformats.org/drawingml/2006/main">
            <a:r>
              <a:t>Build on the preceding slide: Calculate one total for each building.</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NEXT</a:t>
            </a:r>
          </a:p>
          <a:p xmlns:a="http://schemas.openxmlformats.org/drawingml/2006/main">
            <a:r>
              <a:t>Unique labels and the largest group.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Reading a chain one operation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Reading a chain one operation at a time</a:t>
            </a:r>
          </a:p>
          <a:p xmlns:a="http://schemas.openxmlformats.org/drawingml/2006/main">
            <a:r>
              <a:t/>
            </a:r>
          </a:p>
          <a:p xmlns:a="http://schemas.openxmlformats.org/drawingml/2006/main">
            <a:r>
              <a:t>CONNECT</a:t>
            </a:r>
          </a:p>
          <a:p xmlns:a="http://schemas.openxmlformats.org/drawingml/2006/main">
            <a:r>
              <a:t>Build on pandas tables and summaries results. Explain why this example is needed before running it.</a:t>
            </a:r>
          </a:p>
          <a:p xmlns:a="http://schemas.openxmlformats.org/drawingml/2006/main">
            <a:r>
              <a:t/>
            </a:r>
          </a:p>
          <a:p xmlns:a="http://schemas.openxmlformats.org/drawingml/2006/main">
            <a:r>
              <a:t>EXPLAIN</a:t>
            </a:r>
          </a:p>
          <a:p xmlns:a="http://schemas.openxmlformats.org/drawingml/2006/main">
            <a:r>
              <a:t>df.groupby("building") groups rows by their building labels. ["kwh"] selects the energy values within each group. .sum() totals them.</a:t>
            </a:r>
          </a:p>
          <a:p xmlns:a="http://schemas.openxmlformats.org/drawingml/2006/main">
            <a:r>
              <a:t/>
            </a:r>
          </a:p>
          <a:p xmlns:a="http://schemas.openxmlformats.org/drawingml/2006/main">
            <a:r>
              <a:t>Store this result in totals. totals.idxmax() returns the label with the largest total. These are consecutive operations on the result of the previous step.</a:t>
            </a:r>
          </a:p>
          <a:p xmlns:a="http://schemas.openxmlformats.org/drawingml/2006/main">
            <a:r>
              <a:t/>
            </a:r>
          </a:p>
          <a:p xmlns:a="http://schemas.openxmlformats.org/drawingml/2006/main">
            <a:r>
              <a:t>LECTURER DETAIL</a:t>
            </a:r>
          </a:p>
          <a:p xmlns:a="http://schemas.openxmlformats.org/drawingml/2006/main">
            <a:r>
              <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Unique labels and the largest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Unique labels and the largest group</a:t>
            </a:r>
          </a:p>
          <a:p xmlns:a="http://schemas.openxmlformats.org/drawingml/2006/main">
            <a:r>
              <a:t/>
            </a:r>
          </a:p>
          <a:p xmlns:a="http://schemas.openxmlformats.org/drawingml/2006/main">
            <a:r>
              <a:t>CONNECT</a:t>
            </a:r>
          </a:p>
          <a:p xmlns:a="http://schemas.openxmlformats.org/drawingml/2006/main">
            <a:r>
              <a:t>Build on Reading a chain one operation at a time. Explain why this example is needed before running it.</a:t>
            </a:r>
          </a:p>
          <a:p xmlns:a="http://schemas.openxmlformats.org/drawingml/2006/main">
            <a:r>
              <a:t/>
            </a:r>
          </a:p>
          <a:p xmlns:a="http://schemas.openxmlformats.org/drawingml/2006/main">
            <a:r>
              <a:t>EXPLAIN</a:t>
            </a:r>
          </a:p>
          <a:p xmlns:a="http://schemas.openxmlformats.org/drawingml/2006/main">
            <a:r>
              <a:t>nunique counts distinct labels, not rows. idxmax returns the label of the largest total.</a:t>
            </a:r>
          </a:p>
          <a:p xmlns:a="http://schemas.openxmlformats.org/drawingml/2006/main">
            <a:r>
              <a:t/>
            </a:r>
          </a:p>
          <a:p xmlns:a="http://schemas.openxmlformats.org/drawingml/2006/main">
            <a:r>
              <a:t>Here there is no tie.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Unique labels and the largest group</a:t>
            </a:r>
          </a:p>
          <a:p xmlns:a="http://schemas.openxmlformats.org/drawingml/2006/main">
            <a:r>
              <a:t/>
            </a:r>
          </a:p>
          <a:p xmlns:a="http://schemas.openxmlformats.org/drawingml/2006/main">
            <a:r>
              <a:t>CONNECT</a:t>
            </a:r>
          </a:p>
          <a:p xmlns:a="http://schemas.openxmlformats.org/drawingml/2006/main">
            <a:r>
              <a:t>Build on the preceding slide: Expected output.</a:t>
            </a:r>
          </a:p>
          <a:p xmlns:a="http://schemas.openxmlformats.org/drawingml/2006/main">
            <a:r>
              <a:t/>
            </a:r>
          </a:p>
          <a:p xmlns:a="http://schemas.openxmlformats.org/drawingml/2006/main">
            <a:r>
              <a:t>LECTURER CUE</a:t>
            </a:r>
          </a:p>
          <a:p xmlns:a="http://schemas.openxmlformats.org/drawingml/2006/main">
            <a:r>
              <a:t>nunique counts distinct labels, not rows. idxmax returns the label of the largest total. Here there is no tie.</a:t>
            </a:r>
          </a:p>
          <a:p xmlns:a="http://schemas.openxmlformats.org/drawingml/2006/main">
            <a:r>
              <a:t/>
            </a:r>
          </a:p>
          <a:p xmlns:a="http://schemas.openxmlformats.org/drawingml/2006/main">
            <a:r>
              <a:t>EXPLAIN IN ORDINARY WORDS</a:t>
            </a:r>
          </a:p>
          <a:p xmlns:a="http://schemas.openxmlformats.org/drawingml/2006/main">
            <a:r>
              <a:t>A function is a named set of instructions. def defines it; a call runs it with inputs. Parameters are input names, arguments are supplied values, and return sends the result back.</a:t>
            </a:r>
          </a:p>
          <a:p xmlns:a="http://schemas.openxmlformats.org/drawingml/2006/main">
            <a:r>
              <a:t/>
            </a:r>
          </a:p>
          <a:p xmlns:a="http://schemas.openxmlformats.org/drawingml/2006/main">
            <a:r>
              <a:t>CHECK AND EXPECTED ANSWER</a:t>
            </a:r>
          </a:p>
          <a:p xmlns:a="http://schemas.openxmlformats.org/drawingml/2006/main">
            <a:r>
              <a:t>Does print(8) return the number 8 to the caller? No; it displays 8 and returns None. A function needing a numeric result should return it.</a:t>
            </a:r>
          </a:p>
          <a:p xmlns:a="http://schemas.openxmlformats.org/drawingml/2006/main">
            <a:r>
              <a:t/>
            </a:r>
          </a:p>
          <a:p xmlns:a="http://schemas.openxmlformats.org/drawingml/2006/main">
            <a:r>
              <a:t>IF LEARNERS ARE STUCK</a:t>
            </a:r>
          </a:p>
          <a:p xmlns:a="http://schemas.openxmlformats.org/drawingml/2006/main">
            <a:r>
              <a:t>Trace one call: bind input names, run the indented body, reach return, then put the returned result back into the calling expression.</a:t>
            </a:r>
          </a:p>
          <a:p xmlns:a="http://schemas.openxmlformats.org/drawingml/2006/main">
            <a:r>
              <a:t/>
            </a:r>
          </a:p>
          <a:p xmlns:a="http://schemas.openxmlformats.org/drawingml/2006/main">
            <a:r>
              <a:t>NEXT</a:t>
            </a:r>
          </a:p>
          <a:p xmlns:a="http://schemas.openxmlformats.org/drawingml/2006/main">
            <a:r>
              <a:t>Unique labels and the largest group in Python.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Unique labels and the largest group in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Unique labels and the largest group in Python</a:t>
            </a:r>
          </a:p>
          <a:p xmlns:a="http://schemas.openxmlformats.org/drawingml/2006/main">
            <a:r>
              <a:t/>
            </a:r>
          </a:p>
          <a:p xmlns:a="http://schemas.openxmlformats.org/drawingml/2006/main">
            <a:r>
              <a:t>CONNECT</a:t>
            </a:r>
          </a:p>
          <a:p xmlns:a="http://schemas.openxmlformats.org/drawingml/2006/main">
            <a:r>
              <a:t>Build on Unique labels and the largest group. Explain why this example is needed before running it.</a:t>
            </a:r>
          </a:p>
          <a:p xmlns:a="http://schemas.openxmlformats.org/drawingml/2006/main">
            <a:r>
              <a:t/>
            </a:r>
          </a:p>
          <a:p xmlns:a="http://schemas.openxmlformats.org/drawingml/2006/main">
            <a:r>
              <a:t>EXPLAIN</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Unique labels and the largest group in Python</a:t>
            </a:r>
          </a:p>
          <a:p xmlns:a="http://schemas.openxmlformats.org/drawingml/2006/main">
            <a:r>
              <a:t/>
            </a:r>
          </a:p>
          <a:p xmlns:a="http://schemas.openxmlformats.org/drawingml/2006/main">
            <a:r>
              <a:t>CONNECT</a:t>
            </a:r>
          </a:p>
          <a:p xmlns:a="http://schemas.openxmlformats.org/drawingml/2006/main">
            <a:r>
              <a:t>Build on the preceding slide: Unique labels and the largest group.</a:t>
            </a:r>
          </a:p>
          <a:p xmlns:a="http://schemas.openxmlformats.org/drawingml/2006/main">
            <a:r>
              <a:t/>
            </a:r>
          </a:p>
          <a:p xmlns:a="http://schemas.openxmlformats.org/drawingml/2006/main">
            <a:r>
              <a:t>LECTURER CUE</a:t>
            </a:r>
          </a:p>
          <a:p xmlns:a="http://schemas.openxmlformats.org/drawingml/2006/main">
            <a:r>
              <a:t>nunique counts distinct labels, not rows. idxmax returns the label of the largest total. Here there is no tie.</a:t>
            </a:r>
          </a:p>
          <a:p xmlns:a="http://schemas.openxmlformats.org/drawingml/2006/main">
            <a:r>
              <a:t/>
            </a:r>
          </a:p>
          <a:p xmlns:a="http://schemas.openxmlformats.org/drawingml/2006/main">
            <a:r>
              <a:t>Complete practice code:</a:t>
            </a:r>
          </a:p>
          <a:p xmlns:a="http://schemas.openxmlformats.org/drawingml/2006/main">
            <a:r>
              <a:t>print(df["building"].nunique())</a:t>
            </a:r>
          </a:p>
          <a:p xmlns:a="http://schemas.openxmlformats.org/drawingml/2006/main">
            <a:r>
              <a:t>totals = df.groupby("building")["kwh"].sum()</a:t>
            </a:r>
          </a:p>
          <a:p xmlns:a="http://schemas.openxmlformats.org/drawingml/2006/main">
            <a:r>
              <a:t>print(totals.idxmax())</a:t>
            </a:r>
          </a:p>
          <a:p xmlns:a="http://schemas.openxmlformats.org/drawingml/2006/main">
            <a:r>
              <a:t/>
            </a:r>
          </a:p>
          <a:p xmlns:a="http://schemas.openxmlformats.org/drawingml/2006/main">
            <a:r>
              <a:t>EXPLAIN IN ORDINARY WORDS</a:t>
            </a:r>
          </a:p>
          <a:p xmlns:a="http://schemas.openxmlformats.org/drawingml/2006/main">
            <a:r>
              <a:t>Grouping puts rows sharing a key into buckets, then computes a result for each bucket. WHERE filters rows before SQL grouping; HAVING filters grouped results.</a:t>
            </a:r>
          </a:p>
          <a:p xmlns:a="http://schemas.openxmlformats.org/drawingml/2006/main">
            <a:r>
              <a:t/>
            </a:r>
          </a:p>
          <a:p xmlns:a="http://schemas.openxmlformats.org/drawingml/2006/main">
            <a:r>
              <a:t>CHECK AND EXPECTED ANSWER</a:t>
            </a:r>
          </a:p>
          <a:p xmlns:a="http://schemas.openxmlformats.org/drawingml/2006/main">
            <a:r>
              <a:t>Which condition keeps only groups with more than five rows? HAVING COUNT(*) &gt; 5.</a:t>
            </a:r>
          </a:p>
          <a:p xmlns:a="http://schemas.openxmlformats.org/drawingml/2006/main">
            <a:r>
              <a:t/>
            </a:r>
          </a:p>
          <a:p xmlns:a="http://schemas.openxmlformats.org/drawingml/2006/main">
            <a:r>
              <a:t>IF LEARNERS ARE STUCK</a:t>
            </a:r>
          </a:p>
          <a:p xmlns:a="http://schemas.openxmlformats.org/drawingml/2006/main">
            <a:r>
              <a:t>Draw two buckets and count by hand. Name the intended output grain before writing the aggregation.</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Square brackets create a list or select an item.</a:t>
            </a:r>
          </a:p>
          <a:p xmlns:a="http://schemas.openxmlformats.org/drawingml/2006/main">
            <a:r>
              <a:t>= assigns the value on the right to the name on the left.</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Create a column from two existing columns.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Create a column from two existing columns.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Create a column from two existing columns</a:t>
            </a:r>
          </a:p>
          <a:p xmlns:a="http://schemas.openxmlformats.org/drawingml/2006/main">
            <a:r>
              <a:t/>
            </a:r>
          </a:p>
          <a:p xmlns:a="http://schemas.openxmlformats.org/drawingml/2006/main">
            <a:r>
              <a:t>CONNECT</a:t>
            </a:r>
          </a:p>
          <a:p xmlns:a="http://schemas.openxmlformats.org/drawingml/2006/main">
            <a:r>
              <a:t>Build on Unique labels and the largest group in Python. Explain why this example is needed before running it.</a:t>
            </a:r>
          </a:p>
          <a:p xmlns:a="http://schemas.openxmlformats.org/drawingml/2006/main">
            <a:r>
              <a:t/>
            </a:r>
          </a:p>
          <a:p xmlns:a="http://schemas.openxmlformats.org/drawingml/2006/main">
            <a:r>
              <a:t>EXPLAIN</a:t>
            </a:r>
          </a:p>
          <a:p xmlns:a="http://schemas.openxmlformats.org/drawingml/2006/main">
            <a:r>
              <a:t>A new column can store a calculation for every row. Division pairs the values in matching rows.</a:t>
            </a:r>
          </a:p>
          <a:p xmlns:a="http://schemas.openxmlformats.org/drawingml/2006/main">
            <a:r>
              <a:t/>
            </a:r>
          </a:p>
          <a:p xmlns:a="http://schemas.openxmlformats.org/drawingml/2006/main">
            <a:r>
              <a:t>For this invented table all energy values are positive. UGX is Uganda shillings. Cost divided by energy has units UGX/kWh.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Create a column from two existing columns</a:t>
            </a:r>
          </a:p>
          <a:p xmlns:a="http://schemas.openxmlformats.org/drawingml/2006/main">
            <a:r>
              <a:t/>
            </a:r>
          </a:p>
          <a:p xmlns:a="http://schemas.openxmlformats.org/drawingml/2006/main">
            <a:r>
              <a:t>CONNECT</a:t>
            </a:r>
          </a:p>
          <a:p xmlns:a="http://schemas.openxmlformats.org/drawingml/2006/main">
            <a:r>
              <a:t>Build on the preceding slide: Unique labels and the largest group in Python.</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NEXT</a:t>
            </a:r>
          </a:p>
          <a:p xmlns:a="http://schemas.openxmlformats.org/drawingml/2006/main">
            <a:r>
              <a:t>An energy rate is cost divided by energy.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An energy rate is cost divided by energy.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An energy rate is cost divided by energy</a:t>
            </a:r>
          </a:p>
          <a:p xmlns:a="http://schemas.openxmlformats.org/drawingml/2006/main">
            <a:r>
              <a:t/>
            </a:r>
          </a:p>
          <a:p xmlns:a="http://schemas.openxmlformats.org/drawingml/2006/main">
            <a:r>
              <a:t>CONNECT</a:t>
            </a:r>
          </a:p>
          <a:p xmlns:a="http://schemas.openxmlformats.org/drawingml/2006/main">
            <a:r>
              <a:t>Build on Create a column from two existing columns. Explain why this example is needed before running it.</a:t>
            </a:r>
          </a:p>
          <a:p xmlns:a="http://schemas.openxmlformats.org/drawingml/2006/main">
            <a:r>
              <a:t/>
            </a:r>
          </a:p>
          <a:p xmlns:a="http://schemas.openxmlformats.org/drawingml/2006/main">
            <a:r>
              <a:t>EXPLAIN</a:t>
            </a:r>
          </a:p>
          <a:p xmlns:a="http://schemas.openxmlformats.org/drawingml/2006/main">
            <a:r>
              <a:t>Expected rates: 500, 600, 700 and 800 UGX/kWh. Keep units in column names.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An energy rate is cost divided by energy</a:t>
            </a:r>
          </a:p>
          <a:p xmlns:a="http://schemas.openxmlformats.org/drawingml/2006/main">
            <a:r>
              <a:t/>
            </a:r>
          </a:p>
          <a:p xmlns:a="http://schemas.openxmlformats.org/drawingml/2006/main">
            <a:r>
              <a:t>CONNECT</a:t>
            </a:r>
          </a:p>
          <a:p xmlns:a="http://schemas.openxmlformats.org/drawingml/2006/main">
            <a:r>
              <a:t>Build on the preceding slide: Create a column from two existing columns.</a:t>
            </a:r>
          </a:p>
          <a:p xmlns:a="http://schemas.openxmlformats.org/drawingml/2006/main">
            <a:r>
              <a:t/>
            </a:r>
          </a:p>
          <a:p xmlns:a="http://schemas.openxmlformats.org/drawingml/2006/main">
            <a:r>
              <a:t>LECTURER CUE</a:t>
            </a:r>
          </a:p>
          <a:p xmlns:a="http://schemas.openxmlformats.org/drawingml/2006/main">
            <a:r>
              <a:t>Expected rates: 500, 600, 700 and 800 UGX/kWh. Keep units in column names.</a:t>
            </a:r>
          </a:p>
          <a:p xmlns:a="http://schemas.openxmlformats.org/drawingml/2006/main">
            <a:r>
              <a:t/>
            </a:r>
          </a:p>
          <a:p xmlns:a="http://schemas.openxmlformats.org/drawingml/2006/main">
            <a:r>
              <a:t>Complete practice code:</a:t>
            </a:r>
          </a:p>
          <a:p xmlns:a="http://schemas.openxmlformats.org/drawingml/2006/main">
            <a:r>
              <a:t>df["cost_ugx"] = [1000, 2400, 3500, 5600]</a:t>
            </a:r>
          </a:p>
          <a:p xmlns:a="http://schemas.openxmlformats.org/drawingml/2006/main">
            <a:r>
              <a:t>df["rate_ugx_per_kwh"] = df["cost_ugx"] / df["kwh"]</a:t>
            </a:r>
          </a:p>
          <a:p xmlns:a="http://schemas.openxmlformats.org/drawingml/2006/main">
            <a:r>
              <a:t>print(df["rate_ugx_per_kwh"])</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Square brackets create a list or select an item.</a:t>
            </a:r>
          </a:p>
          <a:p xmlns:a="http://schemas.openxmlformats.org/drawingml/2006/main">
            <a:r>
              <a:t>= assigns the value on the right to the name on the left.</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NEXT</a:t>
            </a:r>
          </a:p>
          <a:p xmlns:a="http://schemas.openxmlformats.org/drawingml/2006/main">
            <a:r>
              <a:t>Load the assignment table before analysing it.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Load the assignment table before analysing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Load the assignment table before analysing it</a:t>
            </a:r>
          </a:p>
          <a:p xmlns:a="http://schemas.openxmlformats.org/drawingml/2006/main">
            <a:r>
              <a:t/>
            </a:r>
          </a:p>
          <a:p xmlns:a="http://schemas.openxmlformats.org/drawingml/2006/main">
            <a:r>
              <a:t>CONNECT</a:t>
            </a:r>
          </a:p>
          <a:p xmlns:a="http://schemas.openxmlformats.org/drawingml/2006/main">
            <a:r>
              <a:t>Build on An energy rate is cost divided by energy. Explain why this example is needed before running it.</a:t>
            </a:r>
          </a:p>
          <a:p xmlns:a="http://schemas.openxmlformats.org/drawingml/2006/main">
            <a:r>
              <a:t/>
            </a:r>
          </a:p>
          <a:p xmlns:a="http://schemas.openxmlformats.org/drawingml/2006/main">
            <a:r>
              <a:t>EXPLAIN</a:t>
            </a:r>
          </a:p>
          <a:p xmlns:a="http://schemas.openxmlformats.org/drawingml/2006/main">
            <a:r>
              <a:t>Upload campus_energy.csv to the current runtime first. read_csv reads it into a new DataFrame.</a:t>
            </a:r>
          </a:p>
          <a:p xmlns:a="http://schemas.openxmlformats.org/drawingml/2006/main">
            <a:r>
              <a:t/>
            </a:r>
          </a:p>
          <a:p xmlns:a="http://schemas.openxmlformats.org/drawingml/2006/main">
            <a:r>
              <a:t>head() displays the first five rows; shape gives row and column counts; dtypes shows column data types.</a:t>
            </a:r>
          </a:p>
          <a:p xmlns:a="http://schemas.openxmlformats.org/drawingml/2006/main">
            <a:r>
              <a:t/>
            </a:r>
          </a:p>
          <a:p xmlns:a="http://schemas.openxmlformats.org/drawingml/2006/main">
            <a:r>
              <a:t>We call this issued_table to keep it separate from the invented four-row df used above.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Load the assignment table before analysing it</a:t>
            </a:r>
          </a:p>
          <a:p xmlns:a="http://schemas.openxmlformats.org/drawingml/2006/main">
            <a:r>
              <a:t/>
            </a:r>
          </a:p>
          <a:p xmlns:a="http://schemas.openxmlformats.org/drawingml/2006/main">
            <a:r>
              <a:t>CONNECT</a:t>
            </a:r>
          </a:p>
          <a:p xmlns:a="http://schemas.openxmlformats.org/drawingml/2006/main">
            <a:r>
              <a:t>Build on the preceding slide: An energy rate is cost divided by energy.</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TYPE NUANCE</a:t>
            </a:r>
          </a:p>
          <a:p xmlns:a="http://schemas.openxmlformats.org/drawingml/2006/main">
            <a:r>
              <a:t>An object dtype alone does not prove that a column contains bad numeric values; it can hold Python objects, including numbers. Inspect values and conversion results. Missing values may display as NaN, None, NaT or pandas NA depending on dtype.</a:t>
            </a:r>
          </a:p>
          <a:p xmlns:a="http://schemas.openxmlformats.org/drawingml/2006/main">
            <a:r>
              <a:t/>
            </a:r>
          </a:p>
          <a:p xmlns:a="http://schemas.openxmlformats.org/drawingml/2006/main">
            <a:r>
              <a:t>NEXT</a:t>
            </a:r>
          </a:p>
          <a:p xmlns:a="http://schemas.openxmlformats.org/drawingml/2006/main">
            <a:r>
              <a:t>Inspect the supplied energy file.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Inspect the supplied energy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Inspect the supplied energy file</a:t>
            </a:r>
          </a:p>
          <a:p xmlns:a="http://schemas.openxmlformats.org/drawingml/2006/main">
            <a:r>
              <a:t/>
            </a:r>
          </a:p>
          <a:p xmlns:a="http://schemas.openxmlformats.org/drawingml/2006/main">
            <a:r>
              <a:t>CONNECT</a:t>
            </a:r>
          </a:p>
          <a:p xmlns:a="http://schemas.openxmlformats.org/drawingml/2006/main">
            <a:r>
              <a:t>Build on Load the assignment table before analysing it. Explain why this example is needed before running it.</a:t>
            </a:r>
          </a:p>
          <a:p xmlns:a="http://schemas.openxmlformats.org/drawingml/2006/main">
            <a:r>
              <a:t/>
            </a:r>
          </a:p>
          <a:p xmlns:a="http://schemas.openxmlformats.org/drawingml/2006/main">
            <a:r>
              <a:t>EXPLAIN</a:t>
            </a:r>
          </a:p>
          <a:p xmlns:a="http://schemas.openxmlformats.org/drawingml/2006/main">
            <a:r>
              <a:t>Check column names, data types and units before attempting the six issued tasks.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Inspect the supplied energy file</a:t>
            </a:r>
          </a:p>
          <a:p xmlns:a="http://schemas.openxmlformats.org/drawingml/2006/main">
            <a:r>
              <a:t/>
            </a:r>
          </a:p>
          <a:p xmlns:a="http://schemas.openxmlformats.org/drawingml/2006/main">
            <a:r>
              <a:t>CONNECT</a:t>
            </a:r>
          </a:p>
          <a:p xmlns:a="http://schemas.openxmlformats.org/drawingml/2006/main">
            <a:r>
              <a:t>Build on the preceding slide: Load the assignment table before analysing it.</a:t>
            </a:r>
          </a:p>
          <a:p xmlns:a="http://schemas.openxmlformats.org/drawingml/2006/main">
            <a:r>
              <a:t/>
            </a:r>
          </a:p>
          <a:p xmlns:a="http://schemas.openxmlformats.org/drawingml/2006/main">
            <a:r>
              <a:t>LECTURER CUE</a:t>
            </a:r>
          </a:p>
          <a:p xmlns:a="http://schemas.openxmlformats.org/drawingml/2006/main">
            <a:r>
              <a:t>Check column names, data types and units before attempting the six issued tasks.</a:t>
            </a:r>
          </a:p>
          <a:p xmlns:a="http://schemas.openxmlformats.org/drawingml/2006/main">
            <a:r>
              <a:t/>
            </a:r>
          </a:p>
          <a:p xmlns:a="http://schemas.openxmlformats.org/drawingml/2006/main">
            <a:r>
              <a:t>Complete practice code:</a:t>
            </a:r>
          </a:p>
          <a:p xmlns:a="http://schemas.openxmlformats.org/drawingml/2006/main">
            <a:r>
              <a:t>issued_table = pd.read_csv("campus_energy.csv")</a:t>
            </a:r>
          </a:p>
          <a:p xmlns:a="http://schemas.openxmlformats.org/drawingml/2006/main">
            <a:r>
              <a:t>print(issued_table.head())</a:t>
            </a:r>
          </a:p>
          <a:p xmlns:a="http://schemas.openxmlformats.org/drawingml/2006/main">
            <a:r>
              <a:t>print(issued_table.shape)</a:t>
            </a:r>
          </a:p>
          <a:p xmlns:a="http://schemas.openxmlformats.org/drawingml/2006/main">
            <a:r>
              <a:t>print(issued_table.dtypes)</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WALK THROUGH THIS CODE</a:t>
            </a:r>
          </a:p>
          <a:p xmlns:a="http://schemas.openxmlformats.org/drawingml/2006/main">
            <a:r>
              <a:t>print displays a value below the cell.</a:t>
            </a:r>
          </a:p>
          <a:p xmlns:a="http://schemas.openxmlformats.org/drawingml/2006/main">
            <a:r>
              <a:t>= assigns the value on the right to the name on the left.</a:t>
            </a:r>
          </a:p>
          <a:p xmlns:a="http://schemas.openxmlformats.org/drawingml/2006/main">
            <a:r>
              <a:t>Read the displayed lines in order, with the preceding code block if this example continues. Ask for the next value before running. The complete matching example is in guided_practice.ipynb; do not type a fragment into a new empty notebook.</a:t>
            </a:r>
          </a:p>
          <a:p xmlns:a="http://schemas.openxmlformats.org/drawingml/2006/main">
            <a:r>
              <a:t/>
            </a:r>
          </a:p>
          <a:p xmlns:a="http://schemas.openxmlformats.org/drawingml/2006/main">
            <a:r>
              <a:t>TYPE NUANCE</a:t>
            </a:r>
          </a:p>
          <a:p xmlns:a="http://schemas.openxmlformats.org/drawingml/2006/main">
            <a:r>
              <a:t>An object dtype alone does not prove that a column contains bad numeric values; it can hold Python objects, including numbers. Inspect values and conversion results. Missing values may display as NaN, None, NaT or pandas NA depending on dtype.</a:t>
            </a:r>
          </a:p>
          <a:p xmlns:a="http://schemas.openxmlformats.org/drawingml/2006/main">
            <a:r>
              <a:t/>
            </a:r>
          </a:p>
          <a:p xmlns:a="http://schemas.openxmlformats.org/drawingml/2006/main">
            <a:r>
              <a:t>NEXT</a:t>
            </a:r>
          </a:p>
          <a:p xmlns:a="http://schemas.openxmlformats.org/drawingml/2006/main">
            <a:r>
              <a:t>You are groupby.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Revision example and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Build on Inspect the supplied energy file. Explain why this example is needed before running it.</a:t>
            </a:r>
          </a:p>
          <a:p xmlns:a="http://schemas.openxmlformats.org/drawingml/2006/main">
            <a:r>
              <a:t/>
            </a:r>
          </a:p>
          <a:p xmlns:a="http://schemas.openxmlformats.org/drawingml/2006/main">
            <a:r>
              <a:t>EXPLAIN</a:t>
            </a:r>
          </a:p>
          <a:p xmlns:a="http://schemas.openxmlformats.org/drawingml/2006/main">
            <a:r>
              <a:t>Example: Use &gt; 5 instead. Predict the surviving rows. Which building has the largest total?</a:t>
            </a:r>
          </a:p>
          <a:p xmlns:a="http://schemas.openxmlformats.org/drawingml/2006/main">
            <a:r>
              <a:t/>
            </a:r>
          </a:p>
          <a:p xmlns:a="http://schemas.openxmlformats.org/drawingml/2006/main">
            <a:r>
              <a:t>Answer: Only the row with 7 survives. Building B has the larger total, 12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Your turn</a:t>
            </a:r>
          </a:p>
          <a:p xmlns:a="http://schemas.openxmlformats.org/drawingml/2006/main">
            <a:r>
              <a:t/>
            </a:r>
          </a:p>
          <a:p xmlns:a="http://schemas.openxmlformats.org/drawingml/2006/main">
            <a:r>
              <a:t>CONNECT</a:t>
            </a:r>
          </a:p>
          <a:p xmlns:a="http://schemas.openxmlformats.org/drawingml/2006/main">
            <a:r>
              <a:t>Build on the preceding slide: What the activity shows.</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Only the row with 7 survives. Building B has the larger total, 12 kWh.</a:t>
            </a:r>
          </a:p>
          <a:p xmlns:a="http://schemas.openxmlformats.org/drawingml/2006/main">
            <a:r>
              <a:t/>
            </a:r>
          </a:p>
          <a:p xmlns:a="http://schemas.openxmlformats.org/drawingml/2006/main">
            <a:r>
              <a:t>DISCUSSION KEY FOR THIS SLIDE</a:t>
            </a:r>
          </a:p>
          <a:p xmlns:a="http://schemas.openxmlformats.org/drawingml/2006/main">
            <a:r>
              <a:t>DISCUSS THE REASONING</a:t>
            </a:r>
          </a:p>
          <a:p xmlns:a="http://schemas.openxmlformats.org/drawingml/2006/main">
            <a:r>
              <a:t>Practice discussion</a:t>
            </a:r>
          </a:p>
          <a:p xmlns:a="http://schemas.openxmlformats.org/drawingml/2006/main">
            <a:r>
              <a:t>Only the row with 7 survives. Building B has the larger total, 12 kWh.</a:t>
            </a:r>
          </a:p>
          <a:p xmlns:a="http://schemas.openxmlformats.org/drawingml/2006/main">
            <a:r>
              <a:t>Which step produced this result? What changes if one input changes?</a:t>
            </a:r>
          </a:p>
          <a:p xmlns:a="http://schemas.openxmlformats.org/drawingml/2006/main">
            <a:r>
              <a:t>CML3113   Week 5   32</a:t>
            </a:r>
          </a:p>
          <a:p xmlns:a="http://schemas.openxmlformats.org/drawingml/2006/main">
            <a:r>
              <a:t>Let learners attempt first; use this to explain the reasoning, not just reveal the answer.</a:t>
            </a:r>
          </a:p>
          <a:p xmlns:a="http://schemas.openxmlformats.org/drawingml/2006/main">
            <a:r>
              <a:t/>
            </a:r>
          </a:p>
          <a:p xmlns:a="http://schemas.openxmlformats.org/drawingml/2006/main">
            <a:r>
              <a:t>NEXT</a:t>
            </a:r>
          </a:p>
          <a:p xmlns:a="http://schemas.openxmlformats.org/drawingml/2006/main">
            <a:r>
              <a:t>Practice discussion.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Preparing for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Build on Revision example and answer. Explain why this example is needed before running it.</a:t>
            </a:r>
          </a:p>
          <a:p xmlns:a="http://schemas.openxmlformats.org/drawingml/2006/main">
            <a:r>
              <a:t/>
            </a:r>
          </a:p>
          <a:p xmlns:a="http://schemas.openxmlformats.org/drawingml/2006/main">
            <a:r>
              <a:t>EXPLAIN</a:t>
            </a:r>
          </a:p>
          <a:p xmlns:a="http://schemas.openxmlformats.org/drawingml/2006/main">
            <a:r>
              <a:t>A5 uses the supplied fictional campus_energy.csv, not a live Kaggle download.</a:t>
            </a:r>
          </a:p>
          <a:p xmlns:a="http://schemas.openxmlformats.org/drawingml/2006/main">
            <a:r>
              <a:t/>
            </a:r>
          </a:p>
          <a:p xmlns:a="http://schemas.openxmlformats.org/drawingml/2006/main">
            <a:r>
              <a:t>The six tasks use read_csv, nunique, division of columns, a &gt; filter, mean and grouped totals. idxmax returns the label of the largest value.</a:t>
            </a:r>
          </a:p>
          <a:p xmlns:a="http://schemas.openxmlformats.org/drawingml/2006/main">
            <a:r>
              <a:t/>
            </a:r>
          </a:p>
          <a:p xmlns:a="http://schemas.openxmlformats.org/drawingml/2006/main">
            <a:r>
              <a:t>A mean of individual rates gives each observation equal weight.</a:t>
            </a:r>
          </a:p>
          <a:p xmlns:a="http://schemas.openxmlformats.org/drawingml/2006/main">
            <a:r>
              <a:t/>
            </a:r>
          </a:p>
          <a:p xmlns:a="http://schemas.openxmlformats.org/drawingml/2006/main">
            <a:r>
              <a:t>Total cost divided by total energy weights by energy.</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Build on the preceding slide: Practice discussion.</a:t>
            </a:r>
          </a:p>
          <a:p xmlns:a="http://schemas.openxmlformats.org/drawingml/2006/main">
            <a:r>
              <a:t/>
            </a:r>
          </a:p>
          <a:p xmlns:a="http://schemas.openxmlformats.org/drawingml/2006/main">
            <a:r>
              <a:t>LECTURER CUE</a:t>
            </a:r>
          </a:p>
          <a:p xmlns:a="http://schemas.openxmlformats.org/drawingml/2006/main">
            <a:r>
              <a:t>A5 uses the supplied fictional campus_energy.csv, not a live Kaggle download. Teach read_csv, nunique, division of columns, &gt; filtering, mean and groupby(...).sum().idxmax() before the six public tasks. idxmax returns the label of the largest value. Explain how a rate differs from a total and how a mean of rates differs from a total-cost/total-energy ratio.</a:t>
            </a:r>
          </a:p>
          <a:p xmlns:a="http://schemas.openxmlformats.org/drawingml/2006/main">
            <a:r>
              <a:t/>
            </a:r>
          </a:p>
          <a:p xmlns:a="http://schemas.openxmlformats.org/drawingml/2006/main">
            <a:r>
              <a:t>EXPLAIN IN ORDINARY WORDS</a:t>
            </a:r>
          </a:p>
          <a:p xmlns:a="http://schemas.openxmlformats.org/drawingml/2006/main">
            <a:r>
              <a:t>A CSV is a text table. The header supplies column names. With csv.DictReader, values start as text, even if they look like numbers. A path tells Python where the file is.</a:t>
            </a:r>
          </a:p>
          <a:p xmlns:a="http://schemas.openxmlformats.org/drawingml/2006/main">
            <a:r>
              <a:t/>
            </a:r>
          </a:p>
          <a:p xmlns:a="http://schemas.openxmlformats.org/drawingml/2006/main">
            <a:r>
              <a:t>CHECK AND EXPECTED ANSWER</a:t>
            </a:r>
          </a:p>
          <a:p xmlns:a="http://schemas.openxmlformats.org/drawingml/2006/main">
            <a:r>
              <a:t>Can "2.5" from csv.DictReader be added as a number without conversion? No; convert valid numeric text first.</a:t>
            </a:r>
          </a:p>
          <a:p xmlns:a="http://schemas.openxmlformats.org/drawingml/2006/main">
            <a:r>
              <a:t/>
            </a:r>
          </a:p>
          <a:p xmlns:a="http://schemas.openxmlformats.org/drawingml/2006/main">
            <a:r>
              <a:t>IF LEARNERS ARE STUCK</a:t>
            </a:r>
          </a:p>
          <a:p xmlns:a="http://schemas.openxmlformats.org/drawingml/2006/main">
            <a:r>
              <a:t>Show the file in the runtime folder and compare its exact filename, case and column headers. Upload data again after a fresh Colab runtime.</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Data types and filters.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Data types and filters.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Data types and filters</a:t>
            </a:r>
          </a:p>
          <a:p xmlns:a="http://schemas.openxmlformats.org/drawingml/2006/main">
            <a:r>
              <a:t/>
            </a:r>
          </a:p>
          <a:p xmlns:a="http://schemas.openxmlformats.org/drawingml/2006/main">
            <a:r>
              <a:t>CONNECT</a:t>
            </a:r>
          </a:p>
          <a:p xmlns:a="http://schemas.openxmlformats.org/drawingml/2006/main">
            <a:r>
              <a:t>Build on Preparing for the assignment. Explain why this example is needed before running it.</a:t>
            </a:r>
          </a:p>
          <a:p xmlns:a="http://schemas.openxmlformats.org/drawingml/2006/main">
            <a:r>
              <a:t/>
            </a:r>
          </a:p>
          <a:p xmlns:a="http://schemas.openxmlformats.org/drawingml/2006/main">
            <a:r>
              <a:t>EXPLAIN</a:t>
            </a:r>
          </a:p>
          <a:p xmlns:a="http://schemas.openxmlformats.org/drawingml/2006/main">
            <a:r>
              <a:t>A Boolean mask is a list-like column of True/False values. len(mask) counts all rows; mask.sum() counts True entries.</a:t>
            </a:r>
          </a:p>
          <a:p xmlns:a="http://schemas.openxmlformats.org/drawingml/2006/main">
            <a:r>
              <a:t/>
            </a:r>
          </a:p>
          <a:p xmlns:a="http://schemas.openxmlformats.org/drawingml/2006/main">
            <a:r>
              <a:t>Strings sort as text, so "9" can rank above "100".</a:t>
            </a:r>
          </a:p>
          <a:p xmlns:a="http://schemas.openxmlformats.org/drawingml/2006/main">
            <a:r>
              <a:t/>
            </a:r>
          </a:p>
          <a:p xmlns:a="http://schemas.openxmlformats.org/drawingml/2006/main">
            <a:r>
              <a:t>Inspect numeric types before taking maxima.</a:t>
            </a:r>
          </a:p>
          <a:p xmlns:a="http://schemas.openxmlformats.org/drawingml/2006/main">
            <a:r>
              <a:t/>
            </a:r>
          </a:p>
          <a:p xmlns:a="http://schemas.openxmlformats.org/drawingml/2006/main">
            <a:r>
              <a:t>KeyError often means the column name does not match; check spelling, case and spaces. shape is (rows, columns).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Data types and filters</a:t>
            </a:r>
          </a:p>
          <a:p xmlns:a="http://schemas.openxmlformats.org/drawingml/2006/main">
            <a:r>
              <a:t/>
            </a:r>
          </a:p>
          <a:p xmlns:a="http://schemas.openxmlformats.org/drawingml/2006/main">
            <a:r>
              <a:t>CONNECT</a:t>
            </a:r>
          </a:p>
          <a:p xmlns:a="http://schemas.openxmlformats.org/drawingml/2006/main">
            <a:r>
              <a:t>Build on the preceding slide: Preparing for the assignment.</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EXPLAIN IN ORDINARY WORDS</a:t>
            </a:r>
          </a:p>
          <a:p xmlns:a="http://schemas.openxmlformats.org/drawingml/2006/main">
            <a:r>
              <a:t>A list keeps items in order. Python positions start at zero. In [2,4,6], position 0 contains 2 and position 2 contains 6. A slice excludes its stop position.</a:t>
            </a:r>
          </a:p>
          <a:p xmlns:a="http://schemas.openxmlformats.org/drawingml/2006/main">
            <a:r>
              <a:t/>
            </a:r>
          </a:p>
          <a:p xmlns:a="http://schemas.openxmlformats.org/drawingml/2006/main">
            <a:r>
              <a:t>CHECK AND EXPECTED ANSWER</a:t>
            </a:r>
          </a:p>
          <a:p xmlns:a="http://schemas.openxmlformats.org/drawingml/2006/main">
            <a:r>
              <a:t>What is [2,4,6][1]? 4. Is there a position 3? No.</a:t>
            </a:r>
          </a:p>
          <a:p xmlns:a="http://schemas.openxmlformats.org/drawingml/2006/main">
            <a:r>
              <a:t/>
            </a:r>
          </a:p>
          <a:p xmlns:a="http://schemas.openxmlformats.org/drawingml/2006/main">
            <a:r>
              <a:t>IF LEARNERS ARE STUCK</a:t>
            </a:r>
          </a:p>
          <a:p xmlns:a="http://schemas.openxmlformats.org/drawingml/2006/main">
            <a:r>
              <a:t>Draw three numbered boxes starting at zero. Keep the position separate from the value stored in it.</a:t>
            </a:r>
          </a:p>
          <a:p xmlns:a="http://schemas.openxmlformats.org/drawingml/2006/main">
            <a:r>
              <a:t/>
            </a:r>
          </a:p>
          <a:p xmlns:a="http://schemas.openxmlformats.org/drawingml/2006/main">
            <a:r>
              <a:t>NEXT</a:t>
            </a:r>
          </a:p>
          <a:p xmlns:a="http://schemas.openxmlformats.org/drawingml/2006/main">
            <a:r>
              <a:t>Data types and filters continued.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Data types and filters continued.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Data types and filters continued</a:t>
            </a:r>
          </a:p>
          <a:p xmlns:a="http://schemas.openxmlformats.org/drawingml/2006/main">
            <a:r>
              <a:t/>
            </a:r>
          </a:p>
          <a:p xmlns:a="http://schemas.openxmlformats.org/drawingml/2006/main">
            <a:r>
              <a:t>CONNECT</a:t>
            </a:r>
          </a:p>
          <a:p xmlns:a="http://schemas.openxmlformats.org/drawingml/2006/main">
            <a:r>
              <a:t>Build on Data types and filters. Explain why this example is needed before running it.</a:t>
            </a:r>
          </a:p>
          <a:p xmlns:a="http://schemas.openxmlformats.org/drawingml/2006/main">
            <a:r>
              <a:t/>
            </a:r>
          </a:p>
          <a:p xmlns:a="http://schemas.openxmlformats.org/drawingml/2006/main">
            <a:r>
              <a:t>EXPLAIN</a:t>
            </a:r>
          </a:p>
          <a:p xmlns:a="http://schemas.openxmlformats.org/drawingml/2006/main">
            <a:r>
              <a:t>Read provenance and units before trusting a dataset.</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Data types and filters continued</a:t>
            </a:r>
          </a:p>
          <a:p xmlns:a="http://schemas.openxmlformats.org/drawingml/2006/main">
            <a:r>
              <a:t/>
            </a:r>
          </a:p>
          <a:p xmlns:a="http://schemas.openxmlformats.org/drawingml/2006/main">
            <a:r>
              <a:t>CONNECT</a:t>
            </a:r>
          </a:p>
          <a:p xmlns:a="http://schemas.openxmlformats.org/drawingml/2006/main">
            <a:r>
              <a:t>Build on the preceding slide: Data types and filters.</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EXPLAIN IN ORDINARY WORDS</a:t>
            </a:r>
          </a:p>
          <a:p xmlns:a="http://schemas.openxmlformats.org/drawingml/2006/main">
            <a:r>
              <a:t>Missing means not recorded, not automatically zero. Decide why it is missing and document the rule. Fitted fill values must come from training data when evaluating a model.</a:t>
            </a:r>
          </a:p>
          <a:p xmlns:a="http://schemas.openxmlformats.org/drawingml/2006/main">
            <a:r>
              <a:t/>
            </a:r>
          </a:p>
          <a:p xmlns:a="http://schemas.openxmlformats.org/drawingml/2006/main">
            <a:r>
              <a:t>CHECK AND EXPECTED ANSWER</a:t>
            </a:r>
          </a:p>
          <a:p xmlns:a="http://schemas.openxmlformats.org/drawingml/2006/main">
            <a:r>
              <a:t>Is an unrecorded energy reading evidence of zero consumption? No.</a:t>
            </a:r>
          </a:p>
          <a:p xmlns:a="http://schemas.openxmlformats.org/drawingml/2006/main">
            <a:r>
              <a:t/>
            </a:r>
          </a:p>
          <a:p xmlns:a="http://schemas.openxmlformats.org/drawingml/2006/main">
            <a:r>
              <a:t>IF LEARNERS ARE STUCK</a:t>
            </a:r>
          </a:p>
          <a:p xmlns:a="http://schemas.openxmlformats.org/drawingml/2006/main">
            <a:r>
              <a:t>Use three rows: a recorded zero, a recorded positive value and a blank. Explain their different meanings before cleaning.</a:t>
            </a:r>
          </a:p>
          <a:p xmlns:a="http://schemas.openxmlformats.org/drawingml/2006/main">
            <a:r>
              <a:t/>
            </a:r>
          </a:p>
          <a:p xmlns:a="http://schemas.openxmlformats.org/drawingml/2006/main">
            <a:r>
              <a:t>NEXT</a:t>
            </a:r>
          </a:p>
          <a:p xmlns:a="http://schemas.openxmlformats.org/drawingml/2006/main">
            <a:r>
              <a:t>Your issued assignment.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Your issued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assignment</a:t>
            </a:r>
          </a:p>
          <a:p xmlns:a="http://schemas.openxmlformats.org/drawingml/2006/main">
            <a:r>
              <a:t/>
            </a:r>
          </a:p>
          <a:p xmlns:a="http://schemas.openxmlformats.org/drawingml/2006/main">
            <a:r>
              <a:t>CONNECT</a:t>
            </a:r>
          </a:p>
          <a:p xmlns:a="http://schemas.openxmlformats.org/drawingml/2006/main">
            <a:r>
              <a:t>Build on Data types and filters continued. Explain why this example is needed before running it.</a:t>
            </a:r>
          </a:p>
          <a:p xmlns:a="http://schemas.openxmlformats.org/drawingml/2006/main">
            <a:r>
              <a:t/>
            </a:r>
          </a:p>
          <a:p xmlns:a="http://schemas.openxmlformats.org/drawingml/2006/main">
            <a:r>
              <a:t>EXPLAIN</a:t>
            </a:r>
          </a:p>
          <a:p xmlns:a="http://schemas.openxmlformats.org/drawingml/2006/main">
            <a:r>
              <a:t>Open W05_student.ipynb.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Run the supplied visible checks, then restart and run all.</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Your issued assignment</a:t>
            </a:r>
          </a:p>
          <a:p xmlns:a="http://schemas.openxmlformats.org/drawingml/2006/main">
            <a:r>
              <a:t/>
            </a:r>
          </a:p>
          <a:p xmlns:a="http://schemas.openxmlformats.org/drawingml/2006/main">
            <a:r>
              <a:t>CONNECT</a:t>
            </a:r>
          </a:p>
          <a:p xmlns:a="http://schemas.openxmlformats.org/drawingml/2006/main">
            <a:r>
              <a:t>Build on the preceding slide: Data types and filters continued.</a:t>
            </a:r>
          </a:p>
          <a:p xmlns:a="http://schemas.openxmlformats.org/drawingml/2006/main">
            <a:r>
              <a:t/>
            </a:r>
          </a:p>
          <a:p xmlns:a="http://schemas.openxmlformats.org/drawingml/2006/main">
            <a:r>
              <a:t>LECTURER CUE</a:t>
            </a:r>
          </a:p>
          <a:p xmlns:a="http://schemas.openxmlformats.org/drawingml/2006/main">
            <a:r>
              <a:t># W05: pandas: load, filter, group</a:t>
            </a:r>
          </a:p>
          <a:p xmlns:a="http://schemas.openxmlformats.org/drawingml/2006/main">
            <a:r>
              <a:t>CML3113. Complete each named output. Save as STUDENT_ID_W05.ipynb.</a:t>
            </a:r>
          </a:p>
          <a:p xmlns:a="http://schemas.openxmlformats.org/drawingml/2006/main">
            <a:r>
              <a:t>## q1: 3 marks</a:t>
            </a:r>
          </a:p>
          <a:p xmlns:a="http://schemas.openxmlformats.org/drawingml/2006/main">
            <a:r>
              <a:t>Load campus_energy.csv into a DataFrame called df.</a:t>
            </a:r>
          </a:p>
          <a:p xmlns:a="http://schemas.openxmlformats.org/drawingml/2006/main">
            <a:r>
              <a:t>## q2: 3 marks</a:t>
            </a:r>
          </a:p>
          <a:p xmlns:a="http://schemas.openxmlformats.org/drawingml/2006/main">
            <a:r>
              <a:t>Set n_meters to the number of distinct meters in the file.</a:t>
            </a:r>
          </a:p>
          <a:p xmlns:a="http://schemas.openxmlformats.org/drawingml/2006/main">
            <a:r>
              <a:t>## q3: 4 marks</a:t>
            </a:r>
          </a:p>
          <a:p xmlns:a="http://schemas.openxmlformats.org/drawingml/2006/main">
            <a:r>
              <a:t>Add a column cost_per_kwh to df, equal to cost_ugx / kwh.</a:t>
            </a:r>
          </a:p>
          <a:p xmlns:a="http://schemas.openxmlformats.org/drawingml/2006/main">
            <a:r>
              <a:t>## q4: 4 marks</a:t>
            </a:r>
          </a:p>
          <a:p xmlns:a="http://schemas.openxmlformats.org/drawingml/2006/main">
            <a:r>
              <a:t>Set high_use to the rows of df where kwh is greater than 5000. Do this after q3 so the derived column comes along.</a:t>
            </a:r>
          </a:p>
          <a:p xmlns:a="http://schemas.openxmlformats.org/drawingml/2006/main">
            <a:r>
              <a:t>## q5: 3 marks</a:t>
            </a:r>
          </a:p>
          <a:p xmlns:a="http://schemas.openxmlformats.org/drawingml/2006/main">
            <a:r>
              <a:t>Set mean_cost_per_kwh to the mean of the cost_per_kwh column.</a:t>
            </a:r>
          </a:p>
          <a:p xmlns:a="http://schemas.openxmlformats.org/drawingml/2006/main">
            <a:r>
              <a:t>## q6: 3 marks</a:t>
            </a:r>
          </a:p>
          <a:p xmlns:a="http://schemas.openxmlformats.org/drawingml/2006/main">
            <a:r>
              <a:t>Set peak_building to the name of the building with the highest total kwh.</a:t>
            </a:r>
          </a:p>
          <a:p xmlns:a="http://schemas.openxmlformats.org/drawingml/2006/main">
            <a:r>
              <a:t>Restart and Run All, then save your named notebook. Practice check results are feedback; the submitted notebook is graded independently.</a:t>
            </a:r>
          </a:p>
          <a:p xmlns:a="http://schemas.openxmlformats.org/drawingml/2006/main">
            <a:r>
              <a:t/>
            </a:r>
          </a:p>
          <a:p xmlns:a="http://schemas.openxmlformats.org/drawingml/2006/main">
            <a:r>
              <a:t>EXPLAIN IN ORDINARY WORDS</a:t>
            </a:r>
          </a:p>
          <a:p xmlns:a="http://schemas.openxmlformats.org/drawingml/2006/main">
            <a:r>
              <a:t>A function is a named set of instructions. def defines it; a call runs it with inputs. Parameters are input names, arguments are supplied values, and return sends the result back.</a:t>
            </a:r>
          </a:p>
          <a:p xmlns:a="http://schemas.openxmlformats.org/drawingml/2006/main">
            <a:r>
              <a:t/>
            </a:r>
          </a:p>
          <a:p xmlns:a="http://schemas.openxmlformats.org/drawingml/2006/main">
            <a:r>
              <a:t>CHECK AND EXPECTED ANSWER</a:t>
            </a:r>
          </a:p>
          <a:p xmlns:a="http://schemas.openxmlformats.org/drawingml/2006/main">
            <a:r>
              <a:t>Does print(8) return the number 8 to the caller? No; it displays 8 and returns None. A function needing a numeric result should return it.</a:t>
            </a:r>
          </a:p>
          <a:p xmlns:a="http://schemas.openxmlformats.org/drawingml/2006/main">
            <a:r>
              <a:t/>
            </a:r>
          </a:p>
          <a:p xmlns:a="http://schemas.openxmlformats.org/drawingml/2006/main">
            <a:r>
              <a:t>IF LEARNERS ARE STUCK</a:t>
            </a:r>
          </a:p>
          <a:p xmlns:a="http://schemas.openxmlformats.org/drawingml/2006/main">
            <a:r>
              <a:t>Trace one call: bind input names, run the indented body, reach return, then put the returned result back into the calling expression.</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q1: 3 marks.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q1: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q1: 3 marks</a:t>
            </a:r>
          </a:p>
          <a:p xmlns:a="http://schemas.openxmlformats.org/drawingml/2006/main">
            <a:r>
              <a:t/>
            </a:r>
          </a:p>
          <a:p xmlns:a="http://schemas.openxmlformats.org/drawingml/2006/main">
            <a:r>
              <a:t>CONNECT</a:t>
            </a:r>
          </a:p>
          <a:p xmlns:a="http://schemas.openxmlformats.org/drawingml/2006/main">
            <a:r>
              <a:t>Build on Your issued assignment. Explain why this example is needed before running it.</a:t>
            </a:r>
          </a:p>
          <a:p xmlns:a="http://schemas.openxmlformats.org/drawingml/2006/main">
            <a:r>
              <a:t/>
            </a:r>
          </a:p>
          <a:p xmlns:a="http://schemas.openxmlformats.org/drawingml/2006/main">
            <a:r>
              <a:t>EXPLAIN</a:t>
            </a:r>
          </a:p>
          <a:p xmlns:a="http://schemas.openxmlformats.org/drawingml/2006/main">
            <a:r>
              <a:t>Load campus_energy.csv into a DataFrame called df.</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q1: 3 marks</a:t>
            </a:r>
          </a:p>
          <a:p xmlns:a="http://schemas.openxmlformats.org/drawingml/2006/main">
            <a:r>
              <a:t/>
            </a:r>
          </a:p>
          <a:p xmlns:a="http://schemas.openxmlformats.org/drawingml/2006/main">
            <a:r>
              <a:t>CONNECT</a:t>
            </a:r>
          </a:p>
          <a:p xmlns:a="http://schemas.openxmlformats.org/drawingml/2006/main">
            <a:r>
              <a:t>Build on the preceding slide: Your issued assignment.</a:t>
            </a:r>
          </a:p>
          <a:p xmlns:a="http://schemas.openxmlformats.org/drawingml/2006/main">
            <a:r>
              <a:t/>
            </a:r>
          </a:p>
          <a:p xmlns:a="http://schemas.openxmlformats.org/drawingml/2006/main">
            <a:r>
              <a:t>LECTURER CUE</a:t>
            </a:r>
          </a:p>
          <a:p xmlns:a="http://schemas.openxmlformats.org/drawingml/2006/main">
            <a:r>
              <a:t>Read the specific public requirement shown on this slide. Explain the input, output and evidence before independent work; do not work the assessed answer for the class.</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NEXT</a:t>
            </a:r>
          </a:p>
          <a:p xmlns:a="http://schemas.openxmlformats.org/drawingml/2006/main">
            <a:r>
              <a:t>q2: 3 marks.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q2: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q2: 3 marks</a:t>
            </a:r>
          </a:p>
          <a:p xmlns:a="http://schemas.openxmlformats.org/drawingml/2006/main">
            <a:r>
              <a:t/>
            </a:r>
          </a:p>
          <a:p xmlns:a="http://schemas.openxmlformats.org/drawingml/2006/main">
            <a:r>
              <a:t>CONNECT</a:t>
            </a:r>
          </a:p>
          <a:p xmlns:a="http://schemas.openxmlformats.org/drawingml/2006/main">
            <a:r>
              <a:t>Build on q1: 3 marks. Explain why this example is needed before running it.</a:t>
            </a:r>
          </a:p>
          <a:p xmlns:a="http://schemas.openxmlformats.org/drawingml/2006/main">
            <a:r>
              <a:t/>
            </a:r>
          </a:p>
          <a:p xmlns:a="http://schemas.openxmlformats.org/drawingml/2006/main">
            <a:r>
              <a:t>EXPLAIN</a:t>
            </a:r>
          </a:p>
          <a:p xmlns:a="http://schemas.openxmlformats.org/drawingml/2006/main">
            <a:r>
              <a:t>Set n_meters to the number of distinct meters in the file.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q2: 3 marks</a:t>
            </a:r>
          </a:p>
          <a:p xmlns:a="http://schemas.openxmlformats.org/drawingml/2006/main">
            <a:r>
              <a:t/>
            </a:r>
          </a:p>
          <a:p xmlns:a="http://schemas.openxmlformats.org/drawingml/2006/main">
            <a:r>
              <a:t>CONNECT</a:t>
            </a:r>
          </a:p>
          <a:p xmlns:a="http://schemas.openxmlformats.org/drawingml/2006/main">
            <a:r>
              <a:t>Build on the preceding slide: q1: 3 marks.</a:t>
            </a:r>
          </a:p>
          <a:p xmlns:a="http://schemas.openxmlformats.org/drawingml/2006/main">
            <a:r>
              <a:t/>
            </a:r>
          </a:p>
          <a:p xmlns:a="http://schemas.openxmlformats.org/drawingml/2006/main">
            <a:r>
              <a:t>LECTURER CUE</a:t>
            </a:r>
          </a:p>
          <a:p xmlns:a="http://schemas.openxmlformats.org/drawingml/2006/main">
            <a:r>
              <a:t>Read the specific public requirement shown on this slide. Explain the input, output and evidence before independent work; do not work the assessed answer for the class.</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NEXT</a:t>
            </a:r>
          </a:p>
          <a:p xmlns:a="http://schemas.openxmlformats.org/drawingml/2006/main">
            <a:r>
              <a:t>q3: 4 marks.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q3: 4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q3: 4 marks</a:t>
            </a:r>
          </a:p>
          <a:p xmlns:a="http://schemas.openxmlformats.org/drawingml/2006/main">
            <a:r>
              <a:t/>
            </a:r>
          </a:p>
          <a:p xmlns:a="http://schemas.openxmlformats.org/drawingml/2006/main">
            <a:r>
              <a:t>CONNECT</a:t>
            </a:r>
          </a:p>
          <a:p xmlns:a="http://schemas.openxmlformats.org/drawingml/2006/main">
            <a:r>
              <a:t>Build on q2: 3 marks. Explain why this example is needed before running it.</a:t>
            </a:r>
          </a:p>
          <a:p xmlns:a="http://schemas.openxmlformats.org/drawingml/2006/main">
            <a:r>
              <a:t/>
            </a:r>
          </a:p>
          <a:p xmlns:a="http://schemas.openxmlformats.org/drawingml/2006/main">
            <a:r>
              <a:t>EXPLAIN</a:t>
            </a:r>
          </a:p>
          <a:p xmlns:a="http://schemas.openxmlformats.org/drawingml/2006/main">
            <a:r>
              <a:t>Add a column cost_per_kwh to df, equal to cost_ugx /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q3: 4 marks</a:t>
            </a:r>
          </a:p>
          <a:p xmlns:a="http://schemas.openxmlformats.org/drawingml/2006/main">
            <a:r>
              <a:t/>
            </a:r>
          </a:p>
          <a:p xmlns:a="http://schemas.openxmlformats.org/drawingml/2006/main">
            <a:r>
              <a:t>CONNECT</a:t>
            </a:r>
          </a:p>
          <a:p xmlns:a="http://schemas.openxmlformats.org/drawingml/2006/main">
            <a:r>
              <a:t>Build on the preceding slide: q2: 3 marks.</a:t>
            </a:r>
          </a:p>
          <a:p xmlns:a="http://schemas.openxmlformats.org/drawingml/2006/main">
            <a:r>
              <a:t/>
            </a:r>
          </a:p>
          <a:p xmlns:a="http://schemas.openxmlformats.org/drawingml/2006/main">
            <a:r>
              <a:t>LECTURER CUE</a:t>
            </a:r>
          </a:p>
          <a:p xmlns:a="http://schemas.openxmlformats.org/drawingml/2006/main">
            <a:r>
              <a:t>Read the specific public requirement shown on this slide. Explain the input, output and evidence before independent work; do not work the assessed answer for the class.</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NEXT</a:t>
            </a:r>
          </a:p>
          <a:p xmlns:a="http://schemas.openxmlformats.org/drawingml/2006/main">
            <a:r>
              <a:t>q4: 4 marks.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q4: 4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q4: 4 marks</a:t>
            </a:r>
          </a:p>
          <a:p xmlns:a="http://schemas.openxmlformats.org/drawingml/2006/main">
            <a:r>
              <a:t/>
            </a:r>
          </a:p>
          <a:p xmlns:a="http://schemas.openxmlformats.org/drawingml/2006/main">
            <a:r>
              <a:t>CONNECT</a:t>
            </a:r>
          </a:p>
          <a:p xmlns:a="http://schemas.openxmlformats.org/drawingml/2006/main">
            <a:r>
              <a:t>Build on q3: 4 marks. Explain why this example is needed before running it.</a:t>
            </a:r>
          </a:p>
          <a:p xmlns:a="http://schemas.openxmlformats.org/drawingml/2006/main">
            <a:r>
              <a:t/>
            </a:r>
          </a:p>
          <a:p xmlns:a="http://schemas.openxmlformats.org/drawingml/2006/main">
            <a:r>
              <a:t>EXPLAIN</a:t>
            </a:r>
          </a:p>
          <a:p xmlns:a="http://schemas.openxmlformats.org/drawingml/2006/main">
            <a:r>
              <a:t>Set high_use to the rows of df where kwh is greater than 5000.</a:t>
            </a:r>
          </a:p>
          <a:p xmlns:a="http://schemas.openxmlformats.org/drawingml/2006/main">
            <a:r>
              <a:t/>
            </a:r>
          </a:p>
          <a:p xmlns:a="http://schemas.openxmlformats.org/drawingml/2006/main">
            <a:r>
              <a:t>Do this after q3 so the derived column comes along.</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q4: 4 marks</a:t>
            </a:r>
          </a:p>
          <a:p xmlns:a="http://schemas.openxmlformats.org/drawingml/2006/main">
            <a:r>
              <a:t/>
            </a:r>
          </a:p>
          <a:p xmlns:a="http://schemas.openxmlformats.org/drawingml/2006/main">
            <a:r>
              <a:t>CONNECT</a:t>
            </a:r>
          </a:p>
          <a:p xmlns:a="http://schemas.openxmlformats.org/drawingml/2006/main">
            <a:r>
              <a:t>Build on the preceding slide: q3: 4 marks.</a:t>
            </a:r>
          </a:p>
          <a:p xmlns:a="http://schemas.openxmlformats.org/drawingml/2006/main">
            <a:r>
              <a:t/>
            </a:r>
          </a:p>
          <a:p xmlns:a="http://schemas.openxmlformats.org/drawingml/2006/main">
            <a:r>
              <a:t>LECTURER CUE</a:t>
            </a:r>
          </a:p>
          <a:p xmlns:a="http://schemas.openxmlformats.org/drawingml/2006/main">
            <a:r>
              <a:t>Read the specific public requirement shown on this slide. Explain the input, output and evidence before independent work; do not work the assessed answer for the class.</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NEXT</a:t>
            </a:r>
          </a:p>
          <a:p xmlns:a="http://schemas.openxmlformats.org/drawingml/2006/main">
            <a:r>
              <a:t>q5: 3 marks.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q5: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q5: 3 marks</a:t>
            </a:r>
          </a:p>
          <a:p xmlns:a="http://schemas.openxmlformats.org/drawingml/2006/main">
            <a:r>
              <a:t/>
            </a:r>
          </a:p>
          <a:p xmlns:a="http://schemas.openxmlformats.org/drawingml/2006/main">
            <a:r>
              <a:t>CONNECT</a:t>
            </a:r>
          </a:p>
          <a:p xmlns:a="http://schemas.openxmlformats.org/drawingml/2006/main">
            <a:r>
              <a:t>Build on q4: 4 marks. Explain why this example is needed before running it.</a:t>
            </a:r>
          </a:p>
          <a:p xmlns:a="http://schemas.openxmlformats.org/drawingml/2006/main">
            <a:r>
              <a:t/>
            </a:r>
          </a:p>
          <a:p xmlns:a="http://schemas.openxmlformats.org/drawingml/2006/main">
            <a:r>
              <a:t>EXPLAIN</a:t>
            </a:r>
          </a:p>
          <a:p xmlns:a="http://schemas.openxmlformats.org/drawingml/2006/main">
            <a:r>
              <a:t>Set mean_cost_per_kwh to the mean of the cost_per_kwh column.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q5: 3 marks</a:t>
            </a:r>
          </a:p>
          <a:p xmlns:a="http://schemas.openxmlformats.org/drawingml/2006/main">
            <a:r>
              <a:t/>
            </a:r>
          </a:p>
          <a:p xmlns:a="http://schemas.openxmlformats.org/drawingml/2006/main">
            <a:r>
              <a:t>CONNECT</a:t>
            </a:r>
          </a:p>
          <a:p xmlns:a="http://schemas.openxmlformats.org/drawingml/2006/main">
            <a:r>
              <a:t>Build on the preceding slide: q4: 4 marks.</a:t>
            </a:r>
          </a:p>
          <a:p xmlns:a="http://schemas.openxmlformats.org/drawingml/2006/main">
            <a:r>
              <a:t/>
            </a:r>
          </a:p>
          <a:p xmlns:a="http://schemas.openxmlformats.org/drawingml/2006/main">
            <a:r>
              <a:t>LECTURER CUE</a:t>
            </a:r>
          </a:p>
          <a:p xmlns:a="http://schemas.openxmlformats.org/drawingml/2006/main">
            <a:r>
              <a:t>Read the specific public requirement shown on this slide. Explain the input, output and evidence before independent work; do not work the assessed answer for the class.</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NEXT</a:t>
            </a:r>
          </a:p>
          <a:p xmlns:a="http://schemas.openxmlformats.org/drawingml/2006/main">
            <a:r>
              <a:t>q6: 3 marks.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q6: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q6: 3 marks</a:t>
            </a:r>
          </a:p>
          <a:p xmlns:a="http://schemas.openxmlformats.org/drawingml/2006/main">
            <a:r>
              <a:t/>
            </a:r>
          </a:p>
          <a:p xmlns:a="http://schemas.openxmlformats.org/drawingml/2006/main">
            <a:r>
              <a:t>CONNECT</a:t>
            </a:r>
          </a:p>
          <a:p xmlns:a="http://schemas.openxmlformats.org/drawingml/2006/main">
            <a:r>
              <a:t>Build on q5: 3 marks. Explain why this example is needed before running it.</a:t>
            </a:r>
          </a:p>
          <a:p xmlns:a="http://schemas.openxmlformats.org/drawingml/2006/main">
            <a:r>
              <a:t/>
            </a:r>
          </a:p>
          <a:p xmlns:a="http://schemas.openxmlformats.org/drawingml/2006/main">
            <a:r>
              <a:t>EXPLAIN</a:t>
            </a:r>
          </a:p>
          <a:p xmlns:a="http://schemas.openxmlformats.org/drawingml/2006/main">
            <a:r>
              <a:t>Set peak_building to the name of the building with the highest total kwh.</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q6: 3 marks</a:t>
            </a:r>
          </a:p>
          <a:p xmlns:a="http://schemas.openxmlformats.org/drawingml/2006/main">
            <a:r>
              <a:t/>
            </a:r>
          </a:p>
          <a:p xmlns:a="http://schemas.openxmlformats.org/drawingml/2006/main">
            <a:r>
              <a:t>CONNECT</a:t>
            </a:r>
          </a:p>
          <a:p xmlns:a="http://schemas.openxmlformats.org/drawingml/2006/main">
            <a:r>
              <a:t>Build on the preceding slide: q5: 3 marks.</a:t>
            </a:r>
          </a:p>
          <a:p xmlns:a="http://schemas.openxmlformats.org/drawingml/2006/main">
            <a:r>
              <a:t/>
            </a:r>
          </a:p>
          <a:p xmlns:a="http://schemas.openxmlformats.org/drawingml/2006/main">
            <a:r>
              <a:t>LECTURER CUE</a:t>
            </a:r>
          </a:p>
          <a:p xmlns:a="http://schemas.openxmlformats.org/drawingml/2006/main">
            <a:r>
              <a:t>Read the specific public requirement shown on this slide. Explain the input, output and evidence before independent work; do not work the assessed answer for the class.</a:t>
            </a:r>
          </a:p>
          <a:p xmlns:a="http://schemas.openxmlformats.org/drawingml/2006/main">
            <a:r>
              <a:t/>
            </a:r>
          </a:p>
          <a:p xmlns:a="http://schemas.openxmlformats.org/drawingml/2006/main">
            <a:r>
              <a:t>EXPLAIN IN ORDINARY WORDS</a:t>
            </a:r>
          </a:p>
          <a:p xmlns:a="http://schemas.openxmlformats.org/drawingml/2006/main">
            <a:r>
              <a:t>Read each quantity and unit before using a formula. Python calculates numbers but does not enforce physical units. Parentheses specify which operation happens first.</a:t>
            </a:r>
          </a:p>
          <a:p xmlns:a="http://schemas.openxmlformats.org/drawingml/2006/main">
            <a:r>
              <a:t/>
            </a:r>
          </a:p>
          <a:p xmlns:a="http://schemas.openxmlformats.org/drawingml/2006/main">
            <a:r>
              <a:t>CHECK AND EXPECTED ANSWER</a:t>
            </a:r>
          </a:p>
          <a:p xmlns:a="http://schemas.openxmlformats.org/drawingml/2006/main">
            <a:r>
              <a:t>What is 5 m times 3 m? 15 square metres. What is 7/2 in Python? 3.5; 7//2 is 3.</a:t>
            </a:r>
          </a:p>
          <a:p xmlns:a="http://schemas.openxmlformats.org/drawingml/2006/main">
            <a:r>
              <a:t/>
            </a:r>
          </a:p>
          <a:p xmlns:a="http://schemas.openxmlformats.org/drawingml/2006/main">
            <a:r>
              <a:t>IF LEARNERS ARE STUCK</a:t>
            </a:r>
          </a:p>
          <a:p xmlns:a="http://schemas.openxmlformats.org/drawingml/2006/main">
            <a:r>
              <a:t>Write the formula and units on paper, substitute small values, then translate it to Python. Check zero denominators and the issued sign convention.</a:t>
            </a:r>
          </a:p>
          <a:p xmlns:a="http://schemas.openxmlformats.org/drawingml/2006/main">
            <a:r>
              <a:t/>
            </a:r>
          </a:p>
          <a:p xmlns:a="http://schemas.openxmlformats.org/drawingml/2006/main">
            <a:r>
              <a:t>NEXT</a:t>
            </a:r>
          </a:p>
          <a:p xmlns:a="http://schemas.openxmlformats.org/drawingml/2006/main">
            <a:r>
              <a:t>Pandas investigation submission.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Pandas investigation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Pandas investigation submission</a:t>
            </a:r>
          </a:p>
          <a:p xmlns:a="http://schemas.openxmlformats.org/drawingml/2006/main">
            <a:r>
              <a:t/>
            </a:r>
          </a:p>
          <a:p xmlns:a="http://schemas.openxmlformats.org/drawingml/2006/main">
            <a:r>
              <a:t>CONNECT</a:t>
            </a:r>
          </a:p>
          <a:p xmlns:a="http://schemas.openxmlformats.org/drawingml/2006/main">
            <a:r>
              <a:t>Build on q6: 3 marks. Explain why this example is needed before running it.</a:t>
            </a:r>
          </a:p>
          <a:p xmlns:a="http://schemas.openxmlformats.org/drawingml/2006/main">
            <a:r>
              <a:t/>
            </a:r>
          </a:p>
          <a:p xmlns:a="http://schemas.openxmlformats.org/drawingml/2006/main">
            <a:r>
              <a:t>EXPLAIN</a:t>
            </a:r>
          </a:p>
          <a:p xmlns:a="http://schemas.openxmlformats.org/drawingml/2006/main">
            <a:r>
              <a:t>Opens: 07 Oct 2026, 08:00 Kampala</a:t>
            </a:r>
          </a:p>
          <a:p xmlns:a="http://schemas.openxmlformats.org/drawingml/2006/main">
            <a:r>
              <a:t/>
            </a:r>
          </a:p>
          <a:p xmlns:a="http://schemas.openxmlformats.org/drawingml/2006/main">
            <a:r>
              <a:t>Deadline: 16 Oct 2026, 08:00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Pandas investigation submission</a:t>
            </a:r>
          </a:p>
          <a:p xmlns:a="http://schemas.openxmlformats.org/drawingml/2006/main">
            <a:r>
              <a:t/>
            </a:r>
          </a:p>
          <a:p xmlns:a="http://schemas.openxmlformats.org/drawingml/2006/main">
            <a:r>
              <a:t>CONNECT</a:t>
            </a:r>
          </a:p>
          <a:p xmlns:a="http://schemas.openxmlformats.org/drawingml/2006/main">
            <a:r>
              <a:t>Build on the preceding slide: q6: 3 marks.</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EXPLAIN IN ORDINARY WORDS</a:t>
            </a:r>
          </a:p>
          <a:p xmlns:a="http://schemas.openxmlformats.org/drawingml/2006/main">
            <a:r>
              <a:t>A DataFrame is a labelled table. A Series is a single labelled sequence, often one column. A dtype describes stored values, but the import may infer something unsuitable.</a:t>
            </a:r>
          </a:p>
          <a:p xmlns:a="http://schemas.openxmlformats.org/drawingml/2006/main">
            <a:r>
              <a:t/>
            </a:r>
          </a:p>
          <a:p xmlns:a="http://schemas.openxmlformats.org/drawingml/2006/main">
            <a:r>
              <a:t>CHECK AND EXPECTED ANSWER</a:t>
            </a:r>
          </a:p>
          <a:p xmlns:a="http://schemas.openxmlformats.org/drawingml/2006/main">
            <a:r>
              <a:t>Does a price that looks numeric prove the column is numeric? No. Inspect its dtype and troublesome values before conversion.</a:t>
            </a:r>
          </a:p>
          <a:p xmlns:a="http://schemas.openxmlformats.org/drawingml/2006/main">
            <a:r>
              <a:t/>
            </a:r>
          </a:p>
          <a:p xmlns:a="http://schemas.openxmlformats.org/drawingml/2006/main">
            <a:r>
              <a:t>IF LEARNERS ARE STUCK</a:t>
            </a:r>
          </a:p>
          <a:p xmlns:a="http://schemas.openxmlformats.org/drawingml/2006/main">
            <a:r>
              <a:t>Use head, shape and dtypes to locate the table, count rows/columns and inspect storage. Check units and missing values before calculating.</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Project preparation.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Project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Project preparation</a:t>
            </a:r>
          </a:p>
          <a:p xmlns:a="http://schemas.openxmlformats.org/drawingml/2006/main">
            <a:r>
              <a:t/>
            </a:r>
          </a:p>
          <a:p xmlns:a="http://schemas.openxmlformats.org/drawingml/2006/main">
            <a:r>
              <a:t>CONNECT</a:t>
            </a:r>
          </a:p>
          <a:p xmlns:a="http://schemas.openxmlformats.org/drawingml/2006/main">
            <a:r>
              <a:t>Build on Pandas investigation submission. Explain why this example is needed before running it.</a:t>
            </a:r>
          </a:p>
          <a:p xmlns:a="http://schemas.openxmlformats.org/drawingml/2006/main">
            <a:r>
              <a:t/>
            </a:r>
          </a:p>
          <a:p xmlns:a="http://schemas.openxmlformats.org/drawingml/2006/main">
            <a:r>
              <a:t>EXPLAIN</a:t>
            </a:r>
          </a:p>
          <a:p xmlns:a="http://schemas.openxmlformats.org/drawingml/2006/main">
            <a:r>
              <a:t>Use the published data analysis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30 Oct 2026, 08:00 Kampala</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Project preparation</a:t>
            </a:r>
          </a:p>
          <a:p xmlns:a="http://schemas.openxmlformats.org/drawingml/2006/main">
            <a:r>
              <a:t/>
            </a:r>
          </a:p>
          <a:p xmlns:a="http://schemas.openxmlformats.org/drawingml/2006/main">
            <a:r>
              <a:t>CONNECT</a:t>
            </a:r>
          </a:p>
          <a:p xmlns:a="http://schemas.openxmlformats.org/drawingml/2006/main">
            <a:r>
              <a:t>Build on the preceding slide: Pandas investigation submission.</a:t>
            </a:r>
          </a:p>
          <a:p xmlns:a="http://schemas.openxmlformats.org/drawingml/2006/main">
            <a:r>
              <a:t/>
            </a:r>
          </a:p>
          <a:p xmlns:a="http://schemas.openxmlformats.org/drawingml/2006/main">
            <a:r>
              <a:t>LECTURER CUE</a:t>
            </a:r>
          </a:p>
          <a:p xmlns:a="http://schemas.openxmlformats.org/drawingml/2006/main">
            <a:r>
              <a:t>Explain the released brief now. Confirm its grading-release checks before assigning it. Avoid treating weekly practice as a substitute for the project evidence. The project brief remains authoritative.</a:t>
            </a:r>
          </a:p>
          <a:p xmlns:a="http://schemas.openxmlformats.org/drawingml/2006/main">
            <a:r>
              <a:t/>
            </a:r>
          </a:p>
          <a:p xmlns:a="http://schemas.openxmlformats.org/drawingml/2006/main">
            <a:r>
              <a:t>EXPLAIN IN ORDINARY WORDS</a:t>
            </a:r>
          </a:p>
          <a:p xmlns:a="http://schemas.openxmlformats.org/drawingml/2006/main">
            <a:r>
              <a:t>A notebook contains code cells and explanatory text cells. The runtime remembers values from cells that actually ran, which may differ from their visual order.</a:t>
            </a:r>
          </a:p>
          <a:p xmlns:a="http://schemas.openxmlformats.org/drawingml/2006/main">
            <a:r>
              <a:t/>
            </a:r>
          </a:p>
          <a:p xmlns:a="http://schemas.openxmlformats.org/drawingml/2006/main">
            <a:r>
              <a:t>CHECK AND EXPECTED ANSWER</a:t>
            </a:r>
          </a:p>
          <a:p xmlns:a="http://schemas.openxmlformats.org/drawingml/2006/main">
            <a:r>
              <a:t>Does editing a cell update a value already stored in memory? No; the cell must run.</a:t>
            </a:r>
          </a:p>
          <a:p xmlns:a="http://schemas.openxmlformats.org/drawingml/2006/main">
            <a:r>
              <a:t/>
            </a:r>
          </a:p>
          <a:p xmlns:a="http://schemas.openxmlformats.org/drawingml/2006/main">
            <a:r>
              <a:t>IF LEARNERS ARE STUCK</a:t>
            </a:r>
          </a:p>
          <a:p xmlns:a="http://schemas.openxmlformats.org/drawingml/2006/main">
            <a:r>
              <a:t>Outside an assessment restriction, restart and run from the top after loading data. Fix the first error before later cells; save the successful notebook.</a:t>
            </a:r>
          </a:p>
          <a:p xmlns:a="http://schemas.openxmlformats.org/drawingml/2006/main">
            <a:r>
              <a:t/>
            </a:r>
          </a:p>
          <a:p xmlns:a="http://schemas.openxmlformats.org/drawingml/2006/main">
            <a:r>
              <a:t>ASSIGNMENT HANDOVER</a:t>
            </a:r>
          </a:p>
          <a:p xmlns:a="http://schemas.openxmlformats.org/drawingml/2006/main">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xmlns:a="http://schemas.openxmlformats.org/drawingml/2006/main">
            <a:r>
              <a:t/>
            </a:r>
          </a:p>
          <a:p xmlns:a="http://schemas.openxmlformats.org/drawingml/2006/main">
            <a:r>
              <a:t>NEXT</a:t>
            </a:r>
          </a:p>
          <a:p xmlns:a="http://schemas.openxmlformats.org/drawingml/2006/main">
            <a:r>
              <a:t>Week 5 quiz.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Week 5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5 quiz</a:t>
            </a:r>
          </a:p>
          <a:p xmlns:a="http://schemas.openxmlformats.org/drawingml/2006/main">
            <a:r>
              <a:t/>
            </a:r>
          </a:p>
          <a:p xmlns:a="http://schemas.openxmlformats.org/drawingml/2006/main">
            <a:r>
              <a:t>CONNECT</a:t>
            </a:r>
          </a:p>
          <a:p xmlns:a="http://schemas.openxmlformats.org/drawingml/2006/main">
            <a:r>
              <a:t>Build on Project preparation. Explain why this example is needed before running it.</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Week 5 quiz</a:t>
            </a:r>
          </a:p>
          <a:p xmlns:a="http://schemas.openxmlformats.org/drawingml/2006/main">
            <a:r>
              <a:t/>
            </a:r>
          </a:p>
          <a:p xmlns:a="http://schemas.openxmlformats.org/drawingml/2006/main">
            <a:r>
              <a:t>CONNECT</a:t>
            </a:r>
          </a:p>
          <a:p xmlns:a="http://schemas.openxmlformats.org/drawingml/2006/main">
            <a:r>
              <a:t>Build on the preceding slide: Project preparation.</a:t>
            </a:r>
          </a:p>
          <a:p xmlns:a="http://schemas.openxmlformats.org/drawingml/2006/main">
            <a:r>
              <a:t/>
            </a:r>
          </a:p>
          <a:p xmlns:a="http://schemas.openxmlformats.org/drawingml/2006/main">
            <a:r>
              <a:t>LECTURER CUE</a:t>
            </a:r>
          </a:p>
          <a:p xmlns:a="http://schemas.openxmlformats.org/drawingml/2006/main">
            <a:r>
              <a:t>Activate the matching open_W5_CML3113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QUIZ OPERATION</a:t>
            </a:r>
          </a:p>
          <a:p xmlns:a="http://schemas.openxmlformats.org/drawingml/2006/main">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xmlns:a="http://schemas.openxmlformats.org/drawingml/2006/main">
            <a:r>
              <a:t/>
            </a:r>
          </a:p>
          <a:p xmlns:a="http://schemas.openxmlformats.org/drawingml/2006/main">
            <a:r>
              <a:t>NEXT</a:t>
            </a:r>
          </a:p>
          <a:p xmlns:a="http://schemas.openxmlformats.org/drawingml/2006/main">
            <a:r>
              <a:t>Week 5 support.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Week 5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5 support</a:t>
            </a:r>
          </a:p>
          <a:p xmlns:a="http://schemas.openxmlformats.org/drawingml/2006/main">
            <a:r>
              <a:t/>
            </a:r>
          </a:p>
          <a:p xmlns:a="http://schemas.openxmlformats.org/drawingml/2006/main">
            <a:r>
              <a:t>CONNECT</a:t>
            </a:r>
          </a:p>
          <a:p xmlns:a="http://schemas.openxmlformats.org/drawingml/2006/main">
            <a:r>
              <a:t>Build on Week 5 quiz. Explain why this example is needed before running it.</a:t>
            </a:r>
          </a:p>
          <a:p xmlns:a="http://schemas.openxmlformats.org/drawingml/2006/main">
            <a:r>
              <a:t/>
            </a:r>
          </a:p>
          <a:p xmlns:a="http://schemas.openxmlformats.org/drawingml/2006/main">
            <a:r>
              <a:t>EXPLAIN</a:t>
            </a:r>
          </a:p>
          <a:p xmlns:a="http://schemas.openxmlformats.org/drawingml/2006/main">
            <a:r>
              <a:t>Friday 9 October has no normal class.</a:t>
            </a:r>
          </a:p>
          <a:p xmlns:a="http://schemas.openxmlformats.org/drawingml/2006/main">
            <a:r>
              <a:t/>
            </a:r>
          </a:p>
          <a:p xmlns:a="http://schemas.openxmlformats.org/drawingml/2006/main">
            <a:r>
              <a:t>The lecturer will announce a supported replacement session or recording with a clinic.</a:t>
            </a:r>
          </a:p>
          <a:p xmlns:a="http://schemas.openxmlformats.org/drawingml/2006/main">
            <a:r>
              <a:t/>
            </a:r>
          </a:p>
          <a:p xmlns:a="http://schemas.openxmlformats.org/drawingml/2006/main">
            <a:r>
              <a:t>Week 6 starts with 30 minutes of consolidation.</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Week 5 support</a:t>
            </a:r>
          </a:p>
          <a:p xmlns:a="http://schemas.openxmlformats.org/drawingml/2006/main">
            <a:r>
              <a:t/>
            </a:r>
          </a:p>
          <a:p xmlns:a="http://schemas.openxmlformats.org/drawingml/2006/main">
            <a:r>
              <a:t>CONNECT</a:t>
            </a:r>
          </a:p>
          <a:p xmlns:a="http://schemas.openxmlformats.org/drawingml/2006/main">
            <a:r>
              <a:t>Build on the preceding slide: Week 5 quiz.</a:t>
            </a:r>
          </a:p>
          <a:p xmlns:a="http://schemas.openxmlformats.org/drawingml/2006/main">
            <a:r>
              <a:t/>
            </a:r>
          </a:p>
          <a:p xmlns:a="http://schemas.openxmlformats.org/drawingml/2006/main">
            <a:r>
              <a:t>LECTURER CUE</a:t>
            </a:r>
          </a:p>
          <a:p xmlns:a="http://schemas.openxmlformats.org/drawingml/2006/main">
            <a:r>
              <a:t>Confirm the actual Faculty-approved make-up or clinic arrangement. Do not assume a time or make video-only homework the replacement.</a:t>
            </a:r>
          </a:p>
          <a:p xmlns:a="http://schemas.openxmlformats.org/drawingml/2006/main">
            <a:r>
              <a:t/>
            </a:r>
          </a:p>
          <a:p xmlns:a="http://schemas.openxmlformats.org/drawingml/2006/main">
            <a:r>
              <a:t>NEXT</a:t>
            </a:r>
          </a:p>
          <a:p xmlns:a="http://schemas.openxmlformats.org/drawingml/2006/main">
            <a:r>
              <a:t>Before you leave. Move on after a learner can explain the current example or required action.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Before you leave.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Build on Week 5 support. Explain why this example is needed before running it.</a:t>
            </a:r>
          </a:p>
          <a:p xmlns:a="http://schemas.openxmlformats.org/drawingml/2006/main">
            <a:r>
              <a:t/>
            </a:r>
          </a:p>
          <a:p xmlns:a="http://schemas.openxmlformats.org/drawingml/2006/main">
            <a:r>
              <a:t>EXPLAIN</a:t>
            </a:r>
          </a:p>
          <a:p xmlns:a="http://schemas.openxmlformats.org/drawingml/2006/main">
            <a:r>
              <a:t>You can explain which observations a filter keeps and what a grouped total means.</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DETAIL</a:t>
            </a:r>
          </a:p>
          <a:p xmlns:a="http://schemas.openxmlformats.org/drawingml/2006/main">
            <a:r>
              <a:t>TEACHING PURPOSE</a:t>
            </a:r>
          </a:p>
          <a:p xmlns:a="http://schemas.openxmlformats.org/drawingml/2006/main">
            <a:r>
              <a:t>Before you leave</a:t>
            </a:r>
          </a:p>
          <a:p xmlns:a="http://schemas.openxmlformats.org/drawingml/2006/main">
            <a:r>
              <a:t/>
            </a:r>
          </a:p>
          <a:p xmlns:a="http://schemas.openxmlformats.org/drawingml/2006/main">
            <a:r>
              <a:t>CONNECT</a:t>
            </a:r>
          </a:p>
          <a:p xmlns:a="http://schemas.openxmlformats.org/drawingml/2006/main">
            <a:r>
              <a:t>Build on the preceding slide: Week 5 support.</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EXPLAIN IN ORDINARY WORDS</a:t>
            </a:r>
          </a:p>
          <a:p xmlns:a="http://schemas.openxmlformats.org/drawingml/2006/main">
            <a:r>
              <a:t>An observation describes the data. A finding answers a defined question with evidence. A recommendation adds an action, its justification and limits.</a:t>
            </a:r>
          </a:p>
          <a:p xmlns:a="http://schemas.openxmlformats.org/drawingml/2006/main">
            <a:r>
              <a:t/>
            </a:r>
          </a:p>
          <a:p xmlns:a="http://schemas.openxmlformats.org/drawingml/2006/main">
            <a:r>
              <a:t>CHECK AND EXPECTED ANSWER</a:t>
            </a:r>
          </a:p>
          <a:p xmlns:a="http://schemas.openxmlformats.org/drawingml/2006/main">
            <a:r>
              <a:t>Does a difference between two groups prove one caused the other? No. Other differences or selection may explain it.</a:t>
            </a:r>
          </a:p>
          <a:p xmlns:a="http://schemas.openxmlformats.org/drawingml/2006/main">
            <a:r>
              <a:t/>
            </a:r>
          </a:p>
          <a:p xmlns:a="http://schemas.openxmlformats.org/drawingml/2006/main">
            <a:r>
              <a:t>IF LEARNERS ARE STUCK</a:t>
            </a:r>
          </a:p>
          <a:p xmlns:a="http://schemas.openxmlformats.org/drawingml/2006/main">
            <a:r>
              <a:t>Ask for the population, time period, number and comparison. Then ask what additional evidence could change the recommendation.</a:t>
            </a:r>
          </a:p>
          <a:p xmlns:a="http://schemas.openxmlformats.org/drawingml/2006/main">
            <a:r>
              <a:t/>
            </a:r>
          </a:p>
          <a:p xmlns:a="http://schemas.openxmlformats.org/drawingml/2006/main">
            <a:r>
              <a:t>TEACHING MODE</a:t>
            </a:r>
          </a:p>
          <a:p xmlns:a="http://schemas.openxmlformats.org/drawingml/2006/main">
            <a:r>
              <a:t>Demonstrate the example directly. Explain each new name, symbol and output. Use the revision example for an individual check after class; no live partner activity is required.</a:t>
            </a:r>
          </a:p>
          <a:p xmlns:a="http://schemas.openxmlformats.org/drawingml/2006/main">
            <a:r>
              <a:t/>
            </a:r>
          </a:p>
          <a:p xmlns:a="http://schemas.openxmlformats.org/drawingml/2006/main">
            <a:r>
              <a:t>NEXT</a:t>
            </a:r>
          </a:p>
          <a:p xmlns:a="http://schemas.openxmlformats.org/drawingml/2006/main">
            <a:r>
              <a:t>independent revision and the issued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6f02a55c3c4a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6864bb274f46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e88a9ab5e340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28f42035e54c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e9dec0606a4b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9fe257eb034e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538E822-9D77-40B8-9AD9-88E26D1B431C}"/>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4AC0B89-044F-4A68-B496-B32D469DC71E}"/>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F7F61E1-6279-4310-8DE7-5915F8F22055}"/>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44AC543-B1CD-4B3D-BC75-D0FEC1A0F082}"/>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3A908A1-0227-4C25-B2A6-17B2DF9EA03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977070D-0409-4B18-AF32-58A4BD678F2B}"/>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5E3574E-7A2F-444E-9C6F-F9489F2E28D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58C3A50-4402-47A9-959B-32B241440B04}"/>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0CB0BD2-68AA-43A9-BA6D-AFBFD7C1A2A0}"/>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2D51D1F-89D0-4BA1-852A-80F6A00E3D3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BE5A902-3EE5-4824-8E27-F2C09818F745}"/>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AE65B2A-4BEF-40D6-80BC-C01A78E2323F}"/>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89A04FC-2130-4EF6-B971-415203E396CD}"/>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6049255-D285-41EC-A478-AE64A4C47B5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E151720-5450-4211-82AA-A72AA780C00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c38c4bafe44c10" /><Relationship Type="http://schemas.openxmlformats.org/officeDocument/2006/relationships/slideLayout" Target="/ppt/slideLayouts/slideLayout1.xml" Id="Rf21e72f8fdb84770" /><Relationship Type="http://schemas.openxmlformats.org/officeDocument/2006/relationships/slideLayout" Target="/ppt/slideLayouts/slideLayout2.xml" Id="R9d188d004df140b4" /><Relationship Type="http://schemas.openxmlformats.org/officeDocument/2006/relationships/slideLayout" Target="/ppt/slideLayouts/slideLayout3.xml" Id="Rd65b89be43994cde" /><Relationship Type="http://schemas.openxmlformats.org/officeDocument/2006/relationships/slideLayout" Target="/ppt/slideLayouts/slideLayout4.xml" Id="R64fd27de380f4024" /><Relationship Type="http://schemas.openxmlformats.org/officeDocument/2006/relationships/slideLayout" Target="/ppt/slideLayouts/slideLayout5.xml" Id="R142358a510d54e1e" /><Relationship Type="http://schemas.openxmlformats.org/officeDocument/2006/relationships/slideLayout" Target="/ppt/slideLayouts/slideLayout6.xml" Id="R55a7cf45add546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1e72f8fdb84770"/>
    <p:sldLayoutId xmlns:r="http://schemas.openxmlformats.org/officeDocument/2006/relationships" id="2147483650" r:id="R9d188d004df140b4"/>
    <p:sldLayoutId xmlns:r="http://schemas.openxmlformats.org/officeDocument/2006/relationships" id="2147483651" r:id="Rd65b89be43994cde"/>
    <p:sldLayoutId xmlns:r="http://schemas.openxmlformats.org/officeDocument/2006/relationships" id="2147483652" r:id="R64fd27de380f4024"/>
    <p:sldLayoutId xmlns:r="http://schemas.openxmlformats.org/officeDocument/2006/relationships" id="2147483653" r:id="R142358a510d54e1e"/>
    <p:sldLayoutId xmlns:r="http://schemas.openxmlformats.org/officeDocument/2006/relationships" id="2147483654" r:id="R55a7cf45add546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a393d154314ae5" /><Relationship Type="http://schemas.openxmlformats.org/officeDocument/2006/relationships/image" Target="/ppt/media/image.png" Id="R2b2448d0534b4abb" /><Relationship Type="http://schemas.openxmlformats.org/officeDocument/2006/relationships/notesSlide" Target="/ppt/notesSlides/notesSlide1.xml" Id="Rd221ab36bd694e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15a2d6545d4599" /><Relationship Type="http://schemas.openxmlformats.org/officeDocument/2006/relationships/notesSlide" Target="/ppt/notesSlides/notesSlide2.xml" Id="R65faa40b97e24a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cb85c7f29747b8" /><Relationship Type="http://schemas.openxmlformats.org/officeDocument/2006/relationships/notesSlide" Target="/ppt/notesSlides/notesSlide3.xml" Id="R3bee43966ab94b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4708d1768a46a9" /><Relationship Type="http://schemas.openxmlformats.org/officeDocument/2006/relationships/notesSlide" Target="/ppt/notesSlides/notesSlide4.xml" Id="R13c9147b8fee4c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6b9a5d48214cee" /><Relationship Type="http://schemas.openxmlformats.org/officeDocument/2006/relationships/notesSlide" Target="/ppt/notesSlides/notesSlide5.xml" Id="R2de3907b0d2a4b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ab0b9e0d51415b" /><Relationship Type="http://schemas.openxmlformats.org/officeDocument/2006/relationships/notesSlide" Target="/ppt/notesSlides/notesSlide6.xml" Id="Ra7e93ef9252541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db512b137242f5" /><Relationship Type="http://schemas.openxmlformats.org/officeDocument/2006/relationships/notesSlide" Target="/ppt/notesSlides/notesSlide7.xml" Id="R1e6808b197314b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35a1cf875b4d1d" /><Relationship Type="http://schemas.openxmlformats.org/officeDocument/2006/relationships/notesSlide" Target="/ppt/notesSlides/notesSlide8.xml" Id="R8a8addccf3b84d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402f2266599466a" /><Relationship Type="http://schemas.openxmlformats.org/officeDocument/2006/relationships/image" Target="/ppt/media/image2.png" Id="R8fa8fe0508ac4b03" /><Relationship Type="http://schemas.openxmlformats.org/officeDocument/2006/relationships/notesSlide" Target="/ppt/notesSlides/notesSlide9.xml" Id="R19922ba2e7c141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84ef4b16cf4ebd" /><Relationship Type="http://schemas.openxmlformats.org/officeDocument/2006/relationships/notesSlide" Target="/ppt/notesSlides/notesSlide10.xml" Id="Rb67c2db113e04b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b3540e1a384304" /><Relationship Type="http://schemas.openxmlformats.org/officeDocument/2006/relationships/notesSlide" Target="/ppt/notesSlides/notesSlide11.xml" Id="R8e727584e5184e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bcfb8cbbcf4bcd" /><Relationship Type="http://schemas.openxmlformats.org/officeDocument/2006/relationships/notesSlide" Target="/ppt/notesSlides/notesSlide12.xml" Id="R8a1953d1a6b64a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fc1d7c1d302459d" /><Relationship Type="http://schemas.openxmlformats.org/officeDocument/2006/relationships/notesSlide" Target="/ppt/notesSlides/notesSlide13.xml" Id="R21b9a288720c49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4125c3aabe145c4" /><Relationship Type="http://schemas.openxmlformats.org/officeDocument/2006/relationships/notesSlide" Target="/ppt/notesSlides/notesSlide14.xml" Id="R8e04b565c89347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baf5d71fa9446bf" /><Relationship Type="http://schemas.openxmlformats.org/officeDocument/2006/relationships/image" Target="/ppt/media/image3.png" Id="R4fa887fdad3a4ab2" /><Relationship Type="http://schemas.openxmlformats.org/officeDocument/2006/relationships/notesSlide" Target="/ppt/notesSlides/notesSlide15.xml" Id="R3186f61a1b824e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b470d55e20146fd" /><Relationship Type="http://schemas.openxmlformats.org/officeDocument/2006/relationships/notesSlide" Target="/ppt/notesSlides/notesSlide16.xml" Id="Re1bd5091df4e4a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7f932bc51f42ce" /><Relationship Type="http://schemas.openxmlformats.org/officeDocument/2006/relationships/notesSlide" Target="/ppt/notesSlides/notesSlide17.xml" Id="R606a2dda06264d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b171c1740854d81" /><Relationship Type="http://schemas.openxmlformats.org/officeDocument/2006/relationships/notesSlide" Target="/ppt/notesSlides/notesSlide18.xml" Id="Rae78dd42765b495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05554bae0c46d1" /><Relationship Type="http://schemas.openxmlformats.org/officeDocument/2006/relationships/notesSlide" Target="/ppt/notesSlides/notesSlide19.xml" Id="Rd951d4d97e07478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c54552981b747fa" /><Relationship Type="http://schemas.openxmlformats.org/officeDocument/2006/relationships/notesSlide" Target="/ppt/notesSlides/notesSlide20.xml" Id="R8666af432e444e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870773c145d4123" /><Relationship Type="http://schemas.openxmlformats.org/officeDocument/2006/relationships/notesSlide" Target="/ppt/notesSlides/notesSlide21.xml" Id="R51aa499ad13948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03a06c5c7ca4a79" /><Relationship Type="http://schemas.openxmlformats.org/officeDocument/2006/relationships/notesSlide" Target="/ppt/notesSlides/notesSlide22.xml" Id="R59cd3febac7842e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b619b3c4ce84978" /><Relationship Type="http://schemas.openxmlformats.org/officeDocument/2006/relationships/notesSlide" Target="/ppt/notesSlides/notesSlide23.xml" Id="R4f2c65c7fa854b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e4ed6aec55c44f7" /><Relationship Type="http://schemas.openxmlformats.org/officeDocument/2006/relationships/notesSlide" Target="/ppt/notesSlides/notesSlide24.xml" Id="R2ab092032f284d8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1202c92d0064e9c" /><Relationship Type="http://schemas.openxmlformats.org/officeDocument/2006/relationships/notesSlide" Target="/ppt/notesSlides/notesSlide25.xml" Id="R19ef435aa3374d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6afd3decafa4314" /><Relationship Type="http://schemas.openxmlformats.org/officeDocument/2006/relationships/notesSlide" Target="/ppt/notesSlides/notesSlide26.xml" Id="R98b5729da83a426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a3d32577c2245ef" /><Relationship Type="http://schemas.openxmlformats.org/officeDocument/2006/relationships/notesSlide" Target="/ppt/notesSlides/notesSlide27.xml" Id="R4196c44b6d7a48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7c1de1534554d6f" /><Relationship Type="http://schemas.openxmlformats.org/officeDocument/2006/relationships/notesSlide" Target="/ppt/notesSlides/notesSlide28.xml" Id="R9508a1efd1f44a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aba27050934c7d" /><Relationship Type="http://schemas.openxmlformats.org/officeDocument/2006/relationships/notesSlide" Target="/ppt/notesSlides/notesSlide29.xml" Id="R49b2e3cb2977477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3c9e19f32a44a5c" /><Relationship Type="http://schemas.openxmlformats.org/officeDocument/2006/relationships/notesSlide" Target="/ppt/notesSlides/notesSlide30.xml" Id="Rf781cfd19dc543b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6183e4848a14b23" /><Relationship Type="http://schemas.openxmlformats.org/officeDocument/2006/relationships/notesSlide" Target="/ppt/notesSlides/notesSlide31.xml" Id="R7d9fb6905ff24c3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df8b007c3ef40fc" /><Relationship Type="http://schemas.openxmlformats.org/officeDocument/2006/relationships/notesSlide" Target="/ppt/notesSlides/notesSlide32.xml" Id="R735cd4fdd80d424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cbc8f6a88994c91" /><Relationship Type="http://schemas.openxmlformats.org/officeDocument/2006/relationships/notesSlide" Target="/ppt/notesSlides/notesSlide33.xml" Id="Rb3ee818d1d64438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d67e65978fb465e" /><Relationship Type="http://schemas.openxmlformats.org/officeDocument/2006/relationships/notesSlide" Target="/ppt/notesSlides/notesSlide34.xml" Id="R6b173186cbf84b1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0216c714e744851" /><Relationship Type="http://schemas.openxmlformats.org/officeDocument/2006/relationships/notesSlide" Target="/ppt/notesSlides/notesSlide35.xml" Id="Rf15a373a5b0a4b6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33fd228c88a4984" /><Relationship Type="http://schemas.openxmlformats.org/officeDocument/2006/relationships/notesSlide" Target="/ppt/notesSlides/notesSlide36.xml" Id="Rebdd8894572748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a8a18f96a55401a" /><Relationship Type="http://schemas.openxmlformats.org/officeDocument/2006/relationships/notesSlide" Target="/ppt/notesSlides/notesSlide37.xml" Id="R523b1234b8e849e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ebbaef07b84419c" /><Relationship Type="http://schemas.openxmlformats.org/officeDocument/2006/relationships/hyperlink" Target="https://docs.google.com/forms/d/e/1FAIpQLSehGqFG7PZ1wfoBRTaooiO6bw5XPXrKkDJ6kWCXi-YmEx69Eg/viewform" TargetMode="External" Id="Ra058717a43424f17" /><Relationship Type="http://schemas.openxmlformats.org/officeDocument/2006/relationships/notesSlide" Target="/ppt/notesSlides/notesSlide38.xml" Id="R09571d98e8ce471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b4991453c85497f" /><Relationship Type="http://schemas.openxmlformats.org/officeDocument/2006/relationships/notesSlide" Target="/ppt/notesSlides/notesSlide39.xml" Id="Rabced2b6fde842e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6ead337ff164ff4" /><Relationship Type="http://schemas.openxmlformats.org/officeDocument/2006/relationships/image" Target="/ppt/media/image4.png" Id="R40b4fa26444b448e" /><Relationship Type="http://schemas.openxmlformats.org/officeDocument/2006/relationships/hyperlink" Target="https://forms.gle/2bRrHnq3mUEN84k19" TargetMode="External" Id="Rd5ba2b314aa64d53" /><Relationship Type="http://schemas.openxmlformats.org/officeDocument/2006/relationships/notesSlide" Target="/ppt/notesSlides/notesSlide40.xml" Id="R4d4c9d9135f04b4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2532d8733e940a8" /><Relationship Type="http://schemas.openxmlformats.org/officeDocument/2006/relationships/notesSlide" Target="/ppt/notesSlides/notesSlide41.xml" Id="R53cb7c5ea95d404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4a94662557a42fd" /><Relationship Type="http://schemas.openxmlformats.org/officeDocument/2006/relationships/notesSlide" Target="/ppt/notesSlides/notesSlide42.xml" Id="R3d72704066404c7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b2448d0534b4ab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45BA8C-AE94-4984-A602-AA350798CC54}"/>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BEB23F-B9A1-4EDE-A07B-44624ACDE63D}"/>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5</a:t>
            </a:r>
          </a:p>
        </p:txBody>
      </p:sp>
      <p:sp>
        <p:nvSpPr>
          <p:cNvPr id="4" name="">
            <a:extLst xmlns:a="http://schemas.openxmlformats.org/drawingml/2006/main">
              <a:ext uri="{FF2B5EF4-FFF2-40B4-BE49-F238E27FC236}">
                <a16:creationId xmlns:a16="http://schemas.microsoft.com/office/drawing/2014/main" id="{2CE8031E-F64C-448E-BE00-563413269C43}"/>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Using pandas to answer table questions</a:t>
            </a:r>
          </a:p>
        </p:txBody>
      </p:sp>
      <p:sp>
        <p:nvSpPr>
          <p:cNvPr id="5" name="">
            <a:extLst xmlns:a="http://schemas.openxmlformats.org/drawingml/2006/main">
              <a:ext uri="{FF2B5EF4-FFF2-40B4-BE49-F238E27FC236}">
                <a16:creationId xmlns:a16="http://schemas.microsoft.com/office/drawing/2014/main" id="{62123AF3-F7A5-4376-97A0-7862B9F05AE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ABADA21F-D204-4FBD-A64B-C797A5089A69}"/>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09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9211309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A10AD0-E1A9-4226-8789-9377D3FA74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57913C-A30E-4F71-893A-E03D196A53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3DDC12EF-1B12-4DA9-93A7-D2F983E448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A5DB40C8-CC6D-45FA-942A-8BCEC9DDA29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0682DC-032D-4BCD-A458-A2A7B7C8BE50}"/>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4AFE3D60-5537-4C07-A52B-B839C6C7C5EF}"/>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 labelled table and select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column summaries and grouped totals.</a:t>
            </a:r>
          </a:p>
        </p:txBody>
      </p:sp>
      <p:sp>
        <p:nvSpPr>
          <p:cNvPr id="7" name="">
            <a:extLst xmlns:a="http://schemas.openxmlformats.org/drawingml/2006/main">
              <a:ext uri="{FF2B5EF4-FFF2-40B4-BE49-F238E27FC236}">
                <a16:creationId xmlns:a16="http://schemas.microsoft.com/office/drawing/2014/main" id="{537A25E0-69AF-4E4B-AE6D-9D35802A53E4}"/>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D17A4B38-A911-4603-97EC-CE29B688B269}"/>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which observations a filter keeps and what a grouped total means.</a:t>
            </a:r>
          </a:p>
        </p:txBody>
      </p:sp>
      <p:sp>
        <p:nvSpPr>
          <p:cNvPr id="9" name="">
            <a:extLst xmlns:a="http://schemas.openxmlformats.org/drawingml/2006/main">
              <a:ext uri="{FF2B5EF4-FFF2-40B4-BE49-F238E27FC236}">
                <a16:creationId xmlns:a16="http://schemas.microsoft.com/office/drawing/2014/main" id="{E3F74828-6C62-4BFF-BB63-5DE3B16A14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a:t>
            </a:r>
          </a:p>
        </p:txBody>
      </p:sp>
    </p:spTree>
    <p:extLst>
      <p:ext uri="{BB962C8B-B14F-4D97-AF65-F5344CB8AC3E}">
        <p14:creationId xmlns:p14="http://schemas.microsoft.com/office/powerpoint/2010/main" val="6737450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48BFB8-6812-422C-94D1-72B54ED4642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B32942-5976-459D-A6B9-FAAD1D161D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3F608E4-2D97-4E7E-96FA-B3D87A0813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05BB1624-7B52-4D56-8B87-1C12D8DA29B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CCC36D-2B9C-4D4A-B97A-DC330D1E957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Week 4 used lists, dictionaries, loops and CSV rows. pandas keeps these same records in a labelled table and provides operations that work across its columns.</a:t>
            </a:r>
          </a:p>
        </p:txBody>
      </p:sp>
      <p:sp>
        <p:nvSpPr>
          <p:cNvPr id="6" name="">
            <a:extLst xmlns:a="http://schemas.openxmlformats.org/drawingml/2006/main">
              <a:ext uri="{FF2B5EF4-FFF2-40B4-BE49-F238E27FC236}">
                <a16:creationId xmlns:a16="http://schemas.microsoft.com/office/drawing/2014/main" id="{F1C2169B-1AEA-4A22-9DA1-73388C0B59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a:t>
            </a:r>
          </a:p>
        </p:txBody>
      </p:sp>
    </p:spTree>
    <p:extLst>
      <p:ext uri="{BB962C8B-B14F-4D97-AF65-F5344CB8AC3E}">
        <p14:creationId xmlns:p14="http://schemas.microsoft.com/office/powerpoint/2010/main" val="5321722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DE3D4B-7B06-4C44-A1E0-E3D6888553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874716-D838-4523-9C92-C97EF19F37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3AD8BE6-BC7C-4FD5-8703-095CD0D3AAB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D00C9E71-5F8B-40C6-AA9B-7FC4E9EBD522}"/>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55E2EB-7038-4BE3-BABF-5B46EF5D943F}"/>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supplied campus_energy.csv records campus electricity use.</a:t>
            </a:r>
          </a:p>
        </p:txBody>
      </p:sp>
      <p:sp>
        <p:nvSpPr>
          <p:cNvPr id="6" name="">
            <a:extLst xmlns:a="http://schemas.openxmlformats.org/drawingml/2006/main">
              <a:ext uri="{FF2B5EF4-FFF2-40B4-BE49-F238E27FC236}">
                <a16:creationId xmlns:a16="http://schemas.microsoft.com/office/drawing/2014/main" id="{9E2046F5-88FE-4782-97DC-32C84DE5B864}"/>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practise pandas on four invented rows first, then inspect the supplied file and its units.</a:t>
            </a:r>
          </a:p>
        </p:txBody>
      </p:sp>
      <p:sp>
        <p:nvSpPr>
          <p:cNvPr id="7" name="">
            <a:extLst xmlns:a="http://schemas.openxmlformats.org/drawingml/2006/main">
              <a:ext uri="{FF2B5EF4-FFF2-40B4-BE49-F238E27FC236}">
                <a16:creationId xmlns:a16="http://schemas.microsoft.com/office/drawing/2014/main" id="{D1DA82F8-22D2-4258-9162-226557C863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4</a:t>
            </a:r>
          </a:p>
        </p:txBody>
      </p:sp>
    </p:spTree>
    <p:extLst>
      <p:ext uri="{BB962C8B-B14F-4D97-AF65-F5344CB8AC3E}">
        <p14:creationId xmlns:p14="http://schemas.microsoft.com/office/powerpoint/2010/main" val="11226229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303B01D-2155-413B-A2E5-FE0D852E53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84F80D-BB16-4495-9927-BEA9A1A8C8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0DBBE6D-9994-4A89-AA8F-04359585BD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columns and units</a:t>
            </a:r>
          </a:p>
        </p:txBody>
      </p:sp>
      <p:sp>
        <p:nvSpPr>
          <p:cNvPr id="4" name="">
            <a:extLst xmlns:a="http://schemas.openxmlformats.org/drawingml/2006/main">
              <a:ext uri="{FF2B5EF4-FFF2-40B4-BE49-F238E27FC236}">
                <a16:creationId xmlns:a16="http://schemas.microsoft.com/office/drawing/2014/main" id="{91AD2344-0E3B-4F06-B94F-2D8822465E2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46C0C03-B680-4FB9-99FC-272BBCEF63A5}"/>
              </a:ext>
            </a:extLst>
          </p:cNvPr>
          <p:cNvSpPr>
            <a:spLocks xmlns:a="http://schemas.openxmlformats.org/drawingml/2006/main" noGrp="1"/>
          </p:cNvSpPr>
          <p:nvPr/>
        </p:nvSpPr>
        <p:spPr>
          <a:xfrm xmlns:a="http://schemas.openxmlformats.org/drawingml/2006/main">
            <a:off x="1381125" y="17811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row describes one observation. A column describes one field.</a:t>
            </a:r>
          </a:p>
        </p:txBody>
      </p:sp>
      <p:sp>
        <p:nvSpPr>
          <p:cNvPr id="6" name="">
            <a:extLst xmlns:a="http://schemas.openxmlformats.org/drawingml/2006/main">
              <a:ext uri="{FF2B5EF4-FFF2-40B4-BE49-F238E27FC236}">
                <a16:creationId xmlns:a16="http://schemas.microsoft.com/office/drawing/2014/main" id="{E919474C-F6AD-4AC4-95AB-97636EDFB565}"/>
              </a:ext>
            </a:extLst>
          </p:cNvPr>
          <p:cNvSpPr>
            <a:spLocks xmlns:a="http://schemas.openxmlformats.org/drawingml/2006/main" noGrp="1"/>
          </p:cNvSpPr>
          <p:nvPr/>
        </p:nvSpPr>
        <p:spPr>
          <a:xfrm xmlns:a="http://schemas.openxmlformats.org/drawingml/2006/main">
            <a:off x="590550" y="26384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3AEFBCD-DD79-4423-9E6E-2F1B6E3590DB}"/>
              </a:ext>
            </a:extLst>
          </p:cNvPr>
          <p:cNvSpPr>
            <a:spLocks xmlns:a="http://schemas.openxmlformats.org/drawingml/2006/main" noGrp="1"/>
          </p:cNvSpPr>
          <p:nvPr/>
        </p:nvSpPr>
        <p:spPr>
          <a:xfrm xmlns:a="http://schemas.openxmlformats.org/drawingml/2006/main">
            <a:off x="1381125" y="263842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DataFrame is pandas’ labelled table.</a:t>
            </a:r>
          </a:p>
        </p:txBody>
      </p:sp>
      <p:sp>
        <p:nvSpPr>
          <p:cNvPr id="8" name="">
            <a:extLst xmlns:a="http://schemas.openxmlformats.org/drawingml/2006/main">
              <a:ext uri="{FF2B5EF4-FFF2-40B4-BE49-F238E27FC236}">
                <a16:creationId xmlns:a16="http://schemas.microsoft.com/office/drawing/2014/main" id="{E42A5FAA-961C-40F2-A683-7B5882BE5211}"/>
              </a:ext>
            </a:extLst>
          </p:cNvPr>
          <p:cNvSpPr>
            <a:spLocks xmlns:a="http://schemas.openxmlformats.org/drawingml/2006/main" noGrp="1"/>
          </p:cNvSpPr>
          <p:nvPr/>
        </p:nvSpPr>
        <p:spPr>
          <a:xfrm xmlns:a="http://schemas.openxmlformats.org/drawingml/2006/main">
            <a:off x="590550" y="3495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B3D8895-A568-453F-8536-0CB95B3BD770}"/>
              </a:ext>
            </a:extLst>
          </p:cNvPr>
          <p:cNvSpPr>
            <a:spLocks xmlns:a="http://schemas.openxmlformats.org/drawingml/2006/main" noGrp="1"/>
          </p:cNvSpPr>
          <p:nvPr/>
        </p:nvSpPr>
        <p:spPr>
          <a:xfrm xmlns:a="http://schemas.openxmlformats.org/drawingml/2006/main">
            <a:off x="1381125" y="34956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Series is one labelled column.</a:t>
            </a:r>
          </a:p>
        </p:txBody>
      </p:sp>
      <p:sp>
        <p:nvSpPr>
          <p:cNvPr id="10" name="">
            <a:extLst xmlns:a="http://schemas.openxmlformats.org/drawingml/2006/main">
              <a:ext uri="{FF2B5EF4-FFF2-40B4-BE49-F238E27FC236}">
                <a16:creationId xmlns:a16="http://schemas.microsoft.com/office/drawing/2014/main" id="{CD73DBCD-AE5E-4898-8C68-7B6DE9A18D8E}"/>
              </a:ext>
            </a:extLst>
          </p:cNvPr>
          <p:cNvSpPr>
            <a:spLocks xmlns:a="http://schemas.openxmlformats.org/drawingml/2006/main" noGrp="1"/>
          </p:cNvSpPr>
          <p:nvPr/>
        </p:nvSpPr>
        <p:spPr>
          <a:xfrm xmlns:a="http://schemas.openxmlformats.org/drawingml/2006/main">
            <a:off x="590550" y="4352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6443F81-F45B-4497-8D64-9FCD86EF9505}"/>
              </a:ext>
            </a:extLst>
          </p:cNvPr>
          <p:cNvSpPr>
            <a:spLocks xmlns:a="http://schemas.openxmlformats.org/drawingml/2006/main" noGrp="1"/>
          </p:cNvSpPr>
          <p:nvPr/>
        </p:nvSpPr>
        <p:spPr>
          <a:xfrm xmlns:a="http://schemas.openxmlformats.org/drawingml/2006/main">
            <a:off x="1381125" y="435292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kWh measures energy. kW measures power.</a:t>
            </a:r>
          </a:p>
        </p:txBody>
      </p:sp>
      <p:sp>
        <p:nvSpPr>
          <p:cNvPr id="12" name="">
            <a:extLst xmlns:a="http://schemas.openxmlformats.org/drawingml/2006/main">
              <a:ext uri="{FF2B5EF4-FFF2-40B4-BE49-F238E27FC236}">
                <a16:creationId xmlns:a16="http://schemas.microsoft.com/office/drawing/2014/main" id="{938A5F54-2C40-47D2-9C46-1BE13382CF41}"/>
              </a:ext>
            </a:extLst>
          </p:cNvPr>
          <p:cNvSpPr>
            <a:spLocks xmlns:a="http://schemas.openxmlformats.org/drawingml/2006/main" noGrp="1"/>
          </p:cNvSpPr>
          <p:nvPr/>
        </p:nvSpPr>
        <p:spPr>
          <a:xfrm xmlns:a="http://schemas.openxmlformats.org/drawingml/2006/main">
            <a:off x="590550" y="5210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05</a:t>
            </a:r>
          </a:p>
        </p:txBody>
      </p:sp>
      <p:sp>
        <p:nvSpPr>
          <p:cNvPr id="13" name="">
            <a:extLst xmlns:a="http://schemas.openxmlformats.org/drawingml/2006/main">
              <a:ext uri="{FF2B5EF4-FFF2-40B4-BE49-F238E27FC236}">
                <a16:creationId xmlns:a16="http://schemas.microsoft.com/office/drawing/2014/main" id="{6683A895-22F3-4088-943B-08E57A9C398E}"/>
              </a:ext>
            </a:extLst>
          </p:cNvPr>
          <p:cNvSpPr>
            <a:spLocks xmlns:a="http://schemas.openxmlformats.org/drawingml/2006/main" noGrp="1"/>
          </p:cNvSpPr>
          <p:nvPr/>
        </p:nvSpPr>
        <p:spPr>
          <a:xfrm xmlns:a="http://schemas.openxmlformats.org/drawingml/2006/main">
            <a:off x="1381125" y="52101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 type (dtype) describes the kind of values in a column, such as whole numbers, decimals or text.</a:t>
            </a:r>
          </a:p>
        </p:txBody>
      </p:sp>
      <p:sp>
        <p:nvSpPr>
          <p:cNvPr id="14" name="">
            <a:extLst xmlns:a="http://schemas.openxmlformats.org/drawingml/2006/main">
              <a:ext uri="{FF2B5EF4-FFF2-40B4-BE49-F238E27FC236}">
                <a16:creationId xmlns:a16="http://schemas.microsoft.com/office/drawing/2014/main" id="{8905A52D-F0A9-4A25-ABD6-038B90785F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5</a:t>
            </a:r>
          </a:p>
        </p:txBody>
      </p:sp>
    </p:spTree>
    <p:extLst>
      <p:ext uri="{BB962C8B-B14F-4D97-AF65-F5344CB8AC3E}">
        <p14:creationId xmlns:p14="http://schemas.microsoft.com/office/powerpoint/2010/main" val="15925278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D7E752-C49C-4023-99CA-8AC22B563B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877C89-3A17-4E6B-8EF6-A0FF1CD616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4A9B390-AF02-478A-9B67-7B361AAD56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table keeps related observations together</a:t>
            </a:r>
          </a:p>
        </p:txBody>
      </p:sp>
      <p:sp>
        <p:nvSpPr>
          <p:cNvPr id="4" name="">
            <a:extLst xmlns:a="http://schemas.openxmlformats.org/drawingml/2006/main">
              <a:ext uri="{FF2B5EF4-FFF2-40B4-BE49-F238E27FC236}">
                <a16:creationId xmlns:a16="http://schemas.microsoft.com/office/drawing/2014/main" id="{5F3F2350-6B84-4933-8863-3F2B0E2ECA6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3BF1B11-57EE-4469-BF02-D4D98A5953D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four rows record building A twice and building B twice.</a:t>
            </a:r>
          </a:p>
        </p:txBody>
      </p:sp>
      <p:sp>
        <p:nvSpPr>
          <p:cNvPr id="6" name="">
            <a:extLst xmlns:a="http://schemas.openxmlformats.org/drawingml/2006/main">
              <a:ext uri="{FF2B5EF4-FFF2-40B4-BE49-F238E27FC236}">
                <a16:creationId xmlns:a16="http://schemas.microsoft.com/office/drawing/2014/main" id="{FBD1FC6F-85F1-4E89-B00C-96504531106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244AC13-FEC0-4A79-A278-C94A1808D5F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the building label and an energy reading.</a:t>
            </a:r>
          </a:p>
        </p:txBody>
      </p:sp>
      <p:sp>
        <p:nvSpPr>
          <p:cNvPr id="8" name="">
            <a:extLst xmlns:a="http://schemas.openxmlformats.org/drawingml/2006/main">
              <a:ext uri="{FF2B5EF4-FFF2-40B4-BE49-F238E27FC236}">
                <a16:creationId xmlns:a16="http://schemas.microsoft.com/office/drawing/2014/main" id="{373B89FC-55CD-4CF9-B054-AC75679AAF4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B75C5E-DB81-4A7D-951D-8D51453DE15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kWh is energy. kW is power. The units describe different quantities.</a:t>
            </a:r>
          </a:p>
        </p:txBody>
      </p:sp>
      <p:sp>
        <p:nvSpPr>
          <p:cNvPr id="10" name="">
            <a:extLst xmlns:a="http://schemas.openxmlformats.org/drawingml/2006/main">
              <a:ext uri="{FF2B5EF4-FFF2-40B4-BE49-F238E27FC236}">
                <a16:creationId xmlns:a16="http://schemas.microsoft.com/office/drawing/2014/main" id="{6F938767-AB5F-4EA2-943C-7B6038BD78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6</a:t>
            </a:r>
          </a:p>
        </p:txBody>
      </p:sp>
    </p:spTree>
    <p:extLst>
      <p:ext uri="{BB962C8B-B14F-4D97-AF65-F5344CB8AC3E}">
        <p14:creationId xmlns:p14="http://schemas.microsoft.com/office/powerpoint/2010/main" val="9753193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C59BCB-C1AB-43CB-BBC3-C8154F3587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C0FA03-8523-4450-B35B-FD83BC90D8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1ACE27CA-A3A6-4E37-BB89-83F78B9143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Our small energy table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building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kwh</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5</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B</a:t>
                      </a:r>
                    </a:p>
                  </a:txBody>
                  <a:tcPr marL="91440" marR="91440" marT="45720" marB="45720">
                    <a:solidFill>
                      <a:srgbClr val="FFFFFF"/>
                    </a:solidFill>
                  </a:tcPr>
                </a:tc>
                <a:tc>
                  <a:txBody>
                    <a:bodyPr/>
                    <a:lstStyle/>
                    <a:p>
                      <a:r>
                        <a:rPr sz="2025" b="0">
                          <a:solidFill>
                            <a:srgbClr val="1C3144"/>
                          </a:solidFill>
                          <a:latin typeface="Calibri"/>
                          <a:ea typeface="Calibri"/>
                          <a:cs typeface="Calibri"/>
                        </a:rPr>
                        <a:t>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62AADE5-92D8-4757-AFD7-913D3FF38A2F}"/>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four observations total 18 kWh.</a:t>
            </a:r>
          </a:p>
        </p:txBody>
      </p:sp>
      <p:sp>
        <p:nvSpPr>
          <p:cNvPr id="6" name="">
            <a:extLst xmlns:a="http://schemas.openxmlformats.org/drawingml/2006/main">
              <a:ext uri="{FF2B5EF4-FFF2-40B4-BE49-F238E27FC236}">
                <a16:creationId xmlns:a16="http://schemas.microsoft.com/office/drawing/2014/main" id="{8744A634-34F8-4741-8F6A-D3271B34C52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7</a:t>
            </a:r>
          </a:p>
        </p:txBody>
      </p:sp>
    </p:spTree>
    <p:extLst>
      <p:ext uri="{BB962C8B-B14F-4D97-AF65-F5344CB8AC3E}">
        <p14:creationId xmlns:p14="http://schemas.microsoft.com/office/powerpoint/2010/main" val="12065910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8ED8BB-F580-4273-AE85-443B856370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DDE25E-8DD1-4FAD-9320-E444411EE4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A8F50FD-C907-4730-9AA6-2E2A5BCBD3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Library and pandas and DataFrame</a:t>
            </a:r>
          </a:p>
        </p:txBody>
      </p:sp>
      <p:sp>
        <p:nvSpPr>
          <p:cNvPr id="4" name="">
            <a:extLst xmlns:a="http://schemas.openxmlformats.org/drawingml/2006/main">
              <a:ext uri="{FF2B5EF4-FFF2-40B4-BE49-F238E27FC236}">
                <a16:creationId xmlns:a16="http://schemas.microsoft.com/office/drawing/2014/main" id="{89BAB771-53C8-47F2-9307-77557CE7BD20}"/>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9E135B-B567-4816-A09D-27EA73699EBE}"/>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Library and pandas</a:t>
            </a:r>
          </a:p>
        </p:txBody>
      </p:sp>
      <p:sp>
        <p:nvSpPr>
          <p:cNvPr id="6" name="">
            <a:extLst xmlns:a="http://schemas.openxmlformats.org/drawingml/2006/main">
              <a:ext uri="{FF2B5EF4-FFF2-40B4-BE49-F238E27FC236}">
                <a16:creationId xmlns:a16="http://schemas.microsoft.com/office/drawing/2014/main" id="{77070318-9803-465B-86D7-29D3E90F801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library is reusable code. pandas provides tools for data tables. import pandas as pd makes pd a short name for that library.</a:t>
            </a:r>
          </a:p>
        </p:txBody>
      </p:sp>
      <p:sp>
        <p:nvSpPr>
          <p:cNvPr id="7" name="">
            <a:extLst xmlns:a="http://schemas.openxmlformats.org/drawingml/2006/main">
              <a:ext uri="{FF2B5EF4-FFF2-40B4-BE49-F238E27FC236}">
                <a16:creationId xmlns:a16="http://schemas.microsoft.com/office/drawing/2014/main" id="{EB656262-15AA-44F8-A795-F1442382F3A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79D262-213A-4DEB-B92E-0552AFA86DE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DataFrame</a:t>
            </a:r>
          </a:p>
        </p:txBody>
      </p:sp>
      <p:sp>
        <p:nvSpPr>
          <p:cNvPr id="9" name="">
            <a:extLst xmlns:a="http://schemas.openxmlformats.org/drawingml/2006/main">
              <a:ext uri="{FF2B5EF4-FFF2-40B4-BE49-F238E27FC236}">
                <a16:creationId xmlns:a16="http://schemas.microsoft.com/office/drawing/2014/main" id="{20583A7E-DC50-4345-B02B-4B81C061E89A}"/>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table with named columns and indexed rows. df is just the variable name we choose for this table.</a:t>
            </a:r>
          </a:p>
        </p:txBody>
      </p:sp>
      <p:sp>
        <p:nvSpPr>
          <p:cNvPr id="10" name="">
            <a:extLst xmlns:a="http://schemas.openxmlformats.org/drawingml/2006/main">
              <a:ext uri="{FF2B5EF4-FFF2-40B4-BE49-F238E27FC236}">
                <a16:creationId xmlns:a16="http://schemas.microsoft.com/office/drawing/2014/main" id="{573775A3-18B5-40BD-B747-161F805689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8</a:t>
            </a:r>
          </a:p>
        </p:txBody>
      </p:sp>
    </p:spTree>
    <p:extLst>
      <p:ext uri="{BB962C8B-B14F-4D97-AF65-F5344CB8AC3E}">
        <p14:creationId xmlns:p14="http://schemas.microsoft.com/office/powerpoint/2010/main" val="16252483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C06B90-C41A-43CC-B46D-7A9139F1DA16}"/>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90BAC0-2E61-4891-9FAF-2B6D99EF2BB2}"/>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labelled table in Python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fa8fe0508ac4b03"/>
          <a:stretch xmlns:a="http://schemas.openxmlformats.org/drawingml/2006/main"/>
        </p:blipFill>
        <p:spPr>
          <a:xfrm xmlns:a="http://schemas.openxmlformats.org/drawingml/2006/main">
            <a:off x="509073" y="1057275"/>
            <a:ext cx="11173854"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54194F7-3E3A-4634-8EE9-59BAE81579F7}"/>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7D9C19-4EB7-4E51-86A8-8B2BDF5CA22D}"/>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illustration uses machinery records. The same row, column and index structure applies to our building-energy table.</a:t>
            </a:r>
          </a:p>
        </p:txBody>
      </p:sp>
      <p:sp>
        <p:nvSpPr>
          <p:cNvPr id="6" name="">
            <a:extLst xmlns:a="http://schemas.openxmlformats.org/drawingml/2006/main">
              <a:ext uri="{FF2B5EF4-FFF2-40B4-BE49-F238E27FC236}">
                <a16:creationId xmlns:a16="http://schemas.microsoft.com/office/drawing/2014/main" id="{39C542B0-D909-4DE3-89B4-E84F39B15D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9</a:t>
            </a:r>
          </a:p>
        </p:txBody>
      </p:sp>
    </p:spTree>
    <p:extLst>
      <p:ext uri="{BB962C8B-B14F-4D97-AF65-F5344CB8AC3E}">
        <p14:creationId xmlns:p14="http://schemas.microsoft.com/office/powerpoint/2010/main" val="16890901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19909B-68DE-49D1-BC07-923C5D7516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F934D1-26B7-4134-9102-4AFC556924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9264A646-8741-4FD9-BAF0-375FE0FA83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Series and Method and attribute</a:t>
            </a:r>
          </a:p>
        </p:txBody>
      </p:sp>
      <p:sp>
        <p:nvSpPr>
          <p:cNvPr id="4" name="">
            <a:extLst xmlns:a="http://schemas.openxmlformats.org/drawingml/2006/main">
              <a:ext uri="{FF2B5EF4-FFF2-40B4-BE49-F238E27FC236}">
                <a16:creationId xmlns:a16="http://schemas.microsoft.com/office/drawing/2014/main" id="{1483E62A-8EB3-41C3-BD9C-AA2E671F7829}"/>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1A26EC-EB39-4D02-932D-5F1CBC21F79F}"/>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Series</a:t>
            </a:r>
          </a:p>
        </p:txBody>
      </p:sp>
      <p:sp>
        <p:nvSpPr>
          <p:cNvPr id="6" name="">
            <a:extLst xmlns:a="http://schemas.openxmlformats.org/drawingml/2006/main">
              <a:ext uri="{FF2B5EF4-FFF2-40B4-BE49-F238E27FC236}">
                <a16:creationId xmlns:a16="http://schemas.microsoft.com/office/drawing/2014/main" id="{DDEFEC5F-DAC1-4391-A05E-D6FF775A6BA1}"/>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One labelled column. df["kwh"] selects the column named kwh.</a:t>
            </a:r>
          </a:p>
        </p:txBody>
      </p:sp>
      <p:sp>
        <p:nvSpPr>
          <p:cNvPr id="7" name="">
            <a:extLst xmlns:a="http://schemas.openxmlformats.org/drawingml/2006/main">
              <a:ext uri="{FF2B5EF4-FFF2-40B4-BE49-F238E27FC236}">
                <a16:creationId xmlns:a16="http://schemas.microsoft.com/office/drawing/2014/main" id="{C1637481-C717-4AC1-B1A6-645E17DD9FD5}"/>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1F1591-5048-4562-BC94-71711533FF2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Method and attribute</a:t>
            </a:r>
          </a:p>
        </p:txBody>
      </p:sp>
      <p:sp>
        <p:nvSpPr>
          <p:cNvPr id="9" name="">
            <a:extLst xmlns:a="http://schemas.openxmlformats.org/drawingml/2006/main">
              <a:ext uri="{FF2B5EF4-FFF2-40B4-BE49-F238E27FC236}">
                <a16:creationId xmlns:a16="http://schemas.microsoft.com/office/drawing/2014/main" id="{96B43619-659F-44F2-9866-3A8718E6B68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method performs an operation, as in df.head(). An attribute provides a stored property, as in df.shape. Parentheses call an operation.</a:t>
            </a:r>
          </a:p>
        </p:txBody>
      </p:sp>
      <p:sp>
        <p:nvSpPr>
          <p:cNvPr id="10" name="">
            <a:extLst xmlns:a="http://schemas.openxmlformats.org/drawingml/2006/main">
              <a:ext uri="{FF2B5EF4-FFF2-40B4-BE49-F238E27FC236}">
                <a16:creationId xmlns:a16="http://schemas.microsoft.com/office/drawing/2014/main" id="{EE65830B-3862-4F43-855D-9188E52913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10</a:t>
            </a:r>
          </a:p>
        </p:txBody>
      </p:sp>
    </p:spTree>
    <p:extLst>
      <p:ext uri="{BB962C8B-B14F-4D97-AF65-F5344CB8AC3E}">
        <p14:creationId xmlns:p14="http://schemas.microsoft.com/office/powerpoint/2010/main" val="9500765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BAAD40-7C55-4247-9AFD-D0E492DE62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7DBEB0-EDA1-4816-8896-278C21C0AD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0BE40BE-6035-4CCC-8098-5DB7403E22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pandas syntax</a:t>
            </a:r>
          </a:p>
        </p:txBody>
      </p:sp>
      <p:sp>
        <p:nvSpPr>
          <p:cNvPr id="4" name="">
            <a:extLst xmlns:a="http://schemas.openxmlformats.org/drawingml/2006/main">
              <a:ext uri="{FF2B5EF4-FFF2-40B4-BE49-F238E27FC236}">
                <a16:creationId xmlns:a16="http://schemas.microsoft.com/office/drawing/2014/main" id="{464C212A-A66C-4EF7-BD50-A4486B34E14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D15872-06EC-4270-B77D-F209E6A4159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the library and gives it a short name.</a:t>
            </a:r>
          </a:p>
        </p:txBody>
      </p:sp>
      <p:sp>
        <p:nvSpPr>
          <p:cNvPr id="6" name="">
            <a:extLst xmlns:a="http://schemas.openxmlformats.org/drawingml/2006/main">
              <a:ext uri="{FF2B5EF4-FFF2-40B4-BE49-F238E27FC236}">
                <a16:creationId xmlns:a16="http://schemas.microsoft.com/office/drawing/2014/main" id="{ECD11D78-C4AA-4BA7-8206-CA18109FA12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EDBAB8E-9727-47C4-9E40-8E1F14AEFF5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pd.read_csv("file.csv") calls a function. The quoted text is the file path.</a:t>
            </a:r>
          </a:p>
        </p:txBody>
      </p:sp>
      <p:sp>
        <p:nvSpPr>
          <p:cNvPr id="8" name="">
            <a:extLst xmlns:a="http://schemas.openxmlformats.org/drawingml/2006/main">
              <a:ext uri="{FF2B5EF4-FFF2-40B4-BE49-F238E27FC236}">
                <a16:creationId xmlns:a16="http://schemas.microsoft.com/office/drawing/2014/main" id="{386C56B7-0633-425B-8C5B-78B6294C777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9A99225-6AC2-440C-BF85-B689B3C5F0F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df["kwh"] selects a column. df["kwh"].mean() calls a method on that column.</a:t>
            </a:r>
          </a:p>
        </p:txBody>
      </p:sp>
      <p:sp>
        <p:nvSpPr>
          <p:cNvPr id="10" name="">
            <a:extLst xmlns:a="http://schemas.openxmlformats.org/drawingml/2006/main">
              <a:ext uri="{FF2B5EF4-FFF2-40B4-BE49-F238E27FC236}">
                <a16:creationId xmlns:a16="http://schemas.microsoft.com/office/drawing/2014/main" id="{67B5D6E6-D6AB-4E95-8F9F-777031EC83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11</a:t>
            </a:r>
          </a:p>
        </p:txBody>
      </p:sp>
    </p:spTree>
    <p:extLst>
      <p:ext uri="{BB962C8B-B14F-4D97-AF65-F5344CB8AC3E}">
        <p14:creationId xmlns:p14="http://schemas.microsoft.com/office/powerpoint/2010/main" val="2090640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B5F318-E51B-4030-8BB8-25C6E86A08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45E06A-1693-48E0-8BCA-18C42F420D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0CBA76F-284F-45BC-A1FF-F1E699CEC4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Build the table before asking questions</a:t>
            </a:r>
          </a:p>
        </p:txBody>
      </p:sp>
      <p:sp>
        <p:nvSpPr>
          <p:cNvPr id="4" name="">
            <a:extLst xmlns:a="http://schemas.openxmlformats.org/drawingml/2006/main">
              <a:ext uri="{FF2B5EF4-FFF2-40B4-BE49-F238E27FC236}">
                <a16:creationId xmlns:a16="http://schemas.microsoft.com/office/drawing/2014/main" id="{2D500797-B311-4ABC-86D9-8BEF2130CCE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9151A4-F425-404E-B236-A969F841AB3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pandas as pd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 = pd.DataFrame({"building": ["A", "A", "B",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"kwh": [2, 4, 5, 7]})</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a:t>
            </a:r>
          </a:p>
        </p:txBody>
      </p:sp>
      <p:sp>
        <p:nvSpPr>
          <p:cNvPr id="6" name="">
            <a:extLst xmlns:a="http://schemas.openxmlformats.org/drawingml/2006/main">
              <a:ext uri="{FF2B5EF4-FFF2-40B4-BE49-F238E27FC236}">
                <a16:creationId xmlns:a16="http://schemas.microsoft.com/office/drawing/2014/main" id="{9FAFE343-342C-4B2D-9C01-926DDD35D67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67CFDF7A-C57B-4FC7-8C08-A19C20FD741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Each dictionary key becomes a column name. Equal-length lists supply its rows.</a:t>
            </a:r>
          </a:p>
        </p:txBody>
      </p:sp>
      <p:sp>
        <p:nvSpPr>
          <p:cNvPr id="8" name="">
            <a:extLst xmlns:a="http://schemas.openxmlformats.org/drawingml/2006/main">
              <a:ext uri="{FF2B5EF4-FFF2-40B4-BE49-F238E27FC236}">
                <a16:creationId xmlns:a16="http://schemas.microsoft.com/office/drawing/2014/main" id="{B197C383-2502-49D4-B0D3-BFCAA5D542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12</a:t>
            </a:r>
          </a:p>
        </p:txBody>
      </p:sp>
    </p:spTree>
    <p:extLst>
      <p:ext uri="{BB962C8B-B14F-4D97-AF65-F5344CB8AC3E}">
        <p14:creationId xmlns:p14="http://schemas.microsoft.com/office/powerpoint/2010/main" val="4230191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F57BAB-A9D8-4CEA-884D-B70F0B31F3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68AB36-ED05-43DC-820A-9D509142A13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FD60618-5AC1-42AD-A313-9DE671DE0A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 a column and calculate its mean</a:t>
            </a:r>
          </a:p>
        </p:txBody>
      </p:sp>
      <p:sp>
        <p:nvSpPr>
          <p:cNvPr id="4" name="">
            <a:extLst xmlns:a="http://schemas.openxmlformats.org/drawingml/2006/main">
              <a:ext uri="{FF2B5EF4-FFF2-40B4-BE49-F238E27FC236}">
                <a16:creationId xmlns:a16="http://schemas.microsoft.com/office/drawing/2014/main" id="{4236139C-EBE3-4BCC-B836-7DB0B149BB0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9FC952-4E1C-48EC-BEF1-FC786C3D0AF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print(df["kwh"])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print(df["kwh"].mean())</a:t>
            </a:r>
          </a:p>
        </p:txBody>
      </p:sp>
      <p:sp>
        <p:nvSpPr>
          <p:cNvPr id="6" name="">
            <a:extLst xmlns:a="http://schemas.openxmlformats.org/drawingml/2006/main">
              <a:ext uri="{FF2B5EF4-FFF2-40B4-BE49-F238E27FC236}">
                <a16:creationId xmlns:a16="http://schemas.microsoft.com/office/drawing/2014/main" id="{BC7D6A15-6D24-4220-8089-869AB4E3208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D6E46FE-5543-4218-8231-1A5B8FCD920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3C6A03DA-53A8-4084-9C5D-2948DDF0F77D}"/>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515D8980-8D0B-4C7D-9A36-A1CC8E1DE71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four numbers are 2, 4, 5 and 7. Their mean is 18 / 4 = 4.5 kWh.</a:t>
            </a:r>
          </a:p>
        </p:txBody>
      </p:sp>
      <p:sp>
        <p:nvSpPr>
          <p:cNvPr id="10" name="">
            <a:extLst xmlns:a="http://schemas.openxmlformats.org/drawingml/2006/main">
              <a:ext uri="{FF2B5EF4-FFF2-40B4-BE49-F238E27FC236}">
                <a16:creationId xmlns:a16="http://schemas.microsoft.com/office/drawing/2014/main" id="{4F83CCEA-D37E-4A4A-9E2F-2C009B01040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13</a:t>
            </a:r>
          </a:p>
        </p:txBody>
      </p:sp>
    </p:spTree>
    <p:extLst>
      <p:ext uri="{BB962C8B-B14F-4D97-AF65-F5344CB8AC3E}">
        <p14:creationId xmlns:p14="http://schemas.microsoft.com/office/powerpoint/2010/main" val="12475229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36A735-1EBC-4BC0-9B7F-5CCCC12087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D50C0C-9C9D-46EF-8223-6C8CDD4424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5FDEE14-D158-44A6-ACC9-9E4A1A6211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Mask and filter</a:t>
            </a:r>
          </a:p>
        </p:txBody>
      </p:sp>
      <p:sp>
        <p:nvSpPr>
          <p:cNvPr id="4" name="">
            <a:extLst xmlns:a="http://schemas.openxmlformats.org/drawingml/2006/main">
              <a:ext uri="{FF2B5EF4-FFF2-40B4-BE49-F238E27FC236}">
                <a16:creationId xmlns:a16="http://schemas.microsoft.com/office/drawing/2014/main" id="{098AE20D-AEAB-431A-A232-14C26F68B830}"/>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9A8706-7333-4D00-A3C9-3D789FA4FE31}"/>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Mask and filter</a:t>
            </a:r>
          </a:p>
        </p:txBody>
      </p:sp>
      <p:sp>
        <p:nvSpPr>
          <p:cNvPr id="6" name="">
            <a:extLst xmlns:a="http://schemas.openxmlformats.org/drawingml/2006/main">
              <a:ext uri="{FF2B5EF4-FFF2-40B4-BE49-F238E27FC236}">
                <a16:creationId xmlns:a16="http://schemas.microsoft.com/office/drawing/2014/main" id="{EFE59E89-BFFF-4F4E-9A91-B3E01E74C1C3}"/>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comparison produces True/False for each row. df[mask] keeps the True rows.</a:t>
            </a:r>
          </a:p>
        </p:txBody>
      </p:sp>
      <p:sp>
        <p:nvSpPr>
          <p:cNvPr id="7" name="">
            <a:extLst xmlns:a="http://schemas.openxmlformats.org/drawingml/2006/main">
              <a:ext uri="{FF2B5EF4-FFF2-40B4-BE49-F238E27FC236}">
                <a16:creationId xmlns:a16="http://schemas.microsoft.com/office/drawing/2014/main" id="{DA2B44FE-3191-46F1-8921-55F519ADAE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14</a:t>
            </a:r>
          </a:p>
        </p:txBody>
      </p:sp>
    </p:spTree>
    <p:extLst>
      <p:ext uri="{BB962C8B-B14F-4D97-AF65-F5344CB8AC3E}">
        <p14:creationId xmlns:p14="http://schemas.microsoft.com/office/powerpoint/2010/main" val="9032729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0DF1C9-24CB-461E-A08F-C9DF6C3BA084}"/>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2D79FF-3AAD-49B7-B0AC-6EFE4BB3F497}"/>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comparison creates a Boolean mask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fa887fdad3a4ab2"/>
          <a:stretch xmlns:a="http://schemas.openxmlformats.org/drawingml/2006/main"/>
        </p:blipFill>
        <p:spPr>
          <a:xfrm xmlns:a="http://schemas.openxmlformats.org/drawingml/2006/main">
            <a:off x="717043" y="1057275"/>
            <a:ext cx="1075791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B5C2A3-C47D-466D-9B4F-61D39454D524}"/>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6CA899-FC65-40E3-97C5-2CFED27AFC3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illustration filters torque readings. Our next example applies the same True/False selection to kWh values.</a:t>
            </a:r>
          </a:p>
        </p:txBody>
      </p:sp>
      <p:sp>
        <p:nvSpPr>
          <p:cNvPr id="6" name="">
            <a:extLst xmlns:a="http://schemas.openxmlformats.org/drawingml/2006/main">
              <a:ext uri="{FF2B5EF4-FFF2-40B4-BE49-F238E27FC236}">
                <a16:creationId xmlns:a16="http://schemas.microsoft.com/office/drawing/2014/main" id="{7DD6DA78-F7AA-481B-9999-C74E397101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15</a:t>
            </a:r>
          </a:p>
        </p:txBody>
      </p:sp>
    </p:spTree>
    <p:extLst>
      <p:ext uri="{BB962C8B-B14F-4D97-AF65-F5344CB8AC3E}">
        <p14:creationId xmlns:p14="http://schemas.microsoft.com/office/powerpoint/2010/main" val="4561955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82D955-AD8A-4DA6-8183-1C62F83FAF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387EE3-3272-4054-ADFD-70BBBE9D328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B47334E-A6BF-4AAF-8760-CF373D82D0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rows where the comparison is true</a:t>
            </a:r>
          </a:p>
        </p:txBody>
      </p:sp>
      <p:sp>
        <p:nvSpPr>
          <p:cNvPr id="4" name="">
            <a:extLst xmlns:a="http://schemas.openxmlformats.org/drawingml/2006/main">
              <a:ext uri="{FF2B5EF4-FFF2-40B4-BE49-F238E27FC236}">
                <a16:creationId xmlns:a16="http://schemas.microsoft.com/office/drawing/2014/main" id="{05ACDC85-7F48-445D-97C9-57E20A697D65}"/>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8B9C94C-EBB8-437F-88EF-868364BB67C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mask = df["kwh"] &gt;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print(mask)</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print(df[mask])</a:t>
            </a:r>
          </a:p>
        </p:txBody>
      </p:sp>
      <p:sp>
        <p:nvSpPr>
          <p:cNvPr id="6" name="">
            <a:extLst xmlns:a="http://schemas.openxmlformats.org/drawingml/2006/main">
              <a:ext uri="{FF2B5EF4-FFF2-40B4-BE49-F238E27FC236}">
                <a16:creationId xmlns:a16="http://schemas.microsoft.com/office/drawing/2014/main" id="{8CC0FB6A-3578-43EC-98DC-57A910A447E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CFD8ACE-292C-455D-B4EE-9571238DFB1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2B63C58F-7E5F-4A1E-9CF7-C4277A0B0AD4}"/>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85E30F8A-446C-4EF5-BFB9-9EE6FFEC0F53}"/>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E657955C-E325-4582-8A3F-D542A960523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mask is False, False, True, True. The selected rows contain 5 and 7 kWh.</a:t>
            </a:r>
          </a:p>
        </p:txBody>
      </p:sp>
      <p:sp>
        <p:nvSpPr>
          <p:cNvPr id="11" name="">
            <a:extLst xmlns:a="http://schemas.openxmlformats.org/drawingml/2006/main">
              <a:ext uri="{FF2B5EF4-FFF2-40B4-BE49-F238E27FC236}">
                <a16:creationId xmlns:a16="http://schemas.microsoft.com/office/drawing/2014/main" id="{D91E1434-C472-4FA7-B7C0-783799CE852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16</a:t>
            </a:r>
          </a:p>
        </p:txBody>
      </p:sp>
    </p:spTree>
    <p:extLst>
      <p:ext uri="{BB962C8B-B14F-4D97-AF65-F5344CB8AC3E}">
        <p14:creationId xmlns:p14="http://schemas.microsoft.com/office/powerpoint/2010/main" val="21456388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A09B41-C59A-42B5-BEBD-440DD99923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295907-08DE-47AE-B515-9058316435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C0B3D7C-C4B3-4EC7-A6A2-08CDF344CE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groupby and aggregation</a:t>
            </a:r>
          </a:p>
        </p:txBody>
      </p:sp>
      <p:sp>
        <p:nvSpPr>
          <p:cNvPr id="4" name="">
            <a:extLst xmlns:a="http://schemas.openxmlformats.org/drawingml/2006/main">
              <a:ext uri="{FF2B5EF4-FFF2-40B4-BE49-F238E27FC236}">
                <a16:creationId xmlns:a16="http://schemas.microsoft.com/office/drawing/2014/main" id="{2B266066-F1EE-47D8-82B8-CBA5891CF713}"/>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FAAE15-1E39-47E7-AF68-B4831548E809}"/>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groupby and aggregation</a:t>
            </a:r>
          </a:p>
        </p:txBody>
      </p:sp>
      <p:sp>
        <p:nvSpPr>
          <p:cNvPr id="6" name="">
            <a:extLst xmlns:a="http://schemas.openxmlformats.org/drawingml/2006/main">
              <a:ext uri="{FF2B5EF4-FFF2-40B4-BE49-F238E27FC236}">
                <a16:creationId xmlns:a16="http://schemas.microsoft.com/office/drawing/2014/main" id="{9AE796A2-FA5F-4766-B2CE-AFE50F67A3A8}"/>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groupby collects rows with the same label. An aggregation such as sum or mean returns a summary for each group.</a:t>
            </a:r>
          </a:p>
        </p:txBody>
      </p:sp>
      <p:sp>
        <p:nvSpPr>
          <p:cNvPr id="7" name="">
            <a:extLst xmlns:a="http://schemas.openxmlformats.org/drawingml/2006/main">
              <a:ext uri="{FF2B5EF4-FFF2-40B4-BE49-F238E27FC236}">
                <a16:creationId xmlns:a16="http://schemas.microsoft.com/office/drawing/2014/main" id="{E0759B00-848A-47CC-A41F-C90115E994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17</a:t>
            </a:r>
          </a:p>
        </p:txBody>
      </p:sp>
    </p:spTree>
    <p:extLst>
      <p:ext uri="{BB962C8B-B14F-4D97-AF65-F5344CB8AC3E}">
        <p14:creationId xmlns:p14="http://schemas.microsoft.com/office/powerpoint/2010/main" val="19113439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B4251A-6928-4B99-B2C2-27707AFB84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E0A34B-D876-4D7D-8288-C6A21E88E0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B2E8290-66E8-45FE-BB2F-1343944230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Calculate one total for each building</a:t>
            </a:r>
          </a:p>
        </p:txBody>
      </p:sp>
      <p:sp>
        <p:nvSpPr>
          <p:cNvPr id="4" name="">
            <a:extLst xmlns:a="http://schemas.openxmlformats.org/drawingml/2006/main">
              <a:ext uri="{FF2B5EF4-FFF2-40B4-BE49-F238E27FC236}">
                <a16:creationId xmlns:a16="http://schemas.microsoft.com/office/drawing/2014/main" id="{0238FD24-B3E3-4D04-ADC8-DA5B7E95621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7A7639-CF41-42F3-BFC9-7909620F583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print(df.groupby("building")["kwh"].sum())</a:t>
            </a:r>
          </a:p>
        </p:txBody>
      </p:sp>
      <p:sp>
        <p:nvSpPr>
          <p:cNvPr id="6" name="">
            <a:extLst xmlns:a="http://schemas.openxmlformats.org/drawingml/2006/main">
              <a:ext uri="{FF2B5EF4-FFF2-40B4-BE49-F238E27FC236}">
                <a16:creationId xmlns:a16="http://schemas.microsoft.com/office/drawing/2014/main" id="{1E27569C-1B36-47BA-9B4F-9110A959E2E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5C2D9D2C-96FC-43F5-A729-034C71C3DF4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1BC3A71A-C7D1-4F61-AD60-9E92D051115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45742C1C-1999-4E44-8A93-07A34DBC482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A totals 6 kWh; B totals 12 kWh.</a:t>
            </a:r>
          </a:p>
        </p:txBody>
      </p:sp>
      <p:sp>
        <p:nvSpPr>
          <p:cNvPr id="10" name="">
            <a:extLst xmlns:a="http://schemas.openxmlformats.org/drawingml/2006/main">
              <a:ext uri="{FF2B5EF4-FFF2-40B4-BE49-F238E27FC236}">
                <a16:creationId xmlns:a16="http://schemas.microsoft.com/office/drawing/2014/main" id="{43CB3A26-CB19-4B46-93B0-520DBA4F2A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18</a:t>
            </a:r>
          </a:p>
        </p:txBody>
      </p:sp>
    </p:spTree>
    <p:extLst>
      <p:ext uri="{BB962C8B-B14F-4D97-AF65-F5344CB8AC3E}">
        <p14:creationId xmlns:p14="http://schemas.microsoft.com/office/powerpoint/2010/main" val="20059176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926E91-B98A-44D7-BDB1-86C295876E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224BAB-F30F-466F-9452-DDDB8E0515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928F2848-382D-4892-937D-93A1D75A4A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tables and summaries results</a:t>
            </a:r>
          </a:p>
        </p:txBody>
      </p:sp>
      <p:sp>
        <p:nvSpPr>
          <p:cNvPr id="4" name="">
            <a:extLst xmlns:a="http://schemas.openxmlformats.org/drawingml/2006/main">
              <a:ext uri="{FF2B5EF4-FFF2-40B4-BE49-F238E27FC236}">
                <a16:creationId xmlns:a16="http://schemas.microsoft.com/office/drawing/2014/main" id="{23EF3BC8-F475-4DDF-A4BE-C93EAFB2A843}"/>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E8AC24-5ADC-47A9-AEAD-E9D38561B2E2}"/>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Mean 4.5. The filter keeps B rows with 5 and 7. Group totals: A = 6, B = 12 kWh.</a:t>
            </a:r>
          </a:p>
        </p:txBody>
      </p:sp>
      <p:sp>
        <p:nvSpPr>
          <p:cNvPr id="6" name="">
            <a:extLst xmlns:a="http://schemas.openxmlformats.org/drawingml/2006/main">
              <a:ext uri="{FF2B5EF4-FFF2-40B4-BE49-F238E27FC236}">
                <a16:creationId xmlns:a16="http://schemas.microsoft.com/office/drawing/2014/main" id="{B1E79EDD-F194-4ED0-8720-8F4A155DDAC2}"/>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11E4F825-DBF7-4261-B473-D3311A6DCF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19</a:t>
            </a:r>
          </a:p>
        </p:txBody>
      </p:sp>
    </p:spTree>
    <p:extLst>
      <p:ext uri="{BB962C8B-B14F-4D97-AF65-F5344CB8AC3E}">
        <p14:creationId xmlns:p14="http://schemas.microsoft.com/office/powerpoint/2010/main" val="18245378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092865-1CE8-4A9A-AA48-E0988C996FC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F30FBE-B0C0-428B-982C-2E5DCFA3FE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577D642-4E62-423E-AB17-F79F9B816D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chain one operation at a time</a:t>
            </a:r>
          </a:p>
        </p:txBody>
      </p:sp>
      <p:sp>
        <p:nvSpPr>
          <p:cNvPr id="4" name="">
            <a:extLst xmlns:a="http://schemas.openxmlformats.org/drawingml/2006/main">
              <a:ext uri="{FF2B5EF4-FFF2-40B4-BE49-F238E27FC236}">
                <a16:creationId xmlns:a16="http://schemas.microsoft.com/office/drawing/2014/main" id="{69D7460E-93BA-4162-A50E-EE1FB87E652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BC9BCC-D0D8-49BA-A248-0F8195C724F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17C3C5-415E-47ED-BC89-418077ECBD7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df.groupby("building") groups rows by their building labels. ["kwh"] selects the energy values within each group. .sum() totals them.</a:t>
            </a:r>
          </a:p>
        </p:txBody>
      </p:sp>
      <p:sp>
        <p:nvSpPr>
          <p:cNvPr id="7" name="">
            <a:extLst xmlns:a="http://schemas.openxmlformats.org/drawingml/2006/main">
              <a:ext uri="{FF2B5EF4-FFF2-40B4-BE49-F238E27FC236}">
                <a16:creationId xmlns:a16="http://schemas.microsoft.com/office/drawing/2014/main" id="{6FF35679-BC29-46DC-80EE-90B8EA36F6A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Store this result in totals. totals.idxmax() returns the label with the largest total. These are consecutive operations on the result of the previous step.</a:t>
            </a:r>
          </a:p>
        </p:txBody>
      </p:sp>
      <p:sp>
        <p:nvSpPr>
          <p:cNvPr id="8" name="">
            <a:extLst xmlns:a="http://schemas.openxmlformats.org/drawingml/2006/main">
              <a:ext uri="{FF2B5EF4-FFF2-40B4-BE49-F238E27FC236}">
                <a16:creationId xmlns:a16="http://schemas.microsoft.com/office/drawing/2014/main" id="{0D5FA60A-7E4B-47C3-B528-F353B384861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20</a:t>
            </a:r>
          </a:p>
        </p:txBody>
      </p:sp>
    </p:spTree>
    <p:extLst>
      <p:ext uri="{BB962C8B-B14F-4D97-AF65-F5344CB8AC3E}">
        <p14:creationId xmlns:p14="http://schemas.microsoft.com/office/powerpoint/2010/main" val="4792432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91489F-CA3D-4FFC-8C68-9BB5CA2526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8816C5-0C69-4981-8DA0-A783AF2387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93DA6CC-EB98-4E1A-938F-DB12CAADB9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Unique labels and the largest group</a:t>
            </a:r>
          </a:p>
        </p:txBody>
      </p:sp>
      <p:sp>
        <p:nvSpPr>
          <p:cNvPr id="4" name="">
            <a:extLst xmlns:a="http://schemas.openxmlformats.org/drawingml/2006/main">
              <a:ext uri="{FF2B5EF4-FFF2-40B4-BE49-F238E27FC236}">
                <a16:creationId xmlns:a16="http://schemas.microsoft.com/office/drawing/2014/main" id="{9050760A-0F31-4437-9645-03232161490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ADF7A3-4B7C-4A77-BFF8-2B865626FA5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71FB7B-B569-411C-8712-B1318E4470B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nunique counts distinct labels, not rows. idxmax returns the label of the largest total.</a:t>
            </a:r>
          </a:p>
        </p:txBody>
      </p:sp>
      <p:sp>
        <p:nvSpPr>
          <p:cNvPr id="7" name="">
            <a:extLst xmlns:a="http://schemas.openxmlformats.org/drawingml/2006/main">
              <a:ext uri="{FF2B5EF4-FFF2-40B4-BE49-F238E27FC236}">
                <a16:creationId xmlns:a16="http://schemas.microsoft.com/office/drawing/2014/main" id="{C42AEF70-91FB-4A0E-9C72-963B41198ED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Here there is no tie.</a:t>
            </a:r>
          </a:p>
        </p:txBody>
      </p:sp>
      <p:sp>
        <p:nvSpPr>
          <p:cNvPr id="8" name="">
            <a:extLst xmlns:a="http://schemas.openxmlformats.org/drawingml/2006/main">
              <a:ext uri="{FF2B5EF4-FFF2-40B4-BE49-F238E27FC236}">
                <a16:creationId xmlns:a16="http://schemas.microsoft.com/office/drawing/2014/main" id="{BD57C6B6-9AD4-4420-A32B-FD00361C2C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21</a:t>
            </a:r>
          </a:p>
        </p:txBody>
      </p:sp>
    </p:spTree>
    <p:extLst>
      <p:ext uri="{BB962C8B-B14F-4D97-AF65-F5344CB8AC3E}">
        <p14:creationId xmlns:p14="http://schemas.microsoft.com/office/powerpoint/2010/main" val="13614263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316FAD-786A-4AC2-96DB-C4A3F503D5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E293B1-E5BD-4295-B2BD-608A54C941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09C833B-3B7C-4638-9733-6E260D61F3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Unique labels and the largest group in Python</a:t>
            </a:r>
          </a:p>
        </p:txBody>
      </p:sp>
      <p:sp>
        <p:nvSpPr>
          <p:cNvPr id="4" name="">
            <a:extLst xmlns:a="http://schemas.openxmlformats.org/drawingml/2006/main">
              <a:ext uri="{FF2B5EF4-FFF2-40B4-BE49-F238E27FC236}">
                <a16:creationId xmlns:a16="http://schemas.microsoft.com/office/drawing/2014/main" id="{CFE7399F-B764-4CED-AAE7-1FDD20E3D4A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909A57-AE4C-4D19-9D15-D5499786CA4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print(df["building"].nunique())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totals = df.groupby("building")["kwh"].sum()</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print(totals.idxmax())</a:t>
            </a:r>
          </a:p>
        </p:txBody>
      </p:sp>
      <p:sp>
        <p:nvSpPr>
          <p:cNvPr id="6" name="">
            <a:extLst xmlns:a="http://schemas.openxmlformats.org/drawingml/2006/main">
              <a:ext uri="{FF2B5EF4-FFF2-40B4-BE49-F238E27FC236}">
                <a16:creationId xmlns:a16="http://schemas.microsoft.com/office/drawing/2014/main" id="{7D0A54B6-743E-44B5-82E6-6CF10080408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CB71C43-DEF0-4014-A9F0-5002566BD715}"/>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2BE1D1F1-66B6-44BF-90C3-4430B072F660}"/>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7F9099B7-8D34-4AB7-BE38-3AFC7D9D16A1}"/>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CC4929FB-B04A-4DD9-9CEC-0E453074D6D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1" name="">
            <a:extLst xmlns:a="http://schemas.openxmlformats.org/drawingml/2006/main">
              <a:ext uri="{FF2B5EF4-FFF2-40B4-BE49-F238E27FC236}">
                <a16:creationId xmlns:a16="http://schemas.microsoft.com/office/drawing/2014/main" id="{F2145349-E2FA-40D8-AB36-52CA36D84C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22</a:t>
            </a:r>
          </a:p>
        </p:txBody>
      </p:sp>
    </p:spTree>
    <p:extLst>
      <p:ext uri="{BB962C8B-B14F-4D97-AF65-F5344CB8AC3E}">
        <p14:creationId xmlns:p14="http://schemas.microsoft.com/office/powerpoint/2010/main" val="20431582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FC059B-7A93-446B-818F-F72FE3C7BE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00D9A0-5819-4E6F-9161-E855EA4B7B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D69367-CF57-48ED-9823-DF1620BB30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a column from two existing columns</a:t>
            </a:r>
          </a:p>
        </p:txBody>
      </p:sp>
      <p:sp>
        <p:nvSpPr>
          <p:cNvPr id="4" name="">
            <a:extLst xmlns:a="http://schemas.openxmlformats.org/drawingml/2006/main">
              <a:ext uri="{FF2B5EF4-FFF2-40B4-BE49-F238E27FC236}">
                <a16:creationId xmlns:a16="http://schemas.microsoft.com/office/drawing/2014/main" id="{EDE306AA-F9E7-4A39-B3C6-48396015D62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D2D86F-5E46-4D8A-B5E7-8221662A698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3F2409-53D4-48D1-B630-07ACBC1E528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new column can store a calculation for every row. Division pairs the values in matching rows.</a:t>
            </a:r>
          </a:p>
        </p:txBody>
      </p:sp>
      <p:sp>
        <p:nvSpPr>
          <p:cNvPr id="7" name="">
            <a:extLst xmlns:a="http://schemas.openxmlformats.org/drawingml/2006/main">
              <a:ext uri="{FF2B5EF4-FFF2-40B4-BE49-F238E27FC236}">
                <a16:creationId xmlns:a16="http://schemas.microsoft.com/office/drawing/2014/main" id="{A74E9FE1-D846-4AE0-9015-091E807975E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this invented table all energy values are positive. UGX is Uganda shillings. Cost divided by energy has units UGX/kWh.</a:t>
            </a:r>
          </a:p>
        </p:txBody>
      </p:sp>
      <p:sp>
        <p:nvSpPr>
          <p:cNvPr id="8" name="">
            <a:extLst xmlns:a="http://schemas.openxmlformats.org/drawingml/2006/main">
              <a:ext uri="{FF2B5EF4-FFF2-40B4-BE49-F238E27FC236}">
                <a16:creationId xmlns:a16="http://schemas.microsoft.com/office/drawing/2014/main" id="{388E19F9-8987-487C-8271-B99FA41FCD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23</a:t>
            </a:r>
          </a:p>
        </p:txBody>
      </p:sp>
    </p:spTree>
    <p:extLst>
      <p:ext uri="{BB962C8B-B14F-4D97-AF65-F5344CB8AC3E}">
        <p14:creationId xmlns:p14="http://schemas.microsoft.com/office/powerpoint/2010/main" val="96760969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6FE8F1-9C5B-4CA1-AC54-76A59F9369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B76D46-BFBE-4B12-A10D-43751F2E66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A7EBF14-7511-4D3B-8CE0-1DF0D8FA45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energy rate is cost divided by energy</a:t>
            </a:r>
          </a:p>
        </p:txBody>
      </p:sp>
      <p:sp>
        <p:nvSpPr>
          <p:cNvPr id="4" name="">
            <a:extLst xmlns:a="http://schemas.openxmlformats.org/drawingml/2006/main">
              <a:ext uri="{FF2B5EF4-FFF2-40B4-BE49-F238E27FC236}">
                <a16:creationId xmlns:a16="http://schemas.microsoft.com/office/drawing/2014/main" id="{B6BBB46B-674E-4496-9670-E28752B8889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F93BD6-B9DE-4FB3-AAA4-1971823D357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df["cost_ugx"] = [1000, 2400, 3500, 5600]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df["rate_ugx_per_kwh"] = df["cost_ugx"] / df["kwh"]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print(df["rate_ugx_per_kwh"])</a:t>
            </a:r>
          </a:p>
        </p:txBody>
      </p:sp>
      <p:sp>
        <p:nvSpPr>
          <p:cNvPr id="6" name="">
            <a:extLst xmlns:a="http://schemas.openxmlformats.org/drawingml/2006/main">
              <a:ext uri="{FF2B5EF4-FFF2-40B4-BE49-F238E27FC236}">
                <a16:creationId xmlns:a16="http://schemas.microsoft.com/office/drawing/2014/main" id="{B5D3DA84-E05A-4408-A389-006E19ECB0B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9B11EC0C-5241-4088-82D3-7909F2F715C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rates: 500, 600, 700 and 800 UGX/kWh. Keep units in column names.</a:t>
            </a:r>
          </a:p>
        </p:txBody>
      </p:sp>
      <p:sp>
        <p:nvSpPr>
          <p:cNvPr id="8" name="">
            <a:extLst xmlns:a="http://schemas.openxmlformats.org/drawingml/2006/main">
              <a:ext uri="{FF2B5EF4-FFF2-40B4-BE49-F238E27FC236}">
                <a16:creationId xmlns:a16="http://schemas.microsoft.com/office/drawing/2014/main" id="{837114C7-34A1-4FEA-87A7-3C66EF3846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24</a:t>
            </a:r>
          </a:p>
        </p:txBody>
      </p:sp>
    </p:spTree>
    <p:extLst>
      <p:ext uri="{BB962C8B-B14F-4D97-AF65-F5344CB8AC3E}">
        <p14:creationId xmlns:p14="http://schemas.microsoft.com/office/powerpoint/2010/main" val="3377376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172DE8-59EA-4BA7-8D8C-A57DF3FBD3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2F5A81-2CB8-43FC-8CC0-EC9453B258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1E2FD6-C61C-4873-BEF2-A793762D5D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 the assignment table before analysing it</a:t>
            </a:r>
          </a:p>
        </p:txBody>
      </p:sp>
      <p:sp>
        <p:nvSpPr>
          <p:cNvPr id="4" name="">
            <a:extLst xmlns:a="http://schemas.openxmlformats.org/drawingml/2006/main">
              <a:ext uri="{FF2B5EF4-FFF2-40B4-BE49-F238E27FC236}">
                <a16:creationId xmlns:a16="http://schemas.microsoft.com/office/drawing/2014/main" id="{02385E6B-8171-47F8-A7FA-8BE70D6896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D90A516-235B-40B1-A490-F0C12C8CFCD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campus_energy.csv to the current runtime first. read_csv reads it into a new DataFrame.</a:t>
            </a:r>
          </a:p>
        </p:txBody>
      </p:sp>
      <p:sp>
        <p:nvSpPr>
          <p:cNvPr id="6" name="">
            <a:extLst xmlns:a="http://schemas.openxmlformats.org/drawingml/2006/main">
              <a:ext uri="{FF2B5EF4-FFF2-40B4-BE49-F238E27FC236}">
                <a16:creationId xmlns:a16="http://schemas.microsoft.com/office/drawing/2014/main" id="{6F9ED54F-6E43-4088-B196-4F2B6C4D999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61397B3-8568-4EB4-9642-E6B273E5061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head() displays the first five rows; shape gives row and column counts; dtypes shows column data types.</a:t>
            </a:r>
          </a:p>
        </p:txBody>
      </p:sp>
      <p:sp>
        <p:nvSpPr>
          <p:cNvPr id="8" name="">
            <a:extLst xmlns:a="http://schemas.openxmlformats.org/drawingml/2006/main">
              <a:ext uri="{FF2B5EF4-FFF2-40B4-BE49-F238E27FC236}">
                <a16:creationId xmlns:a16="http://schemas.microsoft.com/office/drawing/2014/main" id="{B48F0877-4BD7-4CA8-BDD3-53BEC0CFA02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EAFFCF3-E07D-4188-A177-081EEDFE67A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call this issued_table to keep it separate from the invented four-row df used above.</a:t>
            </a:r>
          </a:p>
        </p:txBody>
      </p:sp>
      <p:sp>
        <p:nvSpPr>
          <p:cNvPr id="10" name="">
            <a:extLst xmlns:a="http://schemas.openxmlformats.org/drawingml/2006/main">
              <a:ext uri="{FF2B5EF4-FFF2-40B4-BE49-F238E27FC236}">
                <a16:creationId xmlns:a16="http://schemas.microsoft.com/office/drawing/2014/main" id="{51EC86C8-9320-4858-86EA-BE7EDC0BD5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25</a:t>
            </a:r>
          </a:p>
        </p:txBody>
      </p:sp>
    </p:spTree>
    <p:extLst>
      <p:ext uri="{BB962C8B-B14F-4D97-AF65-F5344CB8AC3E}">
        <p14:creationId xmlns:p14="http://schemas.microsoft.com/office/powerpoint/2010/main" val="108960738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6B18F6-B26A-495E-83E5-56DB1C4CEB7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87BB4F-2FF3-4FC6-B914-F6439050FD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40A8775-752A-4252-A2DF-0184FA6C60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supplied energy file</a:t>
            </a:r>
          </a:p>
        </p:txBody>
      </p:sp>
      <p:sp>
        <p:nvSpPr>
          <p:cNvPr id="4" name="">
            <a:extLst xmlns:a="http://schemas.openxmlformats.org/drawingml/2006/main">
              <a:ext uri="{FF2B5EF4-FFF2-40B4-BE49-F238E27FC236}">
                <a16:creationId xmlns:a16="http://schemas.microsoft.com/office/drawing/2014/main" id="{B7B4F288-776C-4C9B-B4F6-867930FB5BD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F30534-D5CF-4030-8A03-0ADE417BD4A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issued_table = pd.read_csv("campus_energy.csv")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print(issued_table.head())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print(issued_table.shape)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print(issued_table.dtypes)</a:t>
            </a:r>
          </a:p>
        </p:txBody>
      </p:sp>
      <p:sp>
        <p:nvSpPr>
          <p:cNvPr id="6" name="">
            <a:extLst xmlns:a="http://schemas.openxmlformats.org/drawingml/2006/main">
              <a:ext uri="{FF2B5EF4-FFF2-40B4-BE49-F238E27FC236}">
                <a16:creationId xmlns:a16="http://schemas.microsoft.com/office/drawing/2014/main" id="{17BD1943-BC5B-44D0-A0B4-4D815042C91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ACEB71EB-960C-46FC-A232-92BEF067EE9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Check column names, data types and units before attempting the six issued tasks.</a:t>
            </a:r>
          </a:p>
        </p:txBody>
      </p:sp>
      <p:sp>
        <p:nvSpPr>
          <p:cNvPr id="8" name="">
            <a:extLst xmlns:a="http://schemas.openxmlformats.org/drawingml/2006/main">
              <a:ext uri="{FF2B5EF4-FFF2-40B4-BE49-F238E27FC236}">
                <a16:creationId xmlns:a16="http://schemas.microsoft.com/office/drawing/2014/main" id="{D2FC9E8A-9C50-4C2E-8426-C1A1D2C597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26</a:t>
            </a:r>
          </a:p>
        </p:txBody>
      </p:sp>
    </p:spTree>
    <p:extLst>
      <p:ext uri="{BB962C8B-B14F-4D97-AF65-F5344CB8AC3E}">
        <p14:creationId xmlns:p14="http://schemas.microsoft.com/office/powerpoint/2010/main" val="144436941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005B55-F645-460F-B2D0-45DB158345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6141CC-0B3F-4C7B-A4E9-E26A256A7A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C2F3EDD-9401-4D11-875C-ABA789780A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B7B590F7-6C43-4F4F-BD14-B18027AF09B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D0A21B-7500-41F4-847F-9B1D9E4DEE8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F1E52F-27A0-4BCA-93A0-5D36EAA2619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Use &gt; 5 instead. Predict the surviving rows. Which building has the largest total?</a:t>
            </a:r>
          </a:p>
        </p:txBody>
      </p:sp>
      <p:sp>
        <p:nvSpPr>
          <p:cNvPr id="7" name="">
            <a:extLst xmlns:a="http://schemas.openxmlformats.org/drawingml/2006/main">
              <a:ext uri="{FF2B5EF4-FFF2-40B4-BE49-F238E27FC236}">
                <a16:creationId xmlns:a16="http://schemas.microsoft.com/office/drawing/2014/main" id="{965446AF-29DB-4247-A5D3-17D1E5A7373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Only the row with 7 survives. Building B has the larger total, 12 kWh.</a:t>
            </a:r>
          </a:p>
        </p:txBody>
      </p:sp>
      <p:sp>
        <p:nvSpPr>
          <p:cNvPr id="8" name="">
            <a:extLst xmlns:a="http://schemas.openxmlformats.org/drawingml/2006/main">
              <a:ext uri="{FF2B5EF4-FFF2-40B4-BE49-F238E27FC236}">
                <a16:creationId xmlns:a16="http://schemas.microsoft.com/office/drawing/2014/main" id="{73AACE40-6293-4450-A193-FB4164D348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27</a:t>
            </a:r>
          </a:p>
        </p:txBody>
      </p:sp>
    </p:spTree>
    <p:extLst>
      <p:ext uri="{BB962C8B-B14F-4D97-AF65-F5344CB8AC3E}">
        <p14:creationId xmlns:p14="http://schemas.microsoft.com/office/powerpoint/2010/main" val="19001202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FADEF3-8FB5-4A12-8EBB-F57A3C5BB4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08EE64-0B29-47C8-A490-2BDB9C4E9B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52FD971-E2D3-45F5-BC93-19BD5CD651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E06B244C-C14A-48AB-BDA5-AAC8A9563BA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EBCE82-9294-48F7-9CCF-E885ECFB963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A5 uses the supplied fictional campus_energy.csv, not a live Kaggle download.</a:t>
            </a:r>
          </a:p>
        </p:txBody>
      </p:sp>
      <p:sp>
        <p:nvSpPr>
          <p:cNvPr id="6" name="">
            <a:extLst xmlns:a="http://schemas.openxmlformats.org/drawingml/2006/main">
              <a:ext uri="{FF2B5EF4-FFF2-40B4-BE49-F238E27FC236}">
                <a16:creationId xmlns:a16="http://schemas.microsoft.com/office/drawing/2014/main" id="{16E9BDA3-95C4-49B1-95C5-749091E33BA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6CBBCA3-E3FB-4527-89F2-467B32775858}"/>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six tasks use read_csv, nunique, division of columns, a &gt; filter, mean and grouped totals. idxmax returns the label of the largest value.</a:t>
            </a:r>
          </a:p>
        </p:txBody>
      </p:sp>
      <p:sp>
        <p:nvSpPr>
          <p:cNvPr id="8" name="">
            <a:extLst xmlns:a="http://schemas.openxmlformats.org/drawingml/2006/main">
              <a:ext uri="{FF2B5EF4-FFF2-40B4-BE49-F238E27FC236}">
                <a16:creationId xmlns:a16="http://schemas.microsoft.com/office/drawing/2014/main" id="{7C302ECD-0C7B-4063-99F5-E080D8AA54C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D5C2C8B-CDD4-474C-8913-4AB3E964B16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mean of individual rates gives each observation equal weight.</a:t>
            </a:r>
          </a:p>
        </p:txBody>
      </p:sp>
      <p:sp>
        <p:nvSpPr>
          <p:cNvPr id="10" name="">
            <a:extLst xmlns:a="http://schemas.openxmlformats.org/drawingml/2006/main">
              <a:ext uri="{FF2B5EF4-FFF2-40B4-BE49-F238E27FC236}">
                <a16:creationId xmlns:a16="http://schemas.microsoft.com/office/drawing/2014/main" id="{3EA0FAE0-289F-4C35-A23C-850E538ED8C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CD6B187-74F0-40DB-873C-28AC7DF9FEA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Total cost divided by total energy weights by energy.</a:t>
            </a:r>
          </a:p>
        </p:txBody>
      </p:sp>
      <p:sp>
        <p:nvSpPr>
          <p:cNvPr id="12" name="">
            <a:extLst xmlns:a="http://schemas.openxmlformats.org/drawingml/2006/main">
              <a:ext uri="{FF2B5EF4-FFF2-40B4-BE49-F238E27FC236}">
                <a16:creationId xmlns:a16="http://schemas.microsoft.com/office/drawing/2014/main" id="{E1440475-020F-4809-9E41-78C3417DAF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28</a:t>
            </a:r>
          </a:p>
        </p:txBody>
      </p:sp>
    </p:spTree>
    <p:extLst>
      <p:ext uri="{BB962C8B-B14F-4D97-AF65-F5344CB8AC3E}">
        <p14:creationId xmlns:p14="http://schemas.microsoft.com/office/powerpoint/2010/main" val="38853001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4A689C-48A7-4636-AF65-2D2B8CD209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9ACDF-237F-40CB-BB60-AEC7ABA41B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7C3738B-7C97-4792-8F02-E15C41D21C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types and filters</a:t>
            </a:r>
          </a:p>
        </p:txBody>
      </p:sp>
      <p:sp>
        <p:nvSpPr>
          <p:cNvPr id="4" name="">
            <a:extLst xmlns:a="http://schemas.openxmlformats.org/drawingml/2006/main">
              <a:ext uri="{FF2B5EF4-FFF2-40B4-BE49-F238E27FC236}">
                <a16:creationId xmlns:a16="http://schemas.microsoft.com/office/drawing/2014/main" id="{0FFBB6BD-006C-480B-B0BA-58BD47FA14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70D31E1-C887-4D95-848A-578DA02B8F12}"/>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Boolean mask is a list-like column of True/False values. len(mask) counts all rows; mask.sum() counts True entries.</a:t>
            </a:r>
          </a:p>
        </p:txBody>
      </p:sp>
      <p:sp>
        <p:nvSpPr>
          <p:cNvPr id="6" name="">
            <a:extLst xmlns:a="http://schemas.openxmlformats.org/drawingml/2006/main">
              <a:ext uri="{FF2B5EF4-FFF2-40B4-BE49-F238E27FC236}">
                <a16:creationId xmlns:a16="http://schemas.microsoft.com/office/drawing/2014/main" id="{ACCE5AEC-82AB-40A1-8141-915EC3250B60}"/>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4B3B30D-917F-4997-8485-0E0C25CF5A9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Strings sort as text, so "9" can rank above "100".</a:t>
            </a:r>
          </a:p>
        </p:txBody>
      </p:sp>
      <p:sp>
        <p:nvSpPr>
          <p:cNvPr id="8" name="">
            <a:extLst xmlns:a="http://schemas.openxmlformats.org/drawingml/2006/main">
              <a:ext uri="{FF2B5EF4-FFF2-40B4-BE49-F238E27FC236}">
                <a16:creationId xmlns:a16="http://schemas.microsoft.com/office/drawing/2014/main" id="{73064F83-B5BC-4136-8B0D-9F6BAA1CC53C}"/>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CC6FD9B-4BA1-4034-A946-F4846AE91887}"/>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Inspect numeric types before taking maxima.</a:t>
            </a:r>
          </a:p>
        </p:txBody>
      </p:sp>
      <p:sp>
        <p:nvSpPr>
          <p:cNvPr id="10" name="">
            <a:extLst xmlns:a="http://schemas.openxmlformats.org/drawingml/2006/main">
              <a:ext uri="{FF2B5EF4-FFF2-40B4-BE49-F238E27FC236}">
                <a16:creationId xmlns:a16="http://schemas.microsoft.com/office/drawing/2014/main" id="{9545B45B-ACE9-49E2-B9D7-90E4695DDA2C}"/>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7508EA1-CBAD-4126-95EF-7C556CA7F935}"/>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KeyError often means the column name does not match; check spelling, case and spaces. shape is (rows, columns).</a:t>
            </a:r>
          </a:p>
        </p:txBody>
      </p:sp>
      <p:sp>
        <p:nvSpPr>
          <p:cNvPr id="12" name="">
            <a:extLst xmlns:a="http://schemas.openxmlformats.org/drawingml/2006/main">
              <a:ext uri="{FF2B5EF4-FFF2-40B4-BE49-F238E27FC236}">
                <a16:creationId xmlns:a16="http://schemas.microsoft.com/office/drawing/2014/main" id="{15E6A94B-6823-47D2-82BB-29E4BFBF74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29</a:t>
            </a:r>
          </a:p>
        </p:txBody>
      </p:sp>
    </p:spTree>
    <p:extLst>
      <p:ext uri="{BB962C8B-B14F-4D97-AF65-F5344CB8AC3E}">
        <p14:creationId xmlns:p14="http://schemas.microsoft.com/office/powerpoint/2010/main" val="96811359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7232E5-D6EB-4AB6-A072-C98F8DED12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049877-6AA8-476C-A949-BEF7459244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287014A-E3F6-40DE-8B94-5B13A61497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types and filters continued</a:t>
            </a:r>
          </a:p>
        </p:txBody>
      </p:sp>
      <p:sp>
        <p:nvSpPr>
          <p:cNvPr id="4" name="">
            <a:extLst xmlns:a="http://schemas.openxmlformats.org/drawingml/2006/main">
              <a:ext uri="{FF2B5EF4-FFF2-40B4-BE49-F238E27FC236}">
                <a16:creationId xmlns:a16="http://schemas.microsoft.com/office/drawing/2014/main" id="{128943D5-0D70-490D-A009-B371C8CDF0DB}"/>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FEF4B3-DBD3-4D17-AB68-F1BBD255FB2C}"/>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Read provenance and units before trusting a dataset.</a:t>
            </a:r>
          </a:p>
        </p:txBody>
      </p:sp>
      <p:sp>
        <p:nvSpPr>
          <p:cNvPr id="6" name="">
            <a:extLst xmlns:a="http://schemas.openxmlformats.org/drawingml/2006/main">
              <a:ext uri="{FF2B5EF4-FFF2-40B4-BE49-F238E27FC236}">
                <a16:creationId xmlns:a16="http://schemas.microsoft.com/office/drawing/2014/main" id="{8C8A32AB-223E-4FC5-919E-36C2CB4225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30</a:t>
            </a:r>
          </a:p>
        </p:txBody>
      </p:sp>
    </p:spTree>
    <p:extLst>
      <p:ext uri="{BB962C8B-B14F-4D97-AF65-F5344CB8AC3E}">
        <p14:creationId xmlns:p14="http://schemas.microsoft.com/office/powerpoint/2010/main" val="11552186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3F2B57D-C31E-4088-8503-A3FB110B46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FC8FFD-BD4A-4DF1-BF91-F72915017B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A32D7C6-A373-4A17-8EF9-9108B714A2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285D30B5-1A29-4619-82A1-95E31C3CF26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DA08CC5-BA2C-4ACF-8A02-5208F64FCF7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W05_student.ipynb.</a:t>
            </a:r>
          </a:p>
        </p:txBody>
      </p:sp>
      <p:sp>
        <p:nvSpPr>
          <p:cNvPr id="6" name="">
            <a:extLst xmlns:a="http://schemas.openxmlformats.org/drawingml/2006/main">
              <a:ext uri="{FF2B5EF4-FFF2-40B4-BE49-F238E27FC236}">
                <a16:creationId xmlns:a16="http://schemas.microsoft.com/office/drawing/2014/main" id="{1216A514-EF40-42EC-9931-26F1D4D1A0B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031792E-A065-4CAD-B5E1-B572442242D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7D6B6059-91D1-47AA-BA74-772DA562993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F6414E-7459-4693-AFCB-A82991BA105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DDC9C28E-3B17-4C87-A410-015039A33CB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DE4D34C-65A2-4D03-A16A-6F58F03C4E5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visible checks, then restart and run all.</a:t>
            </a:r>
          </a:p>
        </p:txBody>
      </p:sp>
      <p:sp>
        <p:nvSpPr>
          <p:cNvPr id="12" name="">
            <a:extLst xmlns:a="http://schemas.openxmlformats.org/drawingml/2006/main">
              <a:ext uri="{FF2B5EF4-FFF2-40B4-BE49-F238E27FC236}">
                <a16:creationId xmlns:a16="http://schemas.microsoft.com/office/drawing/2014/main" id="{50AA6AFA-514E-4A8E-92EA-6DBA9EB290A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31</a:t>
            </a:r>
          </a:p>
        </p:txBody>
      </p:sp>
    </p:spTree>
    <p:extLst>
      <p:ext uri="{BB962C8B-B14F-4D97-AF65-F5344CB8AC3E}">
        <p14:creationId xmlns:p14="http://schemas.microsoft.com/office/powerpoint/2010/main" val="134614921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470AA8-408E-46E2-B715-5445E4D5A87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C6C79-4084-41D1-8D3D-23E130C903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2F942710-09CB-40C0-B565-068414F0A0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B831E1D1-D42C-4239-A91E-3D7459FDFBC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0B9E2C-806D-48E1-91D0-127FE7D9222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Load campus_energy.csv into a DataFrame called df.</a:t>
            </a:r>
          </a:p>
        </p:txBody>
      </p:sp>
      <p:sp>
        <p:nvSpPr>
          <p:cNvPr id="6" name="">
            <a:extLst xmlns:a="http://schemas.openxmlformats.org/drawingml/2006/main">
              <a:ext uri="{FF2B5EF4-FFF2-40B4-BE49-F238E27FC236}">
                <a16:creationId xmlns:a16="http://schemas.microsoft.com/office/drawing/2014/main" id="{266963C9-282B-46E2-BD65-E7B1043EC937}"/>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465D635-04D5-434E-A2BC-67F6F778FA51}"/>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4FFFFEE-881A-4CBA-9122-0215C541A26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32</a:t>
            </a:r>
          </a:p>
        </p:txBody>
      </p:sp>
    </p:spTree>
    <p:extLst>
      <p:ext uri="{BB962C8B-B14F-4D97-AF65-F5344CB8AC3E}">
        <p14:creationId xmlns:p14="http://schemas.microsoft.com/office/powerpoint/2010/main" val="9900265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DCFA1F-C6A4-40A4-B2DC-4F152F070E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D83C8C-9C3E-44DE-BF05-B205203A87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C0F0E3FA-C303-46C8-8239-3F88EC5F61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3 marks</a:t>
            </a:r>
          </a:p>
        </p:txBody>
      </p:sp>
      <p:sp>
        <p:nvSpPr>
          <p:cNvPr id="4" name="">
            <a:extLst xmlns:a="http://schemas.openxmlformats.org/drawingml/2006/main">
              <a:ext uri="{FF2B5EF4-FFF2-40B4-BE49-F238E27FC236}">
                <a16:creationId xmlns:a16="http://schemas.microsoft.com/office/drawing/2014/main" id="{8CF9722B-C0D1-40E9-BF67-DF275BE2DC5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D013EF-565A-498C-B8B9-A654EB89DE9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n_meters to the number of distinct meters in the file.</a:t>
            </a:r>
          </a:p>
        </p:txBody>
      </p:sp>
      <p:sp>
        <p:nvSpPr>
          <p:cNvPr id="6" name="">
            <a:extLst xmlns:a="http://schemas.openxmlformats.org/drawingml/2006/main">
              <a:ext uri="{FF2B5EF4-FFF2-40B4-BE49-F238E27FC236}">
                <a16:creationId xmlns:a16="http://schemas.microsoft.com/office/drawing/2014/main" id="{F472CF47-5DAC-494C-AD5D-8694956216D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188600-E341-43A3-82C3-28E356F95DE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219CBE1-C1E8-4902-9466-89E8B49C7C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33</a:t>
            </a:r>
          </a:p>
        </p:txBody>
      </p:sp>
    </p:spTree>
    <p:extLst>
      <p:ext uri="{BB962C8B-B14F-4D97-AF65-F5344CB8AC3E}">
        <p14:creationId xmlns:p14="http://schemas.microsoft.com/office/powerpoint/2010/main" val="97117205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E9A2A6-C2B9-4661-8C71-CE05AA6D17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B28A8C-E10B-4FAB-8F6B-92C4F47577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9C4EA7BE-604F-408D-AD7E-329EB16F77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4 marks</a:t>
            </a:r>
          </a:p>
        </p:txBody>
      </p:sp>
      <p:sp>
        <p:nvSpPr>
          <p:cNvPr id="4" name="">
            <a:extLst xmlns:a="http://schemas.openxmlformats.org/drawingml/2006/main">
              <a:ext uri="{FF2B5EF4-FFF2-40B4-BE49-F238E27FC236}">
                <a16:creationId xmlns:a16="http://schemas.microsoft.com/office/drawing/2014/main" id="{4B94377B-EB32-465C-A351-511A5BAB031B}"/>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345CDFA-CD73-44CA-A4CA-14A3BD17808D}"/>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Add a column cost_per_kwh to df, equal to cost_ugx / kwh.</a:t>
            </a:r>
          </a:p>
        </p:txBody>
      </p:sp>
      <p:sp>
        <p:nvSpPr>
          <p:cNvPr id="6" name="">
            <a:extLst xmlns:a="http://schemas.openxmlformats.org/drawingml/2006/main">
              <a:ext uri="{FF2B5EF4-FFF2-40B4-BE49-F238E27FC236}">
                <a16:creationId xmlns:a16="http://schemas.microsoft.com/office/drawing/2014/main" id="{7A227B97-3581-4C3C-918D-B981867BDF81}"/>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1CCD9C-CE14-42B7-9376-510FBCBDD78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B2AD1C2-5216-4AD4-AD2B-0FEF723E43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34</a:t>
            </a:r>
          </a:p>
        </p:txBody>
      </p:sp>
    </p:spTree>
    <p:extLst>
      <p:ext uri="{BB962C8B-B14F-4D97-AF65-F5344CB8AC3E}">
        <p14:creationId xmlns:p14="http://schemas.microsoft.com/office/powerpoint/2010/main" val="13032191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946E26-F0EE-4781-90D6-5C684E89BD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9BA684-AEA0-4FCB-90EF-288F6C206A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831B2F3E-57E9-40B5-BBCB-95CFA87A232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4 marks</a:t>
            </a:r>
          </a:p>
        </p:txBody>
      </p:sp>
      <p:sp>
        <p:nvSpPr>
          <p:cNvPr id="4" name="">
            <a:extLst xmlns:a="http://schemas.openxmlformats.org/drawingml/2006/main">
              <a:ext uri="{FF2B5EF4-FFF2-40B4-BE49-F238E27FC236}">
                <a16:creationId xmlns:a16="http://schemas.microsoft.com/office/drawing/2014/main" id="{EADC30C4-1A42-455B-A571-384ABC2EF28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CEB1CF-50A3-452A-AB92-1D05D6FBA9D4}"/>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high_use to the rows of df where kwh is greater than 5000.</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this after q3 so the derived column comes along.</a:t>
            </a:r>
          </a:p>
        </p:txBody>
      </p:sp>
      <p:sp>
        <p:nvSpPr>
          <p:cNvPr id="6" name="">
            <a:extLst xmlns:a="http://schemas.openxmlformats.org/drawingml/2006/main">
              <a:ext uri="{FF2B5EF4-FFF2-40B4-BE49-F238E27FC236}">
                <a16:creationId xmlns:a16="http://schemas.microsoft.com/office/drawing/2014/main" id="{7EA560A3-1ADC-45B1-B4F9-DBA16F8B83F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92CA01-13B1-41CC-B29D-4B0D6BC66F5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732C073-82EF-4E12-A99D-425DB56CF4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35</a:t>
            </a:r>
          </a:p>
        </p:txBody>
      </p:sp>
    </p:spTree>
    <p:extLst>
      <p:ext uri="{BB962C8B-B14F-4D97-AF65-F5344CB8AC3E}">
        <p14:creationId xmlns:p14="http://schemas.microsoft.com/office/powerpoint/2010/main" val="50057621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9C5A2F-3CF9-469E-B9FB-1C4B735DAF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317A62-664A-4ADA-927F-4302FA1EF0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D40406CA-D622-4F55-B8FB-5886A1BC8B9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3 marks</a:t>
            </a:r>
          </a:p>
        </p:txBody>
      </p:sp>
      <p:sp>
        <p:nvSpPr>
          <p:cNvPr id="4" name="">
            <a:extLst xmlns:a="http://schemas.openxmlformats.org/drawingml/2006/main">
              <a:ext uri="{FF2B5EF4-FFF2-40B4-BE49-F238E27FC236}">
                <a16:creationId xmlns:a16="http://schemas.microsoft.com/office/drawing/2014/main" id="{D27A3000-CE61-4E8C-9857-771C04E6193C}"/>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D64E06-846C-44D8-B779-166F10F989D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mean_cost_per_kwh to the mean of the cost_per_kwh column.</a:t>
            </a:r>
          </a:p>
        </p:txBody>
      </p:sp>
      <p:sp>
        <p:nvSpPr>
          <p:cNvPr id="6" name="">
            <a:extLst xmlns:a="http://schemas.openxmlformats.org/drawingml/2006/main">
              <a:ext uri="{FF2B5EF4-FFF2-40B4-BE49-F238E27FC236}">
                <a16:creationId xmlns:a16="http://schemas.microsoft.com/office/drawing/2014/main" id="{EA02CD9C-500E-4DA7-B61D-6C897A1BEF89}"/>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390D08F-E29F-480C-9ACC-98DD0B7C743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89B5C7D-976B-4F09-97BC-C2BB54EF09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36</a:t>
            </a:r>
          </a:p>
        </p:txBody>
      </p:sp>
    </p:spTree>
    <p:extLst>
      <p:ext uri="{BB962C8B-B14F-4D97-AF65-F5344CB8AC3E}">
        <p14:creationId xmlns:p14="http://schemas.microsoft.com/office/powerpoint/2010/main" val="38014401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0F4831-0777-4B77-BA64-5FB83EE560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93A65F-EA6D-4BA7-93A1-BE5D8AEA05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C0AD89C9-8665-4838-999B-900EB14454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q6: 3 marks</a:t>
            </a:r>
          </a:p>
        </p:txBody>
      </p:sp>
      <p:sp>
        <p:nvSpPr>
          <p:cNvPr id="4" name="">
            <a:extLst xmlns:a="http://schemas.openxmlformats.org/drawingml/2006/main">
              <a:ext uri="{FF2B5EF4-FFF2-40B4-BE49-F238E27FC236}">
                <a16:creationId xmlns:a16="http://schemas.microsoft.com/office/drawing/2014/main" id="{34E978FF-2360-4C89-B6E6-BA2C96B9CC8B}"/>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C8A35D-8299-4573-9A70-46BFF1C4DFC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peak_building to the name of the building with the highest total kwh.</a:t>
            </a:r>
          </a:p>
        </p:txBody>
      </p:sp>
      <p:sp>
        <p:nvSpPr>
          <p:cNvPr id="6" name="">
            <a:extLst xmlns:a="http://schemas.openxmlformats.org/drawingml/2006/main">
              <a:ext uri="{FF2B5EF4-FFF2-40B4-BE49-F238E27FC236}">
                <a16:creationId xmlns:a16="http://schemas.microsoft.com/office/drawing/2014/main" id="{A89EB616-686A-4315-B7F3-7E7E529585B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84AE22F-E5CB-4B29-B553-475C98D83E91}"/>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8553F25E-5F4B-49C4-B311-1DB3FCA7BE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37</a:t>
            </a:r>
          </a:p>
        </p:txBody>
      </p:sp>
    </p:spTree>
    <p:extLst>
      <p:ext uri="{BB962C8B-B14F-4D97-AF65-F5344CB8AC3E}">
        <p14:creationId xmlns:p14="http://schemas.microsoft.com/office/powerpoint/2010/main" val="110128962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6CD720-C984-4CD3-9F8F-6255F76BCC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B64741-E170-42CA-9291-84C22E3F3CE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495EBF5F-E112-4446-842C-964D81F678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investigation submission</a:t>
            </a:r>
          </a:p>
        </p:txBody>
      </p:sp>
      <p:sp>
        <p:nvSpPr>
          <p:cNvPr id="4" name="">
            <a:extLst xmlns:a="http://schemas.openxmlformats.org/drawingml/2006/main">
              <a:ext uri="{FF2B5EF4-FFF2-40B4-BE49-F238E27FC236}">
                <a16:creationId xmlns:a16="http://schemas.microsoft.com/office/drawing/2014/main" id="{870EC076-1730-4F14-BC92-9A872FC6B360}"/>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B4DD73-2262-4B72-A231-5E2C0FF92B5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07 Oct 2026, 08:00 Kampala</a:t>
            </a:r>
          </a:p>
        </p:txBody>
      </p:sp>
      <p:sp>
        <p:nvSpPr>
          <p:cNvPr id="6" name="">
            <a:extLst xmlns:a="http://schemas.openxmlformats.org/drawingml/2006/main">
              <a:ext uri="{FF2B5EF4-FFF2-40B4-BE49-F238E27FC236}">
                <a16:creationId xmlns:a16="http://schemas.microsoft.com/office/drawing/2014/main" id="{CB2CA87D-8FA6-4B95-8A95-F49A24AC5BB1}"/>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CAEDEB-4B87-46FA-ACC1-BE1E8EF71E55}"/>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16 Oct 2026, 08:00 Kampala</a:t>
            </a:r>
          </a:p>
        </p:txBody>
      </p:sp>
      <p:sp>
        <p:nvSpPr>
          <p:cNvPr id="8" name="">
            <a:extLst xmlns:a="http://schemas.openxmlformats.org/drawingml/2006/main">
              <a:ext uri="{FF2B5EF4-FFF2-40B4-BE49-F238E27FC236}">
                <a16:creationId xmlns:a16="http://schemas.microsoft.com/office/drawing/2014/main" id="{8F27EA51-EF1C-4583-A332-2448471555C7}"/>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3B1CF09-19EF-4471-B92A-5ECE8BB3B39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76897241-C84F-468B-8DF2-D88616FAD64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CFC8832-7DF4-4965-B289-274F3AFDE4D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2581BBCF-E025-4891-B074-8C4F5F76C6E5}"/>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E1EA95-601C-49CB-B293-460D4077EAB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058717a43424f17"/>
              </a:rPr>
              <a:t>Open W05 assignment form</a:t>
            </a:r>
          </a:p>
        </p:txBody>
      </p:sp>
      <p:sp>
        <p:nvSpPr>
          <p:cNvPr id="14" name="">
            <a:extLst xmlns:a="http://schemas.openxmlformats.org/drawingml/2006/main">
              <a:ext uri="{FF2B5EF4-FFF2-40B4-BE49-F238E27FC236}">
                <a16:creationId xmlns:a16="http://schemas.microsoft.com/office/drawing/2014/main" id="{EEEC21BB-B8CC-46DA-AFD0-D110E0A7050B}"/>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https://docs.google.com/forms/d/e/1FAIpQLSehGqFG7PZ1wfoBRTaooiO6bw5XPXrKkDJ6kWCXi-YmEx69Eg/viewform</a:t>
            </a:r>
          </a:p>
        </p:txBody>
      </p:sp>
      <p:sp>
        <p:nvSpPr>
          <p:cNvPr id="15" name="">
            <a:extLst xmlns:a="http://schemas.openxmlformats.org/drawingml/2006/main">
              <a:ext uri="{FF2B5EF4-FFF2-40B4-BE49-F238E27FC236}">
                <a16:creationId xmlns:a16="http://schemas.microsoft.com/office/drawing/2014/main" id="{F5E46A77-0734-45ED-A6FD-A7549E50FC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38</a:t>
            </a:r>
          </a:p>
        </p:txBody>
      </p:sp>
    </p:spTree>
    <p:extLst>
      <p:ext uri="{BB962C8B-B14F-4D97-AF65-F5344CB8AC3E}">
        <p14:creationId xmlns:p14="http://schemas.microsoft.com/office/powerpoint/2010/main" val="58660785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53D45C-8438-4856-8107-087D59337A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05616A-ADB7-41F1-945F-7361D3215E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107FA95-2629-4390-9E81-D4CCE0C49E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D51B26EF-AB48-4EBC-9D0A-35D26D324A1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8A609E6-DF1B-4E76-A2C7-190C6637C27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7A002B12-FCA6-4FF0-B17E-42126D326D2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639AC2F-EB26-4628-8163-97673A6F0A50}"/>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EB578754-ACD0-4C68-93E6-38968E13161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C24FDDA-837E-4D8B-B9F3-8D4D1C022CB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F910AFE4-1B95-4CF4-A4D2-0C8C4881F4D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88C051F-1549-407A-970F-D31796F2828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30 Oct 2026, 08:00 Kampala</a:t>
            </a:r>
          </a:p>
        </p:txBody>
      </p:sp>
      <p:sp>
        <p:nvSpPr>
          <p:cNvPr id="12" name="">
            <a:extLst xmlns:a="http://schemas.openxmlformats.org/drawingml/2006/main">
              <a:ext uri="{FF2B5EF4-FFF2-40B4-BE49-F238E27FC236}">
                <a16:creationId xmlns:a16="http://schemas.microsoft.com/office/drawing/2014/main" id="{AB02C36E-4BC6-4116-8774-135C78DF0A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39</a:t>
            </a:r>
          </a:p>
        </p:txBody>
      </p:sp>
    </p:spTree>
    <p:extLst>
      <p:ext uri="{BB962C8B-B14F-4D97-AF65-F5344CB8AC3E}">
        <p14:creationId xmlns:p14="http://schemas.microsoft.com/office/powerpoint/2010/main" val="107321004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19D1241-7CDC-4D0E-95EF-EB731B3AEB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0D54AE-21D2-4C87-BA51-8032190D73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3AF9C8E3-E38C-4DC8-851B-ABEB045389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quiz</a:t>
            </a:r>
          </a:p>
        </p:txBody>
      </p:sp>
      <p:sp>
        <p:nvSpPr>
          <p:cNvPr id="4" name="">
            <a:extLst xmlns:a="http://schemas.openxmlformats.org/drawingml/2006/main">
              <a:ext uri="{FF2B5EF4-FFF2-40B4-BE49-F238E27FC236}">
                <a16:creationId xmlns:a16="http://schemas.microsoft.com/office/drawing/2014/main" id="{B9C00D1A-4C1D-4D77-ACF7-A4955A16A17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A6D0EFC-F2CA-411A-A193-67C7E824DFD2}"/>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37C19096-B13B-43DC-B79A-D9C537E0B040}"/>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6805C14-07C6-42B3-9C8F-41CA95073488}"/>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629DCA96-296E-4E05-A455-6BFB8F51B01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E31083A-4DA7-4ABB-A0A6-AC0A6ACBC0D9}"/>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B1EFDD04-C409-480C-8B9F-0E981C4CE020}"/>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34957A7-65FE-4965-AA96-B619BF240E9F}"/>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0b4fa26444b448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DBAEC3D-E611-4832-96C8-7ECF4E089D34}"/>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67E1B8F5-4B66-40AF-ACF4-94A2A7E0AE62}"/>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299F93-C613-4742-9556-00505C149A3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5ba2b314aa64d53"/>
              </a:rPr>
              <a:t>Open this week’s quiz</a:t>
            </a:r>
          </a:p>
        </p:txBody>
      </p:sp>
      <p:sp>
        <p:nvSpPr>
          <p:cNvPr id="16" name="">
            <a:extLst xmlns:a="http://schemas.openxmlformats.org/drawingml/2006/main">
              <a:ext uri="{FF2B5EF4-FFF2-40B4-BE49-F238E27FC236}">
                <a16:creationId xmlns:a16="http://schemas.microsoft.com/office/drawing/2014/main" id="{AF33B11C-B5B0-49DA-9CD3-B2ECA781CF2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https://forms.gle/2bRrHnq3mUEN84k19</a:t>
            </a:r>
          </a:p>
        </p:txBody>
      </p:sp>
      <p:sp>
        <p:nvSpPr>
          <p:cNvPr id="17" name="">
            <a:extLst xmlns:a="http://schemas.openxmlformats.org/drawingml/2006/main">
              <a:ext uri="{FF2B5EF4-FFF2-40B4-BE49-F238E27FC236}">
                <a16:creationId xmlns:a16="http://schemas.microsoft.com/office/drawing/2014/main" id="{8B5D560E-D7B0-4A32-9C12-1AA17A4418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40</a:t>
            </a:r>
          </a:p>
        </p:txBody>
      </p:sp>
    </p:spTree>
    <p:extLst>
      <p:ext uri="{BB962C8B-B14F-4D97-AF65-F5344CB8AC3E}">
        <p14:creationId xmlns:p14="http://schemas.microsoft.com/office/powerpoint/2010/main" val="163744844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18A54D-F52E-4678-A4D9-20BC7FFE0E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0B74FB-FD54-4402-8128-F95FA25197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45038B-B3E8-449E-81AB-0DC70AA8FC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support</a:t>
            </a:r>
          </a:p>
        </p:txBody>
      </p:sp>
      <p:sp>
        <p:nvSpPr>
          <p:cNvPr id="4" name="">
            <a:extLst xmlns:a="http://schemas.openxmlformats.org/drawingml/2006/main">
              <a:ext uri="{FF2B5EF4-FFF2-40B4-BE49-F238E27FC236}">
                <a16:creationId xmlns:a16="http://schemas.microsoft.com/office/drawing/2014/main" id="{E054A865-27BE-4254-9588-2A242A51AAA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6BFA722-46A6-459A-9619-1D791A8DACF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Friday 9 October has no normal class.</a:t>
            </a:r>
          </a:p>
        </p:txBody>
      </p:sp>
      <p:sp>
        <p:nvSpPr>
          <p:cNvPr id="6" name="">
            <a:extLst xmlns:a="http://schemas.openxmlformats.org/drawingml/2006/main">
              <a:ext uri="{FF2B5EF4-FFF2-40B4-BE49-F238E27FC236}">
                <a16:creationId xmlns:a16="http://schemas.microsoft.com/office/drawing/2014/main" id="{89903DB9-FDFB-46AE-82A3-CECD43768AA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9DBC85-1089-4115-A541-06324C57EE0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announce a supported replacement session or recording with a clinic.</a:t>
            </a:r>
          </a:p>
        </p:txBody>
      </p:sp>
      <p:sp>
        <p:nvSpPr>
          <p:cNvPr id="8" name="">
            <a:extLst xmlns:a="http://schemas.openxmlformats.org/drawingml/2006/main">
              <a:ext uri="{FF2B5EF4-FFF2-40B4-BE49-F238E27FC236}">
                <a16:creationId xmlns:a16="http://schemas.microsoft.com/office/drawing/2014/main" id="{CDDECA34-0F6E-4C9D-9E96-2BDA837048A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BA2C599-EA0B-44CA-A0DD-A7F59C79C96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Week 6 starts with 30 minutes of consolidation.</a:t>
            </a:r>
          </a:p>
        </p:txBody>
      </p:sp>
      <p:sp>
        <p:nvSpPr>
          <p:cNvPr id="10" name="">
            <a:extLst xmlns:a="http://schemas.openxmlformats.org/drawingml/2006/main">
              <a:ext uri="{FF2B5EF4-FFF2-40B4-BE49-F238E27FC236}">
                <a16:creationId xmlns:a16="http://schemas.microsoft.com/office/drawing/2014/main" id="{085DCE7B-DD2A-4E32-82F6-1F52C1027B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41</a:t>
            </a:r>
          </a:p>
        </p:txBody>
      </p:sp>
    </p:spTree>
    <p:extLst>
      <p:ext uri="{BB962C8B-B14F-4D97-AF65-F5344CB8AC3E}">
        <p14:creationId xmlns:p14="http://schemas.microsoft.com/office/powerpoint/2010/main" val="262659747"/>
      </p:ext>
    </p:extLst>
  </p:cSld>
</p:sld>
</file>

<file path=ppt/slides/slide42.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EC40BF-C6D3-4BA4-8DF3-C3EC323A3C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CB5E79D7-023F-4F3F-8E7C-0939F91DA6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EDFDC76D-2B33-4830-B0EC-2A24F2A46217}"/>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E5240FF4-43A8-4D82-B723-413E788F615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which observations a filter keeps and what a grouped total means.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D06EC0C8-41E4-4385-9E5F-93AA6A129097}"/>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425FCF8C-4E07-4285-9519-BCEFC3FB63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5   42</a:t>
            </a:r>
          </a:p>
        </p:txBody>
      </p:sp>
    </p:spTree>
    <p:extLst>
      <p:ext uri="{BB962C8B-B14F-4D97-AF65-F5344CB8AC3E}">
        <p14:creationId xmlns:p14="http://schemas.microsoft.com/office/powerpoint/2010/main" val="324774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2026-09-28T21:14:46.0220000Z</dcterms:created>
  <dcterms:modified xsi:type="dcterms:W3CDTF">2026-09-28T21:14:46.0220000Z</dcterms:modified>
</coreProperties>
</file>