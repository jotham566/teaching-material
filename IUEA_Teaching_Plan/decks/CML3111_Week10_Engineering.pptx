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2bbc9c393554ce8" /><Relationship Type="http://schemas.openxmlformats.org/officeDocument/2006/relationships/extended-properties" Target="/docProps/app.xml" Id="R77fad38749d24360" /><Relationship Type="http://schemas.openxmlformats.org/officeDocument/2006/relationships/officeDocument" Target="/ppt/presentation.xml" Id="Rfb80bd3b90dd4489" /></Relationships>
</file>

<file path=ppt/presentation.xml><?xml version="1.0" encoding="utf-8"?>
<p:presentation xmlns:p="http://schemas.openxmlformats.org/presentationml/2006/main">
  <p:sldMasterIdLst>
    <p:sldMasterId xmlns:r="http://schemas.openxmlformats.org/officeDocument/2006/relationships" id="2147483648" r:id="R0f0c046ce6514fae"/>
  </p:sldMasterIdLst>
  <p:notesMasterIdLst>
    <p:notesMasterId xmlns:r="http://schemas.openxmlformats.org/officeDocument/2006/relationships" r:id="R405feb2df0514db7"/>
  </p:notesMasterIdLst>
  <p:sldIdLst>
    <p:sldId xmlns:r="http://schemas.openxmlformats.org/officeDocument/2006/relationships" id="256" r:id="R4419e8a4166b415d"/>
    <p:sldId xmlns:r="http://schemas.openxmlformats.org/officeDocument/2006/relationships" id="257" r:id="R863f5e52b0f1409e"/>
    <p:sldId xmlns:r="http://schemas.openxmlformats.org/officeDocument/2006/relationships" id="258" r:id="R3af4a71d72674204"/>
    <p:sldId xmlns:r="http://schemas.openxmlformats.org/officeDocument/2006/relationships" id="259" r:id="R30aab3b5f8e3452f"/>
    <p:sldId xmlns:r="http://schemas.openxmlformats.org/officeDocument/2006/relationships" id="260" r:id="R5611072c29564dd1"/>
    <p:sldId xmlns:r="http://schemas.openxmlformats.org/officeDocument/2006/relationships" id="261" r:id="Rc1a8b4f8598341cc"/>
    <p:sldId xmlns:r="http://schemas.openxmlformats.org/officeDocument/2006/relationships" id="262" r:id="Rb042634f9ff2495b"/>
    <p:sldId xmlns:r="http://schemas.openxmlformats.org/officeDocument/2006/relationships" id="263" r:id="Rfb919d8c6b4847e1"/>
    <p:sldId xmlns:r="http://schemas.openxmlformats.org/officeDocument/2006/relationships" id="264" r:id="Raef45641a3924b20"/>
    <p:sldId xmlns:r="http://schemas.openxmlformats.org/officeDocument/2006/relationships" id="265" r:id="R85305e6a42ce4374"/>
    <p:sldId xmlns:r="http://schemas.openxmlformats.org/officeDocument/2006/relationships" id="266" r:id="R4dab775e4bed46be"/>
    <p:sldId xmlns:r="http://schemas.openxmlformats.org/officeDocument/2006/relationships" id="267" r:id="Rdb97d2c5fd76402c"/>
    <p:sldId xmlns:r="http://schemas.openxmlformats.org/officeDocument/2006/relationships" id="268" r:id="R65bae7c1c81c40e3"/>
    <p:sldId xmlns:r="http://schemas.openxmlformats.org/officeDocument/2006/relationships" id="269" r:id="R1a710c93bd444179"/>
    <p:sldId xmlns:r="http://schemas.openxmlformats.org/officeDocument/2006/relationships" id="270" r:id="R3f00050679cc4bd1"/>
    <p:sldId xmlns:r="http://schemas.openxmlformats.org/officeDocument/2006/relationships" id="271" r:id="Rd6931744fc8e4fa3"/>
    <p:sldId xmlns:r="http://schemas.openxmlformats.org/officeDocument/2006/relationships" id="272" r:id="Rd6873ad130ab4a46"/>
    <p:sldId xmlns:r="http://schemas.openxmlformats.org/officeDocument/2006/relationships" id="273" r:id="R40db7e787d164608"/>
    <p:sldId xmlns:r="http://schemas.openxmlformats.org/officeDocument/2006/relationships" id="274" r:id="Rba937029826d4345"/>
    <p:sldId xmlns:r="http://schemas.openxmlformats.org/officeDocument/2006/relationships" id="275" r:id="Rca3388f34cf146cc"/>
    <p:sldId xmlns:r="http://schemas.openxmlformats.org/officeDocument/2006/relationships" id="276" r:id="R4d0e76985b464980"/>
    <p:sldId xmlns:r="http://schemas.openxmlformats.org/officeDocument/2006/relationships" id="277" r:id="R040dcabe86c84e28"/>
    <p:sldId xmlns:r="http://schemas.openxmlformats.org/officeDocument/2006/relationships" id="278" r:id="R78a71178da3e4968"/>
    <p:sldId xmlns:r="http://schemas.openxmlformats.org/officeDocument/2006/relationships" id="279" r:id="R9b970063d790445b"/>
    <p:sldId xmlns:r="http://schemas.openxmlformats.org/officeDocument/2006/relationships" id="280" r:id="R6130e22e91cc410d"/>
    <p:sldId xmlns:r="http://schemas.openxmlformats.org/officeDocument/2006/relationships" id="281" r:id="R7fab7e14618b4d79"/>
    <p:sldId xmlns:r="http://schemas.openxmlformats.org/officeDocument/2006/relationships" id="282" r:id="R1dbfcefc8cfe40f7"/>
    <p:sldId xmlns:r="http://schemas.openxmlformats.org/officeDocument/2006/relationships" id="283" r:id="R71dc6010d47940b8"/>
    <p:sldId xmlns:r="http://schemas.openxmlformats.org/officeDocument/2006/relationships" id="284" r:id="Rccb43d6447fa46cf"/>
    <p:sldId xmlns:r="http://schemas.openxmlformats.org/officeDocument/2006/relationships" id="285" r:id="Rceb9e3846c9b43f1"/>
    <p:sldId xmlns:r="http://schemas.openxmlformats.org/officeDocument/2006/relationships" id="286" r:id="R533bea8623904a59"/>
    <p:sldId xmlns:r="http://schemas.openxmlformats.org/officeDocument/2006/relationships" id="287" r:id="R0a9fd5414cbd4f0b"/>
    <p:sldId xmlns:r="http://schemas.openxmlformats.org/officeDocument/2006/relationships" id="288" r:id="Rcfe05ffb68c24710"/>
    <p:sldId xmlns:r="http://schemas.openxmlformats.org/officeDocument/2006/relationships" id="289" r:id="R8fbb58ddcaee4ae5"/>
    <p:sldId xmlns:r="http://schemas.openxmlformats.org/officeDocument/2006/relationships" id="290" r:id="R3ebfd0420eb34d96"/>
    <p:sldId xmlns:r="http://schemas.openxmlformats.org/officeDocument/2006/relationships" id="291" r:id="Ra7e74b3919b24594"/>
    <p:sldId xmlns:r="http://schemas.openxmlformats.org/officeDocument/2006/relationships" id="292" r:id="R6d02bdbede4c49a2"/>
    <p:sldId xmlns:r="http://schemas.openxmlformats.org/officeDocument/2006/relationships" id="293" r:id="R11f74ccf25214f3e"/>
    <p:sldId xmlns:r="http://schemas.openxmlformats.org/officeDocument/2006/relationships" id="294" r:id="R5b52219815e640b3"/>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6503a99724c44e4" /><Relationship Type="http://schemas.openxmlformats.org/officeDocument/2006/relationships/slideMaster" Target="/ppt/slideMasters/slideMaster1.xml" Id="R0f0c046ce6514fae" /><Relationship Type="http://schemas.openxmlformats.org/officeDocument/2006/relationships/notesMaster" Target="/ppt/notesMasters/notesMaster1.xml" Id="R405feb2df0514db7" /><Relationship Type="http://schemas.openxmlformats.org/officeDocument/2006/relationships/presProps" Target="/ppt/presProps.xml" Id="R1ceab1b563b8486c" /><Relationship Type="http://schemas.openxmlformats.org/officeDocument/2006/relationships/tableStyles" Target="/ppt/tableStyles.xml" Id="R2dec755bea464c05" /><Relationship Type="http://schemas.openxmlformats.org/officeDocument/2006/relationships/slide" Target="/ppt/slides/slide1.xml" Id="R4419e8a4166b415d" /><Relationship Type="http://schemas.openxmlformats.org/officeDocument/2006/relationships/slide" Target="/ppt/slides/slide2.xml" Id="R863f5e52b0f1409e" /><Relationship Type="http://schemas.openxmlformats.org/officeDocument/2006/relationships/slide" Target="/ppt/slides/slide3.xml" Id="R3af4a71d72674204" /><Relationship Type="http://schemas.openxmlformats.org/officeDocument/2006/relationships/slide" Target="/ppt/slides/slide4.xml" Id="R30aab3b5f8e3452f" /><Relationship Type="http://schemas.openxmlformats.org/officeDocument/2006/relationships/slide" Target="/ppt/slides/slide5.xml" Id="R5611072c29564dd1" /><Relationship Type="http://schemas.openxmlformats.org/officeDocument/2006/relationships/slide" Target="/ppt/slides/slide6.xml" Id="Rc1a8b4f8598341cc" /><Relationship Type="http://schemas.openxmlformats.org/officeDocument/2006/relationships/slide" Target="/ppt/slides/slide7.xml" Id="Rb042634f9ff2495b" /><Relationship Type="http://schemas.openxmlformats.org/officeDocument/2006/relationships/slide" Target="/ppt/slides/slide8.xml" Id="Rfb919d8c6b4847e1" /><Relationship Type="http://schemas.openxmlformats.org/officeDocument/2006/relationships/slide" Target="/ppt/slides/slide9.xml" Id="Raef45641a3924b20" /><Relationship Type="http://schemas.openxmlformats.org/officeDocument/2006/relationships/slide" Target="/ppt/slides/slide10.xml" Id="R85305e6a42ce4374" /><Relationship Type="http://schemas.openxmlformats.org/officeDocument/2006/relationships/slide" Target="/ppt/slides/slide11.xml" Id="R4dab775e4bed46be" /><Relationship Type="http://schemas.openxmlformats.org/officeDocument/2006/relationships/slide" Target="/ppt/slides/slide12.xml" Id="Rdb97d2c5fd76402c" /><Relationship Type="http://schemas.openxmlformats.org/officeDocument/2006/relationships/slide" Target="/ppt/slides/slide13.xml" Id="R65bae7c1c81c40e3" /><Relationship Type="http://schemas.openxmlformats.org/officeDocument/2006/relationships/slide" Target="/ppt/slides/slide14.xml" Id="R1a710c93bd444179" /><Relationship Type="http://schemas.openxmlformats.org/officeDocument/2006/relationships/slide" Target="/ppt/slides/slide15.xml" Id="R3f00050679cc4bd1" /><Relationship Type="http://schemas.openxmlformats.org/officeDocument/2006/relationships/slide" Target="/ppt/slides/slide16.xml" Id="Rd6931744fc8e4fa3" /><Relationship Type="http://schemas.openxmlformats.org/officeDocument/2006/relationships/slide" Target="/ppt/slides/slide17.xml" Id="Rd6873ad130ab4a46" /><Relationship Type="http://schemas.openxmlformats.org/officeDocument/2006/relationships/slide" Target="/ppt/slides/slide18.xml" Id="R40db7e787d164608" /><Relationship Type="http://schemas.openxmlformats.org/officeDocument/2006/relationships/slide" Target="/ppt/slides/slide19.xml" Id="Rba937029826d4345" /><Relationship Type="http://schemas.openxmlformats.org/officeDocument/2006/relationships/slide" Target="/ppt/slides/slide20.xml" Id="Rca3388f34cf146cc" /><Relationship Type="http://schemas.openxmlformats.org/officeDocument/2006/relationships/slide" Target="/ppt/slides/slide21.xml" Id="R4d0e76985b464980" /><Relationship Type="http://schemas.openxmlformats.org/officeDocument/2006/relationships/slide" Target="/ppt/slides/slide22.xml" Id="R040dcabe86c84e28" /><Relationship Type="http://schemas.openxmlformats.org/officeDocument/2006/relationships/slide" Target="/ppt/slides/slide23.xml" Id="R78a71178da3e4968" /><Relationship Type="http://schemas.openxmlformats.org/officeDocument/2006/relationships/slide" Target="/ppt/slides/slide24.xml" Id="R9b970063d790445b" /><Relationship Type="http://schemas.openxmlformats.org/officeDocument/2006/relationships/slide" Target="/ppt/slides/slide25.xml" Id="R6130e22e91cc410d" /><Relationship Type="http://schemas.openxmlformats.org/officeDocument/2006/relationships/slide" Target="/ppt/slides/slide26.xml" Id="R7fab7e14618b4d79" /><Relationship Type="http://schemas.openxmlformats.org/officeDocument/2006/relationships/slide" Target="/ppt/slides/slide27.xml" Id="R1dbfcefc8cfe40f7" /><Relationship Type="http://schemas.openxmlformats.org/officeDocument/2006/relationships/slide" Target="/ppt/slides/slide28.xml" Id="R71dc6010d47940b8" /><Relationship Type="http://schemas.openxmlformats.org/officeDocument/2006/relationships/slide" Target="/ppt/slides/slide29.xml" Id="Rccb43d6447fa46cf" /><Relationship Type="http://schemas.openxmlformats.org/officeDocument/2006/relationships/slide" Target="/ppt/slides/slide30.xml" Id="Rceb9e3846c9b43f1" /><Relationship Type="http://schemas.openxmlformats.org/officeDocument/2006/relationships/slide" Target="/ppt/slides/slide31.xml" Id="R533bea8623904a59" /><Relationship Type="http://schemas.openxmlformats.org/officeDocument/2006/relationships/slide" Target="/ppt/slides/slide32.xml" Id="R0a9fd5414cbd4f0b" /><Relationship Type="http://schemas.openxmlformats.org/officeDocument/2006/relationships/slide" Target="/ppt/slides/slide33.xml" Id="Rcfe05ffb68c24710" /><Relationship Type="http://schemas.openxmlformats.org/officeDocument/2006/relationships/slide" Target="/ppt/slides/slide34.xml" Id="R8fbb58ddcaee4ae5" /><Relationship Type="http://schemas.openxmlformats.org/officeDocument/2006/relationships/slide" Target="/ppt/slides/slide35.xml" Id="R3ebfd0420eb34d96" /><Relationship Type="http://schemas.openxmlformats.org/officeDocument/2006/relationships/slide" Target="/ppt/slides/slide36.xml" Id="Ra7e74b3919b24594" /><Relationship Type="http://schemas.openxmlformats.org/officeDocument/2006/relationships/slide" Target="/ppt/slides/slide37.xml" Id="R6d02bdbede4c49a2" /><Relationship Type="http://schemas.openxmlformats.org/officeDocument/2006/relationships/slide" Target="/ppt/slides/slide38.xml" Id="R11f74ccf25214f3e" /><Relationship Type="http://schemas.openxmlformats.org/officeDocument/2006/relationships/slide" Target="/ppt/slides/slide39.xml" Id="R5b52219815e640b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04ddd50a4064a7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0cf9435948443fd" /><Relationship Type="http://schemas.openxmlformats.org/officeDocument/2006/relationships/notesMaster" Target="/ppt/notesMasters/notesMaster1.xml" Id="R4381e59d78484ac6" /></Relationships>
</file>

<file path=ppt/notesSlides/_rels/notesSlide2.xml.rels>&#65279;<?xml version="1.0" encoding="utf-8"?><Relationships xmlns="http://schemas.openxmlformats.org/package/2006/relationships"><Relationship Type="http://schemas.openxmlformats.org/officeDocument/2006/relationships/slide" Target="/ppt/slides/slide2.xml" Id="Rc5b8a770348c46e6" /><Relationship Type="http://schemas.openxmlformats.org/officeDocument/2006/relationships/notesMaster" Target="/ppt/notesMasters/notesMaster1.xml" Id="Rd9c1c7e433c74fa2" /></Relationships>
</file>

<file path=ppt/notesSlides/_rels/notesSlide3.xml.rels>&#65279;<?xml version="1.0" encoding="utf-8"?><Relationships xmlns="http://schemas.openxmlformats.org/package/2006/relationships"><Relationship Type="http://schemas.openxmlformats.org/officeDocument/2006/relationships/slide" Target="/ppt/slides/slide3.xml" Id="Rb8d2c335968c4475" /><Relationship Type="http://schemas.openxmlformats.org/officeDocument/2006/relationships/notesMaster" Target="/ppt/notesMasters/notesMaster1.xml" Id="Rab76b089d57745f4" /></Relationships>
</file>

<file path=ppt/notesSlides/_rels/notesSlide4.xml.rels>&#65279;<?xml version="1.0" encoding="utf-8"?><Relationships xmlns="http://schemas.openxmlformats.org/package/2006/relationships"><Relationship Type="http://schemas.openxmlformats.org/officeDocument/2006/relationships/slide" Target="/ppt/slides/slide4.xml" Id="Rdeb2a500e331424e" /><Relationship Type="http://schemas.openxmlformats.org/officeDocument/2006/relationships/notesMaster" Target="/ppt/notesMasters/notesMaster1.xml" Id="R6b1ce27d776f43b5" /></Relationships>
</file>

<file path=ppt/notesSlides/_rels/notesSlide5.xml.rels>&#65279;<?xml version="1.0" encoding="utf-8"?><Relationships xmlns="http://schemas.openxmlformats.org/package/2006/relationships"><Relationship Type="http://schemas.openxmlformats.org/officeDocument/2006/relationships/slide" Target="/ppt/slides/slide5.xml" Id="R947be2040ecb40fe" /><Relationship Type="http://schemas.openxmlformats.org/officeDocument/2006/relationships/notesMaster" Target="/ppt/notesMasters/notesMaster1.xml" Id="R4fcba61408c54d45" /></Relationships>
</file>

<file path=ppt/notesSlides/_rels/notesSlide6.xml.rels>&#65279;<?xml version="1.0" encoding="utf-8"?><Relationships xmlns="http://schemas.openxmlformats.org/package/2006/relationships"><Relationship Type="http://schemas.openxmlformats.org/officeDocument/2006/relationships/slide" Target="/ppt/slides/slide6.xml" Id="R910de9fa34d145fb" /><Relationship Type="http://schemas.openxmlformats.org/officeDocument/2006/relationships/notesMaster" Target="/ppt/notesMasters/notesMaster1.xml" Id="R14cea97633a5413a" /></Relationships>
</file>

<file path=ppt/notesSlides/_rels/notesSlide7.xml.rels>&#65279;<?xml version="1.0" encoding="utf-8"?><Relationships xmlns="http://schemas.openxmlformats.org/package/2006/relationships"><Relationship Type="http://schemas.openxmlformats.org/officeDocument/2006/relationships/slide" Target="/ppt/slides/slide7.xml" Id="R7bbbc57989c44bd9" /><Relationship Type="http://schemas.openxmlformats.org/officeDocument/2006/relationships/notesMaster" Target="/ppt/notesMasters/notesMaster1.xml" Id="Re0eee641fc254bcb" /></Relationships>
</file>

<file path=ppt/notesSlides/_rels/notesSlide8.xml.rels>&#65279;<?xml version="1.0" encoding="utf-8"?><Relationships xmlns="http://schemas.openxmlformats.org/package/2006/relationships"><Relationship Type="http://schemas.openxmlformats.org/officeDocument/2006/relationships/slide" Target="/ppt/slides/slide8.xml" Id="R0d9ca327868d46ea" /><Relationship Type="http://schemas.openxmlformats.org/officeDocument/2006/relationships/notesMaster" Target="/ppt/notesMasters/notesMaster1.xml" Id="R10df2828d9884945" /></Relationships>
</file>

<file path=ppt/notesSlides/_rels/notesSlide9.xml.rels>&#65279;<?xml version="1.0" encoding="utf-8"?><Relationships xmlns="http://schemas.openxmlformats.org/package/2006/relationships"><Relationship Type="http://schemas.openxmlformats.org/officeDocument/2006/relationships/slide" Target="/ppt/slides/slide9.xml" Id="Rd1928e6a7e3e468f" /><Relationship Type="http://schemas.openxmlformats.org/officeDocument/2006/relationships/notesMaster" Target="/ppt/notesMasters/notesMaster1.xml" Id="R3b5fdf586ee541f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82feb9813504b3b" /><Relationship Type="http://schemas.openxmlformats.org/officeDocument/2006/relationships/notesMaster" Target="/ppt/notesMasters/notesMaster1.xml" Id="R4d9bc8020a68463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399b661fffe453e" /><Relationship Type="http://schemas.openxmlformats.org/officeDocument/2006/relationships/notesMaster" Target="/ppt/notesMasters/notesMaster1.xml" Id="R0529e9cc89e543e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7f3f4de9b43441b" /><Relationship Type="http://schemas.openxmlformats.org/officeDocument/2006/relationships/notesMaster" Target="/ppt/notesMasters/notesMaster1.xml" Id="R259060637454490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9b9c354b2094e5e" /><Relationship Type="http://schemas.openxmlformats.org/officeDocument/2006/relationships/notesMaster" Target="/ppt/notesMasters/notesMaster1.xml" Id="R78d83df69421482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8efcf50c05646eb" /><Relationship Type="http://schemas.openxmlformats.org/officeDocument/2006/relationships/notesMaster" Target="/ppt/notesMasters/notesMaster1.xml" Id="Rfb344bdd341f49f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7964747909e4dbf" /><Relationship Type="http://schemas.openxmlformats.org/officeDocument/2006/relationships/notesMaster" Target="/ppt/notesMasters/notesMaster1.xml" Id="R103fb5a4b080495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83299d5066940a3" /><Relationship Type="http://schemas.openxmlformats.org/officeDocument/2006/relationships/notesMaster" Target="/ppt/notesMasters/notesMaster1.xml" Id="R43ae184695824dc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22c54b9680b4b5c" /><Relationship Type="http://schemas.openxmlformats.org/officeDocument/2006/relationships/notesMaster" Target="/ppt/notesMasters/notesMaster1.xml" Id="R9ced684180974d9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9c31e88ab7f45f4" /><Relationship Type="http://schemas.openxmlformats.org/officeDocument/2006/relationships/notesMaster" Target="/ppt/notesMasters/notesMaster1.xml" Id="R6e8f9cd60b4f4fd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667b4bc751b46b1" /><Relationship Type="http://schemas.openxmlformats.org/officeDocument/2006/relationships/notesMaster" Target="/ppt/notesMasters/notesMaster1.xml" Id="Rd3a49fe019014cc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d8f992673fe40dc" /><Relationship Type="http://schemas.openxmlformats.org/officeDocument/2006/relationships/notesMaster" Target="/ppt/notesMasters/notesMaster1.xml" Id="R4e28a5a8111744c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2f9e8d1e3134dbe" /><Relationship Type="http://schemas.openxmlformats.org/officeDocument/2006/relationships/notesMaster" Target="/ppt/notesMasters/notesMaster1.xml" Id="R015ef4dbd9f643e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8e82a2a6f6f4471" /><Relationship Type="http://schemas.openxmlformats.org/officeDocument/2006/relationships/notesMaster" Target="/ppt/notesMasters/notesMaster1.xml" Id="R71be028b4f064b2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5a48965fce5476b" /><Relationship Type="http://schemas.openxmlformats.org/officeDocument/2006/relationships/notesMaster" Target="/ppt/notesMasters/notesMaster1.xml" Id="R81e91745e21c40e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e0f6bc6c7ba43a6" /><Relationship Type="http://schemas.openxmlformats.org/officeDocument/2006/relationships/notesMaster" Target="/ppt/notesMasters/notesMaster1.xml" Id="Ra3bcb5e4142d4a1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6aaea69fbf5491f" /><Relationship Type="http://schemas.openxmlformats.org/officeDocument/2006/relationships/notesMaster" Target="/ppt/notesMasters/notesMaster1.xml" Id="R10b1f3e8fc1e4c9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355ada928764243" /><Relationship Type="http://schemas.openxmlformats.org/officeDocument/2006/relationships/notesMaster" Target="/ppt/notesMasters/notesMaster1.xml" Id="R74984412815643d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5c446f7439a492d" /><Relationship Type="http://schemas.openxmlformats.org/officeDocument/2006/relationships/notesMaster" Target="/ppt/notesMasters/notesMaster1.xml" Id="R768c234fcbf4495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02be7cd5de24439" /><Relationship Type="http://schemas.openxmlformats.org/officeDocument/2006/relationships/notesMaster" Target="/ppt/notesMasters/notesMaster1.xml" Id="R1ca934b6ca144e7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567a0008e5f4ff8" /><Relationship Type="http://schemas.openxmlformats.org/officeDocument/2006/relationships/notesMaster" Target="/ppt/notesMasters/notesMaster1.xml" Id="R2500d7da68a049c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0f6f4d6e6e64c61" /><Relationship Type="http://schemas.openxmlformats.org/officeDocument/2006/relationships/notesMaster" Target="/ppt/notesMasters/notesMaster1.xml" Id="R0b758cf8d8e04ed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1b0d1d6766c46a5" /><Relationship Type="http://schemas.openxmlformats.org/officeDocument/2006/relationships/notesMaster" Target="/ppt/notesMasters/notesMaster1.xml" Id="R81bc96ba0ac64b4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888cebb556c4768" /><Relationship Type="http://schemas.openxmlformats.org/officeDocument/2006/relationships/notesMaster" Target="/ppt/notesMasters/notesMaster1.xml" Id="R56e34572c5f1438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2b9ba22a06e4cd8" /><Relationship Type="http://schemas.openxmlformats.org/officeDocument/2006/relationships/notesMaster" Target="/ppt/notesMasters/notesMaster1.xml" Id="Rf86ec4676091482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4bf8bbb87174274" /><Relationship Type="http://schemas.openxmlformats.org/officeDocument/2006/relationships/notesMaster" Target="/ppt/notesMasters/notesMaster1.xml" Id="R05424d6a3bd5469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cb158b287fa4753" /><Relationship Type="http://schemas.openxmlformats.org/officeDocument/2006/relationships/notesMaster" Target="/ppt/notesMasters/notesMaster1.xml" Id="Rcd19605a16b34f7d"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5e941629c4348f0" /><Relationship Type="http://schemas.openxmlformats.org/officeDocument/2006/relationships/notesMaster" Target="/ppt/notesMasters/notesMaster1.xml" Id="Rc950f64e655149a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2f83392fa9f242ca" /><Relationship Type="http://schemas.openxmlformats.org/officeDocument/2006/relationships/notesMaster" Target="/ppt/notesMasters/notesMaster1.xml" Id="R83342faaf75e4d6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096d9f143814063" /><Relationship Type="http://schemas.openxmlformats.org/officeDocument/2006/relationships/notesMaster" Target="/ppt/notesMasters/notesMaster1.xml" Id="R331c364879af48d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cf0f794be6c4047" /><Relationship Type="http://schemas.openxmlformats.org/officeDocument/2006/relationships/notesMaster" Target="/ppt/notesMasters/notesMaster1.xml" Id="Rb2465e218b6e440d"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Honest validation and leakage</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Honest validation and leakage.</a:t>
            </a:r>
          </a:p>
          <a:p>
            <a:r>
              <a:t/>
            </a:r>
          </a:p>
          <a:p>
            <a:r>
              <a:t>LECTURER CUE</a:t>
            </a:r>
          </a:p>
          <a:p>
            <a:r>
              <a:t>Ask learners to explain this goal in ordinary language. The first successful attempt matters more than covering optional extensions. Defer: Multiple adversarial notebooks, elaborate validation curves and several cross-validation variants are extensions after the core split is understood.</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Students explain why E6 cannot be used to choose a feature or tune the tree. If they cannot, return to the paper partitions.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team records device temperature to investigate cooling. Use a communications cabinet, an electrical enclosure or a robot controller as the physical example. No specialist hardware knowledge is assumed.</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Training validation and final test.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Training validation and final test</a:t>
            </a:r>
          </a:p>
          <a:p>
            <a:r>
              <a:t/>
            </a:r>
          </a:p>
          <a:p>
            <a:r>
              <a:t>CONNECT</a:t>
            </a:r>
          </a:p>
          <a:p>
            <a:r>
              <a:t>Build on the preceding slide: The engineering context.</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Three sets have different jobs.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Three sets have different jobs</a:t>
            </a:r>
          </a:p>
          <a:p>
            <a:r>
              <a:t/>
            </a:r>
          </a:p>
          <a:p>
            <a:r>
              <a:t>CONNECT</a:t>
            </a:r>
          </a:p>
          <a:p>
            <a:r>
              <a:t>Build on the preceding slide: Training validation and final test.</a:t>
            </a:r>
          </a:p>
          <a:p>
            <a:r>
              <a:t/>
            </a:r>
          </a:p>
          <a:p>
            <a:r>
              <a:t>LECTURER CUE</a:t>
            </a:r>
          </a:p>
          <a:p>
            <a:r>
              <a:t>Ask students to describe what they see before introducing terminology. Generated conceptual teaching illustration.  Source: figs/experiential/ASSET_SOURCES.md.</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Three sets have different jobs.</a:t>
            </a:r>
          </a:p>
          <a:p>
            <a:r>
              <a:t/>
            </a:r>
          </a:p>
          <a:p>
            <a:r>
              <a:t>POINT TO THE DEFINITION</a:t>
            </a:r>
          </a:p>
          <a:p>
            <a:r>
              <a:t>Generalisation: Performance on new cases from the intended setting, not merely on records already used.</a:t>
            </a:r>
          </a:p>
          <a:p>
            <a:r>
              <a:t>Overfitting and underfitting: Overfitting captures training-specific detail that fails to transfer. Underfitting misses useful patterns. Score gaps are clues, not a complete diagnosis.</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Words we will use.</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POINT TO THE DEFINITION</a:t>
            </a:r>
          </a:p>
          <a:p>
            <a:r>
              <a:t>Leakage: Information enters model development that would not legitimately be available, such as the answer or information from evaluation rows.</a:t>
            </a:r>
          </a:p>
          <a:p>
            <a:r>
              <a:t>Group split: Keep all observations from the same equipment in one partition when the goal is prediction for unseen equipment.</a:t>
            </a:r>
          </a:p>
          <a:p>
            <a:r>
              <a:t/>
            </a:r>
          </a:p>
          <a:p>
            <a:r>
              <a:t>NEXT</a:t>
            </a:r>
          </a:p>
          <a:p>
            <a:r>
              <a:t>Repeated equipment needs group separation.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Repeated equipment needs group separation</a:t>
            </a:r>
          </a:p>
          <a:p>
            <a:r>
              <a:t/>
            </a:r>
          </a:p>
          <a:p>
            <a:r>
              <a:t>CONNECT</a:t>
            </a:r>
          </a:p>
          <a:p>
            <a:r>
              <a:t>Build on the preceding slide: Words we will use.</a:t>
            </a:r>
          </a:p>
          <a:p>
            <a:r>
              <a:t/>
            </a:r>
          </a:p>
          <a:p>
            <a:r>
              <a:t>LECTURER CUE</a:t>
            </a:r>
          </a:p>
          <a:p>
            <a:r>
              <a:t>Write equipment letters on paper cards and distribute whole groups to train, validation and test. Explain why two observations of the same machine can share information.</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Keeping equipment groups together.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Keeping equipment groups together</a:t>
            </a:r>
          </a:p>
          <a:p>
            <a:r>
              <a:t/>
            </a:r>
          </a:p>
          <a:p>
            <a:r>
              <a:t>CONNECT</a:t>
            </a:r>
          </a:p>
          <a:p>
            <a:r>
              <a:t>Build on the preceding slide: Repeated equipment needs group separation.</a:t>
            </a:r>
          </a:p>
          <a:p>
            <a:r>
              <a:t/>
            </a:r>
          </a:p>
          <a:p>
            <a:r>
              <a:t>LECTURER CUE</a:t>
            </a:r>
          </a:p>
          <a:p>
            <a:r>
              <a:t>This toy split explains group separation. It does not establish a representative evaluation with only two pieces of equipment.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Worked example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(1/2)</a:t>
            </a:r>
          </a:p>
          <a:p>
            <a:r>
              <a:t/>
            </a:r>
          </a:p>
          <a:p>
            <a:r>
              <a:t>CONNECT</a:t>
            </a:r>
          </a:p>
          <a:p>
            <a:r>
              <a:t>Build on the preceding slide: Keeping equipment groups together.</a:t>
            </a:r>
          </a:p>
          <a:p>
            <a:r>
              <a:t/>
            </a:r>
          </a:p>
          <a:p>
            <a:r>
              <a:t>LECTURER CUE</a:t>
            </a:r>
          </a:p>
          <a:p>
            <a:r>
              <a:t>Write equipment letters on paper cards and distribute whole groups to train, validation and test. Explain why two observations of the same machine can share information. Fit a missing-value replacement on training values [20, 22, 24]: the median is 22. A new hotter observation must not change that fitted median. Show a counterexample: if every input contains a field called final_inspection_result recorded after the outcome, an excellent score can be meaningless for earlier prediction.</a:t>
            </a:r>
          </a:p>
          <a:p>
            <a:r>
              <a:t/>
            </a:r>
          </a:p>
          <a:p>
            <a:r>
              <a:t>Complete practice code:</a:t>
            </a:r>
          </a:p>
          <a:p>
            <a:r>
              <a:t>records = [{"id": 1, "equipment": "A"},</a:t>
            </a:r>
          </a:p>
          <a:p>
            <a:r>
              <a:t>           {"id": 2, "equipment": "A"},</a:t>
            </a:r>
          </a:p>
          <a:p>
            <a:r>
              <a:t>           {"id": 3, "equipment": "B"}]</a:t>
            </a:r>
          </a:p>
          <a:p>
            <a:r>
              <a:t>train = []</a:t>
            </a:r>
          </a:p>
          <a:p>
            <a:r>
              <a:t>validation = []</a:t>
            </a:r>
          </a:p>
          <a:p>
            <a:r>
              <a:t>for row in records:</a:t>
            </a:r>
          </a:p>
          <a:p>
            <a:r>
              <a:t>    if row["equipment"] == "A":</a:t>
            </a:r>
          </a:p>
          <a:p>
            <a:r>
              <a:t>        train.append(row["id"])</a:t>
            </a:r>
          </a:p>
          <a:p>
            <a:r>
              <a:t>    else:</a:t>
            </a:r>
          </a:p>
          <a:p>
            <a:r>
              <a:t>        validation.append(row["id"])</a:t>
            </a:r>
          </a:p>
          <a:p>
            <a:r>
              <a:t>print(train, validation)</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WALK THROUGH THIS CODE</a:t>
            </a:r>
          </a:p>
          <a:p>
            <a:r>
              <a:t>Square brackets create a list or select an item.</a:t>
            </a:r>
          </a:p>
          <a:p>
            <a:r>
              <a:t>Braces hold dictionary key: value pairs here.</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Worked example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(2/2)</a:t>
            </a:r>
          </a:p>
          <a:p>
            <a:r>
              <a:t/>
            </a:r>
          </a:p>
          <a:p>
            <a:r>
              <a:t>CONNECT</a:t>
            </a:r>
          </a:p>
          <a:p>
            <a:r>
              <a:t>Build on the preceding slide: Worked example (1/2).</a:t>
            </a:r>
          </a:p>
          <a:p>
            <a:r>
              <a:t/>
            </a:r>
          </a:p>
          <a:p>
            <a:r>
              <a:t>LECTURER CUE</a:t>
            </a:r>
          </a:p>
          <a:p>
            <a:r>
              <a:t>Write equipment letters on paper cards and distribute whole groups to train, validation and test. Explain why two observations of the same machine can share information. Fit a missing-value replacement on training values [20, 22, 24]: the median is 22. A new hotter observation must not change that fitted median. Show a counterexample: if every input contains a field called final_inspection_result recorded after the outcome, an excellent score can be meaningless for earlier prediction.</a:t>
            </a:r>
          </a:p>
          <a:p>
            <a:r>
              <a:t/>
            </a:r>
          </a:p>
          <a:p>
            <a:r>
              <a:t>Complete practice code:</a:t>
            </a:r>
          </a:p>
          <a:p>
            <a:r>
              <a:t>records = [{"id": 1, "equipment": "A"},</a:t>
            </a:r>
          </a:p>
          <a:p>
            <a:r>
              <a:t>           {"id": 2, "equipment": "A"},</a:t>
            </a:r>
          </a:p>
          <a:p>
            <a:r>
              <a:t>           {"id": 3, "equipment": "B"}]</a:t>
            </a:r>
          </a:p>
          <a:p>
            <a:r>
              <a:t>train = []</a:t>
            </a:r>
          </a:p>
          <a:p>
            <a:r>
              <a:t>validation = []</a:t>
            </a:r>
          </a:p>
          <a:p>
            <a:r>
              <a:t>for row in records:</a:t>
            </a:r>
          </a:p>
          <a:p>
            <a:r>
              <a:t>    if row["equipment"] == "A":</a:t>
            </a:r>
          </a:p>
          <a:p>
            <a:r>
              <a:t>        train.append(row["id"])</a:t>
            </a:r>
          </a:p>
          <a:p>
            <a:r>
              <a:t>    else:</a:t>
            </a:r>
          </a:p>
          <a:p>
            <a:r>
              <a:t>        validation.append(row["id"])</a:t>
            </a:r>
          </a:p>
          <a:p>
            <a:r>
              <a:t>print(train, validation)</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WALK THROUGH THIS CODE</a:t>
            </a:r>
          </a:p>
          <a:p>
            <a:r>
              <a:t>for takes the next item. The indented block repeats.</a:t>
            </a:r>
          </a:p>
          <a:p>
            <a:r>
              <a:t>if tests a condition. The chosen indented block runs.</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 (2/2).</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Preprocessing and pipeline.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Preprocessing and pipeline</a:t>
            </a:r>
          </a:p>
          <a:p>
            <a:r>
              <a:t/>
            </a:r>
          </a:p>
          <a:p>
            <a:r>
              <a:t>CONNECT</a:t>
            </a:r>
          </a:p>
          <a:p>
            <a:r>
              <a:t>Build on the preceding slide: Expected output.</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POINT TO THE DEFINITION</a:t>
            </a:r>
          </a:p>
          <a:p>
            <a:r>
              <a:t>Preprocessing and pipeline: Preprocessing changes inputs, for example filling missing values. A pipeline fits these steps on training data and applies the same fitted changes to new inputs.</a:t>
            </a:r>
          </a:p>
          <a:p>
            <a:r>
              <a:t/>
            </a:r>
          </a:p>
          <a:p>
            <a:r>
              <a:t>NEXT</a:t>
            </a:r>
          </a:p>
          <a:p>
            <a:r>
              <a:t>A learned cleaning value comes from training.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learned cleaning value comes from training</a:t>
            </a:r>
          </a:p>
          <a:p>
            <a:r>
              <a:t/>
            </a:r>
          </a:p>
          <a:p>
            <a:r>
              <a:t>CONNECT</a:t>
            </a:r>
          </a:p>
          <a:p>
            <a:r>
              <a:t>Build on the preceding slide: Preprocessing and pipeline.</a:t>
            </a:r>
          </a:p>
          <a:p>
            <a:r>
              <a:t/>
            </a:r>
          </a:p>
          <a:p>
            <a:r>
              <a:t>LECTURER CUE</a:t>
            </a:r>
          </a:p>
          <a:p>
            <a:r>
              <a:t>Fit a missing-value replacement on training values [20, 22, 24]: the median is 22. A new hotter observation must not change that fitted median.</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A training-only fill value.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training-only fill value</a:t>
            </a:r>
          </a:p>
          <a:p>
            <a:r>
              <a:t/>
            </a:r>
          </a:p>
          <a:p>
            <a:r>
              <a:t>CONNECT</a:t>
            </a:r>
          </a:p>
          <a:p>
            <a:r>
              <a:t>Build on the preceding slide: A learned cleaning value comes from training.</a:t>
            </a:r>
          </a:p>
          <a:p>
            <a:r>
              <a:t/>
            </a:r>
          </a:p>
          <a:p>
            <a:r>
              <a:t>LECTURER CUE</a:t>
            </a:r>
          </a:p>
          <a:p>
            <a:r>
              <a:t>The median is learned from training observations. Adding a new validation observation must not change it. A real modelling pipeline follows this same rule for each learned step.</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A training-only fill value in Python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training-only fill value in Python (1/2)</a:t>
            </a:r>
          </a:p>
          <a:p>
            <a:r>
              <a:t/>
            </a:r>
          </a:p>
          <a:p>
            <a:r>
              <a:t>CONNECT</a:t>
            </a:r>
          </a:p>
          <a:p>
            <a:r>
              <a:t>Build on the preceding slide: A training-only fill value.</a:t>
            </a:r>
          </a:p>
          <a:p>
            <a:r>
              <a:t/>
            </a:r>
          </a:p>
          <a:p>
            <a:r>
              <a:t>LECTURER CUE</a:t>
            </a:r>
          </a:p>
          <a:p>
            <a:r>
              <a:t>The median is learned from training observations. Adding a new validation observation must not change it. A real modelling pipeline follows this same rule for each learned step.</a:t>
            </a:r>
          </a:p>
          <a:p>
            <a:r>
              <a:t/>
            </a:r>
          </a:p>
          <a:p>
            <a:r>
              <a:t>Complete practice code:</a:t>
            </a:r>
          </a:p>
          <a:p>
            <a:r>
              <a:t>from statistics import median</a:t>
            </a:r>
          </a:p>
          <a:p>
            <a:r>
              <a:t>training_values = [20, 22, 24]</a:t>
            </a:r>
          </a:p>
          <a:p>
            <a:r>
              <a:t>validation_values = [None, 40]</a:t>
            </a:r>
          </a:p>
          <a:p>
            <a:r>
              <a:t>training_median = median(training_values)</a:t>
            </a:r>
          </a:p>
          <a:p>
            <a:r>
              <a:t>filled_validation = []</a:t>
            </a:r>
          </a:p>
          <a:p>
            <a:r>
              <a:t>for value in validation_values:</a:t>
            </a:r>
          </a:p>
          <a:p>
            <a:r>
              <a:t>    if value is None:</a:t>
            </a:r>
          </a:p>
          <a:p>
            <a:r>
              <a:t>        filled_validation.append(training_median)</a:t>
            </a:r>
          </a:p>
          <a:p>
            <a:r>
              <a:t>    else:</a:t>
            </a:r>
          </a:p>
          <a:p>
            <a:r>
              <a:t>        filled_validation.append(value)</a:t>
            </a:r>
          </a:p>
          <a:p>
            <a:r>
              <a:t>print(training_median, filled_validation)</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WALK THROUGH THIS CODE</a:t>
            </a:r>
          </a:p>
          <a:p>
            <a:r>
              <a:t>import loads a library. from selects a tool from it.</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A training-only fill value in Python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training-only fill value in Python (2/2)</a:t>
            </a:r>
          </a:p>
          <a:p>
            <a:r>
              <a:t/>
            </a:r>
          </a:p>
          <a:p>
            <a:r>
              <a:t>CONNECT</a:t>
            </a:r>
          </a:p>
          <a:p>
            <a:r>
              <a:t>Build on the preceding slide: A training-only fill value in Python (1/2).</a:t>
            </a:r>
          </a:p>
          <a:p>
            <a:r>
              <a:t/>
            </a:r>
          </a:p>
          <a:p>
            <a:r>
              <a:t>LECTURER CUE</a:t>
            </a:r>
          </a:p>
          <a:p>
            <a:r>
              <a:t>The median is learned from training observations. Adding a new validation observation must not change it. A real modelling pipeline follows this same rule for each learned step.</a:t>
            </a:r>
          </a:p>
          <a:p>
            <a:r>
              <a:t/>
            </a:r>
          </a:p>
          <a:p>
            <a:r>
              <a:t>Complete practice code:</a:t>
            </a:r>
          </a:p>
          <a:p>
            <a:r>
              <a:t>from statistics import median</a:t>
            </a:r>
          </a:p>
          <a:p>
            <a:r>
              <a:t>training_values = [20, 22, 24]</a:t>
            </a:r>
          </a:p>
          <a:p>
            <a:r>
              <a:t>validation_values = [None, 40]</a:t>
            </a:r>
          </a:p>
          <a:p>
            <a:r>
              <a:t>training_median = median(training_values)</a:t>
            </a:r>
          </a:p>
          <a:p>
            <a:r>
              <a:t>filled_validation = []</a:t>
            </a:r>
          </a:p>
          <a:p>
            <a:r>
              <a:t>for value in validation_values:</a:t>
            </a:r>
          </a:p>
          <a:p>
            <a:r>
              <a:t>    if value is None:</a:t>
            </a:r>
          </a:p>
          <a:p>
            <a:r>
              <a:t>        filled_validation.append(training_median)</a:t>
            </a:r>
          </a:p>
          <a:p>
            <a:r>
              <a:t>    else:</a:t>
            </a:r>
          </a:p>
          <a:p>
            <a:r>
              <a:t>        filled_validation.append(value)</a:t>
            </a:r>
          </a:p>
          <a:p>
            <a:r>
              <a:t>print(training_median, filled_validation)</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WALK THROUGH THIS CODE</a:t>
            </a:r>
          </a:p>
          <a:p>
            <a:r>
              <a:t>for takes the next item. The indented block repeats.</a:t>
            </a:r>
          </a:p>
          <a:p>
            <a:r>
              <a:t>if tests a condition. The chosen indented block runs.</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Leakage gives away information from the future.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Leakage gives away information from the future</a:t>
            </a:r>
          </a:p>
          <a:p>
            <a:r>
              <a:t/>
            </a:r>
          </a:p>
          <a:p>
            <a:r>
              <a:t>CONNECT</a:t>
            </a:r>
          </a:p>
          <a:p>
            <a:r>
              <a:t>Build on the preceding slide: A training-only fill value in Python (2/2).</a:t>
            </a:r>
          </a:p>
          <a:p>
            <a:r>
              <a:t/>
            </a:r>
          </a:p>
          <a:p>
            <a:r>
              <a:t>LECTURER CUE</a:t>
            </a:r>
          </a:p>
          <a:p>
            <a:r>
              <a:t>Show a counterexample: if every input contains a field called final_inspection_result recorded after the outcome, an excellent score can be meaningless for earlier prediction.</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Cross-validation.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Cross-validation</a:t>
            </a:r>
          </a:p>
          <a:p>
            <a:r>
              <a:t/>
            </a:r>
          </a:p>
          <a:p>
            <a:r>
              <a:t>CONNECT</a:t>
            </a:r>
          </a:p>
          <a:p>
            <a:r>
              <a:t>Build on the preceding slide: Leakage gives away information from the future.</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POINT TO THE DEFINITION</a:t>
            </a:r>
          </a:p>
          <a:p>
            <a:r>
              <a:t>Cross-validation: Repeat fitting and validation on several partitions of the training/development data. Respect groups or time order. Keep the final test outside tuning.</a:t>
            </a:r>
          </a:p>
          <a:p>
            <a:r>
              <a:t/>
            </a:r>
          </a:p>
          <a:p>
            <a:r>
              <a:t>NEXT</a:t>
            </a:r>
          </a:p>
          <a:p>
            <a:r>
              <a:t>What standard deviation tells us.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standard deviation tells us</a:t>
            </a:r>
          </a:p>
          <a:p>
            <a:r>
              <a:t/>
            </a:r>
          </a:p>
          <a:p>
            <a:r>
              <a:t>CONNECT</a:t>
            </a:r>
          </a:p>
          <a:p>
            <a:r>
              <a:t>Build on the preceding slide: Cross-validation.</a:t>
            </a:r>
          </a:p>
          <a:p>
            <a:r>
              <a:t/>
            </a:r>
          </a:p>
          <a:p>
            <a:r>
              <a:t>LECTURER CUE</a:t>
            </a:r>
          </a:p>
          <a:p>
            <a:r>
              <a:t>Square each deviation, average all three, then take the square root. Here we describe the full displayed set. A sample SD would instead divide by n - 1; do not mix conventions.</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NEXT</a:t>
            </a:r>
          </a:p>
          <a:p>
            <a:r>
              <a:t>Each fold takes a turn at validation.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Each fold takes a turn at validation</a:t>
            </a:r>
          </a:p>
          <a:p>
            <a:r>
              <a:t/>
            </a:r>
          </a:p>
          <a:p>
            <a:r>
              <a:t>CONNECT</a:t>
            </a:r>
          </a:p>
          <a:p>
            <a:r>
              <a:t>Build on the preceding slide: What standard deviation tells us.</a:t>
            </a:r>
          </a:p>
          <a:p>
            <a:r>
              <a:t/>
            </a:r>
          </a:p>
          <a:p>
            <a:r>
              <a:t>LECTURER CUE</a:t>
            </a:r>
          </a:p>
          <a:p>
            <a:r>
              <a:t>The illustrated mean is about 4.30 MPa and population standard deviation about 0.39 MPa. This is fold variation, not a confidence interval. Keep equipment groups together. Keep a separate final test outside model selection.</a:t>
            </a:r>
          </a:p>
          <a:p>
            <a:r>
              <a:t>Source: existing course illustration figs/kfold.png. These are illustrative examples, not this cohort’s assessed results.</a:t>
            </a:r>
          </a:p>
          <a:p>
            <a:r>
              <a:t/>
            </a:r>
          </a:p>
          <a:p>
            <a:r>
              <a:t>NEXT</a:t>
            </a:r>
          </a:p>
          <a:p>
            <a:r>
              <a:t>Choose a split that matches future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Choose a split that matches future use</a:t>
            </a:r>
          </a:p>
          <a:p>
            <a:r>
              <a:t/>
            </a:r>
          </a:p>
          <a:p>
            <a:r>
              <a:t>CONNECT</a:t>
            </a:r>
          </a:p>
          <a:p>
            <a:r>
              <a:t>Build on the preceding slide: Each fold takes a turn at validation.</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POINT TO THE DEFINITION</a:t>
            </a:r>
          </a:p>
          <a:p>
            <a:r>
              <a:t>Equipment or time: For unseen equipment, keep each equipment ID together. For future-time prediction, train on earlier observations and evaluate on later ones.</a:t>
            </a:r>
          </a:p>
          <a:p>
            <a:r>
              <a:t>Scaler and split tool: A scaler learns how to rescale features; fit it on training data. GroupShuffleSplit is a library tool for group separation. Our assignment instead uses its fixed published equipment lists.</a:t>
            </a:r>
          </a:p>
          <a:p>
            <a:r>
              <a:t/>
            </a:r>
          </a:p>
          <a:p>
            <a:r>
              <a:t>NEXT</a:t>
            </a:r>
          </a:p>
          <a:p>
            <a:r>
              <a:t>You are the data splitter.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the data splitter</a:t>
            </a:r>
          </a:p>
          <a:p>
            <a:r>
              <a:t/>
            </a:r>
          </a:p>
          <a:p>
            <a:r>
              <a:t>CONNECT</a:t>
            </a:r>
          </a:p>
          <a:p>
            <a:r>
              <a:t>Build on the preceding slide: Choose a split that matches future use.</a:t>
            </a:r>
          </a:p>
          <a:p>
            <a:r>
              <a:t/>
            </a:r>
          </a:p>
          <a:p>
            <a:r>
              <a:t>LECTURER CUE</a:t>
            </a:r>
          </a:p>
          <a:p>
            <a:r>
              <a:t>Do this before revealing the discussion slide. One learner moves or writes the items, the other checks. Swap roles. Every student explains one step. Expected: No. Keep A1 and A2 together for this question. This tiny activity illustrates separation, not sufficient evaluation sample size.</a:t>
            </a:r>
          </a:p>
          <a:p>
            <a:r>
              <a:t>Wait for an individual prediction before inviting pair discussion. Give a first-step hint if needed.</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the data splitter.</a:t>
            </a:r>
          </a:p>
          <a:p>
            <a:r>
              <a:t/>
            </a:r>
          </a:p>
          <a:p>
            <a:r>
              <a:t>LECTURER CUE</a:t>
            </a:r>
          </a:p>
          <a:p>
            <a:r>
              <a:t>Ask which step produced this answer. Return to the concrete action if a learner cannot explain it. This is practice feedback, never a quiz key.</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What the activity shows.</a:t>
            </a:r>
          </a:p>
          <a:p>
            <a:r>
              <a:t/>
            </a:r>
          </a:p>
          <a:p>
            <a:r>
              <a:t>LECTURER CUE</a:t>
            </a:r>
          </a:p>
          <a:p>
            <a:r>
              <a:t>Give silent thinking time, then let pairs discuss. Rotate who types. This is practice, not a graded quiz. Expected response: It stays with B in validation. Mixing a source across partitions can give an overly optimistic estimate for unseen equipment.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DISCUSSION KEY FOR THIS SLIDE</a:t>
            </a:r>
          </a:p>
          <a:p>
            <a:r>
              <a:t>DISCUSS THE REASONING</a:t>
            </a:r>
          </a:p>
          <a:p>
            <a:r>
              <a:t>Practice discussion</a:t>
            </a:r>
          </a:p>
          <a:p>
            <a:r>
              <a:t>It stays with B in validation. Mixing a source across partitions can give an overly optimistic estimate for unseen equipment.</a:t>
            </a:r>
          </a:p>
          <a:p>
            <a:r>
              <a:t>Which step produced this result? What changes if one input changes?</a:t>
            </a:r>
          </a:p>
          <a:p>
            <a:r>
              <a:t>CML3111   Week 10   27</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NEXT</a:t>
            </a:r>
          </a:p>
          <a:p>
            <a:r>
              <a:t>Short explainer and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Short explainer and discussion</a:t>
            </a:r>
          </a:p>
          <a:p>
            <a:r>
              <a:t/>
            </a:r>
          </a:p>
          <a:p>
            <a:r>
              <a:t>CONNECT</a:t>
            </a:r>
          </a:p>
          <a:p>
            <a:r>
              <a:t>Build on the preceding slide: Practice discussion.</a:t>
            </a:r>
          </a:p>
          <a:p>
            <a:r>
              <a:t/>
            </a:r>
          </a:p>
          <a:p>
            <a:r>
              <a:t>LECTURER CUE</a:t>
            </a:r>
          </a:p>
          <a:p>
            <a:r>
              <a:t>Linked by the official StatQuest video index. Full audiovisual preview and excerpt timing still required.</a:t>
            </a:r>
          </a:p>
          <a:p>
            <a:r>
              <a:t>After viewing: Explain why our repeated equipment IDs require grouped partitions rather than ordinary random folds.</a:t>
            </a:r>
          </a:p>
          <a:p>
            <a:r>
              <a:t>Preview before class and stop after the selected short excerpt. If playback fails, teach the worked example. Video is optional. Source: https://www.youtube.com/watch?v=fSytzGwwBVw</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After the video.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After the video</a:t>
            </a:r>
          </a:p>
          <a:p>
            <a:r>
              <a:t/>
            </a:r>
          </a:p>
          <a:p>
            <a:r>
              <a:t>CONNECT</a:t>
            </a:r>
          </a:p>
          <a:p>
            <a:r>
              <a:t>Build on the preceding slide: Short explainer and discussion.</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After the video.</a:t>
            </a:r>
          </a:p>
          <a:p>
            <a:r>
              <a:t/>
            </a:r>
          </a:p>
          <a:p>
            <a:r>
              <a:t>LECTURER CUE</a:t>
            </a:r>
          </a:p>
          <a:p>
            <a:r>
              <a:t>W10 specifies E1–E4 train, E5 validation, E6 test and preserves input order. Use the assigned equipment_id field and record_id outputs. Reuse the W08 fitting pattern. Explain that GroupShuffleSplit and time-based splitting solve different deployment questions; use the rule in the issued task.</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Interpreting validation results.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Interpreting validation results</a:t>
            </a:r>
          </a:p>
          <a:p>
            <a:r>
              <a:t/>
            </a:r>
          </a:p>
          <a:p>
            <a:r>
              <a:t>CONNECT</a:t>
            </a:r>
          </a:p>
          <a:p>
            <a:r>
              <a:t>Build on the preceding slide: Preparing for the assignment.</a:t>
            </a:r>
          </a:p>
          <a:p>
            <a:r>
              <a:t/>
            </a:r>
          </a:p>
          <a:p>
            <a:r>
              <a:t>LECTURER CUE</a:t>
            </a:r>
          </a:p>
          <a:p>
            <a:r>
              <a:t>Teach these concepts before the weekly quiz. Use changed numbers for practice. This slide supplies concepts, not the quiz key.</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NEXT</a:t>
            </a:r>
          </a:p>
          <a:p>
            <a:r>
              <a:t>Interpreting validation results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Interpreting validation results continued</a:t>
            </a:r>
          </a:p>
          <a:p>
            <a:r>
              <a:t/>
            </a:r>
          </a:p>
          <a:p>
            <a:r>
              <a:t>CONNECT</a:t>
            </a:r>
          </a:p>
          <a:p>
            <a:r>
              <a:t>Build on the preceding slide: Interpreting validation results.</a:t>
            </a:r>
          </a:p>
          <a:p>
            <a:r>
              <a:t/>
            </a:r>
          </a:p>
          <a:p>
            <a:r>
              <a:t>LECTURER CUE</a:t>
            </a:r>
          </a:p>
          <a:p>
            <a:r>
              <a:t>Teach these concepts before the weekly quiz. Use changed numbers for practice. This slide supplies concepts, not the quiz key.</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Your issued task.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task</a:t>
            </a:r>
          </a:p>
          <a:p>
            <a:r>
              <a:t/>
            </a:r>
          </a:p>
          <a:p>
            <a:r>
              <a:t>CONNECT</a:t>
            </a:r>
          </a:p>
          <a:p>
            <a:r>
              <a:t>Build on the preceding slide: Interpreting validation results continued.</a:t>
            </a:r>
          </a:p>
          <a:p>
            <a:r>
              <a:t/>
            </a:r>
          </a:p>
          <a:p>
            <a:r>
              <a:t>LECTURER CUE</a:t>
            </a:r>
          </a:p>
          <a:p>
            <a:r>
              <a:t>Investigate motor winding temperature. Target units: deg C. These are synthetic teaching records, not measurements suitable for deployment. Each record is one operating observation; equipment_id repeats across observations.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group_split(records).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group_split(records)</a:t>
            </a:r>
          </a:p>
          <a:p>
            <a:r>
              <a:t/>
            </a:r>
          </a:p>
          <a:p>
            <a:r>
              <a:t>CONNECT</a:t>
            </a:r>
          </a:p>
          <a:p>
            <a:r>
              <a:t>Build on the preceding slide: Your issued task.</a:t>
            </a:r>
          </a:p>
          <a:p>
            <a:r>
              <a:t/>
            </a:r>
          </a:p>
          <a:p>
            <a:r>
              <a:t>LECTURER CUE</a:t>
            </a:r>
          </a:p>
          <a:p>
            <a:r>
              <a:t>Public task contract. Explain input and output types before independent work. Source: IUEA_Teaching_Plan/assessment_banks/W10/CML3111/A/TASKS.md</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predict_regression(training_records, feature_records).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predict_regression(training_records, feature_records)</a:t>
            </a:r>
          </a:p>
          <a:p>
            <a:r>
              <a:t/>
            </a:r>
          </a:p>
          <a:p>
            <a:r>
              <a:t>CONNECT</a:t>
            </a:r>
          </a:p>
          <a:p>
            <a:r>
              <a:t>Build on the preceding slide: group_split(records).</a:t>
            </a:r>
          </a:p>
          <a:p>
            <a:r>
              <a:t/>
            </a:r>
          </a:p>
          <a:p>
            <a:r>
              <a:t>LECTURER CUE</a:t>
            </a:r>
          </a:p>
          <a:p>
            <a:r>
              <a:t>Public task contract. Explain input and output types before independent work. Source: IUEA_Teaching_Plan/assessment_banks/W10/CML3111/A/TASKS.md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Written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Written evidence</a:t>
            </a:r>
          </a:p>
          <a:p>
            <a:r>
              <a:t/>
            </a:r>
          </a:p>
          <a:p>
            <a:r>
              <a:t>CONNECT</a:t>
            </a:r>
          </a:p>
          <a:p>
            <a:r>
              <a:t>Build on the preceding slide: predict_regression(training_records, feature_records).</a:t>
            </a:r>
          </a:p>
          <a:p>
            <a:r>
              <a:t/>
            </a:r>
          </a:p>
          <a:p>
            <a:r>
              <a:t>LECTURER CUE</a:t>
            </a:r>
          </a:p>
          <a:p>
            <a:r>
              <a:t>Published criterion weights and exact requirements remain in TASKS.md. Broader project exercises are formative and do not add weekly marks. Local automated reasoning assessment remains subject to its release checks.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Validation and trust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Validation and trust submission</a:t>
            </a:r>
          </a:p>
          <a:p>
            <a:r>
              <a:t/>
            </a:r>
          </a:p>
          <a:p>
            <a:r>
              <a:t>CONNECT</a:t>
            </a:r>
          </a:p>
          <a:p>
            <a:r>
              <a:t>Build on the preceding slide: Written evidence.</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10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10 quiz</a:t>
            </a:r>
          </a:p>
          <a:p>
            <a:r>
              <a:t/>
            </a:r>
          </a:p>
          <a:p>
            <a:r>
              <a:t>CONNECT</a:t>
            </a:r>
          </a:p>
          <a:p>
            <a:r>
              <a:t>Build on the preceding slide: Validation and trust submission.</a:t>
            </a:r>
          </a:p>
          <a:p>
            <a:r>
              <a:t/>
            </a:r>
          </a:p>
          <a:p>
            <a:r>
              <a:t>LECTURER CUE</a:t>
            </a:r>
          </a:p>
          <a:p>
            <a:r>
              <a:t>Activate the matching open_W10_CML3111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10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f6311352a1a441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365c8efc8f146a3" /><Relationship Type="http://schemas.openxmlformats.org/officeDocument/2006/relationships/slideLayout" Target="/ppt/slideLayouts/slideLayout1.xml" Id="R4d6bd5d75fda4e0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d6bd5d75fda4e0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bacaadc01024ba0" /><Relationship Type="http://schemas.openxmlformats.org/officeDocument/2006/relationships/image" Target="/ppt/media/image.png" Id="Re3a3b668a87e42a9" /><Relationship Type="http://schemas.openxmlformats.org/officeDocument/2006/relationships/notesSlide" Target="/ppt/notesSlides/notesSlide1.xml" Id="R07212e89b3d14f3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ae786bbd92c4a5c" /><Relationship Type="http://schemas.openxmlformats.org/officeDocument/2006/relationships/notesSlide" Target="/ppt/notesSlides/notesSlide2.xml" Id="R4e844cd999fd4d0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700c79a966f4d7c" /><Relationship Type="http://schemas.openxmlformats.org/officeDocument/2006/relationships/notesSlide" Target="/ppt/notesSlides/notesSlide3.xml" Id="Rd926b9ce08e4492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e7e074788f74759" /><Relationship Type="http://schemas.openxmlformats.org/officeDocument/2006/relationships/notesSlide" Target="/ppt/notesSlides/notesSlide4.xml" Id="R190f5ba661bf491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635802f39ba424a" /><Relationship Type="http://schemas.openxmlformats.org/officeDocument/2006/relationships/notesSlide" Target="/ppt/notesSlides/notesSlide5.xml" Id="R1d77ede102a8494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83964dec8964a18" /><Relationship Type="http://schemas.openxmlformats.org/officeDocument/2006/relationships/image" Target="/ppt/media/image2.png" Id="Rc61ddb763e714a2d" /><Relationship Type="http://schemas.openxmlformats.org/officeDocument/2006/relationships/notesSlide" Target="/ppt/notesSlides/notesSlide6.xml" Id="Rbf2f737482004a4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677061e07e34905" /><Relationship Type="http://schemas.openxmlformats.org/officeDocument/2006/relationships/notesSlide" Target="/ppt/notesSlides/notesSlide7.xml" Id="R3f0c1ccd79954b3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ee2635817034b66" /><Relationship Type="http://schemas.openxmlformats.org/officeDocument/2006/relationships/notesSlide" Target="/ppt/notesSlides/notesSlide8.xml" Id="Rd2e37308f575490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f8d55bc1f9146b4" /><Relationship Type="http://schemas.openxmlformats.org/officeDocument/2006/relationships/notesSlide" Target="/ppt/notesSlides/notesSlide9.xml" Id="R36264ffca7c54f3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c773427fe144fe5" /><Relationship Type="http://schemas.openxmlformats.org/officeDocument/2006/relationships/notesSlide" Target="/ppt/notesSlides/notesSlide10.xml" Id="Rd31ecc569880498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30308b218a54e5a" /><Relationship Type="http://schemas.openxmlformats.org/officeDocument/2006/relationships/notesSlide" Target="/ppt/notesSlides/notesSlide11.xml" Id="R38d397b1365a456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25e052533fe4a4e" /><Relationship Type="http://schemas.openxmlformats.org/officeDocument/2006/relationships/notesSlide" Target="/ppt/notesSlides/notesSlide12.xml" Id="R7d6b902ac30e411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a77402450de4066" /><Relationship Type="http://schemas.openxmlformats.org/officeDocument/2006/relationships/notesSlide" Target="/ppt/notesSlides/notesSlide13.xml" Id="Rb3806bfbf4af43f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e0a487281074367" /><Relationship Type="http://schemas.openxmlformats.org/officeDocument/2006/relationships/notesSlide" Target="/ppt/notesSlides/notesSlide14.xml" Id="Re1e42b44917b430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61f31def5134de0" /><Relationship Type="http://schemas.openxmlformats.org/officeDocument/2006/relationships/notesSlide" Target="/ppt/notesSlides/notesSlide15.xml" Id="Rceadcec390814da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7eb9b3da5c54585" /><Relationship Type="http://schemas.openxmlformats.org/officeDocument/2006/relationships/notesSlide" Target="/ppt/notesSlides/notesSlide16.xml" Id="R7e2ba458a92b485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81713317f9c41c0" /><Relationship Type="http://schemas.openxmlformats.org/officeDocument/2006/relationships/notesSlide" Target="/ppt/notesSlides/notesSlide17.xml" Id="R7630c5f3208a461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c291584ad184b79" /><Relationship Type="http://schemas.openxmlformats.org/officeDocument/2006/relationships/notesSlide" Target="/ppt/notesSlides/notesSlide18.xml" Id="Ra952b5b3a8134fa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a3bb80094ab41f1" /><Relationship Type="http://schemas.openxmlformats.org/officeDocument/2006/relationships/notesSlide" Target="/ppt/notesSlides/notesSlide19.xml" Id="R89fd5f4a13bb439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b45bf6ae7274740" /><Relationship Type="http://schemas.openxmlformats.org/officeDocument/2006/relationships/notesSlide" Target="/ppt/notesSlides/notesSlide20.xml" Id="Rf0855f68572a4f0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231cffc670343b3" /><Relationship Type="http://schemas.openxmlformats.org/officeDocument/2006/relationships/notesSlide" Target="/ppt/notesSlides/notesSlide21.xml" Id="R74b0b568f631481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d10ea912f1d4009" /><Relationship Type="http://schemas.openxmlformats.org/officeDocument/2006/relationships/image" Target="/ppt/media/image3.png" Id="R9178ea23d4954554" /><Relationship Type="http://schemas.openxmlformats.org/officeDocument/2006/relationships/notesSlide" Target="/ppt/notesSlides/notesSlide22.xml" Id="R823e01c0c7a74ec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f62d60ff5544da2" /><Relationship Type="http://schemas.openxmlformats.org/officeDocument/2006/relationships/notesSlide" Target="/ppt/notesSlides/notesSlide23.xml" Id="Re2449ba33ab24b3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5e66bdc221747ec" /><Relationship Type="http://schemas.openxmlformats.org/officeDocument/2006/relationships/notesSlide" Target="/ppt/notesSlides/notesSlide24.xml" Id="R0cf866730fbd437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664ea2f623c64a9b" /><Relationship Type="http://schemas.openxmlformats.org/officeDocument/2006/relationships/notesSlide" Target="/ppt/notesSlides/notesSlide25.xml" Id="R9f13d78d846b439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1a5fa2c28344ddf" /><Relationship Type="http://schemas.openxmlformats.org/officeDocument/2006/relationships/notesSlide" Target="/ppt/notesSlides/notesSlide26.xml" Id="Red3224a2b1e9485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64c915022434634" /><Relationship Type="http://schemas.openxmlformats.org/officeDocument/2006/relationships/notesSlide" Target="/ppt/notesSlides/notesSlide27.xml" Id="Ra859bfc178c14ef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d9de4310e537470f" /><Relationship Type="http://schemas.openxmlformats.org/officeDocument/2006/relationships/hyperlink" Target="https://www.youtube.com/watch?v=fSytzGwwBVw" TargetMode="External" Id="Rcb9f36df600045ad" /><Relationship Type="http://schemas.openxmlformats.org/officeDocument/2006/relationships/notesSlide" Target="/ppt/notesSlides/notesSlide28.xml" Id="R1608c65a2f944a8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d9511699661048dc" /><Relationship Type="http://schemas.openxmlformats.org/officeDocument/2006/relationships/notesSlide" Target="/ppt/notesSlides/notesSlide29.xml" Id="R1446da81f6254e4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6fa6160168524f20" /><Relationship Type="http://schemas.openxmlformats.org/officeDocument/2006/relationships/notesSlide" Target="/ppt/notesSlides/notesSlide30.xml" Id="Rbd2c90ba775e413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cb7a55451f654d6b" /><Relationship Type="http://schemas.openxmlformats.org/officeDocument/2006/relationships/notesSlide" Target="/ppt/notesSlides/notesSlide31.xml" Id="R3bf5ed05f932424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64e081d506834599" /><Relationship Type="http://schemas.openxmlformats.org/officeDocument/2006/relationships/notesSlide" Target="/ppt/notesSlides/notesSlide32.xml" Id="R61a0481b458d4c9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2def0d5bf5cf4a42" /><Relationship Type="http://schemas.openxmlformats.org/officeDocument/2006/relationships/notesSlide" Target="/ppt/notesSlides/notesSlide33.xml" Id="Rf429502c1734468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5cfc7237cfea4294" /><Relationship Type="http://schemas.openxmlformats.org/officeDocument/2006/relationships/notesSlide" Target="/ppt/notesSlides/notesSlide34.xml" Id="R3464d2c2e21c4f4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35e4cca0da054682" /><Relationship Type="http://schemas.openxmlformats.org/officeDocument/2006/relationships/notesSlide" Target="/ppt/notesSlides/notesSlide35.xml" Id="Re181a81c87e0442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db4f14414fc148ec" /><Relationship Type="http://schemas.openxmlformats.org/officeDocument/2006/relationships/notesSlide" Target="/ppt/notesSlides/notesSlide36.xml" Id="R74e56674a133411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9040faa43cea4aed" /><Relationship Type="http://schemas.openxmlformats.org/officeDocument/2006/relationships/hyperlink" Target="https://docs.google.com/forms/d/e/1FAIpQLSd5yLPYJ8OPmahSQIIIPfI-OfVHWbcHnwnntSRiE7wafqbRTg/viewform" TargetMode="External" Id="R149ae3945dbb408f" /><Relationship Type="http://schemas.openxmlformats.org/officeDocument/2006/relationships/notesSlide" Target="/ppt/notesSlides/notesSlide37.xml" Id="Rdcacd4708d214635"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a81d5e266c9044dd" /><Relationship Type="http://schemas.openxmlformats.org/officeDocument/2006/relationships/image" Target="/ppt/media/image4.png" Id="R2506eaa270204b87" /><Relationship Type="http://schemas.openxmlformats.org/officeDocument/2006/relationships/hyperlink" Target="https://forms.gle/KJmiCV72Y98y51a38" TargetMode="External" Id="R7af8ddd11d914f13" /><Relationship Type="http://schemas.openxmlformats.org/officeDocument/2006/relationships/notesSlide" Target="/ppt/notesSlides/notesSlide38.xml" Id="R6b9ac7cc6e434f6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ea6d79e60a6a4e3f" /><Relationship Type="http://schemas.openxmlformats.org/officeDocument/2006/relationships/notesSlide" Target="/ppt/notesSlides/notesSlide39.xml" Id="Rc590964295a24cd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e3a3b668a87e42a9"/>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C7B1B8E-D1EB-4441-9750-02E7BA01E8C8}"/>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5BDAAEC-89C9-4703-B479-F4ABD5FE3FCD}"/>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10</a:t>
            </a:r>
          </a:p>
        </p:txBody>
      </p:sp>
      <p:sp>
        <p:nvSpPr>
          <p:cNvPr id="4" name="">
            <a:extLst xmlns:a="http://schemas.openxmlformats.org/drawingml/2006/main">
              <a:ext uri="{FF2B5EF4-FFF2-40B4-BE49-F238E27FC236}">
                <a16:creationId xmlns:a16="http://schemas.microsoft.com/office/drawing/2014/main" id="{FE59AF11-99BA-4F29-B27F-1A96916E3B89}"/>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Honest validation and leakage</a:t>
            </a:r>
          </a:p>
        </p:txBody>
      </p:sp>
      <p:sp>
        <p:nvSpPr>
          <p:cNvPr id="5" name="">
            <a:extLst xmlns:a="http://schemas.openxmlformats.org/drawingml/2006/main">
              <a:ext uri="{FF2B5EF4-FFF2-40B4-BE49-F238E27FC236}">
                <a16:creationId xmlns:a16="http://schemas.microsoft.com/office/drawing/2014/main" id="{2B075DDD-2D42-4195-91D4-57EDE9D20A7A}"/>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DA80391C-B79D-446A-84B0-BA578BE34B31}"/>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13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3468789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B3A7D75-4FDC-4019-A2EF-952FB87094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5CE7EA-3B82-4550-A601-C0DF2675B0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73B0B90C-465E-402B-9A6B-4F49F9C11A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6A7F548-5236-4030-868D-50B091497EA0}"/>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D7B538-0872-4813-85B0-3B3B2EC34B2A}"/>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CEFF1299-6A92-49D1-8D91-B9D4D27C1C71}"/>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related equipment records together.</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Separate training, validation and final testing.</a:t>
            </a:r>
          </a:p>
        </p:txBody>
      </p:sp>
      <p:sp>
        <p:nvSpPr>
          <p:cNvPr id="7" name="">
            <a:extLst xmlns:a="http://schemas.openxmlformats.org/drawingml/2006/main">
              <a:ext uri="{FF2B5EF4-FFF2-40B4-BE49-F238E27FC236}">
                <a16:creationId xmlns:a16="http://schemas.microsoft.com/office/drawing/2014/main" id="{D34D80D7-488B-44FB-BCA5-CD98BAC2C323}"/>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C5AB39EF-65FB-49C0-872A-46FF760003F0}"/>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identify which records may influence preprocessing and model selection.</a:t>
            </a:r>
          </a:p>
        </p:txBody>
      </p:sp>
      <p:sp>
        <p:nvSpPr>
          <p:cNvPr id="9" name="">
            <a:extLst xmlns:a="http://schemas.openxmlformats.org/drawingml/2006/main">
              <a:ext uri="{FF2B5EF4-FFF2-40B4-BE49-F238E27FC236}">
                <a16:creationId xmlns:a16="http://schemas.microsoft.com/office/drawing/2014/main" id="{8BED3E9A-7AFB-471B-B334-D7F5B5BDDD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a:t>
            </a:r>
          </a:p>
        </p:txBody>
      </p:sp>
    </p:spTree>
    <p:extLst>
      <p:ext uri="{BB962C8B-B14F-4D97-AF65-F5344CB8AC3E}">
        <p14:creationId xmlns:p14="http://schemas.microsoft.com/office/powerpoint/2010/main" val="710462996"/>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38CDDBF-60EA-41BC-951E-1B00DCE468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EB187FDA-D365-4524-B880-F38C4237FB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0C09ABA1-F0D2-4AAB-A337-B5A95A42827F}"/>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DF30FF3E-D84C-4485-913E-44AB79A2E9CC}"/>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Which rows fit the model? Which rows help choose it? Which rows must remain untouched until the end?</a:t>
            </a:r>
          </a:p>
        </p:txBody>
      </p:sp>
      <p:sp>
        <p:nvSpPr>
          <p:cNvPr id="5" name="">
            <a:extLst xmlns:a="http://schemas.openxmlformats.org/drawingml/2006/main">
              <a:ext uri="{FF2B5EF4-FFF2-40B4-BE49-F238E27FC236}">
                <a16:creationId xmlns:a16="http://schemas.microsoft.com/office/drawing/2014/main" id="{1B196CE3-E257-466C-BBBF-E268ABD703EC}"/>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24ECBDDF-933E-464E-9A85-7FB9BA8DDD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10   3</a:t>
            </a:r>
          </a:p>
        </p:txBody>
      </p:sp>
    </p:spTree>
    <p:extLst>
      <p:ext uri="{BB962C8B-B14F-4D97-AF65-F5344CB8AC3E}">
        <p14:creationId xmlns:p14="http://schemas.microsoft.com/office/powerpoint/2010/main" val="34693128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BE7A9D-2402-43DF-8235-257EE4F198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447D60-968B-4086-9EF7-EB1D11343A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3772034D-E5C7-473C-9C3D-C2486E9CCF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09439577-A08B-4A64-93CA-E270A87129A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62B53C2-8DA5-49B5-93D1-521BA583B6C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team records device temperature to investigate cooling.</a:t>
            </a:r>
          </a:p>
        </p:txBody>
      </p:sp>
      <p:sp>
        <p:nvSpPr>
          <p:cNvPr id="6" name="">
            <a:extLst xmlns:a="http://schemas.openxmlformats.org/drawingml/2006/main">
              <a:ext uri="{FF2B5EF4-FFF2-40B4-BE49-F238E27FC236}">
                <a16:creationId xmlns:a16="http://schemas.microsoft.com/office/drawing/2014/main" id="{A7D37A3D-8682-438D-9303-6670D09D2F2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CE0C55-6C24-4C10-A85C-E728EBED70A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communications cabinet, an electrical enclosure or a robot controller as the physical example.</a:t>
            </a:r>
          </a:p>
        </p:txBody>
      </p:sp>
      <p:sp>
        <p:nvSpPr>
          <p:cNvPr id="8" name="">
            <a:extLst xmlns:a="http://schemas.openxmlformats.org/drawingml/2006/main">
              <a:ext uri="{FF2B5EF4-FFF2-40B4-BE49-F238E27FC236}">
                <a16:creationId xmlns:a16="http://schemas.microsoft.com/office/drawing/2014/main" id="{897513B5-85A2-45AA-B722-E97D328FDF5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5FF0D84-0276-48E7-9002-3F8F0AD0B85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specialist hardware knowledge is assumed.</a:t>
            </a:r>
          </a:p>
        </p:txBody>
      </p:sp>
      <p:sp>
        <p:nvSpPr>
          <p:cNvPr id="10" name="">
            <a:extLst xmlns:a="http://schemas.openxmlformats.org/drawingml/2006/main">
              <a:ext uri="{FF2B5EF4-FFF2-40B4-BE49-F238E27FC236}">
                <a16:creationId xmlns:a16="http://schemas.microsoft.com/office/drawing/2014/main" id="{402C87E9-770E-42B8-AC4A-F5FD5F503D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4</a:t>
            </a:r>
          </a:p>
        </p:txBody>
      </p:sp>
    </p:spTree>
    <p:extLst>
      <p:ext uri="{BB962C8B-B14F-4D97-AF65-F5344CB8AC3E}">
        <p14:creationId xmlns:p14="http://schemas.microsoft.com/office/powerpoint/2010/main" val="125600893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1D8A8AB-38DD-4967-BCF7-9E8CCA3FE1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7C3FBE-2A9B-4ECC-BC82-895BBFA66F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B1FD997-390F-4F2F-9FD9-531F318B17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validation and final test</a:t>
            </a:r>
          </a:p>
        </p:txBody>
      </p:sp>
      <p:sp>
        <p:nvSpPr>
          <p:cNvPr id="4" name="">
            <a:extLst xmlns:a="http://schemas.openxmlformats.org/drawingml/2006/main">
              <a:ext uri="{FF2B5EF4-FFF2-40B4-BE49-F238E27FC236}">
                <a16:creationId xmlns:a16="http://schemas.microsoft.com/office/drawing/2014/main" id="{C53F242E-7C01-48B1-A699-1CCA3292630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3F0FB3-E945-4621-9376-825EA97C031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data fit the model and preprocessing.</a:t>
            </a:r>
          </a:p>
        </p:txBody>
      </p:sp>
      <p:sp>
        <p:nvSpPr>
          <p:cNvPr id="6" name="">
            <a:extLst xmlns:a="http://schemas.openxmlformats.org/drawingml/2006/main">
              <a:ext uri="{FF2B5EF4-FFF2-40B4-BE49-F238E27FC236}">
                <a16:creationId xmlns:a16="http://schemas.microsoft.com/office/drawing/2014/main" id="{87D002DD-E32C-46D6-B9FD-2D0D3348145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69809B8-EA5D-421B-BF4C-1FCF7B0553C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data guide feature and model choices.</a:t>
            </a:r>
          </a:p>
        </p:txBody>
      </p:sp>
      <p:sp>
        <p:nvSpPr>
          <p:cNvPr id="8" name="">
            <a:extLst xmlns:a="http://schemas.openxmlformats.org/drawingml/2006/main">
              <a:ext uri="{FF2B5EF4-FFF2-40B4-BE49-F238E27FC236}">
                <a16:creationId xmlns:a16="http://schemas.microsoft.com/office/drawing/2014/main" id="{5DF881B6-306A-425D-B45C-F20A124C718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5D35CB7-3E44-4F02-8D7D-5D09199AD81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test evaluates choices after they are fixed.</a:t>
            </a:r>
          </a:p>
        </p:txBody>
      </p:sp>
      <p:sp>
        <p:nvSpPr>
          <p:cNvPr id="10" name="">
            <a:extLst xmlns:a="http://schemas.openxmlformats.org/drawingml/2006/main">
              <a:ext uri="{FF2B5EF4-FFF2-40B4-BE49-F238E27FC236}">
                <a16:creationId xmlns:a16="http://schemas.microsoft.com/office/drawing/2014/main" id="{5B98CA86-4C56-40AF-82B3-5230181F9C5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3D138BD-78DA-41C2-B37D-FC6087CCE10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test is needed if its answers influenced further choices.</a:t>
            </a:r>
          </a:p>
        </p:txBody>
      </p:sp>
      <p:sp>
        <p:nvSpPr>
          <p:cNvPr id="12" name="">
            <a:extLst xmlns:a="http://schemas.openxmlformats.org/drawingml/2006/main">
              <a:ext uri="{FF2B5EF4-FFF2-40B4-BE49-F238E27FC236}">
                <a16:creationId xmlns:a16="http://schemas.microsoft.com/office/drawing/2014/main" id="{65E12310-8BFD-4848-9C54-C10B8D0EDD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5</a:t>
            </a:r>
          </a:p>
        </p:txBody>
      </p:sp>
    </p:spTree>
    <p:extLst>
      <p:ext uri="{BB962C8B-B14F-4D97-AF65-F5344CB8AC3E}">
        <p14:creationId xmlns:p14="http://schemas.microsoft.com/office/powerpoint/2010/main" val="15678583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623A84-F551-4B9B-A1BD-8426D41CF836}"/>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9CE9C6-75F3-49AB-8A33-1C4087CAE30B}"/>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Three sets have different jobs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c61ddb763e714a2d"/>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B5ACDE1-D6BB-4409-AA6A-3E8478048CF6}"/>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4B1722-A422-4772-8DD4-37B43B6ED58D}"/>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set must stay sealed until choices are fixed?</a:t>
            </a:r>
          </a:p>
        </p:txBody>
      </p:sp>
      <p:sp>
        <p:nvSpPr>
          <p:cNvPr id="6" name="">
            <a:extLst xmlns:a="http://schemas.openxmlformats.org/drawingml/2006/main">
              <a:ext uri="{FF2B5EF4-FFF2-40B4-BE49-F238E27FC236}">
                <a16:creationId xmlns:a16="http://schemas.microsoft.com/office/drawing/2014/main" id="{3038D74B-713E-46F3-81CF-6B481E52A7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6</a:t>
            </a:r>
          </a:p>
        </p:txBody>
      </p:sp>
    </p:spTree>
    <p:extLst>
      <p:ext uri="{BB962C8B-B14F-4D97-AF65-F5344CB8AC3E}">
        <p14:creationId xmlns:p14="http://schemas.microsoft.com/office/powerpoint/2010/main" val="164568915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8B64165-BA6A-4580-8D55-5E14437657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D2647F-C81B-451F-B512-DEB2686346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3314782-6581-4DE6-9392-8209F0FE7E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DAC6F570-C48A-4DC6-9B03-DFCD9A51BB0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AB31FD-9423-429D-9BD3-A63BF142572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Generalisation</a:t>
            </a:r>
          </a:p>
        </p:txBody>
      </p:sp>
      <p:sp>
        <p:nvSpPr>
          <p:cNvPr id="6" name="">
            <a:extLst xmlns:a="http://schemas.openxmlformats.org/drawingml/2006/main">
              <a:ext uri="{FF2B5EF4-FFF2-40B4-BE49-F238E27FC236}">
                <a16:creationId xmlns:a16="http://schemas.microsoft.com/office/drawing/2014/main" id="{90A2232D-9DC8-4ABC-8A95-F020DEF4466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Performance on new cases from the intended setting, not merely on records already used.</a:t>
            </a:r>
          </a:p>
        </p:txBody>
      </p:sp>
      <p:sp>
        <p:nvSpPr>
          <p:cNvPr id="7" name="">
            <a:extLst xmlns:a="http://schemas.openxmlformats.org/drawingml/2006/main">
              <a:ext uri="{FF2B5EF4-FFF2-40B4-BE49-F238E27FC236}">
                <a16:creationId xmlns:a16="http://schemas.microsoft.com/office/drawing/2014/main" id="{7E676A5A-F36F-4504-8D74-F6208B7A658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E56DF37-E7E5-4A9A-B58B-ABCF14E0A8D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Overfitting and underfitting</a:t>
            </a:r>
          </a:p>
        </p:txBody>
      </p:sp>
      <p:sp>
        <p:nvSpPr>
          <p:cNvPr id="9" name="">
            <a:extLst xmlns:a="http://schemas.openxmlformats.org/drawingml/2006/main">
              <a:ext uri="{FF2B5EF4-FFF2-40B4-BE49-F238E27FC236}">
                <a16:creationId xmlns:a16="http://schemas.microsoft.com/office/drawing/2014/main" id="{9E72A38F-D892-4C6E-BE7A-3D1E180C1D1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Overfitting captures training-specific detail that fails to transfer. Underfitting misses useful patterns. Score gaps are clues, not a complete diagnosis.</a:t>
            </a:r>
          </a:p>
        </p:txBody>
      </p:sp>
      <p:sp>
        <p:nvSpPr>
          <p:cNvPr id="10" name="">
            <a:extLst xmlns:a="http://schemas.openxmlformats.org/drawingml/2006/main">
              <a:ext uri="{FF2B5EF4-FFF2-40B4-BE49-F238E27FC236}">
                <a16:creationId xmlns:a16="http://schemas.microsoft.com/office/drawing/2014/main" id="{2245999A-3647-48AE-9CD6-CE5B935785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7</a:t>
            </a:r>
          </a:p>
        </p:txBody>
      </p:sp>
    </p:spTree>
    <p:extLst>
      <p:ext uri="{BB962C8B-B14F-4D97-AF65-F5344CB8AC3E}">
        <p14:creationId xmlns:p14="http://schemas.microsoft.com/office/powerpoint/2010/main" val="167036212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C017790-4CE1-4547-ADFC-0DFC00EFF5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120522-7EA6-437E-B100-99708732F3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A206B54-8EDA-4CED-B070-66D8886B43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8DD2B882-292E-4918-A5E6-F496960B38D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C77607-44CB-4CC3-ACDA-EE0C64B8D98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Leakage</a:t>
            </a:r>
          </a:p>
        </p:txBody>
      </p:sp>
      <p:sp>
        <p:nvSpPr>
          <p:cNvPr id="6" name="">
            <a:extLst xmlns:a="http://schemas.openxmlformats.org/drawingml/2006/main">
              <a:ext uri="{FF2B5EF4-FFF2-40B4-BE49-F238E27FC236}">
                <a16:creationId xmlns:a16="http://schemas.microsoft.com/office/drawing/2014/main" id="{1CE1F1A7-5E28-44CF-B134-5E06ECA541F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Information enters model development that would not legitimately be available, such as the answer or information from evaluation rows.</a:t>
            </a:r>
          </a:p>
        </p:txBody>
      </p:sp>
      <p:sp>
        <p:nvSpPr>
          <p:cNvPr id="7" name="">
            <a:extLst xmlns:a="http://schemas.openxmlformats.org/drawingml/2006/main">
              <a:ext uri="{FF2B5EF4-FFF2-40B4-BE49-F238E27FC236}">
                <a16:creationId xmlns:a16="http://schemas.microsoft.com/office/drawing/2014/main" id="{AA48DE07-7027-477B-88AB-DFDD00C154B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07E47E2-03FF-48C1-9C0E-14F1C9ADC39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Group split</a:t>
            </a:r>
          </a:p>
        </p:txBody>
      </p:sp>
      <p:sp>
        <p:nvSpPr>
          <p:cNvPr id="9" name="">
            <a:extLst xmlns:a="http://schemas.openxmlformats.org/drawingml/2006/main">
              <a:ext uri="{FF2B5EF4-FFF2-40B4-BE49-F238E27FC236}">
                <a16:creationId xmlns:a16="http://schemas.microsoft.com/office/drawing/2014/main" id="{056B4371-7F1F-4921-82CC-C5D283C5196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Keep all observations from the same equipment in one partition when the goal is prediction for unseen equipment.</a:t>
            </a:r>
          </a:p>
        </p:txBody>
      </p:sp>
      <p:sp>
        <p:nvSpPr>
          <p:cNvPr id="10" name="">
            <a:extLst xmlns:a="http://schemas.openxmlformats.org/drawingml/2006/main">
              <a:ext uri="{FF2B5EF4-FFF2-40B4-BE49-F238E27FC236}">
                <a16:creationId xmlns:a16="http://schemas.microsoft.com/office/drawing/2014/main" id="{053872BB-F5C9-44D8-A690-4AC6BC1D55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8</a:t>
            </a:r>
          </a:p>
        </p:txBody>
      </p:sp>
    </p:spTree>
    <p:extLst>
      <p:ext uri="{BB962C8B-B14F-4D97-AF65-F5344CB8AC3E}">
        <p14:creationId xmlns:p14="http://schemas.microsoft.com/office/powerpoint/2010/main" val="886118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E4D79F3-FBF6-4E40-84A7-F79BFA59F2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25D10A3-3D74-4296-AA30-9B53E8C748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2FFFA6F-B989-483A-84AD-46121F8BCD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Repeated equipment needs group separation</a:t>
            </a:r>
          </a:p>
        </p:txBody>
      </p:sp>
      <p:sp>
        <p:nvSpPr>
          <p:cNvPr id="4" name="">
            <a:extLst xmlns:a="http://schemas.openxmlformats.org/drawingml/2006/main">
              <a:ext uri="{FF2B5EF4-FFF2-40B4-BE49-F238E27FC236}">
                <a16:creationId xmlns:a16="http://schemas.microsoft.com/office/drawing/2014/main" id="{E383D3B8-F57C-408A-B85F-916F387EC93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9F09087-7B30-4856-9FC1-4693B9E9442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from the same equipment can share patterns.</a:t>
            </a:r>
          </a:p>
        </p:txBody>
      </p:sp>
      <p:sp>
        <p:nvSpPr>
          <p:cNvPr id="6" name="">
            <a:extLst xmlns:a="http://schemas.openxmlformats.org/drawingml/2006/main">
              <a:ext uri="{FF2B5EF4-FFF2-40B4-BE49-F238E27FC236}">
                <a16:creationId xmlns:a16="http://schemas.microsoft.com/office/drawing/2014/main" id="{BAA88E24-21AF-4F87-8787-FF8DF65B222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DDDFA55-13A0-48D1-9A53-587372965D1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Putting that equipment in both training and validation can make evaluation too easy.</a:t>
            </a:r>
          </a:p>
        </p:txBody>
      </p:sp>
      <p:sp>
        <p:nvSpPr>
          <p:cNvPr id="8" name="">
            <a:extLst xmlns:a="http://schemas.openxmlformats.org/drawingml/2006/main">
              <a:ext uri="{FF2B5EF4-FFF2-40B4-BE49-F238E27FC236}">
                <a16:creationId xmlns:a16="http://schemas.microsoft.com/office/drawing/2014/main" id="{57385B8C-32A3-4B41-A080-B0A4E25A427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6AF27BA-6948-4794-92E3-2B0339B37F1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new-equipment question, keep every row for an equipment ID in one partition.</a:t>
            </a:r>
          </a:p>
        </p:txBody>
      </p:sp>
      <p:sp>
        <p:nvSpPr>
          <p:cNvPr id="10" name="">
            <a:extLst xmlns:a="http://schemas.openxmlformats.org/drawingml/2006/main">
              <a:ext uri="{FF2B5EF4-FFF2-40B4-BE49-F238E27FC236}">
                <a16:creationId xmlns:a16="http://schemas.microsoft.com/office/drawing/2014/main" id="{FDBAD198-EDBA-4D6F-86B2-992FC26C8E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9</a:t>
            </a:r>
          </a:p>
        </p:txBody>
      </p:sp>
    </p:spTree>
    <p:extLst>
      <p:ext uri="{BB962C8B-B14F-4D97-AF65-F5344CB8AC3E}">
        <p14:creationId xmlns:p14="http://schemas.microsoft.com/office/powerpoint/2010/main" val="140800393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F9614B6-4CF0-4D41-A70F-7C4AADFF95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CF5BCA-70F4-485B-B51A-C6999AED2A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36CC94C4-20A9-4364-98EC-BC1E732F7E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equipment groups together</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Observation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Equipment</a:t>
                      </a:r>
                    </a:p>
                  </a:txBody>
                  <a:tcPr marL="91440" marR="91440" marT="45720" marB="45720">
                    <a:solidFill>
                      <a:srgbClr val="2E7D6F"/>
                    </a:solidFill>
                  </a:tcPr>
                </a:tc>
                <a:tc>
                  <a:txBody>
                    <a:bodyPr/>
                    <a:lstStyle/>
                    <a:p>
                      <a:r>
                        <a:rPr sz="2025" b="1">
                          <a:solidFill>
                            <a:srgbClr val="FFFFFF"/>
                          </a:solidFill>
                          <a:latin typeface="Calibri"/>
                          <a:ea typeface="Calibri"/>
                          <a:cs typeface="Calibri"/>
                        </a:rPr>
                        <a:t>Partition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Training</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A</a:t>
                      </a:r>
                    </a:p>
                  </a:txBody>
                  <a:tcPr marL="91440" marR="91440" marT="45720" marB="45720">
                    <a:solidFill>
                      <a:srgbClr val="FFFFFF"/>
                    </a:solidFill>
                  </a:tcPr>
                </a:tc>
                <a:tc>
                  <a:txBody>
                    <a:bodyPr/>
                    <a:lstStyle/>
                    <a:p>
                      <a:r>
                        <a:rPr sz="2025" b="0">
                          <a:solidFill>
                            <a:srgbClr val="1C3144"/>
                          </a:solidFill>
                          <a:latin typeface="Calibri"/>
                          <a:ea typeface="Calibri"/>
                          <a:cs typeface="Calibri"/>
                        </a:rPr>
                        <a:t>Training</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Validation</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8C1A7F0A-2C08-47DC-AF04-DF1F7FA0F99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This toy split explains group separation.</a:t>
            </a:r>
          </a:p>
        </p:txBody>
      </p:sp>
      <p:sp>
        <p:nvSpPr>
          <p:cNvPr id="6" name="">
            <a:extLst xmlns:a="http://schemas.openxmlformats.org/drawingml/2006/main">
              <a:ext uri="{FF2B5EF4-FFF2-40B4-BE49-F238E27FC236}">
                <a16:creationId xmlns:a16="http://schemas.microsoft.com/office/drawing/2014/main" id="{56D7146F-A2A9-482C-A5E1-64D8027EA3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10</a:t>
            </a:r>
          </a:p>
        </p:txBody>
      </p:sp>
    </p:spTree>
    <p:extLst>
      <p:ext uri="{BB962C8B-B14F-4D97-AF65-F5344CB8AC3E}">
        <p14:creationId xmlns:p14="http://schemas.microsoft.com/office/powerpoint/2010/main" val="73004107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9159530-B43E-4299-B895-D5664EA05C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B9D309-8F58-4897-964F-51136F05A0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C21DF6B-33D2-454C-8BBC-2EF96E91E6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(1/2)</a:t>
            </a:r>
          </a:p>
        </p:txBody>
      </p:sp>
      <p:sp>
        <p:nvSpPr>
          <p:cNvPr id="4" name="">
            <a:extLst xmlns:a="http://schemas.openxmlformats.org/drawingml/2006/main">
              <a:ext uri="{FF2B5EF4-FFF2-40B4-BE49-F238E27FC236}">
                <a16:creationId xmlns:a16="http://schemas.microsoft.com/office/drawing/2014/main" id="{F8262ACD-F483-4D51-BDD7-8EE09F66094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8F1F15-715D-4AE0-9D41-1F8D7A53127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records = [{"id": 1, "equipment": "A"},</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           {"id": 2, "equipment": "A"},</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           {"id": 3, "equipment": "B"}]</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train = []</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validation = []</a:t>
            </a:r>
          </a:p>
        </p:txBody>
      </p:sp>
      <p:sp>
        <p:nvSpPr>
          <p:cNvPr id="6" name="">
            <a:extLst xmlns:a="http://schemas.openxmlformats.org/drawingml/2006/main">
              <a:ext uri="{FF2B5EF4-FFF2-40B4-BE49-F238E27FC236}">
                <a16:creationId xmlns:a16="http://schemas.microsoft.com/office/drawing/2014/main" id="{7C486BE9-C9D3-45F0-8944-5BC5A51743D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3B75A85-57DB-49DE-B3D9-82E9B1C03D5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8" name="">
            <a:extLst xmlns:a="http://schemas.openxmlformats.org/drawingml/2006/main">
              <a:ext uri="{FF2B5EF4-FFF2-40B4-BE49-F238E27FC236}">
                <a16:creationId xmlns:a16="http://schemas.microsoft.com/office/drawing/2014/main" id="{892B7DC7-686F-4BDB-B962-2C5CDA30E25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Braces hold dictionary key: value pairs here.</a:t>
            </a:r>
          </a:p>
        </p:txBody>
      </p:sp>
      <p:sp>
        <p:nvSpPr>
          <p:cNvPr id="9" name="">
            <a:extLst xmlns:a="http://schemas.openxmlformats.org/drawingml/2006/main">
              <a:ext uri="{FF2B5EF4-FFF2-40B4-BE49-F238E27FC236}">
                <a16:creationId xmlns:a16="http://schemas.microsoft.com/office/drawing/2014/main" id="{58421AA3-F18D-44BE-B6F8-926ED92C822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0D4AE8F6-1B0C-497F-B86E-1962145C6CA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0A89BBED-C754-43BA-93A4-6F3A1EA208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11</a:t>
            </a:r>
          </a:p>
        </p:txBody>
      </p:sp>
    </p:spTree>
    <p:extLst>
      <p:ext uri="{BB962C8B-B14F-4D97-AF65-F5344CB8AC3E}">
        <p14:creationId xmlns:p14="http://schemas.microsoft.com/office/powerpoint/2010/main" val="110325899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73D2CEF-2E09-4417-963C-EA39DAAB97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9A281AB-554C-4A01-9554-6AEF264223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DC4C0DE-C06B-4704-B01A-16C4697906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(2/2)</a:t>
            </a:r>
          </a:p>
        </p:txBody>
      </p:sp>
      <p:sp>
        <p:nvSpPr>
          <p:cNvPr id="4" name="">
            <a:extLst xmlns:a="http://schemas.openxmlformats.org/drawingml/2006/main">
              <a:ext uri="{FF2B5EF4-FFF2-40B4-BE49-F238E27FC236}">
                <a16:creationId xmlns:a16="http://schemas.microsoft.com/office/drawing/2014/main" id="{0207B099-E1BA-40B4-8809-C1FEE92787D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10E057-670E-4B21-A05B-94C1C38ED4C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row["equipment"] == "A":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train.append(row["id"])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validation.append(row["id"])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print(train, validation)</a:t>
            </a:r>
          </a:p>
        </p:txBody>
      </p:sp>
      <p:sp>
        <p:nvSpPr>
          <p:cNvPr id="6" name="">
            <a:extLst xmlns:a="http://schemas.openxmlformats.org/drawingml/2006/main">
              <a:ext uri="{FF2B5EF4-FFF2-40B4-BE49-F238E27FC236}">
                <a16:creationId xmlns:a16="http://schemas.microsoft.com/office/drawing/2014/main" id="{6BC23DF6-087A-433F-BD3C-7051F3C3F86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186C16F-6AE7-4C12-8F4F-27D67CFA62B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76E69D53-E100-48C3-BD95-A5536968CF1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1BE0BCA1-0563-4658-84A5-F1FE02894E14}"/>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128C36E6-B4D6-442A-B71A-9BAC9215DAF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BF4C4B88-25F8-4F39-8303-8EBBA7CA36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12</a:t>
            </a:r>
          </a:p>
        </p:txBody>
      </p:sp>
    </p:spTree>
    <p:extLst>
      <p:ext uri="{BB962C8B-B14F-4D97-AF65-F5344CB8AC3E}">
        <p14:creationId xmlns:p14="http://schemas.microsoft.com/office/powerpoint/2010/main" val="134243032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3238BC9-9463-4EDB-8206-C81349F021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EFB8B0-F40A-43F8-B5D8-0C1D3D8066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F6CCDF9A-8CF5-4BD9-B546-0DD0287AC7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D028F1FA-AD2F-434F-A23E-023A1DD34132}"/>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9D1A9AE-24B1-4481-91FB-A740E019EBA1}"/>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 2] [3]</a:t>
            </a:r>
          </a:p>
        </p:txBody>
      </p:sp>
      <p:sp>
        <p:nvSpPr>
          <p:cNvPr id="6" name="">
            <a:extLst xmlns:a="http://schemas.openxmlformats.org/drawingml/2006/main">
              <a:ext uri="{FF2B5EF4-FFF2-40B4-BE49-F238E27FC236}">
                <a16:creationId xmlns:a16="http://schemas.microsoft.com/office/drawing/2014/main" id="{CCA1340E-87CF-4423-853A-F373972129B8}"/>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7584CAE3-1B34-4D2C-ABF5-212F6108C6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13</a:t>
            </a:r>
          </a:p>
        </p:txBody>
      </p:sp>
    </p:spTree>
    <p:extLst>
      <p:ext uri="{BB962C8B-B14F-4D97-AF65-F5344CB8AC3E}">
        <p14:creationId xmlns:p14="http://schemas.microsoft.com/office/powerpoint/2010/main" val="113319440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4AE0132-0EE8-4067-A06C-960037BA6C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3CF4B8-8179-4862-B631-250B9143DC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725B2BE-5594-485A-95D6-6BF4AE4767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Preprocessing and pipeline</a:t>
            </a:r>
          </a:p>
        </p:txBody>
      </p:sp>
      <p:sp>
        <p:nvSpPr>
          <p:cNvPr id="4" name="">
            <a:extLst xmlns:a="http://schemas.openxmlformats.org/drawingml/2006/main">
              <a:ext uri="{FF2B5EF4-FFF2-40B4-BE49-F238E27FC236}">
                <a16:creationId xmlns:a16="http://schemas.microsoft.com/office/drawing/2014/main" id="{7457F7EE-446B-45EA-8FC0-AE538275B43E}"/>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E3C3BC-6A45-44A6-AC71-9CB8D98C0532}"/>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Preprocessing and pipeline</a:t>
            </a:r>
          </a:p>
        </p:txBody>
      </p:sp>
      <p:sp>
        <p:nvSpPr>
          <p:cNvPr id="6" name="">
            <a:extLst xmlns:a="http://schemas.openxmlformats.org/drawingml/2006/main">
              <a:ext uri="{FF2B5EF4-FFF2-40B4-BE49-F238E27FC236}">
                <a16:creationId xmlns:a16="http://schemas.microsoft.com/office/drawing/2014/main" id="{FC114778-C9A0-460E-A121-4F1218A40D7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Preprocessing changes inputs, for example filling missing values. A pipeline fits these steps on training data and applies the same fitted changes to new inputs.</a:t>
            </a:r>
          </a:p>
        </p:txBody>
      </p:sp>
      <p:sp>
        <p:nvSpPr>
          <p:cNvPr id="7" name="">
            <a:extLst xmlns:a="http://schemas.openxmlformats.org/drawingml/2006/main">
              <a:ext uri="{FF2B5EF4-FFF2-40B4-BE49-F238E27FC236}">
                <a16:creationId xmlns:a16="http://schemas.microsoft.com/office/drawing/2014/main" id="{E98099BF-D227-4221-B077-65598723FE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14</a:t>
            </a:r>
          </a:p>
        </p:txBody>
      </p:sp>
    </p:spTree>
    <p:extLst>
      <p:ext uri="{BB962C8B-B14F-4D97-AF65-F5344CB8AC3E}">
        <p14:creationId xmlns:p14="http://schemas.microsoft.com/office/powerpoint/2010/main" val="4884227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D50EE2D-5809-41C7-AAD6-C17B8F573D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5AD1C6-9A01-461E-8097-68BC9FD3C6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94929B9-9EDA-4509-A64A-FC17CEDA90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learned cleaning value comes from training</a:t>
            </a:r>
          </a:p>
        </p:txBody>
      </p:sp>
      <p:sp>
        <p:nvSpPr>
          <p:cNvPr id="4" name="">
            <a:extLst xmlns:a="http://schemas.openxmlformats.org/drawingml/2006/main">
              <a:ext uri="{FF2B5EF4-FFF2-40B4-BE49-F238E27FC236}">
                <a16:creationId xmlns:a16="http://schemas.microsoft.com/office/drawing/2014/main" id="{BCA7F65F-5844-4698-B16E-2DD452A0EEC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17DCF73-5559-48BC-BC54-43E92098D27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training readings are 20, 22 and 24. Their median is 22.</a:t>
            </a:r>
          </a:p>
        </p:txBody>
      </p:sp>
      <p:sp>
        <p:nvSpPr>
          <p:cNvPr id="6" name="">
            <a:extLst xmlns:a="http://schemas.openxmlformats.org/drawingml/2006/main">
              <a:ext uri="{FF2B5EF4-FFF2-40B4-BE49-F238E27FC236}">
                <a16:creationId xmlns:a16="http://schemas.microsoft.com/office/drawing/2014/main" id="{A7338B00-C6BA-46D6-9B49-4F2EF8839AC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97ACC9-A532-431D-95CE-3F0232F19A9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missing validation value receives the already learned 22.</a:t>
            </a:r>
          </a:p>
        </p:txBody>
      </p:sp>
      <p:sp>
        <p:nvSpPr>
          <p:cNvPr id="8" name="">
            <a:extLst xmlns:a="http://schemas.openxmlformats.org/drawingml/2006/main">
              <a:ext uri="{FF2B5EF4-FFF2-40B4-BE49-F238E27FC236}">
                <a16:creationId xmlns:a16="http://schemas.microsoft.com/office/drawing/2014/main" id="{4ACD02AC-32D8-4ED7-944C-33AF21A6332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7AC4BD5-0F38-4EFE-BCD8-07C76EC95CA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new validation reading of 40 must not change the fitted median.</a:t>
            </a:r>
          </a:p>
        </p:txBody>
      </p:sp>
      <p:sp>
        <p:nvSpPr>
          <p:cNvPr id="10" name="">
            <a:extLst xmlns:a="http://schemas.openxmlformats.org/drawingml/2006/main">
              <a:ext uri="{FF2B5EF4-FFF2-40B4-BE49-F238E27FC236}">
                <a16:creationId xmlns:a16="http://schemas.microsoft.com/office/drawing/2014/main" id="{9F2D0A3D-B852-421B-89D6-5D9310578E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15</a:t>
            </a:r>
          </a:p>
        </p:txBody>
      </p:sp>
    </p:spTree>
    <p:extLst>
      <p:ext uri="{BB962C8B-B14F-4D97-AF65-F5344CB8AC3E}">
        <p14:creationId xmlns:p14="http://schemas.microsoft.com/office/powerpoint/2010/main" val="203660017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7F6382-3DFC-4312-AB27-714C216373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6D5CF1-12E0-48A3-851C-82C22FBD5A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16ECE17-4B54-40A4-85B4-3C44D81AB3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a:t>
            </a:r>
          </a:p>
        </p:txBody>
      </p:sp>
      <p:sp>
        <p:nvSpPr>
          <p:cNvPr id="4" name="">
            <a:extLst xmlns:a="http://schemas.openxmlformats.org/drawingml/2006/main">
              <a:ext uri="{FF2B5EF4-FFF2-40B4-BE49-F238E27FC236}">
                <a16:creationId xmlns:a16="http://schemas.microsoft.com/office/drawing/2014/main" id="{45F86D73-83CA-4936-AF79-9D1A188CADA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8712529-B663-4AD3-A337-EAD5FEF0A04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median is learned from training observations.</a:t>
            </a:r>
          </a:p>
        </p:txBody>
      </p:sp>
      <p:sp>
        <p:nvSpPr>
          <p:cNvPr id="6" name="">
            <a:extLst xmlns:a="http://schemas.openxmlformats.org/drawingml/2006/main">
              <a:ext uri="{FF2B5EF4-FFF2-40B4-BE49-F238E27FC236}">
                <a16:creationId xmlns:a16="http://schemas.microsoft.com/office/drawing/2014/main" id="{FA7ECDC8-2278-499A-8906-85F34B57652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EDD28F2-FF84-4D18-AD2A-E42058E9719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Adding a new validation observation must not change it.</a:t>
            </a:r>
          </a:p>
        </p:txBody>
      </p:sp>
      <p:sp>
        <p:nvSpPr>
          <p:cNvPr id="8" name="">
            <a:extLst xmlns:a="http://schemas.openxmlformats.org/drawingml/2006/main">
              <a:ext uri="{FF2B5EF4-FFF2-40B4-BE49-F238E27FC236}">
                <a16:creationId xmlns:a16="http://schemas.microsoft.com/office/drawing/2014/main" id="{6D5DEF1A-4655-49D2-80AF-B87C8D48F0B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DCCDBAE-CD39-49EC-B1F9-01A0DF502D8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real modelling pipeline follows this same rule for each learned step.</a:t>
            </a:r>
          </a:p>
        </p:txBody>
      </p:sp>
      <p:sp>
        <p:nvSpPr>
          <p:cNvPr id="10" name="">
            <a:extLst xmlns:a="http://schemas.openxmlformats.org/drawingml/2006/main">
              <a:ext uri="{FF2B5EF4-FFF2-40B4-BE49-F238E27FC236}">
                <a16:creationId xmlns:a16="http://schemas.microsoft.com/office/drawing/2014/main" id="{5D4D4152-1577-44F2-96A1-EDAC14B5D5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16</a:t>
            </a:r>
          </a:p>
        </p:txBody>
      </p:sp>
    </p:spTree>
    <p:extLst>
      <p:ext uri="{BB962C8B-B14F-4D97-AF65-F5344CB8AC3E}">
        <p14:creationId xmlns:p14="http://schemas.microsoft.com/office/powerpoint/2010/main" val="48506004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59BFF16-A506-46DF-819B-ED550405CD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DCDA48-2F11-4C2B-9B47-111B0C3B64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EF94F39-B136-4D1F-A0A3-666B6D52F9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 in Python (1/2)</a:t>
            </a:r>
          </a:p>
        </p:txBody>
      </p:sp>
      <p:sp>
        <p:nvSpPr>
          <p:cNvPr id="4" name="">
            <a:extLst xmlns:a="http://schemas.openxmlformats.org/drawingml/2006/main">
              <a:ext uri="{FF2B5EF4-FFF2-40B4-BE49-F238E27FC236}">
                <a16:creationId xmlns:a16="http://schemas.microsoft.com/office/drawing/2014/main" id="{01BD0024-A58E-4A03-BB6F-20D039E6ADA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C03BDCC-194D-4FE6-A280-BD661063BD0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from</a:t>
            </a:r>
            <a:r>
              <a:rPr sz="2039" b="0">
                <a:solidFill>
                  <a:srgbClr val="F4F7FA"/>
                </a:solidFill>
                <a:latin typeface="Courier New"/>
                <a:ea typeface="Courier New"/>
                <a:cs typeface="Courier New"/>
              </a:rPr>
              <a:t> statistics </a:t>
            </a:r>
            <a:r>
              <a:rPr sz="2039" b="0">
                <a:solidFill>
                  <a:srgbClr val="FFB080"/>
                </a:solidFill>
                <a:latin typeface="Courier New"/>
                <a:ea typeface="Courier New"/>
                <a:cs typeface="Courier New"/>
              </a:rPr>
              <a:t>import</a:t>
            </a:r>
            <a:r>
              <a:rPr sz="2039" b="0">
                <a:solidFill>
                  <a:srgbClr val="F4F7FA"/>
                </a:solidFill>
                <a:latin typeface="Courier New"/>
                <a:ea typeface="Courier New"/>
                <a:cs typeface="Courier New"/>
              </a:rPr>
              <a:t> median</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training_values = [20, 22, 24]</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validation_values = [</a:t>
            </a:r>
            <a:r>
              <a:rPr sz="2039" b="0">
                <a:solidFill>
                  <a:srgbClr val="FFB080"/>
                </a:solidFill>
                <a:latin typeface="Courier New"/>
                <a:ea typeface="Courier New"/>
                <a:cs typeface="Courier New"/>
              </a:rPr>
              <a:t>None</a:t>
            </a:r>
            <a:r>
              <a:rPr sz="2039" b="0">
                <a:solidFill>
                  <a:srgbClr val="F4F7FA"/>
                </a:solidFill>
                <a:latin typeface="Courier New"/>
                <a:ea typeface="Courier New"/>
                <a:cs typeface="Courier New"/>
              </a:rPr>
              <a:t>, 40]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training_median = median(training_values)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filled_validation = []</a:t>
            </a:r>
          </a:p>
        </p:txBody>
      </p:sp>
      <p:sp>
        <p:nvSpPr>
          <p:cNvPr id="6" name="">
            <a:extLst xmlns:a="http://schemas.openxmlformats.org/drawingml/2006/main">
              <a:ext uri="{FF2B5EF4-FFF2-40B4-BE49-F238E27FC236}">
                <a16:creationId xmlns:a16="http://schemas.microsoft.com/office/drawing/2014/main" id="{1F1AB936-9D75-45C8-B3FC-2C7549E772B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7C64723-4A07-480C-AC26-697E9EFF9B3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30AC0722-8CE7-4508-9B7D-80FC67B06B2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2C87502A-06DE-46B3-9878-39FA1CA6F7A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BA60F480-E527-4258-8264-4BE1E39E08E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4322AB81-5658-4E57-8868-FA2D3A5800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17</a:t>
            </a:r>
          </a:p>
        </p:txBody>
      </p:sp>
    </p:spTree>
    <p:extLst>
      <p:ext uri="{BB962C8B-B14F-4D97-AF65-F5344CB8AC3E}">
        <p14:creationId xmlns:p14="http://schemas.microsoft.com/office/powerpoint/2010/main" val="183931598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7EFDFE-902C-4CD0-A020-CB53517FC52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0F903B-FD54-4343-8363-E1C2F7D12E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942666D-A1AE-44D2-A7C0-B99CDEBE27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 in Python (2/2)</a:t>
            </a:r>
          </a:p>
        </p:txBody>
      </p:sp>
      <p:sp>
        <p:nvSpPr>
          <p:cNvPr id="4" name="">
            <a:extLst xmlns:a="http://schemas.openxmlformats.org/drawingml/2006/main">
              <a:ext uri="{FF2B5EF4-FFF2-40B4-BE49-F238E27FC236}">
                <a16:creationId xmlns:a16="http://schemas.microsoft.com/office/drawing/2014/main" id="{CCD6F2A6-57A3-4C0F-8B4C-C93F42E4575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F8AD054-87DB-4E9E-915E-8A147EDE30D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validation_values: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filled_validation.append(training_median)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filled_validation.append(value)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print(training_median, filled_validation)</a:t>
            </a:r>
          </a:p>
        </p:txBody>
      </p:sp>
      <p:sp>
        <p:nvSpPr>
          <p:cNvPr id="6" name="">
            <a:extLst xmlns:a="http://schemas.openxmlformats.org/drawingml/2006/main">
              <a:ext uri="{FF2B5EF4-FFF2-40B4-BE49-F238E27FC236}">
                <a16:creationId xmlns:a16="http://schemas.microsoft.com/office/drawing/2014/main" id="{ABF2EB21-BB01-4889-A189-0B3D9803E47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EC3E6540-FF6A-4C79-8BC4-3946AF8533E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5A96F8AF-57FB-4A4B-A926-8ACFAD8B20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18</a:t>
            </a:r>
          </a:p>
        </p:txBody>
      </p:sp>
    </p:spTree>
    <p:extLst>
      <p:ext uri="{BB962C8B-B14F-4D97-AF65-F5344CB8AC3E}">
        <p14:creationId xmlns:p14="http://schemas.microsoft.com/office/powerpoint/2010/main" val="61817335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C8C4D7-CBC6-4A33-822E-3907472C5D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F3DD99-4061-465E-981C-EA4C750669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5C2B4C-1CB7-45FA-8AB3-A791FC2925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Leakage gives away information from the future</a:t>
            </a:r>
          </a:p>
        </p:txBody>
      </p:sp>
      <p:sp>
        <p:nvSpPr>
          <p:cNvPr id="4" name="">
            <a:extLst xmlns:a="http://schemas.openxmlformats.org/drawingml/2006/main">
              <a:ext uri="{FF2B5EF4-FFF2-40B4-BE49-F238E27FC236}">
                <a16:creationId xmlns:a16="http://schemas.microsoft.com/office/drawing/2014/main" id="{E16021E1-900C-4D8C-99CA-89260D8DA5F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040DA9F-8D0B-469D-8CB9-D92CDB26087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Suppose we predict a fault before an inspection.</a:t>
            </a:r>
          </a:p>
        </p:txBody>
      </p:sp>
      <p:sp>
        <p:nvSpPr>
          <p:cNvPr id="6" name="">
            <a:extLst xmlns:a="http://schemas.openxmlformats.org/drawingml/2006/main">
              <a:ext uri="{FF2B5EF4-FFF2-40B4-BE49-F238E27FC236}">
                <a16:creationId xmlns:a16="http://schemas.microsoft.com/office/drawing/2014/main" id="{18B24E0B-FC13-4F55-8149-2652FF8EC6A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AA29AED-6EB9-429B-BB15-16D8F57F02F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final_inspection_result exists only after the inspection.</a:t>
            </a:r>
          </a:p>
        </p:txBody>
      </p:sp>
      <p:sp>
        <p:nvSpPr>
          <p:cNvPr id="8" name="">
            <a:extLst xmlns:a="http://schemas.openxmlformats.org/drawingml/2006/main">
              <a:ext uri="{FF2B5EF4-FFF2-40B4-BE49-F238E27FC236}">
                <a16:creationId xmlns:a16="http://schemas.microsoft.com/office/drawing/2014/main" id="{965F32EE-FF2D-4694-AE25-DE36BFE65E0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7BE94E7-060B-4476-B3D7-FC8894EFEC1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it as an input would answer a different, easier question than the one we intended.</a:t>
            </a:r>
          </a:p>
        </p:txBody>
      </p:sp>
      <p:sp>
        <p:nvSpPr>
          <p:cNvPr id="10" name="">
            <a:extLst xmlns:a="http://schemas.openxmlformats.org/drawingml/2006/main">
              <a:ext uri="{FF2B5EF4-FFF2-40B4-BE49-F238E27FC236}">
                <a16:creationId xmlns:a16="http://schemas.microsoft.com/office/drawing/2014/main" id="{1F8DE7C0-7A36-490F-8A91-0CAB19BCE7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19</a:t>
            </a:r>
          </a:p>
        </p:txBody>
      </p:sp>
    </p:spTree>
    <p:extLst>
      <p:ext uri="{BB962C8B-B14F-4D97-AF65-F5344CB8AC3E}">
        <p14:creationId xmlns:p14="http://schemas.microsoft.com/office/powerpoint/2010/main" val="213378212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B3986E4-9DB9-48F0-8368-920835CABE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1EA44AE-3697-411B-BF16-070F753D2E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6527886-9170-4E7A-8DCF-70DDE1D892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Cross-validation</a:t>
            </a:r>
          </a:p>
        </p:txBody>
      </p:sp>
      <p:sp>
        <p:nvSpPr>
          <p:cNvPr id="4" name="">
            <a:extLst xmlns:a="http://schemas.openxmlformats.org/drawingml/2006/main">
              <a:ext uri="{FF2B5EF4-FFF2-40B4-BE49-F238E27FC236}">
                <a16:creationId xmlns:a16="http://schemas.microsoft.com/office/drawing/2014/main" id="{0A47B772-558A-4C07-AB21-82821F142068}"/>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B940F4-6EEE-4F27-87D1-ADE69FAEFF4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Cross-validation</a:t>
            </a:r>
          </a:p>
        </p:txBody>
      </p:sp>
      <p:sp>
        <p:nvSpPr>
          <p:cNvPr id="6" name="">
            <a:extLst xmlns:a="http://schemas.openxmlformats.org/drawingml/2006/main">
              <a:ext uri="{FF2B5EF4-FFF2-40B4-BE49-F238E27FC236}">
                <a16:creationId xmlns:a16="http://schemas.microsoft.com/office/drawing/2014/main" id="{B76F09F5-F68A-465B-88DD-DD5AE1058D21}"/>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Repeat fitting and validation on several partitions of the training/development data. Respect groups or time order. Keep the final test outside tuning.</a:t>
            </a:r>
          </a:p>
        </p:txBody>
      </p:sp>
      <p:sp>
        <p:nvSpPr>
          <p:cNvPr id="7" name="">
            <a:extLst xmlns:a="http://schemas.openxmlformats.org/drawingml/2006/main">
              <a:ext uri="{FF2B5EF4-FFF2-40B4-BE49-F238E27FC236}">
                <a16:creationId xmlns:a16="http://schemas.microsoft.com/office/drawing/2014/main" id="{B2E10234-FCA7-4B31-810E-145A1D1792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20</a:t>
            </a:r>
          </a:p>
        </p:txBody>
      </p:sp>
    </p:spTree>
    <p:extLst>
      <p:ext uri="{BB962C8B-B14F-4D97-AF65-F5344CB8AC3E}">
        <p14:creationId xmlns:p14="http://schemas.microsoft.com/office/powerpoint/2010/main" val="36045481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F96EFF1-4BC2-46F4-A9F5-361AE25823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8F4F8D-941D-4092-AFC8-FEB51693E0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534E2FA-63EF-46F6-A1C6-193D6DBB98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standard deviation tells us</a:t>
            </a:r>
          </a:p>
        </p:txBody>
      </p:sp>
      <p:sp>
        <p:nvSpPr>
          <p:cNvPr id="4" name="">
            <a:extLst xmlns:a="http://schemas.openxmlformats.org/drawingml/2006/main">
              <a:ext uri="{FF2B5EF4-FFF2-40B4-BE49-F238E27FC236}">
                <a16:creationId xmlns:a16="http://schemas.microsoft.com/office/drawing/2014/main" id="{8CC68A70-4B2D-41B8-A5AE-69085BA06F7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76E97EC-4A0E-4781-B728-D2C307F55C5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Scores 3, 4 and 5 have mean 4. Their deviations are -1, 0 and 1.</a:t>
            </a:r>
          </a:p>
        </p:txBody>
      </p:sp>
      <p:sp>
        <p:nvSpPr>
          <p:cNvPr id="6" name="">
            <a:extLst xmlns:a="http://schemas.openxmlformats.org/drawingml/2006/main">
              <a:ext uri="{FF2B5EF4-FFF2-40B4-BE49-F238E27FC236}">
                <a16:creationId xmlns:a16="http://schemas.microsoft.com/office/drawing/2014/main" id="{97EB9F79-06AB-41AD-AF68-6CF37FB0A16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9242778-E5D2-43F1-87CD-D9A734EC45F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three fold scores, population SD = sqrt((1 + 0 + 1) / 3), about 0.82.</a:t>
            </a:r>
          </a:p>
        </p:txBody>
      </p:sp>
      <p:sp>
        <p:nvSpPr>
          <p:cNvPr id="8" name="">
            <a:extLst xmlns:a="http://schemas.openxmlformats.org/drawingml/2006/main">
              <a:ext uri="{FF2B5EF4-FFF2-40B4-BE49-F238E27FC236}">
                <a16:creationId xmlns:a16="http://schemas.microsoft.com/office/drawing/2014/main" id="{EEE9A081-25AF-476E-8A11-BEB9464E534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7037E96-C793-4ED7-9B34-E81B6717386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SD describes spread around the mean in the score’s units. The next illustration uses this same population convention; it is not a confidence interval.</a:t>
            </a:r>
          </a:p>
        </p:txBody>
      </p:sp>
      <p:sp>
        <p:nvSpPr>
          <p:cNvPr id="10" name="">
            <a:extLst xmlns:a="http://schemas.openxmlformats.org/drawingml/2006/main">
              <a:ext uri="{FF2B5EF4-FFF2-40B4-BE49-F238E27FC236}">
                <a16:creationId xmlns:a16="http://schemas.microsoft.com/office/drawing/2014/main" id="{9B3FCC3B-0B78-49BA-BA36-34DAB76859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21</a:t>
            </a:r>
          </a:p>
        </p:txBody>
      </p:sp>
    </p:spTree>
    <p:extLst>
      <p:ext uri="{BB962C8B-B14F-4D97-AF65-F5344CB8AC3E}">
        <p14:creationId xmlns:p14="http://schemas.microsoft.com/office/powerpoint/2010/main" val="194364062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9024E4-9883-4B9D-8063-6B3D4934F931}"/>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0F97EC-071F-4048-BBCB-DF947BC8A03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Each fold takes a turn at validation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9178ea23d4954554"/>
          <a:stretch xmlns:a="http://schemas.openxmlformats.org/drawingml/2006/main"/>
        </p:blipFill>
        <p:spPr>
          <a:xfrm xmlns:a="http://schemas.openxmlformats.org/drawingml/2006/main">
            <a:off x="984088" y="1057275"/>
            <a:ext cx="1022382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D9A9653-802C-4B35-9D42-0F159ACB58A9}"/>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380677-55F4-4F27-B12A-08BAB59A4587}"/>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Illustrated spread: population SD 0.39 MPa, not a confidence interval.</a:t>
            </a:r>
          </a:p>
        </p:txBody>
      </p:sp>
      <p:sp>
        <p:nvSpPr>
          <p:cNvPr id="6" name="">
            <a:extLst xmlns:a="http://schemas.openxmlformats.org/drawingml/2006/main">
              <a:ext uri="{FF2B5EF4-FFF2-40B4-BE49-F238E27FC236}">
                <a16:creationId xmlns:a16="http://schemas.microsoft.com/office/drawing/2014/main" id="{06460991-DB83-4D6F-B197-F3B4FE0EA5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22</a:t>
            </a:r>
          </a:p>
        </p:txBody>
      </p:sp>
    </p:spTree>
    <p:extLst>
      <p:ext uri="{BB962C8B-B14F-4D97-AF65-F5344CB8AC3E}">
        <p14:creationId xmlns:p14="http://schemas.microsoft.com/office/powerpoint/2010/main" val="40694834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743638F-1CF9-4C88-9887-735B8D6F8F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54F294-5282-4658-8B62-75EE1FD44C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A7929F0-7887-41D6-92F0-02F188F2DA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a split that matches future use</a:t>
            </a:r>
          </a:p>
        </p:txBody>
      </p:sp>
      <p:sp>
        <p:nvSpPr>
          <p:cNvPr id="4" name="">
            <a:extLst xmlns:a="http://schemas.openxmlformats.org/drawingml/2006/main">
              <a:ext uri="{FF2B5EF4-FFF2-40B4-BE49-F238E27FC236}">
                <a16:creationId xmlns:a16="http://schemas.microsoft.com/office/drawing/2014/main" id="{81DA33BB-F161-4BDE-AB50-DF1386CD916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4C00A65-A6DA-4BFD-9092-F412DDEF863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Equipment or time</a:t>
            </a:r>
          </a:p>
        </p:txBody>
      </p:sp>
      <p:sp>
        <p:nvSpPr>
          <p:cNvPr id="6" name="">
            <a:extLst xmlns:a="http://schemas.openxmlformats.org/drawingml/2006/main">
              <a:ext uri="{FF2B5EF4-FFF2-40B4-BE49-F238E27FC236}">
                <a16:creationId xmlns:a16="http://schemas.microsoft.com/office/drawing/2014/main" id="{B9509E91-9037-4690-8F76-6CB1C0427F9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unseen equipment, keep each equipment ID together. For future-time prediction, train on earlier observations and evaluate on later ones.</a:t>
            </a:r>
          </a:p>
        </p:txBody>
      </p:sp>
      <p:sp>
        <p:nvSpPr>
          <p:cNvPr id="7" name="">
            <a:extLst xmlns:a="http://schemas.openxmlformats.org/drawingml/2006/main">
              <a:ext uri="{FF2B5EF4-FFF2-40B4-BE49-F238E27FC236}">
                <a16:creationId xmlns:a16="http://schemas.microsoft.com/office/drawing/2014/main" id="{41E814C3-E278-438A-8A9D-39D4A19B025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DA7D04D-F73C-4DBB-9DAF-6CB4E2D179A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Scaler and split tool</a:t>
            </a:r>
          </a:p>
        </p:txBody>
      </p:sp>
      <p:sp>
        <p:nvSpPr>
          <p:cNvPr id="9" name="">
            <a:extLst xmlns:a="http://schemas.openxmlformats.org/drawingml/2006/main">
              <a:ext uri="{FF2B5EF4-FFF2-40B4-BE49-F238E27FC236}">
                <a16:creationId xmlns:a16="http://schemas.microsoft.com/office/drawing/2014/main" id="{FF8BBE47-ECD8-4E4A-9845-CD9B2AFA8BA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scaler learns how to rescale features; fit it on training data. GroupShuffleSplit is a library tool for group separation. Our assignment instead uses its fixed published equipment lists.</a:t>
            </a:r>
          </a:p>
        </p:txBody>
      </p:sp>
      <p:sp>
        <p:nvSpPr>
          <p:cNvPr id="10" name="">
            <a:extLst xmlns:a="http://schemas.openxmlformats.org/drawingml/2006/main">
              <a:ext uri="{FF2B5EF4-FFF2-40B4-BE49-F238E27FC236}">
                <a16:creationId xmlns:a16="http://schemas.microsoft.com/office/drawing/2014/main" id="{6D79F97D-E8D9-4041-AAAA-6B3120897D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23</a:t>
            </a:r>
          </a:p>
        </p:txBody>
      </p:sp>
    </p:spTree>
    <p:extLst>
      <p:ext uri="{BB962C8B-B14F-4D97-AF65-F5344CB8AC3E}">
        <p14:creationId xmlns:p14="http://schemas.microsoft.com/office/powerpoint/2010/main" val="33803263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9CE94E8-CCA0-4A41-A816-C839E332E4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808F663-85DA-43B2-BE18-63F00686FB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F53E0678-F88D-4874-8930-44188DD323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the data splitter</a:t>
            </a:r>
          </a:p>
        </p:txBody>
      </p:sp>
      <p:sp>
        <p:nvSpPr>
          <p:cNvPr id="4" name="">
            <a:extLst xmlns:a="http://schemas.openxmlformats.org/drawingml/2006/main">
              <a:ext uri="{FF2B5EF4-FFF2-40B4-BE49-F238E27FC236}">
                <a16:creationId xmlns:a16="http://schemas.microsoft.com/office/drawing/2014/main" id="{A2A2EEE9-B90D-49C7-B30C-1DA0CBDB0164}"/>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A1F1428-9879-44AF-BB4A-AB8A72548294}"/>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A1, A2, B1, B2, C1 and C2 on six cards. The letter identifies equipment.</a:t>
            </a:r>
          </a:p>
        </p:txBody>
      </p:sp>
      <p:sp>
        <p:nvSpPr>
          <p:cNvPr id="6" name="">
            <a:extLst xmlns:a="http://schemas.openxmlformats.org/drawingml/2006/main">
              <a:ext uri="{FF2B5EF4-FFF2-40B4-BE49-F238E27FC236}">
                <a16:creationId xmlns:a16="http://schemas.microsoft.com/office/drawing/2014/main" id="{D7ABD498-AA12-48BB-BC26-223179533DDF}"/>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638903E-C873-486D-8370-E5698F91E94A}"/>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 equipment A in training, B in validation and C in final test.</a:t>
            </a:r>
          </a:p>
        </p:txBody>
      </p:sp>
      <p:sp>
        <p:nvSpPr>
          <p:cNvPr id="8" name="">
            <a:extLst xmlns:a="http://schemas.openxmlformats.org/drawingml/2006/main">
              <a:ext uri="{FF2B5EF4-FFF2-40B4-BE49-F238E27FC236}">
                <a16:creationId xmlns:a16="http://schemas.microsoft.com/office/drawing/2014/main" id="{AD026443-7CE8-48E7-90EE-1537EC49A14C}"/>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623B7B9-917C-4262-BD62-873A7BA8F697}"/>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Could A2 move to validation if the goal is new-equipment performance?</a:t>
            </a:r>
          </a:p>
        </p:txBody>
      </p:sp>
      <p:sp>
        <p:nvSpPr>
          <p:cNvPr id="10" name="">
            <a:extLst xmlns:a="http://schemas.openxmlformats.org/drawingml/2006/main">
              <a:ext uri="{FF2B5EF4-FFF2-40B4-BE49-F238E27FC236}">
                <a16:creationId xmlns:a16="http://schemas.microsoft.com/office/drawing/2014/main" id="{652A2C95-1026-48C0-A90F-ACE64318B25E}"/>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C931132-4D28-45EC-9480-07E19C0F67FE}"/>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E4512423-D2FB-465F-8F7C-D926DE3B1F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24</a:t>
            </a:r>
          </a:p>
        </p:txBody>
      </p:sp>
    </p:spTree>
    <p:extLst>
      <p:ext uri="{BB962C8B-B14F-4D97-AF65-F5344CB8AC3E}">
        <p14:creationId xmlns:p14="http://schemas.microsoft.com/office/powerpoint/2010/main" val="71561223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203CBCB-07FD-4ADC-9C9B-E53D2A0AF0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FC996B-46E7-4185-9F8B-2AECB5D989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52C3C39C-1BBD-448F-B422-48EC392F45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58871E31-4108-4637-93F1-C73FBC1EB7C7}"/>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C59571-0D5C-46EB-9786-84872A052F2A}"/>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No. Keep A1 and A2 together for this question. This tiny activity illustrates separation, not sufficient evaluation sample size.</a:t>
            </a:r>
          </a:p>
        </p:txBody>
      </p:sp>
      <p:sp>
        <p:nvSpPr>
          <p:cNvPr id="6" name="">
            <a:extLst xmlns:a="http://schemas.openxmlformats.org/drawingml/2006/main">
              <a:ext uri="{FF2B5EF4-FFF2-40B4-BE49-F238E27FC236}">
                <a16:creationId xmlns:a16="http://schemas.microsoft.com/office/drawing/2014/main" id="{8D185068-CA30-4A6E-8CC3-5DD3033F9CE1}"/>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3860B132-C738-4DAE-9737-36C88AD0FE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25</a:t>
            </a:r>
          </a:p>
        </p:txBody>
      </p:sp>
    </p:spTree>
    <p:extLst>
      <p:ext uri="{BB962C8B-B14F-4D97-AF65-F5344CB8AC3E}">
        <p14:creationId xmlns:p14="http://schemas.microsoft.com/office/powerpoint/2010/main" val="621237046"/>
      </p:ext>
    </p:extLst>
  </p:cSld>
</p:sld>
</file>

<file path=ppt/slides/slide26.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0A543E9-3B2E-4897-9F12-5FBB5763B5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DD7262AD-F0CB-4810-93F4-18EC2B6CEC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DDFB8D4E-372D-42F9-BF3D-DD2CA046B012}"/>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D1D37BB4-8231-430A-929F-BDE117889647}"/>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 second observation from B arrives. Where does it go? Why not put it into training just to balance row counts?</a:t>
            </a:r>
          </a:p>
        </p:txBody>
      </p:sp>
      <p:sp>
        <p:nvSpPr>
          <p:cNvPr id="5" name="">
            <a:extLst xmlns:a="http://schemas.openxmlformats.org/drawingml/2006/main">
              <a:ext uri="{FF2B5EF4-FFF2-40B4-BE49-F238E27FC236}">
                <a16:creationId xmlns:a16="http://schemas.microsoft.com/office/drawing/2014/main" id="{703FD146-DA4A-4642-85A2-BCCF1D309616}"/>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E8FA3C4D-D78E-4C2B-BD48-D8FA601325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10   26</a:t>
            </a:r>
          </a:p>
        </p:txBody>
      </p:sp>
    </p:spTree>
    <p:extLst>
      <p:ext uri="{BB962C8B-B14F-4D97-AF65-F5344CB8AC3E}">
        <p14:creationId xmlns:p14="http://schemas.microsoft.com/office/powerpoint/2010/main" val="129121216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AEE75D7-6D28-4B0F-B401-B3620746F9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EC96B58-E3FD-4776-8AE9-F4D3FC9F15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37369A1C-9082-438A-BC27-8CD1AD9ED6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425B8200-F81F-4B49-86A8-98EA7C233FDE}"/>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2872442-2C6F-4B3A-AB9E-76E7AC06AF45}"/>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It stays with B in validation. Mixing a source across partitions can give an overly optimistic estimate for unseen equipment.</a:t>
            </a:r>
          </a:p>
        </p:txBody>
      </p:sp>
      <p:sp>
        <p:nvSpPr>
          <p:cNvPr id="6" name="">
            <a:extLst xmlns:a="http://schemas.openxmlformats.org/drawingml/2006/main">
              <a:ext uri="{FF2B5EF4-FFF2-40B4-BE49-F238E27FC236}">
                <a16:creationId xmlns:a16="http://schemas.microsoft.com/office/drawing/2014/main" id="{FF6899D3-D85F-4EDD-9679-AB3E8D4B88B8}"/>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77EFA3DB-A3B7-4C26-9B3F-60DD932838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27</a:t>
            </a:r>
          </a:p>
        </p:txBody>
      </p:sp>
    </p:spTree>
    <p:extLst>
      <p:ext uri="{BB962C8B-B14F-4D97-AF65-F5344CB8AC3E}">
        <p14:creationId xmlns:p14="http://schemas.microsoft.com/office/powerpoint/2010/main" val="69331059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EE5DF46-17F7-4FDF-8813-580064DBAA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657986-DE25-4951-BC33-ABB3C2505C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945574D9-3FBB-4904-90B8-5EA796FCA7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D9189BB4-5F92-4601-85F1-D55C80FCD001}"/>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A52ADBC-72DB-4CC4-869E-DCB9FEEA1B71}"/>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6" name="">
            <a:extLst xmlns:a="http://schemas.openxmlformats.org/drawingml/2006/main">
              <a:ext uri="{FF2B5EF4-FFF2-40B4-BE49-F238E27FC236}">
                <a16:creationId xmlns:a16="http://schemas.microsoft.com/office/drawing/2014/main" id="{5AA40302-D067-462C-96AF-7F085D319F93}"/>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64439E9-8EC3-415B-9E51-C5777851A9F3}"/>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8" name="">
            <a:extLst xmlns:a="http://schemas.openxmlformats.org/drawingml/2006/main">
              <a:ext uri="{FF2B5EF4-FFF2-40B4-BE49-F238E27FC236}">
                <a16:creationId xmlns:a16="http://schemas.microsoft.com/office/drawing/2014/main" id="{0C59763F-7B6A-4EEB-A01D-2EB05692DCC5}"/>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41DD82-5BF1-4886-B285-594C16658EF1}"/>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0" name="">
            <a:extLst xmlns:a="http://schemas.openxmlformats.org/drawingml/2006/main">
              <a:ext uri="{FF2B5EF4-FFF2-40B4-BE49-F238E27FC236}">
                <a16:creationId xmlns:a16="http://schemas.microsoft.com/office/drawing/2014/main" id="{C134ECB9-341D-48AC-B319-0E12B8AE17A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C40C543-A9D1-4636-BF6D-141026EE7875}"/>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b9f36df600045ad"/>
              </a:rPr>
              <a:t>Open explainer video</a:t>
            </a:r>
          </a:p>
        </p:txBody>
      </p:sp>
      <p:sp>
        <p:nvSpPr>
          <p:cNvPr id="12" name="">
            <a:extLst xmlns:a="http://schemas.openxmlformats.org/drawingml/2006/main">
              <a:ext uri="{FF2B5EF4-FFF2-40B4-BE49-F238E27FC236}">
                <a16:creationId xmlns:a16="http://schemas.microsoft.com/office/drawing/2014/main" id="{9C7DDAB9-574E-4EFD-A38C-5FCDC44D5DC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3" name="">
            <a:extLst xmlns:a="http://schemas.openxmlformats.org/drawingml/2006/main">
              <a:ext uri="{FF2B5EF4-FFF2-40B4-BE49-F238E27FC236}">
                <a16:creationId xmlns:a16="http://schemas.microsoft.com/office/drawing/2014/main" id="{366359BE-9F85-432A-A5D0-93E3851D83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28</a:t>
            </a:r>
          </a:p>
        </p:txBody>
      </p:sp>
    </p:spTree>
    <p:extLst>
      <p:ext uri="{BB962C8B-B14F-4D97-AF65-F5344CB8AC3E}">
        <p14:creationId xmlns:p14="http://schemas.microsoft.com/office/powerpoint/2010/main" val="1570365807"/>
      </p:ext>
    </p:extLst>
  </p:cSld>
</p:sld>
</file>

<file path=ppt/slides/slide29.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C6548D1-2F4E-4656-8956-3AAE10E42B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A970F532-D85C-4C8C-BB17-ADA92E14C0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3BDFE5B6-F5EE-4C54-9DEC-73A1ED618A54}"/>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7D889889-DBF1-4CDB-B664-66F90204FD60}"/>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why our repeated equipment IDs require grouped partitions rather than ordinary random folds.</a:t>
            </a:r>
          </a:p>
        </p:txBody>
      </p:sp>
      <p:sp>
        <p:nvSpPr>
          <p:cNvPr id="5" name="">
            <a:extLst xmlns:a="http://schemas.openxmlformats.org/drawingml/2006/main">
              <a:ext uri="{FF2B5EF4-FFF2-40B4-BE49-F238E27FC236}">
                <a16:creationId xmlns:a16="http://schemas.microsoft.com/office/drawing/2014/main" id="{9AC9821D-C238-40E9-AE95-CC38AEB1AA6A}"/>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3C5402C9-D586-4F25-85D7-F69164BCB2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10   29</a:t>
            </a:r>
          </a:p>
        </p:txBody>
      </p:sp>
    </p:spTree>
    <p:extLst>
      <p:ext uri="{BB962C8B-B14F-4D97-AF65-F5344CB8AC3E}">
        <p14:creationId xmlns:p14="http://schemas.microsoft.com/office/powerpoint/2010/main" val="214463464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6579954-5443-43D2-B84A-FB536E5590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4B68C4-9737-429B-9A2E-B7E21537E1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1745B92-0EB8-45AE-A41B-4011877F3E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5FA113D9-1CA1-4501-9C0C-6E2DCCB603B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037996-1CE3-4D42-B5AE-71266FFFEA4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W10 specifies E1–E4 train, E5 validation, E6 test and preserves input order.</a:t>
            </a:r>
          </a:p>
        </p:txBody>
      </p:sp>
      <p:sp>
        <p:nvSpPr>
          <p:cNvPr id="6" name="">
            <a:extLst xmlns:a="http://schemas.openxmlformats.org/drawingml/2006/main">
              <a:ext uri="{FF2B5EF4-FFF2-40B4-BE49-F238E27FC236}">
                <a16:creationId xmlns:a16="http://schemas.microsoft.com/office/drawing/2014/main" id="{FE8B392D-7DDF-428A-B306-1584BEBF1EE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8924046-6D9A-44BA-9F7B-B3A2AC2B379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assigned equipment_id field and record_id outputs.</a:t>
            </a:r>
          </a:p>
        </p:txBody>
      </p:sp>
      <p:sp>
        <p:nvSpPr>
          <p:cNvPr id="8" name="">
            <a:extLst xmlns:a="http://schemas.openxmlformats.org/drawingml/2006/main">
              <a:ext uri="{FF2B5EF4-FFF2-40B4-BE49-F238E27FC236}">
                <a16:creationId xmlns:a16="http://schemas.microsoft.com/office/drawing/2014/main" id="{F4A28B37-1CC5-47DC-A0B1-598200958A8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98C5F0-BFB8-4394-9734-54D463720EA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Reuse the W08 fitting pattern.</a:t>
            </a:r>
          </a:p>
        </p:txBody>
      </p:sp>
      <p:sp>
        <p:nvSpPr>
          <p:cNvPr id="10" name="">
            <a:extLst xmlns:a="http://schemas.openxmlformats.org/drawingml/2006/main">
              <a:ext uri="{FF2B5EF4-FFF2-40B4-BE49-F238E27FC236}">
                <a16:creationId xmlns:a16="http://schemas.microsoft.com/office/drawing/2014/main" id="{209B4E97-63B6-4F7E-850D-331C523F3C1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7A3EC07-5E54-485B-BF13-6C0D4CD7952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that GroupShuffleSplit and time-based splitting solve different deployment questions; use the rule in the issued task.</a:t>
            </a:r>
          </a:p>
        </p:txBody>
      </p:sp>
      <p:sp>
        <p:nvSpPr>
          <p:cNvPr id="12" name="">
            <a:extLst xmlns:a="http://schemas.openxmlformats.org/drawingml/2006/main">
              <a:ext uri="{FF2B5EF4-FFF2-40B4-BE49-F238E27FC236}">
                <a16:creationId xmlns:a16="http://schemas.microsoft.com/office/drawing/2014/main" id="{9DC74E0A-7013-4452-8F3B-09F45B5E45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30</a:t>
            </a:r>
          </a:p>
        </p:txBody>
      </p:sp>
    </p:spTree>
    <p:extLst>
      <p:ext uri="{BB962C8B-B14F-4D97-AF65-F5344CB8AC3E}">
        <p14:creationId xmlns:p14="http://schemas.microsoft.com/office/powerpoint/2010/main" val="1586234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6CAA756-42D7-44D3-B349-F72AA4CBE2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1DC6F8-FA39-4F44-B139-AA7B0D783A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79BE632-EF93-4496-A0F1-C0D0736560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validation results</a:t>
            </a:r>
          </a:p>
        </p:txBody>
      </p:sp>
      <p:sp>
        <p:nvSpPr>
          <p:cNvPr id="4" name="">
            <a:extLst xmlns:a="http://schemas.openxmlformats.org/drawingml/2006/main">
              <a:ext uri="{FF2B5EF4-FFF2-40B4-BE49-F238E27FC236}">
                <a16:creationId xmlns:a16="http://schemas.microsoft.com/office/drawing/2014/main" id="{4BBD4CB6-6766-42EB-A4E9-347B599EE2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9AB5542-09DB-4A07-BD3D-A744DA9EA30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an imputer or scaler only on training data; putting it in a Pipeline helps enforce that during cross-validation.</a:t>
            </a:r>
          </a:p>
        </p:txBody>
      </p:sp>
      <p:sp>
        <p:nvSpPr>
          <p:cNvPr id="6" name="">
            <a:extLst xmlns:a="http://schemas.openxmlformats.org/drawingml/2006/main">
              <a:ext uri="{FF2B5EF4-FFF2-40B4-BE49-F238E27FC236}">
                <a16:creationId xmlns:a16="http://schemas.microsoft.com/office/drawing/2014/main" id="{74797372-B90E-4EE7-B9E8-E610E9A2E96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81A8A2F-0817-435F-8636-6A4C9A94768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low training error and high validation error suggest overfitting, but data shift or leakage can also matter.</a:t>
            </a:r>
          </a:p>
        </p:txBody>
      </p:sp>
      <p:sp>
        <p:nvSpPr>
          <p:cNvPr id="8" name="">
            <a:extLst xmlns:a="http://schemas.openxmlformats.org/drawingml/2006/main">
              <a:ext uri="{FF2B5EF4-FFF2-40B4-BE49-F238E27FC236}">
                <a16:creationId xmlns:a16="http://schemas.microsoft.com/office/drawing/2014/main" id="{78444D22-D0CA-4FCA-A186-F2010B1D259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4E930EC-EC5C-45D8-B289-AAFBD8BD029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predictor values need a stated treatment.</a:t>
            </a:r>
          </a:p>
        </p:txBody>
      </p:sp>
      <p:sp>
        <p:nvSpPr>
          <p:cNvPr id="10" name="">
            <a:extLst xmlns:a="http://schemas.openxmlformats.org/drawingml/2006/main">
              <a:ext uri="{FF2B5EF4-FFF2-40B4-BE49-F238E27FC236}">
                <a16:creationId xmlns:a16="http://schemas.microsoft.com/office/drawing/2014/main" id="{4EB0E1EA-8E4D-4DF7-BA54-AE0BED1AE05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167010B-2FDF-4E3F-98FC-62C979A7E12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Report fold scores and their variation, not just the best fold.</a:t>
            </a:r>
          </a:p>
        </p:txBody>
      </p:sp>
      <p:sp>
        <p:nvSpPr>
          <p:cNvPr id="12" name="">
            <a:extLst xmlns:a="http://schemas.openxmlformats.org/drawingml/2006/main">
              <a:ext uri="{FF2B5EF4-FFF2-40B4-BE49-F238E27FC236}">
                <a16:creationId xmlns:a16="http://schemas.microsoft.com/office/drawing/2014/main" id="{565A2180-520B-4578-8FC8-BCEC61E0F9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31</a:t>
            </a:r>
          </a:p>
        </p:txBody>
      </p:sp>
    </p:spTree>
    <p:extLst>
      <p:ext uri="{BB962C8B-B14F-4D97-AF65-F5344CB8AC3E}">
        <p14:creationId xmlns:p14="http://schemas.microsoft.com/office/powerpoint/2010/main" val="201598311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33C42D7-2230-405E-BE5B-9629B1FD9D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07297B-70CA-4F12-9056-076A3507B7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0550D6F-2226-45DF-BFB5-2F9B03C9C6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validation results continued</a:t>
            </a:r>
          </a:p>
        </p:txBody>
      </p:sp>
      <p:sp>
        <p:nvSpPr>
          <p:cNvPr id="4" name="">
            <a:extLst xmlns:a="http://schemas.openxmlformats.org/drawingml/2006/main">
              <a:ext uri="{FF2B5EF4-FFF2-40B4-BE49-F238E27FC236}">
                <a16:creationId xmlns:a16="http://schemas.microsoft.com/office/drawing/2014/main" id="{722A08FF-D98C-4CBB-AC52-482249472A56}"/>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1F406C-BE3C-4FAE-9094-E6DE6874C3E2}"/>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Group related observations together when the deployment goal is new equipment.</a:t>
            </a:r>
          </a:p>
        </p:txBody>
      </p:sp>
      <p:sp>
        <p:nvSpPr>
          <p:cNvPr id="6" name="">
            <a:extLst xmlns:a="http://schemas.openxmlformats.org/drawingml/2006/main">
              <a:ext uri="{FF2B5EF4-FFF2-40B4-BE49-F238E27FC236}">
                <a16:creationId xmlns:a16="http://schemas.microsoft.com/office/drawing/2014/main" id="{869F0191-A234-4C7D-9D5A-3B852E67A9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32</a:t>
            </a:r>
          </a:p>
        </p:txBody>
      </p:sp>
    </p:spTree>
    <p:extLst>
      <p:ext uri="{BB962C8B-B14F-4D97-AF65-F5344CB8AC3E}">
        <p14:creationId xmlns:p14="http://schemas.microsoft.com/office/powerpoint/2010/main" val="199855951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2E0395F-2AB8-42A5-AD28-6755067807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4AF020-C43C-4FFB-9C9D-F46E490425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CD1C495-B2C9-4927-863E-03E6114A59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281C26E8-F9FB-461E-ACF1-F1FFB829495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F596226-9EDE-4342-B9BF-7CCBB714520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8B76FB52-9DB7-4988-98BE-D4F99358597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141BD7-526E-4405-AF3C-76058F715FD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F2155DFB-54E2-4F27-9975-86DE73B334D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118A8DC-2E82-4B9F-A94C-62CC6D50511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305BE255-1EE1-4C51-BD7A-8BBC684FB24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4BA1109-857E-4365-A6C0-4CA70ABBEBF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4645C0C9-D320-452F-818F-0FB6A283E9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33</a:t>
            </a:r>
          </a:p>
        </p:txBody>
      </p:sp>
    </p:spTree>
    <p:extLst>
      <p:ext uri="{BB962C8B-B14F-4D97-AF65-F5344CB8AC3E}">
        <p14:creationId xmlns:p14="http://schemas.microsoft.com/office/powerpoint/2010/main" val="116307650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2968B23-2A63-45B6-B095-D56DEB72E9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54E343-2335-4AE7-A196-AB6E814B00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D4D0741-73F3-42BA-8640-C9726BFC48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group_split(records)</a:t>
            </a:r>
          </a:p>
        </p:txBody>
      </p:sp>
      <p:sp>
        <p:nvSpPr>
          <p:cNvPr id="4" name="">
            <a:extLst xmlns:a="http://schemas.openxmlformats.org/drawingml/2006/main">
              <a:ext uri="{FF2B5EF4-FFF2-40B4-BE49-F238E27FC236}">
                <a16:creationId xmlns:a16="http://schemas.microsoft.com/office/drawing/2014/main" id="{71E74528-9BA6-48A6-A1D5-8C38EC2B331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146F72-A69E-455C-BDC0-EC03F634126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Assign whole equipment groups: E1–E4 to train, E5 to validation, E6 to test.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train, validation and test lists of record_id in input order.</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not use target values to choose membership.</a:t>
            </a:r>
          </a:p>
        </p:txBody>
      </p:sp>
      <p:sp>
        <p:nvSpPr>
          <p:cNvPr id="6" name="">
            <a:extLst xmlns:a="http://schemas.openxmlformats.org/drawingml/2006/main">
              <a:ext uri="{FF2B5EF4-FFF2-40B4-BE49-F238E27FC236}">
                <a16:creationId xmlns:a16="http://schemas.microsoft.com/office/drawing/2014/main" id="{184726FD-51AB-46BB-9C3A-845BE75F3D8B}"/>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2704A50-3A1B-4DE9-BCC0-83CE1B0B3EE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1831396-568A-4527-BF84-67066F4C26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34</a:t>
            </a:r>
          </a:p>
        </p:txBody>
      </p:sp>
    </p:spTree>
    <p:extLst>
      <p:ext uri="{BB962C8B-B14F-4D97-AF65-F5344CB8AC3E}">
        <p14:creationId xmlns:p14="http://schemas.microsoft.com/office/powerpoint/2010/main" val="1335073531"/>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8742F52-F654-437F-8880-BACBE9819A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78249E5-0E76-434E-824B-38BA412E0D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4B7BD15-5399-464C-BE96-72BA4EE8B4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8C8133D3-B875-4823-96F1-6C0C783E24E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26B6AE-7275-4178-B3B6-0D813B3C210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E637AC20-6800-4790-BD2B-9B8783617C9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BAE0F21-7350-4E39-9C8A-ED5BF7C1D20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736A777B-150C-480C-BFA5-FE3B9CD354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35</a:t>
            </a:r>
          </a:p>
        </p:txBody>
      </p:sp>
    </p:spTree>
    <p:extLst>
      <p:ext uri="{BB962C8B-B14F-4D97-AF65-F5344CB8AC3E}">
        <p14:creationId xmlns:p14="http://schemas.microsoft.com/office/powerpoint/2010/main" val="284621364"/>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85EEC19-B76F-42E6-8AC2-EA60295157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D11C04-3B96-4E57-AC0D-E3CF5174C4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4BC4156-009A-456C-9361-2FD6178533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2B250B0A-B68D-4071-AAED-8F674497DA0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DB86465-54E6-41CA-8EB0-CBDE2D27B6B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C1FCC663-2C11-4DB9-A6BC-23A7BA1199C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E7E0A3A-3D06-428C-8A64-A318CD88564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2E4A2D4D-D388-4DFD-8AF2-31EF975FDC6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8FF8899-A9BC-4D85-B16A-E89727EDEAF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0A3C005A-32E1-4B44-A713-A06A597B958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EACA121-B8E3-4D5D-AB0A-9D725F535D3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3FF2387A-552C-4AC4-977C-22B0883A81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36</a:t>
            </a:r>
          </a:p>
        </p:txBody>
      </p:sp>
    </p:spTree>
    <p:extLst>
      <p:ext uri="{BB962C8B-B14F-4D97-AF65-F5344CB8AC3E}">
        <p14:creationId xmlns:p14="http://schemas.microsoft.com/office/powerpoint/2010/main" val="158053606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DDF06AB-DF73-4125-9C0D-E4B48E2D4A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D6871D-4EC8-477F-BD1C-7E7CB6BED6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4EA0F785-6116-4D99-859D-59CC833CA3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trust submission</a:t>
            </a:r>
          </a:p>
        </p:txBody>
      </p:sp>
      <p:sp>
        <p:nvSpPr>
          <p:cNvPr id="4" name="">
            <a:extLst xmlns:a="http://schemas.openxmlformats.org/drawingml/2006/main">
              <a:ext uri="{FF2B5EF4-FFF2-40B4-BE49-F238E27FC236}">
                <a16:creationId xmlns:a16="http://schemas.microsoft.com/office/drawing/2014/main" id="{61BEB097-1967-4402-9E28-9124051E7D4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C6B5603-860A-494D-8C9E-0D38D2B1271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13 Nov 2026, 11:00 Kampala</a:t>
            </a:r>
          </a:p>
        </p:txBody>
      </p:sp>
      <p:sp>
        <p:nvSpPr>
          <p:cNvPr id="6" name="">
            <a:extLst xmlns:a="http://schemas.openxmlformats.org/drawingml/2006/main">
              <a:ext uri="{FF2B5EF4-FFF2-40B4-BE49-F238E27FC236}">
                <a16:creationId xmlns:a16="http://schemas.microsoft.com/office/drawing/2014/main" id="{5125A7CB-2AD3-4CC5-A3E2-54CE18872BF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A30D449-1592-4D43-87CE-36066A8D9E61}"/>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20 Nov 2026, 11:00 Kampala</a:t>
            </a:r>
          </a:p>
        </p:txBody>
      </p:sp>
      <p:sp>
        <p:nvSpPr>
          <p:cNvPr id="8" name="">
            <a:extLst xmlns:a="http://schemas.openxmlformats.org/drawingml/2006/main">
              <a:ext uri="{FF2B5EF4-FFF2-40B4-BE49-F238E27FC236}">
                <a16:creationId xmlns:a16="http://schemas.microsoft.com/office/drawing/2014/main" id="{CF7849F8-8D4E-44F1-B2DA-99DF815EC66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283A77C-F0BB-46CD-90BE-C5ABD306A16E}"/>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B2BA3FCE-EDB2-4C97-BBD2-ED2D0C6F8CB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F7C8D79-6588-4CA6-B7E6-81DB8B2B78CA}"/>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63F2DE23-C749-4AC7-A1A8-717DEE85D3E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485204D-07CA-4BA9-9410-0F1FEA0D93C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49ae3945dbb408f"/>
              </a:rPr>
              <a:t>Open W10 assignment form</a:t>
            </a:r>
          </a:p>
        </p:txBody>
      </p:sp>
      <p:sp>
        <p:nvSpPr>
          <p:cNvPr id="14" name="">
            <a:extLst xmlns:a="http://schemas.openxmlformats.org/drawingml/2006/main">
              <a:ext uri="{FF2B5EF4-FFF2-40B4-BE49-F238E27FC236}">
                <a16:creationId xmlns:a16="http://schemas.microsoft.com/office/drawing/2014/main" id="{D47E0AA2-70E7-4507-BBFE-5A8D09C67F2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https://docs.google.com/forms/d/e/1FAIpQLSd5yLPYJ8OPmahSQIIIPfI-OfVHWbcHnwnntSRiE7wafqbRTg/viewform</a:t>
            </a:r>
          </a:p>
        </p:txBody>
      </p:sp>
      <p:sp>
        <p:nvSpPr>
          <p:cNvPr id="15" name="">
            <a:extLst xmlns:a="http://schemas.openxmlformats.org/drawingml/2006/main">
              <a:ext uri="{FF2B5EF4-FFF2-40B4-BE49-F238E27FC236}">
                <a16:creationId xmlns:a16="http://schemas.microsoft.com/office/drawing/2014/main" id="{4DEBC4DD-0CD9-40C8-AAEA-4139F05CA0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37</a:t>
            </a:r>
          </a:p>
        </p:txBody>
      </p:sp>
    </p:spTree>
    <p:extLst>
      <p:ext uri="{BB962C8B-B14F-4D97-AF65-F5344CB8AC3E}">
        <p14:creationId xmlns:p14="http://schemas.microsoft.com/office/powerpoint/2010/main" val="114013135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DE48653-CD51-4264-8E6A-7821BA3A855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E8B120-7E42-4FAF-8A42-B24D0B27A4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33C8376E-07B2-499A-9CDA-7B4FFDD288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10 quiz</a:t>
            </a:r>
          </a:p>
        </p:txBody>
      </p:sp>
      <p:sp>
        <p:nvSpPr>
          <p:cNvPr id="4" name="">
            <a:extLst xmlns:a="http://schemas.openxmlformats.org/drawingml/2006/main">
              <a:ext uri="{FF2B5EF4-FFF2-40B4-BE49-F238E27FC236}">
                <a16:creationId xmlns:a16="http://schemas.microsoft.com/office/drawing/2014/main" id="{720B3133-4419-406B-B8B6-F5F96DA36B2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D0E42F3-1C1C-45FD-BF08-47C1333B3C1B}"/>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1A47AC4A-50B4-4CFF-A719-B9936BCD649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9740955-76F9-484A-A406-B475CB3D6685}"/>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98A011C2-A76A-45EE-9BD7-EA10BEEFF767}"/>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111EB08-CAB9-4FD5-A936-D16F0A2A9CD7}"/>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3DA58A43-48C7-46BB-AD32-A263D2A92DC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EAF01D6-3976-4C92-A67A-456FD0059D54}"/>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2506eaa270204b87"/>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2E07F14C-98D4-440A-AED3-76BEDB3EEA7F}"/>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0904D8DF-0902-4FCF-8350-2B1AF49EBC1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4076DF4-2AF3-41DC-82CC-6CBFEF83272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af8ddd11d914f13"/>
              </a:rPr>
              <a:t>Open this week’s quiz</a:t>
            </a:r>
          </a:p>
        </p:txBody>
      </p:sp>
      <p:sp>
        <p:nvSpPr>
          <p:cNvPr id="16" name="">
            <a:extLst xmlns:a="http://schemas.openxmlformats.org/drawingml/2006/main">
              <a:ext uri="{FF2B5EF4-FFF2-40B4-BE49-F238E27FC236}">
                <a16:creationId xmlns:a16="http://schemas.microsoft.com/office/drawing/2014/main" id="{EEA965BC-701E-47AA-9FC2-AC4EB42C51D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https://forms.gle/KJmiCV72Y98y51a38</a:t>
            </a:r>
          </a:p>
        </p:txBody>
      </p:sp>
      <p:sp>
        <p:nvSpPr>
          <p:cNvPr id="17" name="">
            <a:extLst xmlns:a="http://schemas.openxmlformats.org/drawingml/2006/main">
              <a:ext uri="{FF2B5EF4-FFF2-40B4-BE49-F238E27FC236}">
                <a16:creationId xmlns:a16="http://schemas.microsoft.com/office/drawing/2014/main" id="{7CBEE1D6-B5DF-4AAB-AD0F-DE868BE5CA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10   38</a:t>
            </a:r>
          </a:p>
        </p:txBody>
      </p:sp>
    </p:spTree>
    <p:extLst>
      <p:ext uri="{BB962C8B-B14F-4D97-AF65-F5344CB8AC3E}">
        <p14:creationId xmlns:p14="http://schemas.microsoft.com/office/powerpoint/2010/main" val="528119557"/>
      </p:ext>
    </p:extLst>
  </p:cSld>
</p:sld>
</file>

<file path=ppt/slides/slide39.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F54DC03-3AD3-4F8F-8442-C58AADCB5C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BF23D0F8-6FB6-49A5-B387-20D65FF7BF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E2FDE766-0A75-4F2A-8C7E-0441D976CC9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AEBCEC8C-E4ED-424C-9296-A0A0F03DEDD0}"/>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identify which records may influence preprocessing and model selection.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7C2C4F6B-1844-4574-8C40-8E041166919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6EACEEBB-0C8E-4162-8544-1DA814FF61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10   39</a:t>
            </a:r>
          </a:p>
        </p:txBody>
      </p:sp>
    </p:spTree>
    <p:extLst>
      <p:ext uri="{BB962C8B-B14F-4D97-AF65-F5344CB8AC3E}">
        <p14:creationId xmlns:p14="http://schemas.microsoft.com/office/powerpoint/2010/main" val="8998100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2026-09-16T11:10:53.1570000Z</dcterms:created>
  <dcterms:modified xsi:type="dcterms:W3CDTF">2026-09-16T11:10:53.1570000Z</dcterms:modified>
</coreProperties>
</file>