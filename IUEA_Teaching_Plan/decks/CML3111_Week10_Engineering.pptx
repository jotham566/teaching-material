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6909890ec1f4f56" /><Relationship Type="http://schemas.openxmlformats.org/officeDocument/2006/relationships/extended-properties" Target="/docProps/app.xml" Id="R02f97e0d56984c04" /><Relationship Type="http://schemas.openxmlformats.org/officeDocument/2006/relationships/officeDocument" Target="/ppt/presentation.xml" Id="R59af7406e7ac4734" /></Relationships>
</file>

<file path=ppt/presentation.xml><?xml version="1.0" encoding="utf-8"?>
<p:presentation xmlns:p="http://schemas.openxmlformats.org/presentationml/2006/main">
  <p:sldMasterIdLst>
    <p:sldMasterId xmlns:r="http://schemas.openxmlformats.org/officeDocument/2006/relationships" id="2147483648" r:id="R05e5150cfc0d4785"/>
  </p:sldMasterIdLst>
  <p:notesMasterIdLst>
    <p:notesMasterId xmlns:r="http://schemas.openxmlformats.org/officeDocument/2006/relationships" r:id="Ra0bed1afd6de4c7a"/>
  </p:notesMasterIdLst>
  <p:sldIdLst>
    <p:sldId xmlns:r="http://schemas.openxmlformats.org/officeDocument/2006/relationships" id="256" r:id="R5bc36677880b4cf2"/>
    <p:sldId xmlns:r="http://schemas.openxmlformats.org/officeDocument/2006/relationships" id="257" r:id="Rcb6b5b74e13542d7"/>
    <p:sldId xmlns:r="http://schemas.openxmlformats.org/officeDocument/2006/relationships" id="258" r:id="R5b2a9c12cf574a0c"/>
    <p:sldId xmlns:r="http://schemas.openxmlformats.org/officeDocument/2006/relationships" id="259" r:id="Ra51ec72939db4e34"/>
    <p:sldId xmlns:r="http://schemas.openxmlformats.org/officeDocument/2006/relationships" id="260" r:id="R575b2c526db9437e"/>
    <p:sldId xmlns:r="http://schemas.openxmlformats.org/officeDocument/2006/relationships" id="261" r:id="R1fdc357094b74964"/>
    <p:sldId xmlns:r="http://schemas.openxmlformats.org/officeDocument/2006/relationships" id="262" r:id="Rf28e49a9b277495e"/>
    <p:sldId xmlns:r="http://schemas.openxmlformats.org/officeDocument/2006/relationships" id="263" r:id="R143a97a5c1314205"/>
    <p:sldId xmlns:r="http://schemas.openxmlformats.org/officeDocument/2006/relationships" id="264" r:id="Rd30bf9e0447d4d2c"/>
    <p:sldId xmlns:r="http://schemas.openxmlformats.org/officeDocument/2006/relationships" id="265" r:id="R12a02ed954274592"/>
    <p:sldId xmlns:r="http://schemas.openxmlformats.org/officeDocument/2006/relationships" id="266" r:id="R385d89ab5a514a4f"/>
    <p:sldId xmlns:r="http://schemas.openxmlformats.org/officeDocument/2006/relationships" id="267" r:id="R755b2744d15d45c9"/>
    <p:sldId xmlns:r="http://schemas.openxmlformats.org/officeDocument/2006/relationships" id="268" r:id="R550877d710ab4ce5"/>
    <p:sldId xmlns:r="http://schemas.openxmlformats.org/officeDocument/2006/relationships" id="269" r:id="R2922b93615fe43bb"/>
    <p:sldId xmlns:r="http://schemas.openxmlformats.org/officeDocument/2006/relationships" id="270" r:id="R08a4542e10c4477f"/>
    <p:sldId xmlns:r="http://schemas.openxmlformats.org/officeDocument/2006/relationships" id="271" r:id="Rf2e759c5c1c247ff"/>
    <p:sldId xmlns:r="http://schemas.openxmlformats.org/officeDocument/2006/relationships" id="272" r:id="R83f8e22f6fd34ebb"/>
    <p:sldId xmlns:r="http://schemas.openxmlformats.org/officeDocument/2006/relationships" id="273" r:id="Rd9baaf3c379e4704"/>
    <p:sldId xmlns:r="http://schemas.openxmlformats.org/officeDocument/2006/relationships" id="274" r:id="Rce1a58fddcb742ce"/>
    <p:sldId xmlns:r="http://schemas.openxmlformats.org/officeDocument/2006/relationships" id="275" r:id="R3d01a4a35a96433c"/>
    <p:sldId xmlns:r="http://schemas.openxmlformats.org/officeDocument/2006/relationships" id="276" r:id="Rb518486ea2444c45"/>
    <p:sldId xmlns:r="http://schemas.openxmlformats.org/officeDocument/2006/relationships" id="277" r:id="R19b9e6f4bfd14bb8"/>
    <p:sldId xmlns:r="http://schemas.openxmlformats.org/officeDocument/2006/relationships" id="278" r:id="Re536b8dab02f40b2"/>
    <p:sldId xmlns:r="http://schemas.openxmlformats.org/officeDocument/2006/relationships" id="279" r:id="Rbf8afa12c5a447a3"/>
    <p:sldId xmlns:r="http://schemas.openxmlformats.org/officeDocument/2006/relationships" id="280" r:id="R07f96d2de70e4d4d"/>
    <p:sldId xmlns:r="http://schemas.openxmlformats.org/officeDocument/2006/relationships" id="281" r:id="Rcb05ca0f821f4e7c"/>
    <p:sldId xmlns:r="http://schemas.openxmlformats.org/officeDocument/2006/relationships" id="282" r:id="Rf3bbfffe39da4c0e"/>
    <p:sldId xmlns:r="http://schemas.openxmlformats.org/officeDocument/2006/relationships" id="283" r:id="Rfb8d169957d947b1"/>
    <p:sldId xmlns:r="http://schemas.openxmlformats.org/officeDocument/2006/relationships" id="284" r:id="Ra8a7a8e4ac0d4a45"/>
    <p:sldId xmlns:r="http://schemas.openxmlformats.org/officeDocument/2006/relationships" id="285" r:id="R4f69216b0e7c43a7"/>
    <p:sldId xmlns:r="http://schemas.openxmlformats.org/officeDocument/2006/relationships" id="286" r:id="Rbe1fb68915ff4178"/>
    <p:sldId xmlns:r="http://schemas.openxmlformats.org/officeDocument/2006/relationships" id="287" r:id="Raf8b1c70be2c42e4"/>
    <p:sldId xmlns:r="http://schemas.openxmlformats.org/officeDocument/2006/relationships" id="288" r:id="R388205a4612b4157"/>
    <p:sldId xmlns:r="http://schemas.openxmlformats.org/officeDocument/2006/relationships" id="289" r:id="Rf0a874bd0d804005"/>
    <p:sldId xmlns:r="http://schemas.openxmlformats.org/officeDocument/2006/relationships" id="290" r:id="R755fda708610465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3fda6a75cd4ae4" /><Relationship Type="http://schemas.openxmlformats.org/officeDocument/2006/relationships/slideMaster" Target="/ppt/slideMasters/slideMaster1.xml" Id="R05e5150cfc0d4785" /><Relationship Type="http://schemas.openxmlformats.org/officeDocument/2006/relationships/notesMaster" Target="/ppt/notesMasters/notesMaster1.xml" Id="Ra0bed1afd6de4c7a" /><Relationship Type="http://schemas.openxmlformats.org/officeDocument/2006/relationships/presProps" Target="/ppt/presProps.xml" Id="R615ec2522e6744da" /><Relationship Type="http://schemas.openxmlformats.org/officeDocument/2006/relationships/tableStyles" Target="/ppt/tableStyles.xml" Id="R9d3c4b28abea4b66" /><Relationship Type="http://schemas.openxmlformats.org/officeDocument/2006/relationships/slide" Target="/ppt/slides/slide1.xml" Id="R5bc36677880b4cf2" /><Relationship Type="http://schemas.openxmlformats.org/officeDocument/2006/relationships/slide" Target="/ppt/slides/slide2.xml" Id="Rcb6b5b74e13542d7" /><Relationship Type="http://schemas.openxmlformats.org/officeDocument/2006/relationships/slide" Target="/ppt/slides/slide3.xml" Id="R5b2a9c12cf574a0c" /><Relationship Type="http://schemas.openxmlformats.org/officeDocument/2006/relationships/slide" Target="/ppt/slides/slide4.xml" Id="Ra51ec72939db4e34" /><Relationship Type="http://schemas.openxmlformats.org/officeDocument/2006/relationships/slide" Target="/ppt/slides/slide5.xml" Id="R575b2c526db9437e" /><Relationship Type="http://schemas.openxmlformats.org/officeDocument/2006/relationships/slide" Target="/ppt/slides/slide6.xml" Id="R1fdc357094b74964" /><Relationship Type="http://schemas.openxmlformats.org/officeDocument/2006/relationships/slide" Target="/ppt/slides/slide7.xml" Id="Rf28e49a9b277495e" /><Relationship Type="http://schemas.openxmlformats.org/officeDocument/2006/relationships/slide" Target="/ppt/slides/slide8.xml" Id="R143a97a5c1314205" /><Relationship Type="http://schemas.openxmlformats.org/officeDocument/2006/relationships/slide" Target="/ppt/slides/slide9.xml" Id="Rd30bf9e0447d4d2c" /><Relationship Type="http://schemas.openxmlformats.org/officeDocument/2006/relationships/slide" Target="/ppt/slides/slide10.xml" Id="R12a02ed954274592" /><Relationship Type="http://schemas.openxmlformats.org/officeDocument/2006/relationships/slide" Target="/ppt/slides/slide11.xml" Id="R385d89ab5a514a4f" /><Relationship Type="http://schemas.openxmlformats.org/officeDocument/2006/relationships/slide" Target="/ppt/slides/slide12.xml" Id="R755b2744d15d45c9" /><Relationship Type="http://schemas.openxmlformats.org/officeDocument/2006/relationships/slide" Target="/ppt/slides/slide13.xml" Id="R550877d710ab4ce5" /><Relationship Type="http://schemas.openxmlformats.org/officeDocument/2006/relationships/slide" Target="/ppt/slides/slide14.xml" Id="R2922b93615fe43bb" /><Relationship Type="http://schemas.openxmlformats.org/officeDocument/2006/relationships/slide" Target="/ppt/slides/slide15.xml" Id="R08a4542e10c4477f" /><Relationship Type="http://schemas.openxmlformats.org/officeDocument/2006/relationships/slide" Target="/ppt/slides/slide16.xml" Id="Rf2e759c5c1c247ff" /><Relationship Type="http://schemas.openxmlformats.org/officeDocument/2006/relationships/slide" Target="/ppt/slides/slide17.xml" Id="R83f8e22f6fd34ebb" /><Relationship Type="http://schemas.openxmlformats.org/officeDocument/2006/relationships/slide" Target="/ppt/slides/slide18.xml" Id="Rd9baaf3c379e4704" /><Relationship Type="http://schemas.openxmlformats.org/officeDocument/2006/relationships/slide" Target="/ppt/slides/slide19.xml" Id="Rce1a58fddcb742ce" /><Relationship Type="http://schemas.openxmlformats.org/officeDocument/2006/relationships/slide" Target="/ppt/slides/slide20.xml" Id="R3d01a4a35a96433c" /><Relationship Type="http://schemas.openxmlformats.org/officeDocument/2006/relationships/slide" Target="/ppt/slides/slide21.xml" Id="Rb518486ea2444c45" /><Relationship Type="http://schemas.openxmlformats.org/officeDocument/2006/relationships/slide" Target="/ppt/slides/slide22.xml" Id="R19b9e6f4bfd14bb8" /><Relationship Type="http://schemas.openxmlformats.org/officeDocument/2006/relationships/slide" Target="/ppt/slides/slide23.xml" Id="Re536b8dab02f40b2" /><Relationship Type="http://schemas.openxmlformats.org/officeDocument/2006/relationships/slide" Target="/ppt/slides/slide24.xml" Id="Rbf8afa12c5a447a3" /><Relationship Type="http://schemas.openxmlformats.org/officeDocument/2006/relationships/slide" Target="/ppt/slides/slide25.xml" Id="R07f96d2de70e4d4d" /><Relationship Type="http://schemas.openxmlformats.org/officeDocument/2006/relationships/slide" Target="/ppt/slides/slide26.xml" Id="Rcb05ca0f821f4e7c" /><Relationship Type="http://schemas.openxmlformats.org/officeDocument/2006/relationships/slide" Target="/ppt/slides/slide27.xml" Id="Rf3bbfffe39da4c0e" /><Relationship Type="http://schemas.openxmlformats.org/officeDocument/2006/relationships/slide" Target="/ppt/slides/slide28.xml" Id="Rfb8d169957d947b1" /><Relationship Type="http://schemas.openxmlformats.org/officeDocument/2006/relationships/slide" Target="/ppt/slides/slide29.xml" Id="Ra8a7a8e4ac0d4a45" /><Relationship Type="http://schemas.openxmlformats.org/officeDocument/2006/relationships/slide" Target="/ppt/slides/slide30.xml" Id="R4f69216b0e7c43a7" /><Relationship Type="http://schemas.openxmlformats.org/officeDocument/2006/relationships/slide" Target="/ppt/slides/slide31.xml" Id="Rbe1fb68915ff4178" /><Relationship Type="http://schemas.openxmlformats.org/officeDocument/2006/relationships/slide" Target="/ppt/slides/slide32.xml" Id="Raf8b1c70be2c42e4" /><Relationship Type="http://schemas.openxmlformats.org/officeDocument/2006/relationships/slide" Target="/ppt/slides/slide33.xml" Id="R388205a4612b4157" /><Relationship Type="http://schemas.openxmlformats.org/officeDocument/2006/relationships/slide" Target="/ppt/slides/slide34.xml" Id="Rf0a874bd0d804005" /><Relationship Type="http://schemas.openxmlformats.org/officeDocument/2006/relationships/slide" Target="/ppt/slides/slide35.xml" Id="R755fda708610465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35e14f3b0fb4c5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1a836290f544d29" /><Relationship Type="http://schemas.openxmlformats.org/officeDocument/2006/relationships/notesMaster" Target="/ppt/notesMasters/notesMaster1.xml" Id="R79ef3f1b60b24482" /></Relationships>
</file>

<file path=ppt/notesSlides/_rels/notesSlide2.xml.rels>&#65279;<?xml version="1.0" encoding="utf-8"?><Relationships xmlns="http://schemas.openxmlformats.org/package/2006/relationships"><Relationship Type="http://schemas.openxmlformats.org/officeDocument/2006/relationships/slide" Target="/ppt/slides/slide2.xml" Id="R3f3df01cf0f146ea" /><Relationship Type="http://schemas.openxmlformats.org/officeDocument/2006/relationships/notesMaster" Target="/ppt/notesMasters/notesMaster1.xml" Id="R039551ed628d46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50d6c5345ea54112" /><Relationship Type="http://schemas.openxmlformats.org/officeDocument/2006/relationships/notesMaster" Target="/ppt/notesMasters/notesMaster1.xml" Id="Rd471b14b67484fb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042388fa83348ec" /><Relationship Type="http://schemas.openxmlformats.org/officeDocument/2006/relationships/notesMaster" Target="/ppt/notesMasters/notesMaster1.xml" Id="R7afc56f5ac314b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235cfa106be54d74" /><Relationship Type="http://schemas.openxmlformats.org/officeDocument/2006/relationships/notesMaster" Target="/ppt/notesMasters/notesMaster1.xml" Id="Rbb41d4ed16814bbf" /></Relationships>
</file>

<file path=ppt/notesSlides/_rels/notesSlide6.xml.rels>&#65279;<?xml version="1.0" encoding="utf-8"?><Relationships xmlns="http://schemas.openxmlformats.org/package/2006/relationships"><Relationship Type="http://schemas.openxmlformats.org/officeDocument/2006/relationships/slide" Target="/ppt/slides/slide6.xml" Id="R05e742d3cc044c9d" /><Relationship Type="http://schemas.openxmlformats.org/officeDocument/2006/relationships/notesMaster" Target="/ppt/notesMasters/notesMaster1.xml" Id="Rf28b846cff3848ee" /></Relationships>
</file>

<file path=ppt/notesSlides/_rels/notesSlide7.xml.rels>&#65279;<?xml version="1.0" encoding="utf-8"?><Relationships xmlns="http://schemas.openxmlformats.org/package/2006/relationships"><Relationship Type="http://schemas.openxmlformats.org/officeDocument/2006/relationships/slide" Target="/ppt/slides/slide7.xml" Id="Rf82d5b1a11cf4d23" /><Relationship Type="http://schemas.openxmlformats.org/officeDocument/2006/relationships/notesMaster" Target="/ppt/notesMasters/notesMaster1.xml" Id="R5b38096e5a4142fd" /></Relationships>
</file>

<file path=ppt/notesSlides/_rels/notesSlide8.xml.rels>&#65279;<?xml version="1.0" encoding="utf-8"?><Relationships xmlns="http://schemas.openxmlformats.org/package/2006/relationships"><Relationship Type="http://schemas.openxmlformats.org/officeDocument/2006/relationships/slide" Target="/ppt/slides/slide8.xml" Id="Re3ef1ff23a544d8c" /><Relationship Type="http://schemas.openxmlformats.org/officeDocument/2006/relationships/notesMaster" Target="/ppt/notesMasters/notesMaster1.xml" Id="R7fb08a722b4547f0" /></Relationships>
</file>

<file path=ppt/notesSlides/_rels/notesSlide9.xml.rels>&#65279;<?xml version="1.0" encoding="utf-8"?><Relationships xmlns="http://schemas.openxmlformats.org/package/2006/relationships"><Relationship Type="http://schemas.openxmlformats.org/officeDocument/2006/relationships/slide" Target="/ppt/slides/slide9.xml" Id="R1be1f9c845af485a" /><Relationship Type="http://schemas.openxmlformats.org/officeDocument/2006/relationships/notesMaster" Target="/ppt/notesMasters/notesMaster1.xml" Id="R5853c2102e7e466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9a78339352d4537" /><Relationship Type="http://schemas.openxmlformats.org/officeDocument/2006/relationships/notesMaster" Target="/ppt/notesMasters/notesMaster1.xml" Id="Rfba2b887da6c454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b72c2d07791433f" /><Relationship Type="http://schemas.openxmlformats.org/officeDocument/2006/relationships/notesMaster" Target="/ppt/notesMasters/notesMaster1.xml" Id="R451f27e106dc4b8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984c13b7cc04085" /><Relationship Type="http://schemas.openxmlformats.org/officeDocument/2006/relationships/notesMaster" Target="/ppt/notesMasters/notesMaster1.xml" Id="R63b59c2bd5884f3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beb461733a44b93" /><Relationship Type="http://schemas.openxmlformats.org/officeDocument/2006/relationships/notesMaster" Target="/ppt/notesMasters/notesMaster1.xml" Id="R9dd918af29654cd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841988ff71d4626" /><Relationship Type="http://schemas.openxmlformats.org/officeDocument/2006/relationships/notesMaster" Target="/ppt/notesMasters/notesMaster1.xml" Id="Rf2319ec396c04ac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4213f8cb1664954" /><Relationship Type="http://schemas.openxmlformats.org/officeDocument/2006/relationships/notesMaster" Target="/ppt/notesMasters/notesMaster1.xml" Id="R8bfac175714e45c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0eac46994df499a" /><Relationship Type="http://schemas.openxmlformats.org/officeDocument/2006/relationships/notesMaster" Target="/ppt/notesMasters/notesMaster1.xml" Id="R14ec373d4e024b3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a07b13e06324e65" /><Relationship Type="http://schemas.openxmlformats.org/officeDocument/2006/relationships/notesMaster" Target="/ppt/notesMasters/notesMaster1.xml" Id="Rf140326be7a14b9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d454e8ca6b14496" /><Relationship Type="http://schemas.openxmlformats.org/officeDocument/2006/relationships/notesMaster" Target="/ppt/notesMasters/notesMaster1.xml" Id="Rdfeae3365645421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63c9f50d4804854" /><Relationship Type="http://schemas.openxmlformats.org/officeDocument/2006/relationships/notesMaster" Target="/ppt/notesMasters/notesMaster1.xml" Id="Rb023ff94f39440d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718dc3a050f4c1c" /><Relationship Type="http://schemas.openxmlformats.org/officeDocument/2006/relationships/notesMaster" Target="/ppt/notesMasters/notesMaster1.xml" Id="R3dd8fbdb811346a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df08e4c550744e3" /><Relationship Type="http://schemas.openxmlformats.org/officeDocument/2006/relationships/notesMaster" Target="/ppt/notesMasters/notesMaster1.xml" Id="R6104f3cddff24ef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31a7befb02f4edd" /><Relationship Type="http://schemas.openxmlformats.org/officeDocument/2006/relationships/notesMaster" Target="/ppt/notesMasters/notesMaster1.xml" Id="Rf294e82092bc45a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81ae82f590c4680" /><Relationship Type="http://schemas.openxmlformats.org/officeDocument/2006/relationships/notesMaster" Target="/ppt/notesMasters/notesMaster1.xml" Id="R93f7512e355e4da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26f1264ee484bcf" /><Relationship Type="http://schemas.openxmlformats.org/officeDocument/2006/relationships/notesMaster" Target="/ppt/notesMasters/notesMaster1.xml" Id="R03c95334586c4de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50fed4f230046c8" /><Relationship Type="http://schemas.openxmlformats.org/officeDocument/2006/relationships/notesMaster" Target="/ppt/notesMasters/notesMaster1.xml" Id="Rbb90b5a4a83542f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b7497fd3c114a84" /><Relationship Type="http://schemas.openxmlformats.org/officeDocument/2006/relationships/notesMaster" Target="/ppt/notesMasters/notesMaster1.xml" Id="Racefa94686354fa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54cfd2a3dcb4a27" /><Relationship Type="http://schemas.openxmlformats.org/officeDocument/2006/relationships/notesMaster" Target="/ppt/notesMasters/notesMaster1.xml" Id="R720a66eebdc64ec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279fc7660d3477c" /><Relationship Type="http://schemas.openxmlformats.org/officeDocument/2006/relationships/notesMaster" Target="/ppt/notesMasters/notesMaster1.xml" Id="Rde7a982d204c45e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b057416c97c485c" /><Relationship Type="http://schemas.openxmlformats.org/officeDocument/2006/relationships/notesMaster" Target="/ppt/notesMasters/notesMaster1.xml" Id="R38e151fe1a7f44f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66ae8181b6b473e" /><Relationship Type="http://schemas.openxmlformats.org/officeDocument/2006/relationships/notesMaster" Target="/ppt/notesMasters/notesMaster1.xml" Id="Recababcae9ac4dd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7e5a55fe0234bda" /><Relationship Type="http://schemas.openxmlformats.org/officeDocument/2006/relationships/notesMaster" Target="/ppt/notesMasters/notesMaster1.xml" Id="Rd9d274436bda46e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455d220cea840b0" /><Relationship Type="http://schemas.openxmlformats.org/officeDocument/2006/relationships/notesMaster" Target="/ppt/notesMasters/notesMaster1.xml" Id="R9460634a442e44c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bc7b4818468402d" /><Relationship Type="http://schemas.openxmlformats.org/officeDocument/2006/relationships/notesMaster" Target="/ppt/notesMasters/notesMaster1.xml" Id="R2526b2f6ac154e0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3db2c52826040aa" /><Relationship Type="http://schemas.openxmlformats.org/officeDocument/2006/relationships/notesMaster" Target="/ppt/notesMasters/notesMaster1.xml" Id="Rbcea9d3e0c2240a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190f35c53f445ca" /><Relationship Type="http://schemas.openxmlformats.org/officeDocument/2006/relationships/notesMaster" Target="/ppt/notesMasters/notesMaster1.xml" Id="Rb9bceaa3696d4ec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Honest validation and leakage</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Honest validation and leakage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Honest validation and leakage. Explain why this example is needed before running it.</a:t>
            </a:r>
          </a:p>
          <a:p xmlns:a="http://schemas.openxmlformats.org/drawingml/2006/main">
            <a:r>
              <a:t/>
            </a:r>
          </a:p>
          <a:p xmlns:a="http://schemas.openxmlformats.org/drawingml/2006/main">
            <a:r>
              <a:t>EXPLAIN</a:t>
            </a:r>
          </a:p>
          <a:p xmlns:a="http://schemas.openxmlformats.org/drawingml/2006/main">
            <a:r>
              <a:t>Keep related equipment records together.</a:t>
            </a:r>
          </a:p>
          <a:p xmlns:a="http://schemas.openxmlformats.org/drawingml/2006/main">
            <a:r>
              <a:t/>
            </a:r>
          </a:p>
          <a:p xmlns:a="http://schemas.openxmlformats.org/drawingml/2006/main">
            <a:r>
              <a:t>Separate training, validation and final testing.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Honest validation and leakage.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Multiple adversarial notebooks, elaborate validation curves and several cross-validation variants are extensions after the core split is understood.</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 have compared predictions with known answers. Now we control which observations may influence training, choices and the final evaluation.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We want evidence about new equipment or future observations. The way we separate data must match that use before any model or preprocessing learns from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Training validation and final test.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Training validation and final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Training validation and final test</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Training data fit the model and preprocessing.</a:t>
            </a:r>
          </a:p>
          <a:p xmlns:a="http://schemas.openxmlformats.org/drawingml/2006/main">
            <a:r>
              <a:t/>
            </a:r>
          </a:p>
          <a:p xmlns:a="http://schemas.openxmlformats.org/drawingml/2006/main">
            <a:r>
              <a:t>Validation data guide feature and model choices.</a:t>
            </a:r>
          </a:p>
          <a:p xmlns:a="http://schemas.openxmlformats.org/drawingml/2006/main">
            <a:r>
              <a:t/>
            </a:r>
          </a:p>
          <a:p xmlns:a="http://schemas.openxmlformats.org/drawingml/2006/main">
            <a:r>
              <a:t>The final test evaluates choices after they are fixed.</a:t>
            </a:r>
          </a:p>
          <a:p xmlns:a="http://schemas.openxmlformats.org/drawingml/2006/main">
            <a:r>
              <a:t/>
            </a:r>
          </a:p>
          <a:p xmlns:a="http://schemas.openxmlformats.org/drawingml/2006/main">
            <a:r>
              <a:t>A fresh test is needed if its answers influenced further choices.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Training validation and final test</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Three sets have different jobs.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Three sets have different jobs.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Three sets have different jobs</a:t>
            </a:r>
          </a:p>
          <a:p xmlns:a="http://schemas.openxmlformats.org/drawingml/2006/main">
            <a:r>
              <a:t/>
            </a:r>
          </a:p>
          <a:p xmlns:a="http://schemas.openxmlformats.org/drawingml/2006/main">
            <a:r>
              <a:t>CONNECT</a:t>
            </a:r>
          </a:p>
          <a:p xmlns:a="http://schemas.openxmlformats.org/drawingml/2006/main">
            <a:r>
              <a:t>Build on Training validation and final test. Explain why this example is needed before running it.</a:t>
            </a:r>
          </a:p>
          <a:p xmlns:a="http://schemas.openxmlformats.org/drawingml/2006/main">
            <a:r>
              <a:t/>
            </a:r>
          </a:p>
          <a:p xmlns:a="http://schemas.openxmlformats.org/drawingml/2006/main">
            <a:r>
              <a:t>EXPLAIN</a:t>
            </a:r>
          </a:p>
          <a:p xmlns:a="http://schemas.openxmlformats.org/drawingml/2006/main">
            <a:r>
              <a:t>Which set must stay sealed until choices are fixed?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Three sets have different jobs</a:t>
            </a:r>
          </a:p>
          <a:p xmlns:a="http://schemas.openxmlformats.org/drawingml/2006/main">
            <a:r>
              <a:t/>
            </a:r>
          </a:p>
          <a:p xmlns:a="http://schemas.openxmlformats.org/drawingml/2006/main">
            <a:r>
              <a:t>CONNECT</a:t>
            </a:r>
          </a:p>
          <a:p xmlns:a="http://schemas.openxmlformats.org/drawingml/2006/main">
            <a:r>
              <a:t>Build on the preceding slide: Training validation and final test.</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Generalisation and Overfitting and underfitting.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Generalisation and Overfitting and underfitting</a:t>
            </a:r>
          </a:p>
          <a:p xmlns:a="http://schemas.openxmlformats.org/drawingml/2006/main">
            <a:r>
              <a:t/>
            </a:r>
          </a:p>
          <a:p xmlns:a="http://schemas.openxmlformats.org/drawingml/2006/main">
            <a:r>
              <a:t>CONNECT</a:t>
            </a:r>
          </a:p>
          <a:p xmlns:a="http://schemas.openxmlformats.org/drawingml/2006/main">
            <a:r>
              <a:t>Build on Three sets have different jobs. Explain why this example is needed before running it.</a:t>
            </a:r>
          </a:p>
          <a:p xmlns:a="http://schemas.openxmlformats.org/drawingml/2006/main">
            <a:r>
              <a:t/>
            </a:r>
          </a:p>
          <a:p xmlns:a="http://schemas.openxmlformats.org/drawingml/2006/main">
            <a:r>
              <a:t>EXPLAIN</a:t>
            </a:r>
          </a:p>
          <a:p xmlns:a="http://schemas.openxmlformats.org/drawingml/2006/main">
            <a:r>
              <a:t>Generalisation: Performance on new cases from the intended setting, not merely on records already used.</a:t>
            </a:r>
          </a:p>
          <a:p xmlns:a="http://schemas.openxmlformats.org/drawingml/2006/main">
            <a:r>
              <a:t>Overfitting and underfitting: Overfitting captures training-specific detail that fails to transfer. Underfitting misses useful patterns. Score gaps are clues, not a complete diagnosis.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Three sets have different jobs.</a:t>
            </a:r>
          </a:p>
          <a:p xmlns:a="http://schemas.openxmlformats.org/drawingml/2006/main">
            <a:r>
              <a:t/>
            </a:r>
          </a:p>
          <a:p xmlns:a="http://schemas.openxmlformats.org/drawingml/2006/main">
            <a:r>
              <a:t>POINT TO THE DEFINITION</a:t>
            </a:r>
          </a:p>
          <a:p xmlns:a="http://schemas.openxmlformats.org/drawingml/2006/main">
            <a:r>
              <a:t>Generalisation: Performance on new cases from the intended setting, not merely on records already used.</a:t>
            </a:r>
          </a:p>
          <a:p xmlns:a="http://schemas.openxmlformats.org/drawingml/2006/main">
            <a:r>
              <a:t>Overfitting and underfitting: Overfitting captures training-specific detail that fails to transfer. Underfitting misses useful patterns. Score gaps are clues, not a complete diagnosis.</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Leakage and Group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Leakage and Group split</a:t>
            </a:r>
          </a:p>
          <a:p xmlns:a="http://schemas.openxmlformats.org/drawingml/2006/main">
            <a:r>
              <a:t/>
            </a:r>
          </a:p>
          <a:p xmlns:a="http://schemas.openxmlformats.org/drawingml/2006/main">
            <a:r>
              <a:t>CONNECT</a:t>
            </a:r>
          </a:p>
          <a:p xmlns:a="http://schemas.openxmlformats.org/drawingml/2006/main">
            <a:r>
              <a:t>Build on Generalisation and Overfitting and underfitting. Explain why this example is needed before running it.</a:t>
            </a:r>
          </a:p>
          <a:p xmlns:a="http://schemas.openxmlformats.org/drawingml/2006/main">
            <a:r>
              <a:t/>
            </a:r>
          </a:p>
          <a:p xmlns:a="http://schemas.openxmlformats.org/drawingml/2006/main">
            <a:r>
              <a:t>EXPLAIN</a:t>
            </a:r>
          </a:p>
          <a:p xmlns:a="http://schemas.openxmlformats.org/drawingml/2006/main">
            <a:r>
              <a:t>Leakage: Information enters model development that would not legitimately be available, such as the answer or information from evaluation rows.</a:t>
            </a:r>
          </a:p>
          <a:p xmlns:a="http://schemas.openxmlformats.org/drawingml/2006/main">
            <a:r>
              <a:t>Group split: Keep all observations from the same equipment in one partition when the goal is prediction for unseen equipment.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POINT TO THE DEFINITION</a:t>
            </a:r>
          </a:p>
          <a:p xmlns:a="http://schemas.openxmlformats.org/drawingml/2006/main">
            <a:r>
              <a:t>Leakage: Information enters model development that would not legitimately be available, such as the answer or information from evaluation rows.</a:t>
            </a:r>
          </a:p>
          <a:p xmlns:a="http://schemas.openxmlformats.org/drawingml/2006/main">
            <a:r>
              <a:t>Group split: Keep all observations from the same equipment in one partition when the goal is prediction for unseen equipment.</a:t>
            </a:r>
          </a:p>
          <a:p xmlns:a="http://schemas.openxmlformats.org/drawingml/2006/main">
            <a:r>
              <a:t/>
            </a:r>
          </a:p>
          <a:p xmlns:a="http://schemas.openxmlformats.org/drawingml/2006/main">
            <a:r>
              <a:t>NEXT</a:t>
            </a:r>
          </a:p>
          <a:p xmlns:a="http://schemas.openxmlformats.org/drawingml/2006/main">
            <a:r>
              <a:t>Repeated equipment needs group separation.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Repeated equipment needs group separation.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Repeated equipment needs group separation</a:t>
            </a:r>
          </a:p>
          <a:p xmlns:a="http://schemas.openxmlformats.org/drawingml/2006/main">
            <a:r>
              <a:t/>
            </a:r>
          </a:p>
          <a:p xmlns:a="http://schemas.openxmlformats.org/drawingml/2006/main">
            <a:r>
              <a:t>CONNECT</a:t>
            </a:r>
          </a:p>
          <a:p xmlns:a="http://schemas.openxmlformats.org/drawingml/2006/main">
            <a:r>
              <a:t>Build on Leakage and Group split. Explain why this example is needed before running it.</a:t>
            </a:r>
          </a:p>
          <a:p xmlns:a="http://schemas.openxmlformats.org/drawingml/2006/main">
            <a:r>
              <a:t/>
            </a:r>
          </a:p>
          <a:p xmlns:a="http://schemas.openxmlformats.org/drawingml/2006/main">
            <a:r>
              <a:t>EXPLAIN</a:t>
            </a:r>
          </a:p>
          <a:p xmlns:a="http://schemas.openxmlformats.org/drawingml/2006/main">
            <a:r>
              <a:t>Readings from the same equipment can share patterns.</a:t>
            </a:r>
          </a:p>
          <a:p xmlns:a="http://schemas.openxmlformats.org/drawingml/2006/main">
            <a:r>
              <a:t/>
            </a:r>
          </a:p>
          <a:p xmlns:a="http://schemas.openxmlformats.org/drawingml/2006/main">
            <a:r>
              <a:t>Putting that equipment in both training and validation can make evaluation too easy.</a:t>
            </a:r>
          </a:p>
          <a:p xmlns:a="http://schemas.openxmlformats.org/drawingml/2006/main">
            <a:r>
              <a:t/>
            </a:r>
          </a:p>
          <a:p xmlns:a="http://schemas.openxmlformats.org/drawingml/2006/main">
            <a:r>
              <a:t>For a new-equipment question, keep every row for an equipment ID in one partition.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Repeated equipment needs group separation</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Keeping equipment groups together.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Keeping equipment groups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Keeping equipment groups together</a:t>
            </a:r>
          </a:p>
          <a:p xmlns:a="http://schemas.openxmlformats.org/drawingml/2006/main">
            <a:r>
              <a:t/>
            </a:r>
          </a:p>
          <a:p xmlns:a="http://schemas.openxmlformats.org/drawingml/2006/main">
            <a:r>
              <a:t>CONNECT</a:t>
            </a:r>
          </a:p>
          <a:p xmlns:a="http://schemas.openxmlformats.org/drawingml/2006/main">
            <a:r>
              <a:t>Build on Repeated equipment needs group separation. Explain why this example is needed before running it.</a:t>
            </a:r>
          </a:p>
          <a:p xmlns:a="http://schemas.openxmlformats.org/drawingml/2006/main">
            <a:r>
              <a:t/>
            </a:r>
          </a:p>
          <a:p xmlns:a="http://schemas.openxmlformats.org/drawingml/2006/main">
            <a:r>
              <a:t>EXPLAIN</a:t>
            </a:r>
          </a:p>
          <a:p xmlns:a="http://schemas.openxmlformats.org/drawingml/2006/main">
            <a:r>
              <a:t>This toy split explains group separation.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Keeping equipment groups together</a:t>
            </a:r>
          </a:p>
          <a:p xmlns:a="http://schemas.openxmlformats.org/drawingml/2006/main">
            <a:r>
              <a:t/>
            </a:r>
          </a:p>
          <a:p xmlns:a="http://schemas.openxmlformats.org/drawingml/2006/main">
            <a:r>
              <a:t>CONNECT</a:t>
            </a:r>
          </a:p>
          <a:p xmlns:a="http://schemas.openxmlformats.org/drawingml/2006/main">
            <a:r>
              <a:t>Build on the preceding slide: Repeated equipment needs group separation.</a:t>
            </a:r>
          </a:p>
          <a:p xmlns:a="http://schemas.openxmlformats.org/drawingml/2006/main">
            <a:r>
              <a:t/>
            </a:r>
          </a:p>
          <a:p xmlns:a="http://schemas.openxmlformats.org/drawingml/2006/main">
            <a:r>
              <a:t>LECTURER CUE</a:t>
            </a:r>
          </a:p>
          <a:p xmlns:a="http://schemas.openxmlformats.org/drawingml/2006/main">
            <a:r>
              <a:t>This toy split explains group separation. It does not establish a representative evaluation with only two pieces of equipment.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Worked example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in Python (1/2)</a:t>
            </a:r>
          </a:p>
          <a:p xmlns:a="http://schemas.openxmlformats.org/drawingml/2006/main">
            <a:r>
              <a:t/>
            </a:r>
          </a:p>
          <a:p xmlns:a="http://schemas.openxmlformats.org/drawingml/2006/main">
            <a:r>
              <a:t>CONNECT</a:t>
            </a:r>
          </a:p>
          <a:p xmlns:a="http://schemas.openxmlformats.org/drawingml/2006/main">
            <a:r>
              <a:t>Build on Keeping equipment groups together.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(1/2)</a:t>
            </a:r>
          </a:p>
          <a:p xmlns:a="http://schemas.openxmlformats.org/drawingml/2006/main">
            <a:r>
              <a:t/>
            </a:r>
          </a:p>
          <a:p xmlns:a="http://schemas.openxmlformats.org/drawingml/2006/main">
            <a:r>
              <a:t>CONNECT</a:t>
            </a:r>
          </a:p>
          <a:p xmlns:a="http://schemas.openxmlformats.org/drawingml/2006/main">
            <a:r>
              <a:t>Build on the preceding slide: Keeping equipment groups together.</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Complete practice code:</a:t>
            </a:r>
          </a:p>
          <a:p xmlns:a="http://schemas.openxmlformats.org/drawingml/2006/main">
            <a:r>
              <a:t>records = [{"id": 1, "equipment": "A"},</a:t>
            </a:r>
          </a:p>
          <a:p xmlns:a="http://schemas.openxmlformats.org/drawingml/2006/main">
            <a:r>
              <a:t>           {"id": 2, "equipment": "A"},</a:t>
            </a:r>
          </a:p>
          <a:p xmlns:a="http://schemas.openxmlformats.org/drawingml/2006/main">
            <a:r>
              <a:t>           {"id": 3, "equipment": "B"}]</a:t>
            </a:r>
          </a:p>
          <a:p xmlns:a="http://schemas.openxmlformats.org/drawingml/2006/main">
            <a:r>
              <a:t>train = []</a:t>
            </a:r>
          </a:p>
          <a:p xmlns:a="http://schemas.openxmlformats.org/drawingml/2006/main">
            <a:r>
              <a:t>validation = []</a:t>
            </a:r>
          </a:p>
          <a:p xmlns:a="http://schemas.openxmlformats.org/drawingml/2006/main">
            <a:r>
              <a:t>for row in records:</a:t>
            </a:r>
          </a:p>
          <a:p xmlns:a="http://schemas.openxmlformats.org/drawingml/2006/main">
            <a:r>
              <a:t>    if row["equipment"] == "A":</a:t>
            </a:r>
          </a:p>
          <a:p xmlns:a="http://schemas.openxmlformats.org/drawingml/2006/main">
            <a:r>
              <a:t>        train.append(row["id"])</a:t>
            </a:r>
          </a:p>
          <a:p xmlns:a="http://schemas.openxmlformats.org/drawingml/2006/main">
            <a:r>
              <a:t>    else:</a:t>
            </a:r>
          </a:p>
          <a:p xmlns:a="http://schemas.openxmlformats.org/drawingml/2006/main">
            <a:r>
              <a:t>        validation.append(row["id"])</a:t>
            </a:r>
          </a:p>
          <a:p xmlns:a="http://schemas.openxmlformats.org/drawingml/2006/main">
            <a:r>
              <a:t>print(train, validation)</a:t>
            </a:r>
          </a:p>
          <a:p xmlns:a="http://schemas.openxmlformats.org/drawingml/2006/main">
            <a:r>
              <a:t/>
            </a:r>
          </a:p>
          <a:p xmlns:a="http://schemas.openxmlformats.org/drawingml/2006/main">
            <a:r>
              <a:t>EXPLAIN IN ORDINARY WORDS</a:t>
            </a:r>
          </a:p>
          <a:p xmlns:a="http://schemas.openxmlformats.org/drawingml/2006/main">
            <a:r>
              <a:t>A dictionary pairs a key with a value. For {"unit":"A", "reading":4}, record["reading"] looks up the key and gives 4. The key is not a list position.</a:t>
            </a:r>
          </a:p>
          <a:p xmlns:a="http://schemas.openxmlformats.org/drawingml/2006/main">
            <a:r>
              <a:t/>
            </a:r>
          </a:p>
          <a:p xmlns:a="http://schemas.openxmlformats.org/drawingml/2006/main">
            <a:r>
              <a:t>CHECK AND EXPECTED ANSWER</a:t>
            </a:r>
          </a:p>
          <a:p xmlns:a="http://schemas.openxmlformats.org/drawingml/2006/main">
            <a:r>
              <a:t>What happens if the key is spelled "Reading" instead? It is a different key; direct lookup can raise KeyError.</a:t>
            </a:r>
          </a:p>
          <a:p xmlns:a="http://schemas.openxmlformats.org/drawingml/2006/main">
            <a:r>
              <a:t/>
            </a:r>
          </a:p>
          <a:p xmlns:a="http://schemas.openxmlformats.org/drawingml/2006/main">
            <a:r>
              <a:t>IF LEARNERS ARE STUCK</a:t>
            </a:r>
          </a:p>
          <a:p xmlns:a="http://schemas.openxmlformats.org/drawingml/2006/main">
            <a:r>
              <a:t>Point to each key and its value. Read the colon as associates-with, then do one exact lookup.</a:t>
            </a:r>
          </a:p>
          <a:p xmlns:a="http://schemas.openxmlformats.org/drawingml/2006/main">
            <a:r>
              <a:t/>
            </a:r>
          </a:p>
          <a:p xmlns:a="http://schemas.openxmlformats.org/drawingml/2006/main">
            <a:r>
              <a:t>WALK THROUGH THIS CODE</a:t>
            </a:r>
          </a:p>
          <a:p xmlns:a="http://schemas.openxmlformats.org/drawingml/2006/main">
            <a:r>
              <a:t>Square brackets create a list or select an item.</a:t>
            </a:r>
          </a:p>
          <a:p xmlns:a="http://schemas.openxmlformats.org/drawingml/2006/main">
            <a:r>
              <a:t>Braces hold dictionary key: value pairs here.</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in Python (2/2)</a:t>
            </a:r>
          </a:p>
          <a:p xmlns:a="http://schemas.openxmlformats.org/drawingml/2006/main">
            <a:r>
              <a:t/>
            </a:r>
          </a:p>
          <a:p xmlns:a="http://schemas.openxmlformats.org/drawingml/2006/main">
            <a:r>
              <a:t>CONNECT</a:t>
            </a:r>
          </a:p>
          <a:p xmlns:a="http://schemas.openxmlformats.org/drawingml/2006/main">
            <a:r>
              <a:t>Build on Validation and leakage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(2/2)</a:t>
            </a:r>
          </a:p>
          <a:p xmlns:a="http://schemas.openxmlformats.org/drawingml/2006/main">
            <a:r>
              <a:t/>
            </a:r>
          </a:p>
          <a:p xmlns:a="http://schemas.openxmlformats.org/drawingml/2006/main">
            <a:r>
              <a:t>CONNECT</a:t>
            </a:r>
          </a:p>
          <a:p xmlns:a="http://schemas.openxmlformats.org/drawingml/2006/main">
            <a:r>
              <a:t>Build on the preceding slide: Worked example (1/2).</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Complete practice code:</a:t>
            </a:r>
          </a:p>
          <a:p xmlns:a="http://schemas.openxmlformats.org/drawingml/2006/main">
            <a:r>
              <a:t>records = [{"id": 1, "equipment": "A"},</a:t>
            </a:r>
          </a:p>
          <a:p xmlns:a="http://schemas.openxmlformats.org/drawingml/2006/main">
            <a:r>
              <a:t>           {"id": 2, "equipment": "A"},</a:t>
            </a:r>
          </a:p>
          <a:p xmlns:a="http://schemas.openxmlformats.org/drawingml/2006/main">
            <a:r>
              <a:t>           {"id": 3, "equipment": "B"}]</a:t>
            </a:r>
          </a:p>
          <a:p xmlns:a="http://schemas.openxmlformats.org/drawingml/2006/main">
            <a:r>
              <a:t>train = []</a:t>
            </a:r>
          </a:p>
          <a:p xmlns:a="http://schemas.openxmlformats.org/drawingml/2006/main">
            <a:r>
              <a:t>validation = []</a:t>
            </a:r>
          </a:p>
          <a:p xmlns:a="http://schemas.openxmlformats.org/drawingml/2006/main">
            <a:r>
              <a:t>for row in records:</a:t>
            </a:r>
          </a:p>
          <a:p xmlns:a="http://schemas.openxmlformats.org/drawingml/2006/main">
            <a:r>
              <a:t>    if row["equipment"] == "A":</a:t>
            </a:r>
          </a:p>
          <a:p xmlns:a="http://schemas.openxmlformats.org/drawingml/2006/main">
            <a:r>
              <a:t>        train.append(row["id"])</a:t>
            </a:r>
          </a:p>
          <a:p xmlns:a="http://schemas.openxmlformats.org/drawingml/2006/main">
            <a:r>
              <a:t>    else:</a:t>
            </a:r>
          </a:p>
          <a:p xmlns:a="http://schemas.openxmlformats.org/drawingml/2006/main">
            <a:r>
              <a:t>        validation.append(row["id"])</a:t>
            </a:r>
          </a:p>
          <a:p xmlns:a="http://schemas.openxmlformats.org/drawingml/2006/main">
            <a:r>
              <a:t>print(train, validation)</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results</a:t>
            </a:r>
          </a:p>
          <a:p xmlns:a="http://schemas.openxmlformats.org/drawingml/2006/main">
            <a:r>
              <a:t/>
            </a:r>
          </a:p>
          <a:p xmlns:a="http://schemas.openxmlformats.org/drawingml/2006/main">
            <a:r>
              <a:t>CONNECT</a:t>
            </a:r>
          </a:p>
          <a:p xmlns:a="http://schemas.openxmlformats.org/drawingml/2006/main">
            <a:r>
              <a:t>Build on Validation and leakage in Python (2/2). Explain why this example is needed before running it.</a:t>
            </a:r>
          </a:p>
          <a:p xmlns:a="http://schemas.openxmlformats.org/drawingml/2006/main">
            <a:r>
              <a:t/>
            </a:r>
          </a:p>
          <a:p xmlns:a="http://schemas.openxmlformats.org/drawingml/2006/main">
            <a:r>
              <a:t>EXPLAIN</a:t>
            </a:r>
          </a:p>
          <a:p xmlns:a="http://schemas.openxmlformats.org/drawingml/2006/main">
            <a:r>
              <a:t>[1, 2] [3]</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 (2/2).</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Preprocessing and pipeline.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Preprocessing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and pipeline</a:t>
            </a:r>
          </a:p>
          <a:p xmlns:a="http://schemas.openxmlformats.org/drawingml/2006/main">
            <a:r>
              <a:t/>
            </a:r>
          </a:p>
          <a:p xmlns:a="http://schemas.openxmlformats.org/drawingml/2006/main">
            <a:r>
              <a:t>CONNECT</a:t>
            </a:r>
          </a:p>
          <a:p xmlns:a="http://schemas.openxmlformats.org/drawingml/2006/main">
            <a:r>
              <a:t>Build on Validation and leakage results. Explain why this example is needed before running it.</a:t>
            </a:r>
          </a:p>
          <a:p xmlns:a="http://schemas.openxmlformats.org/drawingml/2006/main">
            <a:r>
              <a:t/>
            </a:r>
          </a:p>
          <a:p xmlns:a="http://schemas.openxmlformats.org/drawingml/2006/main">
            <a:r>
              <a:t>EXPLAIN</a:t>
            </a:r>
          </a:p>
          <a:p xmlns:a="http://schemas.openxmlformats.org/drawingml/2006/main">
            <a:r>
              <a:t>Preprocessing and pipeline: Preprocessing changes inputs, for example filling missing values. A pipeline fits these steps on training data and applies the same fitted changes to new inputs.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Preprocessing and pipeline</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Preprocessing and pipeline: Preprocessing changes inputs, for example filling missing values. A pipeline fits these steps on training data and applies the same fitted changes to new inputs.</a:t>
            </a:r>
          </a:p>
          <a:p xmlns:a="http://schemas.openxmlformats.org/drawingml/2006/main">
            <a:r>
              <a:t/>
            </a:r>
          </a:p>
          <a:p xmlns:a="http://schemas.openxmlformats.org/drawingml/2006/main">
            <a:r>
              <a:t>NEXT</a:t>
            </a:r>
          </a:p>
          <a:p xmlns:a="http://schemas.openxmlformats.org/drawingml/2006/main">
            <a:r>
              <a:t>A learned cleaning value comes from training.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learned cleaning value comes from training.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learned cleaning value comes from training</a:t>
            </a:r>
          </a:p>
          <a:p xmlns:a="http://schemas.openxmlformats.org/drawingml/2006/main">
            <a:r>
              <a:t/>
            </a:r>
          </a:p>
          <a:p xmlns:a="http://schemas.openxmlformats.org/drawingml/2006/main">
            <a:r>
              <a:t>CONNECT</a:t>
            </a:r>
          </a:p>
          <a:p xmlns:a="http://schemas.openxmlformats.org/drawingml/2006/main">
            <a:r>
              <a:t>Build on Preprocessing and pipeline. Explain why this example is needed before running it.</a:t>
            </a:r>
          </a:p>
          <a:p xmlns:a="http://schemas.openxmlformats.org/drawingml/2006/main">
            <a:r>
              <a:t/>
            </a:r>
          </a:p>
          <a:p xmlns:a="http://schemas.openxmlformats.org/drawingml/2006/main">
            <a:r>
              <a:t>EXPLAIN</a:t>
            </a:r>
          </a:p>
          <a:p xmlns:a="http://schemas.openxmlformats.org/drawingml/2006/main">
            <a:r>
              <a:t>The training readings are 20, 22 and 24. Their median is 22.</a:t>
            </a:r>
          </a:p>
          <a:p xmlns:a="http://schemas.openxmlformats.org/drawingml/2006/main">
            <a:r>
              <a:t/>
            </a:r>
          </a:p>
          <a:p xmlns:a="http://schemas.openxmlformats.org/drawingml/2006/main">
            <a:r>
              <a:t>A missing validation value receives the already learned 22.</a:t>
            </a:r>
          </a:p>
          <a:p xmlns:a="http://schemas.openxmlformats.org/drawingml/2006/main">
            <a:r>
              <a:t/>
            </a:r>
          </a:p>
          <a:p xmlns:a="http://schemas.openxmlformats.org/drawingml/2006/main">
            <a:r>
              <a:t>A new validation reading of 40 must not change the fitted median.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learned cleaning value comes from training</a:t>
            </a:r>
          </a:p>
          <a:p xmlns:a="http://schemas.openxmlformats.org/drawingml/2006/main">
            <a:r>
              <a:t/>
            </a:r>
          </a:p>
          <a:p xmlns:a="http://schemas.openxmlformats.org/drawingml/2006/main">
            <a:r>
              <a:t>CONNECT</a:t>
            </a:r>
          </a:p>
          <a:p xmlns:a="http://schemas.openxmlformats.org/drawingml/2006/main">
            <a:r>
              <a:t>Build on the preceding slide: Preprocessing and pipeline.</a:t>
            </a:r>
          </a:p>
          <a:p xmlns:a="http://schemas.openxmlformats.org/drawingml/2006/main">
            <a:r>
              <a:t/>
            </a:r>
          </a:p>
          <a:p xmlns:a="http://schemas.openxmlformats.org/drawingml/2006/main">
            <a:r>
              <a:t>LECTURER CUE</a:t>
            </a:r>
          </a:p>
          <a:p xmlns:a="http://schemas.openxmlformats.org/drawingml/2006/main">
            <a:r>
              <a:t>Fit a missing-value replacement on training values [20, 22, 24]: the median is 22. A new hotter observation must not change that fitted median.</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A training-only fill value.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training-only fill value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training-only fill value in Python (1/2)</a:t>
            </a:r>
          </a:p>
          <a:p xmlns:a="http://schemas.openxmlformats.org/drawingml/2006/main">
            <a:r>
              <a:t/>
            </a:r>
          </a:p>
          <a:p xmlns:a="http://schemas.openxmlformats.org/drawingml/2006/main">
            <a:r>
              <a:t>CONNECT</a:t>
            </a:r>
          </a:p>
          <a:p xmlns:a="http://schemas.openxmlformats.org/drawingml/2006/main">
            <a:r>
              <a:t>Build on A learned cleaning value comes from training.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training-only fill value in Python (1/2)</a:t>
            </a:r>
          </a:p>
          <a:p xmlns:a="http://schemas.openxmlformats.org/drawingml/2006/main">
            <a:r>
              <a:t/>
            </a:r>
          </a:p>
          <a:p xmlns:a="http://schemas.openxmlformats.org/drawingml/2006/main">
            <a:r>
              <a:t>CONNECT</a:t>
            </a:r>
          </a:p>
          <a:p xmlns:a="http://schemas.openxmlformats.org/drawingml/2006/main">
            <a:r>
              <a:t>Build on the preceding slide: A training-only fill value.</a:t>
            </a:r>
          </a:p>
          <a:p xmlns:a="http://schemas.openxmlformats.org/drawingml/2006/main">
            <a:r>
              <a:t/>
            </a:r>
          </a:p>
          <a:p xmlns:a="http://schemas.openxmlformats.org/drawingml/2006/main">
            <a:r>
              <a:t>LECTURER CUE</a:t>
            </a:r>
          </a:p>
          <a:p xmlns:a="http://schemas.openxmlformats.org/drawingml/2006/main">
            <a:r>
              <a:t>The median is learned from training observations. Adding a new validation observation must not change it. A real modelling pipeline follows this same rule for each learned step.</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training_values = [20, 22, 24]</a:t>
            </a:r>
          </a:p>
          <a:p xmlns:a="http://schemas.openxmlformats.org/drawingml/2006/main">
            <a:r>
              <a:t>validation_values = [None, 40]</a:t>
            </a:r>
          </a:p>
          <a:p xmlns:a="http://schemas.openxmlformats.org/drawingml/2006/main">
            <a:r>
              <a:t>training_median = median(training_values)</a:t>
            </a:r>
          </a:p>
          <a:p xmlns:a="http://schemas.openxmlformats.org/drawingml/2006/main">
            <a:r>
              <a:t>filled_validation = []</a:t>
            </a:r>
          </a:p>
          <a:p xmlns:a="http://schemas.openxmlformats.org/drawingml/2006/main">
            <a:r>
              <a:t>for value in validation_values:</a:t>
            </a:r>
          </a:p>
          <a:p xmlns:a="http://schemas.openxmlformats.org/drawingml/2006/main">
            <a:r>
              <a:t>    if value is None:</a:t>
            </a:r>
          </a:p>
          <a:p xmlns:a="http://schemas.openxmlformats.org/drawingml/2006/main">
            <a:r>
              <a:t>        filled_validation.append(training_median)</a:t>
            </a:r>
          </a:p>
          <a:p xmlns:a="http://schemas.openxmlformats.org/drawingml/2006/main">
            <a:r>
              <a:t>    else:</a:t>
            </a:r>
          </a:p>
          <a:p xmlns:a="http://schemas.openxmlformats.org/drawingml/2006/main">
            <a:r>
              <a:t>        filled_validation.append(value)</a:t>
            </a:r>
          </a:p>
          <a:p xmlns:a="http://schemas.openxmlformats.org/drawingml/2006/main">
            <a:r>
              <a:t>print(training_median, filled_validation)</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training-only fill value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training-only fill value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training-only fill value in Python (2/2)</a:t>
            </a:r>
          </a:p>
          <a:p xmlns:a="http://schemas.openxmlformats.org/drawingml/2006/main">
            <a:r>
              <a:t/>
            </a:r>
          </a:p>
          <a:p xmlns:a="http://schemas.openxmlformats.org/drawingml/2006/main">
            <a:r>
              <a:t>CONNECT</a:t>
            </a:r>
          </a:p>
          <a:p xmlns:a="http://schemas.openxmlformats.org/drawingml/2006/main">
            <a:r>
              <a:t>Build on A training-only fill value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training-only fill value in Python (2/2)</a:t>
            </a:r>
          </a:p>
          <a:p xmlns:a="http://schemas.openxmlformats.org/drawingml/2006/main">
            <a:r>
              <a:t/>
            </a:r>
          </a:p>
          <a:p xmlns:a="http://schemas.openxmlformats.org/drawingml/2006/main">
            <a:r>
              <a:t>CONNECT</a:t>
            </a:r>
          </a:p>
          <a:p xmlns:a="http://schemas.openxmlformats.org/drawingml/2006/main">
            <a:r>
              <a:t>Build on the preceding slide: A training-only fill value in Python (1/2).</a:t>
            </a:r>
          </a:p>
          <a:p xmlns:a="http://schemas.openxmlformats.org/drawingml/2006/main">
            <a:r>
              <a:t/>
            </a:r>
          </a:p>
          <a:p xmlns:a="http://schemas.openxmlformats.org/drawingml/2006/main">
            <a:r>
              <a:t>LECTURER CUE</a:t>
            </a:r>
          </a:p>
          <a:p xmlns:a="http://schemas.openxmlformats.org/drawingml/2006/main">
            <a:r>
              <a:t>The median is learned from training observations. Adding a new validation observation must not change it. A real modelling pipeline follows this same rule for each learned step.</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training_values = [20, 22, 24]</a:t>
            </a:r>
          </a:p>
          <a:p xmlns:a="http://schemas.openxmlformats.org/drawingml/2006/main">
            <a:r>
              <a:t>validation_values = [None, 40]</a:t>
            </a:r>
          </a:p>
          <a:p xmlns:a="http://schemas.openxmlformats.org/drawingml/2006/main">
            <a:r>
              <a:t>training_median = median(training_values)</a:t>
            </a:r>
          </a:p>
          <a:p xmlns:a="http://schemas.openxmlformats.org/drawingml/2006/main">
            <a:r>
              <a:t>filled_validation = []</a:t>
            </a:r>
          </a:p>
          <a:p xmlns:a="http://schemas.openxmlformats.org/drawingml/2006/main">
            <a:r>
              <a:t>for value in validation_values:</a:t>
            </a:r>
          </a:p>
          <a:p xmlns:a="http://schemas.openxmlformats.org/drawingml/2006/main">
            <a:r>
              <a:t>    if value is None:</a:t>
            </a:r>
          </a:p>
          <a:p xmlns:a="http://schemas.openxmlformats.org/drawingml/2006/main">
            <a:r>
              <a:t>        filled_validation.append(training_median)</a:t>
            </a:r>
          </a:p>
          <a:p xmlns:a="http://schemas.openxmlformats.org/drawingml/2006/main">
            <a:r>
              <a:t>    else:</a:t>
            </a:r>
          </a:p>
          <a:p xmlns:a="http://schemas.openxmlformats.org/drawingml/2006/main">
            <a:r>
              <a:t>        filled_validation.append(value)</a:t>
            </a:r>
          </a:p>
          <a:p xmlns:a="http://schemas.openxmlformats.org/drawingml/2006/main">
            <a:r>
              <a:t>print(training_median, filled_validation)</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Leakage gives away information from the future.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Leakage gives away information from the future.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Leakage gives away information from the future</a:t>
            </a:r>
          </a:p>
          <a:p xmlns:a="http://schemas.openxmlformats.org/drawingml/2006/main">
            <a:r>
              <a:t/>
            </a:r>
          </a:p>
          <a:p xmlns:a="http://schemas.openxmlformats.org/drawingml/2006/main">
            <a:r>
              <a:t>CONNECT</a:t>
            </a:r>
          </a:p>
          <a:p xmlns:a="http://schemas.openxmlformats.org/drawingml/2006/main">
            <a:r>
              <a:t>Build on A training-only fill value in Python (2/2). Explain why this example is needed before running it.</a:t>
            </a:r>
          </a:p>
          <a:p xmlns:a="http://schemas.openxmlformats.org/drawingml/2006/main">
            <a:r>
              <a:t/>
            </a:r>
          </a:p>
          <a:p xmlns:a="http://schemas.openxmlformats.org/drawingml/2006/main">
            <a:r>
              <a:t>EXPLAIN</a:t>
            </a:r>
          </a:p>
          <a:p xmlns:a="http://schemas.openxmlformats.org/drawingml/2006/main">
            <a:r>
              <a:t>Suppose we predict a fault before an inspection.</a:t>
            </a:r>
          </a:p>
          <a:p xmlns:a="http://schemas.openxmlformats.org/drawingml/2006/main">
            <a:r>
              <a:t/>
            </a:r>
          </a:p>
          <a:p xmlns:a="http://schemas.openxmlformats.org/drawingml/2006/main">
            <a:r>
              <a:t>final_inspection_result exists only after the inspection.</a:t>
            </a:r>
          </a:p>
          <a:p xmlns:a="http://schemas.openxmlformats.org/drawingml/2006/main">
            <a:r>
              <a:t/>
            </a:r>
          </a:p>
          <a:p xmlns:a="http://schemas.openxmlformats.org/drawingml/2006/main">
            <a:r>
              <a:t>Using it as an input would answer a different, easier question than the one we intended.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Leakage gives away information from the future</a:t>
            </a:r>
          </a:p>
          <a:p xmlns:a="http://schemas.openxmlformats.org/drawingml/2006/main">
            <a:r>
              <a:t/>
            </a:r>
          </a:p>
          <a:p xmlns:a="http://schemas.openxmlformats.org/drawingml/2006/main">
            <a:r>
              <a:t>CONNECT</a:t>
            </a:r>
          </a:p>
          <a:p xmlns:a="http://schemas.openxmlformats.org/drawingml/2006/main">
            <a:r>
              <a:t>Build on the preceding slide: A training-only fill value in Python (2/2).</a:t>
            </a:r>
          </a:p>
          <a:p xmlns:a="http://schemas.openxmlformats.org/drawingml/2006/main">
            <a:r>
              <a:t/>
            </a:r>
          </a:p>
          <a:p xmlns:a="http://schemas.openxmlformats.org/drawingml/2006/main">
            <a:r>
              <a:t>LECTURER CUE</a:t>
            </a:r>
          </a:p>
          <a:p xmlns:a="http://schemas.openxmlformats.org/drawingml/2006/main">
            <a:r>
              <a:t>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Cross-validation.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Parameters hyperparameters and a fold.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Parameters hyperparameters and a fold</a:t>
            </a:r>
          </a:p>
          <a:p xmlns:a="http://schemas.openxmlformats.org/drawingml/2006/main">
            <a:r>
              <a:t/>
            </a:r>
          </a:p>
          <a:p xmlns:a="http://schemas.openxmlformats.org/drawingml/2006/main">
            <a:r>
              <a:t>CONNECT</a:t>
            </a:r>
          </a:p>
          <a:p xmlns:a="http://schemas.openxmlformats.org/drawingml/2006/main">
            <a:r>
              <a:t>Build on Leakage gives away information from the future. Explain why this example is needed before running it.</a:t>
            </a:r>
          </a:p>
          <a:p xmlns:a="http://schemas.openxmlformats.org/drawingml/2006/main">
            <a:r>
              <a:t/>
            </a:r>
          </a:p>
          <a:p xmlns:a="http://schemas.openxmlformats.org/drawingml/2006/main">
            <a:r>
              <a:t>EXPLAIN</a:t>
            </a:r>
          </a:p>
          <a:p xmlns:a="http://schemas.openxmlformats.org/drawingml/2006/main">
            <a:r>
              <a:t>A parameter is learned during fitting, such as a line’s slope. A hyperparameter is a setting chosen around fitting, such as a tree’s max_depth.</a:t>
            </a:r>
          </a:p>
          <a:p xmlns:a="http://schemas.openxmlformats.org/drawingml/2006/main">
            <a:r>
              <a:t/>
            </a:r>
          </a:p>
          <a:p xmlns:a="http://schemas.openxmlformats.org/drawingml/2006/main">
            <a:r>
              <a:t>A fold is one part of the development data used for a validation turn. Refit the entire preprocessing and model on the other parts for that turn.</a:t>
            </a:r>
          </a:p>
          <a:p xmlns:a="http://schemas.openxmlformats.org/drawingml/2006/main">
            <a:r>
              <a:t/>
            </a:r>
          </a:p>
          <a:p xmlns:a="http://schemas.openxmlformats.org/drawingml/2006/main">
            <a:r>
              <a:t>Compare candidate settings using validation evidence. Keep the final test outside that selection process.</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Cross-validation.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Cross-validation</a:t>
            </a:r>
          </a:p>
          <a:p xmlns:a="http://schemas.openxmlformats.org/drawingml/2006/main">
            <a:r>
              <a:t/>
            </a:r>
          </a:p>
          <a:p xmlns:a="http://schemas.openxmlformats.org/drawingml/2006/main">
            <a:r>
              <a:t>CONNECT</a:t>
            </a:r>
          </a:p>
          <a:p xmlns:a="http://schemas.openxmlformats.org/drawingml/2006/main">
            <a:r>
              <a:t>Build on Parameters hyperparameters and a fold. Explain why this example is needed before running it.</a:t>
            </a:r>
          </a:p>
          <a:p xmlns:a="http://schemas.openxmlformats.org/drawingml/2006/main">
            <a:r>
              <a:t/>
            </a:r>
          </a:p>
          <a:p xmlns:a="http://schemas.openxmlformats.org/drawingml/2006/main">
            <a:r>
              <a:t>EXPLAIN</a:t>
            </a:r>
          </a:p>
          <a:p xmlns:a="http://schemas.openxmlformats.org/drawingml/2006/main">
            <a:r>
              <a:t>Cross-validation: Repeat fitting and validation on several partitions of the training/development data. Respect groups or time order. Keep the final test outside tuning.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Cross-validation</a:t>
            </a:r>
          </a:p>
          <a:p xmlns:a="http://schemas.openxmlformats.org/drawingml/2006/main">
            <a:r>
              <a:t/>
            </a:r>
          </a:p>
          <a:p xmlns:a="http://schemas.openxmlformats.org/drawingml/2006/main">
            <a:r>
              <a:t>CONNECT</a:t>
            </a:r>
          </a:p>
          <a:p xmlns:a="http://schemas.openxmlformats.org/drawingml/2006/main">
            <a:r>
              <a:t>Build on the preceding slide: Leakage gives away information from the future.</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POINT TO THE DEFINITION</a:t>
            </a:r>
          </a:p>
          <a:p xmlns:a="http://schemas.openxmlformats.org/drawingml/2006/main">
            <a:r>
              <a:t>Cross-validation: Repeat fitting and validation on several partitions of the training/development data. Respect groups or time order. Keep the final test outside tuning.</a:t>
            </a:r>
          </a:p>
          <a:p xmlns:a="http://schemas.openxmlformats.org/drawingml/2006/main">
            <a:r>
              <a:t/>
            </a:r>
          </a:p>
          <a:p xmlns:a="http://schemas.openxmlformats.org/drawingml/2006/main">
            <a:r>
              <a:t>NEXT</a:t>
            </a:r>
          </a:p>
          <a:p xmlns:a="http://schemas.openxmlformats.org/drawingml/2006/main">
            <a:r>
              <a:t>What standard deviation tells us.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What standard deviation tells 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What standard deviation tells us</a:t>
            </a:r>
          </a:p>
          <a:p xmlns:a="http://schemas.openxmlformats.org/drawingml/2006/main">
            <a:r>
              <a:t/>
            </a:r>
          </a:p>
          <a:p xmlns:a="http://schemas.openxmlformats.org/drawingml/2006/main">
            <a:r>
              <a:t>CONNECT</a:t>
            </a:r>
          </a:p>
          <a:p xmlns:a="http://schemas.openxmlformats.org/drawingml/2006/main">
            <a:r>
              <a:t>Build on Cross-validation. Explain why this example is needed before running it.</a:t>
            </a:r>
          </a:p>
          <a:p xmlns:a="http://schemas.openxmlformats.org/drawingml/2006/main">
            <a:r>
              <a:t/>
            </a:r>
          </a:p>
          <a:p xmlns:a="http://schemas.openxmlformats.org/drawingml/2006/main">
            <a:r>
              <a:t>EXPLAIN</a:t>
            </a:r>
          </a:p>
          <a:p xmlns:a="http://schemas.openxmlformats.org/drawingml/2006/main">
            <a:r>
              <a:t>Scores 3, 4 and 5 have mean 4. Their deviations are -1, 0 and 1.</a:t>
            </a:r>
          </a:p>
          <a:p xmlns:a="http://schemas.openxmlformats.org/drawingml/2006/main">
            <a:r>
              <a:t/>
            </a:r>
          </a:p>
          <a:p xmlns:a="http://schemas.openxmlformats.org/drawingml/2006/main">
            <a:r>
              <a:t>For these three fold scores, population SD = sqrt((1 + 0 + 1) / 3), about 0.82.</a:t>
            </a:r>
          </a:p>
          <a:p xmlns:a="http://schemas.openxmlformats.org/drawingml/2006/main">
            <a:r>
              <a:t/>
            </a:r>
          </a:p>
          <a:p xmlns:a="http://schemas.openxmlformats.org/drawingml/2006/main">
            <a:r>
              <a:t>SD describes spread around the mean in the score’s units. The next illustration uses this same population convention; it is not a confidence interval.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What standard deviation tells us</a:t>
            </a:r>
          </a:p>
          <a:p xmlns:a="http://schemas.openxmlformats.org/drawingml/2006/main">
            <a:r>
              <a:t/>
            </a:r>
          </a:p>
          <a:p xmlns:a="http://schemas.openxmlformats.org/drawingml/2006/main">
            <a:r>
              <a:t>CONNECT</a:t>
            </a:r>
          </a:p>
          <a:p xmlns:a="http://schemas.openxmlformats.org/drawingml/2006/main">
            <a:r>
              <a:t>Build on the preceding slide: Cross-validation.</a:t>
            </a:r>
          </a:p>
          <a:p xmlns:a="http://schemas.openxmlformats.org/drawingml/2006/main">
            <a:r>
              <a:t/>
            </a:r>
          </a:p>
          <a:p xmlns:a="http://schemas.openxmlformats.org/drawingml/2006/main">
            <a:r>
              <a:t>LECTURER CUE</a:t>
            </a:r>
          </a:p>
          <a:p xmlns:a="http://schemas.openxmlformats.org/drawingml/2006/main">
            <a:r>
              <a:t>Square each deviation, average all three, then take the square root. Here we describe the full displayed set. A sample SD would instead divide by n - 1; do not mix conventions.</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NEXT</a:t>
            </a:r>
          </a:p>
          <a:p xmlns:a="http://schemas.openxmlformats.org/drawingml/2006/main">
            <a:r>
              <a:t>Each fold takes a turn at validation.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Each fold takes a turn at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Each fold takes a turn at validation</a:t>
            </a:r>
          </a:p>
          <a:p xmlns:a="http://schemas.openxmlformats.org/drawingml/2006/main">
            <a:r>
              <a:t/>
            </a:r>
          </a:p>
          <a:p xmlns:a="http://schemas.openxmlformats.org/drawingml/2006/main">
            <a:r>
              <a:t>CONNECT</a:t>
            </a:r>
          </a:p>
          <a:p xmlns:a="http://schemas.openxmlformats.org/drawingml/2006/main">
            <a:r>
              <a:t>Build on What standard deviation tells us. Explain why this example is needed before running it.</a:t>
            </a:r>
          </a:p>
          <a:p xmlns:a="http://schemas.openxmlformats.org/drawingml/2006/main">
            <a:r>
              <a:t/>
            </a:r>
          </a:p>
          <a:p xmlns:a="http://schemas.openxmlformats.org/drawingml/2006/main">
            <a:r>
              <a:t>EXPLAIN</a:t>
            </a:r>
          </a:p>
          <a:p xmlns:a="http://schemas.openxmlformats.org/drawingml/2006/main">
            <a:r>
              <a:t>Illustrated spread: population SD 0.39 MPa, not a confidence interval.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Each fold takes a turn at validation</a:t>
            </a:r>
          </a:p>
          <a:p xmlns:a="http://schemas.openxmlformats.org/drawingml/2006/main">
            <a:r>
              <a:t/>
            </a:r>
          </a:p>
          <a:p xmlns:a="http://schemas.openxmlformats.org/drawingml/2006/main">
            <a:r>
              <a:t>CONNECT</a:t>
            </a:r>
          </a:p>
          <a:p xmlns:a="http://schemas.openxmlformats.org/drawingml/2006/main">
            <a:r>
              <a:t>Build on the preceding slide: What standard deviation tells us.</a:t>
            </a:r>
          </a:p>
          <a:p xmlns:a="http://schemas.openxmlformats.org/drawingml/2006/main">
            <a:r>
              <a:t/>
            </a:r>
          </a:p>
          <a:p xmlns:a="http://schemas.openxmlformats.org/drawingml/2006/main">
            <a:r>
              <a:t>LECTURER CUE</a:t>
            </a:r>
          </a:p>
          <a:p xmlns:a="http://schemas.openxmlformats.org/drawingml/2006/main">
            <a:r>
              <a:t>The illustrated mean is about 4.30 MPa and population standard deviation about 0.39 MPa. This is fold variation, not a confidence interval. Keep equipment groups together. Keep a separate final test outside model selection.</a:t>
            </a:r>
          </a:p>
          <a:p xmlns:a="http://schemas.openxmlformats.org/drawingml/2006/main">
            <a:r>
              <a:t>Source: existing course illustration figs/kfold.png. These are illustrative examples, not this cohort’s assessed results.</a:t>
            </a:r>
          </a:p>
          <a:p xmlns:a="http://schemas.openxmlformats.org/drawingml/2006/main">
            <a:r>
              <a:t/>
            </a:r>
          </a:p>
          <a:p xmlns:a="http://schemas.openxmlformats.org/drawingml/2006/main">
            <a:r>
              <a:t>NEXT</a:t>
            </a:r>
          </a:p>
          <a:p xmlns:a="http://schemas.openxmlformats.org/drawingml/2006/main">
            <a:r>
              <a:t>Choose a split that matches future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Choose a split that matches future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Choose a split that matches future use</a:t>
            </a:r>
          </a:p>
          <a:p xmlns:a="http://schemas.openxmlformats.org/drawingml/2006/main">
            <a:r>
              <a:t/>
            </a:r>
          </a:p>
          <a:p xmlns:a="http://schemas.openxmlformats.org/drawingml/2006/main">
            <a:r>
              <a:t>CONNECT</a:t>
            </a:r>
          </a:p>
          <a:p xmlns:a="http://schemas.openxmlformats.org/drawingml/2006/main">
            <a:r>
              <a:t>Build on Each fold takes a turn at validation. Explain why this example is needed before running it.</a:t>
            </a:r>
          </a:p>
          <a:p xmlns:a="http://schemas.openxmlformats.org/drawingml/2006/main">
            <a:r>
              <a:t/>
            </a:r>
          </a:p>
          <a:p xmlns:a="http://schemas.openxmlformats.org/drawingml/2006/main">
            <a:r>
              <a:t>EXPLAIN</a:t>
            </a:r>
          </a:p>
          <a:p xmlns:a="http://schemas.openxmlformats.org/drawingml/2006/main">
            <a:r>
              <a:t>Equipment or time: For unseen equipment, keep each equipment ID together. For future-time prediction, train on earlier observations and evaluate on later ones.</a:t>
            </a:r>
          </a:p>
          <a:p xmlns:a="http://schemas.openxmlformats.org/drawingml/2006/main">
            <a:r>
              <a:t>Scaler and split tool: A scaler learns how to rescale features; fit it on training data. GroupShuffleSplit is a library tool for group separation. Our assignment instead uses its fixed published equipment lists.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Choose a split that matches future use</a:t>
            </a:r>
          </a:p>
          <a:p xmlns:a="http://schemas.openxmlformats.org/drawingml/2006/main">
            <a:r>
              <a:t/>
            </a:r>
          </a:p>
          <a:p xmlns:a="http://schemas.openxmlformats.org/drawingml/2006/main">
            <a:r>
              <a:t>CONNECT</a:t>
            </a:r>
          </a:p>
          <a:p xmlns:a="http://schemas.openxmlformats.org/drawingml/2006/main">
            <a:r>
              <a:t>Build on the preceding slide: Each fold takes a turn at validation.</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POINT TO THE DEFINITION</a:t>
            </a:r>
          </a:p>
          <a:p xmlns:a="http://schemas.openxmlformats.org/drawingml/2006/main">
            <a:r>
              <a:t>Equipment or time: For unseen equipment, keep each equipment ID together. For future-time prediction, train on earlier observations and evaluate on later ones.</a:t>
            </a:r>
          </a:p>
          <a:p xmlns:a="http://schemas.openxmlformats.org/drawingml/2006/main">
            <a:r>
              <a:t>Scaler and split tool: A scaler learns how to rescale features; fit it on training data. GroupShuffleSplit is a library tool for group separation. Our assignment instead uses its fixed published equipment lists.</a:t>
            </a:r>
          </a:p>
          <a:p xmlns:a="http://schemas.openxmlformats.org/drawingml/2006/main">
            <a:r>
              <a:t/>
            </a:r>
          </a:p>
          <a:p xmlns:a="http://schemas.openxmlformats.org/drawingml/2006/main">
            <a:r>
              <a:t>NEXT</a:t>
            </a:r>
          </a:p>
          <a:p xmlns:a="http://schemas.openxmlformats.org/drawingml/2006/main">
            <a:r>
              <a:t>You are the data splitter.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Choose a split that matches future use. Explain why this example is needed before running it.</a:t>
            </a:r>
          </a:p>
          <a:p xmlns:a="http://schemas.openxmlformats.org/drawingml/2006/main">
            <a:r>
              <a:t/>
            </a:r>
          </a:p>
          <a:p xmlns:a="http://schemas.openxmlformats.org/drawingml/2006/main">
            <a:r>
              <a:t>EXPLAIN</a:t>
            </a:r>
          </a:p>
          <a:p xmlns:a="http://schemas.openxmlformats.org/drawingml/2006/main">
            <a:r>
              <a:t>Example: A second observation from B arrives. Where does it go? Why not put it into training just to balance row counts?</a:t>
            </a:r>
          </a:p>
          <a:p xmlns:a="http://schemas.openxmlformats.org/drawingml/2006/main">
            <a:r>
              <a:t/>
            </a:r>
          </a:p>
          <a:p xmlns:a="http://schemas.openxmlformats.org/drawingml/2006/main">
            <a:r>
              <a:t>Answer: It stays with B in validation. Mixing a source across partitions can give an overly optimistic estimate for unseen equipment.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It stays with B in validation. Mixing a source across partitions can give an overly optimistic estimate for unseen equipment.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It stays with B in validation. Mixing a source across partitions can give an overly optimistic estimate for unseen equipment.</a:t>
            </a:r>
          </a:p>
          <a:p xmlns:a="http://schemas.openxmlformats.org/drawingml/2006/main">
            <a:r>
              <a:t>Which step produced this result? What changes if one input changes?</a:t>
            </a:r>
          </a:p>
          <a:p xmlns:a="http://schemas.openxmlformats.org/drawingml/2006/main">
            <a:r>
              <a:t>CML3111   Week 10   27</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W10 specifies E1–E4 train, E5 validation, E6 test and preserves input order.</a:t>
            </a:r>
          </a:p>
          <a:p xmlns:a="http://schemas.openxmlformats.org/drawingml/2006/main">
            <a:r>
              <a:t/>
            </a:r>
          </a:p>
          <a:p xmlns:a="http://schemas.openxmlformats.org/drawingml/2006/main">
            <a:r>
              <a:t>Use the assigned equipment_id field and record_id outputs.</a:t>
            </a:r>
          </a:p>
          <a:p xmlns:a="http://schemas.openxmlformats.org/drawingml/2006/main">
            <a:r>
              <a:t/>
            </a:r>
          </a:p>
          <a:p xmlns:a="http://schemas.openxmlformats.org/drawingml/2006/main">
            <a:r>
              <a:t>Reuse the W08 fitting pattern.</a:t>
            </a:r>
          </a:p>
          <a:p xmlns:a="http://schemas.openxmlformats.org/drawingml/2006/main">
            <a:r>
              <a:t/>
            </a:r>
          </a:p>
          <a:p xmlns:a="http://schemas.openxmlformats.org/drawingml/2006/main">
            <a:r>
              <a:t>Explain that GroupShuffleSplit and time-based splitting solve different deployment questions; use the rule in the issued task.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W10 specifies E1–E4 train, E5 validation, E6 test and preserves input order. Use the assigned equipment_id field and record_id outputs. Reuse the W08 fitting pattern. Explain that GroupShuffleSplit and time-based splitting solve different deployment questions; use the rule in the issued task.</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Interpreting validation results.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Interpreting validation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Interpreting validation results</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Fit an imputer or scaler only on training data; putting it in a Pipeline helps enforce that during cross-validation.</a:t>
            </a:r>
          </a:p>
          <a:p xmlns:a="http://schemas.openxmlformats.org/drawingml/2006/main">
            <a:r>
              <a:t/>
            </a:r>
          </a:p>
          <a:p xmlns:a="http://schemas.openxmlformats.org/drawingml/2006/main">
            <a:r>
              <a:t>A low training error and high validation error suggest overfitting, but data shift or leakage can also matter.</a:t>
            </a:r>
          </a:p>
          <a:p xmlns:a="http://schemas.openxmlformats.org/drawingml/2006/main">
            <a:r>
              <a:t/>
            </a:r>
          </a:p>
          <a:p xmlns:a="http://schemas.openxmlformats.org/drawingml/2006/main">
            <a:r>
              <a:t>Missing predictor values need a stated treatment.</a:t>
            </a:r>
          </a:p>
          <a:p xmlns:a="http://schemas.openxmlformats.org/drawingml/2006/main">
            <a:r>
              <a:t/>
            </a:r>
          </a:p>
          <a:p xmlns:a="http://schemas.openxmlformats.org/drawingml/2006/main">
            <a:r>
              <a:t>Report fold scores and their variation, not just the best fold.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Interpreting validation results</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NEXT</a:t>
            </a:r>
          </a:p>
          <a:p xmlns:a="http://schemas.openxmlformats.org/drawingml/2006/main">
            <a:r>
              <a:t>Interpreting validation results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Interpreting validation results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Interpreting validation results continued</a:t>
            </a:r>
          </a:p>
          <a:p xmlns:a="http://schemas.openxmlformats.org/drawingml/2006/main">
            <a:r>
              <a:t/>
            </a:r>
          </a:p>
          <a:p xmlns:a="http://schemas.openxmlformats.org/drawingml/2006/main">
            <a:r>
              <a:t>CONNECT</a:t>
            </a:r>
          </a:p>
          <a:p xmlns:a="http://schemas.openxmlformats.org/drawingml/2006/main">
            <a:r>
              <a:t>Build on Interpreting validation results. Explain why this example is needed before running it.</a:t>
            </a:r>
          </a:p>
          <a:p xmlns:a="http://schemas.openxmlformats.org/drawingml/2006/main">
            <a:r>
              <a:t/>
            </a:r>
          </a:p>
          <a:p xmlns:a="http://schemas.openxmlformats.org/drawingml/2006/main">
            <a:r>
              <a:t>EXPLAIN</a:t>
            </a:r>
          </a:p>
          <a:p xmlns:a="http://schemas.openxmlformats.org/drawingml/2006/main">
            <a:r>
              <a:t>Group related observations together when the deployment goal is new equipment.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Interpreting validation results continued</a:t>
            </a:r>
          </a:p>
          <a:p xmlns:a="http://schemas.openxmlformats.org/drawingml/2006/main">
            <a:r>
              <a:t/>
            </a:r>
          </a:p>
          <a:p xmlns:a="http://schemas.openxmlformats.org/drawingml/2006/main">
            <a:r>
              <a:t>CONNECT</a:t>
            </a:r>
          </a:p>
          <a:p xmlns:a="http://schemas.openxmlformats.org/drawingml/2006/main">
            <a:r>
              <a:t>Build on the preceding slide: Interpreting validation results.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Interpreting validation results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motor winding temperature.</a:t>
            </a:r>
          </a:p>
          <a:p xmlns:a="http://schemas.openxmlformats.org/drawingml/2006/main">
            <a:r>
              <a:t/>
            </a:r>
          </a:p>
          <a:p xmlns:a="http://schemas.openxmlformats.org/drawingml/2006/main">
            <a:r>
              <a:t>Target units: deg C.</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Interpreting validation results continued.</a:t>
            </a:r>
          </a:p>
          <a:p xmlns:a="http://schemas.openxmlformats.org/drawingml/2006/main">
            <a:r>
              <a:t/>
            </a:r>
          </a:p>
          <a:p xmlns:a="http://schemas.openxmlformats.org/drawingml/2006/main">
            <a:r>
              <a:t>LECTURER CUE</a:t>
            </a:r>
          </a:p>
          <a:p xmlns:a="http://schemas.openxmlformats.org/drawingml/2006/main">
            <a:r>
              <a:t>Investigate motor winding temperature. Target units: deg C.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group_split(records).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group_split(records).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group_split(records)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Assign whole equipment groups: E1–E4 to train, E5 to validation, E6 to test.</a:t>
            </a:r>
          </a:p>
          <a:p xmlns:a="http://schemas.openxmlformats.org/drawingml/2006/main">
            <a:r>
              <a:t/>
            </a:r>
          </a:p>
          <a:p xmlns:a="http://schemas.openxmlformats.org/drawingml/2006/main">
            <a:r>
              <a:t>Return train, validation and test lists of record_id in input order.</a:t>
            </a:r>
          </a:p>
          <a:p xmlns:a="http://schemas.openxmlformats.org/drawingml/2006/main">
            <a:r>
              <a:t/>
            </a:r>
          </a:p>
          <a:p xmlns:a="http://schemas.openxmlformats.org/drawingml/2006/main">
            <a:r>
              <a:t>Do not use target values to choose membership.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group_split(records)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IUEA_Teaching_Plan/assessment_banks/W10/CML3111/A/TASKS.md</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predict_regression(training_records, feature_records).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predict_regression(training_records, feature_records).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Build on group_split(records). Explain why this example is needed before running it.</a:t>
            </a:r>
          </a:p>
          <a:p xmlns:a="http://schemas.openxmlformats.org/drawingml/2006/main">
            <a:r>
              <a:t/>
            </a:r>
          </a:p>
          <a:p xmlns:a="http://schemas.openxmlformats.org/drawingml/2006/main">
            <a:r>
              <a:t>EXPLAIN</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Build on the preceding slide: group_split(records).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IUEA_Teaching_Plan/assessment_banks/W10/CML3111/A/TASKS.md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predict_regression(training_records, feature_records).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predict_regression(training_records, feature_records).</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Validation and trust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Validation and trust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trust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13 Nov 2026, 11:00 Kampala</a:t>
            </a:r>
          </a:p>
          <a:p xmlns:a="http://schemas.openxmlformats.org/drawingml/2006/main">
            <a:r>
              <a:t/>
            </a:r>
          </a:p>
          <a:p xmlns:a="http://schemas.openxmlformats.org/drawingml/2006/main">
            <a:r>
              <a:t>Deadline: 20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Validation and trust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10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10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10 quiz</a:t>
            </a:r>
          </a:p>
          <a:p xmlns:a="http://schemas.openxmlformats.org/drawingml/2006/main">
            <a:r>
              <a:t/>
            </a:r>
          </a:p>
          <a:p xmlns:a="http://schemas.openxmlformats.org/drawingml/2006/main">
            <a:r>
              <a:t>CONNECT</a:t>
            </a:r>
          </a:p>
          <a:p xmlns:a="http://schemas.openxmlformats.org/drawingml/2006/main">
            <a:r>
              <a:t>Build on Validation and trust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10 quiz</a:t>
            </a:r>
          </a:p>
          <a:p xmlns:a="http://schemas.openxmlformats.org/drawingml/2006/main">
            <a:r>
              <a:t/>
            </a:r>
          </a:p>
          <a:p xmlns:a="http://schemas.openxmlformats.org/drawingml/2006/main">
            <a:r>
              <a:t>CONNECT</a:t>
            </a:r>
          </a:p>
          <a:p xmlns:a="http://schemas.openxmlformats.org/drawingml/2006/main">
            <a:r>
              <a:t>Build on the preceding slide: Validation and trust submission.</a:t>
            </a:r>
          </a:p>
          <a:p xmlns:a="http://schemas.openxmlformats.org/drawingml/2006/main">
            <a:r>
              <a:t/>
            </a:r>
          </a:p>
          <a:p xmlns:a="http://schemas.openxmlformats.org/drawingml/2006/main">
            <a:r>
              <a:t>LECTURER CUE</a:t>
            </a:r>
          </a:p>
          <a:p xmlns:a="http://schemas.openxmlformats.org/drawingml/2006/main">
            <a:r>
              <a:t>Activate the matching open_W10_CML3111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10 quiz. Explain why this example is needed before running it.</a:t>
            </a:r>
          </a:p>
          <a:p xmlns:a="http://schemas.openxmlformats.org/drawingml/2006/main">
            <a:r>
              <a:t/>
            </a:r>
          </a:p>
          <a:p xmlns:a="http://schemas.openxmlformats.org/drawingml/2006/main">
            <a:r>
              <a:t>EXPLAIN</a:t>
            </a:r>
          </a:p>
          <a:p xmlns:a="http://schemas.openxmlformats.org/drawingml/2006/main">
            <a:r>
              <a:t>You can identify which records may influence preprocessing and model selection.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10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Cross Validation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Why evaluate using observations not used to fit that particular model?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Explain why our repeated equipment IDs require grouped partitions rather than ordinary random folds.</a:t>
            </a:r>
          </a:p>
          <a:p xmlns:a="http://schemas.openxmlformats.org/drawingml/2006/main">
            <a:r>
              <a:t>Preview before class and stop after the selected short excerpt. If playback fails, teach the worked example. Video is optional. Source: https://www.youtube.com/watch?v=fSytzGwwBVw</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ecaef712f04426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aa38bdc9208426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0f93af7aa81433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44a72c77d59472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3000a951235455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94f536350c049c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52590CBC-44A4-4E32-AE88-E157DAD29CEF}"/>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9752076-5C63-4C74-86D8-264E466DCA3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7731F3F-AC6C-4C10-AA15-C640C95B5922}"/>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B58C2866-8743-4C7E-8B4D-0FCFEA806678}"/>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4D74AA0-ECA3-4F05-81C9-7A522F3EE3A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E096177-036C-46CA-852B-CD940202BE8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72B6A2C-E133-4C0E-8A6A-11A62CEE5DB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846858A-C69E-42E9-B337-9EAE4A18CAB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095E3AAD-C48F-4819-BE04-B17929D9BA6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825622E-D1F7-46B3-A0FD-1BB07529DBF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58D6BC2-516B-49EB-97D0-A4B597DEEB3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9613E22A-074A-44B2-A948-B03CB694095A}"/>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56BF538-56A0-4249-AAE8-51C9B6BBD1C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ED10CE1-A27A-4DD5-8904-1FFE72B760F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6EC4C28-1526-4C93-B7EE-821BC719347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698b4290b684a86" /><Relationship Type="http://schemas.openxmlformats.org/officeDocument/2006/relationships/slideLayout" Target="/ppt/slideLayouts/slideLayout1.xml" Id="R6a244f7018c04dd2" /><Relationship Type="http://schemas.openxmlformats.org/officeDocument/2006/relationships/slideLayout" Target="/ppt/slideLayouts/slideLayout2.xml" Id="R93911a7a72fc4ff3" /><Relationship Type="http://schemas.openxmlformats.org/officeDocument/2006/relationships/slideLayout" Target="/ppt/slideLayouts/slideLayout3.xml" Id="R83410093f0784dbd" /><Relationship Type="http://schemas.openxmlformats.org/officeDocument/2006/relationships/slideLayout" Target="/ppt/slideLayouts/slideLayout4.xml" Id="R28ffe019b7eb4b02" /><Relationship Type="http://schemas.openxmlformats.org/officeDocument/2006/relationships/slideLayout" Target="/ppt/slideLayouts/slideLayout5.xml" Id="R5078e389ede746b1" /><Relationship Type="http://schemas.openxmlformats.org/officeDocument/2006/relationships/slideLayout" Target="/ppt/slideLayouts/slideLayout6.xml" Id="Re51c95ae2db7424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244f7018c04dd2"/>
    <p:sldLayoutId xmlns:r="http://schemas.openxmlformats.org/officeDocument/2006/relationships" id="2147483650" r:id="R93911a7a72fc4ff3"/>
    <p:sldLayoutId xmlns:r="http://schemas.openxmlformats.org/officeDocument/2006/relationships" id="2147483651" r:id="R83410093f0784dbd"/>
    <p:sldLayoutId xmlns:r="http://schemas.openxmlformats.org/officeDocument/2006/relationships" id="2147483652" r:id="R28ffe019b7eb4b02"/>
    <p:sldLayoutId xmlns:r="http://schemas.openxmlformats.org/officeDocument/2006/relationships" id="2147483653" r:id="R5078e389ede746b1"/>
    <p:sldLayoutId xmlns:r="http://schemas.openxmlformats.org/officeDocument/2006/relationships" id="2147483654" r:id="Re51c95ae2db7424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05e0531a1fc4957" /><Relationship Type="http://schemas.openxmlformats.org/officeDocument/2006/relationships/image" Target="/ppt/media/image.png" Id="R83c6addab1864b3e" /><Relationship Type="http://schemas.openxmlformats.org/officeDocument/2006/relationships/notesSlide" Target="/ppt/notesSlides/notesSlide1.xml" Id="R9292692f4d3845e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fe8ab9ad0b94691" /><Relationship Type="http://schemas.openxmlformats.org/officeDocument/2006/relationships/notesSlide" Target="/ppt/notesSlides/notesSlide2.xml" Id="R190ca7a6d2cf4f2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8011241373549a6" /><Relationship Type="http://schemas.openxmlformats.org/officeDocument/2006/relationships/notesSlide" Target="/ppt/notesSlides/notesSlide3.xml" Id="Ra39aa20e04874e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1df9e7ca5b04000" /><Relationship Type="http://schemas.openxmlformats.org/officeDocument/2006/relationships/notesSlide" Target="/ppt/notesSlides/notesSlide4.xml" Id="R6da64dddbf5b4d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ee7990ed2194e3c" /><Relationship Type="http://schemas.openxmlformats.org/officeDocument/2006/relationships/notesSlide" Target="/ppt/notesSlides/notesSlide5.xml" Id="R6579c577cd814fc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3f3e37b552141bc" /><Relationship Type="http://schemas.openxmlformats.org/officeDocument/2006/relationships/image" Target="/ppt/media/image2.png" Id="R0ae1ec8d49e44cba" /><Relationship Type="http://schemas.openxmlformats.org/officeDocument/2006/relationships/notesSlide" Target="/ppt/notesSlides/notesSlide6.xml" Id="R20af810df1c743b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a4d34bcb7aa494a" /><Relationship Type="http://schemas.openxmlformats.org/officeDocument/2006/relationships/notesSlide" Target="/ppt/notesSlides/notesSlide7.xml" Id="R0d1f80a11c5a4e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d0ae383dea14bd9" /><Relationship Type="http://schemas.openxmlformats.org/officeDocument/2006/relationships/notesSlide" Target="/ppt/notesSlides/notesSlide8.xml" Id="Rae0f0119dd054af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891f51e14764dfd" /><Relationship Type="http://schemas.openxmlformats.org/officeDocument/2006/relationships/notesSlide" Target="/ppt/notesSlides/notesSlide9.xml" Id="R1603b32c952e4c8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fa646516b3f49db" /><Relationship Type="http://schemas.openxmlformats.org/officeDocument/2006/relationships/notesSlide" Target="/ppt/notesSlides/notesSlide10.xml" Id="R06ebc2ffeed945f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ef6c4d0459944b6" /><Relationship Type="http://schemas.openxmlformats.org/officeDocument/2006/relationships/notesSlide" Target="/ppt/notesSlides/notesSlide11.xml" Id="R8351042592cd45b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18a0fec9bf84026" /><Relationship Type="http://schemas.openxmlformats.org/officeDocument/2006/relationships/notesSlide" Target="/ppt/notesSlides/notesSlide12.xml" Id="Re589093804c04b3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9ff378335bd43d5" /><Relationship Type="http://schemas.openxmlformats.org/officeDocument/2006/relationships/notesSlide" Target="/ppt/notesSlides/notesSlide13.xml" Id="R1900b735cb87437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a84b8739de74927" /><Relationship Type="http://schemas.openxmlformats.org/officeDocument/2006/relationships/notesSlide" Target="/ppt/notesSlides/notesSlide14.xml" Id="Re1c19ec1719d4c4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f7111b1337e4d78" /><Relationship Type="http://schemas.openxmlformats.org/officeDocument/2006/relationships/notesSlide" Target="/ppt/notesSlides/notesSlide15.xml" Id="Rc45c1848b0754dc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7112b80848a4102" /><Relationship Type="http://schemas.openxmlformats.org/officeDocument/2006/relationships/notesSlide" Target="/ppt/notesSlides/notesSlide16.xml" Id="R9354374d3794437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693d276e4cb4b34" /><Relationship Type="http://schemas.openxmlformats.org/officeDocument/2006/relationships/notesSlide" Target="/ppt/notesSlides/notesSlide17.xml" Id="R9cc3c202f02a4fd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3fd76168f5041a8" /><Relationship Type="http://schemas.openxmlformats.org/officeDocument/2006/relationships/notesSlide" Target="/ppt/notesSlides/notesSlide18.xml" Id="R18aa139d104945e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ffe5e13f96647d3" /><Relationship Type="http://schemas.openxmlformats.org/officeDocument/2006/relationships/notesSlide" Target="/ppt/notesSlides/notesSlide19.xml" Id="Rb4bc73c6c6a941e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4552b334b3e4d5a" /><Relationship Type="http://schemas.openxmlformats.org/officeDocument/2006/relationships/notesSlide" Target="/ppt/notesSlides/notesSlide20.xml" Id="R4c3fc028df3e4c4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80e23904b144e67" /><Relationship Type="http://schemas.openxmlformats.org/officeDocument/2006/relationships/notesSlide" Target="/ppt/notesSlides/notesSlide21.xml" Id="R80be772c29d94ed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63bd9b85c824d6c" /><Relationship Type="http://schemas.openxmlformats.org/officeDocument/2006/relationships/image" Target="/ppt/media/image3.png" Id="R611f4f9870654710" /><Relationship Type="http://schemas.openxmlformats.org/officeDocument/2006/relationships/notesSlide" Target="/ppt/notesSlides/notesSlide22.xml" Id="R90a0102e11ca4d4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80d7e9eb2bb4f95" /><Relationship Type="http://schemas.openxmlformats.org/officeDocument/2006/relationships/notesSlide" Target="/ppt/notesSlides/notesSlide23.xml" Id="R5282212dd85f42d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b77dfae42db4f30" /><Relationship Type="http://schemas.openxmlformats.org/officeDocument/2006/relationships/notesSlide" Target="/ppt/notesSlides/notesSlide24.xml" Id="Raf6beb3db0bb4aa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37dcada243946cf" /><Relationship Type="http://schemas.openxmlformats.org/officeDocument/2006/relationships/notesSlide" Target="/ppt/notesSlides/notesSlide25.xml" Id="R9f4571a23cff4f4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52859c8bc8c460d" /><Relationship Type="http://schemas.openxmlformats.org/officeDocument/2006/relationships/notesSlide" Target="/ppt/notesSlides/notesSlide26.xml" Id="R9ebb298892e4448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d48755a696549bd" /><Relationship Type="http://schemas.openxmlformats.org/officeDocument/2006/relationships/notesSlide" Target="/ppt/notesSlides/notesSlide27.xml" Id="R7ea343bee20b4eb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f5becea4e9443a7" /><Relationship Type="http://schemas.openxmlformats.org/officeDocument/2006/relationships/notesSlide" Target="/ppt/notesSlides/notesSlide28.xml" Id="R324d9c022d364a1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1b30609439c42dc" /><Relationship Type="http://schemas.openxmlformats.org/officeDocument/2006/relationships/notesSlide" Target="/ppt/notesSlides/notesSlide29.xml" Id="R4cfc1832805842c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54073da8a2c4943" /><Relationship Type="http://schemas.openxmlformats.org/officeDocument/2006/relationships/notesSlide" Target="/ppt/notesSlides/notesSlide30.xml" Id="Rb43310b413b24cb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0dee62e747d40a1" /><Relationship Type="http://schemas.openxmlformats.org/officeDocument/2006/relationships/notesSlide" Target="/ppt/notesSlides/notesSlide31.xml" Id="Rd61eb5e5312b4c0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353606af97a4d52" /><Relationship Type="http://schemas.openxmlformats.org/officeDocument/2006/relationships/hyperlink" Target="https://docs.google.com/forms/d/e/1FAIpQLSd5yLPYJ8OPmahSQIIIPfI-OfVHWbcHnwnntSRiE7wafqbRTg/viewform" TargetMode="External" Id="R6248c85042584f2b" /><Relationship Type="http://schemas.openxmlformats.org/officeDocument/2006/relationships/notesSlide" Target="/ppt/notesSlides/notesSlide32.xml" Id="Rb8c160f7aa984a03"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277470a3696e4144" /><Relationship Type="http://schemas.openxmlformats.org/officeDocument/2006/relationships/image" Target="/ppt/media/image4.png" Id="Ra48f8c3c735f4d57" /><Relationship Type="http://schemas.openxmlformats.org/officeDocument/2006/relationships/hyperlink" Target="https://forms.gle/KJmiCV72Y98y51a38" TargetMode="External" Id="R30b73228ede24d0e" /><Relationship Type="http://schemas.openxmlformats.org/officeDocument/2006/relationships/notesSlide" Target="/ppt/notesSlides/notesSlide33.xml" Id="R325e34fa97354b2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a0914ac437e4a96" /><Relationship Type="http://schemas.openxmlformats.org/officeDocument/2006/relationships/notesSlide" Target="/ppt/notesSlides/notesSlide34.xml" Id="R53cf64db337848b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346264994343410d" /><Relationship Type="http://schemas.openxmlformats.org/officeDocument/2006/relationships/hyperlink" Target="https://www.youtube.com/watch?v=fSytzGwwBVw" TargetMode="External" Id="R13afc2d9052a4b8b" /><Relationship Type="http://schemas.openxmlformats.org/officeDocument/2006/relationships/notesSlide" Target="/ppt/notesSlides/notesSlide35.xml" Id="Rbd03f6e6825e4e4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3c6addab1864b3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8968D91-1BE8-4EE5-9E97-915F86378F7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5EDC199-ADBB-4A01-B13F-805513419BCE}"/>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10</a:t>
            </a:r>
          </a:p>
        </p:txBody>
      </p:sp>
      <p:sp>
        <p:nvSpPr>
          <p:cNvPr id="4" name="">
            <a:extLst xmlns:a="http://schemas.openxmlformats.org/drawingml/2006/main">
              <a:ext uri="{FF2B5EF4-FFF2-40B4-BE49-F238E27FC236}">
                <a16:creationId xmlns:a16="http://schemas.microsoft.com/office/drawing/2014/main" id="{04718C1E-EBD6-4058-88BA-2B7CCC72E93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DF8F88ED-716F-4622-ADA9-B8CA3C21B3D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868A9BFB-DAAE-4563-A6D3-EAE4AC6CE1C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95808618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98BEE62-2A15-4291-9697-00ABE9D8C4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0E8C4F-D284-45C2-89D5-BC153AE7D4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E7C4DE08-110D-4276-A5A6-532CA39D62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951FAE55-D5D0-4A2E-BC07-2E2135A590E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EEF0D4-9A16-4342-8F39-0E35AECFA83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3AD4604-C70D-4D14-AB58-377093A35E7F}"/>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related equipment records together.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Separate training, validation and final testing.</a:t>
            </a:r>
          </a:p>
        </p:txBody>
      </p:sp>
      <p:sp>
        <p:nvSpPr>
          <p:cNvPr id="7" name="">
            <a:extLst xmlns:a="http://schemas.openxmlformats.org/drawingml/2006/main">
              <a:ext uri="{FF2B5EF4-FFF2-40B4-BE49-F238E27FC236}">
                <a16:creationId xmlns:a16="http://schemas.microsoft.com/office/drawing/2014/main" id="{3168CDED-AA32-4207-A1BF-262661D5A4B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785858F1-9C6D-4C5E-B78A-A6CA725A69C8}"/>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which records may influence preprocessing and model selection.</a:t>
            </a:r>
          </a:p>
        </p:txBody>
      </p:sp>
      <p:sp>
        <p:nvSpPr>
          <p:cNvPr id="9" name="">
            <a:extLst xmlns:a="http://schemas.openxmlformats.org/drawingml/2006/main">
              <a:ext uri="{FF2B5EF4-FFF2-40B4-BE49-F238E27FC236}">
                <a16:creationId xmlns:a16="http://schemas.microsoft.com/office/drawing/2014/main" id="{D96E5BD9-40A8-48F6-9BAE-2F97F402C3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a:t>
            </a:r>
          </a:p>
        </p:txBody>
      </p:sp>
    </p:spTree>
    <p:extLst>
      <p:ext uri="{BB962C8B-B14F-4D97-AF65-F5344CB8AC3E}">
        <p14:creationId xmlns:p14="http://schemas.microsoft.com/office/powerpoint/2010/main" val="30483744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8FE697C-F6AC-4725-AC2B-ACB06F00A3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B1B67F-F247-4A99-BC2F-5C5D962947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D477A5-0025-4858-AB78-391CCAFE18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D066B9AB-00F1-45E2-938D-F925348049D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B6DAE8-727A-477D-A622-2022F11285F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have compared predictions with known answers.</a:t>
            </a:r>
          </a:p>
        </p:txBody>
      </p:sp>
      <p:sp>
        <p:nvSpPr>
          <p:cNvPr id="6" name="">
            <a:extLst xmlns:a="http://schemas.openxmlformats.org/drawingml/2006/main">
              <a:ext uri="{FF2B5EF4-FFF2-40B4-BE49-F238E27FC236}">
                <a16:creationId xmlns:a16="http://schemas.microsoft.com/office/drawing/2014/main" id="{B8EFD56A-0A4A-4F87-9974-E91F17F4360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control which observations may influence training, choices and the final evaluation.</a:t>
            </a:r>
          </a:p>
        </p:txBody>
      </p:sp>
      <p:sp>
        <p:nvSpPr>
          <p:cNvPr id="7" name="">
            <a:extLst xmlns:a="http://schemas.openxmlformats.org/drawingml/2006/main">
              <a:ext uri="{FF2B5EF4-FFF2-40B4-BE49-F238E27FC236}">
                <a16:creationId xmlns:a16="http://schemas.microsoft.com/office/drawing/2014/main" id="{C996CD36-9E8F-4151-915B-DC56C98824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a:t>
            </a:r>
          </a:p>
        </p:txBody>
      </p:sp>
    </p:spTree>
    <p:extLst>
      <p:ext uri="{BB962C8B-B14F-4D97-AF65-F5344CB8AC3E}">
        <p14:creationId xmlns:p14="http://schemas.microsoft.com/office/powerpoint/2010/main" val="18365464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368644E-F3B3-46A3-940B-FD5C862D96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F1F249-2B7B-4FD6-ADA8-0D12EC74C9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0B31A06-2DA6-4CF7-B2BE-F044C49697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80497AFB-C6AD-4C5F-AE95-B19AB895BD5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DCFBEF-D4A5-4E11-82B1-022D5DE53AC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want evidence about new equipment or future observations.</a:t>
            </a:r>
          </a:p>
        </p:txBody>
      </p:sp>
      <p:sp>
        <p:nvSpPr>
          <p:cNvPr id="6" name="">
            <a:extLst xmlns:a="http://schemas.openxmlformats.org/drawingml/2006/main">
              <a:ext uri="{FF2B5EF4-FFF2-40B4-BE49-F238E27FC236}">
                <a16:creationId xmlns:a16="http://schemas.microsoft.com/office/drawing/2014/main" id="{29977041-7FE8-4A25-B398-6A4A017F29A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way we separate data must match that use before any model or preprocessing learns from it.</a:t>
            </a:r>
          </a:p>
        </p:txBody>
      </p:sp>
      <p:sp>
        <p:nvSpPr>
          <p:cNvPr id="7" name="">
            <a:extLst xmlns:a="http://schemas.openxmlformats.org/drawingml/2006/main">
              <a:ext uri="{FF2B5EF4-FFF2-40B4-BE49-F238E27FC236}">
                <a16:creationId xmlns:a16="http://schemas.microsoft.com/office/drawing/2014/main" id="{D3FFE96B-7279-46C4-9BED-682DB6305F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a:t>
            </a:r>
          </a:p>
        </p:txBody>
      </p:sp>
    </p:spTree>
    <p:extLst>
      <p:ext uri="{BB962C8B-B14F-4D97-AF65-F5344CB8AC3E}">
        <p14:creationId xmlns:p14="http://schemas.microsoft.com/office/powerpoint/2010/main" val="191084137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B7C2BC-C9DF-481B-9118-9FE4EE1E14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C1F6B5-594F-4910-B7C6-291F7E3013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BE22B6-9D23-4999-99F7-6D4DA467A4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validation and final test</a:t>
            </a:r>
          </a:p>
        </p:txBody>
      </p:sp>
      <p:sp>
        <p:nvSpPr>
          <p:cNvPr id="4" name="">
            <a:extLst xmlns:a="http://schemas.openxmlformats.org/drawingml/2006/main">
              <a:ext uri="{FF2B5EF4-FFF2-40B4-BE49-F238E27FC236}">
                <a16:creationId xmlns:a16="http://schemas.microsoft.com/office/drawing/2014/main" id="{ABDD8B41-B3CC-4422-B8FF-96379DD15F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8AD6FE-2E6D-4339-B8AC-7750C9FB406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data fit the model and preprocessing.</a:t>
            </a:r>
          </a:p>
        </p:txBody>
      </p:sp>
      <p:sp>
        <p:nvSpPr>
          <p:cNvPr id="6" name="">
            <a:extLst xmlns:a="http://schemas.openxmlformats.org/drawingml/2006/main">
              <a:ext uri="{FF2B5EF4-FFF2-40B4-BE49-F238E27FC236}">
                <a16:creationId xmlns:a16="http://schemas.microsoft.com/office/drawing/2014/main" id="{ADD25F18-50F9-43BA-9077-F754EA5DE1D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EF1FA1-A4C7-4536-B016-4DF1EA5EE6F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data guide feature and model choices.</a:t>
            </a:r>
          </a:p>
        </p:txBody>
      </p:sp>
      <p:sp>
        <p:nvSpPr>
          <p:cNvPr id="8" name="">
            <a:extLst xmlns:a="http://schemas.openxmlformats.org/drawingml/2006/main">
              <a:ext uri="{FF2B5EF4-FFF2-40B4-BE49-F238E27FC236}">
                <a16:creationId xmlns:a16="http://schemas.microsoft.com/office/drawing/2014/main" id="{D05CBF6A-4D94-47C6-B1B6-7E5217B7C76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507CB3-ED67-474B-B1B2-801467A1289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test evaluates choices after they are fixed.</a:t>
            </a:r>
          </a:p>
        </p:txBody>
      </p:sp>
      <p:sp>
        <p:nvSpPr>
          <p:cNvPr id="10" name="">
            <a:extLst xmlns:a="http://schemas.openxmlformats.org/drawingml/2006/main">
              <a:ext uri="{FF2B5EF4-FFF2-40B4-BE49-F238E27FC236}">
                <a16:creationId xmlns:a16="http://schemas.microsoft.com/office/drawing/2014/main" id="{8625D3D7-9FBA-4B5D-9F3B-FCA37F70316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0B4BAB1-71C0-496D-A312-6B3BE05302C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test is needed if its answers influenced further choices.</a:t>
            </a:r>
          </a:p>
        </p:txBody>
      </p:sp>
      <p:sp>
        <p:nvSpPr>
          <p:cNvPr id="12" name="">
            <a:extLst xmlns:a="http://schemas.openxmlformats.org/drawingml/2006/main">
              <a:ext uri="{FF2B5EF4-FFF2-40B4-BE49-F238E27FC236}">
                <a16:creationId xmlns:a16="http://schemas.microsoft.com/office/drawing/2014/main" id="{9049FD3F-5482-4C8B-B9B4-AF977382AC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5</a:t>
            </a:r>
          </a:p>
        </p:txBody>
      </p:sp>
    </p:spTree>
    <p:extLst>
      <p:ext uri="{BB962C8B-B14F-4D97-AF65-F5344CB8AC3E}">
        <p14:creationId xmlns:p14="http://schemas.microsoft.com/office/powerpoint/2010/main" val="129306205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2DA7116-B1EF-429A-B495-7CD8C607B36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502140-ABC2-4B34-9A31-1241040FD4D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ae1ec8d49e44cba"/>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15A6D7C-3585-44D1-8E30-DFBD6F4993A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0C42C2-AE7D-46A4-A755-F3F3BDC74E1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1D1FC87A-700D-4BAD-BB5B-5023D92D66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6</a:t>
            </a:r>
          </a:p>
        </p:txBody>
      </p:sp>
    </p:spTree>
    <p:extLst>
      <p:ext uri="{BB962C8B-B14F-4D97-AF65-F5344CB8AC3E}">
        <p14:creationId xmlns:p14="http://schemas.microsoft.com/office/powerpoint/2010/main" val="193896258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981CA9B-CADB-4180-B4CD-A5E62D8DCD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C2D50F-5899-461E-84A8-474666618F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B2B352A-56EB-4CB7-B293-C0E6F2C434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Generalisation and Overfitting and underfitting</a:t>
            </a:r>
          </a:p>
        </p:txBody>
      </p:sp>
      <p:sp>
        <p:nvSpPr>
          <p:cNvPr id="4" name="">
            <a:extLst xmlns:a="http://schemas.openxmlformats.org/drawingml/2006/main">
              <a:ext uri="{FF2B5EF4-FFF2-40B4-BE49-F238E27FC236}">
                <a16:creationId xmlns:a16="http://schemas.microsoft.com/office/drawing/2014/main" id="{395F10EA-AF9B-4A2C-B4A6-E54985A2E88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C4D5E7-0C81-42B1-AC09-D7F429543F6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Generalisation</a:t>
            </a:r>
          </a:p>
        </p:txBody>
      </p:sp>
      <p:sp>
        <p:nvSpPr>
          <p:cNvPr id="6" name="">
            <a:extLst xmlns:a="http://schemas.openxmlformats.org/drawingml/2006/main">
              <a:ext uri="{FF2B5EF4-FFF2-40B4-BE49-F238E27FC236}">
                <a16:creationId xmlns:a16="http://schemas.microsoft.com/office/drawing/2014/main" id="{D843EC30-06F5-4894-BB6C-C645192E960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Performance on new cases from the intended setting, not merely on records already used.</a:t>
            </a:r>
          </a:p>
        </p:txBody>
      </p:sp>
      <p:sp>
        <p:nvSpPr>
          <p:cNvPr id="7" name="">
            <a:extLst xmlns:a="http://schemas.openxmlformats.org/drawingml/2006/main">
              <a:ext uri="{FF2B5EF4-FFF2-40B4-BE49-F238E27FC236}">
                <a16:creationId xmlns:a16="http://schemas.microsoft.com/office/drawing/2014/main" id="{B08B26B8-1396-4A39-A235-D5DAD366142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9EDEE5F-4149-44D3-96B7-6F2CBBFA194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Overfitting and underfitting</a:t>
            </a:r>
          </a:p>
        </p:txBody>
      </p:sp>
      <p:sp>
        <p:nvSpPr>
          <p:cNvPr id="9" name="">
            <a:extLst xmlns:a="http://schemas.openxmlformats.org/drawingml/2006/main">
              <a:ext uri="{FF2B5EF4-FFF2-40B4-BE49-F238E27FC236}">
                <a16:creationId xmlns:a16="http://schemas.microsoft.com/office/drawing/2014/main" id="{48D66F82-4BB9-4E2A-9D3C-8CC92F9C6F7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Overfitting captures training-specific detail that fails to transfer. Underfitting misses useful patterns. Score gaps are clues, not a complete diagnosis.</a:t>
            </a:r>
          </a:p>
        </p:txBody>
      </p:sp>
      <p:sp>
        <p:nvSpPr>
          <p:cNvPr id="10" name="">
            <a:extLst xmlns:a="http://schemas.openxmlformats.org/drawingml/2006/main">
              <a:ext uri="{FF2B5EF4-FFF2-40B4-BE49-F238E27FC236}">
                <a16:creationId xmlns:a16="http://schemas.microsoft.com/office/drawing/2014/main" id="{5571811B-D2D6-43AB-9763-54EF37304F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7</a:t>
            </a:r>
          </a:p>
        </p:txBody>
      </p:sp>
    </p:spTree>
    <p:extLst>
      <p:ext uri="{BB962C8B-B14F-4D97-AF65-F5344CB8AC3E}">
        <p14:creationId xmlns:p14="http://schemas.microsoft.com/office/powerpoint/2010/main" val="67982289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FA608B-53CB-409E-B824-37FBBFB9FE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AD6F4F-C5E8-48E1-8268-36A76A7F4E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F1B25DC-C334-44FD-B216-280642F4B8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and Group split</a:t>
            </a:r>
          </a:p>
        </p:txBody>
      </p:sp>
      <p:sp>
        <p:nvSpPr>
          <p:cNvPr id="4" name="">
            <a:extLst xmlns:a="http://schemas.openxmlformats.org/drawingml/2006/main">
              <a:ext uri="{FF2B5EF4-FFF2-40B4-BE49-F238E27FC236}">
                <a16:creationId xmlns:a16="http://schemas.microsoft.com/office/drawing/2014/main" id="{6104E941-0674-4B36-85E3-6A27D5AE44B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E29B7B-07FA-4CD5-BB22-273F0F5517E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Leakage</a:t>
            </a:r>
          </a:p>
        </p:txBody>
      </p:sp>
      <p:sp>
        <p:nvSpPr>
          <p:cNvPr id="6" name="">
            <a:extLst xmlns:a="http://schemas.openxmlformats.org/drawingml/2006/main">
              <a:ext uri="{FF2B5EF4-FFF2-40B4-BE49-F238E27FC236}">
                <a16:creationId xmlns:a16="http://schemas.microsoft.com/office/drawing/2014/main" id="{E8C87A61-293B-4F67-86A1-4FACCDB54D7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Information enters model development that would not legitimately be available, such as the answer or information from evaluation rows.</a:t>
            </a:r>
          </a:p>
        </p:txBody>
      </p:sp>
      <p:sp>
        <p:nvSpPr>
          <p:cNvPr id="7" name="">
            <a:extLst xmlns:a="http://schemas.openxmlformats.org/drawingml/2006/main">
              <a:ext uri="{FF2B5EF4-FFF2-40B4-BE49-F238E27FC236}">
                <a16:creationId xmlns:a16="http://schemas.microsoft.com/office/drawing/2014/main" id="{ACB0B513-75F3-4EE3-8238-2839217E44F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828D3F8-3755-4489-9B18-51E7F8620A0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Group split</a:t>
            </a:r>
          </a:p>
        </p:txBody>
      </p:sp>
      <p:sp>
        <p:nvSpPr>
          <p:cNvPr id="9" name="">
            <a:extLst xmlns:a="http://schemas.openxmlformats.org/drawingml/2006/main">
              <a:ext uri="{FF2B5EF4-FFF2-40B4-BE49-F238E27FC236}">
                <a16:creationId xmlns:a16="http://schemas.microsoft.com/office/drawing/2014/main" id="{38DFC6C0-8C9A-4789-8CFA-96138661730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Keep all observations from the same equipment in one partition when the goal is prediction for unseen equipment.</a:t>
            </a:r>
          </a:p>
        </p:txBody>
      </p:sp>
      <p:sp>
        <p:nvSpPr>
          <p:cNvPr id="10" name="">
            <a:extLst xmlns:a="http://schemas.openxmlformats.org/drawingml/2006/main">
              <a:ext uri="{FF2B5EF4-FFF2-40B4-BE49-F238E27FC236}">
                <a16:creationId xmlns:a16="http://schemas.microsoft.com/office/drawing/2014/main" id="{C0E26DA4-9A6E-450A-883D-926B4F57A8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8</a:t>
            </a:r>
          </a:p>
        </p:txBody>
      </p:sp>
    </p:spTree>
    <p:extLst>
      <p:ext uri="{BB962C8B-B14F-4D97-AF65-F5344CB8AC3E}">
        <p14:creationId xmlns:p14="http://schemas.microsoft.com/office/powerpoint/2010/main" val="127255760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843C00-0595-43DC-96D1-2F756A4D4B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58E774-6BE8-4298-8577-FC48938947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721BEA7-6078-4238-8EC6-FBB0C95C27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Repeated equipment needs group separation</a:t>
            </a:r>
          </a:p>
        </p:txBody>
      </p:sp>
      <p:sp>
        <p:nvSpPr>
          <p:cNvPr id="4" name="">
            <a:extLst xmlns:a="http://schemas.openxmlformats.org/drawingml/2006/main">
              <a:ext uri="{FF2B5EF4-FFF2-40B4-BE49-F238E27FC236}">
                <a16:creationId xmlns:a16="http://schemas.microsoft.com/office/drawing/2014/main" id="{E46B25EA-A55E-4318-B4E6-26772D17B9E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C487CA8-095C-4234-BB7D-961E9C16D50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from the same equipment can share patterns.</a:t>
            </a:r>
          </a:p>
        </p:txBody>
      </p:sp>
      <p:sp>
        <p:nvSpPr>
          <p:cNvPr id="6" name="">
            <a:extLst xmlns:a="http://schemas.openxmlformats.org/drawingml/2006/main">
              <a:ext uri="{FF2B5EF4-FFF2-40B4-BE49-F238E27FC236}">
                <a16:creationId xmlns:a16="http://schemas.microsoft.com/office/drawing/2014/main" id="{79B9ACAF-6633-4110-887C-75BB29FA841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DBE445-C09B-40C1-952D-1759775DB65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Putting that equipment in both training and validation can make evaluation too easy.</a:t>
            </a:r>
          </a:p>
        </p:txBody>
      </p:sp>
      <p:sp>
        <p:nvSpPr>
          <p:cNvPr id="8" name="">
            <a:extLst xmlns:a="http://schemas.openxmlformats.org/drawingml/2006/main">
              <a:ext uri="{FF2B5EF4-FFF2-40B4-BE49-F238E27FC236}">
                <a16:creationId xmlns:a16="http://schemas.microsoft.com/office/drawing/2014/main" id="{3FF17B13-A3E4-47E0-AB1C-D620207F2E3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D9002D-6490-4538-BC14-6A65318AA2A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new-equipment question, keep every row for an equipment ID in one partition.</a:t>
            </a:r>
          </a:p>
        </p:txBody>
      </p:sp>
      <p:sp>
        <p:nvSpPr>
          <p:cNvPr id="10" name="">
            <a:extLst xmlns:a="http://schemas.openxmlformats.org/drawingml/2006/main">
              <a:ext uri="{FF2B5EF4-FFF2-40B4-BE49-F238E27FC236}">
                <a16:creationId xmlns:a16="http://schemas.microsoft.com/office/drawing/2014/main" id="{5243F122-1365-4342-9DDC-BA163696E4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9</a:t>
            </a:r>
          </a:p>
        </p:txBody>
      </p:sp>
    </p:spTree>
    <p:extLst>
      <p:ext uri="{BB962C8B-B14F-4D97-AF65-F5344CB8AC3E}">
        <p14:creationId xmlns:p14="http://schemas.microsoft.com/office/powerpoint/2010/main" val="91246199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85DD61E-8442-4407-A272-EAE6CB1EFA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887E12-4C63-4DB9-B532-C80E3E2FC0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40961B6-C8D2-4BE3-9054-8D74CE07A4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equipment groups together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Observation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Equipment</a:t>
                      </a:r>
                    </a:p>
                  </a:txBody>
                  <a:tcPr marL="91440" marR="91440" marT="45720" marB="45720">
                    <a:solidFill>
                      <a:srgbClr val="2E7D6F"/>
                    </a:solidFill>
                  </a:tcPr>
                </a:tc>
                <a:tc>
                  <a:txBody>
                    <a:bodyPr/>
                    <a:lstStyle/>
                    <a:p>
                      <a:r>
                        <a:rPr sz="2025" b="1">
                          <a:solidFill>
                            <a:srgbClr val="FFFFFF"/>
                          </a:solidFill>
                          <a:latin typeface="Calibri"/>
                          <a:ea typeface="Calibri"/>
                          <a:cs typeface="Calibri"/>
                        </a:rPr>
                        <a:t>Partition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Training</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Validation</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B3A2FDB6-3440-4939-8BE2-30B0E6DA30A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toy split explains group separation.</a:t>
            </a:r>
          </a:p>
        </p:txBody>
      </p:sp>
      <p:sp>
        <p:nvSpPr>
          <p:cNvPr id="6" name="">
            <a:extLst xmlns:a="http://schemas.openxmlformats.org/drawingml/2006/main">
              <a:ext uri="{FF2B5EF4-FFF2-40B4-BE49-F238E27FC236}">
                <a16:creationId xmlns:a16="http://schemas.microsoft.com/office/drawing/2014/main" id="{44E84859-CB54-4808-A734-84BCDD3F73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10</a:t>
            </a:r>
          </a:p>
        </p:txBody>
      </p:sp>
    </p:spTree>
    <p:extLst>
      <p:ext uri="{BB962C8B-B14F-4D97-AF65-F5344CB8AC3E}">
        <p14:creationId xmlns:p14="http://schemas.microsoft.com/office/powerpoint/2010/main" val="95443316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78698CF-58EF-46BB-B59C-71AF9540EC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C94573-D629-47E1-AAE8-1033D0203B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810CD3A-2086-4412-B343-F824B4FA7B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(1/2)</a:t>
            </a:r>
          </a:p>
        </p:txBody>
      </p:sp>
      <p:sp>
        <p:nvSpPr>
          <p:cNvPr id="4" name="">
            <a:extLst xmlns:a="http://schemas.openxmlformats.org/drawingml/2006/main">
              <a:ext uri="{FF2B5EF4-FFF2-40B4-BE49-F238E27FC236}">
                <a16:creationId xmlns:a16="http://schemas.microsoft.com/office/drawing/2014/main" id="{AD129C31-8560-44E2-90F3-E0EED88CDB2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38A835-5779-4B00-A96A-F6D134F2D3E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records = [{"id": 1,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2,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3, "equipment": "B"}]</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train =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validation = []</a:t>
            </a:r>
          </a:p>
        </p:txBody>
      </p:sp>
      <p:sp>
        <p:nvSpPr>
          <p:cNvPr id="6" name="">
            <a:extLst xmlns:a="http://schemas.openxmlformats.org/drawingml/2006/main">
              <a:ext uri="{FF2B5EF4-FFF2-40B4-BE49-F238E27FC236}">
                <a16:creationId xmlns:a16="http://schemas.microsoft.com/office/drawing/2014/main" id="{0D985D69-E76E-4942-BBC9-E1B236D2A0A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F6E0A46-3583-42BD-A519-BD48590FF33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8" name="">
            <a:extLst xmlns:a="http://schemas.openxmlformats.org/drawingml/2006/main">
              <a:ext uri="{FF2B5EF4-FFF2-40B4-BE49-F238E27FC236}">
                <a16:creationId xmlns:a16="http://schemas.microsoft.com/office/drawing/2014/main" id="{C6B65D0E-3163-4858-9BEB-7DF3A4AA3B0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9" name="">
            <a:extLst xmlns:a="http://schemas.openxmlformats.org/drawingml/2006/main">
              <a:ext uri="{FF2B5EF4-FFF2-40B4-BE49-F238E27FC236}">
                <a16:creationId xmlns:a16="http://schemas.microsoft.com/office/drawing/2014/main" id="{9E7C4829-46A0-432C-8173-CB0DE63067D7}"/>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3871B7A7-4FE9-48BE-99F6-74AD3C82F91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93967A4D-FA2E-4E75-8CC8-D6F7690260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11</a:t>
            </a:r>
          </a:p>
        </p:txBody>
      </p:sp>
    </p:spTree>
    <p:extLst>
      <p:ext uri="{BB962C8B-B14F-4D97-AF65-F5344CB8AC3E}">
        <p14:creationId xmlns:p14="http://schemas.microsoft.com/office/powerpoint/2010/main" val="181551379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98475E6-3BA5-4EAA-95A0-E4BA276BCD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5BA4C2-CB91-4674-AC48-884FE3A9A7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93B89FC-270A-4D3A-93F1-A41BAB586E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(2/2)</a:t>
            </a:r>
          </a:p>
        </p:txBody>
      </p:sp>
      <p:sp>
        <p:nvSpPr>
          <p:cNvPr id="4" name="">
            <a:extLst xmlns:a="http://schemas.openxmlformats.org/drawingml/2006/main">
              <a:ext uri="{FF2B5EF4-FFF2-40B4-BE49-F238E27FC236}">
                <a16:creationId xmlns:a16="http://schemas.microsoft.com/office/drawing/2014/main" id="{B73E2A5E-4B2B-4FB5-985C-69E7D4BC1C4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DB0A59-EC32-4500-9821-F06FC527DB1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row["equipment"] == "A":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train.append(row["id"])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validation.append(row["id"])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 validation)</a:t>
            </a:r>
          </a:p>
        </p:txBody>
      </p:sp>
      <p:sp>
        <p:nvSpPr>
          <p:cNvPr id="6" name="">
            <a:extLst xmlns:a="http://schemas.openxmlformats.org/drawingml/2006/main">
              <a:ext uri="{FF2B5EF4-FFF2-40B4-BE49-F238E27FC236}">
                <a16:creationId xmlns:a16="http://schemas.microsoft.com/office/drawing/2014/main" id="{DEC47C3F-944C-4B37-BBB5-149CBCAB593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709DF18-9D19-48C2-AF18-5BFDB8C9C92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E6B005A9-E1DD-4E78-8B42-5E4EE5C8D11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BBAE9219-BAAA-4897-B208-C5C32BDF310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5C22D67D-F279-473D-961B-6269DCC01AD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C7B5F4F7-6BA4-44B8-86BC-FB2CDF220E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12</a:t>
            </a:r>
          </a:p>
        </p:txBody>
      </p:sp>
    </p:spTree>
    <p:extLst>
      <p:ext uri="{BB962C8B-B14F-4D97-AF65-F5344CB8AC3E}">
        <p14:creationId xmlns:p14="http://schemas.microsoft.com/office/powerpoint/2010/main" val="48862913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8D744DE-B5F2-4F8D-A84E-C361FAB268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E4AE11-935F-4B5F-B7A7-8556B9D4F9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984FB44B-357A-4618-86FC-91AD5C8839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results</a:t>
            </a:r>
          </a:p>
        </p:txBody>
      </p:sp>
      <p:sp>
        <p:nvSpPr>
          <p:cNvPr id="4" name="">
            <a:extLst xmlns:a="http://schemas.openxmlformats.org/drawingml/2006/main">
              <a:ext uri="{FF2B5EF4-FFF2-40B4-BE49-F238E27FC236}">
                <a16:creationId xmlns:a16="http://schemas.microsoft.com/office/drawing/2014/main" id="{1483CE1A-CF2D-49BF-B241-B598FAC4CC06}"/>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1D4874-005D-4C00-A2C9-83196FA679C0}"/>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 2] [3]</a:t>
            </a:r>
          </a:p>
        </p:txBody>
      </p:sp>
      <p:sp>
        <p:nvSpPr>
          <p:cNvPr id="6" name="">
            <a:extLst xmlns:a="http://schemas.openxmlformats.org/drawingml/2006/main">
              <a:ext uri="{FF2B5EF4-FFF2-40B4-BE49-F238E27FC236}">
                <a16:creationId xmlns:a16="http://schemas.microsoft.com/office/drawing/2014/main" id="{3832EB16-0CE1-4021-BDB8-A173FB837342}"/>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03EF1B7-7557-44D2-8031-8E23E43042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13</a:t>
            </a:r>
          </a:p>
        </p:txBody>
      </p:sp>
    </p:spTree>
    <p:extLst>
      <p:ext uri="{BB962C8B-B14F-4D97-AF65-F5344CB8AC3E}">
        <p14:creationId xmlns:p14="http://schemas.microsoft.com/office/powerpoint/2010/main" val="18959640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39AD63-6BB5-457B-8F02-C20E693BEC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84B75C-F00E-4334-A7F5-7B9874F885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94A18F1-1D66-4F98-BA58-D13BE8C756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and pipeline</a:t>
            </a:r>
          </a:p>
        </p:txBody>
      </p:sp>
      <p:sp>
        <p:nvSpPr>
          <p:cNvPr id="4" name="">
            <a:extLst xmlns:a="http://schemas.openxmlformats.org/drawingml/2006/main">
              <a:ext uri="{FF2B5EF4-FFF2-40B4-BE49-F238E27FC236}">
                <a16:creationId xmlns:a16="http://schemas.microsoft.com/office/drawing/2014/main" id="{D056FEEA-80B8-4564-A00B-62763A0D2FB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16EC59-041C-4D44-8AE1-6E1C89898A6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Preprocessing and pipeline</a:t>
            </a:r>
          </a:p>
        </p:txBody>
      </p:sp>
      <p:sp>
        <p:nvSpPr>
          <p:cNvPr id="6" name="">
            <a:extLst xmlns:a="http://schemas.openxmlformats.org/drawingml/2006/main">
              <a:ext uri="{FF2B5EF4-FFF2-40B4-BE49-F238E27FC236}">
                <a16:creationId xmlns:a16="http://schemas.microsoft.com/office/drawing/2014/main" id="{D770C78A-863E-4593-BE37-DF8BF565E9F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Preprocessing changes inputs, for example filling missing values. A pipeline fits these steps on training data and applies the same fitted changes to new inputs.</a:t>
            </a:r>
          </a:p>
        </p:txBody>
      </p:sp>
      <p:sp>
        <p:nvSpPr>
          <p:cNvPr id="7" name="">
            <a:extLst xmlns:a="http://schemas.openxmlformats.org/drawingml/2006/main">
              <a:ext uri="{FF2B5EF4-FFF2-40B4-BE49-F238E27FC236}">
                <a16:creationId xmlns:a16="http://schemas.microsoft.com/office/drawing/2014/main" id="{14C045FA-670B-4A0D-B05F-51F49D80DF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14</a:t>
            </a:r>
          </a:p>
        </p:txBody>
      </p:sp>
    </p:spTree>
    <p:extLst>
      <p:ext uri="{BB962C8B-B14F-4D97-AF65-F5344CB8AC3E}">
        <p14:creationId xmlns:p14="http://schemas.microsoft.com/office/powerpoint/2010/main" val="130962014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211356-7CD2-4575-9DD7-5C0A5C450C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CB4430-843F-4083-87D8-7320F16268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5B0F47-4ECF-497F-8668-41FA2DB66E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learned cleaning value comes from training</a:t>
            </a:r>
          </a:p>
        </p:txBody>
      </p:sp>
      <p:sp>
        <p:nvSpPr>
          <p:cNvPr id="4" name="">
            <a:extLst xmlns:a="http://schemas.openxmlformats.org/drawingml/2006/main">
              <a:ext uri="{FF2B5EF4-FFF2-40B4-BE49-F238E27FC236}">
                <a16:creationId xmlns:a16="http://schemas.microsoft.com/office/drawing/2014/main" id="{5217200A-6A7A-4008-97E8-B5A024407E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727052-02E1-47F5-BEB5-E8FE6728343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readings are 20, 22 and 24. Their median is 22.</a:t>
            </a:r>
          </a:p>
        </p:txBody>
      </p:sp>
      <p:sp>
        <p:nvSpPr>
          <p:cNvPr id="6" name="">
            <a:extLst xmlns:a="http://schemas.openxmlformats.org/drawingml/2006/main">
              <a:ext uri="{FF2B5EF4-FFF2-40B4-BE49-F238E27FC236}">
                <a16:creationId xmlns:a16="http://schemas.microsoft.com/office/drawing/2014/main" id="{7C31C455-D9F3-4F40-BB44-4350F41FB1E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76F933-76D0-4D52-9FE5-4001FC9E6D6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validation value receives the already learned 22.</a:t>
            </a:r>
          </a:p>
        </p:txBody>
      </p:sp>
      <p:sp>
        <p:nvSpPr>
          <p:cNvPr id="8" name="">
            <a:extLst xmlns:a="http://schemas.openxmlformats.org/drawingml/2006/main">
              <a:ext uri="{FF2B5EF4-FFF2-40B4-BE49-F238E27FC236}">
                <a16:creationId xmlns:a16="http://schemas.microsoft.com/office/drawing/2014/main" id="{4DE69E73-635F-48AC-9134-DA7225B1E32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4637CF-8040-4A0A-877D-60CDFBE5D9F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new validation reading of 40 must not change the fitted median.</a:t>
            </a:r>
          </a:p>
        </p:txBody>
      </p:sp>
      <p:sp>
        <p:nvSpPr>
          <p:cNvPr id="10" name="">
            <a:extLst xmlns:a="http://schemas.openxmlformats.org/drawingml/2006/main">
              <a:ext uri="{FF2B5EF4-FFF2-40B4-BE49-F238E27FC236}">
                <a16:creationId xmlns:a16="http://schemas.microsoft.com/office/drawing/2014/main" id="{3812FEB3-4383-49C3-86A4-DAFADB03F1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15</a:t>
            </a:r>
          </a:p>
        </p:txBody>
      </p:sp>
    </p:spTree>
    <p:extLst>
      <p:ext uri="{BB962C8B-B14F-4D97-AF65-F5344CB8AC3E}">
        <p14:creationId xmlns:p14="http://schemas.microsoft.com/office/powerpoint/2010/main" val="209077925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9F064BC-979C-442B-944C-78F7441181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82A9B1-A508-4334-AA77-96D5D3D95E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1EB6035-BC06-477D-BA2F-E6856A7585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(1/2)</a:t>
            </a:r>
          </a:p>
        </p:txBody>
      </p:sp>
      <p:sp>
        <p:nvSpPr>
          <p:cNvPr id="4" name="">
            <a:extLst xmlns:a="http://schemas.openxmlformats.org/drawingml/2006/main">
              <a:ext uri="{FF2B5EF4-FFF2-40B4-BE49-F238E27FC236}">
                <a16:creationId xmlns:a16="http://schemas.microsoft.com/office/drawing/2014/main" id="{A2B8DDB1-175C-4F18-A3F1-ED0A3505811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6E90D5-ECF3-4E0E-B532-60C28739E32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from</a:t>
            </a:r>
            <a:r>
              <a:rPr sz="2039" b="0">
                <a:solidFill>
                  <a:srgbClr val="F4F7FA"/>
                </a:solidFill>
                <a:latin typeface="Courier New"/>
                <a:ea typeface="Courier New"/>
                <a:cs typeface="Courier New"/>
              </a:rPr>
              <a:t> statistics </a:t>
            </a:r>
            <a:r>
              <a:rPr sz="2039" b="0">
                <a:solidFill>
                  <a:srgbClr val="FFB080"/>
                </a:solidFill>
                <a:latin typeface="Courier New"/>
                <a:ea typeface="Courier New"/>
                <a:cs typeface="Courier New"/>
              </a:rPr>
              <a:t>import</a:t>
            </a:r>
            <a:r>
              <a:rPr sz="2039" b="0">
                <a:solidFill>
                  <a:srgbClr val="F4F7FA"/>
                </a:solidFill>
                <a:latin typeface="Courier New"/>
                <a:ea typeface="Courier New"/>
                <a:cs typeface="Courier New"/>
              </a:rPr>
              <a:t> median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training_values = [20, 22, 24]</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validation_values = [</a:t>
            </a:r>
            <a:r>
              <a:rPr sz="2039" b="0">
                <a:solidFill>
                  <a:srgbClr val="FFB080"/>
                </a:solidFill>
                <a:latin typeface="Courier New"/>
                <a:ea typeface="Courier New"/>
                <a:cs typeface="Courier New"/>
              </a:rPr>
              <a:t>None</a:t>
            </a:r>
            <a:r>
              <a:rPr sz="2039" b="0">
                <a:solidFill>
                  <a:srgbClr val="F4F7FA"/>
                </a:solidFill>
                <a:latin typeface="Courier New"/>
                <a:ea typeface="Courier New"/>
                <a:cs typeface="Courier New"/>
              </a:rPr>
              <a:t>, 40]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training_median = median(training_values)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filled_validation = []</a:t>
            </a:r>
          </a:p>
        </p:txBody>
      </p:sp>
      <p:sp>
        <p:nvSpPr>
          <p:cNvPr id="6" name="">
            <a:extLst xmlns:a="http://schemas.openxmlformats.org/drawingml/2006/main">
              <a:ext uri="{FF2B5EF4-FFF2-40B4-BE49-F238E27FC236}">
                <a16:creationId xmlns:a16="http://schemas.microsoft.com/office/drawing/2014/main" id="{DAD56E0D-957E-4335-AB3D-5108D9DD944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B281905-0156-4535-AA8F-824EC0D5D24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E5EC9DEA-02A5-431E-83FC-7CC3D73993A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41B3F40B-357E-415F-9CAE-B791B9E11E87}"/>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567DAFC5-34AC-446D-98CB-CF81093CBA7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BB689250-BABB-4CF9-8035-ABD2240CE6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16</a:t>
            </a:r>
          </a:p>
        </p:txBody>
      </p:sp>
    </p:spTree>
    <p:extLst>
      <p:ext uri="{BB962C8B-B14F-4D97-AF65-F5344CB8AC3E}">
        <p14:creationId xmlns:p14="http://schemas.microsoft.com/office/powerpoint/2010/main" val="203417845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1A8C59A-0CDD-46B5-8A54-E54A435454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0BD74E-2DA4-4EC6-B9BD-D880D349B5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69A24EF-08FD-41DC-9B2A-4C5DD3F39D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(2/2)</a:t>
            </a:r>
          </a:p>
        </p:txBody>
      </p:sp>
      <p:sp>
        <p:nvSpPr>
          <p:cNvPr id="4" name="">
            <a:extLst xmlns:a="http://schemas.openxmlformats.org/drawingml/2006/main">
              <a:ext uri="{FF2B5EF4-FFF2-40B4-BE49-F238E27FC236}">
                <a16:creationId xmlns:a16="http://schemas.microsoft.com/office/drawing/2014/main" id="{8028CCB4-1278-4928-A4B5-918D2C86619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2A7AED-A772-4150-849C-5CFC1EB005D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validation_values: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filled_validation.append(training_median)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print(training_median, filled_validation)</a:t>
            </a:r>
          </a:p>
        </p:txBody>
      </p:sp>
      <p:sp>
        <p:nvSpPr>
          <p:cNvPr id="6" name="">
            <a:extLst xmlns:a="http://schemas.openxmlformats.org/drawingml/2006/main">
              <a:ext uri="{FF2B5EF4-FFF2-40B4-BE49-F238E27FC236}">
                <a16:creationId xmlns:a16="http://schemas.microsoft.com/office/drawing/2014/main" id="{7CC3367F-4343-403C-9E28-BF4D8A8F530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A24BC56E-00BD-4F4E-89B5-10A39A120B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A28E53DC-9EC5-4FF0-9460-06D8B2D647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17</a:t>
            </a:r>
          </a:p>
        </p:txBody>
      </p:sp>
    </p:spTree>
    <p:extLst>
      <p:ext uri="{BB962C8B-B14F-4D97-AF65-F5344CB8AC3E}">
        <p14:creationId xmlns:p14="http://schemas.microsoft.com/office/powerpoint/2010/main" val="4112795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193F5D8-06F9-4C9F-9232-9A540AF842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917F6F-8DB1-4E26-8371-039DC92A05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46984F-DDFA-4F02-A4A0-DCD802ADDE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gives away information from the future</a:t>
            </a:r>
          </a:p>
        </p:txBody>
      </p:sp>
      <p:sp>
        <p:nvSpPr>
          <p:cNvPr id="4" name="">
            <a:extLst xmlns:a="http://schemas.openxmlformats.org/drawingml/2006/main">
              <a:ext uri="{FF2B5EF4-FFF2-40B4-BE49-F238E27FC236}">
                <a16:creationId xmlns:a16="http://schemas.microsoft.com/office/drawing/2014/main" id="{7145809E-0B38-4D51-95F2-4AD7EEC8595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A200C85-3853-47C8-945E-B816A7E8441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Suppose we predict a fault before an inspection.</a:t>
            </a:r>
          </a:p>
        </p:txBody>
      </p:sp>
      <p:sp>
        <p:nvSpPr>
          <p:cNvPr id="6" name="">
            <a:extLst xmlns:a="http://schemas.openxmlformats.org/drawingml/2006/main">
              <a:ext uri="{FF2B5EF4-FFF2-40B4-BE49-F238E27FC236}">
                <a16:creationId xmlns:a16="http://schemas.microsoft.com/office/drawing/2014/main" id="{7870D483-2728-49DD-9C73-D7C5FD1234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811E2B-C593-46B0-9A8F-627F2FE6FA1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final_inspection_result exists only after the inspection.</a:t>
            </a:r>
          </a:p>
        </p:txBody>
      </p:sp>
      <p:sp>
        <p:nvSpPr>
          <p:cNvPr id="8" name="">
            <a:extLst xmlns:a="http://schemas.openxmlformats.org/drawingml/2006/main">
              <a:ext uri="{FF2B5EF4-FFF2-40B4-BE49-F238E27FC236}">
                <a16:creationId xmlns:a16="http://schemas.microsoft.com/office/drawing/2014/main" id="{BC5BD242-63A0-418C-8040-B77BFDA8620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37AF17-E1F9-4B2F-BC10-A182E21E78B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it as an input would answer a different, easier question than the one we intended.</a:t>
            </a:r>
          </a:p>
        </p:txBody>
      </p:sp>
      <p:sp>
        <p:nvSpPr>
          <p:cNvPr id="10" name="">
            <a:extLst xmlns:a="http://schemas.openxmlformats.org/drawingml/2006/main">
              <a:ext uri="{FF2B5EF4-FFF2-40B4-BE49-F238E27FC236}">
                <a16:creationId xmlns:a16="http://schemas.microsoft.com/office/drawing/2014/main" id="{9C00CF0D-D587-42B2-A92C-39E4165C11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18</a:t>
            </a:r>
          </a:p>
        </p:txBody>
      </p:sp>
    </p:spTree>
    <p:extLst>
      <p:ext uri="{BB962C8B-B14F-4D97-AF65-F5344CB8AC3E}">
        <p14:creationId xmlns:p14="http://schemas.microsoft.com/office/powerpoint/2010/main" val="81261915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119C1F-7499-47F2-A255-345F48C47D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8AABE3-5C50-483A-9DF1-4764F04B4C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D83306-324B-411A-B39A-1F1E858CD6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Parameters hyperparameters and a fold</a:t>
            </a:r>
          </a:p>
        </p:txBody>
      </p:sp>
      <p:sp>
        <p:nvSpPr>
          <p:cNvPr id="4" name="">
            <a:extLst xmlns:a="http://schemas.openxmlformats.org/drawingml/2006/main">
              <a:ext uri="{FF2B5EF4-FFF2-40B4-BE49-F238E27FC236}">
                <a16:creationId xmlns:a16="http://schemas.microsoft.com/office/drawing/2014/main" id="{44F92FF0-23D5-4B33-9FB1-14D079A36CA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91755C-267A-4F0D-8D71-E014DCB76E0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parameter is learned during fitting, such as a line’s slope. A hyperparameter is a setting chosen around fitting, such as a tree’s max_depth.</a:t>
            </a:r>
          </a:p>
        </p:txBody>
      </p:sp>
      <p:sp>
        <p:nvSpPr>
          <p:cNvPr id="6" name="">
            <a:extLst xmlns:a="http://schemas.openxmlformats.org/drawingml/2006/main">
              <a:ext uri="{FF2B5EF4-FFF2-40B4-BE49-F238E27FC236}">
                <a16:creationId xmlns:a16="http://schemas.microsoft.com/office/drawing/2014/main" id="{A4A29710-7673-4A98-8CFD-7FA442A51BD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84708C-90BC-4A31-80A8-289D25B5213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fold is one part of the development data used for a validation turn. Refit the entire preprocessing and model on the other parts for that turn.</a:t>
            </a:r>
          </a:p>
        </p:txBody>
      </p:sp>
      <p:sp>
        <p:nvSpPr>
          <p:cNvPr id="8" name="">
            <a:extLst xmlns:a="http://schemas.openxmlformats.org/drawingml/2006/main">
              <a:ext uri="{FF2B5EF4-FFF2-40B4-BE49-F238E27FC236}">
                <a16:creationId xmlns:a16="http://schemas.microsoft.com/office/drawing/2014/main" id="{02460017-2A0B-42C5-AD4D-EF132FB2497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278C70F-929C-4BED-A1C3-7C68B4EE8ED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candidate settings using validation evidence. Keep the final test outside that selection process.</a:t>
            </a:r>
          </a:p>
        </p:txBody>
      </p:sp>
      <p:sp>
        <p:nvSpPr>
          <p:cNvPr id="10" name="">
            <a:extLst xmlns:a="http://schemas.openxmlformats.org/drawingml/2006/main">
              <a:ext uri="{FF2B5EF4-FFF2-40B4-BE49-F238E27FC236}">
                <a16:creationId xmlns:a16="http://schemas.microsoft.com/office/drawing/2014/main" id="{F6A8D5AE-A5D7-454F-B293-847B107088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19</a:t>
            </a:r>
          </a:p>
        </p:txBody>
      </p:sp>
    </p:spTree>
    <p:extLst>
      <p:ext uri="{BB962C8B-B14F-4D97-AF65-F5344CB8AC3E}">
        <p14:creationId xmlns:p14="http://schemas.microsoft.com/office/powerpoint/2010/main" val="51391701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7917D7B-EE6D-4161-B3DB-B05197E48D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D8B925-8399-49BA-A465-76D1EF4DDC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A56FDDD-C5B7-4758-8090-CB05C64FAA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a:t>
            </a:r>
          </a:p>
        </p:txBody>
      </p:sp>
      <p:sp>
        <p:nvSpPr>
          <p:cNvPr id="4" name="">
            <a:extLst xmlns:a="http://schemas.openxmlformats.org/drawingml/2006/main">
              <a:ext uri="{FF2B5EF4-FFF2-40B4-BE49-F238E27FC236}">
                <a16:creationId xmlns:a16="http://schemas.microsoft.com/office/drawing/2014/main" id="{3C0CEEED-FB58-40EA-8C32-E7B8570D176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52A1D6-5FC8-40C6-8BEF-90C89396231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Cross-validation</a:t>
            </a:r>
          </a:p>
        </p:txBody>
      </p:sp>
      <p:sp>
        <p:nvSpPr>
          <p:cNvPr id="6" name="">
            <a:extLst xmlns:a="http://schemas.openxmlformats.org/drawingml/2006/main">
              <a:ext uri="{FF2B5EF4-FFF2-40B4-BE49-F238E27FC236}">
                <a16:creationId xmlns:a16="http://schemas.microsoft.com/office/drawing/2014/main" id="{7D99E15F-C025-4F81-A28A-00C231A96B61}"/>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Repeat fitting and validation on several partitions of the training/development data. Respect groups or time order. Keep the final test outside tuning.</a:t>
            </a:r>
          </a:p>
        </p:txBody>
      </p:sp>
      <p:sp>
        <p:nvSpPr>
          <p:cNvPr id="7" name="">
            <a:extLst xmlns:a="http://schemas.openxmlformats.org/drawingml/2006/main">
              <a:ext uri="{FF2B5EF4-FFF2-40B4-BE49-F238E27FC236}">
                <a16:creationId xmlns:a16="http://schemas.microsoft.com/office/drawing/2014/main" id="{8F60CB37-DEC7-415F-A3D6-6748947044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20</a:t>
            </a:r>
          </a:p>
        </p:txBody>
      </p:sp>
    </p:spTree>
    <p:extLst>
      <p:ext uri="{BB962C8B-B14F-4D97-AF65-F5344CB8AC3E}">
        <p14:creationId xmlns:p14="http://schemas.microsoft.com/office/powerpoint/2010/main" val="106343120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7AE220-6BCA-43BE-BED5-0FE4C34847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A6FCAD-CA6C-4150-A3E9-7976BB0F25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4BBF63-1C10-4DAC-AD12-05653700AC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standard deviation tells us</a:t>
            </a:r>
          </a:p>
        </p:txBody>
      </p:sp>
      <p:sp>
        <p:nvSpPr>
          <p:cNvPr id="4" name="">
            <a:extLst xmlns:a="http://schemas.openxmlformats.org/drawingml/2006/main">
              <a:ext uri="{FF2B5EF4-FFF2-40B4-BE49-F238E27FC236}">
                <a16:creationId xmlns:a16="http://schemas.microsoft.com/office/drawing/2014/main" id="{324AD687-3947-458D-8BBD-976129B7BF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9D940A-9CB6-4E4A-B556-CAA54EE85A3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Scores 3, 4 and 5 have mean 4. Their deviations are -1, 0 and 1.</a:t>
            </a:r>
          </a:p>
        </p:txBody>
      </p:sp>
      <p:sp>
        <p:nvSpPr>
          <p:cNvPr id="6" name="">
            <a:extLst xmlns:a="http://schemas.openxmlformats.org/drawingml/2006/main">
              <a:ext uri="{FF2B5EF4-FFF2-40B4-BE49-F238E27FC236}">
                <a16:creationId xmlns:a16="http://schemas.microsoft.com/office/drawing/2014/main" id="{5B83A84B-468C-4438-830B-9D90DC050C7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B93A584-ECE9-446B-9FDD-2D791FBDB6F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three fold scores, population SD = sqrt((1 + 0 + 1) / 3), about 0.82.</a:t>
            </a:r>
          </a:p>
        </p:txBody>
      </p:sp>
      <p:sp>
        <p:nvSpPr>
          <p:cNvPr id="8" name="">
            <a:extLst xmlns:a="http://schemas.openxmlformats.org/drawingml/2006/main">
              <a:ext uri="{FF2B5EF4-FFF2-40B4-BE49-F238E27FC236}">
                <a16:creationId xmlns:a16="http://schemas.microsoft.com/office/drawing/2014/main" id="{23D77C87-E074-46DD-AA6B-95AF830407D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2856290-7FE5-480A-AA32-AE18429BAA2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SD describes spread around the mean in the score’s units. The next illustration uses this same population convention; it is not a confidence interval.</a:t>
            </a:r>
          </a:p>
        </p:txBody>
      </p:sp>
      <p:sp>
        <p:nvSpPr>
          <p:cNvPr id="10" name="">
            <a:extLst xmlns:a="http://schemas.openxmlformats.org/drawingml/2006/main">
              <a:ext uri="{FF2B5EF4-FFF2-40B4-BE49-F238E27FC236}">
                <a16:creationId xmlns:a16="http://schemas.microsoft.com/office/drawing/2014/main" id="{F3F88D69-C9DF-4B3B-9915-C1783B9203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21</a:t>
            </a:r>
          </a:p>
        </p:txBody>
      </p:sp>
    </p:spTree>
    <p:extLst>
      <p:ext uri="{BB962C8B-B14F-4D97-AF65-F5344CB8AC3E}">
        <p14:creationId xmlns:p14="http://schemas.microsoft.com/office/powerpoint/2010/main" val="10833057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C3B8F0D-0783-4CDB-BA02-671C5B6C2D2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E9BC36-B710-45DD-AB41-A8863666ACD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611f4f9870654710"/>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E744024-52BF-4418-844D-B92117927AE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BFF494-C3CE-4ECD-9B74-6996A2C8350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Illustrated spread: population SD 0.39 MPa, not a confidence interval.</a:t>
            </a:r>
          </a:p>
        </p:txBody>
      </p:sp>
      <p:sp>
        <p:nvSpPr>
          <p:cNvPr id="6" name="">
            <a:extLst xmlns:a="http://schemas.openxmlformats.org/drawingml/2006/main">
              <a:ext uri="{FF2B5EF4-FFF2-40B4-BE49-F238E27FC236}">
                <a16:creationId xmlns:a16="http://schemas.microsoft.com/office/drawing/2014/main" id="{7B9456EA-9A51-4ABF-B83B-223028D3FE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22</a:t>
            </a:r>
          </a:p>
        </p:txBody>
      </p:sp>
    </p:spTree>
    <p:extLst>
      <p:ext uri="{BB962C8B-B14F-4D97-AF65-F5344CB8AC3E}">
        <p14:creationId xmlns:p14="http://schemas.microsoft.com/office/powerpoint/2010/main" val="142338581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4872DB-CEE0-4663-B619-DAD4E8CFE6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561DB7-C755-4687-89F4-FA1A039C9F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6F587F2-7200-4EDE-B488-1E8236F377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split that matches future use</a:t>
            </a:r>
          </a:p>
        </p:txBody>
      </p:sp>
      <p:sp>
        <p:nvSpPr>
          <p:cNvPr id="4" name="">
            <a:extLst xmlns:a="http://schemas.openxmlformats.org/drawingml/2006/main">
              <a:ext uri="{FF2B5EF4-FFF2-40B4-BE49-F238E27FC236}">
                <a16:creationId xmlns:a16="http://schemas.microsoft.com/office/drawing/2014/main" id="{1868D89E-1969-4B23-8CEB-954143FCEF6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B5D1A9-2807-4690-9073-83AA22C5433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Equipment or time</a:t>
            </a:r>
          </a:p>
        </p:txBody>
      </p:sp>
      <p:sp>
        <p:nvSpPr>
          <p:cNvPr id="6" name="">
            <a:extLst xmlns:a="http://schemas.openxmlformats.org/drawingml/2006/main">
              <a:ext uri="{FF2B5EF4-FFF2-40B4-BE49-F238E27FC236}">
                <a16:creationId xmlns:a16="http://schemas.microsoft.com/office/drawing/2014/main" id="{6D6E9404-DB95-4616-8C77-32928D40D9C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unseen equipment, keep each equipment ID together. For future-time prediction, train on earlier observations and evaluate on later ones.</a:t>
            </a:r>
          </a:p>
        </p:txBody>
      </p:sp>
      <p:sp>
        <p:nvSpPr>
          <p:cNvPr id="7" name="">
            <a:extLst xmlns:a="http://schemas.openxmlformats.org/drawingml/2006/main">
              <a:ext uri="{FF2B5EF4-FFF2-40B4-BE49-F238E27FC236}">
                <a16:creationId xmlns:a16="http://schemas.microsoft.com/office/drawing/2014/main" id="{7CA9E1D8-CFAE-4DF3-A7C8-1E2E2EE2E53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1D3A212-0133-43A8-9BDC-22193914A3C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Scaler and split tool</a:t>
            </a:r>
          </a:p>
        </p:txBody>
      </p:sp>
      <p:sp>
        <p:nvSpPr>
          <p:cNvPr id="9" name="">
            <a:extLst xmlns:a="http://schemas.openxmlformats.org/drawingml/2006/main">
              <a:ext uri="{FF2B5EF4-FFF2-40B4-BE49-F238E27FC236}">
                <a16:creationId xmlns:a16="http://schemas.microsoft.com/office/drawing/2014/main" id="{AD6187BC-DD63-4261-93F3-B22268EB828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scaler learns how to rescale features; fit it on training data. GroupShuffleSplit is a library tool for group separation. Our assignment instead uses its fixed published equipment lists.</a:t>
            </a:r>
          </a:p>
        </p:txBody>
      </p:sp>
      <p:sp>
        <p:nvSpPr>
          <p:cNvPr id="10" name="">
            <a:extLst xmlns:a="http://schemas.openxmlformats.org/drawingml/2006/main">
              <a:ext uri="{FF2B5EF4-FFF2-40B4-BE49-F238E27FC236}">
                <a16:creationId xmlns:a16="http://schemas.microsoft.com/office/drawing/2014/main" id="{F2F25A6A-C8B0-48AC-9A67-D5415EE368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23</a:t>
            </a:r>
          </a:p>
        </p:txBody>
      </p:sp>
    </p:spTree>
    <p:extLst>
      <p:ext uri="{BB962C8B-B14F-4D97-AF65-F5344CB8AC3E}">
        <p14:creationId xmlns:p14="http://schemas.microsoft.com/office/powerpoint/2010/main" val="260803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8F2B21-3F8E-487E-B2D9-1BA64BF059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E5AA2B-8274-4E2B-A8D2-1BA6CF574C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A5995DE-B9E5-4B4E-9D4E-539A510F41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66EF4BC0-0A61-4058-87D4-EF80413506A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658D83-0A91-4819-9E45-1B53205014B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D462B7A-4472-4BF7-818A-8D2A89D4E74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second observation from B arrives. Where does it go? Why not put it into training just to balance row counts?</a:t>
            </a:r>
          </a:p>
        </p:txBody>
      </p:sp>
      <p:sp>
        <p:nvSpPr>
          <p:cNvPr id="7" name="">
            <a:extLst xmlns:a="http://schemas.openxmlformats.org/drawingml/2006/main">
              <a:ext uri="{FF2B5EF4-FFF2-40B4-BE49-F238E27FC236}">
                <a16:creationId xmlns:a16="http://schemas.microsoft.com/office/drawing/2014/main" id="{370D848C-F54A-480F-A6C6-ED766C3886E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It stays with B in validation. Mixing a source across partitions can give an overly optimistic estimate for unseen equipment.</a:t>
            </a:r>
          </a:p>
        </p:txBody>
      </p:sp>
      <p:sp>
        <p:nvSpPr>
          <p:cNvPr id="8" name="">
            <a:extLst xmlns:a="http://schemas.openxmlformats.org/drawingml/2006/main">
              <a:ext uri="{FF2B5EF4-FFF2-40B4-BE49-F238E27FC236}">
                <a16:creationId xmlns:a16="http://schemas.microsoft.com/office/drawing/2014/main" id="{5B883D9A-97FC-4B03-9A2D-B0742B7A88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24</a:t>
            </a:r>
          </a:p>
        </p:txBody>
      </p:sp>
    </p:spTree>
    <p:extLst>
      <p:ext uri="{BB962C8B-B14F-4D97-AF65-F5344CB8AC3E}">
        <p14:creationId xmlns:p14="http://schemas.microsoft.com/office/powerpoint/2010/main" val="36870131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16834EB-5097-4C0A-8207-5E72EC97FB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B89D22-D4DE-4678-876C-949D77062F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AD15490-E387-4E23-AB88-94884153E1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46E6A65C-9FE9-4BCB-9A07-C8BB5FFA175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14D587-FB7E-4E11-AD94-035D0CA6892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W10 specifies E1–E4 train, E5 validation, E6 test and preserves input order.</a:t>
            </a:r>
          </a:p>
        </p:txBody>
      </p:sp>
      <p:sp>
        <p:nvSpPr>
          <p:cNvPr id="6" name="">
            <a:extLst xmlns:a="http://schemas.openxmlformats.org/drawingml/2006/main">
              <a:ext uri="{FF2B5EF4-FFF2-40B4-BE49-F238E27FC236}">
                <a16:creationId xmlns:a16="http://schemas.microsoft.com/office/drawing/2014/main" id="{966AF636-3DBA-4601-9E13-FF3577ABDCE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90864D-5951-43FA-986B-8CB5C368B0F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assigned equipment_id field and record_id outputs.</a:t>
            </a:r>
          </a:p>
        </p:txBody>
      </p:sp>
      <p:sp>
        <p:nvSpPr>
          <p:cNvPr id="8" name="">
            <a:extLst xmlns:a="http://schemas.openxmlformats.org/drawingml/2006/main">
              <a:ext uri="{FF2B5EF4-FFF2-40B4-BE49-F238E27FC236}">
                <a16:creationId xmlns:a16="http://schemas.microsoft.com/office/drawing/2014/main" id="{00CABEF5-C51E-4467-BCC8-86EB64F6CCC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32556BA-E205-46D8-9A2F-2FC186C15B9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Reuse the W08 fitting pattern.</a:t>
            </a:r>
          </a:p>
        </p:txBody>
      </p:sp>
      <p:sp>
        <p:nvSpPr>
          <p:cNvPr id="10" name="">
            <a:extLst xmlns:a="http://schemas.openxmlformats.org/drawingml/2006/main">
              <a:ext uri="{FF2B5EF4-FFF2-40B4-BE49-F238E27FC236}">
                <a16:creationId xmlns:a16="http://schemas.microsoft.com/office/drawing/2014/main" id="{38904759-D4F3-4685-917F-A6761CA3242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B959ED9-7F79-4CD7-AE62-E2F308F81CE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GroupShuffleSplit and time-based splitting solve different deployment questions; use the rule in the issued task.</a:t>
            </a:r>
          </a:p>
        </p:txBody>
      </p:sp>
      <p:sp>
        <p:nvSpPr>
          <p:cNvPr id="12" name="">
            <a:extLst xmlns:a="http://schemas.openxmlformats.org/drawingml/2006/main">
              <a:ext uri="{FF2B5EF4-FFF2-40B4-BE49-F238E27FC236}">
                <a16:creationId xmlns:a16="http://schemas.microsoft.com/office/drawing/2014/main" id="{2D109242-084F-435B-90CC-E456B63565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25</a:t>
            </a:r>
          </a:p>
        </p:txBody>
      </p:sp>
    </p:spTree>
    <p:extLst>
      <p:ext uri="{BB962C8B-B14F-4D97-AF65-F5344CB8AC3E}">
        <p14:creationId xmlns:p14="http://schemas.microsoft.com/office/powerpoint/2010/main" val="157368795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CA566DF-431A-475A-AD04-975DE21895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A019A2-6C3A-405F-8CC0-4B4B03C2A1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D543CF-E08C-499F-9573-B2A88C9166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a:t>
            </a:r>
          </a:p>
        </p:txBody>
      </p:sp>
      <p:sp>
        <p:nvSpPr>
          <p:cNvPr id="4" name="">
            <a:extLst xmlns:a="http://schemas.openxmlformats.org/drawingml/2006/main">
              <a:ext uri="{FF2B5EF4-FFF2-40B4-BE49-F238E27FC236}">
                <a16:creationId xmlns:a16="http://schemas.microsoft.com/office/drawing/2014/main" id="{5837EED3-FAB3-4C26-9047-02D3F8BF69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EDD0916-EEF9-4BC4-B237-6A142CD36DC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an imputer or scaler only on training data; putting it in a Pipeline helps enforce that during cross-validation.</a:t>
            </a:r>
          </a:p>
        </p:txBody>
      </p:sp>
      <p:sp>
        <p:nvSpPr>
          <p:cNvPr id="6" name="">
            <a:extLst xmlns:a="http://schemas.openxmlformats.org/drawingml/2006/main">
              <a:ext uri="{FF2B5EF4-FFF2-40B4-BE49-F238E27FC236}">
                <a16:creationId xmlns:a16="http://schemas.microsoft.com/office/drawing/2014/main" id="{9A822AA1-F4D8-43C9-B3B6-4EC3F0495F5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7C7E69-1E13-4CD0-9768-465D42FC9E4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low training error and high validation error suggest overfitting, but data shift or leakage can also matter.</a:t>
            </a:r>
          </a:p>
        </p:txBody>
      </p:sp>
      <p:sp>
        <p:nvSpPr>
          <p:cNvPr id="8" name="">
            <a:extLst xmlns:a="http://schemas.openxmlformats.org/drawingml/2006/main">
              <a:ext uri="{FF2B5EF4-FFF2-40B4-BE49-F238E27FC236}">
                <a16:creationId xmlns:a16="http://schemas.microsoft.com/office/drawing/2014/main" id="{1F5D9565-61B3-409D-8DCA-21FC64F7987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F99B55-341F-473F-805B-06F43C76DED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predictor values need a stated treatment.</a:t>
            </a:r>
          </a:p>
        </p:txBody>
      </p:sp>
      <p:sp>
        <p:nvSpPr>
          <p:cNvPr id="10" name="">
            <a:extLst xmlns:a="http://schemas.openxmlformats.org/drawingml/2006/main">
              <a:ext uri="{FF2B5EF4-FFF2-40B4-BE49-F238E27FC236}">
                <a16:creationId xmlns:a16="http://schemas.microsoft.com/office/drawing/2014/main" id="{0FDF900E-1777-461D-A39F-D6286ECBB6F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E4A715F-24D8-42AE-AD12-373C40EA9C8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fold scores and their variation, not just the best fold.</a:t>
            </a:r>
          </a:p>
        </p:txBody>
      </p:sp>
      <p:sp>
        <p:nvSpPr>
          <p:cNvPr id="12" name="">
            <a:extLst xmlns:a="http://schemas.openxmlformats.org/drawingml/2006/main">
              <a:ext uri="{FF2B5EF4-FFF2-40B4-BE49-F238E27FC236}">
                <a16:creationId xmlns:a16="http://schemas.microsoft.com/office/drawing/2014/main" id="{3FB813D2-84E1-47C3-9A6A-05B5252402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26</a:t>
            </a:r>
          </a:p>
        </p:txBody>
      </p:sp>
    </p:spTree>
    <p:extLst>
      <p:ext uri="{BB962C8B-B14F-4D97-AF65-F5344CB8AC3E}">
        <p14:creationId xmlns:p14="http://schemas.microsoft.com/office/powerpoint/2010/main" val="213080330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97FFB1B-7866-4D77-9B5B-50AA3E1DD7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5B81A1-C25A-4345-891B-FE75886EBC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F643A0-DC68-4891-B00C-3599E9E452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 continued</a:t>
            </a:r>
          </a:p>
        </p:txBody>
      </p:sp>
      <p:sp>
        <p:nvSpPr>
          <p:cNvPr id="4" name="">
            <a:extLst xmlns:a="http://schemas.openxmlformats.org/drawingml/2006/main">
              <a:ext uri="{FF2B5EF4-FFF2-40B4-BE49-F238E27FC236}">
                <a16:creationId xmlns:a16="http://schemas.microsoft.com/office/drawing/2014/main" id="{F0297671-5D3A-43C9-AA39-9B14F06A156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58AD81-4DED-4C2D-BDD3-7C7182E4FC3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Group related observations together when the deployment goal is new equipment.</a:t>
            </a:r>
          </a:p>
        </p:txBody>
      </p:sp>
      <p:sp>
        <p:nvSpPr>
          <p:cNvPr id="6" name="">
            <a:extLst xmlns:a="http://schemas.openxmlformats.org/drawingml/2006/main">
              <a:ext uri="{FF2B5EF4-FFF2-40B4-BE49-F238E27FC236}">
                <a16:creationId xmlns:a16="http://schemas.microsoft.com/office/drawing/2014/main" id="{0D51F5FE-600B-4540-BDB7-4AF920727E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27</a:t>
            </a:r>
          </a:p>
        </p:txBody>
      </p:sp>
    </p:spTree>
    <p:extLst>
      <p:ext uri="{BB962C8B-B14F-4D97-AF65-F5344CB8AC3E}">
        <p14:creationId xmlns:p14="http://schemas.microsoft.com/office/powerpoint/2010/main" val="107036882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87A9A7-1E04-40DE-8CBB-C881791EE5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0E0F1A-2DFD-4641-8C4B-DD6EBCACCE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9757EA0-B33B-4647-99D0-EE9EDB3C27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87B45B6C-4A9C-4906-89BB-439342EFB3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6E6214-DC8C-4E92-8EBA-9DB2EFF437F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934204DD-1FAD-48FE-B580-71F75E2C778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B21A130-9E7C-44FE-912B-2A8868B552C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140F52C3-E175-4C53-BEF9-A4DB2C31A41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405565-4AF7-4253-BBA0-237469C5D09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0F5293A3-24F6-4C40-939F-B911CDA1086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06486C4-0983-4A65-9C09-0315259B0A1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62D0565C-C14C-4B56-A8C4-1AC2C34C39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28</a:t>
            </a:r>
          </a:p>
        </p:txBody>
      </p:sp>
    </p:spTree>
    <p:extLst>
      <p:ext uri="{BB962C8B-B14F-4D97-AF65-F5344CB8AC3E}">
        <p14:creationId xmlns:p14="http://schemas.microsoft.com/office/powerpoint/2010/main" val="36486314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FE183C-C7EF-4ECA-8A95-AA29188906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BF7796-9A01-4775-B217-3AC28159B5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36E777A-693B-4097-AD52-805053C365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E5C77F9F-C897-4F55-AB8E-9DFAC830E6A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1E965B-357A-4A7D-8DD7-E3B36D3DCF4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F57498FD-5CC8-4E97-AF6A-005BD3967A0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8454E20-E02F-49F7-ACE2-5648834B783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2516965-5A15-4353-AB86-4FBC2AD706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29</a:t>
            </a:r>
          </a:p>
        </p:txBody>
      </p:sp>
    </p:spTree>
    <p:extLst>
      <p:ext uri="{BB962C8B-B14F-4D97-AF65-F5344CB8AC3E}">
        <p14:creationId xmlns:p14="http://schemas.microsoft.com/office/powerpoint/2010/main" val="24572679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77CD8B-6AE5-4032-B325-1348E7367E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485B24-95E5-46B9-A030-48C3A0AAB7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A18F6BD-383D-4D78-93FB-8A7A946D38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0EF0125D-402A-4D01-A9F9-D7B92CE5801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B9E3EC-3EEE-42D1-9C80-49C302A75B9D}"/>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AC3F2ADC-07F8-4C13-9079-848E9C824BF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DEBAF94-BA56-4AFF-8E3F-BE184AD76FB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BB0C894-A811-4E96-9635-A1D4CC18E1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30</a:t>
            </a:r>
          </a:p>
        </p:txBody>
      </p:sp>
    </p:spTree>
    <p:extLst>
      <p:ext uri="{BB962C8B-B14F-4D97-AF65-F5344CB8AC3E}">
        <p14:creationId xmlns:p14="http://schemas.microsoft.com/office/powerpoint/2010/main" val="131929105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F4E5F84-7126-4568-9EAF-EF03C1E98D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B92188-7CB4-4D8C-B8C9-6F423EAB84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DB95C10-1376-43B2-8C60-B867B58773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DF09ABC4-1850-4144-84F7-7E04EA6BF8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9AEA23-2BA1-465C-A953-3410A0071F6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349E8997-E4AD-49B0-A56A-0DC3B45F81E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B40616-583E-4630-9DBC-76156FF5B1A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630A17F6-6FA1-45DE-B189-2576CB54911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28F549-73FB-46DD-881E-3C97A730A06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C9F2E026-4C87-48D8-8C76-A854043DB81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3275B6B-F945-4489-94C5-ACD6A8F5961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455205BD-DCA4-4E6C-AA00-5B72E3B16F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31</a:t>
            </a:r>
          </a:p>
        </p:txBody>
      </p:sp>
    </p:spTree>
    <p:extLst>
      <p:ext uri="{BB962C8B-B14F-4D97-AF65-F5344CB8AC3E}">
        <p14:creationId xmlns:p14="http://schemas.microsoft.com/office/powerpoint/2010/main" val="197349668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CFB1CB5-54D2-4D91-8C24-A547439131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8F85F4-1076-4294-8338-F537B07932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BEE4F447-FDB1-4253-AAF4-591BA9E9D5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BB311AA6-FDA0-4A5A-A7FC-F43F3C6258D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D55118-961C-4F3F-8405-79D06D8B34A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Nov 2026, 11:00 Kampala</a:t>
            </a:r>
          </a:p>
        </p:txBody>
      </p:sp>
      <p:sp>
        <p:nvSpPr>
          <p:cNvPr id="6" name="">
            <a:extLst xmlns:a="http://schemas.openxmlformats.org/drawingml/2006/main">
              <a:ext uri="{FF2B5EF4-FFF2-40B4-BE49-F238E27FC236}">
                <a16:creationId xmlns:a16="http://schemas.microsoft.com/office/drawing/2014/main" id="{023653E8-ED5E-4575-B470-B4EB1EDA041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271BE6-A053-46E3-BE84-F529ADE66A09}"/>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Nov 2026, 11:00 Kampala</a:t>
            </a:r>
          </a:p>
        </p:txBody>
      </p:sp>
      <p:sp>
        <p:nvSpPr>
          <p:cNvPr id="8" name="">
            <a:extLst xmlns:a="http://schemas.openxmlformats.org/drawingml/2006/main">
              <a:ext uri="{FF2B5EF4-FFF2-40B4-BE49-F238E27FC236}">
                <a16:creationId xmlns:a16="http://schemas.microsoft.com/office/drawing/2014/main" id="{559D26B1-DDCE-4557-BEFC-FC91CEC1194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39CAC7D-62CB-46D0-BD44-0F918DF5194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1152DB6-1D69-4709-8EEE-1FD57063E15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301FE6D-C7B0-48BC-87F1-C82C87F791D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8FD0A93-F4BE-4E57-87B9-DCBA65364AF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0836274-E219-4734-943F-5A395067D89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248c85042584f2b"/>
              </a:rPr>
              <a:t>Open W10 assignment form</a:t>
            </a:r>
          </a:p>
        </p:txBody>
      </p:sp>
      <p:sp>
        <p:nvSpPr>
          <p:cNvPr id="14" name="">
            <a:extLst xmlns:a="http://schemas.openxmlformats.org/drawingml/2006/main">
              <a:ext uri="{FF2B5EF4-FFF2-40B4-BE49-F238E27FC236}">
                <a16:creationId xmlns:a16="http://schemas.microsoft.com/office/drawing/2014/main" id="{7A54E1BD-AA07-4FF9-A424-F47AE187E42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https://docs.google.com/forms/d/e/1FAIpQLSd5yLPYJ8OPmahSQIIIPfI-OfVHWbcHnwnntSRiE7wafqbRTg/viewform</a:t>
            </a:r>
          </a:p>
        </p:txBody>
      </p:sp>
      <p:sp>
        <p:nvSpPr>
          <p:cNvPr id="15" name="">
            <a:extLst xmlns:a="http://schemas.openxmlformats.org/drawingml/2006/main">
              <a:ext uri="{FF2B5EF4-FFF2-40B4-BE49-F238E27FC236}">
                <a16:creationId xmlns:a16="http://schemas.microsoft.com/office/drawing/2014/main" id="{8F0DD718-CEAC-4909-8541-71BBFBED3A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32</a:t>
            </a:r>
          </a:p>
        </p:txBody>
      </p:sp>
    </p:spTree>
    <p:extLst>
      <p:ext uri="{BB962C8B-B14F-4D97-AF65-F5344CB8AC3E}">
        <p14:creationId xmlns:p14="http://schemas.microsoft.com/office/powerpoint/2010/main" val="42168838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E9D48C5-72EA-4A43-90E4-57F9B277C8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03F15F-2CDE-4E00-A9D0-3198965761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AE6E929B-A386-488E-AA19-A846D7B718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xmlns:a="http://schemas.openxmlformats.org/drawingml/2006/main">
              <a:ext uri="{FF2B5EF4-FFF2-40B4-BE49-F238E27FC236}">
                <a16:creationId xmlns:a16="http://schemas.microsoft.com/office/drawing/2014/main" id="{A1EFDE8A-B324-4FBC-A01F-3E502320C70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80F928A-9B27-433A-89A9-7CE7917C7B4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32862DF9-5555-4052-BD40-F0574969EEC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B67EB90-F7B7-4046-9CD0-E30E6C6D9F7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263D576E-DD71-407D-9F1C-731B35D4666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4FF143-1ADB-48FC-B748-5CFB26DE7FBF}"/>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7C571A1A-83BE-44E1-85C2-FCE04EA5D6D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F1382CE-6ABA-40AD-92D6-C95605741F70}"/>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48f8c3c735f4d57"/>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293E43EE-CDD5-426C-97FB-E8F5C9E7F801}"/>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1F8E106B-8797-4A84-83EB-25630C634A3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0A5D971-3957-43FF-8178-EA77BC6C72F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0b73228ede24d0e"/>
              </a:rPr>
              <a:t>Open this week’s quiz</a:t>
            </a:r>
          </a:p>
        </p:txBody>
      </p:sp>
      <p:sp>
        <p:nvSpPr>
          <p:cNvPr id="16" name="">
            <a:extLst xmlns:a="http://schemas.openxmlformats.org/drawingml/2006/main">
              <a:ext uri="{FF2B5EF4-FFF2-40B4-BE49-F238E27FC236}">
                <a16:creationId xmlns:a16="http://schemas.microsoft.com/office/drawing/2014/main" id="{05B34A4F-71EC-48FC-B1B5-540F226E14B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https://forms.gle/KJmiCV72Y98y51a38</a:t>
            </a:r>
          </a:p>
        </p:txBody>
      </p:sp>
      <p:sp>
        <p:nvSpPr>
          <p:cNvPr id="17" name="">
            <a:extLst xmlns:a="http://schemas.openxmlformats.org/drawingml/2006/main">
              <a:ext uri="{FF2B5EF4-FFF2-40B4-BE49-F238E27FC236}">
                <a16:creationId xmlns:a16="http://schemas.microsoft.com/office/drawing/2014/main" id="{339F91F1-FB36-4FCF-9A3A-0540958161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33</a:t>
            </a:r>
          </a:p>
        </p:txBody>
      </p:sp>
    </p:spTree>
    <p:extLst>
      <p:ext uri="{BB962C8B-B14F-4D97-AF65-F5344CB8AC3E}">
        <p14:creationId xmlns:p14="http://schemas.microsoft.com/office/powerpoint/2010/main" val="1115408989"/>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EB5646-B0A8-462F-87B2-81CEFD8E14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D208184-A85B-44A7-B88E-32446DEBB1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FB6D6EB-8A9B-47D9-B0C7-38F7C186626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24CD7EFB-EFAB-492F-A0BF-6A951644C04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which records may influence preprocessing and model selection.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8A835325-5E45-4DA9-B998-62F78BD042A1}"/>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DE0D2D3F-3F78-4F53-8989-464B918775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10   34</a:t>
            </a:r>
          </a:p>
        </p:txBody>
      </p:sp>
    </p:spTree>
    <p:extLst>
      <p:ext uri="{BB962C8B-B14F-4D97-AF65-F5344CB8AC3E}">
        <p14:creationId xmlns:p14="http://schemas.microsoft.com/office/powerpoint/2010/main" val="10377900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22B8D06-447A-476C-A686-93085DF08A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8A2355-DDA4-4321-BF7A-8D812F048B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CB33B988-A47A-4743-8124-64C347C7F2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48F6F43D-B498-4EEE-B433-9CDE0DDA7C6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21862E2-37C0-42A7-9A06-98978DFAA23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898AA9F5-3B3A-48BC-9A99-A21672D2A11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FE4F4E0-00CD-40F8-AEEF-2156F9EE74B5}"/>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33E1B75A-A6CE-4B58-A6F7-B8A5CE879EB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D51697-2E1F-46DA-A477-F3CEB531299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0FC4A20F-9D50-4EF1-8FA6-EBF4C143F7C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987E333-AEEE-49EC-B3BC-719CE87E5D5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25C0BD69-9D6C-4820-9AD5-426B055D675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F343BD2-0D68-487A-A5AC-5C0AE20B321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3afc2d9052a4b8b"/>
              </a:rPr>
              <a:t>Open explainer video</a:t>
            </a:r>
          </a:p>
        </p:txBody>
      </p:sp>
      <p:sp>
        <p:nvSpPr>
          <p:cNvPr id="14" name="">
            <a:extLst xmlns:a="http://schemas.openxmlformats.org/drawingml/2006/main">
              <a:ext uri="{FF2B5EF4-FFF2-40B4-BE49-F238E27FC236}">
                <a16:creationId xmlns:a16="http://schemas.microsoft.com/office/drawing/2014/main" id="{990EBAC1-621B-464D-9C86-35783436BE8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C122E29F-7EE1-448B-B2BB-BAFBCD71FE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35</a:t>
            </a:r>
          </a:p>
        </p:txBody>
      </p:sp>
    </p:spTree>
    <p:extLst>
      <p:ext uri="{BB962C8B-B14F-4D97-AF65-F5344CB8AC3E}">
        <p14:creationId xmlns:p14="http://schemas.microsoft.com/office/powerpoint/2010/main" val="1396230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2026-09-28T21:15:18.3840000Z</dcterms:created>
  <dcterms:modified xsi:type="dcterms:W3CDTF">2026-09-28T21:15:18.3840000Z</dcterms:modified>
</coreProperties>
</file>