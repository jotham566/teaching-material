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01448ebced44ab" /><Relationship Type="http://schemas.openxmlformats.org/officeDocument/2006/relationships/extended-properties" Target="/docProps/app.xml" Id="R1ff3e537c3514c3e" /><Relationship Type="http://schemas.openxmlformats.org/officeDocument/2006/relationships/officeDocument" Target="/ppt/presentation.xml" Id="R2a48eefc5bae4bce" /></Relationships>
</file>

<file path=ppt/presentation.xml><?xml version="1.0" encoding="utf-8"?>
<p:presentation xmlns:p="http://schemas.openxmlformats.org/presentationml/2006/main">
  <p:sldMasterIdLst>
    <p:sldMasterId xmlns:r="http://schemas.openxmlformats.org/officeDocument/2006/relationships" id="2147483648" r:id="R7fbdaad77d304b4d"/>
  </p:sldMasterIdLst>
  <p:notesMasterIdLst>
    <p:notesMasterId xmlns:r="http://schemas.openxmlformats.org/officeDocument/2006/relationships" r:id="R5933ec59d799404a"/>
  </p:notesMasterIdLst>
  <p:sldIdLst>
    <p:sldId xmlns:r="http://schemas.openxmlformats.org/officeDocument/2006/relationships" id="256" r:id="Rfc323f938b614f8d"/>
    <p:sldId xmlns:r="http://schemas.openxmlformats.org/officeDocument/2006/relationships" id="257" r:id="Rc5afb95ebc564871"/>
    <p:sldId xmlns:r="http://schemas.openxmlformats.org/officeDocument/2006/relationships" id="258" r:id="R0b86f9638ea74bc4"/>
    <p:sldId xmlns:r="http://schemas.openxmlformats.org/officeDocument/2006/relationships" id="259" r:id="Rc85d097fcefe403c"/>
    <p:sldId xmlns:r="http://schemas.openxmlformats.org/officeDocument/2006/relationships" id="260" r:id="R66879d7ee5404064"/>
    <p:sldId xmlns:r="http://schemas.openxmlformats.org/officeDocument/2006/relationships" id="261" r:id="Rc53f109b600d44fe"/>
    <p:sldId xmlns:r="http://schemas.openxmlformats.org/officeDocument/2006/relationships" id="262" r:id="Rc7fef62bb2f6426a"/>
    <p:sldId xmlns:r="http://schemas.openxmlformats.org/officeDocument/2006/relationships" id="263" r:id="R9eaccc0835db4595"/>
    <p:sldId xmlns:r="http://schemas.openxmlformats.org/officeDocument/2006/relationships" id="264" r:id="Reab9d3ac65b04955"/>
    <p:sldId xmlns:r="http://schemas.openxmlformats.org/officeDocument/2006/relationships" id="265" r:id="R68a0a806e5d44f6b"/>
    <p:sldId xmlns:r="http://schemas.openxmlformats.org/officeDocument/2006/relationships" id="266" r:id="R7b329383c3764979"/>
    <p:sldId xmlns:r="http://schemas.openxmlformats.org/officeDocument/2006/relationships" id="267" r:id="R52dd668ebc6444b5"/>
    <p:sldId xmlns:r="http://schemas.openxmlformats.org/officeDocument/2006/relationships" id="268" r:id="R5eb2bc1c0c884527"/>
    <p:sldId xmlns:r="http://schemas.openxmlformats.org/officeDocument/2006/relationships" id="269" r:id="R835446d10a824e8e"/>
    <p:sldId xmlns:r="http://schemas.openxmlformats.org/officeDocument/2006/relationships" id="270" r:id="R8885ac1dc92f425e"/>
    <p:sldId xmlns:r="http://schemas.openxmlformats.org/officeDocument/2006/relationships" id="271" r:id="R764535839f0e4bc7"/>
    <p:sldId xmlns:r="http://schemas.openxmlformats.org/officeDocument/2006/relationships" id="272" r:id="R447a7229e3a24c5f"/>
    <p:sldId xmlns:r="http://schemas.openxmlformats.org/officeDocument/2006/relationships" id="273" r:id="R5666747af13a4bc6"/>
    <p:sldId xmlns:r="http://schemas.openxmlformats.org/officeDocument/2006/relationships" id="274" r:id="Ra0b6c918bb094b9e"/>
    <p:sldId xmlns:r="http://schemas.openxmlformats.org/officeDocument/2006/relationships" id="275" r:id="Rb86062e97f7b4368"/>
    <p:sldId xmlns:r="http://schemas.openxmlformats.org/officeDocument/2006/relationships" id="276" r:id="R55894e8e7cf74eed"/>
    <p:sldId xmlns:r="http://schemas.openxmlformats.org/officeDocument/2006/relationships" id="277" r:id="Raf1eb2d1ec034c6b"/>
    <p:sldId xmlns:r="http://schemas.openxmlformats.org/officeDocument/2006/relationships" id="278" r:id="R9a3d7f05975d42b7"/>
    <p:sldId xmlns:r="http://schemas.openxmlformats.org/officeDocument/2006/relationships" id="279" r:id="Rc279de2366b24833"/>
    <p:sldId xmlns:r="http://schemas.openxmlformats.org/officeDocument/2006/relationships" id="280" r:id="Red1c4feee1574715"/>
    <p:sldId xmlns:r="http://schemas.openxmlformats.org/officeDocument/2006/relationships" id="281" r:id="Rd937b61108ae4a38"/>
    <p:sldId xmlns:r="http://schemas.openxmlformats.org/officeDocument/2006/relationships" id="282" r:id="R96df999478be4222"/>
    <p:sldId xmlns:r="http://schemas.openxmlformats.org/officeDocument/2006/relationships" id="283" r:id="Rf4b9998800214e05"/>
    <p:sldId xmlns:r="http://schemas.openxmlformats.org/officeDocument/2006/relationships" id="284" r:id="R71371962f4be4463"/>
    <p:sldId xmlns:r="http://schemas.openxmlformats.org/officeDocument/2006/relationships" id="285" r:id="R31ceba13c14b486a"/>
    <p:sldId xmlns:r="http://schemas.openxmlformats.org/officeDocument/2006/relationships" id="286" r:id="Rb804e965a2d445bb"/>
    <p:sldId xmlns:r="http://schemas.openxmlformats.org/officeDocument/2006/relationships" id="287" r:id="Re82fe8d7605b4aed"/>
    <p:sldId xmlns:r="http://schemas.openxmlformats.org/officeDocument/2006/relationships" id="288" r:id="R7a082ebc77df4b4e"/>
    <p:sldId xmlns:r="http://schemas.openxmlformats.org/officeDocument/2006/relationships" id="289" r:id="Rf44b42cf8117418d"/>
    <p:sldId xmlns:r="http://schemas.openxmlformats.org/officeDocument/2006/relationships" id="290" r:id="R9fd48d7136624209"/>
    <p:sldId xmlns:r="http://schemas.openxmlformats.org/officeDocument/2006/relationships" id="291" r:id="Rf3078365b0214cc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37f2b216af4701" /><Relationship Type="http://schemas.openxmlformats.org/officeDocument/2006/relationships/slideMaster" Target="/ppt/slideMasters/slideMaster1.xml" Id="R7fbdaad77d304b4d" /><Relationship Type="http://schemas.openxmlformats.org/officeDocument/2006/relationships/notesMaster" Target="/ppt/notesMasters/notesMaster1.xml" Id="R5933ec59d799404a" /><Relationship Type="http://schemas.openxmlformats.org/officeDocument/2006/relationships/presProps" Target="/ppt/presProps.xml" Id="R058bee154f074dcb" /><Relationship Type="http://schemas.openxmlformats.org/officeDocument/2006/relationships/tableStyles" Target="/ppt/tableStyles.xml" Id="Rc76dbad72dcb46cd" /><Relationship Type="http://schemas.openxmlformats.org/officeDocument/2006/relationships/slide" Target="/ppt/slides/slide1.xml" Id="Rfc323f938b614f8d" /><Relationship Type="http://schemas.openxmlformats.org/officeDocument/2006/relationships/slide" Target="/ppt/slides/slide2.xml" Id="Rc5afb95ebc564871" /><Relationship Type="http://schemas.openxmlformats.org/officeDocument/2006/relationships/slide" Target="/ppt/slides/slide3.xml" Id="R0b86f9638ea74bc4" /><Relationship Type="http://schemas.openxmlformats.org/officeDocument/2006/relationships/slide" Target="/ppt/slides/slide4.xml" Id="Rc85d097fcefe403c" /><Relationship Type="http://schemas.openxmlformats.org/officeDocument/2006/relationships/slide" Target="/ppt/slides/slide5.xml" Id="R66879d7ee5404064" /><Relationship Type="http://schemas.openxmlformats.org/officeDocument/2006/relationships/slide" Target="/ppt/slides/slide6.xml" Id="Rc53f109b600d44fe" /><Relationship Type="http://schemas.openxmlformats.org/officeDocument/2006/relationships/slide" Target="/ppt/slides/slide7.xml" Id="Rc7fef62bb2f6426a" /><Relationship Type="http://schemas.openxmlformats.org/officeDocument/2006/relationships/slide" Target="/ppt/slides/slide8.xml" Id="R9eaccc0835db4595" /><Relationship Type="http://schemas.openxmlformats.org/officeDocument/2006/relationships/slide" Target="/ppt/slides/slide9.xml" Id="Reab9d3ac65b04955" /><Relationship Type="http://schemas.openxmlformats.org/officeDocument/2006/relationships/slide" Target="/ppt/slides/slide10.xml" Id="R68a0a806e5d44f6b" /><Relationship Type="http://schemas.openxmlformats.org/officeDocument/2006/relationships/slide" Target="/ppt/slides/slide11.xml" Id="R7b329383c3764979" /><Relationship Type="http://schemas.openxmlformats.org/officeDocument/2006/relationships/slide" Target="/ppt/slides/slide12.xml" Id="R52dd668ebc6444b5" /><Relationship Type="http://schemas.openxmlformats.org/officeDocument/2006/relationships/slide" Target="/ppt/slides/slide13.xml" Id="R5eb2bc1c0c884527" /><Relationship Type="http://schemas.openxmlformats.org/officeDocument/2006/relationships/slide" Target="/ppt/slides/slide14.xml" Id="R835446d10a824e8e" /><Relationship Type="http://schemas.openxmlformats.org/officeDocument/2006/relationships/slide" Target="/ppt/slides/slide15.xml" Id="R8885ac1dc92f425e" /><Relationship Type="http://schemas.openxmlformats.org/officeDocument/2006/relationships/slide" Target="/ppt/slides/slide16.xml" Id="R764535839f0e4bc7" /><Relationship Type="http://schemas.openxmlformats.org/officeDocument/2006/relationships/slide" Target="/ppt/slides/slide17.xml" Id="R447a7229e3a24c5f" /><Relationship Type="http://schemas.openxmlformats.org/officeDocument/2006/relationships/slide" Target="/ppt/slides/slide18.xml" Id="R5666747af13a4bc6" /><Relationship Type="http://schemas.openxmlformats.org/officeDocument/2006/relationships/slide" Target="/ppt/slides/slide19.xml" Id="Ra0b6c918bb094b9e" /><Relationship Type="http://schemas.openxmlformats.org/officeDocument/2006/relationships/slide" Target="/ppt/slides/slide20.xml" Id="Rb86062e97f7b4368" /><Relationship Type="http://schemas.openxmlformats.org/officeDocument/2006/relationships/slide" Target="/ppt/slides/slide21.xml" Id="R55894e8e7cf74eed" /><Relationship Type="http://schemas.openxmlformats.org/officeDocument/2006/relationships/slide" Target="/ppt/slides/slide22.xml" Id="Raf1eb2d1ec034c6b" /><Relationship Type="http://schemas.openxmlformats.org/officeDocument/2006/relationships/slide" Target="/ppt/slides/slide23.xml" Id="R9a3d7f05975d42b7" /><Relationship Type="http://schemas.openxmlformats.org/officeDocument/2006/relationships/slide" Target="/ppt/slides/slide24.xml" Id="Rc279de2366b24833" /><Relationship Type="http://schemas.openxmlformats.org/officeDocument/2006/relationships/slide" Target="/ppt/slides/slide25.xml" Id="Red1c4feee1574715" /><Relationship Type="http://schemas.openxmlformats.org/officeDocument/2006/relationships/slide" Target="/ppt/slides/slide26.xml" Id="Rd937b61108ae4a38" /><Relationship Type="http://schemas.openxmlformats.org/officeDocument/2006/relationships/slide" Target="/ppt/slides/slide27.xml" Id="R96df999478be4222" /><Relationship Type="http://schemas.openxmlformats.org/officeDocument/2006/relationships/slide" Target="/ppt/slides/slide28.xml" Id="Rf4b9998800214e05" /><Relationship Type="http://schemas.openxmlformats.org/officeDocument/2006/relationships/slide" Target="/ppt/slides/slide29.xml" Id="R71371962f4be4463" /><Relationship Type="http://schemas.openxmlformats.org/officeDocument/2006/relationships/slide" Target="/ppt/slides/slide30.xml" Id="R31ceba13c14b486a" /><Relationship Type="http://schemas.openxmlformats.org/officeDocument/2006/relationships/slide" Target="/ppt/slides/slide31.xml" Id="Rb804e965a2d445bb" /><Relationship Type="http://schemas.openxmlformats.org/officeDocument/2006/relationships/slide" Target="/ppt/slides/slide32.xml" Id="Re82fe8d7605b4aed" /><Relationship Type="http://schemas.openxmlformats.org/officeDocument/2006/relationships/slide" Target="/ppt/slides/slide33.xml" Id="R7a082ebc77df4b4e" /><Relationship Type="http://schemas.openxmlformats.org/officeDocument/2006/relationships/slide" Target="/ppt/slides/slide34.xml" Id="Rf44b42cf8117418d" /><Relationship Type="http://schemas.openxmlformats.org/officeDocument/2006/relationships/slide" Target="/ppt/slides/slide35.xml" Id="R9fd48d7136624209" /><Relationship Type="http://schemas.openxmlformats.org/officeDocument/2006/relationships/slide" Target="/ppt/slides/slide36.xml" Id="Rf3078365b0214c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c34faa649f40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bf130f63d64185" /><Relationship Type="http://schemas.openxmlformats.org/officeDocument/2006/relationships/notesMaster" Target="/ppt/notesMasters/notesMaster1.xml" Id="Rbae6da0f5bc64c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f37a0c35f64e9b" /><Relationship Type="http://schemas.openxmlformats.org/officeDocument/2006/relationships/notesMaster" Target="/ppt/notesMasters/notesMaster1.xml" Id="Ra75023717a9c4e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8a1943e04f4f32" /><Relationship Type="http://schemas.openxmlformats.org/officeDocument/2006/relationships/notesMaster" Target="/ppt/notesMasters/notesMaster1.xml" Id="R10784240e9f842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9c11faa6b74bc3" /><Relationship Type="http://schemas.openxmlformats.org/officeDocument/2006/relationships/notesMaster" Target="/ppt/notesMasters/notesMaster1.xml" Id="R5fde86c7178844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b8f98d6e824837" /><Relationship Type="http://schemas.openxmlformats.org/officeDocument/2006/relationships/notesMaster" Target="/ppt/notesMasters/notesMaster1.xml" Id="R303bcbcc8dab4a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75a7d7519a4c82" /><Relationship Type="http://schemas.openxmlformats.org/officeDocument/2006/relationships/notesMaster" Target="/ppt/notesMasters/notesMaster1.xml" Id="Rf736989480e140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6ebb3faf5d4763" /><Relationship Type="http://schemas.openxmlformats.org/officeDocument/2006/relationships/notesMaster" Target="/ppt/notesMasters/notesMaster1.xml" Id="R00ca951a4fb143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2481a50b9d4288" /><Relationship Type="http://schemas.openxmlformats.org/officeDocument/2006/relationships/notesMaster" Target="/ppt/notesMasters/notesMaster1.xml" Id="Rf83d92826cb149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804ca933d04c6a" /><Relationship Type="http://schemas.openxmlformats.org/officeDocument/2006/relationships/notesMaster" Target="/ppt/notesMasters/notesMaster1.xml" Id="R1edd6bdd695545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b7f79ebf2947c1" /><Relationship Type="http://schemas.openxmlformats.org/officeDocument/2006/relationships/notesMaster" Target="/ppt/notesMasters/notesMaster1.xml" Id="Reb292cc8eacc4a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a0fa38fb7e4858" /><Relationship Type="http://schemas.openxmlformats.org/officeDocument/2006/relationships/notesMaster" Target="/ppt/notesMasters/notesMaster1.xml" Id="R89b9348e3fa244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17c434606f4801" /><Relationship Type="http://schemas.openxmlformats.org/officeDocument/2006/relationships/notesMaster" Target="/ppt/notesMasters/notesMaster1.xml" Id="R341cabb4270644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56c61e2be84153" /><Relationship Type="http://schemas.openxmlformats.org/officeDocument/2006/relationships/notesMaster" Target="/ppt/notesMasters/notesMaster1.xml" Id="Re1ed754e47a746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ec4f505bf9424c" /><Relationship Type="http://schemas.openxmlformats.org/officeDocument/2006/relationships/notesMaster" Target="/ppt/notesMasters/notesMaster1.xml" Id="Ra6fd37ed7a7f4a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3765ac717f49b0" /><Relationship Type="http://schemas.openxmlformats.org/officeDocument/2006/relationships/notesMaster" Target="/ppt/notesMasters/notesMaster1.xml" Id="Rd9fb0336114a42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a07cf72ad841de" /><Relationship Type="http://schemas.openxmlformats.org/officeDocument/2006/relationships/notesMaster" Target="/ppt/notesMasters/notesMaster1.xml" Id="Ree68eac6b07a4a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c8339009e34c9f" /><Relationship Type="http://schemas.openxmlformats.org/officeDocument/2006/relationships/notesMaster" Target="/ppt/notesMasters/notesMaster1.xml" Id="R111d1d2f9b9a43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6fee0d6418481c" /><Relationship Type="http://schemas.openxmlformats.org/officeDocument/2006/relationships/notesMaster" Target="/ppt/notesMasters/notesMaster1.xml" Id="Ra425259d60ab45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3148f06eb747b6" /><Relationship Type="http://schemas.openxmlformats.org/officeDocument/2006/relationships/notesMaster" Target="/ppt/notesMasters/notesMaster1.xml" Id="R63353d3607e14d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1d4ab5b7b0947e1" /><Relationship Type="http://schemas.openxmlformats.org/officeDocument/2006/relationships/notesMaster" Target="/ppt/notesMasters/notesMaster1.xml" Id="Raf9e11a89f414f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175220c73034aec" /><Relationship Type="http://schemas.openxmlformats.org/officeDocument/2006/relationships/notesMaster" Target="/ppt/notesMasters/notesMaster1.xml" Id="Rcac00962a8f0409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fef1c942db4f56" /><Relationship Type="http://schemas.openxmlformats.org/officeDocument/2006/relationships/notesMaster" Target="/ppt/notesMasters/notesMaster1.xml" Id="R48384fea82bc493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8b9eac17d84f4d" /><Relationship Type="http://schemas.openxmlformats.org/officeDocument/2006/relationships/notesMaster" Target="/ppt/notesMasters/notesMaster1.xml" Id="R2ec95ad146c34cb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23c5fa7d2c421a" /><Relationship Type="http://schemas.openxmlformats.org/officeDocument/2006/relationships/notesMaster" Target="/ppt/notesMasters/notesMaster1.xml" Id="Rea676a8e9bce47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4cf7f3e7b0469d" /><Relationship Type="http://schemas.openxmlformats.org/officeDocument/2006/relationships/notesMaster" Target="/ppt/notesMasters/notesMaster1.xml" Id="Rfb5f9ed989b9407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ff168b9fa84484" /><Relationship Type="http://schemas.openxmlformats.org/officeDocument/2006/relationships/notesMaster" Target="/ppt/notesMasters/notesMaster1.xml" Id="Rdea8378ec787440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f0d195cec34692" /><Relationship Type="http://schemas.openxmlformats.org/officeDocument/2006/relationships/notesMaster" Target="/ppt/notesMasters/notesMaster1.xml" Id="R89e58da9103248e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f1b660152434db3" /><Relationship Type="http://schemas.openxmlformats.org/officeDocument/2006/relationships/notesMaster" Target="/ppt/notesMasters/notesMaster1.xml" Id="R134e918c1ecf44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3510d449c8442df" /><Relationship Type="http://schemas.openxmlformats.org/officeDocument/2006/relationships/notesMaster" Target="/ppt/notesMasters/notesMaster1.xml" Id="Rd395dfd24dfb452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ddaa706250849c3" /><Relationship Type="http://schemas.openxmlformats.org/officeDocument/2006/relationships/notesMaster" Target="/ppt/notesMasters/notesMaster1.xml" Id="R0e4f977b371d430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1ff67ab4e34422" /><Relationship Type="http://schemas.openxmlformats.org/officeDocument/2006/relationships/notesMaster" Target="/ppt/notesMasters/notesMaster1.xml" Id="R12a9d26b39b1413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f290234aa984314" /><Relationship Type="http://schemas.openxmlformats.org/officeDocument/2006/relationships/notesMaster" Target="/ppt/notesMasters/notesMaster1.xml" Id="Rcc48bed7b9ae483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afc3f051893493d" /><Relationship Type="http://schemas.openxmlformats.org/officeDocument/2006/relationships/notesMaster" Target="/ppt/notesMasters/notesMaster1.xml" Id="Re7bbe8a00e6d4dd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4f368beb28640bc" /><Relationship Type="http://schemas.openxmlformats.org/officeDocument/2006/relationships/notesMaster" Target="/ppt/notesMasters/notesMaster1.xml" Id="R62691a793b9e428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3215c01c06c4724" /><Relationship Type="http://schemas.openxmlformats.org/officeDocument/2006/relationships/notesMaster" Target="/ppt/notesMasters/notesMaster1.xml" Id="R6d771226002644f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ec5973d8f08454a" /><Relationship Type="http://schemas.openxmlformats.org/officeDocument/2006/relationships/notesMaster" Target="/ppt/notesMasters/notesMaster1.xml" Id="R21ee0ae4fe924c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Honest validation and leakage</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Communications, Electrical, Mechatronics and Robotics Engineering</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Honest validation and leakage.</a:t>
            </a:r>
          </a:p>
          <a:p xmlns:a="http://schemas.openxmlformats.org/drawingml/2006/main">
            <a:r>
              <a:t/>
            </a:r>
          </a:p>
          <a:p xmlns:a="http://schemas.openxmlformats.org/drawingml/2006/main">
            <a:r>
              <a:t>EXPLAIN</a:t>
            </a:r>
          </a:p>
          <a:p xmlns:a="http://schemas.openxmlformats.org/drawingml/2006/main">
            <a:r>
              <a:t>Keep related equipment records together.</a:t>
            </a:r>
          </a:p>
          <a:p xmlns:a="http://schemas.openxmlformats.org/drawingml/2006/main">
            <a:r>
              <a:t/>
            </a:r>
          </a:p>
          <a:p xmlns:a="http://schemas.openxmlformats.org/drawingml/2006/main">
            <a:r>
              <a:t>Separate training, validation and final testing.</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Multiple adversarial notebooks, elaborate validation curves and several cross-validation variants are extensions after the core split is understood.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We have compared predictions with known answers. Now we control which observations may influence training, choices and the final evaluation.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Why this week’s tools are needed.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We want evidence about new equipment or future observations. The way we separate data must match that use before any model or preprocessing learns from it.</a:t>
            </a:r>
          </a:p>
          <a:p xmlns:a="http://schemas.openxmlformats.org/drawingml/2006/main">
            <a:r>
              <a:t/>
            </a:r>
          </a:p>
          <a:p xmlns:a="http://schemas.openxmlformats.org/drawingml/2006/main">
            <a:r>
              <a:t>LECTURER CUE</a:t>
            </a:r>
          </a:p>
          <a:p xmlns:a="http://schemas.openxmlformats.org/drawingml/2006/main">
            <a:r>
              <a:t>A team records device temperature to investigate cooling. Use a communications cabinet, an electrical enclosure or a robot controller as the physical example. No specialist hardware knowledge is assumed.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Training validation and final test.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Training validation and final test</a:t>
            </a:r>
          </a:p>
          <a:p xmlns:a="http://schemas.openxmlformats.org/drawingml/2006/main">
            <a:r>
              <a:t/>
            </a:r>
          </a:p>
          <a:p xmlns:a="http://schemas.openxmlformats.org/drawingml/2006/main">
            <a:r>
              <a:t>CONNECT</a:t>
            </a:r>
          </a:p>
          <a:p xmlns:a="http://schemas.openxmlformats.org/drawingml/2006/main">
            <a:r>
              <a:t>Previous slide: Why this week’s tools are needed.</a:t>
            </a:r>
          </a:p>
          <a:p xmlns:a="http://schemas.openxmlformats.org/drawingml/2006/main">
            <a:r>
              <a:t/>
            </a:r>
          </a:p>
          <a:p xmlns:a="http://schemas.openxmlformats.org/drawingml/2006/main">
            <a:r>
              <a:t>EXPLAIN</a:t>
            </a:r>
          </a:p>
          <a:p xmlns:a="http://schemas.openxmlformats.org/drawingml/2006/main">
            <a:r>
              <a:t>Training data fit the model and preprocessing.</a:t>
            </a:r>
          </a:p>
          <a:p xmlns:a="http://schemas.openxmlformats.org/drawingml/2006/main">
            <a:r>
              <a:t/>
            </a:r>
          </a:p>
          <a:p xmlns:a="http://schemas.openxmlformats.org/drawingml/2006/main">
            <a:r>
              <a:t>Validation data guide feature and model choices.</a:t>
            </a:r>
          </a:p>
          <a:p xmlns:a="http://schemas.openxmlformats.org/drawingml/2006/main">
            <a:r>
              <a:t/>
            </a:r>
          </a:p>
          <a:p xmlns:a="http://schemas.openxmlformats.org/drawingml/2006/main">
            <a:r>
              <a:t>The final test evaluates choices after they are fixed.</a:t>
            </a:r>
          </a:p>
          <a:p xmlns:a="http://schemas.openxmlformats.org/drawingml/2006/main">
            <a:r>
              <a:t/>
            </a:r>
          </a:p>
          <a:p xmlns:a="http://schemas.openxmlformats.org/drawingml/2006/main">
            <a:r>
              <a:t>A fresh test is needed if its answers influenced further choices.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Three sets have different jobs.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Three sets have different jobs</a:t>
            </a:r>
          </a:p>
          <a:p xmlns:a="http://schemas.openxmlformats.org/drawingml/2006/main">
            <a:r>
              <a:t/>
            </a:r>
          </a:p>
          <a:p xmlns:a="http://schemas.openxmlformats.org/drawingml/2006/main">
            <a:r>
              <a:t>CONNECT</a:t>
            </a:r>
          </a:p>
          <a:p xmlns:a="http://schemas.openxmlformats.org/drawingml/2006/main">
            <a:r>
              <a:t>Previous slide: Training validation and final test.</a:t>
            </a:r>
          </a:p>
          <a:p xmlns:a="http://schemas.openxmlformats.org/drawingml/2006/main">
            <a:r>
              <a:t/>
            </a:r>
          </a:p>
          <a:p xmlns:a="http://schemas.openxmlformats.org/drawingml/2006/main">
            <a:r>
              <a:t>EXPLAIN</a:t>
            </a:r>
          </a:p>
          <a:p xmlns:a="http://schemas.openxmlformats.org/drawingml/2006/main">
            <a:r>
              <a:t>Which set must stay sealed until choices are fixed?</a:t>
            </a:r>
          </a:p>
          <a:p xmlns:a="http://schemas.openxmlformats.org/drawingml/2006/main">
            <a:r>
              <a:t/>
            </a:r>
          </a:p>
          <a:p xmlns:a="http://schemas.openxmlformats.org/drawingml/2006/main">
            <a:r>
              <a:t>LECTURER CUE</a:t>
            </a:r>
          </a:p>
          <a:p xmlns:a="http://schemas.openxmlformats.org/drawingml/2006/main">
            <a:r>
              <a:t>Ask students to describe what they see before introducing terminology. Generated conceptual teaching illustration.  Source: figs/experiential/ASSET_SOURCES.md.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Generalisation and Overfitting and underfitting.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Generalisation and Overfitting and underfitting</a:t>
            </a:r>
          </a:p>
          <a:p xmlns:a="http://schemas.openxmlformats.org/drawingml/2006/main">
            <a:r>
              <a:t/>
            </a:r>
          </a:p>
          <a:p xmlns:a="http://schemas.openxmlformats.org/drawingml/2006/main">
            <a:r>
              <a:t>CONNECT</a:t>
            </a:r>
          </a:p>
          <a:p xmlns:a="http://schemas.openxmlformats.org/drawingml/2006/main">
            <a:r>
              <a:t>Previous slide: Three sets have different jobs.</a:t>
            </a:r>
          </a:p>
          <a:p xmlns:a="http://schemas.openxmlformats.org/drawingml/2006/main">
            <a:r>
              <a:t/>
            </a:r>
          </a:p>
          <a:p xmlns:a="http://schemas.openxmlformats.org/drawingml/2006/main">
            <a:r>
              <a:t>EXPLAIN</a:t>
            </a:r>
          </a:p>
          <a:p xmlns:a="http://schemas.openxmlformats.org/drawingml/2006/main">
            <a:r>
              <a:t>Generalisation: Performance on new cases from the intended setting, not merely on records already used.</a:t>
            </a:r>
          </a:p>
          <a:p xmlns:a="http://schemas.openxmlformats.org/drawingml/2006/main">
            <a:r>
              <a:t/>
            </a:r>
          </a:p>
          <a:p xmlns:a="http://schemas.openxmlformats.org/drawingml/2006/main">
            <a:r>
              <a:t>Overfitting and underfitting: Overfitting captures training-specific detail that fails to transfer. Underfitting misses useful patterns. Score gaps are clues, not a complete diagnosis.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Leakage and Group split.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Leakage and Group split</a:t>
            </a:r>
          </a:p>
          <a:p xmlns:a="http://schemas.openxmlformats.org/drawingml/2006/main">
            <a:r>
              <a:t/>
            </a:r>
          </a:p>
          <a:p xmlns:a="http://schemas.openxmlformats.org/drawingml/2006/main">
            <a:r>
              <a:t>CONNECT</a:t>
            </a:r>
          </a:p>
          <a:p xmlns:a="http://schemas.openxmlformats.org/drawingml/2006/main">
            <a:r>
              <a:t>Previous slide: Generalisation and Overfitting and underfitting.</a:t>
            </a:r>
          </a:p>
          <a:p xmlns:a="http://schemas.openxmlformats.org/drawingml/2006/main">
            <a:r>
              <a:t/>
            </a:r>
          </a:p>
          <a:p xmlns:a="http://schemas.openxmlformats.org/drawingml/2006/main">
            <a:r>
              <a:t>EXPLAIN</a:t>
            </a:r>
          </a:p>
          <a:p xmlns:a="http://schemas.openxmlformats.org/drawingml/2006/main">
            <a:r>
              <a:t>Leakage: Information enters model development that would not legitimately be available, such as the answer or information from evaluation rows.</a:t>
            </a:r>
          </a:p>
          <a:p xmlns:a="http://schemas.openxmlformats.org/drawingml/2006/main">
            <a:r>
              <a:t/>
            </a:r>
          </a:p>
          <a:p xmlns:a="http://schemas.openxmlformats.org/drawingml/2006/main">
            <a:r>
              <a:t>Group split: Keep all observations from the same equipment in one partition when the goal is prediction for unseen equipment.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Repeated equipment needs group separation.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Repeated equipment needs group separation</a:t>
            </a:r>
          </a:p>
          <a:p xmlns:a="http://schemas.openxmlformats.org/drawingml/2006/main">
            <a:r>
              <a:t/>
            </a:r>
          </a:p>
          <a:p xmlns:a="http://schemas.openxmlformats.org/drawingml/2006/main">
            <a:r>
              <a:t>CONNECT</a:t>
            </a:r>
          </a:p>
          <a:p xmlns:a="http://schemas.openxmlformats.org/drawingml/2006/main">
            <a:r>
              <a:t>Previous slide: Leakage and Group split.</a:t>
            </a:r>
          </a:p>
          <a:p xmlns:a="http://schemas.openxmlformats.org/drawingml/2006/main">
            <a:r>
              <a:t/>
            </a:r>
          </a:p>
          <a:p xmlns:a="http://schemas.openxmlformats.org/drawingml/2006/main">
            <a:r>
              <a:t>EXPLAIN</a:t>
            </a:r>
          </a:p>
          <a:p xmlns:a="http://schemas.openxmlformats.org/drawingml/2006/main">
            <a:r>
              <a:t>Readings from the same equipment can share patterns.</a:t>
            </a:r>
          </a:p>
          <a:p xmlns:a="http://schemas.openxmlformats.org/drawingml/2006/main">
            <a:r>
              <a:t/>
            </a:r>
          </a:p>
          <a:p xmlns:a="http://schemas.openxmlformats.org/drawingml/2006/main">
            <a:r>
              <a:t>Putting that equipment in both training and validation can make evaluation too easy.</a:t>
            </a:r>
          </a:p>
          <a:p xmlns:a="http://schemas.openxmlformats.org/drawingml/2006/main">
            <a:r>
              <a:t/>
            </a:r>
          </a:p>
          <a:p xmlns:a="http://schemas.openxmlformats.org/drawingml/2006/main">
            <a:r>
              <a:t>For a new-equipment question, keep every row for an equipment ID in one partition.</a:t>
            </a:r>
          </a:p>
          <a:p xmlns:a="http://schemas.openxmlformats.org/drawingml/2006/main">
            <a:r>
              <a:t/>
            </a:r>
          </a:p>
          <a:p xmlns:a="http://schemas.openxmlformats.org/drawingml/2006/main">
            <a:r>
              <a:t>LECTURER CUE</a:t>
            </a:r>
          </a:p>
          <a:p xmlns:a="http://schemas.openxmlformats.org/drawingml/2006/main">
            <a:r>
              <a:t>Write equipment letters on paper cards and distribute whole groups to train, validation and test. Explain why two observations of the same machine can share information.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Keeping equipment groups together.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Keeping equipment groups together</a:t>
            </a:r>
          </a:p>
          <a:p xmlns:a="http://schemas.openxmlformats.org/drawingml/2006/main">
            <a:r>
              <a:t/>
            </a:r>
          </a:p>
          <a:p xmlns:a="http://schemas.openxmlformats.org/drawingml/2006/main">
            <a:r>
              <a:t>CONNECT</a:t>
            </a:r>
          </a:p>
          <a:p xmlns:a="http://schemas.openxmlformats.org/drawingml/2006/main">
            <a:r>
              <a:t>Previous slide: Repeated equipment needs group separation.</a:t>
            </a:r>
          </a:p>
          <a:p xmlns:a="http://schemas.openxmlformats.org/drawingml/2006/main">
            <a:r>
              <a:t/>
            </a:r>
          </a:p>
          <a:p xmlns:a="http://schemas.openxmlformats.org/drawingml/2006/main">
            <a:r>
              <a:t>EXPLAIN</a:t>
            </a:r>
          </a:p>
          <a:p xmlns:a="http://schemas.openxmlformats.org/drawingml/2006/main">
            <a:r>
              <a:t>Observation | Equipment | Partition</a:t>
            </a:r>
          </a:p>
          <a:p xmlns:a="http://schemas.openxmlformats.org/drawingml/2006/main">
            <a:r>
              <a:t/>
            </a:r>
          </a:p>
          <a:p xmlns:a="http://schemas.openxmlformats.org/drawingml/2006/main">
            <a:r>
              <a:t>1 | A | Training</a:t>
            </a:r>
          </a:p>
          <a:p xmlns:a="http://schemas.openxmlformats.org/drawingml/2006/main">
            <a:r>
              <a:t/>
            </a:r>
          </a:p>
          <a:p xmlns:a="http://schemas.openxmlformats.org/drawingml/2006/main">
            <a:r>
              <a:t>2 | A | Training</a:t>
            </a:r>
          </a:p>
          <a:p xmlns:a="http://schemas.openxmlformats.org/drawingml/2006/main">
            <a:r>
              <a:t/>
            </a:r>
          </a:p>
          <a:p xmlns:a="http://schemas.openxmlformats.org/drawingml/2006/main">
            <a:r>
              <a:t>3 | B | Validation</a:t>
            </a:r>
          </a:p>
          <a:p xmlns:a="http://schemas.openxmlformats.org/drawingml/2006/main">
            <a:r>
              <a:t/>
            </a:r>
          </a:p>
          <a:p xmlns:a="http://schemas.openxmlformats.org/drawingml/2006/main">
            <a:r>
              <a:t>This toy split explains group separation.</a:t>
            </a:r>
          </a:p>
          <a:p xmlns:a="http://schemas.openxmlformats.org/drawingml/2006/main">
            <a:r>
              <a:t/>
            </a:r>
          </a:p>
          <a:p xmlns:a="http://schemas.openxmlformats.org/drawingml/2006/main">
            <a:r>
              <a:t>LECTURER CUE</a:t>
            </a:r>
          </a:p>
          <a:p xmlns:a="http://schemas.openxmlformats.org/drawingml/2006/main">
            <a:r>
              <a:t>This toy split explains group separation. It does not establish a representative evaluation with only two pieces of equipment.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 (1/2).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Validation and leakage in Python (1/2)</a:t>
            </a:r>
          </a:p>
          <a:p xmlns:a="http://schemas.openxmlformats.org/drawingml/2006/main">
            <a:r>
              <a:t/>
            </a:r>
          </a:p>
          <a:p xmlns:a="http://schemas.openxmlformats.org/drawingml/2006/main">
            <a:r>
              <a:t>CONNECT</a:t>
            </a:r>
          </a:p>
          <a:p xmlns:a="http://schemas.openxmlformats.org/drawingml/2006/main">
            <a:r>
              <a:t>Previous slide: Keeping equipment groups together.</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records = [{"id": 1, "equipment": "A"},</a:t>
            </a:r>
          </a:p>
          <a:p xmlns:a="http://schemas.openxmlformats.org/drawingml/2006/main">
            <a:r>
              <a:t>           {"id": 2, "equipment": "A"},</a:t>
            </a:r>
          </a:p>
          <a:p xmlns:a="http://schemas.openxmlformats.org/drawingml/2006/main">
            <a:r>
              <a:t>           {"id": 3, "equipment": "B"}]</a:t>
            </a:r>
          </a:p>
          <a:p xmlns:a="http://schemas.openxmlformats.org/drawingml/2006/main">
            <a:r>
              <a:t>train = []</a:t>
            </a:r>
          </a:p>
          <a:p xmlns:a="http://schemas.openxmlformats.org/drawingml/2006/main">
            <a:r>
              <a:t>validation = []</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Braces hold dictionary key: value pairs here.</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Write equipment letters on paper cards and distribute whole groups to train, validation and test. Explain why two observations of the same machine can share information. Fit a missing-value replacement on training values [20, 22, 24]: the median is 22. A new hotter observation must not change that fitted median. Show a counterexample: if every input contains a field called final_inspection_result recorded after the outcome, an excellent score can be meaningless for earlier prediction.</a:t>
            </a:r>
          </a:p>
          <a:p xmlns:a="http://schemas.openxmlformats.org/drawingml/2006/main">
            <a:r>
              <a:t/>
            </a:r>
          </a:p>
          <a:p xmlns:a="http://schemas.openxmlformats.org/drawingml/2006/main">
            <a:r>
              <a:t>Complete practice code:</a:t>
            </a:r>
          </a:p>
          <a:p xmlns:a="http://schemas.openxmlformats.org/drawingml/2006/main">
            <a:r>
              <a:t>records = [{"id": 1, "equipment": "A"},</a:t>
            </a:r>
          </a:p>
          <a:p xmlns:a="http://schemas.openxmlformats.org/drawingml/2006/main">
            <a:r>
              <a:t>           {"id": 2, "equipment": "A"},</a:t>
            </a:r>
          </a:p>
          <a:p xmlns:a="http://schemas.openxmlformats.org/drawingml/2006/main">
            <a:r>
              <a:t>           {"id": 3, "equipment": "B"}]</a:t>
            </a:r>
          </a:p>
          <a:p xmlns:a="http://schemas.openxmlformats.org/drawingml/2006/main">
            <a:r>
              <a:t>train = []</a:t>
            </a:r>
          </a:p>
          <a:p xmlns:a="http://schemas.openxmlformats.org/drawingml/2006/main">
            <a:r>
              <a:t>validation = []</a:t>
            </a:r>
          </a:p>
          <a:p xmlns:a="http://schemas.openxmlformats.org/drawingml/2006/main">
            <a:r>
              <a:t>for row in records:</a:t>
            </a:r>
          </a:p>
          <a:p xmlns:a="http://schemas.openxmlformats.org/drawingml/2006/main">
            <a:r>
              <a:t>    if row["equipment"] == "A":</a:t>
            </a:r>
          </a:p>
          <a:p xmlns:a="http://schemas.openxmlformats.org/drawingml/2006/main">
            <a:r>
              <a:t>        train.append(row["id"])</a:t>
            </a:r>
          </a:p>
          <a:p xmlns:a="http://schemas.openxmlformats.org/drawingml/2006/main">
            <a:r>
              <a:t>    else:</a:t>
            </a:r>
          </a:p>
          <a:p xmlns:a="http://schemas.openxmlformats.org/drawingml/2006/main">
            <a:r>
              <a:t>        validation.append(row["id"])</a:t>
            </a:r>
          </a:p>
          <a:p xmlns:a="http://schemas.openxmlformats.org/drawingml/2006/main">
            <a:r>
              <a:t>print(train, validation)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 (2/2).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Validation and leakage in Python (2/2)</a:t>
            </a:r>
          </a:p>
          <a:p xmlns:a="http://schemas.openxmlformats.org/drawingml/2006/main">
            <a:r>
              <a:t/>
            </a:r>
          </a:p>
          <a:p xmlns:a="http://schemas.openxmlformats.org/drawingml/2006/main">
            <a:r>
              <a:t>CONNECT</a:t>
            </a:r>
          </a:p>
          <a:p xmlns:a="http://schemas.openxmlformats.org/drawingml/2006/main">
            <a:r>
              <a:t>Previous slide: Validation and leakage in Python (1/2).</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row in records:</a:t>
            </a:r>
          </a:p>
          <a:p xmlns:a="http://schemas.openxmlformats.org/drawingml/2006/main">
            <a:r>
              <a:t>    if row["equipment"] == "A":</a:t>
            </a:r>
          </a:p>
          <a:p xmlns:a="http://schemas.openxmlformats.org/drawingml/2006/main">
            <a:r>
              <a:t>        train.append(row["id"])</a:t>
            </a:r>
          </a:p>
          <a:p xmlns:a="http://schemas.openxmlformats.org/drawingml/2006/main">
            <a:r>
              <a:t>    else:</a:t>
            </a:r>
          </a:p>
          <a:p xmlns:a="http://schemas.openxmlformats.org/drawingml/2006/main">
            <a:r>
              <a:t>        validation.append(row["id"])</a:t>
            </a:r>
          </a:p>
          <a:p xmlns:a="http://schemas.openxmlformats.org/drawingml/2006/main">
            <a:r>
              <a:t>print(train, validation)</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Write equipment letters on paper cards and distribute whole groups to train, validation and test. Explain why two observations of the same machine can share information. Fit a missing-value replacement on training values [20, 22, 24]: the median is 22. A new hotter observation must not change that fitted median. Show a counterexample: if every input contains a field called final_inspection_result recorded after the outcome, an excellent score can be meaningless for earlier prediction.</a:t>
            </a:r>
          </a:p>
          <a:p xmlns:a="http://schemas.openxmlformats.org/drawingml/2006/main">
            <a:r>
              <a:t/>
            </a:r>
          </a:p>
          <a:p xmlns:a="http://schemas.openxmlformats.org/drawingml/2006/main">
            <a:r>
              <a:t>Complete practice code:</a:t>
            </a:r>
          </a:p>
          <a:p xmlns:a="http://schemas.openxmlformats.org/drawingml/2006/main">
            <a:r>
              <a:t>records = [{"id": 1, "equipment": "A"},</a:t>
            </a:r>
          </a:p>
          <a:p xmlns:a="http://schemas.openxmlformats.org/drawingml/2006/main">
            <a:r>
              <a:t>           {"id": 2, "equipment": "A"},</a:t>
            </a:r>
          </a:p>
          <a:p xmlns:a="http://schemas.openxmlformats.org/drawingml/2006/main">
            <a:r>
              <a:t>           {"id": 3, "equipment": "B"}]</a:t>
            </a:r>
          </a:p>
          <a:p xmlns:a="http://schemas.openxmlformats.org/drawingml/2006/main">
            <a:r>
              <a:t>train = []</a:t>
            </a:r>
          </a:p>
          <a:p xmlns:a="http://schemas.openxmlformats.org/drawingml/2006/main">
            <a:r>
              <a:t>validation = []</a:t>
            </a:r>
          </a:p>
          <a:p xmlns:a="http://schemas.openxmlformats.org/drawingml/2006/main">
            <a:r>
              <a:t>for row in records:</a:t>
            </a:r>
          </a:p>
          <a:p xmlns:a="http://schemas.openxmlformats.org/drawingml/2006/main">
            <a:r>
              <a:t>    if row["equipment"] == "A":</a:t>
            </a:r>
          </a:p>
          <a:p xmlns:a="http://schemas.openxmlformats.org/drawingml/2006/main">
            <a:r>
              <a:t>        train.append(row["id"])</a:t>
            </a:r>
          </a:p>
          <a:p xmlns:a="http://schemas.openxmlformats.org/drawingml/2006/main">
            <a:r>
              <a:t>    else:</a:t>
            </a:r>
          </a:p>
          <a:p xmlns:a="http://schemas.openxmlformats.org/drawingml/2006/main">
            <a:r>
              <a:t>        validation.append(row["id"])</a:t>
            </a:r>
          </a:p>
          <a:p xmlns:a="http://schemas.openxmlformats.org/drawingml/2006/main">
            <a:r>
              <a:t>print(train, validation)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Expected output.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Validation and leakage results</a:t>
            </a:r>
          </a:p>
          <a:p xmlns:a="http://schemas.openxmlformats.org/drawingml/2006/main">
            <a:r>
              <a:t/>
            </a:r>
          </a:p>
          <a:p xmlns:a="http://schemas.openxmlformats.org/drawingml/2006/main">
            <a:r>
              <a:t>CONNECT</a:t>
            </a:r>
          </a:p>
          <a:p xmlns:a="http://schemas.openxmlformats.org/drawingml/2006/main">
            <a:r>
              <a:t>Previous slide: Validation and leakage in Python (2/2).</a:t>
            </a:r>
          </a:p>
          <a:p xmlns:a="http://schemas.openxmlformats.org/drawingml/2006/main">
            <a:r>
              <a:t/>
            </a:r>
          </a:p>
          <a:p xmlns:a="http://schemas.openxmlformats.org/drawingml/2006/main">
            <a:r>
              <a:t>EXPLAIN</a:t>
            </a:r>
          </a:p>
          <a:p xmlns:a="http://schemas.openxmlformats.org/drawingml/2006/main">
            <a:r>
              <a:t>[1, 2] [3]</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Preprocessing and pipeline.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Preprocessing and pipeline</a:t>
            </a:r>
          </a:p>
          <a:p xmlns:a="http://schemas.openxmlformats.org/drawingml/2006/main">
            <a:r>
              <a:t/>
            </a:r>
          </a:p>
          <a:p xmlns:a="http://schemas.openxmlformats.org/drawingml/2006/main">
            <a:r>
              <a:t>CONNECT</a:t>
            </a:r>
          </a:p>
          <a:p xmlns:a="http://schemas.openxmlformats.org/drawingml/2006/main">
            <a:r>
              <a:t>Previous slide: Validation and leakage results.</a:t>
            </a:r>
          </a:p>
          <a:p xmlns:a="http://schemas.openxmlformats.org/drawingml/2006/main">
            <a:r>
              <a:t/>
            </a:r>
          </a:p>
          <a:p xmlns:a="http://schemas.openxmlformats.org/drawingml/2006/main">
            <a:r>
              <a:t>EXPLAIN</a:t>
            </a:r>
          </a:p>
          <a:p xmlns:a="http://schemas.openxmlformats.org/drawingml/2006/main">
            <a:r>
              <a:t>Preprocessing and pipeline: Preprocessing changes inputs, for example filling missing values. A pipeline fits these steps on training data and applies the same fitted changes to new inputs.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learned cleaning value comes from training.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learned cleaning value comes from training</a:t>
            </a:r>
          </a:p>
          <a:p xmlns:a="http://schemas.openxmlformats.org/drawingml/2006/main">
            <a:r>
              <a:t/>
            </a:r>
          </a:p>
          <a:p xmlns:a="http://schemas.openxmlformats.org/drawingml/2006/main">
            <a:r>
              <a:t>CONNECT</a:t>
            </a:r>
          </a:p>
          <a:p xmlns:a="http://schemas.openxmlformats.org/drawingml/2006/main">
            <a:r>
              <a:t>Previous slide: Preprocessing and pipeline.</a:t>
            </a:r>
          </a:p>
          <a:p xmlns:a="http://schemas.openxmlformats.org/drawingml/2006/main">
            <a:r>
              <a:t/>
            </a:r>
          </a:p>
          <a:p xmlns:a="http://schemas.openxmlformats.org/drawingml/2006/main">
            <a:r>
              <a:t>EXPLAIN</a:t>
            </a:r>
          </a:p>
          <a:p xmlns:a="http://schemas.openxmlformats.org/drawingml/2006/main">
            <a:r>
              <a:t>The training readings are 20, 22 and 24. Their median is 22.</a:t>
            </a:r>
          </a:p>
          <a:p xmlns:a="http://schemas.openxmlformats.org/drawingml/2006/main">
            <a:r>
              <a:t/>
            </a:r>
          </a:p>
          <a:p xmlns:a="http://schemas.openxmlformats.org/drawingml/2006/main">
            <a:r>
              <a:t>A missing validation value receives the already learned 22.</a:t>
            </a:r>
          </a:p>
          <a:p xmlns:a="http://schemas.openxmlformats.org/drawingml/2006/main">
            <a:r>
              <a:t/>
            </a:r>
          </a:p>
          <a:p xmlns:a="http://schemas.openxmlformats.org/drawingml/2006/main">
            <a:r>
              <a:t>A new validation reading of 40 must not change the fitted median.</a:t>
            </a:r>
          </a:p>
          <a:p xmlns:a="http://schemas.openxmlformats.org/drawingml/2006/main">
            <a:r>
              <a:t/>
            </a:r>
          </a:p>
          <a:p xmlns:a="http://schemas.openxmlformats.org/drawingml/2006/main">
            <a:r>
              <a:t>LECTURER CUE</a:t>
            </a:r>
          </a:p>
          <a:p xmlns:a="http://schemas.openxmlformats.org/drawingml/2006/main">
            <a:r>
              <a:t>Fit a missing-value replacement on training values [20, 22, 24]: the median is 22. A new hotter observation must not change that fitted median.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training-only fill value in Python (1/2).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training-only fill value in Python (1/2)</a:t>
            </a:r>
          </a:p>
          <a:p xmlns:a="http://schemas.openxmlformats.org/drawingml/2006/main">
            <a:r>
              <a:t/>
            </a:r>
          </a:p>
          <a:p xmlns:a="http://schemas.openxmlformats.org/drawingml/2006/main">
            <a:r>
              <a:t>CONNECT</a:t>
            </a:r>
          </a:p>
          <a:p xmlns:a="http://schemas.openxmlformats.org/drawingml/2006/main">
            <a:r>
              <a:t>Previous slide: A learned cleaning value comes from training.</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from statistics import median</a:t>
            </a:r>
          </a:p>
          <a:p xmlns:a="http://schemas.openxmlformats.org/drawingml/2006/main">
            <a:r>
              <a:t>training_values = [20, 22, 24]</a:t>
            </a:r>
          </a:p>
          <a:p xmlns:a="http://schemas.openxmlformats.org/drawingml/2006/main">
            <a:r>
              <a:t>validation_values = [None, 40]</a:t>
            </a:r>
          </a:p>
          <a:p xmlns:a="http://schemas.openxmlformats.org/drawingml/2006/main">
            <a:r>
              <a:t>training_median = median(training_values)</a:t>
            </a:r>
          </a:p>
          <a:p xmlns:a="http://schemas.openxmlformats.org/drawingml/2006/main">
            <a:r>
              <a:t>filled_validation = []</a:t>
            </a:r>
          </a:p>
          <a:p xmlns:a="http://schemas.openxmlformats.org/drawingml/2006/main">
            <a:r>
              <a:t/>
            </a:r>
          </a:p>
          <a:p xmlns:a="http://schemas.openxmlformats.org/drawingml/2006/main">
            <a:r>
              <a:t>import loads a library. from selects a tool from it.</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The median is learned from training observations. Adding a new validation observation must not change it. A real modelling pipeline follows this same rule for each learned step.</a:t>
            </a:r>
          </a:p>
          <a:p xmlns:a="http://schemas.openxmlformats.org/drawingml/2006/main">
            <a:r>
              <a:t/>
            </a:r>
          </a:p>
          <a:p xmlns:a="http://schemas.openxmlformats.org/drawingml/2006/main">
            <a:r>
              <a:t>Complete practice code:</a:t>
            </a:r>
          </a:p>
          <a:p xmlns:a="http://schemas.openxmlformats.org/drawingml/2006/main">
            <a:r>
              <a:t>from statistics import median</a:t>
            </a:r>
          </a:p>
          <a:p xmlns:a="http://schemas.openxmlformats.org/drawingml/2006/main">
            <a:r>
              <a:t>training_values = [20, 22, 24]</a:t>
            </a:r>
          </a:p>
          <a:p xmlns:a="http://schemas.openxmlformats.org/drawingml/2006/main">
            <a:r>
              <a:t>validation_values = [None, 40]</a:t>
            </a:r>
          </a:p>
          <a:p xmlns:a="http://schemas.openxmlformats.org/drawingml/2006/main">
            <a:r>
              <a:t>training_median = median(training_values)</a:t>
            </a:r>
          </a:p>
          <a:p xmlns:a="http://schemas.openxmlformats.org/drawingml/2006/main">
            <a:r>
              <a:t>filled_validation = []</a:t>
            </a:r>
          </a:p>
          <a:p xmlns:a="http://schemas.openxmlformats.org/drawingml/2006/main">
            <a:r>
              <a:t>for value in validation_values:</a:t>
            </a:r>
          </a:p>
          <a:p xmlns:a="http://schemas.openxmlformats.org/drawingml/2006/main">
            <a:r>
              <a:t>    if value is None:</a:t>
            </a:r>
          </a:p>
          <a:p xmlns:a="http://schemas.openxmlformats.org/drawingml/2006/main">
            <a:r>
              <a:t>        filled_validation.append(training_median)</a:t>
            </a:r>
          </a:p>
          <a:p xmlns:a="http://schemas.openxmlformats.org/drawingml/2006/main">
            <a:r>
              <a:t>    else:</a:t>
            </a:r>
          </a:p>
          <a:p xmlns:a="http://schemas.openxmlformats.org/drawingml/2006/main">
            <a:r>
              <a:t>        filled_validation.append(value)</a:t>
            </a:r>
          </a:p>
          <a:p xmlns:a="http://schemas.openxmlformats.org/drawingml/2006/main">
            <a:r>
              <a:t>print(training_median, filled_validation)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training-only fill value in Python (2/2).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training-only fill value in Python (2/2)</a:t>
            </a:r>
          </a:p>
          <a:p xmlns:a="http://schemas.openxmlformats.org/drawingml/2006/main">
            <a:r>
              <a:t/>
            </a:r>
          </a:p>
          <a:p xmlns:a="http://schemas.openxmlformats.org/drawingml/2006/main">
            <a:r>
              <a:t>CONNECT</a:t>
            </a:r>
          </a:p>
          <a:p xmlns:a="http://schemas.openxmlformats.org/drawingml/2006/main">
            <a:r>
              <a:t>Previous slide: A training-only fill value in Python (1/2).</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value in validation_values:</a:t>
            </a:r>
          </a:p>
          <a:p xmlns:a="http://schemas.openxmlformats.org/drawingml/2006/main">
            <a:r>
              <a:t>    if value is None:</a:t>
            </a:r>
          </a:p>
          <a:p xmlns:a="http://schemas.openxmlformats.org/drawingml/2006/main">
            <a:r>
              <a:t>        filled_validation.append(training_median)</a:t>
            </a:r>
          </a:p>
          <a:p xmlns:a="http://schemas.openxmlformats.org/drawingml/2006/main">
            <a:r>
              <a:t>    else:</a:t>
            </a:r>
          </a:p>
          <a:p xmlns:a="http://schemas.openxmlformats.org/drawingml/2006/main">
            <a:r>
              <a:t>        filled_validation.append(value)</a:t>
            </a:r>
          </a:p>
          <a:p xmlns:a="http://schemas.openxmlformats.org/drawingml/2006/main">
            <a:r>
              <a:t>print(training_median, filled_validation)</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The median is learned from training observations. Adding a new validation observation must not change it. A real modelling pipeline follows this same rule for each learned step.</a:t>
            </a:r>
          </a:p>
          <a:p xmlns:a="http://schemas.openxmlformats.org/drawingml/2006/main">
            <a:r>
              <a:t/>
            </a:r>
          </a:p>
          <a:p xmlns:a="http://schemas.openxmlformats.org/drawingml/2006/main">
            <a:r>
              <a:t>Complete practice code:</a:t>
            </a:r>
          </a:p>
          <a:p xmlns:a="http://schemas.openxmlformats.org/drawingml/2006/main">
            <a:r>
              <a:t>from statistics import median</a:t>
            </a:r>
          </a:p>
          <a:p xmlns:a="http://schemas.openxmlformats.org/drawingml/2006/main">
            <a:r>
              <a:t>training_values = [20, 22, 24]</a:t>
            </a:r>
          </a:p>
          <a:p xmlns:a="http://schemas.openxmlformats.org/drawingml/2006/main">
            <a:r>
              <a:t>validation_values = [None, 40]</a:t>
            </a:r>
          </a:p>
          <a:p xmlns:a="http://schemas.openxmlformats.org/drawingml/2006/main">
            <a:r>
              <a:t>training_median = median(training_values)</a:t>
            </a:r>
          </a:p>
          <a:p xmlns:a="http://schemas.openxmlformats.org/drawingml/2006/main">
            <a:r>
              <a:t>filled_validation = []</a:t>
            </a:r>
          </a:p>
          <a:p xmlns:a="http://schemas.openxmlformats.org/drawingml/2006/main">
            <a:r>
              <a:t>for value in validation_values:</a:t>
            </a:r>
          </a:p>
          <a:p xmlns:a="http://schemas.openxmlformats.org/drawingml/2006/main">
            <a:r>
              <a:t>    if value is None:</a:t>
            </a:r>
          </a:p>
          <a:p xmlns:a="http://schemas.openxmlformats.org/drawingml/2006/main">
            <a:r>
              <a:t>        filled_validation.append(training_median)</a:t>
            </a:r>
          </a:p>
          <a:p xmlns:a="http://schemas.openxmlformats.org/drawingml/2006/main">
            <a:r>
              <a:t>    else:</a:t>
            </a:r>
          </a:p>
          <a:p xmlns:a="http://schemas.openxmlformats.org/drawingml/2006/main">
            <a:r>
              <a:t>        filled_validation.append(value)</a:t>
            </a:r>
          </a:p>
          <a:p xmlns:a="http://schemas.openxmlformats.org/drawingml/2006/main">
            <a:r>
              <a:t>print(training_median, filled_validation)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Leakage gives away information from the future.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Leakage gives away information from the future</a:t>
            </a:r>
          </a:p>
          <a:p xmlns:a="http://schemas.openxmlformats.org/drawingml/2006/main">
            <a:r>
              <a:t/>
            </a:r>
          </a:p>
          <a:p xmlns:a="http://schemas.openxmlformats.org/drawingml/2006/main">
            <a:r>
              <a:t>CONNECT</a:t>
            </a:r>
          </a:p>
          <a:p xmlns:a="http://schemas.openxmlformats.org/drawingml/2006/main">
            <a:r>
              <a:t>Previous slide: A training-only fill value in Python (2/2).</a:t>
            </a:r>
          </a:p>
          <a:p xmlns:a="http://schemas.openxmlformats.org/drawingml/2006/main">
            <a:r>
              <a:t/>
            </a:r>
          </a:p>
          <a:p xmlns:a="http://schemas.openxmlformats.org/drawingml/2006/main">
            <a:r>
              <a:t>EXPLAIN</a:t>
            </a:r>
          </a:p>
          <a:p xmlns:a="http://schemas.openxmlformats.org/drawingml/2006/main">
            <a:r>
              <a:t>Suppose we predict a fault before an inspection.</a:t>
            </a:r>
          </a:p>
          <a:p xmlns:a="http://schemas.openxmlformats.org/drawingml/2006/main">
            <a:r>
              <a:t/>
            </a:r>
          </a:p>
          <a:p xmlns:a="http://schemas.openxmlformats.org/drawingml/2006/main">
            <a:r>
              <a:t>final_inspection_result exists only after the inspection.</a:t>
            </a:r>
          </a:p>
          <a:p xmlns:a="http://schemas.openxmlformats.org/drawingml/2006/main">
            <a:r>
              <a:t/>
            </a:r>
          </a:p>
          <a:p xmlns:a="http://schemas.openxmlformats.org/drawingml/2006/main">
            <a:r>
              <a:t>Using it as an input would answer a different, easier question than the one we intended.</a:t>
            </a:r>
          </a:p>
          <a:p xmlns:a="http://schemas.openxmlformats.org/drawingml/2006/main">
            <a:r>
              <a:t/>
            </a:r>
          </a:p>
          <a:p xmlns:a="http://schemas.openxmlformats.org/drawingml/2006/main">
            <a:r>
              <a:t>LECTURER CUE</a:t>
            </a:r>
          </a:p>
          <a:p xmlns:a="http://schemas.openxmlformats.org/drawingml/2006/main">
            <a:r>
              <a:t>Show a counterexample: if every input contains a field called final_inspection_result recorded after the outcome, an excellent score can be meaningless for earlier prediction.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Parameters hyperparameters and a fold.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Parameters hyperparameters and a fold</a:t>
            </a:r>
          </a:p>
          <a:p xmlns:a="http://schemas.openxmlformats.org/drawingml/2006/main">
            <a:r>
              <a:t/>
            </a:r>
          </a:p>
          <a:p xmlns:a="http://schemas.openxmlformats.org/drawingml/2006/main">
            <a:r>
              <a:t>CONNECT</a:t>
            </a:r>
          </a:p>
          <a:p xmlns:a="http://schemas.openxmlformats.org/drawingml/2006/main">
            <a:r>
              <a:t>Previous slide: Leakage gives away information from the future.</a:t>
            </a:r>
          </a:p>
          <a:p xmlns:a="http://schemas.openxmlformats.org/drawingml/2006/main">
            <a:r>
              <a:t/>
            </a:r>
          </a:p>
          <a:p xmlns:a="http://schemas.openxmlformats.org/drawingml/2006/main">
            <a:r>
              <a:t>EXPLAIN</a:t>
            </a:r>
          </a:p>
          <a:p xmlns:a="http://schemas.openxmlformats.org/drawingml/2006/main">
            <a:r>
              <a:t>A parameter is learned during fitting, such as a line’s slope. A hyperparameter is a setting chosen around fitting, such as a tree’s max_depth.</a:t>
            </a:r>
          </a:p>
          <a:p xmlns:a="http://schemas.openxmlformats.org/drawingml/2006/main">
            <a:r>
              <a:t/>
            </a:r>
          </a:p>
          <a:p xmlns:a="http://schemas.openxmlformats.org/drawingml/2006/main">
            <a:r>
              <a:t>A fold is one part of the development data used for a validation turn. Refit the entire preprocessing and model on the other parts for that turn.</a:t>
            </a:r>
          </a:p>
          <a:p xmlns:a="http://schemas.openxmlformats.org/drawingml/2006/main">
            <a:r>
              <a:t/>
            </a:r>
          </a:p>
          <a:p xmlns:a="http://schemas.openxmlformats.org/drawingml/2006/main">
            <a:r>
              <a:t>Compare candidate settings using validation evidence. Keep the final test outside that selection process.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Cross-validation.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Cross-validation</a:t>
            </a:r>
          </a:p>
          <a:p xmlns:a="http://schemas.openxmlformats.org/drawingml/2006/main">
            <a:r>
              <a:t/>
            </a:r>
          </a:p>
          <a:p xmlns:a="http://schemas.openxmlformats.org/drawingml/2006/main">
            <a:r>
              <a:t>CONNECT</a:t>
            </a:r>
          </a:p>
          <a:p xmlns:a="http://schemas.openxmlformats.org/drawingml/2006/main">
            <a:r>
              <a:t>Previous slide: Parameters hyperparameters and a fold.</a:t>
            </a:r>
          </a:p>
          <a:p xmlns:a="http://schemas.openxmlformats.org/drawingml/2006/main">
            <a:r>
              <a:t/>
            </a:r>
          </a:p>
          <a:p xmlns:a="http://schemas.openxmlformats.org/drawingml/2006/main">
            <a:r>
              <a:t>EXPLAIN</a:t>
            </a:r>
          </a:p>
          <a:p xmlns:a="http://schemas.openxmlformats.org/drawingml/2006/main">
            <a:r>
              <a:t>Cross-validation: Repeat fitting and validation on several partitions of the training/development data. Respect groups or time order. Keep the final test outside tuning.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What standard deviation tells us.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What standard deviation tells us</a:t>
            </a:r>
          </a:p>
          <a:p xmlns:a="http://schemas.openxmlformats.org/drawingml/2006/main">
            <a:r>
              <a:t/>
            </a:r>
          </a:p>
          <a:p xmlns:a="http://schemas.openxmlformats.org/drawingml/2006/main">
            <a:r>
              <a:t>CONNECT</a:t>
            </a:r>
          </a:p>
          <a:p xmlns:a="http://schemas.openxmlformats.org/drawingml/2006/main">
            <a:r>
              <a:t>Previous slide: Cross-validation.</a:t>
            </a:r>
          </a:p>
          <a:p xmlns:a="http://schemas.openxmlformats.org/drawingml/2006/main">
            <a:r>
              <a:t/>
            </a:r>
          </a:p>
          <a:p xmlns:a="http://schemas.openxmlformats.org/drawingml/2006/main">
            <a:r>
              <a:t>EXPLAIN</a:t>
            </a:r>
          </a:p>
          <a:p xmlns:a="http://schemas.openxmlformats.org/drawingml/2006/main">
            <a:r>
              <a:t>Scores 3, 4 and 5 have mean 4. Their deviations are -1, 0 and 1.</a:t>
            </a:r>
          </a:p>
          <a:p xmlns:a="http://schemas.openxmlformats.org/drawingml/2006/main">
            <a:r>
              <a:t/>
            </a:r>
          </a:p>
          <a:p xmlns:a="http://schemas.openxmlformats.org/drawingml/2006/main">
            <a:r>
              <a:t>For these three fold scores, population SD = sqrt((1 + 0 + 1) / 3), about 0.82.</a:t>
            </a:r>
          </a:p>
          <a:p xmlns:a="http://schemas.openxmlformats.org/drawingml/2006/main">
            <a:r>
              <a:t/>
            </a:r>
          </a:p>
          <a:p xmlns:a="http://schemas.openxmlformats.org/drawingml/2006/main">
            <a:r>
              <a:t>SD describes spread around the mean in the score’s units. The next illustration uses this same population convention; it is not a confidence interval.</a:t>
            </a:r>
          </a:p>
          <a:p xmlns:a="http://schemas.openxmlformats.org/drawingml/2006/main">
            <a:r>
              <a:t/>
            </a:r>
          </a:p>
          <a:p xmlns:a="http://schemas.openxmlformats.org/drawingml/2006/main">
            <a:r>
              <a:t>LECTURER CUE</a:t>
            </a:r>
          </a:p>
          <a:p xmlns:a="http://schemas.openxmlformats.org/drawingml/2006/main">
            <a:r>
              <a:t>Square each deviation, average all three, then take the square root. Here we describe the full displayed set. A sample SD would instead divide by n - 1; do not mix conventions.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three validation turns.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three validation turns</a:t>
            </a:r>
          </a:p>
          <a:p xmlns:a="http://schemas.openxmlformats.org/drawingml/2006/main">
            <a:r>
              <a:t/>
            </a:r>
          </a:p>
          <a:p xmlns:a="http://schemas.openxmlformats.org/drawingml/2006/main">
            <a:r>
              <a:t>CONNECT</a:t>
            </a:r>
          </a:p>
          <a:p xmlns:a="http://schemas.openxmlformats.org/drawingml/2006/main">
            <a:r>
              <a:t>Previous slide: What standard deviation tells us.</a:t>
            </a:r>
          </a:p>
          <a:p xmlns:a="http://schemas.openxmlformats.org/drawingml/2006/main">
            <a:r>
              <a:t/>
            </a:r>
          </a:p>
          <a:p xmlns:a="http://schemas.openxmlformats.org/drawingml/2006/main">
            <a:r>
              <a:t>EXPLAIN</a:t>
            </a:r>
          </a:p>
          <a:p xmlns:a="http://schemas.openxmlformats.org/drawingml/2006/main">
            <a:r>
              <a:t>Turn | Fit using | Validate using</a:t>
            </a:r>
          </a:p>
          <a:p xmlns:a="http://schemas.openxmlformats.org/drawingml/2006/main">
            <a:r>
              <a:t/>
            </a:r>
          </a:p>
          <a:p xmlns:a="http://schemas.openxmlformats.org/drawingml/2006/main">
            <a:r>
              <a:t>1 | Parts B and C | Part A</a:t>
            </a:r>
          </a:p>
          <a:p xmlns:a="http://schemas.openxmlformats.org/drawingml/2006/main">
            <a:r>
              <a:t/>
            </a:r>
          </a:p>
          <a:p xmlns:a="http://schemas.openxmlformats.org/drawingml/2006/main">
            <a:r>
              <a:t>2 | Parts A and C | Part B</a:t>
            </a:r>
          </a:p>
          <a:p xmlns:a="http://schemas.openxmlformats.org/drawingml/2006/main">
            <a:r>
              <a:t/>
            </a:r>
          </a:p>
          <a:p xmlns:a="http://schemas.openxmlformats.org/drawingml/2006/main">
            <a:r>
              <a:t>3 | Parts A and B | Part C</a:t>
            </a:r>
          </a:p>
          <a:p xmlns:a="http://schemas.openxmlformats.org/drawingml/2006/main">
            <a:r>
              <a:t/>
            </a:r>
          </a:p>
          <a:p xmlns:a="http://schemas.openxmlformats.org/drawingml/2006/main">
            <a:r>
              <a:t>Refit preprocessing in every turn. The separate final test is not A, B or C.</a:t>
            </a:r>
          </a:p>
          <a:p xmlns:a="http://schemas.openxmlformats.org/drawingml/2006/main">
            <a:r>
              <a:t/>
            </a:r>
          </a:p>
          <a:p xmlns:a="http://schemas.openxmlformats.org/drawingml/2006/main">
            <a:r>
              <a:t>Read the rows in order. Refit preprocessing in every turn. The separate final test is not A, B or C.</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Each fold takes a turn at validation.</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Each fold takes a turn at validation</a:t>
            </a:r>
          </a:p>
          <a:p xmlns:a="http://schemas.openxmlformats.org/drawingml/2006/main">
            <a:r>
              <a:t/>
            </a:r>
          </a:p>
          <a:p xmlns:a="http://schemas.openxmlformats.org/drawingml/2006/main">
            <a:r>
              <a:t>CONNECT</a:t>
            </a:r>
          </a:p>
          <a:p xmlns:a="http://schemas.openxmlformats.org/drawingml/2006/main">
            <a:r>
              <a:t>Previous slide: Trace three validation turns.</a:t>
            </a:r>
          </a:p>
          <a:p xmlns:a="http://schemas.openxmlformats.org/drawingml/2006/main">
            <a:r>
              <a:t/>
            </a:r>
          </a:p>
          <a:p xmlns:a="http://schemas.openxmlformats.org/drawingml/2006/main">
            <a:r>
              <a:t>EXPLAIN</a:t>
            </a:r>
          </a:p>
          <a:p xmlns:a="http://schemas.openxmlformats.org/drawingml/2006/main">
            <a:r>
              <a:t>Illustrated spread: population SD 0.39 MPa, not a confidence interval.</a:t>
            </a:r>
          </a:p>
          <a:p xmlns:a="http://schemas.openxmlformats.org/drawingml/2006/main">
            <a:r>
              <a:t/>
            </a:r>
          </a:p>
          <a:p xmlns:a="http://schemas.openxmlformats.org/drawingml/2006/main">
            <a:r>
              <a:t>LECTURER CUE</a:t>
            </a:r>
          </a:p>
          <a:p xmlns:a="http://schemas.openxmlformats.org/drawingml/2006/main">
            <a:r>
              <a:t>The illustrated mean is about 4.30 MPa and population standard deviation about 0.39 MPa. This is fold variation, not a confidence interval. Keep equipment groups together. Keep a separate final test outside model selection.</a:t>
            </a:r>
          </a:p>
          <a:p xmlns:a="http://schemas.openxmlformats.org/drawingml/2006/main">
            <a:r>
              <a:t>Source: existing course illustration figs/kfold.png. These are illustrative examples, not this cohort’s assessed results.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Choose a split that matches future use.</a:t>
            </a:r>
          </a:p>
          <a:p xmlns:a="http://schemas.openxmlformats.org/drawingml/2006/main">
            <a:r>
              <a:t/>
            </a:r>
          </a:p>
          <a:p xmlns:a="http://schemas.openxmlformats.org/drawingml/2006/main">
            <a:r>
              <a:t>REFERENCES</a:t>
            </a:r>
          </a:p>
          <a:p xmlns:a="http://schemas.openxmlformats.org/drawingml/2006/main">
            <a:r>
              <a:t>Source: existing course illustration figs/kfold.png. These are illustrative examples, not this cohort’s assessed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Choose a split that matches future use</a:t>
            </a:r>
          </a:p>
          <a:p xmlns:a="http://schemas.openxmlformats.org/drawingml/2006/main">
            <a:r>
              <a:t/>
            </a:r>
          </a:p>
          <a:p xmlns:a="http://schemas.openxmlformats.org/drawingml/2006/main">
            <a:r>
              <a:t>CONNECT</a:t>
            </a:r>
          </a:p>
          <a:p xmlns:a="http://schemas.openxmlformats.org/drawingml/2006/main">
            <a:r>
              <a:t>Previous slide: Each fold takes a turn at validation.</a:t>
            </a:r>
          </a:p>
          <a:p xmlns:a="http://schemas.openxmlformats.org/drawingml/2006/main">
            <a:r>
              <a:t/>
            </a:r>
          </a:p>
          <a:p xmlns:a="http://schemas.openxmlformats.org/drawingml/2006/main">
            <a:r>
              <a:t>EXPLAIN</a:t>
            </a:r>
          </a:p>
          <a:p xmlns:a="http://schemas.openxmlformats.org/drawingml/2006/main">
            <a:r>
              <a:t>Equipment or time: For unseen equipment, keep each equipment ID together. For future-time prediction, train on earlier observations and evaluate on later ones.</a:t>
            </a:r>
          </a:p>
          <a:p xmlns:a="http://schemas.openxmlformats.org/drawingml/2006/main">
            <a:r>
              <a:t/>
            </a:r>
          </a:p>
          <a:p xmlns:a="http://schemas.openxmlformats.org/drawingml/2006/main">
            <a:r>
              <a:t>Scaler and split tool: A scaler learns how to rescale features; fit it on training data. GroupShuffleSplit is a library tool for group separation. Our assignment instead uses its fixed published equipment lists.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Revision example and answer.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Previous slide: Choose a split that matches future use.</a:t>
            </a:r>
          </a:p>
          <a:p xmlns:a="http://schemas.openxmlformats.org/drawingml/2006/main">
            <a:r>
              <a:t/>
            </a:r>
          </a:p>
          <a:p xmlns:a="http://schemas.openxmlformats.org/drawingml/2006/main">
            <a:r>
              <a:t>EXPLAIN</a:t>
            </a:r>
          </a:p>
          <a:p xmlns:a="http://schemas.openxmlformats.org/drawingml/2006/main">
            <a:r>
              <a:t>Example: A second observation from B arrives. Where does it go? Why not put it into training just to balance row counts?</a:t>
            </a:r>
          </a:p>
          <a:p xmlns:a="http://schemas.openxmlformats.org/drawingml/2006/main">
            <a:r>
              <a:t/>
            </a:r>
          </a:p>
          <a:p xmlns:a="http://schemas.openxmlformats.org/drawingml/2006/main">
            <a:r>
              <a:t>Answer: It stays with B in validation. Mixing a source across partitions can give an overly optimistic estimate for unseen equipment.</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It stays with B in validation. Mixing a source across partitions can give an overly optimistic estimate for unseen equipment.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Previous slide: Revision example and answer.</a:t>
            </a:r>
          </a:p>
          <a:p xmlns:a="http://schemas.openxmlformats.org/drawingml/2006/main">
            <a:r>
              <a:t/>
            </a:r>
          </a:p>
          <a:p xmlns:a="http://schemas.openxmlformats.org/drawingml/2006/main">
            <a:r>
              <a:t>EXPLAIN</a:t>
            </a:r>
          </a:p>
          <a:p xmlns:a="http://schemas.openxmlformats.org/drawingml/2006/main">
            <a:r>
              <a:t>W10 specifies E1–E4 train, E5 validation, E6 test and preserves input order.</a:t>
            </a:r>
          </a:p>
          <a:p xmlns:a="http://schemas.openxmlformats.org/drawingml/2006/main">
            <a:r>
              <a:t/>
            </a:r>
          </a:p>
          <a:p xmlns:a="http://schemas.openxmlformats.org/drawingml/2006/main">
            <a:r>
              <a:t>Use the assigned equipment_id field and record_id outputs.</a:t>
            </a:r>
          </a:p>
          <a:p xmlns:a="http://schemas.openxmlformats.org/drawingml/2006/main">
            <a:r>
              <a:t/>
            </a:r>
          </a:p>
          <a:p xmlns:a="http://schemas.openxmlformats.org/drawingml/2006/main">
            <a:r>
              <a:t>Reuse the W08 fitting pattern.</a:t>
            </a:r>
          </a:p>
          <a:p xmlns:a="http://schemas.openxmlformats.org/drawingml/2006/main">
            <a:r>
              <a:t/>
            </a:r>
          </a:p>
          <a:p xmlns:a="http://schemas.openxmlformats.org/drawingml/2006/main">
            <a:r>
              <a:t>Explain that GroupShuffleSplit and time-based splitting solve different deployment questions; use the rule in the issued task.</a:t>
            </a:r>
          </a:p>
          <a:p xmlns:a="http://schemas.openxmlformats.org/drawingml/2006/main">
            <a:r>
              <a:t/>
            </a:r>
          </a:p>
          <a:p xmlns:a="http://schemas.openxmlformats.org/drawingml/2006/main">
            <a:r>
              <a:t>LECTURER CUE</a:t>
            </a:r>
          </a:p>
          <a:p xmlns:a="http://schemas.openxmlformats.org/drawingml/2006/main">
            <a:r>
              <a:t>W10 specifies E1–E4 train, E5 validation, E6 test and preserves input order. Use the assigned equipment_id field and record_id outputs. Reuse the W08 fitting pattern. Explain that GroupShuffleSplit and time-based splitting solve different deployment questions; use the rule in the issued task.</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Interpreting validation results.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Interpreting validation results</a:t>
            </a:r>
          </a:p>
          <a:p xmlns:a="http://schemas.openxmlformats.org/drawingml/2006/main">
            <a:r>
              <a:t/>
            </a:r>
          </a:p>
          <a:p xmlns:a="http://schemas.openxmlformats.org/drawingml/2006/main">
            <a:r>
              <a:t>CONNECT</a:t>
            </a:r>
          </a:p>
          <a:p xmlns:a="http://schemas.openxmlformats.org/drawingml/2006/main">
            <a:r>
              <a:t>Previous slide: Preparing for the assignment.</a:t>
            </a:r>
          </a:p>
          <a:p xmlns:a="http://schemas.openxmlformats.org/drawingml/2006/main">
            <a:r>
              <a:t/>
            </a:r>
          </a:p>
          <a:p xmlns:a="http://schemas.openxmlformats.org/drawingml/2006/main">
            <a:r>
              <a:t>EXPLAIN</a:t>
            </a:r>
          </a:p>
          <a:p xmlns:a="http://schemas.openxmlformats.org/drawingml/2006/main">
            <a:r>
              <a:t>Fit an imputer or scaler only on training data; putting it in a Pipeline helps enforce that during cross-validation.</a:t>
            </a:r>
          </a:p>
          <a:p xmlns:a="http://schemas.openxmlformats.org/drawingml/2006/main">
            <a:r>
              <a:t/>
            </a:r>
          </a:p>
          <a:p xmlns:a="http://schemas.openxmlformats.org/drawingml/2006/main">
            <a:r>
              <a:t>A low training error and high validation error suggest overfitting, but data shift or leakage can also matter.</a:t>
            </a:r>
          </a:p>
          <a:p xmlns:a="http://schemas.openxmlformats.org/drawingml/2006/main">
            <a:r>
              <a:t/>
            </a:r>
          </a:p>
          <a:p xmlns:a="http://schemas.openxmlformats.org/drawingml/2006/main">
            <a:r>
              <a:t>Missing predictor values need a stated treatment.</a:t>
            </a:r>
          </a:p>
          <a:p xmlns:a="http://schemas.openxmlformats.org/drawingml/2006/main">
            <a:r>
              <a:t/>
            </a:r>
          </a:p>
          <a:p xmlns:a="http://schemas.openxmlformats.org/drawingml/2006/main">
            <a:r>
              <a:t>Report fold scores and their variation, not just the best fold.</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Interpreting validation results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Interpreting validation results continued</a:t>
            </a:r>
          </a:p>
          <a:p xmlns:a="http://schemas.openxmlformats.org/drawingml/2006/main">
            <a:r>
              <a:t/>
            </a:r>
          </a:p>
          <a:p xmlns:a="http://schemas.openxmlformats.org/drawingml/2006/main">
            <a:r>
              <a:t>CONNECT</a:t>
            </a:r>
          </a:p>
          <a:p xmlns:a="http://schemas.openxmlformats.org/drawingml/2006/main">
            <a:r>
              <a:t>Previous slide: Interpreting validation results.</a:t>
            </a:r>
          </a:p>
          <a:p xmlns:a="http://schemas.openxmlformats.org/drawingml/2006/main">
            <a:r>
              <a:t/>
            </a:r>
          </a:p>
          <a:p xmlns:a="http://schemas.openxmlformats.org/drawingml/2006/main">
            <a:r>
              <a:t>EXPLAIN</a:t>
            </a:r>
          </a:p>
          <a:p xmlns:a="http://schemas.openxmlformats.org/drawingml/2006/main">
            <a:r>
              <a:t>Group related observations together when the deployment goal is new equipment.</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a:t>
            </a:r>
          </a:p>
          <a:p xmlns:a="http://schemas.openxmlformats.org/drawingml/2006/main">
            <a:r>
              <a:t/>
            </a:r>
          </a:p>
          <a:p xmlns:a="http://schemas.openxmlformats.org/drawingml/2006/main">
            <a:r>
              <a:t>CONNECT</a:t>
            </a:r>
          </a:p>
          <a:p xmlns:a="http://schemas.openxmlformats.org/drawingml/2006/main">
            <a:r>
              <a:t>Previous slide: Interpreting validation results continued.</a:t>
            </a:r>
          </a:p>
          <a:p xmlns:a="http://schemas.openxmlformats.org/drawingml/2006/main">
            <a:r>
              <a:t/>
            </a:r>
          </a:p>
          <a:p xmlns:a="http://schemas.openxmlformats.org/drawingml/2006/main">
            <a:r>
              <a:t>EXPLAIN</a:t>
            </a:r>
          </a:p>
          <a:p xmlns:a="http://schemas.openxmlformats.org/drawingml/2006/main">
            <a:r>
              <a:t>Investigate motor winding temperature.</a:t>
            </a:r>
          </a:p>
          <a:p xmlns:a="http://schemas.openxmlformats.org/drawingml/2006/main">
            <a:r>
              <a:t/>
            </a:r>
          </a:p>
          <a:p xmlns:a="http://schemas.openxmlformats.org/drawingml/2006/main">
            <a:r>
              <a:t>Target units: deg C.</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a:p xmlns:a="http://schemas.openxmlformats.org/drawingml/2006/main">
            <a:r>
              <a:t/>
            </a:r>
          </a:p>
          <a:p xmlns:a="http://schemas.openxmlformats.org/drawingml/2006/main">
            <a:r>
              <a:t>LECTURER CUE</a:t>
            </a:r>
          </a:p>
          <a:p xmlns:a="http://schemas.openxmlformats.org/drawingml/2006/main">
            <a:r>
              <a:t>Investigate motor winding temperature. Target units: deg C. These are synthetic teaching records, not measurements suitable for deployment. Each record is one operating observation; equipment_id repeats across observations.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group_split(records).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group_split(records)</a:t>
            </a:r>
          </a:p>
          <a:p xmlns:a="http://schemas.openxmlformats.org/drawingml/2006/main">
            <a:r>
              <a:t/>
            </a:r>
          </a:p>
          <a:p xmlns:a="http://schemas.openxmlformats.org/drawingml/2006/main">
            <a:r>
              <a:t>CONNECT</a:t>
            </a:r>
          </a:p>
          <a:p xmlns:a="http://schemas.openxmlformats.org/drawingml/2006/main">
            <a:r>
              <a:t>Previous slide: Your issued task.</a:t>
            </a:r>
          </a:p>
          <a:p xmlns:a="http://schemas.openxmlformats.org/drawingml/2006/main">
            <a:r>
              <a:t/>
            </a:r>
          </a:p>
          <a:p xmlns:a="http://schemas.openxmlformats.org/drawingml/2006/main">
            <a:r>
              <a:t>EXPLAIN</a:t>
            </a:r>
          </a:p>
          <a:p xmlns:a="http://schemas.openxmlformats.org/drawingml/2006/main">
            <a:r>
              <a:t>Assign whole equipment groups: E1–E4 to train, E5 to validation, E6 to test.</a:t>
            </a:r>
          </a:p>
          <a:p xmlns:a="http://schemas.openxmlformats.org/drawingml/2006/main">
            <a:r>
              <a:t/>
            </a:r>
          </a:p>
          <a:p xmlns:a="http://schemas.openxmlformats.org/drawingml/2006/main">
            <a:r>
              <a:t>Return train, validation and test lists of record_id in input order.</a:t>
            </a:r>
          </a:p>
          <a:p xmlns:a="http://schemas.openxmlformats.org/drawingml/2006/main">
            <a:r>
              <a:t/>
            </a:r>
          </a:p>
          <a:p xmlns:a="http://schemas.openxmlformats.org/drawingml/2006/main">
            <a:r>
              <a:t>Do not use target values to choose membership.</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IUEA_Teaching_Plan/assessment_banks/W10/CML3111/A/TASKS.md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predict_regression(training_records, feature_records).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predict_regression(training_records, feature_records)</a:t>
            </a:r>
          </a:p>
          <a:p xmlns:a="http://schemas.openxmlformats.org/drawingml/2006/main">
            <a:r>
              <a:t/>
            </a:r>
          </a:p>
          <a:p xmlns:a="http://schemas.openxmlformats.org/drawingml/2006/main">
            <a:r>
              <a:t>CONNECT</a:t>
            </a:r>
          </a:p>
          <a:p xmlns:a="http://schemas.openxmlformats.org/drawingml/2006/main">
            <a:r>
              <a:t>Previous slide: group_split(records).</a:t>
            </a:r>
          </a:p>
          <a:p xmlns:a="http://schemas.openxmlformats.org/drawingml/2006/main">
            <a:r>
              <a:t/>
            </a:r>
          </a:p>
          <a:p xmlns:a="http://schemas.openxmlformats.org/drawingml/2006/main">
            <a:r>
              <a:t>EXPLAIN</a:t>
            </a:r>
          </a:p>
          <a:p xmlns:a="http://schemas.openxmlformats.org/drawingml/2006/main">
            <a:r>
              <a:t>Fit a training-mean baseline, linear regression and a decision tree (max_depth=4, random_state=17) using load_pct and ambient_c only.</a:t>
            </a:r>
          </a:p>
          <a:p xmlns:a="http://schemas.openxmlformats.org/drawingml/2006/main">
            <a:r>
              <a:t/>
            </a:r>
          </a:p>
          <a:p xmlns:a="http://schemas.openxmlformats.org/drawingml/2006/main">
            <a:r>
              <a:t>Return three prediction lists under baseline, linear and tree.</a:t>
            </a:r>
          </a:p>
          <a:p xmlns:a="http://schemas.openxmlformats.org/drawingml/2006/main">
            <a:r>
              <a:t/>
            </a:r>
          </a:p>
          <a:p xmlns:a="http://schemas.openxmlformats.org/drawingml/2006/main">
            <a:r>
              <a:t>Feature records have no target.</a:t>
            </a:r>
          </a:p>
          <a:p xmlns:a="http://schemas.openxmlformats.org/drawingml/2006/main">
            <a:r>
              <a:t/>
            </a:r>
          </a:p>
          <a:p xmlns:a="http://schemas.openxmlformats.org/drawingml/2006/main">
            <a:r>
              <a:t>Fit preprocessing only on training data.</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IUEA_Teaching_Plan/assessment_banks/W10/CML3111/A/TASKS.md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Written evidence.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Written evidence</a:t>
            </a:r>
          </a:p>
          <a:p xmlns:a="http://schemas.openxmlformats.org/drawingml/2006/main">
            <a:r>
              <a:t/>
            </a:r>
          </a:p>
          <a:p xmlns:a="http://schemas.openxmlformats.org/drawingml/2006/main">
            <a:r>
              <a:t>CONNECT</a:t>
            </a:r>
          </a:p>
          <a:p xmlns:a="http://schemas.openxmlformats.org/drawingml/2006/main">
            <a:r>
              <a:t>Previous slide: predict_regression(training_records, feature_records).</a:t>
            </a:r>
          </a:p>
          <a:p xmlns:a="http://schemas.openxmlformats.org/drawingml/2006/main">
            <a:r>
              <a:t/>
            </a:r>
          </a:p>
          <a:p xmlns:a="http://schemas.openxmlformats.org/drawingml/2006/main">
            <a:r>
              <a:t>EXPLAIN</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a:p xmlns:a="http://schemas.openxmlformats.org/drawingml/2006/main">
            <a:r>
              <a:t/>
            </a:r>
          </a:p>
          <a:p xmlns:a="http://schemas.openxmlformats.org/drawingml/2006/main">
            <a:r>
              <a:t>LECTURER CUE</a:t>
            </a:r>
          </a:p>
          <a:p xmlns:a="http://schemas.openxmlformats.org/drawingml/2006/main">
            <a:r>
              <a:t>Published criterion weights and exact requirements remain in TASKS.md. Broader project exercises are formative and do not add weekly marks. Local automated reasoning assessment remains subject to its release checks.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Validation and trust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Validation and trust submission</a:t>
            </a:r>
          </a:p>
          <a:p xmlns:a="http://schemas.openxmlformats.org/drawingml/2006/main">
            <a:r>
              <a:t/>
            </a:r>
          </a:p>
          <a:p xmlns:a="http://schemas.openxmlformats.org/drawingml/2006/main">
            <a:r>
              <a:t>CONNECT</a:t>
            </a:r>
          </a:p>
          <a:p xmlns:a="http://schemas.openxmlformats.org/drawingml/2006/main">
            <a:r>
              <a:t>Previous slide: Written evidence.</a:t>
            </a:r>
          </a:p>
          <a:p xmlns:a="http://schemas.openxmlformats.org/drawingml/2006/main">
            <a:r>
              <a:t/>
            </a:r>
          </a:p>
          <a:p xmlns:a="http://schemas.openxmlformats.org/drawingml/2006/main">
            <a:r>
              <a:t>EXPLAIN</a:t>
            </a:r>
          </a:p>
          <a:p xmlns:a="http://schemas.openxmlformats.org/drawingml/2006/main">
            <a:r>
              <a:t>Opens: 13 Nov 2026, 11:00 Kampala</a:t>
            </a:r>
          </a:p>
          <a:p xmlns:a="http://schemas.openxmlformats.org/drawingml/2006/main">
            <a:r>
              <a:t/>
            </a:r>
          </a:p>
          <a:p xmlns:a="http://schemas.openxmlformats.org/drawingml/2006/main">
            <a:r>
              <a:t>Deadline: 20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10 quiz.</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10 quiz</a:t>
            </a:r>
          </a:p>
          <a:p xmlns:a="http://schemas.openxmlformats.org/drawingml/2006/main">
            <a:r>
              <a:t/>
            </a:r>
          </a:p>
          <a:p xmlns:a="http://schemas.openxmlformats.org/drawingml/2006/main">
            <a:r>
              <a:t>CONNECT</a:t>
            </a:r>
          </a:p>
          <a:p xmlns:a="http://schemas.openxmlformats.org/drawingml/2006/main">
            <a:r>
              <a:t>Previous slide: Validation and trust submission.</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CUE</a:t>
            </a:r>
          </a:p>
          <a:p xmlns:a="http://schemas.openxmlformats.org/drawingml/2006/main">
            <a:r>
              <a:t>Activate the matching open_W10_CML3111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Week 10 quiz.</a:t>
            </a:r>
          </a:p>
          <a:p xmlns:a="http://schemas.openxmlformats.org/drawingml/2006/main">
            <a:r>
              <a:t/>
            </a:r>
          </a:p>
          <a:p xmlns:a="http://schemas.openxmlformats.org/drawingml/2006/main">
            <a:r>
              <a:t>EXPLAIN</a:t>
            </a:r>
          </a:p>
          <a:p xmlns:a="http://schemas.openxmlformats.org/drawingml/2006/main">
            <a:r>
              <a:t>You can identify which records may influence preprocessing and model selection.</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Optional revision video.</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Optional revision video</a:t>
            </a:r>
          </a:p>
          <a:p xmlns:a="http://schemas.openxmlformats.org/drawingml/2006/main">
            <a:r>
              <a:t/>
            </a:r>
          </a:p>
          <a:p xmlns:a="http://schemas.openxmlformats.org/drawingml/2006/main">
            <a:r>
              <a:t>CONNECT</a:t>
            </a:r>
          </a:p>
          <a:p xmlns:a="http://schemas.openxmlformats.org/drawingml/2006/main">
            <a:r>
              <a:t>Previous slide: Revision and submission checklist.</a:t>
            </a:r>
          </a:p>
          <a:p xmlns:a="http://schemas.openxmlformats.org/drawingml/2006/main">
            <a:r>
              <a:t/>
            </a:r>
          </a:p>
          <a:p xmlns:a="http://schemas.openxmlformats.org/drawingml/2006/main">
            <a:r>
              <a:t>EXPLAIN</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Cross Validation</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Why evaluate using observations not used to fit that particular model?</a:t>
            </a:r>
          </a:p>
          <a:p xmlns:a="http://schemas.openxmlformats.org/drawingml/2006/main">
            <a:r>
              <a:t/>
            </a:r>
          </a:p>
          <a:p xmlns:a="http://schemas.openxmlformats.org/drawingml/2006/main">
            <a:r>
              <a:t>LECTURER CUE</a:t>
            </a:r>
          </a:p>
          <a:p xmlns:a="http://schemas.openxmlformats.org/drawingml/2006/main">
            <a:r>
              <a:t>Linked by the official StatQuest video index. Full audiovisual preview and excerpt timing still required.</a:t>
            </a:r>
          </a:p>
          <a:p xmlns:a="http://schemas.openxmlformats.org/drawingml/2006/main">
            <a:r>
              <a:t>After viewing: Explain why our repeated equipment IDs require grouped partitions rather than ordinary random folds.</a:t>
            </a:r>
          </a:p>
          <a:p xmlns:a="http://schemas.openxmlformats.org/drawingml/2006/main">
            <a:r>
              <a:t>Preview before class and stop after the selected short excerpt. If playback fails, teach the worked example. Video is optional. Source: https://www.youtube.com/watch?v=fSytzGwwBVw</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73954c939c4e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5cac08664f42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40e261488a4d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66da8dabb14c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03d17dfe4f4e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453bb7905847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33BCB89-B221-496C-A9C4-BC93A11CB549}"/>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621C116-3946-4D8F-A707-80C0DF2DD9B9}"/>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A84A182-9F7E-429A-8110-D2BA48D97A70}"/>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24CAC0C-6997-4ED7-85F8-6D3C24D018A4}"/>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DD1412C-1B6D-43AE-ADC8-869F866DF255}"/>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DF3C6CD-C01C-4CD1-9665-0F42929F3232}"/>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89E97D4-834D-46F5-A8E7-B2183665A55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3B76303-8899-4C3C-9872-80C8C11950B4}"/>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7DFEC17-AE46-4EF9-AA46-3B28562A4D0E}"/>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2E6A375-29FD-464A-A981-424F524FF7F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5B139EE-6E1B-4AB2-9077-40A158202471}"/>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0E32788-8487-4FFA-846D-4B653DA8EBAE}"/>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3786C1-D311-4324-A773-57A47E09951E}"/>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48CB9A7-8CDB-41BD-8C03-13268553999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7D8EA3C-38AB-4951-94AF-A8096C6B14BD}"/>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4ac5ae85da49a4" /><Relationship Type="http://schemas.openxmlformats.org/officeDocument/2006/relationships/slideLayout" Target="/ppt/slideLayouts/slideLayout1.xml" Id="Rf224275cdbef4b01" /><Relationship Type="http://schemas.openxmlformats.org/officeDocument/2006/relationships/slideLayout" Target="/ppt/slideLayouts/slideLayout2.xml" Id="Re7356b4a7ce94078" /><Relationship Type="http://schemas.openxmlformats.org/officeDocument/2006/relationships/slideLayout" Target="/ppt/slideLayouts/slideLayout3.xml" Id="R4a7824943916414c" /><Relationship Type="http://schemas.openxmlformats.org/officeDocument/2006/relationships/slideLayout" Target="/ppt/slideLayouts/slideLayout4.xml" Id="Rc57d707ca7eb4d92" /><Relationship Type="http://schemas.openxmlformats.org/officeDocument/2006/relationships/slideLayout" Target="/ppt/slideLayouts/slideLayout5.xml" Id="R085c847234bf45fc" /><Relationship Type="http://schemas.openxmlformats.org/officeDocument/2006/relationships/slideLayout" Target="/ppt/slideLayouts/slideLayout6.xml" Id="R4649534d54ea41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24275cdbef4b01"/>
    <p:sldLayoutId xmlns:r="http://schemas.openxmlformats.org/officeDocument/2006/relationships" id="2147483650" r:id="Re7356b4a7ce94078"/>
    <p:sldLayoutId xmlns:r="http://schemas.openxmlformats.org/officeDocument/2006/relationships" id="2147483651" r:id="R4a7824943916414c"/>
    <p:sldLayoutId xmlns:r="http://schemas.openxmlformats.org/officeDocument/2006/relationships" id="2147483652" r:id="Rc57d707ca7eb4d92"/>
    <p:sldLayoutId xmlns:r="http://schemas.openxmlformats.org/officeDocument/2006/relationships" id="2147483653" r:id="R085c847234bf45fc"/>
    <p:sldLayoutId xmlns:r="http://schemas.openxmlformats.org/officeDocument/2006/relationships" id="2147483654" r:id="R4649534d54ea41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b5101324e64a51" /><Relationship Type="http://schemas.openxmlformats.org/officeDocument/2006/relationships/image" Target="/ppt/media/image.png" Id="Ra1b6445db64e482f" /><Relationship Type="http://schemas.openxmlformats.org/officeDocument/2006/relationships/notesSlide" Target="/ppt/notesSlides/notesSlide1.xml" Id="R44590dbc390244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2cc27b9f534290" /><Relationship Type="http://schemas.openxmlformats.org/officeDocument/2006/relationships/notesSlide" Target="/ppt/notesSlides/notesSlide2.xml" Id="R7aa97c48c1584d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9d839fc99249d7" /><Relationship Type="http://schemas.openxmlformats.org/officeDocument/2006/relationships/notesSlide" Target="/ppt/notesSlides/notesSlide3.xml" Id="R9f4a9b6d222146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d5cda1d634464c" /><Relationship Type="http://schemas.openxmlformats.org/officeDocument/2006/relationships/notesSlide" Target="/ppt/notesSlides/notesSlide4.xml" Id="Rd3f1958e9a6944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721b7d36444db9" /><Relationship Type="http://schemas.openxmlformats.org/officeDocument/2006/relationships/notesSlide" Target="/ppt/notesSlides/notesSlide5.xml" Id="R0e717f8629b945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bd39960ceb444c" /><Relationship Type="http://schemas.openxmlformats.org/officeDocument/2006/relationships/image" Target="/ppt/media/image2.png" Id="R1a012f44f3d645a5" /><Relationship Type="http://schemas.openxmlformats.org/officeDocument/2006/relationships/notesSlide" Target="/ppt/notesSlides/notesSlide6.xml" Id="R54181a53c7214a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3bc5fead394d92" /><Relationship Type="http://schemas.openxmlformats.org/officeDocument/2006/relationships/notesSlide" Target="/ppt/notesSlides/notesSlide7.xml" Id="R1cda0189c6cc46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5169520f4a4bb5" /><Relationship Type="http://schemas.openxmlformats.org/officeDocument/2006/relationships/notesSlide" Target="/ppt/notesSlides/notesSlide8.xml" Id="R0fd97213030746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7dc3a88d92461a" /><Relationship Type="http://schemas.openxmlformats.org/officeDocument/2006/relationships/notesSlide" Target="/ppt/notesSlides/notesSlide9.xml" Id="R323a08ef406544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ba41ac74fc42e6" /><Relationship Type="http://schemas.openxmlformats.org/officeDocument/2006/relationships/notesSlide" Target="/ppt/notesSlides/notesSlide10.xml" Id="R77050ae93d8347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b940b4faa446c8" /><Relationship Type="http://schemas.openxmlformats.org/officeDocument/2006/relationships/notesSlide" Target="/ppt/notesSlides/notesSlide11.xml" Id="Rd56ef48877214f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5d76d7c4874378" /><Relationship Type="http://schemas.openxmlformats.org/officeDocument/2006/relationships/notesSlide" Target="/ppt/notesSlides/notesSlide12.xml" Id="R89af6327e3f440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ca48546a8784a21" /><Relationship Type="http://schemas.openxmlformats.org/officeDocument/2006/relationships/notesSlide" Target="/ppt/notesSlides/notesSlide13.xml" Id="Rf2fd04e3c2ae41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6c0628dddc14152" /><Relationship Type="http://schemas.openxmlformats.org/officeDocument/2006/relationships/notesSlide" Target="/ppt/notesSlides/notesSlide14.xml" Id="Rb9e7f80ee04c48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f4c267b2da942f1" /><Relationship Type="http://schemas.openxmlformats.org/officeDocument/2006/relationships/notesSlide" Target="/ppt/notesSlides/notesSlide15.xml" Id="R4fdcc408e03643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17c4ca92c29452e" /><Relationship Type="http://schemas.openxmlformats.org/officeDocument/2006/relationships/notesSlide" Target="/ppt/notesSlides/notesSlide16.xml" Id="R27a15019639a40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28b61127bb4c19" /><Relationship Type="http://schemas.openxmlformats.org/officeDocument/2006/relationships/notesSlide" Target="/ppt/notesSlides/notesSlide17.xml" Id="R1fff7fa2c8a243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5dab8f7e27f404e" /><Relationship Type="http://schemas.openxmlformats.org/officeDocument/2006/relationships/notesSlide" Target="/ppt/notesSlides/notesSlide18.xml" Id="Re5472957251a49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1bcf9bffed7454a" /><Relationship Type="http://schemas.openxmlformats.org/officeDocument/2006/relationships/notesSlide" Target="/ppt/notesSlides/notesSlide19.xml" Id="R244502567b274f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8dbf10503a94ecf" /><Relationship Type="http://schemas.openxmlformats.org/officeDocument/2006/relationships/notesSlide" Target="/ppt/notesSlides/notesSlide20.xml" Id="R3c38fa854c2c45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248edc697d41c9" /><Relationship Type="http://schemas.openxmlformats.org/officeDocument/2006/relationships/notesSlide" Target="/ppt/notesSlides/notesSlide21.xml" Id="Rde07f95a0f234ce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84fe79f9b494d55" /><Relationship Type="http://schemas.openxmlformats.org/officeDocument/2006/relationships/notesSlide" Target="/ppt/notesSlides/notesSlide22.xml" Id="Rf091e43b6a0d4ab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666026149114d87" /><Relationship Type="http://schemas.openxmlformats.org/officeDocument/2006/relationships/image" Target="/ppt/media/image3.png" Id="R42ac2d6821af4f87" /><Relationship Type="http://schemas.openxmlformats.org/officeDocument/2006/relationships/notesSlide" Target="/ppt/notesSlides/notesSlide23.xml" Id="Rc9937b43feb64c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44816a80b6d4ce3" /><Relationship Type="http://schemas.openxmlformats.org/officeDocument/2006/relationships/notesSlide" Target="/ppt/notesSlides/notesSlide24.xml" Id="R48a0bc5e4f3a40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d00a115f5be4ea5" /><Relationship Type="http://schemas.openxmlformats.org/officeDocument/2006/relationships/notesSlide" Target="/ppt/notesSlides/notesSlide25.xml" Id="R4c2ddd48bab14d3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92f1429bb844d00" /><Relationship Type="http://schemas.openxmlformats.org/officeDocument/2006/relationships/notesSlide" Target="/ppt/notesSlides/notesSlide26.xml" Id="R80495517b2f5439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be1f414e4014042" /><Relationship Type="http://schemas.openxmlformats.org/officeDocument/2006/relationships/notesSlide" Target="/ppt/notesSlides/notesSlide27.xml" Id="R0c416003523347c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5faef1d261546ec" /><Relationship Type="http://schemas.openxmlformats.org/officeDocument/2006/relationships/notesSlide" Target="/ppt/notesSlides/notesSlide28.xml" Id="R0014fe6139fc401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6c7181e81a444aa" /><Relationship Type="http://schemas.openxmlformats.org/officeDocument/2006/relationships/notesSlide" Target="/ppt/notesSlides/notesSlide29.xml" Id="R36a4057ea7df490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fade16383874d7f" /><Relationship Type="http://schemas.openxmlformats.org/officeDocument/2006/relationships/notesSlide" Target="/ppt/notesSlides/notesSlide30.xml" Id="Rf438452ab58f41f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b628e10e95d4e7e" /><Relationship Type="http://schemas.openxmlformats.org/officeDocument/2006/relationships/notesSlide" Target="/ppt/notesSlides/notesSlide31.xml" Id="R59de10ee3609450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a608698a1c54497" /><Relationship Type="http://schemas.openxmlformats.org/officeDocument/2006/relationships/notesSlide" Target="/ppt/notesSlides/notesSlide32.xml" Id="R40ba80dd00e34d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2670fd987b14264" /><Relationship Type="http://schemas.openxmlformats.org/officeDocument/2006/relationships/hyperlink" Target="https://docs.google.com/forms/d/e/1FAIpQLSd5yLPYJ8OPmahSQIIIPfI-OfVHWbcHnwnntSRiE7wafqbRTg/viewform" TargetMode="External" Id="Rf3f31dbac8944d74" /><Relationship Type="http://schemas.openxmlformats.org/officeDocument/2006/relationships/notesSlide" Target="/ppt/notesSlides/notesSlide33.xml" Id="Rfa84171a18fa4ff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039abf8b0f440a0" /><Relationship Type="http://schemas.openxmlformats.org/officeDocument/2006/relationships/image" Target="/ppt/media/image4.png" Id="Rd2df7f9721dc4c6d" /><Relationship Type="http://schemas.openxmlformats.org/officeDocument/2006/relationships/hyperlink" Target="https://forms.gle/KJmiCV72Y98y51a38" TargetMode="External" Id="Rec5fea3d334b41d2" /><Relationship Type="http://schemas.openxmlformats.org/officeDocument/2006/relationships/notesSlide" Target="/ppt/notesSlides/notesSlide34.xml" Id="R0056ac3ad7a14f4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c86bd54ba864a6e" /><Relationship Type="http://schemas.openxmlformats.org/officeDocument/2006/relationships/notesSlide" Target="/ppt/notesSlides/notesSlide35.xml" Id="Rf3d80e842f54455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736a55068874d37" /><Relationship Type="http://schemas.openxmlformats.org/officeDocument/2006/relationships/hyperlink" Target="https://www.youtube.com/watch?v=fSytzGwwBVw" TargetMode="External" Id="R90225ee6d1b040cb" /><Relationship Type="http://schemas.openxmlformats.org/officeDocument/2006/relationships/notesSlide" Target="/ppt/notesSlides/notesSlide36.xml" Id="Ra06e13ea725541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1b6445db64e482f"/>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2C1B45-C656-4DFA-ABE3-76619C987C45}"/>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B16022-6DAA-446E-8620-8AC85F5B866F}"/>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10</a:t>
            </a:r>
          </a:p>
        </p:txBody>
      </p:sp>
      <p:sp>
        <p:nvSpPr>
          <p:cNvPr id="4" name="">
            <a:extLst xmlns:a="http://schemas.openxmlformats.org/drawingml/2006/main">
              <a:ext uri="{FF2B5EF4-FFF2-40B4-BE49-F238E27FC236}">
                <a16:creationId xmlns:a16="http://schemas.microsoft.com/office/drawing/2014/main" id="{F1720DC3-58F4-47AC-87A6-8BAF483285F1}"/>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Honest validation and leakage</a:t>
            </a:r>
          </a:p>
        </p:txBody>
      </p:sp>
      <p:sp>
        <p:nvSpPr>
          <p:cNvPr id="5" name="">
            <a:extLst xmlns:a="http://schemas.openxmlformats.org/drawingml/2006/main">
              <a:ext uri="{FF2B5EF4-FFF2-40B4-BE49-F238E27FC236}">
                <a16:creationId xmlns:a16="http://schemas.microsoft.com/office/drawing/2014/main" id="{0A3BB9AE-85C8-4E45-97F1-ECB4DD475174}"/>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4CDED913-7A42-440D-AB1B-31602A84A6D9}"/>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13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0863336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652C47-0BE5-409A-B63B-9EF5A638FE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E6D529-0C5E-4B02-9CB9-1C50C5DE68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C052F0DE-D4EB-410A-812C-8BF220DA57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62EE6CC2-09F1-49B7-9359-98B19174238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9BBE9B-D068-4158-994D-77F22E381C37}"/>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DEC56224-42AC-4E4C-98BF-B7628097ADA2}"/>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related equipment records together.</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Separate training, validation and final testing.</a:t>
            </a:r>
          </a:p>
        </p:txBody>
      </p:sp>
      <p:sp>
        <p:nvSpPr>
          <p:cNvPr id="7" name="">
            <a:extLst xmlns:a="http://schemas.openxmlformats.org/drawingml/2006/main">
              <a:ext uri="{FF2B5EF4-FFF2-40B4-BE49-F238E27FC236}">
                <a16:creationId xmlns:a16="http://schemas.microsoft.com/office/drawing/2014/main" id="{21A76547-EA91-419C-9303-D676ABC35E5B}"/>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585EB69E-8077-4344-B3C2-06682CB15FB0}"/>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identify which records may influence preprocessing and model selection.</a:t>
            </a:r>
          </a:p>
        </p:txBody>
      </p:sp>
      <p:sp>
        <p:nvSpPr>
          <p:cNvPr id="9" name="">
            <a:extLst xmlns:a="http://schemas.openxmlformats.org/drawingml/2006/main">
              <a:ext uri="{FF2B5EF4-FFF2-40B4-BE49-F238E27FC236}">
                <a16:creationId xmlns:a16="http://schemas.microsoft.com/office/drawing/2014/main" id="{DD8D9690-04CE-427F-AD16-18843283B18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a:t>
            </a:r>
          </a:p>
        </p:txBody>
      </p:sp>
    </p:spTree>
    <p:extLst>
      <p:ext uri="{BB962C8B-B14F-4D97-AF65-F5344CB8AC3E}">
        <p14:creationId xmlns:p14="http://schemas.microsoft.com/office/powerpoint/2010/main" val="871092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616A36-5BDF-4093-BF52-69106C9905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08ACF3-B3E1-4ACE-AAE1-7E1D92B8C1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AFDD75A-51BF-4DAA-A2A4-BB19563919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BAD16516-7BEB-48CC-8ACC-88AFFD814BB8}"/>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2CCF0A-0CA5-4EF7-932D-DC9B9986BDA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 have compared predictions with known answers.</a:t>
            </a:r>
          </a:p>
        </p:txBody>
      </p:sp>
      <p:sp>
        <p:nvSpPr>
          <p:cNvPr id="6" name="">
            <a:extLst xmlns:a="http://schemas.openxmlformats.org/drawingml/2006/main">
              <a:ext uri="{FF2B5EF4-FFF2-40B4-BE49-F238E27FC236}">
                <a16:creationId xmlns:a16="http://schemas.microsoft.com/office/drawing/2014/main" id="{5463D5D1-296C-4D04-A008-537A6FAAABD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Now we control which observations may influence training, choices and the final evaluation.</a:t>
            </a:r>
          </a:p>
        </p:txBody>
      </p:sp>
      <p:sp>
        <p:nvSpPr>
          <p:cNvPr id="7" name="">
            <a:extLst xmlns:a="http://schemas.openxmlformats.org/drawingml/2006/main">
              <a:ext uri="{FF2B5EF4-FFF2-40B4-BE49-F238E27FC236}">
                <a16:creationId xmlns:a16="http://schemas.microsoft.com/office/drawing/2014/main" id="{22CF2B0D-85EE-40F5-A0C5-F6ACAA87DD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3</a:t>
            </a:r>
          </a:p>
        </p:txBody>
      </p:sp>
    </p:spTree>
    <p:extLst>
      <p:ext uri="{BB962C8B-B14F-4D97-AF65-F5344CB8AC3E}">
        <p14:creationId xmlns:p14="http://schemas.microsoft.com/office/powerpoint/2010/main" val="10450003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EAD58B-AC2F-46FB-9CAF-40BE3B2231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03935B-209B-4217-AD6D-C8FE41304A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6BCC01D-CC3E-4AED-9486-BA37702CEA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51F9AA4D-714B-41B4-A59A-F26C0A6553E8}"/>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51B775-AE09-4B1B-A7BD-D131E861A8F5}"/>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 want evidence about new equipment or future observations.</a:t>
            </a:r>
          </a:p>
        </p:txBody>
      </p:sp>
      <p:sp>
        <p:nvSpPr>
          <p:cNvPr id="6" name="">
            <a:extLst xmlns:a="http://schemas.openxmlformats.org/drawingml/2006/main">
              <a:ext uri="{FF2B5EF4-FFF2-40B4-BE49-F238E27FC236}">
                <a16:creationId xmlns:a16="http://schemas.microsoft.com/office/drawing/2014/main" id="{B2AAD8AC-96E5-48F4-A7A0-C309B362B2D1}"/>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way we separate data must match that use before any model or preprocessing learns from it.</a:t>
            </a:r>
          </a:p>
        </p:txBody>
      </p:sp>
      <p:sp>
        <p:nvSpPr>
          <p:cNvPr id="7" name="">
            <a:extLst xmlns:a="http://schemas.openxmlformats.org/drawingml/2006/main">
              <a:ext uri="{FF2B5EF4-FFF2-40B4-BE49-F238E27FC236}">
                <a16:creationId xmlns:a16="http://schemas.microsoft.com/office/drawing/2014/main" id="{6E3E9CD1-73A3-4A88-BD08-53231ED40D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4</a:t>
            </a:r>
          </a:p>
        </p:txBody>
      </p:sp>
    </p:spTree>
    <p:extLst>
      <p:ext uri="{BB962C8B-B14F-4D97-AF65-F5344CB8AC3E}">
        <p14:creationId xmlns:p14="http://schemas.microsoft.com/office/powerpoint/2010/main" val="21155094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95956A-FD72-4685-A183-866D3BFD55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F05C0C-5DF0-49A8-84DB-3363C14D42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46A850A-47C4-4001-84A9-BE8EA8AADB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validation and final test</a:t>
            </a:r>
          </a:p>
        </p:txBody>
      </p:sp>
      <p:sp>
        <p:nvSpPr>
          <p:cNvPr id="4" name="">
            <a:extLst xmlns:a="http://schemas.openxmlformats.org/drawingml/2006/main">
              <a:ext uri="{FF2B5EF4-FFF2-40B4-BE49-F238E27FC236}">
                <a16:creationId xmlns:a16="http://schemas.microsoft.com/office/drawing/2014/main" id="{3E5DD824-3811-4E5B-B1B2-6C9A1DC8219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4C9D35A-A570-4396-B834-DBA2943AA43F}"/>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Training data fit the model and preprocessing.</a:t>
            </a:r>
          </a:p>
        </p:txBody>
      </p:sp>
      <p:sp>
        <p:nvSpPr>
          <p:cNvPr id="6" name="">
            <a:extLst xmlns:a="http://schemas.openxmlformats.org/drawingml/2006/main">
              <a:ext uri="{FF2B5EF4-FFF2-40B4-BE49-F238E27FC236}">
                <a16:creationId xmlns:a16="http://schemas.microsoft.com/office/drawing/2014/main" id="{AD1D33FD-8BB7-41F7-B95E-83ACD214C9D4}"/>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E1CD0FE-2BCB-43EA-9CA2-0295CD519879}"/>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data guide feature and model choices.</a:t>
            </a:r>
          </a:p>
        </p:txBody>
      </p:sp>
      <p:sp>
        <p:nvSpPr>
          <p:cNvPr id="8" name="">
            <a:extLst xmlns:a="http://schemas.openxmlformats.org/drawingml/2006/main">
              <a:ext uri="{FF2B5EF4-FFF2-40B4-BE49-F238E27FC236}">
                <a16:creationId xmlns:a16="http://schemas.microsoft.com/office/drawing/2014/main" id="{E4D5A316-61F7-4E7D-BFB8-85DD029E297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BC51BCE-BF49-4B76-B76F-9ABF9EFCDFCE}"/>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final test evaluates choices after they are fixed.</a:t>
            </a:r>
          </a:p>
        </p:txBody>
      </p:sp>
      <p:sp>
        <p:nvSpPr>
          <p:cNvPr id="10" name="">
            <a:extLst xmlns:a="http://schemas.openxmlformats.org/drawingml/2006/main">
              <a:ext uri="{FF2B5EF4-FFF2-40B4-BE49-F238E27FC236}">
                <a16:creationId xmlns:a16="http://schemas.microsoft.com/office/drawing/2014/main" id="{C6F82CD6-DAF2-467E-B00F-7A69DF2C0015}"/>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A55D660-243F-4888-AAC9-076EBBB7C630}"/>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test is needed if its answers influenced further choices.</a:t>
            </a:r>
          </a:p>
        </p:txBody>
      </p:sp>
      <p:sp>
        <p:nvSpPr>
          <p:cNvPr id="12" name="">
            <a:extLst xmlns:a="http://schemas.openxmlformats.org/drawingml/2006/main">
              <a:ext uri="{FF2B5EF4-FFF2-40B4-BE49-F238E27FC236}">
                <a16:creationId xmlns:a16="http://schemas.microsoft.com/office/drawing/2014/main" id="{AC46A87A-71E4-426E-A3AE-E5DABAAE1C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5</a:t>
            </a:r>
          </a:p>
        </p:txBody>
      </p:sp>
    </p:spTree>
    <p:extLst>
      <p:ext uri="{BB962C8B-B14F-4D97-AF65-F5344CB8AC3E}">
        <p14:creationId xmlns:p14="http://schemas.microsoft.com/office/powerpoint/2010/main" val="20938415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C8C639-2EB8-43BE-B8EE-2023CC17E902}"/>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675181-3E2E-4CFB-8AC5-C6E2D1CDC1F9}"/>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Three sets have different jobs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a012f44f3d645a5"/>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A851AC-8CEE-4D78-AD23-31CAAD9F833E}"/>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7D9830-6AE7-49D3-B528-E3955FC9526B}"/>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set must stay sealed until choices are fixed?</a:t>
            </a:r>
          </a:p>
        </p:txBody>
      </p:sp>
      <p:sp>
        <p:nvSpPr>
          <p:cNvPr id="6" name="">
            <a:extLst xmlns:a="http://schemas.openxmlformats.org/drawingml/2006/main">
              <a:ext uri="{FF2B5EF4-FFF2-40B4-BE49-F238E27FC236}">
                <a16:creationId xmlns:a16="http://schemas.microsoft.com/office/drawing/2014/main" id="{FE26D7FC-25DA-4912-941B-C70822B4A2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6</a:t>
            </a:r>
          </a:p>
        </p:txBody>
      </p:sp>
    </p:spTree>
    <p:extLst>
      <p:ext uri="{BB962C8B-B14F-4D97-AF65-F5344CB8AC3E}">
        <p14:creationId xmlns:p14="http://schemas.microsoft.com/office/powerpoint/2010/main" val="20439441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1F5FAA-A764-40F4-B90C-491A02A81F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341824-F9F3-42F6-8063-BF792258AF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736C4BD-E560-4C63-9C7F-A19B9D2D17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Generalisation and Overfitting and underfitting</a:t>
            </a:r>
          </a:p>
        </p:txBody>
      </p:sp>
      <p:sp>
        <p:nvSpPr>
          <p:cNvPr id="4" name="">
            <a:extLst xmlns:a="http://schemas.openxmlformats.org/drawingml/2006/main">
              <a:ext uri="{FF2B5EF4-FFF2-40B4-BE49-F238E27FC236}">
                <a16:creationId xmlns:a16="http://schemas.microsoft.com/office/drawing/2014/main" id="{496BBA9A-9BA6-43FB-8CFB-04C17E10C3F2}"/>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87D658-D640-4C2E-9C8F-33F9CB24520B}"/>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Generalisation</a:t>
            </a:r>
          </a:p>
        </p:txBody>
      </p:sp>
      <p:sp>
        <p:nvSpPr>
          <p:cNvPr id="6" name="">
            <a:extLst xmlns:a="http://schemas.openxmlformats.org/drawingml/2006/main">
              <a:ext uri="{FF2B5EF4-FFF2-40B4-BE49-F238E27FC236}">
                <a16:creationId xmlns:a16="http://schemas.microsoft.com/office/drawing/2014/main" id="{ADC92788-2362-48F2-82B8-F420FCC1F05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Performance on new cases from the intended setting, not merely on records already used.</a:t>
            </a:r>
          </a:p>
        </p:txBody>
      </p:sp>
      <p:sp>
        <p:nvSpPr>
          <p:cNvPr id="7" name="">
            <a:extLst xmlns:a="http://schemas.openxmlformats.org/drawingml/2006/main">
              <a:ext uri="{FF2B5EF4-FFF2-40B4-BE49-F238E27FC236}">
                <a16:creationId xmlns:a16="http://schemas.microsoft.com/office/drawing/2014/main" id="{069F21C0-E10D-4262-B6E1-447EDFDAF6DD}"/>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2090BEA-1634-41A7-B6E7-9617E477B61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Overfitting and underfitting</a:t>
            </a:r>
          </a:p>
        </p:txBody>
      </p:sp>
      <p:sp>
        <p:nvSpPr>
          <p:cNvPr id="9" name="">
            <a:extLst xmlns:a="http://schemas.openxmlformats.org/drawingml/2006/main">
              <a:ext uri="{FF2B5EF4-FFF2-40B4-BE49-F238E27FC236}">
                <a16:creationId xmlns:a16="http://schemas.microsoft.com/office/drawing/2014/main" id="{306D1D1C-D6BE-4D3C-8E2E-1B73DE0BEB82}"/>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Overfitting captures training-specific detail that fails to transfer. Underfitting misses useful patterns. Score gaps are clues, not a complete diagnosis.</a:t>
            </a:r>
          </a:p>
        </p:txBody>
      </p:sp>
      <p:sp>
        <p:nvSpPr>
          <p:cNvPr id="10" name="">
            <a:extLst xmlns:a="http://schemas.openxmlformats.org/drawingml/2006/main">
              <a:ext uri="{FF2B5EF4-FFF2-40B4-BE49-F238E27FC236}">
                <a16:creationId xmlns:a16="http://schemas.microsoft.com/office/drawing/2014/main" id="{9A8BA8B2-490A-4CEB-80C6-BF47D6C040A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7</a:t>
            </a:r>
          </a:p>
        </p:txBody>
      </p:sp>
    </p:spTree>
    <p:extLst>
      <p:ext uri="{BB962C8B-B14F-4D97-AF65-F5344CB8AC3E}">
        <p14:creationId xmlns:p14="http://schemas.microsoft.com/office/powerpoint/2010/main" val="18186516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68BD84-F493-45D1-99CA-51E24FA0F3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F5B16B-5D2E-4772-95DF-1AB5429F4D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30170CC-8025-43BB-8EB9-CDD69C6281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Leakage and Group split</a:t>
            </a:r>
          </a:p>
        </p:txBody>
      </p:sp>
      <p:sp>
        <p:nvSpPr>
          <p:cNvPr id="4" name="">
            <a:extLst xmlns:a="http://schemas.openxmlformats.org/drawingml/2006/main">
              <a:ext uri="{FF2B5EF4-FFF2-40B4-BE49-F238E27FC236}">
                <a16:creationId xmlns:a16="http://schemas.microsoft.com/office/drawing/2014/main" id="{09572558-8FB3-4220-AD5C-5F2C8CDF873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88B96A-CF8F-4949-8C5D-B6775F35AD9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Leakage</a:t>
            </a:r>
          </a:p>
        </p:txBody>
      </p:sp>
      <p:sp>
        <p:nvSpPr>
          <p:cNvPr id="6" name="">
            <a:extLst xmlns:a="http://schemas.openxmlformats.org/drawingml/2006/main">
              <a:ext uri="{FF2B5EF4-FFF2-40B4-BE49-F238E27FC236}">
                <a16:creationId xmlns:a16="http://schemas.microsoft.com/office/drawing/2014/main" id="{338B0BAF-587A-47DC-9282-775C0A79036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Information enters model development that would not legitimately be available, such as the answer or information from evaluation rows.</a:t>
            </a:r>
          </a:p>
        </p:txBody>
      </p:sp>
      <p:sp>
        <p:nvSpPr>
          <p:cNvPr id="7" name="">
            <a:extLst xmlns:a="http://schemas.openxmlformats.org/drawingml/2006/main">
              <a:ext uri="{FF2B5EF4-FFF2-40B4-BE49-F238E27FC236}">
                <a16:creationId xmlns:a16="http://schemas.microsoft.com/office/drawing/2014/main" id="{6BEF0904-C442-49D6-B714-F3F6D486551F}"/>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35081B-D0D6-4411-B831-99F710F0355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Group split</a:t>
            </a:r>
          </a:p>
        </p:txBody>
      </p:sp>
      <p:sp>
        <p:nvSpPr>
          <p:cNvPr id="9" name="">
            <a:extLst xmlns:a="http://schemas.openxmlformats.org/drawingml/2006/main">
              <a:ext uri="{FF2B5EF4-FFF2-40B4-BE49-F238E27FC236}">
                <a16:creationId xmlns:a16="http://schemas.microsoft.com/office/drawing/2014/main" id="{FAA1C164-3FA4-480D-ABED-71A2E466DA9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Keep all observations from the same equipment in one partition when the goal is prediction for unseen equipment.</a:t>
            </a:r>
          </a:p>
        </p:txBody>
      </p:sp>
      <p:sp>
        <p:nvSpPr>
          <p:cNvPr id="10" name="">
            <a:extLst xmlns:a="http://schemas.openxmlformats.org/drawingml/2006/main">
              <a:ext uri="{FF2B5EF4-FFF2-40B4-BE49-F238E27FC236}">
                <a16:creationId xmlns:a16="http://schemas.microsoft.com/office/drawing/2014/main" id="{99109EE2-D5CC-46B2-9C17-13785F383A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8</a:t>
            </a:r>
          </a:p>
        </p:txBody>
      </p:sp>
    </p:spTree>
    <p:extLst>
      <p:ext uri="{BB962C8B-B14F-4D97-AF65-F5344CB8AC3E}">
        <p14:creationId xmlns:p14="http://schemas.microsoft.com/office/powerpoint/2010/main" val="17766968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A97050-48F8-4370-9111-749811117A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83DB3B-3DC4-4194-A191-A98397A8E1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4CD8336-DDF7-4E22-AB9C-6817D7CD15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Repeated equipment needs group separation</a:t>
            </a:r>
          </a:p>
        </p:txBody>
      </p:sp>
      <p:sp>
        <p:nvSpPr>
          <p:cNvPr id="4" name="">
            <a:extLst xmlns:a="http://schemas.openxmlformats.org/drawingml/2006/main">
              <a:ext uri="{FF2B5EF4-FFF2-40B4-BE49-F238E27FC236}">
                <a16:creationId xmlns:a16="http://schemas.microsoft.com/office/drawing/2014/main" id="{3BFCCB22-370B-4985-8F5C-459F1FBD799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38329C8-C1A4-4DA3-BA39-DE04E5BBD6E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Readings from the same equipment can share patterns.</a:t>
            </a:r>
          </a:p>
        </p:txBody>
      </p:sp>
      <p:sp>
        <p:nvSpPr>
          <p:cNvPr id="6" name="">
            <a:extLst xmlns:a="http://schemas.openxmlformats.org/drawingml/2006/main">
              <a:ext uri="{FF2B5EF4-FFF2-40B4-BE49-F238E27FC236}">
                <a16:creationId xmlns:a16="http://schemas.microsoft.com/office/drawing/2014/main" id="{FA89E3D9-98B5-4E44-A8EB-D757E391F66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F0594D-6C77-4723-A4C8-3319D374C3C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Putting that equipment in both training and validation can make evaluation too easy.</a:t>
            </a:r>
          </a:p>
        </p:txBody>
      </p:sp>
      <p:sp>
        <p:nvSpPr>
          <p:cNvPr id="8" name="">
            <a:extLst xmlns:a="http://schemas.openxmlformats.org/drawingml/2006/main">
              <a:ext uri="{FF2B5EF4-FFF2-40B4-BE49-F238E27FC236}">
                <a16:creationId xmlns:a16="http://schemas.microsoft.com/office/drawing/2014/main" id="{C8BC1E91-E3F3-4AE5-B9FA-9E66DCB1685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EF56705-0B76-4B7B-A156-F701F96061F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a new-equipment question, keep every row for an equipment ID in one partition.</a:t>
            </a:r>
          </a:p>
        </p:txBody>
      </p:sp>
      <p:sp>
        <p:nvSpPr>
          <p:cNvPr id="10" name="">
            <a:extLst xmlns:a="http://schemas.openxmlformats.org/drawingml/2006/main">
              <a:ext uri="{FF2B5EF4-FFF2-40B4-BE49-F238E27FC236}">
                <a16:creationId xmlns:a16="http://schemas.microsoft.com/office/drawing/2014/main" id="{B34446A2-6234-4659-B237-8F4F728E32B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9</a:t>
            </a:r>
          </a:p>
        </p:txBody>
      </p:sp>
    </p:spTree>
    <p:extLst>
      <p:ext uri="{BB962C8B-B14F-4D97-AF65-F5344CB8AC3E}">
        <p14:creationId xmlns:p14="http://schemas.microsoft.com/office/powerpoint/2010/main" val="12434244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29BC94-53E2-421B-A5AD-A19314346B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ED7E83-D926-4B41-B955-EBFB032EA44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30B4919-5451-4736-A849-0E17F3BA4F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equipment groups together</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Observation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Equipment</a:t>
                      </a:r>
                    </a:p>
                  </a:txBody>
                  <a:tcPr marL="91440" marR="91440" marT="45720" marB="45720">
                    <a:solidFill>
                      <a:srgbClr val="2E7D6F"/>
                    </a:solidFill>
                  </a:tcPr>
                </a:tc>
                <a:tc>
                  <a:txBody>
                    <a:bodyPr/>
                    <a:lstStyle/>
                    <a:p>
                      <a:r>
                        <a:rPr sz="2025" b="1">
                          <a:solidFill>
                            <a:srgbClr val="FFFFFF"/>
                          </a:solidFill>
                          <a:latin typeface="Calibri"/>
                          <a:ea typeface="Calibri"/>
                          <a:cs typeface="Calibri"/>
                        </a:rPr>
                        <a:t>Partition</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A</a:t>
                      </a:r>
                    </a:p>
                  </a:txBody>
                  <a:tcPr marL="91440" marR="91440" marT="45720" marB="45720">
                    <a:solidFill>
                      <a:srgbClr val="EEF3F6"/>
                    </a:solidFill>
                  </a:tcPr>
                </a:tc>
                <a:tc>
                  <a:txBody>
                    <a:bodyPr/>
                    <a:lstStyle/>
                    <a:p>
                      <a:r>
                        <a:rPr sz="2025" b="0">
                          <a:solidFill>
                            <a:srgbClr val="1C3144"/>
                          </a:solidFill>
                          <a:latin typeface="Calibri"/>
                          <a:ea typeface="Calibri"/>
                          <a:cs typeface="Calibri"/>
                        </a:rPr>
                        <a:t>Training</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c>
                  <a:txBody>
                    <a:bodyPr/>
                    <a:lstStyle/>
                    <a:p>
                      <a:r>
                        <a:rPr sz="2025" b="0">
                          <a:solidFill>
                            <a:srgbClr val="1C3144"/>
                          </a:solidFill>
                          <a:latin typeface="Calibri"/>
                          <a:ea typeface="Calibri"/>
                          <a:cs typeface="Calibri"/>
                        </a:rPr>
                        <a:t>A</a:t>
                      </a:r>
                    </a:p>
                  </a:txBody>
                  <a:tcPr marL="91440" marR="91440" marT="45720" marB="45720">
                    <a:solidFill>
                      <a:srgbClr val="FFFFFF"/>
                    </a:solidFill>
                  </a:tcPr>
                </a:tc>
                <a:tc>
                  <a:txBody>
                    <a:bodyPr/>
                    <a:lstStyle/>
                    <a:p>
                      <a:r>
                        <a:rPr sz="2025" b="0">
                          <a:solidFill>
                            <a:srgbClr val="1C3144"/>
                          </a:solidFill>
                          <a:latin typeface="Calibri"/>
                          <a:ea typeface="Calibri"/>
                          <a:cs typeface="Calibri"/>
                        </a:rPr>
                        <a:t>Training</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B</a:t>
                      </a:r>
                    </a:p>
                  </a:txBody>
                  <a:tcPr marL="91440" marR="91440" marT="45720" marB="45720">
                    <a:solidFill>
                      <a:srgbClr val="EEF3F6"/>
                    </a:solidFill>
                  </a:tcPr>
                </a:tc>
                <a:tc>
                  <a:txBody>
                    <a:bodyPr/>
                    <a:lstStyle/>
                    <a:p>
                      <a:r>
                        <a:rPr sz="2025" b="0">
                          <a:solidFill>
                            <a:srgbClr val="1C3144"/>
                          </a:solidFill>
                          <a:latin typeface="Calibri"/>
                          <a:ea typeface="Calibri"/>
                          <a:cs typeface="Calibri"/>
                        </a:rPr>
                        <a:t>Validation</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A5FC49C9-557E-4FFA-ACCF-4DC1639F6AB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This toy split explains group separation.</a:t>
            </a:r>
          </a:p>
        </p:txBody>
      </p:sp>
      <p:sp>
        <p:nvSpPr>
          <p:cNvPr id="6" name="">
            <a:extLst xmlns:a="http://schemas.openxmlformats.org/drawingml/2006/main">
              <a:ext uri="{FF2B5EF4-FFF2-40B4-BE49-F238E27FC236}">
                <a16:creationId xmlns:a16="http://schemas.microsoft.com/office/drawing/2014/main" id="{42015E26-BFA2-4110-9819-7D61BD675E9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10</a:t>
            </a:r>
          </a:p>
        </p:txBody>
      </p:sp>
    </p:spTree>
    <p:extLst>
      <p:ext uri="{BB962C8B-B14F-4D97-AF65-F5344CB8AC3E}">
        <p14:creationId xmlns:p14="http://schemas.microsoft.com/office/powerpoint/2010/main" val="12702309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FA170D-9F9E-4203-9B29-BE06B7CD02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C94879-0235-4BB9-A483-6447D64A64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D37FB25-C23E-447B-A110-C597ED3411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Validation and leakage in Python (1/2)</a:t>
            </a:r>
          </a:p>
        </p:txBody>
      </p:sp>
      <p:sp>
        <p:nvSpPr>
          <p:cNvPr id="4" name="">
            <a:extLst xmlns:a="http://schemas.openxmlformats.org/drawingml/2006/main">
              <a:ext uri="{FF2B5EF4-FFF2-40B4-BE49-F238E27FC236}">
                <a16:creationId xmlns:a16="http://schemas.microsoft.com/office/drawing/2014/main" id="{AECAD5ED-E544-4DDC-B507-98EB39A5B0B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392A5C-8BE2-4710-A7F4-BD55FB68BF9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records = [{"id": 1, "equipment": "A"},</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           {"id": 2, "equipment": "A"},</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           {"id": 3, "equipment": "B"}]</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train = []</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validation = []</a:t>
            </a:r>
          </a:p>
        </p:txBody>
      </p:sp>
      <p:sp>
        <p:nvSpPr>
          <p:cNvPr id="6" name="">
            <a:extLst xmlns:a="http://schemas.openxmlformats.org/drawingml/2006/main">
              <a:ext uri="{FF2B5EF4-FFF2-40B4-BE49-F238E27FC236}">
                <a16:creationId xmlns:a16="http://schemas.microsoft.com/office/drawing/2014/main" id="{4D33AC3C-7C87-45D8-A8C3-535D4B404DD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E613BBA-E963-4D7A-B07D-CD913EB145D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8" name="">
            <a:extLst xmlns:a="http://schemas.openxmlformats.org/drawingml/2006/main">
              <a:ext uri="{FF2B5EF4-FFF2-40B4-BE49-F238E27FC236}">
                <a16:creationId xmlns:a16="http://schemas.microsoft.com/office/drawing/2014/main" id="{A53227AF-A8BF-420C-A905-345A57880BE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Braces hold dictionary key: value pairs here.</a:t>
            </a:r>
          </a:p>
        </p:txBody>
      </p:sp>
      <p:sp>
        <p:nvSpPr>
          <p:cNvPr id="9" name="">
            <a:extLst xmlns:a="http://schemas.openxmlformats.org/drawingml/2006/main">
              <a:ext uri="{FF2B5EF4-FFF2-40B4-BE49-F238E27FC236}">
                <a16:creationId xmlns:a16="http://schemas.microsoft.com/office/drawing/2014/main" id="{7223A538-019E-43BC-A11E-452F8B83F923}"/>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54F44D46-1125-4642-B24A-3A7F4C57A32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6599D112-2308-4105-8648-1DB987D2D0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11</a:t>
            </a:r>
          </a:p>
        </p:txBody>
      </p:sp>
    </p:spTree>
    <p:extLst>
      <p:ext uri="{BB962C8B-B14F-4D97-AF65-F5344CB8AC3E}">
        <p14:creationId xmlns:p14="http://schemas.microsoft.com/office/powerpoint/2010/main" val="14455342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CE6E48-56BA-4D74-9187-2BBD458950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8B4589-1123-43B8-909F-45BE864903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614435C-80ED-46CA-A21C-3BAC556F6CB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Validation and leakage in Python (2/2)</a:t>
            </a:r>
          </a:p>
        </p:txBody>
      </p:sp>
      <p:sp>
        <p:nvSpPr>
          <p:cNvPr id="4" name="">
            <a:extLst xmlns:a="http://schemas.openxmlformats.org/drawingml/2006/main">
              <a:ext uri="{FF2B5EF4-FFF2-40B4-BE49-F238E27FC236}">
                <a16:creationId xmlns:a16="http://schemas.microsoft.com/office/drawing/2014/main" id="{1F1BCE5B-1210-412E-A84A-536D156A6EE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0EAF17-C202-4A35-AC15-40D13D3ED1E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row["equipment"] == "A":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train.append(row["id"])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validation.append(row["id"])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print(train, validation)</a:t>
            </a:r>
          </a:p>
        </p:txBody>
      </p:sp>
      <p:sp>
        <p:nvSpPr>
          <p:cNvPr id="6" name="">
            <a:extLst xmlns:a="http://schemas.openxmlformats.org/drawingml/2006/main">
              <a:ext uri="{FF2B5EF4-FFF2-40B4-BE49-F238E27FC236}">
                <a16:creationId xmlns:a16="http://schemas.microsoft.com/office/drawing/2014/main" id="{81D98219-B620-4A83-B5BA-681E4140320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0B093F2-A086-4A06-8111-6CEAF023E34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7C5B870A-DC71-42B6-B861-A84E3A3408E6}"/>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FC3776C3-BD3E-4EBA-BFDD-5E15B82C8531}"/>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4FABEE5C-140F-4C0A-A18E-46E961A5773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11" name="">
            <a:extLst xmlns:a="http://schemas.openxmlformats.org/drawingml/2006/main">
              <a:ext uri="{FF2B5EF4-FFF2-40B4-BE49-F238E27FC236}">
                <a16:creationId xmlns:a16="http://schemas.microsoft.com/office/drawing/2014/main" id="{3C6F27B2-16F1-4BEB-9531-7B58277EED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12</a:t>
            </a:r>
          </a:p>
        </p:txBody>
      </p:sp>
    </p:spTree>
    <p:extLst>
      <p:ext uri="{BB962C8B-B14F-4D97-AF65-F5344CB8AC3E}">
        <p14:creationId xmlns:p14="http://schemas.microsoft.com/office/powerpoint/2010/main" val="16909985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5C37AD-7435-4918-BA05-E007A79DE7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92B05E-4DE8-4D5B-A72F-61A4D1402B4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1B90D05B-C2B0-4456-9BF8-773BBEAB1F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Validation and leakage results</a:t>
            </a:r>
          </a:p>
        </p:txBody>
      </p:sp>
      <p:sp>
        <p:nvSpPr>
          <p:cNvPr id="4" name="">
            <a:extLst xmlns:a="http://schemas.openxmlformats.org/drawingml/2006/main">
              <a:ext uri="{FF2B5EF4-FFF2-40B4-BE49-F238E27FC236}">
                <a16:creationId xmlns:a16="http://schemas.microsoft.com/office/drawing/2014/main" id="{DF0AB9DF-7D7E-4BAC-8D6B-83DCF7A63326}"/>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0F84AFF-7145-4AA8-BC70-AFE5B71C9FD5}"/>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[1, 2] [3]</a:t>
            </a:r>
          </a:p>
        </p:txBody>
      </p:sp>
      <p:sp>
        <p:nvSpPr>
          <p:cNvPr id="6" name="">
            <a:extLst xmlns:a="http://schemas.openxmlformats.org/drawingml/2006/main">
              <a:ext uri="{FF2B5EF4-FFF2-40B4-BE49-F238E27FC236}">
                <a16:creationId xmlns:a16="http://schemas.microsoft.com/office/drawing/2014/main" id="{8AD8385D-6AC2-4554-BD5C-414E872C7061}"/>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4B79D490-67ED-458B-A0FA-6238E7CF30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13</a:t>
            </a:r>
          </a:p>
        </p:txBody>
      </p:sp>
    </p:spTree>
    <p:extLst>
      <p:ext uri="{BB962C8B-B14F-4D97-AF65-F5344CB8AC3E}">
        <p14:creationId xmlns:p14="http://schemas.microsoft.com/office/powerpoint/2010/main" val="19019232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8BFDE6-BF3B-4741-BE6B-2AA3F1A202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EA3199-8EAA-48B2-8B48-B74FBF6B4BE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6D6FBAC-7E54-474C-937B-BAA22599AF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Preprocessing and pipeline</a:t>
            </a:r>
          </a:p>
        </p:txBody>
      </p:sp>
      <p:sp>
        <p:nvSpPr>
          <p:cNvPr id="4" name="">
            <a:extLst xmlns:a="http://schemas.openxmlformats.org/drawingml/2006/main">
              <a:ext uri="{FF2B5EF4-FFF2-40B4-BE49-F238E27FC236}">
                <a16:creationId xmlns:a16="http://schemas.microsoft.com/office/drawing/2014/main" id="{9C52DAE3-C08E-43EC-A601-F0B09E17944F}"/>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F5331D-A715-45E9-B114-882ABA1A2AFF}"/>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Preprocessing and pipeline</a:t>
            </a:r>
          </a:p>
        </p:txBody>
      </p:sp>
      <p:sp>
        <p:nvSpPr>
          <p:cNvPr id="6" name="">
            <a:extLst xmlns:a="http://schemas.openxmlformats.org/drawingml/2006/main">
              <a:ext uri="{FF2B5EF4-FFF2-40B4-BE49-F238E27FC236}">
                <a16:creationId xmlns:a16="http://schemas.microsoft.com/office/drawing/2014/main" id="{B4B6E13A-2A9E-48AC-B2F2-A597BE53C084}"/>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Preprocessing changes inputs, for example filling missing values. A pipeline fits these steps on training data and applies the same fitted changes to new inputs.</a:t>
            </a:r>
          </a:p>
        </p:txBody>
      </p:sp>
      <p:sp>
        <p:nvSpPr>
          <p:cNvPr id="7" name="">
            <a:extLst xmlns:a="http://schemas.openxmlformats.org/drawingml/2006/main">
              <a:ext uri="{FF2B5EF4-FFF2-40B4-BE49-F238E27FC236}">
                <a16:creationId xmlns:a16="http://schemas.microsoft.com/office/drawing/2014/main" id="{07F31AE8-69A0-462B-B19E-7D3FB20C09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14</a:t>
            </a:r>
          </a:p>
        </p:txBody>
      </p:sp>
    </p:spTree>
    <p:extLst>
      <p:ext uri="{BB962C8B-B14F-4D97-AF65-F5344CB8AC3E}">
        <p14:creationId xmlns:p14="http://schemas.microsoft.com/office/powerpoint/2010/main" val="11453024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4E184A-EBB5-46E3-B1F0-44437414F5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C2F58E-2265-4D18-B2C0-4913259D9B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3EAF0E2-FF34-4070-AE61-D7B95B5CBF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learned cleaning value comes from training</a:t>
            </a:r>
          </a:p>
        </p:txBody>
      </p:sp>
      <p:sp>
        <p:nvSpPr>
          <p:cNvPr id="4" name="">
            <a:extLst xmlns:a="http://schemas.openxmlformats.org/drawingml/2006/main">
              <a:ext uri="{FF2B5EF4-FFF2-40B4-BE49-F238E27FC236}">
                <a16:creationId xmlns:a16="http://schemas.microsoft.com/office/drawing/2014/main" id="{3BFD6FB5-1BC1-4090-B039-E0656988C6A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F584383-8DFB-47A6-8F8A-6D9E7037CE6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training readings are 20, 22 and 24. Their median is 22.</a:t>
            </a:r>
          </a:p>
        </p:txBody>
      </p:sp>
      <p:sp>
        <p:nvSpPr>
          <p:cNvPr id="6" name="">
            <a:extLst xmlns:a="http://schemas.openxmlformats.org/drawingml/2006/main">
              <a:ext uri="{FF2B5EF4-FFF2-40B4-BE49-F238E27FC236}">
                <a16:creationId xmlns:a16="http://schemas.microsoft.com/office/drawing/2014/main" id="{A00EE7EF-4C64-4CA1-A018-C074B5A01E3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BDC9E3D-6EC3-41CE-8343-F3BE3B29649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missing validation value receives the already learned 22.</a:t>
            </a:r>
          </a:p>
        </p:txBody>
      </p:sp>
      <p:sp>
        <p:nvSpPr>
          <p:cNvPr id="8" name="">
            <a:extLst xmlns:a="http://schemas.openxmlformats.org/drawingml/2006/main">
              <a:ext uri="{FF2B5EF4-FFF2-40B4-BE49-F238E27FC236}">
                <a16:creationId xmlns:a16="http://schemas.microsoft.com/office/drawing/2014/main" id="{1EA4804F-FF33-4F21-B44F-1E5AB3A73E1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DBA03D4-E05A-4F3F-8E91-9078DECFEFE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new validation reading of 40 must not change the fitted median.</a:t>
            </a:r>
          </a:p>
        </p:txBody>
      </p:sp>
      <p:sp>
        <p:nvSpPr>
          <p:cNvPr id="10" name="">
            <a:extLst xmlns:a="http://schemas.openxmlformats.org/drawingml/2006/main">
              <a:ext uri="{FF2B5EF4-FFF2-40B4-BE49-F238E27FC236}">
                <a16:creationId xmlns:a16="http://schemas.microsoft.com/office/drawing/2014/main" id="{37AC74B4-00C6-4FCF-9309-522F44C93A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15</a:t>
            </a:r>
          </a:p>
        </p:txBody>
      </p:sp>
    </p:spTree>
    <p:extLst>
      <p:ext uri="{BB962C8B-B14F-4D97-AF65-F5344CB8AC3E}">
        <p14:creationId xmlns:p14="http://schemas.microsoft.com/office/powerpoint/2010/main" val="13218068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574E8A-A572-4731-ABF7-34E96E9717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F81A24-1D4D-40C7-961D-A1ECA22A13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3D3F6E0-EA0D-4705-BC0E-70C0A57672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training-only fill value in Python (1/2)</a:t>
            </a:r>
          </a:p>
        </p:txBody>
      </p:sp>
      <p:sp>
        <p:nvSpPr>
          <p:cNvPr id="4" name="">
            <a:extLst xmlns:a="http://schemas.openxmlformats.org/drawingml/2006/main">
              <a:ext uri="{FF2B5EF4-FFF2-40B4-BE49-F238E27FC236}">
                <a16:creationId xmlns:a16="http://schemas.microsoft.com/office/drawing/2014/main" id="{0D14605B-D765-4D62-9BBF-C810B61C619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760F14-43C2-404B-8D3A-0D6CB54C8BD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39" b="0">
                <a:solidFill>
                  <a:srgbClr val="F4F7FA"/>
                </a:solidFill>
                <a:latin typeface="Courier New"/>
                <a:ea typeface="Courier New"/>
                <a:cs typeface="Courier New"/>
              </a:defRPr>
            </a:pPr>
            <a:r>
              <a:rPr sz="2039" b="0">
                <a:solidFill>
                  <a:srgbClr val="FFB080"/>
                </a:solidFill>
                <a:latin typeface="Courier New"/>
                <a:ea typeface="Courier New"/>
                <a:cs typeface="Courier New"/>
              </a:rPr>
              <a:t>from</a:t>
            </a:r>
            <a:r>
              <a:rPr sz="2039" b="0">
                <a:solidFill>
                  <a:srgbClr val="F4F7FA"/>
                </a:solidFill>
                <a:latin typeface="Courier New"/>
                <a:ea typeface="Courier New"/>
                <a:cs typeface="Courier New"/>
              </a:rPr>
              <a:t> statistics </a:t>
            </a:r>
            <a:r>
              <a:rPr sz="2039" b="0">
                <a:solidFill>
                  <a:srgbClr val="FFB080"/>
                </a:solidFill>
                <a:latin typeface="Courier New"/>
                <a:ea typeface="Courier New"/>
                <a:cs typeface="Courier New"/>
              </a:rPr>
              <a:t>import</a:t>
            </a:r>
            <a:r>
              <a:rPr sz="2039" b="0">
                <a:solidFill>
                  <a:srgbClr val="F4F7FA"/>
                </a:solidFill>
                <a:latin typeface="Courier New"/>
                <a:ea typeface="Courier New"/>
                <a:cs typeface="Courier New"/>
              </a:rPr>
              <a:t> median</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training_values = [20, 22, 24]</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validation_values = [</a:t>
            </a:r>
            <a:r>
              <a:rPr sz="2039" b="0">
                <a:solidFill>
                  <a:srgbClr val="FFB080"/>
                </a:solidFill>
                <a:latin typeface="Courier New"/>
                <a:ea typeface="Courier New"/>
                <a:cs typeface="Courier New"/>
              </a:rPr>
              <a:t>None</a:t>
            </a:r>
            <a:r>
              <a:rPr sz="2039" b="0">
                <a:solidFill>
                  <a:srgbClr val="F4F7FA"/>
                </a:solidFill>
                <a:latin typeface="Courier New"/>
                <a:ea typeface="Courier New"/>
                <a:cs typeface="Courier New"/>
              </a:rPr>
              <a:t>, 40]</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training_median = median(training_values)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filled_validation = []</a:t>
            </a:r>
          </a:p>
        </p:txBody>
      </p:sp>
      <p:sp>
        <p:nvSpPr>
          <p:cNvPr id="6" name="">
            <a:extLst xmlns:a="http://schemas.openxmlformats.org/drawingml/2006/main">
              <a:ext uri="{FF2B5EF4-FFF2-40B4-BE49-F238E27FC236}">
                <a16:creationId xmlns:a16="http://schemas.microsoft.com/office/drawing/2014/main" id="{33A1423F-C004-403E-A1C7-E3C29A09934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B9E2ABF-F1FE-4134-A3BF-0C398017F7E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import loads a library. from selects a tool from it.</a:t>
            </a:r>
          </a:p>
        </p:txBody>
      </p:sp>
      <p:sp>
        <p:nvSpPr>
          <p:cNvPr id="8" name="">
            <a:extLst xmlns:a="http://schemas.openxmlformats.org/drawingml/2006/main">
              <a:ext uri="{FF2B5EF4-FFF2-40B4-BE49-F238E27FC236}">
                <a16:creationId xmlns:a16="http://schemas.microsoft.com/office/drawing/2014/main" id="{70DE5C8D-7779-4C50-924A-3420F1ED943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6F2E3A76-7853-4251-BF60-59802E234926}"/>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DED1CC16-F40A-4EEE-A7C7-D2BEDA5CF7E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A9C0974A-CFD2-4A5D-BBA5-535D18E94E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16</a:t>
            </a:r>
          </a:p>
        </p:txBody>
      </p:sp>
    </p:spTree>
    <p:extLst>
      <p:ext uri="{BB962C8B-B14F-4D97-AF65-F5344CB8AC3E}">
        <p14:creationId xmlns:p14="http://schemas.microsoft.com/office/powerpoint/2010/main" val="12155073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F39E7F-0E3B-4678-96A6-94CA44CE31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367800-EB3B-4E4C-A9A3-5E0597DEA0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F4E2099-8023-4E78-8383-DE7D3EDDB0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training-only fill value in Python (2/2)</a:t>
            </a:r>
          </a:p>
        </p:txBody>
      </p:sp>
      <p:sp>
        <p:nvSpPr>
          <p:cNvPr id="4" name="">
            <a:extLst xmlns:a="http://schemas.openxmlformats.org/drawingml/2006/main">
              <a:ext uri="{FF2B5EF4-FFF2-40B4-BE49-F238E27FC236}">
                <a16:creationId xmlns:a16="http://schemas.microsoft.com/office/drawing/2014/main" id="{F918D9D9-77E3-48E9-8E6E-C9CA09986D8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2ABA28-664D-41C9-88A8-23BB08CA37C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value in validation_values: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value is </a:t>
            </a:r>
            <a:r>
              <a:rPr sz="2175" b="0">
                <a:solidFill>
                  <a:srgbClr val="FFB080"/>
                </a:solidFill>
                <a:latin typeface="Courier New"/>
                <a:ea typeface="Courier New"/>
                <a:cs typeface="Courier New"/>
              </a:rPr>
              <a:t>None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filled_validation.append(training_median)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filled_validation.append(value)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print(training_median, filled_validation)</a:t>
            </a:r>
          </a:p>
        </p:txBody>
      </p:sp>
      <p:sp>
        <p:nvSpPr>
          <p:cNvPr id="6" name="">
            <a:extLst xmlns:a="http://schemas.openxmlformats.org/drawingml/2006/main">
              <a:ext uri="{FF2B5EF4-FFF2-40B4-BE49-F238E27FC236}">
                <a16:creationId xmlns:a16="http://schemas.microsoft.com/office/drawing/2014/main" id="{40C983D0-D9D4-4BB3-8ADE-87E9768DDE4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FE8AD911-4BEC-4694-8A77-2A593902721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8" name="">
            <a:extLst xmlns:a="http://schemas.openxmlformats.org/drawingml/2006/main">
              <a:ext uri="{FF2B5EF4-FFF2-40B4-BE49-F238E27FC236}">
                <a16:creationId xmlns:a16="http://schemas.microsoft.com/office/drawing/2014/main" id="{CEC4E78E-A477-4CD4-9B2F-BB9C9CA083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17</a:t>
            </a:r>
          </a:p>
        </p:txBody>
      </p:sp>
    </p:spTree>
    <p:extLst>
      <p:ext uri="{BB962C8B-B14F-4D97-AF65-F5344CB8AC3E}">
        <p14:creationId xmlns:p14="http://schemas.microsoft.com/office/powerpoint/2010/main" val="18366522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478706-1E62-438C-B6A5-44E127AF981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6E42C5-99E6-4BA9-85FF-795ADDCD38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D4DFB3A-19E2-4C9F-B954-3F69C065F3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Leakage gives away information from the future</a:t>
            </a:r>
          </a:p>
        </p:txBody>
      </p:sp>
      <p:sp>
        <p:nvSpPr>
          <p:cNvPr id="4" name="">
            <a:extLst xmlns:a="http://schemas.openxmlformats.org/drawingml/2006/main">
              <a:ext uri="{FF2B5EF4-FFF2-40B4-BE49-F238E27FC236}">
                <a16:creationId xmlns:a16="http://schemas.microsoft.com/office/drawing/2014/main" id="{C672723D-9AC7-4739-B8CD-1719BAAF3CA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CB82976-CD9A-491C-A583-D8F19584403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Suppose we predict a fault before an inspection.</a:t>
            </a:r>
          </a:p>
        </p:txBody>
      </p:sp>
      <p:sp>
        <p:nvSpPr>
          <p:cNvPr id="6" name="">
            <a:extLst xmlns:a="http://schemas.openxmlformats.org/drawingml/2006/main">
              <a:ext uri="{FF2B5EF4-FFF2-40B4-BE49-F238E27FC236}">
                <a16:creationId xmlns:a16="http://schemas.microsoft.com/office/drawing/2014/main" id="{09A0DDAC-ED27-46F6-A337-0C77AFF3933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598038F-8E12-4615-AFA8-0C19270690E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final_inspection_result exists only after the inspection.</a:t>
            </a:r>
          </a:p>
        </p:txBody>
      </p:sp>
      <p:sp>
        <p:nvSpPr>
          <p:cNvPr id="8" name="">
            <a:extLst xmlns:a="http://schemas.openxmlformats.org/drawingml/2006/main">
              <a:ext uri="{FF2B5EF4-FFF2-40B4-BE49-F238E27FC236}">
                <a16:creationId xmlns:a16="http://schemas.microsoft.com/office/drawing/2014/main" id="{CE9253C9-69AF-4009-8CD5-7ECFE46FE4D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A396FDC-F3E2-46C1-83E4-FF64186A47D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Using it as an input would answer a different, easier question than the one we intended.</a:t>
            </a:r>
          </a:p>
        </p:txBody>
      </p:sp>
      <p:sp>
        <p:nvSpPr>
          <p:cNvPr id="10" name="">
            <a:extLst xmlns:a="http://schemas.openxmlformats.org/drawingml/2006/main">
              <a:ext uri="{FF2B5EF4-FFF2-40B4-BE49-F238E27FC236}">
                <a16:creationId xmlns:a16="http://schemas.microsoft.com/office/drawing/2014/main" id="{2E819D09-F8A9-40EB-B6B4-0F3CE61E95D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18</a:t>
            </a:r>
          </a:p>
        </p:txBody>
      </p:sp>
    </p:spTree>
    <p:extLst>
      <p:ext uri="{BB962C8B-B14F-4D97-AF65-F5344CB8AC3E}">
        <p14:creationId xmlns:p14="http://schemas.microsoft.com/office/powerpoint/2010/main" val="5216264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C9D2D9-9EDA-461E-8094-B33FE450982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4031D3-10B4-4732-A8AB-8667F8E363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27602FF-53FC-4ADD-A837-F4757345F8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Parameters hyperparameters and a fold</a:t>
            </a:r>
          </a:p>
        </p:txBody>
      </p:sp>
      <p:sp>
        <p:nvSpPr>
          <p:cNvPr id="4" name="">
            <a:extLst xmlns:a="http://schemas.openxmlformats.org/drawingml/2006/main">
              <a:ext uri="{FF2B5EF4-FFF2-40B4-BE49-F238E27FC236}">
                <a16:creationId xmlns:a16="http://schemas.microsoft.com/office/drawing/2014/main" id="{46A50512-7433-4010-8471-F1810E5AF55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C40D53D-3F98-4F2D-9A5E-870A1166E3F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parameter is learned during fitting, such as a line’s slope. A hyperparameter is a setting chosen around fitting, such as a tree’s max_depth.</a:t>
            </a:r>
          </a:p>
        </p:txBody>
      </p:sp>
      <p:sp>
        <p:nvSpPr>
          <p:cNvPr id="6" name="">
            <a:extLst xmlns:a="http://schemas.openxmlformats.org/drawingml/2006/main">
              <a:ext uri="{FF2B5EF4-FFF2-40B4-BE49-F238E27FC236}">
                <a16:creationId xmlns:a16="http://schemas.microsoft.com/office/drawing/2014/main" id="{892D44F3-0ED9-4413-9875-69102566690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D76EE81-0505-4D6B-BE72-516F8F2DE10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fold is one part of the development data used for a validation turn. Refit the entire preprocessing and model on the other parts for that turn.</a:t>
            </a:r>
          </a:p>
        </p:txBody>
      </p:sp>
      <p:sp>
        <p:nvSpPr>
          <p:cNvPr id="8" name="">
            <a:extLst xmlns:a="http://schemas.openxmlformats.org/drawingml/2006/main">
              <a:ext uri="{FF2B5EF4-FFF2-40B4-BE49-F238E27FC236}">
                <a16:creationId xmlns:a16="http://schemas.microsoft.com/office/drawing/2014/main" id="{10167A3B-7431-4179-8455-E384F130F05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F67DC98-5B1B-403F-BF69-95D4361ABF1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candidate settings using validation evidence. Keep the final test outside that selection process.</a:t>
            </a:r>
          </a:p>
        </p:txBody>
      </p:sp>
      <p:sp>
        <p:nvSpPr>
          <p:cNvPr id="10" name="">
            <a:extLst xmlns:a="http://schemas.openxmlformats.org/drawingml/2006/main">
              <a:ext uri="{FF2B5EF4-FFF2-40B4-BE49-F238E27FC236}">
                <a16:creationId xmlns:a16="http://schemas.microsoft.com/office/drawing/2014/main" id="{A2DE8003-AE44-4543-8977-DD00123BE0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19</a:t>
            </a:r>
          </a:p>
        </p:txBody>
      </p:sp>
    </p:spTree>
    <p:extLst>
      <p:ext uri="{BB962C8B-B14F-4D97-AF65-F5344CB8AC3E}">
        <p14:creationId xmlns:p14="http://schemas.microsoft.com/office/powerpoint/2010/main" val="13090809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92A76D-66AB-49A7-B825-C654B91E57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EEC66F-5419-4A9A-9E0A-AB103EB292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CE50270-F65E-4B7E-B760-51E4EEFE6B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Cross-validation</a:t>
            </a:r>
          </a:p>
        </p:txBody>
      </p:sp>
      <p:sp>
        <p:nvSpPr>
          <p:cNvPr id="4" name="">
            <a:extLst xmlns:a="http://schemas.openxmlformats.org/drawingml/2006/main">
              <a:ext uri="{FF2B5EF4-FFF2-40B4-BE49-F238E27FC236}">
                <a16:creationId xmlns:a16="http://schemas.microsoft.com/office/drawing/2014/main" id="{2BBCA818-CA06-4567-A3F4-3B13C38DB5EB}"/>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E16A39-17D3-42AD-AD8D-35E7862598CF}"/>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Cross-validation</a:t>
            </a:r>
          </a:p>
        </p:txBody>
      </p:sp>
      <p:sp>
        <p:nvSpPr>
          <p:cNvPr id="6" name="">
            <a:extLst xmlns:a="http://schemas.openxmlformats.org/drawingml/2006/main">
              <a:ext uri="{FF2B5EF4-FFF2-40B4-BE49-F238E27FC236}">
                <a16:creationId xmlns:a16="http://schemas.microsoft.com/office/drawing/2014/main" id="{472A237D-D69A-4A77-A5E3-86BA7F24630E}"/>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Repeat fitting and validation on several partitions of the training/development data. Respect groups or time order. Keep the final test outside tuning.</a:t>
            </a:r>
          </a:p>
        </p:txBody>
      </p:sp>
      <p:sp>
        <p:nvSpPr>
          <p:cNvPr id="7" name="">
            <a:extLst xmlns:a="http://schemas.openxmlformats.org/drawingml/2006/main">
              <a:ext uri="{FF2B5EF4-FFF2-40B4-BE49-F238E27FC236}">
                <a16:creationId xmlns:a16="http://schemas.microsoft.com/office/drawing/2014/main" id="{7110C445-D493-4B92-966F-8E859A7394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20</a:t>
            </a:r>
          </a:p>
        </p:txBody>
      </p:sp>
    </p:spTree>
    <p:extLst>
      <p:ext uri="{BB962C8B-B14F-4D97-AF65-F5344CB8AC3E}">
        <p14:creationId xmlns:p14="http://schemas.microsoft.com/office/powerpoint/2010/main" val="3125866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B0BD92-0A04-49DB-8722-FE8942E32F8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F8A023-AA72-4D99-88FF-25B6E5E093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40B654E-BFED-42CA-8F91-33C4718BD2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standard deviation tells us</a:t>
            </a:r>
          </a:p>
        </p:txBody>
      </p:sp>
      <p:sp>
        <p:nvSpPr>
          <p:cNvPr id="4" name="">
            <a:extLst xmlns:a="http://schemas.openxmlformats.org/drawingml/2006/main">
              <a:ext uri="{FF2B5EF4-FFF2-40B4-BE49-F238E27FC236}">
                <a16:creationId xmlns:a16="http://schemas.microsoft.com/office/drawing/2014/main" id="{A321E014-0878-482A-B391-A918EEB8857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DF1AC33-0145-476A-9FC1-32D256F542C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Scores 3, 4 and 5 have mean 4. Their deviations are -1, 0 and 1.</a:t>
            </a:r>
          </a:p>
        </p:txBody>
      </p:sp>
      <p:sp>
        <p:nvSpPr>
          <p:cNvPr id="6" name="">
            <a:extLst xmlns:a="http://schemas.openxmlformats.org/drawingml/2006/main">
              <a:ext uri="{FF2B5EF4-FFF2-40B4-BE49-F238E27FC236}">
                <a16:creationId xmlns:a16="http://schemas.microsoft.com/office/drawing/2014/main" id="{4CA93705-C00A-44E0-A41E-9395F9216EE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B69BAC6-E81D-4BCB-A9AF-D48A614239B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these three fold scores, population SD = sqrt((1 + 0 + 1) / 3), about 0.82.</a:t>
            </a:r>
          </a:p>
        </p:txBody>
      </p:sp>
      <p:sp>
        <p:nvSpPr>
          <p:cNvPr id="8" name="">
            <a:extLst xmlns:a="http://schemas.openxmlformats.org/drawingml/2006/main">
              <a:ext uri="{FF2B5EF4-FFF2-40B4-BE49-F238E27FC236}">
                <a16:creationId xmlns:a16="http://schemas.microsoft.com/office/drawing/2014/main" id="{3DC01B8F-6BCC-4B06-8EF2-975FB2D8E98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8A4CC6C-A653-46DE-89C6-95288AEFE97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SD describes spread around the mean in the score’s units. The next illustration uses this same population convention; it is not a confidence interval.</a:t>
            </a:r>
          </a:p>
        </p:txBody>
      </p:sp>
      <p:sp>
        <p:nvSpPr>
          <p:cNvPr id="10" name="">
            <a:extLst xmlns:a="http://schemas.openxmlformats.org/drawingml/2006/main">
              <a:ext uri="{FF2B5EF4-FFF2-40B4-BE49-F238E27FC236}">
                <a16:creationId xmlns:a16="http://schemas.microsoft.com/office/drawing/2014/main" id="{664CF15C-F312-454B-85D8-EA8406180A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21</a:t>
            </a:r>
          </a:p>
        </p:txBody>
      </p:sp>
    </p:spTree>
    <p:extLst>
      <p:ext uri="{BB962C8B-B14F-4D97-AF65-F5344CB8AC3E}">
        <p14:creationId xmlns:p14="http://schemas.microsoft.com/office/powerpoint/2010/main" val="20153815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6A9FBA-8BAB-4ECE-AE4F-F5E51D72B3D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2499EF-12CB-4018-9EEA-74A6B8C1A0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B42CFC3F-77A5-4559-A519-1B155108609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three validation turns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Turn</a:t>
                      </a:r>
                    </a:p>
                  </a:txBody>
                  <a:tcPr marL="91440" marR="91440" marT="45720" marB="45720">
                    <a:solidFill>
                      <a:srgbClr val="2E7D6F"/>
                    </a:solidFill>
                  </a:tcPr>
                </a:tc>
                <a:tc>
                  <a:txBody>
                    <a:bodyPr/>
                    <a:lstStyle/>
                    <a:p>
                      <a:r>
                        <a:rPr sz="2025" b="1">
                          <a:solidFill>
                            <a:srgbClr val="FFFFFF"/>
                          </a:solidFill>
                          <a:latin typeface="Calibri"/>
                          <a:ea typeface="Calibri"/>
                          <a:cs typeface="Calibri"/>
                        </a:rPr>
                        <a:t>Fit using</a:t>
                      </a:r>
                    </a:p>
                  </a:txBody>
                  <a:tcPr marL="91440" marR="91440" marT="45720" marB="45720">
                    <a:solidFill>
                      <a:srgbClr val="2E7D6F"/>
                    </a:solidFill>
                  </a:tcPr>
                </a:tc>
                <a:tc>
                  <a:txBody>
                    <a:bodyPr/>
                    <a:lstStyle/>
                    <a:p>
                      <a:r>
                        <a:rPr sz="2025" b="1">
                          <a:solidFill>
                            <a:srgbClr val="FFFFFF"/>
                          </a:solidFill>
                          <a:latin typeface="Calibri"/>
                          <a:ea typeface="Calibri"/>
                          <a:cs typeface="Calibri"/>
                        </a:rPr>
                        <a:t>Validate using</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Parts B and C</a:t>
                      </a:r>
                    </a:p>
                  </a:txBody>
                  <a:tcPr marL="91440" marR="91440" marT="45720" marB="45720">
                    <a:solidFill>
                      <a:srgbClr val="EEF3F6"/>
                    </a:solidFill>
                  </a:tcPr>
                </a:tc>
                <a:tc>
                  <a:txBody>
                    <a:bodyPr/>
                    <a:lstStyle/>
                    <a:p>
                      <a:r>
                        <a:rPr sz="2025" b="0">
                          <a:solidFill>
                            <a:srgbClr val="1C3144"/>
                          </a:solidFill>
                          <a:latin typeface="Calibri"/>
                          <a:ea typeface="Calibri"/>
                          <a:cs typeface="Calibri"/>
                        </a:rPr>
                        <a:t>Part A</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c>
                  <a:txBody>
                    <a:bodyPr/>
                    <a:lstStyle/>
                    <a:p>
                      <a:r>
                        <a:rPr sz="2025" b="0">
                          <a:solidFill>
                            <a:srgbClr val="1C3144"/>
                          </a:solidFill>
                          <a:latin typeface="Calibri"/>
                          <a:ea typeface="Calibri"/>
                          <a:cs typeface="Calibri"/>
                        </a:rPr>
                        <a:t>Parts A and C</a:t>
                      </a:r>
                    </a:p>
                  </a:txBody>
                  <a:tcPr marL="91440" marR="91440" marT="45720" marB="45720">
                    <a:solidFill>
                      <a:srgbClr val="FFFFFF"/>
                    </a:solidFill>
                  </a:tcPr>
                </a:tc>
                <a:tc>
                  <a:txBody>
                    <a:bodyPr/>
                    <a:lstStyle/>
                    <a:p>
                      <a:r>
                        <a:rPr sz="2025" b="0">
                          <a:solidFill>
                            <a:srgbClr val="1C3144"/>
                          </a:solidFill>
                          <a:latin typeface="Calibri"/>
                          <a:ea typeface="Calibri"/>
                          <a:cs typeface="Calibri"/>
                        </a:rPr>
                        <a:t>Part B</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Parts A and B</a:t>
                      </a:r>
                    </a:p>
                  </a:txBody>
                  <a:tcPr marL="91440" marR="91440" marT="45720" marB="45720">
                    <a:solidFill>
                      <a:srgbClr val="EEF3F6"/>
                    </a:solidFill>
                  </a:tcPr>
                </a:tc>
                <a:tc>
                  <a:txBody>
                    <a:bodyPr/>
                    <a:lstStyle/>
                    <a:p>
                      <a:r>
                        <a:rPr sz="2025" b="0">
                          <a:solidFill>
                            <a:srgbClr val="1C3144"/>
                          </a:solidFill>
                          <a:latin typeface="Calibri"/>
                          <a:ea typeface="Calibri"/>
                          <a:cs typeface="Calibri"/>
                        </a:rPr>
                        <a:t>Part C</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4BA1A902-7E2D-4016-9170-E088C7FDE61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Refit preprocessing in every turn. The separate final test is not A, B or C.</a:t>
            </a:r>
          </a:p>
        </p:txBody>
      </p:sp>
      <p:sp>
        <p:nvSpPr>
          <p:cNvPr id="6" name="">
            <a:extLst xmlns:a="http://schemas.openxmlformats.org/drawingml/2006/main">
              <a:ext uri="{FF2B5EF4-FFF2-40B4-BE49-F238E27FC236}">
                <a16:creationId xmlns:a16="http://schemas.microsoft.com/office/drawing/2014/main" id="{DAD4CA9D-247C-420D-BF78-3BD7840B66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22</a:t>
            </a:r>
          </a:p>
        </p:txBody>
      </p:sp>
    </p:spTree>
    <p:extLst>
      <p:ext uri="{BB962C8B-B14F-4D97-AF65-F5344CB8AC3E}">
        <p14:creationId xmlns:p14="http://schemas.microsoft.com/office/powerpoint/2010/main" val="132399418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D854BD-AE73-4C6D-8702-8A6A3A2539DC}"/>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5FC44E-9A0C-4F22-AFDA-16A4F9BD27F6}"/>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Each fold takes a turn at validation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2ac2d6821af4f87"/>
          <a:stretch xmlns:a="http://schemas.openxmlformats.org/drawingml/2006/main"/>
        </p:blipFill>
        <p:spPr>
          <a:xfrm xmlns:a="http://schemas.openxmlformats.org/drawingml/2006/main">
            <a:off x="984088" y="1057275"/>
            <a:ext cx="10223825"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6D4C37-4749-4FA3-BEF4-3659E59A68BD}"/>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77D70C-FF7C-43C3-924F-E613E1034FCE}"/>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Illustrated spread: population SD 0.39 MPa, not a confidence interval.</a:t>
            </a:r>
          </a:p>
        </p:txBody>
      </p:sp>
      <p:sp>
        <p:nvSpPr>
          <p:cNvPr id="6" name="">
            <a:extLst xmlns:a="http://schemas.openxmlformats.org/drawingml/2006/main">
              <a:ext uri="{FF2B5EF4-FFF2-40B4-BE49-F238E27FC236}">
                <a16:creationId xmlns:a16="http://schemas.microsoft.com/office/drawing/2014/main" id="{62B477A5-D0BB-4BEF-B608-200DF1267A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23</a:t>
            </a:r>
          </a:p>
        </p:txBody>
      </p:sp>
    </p:spTree>
    <p:extLst>
      <p:ext uri="{BB962C8B-B14F-4D97-AF65-F5344CB8AC3E}">
        <p14:creationId xmlns:p14="http://schemas.microsoft.com/office/powerpoint/2010/main" val="88084301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CC6C48-85AF-4F45-897C-459BF06439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93556A-16FD-40C0-B2D1-DF2E290922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4B8726E-DD0A-4882-B798-DF98659DC8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a split that matches future use</a:t>
            </a:r>
          </a:p>
        </p:txBody>
      </p:sp>
      <p:sp>
        <p:nvSpPr>
          <p:cNvPr id="4" name="">
            <a:extLst xmlns:a="http://schemas.openxmlformats.org/drawingml/2006/main">
              <a:ext uri="{FF2B5EF4-FFF2-40B4-BE49-F238E27FC236}">
                <a16:creationId xmlns:a16="http://schemas.microsoft.com/office/drawing/2014/main" id="{12EB6092-1A8D-4824-B058-8167EA0F975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E24596-44F3-47DD-88C9-9D27951E4047}"/>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Equipment or time</a:t>
            </a:r>
          </a:p>
        </p:txBody>
      </p:sp>
      <p:sp>
        <p:nvSpPr>
          <p:cNvPr id="6" name="">
            <a:extLst xmlns:a="http://schemas.openxmlformats.org/drawingml/2006/main">
              <a:ext uri="{FF2B5EF4-FFF2-40B4-BE49-F238E27FC236}">
                <a16:creationId xmlns:a16="http://schemas.microsoft.com/office/drawing/2014/main" id="{26E4F925-AB84-4CC0-90AD-C34B2806040E}"/>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For unseen equipment, keep each equipment ID together. For future-time prediction, train on earlier observations and evaluate on later ones.</a:t>
            </a:r>
          </a:p>
        </p:txBody>
      </p:sp>
      <p:sp>
        <p:nvSpPr>
          <p:cNvPr id="7" name="">
            <a:extLst xmlns:a="http://schemas.openxmlformats.org/drawingml/2006/main">
              <a:ext uri="{FF2B5EF4-FFF2-40B4-BE49-F238E27FC236}">
                <a16:creationId xmlns:a16="http://schemas.microsoft.com/office/drawing/2014/main" id="{73D10B54-02E4-4DC7-92A9-367FCFB9DB8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A69A9C-FAA0-4F1E-A7AC-7410D2705FBD}"/>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Scaler and split tool</a:t>
            </a:r>
          </a:p>
        </p:txBody>
      </p:sp>
      <p:sp>
        <p:nvSpPr>
          <p:cNvPr id="9" name="">
            <a:extLst xmlns:a="http://schemas.openxmlformats.org/drawingml/2006/main">
              <a:ext uri="{FF2B5EF4-FFF2-40B4-BE49-F238E27FC236}">
                <a16:creationId xmlns:a16="http://schemas.microsoft.com/office/drawing/2014/main" id="{57E7434B-468D-4B16-A7B2-C27DD0C3A5A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scaler learns how to rescale features; fit it on training data. GroupShuffleSplit is a library tool for group separation. Our assignment instead uses its fixed published equipment lists.</a:t>
            </a:r>
          </a:p>
        </p:txBody>
      </p:sp>
      <p:sp>
        <p:nvSpPr>
          <p:cNvPr id="10" name="">
            <a:extLst xmlns:a="http://schemas.openxmlformats.org/drawingml/2006/main">
              <a:ext uri="{FF2B5EF4-FFF2-40B4-BE49-F238E27FC236}">
                <a16:creationId xmlns:a16="http://schemas.microsoft.com/office/drawing/2014/main" id="{857DE20E-3AB8-4EFE-BBC6-0AF1E809C92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24</a:t>
            </a:r>
          </a:p>
        </p:txBody>
      </p:sp>
    </p:spTree>
    <p:extLst>
      <p:ext uri="{BB962C8B-B14F-4D97-AF65-F5344CB8AC3E}">
        <p14:creationId xmlns:p14="http://schemas.microsoft.com/office/powerpoint/2010/main" val="18858825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CD9DEB-58F4-4731-80BD-008699DA8D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51462A-2572-4D0C-B8FE-26857AFEEC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48DD893-E915-4402-AF7E-419BCDED59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DC548349-3DEA-4A59-83C9-5CA8F345B4B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F31A98-2B49-477D-98C8-D42EB4F753C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747499-8E38-4245-BCAA-E21DA6EC37D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A second observation from B arrives. Where does it go? Why not put it into training just to balance row counts?</a:t>
            </a:r>
          </a:p>
        </p:txBody>
      </p:sp>
      <p:sp>
        <p:nvSpPr>
          <p:cNvPr id="7" name="">
            <a:extLst xmlns:a="http://schemas.openxmlformats.org/drawingml/2006/main">
              <a:ext uri="{FF2B5EF4-FFF2-40B4-BE49-F238E27FC236}">
                <a16:creationId xmlns:a16="http://schemas.microsoft.com/office/drawing/2014/main" id="{92A547E9-2104-4D0D-BBC7-4ADE92101B4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It stays with B in validation. Mixing a source across partitions can give an overly optimistic estimate for unseen equipment.</a:t>
            </a:r>
          </a:p>
        </p:txBody>
      </p:sp>
      <p:sp>
        <p:nvSpPr>
          <p:cNvPr id="8" name="">
            <a:extLst xmlns:a="http://schemas.openxmlformats.org/drawingml/2006/main">
              <a:ext uri="{FF2B5EF4-FFF2-40B4-BE49-F238E27FC236}">
                <a16:creationId xmlns:a16="http://schemas.microsoft.com/office/drawing/2014/main" id="{03E72D47-3BC1-40CF-AF11-6ADB314410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25</a:t>
            </a:r>
          </a:p>
        </p:txBody>
      </p:sp>
    </p:spTree>
    <p:extLst>
      <p:ext uri="{BB962C8B-B14F-4D97-AF65-F5344CB8AC3E}">
        <p14:creationId xmlns:p14="http://schemas.microsoft.com/office/powerpoint/2010/main" val="3183130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28EFAC-70B9-4C22-8056-A9E974316F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2C7891-B6C9-4093-88F3-CFC04E6B45A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AE5E79E-9C7B-40E0-877D-99D5CA1E68D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46C5746B-0614-4AE5-B4A0-0949216309B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1DA2DC0-CDDD-4D8B-A8D5-E6DB861AB72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W10 specifies E1–E4 train, E5 validation, E6 test and preserves input order.</a:t>
            </a:r>
          </a:p>
        </p:txBody>
      </p:sp>
      <p:sp>
        <p:nvSpPr>
          <p:cNvPr id="6" name="">
            <a:extLst xmlns:a="http://schemas.openxmlformats.org/drawingml/2006/main">
              <a:ext uri="{FF2B5EF4-FFF2-40B4-BE49-F238E27FC236}">
                <a16:creationId xmlns:a16="http://schemas.microsoft.com/office/drawing/2014/main" id="{95273A74-2ABE-4033-AFCE-CB51F4C79E7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F74AB0-4D7D-48B1-BD00-CF291652BA0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assigned equipment_id field and record_id outputs.</a:t>
            </a:r>
          </a:p>
        </p:txBody>
      </p:sp>
      <p:sp>
        <p:nvSpPr>
          <p:cNvPr id="8" name="">
            <a:extLst xmlns:a="http://schemas.openxmlformats.org/drawingml/2006/main">
              <a:ext uri="{FF2B5EF4-FFF2-40B4-BE49-F238E27FC236}">
                <a16:creationId xmlns:a16="http://schemas.microsoft.com/office/drawing/2014/main" id="{1CA9CAEE-926B-4B19-9E48-3B289047628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BDB334-A376-4A56-A98F-DAC17257C9C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Reuse the W08 fitting pattern.</a:t>
            </a:r>
          </a:p>
        </p:txBody>
      </p:sp>
      <p:sp>
        <p:nvSpPr>
          <p:cNvPr id="10" name="">
            <a:extLst xmlns:a="http://schemas.openxmlformats.org/drawingml/2006/main">
              <a:ext uri="{FF2B5EF4-FFF2-40B4-BE49-F238E27FC236}">
                <a16:creationId xmlns:a16="http://schemas.microsoft.com/office/drawing/2014/main" id="{8F14CAC3-657B-47CE-8829-925FC965028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875DAEF-F12F-4F94-B49D-2C8A2F974B4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that GroupShuffleSplit and time-based splitting solve different deployment questions; use the rule in the issued task.</a:t>
            </a:r>
          </a:p>
        </p:txBody>
      </p:sp>
      <p:sp>
        <p:nvSpPr>
          <p:cNvPr id="12" name="">
            <a:extLst xmlns:a="http://schemas.openxmlformats.org/drawingml/2006/main">
              <a:ext uri="{FF2B5EF4-FFF2-40B4-BE49-F238E27FC236}">
                <a16:creationId xmlns:a16="http://schemas.microsoft.com/office/drawing/2014/main" id="{000788A3-9F24-4219-BEEA-3B87D5A425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26</a:t>
            </a:r>
          </a:p>
        </p:txBody>
      </p:sp>
    </p:spTree>
    <p:extLst>
      <p:ext uri="{BB962C8B-B14F-4D97-AF65-F5344CB8AC3E}">
        <p14:creationId xmlns:p14="http://schemas.microsoft.com/office/powerpoint/2010/main" val="81934523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8E7756-2680-4FA6-A331-90261BA8A2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4DB331-CBDD-46A9-AD46-FD3946F95F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E3D73C5-7806-4FFE-80E1-576FF6EA23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Interpreting validation results</a:t>
            </a:r>
          </a:p>
        </p:txBody>
      </p:sp>
      <p:sp>
        <p:nvSpPr>
          <p:cNvPr id="4" name="">
            <a:extLst xmlns:a="http://schemas.openxmlformats.org/drawingml/2006/main">
              <a:ext uri="{FF2B5EF4-FFF2-40B4-BE49-F238E27FC236}">
                <a16:creationId xmlns:a16="http://schemas.microsoft.com/office/drawing/2014/main" id="{6E4628C7-6332-4679-B8D4-B827543865D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666F576-900E-4330-8002-AB0ECBD227E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 an imputer or scaler only on training data; putting it in a Pipeline helps enforce that during cross-validation.</a:t>
            </a:r>
          </a:p>
        </p:txBody>
      </p:sp>
      <p:sp>
        <p:nvSpPr>
          <p:cNvPr id="6" name="">
            <a:extLst xmlns:a="http://schemas.openxmlformats.org/drawingml/2006/main">
              <a:ext uri="{FF2B5EF4-FFF2-40B4-BE49-F238E27FC236}">
                <a16:creationId xmlns:a16="http://schemas.microsoft.com/office/drawing/2014/main" id="{B81F0C8C-7301-424E-BA96-CF772DC2B44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CA49799-D5BA-41C6-B982-E47239FA3F2B}"/>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low training error and high validation error suggest overfitting, but data shift or leakage can also matter.</a:t>
            </a:r>
          </a:p>
        </p:txBody>
      </p:sp>
      <p:sp>
        <p:nvSpPr>
          <p:cNvPr id="8" name="">
            <a:extLst xmlns:a="http://schemas.openxmlformats.org/drawingml/2006/main">
              <a:ext uri="{FF2B5EF4-FFF2-40B4-BE49-F238E27FC236}">
                <a16:creationId xmlns:a16="http://schemas.microsoft.com/office/drawing/2014/main" id="{D49C2DDE-061D-43AA-BFCB-FCD386C6D05B}"/>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D898A43-0371-4D67-A995-D563557EBEAF}"/>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predictor values need a stated treatment.</a:t>
            </a:r>
          </a:p>
        </p:txBody>
      </p:sp>
      <p:sp>
        <p:nvSpPr>
          <p:cNvPr id="10" name="">
            <a:extLst xmlns:a="http://schemas.openxmlformats.org/drawingml/2006/main">
              <a:ext uri="{FF2B5EF4-FFF2-40B4-BE49-F238E27FC236}">
                <a16:creationId xmlns:a16="http://schemas.microsoft.com/office/drawing/2014/main" id="{A4EE5281-5A12-4C46-A8F6-0CE911E29814}"/>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2622509-BE83-4B3F-A5E5-82FB3E1787C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Report fold scores and their variation, not just the best fold.</a:t>
            </a:r>
          </a:p>
        </p:txBody>
      </p:sp>
      <p:sp>
        <p:nvSpPr>
          <p:cNvPr id="12" name="">
            <a:extLst xmlns:a="http://schemas.openxmlformats.org/drawingml/2006/main">
              <a:ext uri="{FF2B5EF4-FFF2-40B4-BE49-F238E27FC236}">
                <a16:creationId xmlns:a16="http://schemas.microsoft.com/office/drawing/2014/main" id="{3BD42F31-1972-432D-82F0-EBDE048ABF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27</a:t>
            </a:r>
          </a:p>
        </p:txBody>
      </p:sp>
    </p:spTree>
    <p:extLst>
      <p:ext uri="{BB962C8B-B14F-4D97-AF65-F5344CB8AC3E}">
        <p14:creationId xmlns:p14="http://schemas.microsoft.com/office/powerpoint/2010/main" val="14821256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385AEE-6EA9-4639-A335-36484B24B1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C5F812-13FD-4FBE-A193-0FF04B6CB0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8F5DF32-D827-4CE2-A7E9-E059BFF710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Interpreting validation results continued</a:t>
            </a:r>
          </a:p>
        </p:txBody>
      </p:sp>
      <p:sp>
        <p:nvSpPr>
          <p:cNvPr id="4" name="">
            <a:extLst xmlns:a="http://schemas.openxmlformats.org/drawingml/2006/main">
              <a:ext uri="{FF2B5EF4-FFF2-40B4-BE49-F238E27FC236}">
                <a16:creationId xmlns:a16="http://schemas.microsoft.com/office/drawing/2014/main" id="{5CA905DA-59F3-43BA-9B99-B64C5716C029}"/>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F90F39-D472-4206-BB2B-F0808074F4ED}"/>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Group related observations together when the deployment goal is new equipment.</a:t>
            </a:r>
          </a:p>
        </p:txBody>
      </p:sp>
      <p:sp>
        <p:nvSpPr>
          <p:cNvPr id="6" name="">
            <a:extLst xmlns:a="http://schemas.openxmlformats.org/drawingml/2006/main">
              <a:ext uri="{FF2B5EF4-FFF2-40B4-BE49-F238E27FC236}">
                <a16:creationId xmlns:a16="http://schemas.microsoft.com/office/drawing/2014/main" id="{6E2AC6DD-A7EE-4E84-8499-91455B7AF0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28</a:t>
            </a:r>
          </a:p>
        </p:txBody>
      </p:sp>
    </p:spTree>
    <p:extLst>
      <p:ext uri="{BB962C8B-B14F-4D97-AF65-F5344CB8AC3E}">
        <p14:creationId xmlns:p14="http://schemas.microsoft.com/office/powerpoint/2010/main" val="7537720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2B5EB4-8831-41C1-A4E2-68E168DCAA1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05D794-CD86-4FD4-B511-05B967AE800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7F24144-9C59-4566-82C5-085336161F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569B90CD-CD8D-4558-A871-4EB4C2CBB8B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20132CA-2346-46A3-8657-72E679B80B1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08FE5904-082D-41B9-9496-1ED6BF0FC05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288C203-36A0-4A43-B654-0F6EA048FE5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6E98339E-640E-4A8B-A122-F97484249C7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B27F07D-4C2B-4EB0-978C-2BE2A0FB623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1A6F4940-82E8-4CE5-8756-3C0408A0ADD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C17BAAC-DF4D-41F3-BBFE-0AD42FA0823A}"/>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BDB0AA2B-5872-4804-9308-D4A932BDEC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29</a:t>
            </a:r>
          </a:p>
        </p:txBody>
      </p:sp>
    </p:spTree>
    <p:extLst>
      <p:ext uri="{BB962C8B-B14F-4D97-AF65-F5344CB8AC3E}">
        <p14:creationId xmlns:p14="http://schemas.microsoft.com/office/powerpoint/2010/main" val="65599283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BC7FC7-5E1F-41FE-9D4F-BA691E8B2E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C733AD-3823-44E0-AAFD-286B83F45A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AF82D955-6CD7-417D-A13C-3B89DA2476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group_split(records)</a:t>
            </a:r>
          </a:p>
        </p:txBody>
      </p:sp>
      <p:sp>
        <p:nvSpPr>
          <p:cNvPr id="4" name="">
            <a:extLst xmlns:a="http://schemas.openxmlformats.org/drawingml/2006/main">
              <a:ext uri="{FF2B5EF4-FFF2-40B4-BE49-F238E27FC236}">
                <a16:creationId xmlns:a16="http://schemas.microsoft.com/office/drawing/2014/main" id="{00FDE2D6-4B0A-4830-A6C3-2ACE4E9BEA1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4DD775-04D0-4DB1-81A9-86D336A06F85}"/>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Assign whole equipment groups: E1–E4 to train, E5 to validation, E6 to test.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train, validation and test lists of record_id in input order.</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not use target values to choose membership.</a:t>
            </a:r>
          </a:p>
        </p:txBody>
      </p:sp>
      <p:sp>
        <p:nvSpPr>
          <p:cNvPr id="6" name="">
            <a:extLst xmlns:a="http://schemas.openxmlformats.org/drawingml/2006/main">
              <a:ext uri="{FF2B5EF4-FFF2-40B4-BE49-F238E27FC236}">
                <a16:creationId xmlns:a16="http://schemas.microsoft.com/office/drawing/2014/main" id="{CA66373E-CD41-44C5-9739-1E8BFE46B62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889D3B-89AD-4FC2-8313-F17044B41BF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663D6BB0-391D-46C5-9CE7-54AEE7D751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30</a:t>
            </a:r>
          </a:p>
        </p:txBody>
      </p:sp>
    </p:spTree>
    <p:extLst>
      <p:ext uri="{BB962C8B-B14F-4D97-AF65-F5344CB8AC3E}">
        <p14:creationId xmlns:p14="http://schemas.microsoft.com/office/powerpoint/2010/main" val="131658356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E7A15B-0B4C-42DD-917D-BC0C7865B0B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CF1511-4F4C-409C-82DA-4FDDBA81ED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C831D355-9474-48AB-B77D-B0C1233690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predict_regression(training_records, feature_records)</a:t>
            </a:r>
          </a:p>
        </p:txBody>
      </p:sp>
      <p:sp>
        <p:nvSpPr>
          <p:cNvPr id="4" name="">
            <a:extLst xmlns:a="http://schemas.openxmlformats.org/drawingml/2006/main">
              <a:ext uri="{FF2B5EF4-FFF2-40B4-BE49-F238E27FC236}">
                <a16:creationId xmlns:a16="http://schemas.microsoft.com/office/drawing/2014/main" id="{A13E9B81-D162-4D69-AC4D-1891D7C7189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F4082A-70BB-4D78-AC3E-A5D9DDE352B7}"/>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a training-mean baseline, linear regression and a decision tree (max_depth=4, random_state=17) using load_pct and ambient_c only.</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three prediction lists under baseline, linear and tree.</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Feature records have no target.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preprocessing only on training data.</a:t>
            </a:r>
          </a:p>
        </p:txBody>
      </p:sp>
      <p:sp>
        <p:nvSpPr>
          <p:cNvPr id="6" name="">
            <a:extLst xmlns:a="http://schemas.openxmlformats.org/drawingml/2006/main">
              <a:ext uri="{FF2B5EF4-FFF2-40B4-BE49-F238E27FC236}">
                <a16:creationId xmlns:a16="http://schemas.microsoft.com/office/drawing/2014/main" id="{BA6F9A0C-200A-4521-9C06-7FBFFC533388}"/>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5E353C-4311-43B0-B784-43DC19943685}"/>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F651ABF2-D073-449A-8422-17D47151F3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31</a:t>
            </a:r>
          </a:p>
        </p:txBody>
      </p:sp>
    </p:spTree>
    <p:extLst>
      <p:ext uri="{BB962C8B-B14F-4D97-AF65-F5344CB8AC3E}">
        <p14:creationId xmlns:p14="http://schemas.microsoft.com/office/powerpoint/2010/main" val="102758928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DC8F1D-06DF-4D27-8775-0A980284AB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D6AA3B-1B10-4A7E-A29F-DA68231127D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3CD4782-464C-437D-B18B-17BCE82D7F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C91F0ADD-1AD3-4B7E-81AE-57B32F3DBC0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912B746-5427-4E50-8E5C-9156C4B91EBE}"/>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48F1C0CB-7018-4298-B5FE-1663E0D84C8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3AF9DE4-B899-49AF-B1E1-F88501EA5BE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0426DBAB-D396-424A-A6B2-5D08C56A8A1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DAB118-A36C-4172-A74D-12901C776A3E}"/>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55061484-EAF7-494F-811D-E1FC0A1F3C3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5C5CF97-365F-4496-B38A-245AC003DB3F}"/>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E2B22951-654F-4C64-B12C-C59320E911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32</a:t>
            </a:r>
          </a:p>
        </p:txBody>
      </p:sp>
    </p:spTree>
    <p:extLst>
      <p:ext uri="{BB962C8B-B14F-4D97-AF65-F5344CB8AC3E}">
        <p14:creationId xmlns:p14="http://schemas.microsoft.com/office/powerpoint/2010/main" val="167020470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7D89D7F-5617-48BF-8546-B429AD23D1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7541AC-629D-49DC-9DFF-729DAA879E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6B813FA9-2F0C-49A4-AC7E-4EC440B13B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Validation and trust submission</a:t>
            </a:r>
          </a:p>
        </p:txBody>
      </p:sp>
      <p:sp>
        <p:nvSpPr>
          <p:cNvPr id="4" name="">
            <a:extLst xmlns:a="http://schemas.openxmlformats.org/drawingml/2006/main">
              <a:ext uri="{FF2B5EF4-FFF2-40B4-BE49-F238E27FC236}">
                <a16:creationId xmlns:a16="http://schemas.microsoft.com/office/drawing/2014/main" id="{EF8F7C20-2EEF-449A-AE0C-8362ADCD405A}"/>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28FD4A9-F34F-4D75-A250-974213A22B55}"/>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13 Nov 2026, 11:00 Kampala</a:t>
            </a:r>
          </a:p>
        </p:txBody>
      </p:sp>
      <p:sp>
        <p:nvSpPr>
          <p:cNvPr id="6" name="">
            <a:extLst xmlns:a="http://schemas.openxmlformats.org/drawingml/2006/main">
              <a:ext uri="{FF2B5EF4-FFF2-40B4-BE49-F238E27FC236}">
                <a16:creationId xmlns:a16="http://schemas.microsoft.com/office/drawing/2014/main" id="{553AE6AE-AA4F-4B0A-B0A3-5D2459F12D5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C7457BE-8B3E-435F-9AE5-B77D8A52FE3C}"/>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20 Nov 2026, 11:00 Kampala</a:t>
            </a:r>
          </a:p>
        </p:txBody>
      </p:sp>
      <p:sp>
        <p:nvSpPr>
          <p:cNvPr id="8" name="">
            <a:extLst xmlns:a="http://schemas.openxmlformats.org/drawingml/2006/main">
              <a:ext uri="{FF2B5EF4-FFF2-40B4-BE49-F238E27FC236}">
                <a16:creationId xmlns:a16="http://schemas.microsoft.com/office/drawing/2014/main" id="{F7D98E42-BE70-490F-8808-236F02A64A27}"/>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04898CF-5844-45FD-9A8E-CAB938F291D3}"/>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C1A50DFB-35CD-469C-9148-72B2A01C598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97C451D-2337-401A-895D-C3A058988EB8}"/>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C9AB4E44-4D31-475D-BB48-4AEE12ED967B}"/>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E37D249-ECDB-45E8-B2A5-FE02363BC36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3f31dbac8944d74"/>
              </a:rPr>
              <a:t>Open W10 assignment form</a:t>
            </a:r>
          </a:p>
        </p:txBody>
      </p:sp>
      <p:sp>
        <p:nvSpPr>
          <p:cNvPr id="14" name="">
            <a:extLst xmlns:a="http://schemas.openxmlformats.org/drawingml/2006/main">
              <a:ext uri="{FF2B5EF4-FFF2-40B4-BE49-F238E27FC236}">
                <a16:creationId xmlns:a16="http://schemas.microsoft.com/office/drawing/2014/main" id="{470AD2EA-7640-4AC0-8ED3-9EFD33E4A58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https://docs.google.com/forms/d/e/1FAIpQLSd5yLPYJ8OPmahSQIIIPfI-OfVHWbcHnwnntSRiE7wafqbRTg/viewform</a:t>
            </a:r>
          </a:p>
        </p:txBody>
      </p:sp>
      <p:sp>
        <p:nvSpPr>
          <p:cNvPr id="15" name="">
            <a:extLst xmlns:a="http://schemas.openxmlformats.org/drawingml/2006/main">
              <a:ext uri="{FF2B5EF4-FFF2-40B4-BE49-F238E27FC236}">
                <a16:creationId xmlns:a16="http://schemas.microsoft.com/office/drawing/2014/main" id="{D4A6D6F3-98FC-4EB1-B6E0-3291D8F9B9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33</a:t>
            </a:r>
          </a:p>
        </p:txBody>
      </p:sp>
    </p:spTree>
    <p:extLst>
      <p:ext uri="{BB962C8B-B14F-4D97-AF65-F5344CB8AC3E}">
        <p14:creationId xmlns:p14="http://schemas.microsoft.com/office/powerpoint/2010/main" val="187493309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892EB28-8B7C-4BB4-8F55-87939274D7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BC6C59-47CF-4B80-94DB-0BB044C283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7B4DA97C-BDE9-4234-8C9F-29A96F4B61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10 quiz</a:t>
            </a:r>
          </a:p>
        </p:txBody>
      </p:sp>
      <p:sp>
        <p:nvSpPr>
          <p:cNvPr id="4" name="">
            <a:extLst xmlns:a="http://schemas.openxmlformats.org/drawingml/2006/main">
              <a:ext uri="{FF2B5EF4-FFF2-40B4-BE49-F238E27FC236}">
                <a16:creationId xmlns:a16="http://schemas.microsoft.com/office/drawing/2014/main" id="{49048C64-750A-4F2F-9E82-08299C3E5C96}"/>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8927A4C-23F5-4403-9FB7-F5FD4A8B6EAC}"/>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61217031-F66B-4A28-B8B6-FE59D3B5DFA0}"/>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5DC5FD9-4D44-4073-A5C3-2EDAA80227CB}"/>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817F0952-7970-4BCD-8395-7ED4F659F1C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A7A686D-04DD-49BC-9D45-38AC051FE4BA}"/>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2E838173-77BE-4644-8BE7-EF9AA58330B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CA7C7DB-0275-440B-94A6-D6929831181A}"/>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2df7f9721dc4c6d"/>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D344D93-308A-431C-B546-03F966DF0141}"/>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9A28D61A-D01C-49F9-BD7E-F589B9903E4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6A087D1-CE7D-43F6-B986-33F38C2EEBF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c5fea3d334b41d2"/>
              </a:rPr>
              <a:t>Open this week’s quiz</a:t>
            </a:r>
          </a:p>
        </p:txBody>
      </p:sp>
      <p:sp>
        <p:nvSpPr>
          <p:cNvPr id="16" name="">
            <a:extLst xmlns:a="http://schemas.openxmlformats.org/drawingml/2006/main">
              <a:ext uri="{FF2B5EF4-FFF2-40B4-BE49-F238E27FC236}">
                <a16:creationId xmlns:a16="http://schemas.microsoft.com/office/drawing/2014/main" id="{9634144F-27A6-4CE0-A77C-490E1CE8723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https://forms.gle/KJmiCV72Y98y51a38</a:t>
            </a:r>
          </a:p>
        </p:txBody>
      </p:sp>
      <p:sp>
        <p:nvSpPr>
          <p:cNvPr id="17" name="">
            <a:extLst xmlns:a="http://schemas.openxmlformats.org/drawingml/2006/main">
              <a:ext uri="{FF2B5EF4-FFF2-40B4-BE49-F238E27FC236}">
                <a16:creationId xmlns:a16="http://schemas.microsoft.com/office/drawing/2014/main" id="{1C28157D-0803-4B75-9087-A0E16C505F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34</a:t>
            </a:r>
          </a:p>
        </p:txBody>
      </p:sp>
    </p:spTree>
    <p:extLst>
      <p:ext uri="{BB962C8B-B14F-4D97-AF65-F5344CB8AC3E}">
        <p14:creationId xmlns:p14="http://schemas.microsoft.com/office/powerpoint/2010/main" val="820321400"/>
      </p:ext>
    </p:extLst>
  </p:cSld>
</p:sld>
</file>

<file path=ppt/slides/slide3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A7A004-D924-4292-9A08-ABFF5B1FC8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4647E314-70C6-469E-AE9F-9E97F007F1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CD028DB0-D521-49CB-AE8D-078FD83B6AF4}"/>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796E4001-8FF4-43F0-A0C7-330DAA9E83E5}"/>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identify which records may influence preprocessing and model selection.</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64585FD3-BDE6-4E88-9351-6262F6DCFBDA}"/>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E8D69ABB-3FA0-4ED9-B220-D6B11EA7F12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10   35</a:t>
            </a:r>
          </a:p>
        </p:txBody>
      </p:sp>
    </p:spTree>
    <p:extLst>
      <p:ext uri="{BB962C8B-B14F-4D97-AF65-F5344CB8AC3E}">
        <p14:creationId xmlns:p14="http://schemas.microsoft.com/office/powerpoint/2010/main" val="102786400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77690C1-2923-4266-828F-3E0069D2F18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7A4D49-D2F8-4B5E-8E0D-15CFB56197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4D395E1D-0BFB-4EFF-928B-23687AB77C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FF2F46E5-1A62-4417-8E22-50C325947641}"/>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8C5A245-C5AE-423D-8FA9-04A2A3A1284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885C4754-BCDD-4A94-8B10-08B5A02AEB1F}"/>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108792D-693E-4958-9E13-E89842258594}"/>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Cross Validation</a:t>
            </a:r>
          </a:p>
        </p:txBody>
      </p:sp>
      <p:sp>
        <p:nvSpPr>
          <p:cNvPr id="8" name="">
            <a:extLst xmlns:a="http://schemas.openxmlformats.org/drawingml/2006/main">
              <a:ext uri="{FF2B5EF4-FFF2-40B4-BE49-F238E27FC236}">
                <a16:creationId xmlns:a16="http://schemas.microsoft.com/office/drawing/2014/main" id="{3EE77636-4375-49EC-9825-BB62C5D21261}"/>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6948A77-16F8-42F4-892D-40B8C09026FF}"/>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E4405E83-AB17-4AC1-9F64-0B95AD65DD4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B082D4C-8C3C-4FCC-A5E4-E269DE1D3945}"/>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evaluate using observations not used to fit that particular model?</a:t>
            </a:r>
          </a:p>
        </p:txBody>
      </p:sp>
      <p:sp>
        <p:nvSpPr>
          <p:cNvPr id="12" name="">
            <a:extLst xmlns:a="http://schemas.openxmlformats.org/drawingml/2006/main">
              <a:ext uri="{FF2B5EF4-FFF2-40B4-BE49-F238E27FC236}">
                <a16:creationId xmlns:a16="http://schemas.microsoft.com/office/drawing/2014/main" id="{192C9AC2-AB43-4C7C-8ED3-69D9B5DCFF4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7DE67F-0C20-4E4D-A55A-EF25954A1D6C}"/>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0225ee6d1b040cb"/>
              </a:rPr>
              <a:t>Open explainer video</a:t>
            </a:r>
          </a:p>
        </p:txBody>
      </p:sp>
      <p:sp>
        <p:nvSpPr>
          <p:cNvPr id="14" name="">
            <a:extLst xmlns:a="http://schemas.openxmlformats.org/drawingml/2006/main">
              <a:ext uri="{FF2B5EF4-FFF2-40B4-BE49-F238E27FC236}">
                <a16:creationId xmlns:a16="http://schemas.microsoft.com/office/drawing/2014/main" id="{7FD4993D-B099-464E-B95B-6ABD76A651A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E665520E-580D-4CCF-9030-D53DE5670A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10   36</a:t>
            </a:r>
          </a:p>
        </p:txBody>
      </p:sp>
    </p:spTree>
    <p:extLst>
      <p:ext uri="{BB962C8B-B14F-4D97-AF65-F5344CB8AC3E}">
        <p14:creationId xmlns:p14="http://schemas.microsoft.com/office/powerpoint/2010/main" val="1965840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2026-09-28T21:45:19.7860000Z</dcterms:created>
  <dcterms:modified xsi:type="dcterms:W3CDTF">2026-09-28T21:45:19.7860000Z</dcterms:modified>
</coreProperties>
</file>