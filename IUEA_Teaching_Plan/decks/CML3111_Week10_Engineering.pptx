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valuable session of the semester. Everything before it was about getting a model. This is about whether the model deserves to be believed.</a:t>
            </a:r>
          </a:p>
          <a:p/>
          <a:p>
            <a:r>
              <a:t>The uncomfortable part is that the most common failure produces a model that looks better than the honest one. A very good score is a reason for suspicion before it is a reason for satisfaction.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6 is the reflex this week exists to install. In four years of professional work it will save you more embarrassment than any other habit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segments. The first five cover the three ways a model goes wrong and the two techniques that catch them; the last two are about data leakage, which is the failure that produces excellent scores and worthless models.</a:t>
            </a:r>
          </a:p>
          <a:p/>
          <a:p>
            <a:r>
              <a:t>This is the session that decides whether your project result can be believed. Every number you have quoted since Week 8 rests on the assumption that the test set was genuinely unseen, and today you find out how easily that assumption breaks without anybody noticing.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of the last two weeks ended with a number. This week asks what would have to be true for that number to be honest.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Being able to tell these three apart from evidence is the diagnostic skill of the week.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down both the training score and the test score for every model you build, every time. Most beginners record only the test score, which throws away the information needed to tell the first two stories apart.</a:t>
            </a:r>
          </a:p>
          <a:p/>
          <a:p>
            <a:r>
              <a:t>The third story is the subject of the second half of today, and it is the one that ends up in published papers and shipped products.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curve is the single most useful picture in machine learning.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at the third panel and ask what it would predict slightly outside the range of the data. It swings wildly, because it has fitted the noise rather than the relationship.</a:t>
            </a:r>
          </a:p>
          <a:p/>
          <a:p>
            <a:r>
              <a:t>The numbers underneath are the honest summary: the flexible model's training error is the lowest of the three and its test error is by far the worst. A model can be made to fit any dataset perfectly and that tells you nothing.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regions. On the left the model is too simple and both errors are high. In the middle it has captured the relationship. On the right it is fitting noise, and every extra bit of flexibility makes it worse at the only job that matters.</a:t>
            </a:r>
          </a:p>
          <a:p/>
          <a:p>
            <a:r>
              <a:t>The practical consequence: you cannot choose model complexity by looking at the training score, because the training score always prefers the most complex model available. You need held-back data to make that choice, and choosing on the test set spends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 'overfitting' sounds like a synonym for 'inaccurate' and it is not. An overfitted model is the most accurate one available on the data it was fitted to. That is exactly why it is dangerous — it looks like success.</a:t>
            </a:r>
          </a:p>
          <a:p/>
          <a:p>
            <a:r>
              <a:t>The control differs by model: max_depth on a tree, polynomial degree on a curve, the amount of regularisation on a linear model. The pattern is always the same.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fix for the Week 8 problem of not knowing whether a 2 per cent improvement is real.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scores in this figure are 4.80, 3.78, 4.67, 3.95 and 4.30, giving a mean of 4.30 with a standard deviation of 0.39. That spread is the thing a single split hides.</a:t>
            </a:r>
          </a:p>
          <a:p/>
          <a:p>
            <a:r>
              <a:t>Which means the Week 8 question now has an answer. If model A scores 4.30 plus or minus 0.39 and model B scores 4.20 plus or minus 0.39, the difference between them is well inside the noise and you have no evidence that B is better.</a:t>
            </a:r>
          </a:p>
          <a:p/>
          <a:p>
            <a:r>
              <a:t>Always report a mean and a spread. A single cross-validated number quoted on its own throws away the more useful half of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 not confuse with' point is the one that gets broken most often. If you cross-validate to choose between models and then also report the cross-validated score as your final result, that number is optimistic — the data helped you choose.</a:t>
            </a:r>
          </a:p>
          <a:p/>
          <a:p>
            <a:r>
              <a:t>The clean discipline: cross-validate on the training data to choose, then score the chosen model once on the test set, and report that.</a:t>
            </a:r>
          </a:p>
          <a:p/>
          <a:p>
            <a:r>
              <a:t>Stratified folds keep the class balance the same in every fold, which matters whenever a class is rare. Use StratifiedKFold for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half of today is leakage, which is the part worth being awake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minutes in three parts. You plot the overfitting curve so you can see the gap between training and test error open up, you replace a single split with k-fold cross-validation so your score comes with an uncertainty attached, and then you break your own model on purpose.</a:t>
            </a:r>
          </a:p>
          <a:p/>
          <a:p>
            <a:r>
              <a:t>The third part is the one to concentrate on. Introducing a leak deliberately and watching the score jump is what makes the same pattern recognisable later, when it appears in your own work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Pipeline is not tidiness. It is the mechanism that makes leakage structurally difficult: everything inside it is fitted on the training part of each fold and applied to the held-out part, in the right order, automatically.</a:t>
            </a:r>
          </a:p>
          <a:p/>
          <a:p>
            <a:r>
              <a:t>Once you have seen how small the leak in the second half of that code is — one scaler, fitted a few lines too early — you will understand why this happens in real projects. Nobody sets out to cheat. The split simply happens after something that should have come first.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highest-value twenty-five minutes in the semester.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four have the same signature: a score that is better than the problem allows.</a:t>
            </a:r>
          </a:p>
          <a:p/>
          <a:p>
            <a:r>
              <a:t>Target leakage is the one to fear most, because it survives every validation scheme you can throw at it. Cross-validation will not save you: if a feature contains the answer, every fold contains the answer.</a:t>
            </a:r>
          </a:p>
          <a:p/>
          <a:p>
            <a:r>
              <a:t>The only defence against target leakage is the timing question, asked of every single feature: would I actually have this value at the moment I need the prediction? Anything recorded afterwards is disqualified however predictive it looks.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 leakage is the one that catches careful people. A random split looks scrupulous and is wrong whenever your rows come in clusters that resemble each other, which in engineering data they nearly always do.</a:t>
            </a:r>
          </a:p>
          <a:p/>
          <a:p>
            <a:r>
              <a:t>Temporal leakage is equally common in sensor data. If your data has a timestamp, a random split is almost certainly the wrong split.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gap of 0.43 in R-squared, from nothing but the choice of how to split. Neither run is a mistake in the code; the difference is entirely in whether related rows were allowed to sit on both sides.</a:t>
            </a:r>
          </a:p>
          <a:p/>
          <a:p>
            <a:r>
              <a:t>This is the figure to remember when a result looks too good. The reflex to build is: an unexpectedly excellent score is evidence of a leak until you have ruled one out.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minutes on a notebook whose model reports an R-squared of 0.998 on data it has never seen. Something in it is wrong, and your task is to name the mechanism and prove it by producing an honest score.</a:t>
            </a:r>
          </a:p>
          <a:p/>
          <a:p>
            <a:r>
              <a:t>Teams around the room have been given different faults, so a diagnosis borrowed from the next table will not fit your notebook. Work through the four kinds of leakage in order and check each one against your own code.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3 catches target leakage and question 4 catches contamination. Question 5 catches group leakage, and it is the one teams reach last.</a:t>
            </a:r>
          </a:p>
          <a:p/>
          <a:p>
            <a:r>
              <a:t>The deliverable is one sentence naming the leak, the evidence for it, and the honest score after the fix. A team that finds the leak and cannot state the honest score has done half the work.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conditions-of-use paragraph is new and it is the most professionally realistic thing in the project. Every model has a domain of validity, and stating yours is what a reviewer will look for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9 is the reflex. Install it now and it will serve you for the rest of your career.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are the diagnostic patterns of the week, and Practical Test 2 in Week 14 will present you with one of them.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E is the routine. Suspicion first, then the timing question, then the split, then the group structure.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Nineteen terms. The four leakage names and the timing question are the ones to carry into the project and into Practical Test 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nine are the validation criteria in the project rubric and in the Test 2 rubric, where leakage control alone carries 20 of the 100 marks.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five minutes of every teaching session. Five questions, one per cent, and you see your score as you submit.</a:t>
            </a:r>
          </a:p>
          <a:p/>
          <a:p>
            <a:r>
              <a:t>Nothing on it can be answered without reading what it shows you, so there is nothing to revise for it beyond having done the session. Twelve run across the semester and the best ten count.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week is the one where a domain engineer beats a better programmer, and you get to measure that rather than assert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CML3111</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Can I trust</a:t>
            </a:r>
          </a:p>
          <a:p>
            <a:pPr algn="l">
              <a:lnSpc>
                <a:spcPct val="105000"/>
              </a:lnSpc>
              <a:spcAft>
                <a:spcPts val="600"/>
              </a:spcAft>
            </a:pPr>
            <a:r>
              <a:rPr sz="4400" b="1" i="0">
                <a:solidFill>
                  <a:srgbClr val="FFFFFF"/>
                </a:solidFill>
                <a:latin typeface="Cambria"/>
              </a:rPr>
              <a:t>this model?</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Overfitting, cross-validation and data leakage</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10  ·  Fri 13 November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Friday 11:00–14:00 · Room 115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Diagnose overfitting and underfitting from the gap between training and test performance.</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why a single train/test split is itself a noisy measurement.</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Run k-fold cross-validation and report a mean with a spread.</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Name the four kinds of data leakage and identify each in a pipeline.</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Rebuild a leaking workflow correctly using a Pipeline.</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why a near-perfect score is grounds for suspicion.</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State the conditions under which your own model should not be used.</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10 · Validation and leakage · nothing here needs prior programming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today runs</a:t>
            </a:r>
          </a:p>
        </p:txBody>
      </p:sp>
      <p:pic>
        <p:nvPicPr>
          <p:cNvPr id="4" name="Picture 3" descr="clock_w10.png"/>
          <p:cNvPicPr>
            <a:picLocks noChangeAspect="1"/>
          </p:cNvPicPr>
          <p:nvPr/>
        </p:nvPicPr>
        <p:blipFill>
          <a:blip r:embed="rId2"/>
          <a:stretch>
            <a:fillRect/>
          </a:stretch>
        </p:blipFill>
        <p:spPr>
          <a:xfrm>
            <a:off x="969195" y="1911095"/>
            <a:ext cx="1025330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Nine segments, and the last two are the ones that matter most.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Where we got to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can fit a regression and a classifier and report their scores. Today: whether those scores mean anything.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Three error stories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 model can fail in three quite different ways, and they need different fixes.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DIAGNOSIS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Three ways a model goes wrong</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It never learned — underfitting</a:t>
            </a:r>
          </a:p>
        </p:txBody>
      </p:sp>
      <p:sp>
        <p:nvSpPr>
          <p:cNvPr id="5" name="TextBox 4"/>
          <p:cNvSpPr txBox="1"/>
          <p:nvPr/>
        </p:nvSpPr>
        <p:spPr>
          <a:xfrm>
            <a:off x="685800" y="2322358"/>
            <a:ext cx="5158587" cy="1246599"/>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Poor on the training data and poor on the test data. The model is too simple for the relationship, or the features do not carry the signal. Both scores are bad and they are close together.</a:t>
            </a:r>
          </a:p>
        </p:txBody>
      </p:sp>
      <p:sp>
        <p:nvSpPr>
          <p:cNvPr id="6" name="TextBox 5"/>
          <p:cNvSpPr txBox="1"/>
          <p:nvPr/>
        </p:nvSpPr>
        <p:spPr>
          <a:xfrm>
            <a:off x="685800" y="3797557"/>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It memorised — overfitting</a:t>
            </a:r>
          </a:p>
        </p:txBody>
      </p:sp>
      <p:sp>
        <p:nvSpPr>
          <p:cNvPr id="7" name="TextBox 6"/>
          <p:cNvSpPr txBox="1"/>
          <p:nvPr/>
        </p:nvSpPr>
        <p:spPr>
          <a:xfrm>
            <a:off x="685800" y="4208820"/>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Excellent on the training data and much worse on the test data. The model has learned the particular rows it saw, including their noise. The gap between the two scores is the tell.</a:t>
            </a:r>
          </a:p>
        </p:txBody>
      </p:sp>
      <p:sp>
        <p:nvSpPr>
          <p:cNvPr id="8" name="TextBox 7"/>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It cheated — leakage</a:t>
            </a:r>
          </a:p>
        </p:txBody>
      </p:sp>
      <p:sp>
        <p:nvSpPr>
          <p:cNvPr id="9" name="TextBox 8"/>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Excellent on both, and useless in service. The model was given information it will not have when it matters. This one is the hardest to spot because nothing looks wrong.</a:t>
            </a:r>
          </a:p>
        </p:txBody>
      </p:sp>
      <p:sp>
        <p:nvSpPr>
          <p:cNvPr id="10" name="TextBox 9"/>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How to tell them apart</a:t>
            </a:r>
          </a:p>
        </p:txBody>
      </p:sp>
      <p:sp>
        <p:nvSpPr>
          <p:cNvPr id="11" name="TextBox 10"/>
          <p:cNvSpPr txBox="1"/>
          <p:nvPr/>
        </p:nvSpPr>
        <p:spPr>
          <a:xfrm>
            <a:off x="6347307" y="3910886"/>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Compare the training score with the test score. Both poor means underfitting. A large gap means overfitting. Both suspiciously good means look for leakage.</a:t>
            </a:r>
          </a:p>
        </p:txBody>
      </p:sp>
      <p:sp>
        <p:nvSpPr>
          <p:cNvPr id="12" name="TextBox 11"/>
          <p:cNvSpPr txBox="1"/>
          <p:nvPr/>
        </p:nvSpPr>
        <p:spPr>
          <a:xfrm>
            <a:off x="6347307"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And the reason this ordering matters</a:t>
            </a:r>
          </a:p>
        </p:txBody>
      </p:sp>
      <p:sp>
        <p:nvSpPr>
          <p:cNvPr id="13" name="TextBox 12"/>
          <p:cNvSpPr txBox="1"/>
          <p:nvPr/>
        </p:nvSpPr>
        <p:spPr>
          <a:xfrm>
            <a:off x="6347307" y="5499414"/>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Underfitting and overfitting are honest failures that show up in your numbers. Leakage flatters you, so you have to go looking for it deliberately.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Overfitting, and the curve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Watch a model get better and better at the training data while getting worse at its job.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THREE FITS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same data, fitted three ways</a:t>
            </a:r>
          </a:p>
        </p:txBody>
      </p:sp>
      <p:pic>
        <p:nvPicPr>
          <p:cNvPr id="4" name="Picture 3" descr="fit_three_panel.png"/>
          <p:cNvPicPr>
            <a:picLocks noChangeAspect="1"/>
          </p:cNvPicPr>
          <p:nvPr/>
        </p:nvPicPr>
        <p:blipFill>
          <a:blip r:embed="rId2"/>
          <a:stretch>
            <a:fillRect/>
          </a:stretch>
        </p:blipFill>
        <p:spPr>
          <a:xfrm>
            <a:off x="1062458" y="1911095"/>
            <a:ext cx="1006677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Too simple, about right, and far too flexible. The third fit bends to chase individual training points and is much worse on data it has not seen. Both errors are shown under each panel.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CURVE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Training error and test error against complexity</a:t>
            </a:r>
          </a:p>
        </p:txBody>
      </p:sp>
      <p:pic>
        <p:nvPicPr>
          <p:cNvPr id="4" name="Picture 3" descr="overfit_curve.png"/>
          <p:cNvPicPr>
            <a:picLocks noChangeAspect="1"/>
          </p:cNvPicPr>
          <p:nvPr/>
        </p:nvPicPr>
        <p:blipFill>
          <a:blip r:embed="rId2"/>
          <a:stretch>
            <a:fillRect/>
          </a:stretch>
        </p:blipFill>
        <p:spPr>
          <a:xfrm>
            <a:off x="1271814" y="1911095"/>
            <a:ext cx="9648066"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Training error falls the whole way. Test error falls, reaches a minimum, and then rises. The minimum is the model you want, and it is not the one with the best training score.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Overfitting, underfitting and generalisation gap</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OVERFITTING means the model has learned the particular training rows rather than the relationship. UNDERFITTING means it is too simple to capture the relationship. The GENERALISATION GAP is the difference between the training and the test score.</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tree with unlimited depth scores 1.00 on training and 0.62 on test — a gap of 0.38, and a clear case of overfitting. A tree of depth 1 scores 0.55 and 0.54: honest, and too simple.</a:t>
            </a:r>
          </a:p>
        </p:txBody>
      </p:sp>
      <p:sp>
        <p:nvSpPr>
          <p:cNvPr id="8" name="Rounded Rectangle 7"/>
          <p:cNvSpPr/>
          <p:nvPr/>
        </p:nvSpPr>
        <p:spPr>
          <a:xfrm>
            <a:off x="685800" y="503351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501523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bad model. An overfitted model is often extremely good at the data it saw. The problem is that this is not the job.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Cross-validation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One split gives you one noisy number. Five splits give you a number and an uncertainty.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CROSS-VALIDATION</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Five folds, five scores</a:t>
            </a:r>
          </a:p>
        </p:txBody>
      </p:sp>
      <p:pic>
        <p:nvPicPr>
          <p:cNvPr id="4" name="Picture 3" descr="kfold.png"/>
          <p:cNvPicPr>
            <a:picLocks noChangeAspect="1"/>
          </p:cNvPicPr>
          <p:nvPr/>
        </p:nvPicPr>
        <p:blipFill>
          <a:blip r:embed="rId2"/>
          <a:stretch>
            <a:fillRect/>
          </a:stretch>
        </p:blipFill>
        <p:spPr>
          <a:xfrm>
            <a:off x="1653859" y="1911095"/>
            <a:ext cx="8883976"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data is divided into five parts. Each part is held out in turn while the model is fitted on the other four. You get five scores, and their mean and spread tell you far more than any single 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k-fold cross-validation</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Divide the data into k parts. Fit k times, each time holding out a different part for scoring. Report the mean of the k scores and their spread.</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cross_val_score(model, X, y, cv=5, scoring='neg_mean_absolute_error') gives five numbers. Take the mean for the estimate and the standard deviation for the uncertainty.</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The test set. Cross-validation is done on the training data to make choices. The test set is still held back and spent once, at the very end, after every choice is final.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The Trust Lab is next, so have Colab open when you come back.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The Trust Lab</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Build the curve, run the cross-validation, then break your own model on purpose.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Validation, and then a deliberate leak</a:t>
            </a:r>
          </a:p>
        </p:txBody>
      </p:sp>
      <p:sp>
        <p:nvSpPr>
          <p:cNvPr id="4" name="Rounded Rectangle 3"/>
          <p:cNvSpPr/>
          <p:nvPr/>
        </p:nvSpPr>
        <p:spPr>
          <a:xfrm>
            <a:off x="7663952" y="512064"/>
            <a:ext cx="3841943"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OPEN COLAB — TYPE THIS WITH ME</a:t>
            </a:r>
          </a:p>
        </p:txBody>
      </p:sp>
      <p:sp>
        <p:nvSpPr>
          <p:cNvPr id="5" name="Rectangle 4"/>
          <p:cNvSpPr/>
          <p:nvPr/>
        </p:nvSpPr>
        <p:spPr>
          <a:xfrm>
            <a:off x="685800" y="1911095"/>
            <a:ext cx="10820095" cy="3244287"/>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2951679"/>
          </a:xfrm>
          <a:prstGeom prst="rect">
            <a:avLst/>
          </a:prstGeom>
          <a:noFill/>
        </p:spPr>
        <p:txBody>
          <a:bodyPr wrap="square" lIns="0" rIns="0" tIns="0" bIns="0" anchor="t">
            <a:spAutoFit/>
          </a:bodyPr>
          <a:lstStyle/>
          <a:p>
            <a:pPr algn="l">
              <a:lnSpc>
                <a:spcPts val="1795"/>
              </a:lnSpc>
              <a:spcAft>
                <a:spcPts val="0"/>
              </a:spcAft>
            </a:pPr>
            <a:r>
              <a:rPr sz="1320" b="0" i="0">
                <a:solidFill>
                  <a:srgbClr val="D8E3EC"/>
                </a:solidFill>
                <a:latin typeface="Courier New"/>
              </a:rPr>
              <a:t>from sklearn.model_selection import cross_val_score</a:t>
            </a:r>
          </a:p>
          <a:p>
            <a:pPr algn="l">
              <a:lnSpc>
                <a:spcPts val="1795"/>
              </a:lnSpc>
              <a:spcAft>
                <a:spcPts val="0"/>
              </a:spcAft>
            </a:pPr>
            <a:r>
              <a:rPr sz="1320" b="0" i="0">
                <a:solidFill>
                  <a:srgbClr val="D8E3EC"/>
                </a:solidFill>
                <a:latin typeface="Courier New"/>
              </a:rPr>
              <a:t>from sklearn.pipeline import Pipeline</a:t>
            </a:r>
          </a:p>
          <a:p>
            <a:pPr algn="l">
              <a:lnSpc>
                <a:spcPts val="1795"/>
              </a:lnSpc>
              <a:spcAft>
                <a:spcPts val="0"/>
              </a:spcAft>
            </a:pPr>
            <a:r>
              <a:rPr sz="1320" b="0" i="0">
                <a:solidFill>
                  <a:srgbClr val="D8E3EC"/>
                </a:solidFill>
                <a:latin typeface="Courier New"/>
              </a:rPr>
              <a:t>from sklearn.preprocessing import StandardScaler</a:t>
            </a:r>
          </a:p>
          <a:p>
            <a:pPr algn="l">
              <a:lnSpc>
                <a:spcPts val="1795"/>
              </a:lnSpc>
              <a:spcAft>
                <a:spcPts val="0"/>
              </a:spcAft>
            </a:pPr>
            <a:r>
              <a:rPr sz="1320" b="0" i="0">
                <a:solidFill>
                  <a:srgbClr val="D8E3EC"/>
                </a:solidFill>
                <a:latin typeface="Courier New"/>
              </a:rPr>
              <a:t>from sklearn.linear_model import LinearRegression</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 CORRECT: scaling happens inside the pipeline, so it is</a:t>
            </a:r>
          </a:p>
          <a:p>
            <a:pPr algn="l">
              <a:lnSpc>
                <a:spcPts val="1795"/>
              </a:lnSpc>
              <a:spcAft>
                <a:spcPts val="0"/>
              </a:spcAft>
            </a:pPr>
            <a:r>
              <a:rPr sz="1320" b="0" i="0">
                <a:solidFill>
                  <a:srgbClr val="D8E3EC"/>
                </a:solidFill>
                <a:latin typeface="Courier New"/>
              </a:rPr>
              <a:t># fitted on each training fold only.</a:t>
            </a:r>
          </a:p>
          <a:p>
            <a:pPr algn="l">
              <a:lnSpc>
                <a:spcPts val="1795"/>
              </a:lnSpc>
              <a:spcAft>
                <a:spcPts val="0"/>
              </a:spcAft>
            </a:pPr>
            <a:r>
              <a:rPr sz="1320" b="0" i="0">
                <a:solidFill>
                  <a:srgbClr val="D8E3EC"/>
                </a:solidFill>
                <a:latin typeface="Courier New"/>
              </a:rPr>
              <a:t>pipe = Pipeline([("scale", StandardScaler()),</a:t>
            </a:r>
          </a:p>
          <a:p>
            <a:pPr algn="l">
              <a:lnSpc>
                <a:spcPts val="1795"/>
              </a:lnSpc>
              <a:spcAft>
                <a:spcPts val="0"/>
              </a:spcAft>
            </a:pPr>
            <a:r>
              <a:rPr sz="1320" b="0" i="0">
                <a:solidFill>
                  <a:srgbClr val="D8E3EC"/>
                </a:solidFill>
                <a:latin typeface="Courier New"/>
              </a:rPr>
              <a:t>                 ("model", LinearRegression())])</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scores = -cross_val_score(pipe, X_tr, y_tr, cv=5,</a:t>
            </a:r>
          </a:p>
          <a:p>
            <a:pPr algn="l">
              <a:lnSpc>
                <a:spcPts val="1795"/>
              </a:lnSpc>
              <a:spcAft>
                <a:spcPts val="0"/>
              </a:spcAft>
            </a:pPr>
            <a:r>
              <a:rPr sz="1320" b="0" i="0">
                <a:solidFill>
                  <a:srgbClr val="D8E3EC"/>
                </a:solidFill>
                <a:latin typeface="Courier New"/>
              </a:rPr>
              <a:t>                          scoring="neg_mean_absolute_error")</a:t>
            </a:r>
          </a:p>
          <a:p>
            <a:pPr algn="l">
              <a:lnSpc>
                <a:spcPts val="1795"/>
              </a:lnSpc>
              <a:spcAft>
                <a:spcPts val="0"/>
              </a:spcAft>
            </a:pPr>
            <a:r>
              <a:rPr sz="1320" b="0" i="0">
                <a:solidFill>
                  <a:srgbClr val="D8E3EC"/>
                </a:solidFill>
                <a:latin typeface="Courier New"/>
              </a:rPr>
              <a:t>print(f"MAE {scores.mean():.2f} +/- {scores.std():.2f}")</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 NOW THE LEAK: scale everything BEFORE splitting.</a:t>
            </a:r>
          </a:p>
          <a:p>
            <a:pPr algn="l">
              <a:lnSpc>
                <a:spcPts val="1795"/>
              </a:lnSpc>
              <a:spcAft>
                <a:spcPts val="0"/>
              </a:spcAft>
            </a:pPr>
            <a:r>
              <a:rPr sz="1320" b="0" i="0">
                <a:solidFill>
                  <a:srgbClr val="D8E3EC"/>
                </a:solidFill>
                <a:latin typeface="Courier New"/>
              </a:rPr>
              <a:t>X_all = StandardScaler().fit_transform(X)   # sees the test rows</a:t>
            </a:r>
          </a:p>
          <a:p>
            <a:pPr algn="l">
              <a:lnSpc>
                <a:spcPts val="1795"/>
              </a:lnSpc>
              <a:spcAft>
                <a:spcPts val="0"/>
              </a:spcAft>
            </a:pPr>
            <a:r>
              <a:rPr sz="1320" b="0" i="0">
                <a:solidFill>
                  <a:srgbClr val="D8E3EC"/>
                </a:solidFill>
                <a:latin typeface="Courier New"/>
              </a:rPr>
              <a:t># ... refit and rescore, and watch the number improve dishonestly.</a:t>
            </a:r>
          </a:p>
        </p:txBody>
      </p:sp>
      <p:sp>
        <p:nvSpPr>
          <p:cNvPr id="7" name="Rounded Rectangle 6"/>
          <p:cNvSpPr/>
          <p:nvPr/>
        </p:nvSpPr>
        <p:spPr>
          <a:xfrm>
            <a:off x="685800" y="5374839"/>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383983"/>
            <a:ext cx="7208215" cy="1336856"/>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Run the leaking version and compare. The score improves, and it is now a lie: the scaler learned the mean and spread of the test rows, so information crossed the split. Then add a column that is only known after the outcome and watch the score become impossible.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Data leakage: four kinds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failure that produces a model which looks excellent and is worthless.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LEAKAGE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kinds of leakage</a:t>
            </a:r>
          </a:p>
        </p:txBody>
      </p:sp>
      <p:pic>
        <p:nvPicPr>
          <p:cNvPr id="4" name="Picture 3" descr="leakage_types.png"/>
          <p:cNvPicPr>
            <a:picLocks noChangeAspect="1"/>
          </p:cNvPicPr>
          <p:nvPr/>
        </p:nvPicPr>
        <p:blipFill>
          <a:blip r:embed="rId2"/>
          <a:stretch>
            <a:fillRect/>
          </a:stretch>
        </p:blipFill>
        <p:spPr>
          <a:xfrm>
            <a:off x="685800" y="2367456"/>
            <a:ext cx="10820095" cy="3101493"/>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Information reaching the model that it will not have in service. Contamination across the split, a target that hides in a feature, using the future to predict the past, and the same physical unit appearing on both sides of the split.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MADE CONCRETE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four kinds, in your own data</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Target leakage — a feature that contains the answer</a:t>
            </a:r>
          </a:p>
        </p:txBody>
      </p:sp>
      <p:sp>
        <p:nvSpPr>
          <p:cNvPr id="5" name="TextBox 4"/>
          <p:cNvSpPr txBox="1"/>
          <p:nvPr/>
        </p:nvSpPr>
        <p:spPr>
          <a:xfrm>
            <a:off x="685800" y="2298945"/>
            <a:ext cx="5158587" cy="870943"/>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 maintenance-action column left among the features while predicting failure. The model reports a near-perfect score and cannot predict anything in service.</a:t>
            </a:r>
          </a:p>
        </p:txBody>
      </p:sp>
      <p:sp>
        <p:nvSpPr>
          <p:cNvPr id="6" name="TextBox 5"/>
          <p:cNvSpPr txBox="1"/>
          <p:nvPr/>
        </p:nvSpPr>
        <p:spPr>
          <a:xfrm>
            <a:off x="685800" y="3398488"/>
            <a:ext cx="5158587" cy="702546"/>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Contamination across the split — preparation done too early</a:t>
            </a:r>
          </a:p>
        </p:txBody>
      </p:sp>
      <p:sp>
        <p:nvSpPr>
          <p:cNvPr id="7" name="TextBox 6"/>
          <p:cNvSpPr txBox="1"/>
          <p:nvPr/>
        </p:nvSpPr>
        <p:spPr>
          <a:xfrm>
            <a:off x="685800" y="4110178"/>
            <a:ext cx="5158587" cy="1142970"/>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the vibration and temperature columns scaled across the whole file before the split, so the scaler had already measured every test row. Fit every transformation inside a Pipeline so it only ever sees the training part.</a:t>
            </a:r>
          </a:p>
        </p:txBody>
      </p:sp>
      <p:sp>
        <p:nvSpPr>
          <p:cNvPr id="8" name="TextBox 7"/>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Group leakage — the same physical thing on both sides</a:t>
            </a:r>
          </a:p>
        </p:txBody>
      </p:sp>
      <p:sp>
        <p:nvSpPr>
          <p:cNvPr id="9" name="TextBox 8"/>
          <p:cNvSpPr txBox="1"/>
          <p:nvPr/>
        </p:nvSpPr>
        <p:spPr>
          <a:xfrm>
            <a:off x="6347307" y="2298945"/>
            <a:ext cx="5158587" cy="1142970"/>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 machine identifier that encodes which units were already known to be failing. Rows from one machine are near-copies, because consecutive hours from one machine are almost the same reading twice. Split by machine rather than by row.</a:t>
            </a:r>
          </a:p>
        </p:txBody>
      </p:sp>
      <p:sp>
        <p:nvSpPr>
          <p:cNvPr id="10" name="TextBox 9"/>
          <p:cNvSpPr txBox="1"/>
          <p:nvPr/>
        </p:nvSpPr>
        <p:spPr>
          <a:xfrm>
            <a:off x="6347307" y="367051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Temporal leakage — using the future to predict the past</a:t>
            </a:r>
          </a:p>
        </p:txBody>
      </p:sp>
      <p:sp>
        <p:nvSpPr>
          <p:cNvPr id="11" name="TextBox 10"/>
          <p:cNvSpPr txBox="1"/>
          <p:nvPr/>
        </p:nvSpPr>
        <p:spPr>
          <a:xfrm>
            <a:off x="6347307" y="4058364"/>
            <a:ext cx="5158587" cy="870943"/>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Any time-ordered data split at random puts later rows in the training set and earlier rows in the test set. Split by time instead: train on the earlier period, test on the later one.</a:t>
            </a:r>
          </a:p>
        </p:txBody>
      </p:sp>
      <p:sp>
        <p:nvSpPr>
          <p:cNvPr id="12" name="TextBox 11"/>
          <p:cNvSpPr txBox="1"/>
          <p:nvPr/>
        </p:nvSpPr>
        <p:spPr>
          <a:xfrm>
            <a:off x="6347307" y="5157907"/>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The one question that catches most of it</a:t>
            </a:r>
          </a:p>
        </p:txBody>
      </p:sp>
      <p:sp>
        <p:nvSpPr>
          <p:cNvPr id="13" name="TextBox 12"/>
          <p:cNvSpPr txBox="1"/>
          <p:nvPr/>
        </p:nvSpPr>
        <p:spPr>
          <a:xfrm>
            <a:off x="6347307" y="5545756"/>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For every feature: would I have this value, at this moment, before the outcome is known? If not, it cannot be a feature.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SIZE OF THE EFFECT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a leak does to your score</a:t>
            </a:r>
          </a:p>
        </p:txBody>
      </p:sp>
      <p:pic>
        <p:nvPicPr>
          <p:cNvPr id="4" name="Picture 3" descr="leakage_score.png"/>
          <p:cNvPicPr>
            <a:picLocks noChangeAspect="1"/>
          </p:cNvPicPr>
          <p:nvPr/>
        </p:nvPicPr>
        <p:blipFill>
          <a:blip r:embed="rId2"/>
          <a:stretch>
            <a:fillRect/>
          </a:stretch>
        </p:blipFill>
        <p:spPr>
          <a:xfrm>
            <a:off x="866298" y="1911095"/>
            <a:ext cx="10459098"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same model and the same data, split two ways. Splitting by row gives an R-squared of 0.987. Splitting by group gives 0.557. The first number is the one you would have reported.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Challenge: too good to be true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 notebook reporting an R-squared of 0.998. Find out why.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Too good to be true</a:t>
            </a:r>
          </a:p>
        </p:txBody>
      </p:sp>
      <p:sp>
        <p:nvSpPr>
          <p:cNvPr id="4" name="Rounded Rectangle 3"/>
          <p:cNvSpPr/>
          <p:nvPr/>
        </p:nvSpPr>
        <p:spPr>
          <a:xfrm>
            <a:off x="685800" y="1911095"/>
            <a:ext cx="10820095" cy="1517904"/>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1152143"/>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Your team is given a notebook that reports an R-squared of 0.998 on AI4I 2020 Predictive Maintenance.</a:t>
            </a:r>
          </a:p>
          <a:p>
            <a:pPr algn="l">
              <a:lnSpc>
                <a:spcPct val="125000"/>
              </a:lnSpc>
              <a:spcAft>
                <a:spcPts val="600"/>
              </a:spcAft>
            </a:pPr>
            <a:r>
              <a:rPr sz="1923" b="0" i="0">
                <a:solidFill>
                  <a:srgbClr val="1C3144"/>
                </a:solidFill>
                <a:latin typeface="Calibri"/>
              </a:rPr>
              <a:t>The code runs. There is no error. The score is impossible.</a:t>
            </a:r>
          </a:p>
          <a:p>
            <a:pPr algn="l">
              <a:lnSpc>
                <a:spcPct val="125000"/>
              </a:lnSpc>
              <a:spcAft>
                <a:spcPts val="600"/>
              </a:spcAft>
            </a:pPr>
            <a:r>
              <a:rPr sz="1923" b="0" i="0">
                <a:solidFill>
                  <a:srgbClr val="1C3144"/>
                </a:solidFill>
                <a:latin typeface="Calibri"/>
              </a:rPr>
              <a:t>Find out why, prove it with evidence, and rebuild the workflow so it reports an honest number. Thirty minutes, no hints from me.</a:t>
            </a:r>
          </a:p>
        </p:txBody>
      </p:sp>
      <p:sp>
        <p:nvSpPr>
          <p:cNvPr id="6" name="TextBox 5"/>
          <p:cNvSpPr txBox="1"/>
          <p:nvPr/>
        </p:nvSpPr>
        <p:spPr>
          <a:xfrm>
            <a:off x="685800" y="3739896"/>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416052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Is this score plausible for this problem at all?</a:t>
            </a:r>
          </a:p>
        </p:txBody>
      </p:sp>
      <p:sp>
        <p:nvSpPr>
          <p:cNvPr id="8" name="TextBox 7"/>
          <p:cNvSpPr txBox="1"/>
          <p:nvPr/>
        </p:nvSpPr>
        <p:spPr>
          <a:xfrm>
            <a:off x="685800" y="458114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Which columns went into the model?</a:t>
            </a:r>
          </a:p>
        </p:txBody>
      </p:sp>
      <p:sp>
        <p:nvSpPr>
          <p:cNvPr id="9" name="TextBox 8"/>
          <p:cNvSpPr txBox="1"/>
          <p:nvPr/>
        </p:nvSpPr>
        <p:spPr>
          <a:xfrm>
            <a:off x="685800" y="500176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For each one: would you have it before the outcome?</a:t>
            </a:r>
          </a:p>
        </p:txBody>
      </p:sp>
      <p:sp>
        <p:nvSpPr>
          <p:cNvPr id="10" name="TextBox 9"/>
          <p:cNvSpPr txBox="1"/>
          <p:nvPr/>
        </p:nvSpPr>
        <p:spPr>
          <a:xfrm>
            <a:off x="6278727" y="416052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When was the split made, relative to everything else?</a:t>
            </a:r>
          </a:p>
        </p:txBody>
      </p:sp>
      <p:sp>
        <p:nvSpPr>
          <p:cNvPr id="11" name="TextBox 10"/>
          <p:cNvSpPr txBox="1"/>
          <p:nvPr/>
        </p:nvSpPr>
        <p:spPr>
          <a:xfrm>
            <a:off x="6278727" y="458114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Are any rows near-copies of each other?</a:t>
            </a:r>
          </a:p>
        </p:txBody>
      </p:sp>
      <p:sp>
        <p:nvSpPr>
          <p:cNvPr id="12" name="TextBox 11"/>
          <p:cNvSpPr txBox="1"/>
          <p:nvPr/>
        </p:nvSpPr>
        <p:spPr>
          <a:xfrm>
            <a:off x="6278727" y="500176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does the honest score turn out to be?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MILESTONE 1</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Project Milestone 1 — reviewed today</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What you bring to the review</a:t>
            </a:r>
          </a:p>
        </p:txBody>
      </p:sp>
      <p:sp>
        <p:nvSpPr>
          <p:cNvPr id="5" name="TextBox 4"/>
          <p:cNvSpPr txBox="1"/>
          <p:nvPr/>
        </p:nvSpPr>
        <p:spPr>
          <a:xfrm>
            <a:off x="685800" y="2409332"/>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A problem statement: the engineering problem, the ML task derived from it, and the named target column.</a:t>
            </a:r>
          </a:p>
        </p:txBody>
      </p:sp>
      <p:sp>
        <p:nvSpPr>
          <p:cNvPr id="6" name="TextBox 5"/>
          <p:cNvSpPr txBox="1"/>
          <p:nvPr/>
        </p:nvSpPr>
        <p:spPr>
          <a:xfrm>
            <a:off x="685800" y="3230742"/>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Your dataset, with its provenance and licence stated.</a:t>
            </a:r>
          </a:p>
        </p:txBody>
      </p:sp>
      <p:sp>
        <p:nvSpPr>
          <p:cNvPr id="7" name="TextBox 6"/>
          <p:cNvSpPr txBox="1"/>
          <p:nvPr/>
        </p:nvSpPr>
        <p:spPr>
          <a:xfrm>
            <a:off x="685800" y="4052152"/>
            <a:ext cx="5204307" cy="1126959"/>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A baseline notebook: the split, a trivial baseline, and one simple model, with the score reported as a mean and a spread.</a:t>
            </a:r>
          </a:p>
        </p:txBody>
      </p:sp>
      <p:sp>
        <p:nvSpPr>
          <p:cNvPr id="8" name="TextBox 7"/>
          <p:cNvSpPr txBox="1"/>
          <p:nvPr/>
        </p:nvSpPr>
        <p:spPr>
          <a:xfrm>
            <a:off x="685800" y="5233975"/>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An individual contribution log in the repository, consistent with the commit history.</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And one new requirement</a:t>
            </a:r>
          </a:p>
        </p:txBody>
      </p:sp>
      <p:sp>
        <p:nvSpPr>
          <p:cNvPr id="11" name="TextBox 10"/>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A conditions-of-use paragraph.</a:t>
            </a:r>
          </a:p>
        </p:txBody>
      </p:sp>
      <p:sp>
        <p:nvSpPr>
          <p:cNvPr id="12" name="TextBox 11"/>
          <p:cNvSpPr txBox="1"/>
          <p:nvPr/>
        </p:nvSpPr>
        <p:spPr>
          <a:xfrm>
            <a:off x="6575907" y="3025401"/>
            <a:ext cx="4655667" cy="974621"/>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State the range your data covers, the assumptions your model makes, and the circumstances in which it should not be relied on.</a:t>
            </a:r>
          </a:p>
        </p:txBody>
      </p:sp>
      <p:sp>
        <p:nvSpPr>
          <p:cNvPr id="13" name="TextBox 12"/>
          <p:cNvSpPr txBox="1"/>
          <p:nvPr/>
        </p:nvSpPr>
        <p:spPr>
          <a:xfrm>
            <a:off x="6575907" y="4173759"/>
            <a:ext cx="4655667" cy="974621"/>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That paragraph is what turns a score into a piece of engineering, and it carries marks under validation.</a:t>
            </a:r>
          </a:p>
        </p:txBody>
      </p:sp>
      <p:sp>
        <p:nvSpPr>
          <p:cNvPr id="14" name="TextBox 13"/>
          <p:cNvSpPr txBox="1"/>
          <p:nvPr/>
        </p:nvSpPr>
        <p:spPr>
          <a:xfrm>
            <a:off x="6575907" y="5322117"/>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PM2 is due in Week 12.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Record the training score and the test score for every model. Both poor means underfitting; a large gap means overfitting; both suspiciously good means look for leakage.</a:t>
            </a:r>
          </a:p>
        </p:txBody>
      </p:sp>
      <p:sp>
        <p:nvSpPr>
          <p:cNvPr id="6" name="Oval 5"/>
          <p:cNvSpPr/>
          <p:nvPr/>
        </p:nvSpPr>
        <p:spPr>
          <a:xfrm>
            <a:off x="685800" y="268891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634046"/>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Training error always prefers the most complex model, so you cannot choose complexity with it.</a:t>
            </a:r>
          </a:p>
        </p:txBody>
      </p:sp>
      <p:sp>
        <p:nvSpPr>
          <p:cNvPr id="8" name="Oval 7"/>
          <p:cNvSpPr/>
          <p:nvPr/>
        </p:nvSpPr>
        <p:spPr>
          <a:xfrm>
            <a:off x="685800" y="312353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068673"/>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single train/test split is one noisy measurement. Cross-validation gives you a mean and a spread.</a:t>
            </a:r>
          </a:p>
        </p:txBody>
      </p:sp>
      <p:sp>
        <p:nvSpPr>
          <p:cNvPr id="10" name="Oval 9"/>
          <p:cNvSpPr/>
          <p:nvPr/>
        </p:nvSpPr>
        <p:spPr>
          <a:xfrm>
            <a:off x="685800" y="355816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503300"/>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Report the spread. Two models whose scores differ by less than the spread are not distinguishable.</a:t>
            </a:r>
          </a:p>
        </p:txBody>
      </p:sp>
      <p:sp>
        <p:nvSpPr>
          <p:cNvPr id="12" name="Oval 11"/>
          <p:cNvSpPr/>
          <p:nvPr/>
        </p:nvSpPr>
        <p:spPr>
          <a:xfrm>
            <a:off x="685800" y="399279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3937927"/>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Cross-validate on the training data to make choices. Spend the test set once, at the end.</a:t>
            </a:r>
          </a:p>
        </p:txBody>
      </p:sp>
      <p:sp>
        <p:nvSpPr>
          <p:cNvPr id="14" name="Oval 13"/>
          <p:cNvSpPr/>
          <p:nvPr/>
        </p:nvSpPr>
        <p:spPr>
          <a:xfrm>
            <a:off x="685800" y="4427418"/>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372554"/>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Four kinds of leakage: target, contamination across the split, group, and temporal. All four produce a score better than the problem allows.</a:t>
            </a:r>
          </a:p>
        </p:txBody>
      </p:sp>
      <p:sp>
        <p:nvSpPr>
          <p:cNvPr id="16" name="Oval 15"/>
          <p:cNvSpPr/>
          <p:nvPr/>
        </p:nvSpPr>
        <p:spPr>
          <a:xfrm>
            <a:off x="685800" y="5150368"/>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095504"/>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For every feature ask: would I have this value before the outcome is known? If not, it is not a feature.</a:t>
            </a:r>
          </a:p>
        </p:txBody>
      </p:sp>
      <p:sp>
        <p:nvSpPr>
          <p:cNvPr id="18" name="Oval 17"/>
          <p:cNvSpPr/>
          <p:nvPr/>
        </p:nvSpPr>
        <p:spPr>
          <a:xfrm>
            <a:off x="685800" y="558499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530131"/>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Pipeline prevents contamination structurally, by fitting every step on the training part only.</a:t>
            </a:r>
          </a:p>
        </p:txBody>
      </p:sp>
      <p:sp>
        <p:nvSpPr>
          <p:cNvPr id="20" name="Oval 19"/>
          <p:cNvSpPr/>
          <p:nvPr/>
        </p:nvSpPr>
        <p:spPr>
          <a:xfrm>
            <a:off x="685800" y="6019622"/>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5964758"/>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An unexpectedly excellent score is evidence of a leak until you have ruled one out.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write something for each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Training R-squared 0.99, test R-squared 0.62. Name the problem and one fix.</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Training MAE 8.4, test MAE 8.6, both poor. Name the problem and one fix.</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Cross-validated MAE 4.30 plus or minus 0.39 for model A, 4.20 plus or minus 0.39 for model B. Which do you choose?</a:t>
            </a:r>
          </a:p>
        </p:txBody>
      </p:sp>
      <p:sp>
        <p:nvSpPr>
          <p:cNvPr id="10" name="Oval 9"/>
          <p:cNvSpPr/>
          <p:nvPr/>
        </p:nvSpPr>
        <p:spPr>
          <a:xfrm>
            <a:off x="685800" y="391935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88278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have sensor data with a timestamp and you split it at random. What have you done wrong?</a:t>
            </a:r>
          </a:p>
        </p:txBody>
      </p:sp>
      <p:sp>
        <p:nvSpPr>
          <p:cNvPr id="12" name="Oval 11"/>
          <p:cNvSpPr/>
          <p:nvPr/>
        </p:nvSpPr>
        <p:spPr>
          <a:xfrm>
            <a:off x="685800" y="4457999"/>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421423"/>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model reports 0.998 and the code has no error. What is your first hypothesis, and what is the single most useful question to ask next?</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 Question E is the one that matters most.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0.99 training, 0.62 test?</a:t>
            </a:r>
          </a:p>
        </p:txBody>
      </p:sp>
      <p:sp>
        <p:nvSpPr>
          <p:cNvPr id="6" name="TextBox 5"/>
          <p:cNvSpPr txBox="1"/>
          <p:nvPr/>
        </p:nvSpPr>
        <p:spPr>
          <a:xfrm>
            <a:off x="1216152" y="220370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Overfitting — a generalisation gap of 0.37. The model has learned these particular rows. Reduce the flexibility: cap the tree depth, lower the polynomial degree, or add regularisation. Then check the gap again.</a:t>
            </a:r>
          </a:p>
        </p:txBody>
      </p:sp>
      <p:sp>
        <p:nvSpPr>
          <p:cNvPr id="7" name="Oval 6"/>
          <p:cNvSpPr/>
          <p:nvPr/>
        </p:nvSpPr>
        <p:spPr>
          <a:xfrm>
            <a:off x="685800" y="33575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3210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8.4 and 8.6, both poor?</a:t>
            </a:r>
          </a:p>
        </p:txBody>
      </p:sp>
      <p:sp>
        <p:nvSpPr>
          <p:cNvPr id="9" name="TextBox 8"/>
          <p:cNvSpPr txBox="1"/>
          <p:nvPr/>
        </p:nvSpPr>
        <p:spPr>
          <a:xfrm>
            <a:off x="1216152" y="3613623"/>
            <a:ext cx="4614519" cy="131891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Underfitting. The two scores agree, so nothing is being memorised — the model is simply too simple, or the features do not carry the signal. Try a more flexible model, and engineer better features, which is next week. If neither helps, you may have Week 1's limit two.</a:t>
            </a:r>
          </a:p>
        </p:txBody>
      </p:sp>
      <p:sp>
        <p:nvSpPr>
          <p:cNvPr id="10" name="Oval 9"/>
          <p:cNvSpPr/>
          <p:nvPr/>
        </p:nvSpPr>
        <p:spPr>
          <a:xfrm>
            <a:off x="685800" y="50056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9691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4.30 ± 0.39 against 4.20 ± 0.39?</a:t>
            </a:r>
          </a:p>
        </p:txBody>
      </p:sp>
      <p:sp>
        <p:nvSpPr>
          <p:cNvPr id="12" name="TextBox 11"/>
          <p:cNvSpPr txBox="1"/>
          <p:nvPr/>
        </p:nvSpPr>
        <p:spPr>
          <a:xfrm>
            <a:off x="1216152" y="526172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You have no evidence that B is better. The 0.10 difference is well inside the spread of either estimate. Choose on another ground — interpretability, cost, data requirements — and say that is what you did.</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Random split on timestamped data?</a:t>
            </a:r>
          </a:p>
        </p:txBody>
      </p:sp>
      <p:sp>
        <p:nvSpPr>
          <p:cNvPr id="15" name="TextBox 14"/>
          <p:cNvSpPr txBox="1"/>
          <p:nvPr/>
        </p:nvSpPr>
        <p:spPr>
          <a:xfrm>
            <a:off x="6854799" y="220370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Temporal leakage. Later rows are in the training set and earlier rows in the test set, so the model is using the future to predict the past. In service it will never have that. Split by time: train on the earlier period, test on the later one.</a:t>
            </a:r>
          </a:p>
        </p:txBody>
      </p:sp>
      <p:sp>
        <p:nvSpPr>
          <p:cNvPr id="16" name="Oval 15"/>
          <p:cNvSpPr/>
          <p:nvPr/>
        </p:nvSpPr>
        <p:spPr>
          <a:xfrm>
            <a:off x="6324447" y="33575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3210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0.998 with no error?</a:t>
            </a:r>
          </a:p>
        </p:txBody>
      </p:sp>
      <p:sp>
        <p:nvSpPr>
          <p:cNvPr id="18" name="TextBox 17"/>
          <p:cNvSpPr txBox="1"/>
          <p:nvPr/>
        </p:nvSpPr>
        <p:spPr>
          <a:xfrm>
            <a:off x="6854799" y="3613623"/>
            <a:ext cx="4614519" cy="131891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First hypothesis: leakage, because the score is better than the problem allows. The most useful next question is the timing question, asked of every feature — would I have this value before the outcome is known? That single question finds target leakage, which is the commonest and the most destructive of the four.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a:t>
            </a:r>
          </a:p>
        </p:txBody>
      </p:sp>
      <p:sp>
        <p:nvSpPr>
          <p:cNvPr id="4" name="TextBox 3"/>
          <p:cNvSpPr txBox="1"/>
          <p:nvPr/>
        </p:nvSpPr>
        <p:spPr>
          <a:xfrm>
            <a:off x="685800"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Generalisation</a:t>
            </a:r>
          </a:p>
        </p:txBody>
      </p:sp>
      <p:sp>
        <p:nvSpPr>
          <p:cNvPr id="5" name="TextBox 4"/>
          <p:cNvSpPr txBox="1"/>
          <p:nvPr/>
        </p:nvSpPr>
        <p:spPr>
          <a:xfrm>
            <a:off x="685800"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Whether a model works on data it never saw. The only thing that matters.</a:t>
            </a:r>
          </a:p>
        </p:txBody>
      </p:sp>
      <p:sp>
        <p:nvSpPr>
          <p:cNvPr id="6" name="TextBox 5"/>
          <p:cNvSpPr txBox="1"/>
          <p:nvPr/>
        </p:nvSpPr>
        <p:spPr>
          <a:xfrm>
            <a:off x="685800"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Underfitting</a:t>
            </a:r>
          </a:p>
        </p:txBody>
      </p:sp>
      <p:sp>
        <p:nvSpPr>
          <p:cNvPr id="7" name="TextBox 6"/>
          <p:cNvSpPr txBox="1"/>
          <p:nvPr/>
        </p:nvSpPr>
        <p:spPr>
          <a:xfrm>
            <a:off x="685800"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Too simple to capture the relationship. Both scores poor and close together.</a:t>
            </a:r>
          </a:p>
        </p:txBody>
      </p:sp>
      <p:sp>
        <p:nvSpPr>
          <p:cNvPr id="8" name="TextBox 7"/>
          <p:cNvSpPr txBox="1"/>
          <p:nvPr/>
        </p:nvSpPr>
        <p:spPr>
          <a:xfrm>
            <a:off x="685800"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Overfitting</a:t>
            </a:r>
          </a:p>
        </p:txBody>
      </p:sp>
      <p:sp>
        <p:nvSpPr>
          <p:cNvPr id="9" name="TextBox 8"/>
          <p:cNvSpPr txBox="1"/>
          <p:nvPr/>
        </p:nvSpPr>
        <p:spPr>
          <a:xfrm>
            <a:off x="685800"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Learned the training rows including their noise. Large gap between the scores.</a:t>
            </a:r>
          </a:p>
        </p:txBody>
      </p:sp>
      <p:sp>
        <p:nvSpPr>
          <p:cNvPr id="10" name="TextBox 9"/>
          <p:cNvSpPr txBox="1"/>
          <p:nvPr/>
        </p:nvSpPr>
        <p:spPr>
          <a:xfrm>
            <a:off x="685800"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Generalisation gap</a:t>
            </a:r>
          </a:p>
        </p:txBody>
      </p:sp>
      <p:sp>
        <p:nvSpPr>
          <p:cNvPr id="11" name="TextBox 10"/>
          <p:cNvSpPr txBox="1"/>
          <p:nvPr/>
        </p:nvSpPr>
        <p:spPr>
          <a:xfrm>
            <a:off x="685800"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Training score minus test score. The size of the memorisation.</a:t>
            </a:r>
          </a:p>
        </p:txBody>
      </p:sp>
      <p:sp>
        <p:nvSpPr>
          <p:cNvPr id="12" name="TextBox 11"/>
          <p:cNvSpPr txBox="1"/>
          <p:nvPr/>
        </p:nvSpPr>
        <p:spPr>
          <a:xfrm>
            <a:off x="685800"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Model complexity</a:t>
            </a:r>
          </a:p>
        </p:txBody>
      </p:sp>
      <p:sp>
        <p:nvSpPr>
          <p:cNvPr id="13" name="TextBox 12"/>
          <p:cNvSpPr txBox="1"/>
          <p:nvPr/>
        </p:nvSpPr>
        <p:spPr>
          <a:xfrm>
            <a:off x="685800"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How flexible a model is. Tree depth, polynomial degree, number of parameters.</a:t>
            </a:r>
          </a:p>
        </p:txBody>
      </p:sp>
      <p:sp>
        <p:nvSpPr>
          <p:cNvPr id="14" name="TextBox 13"/>
          <p:cNvSpPr txBox="1"/>
          <p:nvPr/>
        </p:nvSpPr>
        <p:spPr>
          <a:xfrm>
            <a:off x="685800"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Validation curve</a:t>
            </a:r>
          </a:p>
        </p:txBody>
      </p:sp>
      <p:sp>
        <p:nvSpPr>
          <p:cNvPr id="15" name="TextBox 14"/>
          <p:cNvSpPr txBox="1"/>
          <p:nvPr/>
        </p:nvSpPr>
        <p:spPr>
          <a:xfrm>
            <a:off x="685800"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Training and test error plotted against complexity. Shows where the minimum is.</a:t>
            </a:r>
          </a:p>
        </p:txBody>
      </p:sp>
      <p:sp>
        <p:nvSpPr>
          <p:cNvPr id="16" name="TextBox 15"/>
          <p:cNvSpPr txBox="1"/>
          <p:nvPr/>
        </p:nvSpPr>
        <p:spPr>
          <a:xfrm>
            <a:off x="685800"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Cross-validation</a:t>
            </a:r>
          </a:p>
        </p:txBody>
      </p:sp>
      <p:sp>
        <p:nvSpPr>
          <p:cNvPr id="17" name="TextBox 16"/>
          <p:cNvSpPr txBox="1"/>
          <p:nvPr/>
        </p:nvSpPr>
        <p:spPr>
          <a:xfrm>
            <a:off x="685800"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Fit k times, holding out a different part each time. Gives a mean and a spread.</a:t>
            </a:r>
          </a:p>
        </p:txBody>
      </p:sp>
      <p:sp>
        <p:nvSpPr>
          <p:cNvPr id="18" name="TextBox 17"/>
          <p:cNvSpPr txBox="1"/>
          <p:nvPr/>
        </p:nvSpPr>
        <p:spPr>
          <a:xfrm>
            <a:off x="685800"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k-fold</a:t>
            </a:r>
          </a:p>
        </p:txBody>
      </p:sp>
      <p:sp>
        <p:nvSpPr>
          <p:cNvPr id="19" name="TextBox 18"/>
          <p:cNvSpPr txBox="1"/>
          <p:nvPr/>
        </p:nvSpPr>
        <p:spPr>
          <a:xfrm>
            <a:off x="685800"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usual scheme. k=5 or k=10.</a:t>
            </a:r>
          </a:p>
        </p:txBody>
      </p:sp>
      <p:sp>
        <p:nvSpPr>
          <p:cNvPr id="20" name="TextBox 19"/>
          <p:cNvSpPr txBox="1"/>
          <p:nvPr/>
        </p:nvSpPr>
        <p:spPr>
          <a:xfrm>
            <a:off x="685800"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StratifiedKFold</a:t>
            </a:r>
          </a:p>
        </p:txBody>
      </p:sp>
      <p:sp>
        <p:nvSpPr>
          <p:cNvPr id="21" name="TextBox 20"/>
          <p:cNvSpPr txBox="1"/>
          <p:nvPr/>
        </p:nvSpPr>
        <p:spPr>
          <a:xfrm>
            <a:off x="685800"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Folds that preserve the class balance. Use it for classification.</a:t>
            </a:r>
          </a:p>
        </p:txBody>
      </p:sp>
      <p:sp>
        <p:nvSpPr>
          <p:cNvPr id="22" name="TextBox 21"/>
          <p:cNvSpPr txBox="1"/>
          <p:nvPr/>
        </p:nvSpPr>
        <p:spPr>
          <a:xfrm>
            <a:off x="685800" y="582015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Fold</a:t>
            </a:r>
          </a:p>
        </p:txBody>
      </p:sp>
      <p:sp>
        <p:nvSpPr>
          <p:cNvPr id="23" name="TextBox 22"/>
          <p:cNvSpPr txBox="1"/>
          <p:nvPr/>
        </p:nvSpPr>
        <p:spPr>
          <a:xfrm>
            <a:off x="685800" y="60044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of the k parts.</a:t>
            </a:r>
          </a:p>
        </p:txBody>
      </p:sp>
      <p:sp>
        <p:nvSpPr>
          <p:cNvPr id="24" name="TextBox 23"/>
          <p:cNvSpPr txBox="1"/>
          <p:nvPr/>
        </p:nvSpPr>
        <p:spPr>
          <a:xfrm>
            <a:off x="6324447"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Validation set</a:t>
            </a:r>
          </a:p>
        </p:txBody>
      </p:sp>
      <p:sp>
        <p:nvSpPr>
          <p:cNvPr id="25" name="TextBox 24"/>
          <p:cNvSpPr txBox="1"/>
          <p:nvPr/>
        </p:nvSpPr>
        <p:spPr>
          <a:xfrm>
            <a:off x="6324447"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Data used to make choices during development, keeping the test set untouched.</a:t>
            </a:r>
          </a:p>
        </p:txBody>
      </p:sp>
      <p:sp>
        <p:nvSpPr>
          <p:cNvPr id="26" name="TextBox 25"/>
          <p:cNvSpPr txBox="1"/>
          <p:nvPr/>
        </p:nvSpPr>
        <p:spPr>
          <a:xfrm>
            <a:off x="6324447"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Spread (standard deviation)</a:t>
            </a:r>
          </a:p>
        </p:txBody>
      </p:sp>
      <p:sp>
        <p:nvSpPr>
          <p:cNvPr id="27" name="TextBox 26"/>
          <p:cNvSpPr txBox="1"/>
          <p:nvPr/>
        </p:nvSpPr>
        <p:spPr>
          <a:xfrm>
            <a:off x="6324447"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How much the score moves between folds. Report it always.</a:t>
            </a:r>
          </a:p>
        </p:txBody>
      </p:sp>
      <p:sp>
        <p:nvSpPr>
          <p:cNvPr id="28" name="TextBox 27"/>
          <p:cNvSpPr txBox="1"/>
          <p:nvPr/>
        </p:nvSpPr>
        <p:spPr>
          <a:xfrm>
            <a:off x="6324447"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Data leakage</a:t>
            </a:r>
          </a:p>
        </p:txBody>
      </p:sp>
      <p:sp>
        <p:nvSpPr>
          <p:cNvPr id="29" name="TextBox 28"/>
          <p:cNvSpPr txBox="1"/>
          <p:nvPr/>
        </p:nvSpPr>
        <p:spPr>
          <a:xfrm>
            <a:off x="6324447"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Information reaching the model that it will not have in service.</a:t>
            </a:r>
          </a:p>
        </p:txBody>
      </p:sp>
      <p:sp>
        <p:nvSpPr>
          <p:cNvPr id="30" name="TextBox 29"/>
          <p:cNvSpPr txBox="1"/>
          <p:nvPr/>
        </p:nvSpPr>
        <p:spPr>
          <a:xfrm>
            <a:off x="6324447"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Target leakage</a:t>
            </a:r>
          </a:p>
        </p:txBody>
      </p:sp>
      <p:sp>
        <p:nvSpPr>
          <p:cNvPr id="31" name="TextBox 30"/>
          <p:cNvSpPr txBox="1"/>
          <p:nvPr/>
        </p:nvSpPr>
        <p:spPr>
          <a:xfrm>
            <a:off x="6324447"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feature that contains, or is derived from, the answer.</a:t>
            </a:r>
          </a:p>
        </p:txBody>
      </p:sp>
      <p:sp>
        <p:nvSpPr>
          <p:cNvPr id="32" name="TextBox 31"/>
          <p:cNvSpPr txBox="1"/>
          <p:nvPr/>
        </p:nvSpPr>
        <p:spPr>
          <a:xfrm>
            <a:off x="6324447"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Contamination</a:t>
            </a:r>
          </a:p>
        </p:txBody>
      </p:sp>
      <p:sp>
        <p:nvSpPr>
          <p:cNvPr id="33" name="TextBox 32"/>
          <p:cNvSpPr txBox="1"/>
          <p:nvPr/>
        </p:nvSpPr>
        <p:spPr>
          <a:xfrm>
            <a:off x="6324447"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Preparation fitted before the split, so it saw the test rows.</a:t>
            </a:r>
          </a:p>
        </p:txBody>
      </p:sp>
      <p:sp>
        <p:nvSpPr>
          <p:cNvPr id="34" name="TextBox 33"/>
          <p:cNvSpPr txBox="1"/>
          <p:nvPr/>
        </p:nvSpPr>
        <p:spPr>
          <a:xfrm>
            <a:off x="6324447"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Group leakage</a:t>
            </a:r>
          </a:p>
        </p:txBody>
      </p:sp>
      <p:sp>
        <p:nvSpPr>
          <p:cNvPr id="35" name="TextBox 34"/>
          <p:cNvSpPr txBox="1"/>
          <p:nvPr/>
        </p:nvSpPr>
        <p:spPr>
          <a:xfrm>
            <a:off x="6324447"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Near-copy rows from one physical unit on both sides of the split.</a:t>
            </a:r>
          </a:p>
        </p:txBody>
      </p:sp>
      <p:sp>
        <p:nvSpPr>
          <p:cNvPr id="36" name="TextBox 35"/>
          <p:cNvSpPr txBox="1"/>
          <p:nvPr/>
        </p:nvSpPr>
        <p:spPr>
          <a:xfrm>
            <a:off x="6324447"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Temporal leakage</a:t>
            </a:r>
          </a:p>
        </p:txBody>
      </p:sp>
      <p:sp>
        <p:nvSpPr>
          <p:cNvPr id="37" name="TextBox 36"/>
          <p:cNvSpPr txBox="1"/>
          <p:nvPr/>
        </p:nvSpPr>
        <p:spPr>
          <a:xfrm>
            <a:off x="6324447"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Training on later data and testing on earlier data.</a:t>
            </a:r>
          </a:p>
        </p:txBody>
      </p:sp>
      <p:sp>
        <p:nvSpPr>
          <p:cNvPr id="38" name="TextBox 37"/>
          <p:cNvSpPr txBox="1"/>
          <p:nvPr/>
        </p:nvSpPr>
        <p:spPr>
          <a:xfrm>
            <a:off x="6324447"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Pipeline</a:t>
            </a:r>
          </a:p>
        </p:txBody>
      </p:sp>
      <p:sp>
        <p:nvSpPr>
          <p:cNvPr id="39" name="TextBox 38"/>
          <p:cNvSpPr txBox="1"/>
          <p:nvPr/>
        </p:nvSpPr>
        <p:spPr>
          <a:xfrm>
            <a:off x="6324447"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container that fits every step on the training part only. The structural fix.</a:t>
            </a:r>
          </a:p>
        </p:txBody>
      </p:sp>
      <p:sp>
        <p:nvSpPr>
          <p:cNvPr id="40" name="TextBox 39"/>
          <p:cNvSpPr txBox="1"/>
          <p:nvPr/>
        </p:nvSpPr>
        <p:spPr>
          <a:xfrm>
            <a:off x="6324447"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Conditions of use</a:t>
            </a:r>
          </a:p>
        </p:txBody>
      </p:sp>
      <p:sp>
        <p:nvSpPr>
          <p:cNvPr id="41" name="TextBox 40"/>
          <p:cNvSpPr txBox="1"/>
          <p:nvPr/>
        </p:nvSpPr>
        <p:spPr>
          <a:xfrm>
            <a:off x="6324447"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range and assumptions under which your model may be relied 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One-page reference — validating a model honestly</a:t>
            </a:r>
          </a:p>
        </p:txBody>
      </p:sp>
      <p:sp>
        <p:nvSpPr>
          <p:cNvPr id="4" name="TextBox 3"/>
          <p:cNvSpPr txBox="1"/>
          <p:nvPr/>
        </p:nvSpPr>
        <p:spPr>
          <a:xfrm>
            <a:off x="685800" y="1911095"/>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Record both scores, always</a:t>
            </a:r>
          </a:p>
        </p:txBody>
      </p:sp>
      <p:sp>
        <p:nvSpPr>
          <p:cNvPr id="5" name="TextBox 4"/>
          <p:cNvSpPr txBox="1"/>
          <p:nvPr/>
        </p:nvSpPr>
        <p:spPr>
          <a:xfrm>
            <a:off x="685800" y="2285991"/>
            <a:ext cx="5158587" cy="573009"/>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Training and test. Without both you cannot tell underfitting from overfitting.</a:t>
            </a:r>
          </a:p>
        </p:txBody>
      </p:sp>
      <p:sp>
        <p:nvSpPr>
          <p:cNvPr id="6" name="TextBox 5"/>
          <p:cNvSpPr txBox="1"/>
          <p:nvPr/>
        </p:nvSpPr>
        <p:spPr>
          <a:xfrm>
            <a:off x="685800" y="3087601"/>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Read the gap</a:t>
            </a:r>
          </a:p>
        </p:txBody>
      </p:sp>
      <p:sp>
        <p:nvSpPr>
          <p:cNvPr id="7" name="TextBox 6"/>
          <p:cNvSpPr txBox="1"/>
          <p:nvPr/>
        </p:nvSpPr>
        <p:spPr>
          <a:xfrm>
            <a:off x="685800" y="3462496"/>
            <a:ext cx="5158587" cy="573009"/>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Both poor: underfitting. Large gap: overfitting. Both excellent: look for a leak.</a:t>
            </a:r>
          </a:p>
        </p:txBody>
      </p:sp>
      <p:sp>
        <p:nvSpPr>
          <p:cNvPr id="8" name="TextBox 7"/>
          <p:cNvSpPr txBox="1"/>
          <p:nvPr/>
        </p:nvSpPr>
        <p:spPr>
          <a:xfrm>
            <a:off x="685800" y="4264106"/>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Never choose complexity on the training score</a:t>
            </a:r>
          </a:p>
        </p:txBody>
      </p:sp>
      <p:sp>
        <p:nvSpPr>
          <p:cNvPr id="9" name="TextBox 8"/>
          <p:cNvSpPr txBox="1"/>
          <p:nvPr/>
        </p:nvSpPr>
        <p:spPr>
          <a:xfrm>
            <a:off x="685800" y="4639001"/>
            <a:ext cx="5158587" cy="313936"/>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It always prefers the most flexible model available.</a:t>
            </a:r>
          </a:p>
        </p:txBody>
      </p:sp>
      <p:sp>
        <p:nvSpPr>
          <p:cNvPr id="10" name="TextBox 9"/>
          <p:cNvSpPr txBox="1"/>
          <p:nvPr/>
        </p:nvSpPr>
        <p:spPr>
          <a:xfrm>
            <a:off x="685800" y="5181538"/>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Cross-validate to choose, test once to report</a:t>
            </a:r>
          </a:p>
        </p:txBody>
      </p:sp>
      <p:sp>
        <p:nvSpPr>
          <p:cNvPr id="11" name="TextBox 10"/>
          <p:cNvSpPr txBox="1"/>
          <p:nvPr/>
        </p:nvSpPr>
        <p:spPr>
          <a:xfrm>
            <a:off x="685800" y="5556434"/>
            <a:ext cx="5158587" cy="573009"/>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cross_val_score on the training data. The test set is spent at the very end, after every choice.</a:t>
            </a:r>
          </a:p>
        </p:txBody>
      </p:sp>
      <p:sp>
        <p:nvSpPr>
          <p:cNvPr id="12" name="TextBox 11"/>
          <p:cNvSpPr txBox="1"/>
          <p:nvPr/>
        </p:nvSpPr>
        <p:spPr>
          <a:xfrm>
            <a:off x="6347307" y="1911095"/>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Report a mean and a spread</a:t>
            </a:r>
          </a:p>
        </p:txBody>
      </p:sp>
      <p:sp>
        <p:nvSpPr>
          <p:cNvPr id="13" name="TextBox 12"/>
          <p:cNvSpPr txBox="1"/>
          <p:nvPr/>
        </p:nvSpPr>
        <p:spPr>
          <a:xfrm>
            <a:off x="6347307" y="2285991"/>
            <a:ext cx="5158587" cy="313936"/>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A difference smaller than the spread is not a difference.</a:t>
            </a:r>
          </a:p>
        </p:txBody>
      </p:sp>
      <p:sp>
        <p:nvSpPr>
          <p:cNvPr id="14" name="TextBox 13"/>
          <p:cNvSpPr txBox="1"/>
          <p:nvPr/>
        </p:nvSpPr>
        <p:spPr>
          <a:xfrm>
            <a:off x="6347307" y="2828528"/>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Put every transformation inside a Pipeline</a:t>
            </a:r>
          </a:p>
        </p:txBody>
      </p:sp>
      <p:sp>
        <p:nvSpPr>
          <p:cNvPr id="15" name="TextBox 14"/>
          <p:cNvSpPr txBox="1"/>
          <p:nvPr/>
        </p:nvSpPr>
        <p:spPr>
          <a:xfrm>
            <a:off x="6347307" y="3203423"/>
            <a:ext cx="5158587" cy="573009"/>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It makes contamination structurally difficult rather than a matter of remembering.</a:t>
            </a:r>
          </a:p>
        </p:txBody>
      </p:sp>
      <p:sp>
        <p:nvSpPr>
          <p:cNvPr id="16" name="TextBox 15"/>
          <p:cNvSpPr txBox="1"/>
          <p:nvPr/>
        </p:nvSpPr>
        <p:spPr>
          <a:xfrm>
            <a:off x="6347307" y="4005033"/>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Ask the timing question of every feature</a:t>
            </a:r>
          </a:p>
        </p:txBody>
      </p:sp>
      <p:sp>
        <p:nvSpPr>
          <p:cNvPr id="17" name="TextBox 16"/>
          <p:cNvSpPr txBox="1"/>
          <p:nvPr/>
        </p:nvSpPr>
        <p:spPr>
          <a:xfrm>
            <a:off x="6347307" y="4379928"/>
            <a:ext cx="5158587" cy="313936"/>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Would I have this value, at this moment, before the outcome is known?</a:t>
            </a:r>
          </a:p>
        </p:txBody>
      </p:sp>
      <p:sp>
        <p:nvSpPr>
          <p:cNvPr id="18" name="TextBox 17"/>
          <p:cNvSpPr txBox="1"/>
          <p:nvPr/>
        </p:nvSpPr>
        <p:spPr>
          <a:xfrm>
            <a:off x="6347307" y="4922465"/>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Check the split matches the structure of the data</a:t>
            </a:r>
          </a:p>
        </p:txBody>
      </p:sp>
      <p:sp>
        <p:nvSpPr>
          <p:cNvPr id="19" name="TextBox 18"/>
          <p:cNvSpPr txBox="1"/>
          <p:nvPr/>
        </p:nvSpPr>
        <p:spPr>
          <a:xfrm>
            <a:off x="6347307" y="5297361"/>
            <a:ext cx="5158587" cy="313936"/>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Timestamps mean split by time. Repeated units mean split by unit.</a:t>
            </a:r>
          </a:p>
        </p:txBody>
      </p:sp>
      <p:sp>
        <p:nvSpPr>
          <p:cNvPr id="20" name="TextBox 19"/>
          <p:cNvSpPr txBox="1"/>
          <p:nvPr/>
        </p:nvSpPr>
        <p:spPr>
          <a:xfrm>
            <a:off x="6347307" y="5839898"/>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Treat a brilliant score as a symptom</a:t>
            </a:r>
          </a:p>
        </p:txBody>
      </p:sp>
      <p:sp>
        <p:nvSpPr>
          <p:cNvPr id="21" name="TextBox 20"/>
          <p:cNvSpPr txBox="1"/>
          <p:nvPr/>
        </p:nvSpPr>
        <p:spPr>
          <a:xfrm>
            <a:off x="6347307" y="6214793"/>
            <a:ext cx="5158587" cy="313936"/>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Rule out a leak before you celebrate.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10</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Train and test scores matched to one of the three error stories, and four pipelines with one that leaks.</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729027"/>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Scan the code. First box is your registration number, off your card.</a:t>
            </a:r>
          </a:p>
        </p:txBody>
      </p:sp>
      <p:sp>
        <p:nvSpPr>
          <p:cNvPr id="8" name="Oval 7"/>
          <p:cNvSpPr/>
          <p:nvPr/>
        </p:nvSpPr>
        <p:spPr>
          <a:xfrm>
            <a:off x="704088" y="481858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45432"/>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attempt, from the Google account you are signed in to.</a:t>
            </a:r>
          </a:p>
        </p:txBody>
      </p:sp>
      <p:sp>
        <p:nvSpPr>
          <p:cNvPr id="10" name="Oval 9"/>
          <p:cNvSpPr/>
          <p:nvPr/>
        </p:nvSpPr>
        <p:spPr>
          <a:xfrm>
            <a:off x="704088" y="526996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196814"/>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Open for 48 hours if the network fails, then it closes itself.</a:t>
            </a:r>
          </a:p>
        </p:txBody>
      </p:sp>
      <p:sp>
        <p:nvSpPr>
          <p:cNvPr id="12" name="Oval 11"/>
          <p:cNvSpPr/>
          <p:nvPr/>
        </p:nvSpPr>
        <p:spPr>
          <a:xfrm>
            <a:off x="704088" y="572134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648196"/>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per cent each. Tap View score and read the feedback.</a:t>
            </a:r>
          </a:p>
        </p:txBody>
      </p:sp>
      <p:sp>
        <p:nvSpPr>
          <p:cNvPr id="14" name="Oval 13"/>
          <p:cNvSpPr/>
          <p:nvPr/>
        </p:nvSpPr>
        <p:spPr>
          <a:xfrm>
            <a:off x="704088" y="617272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6099577"/>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Twelve this semester, best ten count. No resits.</a:t>
            </a:r>
          </a:p>
        </p:txBody>
      </p:sp>
      <p:sp>
        <p:nvSpPr>
          <p:cNvPr id="16" name="Rectangle 15"/>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uiz_CML3111_W10.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The best-looking model</a:t>
            </a:r>
          </a:p>
          <a:p>
            <a:pPr algn="l">
              <a:lnSpc>
                <a:spcPct val="110000"/>
              </a:lnSpc>
              <a:spcAft>
                <a:spcPts val="600"/>
              </a:spcAft>
            </a:pPr>
            <a:r>
              <a:rPr sz="3400" b="1" i="0">
                <a:solidFill>
                  <a:srgbClr val="FFFFFF"/>
                </a:solidFill>
                <a:latin typeface="Cambria"/>
              </a:rPr>
              <a:t>in the room was cheating.</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found the leak from four numbers and one question about timing. A score that is better than the problem allows is the most reliable warning sign in this field.</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where your engineering knowledge enters the model, and how to prove it helped.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