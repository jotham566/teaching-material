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3ff21a86a34e3a" /><Relationship Type="http://schemas.openxmlformats.org/officeDocument/2006/relationships/extended-properties" Target="/docProps/app.xml" Id="R3bebbad7ed6d481d" /><Relationship Type="http://schemas.openxmlformats.org/officeDocument/2006/relationships/officeDocument" Target="/ppt/presentation.xml" Id="Re973b05d83e047e8" /></Relationships>
</file>

<file path=ppt/presentation.xml><?xml version="1.0" encoding="utf-8"?>
<p:presentation xmlns:p="http://schemas.openxmlformats.org/presentationml/2006/main">
  <p:sldMasterIdLst>
    <p:sldMasterId xmlns:r="http://schemas.openxmlformats.org/officeDocument/2006/relationships" id="2147483648" r:id="Rd4d24f9bf3a94eb9"/>
  </p:sldMasterIdLst>
  <p:notesMasterIdLst>
    <p:notesMasterId xmlns:r="http://schemas.openxmlformats.org/officeDocument/2006/relationships" r:id="R9285fcfb58d3482e"/>
  </p:notesMasterIdLst>
  <p:sldIdLst>
    <p:sldId xmlns:r="http://schemas.openxmlformats.org/officeDocument/2006/relationships" id="256" r:id="R2c868d6981594a82"/>
    <p:sldId xmlns:r="http://schemas.openxmlformats.org/officeDocument/2006/relationships" id="257" r:id="Rc314e4537ca24759"/>
    <p:sldId xmlns:r="http://schemas.openxmlformats.org/officeDocument/2006/relationships" id="258" r:id="R86b9fe09b6874e05"/>
    <p:sldId xmlns:r="http://schemas.openxmlformats.org/officeDocument/2006/relationships" id="259" r:id="R9bf691cdf72d4ffa"/>
    <p:sldId xmlns:r="http://schemas.openxmlformats.org/officeDocument/2006/relationships" id="260" r:id="Rc139c31505f5425d"/>
    <p:sldId xmlns:r="http://schemas.openxmlformats.org/officeDocument/2006/relationships" id="261" r:id="R6cb8a934dad34cb0"/>
    <p:sldId xmlns:r="http://schemas.openxmlformats.org/officeDocument/2006/relationships" id="262" r:id="Rcdbdac4206ff4fe5"/>
    <p:sldId xmlns:r="http://schemas.openxmlformats.org/officeDocument/2006/relationships" id="263" r:id="Ra97e3cf9f1104659"/>
    <p:sldId xmlns:r="http://schemas.openxmlformats.org/officeDocument/2006/relationships" id="264" r:id="Rd5329120238f4c78"/>
    <p:sldId xmlns:r="http://schemas.openxmlformats.org/officeDocument/2006/relationships" id="265" r:id="R269c6d36cd714f9c"/>
    <p:sldId xmlns:r="http://schemas.openxmlformats.org/officeDocument/2006/relationships" id="266" r:id="Rf06719b0a11e410c"/>
    <p:sldId xmlns:r="http://schemas.openxmlformats.org/officeDocument/2006/relationships" id="267" r:id="Ra5e9171d19434f30"/>
    <p:sldId xmlns:r="http://schemas.openxmlformats.org/officeDocument/2006/relationships" id="268" r:id="R73d54f49290b4d4b"/>
    <p:sldId xmlns:r="http://schemas.openxmlformats.org/officeDocument/2006/relationships" id="269" r:id="R4f4cd58472894d34"/>
    <p:sldId xmlns:r="http://schemas.openxmlformats.org/officeDocument/2006/relationships" id="270" r:id="Rb3ea23142a204bdc"/>
    <p:sldId xmlns:r="http://schemas.openxmlformats.org/officeDocument/2006/relationships" id="271" r:id="R5570a61ba2864264"/>
    <p:sldId xmlns:r="http://schemas.openxmlformats.org/officeDocument/2006/relationships" id="272" r:id="Rc3ba94d7c7334bee"/>
    <p:sldId xmlns:r="http://schemas.openxmlformats.org/officeDocument/2006/relationships" id="273" r:id="Rd5cf1bdfa584468a"/>
    <p:sldId xmlns:r="http://schemas.openxmlformats.org/officeDocument/2006/relationships" id="274" r:id="Rf6406adeb1bb45c3"/>
    <p:sldId xmlns:r="http://schemas.openxmlformats.org/officeDocument/2006/relationships" id="275" r:id="R31c4181317f64df8"/>
    <p:sldId xmlns:r="http://schemas.openxmlformats.org/officeDocument/2006/relationships" id="276" r:id="Rdb765a0a5ad24bb8"/>
    <p:sldId xmlns:r="http://schemas.openxmlformats.org/officeDocument/2006/relationships" id="277" r:id="Rec16afc299ba4af3"/>
    <p:sldId xmlns:r="http://schemas.openxmlformats.org/officeDocument/2006/relationships" id="278" r:id="R536a620e2cd844b4"/>
    <p:sldId xmlns:r="http://schemas.openxmlformats.org/officeDocument/2006/relationships" id="279" r:id="Rf11cd386d7444590"/>
    <p:sldId xmlns:r="http://schemas.openxmlformats.org/officeDocument/2006/relationships" id="280" r:id="R1676bf6692274aef"/>
    <p:sldId xmlns:r="http://schemas.openxmlformats.org/officeDocument/2006/relationships" id="281" r:id="R3750e77f19cf440d"/>
    <p:sldId xmlns:r="http://schemas.openxmlformats.org/officeDocument/2006/relationships" id="282" r:id="R21c1739863f44ec4"/>
    <p:sldId xmlns:r="http://schemas.openxmlformats.org/officeDocument/2006/relationships" id="283" r:id="R1056cb2e1c6a479f"/>
    <p:sldId xmlns:r="http://schemas.openxmlformats.org/officeDocument/2006/relationships" id="284" r:id="R2faaf75f22274a73"/>
    <p:sldId xmlns:r="http://schemas.openxmlformats.org/officeDocument/2006/relationships" id="285" r:id="Raab722dc7e7c4691"/>
    <p:sldId xmlns:r="http://schemas.openxmlformats.org/officeDocument/2006/relationships" id="286" r:id="R3ef2de3b0ee94fc6"/>
    <p:sldId xmlns:r="http://schemas.openxmlformats.org/officeDocument/2006/relationships" id="287" r:id="R8fdca016d85e43f3"/>
    <p:sldId xmlns:r="http://schemas.openxmlformats.org/officeDocument/2006/relationships" id="288" r:id="Racd8e4f25d194d93"/>
    <p:sldId xmlns:r="http://schemas.openxmlformats.org/officeDocument/2006/relationships" id="289" r:id="R2deabb58964247bb"/>
    <p:sldId xmlns:r="http://schemas.openxmlformats.org/officeDocument/2006/relationships" id="290" r:id="Raca5a02e855244e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c8347488c44b13" /><Relationship Type="http://schemas.openxmlformats.org/officeDocument/2006/relationships/slideMaster" Target="/ppt/slideMasters/slideMaster1.xml" Id="Rd4d24f9bf3a94eb9" /><Relationship Type="http://schemas.openxmlformats.org/officeDocument/2006/relationships/notesMaster" Target="/ppt/notesMasters/notesMaster1.xml" Id="R9285fcfb58d3482e" /><Relationship Type="http://schemas.openxmlformats.org/officeDocument/2006/relationships/presProps" Target="/ppt/presProps.xml" Id="R537b6515dee747c2" /><Relationship Type="http://schemas.openxmlformats.org/officeDocument/2006/relationships/tableStyles" Target="/ppt/tableStyles.xml" Id="Rce03dacaecb24e2a" /><Relationship Type="http://schemas.openxmlformats.org/officeDocument/2006/relationships/slide" Target="/ppt/slides/slide1.xml" Id="R2c868d6981594a82" /><Relationship Type="http://schemas.openxmlformats.org/officeDocument/2006/relationships/slide" Target="/ppt/slides/slide2.xml" Id="Rc314e4537ca24759" /><Relationship Type="http://schemas.openxmlformats.org/officeDocument/2006/relationships/slide" Target="/ppt/slides/slide3.xml" Id="R86b9fe09b6874e05" /><Relationship Type="http://schemas.openxmlformats.org/officeDocument/2006/relationships/slide" Target="/ppt/slides/slide4.xml" Id="R9bf691cdf72d4ffa" /><Relationship Type="http://schemas.openxmlformats.org/officeDocument/2006/relationships/slide" Target="/ppt/slides/slide5.xml" Id="Rc139c31505f5425d" /><Relationship Type="http://schemas.openxmlformats.org/officeDocument/2006/relationships/slide" Target="/ppt/slides/slide6.xml" Id="R6cb8a934dad34cb0" /><Relationship Type="http://schemas.openxmlformats.org/officeDocument/2006/relationships/slide" Target="/ppt/slides/slide7.xml" Id="Rcdbdac4206ff4fe5" /><Relationship Type="http://schemas.openxmlformats.org/officeDocument/2006/relationships/slide" Target="/ppt/slides/slide8.xml" Id="Ra97e3cf9f1104659" /><Relationship Type="http://schemas.openxmlformats.org/officeDocument/2006/relationships/slide" Target="/ppt/slides/slide9.xml" Id="Rd5329120238f4c78" /><Relationship Type="http://schemas.openxmlformats.org/officeDocument/2006/relationships/slide" Target="/ppt/slides/slide10.xml" Id="R269c6d36cd714f9c" /><Relationship Type="http://schemas.openxmlformats.org/officeDocument/2006/relationships/slide" Target="/ppt/slides/slide11.xml" Id="Rf06719b0a11e410c" /><Relationship Type="http://schemas.openxmlformats.org/officeDocument/2006/relationships/slide" Target="/ppt/slides/slide12.xml" Id="Ra5e9171d19434f30" /><Relationship Type="http://schemas.openxmlformats.org/officeDocument/2006/relationships/slide" Target="/ppt/slides/slide13.xml" Id="R73d54f49290b4d4b" /><Relationship Type="http://schemas.openxmlformats.org/officeDocument/2006/relationships/slide" Target="/ppt/slides/slide14.xml" Id="R4f4cd58472894d34" /><Relationship Type="http://schemas.openxmlformats.org/officeDocument/2006/relationships/slide" Target="/ppt/slides/slide15.xml" Id="Rb3ea23142a204bdc" /><Relationship Type="http://schemas.openxmlformats.org/officeDocument/2006/relationships/slide" Target="/ppt/slides/slide16.xml" Id="R5570a61ba2864264" /><Relationship Type="http://schemas.openxmlformats.org/officeDocument/2006/relationships/slide" Target="/ppt/slides/slide17.xml" Id="Rc3ba94d7c7334bee" /><Relationship Type="http://schemas.openxmlformats.org/officeDocument/2006/relationships/slide" Target="/ppt/slides/slide18.xml" Id="Rd5cf1bdfa584468a" /><Relationship Type="http://schemas.openxmlformats.org/officeDocument/2006/relationships/slide" Target="/ppt/slides/slide19.xml" Id="Rf6406adeb1bb45c3" /><Relationship Type="http://schemas.openxmlformats.org/officeDocument/2006/relationships/slide" Target="/ppt/slides/slide20.xml" Id="R31c4181317f64df8" /><Relationship Type="http://schemas.openxmlformats.org/officeDocument/2006/relationships/slide" Target="/ppt/slides/slide21.xml" Id="Rdb765a0a5ad24bb8" /><Relationship Type="http://schemas.openxmlformats.org/officeDocument/2006/relationships/slide" Target="/ppt/slides/slide22.xml" Id="Rec16afc299ba4af3" /><Relationship Type="http://schemas.openxmlformats.org/officeDocument/2006/relationships/slide" Target="/ppt/slides/slide23.xml" Id="R536a620e2cd844b4" /><Relationship Type="http://schemas.openxmlformats.org/officeDocument/2006/relationships/slide" Target="/ppt/slides/slide24.xml" Id="Rf11cd386d7444590" /><Relationship Type="http://schemas.openxmlformats.org/officeDocument/2006/relationships/slide" Target="/ppt/slides/slide25.xml" Id="R1676bf6692274aef" /><Relationship Type="http://schemas.openxmlformats.org/officeDocument/2006/relationships/slide" Target="/ppt/slides/slide26.xml" Id="R3750e77f19cf440d" /><Relationship Type="http://schemas.openxmlformats.org/officeDocument/2006/relationships/slide" Target="/ppt/slides/slide27.xml" Id="R21c1739863f44ec4" /><Relationship Type="http://schemas.openxmlformats.org/officeDocument/2006/relationships/slide" Target="/ppt/slides/slide28.xml" Id="R1056cb2e1c6a479f" /><Relationship Type="http://schemas.openxmlformats.org/officeDocument/2006/relationships/slide" Target="/ppt/slides/slide29.xml" Id="R2faaf75f22274a73" /><Relationship Type="http://schemas.openxmlformats.org/officeDocument/2006/relationships/slide" Target="/ppt/slides/slide30.xml" Id="Raab722dc7e7c4691" /><Relationship Type="http://schemas.openxmlformats.org/officeDocument/2006/relationships/slide" Target="/ppt/slides/slide31.xml" Id="R3ef2de3b0ee94fc6" /><Relationship Type="http://schemas.openxmlformats.org/officeDocument/2006/relationships/slide" Target="/ppt/slides/slide32.xml" Id="R8fdca016d85e43f3" /><Relationship Type="http://schemas.openxmlformats.org/officeDocument/2006/relationships/slide" Target="/ppt/slides/slide33.xml" Id="Racd8e4f25d194d93" /><Relationship Type="http://schemas.openxmlformats.org/officeDocument/2006/relationships/slide" Target="/ppt/slides/slide34.xml" Id="R2deabb58964247bb" /><Relationship Type="http://schemas.openxmlformats.org/officeDocument/2006/relationships/slide" Target="/ppt/slides/slide35.xml" Id="Raca5a02e855244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ebd9a39de145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8443c935414495" /><Relationship Type="http://schemas.openxmlformats.org/officeDocument/2006/relationships/notesMaster" Target="/ppt/notesMasters/notesMaster1.xml" Id="Rd4dd517ac6b144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d314048436344e2" /><Relationship Type="http://schemas.openxmlformats.org/officeDocument/2006/relationships/notesMaster" Target="/ppt/notesMasters/notesMaster1.xml" Id="R45f467aa785147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3e07d9a5cb4c8a" /><Relationship Type="http://schemas.openxmlformats.org/officeDocument/2006/relationships/notesMaster" Target="/ppt/notesMasters/notesMaster1.xml" Id="Re08d9129537246b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d6552e61e44144" /><Relationship Type="http://schemas.openxmlformats.org/officeDocument/2006/relationships/notesMaster" Target="/ppt/notesMasters/notesMaster1.xml" Id="Rd3c40eea8e9441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202c3248934d72" /><Relationship Type="http://schemas.openxmlformats.org/officeDocument/2006/relationships/notesMaster" Target="/ppt/notesMasters/notesMaster1.xml" Id="R435939ee1eb54e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a0dfcfd49d4891" /><Relationship Type="http://schemas.openxmlformats.org/officeDocument/2006/relationships/notesMaster" Target="/ppt/notesMasters/notesMaster1.xml" Id="R5213b83d87fa45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d7ac4474b64155" /><Relationship Type="http://schemas.openxmlformats.org/officeDocument/2006/relationships/notesMaster" Target="/ppt/notesMasters/notesMaster1.xml" Id="Re9312d7957a740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767031f7a045ac" /><Relationship Type="http://schemas.openxmlformats.org/officeDocument/2006/relationships/notesMaster" Target="/ppt/notesMasters/notesMaster1.xml" Id="Re077ee952ae042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246101bbd64aa5" /><Relationship Type="http://schemas.openxmlformats.org/officeDocument/2006/relationships/notesMaster" Target="/ppt/notesMasters/notesMaster1.xml" Id="R89c3acd2c44547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26e2d40b6d4d04" /><Relationship Type="http://schemas.openxmlformats.org/officeDocument/2006/relationships/notesMaster" Target="/ppt/notesMasters/notesMaster1.xml" Id="Rafd9b502bd264ab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a39a241b4141a2" /><Relationship Type="http://schemas.openxmlformats.org/officeDocument/2006/relationships/notesMaster" Target="/ppt/notesMasters/notesMaster1.xml" Id="R8d6bdb40f3b5495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ba7da8db0f453b" /><Relationship Type="http://schemas.openxmlformats.org/officeDocument/2006/relationships/notesMaster" Target="/ppt/notesMasters/notesMaster1.xml" Id="R329d83ac963c41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2ec7f326b85427b" /><Relationship Type="http://schemas.openxmlformats.org/officeDocument/2006/relationships/notesMaster" Target="/ppt/notesMasters/notesMaster1.xml" Id="Rb1ddf25ace5b4c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495d8aaeba4104" /><Relationship Type="http://schemas.openxmlformats.org/officeDocument/2006/relationships/notesMaster" Target="/ppt/notesMasters/notesMaster1.xml" Id="R457df128b06f4fc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b12ac696f9149c7" /><Relationship Type="http://schemas.openxmlformats.org/officeDocument/2006/relationships/notesMaster" Target="/ppt/notesMasters/notesMaster1.xml" Id="R653eb669e1ed48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f9f0962b004bc9" /><Relationship Type="http://schemas.openxmlformats.org/officeDocument/2006/relationships/notesMaster" Target="/ppt/notesMasters/notesMaster1.xml" Id="R931ab2da054f4f4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e4f1bae802e400a" /><Relationship Type="http://schemas.openxmlformats.org/officeDocument/2006/relationships/notesMaster" Target="/ppt/notesMasters/notesMaster1.xml" Id="R9d2563b80e11456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e4e848d41c4895" /><Relationship Type="http://schemas.openxmlformats.org/officeDocument/2006/relationships/notesMaster" Target="/ppt/notesMasters/notesMaster1.xml" Id="R66fead3fa78848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9cba6440dfc4b30" /><Relationship Type="http://schemas.openxmlformats.org/officeDocument/2006/relationships/notesMaster" Target="/ppt/notesMasters/notesMaster1.xml" Id="Ra5c0f2c0d4884a7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da71797c30c4b14" /><Relationship Type="http://schemas.openxmlformats.org/officeDocument/2006/relationships/notesMaster" Target="/ppt/notesMasters/notesMaster1.xml" Id="R70c85a5ce06c4af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02e9fefd134bec" /><Relationship Type="http://schemas.openxmlformats.org/officeDocument/2006/relationships/notesMaster" Target="/ppt/notesMasters/notesMaster1.xml" Id="R988e93c5753e4a2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cb9915e478485f" /><Relationship Type="http://schemas.openxmlformats.org/officeDocument/2006/relationships/notesMaster" Target="/ppt/notesMasters/notesMaster1.xml" Id="R3c37cce4f98649a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06e7c6ba2b14254" /><Relationship Type="http://schemas.openxmlformats.org/officeDocument/2006/relationships/notesMaster" Target="/ppt/notesMasters/notesMaster1.xml" Id="R1d6fe50797724f3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fd58494385543f2" /><Relationship Type="http://schemas.openxmlformats.org/officeDocument/2006/relationships/notesMaster" Target="/ppt/notesMasters/notesMaster1.xml" Id="R4cb5637f5f374a8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19f52b8433a4e1e" /><Relationship Type="http://schemas.openxmlformats.org/officeDocument/2006/relationships/notesMaster" Target="/ppt/notesMasters/notesMaster1.xml" Id="Re3d8c83b5f6e415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1b455fc7a3043b4" /><Relationship Type="http://schemas.openxmlformats.org/officeDocument/2006/relationships/notesMaster" Target="/ppt/notesMasters/notesMaster1.xml" Id="Rb919141e6fdd4ec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ccb1ef304324fbc" /><Relationship Type="http://schemas.openxmlformats.org/officeDocument/2006/relationships/notesMaster" Target="/ppt/notesMasters/notesMaster1.xml" Id="Rc2a7555ed22d43e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2663223134c4681" /><Relationship Type="http://schemas.openxmlformats.org/officeDocument/2006/relationships/notesMaster" Target="/ppt/notesMasters/notesMaster1.xml" Id="R4d08b57691334cd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9190230ce247c1" /><Relationship Type="http://schemas.openxmlformats.org/officeDocument/2006/relationships/notesMaster" Target="/ppt/notesMasters/notesMaster1.xml" Id="R560b1a11ff44480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8fa79968e4c4bb3" /><Relationship Type="http://schemas.openxmlformats.org/officeDocument/2006/relationships/notesMaster" Target="/ppt/notesMasters/notesMaster1.xml" Id="R4735c6e5ebce4a3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7c4b8474e394bad" /><Relationship Type="http://schemas.openxmlformats.org/officeDocument/2006/relationships/notesMaster" Target="/ppt/notesMasters/notesMaster1.xml" Id="Refcffb40f6f941e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5c5a2fc68c2412d" /><Relationship Type="http://schemas.openxmlformats.org/officeDocument/2006/relationships/notesMaster" Target="/ppt/notesMasters/notesMaster1.xml" Id="R55c439e20da54f1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921864a59ba4ce5" /><Relationship Type="http://schemas.openxmlformats.org/officeDocument/2006/relationships/notesMaster" Target="/ppt/notesMasters/notesMaster1.xml" Id="R5d2f1a7fdba044d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b7aaa5af0b24cec" /><Relationship Type="http://schemas.openxmlformats.org/officeDocument/2006/relationships/notesMaster" Target="/ppt/notesMasters/notesMaster1.xml" Id="R6fbb95eddd9648e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4638648346c4508" /><Relationship Type="http://schemas.openxmlformats.org/officeDocument/2006/relationships/notesMaster" Target="/ppt/notesMasters/notesMaster1.xml" Id="R25c67e69edda41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testing a useful feature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Creating and testing a useful feature.</a:t>
            </a:r>
          </a:p>
          <a:p xmlns:a="http://schemas.openxmlformats.org/drawingml/2006/main">
            <a:r>
              <a:t/>
            </a:r>
          </a:p>
          <a:p xmlns:a="http://schemas.openxmlformats.org/drawingml/2006/main">
            <a:r>
              <a:t>EXPLAIN</a:t>
            </a:r>
          </a:p>
          <a:p xmlns:a="http://schemas.openxmlformats.org/drawingml/2006/main">
            <a:r>
              <a:t>Create a feature from available measurements.</a:t>
            </a:r>
          </a:p>
          <a:p xmlns:a="http://schemas.openxmlformats.org/drawingml/2006/main">
            <a:r>
              <a:t/>
            </a:r>
          </a:p>
          <a:p xmlns:a="http://schemas.openxmlformats.org/drawingml/2006/main">
            <a:r>
              <a:t>Compare models with one controlled change.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already keep evaluation data separate. Now we change one input representation while keeping the comparison protocol fixed.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calculated input may help a model. We compare the original and extended inputs on the same observations, then decide whether the evidence supports the extra feature.</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feature has a meaning.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A feature is an input available at prediction time.</a:t>
            </a:r>
          </a:p>
          <a:p xmlns:a="http://schemas.openxmlformats.org/drawingml/2006/main">
            <a:r>
              <a:t/>
            </a:r>
          </a:p>
          <a:p xmlns:a="http://schemas.openxmlformats.org/drawingml/2006/main">
            <a:r>
              <a:t>An interaction multiplies two inputs to express a joint pattern.</a:t>
            </a:r>
          </a:p>
          <a:p xmlns:a="http://schemas.openxmlformats.org/drawingml/2006/main">
            <a:r>
              <a:t/>
            </a:r>
          </a:p>
          <a:p xmlns:a="http://schemas.openxmlformats.org/drawingml/2006/main">
            <a:r>
              <a:t>A better validation score can still reflect leakage.</a:t>
            </a:r>
          </a:p>
          <a:p xmlns:a="http://schemas.openxmlformats.org/drawingml/2006/main">
            <a:r>
              <a:t/>
            </a:r>
          </a:p>
          <a:p xmlns:a="http://schemas.openxmlformats.org/drawingml/2006/main">
            <a:r>
              <a:t>Compare the same observations and explain the physical meaning.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Derived feature and Ratio and interaction.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Derived feature and Ratio and interaction</a:t>
            </a:r>
          </a:p>
          <a:p xmlns:a="http://schemas.openxmlformats.org/drawingml/2006/main">
            <a:r>
              <a:t/>
            </a:r>
          </a:p>
          <a:p xmlns:a="http://schemas.openxmlformats.org/drawingml/2006/main">
            <a:r>
              <a:t>CONNECT</a:t>
            </a:r>
          </a:p>
          <a:p xmlns:a="http://schemas.openxmlformats.org/drawingml/2006/main">
            <a:r>
              <a:t>Previous slide: A feature has a meaning.</a:t>
            </a:r>
          </a:p>
          <a:p xmlns:a="http://schemas.openxmlformats.org/drawingml/2006/main">
            <a:r>
              <a:t/>
            </a:r>
          </a:p>
          <a:p xmlns:a="http://schemas.openxmlformats.org/drawingml/2006/main">
            <a:r>
              <a:t>EXPLAIN</a:t>
            </a:r>
          </a:p>
          <a:p xmlns:a="http://schemas.openxmlformats.org/drawingml/2006/main">
            <a:r>
              <a:t>Derived feature: A new input calculated from existing inputs. Its definition and unit must be stated.</a:t>
            </a:r>
          </a:p>
          <a:p xmlns:a="http://schemas.openxmlformats.org/drawingml/2006/main">
            <a:r>
              <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physical example across programmes.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Previous slide: Derived feature and Ratio and interaction.</a:t>
            </a:r>
          </a:p>
          <a:p xmlns:a="http://schemas.openxmlformats.org/drawingml/2006/main">
            <a:r>
              <a:t/>
            </a:r>
          </a:p>
          <a:p xmlns:a="http://schemas.openxmlformats.org/drawingml/2006/main">
            <a:r>
              <a:t>EXPLAIN</a:t>
            </a:r>
          </a:p>
          <a:p xmlns:a="http://schemas.openxmlformats.org/drawingml/2006/main">
            <a:r>
              <a:t>Current I is the flow of electric charge, measured in amperes (A). Resistance R opposes that flow, measured in ohms.</a:t>
            </a:r>
          </a:p>
          <a:p xmlns:a="http://schemas.openxmlformats.org/drawingml/2006/main">
            <a:r>
              <a:t/>
            </a:r>
          </a:p>
          <a:p xmlns:a="http://schemas.openxmlformats.org/drawingml/2006/main">
            <a:r>
              <a:t>Power P is energy transferred per second, measured in watts (W). Resistive heating follows P = I²R in this example.</a:t>
            </a:r>
          </a:p>
          <a:p xmlns:a="http://schemas.openxmlformats.org/drawingml/2006/main">
            <a:r>
              <a:t/>
            </a:r>
          </a:p>
          <a:p xmlns:a="http://schemas.openxmlformats.org/drawingml/2006/main">
            <a:r>
              <a:t>I² means I × I. With I = 2 A and R = 3 ohms, P = 2 × 2 × 3 = 12 W. This relationship motivates a feature; evaluation still tests whether it helps.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physical relationship can form a feature.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Previous slide: Read the physical example across programmes.</a:t>
            </a:r>
          </a:p>
          <a:p xmlns:a="http://schemas.openxmlformats.org/drawingml/2006/main">
            <a:r>
              <a:t/>
            </a:r>
          </a:p>
          <a:p xmlns:a="http://schemas.openxmlformats.org/drawingml/2006/main">
            <a:r>
              <a:t>EXPLAIN</a:t>
            </a:r>
          </a:p>
          <a:p xmlns:a="http://schemas.openxmlformats.org/drawingml/2006/main">
            <a:r>
              <a:t>Explain each quantity and the unit of the result.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interaction uses two known inputs.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Previous slide: A physical relationship can form a feature.</a:t>
            </a:r>
          </a:p>
          <a:p xmlns:a="http://schemas.openxmlformats.org/drawingml/2006/main">
            <a:r>
              <a:t/>
            </a:r>
          </a:p>
          <a:p xmlns:a="http://schemas.openxmlformats.org/drawingml/2006/main">
            <a:r>
              <a:t>EXPLAIN</a:t>
            </a:r>
          </a:p>
          <a:p xmlns:a="http://schemas.openxmlformats.org/drawingml/2006/main">
            <a:r>
              <a:t>Current A | Resistance ohm | I squared × R W</a:t>
            </a:r>
          </a:p>
          <a:p xmlns:a="http://schemas.openxmlformats.org/drawingml/2006/main">
            <a:r>
              <a:t/>
            </a:r>
          </a:p>
          <a:p xmlns:a="http://schemas.openxmlformats.org/drawingml/2006/main">
            <a:r>
              <a:t>2 | 3 | 12</a:t>
            </a:r>
          </a:p>
          <a:p xmlns:a="http://schemas.openxmlformats.org/drawingml/2006/main">
            <a:r>
              <a:t/>
            </a:r>
          </a:p>
          <a:p xmlns:a="http://schemas.openxmlformats.org/drawingml/2006/main">
            <a:r>
              <a:t>4 | 3 | 48</a:t>
            </a:r>
          </a:p>
          <a:p xmlns:a="http://schemas.openxmlformats.org/drawingml/2006/main">
            <a:r>
              <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LECTURER CUE</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percentage and its fraction.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Previous slide: An interaction uses two known inputs.</a:t>
            </a:r>
          </a:p>
          <a:p xmlns:a="http://schemas.openxmlformats.org/drawingml/2006/main">
            <a:r>
              <a:t/>
            </a:r>
          </a:p>
          <a:p xmlns:a="http://schemas.openxmlformats.org/drawingml/2006/main">
            <a:r>
              <a:t>EXPLAIN</a:t>
            </a:r>
          </a:p>
          <a:p xmlns:a="http://schemas.openxmlformats.org/drawingml/2006/main">
            <a:r>
              <a:t>40% means 40 out of 100.</a:t>
            </a:r>
          </a:p>
          <a:p xmlns:a="http://schemas.openxmlformats.org/drawingml/2006/main">
            <a:r>
              <a:t/>
            </a:r>
          </a:p>
          <a:p xmlns:a="http://schemas.openxmlformats.org/drawingml/2006/main">
            <a:r>
              <a:t>40 / 100 gives 0.4.</a:t>
            </a:r>
          </a:p>
          <a:p xmlns:a="http://schemas.openxmlformats.org/drawingml/2006/main">
            <a:r>
              <a:t/>
            </a:r>
          </a:p>
          <a:p xmlns:a="http://schemas.openxmlformats.org/drawingml/2006/main">
            <a:r>
              <a:t>This changes the representation. It adds no new observation.</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combined input needs a reason.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Previous slide: A percentage and its fraction.</a:t>
            </a:r>
          </a:p>
          <a:p xmlns:a="http://schemas.openxmlformats.org/drawingml/2006/main">
            <a:r>
              <a:t/>
            </a:r>
          </a:p>
          <a:p xmlns:a="http://schemas.openxmlformats.org/drawingml/2006/main">
            <a:r>
              <a:t>EXPLAIN</a:t>
            </a:r>
          </a:p>
          <a:p xmlns:a="http://schemas.openxmlformats.org/drawingml/2006/main">
            <a:r>
              <a:t>An interaction multiplies two inputs.</a:t>
            </a:r>
          </a:p>
          <a:p xmlns:a="http://schemas.openxmlformats.org/drawingml/2006/main">
            <a:r>
              <a:t/>
            </a:r>
          </a:p>
          <a:p xmlns:a="http://schemas.openxmlformats.org/drawingml/2006/main">
            <a:r>
              <a:t>It may help a simple model represent a joint pattern.</a:t>
            </a:r>
          </a:p>
          <a:p xmlns:a="http://schemas.openxmlformats.org/drawingml/2006/main">
            <a:r>
              <a:t/>
            </a:r>
          </a:p>
          <a:p xmlns:a="http://schemas.openxmlformats.org/drawingml/2006/main">
            <a:r>
              <a:t>An interaction with degrees Celsius is an empirical feature, not automatically a physical law.</a:t>
            </a:r>
          </a:p>
          <a:p xmlns:a="http://schemas.openxmlformats.org/drawingml/2006/main">
            <a:r>
              <a:t/>
            </a:r>
          </a:p>
          <a:p xmlns:a="http://schemas.openxmlformats.org/drawingml/2006/main">
            <a:r>
              <a:t>LECTURER CUE</a:t>
            </a:r>
          </a:p>
          <a:p xmlns:a="http://schemas.openxmlformats.org/drawingml/2006/main">
            <a:r>
              <a:t>An interaction may help a simple model express a relationship, but usefulness is tested rather than assumed. An interaction involving Celsius is an empirical feature, not automatically a physical law.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Ablation and Improvement.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 and Improvement</a:t>
            </a:r>
          </a:p>
          <a:p xmlns:a="http://schemas.openxmlformats.org/drawingml/2006/main">
            <a:r>
              <a:t/>
            </a:r>
          </a:p>
          <a:p xmlns:a="http://schemas.openxmlformats.org/drawingml/2006/main">
            <a:r>
              <a:t>CONNECT</a:t>
            </a:r>
          </a:p>
          <a:p xmlns:a="http://schemas.openxmlformats.org/drawingml/2006/main">
            <a:r>
              <a:t>Previous slide: A combined input needs a reason.</a:t>
            </a:r>
          </a:p>
          <a:p xmlns:a="http://schemas.openxmlformats.org/drawingml/2006/main">
            <a:r>
              <a:t/>
            </a:r>
          </a:p>
          <a:p xmlns:a="http://schemas.openxmlformats.org/drawingml/2006/main">
            <a:r>
              <a:t>EXPLAIN</a:t>
            </a:r>
          </a:p>
          <a:p xmlns:a="http://schemas.openxmlformats.org/drawingml/2006/main">
            <a:r>
              <a:t>Ablation: Compare a model with and without a feature while keeping the data partitions, model family and metric fixed.</a:t>
            </a:r>
          </a:p>
          <a:p xmlns:a="http://schemas.openxmlformats.org/drawingml/2006/main">
            <a:r>
              <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change makes a comparison interpretable.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Previous slide: Ablation and Improvement.</a:t>
            </a:r>
          </a:p>
          <a:p xmlns:a="http://schemas.openxmlformats.org/drawingml/2006/main">
            <a:r>
              <a:t/>
            </a:r>
          </a:p>
          <a:p xmlns:a="http://schemas.openxmlformats.org/drawingml/2006/main">
            <a:r>
              <a:t>EXPLAIN</a:t>
            </a:r>
          </a:p>
          <a:p xmlns:a="http://schemas.openxmlformats.org/drawingml/2006/main">
            <a:r>
              <a:t>Base MAE is 3.0. Extended MAE is 2.5.</a:t>
            </a:r>
          </a:p>
          <a:p xmlns:a="http://schemas.openxmlformats.org/drawingml/2006/main">
            <a:r>
              <a:t/>
            </a:r>
          </a:p>
          <a:p xmlns:a="http://schemas.openxmlformats.org/drawingml/2006/main">
            <a:r>
              <a:t>Improvement = base error minus extended error = 0.5.</a:t>
            </a:r>
          </a:p>
          <a:p xmlns:a="http://schemas.openxmlformats.org/drawingml/2006/main">
            <a:r>
              <a:t/>
            </a:r>
          </a:p>
          <a:p xmlns:a="http://schemas.openxmlformats.org/drawingml/2006/main">
            <a:r>
              <a:t>Keep the training rows, validation rows, model family and metric fixed.</a:t>
            </a:r>
          </a:p>
          <a:p xmlns:a="http://schemas.openxmlformats.org/drawingml/2006/main">
            <a:r>
              <a:t/>
            </a:r>
          </a:p>
          <a:p xmlns:a="http://schemas.openxmlformats.org/drawingml/2006/main">
            <a:r>
              <a:t>LECTURER CUE</a:t>
            </a:r>
          </a:p>
          <a:p xmlns:a="http://schemas.openxmlformats.org/drawingml/2006/main">
            <a:r>
              <a:t>Read a two-row results table: base MAE 3, extended MAE 2.5 gives improvement 0.5 target units. Ask which other experimental choices must stay fixed.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in Python</a:t>
            </a:r>
          </a:p>
          <a:p xmlns:a="http://schemas.openxmlformats.org/drawingml/2006/main">
            <a:r>
              <a:t/>
            </a:r>
          </a:p>
          <a:p xmlns:a="http://schemas.openxmlformats.org/drawingml/2006/main">
            <a:r>
              <a:t>CONNECT</a:t>
            </a:r>
          </a:p>
          <a:p xmlns:a="http://schemas.openxmlformats.org/drawingml/2006/main">
            <a:r>
              <a:t>Previous slide: One change makes a comparison interpretable.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xmlns:a="http://schemas.openxmlformats.org/drawingml/2006/main">
            <a:r>
              <a:t/>
            </a:r>
          </a:p>
          <a:p xmlns:a="http://schemas.openxmlformats.org/drawingml/2006/main">
            <a:r>
              <a:t>Complete practice code:</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results</a:t>
            </a:r>
          </a:p>
          <a:p xmlns:a="http://schemas.openxmlformats.org/drawingml/2006/main">
            <a:r>
              <a:t/>
            </a:r>
          </a:p>
          <a:p xmlns:a="http://schemas.openxmlformats.org/drawingml/2006/main">
            <a:r>
              <a:t>CONNECT</a:t>
            </a:r>
          </a:p>
          <a:p xmlns:a="http://schemas.openxmlformats.org/drawingml/2006/main">
            <a:r>
              <a:t>Previous slide: Feature comparisons in Python.</a:t>
            </a:r>
          </a:p>
          <a:p xmlns:a="http://schemas.openxmlformats.org/drawingml/2006/main">
            <a:r>
              <a:t/>
            </a:r>
          </a:p>
          <a:p xmlns:a="http://schemas.openxmlformats.org/drawingml/2006/main">
            <a:r>
              <a:t>EXPLAIN</a:t>
            </a:r>
          </a:p>
          <a:p xmlns:a="http://schemas.openxmlformats.org/drawingml/2006/main">
            <a:r>
              <a:t>0.4 1000</a:t>
            </a:r>
          </a:p>
          <a:p xmlns:a="http://schemas.openxmlformats.org/drawingml/2006/main">
            <a:r>
              <a:t>0.5</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two-model experiment.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Previous slide: Feature comparisons results.</a:t>
            </a:r>
          </a:p>
          <a:p xmlns:a="http://schemas.openxmlformats.org/drawingml/2006/main">
            <a:r>
              <a:t/>
            </a:r>
          </a:p>
          <a:p xmlns:a="http://schemas.openxmlformats.org/drawingml/2006/main">
            <a:r>
              <a:t>EXPLAIN</a:t>
            </a:r>
          </a:p>
          <a:p xmlns:a="http://schemas.openxmlformats.org/drawingml/2006/main">
            <a:r>
              <a:t>Each row contains a pair of inputs. for a, b in rows assigns the first entry to a and the second to b, then repeats the block.</a:t>
            </a:r>
          </a:p>
          <a:p xmlns:a="http://schemas.openxmlformats.org/drawingml/2006/main">
            <a:r>
              <a:t/>
            </a:r>
          </a:p>
          <a:p xmlns:a="http://schemas.openxmlformats.org/drawingml/2006/main">
            <a:r>
              <a:t>with_interaction returns a new table containing a, b and a × b. Both models keep the same training and validation rows.</a:t>
            </a:r>
          </a:p>
          <a:p xmlns:a="http://schemas.openxmlformats.org/drawingml/2006/main">
            <a:r>
              <a:t/>
            </a:r>
          </a:p>
          <a:p xmlns:a="http://schemas.openxmlformats.org/drawingml/2006/main">
            <a:r>
              <a:t>Create the model first, then call fit on the next line. round(value, 6) rounds a displayed number to six decimal places; retain full precision for calculations.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interaction-building function.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interaction-building function</a:t>
            </a:r>
          </a:p>
          <a:p xmlns:a="http://schemas.openxmlformats.org/drawingml/2006/main">
            <a:r>
              <a:t/>
            </a:r>
          </a:p>
          <a:p xmlns:a="http://schemas.openxmlformats.org/drawingml/2006/main">
            <a:r>
              <a:t>CONNECT</a:t>
            </a:r>
          </a:p>
          <a:p xmlns:a="http://schemas.openxmlformats.org/drawingml/2006/main">
            <a:r>
              <a:t>Previous slide: Read the two-model experiment.</a:t>
            </a:r>
          </a:p>
          <a:p xmlns:a="http://schemas.openxmlformats.org/drawingml/2006/main">
            <a:r>
              <a:t/>
            </a:r>
          </a:p>
          <a:p xmlns:a="http://schemas.openxmlformats.org/drawingml/2006/main">
            <a:r>
              <a:t>EXPLAIN</a:t>
            </a:r>
          </a:p>
          <a:p xmlns:a="http://schemas.openxmlformats.org/drawingml/2006/main">
            <a:r>
              <a:t>Each row contains two inputs. for a, b in rows: assigns them to a and b. [a, b, a * b] builds a new row with their product as a third input.</a:t>
            </a:r>
          </a:p>
          <a:p xmlns:a="http://schemas.openxmlformats.org/drawingml/2006/main">
            <a:r>
              <a:t/>
            </a:r>
          </a:p>
          <a:p xmlns:a="http://schemas.openxmlformats.org/drawingml/2006/main">
            <a:r>
              <a:t>For row [2, 3], append [2, 3, 6]. For row [4, 5], append [4, 5, 20]. The function returns the newly built list of rows.</a:t>
            </a:r>
          </a:p>
          <a:p xmlns:a="http://schemas.openxmlformats.org/drawingml/2006/main">
            <a:r>
              <a:t/>
            </a:r>
          </a:p>
          <a:p xmlns:a="http://schemas.openxmlformats.org/drawingml/2006/main">
            <a:r>
              <a:t>The same function must transform both training and validation inputs. It uses no target values to construct the new feature.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Previous slide: Trace the interaction-building function.</a:t>
            </a:r>
          </a:p>
          <a:p xmlns:a="http://schemas.openxmlformats.org/drawingml/2006/main">
            <a:r>
              <a:t/>
            </a:r>
          </a:p>
          <a:p xmlns:a="http://schemas.openxmlformats.org/drawingml/2006/main">
            <a:r>
              <a:t>EXPLAIN</a:t>
            </a:r>
          </a:p>
          <a:p xmlns:a="http://schemas.openxmlformats.org/drawingml/2006/main">
            <a:r>
              <a:t>Run this complete practice experiment in a fresh session.</a:t>
            </a:r>
          </a:p>
          <a:p xmlns:a="http://schemas.openxmlformats.org/drawingml/2006/main">
            <a:r>
              <a:t/>
            </a:r>
          </a:p>
          <a:p xmlns:a="http://schemas.openxmlformats.org/drawingml/2006/main">
            <a:r>
              <a:t>Both models use the same rows and targets; the second receives one additional input.</a:t>
            </a:r>
          </a:p>
          <a:p xmlns:a="http://schemas.openxmlformats.org/drawingml/2006/main">
            <a:r>
              <a:t/>
            </a:r>
          </a:p>
          <a:p xmlns:a="http://schemas.openxmlformats.org/drawingml/2006/main">
            <a:r>
              <a:t>Read every column before fitting.</a:t>
            </a:r>
          </a:p>
          <a:p xmlns:a="http://schemas.openxmlformats.org/drawingml/2006/main">
            <a:r>
              <a:t/>
            </a:r>
          </a:p>
          <a:p xmlns:a="http://schemas.openxmlformats.org/drawingml/2006/main">
            <a:r>
              <a:t>This invented experiment illustrates procedure, not a measured engineering benefit.</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(1/3).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Previous slide: Two models under one protocol.</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(2/3).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Previous slide: Two models under one protocol in Python (1/3).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a:t>
            </a:r>
          </a:p>
          <a:p xmlns:a="http://schemas.openxmlformats.org/drawingml/2006/main">
            <a:r>
              <a:t>base.fit(train, y)</a:t>
            </a:r>
          </a:p>
          <a:p xmlns:a="http://schemas.openxmlformats.org/drawingml/2006/main">
            <a:r>
              <a:t>extended = LinearRegression()</a:t>
            </a:r>
          </a:p>
          <a:p xmlns:a="http://schemas.openxmlformats.org/drawingml/2006/main">
            <a:r>
              <a:t>extended.fit(with_interaction(train),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(3/3).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Previous slide: Two models under one protocol in Python (2/3).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Scaling changes units of comparison.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Scaling changes units of comparison</a:t>
            </a:r>
          </a:p>
          <a:p xmlns:a="http://schemas.openxmlformats.org/drawingml/2006/main">
            <a:r>
              <a:t/>
            </a:r>
          </a:p>
          <a:p xmlns:a="http://schemas.openxmlformats.org/drawingml/2006/main">
            <a:r>
              <a:t>CONNECT</a:t>
            </a:r>
          </a:p>
          <a:p xmlns:a="http://schemas.openxmlformats.org/drawingml/2006/main">
            <a:r>
              <a:t>Previous slide: Two models under one protocol in Python (3/3).</a:t>
            </a:r>
          </a:p>
          <a:p xmlns:a="http://schemas.openxmlformats.org/drawingml/2006/main">
            <a:r>
              <a:t/>
            </a:r>
          </a:p>
          <a:p xmlns:a="http://schemas.openxmlformats.org/drawingml/2006/main">
            <a:r>
              <a:t>EXPLAIN</a:t>
            </a:r>
          </a:p>
          <a:p xmlns:a="http://schemas.openxmlformats.org/drawingml/2006/main">
            <a:r>
              <a:t>A distance calculation can be dominated by a feature with larger numerical values. Scaling puts feature values on a chosen numerical scale.</a:t>
            </a:r>
          </a:p>
          <a:p xmlns:a="http://schemas.openxmlformats.org/drawingml/2006/main">
            <a:r>
              <a:t/>
            </a:r>
          </a:p>
          <a:p xmlns:a="http://schemas.openxmlformats.org/drawingml/2006/main">
            <a:r>
              <a:t>One example is (value - training_min) / (training_max - training_min). With training limits 10 and 30, value 20 becomes 10 / 20 = 0.5.</a:t>
            </a:r>
          </a:p>
          <a:p xmlns:a="http://schemas.openxmlformats.org/drawingml/2006/main">
            <a:r>
              <a:t/>
            </a:r>
          </a:p>
          <a:p xmlns:a="http://schemas.openxmlformats.org/drawingml/2006/main">
            <a:r>
              <a:t>Use the same learned limits for new observations. A zero training range needs a defined handling rule. New values outside the training range may scale outside 0 to 1.</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Encoding and Scaling.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Encoding and Scaling</a:t>
            </a:r>
          </a:p>
          <a:p xmlns:a="http://schemas.openxmlformats.org/drawingml/2006/main">
            <a:r>
              <a:t/>
            </a:r>
          </a:p>
          <a:p xmlns:a="http://schemas.openxmlformats.org/drawingml/2006/main">
            <a:r>
              <a:t>CONNECT</a:t>
            </a:r>
          </a:p>
          <a:p xmlns:a="http://schemas.openxmlformats.org/drawingml/2006/main">
            <a:r>
              <a:t>Previous slide: Scaling changes units of comparison.</a:t>
            </a:r>
          </a:p>
          <a:p xmlns:a="http://schemas.openxmlformats.org/drawingml/2006/main">
            <a:r>
              <a:t/>
            </a:r>
          </a:p>
          <a:p xmlns:a="http://schemas.openxmlformats.org/drawingml/2006/main">
            <a:r>
              <a:t>EXPLAIN</a:t>
            </a:r>
          </a:p>
          <a:p xmlns:a="http://schemas.openxmlformats.org/drawingml/2006/main">
            <a:r>
              <a:t>Encoding: Representing a category numerically. One-hot uses separate indicator columns. Arbitrary integer labels can falsely suggest an order.</a:t>
            </a:r>
          </a:p>
          <a:p xmlns:a="http://schemas.openxmlformats.org/drawingml/2006/main">
            <a:r>
              <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Encoding and Scaling.</a:t>
            </a:r>
          </a:p>
          <a:p xmlns:a="http://schemas.openxmlformats.org/drawingml/2006/main">
            <a:r>
              <a:t/>
            </a:r>
          </a:p>
          <a:p xmlns:a="http://schemas.openxmlformats.org/drawingml/2006/main">
            <a:r>
              <a:t>EXPLAIN</a:t>
            </a:r>
          </a:p>
          <a:p xmlns:a="http://schemas.openxmlformats.org/drawingml/2006/main">
            <a:r>
              <a:t>Example: If the extended error becomes 3.4, calculate improvement and decide whether this evidence supports retaining the feature.</a:t>
            </a:r>
          </a:p>
          <a:p xmlns:a="http://schemas.openxmlformats.org/drawingml/2006/main">
            <a:r>
              <a:t/>
            </a:r>
          </a:p>
          <a:p xmlns:a="http://schemas.openxmlformats.org/drawingml/2006/main">
            <a:r>
              <a:t>Answer: Improvement is -0.4. This validation comparison does not support retaining it. One split is limited evidence; the final test remains untouched.</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Improvement is -0.4. This validation comparison does not support retaining it. One split is limited evidence; the final test remains untouched.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W11 names four output features and a two-model ablation.</a:t>
            </a:r>
          </a:p>
          <a:p xmlns:a="http://schemas.openxmlformats.org/drawingml/2006/main">
            <a:r>
              <a:t/>
            </a:r>
          </a:p>
          <a:p xmlns:a="http://schemas.openxmlformats.org/drawingml/2006/main">
            <a:r>
              <a:t>Explain output order, preservation of input rows, full precision and training-only fitting.</a:t>
            </a:r>
          </a:p>
          <a:p xmlns:a="http://schemas.openxmlformats.org/drawingml/2006/main">
            <a:r>
              <a:t/>
            </a:r>
          </a:p>
          <a:p xmlns:a="http://schemas.openxmlformats.org/drawingml/2006/main">
            <a:r>
              <a:t>Use the supplied written scenario for the interpretation requested there.</a:t>
            </a:r>
          </a:p>
          <a:p xmlns:a="http://schemas.openxmlformats.org/drawingml/2006/main">
            <a:r>
              <a:t/>
            </a:r>
          </a:p>
          <a:p xmlns:a="http://schemas.openxmlformats.org/drawingml/2006/main">
            <a:r>
              <a:t>Do not substitute this practice example’s result.</a:t>
            </a:r>
          </a:p>
          <a:p xmlns:a="http://schemas.openxmlformats.org/drawingml/2006/main">
            <a:r>
              <a:t/>
            </a:r>
          </a:p>
          <a:p xmlns:a="http://schemas.openxmlformats.org/drawingml/2006/main">
            <a:r>
              <a:t>LECTURER CUE</a:t>
            </a:r>
          </a:p>
          <a:p xmlns:a="http://schemas.openxmlformats.org/drawingml/2006/main">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without misleading evaluation.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Rescaling an input usually does not change the partitions available to an ordinary decision tree.</a:t>
            </a:r>
          </a:p>
          <a:p xmlns:a="http://schemas.openxmlformats.org/drawingml/2006/main">
            <a:r>
              <a:t/>
            </a:r>
          </a:p>
          <a:p xmlns:a="http://schemas.openxmlformats.org/drawingml/2006/main">
            <a:r>
              <a:t>An identifier or a future-known field can create an apparent improvement without useful predictive information.</a:t>
            </a:r>
          </a:p>
          <a:p xmlns:a="http://schemas.openxmlformats.org/drawingml/2006/main">
            <a:r>
              <a:t/>
            </a:r>
          </a:p>
          <a:p xmlns:a="http://schemas.openxmlformats.org/drawingml/2006/main">
            <a:r>
              <a:t>Dividing by zero can produce infinity or an error; decide what the denominator means before replacing it.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without misleading evaluation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Previous slide: Features without misleading evaluation.</a:t>
            </a:r>
          </a:p>
          <a:p xmlns:a="http://schemas.openxmlformats.org/drawingml/2006/main">
            <a:r>
              <a:t/>
            </a:r>
          </a:p>
          <a:p xmlns:a="http://schemas.openxmlformats.org/drawingml/2006/main">
            <a:r>
              <a:t>EXPLAIN</a:t>
            </a:r>
          </a:p>
          <a:p xmlns:a="http://schemas.openxmlformats.org/drawingml/2006/main">
            <a:r>
              <a:t>Read ablation differences using the same error definition, and explain features using domain knowledge.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Features without misleading evaluation continued.</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make_features(feature_records).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ablation_metrics(training_records, validation_records).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Previous slide: make_features(feature_records).</a:t>
            </a:r>
          </a:p>
          <a:p xmlns:a="http://schemas.openxmlformats.org/drawingml/2006/main">
            <a:r>
              <a:t/>
            </a:r>
          </a:p>
          <a:p xmlns:a="http://schemas.openxmlformats.org/drawingml/2006/main">
            <a:r>
              <a:t>EXPLAIN</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ablation_metrics(training_records, validation_records).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and ablation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20 Nov 2026, 08:00 Kampala</a:t>
            </a:r>
          </a:p>
          <a:p xmlns:a="http://schemas.openxmlformats.org/drawingml/2006/main">
            <a:r>
              <a:t/>
            </a:r>
          </a:p>
          <a:p xmlns:a="http://schemas.openxmlformats.org/drawingml/2006/main">
            <a:r>
              <a:t>Deadline: 27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Features and ablation submission.</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11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open_W11_CML3113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11 quiz.</a:t>
            </a:r>
          </a:p>
          <a:p xmlns:a="http://schemas.openxmlformats.org/drawingml/2006/main">
            <a:r>
              <a:t/>
            </a:r>
          </a:p>
          <a:p xmlns:a="http://schemas.openxmlformats.org/drawingml/2006/main">
            <a:r>
              <a:t>EXPLAIN</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2b8120126146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4896e2f386247a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fb8ff8490a74d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c3b8295ff94c8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0b3e92c093748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982cb52b44645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22759E5-4A71-45E5-A218-040AF6202FDD}"/>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A08BE8C-D509-49AE-A68C-E2C2882C1F8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EDF1C7A-B4B6-4010-94B2-CC2D2305DCA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2D910C6-3D47-47F5-BFE0-88A63A3BB70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E324218-0003-4CB4-9067-2C175FD8FE6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A5F7FED-9F0F-476F-B771-B34D75043DD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04062E-A12E-4309-AAE4-7A10232780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7D899AD-D313-4B9B-A728-610239CA0D9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BA5D3A8-3833-4B02-91C5-670C5EF6372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40561B7-AEB7-4A8C-B244-E4731B04ADE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D5EE211-FA7B-4A4F-A80E-3A347C7EA8A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0FE951E-3C53-421C-B785-06CF5BFC849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F41FDC6-B073-4771-B275-AF6A6E389D0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8437BEC-E6E6-4F96-A6F4-85D0F6FE9B3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E9D3486-CB72-4858-9D83-7CA7F884785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89b525124243bc" /><Relationship Type="http://schemas.openxmlformats.org/officeDocument/2006/relationships/slideLayout" Target="/ppt/slideLayouts/slideLayout1.xml" Id="Rcbbeca26cc2242da" /><Relationship Type="http://schemas.openxmlformats.org/officeDocument/2006/relationships/slideLayout" Target="/ppt/slideLayouts/slideLayout2.xml" Id="R3d6ccda6f1274108" /><Relationship Type="http://schemas.openxmlformats.org/officeDocument/2006/relationships/slideLayout" Target="/ppt/slideLayouts/slideLayout3.xml" Id="R7d5c245cd6e24642" /><Relationship Type="http://schemas.openxmlformats.org/officeDocument/2006/relationships/slideLayout" Target="/ppt/slideLayouts/slideLayout4.xml" Id="R72293c65b7c24073" /><Relationship Type="http://schemas.openxmlformats.org/officeDocument/2006/relationships/slideLayout" Target="/ppt/slideLayouts/slideLayout5.xml" Id="R6ec67faea6d44a73" /><Relationship Type="http://schemas.openxmlformats.org/officeDocument/2006/relationships/slideLayout" Target="/ppt/slideLayouts/slideLayout6.xml" Id="R5a8a5b0cf0ed47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beca26cc2242da"/>
    <p:sldLayoutId xmlns:r="http://schemas.openxmlformats.org/officeDocument/2006/relationships" id="2147483650" r:id="R3d6ccda6f1274108"/>
    <p:sldLayoutId xmlns:r="http://schemas.openxmlformats.org/officeDocument/2006/relationships" id="2147483651" r:id="R7d5c245cd6e24642"/>
    <p:sldLayoutId xmlns:r="http://schemas.openxmlformats.org/officeDocument/2006/relationships" id="2147483652" r:id="R72293c65b7c24073"/>
    <p:sldLayoutId xmlns:r="http://schemas.openxmlformats.org/officeDocument/2006/relationships" id="2147483653" r:id="R6ec67faea6d44a73"/>
    <p:sldLayoutId xmlns:r="http://schemas.openxmlformats.org/officeDocument/2006/relationships" id="2147483654" r:id="R5a8a5b0cf0ed47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808a81818d9436b" /><Relationship Type="http://schemas.openxmlformats.org/officeDocument/2006/relationships/image" Target="/ppt/media/image.png" Id="R2fbdeae01d944a89" /><Relationship Type="http://schemas.openxmlformats.org/officeDocument/2006/relationships/notesSlide" Target="/ppt/notesSlides/notesSlide1.xml" Id="R81882b56d37349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e28ad70a7484d27" /><Relationship Type="http://schemas.openxmlformats.org/officeDocument/2006/relationships/notesSlide" Target="/ppt/notesSlides/notesSlide2.xml" Id="R67d14206ac52498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432a46ac08949b1" /><Relationship Type="http://schemas.openxmlformats.org/officeDocument/2006/relationships/notesSlide" Target="/ppt/notesSlides/notesSlide3.xml" Id="Rda05da1eb9b24b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ca6adcf753b4c06" /><Relationship Type="http://schemas.openxmlformats.org/officeDocument/2006/relationships/notesSlide" Target="/ppt/notesSlides/notesSlide4.xml" Id="R3563ba4d4c2e4d4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c8b0d7a063040de" /><Relationship Type="http://schemas.openxmlformats.org/officeDocument/2006/relationships/notesSlide" Target="/ppt/notesSlides/notesSlide5.xml" Id="Rf57e91c6780c4a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1ecfbb25cea42b0" /><Relationship Type="http://schemas.openxmlformats.org/officeDocument/2006/relationships/notesSlide" Target="/ppt/notesSlides/notesSlide6.xml" Id="R4e7e4e2ee14b4d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887f267c014f63" /><Relationship Type="http://schemas.openxmlformats.org/officeDocument/2006/relationships/notesSlide" Target="/ppt/notesSlides/notesSlide7.xml" Id="Rfb191d992d2c4c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09b9a34ec7543fc" /><Relationship Type="http://schemas.openxmlformats.org/officeDocument/2006/relationships/image" Target="/ppt/media/image2.png" Id="Re0e2480782dd45f5" /><Relationship Type="http://schemas.openxmlformats.org/officeDocument/2006/relationships/notesSlide" Target="/ppt/notesSlides/notesSlide8.xml" Id="R48ed9208ecd643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576d4d0b9b4371" /><Relationship Type="http://schemas.openxmlformats.org/officeDocument/2006/relationships/notesSlide" Target="/ppt/notesSlides/notesSlide9.xml" Id="R49cfc027cecf48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51ab000b88426f" /><Relationship Type="http://schemas.openxmlformats.org/officeDocument/2006/relationships/notesSlide" Target="/ppt/notesSlides/notesSlide10.xml" Id="R168804db45a145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73833c39934748" /><Relationship Type="http://schemas.openxmlformats.org/officeDocument/2006/relationships/notesSlide" Target="/ppt/notesSlides/notesSlide11.xml" Id="Rb1bade3ddec14d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91acc53d7d14e07" /><Relationship Type="http://schemas.openxmlformats.org/officeDocument/2006/relationships/notesSlide" Target="/ppt/notesSlides/notesSlide12.xml" Id="R703142537be4498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cef79200635471b" /><Relationship Type="http://schemas.openxmlformats.org/officeDocument/2006/relationships/notesSlide" Target="/ppt/notesSlides/notesSlide13.xml" Id="R7f77259ced104b8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cf91d065a28423e" /><Relationship Type="http://schemas.openxmlformats.org/officeDocument/2006/relationships/notesSlide" Target="/ppt/notesSlides/notesSlide14.xml" Id="Ra668cef2c2d4469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c39e236d4f64807" /><Relationship Type="http://schemas.openxmlformats.org/officeDocument/2006/relationships/notesSlide" Target="/ppt/notesSlides/notesSlide15.xml" Id="R06ec97b3b80840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7d1ce1243fd46fe" /><Relationship Type="http://schemas.openxmlformats.org/officeDocument/2006/relationships/notesSlide" Target="/ppt/notesSlides/notesSlide16.xml" Id="Raa78e7262a0f422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223fce3f87f4b02" /><Relationship Type="http://schemas.openxmlformats.org/officeDocument/2006/relationships/notesSlide" Target="/ppt/notesSlides/notesSlide17.xml" Id="R2e846adbfbd34e4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d0aec32b18343e3" /><Relationship Type="http://schemas.openxmlformats.org/officeDocument/2006/relationships/notesSlide" Target="/ppt/notesSlides/notesSlide18.xml" Id="R8244b9ba06d5426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488e7058a2a47dc" /><Relationship Type="http://schemas.openxmlformats.org/officeDocument/2006/relationships/notesSlide" Target="/ppt/notesSlides/notesSlide19.xml" Id="R63b9994768314c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18e9f4675254cb4" /><Relationship Type="http://schemas.openxmlformats.org/officeDocument/2006/relationships/notesSlide" Target="/ppt/notesSlides/notesSlide20.xml" Id="R745caa933a65408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f3b7c7f7ae8451a" /><Relationship Type="http://schemas.openxmlformats.org/officeDocument/2006/relationships/notesSlide" Target="/ppt/notesSlides/notesSlide21.xml" Id="R8f8b6f14263c4e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08522d4ee714511" /><Relationship Type="http://schemas.openxmlformats.org/officeDocument/2006/relationships/notesSlide" Target="/ppt/notesSlides/notesSlide22.xml" Id="Rdc09aa7e20f74b5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0c06e1b95c64be0" /><Relationship Type="http://schemas.openxmlformats.org/officeDocument/2006/relationships/notesSlide" Target="/ppt/notesSlides/notesSlide23.xml" Id="R8b5af2943ebc488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6849f9a17024334" /><Relationship Type="http://schemas.openxmlformats.org/officeDocument/2006/relationships/notesSlide" Target="/ppt/notesSlides/notesSlide24.xml" Id="R8bac17c1485144d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f3d31bfd4d54a9a" /><Relationship Type="http://schemas.openxmlformats.org/officeDocument/2006/relationships/notesSlide" Target="/ppt/notesSlides/notesSlide25.xml" Id="Rf9fd1c11dcc24db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3f3fdb41e8847ef" /><Relationship Type="http://schemas.openxmlformats.org/officeDocument/2006/relationships/notesSlide" Target="/ppt/notesSlides/notesSlide26.xml" Id="R97f3bfe6b40845a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4ecdc7a95ff4545" /><Relationship Type="http://schemas.openxmlformats.org/officeDocument/2006/relationships/notesSlide" Target="/ppt/notesSlides/notesSlide27.xml" Id="Rb694aa328c114c2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b1efd79ca0443fb" /><Relationship Type="http://schemas.openxmlformats.org/officeDocument/2006/relationships/notesSlide" Target="/ppt/notesSlides/notesSlide28.xml" Id="R7577ae58bbe74d9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7901440894a44a5" /><Relationship Type="http://schemas.openxmlformats.org/officeDocument/2006/relationships/notesSlide" Target="/ppt/notesSlides/notesSlide29.xml" Id="Re720bb1892b144b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2a0d2fb462e47b7" /><Relationship Type="http://schemas.openxmlformats.org/officeDocument/2006/relationships/notesSlide" Target="/ppt/notesSlides/notesSlide30.xml" Id="R73971d44127145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dc1ee69ed534440" /><Relationship Type="http://schemas.openxmlformats.org/officeDocument/2006/relationships/notesSlide" Target="/ppt/notesSlides/notesSlide31.xml" Id="R5b5b9ecdd4144f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6398d4287a14f78" /><Relationship Type="http://schemas.openxmlformats.org/officeDocument/2006/relationships/hyperlink" Target="https://docs.google.com/forms/d/e/1FAIpQLSdxAosnTnoXrNZ7QCm8pPQuoa2KxsqFvu_PPsZIQGrJnHMw1g/viewform" TargetMode="External" Id="Rae42b630724e4468" /><Relationship Type="http://schemas.openxmlformats.org/officeDocument/2006/relationships/notesSlide" Target="/ppt/notesSlides/notesSlide32.xml" Id="R197f702a87514b2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231e0a5a166495b" /><Relationship Type="http://schemas.openxmlformats.org/officeDocument/2006/relationships/notesSlide" Target="/ppt/notesSlides/notesSlide33.xml" Id="R172032b14425439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c89133a4efa43fa" /><Relationship Type="http://schemas.openxmlformats.org/officeDocument/2006/relationships/image" Target="/ppt/media/image3.png" Id="R09bf26be19314ec0" /><Relationship Type="http://schemas.openxmlformats.org/officeDocument/2006/relationships/hyperlink" Target="https://forms.gle/3sf2d3vGXpJ4HtvP6" TargetMode="External" Id="Rd52cbc5ed6f74604" /><Relationship Type="http://schemas.openxmlformats.org/officeDocument/2006/relationships/notesSlide" Target="/ppt/notesSlides/notesSlide34.xml" Id="R396034e3b9b547f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43d94563cfe44e7" /><Relationship Type="http://schemas.openxmlformats.org/officeDocument/2006/relationships/notesSlide" Target="/ppt/notesSlides/notesSlide35.xml" Id="Rff3ed8d99b144fb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fbdeae01d944a8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A7C96F9-4AAA-44BA-8502-62F9AC8A7A6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C03189A-1237-4D51-B0B2-0A06C3F6764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10412C64-5CFD-4DC3-83CA-0C527AB3498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535533F3-F7A5-4F5F-A239-1F2F2E60E07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2DC13E5-ACCF-4D5A-858E-86454BD0BB0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0845098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41DD93-1C29-4797-9D2D-CDC89C0BCD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AFE0E1-0568-42BA-B459-AA3D7A153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9127C3E-8029-4E88-9578-3310DA7E88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B4B5EC9-60FB-44CC-AE23-D71F7D616B8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D4A359-9BF7-463A-BAC7-DF99F1F5740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66ED79A-50AD-4AFC-8244-587ADFDC611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F3D63C2D-3593-4715-AB1F-1611D5BF9E3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F8173CF-DBE4-4793-AFF8-D929D23470B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E7667E72-77A3-4259-890B-DC23BC77D0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1081141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3664A5-098A-48DF-82EF-103518B238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613613-070B-4B90-84C6-C409568AAA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96DC51-5D34-4D6B-9368-8B559374D8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9BE937DD-4835-42F3-828C-84F825A0AA8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8281F0-20CF-4F4D-95FB-A494EDFCAFE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AF04A17B-D3E2-489E-B37D-DA6F65EC878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11B2449F-8862-464B-9BF0-72DD293F29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a:t>
            </a:r>
          </a:p>
        </p:txBody>
      </p:sp>
    </p:spTree>
    <p:extLst>
      <p:ext uri="{BB962C8B-B14F-4D97-AF65-F5344CB8AC3E}">
        <p14:creationId xmlns:p14="http://schemas.microsoft.com/office/powerpoint/2010/main" val="11190781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7C6D45-C3B4-44BA-A074-261647D3B0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E9811-2E8B-49FC-B7FA-C61A4201BF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AAC019-E7E3-4B1C-B191-5CC6D8F8E1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265709DF-5F66-40FB-A1E1-9394B8636A9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2107A0-8D1D-47EE-9B74-80D288DE6E7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F0773ED4-9C8B-416F-B67D-AE6C86D0CD4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59F6BF61-5555-497F-99FA-311FECB4BF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10200691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6E796C-6089-4DDB-87EB-D46DB6B79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41FC7-64B0-47C0-887C-25E51CCE34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CDCED4-A52E-4E33-B749-D17D8168F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C1A21B5F-2883-422F-B3F8-AA9216E6DE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C00E86-5DB7-4DCB-A1DC-DEE1E12E9F3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E4CADA7C-9C2F-4332-B0F3-95A83072632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3A86AE-BB23-4154-88F1-D524A0D8283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9FF1963D-FAE3-4B43-A1D8-DF7596A1AB3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7D5625-8DEC-4B2A-8B03-55E6BD235C3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E791EC9C-6737-406C-BE2D-BD2066804F4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7DBC82-D25E-4B7A-952D-FD21BA2FB26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373A1057-30F0-4787-9F5F-8747AEADBD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8652050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FE0CE1-F1DC-4702-B4F2-DC03394A10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A8E8EB-DC5E-40CF-82D8-1748F9EF06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534D42F-E2B3-4461-9629-CF36BA89BA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EE279F83-25BB-4A91-8025-460BA9B4EB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22B7E6-0EBF-45B3-8C00-029A48A82C6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AF2194B8-6025-49A1-AE05-39492BE8409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D60C241A-1572-4723-BDC3-86BABA23C0C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3BC339C-90F8-4F35-B30E-49E9718028B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E4F8CE31-59AD-49E6-A5C1-B8D43D8FA09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B9FCE727-DFCA-4460-82C5-34A027FA71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19452534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8C8956-7EB3-4530-900F-BA4C17E433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B96833-73AE-4A84-B160-E49A588D23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6D2D81-3B35-43F4-9BCC-6BD94EA0D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47512BB0-9069-4C24-94B0-971BA071C3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F97A83-2999-468B-9AA6-8A466276F78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71AEE5C6-D5DB-4495-91E6-BAE86F8E98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FB0B29-634B-4C27-946B-6929C5A3673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CF5C0D87-3F0E-4EE3-A3AA-568A57DD691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1E3829-EB0C-4DF6-8967-0DF14860B6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83B551F2-AC90-4B90-AA37-B8E973265B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4305694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EBFBEB-858E-4E8F-9743-DF6BCA76966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FF6263-B166-43A0-AF81-D99D844EAA2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0e2480782dd45f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4F74E4-95F5-4002-85AF-5E54F0D0EEF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1F6814-19BD-417B-9D3D-9D75DB2EAEC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2FD4E35C-8F5F-4C89-A647-AC76D7CDA2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10855319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B161EA-0B60-4B2B-983D-02B21CFC7C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CDF682-9433-4873-85C8-EACE77ADD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9703DFA-6E40-43C7-9814-8D20030F9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B5630A0-A448-4370-B1E3-547C76D25C5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501FA8E4-4C3C-448B-98CF-BD2276373B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2591277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90196E-69F4-4621-AB87-9AC4875386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722C2B-18B6-4483-BDE7-2952E1107F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964B70-4D6A-4143-B36D-5E1197017F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91C4C676-2FB1-4CD5-BE82-23BF766ED0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A0A357-FC8D-4AB9-84F5-BB9F938211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309476D0-847D-4A10-8E70-88C9F01FDF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5B69E3-46BF-4628-ACA9-0957741133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D9E05684-3BDC-47C8-A5CB-E8880DBB1C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9D9D11-5CF1-463C-8F8A-AF20C38D70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89728B72-6050-4ACA-A7D7-ADE35854D2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3802964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ABCDD5-81A6-4E7A-A9EA-D6A4EFA06F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6EBC7D-B607-4D04-B396-D075D1178E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FBFDA1-6B2E-4B3C-92C0-C6B54F3B59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2E7EFE32-8214-4F4B-867E-4831A7EF27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F6FD05-4335-408A-9414-E29B5CCE651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064728DD-95DB-463B-845B-5474F5AFDB5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4425CC-B5BA-413D-A4CD-686CA640F6E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FF3CAA17-466C-4A2D-8340-2E9E40BE3E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67971C-675D-471E-8EC3-4F1F3938DDA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08F67659-1A4F-46F7-A1F4-0E59B926B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2008256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E3B957-E2C8-4CB5-8CDF-30616F825B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E49548-BA7F-48A9-B9DE-5D3355CAA4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4C3E39-7D6F-4F66-AE83-6BFD601456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2B458804-C7AF-42B7-9E35-52AA431EE1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60F840-BFDD-47F3-B664-4425150E5EE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C59506E5-7621-4055-84F0-63AB0F25BCA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17CCE80F-8FFA-44C2-B64F-AFC285A1A4E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7BBCE1-E523-4487-938D-60D8121DADB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50C03F38-B9C5-4212-8380-1F78F5A81AB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93985F40-7CFA-4D91-9715-1DF1C32336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12</a:t>
            </a:r>
          </a:p>
        </p:txBody>
      </p:sp>
    </p:spTree>
    <p:extLst>
      <p:ext uri="{BB962C8B-B14F-4D97-AF65-F5344CB8AC3E}">
        <p14:creationId xmlns:p14="http://schemas.microsoft.com/office/powerpoint/2010/main" val="5971836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28DC4E-CCB6-4FDE-8FB9-0D74D5C15F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F576C2-79E5-490C-9BAA-DA38C899DF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8A42D9-31C4-450A-AEDD-69AA09D49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A69F8889-903D-481F-8502-CC42B491199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2F517E-F27A-4B2A-A52B-6E9FF29063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1BCB7EF5-9CDE-4242-B5B1-4A92F53F6B3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234A31-A920-431D-B522-D1406945C6A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2A12F91C-5DC2-4C9D-A708-42205C0394B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517D34-2A4C-4718-B27C-91EF37BCEA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F34AD964-E0EF-4217-A515-717AA5FFED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7077491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70C4E4-4CB6-4C08-AF83-1572B7E7F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F8C3C8-3698-4166-B444-11FD33F47E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557954-29CC-465A-AE2D-9DDABDEC4C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AD908E2A-31D7-43AF-961F-417DB89DF57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747339-6200-4E6A-9EA4-1B7BEDF843E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A03DAADD-E05D-42B6-9B70-D5BB417D97F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2A25A99-EE36-40E2-B250-426430F440C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9037BBE-CA2A-4F5C-8595-AD8DEE13AE0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4C3C3BDE-3EB3-4B07-B2DD-5809E8B1568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86722F9A-3ED3-4F7F-A7D1-03759003E9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120931366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474AD2-915A-4129-80A4-E8E2DD927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674CD5-215E-42BF-8D0B-B41183AE12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8FBEF25-1E37-4425-A4C0-FCDDAC7C6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27409999-8B6D-4020-8E78-C8716472AD1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828397-98AB-4414-A07C-CB5171C9115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8D6ECE00-04CB-4625-AEAE-6B5A86CF968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A0F66A8-CC9B-4D54-96B0-E7EB052DFF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48905651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BD0D49-EAF6-412B-9784-8D17E41B27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5053BB-3833-40EF-B432-1D0AD415D5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DA9DE6-469E-4831-9DCC-06906CDD4F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8D587E8C-F188-4BAE-906B-DF9ECE6228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7C86F3-A3E7-4965-9FF8-E2DE921007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49C21BEB-7A55-4383-B9AE-423A4A02B86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5EB025-DCA6-416B-B817-A5B7C2B754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3810D8B5-9C23-4A3E-8AF9-49022CEDE0E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973FC4-3390-4678-AF7B-BD2B6A5447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the model first, then call fit on the next line. round(value, 6) rounds a displayed number to six decimal places; retain full precision for calculations.</a:t>
            </a:r>
          </a:p>
        </p:txBody>
      </p:sp>
      <p:sp>
        <p:nvSpPr>
          <p:cNvPr id="10" name="">
            <a:extLst xmlns:a="http://schemas.openxmlformats.org/drawingml/2006/main">
              <a:ext uri="{FF2B5EF4-FFF2-40B4-BE49-F238E27FC236}">
                <a16:creationId xmlns:a16="http://schemas.microsoft.com/office/drawing/2014/main" id="{E1BD3AFF-A2F9-4C6D-B351-3AD87304D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18431629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BA962D-D95A-48FD-8C97-CD3706731B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3C77BD-F99D-4B7E-B9D4-08529B94A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1ECC64-6058-47E6-82BE-C8D4A3DAD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interaction-building function</a:t>
            </a:r>
          </a:p>
        </p:txBody>
      </p:sp>
      <p:sp>
        <p:nvSpPr>
          <p:cNvPr id="4" name="">
            <a:extLst xmlns:a="http://schemas.openxmlformats.org/drawingml/2006/main">
              <a:ext uri="{FF2B5EF4-FFF2-40B4-BE49-F238E27FC236}">
                <a16:creationId xmlns:a16="http://schemas.microsoft.com/office/drawing/2014/main" id="{7E1607DE-3B0F-4499-8913-CA5F34DA72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9DB75A-8FC7-48DF-B839-4F62E67395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two inputs. for a, b in rows: assigns them to a and b. [a, b, a * b] builds a new row with their product as a third input.</a:t>
            </a:r>
          </a:p>
        </p:txBody>
      </p:sp>
      <p:sp>
        <p:nvSpPr>
          <p:cNvPr id="6" name="">
            <a:extLst xmlns:a="http://schemas.openxmlformats.org/drawingml/2006/main">
              <a:ext uri="{FF2B5EF4-FFF2-40B4-BE49-F238E27FC236}">
                <a16:creationId xmlns:a16="http://schemas.microsoft.com/office/drawing/2014/main" id="{5B5ADC1E-1A18-4662-9841-0A9B2192EA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D076AD-838C-4859-9FAF-A67C73DBA5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[2, 3], append [2, 3, 6]. For row [4, 5], append [4, 5, 20]. The function returns the newly built list of rows.</a:t>
            </a:r>
          </a:p>
        </p:txBody>
      </p:sp>
      <p:sp>
        <p:nvSpPr>
          <p:cNvPr id="8" name="">
            <a:extLst xmlns:a="http://schemas.openxmlformats.org/drawingml/2006/main">
              <a:ext uri="{FF2B5EF4-FFF2-40B4-BE49-F238E27FC236}">
                <a16:creationId xmlns:a16="http://schemas.microsoft.com/office/drawing/2014/main" id="{F73DACAC-6780-46B3-81DF-CCD8C6BE3B3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6632E2-D0A1-4A5D-9A27-79D4F6D1EC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same function must transform both training and validation inputs. It uses no target values to construct the new feature.</a:t>
            </a:r>
          </a:p>
        </p:txBody>
      </p:sp>
      <p:sp>
        <p:nvSpPr>
          <p:cNvPr id="10" name="">
            <a:extLst xmlns:a="http://schemas.openxmlformats.org/drawingml/2006/main">
              <a:ext uri="{FF2B5EF4-FFF2-40B4-BE49-F238E27FC236}">
                <a16:creationId xmlns:a16="http://schemas.microsoft.com/office/drawing/2014/main" id="{ECD2C3E9-58DB-4029-93A4-04F85A733A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81757632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5D25C2-8319-4F77-8FF8-B4C35042A1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AF24F4-CFCA-42E4-B995-B7BA15378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94DE59-AE86-4B4D-81D5-E5DED067F6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837B100C-E58E-4051-9D29-425308C3F9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FBD9A4-E22F-4BCE-B025-582F4B0609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5DE5FE75-3D78-44EC-B430-5E1FD71CB2D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86CC97-C27D-4E04-BBA7-42175178C95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7B7DE593-34A4-4804-9E2C-1BAE92398F2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0AF695-38CA-443C-8227-6F8C9DB3672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37DC7C74-E328-4B74-B166-FC473C8CE03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53DB71D-53CA-489F-BD5E-316D64CF00C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C39E0416-87A2-4D45-A634-4E7FA2CE68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18</a:t>
            </a:r>
          </a:p>
        </p:txBody>
      </p:sp>
    </p:spTree>
    <p:extLst>
      <p:ext uri="{BB962C8B-B14F-4D97-AF65-F5344CB8AC3E}">
        <p14:creationId xmlns:p14="http://schemas.microsoft.com/office/powerpoint/2010/main" val="118259256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077022-1807-4112-82EB-0A4AD5BA73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1A1E99-1B6E-4896-89D8-79F8E9AEFB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D0383D-697B-4C88-9C53-DCB476D9E2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A62A8801-A86D-45AA-8F07-49E5B8500FF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D6813B-EE2D-47E8-82AF-8688C64A50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AC0BBEB6-F241-4FF9-AC6D-DC5E62E8E8F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59CB4E52-1394-4B67-83E6-4BE75FBCD3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9387AB6-D2C8-4899-BA96-DB3B4157A6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16902103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BAE722-5DD0-41EB-95B9-1B2ED7457E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AF8529-846F-44E4-8CE5-BBA72B3026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8A8A00-35DA-4294-A9EC-B1632838B5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C0F00811-2763-44C6-86EB-E696BC1F2CD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2EE50-9A15-44AD-A450-2ECE9992420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with_interaction(rows):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b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result.append([a, b, a *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result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base.fit(train,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extended.fit(with_interaction(train),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base_predictions = base.predict(validation)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2FE60CFB-1AF4-489D-B12C-3FDF44CC219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87E9178B-10BA-4EA2-A048-5AE3AF22AC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FF7C9C3-B92D-43B3-9C29-C1F9C19253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367690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C8CABD-4AD3-4E66-8576-791DD98F89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43914-CE8F-457A-9D45-071FAF7DC9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C6F70D-21F9-4642-9CD1-AA131DABD8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225A6886-60BA-4CE6-9497-153FB45D77D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019AA1-7CE6-49CD-B406-4DD6387B1F5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D89BF201-5298-43C4-AC4C-B9FDB99C4D8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45C421BA-AD34-46A6-B6E1-47B0835013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48901AB-C1A0-41EF-8C3C-A93AB93C6E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2653782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454476-54B7-42AE-98B4-BB256107B1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1833FA-7A0F-46F1-9DD4-451E3C1817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C322F5-28AF-4033-ADA3-4E01D5ABD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Scaling changes units of comparison</a:t>
            </a:r>
          </a:p>
        </p:txBody>
      </p:sp>
      <p:sp>
        <p:nvSpPr>
          <p:cNvPr id="4" name="">
            <a:extLst xmlns:a="http://schemas.openxmlformats.org/drawingml/2006/main">
              <a:ext uri="{FF2B5EF4-FFF2-40B4-BE49-F238E27FC236}">
                <a16:creationId xmlns:a16="http://schemas.microsoft.com/office/drawing/2014/main" id="{5C75362E-482C-4804-B8BB-5048BB5457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493198-5CD3-40D2-8211-31F8682D6A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distance calculation can be dominated by a feature with larger numerical values. Scaling puts feature values on a chosen numerical scale.</a:t>
            </a:r>
          </a:p>
        </p:txBody>
      </p:sp>
      <p:sp>
        <p:nvSpPr>
          <p:cNvPr id="6" name="">
            <a:extLst xmlns:a="http://schemas.openxmlformats.org/drawingml/2006/main">
              <a:ext uri="{FF2B5EF4-FFF2-40B4-BE49-F238E27FC236}">
                <a16:creationId xmlns:a16="http://schemas.microsoft.com/office/drawing/2014/main" id="{4DE8F0AB-797E-4D47-88E4-6BAE39AA350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DB7880-6C9B-4446-B549-08382AB748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example is (value - training_min) / (training_max - training_min). With training limits 10 and 30, value 20 becomes 10 / 20 = 0.5.</a:t>
            </a:r>
          </a:p>
        </p:txBody>
      </p:sp>
      <p:sp>
        <p:nvSpPr>
          <p:cNvPr id="8" name="">
            <a:extLst xmlns:a="http://schemas.openxmlformats.org/drawingml/2006/main">
              <a:ext uri="{FF2B5EF4-FFF2-40B4-BE49-F238E27FC236}">
                <a16:creationId xmlns:a16="http://schemas.microsoft.com/office/drawing/2014/main" id="{797A0330-B8DF-4DFA-9BD9-FD6B8A9363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D7ACD9-E501-4C1B-B4C5-13CB861D70B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learned limits for new observations. A zero training range needs a defined handling rule. New values outside the training range may scale outside 0 to 1.</a:t>
            </a:r>
          </a:p>
        </p:txBody>
      </p:sp>
      <p:sp>
        <p:nvSpPr>
          <p:cNvPr id="10" name="">
            <a:extLst xmlns:a="http://schemas.openxmlformats.org/drawingml/2006/main">
              <a:ext uri="{FF2B5EF4-FFF2-40B4-BE49-F238E27FC236}">
                <a16:creationId xmlns:a16="http://schemas.microsoft.com/office/drawing/2014/main" id="{BD27B656-D9CD-409B-B524-F5756BD073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15711489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5A3CFD-6A4B-4E25-B2FA-F5CB852827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FC8E59-6355-4A91-8AD3-DA4E77C0F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52B758D-7569-4E4E-B14A-008436C0D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B0D192C3-E274-4C2D-A5C8-3EFAB3CB32D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901BE3-D1AD-4753-8641-0BBD122F021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A8E48C2E-0770-45F1-82C1-DA723330532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566656B0-20DB-4410-AFEA-10C305E4D4C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D0768E-AB51-4AB9-95B1-E5381762A11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A17BDC60-FAFB-44E3-966A-5E003DBA9F8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F41958CF-8B60-495D-B17B-5F8C2316C5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131191403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10F087-CE95-45D9-BADC-9BB04BDAEE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0FE20A-7CF8-439E-A98D-E09B6E24EC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44A439-1A7D-426B-9EF8-451CB319C6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A8F86EF-B347-490E-A2AF-6928BCCA4B7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434880-0503-4F22-A167-557EA6EED07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7144C1-899B-40F7-AE89-2930A177012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732CD18B-8DB5-47E0-BA4F-4FF23BA136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EE4ED960-6FFA-4B1E-AA0F-EDDE9B7E03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24</a:t>
            </a:r>
          </a:p>
        </p:txBody>
      </p:sp>
    </p:spTree>
    <p:extLst>
      <p:ext uri="{BB962C8B-B14F-4D97-AF65-F5344CB8AC3E}">
        <p14:creationId xmlns:p14="http://schemas.microsoft.com/office/powerpoint/2010/main" val="18270558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F42E6E-911B-413D-9B38-C825716086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321B8F-0E15-4D85-9803-CC56D60C9D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D7C5A0B-7E0D-4F92-A0AF-C011B1962D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2BA27453-7491-4A0B-AEEE-734B6AF190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6BAE01-F3F0-4647-9E2E-94591966C6A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8603664F-885C-4DAB-8D5A-E938EA372F7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ECE53A-8B22-4C54-B59E-1AAE7FC0493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F96B97AB-CA77-429E-8635-309A17E1E3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CC298F-7DEE-41DA-BD94-FE3EC14DBA6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A52953B1-C578-4B13-A5D8-4DCF9F2B2F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1A32937-1469-4197-B9F0-812CBC3B2CF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EFFD9CEE-30FD-48FB-8413-C03075B4E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202837419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E3F4F-A49F-4D23-AAED-01C687C341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333E6-F498-4C95-A8A5-470F17C735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211EFD-1CAC-4745-AA0D-0ACAB2E0D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8509C22A-A076-48B1-BDE1-9E1DBE6D26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1A2681-4F40-457A-A1DD-DE3B3F80353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2113104F-8FE6-4EA8-984B-DE40D80F9A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861514-0731-489F-ADD8-96712F06DE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15D9A7BC-7D7E-4287-9923-6087303DC6A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3FCDC0-FA1C-4039-86BD-D7888EBC18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ED8CF23F-3609-4E28-A8AB-952A53E66F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212490107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F01B07-CC59-4302-889D-A7975E478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A85AF0-E6FE-4EC6-873E-19085D177B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351BB8-094C-438D-9908-B67C61374E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FDEC09BC-4D04-4653-B2AB-61F5C40B328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5AF1DD-4BDE-4C97-91B3-3BE5E4ABE30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D679EABD-3E55-469B-9EF9-DD7FA604A4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1863234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D63CD7-9C02-4A76-853F-DEB50167D6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9D47C-5F4B-4B8A-BD8C-A73A6D1C6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FC2F671-EBB0-45F6-A420-961BF1FF7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32C90E1-066E-45B0-9E01-32B4AA0B7E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077B8B-5F21-4687-A632-623B4E815C1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3901ECAC-42E9-4B3A-9712-87DBA745BF9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ADD3BC-C330-49B4-B8BF-450AF4F8B5B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63223F4-A3C6-4661-A7F3-5CFBC613E49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745B49-C4B8-4066-A7C1-87A6863AB9A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2C36B3E6-D74F-4DBD-BFA3-4CF24637A92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DEB7892-2D66-41FF-A090-A44A0A2A0B1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D005C19-FEFF-4B46-9F99-4C95624E68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155381537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382DE3-718E-4E23-BB47-E05EB02C88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CA341A-417B-430A-A4CA-7912B4095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E07CBCF-5600-4D68-BCC9-BC95E4D37C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D9C25D1D-A156-466D-AFF0-3BDCC4B4AA6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851613-8DA2-4838-B2A0-4A7AD26DC58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3D247241-F2B9-4D3A-A2BF-53AC2D4F5CF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17DFBC4-C439-4AA8-B962-0A17D027C73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B7A1FB-B233-4FCB-AA9B-17D5AD9AB1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92774279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9B0220-DDA0-4A57-A508-206B0242AC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EE727E-4785-4A45-BA2A-8BB0A2915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15924EC-3690-484A-9131-F8E835C68B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6503BB4A-B887-421C-8800-37C8DA8E331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3BB399-CC74-4CA9-84AC-DDFE6816E4A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2C546289-25F1-48AC-B8E9-B8FE88A9AE8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EBEB42F-D3AE-48C2-9A9D-B617926CB84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17CB45E-2D41-4855-B476-A69CDEA080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30</a:t>
            </a:r>
          </a:p>
        </p:txBody>
      </p:sp>
    </p:spTree>
    <p:extLst>
      <p:ext uri="{BB962C8B-B14F-4D97-AF65-F5344CB8AC3E}">
        <p14:creationId xmlns:p14="http://schemas.microsoft.com/office/powerpoint/2010/main" val="24447929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6A6567-3616-4C3F-B05D-752B15D82D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4F434E-A72B-4B3D-BA79-6B48423D18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44E26A9-DB6A-4EE1-BEEA-E95824042E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E8E273F0-6C66-4615-867C-5DC85A2FFF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2FB5B1-1189-4180-AAE2-8B40C7921D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44894A8-896E-4C91-9B41-E125010B3B5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CD7776-E461-46A4-8068-34F9384C64D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A3A871F-5FAD-4535-832D-1089F9E71A9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ABB685-5751-4053-BBE5-E0BF8D30719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068DE80-8142-4824-AE41-BEAB91200FB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E6CAC5-C966-4818-AC54-A6B9A45034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1C48838-B68D-4804-8AD6-77D012369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31</a:t>
            </a:r>
          </a:p>
        </p:txBody>
      </p:sp>
    </p:spTree>
    <p:extLst>
      <p:ext uri="{BB962C8B-B14F-4D97-AF65-F5344CB8AC3E}">
        <p14:creationId xmlns:p14="http://schemas.microsoft.com/office/powerpoint/2010/main" val="60724625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36D0AB7-A02E-489E-ABA5-7A2CCD6EF1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1DCD6D-B934-4976-BCC4-8C5F8F8720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FC7F869-3423-4E76-88AB-F8F8D56752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87DF8E9C-16C8-4354-96C0-84D4D0CA1EB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C44739-6EF2-4940-9E22-7037D083A2D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08:00 Kampala</a:t>
            </a:r>
          </a:p>
        </p:txBody>
      </p:sp>
      <p:sp>
        <p:nvSpPr>
          <p:cNvPr id="6" name="">
            <a:extLst xmlns:a="http://schemas.openxmlformats.org/drawingml/2006/main">
              <a:ext uri="{FF2B5EF4-FFF2-40B4-BE49-F238E27FC236}">
                <a16:creationId xmlns:a16="http://schemas.microsoft.com/office/drawing/2014/main" id="{D6241277-27EC-4DAE-922D-36A3A7D7C11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9B2505-E3EA-4996-A272-026EAB928D8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08:00 Kampala</a:t>
            </a:r>
          </a:p>
        </p:txBody>
      </p:sp>
      <p:sp>
        <p:nvSpPr>
          <p:cNvPr id="8" name="">
            <a:extLst xmlns:a="http://schemas.openxmlformats.org/drawingml/2006/main">
              <a:ext uri="{FF2B5EF4-FFF2-40B4-BE49-F238E27FC236}">
                <a16:creationId xmlns:a16="http://schemas.microsoft.com/office/drawing/2014/main" id="{4C09C4E3-FEFE-4A7B-AAEB-155C1EC0597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5E747C-7B09-42E8-BD41-F141CA8BD6F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B673118-17B0-425F-99CA-E0D79E96F5F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57CD96-FCED-4E62-8FBE-F1B70B91643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AF942D0-1051-4D82-876F-3CA86364E87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8C7CA19-DD1B-4FC8-AB7E-1BFE57C8607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e42b630724e4468"/>
              </a:rPr>
              <a:t>Open W11 assignment form</a:t>
            </a:r>
          </a:p>
        </p:txBody>
      </p:sp>
      <p:sp>
        <p:nvSpPr>
          <p:cNvPr id="14" name="">
            <a:extLst xmlns:a="http://schemas.openxmlformats.org/drawingml/2006/main">
              <a:ext uri="{FF2B5EF4-FFF2-40B4-BE49-F238E27FC236}">
                <a16:creationId xmlns:a16="http://schemas.microsoft.com/office/drawing/2014/main" id="{E9322E1E-0B0A-4775-BD60-9E9A95D928E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https://docs.google.com/forms/d/e/1FAIpQLSdxAosnTnoXrNZ7QCm8pPQuoa2KxsqFvu_PPsZIQGrJnHMw1g/viewform</a:t>
            </a:r>
          </a:p>
        </p:txBody>
      </p:sp>
      <p:sp>
        <p:nvSpPr>
          <p:cNvPr id="15" name="">
            <a:extLst xmlns:a="http://schemas.openxmlformats.org/drawingml/2006/main">
              <a:ext uri="{FF2B5EF4-FFF2-40B4-BE49-F238E27FC236}">
                <a16:creationId xmlns:a16="http://schemas.microsoft.com/office/drawing/2014/main" id="{ABA9E02E-9216-42A9-8AD4-ADD18A8EE3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32</a:t>
            </a:r>
          </a:p>
        </p:txBody>
      </p:sp>
    </p:spTree>
    <p:extLst>
      <p:ext uri="{BB962C8B-B14F-4D97-AF65-F5344CB8AC3E}">
        <p14:creationId xmlns:p14="http://schemas.microsoft.com/office/powerpoint/2010/main" val="123495597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C61C47-EA82-43DA-A74C-B341B4D534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3BAF83-0D9A-41B3-A3CD-4EC2EA89F6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8A79E01-F5E0-41E7-B17D-296141F7E9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F6A771FF-35D5-4FC6-9D79-1D6D1726BC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6981EA-3FD5-4DB3-8B73-F3ABC2047D8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D63E14E7-CADE-48C4-8E8F-76167851E59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0C464D-C2F5-4546-821B-357820368FD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4CC7BBE-AFBF-4285-98C0-7BC0C39259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44457F-F2D2-48BB-907E-58879F0F77A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D5058FB3-C1E8-4DFA-9545-FED60057E53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F7A41A-FB6E-40F4-B7E7-B1A94DC6F5B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E546A5B5-EE08-4DAD-A34B-13B3F0849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33</a:t>
            </a:r>
          </a:p>
        </p:txBody>
      </p:sp>
    </p:spTree>
    <p:extLst>
      <p:ext uri="{BB962C8B-B14F-4D97-AF65-F5344CB8AC3E}">
        <p14:creationId xmlns:p14="http://schemas.microsoft.com/office/powerpoint/2010/main" val="48065712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88894FD-8B8C-4F07-A12A-61251CA522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C8EAFB-4306-4AC5-AB80-AA1F862D76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C003FDD-AEBD-4722-946A-B947D4171F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B6C42704-B888-47BB-BD2D-0D3442B9699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F5161F-8F92-47D4-BFC1-3730369C76E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3CE1090-DAC9-4449-AD05-0697F60CFD3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58B43F-2C4F-40BA-9316-9694E25E3F9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7D57B8F-2F6E-46F2-82EF-8BF8E586CA8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A6B1DB-F94B-4908-AF7C-0C4A533E38D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119317C-EC6C-41CB-9032-3A75DE8C357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C66AC4C-A383-43D0-914F-6763148E058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9bf26be19314ec0"/>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0A9013F-5DEC-4231-9C99-A58B187AF72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6120B2D-6D43-4721-A653-E1F7ECF3F83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FF5C097-A8C0-45C1-8C1D-86B4EFEE7E5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52cbc5ed6f74604"/>
              </a:rPr>
              <a:t>Open this week’s quiz</a:t>
            </a:r>
          </a:p>
        </p:txBody>
      </p:sp>
      <p:sp>
        <p:nvSpPr>
          <p:cNvPr id="16" name="">
            <a:extLst xmlns:a="http://schemas.openxmlformats.org/drawingml/2006/main">
              <a:ext uri="{FF2B5EF4-FFF2-40B4-BE49-F238E27FC236}">
                <a16:creationId xmlns:a16="http://schemas.microsoft.com/office/drawing/2014/main" id="{51852929-1393-42C1-BA4F-E5C3E0386A1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https://forms.gle/3sf2d3vGXpJ4HtvP6</a:t>
            </a:r>
          </a:p>
        </p:txBody>
      </p:sp>
      <p:sp>
        <p:nvSpPr>
          <p:cNvPr id="17" name="">
            <a:extLst xmlns:a="http://schemas.openxmlformats.org/drawingml/2006/main">
              <a:ext uri="{FF2B5EF4-FFF2-40B4-BE49-F238E27FC236}">
                <a16:creationId xmlns:a16="http://schemas.microsoft.com/office/drawing/2014/main" id="{57904C55-07C4-48D2-BD2C-C65C6A063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34</a:t>
            </a:r>
          </a:p>
        </p:txBody>
      </p:sp>
    </p:spTree>
    <p:extLst>
      <p:ext uri="{BB962C8B-B14F-4D97-AF65-F5344CB8AC3E}">
        <p14:creationId xmlns:p14="http://schemas.microsoft.com/office/powerpoint/2010/main" val="1283267121"/>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ECBF5F-00FC-47FE-9860-2803D8BF13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A7E3A94-7FF2-4795-BE6B-9E27F9D8FC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14D962E-CB26-4A85-98B1-8BA65336502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1E095DC-30E4-4DE7-9F64-600CD83AFA2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0C71A2C-8B8E-427A-90CD-74CBD2DB1BF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D2EFC40-0EDC-4302-9498-F8AB0686FE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35</a:t>
            </a:r>
          </a:p>
        </p:txBody>
      </p:sp>
    </p:spTree>
    <p:extLst>
      <p:ext uri="{BB962C8B-B14F-4D97-AF65-F5344CB8AC3E}">
        <p14:creationId xmlns:p14="http://schemas.microsoft.com/office/powerpoint/2010/main" val="1800657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2026-09-28T21:46:07.5180000Z</dcterms:created>
  <dcterms:modified xsi:type="dcterms:W3CDTF">2026-09-28T21:46:07.5180000Z</dcterms:modified>
</coreProperties>
</file>