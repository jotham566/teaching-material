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e6e10b798324a3d" /><Relationship Type="http://schemas.openxmlformats.org/officeDocument/2006/relationships/extended-properties" Target="/docProps/app.xml" Id="R3d172a6e96624efc" /><Relationship Type="http://schemas.openxmlformats.org/officeDocument/2006/relationships/officeDocument" Target="/ppt/presentation.xml" Id="R339f0a718c824bc9" /></Relationships>
</file>

<file path=ppt/presentation.xml><?xml version="1.0" encoding="utf-8"?>
<p:presentation xmlns:p="http://schemas.openxmlformats.org/presentationml/2006/main">
  <p:sldMasterIdLst>
    <p:sldMasterId xmlns:r="http://schemas.openxmlformats.org/officeDocument/2006/relationships" id="2147483648" r:id="R2e67b06dc39048ec"/>
  </p:sldMasterIdLst>
  <p:notesMasterIdLst>
    <p:notesMasterId xmlns:r="http://schemas.openxmlformats.org/officeDocument/2006/relationships" r:id="Rd3af160da76b4f90"/>
  </p:notesMasterIdLst>
  <p:sldIdLst>
    <p:sldId xmlns:r="http://schemas.openxmlformats.org/officeDocument/2006/relationships" id="256" r:id="R13ebe90859784d86"/>
    <p:sldId xmlns:r="http://schemas.openxmlformats.org/officeDocument/2006/relationships" id="257" r:id="Rd26ecbc5714545d7"/>
    <p:sldId xmlns:r="http://schemas.openxmlformats.org/officeDocument/2006/relationships" id="258" r:id="Rbf8a4f7e3cf44ff0"/>
    <p:sldId xmlns:r="http://schemas.openxmlformats.org/officeDocument/2006/relationships" id="259" r:id="R20296a09f3514b05"/>
    <p:sldId xmlns:r="http://schemas.openxmlformats.org/officeDocument/2006/relationships" id="260" r:id="R1d3f940380f741f6"/>
    <p:sldId xmlns:r="http://schemas.openxmlformats.org/officeDocument/2006/relationships" id="261" r:id="Rfc42ce01b1db43ab"/>
    <p:sldId xmlns:r="http://schemas.openxmlformats.org/officeDocument/2006/relationships" id="262" r:id="Rebef5a05e1474371"/>
    <p:sldId xmlns:r="http://schemas.openxmlformats.org/officeDocument/2006/relationships" id="263" r:id="R1508e721c9ae4e2d"/>
    <p:sldId xmlns:r="http://schemas.openxmlformats.org/officeDocument/2006/relationships" id="264" r:id="R825de09f527844c4"/>
    <p:sldId xmlns:r="http://schemas.openxmlformats.org/officeDocument/2006/relationships" id="265" r:id="R2b311d455928458a"/>
    <p:sldId xmlns:r="http://schemas.openxmlformats.org/officeDocument/2006/relationships" id="266" r:id="R646e02a54d454a6c"/>
    <p:sldId xmlns:r="http://schemas.openxmlformats.org/officeDocument/2006/relationships" id="267" r:id="R0f86075a62dd4218"/>
    <p:sldId xmlns:r="http://schemas.openxmlformats.org/officeDocument/2006/relationships" id="268" r:id="R035b025280fb4a65"/>
    <p:sldId xmlns:r="http://schemas.openxmlformats.org/officeDocument/2006/relationships" id="269" r:id="R4f15d4ea15c546b8"/>
    <p:sldId xmlns:r="http://schemas.openxmlformats.org/officeDocument/2006/relationships" id="270" r:id="Rfe7742de10634de7"/>
    <p:sldId xmlns:r="http://schemas.openxmlformats.org/officeDocument/2006/relationships" id="271" r:id="R7fbb2ef8c691412f"/>
    <p:sldId xmlns:r="http://schemas.openxmlformats.org/officeDocument/2006/relationships" id="272" r:id="R40322ee00863428f"/>
    <p:sldId xmlns:r="http://schemas.openxmlformats.org/officeDocument/2006/relationships" id="273" r:id="Ra90b21c6cc09433b"/>
    <p:sldId xmlns:r="http://schemas.openxmlformats.org/officeDocument/2006/relationships" id="274" r:id="R75320486e0f4401a"/>
    <p:sldId xmlns:r="http://schemas.openxmlformats.org/officeDocument/2006/relationships" id="275" r:id="Rc6ce3042881a49e4"/>
    <p:sldId xmlns:r="http://schemas.openxmlformats.org/officeDocument/2006/relationships" id="276" r:id="R4db24252403d4731"/>
    <p:sldId xmlns:r="http://schemas.openxmlformats.org/officeDocument/2006/relationships" id="277" r:id="R5f58d8d2d2c34781"/>
    <p:sldId xmlns:r="http://schemas.openxmlformats.org/officeDocument/2006/relationships" id="278" r:id="R911083c12a9e49da"/>
    <p:sldId xmlns:r="http://schemas.openxmlformats.org/officeDocument/2006/relationships" id="279" r:id="R77290d0ae32042bb"/>
    <p:sldId xmlns:r="http://schemas.openxmlformats.org/officeDocument/2006/relationships" id="280" r:id="R98a253a6674d4f68"/>
    <p:sldId xmlns:r="http://schemas.openxmlformats.org/officeDocument/2006/relationships" id="281" r:id="R9430f565f1c94cf4"/>
    <p:sldId xmlns:r="http://schemas.openxmlformats.org/officeDocument/2006/relationships" id="282" r:id="Raca4ad65b3414aed"/>
    <p:sldId xmlns:r="http://schemas.openxmlformats.org/officeDocument/2006/relationships" id="283" r:id="R4d59b3895ec5475f"/>
    <p:sldId xmlns:r="http://schemas.openxmlformats.org/officeDocument/2006/relationships" id="284" r:id="R4db65d95875f4847"/>
    <p:sldId xmlns:r="http://schemas.openxmlformats.org/officeDocument/2006/relationships" id="285" r:id="Rdcd7c6cd853b4255"/>
    <p:sldId xmlns:r="http://schemas.openxmlformats.org/officeDocument/2006/relationships" id="286" r:id="R9e98371bd6ff4ef5"/>
    <p:sldId xmlns:r="http://schemas.openxmlformats.org/officeDocument/2006/relationships" id="287" r:id="R8455a5b67aa344c1"/>
    <p:sldId xmlns:r="http://schemas.openxmlformats.org/officeDocument/2006/relationships" id="288" r:id="Rb189c29c1bc84f4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3e7f809f3748a7" /><Relationship Type="http://schemas.openxmlformats.org/officeDocument/2006/relationships/slideMaster" Target="/ppt/slideMasters/slideMaster1.xml" Id="R2e67b06dc39048ec" /><Relationship Type="http://schemas.openxmlformats.org/officeDocument/2006/relationships/notesMaster" Target="/ppt/notesMasters/notesMaster1.xml" Id="Rd3af160da76b4f90" /><Relationship Type="http://schemas.openxmlformats.org/officeDocument/2006/relationships/presProps" Target="/ppt/presProps.xml" Id="R130625540f7e4cf1" /><Relationship Type="http://schemas.openxmlformats.org/officeDocument/2006/relationships/tableStyles" Target="/ppt/tableStyles.xml" Id="Rd12186c92893471f" /><Relationship Type="http://schemas.openxmlformats.org/officeDocument/2006/relationships/slide" Target="/ppt/slides/slide1.xml" Id="R13ebe90859784d86" /><Relationship Type="http://schemas.openxmlformats.org/officeDocument/2006/relationships/slide" Target="/ppt/slides/slide2.xml" Id="Rd26ecbc5714545d7" /><Relationship Type="http://schemas.openxmlformats.org/officeDocument/2006/relationships/slide" Target="/ppt/slides/slide3.xml" Id="Rbf8a4f7e3cf44ff0" /><Relationship Type="http://schemas.openxmlformats.org/officeDocument/2006/relationships/slide" Target="/ppt/slides/slide4.xml" Id="R20296a09f3514b05" /><Relationship Type="http://schemas.openxmlformats.org/officeDocument/2006/relationships/slide" Target="/ppt/slides/slide5.xml" Id="R1d3f940380f741f6" /><Relationship Type="http://schemas.openxmlformats.org/officeDocument/2006/relationships/slide" Target="/ppt/slides/slide6.xml" Id="Rfc42ce01b1db43ab" /><Relationship Type="http://schemas.openxmlformats.org/officeDocument/2006/relationships/slide" Target="/ppt/slides/slide7.xml" Id="Rebef5a05e1474371" /><Relationship Type="http://schemas.openxmlformats.org/officeDocument/2006/relationships/slide" Target="/ppt/slides/slide8.xml" Id="R1508e721c9ae4e2d" /><Relationship Type="http://schemas.openxmlformats.org/officeDocument/2006/relationships/slide" Target="/ppt/slides/slide9.xml" Id="R825de09f527844c4" /><Relationship Type="http://schemas.openxmlformats.org/officeDocument/2006/relationships/slide" Target="/ppt/slides/slide10.xml" Id="R2b311d455928458a" /><Relationship Type="http://schemas.openxmlformats.org/officeDocument/2006/relationships/slide" Target="/ppt/slides/slide11.xml" Id="R646e02a54d454a6c" /><Relationship Type="http://schemas.openxmlformats.org/officeDocument/2006/relationships/slide" Target="/ppt/slides/slide12.xml" Id="R0f86075a62dd4218" /><Relationship Type="http://schemas.openxmlformats.org/officeDocument/2006/relationships/slide" Target="/ppt/slides/slide13.xml" Id="R035b025280fb4a65" /><Relationship Type="http://schemas.openxmlformats.org/officeDocument/2006/relationships/slide" Target="/ppt/slides/slide14.xml" Id="R4f15d4ea15c546b8" /><Relationship Type="http://schemas.openxmlformats.org/officeDocument/2006/relationships/slide" Target="/ppt/slides/slide15.xml" Id="Rfe7742de10634de7" /><Relationship Type="http://schemas.openxmlformats.org/officeDocument/2006/relationships/slide" Target="/ppt/slides/slide16.xml" Id="R7fbb2ef8c691412f" /><Relationship Type="http://schemas.openxmlformats.org/officeDocument/2006/relationships/slide" Target="/ppt/slides/slide17.xml" Id="R40322ee00863428f" /><Relationship Type="http://schemas.openxmlformats.org/officeDocument/2006/relationships/slide" Target="/ppt/slides/slide18.xml" Id="Ra90b21c6cc09433b" /><Relationship Type="http://schemas.openxmlformats.org/officeDocument/2006/relationships/slide" Target="/ppt/slides/slide19.xml" Id="R75320486e0f4401a" /><Relationship Type="http://schemas.openxmlformats.org/officeDocument/2006/relationships/slide" Target="/ppt/slides/slide20.xml" Id="Rc6ce3042881a49e4" /><Relationship Type="http://schemas.openxmlformats.org/officeDocument/2006/relationships/slide" Target="/ppt/slides/slide21.xml" Id="R4db24252403d4731" /><Relationship Type="http://schemas.openxmlformats.org/officeDocument/2006/relationships/slide" Target="/ppt/slides/slide22.xml" Id="R5f58d8d2d2c34781" /><Relationship Type="http://schemas.openxmlformats.org/officeDocument/2006/relationships/slide" Target="/ppt/slides/slide23.xml" Id="R911083c12a9e49da" /><Relationship Type="http://schemas.openxmlformats.org/officeDocument/2006/relationships/slide" Target="/ppt/slides/slide24.xml" Id="R77290d0ae32042bb" /><Relationship Type="http://schemas.openxmlformats.org/officeDocument/2006/relationships/slide" Target="/ppt/slides/slide25.xml" Id="R98a253a6674d4f68" /><Relationship Type="http://schemas.openxmlformats.org/officeDocument/2006/relationships/slide" Target="/ppt/slides/slide26.xml" Id="R9430f565f1c94cf4" /><Relationship Type="http://schemas.openxmlformats.org/officeDocument/2006/relationships/slide" Target="/ppt/slides/slide27.xml" Id="Raca4ad65b3414aed" /><Relationship Type="http://schemas.openxmlformats.org/officeDocument/2006/relationships/slide" Target="/ppt/slides/slide28.xml" Id="R4d59b3895ec5475f" /><Relationship Type="http://schemas.openxmlformats.org/officeDocument/2006/relationships/slide" Target="/ppt/slides/slide29.xml" Id="R4db65d95875f4847" /><Relationship Type="http://schemas.openxmlformats.org/officeDocument/2006/relationships/slide" Target="/ppt/slides/slide30.xml" Id="Rdcd7c6cd853b4255" /><Relationship Type="http://schemas.openxmlformats.org/officeDocument/2006/relationships/slide" Target="/ppt/slides/slide31.xml" Id="R9e98371bd6ff4ef5" /><Relationship Type="http://schemas.openxmlformats.org/officeDocument/2006/relationships/slide" Target="/ppt/slides/slide32.xml" Id="R8455a5b67aa344c1" /><Relationship Type="http://schemas.openxmlformats.org/officeDocument/2006/relationships/slide" Target="/ppt/slides/slide33.xml" Id="Rb189c29c1bc84f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065e1a81ad4f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61fb79c40d47e2" /><Relationship Type="http://schemas.openxmlformats.org/officeDocument/2006/relationships/notesMaster" Target="/ppt/notesMasters/notesMaster1.xml" Id="Ra12f2da8f55845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186b8717614053" /><Relationship Type="http://schemas.openxmlformats.org/officeDocument/2006/relationships/notesMaster" Target="/ppt/notesMasters/notesMaster1.xml" Id="Rdabdb839a4684a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b2c3e7bac04ce1" /><Relationship Type="http://schemas.openxmlformats.org/officeDocument/2006/relationships/notesMaster" Target="/ppt/notesMasters/notesMaster1.xml" Id="R23d3a0443b2143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57686d805242ab" /><Relationship Type="http://schemas.openxmlformats.org/officeDocument/2006/relationships/notesMaster" Target="/ppt/notesMasters/notesMaster1.xml" Id="Rcf79e1e9964440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3b977517af74e26" /><Relationship Type="http://schemas.openxmlformats.org/officeDocument/2006/relationships/notesMaster" Target="/ppt/notesMasters/notesMaster1.xml" Id="R5df9db9d3aea44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6cf283c0674973" /><Relationship Type="http://schemas.openxmlformats.org/officeDocument/2006/relationships/notesMaster" Target="/ppt/notesMasters/notesMaster1.xml" Id="R6b7014fe09194a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a719ed251eb4501" /><Relationship Type="http://schemas.openxmlformats.org/officeDocument/2006/relationships/notesMaster" Target="/ppt/notesMasters/notesMaster1.xml" Id="R1d14facb38d845c5"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1d3e6c74fb42b8" /><Relationship Type="http://schemas.openxmlformats.org/officeDocument/2006/relationships/notesMaster" Target="/ppt/notesMasters/notesMaster1.xml" Id="R91a1e51ff86e40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fff76c0d6044e3" /><Relationship Type="http://schemas.openxmlformats.org/officeDocument/2006/relationships/notesMaster" Target="/ppt/notesMasters/notesMaster1.xml" Id="Ra088e51fcd3241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bb10e945084925" /><Relationship Type="http://schemas.openxmlformats.org/officeDocument/2006/relationships/notesMaster" Target="/ppt/notesMasters/notesMaster1.xml" Id="Rdcff6173205e47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d45ea4215c4378" /><Relationship Type="http://schemas.openxmlformats.org/officeDocument/2006/relationships/notesMaster" Target="/ppt/notesMasters/notesMaster1.xml" Id="R68b0b752f2494c2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39185b5ccd4182" /><Relationship Type="http://schemas.openxmlformats.org/officeDocument/2006/relationships/notesMaster" Target="/ppt/notesMasters/notesMaster1.xml" Id="R1b6896dd0d1744f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4da1a084f40be" /><Relationship Type="http://schemas.openxmlformats.org/officeDocument/2006/relationships/notesMaster" Target="/ppt/notesMasters/notesMaster1.xml" Id="Rae47aacb3de549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f434399b1da4b20" /><Relationship Type="http://schemas.openxmlformats.org/officeDocument/2006/relationships/notesMaster" Target="/ppt/notesMasters/notesMaster1.xml" Id="Rda53a59d30af42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44af844ec84e1a" /><Relationship Type="http://schemas.openxmlformats.org/officeDocument/2006/relationships/notesMaster" Target="/ppt/notesMasters/notesMaster1.xml" Id="R2a5e64fd80a54a6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746852d81dd4c21" /><Relationship Type="http://schemas.openxmlformats.org/officeDocument/2006/relationships/notesMaster" Target="/ppt/notesMasters/notesMaster1.xml" Id="R82edb3b522c44f4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74f165f0354da3" /><Relationship Type="http://schemas.openxmlformats.org/officeDocument/2006/relationships/notesMaster" Target="/ppt/notesMasters/notesMaster1.xml" Id="R4f100780d6564ef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f65624e69a2403f" /><Relationship Type="http://schemas.openxmlformats.org/officeDocument/2006/relationships/notesMaster" Target="/ppt/notesMasters/notesMaster1.xml" Id="Red0969ffa53548e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a5a641e6e384e16" /><Relationship Type="http://schemas.openxmlformats.org/officeDocument/2006/relationships/notesMaster" Target="/ppt/notesMasters/notesMaster1.xml" Id="Ra69f8333ac90454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ba2da4aa992404f" /><Relationship Type="http://schemas.openxmlformats.org/officeDocument/2006/relationships/notesMaster" Target="/ppt/notesMasters/notesMaster1.xml" Id="R1748aa1fdf6143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087cb46673d4f42" /><Relationship Type="http://schemas.openxmlformats.org/officeDocument/2006/relationships/notesMaster" Target="/ppt/notesMasters/notesMaster1.xml" Id="R9970ad1b9ce04b6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428484491a4af9" /><Relationship Type="http://schemas.openxmlformats.org/officeDocument/2006/relationships/notesMaster" Target="/ppt/notesMasters/notesMaster1.xml" Id="R047e833022ca4cf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2e47209d94d41a6" /><Relationship Type="http://schemas.openxmlformats.org/officeDocument/2006/relationships/notesMaster" Target="/ppt/notesMasters/notesMaster1.xml" Id="R0da069f90afe467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b6b874563334e23" /><Relationship Type="http://schemas.openxmlformats.org/officeDocument/2006/relationships/notesMaster" Target="/ppt/notesMasters/notesMaster1.xml" Id="R9708f4a67ca040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a49436bdbeb4c32" /><Relationship Type="http://schemas.openxmlformats.org/officeDocument/2006/relationships/notesMaster" Target="/ppt/notesMasters/notesMaster1.xml" Id="R6ada61b071a3433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bda46736c2a436d" /><Relationship Type="http://schemas.openxmlformats.org/officeDocument/2006/relationships/notesMaster" Target="/ppt/notesMasters/notesMaster1.xml" Id="R4baa92c6e92c45a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9966ecdcb634b49" /><Relationship Type="http://schemas.openxmlformats.org/officeDocument/2006/relationships/notesMaster" Target="/ppt/notesMasters/notesMaster1.xml" Id="R73c600771b2548a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2f16437f3404fa8" /><Relationship Type="http://schemas.openxmlformats.org/officeDocument/2006/relationships/notesMaster" Target="/ppt/notesMasters/notesMaster1.xml" Id="Rde2408bf17dc416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75cf2ac4bb84ac4" /><Relationship Type="http://schemas.openxmlformats.org/officeDocument/2006/relationships/notesMaster" Target="/ppt/notesMasters/notesMaster1.xml" Id="R150a241bf00e4b8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53b8373a5414e69" /><Relationship Type="http://schemas.openxmlformats.org/officeDocument/2006/relationships/notesMaster" Target="/ppt/notesMasters/notesMaster1.xml" Id="R1a131b107654471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7b2d0b1bb8f4fbc" /><Relationship Type="http://schemas.openxmlformats.org/officeDocument/2006/relationships/notesMaster" Target="/ppt/notesMasters/notesMaster1.xml" Id="R0c537a010d434dd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43cf78355ad4fdc" /><Relationship Type="http://schemas.openxmlformats.org/officeDocument/2006/relationships/notesMaster" Target="/ppt/notesMasters/notesMaster1.xml" Id="Rcc5ed8522377447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2f9e888e30f4743" /><Relationship Type="http://schemas.openxmlformats.org/officeDocument/2006/relationships/notesMaster" Target="/ppt/notesMasters/notesMaster1.xml" Id="Rf79fb8b412454f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testing a useful feature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Creating and testing a useful feature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Creating and testing a useful feature. Explain why this example is needed before running it.</a:t>
            </a:r>
          </a:p>
          <a:p xmlns:a="http://schemas.openxmlformats.org/drawingml/2006/main">
            <a:r>
              <a:t/>
            </a:r>
          </a:p>
          <a:p xmlns:a="http://schemas.openxmlformats.org/drawingml/2006/main">
            <a:r>
              <a:t>EXPLAIN</a:t>
            </a:r>
          </a:p>
          <a:p xmlns:a="http://schemas.openxmlformats.org/drawingml/2006/main">
            <a:r>
              <a:t>Create a feature from available measurements.</a:t>
            </a:r>
          </a:p>
          <a:p xmlns:a="http://schemas.openxmlformats.org/drawingml/2006/main">
            <a:r>
              <a:t/>
            </a:r>
          </a:p>
          <a:p xmlns:a="http://schemas.openxmlformats.org/drawingml/2006/main">
            <a:r>
              <a:t>Compare models with one controlled change.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Creating and testing a useful feature.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already keep evaluation data separate. Now we change one input representation while keeping the comparison protocol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calculated input may help a model. We compare the original and extended inputs on the same observations, then decide whether the evidence supports the extra feature.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A feature has a meaning.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feature has a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A feature is an input available at prediction time.</a:t>
            </a:r>
          </a:p>
          <a:p xmlns:a="http://schemas.openxmlformats.org/drawingml/2006/main">
            <a:r>
              <a:t/>
            </a:r>
          </a:p>
          <a:p xmlns:a="http://schemas.openxmlformats.org/drawingml/2006/main">
            <a:r>
              <a:t>An interaction multiplies two inputs to express a joint pattern.</a:t>
            </a:r>
          </a:p>
          <a:p xmlns:a="http://schemas.openxmlformats.org/drawingml/2006/main">
            <a:r>
              <a:t/>
            </a:r>
          </a:p>
          <a:p xmlns:a="http://schemas.openxmlformats.org/drawingml/2006/main">
            <a:r>
              <a:t>A better validation score can still reflect leakage.</a:t>
            </a:r>
          </a:p>
          <a:p xmlns:a="http://schemas.openxmlformats.org/drawingml/2006/main">
            <a:r>
              <a:t/>
            </a:r>
          </a:p>
          <a:p xmlns:a="http://schemas.openxmlformats.org/drawingml/2006/main">
            <a:r>
              <a:t>Compare the same observations and explain the physical meaning.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Derived feature and Ratio and interaction.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Derived feature and Ratio and interaction</a:t>
            </a:r>
          </a:p>
          <a:p xmlns:a="http://schemas.openxmlformats.org/drawingml/2006/main">
            <a:r>
              <a:t/>
            </a:r>
          </a:p>
          <a:p xmlns:a="http://schemas.openxmlformats.org/drawingml/2006/main">
            <a:r>
              <a:t>CONNECT</a:t>
            </a:r>
          </a:p>
          <a:p xmlns:a="http://schemas.openxmlformats.org/drawingml/2006/main">
            <a:r>
              <a:t>Build on A feature has a meaning. Explain why this example is needed before running it.</a:t>
            </a:r>
          </a:p>
          <a:p xmlns:a="http://schemas.openxmlformats.org/drawingml/2006/main">
            <a:r>
              <a:t/>
            </a:r>
          </a:p>
          <a:p xmlns:a="http://schemas.openxmlformats.org/drawingml/2006/main">
            <a:r>
              <a:t>EXPLAIN</a:t>
            </a:r>
          </a:p>
          <a:p xmlns:a="http://schemas.openxmlformats.org/drawingml/2006/main">
            <a:r>
              <a:t>Derived feature: A new input calculated from existing inputs. Its definition and unit must be stated.</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feature has a meaning.</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POINT TO THE DEFINITION</a:t>
            </a:r>
          </a:p>
          <a:p xmlns:a="http://schemas.openxmlformats.org/drawingml/2006/main">
            <a:r>
              <a:t>Derived feature: A new input calculated from existing inputs. Its definition and unit must be stated.</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NEXT</a:t>
            </a:r>
          </a:p>
          <a:p xmlns:a="http://schemas.openxmlformats.org/drawingml/2006/main">
            <a:r>
              <a:t>Read the physical example across programmes.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physical example across programmes.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Build on Derived feature and Ratio and interaction. Explain why this example is needed before running it.</a:t>
            </a:r>
          </a:p>
          <a:p xmlns:a="http://schemas.openxmlformats.org/drawingml/2006/main">
            <a:r>
              <a:t/>
            </a:r>
          </a:p>
          <a:p xmlns:a="http://schemas.openxmlformats.org/drawingml/2006/main">
            <a:r>
              <a:t>EXPLAIN</a:t>
            </a:r>
          </a:p>
          <a:p xmlns:a="http://schemas.openxmlformats.org/drawingml/2006/main">
            <a:r>
              <a:t>Current I is the flow of electric charge, measured in amperes (A). Resistance R opposes that flow, measured in ohms.</a:t>
            </a:r>
          </a:p>
          <a:p xmlns:a="http://schemas.openxmlformats.org/drawingml/2006/main">
            <a:r>
              <a:t/>
            </a:r>
          </a:p>
          <a:p xmlns:a="http://schemas.openxmlformats.org/drawingml/2006/main">
            <a:r>
              <a:t>Power P is energy transferred per second, measured in watts (W). Resistive heating follows P = I²R in this example.</a:t>
            </a:r>
          </a:p>
          <a:p xmlns:a="http://schemas.openxmlformats.org/drawingml/2006/main">
            <a:r>
              <a:t/>
            </a:r>
          </a:p>
          <a:p xmlns:a="http://schemas.openxmlformats.org/drawingml/2006/main">
            <a:r>
              <a:t>I² means I × I. With I = 2 A and R = 3 ohms, P = 2 × 2 × 3 = 12 W. This relationship motivates a feature; evaluation still tests whether it helps.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A physical relationship can form a feature.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physical relationship can form a feature.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Build on Read the physical example across programmes. Explain why this example is needed before running it.</a:t>
            </a:r>
          </a:p>
          <a:p xmlns:a="http://schemas.openxmlformats.org/drawingml/2006/main">
            <a:r>
              <a:t/>
            </a:r>
          </a:p>
          <a:p xmlns:a="http://schemas.openxmlformats.org/drawingml/2006/main">
            <a:r>
              <a:t>EXPLAIN</a:t>
            </a:r>
          </a:p>
          <a:p xmlns:a="http://schemas.openxmlformats.org/drawingml/2006/main">
            <a:r>
              <a:t>Explain each quantity and the unit of the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Build on the preceding slide: Read the physical example across programmes.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An interaction uses two known inputs.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An interaction uses two known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Build on A physical relationship can form a feature. Explain why this example is needed before running it.</a:t>
            </a:r>
          </a:p>
          <a:p xmlns:a="http://schemas.openxmlformats.org/drawingml/2006/main">
            <a:r>
              <a:t/>
            </a:r>
          </a:p>
          <a:p xmlns:a="http://schemas.openxmlformats.org/drawingml/2006/main">
            <a:r>
              <a:t>EXPLAIN</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Build on the preceding slide: A physical relationship can form a feature.</a:t>
            </a:r>
          </a:p>
          <a:p xmlns:a="http://schemas.openxmlformats.org/drawingml/2006/main">
            <a:r>
              <a:t/>
            </a:r>
          </a:p>
          <a:p xmlns:a="http://schemas.openxmlformats.org/drawingml/2006/main">
            <a:r>
              <a:t>LECTURER CUE</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 percentage and its fraction.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percentage and its fraction.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Build on An interaction uses two known inputs. Explain why this example is needed before running it.</a:t>
            </a:r>
          </a:p>
          <a:p xmlns:a="http://schemas.openxmlformats.org/drawingml/2006/main">
            <a:r>
              <a:t/>
            </a:r>
          </a:p>
          <a:p xmlns:a="http://schemas.openxmlformats.org/drawingml/2006/main">
            <a:r>
              <a:t>EXPLAIN</a:t>
            </a:r>
          </a:p>
          <a:p xmlns:a="http://schemas.openxmlformats.org/drawingml/2006/main">
            <a:r>
              <a:t>40% means 40 out of 100.</a:t>
            </a:r>
          </a:p>
          <a:p xmlns:a="http://schemas.openxmlformats.org/drawingml/2006/main">
            <a:r>
              <a:t/>
            </a:r>
          </a:p>
          <a:p xmlns:a="http://schemas.openxmlformats.org/drawingml/2006/main">
            <a:r>
              <a:t>40 / 100 gives 0.4.</a:t>
            </a:r>
          </a:p>
          <a:p xmlns:a="http://schemas.openxmlformats.org/drawingml/2006/main">
            <a:r>
              <a:t/>
            </a:r>
          </a:p>
          <a:p xmlns:a="http://schemas.openxmlformats.org/drawingml/2006/main">
            <a:r>
              <a:t>This changes the representation. It adds no new observation.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Build on the preceding slide: An interaction uses two known inputs.</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A combined input needs a reason.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combined input needs a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Build on A percentage and its fraction. Explain why this example is needed before running it.</a:t>
            </a:r>
          </a:p>
          <a:p xmlns:a="http://schemas.openxmlformats.org/drawingml/2006/main">
            <a:r>
              <a:t/>
            </a:r>
          </a:p>
          <a:p xmlns:a="http://schemas.openxmlformats.org/drawingml/2006/main">
            <a:r>
              <a:t>EXPLAIN</a:t>
            </a:r>
          </a:p>
          <a:p xmlns:a="http://schemas.openxmlformats.org/drawingml/2006/main">
            <a:r>
              <a:t>An interaction multiplies two inputs.</a:t>
            </a:r>
          </a:p>
          <a:p xmlns:a="http://schemas.openxmlformats.org/drawingml/2006/main">
            <a:r>
              <a:t/>
            </a:r>
          </a:p>
          <a:p xmlns:a="http://schemas.openxmlformats.org/drawingml/2006/main">
            <a:r>
              <a:t>It may help a simple model represent a joint pattern.</a:t>
            </a:r>
          </a:p>
          <a:p xmlns:a="http://schemas.openxmlformats.org/drawingml/2006/main">
            <a:r>
              <a:t/>
            </a:r>
          </a:p>
          <a:p xmlns:a="http://schemas.openxmlformats.org/drawingml/2006/main">
            <a:r>
              <a:t>An interaction with degrees Celsius is an empirical feature, not automatically a physical law.</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Build on the preceding slide: A percentage and its fraction.</a:t>
            </a:r>
          </a:p>
          <a:p xmlns:a="http://schemas.openxmlformats.org/drawingml/2006/main">
            <a:r>
              <a:t/>
            </a:r>
          </a:p>
          <a:p xmlns:a="http://schemas.openxmlformats.org/drawingml/2006/main">
            <a:r>
              <a:t>LECTURER CUE</a:t>
            </a:r>
          </a:p>
          <a:p xmlns:a="http://schemas.openxmlformats.org/drawingml/2006/main">
            <a:r>
              <a:t>An interaction may help a simple model express a relationship, but usefulness is tested rather than assumed. An interaction involving Celsius is an empirical feature, not automatically a physical law.</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Ablation and Improvement.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 and Improvement</a:t>
            </a:r>
          </a:p>
          <a:p xmlns:a="http://schemas.openxmlformats.org/drawingml/2006/main">
            <a:r>
              <a:t/>
            </a:r>
          </a:p>
          <a:p xmlns:a="http://schemas.openxmlformats.org/drawingml/2006/main">
            <a:r>
              <a:t>CONNECT</a:t>
            </a:r>
          </a:p>
          <a:p xmlns:a="http://schemas.openxmlformats.org/drawingml/2006/main">
            <a:r>
              <a:t>Build on A combined input needs a reason. Explain why this example is needed before running it.</a:t>
            </a:r>
          </a:p>
          <a:p xmlns:a="http://schemas.openxmlformats.org/drawingml/2006/main">
            <a:r>
              <a:t/>
            </a:r>
          </a:p>
          <a:p xmlns:a="http://schemas.openxmlformats.org/drawingml/2006/main">
            <a:r>
              <a:t>EXPLAIN</a:t>
            </a:r>
          </a:p>
          <a:p xmlns:a="http://schemas.openxmlformats.org/drawingml/2006/main">
            <a:r>
              <a:t>Ablation: Compare a model with and without a feature while keeping the data partitions, model family and metric fixed.</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A combined input needs a reason.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POINT TO THE DEFINITION</a:t>
            </a:r>
          </a:p>
          <a:p xmlns:a="http://schemas.openxmlformats.org/drawingml/2006/main">
            <a:r>
              <a:t>Ablation: Compare a model with and without a feature while keeping the data partitions, model family and metric fixed.</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NEXT</a:t>
            </a:r>
          </a:p>
          <a:p xmlns:a="http://schemas.openxmlformats.org/drawingml/2006/main">
            <a:r>
              <a:t>One change makes a comparison interpretable.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One change makes a comparison interpretable.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Build on Ablation and Improvement. Explain why this example is needed before running it.</a:t>
            </a:r>
          </a:p>
          <a:p xmlns:a="http://schemas.openxmlformats.org/drawingml/2006/main">
            <a:r>
              <a:t/>
            </a:r>
          </a:p>
          <a:p xmlns:a="http://schemas.openxmlformats.org/drawingml/2006/main">
            <a:r>
              <a:t>EXPLAIN</a:t>
            </a:r>
          </a:p>
          <a:p xmlns:a="http://schemas.openxmlformats.org/drawingml/2006/main">
            <a:r>
              <a:t>Base MAE is 3.0. Extended MAE is 2.5.</a:t>
            </a:r>
          </a:p>
          <a:p xmlns:a="http://schemas.openxmlformats.org/drawingml/2006/main">
            <a:r>
              <a:t/>
            </a:r>
          </a:p>
          <a:p xmlns:a="http://schemas.openxmlformats.org/drawingml/2006/main">
            <a:r>
              <a:t>Improvement = base error minus extended error = 0.5.</a:t>
            </a:r>
          </a:p>
          <a:p xmlns:a="http://schemas.openxmlformats.org/drawingml/2006/main">
            <a:r>
              <a:t/>
            </a:r>
          </a:p>
          <a:p xmlns:a="http://schemas.openxmlformats.org/drawingml/2006/main">
            <a:r>
              <a:t>Keep the training rows, validation rows, model family and metric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Read a two-row results table: base MAE 3, extended MAE 2.5 gives improvement 0.5 target units. Ask which other experimental choices must stay fixed.</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in Python</a:t>
            </a:r>
          </a:p>
          <a:p xmlns:a="http://schemas.openxmlformats.org/drawingml/2006/main">
            <a:r>
              <a:t/>
            </a:r>
          </a:p>
          <a:p xmlns:a="http://schemas.openxmlformats.org/drawingml/2006/main">
            <a:r>
              <a:t>CONNECT</a:t>
            </a:r>
          </a:p>
          <a:p xmlns:a="http://schemas.openxmlformats.org/drawingml/2006/main">
            <a:r>
              <a:t>Build on One change makes a comparison interpretable.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One change makes a comparison interpretable.</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xmlns:a="http://schemas.openxmlformats.org/drawingml/2006/main">
            <a:r>
              <a:t/>
            </a:r>
          </a:p>
          <a:p xmlns:a="http://schemas.openxmlformats.org/drawingml/2006/main">
            <a:r>
              <a:t>Complete practice code:</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EXPLAIN IN ORDINARY WORDS</a:t>
            </a:r>
          </a:p>
          <a:p xmlns:a="http://schemas.openxmlformats.org/drawingml/2006/main">
            <a:r>
              <a:t>An error compares prediction with measured truth. Absolute error ignores direction. MAE averages absolute errors; RMSE squares, averages, then takes a square root. Both use the target unit.</a:t>
            </a:r>
          </a:p>
          <a:p xmlns:a="http://schemas.openxmlformats.org/drawingml/2006/main">
            <a:r>
              <a:t/>
            </a:r>
          </a:p>
          <a:p xmlns:a="http://schemas.openxmlformats.org/drawingml/2006/main">
            <a:r>
              <a:t>CHECK AND EXPECTED ANSWER</a:t>
            </a:r>
          </a:p>
          <a:p xmlns:a="http://schemas.openxmlformats.org/drawingml/2006/main">
            <a:r>
              <a:t>Actual [4,8], predicted [5,6]: prediction-minus-actual errors [1,-2], MAE=1.5, RMSE=sqrt(2.5), about 1.58.</a:t>
            </a:r>
          </a:p>
          <a:p xmlns:a="http://schemas.openxmlformats.org/drawingml/2006/main">
            <a:r>
              <a:t/>
            </a:r>
          </a:p>
          <a:p xmlns:a="http://schemas.openxmlformats.org/drawingml/2006/main">
            <a:r>
              <a:t>IF LEARNERS ARE STUCK</a:t>
            </a:r>
          </a:p>
          <a:p xmlns:a="http://schemas.openxmlformats.org/drawingml/2006/main">
            <a:r>
              <a:t>Calculate one pair by hand first. For signed percentage error follow the precise sign convention in the issued task.</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results</a:t>
            </a:r>
          </a:p>
          <a:p xmlns:a="http://schemas.openxmlformats.org/drawingml/2006/main">
            <a:r>
              <a:t/>
            </a:r>
          </a:p>
          <a:p xmlns:a="http://schemas.openxmlformats.org/drawingml/2006/main">
            <a:r>
              <a:t>CONNECT</a:t>
            </a:r>
          </a:p>
          <a:p xmlns:a="http://schemas.openxmlformats.org/drawingml/2006/main">
            <a:r>
              <a:t>Build on Feature comparisons in Python. Explain why this example is needed before running it.</a:t>
            </a:r>
          </a:p>
          <a:p xmlns:a="http://schemas.openxmlformats.org/drawingml/2006/main">
            <a:r>
              <a:t/>
            </a:r>
          </a:p>
          <a:p xmlns:a="http://schemas.openxmlformats.org/drawingml/2006/main">
            <a:r>
              <a:t>EXPLAIN</a:t>
            </a:r>
          </a:p>
          <a:p xmlns:a="http://schemas.openxmlformats.org/drawingml/2006/main">
            <a:r>
              <a:t>0.4 1000</a:t>
            </a:r>
          </a:p>
          <a:p xmlns:a="http://schemas.openxmlformats.org/drawingml/2006/main">
            <a:r>
              <a:t>0.5</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Read the two-model experiment.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Read the two-model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Build on Feature comparisons results. Explain why this example is needed before running it.</a:t>
            </a:r>
          </a:p>
          <a:p xmlns:a="http://schemas.openxmlformats.org/drawingml/2006/main">
            <a:r>
              <a:t/>
            </a:r>
          </a:p>
          <a:p xmlns:a="http://schemas.openxmlformats.org/drawingml/2006/main">
            <a:r>
              <a:t>EXPLAIN</a:t>
            </a:r>
          </a:p>
          <a:p xmlns:a="http://schemas.openxmlformats.org/drawingml/2006/main">
            <a:r>
              <a:t>Each row contains a pair of inputs. for a, b in rows assigns the first entry to a and the second to b, then repeats the block.</a:t>
            </a:r>
          </a:p>
          <a:p xmlns:a="http://schemas.openxmlformats.org/drawingml/2006/main">
            <a:r>
              <a:t/>
            </a:r>
          </a:p>
          <a:p xmlns:a="http://schemas.openxmlformats.org/drawingml/2006/main">
            <a:r>
              <a:t>with_interaction returns a new table containing a, b and a × b. Both models keep the same training and validation rows.</a:t>
            </a:r>
          </a:p>
          <a:p xmlns:a="http://schemas.openxmlformats.org/drawingml/2006/main">
            <a:r>
              <a:t/>
            </a:r>
          </a:p>
          <a:p xmlns:a="http://schemas.openxmlformats.org/drawingml/2006/main">
            <a:r>
              <a:t>fit returns the fitted model object, so creating and fitting can appear in one expression. round(value, 6) rounds a displayed number to six decimal places.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Two models under one protocol.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Build on Read the two-model experiment. Explain why this example is needed before running it.</a:t>
            </a:r>
          </a:p>
          <a:p xmlns:a="http://schemas.openxmlformats.org/drawingml/2006/main">
            <a:r>
              <a:t/>
            </a:r>
          </a:p>
          <a:p xmlns:a="http://schemas.openxmlformats.org/drawingml/2006/main">
            <a:r>
              <a:t>EXPLAIN</a:t>
            </a:r>
          </a:p>
          <a:p xmlns:a="http://schemas.openxmlformats.org/drawingml/2006/main">
            <a:r>
              <a:t>Run this complete practice experiment in a fresh session.</a:t>
            </a:r>
          </a:p>
          <a:p xmlns:a="http://schemas.openxmlformats.org/drawingml/2006/main">
            <a:r>
              <a:t/>
            </a:r>
          </a:p>
          <a:p xmlns:a="http://schemas.openxmlformats.org/drawingml/2006/main">
            <a:r>
              <a:t>Both models use the same rows and targets; the second receives one additional input.</a:t>
            </a:r>
          </a:p>
          <a:p xmlns:a="http://schemas.openxmlformats.org/drawingml/2006/main">
            <a:r>
              <a:t/>
            </a:r>
          </a:p>
          <a:p xmlns:a="http://schemas.openxmlformats.org/drawingml/2006/main">
            <a:r>
              <a:t>Read every column before fitting.</a:t>
            </a:r>
          </a:p>
          <a:p xmlns:a="http://schemas.openxmlformats.org/drawingml/2006/main">
            <a:r>
              <a:t/>
            </a:r>
          </a:p>
          <a:p xmlns:a="http://schemas.openxmlformats.org/drawingml/2006/main">
            <a:r>
              <a:t>This invented experiment illustrates procedure, not a measured engineering benefit.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Build on the preceding slide: Read the two-model experiment.</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Two models under one protocol in Python (1/3).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Build on Two models under one protocol.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Build on the preceding slide: Two models under one protocol.</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models under one protocol in Python (2/3).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Build on Two models under one protocol in Python (1/3).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(1/3).</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WALK THROUGH THIS CODE</a:t>
            </a:r>
          </a:p>
          <a:p xmlns:a="http://schemas.openxmlformats.org/drawingml/2006/main">
            <a:r>
              <a:t>def names the function. Inputs go inside parentheses.</a:t>
            </a:r>
          </a:p>
          <a:p xmlns:a="http://schemas.openxmlformats.org/drawingml/2006/main">
            <a:r>
              <a:t>for takes the next item. The indented block repeats.</a:t>
            </a:r>
          </a:p>
          <a:p xmlns:a="http://schemas.openxmlformats.org/drawingml/2006/main">
            <a:r>
              <a:t>return sends the result back to the caller.</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Two models under one protocol in Python (3/3).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Two models under one protocol in Python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Build on Two models under one protocol in Python (2/3).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(2/3).</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WALK THROUGH THIS CODE</a:t>
            </a:r>
          </a:p>
          <a:p xmlns:a="http://schemas.openxmlformats.org/drawingml/2006/main">
            <a:r>
              <a:t>predict applies the fitted model to new inputs.</a:t>
            </a:r>
          </a:p>
          <a:p xmlns:a="http://schemas.openxmlformats.org/drawingml/2006/main">
            <a:r>
              <a:t>print displays a value below the cell.</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Encoding and Scaling.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Encoding and Scaling</a:t>
            </a:r>
          </a:p>
          <a:p xmlns:a="http://schemas.openxmlformats.org/drawingml/2006/main">
            <a:r>
              <a:t/>
            </a:r>
          </a:p>
          <a:p xmlns:a="http://schemas.openxmlformats.org/drawingml/2006/main">
            <a:r>
              <a:t>CONNECT</a:t>
            </a:r>
          </a:p>
          <a:p xmlns:a="http://schemas.openxmlformats.org/drawingml/2006/main">
            <a:r>
              <a:t>Build on Two models under one protocol in Python (3/3). Explain why this example is needed before running it.</a:t>
            </a:r>
          </a:p>
          <a:p xmlns:a="http://schemas.openxmlformats.org/drawingml/2006/main">
            <a:r>
              <a:t/>
            </a:r>
          </a:p>
          <a:p xmlns:a="http://schemas.openxmlformats.org/drawingml/2006/main">
            <a:r>
              <a:t>EXPLAIN</a:t>
            </a:r>
          </a:p>
          <a:p xmlns:a="http://schemas.openxmlformats.org/drawingml/2006/main">
            <a:r>
              <a:t>Encoding: Representing a category numerically. One-hot uses separate indicator columns. Arbitrary integer labels can falsely suggest an order.</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Two models under one protocol in Python (3/3).</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POINT TO THE DEFINITION</a:t>
            </a:r>
          </a:p>
          <a:p xmlns:a="http://schemas.openxmlformats.org/drawingml/2006/main">
            <a:r>
              <a:t>Encoding: Representing a category numerically. One-hot uses separate indicator columns. Arbitrary integer labels can falsely suggest an order.</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NEXT</a:t>
            </a:r>
          </a:p>
          <a:p xmlns:a="http://schemas.openxmlformats.org/drawingml/2006/main">
            <a:r>
              <a:t>You are the feature reviewer.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Encoding and Scaling. Explain why this example is needed before running it.</a:t>
            </a:r>
          </a:p>
          <a:p xmlns:a="http://schemas.openxmlformats.org/drawingml/2006/main">
            <a:r>
              <a:t/>
            </a:r>
          </a:p>
          <a:p xmlns:a="http://schemas.openxmlformats.org/drawingml/2006/main">
            <a:r>
              <a:t>EXPLAIN</a:t>
            </a:r>
          </a:p>
          <a:p xmlns:a="http://schemas.openxmlformats.org/drawingml/2006/main">
            <a:r>
              <a:t>Example: If the extended error becomes 3.4, calculate improvement and decide whether this evidence supports retaining the feature.</a:t>
            </a:r>
          </a:p>
          <a:p xmlns:a="http://schemas.openxmlformats.org/drawingml/2006/main">
            <a:r>
              <a:t/>
            </a:r>
          </a:p>
          <a:p xmlns:a="http://schemas.openxmlformats.org/drawingml/2006/main">
            <a:r>
              <a:t>Answer: Improvement is -0.4. This validation comparison does not support retaining it. One split is limited evidence; the final test remains untouched.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Improvement is -0.4. This validation comparison does not support retaining it. One split is limited evidence; the final test remains untouched.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Improvement is -0.4. This validation comparison does not support retaining it. One split is limited evidence; the final test remains untouched.</a:t>
            </a:r>
          </a:p>
          <a:p xmlns:a="http://schemas.openxmlformats.org/drawingml/2006/main">
            <a:r>
              <a:t>Which step produced this result? What changes if one input changes?</a:t>
            </a:r>
          </a:p>
          <a:p xmlns:a="http://schemas.openxmlformats.org/drawingml/2006/main">
            <a:r>
              <a:t>CML3113   Week 11   25</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W11 names four output features and a two-model ablation.</a:t>
            </a:r>
          </a:p>
          <a:p xmlns:a="http://schemas.openxmlformats.org/drawingml/2006/main">
            <a:r>
              <a:t/>
            </a:r>
          </a:p>
          <a:p xmlns:a="http://schemas.openxmlformats.org/drawingml/2006/main">
            <a:r>
              <a:t>Explain output order, preservation of input rows, full precision and training-only fitting.</a:t>
            </a:r>
          </a:p>
          <a:p xmlns:a="http://schemas.openxmlformats.org/drawingml/2006/main">
            <a:r>
              <a:t/>
            </a:r>
          </a:p>
          <a:p xmlns:a="http://schemas.openxmlformats.org/drawingml/2006/main">
            <a:r>
              <a:t>Use the supplied written scenario for the interpretation requested there.</a:t>
            </a:r>
          </a:p>
          <a:p xmlns:a="http://schemas.openxmlformats.org/drawingml/2006/main">
            <a:r>
              <a:t/>
            </a:r>
          </a:p>
          <a:p xmlns:a="http://schemas.openxmlformats.org/drawingml/2006/main">
            <a:r>
              <a:t>Do not substitute this practice example’s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Features without misleading evaluation.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without misleading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Rescaling an input usually does not change the partitions available to an ordinary decision tree.</a:t>
            </a:r>
          </a:p>
          <a:p xmlns:a="http://schemas.openxmlformats.org/drawingml/2006/main">
            <a:r>
              <a:t/>
            </a:r>
          </a:p>
          <a:p xmlns:a="http://schemas.openxmlformats.org/drawingml/2006/main">
            <a:r>
              <a:t>An identifier or a future-known field can create an apparent improvement without useful predictive information.</a:t>
            </a:r>
          </a:p>
          <a:p xmlns:a="http://schemas.openxmlformats.org/drawingml/2006/main">
            <a:r>
              <a:t/>
            </a:r>
          </a:p>
          <a:p xmlns:a="http://schemas.openxmlformats.org/drawingml/2006/main">
            <a:r>
              <a:t>Dividing by zero can produce infinity or an error; decide what the denominator means before replacing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Features without misleading evaluation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without misleading evaluation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Build on Features without misleading evaluation. Explain why this example is needed before running it.</a:t>
            </a:r>
          </a:p>
          <a:p xmlns:a="http://schemas.openxmlformats.org/drawingml/2006/main">
            <a:r>
              <a:t/>
            </a:r>
          </a:p>
          <a:p xmlns:a="http://schemas.openxmlformats.org/drawingml/2006/main">
            <a:r>
              <a:t>EXPLAIN</a:t>
            </a:r>
          </a:p>
          <a:p xmlns:a="http://schemas.openxmlformats.org/drawingml/2006/main">
            <a:r>
              <a:t>Read ablation differences using the same error definition, and explain features using domain knowledge.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Build on the preceding slide: Features without misleading evaluation.</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Features without misleading evaluation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Features without misleading evaluation continued.</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make_features(feature_records).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make_features(feature_records).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Return one feature row per input, in order: [load_pct, ambient_c, load_pct/100, load_pct*ambient_c].</a:t>
            </a:r>
          </a:p>
          <a:p xmlns:a="http://schemas.openxmlformats.org/drawingml/2006/main">
            <a:r>
              <a:t/>
            </a:r>
          </a:p>
          <a:p xmlns:a="http://schemas.openxmlformats.org/drawingml/2006/main">
            <a:r>
              <a:t>Use inputs available at prediction time only.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IUEA_Teaching_Plan/assessment_banks/W11/CML3113/A/TASKS.md</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ablation_metrics(training_records, validation_records).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ablation_metrics(training_records, validation_records).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Build on make_features(feature_records).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r>
              <a:t>Evaluate both on the same validation records.</a:t>
            </a:r>
          </a:p>
          <a:p xmlns:a="http://schemas.openxmlformats.org/drawingml/2006/main">
            <a:r>
              <a:t/>
            </a:r>
          </a:p>
          <a:p xmlns:a="http://schemas.openxmlformats.org/drawingml/2006/main">
            <a:r>
              <a:t>Return base_mae, extended_mae and improvement=base_mae-extended_mae, without rounding.</a:t>
            </a:r>
          </a:p>
          <a:p xmlns:a="http://schemas.openxmlformats.org/drawingml/2006/main">
            <a:r>
              <a:t/>
            </a:r>
          </a:p>
          <a:p xmlns:a="http://schemas.openxmlformats.org/drawingml/2006/main">
            <a:r>
              <a:t>Inputs are complete; never fit on validation targets.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Build on the preceding slide: make_features(feature_records).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IUEA_Teaching_Plan/assessment_banks/W11/CML3113/A/TASKS.md</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ablation_metrics(training_records, validation_records).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ablation_metrics(training_records, validation_records).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Features and ablation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Features and ablation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20 Nov 2026, 08:00 Kampala</a:t>
            </a:r>
          </a:p>
          <a:p xmlns:a="http://schemas.openxmlformats.org/drawingml/2006/main">
            <a:r>
              <a:t/>
            </a:r>
          </a:p>
          <a:p xmlns:a="http://schemas.openxmlformats.org/drawingml/2006/main">
            <a:r>
              <a:t>Deadline: 27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feature is information supplied to a model. An interaction combines inputs, for example area times thickness gives volume. Ablation compares a model with and without a feature using the same evaluation protocol.</a:t>
            </a:r>
          </a:p>
          <a:p xmlns:a="http://schemas.openxmlformats.org/drawingml/2006/main">
            <a:r>
              <a:t/>
            </a:r>
          </a:p>
          <a:p xmlns:a="http://schemas.openxmlformats.org/drawingml/2006/main">
            <a:r>
              <a:t>CHECK AND EXPECTED ANSWER</a:t>
            </a:r>
          </a:p>
          <a:p xmlns:a="http://schemas.openxmlformats.org/drawingml/2006/main">
            <a:r>
              <a:t>Does a lower validation error prove the feature is physically causal? No. It supports prediction under this comparison, subject to leakage and data limitations.</a:t>
            </a:r>
          </a:p>
          <a:p xmlns:a="http://schemas.openxmlformats.org/drawingml/2006/main">
            <a:r>
              <a:t/>
            </a:r>
          </a:p>
          <a:p xmlns:a="http://schemas.openxmlformats.org/drawingml/2006/main">
            <a:r>
              <a:t>IF LEARNERS ARE STUCK</a:t>
            </a:r>
          </a:p>
          <a:p xmlns:a="http://schemas.openxmlformats.org/drawingml/2006/main">
            <a:r>
              <a:t>State when each input becomes available, write its unit, then compare the same rows and metric.</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Project preparation.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Project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Features and ablation submission. Explain why this example is needed before running it.</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Build on the preceding slide: Features and ablation submission.</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11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11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Build on Project preparation.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Build on the preceding slide: Project preparation.</a:t>
            </a:r>
          </a:p>
          <a:p xmlns:a="http://schemas.openxmlformats.org/drawingml/2006/main">
            <a:r>
              <a:t/>
            </a:r>
          </a:p>
          <a:p xmlns:a="http://schemas.openxmlformats.org/drawingml/2006/main">
            <a:r>
              <a:t>LECTURER CUE</a:t>
            </a:r>
          </a:p>
          <a:p xmlns:a="http://schemas.openxmlformats.org/drawingml/2006/main">
            <a:r>
              <a:t>Activate the matching open_W11_CML3113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11 quiz. Explain why this example is needed before running it.</a:t>
            </a:r>
          </a:p>
          <a:p xmlns:a="http://schemas.openxmlformats.org/drawingml/2006/main">
            <a:r>
              <a:t/>
            </a:r>
          </a:p>
          <a:p xmlns:a="http://schemas.openxmlformats.org/drawingml/2006/main">
            <a:r>
              <a:t>EXPLAIN</a:t>
            </a:r>
          </a:p>
          <a:p xmlns:a="http://schemas.openxmlformats.org/drawingml/2006/main">
            <a:r>
              <a:t>You can state the new feature’s meaning and calculate an improvement correctly.</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11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003b3532904d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4657e7600d14b5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10e09e8d3f047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b2a4688fcb4e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63cf568990449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5a104aeae6548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6A50420-A5D4-444C-90D2-45A76875C8C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D3D13F7-19D6-4527-BF3B-3269EB9D08A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95F59B6-B77C-4496-8848-17EEFC824DB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191F11F7-3475-403F-B1DB-2B24B743B8CD}"/>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0F05240-85B8-4EE1-A5FE-309166CCD9F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AA9F53D-39E1-4BD1-88F0-B1BC886FBCE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92A8000-3987-46A7-B81E-92ADA9CEC09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C0329A0-7427-4A79-8967-330D13C2A08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C2F11939-E28E-4681-A000-CC7C205F875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BC2A725-A12D-46E1-BF9D-B89F96299B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2C3D4D2-301E-4E03-A897-66B8F1C610D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9DD6C9F6-6F1E-417A-98E9-42993D32648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C84A18D-DEB6-447A-829E-1B53F7C235B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03FFBDA-49B4-4B57-9690-330EDA87E3A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8EE4E06-A52F-4B1D-97C9-0F46395A618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73d820489049a3" /><Relationship Type="http://schemas.openxmlformats.org/officeDocument/2006/relationships/slideLayout" Target="/ppt/slideLayouts/slideLayout1.xml" Id="R54723fa9826a424c" /><Relationship Type="http://schemas.openxmlformats.org/officeDocument/2006/relationships/slideLayout" Target="/ppt/slideLayouts/slideLayout2.xml" Id="Re56bb980fd464172" /><Relationship Type="http://schemas.openxmlformats.org/officeDocument/2006/relationships/slideLayout" Target="/ppt/slideLayouts/slideLayout3.xml" Id="R413b632941c7411f" /><Relationship Type="http://schemas.openxmlformats.org/officeDocument/2006/relationships/slideLayout" Target="/ppt/slideLayouts/slideLayout4.xml" Id="R19b2b57b665f45cd" /><Relationship Type="http://schemas.openxmlformats.org/officeDocument/2006/relationships/slideLayout" Target="/ppt/slideLayouts/slideLayout5.xml" Id="R0b2020851d20487c" /><Relationship Type="http://schemas.openxmlformats.org/officeDocument/2006/relationships/slideLayout" Target="/ppt/slideLayouts/slideLayout6.xml" Id="R7973e3b253094e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4723fa9826a424c"/>
    <p:sldLayoutId xmlns:r="http://schemas.openxmlformats.org/officeDocument/2006/relationships" id="2147483650" r:id="Re56bb980fd464172"/>
    <p:sldLayoutId xmlns:r="http://schemas.openxmlformats.org/officeDocument/2006/relationships" id="2147483651" r:id="R413b632941c7411f"/>
    <p:sldLayoutId xmlns:r="http://schemas.openxmlformats.org/officeDocument/2006/relationships" id="2147483652" r:id="R19b2b57b665f45cd"/>
    <p:sldLayoutId xmlns:r="http://schemas.openxmlformats.org/officeDocument/2006/relationships" id="2147483653" r:id="R0b2020851d20487c"/>
    <p:sldLayoutId xmlns:r="http://schemas.openxmlformats.org/officeDocument/2006/relationships" id="2147483654" r:id="R7973e3b253094e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d558174afa448f6" /><Relationship Type="http://schemas.openxmlformats.org/officeDocument/2006/relationships/image" Target="/ppt/media/image.png" Id="R526ca363ce5647a1" /><Relationship Type="http://schemas.openxmlformats.org/officeDocument/2006/relationships/notesSlide" Target="/ppt/notesSlides/notesSlide1.xml" Id="Rc0a0820a60494c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fa996548bc8494e" /><Relationship Type="http://schemas.openxmlformats.org/officeDocument/2006/relationships/notesSlide" Target="/ppt/notesSlides/notesSlide2.xml" Id="Rff56697c4afa4b4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2df049dde34385" /><Relationship Type="http://schemas.openxmlformats.org/officeDocument/2006/relationships/notesSlide" Target="/ppt/notesSlides/notesSlide3.xml" Id="R91da81d5ad2748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812c54cbda34c66" /><Relationship Type="http://schemas.openxmlformats.org/officeDocument/2006/relationships/notesSlide" Target="/ppt/notesSlides/notesSlide4.xml" Id="R9c475a9508424e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6173eaf39644fd3" /><Relationship Type="http://schemas.openxmlformats.org/officeDocument/2006/relationships/notesSlide" Target="/ppt/notesSlides/notesSlide5.xml" Id="R669c7010e03c496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6e9935c889453a" /><Relationship Type="http://schemas.openxmlformats.org/officeDocument/2006/relationships/notesSlide" Target="/ppt/notesSlides/notesSlide6.xml" Id="R7e83989d6d9b42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581a1e23cda48fc" /><Relationship Type="http://schemas.openxmlformats.org/officeDocument/2006/relationships/notesSlide" Target="/ppt/notesSlides/notesSlide7.xml" Id="Rf4355d31d1944d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1ac4762321d48b4" /><Relationship Type="http://schemas.openxmlformats.org/officeDocument/2006/relationships/image" Target="/ppt/media/image2.png" Id="Rf8698faffea84bcb" /><Relationship Type="http://schemas.openxmlformats.org/officeDocument/2006/relationships/notesSlide" Target="/ppt/notesSlides/notesSlide8.xml" Id="Re3ce8f5cbcb144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f357c7645244a7" /><Relationship Type="http://schemas.openxmlformats.org/officeDocument/2006/relationships/notesSlide" Target="/ppt/notesSlides/notesSlide9.xml" Id="R85d7ee6fd0b746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998a859ed9a4e8c" /><Relationship Type="http://schemas.openxmlformats.org/officeDocument/2006/relationships/notesSlide" Target="/ppt/notesSlides/notesSlide10.xml" Id="R7dc4fc6e104843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6f3eabed987491b" /><Relationship Type="http://schemas.openxmlformats.org/officeDocument/2006/relationships/notesSlide" Target="/ppt/notesSlides/notesSlide11.xml" Id="R725ac7541d8d43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7e779a9e74b40ff" /><Relationship Type="http://schemas.openxmlformats.org/officeDocument/2006/relationships/notesSlide" Target="/ppt/notesSlides/notesSlide12.xml" Id="Rf7b25f74769d43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0c278c775d146dd" /><Relationship Type="http://schemas.openxmlformats.org/officeDocument/2006/relationships/notesSlide" Target="/ppt/notesSlides/notesSlide13.xml" Id="R4792926e4aa2425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ccaf6305966429d" /><Relationship Type="http://schemas.openxmlformats.org/officeDocument/2006/relationships/notesSlide" Target="/ppt/notesSlides/notesSlide14.xml" Id="Rd5154a6dbd3d450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56ba0386eb14e5c" /><Relationship Type="http://schemas.openxmlformats.org/officeDocument/2006/relationships/notesSlide" Target="/ppt/notesSlides/notesSlide15.xml" Id="Rcba703b94a47458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e912fc4d3994d95" /><Relationship Type="http://schemas.openxmlformats.org/officeDocument/2006/relationships/notesSlide" Target="/ppt/notesSlides/notesSlide16.xml" Id="Rd8c73f2680364c0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d21bee48f454348" /><Relationship Type="http://schemas.openxmlformats.org/officeDocument/2006/relationships/notesSlide" Target="/ppt/notesSlides/notesSlide17.xml" Id="R5925f47ac4f34d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7194e5617354c04" /><Relationship Type="http://schemas.openxmlformats.org/officeDocument/2006/relationships/notesSlide" Target="/ppt/notesSlides/notesSlide18.xml" Id="R39816b6256d248e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7431b284a7c476d" /><Relationship Type="http://schemas.openxmlformats.org/officeDocument/2006/relationships/notesSlide" Target="/ppt/notesSlides/notesSlide19.xml" Id="R433e5efda50b4c6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a1a024894c046d5" /><Relationship Type="http://schemas.openxmlformats.org/officeDocument/2006/relationships/notesSlide" Target="/ppt/notesSlides/notesSlide20.xml" Id="R8b2d0c009d71425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c912e87f6764f76" /><Relationship Type="http://schemas.openxmlformats.org/officeDocument/2006/relationships/notesSlide" Target="/ppt/notesSlides/notesSlide21.xml" Id="R69f1107061644fd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92f3db8803043bb" /><Relationship Type="http://schemas.openxmlformats.org/officeDocument/2006/relationships/notesSlide" Target="/ppt/notesSlides/notesSlide22.xml" Id="R349988c5dae042a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87803e15ff94770" /><Relationship Type="http://schemas.openxmlformats.org/officeDocument/2006/relationships/notesSlide" Target="/ppt/notesSlides/notesSlide23.xml" Id="R590beda383c34fd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2950b30f8444eb9" /><Relationship Type="http://schemas.openxmlformats.org/officeDocument/2006/relationships/notesSlide" Target="/ppt/notesSlides/notesSlide24.xml" Id="Rd684eed5a91449d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1797022308b4fbb" /><Relationship Type="http://schemas.openxmlformats.org/officeDocument/2006/relationships/notesSlide" Target="/ppt/notesSlides/notesSlide25.xml" Id="R4e8b6e4b52004a6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53ad16b2e914bc6" /><Relationship Type="http://schemas.openxmlformats.org/officeDocument/2006/relationships/notesSlide" Target="/ppt/notesSlides/notesSlide26.xml" Id="R7ce3ba5d9d9b445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723e457a7a4440ff" /><Relationship Type="http://schemas.openxmlformats.org/officeDocument/2006/relationships/notesSlide" Target="/ppt/notesSlides/notesSlide27.xml" Id="Raa8a6031e57d41c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6450b1677b94a51" /><Relationship Type="http://schemas.openxmlformats.org/officeDocument/2006/relationships/notesSlide" Target="/ppt/notesSlides/notesSlide28.xml" Id="R2b51ba4970d2414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3827d23be3f4ea9" /><Relationship Type="http://schemas.openxmlformats.org/officeDocument/2006/relationships/notesSlide" Target="/ppt/notesSlides/notesSlide29.xml" Id="R43513bd795114ae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68d7c6c6cfe4abc" /><Relationship Type="http://schemas.openxmlformats.org/officeDocument/2006/relationships/hyperlink" Target="https://docs.google.com/forms/d/e/1FAIpQLSdxAosnTnoXrNZ7QCm8pPQuoa2KxsqFvu_PPsZIQGrJnHMw1g/viewform" TargetMode="External" Id="Ra229d4beaade4696" /><Relationship Type="http://schemas.openxmlformats.org/officeDocument/2006/relationships/notesSlide" Target="/ppt/notesSlides/notesSlide30.xml" Id="Rcac51567d78f432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3e6f80adf614934" /><Relationship Type="http://schemas.openxmlformats.org/officeDocument/2006/relationships/notesSlide" Target="/ppt/notesSlides/notesSlide31.xml" Id="R229837391a824d1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aa9751a51464043" /><Relationship Type="http://schemas.openxmlformats.org/officeDocument/2006/relationships/image" Target="/ppt/media/image3.png" Id="R31aa65bb1bda4c5b" /><Relationship Type="http://schemas.openxmlformats.org/officeDocument/2006/relationships/hyperlink" Target="https://forms.gle/3sf2d3vGXpJ4HtvP6" TargetMode="External" Id="R0d1dcbc04aff4c97" /><Relationship Type="http://schemas.openxmlformats.org/officeDocument/2006/relationships/notesSlide" Target="/ppt/notesSlides/notesSlide32.xml" Id="R673341762c3d46f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fdf06a88da444c5b" /><Relationship Type="http://schemas.openxmlformats.org/officeDocument/2006/relationships/notesSlide" Target="/ppt/notesSlides/notesSlide33.xml" Id="R70f36c8415414da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26ca363ce5647a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E916AB3-7A43-42C5-ABFD-B892FC54AB2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19A9948-A0F3-4307-960D-464E4825B60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11</a:t>
            </a:r>
          </a:p>
        </p:txBody>
      </p:sp>
      <p:sp>
        <p:nvSpPr>
          <p:cNvPr id="4" name="">
            <a:extLst xmlns:a="http://schemas.openxmlformats.org/drawingml/2006/main">
              <a:ext uri="{FF2B5EF4-FFF2-40B4-BE49-F238E27FC236}">
                <a16:creationId xmlns:a16="http://schemas.microsoft.com/office/drawing/2014/main" id="{14F2401B-4039-45EB-B29B-6B7E6296E701}"/>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04D1457F-1143-4936-A539-FC986331D38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8B396B52-40A2-49FF-9737-3E29ED85065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7453576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F7F771E-6571-49D5-9CD7-9D421F7DD7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AA9A05-B62B-46D7-B590-B53CD12EF5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8468793-76B7-4694-B6DB-23E00E81B4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3521F3F-67E7-4A77-B592-30AA501635F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8448D8-46DE-4612-A8B2-92691FECDE0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9719E73-98D9-44C3-AB7B-472EA9A8CC5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3EDD2D3E-EC72-42F8-8051-ABA1D7F2F33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E153ED3-7361-4916-9728-57CDD34DAF5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DAC3E72A-BD39-4BF9-BED2-C26713A172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a:t>
            </a:r>
          </a:p>
        </p:txBody>
      </p:sp>
    </p:spTree>
    <p:extLst>
      <p:ext uri="{BB962C8B-B14F-4D97-AF65-F5344CB8AC3E}">
        <p14:creationId xmlns:p14="http://schemas.microsoft.com/office/powerpoint/2010/main" val="4878945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4E2197-699A-496B-9711-F162828BF8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A576F7-8C40-475C-A7A4-92FD52B2EA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0B3D76-0DE6-434D-93CB-BDE805F0EC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895A4A64-EBA4-49F7-9C8E-C6BC85B265B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6AAA6D-8FA7-42AC-847B-277F05F1BA7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81FFBBCF-0B8D-4127-AB34-2B252CF9EE6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C2096DC6-64B1-437A-9189-9A4E96B205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a:t>
            </a:r>
          </a:p>
        </p:txBody>
      </p:sp>
    </p:spTree>
    <p:extLst>
      <p:ext uri="{BB962C8B-B14F-4D97-AF65-F5344CB8AC3E}">
        <p14:creationId xmlns:p14="http://schemas.microsoft.com/office/powerpoint/2010/main" val="83926746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268116-FC62-40F1-A3D6-EFC3386286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7465B3-16B3-476A-BE4F-8766FE161E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3ABD3D-3C70-4F4A-9BD7-00D8486DA8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72AA46E3-E563-4F51-966E-5047FDF4D56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58E57C-7DAE-4F58-BC39-14A2C08191B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EB957075-D8DF-478F-A4AF-8D2587D2F9D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0C42D24A-A45C-4C47-9E6C-95915D61BD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4</a:t>
            </a:r>
          </a:p>
        </p:txBody>
      </p:sp>
    </p:spTree>
    <p:extLst>
      <p:ext uri="{BB962C8B-B14F-4D97-AF65-F5344CB8AC3E}">
        <p14:creationId xmlns:p14="http://schemas.microsoft.com/office/powerpoint/2010/main" val="126554976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5A283A-BCB7-4E4E-9983-E22B992C87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8B9045-0794-4569-8156-9B1D4AE617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CA8DEF-9120-42E6-8F99-F7B10F8310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785D282F-3A93-4266-A468-43FE0B05A2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4FB8F3-241F-42F5-9C63-017C224DDE6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C636093F-79CF-47DE-885B-12C172A42E8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3EBEA8-84F1-420B-A0DC-93BCE63546A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26B307AE-4013-4C19-A92B-19709F0D6AF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F55AFB2-BF4F-4BF1-ADCA-53C75646A71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D47880C1-8D09-49CE-A770-7DCF74BA947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F69C2A1-29E3-4043-96E7-7EAD39E71DB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E54C96A7-4B8F-4E11-8A4E-54B7850777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5</a:t>
            </a:r>
          </a:p>
        </p:txBody>
      </p:sp>
    </p:spTree>
    <p:extLst>
      <p:ext uri="{BB962C8B-B14F-4D97-AF65-F5344CB8AC3E}">
        <p14:creationId xmlns:p14="http://schemas.microsoft.com/office/powerpoint/2010/main" val="15112883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FE285A-7826-4966-9552-20092B8706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74CAE7-C0CF-4D93-B9D8-73B4AAF79F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778AB0B-488A-4887-BDA0-CAD96092C3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93C17F55-EBF7-4925-8C08-716385DADA0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30301D-7133-4ACF-A3CE-98AEA72AD3E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DE9D9B26-0D43-4404-B807-058842CC053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CAB9019F-439F-4149-97D7-6DBECA64E6C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8785F5-6AA2-4047-B6E6-F302816B8BD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8DFF86C7-F431-49B0-B59C-6C42C83B819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EF64E040-0CE6-4FC2-BC48-22C22268D7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6</a:t>
            </a:r>
          </a:p>
        </p:txBody>
      </p:sp>
    </p:spTree>
    <p:extLst>
      <p:ext uri="{BB962C8B-B14F-4D97-AF65-F5344CB8AC3E}">
        <p14:creationId xmlns:p14="http://schemas.microsoft.com/office/powerpoint/2010/main" val="27542604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2320AA-22E9-43B5-B1AC-BEE8B6C6FD8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AF029F-DFAD-4047-B573-AE766D3E46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0BEBB3-721B-40AB-B875-D45FAF19F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CFF6DFAA-42C3-486D-B56A-BD2E861CE2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4F23FF-AC33-4316-A5EB-1922D7BBC6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5A2E251E-8C32-4394-B717-3562A85F361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3D8AEE-0B89-4AD1-83EB-CF73086A83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BCF24D0E-E14E-4532-BA76-63F1564421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1B8A53-C6B4-460B-89BE-A9ECA81064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B7D469E6-8D55-4A22-95CC-74F84C1774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7</a:t>
            </a:r>
          </a:p>
        </p:txBody>
      </p:sp>
    </p:spTree>
    <p:extLst>
      <p:ext uri="{BB962C8B-B14F-4D97-AF65-F5344CB8AC3E}">
        <p14:creationId xmlns:p14="http://schemas.microsoft.com/office/powerpoint/2010/main" val="19337711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259A86-881B-4852-9B35-5AD959B5E19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48B010-65F6-4BD6-B9B1-641BF80FF9F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f8698faffea84bcb"/>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41FDFF0-44B5-471C-AD59-D7278251AC4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60A9C8-BBEC-4DCA-9DF0-B2F7843F827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64BA3635-C80D-491E-A761-825E71174B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8</a:t>
            </a:r>
          </a:p>
        </p:txBody>
      </p:sp>
    </p:spTree>
    <p:extLst>
      <p:ext uri="{BB962C8B-B14F-4D97-AF65-F5344CB8AC3E}">
        <p14:creationId xmlns:p14="http://schemas.microsoft.com/office/powerpoint/2010/main" val="36792958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219EAF1-7B84-429B-967A-6FC02D7A1C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B23706-0CAD-4A09-890C-CB9AA49973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03D5F8B-C8AC-4426-8684-AF58AFC2E4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691F104-338E-4EF7-B98F-92BBCD4AFCFF}"/>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824007D3-42B7-423F-B036-DBF7CD2096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9</a:t>
            </a:r>
          </a:p>
        </p:txBody>
      </p:sp>
    </p:spTree>
    <p:extLst>
      <p:ext uri="{BB962C8B-B14F-4D97-AF65-F5344CB8AC3E}">
        <p14:creationId xmlns:p14="http://schemas.microsoft.com/office/powerpoint/2010/main" val="3756000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908FB8C-5819-4573-A264-ADD262C360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E5015B-53DA-4BFD-89A5-AE426CA708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EDE7CA-115F-45F4-BF76-D96FDCF1E1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5854692A-ACDE-4683-88F5-22CE4D99A2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337D30-2776-4D8D-8343-66C14BA082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22B35FCE-D5B8-43FD-A5F6-567A43C0341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84040D-D13D-436B-987F-A961F03CEB9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2E2373A6-0EA2-4285-B63D-9CEB6E79C22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B4BA2C-A96B-4CC6-AD60-9CEFD694263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682C4178-C867-4B4A-BC00-9865AC82AF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10</a:t>
            </a:r>
          </a:p>
        </p:txBody>
      </p:sp>
    </p:spTree>
    <p:extLst>
      <p:ext uri="{BB962C8B-B14F-4D97-AF65-F5344CB8AC3E}">
        <p14:creationId xmlns:p14="http://schemas.microsoft.com/office/powerpoint/2010/main" val="5737252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501FAC-4167-41F3-8D3F-C3558F1E2C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808709-602F-478B-9A3B-AFD9A5925E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00BCD2-CE24-40AB-926F-A9195A32D2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7407AECE-8DBF-4CE9-AED7-3B9EC49661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3D2D09-5581-4394-8F38-7769191D4F6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21B1DC8A-F836-49BB-A078-8D4170F8146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A481A3-18F9-44BD-9C1D-DF7F79293C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F981897E-10DB-453B-81F7-67AB1FD8BCB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01C1B6-8CF0-4CD0-9DFA-EDFFF28C2C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7D2D0AD5-64B7-453A-ACCA-C8BD885919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11</a:t>
            </a:r>
          </a:p>
        </p:txBody>
      </p:sp>
    </p:spTree>
    <p:extLst>
      <p:ext uri="{BB962C8B-B14F-4D97-AF65-F5344CB8AC3E}">
        <p14:creationId xmlns:p14="http://schemas.microsoft.com/office/powerpoint/2010/main" val="9646057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DAA853-CEB6-428C-B1F8-88A02730AA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99605C-F278-46A9-ADBF-F8A12901E8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7D7C27F-B439-42F5-96C2-AEF4F82395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9FD9E3AA-BF55-47A3-8A2D-70C3E3B1D7F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DDD655-E2B9-4CAC-A66D-67317139C23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D1D044C1-D147-473A-BFE0-20DF4AA7271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88AF4A45-F28F-485F-9E86-1AEF6AAB9EF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BEE1BE3-BF59-4436-9165-8003F459333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EF914B5D-B903-4238-BA08-B89B0435597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BC1128E5-3CAA-4E9E-9606-8E2FE159DE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12</a:t>
            </a:r>
          </a:p>
        </p:txBody>
      </p:sp>
    </p:spTree>
    <p:extLst>
      <p:ext uri="{BB962C8B-B14F-4D97-AF65-F5344CB8AC3E}">
        <p14:creationId xmlns:p14="http://schemas.microsoft.com/office/powerpoint/2010/main" val="76466954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4EAA68-C5D6-47D3-BFF4-FE2B7F0C6E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84921E-9A52-4E31-9131-2BBD3DFD56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255B30-1441-4D53-A98F-4BB6603899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A99CB635-6DE9-4305-873A-BF6D7E1499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E7611F-D610-43B2-949D-5FC61F90710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143562FA-58F9-42B6-95BB-9AAB84C0115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725910-01C4-406C-8C64-04B496B902A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3EF8BA7C-6880-4044-B3F1-5FF13A2E5E4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3ACF9B5-E88C-40B0-9C67-0D31C54754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B0A4AD4F-E91A-4D0E-AB3B-71D05623A9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13</a:t>
            </a:r>
          </a:p>
        </p:txBody>
      </p:sp>
    </p:spTree>
    <p:extLst>
      <p:ext uri="{BB962C8B-B14F-4D97-AF65-F5344CB8AC3E}">
        <p14:creationId xmlns:p14="http://schemas.microsoft.com/office/powerpoint/2010/main" val="8160162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2438F4-132B-400C-83F8-F682287977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AAC6E6-9AC4-4492-AB7C-26586C1423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AD3210D-5644-49E9-B593-E309F54643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F9911E98-64E1-435D-9952-DF72764DA43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8C4FAD-E10F-40D2-95EA-DE07B9437D2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D56F9C15-CA06-4BD8-AFA9-E3E6C0ADB84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8252F34-1AAC-48B7-88EF-F834E5194FE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EBE0FFD8-BEA6-4AC4-AF98-260548A9889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489124A-6E2F-4A2B-B757-FA59C3FBF13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E3099F35-E1E9-4A8D-AD8A-DB0956304D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14</a:t>
            </a:r>
          </a:p>
        </p:txBody>
      </p:sp>
    </p:spTree>
    <p:extLst>
      <p:ext uri="{BB962C8B-B14F-4D97-AF65-F5344CB8AC3E}">
        <p14:creationId xmlns:p14="http://schemas.microsoft.com/office/powerpoint/2010/main" val="5985475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9B7DF6-62BC-4FB7-9ACC-215A326E62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588BD0-C812-4D4E-A96B-9AB4B358BC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B9D3912-AD98-403E-85F7-521DEA9897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34D51071-E6F3-4904-8464-DDC572EC3D3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871065-8C9A-4C2C-856E-CAC6F3DF27C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90B3FCCC-A533-4001-846E-EEEF97D4478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4CCC29E-A8DA-451F-B9A3-EE7DA78F78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15</a:t>
            </a:r>
          </a:p>
        </p:txBody>
      </p:sp>
    </p:spTree>
    <p:extLst>
      <p:ext uri="{BB962C8B-B14F-4D97-AF65-F5344CB8AC3E}">
        <p14:creationId xmlns:p14="http://schemas.microsoft.com/office/powerpoint/2010/main" val="34711860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ECFED9-5D42-498C-81E9-B267BACE6C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BEE3A6-13BC-46EF-A415-A8D7F12BDD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346D37-C83E-49D0-95C1-777A57994F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97F2A0AB-78DA-406D-8A8E-F10732F2DAD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8DA182-8A52-4693-99D2-CF35DDE5EA5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B1FC88AE-D240-409B-8F99-795C48CB5BB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2D30D8-9781-423D-81DF-8DD06D0156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C6CC58D7-1EBC-42F3-94DC-AA251D235A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B1D26E-064B-4DEC-9A95-B9A01DE520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returns the fitted model object, so creating and fitting can appear in one expression. round(value, 6) rounds a displayed number to six decimal places.</a:t>
            </a:r>
          </a:p>
        </p:txBody>
      </p:sp>
      <p:sp>
        <p:nvSpPr>
          <p:cNvPr id="10" name="">
            <a:extLst xmlns:a="http://schemas.openxmlformats.org/drawingml/2006/main">
              <a:ext uri="{FF2B5EF4-FFF2-40B4-BE49-F238E27FC236}">
                <a16:creationId xmlns:a16="http://schemas.microsoft.com/office/drawing/2014/main" id="{6661F8EB-6A4A-4748-AE43-FFC8F49244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16</a:t>
            </a:r>
          </a:p>
        </p:txBody>
      </p:sp>
    </p:spTree>
    <p:extLst>
      <p:ext uri="{BB962C8B-B14F-4D97-AF65-F5344CB8AC3E}">
        <p14:creationId xmlns:p14="http://schemas.microsoft.com/office/powerpoint/2010/main" val="5678781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AEC7B4-AED4-4123-B80C-F2291D3B40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A8809B-3B06-438C-A814-517893CC84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D61C04-62D3-447A-8DE4-55C53BEFBA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D3EECD8A-CC51-4ADF-B04B-315180671F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5EA8C4-6A2A-4F72-944A-2A67E1C5984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2A0A9C40-CC9A-416D-8028-815F8297344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E244B6-BD71-4CB1-A63C-B8C59841DB3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10AA1825-14F1-444A-9FB8-0CBA22155D2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74352D-73A1-4C0C-965C-6553C1E1DA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AA97C637-ACCB-4D98-87B9-57F20C6D3EA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BCC1B79-3A66-4C22-AA00-09EBD276D7D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00BA3408-E456-4D96-BE23-B1CBA3176E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17</a:t>
            </a:r>
          </a:p>
        </p:txBody>
      </p:sp>
    </p:spTree>
    <p:extLst>
      <p:ext uri="{BB962C8B-B14F-4D97-AF65-F5344CB8AC3E}">
        <p14:creationId xmlns:p14="http://schemas.microsoft.com/office/powerpoint/2010/main" val="104837051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77A3D6-764E-4E11-89CC-0E287E7A6C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F48AE4-692C-41E2-8723-53206BE0A6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EA4E28-E408-4C0D-8F7E-7A382D738D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447E94E4-5004-4ACF-BB56-B2E8968BD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1C5A69-005F-4FE8-87AB-7079A7255F7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1214FEF4-7AE7-4EA9-B5CF-F4434802049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AA2CD37-0C71-4237-8C5B-7BFF4BE68FF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D07E13F-EC08-46E6-BCE2-E437A7479D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18</a:t>
            </a:r>
          </a:p>
        </p:txBody>
      </p:sp>
    </p:spTree>
    <p:extLst>
      <p:ext uri="{BB962C8B-B14F-4D97-AF65-F5344CB8AC3E}">
        <p14:creationId xmlns:p14="http://schemas.microsoft.com/office/powerpoint/2010/main" val="188049935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66DE6F-7AF8-4881-8DDC-7ADED3F0B7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202BB0-FDC4-4214-AACD-1F1E917CD2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020A3D4-710C-49EA-A27B-A56497AC61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31562B87-1323-4964-ACA5-AD7A26A7D2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258C3C-CEB4-4350-AF10-3ECD00860BA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FB080"/>
                </a:solidFill>
                <a:latin typeface="Courier New"/>
                <a:ea typeface="Courier New"/>
                <a:cs typeface="Courier New"/>
              </a:rPr>
              <a:t>def</a:t>
            </a:r>
            <a:r>
              <a:rPr sz="2102" b="0">
                <a:solidFill>
                  <a:srgbClr val="F4F7FA"/>
                </a:solidFill>
                <a:latin typeface="Courier New"/>
                <a:ea typeface="Courier New"/>
                <a:cs typeface="Courier New"/>
              </a:rPr>
              <a:t> with_interaction(rows):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 = []</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for</a:t>
            </a:r>
            <a:r>
              <a:rPr sz="2102" b="0">
                <a:solidFill>
                  <a:srgbClr val="F4F7FA"/>
                </a:solidFill>
                <a:latin typeface="Courier New"/>
                <a:ea typeface="Courier New"/>
                <a:cs typeface="Courier New"/>
              </a:rPr>
              <a:t> a, b in 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result.append([a, b, a * b])</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return</a:t>
            </a:r>
            <a:r>
              <a:rPr sz="2102" b="0">
                <a:solidFill>
                  <a:srgbClr val="F4F7FA"/>
                </a:solidFill>
                <a:latin typeface="Courier New"/>
                <a:ea typeface="Courier New"/>
                <a:cs typeface="Courier New"/>
              </a:rPr>
              <a:t> result</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 = LinearRegression().fit(train,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extended = LinearRegression().fit(with_interaction(train),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base_predictions = base.predict(validation)</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0DB29054-A6F7-4045-BF0D-D2B79056770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1228DA8D-A4DB-46C0-BF9F-6005CBD860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D16E1834-2811-4C46-A0AB-1DA4A45C1B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19</a:t>
            </a:r>
          </a:p>
        </p:txBody>
      </p:sp>
    </p:spTree>
    <p:extLst>
      <p:ext uri="{BB962C8B-B14F-4D97-AF65-F5344CB8AC3E}">
        <p14:creationId xmlns:p14="http://schemas.microsoft.com/office/powerpoint/2010/main" val="22099136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91B614-75BD-4911-9254-93B29DC35E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53D49A-CB46-4E91-98F9-10A6252B9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062F5C-B6E8-46A6-8009-4389089B97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DEB78C3F-32DE-4A74-AF57-AB50EB1A3E7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B7789C-3B1B-4F27-90BB-0B32F7C9DFF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322AA055-981B-4950-A617-82C33054C62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C8195CDE-CB9C-45F6-A3B2-0BDFDE39A8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C4C7AC1F-C9E9-45BD-A3F0-734A4889A3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20</a:t>
            </a:r>
          </a:p>
        </p:txBody>
      </p:sp>
    </p:spTree>
    <p:extLst>
      <p:ext uri="{BB962C8B-B14F-4D97-AF65-F5344CB8AC3E}">
        <p14:creationId xmlns:p14="http://schemas.microsoft.com/office/powerpoint/2010/main" val="101466150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8C4D9D-4572-4D75-AAC7-04DDFEEB6B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EEDE48-DAB4-46E9-9988-67FB3B4DF0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283EF66-57DA-4999-8F74-9282C0494B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9F1CD9C1-B5C3-4E0C-B61E-D32FDB2EEEF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465D20-7662-480C-921D-5E664E0CAB2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EA0FB5E4-B207-43C7-9F53-8A44E9579DF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76FA9340-2C9D-4F3E-BCC3-D5B5645A5D1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53F6F01-84AD-443A-8EEF-0508F878889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415E2A82-EFB1-4357-92F1-8EBE3D628A3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EB17E01E-527B-414B-B240-EC389955DC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21</a:t>
            </a:r>
          </a:p>
        </p:txBody>
      </p:sp>
    </p:spTree>
    <p:extLst>
      <p:ext uri="{BB962C8B-B14F-4D97-AF65-F5344CB8AC3E}">
        <p14:creationId xmlns:p14="http://schemas.microsoft.com/office/powerpoint/2010/main" val="109095625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1ED4B0-BB9D-42F3-B452-05115CED2F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E9747C-EED6-403B-A752-6608AAF168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707570-7A4E-436D-92C9-C66D74CC3B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6DD3E656-F67C-46CE-B9C8-ECD9E955D6C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C2CA35-9981-4008-8993-6C447B9D0E5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98B07B4-EF62-4896-9C6A-2F5ED111A6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3F52BD8A-E942-45C2-A346-4ECD7B69BE5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6C1A44F5-3D6A-4D1A-A2AC-AEB382FE8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22</a:t>
            </a:r>
          </a:p>
        </p:txBody>
      </p:sp>
    </p:spTree>
    <p:extLst>
      <p:ext uri="{BB962C8B-B14F-4D97-AF65-F5344CB8AC3E}">
        <p14:creationId xmlns:p14="http://schemas.microsoft.com/office/powerpoint/2010/main" val="13859940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206287-9DC3-403E-A40D-43092614A6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B36289-F9B8-478A-B8C9-D07A12092E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9E9BBC3-A689-4E4B-B50C-36074E4331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63858FFD-9B11-4B52-AC99-E4AEA57C53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2ED324-0EEE-4E93-8DB8-4445F937FE1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1754076E-2098-423D-A76F-CF56CDA4642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E68342-BCA0-4823-BB30-7158E190DC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8E4FF501-72D9-48B2-8CFA-640DACE708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87146B-E1C0-49C5-80AC-7416B67841D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1828DDF2-2F3F-45BA-A36B-F5229E65C1D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FA7C66-4D55-4C7C-BA04-765D88064F0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4D51D399-F0AB-4D06-9BF9-92975039AD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23</a:t>
            </a:r>
          </a:p>
        </p:txBody>
      </p:sp>
    </p:spTree>
    <p:extLst>
      <p:ext uri="{BB962C8B-B14F-4D97-AF65-F5344CB8AC3E}">
        <p14:creationId xmlns:p14="http://schemas.microsoft.com/office/powerpoint/2010/main" val="129236762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AF97A7-7965-43FD-9D6F-5CCFCBB742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BD646E-25D0-45BD-BAFA-8FA6A81FA0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F217A5-AB78-417E-A7EB-5764EA454C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BD57C776-0C06-4503-A555-32CF7C4038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AE15E2-F9B1-4D1F-8C10-789C45DB169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8C99E849-E25D-4091-8BA0-65939255737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533A27-A9EC-4DBE-BCCE-720A32E8FB1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87330900-A873-469E-AB8F-A1570EA975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483CFD-A45B-476F-81CF-FCD42698A4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BE384060-00B5-4E97-B39A-10F24ECAD8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24</a:t>
            </a:r>
          </a:p>
        </p:txBody>
      </p:sp>
    </p:spTree>
    <p:extLst>
      <p:ext uri="{BB962C8B-B14F-4D97-AF65-F5344CB8AC3E}">
        <p14:creationId xmlns:p14="http://schemas.microsoft.com/office/powerpoint/2010/main" val="97159807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061095-ED2E-42E7-81BB-E5B1509ECB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3FBF0E-AD05-43DF-925E-E1E9310545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CE0962-6249-4753-AE50-5B36D2FB1D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CC0EB9FE-3F4D-463B-A222-9B6C72424F8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99930E-7808-4C28-899F-4297AB38DAB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09B282B0-49BC-456E-8E72-B36C5EB8C8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25</a:t>
            </a:r>
          </a:p>
        </p:txBody>
      </p:sp>
    </p:spTree>
    <p:extLst>
      <p:ext uri="{BB962C8B-B14F-4D97-AF65-F5344CB8AC3E}">
        <p14:creationId xmlns:p14="http://schemas.microsoft.com/office/powerpoint/2010/main" val="63546563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299C0C-F497-4F6F-98AE-5389697515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AA0DB5-FE34-4698-BD6E-4283668C01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B6C11DE-A4B7-4BF7-A394-ECBDF685A5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5F06DFD2-12A8-49FB-9B41-4805F0C385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1BC49E-4257-4F94-92C3-6C41AE2F25A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203A0060-CF50-4F32-9616-7D132DFC3FE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81B581-2B3A-4E6A-88E8-328EE5A503E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50003B6B-55A1-4A7F-BF0E-E8CE4F9C42B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4C33D5-2A23-4422-98BE-2B172D7C29C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A69A731D-24ED-4E9B-B808-2435D38390E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4D2CD1-D3A6-4C8C-9282-C516ABF2F4A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012E50A-A4B7-44CA-BF18-D53818581C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26</a:t>
            </a:r>
          </a:p>
        </p:txBody>
      </p:sp>
    </p:spTree>
    <p:extLst>
      <p:ext uri="{BB962C8B-B14F-4D97-AF65-F5344CB8AC3E}">
        <p14:creationId xmlns:p14="http://schemas.microsoft.com/office/powerpoint/2010/main" val="151088269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D8B3BA-5C54-402B-84EF-622C594A11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1E700F-DE55-43FF-94B8-59087D4794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D64E9E8-3160-417B-B36B-53BCD8F486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E0CE06FA-6366-48EC-B6AB-465738A749E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3ED3CF-79E2-423D-ABCC-2695438C801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E79FD753-29B6-4C43-936C-50781CBA3AF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91A7908-9D7F-4D5F-A782-ECAACBAC08E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E05AA89-F645-4D64-AD04-A98E1AB1FE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27</a:t>
            </a:r>
          </a:p>
        </p:txBody>
      </p:sp>
    </p:spTree>
    <p:extLst>
      <p:ext uri="{BB962C8B-B14F-4D97-AF65-F5344CB8AC3E}">
        <p14:creationId xmlns:p14="http://schemas.microsoft.com/office/powerpoint/2010/main" val="127519319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F6F9C0-EC1F-4E01-BA19-1DAE5F35AA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3E824A-34B5-4F98-AAAD-22D0316F23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77EB0E8-E6D5-42CF-8BA3-80B0255EC3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06FE19CA-75D4-4F49-99D6-A8ACDC35F7D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4D9F40-E228-4050-8766-555FC19DAFC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FDBB2484-0EC0-4E6D-8B8B-98084FDFB85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E48B41-82D5-4E99-B7F4-F64B0A8162F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7305CC0-1CCB-4E62-AEBF-99D3EDBFC1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28</a:t>
            </a:r>
          </a:p>
        </p:txBody>
      </p:sp>
    </p:spTree>
    <p:extLst>
      <p:ext uri="{BB962C8B-B14F-4D97-AF65-F5344CB8AC3E}">
        <p14:creationId xmlns:p14="http://schemas.microsoft.com/office/powerpoint/2010/main" val="11024826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645149C-83F1-483C-A2C0-02D73A4E7D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01346E-3E44-4A61-B58C-DF2DA922B2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548018-4D35-418A-8CB5-EB51151908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F6BA6A4-A549-4B0E-B8F3-A38D186702A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C22C18C-662F-44B1-B458-B8CD76B4852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7F215EE5-B21D-4974-9591-C1F53E0847E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2DCD75E-1AFB-474B-9CF5-6F806C771AA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4D288AA8-A6B8-4AEA-A270-24370A1D91C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781B11-9FA3-449E-8A85-010214CCEA5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A9EDB6A0-4B4B-4EB4-903B-B9F41E424F6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5BF5DD-1A77-4AF3-9504-612BAC4AE25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E6BE877C-D0D0-4144-81A6-C4EF9DA2E9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29</a:t>
            </a:r>
          </a:p>
        </p:txBody>
      </p:sp>
    </p:spTree>
    <p:extLst>
      <p:ext uri="{BB962C8B-B14F-4D97-AF65-F5344CB8AC3E}">
        <p14:creationId xmlns:p14="http://schemas.microsoft.com/office/powerpoint/2010/main" val="14126806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77D5F8-C76B-4C87-AA8B-FD5C79B553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71C036-9107-4936-A57E-0027A6CE46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E3F08F3-1A56-448E-A6DB-F0EBB38613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A42BA0E1-0A6D-4555-9C01-47C26B4542C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A31656-47BD-454E-B130-D286301539B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08:00 Kampala</a:t>
            </a:r>
          </a:p>
        </p:txBody>
      </p:sp>
      <p:sp>
        <p:nvSpPr>
          <p:cNvPr id="6" name="">
            <a:extLst xmlns:a="http://schemas.openxmlformats.org/drawingml/2006/main">
              <a:ext uri="{FF2B5EF4-FFF2-40B4-BE49-F238E27FC236}">
                <a16:creationId xmlns:a16="http://schemas.microsoft.com/office/drawing/2014/main" id="{78FEDA1C-0D92-41E2-A701-D332DBD0469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C342A7-B3C5-4AF2-A032-CB7763B1800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08:00 Kampala</a:t>
            </a:r>
          </a:p>
        </p:txBody>
      </p:sp>
      <p:sp>
        <p:nvSpPr>
          <p:cNvPr id="8" name="">
            <a:extLst xmlns:a="http://schemas.openxmlformats.org/drawingml/2006/main">
              <a:ext uri="{FF2B5EF4-FFF2-40B4-BE49-F238E27FC236}">
                <a16:creationId xmlns:a16="http://schemas.microsoft.com/office/drawing/2014/main" id="{023AD52D-D314-412A-8BEB-A8B38CF6F5B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A904DF-0356-437F-ABBE-B59D16159B5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8A1B35A-7FD4-41EB-B443-FA59D60549F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FD5188B-6C3E-4F4D-AA32-86C9FFE0021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3C22624-0577-4D8F-A941-93A154C5277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A9A159A-EDBD-42AE-BB3B-F2145CF0B51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229d4beaade4696"/>
              </a:rPr>
              <a:t>Open W11 assignment form</a:t>
            </a:r>
          </a:p>
        </p:txBody>
      </p:sp>
      <p:sp>
        <p:nvSpPr>
          <p:cNvPr id="14" name="">
            <a:extLst xmlns:a="http://schemas.openxmlformats.org/drawingml/2006/main">
              <a:ext uri="{FF2B5EF4-FFF2-40B4-BE49-F238E27FC236}">
                <a16:creationId xmlns:a16="http://schemas.microsoft.com/office/drawing/2014/main" id="{2FEA8982-2094-49C1-A3B1-7F7E2EAAAF2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https://docs.google.com/forms/d/e/1FAIpQLSdxAosnTnoXrNZ7QCm8pPQuoa2KxsqFvu_PPsZIQGrJnHMw1g/viewform</a:t>
            </a:r>
          </a:p>
        </p:txBody>
      </p:sp>
      <p:sp>
        <p:nvSpPr>
          <p:cNvPr id="15" name="">
            <a:extLst xmlns:a="http://schemas.openxmlformats.org/drawingml/2006/main">
              <a:ext uri="{FF2B5EF4-FFF2-40B4-BE49-F238E27FC236}">
                <a16:creationId xmlns:a16="http://schemas.microsoft.com/office/drawing/2014/main" id="{4E6C7F51-0A3D-4D2E-A6FF-57D100C94E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30</a:t>
            </a:r>
          </a:p>
        </p:txBody>
      </p:sp>
    </p:spTree>
    <p:extLst>
      <p:ext uri="{BB962C8B-B14F-4D97-AF65-F5344CB8AC3E}">
        <p14:creationId xmlns:p14="http://schemas.microsoft.com/office/powerpoint/2010/main" val="109861213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F9D141-EE0A-49E6-A033-ADB7643438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5F6FA8-CD60-45A5-BA22-7BC3345BF7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C895352-F7EA-4C05-A9A9-9654365033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B26D6E4-2A97-41C3-BC7F-5906C15FD0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D73F6C-70DD-43EB-A7B5-1F26D43A50E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0C3E825F-9ECC-437F-88A1-712EBC6DB46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56E2C6-90E9-4A29-93C3-8E829402F13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2F7FD225-D498-4760-A97A-287D1FB640A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DBCE7E-4B49-4E15-83DD-522138F9F35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C77F2177-0F83-40E7-9E7D-841B6CBDE72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1ECE393-CD55-4CF4-B140-27F86285283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414AEDA6-ACAC-47BF-B0A2-11F414420B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31</a:t>
            </a:r>
          </a:p>
        </p:txBody>
      </p:sp>
    </p:spTree>
    <p:extLst>
      <p:ext uri="{BB962C8B-B14F-4D97-AF65-F5344CB8AC3E}">
        <p14:creationId xmlns:p14="http://schemas.microsoft.com/office/powerpoint/2010/main" val="46052687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C414441-613A-4C65-AFA1-0178409B7B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3D7ACC-B3E9-412F-B41A-F8D030D859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F6016B4-F868-4337-A4A9-D5A303AF14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68FF10EE-7A2A-45C5-80B7-5A290B8ED48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11114B-861F-4B8C-A413-F4053F5EA2A5}"/>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8213AF5-E238-4EEB-B69B-D03B71D92A9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8953C39-841F-4C91-BC5D-5C4EC684323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2AD949E-AD81-4619-9604-B238597223A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5324FB-7924-4EB5-BA24-49E48D2D71FD}"/>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EC09FCB0-E2F9-4FAE-A90E-7D4267E2FD7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A380FC-579A-4525-8E53-DEA7C47B407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31aa65bb1bda4c5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0F391F52-3A72-413F-862C-FBAC0F25576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7DBBA43-5FAB-440C-97A1-A199C2DBDD5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1D569A2-7D7B-45BF-AD47-CF495C5ABA5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d1dcbc04aff4c97"/>
              </a:rPr>
              <a:t>Open this week’s quiz</a:t>
            </a:r>
          </a:p>
        </p:txBody>
      </p:sp>
      <p:sp>
        <p:nvSpPr>
          <p:cNvPr id="16" name="">
            <a:extLst xmlns:a="http://schemas.openxmlformats.org/drawingml/2006/main">
              <a:ext uri="{FF2B5EF4-FFF2-40B4-BE49-F238E27FC236}">
                <a16:creationId xmlns:a16="http://schemas.microsoft.com/office/drawing/2014/main" id="{25009F3A-25B0-421A-B3D4-91AF580E0C1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https://forms.gle/3sf2d3vGXpJ4HtvP6</a:t>
            </a:r>
          </a:p>
        </p:txBody>
      </p:sp>
      <p:sp>
        <p:nvSpPr>
          <p:cNvPr id="17" name="">
            <a:extLst xmlns:a="http://schemas.openxmlformats.org/drawingml/2006/main">
              <a:ext uri="{FF2B5EF4-FFF2-40B4-BE49-F238E27FC236}">
                <a16:creationId xmlns:a16="http://schemas.microsoft.com/office/drawing/2014/main" id="{EBAC39D1-93DE-48E1-A2C2-C178C2D67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11   32</a:t>
            </a:r>
          </a:p>
        </p:txBody>
      </p:sp>
    </p:spTree>
    <p:extLst>
      <p:ext uri="{BB962C8B-B14F-4D97-AF65-F5344CB8AC3E}">
        <p14:creationId xmlns:p14="http://schemas.microsoft.com/office/powerpoint/2010/main" val="420059227"/>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1F2D84-9F05-49A7-B919-8C922FA26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A2157D5-7F0E-4ADF-8F2B-8C7D19DE04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71DBE64E-02DC-4429-ABCB-CF8ABE6146B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895CFA6-6350-426C-81F1-F279B859C65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DA1A582-EC3E-4FCD-954B-85166CFA9DE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6DB86245-0CAF-4784-A58B-3DB9CBA77F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11   33</a:t>
            </a:r>
          </a:p>
        </p:txBody>
      </p:sp>
    </p:spTree>
    <p:extLst>
      <p:ext uri="{BB962C8B-B14F-4D97-AF65-F5344CB8AC3E}">
        <p14:creationId xmlns:p14="http://schemas.microsoft.com/office/powerpoint/2010/main" val="3417444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2026-09-28T21:15:23.7730000Z</dcterms:created>
  <dcterms:modified xsi:type="dcterms:W3CDTF">2026-09-28T21:15:23.7730000Z</dcterms:modified>
</coreProperties>
</file>