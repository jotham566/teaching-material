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52acfa5276a64497" /><Relationship Type="http://schemas.openxmlformats.org/officeDocument/2006/relationships/extended-properties" Target="/docProps/app.xml" Id="R1596ec0b84c6490f" /><Relationship Type="http://schemas.openxmlformats.org/officeDocument/2006/relationships/officeDocument" Target="/ppt/presentation.xml" Id="R1d9e15e4d93c4fda" /></Relationships>
</file>

<file path=ppt/presentation.xml><?xml version="1.0" encoding="utf-8"?>
<p:presentation xmlns:p="http://schemas.openxmlformats.org/presentationml/2006/main">
  <p:sldMasterIdLst>
    <p:sldMasterId xmlns:r="http://schemas.openxmlformats.org/officeDocument/2006/relationships" id="2147483648" r:id="Re778c6d336e4426d"/>
  </p:sldMasterIdLst>
  <p:notesMasterIdLst>
    <p:notesMasterId xmlns:r="http://schemas.openxmlformats.org/officeDocument/2006/relationships" r:id="R422eed391b4b43f6"/>
  </p:notesMasterIdLst>
  <p:sldIdLst>
    <p:sldId xmlns:r="http://schemas.openxmlformats.org/officeDocument/2006/relationships" id="256" r:id="R67c2caf179c44e16"/>
    <p:sldId xmlns:r="http://schemas.openxmlformats.org/officeDocument/2006/relationships" id="257" r:id="R46c0ef2c761d4f57"/>
    <p:sldId xmlns:r="http://schemas.openxmlformats.org/officeDocument/2006/relationships" id="258" r:id="R7f750a144663412e"/>
    <p:sldId xmlns:r="http://schemas.openxmlformats.org/officeDocument/2006/relationships" id="259" r:id="Rfae9307d345244aa"/>
    <p:sldId xmlns:r="http://schemas.openxmlformats.org/officeDocument/2006/relationships" id="260" r:id="Rc35a87b78c0e4e62"/>
    <p:sldId xmlns:r="http://schemas.openxmlformats.org/officeDocument/2006/relationships" id="261" r:id="Rba53b97494944857"/>
    <p:sldId xmlns:r="http://schemas.openxmlformats.org/officeDocument/2006/relationships" id="262" r:id="R2bc6dc966b484333"/>
    <p:sldId xmlns:r="http://schemas.openxmlformats.org/officeDocument/2006/relationships" id="263" r:id="Rf0226f82e96049bd"/>
    <p:sldId xmlns:r="http://schemas.openxmlformats.org/officeDocument/2006/relationships" id="264" r:id="Rc59caddadd664137"/>
    <p:sldId xmlns:r="http://schemas.openxmlformats.org/officeDocument/2006/relationships" id="265" r:id="Rd55ae57d1c694aab"/>
    <p:sldId xmlns:r="http://schemas.openxmlformats.org/officeDocument/2006/relationships" id="266" r:id="Rd19fbd91cdb5453b"/>
    <p:sldId xmlns:r="http://schemas.openxmlformats.org/officeDocument/2006/relationships" id="267" r:id="R037572c950fe4964"/>
    <p:sldId xmlns:r="http://schemas.openxmlformats.org/officeDocument/2006/relationships" id="268" r:id="R2152f7bf892345f5"/>
    <p:sldId xmlns:r="http://schemas.openxmlformats.org/officeDocument/2006/relationships" id="269" r:id="R966d0faaec51483a"/>
    <p:sldId xmlns:r="http://schemas.openxmlformats.org/officeDocument/2006/relationships" id="270" r:id="R76339a449e8d43c2"/>
    <p:sldId xmlns:r="http://schemas.openxmlformats.org/officeDocument/2006/relationships" id="271" r:id="R05dba5e11ec14ae4"/>
    <p:sldId xmlns:r="http://schemas.openxmlformats.org/officeDocument/2006/relationships" id="272" r:id="R9f6914cc2d954d41"/>
    <p:sldId xmlns:r="http://schemas.openxmlformats.org/officeDocument/2006/relationships" id="273" r:id="R36283e482eff4e45"/>
    <p:sldId xmlns:r="http://schemas.openxmlformats.org/officeDocument/2006/relationships" id="274" r:id="R3e151bd0e3bb4155"/>
    <p:sldId xmlns:r="http://schemas.openxmlformats.org/officeDocument/2006/relationships" id="275" r:id="Rd30f4586071b4eef"/>
    <p:sldId xmlns:r="http://schemas.openxmlformats.org/officeDocument/2006/relationships" id="276" r:id="R85c009d07172435e"/>
    <p:sldId xmlns:r="http://schemas.openxmlformats.org/officeDocument/2006/relationships" id="277" r:id="Rb986bd8b87614ab7"/>
    <p:sldId xmlns:r="http://schemas.openxmlformats.org/officeDocument/2006/relationships" id="278" r:id="Re65ad3fcaab9443e"/>
    <p:sldId xmlns:r="http://schemas.openxmlformats.org/officeDocument/2006/relationships" id="279" r:id="Rcc8a3195acda4c9d"/>
    <p:sldId xmlns:r="http://schemas.openxmlformats.org/officeDocument/2006/relationships" id="280" r:id="R1a56b820682d4ee5"/>
    <p:sldId xmlns:r="http://schemas.openxmlformats.org/officeDocument/2006/relationships" id="281" r:id="R3c82d4059da64183"/>
    <p:sldId xmlns:r="http://schemas.openxmlformats.org/officeDocument/2006/relationships" id="282" r:id="R67a635443a7c476e"/>
    <p:sldId xmlns:r="http://schemas.openxmlformats.org/officeDocument/2006/relationships" id="283" r:id="R511189e76610489a"/>
    <p:sldId xmlns:r="http://schemas.openxmlformats.org/officeDocument/2006/relationships" id="284" r:id="R41c2b11e1b3048f9"/>
    <p:sldId xmlns:r="http://schemas.openxmlformats.org/officeDocument/2006/relationships" id="285" r:id="R9d9099e7f5084e55"/>
    <p:sldId xmlns:r="http://schemas.openxmlformats.org/officeDocument/2006/relationships" id="286" r:id="R2a9d77b41b694cdb"/>
    <p:sldId xmlns:r="http://schemas.openxmlformats.org/officeDocument/2006/relationships" id="287" r:id="Rd66dfe8b385e414e"/>
    <p:sldId xmlns:r="http://schemas.openxmlformats.org/officeDocument/2006/relationships" id="288" r:id="Rb05938ad271b40f7"/>
    <p:sldId xmlns:r="http://schemas.openxmlformats.org/officeDocument/2006/relationships" id="289" r:id="R30320308054d4c0c"/>
    <p:sldId xmlns:r="http://schemas.openxmlformats.org/officeDocument/2006/relationships" id="290" r:id="R16cc43c8eb574703"/>
    <p:sldId xmlns:r="http://schemas.openxmlformats.org/officeDocument/2006/relationships" id="291" r:id="R1c4d050869a043f7"/>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13dbc34febc04f0c" /><Relationship Type="http://schemas.openxmlformats.org/officeDocument/2006/relationships/slideMaster" Target="/ppt/slideMasters/slideMaster1.xml" Id="Re778c6d336e4426d" /><Relationship Type="http://schemas.openxmlformats.org/officeDocument/2006/relationships/notesMaster" Target="/ppt/notesMasters/notesMaster1.xml" Id="R422eed391b4b43f6" /><Relationship Type="http://schemas.openxmlformats.org/officeDocument/2006/relationships/presProps" Target="/ppt/presProps.xml" Id="Rfc36bea1414e4ef5" /><Relationship Type="http://schemas.openxmlformats.org/officeDocument/2006/relationships/tableStyles" Target="/ppt/tableStyles.xml" Id="Rde2faca86a8a433e" /><Relationship Type="http://schemas.openxmlformats.org/officeDocument/2006/relationships/slide" Target="/ppt/slides/slide1.xml" Id="R67c2caf179c44e16" /><Relationship Type="http://schemas.openxmlformats.org/officeDocument/2006/relationships/slide" Target="/ppt/slides/slide2.xml" Id="R46c0ef2c761d4f57" /><Relationship Type="http://schemas.openxmlformats.org/officeDocument/2006/relationships/slide" Target="/ppt/slides/slide3.xml" Id="R7f750a144663412e" /><Relationship Type="http://schemas.openxmlformats.org/officeDocument/2006/relationships/slide" Target="/ppt/slides/slide4.xml" Id="Rfae9307d345244aa" /><Relationship Type="http://schemas.openxmlformats.org/officeDocument/2006/relationships/slide" Target="/ppt/slides/slide5.xml" Id="Rc35a87b78c0e4e62" /><Relationship Type="http://schemas.openxmlformats.org/officeDocument/2006/relationships/slide" Target="/ppt/slides/slide6.xml" Id="Rba53b97494944857" /><Relationship Type="http://schemas.openxmlformats.org/officeDocument/2006/relationships/slide" Target="/ppt/slides/slide7.xml" Id="R2bc6dc966b484333" /><Relationship Type="http://schemas.openxmlformats.org/officeDocument/2006/relationships/slide" Target="/ppt/slides/slide8.xml" Id="Rf0226f82e96049bd" /><Relationship Type="http://schemas.openxmlformats.org/officeDocument/2006/relationships/slide" Target="/ppt/slides/slide9.xml" Id="Rc59caddadd664137" /><Relationship Type="http://schemas.openxmlformats.org/officeDocument/2006/relationships/slide" Target="/ppt/slides/slide10.xml" Id="Rd55ae57d1c694aab" /><Relationship Type="http://schemas.openxmlformats.org/officeDocument/2006/relationships/slide" Target="/ppt/slides/slide11.xml" Id="Rd19fbd91cdb5453b" /><Relationship Type="http://schemas.openxmlformats.org/officeDocument/2006/relationships/slide" Target="/ppt/slides/slide12.xml" Id="R037572c950fe4964" /><Relationship Type="http://schemas.openxmlformats.org/officeDocument/2006/relationships/slide" Target="/ppt/slides/slide13.xml" Id="R2152f7bf892345f5" /><Relationship Type="http://schemas.openxmlformats.org/officeDocument/2006/relationships/slide" Target="/ppt/slides/slide14.xml" Id="R966d0faaec51483a" /><Relationship Type="http://schemas.openxmlformats.org/officeDocument/2006/relationships/slide" Target="/ppt/slides/slide15.xml" Id="R76339a449e8d43c2" /><Relationship Type="http://schemas.openxmlformats.org/officeDocument/2006/relationships/slide" Target="/ppt/slides/slide16.xml" Id="R05dba5e11ec14ae4" /><Relationship Type="http://schemas.openxmlformats.org/officeDocument/2006/relationships/slide" Target="/ppt/slides/slide17.xml" Id="R9f6914cc2d954d41" /><Relationship Type="http://schemas.openxmlformats.org/officeDocument/2006/relationships/slide" Target="/ppt/slides/slide18.xml" Id="R36283e482eff4e45" /><Relationship Type="http://schemas.openxmlformats.org/officeDocument/2006/relationships/slide" Target="/ppt/slides/slide19.xml" Id="R3e151bd0e3bb4155" /><Relationship Type="http://schemas.openxmlformats.org/officeDocument/2006/relationships/slide" Target="/ppt/slides/slide20.xml" Id="Rd30f4586071b4eef" /><Relationship Type="http://schemas.openxmlformats.org/officeDocument/2006/relationships/slide" Target="/ppt/slides/slide21.xml" Id="R85c009d07172435e" /><Relationship Type="http://schemas.openxmlformats.org/officeDocument/2006/relationships/slide" Target="/ppt/slides/slide22.xml" Id="Rb986bd8b87614ab7" /><Relationship Type="http://schemas.openxmlformats.org/officeDocument/2006/relationships/slide" Target="/ppt/slides/slide23.xml" Id="Re65ad3fcaab9443e" /><Relationship Type="http://schemas.openxmlformats.org/officeDocument/2006/relationships/slide" Target="/ppt/slides/slide24.xml" Id="Rcc8a3195acda4c9d" /><Relationship Type="http://schemas.openxmlformats.org/officeDocument/2006/relationships/slide" Target="/ppt/slides/slide25.xml" Id="R1a56b820682d4ee5" /><Relationship Type="http://schemas.openxmlformats.org/officeDocument/2006/relationships/slide" Target="/ppt/slides/slide26.xml" Id="R3c82d4059da64183" /><Relationship Type="http://schemas.openxmlformats.org/officeDocument/2006/relationships/slide" Target="/ppt/slides/slide27.xml" Id="R67a635443a7c476e" /><Relationship Type="http://schemas.openxmlformats.org/officeDocument/2006/relationships/slide" Target="/ppt/slides/slide28.xml" Id="R511189e76610489a" /><Relationship Type="http://schemas.openxmlformats.org/officeDocument/2006/relationships/slide" Target="/ppt/slides/slide29.xml" Id="R41c2b11e1b3048f9" /><Relationship Type="http://schemas.openxmlformats.org/officeDocument/2006/relationships/slide" Target="/ppt/slides/slide30.xml" Id="R9d9099e7f5084e55" /><Relationship Type="http://schemas.openxmlformats.org/officeDocument/2006/relationships/slide" Target="/ppt/slides/slide31.xml" Id="R2a9d77b41b694cdb" /><Relationship Type="http://schemas.openxmlformats.org/officeDocument/2006/relationships/slide" Target="/ppt/slides/slide32.xml" Id="Rd66dfe8b385e414e" /><Relationship Type="http://schemas.openxmlformats.org/officeDocument/2006/relationships/slide" Target="/ppt/slides/slide33.xml" Id="Rb05938ad271b40f7" /><Relationship Type="http://schemas.openxmlformats.org/officeDocument/2006/relationships/slide" Target="/ppt/slides/slide34.xml" Id="R30320308054d4c0c" /><Relationship Type="http://schemas.openxmlformats.org/officeDocument/2006/relationships/slide" Target="/ppt/slides/slide35.xml" Id="R16cc43c8eb574703" /><Relationship Type="http://schemas.openxmlformats.org/officeDocument/2006/relationships/slide" Target="/ppt/slides/slide36.xml" Id="R1c4d050869a043f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02d1b84c08b4d0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80d19bc034748dc" /><Relationship Type="http://schemas.openxmlformats.org/officeDocument/2006/relationships/notesMaster" Target="/ppt/notesMasters/notesMaster1.xml" Id="Rc40525f9b0774aa8" /></Relationships>
</file>

<file path=ppt/notesSlides/_rels/notesSlide2.xml.rels>&#65279;<?xml version="1.0" encoding="utf-8"?><Relationships xmlns="http://schemas.openxmlformats.org/package/2006/relationships"><Relationship Type="http://schemas.openxmlformats.org/officeDocument/2006/relationships/slide" Target="/ppt/slides/slide2.xml" Id="R7983b0312ba5479f" /><Relationship Type="http://schemas.openxmlformats.org/officeDocument/2006/relationships/notesMaster" Target="/ppt/notesMasters/notesMaster1.xml" Id="Rc47ab0257b4c4307" /></Relationships>
</file>

<file path=ppt/notesSlides/_rels/notesSlide3.xml.rels>&#65279;<?xml version="1.0" encoding="utf-8"?><Relationships xmlns="http://schemas.openxmlformats.org/package/2006/relationships"><Relationship Type="http://schemas.openxmlformats.org/officeDocument/2006/relationships/slide" Target="/ppt/slides/slide3.xml" Id="Rb0047be677514650" /><Relationship Type="http://schemas.openxmlformats.org/officeDocument/2006/relationships/notesMaster" Target="/ppt/notesMasters/notesMaster1.xml" Id="Rea02baafa0104811" /></Relationships>
</file>

<file path=ppt/notesSlides/_rels/notesSlide4.xml.rels>&#65279;<?xml version="1.0" encoding="utf-8"?><Relationships xmlns="http://schemas.openxmlformats.org/package/2006/relationships"><Relationship Type="http://schemas.openxmlformats.org/officeDocument/2006/relationships/slide" Target="/ppt/slides/slide4.xml" Id="R1b8dd901ae4d4984" /><Relationship Type="http://schemas.openxmlformats.org/officeDocument/2006/relationships/notesMaster" Target="/ppt/notesMasters/notesMaster1.xml" Id="Rccae93e051924080" /></Relationships>
</file>

<file path=ppt/notesSlides/_rels/notesSlide5.xml.rels>&#65279;<?xml version="1.0" encoding="utf-8"?><Relationships xmlns="http://schemas.openxmlformats.org/package/2006/relationships"><Relationship Type="http://schemas.openxmlformats.org/officeDocument/2006/relationships/slide" Target="/ppt/slides/slide5.xml" Id="Rcc9b7a5091af4078" /><Relationship Type="http://schemas.openxmlformats.org/officeDocument/2006/relationships/notesMaster" Target="/ppt/notesMasters/notesMaster1.xml" Id="Ra028acaa1f5f483f" /></Relationships>
</file>

<file path=ppt/notesSlides/_rels/notesSlide6.xml.rels>&#65279;<?xml version="1.0" encoding="utf-8"?><Relationships xmlns="http://schemas.openxmlformats.org/package/2006/relationships"><Relationship Type="http://schemas.openxmlformats.org/officeDocument/2006/relationships/slide" Target="/ppt/slides/slide6.xml" Id="Rd9ab1277d6754efc" /><Relationship Type="http://schemas.openxmlformats.org/officeDocument/2006/relationships/notesMaster" Target="/ppt/notesMasters/notesMaster1.xml" Id="Rc0981a9e2bf34123" /></Relationships>
</file>

<file path=ppt/notesSlides/_rels/notesSlide7.xml.rels>&#65279;<?xml version="1.0" encoding="utf-8"?><Relationships xmlns="http://schemas.openxmlformats.org/package/2006/relationships"><Relationship Type="http://schemas.openxmlformats.org/officeDocument/2006/relationships/slide" Target="/ppt/slides/slide7.xml" Id="R410c331824d04f21" /><Relationship Type="http://schemas.openxmlformats.org/officeDocument/2006/relationships/notesMaster" Target="/ppt/notesMasters/notesMaster1.xml" Id="Ra3346cab51f54b1a" /></Relationships>
</file>

<file path=ppt/notesSlides/_rels/notesSlide8.xml.rels>&#65279;<?xml version="1.0" encoding="utf-8"?><Relationships xmlns="http://schemas.openxmlformats.org/package/2006/relationships"><Relationship Type="http://schemas.openxmlformats.org/officeDocument/2006/relationships/slide" Target="/ppt/slides/slide8.xml" Id="R41d897ec6f46416f" /><Relationship Type="http://schemas.openxmlformats.org/officeDocument/2006/relationships/notesMaster" Target="/ppt/notesMasters/notesMaster1.xml" Id="R61fc836ca6e449fb" /></Relationships>
</file>

<file path=ppt/notesSlides/_rels/notesSlide9.xml.rels>&#65279;<?xml version="1.0" encoding="utf-8"?><Relationships xmlns="http://schemas.openxmlformats.org/package/2006/relationships"><Relationship Type="http://schemas.openxmlformats.org/officeDocument/2006/relationships/slide" Target="/ppt/slides/slide9.xml" Id="R6596076ddb2f4157" /><Relationship Type="http://schemas.openxmlformats.org/officeDocument/2006/relationships/notesMaster" Target="/ppt/notesMasters/notesMaster1.xml" Id="Ra956635ad7e14f57"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2cb3982bb774460c" /><Relationship Type="http://schemas.openxmlformats.org/officeDocument/2006/relationships/notesMaster" Target="/ppt/notesMasters/notesMaster1.xml" Id="R603157c4af054fb2"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07a46c479abd4ef3" /><Relationship Type="http://schemas.openxmlformats.org/officeDocument/2006/relationships/notesMaster" Target="/ppt/notesMasters/notesMaster1.xml" Id="Rc35f23bbeb854a82"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b1919175c15e48d8" /><Relationship Type="http://schemas.openxmlformats.org/officeDocument/2006/relationships/notesMaster" Target="/ppt/notesMasters/notesMaster1.xml" Id="R16f3b2eba5d847b8"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efe7fea260fc442b" /><Relationship Type="http://schemas.openxmlformats.org/officeDocument/2006/relationships/notesMaster" Target="/ppt/notesMasters/notesMaster1.xml" Id="R022d2f2a63414f0e"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03fa5f6de6344857" /><Relationship Type="http://schemas.openxmlformats.org/officeDocument/2006/relationships/notesMaster" Target="/ppt/notesMasters/notesMaster1.xml" Id="R1110c47a7e1e4b09"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5871c95c275f45af" /><Relationship Type="http://schemas.openxmlformats.org/officeDocument/2006/relationships/notesMaster" Target="/ppt/notesMasters/notesMaster1.xml" Id="Rd345bb3ce8194f7e"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8ff07495035c4184" /><Relationship Type="http://schemas.openxmlformats.org/officeDocument/2006/relationships/notesMaster" Target="/ppt/notesMasters/notesMaster1.xml" Id="Re38b0ecbf1754a7d"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7db07566403d4d89" /><Relationship Type="http://schemas.openxmlformats.org/officeDocument/2006/relationships/notesMaster" Target="/ppt/notesMasters/notesMaster1.xml" Id="Rabfc8cfa53f844ef"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03789fdf13db4343" /><Relationship Type="http://schemas.openxmlformats.org/officeDocument/2006/relationships/notesMaster" Target="/ppt/notesMasters/notesMaster1.xml" Id="Rd24da3635ed845a0"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080027a474cc406b" /><Relationship Type="http://schemas.openxmlformats.org/officeDocument/2006/relationships/notesMaster" Target="/ppt/notesMasters/notesMaster1.xml" Id="Re4a189c192734597"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6e0818aceb184fe9" /><Relationship Type="http://schemas.openxmlformats.org/officeDocument/2006/relationships/notesMaster" Target="/ppt/notesMasters/notesMaster1.xml" Id="R01be25a2deb54cea"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e9bb6d98368248ef" /><Relationship Type="http://schemas.openxmlformats.org/officeDocument/2006/relationships/notesMaster" Target="/ppt/notesMasters/notesMaster1.xml" Id="R2f39d8be445d4533"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9012ca79741542e4" /><Relationship Type="http://schemas.openxmlformats.org/officeDocument/2006/relationships/notesMaster" Target="/ppt/notesMasters/notesMaster1.xml" Id="Rca483f06341141cd"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b6329e10f7e14821" /><Relationship Type="http://schemas.openxmlformats.org/officeDocument/2006/relationships/notesMaster" Target="/ppt/notesMasters/notesMaster1.xml" Id="Rfe4a7eea93b945f9"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79c2855440524b23" /><Relationship Type="http://schemas.openxmlformats.org/officeDocument/2006/relationships/notesMaster" Target="/ppt/notesMasters/notesMaster1.xml" Id="Ra0ac27c2cf804310"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ac5986b8e33d4454" /><Relationship Type="http://schemas.openxmlformats.org/officeDocument/2006/relationships/notesMaster" Target="/ppt/notesMasters/notesMaster1.xml" Id="R91477d6a94e94155"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544d11648ed04692" /><Relationship Type="http://schemas.openxmlformats.org/officeDocument/2006/relationships/notesMaster" Target="/ppt/notesMasters/notesMaster1.xml" Id="R8fff238fed0b4a27"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c12db7b0f8c946f7" /><Relationship Type="http://schemas.openxmlformats.org/officeDocument/2006/relationships/notesMaster" Target="/ppt/notesMasters/notesMaster1.xml" Id="R9c8aed7bd2044aed"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013edf9fd1ba42e1" /><Relationship Type="http://schemas.openxmlformats.org/officeDocument/2006/relationships/notesMaster" Target="/ppt/notesMasters/notesMaster1.xml" Id="Rc58a169abf764e97"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67ce2268403a4cd2" /><Relationship Type="http://schemas.openxmlformats.org/officeDocument/2006/relationships/notesMaster" Target="/ppt/notesMasters/notesMaster1.xml" Id="Rcdf124bf5f4a4119"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5c17462964bc4c27" /><Relationship Type="http://schemas.openxmlformats.org/officeDocument/2006/relationships/notesMaster" Target="/ppt/notesMasters/notesMaster1.xml" Id="R8d77345ef99146e1"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45abfd7e57ec4ec4" /><Relationship Type="http://schemas.openxmlformats.org/officeDocument/2006/relationships/notesMaster" Target="/ppt/notesMasters/notesMaster1.xml" Id="R4a094fed43a6452e"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4c78d0be9bef4b76" /><Relationship Type="http://schemas.openxmlformats.org/officeDocument/2006/relationships/notesMaster" Target="/ppt/notesMasters/notesMaster1.xml" Id="R9f0dc548cc5a4897"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24c3808c10164ee1" /><Relationship Type="http://schemas.openxmlformats.org/officeDocument/2006/relationships/notesMaster" Target="/ppt/notesMasters/notesMaster1.xml" Id="R5913c28d5fa84a86"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4760fa0819884da9" /><Relationship Type="http://schemas.openxmlformats.org/officeDocument/2006/relationships/notesMaster" Target="/ppt/notesMasters/notesMaster1.xml" Id="R38258cc9f908469b"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3795fc8ffd4a4593" /><Relationship Type="http://schemas.openxmlformats.org/officeDocument/2006/relationships/notesMaster" Target="/ppt/notesMasters/notesMaster1.xml" Id="R28c334e40a81443f"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e86390196b5940ab" /><Relationship Type="http://schemas.openxmlformats.org/officeDocument/2006/relationships/notesMaster" Target="/ppt/notesMasters/notesMaster1.xml" Id="R13d723a25d1748a8"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Creating and testing a useful feature</a:t>
            </a:r>
          </a:p>
          <a:p>
            <a:r>
              <a:t/>
            </a:r>
          </a:p>
          <a:p>
            <a:r>
              <a:t>LECTURER CUE</a:t>
            </a:r>
          </a:p>
          <a:p>
            <a:r>
              <a:t>Use PowerPoint Presenter View for these notes. Teach one example, pause for every learner to predict, then work an analogous example together. The practice notebook is a learning aid, not an extra graded upload.</a:t>
            </a:r>
          </a:p>
          <a:p>
            <a:r>
              <a:t/>
            </a:r>
          </a:p>
          <a:p>
            <a:r>
              <a:t>EXPLAIN IN ORDINARY WORDS</a:t>
            </a:r>
          </a:p>
          <a:p>
            <a:r>
              <a:t>A feature is an input available when predicting. The target is the answer to learn from. Regression predicts a number; classification predicts a category. Learning patterns does not by itself establish cause.</a:t>
            </a:r>
          </a:p>
          <a:p>
            <a:r>
              <a:t/>
            </a:r>
          </a:p>
          <a:p>
            <a:r>
              <a:t>CHECK AND EXPECTED ANSWER</a:t>
            </a:r>
          </a:p>
          <a:p>
            <a:r>
              <a:t>Predicting concrete strength: regression. Predicting pass/fail: classification. Is a later test result available before that test? No.</a:t>
            </a:r>
          </a:p>
          <a:p>
            <a:r>
              <a:t/>
            </a:r>
          </a:p>
          <a:p>
            <a:r>
              <a:t>IF LEARNERS ARE STUCK</a:t>
            </a:r>
          </a:p>
          <a:p>
            <a:r>
              <a:t>Describe the engineering decision in everyday language, then label one row, an input and its answer. Compare with a rule you could write directly.</a:t>
            </a:r>
          </a:p>
          <a:p>
            <a:r>
              <a:t/>
            </a:r>
          </a:p>
          <a:p>
            <a:r>
              <a:t>NEXT</a:t>
            </a:r>
          </a:p>
          <a:p>
            <a:r>
              <a:t>Today’s learning.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Today’s learning</a:t>
            </a:r>
          </a:p>
          <a:p>
            <a:r>
              <a:t/>
            </a:r>
          </a:p>
          <a:p>
            <a:r>
              <a:t>CONNECT</a:t>
            </a:r>
          </a:p>
          <a:p>
            <a:r>
              <a:t>Build on the preceding slide: Creating and testing a useful feature.</a:t>
            </a:r>
          </a:p>
          <a:p>
            <a:r>
              <a:t/>
            </a:r>
          </a:p>
          <a:p>
            <a:r>
              <a:t>LECTURER CUE</a:t>
            </a:r>
          </a:p>
          <a:p>
            <a:r>
              <a:t>Ask learners to explain this goal in ordinary language. The first successful attempt matters more than covering optional extensions. Defer: Five independent features, a full ColumnTransformer construction and domain-code features are extension. Never invent engineering limits.</a:t>
            </a:r>
          </a:p>
          <a:p>
            <a:r>
              <a:t/>
            </a:r>
          </a:p>
          <a:p>
            <a:r>
              <a:t>EXPLAIN IN ORDINARY WORDS</a:t>
            </a:r>
          </a:p>
          <a:p>
            <a:r>
              <a:t>A feature is an input available when predicting. The target is the answer to learn from. Regression predicts a number; classification predicts a category. Learning patterns does not by itself establish cause.</a:t>
            </a:r>
          </a:p>
          <a:p>
            <a:r>
              <a:t/>
            </a:r>
          </a:p>
          <a:p>
            <a:r>
              <a:t>CHECK AND EXPECTED ANSWER</a:t>
            </a:r>
          </a:p>
          <a:p>
            <a:r>
              <a:t>Predicting concrete strength: regression. Predicting pass/fail: classification. Is a later test result available before that test? No.</a:t>
            </a:r>
          </a:p>
          <a:p>
            <a:r>
              <a:t/>
            </a:r>
          </a:p>
          <a:p>
            <a:r>
              <a:t>IF LEARNERS ARE STUCK</a:t>
            </a:r>
          </a:p>
          <a:p>
            <a:r>
              <a:t>Describe the engineering decision in everyday language, then label one row, an input and its answer. Compare with a rule you could write directly.</a:t>
            </a:r>
          </a:p>
          <a:p>
            <a:r>
              <a:t/>
            </a:r>
          </a:p>
          <a:p>
            <a:r>
              <a:t>NEXT</a:t>
            </a:r>
          </a:p>
          <a:p>
            <a:r>
              <a:t>Recall and a first attempt.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Recall and a first attempt</a:t>
            </a:r>
          </a:p>
          <a:p>
            <a:r>
              <a:t/>
            </a:r>
          </a:p>
          <a:p>
            <a:r>
              <a:t>CONNECT</a:t>
            </a:r>
          </a:p>
          <a:p>
            <a:r>
              <a:t>Build on the preceding slide: Today’s learning.</a:t>
            </a:r>
          </a:p>
          <a:p>
            <a:r>
              <a:t/>
            </a:r>
          </a:p>
          <a:p>
            <a:r>
              <a:t>LECTURER CUE</a:t>
            </a:r>
          </a:p>
          <a:p>
            <a:r>
              <a:t>Allow two minutes for everyone to try. Ask pairs to compare. If many cannot begin, show the first step and repeat with changed values. Checkpoint for today: Students explain why the largest-looking feature or the most complex model need not improve predictions.</a:t>
            </a:r>
          </a:p>
          <a:p>
            <a:r>
              <a:t/>
            </a:r>
          </a:p>
          <a:p>
            <a:r>
              <a:t>EXPLAIN IN ORDINARY WORDS</a:t>
            </a:r>
          </a:p>
          <a:p>
            <a:r>
              <a:t>Name the positive class first. Actual is what happened; predicted is the model decision. Precision asks how many predicted positives were right. Recall asks how many actual positives were found.</a:t>
            </a:r>
          </a:p>
          <a:p>
            <a:r>
              <a:t/>
            </a:r>
          </a:p>
          <a:p>
            <a:r>
              <a:t>CHECK AND EXPECTED ANSWER</a:t>
            </a:r>
          </a:p>
          <a:p>
            <a:r>
              <a:t>With TP=2, FP=1, FN=2: precision=2/3 and recall=2/4. A missed actual positive is a false negative.</a:t>
            </a:r>
          </a:p>
          <a:p>
            <a:r>
              <a:t/>
            </a:r>
          </a:p>
          <a:p>
            <a:r>
              <a:t>IF LEARNERS ARE STUCK</a:t>
            </a:r>
          </a:p>
          <a:p>
            <a:r>
              <a:t>Draw actual/predicted headings. Place one case at a time before calculating a fraction. Explain the task rule for a zero denominator.</a:t>
            </a:r>
          </a:p>
          <a:p>
            <a:r>
              <a:t/>
            </a:r>
          </a:p>
          <a:p>
            <a:r>
              <a:t>NEXT</a:t>
            </a:r>
          </a:p>
          <a:p>
            <a:r>
              <a:t>The engineering context.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The engineering context</a:t>
            </a:r>
          </a:p>
          <a:p>
            <a:r>
              <a:t/>
            </a:r>
          </a:p>
          <a:p>
            <a:r>
              <a:t>CONNECT</a:t>
            </a:r>
          </a:p>
          <a:p>
            <a:r>
              <a:t>Build on the preceding slide: Recall and a first attempt.</a:t>
            </a:r>
          </a:p>
          <a:p>
            <a:r>
              <a:t/>
            </a:r>
          </a:p>
          <a:p>
            <a:r>
              <a:t>LECTURER CUE</a:t>
            </a:r>
          </a:p>
          <a:p>
            <a:r>
              <a:t>A pump team records temperature to investigate operation. Mining students can relate this to a dewatering pump; petroleum students to a transfer pump. These are teaching examples, not operating limits.</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NEXT</a:t>
            </a:r>
          </a:p>
          <a:p>
            <a:r>
              <a:t>A feature has a meaning.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feature has a meaning</a:t>
            </a:r>
          </a:p>
          <a:p>
            <a:r>
              <a:t/>
            </a:r>
          </a:p>
          <a:p>
            <a:r>
              <a:t>CONNECT</a:t>
            </a:r>
          </a:p>
          <a:p>
            <a:r>
              <a:t>Build on the preceding slide: The engineering context.</a:t>
            </a:r>
          </a:p>
          <a:p>
            <a:r>
              <a:t/>
            </a:r>
          </a:p>
          <a:p>
            <a:r>
              <a:t>EXPLAIN IN ORDINARY WORDS</a:t>
            </a:r>
          </a:p>
          <a:p>
            <a:r>
              <a:t>A feature is an input available when predicting. The target is the answer to learn from. Regression predicts a number; classification predicts a category. Learning patterns does not by itself establish cause.</a:t>
            </a:r>
          </a:p>
          <a:p>
            <a:r>
              <a:t/>
            </a:r>
          </a:p>
          <a:p>
            <a:r>
              <a:t>CHECK AND EXPECTED ANSWER</a:t>
            </a:r>
          </a:p>
          <a:p>
            <a:r>
              <a:t>Predicting concrete strength: regression. Predicting pass/fail: classification. Is a later test result available before that test? No.</a:t>
            </a:r>
          </a:p>
          <a:p>
            <a:r>
              <a:t/>
            </a:r>
          </a:p>
          <a:p>
            <a:r>
              <a:t>IF LEARNERS ARE STUCK</a:t>
            </a:r>
          </a:p>
          <a:p>
            <a:r>
              <a:t>Describe the engineering decision in everyday language, then label one row, an input and its answer. Compare with a rule you could write directly.</a:t>
            </a:r>
          </a:p>
          <a:p>
            <a:r>
              <a:t/>
            </a:r>
          </a:p>
          <a:p>
            <a:r>
              <a:t>NEXT</a:t>
            </a:r>
          </a:p>
          <a:p>
            <a:r>
              <a:t>Words we will use.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Words we will use</a:t>
            </a:r>
          </a:p>
          <a:p>
            <a:r>
              <a:t/>
            </a:r>
          </a:p>
          <a:p>
            <a:r>
              <a:t>CONNECT</a:t>
            </a:r>
          </a:p>
          <a:p>
            <a:r>
              <a:t>Build on the preceding slide: A feature has a meaning.</a:t>
            </a:r>
          </a:p>
          <a:p>
            <a:r>
              <a:t/>
            </a:r>
          </a:p>
          <a:p>
            <a:r>
              <a:t>EXPLAIN IN ORDINARY WORDS</a:t>
            </a:r>
          </a:p>
          <a:p>
            <a:r>
              <a:t>A feature is information supplied to a model. An interaction combines inputs, for example area times thickness gives volume. Ablation compares a model with and without a feature using the same evaluation protocol.</a:t>
            </a:r>
          </a:p>
          <a:p>
            <a:r>
              <a:t/>
            </a:r>
          </a:p>
          <a:p>
            <a:r>
              <a:t>CHECK AND EXPECTED ANSWER</a:t>
            </a:r>
          </a:p>
          <a:p>
            <a:r>
              <a:t>Does a lower validation error prove the feature is physically causal? No. It supports prediction under this comparison, subject to leakage and data limitations.</a:t>
            </a:r>
          </a:p>
          <a:p>
            <a:r>
              <a:t/>
            </a:r>
          </a:p>
          <a:p>
            <a:r>
              <a:t>IF LEARNERS ARE STUCK</a:t>
            </a:r>
          </a:p>
          <a:p>
            <a:r>
              <a:t>State when each input becomes available, write its unit, then compare the same rows and metric.</a:t>
            </a:r>
          </a:p>
          <a:p>
            <a:r>
              <a:t/>
            </a:r>
          </a:p>
          <a:p>
            <a:r>
              <a:t>POINT TO THE DEFINITION</a:t>
            </a:r>
          </a:p>
          <a:p>
            <a:r>
              <a:t>Derived feature: A new input calculated from existing inputs. Its definition and unit must be stated.</a:t>
            </a:r>
          </a:p>
          <a:p>
            <a:r>
              <a:t>Ratio and interaction: A ratio divides quantities; an interaction multiplies them. Both need a domain explanation and a unit check.</a:t>
            </a:r>
          </a:p>
          <a:p>
            <a:r>
              <a:t/>
            </a:r>
          </a:p>
          <a:p>
            <a:r>
              <a:t>NEXT</a:t>
            </a:r>
          </a:p>
          <a:p>
            <a:r>
              <a:t>Read the physical example across programmes.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Read the physical example across programmes</a:t>
            </a:r>
          </a:p>
          <a:p>
            <a:r>
              <a:t/>
            </a:r>
          </a:p>
          <a:p>
            <a:r>
              <a:t>CONNECT</a:t>
            </a:r>
          </a:p>
          <a:p>
            <a:r>
              <a:t>Build on the preceding slide: Words we will use.</a:t>
            </a:r>
          </a:p>
          <a:p>
            <a:r>
              <a:t/>
            </a:r>
          </a:p>
          <a:p>
            <a:r>
              <a:t>EXPLAIN IN ORDINARY WORDS</a:t>
            </a:r>
          </a:p>
          <a:p>
            <a:r>
              <a:t>A feature is an input available when predicting. The target is the answer to learn from. Regression predicts a number; classification predicts a category. Learning patterns does not by itself establish cause.</a:t>
            </a:r>
          </a:p>
          <a:p>
            <a:r>
              <a:t/>
            </a:r>
          </a:p>
          <a:p>
            <a:r>
              <a:t>CHECK AND EXPECTED ANSWER</a:t>
            </a:r>
          </a:p>
          <a:p>
            <a:r>
              <a:t>Predicting concrete strength: regression. Predicting pass/fail: classification. Is a later test result available before that test? No.</a:t>
            </a:r>
          </a:p>
          <a:p>
            <a:r>
              <a:t/>
            </a:r>
          </a:p>
          <a:p>
            <a:r>
              <a:t>IF LEARNERS ARE STUCK</a:t>
            </a:r>
          </a:p>
          <a:p>
            <a:r>
              <a:t>Describe the engineering decision in everyday language, then label one row, an input and its answer. Compare with a rule you could write directly.</a:t>
            </a:r>
          </a:p>
          <a:p>
            <a:r>
              <a:t/>
            </a:r>
          </a:p>
          <a:p>
            <a:r>
              <a:t>NEXT</a:t>
            </a:r>
          </a:p>
          <a:p>
            <a:r>
              <a:t>A physical relationship can form a feature.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physical relationship can form a feature</a:t>
            </a:r>
          </a:p>
          <a:p>
            <a:r>
              <a:t/>
            </a:r>
          </a:p>
          <a:p>
            <a:r>
              <a:t>CONNECT</a:t>
            </a:r>
          </a:p>
          <a:p>
            <a:r>
              <a:t>Build on the preceding slide: Read the physical example across programmes.</a:t>
            </a:r>
          </a:p>
          <a:p>
            <a:r>
              <a:t/>
            </a:r>
          </a:p>
          <a:p>
            <a:r>
              <a:t>LECTURER CUE</a:t>
            </a:r>
          </a:p>
          <a:p>
            <a:r>
              <a:t>Ask students to describe what they see before introducing terminology. Generated conceptual teaching illustration.  Source: figs/experiential/ASSET_SOURCES.md.</a:t>
            </a:r>
          </a:p>
          <a:p>
            <a:r>
              <a:t/>
            </a:r>
          </a:p>
          <a:p>
            <a:r>
              <a:t>EXPLAIN IN ORDINARY WORDS</a:t>
            </a:r>
          </a:p>
          <a:p>
            <a:r>
              <a:t>A feature is an input available when predicting. The target is the answer to learn from. Regression predicts a number; classification predicts a category. Learning patterns does not by itself establish cause.</a:t>
            </a:r>
          </a:p>
          <a:p>
            <a:r>
              <a:t/>
            </a:r>
          </a:p>
          <a:p>
            <a:r>
              <a:t>CHECK AND EXPECTED ANSWER</a:t>
            </a:r>
          </a:p>
          <a:p>
            <a:r>
              <a:t>Predicting concrete strength: regression. Predicting pass/fail: classification. Is a later test result available before that test? No.</a:t>
            </a:r>
          </a:p>
          <a:p>
            <a:r>
              <a:t/>
            </a:r>
          </a:p>
          <a:p>
            <a:r>
              <a:t>IF LEARNERS ARE STUCK</a:t>
            </a:r>
          </a:p>
          <a:p>
            <a:r>
              <a:t>Describe the engineering decision in everyday language, then label one row, an input and its answer. Compare with a rule you could write directly.</a:t>
            </a:r>
          </a:p>
          <a:p>
            <a:r>
              <a:t/>
            </a:r>
          </a:p>
          <a:p>
            <a:r>
              <a:t>NEXT</a:t>
            </a:r>
          </a:p>
          <a:p>
            <a:r>
              <a:t>An interaction uses two known inputs.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An interaction uses two known inputs</a:t>
            </a:r>
          </a:p>
          <a:p>
            <a:r>
              <a:t/>
            </a:r>
          </a:p>
          <a:p>
            <a:r>
              <a:t>CONNECT</a:t>
            </a:r>
          </a:p>
          <a:p>
            <a:r>
              <a:t>Build on the preceding slide: A physical relationship can form a feature.</a:t>
            </a:r>
          </a:p>
          <a:p>
            <a:r>
              <a:t/>
            </a:r>
          </a:p>
          <a:p>
            <a:r>
              <a:t>LECTURER CUE</a:t>
            </a:r>
          </a:p>
          <a:p>
            <a:r>
              <a:t>A derived input must be available when predicting. A useful physical relationship still needs validation.</a:t>
            </a:r>
          </a:p>
          <a:p>
            <a:r>
              <a:t/>
            </a:r>
          </a:p>
          <a:p>
            <a:r>
              <a:t>EXPLAIN IN ORDINARY WORDS</a:t>
            </a:r>
          </a:p>
          <a:p>
            <a:r>
              <a:t>A feature is information supplied to a model. An interaction combines inputs, for example area times thickness gives volume. Ablation compares a model with and without a feature using the same evaluation protocol.</a:t>
            </a:r>
          </a:p>
          <a:p>
            <a:r>
              <a:t/>
            </a:r>
          </a:p>
          <a:p>
            <a:r>
              <a:t>CHECK AND EXPECTED ANSWER</a:t>
            </a:r>
          </a:p>
          <a:p>
            <a:r>
              <a:t>Does a lower validation error prove the feature is physically causal? No. It supports prediction under this comparison, subject to leakage and data limitations.</a:t>
            </a:r>
          </a:p>
          <a:p>
            <a:r>
              <a:t/>
            </a:r>
          </a:p>
          <a:p>
            <a:r>
              <a:t>IF LEARNERS ARE STUCK</a:t>
            </a:r>
          </a:p>
          <a:p>
            <a:r>
              <a:t>State when each input becomes available, write its unit, then compare the same rows and metric.</a:t>
            </a:r>
          </a:p>
          <a:p>
            <a:r>
              <a:t/>
            </a:r>
          </a:p>
          <a:p>
            <a:r>
              <a:t>READ THE VISUAL</a:t>
            </a:r>
          </a:p>
          <a:p>
            <a:r>
              <a:t>Start with the title and labels. Read one row or mark aloud, including its unit. Let a learner read a second one before discussing the pattern. Do not infer a numerical value from an unlabelled drawing.</a:t>
            </a:r>
          </a:p>
          <a:p>
            <a:r>
              <a:t/>
            </a:r>
          </a:p>
          <a:p>
            <a:r>
              <a:t>NEXT</a:t>
            </a:r>
          </a:p>
          <a:p>
            <a:r>
              <a:t>A percentage and its fraction.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percentage and its fraction</a:t>
            </a:r>
          </a:p>
          <a:p>
            <a:r>
              <a:t/>
            </a:r>
          </a:p>
          <a:p>
            <a:r>
              <a:t>CONNECT</a:t>
            </a:r>
          </a:p>
          <a:p>
            <a:r>
              <a:t>Build on the preceding slide: An interaction uses two known inputs.</a:t>
            </a:r>
          </a:p>
          <a:p>
            <a:r>
              <a:t/>
            </a:r>
          </a:p>
          <a:p>
            <a:r>
              <a:t>LECTURER CUE</a:t>
            </a:r>
          </a:p>
          <a:p>
            <a:r>
              <a:t>Begin with a percentage: 40% means 40 / 100 = 0.4. Converting percentage to fraction changes units but adds no new information.</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NEXT</a:t>
            </a:r>
          </a:p>
          <a:p>
            <a:r>
              <a:t>A combined input needs a reason.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combined input needs a reason</a:t>
            </a:r>
          </a:p>
          <a:p>
            <a:r>
              <a:t/>
            </a:r>
          </a:p>
          <a:p>
            <a:r>
              <a:t>CONNECT</a:t>
            </a:r>
          </a:p>
          <a:p>
            <a:r>
              <a:t>Build on the preceding slide: A percentage and its fraction.</a:t>
            </a:r>
          </a:p>
          <a:p>
            <a:r>
              <a:t/>
            </a:r>
          </a:p>
          <a:p>
            <a:r>
              <a:t>LECTURER CUE</a:t>
            </a:r>
          </a:p>
          <a:p>
            <a:r>
              <a:t>An interaction may help a simple model express a relationship, but usefulness is tested rather than assumed. An interaction involving Celsius is an empirical feature, not automatically a physical law.</a:t>
            </a:r>
          </a:p>
          <a:p>
            <a:r>
              <a:t/>
            </a:r>
          </a:p>
          <a:p>
            <a:r>
              <a:t>EXPLAIN IN ORDINARY WORDS</a:t>
            </a:r>
          </a:p>
          <a:p>
            <a:r>
              <a:t>A feature is information supplied to a model. An interaction combines inputs, for example area times thickness gives volume. Ablation compares a model with and without a feature using the same evaluation protocol.</a:t>
            </a:r>
          </a:p>
          <a:p>
            <a:r>
              <a:t/>
            </a:r>
          </a:p>
          <a:p>
            <a:r>
              <a:t>CHECK AND EXPECTED ANSWER</a:t>
            </a:r>
          </a:p>
          <a:p>
            <a:r>
              <a:t>Does a lower validation error prove the feature is physically causal? No. It supports prediction under this comparison, subject to leakage and data limitations.</a:t>
            </a:r>
          </a:p>
          <a:p>
            <a:r>
              <a:t/>
            </a:r>
          </a:p>
          <a:p>
            <a:r>
              <a:t>IF LEARNERS ARE STUCK</a:t>
            </a:r>
          </a:p>
          <a:p>
            <a:r>
              <a:t>State when each input becomes available, write its unit, then compare the same rows and metric.</a:t>
            </a:r>
          </a:p>
          <a:p>
            <a:r>
              <a:t/>
            </a:r>
          </a:p>
          <a:p>
            <a:r>
              <a:t>NEXT</a:t>
            </a:r>
          </a:p>
          <a:p>
            <a:r>
              <a:t>Words we will use.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Words we will use</a:t>
            </a:r>
          </a:p>
          <a:p>
            <a:r>
              <a:t/>
            </a:r>
          </a:p>
          <a:p>
            <a:r>
              <a:t>CONNECT</a:t>
            </a:r>
          </a:p>
          <a:p>
            <a:r>
              <a:t>Build on the preceding slide: A combined input needs a reason.</a:t>
            </a:r>
          </a:p>
          <a:p>
            <a:r>
              <a:t/>
            </a:r>
          </a:p>
          <a:p>
            <a:r>
              <a:t>EXPLAIN IN ORDINARY WORDS</a:t>
            </a:r>
          </a:p>
          <a:p>
            <a:r>
              <a:t>A feature is information supplied to a model. An interaction combines inputs, for example area times thickness gives volume. Ablation compares a model with and without a feature using the same evaluation protocol.</a:t>
            </a:r>
          </a:p>
          <a:p>
            <a:r>
              <a:t/>
            </a:r>
          </a:p>
          <a:p>
            <a:r>
              <a:t>CHECK AND EXPECTED ANSWER</a:t>
            </a:r>
          </a:p>
          <a:p>
            <a:r>
              <a:t>Does a lower validation error prove the feature is physically causal? No. It supports prediction under this comparison, subject to leakage and data limitations.</a:t>
            </a:r>
          </a:p>
          <a:p>
            <a:r>
              <a:t/>
            </a:r>
          </a:p>
          <a:p>
            <a:r>
              <a:t>IF LEARNERS ARE STUCK</a:t>
            </a:r>
          </a:p>
          <a:p>
            <a:r>
              <a:t>State when each input becomes available, write its unit, then compare the same rows and metric.</a:t>
            </a:r>
          </a:p>
          <a:p>
            <a:r>
              <a:t/>
            </a:r>
          </a:p>
          <a:p>
            <a:r>
              <a:t>POINT TO THE DEFINITION</a:t>
            </a:r>
          </a:p>
          <a:p>
            <a:r>
              <a:t>Ablation: Compare a model with and without a feature while keeping the data partitions, model family and metric fixed.</a:t>
            </a:r>
          </a:p>
          <a:p>
            <a:r>
              <a:t>Improvement: For an error metric, baseline error minus new error. A negative result means the added feature worsened validation error in that comparison.</a:t>
            </a:r>
          </a:p>
          <a:p>
            <a:r>
              <a:t/>
            </a:r>
          </a:p>
          <a:p>
            <a:r>
              <a:t>NEXT</a:t>
            </a:r>
          </a:p>
          <a:p>
            <a:r>
              <a:t>One change makes a comparison interpretable.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One change makes a comparison interpretable</a:t>
            </a:r>
          </a:p>
          <a:p>
            <a:r>
              <a:t/>
            </a:r>
          </a:p>
          <a:p>
            <a:r>
              <a:t>CONNECT</a:t>
            </a:r>
          </a:p>
          <a:p>
            <a:r>
              <a:t>Build on the preceding slide: Words we will use.</a:t>
            </a:r>
          </a:p>
          <a:p>
            <a:r>
              <a:t/>
            </a:r>
          </a:p>
          <a:p>
            <a:r>
              <a:t>LECTURER CUE</a:t>
            </a:r>
          </a:p>
          <a:p>
            <a:r>
              <a:t>Read a two-row results table: base MAE 3, extended MAE 2.5 gives improvement 0.5 target units. Ask which other experimental choices must stay fixed.</a:t>
            </a:r>
          </a:p>
          <a:p>
            <a:r>
              <a:t/>
            </a:r>
          </a:p>
          <a:p>
            <a:r>
              <a:t>EXPLAIN IN ORDINARY WORDS</a:t>
            </a:r>
          </a:p>
          <a:p>
            <a:r>
              <a:t>A condition is a True/False question. Python executes the matching indented branch. = assigns; == compares. &gt;= includes the boundary, while &gt; excludes it.</a:t>
            </a:r>
          </a:p>
          <a:p>
            <a:r>
              <a:t/>
            </a:r>
          </a:p>
          <a:p>
            <a:r>
              <a:t>CHECK AND EXPECTED ANSWER</a:t>
            </a:r>
          </a:p>
          <a:p>
            <a:r>
              <a:t>With value 30, is value &gt;= 30 true? Yes. Is value &gt; 30 true? No.</a:t>
            </a:r>
          </a:p>
          <a:p>
            <a:r>
              <a:t/>
            </a:r>
          </a:p>
          <a:p>
            <a:r>
              <a:t>IF LEARNERS ARE STUCK</a:t>
            </a:r>
          </a:p>
          <a:p>
            <a:r>
              <a:t>Try one value below, at and above the boundary before running the code.</a:t>
            </a:r>
          </a:p>
          <a:p>
            <a:r>
              <a:t/>
            </a:r>
          </a:p>
          <a:p>
            <a:r>
              <a:t>NEXT</a:t>
            </a:r>
          </a:p>
          <a:p>
            <a:r>
              <a:t>Worked example.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Worked example</a:t>
            </a:r>
          </a:p>
          <a:p>
            <a:r>
              <a:t/>
            </a:r>
          </a:p>
          <a:p>
            <a:r>
              <a:t>CONNECT</a:t>
            </a:r>
          </a:p>
          <a:p>
            <a:r>
              <a:t>Build on the preceding slide: One change makes a comparison interpretable.</a:t>
            </a:r>
          </a:p>
          <a:p>
            <a:r>
              <a:t/>
            </a:r>
          </a:p>
          <a:p>
            <a:r>
              <a:t>LECTURER CUE</a:t>
            </a:r>
          </a:p>
          <a:p>
            <a:r>
              <a:t>Begin with a percentage: 40% means 40 / 100 = 0.4. Converting percentage to fraction changes units but adds no new information. An interaction may help a simple model express a relationship, but usefulness is tested rather than assumed. An interaction involving Celsius is an empirical feature, not automatically a physical law. Read a two-row results table: base MAE 3, extended MAE 2.5 gives improvement 0.5 target units. Ask which other experimental choices must stay fixed.</a:t>
            </a:r>
          </a:p>
          <a:p>
            <a:r>
              <a:t/>
            </a:r>
          </a:p>
          <a:p>
            <a:r>
              <a:t>Complete practice code:</a:t>
            </a:r>
          </a:p>
          <a:p>
            <a:r>
              <a:t>load_pct = 40</a:t>
            </a:r>
          </a:p>
          <a:p>
            <a:r>
              <a:t>ambient_c = 25</a:t>
            </a:r>
          </a:p>
          <a:p>
            <a:r>
              <a:t>load_fraction = load_pct / 100</a:t>
            </a:r>
          </a:p>
          <a:p>
            <a:r>
              <a:t>interaction = load_pct * ambient_c</a:t>
            </a:r>
          </a:p>
          <a:p>
            <a:r>
              <a:t>print(load_fraction, interaction)</a:t>
            </a:r>
          </a:p>
          <a:p>
            <a:r>
              <a:t>base_mae = 3.0</a:t>
            </a:r>
          </a:p>
          <a:p>
            <a:r>
              <a:t>extended_mae = 2.5</a:t>
            </a:r>
          </a:p>
          <a:p>
            <a:r>
              <a:t>print(base_mae - extended_mae)</a:t>
            </a:r>
          </a:p>
          <a:p>
            <a:r>
              <a:t/>
            </a:r>
          </a:p>
          <a:p>
            <a:r>
              <a:t>EXPLAIN IN ORDINARY WORDS</a:t>
            </a:r>
          </a:p>
          <a:p>
            <a:r>
              <a:t>An error compares prediction with measured truth. Absolute error ignores direction. MAE averages absolute errors; RMSE squares, averages, then takes a square root. Both use the target unit.</a:t>
            </a:r>
          </a:p>
          <a:p>
            <a:r>
              <a:t/>
            </a:r>
          </a:p>
          <a:p>
            <a:r>
              <a:t>CHECK AND EXPECTED ANSWER</a:t>
            </a:r>
          </a:p>
          <a:p>
            <a:r>
              <a:t>Actual [4,8], predicted [5,6]: prediction-minus-actual errors [1,-2], MAE=1.5, RMSE=sqrt(2.5), about 1.58.</a:t>
            </a:r>
          </a:p>
          <a:p>
            <a:r>
              <a:t/>
            </a:r>
          </a:p>
          <a:p>
            <a:r>
              <a:t>IF LEARNERS ARE STUCK</a:t>
            </a:r>
          </a:p>
          <a:p>
            <a:r>
              <a:t>Calculate one pair by hand first. For signed percentage error follow the precise sign convention in the issued task.</a:t>
            </a:r>
          </a:p>
          <a:p>
            <a:r>
              <a:t/>
            </a:r>
          </a:p>
          <a:p>
            <a:r>
              <a:t>WALK THROUGH THIS CODE</a:t>
            </a:r>
          </a:p>
          <a:p>
            <a:r>
              <a:t>print displays a value below the cell.</a:t>
            </a:r>
          </a:p>
          <a:p>
            <a:r>
              <a:t>= assigns the value on the right to the name on the left.</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Expected output.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Expected output</a:t>
            </a:r>
          </a:p>
          <a:p>
            <a:r>
              <a:t/>
            </a:r>
          </a:p>
          <a:p>
            <a:r>
              <a:t>CONNECT</a:t>
            </a:r>
          </a:p>
          <a:p>
            <a:r>
              <a:t>Build on the preceding slide: Worked example.</a:t>
            </a:r>
          </a:p>
          <a:p>
            <a:r>
              <a:t/>
            </a:r>
          </a:p>
          <a:p>
            <a:r>
              <a:t>LECTURER CUE</a:t>
            </a:r>
          </a:p>
          <a:p>
            <a:r>
              <a:t>Compare the actual output character by character with this practice result. If it differs, read the first error and check the input, units, names and execution order. Do not copy this practice output into a graded answer.</a:t>
            </a:r>
          </a:p>
          <a:p>
            <a:r>
              <a:t/>
            </a:r>
          </a:p>
          <a:p>
            <a:r>
              <a:t>NEXT</a:t>
            </a:r>
          </a:p>
          <a:p>
            <a:r>
              <a:t>Read the two-model experiment.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Read the two-model experiment</a:t>
            </a:r>
          </a:p>
          <a:p>
            <a:r>
              <a:t/>
            </a:r>
          </a:p>
          <a:p>
            <a:r>
              <a:t>CONNECT</a:t>
            </a:r>
          </a:p>
          <a:p>
            <a:r>
              <a:t>Build on the preceding slide: Expected output.</a:t>
            </a:r>
          </a:p>
          <a:p>
            <a:r>
              <a:t/>
            </a:r>
          </a:p>
          <a:p>
            <a:r>
              <a:t>EXPLAIN IN ORDINARY WORDS</a:t>
            </a:r>
          </a:p>
          <a:p>
            <a:r>
              <a:t>A feature is information supplied to a model. An interaction combines inputs, for example area times thickness gives volume. Ablation compares a model with and without a feature using the same evaluation protocol.</a:t>
            </a:r>
          </a:p>
          <a:p>
            <a:r>
              <a:t/>
            </a:r>
          </a:p>
          <a:p>
            <a:r>
              <a:t>CHECK AND EXPECTED ANSWER</a:t>
            </a:r>
          </a:p>
          <a:p>
            <a:r>
              <a:t>Does a lower validation error prove the feature is physically causal? No. It supports prediction under this comparison, subject to leakage and data limitations.</a:t>
            </a:r>
          </a:p>
          <a:p>
            <a:r>
              <a:t/>
            </a:r>
          </a:p>
          <a:p>
            <a:r>
              <a:t>IF LEARNERS ARE STUCK</a:t>
            </a:r>
          </a:p>
          <a:p>
            <a:r>
              <a:t>State when each input becomes available, write its unit, then compare the same rows and metric.</a:t>
            </a:r>
          </a:p>
          <a:p>
            <a:r>
              <a:t/>
            </a:r>
          </a:p>
          <a:p>
            <a:r>
              <a:t>NEXT</a:t>
            </a:r>
          </a:p>
          <a:p>
            <a:r>
              <a:t>Two models under one protocol.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Two models under one protocol</a:t>
            </a:r>
          </a:p>
          <a:p>
            <a:r>
              <a:t/>
            </a:r>
          </a:p>
          <a:p>
            <a:r>
              <a:t>CONNECT</a:t>
            </a:r>
          </a:p>
          <a:p>
            <a:r>
              <a:t>Build on the preceding slide: Read the two-model experiment.</a:t>
            </a:r>
          </a:p>
          <a:p>
            <a:r>
              <a:t/>
            </a:r>
          </a:p>
          <a:p>
            <a:r>
              <a:t>LECTURER CUE</a:t>
            </a:r>
          </a:p>
          <a:p>
            <a:r>
              <a:t>Run this complete practice experiment in a fresh session. Both models use the same rows and targets; the second receives one additional input. Read every column before fitting. This invented experiment illustrates procedure, not a measured engineering benefit.</a:t>
            </a:r>
          </a:p>
          <a:p>
            <a:r>
              <a:t/>
            </a:r>
          </a:p>
          <a:p>
            <a:r>
              <a:t>EXPLAIN IN ORDINARY WORDS</a:t>
            </a:r>
          </a:p>
          <a:p>
            <a:r>
              <a:t>A calculated column stores a result for each row at refresh. A measure is evaluated under the filters of the current visual. SUMX evaluates an expression for each row before adding it.</a:t>
            </a:r>
          </a:p>
          <a:p>
            <a:r>
              <a:t/>
            </a:r>
          </a:p>
          <a:p>
            <a:r>
              <a:t>CHECK AND EXPECTED ANSWER</a:t>
            </a:r>
          </a:p>
          <a:p>
            <a:r>
              <a:t>Should revenue respond to a selected region? Yes; test the measure with that filter and reconcile it to known data.</a:t>
            </a:r>
          </a:p>
          <a:p>
            <a:r>
              <a:t/>
            </a:r>
          </a:p>
          <a:p>
            <a:r>
              <a:t>IF LEARNERS ARE STUCK</a:t>
            </a:r>
          </a:p>
          <a:p>
            <a:r>
              <a:t>Work one order line by hand, then two lines. Name the numerator and denominator populations before an average-order-value measure.</a:t>
            </a:r>
          </a:p>
          <a:p>
            <a:r>
              <a:t/>
            </a:r>
          </a:p>
          <a:p>
            <a:r>
              <a:t>NEXT</a:t>
            </a:r>
          </a:p>
          <a:p>
            <a:r>
              <a:t>Two models under one protocol in Python (1/3).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Two models under one protocol in Python (1/3)</a:t>
            </a:r>
          </a:p>
          <a:p>
            <a:r>
              <a:t/>
            </a:r>
          </a:p>
          <a:p>
            <a:r>
              <a:t>CONNECT</a:t>
            </a:r>
          </a:p>
          <a:p>
            <a:r>
              <a:t>Build on the preceding slide: Two models under one protocol.</a:t>
            </a:r>
          </a:p>
          <a:p>
            <a:r>
              <a:t/>
            </a:r>
          </a:p>
          <a:p>
            <a:r>
              <a:t>LECTURER CUE</a:t>
            </a:r>
          </a:p>
          <a:p>
            <a:r>
              <a:t>Run this complete practice experiment in a fresh session. Both models use the same rows and targets; the second receives one additional input. Read every column before fitting. This invented experiment illustrates procedure, not a measured engineering benefit.</a:t>
            </a:r>
          </a:p>
          <a:p>
            <a:r>
              <a:t/>
            </a:r>
          </a:p>
          <a:p>
            <a:r>
              <a:t>Complete practice code:</a:t>
            </a:r>
          </a:p>
          <a:p>
            <a:r>
              <a:t>from sklearn.linear_model import LinearRegression</a:t>
            </a:r>
          </a:p>
          <a:p>
            <a:r>
              <a:t>from sklearn.metrics import mean_absolute_error</a:t>
            </a:r>
          </a:p>
          <a:p>
            <a:r>
              <a:t>train = [[1, 2], [2, 3], [3, 2], [4, 4], [5, 3]]</a:t>
            </a:r>
          </a:p>
          <a:p>
            <a:r>
              <a:t>y = [3, 5, 5, 8, 8]</a:t>
            </a:r>
          </a:p>
          <a:p>
            <a:r>
              <a:t>validation = [[2, 2], [3, 3]]</a:t>
            </a:r>
          </a:p>
          <a:p>
            <a:r>
              <a:t>truth = [4, 6]</a:t>
            </a:r>
          </a:p>
          <a:p>
            <a:r>
              <a:t>def with_interaction(rows):</a:t>
            </a:r>
          </a:p>
          <a:p>
            <a:r>
              <a:t>    result = []</a:t>
            </a:r>
          </a:p>
          <a:p>
            <a:r>
              <a:t>    for a, b in rows:</a:t>
            </a:r>
          </a:p>
          <a:p>
            <a:r>
              <a:t>        result.append([a, b, a * b])</a:t>
            </a:r>
          </a:p>
          <a:p>
            <a:r>
              <a:t>    return result</a:t>
            </a:r>
          </a:p>
          <a:p>
            <a:r>
              <a:t>base = LinearRegression().fit(train, y)</a:t>
            </a:r>
          </a:p>
          <a:p>
            <a:r>
              <a:t>extended = LinearRegression().fit(with_interaction(train), y)</a:t>
            </a:r>
          </a:p>
          <a:p>
            <a:r>
              <a:t>base_predictions = base.predict(validation)</a:t>
            </a:r>
          </a:p>
          <a:p>
            <a:r>
              <a:t>base_error = mean_absolute_error(truth, base_predictions)</a:t>
            </a:r>
          </a:p>
          <a:p>
            <a:r>
              <a:t>print(round(base_error, 6))</a:t>
            </a:r>
          </a:p>
          <a:p>
            <a:r>
              <a:t>validation_features = with_interaction(validation)</a:t>
            </a:r>
          </a:p>
          <a:p>
            <a:r>
              <a:t>extended_predictions = extended.predict(validation_features)</a:t>
            </a:r>
          </a:p>
          <a:p>
            <a:r>
              <a:t>error = mean_absolute_error(truth, extended_predictions)</a:t>
            </a:r>
          </a:p>
          <a:p>
            <a:r>
              <a:t>print(round(error, 6))</a:t>
            </a:r>
          </a:p>
          <a:p>
            <a:r>
              <a:t/>
            </a:r>
          </a:p>
          <a:p>
            <a:r>
              <a:t>EXPLAIN IN ORDINARY WORDS</a:t>
            </a:r>
          </a:p>
          <a:p>
            <a:r>
              <a:t>A feature is an input available when predicting. The target is the answer to learn from. Regression predicts a number; classification predicts a category. Learning patterns does not by itself establish cause.</a:t>
            </a:r>
          </a:p>
          <a:p>
            <a:r>
              <a:t/>
            </a:r>
          </a:p>
          <a:p>
            <a:r>
              <a:t>CHECK AND EXPECTED ANSWER</a:t>
            </a:r>
          </a:p>
          <a:p>
            <a:r>
              <a:t>Predicting concrete strength: regression. Predicting pass/fail: classification. Is a later test result available before that test? No.</a:t>
            </a:r>
          </a:p>
          <a:p>
            <a:r>
              <a:t/>
            </a:r>
          </a:p>
          <a:p>
            <a:r>
              <a:t>IF LEARNERS ARE STUCK</a:t>
            </a:r>
          </a:p>
          <a:p>
            <a:r>
              <a:t>Describe the engineering decision in everyday language, then label one row, an input and its answer. Compare with a rule you could write directly.</a:t>
            </a:r>
          </a:p>
          <a:p>
            <a:r>
              <a:t/>
            </a:r>
          </a:p>
          <a:p>
            <a:r>
              <a:t>WALK THROUGH THIS CODE</a:t>
            </a:r>
          </a:p>
          <a:p>
            <a:r>
              <a:t>import loads a library. from selects a tool from it.</a:t>
            </a:r>
          </a:p>
          <a:p>
            <a:r>
              <a:t>Square brackets create a list or select an item.</a:t>
            </a:r>
          </a:p>
          <a:p>
            <a:r>
              <a:t>= assigns the value on the right to the name on the left.</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Two models under one protocol in Python (2/3).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Two models under one protocol in Python (2/3)</a:t>
            </a:r>
          </a:p>
          <a:p>
            <a:r>
              <a:t/>
            </a:r>
          </a:p>
          <a:p>
            <a:r>
              <a:t>CONNECT</a:t>
            </a:r>
          </a:p>
          <a:p>
            <a:r>
              <a:t>Build on the preceding slide: Two models under one protocol in Python (1/3).</a:t>
            </a:r>
          </a:p>
          <a:p>
            <a:r>
              <a:t/>
            </a:r>
          </a:p>
          <a:p>
            <a:r>
              <a:t>LECTURER CUE</a:t>
            </a:r>
          </a:p>
          <a:p>
            <a:r>
              <a:t>Run this complete practice experiment in a fresh session. Both models use the same rows and targets; the second receives one additional input. Read every column before fitting. This invented experiment illustrates procedure, not a measured engineering benefit.</a:t>
            </a:r>
          </a:p>
          <a:p>
            <a:r>
              <a:t/>
            </a:r>
          </a:p>
          <a:p>
            <a:r>
              <a:t>Complete practice code:</a:t>
            </a:r>
          </a:p>
          <a:p>
            <a:r>
              <a:t>from sklearn.linear_model import LinearRegression</a:t>
            </a:r>
          </a:p>
          <a:p>
            <a:r>
              <a:t>from sklearn.metrics import mean_absolute_error</a:t>
            </a:r>
          </a:p>
          <a:p>
            <a:r>
              <a:t>train = [[1, 2], [2, 3], [3, 2], [4, 4], [5, 3]]</a:t>
            </a:r>
          </a:p>
          <a:p>
            <a:r>
              <a:t>y = [3, 5, 5, 8, 8]</a:t>
            </a:r>
          </a:p>
          <a:p>
            <a:r>
              <a:t>validation = [[2, 2], [3, 3]]</a:t>
            </a:r>
          </a:p>
          <a:p>
            <a:r>
              <a:t>truth = [4, 6]</a:t>
            </a:r>
          </a:p>
          <a:p>
            <a:r>
              <a:t>def with_interaction(rows):</a:t>
            </a:r>
          </a:p>
          <a:p>
            <a:r>
              <a:t>    result = []</a:t>
            </a:r>
          </a:p>
          <a:p>
            <a:r>
              <a:t>    for a, b in rows:</a:t>
            </a:r>
          </a:p>
          <a:p>
            <a:r>
              <a:t>        result.append([a, b, a * b])</a:t>
            </a:r>
          </a:p>
          <a:p>
            <a:r>
              <a:t>    return result</a:t>
            </a:r>
          </a:p>
          <a:p>
            <a:r>
              <a:t>base = LinearRegression().fit(train, y)</a:t>
            </a:r>
          </a:p>
          <a:p>
            <a:r>
              <a:t>extended = LinearRegression().fit(with_interaction(train), y)</a:t>
            </a:r>
          </a:p>
          <a:p>
            <a:r>
              <a:t>base_predictions = base.predict(validation)</a:t>
            </a:r>
          </a:p>
          <a:p>
            <a:r>
              <a:t>base_error = mean_absolute_error(truth, base_predictions)</a:t>
            </a:r>
          </a:p>
          <a:p>
            <a:r>
              <a:t>print(round(base_error, 6))</a:t>
            </a:r>
          </a:p>
          <a:p>
            <a:r>
              <a:t>validation_features = with_interaction(validation)</a:t>
            </a:r>
          </a:p>
          <a:p>
            <a:r>
              <a:t>extended_predictions = extended.predict(validation_features)</a:t>
            </a:r>
          </a:p>
          <a:p>
            <a:r>
              <a:t>error = mean_absolute_error(truth, extended_predictions)</a:t>
            </a:r>
          </a:p>
          <a:p>
            <a:r>
              <a:t>print(round(error, 6))</a:t>
            </a:r>
          </a:p>
          <a:p>
            <a:r>
              <a:t/>
            </a:r>
          </a:p>
          <a:p>
            <a:r>
              <a:t>EXPLAIN IN ORDINARY WORDS</a:t>
            </a:r>
          </a:p>
          <a:p>
            <a:r>
              <a:t>A feature is information supplied to a model. An interaction combines inputs, for example area times thickness gives volume. Ablation compares a model with and without a feature using the same evaluation protocol.</a:t>
            </a:r>
          </a:p>
          <a:p>
            <a:r>
              <a:t/>
            </a:r>
          </a:p>
          <a:p>
            <a:r>
              <a:t>CHECK AND EXPECTED ANSWER</a:t>
            </a:r>
          </a:p>
          <a:p>
            <a:r>
              <a:t>Does a lower validation error prove the feature is physically causal? No. It supports prediction under this comparison, subject to leakage and data limitations.</a:t>
            </a:r>
          </a:p>
          <a:p>
            <a:r>
              <a:t/>
            </a:r>
          </a:p>
          <a:p>
            <a:r>
              <a:t>IF LEARNERS ARE STUCK</a:t>
            </a:r>
          </a:p>
          <a:p>
            <a:r>
              <a:t>State when each input becomes available, write its unit, then compare the same rows and metric.</a:t>
            </a:r>
          </a:p>
          <a:p>
            <a:r>
              <a:t/>
            </a:r>
          </a:p>
          <a:p>
            <a:r>
              <a:t>WALK THROUGH THIS CODE</a:t>
            </a:r>
          </a:p>
          <a:p>
            <a:r>
              <a:t>def names the function. Inputs go inside parentheses.</a:t>
            </a:r>
          </a:p>
          <a:p>
            <a:r>
              <a:t>for takes the next item. The indented block repeats.</a:t>
            </a:r>
          </a:p>
          <a:p>
            <a:r>
              <a:t>return sends the result back to the caller.</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Two models under one protocol in Python (3/3).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Two models under one protocol in Python (3/3)</a:t>
            </a:r>
          </a:p>
          <a:p>
            <a:r>
              <a:t/>
            </a:r>
          </a:p>
          <a:p>
            <a:r>
              <a:t>CONNECT</a:t>
            </a:r>
          </a:p>
          <a:p>
            <a:r>
              <a:t>Build on the preceding slide: Two models under one protocol in Python (2/3).</a:t>
            </a:r>
          </a:p>
          <a:p>
            <a:r>
              <a:t/>
            </a:r>
          </a:p>
          <a:p>
            <a:r>
              <a:t>LECTURER CUE</a:t>
            </a:r>
          </a:p>
          <a:p>
            <a:r>
              <a:t>Run this complete practice experiment in a fresh session. Both models use the same rows and targets; the second receives one additional input. Read every column before fitting. This invented experiment illustrates procedure, not a measured engineering benefit.</a:t>
            </a:r>
          </a:p>
          <a:p>
            <a:r>
              <a:t/>
            </a:r>
          </a:p>
          <a:p>
            <a:r>
              <a:t>Complete practice code:</a:t>
            </a:r>
          </a:p>
          <a:p>
            <a:r>
              <a:t>from sklearn.linear_model import LinearRegression</a:t>
            </a:r>
          </a:p>
          <a:p>
            <a:r>
              <a:t>from sklearn.metrics import mean_absolute_error</a:t>
            </a:r>
          </a:p>
          <a:p>
            <a:r>
              <a:t>train = [[1, 2], [2, 3], [3, 2], [4, 4], [5, 3]]</a:t>
            </a:r>
          </a:p>
          <a:p>
            <a:r>
              <a:t>y = [3, 5, 5, 8, 8]</a:t>
            </a:r>
          </a:p>
          <a:p>
            <a:r>
              <a:t>validation = [[2, 2], [3, 3]]</a:t>
            </a:r>
          </a:p>
          <a:p>
            <a:r>
              <a:t>truth = [4, 6]</a:t>
            </a:r>
          </a:p>
          <a:p>
            <a:r>
              <a:t>def with_interaction(rows):</a:t>
            </a:r>
          </a:p>
          <a:p>
            <a:r>
              <a:t>    result = []</a:t>
            </a:r>
          </a:p>
          <a:p>
            <a:r>
              <a:t>    for a, b in rows:</a:t>
            </a:r>
          </a:p>
          <a:p>
            <a:r>
              <a:t>        result.append([a, b, a * b])</a:t>
            </a:r>
          </a:p>
          <a:p>
            <a:r>
              <a:t>    return result</a:t>
            </a:r>
          </a:p>
          <a:p>
            <a:r>
              <a:t>base = LinearRegression().fit(train, y)</a:t>
            </a:r>
          </a:p>
          <a:p>
            <a:r>
              <a:t>extended = LinearRegression().fit(with_interaction(train), y)</a:t>
            </a:r>
          </a:p>
          <a:p>
            <a:r>
              <a:t>base_predictions = base.predict(validation)</a:t>
            </a:r>
          </a:p>
          <a:p>
            <a:r>
              <a:t>base_error = mean_absolute_error(truth, base_predictions)</a:t>
            </a:r>
          </a:p>
          <a:p>
            <a:r>
              <a:t>print(round(base_error, 6))</a:t>
            </a:r>
          </a:p>
          <a:p>
            <a:r>
              <a:t>validation_features = with_interaction(validation)</a:t>
            </a:r>
          </a:p>
          <a:p>
            <a:r>
              <a:t>extended_predictions = extended.predict(validation_features)</a:t>
            </a:r>
          </a:p>
          <a:p>
            <a:r>
              <a:t>error = mean_absolute_error(truth, extended_predictions)</a:t>
            </a:r>
          </a:p>
          <a:p>
            <a:r>
              <a:t>print(round(error, 6))</a:t>
            </a:r>
          </a:p>
          <a:p>
            <a:r>
              <a:t/>
            </a:r>
          </a:p>
          <a:p>
            <a:r>
              <a:t>EXPLAIN IN ORDINARY WORDS</a:t>
            </a:r>
          </a:p>
          <a:p>
            <a:r>
              <a:t>A feature is information supplied to a model. An interaction combines inputs, for example area times thickness gives volume. Ablation compares a model with and without a feature using the same evaluation protocol.</a:t>
            </a:r>
          </a:p>
          <a:p>
            <a:r>
              <a:t/>
            </a:r>
          </a:p>
          <a:p>
            <a:r>
              <a:t>CHECK AND EXPECTED ANSWER</a:t>
            </a:r>
          </a:p>
          <a:p>
            <a:r>
              <a:t>Does a lower validation error prove the feature is physically causal? No. It supports prediction under this comparison, subject to leakage and data limitations.</a:t>
            </a:r>
          </a:p>
          <a:p>
            <a:r>
              <a:t/>
            </a:r>
          </a:p>
          <a:p>
            <a:r>
              <a:t>IF LEARNERS ARE STUCK</a:t>
            </a:r>
          </a:p>
          <a:p>
            <a:r>
              <a:t>State when each input becomes available, write its unit, then compare the same rows and metric.</a:t>
            </a:r>
          </a:p>
          <a:p>
            <a:r>
              <a:t/>
            </a:r>
          </a:p>
          <a:p>
            <a:r>
              <a:t>WALK THROUGH THIS CODE</a:t>
            </a:r>
          </a:p>
          <a:p>
            <a:r>
              <a:t>predict applies the fitted model to new inputs.</a:t>
            </a:r>
          </a:p>
          <a:p>
            <a:r>
              <a:t>print displays a value below the cell.</a:t>
            </a:r>
          </a:p>
          <a:p>
            <a:r>
              <a:t>= assigns the value on the right to the name on the left.</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Words we will use.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Words we will use</a:t>
            </a:r>
          </a:p>
          <a:p>
            <a:r>
              <a:t/>
            </a:r>
          </a:p>
          <a:p>
            <a:r>
              <a:t>CONNECT</a:t>
            </a:r>
          </a:p>
          <a:p>
            <a:r>
              <a:t>Build on the preceding slide: Two models under one protocol in Python (3/3).</a:t>
            </a:r>
          </a:p>
          <a:p>
            <a:r>
              <a:t/>
            </a:r>
          </a:p>
          <a:p>
            <a:r>
              <a:t>EXPLAIN IN ORDINARY WORDS</a:t>
            </a:r>
          </a:p>
          <a:p>
            <a:r>
              <a:t>A category is a label, not an amount. Indicator columns record whether a row belongs to each category, usually with 0 or 1. Fit the encoding on training data and reuse it.</a:t>
            </a:r>
          </a:p>
          <a:p>
            <a:r>
              <a:t/>
            </a:r>
          </a:p>
          <a:p>
            <a:r>
              <a:t>CHECK AND EXPECTED ANSWER</a:t>
            </a:r>
          </a:p>
          <a:p>
            <a:r>
              <a:t>Does assigning red=1 and blue=2 mean blue is twice red? No, those are labels.</a:t>
            </a:r>
          </a:p>
          <a:p>
            <a:r>
              <a:t/>
            </a:r>
          </a:p>
          <a:p>
            <a:r>
              <a:t>IF LEARNERS ARE STUCK</a:t>
            </a:r>
          </a:p>
          <a:p>
            <a:r>
              <a:t>Make two rows and two category columns by hand before showing the encoder.</a:t>
            </a:r>
          </a:p>
          <a:p>
            <a:r>
              <a:t/>
            </a:r>
          </a:p>
          <a:p>
            <a:r>
              <a:t>POINT TO THE DEFINITION</a:t>
            </a:r>
          </a:p>
          <a:p>
            <a:r>
              <a:t>Encoding: Representing a category numerically. One-hot uses separate indicator columns. Arbitrary integer labels can falsely suggest an order.</a:t>
            </a:r>
          </a:p>
          <a:p>
            <a:r>
              <a:t>Scaling: Changing the numerical scale of features. Fit learned scaling on training data only. It matters for distance-based models but is not required by ordinary decision trees.</a:t>
            </a:r>
          </a:p>
          <a:p>
            <a:r>
              <a:t/>
            </a:r>
          </a:p>
          <a:p>
            <a:r>
              <a:t>NEXT</a:t>
            </a:r>
          </a:p>
          <a:p>
            <a:r>
              <a:t>You are the feature reviewer.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You are the feature reviewer</a:t>
            </a:r>
          </a:p>
          <a:p>
            <a:r>
              <a:t/>
            </a:r>
          </a:p>
          <a:p>
            <a:r>
              <a:t>CONNECT</a:t>
            </a:r>
          </a:p>
          <a:p>
            <a:r>
              <a:t>Build on the preceding slide: Words we will use.</a:t>
            </a:r>
          </a:p>
          <a:p>
            <a:r>
              <a:t/>
            </a:r>
          </a:p>
          <a:p>
            <a:r>
              <a:t>LECTURER CUE</a:t>
            </a:r>
          </a:p>
          <a:p>
            <a:r>
              <a:t>Do this before revealing the discussion slide. One learner moves or writes the items, the other checks. Swap roles. Every student explains one step. Expected: Improvement changes from +0.5 to -0.4. The second comparison does not support retaining the feature.</a:t>
            </a:r>
          </a:p>
          <a:p>
            <a:r>
              <a:t>Wait for an individual prediction before inviting pair discussion. Give a first-step hint if needed.</a:t>
            </a:r>
          </a:p>
          <a:p>
            <a:r>
              <a:t/>
            </a:r>
          </a:p>
          <a:p>
            <a:r>
              <a:t>EXPLAIN IN ORDINARY WORDS</a:t>
            </a:r>
          </a:p>
          <a:p>
            <a:r>
              <a:t>A feature is information supplied to a model. An interaction combines inputs, for example area times thickness gives volume. Ablation compares a model with and without a feature using the same evaluation protocol.</a:t>
            </a:r>
          </a:p>
          <a:p>
            <a:r>
              <a:t/>
            </a:r>
          </a:p>
          <a:p>
            <a:r>
              <a:t>CHECK AND EXPECTED ANSWER</a:t>
            </a:r>
          </a:p>
          <a:p>
            <a:r>
              <a:t>Does a lower validation error prove the feature is physically causal? No. It supports prediction under this comparison, subject to leakage and data limitations.</a:t>
            </a:r>
          </a:p>
          <a:p>
            <a:r>
              <a:t/>
            </a:r>
          </a:p>
          <a:p>
            <a:r>
              <a:t>IF LEARNERS ARE STUCK</a:t>
            </a:r>
          </a:p>
          <a:p>
            <a:r>
              <a:t>State when each input becomes available, write its unit, then compare the same rows and metric.</a:t>
            </a:r>
          </a:p>
          <a:p>
            <a:r>
              <a:t/>
            </a:r>
          </a:p>
          <a:p>
            <a:r>
              <a:t>NEXT</a:t>
            </a:r>
          </a:p>
          <a:p>
            <a:r>
              <a:t>What the activity shows.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What the activity shows</a:t>
            </a:r>
          </a:p>
          <a:p>
            <a:r>
              <a:t/>
            </a:r>
          </a:p>
          <a:p>
            <a:r>
              <a:t>CONNECT</a:t>
            </a:r>
          </a:p>
          <a:p>
            <a:r>
              <a:t>Build on the preceding slide: You are the feature reviewer.</a:t>
            </a:r>
          </a:p>
          <a:p>
            <a:r>
              <a:t/>
            </a:r>
          </a:p>
          <a:p>
            <a:r>
              <a:t>LECTURER CUE</a:t>
            </a:r>
          </a:p>
          <a:p>
            <a:r>
              <a:t>Ask which step produced this answer. Return to the concrete action if a learner cannot explain it. This is practice feedback, never a quiz key.</a:t>
            </a:r>
          </a:p>
          <a:p>
            <a:r>
              <a:t/>
            </a:r>
          </a:p>
          <a:p>
            <a:r>
              <a:t>EXPLAIN IN ORDINARY WORDS</a:t>
            </a:r>
          </a:p>
          <a:p>
            <a:r>
              <a:t>A condition is a True/False question. Python executes the matching indented branch. = assigns; == compares. &gt;= includes the boundary, while &gt; excludes it.</a:t>
            </a:r>
          </a:p>
          <a:p>
            <a:r>
              <a:t/>
            </a:r>
          </a:p>
          <a:p>
            <a:r>
              <a:t>CHECK AND EXPECTED ANSWER</a:t>
            </a:r>
          </a:p>
          <a:p>
            <a:r>
              <a:t>With value 30, is value &gt;= 30 true? Yes. Is value &gt; 30 true? No.</a:t>
            </a:r>
          </a:p>
          <a:p>
            <a:r>
              <a:t/>
            </a:r>
          </a:p>
          <a:p>
            <a:r>
              <a:t>IF LEARNERS ARE STUCK</a:t>
            </a:r>
          </a:p>
          <a:p>
            <a:r>
              <a:t>Try one value below, at and above the boundary before running the code.</a:t>
            </a:r>
          </a:p>
          <a:p>
            <a:r>
              <a:t/>
            </a:r>
          </a:p>
          <a:p>
            <a:r>
              <a:t>NEXT</a:t>
            </a:r>
          </a:p>
          <a:p>
            <a:r>
              <a:t>Your turn.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Your turn</a:t>
            </a:r>
          </a:p>
          <a:p>
            <a:r>
              <a:t/>
            </a:r>
          </a:p>
          <a:p>
            <a:r>
              <a:t>CONNECT</a:t>
            </a:r>
          </a:p>
          <a:p>
            <a:r>
              <a:t>Build on the preceding slide: What the activity shows.</a:t>
            </a:r>
          </a:p>
          <a:p>
            <a:r>
              <a:t/>
            </a:r>
          </a:p>
          <a:p>
            <a:r>
              <a:t>LECTURER CUE</a:t>
            </a:r>
          </a:p>
          <a:p>
            <a:r>
              <a:t>Give silent thinking time, then let pairs discuss. Rotate who types. This is practice, not a graded quiz. Expected response: Improvement is -0.4. This validation comparison does not support retaining it. One split is limited evidence; the final test remains untouched.</a:t>
            </a:r>
          </a:p>
          <a:p>
            <a:r>
              <a:t/>
            </a:r>
          </a:p>
          <a:p>
            <a:r>
              <a:t>EXPLAIN IN ORDINARY WORDS</a:t>
            </a:r>
          </a:p>
          <a:p>
            <a:r>
              <a:t>A feature is an input available when predicting. The target is the answer to learn from. Regression predicts a number; classification predicts a category. Learning patterns does not by itself establish cause.</a:t>
            </a:r>
          </a:p>
          <a:p>
            <a:r>
              <a:t/>
            </a:r>
          </a:p>
          <a:p>
            <a:r>
              <a:t>CHECK AND EXPECTED ANSWER</a:t>
            </a:r>
          </a:p>
          <a:p>
            <a:r>
              <a:t>Predicting concrete strength: regression. Predicting pass/fail: classification. Is a later test result available before that test? No.</a:t>
            </a:r>
          </a:p>
          <a:p>
            <a:r>
              <a:t/>
            </a:r>
          </a:p>
          <a:p>
            <a:r>
              <a:t>IF LEARNERS ARE STUCK</a:t>
            </a:r>
          </a:p>
          <a:p>
            <a:r>
              <a:t>Describe the engineering decision in everyday language, then label one row, an input and its answer. Compare with a rule you could write directly.</a:t>
            </a:r>
          </a:p>
          <a:p>
            <a:r>
              <a:t/>
            </a:r>
          </a:p>
          <a:p>
            <a:r>
              <a:t>DISCUSSION KEY FOR THIS SLIDE</a:t>
            </a:r>
          </a:p>
          <a:p>
            <a:r>
              <a:t>DISCUSS THE REASONING</a:t>
            </a:r>
          </a:p>
          <a:p>
            <a:r>
              <a:t>Practice discussion</a:t>
            </a:r>
          </a:p>
          <a:p>
            <a:r>
              <a:t>Improvement is -0.4. This validation comparison does not support retaining it. One split is limited evidence; the final test remains untouched.</a:t>
            </a:r>
          </a:p>
          <a:p>
            <a:r>
              <a:t>Which step produced this result? What changes if one input changes?</a:t>
            </a:r>
          </a:p>
          <a:p>
            <a:r>
              <a:t>CML3113   Week 11   25</a:t>
            </a:r>
          </a:p>
          <a:p>
            <a:r>
              <a:t>Let learners attempt first; use this to explain the reasoning, not just reveal the answer.</a:t>
            </a:r>
          </a:p>
          <a:p>
            <a:r>
              <a:t/>
            </a:r>
          </a:p>
          <a:p>
            <a:r>
              <a:t>NEXT</a:t>
            </a:r>
          </a:p>
          <a:p>
            <a:r>
              <a:t>Practice discussion.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Practice discussion</a:t>
            </a:r>
          </a:p>
          <a:p>
            <a:r>
              <a:t/>
            </a:r>
          </a:p>
          <a:p>
            <a:r>
              <a:t>CONNECT</a:t>
            </a:r>
          </a:p>
          <a:p>
            <a:r>
              <a:t>Build on the preceding slide: Your turn.</a:t>
            </a:r>
          </a:p>
          <a:p>
            <a:r>
              <a:t/>
            </a:r>
          </a:p>
          <a:p>
            <a:r>
              <a:t>LECTURER CUE</a:t>
            </a:r>
          </a:p>
          <a:p>
            <a:r>
              <a:t>Ask how the result was obtained. Reteach the smallest missing step instead of giving a longer lecture.</a:t>
            </a:r>
          </a:p>
          <a:p>
            <a:r>
              <a:t/>
            </a:r>
          </a:p>
          <a:p>
            <a:r>
              <a:t>EXPLAIN IN ORDINARY WORDS</a:t>
            </a:r>
          </a:p>
          <a:p>
            <a:r>
              <a:t>A condition is a True/False question. Python executes the matching indented branch. = assigns; == compares. &gt;= includes the boundary, while &gt; excludes it.</a:t>
            </a:r>
          </a:p>
          <a:p>
            <a:r>
              <a:t/>
            </a:r>
          </a:p>
          <a:p>
            <a:r>
              <a:t>CHECK AND EXPECTED ANSWER</a:t>
            </a:r>
          </a:p>
          <a:p>
            <a:r>
              <a:t>With value 30, is value &gt;= 30 true? Yes. Is value &gt; 30 true? No.</a:t>
            </a:r>
          </a:p>
          <a:p>
            <a:r>
              <a:t/>
            </a:r>
          </a:p>
          <a:p>
            <a:r>
              <a:t>IF LEARNERS ARE STUCK</a:t>
            </a:r>
          </a:p>
          <a:p>
            <a:r>
              <a:t>Try one value below, at and above the boundary before running the code.</a:t>
            </a:r>
          </a:p>
          <a:p>
            <a:r>
              <a:t/>
            </a:r>
          </a:p>
          <a:p>
            <a:r>
              <a:t>NEXT</a:t>
            </a:r>
          </a:p>
          <a:p>
            <a:r>
              <a:t>Preparing for the assignment.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Preparing for the assignment</a:t>
            </a:r>
          </a:p>
          <a:p>
            <a:r>
              <a:t/>
            </a:r>
          </a:p>
          <a:p>
            <a:r>
              <a:t>CONNECT</a:t>
            </a:r>
          </a:p>
          <a:p>
            <a:r>
              <a:t>Build on the preceding slide: Practice discussion.</a:t>
            </a:r>
          </a:p>
          <a:p>
            <a:r>
              <a:t/>
            </a:r>
          </a:p>
          <a:p>
            <a:r>
              <a:t>LECTURER CUE</a:t>
            </a:r>
          </a:p>
          <a:p>
            <a:r>
              <a:t>W11 names four output features and a two-model ablation. Explain output order, preservation of input rows, full precision and training-only fitting. Use the supplied written scenario for the interpretation requested there. Do not substitute this practice example’s result.</a:t>
            </a:r>
          </a:p>
          <a:p>
            <a:r>
              <a:t/>
            </a:r>
          </a:p>
          <a:p>
            <a:r>
              <a:t>EXPLAIN IN ORDINARY WORDS</a:t>
            </a:r>
          </a:p>
          <a:p>
            <a:r>
              <a:t>Name the positive class first. Actual is what happened; predicted is the model decision. Precision asks how many predicted positives were right. Recall asks how many actual positives were found.</a:t>
            </a:r>
          </a:p>
          <a:p>
            <a:r>
              <a:t/>
            </a:r>
          </a:p>
          <a:p>
            <a:r>
              <a:t>CHECK AND EXPECTED ANSWER</a:t>
            </a:r>
          </a:p>
          <a:p>
            <a:r>
              <a:t>With TP=2, FP=1, FN=2: precision=2/3 and recall=2/4. A missed actual positive is a false negative.</a:t>
            </a:r>
          </a:p>
          <a:p>
            <a:r>
              <a:t/>
            </a:r>
          </a:p>
          <a:p>
            <a:r>
              <a:t>IF LEARNERS ARE STUCK</a:t>
            </a:r>
          </a:p>
          <a:p>
            <a:r>
              <a:t>Draw actual/predicted headings. Place one case at a time before calculating a fraction. Explain the task rule for a zero denominator.</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Features without misleading evaluation.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Features without misleading evaluation</a:t>
            </a:r>
          </a:p>
          <a:p>
            <a:r>
              <a:t/>
            </a:r>
          </a:p>
          <a:p>
            <a:r>
              <a:t>CONNECT</a:t>
            </a:r>
          </a:p>
          <a:p>
            <a:r>
              <a:t>Build on the preceding slide: Preparing for the assignment.</a:t>
            </a:r>
          </a:p>
          <a:p>
            <a:r>
              <a:t/>
            </a:r>
          </a:p>
          <a:p>
            <a:r>
              <a:t>LECTURER CUE</a:t>
            </a:r>
          </a:p>
          <a:p>
            <a:r>
              <a:t>Teach these concepts before the weekly quiz. Use changed numbers for practice. This slide supplies concepts, not the quiz key.</a:t>
            </a:r>
          </a:p>
          <a:p>
            <a:r>
              <a:t/>
            </a:r>
          </a:p>
          <a:p>
            <a:r>
              <a:t>EXPLAIN IN ORDINARY WORDS</a:t>
            </a:r>
          </a:p>
          <a:p>
            <a:r>
              <a:t>A feature is an input available when predicting. The target is the answer to learn from. Regression predicts a number; classification predicts a category. Learning patterns does not by itself establish cause.</a:t>
            </a:r>
          </a:p>
          <a:p>
            <a:r>
              <a:t/>
            </a:r>
          </a:p>
          <a:p>
            <a:r>
              <a:t>CHECK AND EXPECTED ANSWER</a:t>
            </a:r>
          </a:p>
          <a:p>
            <a:r>
              <a:t>Predicting concrete strength: regression. Predicting pass/fail: classification. Is a later test result available before that test? No.</a:t>
            </a:r>
          </a:p>
          <a:p>
            <a:r>
              <a:t/>
            </a:r>
          </a:p>
          <a:p>
            <a:r>
              <a:t>IF LEARNERS ARE STUCK</a:t>
            </a:r>
          </a:p>
          <a:p>
            <a:r>
              <a:t>Describe the engineering decision in everyday language, then label one row, an input and its answer. Compare with a rule you could write directly.</a:t>
            </a:r>
          </a:p>
          <a:p>
            <a:r>
              <a:t/>
            </a:r>
          </a:p>
          <a:p>
            <a:r>
              <a:t>NEXT</a:t>
            </a:r>
          </a:p>
          <a:p>
            <a:r>
              <a:t>Features without misleading evaluation continued.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Features without misleading evaluation continued</a:t>
            </a:r>
          </a:p>
          <a:p>
            <a:r>
              <a:t/>
            </a:r>
          </a:p>
          <a:p>
            <a:r>
              <a:t>CONNECT</a:t>
            </a:r>
          </a:p>
          <a:p>
            <a:r>
              <a:t>Build on the preceding slide: Features without misleading evaluation.</a:t>
            </a:r>
          </a:p>
          <a:p>
            <a:r>
              <a:t/>
            </a:r>
          </a:p>
          <a:p>
            <a:r>
              <a:t>LECTURER CUE</a:t>
            </a:r>
          </a:p>
          <a:p>
            <a:r>
              <a:t>Teach these concepts before the weekly quiz. Use changed numbers for practice. This slide supplies concepts, not the quiz key.</a:t>
            </a:r>
          </a:p>
          <a:p>
            <a:r>
              <a:t/>
            </a:r>
          </a:p>
          <a:p>
            <a:r>
              <a:t>EXPLAIN IN ORDINARY WORDS</a:t>
            </a:r>
          </a:p>
          <a:p>
            <a:r>
              <a:t>A feature is an input available when predicting. The target is the answer to learn from. Regression predicts a number; classification predicts a category. Learning patterns does not by itself establish cause.</a:t>
            </a:r>
          </a:p>
          <a:p>
            <a:r>
              <a:t/>
            </a:r>
          </a:p>
          <a:p>
            <a:r>
              <a:t>CHECK AND EXPECTED ANSWER</a:t>
            </a:r>
          </a:p>
          <a:p>
            <a:r>
              <a:t>Predicting concrete strength: regression. Predicting pass/fail: classification. Is a later test result available before that test? No.</a:t>
            </a:r>
          </a:p>
          <a:p>
            <a:r>
              <a:t/>
            </a:r>
          </a:p>
          <a:p>
            <a:r>
              <a:t>IF LEARNERS ARE STUCK</a:t>
            </a:r>
          </a:p>
          <a:p>
            <a:r>
              <a:t>Describe the engineering decision in everyday language, then label one row, an input and its answer. Compare with a rule you could write directly.</a:t>
            </a:r>
          </a:p>
          <a:p>
            <a:r>
              <a:t/>
            </a:r>
          </a:p>
          <a:p>
            <a:r>
              <a:t>NEXT</a:t>
            </a:r>
          </a:p>
          <a:p>
            <a:r>
              <a:t>Your issued task.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Your issued task</a:t>
            </a:r>
          </a:p>
          <a:p>
            <a:r>
              <a:t/>
            </a:r>
          </a:p>
          <a:p>
            <a:r>
              <a:t>CONNECT</a:t>
            </a:r>
          </a:p>
          <a:p>
            <a:r>
              <a:t>Build on the preceding slide: Features without misleading evaluation continued.</a:t>
            </a:r>
          </a:p>
          <a:p>
            <a:r>
              <a:t/>
            </a:r>
          </a:p>
          <a:p>
            <a:r>
              <a:t>LECTURER CUE</a:t>
            </a:r>
          </a:p>
          <a:p>
            <a:r>
              <a:t>Investigate crusher energy demand. Target units: kWh/t. These are synthetic teaching records, not measurements suitable for deployment. Each record is one operating observation; equipment_id repeats across observations.</a:t>
            </a:r>
          </a:p>
          <a:p>
            <a:r>
              <a:t/>
            </a:r>
          </a:p>
          <a:p>
            <a:r>
              <a:t>EXPLAIN IN ORDINARY WORDS</a:t>
            </a:r>
          </a:p>
          <a:p>
            <a:r>
              <a:t>Read each quantity and unit before using a formula. Python calculates numbers but does not enforce physical units. Parentheses specify which operation happens first.</a:t>
            </a:r>
          </a:p>
          <a:p>
            <a:r>
              <a:t/>
            </a:r>
          </a:p>
          <a:p>
            <a:r>
              <a:t>CHECK AND EXPECTED ANSWER</a:t>
            </a:r>
          </a:p>
          <a:p>
            <a:r>
              <a:t>What is 5 m times 3 m? 15 square metres. What is 7/2 in Python? 3.5; 7//2 is 3.</a:t>
            </a:r>
          </a:p>
          <a:p>
            <a:r>
              <a:t/>
            </a:r>
          </a:p>
          <a:p>
            <a:r>
              <a:t>IF LEARNERS ARE STUCK</a:t>
            </a:r>
          </a:p>
          <a:p>
            <a:r>
              <a:t>Write the formula and units on paper, substitute small values, then translate it to Python. Check zero denominators and the issued sign convention.</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make_features(feature_records).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make_features(feature_records)</a:t>
            </a:r>
          </a:p>
          <a:p>
            <a:r>
              <a:t/>
            </a:r>
          </a:p>
          <a:p>
            <a:r>
              <a:t>CONNECT</a:t>
            </a:r>
          </a:p>
          <a:p>
            <a:r>
              <a:t>Build on the preceding slide: Your issued task.</a:t>
            </a:r>
          </a:p>
          <a:p>
            <a:r>
              <a:t/>
            </a:r>
          </a:p>
          <a:p>
            <a:r>
              <a:t>LECTURER CUE</a:t>
            </a:r>
          </a:p>
          <a:p>
            <a:r>
              <a:t>Public task contract. Explain input and output types before independent work. Source: IUEA_Teaching_Plan/assessment_banks/W11/CML3113/A/TASKS.md</a:t>
            </a:r>
          </a:p>
          <a:p>
            <a:r>
              <a:t/>
            </a:r>
          </a:p>
          <a:p>
            <a:r>
              <a:t>EXPLAIN IN ORDINARY WORDS</a:t>
            </a:r>
          </a:p>
          <a:p>
            <a:r>
              <a:t>A feature is information supplied to a model. An interaction combines inputs, for example area times thickness gives volume. Ablation compares a model with and without a feature using the same evaluation protocol.</a:t>
            </a:r>
          </a:p>
          <a:p>
            <a:r>
              <a:t/>
            </a:r>
          </a:p>
          <a:p>
            <a:r>
              <a:t>CHECK AND EXPECTED ANSWER</a:t>
            </a:r>
          </a:p>
          <a:p>
            <a:r>
              <a:t>Does a lower validation error prove the feature is physically causal? No. It supports prediction under this comparison, subject to leakage and data limitations.</a:t>
            </a:r>
          </a:p>
          <a:p>
            <a:r>
              <a:t/>
            </a:r>
          </a:p>
          <a:p>
            <a:r>
              <a:t>IF LEARNERS ARE STUCK</a:t>
            </a:r>
          </a:p>
          <a:p>
            <a:r>
              <a:t>State when each input becomes available, write its unit, then compare the same rows and metric.</a:t>
            </a:r>
          </a:p>
          <a:p>
            <a:r>
              <a:t/>
            </a:r>
          </a:p>
          <a:p>
            <a:r>
              <a:t>NEXT</a:t>
            </a:r>
          </a:p>
          <a:p>
            <a:r>
              <a:t>ablation_metrics(training_records, validation_records).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ablation_metrics(training_records, validation_records)</a:t>
            </a:r>
          </a:p>
          <a:p>
            <a:r>
              <a:t/>
            </a:r>
          </a:p>
          <a:p>
            <a:r>
              <a:t>CONNECT</a:t>
            </a:r>
          </a:p>
          <a:p>
            <a:r>
              <a:t>Build on the preceding slide: make_features(feature_records).</a:t>
            </a:r>
          </a:p>
          <a:p>
            <a:r>
              <a:t/>
            </a:r>
          </a:p>
          <a:p>
            <a:r>
              <a:t>LECTURER CUE</a:t>
            </a:r>
          </a:p>
          <a:p>
            <a:r>
              <a:t>Public task contract. Explain input and output types before independent work. Source: IUEA_Teaching_Plan/assessment_banks/W11/CML3113/A/TASKS.md</a:t>
            </a:r>
          </a:p>
          <a:p>
            <a:r>
              <a:t/>
            </a:r>
          </a:p>
          <a:p>
            <a:r>
              <a:t>EXPLAIN IN ORDINARY WORDS</a:t>
            </a:r>
          </a:p>
          <a:p>
            <a:r>
              <a:t>A feature is information supplied to a model. An interaction combines inputs, for example area times thickness gives volume. Ablation compares a model with and without a feature using the same evaluation protocol.</a:t>
            </a:r>
          </a:p>
          <a:p>
            <a:r>
              <a:t/>
            </a:r>
          </a:p>
          <a:p>
            <a:r>
              <a:t>CHECK AND EXPECTED ANSWER</a:t>
            </a:r>
          </a:p>
          <a:p>
            <a:r>
              <a:t>Does a lower validation error prove the feature is physically causal? No. It supports prediction under this comparison, subject to leakage and data limitations.</a:t>
            </a:r>
          </a:p>
          <a:p>
            <a:r>
              <a:t/>
            </a:r>
          </a:p>
          <a:p>
            <a:r>
              <a:t>IF LEARNERS ARE STUCK</a:t>
            </a:r>
          </a:p>
          <a:p>
            <a:r>
              <a:t>State when each input becomes available, write its unit, then compare the same rows and metric.</a:t>
            </a:r>
          </a:p>
          <a:p>
            <a:r>
              <a:t/>
            </a:r>
          </a:p>
          <a:p>
            <a:r>
              <a:t>NEXT</a:t>
            </a:r>
          </a:p>
          <a:p>
            <a:r>
              <a:t>Written evidence.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Written evidence</a:t>
            </a:r>
          </a:p>
          <a:p>
            <a:r>
              <a:t/>
            </a:r>
          </a:p>
          <a:p>
            <a:r>
              <a:t>CONNECT</a:t>
            </a:r>
          </a:p>
          <a:p>
            <a:r>
              <a:t>Build on the preceding slide: ablation_metrics(training_records, validation_records).</a:t>
            </a:r>
          </a:p>
          <a:p>
            <a:r>
              <a:t/>
            </a:r>
          </a:p>
          <a:p>
            <a:r>
              <a:t>LECTURER CUE</a:t>
            </a:r>
          </a:p>
          <a:p>
            <a:r>
              <a:t>Published criterion weights and exact requirements remain in TASKS.md. Broader project exercises are formative and do not add weekly marks. Local automated reasoning assessment remains subject to its release checks.</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Features and ablation submission.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Features and ablation submission</a:t>
            </a:r>
          </a:p>
          <a:p>
            <a:r>
              <a:t/>
            </a:r>
          </a:p>
          <a:p>
            <a:r>
              <a:t>CONNECT</a:t>
            </a:r>
          </a:p>
          <a:p>
            <a:r>
              <a:t>Build on the preceding slide: Written evidence.</a:t>
            </a:r>
          </a:p>
          <a:p>
            <a:r>
              <a:t/>
            </a:r>
          </a:p>
          <a:p>
            <a:r>
              <a:t>LECTURER CUE</a:t>
            </a:r>
          </a:p>
          <a:p>
            <a:r>
              <a:t>The form link is cohort-specific. Recheck the live form and release status before class. These scheduled assignment dates are separate from the quiz activation window. The issued brief defines the required files, even if the form accepts additional formats. Source: data/submission_links.json</a:t>
            </a:r>
          </a:p>
          <a:p>
            <a:r>
              <a:t/>
            </a:r>
          </a:p>
          <a:p>
            <a:r>
              <a:t>EXPLAIN IN ORDINARY WORDS</a:t>
            </a:r>
          </a:p>
          <a:p>
            <a:r>
              <a:t>A feature is information supplied to a model. An interaction combines inputs, for example area times thickness gives volume. Ablation compares a model with and without a feature using the same evaluation protocol.</a:t>
            </a:r>
          </a:p>
          <a:p>
            <a:r>
              <a:t/>
            </a:r>
          </a:p>
          <a:p>
            <a:r>
              <a:t>CHECK AND EXPECTED ANSWER</a:t>
            </a:r>
          </a:p>
          <a:p>
            <a:r>
              <a:t>Does a lower validation error prove the feature is physically causal? No. It supports prediction under this comparison, subject to leakage and data limitations.</a:t>
            </a:r>
          </a:p>
          <a:p>
            <a:r>
              <a:t/>
            </a:r>
          </a:p>
          <a:p>
            <a:r>
              <a:t>IF LEARNERS ARE STUCK</a:t>
            </a:r>
          </a:p>
          <a:p>
            <a:r>
              <a:t>State when each input becomes available, write its unit, then compare the same rows and metric.</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Project preparation.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Project preparation</a:t>
            </a:r>
          </a:p>
          <a:p>
            <a:r>
              <a:t/>
            </a:r>
          </a:p>
          <a:p>
            <a:r>
              <a:t>CONNECT</a:t>
            </a:r>
          </a:p>
          <a:p>
            <a:r>
              <a:t>Build on the preceding slide: Features and ablation submission.</a:t>
            </a:r>
          </a:p>
          <a:p>
            <a:r>
              <a:t/>
            </a:r>
          </a:p>
          <a:p>
            <a:r>
              <a:t>LECTURER CUE</a:t>
            </a:r>
          </a:p>
          <a:p>
            <a:r>
              <a:t>Explain the released brief now. Confirm its grading-release checks before assigning it. Avoid treating weekly practice as a substitute for the project evidence. The project brief remains authoritative.</a:t>
            </a:r>
          </a:p>
          <a:p>
            <a:r>
              <a:t/>
            </a:r>
          </a:p>
          <a:p>
            <a:r>
              <a:t>EXPLAIN IN ORDINARY WORDS</a:t>
            </a:r>
          </a:p>
          <a:p>
            <a:r>
              <a:t>A notebook contains code cells and explanatory text cells. The runtime remembers values from cells that actually ran, which may differ from their visual order.</a:t>
            </a:r>
          </a:p>
          <a:p>
            <a:r>
              <a:t/>
            </a:r>
          </a:p>
          <a:p>
            <a:r>
              <a:t>CHECK AND EXPECTED ANSWER</a:t>
            </a:r>
          </a:p>
          <a:p>
            <a:r>
              <a:t>Does editing a cell update a value already stored in memory? No; the cell must run.</a:t>
            </a:r>
          </a:p>
          <a:p>
            <a:r>
              <a:t/>
            </a:r>
          </a:p>
          <a:p>
            <a:r>
              <a:t>IF LEARNERS ARE STUCK</a:t>
            </a:r>
          </a:p>
          <a:p>
            <a:r>
              <a:t>Outside an assessment restriction, restart and run from the top after loading data. Fix the first error before later cells; save the successful notebook.</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Week 11 quiz.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Week 11 quiz</a:t>
            </a:r>
          </a:p>
          <a:p>
            <a:r>
              <a:t/>
            </a:r>
          </a:p>
          <a:p>
            <a:r>
              <a:t>CONNECT</a:t>
            </a:r>
          </a:p>
          <a:p>
            <a:r>
              <a:t>Build on the preceding slide: Project preparation.</a:t>
            </a:r>
          </a:p>
          <a:p>
            <a:r>
              <a:t/>
            </a:r>
          </a:p>
          <a:p>
            <a:r>
              <a:t>LECTURER CUE</a:t>
            </a:r>
          </a:p>
          <a:p>
            <a:r>
              <a:t>Activate the matching open_W11_CML3113 function in Quiz Controls, then confirm the 24-hour close time. Opening this slide or clicking its link does not activate the form. The 24 hours is the availability window. Keep existing quiz scoring and form rules. Do not show private answer keys.</a:t>
            </a:r>
          </a:p>
          <a:p>
            <a:r>
              <a:t/>
            </a:r>
          </a:p>
          <a:p>
            <a:r>
              <a:t>QUIZ OPERATION</a:t>
            </a:r>
          </a:p>
          <a:p>
            <a:r>
              <a:t>Opening the student link does not activate the quiz. In Quiz Controls run the matching open_W&lt;week&gt;_&lt;cohort&gt; function once when ready. Announce the logged closing time: 24 hours after activation. Five minutes describes expected answering time, not the availability window. Quiz 1 and Quiz 2 require separate activation when collecting catch-up work.</a:t>
            </a:r>
          </a:p>
          <a:p>
            <a:r>
              <a:t/>
            </a:r>
          </a:p>
          <a:p>
            <a:r>
              <a:t>NEXT</a:t>
            </a:r>
          </a:p>
          <a:p>
            <a:r>
              <a:t>Before you leave.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Before you leave</a:t>
            </a:r>
          </a:p>
          <a:p>
            <a:r>
              <a:t/>
            </a:r>
          </a:p>
          <a:p>
            <a:r>
              <a:t>CONNECT</a:t>
            </a:r>
          </a:p>
          <a:p>
            <a:r>
              <a:t>Build on the preceding slide: Week 11 quiz.</a:t>
            </a:r>
          </a:p>
          <a:p>
            <a:r>
              <a:t/>
            </a:r>
          </a:p>
          <a:p>
            <a:r>
              <a:t>LECTURER CUE</a:t>
            </a:r>
          </a:p>
          <a:p>
            <a:r>
              <a:t>Ask every learner for an individual response. Record one misconception to revisit at the start of the next class. If a deadline changed, announce the exact Kampala date and update the source registry before rebuilding slides.</a:t>
            </a:r>
          </a:p>
          <a:p>
            <a:r>
              <a:t/>
            </a:r>
          </a:p>
          <a:p>
            <a:r>
              <a:t>EXPLAIN IN ORDINARY WORDS</a:t>
            </a:r>
          </a:p>
          <a:p>
            <a:r>
              <a:t>A feature is an input available when predicting. The target is the answer to learn from. Regression predicts a number; classification predicts a category. Learning patterns does not by itself establish cause.</a:t>
            </a:r>
          </a:p>
          <a:p>
            <a:r>
              <a:t/>
            </a:r>
          </a:p>
          <a:p>
            <a:r>
              <a:t>CHECK AND EXPECTED ANSWER</a:t>
            </a:r>
          </a:p>
          <a:p>
            <a:r>
              <a:t>Predicting concrete strength: regression. Predicting pass/fail: classification. Is a later test result available before that test? No.</a:t>
            </a:r>
          </a:p>
          <a:p>
            <a:r>
              <a:t/>
            </a:r>
          </a:p>
          <a:p>
            <a:r>
              <a:t>IF LEARNERS ARE STUCK</a:t>
            </a:r>
          </a:p>
          <a:p>
            <a:r>
              <a:t>Describe the engineering decision in everyday language, then label one row, an input and its answer. Compare with a rule you could write directly.</a:t>
            </a:r>
          </a:p>
        </p:txBody>
      </p:sp>
      <p:sp>
        <p:nvSpPr>
          <p:cNvPr id="4" name="Slide Number Placeholder 3"/>
          <p:cNvSpPr>
            <a:spLocks noGrp="1"/>
          </p:cNvSpPr>
          <p:nvPr>
            <p:ph type="sldNum" idx="5"/>
          </p:nvPr>
        </p:nvSpPr>
        <p:spPr/>
        <p:txBody>
          <a:bodyPr/>
          <a:lstStyle/>
          <a:p/>
        </p:txBody>
      </p:sp>
    </p:spTree>
  </p:cSld>
  <p:clrMapOvr>
    <a:masterClrMapping/>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d25d6a06bad4f4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25b5efcc71824f47" /><Relationship Type="http://schemas.openxmlformats.org/officeDocument/2006/relationships/slideLayout" Target="/ppt/slideLayouts/slideLayout1.xml" Id="Ra4f03855d9a34d63"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4f03855d9a34d6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63b436edd9c945bc" /><Relationship Type="http://schemas.openxmlformats.org/officeDocument/2006/relationships/image" Target="/ppt/media/image.png" Id="Rb78aa5eca9e64e19" /><Relationship Type="http://schemas.openxmlformats.org/officeDocument/2006/relationships/notesSlide" Target="/ppt/notesSlides/notesSlide1.xml" Id="Ra8095f872e0e4fb3"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5666cbcf9d214d5d" /><Relationship Type="http://schemas.openxmlformats.org/officeDocument/2006/relationships/notesSlide" Target="/ppt/notesSlides/notesSlide2.xml" Id="Re30a910505cb4c4d"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0c752e6adcd44577" /><Relationship Type="http://schemas.openxmlformats.org/officeDocument/2006/relationships/notesSlide" Target="/ppt/notesSlides/notesSlide3.xml" Id="R0f03a080cc034204"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8560468182424a78" /><Relationship Type="http://schemas.openxmlformats.org/officeDocument/2006/relationships/notesSlide" Target="/ppt/notesSlides/notesSlide4.xml" Id="R931a1f6dd5424910"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a09d44175b1f44a3" /><Relationship Type="http://schemas.openxmlformats.org/officeDocument/2006/relationships/notesSlide" Target="/ppt/notesSlides/notesSlide5.xml" Id="R614851dea1ef4959"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e9803072123f477b" /><Relationship Type="http://schemas.openxmlformats.org/officeDocument/2006/relationships/notesSlide" Target="/ppt/notesSlides/notesSlide6.xml" Id="R5727630bb8cd4414"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2b6ae34a3aa14eaf" /><Relationship Type="http://schemas.openxmlformats.org/officeDocument/2006/relationships/notesSlide" Target="/ppt/notesSlides/notesSlide7.xml" Id="R0531d8b4bf4347e0"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b5df088c63504405" /><Relationship Type="http://schemas.openxmlformats.org/officeDocument/2006/relationships/image" Target="/ppt/media/image2.png" Id="R978131453a934b5f" /><Relationship Type="http://schemas.openxmlformats.org/officeDocument/2006/relationships/notesSlide" Target="/ppt/notesSlides/notesSlide8.xml" Id="R4071de2798f4477c"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4739359e3b4b40a1" /><Relationship Type="http://schemas.openxmlformats.org/officeDocument/2006/relationships/notesSlide" Target="/ppt/notesSlides/notesSlide9.xml" Id="Refcc0544434d4223"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16474e4b91af449b" /><Relationship Type="http://schemas.openxmlformats.org/officeDocument/2006/relationships/notesSlide" Target="/ppt/notesSlides/notesSlide10.xml" Id="R23afb286d7364fff"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5c1e0e4e8c1a4ae7" /><Relationship Type="http://schemas.openxmlformats.org/officeDocument/2006/relationships/notesSlide" Target="/ppt/notesSlides/notesSlide11.xml" Id="R7ef336bde74b4df2"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9f2f9ca323ce44dc" /><Relationship Type="http://schemas.openxmlformats.org/officeDocument/2006/relationships/notesSlide" Target="/ppt/notesSlides/notesSlide12.xml" Id="R5c91b73342fd434c"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81e2cdd64453495f" /><Relationship Type="http://schemas.openxmlformats.org/officeDocument/2006/relationships/notesSlide" Target="/ppt/notesSlides/notesSlide13.xml" Id="Rc40b615bbc1841e5"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f54c372efbcd4154" /><Relationship Type="http://schemas.openxmlformats.org/officeDocument/2006/relationships/notesSlide" Target="/ppt/notesSlides/notesSlide14.xml" Id="R679563b881a242a0"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1e5e41ac01ad44c2" /><Relationship Type="http://schemas.openxmlformats.org/officeDocument/2006/relationships/notesSlide" Target="/ppt/notesSlides/notesSlide15.xml" Id="Rba441fc62e7a4d7b"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bf5846e2f4f44e78" /><Relationship Type="http://schemas.openxmlformats.org/officeDocument/2006/relationships/notesSlide" Target="/ppt/notesSlides/notesSlide16.xml" Id="R9186652a46a7448a"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4389de1efe814f4a" /><Relationship Type="http://schemas.openxmlformats.org/officeDocument/2006/relationships/notesSlide" Target="/ppt/notesSlides/notesSlide17.xml" Id="R8a59e8fe3c4b4000"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df0e35a9f4cd4a0f" /><Relationship Type="http://schemas.openxmlformats.org/officeDocument/2006/relationships/notesSlide" Target="/ppt/notesSlides/notesSlide18.xml" Id="R002b0ec3e62042ca"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1c29dab4e49e4fa6" /><Relationship Type="http://schemas.openxmlformats.org/officeDocument/2006/relationships/notesSlide" Target="/ppt/notesSlides/notesSlide19.xml" Id="R7e443c5a20884809"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c2fe5cde23f84844" /><Relationship Type="http://schemas.openxmlformats.org/officeDocument/2006/relationships/notesSlide" Target="/ppt/notesSlides/notesSlide20.xml" Id="R87d84bcfa72b40cc"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a1db8237257741e4" /><Relationship Type="http://schemas.openxmlformats.org/officeDocument/2006/relationships/notesSlide" Target="/ppt/notesSlides/notesSlide21.xml" Id="R8a2ebad71c6a47a6"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fdd27d33520542e7" /><Relationship Type="http://schemas.openxmlformats.org/officeDocument/2006/relationships/notesSlide" Target="/ppt/notesSlides/notesSlide22.xml" Id="R2c115e35a6374cd4"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11a11a5bb29643f8" /><Relationship Type="http://schemas.openxmlformats.org/officeDocument/2006/relationships/notesSlide" Target="/ppt/notesSlides/notesSlide23.xml" Id="R9adc6237d20a4688"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9184d6be9d8344cf" /><Relationship Type="http://schemas.openxmlformats.org/officeDocument/2006/relationships/notesSlide" Target="/ppt/notesSlides/notesSlide24.xml" Id="R743a86a5bffa4d57"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e1931b3b3c5a4da4" /><Relationship Type="http://schemas.openxmlformats.org/officeDocument/2006/relationships/notesSlide" Target="/ppt/notesSlides/notesSlide25.xml" Id="Ra380ee1647c546bb"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eb01ecaed03346c4" /><Relationship Type="http://schemas.openxmlformats.org/officeDocument/2006/relationships/notesSlide" Target="/ppt/notesSlides/notesSlide26.xml" Id="Rfe82b0757069423b"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04eeeb9ddabd4828" /><Relationship Type="http://schemas.openxmlformats.org/officeDocument/2006/relationships/notesSlide" Target="/ppt/notesSlides/notesSlide27.xml" Id="R3d5ae03f2258439b"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ce92ffaa346f48ed" /><Relationship Type="http://schemas.openxmlformats.org/officeDocument/2006/relationships/notesSlide" Target="/ppt/notesSlides/notesSlide28.xml" Id="Rc5e66684f18643c5"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9e4e0354a58241c3" /><Relationship Type="http://schemas.openxmlformats.org/officeDocument/2006/relationships/notesSlide" Target="/ppt/notesSlides/notesSlide29.xml" Id="Ra1bcdf3ebb5544e3"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52e668b827ce4a01" /><Relationship Type="http://schemas.openxmlformats.org/officeDocument/2006/relationships/notesSlide" Target="/ppt/notesSlides/notesSlide30.xml" Id="Re9bf074a55b1494d"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c6b1d8da94cb4fe8" /><Relationship Type="http://schemas.openxmlformats.org/officeDocument/2006/relationships/notesSlide" Target="/ppt/notesSlides/notesSlide31.xml" Id="Ra43b8fdd1d20416c"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734fb9a91947484f" /><Relationship Type="http://schemas.openxmlformats.org/officeDocument/2006/relationships/notesSlide" Target="/ppt/notesSlides/notesSlide32.xml" Id="Rc65e51f52830471f"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8a1b88cce82f4a0a" /><Relationship Type="http://schemas.openxmlformats.org/officeDocument/2006/relationships/hyperlink" Target="https://docs.google.com/forms/d/e/1FAIpQLSdxAosnTnoXrNZ7QCm8pPQuoa2KxsqFvu_PPsZIQGrJnHMw1g/viewform" TargetMode="External" Id="R1f71a576341b4d01" /><Relationship Type="http://schemas.openxmlformats.org/officeDocument/2006/relationships/notesSlide" Target="/ppt/notesSlides/notesSlide33.xml" Id="Re782b2428ea74353"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bf9f50677ac74eeb" /><Relationship Type="http://schemas.openxmlformats.org/officeDocument/2006/relationships/notesSlide" Target="/ppt/notesSlides/notesSlide34.xml" Id="R89c837ccaadd4389"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87898d6883264b63" /><Relationship Type="http://schemas.openxmlformats.org/officeDocument/2006/relationships/image" Target="/ppt/media/image3.png" Id="Rc620aba98e4a4b33" /><Relationship Type="http://schemas.openxmlformats.org/officeDocument/2006/relationships/hyperlink" Target="https://forms.gle/3sf2d3vGXpJ4HtvP6" TargetMode="External" Id="Rf21ac9095cb1432f" /><Relationship Type="http://schemas.openxmlformats.org/officeDocument/2006/relationships/notesSlide" Target="/ppt/notesSlides/notesSlide35.xml" Id="R75e2c3d9ebd3426b"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5da9bb78f7f748d8" /><Relationship Type="http://schemas.openxmlformats.org/officeDocument/2006/relationships/notesSlide" Target="/ppt/notesSlides/notesSlide36.xml" Id="R6f029bb93bdc4b7f"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b78aa5eca9e64e19"/>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28614123-530C-4973-B656-9D980E9135D8}"/>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C20A9202-61C1-407B-89FC-DE479DCA5E09}"/>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CML3113   WEEK 11</a:t>
            </a:r>
          </a:p>
        </p:txBody>
      </p:sp>
      <p:sp>
        <p:nvSpPr>
          <p:cNvPr id="4" name="">
            <a:extLst xmlns:a="http://schemas.openxmlformats.org/drawingml/2006/main">
              <a:ext uri="{FF2B5EF4-FFF2-40B4-BE49-F238E27FC236}">
                <a16:creationId xmlns:a16="http://schemas.microsoft.com/office/drawing/2014/main" id="{F6716685-D336-4DF0-B219-3AF0E8E6E3F1}"/>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Creating and testing a useful feature</a:t>
            </a:r>
          </a:p>
        </p:txBody>
      </p:sp>
      <p:sp>
        <p:nvSpPr>
          <p:cNvPr id="5" name="">
            <a:extLst xmlns:a="http://schemas.openxmlformats.org/drawingml/2006/main">
              <a:ext uri="{FF2B5EF4-FFF2-40B4-BE49-F238E27FC236}">
                <a16:creationId xmlns:a16="http://schemas.microsoft.com/office/drawing/2014/main" id="{755831E9-C20C-472E-A52C-EDF31F972BE0}"/>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Mining and Petroleum Engineering</a:t>
            </a:r>
          </a:p>
        </p:txBody>
      </p:sp>
      <p:sp>
        <p:nvSpPr>
          <p:cNvPr id="6" name="">
            <a:extLst xmlns:a="http://schemas.openxmlformats.org/drawingml/2006/main">
              <a:ext uri="{FF2B5EF4-FFF2-40B4-BE49-F238E27FC236}">
                <a16:creationId xmlns:a16="http://schemas.microsoft.com/office/drawing/2014/main" id="{EFFE36B2-1A6A-421F-BCBF-40FA2F1DCBA3}"/>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20 November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08:00–11:00, Room 105</a:t>
            </a:r>
          </a:p>
        </p:txBody>
      </p:sp>
    </p:spTree>
    <p:extLst>
      <p:ext uri="{BB962C8B-B14F-4D97-AF65-F5344CB8AC3E}">
        <p14:creationId xmlns:p14="http://schemas.microsoft.com/office/powerpoint/2010/main" val="1841009124"/>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E80E3650-71D3-43EF-AD98-D434E2E80A9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C750277-9E50-4791-82EB-61C2CF09F87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8D83702D-F85C-42AA-AAF8-6F4CCEB3DFC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E31569F8-D702-4328-9599-17A20F421B6C}"/>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D60B4F6-E18D-4BD1-8321-F046532D9D62}"/>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492648AC-AB43-40AE-B6A0-7A07FDA58618}"/>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Create a feature from available measurements.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Compare models with one controlled change.</a:t>
            </a:r>
          </a:p>
        </p:txBody>
      </p:sp>
      <p:sp>
        <p:nvSpPr>
          <p:cNvPr id="7" name="">
            <a:extLst xmlns:a="http://schemas.openxmlformats.org/drawingml/2006/main">
              <a:ext uri="{FF2B5EF4-FFF2-40B4-BE49-F238E27FC236}">
                <a16:creationId xmlns:a16="http://schemas.microsoft.com/office/drawing/2014/main" id="{8A563A67-7B49-43B3-AD7E-8693774357CB}"/>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76927C7C-5F85-4D36-9B53-98444531936B}"/>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state the new feature’s meaning and calculate an improvement correctly.</a:t>
            </a:r>
          </a:p>
        </p:txBody>
      </p:sp>
      <p:sp>
        <p:nvSpPr>
          <p:cNvPr id="9" name="">
            <a:extLst xmlns:a="http://schemas.openxmlformats.org/drawingml/2006/main">
              <a:ext uri="{FF2B5EF4-FFF2-40B4-BE49-F238E27FC236}">
                <a16:creationId xmlns:a16="http://schemas.microsoft.com/office/drawing/2014/main" id="{BC5D3EA8-C159-4B8F-A281-3B57A8944EE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2</a:t>
            </a:r>
          </a:p>
        </p:txBody>
      </p:sp>
    </p:spTree>
    <p:extLst>
      <p:ext uri="{BB962C8B-B14F-4D97-AF65-F5344CB8AC3E}">
        <p14:creationId xmlns:p14="http://schemas.microsoft.com/office/powerpoint/2010/main" val="1368810363"/>
      </p:ext>
    </p:extLst>
  </p:cSld>
</p:sld>
</file>

<file path=ppt/slides/slide3.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B3CB343-5F94-47B1-A9FF-38C056CB037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PREDICT BEFORE RUNNING</a:t>
            </a:r>
          </a:p>
        </p:txBody>
      </p:sp>
      <p:sp>
        <p:nvSpPr>
          <p:cNvPr id="2" name="">
            <a:extLst xmlns:a="http://schemas.openxmlformats.org/drawingml/2006/main">
              <a:ext uri="{FF2B5EF4-FFF2-40B4-BE49-F238E27FC236}">
                <a16:creationId xmlns:a16="http://schemas.microsoft.com/office/drawing/2014/main" id="{B2A415F1-9BD2-44DB-82E1-9BD513A6748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Recall and a first attempt</a:t>
            </a:r>
          </a:p>
        </p:txBody>
      </p:sp>
      <p:sp>
        <p:nvSpPr>
          <p:cNvPr id="3" name="">
            <a:extLst xmlns:a="http://schemas.openxmlformats.org/drawingml/2006/main">
              <a:ext uri="{FF2B5EF4-FFF2-40B4-BE49-F238E27FC236}">
                <a16:creationId xmlns:a16="http://schemas.microsoft.com/office/drawing/2014/main" id="{B3D8E3F7-3FC7-4CA7-AF85-293E0057FA8D}"/>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YOUR TURN</a:t>
            </a:r>
          </a:p>
        </p:txBody>
      </p:sp>
      <p:sp>
        <p:nvSpPr>
          <p:cNvPr id="4" name="">
            <a:extLst xmlns:a="http://schemas.openxmlformats.org/drawingml/2006/main">
              <a:ext uri="{FF2B5EF4-FFF2-40B4-BE49-F238E27FC236}">
                <a16:creationId xmlns:a16="http://schemas.microsoft.com/office/drawing/2014/main" id="{BC39FFFF-D208-452E-9B54-7E8D2E80FF49}"/>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What makes an input available at prediction time? Why keep validation membership fixed?</a:t>
            </a:r>
          </a:p>
        </p:txBody>
      </p:sp>
      <p:sp>
        <p:nvSpPr>
          <p:cNvPr id="5" name="">
            <a:extLst xmlns:a="http://schemas.openxmlformats.org/drawingml/2006/main">
              <a:ext uri="{FF2B5EF4-FFF2-40B4-BE49-F238E27FC236}">
                <a16:creationId xmlns:a16="http://schemas.microsoft.com/office/drawing/2014/main" id="{087A125A-B6D7-4CA1-A04F-F75752E09EEC}"/>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Think alone first. Then compare your reasoning with a partner.</a:t>
            </a:r>
          </a:p>
        </p:txBody>
      </p:sp>
      <p:sp>
        <p:nvSpPr>
          <p:cNvPr id="6" name="">
            <a:extLst xmlns:a="http://schemas.openxmlformats.org/drawingml/2006/main">
              <a:ext uri="{FF2B5EF4-FFF2-40B4-BE49-F238E27FC236}">
                <a16:creationId xmlns:a16="http://schemas.microsoft.com/office/drawing/2014/main" id="{1731F63E-1974-4CB0-A668-925C9B119BB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CML3113   Week 11   3</a:t>
            </a:r>
          </a:p>
        </p:txBody>
      </p:sp>
    </p:spTree>
    <p:extLst>
      <p:ext uri="{BB962C8B-B14F-4D97-AF65-F5344CB8AC3E}">
        <p14:creationId xmlns:p14="http://schemas.microsoft.com/office/powerpoint/2010/main" val="1837879458"/>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A53C816-3CD0-4A29-8CDF-6488CA849D3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CD72063-8E48-40FD-B716-9B101C2F7C0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THE ENGINEERING QUESTION</a:t>
            </a:r>
          </a:p>
        </p:txBody>
      </p:sp>
      <p:sp>
        <p:nvSpPr>
          <p:cNvPr id="3" name="">
            <a:extLst xmlns:a="http://schemas.openxmlformats.org/drawingml/2006/main">
              <a:ext uri="{FF2B5EF4-FFF2-40B4-BE49-F238E27FC236}">
                <a16:creationId xmlns:a16="http://schemas.microsoft.com/office/drawing/2014/main" id="{A473757B-FBCF-4239-8A56-095BB3D9C06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engineering context</a:t>
            </a:r>
          </a:p>
        </p:txBody>
      </p:sp>
      <p:sp>
        <p:nvSpPr>
          <p:cNvPr id="4" name="">
            <a:extLst xmlns:a="http://schemas.openxmlformats.org/drawingml/2006/main">
              <a:ext uri="{FF2B5EF4-FFF2-40B4-BE49-F238E27FC236}">
                <a16:creationId xmlns:a16="http://schemas.microsoft.com/office/drawing/2014/main" id="{B5B56CBE-86B3-4F5D-8C64-F9211DC8F4B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C54D12F-B56B-4D0A-817C-67B3AF8C7612}"/>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pump team records temperature to investigate operation.</a:t>
            </a:r>
          </a:p>
        </p:txBody>
      </p:sp>
      <p:sp>
        <p:nvSpPr>
          <p:cNvPr id="6" name="">
            <a:extLst xmlns:a="http://schemas.openxmlformats.org/drawingml/2006/main">
              <a:ext uri="{FF2B5EF4-FFF2-40B4-BE49-F238E27FC236}">
                <a16:creationId xmlns:a16="http://schemas.microsoft.com/office/drawing/2014/main" id="{DB5BF3E6-1923-4030-BF31-D8DE43A0F589}"/>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DA71279-7B62-43F2-81FE-DD35AF0528E1}"/>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Mining students can relate this to a dewatering pump; petroleum students to a transfer pump.</a:t>
            </a:r>
          </a:p>
        </p:txBody>
      </p:sp>
      <p:sp>
        <p:nvSpPr>
          <p:cNvPr id="8" name="">
            <a:extLst xmlns:a="http://schemas.openxmlformats.org/drawingml/2006/main">
              <a:ext uri="{FF2B5EF4-FFF2-40B4-BE49-F238E27FC236}">
                <a16:creationId xmlns:a16="http://schemas.microsoft.com/office/drawing/2014/main" id="{F1C5FCFF-BF7E-4F4A-8011-E9A30534A3B2}"/>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9D81F48-5A08-41E1-B3DA-30AA8F7DE59C}"/>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are teaching examples, not operating limits.</a:t>
            </a:r>
          </a:p>
        </p:txBody>
      </p:sp>
      <p:sp>
        <p:nvSpPr>
          <p:cNvPr id="10" name="">
            <a:extLst xmlns:a="http://schemas.openxmlformats.org/drawingml/2006/main">
              <a:ext uri="{FF2B5EF4-FFF2-40B4-BE49-F238E27FC236}">
                <a16:creationId xmlns:a16="http://schemas.microsoft.com/office/drawing/2014/main" id="{0B6FD174-1116-40C8-8EEA-A7B87B70E83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4</a:t>
            </a:r>
          </a:p>
        </p:txBody>
      </p:sp>
    </p:spTree>
    <p:extLst>
      <p:ext uri="{BB962C8B-B14F-4D97-AF65-F5344CB8AC3E}">
        <p14:creationId xmlns:p14="http://schemas.microsoft.com/office/powerpoint/2010/main" val="1370621402"/>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3DD9B24-6E65-43C8-A3CA-679ECACC7B2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F7DF6D6-8402-49E9-BF95-A924377ED9C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A9AE125-DCDA-48BC-9627-516DAB2D0DF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feature has a meaning</a:t>
            </a:r>
          </a:p>
        </p:txBody>
      </p:sp>
      <p:sp>
        <p:nvSpPr>
          <p:cNvPr id="4" name="">
            <a:extLst xmlns:a="http://schemas.openxmlformats.org/drawingml/2006/main">
              <a:ext uri="{FF2B5EF4-FFF2-40B4-BE49-F238E27FC236}">
                <a16:creationId xmlns:a16="http://schemas.microsoft.com/office/drawing/2014/main" id="{75B21C45-0CE6-4A35-8871-6BFE5ACA31E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23716FC-5A63-4158-B3F0-09CD20344347}"/>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feature is an input available at prediction time.</a:t>
            </a:r>
          </a:p>
        </p:txBody>
      </p:sp>
      <p:sp>
        <p:nvSpPr>
          <p:cNvPr id="6" name="">
            <a:extLst xmlns:a="http://schemas.openxmlformats.org/drawingml/2006/main">
              <a:ext uri="{FF2B5EF4-FFF2-40B4-BE49-F238E27FC236}">
                <a16:creationId xmlns:a16="http://schemas.microsoft.com/office/drawing/2014/main" id="{624D26AF-C083-4115-BEF0-779D87714FEF}"/>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529E564-D2D8-4712-AF17-8FE75379F9E6}"/>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interaction multiplies two inputs to express a joint pattern.</a:t>
            </a:r>
          </a:p>
        </p:txBody>
      </p:sp>
      <p:sp>
        <p:nvSpPr>
          <p:cNvPr id="8" name="">
            <a:extLst xmlns:a="http://schemas.openxmlformats.org/drawingml/2006/main">
              <a:ext uri="{FF2B5EF4-FFF2-40B4-BE49-F238E27FC236}">
                <a16:creationId xmlns:a16="http://schemas.microsoft.com/office/drawing/2014/main" id="{82B9881E-B30F-46F4-B22D-B7A18A1BA3E5}"/>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0589BD1-DEFF-4324-8C05-953FE3254726}"/>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better validation score can still reflect leakage.</a:t>
            </a:r>
          </a:p>
        </p:txBody>
      </p:sp>
      <p:sp>
        <p:nvSpPr>
          <p:cNvPr id="10" name="">
            <a:extLst xmlns:a="http://schemas.openxmlformats.org/drawingml/2006/main">
              <a:ext uri="{FF2B5EF4-FFF2-40B4-BE49-F238E27FC236}">
                <a16:creationId xmlns:a16="http://schemas.microsoft.com/office/drawing/2014/main" id="{CC1ECF1E-E0F2-47DC-B33F-1A51661E7754}"/>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953B6C78-69CF-4CCF-A511-E0A421C35FD9}"/>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Compare the same observations and explain the physical meaning.</a:t>
            </a:r>
          </a:p>
        </p:txBody>
      </p:sp>
      <p:sp>
        <p:nvSpPr>
          <p:cNvPr id="12" name="">
            <a:extLst xmlns:a="http://schemas.openxmlformats.org/drawingml/2006/main">
              <a:ext uri="{FF2B5EF4-FFF2-40B4-BE49-F238E27FC236}">
                <a16:creationId xmlns:a16="http://schemas.microsoft.com/office/drawing/2014/main" id="{BA3A9547-A9C3-48F3-A283-1864180BF4A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5</a:t>
            </a:r>
          </a:p>
        </p:txBody>
      </p:sp>
    </p:spTree>
    <p:extLst>
      <p:ext uri="{BB962C8B-B14F-4D97-AF65-F5344CB8AC3E}">
        <p14:creationId xmlns:p14="http://schemas.microsoft.com/office/powerpoint/2010/main" val="1577698243"/>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6DF6549-3DF1-4DEE-B6DA-E62293CF8CD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46ACA40-81D0-46E2-A54C-9C1DEAD183A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1FFC9467-4B10-4DC6-B67E-71F0A63A7DA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Words we will use</a:t>
            </a:r>
          </a:p>
        </p:txBody>
      </p:sp>
      <p:sp>
        <p:nvSpPr>
          <p:cNvPr id="4" name="">
            <a:extLst xmlns:a="http://schemas.openxmlformats.org/drawingml/2006/main">
              <a:ext uri="{FF2B5EF4-FFF2-40B4-BE49-F238E27FC236}">
                <a16:creationId xmlns:a16="http://schemas.microsoft.com/office/drawing/2014/main" id="{02D71159-C5D6-491C-9E10-A9E4FFDF5479}"/>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39992BD-42F5-4BF6-8F02-0200DC678B24}"/>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Derived feature</a:t>
            </a:r>
          </a:p>
        </p:txBody>
      </p:sp>
      <p:sp>
        <p:nvSpPr>
          <p:cNvPr id="6" name="">
            <a:extLst xmlns:a="http://schemas.openxmlformats.org/drawingml/2006/main">
              <a:ext uri="{FF2B5EF4-FFF2-40B4-BE49-F238E27FC236}">
                <a16:creationId xmlns:a16="http://schemas.microsoft.com/office/drawing/2014/main" id="{A59C9A66-0415-47B6-B635-4E68F57E7BB1}"/>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new input calculated from existing inputs. Its definition and unit must be stated.</a:t>
            </a:r>
          </a:p>
        </p:txBody>
      </p:sp>
      <p:sp>
        <p:nvSpPr>
          <p:cNvPr id="7" name="">
            <a:extLst xmlns:a="http://schemas.openxmlformats.org/drawingml/2006/main">
              <a:ext uri="{FF2B5EF4-FFF2-40B4-BE49-F238E27FC236}">
                <a16:creationId xmlns:a16="http://schemas.microsoft.com/office/drawing/2014/main" id="{0C33D7FB-40EC-42D0-AF97-D3C7E5B7C419}"/>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2F57294B-A343-4C56-8CF7-B5A6EF77B111}"/>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Ratio and interaction</a:t>
            </a:r>
          </a:p>
        </p:txBody>
      </p:sp>
      <p:sp>
        <p:nvSpPr>
          <p:cNvPr id="9" name="">
            <a:extLst xmlns:a="http://schemas.openxmlformats.org/drawingml/2006/main">
              <a:ext uri="{FF2B5EF4-FFF2-40B4-BE49-F238E27FC236}">
                <a16:creationId xmlns:a16="http://schemas.microsoft.com/office/drawing/2014/main" id="{2FA35021-4580-471C-B832-A28A0DA91781}"/>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ratio divides quantities; an interaction multiplies them. Both need a domain explanation and a unit check.</a:t>
            </a:r>
          </a:p>
        </p:txBody>
      </p:sp>
      <p:sp>
        <p:nvSpPr>
          <p:cNvPr id="10" name="">
            <a:extLst xmlns:a="http://schemas.openxmlformats.org/drawingml/2006/main">
              <a:ext uri="{FF2B5EF4-FFF2-40B4-BE49-F238E27FC236}">
                <a16:creationId xmlns:a16="http://schemas.microsoft.com/office/drawing/2014/main" id="{22EBD368-6EAC-4635-AA71-8B52A89F49B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6</a:t>
            </a:r>
          </a:p>
        </p:txBody>
      </p:sp>
    </p:spTree>
    <p:extLst>
      <p:ext uri="{BB962C8B-B14F-4D97-AF65-F5344CB8AC3E}">
        <p14:creationId xmlns:p14="http://schemas.microsoft.com/office/powerpoint/2010/main" val="543190111"/>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8107BAF-9E0F-4924-AA53-912C4B382F6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4F938D2-A021-49C5-8295-A52AF52FC70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ED64C6D-FFD1-49DB-9202-22B744DDB52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the physical example across programmes</a:t>
            </a:r>
          </a:p>
        </p:txBody>
      </p:sp>
      <p:sp>
        <p:nvSpPr>
          <p:cNvPr id="4" name="">
            <a:extLst xmlns:a="http://schemas.openxmlformats.org/drawingml/2006/main">
              <a:ext uri="{FF2B5EF4-FFF2-40B4-BE49-F238E27FC236}">
                <a16:creationId xmlns:a16="http://schemas.microsoft.com/office/drawing/2014/main" id="{A7BA0F43-6299-4DA6-B7D8-5DF39EBF1C1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CC12EB1-70A6-400A-9660-054BF196A478}"/>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Current I is the flow of electric charge, measured in amperes (A). Resistance R opposes that flow, measured in ohms.</a:t>
            </a:r>
          </a:p>
        </p:txBody>
      </p:sp>
      <p:sp>
        <p:nvSpPr>
          <p:cNvPr id="6" name="">
            <a:extLst xmlns:a="http://schemas.openxmlformats.org/drawingml/2006/main">
              <a:ext uri="{FF2B5EF4-FFF2-40B4-BE49-F238E27FC236}">
                <a16:creationId xmlns:a16="http://schemas.microsoft.com/office/drawing/2014/main" id="{8EA13F61-C5C0-490C-9DDA-ECB4802D0FE5}"/>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B171D08-FF6E-4736-9A5B-24B0684693ED}"/>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Power P is energy transferred per second, measured in watts (W). Resistive heating follows P = I²R in this example.</a:t>
            </a:r>
          </a:p>
        </p:txBody>
      </p:sp>
      <p:sp>
        <p:nvSpPr>
          <p:cNvPr id="8" name="">
            <a:extLst xmlns:a="http://schemas.openxmlformats.org/drawingml/2006/main">
              <a:ext uri="{FF2B5EF4-FFF2-40B4-BE49-F238E27FC236}">
                <a16:creationId xmlns:a16="http://schemas.microsoft.com/office/drawing/2014/main" id="{C0CF29A6-0037-40D7-9A29-27D6AD1C4DD7}"/>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EB5F640-09ED-4C94-A8BD-6945FC295966}"/>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I² means I × I. With I = 2 A and R = 3 ohms, P = 2 × 2 × 3 = 12 W. This relationship motivates a feature; evaluation still tests whether it helps.</a:t>
            </a:r>
          </a:p>
        </p:txBody>
      </p:sp>
      <p:sp>
        <p:nvSpPr>
          <p:cNvPr id="10" name="">
            <a:extLst xmlns:a="http://schemas.openxmlformats.org/drawingml/2006/main">
              <a:ext uri="{FF2B5EF4-FFF2-40B4-BE49-F238E27FC236}">
                <a16:creationId xmlns:a16="http://schemas.microsoft.com/office/drawing/2014/main" id="{D71EF924-6DC9-43DC-87E0-56249BABBD1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7</a:t>
            </a:r>
          </a:p>
        </p:txBody>
      </p:sp>
    </p:spTree>
    <p:extLst>
      <p:ext uri="{BB962C8B-B14F-4D97-AF65-F5344CB8AC3E}">
        <p14:creationId xmlns:p14="http://schemas.microsoft.com/office/powerpoint/2010/main" val="402223570"/>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4690583-ABB3-4E3F-80ED-9F30721A3795}"/>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2D6B2B4-4403-4BAA-90DD-38F94484249A}"/>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A physical relationship can form a feature</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978131453a934b5f"/>
          <a:stretch xmlns:a="http://schemas.openxmlformats.org/drawingml/2006/main"/>
        </p:blipFill>
        <p:spPr>
          <a:xfrm xmlns:a="http://schemas.openxmlformats.org/drawingml/2006/main">
            <a:off x="1991849" y="1057275"/>
            <a:ext cx="8208303"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D69360C6-D62E-4FF2-8DAA-6C68D5127E57}"/>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2463E13-C6B6-4C17-A350-8A9D880BE47D}"/>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Explain each quantity and the unit of the result.</a:t>
            </a:r>
          </a:p>
        </p:txBody>
      </p:sp>
      <p:sp>
        <p:nvSpPr>
          <p:cNvPr id="6" name="">
            <a:extLst xmlns:a="http://schemas.openxmlformats.org/drawingml/2006/main">
              <a:ext uri="{FF2B5EF4-FFF2-40B4-BE49-F238E27FC236}">
                <a16:creationId xmlns:a16="http://schemas.microsoft.com/office/drawing/2014/main" id="{E90BA05B-7E5F-4E0B-B355-0290FF0D4E7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8</a:t>
            </a:r>
          </a:p>
        </p:txBody>
      </p:sp>
    </p:spTree>
    <p:extLst>
      <p:ext uri="{BB962C8B-B14F-4D97-AF65-F5344CB8AC3E}">
        <p14:creationId xmlns:p14="http://schemas.microsoft.com/office/powerpoint/2010/main" val="1245984251"/>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234440E-C293-4B26-A08A-C98F2820586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7347C4F-072C-4042-91E3-B1747C27730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F32383BC-E608-412E-A43D-BA848B6F18E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An interaction uses two known inputs</a:t>
            </a:r>
          </a:p>
        </p:txBody>
      </p:sp>
      <p:graphicFrame>
        <p:nvGraphicFramePr>
          <p:cNvPr id="10" name=""/>
          <p:cNvGraphicFramePr/>
          <p:nvPr/>
        </p:nvGraphicFramePr>
        <p:xfrm>
          <a:off xmlns:a="http://schemas.openxmlformats.org/drawingml/2006/main" x="590550" y="1733550"/>
          <a:ext xmlns:a="http://schemas.openxmlformats.org/drawingml/2006/main" cx="11010900" cy="2286000"/>
        </p:xfrm>
        <a:graphic xmlns:a="http://schemas.openxmlformats.org/drawingml/2006/main">
          <a:graphicData uri="http://schemas.openxmlformats.org/drawingml/2006/table">
            <a:tbl>
              <a:tblPr/>
              <a:tblGrid>
                <a:gridCol w="3670300"/>
                <a:gridCol w="3670300"/>
                <a:gridCol w="3670300"/>
              </a:tblGrid>
              <a:tr h="762000">
                <a:tc>
                  <a:txBody>
                    <a:bodyPr/>
                    <a:lstStyle/>
                    <a:p>
                      <a:r>
                        <a:rPr sz="2025" b="1">
                          <a:solidFill>
                            <a:srgbClr val="FFFFFF"/>
                          </a:solidFill>
                          <a:latin typeface="Calibri"/>
                          <a:ea typeface="Calibri"/>
                          <a:cs typeface="Calibri"/>
                        </a:rPr>
                        <a:t>Current A</a:t>
                      </a:r>
                    </a:p>
                  </a:txBody>
                  <a:tcPr marL="91440" marR="91440" marT="45720" marB="45720">
                    <a:solidFill>
                      <a:srgbClr val="2E7D6F"/>
                    </a:solidFill>
                  </a:tcPr>
                </a:tc>
                <a:tc>
                  <a:txBody>
                    <a:bodyPr/>
                    <a:lstStyle/>
                    <a:p>
                      <a:r>
                        <a:rPr sz="2025" b="1">
                          <a:solidFill>
                            <a:srgbClr val="FFFFFF"/>
                          </a:solidFill>
                          <a:latin typeface="Calibri"/>
                          <a:ea typeface="Calibri"/>
                          <a:cs typeface="Calibri"/>
                        </a:rPr>
                        <a:t>Resistance ohm</a:t>
                      </a:r>
                    </a:p>
                  </a:txBody>
                  <a:tcPr marL="91440" marR="91440" marT="45720" marB="45720">
                    <a:solidFill>
                      <a:srgbClr val="2E7D6F"/>
                    </a:solidFill>
                  </a:tcPr>
                </a:tc>
                <a:tc>
                  <a:txBody>
                    <a:bodyPr/>
                    <a:lstStyle/>
                    <a:p>
                      <a:r>
                        <a:rPr sz="2025" b="1">
                          <a:solidFill>
                            <a:srgbClr val="FFFFFF"/>
                          </a:solidFill>
                          <a:latin typeface="Calibri"/>
                          <a:ea typeface="Calibri"/>
                          <a:cs typeface="Calibri"/>
                        </a:rPr>
                        <a:t>I squared × R W</a:t>
                      </a:r>
                    </a:p>
                  </a:txBody>
                  <a:tcPr marL="91440" marR="91440" marT="45720" marB="45720">
                    <a:solidFill>
                      <a:srgbClr val="2E7D6F"/>
                    </a:solidFill>
                  </a:tcPr>
                </a:tc>
              </a:tr>
              <a:tr h="762000">
                <a:tc>
                  <a:txBody>
                    <a:bodyPr/>
                    <a:lstStyle/>
                    <a:p>
                      <a:r>
                        <a:rPr sz="2025" b="0">
                          <a:solidFill>
                            <a:srgbClr val="1C3144"/>
                          </a:solidFill>
                          <a:latin typeface="Calibri"/>
                          <a:ea typeface="Calibri"/>
                          <a:cs typeface="Calibri"/>
                        </a:rPr>
                        <a:t>2</a:t>
                      </a:r>
                    </a:p>
                  </a:txBody>
                  <a:tcPr marL="91440" marR="91440" marT="45720" marB="45720">
                    <a:solidFill>
                      <a:srgbClr val="EEF3F6"/>
                    </a:solidFill>
                  </a:tcPr>
                </a:tc>
                <a:tc>
                  <a:txBody>
                    <a:bodyPr/>
                    <a:lstStyle/>
                    <a:p>
                      <a:r>
                        <a:rPr sz="2025" b="0">
                          <a:solidFill>
                            <a:srgbClr val="1C3144"/>
                          </a:solidFill>
                          <a:latin typeface="Calibri"/>
                          <a:ea typeface="Calibri"/>
                          <a:cs typeface="Calibri"/>
                        </a:rPr>
                        <a:t>3</a:t>
                      </a:r>
                    </a:p>
                  </a:txBody>
                  <a:tcPr marL="91440" marR="91440" marT="45720" marB="45720">
                    <a:solidFill>
                      <a:srgbClr val="EEF3F6"/>
                    </a:solidFill>
                  </a:tcPr>
                </a:tc>
                <a:tc>
                  <a:txBody>
                    <a:bodyPr/>
                    <a:lstStyle/>
                    <a:p>
                      <a:r>
                        <a:rPr sz="2025" b="0">
                          <a:solidFill>
                            <a:srgbClr val="1C3144"/>
                          </a:solidFill>
                          <a:latin typeface="Calibri"/>
                          <a:ea typeface="Calibri"/>
                          <a:cs typeface="Calibri"/>
                        </a:rPr>
                        <a:t>12</a:t>
                      </a:r>
                    </a:p>
                  </a:txBody>
                  <a:tcPr marL="91440" marR="91440" marT="45720" marB="45720">
                    <a:solidFill>
                      <a:srgbClr val="EEF3F6"/>
                    </a:solidFill>
                  </a:tcPr>
                </a:tc>
              </a:tr>
              <a:tr h="762000">
                <a:tc>
                  <a:txBody>
                    <a:bodyPr/>
                    <a:lstStyle/>
                    <a:p>
                      <a:r>
                        <a:rPr sz="2025" b="0">
                          <a:solidFill>
                            <a:srgbClr val="1C3144"/>
                          </a:solidFill>
                          <a:latin typeface="Calibri"/>
                          <a:ea typeface="Calibri"/>
                          <a:cs typeface="Calibri"/>
                        </a:rPr>
                        <a:t>4</a:t>
                      </a:r>
                    </a:p>
                  </a:txBody>
                  <a:tcPr marL="91440" marR="91440" marT="45720" marB="45720">
                    <a:solidFill>
                      <a:srgbClr val="FFFFFF"/>
                    </a:solidFill>
                  </a:tcPr>
                </a:tc>
                <a:tc>
                  <a:txBody>
                    <a:bodyPr/>
                    <a:lstStyle/>
                    <a:p>
                      <a:r>
                        <a:rPr sz="2025" b="0">
                          <a:solidFill>
                            <a:srgbClr val="1C3144"/>
                          </a:solidFill>
                          <a:latin typeface="Calibri"/>
                          <a:ea typeface="Calibri"/>
                          <a:cs typeface="Calibri"/>
                        </a:rPr>
                        <a:t>3</a:t>
                      </a:r>
                    </a:p>
                  </a:txBody>
                  <a:tcPr marL="91440" marR="91440" marT="45720" marB="45720">
                    <a:solidFill>
                      <a:srgbClr val="FFFFFF"/>
                    </a:solidFill>
                  </a:tcPr>
                </a:tc>
                <a:tc>
                  <a:txBody>
                    <a:bodyPr/>
                    <a:lstStyle/>
                    <a:p>
                      <a:r>
                        <a:rPr sz="2025" b="0">
                          <a:solidFill>
                            <a:srgbClr val="1C3144"/>
                          </a:solidFill>
                          <a:latin typeface="Calibri"/>
                          <a:ea typeface="Calibri"/>
                          <a:cs typeface="Calibri"/>
                        </a:rPr>
                        <a:t>48</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F6E37C2C-778B-4ED5-BCF5-F411F42D8F9D}"/>
              </a:ext>
            </a:extLst>
          </p:cNvPr>
          <p:cNvSpPr>
            <a:spLocks xmlns:a="http://schemas.openxmlformats.org/drawingml/2006/main" noGrp="1"/>
          </p:cNvSpPr>
          <p:nvPr/>
        </p:nvSpPr>
        <p:spPr>
          <a:xfrm xmlns:a="http://schemas.openxmlformats.org/drawingml/2006/main">
            <a:off x="685800" y="433387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A derived input must be available when predicting. A useful physical relationship still needs validation.</a:t>
            </a:r>
          </a:p>
        </p:txBody>
      </p:sp>
      <p:sp>
        <p:nvSpPr>
          <p:cNvPr id="6" name="">
            <a:extLst xmlns:a="http://schemas.openxmlformats.org/drawingml/2006/main">
              <a:ext uri="{FF2B5EF4-FFF2-40B4-BE49-F238E27FC236}">
                <a16:creationId xmlns:a16="http://schemas.microsoft.com/office/drawing/2014/main" id="{3106A75C-5EB1-499A-8BBF-6A4C0B0000A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9</a:t>
            </a:r>
          </a:p>
        </p:txBody>
      </p:sp>
    </p:spTree>
    <p:extLst>
      <p:ext uri="{BB962C8B-B14F-4D97-AF65-F5344CB8AC3E}">
        <p14:creationId xmlns:p14="http://schemas.microsoft.com/office/powerpoint/2010/main" val="43632574"/>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1F4F3CE-80CC-4858-8EB0-9CF549C63D3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3437519-1567-41D3-A127-C2D7145CB6C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E0E87D7-C740-4360-9B48-A1EA4140676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percentage and its fraction</a:t>
            </a:r>
          </a:p>
        </p:txBody>
      </p:sp>
      <p:sp>
        <p:nvSpPr>
          <p:cNvPr id="4" name="">
            <a:extLst xmlns:a="http://schemas.openxmlformats.org/drawingml/2006/main">
              <a:ext uri="{FF2B5EF4-FFF2-40B4-BE49-F238E27FC236}">
                <a16:creationId xmlns:a16="http://schemas.microsoft.com/office/drawing/2014/main" id="{3C9D9563-08CF-4EB1-A81F-420F8E0394B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244D3B6-7ABC-432B-A9C9-3A90D08EB77C}"/>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40% means 40 out of 100.</a:t>
            </a:r>
          </a:p>
        </p:txBody>
      </p:sp>
      <p:sp>
        <p:nvSpPr>
          <p:cNvPr id="6" name="">
            <a:extLst xmlns:a="http://schemas.openxmlformats.org/drawingml/2006/main">
              <a:ext uri="{FF2B5EF4-FFF2-40B4-BE49-F238E27FC236}">
                <a16:creationId xmlns:a16="http://schemas.microsoft.com/office/drawing/2014/main" id="{D7B83DB3-940D-4A43-AE1A-98B6AADDAAC6}"/>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8AE1D84-40FF-444A-A7F6-B631DE8D4CC2}"/>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40 / 100 gives 0.4.</a:t>
            </a:r>
          </a:p>
        </p:txBody>
      </p:sp>
      <p:sp>
        <p:nvSpPr>
          <p:cNvPr id="8" name="">
            <a:extLst xmlns:a="http://schemas.openxmlformats.org/drawingml/2006/main">
              <a:ext uri="{FF2B5EF4-FFF2-40B4-BE49-F238E27FC236}">
                <a16:creationId xmlns:a16="http://schemas.microsoft.com/office/drawing/2014/main" id="{9C6C58D4-38C0-4043-A6ED-26A76004AA21}"/>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2A9DAE3-CC99-42E2-9694-72B87603D21A}"/>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This changes the representation. It adds no new observation.</a:t>
            </a:r>
          </a:p>
        </p:txBody>
      </p:sp>
      <p:sp>
        <p:nvSpPr>
          <p:cNvPr id="10" name="">
            <a:extLst xmlns:a="http://schemas.openxmlformats.org/drawingml/2006/main">
              <a:ext uri="{FF2B5EF4-FFF2-40B4-BE49-F238E27FC236}">
                <a16:creationId xmlns:a16="http://schemas.microsoft.com/office/drawing/2014/main" id="{8AADCB86-B4CC-4016-879A-1422BB11C2B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10</a:t>
            </a:r>
          </a:p>
        </p:txBody>
      </p:sp>
    </p:spTree>
    <p:extLst>
      <p:ext uri="{BB962C8B-B14F-4D97-AF65-F5344CB8AC3E}">
        <p14:creationId xmlns:p14="http://schemas.microsoft.com/office/powerpoint/2010/main" val="595516118"/>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9787F14-1CEE-46A7-ADD7-8AFBC8A341D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0564252-CD15-4861-9F20-EA5454AA366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6A005D1-4A2E-41A4-9A6A-A8516BFA853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combined input needs a reason</a:t>
            </a:r>
          </a:p>
        </p:txBody>
      </p:sp>
      <p:sp>
        <p:nvSpPr>
          <p:cNvPr id="4" name="">
            <a:extLst xmlns:a="http://schemas.openxmlformats.org/drawingml/2006/main">
              <a:ext uri="{FF2B5EF4-FFF2-40B4-BE49-F238E27FC236}">
                <a16:creationId xmlns:a16="http://schemas.microsoft.com/office/drawing/2014/main" id="{527DEE57-06A9-4C4E-8AE4-BA2816F58CE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37BE1DD-F634-438B-8B65-54200FE5F1C6}"/>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interaction multiplies two inputs.</a:t>
            </a:r>
          </a:p>
        </p:txBody>
      </p:sp>
      <p:sp>
        <p:nvSpPr>
          <p:cNvPr id="6" name="">
            <a:extLst xmlns:a="http://schemas.openxmlformats.org/drawingml/2006/main">
              <a:ext uri="{FF2B5EF4-FFF2-40B4-BE49-F238E27FC236}">
                <a16:creationId xmlns:a16="http://schemas.microsoft.com/office/drawing/2014/main" id="{9A325002-C708-4949-879B-EC58FADCA061}"/>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27C98F5-29C4-4F02-A833-DF147EB898AD}"/>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It may help a simple model represent a joint pattern.</a:t>
            </a:r>
          </a:p>
        </p:txBody>
      </p:sp>
      <p:sp>
        <p:nvSpPr>
          <p:cNvPr id="8" name="">
            <a:extLst xmlns:a="http://schemas.openxmlformats.org/drawingml/2006/main">
              <a:ext uri="{FF2B5EF4-FFF2-40B4-BE49-F238E27FC236}">
                <a16:creationId xmlns:a16="http://schemas.microsoft.com/office/drawing/2014/main" id="{8DF2697E-4261-47A3-B94A-A72C9B042095}"/>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3E06A30-8F20-4D6C-9965-3A5B95F4BCA6}"/>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interaction with degrees Celsius is an empirical feature, not automatically a physical law.</a:t>
            </a:r>
          </a:p>
        </p:txBody>
      </p:sp>
      <p:sp>
        <p:nvSpPr>
          <p:cNvPr id="10" name="">
            <a:extLst xmlns:a="http://schemas.openxmlformats.org/drawingml/2006/main">
              <a:ext uri="{FF2B5EF4-FFF2-40B4-BE49-F238E27FC236}">
                <a16:creationId xmlns:a16="http://schemas.microsoft.com/office/drawing/2014/main" id="{096915F0-704A-48A5-9185-245904EE590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11</a:t>
            </a:r>
          </a:p>
        </p:txBody>
      </p:sp>
    </p:spTree>
    <p:extLst>
      <p:ext uri="{BB962C8B-B14F-4D97-AF65-F5344CB8AC3E}">
        <p14:creationId xmlns:p14="http://schemas.microsoft.com/office/powerpoint/2010/main" val="1551406074"/>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DF7B79F-59E7-450F-8A25-9829C7C8C7A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0599472-7527-449F-8C2A-00CE4BB45B5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B4EF8329-8838-4F92-B9D4-BAD0FFC296B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Words we will use</a:t>
            </a:r>
          </a:p>
        </p:txBody>
      </p:sp>
      <p:sp>
        <p:nvSpPr>
          <p:cNvPr id="4" name="">
            <a:extLst xmlns:a="http://schemas.openxmlformats.org/drawingml/2006/main">
              <a:ext uri="{FF2B5EF4-FFF2-40B4-BE49-F238E27FC236}">
                <a16:creationId xmlns:a16="http://schemas.microsoft.com/office/drawing/2014/main" id="{13E44D60-FEAD-450A-94EB-8286D5873221}"/>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BA731C6-3819-4ACE-904B-EB807D4B642B}"/>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Ablation</a:t>
            </a:r>
          </a:p>
        </p:txBody>
      </p:sp>
      <p:sp>
        <p:nvSpPr>
          <p:cNvPr id="6" name="">
            <a:extLst xmlns:a="http://schemas.openxmlformats.org/drawingml/2006/main">
              <a:ext uri="{FF2B5EF4-FFF2-40B4-BE49-F238E27FC236}">
                <a16:creationId xmlns:a16="http://schemas.microsoft.com/office/drawing/2014/main" id="{9422BD83-29C0-4ED7-AF9C-241A5F258B47}"/>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Compare a model with and without a feature while keeping the data partitions, model family and metric fixed.</a:t>
            </a:r>
          </a:p>
        </p:txBody>
      </p:sp>
      <p:sp>
        <p:nvSpPr>
          <p:cNvPr id="7" name="">
            <a:extLst xmlns:a="http://schemas.openxmlformats.org/drawingml/2006/main">
              <a:ext uri="{FF2B5EF4-FFF2-40B4-BE49-F238E27FC236}">
                <a16:creationId xmlns:a16="http://schemas.microsoft.com/office/drawing/2014/main" id="{B8040F0F-543C-4A5F-BDED-307C0F14B06B}"/>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AC4556A2-B74F-4E79-9C5C-3FB693A5CD08}"/>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Improvement</a:t>
            </a:r>
          </a:p>
        </p:txBody>
      </p:sp>
      <p:sp>
        <p:nvSpPr>
          <p:cNvPr id="9" name="">
            <a:extLst xmlns:a="http://schemas.openxmlformats.org/drawingml/2006/main">
              <a:ext uri="{FF2B5EF4-FFF2-40B4-BE49-F238E27FC236}">
                <a16:creationId xmlns:a16="http://schemas.microsoft.com/office/drawing/2014/main" id="{3CEEC538-3779-48C4-88E4-8C6B55235BA0}"/>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For an error metric, baseline error minus new error. A negative result means the added feature worsened validation error in that comparison.</a:t>
            </a:r>
          </a:p>
        </p:txBody>
      </p:sp>
      <p:sp>
        <p:nvSpPr>
          <p:cNvPr id="10" name="">
            <a:extLst xmlns:a="http://schemas.openxmlformats.org/drawingml/2006/main">
              <a:ext uri="{FF2B5EF4-FFF2-40B4-BE49-F238E27FC236}">
                <a16:creationId xmlns:a16="http://schemas.microsoft.com/office/drawing/2014/main" id="{35E125AD-9162-44D0-8D5B-2B94EC9584E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12</a:t>
            </a:r>
          </a:p>
        </p:txBody>
      </p:sp>
    </p:spTree>
    <p:extLst>
      <p:ext uri="{BB962C8B-B14F-4D97-AF65-F5344CB8AC3E}">
        <p14:creationId xmlns:p14="http://schemas.microsoft.com/office/powerpoint/2010/main" val="1574484037"/>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1526024-14AE-44E1-82B0-79EC540F39D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A1797B1-A999-4D95-A105-3A0497869DD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0013205-251C-44F5-BB9A-D9B45D4FCBE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One change makes a comparison interpretable</a:t>
            </a:r>
          </a:p>
        </p:txBody>
      </p:sp>
      <p:sp>
        <p:nvSpPr>
          <p:cNvPr id="4" name="">
            <a:extLst xmlns:a="http://schemas.openxmlformats.org/drawingml/2006/main">
              <a:ext uri="{FF2B5EF4-FFF2-40B4-BE49-F238E27FC236}">
                <a16:creationId xmlns:a16="http://schemas.microsoft.com/office/drawing/2014/main" id="{17B740CD-A7D7-44F1-9BA3-DD89C5726AB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9476753-3005-4370-B565-03917A25A328}"/>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Base MAE is 3.0. Extended MAE is 2.5.</a:t>
            </a:r>
          </a:p>
        </p:txBody>
      </p:sp>
      <p:sp>
        <p:nvSpPr>
          <p:cNvPr id="6" name="">
            <a:extLst xmlns:a="http://schemas.openxmlformats.org/drawingml/2006/main">
              <a:ext uri="{FF2B5EF4-FFF2-40B4-BE49-F238E27FC236}">
                <a16:creationId xmlns:a16="http://schemas.microsoft.com/office/drawing/2014/main" id="{FBA7BAF8-4F3B-48F8-B57B-14E45551E974}"/>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499DB94-5F6F-4F79-951D-ADA4D235709C}"/>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Improvement = base error minus extended error = 0.5.</a:t>
            </a:r>
          </a:p>
        </p:txBody>
      </p:sp>
      <p:sp>
        <p:nvSpPr>
          <p:cNvPr id="8" name="">
            <a:extLst xmlns:a="http://schemas.openxmlformats.org/drawingml/2006/main">
              <a:ext uri="{FF2B5EF4-FFF2-40B4-BE49-F238E27FC236}">
                <a16:creationId xmlns:a16="http://schemas.microsoft.com/office/drawing/2014/main" id="{5D55E4BC-3230-47FF-BDBC-D100C0613A9D}"/>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8837F3F-D817-4F86-A29E-42A92988D951}"/>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training rows, validation rows, model family and metric fixed.</a:t>
            </a:r>
          </a:p>
        </p:txBody>
      </p:sp>
      <p:sp>
        <p:nvSpPr>
          <p:cNvPr id="10" name="">
            <a:extLst xmlns:a="http://schemas.openxmlformats.org/drawingml/2006/main">
              <a:ext uri="{FF2B5EF4-FFF2-40B4-BE49-F238E27FC236}">
                <a16:creationId xmlns:a16="http://schemas.microsoft.com/office/drawing/2014/main" id="{08D1A63C-A40C-476A-A30E-B92711DDC14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13</a:t>
            </a:r>
          </a:p>
        </p:txBody>
      </p:sp>
    </p:spTree>
    <p:extLst>
      <p:ext uri="{BB962C8B-B14F-4D97-AF65-F5344CB8AC3E}">
        <p14:creationId xmlns:p14="http://schemas.microsoft.com/office/powerpoint/2010/main" val="1332310684"/>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9435E92-7282-4C2C-8C7F-87B09935409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B01A451-3DC1-4C1E-BFE7-C5617433D05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CDE5D8FF-7E93-4079-9699-367611D0BA8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Worked example</a:t>
            </a:r>
          </a:p>
        </p:txBody>
      </p:sp>
      <p:sp>
        <p:nvSpPr>
          <p:cNvPr id="4" name="">
            <a:extLst xmlns:a="http://schemas.openxmlformats.org/drawingml/2006/main">
              <a:ext uri="{FF2B5EF4-FFF2-40B4-BE49-F238E27FC236}">
                <a16:creationId xmlns:a16="http://schemas.microsoft.com/office/drawing/2014/main" id="{CB1F7BC9-5457-4A4A-9474-F206E4882FE3}"/>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1648332-2194-4316-8CDA-CA490BBBD830}"/>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load_pct = 40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ambient_c = 25</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load_fraction = load_pct / 100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interaction = load_pct * ambient_c</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print(load_fraction, interaction)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base_mae = 3.0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extended_mae = 2.5</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print(base_mae - extended_mae)</a:t>
            </a:r>
          </a:p>
        </p:txBody>
      </p:sp>
      <p:sp>
        <p:nvSpPr>
          <p:cNvPr id="6" name="">
            <a:extLst xmlns:a="http://schemas.openxmlformats.org/drawingml/2006/main">
              <a:ext uri="{FF2B5EF4-FFF2-40B4-BE49-F238E27FC236}">
                <a16:creationId xmlns:a16="http://schemas.microsoft.com/office/drawing/2014/main" id="{1AB72D80-7485-4A7B-B194-AD2A6C89F96D}"/>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4951EBAE-D2A7-437D-B94C-1E0A2E1F6261}"/>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1DE611ED-9473-4F06-BA12-C8A5BBEBACAD}"/>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9" name="">
            <a:extLst xmlns:a="http://schemas.openxmlformats.org/drawingml/2006/main">
              <a:ext uri="{FF2B5EF4-FFF2-40B4-BE49-F238E27FC236}">
                <a16:creationId xmlns:a16="http://schemas.microsoft.com/office/drawing/2014/main" id="{04159D82-AA3B-47A1-A03E-78A8CBFAC725}"/>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the code together. Predict the result before running.</a:t>
            </a:r>
          </a:p>
        </p:txBody>
      </p:sp>
      <p:sp>
        <p:nvSpPr>
          <p:cNvPr id="10" name="">
            <a:extLst xmlns:a="http://schemas.openxmlformats.org/drawingml/2006/main">
              <a:ext uri="{FF2B5EF4-FFF2-40B4-BE49-F238E27FC236}">
                <a16:creationId xmlns:a16="http://schemas.microsoft.com/office/drawing/2014/main" id="{46560376-EF2B-4E3E-A7D4-A16DEA31A1A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14</a:t>
            </a:r>
          </a:p>
        </p:txBody>
      </p:sp>
    </p:spTree>
    <p:extLst>
      <p:ext uri="{BB962C8B-B14F-4D97-AF65-F5344CB8AC3E}">
        <p14:creationId xmlns:p14="http://schemas.microsoft.com/office/powerpoint/2010/main" val="482147867"/>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C965203-B9B8-4210-B8FB-F367CC0CD96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0B0401D-5094-425A-B9B3-BBC137C692D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CHECK THE OUTPUT</a:t>
            </a:r>
          </a:p>
        </p:txBody>
      </p:sp>
      <p:sp>
        <p:nvSpPr>
          <p:cNvPr id="3" name="">
            <a:extLst xmlns:a="http://schemas.openxmlformats.org/drawingml/2006/main">
              <a:ext uri="{FF2B5EF4-FFF2-40B4-BE49-F238E27FC236}">
                <a16:creationId xmlns:a16="http://schemas.microsoft.com/office/drawing/2014/main" id="{5971DD48-6D38-4CAA-B0EE-A016B17351B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Expected output</a:t>
            </a:r>
          </a:p>
        </p:txBody>
      </p:sp>
      <p:sp>
        <p:nvSpPr>
          <p:cNvPr id="4" name="">
            <a:extLst xmlns:a="http://schemas.openxmlformats.org/drawingml/2006/main">
              <a:ext uri="{FF2B5EF4-FFF2-40B4-BE49-F238E27FC236}">
                <a16:creationId xmlns:a16="http://schemas.microsoft.com/office/drawing/2014/main" id="{5873158F-D6C2-4CF8-97E5-466C5C5FF60F}"/>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53E4157-7EE7-46D0-B561-80FEECE783B9}"/>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0.4 1000</a:t>
            </a:r>
          </a:p>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0.5</a:t>
            </a:r>
          </a:p>
        </p:txBody>
      </p:sp>
      <p:sp>
        <p:nvSpPr>
          <p:cNvPr id="6" name="">
            <a:extLst xmlns:a="http://schemas.openxmlformats.org/drawingml/2006/main">
              <a:ext uri="{FF2B5EF4-FFF2-40B4-BE49-F238E27FC236}">
                <a16:creationId xmlns:a16="http://schemas.microsoft.com/office/drawing/2014/main" id="{48147CFB-21DF-489A-A4E2-367AA4580153}"/>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BDFC62C5-C105-48B7-B4AF-6532747B9E0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15</a:t>
            </a:r>
          </a:p>
        </p:txBody>
      </p:sp>
    </p:spTree>
    <p:extLst>
      <p:ext uri="{BB962C8B-B14F-4D97-AF65-F5344CB8AC3E}">
        <p14:creationId xmlns:p14="http://schemas.microsoft.com/office/powerpoint/2010/main" val="1060644313"/>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7B8D880-4FCF-4764-82EB-41CA6D7B2E0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7446D29-E2A9-4EB9-8B44-2310AEF78AD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A448928-9875-4420-8A51-699E65BCC39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the two-model experiment</a:t>
            </a:r>
          </a:p>
        </p:txBody>
      </p:sp>
      <p:sp>
        <p:nvSpPr>
          <p:cNvPr id="4" name="">
            <a:extLst xmlns:a="http://schemas.openxmlformats.org/drawingml/2006/main">
              <a:ext uri="{FF2B5EF4-FFF2-40B4-BE49-F238E27FC236}">
                <a16:creationId xmlns:a16="http://schemas.microsoft.com/office/drawing/2014/main" id="{D29D91BF-3A07-4868-8795-1858E3813E8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D051BC7-F3B3-4B52-BDE3-0F23FD52E3C7}"/>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row contains a pair of inputs. for a, b in rows assigns the first entry to a and the second to b, then repeats the block.</a:t>
            </a:r>
          </a:p>
        </p:txBody>
      </p:sp>
      <p:sp>
        <p:nvSpPr>
          <p:cNvPr id="6" name="">
            <a:extLst xmlns:a="http://schemas.openxmlformats.org/drawingml/2006/main">
              <a:ext uri="{FF2B5EF4-FFF2-40B4-BE49-F238E27FC236}">
                <a16:creationId xmlns:a16="http://schemas.microsoft.com/office/drawing/2014/main" id="{BA5F59EF-A89D-4642-AAF7-8696584AB696}"/>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0C197A9-F7D5-4F53-BCE6-51D46F1176E1}"/>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with_interaction returns a new table containing a, b and a × b. Both models keep the same training and validation rows.</a:t>
            </a:r>
          </a:p>
        </p:txBody>
      </p:sp>
      <p:sp>
        <p:nvSpPr>
          <p:cNvPr id="8" name="">
            <a:extLst xmlns:a="http://schemas.openxmlformats.org/drawingml/2006/main">
              <a:ext uri="{FF2B5EF4-FFF2-40B4-BE49-F238E27FC236}">
                <a16:creationId xmlns:a16="http://schemas.microsoft.com/office/drawing/2014/main" id="{3866002C-47A8-4E91-8158-105B9EA981AC}"/>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59640A7-7C76-46F6-A3F5-CAF3C3684663}"/>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fit returns the fitted model object, so creating and fitting can appear in one expression. round(value, 6) rounds a displayed number to six decimal places.</a:t>
            </a:r>
          </a:p>
        </p:txBody>
      </p:sp>
      <p:sp>
        <p:nvSpPr>
          <p:cNvPr id="10" name="">
            <a:extLst xmlns:a="http://schemas.openxmlformats.org/drawingml/2006/main">
              <a:ext uri="{FF2B5EF4-FFF2-40B4-BE49-F238E27FC236}">
                <a16:creationId xmlns:a16="http://schemas.microsoft.com/office/drawing/2014/main" id="{5CD917AF-E6D7-4C3C-9FAF-346DFCF6931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16</a:t>
            </a:r>
          </a:p>
        </p:txBody>
      </p:sp>
    </p:spTree>
    <p:extLst>
      <p:ext uri="{BB962C8B-B14F-4D97-AF65-F5344CB8AC3E}">
        <p14:creationId xmlns:p14="http://schemas.microsoft.com/office/powerpoint/2010/main" val="1781723538"/>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39BE0F0-2852-4DF5-8522-8FD7C56B4B0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02566EA-2CDD-499E-AACE-31F713605F6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A778B0D-8786-45E8-81C2-57E449C3626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Two models under one protocol</a:t>
            </a:r>
          </a:p>
        </p:txBody>
      </p:sp>
      <p:sp>
        <p:nvSpPr>
          <p:cNvPr id="4" name="">
            <a:extLst xmlns:a="http://schemas.openxmlformats.org/drawingml/2006/main">
              <a:ext uri="{FF2B5EF4-FFF2-40B4-BE49-F238E27FC236}">
                <a16:creationId xmlns:a16="http://schemas.microsoft.com/office/drawing/2014/main" id="{246E6921-98BD-4FEA-9555-2FE4437C214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F765E09-FBC4-402D-8819-BFFB34E3E9C0}"/>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Run this complete practice experiment in a fresh session.</a:t>
            </a:r>
          </a:p>
        </p:txBody>
      </p:sp>
      <p:sp>
        <p:nvSpPr>
          <p:cNvPr id="6" name="">
            <a:extLst xmlns:a="http://schemas.openxmlformats.org/drawingml/2006/main">
              <a:ext uri="{FF2B5EF4-FFF2-40B4-BE49-F238E27FC236}">
                <a16:creationId xmlns:a16="http://schemas.microsoft.com/office/drawing/2014/main" id="{6AB08B96-811D-4840-9B51-97066212A798}"/>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79BA1CB-E4A0-48F9-9BF3-9B90E3A9347E}"/>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Both models use the same rows and targets; the second receives one additional input.</a:t>
            </a:r>
          </a:p>
        </p:txBody>
      </p:sp>
      <p:sp>
        <p:nvSpPr>
          <p:cNvPr id="8" name="">
            <a:extLst xmlns:a="http://schemas.openxmlformats.org/drawingml/2006/main">
              <a:ext uri="{FF2B5EF4-FFF2-40B4-BE49-F238E27FC236}">
                <a16:creationId xmlns:a16="http://schemas.microsoft.com/office/drawing/2014/main" id="{4EB77720-D7AC-419D-A83B-F15814031F55}"/>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29E3F8E-7BCF-47E2-8F03-26CCAA8CDE2C}"/>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every column before fitting.</a:t>
            </a:r>
          </a:p>
        </p:txBody>
      </p:sp>
      <p:sp>
        <p:nvSpPr>
          <p:cNvPr id="10" name="">
            <a:extLst xmlns:a="http://schemas.openxmlformats.org/drawingml/2006/main">
              <a:ext uri="{FF2B5EF4-FFF2-40B4-BE49-F238E27FC236}">
                <a16:creationId xmlns:a16="http://schemas.microsoft.com/office/drawing/2014/main" id="{D0A58123-2CB9-4DF9-9A01-BA83BD693F98}"/>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348CADED-AC7C-4292-B054-B5A1F2203CDF}"/>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This invented experiment illustrates procedure, not a measured engineering benefit.</a:t>
            </a:r>
          </a:p>
        </p:txBody>
      </p:sp>
      <p:sp>
        <p:nvSpPr>
          <p:cNvPr id="12" name="">
            <a:extLst xmlns:a="http://schemas.openxmlformats.org/drawingml/2006/main">
              <a:ext uri="{FF2B5EF4-FFF2-40B4-BE49-F238E27FC236}">
                <a16:creationId xmlns:a16="http://schemas.microsoft.com/office/drawing/2014/main" id="{33F17DC3-DDF0-4EE0-AB26-D5DDF5331E6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17</a:t>
            </a:r>
          </a:p>
        </p:txBody>
      </p:sp>
    </p:spTree>
    <p:extLst>
      <p:ext uri="{BB962C8B-B14F-4D97-AF65-F5344CB8AC3E}">
        <p14:creationId xmlns:p14="http://schemas.microsoft.com/office/powerpoint/2010/main" val="425610904"/>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8BD171A-B919-4474-931E-76366A7E13C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729DB93-7449-405F-BF74-74619076BA4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92E90216-AA9B-4716-B857-372291FB05A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Two models under one protocol in Python (1/3)</a:t>
            </a:r>
          </a:p>
        </p:txBody>
      </p:sp>
      <p:sp>
        <p:nvSpPr>
          <p:cNvPr id="4" name="">
            <a:extLst xmlns:a="http://schemas.openxmlformats.org/drawingml/2006/main">
              <a:ext uri="{FF2B5EF4-FFF2-40B4-BE49-F238E27FC236}">
                <a16:creationId xmlns:a16="http://schemas.microsoft.com/office/drawing/2014/main" id="{F3E556B5-5881-46CC-81E1-0308AE7B6480}"/>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B3EA53F-1075-4538-B6C4-A23E376866E9}"/>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from</a:t>
            </a:r>
            <a:r>
              <a:rPr sz="2175" b="0">
                <a:solidFill>
                  <a:srgbClr val="F4F7FA"/>
                </a:solidFill>
                <a:latin typeface="Courier New"/>
                <a:ea typeface="Courier New"/>
                <a:cs typeface="Courier New"/>
              </a:rPr>
              <a:t> sklearn.linear_model </a:t>
            </a:r>
            <a:r>
              <a:rPr sz="2175" b="0">
                <a:solidFill>
                  <a:srgbClr val="FFB080"/>
                </a:solidFill>
                <a:latin typeface="Courier New"/>
                <a:ea typeface="Courier New"/>
                <a:cs typeface="Courier New"/>
              </a:rPr>
              <a:t>import</a:t>
            </a:r>
            <a:r>
              <a:rPr sz="2175" b="0">
                <a:solidFill>
                  <a:srgbClr val="F4F7FA"/>
                </a:solidFill>
                <a:latin typeface="Courier New"/>
                <a:ea typeface="Courier New"/>
                <a:cs typeface="Courier New"/>
              </a:rPr>
              <a:t> LinearRegression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from sklearn.metrics import mean_absolute_error</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train = [[1, 2], [2, 3], [3, 2], [4, 4], [5, 3]]</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y = [3, 5, 5, 8, 8]</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validation = [[2, 2], [3, 3]]</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truth = [4, 6]</a:t>
            </a:r>
          </a:p>
        </p:txBody>
      </p:sp>
      <p:sp>
        <p:nvSpPr>
          <p:cNvPr id="6" name="">
            <a:extLst xmlns:a="http://schemas.openxmlformats.org/drawingml/2006/main">
              <a:ext uri="{FF2B5EF4-FFF2-40B4-BE49-F238E27FC236}">
                <a16:creationId xmlns:a16="http://schemas.microsoft.com/office/drawing/2014/main" id="{C4B73BF1-9877-474A-89D0-351C233CAE8F}"/>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import loads a library. from selects a tool from it.</a:t>
            </a:r>
          </a:p>
        </p:txBody>
      </p:sp>
      <p:sp>
        <p:nvSpPr>
          <p:cNvPr id="7" name="">
            <a:extLst xmlns:a="http://schemas.openxmlformats.org/drawingml/2006/main">
              <a:ext uri="{FF2B5EF4-FFF2-40B4-BE49-F238E27FC236}">
                <a16:creationId xmlns:a16="http://schemas.microsoft.com/office/drawing/2014/main" id="{3C1FBAD9-3D59-4D4F-9BD6-A6266DA198C4}"/>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the code together. Predict the result before running.</a:t>
            </a:r>
          </a:p>
        </p:txBody>
      </p:sp>
      <p:sp>
        <p:nvSpPr>
          <p:cNvPr id="8" name="">
            <a:extLst xmlns:a="http://schemas.openxmlformats.org/drawingml/2006/main">
              <a:ext uri="{FF2B5EF4-FFF2-40B4-BE49-F238E27FC236}">
                <a16:creationId xmlns:a16="http://schemas.microsoft.com/office/drawing/2014/main" id="{C9D39E25-A56E-407A-B231-EF07B3D4CA5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18</a:t>
            </a:r>
          </a:p>
        </p:txBody>
      </p:sp>
    </p:spTree>
    <p:extLst>
      <p:ext uri="{BB962C8B-B14F-4D97-AF65-F5344CB8AC3E}">
        <p14:creationId xmlns:p14="http://schemas.microsoft.com/office/powerpoint/2010/main" val="1447045705"/>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31692DE-9D99-4DA3-8299-401E39BC0DD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34397E8-069C-44E8-BAF3-74FA4D06D64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32B3769A-BBBF-4F12-BA8D-5EA32EE0063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Two models under one protocol in Python (2/3)</a:t>
            </a:r>
          </a:p>
        </p:txBody>
      </p:sp>
      <p:sp>
        <p:nvSpPr>
          <p:cNvPr id="4" name="">
            <a:extLst xmlns:a="http://schemas.openxmlformats.org/drawingml/2006/main">
              <a:ext uri="{FF2B5EF4-FFF2-40B4-BE49-F238E27FC236}">
                <a16:creationId xmlns:a16="http://schemas.microsoft.com/office/drawing/2014/main" id="{AF926706-4193-4E5C-A061-76F841170060}"/>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73EDAC8-AF11-427C-B78F-3E6E20918925}"/>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2" b="0">
                <a:solidFill>
                  <a:srgbClr val="F4F7FA"/>
                </a:solidFill>
                <a:latin typeface="Courier New"/>
                <a:ea typeface="Courier New"/>
                <a:cs typeface="Courier New"/>
              </a:defRPr>
            </a:pPr>
            <a:r>
              <a:rPr sz="2102" b="0">
                <a:solidFill>
                  <a:srgbClr val="FFB080"/>
                </a:solidFill>
                <a:latin typeface="Courier New"/>
                <a:ea typeface="Courier New"/>
                <a:cs typeface="Courier New"/>
              </a:rPr>
              <a:t>def</a:t>
            </a:r>
            <a:r>
              <a:rPr sz="2102" b="0">
                <a:solidFill>
                  <a:srgbClr val="F4F7FA"/>
                </a:solidFill>
                <a:latin typeface="Courier New"/>
                <a:ea typeface="Courier New"/>
                <a:cs typeface="Courier New"/>
              </a:rPr>
              <a:t> with_interaction(rows):</a:t>
            </a:r>
          </a:p>
          <a:p xmlns:a="http://schemas.openxmlformats.org/drawingml/2006/main">
            <a:pPr>
              <a:defRPr sz="2102" b="0">
                <a:solidFill>
                  <a:srgbClr val="F4F7FA"/>
                </a:solidFill>
                <a:latin typeface="Courier New"/>
                <a:ea typeface="Courier New"/>
                <a:cs typeface="Courier New"/>
              </a:defRPr>
            </a:pPr>
            <a:r>
              <a:rPr sz="2102" b="0">
                <a:solidFill>
                  <a:srgbClr val="F4F7FA"/>
                </a:solidFill>
                <a:latin typeface="Courier New"/>
                <a:ea typeface="Courier New"/>
                <a:cs typeface="Courier New"/>
              </a:rPr>
              <a:t>    result = []</a:t>
            </a:r>
          </a:p>
          <a:p xmlns:a="http://schemas.openxmlformats.org/drawingml/2006/main">
            <a:pPr>
              <a:defRPr sz="2102" b="0">
                <a:solidFill>
                  <a:srgbClr val="F4F7FA"/>
                </a:solidFill>
                <a:latin typeface="Courier New"/>
                <a:ea typeface="Courier New"/>
                <a:cs typeface="Courier New"/>
              </a:defRPr>
            </a:pPr>
            <a:r>
              <a:rPr sz="2102" b="0">
                <a:solidFill>
                  <a:srgbClr val="F4F7FA"/>
                </a:solidFill>
                <a:latin typeface="Courier New"/>
                <a:ea typeface="Courier New"/>
                <a:cs typeface="Courier New"/>
              </a:rPr>
              <a:t>    </a:t>
            </a:r>
            <a:r>
              <a:rPr sz="2102" b="0">
                <a:solidFill>
                  <a:srgbClr val="FFB080"/>
                </a:solidFill>
                <a:latin typeface="Courier New"/>
                <a:ea typeface="Courier New"/>
                <a:cs typeface="Courier New"/>
              </a:rPr>
              <a:t>for</a:t>
            </a:r>
            <a:r>
              <a:rPr sz="2102" b="0">
                <a:solidFill>
                  <a:srgbClr val="F4F7FA"/>
                </a:solidFill>
                <a:latin typeface="Courier New"/>
                <a:ea typeface="Courier New"/>
                <a:cs typeface="Courier New"/>
              </a:rPr>
              <a:t> a, b in rows:</a:t>
            </a:r>
          </a:p>
          <a:p xmlns:a="http://schemas.openxmlformats.org/drawingml/2006/main">
            <a:pPr>
              <a:defRPr sz="2102" b="0">
                <a:solidFill>
                  <a:srgbClr val="F4F7FA"/>
                </a:solidFill>
                <a:latin typeface="Courier New"/>
                <a:ea typeface="Courier New"/>
                <a:cs typeface="Courier New"/>
              </a:defRPr>
            </a:pPr>
            <a:r>
              <a:rPr sz="2102" b="0">
                <a:solidFill>
                  <a:srgbClr val="F4F7FA"/>
                </a:solidFill>
                <a:latin typeface="Courier New"/>
                <a:ea typeface="Courier New"/>
                <a:cs typeface="Courier New"/>
              </a:rPr>
              <a:t>        result.append([a, b, a * b])</a:t>
            </a:r>
          </a:p>
          <a:p xmlns:a="http://schemas.openxmlformats.org/drawingml/2006/main">
            <a:pPr>
              <a:defRPr sz="2102" b="0">
                <a:solidFill>
                  <a:srgbClr val="F4F7FA"/>
                </a:solidFill>
                <a:latin typeface="Courier New"/>
                <a:ea typeface="Courier New"/>
                <a:cs typeface="Courier New"/>
              </a:defRPr>
            </a:pPr>
            <a:r>
              <a:rPr sz="2102" b="0">
                <a:solidFill>
                  <a:srgbClr val="F4F7FA"/>
                </a:solidFill>
                <a:latin typeface="Courier New"/>
                <a:ea typeface="Courier New"/>
                <a:cs typeface="Courier New"/>
              </a:rPr>
              <a:t>    </a:t>
            </a:r>
            <a:r>
              <a:rPr sz="2102" b="0">
                <a:solidFill>
                  <a:srgbClr val="FFB080"/>
                </a:solidFill>
                <a:latin typeface="Courier New"/>
                <a:ea typeface="Courier New"/>
                <a:cs typeface="Courier New"/>
              </a:rPr>
              <a:t>return</a:t>
            </a:r>
            <a:r>
              <a:rPr sz="2102" b="0">
                <a:solidFill>
                  <a:srgbClr val="F4F7FA"/>
                </a:solidFill>
                <a:latin typeface="Courier New"/>
                <a:ea typeface="Courier New"/>
                <a:cs typeface="Courier New"/>
              </a:rPr>
              <a:t> result</a:t>
            </a:r>
          </a:p>
          <a:p xmlns:a="http://schemas.openxmlformats.org/drawingml/2006/main">
            <a:pPr>
              <a:defRPr sz="2102" b="0">
                <a:solidFill>
                  <a:srgbClr val="F4F7FA"/>
                </a:solidFill>
                <a:latin typeface="Courier New"/>
                <a:ea typeface="Courier New"/>
                <a:cs typeface="Courier New"/>
              </a:defRPr>
            </a:pPr>
            <a:r>
              <a:rPr sz="2102" b="0">
                <a:solidFill>
                  <a:srgbClr val="F4F7FA"/>
                </a:solidFill>
                <a:latin typeface="Courier New"/>
                <a:ea typeface="Courier New"/>
                <a:cs typeface="Courier New"/>
              </a:rPr>
              <a:t>base = LinearRegression().fit(train, y)</a:t>
            </a:r>
          </a:p>
          <a:p xmlns:a="http://schemas.openxmlformats.org/drawingml/2006/main">
            <a:pPr>
              <a:defRPr sz="2102" b="0">
                <a:solidFill>
                  <a:srgbClr val="F4F7FA"/>
                </a:solidFill>
                <a:latin typeface="Courier New"/>
                <a:ea typeface="Courier New"/>
                <a:cs typeface="Courier New"/>
              </a:defRPr>
            </a:pPr>
            <a:r>
              <a:rPr sz="2102" b="0">
                <a:solidFill>
                  <a:srgbClr val="F4F7FA"/>
                </a:solidFill>
                <a:latin typeface="Courier New"/>
                <a:ea typeface="Courier New"/>
                <a:cs typeface="Courier New"/>
              </a:rPr>
              <a:t>extended = LinearRegression().fit(with_interaction(train), y)</a:t>
            </a:r>
          </a:p>
          <a:p xmlns:a="http://schemas.openxmlformats.org/drawingml/2006/main">
            <a:pPr>
              <a:defRPr sz="2102" b="0">
                <a:solidFill>
                  <a:srgbClr val="F4F7FA"/>
                </a:solidFill>
                <a:latin typeface="Courier New"/>
                <a:ea typeface="Courier New"/>
                <a:cs typeface="Courier New"/>
              </a:defRPr>
            </a:pPr>
            <a:r>
              <a:rPr sz="2102" b="0">
                <a:solidFill>
                  <a:srgbClr val="F4F7FA"/>
                </a:solidFill>
                <a:latin typeface="Courier New"/>
                <a:ea typeface="Courier New"/>
                <a:cs typeface="Courier New"/>
              </a:rPr>
              <a:t>base_predictions = base.predict(validation)</a:t>
            </a:r>
          </a:p>
          <a:p xmlns:a="http://schemas.openxmlformats.org/drawingml/2006/main">
            <a:pPr>
              <a:defRPr sz="2102" b="0">
                <a:solidFill>
                  <a:srgbClr val="F4F7FA"/>
                </a:solidFill>
                <a:latin typeface="Courier New"/>
                <a:ea typeface="Courier New"/>
                <a:cs typeface="Courier New"/>
              </a:defRPr>
            </a:pPr>
            <a:r>
              <a:rPr sz="2102" b="0">
                <a:solidFill>
                  <a:srgbClr val="F4F7FA"/>
                </a:solidFill>
                <a:latin typeface="Courier New"/>
                <a:ea typeface="Courier New"/>
                <a:cs typeface="Courier New"/>
              </a:rPr>
              <a:t>base_error = mean_absolute_error(truth, base_predictions)</a:t>
            </a:r>
          </a:p>
        </p:txBody>
      </p:sp>
      <p:sp>
        <p:nvSpPr>
          <p:cNvPr id="6" name="">
            <a:extLst xmlns:a="http://schemas.openxmlformats.org/drawingml/2006/main">
              <a:ext uri="{FF2B5EF4-FFF2-40B4-BE49-F238E27FC236}">
                <a16:creationId xmlns:a16="http://schemas.microsoft.com/office/drawing/2014/main" id="{02BAA465-D3C2-4E2B-BE13-BF4211D56F97}"/>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def names the function. Inputs go inside parentheses.</a:t>
            </a:r>
          </a:p>
        </p:txBody>
      </p:sp>
      <p:sp>
        <p:nvSpPr>
          <p:cNvPr id="7" name="">
            <a:extLst xmlns:a="http://schemas.openxmlformats.org/drawingml/2006/main">
              <a:ext uri="{FF2B5EF4-FFF2-40B4-BE49-F238E27FC236}">
                <a16:creationId xmlns:a16="http://schemas.microsoft.com/office/drawing/2014/main" id="{7FE87D94-A172-4054-958D-8616E3E2B196}"/>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keep indentation. Run after all parts are entered.</a:t>
            </a:r>
          </a:p>
        </p:txBody>
      </p:sp>
      <p:sp>
        <p:nvSpPr>
          <p:cNvPr id="8" name="">
            <a:extLst xmlns:a="http://schemas.openxmlformats.org/drawingml/2006/main">
              <a:ext uri="{FF2B5EF4-FFF2-40B4-BE49-F238E27FC236}">
                <a16:creationId xmlns:a16="http://schemas.microsoft.com/office/drawing/2014/main" id="{FE754F45-6212-4936-BE6C-3D587A66616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19</a:t>
            </a:r>
          </a:p>
        </p:txBody>
      </p:sp>
    </p:spTree>
    <p:extLst>
      <p:ext uri="{BB962C8B-B14F-4D97-AF65-F5344CB8AC3E}">
        <p14:creationId xmlns:p14="http://schemas.microsoft.com/office/powerpoint/2010/main" val="429607084"/>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9EA53E5-6B13-435E-944E-558461EF9BF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8484DCB-2AD2-45CA-8225-DCE1F4C2ABF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5E909A5B-8A34-48DA-A57E-32969967F3F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Two models under one protocol in Python (3/3)</a:t>
            </a:r>
          </a:p>
        </p:txBody>
      </p:sp>
      <p:sp>
        <p:nvSpPr>
          <p:cNvPr id="4" name="">
            <a:extLst xmlns:a="http://schemas.openxmlformats.org/drawingml/2006/main">
              <a:ext uri="{FF2B5EF4-FFF2-40B4-BE49-F238E27FC236}">
                <a16:creationId xmlns:a16="http://schemas.microsoft.com/office/drawing/2014/main" id="{CD7CB3B0-5862-4ED6-8F46-931A83404E6B}"/>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3AB23F2-1356-4B6B-B27A-39DA73122247}"/>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37" b="0">
                <a:solidFill>
                  <a:srgbClr val="F4F7FA"/>
                </a:solidFill>
                <a:latin typeface="Courier New"/>
                <a:ea typeface="Courier New"/>
                <a:cs typeface="Courier New"/>
              </a:defRPr>
            </a:pPr>
            <a:r>
              <a:rPr sz="2137" b="0">
                <a:solidFill>
                  <a:srgbClr val="F4F7FA"/>
                </a:solidFill>
                <a:latin typeface="Courier New"/>
                <a:ea typeface="Courier New"/>
                <a:cs typeface="Courier New"/>
              </a:rPr>
              <a:t>print(round(base_error, 6))</a:t>
            </a:r>
          </a:p>
          <a:p xmlns:a="http://schemas.openxmlformats.org/drawingml/2006/main">
            <a:pPr>
              <a:defRPr sz="2137" b="0">
                <a:solidFill>
                  <a:srgbClr val="F4F7FA"/>
                </a:solidFill>
                <a:latin typeface="Courier New"/>
                <a:ea typeface="Courier New"/>
                <a:cs typeface="Courier New"/>
              </a:defRPr>
            </a:pPr>
            <a:r>
              <a:rPr sz="2137" b="0">
                <a:solidFill>
                  <a:srgbClr val="F4F7FA"/>
                </a:solidFill>
                <a:latin typeface="Courier New"/>
                <a:ea typeface="Courier New"/>
                <a:cs typeface="Courier New"/>
              </a:rPr>
              <a:t>validation_features = with_interaction(validation)</a:t>
            </a:r>
          </a:p>
          <a:p xmlns:a="http://schemas.openxmlformats.org/drawingml/2006/main">
            <a:pPr>
              <a:defRPr sz="2137" b="0">
                <a:solidFill>
                  <a:srgbClr val="F4F7FA"/>
                </a:solidFill>
                <a:latin typeface="Courier New"/>
                <a:ea typeface="Courier New"/>
                <a:cs typeface="Courier New"/>
              </a:defRPr>
            </a:pPr>
            <a:r>
              <a:rPr sz="2137" b="0">
                <a:solidFill>
                  <a:srgbClr val="F4F7FA"/>
                </a:solidFill>
                <a:latin typeface="Courier New"/>
                <a:ea typeface="Courier New"/>
                <a:cs typeface="Courier New"/>
              </a:rPr>
              <a:t>extended_predictions = extended.predict(validation_features)</a:t>
            </a:r>
          </a:p>
          <a:p xmlns:a="http://schemas.openxmlformats.org/drawingml/2006/main">
            <a:pPr>
              <a:defRPr sz="2137" b="0">
                <a:solidFill>
                  <a:srgbClr val="F4F7FA"/>
                </a:solidFill>
                <a:latin typeface="Courier New"/>
                <a:ea typeface="Courier New"/>
                <a:cs typeface="Courier New"/>
              </a:defRPr>
            </a:pPr>
            <a:r>
              <a:rPr sz="2137" b="0">
                <a:solidFill>
                  <a:srgbClr val="F4F7FA"/>
                </a:solidFill>
                <a:latin typeface="Courier New"/>
                <a:ea typeface="Courier New"/>
                <a:cs typeface="Courier New"/>
              </a:rPr>
              <a:t>error = mean_absolute_error(truth, extended_predictions)</a:t>
            </a:r>
          </a:p>
          <a:p xmlns:a="http://schemas.openxmlformats.org/drawingml/2006/main">
            <a:pPr>
              <a:defRPr sz="2137" b="0">
                <a:solidFill>
                  <a:srgbClr val="F4F7FA"/>
                </a:solidFill>
                <a:latin typeface="Courier New"/>
                <a:ea typeface="Courier New"/>
                <a:cs typeface="Courier New"/>
              </a:defRPr>
            </a:pPr>
            <a:r>
              <a:rPr sz="2137" b="0">
                <a:solidFill>
                  <a:srgbClr val="F4F7FA"/>
                </a:solidFill>
                <a:latin typeface="Courier New"/>
                <a:ea typeface="Courier New"/>
                <a:cs typeface="Courier New"/>
              </a:rPr>
              <a:t>print(round(error, 6))</a:t>
            </a:r>
          </a:p>
        </p:txBody>
      </p:sp>
      <p:sp>
        <p:nvSpPr>
          <p:cNvPr id="6" name="">
            <a:extLst xmlns:a="http://schemas.openxmlformats.org/drawingml/2006/main">
              <a:ext uri="{FF2B5EF4-FFF2-40B4-BE49-F238E27FC236}">
                <a16:creationId xmlns:a16="http://schemas.microsoft.com/office/drawing/2014/main" id="{079965DA-4FD9-4B95-B521-B67588178154}"/>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predict applies the fitted model to new inputs.</a:t>
            </a:r>
          </a:p>
        </p:txBody>
      </p:sp>
      <p:sp>
        <p:nvSpPr>
          <p:cNvPr id="7" name="">
            <a:extLst xmlns:a="http://schemas.openxmlformats.org/drawingml/2006/main">
              <a:ext uri="{FF2B5EF4-FFF2-40B4-BE49-F238E27FC236}">
                <a16:creationId xmlns:a16="http://schemas.microsoft.com/office/drawing/2014/main" id="{FE9EE58E-2E43-4FBA-BDDF-EA8852D6D918}"/>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keep indentation. Run after all parts are entered.</a:t>
            </a:r>
          </a:p>
        </p:txBody>
      </p:sp>
      <p:sp>
        <p:nvSpPr>
          <p:cNvPr id="8" name="">
            <a:extLst xmlns:a="http://schemas.openxmlformats.org/drawingml/2006/main">
              <a:ext uri="{FF2B5EF4-FFF2-40B4-BE49-F238E27FC236}">
                <a16:creationId xmlns:a16="http://schemas.microsoft.com/office/drawing/2014/main" id="{3F860F58-A74A-4AD0-8738-1317C561F1F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20</a:t>
            </a:r>
          </a:p>
        </p:txBody>
      </p:sp>
    </p:spTree>
    <p:extLst>
      <p:ext uri="{BB962C8B-B14F-4D97-AF65-F5344CB8AC3E}">
        <p14:creationId xmlns:p14="http://schemas.microsoft.com/office/powerpoint/2010/main" val="1539483687"/>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A81F306-2F84-48CB-90DB-B95E1D78A6D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B5E9187-311B-489B-AD4B-DC368A2B02C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11B510A3-EA5B-42ED-99E0-F0D3262F712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Words we will use</a:t>
            </a:r>
          </a:p>
        </p:txBody>
      </p:sp>
      <p:sp>
        <p:nvSpPr>
          <p:cNvPr id="4" name="">
            <a:extLst xmlns:a="http://schemas.openxmlformats.org/drawingml/2006/main">
              <a:ext uri="{FF2B5EF4-FFF2-40B4-BE49-F238E27FC236}">
                <a16:creationId xmlns:a16="http://schemas.microsoft.com/office/drawing/2014/main" id="{14ED8078-8827-4301-A341-7DA56B5BB610}"/>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6DC947D-29B0-4650-9E16-C8FAA96BC7F7}"/>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Encoding</a:t>
            </a:r>
          </a:p>
        </p:txBody>
      </p:sp>
      <p:sp>
        <p:nvSpPr>
          <p:cNvPr id="6" name="">
            <a:extLst xmlns:a="http://schemas.openxmlformats.org/drawingml/2006/main">
              <a:ext uri="{FF2B5EF4-FFF2-40B4-BE49-F238E27FC236}">
                <a16:creationId xmlns:a16="http://schemas.microsoft.com/office/drawing/2014/main" id="{C1DB068A-51AF-47D9-BAB5-41060F6CB183}"/>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Representing a category numerically. One-hot uses separate indicator columns. Arbitrary integer labels can falsely suggest an order.</a:t>
            </a:r>
          </a:p>
        </p:txBody>
      </p:sp>
      <p:sp>
        <p:nvSpPr>
          <p:cNvPr id="7" name="">
            <a:extLst xmlns:a="http://schemas.openxmlformats.org/drawingml/2006/main">
              <a:ext uri="{FF2B5EF4-FFF2-40B4-BE49-F238E27FC236}">
                <a16:creationId xmlns:a16="http://schemas.microsoft.com/office/drawing/2014/main" id="{3AEA3878-D2E4-4D23-B705-A1B347672553}"/>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6401739E-84B0-4E89-B509-1954D6326D07}"/>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Scaling</a:t>
            </a:r>
          </a:p>
        </p:txBody>
      </p:sp>
      <p:sp>
        <p:nvSpPr>
          <p:cNvPr id="9" name="">
            <a:extLst xmlns:a="http://schemas.openxmlformats.org/drawingml/2006/main">
              <a:ext uri="{FF2B5EF4-FFF2-40B4-BE49-F238E27FC236}">
                <a16:creationId xmlns:a16="http://schemas.microsoft.com/office/drawing/2014/main" id="{973636A3-4473-42C3-AC3C-574D1074D03D}"/>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Changing the numerical scale of features. Fit learned scaling on training data only. It matters for distance-based models but is not required by ordinary decision trees.</a:t>
            </a:r>
          </a:p>
        </p:txBody>
      </p:sp>
      <p:sp>
        <p:nvSpPr>
          <p:cNvPr id="10" name="">
            <a:extLst xmlns:a="http://schemas.openxmlformats.org/drawingml/2006/main">
              <a:ext uri="{FF2B5EF4-FFF2-40B4-BE49-F238E27FC236}">
                <a16:creationId xmlns:a16="http://schemas.microsoft.com/office/drawing/2014/main" id="{2F2016CE-A0A6-45F8-8AA7-034B84FF8ED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21</a:t>
            </a:r>
          </a:p>
        </p:txBody>
      </p:sp>
    </p:spTree>
    <p:extLst>
      <p:ext uri="{BB962C8B-B14F-4D97-AF65-F5344CB8AC3E}">
        <p14:creationId xmlns:p14="http://schemas.microsoft.com/office/powerpoint/2010/main" val="445554097"/>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49DD2DD-3941-44B4-8D35-444D08E184C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200AFAD-2522-4440-8A26-BD1AB02F476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TRY IT TOGETHER   5 MINUTES</a:t>
            </a:r>
          </a:p>
        </p:txBody>
      </p:sp>
      <p:sp>
        <p:nvSpPr>
          <p:cNvPr id="3" name="">
            <a:extLst xmlns:a="http://schemas.openxmlformats.org/drawingml/2006/main">
              <a:ext uri="{FF2B5EF4-FFF2-40B4-BE49-F238E27FC236}">
                <a16:creationId xmlns:a16="http://schemas.microsoft.com/office/drawing/2014/main" id="{187D1D57-E164-4C80-8AB4-E6DB010641E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 are the feature reviewer</a:t>
            </a:r>
          </a:p>
        </p:txBody>
      </p:sp>
      <p:sp>
        <p:nvSpPr>
          <p:cNvPr id="4" name="">
            <a:extLst xmlns:a="http://schemas.openxmlformats.org/drawingml/2006/main">
              <a:ext uri="{FF2B5EF4-FFF2-40B4-BE49-F238E27FC236}">
                <a16:creationId xmlns:a16="http://schemas.microsoft.com/office/drawing/2014/main" id="{50BF3822-65EB-45D3-BE62-5B023AE06259}"/>
              </a:ext>
            </a:extLst>
          </p:cNvPr>
          <p:cNvSpPr>
            <a:spLocks xmlns:a="http://schemas.openxmlformats.org/drawingml/2006/main" noGrp="1"/>
          </p:cNvSpPr>
          <p:nvPr/>
        </p:nvSpPr>
        <p:spPr>
          <a:xfrm xmlns:a="http://schemas.openxmlformats.org/drawingml/2006/main">
            <a:off x="619125" y="1809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C0ED57B-713E-4BED-9324-5FD8AF84F7FA}"/>
              </a:ext>
            </a:extLst>
          </p:cNvPr>
          <p:cNvSpPr>
            <a:spLocks xmlns:a="http://schemas.openxmlformats.org/drawingml/2006/main" noGrp="1"/>
          </p:cNvSpPr>
          <p:nvPr/>
        </p:nvSpPr>
        <p:spPr>
          <a:xfrm xmlns:a="http://schemas.openxmlformats.org/drawingml/2006/main">
            <a:off x="1409700" y="1809750"/>
            <a:ext cx="100012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Write base error 3.0 and extended error 2.5.</a:t>
            </a:r>
          </a:p>
        </p:txBody>
      </p:sp>
      <p:sp>
        <p:nvSpPr>
          <p:cNvPr id="6" name="">
            <a:extLst xmlns:a="http://schemas.openxmlformats.org/drawingml/2006/main">
              <a:ext uri="{FF2B5EF4-FFF2-40B4-BE49-F238E27FC236}">
                <a16:creationId xmlns:a16="http://schemas.microsoft.com/office/drawing/2014/main" id="{DC142A89-54CF-45FD-98F1-854CC8CC75C5}"/>
              </a:ext>
            </a:extLst>
          </p:cNvPr>
          <p:cNvSpPr>
            <a:spLocks xmlns:a="http://schemas.openxmlformats.org/drawingml/2006/main" noGrp="1"/>
          </p:cNvSpPr>
          <p:nvPr/>
        </p:nvSpPr>
        <p:spPr>
          <a:xfrm xmlns:a="http://schemas.openxmlformats.org/drawingml/2006/main">
            <a:off x="619125" y="31432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51536E1-3440-4EC8-8C5A-D04D030ABC9F}"/>
              </a:ext>
            </a:extLst>
          </p:cNvPr>
          <p:cNvSpPr>
            <a:spLocks xmlns:a="http://schemas.openxmlformats.org/drawingml/2006/main" noGrp="1"/>
          </p:cNvSpPr>
          <p:nvPr/>
        </p:nvSpPr>
        <p:spPr>
          <a:xfrm xmlns:a="http://schemas.openxmlformats.org/drawingml/2006/main">
            <a:off x="1409700" y="3143250"/>
            <a:ext cx="100012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Calculate base minus extended, using the same target unit.</a:t>
            </a:r>
          </a:p>
        </p:txBody>
      </p:sp>
      <p:sp>
        <p:nvSpPr>
          <p:cNvPr id="8" name="">
            <a:extLst xmlns:a="http://schemas.openxmlformats.org/drawingml/2006/main">
              <a:ext uri="{FF2B5EF4-FFF2-40B4-BE49-F238E27FC236}">
                <a16:creationId xmlns:a16="http://schemas.microsoft.com/office/drawing/2014/main" id="{F93B7ABE-9FEF-4C26-86E0-A080AAEA42FD}"/>
              </a:ext>
            </a:extLst>
          </p:cNvPr>
          <p:cNvSpPr>
            <a:spLocks xmlns:a="http://schemas.openxmlformats.org/drawingml/2006/main" noGrp="1"/>
          </p:cNvSpPr>
          <p:nvPr/>
        </p:nvSpPr>
        <p:spPr>
          <a:xfrm xmlns:a="http://schemas.openxmlformats.org/drawingml/2006/main">
            <a:off x="619125" y="447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65F8111-CCFF-4455-A8F9-F03B86E2F416}"/>
              </a:ext>
            </a:extLst>
          </p:cNvPr>
          <p:cNvSpPr>
            <a:spLocks xmlns:a="http://schemas.openxmlformats.org/drawingml/2006/main" noGrp="1"/>
          </p:cNvSpPr>
          <p:nvPr/>
        </p:nvSpPr>
        <p:spPr>
          <a:xfrm xmlns:a="http://schemas.openxmlformats.org/drawingml/2006/main">
            <a:off x="1409700" y="4476750"/>
            <a:ext cx="100012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Change only extended error to 3.4. Does the conclusion stay the same?</a:t>
            </a:r>
          </a:p>
        </p:txBody>
      </p:sp>
      <p:sp>
        <p:nvSpPr>
          <p:cNvPr id="10" name="">
            <a:extLst xmlns:a="http://schemas.openxmlformats.org/drawingml/2006/main">
              <a:ext uri="{FF2B5EF4-FFF2-40B4-BE49-F238E27FC236}">
                <a16:creationId xmlns:a16="http://schemas.microsoft.com/office/drawing/2014/main" id="{B758A979-B8B3-40FD-84AF-D3593DE76EE2}"/>
              </a:ext>
            </a:extLst>
          </p:cNvPr>
          <p:cNvSpPr>
            <a:spLocks xmlns:a="http://schemas.openxmlformats.org/drawingml/2006/main" noGrp="1"/>
          </p:cNvSpPr>
          <p:nvPr/>
        </p:nvSpPr>
        <p:spPr>
          <a:xfrm xmlns:a="http://schemas.openxmlformats.org/drawingml/2006/main">
            <a:off x="0" y="5915025"/>
            <a:ext cx="12191695" cy="4667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76D794B-F2C8-4400-8F4C-3FD193A133FD}"/>
              </a:ext>
            </a:extLst>
          </p:cNvPr>
          <p:cNvSpPr>
            <a:spLocks xmlns:a="http://schemas.openxmlformats.org/drawingml/2006/main" noGrp="1"/>
          </p:cNvSpPr>
          <p:nvPr/>
        </p:nvSpPr>
        <p:spPr>
          <a:xfrm xmlns:a="http://schemas.openxmlformats.org/drawingml/2006/main">
            <a:off x="619125" y="598170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One partner acts. One partner checks. Then swap roles.</a:t>
            </a:r>
          </a:p>
        </p:txBody>
      </p:sp>
      <p:sp>
        <p:nvSpPr>
          <p:cNvPr id="12" name="">
            <a:extLst xmlns:a="http://schemas.openxmlformats.org/drawingml/2006/main">
              <a:ext uri="{FF2B5EF4-FFF2-40B4-BE49-F238E27FC236}">
                <a16:creationId xmlns:a16="http://schemas.microsoft.com/office/drawing/2014/main" id="{A50A55EE-9A35-407E-B31B-27191BD1C96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22</a:t>
            </a:r>
          </a:p>
        </p:txBody>
      </p:sp>
    </p:spTree>
    <p:extLst>
      <p:ext uri="{BB962C8B-B14F-4D97-AF65-F5344CB8AC3E}">
        <p14:creationId xmlns:p14="http://schemas.microsoft.com/office/powerpoint/2010/main" val="894835175"/>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236CDBB-AA4A-4C4F-87EC-5D8AADBA69C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5F92B11-74DC-4136-9CFC-95A6B4BD4A1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DISCUSS THE REASONING</a:t>
            </a:r>
          </a:p>
        </p:txBody>
      </p:sp>
      <p:sp>
        <p:nvSpPr>
          <p:cNvPr id="3" name="">
            <a:extLst xmlns:a="http://schemas.openxmlformats.org/drawingml/2006/main">
              <a:ext uri="{FF2B5EF4-FFF2-40B4-BE49-F238E27FC236}">
                <a16:creationId xmlns:a16="http://schemas.microsoft.com/office/drawing/2014/main" id="{5C8B2A1A-660C-4C71-B4B4-C9178991902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What the activity shows</a:t>
            </a:r>
          </a:p>
        </p:txBody>
      </p:sp>
      <p:sp>
        <p:nvSpPr>
          <p:cNvPr id="4" name="">
            <a:extLst xmlns:a="http://schemas.openxmlformats.org/drawingml/2006/main">
              <a:ext uri="{FF2B5EF4-FFF2-40B4-BE49-F238E27FC236}">
                <a16:creationId xmlns:a16="http://schemas.microsoft.com/office/drawing/2014/main" id="{0E96289F-8A0D-4C1A-8618-4AD703508E5E}"/>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7C64493-FACF-4CF9-8B8B-5EFAA7C26E45}"/>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2E7D6F"/>
                </a:solidFill>
                <a:latin typeface="Calibri"/>
                <a:ea typeface="Calibri"/>
                <a:cs typeface="Calibri"/>
              </a:defRPr>
            </a:pPr>
            <a:r>
              <a:rPr sz="3150" b="1">
                <a:solidFill>
                  <a:srgbClr val="2E7D6F"/>
                </a:solidFill>
                <a:latin typeface="Calibri"/>
                <a:ea typeface="Calibri"/>
                <a:cs typeface="Calibri"/>
              </a:rPr>
              <a:t>Improvement changes from +0.5 to -0.4. The second comparison does not support retaining the feature.</a:t>
            </a:r>
          </a:p>
        </p:txBody>
      </p:sp>
      <p:sp>
        <p:nvSpPr>
          <p:cNvPr id="6" name="">
            <a:extLst xmlns:a="http://schemas.openxmlformats.org/drawingml/2006/main">
              <a:ext uri="{FF2B5EF4-FFF2-40B4-BE49-F238E27FC236}">
                <a16:creationId xmlns:a16="http://schemas.microsoft.com/office/drawing/2014/main" id="{17783317-82B4-4861-A7E7-76FAC5A2D193}"/>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5C4A2A1B-7025-41F2-A721-2DEA059431D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23</a:t>
            </a:r>
          </a:p>
        </p:txBody>
      </p:sp>
    </p:spTree>
    <p:extLst>
      <p:ext uri="{BB962C8B-B14F-4D97-AF65-F5344CB8AC3E}">
        <p14:creationId xmlns:p14="http://schemas.microsoft.com/office/powerpoint/2010/main" val="302280315"/>
      </p:ext>
    </p:extLst>
  </p:cSld>
</p:sld>
</file>

<file path=ppt/slides/slide24.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F98AF6F-86D0-4694-8A10-764765047AE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PREDICT BEFORE RUNNING</a:t>
            </a:r>
          </a:p>
        </p:txBody>
      </p:sp>
      <p:sp>
        <p:nvSpPr>
          <p:cNvPr id="2" name="">
            <a:extLst xmlns:a="http://schemas.openxmlformats.org/drawingml/2006/main">
              <a:ext uri="{FF2B5EF4-FFF2-40B4-BE49-F238E27FC236}">
                <a16:creationId xmlns:a16="http://schemas.microsoft.com/office/drawing/2014/main" id="{EC19A1BC-E2EE-4F77-8BB7-B1DB7306CDA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turn</a:t>
            </a:r>
          </a:p>
        </p:txBody>
      </p:sp>
      <p:sp>
        <p:nvSpPr>
          <p:cNvPr id="3" name="">
            <a:extLst xmlns:a="http://schemas.openxmlformats.org/drawingml/2006/main">
              <a:ext uri="{FF2B5EF4-FFF2-40B4-BE49-F238E27FC236}">
                <a16:creationId xmlns:a16="http://schemas.microsoft.com/office/drawing/2014/main" id="{7779FF78-93A5-4456-9A92-BC689FFE487D}"/>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YOUR TURN</a:t>
            </a:r>
          </a:p>
        </p:txBody>
      </p:sp>
      <p:sp>
        <p:nvSpPr>
          <p:cNvPr id="4" name="">
            <a:extLst xmlns:a="http://schemas.openxmlformats.org/drawingml/2006/main">
              <a:ext uri="{FF2B5EF4-FFF2-40B4-BE49-F238E27FC236}">
                <a16:creationId xmlns:a16="http://schemas.microsoft.com/office/drawing/2014/main" id="{FEEA3FE8-2572-440A-93C0-47DA43801B9A}"/>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If the extended error becomes 3.4, calculate improvement and decide whether this evidence supports retaining the feature.</a:t>
            </a:r>
          </a:p>
        </p:txBody>
      </p:sp>
      <p:sp>
        <p:nvSpPr>
          <p:cNvPr id="5" name="">
            <a:extLst xmlns:a="http://schemas.openxmlformats.org/drawingml/2006/main">
              <a:ext uri="{FF2B5EF4-FFF2-40B4-BE49-F238E27FC236}">
                <a16:creationId xmlns:a16="http://schemas.microsoft.com/office/drawing/2014/main" id="{BD5DFCE9-F32D-4553-8AE9-0CD9DBBD756E}"/>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Think alone first. Then compare your reasoning with a partner.</a:t>
            </a:r>
          </a:p>
        </p:txBody>
      </p:sp>
      <p:sp>
        <p:nvSpPr>
          <p:cNvPr id="6" name="">
            <a:extLst xmlns:a="http://schemas.openxmlformats.org/drawingml/2006/main">
              <a:ext uri="{FF2B5EF4-FFF2-40B4-BE49-F238E27FC236}">
                <a16:creationId xmlns:a16="http://schemas.microsoft.com/office/drawing/2014/main" id="{5A93A854-2572-46E2-B77B-C4ED88FB835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CML3113   Week 11   24</a:t>
            </a:r>
          </a:p>
        </p:txBody>
      </p:sp>
    </p:spTree>
    <p:extLst>
      <p:ext uri="{BB962C8B-B14F-4D97-AF65-F5344CB8AC3E}">
        <p14:creationId xmlns:p14="http://schemas.microsoft.com/office/powerpoint/2010/main" val="288749420"/>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B84C1EA-2586-4606-8C8C-26D9328D032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6BBBE60-23F8-4969-A1F3-EE771C9444F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DISCUSS THE REASONING</a:t>
            </a:r>
          </a:p>
        </p:txBody>
      </p:sp>
      <p:sp>
        <p:nvSpPr>
          <p:cNvPr id="3" name="">
            <a:extLst xmlns:a="http://schemas.openxmlformats.org/drawingml/2006/main">
              <a:ext uri="{FF2B5EF4-FFF2-40B4-BE49-F238E27FC236}">
                <a16:creationId xmlns:a16="http://schemas.microsoft.com/office/drawing/2014/main" id="{5D46D007-4569-4F7D-BE32-ACEBCC6CDCA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Practice discussion</a:t>
            </a:r>
          </a:p>
        </p:txBody>
      </p:sp>
      <p:sp>
        <p:nvSpPr>
          <p:cNvPr id="4" name="">
            <a:extLst xmlns:a="http://schemas.openxmlformats.org/drawingml/2006/main">
              <a:ext uri="{FF2B5EF4-FFF2-40B4-BE49-F238E27FC236}">
                <a16:creationId xmlns:a16="http://schemas.microsoft.com/office/drawing/2014/main" id="{84591DEC-0CA8-4D0E-8299-D79E84D21E8A}"/>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88355C3-4E95-4C6D-9D96-82A6954F7F05}"/>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1">
                <a:solidFill>
                  <a:srgbClr val="2E7D6F"/>
                </a:solidFill>
                <a:latin typeface="Calibri"/>
                <a:ea typeface="Calibri"/>
                <a:cs typeface="Calibri"/>
              </a:defRPr>
            </a:pPr>
            <a:r>
              <a:rPr sz="2400" b="1">
                <a:solidFill>
                  <a:srgbClr val="2E7D6F"/>
                </a:solidFill>
                <a:latin typeface="Calibri"/>
                <a:ea typeface="Calibri"/>
                <a:cs typeface="Calibri"/>
              </a:rPr>
              <a:t>Improvement is -0.4. This validation comparison does not support retaining it. One split is limited evidence; the final test remains untouched.</a:t>
            </a:r>
          </a:p>
        </p:txBody>
      </p:sp>
      <p:sp>
        <p:nvSpPr>
          <p:cNvPr id="6" name="">
            <a:extLst xmlns:a="http://schemas.openxmlformats.org/drawingml/2006/main">
              <a:ext uri="{FF2B5EF4-FFF2-40B4-BE49-F238E27FC236}">
                <a16:creationId xmlns:a16="http://schemas.microsoft.com/office/drawing/2014/main" id="{D4FE5829-8AC5-4323-ADF2-CF28AD2A2C28}"/>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98AE9EF4-7D05-4782-878A-D588323241D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25</a:t>
            </a:r>
          </a:p>
        </p:txBody>
      </p:sp>
    </p:spTree>
    <p:extLst>
      <p:ext uri="{BB962C8B-B14F-4D97-AF65-F5344CB8AC3E}">
        <p14:creationId xmlns:p14="http://schemas.microsoft.com/office/powerpoint/2010/main" val="102582794"/>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CB2D3A4B-829C-4810-AC2E-8C4DEE9573A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6DED54F-4AD8-43D7-B1BB-87BBEBF55A1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56ABA55C-7521-4D8F-B216-3095D05ED32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a:t>
            </a:r>
          </a:p>
        </p:txBody>
      </p:sp>
      <p:sp>
        <p:nvSpPr>
          <p:cNvPr id="4" name="">
            <a:extLst xmlns:a="http://schemas.openxmlformats.org/drawingml/2006/main">
              <a:ext uri="{FF2B5EF4-FFF2-40B4-BE49-F238E27FC236}">
                <a16:creationId xmlns:a16="http://schemas.microsoft.com/office/drawing/2014/main" id="{F772D9C5-01D0-48E6-8B92-8827FA74B08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E1E5D2B-4CB7-49B4-9326-0864B27B35B1}"/>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W11 names four output features and a two-model ablation.</a:t>
            </a:r>
          </a:p>
        </p:txBody>
      </p:sp>
      <p:sp>
        <p:nvSpPr>
          <p:cNvPr id="6" name="">
            <a:extLst xmlns:a="http://schemas.openxmlformats.org/drawingml/2006/main">
              <a:ext uri="{FF2B5EF4-FFF2-40B4-BE49-F238E27FC236}">
                <a16:creationId xmlns:a16="http://schemas.microsoft.com/office/drawing/2014/main" id="{4184EFE2-7136-4A41-A4E2-DFFA39DACBB6}"/>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CD35E6F-0596-45C7-8679-ABECBAB0AB0D}"/>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output order, preservation of input rows, full precision and training-only fitting.</a:t>
            </a:r>
          </a:p>
        </p:txBody>
      </p:sp>
      <p:sp>
        <p:nvSpPr>
          <p:cNvPr id="8" name="">
            <a:extLst xmlns:a="http://schemas.openxmlformats.org/drawingml/2006/main">
              <a:ext uri="{FF2B5EF4-FFF2-40B4-BE49-F238E27FC236}">
                <a16:creationId xmlns:a16="http://schemas.microsoft.com/office/drawing/2014/main" id="{544517FC-049B-48C0-A98D-E031C5400BD8}"/>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7D866A5-6F06-49FF-B96C-6A4341187C17}"/>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supplied written scenario for the interpretation requested there.</a:t>
            </a:r>
          </a:p>
        </p:txBody>
      </p:sp>
      <p:sp>
        <p:nvSpPr>
          <p:cNvPr id="10" name="">
            <a:extLst xmlns:a="http://schemas.openxmlformats.org/drawingml/2006/main">
              <a:ext uri="{FF2B5EF4-FFF2-40B4-BE49-F238E27FC236}">
                <a16:creationId xmlns:a16="http://schemas.microsoft.com/office/drawing/2014/main" id="{6C3FBC9E-A9E8-4085-9D74-D20C3B2936D4}"/>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001BF0D6-1B04-4AF2-A49F-E5FBA2A1E3D0}"/>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Do not substitute this practice example’s result.</a:t>
            </a:r>
          </a:p>
        </p:txBody>
      </p:sp>
      <p:sp>
        <p:nvSpPr>
          <p:cNvPr id="12" name="">
            <a:extLst xmlns:a="http://schemas.openxmlformats.org/drawingml/2006/main">
              <a:ext uri="{FF2B5EF4-FFF2-40B4-BE49-F238E27FC236}">
                <a16:creationId xmlns:a16="http://schemas.microsoft.com/office/drawing/2014/main" id="{DB880DC8-4870-454E-AAA6-E2B3EF0A58D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26</a:t>
            </a:r>
          </a:p>
        </p:txBody>
      </p:sp>
    </p:spTree>
    <p:extLst>
      <p:ext uri="{BB962C8B-B14F-4D97-AF65-F5344CB8AC3E}">
        <p14:creationId xmlns:p14="http://schemas.microsoft.com/office/powerpoint/2010/main" val="1322427059"/>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8332B85-9ED5-4AF4-BB9A-C4E03A7CAA4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6E8C4C4-57AB-4CDF-B94A-3A476068947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141AA73-4E5D-4518-A644-9B7778C3444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Features without misleading evaluation</a:t>
            </a:r>
          </a:p>
        </p:txBody>
      </p:sp>
      <p:sp>
        <p:nvSpPr>
          <p:cNvPr id="4" name="">
            <a:extLst xmlns:a="http://schemas.openxmlformats.org/drawingml/2006/main">
              <a:ext uri="{FF2B5EF4-FFF2-40B4-BE49-F238E27FC236}">
                <a16:creationId xmlns:a16="http://schemas.microsoft.com/office/drawing/2014/main" id="{29376941-3B3B-446D-AFC7-CC54DF9FD05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1FDFEC7-829E-428B-B48F-DBC527D88E4D}"/>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Rescaling an input usually does not change the partitions available to an ordinary decision tree.</a:t>
            </a:r>
          </a:p>
        </p:txBody>
      </p:sp>
      <p:sp>
        <p:nvSpPr>
          <p:cNvPr id="6" name="">
            <a:extLst xmlns:a="http://schemas.openxmlformats.org/drawingml/2006/main">
              <a:ext uri="{FF2B5EF4-FFF2-40B4-BE49-F238E27FC236}">
                <a16:creationId xmlns:a16="http://schemas.microsoft.com/office/drawing/2014/main" id="{271DF6FD-67A8-4DE9-9457-3DEFA3E2BFDA}"/>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27BF67C-78C4-4157-AA4B-FC1DB99B1600}"/>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identifier or a future-known field can create an apparent improvement without useful predictive information.</a:t>
            </a:r>
          </a:p>
        </p:txBody>
      </p:sp>
      <p:sp>
        <p:nvSpPr>
          <p:cNvPr id="8" name="">
            <a:extLst xmlns:a="http://schemas.openxmlformats.org/drawingml/2006/main">
              <a:ext uri="{FF2B5EF4-FFF2-40B4-BE49-F238E27FC236}">
                <a16:creationId xmlns:a16="http://schemas.microsoft.com/office/drawing/2014/main" id="{58E36D5E-2F1F-4A97-AEF4-32103DCB5AB3}"/>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8E06C09-652E-4AA9-A77B-4D5DDD73737E}"/>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Dividing by zero can produce infinity or an error; decide what the denominator means before replacing it.</a:t>
            </a:r>
          </a:p>
        </p:txBody>
      </p:sp>
      <p:sp>
        <p:nvSpPr>
          <p:cNvPr id="10" name="">
            <a:extLst xmlns:a="http://schemas.openxmlformats.org/drawingml/2006/main">
              <a:ext uri="{FF2B5EF4-FFF2-40B4-BE49-F238E27FC236}">
                <a16:creationId xmlns:a16="http://schemas.microsoft.com/office/drawing/2014/main" id="{EEC49E15-4F2D-4E24-97A2-15A8CEF5377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27</a:t>
            </a:r>
          </a:p>
        </p:txBody>
      </p:sp>
    </p:spTree>
    <p:extLst>
      <p:ext uri="{BB962C8B-B14F-4D97-AF65-F5344CB8AC3E}">
        <p14:creationId xmlns:p14="http://schemas.microsoft.com/office/powerpoint/2010/main" val="1517235492"/>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89B15A3-D532-4D26-92D8-AE96277DA95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FCED272-1B2B-48E7-B362-44F2DA43246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CA1CF44-9DFE-491D-9209-BD6AB6A0414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Features without misleading evaluation continued</a:t>
            </a:r>
          </a:p>
        </p:txBody>
      </p:sp>
      <p:sp>
        <p:nvSpPr>
          <p:cNvPr id="4" name="">
            <a:extLst xmlns:a="http://schemas.openxmlformats.org/drawingml/2006/main">
              <a:ext uri="{FF2B5EF4-FFF2-40B4-BE49-F238E27FC236}">
                <a16:creationId xmlns:a16="http://schemas.microsoft.com/office/drawing/2014/main" id="{94D1CA2C-6742-4421-BCD3-A606F1A5D34C}"/>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8532F4C-7399-43EC-9D13-7F2B09123E17}"/>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Read ablation differences using the same error definition, and explain features using domain knowledge.</a:t>
            </a:r>
          </a:p>
        </p:txBody>
      </p:sp>
      <p:sp>
        <p:nvSpPr>
          <p:cNvPr id="6" name="">
            <a:extLst xmlns:a="http://schemas.openxmlformats.org/drawingml/2006/main">
              <a:ext uri="{FF2B5EF4-FFF2-40B4-BE49-F238E27FC236}">
                <a16:creationId xmlns:a16="http://schemas.microsoft.com/office/drawing/2014/main" id="{9B0E9243-6D1B-4A17-8BC9-92890E1EDB8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28</a:t>
            </a:r>
          </a:p>
        </p:txBody>
      </p:sp>
    </p:spTree>
    <p:extLst>
      <p:ext uri="{BB962C8B-B14F-4D97-AF65-F5344CB8AC3E}">
        <p14:creationId xmlns:p14="http://schemas.microsoft.com/office/powerpoint/2010/main" val="537264745"/>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5A8590C-22DE-46C4-AC24-C619520A4A8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6D5F927-A5B4-4A59-A8AA-44BAB4EF870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03C85710-6B01-42D2-93FD-35230B0946D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task</a:t>
            </a:r>
          </a:p>
        </p:txBody>
      </p:sp>
      <p:sp>
        <p:nvSpPr>
          <p:cNvPr id="4" name="">
            <a:extLst xmlns:a="http://schemas.openxmlformats.org/drawingml/2006/main">
              <a:ext uri="{FF2B5EF4-FFF2-40B4-BE49-F238E27FC236}">
                <a16:creationId xmlns:a16="http://schemas.microsoft.com/office/drawing/2014/main" id="{AE3850F7-1C6C-4C77-AD3E-19B256B690D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13ABD00-01E6-42FE-A1CF-1EECF42EA452}"/>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Investigate crusher energy demand.</a:t>
            </a:r>
          </a:p>
        </p:txBody>
      </p:sp>
      <p:sp>
        <p:nvSpPr>
          <p:cNvPr id="6" name="">
            <a:extLst xmlns:a="http://schemas.openxmlformats.org/drawingml/2006/main">
              <a:ext uri="{FF2B5EF4-FFF2-40B4-BE49-F238E27FC236}">
                <a16:creationId xmlns:a16="http://schemas.microsoft.com/office/drawing/2014/main" id="{26D7A7B5-AAB0-4D02-9185-31796DF7487D}"/>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9E24F9B-3EB1-4E92-B131-63662DB8623C}"/>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Target units: kWh/t.</a:t>
            </a:r>
          </a:p>
        </p:txBody>
      </p:sp>
      <p:sp>
        <p:nvSpPr>
          <p:cNvPr id="8" name="">
            <a:extLst xmlns:a="http://schemas.openxmlformats.org/drawingml/2006/main">
              <a:ext uri="{FF2B5EF4-FFF2-40B4-BE49-F238E27FC236}">
                <a16:creationId xmlns:a16="http://schemas.microsoft.com/office/drawing/2014/main" id="{760BA6BD-899E-4D3E-8E34-3E324773F708}"/>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8741F3E-04FC-4C21-B76F-B709773E31A6}"/>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are synthetic teaching records, not measurements suitable for deployment.</a:t>
            </a:r>
          </a:p>
        </p:txBody>
      </p:sp>
      <p:sp>
        <p:nvSpPr>
          <p:cNvPr id="10" name="">
            <a:extLst xmlns:a="http://schemas.openxmlformats.org/drawingml/2006/main">
              <a:ext uri="{FF2B5EF4-FFF2-40B4-BE49-F238E27FC236}">
                <a16:creationId xmlns:a16="http://schemas.microsoft.com/office/drawing/2014/main" id="{2C0E1721-D7D5-4ED2-92A1-3D771FA7BCEA}"/>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1DB9A743-9C0A-45CC-8030-8957B5CA9C43}"/>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record is one operating observation; equipment_id repeats across observations.</a:t>
            </a:r>
          </a:p>
        </p:txBody>
      </p:sp>
      <p:sp>
        <p:nvSpPr>
          <p:cNvPr id="12" name="">
            <a:extLst xmlns:a="http://schemas.openxmlformats.org/drawingml/2006/main">
              <a:ext uri="{FF2B5EF4-FFF2-40B4-BE49-F238E27FC236}">
                <a16:creationId xmlns:a16="http://schemas.microsoft.com/office/drawing/2014/main" id="{8A0C6DFB-9C13-47E7-99C9-E1B927EBC7F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29</a:t>
            </a:r>
          </a:p>
        </p:txBody>
      </p:sp>
    </p:spTree>
    <p:extLst>
      <p:ext uri="{BB962C8B-B14F-4D97-AF65-F5344CB8AC3E}">
        <p14:creationId xmlns:p14="http://schemas.microsoft.com/office/powerpoint/2010/main" val="1560111180"/>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7BF5B32-B04C-4702-A8D5-15DA474C899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5FCE1FA-17F2-479A-BDBB-4CFDFC3157B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5385B59B-01CC-4F42-83E4-B85374117D2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make_features(feature_records)</a:t>
            </a:r>
          </a:p>
        </p:txBody>
      </p:sp>
      <p:sp>
        <p:nvSpPr>
          <p:cNvPr id="4" name="">
            <a:extLst xmlns:a="http://schemas.openxmlformats.org/drawingml/2006/main">
              <a:ext uri="{FF2B5EF4-FFF2-40B4-BE49-F238E27FC236}">
                <a16:creationId xmlns:a16="http://schemas.microsoft.com/office/drawing/2014/main" id="{6EA04345-9315-4ED6-9F37-C2C3D1AFE998}"/>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4453AFB-B13A-4024-BE61-AC4D8A32F40E}"/>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one feature row per input, in order: [load_pct, ambient_c, load_pct/100, load_pct*ambient_c].</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Use inputs available at prediction time only.</a:t>
            </a:r>
          </a:p>
        </p:txBody>
      </p:sp>
      <p:sp>
        <p:nvSpPr>
          <p:cNvPr id="6" name="">
            <a:extLst xmlns:a="http://schemas.openxmlformats.org/drawingml/2006/main">
              <a:ext uri="{FF2B5EF4-FFF2-40B4-BE49-F238E27FC236}">
                <a16:creationId xmlns:a16="http://schemas.microsoft.com/office/drawing/2014/main" id="{7FCDC329-A10A-4CEB-BE46-B45568383CAE}"/>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2D1D1715-890B-4E5E-8871-DD40F1D71A4D}"/>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D21678C7-8B8E-4415-9F41-C679DBDD73C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30</a:t>
            </a:r>
          </a:p>
        </p:txBody>
      </p:sp>
    </p:spTree>
    <p:extLst>
      <p:ext uri="{BB962C8B-B14F-4D97-AF65-F5344CB8AC3E}">
        <p14:creationId xmlns:p14="http://schemas.microsoft.com/office/powerpoint/2010/main" val="1125840767"/>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2318AAC-6FF8-4B4D-9045-5BA164CB2E1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6CEFFE4-5DBC-4C9A-9C2C-65C8255B8B8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D94561BF-17B5-4F4C-949B-6A0FA4A1BE5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ablation_metrics(training_records, validation_records)</a:t>
            </a:r>
          </a:p>
        </p:txBody>
      </p:sp>
      <p:sp>
        <p:nvSpPr>
          <p:cNvPr id="4" name="">
            <a:extLst xmlns:a="http://schemas.openxmlformats.org/drawingml/2006/main">
              <a:ext uri="{FF2B5EF4-FFF2-40B4-BE49-F238E27FC236}">
                <a16:creationId xmlns:a16="http://schemas.microsoft.com/office/drawing/2014/main" id="{E02332E4-9295-4832-A056-5FBD444308AD}"/>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75EDD97-63DF-46FA-8F62-CE229468B4A7}"/>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C3144"/>
                </a:solidFill>
                <a:latin typeface="Calibri"/>
                <a:ea typeface="Calibri"/>
                <a:cs typeface="Calibri"/>
              </a:defRPr>
            </a:pPr>
            <a:r>
              <a:rPr sz="2175" b="0">
                <a:solidFill>
                  <a:srgbClr val="1C3144"/>
                </a:solidFill>
                <a:latin typeface="Calibri"/>
                <a:ea typeface="Calibri"/>
                <a:cs typeface="Calibri"/>
              </a:rPr>
              <a:t>Fit two sklearn LinearRegression models on the same training records: base features [load_pct, ambient_c] and extended features adding load_pct*ambient_c.</a:t>
            </a:r>
          </a:p>
          <a:p xmlns:a="http://schemas.openxmlformats.org/drawingml/2006/main">
            <a:r>
              <a:t/>
            </a:r>
          </a:p>
          <a:p xmlns:a="http://schemas.openxmlformats.org/drawingml/2006/main">
            <a:pPr>
              <a:defRPr sz="2175" b="0">
                <a:solidFill>
                  <a:srgbClr val="1C3144"/>
                </a:solidFill>
                <a:latin typeface="Calibri"/>
                <a:ea typeface="Calibri"/>
                <a:cs typeface="Calibri"/>
              </a:defRPr>
            </a:pPr>
            <a:r>
              <a:rPr sz="2175" b="0">
                <a:solidFill>
                  <a:srgbClr val="1C3144"/>
                </a:solidFill>
                <a:latin typeface="Calibri"/>
                <a:ea typeface="Calibri"/>
                <a:cs typeface="Calibri"/>
              </a:rPr>
              <a:t>Evaluate both on the same validation records.</a:t>
            </a:r>
          </a:p>
          <a:p xmlns:a="http://schemas.openxmlformats.org/drawingml/2006/main">
            <a:r>
              <a:t/>
            </a:r>
          </a:p>
          <a:p xmlns:a="http://schemas.openxmlformats.org/drawingml/2006/main">
            <a:pPr>
              <a:defRPr sz="2175" b="0">
                <a:solidFill>
                  <a:srgbClr val="1C3144"/>
                </a:solidFill>
                <a:latin typeface="Calibri"/>
                <a:ea typeface="Calibri"/>
                <a:cs typeface="Calibri"/>
              </a:defRPr>
            </a:pPr>
            <a:r>
              <a:rPr sz="2175" b="0">
                <a:solidFill>
                  <a:srgbClr val="1C3144"/>
                </a:solidFill>
                <a:latin typeface="Calibri"/>
                <a:ea typeface="Calibri"/>
                <a:cs typeface="Calibri"/>
              </a:rPr>
              <a:t>Return base_mae, extended_mae and improvement=base_mae-extended_mae, without rounding.</a:t>
            </a:r>
          </a:p>
          <a:p xmlns:a="http://schemas.openxmlformats.org/drawingml/2006/main">
            <a:r>
              <a:t/>
            </a:r>
          </a:p>
          <a:p xmlns:a="http://schemas.openxmlformats.org/drawingml/2006/main">
            <a:pPr>
              <a:defRPr sz="2175" b="0">
                <a:solidFill>
                  <a:srgbClr val="1C3144"/>
                </a:solidFill>
                <a:latin typeface="Calibri"/>
                <a:ea typeface="Calibri"/>
                <a:cs typeface="Calibri"/>
              </a:defRPr>
            </a:pPr>
            <a:r>
              <a:rPr sz="2175" b="0">
                <a:solidFill>
                  <a:srgbClr val="1C3144"/>
                </a:solidFill>
                <a:latin typeface="Calibri"/>
                <a:ea typeface="Calibri"/>
                <a:cs typeface="Calibri"/>
              </a:rPr>
              <a:t>Inputs are complete; never fit on validation targets.</a:t>
            </a:r>
          </a:p>
        </p:txBody>
      </p:sp>
      <p:sp>
        <p:nvSpPr>
          <p:cNvPr id="6" name="">
            <a:extLst xmlns:a="http://schemas.openxmlformats.org/drawingml/2006/main">
              <a:ext uri="{FF2B5EF4-FFF2-40B4-BE49-F238E27FC236}">
                <a16:creationId xmlns:a16="http://schemas.microsoft.com/office/drawing/2014/main" id="{7F039B33-9B04-4CE9-A01F-23BB6F054DFD}"/>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3DA6AD9D-4D71-4A42-9D52-84A42C7678FD}"/>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D898FCD1-7D0C-431C-BDB8-B79A787E7F4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31</a:t>
            </a:r>
          </a:p>
        </p:txBody>
      </p:sp>
    </p:spTree>
    <p:extLst>
      <p:ext uri="{BB962C8B-B14F-4D97-AF65-F5344CB8AC3E}">
        <p14:creationId xmlns:p14="http://schemas.microsoft.com/office/powerpoint/2010/main" val="973751115"/>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A6B3AD1-D84C-4652-B6CC-37EB06BE455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78AF1B6-7702-4EC9-A5A7-81FEFF9AE80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1099B8EF-23D2-44E1-8556-A9DFDDD1A22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Written evidence</a:t>
            </a:r>
          </a:p>
        </p:txBody>
      </p:sp>
      <p:sp>
        <p:nvSpPr>
          <p:cNvPr id="4" name="">
            <a:extLst xmlns:a="http://schemas.openxmlformats.org/drawingml/2006/main">
              <a:ext uri="{FF2B5EF4-FFF2-40B4-BE49-F238E27FC236}">
                <a16:creationId xmlns:a16="http://schemas.microsoft.com/office/drawing/2014/main" id="{A682B97E-2389-416B-873E-F563D57FA37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19479AE-6A16-4AC9-804F-47F47191C941}"/>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cell headed “My written evidence”.</a:t>
            </a:r>
          </a:p>
        </p:txBody>
      </p:sp>
      <p:sp>
        <p:nvSpPr>
          <p:cNvPr id="6" name="">
            <a:extLst xmlns:a="http://schemas.openxmlformats.org/drawingml/2006/main">
              <a:ext uri="{FF2B5EF4-FFF2-40B4-BE49-F238E27FC236}">
                <a16:creationId xmlns:a16="http://schemas.microsoft.com/office/drawing/2014/main" id="{3ABA8E23-6FC6-43A2-99A2-881A40542B1E}"/>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A9AA8CF-EA7B-47F3-B2E2-6FC735E33CFF}"/>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supplied scenario in your own words.</a:t>
            </a:r>
          </a:p>
        </p:txBody>
      </p:sp>
      <p:sp>
        <p:nvSpPr>
          <p:cNvPr id="8" name="">
            <a:extLst xmlns:a="http://schemas.openxmlformats.org/drawingml/2006/main">
              <a:ext uri="{FF2B5EF4-FFF2-40B4-BE49-F238E27FC236}">
                <a16:creationId xmlns:a16="http://schemas.microsoft.com/office/drawing/2014/main" id="{80777233-BD5A-4A42-A7E1-60BB67C333F5}"/>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7FD2E7B-0BC1-4704-851F-E60F222E19DC}"/>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target units, reasons and limitations.</a:t>
            </a:r>
          </a:p>
        </p:txBody>
      </p:sp>
      <p:sp>
        <p:nvSpPr>
          <p:cNvPr id="10" name="">
            <a:extLst xmlns:a="http://schemas.openxmlformats.org/drawingml/2006/main">
              <a:ext uri="{FF2B5EF4-FFF2-40B4-BE49-F238E27FC236}">
                <a16:creationId xmlns:a16="http://schemas.microsoft.com/office/drawing/2014/main" id="{53F47A54-548B-4C72-B22B-6646A46573B2}"/>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61610602-6B6B-4CD8-891B-9595E9CA08A1}"/>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one complete notebook containing code and written evidence.</a:t>
            </a:r>
          </a:p>
        </p:txBody>
      </p:sp>
      <p:sp>
        <p:nvSpPr>
          <p:cNvPr id="12" name="">
            <a:extLst xmlns:a="http://schemas.openxmlformats.org/drawingml/2006/main">
              <a:ext uri="{FF2B5EF4-FFF2-40B4-BE49-F238E27FC236}">
                <a16:creationId xmlns:a16="http://schemas.microsoft.com/office/drawing/2014/main" id="{564E1B59-D8C3-4FB3-9AFC-4FF641A517F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32</a:t>
            </a:r>
          </a:p>
        </p:txBody>
      </p:sp>
    </p:spTree>
    <p:extLst>
      <p:ext uri="{BB962C8B-B14F-4D97-AF65-F5344CB8AC3E}">
        <p14:creationId xmlns:p14="http://schemas.microsoft.com/office/powerpoint/2010/main" val="446479558"/>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2A80C576-38AC-471E-AD35-794B0078CD9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FA93BBC-9A89-4E06-87EC-5F11F5C6ECF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CB1FE0FC-8ED5-42DE-A9B4-814F159349B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Features and ablation submission</a:t>
            </a:r>
          </a:p>
        </p:txBody>
      </p:sp>
      <p:sp>
        <p:nvSpPr>
          <p:cNvPr id="4" name="">
            <a:extLst xmlns:a="http://schemas.openxmlformats.org/drawingml/2006/main">
              <a:ext uri="{FF2B5EF4-FFF2-40B4-BE49-F238E27FC236}">
                <a16:creationId xmlns:a16="http://schemas.microsoft.com/office/drawing/2014/main" id="{0F4C7F6A-427F-4AA9-9E96-BD37EA76B34B}"/>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02B9551-CE7D-47A8-A18D-9A3DFD102FD9}"/>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20 Nov 2026, 08:00 Kampala</a:t>
            </a:r>
          </a:p>
        </p:txBody>
      </p:sp>
      <p:sp>
        <p:nvSpPr>
          <p:cNvPr id="6" name="">
            <a:extLst xmlns:a="http://schemas.openxmlformats.org/drawingml/2006/main">
              <a:ext uri="{FF2B5EF4-FFF2-40B4-BE49-F238E27FC236}">
                <a16:creationId xmlns:a16="http://schemas.microsoft.com/office/drawing/2014/main" id="{E7FACAE4-1217-48E8-A660-E48C2321BC2E}"/>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4D6224D-444A-42E9-AAB4-F33AA653FC02}"/>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27 Nov 2026, 08:00 Kampala</a:t>
            </a:r>
          </a:p>
        </p:txBody>
      </p:sp>
      <p:sp>
        <p:nvSpPr>
          <p:cNvPr id="8" name="">
            <a:extLst xmlns:a="http://schemas.openxmlformats.org/drawingml/2006/main">
              <a:ext uri="{FF2B5EF4-FFF2-40B4-BE49-F238E27FC236}">
                <a16:creationId xmlns:a16="http://schemas.microsoft.com/office/drawing/2014/main" id="{DF3B438C-E317-4BA8-9A14-12CA1EDFA607}"/>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2702789-AD24-467A-B1C7-162C989CE17C}"/>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99123ADC-73BB-4039-A325-5A40F4ECF4E9}"/>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CD70B230-14E9-4FF8-A690-2D3601177F6E}"/>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7011187B-19E4-4EAE-B70F-DF92FCB9E3A5}"/>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D1D9119E-8126-4DF9-9DBD-23A6D5D6FA27}"/>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1f71a576341b4d01"/>
              </a:rPr>
              <a:t>Open W11 assignment form</a:t>
            </a:r>
          </a:p>
        </p:txBody>
      </p:sp>
      <p:sp>
        <p:nvSpPr>
          <p:cNvPr id="14" name="">
            <a:extLst xmlns:a="http://schemas.openxmlformats.org/drawingml/2006/main">
              <a:ext uri="{FF2B5EF4-FFF2-40B4-BE49-F238E27FC236}">
                <a16:creationId xmlns:a16="http://schemas.microsoft.com/office/drawing/2014/main" id="{C5E3CFC8-04D1-45D4-B276-8A19CED05AB9}"/>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https://docs.google.com/forms/d/e/1FAIpQLSdxAosnTnoXrNZ7QCm8pPQuoa2KxsqFvu_PPsZIQGrJnHMw1g/viewform</a:t>
            </a:r>
          </a:p>
        </p:txBody>
      </p:sp>
      <p:sp>
        <p:nvSpPr>
          <p:cNvPr id="15" name="">
            <a:extLst xmlns:a="http://schemas.openxmlformats.org/drawingml/2006/main">
              <a:ext uri="{FF2B5EF4-FFF2-40B4-BE49-F238E27FC236}">
                <a16:creationId xmlns:a16="http://schemas.microsoft.com/office/drawing/2014/main" id="{82080C86-98D3-421E-8B35-AC386539983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33</a:t>
            </a:r>
          </a:p>
        </p:txBody>
      </p:sp>
    </p:spTree>
    <p:extLst>
      <p:ext uri="{BB962C8B-B14F-4D97-AF65-F5344CB8AC3E}">
        <p14:creationId xmlns:p14="http://schemas.microsoft.com/office/powerpoint/2010/main" val="1509076978"/>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FD2ABEC-9E1B-4DD3-9B58-EA24415F67E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669EEC1-F856-4086-9AD7-527474E93C4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E453D2EB-EDF5-48DF-84BB-38E7B69E004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Project preparation</a:t>
            </a:r>
          </a:p>
        </p:txBody>
      </p:sp>
      <p:sp>
        <p:nvSpPr>
          <p:cNvPr id="4" name="">
            <a:extLst xmlns:a="http://schemas.openxmlformats.org/drawingml/2006/main">
              <a:ext uri="{FF2B5EF4-FFF2-40B4-BE49-F238E27FC236}">
                <a16:creationId xmlns:a16="http://schemas.microsoft.com/office/drawing/2014/main" id="{A9751500-B255-4D72-9787-16C8A6017B3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42FCB7F-2B5F-4F3A-9636-4C6A68CAF159}"/>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published machine learning project brief.</a:t>
            </a:r>
          </a:p>
        </p:txBody>
      </p:sp>
      <p:sp>
        <p:nvSpPr>
          <p:cNvPr id="6" name="">
            <a:extLst xmlns:a="http://schemas.openxmlformats.org/drawingml/2006/main">
              <a:ext uri="{FF2B5EF4-FFF2-40B4-BE49-F238E27FC236}">
                <a16:creationId xmlns:a16="http://schemas.microsoft.com/office/drawing/2014/main" id="{ABF972FA-0406-435A-8A01-921CCC47053F}"/>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1BEA0F1-2D46-4400-9747-5CE817D35897}"/>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Build the evidence gradually in your project notebook.</a:t>
            </a:r>
          </a:p>
        </p:txBody>
      </p:sp>
      <p:sp>
        <p:nvSpPr>
          <p:cNvPr id="8" name="">
            <a:extLst xmlns:a="http://schemas.openxmlformats.org/drawingml/2006/main">
              <a:ext uri="{FF2B5EF4-FFF2-40B4-BE49-F238E27FC236}">
                <a16:creationId xmlns:a16="http://schemas.microsoft.com/office/drawing/2014/main" id="{1B13A194-3F48-4953-8841-5096D1D12BA0}"/>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443758F-F17D-4148-B5A8-5264B74B08D5}"/>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raw data, labelled charts, run instructions and individual contributions.</a:t>
            </a:r>
          </a:p>
        </p:txBody>
      </p:sp>
      <p:sp>
        <p:nvSpPr>
          <p:cNvPr id="10" name="">
            <a:extLst xmlns:a="http://schemas.openxmlformats.org/drawingml/2006/main">
              <a:ext uri="{FF2B5EF4-FFF2-40B4-BE49-F238E27FC236}">
                <a16:creationId xmlns:a16="http://schemas.microsoft.com/office/drawing/2014/main" id="{26D6A3DA-0FC3-486E-8A0F-8DAE061D5E69}"/>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2DAFCC7F-D310-49F9-BDC9-F6899CA8E0E0}"/>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Published deadline: 18 Dec 2026, 08:00 Kampala</a:t>
            </a:r>
          </a:p>
        </p:txBody>
      </p:sp>
      <p:sp>
        <p:nvSpPr>
          <p:cNvPr id="12" name="">
            <a:extLst xmlns:a="http://schemas.openxmlformats.org/drawingml/2006/main">
              <a:ext uri="{FF2B5EF4-FFF2-40B4-BE49-F238E27FC236}">
                <a16:creationId xmlns:a16="http://schemas.microsoft.com/office/drawing/2014/main" id="{AC7718D3-9E86-4852-93BE-85E21655782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34</a:t>
            </a:r>
          </a:p>
        </p:txBody>
      </p:sp>
    </p:spTree>
    <p:extLst>
      <p:ext uri="{BB962C8B-B14F-4D97-AF65-F5344CB8AC3E}">
        <p14:creationId xmlns:p14="http://schemas.microsoft.com/office/powerpoint/2010/main" val="1136129537"/>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67F35AAD-637D-4763-B6FF-E9AA3AC37D0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5AEADAC-41AD-449C-908A-7A37BC786BC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C63F2613-B358-4670-9F74-8C880136262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11 quiz</a:t>
            </a:r>
          </a:p>
        </p:txBody>
      </p:sp>
      <p:sp>
        <p:nvSpPr>
          <p:cNvPr id="4" name="">
            <a:extLst xmlns:a="http://schemas.openxmlformats.org/drawingml/2006/main">
              <a:ext uri="{FF2B5EF4-FFF2-40B4-BE49-F238E27FC236}">
                <a16:creationId xmlns:a16="http://schemas.microsoft.com/office/drawing/2014/main" id="{7F9782A9-9C22-4524-8328-0B64FB206589}"/>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32E6EF7-E39F-4718-8081-62143B9C98E9}"/>
              </a:ext>
            </a:extLst>
          </p:cNvPr>
          <p:cNvSpPr>
            <a:spLocks xmlns:a="http://schemas.openxmlformats.org/drawingml/2006/main" noGrp="1"/>
          </p:cNvSpPr>
          <p:nvPr/>
        </p:nvSpPr>
        <p:spPr>
          <a:xfrm xmlns:a="http://schemas.openxmlformats.org/drawingml/2006/main">
            <a:off x="1381125" y="1724025"/>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xmlns:a="http://schemas.openxmlformats.org/drawingml/2006/main">
              <a:ext uri="{FF2B5EF4-FFF2-40B4-BE49-F238E27FC236}">
                <a16:creationId xmlns:a16="http://schemas.microsoft.com/office/drawing/2014/main" id="{109503BD-22A4-44B3-9042-E7A9B7917640}"/>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BC59AB3-D16F-4841-BBB0-C502AC47634D}"/>
              </a:ext>
            </a:extLst>
          </p:cNvPr>
          <p:cNvSpPr>
            <a:spLocks xmlns:a="http://schemas.openxmlformats.org/drawingml/2006/main" noGrp="1"/>
          </p:cNvSpPr>
          <p:nvPr/>
        </p:nvSpPr>
        <p:spPr>
          <a:xfrm xmlns:a="http://schemas.openxmlformats.org/drawingml/2006/main">
            <a:off x="1381125" y="2521744"/>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xmlns:a="http://schemas.openxmlformats.org/drawingml/2006/main">
              <a:ext uri="{FF2B5EF4-FFF2-40B4-BE49-F238E27FC236}">
                <a16:creationId xmlns:a16="http://schemas.microsoft.com/office/drawing/2014/main" id="{2739E07E-7F18-4D03-8434-56035C60193B}"/>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2BD3D32-6F0E-413B-B60D-619684862433}"/>
              </a:ext>
            </a:extLst>
          </p:cNvPr>
          <p:cNvSpPr>
            <a:spLocks xmlns:a="http://schemas.openxmlformats.org/drawingml/2006/main" noGrp="1"/>
          </p:cNvSpPr>
          <p:nvPr/>
        </p:nvSpPr>
        <p:spPr>
          <a:xfrm xmlns:a="http://schemas.openxmlformats.org/drawingml/2006/main">
            <a:off x="1381125" y="3319463"/>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xmlns:a="http://schemas.openxmlformats.org/drawingml/2006/main">
              <a:ext uri="{FF2B5EF4-FFF2-40B4-BE49-F238E27FC236}">
                <a16:creationId xmlns:a16="http://schemas.microsoft.com/office/drawing/2014/main" id="{5085968C-7972-48F3-AD73-D5533E721421}"/>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BF443B2F-DBD8-4F50-BC64-00B11C9793E6}"/>
              </a:ext>
            </a:extLst>
          </p:cNvPr>
          <p:cNvSpPr>
            <a:spLocks xmlns:a="http://schemas.openxmlformats.org/drawingml/2006/main" noGrp="1"/>
          </p:cNvSpPr>
          <p:nvPr/>
        </p:nvSpPr>
        <p:spPr>
          <a:xfrm xmlns:a="http://schemas.openxmlformats.org/drawingml/2006/main">
            <a:off x="1381125" y="4117181"/>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lecturer will confirm the exact closing time.</a:t>
            </a:r>
          </a:p>
        </p:txBody>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c620aba98e4a4b33"/>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F6B89CE2-DC4D-45C9-ADEF-18BC463DCAE2}"/>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xmlns:a="http://schemas.openxmlformats.org/drawingml/2006/main">
              <a:ext uri="{FF2B5EF4-FFF2-40B4-BE49-F238E27FC236}">
                <a16:creationId xmlns:a16="http://schemas.microsoft.com/office/drawing/2014/main" id="{CD292E1F-1515-4FA7-BF9C-653A21A46F7D}"/>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37678E48-4312-442F-AB52-57DECA9C2447}"/>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f21ac9095cb1432f"/>
              </a:rPr>
              <a:t>Open this week’s quiz</a:t>
            </a:r>
          </a:p>
        </p:txBody>
      </p:sp>
      <p:sp>
        <p:nvSpPr>
          <p:cNvPr id="16" name="">
            <a:extLst xmlns:a="http://schemas.openxmlformats.org/drawingml/2006/main">
              <a:ext uri="{FF2B5EF4-FFF2-40B4-BE49-F238E27FC236}">
                <a16:creationId xmlns:a16="http://schemas.microsoft.com/office/drawing/2014/main" id="{34524806-A7E6-49AB-9F86-36C0ED0B32A3}"/>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https://forms.gle/3sf2d3vGXpJ4HtvP6</a:t>
            </a:r>
          </a:p>
        </p:txBody>
      </p:sp>
      <p:sp>
        <p:nvSpPr>
          <p:cNvPr id="17" name="">
            <a:extLst xmlns:a="http://schemas.openxmlformats.org/drawingml/2006/main">
              <a:ext uri="{FF2B5EF4-FFF2-40B4-BE49-F238E27FC236}">
                <a16:creationId xmlns:a16="http://schemas.microsoft.com/office/drawing/2014/main" id="{938EDE9A-1C2A-413C-AC8F-851287BB242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35</a:t>
            </a:r>
          </a:p>
        </p:txBody>
      </p:sp>
    </p:spTree>
    <p:extLst>
      <p:ext uri="{BB962C8B-B14F-4D97-AF65-F5344CB8AC3E}">
        <p14:creationId xmlns:p14="http://schemas.microsoft.com/office/powerpoint/2010/main" val="1849442024"/>
      </p:ext>
    </p:extLst>
  </p:cSld>
</p:sld>
</file>

<file path=ppt/slides/slide36.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942F6FE-7D88-472C-A9BA-E0065DC6DCC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91762DCC-1E86-4CB0-9B58-0769325A84C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Before you leave</a:t>
            </a:r>
          </a:p>
        </p:txBody>
      </p:sp>
      <p:sp>
        <p:nvSpPr>
          <p:cNvPr id="3" name="">
            <a:extLst xmlns:a="http://schemas.openxmlformats.org/drawingml/2006/main">
              <a:ext uri="{FF2B5EF4-FFF2-40B4-BE49-F238E27FC236}">
                <a16:creationId xmlns:a16="http://schemas.microsoft.com/office/drawing/2014/main" id="{31150A78-A629-4CD5-BDA1-9C9374E8B727}"/>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224976CE-EF7E-4F6D-A93A-DAF78313BC2D}"/>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You can state the new feature’s meaning and calculate an improvement correctly.</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xmlns:a="http://schemas.openxmlformats.org/drawingml/2006/main">
              <a:ext uri="{FF2B5EF4-FFF2-40B4-BE49-F238E27FC236}">
                <a16:creationId xmlns:a16="http://schemas.microsoft.com/office/drawing/2014/main" id="{3E5599F1-5004-4278-BC73-B03F7FC1BAAF}"/>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73AA1FDF-BAD4-4989-8D39-1F108768541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CML3113   Week 11   36</a:t>
            </a:r>
          </a:p>
        </p:txBody>
      </p:sp>
    </p:spTree>
    <p:extLst>
      <p:ext uri="{BB962C8B-B14F-4D97-AF65-F5344CB8AC3E}">
        <p14:creationId xmlns:p14="http://schemas.microsoft.com/office/powerpoint/2010/main" val="165839529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2026-09-16T11:10:05.8110000Z</dcterms:created>
  <dcterms:modified xsi:type="dcterms:W3CDTF">2026-09-16T11:10:05.8110000Z</dcterms:modified>
</coreProperties>
</file>