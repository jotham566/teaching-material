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3ff21a86a34e3a" /><Relationship Type="http://schemas.openxmlformats.org/officeDocument/2006/relationships/extended-properties" Target="/docProps/app.xml" Id="R3bebbad7ed6d481d" /><Relationship Type="http://schemas.openxmlformats.org/officeDocument/2006/relationships/officeDocument" Target="/ppt/presentation.xml" Id="Re973b05d83e047e8" /></Relationships>
</file>

<file path=ppt/presentation.xml><?xml version="1.0" encoding="utf-8"?>
<p:presentation xmlns:p="http://schemas.openxmlformats.org/presentationml/2006/main">
  <p:sldMasterIdLst>
    <p:sldMasterId xmlns:r="http://schemas.openxmlformats.org/officeDocument/2006/relationships" id="2147483648" r:id="Rd4d24f9bf3a94eb9"/>
  </p:sldMasterIdLst>
  <p:notesMasterIdLst>
    <p:notesMasterId xmlns:r="http://schemas.openxmlformats.org/officeDocument/2006/relationships" r:id="R9285fcfb58d3482e"/>
  </p:notesMasterIdLst>
  <p:sldIdLst>
    <p:sldId xmlns:r="http://schemas.openxmlformats.org/officeDocument/2006/relationships" id="256" r:id="R2c868d6981594a82"/>
    <p:sldId xmlns:r="http://schemas.openxmlformats.org/officeDocument/2006/relationships" id="257" r:id="Rc314e4537ca24759"/>
    <p:sldId xmlns:r="http://schemas.openxmlformats.org/officeDocument/2006/relationships" id="258" r:id="R86b9fe09b6874e05"/>
    <p:sldId xmlns:r="http://schemas.openxmlformats.org/officeDocument/2006/relationships" id="259" r:id="R9bf691cdf72d4ffa"/>
    <p:sldId xmlns:r="http://schemas.openxmlformats.org/officeDocument/2006/relationships" id="260" r:id="Rc139c31505f5425d"/>
    <p:sldId xmlns:r="http://schemas.openxmlformats.org/officeDocument/2006/relationships" id="261" r:id="R6cb8a934dad34cb0"/>
    <p:sldId xmlns:r="http://schemas.openxmlformats.org/officeDocument/2006/relationships" id="262" r:id="Rcdbdac4206ff4fe5"/>
    <p:sldId xmlns:r="http://schemas.openxmlformats.org/officeDocument/2006/relationships" id="263" r:id="Ra97e3cf9f1104659"/>
    <p:sldId xmlns:r="http://schemas.openxmlformats.org/officeDocument/2006/relationships" id="264" r:id="Rd5329120238f4c78"/>
    <p:sldId xmlns:r="http://schemas.openxmlformats.org/officeDocument/2006/relationships" id="265" r:id="R269c6d36cd714f9c"/>
    <p:sldId xmlns:r="http://schemas.openxmlformats.org/officeDocument/2006/relationships" id="266" r:id="Rf06719b0a11e410c"/>
    <p:sldId xmlns:r="http://schemas.openxmlformats.org/officeDocument/2006/relationships" id="267" r:id="Ra5e9171d19434f30"/>
    <p:sldId xmlns:r="http://schemas.openxmlformats.org/officeDocument/2006/relationships" id="268" r:id="R73d54f49290b4d4b"/>
    <p:sldId xmlns:r="http://schemas.openxmlformats.org/officeDocument/2006/relationships" id="269" r:id="R4f4cd58472894d34"/>
    <p:sldId xmlns:r="http://schemas.openxmlformats.org/officeDocument/2006/relationships" id="270" r:id="Rb3ea23142a204bdc"/>
    <p:sldId xmlns:r="http://schemas.openxmlformats.org/officeDocument/2006/relationships" id="271" r:id="R5570a61ba2864264"/>
    <p:sldId xmlns:r="http://schemas.openxmlformats.org/officeDocument/2006/relationships" id="272" r:id="Rc3ba94d7c7334bee"/>
    <p:sldId xmlns:r="http://schemas.openxmlformats.org/officeDocument/2006/relationships" id="273" r:id="Rd5cf1bdfa584468a"/>
    <p:sldId xmlns:r="http://schemas.openxmlformats.org/officeDocument/2006/relationships" id="274" r:id="Rf6406adeb1bb45c3"/>
    <p:sldId xmlns:r="http://schemas.openxmlformats.org/officeDocument/2006/relationships" id="275" r:id="R31c4181317f64df8"/>
    <p:sldId xmlns:r="http://schemas.openxmlformats.org/officeDocument/2006/relationships" id="276" r:id="Rdb765a0a5ad24bb8"/>
    <p:sldId xmlns:r="http://schemas.openxmlformats.org/officeDocument/2006/relationships" id="277" r:id="Rec16afc299ba4af3"/>
    <p:sldId xmlns:r="http://schemas.openxmlformats.org/officeDocument/2006/relationships" id="278" r:id="R536a620e2cd844b4"/>
    <p:sldId xmlns:r="http://schemas.openxmlformats.org/officeDocument/2006/relationships" id="279" r:id="Rf11cd386d7444590"/>
    <p:sldId xmlns:r="http://schemas.openxmlformats.org/officeDocument/2006/relationships" id="280" r:id="R1676bf6692274aef"/>
    <p:sldId xmlns:r="http://schemas.openxmlformats.org/officeDocument/2006/relationships" id="281" r:id="R3750e77f19cf440d"/>
    <p:sldId xmlns:r="http://schemas.openxmlformats.org/officeDocument/2006/relationships" id="282" r:id="R21c1739863f44ec4"/>
    <p:sldId xmlns:r="http://schemas.openxmlformats.org/officeDocument/2006/relationships" id="283" r:id="R1056cb2e1c6a479f"/>
    <p:sldId xmlns:r="http://schemas.openxmlformats.org/officeDocument/2006/relationships" id="284" r:id="R2faaf75f22274a73"/>
    <p:sldId xmlns:r="http://schemas.openxmlformats.org/officeDocument/2006/relationships" id="285" r:id="Raab722dc7e7c4691"/>
    <p:sldId xmlns:r="http://schemas.openxmlformats.org/officeDocument/2006/relationships" id="286" r:id="R3ef2de3b0ee94fc6"/>
    <p:sldId xmlns:r="http://schemas.openxmlformats.org/officeDocument/2006/relationships" id="287" r:id="R8fdca016d85e43f3"/>
    <p:sldId xmlns:r="http://schemas.openxmlformats.org/officeDocument/2006/relationships" id="288" r:id="Racd8e4f25d194d93"/>
    <p:sldId xmlns:r="http://schemas.openxmlformats.org/officeDocument/2006/relationships" id="289" r:id="R2deabb58964247bb"/>
    <p:sldId xmlns:r="http://schemas.openxmlformats.org/officeDocument/2006/relationships" id="290" r:id="Raca5a02e855244ea"/>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c8347488c44b13" /><Relationship Type="http://schemas.openxmlformats.org/officeDocument/2006/relationships/slideMaster" Target="/ppt/slideMasters/slideMaster1.xml" Id="Rd4d24f9bf3a94eb9" /><Relationship Type="http://schemas.openxmlformats.org/officeDocument/2006/relationships/notesMaster" Target="/ppt/notesMasters/notesMaster1.xml" Id="R9285fcfb58d3482e" /><Relationship Type="http://schemas.openxmlformats.org/officeDocument/2006/relationships/presProps" Target="/ppt/presProps.xml" Id="R537b6515dee747c2" /><Relationship Type="http://schemas.openxmlformats.org/officeDocument/2006/relationships/tableStyles" Target="/ppt/tableStyles.xml" Id="Rce03dacaecb24e2a" /><Relationship Type="http://schemas.openxmlformats.org/officeDocument/2006/relationships/slide" Target="/ppt/slides/slide1.xml" Id="R2c868d6981594a82" /><Relationship Type="http://schemas.openxmlformats.org/officeDocument/2006/relationships/slide" Target="/ppt/slides/slide2.xml" Id="Rc314e4537ca24759" /><Relationship Type="http://schemas.openxmlformats.org/officeDocument/2006/relationships/slide" Target="/ppt/slides/slide3.xml" Id="R86b9fe09b6874e05" /><Relationship Type="http://schemas.openxmlformats.org/officeDocument/2006/relationships/slide" Target="/ppt/slides/slide4.xml" Id="R9bf691cdf72d4ffa" /><Relationship Type="http://schemas.openxmlformats.org/officeDocument/2006/relationships/slide" Target="/ppt/slides/slide5.xml" Id="Rc139c31505f5425d" /><Relationship Type="http://schemas.openxmlformats.org/officeDocument/2006/relationships/slide" Target="/ppt/slides/slide6.xml" Id="R6cb8a934dad34cb0" /><Relationship Type="http://schemas.openxmlformats.org/officeDocument/2006/relationships/slide" Target="/ppt/slides/slide7.xml" Id="Rcdbdac4206ff4fe5" /><Relationship Type="http://schemas.openxmlformats.org/officeDocument/2006/relationships/slide" Target="/ppt/slides/slide8.xml" Id="Ra97e3cf9f1104659" /><Relationship Type="http://schemas.openxmlformats.org/officeDocument/2006/relationships/slide" Target="/ppt/slides/slide9.xml" Id="Rd5329120238f4c78" /><Relationship Type="http://schemas.openxmlformats.org/officeDocument/2006/relationships/slide" Target="/ppt/slides/slide10.xml" Id="R269c6d36cd714f9c" /><Relationship Type="http://schemas.openxmlformats.org/officeDocument/2006/relationships/slide" Target="/ppt/slides/slide11.xml" Id="Rf06719b0a11e410c" /><Relationship Type="http://schemas.openxmlformats.org/officeDocument/2006/relationships/slide" Target="/ppt/slides/slide12.xml" Id="Ra5e9171d19434f30" /><Relationship Type="http://schemas.openxmlformats.org/officeDocument/2006/relationships/slide" Target="/ppt/slides/slide13.xml" Id="R73d54f49290b4d4b" /><Relationship Type="http://schemas.openxmlformats.org/officeDocument/2006/relationships/slide" Target="/ppt/slides/slide14.xml" Id="R4f4cd58472894d34" /><Relationship Type="http://schemas.openxmlformats.org/officeDocument/2006/relationships/slide" Target="/ppt/slides/slide15.xml" Id="Rb3ea23142a204bdc" /><Relationship Type="http://schemas.openxmlformats.org/officeDocument/2006/relationships/slide" Target="/ppt/slides/slide16.xml" Id="R5570a61ba2864264" /><Relationship Type="http://schemas.openxmlformats.org/officeDocument/2006/relationships/slide" Target="/ppt/slides/slide17.xml" Id="Rc3ba94d7c7334bee" /><Relationship Type="http://schemas.openxmlformats.org/officeDocument/2006/relationships/slide" Target="/ppt/slides/slide18.xml" Id="Rd5cf1bdfa584468a" /><Relationship Type="http://schemas.openxmlformats.org/officeDocument/2006/relationships/slide" Target="/ppt/slides/slide19.xml" Id="Rf6406adeb1bb45c3" /><Relationship Type="http://schemas.openxmlformats.org/officeDocument/2006/relationships/slide" Target="/ppt/slides/slide20.xml" Id="R31c4181317f64df8" /><Relationship Type="http://schemas.openxmlformats.org/officeDocument/2006/relationships/slide" Target="/ppt/slides/slide21.xml" Id="Rdb765a0a5ad24bb8" /><Relationship Type="http://schemas.openxmlformats.org/officeDocument/2006/relationships/slide" Target="/ppt/slides/slide22.xml" Id="Rec16afc299ba4af3" /><Relationship Type="http://schemas.openxmlformats.org/officeDocument/2006/relationships/slide" Target="/ppt/slides/slide23.xml" Id="R536a620e2cd844b4" /><Relationship Type="http://schemas.openxmlformats.org/officeDocument/2006/relationships/slide" Target="/ppt/slides/slide24.xml" Id="Rf11cd386d7444590" /><Relationship Type="http://schemas.openxmlformats.org/officeDocument/2006/relationships/slide" Target="/ppt/slides/slide25.xml" Id="R1676bf6692274aef" /><Relationship Type="http://schemas.openxmlformats.org/officeDocument/2006/relationships/slide" Target="/ppt/slides/slide26.xml" Id="R3750e77f19cf440d" /><Relationship Type="http://schemas.openxmlformats.org/officeDocument/2006/relationships/slide" Target="/ppt/slides/slide27.xml" Id="R21c1739863f44ec4" /><Relationship Type="http://schemas.openxmlformats.org/officeDocument/2006/relationships/slide" Target="/ppt/slides/slide28.xml" Id="R1056cb2e1c6a479f" /><Relationship Type="http://schemas.openxmlformats.org/officeDocument/2006/relationships/slide" Target="/ppt/slides/slide29.xml" Id="R2faaf75f22274a73" /><Relationship Type="http://schemas.openxmlformats.org/officeDocument/2006/relationships/slide" Target="/ppt/slides/slide30.xml" Id="Raab722dc7e7c4691" /><Relationship Type="http://schemas.openxmlformats.org/officeDocument/2006/relationships/slide" Target="/ppt/slides/slide31.xml" Id="R3ef2de3b0ee94fc6" /><Relationship Type="http://schemas.openxmlformats.org/officeDocument/2006/relationships/slide" Target="/ppt/slides/slide32.xml" Id="R8fdca016d85e43f3" /><Relationship Type="http://schemas.openxmlformats.org/officeDocument/2006/relationships/slide" Target="/ppt/slides/slide33.xml" Id="Racd8e4f25d194d93" /><Relationship Type="http://schemas.openxmlformats.org/officeDocument/2006/relationships/slide" Target="/ppt/slides/slide34.xml" Id="R2deabb58964247bb" /><Relationship Type="http://schemas.openxmlformats.org/officeDocument/2006/relationships/slide" Target="/ppt/slides/slide35.xml" Id="Raca5a02e855244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ebd9a39de145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8443c935414495" /><Relationship Type="http://schemas.openxmlformats.org/officeDocument/2006/relationships/notesMaster" Target="/ppt/notesMasters/notesMaster1.xml" Id="Rd4dd517ac6b144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314048436344e2" /><Relationship Type="http://schemas.openxmlformats.org/officeDocument/2006/relationships/notesMaster" Target="/ppt/notesMasters/notesMaster1.xml" Id="R45f467aa785147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3e07d9a5cb4c8a" /><Relationship Type="http://schemas.openxmlformats.org/officeDocument/2006/relationships/notesMaster" Target="/ppt/notesMasters/notesMaster1.xml" Id="Re08d9129537246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d6552e61e44144" /><Relationship Type="http://schemas.openxmlformats.org/officeDocument/2006/relationships/notesMaster" Target="/ppt/notesMasters/notesMaster1.xml" Id="Rd3c40eea8e9441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202c3248934d72" /><Relationship Type="http://schemas.openxmlformats.org/officeDocument/2006/relationships/notesMaster" Target="/ppt/notesMasters/notesMaster1.xml" Id="R435939ee1eb54e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a0dfcfd49d4891" /><Relationship Type="http://schemas.openxmlformats.org/officeDocument/2006/relationships/notesMaster" Target="/ppt/notesMasters/notesMaster1.xml" Id="R5213b83d87fa45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d7ac4474b64155" /><Relationship Type="http://schemas.openxmlformats.org/officeDocument/2006/relationships/notesMaster" Target="/ppt/notesMasters/notesMaster1.xml" Id="Re9312d7957a740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767031f7a045ac" /><Relationship Type="http://schemas.openxmlformats.org/officeDocument/2006/relationships/notesMaster" Target="/ppt/notesMasters/notesMaster1.xml" Id="Re077ee952ae042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d246101bbd64aa5" /><Relationship Type="http://schemas.openxmlformats.org/officeDocument/2006/relationships/notesMaster" Target="/ppt/notesMasters/notesMaster1.xml" Id="R89c3acd2c44547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26e2d40b6d4d04" /><Relationship Type="http://schemas.openxmlformats.org/officeDocument/2006/relationships/notesMaster" Target="/ppt/notesMasters/notesMaster1.xml" Id="Rafd9b502bd264ab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a39a241b4141a2" /><Relationship Type="http://schemas.openxmlformats.org/officeDocument/2006/relationships/notesMaster" Target="/ppt/notesMasters/notesMaster1.xml" Id="R8d6bdb40f3b549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ba7da8db0f453b" /><Relationship Type="http://schemas.openxmlformats.org/officeDocument/2006/relationships/notesMaster" Target="/ppt/notesMasters/notesMaster1.xml" Id="R329d83ac963c41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ec7f326b85427b" /><Relationship Type="http://schemas.openxmlformats.org/officeDocument/2006/relationships/notesMaster" Target="/ppt/notesMasters/notesMaster1.xml" Id="Rb1ddf25ace5b4c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495d8aaeba4104" /><Relationship Type="http://schemas.openxmlformats.org/officeDocument/2006/relationships/notesMaster" Target="/ppt/notesMasters/notesMaster1.xml" Id="R457df128b06f4fc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12ac696f9149c7" /><Relationship Type="http://schemas.openxmlformats.org/officeDocument/2006/relationships/notesMaster" Target="/ppt/notesMasters/notesMaster1.xml" Id="R653eb669e1ed48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8f9f0962b004bc9" /><Relationship Type="http://schemas.openxmlformats.org/officeDocument/2006/relationships/notesMaster" Target="/ppt/notesMasters/notesMaster1.xml" Id="R931ab2da054f4f4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4f1bae802e400a" /><Relationship Type="http://schemas.openxmlformats.org/officeDocument/2006/relationships/notesMaster" Target="/ppt/notesMasters/notesMaster1.xml" Id="R9d2563b80e1145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7e4e848d41c4895" /><Relationship Type="http://schemas.openxmlformats.org/officeDocument/2006/relationships/notesMaster" Target="/ppt/notesMasters/notesMaster1.xml" Id="R66fead3fa78848b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cba6440dfc4b30" /><Relationship Type="http://schemas.openxmlformats.org/officeDocument/2006/relationships/notesMaster" Target="/ppt/notesMasters/notesMaster1.xml" Id="Ra5c0f2c0d4884a7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da71797c30c4b14" /><Relationship Type="http://schemas.openxmlformats.org/officeDocument/2006/relationships/notesMaster" Target="/ppt/notesMasters/notesMaster1.xml" Id="R70c85a5ce06c4af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02e9fefd134bec" /><Relationship Type="http://schemas.openxmlformats.org/officeDocument/2006/relationships/notesMaster" Target="/ppt/notesMasters/notesMaster1.xml" Id="R988e93c5753e4a2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cb9915e478485f" /><Relationship Type="http://schemas.openxmlformats.org/officeDocument/2006/relationships/notesMaster" Target="/ppt/notesMasters/notesMaster1.xml" Id="R3c37cce4f98649a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06e7c6ba2b14254" /><Relationship Type="http://schemas.openxmlformats.org/officeDocument/2006/relationships/notesMaster" Target="/ppt/notesMasters/notesMaster1.xml" Id="R1d6fe50797724f3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fd58494385543f2" /><Relationship Type="http://schemas.openxmlformats.org/officeDocument/2006/relationships/notesMaster" Target="/ppt/notesMasters/notesMaster1.xml" Id="R4cb5637f5f374a8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19f52b8433a4e1e" /><Relationship Type="http://schemas.openxmlformats.org/officeDocument/2006/relationships/notesMaster" Target="/ppt/notesMasters/notesMaster1.xml" Id="Re3d8c83b5f6e41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1b455fc7a3043b4" /><Relationship Type="http://schemas.openxmlformats.org/officeDocument/2006/relationships/notesMaster" Target="/ppt/notesMasters/notesMaster1.xml" Id="Rb919141e6fdd4ec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ccb1ef304324fbc" /><Relationship Type="http://schemas.openxmlformats.org/officeDocument/2006/relationships/notesMaster" Target="/ppt/notesMasters/notesMaster1.xml" Id="Rc2a7555ed22d43e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2663223134c4681" /><Relationship Type="http://schemas.openxmlformats.org/officeDocument/2006/relationships/notesMaster" Target="/ppt/notesMasters/notesMaster1.xml" Id="R4d08b57691334cd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a9190230ce247c1" /><Relationship Type="http://schemas.openxmlformats.org/officeDocument/2006/relationships/notesMaster" Target="/ppt/notesMasters/notesMaster1.xml" Id="R560b1a11ff44480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8fa79968e4c4bb3" /><Relationship Type="http://schemas.openxmlformats.org/officeDocument/2006/relationships/notesMaster" Target="/ppt/notesMasters/notesMaster1.xml" Id="R4735c6e5ebce4a3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7c4b8474e394bad" /><Relationship Type="http://schemas.openxmlformats.org/officeDocument/2006/relationships/notesMaster" Target="/ppt/notesMasters/notesMaster1.xml" Id="Refcffb40f6f941e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5c5a2fc68c2412d" /><Relationship Type="http://schemas.openxmlformats.org/officeDocument/2006/relationships/notesMaster" Target="/ppt/notesMasters/notesMaster1.xml" Id="R55c439e20da54f1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921864a59ba4ce5" /><Relationship Type="http://schemas.openxmlformats.org/officeDocument/2006/relationships/notesMaster" Target="/ppt/notesMasters/notesMaster1.xml" Id="R5d2f1a7fdba044d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7aaa5af0b24cec" /><Relationship Type="http://schemas.openxmlformats.org/officeDocument/2006/relationships/notesMaster" Target="/ppt/notesMasters/notesMaster1.xml" Id="R6fbb95eddd9648e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4638648346c4508" /><Relationship Type="http://schemas.openxmlformats.org/officeDocument/2006/relationships/notesMaster" Target="/ppt/notesMasters/notesMaster1.xml" Id="R25c67e69edda416c" /></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Creating and testing a useful feature</a:t>
            </a:r>
          </a:p>
          <a:p>
            <a:r>
              <a:t>CML3113, Week 11, slide 1</a:t>
            </a:r>
          </a:p>
          <a:p>
            <a:r>
              <a:t/>
            </a:r>
          </a:p>
          <a:p>
            <a:r>
              <a:t>Explanation to give</a:t>
            </a:r>
          </a:p>
          <a:p>
            <a:r>
              <a:t>Explain why a calculated input may help and test the idea under an unchanged validation protocol.</a:t>
            </a:r>
          </a:p>
          <a:p>
            <a:r>
              <a:t/>
            </a:r>
          </a:p>
          <a:p>
            <a:r>
              <a:t>Worked illustration / lecturer answer</a:t>
            </a:r>
          </a:p>
          <a:p>
            <a:r>
              <a:t>If validation MAE falls from 5 to 4 after adding one feature, the reduction is 1 target unit, or 20%. A comparison on a different split cannot isolate that change.</a:t>
            </a:r>
          </a:p>
          <a:p>
            <a:r>
              <a:t/>
            </a:r>
          </a:p>
          <a:p>
            <a:r>
              <a:t>Misconception to address</a:t>
            </a:r>
          </a:p>
          <a:p>
            <a:r>
              <a:t>Use this as an orientation to the lesson. Terms and syntax will be unpacked on their own slides; students do not need to know them in advance.</a:t>
            </a:r>
          </a:p>
          <a:p>
            <a:r>
              <a:t/>
            </a:r>
          </a:p>
          <a:p>
            <a:r>
              <a:t>On this slide</a:t>
            </a:r>
          </a:p>
          <a:p>
            <a:r>
              <a:t>Mining and Petroleum Engineering</a:t>
            </a:r>
          </a:p>
          <a:p>
            <a:r>
              <a:t/>
            </a:r>
          </a:p>
          <a:p>
            <a:r>
              <a:t>Continue to</a:t>
            </a:r>
          </a:p>
          <a:p>
            <a:r>
              <a:t>Today’s learning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Today’s learning</a:t>
            </a:r>
          </a:p>
          <a:p>
            <a:r>
              <a:t>CML3113, Week 11, slide 2</a:t>
            </a:r>
          </a:p>
          <a:p>
            <a:r>
              <a:t/>
            </a:r>
          </a:p>
          <a:p>
            <a:r>
              <a:t>Explanation to give</a:t>
            </a:r>
          </a:p>
          <a:p>
            <a:r>
              <a:t>Explain why a calculated input may help and test the idea under an unchanged validation protocol.</a:t>
            </a:r>
          </a:p>
          <a:p>
            <a:r>
              <a:t/>
            </a:r>
          </a:p>
          <a:p>
            <a:r>
              <a:t>Worked illustration / lecturer answer</a:t>
            </a:r>
          </a:p>
          <a:p>
            <a:r>
              <a:t>If validation MAE falls from 5 to 4 after adding one feature, the reduction is 1 target unit, or 20%. A comparison on a different split cannot isolate that change.</a:t>
            </a:r>
          </a:p>
          <a:p>
            <a:r>
              <a:t/>
            </a:r>
          </a:p>
          <a:p>
            <a:r>
              <a:t>Misconception to address</a:t>
            </a:r>
          </a:p>
          <a:p>
            <a:r>
              <a:t>At the end, check the specific outcome shown here using a small previously demonstrated example. A completed file without an explanation is not evidence of understanding.</a:t>
            </a:r>
          </a:p>
          <a:p>
            <a:r>
              <a:t/>
            </a:r>
          </a:p>
          <a:p>
            <a:r>
              <a:t>On this slide</a:t>
            </a:r>
          </a:p>
          <a:p>
            <a:r>
              <a:t>Create a feature from available measurements.</a:t>
            </a:r>
          </a:p>
          <a:p>
            <a:r>
              <a:t/>
            </a:r>
          </a:p>
          <a:p>
            <a:r>
              <a:t>Compare models with one controlled change.</a:t>
            </a:r>
          </a:p>
          <a:p>
            <a:r>
              <a:t/>
            </a:r>
          </a:p>
          <a:p>
            <a:r>
              <a:t>Continue to</a:t>
            </a:r>
          </a:p>
          <a:p>
            <a:r>
              <a:t>Connection to the previous lesson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Connection to the previous lesson</a:t>
            </a:r>
          </a:p>
          <a:p>
            <a:r>
              <a:t>CML3113, Week 11, slide 3</a:t>
            </a:r>
          </a:p>
          <a:p>
            <a:r>
              <a:t/>
            </a:r>
          </a:p>
          <a:p>
            <a:r>
              <a:t>Explanation to give</a:t>
            </a:r>
          </a:p>
          <a:p>
            <a:r>
              <a:t>Explain why a calculated input may help and test the idea under an unchanged validation protocol.</a:t>
            </a:r>
          </a:p>
          <a:p>
            <a:r>
              <a:t/>
            </a:r>
          </a:p>
          <a:p>
            <a:r>
              <a:t>Worked illustration / lecturer answer</a:t>
            </a:r>
          </a:p>
          <a:p>
            <a:r>
              <a:t>If validation MAE falls from 5 to 4 after adding one feature, the reduction is 1 target unit, or 20%. A comparison on a different split cannot isolate that change.</a:t>
            </a:r>
          </a:p>
          <a:p>
            <a:r>
              <a:t/>
            </a:r>
          </a:p>
          <a:p>
            <a:r>
              <a:t>Misconception to address</a:t>
            </a:r>
          </a:p>
          <a:p>
            <a:r>
              <a:t>Connect this to the previous result named on this slide. Demonstrate the first step again if necessary; there is no requirement for partner work before the explanation.</a:t>
            </a:r>
          </a:p>
          <a:p>
            <a:r>
              <a:t/>
            </a:r>
          </a:p>
          <a:p>
            <a:r>
              <a:t>On this slide</a:t>
            </a:r>
          </a:p>
          <a:p>
            <a:r>
              <a:t>We already keep evaluation data separate. Now we change one input representation while keeping the comparison protocol fixed.</a:t>
            </a:r>
          </a:p>
          <a:p>
            <a:r>
              <a:t/>
            </a:r>
          </a:p>
          <a:p>
            <a:r>
              <a:t>Continue to</a:t>
            </a:r>
          </a:p>
          <a:p>
            <a:r>
              <a:t>Why this week’s tools are needed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Why this week’s tools are needed</a:t>
            </a:r>
          </a:p>
          <a:p>
            <a:r>
              <a:t>CML3113, Week 11, slide 4</a:t>
            </a:r>
          </a:p>
          <a:p>
            <a:r>
              <a:t/>
            </a:r>
          </a:p>
          <a:p>
            <a:r>
              <a:t>Explanation to give</a:t>
            </a:r>
          </a:p>
          <a:p>
            <a:r>
              <a:t>Explain why a calculated input may help and test the idea under an unchanged validation protocol.</a:t>
            </a:r>
          </a:p>
          <a:p>
            <a:r>
              <a:t/>
            </a:r>
          </a:p>
          <a:p>
            <a:r>
              <a:t>Worked illustration / lecturer answer</a:t>
            </a:r>
          </a:p>
          <a:p>
            <a:r>
              <a:t>If validation MAE falls from 5 to 4 after adding one feature, the reduction is 1 target unit, or 20%. A comparison on a different split cannot isolate that change.</a:t>
            </a:r>
          </a:p>
          <a:p>
            <a:r>
              <a:t/>
            </a:r>
          </a:p>
          <a:p>
            <a:r>
              <a:t>Misconception to address</a:t>
            </a:r>
          </a:p>
          <a:p>
            <a:r>
              <a:t>Connect this to the previous result named on this slide. Demonstrate the first step again if necessary; there is no requirement for partner work before the explanation.</a:t>
            </a:r>
          </a:p>
          <a:p>
            <a:r>
              <a:t/>
            </a:r>
          </a:p>
          <a:p>
            <a:r>
              <a:t>On this slide</a:t>
            </a:r>
          </a:p>
          <a:p>
            <a:r>
              <a:t>A calculated input may help a model. We compare the original and extended inputs on the same observations, then decide whether the evidence supports the extra feature.</a:t>
            </a:r>
          </a:p>
          <a:p>
            <a:r>
              <a:t/>
            </a:r>
          </a:p>
          <a:p>
            <a:r>
              <a:t>Continue to</a:t>
            </a:r>
          </a:p>
          <a:p>
            <a:r>
              <a:t>A feature has a meaning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feature has a meaning</a:t>
            </a:r>
          </a:p>
          <a:p>
            <a:r>
              <a:t>CML3113, Week 11, slide 5</a:t>
            </a:r>
          </a:p>
          <a:p>
            <a:r>
              <a:t/>
            </a:r>
          </a:p>
          <a:p>
            <a:r>
              <a:t>Explanation to give</a:t>
            </a:r>
          </a:p>
          <a:p>
            <a:r>
              <a:t>A derived feature is a new input calculated from known inputs. Explain its physical or operational reason and its units before presenting it to a model. An interaction allows one input's effect to depend on another.</a:t>
            </a:r>
          </a:p>
          <a:p>
            <a:r>
              <a:t/>
            </a:r>
          </a:p>
          <a:p>
            <a:r>
              <a:t>Worked illustration / lecturer answer</a:t>
            </a:r>
          </a:p>
          <a:p>
            <a:r>
              <a:t>For load_pct 50 and ambient_c 30, the course interaction load_pct * ambient_c is 1500. Separately, load_pct / 100 gives the fraction 0.5. These are different derived quantities. The interaction is a hypothesis to test, not a measured law.</a:t>
            </a:r>
          </a:p>
          <a:p>
            <a:r>
              <a:t/>
            </a:r>
          </a:p>
          <a:p>
            <a:r>
              <a:t>Misconception to address</a:t>
            </a:r>
          </a:p>
          <a:p>
            <a:r>
              <a:t>A plausible physical story does not guarantee an improvement. Do not use the target or information that would only become available after the prediction.</a:t>
            </a:r>
          </a:p>
          <a:p>
            <a:r>
              <a:t/>
            </a:r>
          </a:p>
          <a:p>
            <a:r>
              <a:t>On this slide</a:t>
            </a:r>
          </a:p>
          <a:p>
            <a:r>
              <a:t>A feature is an input available at prediction time.</a:t>
            </a:r>
          </a:p>
          <a:p>
            <a:r>
              <a:t/>
            </a:r>
          </a:p>
          <a:p>
            <a:r>
              <a:t>An interaction multiplies two inputs to express a joint pattern.</a:t>
            </a:r>
          </a:p>
          <a:p>
            <a:r>
              <a:t/>
            </a:r>
          </a:p>
          <a:p>
            <a:r>
              <a:t>A better validation score can still reflect leakage.</a:t>
            </a:r>
          </a:p>
          <a:p>
            <a:r>
              <a:t/>
            </a:r>
          </a:p>
          <a:p>
            <a:r>
              <a:t>Compare the same observations and explain the physical meaning.</a:t>
            </a:r>
          </a:p>
          <a:p>
            <a:r>
              <a:t/>
            </a:r>
          </a:p>
          <a:p>
            <a:r>
              <a:t>Continue to</a:t>
            </a:r>
          </a:p>
          <a:p>
            <a:r>
              <a:t>Derived feature and Ratio and interaction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Derived feature and Ratio and interaction</a:t>
            </a:r>
          </a:p>
          <a:p>
            <a:r>
              <a:t>CML3113, Week 11, slide 6</a:t>
            </a:r>
          </a:p>
          <a:p>
            <a:r>
              <a:t/>
            </a:r>
          </a:p>
          <a:p>
            <a:r>
              <a:t>Explanation to give</a:t>
            </a:r>
          </a:p>
          <a:p>
            <a:r>
              <a:t>A derived feature is a new input calculated from known inputs. Explain its physical or operational reason and its units before presenting it to a model. An interaction allows one input's effect to depend on another.</a:t>
            </a:r>
          </a:p>
          <a:p>
            <a:r>
              <a:t/>
            </a:r>
          </a:p>
          <a:p>
            <a:r>
              <a:t>Worked illustration / lecturer answer</a:t>
            </a:r>
          </a:p>
          <a:p>
            <a:r>
              <a:t>For load_pct 50 and ambient_c 30, the course interaction load_pct * ambient_c is 1500. Separately, load_pct / 100 gives the fraction 0.5. These are different derived quantities. The interaction is a hypothesis to test, not a measured law.</a:t>
            </a:r>
          </a:p>
          <a:p>
            <a:r>
              <a:t/>
            </a:r>
          </a:p>
          <a:p>
            <a:r>
              <a:t>Misconception to address</a:t>
            </a:r>
          </a:p>
          <a:p>
            <a:r>
              <a:t>A plausible physical story does not guarantee an improvement. Do not use the target or information that would only become available after the prediction.</a:t>
            </a:r>
          </a:p>
          <a:p>
            <a:r>
              <a:t/>
            </a:r>
          </a:p>
          <a:p>
            <a:r>
              <a:t>On this slide</a:t>
            </a:r>
          </a:p>
          <a:p>
            <a:r>
              <a:t>Derived feature: A new input calculated from existing inputs. Its definition and unit must be stated.</a:t>
            </a:r>
          </a:p>
          <a:p>
            <a:r>
              <a:t>Ratio and interaction: A ratio divides quantities; an interaction multiplies them. Both need a domain explanation and a unit check.</a:t>
            </a:r>
          </a:p>
          <a:p>
            <a:r>
              <a:t/>
            </a:r>
          </a:p>
          <a:p>
            <a:r>
              <a:t>Continue to</a:t>
            </a:r>
          </a:p>
          <a:p>
            <a:r>
              <a:t>Read the physical example across programmes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 the physical example across programmes</a:t>
            </a:r>
          </a:p>
          <a:p>
            <a:r>
              <a:t>CML3113, Week 11, slide 7</a:t>
            </a:r>
          </a:p>
          <a:p>
            <a:r>
              <a:t/>
            </a:r>
          </a:p>
          <a:p>
            <a:r>
              <a:t>Explanation to give</a:t>
            </a:r>
          </a:p>
          <a:p>
            <a:r>
              <a:t>A derived feature is a new input calculated from known inputs. Explain its physical or operational reason and its units before presenting it to a model. An interaction allows one input's effect to depend on another.</a:t>
            </a:r>
          </a:p>
          <a:p>
            <a:r>
              <a:t/>
            </a:r>
          </a:p>
          <a:p>
            <a:r>
              <a:t>Worked illustration / lecturer answer</a:t>
            </a:r>
          </a:p>
          <a:p>
            <a:r>
              <a:t>For load_pct 50 and ambient_c 30, the course interaction load_pct * ambient_c is 1500. Separately, load_pct / 100 gives the fraction 0.5. These are different derived quantities. The interaction is a hypothesis to test, not a measured law.</a:t>
            </a:r>
          </a:p>
          <a:p>
            <a:r>
              <a:t/>
            </a:r>
          </a:p>
          <a:p>
            <a:r>
              <a:t>Misconception to address</a:t>
            </a:r>
          </a:p>
          <a:p>
            <a:r>
              <a:t>A plausible physical story does not guarantee an improvement. Do not use the target or information that would only become available after the prediction.</a:t>
            </a:r>
          </a:p>
          <a:p>
            <a:r>
              <a:t/>
            </a:r>
          </a:p>
          <a:p>
            <a:r>
              <a:t>On this slide</a:t>
            </a:r>
          </a:p>
          <a:p>
            <a:r>
              <a:t>Current I is the flow of electric charge, measured in amperes (A). Resistance R opposes that flow, measured in ohms.</a:t>
            </a:r>
          </a:p>
          <a:p>
            <a:r>
              <a:t/>
            </a:r>
          </a:p>
          <a:p>
            <a:r>
              <a:t>Power P is energy transferred per second, measured in watts (W). Resistive heating follows P = I²R in this example.</a:t>
            </a:r>
          </a:p>
          <a:p>
            <a:r>
              <a:t/>
            </a:r>
          </a:p>
          <a:p>
            <a:r>
              <a:t>I² means I × I. With I = 2 A and R = 3 ohms, P = 2 × 2 × 3 = 12 W. This relationship motivates a feature; evaluation still tests whether it helps.</a:t>
            </a:r>
          </a:p>
          <a:p>
            <a:r>
              <a:t/>
            </a:r>
          </a:p>
          <a:p>
            <a:r>
              <a:t>Continue to</a:t>
            </a:r>
          </a:p>
          <a:p>
            <a:r>
              <a:t>A physical relationship can form a feature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physical relationship can form a feature</a:t>
            </a:r>
          </a:p>
          <a:p>
            <a:r>
              <a:t>CML3113, Week 11, slide 8</a:t>
            </a:r>
          </a:p>
          <a:p>
            <a:r>
              <a:t/>
            </a:r>
          </a:p>
          <a:p>
            <a:r>
              <a:t>Explanation to give</a:t>
            </a:r>
          </a:p>
          <a:p>
            <a:r>
              <a:t>A derived feature is a new input calculated from known inputs. Explain its physical or operational reason and its units before presenting it to a model. An interaction allows one input's effect to depend on another.</a:t>
            </a:r>
          </a:p>
          <a:p>
            <a:r>
              <a:t/>
            </a:r>
          </a:p>
          <a:p>
            <a:r>
              <a:t>Worked illustration / lecturer answer</a:t>
            </a:r>
          </a:p>
          <a:p>
            <a:r>
              <a:t>For load_pct 50 and ambient_c 30, the course interaction load_pct * ambient_c is 1500. Separately, load_pct / 100 gives the fraction 0.5. These are different derived quantities. The interaction is a hypothesis to test, not a measured law.</a:t>
            </a:r>
          </a:p>
          <a:p>
            <a:r>
              <a:t/>
            </a:r>
          </a:p>
          <a:p>
            <a:r>
              <a:t>Misconception to address</a:t>
            </a:r>
          </a:p>
          <a:p>
            <a:r>
              <a:t>A plausible physical story does not guarantee an improvement. Do not use the target or information that would only become available after the prediction.</a:t>
            </a:r>
          </a:p>
          <a:p>
            <a:r>
              <a:t/>
            </a:r>
          </a:p>
          <a:p>
            <a:r>
              <a:t>On this slide</a:t>
            </a:r>
          </a:p>
          <a:p>
            <a:r>
              <a:t>Explain each quantity and the unit of the result.</a:t>
            </a:r>
          </a:p>
          <a:p>
            <a:r>
              <a:t/>
            </a:r>
          </a:p>
          <a:p>
            <a:r>
              <a:t>Continue to</a:t>
            </a:r>
          </a:p>
          <a:p>
            <a:r>
              <a:t>An interaction uses two known inputs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An interaction uses two known inputs</a:t>
            </a:r>
          </a:p>
          <a:p>
            <a:r>
              <a:t>CML3113, Week 11, slide 9</a:t>
            </a:r>
          </a:p>
          <a:p>
            <a:r>
              <a:t/>
            </a:r>
          </a:p>
          <a:p>
            <a:r>
              <a:t>Explanation to give</a:t>
            </a:r>
          </a:p>
          <a:p>
            <a:r>
              <a:t>A derived feature is a new input calculated from known inputs. Explain its physical or operational reason and its units before presenting it to a model. An interaction allows one input's effect to depend on another.</a:t>
            </a:r>
          </a:p>
          <a:p>
            <a:r>
              <a:t/>
            </a:r>
          </a:p>
          <a:p>
            <a:r>
              <a:t>Worked illustration / lecturer answer</a:t>
            </a:r>
          </a:p>
          <a:p>
            <a:r>
              <a:t>For load_pct 50 and ambient_c 30, the course interaction load_pct * ambient_c is 1500. Separately, load_pct / 100 gives the fraction 0.5. These are different derived quantities. The interaction is a hypothesis to test, not a measured law.</a:t>
            </a:r>
          </a:p>
          <a:p>
            <a:r>
              <a:t/>
            </a:r>
          </a:p>
          <a:p>
            <a:r>
              <a:t>Misconception to address</a:t>
            </a:r>
          </a:p>
          <a:p>
            <a:r>
              <a:t>A plausible physical story does not guarantee an improvement. Do not use the target or information that would only become available after the prediction.</a:t>
            </a:r>
          </a:p>
          <a:p>
            <a:r>
              <a:t/>
            </a:r>
          </a:p>
          <a:p>
            <a:r>
              <a:t>On this slide</a:t>
            </a:r>
          </a:p>
          <a:p>
            <a:r>
              <a:t>Current A | Resistance ohm | I squared × R W</a:t>
            </a:r>
          </a:p>
          <a:p>
            <a:r>
              <a:t>2 | 3 | 12</a:t>
            </a:r>
          </a:p>
          <a:p>
            <a:r>
              <a:t>4 | 3 | 48</a:t>
            </a:r>
          </a:p>
          <a:p>
            <a:r>
              <a:t>A derived input must be available when predicting. A useful physical relationship still needs validation.</a:t>
            </a:r>
          </a:p>
          <a:p>
            <a:r>
              <a:t/>
            </a:r>
          </a:p>
          <a:p>
            <a:r>
              <a:t>Continue to</a:t>
            </a:r>
          </a:p>
          <a:p>
            <a:r>
              <a:t>A percentage and its fraction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percentage and its fraction</a:t>
            </a:r>
          </a:p>
          <a:p>
            <a:r>
              <a:t>CML3113, Week 11, slide 10</a:t>
            </a:r>
          </a:p>
          <a:p>
            <a:r>
              <a:t/>
            </a:r>
          </a:p>
          <a:p>
            <a:r>
              <a:t>Explanation to give</a:t>
            </a:r>
          </a:p>
          <a:p>
            <a:r>
              <a:t>A derived feature is a new input calculated from known inputs. Explain its physical or operational reason and its units before presenting it to a model. An interaction allows one input's effect to depend on another.</a:t>
            </a:r>
          </a:p>
          <a:p>
            <a:r>
              <a:t/>
            </a:r>
          </a:p>
          <a:p>
            <a:r>
              <a:t>Worked illustration / lecturer answer</a:t>
            </a:r>
          </a:p>
          <a:p>
            <a:r>
              <a:t>For load_pct 50 and ambient_c 30, the course interaction load_pct * ambient_c is 1500. Separately, load_pct / 100 gives the fraction 0.5. These are different derived quantities. The interaction is a hypothesis to test, not a measured law.</a:t>
            </a:r>
          </a:p>
          <a:p>
            <a:r>
              <a:t/>
            </a:r>
          </a:p>
          <a:p>
            <a:r>
              <a:t>Misconception to address</a:t>
            </a:r>
          </a:p>
          <a:p>
            <a:r>
              <a:t>A plausible physical story does not guarantee an improvement. Do not use the target or information that would only become available after the prediction.</a:t>
            </a:r>
          </a:p>
          <a:p>
            <a:r>
              <a:t/>
            </a:r>
          </a:p>
          <a:p>
            <a:r>
              <a:t>On this slide</a:t>
            </a:r>
          </a:p>
          <a:p>
            <a:r>
              <a:t>40% means 40 out of 100.</a:t>
            </a:r>
          </a:p>
          <a:p>
            <a:r>
              <a:t/>
            </a:r>
          </a:p>
          <a:p>
            <a:r>
              <a:t>40 / 100 gives 0.4.</a:t>
            </a:r>
          </a:p>
          <a:p>
            <a:r>
              <a:t/>
            </a:r>
          </a:p>
          <a:p>
            <a:r>
              <a:t>This changes the representation. It adds no new observation.</a:t>
            </a:r>
          </a:p>
          <a:p>
            <a:r>
              <a:t/>
            </a:r>
          </a:p>
          <a:p>
            <a:r>
              <a:t>Continue to</a:t>
            </a:r>
          </a:p>
          <a:p>
            <a:r>
              <a:t>A combined input needs a reason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 combined input needs a reason</a:t>
            </a:r>
          </a:p>
          <a:p>
            <a:r>
              <a:t>CML3113, Week 11, slide 11</a:t>
            </a:r>
          </a:p>
          <a:p>
            <a:r>
              <a:t/>
            </a:r>
          </a:p>
          <a:p>
            <a:r>
              <a:t>Explanation to give</a:t>
            </a:r>
          </a:p>
          <a:p>
            <a:r>
              <a:t>A derived feature is a new input calculated from known inputs. Explain its physical or operational reason and its units before presenting it to a model. An interaction allows one input's effect to depend on another.</a:t>
            </a:r>
          </a:p>
          <a:p>
            <a:r>
              <a:t/>
            </a:r>
          </a:p>
          <a:p>
            <a:r>
              <a:t>Worked illustration / lecturer answer</a:t>
            </a:r>
          </a:p>
          <a:p>
            <a:r>
              <a:t>For load_pct 50 and ambient_c 30, the course interaction load_pct * ambient_c is 1500. Separately, load_pct / 100 gives the fraction 0.5. These are different derived quantities. The interaction is a hypothesis to test, not a measured law.</a:t>
            </a:r>
          </a:p>
          <a:p>
            <a:r>
              <a:t/>
            </a:r>
          </a:p>
          <a:p>
            <a:r>
              <a:t>Misconception to address</a:t>
            </a:r>
          </a:p>
          <a:p>
            <a:r>
              <a:t>A plausible physical story does not guarantee an improvement. Do not use the target or information that would only become available after the prediction.</a:t>
            </a:r>
          </a:p>
          <a:p>
            <a:r>
              <a:t/>
            </a:r>
          </a:p>
          <a:p>
            <a:r>
              <a:t>On this slide</a:t>
            </a:r>
          </a:p>
          <a:p>
            <a:r>
              <a:t>An interaction multiplies two inputs.</a:t>
            </a:r>
          </a:p>
          <a:p>
            <a:r>
              <a:t/>
            </a:r>
          </a:p>
          <a:p>
            <a:r>
              <a:t>It may help a simple model represent a joint pattern.</a:t>
            </a:r>
          </a:p>
          <a:p>
            <a:r>
              <a:t/>
            </a:r>
          </a:p>
          <a:p>
            <a:r>
              <a:t>An interaction with degrees Celsius is an empirical feature, not automatically a physical law.</a:t>
            </a:r>
          </a:p>
          <a:p>
            <a:r>
              <a:t/>
            </a:r>
          </a:p>
          <a:p>
            <a:r>
              <a:t>Continue to</a:t>
            </a:r>
          </a:p>
          <a:p>
            <a:r>
              <a:t>Ablation and Improvement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Ablation and Improvement</a:t>
            </a:r>
          </a:p>
          <a:p>
            <a:r>
              <a:t>CML3113, Week 11, slide 12</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On this slide</a:t>
            </a:r>
          </a:p>
          <a:p>
            <a:r>
              <a:t>Ablation: Compare a model with and without a feature while keeping the data partitions, model family and metric fixed.</a:t>
            </a:r>
          </a:p>
          <a:p>
            <a:r>
              <a:t>Improvement: For an error metric, baseline error minus new error. A negative result means the added feature worsened validation error in that comparison.</a:t>
            </a:r>
          </a:p>
          <a:p>
            <a:r>
              <a:t/>
            </a:r>
          </a:p>
          <a:p>
            <a:r>
              <a:t>Continue to</a:t>
            </a:r>
          </a:p>
          <a:p>
            <a:r>
              <a:t>One change makes a comparison interpretable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One change makes a comparison interpretable</a:t>
            </a:r>
          </a:p>
          <a:p>
            <a:r>
              <a:t>CML3113, Week 11, slide 13</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On this slide</a:t>
            </a:r>
          </a:p>
          <a:p>
            <a:r>
              <a:t>Base MAE is 3.0. Extended MAE is 2.5.</a:t>
            </a:r>
          </a:p>
          <a:p>
            <a:r>
              <a:t/>
            </a:r>
          </a:p>
          <a:p>
            <a:r>
              <a:t>Improvement = base error minus extended error = 0.5.</a:t>
            </a:r>
          </a:p>
          <a:p>
            <a:r>
              <a:t/>
            </a:r>
          </a:p>
          <a:p>
            <a:r>
              <a:t>Keep the training rows, validation rows, model family and metric fixed.</a:t>
            </a:r>
          </a:p>
          <a:p>
            <a:r>
              <a:t/>
            </a:r>
          </a:p>
          <a:p>
            <a:r>
              <a:t>Continue to</a:t>
            </a:r>
          </a:p>
          <a:p>
            <a:r>
              <a:t>Feature comparisons in Python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Feature comparisons in Python</a:t>
            </a:r>
          </a:p>
          <a:p>
            <a:r>
              <a:t>CML3113, Week 11, slide 14</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Read the displayed code line by line</a:t>
            </a:r>
          </a:p>
          <a:p>
            <a:r>
              <a:t>load_pct = 40</a:t>
            </a:r>
          </a:p>
          <a:p>
            <a:r>
              <a:t>Evaluate the complete right-hand expression first, then assign its result to the name or selected field on the left.</a:t>
            </a:r>
          </a:p>
          <a:p>
            <a:r>
              <a:t/>
            </a:r>
          </a:p>
          <a:p>
            <a:r>
              <a:t>ambient_c = 25</a:t>
            </a:r>
          </a:p>
          <a:p>
            <a:r>
              <a:t>Evaluate the complete right-hand expression first, then assign its result to the name or selected field on the left.</a:t>
            </a:r>
          </a:p>
          <a:p>
            <a:r>
              <a:t/>
            </a:r>
          </a:p>
          <a:p>
            <a:r>
              <a:t>load_fraction = load_pct / 100</a:t>
            </a:r>
          </a:p>
          <a:p>
            <a:r>
              <a:t>Evaluate the complete right-hand expression first, then assign its result to the name or selected field on the left.</a:t>
            </a:r>
          </a:p>
          <a:p>
            <a:r>
              <a:t/>
            </a:r>
          </a:p>
          <a:p>
            <a:r>
              <a:t>interaction = load_pct * ambient_c</a:t>
            </a:r>
          </a:p>
          <a:p>
            <a:r>
              <a:t>Evaluate the complete right-hand expression first, then assign its result to the name or selected field on the left.</a:t>
            </a:r>
          </a:p>
          <a:p>
            <a:r>
              <a:t/>
            </a:r>
          </a:p>
          <a:p>
            <a:r>
              <a:t>print(load_fraction, interaction)</a:t>
            </a:r>
          </a:p>
          <a:p>
            <a:r>
              <a:t>Evaluate the expression inside the parentheses and display it. Displaying is separate from returning a function result.</a:t>
            </a:r>
          </a:p>
          <a:p>
            <a:r>
              <a:t/>
            </a:r>
          </a:p>
          <a:p>
            <a:r>
              <a:t>base_mae = 3.0</a:t>
            </a:r>
          </a:p>
          <a:p>
            <a:r>
              <a:t>Evaluate the complete right-hand expression first, then assign its result to the name or selected field on the left.</a:t>
            </a:r>
          </a:p>
          <a:p>
            <a:r>
              <a:t/>
            </a:r>
          </a:p>
          <a:p>
            <a:r>
              <a:t>extended_mae = 2.5</a:t>
            </a:r>
          </a:p>
          <a:p>
            <a:r>
              <a:t>Evaluate the complete right-hand expression first, then assign its result to the name or selected field on the left.</a:t>
            </a:r>
          </a:p>
          <a:p>
            <a:r>
              <a:t/>
            </a:r>
          </a:p>
          <a:p>
            <a:r>
              <a:t>print(base_mae - extended_mae)</a:t>
            </a:r>
          </a:p>
          <a:p>
            <a:r>
              <a:t>Evaluate the expression inside the parentheses and display it. Displaying is separate from returning a function result.</a:t>
            </a:r>
          </a:p>
          <a:p>
            <a:r>
              <a:t/>
            </a:r>
          </a:p>
          <a:p>
            <a:r>
              <a:t>Result / continuity</a:t>
            </a:r>
          </a:p>
          <a:p>
            <a:r>
              <a:t>Read top to bottom. Run the complete example in the matching practice notebook.</a:t>
            </a:r>
          </a:p>
          <a:p>
            <a:r>
              <a:t/>
            </a:r>
          </a:p>
          <a:p>
            <a:r>
              <a:t>Continue to</a:t>
            </a:r>
          </a:p>
          <a:p>
            <a:r>
              <a:t>Feature comparisons results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Feature comparisons results</a:t>
            </a:r>
          </a:p>
          <a:p>
            <a:r>
              <a:t>CML3113, Week 11, slide 15</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On this slide</a:t>
            </a:r>
          </a:p>
          <a:p>
            <a:r>
              <a:t>0.4 1000</a:t>
            </a:r>
          </a:p>
          <a:p>
            <a:r>
              <a:t>0.5</a:t>
            </a:r>
          </a:p>
          <a:p>
            <a:r>
              <a:t/>
            </a:r>
          </a:p>
          <a:p>
            <a:r>
              <a:t>Continue to</a:t>
            </a:r>
          </a:p>
          <a:p>
            <a:r>
              <a:t>Read the two-model experiment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Read the two-model experiment</a:t>
            </a:r>
          </a:p>
          <a:p>
            <a:r>
              <a:t>CML3113, Week 11, slide 16</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On this slide</a:t>
            </a:r>
          </a:p>
          <a:p>
            <a:r>
              <a:t>Each row contains a pair of inputs. for a, b in rows assigns the first entry to a and the second to b, then repeats the block.</a:t>
            </a:r>
          </a:p>
          <a:p>
            <a:r>
              <a:t/>
            </a:r>
          </a:p>
          <a:p>
            <a:r>
              <a:t>with_interaction returns a new table containing a, b and a × b. Both models keep the same training and validation rows.</a:t>
            </a:r>
          </a:p>
          <a:p>
            <a:r>
              <a:t/>
            </a:r>
          </a:p>
          <a:p>
            <a:r>
              <a:t>Create the model first, then call fit on the next line. round(value, 6) rounds a displayed number to six decimal places; retain full precision for calculations.</a:t>
            </a:r>
          </a:p>
          <a:p>
            <a:r>
              <a:t/>
            </a:r>
          </a:p>
          <a:p>
            <a:r>
              <a:t>Continue to</a:t>
            </a:r>
          </a:p>
          <a:p>
            <a:r>
              <a:t>Trace the interaction-building function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Trace the interaction-building function</a:t>
            </a:r>
          </a:p>
          <a:p>
            <a:r>
              <a:t>CML3113, Week 11, slide 17</a:t>
            </a:r>
          </a:p>
          <a:p>
            <a:r>
              <a:t/>
            </a:r>
          </a:p>
          <a:p>
            <a:r>
              <a:t>Explanation to give</a:t>
            </a:r>
          </a:p>
          <a:p>
            <a:r>
              <a:t>A derived feature is a new input calculated from known inputs. Explain its physical or operational reason and its units before presenting it to a model. An interaction allows one input's effect to depend on another.</a:t>
            </a:r>
          </a:p>
          <a:p>
            <a:r>
              <a:t/>
            </a:r>
          </a:p>
          <a:p>
            <a:r>
              <a:t>Worked illustration / lecturer answer</a:t>
            </a:r>
          </a:p>
          <a:p>
            <a:r>
              <a:t>For load_pct 50 and ambient_c 30, the course interaction load_pct * ambient_c is 1500. Separately, load_pct / 100 gives the fraction 0.5. These are different derived quantities. The interaction is a hypothesis to test, not a measured law.</a:t>
            </a:r>
          </a:p>
          <a:p>
            <a:r>
              <a:t/>
            </a:r>
          </a:p>
          <a:p>
            <a:r>
              <a:t>Misconception to address</a:t>
            </a:r>
          </a:p>
          <a:p>
            <a:r>
              <a:t>A plausible physical story does not guarantee an improvement. Do not use the target or information that would only become available after the prediction.</a:t>
            </a:r>
          </a:p>
          <a:p>
            <a:r>
              <a:t/>
            </a:r>
          </a:p>
          <a:p>
            <a:r>
              <a:t>On this slide</a:t>
            </a:r>
          </a:p>
          <a:p>
            <a:r>
              <a:t>Each row contains two inputs. for a, b in rows: assigns them to a and b. [a, b, a * b] builds a new row with their product as a third input.</a:t>
            </a:r>
          </a:p>
          <a:p>
            <a:r>
              <a:t/>
            </a:r>
          </a:p>
          <a:p>
            <a:r>
              <a:t>For row [2, 3], append [2, 3, 6]. For row [4, 5], append [4, 5, 20]. The function returns the newly built list of rows.</a:t>
            </a:r>
          </a:p>
          <a:p>
            <a:r>
              <a:t/>
            </a:r>
          </a:p>
          <a:p>
            <a:r>
              <a:t>The same function must transform both training and validation inputs. It uses no target values to construct the new feature.</a:t>
            </a:r>
          </a:p>
          <a:p>
            <a:r>
              <a:t/>
            </a:r>
          </a:p>
          <a:p>
            <a:r>
              <a:t>Reference / existing resource</a:t>
            </a:r>
          </a:p>
          <a:p>
            <a:r>
              <a:t>https://docs.python.org/3/tutorial/introduction.html</a:t>
            </a:r>
          </a:p>
          <a:p>
            <a:r>
              <a:t>https://docs.python.org/3/tutorial/controlflow.html;</a:t>
            </a:r>
          </a:p>
          <a:p>
            <a:r>
              <a:t/>
            </a:r>
          </a:p>
          <a:p>
            <a:r>
              <a:t>Continue to</a:t>
            </a:r>
          </a:p>
          <a:p>
            <a:r>
              <a:t>Two models under one protocol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Two models under one protocol</a:t>
            </a:r>
          </a:p>
          <a:p>
            <a:r>
              <a:t>CML3113, Week 11, slide 18</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On this slide</a:t>
            </a:r>
          </a:p>
          <a:p>
            <a:r>
              <a:t>Run this complete practice experiment in a fresh session.</a:t>
            </a:r>
          </a:p>
          <a:p>
            <a:r>
              <a:t/>
            </a:r>
          </a:p>
          <a:p>
            <a:r>
              <a:t>Both models use the same rows and targets; the second receives one additional input.</a:t>
            </a:r>
          </a:p>
          <a:p>
            <a:r>
              <a:t/>
            </a:r>
          </a:p>
          <a:p>
            <a:r>
              <a:t>Read every column before fitting.</a:t>
            </a:r>
          </a:p>
          <a:p>
            <a:r>
              <a:t/>
            </a:r>
          </a:p>
          <a:p>
            <a:r>
              <a:t>This invented experiment illustrates procedure, not a measured engineering benefit.</a:t>
            </a:r>
          </a:p>
          <a:p>
            <a:r>
              <a:t/>
            </a:r>
          </a:p>
          <a:p>
            <a:r>
              <a:t>Continue to</a:t>
            </a:r>
          </a:p>
          <a:p>
            <a:r>
              <a:t>Two models under one protocol in Python (1/3)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Two models under one protocol in Python (1/3)</a:t>
            </a:r>
          </a:p>
          <a:p>
            <a:r>
              <a:t>CML3113, Week 11, slide 19</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Read the displayed code line by line</a:t>
            </a:r>
          </a:p>
          <a:p>
            <a:r>
              <a:t>from sklearn.linear_model import LinearRegression</a:t>
            </a:r>
          </a:p>
          <a:p>
            <a:r>
              <a:t>Bring the named tool from this library into the current Python session.</a:t>
            </a:r>
          </a:p>
          <a:p>
            <a:r>
              <a:t/>
            </a:r>
          </a:p>
          <a:p>
            <a:r>
              <a:t>from sklearn.metrics import mean_absolute_error</a:t>
            </a:r>
          </a:p>
          <a:p>
            <a:r>
              <a:t>Bring the named tool from this library into the current Python session.</a:t>
            </a:r>
          </a:p>
          <a:p>
            <a:r>
              <a:t/>
            </a:r>
          </a:p>
          <a:p>
            <a:r>
              <a:t>train = [[1, 2], [2, 3], [3, 2], [4, 4], [5, 3]]</a:t>
            </a:r>
          </a:p>
          <a:p>
            <a:r>
              <a:t>Evaluate the complete right-hand expression first, then assign its result to the name or selected field on the left.</a:t>
            </a:r>
          </a:p>
          <a:p>
            <a:r>
              <a:t/>
            </a:r>
          </a:p>
          <a:p>
            <a:r>
              <a:t>y = [3, 5, 5, 8, 8]</a:t>
            </a:r>
          </a:p>
          <a:p>
            <a:r>
              <a:t>Evaluate the complete right-hand expression first, then assign its result to the name or selected field on the left.</a:t>
            </a:r>
          </a:p>
          <a:p>
            <a:r>
              <a:t/>
            </a:r>
          </a:p>
          <a:p>
            <a:r>
              <a:t>validation = [[2, 2], [3, 3]]</a:t>
            </a:r>
          </a:p>
          <a:p>
            <a:r>
              <a:t>Evaluate the complete right-hand expression first, then assign its result to the name or selected field on the left.</a:t>
            </a:r>
          </a:p>
          <a:p>
            <a:r>
              <a:t/>
            </a:r>
          </a:p>
          <a:p>
            <a:r>
              <a:t>truth = [4, 6]</a:t>
            </a:r>
          </a:p>
          <a:p>
            <a:r>
              <a:t>Evaluate the complete right-hand expression first, then assign its result to the name or selected field on the left.</a:t>
            </a:r>
          </a:p>
          <a:p>
            <a:r>
              <a:t/>
            </a:r>
          </a:p>
          <a:p>
            <a:r>
              <a:t>Result / continuity</a:t>
            </a:r>
          </a:p>
          <a:p>
            <a:r>
              <a:t>Read top to bottom. Run the complete example in the matching practice notebook.</a:t>
            </a:r>
          </a:p>
          <a:p>
            <a:r>
              <a:t/>
            </a:r>
          </a:p>
          <a:p>
            <a:r>
              <a:t>Continue to</a:t>
            </a:r>
          </a:p>
          <a:p>
            <a:r>
              <a:t>Two models under one protocol in Python (2/3)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Two models under one protocol in Python (2/3)</a:t>
            </a:r>
          </a:p>
          <a:p>
            <a:r>
              <a:t>CML3113, Week 11, slide 20</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Read the displayed code line by line</a:t>
            </a:r>
          </a:p>
          <a:p>
            <a:r>
              <a:t>def with_interaction(rows):</a:t>
            </a:r>
          </a:p>
          <a:p>
            <a:r>
              <a:t>Store these instructions under this function name. Names in parentheses are its inputs; the body waits until a call.</a:t>
            </a:r>
          </a:p>
          <a:p>
            <a:r>
              <a:t/>
            </a:r>
          </a:p>
          <a:p>
            <a:r>
              <a:t>result = []</a:t>
            </a:r>
          </a:p>
          <a:p>
            <a:r>
              <a:t>Evaluate the complete right-hand expression first, then assign its result to the name or selected field on the left.</a:t>
            </a:r>
          </a:p>
          <a:p>
            <a:r>
              <a:t/>
            </a:r>
          </a:p>
          <a:p>
            <a:r>
              <a:t>for a, b in rows:</a:t>
            </a:r>
          </a:p>
          <a:p>
            <a:r>
              <a:t>Take each item or pair in turn, assign the loop name(s), and repeat the indented body.</a:t>
            </a:r>
          </a:p>
          <a:p>
            <a:r>
              <a:t/>
            </a:r>
          </a:p>
          <a:p>
            <a:r>
              <a:t>result.append([a, b, a * b])</a:t>
            </a:r>
          </a:p>
          <a:p>
            <a:r>
              <a:t>Evaluate the argument and add it as one new item at the end of this list.</a:t>
            </a:r>
          </a:p>
          <a:p>
            <a:r>
              <a:t/>
            </a:r>
          </a:p>
          <a:p>
            <a:r>
              <a:t>return result</a:t>
            </a:r>
          </a:p>
          <a:p>
            <a:r>
              <a:t>Evaluate this result and send it to the caller, ending this function call.</a:t>
            </a:r>
          </a:p>
          <a:p>
            <a:r>
              <a:t/>
            </a:r>
          </a:p>
          <a:p>
            <a:r>
              <a:t>base = LinearRegression()</a:t>
            </a:r>
          </a:p>
          <a:p>
            <a:r>
              <a:t>Evaluate the complete right-hand expression first, then assign its result to the name or selected field on the left.</a:t>
            </a:r>
          </a:p>
          <a:p>
            <a:r>
              <a:t/>
            </a:r>
          </a:p>
          <a:p>
            <a:r>
              <a:t>base.fit(train, y)</a:t>
            </a:r>
          </a:p>
          <a:p>
            <a:r>
              <a:t>Learn from the supplied training rows and their aligned targets. This changes the fitted object’s state.</a:t>
            </a:r>
          </a:p>
          <a:p>
            <a:r>
              <a:t/>
            </a:r>
          </a:p>
          <a:p>
            <a:r>
              <a:t>extended = LinearRegression()</a:t>
            </a:r>
          </a:p>
          <a:p>
            <a:r>
              <a:t>Evaluate the complete right-hand expression first, then assign its result to the name or selected field on the left.</a:t>
            </a:r>
          </a:p>
          <a:p>
            <a:r>
              <a:t/>
            </a:r>
          </a:p>
          <a:p>
            <a:r>
              <a:t>extended.fit(with_interaction(train), y)</a:t>
            </a:r>
          </a:p>
          <a:p>
            <a:r>
              <a:t>Learn from the supplied training rows and their aligned targets. This changes the fitted object’s state.</a:t>
            </a:r>
          </a:p>
          <a:p>
            <a:r>
              <a:t/>
            </a:r>
          </a:p>
          <a:p>
            <a:r>
              <a:t>base_predictions = base.predict(validation)</a:t>
            </a:r>
          </a:p>
          <a:p>
            <a:r>
              <a:t>Apply the already fitted rule to these input rows without passing their true targets.</a:t>
            </a:r>
          </a:p>
          <a:p>
            <a:r>
              <a:t/>
            </a:r>
          </a:p>
          <a:p>
            <a:r>
              <a:t>base_error = mean_absolute_error(truth, base_predictions)</a:t>
            </a:r>
          </a:p>
          <a:p>
            <a:r>
              <a:t>Evaluate the complete right-hand expression first, then assign its result to the name or selected field on the left.</a:t>
            </a:r>
          </a:p>
          <a:p>
            <a:r>
              <a:t/>
            </a:r>
          </a:p>
          <a:p>
            <a:r>
              <a:t>Result / continuity</a:t>
            </a:r>
          </a:p>
          <a:p>
            <a:r>
              <a:t>Continue the SAME cell; keep indentation. Run after all parts are entered.</a:t>
            </a:r>
          </a:p>
          <a:p>
            <a:r>
              <a:t/>
            </a:r>
          </a:p>
          <a:p>
            <a:r>
              <a:t>Continue to</a:t>
            </a:r>
          </a:p>
          <a:p>
            <a:r>
              <a:t>Two models under one protocol in Python (3/3)</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Two models under one protocol in Python (3/3)</a:t>
            </a:r>
          </a:p>
          <a:p>
            <a:r>
              <a:t>CML3113, Week 11, slide 21</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Read the displayed code line by line</a:t>
            </a:r>
          </a:p>
          <a:p>
            <a:r>
              <a:t>print(round(base_error, 6))</a:t>
            </a:r>
          </a:p>
          <a:p>
            <a:r>
              <a:t>Evaluate the expression inside the parentheses and display it. Displaying is separate from returning a function result.</a:t>
            </a:r>
          </a:p>
          <a:p>
            <a:r>
              <a:t/>
            </a:r>
          </a:p>
          <a:p>
            <a:r>
              <a:t>validation_features = with_interaction(validation)</a:t>
            </a:r>
          </a:p>
          <a:p>
            <a:r>
              <a:t>Evaluate the complete right-hand expression first, then assign its result to the name or selected field on the left.</a:t>
            </a:r>
          </a:p>
          <a:p>
            <a:r>
              <a:t/>
            </a:r>
          </a:p>
          <a:p>
            <a:r>
              <a:t>extended_predictions = extended.predict(validation_features)</a:t>
            </a:r>
          </a:p>
          <a:p>
            <a:r>
              <a:t>Apply the already fitted rule to these input rows without passing their true targets.</a:t>
            </a:r>
          </a:p>
          <a:p>
            <a:r>
              <a:t/>
            </a:r>
          </a:p>
          <a:p>
            <a:r>
              <a:t>error = mean_absolute_error(truth, extended_predictions)</a:t>
            </a:r>
          </a:p>
          <a:p>
            <a:r>
              <a:t>Evaluate the complete right-hand expression first, then assign its result to the name or selected field on the left.</a:t>
            </a:r>
          </a:p>
          <a:p>
            <a:r>
              <a:t/>
            </a:r>
          </a:p>
          <a:p>
            <a:r>
              <a:t>print(round(error, 6))</a:t>
            </a:r>
          </a:p>
          <a:p>
            <a:r>
              <a:t>Evaluate the expression inside the parentheses and display it. Displaying is separate from returning a function result.</a:t>
            </a:r>
          </a:p>
          <a:p>
            <a:r>
              <a:t/>
            </a:r>
          </a:p>
          <a:p>
            <a:r>
              <a:t>Result / continuity</a:t>
            </a:r>
          </a:p>
          <a:p>
            <a:r>
              <a:t>Continue the SAME cell; keep indentation. Run after all parts are entered.</a:t>
            </a:r>
          </a:p>
          <a:p>
            <a:r>
              <a:t/>
            </a:r>
          </a:p>
          <a:p>
            <a:r>
              <a:t>Continue to</a:t>
            </a:r>
          </a:p>
          <a:p>
            <a:r>
              <a:t>Scaling changes units of comparison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Scaling changes units of comparison</a:t>
            </a:r>
          </a:p>
          <a:p>
            <a:r>
              <a:t>CML3113, Week 11, slide 22</a:t>
            </a:r>
          </a:p>
          <a:p>
            <a:r>
              <a:t/>
            </a:r>
          </a:p>
          <a:p>
            <a:r>
              <a:t>Explanation to give</a:t>
            </a:r>
          </a:p>
          <a:p>
            <a:r>
              <a:t>Scaling changes numerical ranges to make inputs comparable for algorithms that are sensitive to magnitude. Learn the scaling values from the training subset and apply the same transformation later.</a:t>
            </a:r>
          </a:p>
          <a:p>
            <a:r>
              <a:t/>
            </a:r>
          </a:p>
          <a:p>
            <a:r>
              <a:t>Worked illustration / lecturer answer</a:t>
            </a:r>
          </a:p>
          <a:p>
            <a:r>
              <a:t>Converting a length from metres to millimetres multiplies its numeric value by 1000 without changing the physical length. Standardisation uses training mean and standard deviation to express relative position.</a:t>
            </a:r>
          </a:p>
          <a:p>
            <a:r>
              <a:t/>
            </a:r>
          </a:p>
          <a:p>
            <a:r>
              <a:t>Misconception to address</a:t>
            </a:r>
          </a:p>
          <a:p>
            <a:r>
              <a:t>Scaling is not evidence that all features are equally useful. Never learn the scaler separately on validation or test observations.</a:t>
            </a:r>
          </a:p>
          <a:p>
            <a:r>
              <a:t/>
            </a:r>
          </a:p>
          <a:p>
            <a:r>
              <a:t>On this slide</a:t>
            </a:r>
          </a:p>
          <a:p>
            <a:r>
              <a:t>A distance calculation can be dominated by a feature with larger numerical values. Scaling puts feature values on a chosen numerical scale.</a:t>
            </a:r>
          </a:p>
          <a:p>
            <a:r>
              <a:t/>
            </a:r>
          </a:p>
          <a:p>
            <a:r>
              <a:t>One example is (value - training_min) / (training_max - training_min). With training limits 10 and 30, value 20 becomes 10 / 20 = 0.5.</a:t>
            </a:r>
          </a:p>
          <a:p>
            <a:r>
              <a:t/>
            </a:r>
          </a:p>
          <a:p>
            <a:r>
              <a:t>Use the same learned limits for new observations. A zero training range needs a defined handling rule. New values outside the training range may scale outside 0 to 1.</a:t>
            </a:r>
          </a:p>
          <a:p>
            <a:r>
              <a:t/>
            </a:r>
          </a:p>
          <a:p>
            <a:r>
              <a:t>Reference / existing resource</a:t>
            </a:r>
          </a:p>
          <a:p>
            <a:r>
              <a:t>https://docs.python.org/3/tutorial/introduction.html</a:t>
            </a:r>
          </a:p>
          <a:p>
            <a:r>
              <a:t>https://docs.python.org/3/tutorial/controlflow.html;</a:t>
            </a:r>
          </a:p>
          <a:p>
            <a:r>
              <a:t/>
            </a:r>
          </a:p>
          <a:p>
            <a:r>
              <a:t>Continue to</a:t>
            </a:r>
          </a:p>
          <a:p>
            <a:r>
              <a:t>Encoding and Scaling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Encoding and Scaling</a:t>
            </a:r>
          </a:p>
          <a:p>
            <a:r>
              <a:t>CML3113, Week 11, slide 23</a:t>
            </a:r>
          </a:p>
          <a:p>
            <a:r>
              <a:t/>
            </a:r>
          </a:p>
          <a:p>
            <a:r>
              <a:t>Explanation to give</a:t>
            </a:r>
          </a:p>
          <a:p>
            <a:r>
              <a:t>One-hot encoding gives each category its own indicator column. A row has a 1 in the column matching its category and 0 in the others.</a:t>
            </a:r>
          </a:p>
          <a:p>
            <a:r>
              <a:t/>
            </a:r>
          </a:p>
          <a:p>
            <a:r>
              <a:t>Worked illustration / lecturer answer</a:t>
            </a:r>
          </a:p>
          <a:p>
            <a:r>
              <a:t>For categories A and B, an A row becomes [1,0] and a B row becomes [0,1]. Assigning A=1 and B=2 could accidentally suggest a meaningful numerical distance or order.</a:t>
            </a:r>
          </a:p>
          <a:p>
            <a:r>
              <a:t/>
            </a:r>
          </a:p>
          <a:p>
            <a:r>
              <a:t>Misconception to address</a:t>
            </a:r>
          </a:p>
          <a:p>
            <a:r>
              <a:t>Fit the encoder on training data and define how to handle categories not seen during training. Do not invent an ordinal meaning for names.</a:t>
            </a:r>
          </a:p>
          <a:p>
            <a:r>
              <a:t/>
            </a:r>
          </a:p>
          <a:p>
            <a:r>
              <a:t>On this slide</a:t>
            </a:r>
          </a:p>
          <a:p>
            <a:r>
              <a:t>Encoding: Representing a category numerically. One-hot uses separate indicator columns. Arbitrary integer labels can falsely suggest an order.</a:t>
            </a:r>
          </a:p>
          <a:p>
            <a:r>
              <a:t>Scaling: Changing the numerical scale of features. Fit learned scaling on training data only. It matters for distance-based models but is not required by ordinary decision trees.</a:t>
            </a:r>
          </a:p>
          <a:p>
            <a:r>
              <a:t/>
            </a:r>
          </a:p>
          <a:p>
            <a:r>
              <a:t>Continue to</a:t>
            </a:r>
          </a:p>
          <a:p>
            <a:r>
              <a:t>Revision example and answer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Revision example and answer</a:t>
            </a:r>
          </a:p>
          <a:p>
            <a:r>
              <a:t>CML3113, Week 11, slide 24</a:t>
            </a:r>
          </a:p>
          <a:p>
            <a:r>
              <a:t/>
            </a:r>
          </a:p>
          <a:p>
            <a:r>
              <a:t>Explanation to give</a:t>
            </a:r>
          </a:p>
          <a:p>
            <a:r>
              <a:t>Use the displayed example as a short individual revision question, then explain the reasoning behind its answer.</a:t>
            </a:r>
          </a:p>
          <a:p>
            <a:r>
              <a:t/>
            </a:r>
          </a:p>
          <a:p>
            <a:r>
              <a:t>Worked illustration / lecturer answer</a:t>
            </a:r>
          </a:p>
          <a:p>
            <a:r>
              <a:t>Example: If the extended error becomes 3.4, calculate improvement and decide whether this evidence supports retaining the feature.</a:t>
            </a:r>
          </a:p>
          <a:p>
            <a:r>
              <a:t/>
            </a:r>
          </a:p>
          <a:p>
            <a:r>
              <a:t>Answer: Improvement is -0.4. This validation comparison does not support retaining it. One split is limited evidence; the final test remains untouched.</a:t>
            </a:r>
          </a:p>
          <a:p>
            <a:r>
              <a:t/>
            </a:r>
          </a:p>
          <a:p>
            <a:r>
              <a:t>Misconception to address</a:t>
            </a:r>
          </a:p>
          <a:p>
            <a:r>
              <a:t>Trace the operation that changes the value rather than accepting a memorised output. For notebook-state examples, specify which cell is repeated and whether the initialisation ran again.</a:t>
            </a:r>
          </a:p>
          <a:p>
            <a:r>
              <a:t/>
            </a:r>
          </a:p>
          <a:p>
            <a:r>
              <a:t>Continue to</a:t>
            </a:r>
          </a:p>
          <a:p>
            <a:r>
              <a:t>Preparing for the assignment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Preparing for the assignment</a:t>
            </a:r>
          </a:p>
          <a:p>
            <a:r>
              <a:t>CML3113, Week 11, slide 25</a:t>
            </a:r>
          </a:p>
          <a:p>
            <a:r>
              <a:t/>
            </a:r>
          </a:p>
          <a:p>
            <a:r>
              <a:t>Explanation to give</a:t>
            </a:r>
          </a:p>
          <a:p>
            <a:r>
              <a:t>Read the metric with its unit and evaluation population. Explain why that error measure matches the cost of a wrong decision in the stated engineering setting.</a:t>
            </a:r>
          </a:p>
          <a:p>
            <a:r>
              <a:t/>
            </a:r>
          </a:p>
          <a:p>
            <a:r>
              <a:t>Worked illustration / lecturer answer</a:t>
            </a:r>
          </a:p>
          <a:p>
            <a:r>
              <a:t>MAE 3 kW describes an average absolute error on named observations; it does not guarantee every prediction lies within 3 kW. Report baseline comparison and the evaluation protocol.</a:t>
            </a:r>
          </a:p>
          <a:p>
            <a:r>
              <a:t/>
            </a:r>
          </a:p>
          <a:p>
            <a:r>
              <a:t>Misconception to address</a:t>
            </a:r>
          </a:p>
          <a:p>
            <a:r>
              <a:t>Avoid a deployment claim based only on a score. State genuine limitations involving data coverage, measurement quality or future operating conditions.</a:t>
            </a:r>
          </a:p>
          <a:p>
            <a:r>
              <a:t/>
            </a:r>
          </a:p>
          <a:p>
            <a:r>
              <a:t>On this slide</a:t>
            </a:r>
          </a:p>
          <a:p>
            <a:r>
              <a:t>W11 names four output features and a two-model ablation.</a:t>
            </a:r>
          </a:p>
          <a:p>
            <a:r>
              <a:t/>
            </a:r>
          </a:p>
          <a:p>
            <a:r>
              <a:t>Keep the original row order and full precision. Fit preprocessing on the training rows only.</a:t>
            </a:r>
          </a:p>
          <a:p>
            <a:r>
              <a:t/>
            </a:r>
          </a:p>
          <a:p>
            <a:r>
              <a:t>Use the supplied written scenario for the interpretation requested there.</a:t>
            </a:r>
          </a:p>
          <a:p>
            <a:r>
              <a:t/>
            </a:r>
          </a:p>
          <a:p>
            <a:r>
              <a:t>Do not substitute this practice example’s result.</a:t>
            </a:r>
          </a:p>
          <a:p>
            <a:r>
              <a:t/>
            </a:r>
          </a:p>
          <a:p>
            <a:r>
              <a:t>Continue to</a:t>
            </a:r>
          </a:p>
          <a:p>
            <a:r>
              <a:t>Features without misleading evaluation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Features without misleading evaluation</a:t>
            </a:r>
          </a:p>
          <a:p>
            <a:r>
              <a:t>CML3113, Week 11, slide 26</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On this slide</a:t>
            </a:r>
          </a:p>
          <a:p>
            <a:r>
              <a:t>Rescaling an input usually does not change the partitions available to an ordinary decision tree.</a:t>
            </a:r>
          </a:p>
          <a:p>
            <a:r>
              <a:t/>
            </a:r>
          </a:p>
          <a:p>
            <a:r>
              <a:t>An identifier or a future-known field can create an apparent improvement without useful predictive information.</a:t>
            </a:r>
          </a:p>
          <a:p>
            <a:r>
              <a:t/>
            </a:r>
          </a:p>
          <a:p>
            <a:r>
              <a:t>Dividing by zero can produce infinity or an error; decide what the denominator means before replacing it.</a:t>
            </a:r>
          </a:p>
          <a:p>
            <a:r>
              <a:t/>
            </a:r>
          </a:p>
          <a:p>
            <a:r>
              <a:t>Continue to</a:t>
            </a:r>
          </a:p>
          <a:p>
            <a:r>
              <a:t>Features without misleading evaluation continued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Features without misleading evaluation continued</a:t>
            </a:r>
          </a:p>
          <a:p>
            <a:r>
              <a:t>CML3113, Week 11, slide 27</a:t>
            </a:r>
          </a:p>
          <a:p>
            <a:r>
              <a:t/>
            </a:r>
          </a:p>
          <a:p>
            <a:r>
              <a:t>Explanation to give</a:t>
            </a:r>
          </a:p>
          <a:p>
            <a:r>
              <a:t>An ablation comparison changes one feature or component while holding the evaluation protocol fixed. This helps attribute any observed difference to the change being tested.</a:t>
            </a:r>
          </a:p>
          <a:p>
            <a:r>
              <a:t/>
            </a:r>
          </a:p>
          <a:p>
            <a:r>
              <a:t>Worked illustration / lecturer answer</a:t>
            </a:r>
          </a:p>
          <a:p>
            <a:r>
              <a:t>If validation MAE drops from 5 to 4, the absolute reduction is 1 in the target unit and the relative reduction is 20%. If it rises, the extra feature has not helped under this protocol.</a:t>
            </a:r>
          </a:p>
          <a:p>
            <a:r>
              <a:t/>
            </a:r>
          </a:p>
          <a:p>
            <a:r>
              <a:t>Misconception to address</a:t>
            </a:r>
          </a:p>
          <a:p>
            <a:r>
              <a:t>Changing the split, model and feature at once makes attribution unclear. Use the same observations, metric and fitting rules for both variants.</a:t>
            </a:r>
          </a:p>
          <a:p>
            <a:r>
              <a:t/>
            </a:r>
          </a:p>
          <a:p>
            <a:r>
              <a:t>On this slide</a:t>
            </a:r>
          </a:p>
          <a:p>
            <a:r>
              <a:t>Read ablation differences using the same error definition, and explain features using domain knowledge.</a:t>
            </a:r>
          </a:p>
          <a:p>
            <a:r>
              <a:t/>
            </a:r>
          </a:p>
          <a:p>
            <a:r>
              <a:t>Continue to</a:t>
            </a:r>
          </a:p>
          <a:p>
            <a:r>
              <a:t>Your issued task</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Your issued task</a:t>
            </a:r>
          </a:p>
          <a:p>
            <a:r>
              <a:t>CML3113, Week 11, slide 28</a:t>
            </a:r>
          </a:p>
          <a:p>
            <a:r>
              <a:t/>
            </a:r>
          </a:p>
          <a:p>
            <a:r>
              <a:t>Explanation to give</a:t>
            </a:r>
          </a:p>
          <a:p>
            <a:r>
              <a:t>Name this cohort’s target and its unit exactly as displayed. Each row is one operating observation, while equipment_id can repeat across several observations.</a:t>
            </a:r>
          </a:p>
          <a:p>
            <a:r>
              <a:t/>
            </a:r>
          </a:p>
          <a:p>
            <a:r>
              <a:t>Worked illustration / lecturer answer</a:t>
            </a:r>
          </a:p>
          <a:p>
            <a:r>
              <a:t>Explain record_id as the identifier of an observation, load_pct as load expressed in percent and ambient_c as temperature in degrees Celsius. The target records the known answer in training data.</a:t>
            </a:r>
          </a:p>
          <a:p>
            <a:r>
              <a:t/>
            </a:r>
          </a:p>
          <a:p>
            <a:r>
              <a:t>Misconception to address</a:t>
            </a:r>
          </a:p>
          <a:p>
            <a:r>
              <a:t>These are synthetic examples for learning. They do not establish a calibrated physical relationship or justify operation of real equipment.</a:t>
            </a:r>
          </a:p>
          <a:p>
            <a:r>
              <a:t/>
            </a:r>
          </a:p>
          <a:p>
            <a:r>
              <a:t>On this slide</a:t>
            </a:r>
          </a:p>
          <a:p>
            <a:r>
              <a:t>Investigate crusher energy demand.</a:t>
            </a:r>
          </a:p>
          <a:p>
            <a:r>
              <a:t/>
            </a:r>
          </a:p>
          <a:p>
            <a:r>
              <a:t>Target units: kWh/t.</a:t>
            </a:r>
          </a:p>
          <a:p>
            <a:r>
              <a:t/>
            </a:r>
          </a:p>
          <a:p>
            <a:r>
              <a:t>These are synthetic teaching records, not measurements suitable for deployment.</a:t>
            </a:r>
          </a:p>
          <a:p>
            <a:r>
              <a:t/>
            </a:r>
          </a:p>
          <a:p>
            <a:r>
              <a:t>Each record is one operating observation; equipment_id repeats across observations.</a:t>
            </a:r>
          </a:p>
          <a:p>
            <a:r>
              <a:t/>
            </a:r>
          </a:p>
          <a:p>
            <a:r>
              <a:t>Continue to</a:t>
            </a:r>
          </a:p>
          <a:p>
            <a:r>
              <a:t>make_features(feature_records)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make_features(feature_records)</a:t>
            </a:r>
          </a:p>
          <a:p>
            <a:r>
              <a:t>CML3113, Week 11, slide 29</a:t>
            </a:r>
          </a:p>
          <a:p>
            <a:r>
              <a:t/>
            </a:r>
          </a:p>
          <a:p>
            <a:r>
              <a:t>Explanation to give</a:t>
            </a:r>
          </a:p>
          <a:p>
            <a:r>
              <a:t>Create the requested numeric feature rows in the same order as the input records. Use only information available at prediction time.</a:t>
            </a:r>
          </a:p>
          <a:p>
            <a:r>
              <a:t/>
            </a:r>
          </a:p>
          <a:p>
            <a:r>
              <a:t>Worked illustration / lecturer answer</a:t>
            </a:r>
          </a:p>
          <a:p>
            <a:r>
              <a:t>Distinguish load_pct from load_pct/100. The task’s named interaction uses its exact published formula; a mathematically related alternative would still violate the interface.</a:t>
            </a:r>
          </a:p>
          <a:p>
            <a:r>
              <a:t/>
            </a:r>
          </a:p>
          <a:p>
            <a:r>
              <a:t>Misconception to address</a:t>
            </a:r>
          </a:p>
          <a:p>
            <a:r>
              <a:t>Keep the exact output names and required types. Use the task text for the learner’s own assessed answer; the alternate example explains the method without replacing their work.</a:t>
            </a:r>
          </a:p>
          <a:p>
            <a:r>
              <a:t/>
            </a:r>
          </a:p>
          <a:p>
            <a:r>
              <a:t>On this slide</a:t>
            </a:r>
          </a:p>
          <a:p>
            <a:r>
              <a:t>Return one feature row per input, in order: [load_pct, ambient_c, load_pct/100, load_pct*ambient_c].</a:t>
            </a:r>
          </a:p>
          <a:p>
            <a:r>
              <a:t/>
            </a:r>
          </a:p>
          <a:p>
            <a:r>
              <a:t>Use inputs available at prediction time only.</a:t>
            </a:r>
          </a:p>
          <a:p>
            <a:r>
              <a:t/>
            </a:r>
          </a:p>
          <a:p>
            <a:r>
              <a:t>Continue to</a:t>
            </a:r>
          </a:p>
          <a:p>
            <a:r>
              <a:t>ablation_metrics(training_records, validation_records)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ablation_metrics(training_records, validation_records)</a:t>
            </a:r>
          </a:p>
          <a:p>
            <a:r>
              <a:t>CML3113, Week 11, slide 30</a:t>
            </a:r>
          </a:p>
          <a:p>
            <a:r>
              <a:t/>
            </a:r>
          </a:p>
          <a:p>
            <a:r>
              <a:t>Explanation to give</a:t>
            </a:r>
          </a:p>
          <a:p>
            <a:r>
              <a:t>Compare the original and extended feature sets with the same training and validation observations and the same model protocol.</a:t>
            </a:r>
          </a:p>
          <a:p>
            <a:r>
              <a:t/>
            </a:r>
          </a:p>
          <a:p>
            <a:r>
              <a:t>Worked illustration / lecturer answer</a:t>
            </a:r>
          </a:p>
          <a:p>
            <a:r>
              <a:t>Return the specified metrics and improvement calculation. A reduction from MAE 5 to 4 is improvement 1, not -1, when the contract defines before minus after.</a:t>
            </a:r>
          </a:p>
          <a:p>
            <a:r>
              <a:t/>
            </a:r>
          </a:p>
          <a:p>
            <a:r>
              <a:t>Misconception to address</a:t>
            </a:r>
          </a:p>
          <a:p>
            <a:r>
              <a:t>Keep the exact output names and required types. Use the task text for the learner’s own assessed answer; the alternate example explains the method without replacing their work.</a:t>
            </a:r>
          </a:p>
          <a:p>
            <a:r>
              <a:t/>
            </a:r>
          </a:p>
          <a:p>
            <a:r>
              <a:t>On this slide</a:t>
            </a:r>
          </a:p>
          <a:p>
            <a:r>
              <a:t>Fit two sklearn LinearRegression models on the same training records: base features [load_pct, ambient_c] and extended features adding load_pct*ambient_c.</a:t>
            </a:r>
          </a:p>
          <a:p>
            <a:r>
              <a:t/>
            </a:r>
          </a:p>
          <a:p>
            <a:r>
              <a:t>Evaluate both on the same validation records.</a:t>
            </a:r>
          </a:p>
          <a:p>
            <a:r>
              <a:t/>
            </a:r>
          </a:p>
          <a:p>
            <a:r>
              <a:t>Return base_mae, extended_mae and improvement=base_mae-extended_mae, without rounding.</a:t>
            </a:r>
          </a:p>
          <a:p>
            <a:r>
              <a:t/>
            </a:r>
          </a:p>
          <a:p>
            <a:r>
              <a:t>Inputs are complete; never fit on validation targets.</a:t>
            </a:r>
          </a:p>
          <a:p>
            <a:r>
              <a:t/>
            </a:r>
          </a:p>
          <a:p>
            <a:r>
              <a:t>Continue to</a:t>
            </a:r>
          </a:p>
          <a:p>
            <a:r>
              <a:t>Written evidence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Written evidence</a:t>
            </a:r>
          </a:p>
          <a:p>
            <a:r>
              <a:t>CML3113, Week 11, slide 31</a:t>
            </a:r>
          </a:p>
          <a:p>
            <a:r>
              <a:t/>
            </a:r>
          </a:p>
          <a:p>
            <a:r>
              <a:t>Explanation to give</a:t>
            </a:r>
          </a:p>
          <a:p>
            <a:r>
              <a:t>Show the actual markdown answer cell headed My written evidence. This is where the learner explains the choices and the supplied scenario in their own words.</a:t>
            </a:r>
          </a:p>
          <a:p>
            <a:r>
              <a:t/>
            </a:r>
          </a:p>
          <a:p>
            <a:r>
              <a:t>Worked illustration / lecturer answer</a:t>
            </a:r>
          </a:p>
          <a:p>
            <a:r>
              <a:t>A useful explanation connects a decision to a named result and its limitation: for example, why a training-only median avoids using evaluation information. Describe supplied scenario figures as supplied, not as measurements the learner produced.</a:t>
            </a:r>
          </a:p>
          <a:p>
            <a:r>
              <a:t/>
            </a:r>
          </a:p>
          <a:p>
            <a:r>
              <a:t>Misconception to address</a:t>
            </a:r>
          </a:p>
          <a:p>
            <a:r>
              <a:t>Prompts and copied code comments do not substitute for the learner’s reasoning. Weekly work and tests use the notebook; projects also require their separate readable report.</a:t>
            </a:r>
          </a:p>
          <a:p>
            <a:r>
              <a:t/>
            </a:r>
          </a:p>
          <a:p>
            <a:r>
              <a:t>On this slide</a:t>
            </a:r>
          </a:p>
          <a:p>
            <a:r>
              <a:t>Use the cell headed “My written evidence”.</a:t>
            </a:r>
          </a:p>
          <a:p>
            <a:r>
              <a:t/>
            </a:r>
          </a:p>
          <a:p>
            <a:r>
              <a:t>Explain the supplied scenario in your own words.</a:t>
            </a:r>
          </a:p>
          <a:p>
            <a:r>
              <a:t/>
            </a:r>
          </a:p>
          <a:p>
            <a:r>
              <a:t>State target units, reasons and limitations.</a:t>
            </a:r>
          </a:p>
          <a:p>
            <a:r>
              <a:t/>
            </a:r>
          </a:p>
          <a:p>
            <a:r>
              <a:t>Submit one complete notebook containing code and written evidence.</a:t>
            </a:r>
          </a:p>
          <a:p>
            <a:r>
              <a:t/>
            </a:r>
          </a:p>
          <a:p>
            <a:r>
              <a:t>Continue to</a:t>
            </a:r>
          </a:p>
          <a:p>
            <a:r>
              <a:t>Features and ablation submission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Features and ablation submission</a:t>
            </a:r>
          </a:p>
          <a:p>
            <a:r>
              <a:t>CML3113, Week 11, slide 32</a:t>
            </a:r>
          </a:p>
          <a:p>
            <a:r>
              <a:t/>
            </a:r>
          </a:p>
          <a:p>
            <a:r>
              <a:t>Explanation to give</a:t>
            </a:r>
          </a:p>
          <a:p>
            <a:r>
              <a:t>This slide hands over CML3113 W11. Show the exact form title before uploading. The required packet is one completed .ipynb notebook.</a:t>
            </a:r>
          </a:p>
          <a:p>
            <a:r>
              <a:t/>
            </a:r>
          </a:p>
          <a:p>
            <a:r>
              <a:t>Worked illustration / lecturer answer</a:t>
            </a:r>
          </a:p>
          <a:p>
            <a:r>
              <a:t>The recorded cutoff for this form is 2026-11-27T08:00:00+03:00. Check the live form for later changes. A replacement must contain the complete required file set, not just the changed file.</a:t>
            </a:r>
          </a:p>
          <a:p>
            <a:r>
              <a:t/>
            </a:r>
          </a:p>
          <a:p>
            <a:r>
              <a:t>Misconception to address</a:t>
            </a:r>
          </a:p>
          <a:p>
            <a:r>
              <a:t>Students enter their own Student Registration Number as required freeform text. They wait for filenames to appear, press Submit and keep the confirmation. A file saved in Drive or GitHub is not itself a form submission.</a:t>
            </a:r>
          </a:p>
          <a:p>
            <a:r>
              <a:t/>
            </a:r>
          </a:p>
          <a:p>
            <a:r>
              <a:t>On this slide</a:t>
            </a:r>
          </a:p>
          <a:p>
            <a:r>
              <a:t>Opens: 20 Nov 2026, 08:00 Kampala</a:t>
            </a:r>
          </a:p>
          <a:p>
            <a:r>
              <a:t/>
            </a:r>
          </a:p>
          <a:p>
            <a:r>
              <a:t>Deadline: 27 Nov 2026, 08:00 Kampala</a:t>
            </a:r>
          </a:p>
          <a:p>
            <a:r>
              <a:t/>
            </a:r>
          </a:p>
          <a:p>
            <a:r>
              <a:t>Use your full Student Registration Number in the form.</a:t>
            </a:r>
          </a:p>
          <a:p>
            <a:r>
              <a:t/>
            </a:r>
          </a:p>
          <a:p>
            <a:r>
              <a:t>Keep the submitted files and confirmation.</a:t>
            </a:r>
          </a:p>
          <a:p>
            <a:r>
              <a:t/>
            </a:r>
          </a:p>
          <a:p>
            <a:r>
              <a:t>Continue to</a:t>
            </a:r>
          </a:p>
          <a:p>
            <a:r>
              <a:t>Project preparation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Project preparation</a:t>
            </a:r>
          </a:p>
          <a:p>
            <a:r>
              <a:t>CML3113, Week 11, slide 33</a:t>
            </a:r>
          </a:p>
          <a:p>
            <a:r>
              <a:t/>
            </a:r>
          </a:p>
          <a:p>
            <a:r>
              <a:t>Explanation to give</a:t>
            </a:r>
          </a:p>
          <a:p>
            <a:r>
              <a:t>Make contribution evidence specific enough to check. A seed records the starting state of random choices; a contribution log records who produced and explained which work.</a:t>
            </a:r>
          </a:p>
          <a:p>
            <a:r>
              <a:t/>
            </a:r>
          </a:p>
          <a:p>
            <a:r>
              <a:t>Worked illustration / lecturer answer</a:t>
            </a:r>
          </a:p>
          <a:p>
            <a:r>
              <a:t>Name a file, function or chart and the decision behind it. Match that entry to meaningful repository history. Disclose AI assistance according to the assessment policy.</a:t>
            </a:r>
          </a:p>
          <a:p>
            <a:r>
              <a:t/>
            </a:r>
          </a:p>
          <a:p>
            <a:r>
              <a:t>Misconception to address</a:t>
            </a:r>
          </a:p>
          <a:p>
            <a:r>
              <a:t>Many commits do not necessarily mean substantial work, and a seed does not establish accuracy. Both are supporting evidence, not replacements for the analysis.</a:t>
            </a:r>
          </a:p>
          <a:p>
            <a:r>
              <a:t/>
            </a:r>
          </a:p>
          <a:p>
            <a:r>
              <a:t>On this slide</a:t>
            </a:r>
          </a:p>
          <a:p>
            <a:r>
              <a:t>Use the published machine learning project brief.</a:t>
            </a:r>
          </a:p>
          <a:p>
            <a:r>
              <a:t/>
            </a:r>
          </a:p>
          <a:p>
            <a:r>
              <a:t>Build the evidence gradually in your project notebook.</a:t>
            </a:r>
          </a:p>
          <a:p>
            <a:r>
              <a:t/>
            </a:r>
          </a:p>
          <a:p>
            <a:r>
              <a:t>Keep raw data, labelled charts, run instructions and individual contributions.</a:t>
            </a:r>
          </a:p>
          <a:p>
            <a:r>
              <a:t/>
            </a:r>
          </a:p>
          <a:p>
            <a:r>
              <a:t>Published deadline: 18 Dec 2026, 08:00 Kampala</a:t>
            </a:r>
          </a:p>
          <a:p>
            <a:r>
              <a:t/>
            </a:r>
          </a:p>
          <a:p>
            <a:r>
              <a:t>Continue to</a:t>
            </a:r>
          </a:p>
          <a:p>
            <a:r>
              <a:t>Week 11 quiz</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Week 11 quiz</a:t>
            </a:r>
          </a:p>
          <a:p>
            <a:r>
              <a:t>CML3113, Week 11, slide 34</a:t>
            </a:r>
          </a:p>
          <a:p>
            <a:r>
              <a:t/>
            </a:r>
          </a:p>
          <a:p>
            <a:r>
              <a:t>Explanation to give</a:t>
            </a:r>
          </a:p>
          <a:p>
            <a:r>
              <a:t>This is the CML3113 Week 1 quiz. The student link opens the response form; it does not activate its window. In Quiz Controls use open_W1_CML3113 when ready and read the logged closing time.</a:t>
            </a:r>
          </a:p>
          <a:p>
            <a:r>
              <a:t/>
            </a:r>
          </a:p>
          <a:p>
            <a:r>
              <a:t>Worked illustration / lecturer answer</a:t>
            </a:r>
          </a:p>
          <a:p>
            <a:r>
              <a:t>Explain the distinction between the expected answering time and availability: five minutes of questions can still be available for 24 hours after activation. Enter the learner’s own Student Registration Number and use the registered Google account.</a:t>
            </a:r>
          </a:p>
          <a:p>
            <a:r>
              <a:t/>
            </a:r>
          </a:p>
          <a:p>
            <a:r>
              <a:t>Misconception to address</a:t>
            </a:r>
          </a:p>
          <a:p>
            <a:r>
              <a:t>Read the exact live cutoff before announcing it. Do not promise a new attempt to somebody who already submitted. Quiz catch-up and assignment uploads are separate forms.</a:t>
            </a:r>
          </a:p>
          <a:p>
            <a:r>
              <a:t/>
            </a:r>
          </a:p>
          <a:p>
            <a:r>
              <a:t>On this slide</a:t>
            </a:r>
          </a:p>
          <a:p>
            <a:r>
              <a:t>Answer individually after the lecturer activates the quiz.</a:t>
            </a:r>
          </a:p>
          <a:p>
            <a:r>
              <a:t/>
            </a:r>
          </a:p>
          <a:p>
            <a:r>
              <a:t>Available for 24 hours from activation.</a:t>
            </a:r>
          </a:p>
          <a:p>
            <a:r>
              <a:t/>
            </a:r>
          </a:p>
          <a:p>
            <a:r>
              <a:t>Use your Student Registration Number and registered account.</a:t>
            </a:r>
          </a:p>
          <a:p>
            <a:r>
              <a:t/>
            </a:r>
          </a:p>
          <a:p>
            <a:r>
              <a:t>Check the announced quiz closing time.</a:t>
            </a:r>
          </a:p>
          <a:p>
            <a:r>
              <a:t/>
            </a:r>
          </a:p>
          <a:p>
            <a:r>
              <a:t>Continue to</a:t>
            </a:r>
          </a:p>
          <a:p>
            <a:r>
              <a:t>Revision and submission checklist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Revision and submission checklist</a:t>
            </a:r>
          </a:p>
          <a:p>
            <a:r>
              <a:t>CML3113, Week 11, slide 35</a:t>
            </a:r>
          </a:p>
          <a:p>
            <a:r>
              <a:t/>
            </a:r>
          </a:p>
          <a:p>
            <a:r>
              <a:t>Explanation to give</a:t>
            </a:r>
          </a:p>
          <a:p>
            <a:r>
              <a:t>Explain why a calculated input may help and test the idea under an unchanged validation protocol.</a:t>
            </a:r>
          </a:p>
          <a:p>
            <a:r>
              <a:t/>
            </a:r>
          </a:p>
          <a:p>
            <a:r>
              <a:t>Worked illustration / lecturer answer</a:t>
            </a:r>
          </a:p>
          <a:p>
            <a:r>
              <a:t>If validation MAE falls from 5 to 4 after adding one feature, the reduction is 1 target unit, or 20%. A comparison on a different split cannot isolate that change.</a:t>
            </a:r>
          </a:p>
          <a:p>
            <a:r>
              <a:t/>
            </a:r>
          </a:p>
          <a:p>
            <a:r>
              <a:t>Misconception to address</a:t>
            </a:r>
          </a:p>
          <a:p>
            <a:r>
              <a:t>Close by identifying the actual saved file and its correct submission route. Read the live deadline. For current weekly notebook tasks, students upload their own work, not the practice notebook, ZIP or grading files.</a:t>
            </a:r>
          </a:p>
          <a:p>
            <a:r>
              <a:t/>
            </a:r>
          </a:p>
          <a:p>
            <a:r>
              <a:t>On this slide</a:t>
            </a:r>
          </a:p>
          <a:p>
            <a:r>
              <a:t>You can state the new feature’s meaning and calculate an improvement correctly.</a:t>
            </a:r>
          </a:p>
          <a:p>
            <a:r>
              <a:t/>
            </a:r>
          </a:p>
          <a:p>
            <a:r>
              <a:t>Save your work and check the required submission files.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2b8120126146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896e2f386247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fb8ff8490a74db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c3b8295ff94c8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b3e92c093748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82cb52b44645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22759E5-4A71-45E5-A218-040AF6202FDD}"/>
              </a:ext>
            </a:extLst>
          </p:cNvPr>
          <p:cNvSpPr>
            <a:spLocks xmlns:a="http://schemas.openxmlformats.org/drawingml/2006/main" noGrp="1"/>
          </p:cNvSpPr>
          <p:nvPr/>
        </p:nvSpPr>
        <p:spPr>
          <a:xfrm xmlns:a="http://schemas.openxmlformats.org/drawingml/2006/main">
            <a:off x="5791055" y="22098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A08BE8C-D509-49AE-A68C-E2C2882C1F83}"/>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EDF1C7A-B4B6-4010-94B2-CC2D2305DCA1}"/>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2D910C6-3D47-47F5-BFE0-88A63A3BB705}"/>
              </a:ext>
            </a:extLst>
          </p:cNvPr>
          <p:cNvSpPr>
            <a:spLocks xmlns:a="http://schemas.openxmlformats.org/drawingml/2006/main" noGrp="1"/>
          </p:cNvSpPr>
          <p:nvPr/>
        </p:nvSpPr>
        <p:spPr>
          <a:xfrm xmlns:a="http://schemas.openxmlformats.org/drawingml/2006/main">
            <a:off x="5791055" y="24765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AE324218-0003-4CB4-9067-2C175FD8FE6A}"/>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A5F7FED-9F0F-476F-B771-B34D75043DDC}"/>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04062E-A12E-4309-AAE4-7A10232780BB}"/>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7D899AD-D313-4B9B-A728-610239CA0D97}"/>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0BA5D3A8-3833-4B02-91C5-670C5EF63727}"/>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40561B7-AEB7-4A8C-B244-E4731B04ADE0}"/>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D5EE211-FA7B-4A4F-A80E-3A347C7EA8AA}"/>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80FE951E-3C53-421C-B785-06CF5BFC8495}"/>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F41FDC6-B073-4771-B275-AF6A6E389D08}"/>
              </a:ext>
            </a:extLst>
          </p:cNvPr>
          <p:cNvSpPr>
            <a:spLocks xmlns:a="http://schemas.openxmlformats.org/drawingml/2006/main" noGrp="1"/>
          </p:cNvSpPr>
          <p:nvPr/>
        </p:nvSpPr>
        <p:spPr>
          <a:xfrm xmlns:a="http://schemas.openxmlformats.org/drawingml/2006/main">
            <a:off x="685783" y="1524000"/>
            <a:ext cx="609585"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8437BEC-E6E6-4F96-A6F4-85D0F6FE9B31}"/>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E9D3486-CB72-4858-9D83-7CA7F8847852}"/>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594" indent="-228594">
              <a:lnSpc>
                <a:spcPct val="110000"/>
              </a:lnSpc>
              <a:spcBef>
                <a:spcPts val="0"/>
              </a:spcBef>
              <a:spcAft>
                <a:spcPts val="1200"/>
              </a:spcAft>
              <a:buChar char="•"/>
            </a:lvl1pPr>
            <a:lvl2pPr marL="533387" indent="-228594">
              <a:lnSpc>
                <a:spcPct val="110000"/>
              </a:lnSpc>
              <a:spcBef>
                <a:spcPts val="0"/>
              </a:spcBef>
              <a:spcAft>
                <a:spcPts val="1200"/>
              </a:spcAft>
              <a:buChar char="•"/>
            </a:lvl2pPr>
            <a:lvl3pPr marL="838179" indent="-228594">
              <a:lnSpc>
                <a:spcPct val="110000"/>
              </a:lnSpc>
              <a:spcBef>
                <a:spcPts val="0"/>
              </a:spcBef>
              <a:spcAft>
                <a:spcPts val="1200"/>
              </a:spcAft>
              <a:buChar char="•"/>
            </a:lvl3pPr>
            <a:lvl4pPr marL="1142971" indent="-228594">
              <a:lnSpc>
                <a:spcPct val="110000"/>
              </a:lnSpc>
              <a:spcBef>
                <a:spcPts val="0"/>
              </a:spcBef>
              <a:spcAft>
                <a:spcPts val="1200"/>
              </a:spcAft>
              <a:buChar char="•"/>
            </a:lvl4pPr>
            <a:lvl5pPr marL="1447764" indent="-228594">
              <a:lnSpc>
                <a:spcPct val="110000"/>
              </a:lnSpc>
              <a:spcBef>
                <a:spcPts val="0"/>
              </a:spcBef>
              <a:spcAft>
                <a:spcPts val="1200"/>
              </a:spcAft>
              <a:buChar char="•"/>
            </a:lvl5pPr>
            <a:lvl6pPr marL="1752556" indent="-228594">
              <a:lnSpc>
                <a:spcPct val="110000"/>
              </a:lnSpc>
              <a:spcBef>
                <a:spcPts val="0"/>
              </a:spcBef>
              <a:spcAft>
                <a:spcPts val="1200"/>
              </a:spcAft>
              <a:buChar char="•"/>
            </a:lvl6pPr>
            <a:lvl7pPr marL="2057349" indent="-228594">
              <a:lnSpc>
                <a:spcPct val="110000"/>
              </a:lnSpc>
              <a:spcBef>
                <a:spcPts val="0"/>
              </a:spcBef>
              <a:spcAft>
                <a:spcPts val="1200"/>
              </a:spcAft>
              <a:buChar char="•"/>
            </a:lvl7pPr>
            <a:lvl8pPr marL="2362141" indent="-228594">
              <a:lnSpc>
                <a:spcPct val="110000"/>
              </a:lnSpc>
              <a:spcBef>
                <a:spcPts val="0"/>
              </a:spcBef>
              <a:spcAft>
                <a:spcPts val="1200"/>
              </a:spcAft>
              <a:buChar char="•"/>
            </a:lvl8pPr>
            <a:lvl9pPr marL="2666933" indent="-228594">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89b525124243bc" /><Relationship Type="http://schemas.openxmlformats.org/officeDocument/2006/relationships/slideLayout" Target="/ppt/slideLayouts/slideLayout1.xml" Id="Rcbbeca26cc2242da" /><Relationship Type="http://schemas.openxmlformats.org/officeDocument/2006/relationships/slideLayout" Target="/ppt/slideLayouts/slideLayout2.xml" Id="R3d6ccda6f1274108" /><Relationship Type="http://schemas.openxmlformats.org/officeDocument/2006/relationships/slideLayout" Target="/ppt/slideLayouts/slideLayout3.xml" Id="R7d5c245cd6e24642" /><Relationship Type="http://schemas.openxmlformats.org/officeDocument/2006/relationships/slideLayout" Target="/ppt/slideLayouts/slideLayout4.xml" Id="R72293c65b7c24073" /><Relationship Type="http://schemas.openxmlformats.org/officeDocument/2006/relationships/slideLayout" Target="/ppt/slideLayouts/slideLayout5.xml" Id="R6ec67faea6d44a73" /><Relationship Type="http://schemas.openxmlformats.org/officeDocument/2006/relationships/slideLayout" Target="/ppt/slideLayouts/slideLayout6.xml" Id="R5a8a5b0cf0ed47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beca26cc2242da"/>
    <p:sldLayoutId xmlns:r="http://schemas.openxmlformats.org/officeDocument/2006/relationships" id="2147483650" r:id="R3d6ccda6f1274108"/>
    <p:sldLayoutId xmlns:r="http://schemas.openxmlformats.org/officeDocument/2006/relationships" id="2147483651" r:id="R7d5c245cd6e24642"/>
    <p:sldLayoutId xmlns:r="http://schemas.openxmlformats.org/officeDocument/2006/relationships" id="2147483652" r:id="R72293c65b7c24073"/>
    <p:sldLayoutId xmlns:r="http://schemas.openxmlformats.org/officeDocument/2006/relationships" id="2147483653" r:id="R6ec67faea6d44a73"/>
    <p:sldLayoutId xmlns:r="http://schemas.openxmlformats.org/officeDocument/2006/relationships" id="2147483654" r:id="R5a8a5b0cf0ed47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08a81818d9436b" /><Relationship Type="http://schemas.openxmlformats.org/officeDocument/2006/relationships/image" Target="/ppt/media/image.png" Id="R2fbdeae01d944a89" /><Relationship Type="http://schemas.openxmlformats.org/officeDocument/2006/relationships/notesSlide" Target="/ppt/notesSlides/notesSlide1.xml" Id="R81882b56d37349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28ad70a7484d27" /><Relationship Type="http://schemas.openxmlformats.org/officeDocument/2006/relationships/notesSlide" Target="/ppt/notesSlides/notesSlide2.xml" Id="R67d14206ac5249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32a46ac08949b1" /><Relationship Type="http://schemas.openxmlformats.org/officeDocument/2006/relationships/notesSlide" Target="/ppt/notesSlides/notesSlide3.xml" Id="Rda05da1eb9b24b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ca6adcf753b4c06" /><Relationship Type="http://schemas.openxmlformats.org/officeDocument/2006/relationships/notesSlide" Target="/ppt/notesSlides/notesSlide4.xml" Id="R3563ba4d4c2e4d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c8b0d7a063040de" /><Relationship Type="http://schemas.openxmlformats.org/officeDocument/2006/relationships/notesSlide" Target="/ppt/notesSlides/notesSlide5.xml" Id="Rf57e91c6780c4a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1ecfbb25cea42b0" /><Relationship Type="http://schemas.openxmlformats.org/officeDocument/2006/relationships/notesSlide" Target="/ppt/notesSlides/notesSlide6.xml" Id="R4e7e4e2ee14b4d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5887f267c014f63" /><Relationship Type="http://schemas.openxmlformats.org/officeDocument/2006/relationships/notesSlide" Target="/ppt/notesSlides/notesSlide7.xml" Id="Rfb191d992d2c4c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09b9a34ec7543fc" /><Relationship Type="http://schemas.openxmlformats.org/officeDocument/2006/relationships/image" Target="/ppt/media/image2.png" Id="Re0e2480782dd45f5" /><Relationship Type="http://schemas.openxmlformats.org/officeDocument/2006/relationships/notesSlide" Target="/ppt/notesSlides/notesSlide8.xml" Id="R48ed9208ecd643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576d4d0b9b4371" /><Relationship Type="http://schemas.openxmlformats.org/officeDocument/2006/relationships/notesSlide" Target="/ppt/notesSlides/notesSlide9.xml" Id="R49cfc027cecf48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51ab000b88426f" /><Relationship Type="http://schemas.openxmlformats.org/officeDocument/2006/relationships/notesSlide" Target="/ppt/notesSlides/notesSlide10.xml" Id="R168804db45a145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e73833c39934748" /><Relationship Type="http://schemas.openxmlformats.org/officeDocument/2006/relationships/notesSlide" Target="/ppt/notesSlides/notesSlide11.xml" Id="Rb1bade3ddec14d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91acc53d7d14e07" /><Relationship Type="http://schemas.openxmlformats.org/officeDocument/2006/relationships/notesSlide" Target="/ppt/notesSlides/notesSlide12.xml" Id="R703142537be449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cef79200635471b" /><Relationship Type="http://schemas.openxmlformats.org/officeDocument/2006/relationships/notesSlide" Target="/ppt/notesSlides/notesSlide13.xml" Id="R7f77259ced104b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cf91d065a28423e" /><Relationship Type="http://schemas.openxmlformats.org/officeDocument/2006/relationships/notesSlide" Target="/ppt/notesSlides/notesSlide14.xml" Id="Ra668cef2c2d4469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c39e236d4f64807" /><Relationship Type="http://schemas.openxmlformats.org/officeDocument/2006/relationships/notesSlide" Target="/ppt/notesSlides/notesSlide15.xml" Id="R06ec97b3b808402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7d1ce1243fd46fe" /><Relationship Type="http://schemas.openxmlformats.org/officeDocument/2006/relationships/notesSlide" Target="/ppt/notesSlides/notesSlide16.xml" Id="Raa78e7262a0f422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223fce3f87f4b02" /><Relationship Type="http://schemas.openxmlformats.org/officeDocument/2006/relationships/notesSlide" Target="/ppt/notesSlides/notesSlide17.xml" Id="R2e846adbfbd34e4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d0aec32b18343e3" /><Relationship Type="http://schemas.openxmlformats.org/officeDocument/2006/relationships/notesSlide" Target="/ppt/notesSlides/notesSlide18.xml" Id="R8244b9ba06d5426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488e7058a2a47dc" /><Relationship Type="http://schemas.openxmlformats.org/officeDocument/2006/relationships/notesSlide" Target="/ppt/notesSlides/notesSlide19.xml" Id="R63b9994768314cf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18e9f4675254cb4" /><Relationship Type="http://schemas.openxmlformats.org/officeDocument/2006/relationships/notesSlide" Target="/ppt/notesSlides/notesSlide20.xml" Id="R745caa933a6540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f3b7c7f7ae8451a" /><Relationship Type="http://schemas.openxmlformats.org/officeDocument/2006/relationships/notesSlide" Target="/ppt/notesSlides/notesSlide21.xml" Id="R8f8b6f14263c4ef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08522d4ee714511" /><Relationship Type="http://schemas.openxmlformats.org/officeDocument/2006/relationships/notesSlide" Target="/ppt/notesSlides/notesSlide22.xml" Id="Rdc09aa7e20f74b5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0c06e1b95c64be0" /><Relationship Type="http://schemas.openxmlformats.org/officeDocument/2006/relationships/notesSlide" Target="/ppt/notesSlides/notesSlide23.xml" Id="R8b5af2943ebc48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6849f9a17024334" /><Relationship Type="http://schemas.openxmlformats.org/officeDocument/2006/relationships/notesSlide" Target="/ppt/notesSlides/notesSlide24.xml" Id="R8bac17c1485144d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f3d31bfd4d54a9a" /><Relationship Type="http://schemas.openxmlformats.org/officeDocument/2006/relationships/notesSlide" Target="/ppt/notesSlides/notesSlide25.xml" Id="Rf9fd1c11dcc24db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3f3fdb41e8847ef" /><Relationship Type="http://schemas.openxmlformats.org/officeDocument/2006/relationships/notesSlide" Target="/ppt/notesSlides/notesSlide26.xml" Id="R97f3bfe6b40845a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4ecdc7a95ff4545" /><Relationship Type="http://schemas.openxmlformats.org/officeDocument/2006/relationships/notesSlide" Target="/ppt/notesSlides/notesSlide27.xml" Id="Rb694aa328c114c2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b1efd79ca0443fb" /><Relationship Type="http://schemas.openxmlformats.org/officeDocument/2006/relationships/notesSlide" Target="/ppt/notesSlides/notesSlide28.xml" Id="R7577ae58bbe74d9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7901440894a44a5" /><Relationship Type="http://schemas.openxmlformats.org/officeDocument/2006/relationships/notesSlide" Target="/ppt/notesSlides/notesSlide29.xml" Id="Re720bb1892b144b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2a0d2fb462e47b7" /><Relationship Type="http://schemas.openxmlformats.org/officeDocument/2006/relationships/notesSlide" Target="/ppt/notesSlides/notesSlide30.xml" Id="R73971d441271459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dc1ee69ed534440" /><Relationship Type="http://schemas.openxmlformats.org/officeDocument/2006/relationships/notesSlide" Target="/ppt/notesSlides/notesSlide31.xml" Id="R5b5b9ecdd4144fe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6398d4287a14f78" /><Relationship Type="http://schemas.openxmlformats.org/officeDocument/2006/relationships/hyperlink" Target="https://docs.google.com/forms/d/e/1FAIpQLSdxAosnTnoXrNZ7QCm8pPQuoa2KxsqFvu_PPsZIQGrJnHMw1g/viewform" TargetMode="External" Id="Rae42b630724e4468" /><Relationship Type="http://schemas.openxmlformats.org/officeDocument/2006/relationships/notesSlide" Target="/ppt/notesSlides/notesSlide32.xml" Id="R197f702a87514b2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231e0a5a166495b" /><Relationship Type="http://schemas.openxmlformats.org/officeDocument/2006/relationships/notesSlide" Target="/ppt/notesSlides/notesSlide33.xml" Id="R172032b14425439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c89133a4efa43fa" /><Relationship Type="http://schemas.openxmlformats.org/officeDocument/2006/relationships/image" Target="/ppt/media/image3.png" Id="R09bf26be19314ec0" /><Relationship Type="http://schemas.openxmlformats.org/officeDocument/2006/relationships/hyperlink" Target="https://forms.gle/3sf2d3vGXpJ4HtvP6" TargetMode="External" Id="Rd52cbc5ed6f74604" /><Relationship Type="http://schemas.openxmlformats.org/officeDocument/2006/relationships/notesSlide" Target="/ppt/notesSlides/notesSlide34.xml" Id="R396034e3b9b547f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43d94563cfe44e7" /><Relationship Type="http://schemas.openxmlformats.org/officeDocument/2006/relationships/notesSlide" Target="/ppt/notesSlides/notesSlide35.xml" Id="Rff3ed8d99b144fb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fbdeae01d944a89"/>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7C96F9-4AAA-44BA-8502-62F9AC8A7A65}"/>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03189A-1237-4D51-B0B2-0A06C3F6764D}"/>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11</a:t>
            </a:r>
          </a:p>
        </p:txBody>
      </p:sp>
      <p:sp>
        <p:nvSpPr>
          <p:cNvPr id="4" name="">
            <a:extLst xmlns:a="http://schemas.openxmlformats.org/drawingml/2006/main">
              <a:ext uri="{FF2B5EF4-FFF2-40B4-BE49-F238E27FC236}">
                <a16:creationId xmlns:a16="http://schemas.microsoft.com/office/drawing/2014/main" id="{10412C64-5CFD-4DC3-83CA-0C527AB3498F}"/>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Creating and testing a useful feature</a:t>
            </a:r>
          </a:p>
        </p:txBody>
      </p:sp>
      <p:sp>
        <p:nvSpPr>
          <p:cNvPr id="5" name="">
            <a:extLst xmlns:a="http://schemas.openxmlformats.org/drawingml/2006/main">
              <a:ext uri="{FF2B5EF4-FFF2-40B4-BE49-F238E27FC236}">
                <a16:creationId xmlns:a16="http://schemas.microsoft.com/office/drawing/2014/main" id="{535533F3-F7A5-4F5F-A239-1F2F2E60E074}"/>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72DC13E5-ACCF-4D5A-858E-86454BD0BB07}"/>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20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10845098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41DD93-1C29-4797-9D2D-CDC89C0BCD5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AFE0E1-0568-42BA-B459-AA3D7A1531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49127C3E-8029-4E88-9578-3310DA7E885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0B4B5EC9-60FB-44CC-AE23-D71F7D616B8C}"/>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D4A359-9BF7-463A-BAC7-DF99F1F57400}"/>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B66ED79A-50AD-4AFC-8244-587ADFDC6113}"/>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Create a feature from available measurements.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models with one controlled change.</a:t>
            </a:r>
          </a:p>
        </p:txBody>
      </p:sp>
      <p:sp>
        <p:nvSpPr>
          <p:cNvPr id="7" name="">
            <a:extLst xmlns:a="http://schemas.openxmlformats.org/drawingml/2006/main">
              <a:ext uri="{FF2B5EF4-FFF2-40B4-BE49-F238E27FC236}">
                <a16:creationId xmlns:a16="http://schemas.microsoft.com/office/drawing/2014/main" id="{F3D63C2D-3593-4715-AB1F-1611D5BF9E31}"/>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1F8173CF-DBE4-4793-AFF8-D929D23470BD}"/>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state the new feature’s meaning and calculate an improvement correctly.</a:t>
            </a:r>
          </a:p>
        </p:txBody>
      </p:sp>
      <p:sp>
        <p:nvSpPr>
          <p:cNvPr id="9" name="">
            <a:extLst xmlns:a="http://schemas.openxmlformats.org/drawingml/2006/main">
              <a:ext uri="{FF2B5EF4-FFF2-40B4-BE49-F238E27FC236}">
                <a16:creationId xmlns:a16="http://schemas.microsoft.com/office/drawing/2014/main" id="{E7667E72-77A3-4259-890B-DC23BC77D08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a:t>
            </a:r>
          </a:p>
        </p:txBody>
      </p:sp>
    </p:spTree>
    <p:extLst>
      <p:ext uri="{BB962C8B-B14F-4D97-AF65-F5344CB8AC3E}">
        <p14:creationId xmlns:p14="http://schemas.microsoft.com/office/powerpoint/2010/main" val="1081141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3664A5-098A-48DF-82EF-103518B238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4613613-070B-4B90-84C6-C409568AAA9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A96DC51-5D34-4D6B-9368-8B559374D89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Connection to the previous lesson</a:t>
            </a:r>
          </a:p>
        </p:txBody>
      </p:sp>
      <p:sp>
        <p:nvSpPr>
          <p:cNvPr id="4" name="">
            <a:extLst xmlns:a="http://schemas.openxmlformats.org/drawingml/2006/main">
              <a:ext uri="{FF2B5EF4-FFF2-40B4-BE49-F238E27FC236}">
                <a16:creationId xmlns:a16="http://schemas.microsoft.com/office/drawing/2014/main" id="{9BE937DD-4835-42F3-828C-84F825A0AA89}"/>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8281F0-20CF-4F4D-95FB-A494EDFCAFE6}"/>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We already keep evaluation data separate.</a:t>
            </a:r>
          </a:p>
        </p:txBody>
      </p:sp>
      <p:sp>
        <p:nvSpPr>
          <p:cNvPr id="6" name="">
            <a:extLst xmlns:a="http://schemas.openxmlformats.org/drawingml/2006/main">
              <a:ext uri="{FF2B5EF4-FFF2-40B4-BE49-F238E27FC236}">
                <a16:creationId xmlns:a16="http://schemas.microsoft.com/office/drawing/2014/main" id="{AF04A17B-D3E2-489E-B37D-DA6F65EC8780}"/>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Now we change one input representation while keeping the comparison protocol fixed.</a:t>
            </a:r>
          </a:p>
        </p:txBody>
      </p:sp>
      <p:sp>
        <p:nvSpPr>
          <p:cNvPr id="7" name="">
            <a:extLst xmlns:a="http://schemas.openxmlformats.org/drawingml/2006/main">
              <a:ext uri="{FF2B5EF4-FFF2-40B4-BE49-F238E27FC236}">
                <a16:creationId xmlns:a16="http://schemas.microsoft.com/office/drawing/2014/main" id="{11B2449F-8862-464B-9BF0-72DD293F29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3</a:t>
            </a:r>
          </a:p>
        </p:txBody>
      </p:sp>
    </p:spTree>
    <p:extLst>
      <p:ext uri="{BB962C8B-B14F-4D97-AF65-F5344CB8AC3E}">
        <p14:creationId xmlns:p14="http://schemas.microsoft.com/office/powerpoint/2010/main" val="11190781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7C6D45-C3B4-44BA-A074-261647D3B0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AE9811-2E8B-49FC-B7FA-C61A4201BF6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AAAC019-E7E3-4B1C-B191-5CC6D8F8E18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Why this week’s tools are needed</a:t>
            </a:r>
          </a:p>
        </p:txBody>
      </p:sp>
      <p:sp>
        <p:nvSpPr>
          <p:cNvPr id="4" name="">
            <a:extLst xmlns:a="http://schemas.openxmlformats.org/drawingml/2006/main">
              <a:ext uri="{FF2B5EF4-FFF2-40B4-BE49-F238E27FC236}">
                <a16:creationId xmlns:a16="http://schemas.microsoft.com/office/drawing/2014/main" id="{265709DF-5F66-40FB-A1E1-9394B8636A9B}"/>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52107A0-8D1D-47EE-9B74-80D288DE6E76}"/>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calculated input may help a model.</a:t>
            </a:r>
          </a:p>
        </p:txBody>
      </p:sp>
      <p:sp>
        <p:nvSpPr>
          <p:cNvPr id="6" name="">
            <a:extLst xmlns:a="http://schemas.openxmlformats.org/drawingml/2006/main">
              <a:ext uri="{FF2B5EF4-FFF2-40B4-BE49-F238E27FC236}">
                <a16:creationId xmlns:a16="http://schemas.microsoft.com/office/drawing/2014/main" id="{F0773ED4-9C8B-416F-B67D-AE6C86D0CD47}"/>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 compare the original and extended inputs on the same observations, then decide whether the evidence supports the extra feature.</a:t>
            </a:r>
          </a:p>
        </p:txBody>
      </p:sp>
      <p:sp>
        <p:nvSpPr>
          <p:cNvPr id="7" name="">
            <a:extLst xmlns:a="http://schemas.openxmlformats.org/drawingml/2006/main">
              <a:ext uri="{FF2B5EF4-FFF2-40B4-BE49-F238E27FC236}">
                <a16:creationId xmlns:a16="http://schemas.microsoft.com/office/drawing/2014/main" id="{59F6BF61-5555-497F-99FA-311FECB4BFE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4</a:t>
            </a:r>
          </a:p>
        </p:txBody>
      </p:sp>
    </p:spTree>
    <p:extLst>
      <p:ext uri="{BB962C8B-B14F-4D97-AF65-F5344CB8AC3E}">
        <p14:creationId xmlns:p14="http://schemas.microsoft.com/office/powerpoint/2010/main" val="10200691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6E796C-6089-4DDB-87EB-D46DB6B79F6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A41FC7-64B0-47C0-887C-25E51CCE34C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8CDCED4-A52E-4E33-B749-D17D8168FA0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feature has a meaning</a:t>
            </a:r>
          </a:p>
        </p:txBody>
      </p:sp>
      <p:sp>
        <p:nvSpPr>
          <p:cNvPr id="4" name="">
            <a:extLst xmlns:a="http://schemas.openxmlformats.org/drawingml/2006/main">
              <a:ext uri="{FF2B5EF4-FFF2-40B4-BE49-F238E27FC236}">
                <a16:creationId xmlns:a16="http://schemas.microsoft.com/office/drawing/2014/main" id="{C1A21B5F-2883-422F-B3F8-AA9216E6DE7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3C00E86-5DB7-4DCB-A1DC-DEE1E12E9F30}"/>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feature is an input available at prediction time.</a:t>
            </a:r>
          </a:p>
        </p:txBody>
      </p:sp>
      <p:sp>
        <p:nvSpPr>
          <p:cNvPr id="6" name="">
            <a:extLst xmlns:a="http://schemas.openxmlformats.org/drawingml/2006/main">
              <a:ext uri="{FF2B5EF4-FFF2-40B4-BE49-F238E27FC236}">
                <a16:creationId xmlns:a16="http://schemas.microsoft.com/office/drawing/2014/main" id="{E4CADA7C-9C2F-4332-B0F3-95A830726322}"/>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13A86AE-BB23-4154-88F1-D524A0D8283D}"/>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interaction multiplies two inputs to express a joint pattern.</a:t>
            </a:r>
          </a:p>
        </p:txBody>
      </p:sp>
      <p:sp>
        <p:nvSpPr>
          <p:cNvPr id="8" name="">
            <a:extLst xmlns:a="http://schemas.openxmlformats.org/drawingml/2006/main">
              <a:ext uri="{FF2B5EF4-FFF2-40B4-BE49-F238E27FC236}">
                <a16:creationId xmlns:a16="http://schemas.microsoft.com/office/drawing/2014/main" id="{9FF1963D-FAE3-4B43-A1D8-DF7596A1AB35}"/>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67D5625-8DEC-4B2A-8B03-55E6BD235C33}"/>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better validation score can still reflect leakage.</a:t>
            </a:r>
          </a:p>
        </p:txBody>
      </p:sp>
      <p:sp>
        <p:nvSpPr>
          <p:cNvPr id="10" name="">
            <a:extLst xmlns:a="http://schemas.openxmlformats.org/drawingml/2006/main">
              <a:ext uri="{FF2B5EF4-FFF2-40B4-BE49-F238E27FC236}">
                <a16:creationId xmlns:a16="http://schemas.microsoft.com/office/drawing/2014/main" id="{E791EC9C-6737-406C-BE2D-BD2066804F4C}"/>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87DBC82-D25E-4B7A-952D-FD21BA2FB266}"/>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the same observations and explain the physical meaning.</a:t>
            </a:r>
          </a:p>
        </p:txBody>
      </p:sp>
      <p:sp>
        <p:nvSpPr>
          <p:cNvPr id="12" name="">
            <a:extLst xmlns:a="http://schemas.openxmlformats.org/drawingml/2006/main">
              <a:ext uri="{FF2B5EF4-FFF2-40B4-BE49-F238E27FC236}">
                <a16:creationId xmlns:a16="http://schemas.microsoft.com/office/drawing/2014/main" id="{373A1057-30F0-4787-9F5F-8747AEADBD8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5</a:t>
            </a:r>
          </a:p>
        </p:txBody>
      </p:sp>
    </p:spTree>
    <p:extLst>
      <p:ext uri="{BB962C8B-B14F-4D97-AF65-F5344CB8AC3E}">
        <p14:creationId xmlns:p14="http://schemas.microsoft.com/office/powerpoint/2010/main" val="18652050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FE0CE1-F1DC-4702-B4F2-DC03394A109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A8E8EB-DC5E-40CF-82D8-1748F9EF060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5534D42F-E2B3-4461-9629-CF36BA89BA0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Derived feature and Ratio and interaction</a:t>
            </a:r>
          </a:p>
        </p:txBody>
      </p:sp>
      <p:sp>
        <p:nvSpPr>
          <p:cNvPr id="4" name="">
            <a:extLst xmlns:a="http://schemas.openxmlformats.org/drawingml/2006/main">
              <a:ext uri="{FF2B5EF4-FFF2-40B4-BE49-F238E27FC236}">
                <a16:creationId xmlns:a16="http://schemas.microsoft.com/office/drawing/2014/main" id="{EE279F83-25BB-4A91-8025-460BA9B4EB44}"/>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22B7E6-0EBF-45B3-8C00-029A48A82C61}"/>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Derived feature</a:t>
            </a:r>
          </a:p>
        </p:txBody>
      </p:sp>
      <p:sp>
        <p:nvSpPr>
          <p:cNvPr id="6" name="">
            <a:extLst xmlns:a="http://schemas.openxmlformats.org/drawingml/2006/main">
              <a:ext uri="{FF2B5EF4-FFF2-40B4-BE49-F238E27FC236}">
                <a16:creationId xmlns:a16="http://schemas.microsoft.com/office/drawing/2014/main" id="{AF2194B8-6025-49A1-AE05-39492BE84093}"/>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new input calculated from existing inputs. Its definition and unit must be stated.</a:t>
            </a:r>
          </a:p>
        </p:txBody>
      </p:sp>
      <p:sp>
        <p:nvSpPr>
          <p:cNvPr id="7" name="">
            <a:extLst xmlns:a="http://schemas.openxmlformats.org/drawingml/2006/main">
              <a:ext uri="{FF2B5EF4-FFF2-40B4-BE49-F238E27FC236}">
                <a16:creationId xmlns:a16="http://schemas.microsoft.com/office/drawing/2014/main" id="{D60C241A-1572-4723-BDC3-86BABA23C0C6}"/>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BC339C-90F8-4F35-B30E-49E9718028B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Ratio and interaction</a:t>
            </a:r>
          </a:p>
        </p:txBody>
      </p:sp>
      <p:sp>
        <p:nvSpPr>
          <p:cNvPr id="9" name="">
            <a:extLst xmlns:a="http://schemas.openxmlformats.org/drawingml/2006/main">
              <a:ext uri="{FF2B5EF4-FFF2-40B4-BE49-F238E27FC236}">
                <a16:creationId xmlns:a16="http://schemas.microsoft.com/office/drawing/2014/main" id="{E4F8CE31-59AD-49E6-A5C1-B8D43D8FA097}"/>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A ratio divides quantities; an interaction multiplies them. Both need a domain explanation and a unit check.</a:t>
            </a:r>
          </a:p>
        </p:txBody>
      </p:sp>
      <p:sp>
        <p:nvSpPr>
          <p:cNvPr id="10" name="">
            <a:extLst xmlns:a="http://schemas.openxmlformats.org/drawingml/2006/main">
              <a:ext uri="{FF2B5EF4-FFF2-40B4-BE49-F238E27FC236}">
                <a16:creationId xmlns:a16="http://schemas.microsoft.com/office/drawing/2014/main" id="{B9FCE727-DFCA-4460-82C5-34A027FA71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6</a:t>
            </a:r>
          </a:p>
        </p:txBody>
      </p:sp>
    </p:spTree>
    <p:extLst>
      <p:ext uri="{BB962C8B-B14F-4D97-AF65-F5344CB8AC3E}">
        <p14:creationId xmlns:p14="http://schemas.microsoft.com/office/powerpoint/2010/main" val="19452534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8C8956-7EB3-4530-900F-BA4C17E4331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B96833-73AE-4A84-B160-E49A588D234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56D2D81-3B35-43F4-9BCC-6BD94EA0DD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physical example across programmes</a:t>
            </a:r>
          </a:p>
        </p:txBody>
      </p:sp>
      <p:sp>
        <p:nvSpPr>
          <p:cNvPr id="4" name="">
            <a:extLst xmlns:a="http://schemas.openxmlformats.org/drawingml/2006/main">
              <a:ext uri="{FF2B5EF4-FFF2-40B4-BE49-F238E27FC236}">
                <a16:creationId xmlns:a16="http://schemas.microsoft.com/office/drawing/2014/main" id="{47512BB0-9069-4C24-94B0-971BA071C33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6F97A83-2999-468B-9AA6-8A466276F787}"/>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Current I is the flow of electric charge, measured in amperes (A). Resistance R opposes that flow, measured in ohms.</a:t>
            </a:r>
          </a:p>
        </p:txBody>
      </p:sp>
      <p:sp>
        <p:nvSpPr>
          <p:cNvPr id="6" name="">
            <a:extLst xmlns:a="http://schemas.openxmlformats.org/drawingml/2006/main">
              <a:ext uri="{FF2B5EF4-FFF2-40B4-BE49-F238E27FC236}">
                <a16:creationId xmlns:a16="http://schemas.microsoft.com/office/drawing/2014/main" id="{71AEE5C6-D5DB-4495-91E6-BAE86F8E981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5FB0B29-634B-4C27-946B-6929C5A3673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Power P is energy transferred per second, measured in watts (W). Resistive heating follows P = I²R in this example.</a:t>
            </a:r>
          </a:p>
        </p:txBody>
      </p:sp>
      <p:sp>
        <p:nvSpPr>
          <p:cNvPr id="8" name="">
            <a:extLst xmlns:a="http://schemas.openxmlformats.org/drawingml/2006/main">
              <a:ext uri="{FF2B5EF4-FFF2-40B4-BE49-F238E27FC236}">
                <a16:creationId xmlns:a16="http://schemas.microsoft.com/office/drawing/2014/main" id="{CF5C0D87-3F0E-4EE3-A3AA-568A57DD6917}"/>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C1E3829-EB0C-4DF6-8967-0DF14860B6D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I² means I × I. With I = 2 A and R = 3 ohms, P = 2 × 2 × 3 = 12 W. This relationship motivates a feature; evaluation still tests whether it helps.</a:t>
            </a:r>
          </a:p>
        </p:txBody>
      </p:sp>
      <p:sp>
        <p:nvSpPr>
          <p:cNvPr id="10" name="">
            <a:extLst xmlns:a="http://schemas.openxmlformats.org/drawingml/2006/main">
              <a:ext uri="{FF2B5EF4-FFF2-40B4-BE49-F238E27FC236}">
                <a16:creationId xmlns:a16="http://schemas.microsoft.com/office/drawing/2014/main" id="{83B551F2-AC90-4B90-AA37-B8E973265BB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7</a:t>
            </a:r>
          </a:p>
        </p:txBody>
      </p:sp>
    </p:spTree>
    <p:extLst>
      <p:ext uri="{BB962C8B-B14F-4D97-AF65-F5344CB8AC3E}">
        <p14:creationId xmlns:p14="http://schemas.microsoft.com/office/powerpoint/2010/main" val="4305694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EBFBEB-858E-4E8F-9743-DF6BCA769660}"/>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FF6263-B166-43A0-AF81-D99D844EAA25}"/>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A physical relationship can form a feature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0e2480782dd45f5"/>
          <a:stretch xmlns:a="http://schemas.openxmlformats.org/drawingml/2006/main"/>
        </p:blipFill>
        <p:spPr>
          <a:xfrm xmlns:a="http://schemas.openxmlformats.org/drawingml/2006/main">
            <a:off x="1991849" y="1057275"/>
            <a:ext cx="8208303"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94F74E4-95F5-4002-85AF-5E54F0D0EEF9}"/>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1F6814-19BD-417B-9D3D-9D75DB2EAEC9}"/>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Explain each quantity and the unit of the result.</a:t>
            </a:r>
          </a:p>
        </p:txBody>
      </p:sp>
      <p:sp>
        <p:nvSpPr>
          <p:cNvPr id="6" name="">
            <a:extLst xmlns:a="http://schemas.openxmlformats.org/drawingml/2006/main">
              <a:ext uri="{FF2B5EF4-FFF2-40B4-BE49-F238E27FC236}">
                <a16:creationId xmlns:a16="http://schemas.microsoft.com/office/drawing/2014/main" id="{2FD4E35C-8F5F-4C89-A647-AC76D7CDA2D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8</a:t>
            </a:r>
          </a:p>
        </p:txBody>
      </p:sp>
    </p:spTree>
    <p:extLst>
      <p:ext uri="{BB962C8B-B14F-4D97-AF65-F5344CB8AC3E}">
        <p14:creationId xmlns:p14="http://schemas.microsoft.com/office/powerpoint/2010/main" val="10855319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B161EA-0B60-4B2B-983D-02B21CFC7C1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CDF682-9433-4873-85C8-EACE77ADD9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29703DFA-6E40-43C7-9814-8D20030F9F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An interaction uses two known inputs</a:t>
            </a:r>
          </a:p>
        </p:txBody>
      </p:sp>
      <p:graphicFrame>
        <p:nvGraphicFramePr>
          <p:cNvPr id="10" name=""/>
          <p:cNvGraphicFramePr/>
          <p:nvPr/>
        </p:nvGraphicFramePr>
        <p:xfrm>
          <a:off xmlns:a="http://schemas.openxmlformats.org/drawingml/2006/main" x="590550" y="1733550"/>
          <a:ext xmlns:a="http://schemas.openxmlformats.org/drawingml/2006/main" cx="11010900" cy="2286000"/>
        </p:xfrm>
        <a:graphic xmlns:a="http://schemas.openxmlformats.org/drawingml/2006/main">
          <a:graphicData uri="http://schemas.openxmlformats.org/drawingml/2006/table">
            <a:tbl>
              <a:tblPr/>
              <a:tblGrid>
                <a:gridCol w="3670300"/>
                <a:gridCol w="3670300"/>
                <a:gridCol w="3670300"/>
              </a:tblGrid>
              <a:tr h="762000">
                <a:tc>
                  <a:txBody>
                    <a:bodyPr/>
                    <a:lstStyle/>
                    <a:p>
                      <a:r>
                        <a:rPr sz="2025" b="1">
                          <a:solidFill>
                            <a:srgbClr val="FFFFFF"/>
                          </a:solidFill>
                          <a:latin typeface="Calibri"/>
                          <a:ea typeface="Calibri"/>
                          <a:cs typeface="Calibri"/>
                        </a:rPr>
                        <a:t>Current A</a:t>
                      </a:r>
                    </a:p>
                  </a:txBody>
                  <a:tcPr marL="91440" marR="91440" marT="45720" marB="45720">
                    <a:solidFill>
                      <a:srgbClr val="2E7D6F"/>
                    </a:solidFill>
                  </a:tcPr>
                </a:tc>
                <a:tc>
                  <a:txBody>
                    <a:bodyPr/>
                    <a:lstStyle/>
                    <a:p>
                      <a:r>
                        <a:rPr sz="2025" b="1">
                          <a:solidFill>
                            <a:srgbClr val="FFFFFF"/>
                          </a:solidFill>
                          <a:latin typeface="Calibri"/>
                          <a:ea typeface="Calibri"/>
                          <a:cs typeface="Calibri"/>
                        </a:rPr>
                        <a:t>Resistance ohm</a:t>
                      </a:r>
                    </a:p>
                  </a:txBody>
                  <a:tcPr marL="91440" marR="91440" marT="45720" marB="45720">
                    <a:solidFill>
                      <a:srgbClr val="2E7D6F"/>
                    </a:solidFill>
                  </a:tcPr>
                </a:tc>
                <a:tc>
                  <a:txBody>
                    <a:bodyPr/>
                    <a:lstStyle/>
                    <a:p>
                      <a:r>
                        <a:rPr sz="2025" b="1">
                          <a:solidFill>
                            <a:srgbClr val="FFFFFF"/>
                          </a:solidFill>
                          <a:latin typeface="Calibri"/>
                          <a:ea typeface="Calibri"/>
                          <a:cs typeface="Calibri"/>
                        </a:rPr>
                        <a:t>I squared × R W</a:t>
                      </a:r>
                    </a:p>
                  </a:txBody>
                  <a:tcPr marL="91440" marR="91440" marT="45720" marB="45720">
                    <a:solidFill>
                      <a:srgbClr val="2E7D6F"/>
                    </a:solidFill>
                  </a:tcPr>
                </a:tc>
              </a:tr>
              <a:tr h="762000">
                <a:tc>
                  <a:txBody>
                    <a:bodyPr/>
                    <a:lstStyle/>
                    <a:p>
                      <a:r>
                        <a:rPr sz="2025" b="0">
                          <a:solidFill>
                            <a:srgbClr val="1C3144"/>
                          </a:solidFill>
                          <a:latin typeface="Calibri"/>
                          <a:ea typeface="Calibri"/>
                          <a:cs typeface="Calibri"/>
                        </a:rPr>
                        <a:t>2</a:t>
                      </a:r>
                    </a:p>
                  </a:txBody>
                  <a:tcPr marL="91440" marR="91440" marT="45720" marB="45720">
                    <a:solidFill>
                      <a:srgbClr val="EEF3F6"/>
                    </a:solidFill>
                  </a:tcPr>
                </a:tc>
                <a:tc>
                  <a:txBody>
                    <a:bodyPr/>
                    <a:lstStyle/>
                    <a:p>
                      <a:r>
                        <a:rPr sz="2025" b="0">
                          <a:solidFill>
                            <a:srgbClr val="1C3144"/>
                          </a:solidFill>
                          <a:latin typeface="Calibri"/>
                          <a:ea typeface="Calibri"/>
                          <a:cs typeface="Calibri"/>
                        </a:rPr>
                        <a:t>3</a:t>
                      </a:r>
                    </a:p>
                  </a:txBody>
                  <a:tcPr marL="91440" marR="91440" marT="45720" marB="45720">
                    <a:solidFill>
                      <a:srgbClr val="EEF3F6"/>
                    </a:solidFill>
                  </a:tcPr>
                </a:tc>
                <a:tc>
                  <a:txBody>
                    <a:bodyPr/>
                    <a:lstStyle/>
                    <a:p>
                      <a:r>
                        <a:rPr sz="2025" b="0">
                          <a:solidFill>
                            <a:srgbClr val="1C3144"/>
                          </a:solidFill>
                          <a:latin typeface="Calibri"/>
                          <a:ea typeface="Calibri"/>
                          <a:cs typeface="Calibri"/>
                        </a:rPr>
                        <a:t>12</a:t>
                      </a:r>
                    </a:p>
                  </a:txBody>
                  <a:tcPr marL="91440" marR="91440" marT="45720" marB="45720">
                    <a:solidFill>
                      <a:srgbClr val="EEF3F6"/>
                    </a:solidFill>
                  </a:tcPr>
                </a:tc>
              </a:tr>
              <a:tr h="762000">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c>
                  <a:txBody>
                    <a:bodyPr/>
                    <a:lstStyle/>
                    <a:p>
                      <a:r>
                        <a:rPr sz="2025" b="0">
                          <a:solidFill>
                            <a:srgbClr val="1C3144"/>
                          </a:solidFill>
                          <a:latin typeface="Calibri"/>
                          <a:ea typeface="Calibri"/>
                          <a:cs typeface="Calibri"/>
                        </a:rPr>
                        <a:t>3</a:t>
                      </a:r>
                    </a:p>
                  </a:txBody>
                  <a:tcPr marL="91440" marR="91440" marT="45720" marB="45720">
                    <a:solidFill>
                      <a:srgbClr val="FFFFFF"/>
                    </a:solidFill>
                  </a:tcPr>
                </a:tc>
                <a:tc>
                  <a:txBody>
                    <a:bodyPr/>
                    <a:lstStyle/>
                    <a:p>
                      <a:r>
                        <a:rPr sz="2025" b="0">
                          <a:solidFill>
                            <a:srgbClr val="1C3144"/>
                          </a:solidFill>
                          <a:latin typeface="Calibri"/>
                          <a:ea typeface="Calibri"/>
                          <a:cs typeface="Calibri"/>
                        </a:rPr>
                        <a:t>48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B5630A0-A448-4370-B1E3-547C76D25C59}"/>
              </a:ext>
            </a:extLst>
          </p:cNvPr>
          <p:cNvSpPr>
            <a:spLocks xmlns:a="http://schemas.openxmlformats.org/drawingml/2006/main" noGrp="1"/>
          </p:cNvSpPr>
          <p:nvPr/>
        </p:nvSpPr>
        <p:spPr>
          <a:xfrm xmlns:a="http://schemas.openxmlformats.org/drawingml/2006/main">
            <a:off x="685800" y="433387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 derived input must be available when predicting. A useful physical relationship still needs validation.</a:t>
            </a:r>
          </a:p>
        </p:txBody>
      </p:sp>
      <p:sp>
        <p:nvSpPr>
          <p:cNvPr id="6" name="">
            <a:extLst xmlns:a="http://schemas.openxmlformats.org/drawingml/2006/main">
              <a:ext uri="{FF2B5EF4-FFF2-40B4-BE49-F238E27FC236}">
                <a16:creationId xmlns:a16="http://schemas.microsoft.com/office/drawing/2014/main" id="{501FA8E4-4C3C-448B-98CF-BD2276373BC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9</a:t>
            </a:r>
          </a:p>
        </p:txBody>
      </p:sp>
    </p:spTree>
    <p:extLst>
      <p:ext uri="{BB962C8B-B14F-4D97-AF65-F5344CB8AC3E}">
        <p14:creationId xmlns:p14="http://schemas.microsoft.com/office/powerpoint/2010/main" val="2591277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90196E-69F4-4621-AB87-9AC4875386C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2722C2B-18B6-4483-BDE7-2952E1107F5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F964B70-4D6A-4143-B36D-5E1197017F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percentage and its fraction</a:t>
            </a:r>
          </a:p>
        </p:txBody>
      </p:sp>
      <p:sp>
        <p:nvSpPr>
          <p:cNvPr id="4" name="">
            <a:extLst xmlns:a="http://schemas.openxmlformats.org/drawingml/2006/main">
              <a:ext uri="{FF2B5EF4-FFF2-40B4-BE49-F238E27FC236}">
                <a16:creationId xmlns:a16="http://schemas.microsoft.com/office/drawing/2014/main" id="{91C4C676-2FB1-4CD5-BE82-23BF766ED01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BA0A357-FC8D-4AB9-84F5-BB9F9382119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40% means 40 out of 100.</a:t>
            </a:r>
          </a:p>
        </p:txBody>
      </p:sp>
      <p:sp>
        <p:nvSpPr>
          <p:cNvPr id="6" name="">
            <a:extLst xmlns:a="http://schemas.openxmlformats.org/drawingml/2006/main">
              <a:ext uri="{FF2B5EF4-FFF2-40B4-BE49-F238E27FC236}">
                <a16:creationId xmlns:a16="http://schemas.microsoft.com/office/drawing/2014/main" id="{309476D0-847D-4A10-8E70-88C9F01FDF01}"/>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D5B69E3-46BF-4628-ACA9-09577411338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40 / 100 gives 0.4.</a:t>
            </a:r>
          </a:p>
        </p:txBody>
      </p:sp>
      <p:sp>
        <p:nvSpPr>
          <p:cNvPr id="8" name="">
            <a:extLst xmlns:a="http://schemas.openxmlformats.org/drawingml/2006/main">
              <a:ext uri="{FF2B5EF4-FFF2-40B4-BE49-F238E27FC236}">
                <a16:creationId xmlns:a16="http://schemas.microsoft.com/office/drawing/2014/main" id="{D9E05684-3BDC-47C8-A5CB-E8880DBB1CA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89D9D11-5CF1-463C-8F8A-AF20C38D70F0}"/>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changes the representation. It adds no new observation.</a:t>
            </a:r>
          </a:p>
        </p:txBody>
      </p:sp>
      <p:sp>
        <p:nvSpPr>
          <p:cNvPr id="10" name="">
            <a:extLst xmlns:a="http://schemas.openxmlformats.org/drawingml/2006/main">
              <a:ext uri="{FF2B5EF4-FFF2-40B4-BE49-F238E27FC236}">
                <a16:creationId xmlns:a16="http://schemas.microsoft.com/office/drawing/2014/main" id="{89728B72-6050-4ACA-A7D7-ADE35854D25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10</a:t>
            </a:r>
          </a:p>
        </p:txBody>
      </p:sp>
    </p:spTree>
    <p:extLst>
      <p:ext uri="{BB962C8B-B14F-4D97-AF65-F5344CB8AC3E}">
        <p14:creationId xmlns:p14="http://schemas.microsoft.com/office/powerpoint/2010/main" val="3802964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ABCDD5-81A6-4E7A-A9EA-D6A4EFA06F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A6EBC7D-B607-4D04-B396-D075D1178E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BFBFDA1-6B2E-4B3C-92C0-C6B54F3B59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combined input needs a reason</a:t>
            </a:r>
          </a:p>
        </p:txBody>
      </p:sp>
      <p:sp>
        <p:nvSpPr>
          <p:cNvPr id="4" name="">
            <a:extLst xmlns:a="http://schemas.openxmlformats.org/drawingml/2006/main">
              <a:ext uri="{FF2B5EF4-FFF2-40B4-BE49-F238E27FC236}">
                <a16:creationId xmlns:a16="http://schemas.microsoft.com/office/drawing/2014/main" id="{2E7EFE32-8214-4F4B-867E-4831A7EF27A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8F6FD05-4335-408A-9414-E29B5CCE651D}"/>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interaction multiplies two inputs.</a:t>
            </a:r>
          </a:p>
        </p:txBody>
      </p:sp>
      <p:sp>
        <p:nvSpPr>
          <p:cNvPr id="6" name="">
            <a:extLst xmlns:a="http://schemas.openxmlformats.org/drawingml/2006/main">
              <a:ext uri="{FF2B5EF4-FFF2-40B4-BE49-F238E27FC236}">
                <a16:creationId xmlns:a16="http://schemas.microsoft.com/office/drawing/2014/main" id="{064728DD-95DB-463B-845B-5474F5AFDB54}"/>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E4425CC-B5BA-413D-A4CD-686CA640F6E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It may help a simple model represent a joint pattern.</a:t>
            </a:r>
          </a:p>
        </p:txBody>
      </p:sp>
      <p:sp>
        <p:nvSpPr>
          <p:cNvPr id="8" name="">
            <a:extLst xmlns:a="http://schemas.openxmlformats.org/drawingml/2006/main">
              <a:ext uri="{FF2B5EF4-FFF2-40B4-BE49-F238E27FC236}">
                <a16:creationId xmlns:a16="http://schemas.microsoft.com/office/drawing/2014/main" id="{FF3CAA17-466C-4A2D-8340-2E9E40BE3E2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B67971C-675D-471E-8EC3-4F1F3938DDA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interaction with degrees Celsius is an empirical feature, not automatically a physical law.</a:t>
            </a:r>
          </a:p>
        </p:txBody>
      </p:sp>
      <p:sp>
        <p:nvSpPr>
          <p:cNvPr id="10" name="">
            <a:extLst xmlns:a="http://schemas.openxmlformats.org/drawingml/2006/main">
              <a:ext uri="{FF2B5EF4-FFF2-40B4-BE49-F238E27FC236}">
                <a16:creationId xmlns:a16="http://schemas.microsoft.com/office/drawing/2014/main" id="{08F67659-1A4F-46F7-A1F4-0E59B926B1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11</a:t>
            </a:r>
          </a:p>
        </p:txBody>
      </p:sp>
    </p:spTree>
    <p:extLst>
      <p:ext uri="{BB962C8B-B14F-4D97-AF65-F5344CB8AC3E}">
        <p14:creationId xmlns:p14="http://schemas.microsoft.com/office/powerpoint/2010/main" val="20082563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0E3B957-E2C8-4CB5-8CDF-30616F825B9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E49548-BA7F-48A9-B9DE-5D3355CAA48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454C3E39-7D6F-4F66-AE83-6BFD601456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Ablation and Improvement</a:t>
            </a:r>
          </a:p>
        </p:txBody>
      </p:sp>
      <p:sp>
        <p:nvSpPr>
          <p:cNvPr id="4" name="">
            <a:extLst xmlns:a="http://schemas.openxmlformats.org/drawingml/2006/main">
              <a:ext uri="{FF2B5EF4-FFF2-40B4-BE49-F238E27FC236}">
                <a16:creationId xmlns:a16="http://schemas.microsoft.com/office/drawing/2014/main" id="{2B458804-C7AF-42B7-9E35-52AA431EE102}"/>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560F840-BFDD-47F3-B664-4425150E5EE7}"/>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Ablation</a:t>
            </a:r>
          </a:p>
        </p:txBody>
      </p:sp>
      <p:sp>
        <p:nvSpPr>
          <p:cNvPr id="6" name="">
            <a:extLst xmlns:a="http://schemas.openxmlformats.org/drawingml/2006/main">
              <a:ext uri="{FF2B5EF4-FFF2-40B4-BE49-F238E27FC236}">
                <a16:creationId xmlns:a16="http://schemas.microsoft.com/office/drawing/2014/main" id="{C59506E5-7621-4055-84F0-63AB0F25BCAA}"/>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Compare a model with and without a feature while keeping the data partitions, model family and metric fixed.</a:t>
            </a:r>
          </a:p>
        </p:txBody>
      </p:sp>
      <p:sp>
        <p:nvSpPr>
          <p:cNvPr id="7" name="">
            <a:extLst xmlns:a="http://schemas.openxmlformats.org/drawingml/2006/main">
              <a:ext uri="{FF2B5EF4-FFF2-40B4-BE49-F238E27FC236}">
                <a16:creationId xmlns:a16="http://schemas.microsoft.com/office/drawing/2014/main" id="{17CCE80F-8FFA-44C2-B64F-AFC285A1A4E6}"/>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67BBCE1-E523-4487-938D-60D8121DADB8}"/>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Improvement</a:t>
            </a:r>
          </a:p>
        </p:txBody>
      </p:sp>
      <p:sp>
        <p:nvSpPr>
          <p:cNvPr id="9" name="">
            <a:extLst xmlns:a="http://schemas.openxmlformats.org/drawingml/2006/main">
              <a:ext uri="{FF2B5EF4-FFF2-40B4-BE49-F238E27FC236}">
                <a16:creationId xmlns:a16="http://schemas.microsoft.com/office/drawing/2014/main" id="{50C03F38-B9C5-4212-8380-1F78F5A81ABE}"/>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For an error metric, baseline error minus new error. A negative result means the added feature worsened validation error in that comparison.</a:t>
            </a:r>
          </a:p>
        </p:txBody>
      </p:sp>
      <p:sp>
        <p:nvSpPr>
          <p:cNvPr id="10" name="">
            <a:extLst xmlns:a="http://schemas.openxmlformats.org/drawingml/2006/main">
              <a:ext uri="{FF2B5EF4-FFF2-40B4-BE49-F238E27FC236}">
                <a16:creationId xmlns:a16="http://schemas.microsoft.com/office/drawing/2014/main" id="{93985F40-7CFA-4D91-9715-1DF1C32336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12</a:t>
            </a:r>
          </a:p>
        </p:txBody>
      </p:sp>
    </p:spTree>
    <p:extLst>
      <p:ext uri="{BB962C8B-B14F-4D97-AF65-F5344CB8AC3E}">
        <p14:creationId xmlns:p14="http://schemas.microsoft.com/office/powerpoint/2010/main" val="5971836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28DC4E-CCB6-4FDE-8FB9-0D74D5C15F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F576C2-79E5-490C-9BAA-DA38C899DFD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C8A42D9-31C4-450A-AEDD-69AA09D49E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change makes a comparison interpretable</a:t>
            </a:r>
          </a:p>
        </p:txBody>
      </p:sp>
      <p:sp>
        <p:nvSpPr>
          <p:cNvPr id="4" name="">
            <a:extLst xmlns:a="http://schemas.openxmlformats.org/drawingml/2006/main">
              <a:ext uri="{FF2B5EF4-FFF2-40B4-BE49-F238E27FC236}">
                <a16:creationId xmlns:a16="http://schemas.microsoft.com/office/drawing/2014/main" id="{A69F8889-903D-481F-8502-CC42B491199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A2F517E-F27A-4B2A-A52B-6E9FF290631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 MAE is 3.0. Extended MAE is 2.5.</a:t>
            </a:r>
          </a:p>
        </p:txBody>
      </p:sp>
      <p:sp>
        <p:nvSpPr>
          <p:cNvPr id="6" name="">
            <a:extLst xmlns:a="http://schemas.openxmlformats.org/drawingml/2006/main">
              <a:ext uri="{FF2B5EF4-FFF2-40B4-BE49-F238E27FC236}">
                <a16:creationId xmlns:a16="http://schemas.microsoft.com/office/drawing/2014/main" id="{1BCB7EF5-9CDE-4242-B5B1-4A92F53F6B3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4234A31-A920-431D-B522-D1406945C6AB}"/>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Improvement = base error minus extended error = 0.5.</a:t>
            </a:r>
          </a:p>
        </p:txBody>
      </p:sp>
      <p:sp>
        <p:nvSpPr>
          <p:cNvPr id="8" name="">
            <a:extLst xmlns:a="http://schemas.openxmlformats.org/drawingml/2006/main">
              <a:ext uri="{FF2B5EF4-FFF2-40B4-BE49-F238E27FC236}">
                <a16:creationId xmlns:a16="http://schemas.microsoft.com/office/drawing/2014/main" id="{2A12F91C-5DC2-4C9D-A708-42205C0394BE}"/>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A517D34-2A4C-4718-B27C-91EF37BCEA9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training rows, validation rows, model family and metric fixed.</a:t>
            </a:r>
          </a:p>
        </p:txBody>
      </p:sp>
      <p:sp>
        <p:nvSpPr>
          <p:cNvPr id="10" name="">
            <a:extLst xmlns:a="http://schemas.openxmlformats.org/drawingml/2006/main">
              <a:ext uri="{FF2B5EF4-FFF2-40B4-BE49-F238E27FC236}">
                <a16:creationId xmlns:a16="http://schemas.microsoft.com/office/drawing/2014/main" id="{F34AD964-E0EF-4217-A515-717AA5FFED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13</a:t>
            </a:r>
          </a:p>
        </p:txBody>
      </p:sp>
    </p:spTree>
    <p:extLst>
      <p:ext uri="{BB962C8B-B14F-4D97-AF65-F5344CB8AC3E}">
        <p14:creationId xmlns:p14="http://schemas.microsoft.com/office/powerpoint/2010/main" val="7077491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70C4E4-4CB6-4C08-AF83-1572B7E7F9D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F8C3C8-3698-4166-B444-11FD33F47EA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E557954-29CC-465A-AE2D-9DDABDEC4C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 comparisons in Python</a:t>
            </a:r>
          </a:p>
        </p:txBody>
      </p:sp>
      <p:sp>
        <p:nvSpPr>
          <p:cNvPr id="4" name="">
            <a:extLst xmlns:a="http://schemas.openxmlformats.org/drawingml/2006/main">
              <a:ext uri="{FF2B5EF4-FFF2-40B4-BE49-F238E27FC236}">
                <a16:creationId xmlns:a16="http://schemas.microsoft.com/office/drawing/2014/main" id="{AD908E2A-31D7-43AF-961F-417DB89DF57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747339-6200-4E6A-9EA4-1B7BEDF843ED}"/>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load_pct = 40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ambient_c = 25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load_fraction = load_pct / 100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interaction = load_pct * ambient_c</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print(load_fraction, interaction)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base_mae = 3.0</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extended_mae = 2.5</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print(base_mae - extended_mae)</a:t>
            </a:r>
          </a:p>
        </p:txBody>
      </p:sp>
      <p:sp>
        <p:nvSpPr>
          <p:cNvPr id="6" name="">
            <a:extLst xmlns:a="http://schemas.openxmlformats.org/drawingml/2006/main">
              <a:ext uri="{FF2B5EF4-FFF2-40B4-BE49-F238E27FC236}">
                <a16:creationId xmlns:a16="http://schemas.microsoft.com/office/drawing/2014/main" id="{A03DAADD-E05D-42B6-9B70-D5BB417D97F6}"/>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2A25A99-EE36-40E2-B250-426430F440C4}"/>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print displays a value below the cell.</a:t>
            </a:r>
          </a:p>
        </p:txBody>
      </p:sp>
      <p:sp>
        <p:nvSpPr>
          <p:cNvPr id="8" name="">
            <a:extLst xmlns:a="http://schemas.openxmlformats.org/drawingml/2006/main">
              <a:ext uri="{FF2B5EF4-FFF2-40B4-BE49-F238E27FC236}">
                <a16:creationId xmlns:a16="http://schemas.microsoft.com/office/drawing/2014/main" id="{09037BBE-CA2A-4F5C-8595-AD8DEE13AE05}"/>
              </a:ext>
            </a:extLst>
          </p:cNvPr>
          <p:cNvSpPr>
            <a:spLocks xmlns:a="http://schemas.openxmlformats.org/drawingml/2006/main" noGrp="1"/>
          </p:cNvSpPr>
          <p:nvPr/>
        </p:nvSpPr>
        <p:spPr>
          <a:xfrm xmlns:a="http://schemas.openxmlformats.org/drawingml/2006/main">
            <a:off x="8096250" y="32766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 assigns the value on the right to the name on the left.</a:t>
            </a:r>
          </a:p>
        </p:txBody>
      </p:sp>
      <p:sp>
        <p:nvSpPr>
          <p:cNvPr id="9" name="">
            <a:extLst xmlns:a="http://schemas.openxmlformats.org/drawingml/2006/main">
              <a:ext uri="{FF2B5EF4-FFF2-40B4-BE49-F238E27FC236}">
                <a16:creationId xmlns:a16="http://schemas.microsoft.com/office/drawing/2014/main" id="{4C3C3BDE-3EB3-4B07-B2DD-5809E8B1568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10" name="">
            <a:extLst xmlns:a="http://schemas.openxmlformats.org/drawingml/2006/main">
              <a:ext uri="{FF2B5EF4-FFF2-40B4-BE49-F238E27FC236}">
                <a16:creationId xmlns:a16="http://schemas.microsoft.com/office/drawing/2014/main" id="{86722F9A-3ED3-4F7F-A7D1-03759003E9C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14</a:t>
            </a:r>
          </a:p>
        </p:txBody>
      </p:sp>
    </p:spTree>
    <p:extLst>
      <p:ext uri="{BB962C8B-B14F-4D97-AF65-F5344CB8AC3E}">
        <p14:creationId xmlns:p14="http://schemas.microsoft.com/office/powerpoint/2010/main" val="120931366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474AD2-915A-4129-80A4-E8E2DD9272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674CD5-215E-42BF-8D0B-B41183AE12F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CHECK THE OUTPUT</a:t>
            </a:r>
          </a:p>
        </p:txBody>
      </p:sp>
      <p:sp>
        <p:nvSpPr>
          <p:cNvPr id="3" name="">
            <a:extLst xmlns:a="http://schemas.openxmlformats.org/drawingml/2006/main">
              <a:ext uri="{FF2B5EF4-FFF2-40B4-BE49-F238E27FC236}">
                <a16:creationId xmlns:a16="http://schemas.microsoft.com/office/drawing/2014/main" id="{38FBEF25-1E37-4425-A4C0-FCDDAC7C675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 comparisons results</a:t>
            </a:r>
          </a:p>
        </p:txBody>
      </p:sp>
      <p:sp>
        <p:nvSpPr>
          <p:cNvPr id="4" name="">
            <a:extLst xmlns:a="http://schemas.openxmlformats.org/drawingml/2006/main">
              <a:ext uri="{FF2B5EF4-FFF2-40B4-BE49-F238E27FC236}">
                <a16:creationId xmlns:a16="http://schemas.microsoft.com/office/drawing/2014/main" id="{27409999-8B6D-4020-8E78-C8716472AD1F}"/>
              </a:ext>
            </a:extLst>
          </p:cNvPr>
          <p:cNvSpPr>
            <a:spLocks xmlns:a="http://schemas.openxmlformats.org/drawingml/2006/main" noGrp="1"/>
          </p:cNvSpPr>
          <p:nvPr/>
        </p:nvSpPr>
        <p:spPr>
          <a:xfrm xmlns:a="http://schemas.openxmlformats.org/drawingml/2006/main">
            <a:off x="590550" y="1752600"/>
            <a:ext cx="11010900" cy="35242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828397-98AB-4414-A07C-CB5171C91150}"/>
              </a:ext>
            </a:extLst>
          </p:cNvPr>
          <p:cNvSpPr>
            <a:spLocks xmlns:a="http://schemas.openxmlformats.org/drawingml/2006/main" noGrp="1"/>
          </p:cNvSpPr>
          <p:nvPr/>
        </p:nvSpPr>
        <p:spPr>
          <a:xfrm xmlns:a="http://schemas.openxmlformats.org/drawingml/2006/main">
            <a:off x="904875" y="2028825"/>
            <a:ext cx="10334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0.4 1000</a:t>
            </a:r>
          </a:p>
          <a:p xmlns:a="http://schemas.openxmlformats.org/drawingml/2006/main">
            <a:pPr>
              <a:defRPr sz="3150" b="0">
                <a:solidFill>
                  <a:srgbClr val="2E7D6F"/>
                </a:solidFill>
                <a:latin typeface="Courier New"/>
                <a:ea typeface="Courier New"/>
                <a:cs typeface="Courier New"/>
              </a:defRPr>
            </a:pPr>
            <a:r>
              <a:rPr sz="3150" b="0">
                <a:solidFill>
                  <a:srgbClr val="2E7D6F"/>
                </a:solidFill>
                <a:latin typeface="Courier New"/>
                <a:ea typeface="Courier New"/>
                <a:cs typeface="Courier New"/>
              </a:rPr>
              <a:t>0.5</a:t>
            </a:r>
          </a:p>
        </p:txBody>
      </p:sp>
      <p:sp>
        <p:nvSpPr>
          <p:cNvPr id="6" name="">
            <a:extLst xmlns:a="http://schemas.openxmlformats.org/drawingml/2006/main">
              <a:ext uri="{FF2B5EF4-FFF2-40B4-BE49-F238E27FC236}">
                <a16:creationId xmlns:a16="http://schemas.microsoft.com/office/drawing/2014/main" id="{8D6ECE00-04CB-4625-AEAE-6B5A86CF968E}"/>
              </a:ext>
            </a:extLst>
          </p:cNvPr>
          <p:cNvSpPr>
            <a:spLocks xmlns:a="http://schemas.openxmlformats.org/drawingml/2006/main" noGrp="1"/>
          </p:cNvSpPr>
          <p:nvPr/>
        </p:nvSpPr>
        <p:spPr>
          <a:xfrm xmlns:a="http://schemas.openxmlformats.org/drawingml/2006/main">
            <a:off x="685800" y="5581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Which step produced this result? What changes if one input changes?</a:t>
            </a:r>
          </a:p>
        </p:txBody>
      </p:sp>
      <p:sp>
        <p:nvSpPr>
          <p:cNvPr id="7" name="">
            <a:extLst xmlns:a="http://schemas.openxmlformats.org/drawingml/2006/main">
              <a:ext uri="{FF2B5EF4-FFF2-40B4-BE49-F238E27FC236}">
                <a16:creationId xmlns:a16="http://schemas.microsoft.com/office/drawing/2014/main" id="{EA0F66A8-CC9B-4D54-96B0-E7EB052DFF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15</a:t>
            </a:r>
          </a:p>
        </p:txBody>
      </p:sp>
    </p:spTree>
    <p:extLst>
      <p:ext uri="{BB962C8B-B14F-4D97-AF65-F5344CB8AC3E}">
        <p14:creationId xmlns:p14="http://schemas.microsoft.com/office/powerpoint/2010/main" val="48905651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BD0D49-EAF6-412B-9784-8D17E41B27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5053BB-3833-40EF-B432-1D0AD415D5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9DA9DE6-469E-4831-9DCC-06906CDD4F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 the two-model experiment</a:t>
            </a:r>
          </a:p>
        </p:txBody>
      </p:sp>
      <p:sp>
        <p:nvSpPr>
          <p:cNvPr id="4" name="">
            <a:extLst xmlns:a="http://schemas.openxmlformats.org/drawingml/2006/main">
              <a:ext uri="{FF2B5EF4-FFF2-40B4-BE49-F238E27FC236}">
                <a16:creationId xmlns:a16="http://schemas.microsoft.com/office/drawing/2014/main" id="{8D587E8C-F188-4BAE-906B-DF9ECE6228C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B7C86F3-A3E7-4965-9FF8-E2DE9210071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contains a pair of inputs. for a, b in rows assigns the first entry to a and the second to b, then repeats the block.</a:t>
            </a:r>
          </a:p>
        </p:txBody>
      </p:sp>
      <p:sp>
        <p:nvSpPr>
          <p:cNvPr id="6" name="">
            <a:extLst xmlns:a="http://schemas.openxmlformats.org/drawingml/2006/main">
              <a:ext uri="{FF2B5EF4-FFF2-40B4-BE49-F238E27FC236}">
                <a16:creationId xmlns:a16="http://schemas.microsoft.com/office/drawing/2014/main" id="{49C21BEB-7A55-4383-B9AE-423A4A02B866}"/>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15EB025-DCA6-416B-B817-A5B7C2B75473}"/>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with_interaction returns a new table containing a, b and a × b. Both models keep the same training and validation rows.</a:t>
            </a:r>
          </a:p>
        </p:txBody>
      </p:sp>
      <p:sp>
        <p:nvSpPr>
          <p:cNvPr id="8" name="">
            <a:extLst xmlns:a="http://schemas.openxmlformats.org/drawingml/2006/main">
              <a:ext uri="{FF2B5EF4-FFF2-40B4-BE49-F238E27FC236}">
                <a16:creationId xmlns:a16="http://schemas.microsoft.com/office/drawing/2014/main" id="{3810D8B5-9C23-4A3E-8AF9-49022CEDE0E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6973FC4-3390-4678-AF7B-BD2B6A54477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Create the model first, then call fit on the next line. round(value, 6) rounds a displayed number to six decimal places; retain full precision for calculations.</a:t>
            </a:r>
          </a:p>
        </p:txBody>
      </p:sp>
      <p:sp>
        <p:nvSpPr>
          <p:cNvPr id="10" name="">
            <a:extLst xmlns:a="http://schemas.openxmlformats.org/drawingml/2006/main">
              <a:ext uri="{FF2B5EF4-FFF2-40B4-BE49-F238E27FC236}">
                <a16:creationId xmlns:a16="http://schemas.microsoft.com/office/drawing/2014/main" id="{E1BD3AFF-A2F9-4C6D-B351-3AD87304D79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16</a:t>
            </a:r>
          </a:p>
        </p:txBody>
      </p:sp>
    </p:spTree>
    <p:extLst>
      <p:ext uri="{BB962C8B-B14F-4D97-AF65-F5344CB8AC3E}">
        <p14:creationId xmlns:p14="http://schemas.microsoft.com/office/powerpoint/2010/main" val="18431629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BA962D-D95A-48FD-8C97-CD3706731B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3C77BD-F99D-4B7E-B9D4-08529B94A3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E1ECC64-6058-47E6-82BE-C8D4A3DAD9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Trace the interaction-building function</a:t>
            </a:r>
          </a:p>
        </p:txBody>
      </p:sp>
      <p:sp>
        <p:nvSpPr>
          <p:cNvPr id="4" name="">
            <a:extLst xmlns:a="http://schemas.openxmlformats.org/drawingml/2006/main">
              <a:ext uri="{FF2B5EF4-FFF2-40B4-BE49-F238E27FC236}">
                <a16:creationId xmlns:a16="http://schemas.microsoft.com/office/drawing/2014/main" id="{7E1607DE-3B0F-4499-8913-CA5F34DA72E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99DB75A-8FC7-48DF-B839-4F62E673959A}"/>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row contains two inputs. for a, b in rows: assigns them to a and b. [a, b, a * b] builds a new row with their product as a third input.</a:t>
            </a:r>
          </a:p>
        </p:txBody>
      </p:sp>
      <p:sp>
        <p:nvSpPr>
          <p:cNvPr id="6" name="">
            <a:extLst xmlns:a="http://schemas.openxmlformats.org/drawingml/2006/main">
              <a:ext uri="{FF2B5EF4-FFF2-40B4-BE49-F238E27FC236}">
                <a16:creationId xmlns:a16="http://schemas.microsoft.com/office/drawing/2014/main" id="{5B5ADC1E-1A18-4662-9841-0A9B2192EA0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6D076AD-838C-4859-9FAF-A67C73DBA5D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row [2, 3], append [2, 3, 6]. For row [4, 5], append [4, 5, 20]. The function returns the newly built list of rows.</a:t>
            </a:r>
          </a:p>
        </p:txBody>
      </p:sp>
      <p:sp>
        <p:nvSpPr>
          <p:cNvPr id="8" name="">
            <a:extLst xmlns:a="http://schemas.openxmlformats.org/drawingml/2006/main">
              <a:ext uri="{FF2B5EF4-FFF2-40B4-BE49-F238E27FC236}">
                <a16:creationId xmlns:a16="http://schemas.microsoft.com/office/drawing/2014/main" id="{F73DACAC-6780-46B3-81DF-CCD8C6BE3B3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B6632E2-D0A1-4A5D-9A27-79D4F6D1ECB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same function must transform both training and validation inputs. It uses no target values to construct the new feature.</a:t>
            </a:r>
          </a:p>
        </p:txBody>
      </p:sp>
      <p:sp>
        <p:nvSpPr>
          <p:cNvPr id="10" name="">
            <a:extLst xmlns:a="http://schemas.openxmlformats.org/drawingml/2006/main">
              <a:ext uri="{FF2B5EF4-FFF2-40B4-BE49-F238E27FC236}">
                <a16:creationId xmlns:a16="http://schemas.microsoft.com/office/drawing/2014/main" id="{ECD2C3E9-58DB-4029-93A4-04F85A733A4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17</a:t>
            </a:r>
          </a:p>
        </p:txBody>
      </p:sp>
    </p:spTree>
    <p:extLst>
      <p:ext uri="{BB962C8B-B14F-4D97-AF65-F5344CB8AC3E}">
        <p14:creationId xmlns:p14="http://schemas.microsoft.com/office/powerpoint/2010/main" val="81757632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C5D25C2-8319-4F77-8FF8-B4C35042A1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AF24F4-CFCA-42E4-B995-B7BA15378C9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194DE59-AE86-4B4D-81D5-E5DED067F63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models under one protocol</a:t>
            </a:r>
          </a:p>
        </p:txBody>
      </p:sp>
      <p:sp>
        <p:nvSpPr>
          <p:cNvPr id="4" name="">
            <a:extLst xmlns:a="http://schemas.openxmlformats.org/drawingml/2006/main">
              <a:ext uri="{FF2B5EF4-FFF2-40B4-BE49-F238E27FC236}">
                <a16:creationId xmlns:a16="http://schemas.microsoft.com/office/drawing/2014/main" id="{837B100C-E58E-4051-9D29-425308C3F90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CFBD9A4-E22F-4BCE-B025-582F4B0609C0}"/>
              </a:ext>
            </a:extLst>
          </p:cNvPr>
          <p:cNvSpPr>
            <a:spLocks xmlns:a="http://schemas.openxmlformats.org/drawingml/2006/main" noGrp="1"/>
          </p:cNvSpPr>
          <p:nvPr/>
        </p:nvSpPr>
        <p:spPr>
          <a:xfrm xmlns:a="http://schemas.openxmlformats.org/drawingml/2006/main">
            <a:off x="1381125" y="1781175"/>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this complete practice experiment in a fresh session.</a:t>
            </a:r>
          </a:p>
        </p:txBody>
      </p:sp>
      <p:sp>
        <p:nvSpPr>
          <p:cNvPr id="6" name="">
            <a:extLst xmlns:a="http://schemas.openxmlformats.org/drawingml/2006/main">
              <a:ext uri="{FF2B5EF4-FFF2-40B4-BE49-F238E27FC236}">
                <a16:creationId xmlns:a16="http://schemas.microsoft.com/office/drawing/2014/main" id="{5DE5FE75-3D78-44EC-B430-5E1FD71CB2D9}"/>
              </a:ext>
            </a:extLst>
          </p:cNvPr>
          <p:cNvSpPr>
            <a:spLocks xmlns:a="http://schemas.openxmlformats.org/drawingml/2006/main" noGrp="1"/>
          </p:cNvSpPr>
          <p:nvPr/>
        </p:nvSpPr>
        <p:spPr>
          <a:xfrm xmlns:a="http://schemas.openxmlformats.org/drawingml/2006/main">
            <a:off x="590550" y="28527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186CC97-C27D-4E04-BBA7-42175178C95C}"/>
              </a:ext>
            </a:extLst>
          </p:cNvPr>
          <p:cNvSpPr>
            <a:spLocks xmlns:a="http://schemas.openxmlformats.org/drawingml/2006/main" noGrp="1"/>
          </p:cNvSpPr>
          <p:nvPr/>
        </p:nvSpPr>
        <p:spPr>
          <a:xfrm xmlns:a="http://schemas.openxmlformats.org/drawingml/2006/main">
            <a:off x="1381125" y="2852738"/>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Both models use the same rows and targets; the second receives one additional input.</a:t>
            </a:r>
          </a:p>
        </p:txBody>
      </p:sp>
      <p:sp>
        <p:nvSpPr>
          <p:cNvPr id="8" name="">
            <a:extLst xmlns:a="http://schemas.openxmlformats.org/drawingml/2006/main">
              <a:ext uri="{FF2B5EF4-FFF2-40B4-BE49-F238E27FC236}">
                <a16:creationId xmlns:a16="http://schemas.microsoft.com/office/drawing/2014/main" id="{7B7DE593-34A4-4804-9E2C-1BAE92398F27}"/>
              </a:ext>
            </a:extLst>
          </p:cNvPr>
          <p:cNvSpPr>
            <a:spLocks xmlns:a="http://schemas.openxmlformats.org/drawingml/2006/main" noGrp="1"/>
          </p:cNvSpPr>
          <p:nvPr/>
        </p:nvSpPr>
        <p:spPr>
          <a:xfrm xmlns:a="http://schemas.openxmlformats.org/drawingml/2006/main">
            <a:off x="590550" y="392430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70AF695-38CA-443C-8227-6F8C9DB36720}"/>
              </a:ext>
            </a:extLst>
          </p:cNvPr>
          <p:cNvSpPr>
            <a:spLocks xmlns:a="http://schemas.openxmlformats.org/drawingml/2006/main" noGrp="1"/>
          </p:cNvSpPr>
          <p:nvPr/>
        </p:nvSpPr>
        <p:spPr>
          <a:xfrm xmlns:a="http://schemas.openxmlformats.org/drawingml/2006/main">
            <a:off x="1381125" y="3924300"/>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column before fitting.</a:t>
            </a:r>
          </a:p>
        </p:txBody>
      </p:sp>
      <p:sp>
        <p:nvSpPr>
          <p:cNvPr id="10" name="">
            <a:extLst xmlns:a="http://schemas.openxmlformats.org/drawingml/2006/main">
              <a:ext uri="{FF2B5EF4-FFF2-40B4-BE49-F238E27FC236}">
                <a16:creationId xmlns:a16="http://schemas.microsoft.com/office/drawing/2014/main" id="{37DC7C74-E328-4B74-B166-FC473C8CE038}"/>
              </a:ext>
            </a:extLst>
          </p:cNvPr>
          <p:cNvSpPr>
            <a:spLocks xmlns:a="http://schemas.openxmlformats.org/drawingml/2006/main" noGrp="1"/>
          </p:cNvSpPr>
          <p:nvPr/>
        </p:nvSpPr>
        <p:spPr>
          <a:xfrm xmlns:a="http://schemas.openxmlformats.org/drawingml/2006/main">
            <a:off x="590550" y="49958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53DB71D-53CA-489F-BD5E-316D64CF00C4}"/>
              </a:ext>
            </a:extLst>
          </p:cNvPr>
          <p:cNvSpPr>
            <a:spLocks xmlns:a="http://schemas.openxmlformats.org/drawingml/2006/main" noGrp="1"/>
          </p:cNvSpPr>
          <p:nvPr/>
        </p:nvSpPr>
        <p:spPr>
          <a:xfrm xmlns:a="http://schemas.openxmlformats.org/drawingml/2006/main">
            <a:off x="1381125" y="4995863"/>
            <a:ext cx="10096500" cy="995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invented experiment illustrates procedure, not a measured engineering benefit.</a:t>
            </a:r>
          </a:p>
        </p:txBody>
      </p:sp>
      <p:sp>
        <p:nvSpPr>
          <p:cNvPr id="12" name="">
            <a:extLst xmlns:a="http://schemas.openxmlformats.org/drawingml/2006/main">
              <a:ext uri="{FF2B5EF4-FFF2-40B4-BE49-F238E27FC236}">
                <a16:creationId xmlns:a16="http://schemas.microsoft.com/office/drawing/2014/main" id="{C39E0416-87A2-4D45-A634-4E7FA2CE68D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18</a:t>
            </a:r>
          </a:p>
        </p:txBody>
      </p:sp>
    </p:spTree>
    <p:extLst>
      <p:ext uri="{BB962C8B-B14F-4D97-AF65-F5344CB8AC3E}">
        <p14:creationId xmlns:p14="http://schemas.microsoft.com/office/powerpoint/2010/main" val="11825925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077022-1807-4112-82EB-0A4AD5BA73A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1A1E99-1B6E-4896-89D8-79F8E9AEFBC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FD0383D-697B-4C88-9C53-DCB476D9E20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models under one protocol in Python (1/3)</a:t>
            </a:r>
          </a:p>
        </p:txBody>
      </p:sp>
      <p:sp>
        <p:nvSpPr>
          <p:cNvPr id="4" name="">
            <a:extLst xmlns:a="http://schemas.openxmlformats.org/drawingml/2006/main">
              <a:ext uri="{FF2B5EF4-FFF2-40B4-BE49-F238E27FC236}">
                <a16:creationId xmlns:a16="http://schemas.microsoft.com/office/drawing/2014/main" id="{A62A8801-A86D-45AA-8F07-49E5B8500FF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0D6813B-EE2D-47E8-82AF-8688C64A504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from</a:t>
            </a:r>
            <a:r>
              <a:rPr sz="2175" b="0">
                <a:solidFill>
                  <a:srgbClr val="F4F7FA"/>
                </a:solidFill>
                <a:latin typeface="Courier New"/>
                <a:ea typeface="Courier New"/>
                <a:cs typeface="Courier New"/>
              </a:rPr>
              <a:t> sklearn.linear_model </a:t>
            </a: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LinearRegression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from sklearn.metrics import mean_absolute_error</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train = [[1, 2], [2, 3], [3, 2], [4, 4], [5,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y = [3, 5, 5, 8, 8]</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validation = [[2, 2], [3, 3]]</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truth = [4, 6]</a:t>
            </a:r>
          </a:p>
        </p:txBody>
      </p:sp>
      <p:sp>
        <p:nvSpPr>
          <p:cNvPr id="6" name="">
            <a:extLst xmlns:a="http://schemas.openxmlformats.org/drawingml/2006/main">
              <a:ext uri="{FF2B5EF4-FFF2-40B4-BE49-F238E27FC236}">
                <a16:creationId xmlns:a16="http://schemas.microsoft.com/office/drawing/2014/main" id="{AC0BBEB6-F241-4FF9-AC6D-DC5E62E8E8F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loads a library. from selects a tool from it.</a:t>
            </a:r>
          </a:p>
        </p:txBody>
      </p:sp>
      <p:sp>
        <p:nvSpPr>
          <p:cNvPr id="7" name="">
            <a:extLst xmlns:a="http://schemas.openxmlformats.org/drawingml/2006/main">
              <a:ext uri="{FF2B5EF4-FFF2-40B4-BE49-F238E27FC236}">
                <a16:creationId xmlns:a16="http://schemas.microsoft.com/office/drawing/2014/main" id="{59CB4E52-1394-4B67-83E6-4BE75FBCD34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Read top to bottom. Run the complete example in the matching practice notebook.</a:t>
            </a:r>
          </a:p>
        </p:txBody>
      </p:sp>
      <p:sp>
        <p:nvSpPr>
          <p:cNvPr id="8" name="">
            <a:extLst xmlns:a="http://schemas.openxmlformats.org/drawingml/2006/main">
              <a:ext uri="{FF2B5EF4-FFF2-40B4-BE49-F238E27FC236}">
                <a16:creationId xmlns:a16="http://schemas.microsoft.com/office/drawing/2014/main" id="{89387AB6-D2C8-4899-BA96-DB3B4157A6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19</a:t>
            </a:r>
          </a:p>
        </p:txBody>
      </p:sp>
    </p:spTree>
    <p:extLst>
      <p:ext uri="{BB962C8B-B14F-4D97-AF65-F5344CB8AC3E}">
        <p14:creationId xmlns:p14="http://schemas.microsoft.com/office/powerpoint/2010/main" val="169021034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BAE722-5DD0-41EB-95B9-1B2ED7457E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AF8529-846F-44E4-8CE5-BBA72B3026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B8A8A00-35DA-4294-A9EC-B1632838B5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models under one protocol in Python (2/3)</a:t>
            </a:r>
          </a:p>
        </p:txBody>
      </p:sp>
      <p:sp>
        <p:nvSpPr>
          <p:cNvPr id="4" name="">
            <a:extLst xmlns:a="http://schemas.openxmlformats.org/drawingml/2006/main">
              <a:ext uri="{FF2B5EF4-FFF2-40B4-BE49-F238E27FC236}">
                <a16:creationId xmlns:a16="http://schemas.microsoft.com/office/drawing/2014/main" id="{C0F00811-2763-44C6-86EB-E696BC1F2CD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752EE50-9A15-44AD-A450-2ECE99924209}"/>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def</a:t>
            </a:r>
            <a:r>
              <a:rPr sz="2175" b="0">
                <a:solidFill>
                  <a:srgbClr val="F4F7FA"/>
                </a:solidFill>
                <a:latin typeface="Courier New"/>
                <a:ea typeface="Courier New"/>
                <a:cs typeface="Courier New"/>
              </a:rPr>
              <a:t> with_interaction(rows):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result = []</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for</a:t>
            </a:r>
            <a:r>
              <a:rPr sz="2175" b="0">
                <a:solidFill>
                  <a:srgbClr val="F4F7FA"/>
                </a:solidFill>
                <a:latin typeface="Courier New"/>
                <a:ea typeface="Courier New"/>
                <a:cs typeface="Courier New"/>
              </a:rPr>
              <a:t> a, b in rows: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result.append([a, b, a * b])</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    </a:t>
            </a:r>
            <a:r>
              <a:rPr sz="2175" b="0">
                <a:solidFill>
                  <a:srgbClr val="FFB080"/>
                </a:solidFill>
                <a:latin typeface="Courier New"/>
                <a:ea typeface="Courier New"/>
                <a:cs typeface="Courier New"/>
              </a:rPr>
              <a:t>return</a:t>
            </a:r>
            <a:r>
              <a:rPr sz="2175" b="0">
                <a:solidFill>
                  <a:srgbClr val="F4F7FA"/>
                </a:solidFill>
                <a:latin typeface="Courier New"/>
                <a:ea typeface="Courier New"/>
                <a:cs typeface="Courier New"/>
              </a:rPr>
              <a:t> result</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 = LinearRegression()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base.fit(train, y)</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extended = LinearRegression()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extended.fit(with_interaction(train), y)</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base_predictions = base.predict(validation)</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base_error = mean_absolute_error(truth, base_predictions)</a:t>
            </a:r>
          </a:p>
        </p:txBody>
      </p:sp>
      <p:sp>
        <p:nvSpPr>
          <p:cNvPr id="6" name="">
            <a:extLst xmlns:a="http://schemas.openxmlformats.org/drawingml/2006/main">
              <a:ext uri="{FF2B5EF4-FFF2-40B4-BE49-F238E27FC236}">
                <a16:creationId xmlns:a16="http://schemas.microsoft.com/office/drawing/2014/main" id="{2FE60CFB-1AF4-489D-B12C-3FDF44CC219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def names the function. Inputs go inside parentheses.</a:t>
            </a:r>
          </a:p>
        </p:txBody>
      </p:sp>
      <p:sp>
        <p:nvSpPr>
          <p:cNvPr id="7" name="">
            <a:extLst xmlns:a="http://schemas.openxmlformats.org/drawingml/2006/main">
              <a:ext uri="{FF2B5EF4-FFF2-40B4-BE49-F238E27FC236}">
                <a16:creationId xmlns:a16="http://schemas.microsoft.com/office/drawing/2014/main" id="{87E9178B-10BA-4EA2-A048-5AE3AF22AC8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8" name="">
            <a:extLst xmlns:a="http://schemas.openxmlformats.org/drawingml/2006/main">
              <a:ext uri="{FF2B5EF4-FFF2-40B4-BE49-F238E27FC236}">
                <a16:creationId xmlns:a16="http://schemas.microsoft.com/office/drawing/2014/main" id="{AFF7C9C3-B92D-43B3-9C29-C1F9C19253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20</a:t>
            </a:r>
          </a:p>
        </p:txBody>
      </p:sp>
    </p:spTree>
    <p:extLst>
      <p:ext uri="{BB962C8B-B14F-4D97-AF65-F5344CB8AC3E}">
        <p14:creationId xmlns:p14="http://schemas.microsoft.com/office/powerpoint/2010/main" val="3676908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C8CABD-4AD3-4E66-8576-791DD98F896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B43914-CE8F-457A-9D45-071FAF7DC9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AC6F70D-21F9-4642-9CD1-AA131DABD8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models under one protocol in Python (3/3)</a:t>
            </a:r>
          </a:p>
        </p:txBody>
      </p:sp>
      <p:sp>
        <p:nvSpPr>
          <p:cNvPr id="4" name="">
            <a:extLst xmlns:a="http://schemas.openxmlformats.org/drawingml/2006/main">
              <a:ext uri="{FF2B5EF4-FFF2-40B4-BE49-F238E27FC236}">
                <a16:creationId xmlns:a16="http://schemas.microsoft.com/office/drawing/2014/main" id="{225A6886-60BA-4CE6-9497-153FB45D77D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019AA1-7CE6-49CD-B406-4DD6387B1F5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print(round(base_error, 6))</a:t>
            </a:r>
          </a:p>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validation_features = with_interaction(validation)</a:t>
            </a:r>
          </a:p>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extended_predictions = extended.predict(validation_features)</a:t>
            </a:r>
          </a:p>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error = mean_absolute_error(truth, extended_predictions)</a:t>
            </a:r>
          </a:p>
          <a:p xmlns:a="http://schemas.openxmlformats.org/drawingml/2006/main">
            <a:pPr>
              <a:defRPr sz="2137" b="0">
                <a:solidFill>
                  <a:srgbClr val="F4F7FA"/>
                </a:solidFill>
                <a:latin typeface="Courier New"/>
                <a:ea typeface="Courier New"/>
                <a:cs typeface="Courier New"/>
              </a:defRPr>
            </a:pPr>
            <a:r>
              <a:rPr sz="2137" b="0">
                <a:solidFill>
                  <a:srgbClr val="F4F7FA"/>
                </a:solidFill>
                <a:latin typeface="Courier New"/>
                <a:ea typeface="Courier New"/>
                <a:cs typeface="Courier New"/>
              </a:rPr>
              <a:t>print(round(error, 6))</a:t>
            </a:r>
          </a:p>
        </p:txBody>
      </p:sp>
      <p:sp>
        <p:nvSpPr>
          <p:cNvPr id="6" name="">
            <a:extLst xmlns:a="http://schemas.openxmlformats.org/drawingml/2006/main">
              <a:ext uri="{FF2B5EF4-FFF2-40B4-BE49-F238E27FC236}">
                <a16:creationId xmlns:a16="http://schemas.microsoft.com/office/drawing/2014/main" id="{D89BF201-5298-43C4-AC4C-B9FDB99C4D8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predict applies the fitted model to new inputs.</a:t>
            </a:r>
          </a:p>
        </p:txBody>
      </p:sp>
      <p:sp>
        <p:nvSpPr>
          <p:cNvPr id="7" name="">
            <a:extLst xmlns:a="http://schemas.openxmlformats.org/drawingml/2006/main">
              <a:ext uri="{FF2B5EF4-FFF2-40B4-BE49-F238E27FC236}">
                <a16:creationId xmlns:a16="http://schemas.microsoft.com/office/drawing/2014/main" id="{45C421BA-AD34-46A6-B6E1-47B08350136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Continue the SAME cell; keep indentation. Run after all parts are entered.</a:t>
            </a:r>
          </a:p>
        </p:txBody>
      </p:sp>
      <p:sp>
        <p:nvSpPr>
          <p:cNvPr id="8" name="">
            <a:extLst xmlns:a="http://schemas.openxmlformats.org/drawingml/2006/main">
              <a:ext uri="{FF2B5EF4-FFF2-40B4-BE49-F238E27FC236}">
                <a16:creationId xmlns:a16="http://schemas.microsoft.com/office/drawing/2014/main" id="{848901AB-C1A0-41EF-8C3C-A93AB93C6E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21</a:t>
            </a:r>
          </a:p>
        </p:txBody>
      </p:sp>
    </p:spTree>
    <p:extLst>
      <p:ext uri="{BB962C8B-B14F-4D97-AF65-F5344CB8AC3E}">
        <p14:creationId xmlns:p14="http://schemas.microsoft.com/office/powerpoint/2010/main" val="26537825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454476-54B7-42AE-98B4-BB256107B1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1833FA-7A0F-46F1-9DD4-451E3C1817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6C322F5-28AF-4033-ADA3-4E01D5ABD69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Scaling changes units of comparison</a:t>
            </a:r>
          </a:p>
        </p:txBody>
      </p:sp>
      <p:sp>
        <p:nvSpPr>
          <p:cNvPr id="4" name="">
            <a:extLst xmlns:a="http://schemas.openxmlformats.org/drawingml/2006/main">
              <a:ext uri="{FF2B5EF4-FFF2-40B4-BE49-F238E27FC236}">
                <a16:creationId xmlns:a16="http://schemas.microsoft.com/office/drawing/2014/main" id="{5C75362E-482C-4804-B8BB-5048BB5457A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B493198-5CD3-40D2-8211-31F8682D6A51}"/>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distance calculation can be dominated by a feature with larger numerical values. Scaling puts feature values on a chosen numerical scale.</a:t>
            </a:r>
          </a:p>
        </p:txBody>
      </p:sp>
      <p:sp>
        <p:nvSpPr>
          <p:cNvPr id="6" name="">
            <a:extLst xmlns:a="http://schemas.openxmlformats.org/drawingml/2006/main">
              <a:ext uri="{FF2B5EF4-FFF2-40B4-BE49-F238E27FC236}">
                <a16:creationId xmlns:a16="http://schemas.microsoft.com/office/drawing/2014/main" id="{4DE8F0AB-797E-4D47-88E4-6BAE39AA3500}"/>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CDB7880-6C9B-4446-B549-08382AB748BE}"/>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One example is (value - training_min) / (training_max - training_min). With training limits 10 and 30, value 20 becomes 10 / 20 = 0.5.</a:t>
            </a:r>
          </a:p>
        </p:txBody>
      </p:sp>
      <p:sp>
        <p:nvSpPr>
          <p:cNvPr id="8" name="">
            <a:extLst xmlns:a="http://schemas.openxmlformats.org/drawingml/2006/main">
              <a:ext uri="{FF2B5EF4-FFF2-40B4-BE49-F238E27FC236}">
                <a16:creationId xmlns:a16="http://schemas.microsoft.com/office/drawing/2014/main" id="{797A0330-B8DF-4DFA-9BD9-FD6B8A9363D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FD7ACD9-E501-4C1B-B4C5-13CB861D70BB}"/>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learned limits for new observations. A zero training range needs a defined handling rule. New values outside the training range may scale outside 0 to 1.</a:t>
            </a:r>
          </a:p>
        </p:txBody>
      </p:sp>
      <p:sp>
        <p:nvSpPr>
          <p:cNvPr id="10" name="">
            <a:extLst xmlns:a="http://schemas.openxmlformats.org/drawingml/2006/main">
              <a:ext uri="{FF2B5EF4-FFF2-40B4-BE49-F238E27FC236}">
                <a16:creationId xmlns:a16="http://schemas.microsoft.com/office/drawing/2014/main" id="{BD27B656-D9CD-409B-B524-F5756BD073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22</a:t>
            </a:r>
          </a:p>
        </p:txBody>
      </p:sp>
    </p:spTree>
    <p:extLst>
      <p:ext uri="{BB962C8B-B14F-4D97-AF65-F5344CB8AC3E}">
        <p14:creationId xmlns:p14="http://schemas.microsoft.com/office/powerpoint/2010/main" val="157114895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B5A3CFD-6A4B-4E25-B2FA-F5CB8528276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1FC8E59-6355-4A91-8AD3-DA4E77C0F2F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PLAIN-LANGUAGE MEANINGS</a:t>
            </a:r>
          </a:p>
        </p:txBody>
      </p:sp>
      <p:sp>
        <p:nvSpPr>
          <p:cNvPr id="3" name="">
            <a:extLst xmlns:a="http://schemas.openxmlformats.org/drawingml/2006/main">
              <a:ext uri="{FF2B5EF4-FFF2-40B4-BE49-F238E27FC236}">
                <a16:creationId xmlns:a16="http://schemas.microsoft.com/office/drawing/2014/main" id="{652B758D-7569-4E4E-B14A-008436C0D10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Encoding and Scaling</a:t>
            </a:r>
          </a:p>
        </p:txBody>
      </p:sp>
      <p:sp>
        <p:nvSpPr>
          <p:cNvPr id="4" name="">
            <a:extLst xmlns:a="http://schemas.openxmlformats.org/drawingml/2006/main">
              <a:ext uri="{FF2B5EF4-FFF2-40B4-BE49-F238E27FC236}">
                <a16:creationId xmlns:a16="http://schemas.microsoft.com/office/drawing/2014/main" id="{B0D192C3-E274-4C2D-A5C8-3EFAB3CB32D6}"/>
              </a:ext>
            </a:extLst>
          </p:cNvPr>
          <p:cNvSpPr>
            <a:spLocks xmlns:a="http://schemas.openxmlformats.org/drawingml/2006/main" noGrp="1"/>
          </p:cNvSpPr>
          <p:nvPr/>
        </p:nvSpPr>
        <p:spPr>
          <a:xfrm xmlns:a="http://schemas.openxmlformats.org/drawingml/2006/main">
            <a:off x="590550" y="1714500"/>
            <a:ext cx="533400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901BE3-D1AD-4753-8641-0BBD122F0214}"/>
              </a:ext>
            </a:extLst>
          </p:cNvPr>
          <p:cNvSpPr>
            <a:spLocks xmlns:a="http://schemas.openxmlformats.org/drawingml/2006/main" noGrp="1"/>
          </p:cNvSpPr>
          <p:nvPr/>
        </p:nvSpPr>
        <p:spPr>
          <a:xfrm xmlns:a="http://schemas.openxmlformats.org/drawingml/2006/main">
            <a:off x="82867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E4572E"/>
                </a:solidFill>
                <a:latin typeface="Calibri"/>
                <a:ea typeface="Calibri"/>
                <a:cs typeface="Calibri"/>
              </a:defRPr>
            </a:pPr>
            <a:r>
              <a:rPr sz="2625" b="1">
                <a:solidFill>
                  <a:srgbClr val="E4572E"/>
                </a:solidFill>
                <a:latin typeface="Calibri"/>
                <a:ea typeface="Calibri"/>
                <a:cs typeface="Calibri"/>
              </a:rPr>
              <a:t>Encoding</a:t>
            </a:r>
          </a:p>
        </p:txBody>
      </p:sp>
      <p:sp>
        <p:nvSpPr>
          <p:cNvPr id="6" name="">
            <a:extLst xmlns:a="http://schemas.openxmlformats.org/drawingml/2006/main">
              <a:ext uri="{FF2B5EF4-FFF2-40B4-BE49-F238E27FC236}">
                <a16:creationId xmlns:a16="http://schemas.microsoft.com/office/drawing/2014/main" id="{A8E48C2E-0770-45F1-82C1-DA7233305321}"/>
              </a:ext>
            </a:extLst>
          </p:cNvPr>
          <p:cNvSpPr>
            <a:spLocks xmlns:a="http://schemas.openxmlformats.org/drawingml/2006/main" noGrp="1"/>
          </p:cNvSpPr>
          <p:nvPr/>
        </p:nvSpPr>
        <p:spPr>
          <a:xfrm xmlns:a="http://schemas.openxmlformats.org/drawingml/2006/main">
            <a:off x="82867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Representing a category numerically. One-hot uses separate indicator columns. Arbitrary integer labels can falsely suggest an order.</a:t>
            </a:r>
          </a:p>
        </p:txBody>
      </p:sp>
      <p:sp>
        <p:nvSpPr>
          <p:cNvPr id="7" name="">
            <a:extLst xmlns:a="http://schemas.openxmlformats.org/drawingml/2006/main">
              <a:ext uri="{FF2B5EF4-FFF2-40B4-BE49-F238E27FC236}">
                <a16:creationId xmlns:a16="http://schemas.microsoft.com/office/drawing/2014/main" id="{566656B0-20DB-4410-AFEA-10C305E4D4C9}"/>
              </a:ext>
            </a:extLst>
          </p:cNvPr>
          <p:cNvSpPr>
            <a:spLocks xmlns:a="http://schemas.openxmlformats.org/drawingml/2006/main" noGrp="1"/>
          </p:cNvSpPr>
          <p:nvPr/>
        </p:nvSpPr>
        <p:spPr>
          <a:xfrm xmlns:a="http://schemas.openxmlformats.org/drawingml/2006/main">
            <a:off x="6210300" y="1714500"/>
            <a:ext cx="5334000" cy="419100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2D0768E-AB51-4AB9-95B1-E5381762A11A}"/>
              </a:ext>
            </a:extLst>
          </p:cNvPr>
          <p:cNvSpPr>
            <a:spLocks xmlns:a="http://schemas.openxmlformats.org/drawingml/2006/main" noGrp="1"/>
          </p:cNvSpPr>
          <p:nvPr/>
        </p:nvSpPr>
        <p:spPr>
          <a:xfrm xmlns:a="http://schemas.openxmlformats.org/drawingml/2006/main">
            <a:off x="6448425" y="1952625"/>
            <a:ext cx="48291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E7D6F"/>
                </a:solidFill>
                <a:latin typeface="Calibri"/>
                <a:ea typeface="Calibri"/>
                <a:cs typeface="Calibri"/>
              </a:defRPr>
            </a:pPr>
            <a:r>
              <a:rPr sz="2625" b="1">
                <a:solidFill>
                  <a:srgbClr val="2E7D6F"/>
                </a:solidFill>
                <a:latin typeface="Calibri"/>
                <a:ea typeface="Calibri"/>
                <a:cs typeface="Calibri"/>
              </a:rPr>
              <a:t>Scaling</a:t>
            </a:r>
          </a:p>
        </p:txBody>
      </p:sp>
      <p:sp>
        <p:nvSpPr>
          <p:cNvPr id="9" name="">
            <a:extLst xmlns:a="http://schemas.openxmlformats.org/drawingml/2006/main">
              <a:ext uri="{FF2B5EF4-FFF2-40B4-BE49-F238E27FC236}">
                <a16:creationId xmlns:a16="http://schemas.microsoft.com/office/drawing/2014/main" id="{A17BDC60-FAFB-44E3-966A-5E003DBA9F82}"/>
              </a:ext>
            </a:extLst>
          </p:cNvPr>
          <p:cNvSpPr>
            <a:spLocks xmlns:a="http://schemas.openxmlformats.org/drawingml/2006/main" noGrp="1"/>
          </p:cNvSpPr>
          <p:nvPr/>
        </p:nvSpPr>
        <p:spPr>
          <a:xfrm xmlns:a="http://schemas.openxmlformats.org/drawingml/2006/main">
            <a:off x="6448425" y="3067050"/>
            <a:ext cx="48291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C3144"/>
                </a:solidFill>
                <a:latin typeface="Calibri"/>
                <a:ea typeface="Calibri"/>
                <a:cs typeface="Calibri"/>
              </a:defRPr>
            </a:pPr>
            <a:r>
              <a:rPr sz="2100" b="0">
                <a:solidFill>
                  <a:srgbClr val="1C3144"/>
                </a:solidFill>
                <a:latin typeface="Calibri"/>
                <a:ea typeface="Calibri"/>
                <a:cs typeface="Calibri"/>
              </a:rPr>
              <a:t>Changing the numerical scale of features. Fit learned scaling on training data only. It matters for distance-based models but is not required by ordinary decision trees.</a:t>
            </a:r>
          </a:p>
        </p:txBody>
      </p:sp>
      <p:sp>
        <p:nvSpPr>
          <p:cNvPr id="10" name="">
            <a:extLst xmlns:a="http://schemas.openxmlformats.org/drawingml/2006/main">
              <a:ext uri="{FF2B5EF4-FFF2-40B4-BE49-F238E27FC236}">
                <a16:creationId xmlns:a16="http://schemas.microsoft.com/office/drawing/2014/main" id="{F41958CF-8B60-495D-B17B-5F8C2316C5A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23</a:t>
            </a:r>
          </a:p>
        </p:txBody>
      </p:sp>
    </p:spTree>
    <p:extLst>
      <p:ext uri="{BB962C8B-B14F-4D97-AF65-F5344CB8AC3E}">
        <p14:creationId xmlns:p14="http://schemas.microsoft.com/office/powerpoint/2010/main" val="131191403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10F087-CE95-45D9-BADC-9BB04BDAEE3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0FE20A-7CF8-439E-A98D-E09B6E24ECC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D44A439-1A7D-426B-9EF8-451CB319C65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example and answer</a:t>
            </a:r>
          </a:p>
        </p:txBody>
      </p:sp>
      <p:sp>
        <p:nvSpPr>
          <p:cNvPr id="4" name="">
            <a:extLst xmlns:a="http://schemas.openxmlformats.org/drawingml/2006/main">
              <a:ext uri="{FF2B5EF4-FFF2-40B4-BE49-F238E27FC236}">
                <a16:creationId xmlns:a16="http://schemas.microsoft.com/office/drawing/2014/main" id="{7A8F86EF-B347-490E-A2AF-6928BCCA4B7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5434880-0503-4F22-A167-557EA6EED07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7144C1-899B-40F7-AE89-2930A177012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Example: If the extended error becomes 3.4, calculate improvement and decide whether this evidence supports retaining the feature.</a:t>
            </a:r>
          </a:p>
        </p:txBody>
      </p:sp>
      <p:sp>
        <p:nvSpPr>
          <p:cNvPr id="7" name="">
            <a:extLst xmlns:a="http://schemas.openxmlformats.org/drawingml/2006/main">
              <a:ext uri="{FF2B5EF4-FFF2-40B4-BE49-F238E27FC236}">
                <a16:creationId xmlns:a16="http://schemas.microsoft.com/office/drawing/2014/main" id="{732CD18B-8DB5-47E0-BA4F-4FF23BA136D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Answer: Improvement is -0.4. This validation comparison does not support retaining it. One split is limited evidence; the final test remains untouched.</a:t>
            </a:r>
          </a:p>
        </p:txBody>
      </p:sp>
      <p:sp>
        <p:nvSpPr>
          <p:cNvPr id="8" name="">
            <a:extLst xmlns:a="http://schemas.openxmlformats.org/drawingml/2006/main">
              <a:ext uri="{FF2B5EF4-FFF2-40B4-BE49-F238E27FC236}">
                <a16:creationId xmlns:a16="http://schemas.microsoft.com/office/drawing/2014/main" id="{EE4ED960-6FFA-4B1E-AA0F-EDDE9B7E033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24</a:t>
            </a:r>
          </a:p>
        </p:txBody>
      </p:sp>
    </p:spTree>
    <p:extLst>
      <p:ext uri="{BB962C8B-B14F-4D97-AF65-F5344CB8AC3E}">
        <p14:creationId xmlns:p14="http://schemas.microsoft.com/office/powerpoint/2010/main" val="1827055870"/>
      </p:ext>
    </p:extLst>
  </p:cSld>
</p:sld>
</file>

<file path=ppt/slides/slide2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p:bgPr>
    </p:bg>
    <p:spTree>
      <p:nvGrpSpPr>
        <p:cNvPr id="1" name=""/>
        <p:cNvGrpSpPr/>
        <p:nvPr/>
      </p:nvGrpSpPr>
      <p:grpSpPr>
        <a:xfrm/>
      </p:grpSpPr>
      <p:sp>
        <p:nvSpPr>
          <p:cNvPr id="13" name="">
            <a:extLst>
              <a:ext uri="{FF2B5EF4-FFF2-40B4-BE49-F238E27FC236}">
                <ns2:creationId id="{E5F42E6E-911B-413D-9B38-C82571608618}"/>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3C321B8F-0E15-4D85-9803-CC56D60C9D64}"/>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a:ext uri="{FF2B5EF4-FFF2-40B4-BE49-F238E27FC236}">
                <ns2:creationId id="{7D7C5A0B-7E0D-4F92-A0AF-C011B1962D88}"/>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for the assignment</a:t>
            </a:r>
          </a:p>
        </p:txBody>
      </p:sp>
      <p:sp>
        <p:nvSpPr>
          <p:cNvPr id="4" name="">
            <a:extLst>
              <a:ext uri="{FF2B5EF4-FFF2-40B4-BE49-F238E27FC236}">
                <ns2:creationId id="{2BA27453-7491-4A0B-AEEE-734B6AF19015}"/>
              </a:ext>
            </a:extLst>
          </p:cNvPr>
          <p:cNvSpPr>
            <a:spLocks noGrp="1"/>
          </p:cNvSpPr>
          <p:nvPr/>
        </p:nvSpPr>
        <p:spPr>
          <a:xfrm>
            <a:off x="590550" y="178117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FE6BAE01-F3F0-4647-9E2E-94591966C6A7}"/>
              </a:ext>
            </a:extLst>
          </p:cNvPr>
          <p:cNvSpPr>
            <a:spLocks noGrp="1"/>
          </p:cNvSpPr>
          <p:nvPr/>
        </p:nvSpPr>
        <p:spPr>
          <a:xfrm>
            <a:off x="1381125" y="1781175"/>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W11 names four output features and a two-model ablation.</a:t>
            </a:r>
          </a:p>
        </p:txBody>
      </p:sp>
      <p:sp>
        <p:nvSpPr>
          <p:cNvPr id="6" name="">
            <a:extLst>
              <a:ext uri="{FF2B5EF4-FFF2-40B4-BE49-F238E27FC236}">
                <ns2:creationId id="{8603664F-885C-4DAB-8D5A-E938EA372F71}"/>
              </a:ext>
            </a:extLst>
          </p:cNvPr>
          <p:cNvSpPr>
            <a:spLocks noGrp="1"/>
          </p:cNvSpPr>
          <p:nvPr/>
        </p:nvSpPr>
        <p:spPr>
          <a:xfrm>
            <a:off x="590550" y="2850356"/>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97ECE53A-8B22-4C54-B59E-1AAE7FC04934}"/>
              </a:ext>
            </a:extLst>
          </p:cNvPr>
          <p:cNvSpPr>
            <a:spLocks noGrp="1"/>
          </p:cNvSpPr>
          <p:nvPr/>
        </p:nvSpPr>
        <p:spPr>
          <a:xfrm>
            <a:off x="1381125" y="2850356"/>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Keep the original row order and full precision. Fit preprocessing on the training rows only.</a:t>
            </a:r>
          </a:p>
        </p:txBody>
      </p:sp>
      <p:sp>
        <p:nvSpPr>
          <p:cNvPr id="8" name="">
            <a:extLst>
              <a:ext uri="{FF2B5EF4-FFF2-40B4-BE49-F238E27FC236}">
                <ns2:creationId id="{F96B97AB-CA77-429E-8635-309A17E1E3B3}"/>
              </a:ext>
            </a:extLst>
          </p:cNvPr>
          <p:cNvSpPr>
            <a:spLocks noGrp="1"/>
          </p:cNvSpPr>
          <p:nvPr/>
        </p:nvSpPr>
        <p:spPr>
          <a:xfrm>
            <a:off x="590550" y="3919538"/>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A2CC298F-7DEE-41DA-BD94-FE3EC14DBA62}"/>
              </a:ext>
            </a:extLst>
          </p:cNvPr>
          <p:cNvSpPr>
            <a:spLocks noGrp="1"/>
          </p:cNvSpPr>
          <p:nvPr/>
        </p:nvSpPr>
        <p:spPr>
          <a:xfrm>
            <a:off x="1381125" y="3919538"/>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Use the supplied written scenario for the interpretation requested there.</a:t>
            </a:r>
          </a:p>
        </p:txBody>
      </p:sp>
      <p:sp>
        <p:nvSpPr>
          <p:cNvPr id="10" name="">
            <a:extLst>
              <a:ext uri="{FF2B5EF4-FFF2-40B4-BE49-F238E27FC236}">
                <ns2:creationId id="{A52953B1-C578-4B13-A5D8-4DCF9F2B2F03}"/>
              </a:ext>
            </a:extLst>
          </p:cNvPr>
          <p:cNvSpPr>
            <a:spLocks noGrp="1"/>
          </p:cNvSpPr>
          <p:nvPr/>
        </p:nvSpPr>
        <p:spPr>
          <a:xfrm>
            <a:off x="590550" y="4988719"/>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41A32937-1469-4197-B9F0-812CBC3B2CF6}"/>
              </a:ext>
            </a:extLst>
          </p:cNvPr>
          <p:cNvSpPr>
            <a:spLocks noGrp="1"/>
          </p:cNvSpPr>
          <p:nvPr/>
        </p:nvSpPr>
        <p:spPr>
          <a:xfrm>
            <a:off x="1381125" y="4988719"/>
            <a:ext cx="10096500" cy="992981"/>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Do not substitute this practice example’s result.</a:t>
            </a:r>
          </a:p>
        </p:txBody>
      </p:sp>
      <p:sp>
        <p:nvSpPr>
          <p:cNvPr id="12" name="">
            <a:extLst>
              <a:ext uri="{FF2B5EF4-FFF2-40B4-BE49-F238E27FC236}">
                <ns2:creationId id="{EFFD9CEE-30FD-48FB-8413-C03075B4EFD5}"/>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25</a:t>
            </a:r>
          </a:p>
        </p:txBody>
      </p:sp>
    </p:spTree>
    <p:extLst>
      <p:ext uri="{BB962C8B-B14F-4D97-AF65-F5344CB8AC3E}">
        <ns3:creationId val="202837419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1E3F4F-A49F-4D23-AAED-01C687C341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80333E6-F498-4C95-A8A5-470F17C735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C211EFD-1CAC-4745-AA0D-0ACAB2E0D5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Features without misleading evaluation</a:t>
            </a:r>
          </a:p>
        </p:txBody>
      </p:sp>
      <p:sp>
        <p:nvSpPr>
          <p:cNvPr id="4" name="">
            <a:extLst xmlns:a="http://schemas.openxmlformats.org/drawingml/2006/main">
              <a:ext uri="{FF2B5EF4-FFF2-40B4-BE49-F238E27FC236}">
                <a16:creationId xmlns:a16="http://schemas.microsoft.com/office/drawing/2014/main" id="{8509C22A-A076-48B1-BDE1-9E1DBE6D269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D1A2681-4F40-457A-A1DD-DE3B3F803536}"/>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Rescaling an input usually does not change the partitions available to an ordinary decision tree.</a:t>
            </a:r>
          </a:p>
        </p:txBody>
      </p:sp>
      <p:sp>
        <p:nvSpPr>
          <p:cNvPr id="6" name="">
            <a:extLst xmlns:a="http://schemas.openxmlformats.org/drawingml/2006/main">
              <a:ext uri="{FF2B5EF4-FFF2-40B4-BE49-F238E27FC236}">
                <a16:creationId xmlns:a16="http://schemas.microsoft.com/office/drawing/2014/main" id="{2113104F-8FE6-4EA8-984B-DE40D80F9A35}"/>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F861514-0731-489F-ADD8-96712F06DE37}"/>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identifier or a future-known field can create an apparent improvement without useful predictive information.</a:t>
            </a:r>
          </a:p>
        </p:txBody>
      </p:sp>
      <p:sp>
        <p:nvSpPr>
          <p:cNvPr id="8" name="">
            <a:extLst xmlns:a="http://schemas.openxmlformats.org/drawingml/2006/main">
              <a:ext uri="{FF2B5EF4-FFF2-40B4-BE49-F238E27FC236}">
                <a16:creationId xmlns:a16="http://schemas.microsoft.com/office/drawing/2014/main" id="{15D9A7BC-7D7E-4287-9923-6087303DC6A6}"/>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43FCDC0-FA1C-4039-86BD-D7888EBC18E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Dividing by zero can produce infinity or an error; decide what the denominator means before replacing it.</a:t>
            </a:r>
          </a:p>
        </p:txBody>
      </p:sp>
      <p:sp>
        <p:nvSpPr>
          <p:cNvPr id="10" name="">
            <a:extLst xmlns:a="http://schemas.openxmlformats.org/drawingml/2006/main">
              <a:ext uri="{FF2B5EF4-FFF2-40B4-BE49-F238E27FC236}">
                <a16:creationId xmlns:a16="http://schemas.microsoft.com/office/drawing/2014/main" id="{ED8CF23F-3609-4E28-A8AB-952A53E66FC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26</a:t>
            </a:r>
          </a:p>
        </p:txBody>
      </p:sp>
    </p:spTree>
    <p:extLst>
      <p:ext uri="{BB962C8B-B14F-4D97-AF65-F5344CB8AC3E}">
        <p14:creationId xmlns:p14="http://schemas.microsoft.com/office/powerpoint/2010/main" val="212490107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F01B07-CC59-4302-889D-A7975E47830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A85AF0-E6FE-4EC6-873E-19085D177B7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0351BB8-094C-438D-9908-B67C61374E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Features without misleading evaluation continued</a:t>
            </a:r>
          </a:p>
        </p:txBody>
      </p:sp>
      <p:sp>
        <p:nvSpPr>
          <p:cNvPr id="4" name="">
            <a:extLst xmlns:a="http://schemas.openxmlformats.org/drawingml/2006/main">
              <a:ext uri="{FF2B5EF4-FFF2-40B4-BE49-F238E27FC236}">
                <a16:creationId xmlns:a16="http://schemas.microsoft.com/office/drawing/2014/main" id="{FDEC09BC-4D04-4653-B2AB-61F5C40B328D}"/>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5AF1DD-4BDE-4C97-91B3-3BE5E4ABE307}"/>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Read ablation differences using the same error definition, and explain features using domain knowledge.</a:t>
            </a:r>
          </a:p>
        </p:txBody>
      </p:sp>
      <p:sp>
        <p:nvSpPr>
          <p:cNvPr id="6" name="">
            <a:extLst xmlns:a="http://schemas.openxmlformats.org/drawingml/2006/main">
              <a:ext uri="{FF2B5EF4-FFF2-40B4-BE49-F238E27FC236}">
                <a16:creationId xmlns:a16="http://schemas.microsoft.com/office/drawing/2014/main" id="{D679EABD-3E55-469B-9EF9-DD7FA604A4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27</a:t>
            </a:r>
          </a:p>
        </p:txBody>
      </p:sp>
    </p:spTree>
    <p:extLst>
      <p:ext uri="{BB962C8B-B14F-4D97-AF65-F5344CB8AC3E}">
        <p14:creationId xmlns:p14="http://schemas.microsoft.com/office/powerpoint/2010/main" val="18632348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FD63CD7-9C02-4A76-853F-DEB50167D6D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8D9D47C-5F4B-4B8A-BD8C-A73A6D1C67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FC2F671-EBB0-45F6-A420-961BF1FF73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532C90E1-066E-45B0-9E01-32B4AA0B7EE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A077B8B-5F21-4687-A632-623B4E815C18}"/>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crusher energy demand.</a:t>
            </a:r>
          </a:p>
        </p:txBody>
      </p:sp>
      <p:sp>
        <p:nvSpPr>
          <p:cNvPr id="6" name="">
            <a:extLst xmlns:a="http://schemas.openxmlformats.org/drawingml/2006/main">
              <a:ext uri="{FF2B5EF4-FFF2-40B4-BE49-F238E27FC236}">
                <a16:creationId xmlns:a16="http://schemas.microsoft.com/office/drawing/2014/main" id="{3901ECAC-42E9-4B3A-9712-87DBA745BF98}"/>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8ADD3BC-C330-49B4-B8BF-450AF4F8B5BF}"/>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kWh/t.</a:t>
            </a:r>
          </a:p>
        </p:txBody>
      </p:sp>
      <p:sp>
        <p:nvSpPr>
          <p:cNvPr id="8" name="">
            <a:extLst xmlns:a="http://schemas.openxmlformats.org/drawingml/2006/main">
              <a:ext uri="{FF2B5EF4-FFF2-40B4-BE49-F238E27FC236}">
                <a16:creationId xmlns:a16="http://schemas.microsoft.com/office/drawing/2014/main" id="{563223F4-A3C6-4661-A7F3-5CFBC613E49A}"/>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1745B49-C4B8-4066-A7C1-87A6863AB9AA}"/>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not measurements suitable for deployment.</a:t>
            </a:r>
          </a:p>
        </p:txBody>
      </p:sp>
      <p:sp>
        <p:nvSpPr>
          <p:cNvPr id="10" name="">
            <a:extLst xmlns:a="http://schemas.openxmlformats.org/drawingml/2006/main">
              <a:ext uri="{FF2B5EF4-FFF2-40B4-BE49-F238E27FC236}">
                <a16:creationId xmlns:a16="http://schemas.microsoft.com/office/drawing/2014/main" id="{2C36B3E6-D74F-4DBD-BFA3-4CF24637A92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DEB7892-2D66-41FF-A090-A44A0A2A0B1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2D005C19-FEFF-4B46-9F99-4C95624E680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28</a:t>
            </a:r>
          </a:p>
        </p:txBody>
      </p:sp>
    </p:spTree>
    <p:extLst>
      <p:ext uri="{BB962C8B-B14F-4D97-AF65-F5344CB8AC3E}">
        <p14:creationId xmlns:p14="http://schemas.microsoft.com/office/powerpoint/2010/main" val="155381537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382DE3-718E-4E23-BB47-E05EB02C880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CA341A-417B-430A-A4CA-7912B4095D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AE07CBCF-5600-4D68-BCC9-BC95E4D37C2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make_features(feature_records)</a:t>
            </a:r>
          </a:p>
        </p:txBody>
      </p:sp>
      <p:sp>
        <p:nvSpPr>
          <p:cNvPr id="4" name="">
            <a:extLst xmlns:a="http://schemas.openxmlformats.org/drawingml/2006/main">
              <a:ext uri="{FF2B5EF4-FFF2-40B4-BE49-F238E27FC236}">
                <a16:creationId xmlns:a16="http://schemas.microsoft.com/office/drawing/2014/main" id="{D9C25D1D-A156-466D-AFF0-3BDCC4B4AA6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3851613-8DA2-4838-B2A0-4A7AD26DC589}"/>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one feature row per input, in order: [load_pct, ambient_c, load_pct/100, load_pct*ambient_c].</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Use inputs available at prediction time only.</a:t>
            </a:r>
          </a:p>
        </p:txBody>
      </p:sp>
      <p:sp>
        <p:nvSpPr>
          <p:cNvPr id="6" name="">
            <a:extLst xmlns:a="http://schemas.openxmlformats.org/drawingml/2006/main">
              <a:ext uri="{FF2B5EF4-FFF2-40B4-BE49-F238E27FC236}">
                <a16:creationId xmlns:a16="http://schemas.microsoft.com/office/drawing/2014/main" id="{3D247241-F2B9-4D3A-A2BF-53AC2D4F5CFE}"/>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17DFBC4-C439-4AA8-B962-0A17D027C73C}"/>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05B7A1FB-B233-4FCB-AA9B-17D5AD9AB1E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29</a:t>
            </a:r>
          </a:p>
        </p:txBody>
      </p:sp>
    </p:spTree>
    <p:extLst>
      <p:ext uri="{BB962C8B-B14F-4D97-AF65-F5344CB8AC3E}">
        <p14:creationId xmlns:p14="http://schemas.microsoft.com/office/powerpoint/2010/main" val="192774279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9B0220-DDA0-4A57-A508-206B0242AC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EE727E-4785-4A45-BA2A-8BB0A291551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115924EC-3690-484A-9131-F8E835C68B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ablation_metrics(training_records, validation_records)</a:t>
            </a:r>
          </a:p>
        </p:txBody>
      </p:sp>
      <p:sp>
        <p:nvSpPr>
          <p:cNvPr id="4" name="">
            <a:extLst xmlns:a="http://schemas.openxmlformats.org/drawingml/2006/main">
              <a:ext uri="{FF2B5EF4-FFF2-40B4-BE49-F238E27FC236}">
                <a16:creationId xmlns:a16="http://schemas.microsoft.com/office/drawing/2014/main" id="{6503BB4A-B887-421C-8800-37C8DA8E3311}"/>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3BB399-CC74-4CA9-84AC-DDFE6816E4A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Fit two sklearn LinearRegression models on the same training records: base features [load_pct, ambient_c] and extended features adding load_pct*ambient_c.</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Evaluate both on the same validation records.</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Return base_mae, extended_mae and improvement=base_mae-extended_mae, without rounding.</a:t>
            </a:r>
          </a:p>
          <a:p xmlns:a="http://schemas.openxmlformats.org/drawingml/2006/main">
            <a:r>
              <a:t/>
            </a:r>
          </a:p>
          <a:p xmlns:a="http://schemas.openxmlformats.org/drawingml/2006/main">
            <a:pPr>
              <a:defRPr sz="2175" b="0">
                <a:solidFill>
                  <a:srgbClr val="1C3144"/>
                </a:solidFill>
                <a:latin typeface="Calibri"/>
                <a:ea typeface="Calibri"/>
                <a:cs typeface="Calibri"/>
              </a:defRPr>
            </a:pPr>
            <a:r>
              <a:rPr sz="2175" b="0">
                <a:solidFill>
                  <a:srgbClr val="1C3144"/>
                </a:solidFill>
                <a:latin typeface="Calibri"/>
                <a:ea typeface="Calibri"/>
                <a:cs typeface="Calibri"/>
              </a:rPr>
              <a:t>Inputs are complete; never fit on validation targets.</a:t>
            </a:r>
          </a:p>
        </p:txBody>
      </p:sp>
      <p:sp>
        <p:nvSpPr>
          <p:cNvPr id="6" name="">
            <a:extLst xmlns:a="http://schemas.openxmlformats.org/drawingml/2006/main">
              <a:ext uri="{FF2B5EF4-FFF2-40B4-BE49-F238E27FC236}">
                <a16:creationId xmlns:a16="http://schemas.microsoft.com/office/drawing/2014/main" id="{2C546289-25F1-48AC-B8E9-B8FE88A9AE89}"/>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EBEB42F-D3AE-48C2-9A9D-B617926CB844}"/>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F17CB45E-2D41-4855-B476-A69CDEA0802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30</a:t>
            </a:r>
          </a:p>
        </p:txBody>
      </p:sp>
    </p:spTree>
    <p:extLst>
      <p:ext uri="{BB962C8B-B14F-4D97-AF65-F5344CB8AC3E}">
        <p14:creationId xmlns:p14="http://schemas.microsoft.com/office/powerpoint/2010/main" val="24447929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6A6567-3616-4C3F-B05D-752B15D82D6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4F434E-A72B-4B3D-BA79-6B48423D18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44E26A9-DB6A-4EE1-BEEA-E95824042E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E8E273F0-6C66-4615-867C-5DC85A2FFF0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62FB5B1-1189-4180-AAE2-8B40C7921D5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344894A8-896E-4C91-9B41-E125010B3B52}"/>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CD7776-E461-46A4-8068-34F9384C64D3}"/>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1A3A871F-5FAD-4535-832D-1089F9E71A93}"/>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5ABB685-5751-4053-BBE5-E0BF8D30719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0068DE80-8142-4824-AE41-BEAB91200FB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7EE6CAC5-C966-4818-AC54-A6B9A450347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61C48838-B68D-4804-8AD6-77D012369D3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31</a:t>
            </a:r>
          </a:p>
        </p:txBody>
      </p:sp>
    </p:spTree>
    <p:extLst>
      <p:ext uri="{BB962C8B-B14F-4D97-AF65-F5344CB8AC3E}">
        <p14:creationId xmlns:p14="http://schemas.microsoft.com/office/powerpoint/2010/main" val="60724625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36D0AB7-A02E-489E-ABA5-7A2CCD6EF1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1DCD6D-B934-4976-BCC4-8C5F8F8720C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2FC7F869-3423-4E76-88AB-F8F8D567529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Features and ablation submission</a:t>
            </a:r>
          </a:p>
        </p:txBody>
      </p:sp>
      <p:sp>
        <p:nvSpPr>
          <p:cNvPr id="4" name="">
            <a:extLst xmlns:a="http://schemas.openxmlformats.org/drawingml/2006/main">
              <a:ext uri="{FF2B5EF4-FFF2-40B4-BE49-F238E27FC236}">
                <a16:creationId xmlns:a16="http://schemas.microsoft.com/office/drawing/2014/main" id="{87DF8E9C-16C8-4354-96C0-84D4D0CA1EB8}"/>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6C44739-6EF2-4940-9E22-7037D083A2D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20 Nov 2026, 08:00 Kampala</a:t>
            </a:r>
          </a:p>
        </p:txBody>
      </p:sp>
      <p:sp>
        <p:nvSpPr>
          <p:cNvPr id="6" name="">
            <a:extLst xmlns:a="http://schemas.openxmlformats.org/drawingml/2006/main">
              <a:ext uri="{FF2B5EF4-FFF2-40B4-BE49-F238E27FC236}">
                <a16:creationId xmlns:a16="http://schemas.microsoft.com/office/drawing/2014/main" id="{D6241277-27EC-4DAE-922D-36A3A7D7C11A}"/>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C9B2505-E3EA-4996-A272-026EAB928D8B}"/>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27 Nov 2026, 08:00 Kampala</a:t>
            </a:r>
          </a:p>
        </p:txBody>
      </p:sp>
      <p:sp>
        <p:nvSpPr>
          <p:cNvPr id="8" name="">
            <a:extLst xmlns:a="http://schemas.openxmlformats.org/drawingml/2006/main">
              <a:ext uri="{FF2B5EF4-FFF2-40B4-BE49-F238E27FC236}">
                <a16:creationId xmlns:a16="http://schemas.microsoft.com/office/drawing/2014/main" id="{4C09C4E3-FEFE-4A7B-AAEB-155C1EC05971}"/>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15E747C-7B09-42E8-BD41-F141CA8BD6FF}"/>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EB673118-17B0-425F-99CA-E0D79E96F5F4}"/>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957CD96-FCED-4E62-8FBE-F1B70B91643D}"/>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1AF942D0-1051-4D82-876F-3CA86364E87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8C7CA19-DD1B-4FC8-AB7E-1BFE57C86070}"/>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e42b630724e4468"/>
              </a:rPr>
              <a:t>Open W11 assignment form</a:t>
            </a:r>
          </a:p>
        </p:txBody>
      </p:sp>
      <p:sp>
        <p:nvSpPr>
          <p:cNvPr id="14" name="">
            <a:extLst xmlns:a="http://schemas.openxmlformats.org/drawingml/2006/main">
              <a:ext uri="{FF2B5EF4-FFF2-40B4-BE49-F238E27FC236}">
                <a16:creationId xmlns:a16="http://schemas.microsoft.com/office/drawing/2014/main" id="{E9322E1E-0B0A-4775-BD60-9E9A95D928EA}"/>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https://docs.google.com/forms/d/e/1FAIpQLSdxAosnTnoXrNZ7QCm8pPQuoa2KxsqFvu_PPsZIQGrJnHMw1g/viewform</a:t>
            </a:r>
          </a:p>
        </p:txBody>
      </p:sp>
      <p:sp>
        <p:nvSpPr>
          <p:cNvPr id="15" name="">
            <a:extLst xmlns:a="http://schemas.openxmlformats.org/drawingml/2006/main">
              <a:ext uri="{FF2B5EF4-FFF2-40B4-BE49-F238E27FC236}">
                <a16:creationId xmlns:a16="http://schemas.microsoft.com/office/drawing/2014/main" id="{ABA9E02E-9216-42A9-8AD4-ADD18A8EE37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32</a:t>
            </a:r>
          </a:p>
        </p:txBody>
      </p:sp>
    </p:spTree>
    <p:extLst>
      <p:ext uri="{BB962C8B-B14F-4D97-AF65-F5344CB8AC3E}">
        <p14:creationId xmlns:p14="http://schemas.microsoft.com/office/powerpoint/2010/main" val="123495597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8C61C47-EA82-43DA-A74C-B341B4D534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3BAF83-0D9A-41B3-A3CD-4EC2EA89F68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8A79E01-F5E0-41E7-B17D-296141F7E9C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F6A771FF-35D5-4FC6-9D79-1D6D1726BC3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76981EA-3FD5-4DB3-8B73-F3ABC2047D8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D63E14E7-CADE-48C4-8E8F-76167851E59E}"/>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C0C464D-C2F5-4546-821B-357820368FD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14CC7BBE-AFBF-4285-98C0-7BC0C39259CC}"/>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344457F-F2D2-48BB-907E-58879F0F77A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D5058FB3-C1E8-4DFA-9545-FED60057E53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1AF7A41A-FB6E-40F4-B7E7-B1A94DC6F5BD}"/>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18 Dec 2026, 08:00 Kampala</a:t>
            </a:r>
          </a:p>
        </p:txBody>
      </p:sp>
      <p:sp>
        <p:nvSpPr>
          <p:cNvPr id="12" name="">
            <a:extLst xmlns:a="http://schemas.openxmlformats.org/drawingml/2006/main">
              <a:ext uri="{FF2B5EF4-FFF2-40B4-BE49-F238E27FC236}">
                <a16:creationId xmlns:a16="http://schemas.microsoft.com/office/drawing/2014/main" id="{E546A5B5-EE08-4DAD-A34B-13B3F084965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33</a:t>
            </a:r>
          </a:p>
        </p:txBody>
      </p:sp>
    </p:spTree>
    <p:extLst>
      <p:ext uri="{BB962C8B-B14F-4D97-AF65-F5344CB8AC3E}">
        <p14:creationId xmlns:p14="http://schemas.microsoft.com/office/powerpoint/2010/main" val="480657121"/>
      </p:ext>
    </p:extLst>
  </p:cSld>
</p:sld>
</file>

<file path=ppt/slides/slide34.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FFFFF"/>
        </a:solidFill>
      </p:bgPr>
    </p:bg>
    <p:spTree>
      <p:nvGrpSpPr>
        <p:cNvPr id="1" name=""/>
        <p:cNvGrpSpPr/>
        <p:nvPr/>
      </p:nvGrpSpPr>
      <p:grpSpPr>
        <a:xfrm/>
      </p:grpSpPr>
      <p:sp>
        <p:nvSpPr>
          <p:cNvPr id="18" name="">
            <a:extLst>
              <a:ext uri="{FF2B5EF4-FFF2-40B4-BE49-F238E27FC236}">
                <ns2:creationId id="{388894FD-8B8C-4F07-A12A-61251CA522E2}"/>
              </a:ext>
            </a:extLst>
          </p:cNvPr>
          <p:cNvSpPr>
            <a:spLocks noGrp="1"/>
          </p:cNvSpPr>
          <p:nvPr/>
        </p:nvSpPr>
        <p:spPr>
          <a:xfrm>
            <a:off x="0" y="0"/>
            <a:ext cx="12191695" cy="1390650"/>
          </a:xfrm>
          <a:prstGeom prst="rect">
            <a:avLst/>
          </a:prstGeom>
          <a:solidFill>
            <a:srgbClr val="1C3144"/>
          </a:solidFill>
          <a:ln w="0">
            <a:noFill/>
          </a:ln>
        </p:spPr>
      </p:sp>
      <p:sp>
        <p:nvSpPr>
          <p:cNvPr id="2" name="">
            <a:extLst>
              <a:ext uri="{FF2B5EF4-FFF2-40B4-BE49-F238E27FC236}">
                <ns2:creationId id="{5FC8EAFB-4306-4AC5-AB80-AA1F862D76DF}"/>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a:ext uri="{FF2B5EF4-FFF2-40B4-BE49-F238E27FC236}">
                <ns2:creationId id="{6C003FDD-AEBD-4722-946A-B947D4171FF7}"/>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Week 11 quiz</a:t>
            </a:r>
          </a:p>
        </p:txBody>
      </p:sp>
      <p:sp>
        <p:nvSpPr>
          <p:cNvPr id="4" name="">
            <a:extLst>
              <a:ext uri="{FF2B5EF4-FFF2-40B4-BE49-F238E27FC236}">
                <ns2:creationId id="{B6C42704-B888-47BB-BD2D-0D3442B96990}"/>
              </a:ext>
            </a:extLst>
          </p:cNvPr>
          <p:cNvSpPr>
            <a:spLocks noGrp="1"/>
          </p:cNvSpPr>
          <p:nvPr/>
        </p:nvSpPr>
        <p:spPr>
          <a:xfrm>
            <a:off x="590550" y="1724025"/>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a:ext uri="{FF2B5EF4-FFF2-40B4-BE49-F238E27FC236}">
                <ns2:creationId id="{ACF5161F-8F92-47D4-BFC1-3730369C76EB}"/>
              </a:ext>
            </a:extLst>
          </p:cNvPr>
          <p:cNvSpPr>
            <a:spLocks noGrp="1"/>
          </p:cNvSpPr>
          <p:nvPr/>
        </p:nvSpPr>
        <p:spPr>
          <a:xfrm>
            <a:off x="1381125" y="1724025"/>
            <a:ext cx="714375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a:ext uri="{FF2B5EF4-FFF2-40B4-BE49-F238E27FC236}">
                <ns2:creationId id="{93CE1090-DAC9-4449-AD05-0697F60CFD3D}"/>
              </a:ext>
            </a:extLst>
          </p:cNvPr>
          <p:cNvSpPr>
            <a:spLocks noGrp="1"/>
          </p:cNvSpPr>
          <p:nvPr/>
        </p:nvSpPr>
        <p:spPr>
          <a:xfrm>
            <a:off x="590550" y="2521744"/>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a:ext uri="{FF2B5EF4-FFF2-40B4-BE49-F238E27FC236}">
                <ns2:creationId id="{0558B43F-2C4F-40BA-9316-9694E25E3F90}"/>
              </a:ext>
            </a:extLst>
          </p:cNvPr>
          <p:cNvSpPr>
            <a:spLocks noGrp="1"/>
          </p:cNvSpPr>
          <p:nvPr/>
        </p:nvSpPr>
        <p:spPr>
          <a:xfrm>
            <a:off x="1381125" y="2521744"/>
            <a:ext cx="714375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a:ext uri="{FF2B5EF4-FFF2-40B4-BE49-F238E27FC236}">
                <ns2:creationId id="{E7D57B8F-2F6E-46F2-82EF-8BF8E586CA8A}"/>
              </a:ext>
            </a:extLst>
          </p:cNvPr>
          <p:cNvSpPr>
            <a:spLocks noGrp="1"/>
          </p:cNvSpPr>
          <p:nvPr/>
        </p:nvSpPr>
        <p:spPr>
          <a:xfrm>
            <a:off x="590550" y="3319463"/>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a:ext uri="{FF2B5EF4-FFF2-40B4-BE49-F238E27FC236}">
                <ns2:creationId id="{BCA6B1DB-F94B-4908-AF7C-0C4A533E38DE}"/>
              </a:ext>
            </a:extLst>
          </p:cNvPr>
          <p:cNvSpPr>
            <a:spLocks noGrp="1"/>
          </p:cNvSpPr>
          <p:nvPr/>
        </p:nvSpPr>
        <p:spPr>
          <a:xfrm>
            <a:off x="1381125" y="3319463"/>
            <a:ext cx="714375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a:ext uri="{FF2B5EF4-FFF2-40B4-BE49-F238E27FC236}">
                <ns2:creationId id="{6119317C-EC6C-41CB-9032-3A75DE8C357D}"/>
              </a:ext>
            </a:extLst>
          </p:cNvPr>
          <p:cNvSpPr>
            <a:spLocks noGrp="1"/>
          </p:cNvSpPr>
          <p:nvPr/>
        </p:nvSpPr>
        <p:spPr>
          <a:xfrm>
            <a:off x="590550" y="4117181"/>
            <a:ext cx="619125" cy="571500"/>
          </a:xfrm>
          <a:prstGeom prst="rect">
            <a:avLst/>
          </a:prstGeom>
          <a:noFill/>
          <a:ln w="0">
            <a:noFill/>
          </a:ln>
        </p:spPr>
        <p:txBody>
          <a:bodyPr>
            <a:noAutofit/>
          </a:bodyPr>
          <a:lstStyle/>
          <a:p>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a:ext uri="{FF2B5EF4-FFF2-40B4-BE49-F238E27FC236}">
                <ns2:creationId id="{DC66AC4C-A383-43D0-914F-6763148E058B}"/>
              </a:ext>
            </a:extLst>
          </p:cNvPr>
          <p:cNvSpPr>
            <a:spLocks noGrp="1"/>
          </p:cNvSpPr>
          <p:nvPr/>
        </p:nvSpPr>
        <p:spPr>
          <a:xfrm>
            <a:off x="1381125" y="4117181"/>
            <a:ext cx="7143750" cy="721519"/>
          </a:xfrm>
          <a:prstGeom prst="rect">
            <a:avLst/>
          </a:prstGeom>
          <a:noFill/>
          <a:ln w="0">
            <a:noFill/>
          </a:ln>
        </p:spPr>
        <p:txBody>
          <a:bodyPr>
            <a:noAutofit/>
          </a:body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29" name=""/>
          <p:cNvPicPr>
            <a:picLocks noChangeAspect="1"/>
          </p:cNvPicPr>
          <p:nvPr/>
        </p:nvPicPr>
        <p:blipFill>
          <a:blip r:embed="R09bf26be19314ec0"/>
          <a:stretch/>
        </p:blipFill>
        <p:spPr>
          <a:xfrm>
            <a:off x="9134475" y="2095500"/>
            <a:ext cx="2190750" cy="2190750"/>
          </a:xfrm>
          <a:prstGeom prst="rect">
            <a:avLst/>
          </a:prstGeom>
        </p:spPr>
      </p:pic>
      <p:sp>
        <p:nvSpPr>
          <p:cNvPr id="13" name="">
            <a:extLst>
              <a:ext uri="{FF2B5EF4-FFF2-40B4-BE49-F238E27FC236}">
                <ns2:creationId id="{30A9013F-5DEC-4231-9C99-A58B187AF728}"/>
              </a:ext>
            </a:extLst>
          </p:cNvPr>
          <p:cNvSpPr>
            <a:spLocks noGrp="1"/>
          </p:cNvSpPr>
          <p:nvPr/>
        </p:nvSpPr>
        <p:spPr>
          <a:xfrm>
            <a:off x="9239250" y="4400550"/>
            <a:ext cx="2190750" cy="381000"/>
          </a:xfrm>
          <a:prstGeom prst="rect">
            <a:avLst/>
          </a:prstGeom>
          <a:noFill/>
          <a:ln w="0">
            <a:noFill/>
          </a:ln>
        </p:spPr>
        <p:txBody>
          <a:bodyPr>
            <a:noAutofit/>
          </a:bodyPr>
          <a:lstStyle/>
          <a:p>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a:ext uri="{FF2B5EF4-FFF2-40B4-BE49-F238E27FC236}">
                <ns2:creationId id="{06120B2D-6D43-4721-A653-E1F7ECF3F832}"/>
              </a:ext>
            </a:extLst>
          </p:cNvPr>
          <p:cNvSpPr>
            <a:spLocks noGrp="1"/>
          </p:cNvSpPr>
          <p:nvPr/>
        </p:nvSpPr>
        <p:spPr>
          <a:xfrm>
            <a:off x="590550" y="5143500"/>
            <a:ext cx="11010900" cy="657225"/>
          </a:xfrm>
          <a:prstGeom prst="rect">
            <a:avLst/>
          </a:prstGeom>
          <a:solidFill>
            <a:srgbClr val="E5F1EE"/>
          </a:solidFill>
          <a:ln w="0">
            <a:noFill/>
          </a:ln>
        </p:spPr>
      </p:sp>
      <p:sp>
        <p:nvSpPr>
          <p:cNvPr id="15" name="">
            <a:extLst>
              <a:ext uri="{FF2B5EF4-FFF2-40B4-BE49-F238E27FC236}">
                <ns2:creationId id="{3FF5C097-A8C0-45C1-8C1D-86B4EFEE7E58}"/>
              </a:ext>
            </a:extLst>
          </p:cNvPr>
          <p:cNvSpPr>
            <a:spLocks noGrp="1"/>
          </p:cNvSpPr>
          <p:nvPr/>
        </p:nvSpPr>
        <p:spPr>
          <a:xfrm>
            <a:off x="800100" y="5267325"/>
            <a:ext cx="10572750" cy="457200"/>
          </a:xfrm>
          <a:prstGeom prst="rect">
            <a:avLst/>
          </a:prstGeom>
          <a:noFill/>
          <a:ln w="0">
            <a:noFill/>
          </a:ln>
        </p:spPr>
        <p:txBody>
          <a:bodyPr>
            <a:noAutofit/>
          </a:bodyPr>
          <a:lstStyle/>
          <a:p>
            <a:pPr>
              <a:defRPr sz="2250" b="1">
                <a:solidFill>
                  <a:srgbClr val="2E7D6F"/>
                </a:solidFill>
                <a:latin typeface="Calibri"/>
                <a:ea typeface="Calibri"/>
                <a:cs typeface="Calibri"/>
              </a:defRPr>
            </a:pPr>
            <a:r>
              <a:rPr sz="2250" b="1">
                <a:solidFill>
                  <a:srgbClr val="2E7D6F"/>
                </a:solidFill>
                <a:latin typeface="Calibri"/>
                <a:ea typeface="Calibri"/>
                <a:cs typeface="Calibri"/>
                <a:hlinkClick r:id="Rd52cbc5ed6f74604"/>
              </a:rPr>
              <a:t>Open this week’s quiz</a:t>
            </a:r>
          </a:p>
        </p:txBody>
      </p:sp>
      <p:sp>
        <p:nvSpPr>
          <p:cNvPr id="16" name="">
            <a:extLst>
              <a:ext uri="{FF2B5EF4-FFF2-40B4-BE49-F238E27FC236}">
                <ns2:creationId id="{51852929-1393-42C1-BA4F-E5C3E0386A14}"/>
              </a:ext>
            </a:extLst>
          </p:cNvPr>
          <p:cNvSpPr>
            <a:spLocks noGrp="1"/>
          </p:cNvSpPr>
          <p:nvPr/>
        </p:nvSpPr>
        <p:spPr>
          <a:xfrm>
            <a:off x="685800" y="5972175"/>
            <a:ext cx="10668000" cy="304800"/>
          </a:xfrm>
          <a:prstGeom prst="rect">
            <a:avLst/>
          </a:prstGeom>
          <a:noFill/>
          <a:ln w="0">
            <a:noFill/>
          </a:ln>
        </p:spPr>
        <p:txBody>
          <a:bodyPr>
            <a:noAutofit/>
          </a:bodyPr>
          <a:lstStyle/>
          <a:p>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https://forms.gle/3sf2d3vGXpJ4HtvP6</a:t>
            </a:r>
          </a:p>
        </p:txBody>
      </p:sp>
      <p:sp>
        <p:nvSpPr>
          <p:cNvPr id="17" name="">
            <a:extLst>
              <a:ext uri="{FF2B5EF4-FFF2-40B4-BE49-F238E27FC236}">
                <ns2:creationId id="{57904C55-07C4-48D2-BD2C-C65C6A0636A1}"/>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11   34</a:t>
            </a:r>
          </a:p>
        </p:txBody>
      </p:sp>
    </p:spTree>
    <p:extLst>
      <p:ext uri="{BB962C8B-B14F-4D97-AF65-F5344CB8AC3E}">
        <ns4:creationId val="1283267121"/>
      </p:ext>
    </p:extLst>
  </p:cSld>
</p:sld>
</file>

<file path=ppt/slides/slide3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1C3144"/>
        </a:solidFill>
      </p:bgPr>
    </p:bg>
    <p:spTree>
      <p:nvGrpSpPr>
        <p:cNvPr id="1" name=""/>
        <p:cNvGrpSpPr/>
        <p:nvPr/>
      </p:nvGrpSpPr>
      <p:grpSpPr>
        <a:xfrm/>
      </p:grpSpPr>
      <p:sp>
        <p:nvSpPr>
          <p:cNvPr id="7" name="">
            <a:extLst>
              <a:ext uri="{FF2B5EF4-FFF2-40B4-BE49-F238E27FC236}">
                <ns2:creationId id="{0EECBF5F-00FC-47FE-9860-2803D8BF1377}"/>
              </a:ext>
            </a:extLst>
          </p:cNvPr>
          <p:cNvSpPr>
            <a:spLocks noGrp="1"/>
          </p:cNvSpPr>
          <p:nvPr/>
        </p:nvSpPr>
        <p:spPr>
          <a:xfrm>
            <a:off x="590550" y="180975"/>
            <a:ext cx="11049000" cy="285750"/>
          </a:xfrm>
          <a:prstGeom prst="rect">
            <a:avLst/>
          </a:prstGeom>
          <a:noFill/>
          <a:ln w="0">
            <a:noFill/>
          </a:ln>
        </p:spPr>
        <p:txBody>
          <a:bodyPr>
            <a:noAutofit/>
          </a:bodyPr>
          <a:lstStyle/>
          <a:p>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a:ext uri="{FF2B5EF4-FFF2-40B4-BE49-F238E27FC236}">
                <ns2:creationId id="{5A7E3A94-7FF2-4795-BE6B-9E27F9D8FCF8}"/>
              </a:ext>
            </a:extLst>
          </p:cNvPr>
          <p:cNvSpPr>
            <a:spLocks noGrp="1"/>
          </p:cNvSpPr>
          <p:nvPr/>
        </p:nvSpPr>
        <p:spPr>
          <a:xfrm>
            <a:off x="590550" y="523875"/>
            <a:ext cx="11049000" cy="809625"/>
          </a:xfrm>
          <a:prstGeom prst="rect">
            <a:avLst/>
          </a:prstGeom>
          <a:noFill/>
          <a:ln w="0">
            <a:noFill/>
          </a:ln>
        </p:spPr>
        <p:txBody>
          <a:bodyPr>
            <a:noAutofit/>
          </a:bodyPr>
          <a:lstStyle/>
          <a:p>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a:ext uri="{FF2B5EF4-FFF2-40B4-BE49-F238E27FC236}">
                <ns2:creationId id="{C14D962E-CB26-4A85-98B1-8BA653365029}"/>
              </a:ext>
            </a:extLst>
          </p:cNvPr>
          <p:cNvSpPr>
            <a:spLocks noGrp="1"/>
          </p:cNvSpPr>
          <p:nvPr/>
        </p:nvSpPr>
        <p:spPr>
          <a:xfrm>
            <a:off x="619125" y="1619250"/>
            <a:ext cx="2857500" cy="495300"/>
          </a:xfrm>
          <a:prstGeom prst="rect">
            <a:avLst/>
          </a:prstGeom>
          <a:noFill/>
          <a:ln w="0">
            <a:noFill/>
          </a:ln>
        </p:spPr>
        <p:txBody>
          <a:bodyPr>
            <a:noAutofit/>
          </a:bodyPr>
          <a:lstStyle/>
          <a:p>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a:ext uri="{FF2B5EF4-FFF2-40B4-BE49-F238E27FC236}">
                <ns2:creationId id="{71E095DC-30E4-4DE7-9F64-600CD83AFA26}"/>
              </a:ext>
            </a:extLst>
          </p:cNvPr>
          <p:cNvSpPr>
            <a:spLocks noGrp="1"/>
          </p:cNvSpPr>
          <p:nvPr/>
        </p:nvSpPr>
        <p:spPr>
          <a:xfrm>
            <a:off x="619125" y="2295525"/>
            <a:ext cx="10810875" cy="3095625"/>
          </a:xfrm>
          <a:prstGeom prst="rect">
            <a:avLst/>
          </a:prstGeom>
          <a:noFill/>
          <a:ln w="0">
            <a:noFill/>
          </a:ln>
        </p:spPr>
        <p:txBody>
          <a:bodyPr>
            <a:noAutofit/>
          </a:bodyPr>
          <a:lstStyle/>
          <a:p>
            <a:pPr>
              <a:defRPr sz="2850" b="0">
                <a:solidFill>
                  <a:srgbClr val="FFFFFF"/>
                </a:solidFill>
                <a:latin typeface="Calibri"/>
                <a:ea typeface="Calibri"/>
                <a:cs typeface="Calibri"/>
              </a:defRPr>
            </a:pPr>
            <a:r>
              <a:rPr sz="2850" b="0">
                <a:solidFill>
                  <a:srgbClr val="FFFFFF"/>
                </a:solidFill>
                <a:latin typeface="Calibri"/>
                <a:ea typeface="Calibri"/>
                <a:cs typeface="Calibri"/>
              </a:rPr>
              <a:t>You can state the new feature’s meaning and calculate an improvement correctly.</a:t>
            </a:r>
          </a:p>
          <a:p>
            <a:r>
              <a:t/>
            </a:r>
          </a:p>
          <a:p>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a:ext uri="{FF2B5EF4-FFF2-40B4-BE49-F238E27FC236}">
                <ns2:creationId id="{90C71A2C-8B8E-427A-90CD-74CBD2DB1BFD}"/>
              </a:ext>
            </a:extLst>
          </p:cNvPr>
          <p:cNvSpPr>
            <a:spLocks noGrp="1"/>
          </p:cNvSpPr>
          <p:nvPr/>
        </p:nvSpPr>
        <p:spPr>
          <a:xfrm>
            <a:off x="619125" y="5791200"/>
            <a:ext cx="10810875" cy="542925"/>
          </a:xfrm>
          <a:prstGeom prst="rect">
            <a:avLst/>
          </a:prstGeom>
          <a:noFill/>
          <a:ln w="0">
            <a:noFill/>
          </a:ln>
        </p:spPr>
        <p:txBody>
          <a:bodyPr>
            <a:noAutofit/>
          </a:bodyPr>
          <a:lstStyle/>
          <a:p>
            <a:pPr>
              <a:defRPr sz="1800" b="0">
                <a:solidFill>
                  <a:srgbClr val="BBCDD9"/>
                </a:solidFill>
                <a:latin typeface="Calibri"/>
                <a:ea typeface="Calibri"/>
                <a:cs typeface="Calibri"/>
              </a:defRPr>
            </a:pPr>
            <a:r>
              <a:rPr sz="1800" b="0">
                <a:solidFill>
                  <a:srgbClr val="BBCDD9"/>
                </a:solidFill>
                <a:latin typeface="Calibri"/>
                <a:ea typeface="Calibri"/>
                <a:cs typeface="Calibri"/>
              </a:rPr>
              <a:t>Check your answers against the example, then save your work.</a:t>
            </a:r>
          </a:p>
        </p:txBody>
      </p:sp>
      <p:sp>
        <p:nvSpPr>
          <p:cNvPr id="6" name="">
            <a:extLst>
              <a:ext uri="{FF2B5EF4-FFF2-40B4-BE49-F238E27FC236}">
                <ns2:creationId id="{7D2EFC40-0EDC-4302-9498-F8AB0686FED1}"/>
              </a:ext>
            </a:extLst>
          </p:cNvPr>
          <p:cNvSpPr>
            <a:spLocks noGrp="1"/>
          </p:cNvSpPr>
          <p:nvPr/>
        </p:nvSpPr>
        <p:spPr>
          <a:xfrm>
            <a:off x="590550" y="6524625"/>
            <a:ext cx="10810875" cy="219075"/>
          </a:xfrm>
          <a:prstGeom prst="rect">
            <a:avLst/>
          </a:prstGeom>
          <a:noFill/>
          <a:ln w="0">
            <a:noFill/>
          </a:ln>
        </p:spPr>
        <p:txBody>
          <a:bodyPr>
            <a:noAutofit/>
          </a:bodyPr>
          <a:lstStyle/>
          <a:p>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11   35</a:t>
            </a:r>
          </a:p>
        </p:txBody>
      </p:sp>
    </p:spTree>
    <p:extLst>
      <p:ext uri="{BB962C8B-B14F-4D97-AF65-F5344CB8AC3E}">
        <ns3:creationId val="1800657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2026-09-28T21:46:07.5180000Z</dcterms:created>
  <dcterms:modified xsi:type="dcterms:W3CDTF">2026-09-28T21:46:07.5180000Z</dcterms:modified>
</coreProperties>
</file>