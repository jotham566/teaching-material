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least guided session of the semester. Thirty-five minutes of teaching, then one hundred and five minutes in which you receive an unfamiliar dataset and a brief from a client, run four models under one protocol, and write a recommendation. Then another team attacks it. This is the closest rehearsal you get for Practical Test 2 in two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7 is marked today. Conceding a valid criticism and saying what you would change is a professional strength, and in the defence round it earns marks for both teams.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the shape. The teaching is compressed into the first thirty-five minutes because you have already met everything you need; what you have not done is run four models under a single protocol against a real constraint and had to justify the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You can evaluate a model honestly and you can improve what it is fed. The remaining question is which model, and why that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A is this week's whole subject in one line. If the split changed as well as the model, you cannot say which change moved the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is the reason the protocol exists. Any comparison in which two things changed at once is uninterpretable, and this is the commonest way a student leaderboard becomes meaningless.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the protocol and the five selection criteria. A table of scores produced without a protocol carries no information at all, and this is the part people skip.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held constant, one thing varying. That is the whole of fair model comparison.</a:t>
            </a:r>
          </a:p>
          <a:p/>
          <a:p>
            <a:r>
              <a:t>The 'same metric chosen before you looked' item is the one that takes discipline. Choosing the metric after seeing the results means choosing the metric that flatters the model you already liked, and you will not notice yourself doing it.</a:t>
            </a:r>
          </a:p>
          <a:p/>
          <a:p>
            <a:r>
              <a:t>The Pipeline is what makes 'fitted inside each fold' the default rather than something you have to remember. That is a second reason to use one, on top of the leakage argument from Week 10.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definition of a real difference is the most useful thing in the session. Report every score as a mean with its standard deviation across folds, and when two intervals overlap heavily, say the two models cannot be separated.</a:t>
            </a:r>
          </a:p>
          <a:p/>
          <a:p>
            <a:r>
              <a:t>What you do then is an engineering decision, and it is where the other four criteria come in. If two models are equally accurate and one of them can be read aloud to a client, the choice is already made.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Criterion 1 is the one that governs today's challenge. The operator has to be able to see which reading drove the call. A model that wins on score and loses on that constraint has lost.</a:t>
            </a:r>
          </a:p>
          <a:p/>
          <a:p>
            <a:r>
              <a:t>Criterion 4 is the one that is easiest to check and most often skipped. Feed your model an input outside the range it was trained on and see what it returns. A linear model extrapolates a straight line, which is wrong in a predictable direction. A tree returns the value of the nearest leaf and gives no sign that it is out of its depth.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notes under the chart carefully. On this data the single decision tree is beaten on both axes: linear regression is more accurate AND easier to explain. A depth-3 tree is not a safe middle choice by default, and you have to measure.</a:t>
            </a:r>
          </a:p>
          <a:p/>
          <a:p>
            <a:r>
              <a:t>The boosting result is the honest one. Boosting buys a real improvement in R², and if a client has to sign off on why one case was rejected, that improvement may not be worth having.</a:t>
            </a:r>
          </a:p>
          <a:p/>
          <a:p>
            <a:r>
              <a:t>The horizontal axis carries no units, so do not read distances along it as quantities. It is a way of ordering four models by how much of them you could put in a report.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to confirm you can run a fair comparison before you are given 90 minutes to do it unsupervised. Question A is the one to be able to recite.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is worth memorising word for word, because writing those four lines at the top of your notebook secures a large part of the modelling protocol marks in Practical Test 2 before you fit anything.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and one worked example, deliberately short. This week you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shape of the table rather than only the winner. In this example depth is doing almost all of the work and a leaf size of 16 or 50 cripples the tree at every depth, which tells you which knob matters and which you can leave alone next time.</a:t>
            </a:r>
          </a:p>
          <a:p/>
          <a:p>
            <a:r>
              <a:t>The line under the table is the important one. The search happens inside cross-validation, and the test set takes no part in choosing the cell. If you pick the winner using the rows you were going to check it with, the score you report is the score of a lucky guess.</a:t>
            </a:r>
          </a:p>
          <a:p/>
          <a:p>
            <a:r>
              <a:t>One consequence worth knowing: the cross-validated score of the winning cell is slightly optimistic, because you chose it by looking at those folds. The honest final number comes from the test set you have not touched.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decides where the search goes. Fitting finds parameters; you choose hyperparameters and can only find good values by trying them and scoring the result.</a:t>
            </a:r>
          </a:p>
          <a:p/>
          <a:p>
            <a:r>
              <a:t>A practical warning: every hyperparameter you add multiplies the size of the grid. Two hyperparameters with five values each is 25 combinations, which is 125 fits at five folds. Four hyperparameters with five values each is 3,125 fits. RandomizedSearchCV samples the space instead of covering it and gets you most of the way for a fraction of the cost.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details to carry away. The double underscore in "fit__max_depth" names the step and then the argument, which is how you reach inside a Pipeline. The search is fitted on the training rows only, so the held-out score on the last line is the one you report. And the difference between the two printed numbers is worth looking at: the cross-validated best score is usually a little better than the held-out score, because the cell was chosen by looking at those folds.</a:t>
            </a:r>
          </a:p>
          <a:p/>
          <a:p>
            <a:r>
              <a:t>scoring="neg_mean_absolute_error" is negative because scikit-learn maximises its scores. Flip the sign when you report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are told about boosting rather than taught it because you will meet the name immediately in any Kaggle notebook on data like yours, and a name you have never heard is worse than a name you have been told is coming.</a:t>
            </a:r>
          </a:p>
          <a:p/>
          <a:p>
            <a:r>
              <a:t>The fourth point is the rule for today. Naming boosting as an option you considered and set aside, with a reason, is a good sentence in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challenge after the break runs for ninety minutes without a second break, so use this 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minutes. You get an unfamiliar dataset and a brief from a client, and you produce a results table for at least four models under one protocol plus a one-page recommendation. No help, no worked example, and no method suggested.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brief twice before you touch the keyboard. The constraint is doing more work than the request. The operator has to be able to see which reading drove the call.</a:t>
            </a:r>
          </a:p>
          <a:p/>
          <a:p>
            <a:r>
              <a:t>A recommendation that ignores the constraint has answered a different question from the one you were asked, however good its score 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questions on the slide are the ones you will be marked against, so work them in order. Question 1 comes before any modelling: write the protocol down, then run the four candidates through it.</a:t>
            </a:r>
          </a:p>
          <a:p/>
          <a:p>
            <a:r>
              <a:t>Question 3 is where most teams lose marks. Report every score as a mean with its spread across folds, and if the top two overlap, say they cannot be separated and let the constraint decide.</a:t>
            </a:r>
          </a:p>
          <a:p/>
          <a:p>
            <a:r>
              <a:t>AI assistants are permitted here and every use goes in the log. Your recommendation gets defended out loud in the next segment, which is what makes the logging honest.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page means one page. A supervising engineer reads the first paragraph and the table, and everything else has to earn its space.</a:t>
            </a:r>
          </a:p>
          <a:p/>
          <a:p>
            <a:r>
              <a:t>Item 4 is the one that separates a merit from a pass. 'This recommendation holds while the feed comes from the same source; if the source changes, refit and recheck the metric' is a sentence a real engineer writes and a student usually leaves out.</a:t>
            </a:r>
          </a:p>
          <a:p/>
          <a:p>
            <a:r>
              <a:t>A11 is graded in session and it is the last of the eleven practical challenges.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two out as the model answers. Opening: 'We recommend the depth-4 decision tree: it is within the fold-to-fold spread of the forest, and every decision it makes can be explained.' Paragraph 4: 'We gave up about 0.02 of F1 against the forest to get a model that can be read aloud in a rejection notice.'</a:t>
            </a:r>
          </a:p>
          <a:p/>
          <a:p>
            <a:r>
              <a:t>Paragraph 4 is the one that reads as engineering. A trade you can name and quantify shows you understood the decision; a recommendation that claims the chosen model is best on every axis shows you did not look.</a:t>
            </a:r>
          </a:p>
          <a:p/>
          <a:p>
            <a:r>
              <a:t>Paragraph 5 is what makes the recommendation usable. A model has a range of inputs it was trained on, and outside that range its output is a guess. Say where the boundary 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marking scheme for the protocol part of the challenge. Six items, and a team that can point at all six in its notebook has secured those marks whatever its scores turn out to be.</a:t>
            </a:r>
          </a:p>
          <a:p/>
          <a:p>
            <a:r>
              <a:t>The last item is the one that gets broken under time pressure. Every time you look at the test score and then change something, the test set becomes part of your training procedure and stops being an honest check.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Each team presents its recommendation to another team, which must raise at least two challenges and hear them answered. The quality of the challenges is marked as well as the quality of the defences.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reason conceding is marked is that it is the professional behaviour. In a design review the engineer who says 'you are right, I checked the wrong thing, here is what I will do' is worth more than the one who defends a mistake fluently.</a:t>
            </a:r>
          </a:p>
          <a:p/>
          <a:p>
            <a:r>
              <a:t>Write the concession down before you leave the room. It goes on your recommendation as an annotation, and it is read as part of A11.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these six on your own recommendation before the defence round. Twenty minutes of attacking your own work is the cheapest way to find the hole someone else would have found.</a:t>
            </a:r>
          </a:p>
          <a:p/>
          <a:p>
            <a:r>
              <a:t>The third and sixth lines are the ones that turn a modelling exercise into engineering, because they ask what happens to a real person when the model is wrong.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minutes. Project Milestone 3 is due at the start of Week 13.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quiz has nothing to memorise. The questions show a comparison table or a snippet of a pipeline and ask what is wrong with it, so working through today's protocol carefully was the preparation.</a:t>
            </a:r>
          </a:p>
          <a:p/>
          <a:p>
            <a:r>
              <a:t>From this week the quizzes turn integrative: two of the five come from earlier weeks. There are two quizzes left after this one and your best ten of twelve count.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statements covering the session. The third is the one Practical Test 2 will examine, and the seventh is what the project rubric's engineering reasoning criterion is looking for.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B is the one that costs marks in Practical Test 2. Every time you look at the test score and then change something, the test set has become part of how you chose the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standard your own reporting is held to from here on. A score with no protocol, no spread and no comparison carries almost no information, and a reviewer's first question will be one of the three.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and five of them are the selection criteria from the comparison-protocol block. The last entry is the one to keep in mind during Practical Test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and have it open during Practical Test 2. The modelling protocol criterion carries 20 of the 100 marks and the first two lines of this sheet are most of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 worth keeping from today is that the score was rarely what decided the choice. Once two models cannot be separated, the constraint decides, and stating that clearly is the recommendation.</a:t>
            </a:r>
          </a:p>
          <a:p/>
          <a:p>
            <a:r>
              <a:t>Next week is the studio: repository structure, README, requirements.txt and peer review, plus the Practical Test 2 briefing.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Choosing a model,</a:t>
            </a:r>
          </a:p>
          <a:p>
            <a:pPr algn="l">
              <a:lnSpc>
                <a:spcPct val="105000"/>
              </a:lnSpc>
              <a:spcAft>
                <a:spcPts val="600"/>
              </a:spcAft>
            </a:pPr>
            <a:r>
              <a:rPr sz="4400" b="1" i="0">
                <a:solidFill>
                  <a:srgbClr val="FFFFFF"/>
                </a:solidFill>
                <a:latin typeface="Cambria"/>
              </a:rPr>
              <a:t>and defending the choice</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 fair comparison protocol, tuning inside cross-validation, and a client with a constraint</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12  ·  Fri 27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Design a comparison in which only the model changes, and say what you held constant.</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Tune one or two hyperparameters with a search that runs inside cross-validation.</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Say when a difference between two scores is too small to be a difference.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Weigh accuracy against interpretability, cost, data hunger and failure behaviour.</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one-page recommendation a supervising engineer could act on.</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Defend a modelling choice under hostile questioning.</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Concede a challenge when the challenge is correct, and say what you would change.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12 · Model comparison and engineering judgement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12.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Eight blocks, and the shape is different this week. Thirty-five minutes of teaching, then ninety minutes of your own work with no answers from me, a defence round, and the weekly quiz at the end.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build features and measure what they were worth. Today you choose between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11?</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compare two models and each one got its own random train/test split. What have you learned about the two models?</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ablation table says a feature changed the metric by less than the fold-to-fold spread. What is the honest entry in the table?</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one model that needs its features scaled and one that does not care at all.</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Two models, two different splits?</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Nothing about the two models. Two things changed at once, so you cannot attribute the difference to either of them. A few per cent of score difference is easily produced by the split alone.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change smaller than the spread?</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measurable effect', with both the change and the spread printed beside it. Then decide whether to keep the feature on other grounds, such as simplicity or the cost of collecting it.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Scaled, and indifferent?</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k-nearest neighbours needs scaling, because it measures straight-line distance in whatever units the columns arrived in. A decision tree does not care: a split on one column is unaffected by the units of any other.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fair comparison protocol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must be held constant, what may vary, and what a leaderboard is worth without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PROTOCOL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Change one thing, hold everything else still</a:t>
            </a:r>
          </a:p>
        </p:txBody>
      </p:sp>
      <p:pic>
        <p:nvPicPr>
          <p:cNvPr id="4" name="Picture 3" descr="comparison_protocol.png"/>
          <p:cNvPicPr>
            <a:picLocks noChangeAspect="1"/>
          </p:cNvPicPr>
          <p:nvPr/>
        </p:nvPicPr>
        <p:blipFill>
          <a:blip r:embed="rId2"/>
          <a:stretch>
            <a:fillRect/>
          </a:stretch>
        </p:blipFill>
        <p:spPr>
          <a:xfrm>
            <a:off x="1665191" y="1911095"/>
            <a:ext cx="886131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split from one shuffle with one fixed seed, the same preprocessing fitted inside each fold, the same metric chosen before you looked at any result, and the same folds in the same order. Only the model on the right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Comparison protocol, and a real difference</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COMPARISON PROTOCOL fixes the split, the folds, the preprocessing and the metric, so the only thing varying between runs is the model. A difference between two scores is REAL when it is larger than the spread across folds.</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Model A scores 0.82 and model B scores 0.84, and each model's five folds are spread over 0.06. The two cannot be separated on this data, and the honest report says so.</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leaderboard. A leaderboard ranks numbers. Without a protocol it ranks the accidents of the splits as well as the models, and there is no way to tell the two apart.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SELECTION CRITERIA</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things that decide the choice besides accuracy</a:t>
            </a:r>
          </a:p>
        </p:txBody>
      </p:sp>
      <p:sp>
        <p:nvSpPr>
          <p:cNvPr id="4" name="TextBox 3"/>
          <p:cNvSpPr txBox="1"/>
          <p:nvPr/>
        </p:nvSpPr>
        <p:spPr>
          <a:xfrm>
            <a:off x="685800"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1 · How much of it you can explain</a:t>
            </a:r>
          </a:p>
        </p:txBody>
      </p:sp>
      <p:sp>
        <p:nvSpPr>
          <p:cNvPr id="5" name="TextBox 4"/>
          <p:cNvSpPr txBox="1"/>
          <p:nvPr/>
        </p:nvSpPr>
        <p:spPr>
          <a:xfrm>
            <a:off x="685800"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decision you cannot explain line by line often cannot be used at all, whatever it scores. The operator has to be able to see which reading drove the call.</a:t>
            </a:r>
          </a:p>
        </p:txBody>
      </p:sp>
      <p:sp>
        <p:nvSpPr>
          <p:cNvPr id="6" name="TextBox 5"/>
          <p:cNvSpPr txBox="1"/>
          <p:nvPr/>
        </p:nvSpPr>
        <p:spPr>
          <a:xfrm>
            <a:off x="685800"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2 · What it costs to train and to run</a:t>
            </a:r>
          </a:p>
        </p:txBody>
      </p:sp>
      <p:sp>
        <p:nvSpPr>
          <p:cNvPr id="7" name="TextBox 6"/>
          <p:cNvSpPr txBox="1"/>
          <p:nvPr/>
        </p:nvSpPr>
        <p:spPr>
          <a:xfrm>
            <a:off x="685800"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retrained nightly on a plant server has a budget. A forest of 300 trees answering in milliseconds is usually fine; something that takes an hour is usually not.</a:t>
            </a:r>
          </a:p>
        </p:txBody>
      </p:sp>
      <p:sp>
        <p:nvSpPr>
          <p:cNvPr id="8" name="TextBox 7"/>
          <p:cNvSpPr txBox="1"/>
          <p:nvPr/>
        </p:nvSpPr>
        <p:spPr>
          <a:xfrm>
            <a:off x="685800"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3 · How much data it needs</a:t>
            </a:r>
          </a:p>
        </p:txBody>
      </p:sp>
      <p:sp>
        <p:nvSpPr>
          <p:cNvPr id="9" name="TextBox 8"/>
          <p:cNvSpPr txBox="1"/>
          <p:nvPr/>
        </p:nvSpPr>
        <p:spPr>
          <a:xfrm>
            <a:off x="685800" y="5390313"/>
            <a:ext cx="5158587" cy="62482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Some methods need thousands of rows to beat a straight line. On four hundred rows the simpler model frequently wins outright.</a:t>
            </a:r>
          </a:p>
        </p:txBody>
      </p:sp>
      <p:sp>
        <p:nvSpPr>
          <p:cNvPr id="10" name="TextBox 9"/>
          <p:cNvSpPr txBox="1"/>
          <p:nvPr/>
        </p:nvSpPr>
        <p:spPr>
          <a:xfrm>
            <a:off x="6347307" y="1911095"/>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4 · How it behaves when it is wrong</a:t>
            </a:r>
          </a:p>
        </p:txBody>
      </p:sp>
      <p:sp>
        <p:nvSpPr>
          <p:cNvPr id="11" name="TextBox 10"/>
          <p:cNvSpPr txBox="1"/>
          <p:nvPr/>
        </p:nvSpPr>
        <p:spPr>
          <a:xfrm>
            <a:off x="6347307" y="2311898"/>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that fails gradually as conditions drift is safer than one that fails suddenly and confidently. Ask what happens outside the range it was trained on.</a:t>
            </a:r>
          </a:p>
        </p:txBody>
      </p:sp>
      <p:sp>
        <p:nvSpPr>
          <p:cNvPr id="12" name="TextBox 11"/>
          <p:cNvSpPr txBox="1"/>
          <p:nvPr/>
        </p:nvSpPr>
        <p:spPr>
          <a:xfrm>
            <a:off x="6347307" y="3450303"/>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5 · Who has to maintain it</a:t>
            </a:r>
          </a:p>
        </p:txBody>
      </p:sp>
      <p:sp>
        <p:nvSpPr>
          <p:cNvPr id="13" name="TextBox 12"/>
          <p:cNvSpPr txBox="1"/>
          <p:nvPr/>
        </p:nvSpPr>
        <p:spPr>
          <a:xfrm>
            <a:off x="6347307" y="3851105"/>
            <a:ext cx="5158587" cy="90980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A model nobody on site understands stops being used within a year. That is a real engineering constraint and it belongs in your recommendation.</a:t>
            </a:r>
          </a:p>
        </p:txBody>
      </p:sp>
      <p:sp>
        <p:nvSpPr>
          <p:cNvPr id="14" name="TextBox 13"/>
          <p:cNvSpPr txBox="1"/>
          <p:nvPr/>
        </p:nvSpPr>
        <p:spPr>
          <a:xfrm>
            <a:off x="6347307" y="4989510"/>
            <a:ext cx="5158587" cy="391658"/>
          </a:xfrm>
          <a:prstGeom prst="rect">
            <a:avLst/>
          </a:prstGeom>
          <a:noFill/>
        </p:spPr>
        <p:txBody>
          <a:bodyPr wrap="square" lIns="0" rIns="0" tIns="0" bIns="0" anchor="t">
            <a:spAutoFit/>
          </a:bodyPr>
          <a:lstStyle/>
          <a:p>
            <a:pPr algn="l">
              <a:lnSpc>
                <a:spcPct val="124000"/>
              </a:lnSpc>
              <a:spcAft>
                <a:spcPts val="600"/>
              </a:spcAft>
            </a:pPr>
            <a:r>
              <a:rPr sz="1716" b="1" i="0">
                <a:solidFill>
                  <a:srgbClr val="E4572E"/>
                </a:solidFill>
                <a:latin typeface="Calibri"/>
              </a:rPr>
              <a:t>And the metric itself is a decision</a:t>
            </a:r>
          </a:p>
        </p:txBody>
      </p:sp>
      <p:sp>
        <p:nvSpPr>
          <p:cNvPr id="15" name="TextBox 14"/>
          <p:cNvSpPr txBox="1"/>
          <p:nvPr/>
        </p:nvSpPr>
        <p:spPr>
          <a:xfrm>
            <a:off x="6347307" y="5390313"/>
            <a:ext cx="5158587" cy="1194784"/>
          </a:xfrm>
          <a:prstGeom prst="rect">
            <a:avLst/>
          </a:prstGeom>
          <a:noFill/>
        </p:spPr>
        <p:txBody>
          <a:bodyPr wrap="square" lIns="0" rIns="0" tIns="0" bIns="0" anchor="t">
            <a:spAutoFit/>
          </a:bodyPr>
          <a:lstStyle/>
          <a:p>
            <a:pPr algn="l">
              <a:lnSpc>
                <a:spcPct val="124000"/>
              </a:lnSpc>
              <a:spcAft>
                <a:spcPts val="600"/>
              </a:spcAft>
            </a:pPr>
            <a:r>
              <a:rPr sz="1452" b="0" i="0">
                <a:solidFill>
                  <a:srgbClr val="334657"/>
                </a:solidFill>
                <a:latin typeface="Calibri"/>
              </a:rPr>
              <a:t>Being wrong by 0.2 percentage points is a rounding error. Being wrong by 1.5 percentage points ships off-spec material for an hour. Think about which errors your metric is willing to average away.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TRADE-OFF</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Accuracy against explainability, measured</a:t>
            </a:r>
          </a:p>
        </p:txBody>
      </p:sp>
      <p:pic>
        <p:nvPicPr>
          <p:cNvPr id="4" name="Picture 3" descr="tradeoff_map.png"/>
          <p:cNvPicPr>
            <a:picLocks noChangeAspect="1"/>
          </p:cNvPicPr>
          <p:nvPr/>
        </p:nvPicPr>
        <p:blipFill>
          <a:blip r:embed="rId2"/>
          <a:stretch>
            <a:fillRect/>
          </a:stretch>
        </p:blipFill>
        <p:spPr>
          <a:xfrm>
            <a:off x="1700851" y="1911095"/>
            <a:ext cx="8789993"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models on the same rows and the same held-out test set. The vertical axis is measured. The horizontal axis is a teaching judgement about how much of the model you could explain, and it carries no units.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protocol before you use it</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the four things a comparison protocol holds constant.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best model scores 0.86 and your second scores 0.85, with folds spread over 0.05. Which do you recommend, and on what grounds?</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client has to explain every decision to a regulator. Which two of the five criteria have just become the deciding ones?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You need all three during the challenge.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four constants?</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split, from one shuffle with one fixed seed. The preprocessing, fitted inside each fold. The metric, chosen before you looked at any result. And the folds themselves, the same ones in the same order for every candidate.</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0.86 against 0.85, spread 0.05?</a:t>
            </a:r>
          </a:p>
        </p:txBody>
      </p:sp>
      <p:sp>
        <p:nvSpPr>
          <p:cNvPr id="9" name="TextBox 8"/>
          <p:cNvSpPr txBox="1"/>
          <p:nvPr/>
        </p:nvSpPr>
        <p:spPr>
          <a:xfrm>
            <a:off x="1216152" y="369889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gap is a fifth of the spread, so the two cannot be separated on this data. Say that, then recommend on the other criteria: explainability, cost, data hunger, failure behaviour, or maintenance. Whichever you choose, the reason is what earns the mark.</a:t>
            </a:r>
          </a:p>
        </p:txBody>
      </p:sp>
      <p:sp>
        <p:nvSpPr>
          <p:cNvPr id="10" name="Oval 9"/>
          <p:cNvSpPr/>
          <p:nvPr/>
        </p:nvSpPr>
        <p:spPr>
          <a:xfrm>
            <a:off x="685800" y="493805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0147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regulator has to be satisfied?</a:t>
            </a:r>
          </a:p>
        </p:txBody>
      </p:sp>
      <p:sp>
        <p:nvSpPr>
          <p:cNvPr id="12" name="TextBox 11"/>
          <p:cNvSpPr txBox="1"/>
          <p:nvPr/>
        </p:nvSpPr>
        <p:spPr>
          <a:xfrm>
            <a:off x="1216152" y="519408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Explainability and failure behaviour. A regulator needs to be told why a particular decision was made and what happens when the model is wrong, and neither question can be answered from an accuracy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Tuning inside cross-validation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worked search, and the reason it has to happen inside the folds.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TUNING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grid search is a table you fill in, then read</a:t>
            </a:r>
          </a:p>
        </p:txBody>
      </p:sp>
      <p:pic>
        <p:nvPicPr>
          <p:cNvPr id="4" name="Picture 3" descr="gridsearch.png"/>
          <p:cNvPicPr>
            <a:picLocks noChangeAspect="1"/>
          </p:cNvPicPr>
          <p:nvPr/>
        </p:nvPicPr>
        <p:blipFill>
          <a:blip r:embed="rId2"/>
          <a:stretch>
            <a:fillRect/>
          </a:stretch>
        </p:blipFill>
        <p:spPr>
          <a:xfrm>
            <a:off x="1627192" y="1911095"/>
            <a:ext cx="893731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Seven depths by four leaf sizes by five folds is 140 models fitted to produce one table. Darker is lower error. The ringed cell is the best mean across the same five folds.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Parameter and hyperparameter</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PARAMETER is a number the fitting procedure works out from the data — the coefficients of a regression, the thresholds in a tree. A HYPERPARAMETER is a number you choose before fitting begins — the depth of the tree, the number of neighbours, the strength of a penalty.</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a depth-4 tree, 4 is a hyperparameter you set. The 15 split thresholds inside it are parameters the fit found. A grid search searches hyperparameters, and fitting finds parameters.</a:t>
            </a:r>
          </a:p>
        </p:txBody>
      </p:sp>
      <p:sp>
        <p:nvSpPr>
          <p:cNvPr id="8" name="Rounded Rectangle 7"/>
          <p:cNvSpPr/>
          <p:nvPr/>
        </p:nvSpPr>
        <p:spPr>
          <a:xfrm>
            <a:off x="685800" y="503351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501523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and it matters for what you can search. You cannot grid-search the coefficients of a regression: fitting is what produces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 search, inside the folds</a:t>
            </a:r>
          </a:p>
        </p:txBody>
      </p:sp>
      <p:sp>
        <p:nvSpPr>
          <p:cNvPr id="4" name="Rounded Rectangle 3"/>
          <p:cNvSpPr/>
          <p:nvPr/>
        </p:nvSpPr>
        <p:spPr>
          <a:xfrm>
            <a:off x="6736970" y="512064"/>
            <a:ext cx="4768925"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ONE SEARCH, THEN BREAK IT</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sklearn.model_selection import GridSearchCV, train_test_split</a:t>
            </a:r>
          </a:p>
          <a:p>
            <a:pPr algn="l">
              <a:lnSpc>
                <a:spcPts val="1795"/>
              </a:lnSpc>
              <a:spcAft>
                <a:spcPts val="0"/>
              </a:spcAft>
            </a:pPr>
            <a:r>
              <a:rPr sz="1320" b="0" i="0">
                <a:solidFill>
                  <a:srgbClr val="D8E3EC"/>
                </a:solidFill>
                <a:latin typeface="Courier New"/>
              </a:rPr>
              <a:t>from sklearn.pipeline import Pipeline</a:t>
            </a:r>
          </a:p>
          <a:p>
            <a:pPr algn="l">
              <a:lnSpc>
                <a:spcPts val="1795"/>
              </a:lnSpc>
              <a:spcAft>
                <a:spcPts val="0"/>
              </a:spcAft>
            </a:pPr>
            <a:r>
              <a:rPr sz="1320" b="0" i="0">
                <a:solidFill>
                  <a:srgbClr val="D8E3EC"/>
                </a:solidFill>
                <a:latin typeface="Courier New"/>
              </a:rPr>
              <a:t>from sklearn.impute import SimpleImputer</a:t>
            </a:r>
          </a:p>
          <a:p>
            <a:pPr algn="l">
              <a:lnSpc>
                <a:spcPts val="1795"/>
              </a:lnSpc>
              <a:spcAft>
                <a:spcPts val="0"/>
              </a:spcAft>
            </a:pPr>
            <a:r>
              <a:rPr sz="1320" b="0" i="0">
                <a:solidFill>
                  <a:srgbClr val="D8E3EC"/>
                </a:solidFill>
                <a:latin typeface="Courier New"/>
              </a:rPr>
              <a:t>from sklearn.tree import DecisionTreeRegressor</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X_tr, X_te, y_tr, y_te = train_test_split(X, y, test_size=0.2,</a:t>
            </a:r>
          </a:p>
          <a:p>
            <a:pPr algn="l">
              <a:lnSpc>
                <a:spcPts val="1795"/>
              </a:lnSpc>
              <a:spcAft>
                <a:spcPts val="0"/>
              </a:spcAft>
            </a:pPr>
            <a:r>
              <a:rPr sz="1320" b="0" i="0">
                <a:solidFill>
                  <a:srgbClr val="D8E3EC"/>
                </a:solidFill>
                <a:latin typeface="Courier New"/>
              </a:rPr>
              <a:t>                                          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pipe = Pipeline([("prep", SimpleImputer(strategy="median")),</a:t>
            </a:r>
          </a:p>
          <a:p>
            <a:pPr algn="l">
              <a:lnSpc>
                <a:spcPts val="1795"/>
              </a:lnSpc>
              <a:spcAft>
                <a:spcPts val="0"/>
              </a:spcAft>
            </a:pPr>
            <a:r>
              <a:rPr sz="1320" b="0" i="0">
                <a:solidFill>
                  <a:srgbClr val="D8E3EC"/>
                </a:solidFill>
                <a:latin typeface="Courier New"/>
              </a:rPr>
              <a:t>                 ("fit", DecisionTreeRegressor(random_state=42))])</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grid = {"fit__max_depth": [2, 3, 4, 5, 6, 8, 10],</a:t>
            </a:r>
          </a:p>
          <a:p>
            <a:pPr algn="l">
              <a:lnSpc>
                <a:spcPts val="1795"/>
              </a:lnSpc>
              <a:spcAft>
                <a:spcPts val="0"/>
              </a:spcAft>
            </a:pPr>
            <a:r>
              <a:rPr sz="1320" b="0" i="0">
                <a:solidFill>
                  <a:srgbClr val="D8E3EC"/>
                </a:solidFill>
                <a:latin typeface="Courier New"/>
              </a:rPr>
              <a:t>        "fit__min_samples_leaf": [1, 4, 16, 50]}</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search = GridSearchCV(pipe, grid, cv=5,</a:t>
            </a:r>
          </a:p>
          <a:p>
            <a:pPr algn="l">
              <a:lnSpc>
                <a:spcPts val="1795"/>
              </a:lnSpc>
              <a:spcAft>
                <a:spcPts val="0"/>
              </a:spcAft>
            </a:pPr>
            <a:r>
              <a:rPr sz="1320" b="0" i="0">
                <a:solidFill>
                  <a:srgbClr val="D8E3EC"/>
                </a:solidFill>
                <a:latin typeface="Courier New"/>
              </a:rPr>
              <a:t>                      scoring="neg_mean_absolute_error")</a:t>
            </a:r>
          </a:p>
          <a:p>
            <a:pPr algn="l">
              <a:lnSpc>
                <a:spcPts val="1795"/>
              </a:lnSpc>
              <a:spcAft>
                <a:spcPts val="0"/>
              </a:spcAft>
            </a:pPr>
            <a:r>
              <a:rPr sz="1320" b="0" i="0">
                <a:solidFill>
                  <a:srgbClr val="D8E3EC"/>
                </a:solidFill>
                <a:latin typeface="Courier New"/>
              </a:rPr>
              <a:t>search.fit(X_tr, y_tr)           # the test set is untouched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print(search.best_params_, -search.best_score_)</a:t>
            </a:r>
          </a:p>
          <a:p>
            <a:pPr algn="l">
              <a:lnSpc>
                <a:spcPts val="1795"/>
              </a:lnSpc>
              <a:spcAft>
                <a:spcPts val="0"/>
              </a:spcAft>
            </a:pPr>
            <a:r>
              <a:rPr sz="1320" b="0" i="0">
                <a:solidFill>
                  <a:srgbClr val="D8E3EC"/>
                </a:solidFill>
                <a:latin typeface="Courier New"/>
              </a:rPr>
              <a:t>print("held-out:", -search.score(X_te, y_te))</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search.fit(X_tr, y_tr) to search.fit(X, y) and re-run. The held-out number improves, and it now means nothing: the winning cell was chosen using the very rows you then check it against.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DEFERRED TO SEMESTER 2</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Gradient boosting, named and then set aside</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it is, in one sentence</a:t>
            </a:r>
          </a:p>
        </p:txBody>
      </p:sp>
      <p:sp>
        <p:nvSpPr>
          <p:cNvPr id="5" name="TextBox 4"/>
          <p:cNvSpPr txBox="1"/>
          <p:nvPr/>
        </p:nvSpPr>
        <p:spPr>
          <a:xfrm>
            <a:off x="685800"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fits a small tree, looks at what that tree got wrong, fits a second tree to the errors, and keeps going. XGBoost and LightGBM are the two implementations you will see.</a:t>
            </a:r>
          </a:p>
        </p:txBody>
      </p:sp>
      <p:sp>
        <p:nvSpPr>
          <p:cNvPr id="6" name="TextBox 5"/>
          <p:cNvSpPr txBox="1"/>
          <p:nvPr/>
        </p:nvSpPr>
        <p:spPr>
          <a:xfrm>
            <a:off x="685800"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it comes up</a:t>
            </a:r>
          </a:p>
        </p:txBody>
      </p:sp>
      <p:sp>
        <p:nvSpPr>
          <p:cNvPr id="7" name="TextBox 6"/>
          <p:cNvSpPr txBox="1"/>
          <p:nvPr/>
        </p:nvSpPr>
        <p:spPr>
          <a:xfrm>
            <a:off x="685800"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On tabular engineering data it is usually the most accurate thing available, and it wins most public competitions on data of this shape.</a:t>
            </a:r>
          </a:p>
        </p:txBody>
      </p:sp>
      <p:sp>
        <p:nvSpPr>
          <p:cNvPr id="8" name="TextBox 7"/>
          <p:cNvSpPr txBox="1"/>
          <p:nvPr/>
        </p:nvSpPr>
        <p:spPr>
          <a:xfrm>
            <a:off x="685800"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it is not in this course</a:t>
            </a:r>
          </a:p>
        </p:txBody>
      </p:sp>
      <p:sp>
        <p:nvSpPr>
          <p:cNvPr id="9" name="TextBox 8"/>
          <p:cNvSpPr txBox="1"/>
          <p:nvPr/>
        </p:nvSpPr>
        <p:spPr>
          <a:xfrm>
            <a:off x="685800"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It has a dozen hyperparameters that interact, and tuning it well is a skill of its own. Semester 2 gives it the time it needs.</a:t>
            </a:r>
          </a:p>
        </p:txBody>
      </p:sp>
      <p:sp>
        <p:nvSpPr>
          <p:cNvPr id="10" name="TextBox 9"/>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What to do with that this week</a:t>
            </a:r>
          </a:p>
        </p:txBody>
      </p:sp>
      <p:sp>
        <p:nvSpPr>
          <p:cNvPr id="11" name="TextBox 10"/>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You may name it in your recommendation as an option you did not take, with a reason. You may not submit it as one of your four candidates.</a:t>
            </a:r>
          </a:p>
        </p:txBody>
      </p:sp>
      <p:sp>
        <p:nvSpPr>
          <p:cNvPr id="12" name="TextBox 11"/>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reason the tool is not the lesson</a:t>
            </a:r>
          </a:p>
        </p:txBody>
      </p:sp>
      <p:sp>
        <p:nvSpPr>
          <p:cNvPr id="13" name="TextBox 12"/>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boosted model you cannot explain, validated with a protocol you did not fix, is worth less than a straight line you can defend. The protocol is what this week examines.</a:t>
            </a:r>
          </a:p>
        </p:txBody>
      </p:sp>
      <p:sp>
        <p:nvSpPr>
          <p:cNvPr id="14" name="TextBox 13"/>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If you want to read ahead</a:t>
            </a:r>
          </a:p>
        </p:txBody>
      </p:sp>
      <p:sp>
        <p:nvSpPr>
          <p:cNvPr id="15" name="TextBox 14"/>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The XGBoost documentation's own introduction to boosted trees is short and honest, and it will make more sense after Week 13's work on reproducibility.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Engineering AI Challenge: choose a model and defend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90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An unfamiliar dataset, a client with a real constraint, and no answers from me for the next hour and three quarters.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YOUR CLIENT, AND WHAT THEY ASKED FOR</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"The assay comes back an hour late, and by then we have run an hour of off-spec concentrate. Predict concentrate silica from the readings we already have on the panel. If the model tells the operator to move a set point, the operator will ask which reading drove it."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From the metallurgist of a concentrator. Your target is concentrate silica in percentage points. The constraint is the part to read twice: The operator has to be able to see which reading drove the call.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Choose a Model and Defend It</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Dataset: a flotation dataset from a circuit you have not seen, about 12,000 rows. Target: concentrate silica in percentage points.</a:t>
            </a:r>
          </a:p>
          <a:p>
            <a:pPr algn="l">
              <a:lnSpc>
                <a:spcPct val="125000"/>
              </a:lnSpc>
              <a:spcAft>
                <a:spcPts val="600"/>
              </a:spcAft>
            </a:pPr>
            <a:r>
              <a:rPr sz="1923" b="0" i="0">
                <a:solidFill>
                  <a:srgbClr val="1C3144"/>
                </a:solidFill>
                <a:latin typeface="Calibri"/>
              </a:rPr>
              <a:t>Run at least four candidate models under one protocol you fix and write down first.</a:t>
            </a:r>
          </a:p>
          <a:p>
            <a:pPr algn="l">
              <a:lnSpc>
                <a:spcPct val="125000"/>
              </a:lnSpc>
              <a:spcAft>
                <a:spcPts val="600"/>
              </a:spcAft>
            </a:pPr>
            <a:r>
              <a:rPr sz="1923" b="0" i="0">
                <a:solidFill>
                  <a:srgbClr val="1C3144"/>
                </a:solidFill>
                <a:latin typeface="Calibri"/>
              </a:rPr>
              <a:t>Produce a results table and a one-page recommendation.</a:t>
            </a:r>
          </a:p>
          <a:p>
            <a:pPr algn="l">
              <a:lnSpc>
                <a:spcPct val="125000"/>
              </a:lnSpc>
              <a:spcAft>
                <a:spcPts val="600"/>
              </a:spcAft>
            </a:pPr>
            <a:r>
              <a:rPr sz="1923" b="0" i="0">
                <a:solidFill>
                  <a:srgbClr val="1C3144"/>
                </a:solidFill>
                <a:latin typeface="Calibri"/>
              </a:rPr>
              <a:t>Ninety minutes. AI assistants are permitted and every use must be logged.</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four things are you holding constant?</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metric, and what consequence chose it?</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your best score really better than your second?</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Does your choice satisfy the client's constraint?</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did you accept in exchange for what?</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change this recommendation?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DELIVERABLE — A11</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to hand in at the end of the challenge</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results table</a:t>
            </a:r>
          </a:p>
        </p:txBody>
      </p:sp>
      <p:sp>
        <p:nvSpPr>
          <p:cNvPr id="5" name="TextBox 4"/>
          <p:cNvSpPr txBox="1"/>
          <p:nvPr/>
        </p:nvSpPr>
        <p:spPr>
          <a:xfrm>
            <a:off x="685800" y="240933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One row per candidate model. Columns: the model and its settings, the cross-validated mean of your metric, the spread across folds, and the held-out score.</a:t>
            </a:r>
          </a:p>
        </p:txBody>
      </p:sp>
      <p:sp>
        <p:nvSpPr>
          <p:cNvPr id="6" name="TextBox 5"/>
          <p:cNvSpPr txBox="1"/>
          <p:nvPr/>
        </p:nvSpPr>
        <p:spPr>
          <a:xfrm>
            <a:off x="685800" y="359115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At least four models. All four through the same protocol.</a:t>
            </a:r>
          </a:p>
        </p:txBody>
      </p:sp>
      <p:sp>
        <p:nvSpPr>
          <p:cNvPr id="7" name="TextBox 6"/>
          <p:cNvSpPr txBox="1"/>
          <p:nvPr/>
        </p:nvSpPr>
        <p:spPr>
          <a:xfrm>
            <a:off x="685800" y="4412565"/>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A line at the top of the table stating the four things you held constant, and the seed you used.</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one-page recommendation</a:t>
            </a:r>
          </a:p>
        </p:txBody>
      </p:sp>
      <p:sp>
        <p:nvSpPr>
          <p:cNvPr id="10" name="TextBox 9"/>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1 The model you chose.</a:t>
            </a:r>
          </a:p>
        </p:txBody>
      </p:sp>
      <p:sp>
        <p:nvSpPr>
          <p:cNvPr id="11" name="TextBox 10"/>
          <p:cNvSpPr txBox="1"/>
          <p:nvPr/>
        </p:nvSpPr>
        <p:spPr>
          <a:xfrm>
            <a:off x="6575907" y="302540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2 The metric, and the consequence that chose it.</a:t>
            </a:r>
          </a:p>
        </p:txBody>
      </p:sp>
      <p:sp>
        <p:nvSpPr>
          <p:cNvPr id="12" name="TextBox 11"/>
          <p:cNvSpPr txBox="1"/>
          <p:nvPr/>
        </p:nvSpPr>
        <p:spPr>
          <a:xfrm>
            <a:off x="6575907" y="3554491"/>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3 What you accepted in exchange for what.</a:t>
            </a:r>
          </a:p>
        </p:txBody>
      </p:sp>
      <p:sp>
        <p:nvSpPr>
          <p:cNvPr id="13" name="TextBox 12"/>
          <p:cNvSpPr txBox="1"/>
          <p:nvPr/>
        </p:nvSpPr>
        <p:spPr>
          <a:xfrm>
            <a:off x="6575907" y="4083581"/>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4 The conditions under which this recommendation would change.</a:t>
            </a:r>
          </a:p>
        </p:txBody>
      </p:sp>
      <p:sp>
        <p:nvSpPr>
          <p:cNvPr id="14" name="TextBox 13"/>
          <p:cNvSpPr txBox="1"/>
          <p:nvPr/>
        </p:nvSpPr>
        <p:spPr>
          <a:xfrm>
            <a:off x="6575907" y="492230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5 Your AI-use log.</a:t>
            </a:r>
          </a:p>
        </p:txBody>
      </p:sp>
      <p:sp>
        <p:nvSpPr>
          <p:cNvPr id="15" name="TextBox 14"/>
          <p:cNvSpPr txBox="1"/>
          <p:nvPr/>
        </p:nvSpPr>
        <p:spPr>
          <a:xfrm>
            <a:off x="6575907" y="545139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page. Graded in session.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Writing the recommendation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Five paragraphs and one attachment, in the order a supervising engineer reads them. About 350 words in total.</a:t>
            </a:r>
          </a:p>
        </p:txBody>
      </p:sp>
      <p:sp>
        <p:nvSpPr>
          <p:cNvPr id="5" name="Rounded Rectangle 4"/>
          <p:cNvSpPr/>
          <p:nvPr/>
        </p:nvSpPr>
        <p:spPr>
          <a:xfrm>
            <a:off x="685800" y="2732347"/>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State the decision in one sentence, with the number attached.</a:t>
            </a:r>
          </a:p>
        </p:txBody>
      </p:sp>
      <p:sp>
        <p:nvSpPr>
          <p:cNvPr id="8" name="Rounded Rectangle 7"/>
          <p:cNvSpPr/>
          <p:nvPr/>
        </p:nvSpPr>
        <p:spPr>
          <a:xfrm>
            <a:off x="685800" y="3224345"/>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7920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70065"/>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Name the metric, and what each kind of mistake costs the client in hours, money or safety.</a:t>
            </a:r>
          </a:p>
        </p:txBody>
      </p:sp>
      <p:sp>
        <p:nvSpPr>
          <p:cNvPr id="11" name="Rounded Rectangle 10"/>
          <p:cNvSpPr/>
          <p:nvPr/>
        </p:nvSpPr>
        <p:spPr>
          <a:xfrm>
            <a:off x="685800" y="3716343"/>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71207"/>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762063"/>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Show the table. Say whether the top two can be separated at all.</a:t>
            </a:r>
          </a:p>
        </p:txBody>
      </p:sp>
      <p:sp>
        <p:nvSpPr>
          <p:cNvPr id="14" name="Rounded Rectangle 13"/>
          <p:cNvSpPr/>
          <p:nvPr/>
        </p:nvSpPr>
        <p:spPr>
          <a:xfrm>
            <a:off x="685800" y="4208341"/>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263205"/>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54061"/>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Say what you accepted in exchange for what.</a:t>
            </a:r>
          </a:p>
        </p:txBody>
      </p:sp>
      <p:sp>
        <p:nvSpPr>
          <p:cNvPr id="17" name="Rounded Rectangle 16"/>
          <p:cNvSpPr/>
          <p:nvPr/>
        </p:nvSpPr>
        <p:spPr>
          <a:xfrm>
            <a:off x="685800" y="4700339"/>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755203"/>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746059"/>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State the conditions of use: the input range, and what change would require a refit.</a:t>
            </a:r>
          </a:p>
        </p:txBody>
      </p:sp>
      <p:sp>
        <p:nvSpPr>
          <p:cNvPr id="20" name="Rounded Rectangle 19"/>
          <p:cNvSpPr/>
          <p:nvPr/>
        </p:nvSpPr>
        <p:spPr>
          <a:xfrm>
            <a:off x="685800" y="5192337"/>
            <a:ext cx="10820095" cy="43713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4720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38057"/>
            <a:ext cx="9814255" cy="345694"/>
          </a:xfrm>
          <a:prstGeom prst="rect">
            <a:avLst/>
          </a:prstGeom>
          <a:noFill/>
        </p:spPr>
        <p:txBody>
          <a:bodyPr wrap="square" lIns="0" rIns="0" tIns="0" bIns="0" anchor="t">
            <a:spAutoFit/>
          </a:bodyPr>
          <a:lstStyle/>
          <a:p>
            <a:pPr algn="l">
              <a:lnSpc>
                <a:spcPct val="116000"/>
              </a:lnSpc>
              <a:spcAft>
                <a:spcPts val="600"/>
              </a:spcAft>
            </a:pPr>
            <a:r>
              <a:rPr sz="1584" b="0" i="0">
                <a:solidFill>
                  <a:srgbClr val="1C3144"/>
                </a:solidFill>
                <a:latin typeface="Calibri"/>
              </a:rPr>
              <a:t>Attach the AI-use log: what you asked, and what you checked.</a:t>
            </a:r>
          </a:p>
        </p:txBody>
      </p:sp>
      <p:sp>
        <p:nvSpPr>
          <p:cNvPr id="23" name="Rounded Rectangle 22"/>
          <p:cNvSpPr/>
          <p:nvPr/>
        </p:nvSpPr>
        <p:spPr>
          <a:xfrm>
            <a:off x="685800" y="573920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636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The first sentence and the fifth paragraph are the two a supervising engineer will actually read. Write those two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NON-NEGOTIABLE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protocol you must run, written out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Fix the split once, and write down the seed</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shuffle, one seed, one train/test split. Every candidate sees the same rows.</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Put the preprocessing inside the Pipeline</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scaler and the encoder are fitted inside each fold. Nothing is fitted on the whole table.</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Choose the metric before you look at any result</a:t>
            </a:r>
          </a:p>
        </p:txBody>
      </p:sp>
      <p:sp>
        <p:nvSpPr>
          <p:cNvPr id="9" name="TextBox 8"/>
          <p:cNvSpPr txBox="1"/>
          <p:nvPr/>
        </p:nvSpPr>
        <p:spPr>
          <a:xfrm>
            <a:off x="685800" y="514980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Write it at the top of the notebook with the consequence that chose it. Then do not change it.</a:t>
            </a:r>
          </a:p>
        </p:txBody>
      </p:sp>
      <p:sp>
        <p:nvSpPr>
          <p:cNvPr id="10" name="TextBox 9"/>
          <p:cNvSpPr txBox="1"/>
          <p:nvPr/>
        </p:nvSpPr>
        <p:spPr>
          <a:xfrm>
            <a:off x="6347307" y="1911095"/>
            <a:ext cx="5158587" cy="809915"/>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Use the same folds, in the same order, for every candidate</a:t>
            </a:r>
          </a:p>
        </p:txBody>
      </p:sp>
      <p:sp>
        <p:nvSpPr>
          <p:cNvPr id="11" name="TextBox 10"/>
          <p:cNvSpPr txBox="1"/>
          <p:nvPr/>
        </p:nvSpPr>
        <p:spPr>
          <a:xfrm>
            <a:off x="6347307" y="273015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cv=5 with a fixed seed. The same five folds for all four models.</a:t>
            </a:r>
          </a:p>
        </p:txBody>
      </p:sp>
      <p:sp>
        <p:nvSpPr>
          <p:cNvPr id="12" name="TextBox 11"/>
          <p:cNvSpPr txBox="1"/>
          <p:nvPr/>
        </p:nvSpPr>
        <p:spPr>
          <a:xfrm>
            <a:off x="6347307" y="3687209"/>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Report the mean and the spread, every time</a:t>
            </a:r>
          </a:p>
        </p:txBody>
      </p:sp>
      <p:sp>
        <p:nvSpPr>
          <p:cNvPr id="13" name="TextBox 12"/>
          <p:cNvSpPr txBox="1"/>
          <p:nvPr/>
        </p:nvSpPr>
        <p:spPr>
          <a:xfrm>
            <a:off x="6347307" y="4128743"/>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single number hides whether the difference between two models is real.</a:t>
            </a:r>
          </a:p>
        </p:txBody>
      </p:sp>
      <p:sp>
        <p:nvSpPr>
          <p:cNvPr id="14" name="TextBox 13"/>
          <p:cNvSpPr txBox="1"/>
          <p:nvPr/>
        </p:nvSpPr>
        <p:spPr>
          <a:xfrm>
            <a:off x="6347307" y="5085796"/>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Spend the test set once, at the end</a:t>
            </a:r>
          </a:p>
        </p:txBody>
      </p:sp>
      <p:sp>
        <p:nvSpPr>
          <p:cNvPr id="15" name="TextBox 14"/>
          <p:cNvSpPr txBox="1"/>
          <p:nvPr/>
        </p:nvSpPr>
        <p:spPr>
          <a:xfrm>
            <a:off x="6347307" y="5527330"/>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Choose your model using cross-validation on the training rows. Score the chosen model on the test rows once and report that number.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Defence round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present your recommendation to another team, whose job is to attack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DEFENCE ROUND</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the defence round runs</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Five minutes each way</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present for two minutes and take challenges for three. Then you swap and do the other side.</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attacking team must raise two challenges</a:t>
            </a:r>
          </a:p>
        </p:txBody>
      </p:sp>
      <p:sp>
        <p:nvSpPr>
          <p:cNvPr id="7" name="TextBox 6"/>
          <p:cNvSpPr txBox="1"/>
          <p:nvPr/>
        </p:nvSpPr>
        <p:spPr>
          <a:xfrm>
            <a:off x="685800" y="3751217"/>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Aimed at the protocol, the metric, the constraint or the conditions of use. A challenge about the score alone is the weakest kind.</a:t>
            </a:r>
          </a:p>
        </p:txBody>
      </p:sp>
      <p:sp>
        <p:nvSpPr>
          <p:cNvPr id="8" name="TextBox 7"/>
          <p:cNvSpPr txBox="1"/>
          <p:nvPr/>
        </p:nvSpPr>
        <p:spPr>
          <a:xfrm>
            <a:off x="685800" y="504506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good challenge names the evidence it wants</a:t>
            </a:r>
          </a:p>
        </p:txBody>
      </p:sp>
      <p:sp>
        <p:nvSpPr>
          <p:cNvPr id="9" name="TextBox 8"/>
          <p:cNvSpPr txBox="1"/>
          <p:nvPr/>
        </p:nvSpPr>
        <p:spPr>
          <a:xfrm>
            <a:off x="685800" y="548659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top two overlap — show me the fold spreads' can be answered from the notebook. 'I do not believe you' cannot.</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 good defence answers with the notebook open</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Point at the number. If the challenge is right and you have no answer, say so.</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Conceding earns marks</a:t>
            </a:r>
          </a:p>
        </p:txBody>
      </p:sp>
      <p:sp>
        <p:nvSpPr>
          <p:cNvPr id="13" name="TextBox 12"/>
          <p:cNvSpPr txBox="1"/>
          <p:nvPr/>
        </p:nvSpPr>
        <p:spPr>
          <a:xfrm>
            <a:off x="6347307" y="3751217"/>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Write down what you conceded and what you would change. A team that concedes a correct challenge and says what it would do differently scores above a team that argues.</a:t>
            </a:r>
          </a:p>
        </p:txBody>
      </p:sp>
      <p:sp>
        <p:nvSpPr>
          <p:cNvPr id="14" name="TextBox 13"/>
          <p:cNvSpPr txBox="1"/>
          <p:nvPr/>
        </p:nvSpPr>
        <p:spPr>
          <a:xfrm>
            <a:off x="6347307" y="538186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Both sides are marked</a:t>
            </a:r>
          </a:p>
        </p:txBody>
      </p:sp>
      <p:sp>
        <p:nvSpPr>
          <p:cNvPr id="15" name="TextBox 14"/>
          <p:cNvSpPr txBox="1"/>
          <p:nvPr/>
        </p:nvSpPr>
        <p:spPr>
          <a:xfrm>
            <a:off x="6347307" y="5823394"/>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quality of the challenges you raise counts as much as the quality of your own defence.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Attacking a recommendation</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Six lines of attack that work on any recommendation, including your own. Try them on yourself before the other team does.</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was held constant. If the split moved, the table means nothing.</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for the spread. If the top two overlap, what decided between them?</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the metric costs. Your model says lower the amina flow. By how much, and where does that number come from?</a:t>
            </a:r>
          </a:p>
        </p:txBody>
      </p:sp>
      <p:sp>
        <p:nvSpPr>
          <p:cNvPr id="14" name="Rounded Rectangle 13"/>
          <p:cNvSpPr/>
          <p:nvPr/>
        </p:nvSpPr>
        <p:spPr>
          <a:xfrm>
            <a:off x="685800" y="41039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them to explain one prediction. You trained on twelve thousand rows twenty seconds apart. How many independent observations is that really?</a:t>
            </a:r>
          </a:p>
        </p:txBody>
      </p:sp>
      <p:sp>
        <p:nvSpPr>
          <p:cNvPr id="17" name="Rounded Rectangle 16"/>
          <p:cNvSpPr/>
          <p:nvPr/>
        </p:nvSpPr>
        <p:spPr>
          <a:xfrm>
            <a:off x="685800" y="47655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8204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8113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about the edge of the data: what comes back for an input outside the training range, and does it warn you?</a:t>
            </a:r>
          </a:p>
        </p:txBody>
      </p:sp>
      <p:sp>
        <p:nvSpPr>
          <p:cNvPr id="20" name="Rounded Rectangle 19"/>
          <p:cNvSpPr/>
          <p:nvPr/>
        </p:nvSpPr>
        <p:spPr>
          <a:xfrm>
            <a:off x="685800" y="522279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27766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268516"/>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Ask what would break it. Which pit was the feed from during your test rows, and would the model still hold on the next bench?</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Every one of these six can be answered from a notebook. That is what makes them fair challenges rather than opinions.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Milestone 3, and what to do this week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is due next week, before the quiz closes the session.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MILESTONE AND QUIZ</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161730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62830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Project Milestone 3 — due at the start of Week 13</a:t>
            </a:r>
          </a:p>
        </p:txBody>
      </p:sp>
      <p:sp>
        <p:nvSpPr>
          <p:cNvPr id="7" name="TextBox 6"/>
          <p:cNvSpPr txBox="1"/>
          <p:nvPr/>
        </p:nvSpPr>
        <p:spPr>
          <a:xfrm>
            <a:off x="1554480" y="2423159"/>
            <a:ext cx="9631375" cy="101379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A model comparison table for your own project dataset, with at least three candidates under one protocol, and a justified selection. Graded milestone within the project's 25 per cent. State the four things you held constant and the seed you used.</a:t>
            </a:r>
          </a:p>
        </p:txBody>
      </p:sp>
      <p:sp>
        <p:nvSpPr>
          <p:cNvPr id="8" name="Rounded Rectangle 7"/>
          <p:cNvSpPr/>
          <p:nvPr/>
        </p:nvSpPr>
        <p:spPr>
          <a:xfrm>
            <a:off x="685800" y="3583262"/>
            <a:ext cx="10820095" cy="132647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4155059"/>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3702134"/>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two questions come from earlier weeks</a:t>
            </a:r>
          </a:p>
        </p:txBody>
      </p:sp>
      <p:sp>
        <p:nvSpPr>
          <p:cNvPr id="11" name="TextBox 10"/>
          <p:cNvSpPr txBox="1"/>
          <p:nvPr/>
        </p:nvSpPr>
        <p:spPr>
          <a:xfrm>
            <a:off x="1554480" y="4095326"/>
            <a:ext cx="9631375" cy="72296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Whether a difference between two models is real given the fold spread, and which model a stated constraint selects. From this week on, two of the five are drawn from Weeks 1 to 10, so nothing is ever finished with.</a:t>
            </a:r>
          </a:p>
        </p:txBody>
      </p:sp>
      <p:sp>
        <p:nvSpPr>
          <p:cNvPr id="12" name="Rounded Rectangle 11"/>
          <p:cNvSpPr/>
          <p:nvPr/>
        </p:nvSpPr>
        <p:spPr>
          <a:xfrm>
            <a:off x="685800" y="4964599"/>
            <a:ext cx="10820095" cy="132647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42416" y="55363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508347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A11 is graded in session and it is the last practical challenge</a:t>
            </a:r>
          </a:p>
        </p:txBody>
      </p:sp>
      <p:sp>
        <p:nvSpPr>
          <p:cNvPr id="15" name="TextBox 14"/>
          <p:cNvSpPr txBox="1"/>
          <p:nvPr/>
        </p:nvSpPr>
        <p:spPr>
          <a:xfrm>
            <a:off x="1554480" y="5476663"/>
            <a:ext cx="9631375" cy="722968"/>
          </a:xfrm>
          <a:prstGeom prst="rect">
            <a:avLst/>
          </a:prstGeom>
          <a:noFill/>
        </p:spPr>
        <p:txBody>
          <a:bodyPr wrap="square" lIns="0" rIns="0" tIns="0" bIns="0" anchor="t">
            <a:spAutoFit/>
          </a:bodyPr>
          <a:lstStyle/>
          <a:p>
            <a:pPr algn="l">
              <a:lnSpc>
                <a:spcPct val="116000"/>
              </a:lnSpc>
              <a:spcAft>
                <a:spcPts val="600"/>
              </a:spcAft>
            </a:pPr>
            <a:r>
              <a:rPr sz="1584" b="0" i="0">
                <a:solidFill>
                  <a:srgbClr val="3C4E5E"/>
                </a:solidFill>
                <a:latin typeface="Calibri"/>
              </a:rPr>
              <a:t>Your one-page recommendation, annotated with what you conceded in the defence round. Hand it in before you leave.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comparison is fair when the split, the folds, the preprocessing and the metric are all held constant and only the model changes.</a:t>
            </a:r>
          </a:p>
        </p:txBody>
      </p:sp>
      <p:sp>
        <p:nvSpPr>
          <p:cNvPr id="6" name="Oval 5"/>
          <p:cNvSpPr/>
          <p:nvPr/>
        </p:nvSpPr>
        <p:spPr>
          <a:xfrm>
            <a:off x="685800" y="268891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34046"/>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leaderboard without a protocol ranks the accidents of the splits alongside the models, and you cannot tell them apart.</a:t>
            </a:r>
          </a:p>
        </p:txBody>
      </p:sp>
      <p:sp>
        <p:nvSpPr>
          <p:cNvPr id="8" name="Oval 7"/>
          <p:cNvSpPr/>
          <p:nvPr/>
        </p:nvSpPr>
        <p:spPr>
          <a:xfrm>
            <a:off x="685800" y="312353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068673"/>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difference between two scores is real only when it is larger than the spread across folds. Report the mean and the spread every time.</a:t>
            </a:r>
          </a:p>
        </p:txBody>
      </p:sp>
      <p:sp>
        <p:nvSpPr>
          <p:cNvPr id="10" name="Oval 9"/>
          <p:cNvSpPr/>
          <p:nvPr/>
        </p:nvSpPr>
        <p:spPr>
          <a:xfrm>
            <a:off x="685800" y="384648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91623"/>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parameter is found by fitting. A hyperparameter is chosen before fitting, and a search is how you choose it.</a:t>
            </a:r>
          </a:p>
        </p:txBody>
      </p:sp>
      <p:sp>
        <p:nvSpPr>
          <p:cNvPr id="12" name="Oval 11"/>
          <p:cNvSpPr/>
          <p:nvPr/>
        </p:nvSpPr>
        <p:spPr>
          <a:xfrm>
            <a:off x="685800" y="428111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226250"/>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search runs inside cross-validation, and the test set takes no part in choosing anything.</a:t>
            </a:r>
          </a:p>
        </p:txBody>
      </p:sp>
      <p:sp>
        <p:nvSpPr>
          <p:cNvPr id="14" name="Oval 13"/>
          <p:cNvSpPr/>
          <p:nvPr/>
        </p:nvSpPr>
        <p:spPr>
          <a:xfrm>
            <a:off x="685800" y="471574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660877"/>
            <a:ext cx="10271455" cy="677230"/>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Five criteria decide the choice besides accuracy: explainability, cost, data hunger, failure behaviour, and who has to maintain it.</a:t>
            </a:r>
          </a:p>
        </p:txBody>
      </p:sp>
      <p:sp>
        <p:nvSpPr>
          <p:cNvPr id="16" name="Oval 15"/>
          <p:cNvSpPr/>
          <p:nvPr/>
        </p:nvSpPr>
        <p:spPr>
          <a:xfrm>
            <a:off x="685800" y="54386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383827"/>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A recommendation names the trade you accepted and the conditions under which it would change.</a:t>
            </a:r>
          </a:p>
        </p:txBody>
      </p:sp>
      <p:sp>
        <p:nvSpPr>
          <p:cNvPr id="18" name="Oval 17"/>
          <p:cNvSpPr/>
          <p:nvPr/>
        </p:nvSpPr>
        <p:spPr>
          <a:xfrm>
            <a:off x="685800" y="587331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818454"/>
            <a:ext cx="10271455" cy="388907"/>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Conceding a correct challenge and saying what you would do differently is a professional strength, and it is marked.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Two models score 0.84 and 0.82, and each one's five folds are spread over 0.06. What do you report?</a:t>
            </a:r>
          </a:p>
        </p:txBody>
      </p:sp>
      <p:sp>
        <p:nvSpPr>
          <p:cNvPr id="6" name="Oval 5"/>
          <p:cNvSpPr/>
          <p:nvPr/>
        </p:nvSpPr>
        <p:spPr>
          <a:xfrm>
            <a:off x="685800" y="247654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3997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tuned max_depth by trying values and checking the test score each time. What have you spent, and what should you have done?</a:t>
            </a:r>
          </a:p>
        </p:txBody>
      </p:sp>
      <p:sp>
        <p:nvSpPr>
          <p:cNvPr id="8" name="Oval 7"/>
          <p:cNvSpPr/>
          <p:nvPr/>
        </p:nvSpPr>
        <p:spPr>
          <a:xfrm>
            <a:off x="685800" y="335142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14845"/>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Your forest beats your linear model by 0.03 of R². The client has to justify every decision in writing. Which do you recommend, and what is the sentence?</a:t>
            </a:r>
          </a:p>
        </p:txBody>
      </p:sp>
      <p:sp>
        <p:nvSpPr>
          <p:cNvPr id="10" name="Oval 9"/>
          <p:cNvSpPr/>
          <p:nvPr/>
        </p:nvSpPr>
        <p:spPr>
          <a:xfrm>
            <a:off x="685800" y="4226294"/>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189718"/>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Give one hyperparameter and one parameter for a decision tree, and say which one a grid search can reach.</a:t>
            </a:r>
          </a:p>
        </p:txBody>
      </p:sp>
      <p:sp>
        <p:nvSpPr>
          <p:cNvPr id="12" name="Oval 11"/>
          <p:cNvSpPr/>
          <p:nvPr/>
        </p:nvSpPr>
        <p:spPr>
          <a:xfrm>
            <a:off x="685800" y="510116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064592"/>
            <a:ext cx="10134295"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team reports 'random forest, R² = 0.91' and nothing else. Name three things you cannot tell from that.</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 Good Practical Test 2 preparation.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0.84 and 0.82, spread 0.06?</a:t>
            </a:r>
          </a:p>
        </p:txBody>
      </p:sp>
      <p:sp>
        <p:nvSpPr>
          <p:cNvPr id="6" name="TextBox 5"/>
          <p:cNvSpPr txBox="1"/>
          <p:nvPr/>
        </p:nvSpPr>
        <p:spPr>
          <a:xfrm>
            <a:off x="1216152" y="2203703"/>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That the two cannot be separated on this data. Report both means with their spreads, say the difference is smaller than the fold-to-fold variation, and then say which of the other five criteria decided between them.</a:t>
            </a:r>
          </a:p>
        </p:txBody>
      </p:sp>
      <p:sp>
        <p:nvSpPr>
          <p:cNvPr id="7" name="Oval 6"/>
          <p:cNvSpPr/>
          <p:nvPr/>
        </p:nvSpPr>
        <p:spPr>
          <a:xfrm>
            <a:off x="685800" y="340773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371158"/>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Tuning against the test score?</a:t>
            </a:r>
          </a:p>
        </p:txBody>
      </p:sp>
      <p:sp>
        <p:nvSpPr>
          <p:cNvPr id="9" name="TextBox 8"/>
          <p:cNvSpPr txBox="1"/>
          <p:nvPr/>
        </p:nvSpPr>
        <p:spPr>
          <a:xfrm>
            <a:off x="1216152" y="3663766"/>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have spent the test set. It is now part of how you chose the model, so it can no longer tell you how the model behaves on unseen data. Tune with cross-validation on the training rows, then score the chosen model on the test rows once.</a:t>
            </a:r>
          </a:p>
        </p:txBody>
      </p:sp>
      <p:sp>
        <p:nvSpPr>
          <p:cNvPr id="10" name="Oval 9"/>
          <p:cNvSpPr/>
          <p:nvPr/>
        </p:nvSpPr>
        <p:spPr>
          <a:xfrm>
            <a:off x="685800" y="486779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831221"/>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Forest by 0.03, client needs a written reason?</a:t>
            </a:r>
          </a:p>
        </p:txBody>
      </p:sp>
      <p:sp>
        <p:nvSpPr>
          <p:cNvPr id="12" name="TextBox 11"/>
          <p:cNvSpPr txBox="1"/>
          <p:nvPr/>
        </p:nvSpPr>
        <p:spPr>
          <a:xfrm>
            <a:off x="1216152" y="5123829"/>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Recommend the model you can explain, and say what you gave up: 'we accepted about 0.03 of R² to get a model whose reasoning can be put in a rejection notice.' A decision that cannot be justified in writing cannot be used here, whatever it scores.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Hyperparameter and parameter for a tree?</a:t>
            </a:r>
          </a:p>
        </p:txBody>
      </p:sp>
      <p:sp>
        <p:nvSpPr>
          <p:cNvPr id="15" name="TextBox 14"/>
          <p:cNvSpPr txBox="1"/>
          <p:nvPr/>
        </p:nvSpPr>
        <p:spPr>
          <a:xfrm>
            <a:off x="6854799" y="2203703"/>
            <a:ext cx="4614519" cy="880163"/>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max_depth is a hyperparameter you set before fitting, and a grid search can reach it. The split thresholds inside the tree are parameters that fitting produces, and no search touches them.</a:t>
            </a:r>
          </a:p>
        </p:txBody>
      </p:sp>
      <p:sp>
        <p:nvSpPr>
          <p:cNvPr id="16" name="Oval 15"/>
          <p:cNvSpPr/>
          <p:nvPr/>
        </p:nvSpPr>
        <p:spPr>
          <a:xfrm>
            <a:off x="6324447" y="3157019"/>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120443"/>
            <a:ext cx="4614519" cy="274320"/>
          </a:xfrm>
          <a:prstGeom prst="rect">
            <a:avLst/>
          </a:prstGeom>
          <a:noFill/>
        </p:spPr>
        <p:txBody>
          <a:bodyPr wrap="square" lIns="0" rIns="0" tIns="0" bIns="0" anchor="t">
            <a:spAutoFit/>
          </a:bodyPr>
          <a:lstStyle/>
          <a:p>
            <a:pPr algn="l">
              <a:spcAft>
                <a:spcPts val="600"/>
              </a:spcAft>
            </a:pPr>
            <a:r>
              <a:rPr sz="1320" b="1" i="0">
                <a:solidFill>
                  <a:srgbClr val="6B7A8A"/>
                </a:solidFill>
                <a:latin typeface="Calibri"/>
              </a:rPr>
              <a:t>'Random forest, R² = 0.91'?</a:t>
            </a:r>
          </a:p>
        </p:txBody>
      </p:sp>
      <p:sp>
        <p:nvSpPr>
          <p:cNvPr id="18" name="TextBox 17"/>
          <p:cNvSpPr txBox="1"/>
          <p:nvPr/>
        </p:nvSpPr>
        <p:spPr>
          <a:xfrm>
            <a:off x="6854799" y="3413051"/>
            <a:ext cx="4614519" cy="1130878"/>
          </a:xfrm>
          <a:prstGeom prst="rect">
            <a:avLst/>
          </a:prstGeom>
          <a:noFill/>
        </p:spPr>
        <p:txBody>
          <a:bodyPr wrap="square" lIns="0" rIns="0" tIns="0" bIns="0" anchor="t">
            <a:spAutoFit/>
          </a:bodyPr>
          <a:lstStyle/>
          <a:p>
            <a:pPr algn="l">
              <a:lnSpc>
                <a:spcPct val="120000"/>
              </a:lnSpc>
              <a:spcAft>
                <a:spcPts val="600"/>
              </a:spcAft>
            </a:pPr>
            <a:r>
              <a:rPr sz="1320" b="0" i="0">
                <a:solidFill>
                  <a:srgbClr val="2A3B4A"/>
                </a:solidFill>
                <a:latin typeface="Calibri"/>
              </a:rPr>
              <a:t>You cannot tell what it was compared against, what protocol produced the number, or how much it moves between folds. You also cannot tell which metric mattered to the client or what the model does when it is wrong.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Comparison protocol</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split, folds, preprocessing and metric held constant across candidates.</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Candidate model</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models being compared under the protocol.</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Parameter</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the fitting procedure works out from the data.</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Hyperparameter</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you choose before fitting begins.</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Grid search</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Try every combination in a table of hyperparameter values.</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Random search</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Sample combinations instead of covering them. Cheaper on large grids.</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Nested search</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hyperparameter search running inside cross-validation.</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GridSearchCV</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scikit-learn's grid search with cross-validation built in.</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step__argument</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double-underscore naming that reaches an argument inside a Pipeline step.</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Fold-to-fold spread</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standard deviation of the score across folds. It sets the resolution.</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Real difference</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gap larger than the fold-to-fold spread.</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Interpretability</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of the model's decision you can explain. Often a requirement.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Inference cost</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What it costs to produce one prediction in service.</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Data hunger</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many rows a method needs before it beats a simpler one.</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Failure mode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the model behaves when it is wrong, and whether it warns you.</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Conditions of use</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input range and plant conditions under which the model holds.</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memo</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one-page recommendation naming the choice, the metric and the trade accepted.</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Gradient boosting</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Trees fitted in sequence to each other's errors. Semester 2.</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Spending the test set</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Using the test score to make a choice. After that it is no longer a check.</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Maintenance burden</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Who retrains it, how often, and what happens when that person leaves.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comparing models</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Fix the protocol first, in writing</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One seed · one split · same folds · preprocessing inside the Pipeline · metric chosen before you look.</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Search inside the folds</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GridSearchCV(pipe, grid, cv=5, scoring=...).fit(X_train, y_train). The test set takes no part.</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Reach inside a Pipeline</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"fit__max_depth" names the step, then the argument. Two underscores.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Report like this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model · settings · cross-validated mean · spread across folds · held-out score. Every row, same protocol.</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Then ask whether the difference is real</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Gap larger than the spread means a difference. Otherwise the two cannot be separated, and something else has to decide.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Five criteria besides accuracy</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Explainability · training and inference cost · data hunger · failure behaviour · who maintains it.</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recommendation</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The choice · the metric and its consequence · the trade you accepted · the conditions of use · the AI-use log.</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Spend the test set once</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Look at it at the end. Every look that changes a decision turns it into training data.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12</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Whether a difference between two models is real given the fold spread, and which model a stated constraint selects.</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Scan the code. First box is your registration number, off your card.</a:t>
            </a:r>
          </a:p>
        </p:txBody>
      </p:sp>
      <p:sp>
        <p:nvSpPr>
          <p:cNvPr id="8" name="Oval 7"/>
          <p:cNvSpPr/>
          <p:nvPr/>
        </p:nvSpPr>
        <p:spPr>
          <a:xfrm>
            <a:off x="704088" y="445389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380742"/>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Two of the five come from earlier weeks.</a:t>
            </a:r>
          </a:p>
        </p:txBody>
      </p:sp>
      <p:sp>
        <p:nvSpPr>
          <p:cNvPr id="10" name="Oval 9"/>
          <p:cNvSpPr/>
          <p:nvPr/>
        </p:nvSpPr>
        <p:spPr>
          <a:xfrm>
            <a:off x="704088" y="4882240"/>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09088"/>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attempt, from the Google account you are signed in to.</a:t>
            </a:r>
          </a:p>
        </p:txBody>
      </p:sp>
      <p:sp>
        <p:nvSpPr>
          <p:cNvPr id="12" name="Oval 11"/>
          <p:cNvSpPr/>
          <p:nvPr/>
        </p:nvSpPr>
        <p:spPr>
          <a:xfrm>
            <a:off x="704088" y="531058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37434"/>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Open for 48 hours if the network fails, then it closes itself.</a:t>
            </a:r>
          </a:p>
        </p:txBody>
      </p:sp>
      <p:sp>
        <p:nvSpPr>
          <p:cNvPr id="14" name="Oval 13"/>
          <p:cNvSpPr/>
          <p:nvPr/>
        </p:nvSpPr>
        <p:spPr>
          <a:xfrm>
            <a:off x="704088" y="5738932"/>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665780"/>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One per cent each. Tap View score and read the feedback.</a:t>
            </a:r>
          </a:p>
        </p:txBody>
      </p:sp>
      <p:sp>
        <p:nvSpPr>
          <p:cNvPr id="16" name="Oval 15"/>
          <p:cNvSpPr/>
          <p:nvPr/>
        </p:nvSpPr>
        <p:spPr>
          <a:xfrm>
            <a:off x="704088" y="616727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6094126"/>
            <a:ext cx="6492240" cy="364337"/>
          </a:xfrm>
          <a:prstGeom prst="rect">
            <a:avLst/>
          </a:prstGeom>
          <a:noFill/>
        </p:spPr>
        <p:txBody>
          <a:bodyPr wrap="square" lIns="0" rIns="0" tIns="0" bIns="0" anchor="t">
            <a:spAutoFit/>
          </a:bodyPr>
          <a:lstStyle/>
          <a:p>
            <a:pPr algn="l">
              <a:lnSpc>
                <a:spcPct val="122000"/>
              </a:lnSpc>
              <a:spcAft>
                <a:spcPts val="600"/>
              </a:spcAft>
            </a:pPr>
            <a:r>
              <a:rPr sz="1650" b="0" i="0">
                <a:solidFill>
                  <a:srgbClr val="A8BCCE"/>
                </a:solidFill>
                <a:latin typeface="Calibri"/>
              </a:rPr>
              <a:t>Twelve this semester, best ten count. No resits.</a:t>
            </a:r>
          </a:p>
        </p:txBody>
      </p:sp>
      <p:sp>
        <p:nvSpPr>
          <p:cNvPr id="18" name="Rectangle 17"/>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quiz_CML3113_W12.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ran four models under one protocol</a:t>
            </a:r>
          </a:p>
          <a:p>
            <a:pPr algn="l">
              <a:lnSpc>
                <a:spcPct val="110000"/>
              </a:lnSpc>
              <a:spcAft>
                <a:spcPts val="600"/>
              </a:spcAft>
            </a:pPr>
            <a:r>
              <a:rPr sz="3400" b="1" i="0">
                <a:solidFill>
                  <a:srgbClr val="FFFFFF"/>
                </a:solidFill>
                <a:latin typeface="Cambria"/>
              </a:rPr>
              <a:t>and another team attacked the result.</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fixed a protocol, produced a table that means something, chose a model against a constraint rather than a score, and answered two challenges you had not seen. That is what a design review feels like.</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making the whole thing reproducible, and reviewing another team's repository.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