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9f36daede304073" /><Relationship Type="http://schemas.openxmlformats.org/officeDocument/2006/relationships/extended-properties" Target="/docProps/app.xml" Id="R47a7512758cd4b92" /><Relationship Type="http://schemas.openxmlformats.org/officeDocument/2006/relationships/officeDocument" Target="/ppt/presentation.xml" Id="R913efc29bd9d4a9d" /></Relationships>
</file>

<file path=ppt/presentation.xml><?xml version="1.0" encoding="utf-8"?>
<p:presentation xmlns:p="http://schemas.openxmlformats.org/presentationml/2006/main">
  <p:sldMasterIdLst>
    <p:sldMasterId xmlns:r="http://schemas.openxmlformats.org/officeDocument/2006/relationships" id="2147483648" r:id="R79ced850c81b4033"/>
  </p:sldMasterIdLst>
  <p:notesMasterIdLst>
    <p:notesMasterId xmlns:r="http://schemas.openxmlformats.org/officeDocument/2006/relationships" r:id="R70304b52c0cf4ea3"/>
  </p:notesMasterIdLst>
  <p:sldIdLst>
    <p:sldId xmlns:r="http://schemas.openxmlformats.org/officeDocument/2006/relationships" id="256" r:id="R29eae0c825b74126"/>
    <p:sldId xmlns:r="http://schemas.openxmlformats.org/officeDocument/2006/relationships" id="257" r:id="Rae3d96d095e84a32"/>
    <p:sldId xmlns:r="http://schemas.openxmlformats.org/officeDocument/2006/relationships" id="258" r:id="Rbcf2c64ff1354227"/>
    <p:sldId xmlns:r="http://schemas.openxmlformats.org/officeDocument/2006/relationships" id="259" r:id="R6a4be027dbb64d1a"/>
    <p:sldId xmlns:r="http://schemas.openxmlformats.org/officeDocument/2006/relationships" id="260" r:id="R6c0e35fa1d164d99"/>
    <p:sldId xmlns:r="http://schemas.openxmlformats.org/officeDocument/2006/relationships" id="261" r:id="R4465f331f4f14ec4"/>
    <p:sldId xmlns:r="http://schemas.openxmlformats.org/officeDocument/2006/relationships" id="262" r:id="Rb2a8cccbdddc4b5f"/>
    <p:sldId xmlns:r="http://schemas.openxmlformats.org/officeDocument/2006/relationships" id="263" r:id="R599457ba416943ef"/>
    <p:sldId xmlns:r="http://schemas.openxmlformats.org/officeDocument/2006/relationships" id="264" r:id="R828870c7811f419b"/>
    <p:sldId xmlns:r="http://schemas.openxmlformats.org/officeDocument/2006/relationships" id="265" r:id="R0b7b7219436141f5"/>
    <p:sldId xmlns:r="http://schemas.openxmlformats.org/officeDocument/2006/relationships" id="266" r:id="R6a60ae7d061e4025"/>
    <p:sldId xmlns:r="http://schemas.openxmlformats.org/officeDocument/2006/relationships" id="267" r:id="R9bafb521ea8d4a18"/>
    <p:sldId xmlns:r="http://schemas.openxmlformats.org/officeDocument/2006/relationships" id="268" r:id="R583c7853d2374e38"/>
    <p:sldId xmlns:r="http://schemas.openxmlformats.org/officeDocument/2006/relationships" id="269" r:id="Rfa878e4f9746405c"/>
    <p:sldId xmlns:r="http://schemas.openxmlformats.org/officeDocument/2006/relationships" id="270" r:id="R54a93c74a49744e1"/>
    <p:sldId xmlns:r="http://schemas.openxmlformats.org/officeDocument/2006/relationships" id="271" r:id="R72a21dfe41a6403e"/>
    <p:sldId xmlns:r="http://schemas.openxmlformats.org/officeDocument/2006/relationships" id="272" r:id="R781ecb03bf794bd7"/>
    <p:sldId xmlns:r="http://schemas.openxmlformats.org/officeDocument/2006/relationships" id="273" r:id="R41a9e3a3b1a84fea"/>
    <p:sldId xmlns:r="http://schemas.openxmlformats.org/officeDocument/2006/relationships" id="274" r:id="Rbd927ce643514b3d"/>
    <p:sldId xmlns:r="http://schemas.openxmlformats.org/officeDocument/2006/relationships" id="275" r:id="R8545f710abde49cd"/>
    <p:sldId xmlns:r="http://schemas.openxmlformats.org/officeDocument/2006/relationships" id="276" r:id="R1a607d173ff24386"/>
    <p:sldId xmlns:r="http://schemas.openxmlformats.org/officeDocument/2006/relationships" id="277" r:id="R4a35fc947b6c4ac7"/>
    <p:sldId xmlns:r="http://schemas.openxmlformats.org/officeDocument/2006/relationships" id="278" r:id="R70f00ae64f24494d"/>
    <p:sldId xmlns:r="http://schemas.openxmlformats.org/officeDocument/2006/relationships" id="279" r:id="R09d909a3f2cf44a0"/>
    <p:sldId xmlns:r="http://schemas.openxmlformats.org/officeDocument/2006/relationships" id="280" r:id="Raa408a69a35d4482"/>
    <p:sldId xmlns:r="http://schemas.openxmlformats.org/officeDocument/2006/relationships" id="281" r:id="R5f63ad9cb1ed4924"/>
    <p:sldId xmlns:r="http://schemas.openxmlformats.org/officeDocument/2006/relationships" id="282" r:id="Rab50e155ff0d41b3"/>
    <p:sldId xmlns:r="http://schemas.openxmlformats.org/officeDocument/2006/relationships" id="283" r:id="Rdd2376820f424187"/>
    <p:sldId xmlns:r="http://schemas.openxmlformats.org/officeDocument/2006/relationships" id="284" r:id="R2209f40ea87049b9"/>
    <p:sldId xmlns:r="http://schemas.openxmlformats.org/officeDocument/2006/relationships" id="285" r:id="Rbb84e9b591ab4d9c"/>
    <p:sldId xmlns:r="http://schemas.openxmlformats.org/officeDocument/2006/relationships" id="286" r:id="Rbf3b4e2e9ed447cb"/>
    <p:sldId xmlns:r="http://schemas.openxmlformats.org/officeDocument/2006/relationships" id="287" r:id="R70aaa57dda8543ea"/>
    <p:sldId xmlns:r="http://schemas.openxmlformats.org/officeDocument/2006/relationships" id="288" r:id="R0802ae53e4ac490c"/>
    <p:sldId xmlns:r="http://schemas.openxmlformats.org/officeDocument/2006/relationships" id="289" r:id="Rb91e2f62711b439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2c22216251b47b3" /><Relationship Type="http://schemas.openxmlformats.org/officeDocument/2006/relationships/slideMaster" Target="/ppt/slideMasters/slideMaster1.xml" Id="R79ced850c81b4033" /><Relationship Type="http://schemas.openxmlformats.org/officeDocument/2006/relationships/notesMaster" Target="/ppt/notesMasters/notesMaster1.xml" Id="R70304b52c0cf4ea3" /><Relationship Type="http://schemas.openxmlformats.org/officeDocument/2006/relationships/presProps" Target="/ppt/presProps.xml" Id="R21820015274443b4" /><Relationship Type="http://schemas.openxmlformats.org/officeDocument/2006/relationships/tableStyles" Target="/ppt/tableStyles.xml" Id="Re4a7c979b5e64f73" /><Relationship Type="http://schemas.openxmlformats.org/officeDocument/2006/relationships/slide" Target="/ppt/slides/slide1.xml" Id="R29eae0c825b74126" /><Relationship Type="http://schemas.openxmlformats.org/officeDocument/2006/relationships/slide" Target="/ppt/slides/slide2.xml" Id="Rae3d96d095e84a32" /><Relationship Type="http://schemas.openxmlformats.org/officeDocument/2006/relationships/slide" Target="/ppt/slides/slide3.xml" Id="Rbcf2c64ff1354227" /><Relationship Type="http://schemas.openxmlformats.org/officeDocument/2006/relationships/slide" Target="/ppt/slides/slide4.xml" Id="R6a4be027dbb64d1a" /><Relationship Type="http://schemas.openxmlformats.org/officeDocument/2006/relationships/slide" Target="/ppt/slides/slide5.xml" Id="R6c0e35fa1d164d99" /><Relationship Type="http://schemas.openxmlformats.org/officeDocument/2006/relationships/slide" Target="/ppt/slides/slide6.xml" Id="R4465f331f4f14ec4" /><Relationship Type="http://schemas.openxmlformats.org/officeDocument/2006/relationships/slide" Target="/ppt/slides/slide7.xml" Id="Rb2a8cccbdddc4b5f" /><Relationship Type="http://schemas.openxmlformats.org/officeDocument/2006/relationships/slide" Target="/ppt/slides/slide8.xml" Id="R599457ba416943ef" /><Relationship Type="http://schemas.openxmlformats.org/officeDocument/2006/relationships/slide" Target="/ppt/slides/slide9.xml" Id="R828870c7811f419b" /><Relationship Type="http://schemas.openxmlformats.org/officeDocument/2006/relationships/slide" Target="/ppt/slides/slide10.xml" Id="R0b7b7219436141f5" /><Relationship Type="http://schemas.openxmlformats.org/officeDocument/2006/relationships/slide" Target="/ppt/slides/slide11.xml" Id="R6a60ae7d061e4025" /><Relationship Type="http://schemas.openxmlformats.org/officeDocument/2006/relationships/slide" Target="/ppt/slides/slide12.xml" Id="R9bafb521ea8d4a18" /><Relationship Type="http://schemas.openxmlformats.org/officeDocument/2006/relationships/slide" Target="/ppt/slides/slide13.xml" Id="R583c7853d2374e38" /><Relationship Type="http://schemas.openxmlformats.org/officeDocument/2006/relationships/slide" Target="/ppt/slides/slide14.xml" Id="Rfa878e4f9746405c" /><Relationship Type="http://schemas.openxmlformats.org/officeDocument/2006/relationships/slide" Target="/ppt/slides/slide15.xml" Id="R54a93c74a49744e1" /><Relationship Type="http://schemas.openxmlformats.org/officeDocument/2006/relationships/slide" Target="/ppt/slides/slide16.xml" Id="R72a21dfe41a6403e" /><Relationship Type="http://schemas.openxmlformats.org/officeDocument/2006/relationships/slide" Target="/ppt/slides/slide17.xml" Id="R781ecb03bf794bd7" /><Relationship Type="http://schemas.openxmlformats.org/officeDocument/2006/relationships/slide" Target="/ppt/slides/slide18.xml" Id="R41a9e3a3b1a84fea" /><Relationship Type="http://schemas.openxmlformats.org/officeDocument/2006/relationships/slide" Target="/ppt/slides/slide19.xml" Id="Rbd927ce643514b3d" /><Relationship Type="http://schemas.openxmlformats.org/officeDocument/2006/relationships/slide" Target="/ppt/slides/slide20.xml" Id="R8545f710abde49cd" /><Relationship Type="http://schemas.openxmlformats.org/officeDocument/2006/relationships/slide" Target="/ppt/slides/slide21.xml" Id="R1a607d173ff24386" /><Relationship Type="http://schemas.openxmlformats.org/officeDocument/2006/relationships/slide" Target="/ppt/slides/slide22.xml" Id="R4a35fc947b6c4ac7" /><Relationship Type="http://schemas.openxmlformats.org/officeDocument/2006/relationships/slide" Target="/ppt/slides/slide23.xml" Id="R70f00ae64f24494d" /><Relationship Type="http://schemas.openxmlformats.org/officeDocument/2006/relationships/slide" Target="/ppt/slides/slide24.xml" Id="R09d909a3f2cf44a0" /><Relationship Type="http://schemas.openxmlformats.org/officeDocument/2006/relationships/slide" Target="/ppt/slides/slide25.xml" Id="Raa408a69a35d4482" /><Relationship Type="http://schemas.openxmlformats.org/officeDocument/2006/relationships/slide" Target="/ppt/slides/slide26.xml" Id="R5f63ad9cb1ed4924" /><Relationship Type="http://schemas.openxmlformats.org/officeDocument/2006/relationships/slide" Target="/ppt/slides/slide27.xml" Id="Rab50e155ff0d41b3" /><Relationship Type="http://schemas.openxmlformats.org/officeDocument/2006/relationships/slide" Target="/ppt/slides/slide28.xml" Id="Rdd2376820f424187" /><Relationship Type="http://schemas.openxmlformats.org/officeDocument/2006/relationships/slide" Target="/ppt/slides/slide29.xml" Id="R2209f40ea87049b9" /><Relationship Type="http://schemas.openxmlformats.org/officeDocument/2006/relationships/slide" Target="/ppt/slides/slide30.xml" Id="Rbb84e9b591ab4d9c" /><Relationship Type="http://schemas.openxmlformats.org/officeDocument/2006/relationships/slide" Target="/ppt/slides/slide31.xml" Id="Rbf3b4e2e9ed447cb" /><Relationship Type="http://schemas.openxmlformats.org/officeDocument/2006/relationships/slide" Target="/ppt/slides/slide32.xml" Id="R70aaa57dda8543ea" /><Relationship Type="http://schemas.openxmlformats.org/officeDocument/2006/relationships/slide" Target="/ppt/slides/slide33.xml" Id="R0802ae53e4ac490c" /><Relationship Type="http://schemas.openxmlformats.org/officeDocument/2006/relationships/slide" Target="/ppt/slides/slide34.xml" Id="Rb91e2f62711b43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f41b0ed31b47b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5d39e7a79fc4099" /><Relationship Type="http://schemas.openxmlformats.org/officeDocument/2006/relationships/notesMaster" Target="/ppt/notesMasters/notesMaster1.xml" Id="R4e206992dacd443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d79952447674e65" /><Relationship Type="http://schemas.openxmlformats.org/officeDocument/2006/relationships/notesMaster" Target="/ppt/notesMasters/notesMaster1.xml" Id="Ra5b6a4f359ab419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3649ddb8b8c479e" /><Relationship Type="http://schemas.openxmlformats.org/officeDocument/2006/relationships/notesMaster" Target="/ppt/notesMasters/notesMaster1.xml" Id="Rb63fb9727f1e4a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b7cd5c5d604bf5" /><Relationship Type="http://schemas.openxmlformats.org/officeDocument/2006/relationships/notesMaster" Target="/ppt/notesMasters/notesMaster1.xml" Id="R9fdd94f177a940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821f734a204121" /><Relationship Type="http://schemas.openxmlformats.org/officeDocument/2006/relationships/notesMaster" Target="/ppt/notesMasters/notesMaster1.xml" Id="R173310505c75468d" /></Relationships>
</file>

<file path=ppt/notesSlides/_rels/notesSlide6.xml.rels>&#65279;<?xml version="1.0" encoding="utf-8"?><Relationships xmlns="http://schemas.openxmlformats.org/package/2006/relationships"><Relationship Type="http://schemas.openxmlformats.org/officeDocument/2006/relationships/slide" Target="/ppt/slides/slide6.xml" Id="Ra9bf89e96cc44027" /><Relationship Type="http://schemas.openxmlformats.org/officeDocument/2006/relationships/notesMaster" Target="/ppt/notesMasters/notesMaster1.xml" Id="R196cb9713fc6441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7e0c6f5d9784099" /><Relationship Type="http://schemas.openxmlformats.org/officeDocument/2006/relationships/notesMaster" Target="/ppt/notesMasters/notesMaster1.xml" Id="R0ff40a098a474c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ce12b759584654" /><Relationship Type="http://schemas.openxmlformats.org/officeDocument/2006/relationships/notesMaster" Target="/ppt/notesMasters/notesMaster1.xml" Id="R8a2476e4c30743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e4cda7c3354cff" /><Relationship Type="http://schemas.openxmlformats.org/officeDocument/2006/relationships/notesMaster" Target="/ppt/notesMasters/notesMaster1.xml" Id="R37e7ae9cfbf9451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377500b11434204" /><Relationship Type="http://schemas.openxmlformats.org/officeDocument/2006/relationships/notesMaster" Target="/ppt/notesMasters/notesMaster1.xml" Id="R425f0b3a821349f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ef4a0005e164de2" /><Relationship Type="http://schemas.openxmlformats.org/officeDocument/2006/relationships/notesMaster" Target="/ppt/notesMasters/notesMaster1.xml" Id="R7e86fd21f75b43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ee4456ae2fc4f51" /><Relationship Type="http://schemas.openxmlformats.org/officeDocument/2006/relationships/notesMaster" Target="/ppt/notesMasters/notesMaster1.xml" Id="Rf362781c621346b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18fe4b31dfc479d" /><Relationship Type="http://schemas.openxmlformats.org/officeDocument/2006/relationships/notesMaster" Target="/ppt/notesMasters/notesMaster1.xml" Id="R9ab6716364374cd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536b1f5f0764d0c" /><Relationship Type="http://schemas.openxmlformats.org/officeDocument/2006/relationships/notesMaster" Target="/ppt/notesMasters/notesMaster1.xml" Id="Rb98d058452e54f3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f3f9e8789484d36" /><Relationship Type="http://schemas.openxmlformats.org/officeDocument/2006/relationships/notesMaster" Target="/ppt/notesMasters/notesMaster1.xml" Id="R26b1a552dfa7410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7e84709b75e42d4" /><Relationship Type="http://schemas.openxmlformats.org/officeDocument/2006/relationships/notesMaster" Target="/ppt/notesMasters/notesMaster1.xml" Id="R9ebd65e3705e4f9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c6262bedef74235" /><Relationship Type="http://schemas.openxmlformats.org/officeDocument/2006/relationships/notesMaster" Target="/ppt/notesMasters/notesMaster1.xml" Id="R6e6434b752dd481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f2d6eb7b9714506" /><Relationship Type="http://schemas.openxmlformats.org/officeDocument/2006/relationships/notesMaster" Target="/ppt/notesMasters/notesMaster1.xml" Id="R94de394c3ced407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6b93b5c7c39480c" /><Relationship Type="http://schemas.openxmlformats.org/officeDocument/2006/relationships/notesMaster" Target="/ppt/notesMasters/notesMaster1.xml" Id="Rf9aa04196d7c4de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f3f195136ab44a3" /><Relationship Type="http://schemas.openxmlformats.org/officeDocument/2006/relationships/notesMaster" Target="/ppt/notesMasters/notesMaster1.xml" Id="R21f1f497e830476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8ec2af86532479b" /><Relationship Type="http://schemas.openxmlformats.org/officeDocument/2006/relationships/notesMaster" Target="/ppt/notesMasters/notesMaster1.xml" Id="R4dcba8e0556f488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45e3c6bde634689" /><Relationship Type="http://schemas.openxmlformats.org/officeDocument/2006/relationships/notesMaster" Target="/ppt/notesMasters/notesMaster1.xml" Id="Rcf09a7b46dcb4c6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eb3838aab0b4837" /><Relationship Type="http://schemas.openxmlformats.org/officeDocument/2006/relationships/notesMaster" Target="/ppt/notesMasters/notesMaster1.xml" Id="R659600dfe1fa4ea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d8c2425eac84c0e" /><Relationship Type="http://schemas.openxmlformats.org/officeDocument/2006/relationships/notesMaster" Target="/ppt/notesMasters/notesMaster1.xml" Id="R90fa7b518ab74ad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693af70d2964349" /><Relationship Type="http://schemas.openxmlformats.org/officeDocument/2006/relationships/notesMaster" Target="/ppt/notesMasters/notesMaster1.xml" Id="R1e5d63e1f6ab4c3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1cf5231d5ff455d" /><Relationship Type="http://schemas.openxmlformats.org/officeDocument/2006/relationships/notesMaster" Target="/ppt/notesMasters/notesMaster1.xml" Id="Reb42f46cbfda4e6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24792ca420740cb" /><Relationship Type="http://schemas.openxmlformats.org/officeDocument/2006/relationships/notesMaster" Target="/ppt/notesMasters/notesMaster1.xml" Id="R30d0ec6eb1a04d3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8f8800686d3456a" /><Relationship Type="http://schemas.openxmlformats.org/officeDocument/2006/relationships/notesMaster" Target="/ppt/notesMasters/notesMaster1.xml" Id="Rcc8f568b891a4de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654d6139a1149a0" /><Relationship Type="http://schemas.openxmlformats.org/officeDocument/2006/relationships/notesMaster" Target="/ppt/notesMasters/notesMaster1.xml" Id="Rd3169e8f91cc40e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2a864ec23004600" /><Relationship Type="http://schemas.openxmlformats.org/officeDocument/2006/relationships/notesMaster" Target="/ppt/notesMasters/notesMaster1.xml" Id="Re59de962737f4ff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81b572decf648fd" /><Relationship Type="http://schemas.openxmlformats.org/officeDocument/2006/relationships/notesMaster" Target="/ppt/notesMasters/notesMaster1.xml" Id="R01dad699232946a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c91a29f44954aed" /><Relationship Type="http://schemas.openxmlformats.org/officeDocument/2006/relationships/notesMaster" Target="/ppt/notesMasters/notesMaster1.xml" Id="Ra18ec2d3ee88407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fd38fdee4b04164" /><Relationship Type="http://schemas.openxmlformats.org/officeDocument/2006/relationships/notesMaster" Target="/ppt/notesMasters/notesMaster1.xml" Id="R91ddf95384464a9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0099aa465254e43" /><Relationship Type="http://schemas.openxmlformats.org/officeDocument/2006/relationships/notesMaster" Target="/ppt/notesMasters/notesMaster1.xml" Id="Rea1efcff0c7249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and explaining a model</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Choosing and explaining a model</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Choosing and explaining a model. Explain why this example is needed before running it.</a:t>
            </a:r>
          </a:p>
          <a:p xmlns:a="http://schemas.openxmlformats.org/drawingml/2006/main">
            <a:r>
              <a:t/>
            </a:r>
          </a:p>
          <a:p xmlns:a="http://schemas.openxmlformats.org/drawingml/2006/main">
            <a:r>
              <a:t>EXPLAIN</a:t>
            </a:r>
          </a:p>
          <a:p xmlns:a="http://schemas.openxmlformats.org/drawingml/2006/main">
            <a:r>
              <a:t>Check model requirements before ranking candidates.</a:t>
            </a:r>
          </a:p>
          <a:p xmlns:a="http://schemas.openxmlformats.org/drawingml/2006/main">
            <a:r>
              <a:t/>
            </a:r>
          </a:p>
          <a:p xmlns:a="http://schemas.openxmlformats.org/drawingml/2006/main">
            <a:r>
              <a:t>Apply the tie-break rule and explain the choice.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Choosing and explaining a model.</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A large grid search, four new model implementations and an adversarial defence are optional practice. They must not crowd out the core decision process.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 already calculate validation errors. Now we combine those errors with a practical constraint and an explicit tie-break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The lowest prediction error may come from a model that is too slow for the stated task. We apply the published constraints before ranking eligible models.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Constraint and Latency.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Constraint and Latency</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Constraint: A condition a candidate must satisfy, such as MAE at most 3 and latency at most 10 ms.</a:t>
            </a:r>
          </a:p>
          <a:p xmlns:a="http://schemas.openxmlformats.org/drawingml/2006/main">
            <a:r>
              <a:t>Latency: Time taken to produce a prediction under stated measurement conditions. Hardware and measurement method matter.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POINT TO THE DEFINITION</a:t>
            </a:r>
          </a:p>
          <a:p xmlns:a="http://schemas.openxmlformats.org/drawingml/2006/main">
            <a:r>
              <a:t>Constraint: A condition a candidate must satisfy, such as MAE at most 3 and latency at most 10 ms.</a:t>
            </a:r>
          </a:p>
          <a:p xmlns:a="http://schemas.openxmlformats.org/drawingml/2006/main">
            <a:r>
              <a:t>Latency: Time taken to produce a prediction under stated measurement conditions. Hardware and measurement method matter.</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Tie-break and Hyperparameter.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Tie-break and Hyperparameter</a:t>
            </a:r>
          </a:p>
          <a:p xmlns:a="http://schemas.openxmlformats.org/drawingml/2006/main">
            <a:r>
              <a:t/>
            </a:r>
          </a:p>
          <a:p xmlns:a="http://schemas.openxmlformats.org/drawingml/2006/main">
            <a:r>
              <a:t>CONNECT</a:t>
            </a:r>
          </a:p>
          <a:p xmlns:a="http://schemas.openxmlformats.org/drawingml/2006/main">
            <a:r>
              <a:t>Build on Constraint and Latency. Explain why this example is needed before running it.</a:t>
            </a:r>
          </a:p>
          <a:p xmlns:a="http://schemas.openxmlformats.org/drawingml/2006/main">
            <a:r>
              <a:t/>
            </a:r>
          </a:p>
          <a:p xmlns:a="http://schemas.openxmlformats.org/drawingml/2006/main">
            <a:r>
              <a:t>EXPLAIN</a:t>
            </a:r>
          </a:p>
          <a:p xmlns:a="http://schemas.openxmlformats.org/drawingml/2006/main">
            <a:r>
              <a:t>Tie-break: A published rule for choosing between candidates that tie on the main criterion.</a:t>
            </a:r>
          </a:p>
          <a:p xmlns:a="http://schemas.openxmlformats.org/drawingml/2006/main">
            <a:r>
              <a:t>Hyperparameter: A setting chosen before fitting, such as tree depth. Tune using validation or cross-validation, not the final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POINT TO THE DEFINITION</a:t>
            </a:r>
          </a:p>
          <a:p xmlns:a="http://schemas.openxmlformats.org/drawingml/2006/main">
            <a:r>
              <a:t>Tie-break: A published rule for choosing between candidates that tie on the main criterion.</a:t>
            </a:r>
          </a:p>
          <a:p xmlns:a="http://schemas.openxmlformats.org/drawingml/2006/main">
            <a:r>
              <a:t>Hyperparameter: A setting chosen before fitting, such as tree depth. Tune using validation or cross-validation, not the final test.</a:t>
            </a:r>
          </a:p>
          <a:p xmlns:a="http://schemas.openxmlformats.org/drawingml/2006/main">
            <a:r>
              <a:t/>
            </a:r>
          </a:p>
          <a:p xmlns:a="http://schemas.openxmlformats.org/drawingml/2006/main">
            <a:r>
              <a:t>NEXT</a:t>
            </a:r>
          </a:p>
          <a:p xmlns:a="http://schemas.openxmlformats.org/drawingml/2006/main">
            <a:r>
              <a:t>Error and practical constraints.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Error and practical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Error and practical constraints</a:t>
            </a:r>
          </a:p>
          <a:p xmlns:a="http://schemas.openxmlformats.org/drawingml/2006/main">
            <a:r>
              <a:t/>
            </a:r>
          </a:p>
          <a:p xmlns:a="http://schemas.openxmlformats.org/drawingml/2006/main">
            <a:r>
              <a:t>CONNECT</a:t>
            </a:r>
          </a:p>
          <a:p xmlns:a="http://schemas.openxmlformats.org/drawingml/2006/main">
            <a:r>
              <a:t>Build on Tie-break and Hyperparameter. Explain why this example is needed before running it.</a:t>
            </a:r>
          </a:p>
          <a:p xmlns:a="http://schemas.openxmlformats.org/drawingml/2006/main">
            <a:r>
              <a:t/>
            </a:r>
          </a:p>
          <a:p xmlns:a="http://schemas.openxmlformats.org/drawingml/2006/main">
            <a:r>
              <a:t>EXPLAIN</a:t>
            </a:r>
          </a:p>
          <a:p xmlns:a="http://schemas.openxmlformats.org/drawingml/2006/main">
            <a:r>
              <a:t>A smaller error can require more computation.</a:t>
            </a:r>
          </a:p>
          <a:p xmlns:a="http://schemas.openxmlformats.org/drawingml/2006/main">
            <a:r>
              <a:t/>
            </a:r>
          </a:p>
          <a:p xmlns:a="http://schemas.openxmlformats.org/drawingml/2006/main">
            <a:r>
              <a:t>A candidate must meet every stated requirement.</a:t>
            </a:r>
          </a:p>
          <a:p xmlns:a="http://schemas.openxmlformats.org/drawingml/2006/main">
            <a:r>
              <a:t/>
            </a:r>
          </a:p>
          <a:p xmlns:a="http://schemas.openxmlformats.org/drawingml/2006/main">
            <a:r>
              <a:t>Compare eligible models on the same validation observations.</a:t>
            </a:r>
          </a:p>
          <a:p xmlns:a="http://schemas.openxmlformats.org/drawingml/2006/main">
            <a:r>
              <a:t/>
            </a:r>
          </a:p>
          <a:p xmlns:a="http://schemas.openxmlformats.org/drawingml/2006/main">
            <a:r>
              <a:t>Follow the published tie-break rule when scores tie.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Error and practical constraints</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A model comparison needs a fair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model comparison needs a fair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comparison needs a fair test</a:t>
            </a:r>
          </a:p>
          <a:p xmlns:a="http://schemas.openxmlformats.org/drawingml/2006/main">
            <a:r>
              <a:t/>
            </a:r>
          </a:p>
          <a:p xmlns:a="http://schemas.openxmlformats.org/drawingml/2006/main">
            <a:r>
              <a:t>CONNECT</a:t>
            </a:r>
          </a:p>
          <a:p xmlns:a="http://schemas.openxmlformats.org/drawingml/2006/main">
            <a:r>
              <a:t>Build on Error and practical constraints. Explain why this example is needed before running it.</a:t>
            </a:r>
          </a:p>
          <a:p xmlns:a="http://schemas.openxmlformats.org/drawingml/2006/main">
            <a:r>
              <a:t/>
            </a:r>
          </a:p>
          <a:p xmlns:a="http://schemas.openxmlformats.org/drawingml/2006/main">
            <a:r>
              <a:t>EXPLAIN</a:t>
            </a:r>
          </a:p>
          <a:p xmlns:a="http://schemas.openxmlformats.org/drawingml/2006/main">
            <a:r>
              <a:t>Use the same validation observations for every candidate.</a:t>
            </a:r>
          </a:p>
          <a:p xmlns:a="http://schemas.openxmlformats.org/drawingml/2006/main">
            <a:r>
              <a:t/>
            </a:r>
          </a:p>
          <a:p xmlns:a="http://schemas.openxmlformats.org/drawingml/2006/main">
            <a:r>
              <a:t>Fit preprocessing on training data only.</a:t>
            </a:r>
          </a:p>
          <a:p xmlns:a="http://schemas.openxmlformats.org/drawingml/2006/main">
            <a:r>
              <a:t/>
            </a:r>
          </a:p>
          <a:p xmlns:a="http://schemas.openxmlformats.org/drawingml/2006/main">
            <a:r>
              <a:t>Choose the error measure and practical requirements before inspecting results.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model comparison needs a fair test</a:t>
            </a:r>
          </a:p>
          <a:p xmlns:a="http://schemas.openxmlformats.org/drawingml/2006/main">
            <a:r>
              <a:t/>
            </a:r>
          </a:p>
          <a:p xmlns:a="http://schemas.openxmlformats.org/drawingml/2006/main">
            <a:r>
              <a:t>CONNECT</a:t>
            </a:r>
          </a:p>
          <a:p xmlns:a="http://schemas.openxmlformats.org/drawingml/2006/main">
            <a:r>
              <a:t>Build on the preceding slide: Error and practical constraints.</a:t>
            </a:r>
          </a:p>
          <a:p xmlns:a="http://schemas.openxmlformats.org/drawingml/2006/main">
            <a:r>
              <a:t/>
            </a:r>
          </a:p>
          <a:p xmlns:a="http://schemas.openxmlformats.org/drawingml/2006/main">
            <a:r>
              <a:t>LECTURER CUE</a:t>
            </a:r>
          </a:p>
          <a:p xmlns:a="http://schemas.openxmlformats.org/drawingml/2006/main">
            <a:r>
              <a:t>A tree asks successive questions. A forest combines many trees. More complexity does not guarantee better validation performance. The task’s tie-break rule remains authoritative.</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Eligibility comes before ranking.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Eligibility comes before ranking.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Eligibility comes before ranking</a:t>
            </a:r>
          </a:p>
          <a:p xmlns:a="http://schemas.openxmlformats.org/drawingml/2006/main">
            <a:r>
              <a:t/>
            </a:r>
          </a:p>
          <a:p xmlns:a="http://schemas.openxmlformats.org/drawingml/2006/main">
            <a:r>
              <a:t>CONNECT</a:t>
            </a:r>
          </a:p>
          <a:p xmlns:a="http://schemas.openxmlformats.org/drawingml/2006/main">
            <a:r>
              <a:t>Build on A model comparison needs a fair test. Explain why this example is needed before running it.</a:t>
            </a:r>
          </a:p>
          <a:p xmlns:a="http://schemas.openxmlformats.org/drawingml/2006/main">
            <a:r>
              <a:t/>
            </a:r>
          </a:p>
          <a:p xmlns:a="http://schemas.openxmlformats.org/drawingml/2006/main">
            <a:r>
              <a:t>EXPLAIN</a:t>
            </a:r>
          </a:p>
          <a:p xmlns:a="http://schemas.openxmlformats.org/drawingml/2006/main">
            <a:r>
              <a:t>First check every stated requirement for each candidate.</a:t>
            </a:r>
          </a:p>
          <a:p xmlns:a="http://schemas.openxmlformats.org/drawingml/2006/main">
            <a:r>
              <a:t/>
            </a:r>
          </a:p>
          <a:p xmlns:a="http://schemas.openxmlformats.org/drawingml/2006/main">
            <a:r>
              <a:t>Reject a candidate that fails even one requirement.</a:t>
            </a:r>
          </a:p>
          <a:p xmlns:a="http://schemas.openxmlformats.org/drawingml/2006/main">
            <a:r>
              <a:t/>
            </a:r>
          </a:p>
          <a:p xmlns:a="http://schemas.openxmlformats.org/drawingml/2006/main">
            <a:r>
              <a:t>Rank the eligible candidates using the published tie-break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Eligibility comes before ranking</a:t>
            </a:r>
          </a:p>
          <a:p xmlns:a="http://schemas.openxmlformats.org/drawingml/2006/main">
            <a:r>
              <a:t/>
            </a:r>
          </a:p>
          <a:p xmlns:a="http://schemas.openxmlformats.org/drawingml/2006/main">
            <a:r>
              <a:t>CONNECT</a:t>
            </a:r>
          </a:p>
          <a:p xmlns:a="http://schemas.openxmlformats.org/drawingml/2006/main">
            <a:r>
              <a:t>Build on the preceding slide: A model comparison needs a fair test.</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A constrained model choice.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constrained model choice.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constrained model choice</a:t>
            </a:r>
          </a:p>
          <a:p xmlns:a="http://schemas.openxmlformats.org/drawingml/2006/main">
            <a:r>
              <a:t/>
            </a:r>
          </a:p>
          <a:p xmlns:a="http://schemas.openxmlformats.org/drawingml/2006/main">
            <a:r>
              <a:t>CONNECT</a:t>
            </a:r>
          </a:p>
          <a:p xmlns:a="http://schemas.openxmlformats.org/drawingml/2006/main">
            <a:r>
              <a:t>Build on Eligibility comes before ranking. Explain why this example is needed before running it.</a:t>
            </a:r>
          </a:p>
          <a:p xmlns:a="http://schemas.openxmlformats.org/drawingml/2006/main">
            <a:r>
              <a:t/>
            </a:r>
          </a:p>
          <a:p xmlns:a="http://schemas.openxmlformats.org/drawingml/2006/main">
            <a:r>
              <a:t>EXPLAIN</a:t>
            </a:r>
          </a:p>
          <a:p xmlns:a="http://schemas.openxmlformats.org/drawingml/2006/main">
            <a:r>
              <a:t>Invented requirements: error at most 3 and time at most 10 ms.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constrained model choice</a:t>
            </a:r>
          </a:p>
          <a:p xmlns:a="http://schemas.openxmlformats.org/drawingml/2006/main">
            <a:r>
              <a:t/>
            </a:r>
          </a:p>
          <a:p xmlns:a="http://schemas.openxmlformats.org/drawingml/2006/main">
            <a:r>
              <a:t>CONNECT</a:t>
            </a:r>
          </a:p>
          <a:p xmlns:a="http://schemas.openxmlformats.org/drawingml/2006/main">
            <a:r>
              <a:t>Build on the preceding slide: Eligibility comes before ranking.</a:t>
            </a:r>
          </a:p>
          <a:p xmlns:a="http://schemas.openxmlformats.org/drawingml/2006/main">
            <a:r>
              <a:t/>
            </a:r>
          </a:p>
          <a:p xmlns:a="http://schemas.openxmlformats.org/drawingml/2006/main">
            <a:r>
              <a:t>LECTURER CUE</a:t>
            </a:r>
          </a:p>
          <a:p xmlns:a="http://schemas.openxmlformats.org/drawingml/2006/main">
            <a:r>
              <a:t>Invented requirements: error at most 3 and time at most 10 ms. Only simple is eligible. No result here is a measured engineering benchmark.</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Candidate records and eligibility.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Candidate records and eligibility</a:t>
            </a:r>
          </a:p>
          <a:p xmlns:a="http://schemas.openxmlformats.org/drawingml/2006/main">
            <a:r>
              <a:t/>
            </a:r>
          </a:p>
          <a:p xmlns:a="http://schemas.openxmlformats.org/drawingml/2006/main">
            <a:r>
              <a:t>CONNECT</a:t>
            </a:r>
          </a:p>
          <a:p xmlns:a="http://schemas.openxmlformats.org/drawingml/2006/main">
            <a:r>
              <a:t>Build on A constrained model choice. Explain why this example is needed before running it.</a:t>
            </a:r>
          </a:p>
          <a:p xmlns:a="http://schemas.openxmlformats.org/drawingml/2006/main">
            <a:r>
              <a:t/>
            </a:r>
          </a:p>
          <a:p xmlns:a="http://schemas.openxmlformats.org/drawingml/2006/main">
            <a:r>
              <a:t>EXPLAIN</a:t>
            </a:r>
          </a:p>
          <a:p xmlns:a="http://schemas.openxmlformats.org/drawingml/2006/main">
            <a:r>
              <a:t>A candidate is one model under consideration. Its dictionary records a name, a validation error and measured run time.</a:t>
            </a:r>
          </a:p>
          <a:p xmlns:a="http://schemas.openxmlformats.org/drawingml/2006/main">
            <a:r>
              <a:t/>
            </a:r>
          </a:p>
          <a:p xmlns:a="http://schemas.openxmlformats.org/drawingml/2006/main">
            <a:r>
              <a:t>An eligible candidate meets every published constraint. Build a list of eligible records first. If the list is empty, use the task’s specified no-candidate result.</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(1/2)</a:t>
            </a:r>
          </a:p>
          <a:p xmlns:a="http://schemas.openxmlformats.org/drawingml/2006/main">
            <a:r>
              <a:t/>
            </a:r>
          </a:p>
          <a:p xmlns:a="http://schemas.openxmlformats.org/drawingml/2006/main">
            <a:r>
              <a:t>CONNECT</a:t>
            </a:r>
          </a:p>
          <a:p xmlns:a="http://schemas.openxmlformats.org/drawingml/2006/main">
            <a:r>
              <a:t>Build on Candidate records and eligibility.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(1/2)</a:t>
            </a:r>
          </a:p>
          <a:p xmlns:a="http://schemas.openxmlformats.org/drawingml/2006/main">
            <a:r>
              <a:t/>
            </a:r>
          </a:p>
          <a:p xmlns:a="http://schemas.openxmlformats.org/drawingml/2006/main">
            <a:r>
              <a:t>CONNECT</a:t>
            </a:r>
          </a:p>
          <a:p xmlns:a="http://schemas.openxmlformats.org/drawingml/2006/main">
            <a:r>
              <a:t>Build on the preceding slide: A constrained model choice.</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append adds one item to the end of a list.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in Python (2/2)</a:t>
            </a:r>
          </a:p>
          <a:p xmlns:a="http://schemas.openxmlformats.org/drawingml/2006/main">
            <a:r>
              <a:t/>
            </a:r>
          </a:p>
          <a:p xmlns:a="http://schemas.openxmlformats.org/drawingml/2006/main">
            <a:r>
              <a:t>CONNECT</a:t>
            </a:r>
          </a:p>
          <a:p xmlns:a="http://schemas.openxmlformats.org/drawingml/2006/main">
            <a:r>
              <a:t>Build on Model selection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(2/2)</a:t>
            </a:r>
          </a:p>
          <a:p xmlns:a="http://schemas.openxmlformats.org/drawingml/2006/main">
            <a:r>
              <a:t/>
            </a:r>
          </a:p>
          <a:p xmlns:a="http://schemas.openxmlformats.org/drawingml/2006/main">
            <a:r>
              <a:t>CONNECT</a:t>
            </a:r>
          </a:p>
          <a:p xmlns:a="http://schemas.openxmlformats.org/drawingml/2006/main">
            <a:r>
              <a:t>Build on the preceding slide: Worked example (1/2).</a:t>
            </a:r>
          </a:p>
          <a:p xmlns:a="http://schemas.openxmlformats.org/drawingml/2006/main">
            <a:r>
              <a:t/>
            </a:r>
          </a:p>
          <a:p xmlns:a="http://schemas.openxmlformats.org/drawingml/2006/main">
            <a:r>
              <a:t>LECTURER CUE</a:t>
            </a:r>
          </a:p>
          <a:p xmlns:a="http://schemas.openxmlformats.org/drawingml/2006/main">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xmlns:a="http://schemas.openxmlformats.org/drawingml/2006/main">
            <a:r>
              <a:t/>
            </a:r>
          </a:p>
          <a:p xmlns:a="http://schemas.openxmlformats.org/drawingml/2006/main">
            <a:r>
              <a:t>Complete practice code:</a:t>
            </a:r>
          </a:p>
          <a:p xmlns:a="http://schemas.openxmlformats.org/drawingml/2006/main">
            <a:r>
              <a:t>candidates = [{"name": "simple", "error": 3, "ms": 2},</a:t>
            </a:r>
          </a:p>
          <a:p xmlns:a="http://schemas.openxmlformats.org/drawingml/2006/main">
            <a:r>
              <a:t>              {"name": "complex", "error": 1, "ms": 20}]</a:t>
            </a:r>
          </a:p>
          <a:p xmlns:a="http://schemas.openxmlformats.org/drawingml/2006/main">
            <a:r>
              <a:t>eligible = []</a:t>
            </a:r>
          </a:p>
          <a:p xmlns:a="http://schemas.openxmlformats.org/drawingml/2006/main">
            <a:r>
              <a:t>for item in candidates:</a:t>
            </a:r>
          </a:p>
          <a:p xmlns:a="http://schemas.openxmlformats.org/drawingml/2006/main">
            <a:r>
              <a:t>    if item["error"] &lt;= 3 and item["ms"] &lt;= 10:</a:t>
            </a:r>
          </a:p>
          <a:p xmlns:a="http://schemas.openxmlformats.org/drawingml/2006/main">
            <a:r>
              <a:t>        eligible.append(item)</a:t>
            </a:r>
          </a:p>
          <a:p xmlns:a="http://schemas.openxmlformats.org/drawingml/2006/main">
            <a:r>
              <a:t>print([item["name"] for item in eligible])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selection results</a:t>
            </a:r>
          </a:p>
          <a:p xmlns:a="http://schemas.openxmlformats.org/drawingml/2006/main">
            <a:r>
              <a:t/>
            </a:r>
          </a:p>
          <a:p xmlns:a="http://schemas.openxmlformats.org/drawingml/2006/main">
            <a:r>
              <a:t>CONNECT</a:t>
            </a:r>
          </a:p>
          <a:p xmlns:a="http://schemas.openxmlformats.org/drawingml/2006/main">
            <a:r>
              <a:t>Build on Model selection in Python (2/2). Explain why this example is needed before running it.</a:t>
            </a:r>
          </a:p>
          <a:p xmlns:a="http://schemas.openxmlformats.org/drawingml/2006/main">
            <a:r>
              <a:t/>
            </a:r>
          </a:p>
          <a:p xmlns:a="http://schemas.openxmlformats.org/drawingml/2006/main">
            <a:r>
              <a:t>EXPLAIN</a:t>
            </a:r>
          </a:p>
          <a:p xmlns:a="http://schemas.openxmlformats.org/drawingml/2006/main">
            <a:r>
              <a:t>['simple']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(2/2).</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A tuple supplies an ordered ranking key.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tuple supplies an ordered ranking 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tuple supplies an ordered ranking key</a:t>
            </a:r>
          </a:p>
          <a:p xmlns:a="http://schemas.openxmlformats.org/drawingml/2006/main">
            <a:r>
              <a:t/>
            </a:r>
          </a:p>
          <a:p xmlns:a="http://schemas.openxmlformats.org/drawingml/2006/main">
            <a:r>
              <a:t>CONNECT</a:t>
            </a:r>
          </a:p>
          <a:p xmlns:a="http://schemas.openxmlformats.org/drawingml/2006/main">
            <a:r>
              <a:t>Build on Model selection results. Explain why this example is needed before running it.</a:t>
            </a:r>
          </a:p>
          <a:p xmlns:a="http://schemas.openxmlformats.org/drawingml/2006/main">
            <a:r>
              <a:t/>
            </a:r>
          </a:p>
          <a:p xmlns:a="http://schemas.openxmlformats.org/drawingml/2006/main">
            <a:r>
              <a:t>EXPLAIN</a:t>
            </a:r>
          </a:p>
          <a:p xmlns:a="http://schemas.openxmlformats.org/drawingml/2006/main">
            <a:r>
              <a:t>A tuple holds several values in order, such as (error, time, name).</a:t>
            </a:r>
          </a:p>
          <a:p xmlns:a="http://schemas.openxmlformats.org/drawingml/2006/main">
            <a:r>
              <a:t/>
            </a:r>
          </a:p>
          <a:p xmlns:a="http://schemas.openxmlformats.org/drawingml/2006/main">
            <a:r>
              <a:t>Python compares the first values. A tie moves the comparison to the second.</a:t>
            </a:r>
          </a:p>
          <a:p xmlns:a="http://schemas.openxmlformats.org/drawingml/2006/main">
            <a:r>
              <a:t/>
            </a:r>
          </a:p>
          <a:p xmlns:a="http://schemas.openxmlformats.org/drawingml/2006/main">
            <a:r>
              <a:t>If those also tie, the third value decides.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tuple supplies an ordered ranking key</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Demonstrate dictionary field access and ordered comparisons before asking learners to implement selection. A sorted list key can be a tuple: first metric, then speed, then name.</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Sorting with a tie-break rule.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Sorting with a tie-break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a:t>
            </a:r>
          </a:p>
          <a:p xmlns:a="http://schemas.openxmlformats.org/drawingml/2006/main">
            <a:r>
              <a:t/>
            </a:r>
          </a:p>
          <a:p xmlns:a="http://schemas.openxmlformats.org/drawingml/2006/main">
            <a:r>
              <a:t>CONNECT</a:t>
            </a:r>
          </a:p>
          <a:p xmlns:a="http://schemas.openxmlformats.org/drawingml/2006/main">
            <a:r>
              <a:t>Build on A tuple supplies an ordered ranking key. Explain why this example is needed before running it.</a:t>
            </a:r>
          </a:p>
          <a:p xmlns:a="http://schemas.openxmlformats.org/drawingml/2006/main">
            <a:r>
              <a:t/>
            </a:r>
          </a:p>
          <a:p xmlns:a="http://schemas.openxmlformats.org/drawingml/2006/main">
            <a:r>
              <a:t>EXPLAIN</a:t>
            </a:r>
          </a:p>
          <a:p xmlns:a="http://schemas.openxmlformats.org/drawingml/2006/main">
            <a:r>
              <a:t>A tuple is an ordered group of values.</a:t>
            </a:r>
          </a:p>
          <a:p xmlns:a="http://schemas.openxmlformats.org/drawingml/2006/main">
            <a:r>
              <a:t/>
            </a:r>
          </a:p>
          <a:p xmlns:a="http://schemas.openxmlformats.org/drawingml/2006/main">
            <a:r>
              <a:t>Python compares the first item, then the second when tied, then the third.</a:t>
            </a:r>
          </a:p>
          <a:p xmlns:a="http://schemas.openxmlformats.org/drawingml/2006/main">
            <a:r>
              <a:t/>
            </a:r>
          </a:p>
          <a:p xmlns:a="http://schemas.openxmlformats.org/drawingml/2006/main">
            <a:r>
              <a:t>The key function gives sorted the tuple for each candidate.</a:t>
            </a:r>
          </a:p>
          <a:p xmlns:a="http://schemas.openxmlformats.org/drawingml/2006/main">
            <a:r>
              <a:t/>
            </a:r>
          </a:p>
          <a:p xmlns:a="http://schemas.openxmlformats.org/drawingml/2006/main">
            <a:r>
              <a:t>Guard an empty list before selecting position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Sorting with a tie-break rule</a:t>
            </a:r>
          </a:p>
          <a:p xmlns:a="http://schemas.openxmlformats.org/drawingml/2006/main">
            <a:r>
              <a:t/>
            </a:r>
          </a:p>
          <a:p xmlns:a="http://schemas.openxmlformats.org/drawingml/2006/main">
            <a:r>
              <a:t>CONNECT</a:t>
            </a:r>
          </a:p>
          <a:p xmlns:a="http://schemas.openxmlformats.org/drawingml/2006/main">
            <a:r>
              <a:t>Build on the preceding slide: A tuple supplies an ordered ranking key.</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NEXT</a:t>
            </a:r>
          </a:p>
          <a:p xmlns:a="http://schemas.openxmlformats.org/drawingml/2006/main">
            <a:r>
              <a:t>Sorting with a named function.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Sorting with a named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named function</a:t>
            </a:r>
          </a:p>
          <a:p xmlns:a="http://schemas.openxmlformats.org/drawingml/2006/main">
            <a:r>
              <a:t/>
            </a:r>
          </a:p>
          <a:p xmlns:a="http://schemas.openxmlformats.org/drawingml/2006/main">
            <a:r>
              <a:t>CONNECT</a:t>
            </a:r>
          </a:p>
          <a:p xmlns:a="http://schemas.openxmlformats.org/drawingml/2006/main">
            <a:r>
              <a:t>Build on Sorting with a tie-break rule. Explain why this example is needed before running it.</a:t>
            </a:r>
          </a:p>
          <a:p xmlns:a="http://schemas.openxmlformats.org/drawingml/2006/main">
            <a:r>
              <a:t/>
            </a:r>
          </a:p>
          <a:p xmlns:a="http://schemas.openxmlformats.org/drawingml/2006/main">
            <a:r>
              <a:t>EXPLAIN</a:t>
            </a:r>
          </a:p>
          <a:p xmlns:a="http://schemas.openxmlformats.org/drawingml/2006/main">
            <a:r>
              <a:t>Check for an empty list before accessing position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Sorting with a named function</a:t>
            </a:r>
          </a:p>
          <a:p xmlns:a="http://schemas.openxmlformats.org/drawingml/2006/main">
            <a:r>
              <a:t/>
            </a:r>
          </a:p>
          <a:p xmlns:a="http://schemas.openxmlformats.org/drawingml/2006/main">
            <a:r>
              <a:t>CONNECT</a:t>
            </a:r>
          </a:p>
          <a:p xmlns:a="http://schemas.openxmlformats.org/drawingml/2006/main">
            <a:r>
              <a:t>Build on the preceding slide: Sorting with a tie-break rule.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Sorting with a tie-break rule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Sorting with a tie-break rule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Sorting with a tie-break rule in Python</a:t>
            </a:r>
          </a:p>
          <a:p xmlns:a="http://schemas.openxmlformats.org/drawingml/2006/main">
            <a:r>
              <a:t/>
            </a:r>
          </a:p>
          <a:p xmlns:a="http://schemas.openxmlformats.org/drawingml/2006/main">
            <a:r>
              <a:t>CONNECT</a:t>
            </a:r>
          </a:p>
          <a:p xmlns:a="http://schemas.openxmlformats.org/drawingml/2006/main">
            <a:r>
              <a:t>Build on Sorting with a named function.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Sorting with a tie-break rule in Python</a:t>
            </a:r>
          </a:p>
          <a:p xmlns:a="http://schemas.openxmlformats.org/drawingml/2006/main">
            <a:r>
              <a:t/>
            </a:r>
          </a:p>
          <a:p xmlns:a="http://schemas.openxmlformats.org/drawingml/2006/main">
            <a:r>
              <a:t>CONNECT</a:t>
            </a:r>
          </a:p>
          <a:p xmlns:a="http://schemas.openxmlformats.org/drawingml/2006/main">
            <a:r>
              <a:t>Build on the preceding slide: Sorting with a named function.</a:t>
            </a:r>
          </a:p>
          <a:p xmlns:a="http://schemas.openxmlformats.org/drawingml/2006/main">
            <a:r>
              <a:t/>
            </a:r>
          </a:p>
          <a:p xmlns:a="http://schemas.openxmlformats.org/drawingml/2006/main">
            <a:r>
              <a:t>LECTURER CUE</a:t>
            </a:r>
          </a:p>
          <a:p xmlns:a="http://schemas.openxmlformats.org/drawingml/2006/main">
            <a:r>
              <a:t>A tuple is an ordered group of values. Python compares the first item, then the second when tied, then the third. The key function gives sorted the tuple for each candidate. Guard an empty list before selecting position zero.</a:t>
            </a:r>
          </a:p>
          <a:p xmlns:a="http://schemas.openxmlformats.org/drawingml/2006/main">
            <a:r>
              <a:t/>
            </a:r>
          </a:p>
          <a:p xmlns:a="http://schemas.openxmlformats.org/drawingml/2006/main">
            <a:r>
              <a:t>Complete practice code:</a:t>
            </a:r>
          </a:p>
          <a:p xmlns:a="http://schemas.openxmlformats.org/drawingml/2006/main">
            <a:r>
              <a:t>def rank(item):</a:t>
            </a:r>
          </a:p>
          <a:p xmlns:a="http://schemas.openxmlformats.org/drawingml/2006/main">
            <a:r>
              <a:t>    return (item["error"], item["ms"], item["name"])</a:t>
            </a:r>
          </a:p>
          <a:p xmlns:a="http://schemas.openxmlformats.org/drawingml/2006/main">
            <a:r>
              <a:t/>
            </a:r>
          </a:p>
          <a:p xmlns:a="http://schemas.openxmlformats.org/drawingml/2006/main">
            <a:r>
              <a:t>ordered = sorted(eligible, key=rank)</a:t>
            </a:r>
          </a:p>
          <a:p xmlns:a="http://schemas.openxmlformats.org/drawingml/2006/main">
            <a:r>
              <a:t>if len(ordered) == 0:</a:t>
            </a:r>
          </a:p>
          <a:p xmlns:a="http://schemas.openxmlformats.org/drawingml/2006/main">
            <a:r>
              <a:t>    winner = None</a:t>
            </a:r>
          </a:p>
          <a:p xmlns:a="http://schemas.openxmlformats.org/drawingml/2006/main">
            <a:r>
              <a:t>else:</a:t>
            </a:r>
          </a:p>
          <a:p xmlns:a="http://schemas.openxmlformats.org/drawingml/2006/main">
            <a:r>
              <a:t>    winner = ordered[0]["name"]</a:t>
            </a:r>
          </a:p>
          <a:p xmlns:a="http://schemas.openxmlformats.org/drawingml/2006/main">
            <a:r>
              <a:t>print(winner)</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if tests a condition. The chosen indented block runs.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Local explanation and Conditions of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Local explanation and Conditions of use</a:t>
            </a:r>
          </a:p>
          <a:p xmlns:a="http://schemas.openxmlformats.org/drawingml/2006/main">
            <a:r>
              <a:t/>
            </a:r>
          </a:p>
          <a:p xmlns:a="http://schemas.openxmlformats.org/drawingml/2006/main">
            <a:r>
              <a:t>CONNECT</a:t>
            </a:r>
          </a:p>
          <a:p xmlns:a="http://schemas.openxmlformats.org/drawingml/2006/main">
            <a:r>
              <a:t>Build on Sorting with a tie-break rule in Python. Explain why this example is needed before running it.</a:t>
            </a:r>
          </a:p>
          <a:p xmlns:a="http://schemas.openxmlformats.org/drawingml/2006/main">
            <a:r>
              <a:t/>
            </a:r>
          </a:p>
          <a:p xmlns:a="http://schemas.openxmlformats.org/drawingml/2006/main">
            <a:r>
              <a:t>EXPLAIN</a:t>
            </a:r>
          </a:p>
          <a:p xmlns:a="http://schemas.openxmlformats.org/drawingml/2006/main">
            <a:r>
              <a:t>Local explanation: Why a model made one particular prediction. This is different from global importance, which summarises behaviour over many cases.</a:t>
            </a:r>
          </a:p>
          <a:p xmlns:a="http://schemas.openxmlformats.org/drawingml/2006/main">
            <a:r>
              <a:t>Conditions of use: The cases and operating circumstances for which the available evidence supports considering the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Sorting with a tie-break rule in Python.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POINT TO THE DEFINITION</a:t>
            </a:r>
          </a:p>
          <a:p xmlns:a="http://schemas.openxmlformats.org/drawingml/2006/main">
            <a:r>
              <a:t>Local explanation: Why a model made one particular prediction. This is different from global importance, which summarises behaviour over many cases.</a:t>
            </a:r>
          </a:p>
          <a:p xmlns:a="http://schemas.openxmlformats.org/drawingml/2006/main">
            <a:r>
              <a:t>Conditions of use: The cases and operating circumstances for which the available evidence supports considering the model.</a:t>
            </a:r>
          </a:p>
          <a:p xmlns:a="http://schemas.openxmlformats.org/drawingml/2006/main">
            <a:r>
              <a:t/>
            </a:r>
          </a:p>
          <a:p xmlns:a="http://schemas.openxmlformats.org/drawingml/2006/main">
            <a:r>
              <a:t>NEXT</a:t>
            </a:r>
          </a:p>
          <a:p xmlns:a="http://schemas.openxmlformats.org/drawingml/2006/main">
            <a:r>
              <a:t>A recommendation needs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recommendation needs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recommendation needs evidence</a:t>
            </a:r>
          </a:p>
          <a:p xmlns:a="http://schemas.openxmlformats.org/drawingml/2006/main">
            <a:r>
              <a:t/>
            </a:r>
          </a:p>
          <a:p xmlns:a="http://schemas.openxmlformats.org/drawingml/2006/main">
            <a:r>
              <a:t>CONNECT</a:t>
            </a:r>
          </a:p>
          <a:p xmlns:a="http://schemas.openxmlformats.org/drawingml/2006/main">
            <a:r>
              <a:t>Build on Local explanation and Conditions of use. Explain why this example is needed before running it.</a:t>
            </a:r>
          </a:p>
          <a:p xmlns:a="http://schemas.openxmlformats.org/drawingml/2006/main">
            <a:r>
              <a:t/>
            </a:r>
          </a:p>
          <a:p xmlns:a="http://schemas.openxmlformats.org/drawingml/2006/main">
            <a:r>
              <a:t>EXPLAIN</a:t>
            </a:r>
          </a:p>
          <a:p xmlns:a="http://schemas.openxmlformats.org/drawingml/2006/main">
            <a:r>
              <a:t>State the question and the chosen candidate.</a:t>
            </a:r>
          </a:p>
          <a:p xmlns:a="http://schemas.openxmlformats.org/drawingml/2006/main">
            <a:r>
              <a:t/>
            </a:r>
          </a:p>
          <a:p xmlns:a="http://schemas.openxmlformats.org/drawingml/2006/main">
            <a:r>
              <a:t>Give the evaluation result and the constraint it satisfies.</a:t>
            </a:r>
          </a:p>
          <a:p xmlns:a="http://schemas.openxmlformats.org/drawingml/2006/main">
            <a:r>
              <a:t/>
            </a:r>
          </a:p>
          <a:p xmlns:a="http://schemas.openxmlformats.org/drawingml/2006/main">
            <a:r>
              <a:t>State a limitation and the evidence that could change the recommendation.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recommendation needs evidence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Write a short recommendation: question, fair comparison, chosen candidate, reason, limitation and what new evidence could change the choice.</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You are the model selector.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A recommendation needs evidence. Explain why this example is needed before running it.</a:t>
            </a:r>
          </a:p>
          <a:p xmlns:a="http://schemas.openxmlformats.org/drawingml/2006/main">
            <a:r>
              <a:t/>
            </a:r>
          </a:p>
          <a:p xmlns:a="http://schemas.openxmlformats.org/drawingml/2006/main">
            <a:r>
              <a:t>EXPLAIN</a:t>
            </a:r>
          </a:p>
          <a:p xmlns:a="http://schemas.openxmlformats.org/drawingml/2006/main">
            <a:r>
              <a:t>Example: A third model has error 3 and latency 1 ms. Under lowest error then lowest latency, which eligible model wins?</a:t>
            </a:r>
          </a:p>
          <a:p xmlns:a="http://schemas.openxmlformats.org/drawingml/2006/main">
            <a:r>
              <a:t/>
            </a:r>
          </a:p>
          <a:p xmlns:a="http://schemas.openxmlformats.org/drawingml/2006/main">
            <a:r>
              <a:t>Answer: The third model. Both eligible models have error 3, but 1 ms is faster than 2 ms.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The third model. Both eligible models have error 3, but 1 ms is faster than 2 ms.</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The third model. Both eligible models have error 3, but 1 ms is faster than 2 ms.</a:t>
            </a:r>
          </a:p>
          <a:p xmlns:a="http://schemas.openxmlformats.org/drawingml/2006/main">
            <a:r>
              <a:t>Which step produced this result? What changes if one input changes?</a:t>
            </a:r>
          </a:p>
          <a:p xmlns:a="http://schemas.openxmlformats.org/drawingml/2006/main">
            <a:r>
              <a:t>CML3113   Week 12   23</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W12 uses fields name, validation_mae and latency_ms.</a:t>
            </a:r>
          </a:p>
          <a:p xmlns:a="http://schemas.openxmlformats.org/drawingml/2006/main">
            <a:r>
              <a:t/>
            </a:r>
          </a:p>
          <a:p xmlns:a="http://schemas.openxmlformats.org/drawingml/2006/main">
            <a:r>
              <a:t>Meet both inclusive constraints, then rank by error, latency and alphabetical name.</a:t>
            </a:r>
          </a:p>
          <a:p xmlns:a="http://schemas.openxmlformats.org/drawingml/2006/main">
            <a:r>
              <a:t/>
            </a:r>
          </a:p>
          <a:p xmlns:a="http://schemas.openxmlformats.org/drawingml/2006/main">
            <a:r>
              <a:t>Return None if no candidate qualifies.</a:t>
            </a:r>
          </a:p>
          <a:p xmlns:a="http://schemas.openxmlformats.org/drawingml/2006/main">
            <a:r>
              <a:t/>
            </a:r>
          </a:p>
          <a:p xmlns:a="http://schemas.openxmlformats.org/drawingml/2006/main">
            <a:r>
              <a:t>Complete the error function and interpret the separately supplied scenario.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Keep project comparisons and graded interfaces distinct.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Fair comparison and explanation.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Fair comparison and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Compare the same metric on the same validation cases with the same preprocessing rules.</a:t>
            </a:r>
          </a:p>
          <a:p xmlns:a="http://schemas.openxmlformats.org/drawingml/2006/main">
            <a:r>
              <a:t/>
            </a:r>
          </a:p>
          <a:p xmlns:a="http://schemas.openxmlformats.org/drawingml/2006/main">
            <a:r>
              <a:t>A small difference needs context, including variation across splits.</a:t>
            </a:r>
          </a:p>
          <a:p xmlns:a="http://schemas.openxmlformats.org/drawingml/2006/main">
            <a:r>
              <a:t/>
            </a:r>
          </a:p>
          <a:p xmlns:a="http://schemas.openxmlformats.org/drawingml/2006/main">
            <a:r>
              <a:t>Code run out of order can overwrite the variable holding a model; restart and run from the top.</a:t>
            </a:r>
          </a:p>
          <a:p xmlns:a="http://schemas.openxmlformats.org/drawingml/2006/main">
            <a:r>
              <a:t/>
            </a:r>
          </a:p>
          <a:p xmlns:a="http://schemas.openxmlformats.org/drawingml/2006/main">
            <a:r>
              <a:t>A local explanation addresses one prediction; global importance summarises many.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Fair comparison and explanation</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Fair comparison and explanation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Fair comparison and explanation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Fair comparison and explanation continued</a:t>
            </a:r>
          </a:p>
          <a:p xmlns:a="http://schemas.openxmlformats.org/drawingml/2006/main">
            <a:r>
              <a:t/>
            </a:r>
          </a:p>
          <a:p xmlns:a="http://schemas.openxmlformats.org/drawingml/2006/main">
            <a:r>
              <a:t>CONNECT</a:t>
            </a:r>
          </a:p>
          <a:p xmlns:a="http://schemas.openxmlformats.org/drawingml/2006/main">
            <a:r>
              <a:t>Build on Fair comparison and explanation. Explain why this example is needed before running it.</a:t>
            </a:r>
          </a:p>
          <a:p xmlns:a="http://schemas.openxmlformats.org/drawingml/2006/main">
            <a:r>
              <a:t/>
            </a:r>
          </a:p>
          <a:p xmlns:a="http://schemas.openxmlformats.org/drawingml/2006/main">
            <a:r>
              <a:t>EXPLAIN</a:t>
            </a:r>
          </a:p>
          <a:p xmlns:a="http://schemas.openxmlformats.org/drawingml/2006/main">
            <a:r>
              <a:t>A post-hoc explanation of a complex model is not its directly readable internal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Fair comparison and explanation continued</a:t>
            </a:r>
          </a:p>
          <a:p xmlns:a="http://schemas.openxmlformats.org/drawingml/2006/main">
            <a:r>
              <a:t/>
            </a:r>
          </a:p>
          <a:p xmlns:a="http://schemas.openxmlformats.org/drawingml/2006/main">
            <a:r>
              <a:t>CONNECT</a:t>
            </a:r>
          </a:p>
          <a:p xmlns:a="http://schemas.openxmlformats.org/drawingml/2006/main">
            <a:r>
              <a:t>Build on the preceding slide: Fair comparison and explanation.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Fair comparison and explanation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Fair comparison and explanation continued.</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select_model(candidates, max_mae, max_ms).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select_model(candidates, max_mae, max_ms).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select_model(candidates, max_mae, max_ms)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Candidates have name, validation_mae and latency_ms.</a:t>
            </a:r>
          </a:p>
          <a:p xmlns:a="http://schemas.openxmlformats.org/drawingml/2006/main">
            <a:r>
              <a:t/>
            </a:r>
          </a:p>
          <a:p xmlns:a="http://schemas.openxmlformats.org/drawingml/2006/main">
            <a:r>
              <a:t>Keep those meeting both inclusive constraints; select smallest validation_mae, then latency_ms, then name alphabetically.</a:t>
            </a:r>
          </a:p>
          <a:p xmlns:a="http://schemas.openxmlformats.org/drawingml/2006/main">
            <a:r>
              <a:t/>
            </a:r>
          </a:p>
          <a:p xmlns:a="http://schemas.openxmlformats.org/drawingml/2006/main">
            <a:r>
              <a:t>Return the selected name or None.</a:t>
            </a:r>
          </a:p>
          <a:p xmlns:a="http://schemas.openxmlformats.org/drawingml/2006/main">
            <a:r>
              <a:t/>
            </a:r>
          </a:p>
          <a:p xmlns:a="http://schemas.openxmlformats.org/drawingml/2006/main">
            <a:r>
              <a:t>Never use test scores for selection.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select_model(candidates, max_mae, max_ms)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IUEA_Teaching_Plan/assessment_banks/W12/CML3113/A/TASKS.md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regression_errors(actual, predicted).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regression_errors(actual, predicted).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select_model(candidates, max_mae, max_ms). Explain why this example is needed before running it.</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the preceding slide: select_model(candidates, max_mae, max_ms).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IUEA_Teaching_Plan/assessment_banks/W12/CML3113/A/TASKS.md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regression_errors(actual, predicted).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regression_errors(actual, predicted).</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Model recommendation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Model recommendation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Model recommendation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27 Nov 2026, 08:00 Kampala</a:t>
            </a:r>
          </a:p>
          <a:p xmlns:a="http://schemas.openxmlformats.org/drawingml/2006/main">
            <a:r>
              <a:t/>
            </a:r>
          </a:p>
          <a:p xmlns:a="http://schemas.openxmlformats.org/drawingml/2006/main">
            <a:r>
              <a:t>Deadline: 27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Model recommendation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Model recommendation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08:00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Model recommendation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12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12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12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12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open_W12_CML3113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12 quiz. Explain why this example is needed before running it.</a:t>
            </a:r>
          </a:p>
          <a:p xmlns:a="http://schemas.openxmlformats.org/drawingml/2006/main">
            <a:r>
              <a:t/>
            </a:r>
          </a:p>
          <a:p xmlns:a="http://schemas.openxmlformats.org/drawingml/2006/main">
            <a:r>
              <a:t>EXPLAIN</a:t>
            </a:r>
          </a:p>
          <a:p xmlns:a="http://schemas.openxmlformats.org/drawingml/2006/main">
            <a:r>
              <a:t>You can justify a valid candidate with evidence and a stated limitation.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12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7dfe285f8f435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0b80a846ec44e0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91dfb74d7c54f7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d21e1e3a13b45c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5c4dbbb98e6424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c3e37a32c2349d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9B1BF13-AD24-4B1D-8871-ED6464096658}"/>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D0DF18E-A78A-4BED-9D86-9B7DABE2C796}"/>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2A4A41B2-A8C7-49B4-ABD6-3B4E92D145AE}"/>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906F4789-C25C-4265-A392-3DCAD0566C8D}"/>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401E6E94-19A4-46D7-A0E8-827C9E10F3F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E0D10E7-4DB9-4046-AF2F-BBEB33B2FA8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2FD92E8-5DCE-444B-900F-4AE87C520A1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1F0FA109-2775-4AA6-AA55-5D56EE7A82A3}"/>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418721ED-56FE-4E36-9648-B820A3C6DCB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8C58EA6-64C2-4B5E-B27D-FCCFB26D78A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26AF2DD-AD15-4E26-A701-CED712B30CA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DED8ACE2-850E-4D63-B090-F9DA25CC9C71}"/>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899278E-BDFF-4EDD-BEEA-C2BAD5BABD3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7416A04-2673-407D-84EC-021803E4470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802462E-CC35-4D5E-8299-97FCFCBD218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1124d7d7f4363" /><Relationship Type="http://schemas.openxmlformats.org/officeDocument/2006/relationships/slideLayout" Target="/ppt/slideLayouts/slideLayout1.xml" Id="R565ef21f97f34b6b" /><Relationship Type="http://schemas.openxmlformats.org/officeDocument/2006/relationships/slideLayout" Target="/ppt/slideLayouts/slideLayout2.xml" Id="R45510a19ee5c4c2e" /><Relationship Type="http://schemas.openxmlformats.org/officeDocument/2006/relationships/slideLayout" Target="/ppt/slideLayouts/slideLayout3.xml" Id="R314a0753158e4b41" /><Relationship Type="http://schemas.openxmlformats.org/officeDocument/2006/relationships/slideLayout" Target="/ppt/slideLayouts/slideLayout4.xml" Id="Rdddaa10861a048f5" /><Relationship Type="http://schemas.openxmlformats.org/officeDocument/2006/relationships/slideLayout" Target="/ppt/slideLayouts/slideLayout5.xml" Id="R8cc65cc6583e49b3" /><Relationship Type="http://schemas.openxmlformats.org/officeDocument/2006/relationships/slideLayout" Target="/ppt/slideLayouts/slideLayout6.xml" Id="R88925ad44ffa46e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5ef21f97f34b6b"/>
    <p:sldLayoutId xmlns:r="http://schemas.openxmlformats.org/officeDocument/2006/relationships" id="2147483650" r:id="R45510a19ee5c4c2e"/>
    <p:sldLayoutId xmlns:r="http://schemas.openxmlformats.org/officeDocument/2006/relationships" id="2147483651" r:id="R314a0753158e4b41"/>
    <p:sldLayoutId xmlns:r="http://schemas.openxmlformats.org/officeDocument/2006/relationships" id="2147483652" r:id="Rdddaa10861a048f5"/>
    <p:sldLayoutId xmlns:r="http://schemas.openxmlformats.org/officeDocument/2006/relationships" id="2147483653" r:id="R8cc65cc6583e49b3"/>
    <p:sldLayoutId xmlns:r="http://schemas.openxmlformats.org/officeDocument/2006/relationships" id="2147483654" r:id="R88925ad44ffa46e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20b42b457bf4afc" /><Relationship Type="http://schemas.openxmlformats.org/officeDocument/2006/relationships/image" Target="/ppt/media/image.png" Id="R22a3133772994b96" /><Relationship Type="http://schemas.openxmlformats.org/officeDocument/2006/relationships/notesSlide" Target="/ppt/notesSlides/notesSlide1.xml" Id="Rd4fbf805dcfc43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3126fbe76374a65" /><Relationship Type="http://schemas.openxmlformats.org/officeDocument/2006/relationships/notesSlide" Target="/ppt/notesSlides/notesSlide2.xml" Id="R5d5b7136280a4c2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348a441775e4e3b" /><Relationship Type="http://schemas.openxmlformats.org/officeDocument/2006/relationships/notesSlide" Target="/ppt/notesSlides/notesSlide3.xml" Id="Ra1ee19adfac04b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d3007e2b81e4790" /><Relationship Type="http://schemas.openxmlformats.org/officeDocument/2006/relationships/notesSlide" Target="/ppt/notesSlides/notesSlide4.xml" Id="Rfd7ecf01360f49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b9bc3fe370f47d1" /><Relationship Type="http://schemas.openxmlformats.org/officeDocument/2006/relationships/notesSlide" Target="/ppt/notesSlides/notesSlide5.xml" Id="R20deeb6163754e3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3a601133f024a14" /><Relationship Type="http://schemas.openxmlformats.org/officeDocument/2006/relationships/notesSlide" Target="/ppt/notesSlides/notesSlide6.xml" Id="Rcf6df5c98e06445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54cc72cfb134d27" /><Relationship Type="http://schemas.openxmlformats.org/officeDocument/2006/relationships/notesSlide" Target="/ppt/notesSlides/notesSlide7.xml" Id="Ref4d7f9d4e7240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8557401ca5c4e8b" /><Relationship Type="http://schemas.openxmlformats.org/officeDocument/2006/relationships/notesSlide" Target="/ppt/notesSlides/notesSlide8.xml" Id="R36db8be9503a4d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93ae8b415e9423a" /><Relationship Type="http://schemas.openxmlformats.org/officeDocument/2006/relationships/notesSlide" Target="/ppt/notesSlides/notesSlide9.xml" Id="R9d53ed850f7d4b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bcb1c439d754b9e" /><Relationship Type="http://schemas.openxmlformats.org/officeDocument/2006/relationships/notesSlide" Target="/ppt/notesSlides/notesSlide10.xml" Id="R868265ad957c48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6e91ff7d982498f" /><Relationship Type="http://schemas.openxmlformats.org/officeDocument/2006/relationships/notesSlide" Target="/ppt/notesSlides/notesSlide11.xml" Id="R8da0ded55fa84c6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837956bc3c84fd4" /><Relationship Type="http://schemas.openxmlformats.org/officeDocument/2006/relationships/notesSlide" Target="/ppt/notesSlides/notesSlide12.xml" Id="Rd92f577ddfd549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fbb2ca3fece444f" /><Relationship Type="http://schemas.openxmlformats.org/officeDocument/2006/relationships/notesSlide" Target="/ppt/notesSlides/notesSlide13.xml" Id="R0cf2ba5ba9fb4f3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031a953e86b45c1" /><Relationship Type="http://schemas.openxmlformats.org/officeDocument/2006/relationships/notesSlide" Target="/ppt/notesSlides/notesSlide14.xml" Id="Rbed62779c978468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d6d7655b7f14fed" /><Relationship Type="http://schemas.openxmlformats.org/officeDocument/2006/relationships/notesSlide" Target="/ppt/notesSlides/notesSlide15.xml" Id="Rb6c5b758cd5f4a9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1ef2cb9d9924549" /><Relationship Type="http://schemas.openxmlformats.org/officeDocument/2006/relationships/notesSlide" Target="/ppt/notesSlides/notesSlide16.xml" Id="R1a11a78a548549e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84b1f346e524578" /><Relationship Type="http://schemas.openxmlformats.org/officeDocument/2006/relationships/notesSlide" Target="/ppt/notesSlides/notesSlide17.xml" Id="R8c8fe71047014ab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23e36be0d234fa6" /><Relationship Type="http://schemas.openxmlformats.org/officeDocument/2006/relationships/notesSlide" Target="/ppt/notesSlides/notesSlide18.xml" Id="R8c935636a428472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640363593f349a2" /><Relationship Type="http://schemas.openxmlformats.org/officeDocument/2006/relationships/notesSlide" Target="/ppt/notesSlides/notesSlide19.xml" Id="Reea3f576e5ff469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afd24714e2c4205" /><Relationship Type="http://schemas.openxmlformats.org/officeDocument/2006/relationships/notesSlide" Target="/ppt/notesSlides/notesSlide20.xml" Id="Rf92821209dae436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e7e5d747c3b4f14" /><Relationship Type="http://schemas.openxmlformats.org/officeDocument/2006/relationships/notesSlide" Target="/ppt/notesSlides/notesSlide21.xml" Id="R9a47aafeba5e43b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c7cac5612434a1d" /><Relationship Type="http://schemas.openxmlformats.org/officeDocument/2006/relationships/notesSlide" Target="/ppt/notesSlides/notesSlide22.xml" Id="Racd873dfc7d346c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a29f2b4830249fc" /><Relationship Type="http://schemas.openxmlformats.org/officeDocument/2006/relationships/notesSlide" Target="/ppt/notesSlides/notesSlide23.xml" Id="R4a35388e56404ab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19b5aaa1a6a4031" /><Relationship Type="http://schemas.openxmlformats.org/officeDocument/2006/relationships/notesSlide" Target="/ppt/notesSlides/notesSlide24.xml" Id="R3a4658213b42453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10cfe3b98b2468d" /><Relationship Type="http://schemas.openxmlformats.org/officeDocument/2006/relationships/notesSlide" Target="/ppt/notesSlides/notesSlide25.xml" Id="R5b76e065588944b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e62e7c1a57347a6" /><Relationship Type="http://schemas.openxmlformats.org/officeDocument/2006/relationships/notesSlide" Target="/ppt/notesSlides/notesSlide26.xml" Id="Rf38c89aaae09466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913ae2211a74ad1" /><Relationship Type="http://schemas.openxmlformats.org/officeDocument/2006/relationships/notesSlide" Target="/ppt/notesSlides/notesSlide27.xml" Id="Rc9c1f485a316466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bf0be5b516a488b" /><Relationship Type="http://schemas.openxmlformats.org/officeDocument/2006/relationships/notesSlide" Target="/ppt/notesSlides/notesSlide28.xml" Id="R78a2561a416340c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94124ed1f2e4247" /><Relationship Type="http://schemas.openxmlformats.org/officeDocument/2006/relationships/notesSlide" Target="/ppt/notesSlides/notesSlide29.xml" Id="R7f3309e723e8446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df580430e9c4471" /><Relationship Type="http://schemas.openxmlformats.org/officeDocument/2006/relationships/hyperlink" Target="https://docs.google.com/forms/d/e/1FAIpQLSfSPtMfaziLgaLKx4v0Lla4vYcA58pDDv_b_w33OfZsj0aVHA/viewform" TargetMode="External" Id="R731f21c4452c428f" /><Relationship Type="http://schemas.openxmlformats.org/officeDocument/2006/relationships/notesSlide" Target="/ppt/notesSlides/notesSlide30.xml" Id="Ra4065201e0b1484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581ec1942434e6e" /><Relationship Type="http://schemas.openxmlformats.org/officeDocument/2006/relationships/notesSlide" Target="/ppt/notesSlides/notesSlide31.xml" Id="R35971afd4eaa4d3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756412b54ba4b38" /><Relationship Type="http://schemas.openxmlformats.org/officeDocument/2006/relationships/image" Target="/ppt/media/image2.png" Id="R8487d8eebb7f4b18" /><Relationship Type="http://schemas.openxmlformats.org/officeDocument/2006/relationships/hyperlink" Target="https://forms.gle/XFcLpe6ugzvnoL3s6" TargetMode="External" Id="R842d14f9b7544308" /><Relationship Type="http://schemas.openxmlformats.org/officeDocument/2006/relationships/notesSlide" Target="/ppt/notesSlides/notesSlide32.xml" Id="Rb3979a0d270c4b1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0f6e458f9f54537" /><Relationship Type="http://schemas.openxmlformats.org/officeDocument/2006/relationships/notesSlide" Target="/ppt/notesSlides/notesSlide33.xml" Id="R28e9c4fd91be441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0b95336b85c421d" /><Relationship Type="http://schemas.openxmlformats.org/officeDocument/2006/relationships/hyperlink" Target="https://www.youtube.com/watch?v=fSytzGwwBVw" TargetMode="External" Id="Rcd770b61b1c34799" /><Relationship Type="http://schemas.openxmlformats.org/officeDocument/2006/relationships/notesSlide" Target="/ppt/notesSlides/notesSlide34.xml" Id="R6a7f43b1f44f485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2a3133772994b9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822651D-4E95-4DEC-B952-DEBF5A74B39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781608A-3FC7-4095-8C25-943F2FA0258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12</a:t>
            </a:r>
          </a:p>
        </p:txBody>
      </p:sp>
      <p:sp>
        <p:nvSpPr>
          <p:cNvPr id="4" name="">
            <a:extLst xmlns:a="http://schemas.openxmlformats.org/drawingml/2006/main">
              <a:ext uri="{FF2B5EF4-FFF2-40B4-BE49-F238E27FC236}">
                <a16:creationId xmlns:a16="http://schemas.microsoft.com/office/drawing/2014/main" id="{887C5B86-2AEB-47B3-8327-93B79D7A473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5D50CD23-4644-456A-9AAB-D1532222B53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6A61E323-65AE-47D8-8263-2C14555573CA}"/>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579916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210F1FD-7E2D-4B00-88F2-22E597FCAE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1FD3BF-A96E-44B5-A314-C98189DD9C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523D28C-2830-4C43-A7D6-BFD51732CD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9971E2B-93A9-4E2F-B573-747639E2472D}"/>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D86DDD-AE43-4BB0-A0F6-B5BDA3B364D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14B2EA2-8529-4C8F-8B62-627C85AFAF00}"/>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B2B91FC9-8311-425D-BFC0-0B11AD3ABBD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C16F077-9D41-4ADB-9333-61971FFFB0F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2DFB38D1-3EED-4FF3-8F79-D12E65EE43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a:t>
            </a:r>
          </a:p>
        </p:txBody>
      </p:sp>
    </p:spTree>
    <p:extLst>
      <p:ext uri="{BB962C8B-B14F-4D97-AF65-F5344CB8AC3E}">
        <p14:creationId xmlns:p14="http://schemas.microsoft.com/office/powerpoint/2010/main" val="5919351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EC3AC1-D7C0-46D4-9E45-9987928AA9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05DCF3-178D-47E4-AA19-D769C79510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DC9A0A-C27D-4D25-BE7B-B7A3E2755A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E6A90C8-C003-4BD1-B602-5AFDFEB56F7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321B54-3F93-42A0-B5B4-AA0A8C65AC0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calculate validation errors.</a:t>
            </a:r>
          </a:p>
        </p:txBody>
      </p:sp>
      <p:sp>
        <p:nvSpPr>
          <p:cNvPr id="6" name="">
            <a:extLst xmlns:a="http://schemas.openxmlformats.org/drawingml/2006/main">
              <a:ext uri="{FF2B5EF4-FFF2-40B4-BE49-F238E27FC236}">
                <a16:creationId xmlns:a16="http://schemas.microsoft.com/office/drawing/2014/main" id="{298333AF-BFB4-4FD7-8F11-01E6BDE7511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combine those errors with a practical constraint and an explicit tie-break rule.</a:t>
            </a:r>
          </a:p>
        </p:txBody>
      </p:sp>
      <p:sp>
        <p:nvSpPr>
          <p:cNvPr id="7" name="">
            <a:extLst xmlns:a="http://schemas.openxmlformats.org/drawingml/2006/main">
              <a:ext uri="{FF2B5EF4-FFF2-40B4-BE49-F238E27FC236}">
                <a16:creationId xmlns:a16="http://schemas.microsoft.com/office/drawing/2014/main" id="{8AC369E9-C4D0-4C8C-9EC6-9887ED5703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a:t>
            </a:r>
          </a:p>
        </p:txBody>
      </p:sp>
    </p:spTree>
    <p:extLst>
      <p:ext uri="{BB962C8B-B14F-4D97-AF65-F5344CB8AC3E}">
        <p14:creationId xmlns:p14="http://schemas.microsoft.com/office/powerpoint/2010/main" val="108425561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8938C5-AEF7-4583-9404-14CDD91D43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2818F3-CDF1-41EB-914A-7C4E280BEB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5F9EFC-E0AB-4785-BC16-3055846637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A65A1BCA-3DB1-473E-8FB0-C5C4F2109E6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7DA947-489A-4D40-8D4A-2EFB6B59C3C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lowest prediction error may come from a model that is too slow for the stated task.</a:t>
            </a:r>
          </a:p>
        </p:txBody>
      </p:sp>
      <p:sp>
        <p:nvSpPr>
          <p:cNvPr id="6" name="">
            <a:extLst xmlns:a="http://schemas.openxmlformats.org/drawingml/2006/main">
              <a:ext uri="{FF2B5EF4-FFF2-40B4-BE49-F238E27FC236}">
                <a16:creationId xmlns:a16="http://schemas.microsoft.com/office/drawing/2014/main" id="{160E075F-546E-4238-AB43-34FBB277496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apply the published constraints before ranking eligible models.</a:t>
            </a:r>
          </a:p>
        </p:txBody>
      </p:sp>
      <p:sp>
        <p:nvSpPr>
          <p:cNvPr id="7" name="">
            <a:extLst xmlns:a="http://schemas.openxmlformats.org/drawingml/2006/main">
              <a:ext uri="{FF2B5EF4-FFF2-40B4-BE49-F238E27FC236}">
                <a16:creationId xmlns:a16="http://schemas.microsoft.com/office/drawing/2014/main" id="{50931B18-FE93-4419-84BA-2A67652BA8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a:t>
            </a:r>
          </a:p>
        </p:txBody>
      </p:sp>
    </p:spTree>
    <p:extLst>
      <p:ext uri="{BB962C8B-B14F-4D97-AF65-F5344CB8AC3E}">
        <p14:creationId xmlns:p14="http://schemas.microsoft.com/office/powerpoint/2010/main" val="13313457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ECB611-2379-4987-AAD4-CEDC1E89D7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3C78AB-C404-423C-BA63-D8303667B8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0C077A-B9AD-4B09-8814-527B3B844D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 and Latency</a:t>
            </a:r>
          </a:p>
        </p:txBody>
      </p:sp>
      <p:sp>
        <p:nvSpPr>
          <p:cNvPr id="4" name="">
            <a:extLst xmlns:a="http://schemas.openxmlformats.org/drawingml/2006/main">
              <a:ext uri="{FF2B5EF4-FFF2-40B4-BE49-F238E27FC236}">
                <a16:creationId xmlns:a16="http://schemas.microsoft.com/office/drawing/2014/main" id="{E94884E4-38BD-4B4F-9542-11AC68EE367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F159EB-BC68-4768-8B21-06583BBDFE5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48B08AB0-D3CD-441D-ABC5-1B72C607996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26AD0A75-74C9-4247-AA91-4CCF913DE80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69A0EC7-543C-4DBD-8E97-B8E577CB782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C6F52F97-3034-40B5-9BFF-603120A32A5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026A61C5-66CC-46B1-8B93-72E3DEB426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5</a:t>
            </a:r>
          </a:p>
        </p:txBody>
      </p:sp>
    </p:spTree>
    <p:extLst>
      <p:ext uri="{BB962C8B-B14F-4D97-AF65-F5344CB8AC3E}">
        <p14:creationId xmlns:p14="http://schemas.microsoft.com/office/powerpoint/2010/main" val="6488955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9B565C-D706-4064-B851-6CADBD81B1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F7E54A-2327-4B50-8CB0-8E37C8C5FA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021EA20-B38C-42A1-9E4A-90C0B143E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Tie-break and Hyperparameter</a:t>
            </a:r>
          </a:p>
        </p:txBody>
      </p:sp>
      <p:sp>
        <p:nvSpPr>
          <p:cNvPr id="4" name="">
            <a:extLst xmlns:a="http://schemas.openxmlformats.org/drawingml/2006/main">
              <a:ext uri="{FF2B5EF4-FFF2-40B4-BE49-F238E27FC236}">
                <a16:creationId xmlns:a16="http://schemas.microsoft.com/office/drawing/2014/main" id="{FA068C52-1FA1-4722-82EC-5B9B035AA61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F90C9B-995A-48B7-86E3-2F9E3A6679F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1D54234A-5152-4D8B-BCF4-A24207AB4D9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F28EDA14-1AC4-414B-A6E6-86295AE2CFA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A6B58D2-6E2B-4760-AF2A-1689FCF0BA8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FB15F3B9-9601-4FC6-9DAC-362E99DF1D3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50E6B521-AE62-4B81-8962-8821E483AE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6</a:t>
            </a:r>
          </a:p>
        </p:txBody>
      </p:sp>
    </p:spTree>
    <p:extLst>
      <p:ext uri="{BB962C8B-B14F-4D97-AF65-F5344CB8AC3E}">
        <p14:creationId xmlns:p14="http://schemas.microsoft.com/office/powerpoint/2010/main" val="60400245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251ABF4-4852-4F70-8ECB-19325130C2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79A949-A692-476F-A96A-DAC37E8FC1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89198B-D5EA-431C-BD0C-4ED64CD901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F55030C7-A14F-4C64-9839-88C01F0993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2EB99B-BAA8-4269-B7A7-61CC1222977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468294AD-F9F8-4D79-B408-5D6A59FEBC6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D85AFA4-8DD2-46EF-99B1-4C04A152C80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84202CAC-4A18-4126-83F3-4FF828B3454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8ABCA3-1262-4E1A-B144-B9F621F9824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E5558145-912A-46CD-B187-6E4F3202BC9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E26A08-239B-45A9-93DE-14BADCFAD0B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600E1766-DA7A-4882-9E27-5DCC6CA5CF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7</a:t>
            </a:r>
          </a:p>
        </p:txBody>
      </p:sp>
    </p:spTree>
    <p:extLst>
      <p:ext uri="{BB962C8B-B14F-4D97-AF65-F5344CB8AC3E}">
        <p14:creationId xmlns:p14="http://schemas.microsoft.com/office/powerpoint/2010/main" val="171773485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407D90-ADAD-42AD-ACE3-CEA4944444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FC600E-A3DD-4EBF-A336-A2DDBD3F7C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2A7E97-FC61-48EA-926B-E8367A7789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42841862-F3B1-4BA8-A3C5-BB3E19BA6D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B38316-4A23-4067-A3EE-F5C7A4B48C6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91F61FD3-4CD1-4D63-824A-EE6F2AFED63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678102-431D-4C4A-B304-57BFE3468D6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A08E9EA1-A721-4C67-8430-4B882F2BFCA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464904-C119-452D-9917-30559A94561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F4335584-3C5C-4AD7-9CE6-480E139DE4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8</a:t>
            </a:r>
          </a:p>
        </p:txBody>
      </p:sp>
    </p:spTree>
    <p:extLst>
      <p:ext uri="{BB962C8B-B14F-4D97-AF65-F5344CB8AC3E}">
        <p14:creationId xmlns:p14="http://schemas.microsoft.com/office/powerpoint/2010/main" val="187041237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8995B8-7A54-455E-A48D-88E214D761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58405C-FFEA-49E0-BC9F-D90C69027D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721A3E-3207-489E-B8B1-19577CFD6D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477DC799-9FE4-481F-89A3-39063AF685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F07EB8-903D-4F63-A019-95896755A09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887929EC-8DBA-4BEF-A991-479E695D9C3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C8B519-42A1-48C1-9829-215201C4EFE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318AC974-68AE-4F32-8F6E-18C335F517A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117605-E097-4F8B-A774-9D8C2D465BF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A24A07D4-D8C5-4450-A1FA-1696FE5D30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9</a:t>
            </a:r>
          </a:p>
        </p:txBody>
      </p:sp>
    </p:spTree>
    <p:extLst>
      <p:ext uri="{BB962C8B-B14F-4D97-AF65-F5344CB8AC3E}">
        <p14:creationId xmlns:p14="http://schemas.microsoft.com/office/powerpoint/2010/main" val="195180645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9724AF-0B16-4401-8F07-DE55E6D7D1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74B9F2-5DC3-4EA6-B8AB-B1F59AECE5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8DC6F0A-37F1-4256-A4B6-D7E8F222D2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D6FEEDC-AF7E-4FAA-A8EE-89C5725554C2}"/>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C5F24DFB-A904-4B14-9693-E2ADBAFC5D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10</a:t>
            </a:r>
          </a:p>
        </p:txBody>
      </p:sp>
    </p:spTree>
    <p:extLst>
      <p:ext uri="{BB962C8B-B14F-4D97-AF65-F5344CB8AC3E}">
        <p14:creationId xmlns:p14="http://schemas.microsoft.com/office/powerpoint/2010/main" val="122808899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131D40-828D-4E0D-A7A6-90D1F66184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5B69D2-CBAA-4363-8A8C-F66D263D46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CB4019-B44E-4766-85EA-5A17E627D3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records and eligibility</a:t>
            </a:r>
          </a:p>
        </p:txBody>
      </p:sp>
      <p:sp>
        <p:nvSpPr>
          <p:cNvPr id="4" name="">
            <a:extLst xmlns:a="http://schemas.openxmlformats.org/drawingml/2006/main">
              <a:ext uri="{FF2B5EF4-FFF2-40B4-BE49-F238E27FC236}">
                <a16:creationId xmlns:a16="http://schemas.microsoft.com/office/drawing/2014/main" id="{0932CB11-7DC0-45A0-BA36-BF4C3163A57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3ABE0C-08F3-4062-AD18-FA084C1E550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487919-8734-4636-A556-DFA7D709D2A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candidate is one model under consideration. Its dictionary records a name, a validation error and measured run time.</a:t>
            </a:r>
          </a:p>
        </p:txBody>
      </p:sp>
      <p:sp>
        <p:nvSpPr>
          <p:cNvPr id="7" name="">
            <a:extLst xmlns:a="http://schemas.openxmlformats.org/drawingml/2006/main">
              <a:ext uri="{FF2B5EF4-FFF2-40B4-BE49-F238E27FC236}">
                <a16:creationId xmlns:a16="http://schemas.microsoft.com/office/drawing/2014/main" id="{6C416749-81F5-4294-BBC5-D1A99864725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eligible candidate meets every published constraint. Build a list of eligible records first. If the list is empty, use the task’s specified no-candidate result.</a:t>
            </a:r>
          </a:p>
        </p:txBody>
      </p:sp>
      <p:sp>
        <p:nvSpPr>
          <p:cNvPr id="8" name="">
            <a:extLst xmlns:a="http://schemas.openxmlformats.org/drawingml/2006/main">
              <a:ext uri="{FF2B5EF4-FFF2-40B4-BE49-F238E27FC236}">
                <a16:creationId xmlns:a16="http://schemas.microsoft.com/office/drawing/2014/main" id="{514FFBB4-834E-4F11-A697-C02F6D89EB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11</a:t>
            </a:r>
          </a:p>
        </p:txBody>
      </p:sp>
    </p:spTree>
    <p:extLst>
      <p:ext uri="{BB962C8B-B14F-4D97-AF65-F5344CB8AC3E}">
        <p14:creationId xmlns:p14="http://schemas.microsoft.com/office/powerpoint/2010/main" val="157308998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7EA8B0-1A71-47F5-8132-7A732B619D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DAF789-B1A5-4FE8-8A90-136DBBC1B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C893014-9616-41AC-858F-A9091BDFEB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(1/2)</a:t>
            </a:r>
          </a:p>
        </p:txBody>
      </p:sp>
      <p:sp>
        <p:nvSpPr>
          <p:cNvPr id="4" name="">
            <a:extLst xmlns:a="http://schemas.openxmlformats.org/drawingml/2006/main">
              <a:ext uri="{FF2B5EF4-FFF2-40B4-BE49-F238E27FC236}">
                <a16:creationId xmlns:a16="http://schemas.microsoft.com/office/drawing/2014/main" id="{B1F7A513-2109-450D-9BFD-616389E58AF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854E63-6785-42B5-AC09-59F7A03187D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87D967ED-549B-4B74-A0E8-6C2BD1912CB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7E0F72D4-BE3D-4303-93B3-8315D52E641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DA9300F9-E3F5-45F7-9A2C-8E418DDFDB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12</a:t>
            </a:r>
          </a:p>
        </p:txBody>
      </p:sp>
    </p:spTree>
    <p:extLst>
      <p:ext uri="{BB962C8B-B14F-4D97-AF65-F5344CB8AC3E}">
        <p14:creationId xmlns:p14="http://schemas.microsoft.com/office/powerpoint/2010/main" val="53779082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7040A0F-1CA0-40CD-B1B8-33CDD4B8C6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A514C2-BA23-4968-8F66-C98F6BBDFC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220EC9-E895-4EB6-9F44-E3B58AC799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in Python (2/2)</a:t>
            </a:r>
          </a:p>
        </p:txBody>
      </p:sp>
      <p:sp>
        <p:nvSpPr>
          <p:cNvPr id="4" name="">
            <a:extLst xmlns:a="http://schemas.openxmlformats.org/drawingml/2006/main">
              <a:ext uri="{FF2B5EF4-FFF2-40B4-BE49-F238E27FC236}">
                <a16:creationId xmlns:a16="http://schemas.microsoft.com/office/drawing/2014/main" id="{1952DFC2-F0F1-4AB4-954F-4A282033E77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DB7449-EEEE-4F30-B6D3-3A709213E21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2C585091-9D34-45A4-BFBE-34883896632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A20CD27-33AE-47ED-8402-D7681E65FCF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37F9E95-8442-4740-8FAB-CD8888ECBD9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54C5E11C-1BFE-4DA4-8874-A6F7DC27A6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13</a:t>
            </a:r>
          </a:p>
        </p:txBody>
      </p:sp>
    </p:spTree>
    <p:extLst>
      <p:ext uri="{BB962C8B-B14F-4D97-AF65-F5344CB8AC3E}">
        <p14:creationId xmlns:p14="http://schemas.microsoft.com/office/powerpoint/2010/main" val="60451934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1CE771A-9407-4143-873C-35906CDA8F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F8BC16-F662-43C6-8C5D-84276F4183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F053D49C-B8D4-4B35-91CB-54C3F77107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selection results</a:t>
            </a:r>
          </a:p>
        </p:txBody>
      </p:sp>
      <p:sp>
        <p:nvSpPr>
          <p:cNvPr id="4" name="">
            <a:extLst xmlns:a="http://schemas.openxmlformats.org/drawingml/2006/main">
              <a:ext uri="{FF2B5EF4-FFF2-40B4-BE49-F238E27FC236}">
                <a16:creationId xmlns:a16="http://schemas.microsoft.com/office/drawing/2014/main" id="{E02FA355-27F8-40F0-8AA1-006A1EB2746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A5C460-E278-42E5-BACE-4576DB49D1C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E320E1F0-2968-4655-A732-E39D9FB1DA8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EE9F7A5-2051-4ACB-A518-0152E31811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14</a:t>
            </a:r>
          </a:p>
        </p:txBody>
      </p:sp>
    </p:spTree>
    <p:extLst>
      <p:ext uri="{BB962C8B-B14F-4D97-AF65-F5344CB8AC3E}">
        <p14:creationId xmlns:p14="http://schemas.microsoft.com/office/powerpoint/2010/main" val="29655300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633F41-1B0C-46A6-8B84-773C6FDE27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092894-7DB0-42E0-B29B-53A978FDAA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D7B529-FEC5-42A3-B3BB-F693FE966D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DA2B2DEA-5085-433B-B75D-3B77B65F61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7674C1-7A4B-48E8-9779-CBAFC18E177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8BFC2071-821B-4603-9445-80E5D64A4C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817E63-E915-44C0-AB61-A097FFE356D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02ABCF49-C354-4942-99FD-8D4F715413E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909055-DB91-42AE-B892-EA58805481A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24C96577-7C7F-4BDE-9CD4-F87430191F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15</a:t>
            </a:r>
          </a:p>
        </p:txBody>
      </p:sp>
    </p:spTree>
    <p:extLst>
      <p:ext uri="{BB962C8B-B14F-4D97-AF65-F5344CB8AC3E}">
        <p14:creationId xmlns:p14="http://schemas.microsoft.com/office/powerpoint/2010/main" val="19312306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CB0C7E-EDF4-47D9-8F30-4562CD1D08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E4C572-3075-421D-8FEA-92F72572B7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623B260-902B-46B5-9CAD-1D104A9C03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EE8D0DF2-16B7-4867-9914-CF01524431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91D275-872E-47A8-AA97-2F8CD1CB23F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8CE373C3-A8A1-4988-9DC8-7383EB46DC2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C40670-17C7-4F8E-A968-2ABC23CD027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515E75BB-F86E-4B4E-B07E-36A25BADA34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E53625-F4A1-4DDE-A377-0524AEA23E1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DA466991-454A-4B2C-94EE-8F09C3EDBCE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522801-9ABE-43A4-8475-0FB23DA4531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ABCC3FCE-8FC1-427E-8C6F-BBCBAFCD76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16</a:t>
            </a:r>
          </a:p>
        </p:txBody>
      </p:sp>
    </p:spTree>
    <p:extLst>
      <p:ext uri="{BB962C8B-B14F-4D97-AF65-F5344CB8AC3E}">
        <p14:creationId xmlns:p14="http://schemas.microsoft.com/office/powerpoint/2010/main" val="45979800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14D1A3-B95A-4607-AE2B-2B5E07FB21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D044A5-9401-4A55-A79A-39D339C58E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F5226A2-63A0-4F00-8C47-639D142631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1DB102C-8663-46E7-99AC-05A96C39A02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9F8727CE-B307-45F7-BC85-4F083C53C2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17</a:t>
            </a:r>
          </a:p>
        </p:txBody>
      </p:sp>
    </p:spTree>
    <p:extLst>
      <p:ext uri="{BB962C8B-B14F-4D97-AF65-F5344CB8AC3E}">
        <p14:creationId xmlns:p14="http://schemas.microsoft.com/office/powerpoint/2010/main" val="113989794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7318EB-767F-47FE-8D07-1D2BEC5E48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579FFB-AC39-4121-98AA-80F4CC118E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1D48987-5F4E-4989-ADCC-BE217518BC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5A1085CA-0E50-4401-A32E-CD763AFF8DB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CDDB6B-C849-4400-97FC-FCA8BAA7080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366E8723-B86B-4E30-A046-478C6AF934F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41715561-99DF-4F9E-9461-3612BFCF50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12F6150-F807-4FA4-87BF-D538C8019A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18</a:t>
            </a:r>
          </a:p>
        </p:txBody>
      </p:sp>
    </p:spTree>
    <p:extLst>
      <p:ext uri="{BB962C8B-B14F-4D97-AF65-F5344CB8AC3E}">
        <p14:creationId xmlns:p14="http://schemas.microsoft.com/office/powerpoint/2010/main" val="56335768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47F9F9-6683-48CD-9D3B-C94376AAAA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6B4938-7CAB-4866-A56B-2A1DB0FF4E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88C43B4-FB11-4BE1-85D0-349A04448C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Local explanation and Conditions of use</a:t>
            </a:r>
          </a:p>
        </p:txBody>
      </p:sp>
      <p:sp>
        <p:nvSpPr>
          <p:cNvPr id="4" name="">
            <a:extLst xmlns:a="http://schemas.openxmlformats.org/drawingml/2006/main">
              <a:ext uri="{FF2B5EF4-FFF2-40B4-BE49-F238E27FC236}">
                <a16:creationId xmlns:a16="http://schemas.microsoft.com/office/drawing/2014/main" id="{0E34B4F3-73FB-4E51-8D5A-0BFC83CC291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6C31DF-D854-4381-AD90-66DA9DBE1D3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3E78F4C4-74B8-4C51-8FE1-3C9B9C055EC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5D5F2316-F604-425B-B74A-AC678AEC745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C484071-237B-4AFB-992C-7D70C610984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67ABABC6-D6D3-497F-9507-C6E8A9F14E2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08E89F77-6022-4FFB-AE5E-63E142EC47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19</a:t>
            </a:r>
          </a:p>
        </p:txBody>
      </p:sp>
    </p:spTree>
    <p:extLst>
      <p:ext uri="{BB962C8B-B14F-4D97-AF65-F5344CB8AC3E}">
        <p14:creationId xmlns:p14="http://schemas.microsoft.com/office/powerpoint/2010/main" val="63664167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E36F1C-55E8-4CA6-9939-CD23264D46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5EF7A3-CFF5-46DF-88E2-A18321DC90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02D575A-A4F9-41A9-816E-B81B7EF97F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E1058310-4BEE-44F1-B151-1FBF9C8A2A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17B80AC-4E06-436C-A4BB-F73DD571A41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74B48F0C-C1F1-4916-B7AE-6923FA3763A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945AA0-90B7-49C4-8AF7-BCB9811E394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D8ED7FBA-9D5D-4C16-ABDB-2F12151C11F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59F717-C546-475E-915B-F64DC14BA20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10BFEAE4-FC4E-4EEC-AE88-6E642C450C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20</a:t>
            </a:r>
          </a:p>
        </p:txBody>
      </p:sp>
    </p:spTree>
    <p:extLst>
      <p:ext uri="{BB962C8B-B14F-4D97-AF65-F5344CB8AC3E}">
        <p14:creationId xmlns:p14="http://schemas.microsoft.com/office/powerpoint/2010/main" val="160050808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5C350C-E943-47B3-B7F9-1D6AFBC4BC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4E9DD6-F11F-4562-9469-9797F6E155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65F2FF-A094-44F8-8EC2-E0944DD89D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5D6B3AF5-B626-4D47-920B-148E578CC02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66EC75-3388-46BD-8F7C-24B4A9E49AC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7ECEBD6-3C3E-41FD-A742-6749D6C5649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third model has error 3 and latency 1 ms. Under lowest error then lowest latency, which eligible model wins?</a:t>
            </a:r>
          </a:p>
        </p:txBody>
      </p:sp>
      <p:sp>
        <p:nvSpPr>
          <p:cNvPr id="7" name="">
            <a:extLst xmlns:a="http://schemas.openxmlformats.org/drawingml/2006/main">
              <a:ext uri="{FF2B5EF4-FFF2-40B4-BE49-F238E27FC236}">
                <a16:creationId xmlns:a16="http://schemas.microsoft.com/office/drawing/2014/main" id="{AF96AC9D-A983-403B-A640-C870AD8356C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The third model. Both eligible models have error 3, but 1 ms is faster than 2 ms.</a:t>
            </a:r>
          </a:p>
        </p:txBody>
      </p:sp>
      <p:sp>
        <p:nvSpPr>
          <p:cNvPr id="8" name="">
            <a:extLst xmlns:a="http://schemas.openxmlformats.org/drawingml/2006/main">
              <a:ext uri="{FF2B5EF4-FFF2-40B4-BE49-F238E27FC236}">
                <a16:creationId xmlns:a16="http://schemas.microsoft.com/office/drawing/2014/main" id="{0AEBAAFD-01CB-4279-A160-15D16E924E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21</a:t>
            </a:r>
          </a:p>
        </p:txBody>
      </p:sp>
    </p:spTree>
    <p:extLst>
      <p:ext uri="{BB962C8B-B14F-4D97-AF65-F5344CB8AC3E}">
        <p14:creationId xmlns:p14="http://schemas.microsoft.com/office/powerpoint/2010/main" val="35950460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B2ECDF3-7974-4A44-AABA-CA157F999C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6FCE8C-98F8-49BE-93D6-E97F46F137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32AC3D-F50E-4307-95A0-88DF4CDBCA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B00ECDC-7B44-4F84-8125-A2151750C5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876990-EEC7-41C8-8A3C-8FA01832834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C87D4B30-6AC3-43EB-9643-9A84845C1F3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16C9B2-02FC-4FEE-9993-165995FC1D6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CEA6B69C-C6FB-4961-963D-88623975B13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045B46-AB9D-48C7-B2D3-B04BD52BC1E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C4949F64-0F3D-4753-AE65-22E18FADB5F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B80673C-3BEB-4AEB-8F0A-838DF037F83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A7D560E6-464D-4090-81E1-F9A42EF654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22</a:t>
            </a:r>
          </a:p>
        </p:txBody>
      </p:sp>
    </p:spTree>
    <p:extLst>
      <p:ext uri="{BB962C8B-B14F-4D97-AF65-F5344CB8AC3E}">
        <p14:creationId xmlns:p14="http://schemas.microsoft.com/office/powerpoint/2010/main" val="170461705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7A01F9-8566-40FB-AE1A-C196F1BAA1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5C1F91-83DB-445E-96C8-BC357DD7FE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1DCD275-5F64-4923-8C67-3A5D673B08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A663B4CF-F1C9-41E6-BD54-A991776CDA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A62FC0-BBD0-46CA-936E-D884A087EED7}"/>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53FBE565-62B6-4280-9955-881BC7109E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23</a:t>
            </a:r>
          </a:p>
        </p:txBody>
      </p:sp>
    </p:spTree>
    <p:extLst>
      <p:ext uri="{BB962C8B-B14F-4D97-AF65-F5344CB8AC3E}">
        <p14:creationId xmlns:p14="http://schemas.microsoft.com/office/powerpoint/2010/main" val="121069963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C2BCC6-1744-4FDA-A425-348B8AE133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7D8FFA-B14F-423B-8DF1-DD338A08FC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6BFF63-A74E-481B-BEDC-8C53E1BEB6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A4B4613A-FC9A-4F0E-B2FB-DE65DCE458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03BF38-53FA-40E8-B716-21EC582CEFA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3C405527-2E33-4DDC-8505-1D8AA7855CF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0181B1-8ACF-4C04-A180-691AD4E275B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AF8B6AE6-9A7D-489A-ABA8-02105DE17FC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BE1608-5D01-4368-A960-552CD72CBCE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126DC111-0E03-40AD-8207-CA293A297BA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4D8E91-BA0C-42B4-BF75-B0911198198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14A0B8E8-CAB2-458A-B8FB-035D17E24A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24</a:t>
            </a:r>
          </a:p>
        </p:txBody>
      </p:sp>
    </p:spTree>
    <p:extLst>
      <p:ext uri="{BB962C8B-B14F-4D97-AF65-F5344CB8AC3E}">
        <p14:creationId xmlns:p14="http://schemas.microsoft.com/office/powerpoint/2010/main" val="140455116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8B1464-810E-4B89-8678-DD9B6BCED1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0377A4-5C4E-40E5-A1B2-D967EF10C3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7614F3-5392-45F7-B333-303A866229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4CDA6478-42BB-49F6-A6DE-929F4176288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4EDE02-4F49-4A23-82F3-704B26C1AB6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57BA730A-7D60-424F-9967-C7D4D54583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25</a:t>
            </a:r>
          </a:p>
        </p:txBody>
      </p:sp>
    </p:spTree>
    <p:extLst>
      <p:ext uri="{BB962C8B-B14F-4D97-AF65-F5344CB8AC3E}">
        <p14:creationId xmlns:p14="http://schemas.microsoft.com/office/powerpoint/2010/main" val="118814021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493C4C-A7D8-4FC3-81DB-A7E4087300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99004C-F288-4F1D-A630-78651A9768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F97FEEC-1F07-4392-9864-618763339C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3C8FF928-600F-4E45-B3E3-51134F3BA2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F74967B-F2E2-4C70-9D3E-71264DED949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A041A2BF-7E58-41A8-9C00-F4FDB400480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7C8F24-19DF-4A48-817F-06960FEFD7E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F452C3BE-2603-4B39-990A-B64CE4905FB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10EC06-D6A3-4CD1-885C-726B5F6526C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5EBF3102-BF1C-4612-9FAF-CA83166D72D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678BA4C-5B0C-4801-A4C1-CC649C46FF4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52702A88-B992-43B3-B679-E92B44179C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26</a:t>
            </a:r>
          </a:p>
        </p:txBody>
      </p:sp>
    </p:spTree>
    <p:extLst>
      <p:ext uri="{BB962C8B-B14F-4D97-AF65-F5344CB8AC3E}">
        <p14:creationId xmlns:p14="http://schemas.microsoft.com/office/powerpoint/2010/main" val="134849370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DD550B-6711-42BD-948E-460F98E6DB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AC5C58-B034-43FB-A481-B97503901B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D22D432-56DF-4A51-9BA9-E18911DE86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2D082156-208E-4B8F-8BD9-FD11C13025D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419D04-7EC3-4B87-9FA3-AAE66AFF8A9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D228B973-83D5-4D4B-8A63-7024BAD6719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BC7F9DF-27F3-4649-89D6-989550CE9E1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33A34A5-C9E8-4AA5-A3CA-411A19569E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27</a:t>
            </a:r>
          </a:p>
        </p:txBody>
      </p:sp>
    </p:spTree>
    <p:extLst>
      <p:ext uri="{BB962C8B-B14F-4D97-AF65-F5344CB8AC3E}">
        <p14:creationId xmlns:p14="http://schemas.microsoft.com/office/powerpoint/2010/main" val="214368379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5AA95F-F000-488B-942E-52454B9E6A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BB363B-6FA9-4C8B-92DC-F66A974300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4FA6034-622E-4B6C-BE09-C6B7E49A58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643D104B-4E79-418C-97C0-35C4EAFEA50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263364-0BB9-43BB-8127-9E122796FA5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8218FCF3-CF1C-43BD-AC23-24AA131E182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512C179-8CF2-4B56-8C59-EC6AEC77422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73DAD71-CB43-4911-A523-9FD8E5DBE4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28</a:t>
            </a:r>
          </a:p>
        </p:txBody>
      </p:sp>
    </p:spTree>
    <p:extLst>
      <p:ext uri="{BB962C8B-B14F-4D97-AF65-F5344CB8AC3E}">
        <p14:creationId xmlns:p14="http://schemas.microsoft.com/office/powerpoint/2010/main" val="130394873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14D19B-44AC-428A-BDCF-F977DBC445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AD837A-B8DC-470D-BDB4-18D8FB1833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B08F66B-0182-4B39-85DA-06CC6F1DD5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B4BE4E5E-3DF3-423D-8B5B-9F567FC34C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E901242-60DE-4522-8F58-F4B78C7BF9B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2496F8E5-45EE-475A-8521-4C748998B78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CA0CA1-FA50-47FF-9DEF-6DD59D99C55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5ABE8F7-14A5-4655-8E5D-9C98D82D57F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31EB53-2A5E-4D2F-9244-BF8209D9278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AAE5D697-10A1-4B5F-BD9E-BEF0AE321E0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ACC87D7-6B54-49FE-A3CA-E5FEA08AD67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73908104-C8F2-4453-B333-F7534F273E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29</a:t>
            </a:r>
          </a:p>
        </p:txBody>
      </p:sp>
    </p:spTree>
    <p:extLst>
      <p:ext uri="{BB962C8B-B14F-4D97-AF65-F5344CB8AC3E}">
        <p14:creationId xmlns:p14="http://schemas.microsoft.com/office/powerpoint/2010/main" val="135097107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0A02BF8-C20D-4E93-8ED1-66A126D131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75F6B7-989A-43DB-8FB0-437CFBA32D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E42F739-D451-4B77-80DE-3685E2555A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E3386D85-50A4-4AA4-8AF4-040316FABEF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B561C7-77C9-4FC3-B37C-466786B8F77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1E0CB72E-843B-4246-A2D5-9B02706891C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DAC34F-2E80-41B0-B89B-25A49ADC715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FD654827-88F0-4A53-8E8D-597A8168CE9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0156469-CE70-45B3-87E8-BA2FF169BA0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41514AF-73BA-4923-A14C-58443BE7D82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8DE9297-C4C9-4EA8-A2A9-1BB627C9B90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7524A47-C8F7-4472-9031-C9839F4A00B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D8A2701-B204-4BA7-93F3-8E6F0829C52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31f21c4452c428f"/>
              </a:rPr>
              <a:t>Open W12 assignment form</a:t>
            </a:r>
          </a:p>
        </p:txBody>
      </p:sp>
      <p:sp>
        <p:nvSpPr>
          <p:cNvPr id="14" name="">
            <a:extLst xmlns:a="http://schemas.openxmlformats.org/drawingml/2006/main">
              <a:ext uri="{FF2B5EF4-FFF2-40B4-BE49-F238E27FC236}">
                <a16:creationId xmlns:a16="http://schemas.microsoft.com/office/drawing/2014/main" id="{60EC98EF-ED52-4F95-891C-FA205F70D58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https://docs.google.com/forms/d/e/1FAIpQLSfSPtMfaziLgaLKx4v0Lla4vYcA58pDDv_b_w33OfZsj0aVHA/viewform</a:t>
            </a:r>
          </a:p>
        </p:txBody>
      </p:sp>
      <p:sp>
        <p:nvSpPr>
          <p:cNvPr id="15" name="">
            <a:extLst xmlns:a="http://schemas.openxmlformats.org/drawingml/2006/main">
              <a:ext uri="{FF2B5EF4-FFF2-40B4-BE49-F238E27FC236}">
                <a16:creationId xmlns:a16="http://schemas.microsoft.com/office/drawing/2014/main" id="{B76348C6-4187-4719-9CDC-855828C856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30</a:t>
            </a:r>
          </a:p>
        </p:txBody>
      </p:sp>
    </p:spTree>
    <p:extLst>
      <p:ext uri="{BB962C8B-B14F-4D97-AF65-F5344CB8AC3E}">
        <p14:creationId xmlns:p14="http://schemas.microsoft.com/office/powerpoint/2010/main" val="91936648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3E276FE-2928-44BE-B471-2701D2089B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AD16AC-4DF7-44B3-8B34-6E0E65C7FF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78B0A07-6724-4E03-BAAF-A11CA8523E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32230B6A-61DB-42E3-B024-A457E7B7ED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3B80CAF-622A-4FCC-B91C-5BD81F8E559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774F898-33BF-4B58-84D7-7B093EDF73A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32F8C08-D239-45DE-8D7F-C8D14F07185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DB1C08DC-1484-42D6-B6D4-D05C5991CA8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F7CDB0-E3F8-4607-A5CC-3EA0B6E5DF1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12CEC27A-B1AB-4F76-AB9E-00E267790E9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2A0C0A5-8714-41A6-99FC-691DAEE3A49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BAE133B7-D788-4C6D-BDFE-F2424D0173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31</a:t>
            </a:r>
          </a:p>
        </p:txBody>
      </p:sp>
    </p:spTree>
    <p:extLst>
      <p:ext uri="{BB962C8B-B14F-4D97-AF65-F5344CB8AC3E}">
        <p14:creationId xmlns:p14="http://schemas.microsoft.com/office/powerpoint/2010/main" val="128772846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E2F9FCB-1798-448C-AF1C-1F52EE1C6C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E54BAA-F719-4C5F-BA34-956CE87252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7F5B7514-62A1-412B-BDF9-40CD8068CA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28C2D328-F09E-4337-969B-A85824FCDE8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37E0D0-1A78-4E22-97D6-1AD1C98D5D4E}"/>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83276EC3-0A76-4750-BF90-DE769B4DF26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A93E94-6AA5-45D0-975E-74239FF1BF3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02881DDD-687C-4845-93DE-B52BBC2CC00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2CB430-6155-40F2-B4AA-782668C55435}"/>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19B050B-92DC-400A-8306-5031BC9A0F4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861BD00-F4EA-4285-B647-60305D7FDC12}"/>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487d8eebb7f4b1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B8C6682-560E-4FEC-AC3C-954ECE4DE220}"/>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1209FEF-BDC5-4287-B731-1189421C852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26CFF09-C122-47E9-87D2-3D297C4B873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42d14f9b7544308"/>
              </a:rPr>
              <a:t>Open this week’s quiz</a:t>
            </a:r>
          </a:p>
        </p:txBody>
      </p:sp>
      <p:sp>
        <p:nvSpPr>
          <p:cNvPr id="16" name="">
            <a:extLst xmlns:a="http://schemas.openxmlformats.org/drawingml/2006/main">
              <a:ext uri="{FF2B5EF4-FFF2-40B4-BE49-F238E27FC236}">
                <a16:creationId xmlns:a16="http://schemas.microsoft.com/office/drawing/2014/main" id="{FB2F710D-D74E-4849-8BF5-072119568D2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https://forms.gle/XFcLpe6ugzvnoL3s6</a:t>
            </a:r>
          </a:p>
        </p:txBody>
      </p:sp>
      <p:sp>
        <p:nvSpPr>
          <p:cNvPr id="17" name="">
            <a:extLst xmlns:a="http://schemas.openxmlformats.org/drawingml/2006/main">
              <a:ext uri="{FF2B5EF4-FFF2-40B4-BE49-F238E27FC236}">
                <a16:creationId xmlns:a16="http://schemas.microsoft.com/office/drawing/2014/main" id="{B3E42C1F-2DF0-4588-A97E-DDBDD9F9D6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32</a:t>
            </a:r>
          </a:p>
        </p:txBody>
      </p:sp>
    </p:spTree>
    <p:extLst>
      <p:ext uri="{BB962C8B-B14F-4D97-AF65-F5344CB8AC3E}">
        <p14:creationId xmlns:p14="http://schemas.microsoft.com/office/powerpoint/2010/main" val="1381369424"/>
      </p:ext>
    </p:extLst>
  </p:cSld>
</p:sld>
</file>

<file path=ppt/slides/slide3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CB50B71-5D57-4349-A4A0-EA7A1A222A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825F9FE-BDAE-4FD2-8AAE-DABC1AB057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C4F6D75-003E-4D93-A890-6EF2C02567C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8884274-AAC2-4258-821F-C6206762C79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0ADF96EB-9DA2-44D9-B20D-D8BC76C6495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5BBED8D-2611-40B6-8665-545EB8580F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33</a:t>
            </a:r>
          </a:p>
        </p:txBody>
      </p:sp>
    </p:spTree>
    <p:extLst>
      <p:ext uri="{BB962C8B-B14F-4D97-AF65-F5344CB8AC3E}">
        <p14:creationId xmlns:p14="http://schemas.microsoft.com/office/powerpoint/2010/main" val="144406644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EE1E1A5-C3F4-4CDF-9040-F3C173CC83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2232AD-9419-4DF0-966D-64137B0F8D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966EB67-5C8F-4A8D-9DBD-D0727965B6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6DFD936A-A8EE-49C1-B3C0-6FF0C01E70D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FBCAC4-8094-4501-B4A4-2AF8E82E31A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6B4930F-E324-4FAB-8BE1-D937B882BCA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66AD90-C21F-4878-B684-1D4EAA9BFED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BA62D94E-C9CF-4E73-BAB0-06C69647CD8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048ECAC-8E1A-4928-878F-1C6DAB424AB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D860B2AB-0D05-4010-8C5E-53DEBB58630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55BE0C3-4497-444F-8F12-6556DEFDD83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7F024D33-7708-4118-8682-4845D8050B6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E628F19-0D19-4973-B713-B06EE29FBF0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d770b61b1c34799"/>
              </a:rPr>
              <a:t>Open explainer video</a:t>
            </a:r>
          </a:p>
        </p:txBody>
      </p:sp>
      <p:sp>
        <p:nvSpPr>
          <p:cNvPr id="14" name="">
            <a:extLst xmlns:a="http://schemas.openxmlformats.org/drawingml/2006/main">
              <a:ext uri="{FF2B5EF4-FFF2-40B4-BE49-F238E27FC236}">
                <a16:creationId xmlns:a16="http://schemas.microsoft.com/office/drawing/2014/main" id="{23594BBA-6955-4D2F-A8B9-E3910EFB254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47B6AEEC-C696-4594-A7AE-47076CB552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34</a:t>
            </a:r>
          </a:p>
        </p:txBody>
      </p:sp>
    </p:spTree>
    <p:extLst>
      <p:ext uri="{BB962C8B-B14F-4D97-AF65-F5344CB8AC3E}">
        <p14:creationId xmlns:p14="http://schemas.microsoft.com/office/powerpoint/2010/main" val="10144620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2026-09-28T21:15:29.5200000Z</dcterms:created>
  <dcterms:modified xsi:type="dcterms:W3CDTF">2026-09-28T21:15:29.5200000Z</dcterms:modified>
</coreProperties>
</file>