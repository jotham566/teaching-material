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3f50417dd92c489b" /><Relationship Type="http://schemas.openxmlformats.org/officeDocument/2006/relationships/extended-properties" Target="/docProps/app.xml" Id="Rcbc330f8daab46fa" /><Relationship Type="http://schemas.openxmlformats.org/officeDocument/2006/relationships/officeDocument" Target="/ppt/presentation.xml" Id="R9778c2c59fba4158" /></Relationships>
</file>

<file path=ppt/presentation.xml><?xml version="1.0" encoding="utf-8"?>
<p:presentation xmlns:p="http://schemas.openxmlformats.org/presentationml/2006/main">
  <p:sldMasterIdLst>
    <p:sldMasterId xmlns:r="http://schemas.openxmlformats.org/officeDocument/2006/relationships" id="2147483648" r:id="R08de77d81485410a"/>
  </p:sldMasterIdLst>
  <p:notesMasterIdLst>
    <p:notesMasterId xmlns:r="http://schemas.openxmlformats.org/officeDocument/2006/relationships" r:id="Rf44cbe5188b64aac"/>
  </p:notesMasterIdLst>
  <p:sldIdLst>
    <p:sldId xmlns:r="http://schemas.openxmlformats.org/officeDocument/2006/relationships" id="256" r:id="R8b2c1e472e0e43b8"/>
    <p:sldId xmlns:r="http://schemas.openxmlformats.org/officeDocument/2006/relationships" id="257" r:id="Rc089f433cd90488b"/>
    <p:sldId xmlns:r="http://schemas.openxmlformats.org/officeDocument/2006/relationships" id="258" r:id="R462b2ab01cdf4418"/>
    <p:sldId xmlns:r="http://schemas.openxmlformats.org/officeDocument/2006/relationships" id="259" r:id="Rc23d1cf022e0423b"/>
    <p:sldId xmlns:r="http://schemas.openxmlformats.org/officeDocument/2006/relationships" id="260" r:id="R1899196fdb2c42f4"/>
    <p:sldId xmlns:r="http://schemas.openxmlformats.org/officeDocument/2006/relationships" id="261" r:id="R297f6bf01d134fa7"/>
    <p:sldId xmlns:r="http://schemas.openxmlformats.org/officeDocument/2006/relationships" id="262" r:id="R807f81857c1b41a5"/>
    <p:sldId xmlns:r="http://schemas.openxmlformats.org/officeDocument/2006/relationships" id="263" r:id="R8b5b7128cb0c410b"/>
    <p:sldId xmlns:r="http://schemas.openxmlformats.org/officeDocument/2006/relationships" id="264" r:id="Redf7b5ad9b1f47ee"/>
    <p:sldId xmlns:r="http://schemas.openxmlformats.org/officeDocument/2006/relationships" id="265" r:id="Rddc8b38d90bb49d3"/>
    <p:sldId xmlns:r="http://schemas.openxmlformats.org/officeDocument/2006/relationships" id="266" r:id="Rbe68b1c6b03c4962"/>
    <p:sldId xmlns:r="http://schemas.openxmlformats.org/officeDocument/2006/relationships" id="267" r:id="R097f3d6dcaf74a5e"/>
    <p:sldId xmlns:r="http://schemas.openxmlformats.org/officeDocument/2006/relationships" id="268" r:id="R326e817ab3d64535"/>
    <p:sldId xmlns:r="http://schemas.openxmlformats.org/officeDocument/2006/relationships" id="269" r:id="R2247fb5c3a0d42f8"/>
    <p:sldId xmlns:r="http://schemas.openxmlformats.org/officeDocument/2006/relationships" id="270" r:id="R2af28d2bf5eb4a5b"/>
    <p:sldId xmlns:r="http://schemas.openxmlformats.org/officeDocument/2006/relationships" id="271" r:id="R9735ca9473a242b7"/>
    <p:sldId xmlns:r="http://schemas.openxmlformats.org/officeDocument/2006/relationships" id="272" r:id="R5b20a54089fb4a3e"/>
    <p:sldId xmlns:r="http://schemas.openxmlformats.org/officeDocument/2006/relationships" id="273" r:id="R26cb2137e4f24aad"/>
    <p:sldId xmlns:r="http://schemas.openxmlformats.org/officeDocument/2006/relationships" id="274" r:id="R616ccb3555624b7d"/>
    <p:sldId xmlns:r="http://schemas.openxmlformats.org/officeDocument/2006/relationships" id="275" r:id="R027793f69c454aef"/>
    <p:sldId xmlns:r="http://schemas.openxmlformats.org/officeDocument/2006/relationships" id="276" r:id="R2cbdb5cc0b5d4084"/>
    <p:sldId xmlns:r="http://schemas.openxmlformats.org/officeDocument/2006/relationships" id="277" r:id="R2e22b73adc1642d1"/>
    <p:sldId xmlns:r="http://schemas.openxmlformats.org/officeDocument/2006/relationships" id="278" r:id="R57a65aaf99b1438e"/>
    <p:sldId xmlns:r="http://schemas.openxmlformats.org/officeDocument/2006/relationships" id="279" r:id="R7235314f522949e0"/>
    <p:sldId xmlns:r="http://schemas.openxmlformats.org/officeDocument/2006/relationships" id="280" r:id="R07a0597e84664c95"/>
    <p:sldId xmlns:r="http://schemas.openxmlformats.org/officeDocument/2006/relationships" id="281" r:id="R379d315872d54d46"/>
    <p:sldId xmlns:r="http://schemas.openxmlformats.org/officeDocument/2006/relationships" id="282" r:id="Ra530524ba6484ce5"/>
    <p:sldId xmlns:r="http://schemas.openxmlformats.org/officeDocument/2006/relationships" id="283" r:id="R041ae05581eb49d5"/>
    <p:sldId xmlns:r="http://schemas.openxmlformats.org/officeDocument/2006/relationships" id="284" r:id="Rd5e798e0fbb44c24"/>
    <p:sldId xmlns:r="http://schemas.openxmlformats.org/officeDocument/2006/relationships" id="285" r:id="Re6d5321ab3d84694"/>
    <p:sldId xmlns:r="http://schemas.openxmlformats.org/officeDocument/2006/relationships" id="286" r:id="Rf5197add76784b1d"/>
    <p:sldId xmlns:r="http://schemas.openxmlformats.org/officeDocument/2006/relationships" id="287" r:id="R89f2a1870dac413e"/>
    <p:sldId xmlns:r="http://schemas.openxmlformats.org/officeDocument/2006/relationships" id="288" r:id="R47d7d8d54ce542a0"/>
    <p:sldId xmlns:r="http://schemas.openxmlformats.org/officeDocument/2006/relationships" id="289" r:id="R0060b4043e3241b3"/>
    <p:sldId xmlns:r="http://schemas.openxmlformats.org/officeDocument/2006/relationships" id="290" r:id="R9971848949ab4796"/>
    <p:sldId xmlns:r="http://schemas.openxmlformats.org/officeDocument/2006/relationships" id="291" r:id="Rc7631a22f0f0488b"/>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d43c64a990e94240" /><Relationship Type="http://schemas.openxmlformats.org/officeDocument/2006/relationships/slideMaster" Target="/ppt/slideMasters/slideMaster1.xml" Id="R08de77d81485410a" /><Relationship Type="http://schemas.openxmlformats.org/officeDocument/2006/relationships/notesMaster" Target="/ppt/notesMasters/notesMaster1.xml" Id="Rf44cbe5188b64aac" /><Relationship Type="http://schemas.openxmlformats.org/officeDocument/2006/relationships/presProps" Target="/ppt/presProps.xml" Id="R455b17f312084115" /><Relationship Type="http://schemas.openxmlformats.org/officeDocument/2006/relationships/tableStyles" Target="/ppt/tableStyles.xml" Id="R8c1f5d0f2b10439c" /><Relationship Type="http://schemas.openxmlformats.org/officeDocument/2006/relationships/slide" Target="/ppt/slides/slide1.xml" Id="R8b2c1e472e0e43b8" /><Relationship Type="http://schemas.openxmlformats.org/officeDocument/2006/relationships/slide" Target="/ppt/slides/slide2.xml" Id="Rc089f433cd90488b" /><Relationship Type="http://schemas.openxmlformats.org/officeDocument/2006/relationships/slide" Target="/ppt/slides/slide3.xml" Id="R462b2ab01cdf4418" /><Relationship Type="http://schemas.openxmlformats.org/officeDocument/2006/relationships/slide" Target="/ppt/slides/slide4.xml" Id="Rc23d1cf022e0423b" /><Relationship Type="http://schemas.openxmlformats.org/officeDocument/2006/relationships/slide" Target="/ppt/slides/slide5.xml" Id="R1899196fdb2c42f4" /><Relationship Type="http://schemas.openxmlformats.org/officeDocument/2006/relationships/slide" Target="/ppt/slides/slide6.xml" Id="R297f6bf01d134fa7" /><Relationship Type="http://schemas.openxmlformats.org/officeDocument/2006/relationships/slide" Target="/ppt/slides/slide7.xml" Id="R807f81857c1b41a5" /><Relationship Type="http://schemas.openxmlformats.org/officeDocument/2006/relationships/slide" Target="/ppt/slides/slide8.xml" Id="R8b5b7128cb0c410b" /><Relationship Type="http://schemas.openxmlformats.org/officeDocument/2006/relationships/slide" Target="/ppt/slides/slide9.xml" Id="Redf7b5ad9b1f47ee" /><Relationship Type="http://schemas.openxmlformats.org/officeDocument/2006/relationships/slide" Target="/ppt/slides/slide10.xml" Id="Rddc8b38d90bb49d3" /><Relationship Type="http://schemas.openxmlformats.org/officeDocument/2006/relationships/slide" Target="/ppt/slides/slide11.xml" Id="Rbe68b1c6b03c4962" /><Relationship Type="http://schemas.openxmlformats.org/officeDocument/2006/relationships/slide" Target="/ppt/slides/slide12.xml" Id="R097f3d6dcaf74a5e" /><Relationship Type="http://schemas.openxmlformats.org/officeDocument/2006/relationships/slide" Target="/ppt/slides/slide13.xml" Id="R326e817ab3d64535" /><Relationship Type="http://schemas.openxmlformats.org/officeDocument/2006/relationships/slide" Target="/ppt/slides/slide14.xml" Id="R2247fb5c3a0d42f8" /><Relationship Type="http://schemas.openxmlformats.org/officeDocument/2006/relationships/slide" Target="/ppt/slides/slide15.xml" Id="R2af28d2bf5eb4a5b" /><Relationship Type="http://schemas.openxmlformats.org/officeDocument/2006/relationships/slide" Target="/ppt/slides/slide16.xml" Id="R9735ca9473a242b7" /><Relationship Type="http://schemas.openxmlformats.org/officeDocument/2006/relationships/slide" Target="/ppt/slides/slide17.xml" Id="R5b20a54089fb4a3e" /><Relationship Type="http://schemas.openxmlformats.org/officeDocument/2006/relationships/slide" Target="/ppt/slides/slide18.xml" Id="R26cb2137e4f24aad" /><Relationship Type="http://schemas.openxmlformats.org/officeDocument/2006/relationships/slide" Target="/ppt/slides/slide19.xml" Id="R616ccb3555624b7d" /><Relationship Type="http://schemas.openxmlformats.org/officeDocument/2006/relationships/slide" Target="/ppt/slides/slide20.xml" Id="R027793f69c454aef" /><Relationship Type="http://schemas.openxmlformats.org/officeDocument/2006/relationships/slide" Target="/ppt/slides/slide21.xml" Id="R2cbdb5cc0b5d4084" /><Relationship Type="http://schemas.openxmlformats.org/officeDocument/2006/relationships/slide" Target="/ppt/slides/slide22.xml" Id="R2e22b73adc1642d1" /><Relationship Type="http://schemas.openxmlformats.org/officeDocument/2006/relationships/slide" Target="/ppt/slides/slide23.xml" Id="R57a65aaf99b1438e" /><Relationship Type="http://schemas.openxmlformats.org/officeDocument/2006/relationships/slide" Target="/ppt/slides/slide24.xml" Id="R7235314f522949e0" /><Relationship Type="http://schemas.openxmlformats.org/officeDocument/2006/relationships/slide" Target="/ppt/slides/slide25.xml" Id="R07a0597e84664c95" /><Relationship Type="http://schemas.openxmlformats.org/officeDocument/2006/relationships/slide" Target="/ppt/slides/slide26.xml" Id="R379d315872d54d46" /><Relationship Type="http://schemas.openxmlformats.org/officeDocument/2006/relationships/slide" Target="/ppt/slides/slide27.xml" Id="Ra530524ba6484ce5" /><Relationship Type="http://schemas.openxmlformats.org/officeDocument/2006/relationships/slide" Target="/ppt/slides/slide28.xml" Id="R041ae05581eb49d5" /><Relationship Type="http://schemas.openxmlformats.org/officeDocument/2006/relationships/slide" Target="/ppt/slides/slide29.xml" Id="Rd5e798e0fbb44c24" /><Relationship Type="http://schemas.openxmlformats.org/officeDocument/2006/relationships/slide" Target="/ppt/slides/slide30.xml" Id="Re6d5321ab3d84694" /><Relationship Type="http://schemas.openxmlformats.org/officeDocument/2006/relationships/slide" Target="/ppt/slides/slide31.xml" Id="Rf5197add76784b1d" /><Relationship Type="http://schemas.openxmlformats.org/officeDocument/2006/relationships/slide" Target="/ppt/slides/slide32.xml" Id="R89f2a1870dac413e" /><Relationship Type="http://schemas.openxmlformats.org/officeDocument/2006/relationships/slide" Target="/ppt/slides/slide33.xml" Id="R47d7d8d54ce542a0" /><Relationship Type="http://schemas.openxmlformats.org/officeDocument/2006/relationships/slide" Target="/ppt/slides/slide34.xml" Id="R0060b4043e3241b3" /><Relationship Type="http://schemas.openxmlformats.org/officeDocument/2006/relationships/slide" Target="/ppt/slides/slide35.xml" Id="R9971848949ab4796" /><Relationship Type="http://schemas.openxmlformats.org/officeDocument/2006/relationships/slide" Target="/ppt/slides/slide36.xml" Id="Rc7631a22f0f0488b"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fc44b28501514f6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040d635a31de44f7" /><Relationship Type="http://schemas.openxmlformats.org/officeDocument/2006/relationships/notesMaster" Target="/ppt/notesMasters/notesMaster1.xml" Id="R487e88a1c6884d76" /></Relationships>
</file>

<file path=ppt/notesSlides/_rels/notesSlide2.xml.rels>&#65279;<?xml version="1.0" encoding="utf-8"?><Relationships xmlns="http://schemas.openxmlformats.org/package/2006/relationships"><Relationship Type="http://schemas.openxmlformats.org/officeDocument/2006/relationships/slide" Target="/ppt/slides/slide2.xml" Id="R75ad434196814bb5" /><Relationship Type="http://schemas.openxmlformats.org/officeDocument/2006/relationships/notesMaster" Target="/ppt/notesMasters/notesMaster1.xml" Id="Rf40c5f82abee4c2c" /></Relationships>
</file>

<file path=ppt/notesSlides/_rels/notesSlide3.xml.rels>&#65279;<?xml version="1.0" encoding="utf-8"?><Relationships xmlns="http://schemas.openxmlformats.org/package/2006/relationships"><Relationship Type="http://schemas.openxmlformats.org/officeDocument/2006/relationships/slide" Target="/ppt/slides/slide3.xml" Id="R3043ab5b971d488d" /><Relationship Type="http://schemas.openxmlformats.org/officeDocument/2006/relationships/notesMaster" Target="/ppt/notesMasters/notesMaster1.xml" Id="Ra7ec2556a18c4190" /></Relationships>
</file>

<file path=ppt/notesSlides/_rels/notesSlide4.xml.rels>&#65279;<?xml version="1.0" encoding="utf-8"?><Relationships xmlns="http://schemas.openxmlformats.org/package/2006/relationships"><Relationship Type="http://schemas.openxmlformats.org/officeDocument/2006/relationships/slide" Target="/ppt/slides/slide4.xml" Id="R4152824212e24129" /><Relationship Type="http://schemas.openxmlformats.org/officeDocument/2006/relationships/notesMaster" Target="/ppt/notesMasters/notesMaster1.xml" Id="R81f74d006c7e40e7" /></Relationships>
</file>

<file path=ppt/notesSlides/_rels/notesSlide5.xml.rels>&#65279;<?xml version="1.0" encoding="utf-8"?><Relationships xmlns="http://schemas.openxmlformats.org/package/2006/relationships"><Relationship Type="http://schemas.openxmlformats.org/officeDocument/2006/relationships/slide" Target="/ppt/slides/slide5.xml" Id="R44128fc9600241ba" /><Relationship Type="http://schemas.openxmlformats.org/officeDocument/2006/relationships/notesMaster" Target="/ppt/notesMasters/notesMaster1.xml" Id="Raa5c323a3ec24b92" /></Relationships>
</file>

<file path=ppt/notesSlides/_rels/notesSlide6.xml.rels>&#65279;<?xml version="1.0" encoding="utf-8"?><Relationships xmlns="http://schemas.openxmlformats.org/package/2006/relationships"><Relationship Type="http://schemas.openxmlformats.org/officeDocument/2006/relationships/slide" Target="/ppt/slides/slide6.xml" Id="Rc3a632902ab24366" /><Relationship Type="http://schemas.openxmlformats.org/officeDocument/2006/relationships/notesMaster" Target="/ppt/notesMasters/notesMaster1.xml" Id="R6aee84210d234234" /></Relationships>
</file>

<file path=ppt/notesSlides/_rels/notesSlide7.xml.rels>&#65279;<?xml version="1.0" encoding="utf-8"?><Relationships xmlns="http://schemas.openxmlformats.org/package/2006/relationships"><Relationship Type="http://schemas.openxmlformats.org/officeDocument/2006/relationships/slide" Target="/ppt/slides/slide7.xml" Id="R669246050c504e1a" /><Relationship Type="http://schemas.openxmlformats.org/officeDocument/2006/relationships/notesMaster" Target="/ppt/notesMasters/notesMaster1.xml" Id="R69bda9cccc1941ad" /></Relationships>
</file>

<file path=ppt/notesSlides/_rels/notesSlide8.xml.rels>&#65279;<?xml version="1.0" encoding="utf-8"?><Relationships xmlns="http://schemas.openxmlformats.org/package/2006/relationships"><Relationship Type="http://schemas.openxmlformats.org/officeDocument/2006/relationships/slide" Target="/ppt/slides/slide8.xml" Id="Rb1154afb994f418b" /><Relationship Type="http://schemas.openxmlformats.org/officeDocument/2006/relationships/notesMaster" Target="/ppt/notesMasters/notesMaster1.xml" Id="R9f9f0b1ea9614e2b" /></Relationships>
</file>

<file path=ppt/notesSlides/_rels/notesSlide9.xml.rels>&#65279;<?xml version="1.0" encoding="utf-8"?><Relationships xmlns="http://schemas.openxmlformats.org/package/2006/relationships"><Relationship Type="http://schemas.openxmlformats.org/officeDocument/2006/relationships/slide" Target="/ppt/slides/slide9.xml" Id="R2b463252f0af44fb" /><Relationship Type="http://schemas.openxmlformats.org/officeDocument/2006/relationships/notesMaster" Target="/ppt/notesMasters/notesMaster1.xml" Id="R51a579ad53434827"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96b948eed2c344c6" /><Relationship Type="http://schemas.openxmlformats.org/officeDocument/2006/relationships/notesMaster" Target="/ppt/notesMasters/notesMaster1.xml" Id="R691c8ca610434f18"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0503e9e8db474cf5" /><Relationship Type="http://schemas.openxmlformats.org/officeDocument/2006/relationships/notesMaster" Target="/ppt/notesMasters/notesMaster1.xml" Id="R0bd005c7b5d54ef8"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fca473f9aeca414f" /><Relationship Type="http://schemas.openxmlformats.org/officeDocument/2006/relationships/notesMaster" Target="/ppt/notesMasters/notesMaster1.xml" Id="R152ea7df649a40df"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06fcb181dd3b43c4" /><Relationship Type="http://schemas.openxmlformats.org/officeDocument/2006/relationships/notesMaster" Target="/ppt/notesMasters/notesMaster1.xml" Id="R86e3d5c4552e453c"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f8cfe556e1c44ef2" /><Relationship Type="http://schemas.openxmlformats.org/officeDocument/2006/relationships/notesMaster" Target="/ppt/notesMasters/notesMaster1.xml" Id="Rb5b4dcd2ba19465f"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ef83ab832e7641e7" /><Relationship Type="http://schemas.openxmlformats.org/officeDocument/2006/relationships/notesMaster" Target="/ppt/notesMasters/notesMaster1.xml" Id="R2ada33dea86444fd"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9173c896cde74e58" /><Relationship Type="http://schemas.openxmlformats.org/officeDocument/2006/relationships/notesMaster" Target="/ppt/notesMasters/notesMaster1.xml" Id="R42415c2b1cff459a"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60699d69de284434" /><Relationship Type="http://schemas.openxmlformats.org/officeDocument/2006/relationships/notesMaster" Target="/ppt/notesMasters/notesMaster1.xml" Id="R50020310bf1a4e7c"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2c146310cd2e454d" /><Relationship Type="http://schemas.openxmlformats.org/officeDocument/2006/relationships/notesMaster" Target="/ppt/notesMasters/notesMaster1.xml" Id="R5bc2162117604ef6"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0aa6df5ea1b642a8" /><Relationship Type="http://schemas.openxmlformats.org/officeDocument/2006/relationships/notesMaster" Target="/ppt/notesMasters/notesMaster1.xml" Id="R5dd53e0527a64368"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3f6ff7f9a69c434e" /><Relationship Type="http://schemas.openxmlformats.org/officeDocument/2006/relationships/notesMaster" Target="/ppt/notesMasters/notesMaster1.xml" Id="Ra3a1effa6ccf4da0"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5df4d9d0df684d05" /><Relationship Type="http://schemas.openxmlformats.org/officeDocument/2006/relationships/notesMaster" Target="/ppt/notesMasters/notesMaster1.xml" Id="R72fbf7dead1c4ae3"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0da4197949824fbf" /><Relationship Type="http://schemas.openxmlformats.org/officeDocument/2006/relationships/notesMaster" Target="/ppt/notesMasters/notesMaster1.xml" Id="Rd149ea3f4d4e434e"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6960e2cd828f452e" /><Relationship Type="http://schemas.openxmlformats.org/officeDocument/2006/relationships/notesMaster" Target="/ppt/notesMasters/notesMaster1.xml" Id="Rb7992f58ec5e455c"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bb4db138f75643ed" /><Relationship Type="http://schemas.openxmlformats.org/officeDocument/2006/relationships/notesMaster" Target="/ppt/notesMasters/notesMaster1.xml" Id="Rbc3b784c21ac4790"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801c38a01a734828" /><Relationship Type="http://schemas.openxmlformats.org/officeDocument/2006/relationships/notesMaster" Target="/ppt/notesMasters/notesMaster1.xml" Id="Rd61fbb6c64ef4dcd"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c9cb7b3f8cc242dd" /><Relationship Type="http://schemas.openxmlformats.org/officeDocument/2006/relationships/notesMaster" Target="/ppt/notesMasters/notesMaster1.xml" Id="Re9a7a758643a428c"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613c9fae6d4a4270" /><Relationship Type="http://schemas.openxmlformats.org/officeDocument/2006/relationships/notesMaster" Target="/ppt/notesMasters/notesMaster1.xml" Id="R1ad95832cd404195"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3e32860da1054c9f" /><Relationship Type="http://schemas.openxmlformats.org/officeDocument/2006/relationships/notesMaster" Target="/ppt/notesMasters/notesMaster1.xml" Id="R4400bb0b732f4cbe"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77b6f377f1e64e64" /><Relationship Type="http://schemas.openxmlformats.org/officeDocument/2006/relationships/notesMaster" Target="/ppt/notesMasters/notesMaster1.xml" Id="Reccb115f2adc4644"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a6d98c44ea794008" /><Relationship Type="http://schemas.openxmlformats.org/officeDocument/2006/relationships/notesMaster" Target="/ppt/notesMasters/notesMaster1.xml" Id="R5b5545a79d5b4a0a"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a1f84d9384ee4a61" /><Relationship Type="http://schemas.openxmlformats.org/officeDocument/2006/relationships/notesMaster" Target="/ppt/notesMasters/notesMaster1.xml" Id="R98bc8f12604f42e0"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bba4807bc35b497c" /><Relationship Type="http://schemas.openxmlformats.org/officeDocument/2006/relationships/notesMaster" Target="/ppt/notesMasters/notesMaster1.xml" Id="R34c93e4fa5b84734"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416d447779a74d4a" /><Relationship Type="http://schemas.openxmlformats.org/officeDocument/2006/relationships/notesMaster" Target="/ppt/notesMasters/notesMaster1.xml" Id="R6fb0ee7c8ac04f6d"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bc81cedf9e5d47d3" /><Relationship Type="http://schemas.openxmlformats.org/officeDocument/2006/relationships/notesMaster" Target="/ppt/notesMasters/notesMaster1.xml" Id="R0017beced1da48b5"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c46279810dd4494f" /><Relationship Type="http://schemas.openxmlformats.org/officeDocument/2006/relationships/notesMaster" Target="/ppt/notesMasters/notesMaster1.xml" Id="Rf3a788a4f0b14918"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15fd09302c644cb8" /><Relationship Type="http://schemas.openxmlformats.org/officeDocument/2006/relationships/notesMaster" Target="/ppt/notesMasters/notesMaster1.xml" Id="Ra1121e4d756041cc"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Choosing and explaining a model</a:t>
            </a:r>
          </a:p>
          <a:p>
            <a:r>
              <a:t>CML3113, Week 12, slide 1</a:t>
            </a:r>
          </a:p>
          <a:p>
            <a:r>
              <a:t/>
            </a:r>
          </a:p>
          <a:p>
            <a:r>
              <a:t>Explanation to give</a:t>
            </a:r>
          </a:p>
          <a:p>
            <a:r>
              <a:t>A recommendation must satisfy the practical limits before it wins on a ranking metric. Explain eligibility and tie-breaking separately.</a:t>
            </a:r>
          </a:p>
          <a:p>
            <a:r>
              <a:t/>
            </a:r>
          </a:p>
          <a:p>
            <a:r>
              <a:t>Worked illustration / lecturer answer</a:t>
            </a:r>
          </a:p>
          <a:p>
            <a:r>
              <a:t>A model at 4 error units and 12 ms fails a 10 ms limit even if its error is attractive. Test exact boundaries before ranking eligible candidates.</a:t>
            </a:r>
          </a:p>
          <a:p>
            <a:r>
              <a:t/>
            </a:r>
          </a:p>
          <a:p>
            <a:r>
              <a:t>Misconception to address</a:t>
            </a:r>
          </a:p>
          <a:p>
            <a:r>
              <a:t>Use this as an orientation to the lesson. Terms and syntax will be unpacked on their own slides; students do not need to know them in advance.</a:t>
            </a:r>
          </a:p>
          <a:p>
            <a:r>
              <a:t/>
            </a:r>
          </a:p>
          <a:p>
            <a:r>
              <a:t>On this slide</a:t>
            </a:r>
          </a:p>
          <a:p>
            <a:r>
              <a:t>Mining and Petroleum Engineering</a:t>
            </a:r>
          </a:p>
          <a:p>
            <a:r>
              <a:t/>
            </a:r>
          </a:p>
          <a:p>
            <a:r>
              <a:t>Continue to</a:t>
            </a:r>
          </a:p>
          <a:p>
            <a:r>
              <a:t>Today’s learning</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Today’s learning</a:t>
            </a:r>
          </a:p>
          <a:p>
            <a:r>
              <a:t>CML3113, Week 12, slide 2</a:t>
            </a:r>
          </a:p>
          <a:p>
            <a:r>
              <a:t/>
            </a:r>
          </a:p>
          <a:p>
            <a:r>
              <a:t>Explanation to give</a:t>
            </a:r>
          </a:p>
          <a:p>
            <a:r>
              <a:t>A recommendation must satisfy the practical limits before it wins on a ranking metric. Explain eligibility and tie-breaking separately.</a:t>
            </a:r>
          </a:p>
          <a:p>
            <a:r>
              <a:t/>
            </a:r>
          </a:p>
          <a:p>
            <a:r>
              <a:t>Worked illustration / lecturer answer</a:t>
            </a:r>
          </a:p>
          <a:p>
            <a:r>
              <a:t>A model at 4 error units and 12 ms fails a 10 ms limit even if its error is attractive. Test exact boundaries before ranking eligible candidates.</a:t>
            </a:r>
          </a:p>
          <a:p>
            <a:r>
              <a:t/>
            </a:r>
          </a:p>
          <a:p>
            <a:r>
              <a:t>Misconception to address</a:t>
            </a:r>
          </a:p>
          <a:p>
            <a:r>
              <a:t>At the end, check the specific outcome shown here using a small previously demonstrated example. A completed file without an explanation is not evidence of understanding.</a:t>
            </a:r>
          </a:p>
          <a:p>
            <a:r>
              <a:t/>
            </a:r>
          </a:p>
          <a:p>
            <a:r>
              <a:t>On this slide</a:t>
            </a:r>
          </a:p>
          <a:p>
            <a:r>
              <a:t>Check model requirements before ranking candidates.</a:t>
            </a:r>
          </a:p>
          <a:p>
            <a:r>
              <a:t/>
            </a:r>
          </a:p>
          <a:p>
            <a:r>
              <a:t>Apply the tie-break rule and explain the choice.</a:t>
            </a:r>
          </a:p>
          <a:p>
            <a:r>
              <a:t/>
            </a:r>
          </a:p>
          <a:p>
            <a:r>
              <a:t>Continue to</a:t>
            </a:r>
          </a:p>
          <a:p>
            <a:r>
              <a:t>Connection to the previous lesson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Connection to the previous lesson</a:t>
            </a:r>
          </a:p>
          <a:p>
            <a:r>
              <a:t>CML3113, Week 12, slide 3</a:t>
            </a:r>
          </a:p>
          <a:p>
            <a:r>
              <a:t/>
            </a:r>
          </a:p>
          <a:p>
            <a:r>
              <a:t>Explanation to give</a:t>
            </a:r>
          </a:p>
          <a:p>
            <a:r>
              <a:t>A recommendation must satisfy the practical limits before it wins on a ranking metric. Explain eligibility and tie-breaking separately.</a:t>
            </a:r>
          </a:p>
          <a:p>
            <a:r>
              <a:t/>
            </a:r>
          </a:p>
          <a:p>
            <a:r>
              <a:t>Worked illustration / lecturer answer</a:t>
            </a:r>
          </a:p>
          <a:p>
            <a:r>
              <a:t>A model at 4 error units and 12 ms fails a 10 ms limit even if its error is attractive. Test exact boundaries before ranking eligible candidates.</a:t>
            </a:r>
          </a:p>
          <a:p>
            <a:r>
              <a:t/>
            </a:r>
          </a:p>
          <a:p>
            <a:r>
              <a:t>Misconception to address</a:t>
            </a:r>
          </a:p>
          <a:p>
            <a:r>
              <a:t>Connect this to the previous result named on this slide. Demonstrate the first step again if necessary; there is no requirement for partner work before the explanation.</a:t>
            </a:r>
          </a:p>
          <a:p>
            <a:r>
              <a:t/>
            </a:r>
          </a:p>
          <a:p>
            <a:r>
              <a:t>On this slide</a:t>
            </a:r>
          </a:p>
          <a:p>
            <a:r>
              <a:t>We already calculate validation errors. Now we combine those errors with a practical constraint and an explicit tie-break rule.</a:t>
            </a:r>
          </a:p>
          <a:p>
            <a:r>
              <a:t/>
            </a:r>
          </a:p>
          <a:p>
            <a:r>
              <a:t>Continue to</a:t>
            </a:r>
          </a:p>
          <a:p>
            <a:r>
              <a:t>Why this week’s tools are needed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Why this week’s tools are needed</a:t>
            </a:r>
          </a:p>
          <a:p>
            <a:r>
              <a:t>CML3113, Week 12, slide 4</a:t>
            </a:r>
          </a:p>
          <a:p>
            <a:r>
              <a:t/>
            </a:r>
          </a:p>
          <a:p>
            <a:r>
              <a:t>Explanation to give</a:t>
            </a:r>
          </a:p>
          <a:p>
            <a:r>
              <a:t>A recommendation must satisfy the practical limits before it wins on a ranking metric. Explain eligibility and tie-breaking separately.</a:t>
            </a:r>
          </a:p>
          <a:p>
            <a:r>
              <a:t/>
            </a:r>
          </a:p>
          <a:p>
            <a:r>
              <a:t>Worked illustration / lecturer answer</a:t>
            </a:r>
          </a:p>
          <a:p>
            <a:r>
              <a:t>A model at 4 error units and 12 ms fails a 10 ms limit even if its error is attractive. Test exact boundaries before ranking eligible candidates.</a:t>
            </a:r>
          </a:p>
          <a:p>
            <a:r>
              <a:t/>
            </a:r>
          </a:p>
          <a:p>
            <a:r>
              <a:t>Misconception to address</a:t>
            </a:r>
          </a:p>
          <a:p>
            <a:r>
              <a:t>Connect this to the previous result named on this slide. Demonstrate the first step again if necessary; there is no requirement for partner work before the explanation.</a:t>
            </a:r>
          </a:p>
          <a:p>
            <a:r>
              <a:t/>
            </a:r>
          </a:p>
          <a:p>
            <a:r>
              <a:t>On this slide</a:t>
            </a:r>
          </a:p>
          <a:p>
            <a:r>
              <a:t>The lowest prediction error may come from a model that is too slow for the stated task. We apply the published constraints before ranking eligible models.</a:t>
            </a:r>
          </a:p>
          <a:p>
            <a:r>
              <a:t/>
            </a:r>
          </a:p>
          <a:p>
            <a:r>
              <a:t>Continue to</a:t>
            </a:r>
          </a:p>
          <a:p>
            <a:r>
              <a:t>Constraint and Latency</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Constraint and Latency</a:t>
            </a:r>
          </a:p>
          <a:p>
            <a:r>
              <a:t>CML3113, Week 12, slide 5</a:t>
            </a:r>
          </a:p>
          <a:p>
            <a:r>
              <a:t/>
            </a:r>
          </a:p>
          <a:p>
            <a:r>
              <a:t>Explanation to give</a:t>
            </a:r>
          </a:p>
          <a:p>
            <a:r>
              <a:t>Separate eligibility from ranking. A model that violates a required error or latency limit cannot win merely because another score is attractive. Latency is time per prediction in the stated measurement setting.</a:t>
            </a:r>
          </a:p>
          <a:p>
            <a:r>
              <a:t/>
            </a:r>
          </a:p>
          <a:p>
            <a:r>
              <a:t>Worked illustration / lecturer answer</a:t>
            </a:r>
          </a:p>
          <a:p>
            <a:r>
              <a:t>With limits MAE &lt;= 5 and latency &lt;= 10 ms, a candidate at MAE 4 and 12 ms fails eligibility. A candidate at MAE 5 and 10 ms passes inclusive limits.</a:t>
            </a:r>
          </a:p>
          <a:p>
            <a:r>
              <a:t/>
            </a:r>
          </a:p>
          <a:p>
            <a:r>
              <a:t>Misconception to address</a:t>
            </a:r>
          </a:p>
          <a:p>
            <a:r>
              <a:t>Establish units and whether boundaries are inclusive. An error of 4 is not comparable across different target units or evaluation samples.</a:t>
            </a:r>
          </a:p>
          <a:p>
            <a:r>
              <a:t/>
            </a:r>
          </a:p>
          <a:p>
            <a:r>
              <a:t>On this slide</a:t>
            </a:r>
          </a:p>
          <a:p>
            <a:r>
              <a:t>Constraint: A condition a candidate must satisfy, such as MAE at most 3 and latency at most 10 ms.</a:t>
            </a:r>
          </a:p>
          <a:p>
            <a:r>
              <a:t>Latency: Time taken to produce a prediction under stated measurement conditions. Hardware and measurement method matter.</a:t>
            </a:r>
          </a:p>
          <a:p>
            <a:r>
              <a:t/>
            </a:r>
          </a:p>
          <a:p>
            <a:r>
              <a:t>Continue to</a:t>
            </a:r>
          </a:p>
          <a:p>
            <a:r>
              <a:t>Tie-break and Hyperparameter</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Tie-break and Hyperparameter</a:t>
            </a:r>
          </a:p>
          <a:p>
            <a:r>
              <a:t>CML3113, Week 12, slide 6</a:t>
            </a:r>
          </a:p>
          <a:p>
            <a:r>
              <a:t/>
            </a:r>
          </a:p>
          <a:p>
            <a:r>
              <a:t>Explanation to give</a:t>
            </a:r>
          </a:p>
          <a:p>
            <a:r>
              <a:t>A ranking key states the priorities in order. Python compares tuples by the first element, then the second only on a tie, and so on. A key function returns that tuple for one candidate.</a:t>
            </a:r>
          </a:p>
          <a:p>
            <a:r>
              <a:t/>
            </a:r>
          </a:p>
          <a:p>
            <a:r>
              <a:t>Worked illustration / lecturer answer</a:t>
            </a:r>
          </a:p>
          <a:p>
            <a:r>
              <a:t>Keys (3,8,"A") and (3,6,"B") tie on error 3, so latency 6 wins. A third label component makes a remaining exact tie deterministic.</a:t>
            </a:r>
          </a:p>
          <a:p>
            <a:r>
              <a:t/>
            </a:r>
          </a:p>
          <a:p>
            <a:r>
              <a:t>Misconception to address</a:t>
            </a:r>
          </a:p>
          <a:p>
            <a:r>
              <a:t>sorted returns a new ordered list. It does not select only eligible candidates unless filtering happened first. Follow the published priority order.</a:t>
            </a:r>
          </a:p>
          <a:p>
            <a:r>
              <a:t/>
            </a:r>
          </a:p>
          <a:p>
            <a:r>
              <a:t>On this slide</a:t>
            </a:r>
          </a:p>
          <a:p>
            <a:r>
              <a:t>Tie-break: A published rule for choosing between candidates that tie on the main criterion.</a:t>
            </a:r>
          </a:p>
          <a:p>
            <a:r>
              <a:t>Hyperparameter: A setting chosen before fitting, such as tree depth. Tune using validation or cross-validation, not the final test.</a:t>
            </a:r>
          </a:p>
          <a:p>
            <a:r>
              <a:t/>
            </a:r>
          </a:p>
          <a:p>
            <a:r>
              <a:t>Continue to</a:t>
            </a:r>
          </a:p>
          <a:p>
            <a:r>
              <a:t>Error and practical constraints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Error and practical constraints</a:t>
            </a:r>
          </a:p>
          <a:p>
            <a:r>
              <a:t>CML3113, Week 12, slide 7</a:t>
            </a:r>
          </a:p>
          <a:p>
            <a:r>
              <a:t/>
            </a:r>
          </a:p>
          <a:p>
            <a:r>
              <a:t>Explanation to give</a:t>
            </a:r>
          </a:p>
          <a:p>
            <a:r>
              <a:t>Separate eligibility from ranking. A model that violates a required error or latency limit cannot win merely because another score is attractive. Latency is time per prediction in the stated measurement setting.</a:t>
            </a:r>
          </a:p>
          <a:p>
            <a:r>
              <a:t/>
            </a:r>
          </a:p>
          <a:p>
            <a:r>
              <a:t>Worked illustration / lecturer answer</a:t>
            </a:r>
          </a:p>
          <a:p>
            <a:r>
              <a:t>With limits MAE &lt;= 5 and latency &lt;= 10 ms, a candidate at MAE 4 and 12 ms fails eligibility. A candidate at MAE 5 and 10 ms passes inclusive limits.</a:t>
            </a:r>
          </a:p>
          <a:p>
            <a:r>
              <a:t/>
            </a:r>
          </a:p>
          <a:p>
            <a:r>
              <a:t>Misconception to address</a:t>
            </a:r>
          </a:p>
          <a:p>
            <a:r>
              <a:t>Establish units and whether boundaries are inclusive. An error of 4 is not comparable across different target units or evaluation samples.</a:t>
            </a:r>
          </a:p>
          <a:p>
            <a:r>
              <a:t/>
            </a:r>
          </a:p>
          <a:p>
            <a:r>
              <a:t>On this slide</a:t>
            </a:r>
          </a:p>
          <a:p>
            <a:r>
              <a:t>A smaller error can require more computation.</a:t>
            </a:r>
          </a:p>
          <a:p>
            <a:r>
              <a:t/>
            </a:r>
          </a:p>
          <a:p>
            <a:r>
              <a:t>A candidate must meet every stated requirement.</a:t>
            </a:r>
          </a:p>
          <a:p>
            <a:r>
              <a:t/>
            </a:r>
          </a:p>
          <a:p>
            <a:r>
              <a:t>Compare eligible models on the same validation observations.</a:t>
            </a:r>
          </a:p>
          <a:p>
            <a:r>
              <a:t/>
            </a:r>
          </a:p>
          <a:p>
            <a:r>
              <a:t>Follow the published tie-break rule when scores tie.</a:t>
            </a:r>
          </a:p>
          <a:p>
            <a:r>
              <a:t/>
            </a:r>
          </a:p>
          <a:p>
            <a:r>
              <a:t>Continue to</a:t>
            </a:r>
          </a:p>
          <a:p>
            <a:r>
              <a:t>A model comparison needs a fair test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model comparison needs a fair test</a:t>
            </a:r>
          </a:p>
          <a:p>
            <a:r>
              <a:t>CML3113, Week 12, slide 8</a:t>
            </a:r>
          </a:p>
          <a:p>
            <a:r>
              <a:t/>
            </a:r>
          </a:p>
          <a:p>
            <a:r>
              <a:t>Explanation to give</a:t>
            </a:r>
          </a:p>
          <a:p>
            <a:r>
              <a:t>An ablation comparison changes one feature or component while holding the evaluation protocol fixed. This helps attribute any observed difference to the change being tested.</a:t>
            </a:r>
          </a:p>
          <a:p>
            <a:r>
              <a:t/>
            </a:r>
          </a:p>
          <a:p>
            <a:r>
              <a:t>Worked illustration / lecturer answer</a:t>
            </a:r>
          </a:p>
          <a:p>
            <a:r>
              <a:t>If validation MAE drops from 5 to 4, the absolute reduction is 1 in the target unit and the relative reduction is 20%. If it rises, the extra feature has not helped under this protocol.</a:t>
            </a:r>
          </a:p>
          <a:p>
            <a:r>
              <a:t/>
            </a:r>
          </a:p>
          <a:p>
            <a:r>
              <a:t>Misconception to address</a:t>
            </a:r>
          </a:p>
          <a:p>
            <a:r>
              <a:t>Changing the split, model and feature at once makes attribution unclear. Use the same observations, metric and fitting rules for both variants.</a:t>
            </a:r>
          </a:p>
          <a:p>
            <a:r>
              <a:t/>
            </a:r>
          </a:p>
          <a:p>
            <a:r>
              <a:t>On this slide</a:t>
            </a:r>
          </a:p>
          <a:p>
            <a:r>
              <a:t>Use the same validation observations for every candidate.</a:t>
            </a:r>
          </a:p>
          <a:p>
            <a:r>
              <a:t/>
            </a:r>
          </a:p>
          <a:p>
            <a:r>
              <a:t>Fit preprocessing on training data only.</a:t>
            </a:r>
          </a:p>
          <a:p>
            <a:r>
              <a:t/>
            </a:r>
          </a:p>
          <a:p>
            <a:r>
              <a:t>Choose the error measure and practical requirements before inspecting results.</a:t>
            </a:r>
          </a:p>
          <a:p>
            <a:r>
              <a:t/>
            </a:r>
          </a:p>
          <a:p>
            <a:r>
              <a:t>Continue to</a:t>
            </a:r>
          </a:p>
          <a:p>
            <a:r>
              <a:t>Eligibility comes before ranking</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Eligibility comes before ranking</a:t>
            </a:r>
          </a:p>
          <a:p>
            <a:r>
              <a:t>CML3113, Week 12, slide 9</a:t>
            </a:r>
          </a:p>
          <a:p>
            <a:r>
              <a:t/>
            </a:r>
          </a:p>
          <a:p>
            <a:r>
              <a:t>Explanation to give</a:t>
            </a:r>
          </a:p>
          <a:p>
            <a:r>
              <a:t>Separate eligibility from ranking. A model that violates a required error or latency limit cannot win merely because another score is attractive. Latency is time per prediction in the stated measurement setting.</a:t>
            </a:r>
          </a:p>
          <a:p>
            <a:r>
              <a:t/>
            </a:r>
          </a:p>
          <a:p>
            <a:r>
              <a:t>Worked illustration / lecturer answer</a:t>
            </a:r>
          </a:p>
          <a:p>
            <a:r>
              <a:t>With limits MAE &lt;= 5 and latency &lt;= 10 ms, a candidate at MAE 4 and 12 ms fails eligibility. A candidate at MAE 5 and 10 ms passes inclusive limits.</a:t>
            </a:r>
          </a:p>
          <a:p>
            <a:r>
              <a:t/>
            </a:r>
          </a:p>
          <a:p>
            <a:r>
              <a:t>Misconception to address</a:t>
            </a:r>
          </a:p>
          <a:p>
            <a:r>
              <a:t>Establish units and whether boundaries are inclusive. An error of 4 is not comparable across different target units or evaluation samples.</a:t>
            </a:r>
          </a:p>
          <a:p>
            <a:r>
              <a:t/>
            </a:r>
          </a:p>
          <a:p>
            <a:r>
              <a:t>On this slide</a:t>
            </a:r>
          </a:p>
          <a:p>
            <a:r>
              <a:t>First check every stated requirement for each candidate.</a:t>
            </a:r>
          </a:p>
          <a:p>
            <a:r>
              <a:t/>
            </a:r>
          </a:p>
          <a:p>
            <a:r>
              <a:t>Reject a candidate that fails even one requirement.</a:t>
            </a:r>
          </a:p>
          <a:p>
            <a:r>
              <a:t/>
            </a:r>
          </a:p>
          <a:p>
            <a:r>
              <a:t>Rank the eligible candidates using the published tie-break rule.</a:t>
            </a:r>
          </a:p>
          <a:p>
            <a:r>
              <a:t/>
            </a:r>
          </a:p>
          <a:p>
            <a:r>
              <a:t>Continue to</a:t>
            </a:r>
          </a:p>
          <a:p>
            <a:r>
              <a:t>A constrained model choice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constrained model choice</a:t>
            </a:r>
          </a:p>
          <a:p>
            <a:r>
              <a:t>CML3113, Week 12, slide 10</a:t>
            </a:r>
          </a:p>
          <a:p>
            <a:r>
              <a:t/>
            </a:r>
          </a:p>
          <a:p>
            <a:r>
              <a:t>Explanation to give</a:t>
            </a:r>
          </a:p>
          <a:p>
            <a:r>
              <a:t>Separate eligibility from ranking. A model that violates a required error or latency limit cannot win merely because another score is attractive. Latency is time per prediction in the stated measurement setting.</a:t>
            </a:r>
          </a:p>
          <a:p>
            <a:r>
              <a:t/>
            </a:r>
          </a:p>
          <a:p>
            <a:r>
              <a:t>Worked illustration / lecturer answer</a:t>
            </a:r>
          </a:p>
          <a:p>
            <a:r>
              <a:t>With limits MAE &lt;= 5 and latency &lt;= 10 ms, a candidate at MAE 4 and 12 ms fails eligibility. A candidate at MAE 5 and 10 ms passes inclusive limits.</a:t>
            </a:r>
          </a:p>
          <a:p>
            <a:r>
              <a:t/>
            </a:r>
          </a:p>
          <a:p>
            <a:r>
              <a:t>Misconception to address</a:t>
            </a:r>
          </a:p>
          <a:p>
            <a:r>
              <a:t>Establish units and whether boundaries are inclusive. An error of 4 is not comparable across different target units or evaluation samples.</a:t>
            </a:r>
          </a:p>
          <a:p>
            <a:r>
              <a:t/>
            </a:r>
          </a:p>
          <a:p>
            <a:r>
              <a:t>On this slide</a:t>
            </a:r>
          </a:p>
          <a:p>
            <a:r>
              <a:t>Candidate | Validation error | Time (ms)</a:t>
            </a:r>
          </a:p>
          <a:p>
            <a:r>
              <a:t>simple | 3 | 2</a:t>
            </a:r>
          </a:p>
          <a:p>
            <a:r>
              <a:t>complex | 1 | 20</a:t>
            </a:r>
          </a:p>
          <a:p>
            <a:r>
              <a:t>Invented requirements: error at most 3 and time at most 10 ms.</a:t>
            </a:r>
          </a:p>
          <a:p>
            <a:r>
              <a:t/>
            </a:r>
          </a:p>
          <a:p>
            <a:r>
              <a:t>Continue to</a:t>
            </a:r>
          </a:p>
          <a:p>
            <a:r>
              <a:t>Candidate records and eligibility</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Candidate records and eligibility</a:t>
            </a:r>
          </a:p>
          <a:p>
            <a:r>
              <a:t>CML3113, Week 12, slide 11</a:t>
            </a:r>
          </a:p>
          <a:p>
            <a:r>
              <a:t/>
            </a:r>
          </a:p>
          <a:p>
            <a:r>
              <a:t>Explanation to give</a:t>
            </a:r>
          </a:p>
          <a:p>
            <a:r>
              <a:t>Separate eligibility from ranking. A model that violates a required error or latency limit cannot win merely because another score is attractive. Latency is time per prediction in the stated measurement setting.</a:t>
            </a:r>
          </a:p>
          <a:p>
            <a:r>
              <a:t/>
            </a:r>
          </a:p>
          <a:p>
            <a:r>
              <a:t>Worked illustration / lecturer answer</a:t>
            </a:r>
          </a:p>
          <a:p>
            <a:r>
              <a:t>With limits MAE &lt;= 5 and latency &lt;= 10 ms, a candidate at MAE 4 and 12 ms fails eligibility. A candidate at MAE 5 and 10 ms passes inclusive limits.</a:t>
            </a:r>
          </a:p>
          <a:p>
            <a:r>
              <a:t/>
            </a:r>
          </a:p>
          <a:p>
            <a:r>
              <a:t>Misconception to address</a:t>
            </a:r>
          </a:p>
          <a:p>
            <a:r>
              <a:t>Establish units and whether boundaries are inclusive. An error of 4 is not comparable across different target units or evaluation samples.</a:t>
            </a:r>
          </a:p>
          <a:p>
            <a:r>
              <a:t/>
            </a:r>
          </a:p>
          <a:p>
            <a:r>
              <a:t>On this slide</a:t>
            </a:r>
          </a:p>
          <a:p>
            <a:r>
              <a:t>A candidate is one model under consideration. Its dictionary records a name, a validation error and measured run time.</a:t>
            </a:r>
          </a:p>
          <a:p>
            <a:r>
              <a:t/>
            </a:r>
          </a:p>
          <a:p>
            <a:r>
              <a:t>An eligible candidate meets every published constraint. Build a list of eligible records first. If the list is empty, use the task’s specified no-candidate result.</a:t>
            </a:r>
          </a:p>
          <a:p>
            <a:r>
              <a:t/>
            </a:r>
          </a:p>
          <a:p>
            <a:r>
              <a:t>Continue to</a:t>
            </a:r>
          </a:p>
          <a:p>
            <a:r>
              <a:t>Model selection in Python (1/2)</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Model selection in Python (1/2)</a:t>
            </a:r>
          </a:p>
          <a:p>
            <a:r>
              <a:t>CML3113, Week 12, slide 12</a:t>
            </a:r>
          </a:p>
          <a:p>
            <a:r>
              <a:t/>
            </a:r>
          </a:p>
          <a:p>
            <a:r>
              <a:t>Explanation to give</a:t>
            </a:r>
          </a:p>
          <a:p>
            <a:r>
              <a:t>First filter candidates using the published eligibility limits. Rank the survivors with the stated error, speed and tie-break order. If none qualify, return the required no-selection result.</a:t>
            </a:r>
          </a:p>
          <a:p>
            <a:r>
              <a:t/>
            </a:r>
          </a:p>
          <a:p>
            <a:r>
              <a:t>Worked illustration / lecturer answer</a:t>
            </a:r>
          </a:p>
          <a:p>
            <a:r>
              <a:t>A model with lower MAE but excessive prediction time is ineligible when latency is a hard constraint. Test a candidate exactly on each limit to check inclusive comparisons.</a:t>
            </a:r>
          </a:p>
          <a:p>
            <a:r>
              <a:t/>
            </a:r>
          </a:p>
          <a:p>
            <a:r>
              <a:t>Misconception to address</a:t>
            </a:r>
          </a:p>
          <a:p>
            <a:r>
              <a:t>Do not rank before enforcing constraints or silently relax a limit to produce a winner.</a:t>
            </a:r>
          </a:p>
          <a:p>
            <a:r>
              <a:t/>
            </a:r>
          </a:p>
          <a:p>
            <a:r>
              <a:t>Read the displayed code line by line</a:t>
            </a:r>
          </a:p>
          <a:p>
            <a:r>
              <a:t>candidates = [{"name": "simple", "error": 3, "ms": 2},</a:t>
            </a:r>
          </a:p>
          <a:p>
            <a:r>
              <a:t>Evaluate the complete right-hand expression first, then assign its result to the name or selected field on the left.</a:t>
            </a:r>
          </a:p>
          <a:p>
            <a:r>
              <a:t/>
            </a:r>
          </a:p>
          <a:p>
            <a:r>
              <a:t>{"name": "complex", "error": 1, "ms": 20}]</a:t>
            </a:r>
          </a:p>
          <a:p>
            <a:r>
              <a:t>This line continues the surrounding expression or block; read it together with the preceding line rather than running it alone.</a:t>
            </a:r>
          </a:p>
          <a:p>
            <a:r>
              <a:t/>
            </a:r>
          </a:p>
          <a:p>
            <a:r>
              <a:t>eligible = []</a:t>
            </a:r>
          </a:p>
          <a:p>
            <a:r>
              <a:t>Evaluate the complete right-hand expression first, then assign its result to the name or selected field on the left.</a:t>
            </a:r>
          </a:p>
          <a:p>
            <a:r>
              <a:t/>
            </a:r>
          </a:p>
          <a:p>
            <a:r>
              <a:t>for item in candidates:</a:t>
            </a:r>
          </a:p>
          <a:p>
            <a:r>
              <a:t>Take each item or pair in turn, assign the loop name(s), and repeat the indented body.</a:t>
            </a:r>
          </a:p>
          <a:p>
            <a:r>
              <a:t/>
            </a:r>
          </a:p>
          <a:p>
            <a:r>
              <a:t>if item["error"] &lt;= 3 and item["ms"] &lt;= 10:</a:t>
            </a:r>
          </a:p>
          <a:p>
            <a:r>
              <a:t>Evaluate this yes/no condition. Execute its indented body only on the matching path.</a:t>
            </a:r>
          </a:p>
          <a:p>
            <a:r>
              <a:t/>
            </a:r>
          </a:p>
          <a:p>
            <a:r>
              <a:t>eligible.append(item)</a:t>
            </a:r>
          </a:p>
          <a:p>
            <a:r>
              <a:t>Evaluate the argument and add it as one new item at the end of this list.</a:t>
            </a:r>
          </a:p>
          <a:p>
            <a:r>
              <a:t/>
            </a:r>
          </a:p>
          <a:p>
            <a:r>
              <a:t>names = []</a:t>
            </a:r>
          </a:p>
          <a:p>
            <a:r>
              <a:t>Evaluate the complete right-hand expression first, then assign its result to the name or selected field on the left.</a:t>
            </a:r>
          </a:p>
          <a:p>
            <a:r>
              <a:t/>
            </a:r>
          </a:p>
          <a:p>
            <a:r>
              <a:t>for item in eligible:</a:t>
            </a:r>
          </a:p>
          <a:p>
            <a:r>
              <a:t>Take each item or pair in turn, assign the loop name(s), and repeat the indented body.</a:t>
            </a:r>
          </a:p>
          <a:p>
            <a:r>
              <a:t/>
            </a:r>
          </a:p>
          <a:p>
            <a:r>
              <a:t>names.append(item["name"])</a:t>
            </a:r>
          </a:p>
          <a:p>
            <a:r>
              <a:t>Evaluate the argument and add it as one new item at the end of this list.</a:t>
            </a:r>
          </a:p>
          <a:p>
            <a:r>
              <a:t/>
            </a:r>
          </a:p>
          <a:p>
            <a:r>
              <a:t>Result / continuity</a:t>
            </a:r>
          </a:p>
          <a:p>
            <a:r>
              <a:t>Read top to bottom. Run the complete example in the matching practice notebook.</a:t>
            </a:r>
          </a:p>
          <a:p>
            <a:r>
              <a:t/>
            </a:r>
          </a:p>
          <a:p>
            <a:r>
              <a:t>Continue to</a:t>
            </a:r>
          </a:p>
          <a:p>
            <a:r>
              <a:t>Model selection in Python (2/2)</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Model selection in Python (2/2)</a:t>
            </a:r>
          </a:p>
          <a:p>
            <a:r>
              <a:t>CML3113, Week 12, slide 13</a:t>
            </a:r>
          </a:p>
          <a:p>
            <a:r>
              <a:t/>
            </a:r>
          </a:p>
          <a:p>
            <a:r>
              <a:t>Explanation to give</a:t>
            </a:r>
          </a:p>
          <a:p>
            <a:r>
              <a:t>First filter candidates using the published eligibility limits. Rank the survivors with the stated error, speed and tie-break order. If none qualify, return the required no-selection result.</a:t>
            </a:r>
          </a:p>
          <a:p>
            <a:r>
              <a:t/>
            </a:r>
          </a:p>
          <a:p>
            <a:r>
              <a:t>Worked illustration / lecturer answer</a:t>
            </a:r>
          </a:p>
          <a:p>
            <a:r>
              <a:t>A model with lower MAE but excessive prediction time is ineligible when latency is a hard constraint. Test a candidate exactly on each limit to check inclusive comparisons.</a:t>
            </a:r>
          </a:p>
          <a:p>
            <a:r>
              <a:t/>
            </a:r>
          </a:p>
          <a:p>
            <a:r>
              <a:t>Misconception to address</a:t>
            </a:r>
          </a:p>
          <a:p>
            <a:r>
              <a:t>Do not rank before enforcing constraints or silently relax a limit to produce a winner.</a:t>
            </a:r>
          </a:p>
          <a:p>
            <a:r>
              <a:t/>
            </a:r>
          </a:p>
          <a:p>
            <a:r>
              <a:t>Read the displayed code line by line</a:t>
            </a:r>
          </a:p>
          <a:p>
            <a:r>
              <a:t>print(names)</a:t>
            </a:r>
          </a:p>
          <a:p>
            <a:r>
              <a:t>Evaluate the expression inside the parentheses and display it. Displaying is separate from returning a function result.</a:t>
            </a:r>
          </a:p>
          <a:p>
            <a:r>
              <a:t/>
            </a:r>
          </a:p>
          <a:p>
            <a:r>
              <a:t>Result / continuity</a:t>
            </a:r>
          </a:p>
          <a:p>
            <a:r>
              <a:t>Continue the SAME cell; keep indentation. Run after all parts are entered.</a:t>
            </a:r>
          </a:p>
          <a:p>
            <a:r>
              <a:t/>
            </a:r>
          </a:p>
          <a:p>
            <a:r>
              <a:t>Continue to</a:t>
            </a:r>
          </a:p>
          <a:p>
            <a:r>
              <a:t>Model selection results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Model selection results</a:t>
            </a:r>
          </a:p>
          <a:p>
            <a:r>
              <a:t>CML3113, Week 12, slide 14</a:t>
            </a:r>
          </a:p>
          <a:p>
            <a:r>
              <a:t/>
            </a:r>
          </a:p>
          <a:p>
            <a:r>
              <a:t>Explanation to give</a:t>
            </a:r>
          </a:p>
          <a:p>
            <a:r>
              <a:t>First filter candidates using the published eligibility limits. Rank the survivors with the stated error, speed and tie-break order. If none qualify, return the required no-selection result.</a:t>
            </a:r>
          </a:p>
          <a:p>
            <a:r>
              <a:t/>
            </a:r>
          </a:p>
          <a:p>
            <a:r>
              <a:t>Worked illustration / lecturer answer</a:t>
            </a:r>
          </a:p>
          <a:p>
            <a:r>
              <a:t>A model with lower MAE but excessive prediction time is ineligible when latency is a hard constraint. Test a candidate exactly on each limit to check inclusive comparisons.</a:t>
            </a:r>
          </a:p>
          <a:p>
            <a:r>
              <a:t/>
            </a:r>
          </a:p>
          <a:p>
            <a:r>
              <a:t>Misconception to address</a:t>
            </a:r>
          </a:p>
          <a:p>
            <a:r>
              <a:t>Do not rank before enforcing constraints or silently relax a limit to produce a winner.</a:t>
            </a:r>
          </a:p>
          <a:p>
            <a:r>
              <a:t/>
            </a:r>
          </a:p>
          <a:p>
            <a:r>
              <a:t>On this slide</a:t>
            </a:r>
          </a:p>
          <a:p>
            <a:r>
              <a:t>['simple']</a:t>
            </a:r>
          </a:p>
          <a:p>
            <a:r>
              <a:t/>
            </a:r>
          </a:p>
          <a:p>
            <a:r>
              <a:t>Continue to</a:t>
            </a:r>
          </a:p>
          <a:p>
            <a:r>
              <a:t>A tuple supplies an ordered ranking key</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tuple supplies an ordered ranking key</a:t>
            </a:r>
          </a:p>
          <a:p>
            <a:r>
              <a:t>CML3113, Week 12, slide 15</a:t>
            </a:r>
          </a:p>
          <a:p>
            <a:r>
              <a:t/>
            </a:r>
          </a:p>
          <a:p>
            <a:r>
              <a:t>Explanation to give</a:t>
            </a:r>
          </a:p>
          <a:p>
            <a:r>
              <a:t>A ranking key states the priorities in order. Python compares tuples by the first element, then the second only on a tie, and so on. A key function returns that tuple for one candidate.</a:t>
            </a:r>
          </a:p>
          <a:p>
            <a:r>
              <a:t/>
            </a:r>
          </a:p>
          <a:p>
            <a:r>
              <a:t>Worked illustration / lecturer answer</a:t>
            </a:r>
          </a:p>
          <a:p>
            <a:r>
              <a:t>Keys (3,8,"A") and (3,6,"B") tie on error 3, so latency 6 wins. A third label component makes a remaining exact tie deterministic.</a:t>
            </a:r>
          </a:p>
          <a:p>
            <a:r>
              <a:t/>
            </a:r>
          </a:p>
          <a:p>
            <a:r>
              <a:t>Misconception to address</a:t>
            </a:r>
          </a:p>
          <a:p>
            <a:r>
              <a:t>sorted returns a new ordered list. It does not select only eligible candidates unless filtering happened first. Follow the published priority order.</a:t>
            </a:r>
          </a:p>
          <a:p>
            <a:r>
              <a:t/>
            </a:r>
          </a:p>
          <a:p>
            <a:r>
              <a:t>On this slide</a:t>
            </a:r>
          </a:p>
          <a:p>
            <a:r>
              <a:t>A tuple holds several values in order, such as (error, time, name).</a:t>
            </a:r>
          </a:p>
          <a:p>
            <a:r>
              <a:t/>
            </a:r>
          </a:p>
          <a:p>
            <a:r>
              <a:t>Python compares the first values. A tie moves the comparison to the second.</a:t>
            </a:r>
          </a:p>
          <a:p>
            <a:r>
              <a:t/>
            </a:r>
          </a:p>
          <a:p>
            <a:r>
              <a:t>If those also tie, the third value decides.</a:t>
            </a:r>
          </a:p>
          <a:p>
            <a:r>
              <a:t/>
            </a:r>
          </a:p>
          <a:p>
            <a:r>
              <a:t>Continue to</a:t>
            </a:r>
          </a:p>
          <a:p>
            <a:r>
              <a:t>Trace a tuple ranking key</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Trace a tuple ranking key</a:t>
            </a:r>
          </a:p>
          <a:p>
            <a:r>
              <a:t>CML3113, Week 12, slide 16</a:t>
            </a:r>
          </a:p>
          <a:p>
            <a:r>
              <a:t/>
            </a:r>
          </a:p>
          <a:p>
            <a:r>
              <a:t>Explanation to give</a:t>
            </a:r>
          </a:p>
          <a:p>
            <a:r>
              <a:t>A ranking key states the priorities in order. Python compares tuples by the first element, then the second only on a tie, and so on. A key function returns that tuple for one candidate.</a:t>
            </a:r>
          </a:p>
          <a:p>
            <a:r>
              <a:t/>
            </a:r>
          </a:p>
          <a:p>
            <a:r>
              <a:t>Worked illustration / lecturer answer</a:t>
            </a:r>
          </a:p>
          <a:p>
            <a:r>
              <a:t>Keys (3,8,"A") and (3,6,"B") tie on error 3, so latency 6 wins. A third label component makes a remaining exact tie deterministic.</a:t>
            </a:r>
          </a:p>
          <a:p>
            <a:r>
              <a:t/>
            </a:r>
          </a:p>
          <a:p>
            <a:r>
              <a:t>Misconception to address</a:t>
            </a:r>
          </a:p>
          <a:p>
            <a:r>
              <a:t>sorted returns a new ordered list. It does not select only eligible candidates unless filtering happened first. Follow the published priority order.</a:t>
            </a:r>
          </a:p>
          <a:p>
            <a:r>
              <a:t/>
            </a:r>
          </a:p>
          <a:p>
            <a:r>
              <a:t>On this slide</a:t>
            </a:r>
          </a:p>
          <a:p>
            <a:r>
              <a:t>Candidate | Key: error, ms, name | Position</a:t>
            </a:r>
          </a:p>
          <a:p>
            <a:r>
              <a:t>beta | (2, 5, "beta") | 1: lower error</a:t>
            </a:r>
          </a:p>
          <a:p>
            <a:r>
              <a:t>alpha | (3, 1, "alpha") | 2: tie on error; faster</a:t>
            </a:r>
          </a:p>
          <a:p>
            <a:r>
              <a:t>gamma | (3, 2, "gamma") | 3: same error; slower</a:t>
            </a:r>
          </a:p>
          <a:p>
            <a:r>
              <a:t>Only eligible candidates reach ranking. If error and time tie, compare the names alphabetically.</a:t>
            </a:r>
          </a:p>
          <a:p>
            <a:r>
              <a:t/>
            </a:r>
          </a:p>
          <a:p>
            <a:r>
              <a:t>Reference / existing resource</a:t>
            </a:r>
          </a:p>
          <a:p>
            <a:r>
              <a:t>https://docs.python.org/3/tutorial/introduction.html</a:t>
            </a:r>
          </a:p>
          <a:p>
            <a:r>
              <a:t>https://docs.python.org/3/tutorial/controlflow.html;</a:t>
            </a:r>
          </a:p>
          <a:p>
            <a:r>
              <a:t/>
            </a:r>
          </a:p>
          <a:p>
            <a:r>
              <a:t>Continue to</a:t>
            </a:r>
          </a:p>
          <a:p>
            <a:r>
              <a:t>Pass a function as the sorting key</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Pass a function as the sorting key</a:t>
            </a:r>
          </a:p>
          <a:p>
            <a:r>
              <a:t>CML3113, Week 12, slide 17</a:t>
            </a:r>
          </a:p>
          <a:p>
            <a:r>
              <a:t/>
            </a:r>
          </a:p>
          <a:p>
            <a:r>
              <a:t>Explanation to give</a:t>
            </a:r>
          </a:p>
          <a:p>
            <a:r>
              <a:t>A ranking key states the priorities in order. Python compares tuples by the first element, then the second only on a tie, and so on. A key function returns that tuple for one candidate.</a:t>
            </a:r>
          </a:p>
          <a:p>
            <a:r>
              <a:t/>
            </a:r>
          </a:p>
          <a:p>
            <a:r>
              <a:t>Worked illustration / lecturer answer</a:t>
            </a:r>
          </a:p>
          <a:p>
            <a:r>
              <a:t>Keys (3,8,"A") and (3,6,"B") tie on error 3, so latency 6 wins. A third label component makes a remaining exact tie deterministic.</a:t>
            </a:r>
          </a:p>
          <a:p>
            <a:r>
              <a:t/>
            </a:r>
          </a:p>
          <a:p>
            <a:r>
              <a:t>Misconception to address</a:t>
            </a:r>
          </a:p>
          <a:p>
            <a:r>
              <a:t>sorted returns a new ordered list. It does not select only eligible candidates unless filtering happened first. Follow the published priority order.</a:t>
            </a:r>
          </a:p>
          <a:p>
            <a:r>
              <a:t/>
            </a:r>
          </a:p>
          <a:p>
            <a:r>
              <a:t>On this slide</a:t>
            </a:r>
          </a:p>
          <a:p>
            <a:r>
              <a:t>sorted returns a new list in order. In sorted(eligible, key=rank), rank is the function itself, passed without calling it.</a:t>
            </a:r>
          </a:p>
          <a:p>
            <a:r>
              <a:t/>
            </a:r>
          </a:p>
          <a:p>
            <a:r>
              <a:t>sorted calls rank(item) for each candidate and compares the returned tuples. Writing rank() here would call it immediately without its required input.</a:t>
            </a:r>
          </a:p>
          <a:p>
            <a:r>
              <a:t/>
            </a:r>
          </a:p>
          <a:p>
            <a:r>
              <a:t>The original eligible list is unchanged. Check len(ordered) before using ordered[0], because an empty list has no first position.</a:t>
            </a:r>
          </a:p>
          <a:p>
            <a:r>
              <a:t/>
            </a:r>
          </a:p>
          <a:p>
            <a:r>
              <a:t>Reference / existing resource</a:t>
            </a:r>
          </a:p>
          <a:p>
            <a:r>
              <a:t>https://docs.python.org/3/tutorial/introduction.html</a:t>
            </a:r>
          </a:p>
          <a:p>
            <a:r>
              <a:t>https://docs.python.org/3/tutorial/controlflow.html;</a:t>
            </a:r>
          </a:p>
          <a:p>
            <a:r>
              <a:t/>
            </a:r>
          </a:p>
          <a:p>
            <a:r>
              <a:t>Continue to</a:t>
            </a:r>
          </a:p>
          <a:p>
            <a:r>
              <a:t>Sorting with a tie-break rule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Sorting with a tie-break rule</a:t>
            </a:r>
          </a:p>
          <a:p>
            <a:r>
              <a:t>CML3113, Week 12, slide 18</a:t>
            </a:r>
          </a:p>
          <a:p>
            <a:r>
              <a:t/>
            </a:r>
          </a:p>
          <a:p>
            <a:r>
              <a:t>Explanation to give</a:t>
            </a:r>
          </a:p>
          <a:p>
            <a:r>
              <a:t>A ranking key states the priorities in order. Python compares tuples by the first element, then the second only on a tie, and so on. A key function returns that tuple for one candidate.</a:t>
            </a:r>
          </a:p>
          <a:p>
            <a:r>
              <a:t/>
            </a:r>
          </a:p>
          <a:p>
            <a:r>
              <a:t>Worked illustration / lecturer answer</a:t>
            </a:r>
          </a:p>
          <a:p>
            <a:r>
              <a:t>Keys (3,8,"A") and (3,6,"B") tie on error 3, so latency 6 wins. A third label component makes a remaining exact tie deterministic.</a:t>
            </a:r>
          </a:p>
          <a:p>
            <a:r>
              <a:t/>
            </a:r>
          </a:p>
          <a:p>
            <a:r>
              <a:t>Misconception to address</a:t>
            </a:r>
          </a:p>
          <a:p>
            <a:r>
              <a:t>sorted returns a new ordered list. It does not select only eligible candidates unless filtering happened first. Follow the published priority order.</a:t>
            </a:r>
          </a:p>
          <a:p>
            <a:r>
              <a:t/>
            </a:r>
          </a:p>
          <a:p>
            <a:r>
              <a:t>On this slide</a:t>
            </a:r>
          </a:p>
          <a:p>
            <a:r>
              <a:t>A tuple is an ordered group of values.</a:t>
            </a:r>
          </a:p>
          <a:p>
            <a:r>
              <a:t/>
            </a:r>
          </a:p>
          <a:p>
            <a:r>
              <a:t>Python compares the first item, then the second when tied, then the third.</a:t>
            </a:r>
          </a:p>
          <a:p>
            <a:r>
              <a:t/>
            </a:r>
          </a:p>
          <a:p>
            <a:r>
              <a:t>The key function gives sorted the tuple for each candidate.</a:t>
            </a:r>
          </a:p>
          <a:p>
            <a:r>
              <a:t/>
            </a:r>
          </a:p>
          <a:p>
            <a:r>
              <a:t>Guard an empty list before selecting position zero.</a:t>
            </a:r>
          </a:p>
          <a:p>
            <a:r>
              <a:t/>
            </a:r>
          </a:p>
          <a:p>
            <a:r>
              <a:t>Continue to</a:t>
            </a:r>
          </a:p>
          <a:p>
            <a:r>
              <a:t>Sorting with a named function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Sorting with a named function</a:t>
            </a:r>
          </a:p>
          <a:p>
            <a:r>
              <a:t>CML3113, Week 12, slide 19</a:t>
            </a:r>
          </a:p>
          <a:p>
            <a:r>
              <a:t/>
            </a:r>
          </a:p>
          <a:p>
            <a:r>
              <a:t>Explanation to give</a:t>
            </a:r>
          </a:p>
          <a:p>
            <a:r>
              <a:t>A ranking key states the priorities in order. Python compares tuples by the first element, then the second only on a tie, and so on. A key function returns that tuple for one candidate.</a:t>
            </a:r>
          </a:p>
          <a:p>
            <a:r>
              <a:t/>
            </a:r>
          </a:p>
          <a:p>
            <a:r>
              <a:t>Worked illustration / lecturer answer</a:t>
            </a:r>
          </a:p>
          <a:p>
            <a:r>
              <a:t>Keys (3,8,"A") and (3,6,"B") tie on error 3, so latency 6 wins. A third label component makes a remaining exact tie deterministic.</a:t>
            </a:r>
          </a:p>
          <a:p>
            <a:r>
              <a:t/>
            </a:r>
          </a:p>
          <a:p>
            <a:r>
              <a:t>Misconception to address</a:t>
            </a:r>
          </a:p>
          <a:p>
            <a:r>
              <a:t>sorted returns a new ordered list. It does not select only eligible candidates unless filtering happened first. Follow the published priority order.</a:t>
            </a:r>
          </a:p>
          <a:p>
            <a:r>
              <a:t/>
            </a:r>
          </a:p>
          <a:p>
            <a:r>
              <a:t>On this slide</a:t>
            </a:r>
          </a:p>
          <a:p>
            <a:r>
              <a:t>Expression | Meaning</a:t>
            </a:r>
          </a:p>
          <a:p>
            <a:r>
              <a:t>key=rank | Use rank to build each comparison key</a:t>
            </a:r>
          </a:p>
          <a:p>
            <a:r>
              <a:t>sorted(eligible, key=rank) | Return a newly ordered list</a:t>
            </a:r>
          </a:p>
          <a:p>
            <a:r>
              <a:t>ordered[0] | Select its first item</a:t>
            </a:r>
          </a:p>
          <a:p>
            <a:r>
              <a:t>len(ordered) == 0 | Check for no eligible candidate</a:t>
            </a:r>
          </a:p>
          <a:p>
            <a:r>
              <a:t>Check for an empty list before accessing position zero.</a:t>
            </a:r>
          </a:p>
          <a:p>
            <a:r>
              <a:t/>
            </a:r>
          </a:p>
          <a:p>
            <a:r>
              <a:t>Continue to</a:t>
            </a:r>
          </a:p>
          <a:p>
            <a:r>
              <a:t>Sorting with a tie-break rule in Python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Sorting with a tie-break rule in Python</a:t>
            </a:r>
          </a:p>
          <a:p>
            <a:r>
              <a:t>CML3113, Week 12, slide 20</a:t>
            </a:r>
          </a:p>
          <a:p>
            <a:r>
              <a:t/>
            </a:r>
          </a:p>
          <a:p>
            <a:r>
              <a:t>Explanation to give</a:t>
            </a:r>
          </a:p>
          <a:p>
            <a:r>
              <a:t>A ranking key states the priorities in order. Python compares tuples by the first element, then the second only on a tie, and so on. A key function returns that tuple for one candidate.</a:t>
            </a:r>
          </a:p>
          <a:p>
            <a:r>
              <a:t/>
            </a:r>
          </a:p>
          <a:p>
            <a:r>
              <a:t>Worked illustration / lecturer answer</a:t>
            </a:r>
          </a:p>
          <a:p>
            <a:r>
              <a:t>Keys (3,8,"A") and (3,6,"B") tie on error 3, so latency 6 wins. A third label component makes a remaining exact tie deterministic.</a:t>
            </a:r>
          </a:p>
          <a:p>
            <a:r>
              <a:t/>
            </a:r>
          </a:p>
          <a:p>
            <a:r>
              <a:t>Misconception to address</a:t>
            </a:r>
          </a:p>
          <a:p>
            <a:r>
              <a:t>sorted returns a new ordered list. It does not select only eligible candidates unless filtering happened first. Follow the published priority order.</a:t>
            </a:r>
          </a:p>
          <a:p>
            <a:r>
              <a:t/>
            </a:r>
          </a:p>
          <a:p>
            <a:r>
              <a:t>Read the displayed code line by line</a:t>
            </a:r>
          </a:p>
          <a:p>
            <a:r>
              <a:t>def rank(item):</a:t>
            </a:r>
          </a:p>
          <a:p>
            <a:r>
              <a:t>Store these instructions under this function name. Names in parentheses are its inputs; the body waits until a call.</a:t>
            </a:r>
          </a:p>
          <a:p>
            <a:r>
              <a:t/>
            </a:r>
          </a:p>
          <a:p>
            <a:r>
              <a:t>return (item["error"], item["ms"], item["name"])</a:t>
            </a:r>
          </a:p>
          <a:p>
            <a:r>
              <a:t>Evaluate this result and send it to the caller, ending this function call.</a:t>
            </a:r>
          </a:p>
          <a:p>
            <a:r>
              <a:t/>
            </a:r>
          </a:p>
          <a:p>
            <a:r>
              <a:t>ordered = sorted(eligible, key=rank)</a:t>
            </a:r>
          </a:p>
          <a:p>
            <a:r>
              <a:t>Evaluate the complete right-hand expression first, then assign its result to the name or selected field on the left.</a:t>
            </a:r>
          </a:p>
          <a:p>
            <a:r>
              <a:t/>
            </a:r>
          </a:p>
          <a:p>
            <a:r>
              <a:t>if len(ordered) == 0:</a:t>
            </a:r>
          </a:p>
          <a:p>
            <a:r>
              <a:t>Evaluate this yes/no condition. Execute its indented body only on the matching path.</a:t>
            </a:r>
          </a:p>
          <a:p>
            <a:r>
              <a:t/>
            </a:r>
          </a:p>
          <a:p>
            <a:r>
              <a:t>winner = None</a:t>
            </a:r>
          </a:p>
          <a:p>
            <a:r>
              <a:t>Evaluate the complete right-hand expression first, then assign its result to the name or selected field on the left.</a:t>
            </a:r>
          </a:p>
          <a:p>
            <a:r>
              <a:t/>
            </a:r>
          </a:p>
          <a:p>
            <a:r>
              <a:t>else:</a:t>
            </a:r>
          </a:p>
          <a:p>
            <a:r>
              <a:t>Use this remaining path when the matching earlier condition did not succeed.</a:t>
            </a:r>
          </a:p>
          <a:p>
            <a:r>
              <a:t/>
            </a:r>
          </a:p>
          <a:p>
            <a:r>
              <a:t>winner = ordered[0]["name"]</a:t>
            </a:r>
          </a:p>
          <a:p>
            <a:r>
              <a:t>Evaluate the complete right-hand expression first, then assign its result to the name or selected field on the left.</a:t>
            </a:r>
          </a:p>
          <a:p>
            <a:r>
              <a:t/>
            </a:r>
          </a:p>
          <a:p>
            <a:r>
              <a:t>print(winner)</a:t>
            </a:r>
          </a:p>
          <a:p>
            <a:r>
              <a:t>Evaluate the expression inside the parentheses and display it. Displaying is separate from returning a function result.</a:t>
            </a:r>
          </a:p>
          <a:p>
            <a:r>
              <a:t/>
            </a:r>
          </a:p>
          <a:p>
            <a:r>
              <a:t>Result / continuity</a:t>
            </a:r>
          </a:p>
          <a:p>
            <a:r>
              <a:t>Read top to bottom. Run the complete example in the matching practice notebook.</a:t>
            </a:r>
          </a:p>
          <a:p>
            <a:r>
              <a:t/>
            </a:r>
          </a:p>
          <a:p>
            <a:r>
              <a:t>Continue to</a:t>
            </a:r>
          </a:p>
          <a:p>
            <a:r>
              <a:t>Local explanation and Conditions of use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Local explanation and Conditions of use</a:t>
            </a:r>
          </a:p>
          <a:p>
            <a:r>
              <a:t>CML3113, Week 12, slide 21</a:t>
            </a:r>
          </a:p>
          <a:p>
            <a:r>
              <a:t/>
            </a:r>
          </a:p>
          <a:p>
            <a:r>
              <a:t>Explanation to give</a:t>
            </a:r>
          </a:p>
          <a:p>
            <a:r>
              <a:t>Connect a model recommendation to the observed evaluation and the intended operating conditions. A local explanation describes one prediction; it does not prove a universal causal rule.</a:t>
            </a:r>
          </a:p>
          <a:p>
            <a:r>
              <a:t/>
            </a:r>
          </a:p>
          <a:p>
            <a:r>
              <a:t>Worked illustration / lecturer answer</a:t>
            </a:r>
          </a:p>
          <a:p>
            <a:r>
              <a:t>A useful statement is “This model met the stated error and latency limits on held-out equipment; validate it on the intended site before operational use.” Point to the comparison table supporting each part.</a:t>
            </a:r>
          </a:p>
          <a:p>
            <a:r>
              <a:t/>
            </a:r>
          </a:p>
          <a:p>
            <a:r>
              <a:t>Misconception to address</a:t>
            </a:r>
          </a:p>
          <a:p>
            <a:r>
              <a:t>Feature importance or one prediction explanation cannot establish that changing the feature would cause the predicted effect.</a:t>
            </a:r>
          </a:p>
          <a:p>
            <a:r>
              <a:t/>
            </a:r>
          </a:p>
          <a:p>
            <a:r>
              <a:t>On this slide</a:t>
            </a:r>
          </a:p>
          <a:p>
            <a:r>
              <a:t>Local explanation: Why a model made one particular prediction. This is different from global importance, which summarises behaviour over many cases.</a:t>
            </a:r>
          </a:p>
          <a:p>
            <a:r>
              <a:t>Conditions of use: The cases and operating circumstances for which the available evidence supports considering the model.</a:t>
            </a:r>
          </a:p>
          <a:p>
            <a:r>
              <a:t/>
            </a:r>
          </a:p>
          <a:p>
            <a:r>
              <a:t>Continue to</a:t>
            </a:r>
          </a:p>
          <a:p>
            <a:r>
              <a:t>A recommendation needs evidence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recommendation needs evidence</a:t>
            </a:r>
          </a:p>
          <a:p>
            <a:r>
              <a:t>CML3113, Week 12, slide 22</a:t>
            </a:r>
          </a:p>
          <a:p>
            <a:r>
              <a:t/>
            </a:r>
          </a:p>
          <a:p>
            <a:r>
              <a:t>Explanation to give</a:t>
            </a:r>
          </a:p>
          <a:p>
            <a:r>
              <a:t>Connect a model recommendation to the observed evaluation and the intended operating conditions. A local explanation describes one prediction; it does not prove a universal causal rule.</a:t>
            </a:r>
          </a:p>
          <a:p>
            <a:r>
              <a:t/>
            </a:r>
          </a:p>
          <a:p>
            <a:r>
              <a:t>Worked illustration / lecturer answer</a:t>
            </a:r>
          </a:p>
          <a:p>
            <a:r>
              <a:t>A useful statement is “This model met the stated error and latency limits on held-out equipment; validate it on the intended site before operational use.” Point to the comparison table supporting each part.</a:t>
            </a:r>
          </a:p>
          <a:p>
            <a:r>
              <a:t/>
            </a:r>
          </a:p>
          <a:p>
            <a:r>
              <a:t>Misconception to address</a:t>
            </a:r>
          </a:p>
          <a:p>
            <a:r>
              <a:t>Feature importance or one prediction explanation cannot establish that changing the feature would cause the predicted effect.</a:t>
            </a:r>
          </a:p>
          <a:p>
            <a:r>
              <a:t/>
            </a:r>
          </a:p>
          <a:p>
            <a:r>
              <a:t>On this slide</a:t>
            </a:r>
          </a:p>
          <a:p>
            <a:r>
              <a:t>State the question and the chosen candidate.</a:t>
            </a:r>
          </a:p>
          <a:p>
            <a:r>
              <a:t/>
            </a:r>
          </a:p>
          <a:p>
            <a:r>
              <a:t>Give the evaluation result and the constraint it satisfies.</a:t>
            </a:r>
          </a:p>
          <a:p>
            <a:r>
              <a:t/>
            </a:r>
          </a:p>
          <a:p>
            <a:r>
              <a:t>State a limitation and the evidence that could change the recommendation.</a:t>
            </a:r>
          </a:p>
          <a:p>
            <a:r>
              <a:t/>
            </a:r>
          </a:p>
          <a:p>
            <a:r>
              <a:t>Continue to</a:t>
            </a:r>
          </a:p>
          <a:p>
            <a:r>
              <a:t>Revision example and answer</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Revision example and answer</a:t>
            </a:r>
          </a:p>
          <a:p>
            <a:r>
              <a:t>CML3113, Week 12, slide 23</a:t>
            </a:r>
          </a:p>
          <a:p>
            <a:r>
              <a:t/>
            </a:r>
          </a:p>
          <a:p>
            <a:r>
              <a:t>Explanation to give</a:t>
            </a:r>
          </a:p>
          <a:p>
            <a:r>
              <a:t>Use the displayed example as a short individual revision question, then explain the reasoning behind its answer.</a:t>
            </a:r>
          </a:p>
          <a:p>
            <a:r>
              <a:t/>
            </a:r>
          </a:p>
          <a:p>
            <a:r>
              <a:t>Worked illustration / lecturer answer</a:t>
            </a:r>
          </a:p>
          <a:p>
            <a:r>
              <a:t>Example: A third model has error 3 and latency 1 ms. Under lowest error then lowest latency, which eligible model wins?</a:t>
            </a:r>
          </a:p>
          <a:p>
            <a:r>
              <a:t/>
            </a:r>
          </a:p>
          <a:p>
            <a:r>
              <a:t>Answer: The third model. Both eligible models have error 3, but 1 ms is faster than 2 ms.</a:t>
            </a:r>
          </a:p>
          <a:p>
            <a:r>
              <a:t/>
            </a:r>
          </a:p>
          <a:p>
            <a:r>
              <a:t>Misconception to address</a:t>
            </a:r>
          </a:p>
          <a:p>
            <a:r>
              <a:t>Trace the operation that changes the value rather than accepting a memorised output. For notebook-state examples, specify which cell is repeated and whether the initialisation ran again.</a:t>
            </a:r>
          </a:p>
          <a:p>
            <a:r>
              <a:t/>
            </a:r>
          </a:p>
          <a:p>
            <a:r>
              <a:t>Continue to</a:t>
            </a:r>
          </a:p>
          <a:p>
            <a:r>
              <a:t>Preparing for the assignment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Preparing for the assignment</a:t>
            </a:r>
          </a:p>
          <a:p>
            <a:r>
              <a:t>CML3113, Week 12, slide 24</a:t>
            </a:r>
          </a:p>
          <a:p>
            <a:r>
              <a:t/>
            </a:r>
          </a:p>
          <a:p>
            <a:r>
              <a:t>Explanation to give</a:t>
            </a:r>
          </a:p>
          <a:p>
            <a:r>
              <a:t>For W12, read the candidate fields exactly: name, validation_mae and latency_ms. Enforce both inclusive limits before ranking by error, latency and alphabetical name.</a:t>
            </a:r>
          </a:p>
          <a:p>
            <a:r>
              <a:t/>
            </a:r>
          </a:p>
          <a:p>
            <a:r>
              <a:t>Worked illustration / lecturer answer</a:t>
            </a:r>
          </a:p>
          <a:p>
            <a:r>
              <a:t>A candidate exactly at both limits is eligible. If the eligible list is empty, return None. The simpler error/ms names on practice slides must be adapted to the assignment’s published field names.</a:t>
            </a:r>
          </a:p>
          <a:p>
            <a:r>
              <a:t/>
            </a:r>
          </a:p>
          <a:p>
            <a:r>
              <a:t>Misconception to address</a:t>
            </a:r>
          </a:p>
          <a:p>
            <a:r>
              <a:t>A sensible general recommendation does not replace the exact graded return interface. Keep the function contract and the wider project discussion distinct.</a:t>
            </a:r>
          </a:p>
          <a:p>
            <a:r>
              <a:t/>
            </a:r>
          </a:p>
          <a:p>
            <a:r>
              <a:t>On this slide</a:t>
            </a:r>
          </a:p>
          <a:p>
            <a:r>
              <a:t>W12 uses fields name, validation_mae and latency_ms.</a:t>
            </a:r>
          </a:p>
          <a:p>
            <a:r>
              <a:t/>
            </a:r>
          </a:p>
          <a:p>
            <a:r>
              <a:t>Meet both inclusive constraints, then rank by error, latency and alphabetical name.</a:t>
            </a:r>
          </a:p>
          <a:p>
            <a:r>
              <a:t/>
            </a:r>
          </a:p>
          <a:p>
            <a:r>
              <a:t>Return None if no candidate qualifies.</a:t>
            </a:r>
          </a:p>
          <a:p>
            <a:r>
              <a:t/>
            </a:r>
          </a:p>
          <a:p>
            <a:r>
              <a:t>Complete the error function and interpret the separately supplied scenario.</a:t>
            </a:r>
          </a:p>
          <a:p>
            <a:r>
              <a:t/>
            </a:r>
          </a:p>
          <a:p>
            <a:r>
              <a:t>Continue to</a:t>
            </a:r>
          </a:p>
          <a:p>
            <a:r>
              <a:t>Preparing for the assignment continued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Preparing for the assignment continued</a:t>
            </a:r>
          </a:p>
          <a:p>
            <a:r>
              <a:t>CML3113, Week 12, slide 25</a:t>
            </a:r>
          </a:p>
          <a:p>
            <a:r>
              <a:t/>
            </a:r>
          </a:p>
          <a:p>
            <a:r>
              <a:t>Explanation to give</a:t>
            </a:r>
          </a:p>
          <a:p>
            <a:r>
              <a:t>For W12, read the candidate fields exactly: name, validation_mae and latency_ms. Enforce both inclusive limits before ranking by error, latency and alphabetical name.</a:t>
            </a:r>
          </a:p>
          <a:p>
            <a:r>
              <a:t/>
            </a:r>
          </a:p>
          <a:p>
            <a:r>
              <a:t>Worked illustration / lecturer answer</a:t>
            </a:r>
          </a:p>
          <a:p>
            <a:r>
              <a:t>A candidate exactly at both limits is eligible. If the eligible list is empty, return None. The simpler error/ms names on practice slides must be adapted to the assignment’s published field names.</a:t>
            </a:r>
          </a:p>
          <a:p>
            <a:r>
              <a:t/>
            </a:r>
          </a:p>
          <a:p>
            <a:r>
              <a:t>Misconception to address</a:t>
            </a:r>
          </a:p>
          <a:p>
            <a:r>
              <a:t>A sensible general recommendation does not replace the exact graded return interface. Keep the function contract and the wider project discussion distinct.</a:t>
            </a:r>
          </a:p>
          <a:p>
            <a:r>
              <a:t/>
            </a:r>
          </a:p>
          <a:p>
            <a:r>
              <a:t>On this slide</a:t>
            </a:r>
          </a:p>
          <a:p>
            <a:r>
              <a:t>Keep project comparisons and graded interfaces distinct.</a:t>
            </a:r>
          </a:p>
          <a:p>
            <a:r>
              <a:t/>
            </a:r>
          </a:p>
          <a:p>
            <a:r>
              <a:t>Continue to</a:t>
            </a:r>
          </a:p>
          <a:p>
            <a:r>
              <a:t>Fair comparison and explanation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Fair comparison and explanation</a:t>
            </a:r>
          </a:p>
          <a:p>
            <a:r>
              <a:t>CML3113, Week 12, slide 26</a:t>
            </a:r>
          </a:p>
          <a:p>
            <a:r>
              <a:t/>
            </a:r>
          </a:p>
          <a:p>
            <a:r>
              <a:t>Explanation to give</a:t>
            </a:r>
          </a:p>
          <a:p>
            <a:r>
              <a:t>Connect a model recommendation to the observed evaluation and the intended operating conditions. A local explanation describes one prediction; it does not prove a universal causal rule.</a:t>
            </a:r>
          </a:p>
          <a:p>
            <a:r>
              <a:t/>
            </a:r>
          </a:p>
          <a:p>
            <a:r>
              <a:t>Worked illustration / lecturer answer</a:t>
            </a:r>
          </a:p>
          <a:p>
            <a:r>
              <a:t>A useful statement is “This model met the stated error and latency limits on held-out equipment; validate it on the intended site before operational use.” Point to the comparison table supporting each part.</a:t>
            </a:r>
          </a:p>
          <a:p>
            <a:r>
              <a:t/>
            </a:r>
          </a:p>
          <a:p>
            <a:r>
              <a:t>Misconception to address</a:t>
            </a:r>
          </a:p>
          <a:p>
            <a:r>
              <a:t>Feature importance or one prediction explanation cannot establish that changing the feature would cause the predicted effect.</a:t>
            </a:r>
          </a:p>
          <a:p>
            <a:r>
              <a:t/>
            </a:r>
          </a:p>
          <a:p>
            <a:r>
              <a:t>On this slide</a:t>
            </a:r>
          </a:p>
          <a:p>
            <a:r>
              <a:t>Compare the same metric on the same validation cases with the same preprocessing rules.</a:t>
            </a:r>
          </a:p>
          <a:p>
            <a:r>
              <a:t/>
            </a:r>
          </a:p>
          <a:p>
            <a:r>
              <a:t>A small difference needs context, including variation across splits.</a:t>
            </a:r>
          </a:p>
          <a:p>
            <a:r>
              <a:t/>
            </a:r>
          </a:p>
          <a:p>
            <a:r>
              <a:t>Code run out of order can overwrite the variable holding a model; restart and run from the top.</a:t>
            </a:r>
          </a:p>
          <a:p>
            <a:r>
              <a:t/>
            </a:r>
          </a:p>
          <a:p>
            <a:r>
              <a:t>A local explanation addresses one prediction; global importance summarises many.</a:t>
            </a:r>
          </a:p>
          <a:p>
            <a:r>
              <a:t/>
            </a:r>
          </a:p>
          <a:p>
            <a:r>
              <a:t>Continue to</a:t>
            </a:r>
          </a:p>
          <a:p>
            <a:r>
              <a:t>Fair comparison and explanation continued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Fair comparison and explanation continued</a:t>
            </a:r>
          </a:p>
          <a:p>
            <a:r>
              <a:t>CML3113, Week 12, slide 27</a:t>
            </a:r>
          </a:p>
          <a:p>
            <a:r>
              <a:t/>
            </a:r>
          </a:p>
          <a:p>
            <a:r>
              <a:t>Explanation to give</a:t>
            </a:r>
          </a:p>
          <a:p>
            <a:r>
              <a:t>Connect a model recommendation to the observed evaluation and the intended operating conditions. A local explanation describes one prediction; it does not prove a universal causal rule.</a:t>
            </a:r>
          </a:p>
          <a:p>
            <a:r>
              <a:t/>
            </a:r>
          </a:p>
          <a:p>
            <a:r>
              <a:t>Worked illustration / lecturer answer</a:t>
            </a:r>
          </a:p>
          <a:p>
            <a:r>
              <a:t>A useful statement is “This model met the stated error and latency limits on held-out equipment; validate it on the intended site before operational use.” Point to the comparison table supporting each part.</a:t>
            </a:r>
          </a:p>
          <a:p>
            <a:r>
              <a:t/>
            </a:r>
          </a:p>
          <a:p>
            <a:r>
              <a:t>Misconception to address</a:t>
            </a:r>
          </a:p>
          <a:p>
            <a:r>
              <a:t>Feature importance or one prediction explanation cannot establish that changing the feature would cause the predicted effect.</a:t>
            </a:r>
          </a:p>
          <a:p>
            <a:r>
              <a:t/>
            </a:r>
          </a:p>
          <a:p>
            <a:r>
              <a:t>On this slide</a:t>
            </a:r>
          </a:p>
          <a:p>
            <a:r>
              <a:t>A post-hoc explanation of a complex model is not its directly readable internal rule.</a:t>
            </a:r>
          </a:p>
          <a:p>
            <a:r>
              <a:t/>
            </a:r>
          </a:p>
          <a:p>
            <a:r>
              <a:t>Continue to</a:t>
            </a:r>
          </a:p>
          <a:p>
            <a:r>
              <a:t>Your issued task</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Your issued task</a:t>
            </a:r>
          </a:p>
          <a:p>
            <a:r>
              <a:t>CML3113, Week 12, slide 28</a:t>
            </a:r>
          </a:p>
          <a:p>
            <a:r>
              <a:t/>
            </a:r>
          </a:p>
          <a:p>
            <a:r>
              <a:t>Explanation to give</a:t>
            </a:r>
          </a:p>
          <a:p>
            <a:r>
              <a:t>Name this cohort’s target and its unit exactly as displayed. Each row is one operating observation, while equipment_id can repeat across several observations.</a:t>
            </a:r>
          </a:p>
          <a:p>
            <a:r>
              <a:t/>
            </a:r>
          </a:p>
          <a:p>
            <a:r>
              <a:t>Worked illustration / lecturer answer</a:t>
            </a:r>
          </a:p>
          <a:p>
            <a:r>
              <a:t>Explain record_id as the identifier of an observation, load_pct as load expressed in percent and ambient_c as temperature in degrees Celsius. The target records the known answer in training data.</a:t>
            </a:r>
          </a:p>
          <a:p>
            <a:r>
              <a:t/>
            </a:r>
          </a:p>
          <a:p>
            <a:r>
              <a:t>Misconception to address</a:t>
            </a:r>
          </a:p>
          <a:p>
            <a:r>
              <a:t>These are synthetic examples for learning. They do not establish a calibrated physical relationship or justify operation of real equipment.</a:t>
            </a:r>
          </a:p>
          <a:p>
            <a:r>
              <a:t/>
            </a:r>
          </a:p>
          <a:p>
            <a:r>
              <a:t>On this slide</a:t>
            </a:r>
          </a:p>
          <a:p>
            <a:r>
              <a:t>Investigate crusher energy demand.</a:t>
            </a:r>
          </a:p>
          <a:p>
            <a:r>
              <a:t/>
            </a:r>
          </a:p>
          <a:p>
            <a:r>
              <a:t>Target units: kWh/t.</a:t>
            </a:r>
          </a:p>
          <a:p>
            <a:r>
              <a:t/>
            </a:r>
          </a:p>
          <a:p>
            <a:r>
              <a:t>These are synthetic teaching records, not measurements suitable for deployment.</a:t>
            </a:r>
          </a:p>
          <a:p>
            <a:r>
              <a:t/>
            </a:r>
          </a:p>
          <a:p>
            <a:r>
              <a:t>Each record is one operating observation; equipment_id repeats across observations.</a:t>
            </a:r>
          </a:p>
          <a:p>
            <a:r>
              <a:t/>
            </a:r>
          </a:p>
          <a:p>
            <a:r>
              <a:t>Continue to</a:t>
            </a:r>
          </a:p>
          <a:p>
            <a:r>
              <a:t>select_model(candidates, max_mae, max_ms)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select_model(candidates, max_mae, max_ms)</a:t>
            </a:r>
          </a:p>
          <a:p>
            <a:r>
              <a:t>CML3113, Week 12, slide 29</a:t>
            </a:r>
          </a:p>
          <a:p>
            <a:r>
              <a:t/>
            </a:r>
          </a:p>
          <a:p>
            <a:r>
              <a:t>Explanation to give</a:t>
            </a:r>
          </a:p>
          <a:p>
            <a:r>
              <a:t>Filter by both published limits, then apply the full tie-break rule. Return the requested model identifier or the specified no-candidate result.</a:t>
            </a:r>
          </a:p>
          <a:p>
            <a:r>
              <a:t/>
            </a:r>
          </a:p>
          <a:p>
            <a:r>
              <a:t>Worked illustration / lecturer answer</a:t>
            </a:r>
          </a:p>
          <a:p>
            <a:r>
              <a:t>Check an exactly-on-limit candidate, a tied pair and an empty eligible list. These are ordinary contract cases rather than optional extensions.</a:t>
            </a:r>
          </a:p>
          <a:p>
            <a:r>
              <a:t/>
            </a:r>
          </a:p>
          <a:p>
            <a:r>
              <a:t>Misconception to address</a:t>
            </a:r>
          </a:p>
          <a:p>
            <a:r>
              <a:t>Keep the exact output names and required types. Use the task text for the learner’s own assessed answer; the alternate example explains the method without replacing their work.</a:t>
            </a:r>
          </a:p>
          <a:p>
            <a:r>
              <a:t/>
            </a:r>
          </a:p>
          <a:p>
            <a:r>
              <a:t>On this slide</a:t>
            </a:r>
          </a:p>
          <a:p>
            <a:r>
              <a:t>Candidates have name, validation_mae and latency_ms.</a:t>
            </a:r>
          </a:p>
          <a:p>
            <a:r>
              <a:t/>
            </a:r>
          </a:p>
          <a:p>
            <a:r>
              <a:t>Keep those meeting both inclusive constraints; select smallest validation_mae, then latency_ms, then name alphabetically.</a:t>
            </a:r>
          </a:p>
          <a:p>
            <a:r>
              <a:t/>
            </a:r>
          </a:p>
          <a:p>
            <a:r>
              <a:t>Return the selected name or None.</a:t>
            </a:r>
          </a:p>
          <a:p>
            <a:r>
              <a:t/>
            </a:r>
          </a:p>
          <a:p>
            <a:r>
              <a:t>Never use test scores for selection.</a:t>
            </a:r>
          </a:p>
          <a:p>
            <a:r>
              <a:t/>
            </a:r>
          </a:p>
          <a:p>
            <a:r>
              <a:t>Continue to</a:t>
            </a:r>
          </a:p>
          <a:p>
            <a:r>
              <a:t>regression_errors(actual, predicted)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regression_errors(actual, predicted)</a:t>
            </a:r>
          </a:p>
          <a:p>
            <a:r>
              <a:t>CML3113, Week 12, slide 30</a:t>
            </a:r>
          </a:p>
          <a:p>
            <a:r>
              <a:t/>
            </a:r>
          </a:p>
          <a:p>
            <a:r>
              <a:t>Explanation to give</a:t>
            </a:r>
          </a:p>
          <a:p>
            <a:r>
              <a:t>Pair actual and predicted values by position. Return mae and rmse with full numerical precision.</a:t>
            </a:r>
          </a:p>
          <a:p>
            <a:r>
              <a:t/>
            </a:r>
          </a:p>
          <a:p>
            <a:r>
              <a:t>Worked illustration / lecturer answer</a:t>
            </a:r>
          </a:p>
          <a:p>
            <a:r>
              <a:t>On separate teaching pairs with errors 2 and 4, MAE is 3 and RMSE is sqrt(10). Rounding is for a labelled display, not for the returned metric.</a:t>
            </a:r>
          </a:p>
          <a:p>
            <a:r>
              <a:t/>
            </a:r>
          </a:p>
          <a:p>
            <a:r>
              <a:t>Misconception to address</a:t>
            </a:r>
          </a:p>
          <a:p>
            <a:r>
              <a:t>Keep the exact output names and required types. Use the task text for the learner’s own assessed answer; the alternate example explains the method without replacing their work.</a:t>
            </a:r>
          </a:p>
          <a:p>
            <a:r>
              <a:t/>
            </a:r>
          </a:p>
          <a:p>
            <a:r>
              <a:t>On this slide</a:t>
            </a:r>
          </a:p>
          <a:p>
            <a:r>
              <a:t>Return mae and rmse, calculated over the same paired observations, with full precision.</a:t>
            </a:r>
          </a:p>
          <a:p>
            <a:r>
              <a:t/>
            </a:r>
          </a:p>
          <a:p>
            <a:r>
              <a:t>Continue to</a:t>
            </a:r>
          </a:p>
          <a:p>
            <a:r>
              <a:t>Written evidence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Written evidence</a:t>
            </a:r>
          </a:p>
          <a:p>
            <a:r>
              <a:t>CML3113, Week 12, slide 31</a:t>
            </a:r>
          </a:p>
          <a:p>
            <a:r>
              <a:t/>
            </a:r>
          </a:p>
          <a:p>
            <a:r>
              <a:t>Explanation to give</a:t>
            </a:r>
          </a:p>
          <a:p>
            <a:r>
              <a:t>Show the actual markdown answer cell headed My written evidence. This is where the learner explains the choices and the supplied scenario in their own words.</a:t>
            </a:r>
          </a:p>
          <a:p>
            <a:r>
              <a:t/>
            </a:r>
          </a:p>
          <a:p>
            <a:r>
              <a:t>Worked illustration / lecturer answer</a:t>
            </a:r>
          </a:p>
          <a:p>
            <a:r>
              <a:t>A useful explanation connects a decision to a named result and its limitation: for example, why a training-only median avoids using evaluation information. Describe supplied scenario figures as supplied, not as measurements the learner produced.</a:t>
            </a:r>
          </a:p>
          <a:p>
            <a:r>
              <a:t/>
            </a:r>
          </a:p>
          <a:p>
            <a:r>
              <a:t>Misconception to address</a:t>
            </a:r>
          </a:p>
          <a:p>
            <a:r>
              <a:t>Prompts and copied code comments do not substitute for the learner’s reasoning. Weekly work and tests use the notebook; projects also require their separate readable report.</a:t>
            </a:r>
          </a:p>
          <a:p>
            <a:r>
              <a:t/>
            </a:r>
          </a:p>
          <a:p>
            <a:r>
              <a:t>On this slide</a:t>
            </a:r>
          </a:p>
          <a:p>
            <a:r>
              <a:t>Use the cell headed “My written evidence”.</a:t>
            </a:r>
          </a:p>
          <a:p>
            <a:r>
              <a:t/>
            </a:r>
          </a:p>
          <a:p>
            <a:r>
              <a:t>Explain the supplied scenario in your own words.</a:t>
            </a:r>
          </a:p>
          <a:p>
            <a:r>
              <a:t/>
            </a:r>
          </a:p>
          <a:p>
            <a:r>
              <a:t>State target units, reasons and limitations.</a:t>
            </a:r>
          </a:p>
          <a:p>
            <a:r>
              <a:t/>
            </a:r>
          </a:p>
          <a:p>
            <a:r>
              <a:t>Submit one complete notebook containing code and written evidence.</a:t>
            </a:r>
          </a:p>
          <a:p>
            <a:r>
              <a:t/>
            </a:r>
          </a:p>
          <a:p>
            <a:r>
              <a:t>Continue to</a:t>
            </a:r>
          </a:p>
          <a:p>
            <a:r>
              <a:t>Model recommendation submission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Model recommendation submission</a:t>
            </a:r>
          </a:p>
          <a:p>
            <a:r>
              <a:t>CML3113, Week 12, slide 32</a:t>
            </a:r>
          </a:p>
          <a:p>
            <a:r>
              <a:t/>
            </a:r>
          </a:p>
          <a:p>
            <a:r>
              <a:t>Explanation to give</a:t>
            </a:r>
          </a:p>
          <a:p>
            <a:r>
              <a:t>This slide hands over CML3113 W12. Show the exact form title before uploading. The required packet is one completed .ipynb notebook.</a:t>
            </a:r>
          </a:p>
          <a:p>
            <a:r>
              <a:t/>
            </a:r>
          </a:p>
          <a:p>
            <a:r>
              <a:t>Worked illustration / lecturer answer</a:t>
            </a:r>
          </a:p>
          <a:p>
            <a:r>
              <a:t>The recorded cutoff for this form is 2026-11-27T11:00:00+03:00. Check the live form for later changes. A replacement must contain the complete required file set, not just the changed file.</a:t>
            </a:r>
          </a:p>
          <a:p>
            <a:r>
              <a:t/>
            </a:r>
          </a:p>
          <a:p>
            <a:r>
              <a:t>Misconception to address</a:t>
            </a:r>
          </a:p>
          <a:p>
            <a:r>
              <a:t>Students enter their own Student Registration Number as required freeform text. They wait for filenames to appear, press Submit and keep the confirmation. A file saved in Drive or GitHub is not itself a form submission.</a:t>
            </a:r>
          </a:p>
          <a:p>
            <a:r>
              <a:t/>
            </a:r>
          </a:p>
          <a:p>
            <a:r>
              <a:t>On this slide</a:t>
            </a:r>
          </a:p>
          <a:p>
            <a:r>
              <a:t>Opens: 27 Nov 2026, 08:00 Kampala</a:t>
            </a:r>
          </a:p>
          <a:p>
            <a:r>
              <a:t/>
            </a:r>
          </a:p>
          <a:p>
            <a:r>
              <a:t>Deadline: 27 Nov 2026, 11:00 Kampala</a:t>
            </a:r>
          </a:p>
          <a:p>
            <a:r>
              <a:t/>
            </a:r>
          </a:p>
          <a:p>
            <a:r>
              <a:t>Use your full Student Registration Number in the form.</a:t>
            </a:r>
          </a:p>
          <a:p>
            <a:r>
              <a:t/>
            </a:r>
          </a:p>
          <a:p>
            <a:r>
              <a:t>Keep the submitted files and confirmation.</a:t>
            </a:r>
          </a:p>
          <a:p>
            <a:r>
              <a:t/>
            </a:r>
          </a:p>
          <a:p>
            <a:r>
              <a:t>Continue to</a:t>
            </a:r>
          </a:p>
          <a:p>
            <a:r>
              <a:t>Project preparation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Project preparation</a:t>
            </a:r>
          </a:p>
          <a:p>
            <a:r>
              <a:t>CML3113, Week 12, slide 33</a:t>
            </a:r>
          </a:p>
          <a:p>
            <a:r>
              <a:t/>
            </a:r>
          </a:p>
          <a:p>
            <a:r>
              <a:t>Explanation to give</a:t>
            </a:r>
          </a:p>
          <a:p>
            <a:r>
              <a:t>Make contribution evidence specific enough to check. A seed records the starting state of random choices; a contribution log records who produced and explained which work.</a:t>
            </a:r>
          </a:p>
          <a:p>
            <a:r>
              <a:t/>
            </a:r>
          </a:p>
          <a:p>
            <a:r>
              <a:t>Worked illustration / lecturer answer</a:t>
            </a:r>
          </a:p>
          <a:p>
            <a:r>
              <a:t>Name a file, function or chart and the decision behind it. Match that entry to meaningful repository history. Disclose AI assistance according to the assessment policy.</a:t>
            </a:r>
          </a:p>
          <a:p>
            <a:r>
              <a:t/>
            </a:r>
          </a:p>
          <a:p>
            <a:r>
              <a:t>Misconception to address</a:t>
            </a:r>
          </a:p>
          <a:p>
            <a:r>
              <a:t>Many commits do not necessarily mean substantial work, and a seed does not establish accuracy. Both are supporting evidence, not replacements for the analysis.</a:t>
            </a:r>
          </a:p>
          <a:p>
            <a:r>
              <a:t/>
            </a:r>
          </a:p>
          <a:p>
            <a:r>
              <a:t>On this slide</a:t>
            </a:r>
          </a:p>
          <a:p>
            <a:r>
              <a:t>Use the published machine learning project brief.</a:t>
            </a:r>
          </a:p>
          <a:p>
            <a:r>
              <a:t/>
            </a:r>
          </a:p>
          <a:p>
            <a:r>
              <a:t>Build the evidence gradually in your project notebook.</a:t>
            </a:r>
          </a:p>
          <a:p>
            <a:r>
              <a:t/>
            </a:r>
          </a:p>
          <a:p>
            <a:r>
              <a:t>Keep raw data, labelled charts, run instructions and individual contributions.</a:t>
            </a:r>
          </a:p>
          <a:p>
            <a:r>
              <a:t/>
            </a:r>
          </a:p>
          <a:p>
            <a:r>
              <a:t>Published deadline: 18 Dec 2026, 08:00 Kampala</a:t>
            </a:r>
          </a:p>
          <a:p>
            <a:r>
              <a:t/>
            </a:r>
          </a:p>
          <a:p>
            <a:r>
              <a:t>Continue to</a:t>
            </a:r>
          </a:p>
          <a:p>
            <a:r>
              <a:t>Week 12 quiz</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Week 12 quiz</a:t>
            </a:r>
          </a:p>
          <a:p>
            <a:r>
              <a:t>CML3113, Week 12, slide 34</a:t>
            </a:r>
          </a:p>
          <a:p>
            <a:r>
              <a:t/>
            </a:r>
          </a:p>
          <a:p>
            <a:r>
              <a:t>Explanation to give</a:t>
            </a:r>
          </a:p>
          <a:p>
            <a:r>
              <a:t>This is the CML3113 Week 1 quiz. The student link opens the response form; it does not activate its window. In Quiz Controls use open_W1_CML3113 when ready and read the logged closing time.</a:t>
            </a:r>
          </a:p>
          <a:p>
            <a:r>
              <a:t/>
            </a:r>
          </a:p>
          <a:p>
            <a:r>
              <a:t>Worked illustration / lecturer answer</a:t>
            </a:r>
          </a:p>
          <a:p>
            <a:r>
              <a:t>Explain the distinction between the expected answering time and availability: five minutes of questions can still be available for 24 hours after activation. Enter the learner’s own Student Registration Number and use the registered Google account.</a:t>
            </a:r>
          </a:p>
          <a:p>
            <a:r>
              <a:t/>
            </a:r>
          </a:p>
          <a:p>
            <a:r>
              <a:t>Misconception to address</a:t>
            </a:r>
          </a:p>
          <a:p>
            <a:r>
              <a:t>Read the exact live cutoff before announcing it. Do not promise a new attempt to somebody who already submitted. Quiz catch-up and assignment uploads are separate forms.</a:t>
            </a:r>
          </a:p>
          <a:p>
            <a:r>
              <a:t/>
            </a:r>
          </a:p>
          <a:p>
            <a:r>
              <a:t>On this slide</a:t>
            </a:r>
          </a:p>
          <a:p>
            <a:r>
              <a:t>Answer individually after the lecturer activates the quiz.</a:t>
            </a:r>
          </a:p>
          <a:p>
            <a:r>
              <a:t/>
            </a:r>
          </a:p>
          <a:p>
            <a:r>
              <a:t>Available for 24 hours from activation.</a:t>
            </a:r>
          </a:p>
          <a:p>
            <a:r>
              <a:t/>
            </a:r>
          </a:p>
          <a:p>
            <a:r>
              <a:t>Use your Student Registration Number and registered account.</a:t>
            </a:r>
          </a:p>
          <a:p>
            <a:r>
              <a:t/>
            </a:r>
          </a:p>
          <a:p>
            <a:r>
              <a:t>Check the announced quiz closing time.</a:t>
            </a:r>
          </a:p>
          <a:p>
            <a:r>
              <a:t/>
            </a:r>
          </a:p>
          <a:p>
            <a:r>
              <a:t>Continue to</a:t>
            </a:r>
          </a:p>
          <a:p>
            <a:r>
              <a:t>Revision and submission checklist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Revision and submission checklist</a:t>
            </a:r>
          </a:p>
          <a:p>
            <a:r>
              <a:t>CML3113, Week 12, slide 35</a:t>
            </a:r>
          </a:p>
          <a:p>
            <a:r>
              <a:t/>
            </a:r>
          </a:p>
          <a:p>
            <a:r>
              <a:t>Explanation to give</a:t>
            </a:r>
          </a:p>
          <a:p>
            <a:r>
              <a:t>A recommendation must satisfy the practical limits before it wins on a ranking metric. Explain eligibility and tie-breaking separately.</a:t>
            </a:r>
          </a:p>
          <a:p>
            <a:r>
              <a:t/>
            </a:r>
          </a:p>
          <a:p>
            <a:r>
              <a:t>Worked illustration / lecturer answer</a:t>
            </a:r>
          </a:p>
          <a:p>
            <a:r>
              <a:t>A model at 4 error units and 12 ms fails a 10 ms limit even if its error is attractive. Test exact boundaries before ranking eligible candidates.</a:t>
            </a:r>
          </a:p>
          <a:p>
            <a:r>
              <a:t/>
            </a:r>
          </a:p>
          <a:p>
            <a:r>
              <a:t>Misconception to address</a:t>
            </a:r>
          </a:p>
          <a:p>
            <a:r>
              <a:t>Close by identifying the actual saved file and its correct submission route. Read the live deadline. For current weekly notebook tasks, students upload their own work, not the practice notebook, ZIP or grading files.</a:t>
            </a:r>
          </a:p>
          <a:p>
            <a:r>
              <a:t/>
            </a:r>
          </a:p>
          <a:p>
            <a:r>
              <a:t>On this slide</a:t>
            </a:r>
          </a:p>
          <a:p>
            <a:r>
              <a:t>You can justify a valid candidate with evidence and a stated limitation.</a:t>
            </a:r>
          </a:p>
          <a:p>
            <a:r>
              <a:t/>
            </a:r>
          </a:p>
          <a:p>
            <a:r>
              <a:t>Save your work and check the required submission files.</a:t>
            </a:r>
          </a:p>
          <a:p>
            <a:r>
              <a:t/>
            </a:r>
          </a:p>
          <a:p>
            <a:r>
              <a:t>Continue to</a:t>
            </a:r>
          </a:p>
          <a:p>
            <a:r>
              <a:t>Optional revision video</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Optional revision video</a:t>
            </a:r>
          </a:p>
          <a:p>
            <a:r>
              <a:t>CML3113, Week 12, slide 36</a:t>
            </a:r>
          </a:p>
          <a:p>
            <a:r>
              <a:t/>
            </a:r>
          </a:p>
          <a:p>
            <a:r>
              <a:t>Explanation to give</a:t>
            </a:r>
          </a:p>
          <a:p>
            <a:r>
              <a:t>Give the viewing question before playing the excerpt: Why evaluate using observations not used to fit that particular model?</a:t>
            </a:r>
          </a:p>
          <a:p>
            <a:r>
              <a:t/>
            </a:r>
          </a:p>
          <a:p>
            <a:r>
              <a:t>Worked illustration / lecturer answer</a:t>
            </a:r>
          </a:p>
          <a:p>
            <a:r>
              <a:t>Use the adjacent worked example as the explanation if the video cannot load. Pause after the relevant example and connect its terms to the names and units already used in this lesson. Preview the displayed link and excerpt before class.</a:t>
            </a:r>
          </a:p>
          <a:p>
            <a:r>
              <a:t/>
            </a:r>
          </a:p>
          <a:p>
            <a:r>
              <a:t>Misconception to address</a:t>
            </a:r>
          </a:p>
          <a:p>
            <a:r>
              <a:t>The video is supporting revision, not a replacement for defining the symbols or a requirement to watch a full tutorial during limited class time.</a:t>
            </a:r>
          </a:p>
          <a:p>
            <a:r>
              <a:t/>
            </a:r>
          </a:p>
          <a:p>
            <a:r>
              <a:t>On this slide</a:t>
            </a:r>
          </a:p>
          <a:p>
            <a:r>
              <a:t>For revision after class.</a:t>
            </a:r>
          </a:p>
          <a:p>
            <a:r>
              <a:t/>
            </a:r>
          </a:p>
          <a:p>
            <a:r>
              <a:t>StatQuest with Josh Starmer</a:t>
            </a:r>
          </a:p>
          <a:p>
            <a:r>
              <a:t>Machine Learning Fundamentals Cross Validation</a:t>
            </a:r>
          </a:p>
          <a:p>
            <a:r>
              <a:t/>
            </a:r>
          </a:p>
          <a:p>
            <a:r>
              <a:t>Opening up to 04:00, optional preview-selected excerpt</a:t>
            </a:r>
          </a:p>
          <a:p>
            <a:r>
              <a:t/>
            </a:r>
          </a:p>
          <a:p>
            <a:r>
              <a:t>Listening question: Why evaluate using observations not used to fit that particular model?</a:t>
            </a:r>
          </a:p>
          <a:p>
            <a:r>
              <a:t/>
            </a:r>
          </a:p>
          <a:p>
            <a:r>
              <a:t>Reference / existing resource</a:t>
            </a:r>
          </a:p>
          <a:p>
            <a:r>
              <a:t>https://www.youtube.com/watch?v=fSytzGwwBVw</a:t>
            </a:r>
          </a:p>
        </p:txBody>
      </p:sp>
      <p:sp>
        <p:nvSpPr>
          <p:cNvPr id="4" name="Slide Number Placeholder 3"/>
          <p:cNvSpPr>
            <a:spLocks noGrp="1"/>
          </p:cNvSpPr>
          <p:nvPr>
            <p:ph type="sldNum" idx="5"/>
          </p:nvPr>
        </p:nvSpPr>
        <p:spPr/>
        <p:txBody>
          <a:bodyPr/>
          <a:lstStyle/>
          <a:p/>
        </p:txBody>
      </p:sp>
    </p:spTree>
  </p:cSld>
  <p:clrMapOvr>
    <a:masterClrMapping/>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f2536366f504752"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3ffff7439209477a"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d7ef9365c5594723"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12ba723d7a064ef9"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f85bf363961740f5"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25367b2a08594ad9"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AF4682C7-2CD5-4361-BD08-076C6AFE95AA}"/>
              </a:ext>
            </a:extLst>
          </p:cNvPr>
          <p:cNvSpPr>
            <a:spLocks xmlns:a="http://schemas.openxmlformats.org/drawingml/2006/main" noGrp="1"/>
          </p:cNvSpPr>
          <p:nvPr/>
        </p:nvSpPr>
        <p:spPr>
          <a:xfrm xmlns:a="http://schemas.openxmlformats.org/drawingml/2006/main">
            <a:off x="5791055" y="22098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494364AA-4A5B-4252-AC8B-10ACD8142CFD}"/>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Subtitle">
            <a:extLst xmlns:a="http://schemas.openxmlformats.org/drawingml/2006/main">
              <a:ext uri="{FF2B5EF4-FFF2-40B4-BE49-F238E27FC236}">
                <a16:creationId xmlns:a16="http://schemas.microsoft.com/office/drawing/2014/main" id="{EF9F5502-73BB-4E6C-94A6-675B9DC8A525}"/>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3" name="Accent rule">
            <a:extLst xmlns:a="http://schemas.openxmlformats.org/drawingml/2006/main">
              <a:ext uri="{FF2B5EF4-FFF2-40B4-BE49-F238E27FC236}">
                <a16:creationId xmlns:a16="http://schemas.microsoft.com/office/drawing/2014/main" id="{BD718709-63E8-407A-B4EA-A32B74FDA941}"/>
              </a:ext>
            </a:extLst>
          </p:cNvPr>
          <p:cNvSpPr>
            <a:spLocks xmlns:a="http://schemas.openxmlformats.org/drawingml/2006/main" noGrp="1"/>
          </p:cNvSpPr>
          <p:nvPr/>
        </p:nvSpPr>
        <p:spPr>
          <a:xfrm xmlns:a="http://schemas.openxmlformats.org/drawingml/2006/main">
            <a:off x="5791055" y="24765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Section title">
            <a:extLst xmlns:a="http://schemas.openxmlformats.org/drawingml/2006/main">
              <a:ext uri="{FF2B5EF4-FFF2-40B4-BE49-F238E27FC236}">
                <a16:creationId xmlns:a16="http://schemas.microsoft.com/office/drawing/2014/main" id="{CB592F6F-648D-4C71-BA87-D467C19F7FAB}"/>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A4E7246B-E9D2-4649-A060-FCCD2D27DC35}"/>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668DAFCA-5F34-4CB6-B519-2EBDBE39BEF5}"/>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Body">
            <a:extLst xmlns:a="http://schemas.openxmlformats.org/drawingml/2006/main">
              <a:ext uri="{FF2B5EF4-FFF2-40B4-BE49-F238E27FC236}">
                <a16:creationId xmlns:a16="http://schemas.microsoft.com/office/drawing/2014/main" id="{21840E4C-BD38-4E51-AB86-7888BEFFF9A0}"/>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5" name="Accent rule">
            <a:extLst xmlns:a="http://schemas.openxmlformats.org/drawingml/2006/main">
              <a:ext uri="{FF2B5EF4-FFF2-40B4-BE49-F238E27FC236}">
                <a16:creationId xmlns:a16="http://schemas.microsoft.com/office/drawing/2014/main" id="{A7631FC0-BCA3-4A56-B497-E690D823C5A1}"/>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F5C01E79-5121-40F7-8599-E0FBD37603B3}"/>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02E1FC0C-6820-4648-8DD8-1CA9FC6C70EB}"/>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
        <p:nvSpPr>
          <p:cNvPr id="4" name="Right column">
            <a:extLst xmlns:a="http://schemas.openxmlformats.org/drawingml/2006/main">
              <a:ext uri="{FF2B5EF4-FFF2-40B4-BE49-F238E27FC236}">
                <a16:creationId xmlns:a16="http://schemas.microsoft.com/office/drawing/2014/main" id="{BE6B91AB-BAE3-4C12-B8E8-1A894FAB619D}"/>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014DBA58-06E0-44EE-9D92-5D18A4B9960E}"/>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C0929F7F-167C-44D8-97F4-4653F16FF829}"/>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DE1C08A7-23AB-4199-ACEA-64A77C1410F7}"/>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3d9489faad9c45f5" /><Relationship Type="http://schemas.openxmlformats.org/officeDocument/2006/relationships/slideLayout" Target="/ppt/slideLayouts/slideLayout1.xml" Id="R2c6e9b5494aa4fe4" /><Relationship Type="http://schemas.openxmlformats.org/officeDocument/2006/relationships/slideLayout" Target="/ppt/slideLayouts/slideLayout2.xml" Id="Rf6bbfcbc326447be" /><Relationship Type="http://schemas.openxmlformats.org/officeDocument/2006/relationships/slideLayout" Target="/ppt/slideLayouts/slideLayout3.xml" Id="Rd260545f2f4f4a99" /><Relationship Type="http://schemas.openxmlformats.org/officeDocument/2006/relationships/slideLayout" Target="/ppt/slideLayouts/slideLayout4.xml" Id="Rbdb6195da4314b6d" /><Relationship Type="http://schemas.openxmlformats.org/officeDocument/2006/relationships/slideLayout" Target="/ppt/slideLayouts/slideLayout5.xml" Id="R2c3cbb96af664ccf" /><Relationship Type="http://schemas.openxmlformats.org/officeDocument/2006/relationships/slideLayout" Target="/ppt/slideLayouts/slideLayout6.xml" Id="R7fb3fe2aca7d429a"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c6e9b5494aa4fe4"/>
    <p:sldLayoutId xmlns:r="http://schemas.openxmlformats.org/officeDocument/2006/relationships" id="2147483650" r:id="Rf6bbfcbc326447be"/>
    <p:sldLayoutId xmlns:r="http://schemas.openxmlformats.org/officeDocument/2006/relationships" id="2147483651" r:id="Rd260545f2f4f4a99"/>
    <p:sldLayoutId xmlns:r="http://schemas.openxmlformats.org/officeDocument/2006/relationships" id="2147483652" r:id="Rbdb6195da4314b6d"/>
    <p:sldLayoutId xmlns:r="http://schemas.openxmlformats.org/officeDocument/2006/relationships" id="2147483653" r:id="R2c3cbb96af664ccf"/>
    <p:sldLayoutId xmlns:r="http://schemas.openxmlformats.org/officeDocument/2006/relationships" id="2147483654" r:id="R7fb3fe2aca7d429a"/>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ba7473813e794672" /><Relationship Type="http://schemas.openxmlformats.org/officeDocument/2006/relationships/image" Target="/ppt/media/image.png" Id="R851c9aa392ac44be" /><Relationship Type="http://schemas.openxmlformats.org/officeDocument/2006/relationships/notesSlide" Target="/ppt/notesSlides/notesSlide1.xml" Id="R3e5caf36c6ab4841"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aa681cc8a6864a0b" /><Relationship Type="http://schemas.openxmlformats.org/officeDocument/2006/relationships/notesSlide" Target="/ppt/notesSlides/notesSlide2.xml" Id="Rb5e40d7ba3a5481f"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4c6501f96e3d4e2a" /><Relationship Type="http://schemas.openxmlformats.org/officeDocument/2006/relationships/notesSlide" Target="/ppt/notesSlides/notesSlide3.xml" Id="R37e79abbf8dd4f8d"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c7742ce447dd4e62" /><Relationship Type="http://schemas.openxmlformats.org/officeDocument/2006/relationships/notesSlide" Target="/ppt/notesSlides/notesSlide4.xml" Id="R64f8aa6c15a34128"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3172814960c648f5" /><Relationship Type="http://schemas.openxmlformats.org/officeDocument/2006/relationships/notesSlide" Target="/ppt/notesSlides/notesSlide5.xml" Id="Rf5ce17660a664932"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84042ab785784304" /><Relationship Type="http://schemas.openxmlformats.org/officeDocument/2006/relationships/notesSlide" Target="/ppt/notesSlides/notesSlide6.xml" Id="R3dc4b57025a04512"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fc8720425c7c4c7d" /><Relationship Type="http://schemas.openxmlformats.org/officeDocument/2006/relationships/notesSlide" Target="/ppt/notesSlides/notesSlide7.xml" Id="R093797142aba4592"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eab2c6c29956473e" /><Relationship Type="http://schemas.openxmlformats.org/officeDocument/2006/relationships/notesSlide" Target="/ppt/notesSlides/notesSlide8.xml" Id="R53381500c45a47a5"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4eeb93766a6d4f57" /><Relationship Type="http://schemas.openxmlformats.org/officeDocument/2006/relationships/notesSlide" Target="/ppt/notesSlides/notesSlide9.xml" Id="R5362c1e8f2be46d5"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52b2a4e66d234743" /><Relationship Type="http://schemas.openxmlformats.org/officeDocument/2006/relationships/notesSlide" Target="/ppt/notesSlides/notesSlide10.xml" Id="Raaec05b022fa4eac"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7fe23d7996064c7e" /><Relationship Type="http://schemas.openxmlformats.org/officeDocument/2006/relationships/notesSlide" Target="/ppt/notesSlides/notesSlide11.xml" Id="R09511a892dc142a6"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143c0678f3974ff3" /><Relationship Type="http://schemas.openxmlformats.org/officeDocument/2006/relationships/notesSlide" Target="/ppt/notesSlides/notesSlide12.xml" Id="Rea8a8af316cc460c"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6c0dd3b997fe4287" /><Relationship Type="http://schemas.openxmlformats.org/officeDocument/2006/relationships/notesSlide" Target="/ppt/notesSlides/notesSlide13.xml" Id="R1cfdfea332704f3f"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3b3c0bb59d3c4827" /><Relationship Type="http://schemas.openxmlformats.org/officeDocument/2006/relationships/notesSlide" Target="/ppt/notesSlides/notesSlide14.xml" Id="R9ac9644e23ed44db"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815ee30c2333478d" /><Relationship Type="http://schemas.openxmlformats.org/officeDocument/2006/relationships/notesSlide" Target="/ppt/notesSlides/notesSlide15.xml" Id="R476618651e614e0f"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61ce72237c1c482b" /><Relationship Type="http://schemas.openxmlformats.org/officeDocument/2006/relationships/notesSlide" Target="/ppt/notesSlides/notesSlide16.xml" Id="R697c2ea9dede4a7d"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afbb3d1a3f5e4b1d" /><Relationship Type="http://schemas.openxmlformats.org/officeDocument/2006/relationships/notesSlide" Target="/ppt/notesSlides/notesSlide17.xml" Id="Rf4b411e426a9479f"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cab8e96074c24005" /><Relationship Type="http://schemas.openxmlformats.org/officeDocument/2006/relationships/notesSlide" Target="/ppt/notesSlides/notesSlide18.xml" Id="Rf39139a5f14a4570"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a25d3e6f3c784639" /><Relationship Type="http://schemas.openxmlformats.org/officeDocument/2006/relationships/notesSlide" Target="/ppt/notesSlides/notesSlide19.xml" Id="R774ee6a99f22486b"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1de654e809bb4102" /><Relationship Type="http://schemas.openxmlformats.org/officeDocument/2006/relationships/notesSlide" Target="/ppt/notesSlides/notesSlide20.xml" Id="Rdf17ae97bb554705"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05c5a6c7e21d435c" /><Relationship Type="http://schemas.openxmlformats.org/officeDocument/2006/relationships/notesSlide" Target="/ppt/notesSlides/notesSlide21.xml" Id="R904cc7aff04c4a5f"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60adf03eecda4db0" /><Relationship Type="http://schemas.openxmlformats.org/officeDocument/2006/relationships/notesSlide" Target="/ppt/notesSlides/notesSlide22.xml" Id="R37b2c9bfb9554ef0"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8133ffdfafc64369" /><Relationship Type="http://schemas.openxmlformats.org/officeDocument/2006/relationships/notesSlide" Target="/ppt/notesSlides/notesSlide23.xml" Id="R8316d265f34f42c0"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9dcf2a55b8814064" /><Relationship Type="http://schemas.openxmlformats.org/officeDocument/2006/relationships/notesSlide" Target="/ppt/notesSlides/notesSlide24.xml" Id="R94825d809bba439e"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5beaa617b2e74df6" /><Relationship Type="http://schemas.openxmlformats.org/officeDocument/2006/relationships/notesSlide" Target="/ppt/notesSlides/notesSlide25.xml" Id="R06901a372cdb46b8"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df009e7f1d9a4a2d" /><Relationship Type="http://schemas.openxmlformats.org/officeDocument/2006/relationships/notesSlide" Target="/ppt/notesSlides/notesSlide26.xml" Id="R381081323fd84ba4"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8413ebc345694a36" /><Relationship Type="http://schemas.openxmlformats.org/officeDocument/2006/relationships/notesSlide" Target="/ppt/notesSlides/notesSlide27.xml" Id="R54754b471c6f4d11"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8b0da34ac9c8485b" /><Relationship Type="http://schemas.openxmlformats.org/officeDocument/2006/relationships/notesSlide" Target="/ppt/notesSlides/notesSlide28.xml" Id="R399504c38eef4299"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98063915c6c04c3f" /><Relationship Type="http://schemas.openxmlformats.org/officeDocument/2006/relationships/notesSlide" Target="/ppt/notesSlides/notesSlide29.xml" Id="R79a7894b3ac44050"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09a110c32ffe4975" /><Relationship Type="http://schemas.openxmlformats.org/officeDocument/2006/relationships/notesSlide" Target="/ppt/notesSlides/notesSlide30.xml" Id="Ra53e6870d00f4d55"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6edd02c8eeb14755" /><Relationship Type="http://schemas.openxmlformats.org/officeDocument/2006/relationships/notesSlide" Target="/ppt/notesSlides/notesSlide31.xml" Id="R899a89b125914f52"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69911ad2892547a0" /><Relationship Type="http://schemas.openxmlformats.org/officeDocument/2006/relationships/hyperlink" Target="https://docs.google.com/forms/d/e/1FAIpQLSfSPtMfaziLgaLKx4v0Lla4vYcA58pDDv_b_w33OfZsj0aVHA/viewform" TargetMode="External" Id="R9abab1407c734c65" /><Relationship Type="http://schemas.openxmlformats.org/officeDocument/2006/relationships/notesSlide" Target="/ppt/notesSlides/notesSlide32.xml" Id="R408f3e02f28f4fd1"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e9702a882b4043f8" /><Relationship Type="http://schemas.openxmlformats.org/officeDocument/2006/relationships/notesSlide" Target="/ppt/notesSlides/notesSlide33.xml" Id="R41fd1a4a5fe74c97"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e59d2657f3a24482" /><Relationship Type="http://schemas.openxmlformats.org/officeDocument/2006/relationships/image" Target="/ppt/media/image2.png" Id="R8b539807785a41fb" /><Relationship Type="http://schemas.openxmlformats.org/officeDocument/2006/relationships/hyperlink" Target="https://forms.gle/XFcLpe6ugzvnoL3s6" TargetMode="External" Id="Re272a1f76fc54065" /><Relationship Type="http://schemas.openxmlformats.org/officeDocument/2006/relationships/notesSlide" Target="/ppt/notesSlides/notesSlide34.xml" Id="R55809c234df24b18"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96999223d9ab4cf7" /><Relationship Type="http://schemas.openxmlformats.org/officeDocument/2006/relationships/notesSlide" Target="/ppt/notesSlides/notesSlide35.xml" Id="Rcf74d26d1c004193"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a0b1d2c2b0c84ffb" /><Relationship Type="http://schemas.openxmlformats.org/officeDocument/2006/relationships/hyperlink" Target="https://www.youtube.com/watch?v=fSytzGwwBVw" TargetMode="External" Id="R69a2bf4706344aa2" /><Relationship Type="http://schemas.openxmlformats.org/officeDocument/2006/relationships/notesSlide" Target="/ppt/notesSlides/notesSlide36.xml" Id="R252ef65f56c9445c"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851c9aa392ac44be"/>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89CA4B00-46D0-4338-B3EC-34F936705FF8}"/>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52D9A592-34F6-4B96-8EFA-9A3054EF61E2}"/>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CML3113   WEEK 12</a:t>
            </a:r>
          </a:p>
        </p:txBody>
      </p:sp>
      <p:sp>
        <p:nvSpPr>
          <p:cNvPr id="4" name="">
            <a:extLst xmlns:a="http://schemas.openxmlformats.org/drawingml/2006/main">
              <a:ext uri="{FF2B5EF4-FFF2-40B4-BE49-F238E27FC236}">
                <a16:creationId xmlns:a16="http://schemas.microsoft.com/office/drawing/2014/main" id="{736795C1-BDFE-4507-A6F7-AEFCAC22988C}"/>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Choosing and explaining a model</a:t>
            </a:r>
          </a:p>
        </p:txBody>
      </p:sp>
      <p:sp>
        <p:nvSpPr>
          <p:cNvPr id="5" name="">
            <a:extLst xmlns:a="http://schemas.openxmlformats.org/drawingml/2006/main">
              <a:ext uri="{FF2B5EF4-FFF2-40B4-BE49-F238E27FC236}">
                <a16:creationId xmlns:a16="http://schemas.microsoft.com/office/drawing/2014/main" id="{8AC00FE3-9818-4A5E-8AED-DA88180E7ABB}"/>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Mining and Petroleum Engineering</a:t>
            </a:r>
          </a:p>
        </p:txBody>
      </p:sp>
      <p:sp>
        <p:nvSpPr>
          <p:cNvPr id="6" name="">
            <a:extLst xmlns:a="http://schemas.openxmlformats.org/drawingml/2006/main">
              <a:ext uri="{FF2B5EF4-FFF2-40B4-BE49-F238E27FC236}">
                <a16:creationId xmlns:a16="http://schemas.microsoft.com/office/drawing/2014/main" id="{9A618FAC-DE50-42A8-B3CD-4D12A03900F2}"/>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27 November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08:00–11:00, Room 105</a:t>
            </a:r>
          </a:p>
        </p:txBody>
      </p:sp>
    </p:spTree>
    <p:extLst>
      <p:ext uri="{BB962C8B-B14F-4D97-AF65-F5344CB8AC3E}">
        <p14:creationId xmlns:p14="http://schemas.microsoft.com/office/powerpoint/2010/main" val="1188320876"/>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F7313052-C8EC-4616-9D5C-031B9E35E6D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D7DCDB8-D57F-4466-8BB8-19755DAE3FA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64245852-5B1C-42D0-99AC-97DC9D7366D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6461BD60-E25B-485D-9F43-D70E6B1496D7}"/>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58B5E43-FEAC-4E09-A305-B4A083AE76F6}"/>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50CE3E47-5BA5-40B7-985F-53422690039D}"/>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Check model requirements before ranking candidates.</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Apply the tie-break rule and explain the choice.</a:t>
            </a:r>
          </a:p>
        </p:txBody>
      </p:sp>
      <p:sp>
        <p:nvSpPr>
          <p:cNvPr id="7" name="">
            <a:extLst xmlns:a="http://schemas.openxmlformats.org/drawingml/2006/main">
              <a:ext uri="{FF2B5EF4-FFF2-40B4-BE49-F238E27FC236}">
                <a16:creationId xmlns:a16="http://schemas.microsoft.com/office/drawing/2014/main" id="{C83986AD-0D4A-4560-899A-43814D5DC06A}"/>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1C0AB76E-F544-443E-A7D7-3A7EE0B57C3C}"/>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justify a valid candidate with evidence and a stated limitation.</a:t>
            </a:r>
          </a:p>
        </p:txBody>
      </p:sp>
      <p:sp>
        <p:nvSpPr>
          <p:cNvPr id="9" name="">
            <a:extLst xmlns:a="http://schemas.openxmlformats.org/drawingml/2006/main">
              <a:ext uri="{FF2B5EF4-FFF2-40B4-BE49-F238E27FC236}">
                <a16:creationId xmlns:a16="http://schemas.microsoft.com/office/drawing/2014/main" id="{BE4B29F0-E619-492C-9420-F073D6C9D22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2</a:t>
            </a:r>
          </a:p>
        </p:txBody>
      </p:sp>
    </p:spTree>
    <p:extLst>
      <p:ext uri="{BB962C8B-B14F-4D97-AF65-F5344CB8AC3E}">
        <p14:creationId xmlns:p14="http://schemas.microsoft.com/office/powerpoint/2010/main" val="756309492"/>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97E8828-D96B-462C-B97F-EF04D1D166E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7F1C183-219E-4134-AF93-0B84D33A1CE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FA87C7D-616A-4945-ADF2-4B3C41824D5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Connection to the previous lesson</a:t>
            </a:r>
          </a:p>
        </p:txBody>
      </p:sp>
      <p:sp>
        <p:nvSpPr>
          <p:cNvPr id="4" name="">
            <a:extLst xmlns:a="http://schemas.openxmlformats.org/drawingml/2006/main">
              <a:ext uri="{FF2B5EF4-FFF2-40B4-BE49-F238E27FC236}">
                <a16:creationId xmlns:a16="http://schemas.microsoft.com/office/drawing/2014/main" id="{5616AA08-09A9-45D6-B23D-3D4E03B5B24F}"/>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62F8087-43CD-46D2-90B8-EC1BCA93F4B7}"/>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We already calculate validation errors.</a:t>
            </a:r>
          </a:p>
        </p:txBody>
      </p:sp>
      <p:sp>
        <p:nvSpPr>
          <p:cNvPr id="6" name="">
            <a:extLst xmlns:a="http://schemas.openxmlformats.org/drawingml/2006/main">
              <a:ext uri="{FF2B5EF4-FFF2-40B4-BE49-F238E27FC236}">
                <a16:creationId xmlns:a16="http://schemas.microsoft.com/office/drawing/2014/main" id="{2B63C943-3976-4DA1-82AA-27317BDC4078}"/>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Now we combine those errors with a practical constraint and an explicit tie-break rule.</a:t>
            </a:r>
          </a:p>
        </p:txBody>
      </p:sp>
      <p:sp>
        <p:nvSpPr>
          <p:cNvPr id="7" name="">
            <a:extLst xmlns:a="http://schemas.openxmlformats.org/drawingml/2006/main">
              <a:ext uri="{FF2B5EF4-FFF2-40B4-BE49-F238E27FC236}">
                <a16:creationId xmlns:a16="http://schemas.microsoft.com/office/drawing/2014/main" id="{51107C51-5B89-4EEB-BBAF-ECEA118C29D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3</a:t>
            </a:r>
          </a:p>
        </p:txBody>
      </p:sp>
    </p:spTree>
    <p:extLst>
      <p:ext uri="{BB962C8B-B14F-4D97-AF65-F5344CB8AC3E}">
        <p14:creationId xmlns:p14="http://schemas.microsoft.com/office/powerpoint/2010/main" val="1661404176"/>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49828F65-7BB8-4240-9EAA-902ACFF6BC2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F50C54C-E06C-4548-9214-41167465935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F152995-796B-4FBD-BD5A-4046BA33EFC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Why this week’s tools are needed</a:t>
            </a:r>
          </a:p>
        </p:txBody>
      </p:sp>
      <p:sp>
        <p:nvSpPr>
          <p:cNvPr id="4" name="">
            <a:extLst xmlns:a="http://schemas.openxmlformats.org/drawingml/2006/main">
              <a:ext uri="{FF2B5EF4-FFF2-40B4-BE49-F238E27FC236}">
                <a16:creationId xmlns:a16="http://schemas.microsoft.com/office/drawing/2014/main" id="{7CA30B8A-EA77-4249-8555-250E3254C959}"/>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225130E-EB50-4477-8A7A-1CE906058E23}"/>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The lowest prediction error may come from a model that is too slow for the stated task.</a:t>
            </a:r>
          </a:p>
        </p:txBody>
      </p:sp>
      <p:sp>
        <p:nvSpPr>
          <p:cNvPr id="6" name="">
            <a:extLst xmlns:a="http://schemas.openxmlformats.org/drawingml/2006/main">
              <a:ext uri="{FF2B5EF4-FFF2-40B4-BE49-F238E27FC236}">
                <a16:creationId xmlns:a16="http://schemas.microsoft.com/office/drawing/2014/main" id="{84E5A5BF-B28F-4B13-9F9D-3A4C78B8941B}"/>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We apply the published constraints before ranking eligible models.</a:t>
            </a:r>
          </a:p>
        </p:txBody>
      </p:sp>
      <p:sp>
        <p:nvSpPr>
          <p:cNvPr id="7" name="">
            <a:extLst xmlns:a="http://schemas.openxmlformats.org/drawingml/2006/main">
              <a:ext uri="{FF2B5EF4-FFF2-40B4-BE49-F238E27FC236}">
                <a16:creationId xmlns:a16="http://schemas.microsoft.com/office/drawing/2014/main" id="{B9D9EE34-2D40-4E5A-895C-247E9B80BDB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4</a:t>
            </a:r>
          </a:p>
        </p:txBody>
      </p:sp>
    </p:spTree>
    <p:extLst>
      <p:ext uri="{BB962C8B-B14F-4D97-AF65-F5344CB8AC3E}">
        <p14:creationId xmlns:p14="http://schemas.microsoft.com/office/powerpoint/2010/main" val="1561684773"/>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3BCD0DB-D26E-475A-BF8A-BD9169E903A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2540877-34AE-4885-9124-D6AD3ED3B5B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CE4054A0-77A9-4579-9BE3-1F2D31CC42E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Constraint and Latency</a:t>
            </a:r>
          </a:p>
        </p:txBody>
      </p:sp>
      <p:sp>
        <p:nvSpPr>
          <p:cNvPr id="4" name="">
            <a:extLst xmlns:a="http://schemas.openxmlformats.org/drawingml/2006/main">
              <a:ext uri="{FF2B5EF4-FFF2-40B4-BE49-F238E27FC236}">
                <a16:creationId xmlns:a16="http://schemas.microsoft.com/office/drawing/2014/main" id="{EDE7D3E0-FEEC-4302-B3E5-8D4C431987A1}"/>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EC32AD3-8356-4557-9E57-3C5E193ED7AA}"/>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Constraint</a:t>
            </a:r>
          </a:p>
        </p:txBody>
      </p:sp>
      <p:sp>
        <p:nvSpPr>
          <p:cNvPr id="6" name="">
            <a:extLst xmlns:a="http://schemas.openxmlformats.org/drawingml/2006/main">
              <a:ext uri="{FF2B5EF4-FFF2-40B4-BE49-F238E27FC236}">
                <a16:creationId xmlns:a16="http://schemas.microsoft.com/office/drawing/2014/main" id="{10880797-A0EA-4635-8E8A-AEB803A06046}"/>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condition a candidate must satisfy, such as MAE at most 3 and latency at most 10 ms.</a:t>
            </a:r>
          </a:p>
        </p:txBody>
      </p:sp>
      <p:sp>
        <p:nvSpPr>
          <p:cNvPr id="7" name="">
            <a:extLst xmlns:a="http://schemas.openxmlformats.org/drawingml/2006/main">
              <a:ext uri="{FF2B5EF4-FFF2-40B4-BE49-F238E27FC236}">
                <a16:creationId xmlns:a16="http://schemas.microsoft.com/office/drawing/2014/main" id="{4219AAE2-DD86-4844-ABB5-39423FD36308}"/>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4F43E52D-30D3-4BD0-B15E-AD5B10075142}"/>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Latency</a:t>
            </a:r>
          </a:p>
        </p:txBody>
      </p:sp>
      <p:sp>
        <p:nvSpPr>
          <p:cNvPr id="9" name="">
            <a:extLst xmlns:a="http://schemas.openxmlformats.org/drawingml/2006/main">
              <a:ext uri="{FF2B5EF4-FFF2-40B4-BE49-F238E27FC236}">
                <a16:creationId xmlns:a16="http://schemas.microsoft.com/office/drawing/2014/main" id="{FDCBBA97-242A-4417-B329-0C3429AA602A}"/>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Time taken to produce a prediction under stated measurement conditions. Hardware and measurement method matter.</a:t>
            </a:r>
          </a:p>
        </p:txBody>
      </p:sp>
      <p:sp>
        <p:nvSpPr>
          <p:cNvPr id="10" name="">
            <a:extLst xmlns:a="http://schemas.openxmlformats.org/drawingml/2006/main">
              <a:ext uri="{FF2B5EF4-FFF2-40B4-BE49-F238E27FC236}">
                <a16:creationId xmlns:a16="http://schemas.microsoft.com/office/drawing/2014/main" id="{BC534CF4-56F0-40E2-A5B6-42711B19573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5</a:t>
            </a:r>
          </a:p>
        </p:txBody>
      </p:sp>
    </p:spTree>
    <p:extLst>
      <p:ext uri="{BB962C8B-B14F-4D97-AF65-F5344CB8AC3E}">
        <p14:creationId xmlns:p14="http://schemas.microsoft.com/office/powerpoint/2010/main" val="2146375810"/>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DEC43CF-1850-4C25-9654-5A7A7F91097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004C209-EA5E-4652-B62E-AC1940EADA8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B95B6F3C-82C6-4D25-B172-4379B22B7A0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Tie-break and Hyperparameter</a:t>
            </a:r>
          </a:p>
        </p:txBody>
      </p:sp>
      <p:sp>
        <p:nvSpPr>
          <p:cNvPr id="4" name="">
            <a:extLst xmlns:a="http://schemas.openxmlformats.org/drawingml/2006/main">
              <a:ext uri="{FF2B5EF4-FFF2-40B4-BE49-F238E27FC236}">
                <a16:creationId xmlns:a16="http://schemas.microsoft.com/office/drawing/2014/main" id="{069D0419-6A51-48BE-98EC-BF0396691B0A}"/>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4CB54C2-DF84-4D6D-BC00-791A223059E0}"/>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Tie-break</a:t>
            </a:r>
          </a:p>
        </p:txBody>
      </p:sp>
      <p:sp>
        <p:nvSpPr>
          <p:cNvPr id="6" name="">
            <a:extLst xmlns:a="http://schemas.openxmlformats.org/drawingml/2006/main">
              <a:ext uri="{FF2B5EF4-FFF2-40B4-BE49-F238E27FC236}">
                <a16:creationId xmlns:a16="http://schemas.microsoft.com/office/drawing/2014/main" id="{038BF671-A885-42A6-AF0F-DB601045F261}"/>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published rule for choosing between candidates that tie on the main criterion.</a:t>
            </a:r>
          </a:p>
        </p:txBody>
      </p:sp>
      <p:sp>
        <p:nvSpPr>
          <p:cNvPr id="7" name="">
            <a:extLst xmlns:a="http://schemas.openxmlformats.org/drawingml/2006/main">
              <a:ext uri="{FF2B5EF4-FFF2-40B4-BE49-F238E27FC236}">
                <a16:creationId xmlns:a16="http://schemas.microsoft.com/office/drawing/2014/main" id="{307B20DC-C78E-4657-B87A-4960B625D433}"/>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EACE239D-7734-4336-A0EA-530FE52510ED}"/>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Hyperparameter</a:t>
            </a:r>
          </a:p>
        </p:txBody>
      </p:sp>
      <p:sp>
        <p:nvSpPr>
          <p:cNvPr id="9" name="">
            <a:extLst xmlns:a="http://schemas.openxmlformats.org/drawingml/2006/main">
              <a:ext uri="{FF2B5EF4-FFF2-40B4-BE49-F238E27FC236}">
                <a16:creationId xmlns:a16="http://schemas.microsoft.com/office/drawing/2014/main" id="{B37C134A-8308-455B-9BF7-B43C92B42E43}"/>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setting chosen before fitting, such as tree depth. Tune using validation or cross-validation, not the final test.</a:t>
            </a:r>
          </a:p>
        </p:txBody>
      </p:sp>
      <p:sp>
        <p:nvSpPr>
          <p:cNvPr id="10" name="">
            <a:extLst xmlns:a="http://schemas.openxmlformats.org/drawingml/2006/main">
              <a:ext uri="{FF2B5EF4-FFF2-40B4-BE49-F238E27FC236}">
                <a16:creationId xmlns:a16="http://schemas.microsoft.com/office/drawing/2014/main" id="{5A321A38-7820-406C-9A7C-BF072033900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6</a:t>
            </a:r>
          </a:p>
        </p:txBody>
      </p:sp>
    </p:spTree>
    <p:extLst>
      <p:ext uri="{BB962C8B-B14F-4D97-AF65-F5344CB8AC3E}">
        <p14:creationId xmlns:p14="http://schemas.microsoft.com/office/powerpoint/2010/main" val="315428192"/>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1A516F9-1DC8-4EDF-A9FF-3B912AB4B0E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6837342-58E8-45F7-9611-7F940BEF03D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48CB525-88E7-4876-B721-1B8F059CA4F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Error and practical constraints</a:t>
            </a:r>
          </a:p>
        </p:txBody>
      </p:sp>
      <p:sp>
        <p:nvSpPr>
          <p:cNvPr id="4" name="">
            <a:extLst xmlns:a="http://schemas.openxmlformats.org/drawingml/2006/main">
              <a:ext uri="{FF2B5EF4-FFF2-40B4-BE49-F238E27FC236}">
                <a16:creationId xmlns:a16="http://schemas.microsoft.com/office/drawing/2014/main" id="{F89E334C-F7C0-4DD6-A966-414E2AD8B4B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F36E038-7D19-4232-9AFC-3DCD078904F6}"/>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smaller error can require more computation.</a:t>
            </a:r>
          </a:p>
        </p:txBody>
      </p:sp>
      <p:sp>
        <p:nvSpPr>
          <p:cNvPr id="6" name="">
            <a:extLst xmlns:a="http://schemas.openxmlformats.org/drawingml/2006/main">
              <a:ext uri="{FF2B5EF4-FFF2-40B4-BE49-F238E27FC236}">
                <a16:creationId xmlns:a16="http://schemas.microsoft.com/office/drawing/2014/main" id="{C7C0B55C-55C4-4082-B709-A3BBB941C7C9}"/>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9276747-D1CC-4654-9E6B-CD487B053300}"/>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candidate must meet every stated requirement.</a:t>
            </a:r>
          </a:p>
        </p:txBody>
      </p:sp>
      <p:sp>
        <p:nvSpPr>
          <p:cNvPr id="8" name="">
            <a:extLst xmlns:a="http://schemas.openxmlformats.org/drawingml/2006/main">
              <a:ext uri="{FF2B5EF4-FFF2-40B4-BE49-F238E27FC236}">
                <a16:creationId xmlns:a16="http://schemas.microsoft.com/office/drawing/2014/main" id="{701CB592-5357-4169-BDE3-2ADFE7A1C61B}"/>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C4660CD-1110-43C0-9556-BD16E0C3B54B}"/>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Compare eligible models on the same validation observations.</a:t>
            </a:r>
          </a:p>
        </p:txBody>
      </p:sp>
      <p:sp>
        <p:nvSpPr>
          <p:cNvPr id="10" name="">
            <a:extLst xmlns:a="http://schemas.openxmlformats.org/drawingml/2006/main">
              <a:ext uri="{FF2B5EF4-FFF2-40B4-BE49-F238E27FC236}">
                <a16:creationId xmlns:a16="http://schemas.microsoft.com/office/drawing/2014/main" id="{3DB5A873-2DAE-4850-BBB9-3CEBB39A25A9}"/>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494B3DA4-FC5E-4D3E-B6C9-BC18B0CE50BE}"/>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Follow the published tie-break rule when scores tie.</a:t>
            </a:r>
          </a:p>
        </p:txBody>
      </p:sp>
      <p:sp>
        <p:nvSpPr>
          <p:cNvPr id="12" name="">
            <a:extLst xmlns:a="http://schemas.openxmlformats.org/drawingml/2006/main">
              <a:ext uri="{FF2B5EF4-FFF2-40B4-BE49-F238E27FC236}">
                <a16:creationId xmlns:a16="http://schemas.microsoft.com/office/drawing/2014/main" id="{64D36ED9-2772-4E83-9C92-10209A62C58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7</a:t>
            </a:r>
          </a:p>
        </p:txBody>
      </p:sp>
    </p:spTree>
    <p:extLst>
      <p:ext uri="{BB962C8B-B14F-4D97-AF65-F5344CB8AC3E}">
        <p14:creationId xmlns:p14="http://schemas.microsoft.com/office/powerpoint/2010/main" val="1078646874"/>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5A18743-B44A-4DCA-997A-7F7F7BF747D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A377825-9C4B-432F-8FA0-3D0F55DEAAF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7C94DF0-B651-4028-BE11-E5A25BBFFCC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model comparison needs a fair test</a:t>
            </a:r>
          </a:p>
        </p:txBody>
      </p:sp>
      <p:sp>
        <p:nvSpPr>
          <p:cNvPr id="4" name="">
            <a:extLst xmlns:a="http://schemas.openxmlformats.org/drawingml/2006/main">
              <a:ext uri="{FF2B5EF4-FFF2-40B4-BE49-F238E27FC236}">
                <a16:creationId xmlns:a16="http://schemas.microsoft.com/office/drawing/2014/main" id="{F42CA703-A64B-417A-B969-44D93CE1FA1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3F8F371-0BB4-40A6-B5C4-91D65014EF8E}"/>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same validation observations for every candidate.</a:t>
            </a:r>
          </a:p>
        </p:txBody>
      </p:sp>
      <p:sp>
        <p:nvSpPr>
          <p:cNvPr id="6" name="">
            <a:extLst xmlns:a="http://schemas.openxmlformats.org/drawingml/2006/main">
              <a:ext uri="{FF2B5EF4-FFF2-40B4-BE49-F238E27FC236}">
                <a16:creationId xmlns:a16="http://schemas.microsoft.com/office/drawing/2014/main" id="{AE57F3D8-A3E7-4086-A4BD-527FB6E54357}"/>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20017F4-6B27-4455-B25A-B1BE73738596}"/>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Fit preprocessing on training data only.</a:t>
            </a:r>
          </a:p>
        </p:txBody>
      </p:sp>
      <p:sp>
        <p:nvSpPr>
          <p:cNvPr id="8" name="">
            <a:extLst xmlns:a="http://schemas.openxmlformats.org/drawingml/2006/main">
              <a:ext uri="{FF2B5EF4-FFF2-40B4-BE49-F238E27FC236}">
                <a16:creationId xmlns:a16="http://schemas.microsoft.com/office/drawing/2014/main" id="{4152A5F3-8485-4C4E-9FEE-297074254839}"/>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B77795A-282E-4018-9EF9-2181A23A2AD9}"/>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Choose the error measure and practical requirements before inspecting results.</a:t>
            </a:r>
          </a:p>
        </p:txBody>
      </p:sp>
      <p:sp>
        <p:nvSpPr>
          <p:cNvPr id="10" name="">
            <a:extLst xmlns:a="http://schemas.openxmlformats.org/drawingml/2006/main">
              <a:ext uri="{FF2B5EF4-FFF2-40B4-BE49-F238E27FC236}">
                <a16:creationId xmlns:a16="http://schemas.microsoft.com/office/drawing/2014/main" id="{745D4C64-5A93-4F7D-AC50-BEA1E90FFC7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8</a:t>
            </a:r>
          </a:p>
        </p:txBody>
      </p:sp>
    </p:spTree>
    <p:extLst>
      <p:ext uri="{BB962C8B-B14F-4D97-AF65-F5344CB8AC3E}">
        <p14:creationId xmlns:p14="http://schemas.microsoft.com/office/powerpoint/2010/main" val="204245437"/>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08B1E5E-667B-4B96-B806-94B222F68B0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7BCA7D1-F66D-4995-97AB-04802AE18F5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7E7CD21-967B-4C9F-B1B4-15ACBE062E5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Eligibility comes before ranking</a:t>
            </a:r>
          </a:p>
        </p:txBody>
      </p:sp>
      <p:sp>
        <p:nvSpPr>
          <p:cNvPr id="4" name="">
            <a:extLst xmlns:a="http://schemas.openxmlformats.org/drawingml/2006/main">
              <a:ext uri="{FF2B5EF4-FFF2-40B4-BE49-F238E27FC236}">
                <a16:creationId xmlns:a16="http://schemas.microsoft.com/office/drawing/2014/main" id="{954F2358-ADE1-4E40-B08F-7F3EBE2DF72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714DA6D-FE34-4582-BBF3-84A79F794791}"/>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First check every stated requirement for each candidate.</a:t>
            </a:r>
          </a:p>
        </p:txBody>
      </p:sp>
      <p:sp>
        <p:nvSpPr>
          <p:cNvPr id="6" name="">
            <a:extLst xmlns:a="http://schemas.openxmlformats.org/drawingml/2006/main">
              <a:ext uri="{FF2B5EF4-FFF2-40B4-BE49-F238E27FC236}">
                <a16:creationId xmlns:a16="http://schemas.microsoft.com/office/drawing/2014/main" id="{044BD064-7B45-4A68-B280-B347EAFF488A}"/>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9C5F04F-1E47-48C9-B58E-973D26B395F8}"/>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Reject a candidate that fails even one requirement.</a:t>
            </a:r>
          </a:p>
        </p:txBody>
      </p:sp>
      <p:sp>
        <p:nvSpPr>
          <p:cNvPr id="8" name="">
            <a:extLst xmlns:a="http://schemas.openxmlformats.org/drawingml/2006/main">
              <a:ext uri="{FF2B5EF4-FFF2-40B4-BE49-F238E27FC236}">
                <a16:creationId xmlns:a16="http://schemas.microsoft.com/office/drawing/2014/main" id="{8A522FE2-505D-444C-9C7F-E92207549101}"/>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B68E945-0EBF-48AD-A67F-E145978E601F}"/>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Rank the eligible candidates using the published tie-break rule.</a:t>
            </a:r>
          </a:p>
        </p:txBody>
      </p:sp>
      <p:sp>
        <p:nvSpPr>
          <p:cNvPr id="10" name="">
            <a:extLst xmlns:a="http://schemas.openxmlformats.org/drawingml/2006/main">
              <a:ext uri="{FF2B5EF4-FFF2-40B4-BE49-F238E27FC236}">
                <a16:creationId xmlns:a16="http://schemas.microsoft.com/office/drawing/2014/main" id="{9E254F1A-5B93-43C5-90FC-4CACB54D037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9</a:t>
            </a:r>
          </a:p>
        </p:txBody>
      </p:sp>
    </p:spTree>
    <p:extLst>
      <p:ext uri="{BB962C8B-B14F-4D97-AF65-F5344CB8AC3E}">
        <p14:creationId xmlns:p14="http://schemas.microsoft.com/office/powerpoint/2010/main" val="920870388"/>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E2C1075-4A38-43FE-8DB0-641F5A4E21E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DD18930-E2B6-41C5-915E-9D4F306785F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79CAA9F6-02C4-4B88-BED6-54520666A14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constrained model choice</a:t>
            </a:r>
          </a:p>
        </p:txBody>
      </p:sp>
      <p:graphicFrame>
        <p:nvGraphicFramePr>
          <p:cNvPr id="10" name=""/>
          <p:cNvGraphicFramePr/>
          <p:nvPr/>
        </p:nvGraphicFramePr>
        <p:xfrm>
          <a:off xmlns:a="http://schemas.openxmlformats.org/drawingml/2006/main" x="590550" y="1733550"/>
          <a:ext xmlns:a="http://schemas.openxmlformats.org/drawingml/2006/main" cx="11010900" cy="2286000"/>
        </p:xfrm>
        <a:graphic xmlns:a="http://schemas.openxmlformats.org/drawingml/2006/main">
          <a:graphicData uri="http://schemas.openxmlformats.org/drawingml/2006/table">
            <a:tbl>
              <a:tblPr/>
              <a:tblGrid>
                <a:gridCol w="3670300"/>
                <a:gridCol w="3670300"/>
                <a:gridCol w="3670300"/>
              </a:tblGrid>
              <a:tr h="762000">
                <a:tc>
                  <a:txBody>
                    <a:bodyPr/>
                    <a:lstStyle/>
                    <a:p>
                      <a:r>
                        <a:rPr sz="2025" b="1">
                          <a:solidFill>
                            <a:srgbClr val="FFFFFF"/>
                          </a:solidFill>
                          <a:latin typeface="Calibri"/>
                          <a:ea typeface="Calibri"/>
                          <a:cs typeface="Calibri"/>
                        </a:rPr>
                        <a:t>Candidate</a:t>
                      </a:r>
                    </a:p>
                  </a:txBody>
                  <a:tcPr marL="91440" marR="91440" marT="45720" marB="45720">
                    <a:solidFill>
                      <a:srgbClr val="2E7D6F"/>
                    </a:solidFill>
                  </a:tcPr>
                </a:tc>
                <a:tc>
                  <a:txBody>
                    <a:bodyPr/>
                    <a:lstStyle/>
                    <a:p>
                      <a:r>
                        <a:rPr sz="2025" b="1">
                          <a:solidFill>
                            <a:srgbClr val="FFFFFF"/>
                          </a:solidFill>
                          <a:latin typeface="Calibri"/>
                          <a:ea typeface="Calibri"/>
                          <a:cs typeface="Calibri"/>
                        </a:rPr>
                        <a:t>Validation error</a:t>
                      </a:r>
                    </a:p>
                  </a:txBody>
                  <a:tcPr marL="91440" marR="91440" marT="45720" marB="45720">
                    <a:solidFill>
                      <a:srgbClr val="2E7D6F"/>
                    </a:solidFill>
                  </a:tcPr>
                </a:tc>
                <a:tc>
                  <a:txBody>
                    <a:bodyPr/>
                    <a:lstStyle/>
                    <a:p>
                      <a:r>
                        <a:rPr sz="2025" b="1">
                          <a:solidFill>
                            <a:srgbClr val="FFFFFF"/>
                          </a:solidFill>
                          <a:latin typeface="Calibri"/>
                          <a:ea typeface="Calibri"/>
                          <a:cs typeface="Calibri"/>
                        </a:rPr>
                        <a:t>Time (ms)</a:t>
                      </a:r>
                    </a:p>
                  </a:txBody>
                  <a:tcPr marL="91440" marR="91440" marT="45720" marB="45720">
                    <a:solidFill>
                      <a:srgbClr val="2E7D6F"/>
                    </a:solidFill>
                  </a:tcPr>
                </a:tc>
              </a:tr>
              <a:tr h="762000">
                <a:tc>
                  <a:txBody>
                    <a:bodyPr/>
                    <a:lstStyle/>
                    <a:p>
                      <a:r>
                        <a:rPr sz="2025" b="0">
                          <a:solidFill>
                            <a:srgbClr val="1C3144"/>
                          </a:solidFill>
                          <a:latin typeface="Calibri"/>
                          <a:ea typeface="Calibri"/>
                          <a:cs typeface="Calibri"/>
                        </a:rPr>
                        <a:t>simple</a:t>
                      </a:r>
                    </a:p>
                  </a:txBody>
                  <a:tcPr marL="91440" marR="91440" marT="45720" marB="45720">
                    <a:solidFill>
                      <a:srgbClr val="EEF3F6"/>
                    </a:solidFill>
                  </a:tcPr>
                </a:tc>
                <a:tc>
                  <a:txBody>
                    <a:bodyPr/>
                    <a:lstStyle/>
                    <a:p>
                      <a:r>
                        <a:rPr sz="2025" b="0">
                          <a:solidFill>
                            <a:srgbClr val="1C3144"/>
                          </a:solidFill>
                          <a:latin typeface="Calibri"/>
                          <a:ea typeface="Calibri"/>
                          <a:cs typeface="Calibri"/>
                        </a:rPr>
                        <a:t>3</a:t>
                      </a:r>
                    </a:p>
                  </a:txBody>
                  <a:tcPr marL="91440" marR="91440" marT="45720" marB="45720">
                    <a:solidFill>
                      <a:srgbClr val="EEF3F6"/>
                    </a:solidFill>
                  </a:tcPr>
                </a:tc>
                <a:tc>
                  <a:txBody>
                    <a:bodyPr/>
                    <a:lstStyle/>
                    <a:p>
                      <a:r>
                        <a:rPr sz="2025" b="0">
                          <a:solidFill>
                            <a:srgbClr val="1C3144"/>
                          </a:solidFill>
                          <a:latin typeface="Calibri"/>
                          <a:ea typeface="Calibri"/>
                          <a:cs typeface="Calibri"/>
                        </a:rPr>
                        <a:t>2</a:t>
                      </a:r>
                    </a:p>
                  </a:txBody>
                  <a:tcPr marL="91440" marR="91440" marT="45720" marB="45720">
                    <a:solidFill>
                      <a:srgbClr val="EEF3F6"/>
                    </a:solidFill>
                  </a:tcPr>
                </a:tc>
              </a:tr>
              <a:tr h="762000">
                <a:tc>
                  <a:txBody>
                    <a:bodyPr/>
                    <a:lstStyle/>
                    <a:p>
                      <a:r>
                        <a:rPr sz="2025" b="0">
                          <a:solidFill>
                            <a:srgbClr val="1C3144"/>
                          </a:solidFill>
                          <a:latin typeface="Calibri"/>
                          <a:ea typeface="Calibri"/>
                          <a:cs typeface="Calibri"/>
                        </a:rPr>
                        <a:t>complex</a:t>
                      </a:r>
                    </a:p>
                  </a:txBody>
                  <a:tcPr marL="91440" marR="91440" marT="45720" marB="45720">
                    <a:solidFill>
                      <a:srgbClr val="FFFFFF"/>
                    </a:solidFill>
                  </a:tcPr>
                </a:tc>
                <a:tc>
                  <a:txBody>
                    <a:bodyPr/>
                    <a:lstStyle/>
                    <a:p>
                      <a:r>
                        <a:rPr sz="2025" b="0">
                          <a:solidFill>
                            <a:srgbClr val="1C3144"/>
                          </a:solidFill>
                          <a:latin typeface="Calibri"/>
                          <a:ea typeface="Calibri"/>
                          <a:cs typeface="Calibri"/>
                        </a:rPr>
                        <a:t>1</a:t>
                      </a:r>
                    </a:p>
                  </a:txBody>
                  <a:tcPr marL="91440" marR="91440" marT="45720" marB="45720">
                    <a:solidFill>
                      <a:srgbClr val="FFFFFF"/>
                    </a:solidFill>
                  </a:tcPr>
                </a:tc>
                <a:tc>
                  <a:txBody>
                    <a:bodyPr/>
                    <a:lstStyle/>
                    <a:p>
                      <a:r>
                        <a:rPr sz="2025" b="0">
                          <a:solidFill>
                            <a:srgbClr val="1C3144"/>
                          </a:solidFill>
                          <a:latin typeface="Calibri"/>
                          <a:ea typeface="Calibri"/>
                          <a:cs typeface="Calibri"/>
                        </a:rPr>
                        <a:t>20</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F477865D-AD78-4EC6-9A83-BD89BCF113EA}"/>
              </a:ext>
            </a:extLst>
          </p:cNvPr>
          <p:cNvSpPr>
            <a:spLocks xmlns:a="http://schemas.openxmlformats.org/drawingml/2006/main" noGrp="1"/>
          </p:cNvSpPr>
          <p:nvPr/>
        </p:nvSpPr>
        <p:spPr>
          <a:xfrm xmlns:a="http://schemas.openxmlformats.org/drawingml/2006/main">
            <a:off x="685800" y="433387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Invented requirements: error at most 3 and time at most 10 ms.</a:t>
            </a:r>
          </a:p>
        </p:txBody>
      </p:sp>
      <p:sp>
        <p:nvSpPr>
          <p:cNvPr id="6" name="">
            <a:extLst xmlns:a="http://schemas.openxmlformats.org/drawingml/2006/main">
              <a:ext uri="{FF2B5EF4-FFF2-40B4-BE49-F238E27FC236}">
                <a16:creationId xmlns:a16="http://schemas.microsoft.com/office/drawing/2014/main" id="{C26B4765-1165-4DDA-95E9-8A6C4D25751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10</a:t>
            </a:r>
          </a:p>
        </p:txBody>
      </p:sp>
    </p:spTree>
    <p:extLst>
      <p:ext uri="{BB962C8B-B14F-4D97-AF65-F5344CB8AC3E}">
        <p14:creationId xmlns:p14="http://schemas.microsoft.com/office/powerpoint/2010/main" val="1339839977"/>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43DEF78-456E-4287-9BD1-14A282D477C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C1FC49F-E880-4FE2-9A1F-F82F5AF0296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D690F48-DA07-4306-99FB-A29AB2B92F7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Candidate records and eligibility</a:t>
            </a:r>
          </a:p>
        </p:txBody>
      </p:sp>
      <p:sp>
        <p:nvSpPr>
          <p:cNvPr id="4" name="">
            <a:extLst xmlns:a="http://schemas.openxmlformats.org/drawingml/2006/main">
              <a:ext uri="{FF2B5EF4-FFF2-40B4-BE49-F238E27FC236}">
                <a16:creationId xmlns:a16="http://schemas.microsoft.com/office/drawing/2014/main" id="{C225849F-60FB-40D5-8FCF-55D3785D8AB5}"/>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7CBBEC0-D289-4270-8A9D-89FED1A1E911}"/>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E024D7BA-D0ED-4964-BE61-86A9A2CC6DDF}"/>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 candidate is one model under consideration. Its dictionary records a name, a validation error and measured run time.</a:t>
            </a:r>
          </a:p>
        </p:txBody>
      </p:sp>
      <p:sp>
        <p:nvSpPr>
          <p:cNvPr id="7" name="">
            <a:extLst xmlns:a="http://schemas.openxmlformats.org/drawingml/2006/main">
              <a:ext uri="{FF2B5EF4-FFF2-40B4-BE49-F238E27FC236}">
                <a16:creationId xmlns:a16="http://schemas.microsoft.com/office/drawing/2014/main" id="{7C33D30A-D289-4C8B-BFAA-504E631598B4}"/>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An eligible candidate meets every published constraint. Build a list of eligible records first. If the list is empty, use the task’s specified no-candidate result.</a:t>
            </a:r>
          </a:p>
        </p:txBody>
      </p:sp>
      <p:sp>
        <p:nvSpPr>
          <p:cNvPr id="8" name="">
            <a:extLst xmlns:a="http://schemas.openxmlformats.org/drawingml/2006/main">
              <a:ext uri="{FF2B5EF4-FFF2-40B4-BE49-F238E27FC236}">
                <a16:creationId xmlns:a16="http://schemas.microsoft.com/office/drawing/2014/main" id="{08C86863-0C7F-4CB5-B472-61AA8E3780C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11</a:t>
            </a:r>
          </a:p>
        </p:txBody>
      </p:sp>
    </p:spTree>
    <p:extLst>
      <p:ext uri="{BB962C8B-B14F-4D97-AF65-F5344CB8AC3E}">
        <p14:creationId xmlns:p14="http://schemas.microsoft.com/office/powerpoint/2010/main" val="1937132563"/>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A731225-9C76-42FF-95BA-EFAC55F7688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184E920-DBB0-4B67-8932-A9ED6AAF3CA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7E0FD173-3FE3-4437-AA5D-368B7B2111E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Model selection in Python (1/2)</a:t>
            </a:r>
          </a:p>
        </p:txBody>
      </p:sp>
      <p:sp>
        <p:nvSpPr>
          <p:cNvPr id="4" name="">
            <a:extLst xmlns:a="http://schemas.openxmlformats.org/drawingml/2006/main">
              <a:ext uri="{FF2B5EF4-FFF2-40B4-BE49-F238E27FC236}">
                <a16:creationId xmlns:a16="http://schemas.microsoft.com/office/drawing/2014/main" id="{033976CD-40FF-41F1-830A-35CC7484B64B}"/>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67F6618-6153-4B57-BFE5-6F2251D3CF33}"/>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candidates = [{"name": "simple", "error": 3, "ms": 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{"name": "complex", "error": 1, "ms": 20}]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eligible = []</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item in candidates: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item["error"] &lt;= 3 and item["ms"] &lt;= 10: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eligible.append(item)</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names = []</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for item in eligible: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names.append(item["name"])</a:t>
            </a:r>
          </a:p>
        </p:txBody>
      </p:sp>
      <p:sp>
        <p:nvSpPr>
          <p:cNvPr id="6" name="">
            <a:extLst xmlns:a="http://schemas.openxmlformats.org/drawingml/2006/main">
              <a:ext uri="{FF2B5EF4-FFF2-40B4-BE49-F238E27FC236}">
                <a16:creationId xmlns:a16="http://schemas.microsoft.com/office/drawing/2014/main" id="{990AD1CA-8882-41D0-BA83-239EE026ACBF}"/>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for takes the next item. The indented block repeats.</a:t>
            </a:r>
          </a:p>
        </p:txBody>
      </p:sp>
      <p:sp>
        <p:nvSpPr>
          <p:cNvPr id="7" name="">
            <a:extLst xmlns:a="http://schemas.openxmlformats.org/drawingml/2006/main">
              <a:ext uri="{FF2B5EF4-FFF2-40B4-BE49-F238E27FC236}">
                <a16:creationId xmlns:a16="http://schemas.microsoft.com/office/drawing/2014/main" id="{A34BBCB8-CA46-4999-8F12-50B4413DFEA2}"/>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8" name="">
            <a:extLst xmlns:a="http://schemas.openxmlformats.org/drawingml/2006/main">
              <a:ext uri="{FF2B5EF4-FFF2-40B4-BE49-F238E27FC236}">
                <a16:creationId xmlns:a16="http://schemas.microsoft.com/office/drawing/2014/main" id="{433F4921-17DD-44EA-A820-2E3D6098D6E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12</a:t>
            </a:r>
          </a:p>
        </p:txBody>
      </p:sp>
    </p:spTree>
    <p:extLst>
      <p:ext uri="{BB962C8B-B14F-4D97-AF65-F5344CB8AC3E}">
        <p14:creationId xmlns:p14="http://schemas.microsoft.com/office/powerpoint/2010/main" val="1826383776"/>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D9C632B7-F9D5-48DA-869C-47F13F91E26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38479D0-1DBD-4423-8EF0-340BC8719F2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375CEAB7-09B1-4AE7-BAFF-3DE1BFD021D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Model selection in Python (2/2)</a:t>
            </a:r>
          </a:p>
        </p:txBody>
      </p:sp>
      <p:sp>
        <p:nvSpPr>
          <p:cNvPr id="4" name="">
            <a:extLst xmlns:a="http://schemas.openxmlformats.org/drawingml/2006/main">
              <a:ext uri="{FF2B5EF4-FFF2-40B4-BE49-F238E27FC236}">
                <a16:creationId xmlns:a16="http://schemas.microsoft.com/office/drawing/2014/main" id="{7708DD9E-AB24-4FC9-9DCA-375EC6403383}"/>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55DEC2E-9176-4621-9F4D-F8068F9B7035}"/>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print(names)</a:t>
            </a:r>
          </a:p>
        </p:txBody>
      </p:sp>
      <p:sp>
        <p:nvSpPr>
          <p:cNvPr id="6" name="">
            <a:extLst xmlns:a="http://schemas.openxmlformats.org/drawingml/2006/main">
              <a:ext uri="{FF2B5EF4-FFF2-40B4-BE49-F238E27FC236}">
                <a16:creationId xmlns:a16="http://schemas.microsoft.com/office/drawing/2014/main" id="{CE9F5DA3-B681-4A03-8A1C-5096E5FD5D4E}"/>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54B50CD3-63CB-4684-8E92-9EEBA8849ED7}"/>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xmlns:a="http://schemas.openxmlformats.org/drawingml/2006/main">
              <a:ext uri="{FF2B5EF4-FFF2-40B4-BE49-F238E27FC236}">
                <a16:creationId xmlns:a16="http://schemas.microsoft.com/office/drawing/2014/main" id="{40572E81-C6EB-4DE7-AE87-CDE71157E3D7}"/>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the SAME cell; keep indentation. Run after all parts are entered.</a:t>
            </a:r>
          </a:p>
        </p:txBody>
      </p:sp>
      <p:sp>
        <p:nvSpPr>
          <p:cNvPr id="9" name="">
            <a:extLst xmlns:a="http://schemas.openxmlformats.org/drawingml/2006/main">
              <a:ext uri="{FF2B5EF4-FFF2-40B4-BE49-F238E27FC236}">
                <a16:creationId xmlns:a16="http://schemas.microsoft.com/office/drawing/2014/main" id="{62DCC02E-A72C-4616-A72F-3124676BA44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13</a:t>
            </a:r>
          </a:p>
        </p:txBody>
      </p:sp>
    </p:spTree>
    <p:extLst>
      <p:ext uri="{BB962C8B-B14F-4D97-AF65-F5344CB8AC3E}">
        <p14:creationId xmlns:p14="http://schemas.microsoft.com/office/powerpoint/2010/main" val="1539378824"/>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D11A472-1029-4A97-A3AE-BEADFB16985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F8614C5-437D-4190-B397-661AF003E2B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CHECK THE OUTPUT</a:t>
            </a:r>
          </a:p>
        </p:txBody>
      </p:sp>
      <p:sp>
        <p:nvSpPr>
          <p:cNvPr id="3" name="">
            <a:extLst xmlns:a="http://schemas.openxmlformats.org/drawingml/2006/main">
              <a:ext uri="{FF2B5EF4-FFF2-40B4-BE49-F238E27FC236}">
                <a16:creationId xmlns:a16="http://schemas.microsoft.com/office/drawing/2014/main" id="{38A4797E-4891-4946-B2CA-14EE43980B1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Model selection results</a:t>
            </a:r>
          </a:p>
        </p:txBody>
      </p:sp>
      <p:sp>
        <p:nvSpPr>
          <p:cNvPr id="4" name="">
            <a:extLst xmlns:a="http://schemas.openxmlformats.org/drawingml/2006/main">
              <a:ext uri="{FF2B5EF4-FFF2-40B4-BE49-F238E27FC236}">
                <a16:creationId xmlns:a16="http://schemas.microsoft.com/office/drawing/2014/main" id="{DFF29059-8A9E-4E14-B0E0-F050A1316EA3}"/>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DEBCF4D-23F4-466C-AE48-7F773F9EDF23}"/>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0">
                <a:solidFill>
                  <a:srgbClr val="2E7D6F"/>
                </a:solidFill>
                <a:latin typeface="Courier New"/>
                <a:ea typeface="Courier New"/>
                <a:cs typeface="Courier New"/>
              </a:defRPr>
            </a:pPr>
            <a:r>
              <a:rPr sz="3150" b="0">
                <a:solidFill>
                  <a:srgbClr val="2E7D6F"/>
                </a:solidFill>
                <a:latin typeface="Courier New"/>
                <a:ea typeface="Courier New"/>
                <a:cs typeface="Courier New"/>
              </a:rPr>
              <a:t>['simple']</a:t>
            </a:r>
          </a:p>
        </p:txBody>
      </p:sp>
      <p:sp>
        <p:nvSpPr>
          <p:cNvPr id="6" name="">
            <a:extLst xmlns:a="http://schemas.openxmlformats.org/drawingml/2006/main">
              <a:ext uri="{FF2B5EF4-FFF2-40B4-BE49-F238E27FC236}">
                <a16:creationId xmlns:a16="http://schemas.microsoft.com/office/drawing/2014/main" id="{DA7D8792-8A50-479D-A198-AC499D57ADAA}"/>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CBF2DF16-0F1C-4B8B-844E-933719B94E7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14</a:t>
            </a:r>
          </a:p>
        </p:txBody>
      </p:sp>
    </p:spTree>
    <p:extLst>
      <p:ext uri="{BB962C8B-B14F-4D97-AF65-F5344CB8AC3E}">
        <p14:creationId xmlns:p14="http://schemas.microsoft.com/office/powerpoint/2010/main" val="2069697943"/>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1A2761A-598E-453D-A465-8236291C7FC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57737EC-1E91-4566-83D8-DBF71482841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979D979-EC80-4D6C-8527-D5F7C0B2037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tuple supplies an ordered ranking key</a:t>
            </a:r>
          </a:p>
        </p:txBody>
      </p:sp>
      <p:sp>
        <p:nvSpPr>
          <p:cNvPr id="4" name="">
            <a:extLst xmlns:a="http://schemas.openxmlformats.org/drawingml/2006/main">
              <a:ext uri="{FF2B5EF4-FFF2-40B4-BE49-F238E27FC236}">
                <a16:creationId xmlns:a16="http://schemas.microsoft.com/office/drawing/2014/main" id="{97FBDC26-0150-4F64-9EE9-A9EA3AB67E7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8A5A43B-B99F-43BE-B174-DFC75CC85DB2}"/>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tuple holds several values in order, such as (error, time, name).</a:t>
            </a:r>
          </a:p>
        </p:txBody>
      </p:sp>
      <p:sp>
        <p:nvSpPr>
          <p:cNvPr id="6" name="">
            <a:extLst xmlns:a="http://schemas.openxmlformats.org/drawingml/2006/main">
              <a:ext uri="{FF2B5EF4-FFF2-40B4-BE49-F238E27FC236}">
                <a16:creationId xmlns:a16="http://schemas.microsoft.com/office/drawing/2014/main" id="{F3314C45-5CF5-427A-AE4B-D6FBA666A4BF}"/>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CBA960F-00EA-42A5-81BC-0C77F2E9F19A}"/>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Python compares the first values. A tie moves the comparison to the second.</a:t>
            </a:r>
          </a:p>
        </p:txBody>
      </p:sp>
      <p:sp>
        <p:nvSpPr>
          <p:cNvPr id="8" name="">
            <a:extLst xmlns:a="http://schemas.openxmlformats.org/drawingml/2006/main">
              <a:ext uri="{FF2B5EF4-FFF2-40B4-BE49-F238E27FC236}">
                <a16:creationId xmlns:a16="http://schemas.microsoft.com/office/drawing/2014/main" id="{CEB965D8-EE15-461B-A4ED-A0E9F34539EF}"/>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7AA4987-7C85-4D3B-A87D-5244EF1F58D5}"/>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If those also tie, the third value decides.</a:t>
            </a:r>
          </a:p>
        </p:txBody>
      </p:sp>
      <p:sp>
        <p:nvSpPr>
          <p:cNvPr id="10" name="">
            <a:extLst xmlns:a="http://schemas.openxmlformats.org/drawingml/2006/main">
              <a:ext uri="{FF2B5EF4-FFF2-40B4-BE49-F238E27FC236}">
                <a16:creationId xmlns:a16="http://schemas.microsoft.com/office/drawing/2014/main" id="{37BBCA48-5015-4049-9763-7F495284849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15</a:t>
            </a:r>
          </a:p>
        </p:txBody>
      </p:sp>
    </p:spTree>
    <p:extLst>
      <p:ext uri="{BB962C8B-B14F-4D97-AF65-F5344CB8AC3E}">
        <p14:creationId xmlns:p14="http://schemas.microsoft.com/office/powerpoint/2010/main" val="619115528"/>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876E5ED-F821-43AD-80B0-0A14B911935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C185E7B-57A4-4888-942A-F827E23CDCE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C643A8F2-2487-41C1-A451-F448A285540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a tuple ranking key</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833438">
                <a:tc>
                  <a:txBody>
                    <a:bodyPr/>
                    <a:lstStyle/>
                    <a:p>
                      <a:r>
                        <a:rPr sz="2025" b="1">
                          <a:solidFill>
                            <a:srgbClr val="FFFFFF"/>
                          </a:solidFill>
                          <a:latin typeface="Calibri"/>
                          <a:ea typeface="Calibri"/>
                          <a:cs typeface="Calibri"/>
                        </a:rPr>
                        <a:t>Candidate</a:t>
                      </a:r>
                    </a:p>
                  </a:txBody>
                  <a:tcPr marL="91440" marR="91440" marT="45720" marB="45720">
                    <a:solidFill>
                      <a:srgbClr val="2E7D6F"/>
                    </a:solidFill>
                  </a:tcPr>
                </a:tc>
                <a:tc>
                  <a:txBody>
                    <a:bodyPr/>
                    <a:lstStyle/>
                    <a:p>
                      <a:r>
                        <a:rPr sz="2025" b="1">
                          <a:solidFill>
                            <a:srgbClr val="FFFFFF"/>
                          </a:solidFill>
                          <a:latin typeface="Calibri"/>
                          <a:ea typeface="Calibri"/>
                          <a:cs typeface="Calibri"/>
                        </a:rPr>
                        <a:t>Key: error, ms, name</a:t>
                      </a:r>
                    </a:p>
                  </a:txBody>
                  <a:tcPr marL="91440" marR="91440" marT="45720" marB="45720">
                    <a:solidFill>
                      <a:srgbClr val="2E7D6F"/>
                    </a:solidFill>
                  </a:tcPr>
                </a:tc>
                <a:tc>
                  <a:txBody>
                    <a:bodyPr/>
                    <a:lstStyle/>
                    <a:p>
                      <a:r>
                        <a:rPr sz="2025" b="1">
                          <a:solidFill>
                            <a:srgbClr val="FFFFFF"/>
                          </a:solidFill>
                          <a:latin typeface="Calibri"/>
                          <a:ea typeface="Calibri"/>
                          <a:cs typeface="Calibri"/>
                        </a:rPr>
                        <a:t>Position</a:t>
                      </a:r>
                    </a:p>
                  </a:txBody>
                  <a:tcPr marL="91440" marR="91440" marT="45720" marB="45720">
                    <a:solidFill>
                      <a:srgbClr val="2E7D6F"/>
                    </a:solidFill>
                  </a:tcPr>
                </a:tc>
              </a:tr>
              <a:tr h="833438">
                <a:tc>
                  <a:txBody>
                    <a:bodyPr/>
                    <a:lstStyle/>
                    <a:p>
                      <a:r>
                        <a:rPr sz="2025" b="0">
                          <a:solidFill>
                            <a:srgbClr val="1C3144"/>
                          </a:solidFill>
                          <a:latin typeface="Calibri"/>
                          <a:ea typeface="Calibri"/>
                          <a:cs typeface="Calibri"/>
                        </a:rPr>
                        <a:t>beta</a:t>
                      </a:r>
                    </a:p>
                  </a:txBody>
                  <a:tcPr marL="91440" marR="91440" marT="45720" marB="45720">
                    <a:solidFill>
                      <a:srgbClr val="EEF3F6"/>
                    </a:solidFill>
                  </a:tcPr>
                </a:tc>
                <a:tc>
                  <a:txBody>
                    <a:bodyPr/>
                    <a:lstStyle/>
                    <a:p>
                      <a:r>
                        <a:rPr sz="2025" b="0">
                          <a:solidFill>
                            <a:srgbClr val="1C3144"/>
                          </a:solidFill>
                          <a:latin typeface="Calibri"/>
                          <a:ea typeface="Calibri"/>
                          <a:cs typeface="Calibri"/>
                        </a:rPr>
                        <a:t>(2, 5, "beta")</a:t>
                      </a:r>
                    </a:p>
                  </a:txBody>
                  <a:tcPr marL="91440" marR="91440" marT="45720" marB="45720">
                    <a:solidFill>
                      <a:srgbClr val="EEF3F6"/>
                    </a:solidFill>
                  </a:tcPr>
                </a:tc>
                <a:tc>
                  <a:txBody>
                    <a:bodyPr/>
                    <a:lstStyle/>
                    <a:p>
                      <a:r>
                        <a:rPr sz="2025" b="0">
                          <a:solidFill>
                            <a:srgbClr val="1C3144"/>
                          </a:solidFill>
                          <a:latin typeface="Calibri"/>
                          <a:ea typeface="Calibri"/>
                          <a:cs typeface="Calibri"/>
                        </a:rPr>
                        <a:t>1: lower error</a:t>
                      </a:r>
                    </a:p>
                  </a:txBody>
                  <a:tcPr marL="91440" marR="91440" marT="45720" marB="45720">
                    <a:solidFill>
                      <a:srgbClr val="EEF3F6"/>
                    </a:solidFill>
                  </a:tcPr>
                </a:tc>
              </a:tr>
              <a:tr h="833438">
                <a:tc>
                  <a:txBody>
                    <a:bodyPr/>
                    <a:lstStyle/>
                    <a:p>
                      <a:r>
                        <a:rPr sz="2025" b="0">
                          <a:solidFill>
                            <a:srgbClr val="1C3144"/>
                          </a:solidFill>
                          <a:latin typeface="Calibri"/>
                          <a:ea typeface="Calibri"/>
                          <a:cs typeface="Calibri"/>
                        </a:rPr>
                        <a:t>alpha</a:t>
                      </a:r>
                    </a:p>
                  </a:txBody>
                  <a:tcPr marL="91440" marR="91440" marT="45720" marB="45720">
                    <a:solidFill>
                      <a:srgbClr val="FFFFFF"/>
                    </a:solidFill>
                  </a:tcPr>
                </a:tc>
                <a:tc>
                  <a:txBody>
                    <a:bodyPr/>
                    <a:lstStyle/>
                    <a:p>
                      <a:r>
                        <a:rPr sz="2025" b="0">
                          <a:solidFill>
                            <a:srgbClr val="1C3144"/>
                          </a:solidFill>
                          <a:latin typeface="Calibri"/>
                          <a:ea typeface="Calibri"/>
                          <a:cs typeface="Calibri"/>
                        </a:rPr>
                        <a:t>(3, 1, "alpha")</a:t>
                      </a:r>
                    </a:p>
                  </a:txBody>
                  <a:tcPr marL="91440" marR="91440" marT="45720" marB="45720">
                    <a:solidFill>
                      <a:srgbClr val="FFFFFF"/>
                    </a:solidFill>
                  </a:tcPr>
                </a:tc>
                <a:tc>
                  <a:txBody>
                    <a:bodyPr/>
                    <a:lstStyle/>
                    <a:p>
                      <a:r>
                        <a:rPr sz="2025" b="0">
                          <a:solidFill>
                            <a:srgbClr val="1C3144"/>
                          </a:solidFill>
                          <a:latin typeface="Calibri"/>
                          <a:ea typeface="Calibri"/>
                          <a:cs typeface="Calibri"/>
                        </a:rPr>
                        <a:t>2: tie on error; faster</a:t>
                      </a:r>
                    </a:p>
                  </a:txBody>
                  <a:tcPr marL="91440" marR="91440" marT="45720" marB="45720">
                    <a:solidFill>
                      <a:srgbClr val="FFFFFF"/>
                    </a:solidFill>
                  </a:tcPr>
                </a:tc>
              </a:tr>
              <a:tr h="833438">
                <a:tc>
                  <a:txBody>
                    <a:bodyPr/>
                    <a:lstStyle/>
                    <a:p>
                      <a:r>
                        <a:rPr sz="2025" b="0">
                          <a:solidFill>
                            <a:srgbClr val="1C3144"/>
                          </a:solidFill>
                          <a:latin typeface="Calibri"/>
                          <a:ea typeface="Calibri"/>
                          <a:cs typeface="Calibri"/>
                        </a:rPr>
                        <a:t>gamma</a:t>
                      </a:r>
                    </a:p>
                  </a:txBody>
                  <a:tcPr marL="91440" marR="91440" marT="45720" marB="45720">
                    <a:solidFill>
                      <a:srgbClr val="EEF3F6"/>
                    </a:solidFill>
                  </a:tcPr>
                </a:tc>
                <a:tc>
                  <a:txBody>
                    <a:bodyPr/>
                    <a:lstStyle/>
                    <a:p>
                      <a:r>
                        <a:rPr sz="2025" b="0">
                          <a:solidFill>
                            <a:srgbClr val="1C3144"/>
                          </a:solidFill>
                          <a:latin typeface="Calibri"/>
                          <a:ea typeface="Calibri"/>
                          <a:cs typeface="Calibri"/>
                        </a:rPr>
                        <a:t>(3, 2, "gamma")</a:t>
                      </a:r>
                    </a:p>
                  </a:txBody>
                  <a:tcPr marL="91440" marR="91440" marT="45720" marB="45720">
                    <a:solidFill>
                      <a:srgbClr val="EEF3F6"/>
                    </a:solidFill>
                  </a:tcPr>
                </a:tc>
                <a:tc>
                  <a:txBody>
                    <a:bodyPr/>
                    <a:lstStyle/>
                    <a:p>
                      <a:r>
                        <a:rPr sz="2025" b="0">
                          <a:solidFill>
                            <a:srgbClr val="1C3144"/>
                          </a:solidFill>
                          <a:latin typeface="Calibri"/>
                          <a:ea typeface="Calibri"/>
                          <a:cs typeface="Calibri"/>
                        </a:rPr>
                        <a:t>3: same error; slower</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77559F3F-8EB4-4D0B-B351-5CA8799DF1C5}"/>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Only eligible candidates reach ranking. If error and time tie, compare the names alphabetically.</a:t>
            </a:r>
          </a:p>
        </p:txBody>
      </p:sp>
      <p:sp>
        <p:nvSpPr>
          <p:cNvPr id="6" name="">
            <a:extLst xmlns:a="http://schemas.openxmlformats.org/drawingml/2006/main">
              <a:ext uri="{FF2B5EF4-FFF2-40B4-BE49-F238E27FC236}">
                <a16:creationId xmlns:a16="http://schemas.microsoft.com/office/drawing/2014/main" id="{B49901D1-65C4-46F3-AB59-60E70B36FBE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16</a:t>
            </a:r>
          </a:p>
        </p:txBody>
      </p:sp>
    </p:spTree>
    <p:extLst>
      <p:ext uri="{BB962C8B-B14F-4D97-AF65-F5344CB8AC3E}">
        <p14:creationId xmlns:p14="http://schemas.microsoft.com/office/powerpoint/2010/main" val="408279439"/>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825E43C-F2F4-4ECB-B7B2-D2C2D0D9ED0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E7C8449-441C-4AF1-8940-EDB514D8ADB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B64A648-EBC9-46F1-954E-D221664A4AA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Pass a function as the sorting key</a:t>
            </a:r>
          </a:p>
        </p:txBody>
      </p:sp>
      <p:sp>
        <p:nvSpPr>
          <p:cNvPr id="4" name="">
            <a:extLst xmlns:a="http://schemas.openxmlformats.org/drawingml/2006/main">
              <a:ext uri="{FF2B5EF4-FFF2-40B4-BE49-F238E27FC236}">
                <a16:creationId xmlns:a16="http://schemas.microsoft.com/office/drawing/2014/main" id="{FDFE3963-73EC-48B8-8998-87396931672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23C230F-2482-46F4-A729-C3631C614CD1}"/>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sorted returns a new list in order. In sorted(eligible, key=rank), rank is the function itself, passed without calling it.</a:t>
            </a:r>
          </a:p>
        </p:txBody>
      </p:sp>
      <p:sp>
        <p:nvSpPr>
          <p:cNvPr id="6" name="">
            <a:extLst xmlns:a="http://schemas.openxmlformats.org/drawingml/2006/main">
              <a:ext uri="{FF2B5EF4-FFF2-40B4-BE49-F238E27FC236}">
                <a16:creationId xmlns:a16="http://schemas.microsoft.com/office/drawing/2014/main" id="{30C172AF-AFE1-4B86-97B9-C0E974CDFF29}"/>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B35FAC6-0807-4832-A739-CAD584F06765}"/>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sorted calls rank(item) for each candidate and compares the returned tuples. Writing rank() here would call it immediately without its required input.</a:t>
            </a:r>
          </a:p>
        </p:txBody>
      </p:sp>
      <p:sp>
        <p:nvSpPr>
          <p:cNvPr id="8" name="">
            <a:extLst xmlns:a="http://schemas.openxmlformats.org/drawingml/2006/main">
              <a:ext uri="{FF2B5EF4-FFF2-40B4-BE49-F238E27FC236}">
                <a16:creationId xmlns:a16="http://schemas.microsoft.com/office/drawing/2014/main" id="{D88B813F-6E5D-4081-8433-E2D5DE51026E}"/>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1D0CB90-5064-4D08-9E69-E4961461454D}"/>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original eligible list is unchanged. Check len(ordered) before using ordered[0], because an empty list has no first position.</a:t>
            </a:r>
          </a:p>
        </p:txBody>
      </p:sp>
      <p:sp>
        <p:nvSpPr>
          <p:cNvPr id="10" name="">
            <a:extLst xmlns:a="http://schemas.openxmlformats.org/drawingml/2006/main">
              <a:ext uri="{FF2B5EF4-FFF2-40B4-BE49-F238E27FC236}">
                <a16:creationId xmlns:a16="http://schemas.microsoft.com/office/drawing/2014/main" id="{0F56BD4A-AE5B-4021-9A1D-F484AA44855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17</a:t>
            </a:r>
          </a:p>
        </p:txBody>
      </p:sp>
    </p:spTree>
    <p:extLst>
      <p:ext uri="{BB962C8B-B14F-4D97-AF65-F5344CB8AC3E}">
        <p14:creationId xmlns:p14="http://schemas.microsoft.com/office/powerpoint/2010/main" val="490092098"/>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1EBC065E-7BDE-4A80-A61F-9E38709B54F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3948A28-B4FA-40C9-8B1F-5ED8E3245C1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F26FAA7-07E5-4951-B74E-B202647FFA2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Sorting with a tie-break rule</a:t>
            </a:r>
          </a:p>
        </p:txBody>
      </p:sp>
      <p:sp>
        <p:nvSpPr>
          <p:cNvPr id="4" name="">
            <a:extLst xmlns:a="http://schemas.openxmlformats.org/drawingml/2006/main">
              <a:ext uri="{FF2B5EF4-FFF2-40B4-BE49-F238E27FC236}">
                <a16:creationId xmlns:a16="http://schemas.microsoft.com/office/drawing/2014/main" id="{80218FA6-6ED8-4AAA-9EB6-D4098F44491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7DB09FB-C6E1-4B64-8D75-6B844970D5C1}"/>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tuple is an ordered group of values.</a:t>
            </a:r>
          </a:p>
        </p:txBody>
      </p:sp>
      <p:sp>
        <p:nvSpPr>
          <p:cNvPr id="6" name="">
            <a:extLst xmlns:a="http://schemas.openxmlformats.org/drawingml/2006/main">
              <a:ext uri="{FF2B5EF4-FFF2-40B4-BE49-F238E27FC236}">
                <a16:creationId xmlns:a16="http://schemas.microsoft.com/office/drawing/2014/main" id="{3CED2879-A32A-4C3B-8584-8978E5CB2EFC}"/>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84AEE1A-088C-4150-9896-19F854971CC2}"/>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Python compares the first item, then the second when tied, then the third.</a:t>
            </a:r>
          </a:p>
        </p:txBody>
      </p:sp>
      <p:sp>
        <p:nvSpPr>
          <p:cNvPr id="8" name="">
            <a:extLst xmlns:a="http://schemas.openxmlformats.org/drawingml/2006/main">
              <a:ext uri="{FF2B5EF4-FFF2-40B4-BE49-F238E27FC236}">
                <a16:creationId xmlns:a16="http://schemas.microsoft.com/office/drawing/2014/main" id="{36B4A642-AF3C-4EE1-8676-FFF2335B8A38}"/>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7FACDEC-A72D-4996-A1AD-A48F12159A9C}"/>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key function gives sorted the tuple for each candidate.</a:t>
            </a:r>
          </a:p>
        </p:txBody>
      </p:sp>
      <p:sp>
        <p:nvSpPr>
          <p:cNvPr id="10" name="">
            <a:extLst xmlns:a="http://schemas.openxmlformats.org/drawingml/2006/main">
              <a:ext uri="{FF2B5EF4-FFF2-40B4-BE49-F238E27FC236}">
                <a16:creationId xmlns:a16="http://schemas.microsoft.com/office/drawing/2014/main" id="{FF9CCF4B-1EB9-4C50-BAB3-09AC40D8A78D}"/>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677C987C-CBC5-4644-AF39-556AB6D95132}"/>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Guard an empty list before selecting position zero.</a:t>
            </a:r>
          </a:p>
        </p:txBody>
      </p:sp>
      <p:sp>
        <p:nvSpPr>
          <p:cNvPr id="12" name="">
            <a:extLst xmlns:a="http://schemas.openxmlformats.org/drawingml/2006/main">
              <a:ext uri="{FF2B5EF4-FFF2-40B4-BE49-F238E27FC236}">
                <a16:creationId xmlns:a16="http://schemas.microsoft.com/office/drawing/2014/main" id="{688FCD2D-90E6-4FCA-A894-1E7111A2DB0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18</a:t>
            </a:r>
          </a:p>
        </p:txBody>
      </p:sp>
    </p:spTree>
    <p:extLst>
      <p:ext uri="{BB962C8B-B14F-4D97-AF65-F5344CB8AC3E}">
        <p14:creationId xmlns:p14="http://schemas.microsoft.com/office/powerpoint/2010/main" val="967518073"/>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FF3A66A-AD2D-443C-B471-9D1404A61ED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009A22A-4BE0-45F1-A5AB-383FB906889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B2E59486-71D1-430A-9606-0D8A8453C1A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Sorting with a named function</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5505450"/>
                <a:gridCol w="5505450"/>
              </a:tblGrid>
              <a:tr h="666750">
                <a:tc>
                  <a:txBody>
                    <a:bodyPr/>
                    <a:lstStyle/>
                    <a:p>
                      <a:r>
                        <a:rPr sz="2025" b="1">
                          <a:solidFill>
                            <a:srgbClr val="FFFFFF"/>
                          </a:solidFill>
                          <a:latin typeface="Calibri"/>
                          <a:ea typeface="Calibri"/>
                          <a:cs typeface="Calibri"/>
                        </a:rPr>
                        <a:t>Expression</a:t>
                      </a:r>
                    </a:p>
                  </a:txBody>
                  <a:tcPr marL="91440" marR="91440" marT="45720" marB="45720">
                    <a:solidFill>
                      <a:srgbClr val="2E7D6F"/>
                    </a:solidFill>
                  </a:tcPr>
                </a:tc>
                <a:tc>
                  <a:txBody>
                    <a:bodyPr/>
                    <a:lstStyle/>
                    <a:p>
                      <a:r>
                        <a:rPr sz="2025" b="1">
                          <a:solidFill>
                            <a:srgbClr val="FFFFFF"/>
                          </a:solidFill>
                          <a:latin typeface="Calibri"/>
                          <a:ea typeface="Calibri"/>
                          <a:cs typeface="Calibri"/>
                        </a:rPr>
                        <a:t>Meaning</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key=rank</a:t>
                      </a:r>
                    </a:p>
                  </a:txBody>
                  <a:tcPr marL="91440" marR="91440" marT="45720" marB="45720">
                    <a:solidFill>
                      <a:srgbClr val="EEF3F6"/>
                    </a:solidFill>
                  </a:tcPr>
                </a:tc>
                <a:tc>
                  <a:txBody>
                    <a:bodyPr/>
                    <a:lstStyle/>
                    <a:p>
                      <a:r>
                        <a:rPr sz="2025" b="0">
                          <a:solidFill>
                            <a:srgbClr val="1C3144"/>
                          </a:solidFill>
                          <a:latin typeface="Calibri"/>
                          <a:ea typeface="Calibri"/>
                          <a:cs typeface="Calibri"/>
                        </a:rPr>
                        <a:t>Use rank to build each comparison key</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sorted(eligible, key=rank)</a:t>
                      </a:r>
                    </a:p>
                  </a:txBody>
                  <a:tcPr marL="91440" marR="91440" marT="45720" marB="45720">
                    <a:solidFill>
                      <a:srgbClr val="FFFFFF"/>
                    </a:solidFill>
                  </a:tcPr>
                </a:tc>
                <a:tc>
                  <a:txBody>
                    <a:bodyPr/>
                    <a:lstStyle/>
                    <a:p>
                      <a:r>
                        <a:rPr sz="2025" b="0">
                          <a:solidFill>
                            <a:srgbClr val="1C3144"/>
                          </a:solidFill>
                          <a:latin typeface="Calibri"/>
                          <a:ea typeface="Calibri"/>
                          <a:cs typeface="Calibri"/>
                        </a:rPr>
                        <a:t>Return a newly ordered list</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ordered[0]</a:t>
                      </a:r>
                    </a:p>
                  </a:txBody>
                  <a:tcPr marL="91440" marR="91440" marT="45720" marB="45720">
                    <a:solidFill>
                      <a:srgbClr val="EEF3F6"/>
                    </a:solidFill>
                  </a:tcPr>
                </a:tc>
                <a:tc>
                  <a:txBody>
                    <a:bodyPr/>
                    <a:lstStyle/>
                    <a:p>
                      <a:r>
                        <a:rPr sz="2025" b="0">
                          <a:solidFill>
                            <a:srgbClr val="1C3144"/>
                          </a:solidFill>
                          <a:latin typeface="Calibri"/>
                          <a:ea typeface="Calibri"/>
                          <a:cs typeface="Calibri"/>
                        </a:rPr>
                        <a:t>Select its first item</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len(ordered) == 0</a:t>
                      </a:r>
                    </a:p>
                  </a:txBody>
                  <a:tcPr marL="91440" marR="91440" marT="45720" marB="45720">
                    <a:solidFill>
                      <a:srgbClr val="FFFFFF"/>
                    </a:solidFill>
                  </a:tcPr>
                </a:tc>
                <a:tc>
                  <a:txBody>
                    <a:bodyPr/>
                    <a:lstStyle/>
                    <a:p>
                      <a:r>
                        <a:rPr sz="2025" b="0">
                          <a:solidFill>
                            <a:srgbClr val="1C3144"/>
                          </a:solidFill>
                          <a:latin typeface="Calibri"/>
                          <a:ea typeface="Calibri"/>
                          <a:cs typeface="Calibri"/>
                        </a:rPr>
                        <a:t>Check for no eligible candidate</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8AB4C5D1-891A-4523-B723-AD3770E9F569}"/>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Check for an empty list before accessing position zero.</a:t>
            </a:r>
          </a:p>
        </p:txBody>
      </p:sp>
      <p:sp>
        <p:nvSpPr>
          <p:cNvPr id="6" name="">
            <a:extLst xmlns:a="http://schemas.openxmlformats.org/drawingml/2006/main">
              <a:ext uri="{FF2B5EF4-FFF2-40B4-BE49-F238E27FC236}">
                <a16:creationId xmlns:a16="http://schemas.microsoft.com/office/drawing/2014/main" id="{B51081A0-CCBF-4337-94D8-89AF3C638F8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19</a:t>
            </a:r>
          </a:p>
        </p:txBody>
      </p:sp>
    </p:spTree>
    <p:extLst>
      <p:ext uri="{BB962C8B-B14F-4D97-AF65-F5344CB8AC3E}">
        <p14:creationId xmlns:p14="http://schemas.microsoft.com/office/powerpoint/2010/main" val="1812526736"/>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ABA0FB7-9933-456D-9FBB-2CC0C54C21E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16C51CB-0B4D-4013-8A38-77EF0695298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92DDA1A0-4137-4F74-AE0E-E902DE9E210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Sorting with a tie-break rule in Python</a:t>
            </a:r>
          </a:p>
        </p:txBody>
      </p:sp>
      <p:sp>
        <p:nvSpPr>
          <p:cNvPr id="4" name="">
            <a:extLst xmlns:a="http://schemas.openxmlformats.org/drawingml/2006/main">
              <a:ext uri="{FF2B5EF4-FFF2-40B4-BE49-F238E27FC236}">
                <a16:creationId xmlns:a16="http://schemas.microsoft.com/office/drawing/2014/main" id="{68DE7C9F-F036-41B3-BB41-6A630B4AABF6}"/>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28C3713-16E5-4511-B84F-F2FA4EA98135}"/>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def</a:t>
            </a:r>
            <a:r>
              <a:rPr sz="2175" b="0">
                <a:solidFill>
                  <a:srgbClr val="F4F7FA"/>
                </a:solidFill>
                <a:latin typeface="Courier New"/>
                <a:ea typeface="Courier New"/>
                <a:cs typeface="Courier New"/>
              </a:rPr>
              <a:t> rank(item):</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return</a:t>
            </a:r>
            <a:r>
              <a:rPr sz="2175" b="0">
                <a:solidFill>
                  <a:srgbClr val="F4F7FA"/>
                </a:solidFill>
                <a:latin typeface="Courier New"/>
                <a:ea typeface="Courier New"/>
                <a:cs typeface="Courier New"/>
              </a:rPr>
              <a:t> (item["error"], item["ms"], item["name"])</a:t>
            </a:r>
          </a:p>
          <a:p xmlns:a="http://schemas.openxmlformats.org/drawingml/2006/main">
            <a:r>
              <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ordered = sorted(eligible, key=rank)</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len(ordered) == 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winner = </a:t>
            </a:r>
            <a:r>
              <a:rPr sz="2175" b="0">
                <a:solidFill>
                  <a:srgbClr val="FFB080"/>
                </a:solidFill>
                <a:latin typeface="Courier New"/>
                <a:ea typeface="Courier New"/>
                <a:cs typeface="Courier New"/>
              </a:rPr>
              <a:t>None</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else</a:t>
            </a:r>
            <a:r>
              <a:rPr sz="2175" b="0">
                <a:solidFill>
                  <a:srgbClr val="F4F7FA"/>
                </a:solidFill>
                <a:latin typeface="Courier New"/>
                <a:ea typeface="Courier New"/>
                <a:cs typeface="Courier New"/>
              </a:rPr>
              <a: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winner = ordered[0]["name"]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print(winner)</a:t>
            </a:r>
          </a:p>
        </p:txBody>
      </p:sp>
      <p:sp>
        <p:nvSpPr>
          <p:cNvPr id="6" name="">
            <a:extLst xmlns:a="http://schemas.openxmlformats.org/drawingml/2006/main">
              <a:ext uri="{FF2B5EF4-FFF2-40B4-BE49-F238E27FC236}">
                <a16:creationId xmlns:a16="http://schemas.microsoft.com/office/drawing/2014/main" id="{6300920A-378B-4880-833A-C8E422491CC4}"/>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def names the function. Inputs go inside parentheses.</a:t>
            </a:r>
          </a:p>
        </p:txBody>
      </p:sp>
      <p:sp>
        <p:nvSpPr>
          <p:cNvPr id="7" name="">
            <a:extLst xmlns:a="http://schemas.openxmlformats.org/drawingml/2006/main">
              <a:ext uri="{FF2B5EF4-FFF2-40B4-BE49-F238E27FC236}">
                <a16:creationId xmlns:a16="http://schemas.microsoft.com/office/drawing/2014/main" id="{79C34D4F-BF53-4D44-AFC3-684C2B80B24E}"/>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8" name="">
            <a:extLst xmlns:a="http://schemas.openxmlformats.org/drawingml/2006/main">
              <a:ext uri="{FF2B5EF4-FFF2-40B4-BE49-F238E27FC236}">
                <a16:creationId xmlns:a16="http://schemas.microsoft.com/office/drawing/2014/main" id="{2C5E1E24-9CAE-45AF-BFAD-636B1D254E4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20</a:t>
            </a:r>
          </a:p>
        </p:txBody>
      </p:sp>
    </p:spTree>
    <p:extLst>
      <p:ext uri="{BB962C8B-B14F-4D97-AF65-F5344CB8AC3E}">
        <p14:creationId xmlns:p14="http://schemas.microsoft.com/office/powerpoint/2010/main" val="293212809"/>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A456570-2705-45D3-A383-794534229B0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78DD851-AA6B-4CA0-AEA3-3D98A9AF136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9C8AC763-4789-416A-878F-30EC96A1292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Local explanation and Conditions of use</a:t>
            </a:r>
          </a:p>
        </p:txBody>
      </p:sp>
      <p:sp>
        <p:nvSpPr>
          <p:cNvPr id="4" name="">
            <a:extLst xmlns:a="http://schemas.openxmlformats.org/drawingml/2006/main">
              <a:ext uri="{FF2B5EF4-FFF2-40B4-BE49-F238E27FC236}">
                <a16:creationId xmlns:a16="http://schemas.microsoft.com/office/drawing/2014/main" id="{09D1DA5B-FA87-4D1B-8AEF-610EFF64F081}"/>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397E053-5924-4071-B2C5-DD7624F5BC03}"/>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Local explanation</a:t>
            </a:r>
          </a:p>
        </p:txBody>
      </p:sp>
      <p:sp>
        <p:nvSpPr>
          <p:cNvPr id="6" name="">
            <a:extLst xmlns:a="http://schemas.openxmlformats.org/drawingml/2006/main">
              <a:ext uri="{FF2B5EF4-FFF2-40B4-BE49-F238E27FC236}">
                <a16:creationId xmlns:a16="http://schemas.microsoft.com/office/drawing/2014/main" id="{E0801DDC-BFC4-4C7A-9E5F-A036F0DA31F0}"/>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Why a model made one particular prediction. This is different from global importance, which summarises behaviour over many cases.</a:t>
            </a:r>
          </a:p>
        </p:txBody>
      </p:sp>
      <p:sp>
        <p:nvSpPr>
          <p:cNvPr id="7" name="">
            <a:extLst xmlns:a="http://schemas.openxmlformats.org/drawingml/2006/main">
              <a:ext uri="{FF2B5EF4-FFF2-40B4-BE49-F238E27FC236}">
                <a16:creationId xmlns:a16="http://schemas.microsoft.com/office/drawing/2014/main" id="{17396458-0EA9-464C-B4E5-A5C43EE62998}"/>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F8AD2FB8-D178-4E05-A610-7406DA593C06}"/>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Conditions of use</a:t>
            </a:r>
          </a:p>
        </p:txBody>
      </p:sp>
      <p:sp>
        <p:nvSpPr>
          <p:cNvPr id="9" name="">
            <a:extLst xmlns:a="http://schemas.openxmlformats.org/drawingml/2006/main">
              <a:ext uri="{FF2B5EF4-FFF2-40B4-BE49-F238E27FC236}">
                <a16:creationId xmlns:a16="http://schemas.microsoft.com/office/drawing/2014/main" id="{52E6D8C7-4088-41CB-95EC-78885ABAC490}"/>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The cases and operating circumstances for which the available evidence supports considering the model.</a:t>
            </a:r>
          </a:p>
        </p:txBody>
      </p:sp>
      <p:sp>
        <p:nvSpPr>
          <p:cNvPr id="10" name="">
            <a:extLst xmlns:a="http://schemas.openxmlformats.org/drawingml/2006/main">
              <a:ext uri="{FF2B5EF4-FFF2-40B4-BE49-F238E27FC236}">
                <a16:creationId xmlns:a16="http://schemas.microsoft.com/office/drawing/2014/main" id="{491C2F8E-5D8B-4F9B-96EA-277A1B298C1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21</a:t>
            </a:r>
          </a:p>
        </p:txBody>
      </p:sp>
    </p:spTree>
    <p:extLst>
      <p:ext uri="{BB962C8B-B14F-4D97-AF65-F5344CB8AC3E}">
        <p14:creationId xmlns:p14="http://schemas.microsoft.com/office/powerpoint/2010/main" val="303517150"/>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1CA07D5-98CC-4CD4-BA4D-5E144FF5A03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4493B78-09D2-4260-9E75-E5635D614EC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9B53C51F-38F3-40D6-89A5-3C378ABF2C9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recommendation needs evidence</a:t>
            </a:r>
          </a:p>
        </p:txBody>
      </p:sp>
      <p:sp>
        <p:nvSpPr>
          <p:cNvPr id="4" name="">
            <a:extLst xmlns:a="http://schemas.openxmlformats.org/drawingml/2006/main">
              <a:ext uri="{FF2B5EF4-FFF2-40B4-BE49-F238E27FC236}">
                <a16:creationId xmlns:a16="http://schemas.microsoft.com/office/drawing/2014/main" id="{42474D78-A89E-498D-83A6-EF5E237E6D6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CD5721E-632A-44C8-9D2B-66F11E223F89}"/>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the question and the chosen candidate.</a:t>
            </a:r>
          </a:p>
        </p:txBody>
      </p:sp>
      <p:sp>
        <p:nvSpPr>
          <p:cNvPr id="6" name="">
            <a:extLst xmlns:a="http://schemas.openxmlformats.org/drawingml/2006/main">
              <a:ext uri="{FF2B5EF4-FFF2-40B4-BE49-F238E27FC236}">
                <a16:creationId xmlns:a16="http://schemas.microsoft.com/office/drawing/2014/main" id="{4043D5CF-4E5F-4483-9204-62DB68FE6E63}"/>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89CBFDB-1065-421E-8F49-86126D41EB3B}"/>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Give the evaluation result and the constraint it satisfies.</a:t>
            </a:r>
          </a:p>
        </p:txBody>
      </p:sp>
      <p:sp>
        <p:nvSpPr>
          <p:cNvPr id="8" name="">
            <a:extLst xmlns:a="http://schemas.openxmlformats.org/drawingml/2006/main">
              <a:ext uri="{FF2B5EF4-FFF2-40B4-BE49-F238E27FC236}">
                <a16:creationId xmlns:a16="http://schemas.microsoft.com/office/drawing/2014/main" id="{70CC114B-1028-4BEA-8CB8-B78E75645175}"/>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0F2A8B8-CBC7-40C3-A0EF-A666507A366D}"/>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a limitation and the evidence that could change the recommendation.</a:t>
            </a:r>
          </a:p>
        </p:txBody>
      </p:sp>
      <p:sp>
        <p:nvSpPr>
          <p:cNvPr id="10" name="">
            <a:extLst xmlns:a="http://schemas.openxmlformats.org/drawingml/2006/main">
              <a:ext uri="{FF2B5EF4-FFF2-40B4-BE49-F238E27FC236}">
                <a16:creationId xmlns:a16="http://schemas.microsoft.com/office/drawing/2014/main" id="{88DF98F2-AA7F-4463-B7FA-F4F1B24ADA7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22</a:t>
            </a:r>
          </a:p>
        </p:txBody>
      </p:sp>
    </p:spTree>
    <p:extLst>
      <p:ext uri="{BB962C8B-B14F-4D97-AF65-F5344CB8AC3E}">
        <p14:creationId xmlns:p14="http://schemas.microsoft.com/office/powerpoint/2010/main" val="1848127705"/>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24F9B6C-28BC-4C70-8D58-AC6AD2033CD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DA9ACF8-1792-4182-B9AC-D853FB13C9E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06049D3-20DF-4F60-96F9-998FA19B486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example and answer</a:t>
            </a:r>
          </a:p>
        </p:txBody>
      </p:sp>
      <p:sp>
        <p:nvSpPr>
          <p:cNvPr id="4" name="">
            <a:extLst xmlns:a="http://schemas.openxmlformats.org/drawingml/2006/main">
              <a:ext uri="{FF2B5EF4-FFF2-40B4-BE49-F238E27FC236}">
                <a16:creationId xmlns:a16="http://schemas.microsoft.com/office/drawing/2014/main" id="{A27D949E-EDEE-4DA4-A595-397EE77CDDD0}"/>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063C471-6DE7-4DE0-B4EA-8B0D0C171B46}"/>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E555B41A-B5A9-4449-8EB0-23A137285663}"/>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Example: A third model has error 3 and latency 1 ms. Under lowest error then lowest latency, which eligible model wins?</a:t>
            </a:r>
          </a:p>
        </p:txBody>
      </p:sp>
      <p:sp>
        <p:nvSpPr>
          <p:cNvPr id="7" name="">
            <a:extLst xmlns:a="http://schemas.openxmlformats.org/drawingml/2006/main">
              <a:ext uri="{FF2B5EF4-FFF2-40B4-BE49-F238E27FC236}">
                <a16:creationId xmlns:a16="http://schemas.microsoft.com/office/drawing/2014/main" id="{428D24A3-F55A-42BA-8A4C-6064047F4C42}"/>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Answer: The third model. Both eligible models have error 3, but 1 ms is faster than 2 ms.</a:t>
            </a:r>
          </a:p>
        </p:txBody>
      </p:sp>
      <p:sp>
        <p:nvSpPr>
          <p:cNvPr id="8" name="">
            <a:extLst xmlns:a="http://schemas.openxmlformats.org/drawingml/2006/main">
              <a:ext uri="{FF2B5EF4-FFF2-40B4-BE49-F238E27FC236}">
                <a16:creationId xmlns:a16="http://schemas.microsoft.com/office/drawing/2014/main" id="{369C75C1-33CE-4BBC-ABD4-CC55DF51348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23</a:t>
            </a:r>
          </a:p>
        </p:txBody>
      </p:sp>
    </p:spTree>
    <p:extLst>
      <p:ext uri="{BB962C8B-B14F-4D97-AF65-F5344CB8AC3E}">
        <p14:creationId xmlns:p14="http://schemas.microsoft.com/office/powerpoint/2010/main" val="1588673604"/>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3295D8C-A0DE-4107-ADCA-16D3C36DF93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1116281-2993-4FC1-9ED6-24DBE3DDE66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8330E4FF-FCBE-4AF2-87BD-55EBAEA4EF2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a:t>
            </a:r>
          </a:p>
        </p:txBody>
      </p:sp>
      <p:sp>
        <p:nvSpPr>
          <p:cNvPr id="4" name="">
            <a:extLst xmlns:a="http://schemas.openxmlformats.org/drawingml/2006/main">
              <a:ext uri="{FF2B5EF4-FFF2-40B4-BE49-F238E27FC236}">
                <a16:creationId xmlns:a16="http://schemas.microsoft.com/office/drawing/2014/main" id="{CAA27F0A-DC99-47BD-9076-B18F5712C55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DEBAF8E-6419-4B7C-BFA4-F278A3E02C5A}"/>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W12 uses fields name, validation_mae and latency_ms.</a:t>
            </a:r>
          </a:p>
        </p:txBody>
      </p:sp>
      <p:sp>
        <p:nvSpPr>
          <p:cNvPr id="6" name="">
            <a:extLst xmlns:a="http://schemas.openxmlformats.org/drawingml/2006/main">
              <a:ext uri="{FF2B5EF4-FFF2-40B4-BE49-F238E27FC236}">
                <a16:creationId xmlns:a16="http://schemas.microsoft.com/office/drawing/2014/main" id="{6EB6C01C-4321-40F6-8D2A-E8F5ACBFEF9F}"/>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55F4077-1A42-435F-9424-8EF26785998D}"/>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Meet both inclusive constraints, then rank by error, latency and alphabetical name.</a:t>
            </a:r>
          </a:p>
        </p:txBody>
      </p:sp>
      <p:sp>
        <p:nvSpPr>
          <p:cNvPr id="8" name="">
            <a:extLst xmlns:a="http://schemas.openxmlformats.org/drawingml/2006/main">
              <a:ext uri="{FF2B5EF4-FFF2-40B4-BE49-F238E27FC236}">
                <a16:creationId xmlns:a16="http://schemas.microsoft.com/office/drawing/2014/main" id="{5E59BAF9-C4BC-4AB8-B5F4-A36E6CA5AC23}"/>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5BDF958-A69D-4226-8486-2A24D568BA4F}"/>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Return None if no candidate qualifies.</a:t>
            </a:r>
          </a:p>
        </p:txBody>
      </p:sp>
      <p:sp>
        <p:nvSpPr>
          <p:cNvPr id="10" name="">
            <a:extLst xmlns:a="http://schemas.openxmlformats.org/drawingml/2006/main">
              <a:ext uri="{FF2B5EF4-FFF2-40B4-BE49-F238E27FC236}">
                <a16:creationId xmlns:a16="http://schemas.microsoft.com/office/drawing/2014/main" id="{47A879BA-FE66-4F49-8FA7-B5EF26C5038D}"/>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5010F120-E3A4-4BFB-95E6-893C85380528}"/>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Complete the error function and interpret the separately supplied scenario.</a:t>
            </a:r>
          </a:p>
        </p:txBody>
      </p:sp>
      <p:sp>
        <p:nvSpPr>
          <p:cNvPr id="12" name="">
            <a:extLst xmlns:a="http://schemas.openxmlformats.org/drawingml/2006/main">
              <a:ext uri="{FF2B5EF4-FFF2-40B4-BE49-F238E27FC236}">
                <a16:creationId xmlns:a16="http://schemas.microsoft.com/office/drawing/2014/main" id="{E5E6AD96-8D01-41D9-941C-6A4018A61C6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24</a:t>
            </a:r>
          </a:p>
        </p:txBody>
      </p:sp>
    </p:spTree>
    <p:extLst>
      <p:ext uri="{BB962C8B-B14F-4D97-AF65-F5344CB8AC3E}">
        <p14:creationId xmlns:p14="http://schemas.microsoft.com/office/powerpoint/2010/main" val="1036399386"/>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EBDFBCD-CA8C-47CC-9BDC-01681D63AB9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A3A05EC-88B6-4FF3-9837-2DC668575CB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016BD198-7F1D-4DA5-8B39-18DD8DDFB5E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 continued</a:t>
            </a:r>
          </a:p>
        </p:txBody>
      </p:sp>
      <p:sp>
        <p:nvSpPr>
          <p:cNvPr id="4" name="">
            <a:extLst xmlns:a="http://schemas.openxmlformats.org/drawingml/2006/main">
              <a:ext uri="{FF2B5EF4-FFF2-40B4-BE49-F238E27FC236}">
                <a16:creationId xmlns:a16="http://schemas.microsoft.com/office/drawing/2014/main" id="{635EB4C8-45C6-4D0F-AD4C-4FC9C3CBF3F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BC6065E-AA6A-4876-A985-3A3E78782F4C}"/>
              </a:ext>
            </a:extLst>
          </p:cNvPr>
          <p:cNvSpPr>
            <a:spLocks xmlns:a="http://schemas.openxmlformats.org/drawingml/2006/main" noGrp="1"/>
          </p:cNvSpPr>
          <p:nvPr/>
        </p:nvSpPr>
        <p:spPr>
          <a:xfrm xmlns:a="http://schemas.openxmlformats.org/drawingml/2006/main">
            <a:off x="1381125" y="1781175"/>
            <a:ext cx="10096500" cy="420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project comparisons and graded interfaces distinct.</a:t>
            </a:r>
          </a:p>
        </p:txBody>
      </p:sp>
      <p:sp>
        <p:nvSpPr>
          <p:cNvPr id="6" name="">
            <a:extLst xmlns:a="http://schemas.openxmlformats.org/drawingml/2006/main">
              <a:ext uri="{FF2B5EF4-FFF2-40B4-BE49-F238E27FC236}">
                <a16:creationId xmlns:a16="http://schemas.microsoft.com/office/drawing/2014/main" id="{7E763952-4C4F-48E4-A37D-1E40A79C024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25</a:t>
            </a:r>
          </a:p>
        </p:txBody>
      </p:sp>
    </p:spTree>
    <p:extLst>
      <p:ext uri="{BB962C8B-B14F-4D97-AF65-F5344CB8AC3E}">
        <p14:creationId xmlns:p14="http://schemas.microsoft.com/office/powerpoint/2010/main" val="55548608"/>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E24B799-FAF6-41BB-A9FC-62297E5762B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597AA18-CCA1-49D5-AFCB-25551818213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8023750-3D31-4789-B22D-71E63EB1F2B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Fair comparison and explanation</a:t>
            </a:r>
          </a:p>
        </p:txBody>
      </p:sp>
      <p:sp>
        <p:nvSpPr>
          <p:cNvPr id="4" name="">
            <a:extLst xmlns:a="http://schemas.openxmlformats.org/drawingml/2006/main">
              <a:ext uri="{FF2B5EF4-FFF2-40B4-BE49-F238E27FC236}">
                <a16:creationId xmlns:a16="http://schemas.microsoft.com/office/drawing/2014/main" id="{F093E53E-B531-45B9-AF1A-7E7CC4402D6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20A92A1-810E-4616-A3B5-1FD70D8DCEC3}"/>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Compare the same metric on the same validation cases with the same preprocessing rules.</a:t>
            </a:r>
          </a:p>
        </p:txBody>
      </p:sp>
      <p:sp>
        <p:nvSpPr>
          <p:cNvPr id="6" name="">
            <a:extLst xmlns:a="http://schemas.openxmlformats.org/drawingml/2006/main">
              <a:ext uri="{FF2B5EF4-FFF2-40B4-BE49-F238E27FC236}">
                <a16:creationId xmlns:a16="http://schemas.microsoft.com/office/drawing/2014/main" id="{10868AE3-F582-46DD-A2FF-A201A1B59714}"/>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704CB2B-0176-42D6-A08F-7856E3725FFC}"/>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small difference needs context, including variation across splits.</a:t>
            </a:r>
          </a:p>
        </p:txBody>
      </p:sp>
      <p:sp>
        <p:nvSpPr>
          <p:cNvPr id="8" name="">
            <a:extLst xmlns:a="http://schemas.openxmlformats.org/drawingml/2006/main">
              <a:ext uri="{FF2B5EF4-FFF2-40B4-BE49-F238E27FC236}">
                <a16:creationId xmlns:a16="http://schemas.microsoft.com/office/drawing/2014/main" id="{521370A7-81B1-45C9-B239-B53598005266}"/>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278D1FB-A53F-43E8-ABC4-43C23F902E0F}"/>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Code run out of order can overwrite the variable holding a model; restart and run from the top.</a:t>
            </a:r>
          </a:p>
        </p:txBody>
      </p:sp>
      <p:sp>
        <p:nvSpPr>
          <p:cNvPr id="10" name="">
            <a:extLst xmlns:a="http://schemas.openxmlformats.org/drawingml/2006/main">
              <a:ext uri="{FF2B5EF4-FFF2-40B4-BE49-F238E27FC236}">
                <a16:creationId xmlns:a16="http://schemas.microsoft.com/office/drawing/2014/main" id="{00FEE267-A552-412E-B366-B001BC2A8ED6}"/>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F893FB35-EB90-4E88-8CD6-C28965202EF3}"/>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local explanation addresses one prediction; global importance summarises many.</a:t>
            </a:r>
          </a:p>
        </p:txBody>
      </p:sp>
      <p:sp>
        <p:nvSpPr>
          <p:cNvPr id="12" name="">
            <a:extLst xmlns:a="http://schemas.openxmlformats.org/drawingml/2006/main">
              <a:ext uri="{FF2B5EF4-FFF2-40B4-BE49-F238E27FC236}">
                <a16:creationId xmlns:a16="http://schemas.microsoft.com/office/drawing/2014/main" id="{3A3B869E-932C-4A3D-816F-49EF4740448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26</a:t>
            </a:r>
          </a:p>
        </p:txBody>
      </p:sp>
    </p:spTree>
    <p:extLst>
      <p:ext uri="{BB962C8B-B14F-4D97-AF65-F5344CB8AC3E}">
        <p14:creationId xmlns:p14="http://schemas.microsoft.com/office/powerpoint/2010/main" val="2139160961"/>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DB074CE-F98D-4E29-9136-DCD9A982A47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9379EA0-7666-47AF-B2B4-1E452D0A88B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BF7AD47-9E4B-4A84-9BEB-F88E47C2320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Fair comparison and explanation continued</a:t>
            </a:r>
          </a:p>
        </p:txBody>
      </p:sp>
      <p:sp>
        <p:nvSpPr>
          <p:cNvPr id="4" name="">
            <a:extLst xmlns:a="http://schemas.openxmlformats.org/drawingml/2006/main">
              <a:ext uri="{FF2B5EF4-FFF2-40B4-BE49-F238E27FC236}">
                <a16:creationId xmlns:a16="http://schemas.microsoft.com/office/drawing/2014/main" id="{E0065848-A1E3-41A5-BE6E-DD35712D1625}"/>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B56B1F9-B13E-45AE-985D-033E5CF6E39C}"/>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A post-hoc explanation of a complex model is not its directly readable internal rule.</a:t>
            </a:r>
          </a:p>
        </p:txBody>
      </p:sp>
      <p:sp>
        <p:nvSpPr>
          <p:cNvPr id="6" name="">
            <a:extLst xmlns:a="http://schemas.openxmlformats.org/drawingml/2006/main">
              <a:ext uri="{FF2B5EF4-FFF2-40B4-BE49-F238E27FC236}">
                <a16:creationId xmlns:a16="http://schemas.microsoft.com/office/drawing/2014/main" id="{D2A5CEBC-4466-48BA-9898-75D45566CF2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27</a:t>
            </a:r>
          </a:p>
        </p:txBody>
      </p:sp>
    </p:spTree>
    <p:extLst>
      <p:ext uri="{BB962C8B-B14F-4D97-AF65-F5344CB8AC3E}">
        <p14:creationId xmlns:p14="http://schemas.microsoft.com/office/powerpoint/2010/main" val="942430345"/>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A6281ACD-7E3A-4D10-9D54-FEEEB50DBB9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0720A0C-4CA7-4F52-AC8B-D218223D3EF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8F561E7B-DFC8-4112-907A-7CE867DE540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task</a:t>
            </a:r>
          </a:p>
        </p:txBody>
      </p:sp>
      <p:sp>
        <p:nvSpPr>
          <p:cNvPr id="4" name="">
            <a:extLst xmlns:a="http://schemas.openxmlformats.org/drawingml/2006/main">
              <a:ext uri="{FF2B5EF4-FFF2-40B4-BE49-F238E27FC236}">
                <a16:creationId xmlns:a16="http://schemas.microsoft.com/office/drawing/2014/main" id="{33C3E567-808D-4CF9-B881-F0E0841A94F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82CB745-B75B-403B-8612-1830B6DB3535}"/>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Investigate crusher energy demand.</a:t>
            </a:r>
          </a:p>
        </p:txBody>
      </p:sp>
      <p:sp>
        <p:nvSpPr>
          <p:cNvPr id="6" name="">
            <a:extLst xmlns:a="http://schemas.openxmlformats.org/drawingml/2006/main">
              <a:ext uri="{FF2B5EF4-FFF2-40B4-BE49-F238E27FC236}">
                <a16:creationId xmlns:a16="http://schemas.microsoft.com/office/drawing/2014/main" id="{DA51C55E-4FE6-4297-9970-97E139A81FAF}"/>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AA1BB6B-29A9-4835-8AF3-9DD89BF68D3C}"/>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Target units: kWh/t.</a:t>
            </a:r>
          </a:p>
        </p:txBody>
      </p:sp>
      <p:sp>
        <p:nvSpPr>
          <p:cNvPr id="8" name="">
            <a:extLst xmlns:a="http://schemas.openxmlformats.org/drawingml/2006/main">
              <a:ext uri="{FF2B5EF4-FFF2-40B4-BE49-F238E27FC236}">
                <a16:creationId xmlns:a16="http://schemas.microsoft.com/office/drawing/2014/main" id="{1346F225-D3A4-43F2-A4C2-7A3662D471BC}"/>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515E781-5F69-4FA8-B7CE-298E0F1BEF57}"/>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are synthetic teaching records, not measurements suitable for deployment.</a:t>
            </a:r>
          </a:p>
        </p:txBody>
      </p:sp>
      <p:sp>
        <p:nvSpPr>
          <p:cNvPr id="10" name="">
            <a:extLst xmlns:a="http://schemas.openxmlformats.org/drawingml/2006/main">
              <a:ext uri="{FF2B5EF4-FFF2-40B4-BE49-F238E27FC236}">
                <a16:creationId xmlns:a16="http://schemas.microsoft.com/office/drawing/2014/main" id="{CBA39D3B-621C-4184-B6B4-D79318475A72}"/>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EEDEDFEA-E264-4919-A633-AE12E10ADE10}"/>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record is one operating observation; equipment_id repeats across observations.</a:t>
            </a:r>
          </a:p>
        </p:txBody>
      </p:sp>
      <p:sp>
        <p:nvSpPr>
          <p:cNvPr id="12" name="">
            <a:extLst xmlns:a="http://schemas.openxmlformats.org/drawingml/2006/main">
              <a:ext uri="{FF2B5EF4-FFF2-40B4-BE49-F238E27FC236}">
                <a16:creationId xmlns:a16="http://schemas.microsoft.com/office/drawing/2014/main" id="{7D0627E8-85A4-4457-841F-FCB8F27F14E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28</a:t>
            </a:r>
          </a:p>
        </p:txBody>
      </p:sp>
    </p:spTree>
    <p:extLst>
      <p:ext uri="{BB962C8B-B14F-4D97-AF65-F5344CB8AC3E}">
        <p14:creationId xmlns:p14="http://schemas.microsoft.com/office/powerpoint/2010/main" val="490598324"/>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115973B-996D-4508-AFD0-422F790A540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218B426-3A24-44C7-8069-E86F02E4032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4F812F87-0841-4179-8529-3D57E8D1501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select_model(candidates, max_mae, max_ms)</a:t>
            </a:r>
          </a:p>
        </p:txBody>
      </p:sp>
      <p:sp>
        <p:nvSpPr>
          <p:cNvPr id="4" name="">
            <a:extLst xmlns:a="http://schemas.openxmlformats.org/drawingml/2006/main">
              <a:ext uri="{FF2B5EF4-FFF2-40B4-BE49-F238E27FC236}">
                <a16:creationId xmlns:a16="http://schemas.microsoft.com/office/drawing/2014/main" id="{175C66BB-4441-4985-B0AB-01DC93E0CC94}"/>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BD25D03-2A6A-4292-B8A8-B8191E01C2E5}"/>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Candidates have name, validation_mae and latency_ms.</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Keep those meeting both inclusive constraints; select smallest validation_mae, then latency_ms, then name alphabetically.</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the selected name or None.</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Never use test scores for selection.</a:t>
            </a:r>
          </a:p>
        </p:txBody>
      </p:sp>
      <p:sp>
        <p:nvSpPr>
          <p:cNvPr id="6" name="">
            <a:extLst xmlns:a="http://schemas.openxmlformats.org/drawingml/2006/main">
              <a:ext uri="{FF2B5EF4-FFF2-40B4-BE49-F238E27FC236}">
                <a16:creationId xmlns:a16="http://schemas.microsoft.com/office/drawing/2014/main" id="{8A74D55C-6D7D-458D-8FFF-7F23121B1AEF}"/>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77A53E89-6D32-48E4-9ED4-39406660EED4}"/>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5AE62283-A490-4EE4-B924-2213B8E59FF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29</a:t>
            </a:r>
          </a:p>
        </p:txBody>
      </p:sp>
    </p:spTree>
    <p:extLst>
      <p:ext uri="{BB962C8B-B14F-4D97-AF65-F5344CB8AC3E}">
        <p14:creationId xmlns:p14="http://schemas.microsoft.com/office/powerpoint/2010/main" val="41622606"/>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8F071F9-F9E2-4665-AF11-EBE775D639C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EC68552-875E-4D92-A36A-575B4380853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46DE349E-88F6-44B3-8675-CEA9C96F9EE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regression_errors(actual, predicted)</a:t>
            </a:r>
          </a:p>
        </p:txBody>
      </p:sp>
      <p:sp>
        <p:nvSpPr>
          <p:cNvPr id="4" name="">
            <a:extLst xmlns:a="http://schemas.openxmlformats.org/drawingml/2006/main">
              <a:ext uri="{FF2B5EF4-FFF2-40B4-BE49-F238E27FC236}">
                <a16:creationId xmlns:a16="http://schemas.microsoft.com/office/drawing/2014/main" id="{55DDD024-8B6E-4515-B94B-87F96D880360}"/>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9E76DE8-7446-40A2-BE44-E1814113BB58}"/>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mae and rmse, calculated over the same paired observations, with full precision.</a:t>
            </a:r>
          </a:p>
        </p:txBody>
      </p:sp>
      <p:sp>
        <p:nvSpPr>
          <p:cNvPr id="6" name="">
            <a:extLst xmlns:a="http://schemas.openxmlformats.org/drawingml/2006/main">
              <a:ext uri="{FF2B5EF4-FFF2-40B4-BE49-F238E27FC236}">
                <a16:creationId xmlns:a16="http://schemas.microsoft.com/office/drawing/2014/main" id="{D24B4691-C8D0-47CB-967E-751C33A8D90D}"/>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70AF4592-57FA-4606-AE11-E4B75571D3B1}"/>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ACEAFB6C-7079-40D7-BF4D-1FE25F3D8D4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30</a:t>
            </a:r>
          </a:p>
        </p:txBody>
      </p:sp>
    </p:spTree>
    <p:extLst>
      <p:ext uri="{BB962C8B-B14F-4D97-AF65-F5344CB8AC3E}">
        <p14:creationId xmlns:p14="http://schemas.microsoft.com/office/powerpoint/2010/main" val="952124750"/>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515D8C58-DE22-4006-B2D6-99457CF36D1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AC4A2A7-399C-4623-9AE0-62579A229CD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D855E4FA-D42A-45EC-B07A-65B0A86D48A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Written evidence</a:t>
            </a:r>
          </a:p>
        </p:txBody>
      </p:sp>
      <p:sp>
        <p:nvSpPr>
          <p:cNvPr id="4" name="">
            <a:extLst xmlns:a="http://schemas.openxmlformats.org/drawingml/2006/main">
              <a:ext uri="{FF2B5EF4-FFF2-40B4-BE49-F238E27FC236}">
                <a16:creationId xmlns:a16="http://schemas.microsoft.com/office/drawing/2014/main" id="{78823B95-AD78-4499-BC44-A165A68B679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3128654-26C2-42D2-85B1-29AD2CE5A954}"/>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cell headed “My written evidence”.</a:t>
            </a:r>
          </a:p>
        </p:txBody>
      </p:sp>
      <p:sp>
        <p:nvSpPr>
          <p:cNvPr id="6" name="">
            <a:extLst xmlns:a="http://schemas.openxmlformats.org/drawingml/2006/main">
              <a:ext uri="{FF2B5EF4-FFF2-40B4-BE49-F238E27FC236}">
                <a16:creationId xmlns:a16="http://schemas.microsoft.com/office/drawing/2014/main" id="{D15047E6-3EF4-4365-9D8A-77C063DEEB63}"/>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65C67E4-2A40-46BF-BD86-70BD1963DA99}"/>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the supplied scenario in your own words.</a:t>
            </a:r>
          </a:p>
        </p:txBody>
      </p:sp>
      <p:sp>
        <p:nvSpPr>
          <p:cNvPr id="8" name="">
            <a:extLst xmlns:a="http://schemas.openxmlformats.org/drawingml/2006/main">
              <a:ext uri="{FF2B5EF4-FFF2-40B4-BE49-F238E27FC236}">
                <a16:creationId xmlns:a16="http://schemas.microsoft.com/office/drawing/2014/main" id="{8C75813F-F095-4194-84CF-99161DC93443}"/>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E8BBF28-4D11-4C10-9799-BB3A9EE4011B}"/>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target units, reasons and limitations.</a:t>
            </a:r>
          </a:p>
        </p:txBody>
      </p:sp>
      <p:sp>
        <p:nvSpPr>
          <p:cNvPr id="10" name="">
            <a:extLst xmlns:a="http://schemas.openxmlformats.org/drawingml/2006/main">
              <a:ext uri="{FF2B5EF4-FFF2-40B4-BE49-F238E27FC236}">
                <a16:creationId xmlns:a16="http://schemas.microsoft.com/office/drawing/2014/main" id="{9141A4E7-7431-4829-A746-0BB5708BBD8C}"/>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48BE647B-CC5D-4957-95C2-8A809B6AFB0B}"/>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Submit one complete notebook containing code and written evidence.</a:t>
            </a:r>
          </a:p>
        </p:txBody>
      </p:sp>
      <p:sp>
        <p:nvSpPr>
          <p:cNvPr id="12" name="">
            <a:extLst xmlns:a="http://schemas.openxmlformats.org/drawingml/2006/main">
              <a:ext uri="{FF2B5EF4-FFF2-40B4-BE49-F238E27FC236}">
                <a16:creationId xmlns:a16="http://schemas.microsoft.com/office/drawing/2014/main" id="{1CC9336F-7E01-4E7B-82D0-2CF3D0CF849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31</a:t>
            </a:r>
          </a:p>
        </p:txBody>
      </p:sp>
    </p:spTree>
    <p:extLst>
      <p:ext uri="{BB962C8B-B14F-4D97-AF65-F5344CB8AC3E}">
        <p14:creationId xmlns:p14="http://schemas.microsoft.com/office/powerpoint/2010/main" val="2071156866"/>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0437BEF5-1B24-4B55-8D79-8FC182F1C84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658C51B-6575-4254-9697-FA6507B4355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0B02D9B5-4216-4FFF-A81A-FF292142B94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Model recommendation submission</a:t>
            </a:r>
          </a:p>
        </p:txBody>
      </p:sp>
      <p:sp>
        <p:nvSpPr>
          <p:cNvPr id="4" name="">
            <a:extLst xmlns:a="http://schemas.openxmlformats.org/drawingml/2006/main">
              <a:ext uri="{FF2B5EF4-FFF2-40B4-BE49-F238E27FC236}">
                <a16:creationId xmlns:a16="http://schemas.microsoft.com/office/drawing/2014/main" id="{1C9CED6C-30B1-491B-9B6C-415C53A68DBA}"/>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069E239-BF76-4215-AD42-A5E0C87D05CB}"/>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27 Nov 2026, 08:00 Kampala</a:t>
            </a:r>
          </a:p>
        </p:txBody>
      </p:sp>
      <p:sp>
        <p:nvSpPr>
          <p:cNvPr id="6" name="">
            <a:extLst xmlns:a="http://schemas.openxmlformats.org/drawingml/2006/main">
              <a:ext uri="{FF2B5EF4-FFF2-40B4-BE49-F238E27FC236}">
                <a16:creationId xmlns:a16="http://schemas.microsoft.com/office/drawing/2014/main" id="{B84417DD-E1AF-40E7-881B-F188ED744CD4}"/>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8E9718A-3FAE-42B2-A77C-F66052414ABD}"/>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27 Nov 2026, 11:00 Kampala</a:t>
            </a:r>
          </a:p>
        </p:txBody>
      </p:sp>
      <p:sp>
        <p:nvSpPr>
          <p:cNvPr id="8" name="">
            <a:extLst xmlns:a="http://schemas.openxmlformats.org/drawingml/2006/main">
              <a:ext uri="{FF2B5EF4-FFF2-40B4-BE49-F238E27FC236}">
                <a16:creationId xmlns:a16="http://schemas.microsoft.com/office/drawing/2014/main" id="{B92EF821-4C3B-4F7C-A584-2182C2EBB9F5}"/>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7D9ADE3-053D-4667-A5C7-C5F67C4972C3}"/>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EDC951AD-ACE6-4CF6-B4E2-8FC19E93EC23}"/>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99567AF8-3B6C-4639-95FE-5FA3B831C5E5}"/>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B195A4A6-582B-4F50-A9AC-840761E8D8B3}"/>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A41E467C-54DD-4BD1-A1C6-18AD60F5181C}"/>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9abab1407c734c65"/>
              </a:rPr>
              <a:t>Open W12 assignment form</a:t>
            </a:r>
          </a:p>
        </p:txBody>
      </p:sp>
      <p:sp>
        <p:nvSpPr>
          <p:cNvPr id="14" name="">
            <a:extLst xmlns:a="http://schemas.openxmlformats.org/drawingml/2006/main">
              <a:ext uri="{FF2B5EF4-FFF2-40B4-BE49-F238E27FC236}">
                <a16:creationId xmlns:a16="http://schemas.microsoft.com/office/drawing/2014/main" id="{A22007C2-7068-4DAA-868B-61299704E4E4}"/>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https://docs.google.com/forms/d/e/1FAIpQLSfSPtMfaziLgaLKx4v0Lla4vYcA58pDDv_b_w33OfZsj0aVHA/viewform</a:t>
            </a:r>
          </a:p>
        </p:txBody>
      </p:sp>
      <p:sp>
        <p:nvSpPr>
          <p:cNvPr id="15" name="">
            <a:extLst xmlns:a="http://schemas.openxmlformats.org/drawingml/2006/main">
              <a:ext uri="{FF2B5EF4-FFF2-40B4-BE49-F238E27FC236}">
                <a16:creationId xmlns:a16="http://schemas.microsoft.com/office/drawing/2014/main" id="{16BBB05E-8F37-48AE-A1B0-341773EE5D8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32</a:t>
            </a:r>
          </a:p>
        </p:txBody>
      </p:sp>
    </p:spTree>
    <p:extLst>
      <p:ext uri="{BB962C8B-B14F-4D97-AF65-F5344CB8AC3E}">
        <p14:creationId xmlns:p14="http://schemas.microsoft.com/office/powerpoint/2010/main" val="1459032105"/>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886A7D92-21BB-4181-B537-4EEE79912B8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9292572-49C9-4647-8566-6F1165AEF8B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9C30C60E-11DB-478A-828E-8FDB343FEE0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Project preparation</a:t>
            </a:r>
          </a:p>
        </p:txBody>
      </p:sp>
      <p:sp>
        <p:nvSpPr>
          <p:cNvPr id="4" name="">
            <a:extLst xmlns:a="http://schemas.openxmlformats.org/drawingml/2006/main">
              <a:ext uri="{FF2B5EF4-FFF2-40B4-BE49-F238E27FC236}">
                <a16:creationId xmlns:a16="http://schemas.microsoft.com/office/drawing/2014/main" id="{033A40B7-4241-49F6-B592-F4C9E073E40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07CAB58-C3B7-4272-80C5-30DD1ED517A9}"/>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published machine learning project brief.</a:t>
            </a:r>
          </a:p>
        </p:txBody>
      </p:sp>
      <p:sp>
        <p:nvSpPr>
          <p:cNvPr id="6" name="">
            <a:extLst xmlns:a="http://schemas.openxmlformats.org/drawingml/2006/main">
              <a:ext uri="{FF2B5EF4-FFF2-40B4-BE49-F238E27FC236}">
                <a16:creationId xmlns:a16="http://schemas.microsoft.com/office/drawing/2014/main" id="{4299B7DA-C9E0-4EF9-9ECA-4D54D0044C52}"/>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6351D31-FF7B-4852-8E5C-3002FCCA67DA}"/>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Build the evidence gradually in your project notebook.</a:t>
            </a:r>
          </a:p>
        </p:txBody>
      </p:sp>
      <p:sp>
        <p:nvSpPr>
          <p:cNvPr id="8" name="">
            <a:extLst xmlns:a="http://schemas.openxmlformats.org/drawingml/2006/main">
              <a:ext uri="{FF2B5EF4-FFF2-40B4-BE49-F238E27FC236}">
                <a16:creationId xmlns:a16="http://schemas.microsoft.com/office/drawing/2014/main" id="{B1797C42-3AB9-45A5-BFC9-011D68027F9F}"/>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11F16D7-5449-47A9-9980-422CF97BDC3B}"/>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raw data, labelled charts, run instructions and individual contributions.</a:t>
            </a:r>
          </a:p>
        </p:txBody>
      </p:sp>
      <p:sp>
        <p:nvSpPr>
          <p:cNvPr id="10" name="">
            <a:extLst xmlns:a="http://schemas.openxmlformats.org/drawingml/2006/main">
              <a:ext uri="{FF2B5EF4-FFF2-40B4-BE49-F238E27FC236}">
                <a16:creationId xmlns:a16="http://schemas.microsoft.com/office/drawing/2014/main" id="{E7D1E436-D257-41CE-8B40-B7C3F0A48FAB}"/>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35570400-E33F-4541-8E26-28C352BD8432}"/>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Published deadline: 18 Dec 2026, 08:00 Kampala</a:t>
            </a:r>
          </a:p>
        </p:txBody>
      </p:sp>
      <p:sp>
        <p:nvSpPr>
          <p:cNvPr id="12" name="">
            <a:extLst xmlns:a="http://schemas.openxmlformats.org/drawingml/2006/main">
              <a:ext uri="{FF2B5EF4-FFF2-40B4-BE49-F238E27FC236}">
                <a16:creationId xmlns:a16="http://schemas.microsoft.com/office/drawing/2014/main" id="{BD40334C-9AD8-4FD2-B90E-AC87720E155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33</a:t>
            </a:r>
          </a:p>
        </p:txBody>
      </p:sp>
    </p:spTree>
    <p:extLst>
      <p:ext uri="{BB962C8B-B14F-4D97-AF65-F5344CB8AC3E}">
        <p14:creationId xmlns:p14="http://schemas.microsoft.com/office/powerpoint/2010/main" val="964440873"/>
      </p:ext>
    </p:extLst>
  </p:cSld>
</p:sld>
</file>

<file path=ppt/slides/slide34.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8" name="">
            <a:extLst>
              <a:ext uri="{FF2B5EF4-FFF2-40B4-BE49-F238E27FC236}">
                <ns2:creationId id="{58F4B982-2071-445A-BC7D-132E9F955751}"/>
              </a:ext>
            </a:extLst>
          </p:cNvPr>
          <p:cNvSpPr>
            <a:spLocks noGrp="1"/>
          </p:cNvSpPr>
          <p:nvPr/>
        </p:nvSpPr>
        <p:spPr>
          <a:xfrm>
            <a:off x="0" y="0"/>
            <a:ext cx="12191695" cy="1390650"/>
          </a:xfrm>
          <a:prstGeom prst="rect">
            <a:avLst/>
          </a:prstGeom>
          <a:solidFill>
            <a:srgbClr val="1C3144"/>
          </a:solidFill>
          <a:ln w="0">
            <a:noFill/>
          </a:ln>
        </p:spPr>
      </p:sp>
      <p:sp>
        <p:nvSpPr>
          <p:cNvPr id="2" name="">
            <a:extLst>
              <a:ext uri="{FF2B5EF4-FFF2-40B4-BE49-F238E27FC236}">
                <ns2:creationId id="{ECB8749F-C060-4CC9-86D5-F436DEE045FC}"/>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a:ext uri="{FF2B5EF4-FFF2-40B4-BE49-F238E27FC236}">
                <ns2:creationId id="{87147B2F-8243-41DC-800B-A5B6BAC718F2}"/>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Week 12 quiz</a:t>
            </a:r>
          </a:p>
        </p:txBody>
      </p:sp>
      <p:sp>
        <p:nvSpPr>
          <p:cNvPr id="4" name="">
            <a:extLst>
              <a:ext uri="{FF2B5EF4-FFF2-40B4-BE49-F238E27FC236}">
                <ns2:creationId id="{A336F126-4C15-4F83-803E-816749EBD7B7}"/>
              </a:ext>
            </a:extLst>
          </p:cNvPr>
          <p:cNvSpPr>
            <a:spLocks noGrp="1"/>
          </p:cNvSpPr>
          <p:nvPr/>
        </p:nvSpPr>
        <p:spPr>
          <a:xfrm>
            <a:off x="590550" y="1724025"/>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a:ext uri="{FF2B5EF4-FFF2-40B4-BE49-F238E27FC236}">
                <ns2:creationId id="{34A4169E-89DB-4CB8-8E70-D4F93D9DDB4F}"/>
              </a:ext>
            </a:extLst>
          </p:cNvPr>
          <p:cNvSpPr>
            <a:spLocks noGrp="1"/>
          </p:cNvSpPr>
          <p:nvPr/>
        </p:nvSpPr>
        <p:spPr>
          <a:xfrm>
            <a:off x="1381125" y="1724025"/>
            <a:ext cx="7143750" cy="721519"/>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a:ext uri="{FF2B5EF4-FFF2-40B4-BE49-F238E27FC236}">
                <ns2:creationId id="{BE8EE50B-ECDA-4EF2-BD1A-0BC373B67E8E}"/>
              </a:ext>
            </a:extLst>
          </p:cNvPr>
          <p:cNvSpPr>
            <a:spLocks noGrp="1"/>
          </p:cNvSpPr>
          <p:nvPr/>
        </p:nvSpPr>
        <p:spPr>
          <a:xfrm>
            <a:off x="590550" y="2521744"/>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a:ext uri="{FF2B5EF4-FFF2-40B4-BE49-F238E27FC236}">
                <ns2:creationId id="{D4BE9AF3-3449-4FFB-B416-4AD9226785B9}"/>
              </a:ext>
            </a:extLst>
          </p:cNvPr>
          <p:cNvSpPr>
            <a:spLocks noGrp="1"/>
          </p:cNvSpPr>
          <p:nvPr/>
        </p:nvSpPr>
        <p:spPr>
          <a:xfrm>
            <a:off x="1381125" y="2521744"/>
            <a:ext cx="7143750" cy="721519"/>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a:ext uri="{FF2B5EF4-FFF2-40B4-BE49-F238E27FC236}">
                <ns2:creationId id="{EB25BBEC-10E1-4563-BBC0-25836D5F37CF}"/>
              </a:ext>
            </a:extLst>
          </p:cNvPr>
          <p:cNvSpPr>
            <a:spLocks noGrp="1"/>
          </p:cNvSpPr>
          <p:nvPr/>
        </p:nvSpPr>
        <p:spPr>
          <a:xfrm>
            <a:off x="590550" y="3319463"/>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a:ext uri="{FF2B5EF4-FFF2-40B4-BE49-F238E27FC236}">
                <ns2:creationId id="{025E2479-2C89-49B2-B57B-7691A6A65037}"/>
              </a:ext>
            </a:extLst>
          </p:cNvPr>
          <p:cNvSpPr>
            <a:spLocks noGrp="1"/>
          </p:cNvSpPr>
          <p:nvPr/>
        </p:nvSpPr>
        <p:spPr>
          <a:xfrm>
            <a:off x="1381125" y="3319463"/>
            <a:ext cx="7143750" cy="721519"/>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a:ext uri="{FF2B5EF4-FFF2-40B4-BE49-F238E27FC236}">
                <ns2:creationId id="{96416F1D-CA71-47A5-BEC6-8E0064A79E14}"/>
              </a:ext>
            </a:extLst>
          </p:cNvPr>
          <p:cNvSpPr>
            <a:spLocks noGrp="1"/>
          </p:cNvSpPr>
          <p:nvPr/>
        </p:nvSpPr>
        <p:spPr>
          <a:xfrm>
            <a:off x="590550" y="4117181"/>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a:ext uri="{FF2B5EF4-FFF2-40B4-BE49-F238E27FC236}">
                <ns2:creationId id="{16E3B687-9EBE-40A5-A22C-A410699E9E9C}"/>
              </a:ext>
            </a:extLst>
          </p:cNvPr>
          <p:cNvSpPr>
            <a:spLocks noGrp="1"/>
          </p:cNvSpPr>
          <p:nvPr/>
        </p:nvSpPr>
        <p:spPr>
          <a:xfrm>
            <a:off x="1381125" y="4117181"/>
            <a:ext cx="7143750" cy="721519"/>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Check the announced quiz closing time.</a:t>
            </a:r>
          </a:p>
        </p:txBody>
      </p:sp>
      <p:pic>
        <p:nvPicPr>
          <p:cNvPr id="29" name=""/>
          <p:cNvPicPr>
            <a:picLocks noChangeAspect="1"/>
          </p:cNvPicPr>
          <p:nvPr/>
        </p:nvPicPr>
        <p:blipFill>
          <a:blip r:embed="R8b539807785a41fb"/>
          <a:stretch/>
        </p:blipFill>
        <p:spPr>
          <a:xfrm>
            <a:off x="9134475" y="2095500"/>
            <a:ext cx="2190750" cy="2190750"/>
          </a:xfrm>
          <a:prstGeom prst="rect">
            <a:avLst/>
          </a:prstGeom>
        </p:spPr>
      </p:pic>
      <p:sp>
        <p:nvSpPr>
          <p:cNvPr id="13" name="">
            <a:extLst>
              <a:ext uri="{FF2B5EF4-FFF2-40B4-BE49-F238E27FC236}">
                <ns2:creationId id="{2B286EC5-1347-4D8C-8B80-DD4B89003498}"/>
              </a:ext>
            </a:extLst>
          </p:cNvPr>
          <p:cNvSpPr>
            <a:spLocks noGrp="1"/>
          </p:cNvSpPr>
          <p:nvPr/>
        </p:nvSpPr>
        <p:spPr>
          <a:xfrm>
            <a:off x="9239250" y="4400550"/>
            <a:ext cx="2190750" cy="381000"/>
          </a:xfrm>
          <a:prstGeom prst="rect">
            <a:avLst/>
          </a:prstGeom>
          <a:noFill/>
          <a:ln w="0">
            <a:noFill/>
          </a:ln>
        </p:spPr>
        <p:txBody>
          <a:bodyPr>
            <a:noAutofit/>
          </a:bodyPr>
          <a:lstStyle/>
          <a:p>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a:ext uri="{FF2B5EF4-FFF2-40B4-BE49-F238E27FC236}">
                <ns2:creationId id="{C976BA98-730A-4114-93BD-62688781DBA6}"/>
              </a:ext>
            </a:extLst>
          </p:cNvPr>
          <p:cNvSpPr>
            <a:spLocks noGrp="1"/>
          </p:cNvSpPr>
          <p:nvPr/>
        </p:nvSpPr>
        <p:spPr>
          <a:xfrm>
            <a:off x="590550" y="5143500"/>
            <a:ext cx="11010900" cy="657225"/>
          </a:xfrm>
          <a:prstGeom prst="rect">
            <a:avLst/>
          </a:prstGeom>
          <a:solidFill>
            <a:srgbClr val="E5F1EE"/>
          </a:solidFill>
          <a:ln w="0">
            <a:noFill/>
          </a:ln>
        </p:spPr>
      </p:sp>
      <p:sp>
        <p:nvSpPr>
          <p:cNvPr id="15" name="">
            <a:extLst>
              <a:ext uri="{FF2B5EF4-FFF2-40B4-BE49-F238E27FC236}">
                <ns2:creationId id="{19818F60-369F-428D-AD31-A72B2B6C5CC8}"/>
              </a:ext>
            </a:extLst>
          </p:cNvPr>
          <p:cNvSpPr>
            <a:spLocks noGrp="1"/>
          </p:cNvSpPr>
          <p:nvPr/>
        </p:nvSpPr>
        <p:spPr>
          <a:xfrm>
            <a:off x="800100" y="5267325"/>
            <a:ext cx="10572750" cy="457200"/>
          </a:xfrm>
          <a:prstGeom prst="rect">
            <a:avLst/>
          </a:prstGeom>
          <a:noFill/>
          <a:ln w="0">
            <a:noFill/>
          </a:ln>
        </p:spPr>
        <p:txBody>
          <a:bodyPr>
            <a:noAutofit/>
          </a:bodyPr>
          <a:lstStyle/>
          <a:p>
            <a:pPr>
              <a:defRPr sz="2250" b="1">
                <a:solidFill>
                  <a:srgbClr val="2E7D6F"/>
                </a:solidFill>
                <a:latin typeface="Calibri"/>
                <a:ea typeface="Calibri"/>
                <a:cs typeface="Calibri"/>
              </a:defRPr>
            </a:pPr>
            <a:r>
              <a:rPr sz="2250" b="1">
                <a:solidFill>
                  <a:srgbClr val="2E7D6F"/>
                </a:solidFill>
                <a:latin typeface="Calibri"/>
                <a:ea typeface="Calibri"/>
                <a:cs typeface="Calibri"/>
                <a:hlinkClick r:id="Re272a1f76fc54065"/>
              </a:rPr>
              <a:t>Open this week’s quiz</a:t>
            </a:r>
          </a:p>
        </p:txBody>
      </p:sp>
      <p:sp>
        <p:nvSpPr>
          <p:cNvPr id="16" name="">
            <a:extLst>
              <a:ext uri="{FF2B5EF4-FFF2-40B4-BE49-F238E27FC236}">
                <ns2:creationId id="{9A697D24-951A-448C-AEE1-C7DC8318FB6E}"/>
              </a:ext>
            </a:extLst>
          </p:cNvPr>
          <p:cNvSpPr>
            <a:spLocks noGrp="1"/>
          </p:cNvSpPr>
          <p:nvPr/>
        </p:nvSpPr>
        <p:spPr>
          <a:xfrm>
            <a:off x="685800" y="5972175"/>
            <a:ext cx="10668000" cy="304800"/>
          </a:xfrm>
          <a:prstGeom prst="rect">
            <a:avLst/>
          </a:prstGeom>
          <a:noFill/>
          <a:ln w="0">
            <a:noFill/>
          </a:ln>
        </p:spPr>
        <p:txBody>
          <a:bodyPr>
            <a:noAutofit/>
          </a:bodyPr>
          <a:lstStyle/>
          <a:p>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https://forms.gle/XFcLpe6ugzvnoL3s6</a:t>
            </a:r>
          </a:p>
        </p:txBody>
      </p:sp>
      <p:sp>
        <p:nvSpPr>
          <p:cNvPr id="17" name="">
            <a:extLst>
              <a:ext uri="{FF2B5EF4-FFF2-40B4-BE49-F238E27FC236}">
                <ns2:creationId id="{11F47641-BCB0-4F23-886C-712B4F885C36}"/>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34</a:t>
            </a:r>
          </a:p>
        </p:txBody>
      </p:sp>
    </p:spTree>
    <p:extLst>
      <p:ext uri="{BB962C8B-B14F-4D97-AF65-F5344CB8AC3E}">
        <ns4:creationId val="401170928"/>
      </p:ext>
    </p:extLst>
  </p:cSld>
</p:sld>
</file>

<file path=ppt/slides/slide35.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1C3144"/>
        </a:solidFill>
      </p:bgPr>
    </p:bg>
    <p:spTree>
      <p:nvGrpSpPr>
        <p:cNvPr id="1" name=""/>
        <p:cNvGrpSpPr/>
        <p:nvPr/>
      </p:nvGrpSpPr>
      <p:grpSpPr>
        <a:xfrm/>
      </p:grpSpPr>
      <p:sp>
        <p:nvSpPr>
          <p:cNvPr id="7" name="">
            <a:extLst>
              <a:ext uri="{FF2B5EF4-FFF2-40B4-BE49-F238E27FC236}">
                <ns2:creationId id="{957EC8C3-048B-4A4E-B64C-FA8B38092A2B}"/>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a:ext uri="{FF2B5EF4-FFF2-40B4-BE49-F238E27FC236}">
                <ns2:creationId id="{2F624452-25D6-4055-90B6-FFFB91564BD2}"/>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a:ext uri="{FF2B5EF4-FFF2-40B4-BE49-F238E27FC236}">
                <ns2:creationId id="{BB7E5F36-2599-4759-87B0-1A6B03D0D328}"/>
              </a:ext>
            </a:extLst>
          </p:cNvPr>
          <p:cNvSpPr>
            <a:spLocks noGrp="1"/>
          </p:cNvSpPr>
          <p:nvPr/>
        </p:nvSpPr>
        <p:spPr>
          <a:xfrm>
            <a:off x="619125" y="1619250"/>
            <a:ext cx="2857500" cy="495300"/>
          </a:xfrm>
          <a:prstGeom prst="rect">
            <a:avLst/>
          </a:prstGeom>
          <a:noFill/>
          <a:ln w="0">
            <a:noFill/>
          </a:ln>
        </p:spPr>
        <p:txBody>
          <a:bodyPr>
            <a:noAutofit/>
          </a:bodyPr>
          <a:lstStyle/>
          <a:p>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a:ext uri="{FF2B5EF4-FFF2-40B4-BE49-F238E27FC236}">
                <ns2:creationId id="{D15E5661-D556-45E9-B6EC-78C4EC105496}"/>
              </a:ext>
            </a:extLst>
          </p:cNvPr>
          <p:cNvSpPr>
            <a:spLocks noGrp="1"/>
          </p:cNvSpPr>
          <p:nvPr/>
        </p:nvSpPr>
        <p:spPr>
          <a:xfrm>
            <a:off x="619125" y="2295525"/>
            <a:ext cx="10810875" cy="3095625"/>
          </a:xfrm>
          <a:prstGeom prst="rect">
            <a:avLst/>
          </a:prstGeom>
          <a:noFill/>
          <a:ln w="0">
            <a:noFill/>
          </a:ln>
        </p:spPr>
        <p:txBody>
          <a:bodyPr>
            <a:noAutofit/>
          </a:bodyPr>
          <a:lstStyle/>
          <a:p>
            <a:pPr>
              <a:defRPr sz="2850" b="0">
                <a:solidFill>
                  <a:srgbClr val="FFFFFF"/>
                </a:solidFill>
                <a:latin typeface="Calibri"/>
                <a:ea typeface="Calibri"/>
                <a:cs typeface="Calibri"/>
              </a:defRPr>
            </a:pPr>
            <a:r>
              <a:rPr sz="2850" b="0">
                <a:solidFill>
                  <a:srgbClr val="FFFFFF"/>
                </a:solidFill>
                <a:latin typeface="Calibri"/>
                <a:ea typeface="Calibri"/>
                <a:cs typeface="Calibri"/>
              </a:rPr>
              <a:t>You can justify a valid candidate with evidence and a stated limitation.</a:t>
            </a:r>
          </a:p>
          <a:p>
            <a:r>
              <a:t/>
            </a:r>
          </a:p>
          <a:p>
            <a:pPr>
              <a:defRPr sz="2850" b="0">
                <a:solidFill>
                  <a:srgbClr val="FFFFFF"/>
                </a:solidFill>
                <a:latin typeface="Calibri"/>
                <a:ea typeface="Calibri"/>
                <a:cs typeface="Calibri"/>
              </a:defRPr>
            </a:pPr>
            <a:r>
              <a:rPr sz="2850" b="0">
                <a:solidFill>
                  <a:srgbClr val="FFFFFF"/>
                </a:solidFill>
                <a:latin typeface="Calibri"/>
                <a:ea typeface="Calibri"/>
                <a:cs typeface="Calibri"/>
              </a:rPr>
              <a:t>Save your work and check the required submission files.</a:t>
            </a:r>
          </a:p>
        </p:txBody>
      </p:sp>
      <p:sp>
        <p:nvSpPr>
          <p:cNvPr id="5" name="">
            <a:extLst>
              <a:ext uri="{FF2B5EF4-FFF2-40B4-BE49-F238E27FC236}">
                <ns2:creationId id="{9D627939-630B-4B28-90E6-97F98F21004D}"/>
              </a:ext>
            </a:extLst>
          </p:cNvPr>
          <p:cNvSpPr>
            <a:spLocks noGrp="1"/>
          </p:cNvSpPr>
          <p:nvPr/>
        </p:nvSpPr>
        <p:spPr>
          <a:xfrm>
            <a:off x="619125" y="5791200"/>
            <a:ext cx="10810875" cy="542925"/>
          </a:xfrm>
          <a:prstGeom prst="rect">
            <a:avLst/>
          </a:prstGeom>
          <a:noFill/>
          <a:ln w="0">
            <a:noFill/>
          </a:ln>
        </p:spPr>
        <p:txBody>
          <a:bodyPr>
            <a:noAutofit/>
          </a:bodyPr>
          <a:lstStyle/>
          <a:p>
            <a:pPr>
              <a:defRPr sz="1800" b="0">
                <a:solidFill>
                  <a:srgbClr val="BBCDD9"/>
                </a:solidFill>
                <a:latin typeface="Calibri"/>
                <a:ea typeface="Calibri"/>
                <a:cs typeface="Calibri"/>
              </a:defRPr>
            </a:pPr>
            <a:r>
              <a:rPr sz="1800" b="0">
                <a:solidFill>
                  <a:srgbClr val="BBCDD9"/>
                </a:solidFill>
                <a:latin typeface="Calibri"/>
                <a:ea typeface="Calibri"/>
                <a:cs typeface="Calibri"/>
              </a:rPr>
              <a:t>Check your answers against the example, then save your work.</a:t>
            </a:r>
          </a:p>
        </p:txBody>
      </p:sp>
      <p:sp>
        <p:nvSpPr>
          <p:cNvPr id="6" name="">
            <a:extLst>
              <a:ext uri="{FF2B5EF4-FFF2-40B4-BE49-F238E27FC236}">
                <ns2:creationId id="{A95630A8-0EA5-4F34-8FDC-1E78C7364DE4}"/>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BBCDD9"/>
                </a:solidFill>
                <a:latin typeface="Calibri"/>
                <a:ea typeface="Calibri"/>
                <a:cs typeface="Calibri"/>
              </a:defRPr>
            </a:pPr>
            <a:r>
              <a:rPr sz="1200" b="0">
                <a:solidFill>
                  <a:srgbClr val="BBCDD9"/>
                </a:solidFill>
                <a:latin typeface="Calibri"/>
                <a:ea typeface="Calibri"/>
                <a:cs typeface="Calibri"/>
              </a:rPr>
              <a:t>CML3113   Week 12   35</a:t>
            </a:r>
          </a:p>
        </p:txBody>
      </p:sp>
    </p:spTree>
    <p:extLst>
      <p:ext uri="{BB962C8B-B14F-4D97-AF65-F5344CB8AC3E}">
        <ns3:creationId val="11703388"/>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6FEA856D-122E-4C47-B994-938E019F086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247A164-920E-40C2-ABF4-FE6D228912C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WATCH, THEN EXPLAIN</a:t>
            </a:r>
          </a:p>
        </p:txBody>
      </p:sp>
      <p:sp>
        <p:nvSpPr>
          <p:cNvPr id="3" name="">
            <a:extLst xmlns:a="http://schemas.openxmlformats.org/drawingml/2006/main">
              <a:ext uri="{FF2B5EF4-FFF2-40B4-BE49-F238E27FC236}">
                <a16:creationId xmlns:a16="http://schemas.microsoft.com/office/drawing/2014/main" id="{D8564645-42F1-43A7-8CCE-F324F95A75C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Optional revision video</a:t>
            </a:r>
          </a:p>
        </p:txBody>
      </p:sp>
      <p:sp>
        <p:nvSpPr>
          <p:cNvPr id="4" name="">
            <a:extLst xmlns:a="http://schemas.openxmlformats.org/drawingml/2006/main">
              <a:ext uri="{FF2B5EF4-FFF2-40B4-BE49-F238E27FC236}">
                <a16:creationId xmlns:a16="http://schemas.microsoft.com/office/drawing/2014/main" id="{A18CDE0D-1FE1-4B12-941E-E979A2A2A947}"/>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F7567D4-7D37-4BDE-AFFB-AC3867B051A2}"/>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revision after class.</a:t>
            </a:r>
          </a:p>
        </p:txBody>
      </p:sp>
      <p:sp>
        <p:nvSpPr>
          <p:cNvPr id="6" name="">
            <a:extLst xmlns:a="http://schemas.openxmlformats.org/drawingml/2006/main">
              <a:ext uri="{FF2B5EF4-FFF2-40B4-BE49-F238E27FC236}">
                <a16:creationId xmlns:a16="http://schemas.microsoft.com/office/drawing/2014/main" id="{664832BE-415E-459F-BD7D-7DFC9C72A7ED}"/>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1337A2B-8529-4002-8AC3-8FB61BC5C815}"/>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StatQuest with Josh Starmer</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Machine Learning Fundamentals Cross Validation</a:t>
            </a:r>
          </a:p>
        </p:txBody>
      </p:sp>
      <p:sp>
        <p:nvSpPr>
          <p:cNvPr id="8" name="">
            <a:extLst xmlns:a="http://schemas.openxmlformats.org/drawingml/2006/main">
              <a:ext uri="{FF2B5EF4-FFF2-40B4-BE49-F238E27FC236}">
                <a16:creationId xmlns:a16="http://schemas.microsoft.com/office/drawing/2014/main" id="{9CDFBA02-CDCD-4780-91A0-34B4D05BCE8F}"/>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DA0929C-E4DD-480A-A017-78527DE63ABC}"/>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Opening up to 04:00, optional preview-selected excerpt</a:t>
            </a:r>
          </a:p>
        </p:txBody>
      </p:sp>
      <p:sp>
        <p:nvSpPr>
          <p:cNvPr id="10" name="">
            <a:extLst xmlns:a="http://schemas.openxmlformats.org/drawingml/2006/main">
              <a:ext uri="{FF2B5EF4-FFF2-40B4-BE49-F238E27FC236}">
                <a16:creationId xmlns:a16="http://schemas.microsoft.com/office/drawing/2014/main" id="{9787D4E0-1750-432E-91D7-B300EE634F40}"/>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03B7CEF7-974C-437D-A718-FB1181EBD964}"/>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Listening question: Why evaluate using observations not used to fit that particular model?</a:t>
            </a:r>
          </a:p>
        </p:txBody>
      </p:sp>
      <p:sp>
        <p:nvSpPr>
          <p:cNvPr id="12" name="">
            <a:extLst xmlns:a="http://schemas.openxmlformats.org/drawingml/2006/main">
              <a:ext uri="{FF2B5EF4-FFF2-40B4-BE49-F238E27FC236}">
                <a16:creationId xmlns:a16="http://schemas.microsoft.com/office/drawing/2014/main" id="{65297F86-3F71-4022-8475-71ED1F2141CB}"/>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1D3CDDB8-43E3-4C11-B13B-250FAC4DEF6E}"/>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69a2bf4706344aa2"/>
              </a:rPr>
              <a:t>Open explainer video</a:t>
            </a:r>
          </a:p>
        </p:txBody>
      </p:sp>
      <p:sp>
        <p:nvSpPr>
          <p:cNvPr id="14" name="">
            <a:extLst xmlns:a="http://schemas.openxmlformats.org/drawingml/2006/main">
              <a:ext uri="{FF2B5EF4-FFF2-40B4-BE49-F238E27FC236}">
                <a16:creationId xmlns:a16="http://schemas.microsoft.com/office/drawing/2014/main" id="{CA5E5FAB-CD40-42FF-9B00-EA383D469792}"/>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https://www.youtube.com/watch?v=fSytzGwwBVw</a:t>
            </a:r>
          </a:p>
        </p:txBody>
      </p:sp>
      <p:sp>
        <p:nvSpPr>
          <p:cNvPr id="15" name="">
            <a:extLst xmlns:a="http://schemas.openxmlformats.org/drawingml/2006/main">
              <a:ext uri="{FF2B5EF4-FFF2-40B4-BE49-F238E27FC236}">
                <a16:creationId xmlns:a16="http://schemas.microsoft.com/office/drawing/2014/main" id="{B97BA232-1CE9-45E8-88DF-C3C2C7CDBCD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36</a:t>
            </a:r>
          </a:p>
        </p:txBody>
      </p:sp>
    </p:spTree>
    <p:extLst>
      <p:ext uri="{BB962C8B-B14F-4D97-AF65-F5344CB8AC3E}">
        <p14:creationId xmlns:p14="http://schemas.microsoft.com/office/powerpoint/2010/main" val="78033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2026-09-28T21:44:18.1630000Z</dcterms:created>
  <dcterms:modified xsi:type="dcterms:W3CDTF">2026-09-28T21:44:18.1630000Z</dcterms:modified>
</coreProperties>
</file>