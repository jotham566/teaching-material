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5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and it is wrong. A join can multiply rows, and nothing warns you except a row count you were not watching.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only the rows that matched on both sides. Anything without a match disappears, with no message.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every row on the left, and leave the right-hand columns empty where nothing matched.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one row matches several rows, its values are repeated once per match. Sum them afterwards and you have counted the same thing several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named step at the top of a query that you can then use like a table. Short for common table expression, and nobody says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by rep by month for 2025, net of returns. Two CTEs and a final SELECT, built and checked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join that multiplies rows. The total gets bigger and looks plausible, and the only tell is the row count.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Checkpoint 1 and it is marked against the answer key tonight. Build it as named steps and check the row count after each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the report if it is not finished, then break it on purpose: change one LEFT JOIN to an INNER JOIN and write down what changed in the numbers and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error in this session announced itself the same way: a count that changed when you did not expect it to. Nothing else warns you, so build the habit now while the data is still small enough to check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5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Joining tables, carefully</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Yes, and it is wrong. A join can multiply rows, and nothing warns you except a row count you were not watching.</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2  ·  SQL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SQL: INNER and LEFT JOIN, CTEs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INNER JOIN</a:t>
            </a:r>
          </a:p>
        </p:txBody>
      </p:sp>
      <p:sp>
        <p:nvSpPr>
          <p:cNvPr id="9" name="TextBox 8"/>
          <p:cNvSpPr txBox="1"/>
          <p:nvPr/>
        </p:nvSpPr>
        <p:spPr>
          <a:xfrm>
            <a:off x="3154680" y="2276856"/>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Keep only rows that matched on both sides.</a:t>
            </a:r>
          </a:p>
        </p:txBody>
      </p:sp>
      <p:sp>
        <p:nvSpPr>
          <p:cNvPr id="10" name="TextBox 9"/>
          <p:cNvSpPr txBox="1"/>
          <p:nvPr/>
        </p:nvSpPr>
        <p:spPr>
          <a:xfrm>
            <a:off x="8275320" y="2276856"/>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VLOOKUP where you delete the #N/A rows</a:t>
            </a:r>
          </a:p>
        </p:txBody>
      </p:sp>
      <p:sp>
        <p:nvSpPr>
          <p:cNvPr id="11" name="TextBox 10"/>
          <p:cNvSpPr txBox="1"/>
          <p:nvPr/>
        </p:nvSpPr>
        <p:spPr>
          <a:xfrm>
            <a:off x="685800" y="3010768"/>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LEFT JOIN</a:t>
            </a:r>
          </a:p>
        </p:txBody>
      </p:sp>
      <p:sp>
        <p:nvSpPr>
          <p:cNvPr id="12" name="TextBox 11"/>
          <p:cNvSpPr txBox="1"/>
          <p:nvPr/>
        </p:nvSpPr>
        <p:spPr>
          <a:xfrm>
            <a:off x="3154680" y="3010768"/>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Keep every row on the left, and leave the right side blank where nothing matched.</a:t>
            </a:r>
          </a:p>
        </p:txBody>
      </p:sp>
      <p:sp>
        <p:nvSpPr>
          <p:cNvPr id="13" name="TextBox 12"/>
          <p:cNvSpPr txBox="1"/>
          <p:nvPr/>
        </p:nvSpPr>
        <p:spPr>
          <a:xfrm>
            <a:off x="8275320" y="3010768"/>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VLOOKUP where you keep the #N/A rows</a:t>
            </a:r>
          </a:p>
        </p:txBody>
      </p:sp>
      <p:sp>
        <p:nvSpPr>
          <p:cNvPr id="14" name="Rectangle 13"/>
          <p:cNvSpPr/>
          <p:nvPr/>
        </p:nvSpPr>
        <p:spPr>
          <a:xfrm>
            <a:off x="576072" y="3708104"/>
            <a:ext cx="11039551" cy="10002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44680"/>
            <a:ext cx="2240280" cy="954564"/>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Fan-out</a:t>
            </a:r>
          </a:p>
        </p:txBody>
      </p:sp>
      <p:sp>
        <p:nvSpPr>
          <p:cNvPr id="16" name="TextBox 15"/>
          <p:cNvSpPr txBox="1"/>
          <p:nvPr/>
        </p:nvSpPr>
        <p:spPr>
          <a:xfrm>
            <a:off x="3154680" y="3744680"/>
            <a:ext cx="4892040" cy="954564"/>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When one row matches several, its values are repeated once per match. Sum them afterwards and you have counted the same thing several times.</a:t>
            </a:r>
          </a:p>
        </p:txBody>
      </p:sp>
      <p:sp>
        <p:nvSpPr>
          <p:cNvPr id="17" name="TextBox 16"/>
          <p:cNvSpPr txBox="1"/>
          <p:nvPr/>
        </p:nvSpPr>
        <p:spPr>
          <a:xfrm>
            <a:off x="8275320" y="3744680"/>
            <a:ext cx="3230575" cy="954564"/>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8" name="TextBox 17"/>
          <p:cNvSpPr txBox="1"/>
          <p:nvPr/>
        </p:nvSpPr>
        <p:spPr>
          <a:xfrm>
            <a:off x="685800" y="4781540"/>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CTE</a:t>
            </a:r>
          </a:p>
        </p:txBody>
      </p:sp>
      <p:sp>
        <p:nvSpPr>
          <p:cNvPr id="19" name="TextBox 18"/>
          <p:cNvSpPr txBox="1"/>
          <p:nvPr/>
        </p:nvSpPr>
        <p:spPr>
          <a:xfrm>
            <a:off x="3154680" y="4781540"/>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named step at the top of a query that you can then use like a table. Short for common table expression.</a:t>
            </a:r>
          </a:p>
        </p:txBody>
      </p:sp>
      <p:sp>
        <p:nvSpPr>
          <p:cNvPr id="20" name="TextBox 19"/>
          <p:cNvSpPr txBox="1"/>
          <p:nvPr/>
        </p:nvSpPr>
        <p:spPr>
          <a:xfrm>
            <a:off x="8275320" y="4781540"/>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A helper sheet you build before the final calculation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Join three tables and say what each join is for.</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Predict which rows an INNER JOIN will drop, then check that prediction against the row count.</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Break a query into named steps somebody else can read.</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5 of 15  ·  SQL  ·  Joining tables, carefully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Your total went up when you joined a table.</a:t>
            </a:r>
          </a:p>
          <a:p>
            <a:pPr algn="l">
              <a:lnSpc>
                <a:spcPct val="115000"/>
              </a:lnSpc>
              <a:spcAft>
                <a:spcPts val="600"/>
              </a:spcAft>
            </a:pPr>
            <a:r>
              <a:rPr sz="3400" b="0" i="1">
                <a:solidFill>
                  <a:srgbClr val="FFFFFF"/>
                </a:solidFill>
                <a:latin typeface="Cambria"/>
              </a:rPr>
              <a:t>Is that possible?</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Yes, and it is wrong. A join can multiply rows, and nothing warns you except a row count you were not watching.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INNER and LEFT, and the row count that tells you</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join, in SQL now that the idea is already familiar from session 2. INNER, then LEFT, with the row count checked each time, because the number of rows is the fastest way to find out you joined wrongly. The walk-in 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INNER JOIN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Keep only the rows that matched on both sides. Anything without a match disappears, with no message.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Joining orders to customers with an INNER JOIN gives 5,828 rows instead of 6,000. The 172 walk-in orders are gone, and with them UGX 390,632,335.</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VLOOKUP where you then delete every #N/A row. Same effect, and at least in Excel you SAW the #N/A.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LEFT JOIN</a:t>
            </a:r>
          </a:p>
        </p:txBody>
      </p:sp>
      <p:sp>
        <p:nvSpPr>
          <p:cNvPr id="4" name="Rounded Rectangle 3"/>
          <p:cNvSpPr/>
          <p:nvPr/>
        </p:nvSpPr>
        <p:spPr>
          <a:xfrm>
            <a:off x="685800" y="1854203"/>
            <a:ext cx="10820095" cy="79911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451647"/>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Keep every row on the left, and leave the right-hand columns empty where nothing matched.</a:t>
            </a:r>
          </a:p>
        </p:txBody>
      </p:sp>
      <p:sp>
        <p:nvSpPr>
          <p:cNvPr id="6" name="Rounded Rectangle 5"/>
          <p:cNvSpPr/>
          <p:nvPr/>
        </p:nvSpPr>
        <p:spPr>
          <a:xfrm>
            <a:off x="685800" y="2927642"/>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2909354"/>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same join written LEFT gives all 6,000 rows back, with a blank region on the walk-in orders. Now you can decide what to do about them, which is the point.</a:t>
            </a:r>
          </a:p>
        </p:txBody>
      </p:sp>
      <p:sp>
        <p:nvSpPr>
          <p:cNvPr id="8" name="Rounded Rectangle 7"/>
          <p:cNvSpPr/>
          <p:nvPr/>
        </p:nvSpPr>
        <p:spPr>
          <a:xfrm>
            <a:off x="685800" y="389395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3875667"/>
            <a:ext cx="798545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VLOOKUP where you keep the #N/A rows and deal with them on purpose.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Fan-out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When one row matches several rows, its values are repeated once per match. Sum them afterwards and you have counted the same thing several times.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Join orders to order_items and you get 20,234 rows, not 6,000. Any order-level figure now appears several times, and summing it gives a number far too big that looks entirely plausible.</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Nothing in Excel does this to you, because VLOOKUP returns only the FIRST match. This is the one place a real join behaves differently from the thing you already know.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CTE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named step at the top of a query that you can then use like a table. Short for common table expression, and nobody says that out loud.</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WITH line_value AS ( ... ) SELECT ... FROM line_value. You can run the step on its own, check it, and only then write what comes after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helper sheet. You already build one when a formula gets too long to trust in a single cell.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Watch the row count decide the answer</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SELECT COUNT(*) FROM orders;                        -- 6,000</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SELECT COUNT(*) FROM orders o</a:t>
            </a:r>
          </a:p>
          <a:p>
            <a:pPr algn="l">
              <a:lnSpc>
                <a:spcPts val="2333"/>
              </a:lnSpc>
              <a:spcAft>
                <a:spcPts val="0"/>
              </a:spcAft>
            </a:pPr>
            <a:r>
              <a:rPr sz="1716" b="0" i="0">
                <a:solidFill>
                  <a:srgbClr val="D8E3EC"/>
                </a:solidFill>
                <a:latin typeface="Courier New"/>
              </a:rPr>
              <a:t>JOIN customers c ON c.customer_id = o.customer_id;  -- 5,828</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SELECT COUNT(*) FROM orders o</a:t>
            </a:r>
          </a:p>
          <a:p>
            <a:pPr algn="l">
              <a:lnSpc>
                <a:spcPts val="2333"/>
              </a:lnSpc>
              <a:spcAft>
                <a:spcPts val="0"/>
              </a:spcAft>
            </a:pPr>
            <a:r>
              <a:rPr sz="1716" b="0" i="0">
                <a:solidFill>
                  <a:srgbClr val="D8E3EC"/>
                </a:solidFill>
                <a:latin typeface="Courier New"/>
              </a:rPr>
              <a:t>LEFT JOIN customers c ON c.customer_id = o.customer_id;</a:t>
            </a:r>
          </a:p>
          <a:p>
            <a:pPr algn="l">
              <a:lnSpc>
                <a:spcPts val="2333"/>
              </a:lnSpc>
              <a:spcAft>
                <a:spcPts val="0"/>
              </a:spcAft>
            </a:pPr>
            <a:r>
              <a:rPr sz="1716" b="0" i="0">
                <a:solidFill>
                  <a:srgbClr val="D8E3EC"/>
                </a:solidFill>
                <a:latin typeface="Courier New"/>
              </a:rPr>
              <a:t>-- still 6,000: LEFT keeps every order</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The INNER JOIN dropped 172 orders worth UGX 390,632,335.</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Nothing in the output says rows were dropped. The only tell is that 6,000 became 5,828. Check the count after every join, every time, for the rest of your career.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Fan-out, and queries somebody else can read</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Fan-out, which is the dangerous one: joining orders to order lines and then summing an order-level column gives a number far too big, and nothing warns you except a row count that moved. Then CTEs: three short named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Fan-out, made visible</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4412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48644"/>
          </a:xfrm>
          <a:prstGeom prst="rect">
            <a:avLst/>
          </a:prstGeom>
          <a:noFill/>
        </p:spPr>
        <p:txBody>
          <a:bodyPr wrap="square" lIns="0" rIns="0" tIns="0" bIns="0" anchor="t">
            <a:spAutoFit/>
          </a:bodyPr>
          <a:lstStyle/>
          <a:p>
            <a:pPr algn="l">
              <a:lnSpc>
                <a:spcPts val="1884"/>
              </a:lnSpc>
              <a:spcAft>
                <a:spcPts val="0"/>
              </a:spcAft>
            </a:pPr>
            <a:r>
              <a:rPr sz="1386" b="0" i="0">
                <a:solidFill>
                  <a:srgbClr val="D8E3EC"/>
                </a:solidFill>
                <a:latin typeface="Courier New"/>
              </a:rPr>
              <a:t>-- one row per order</a:t>
            </a:r>
          </a:p>
          <a:p>
            <a:pPr algn="l">
              <a:lnSpc>
                <a:spcPts val="1884"/>
              </a:lnSpc>
              <a:spcAft>
                <a:spcPts val="0"/>
              </a:spcAft>
            </a:pPr>
            <a:r>
              <a:rPr sz="1386" b="0" i="0">
                <a:solidFill>
                  <a:srgbClr val="D8E3EC"/>
                </a:solidFill>
                <a:latin typeface="Courier New"/>
              </a:rPr>
              <a:t>SELECT COUNT(*) FROM orders;               -- 6,000</a:t>
            </a:r>
          </a:p>
          <a:p>
            <a:pPr algn="l">
              <a:lnSpc>
                <a:spcPts val="1884"/>
              </a:lnSpc>
              <a:spcAft>
                <a:spcPts val="0"/>
              </a:spcAft>
            </a:pPr>
            <a:r>
              <a:rPr sz="1386" b="0" i="0">
                <a:solidFill>
                  <a:srgbClr val="D8E3EC"/>
                </a:solidFill>
                <a:latin typeface="Courier New"/>
              </a:rPr>
              <a:t/>
            </a:r>
          </a:p>
          <a:p>
            <a:pPr algn="l">
              <a:lnSpc>
                <a:spcPts val="1884"/>
              </a:lnSpc>
              <a:spcAft>
                <a:spcPts val="0"/>
              </a:spcAft>
            </a:pPr>
            <a:r>
              <a:rPr sz="1386" b="0" i="0">
                <a:solidFill>
                  <a:srgbClr val="D8E3EC"/>
                </a:solidFill>
                <a:latin typeface="Courier New"/>
              </a:rPr>
              <a:t>-- one row per LINE, after the join</a:t>
            </a:r>
          </a:p>
          <a:p>
            <a:pPr algn="l">
              <a:lnSpc>
                <a:spcPts val="1884"/>
              </a:lnSpc>
              <a:spcAft>
                <a:spcPts val="0"/>
              </a:spcAft>
            </a:pPr>
            <a:r>
              <a:rPr sz="1386" b="0" i="0">
                <a:solidFill>
                  <a:srgbClr val="D8E3EC"/>
                </a:solidFill>
                <a:latin typeface="Courier New"/>
              </a:rPr>
              <a:t>SELECT COUNT(*)</a:t>
            </a:r>
          </a:p>
          <a:p>
            <a:pPr algn="l">
              <a:lnSpc>
                <a:spcPts val="1884"/>
              </a:lnSpc>
              <a:spcAft>
                <a:spcPts val="0"/>
              </a:spcAft>
            </a:pPr>
            <a:r>
              <a:rPr sz="1386" b="0" i="0">
                <a:solidFill>
                  <a:srgbClr val="D8E3EC"/>
                </a:solidFill>
                <a:latin typeface="Courier New"/>
              </a:rPr>
              <a:t>FROM orders o</a:t>
            </a:r>
          </a:p>
          <a:p>
            <a:pPr algn="l">
              <a:lnSpc>
                <a:spcPts val="1884"/>
              </a:lnSpc>
              <a:spcAft>
                <a:spcPts val="0"/>
              </a:spcAft>
            </a:pPr>
            <a:r>
              <a:rPr sz="1386" b="0" i="0">
                <a:solidFill>
                  <a:srgbClr val="D8E3EC"/>
                </a:solidFill>
                <a:latin typeface="Courier New"/>
              </a:rPr>
              <a:t>JOIN order_items oi ON oi.order_id = o.order_id;</a:t>
            </a:r>
          </a:p>
          <a:p>
            <a:pPr algn="l">
              <a:lnSpc>
                <a:spcPts val="1884"/>
              </a:lnSpc>
              <a:spcAft>
                <a:spcPts val="0"/>
              </a:spcAft>
            </a:pPr>
            <a:r>
              <a:rPr sz="1386" b="0" i="0">
                <a:solidFill>
                  <a:srgbClr val="D8E3EC"/>
                </a:solidFill>
                <a:latin typeface="Courier New"/>
              </a:rPr>
              <a:t>--                                            20,234</a:t>
            </a:r>
          </a:p>
          <a:p>
            <a:pPr algn="l">
              <a:lnSpc>
                <a:spcPts val="1884"/>
              </a:lnSpc>
              <a:spcAft>
                <a:spcPts val="0"/>
              </a:spcAft>
            </a:pPr>
            <a:r>
              <a:rPr sz="1386" b="0" i="0">
                <a:solidFill>
                  <a:srgbClr val="D8E3EC"/>
                </a:solidFill>
                <a:latin typeface="Courier New"/>
              </a:rPr>
              <a:t/>
            </a:r>
          </a:p>
          <a:p>
            <a:pPr algn="l">
              <a:lnSpc>
                <a:spcPts val="1884"/>
              </a:lnSpc>
              <a:spcAft>
                <a:spcPts val="0"/>
              </a:spcAft>
            </a:pPr>
            <a:r>
              <a:rPr sz="1386" b="0" i="0">
                <a:solidFill>
                  <a:srgbClr val="D8E3EC"/>
                </a:solidFill>
                <a:latin typeface="Courier New"/>
              </a:rPr>
              <a:t>-- so this is WRONG: it counts each order several times</a:t>
            </a:r>
          </a:p>
          <a:p>
            <a:pPr algn="l">
              <a:lnSpc>
                <a:spcPts val="1884"/>
              </a:lnSpc>
              <a:spcAft>
                <a:spcPts val="0"/>
              </a:spcAft>
            </a:pPr>
            <a:r>
              <a:rPr sz="1386" b="0" i="0">
                <a:solidFill>
                  <a:srgbClr val="D8E3EC"/>
                </a:solidFill>
                <a:latin typeface="Courier New"/>
              </a:rPr>
              <a:t>SELECT COUNT(o.order_id), COUNT(DISTINCT o.order_id)</a:t>
            </a:r>
          </a:p>
          <a:p>
            <a:pPr algn="l">
              <a:lnSpc>
                <a:spcPts val="1884"/>
              </a:lnSpc>
              <a:spcAft>
                <a:spcPts val="0"/>
              </a:spcAft>
            </a:pPr>
            <a:r>
              <a:rPr sz="1386" b="0" i="0">
                <a:solidFill>
                  <a:srgbClr val="D8E3EC"/>
                </a:solidFill>
                <a:latin typeface="Courier New"/>
              </a:rPr>
              <a:t>FROM orders o</a:t>
            </a:r>
          </a:p>
          <a:p>
            <a:pPr algn="l">
              <a:lnSpc>
                <a:spcPts val="1884"/>
              </a:lnSpc>
              <a:spcAft>
                <a:spcPts val="0"/>
              </a:spcAft>
            </a:pPr>
            <a:r>
              <a:rPr sz="1386" b="0" i="0">
                <a:solidFill>
                  <a:srgbClr val="D8E3EC"/>
                </a:solidFill>
                <a:latin typeface="Courier New"/>
              </a:rPr>
              <a:t>JOIN order_items oi ON oi.order_id = o.order_id;</a:t>
            </a:r>
          </a:p>
        </p:txBody>
      </p:sp>
      <p:sp>
        <p:nvSpPr>
          <p:cNvPr id="7" name="Rounded Rectangle 6"/>
          <p:cNvSpPr/>
          <p:nvPr/>
        </p:nvSpPr>
        <p:spPr>
          <a:xfrm>
            <a:off x="685800" y="55718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5809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The last query shows both numbers side by side: 20,234 and 6,000. Whenever you join to a table with more rows, ask what the grain of the result is before you sum anything.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named steps instead of one long query</a:t>
            </a:r>
          </a:p>
        </p:txBody>
      </p:sp>
      <p:sp>
        <p:nvSpPr>
          <p:cNvPr id="4" name="Rounded Rectangle 3"/>
          <p:cNvSpPr/>
          <p:nvPr/>
        </p:nvSpPr>
        <p:spPr>
          <a:xfrm>
            <a:off x="8359188" y="512064"/>
            <a:ext cx="31467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DB BROWSER · EXECUTE SQL</a:t>
            </a:r>
          </a:p>
        </p:txBody>
      </p:sp>
      <p:sp>
        <p:nvSpPr>
          <p:cNvPr id="5" name="Rectangle 4"/>
          <p:cNvSpPr/>
          <p:nvPr/>
        </p:nvSpPr>
        <p:spPr>
          <a:xfrm>
            <a:off x="685800" y="1911095"/>
            <a:ext cx="10820095" cy="3564785"/>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272177"/>
          </a:xfrm>
          <a:prstGeom prst="rect">
            <a:avLst/>
          </a:prstGeom>
          <a:noFill/>
        </p:spPr>
        <p:txBody>
          <a:bodyPr wrap="square" lIns="0" rIns="0" tIns="0" bIns="0" anchor="t">
            <a:spAutoFit/>
          </a:bodyPr>
          <a:lstStyle/>
          <a:p>
            <a:pPr algn="l">
              <a:lnSpc>
                <a:spcPts val="1795"/>
              </a:lnSpc>
              <a:spcAft>
                <a:spcPts val="0"/>
              </a:spcAft>
            </a:pPr>
            <a:r>
              <a:rPr sz="1320" b="0" i="0">
                <a:solidFill>
                  <a:srgbClr val="D8E3EC"/>
                </a:solidFill>
                <a:latin typeface="Courier New"/>
              </a:rPr>
              <a:t>WITH line_value AS (</a:t>
            </a:r>
          </a:p>
          <a:p>
            <a:pPr algn="l">
              <a:lnSpc>
                <a:spcPts val="1795"/>
              </a:lnSpc>
              <a:spcAft>
                <a:spcPts val="0"/>
              </a:spcAft>
            </a:pPr>
            <a:r>
              <a:rPr sz="1320" b="0" i="0">
                <a:solidFill>
                  <a:srgbClr val="D8E3EC"/>
                </a:solidFill>
                <a:latin typeface="Courier New"/>
              </a:rPr>
              <a:t>    -- step 1: one row per line, with its value and its month</a:t>
            </a:r>
          </a:p>
          <a:p>
            <a:pPr algn="l">
              <a:lnSpc>
                <a:spcPts val="1795"/>
              </a:lnSpc>
              <a:spcAft>
                <a:spcPts val="0"/>
              </a:spcAft>
            </a:pPr>
            <a:r>
              <a:rPr sz="1320" b="0" i="0">
                <a:solidFill>
                  <a:srgbClr val="D8E3EC"/>
                </a:solidFill>
                <a:latin typeface="Courier New"/>
              </a:rPr>
              <a:t>    SELECT oi.order_id, oi.line_no,</a:t>
            </a:r>
          </a:p>
          <a:p>
            <a:pPr algn="l">
              <a:lnSpc>
                <a:spcPts val="1795"/>
              </a:lnSpc>
              <a:spcAft>
                <a:spcPts val="0"/>
              </a:spcAft>
            </a:pPr>
            <a:r>
              <a:rPr sz="1320" b="0" i="0">
                <a:solidFill>
                  <a:srgbClr val="D8E3EC"/>
                </a:solidFill>
                <a:latin typeface="Courier New"/>
              </a:rPr>
              <a:t>           o.rep_id,</a:t>
            </a:r>
          </a:p>
          <a:p>
            <a:pPr algn="l">
              <a:lnSpc>
                <a:spcPts val="1795"/>
              </a:lnSpc>
              <a:spcAft>
                <a:spcPts val="0"/>
              </a:spcAft>
            </a:pPr>
            <a:r>
              <a:rPr sz="1320" b="0" i="0">
                <a:solidFill>
                  <a:srgbClr val="D8E3EC"/>
                </a:solidFill>
                <a:latin typeface="Courier New"/>
              </a:rPr>
              <a:t>           substr(o.order_date, 1, 7) AS month,</a:t>
            </a:r>
          </a:p>
          <a:p>
            <a:pPr algn="l">
              <a:lnSpc>
                <a:spcPts val="1795"/>
              </a:lnSpc>
              <a:spcAft>
                <a:spcPts val="0"/>
              </a:spcAft>
            </a:pPr>
            <a:r>
              <a:rPr sz="1320" b="0" i="0">
                <a:solidFill>
                  <a:srgbClr val="D8E3EC"/>
                </a:solidFill>
                <a:latin typeface="Courier New"/>
              </a:rPr>
              <a:t>           oi.quantity * oi.unit_price_ugx</a:t>
            </a:r>
          </a:p>
          <a:p>
            <a:pPr algn="l">
              <a:lnSpc>
                <a:spcPts val="1795"/>
              </a:lnSpc>
              <a:spcAft>
                <a:spcPts val="0"/>
              </a:spcAft>
            </a:pPr>
            <a:r>
              <a:rPr sz="1320" b="0" i="0">
                <a:solidFill>
                  <a:srgbClr val="D8E3EC"/>
                </a:solidFill>
                <a:latin typeface="Courier New"/>
              </a:rPr>
              <a:t>               * (1 - oi.discount)    AS gross_ugx</a:t>
            </a:r>
          </a:p>
          <a:p>
            <a:pPr algn="l">
              <a:lnSpc>
                <a:spcPts val="1795"/>
              </a:lnSpc>
              <a:spcAft>
                <a:spcPts val="0"/>
              </a:spcAft>
            </a:pPr>
            <a:r>
              <a:rPr sz="1320" b="0" i="0">
                <a:solidFill>
                  <a:srgbClr val="D8E3EC"/>
                </a:solidFill>
                <a:latin typeface="Courier New"/>
              </a:rPr>
              <a:t>    FROM order_items oi</a:t>
            </a:r>
          </a:p>
          <a:p>
            <a:pPr algn="l">
              <a:lnSpc>
                <a:spcPts val="1795"/>
              </a:lnSpc>
              <a:spcAft>
                <a:spcPts val="0"/>
              </a:spcAft>
            </a:pPr>
            <a:r>
              <a:rPr sz="1320" b="0" i="0">
                <a:solidFill>
                  <a:srgbClr val="D8E3EC"/>
                </a:solidFill>
                <a:latin typeface="Courier New"/>
              </a:rPr>
              <a:t>    JOIN orders o ON o.order_id = oi.order_id</a:t>
            </a:r>
          </a:p>
          <a:p>
            <a:pPr algn="l">
              <a:lnSpc>
                <a:spcPts val="1795"/>
              </a:lnSpc>
              <a:spcAft>
                <a:spcPts val="0"/>
              </a:spcAft>
            </a:pPr>
            <a:r>
              <a:rPr sz="1320" b="0" i="0">
                <a:solidFill>
                  <a:srgbClr val="D8E3EC"/>
                </a:solidFill>
                <a:latin typeface="Courier New"/>
              </a:rPr>
              <a:t>    WHERE o.status = 'Delivered'</a:t>
            </a:r>
          </a:p>
          <a:p>
            <a:pPr algn="l">
              <a:lnSpc>
                <a:spcPts val="1795"/>
              </a:lnSpc>
              <a:spcAft>
                <a:spcPts val="0"/>
              </a:spcAft>
            </a:pPr>
            <a:r>
              <a:rPr sz="1320" b="0" i="0">
                <a:solidFill>
                  <a:srgbClr val="D8E3EC"/>
                </a:solidFill>
                <a:latin typeface="Courier New"/>
              </a:rPr>
              <a:t>      AND o.order_date &gt;= '2025-01-01'</a:t>
            </a:r>
          </a:p>
          <a:p>
            <a:pPr algn="l">
              <a:lnSpc>
                <a:spcPts val="1795"/>
              </a:lnSpc>
              <a:spcAft>
                <a:spcPts val="0"/>
              </a:spcAft>
            </a:pPr>
            <a:r>
              <a:rPr sz="1320" b="0" i="0">
                <a:solidFill>
                  <a:srgbClr val="D8E3EC"/>
                </a:solidFill>
                <a:latin typeface="Courier New"/>
              </a:rPr>
              <a:t>)</a:t>
            </a:r>
          </a:p>
          <a:p>
            <a:pPr algn="l">
              <a:lnSpc>
                <a:spcPts val="1795"/>
              </a:lnSpc>
              <a:spcAft>
                <a:spcPts val="0"/>
              </a:spcAft>
            </a:pPr>
            <a:r>
              <a:rPr sz="1320" b="0" i="0">
                <a:solidFill>
                  <a:srgbClr val="D8E3EC"/>
                </a:solidFill>
                <a:latin typeface="Courier New"/>
              </a:rPr>
              <a:t>SELECT r.region, r.rep_name, lv.month,</a:t>
            </a:r>
          </a:p>
          <a:p>
            <a:pPr algn="l">
              <a:lnSpc>
                <a:spcPts val="1795"/>
              </a:lnSpc>
              <a:spcAft>
                <a:spcPts val="0"/>
              </a:spcAft>
            </a:pPr>
            <a:r>
              <a:rPr sz="1320" b="0" i="0">
                <a:solidFill>
                  <a:srgbClr val="D8E3EC"/>
                </a:solidFill>
                <a:latin typeface="Courier New"/>
              </a:rPr>
              <a:t>       ROUND(SUM(lv.gross_ugx)) AS gross_ugx</a:t>
            </a:r>
          </a:p>
          <a:p>
            <a:pPr algn="l">
              <a:lnSpc>
                <a:spcPts val="1795"/>
              </a:lnSpc>
              <a:spcAft>
                <a:spcPts val="0"/>
              </a:spcAft>
            </a:pPr>
            <a:r>
              <a:rPr sz="1320" b="0" i="0">
                <a:solidFill>
                  <a:srgbClr val="D8E3EC"/>
                </a:solidFill>
                <a:latin typeface="Courier New"/>
              </a:rPr>
              <a:t>FROM line_value lv</a:t>
            </a:r>
          </a:p>
          <a:p>
            <a:pPr algn="l">
              <a:lnSpc>
                <a:spcPts val="1795"/>
              </a:lnSpc>
              <a:spcAft>
                <a:spcPts val="0"/>
              </a:spcAft>
            </a:pPr>
            <a:r>
              <a:rPr sz="1320" b="0" i="0">
                <a:solidFill>
                  <a:srgbClr val="D8E3EC"/>
                </a:solidFill>
                <a:latin typeface="Courier New"/>
              </a:rPr>
              <a:t>JOIN reps r ON r.rep_id = lv.rep_id</a:t>
            </a:r>
          </a:p>
          <a:p>
            <a:pPr algn="l">
              <a:lnSpc>
                <a:spcPts val="1795"/>
              </a:lnSpc>
              <a:spcAft>
                <a:spcPts val="0"/>
              </a:spcAft>
            </a:pPr>
            <a:r>
              <a:rPr sz="1320" b="0" i="0">
                <a:solidFill>
                  <a:srgbClr val="D8E3EC"/>
                </a:solidFill>
                <a:latin typeface="Courier New"/>
              </a:rPr>
              <a:t>GROUP BY r.region, r.rep_name, lv.month</a:t>
            </a:r>
          </a:p>
          <a:p>
            <a:pPr algn="l">
              <a:lnSpc>
                <a:spcPts val="1795"/>
              </a:lnSpc>
              <a:spcAft>
                <a:spcPts val="0"/>
              </a:spcAft>
            </a:pPr>
            <a:r>
              <a:rPr sz="1320" b="0" i="0">
                <a:solidFill>
                  <a:srgbClr val="D8E3EC"/>
                </a:solidFill>
                <a:latin typeface="Courier New"/>
              </a:rPr>
              <a:t>ORDER BY r.region, r.rep_name, lv.month;</a:t>
            </a:r>
          </a:p>
        </p:txBody>
      </p:sp>
      <p:sp>
        <p:nvSpPr>
          <p:cNvPr id="7" name="Rounded Rectangle 6"/>
          <p:cNvSpPr/>
          <p:nvPr/>
        </p:nvSpPr>
        <p:spPr>
          <a:xfrm>
            <a:off x="685800" y="5695337"/>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704481"/>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just the CTE first: SELECT * FROM line_value LIMIT 10 with the WITH still in place. If step one is wrong, everything after it is wrong, and you want to find that out in step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report the sales manager actually wants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Revenue by rep by month for 2025, net of returns. Two CTEs and a final SELECT, built and checked one step at a time.</a:t>
            </a:r>
          </a:p>
        </p:txBody>
      </p:sp>
      <p:sp>
        <p:nvSpPr>
          <p:cNvPr id="5" name="Rounded Rectangle 4"/>
          <p:cNvSpPr/>
          <p:nvPr/>
        </p:nvSpPr>
        <p:spPr>
          <a:xfrm>
            <a:off x="685800" y="2732347"/>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Step one, a CTE: one row per line, with its month and its rep. Filter to delivered and to 2025 here, once, so the rest of the query does not have to.</a:t>
            </a:r>
          </a:p>
        </p:txBody>
      </p:sp>
      <p:sp>
        <p:nvSpPr>
          <p:cNvPr id="8" name="Rounded Rectangle 7"/>
          <p:cNvSpPr/>
          <p:nvPr/>
        </p:nvSpPr>
        <p:spPr>
          <a:xfrm>
            <a:off x="685800" y="3393996"/>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44886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439716"/>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Check step one on its own before writing step two.</a:t>
            </a:r>
          </a:p>
        </p:txBody>
      </p:sp>
      <p:sp>
        <p:nvSpPr>
          <p:cNvPr id="11" name="Rounded Rectangle 10"/>
          <p:cNvSpPr/>
          <p:nvPr/>
        </p:nvSpPr>
        <p:spPr>
          <a:xfrm>
            <a:off x="685800" y="3851196"/>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90606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96916"/>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Step two, a CTE: subtract what came back. LEFT JOIN to returns, because an INNER JOIN would keep only the returned lines and your revenue would collapse.</a:t>
            </a:r>
          </a:p>
        </p:txBody>
      </p:sp>
      <p:sp>
        <p:nvSpPr>
          <p:cNvPr id="14" name="Rounded Rectangle 13"/>
          <p:cNvSpPr/>
          <p:nvPr/>
        </p:nvSpPr>
        <p:spPr>
          <a:xfrm>
            <a:off x="685800" y="4512845"/>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56770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558565"/>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Final SELECT: join the rep names on and group.</a:t>
            </a:r>
          </a:p>
        </p:txBody>
      </p:sp>
      <p:sp>
        <p:nvSpPr>
          <p:cNvPr id="17" name="Rounded Rectangle 16"/>
          <p:cNvSpPr/>
          <p:nvPr/>
        </p:nvSpPr>
        <p:spPr>
          <a:xfrm>
            <a:off x="685800" y="4970045"/>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502490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5015765"/>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Check it. Top three reps for 2025 before returns are Hellen Hakizimana at UGX 1.20bn, Brian Lubega at UGX 976m, David Wanyama at UGX 916m.</a:t>
            </a:r>
          </a:p>
        </p:txBody>
      </p:sp>
      <p:sp>
        <p:nvSpPr>
          <p:cNvPr id="20" name="Rounded Rectangle 19"/>
          <p:cNvSpPr/>
          <p:nvPr/>
        </p:nvSpPr>
        <p:spPr>
          <a:xfrm>
            <a:off x="685800" y="5482109"/>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619269"/>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Everything returned across both years is worth UGX 197,830,550. A report that ignores returns overstates every rep, and the manager will find out from somebody else.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CHECKPOINT 1 · 15% OF THE MARK</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Checkpoint 1</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What to hand in</a:t>
            </a:r>
          </a:p>
        </p:txBody>
      </p:sp>
      <p:sp>
        <p:nvSpPr>
          <p:cNvPr id="5" name="TextBox 4"/>
          <p:cNvSpPr txBox="1"/>
          <p:nvPr/>
        </p:nvSpPr>
        <p:spPr>
          <a:xfrm>
            <a:off x="685800" y="2409332"/>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One query that runs from cold in DB Browser.</a:t>
            </a:r>
          </a:p>
        </p:txBody>
      </p:sp>
      <p:sp>
        <p:nvSpPr>
          <p:cNvPr id="6" name="TextBox 5"/>
          <p:cNvSpPr txBox="1"/>
          <p:nvPr/>
        </p:nvSpPr>
        <p:spPr>
          <a:xfrm>
            <a:off x="685800" y="2870329"/>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Revenue by rep by month for 2025, net of returns, built as named steps.</a:t>
            </a:r>
          </a:p>
        </p:txBody>
      </p:sp>
      <p:sp>
        <p:nvSpPr>
          <p:cNvPr id="7" name="TextBox 6"/>
          <p:cNvSpPr txBox="1"/>
          <p:nvPr/>
        </p:nvSpPr>
        <p:spPr>
          <a:xfrm>
            <a:off x="685800" y="3691739"/>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Your row count, and one sentence on why it is the number it is.</a:t>
            </a:r>
          </a:p>
        </p:txBody>
      </p:sp>
      <p:sp>
        <p:nvSpPr>
          <p:cNvPr id="8" name="Rounded Rectangle 7"/>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And one sentence of judgement</a:t>
            </a:r>
          </a:p>
        </p:txBody>
      </p:sp>
      <p:sp>
        <p:nvSpPr>
          <p:cNvPr id="10" name="TextBox 9"/>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Which rep would you talk to first, and why?</a:t>
            </a:r>
          </a:p>
        </p:txBody>
      </p:sp>
      <p:sp>
        <p:nvSpPr>
          <p:cNvPr id="11" name="TextBox 10"/>
          <p:cNvSpPr txBox="1"/>
          <p:nvPr/>
        </p:nvSpPr>
        <p:spPr>
          <a:xfrm>
            <a:off x="6575907" y="3025401"/>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That sentence is the assessed part. A query with no conclusion is not an analysis: somebody still has to do the thinking you were asked to do.</a:t>
            </a:r>
          </a:p>
        </p:txBody>
      </p:sp>
      <p:sp>
        <p:nvSpPr>
          <p:cNvPr id="12" name="TextBox 11"/>
          <p:cNvSpPr txBox="1"/>
          <p:nvPr/>
        </p:nvSpPr>
        <p:spPr>
          <a:xfrm>
            <a:off x="6575907" y="4173759"/>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Marked against the answer key tonight, so you leave knowing whether it was right.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 join that multiplies rows. The total gets bigger and looks plausible, and the only tell is the row count.</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5 of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An INNER JOIN and a LEFT JOIN return the same row count. What does that tell you?</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joined orders to order_items and summed a per-order figure. What went wrong?</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put each step in a CTE rather than nesting?</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Same count from INNER and LEFT</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Every row on the left found a match, so on today's data the two are equivalent. That is a fact about these rows rather than about the tables, so re-check it when the data changes.</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Summing a per-order figure after joining to lines</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Fan-out. The order-level figure repeated once per line, so the total counted it several times: 6,000 orders became 20,234 rows. Aggregate the lines first, in their own step, then join.</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CTEs rather than nesting</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You can run a CTE on its own and check it. A nested subquery can only be checked as part of the whole thing, which means a mistake in the middle is the last one you find.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Build the rep revenue report</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This is Checkpoint 1 and it is marked against the answer key tonight. Build it as named steps and check the row count after each one.</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Step one: line value, filtered to delivered and to 2025.</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Check step one on its own.</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Step two: net of returns, with a LEFT JOIN.</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Final select: rep names, grouped by rep and month.</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Then break it on purpose: make the returns join an INNER JOIN and write down what happened and why.</a:t>
            </a:r>
          </a:p>
        </p:txBody>
      </p:sp>
      <p:sp>
        <p:nvSpPr>
          <p:cNvPr id="12" name="TextBox 11"/>
          <p:cNvSpPr txBox="1"/>
          <p:nvPr/>
        </p:nvSpPr>
        <p:spPr>
          <a:xfrm>
            <a:off x="6278727"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One sentence: which rep do you talk to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Join three tables and say what each join is for.</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Predict which rows an INNER JOIN will drop, then check that prediction against the row count.</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Break a query into named steps somebody else can read.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Finish the report if it is not finished, then break it on purpose: change one LEFT JOIN to an INNER JOIN and write down what changed in the numbers and why.</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The row count is the smoke alarm</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 error in this session announced itself the same way: a count that changed when you did not expect it to. Nothing else warns you, so build the habit now while the data is still small enough to check by hand.</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Python, from the beginning. No SQL for a while.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